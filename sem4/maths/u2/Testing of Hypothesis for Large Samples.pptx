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 id="2147483741" r:id="rId2"/>
  </p:sldMasterIdLst>
  <p:notesMasterIdLst>
    <p:notesMasterId r:id="rId33"/>
  </p:notesMasterIdLst>
  <p:handoutMasterIdLst>
    <p:handoutMasterId r:id="rId34"/>
  </p:handoutMasterIdLst>
  <p:sldIdLst>
    <p:sldId id="662" r:id="rId3"/>
    <p:sldId id="663" r:id="rId4"/>
    <p:sldId id="664" r:id="rId5"/>
    <p:sldId id="665" r:id="rId6"/>
    <p:sldId id="257" r:id="rId7"/>
    <p:sldId id="675" r:id="rId8"/>
    <p:sldId id="669" r:id="rId9"/>
    <p:sldId id="676" r:id="rId10"/>
    <p:sldId id="677" r:id="rId11"/>
    <p:sldId id="670" r:id="rId12"/>
    <p:sldId id="678" r:id="rId13"/>
    <p:sldId id="671" r:id="rId14"/>
    <p:sldId id="672" r:id="rId15"/>
    <p:sldId id="673" r:id="rId16"/>
    <p:sldId id="674" r:id="rId17"/>
    <p:sldId id="679" r:id="rId18"/>
    <p:sldId id="680" r:id="rId19"/>
    <p:sldId id="681" r:id="rId20"/>
    <p:sldId id="682" r:id="rId21"/>
    <p:sldId id="683" r:id="rId22"/>
    <p:sldId id="689" r:id="rId23"/>
    <p:sldId id="690" r:id="rId24"/>
    <p:sldId id="691" r:id="rId25"/>
    <p:sldId id="692" r:id="rId26"/>
    <p:sldId id="693" r:id="rId27"/>
    <p:sldId id="694" r:id="rId28"/>
    <p:sldId id="695" r:id="rId29"/>
    <p:sldId id="696" r:id="rId30"/>
    <p:sldId id="697" r:id="rId31"/>
    <p:sldId id="66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47" autoAdjust="0"/>
    <p:restoredTop sz="93922" autoAdjust="0"/>
  </p:normalViewPr>
  <p:slideViewPr>
    <p:cSldViewPr snapToGrid="0">
      <p:cViewPr varScale="1">
        <p:scale>
          <a:sx n="77" d="100"/>
          <a:sy n="77" d="100"/>
        </p:scale>
        <p:origin x="1003" y="53"/>
      </p:cViewPr>
      <p:guideLst/>
    </p:cSldViewPr>
  </p:slideViewPr>
  <p:outlineViewPr>
    <p:cViewPr>
      <p:scale>
        <a:sx n="33" d="100"/>
        <a:sy n="33" d="100"/>
      </p:scale>
      <p:origin x="0" y="-97452"/>
    </p:cViewPr>
  </p:outlin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na Sharma" userId="62c86d104d15e078" providerId="LiveId" clId="{F4567730-CF1C-49AC-91DE-FDB6A537FCD1}"/>
    <pc:docChg chg="undo custSel addSld delSld modSld">
      <pc:chgData name="Heena Sharma" userId="62c86d104d15e078" providerId="LiveId" clId="{F4567730-CF1C-49AC-91DE-FDB6A537FCD1}" dt="2024-12-17T10:32:51.890" v="5737" actId="2696"/>
      <pc:docMkLst>
        <pc:docMk/>
      </pc:docMkLst>
      <pc:sldChg chg="modSp mod">
        <pc:chgData name="Heena Sharma" userId="62c86d104d15e078" providerId="LiveId" clId="{F4567730-CF1C-49AC-91DE-FDB6A537FCD1}" dt="2024-12-16T08:35:37.743" v="1028" actId="5793"/>
        <pc:sldMkLst>
          <pc:docMk/>
          <pc:sldMk cId="2854741177" sldId="257"/>
        </pc:sldMkLst>
        <pc:spChg chg="mod">
          <ac:chgData name="Heena Sharma" userId="62c86d104d15e078" providerId="LiveId" clId="{F4567730-CF1C-49AC-91DE-FDB6A537FCD1}" dt="2024-12-16T08:32:44.405" v="611" actId="20577"/>
          <ac:spMkLst>
            <pc:docMk/>
            <pc:sldMk cId="2854741177" sldId="257"/>
            <ac:spMk id="2" creationId="{B9750E7C-41CC-4D1C-BB81-7714C2FF27DB}"/>
          </ac:spMkLst>
        </pc:spChg>
        <pc:spChg chg="mod">
          <ac:chgData name="Heena Sharma" userId="62c86d104d15e078" providerId="LiveId" clId="{F4567730-CF1C-49AC-91DE-FDB6A537FCD1}" dt="2024-12-16T08:35:37.743" v="1028" actId="5793"/>
          <ac:spMkLst>
            <pc:docMk/>
            <pc:sldMk cId="2854741177" sldId="257"/>
            <ac:spMk id="3" creationId="{04128A12-6969-43D5-A979-3A35910A7FDD}"/>
          </ac:spMkLst>
        </pc:spChg>
      </pc:sldChg>
      <pc:sldChg chg="delSp modSp mod">
        <pc:chgData name="Heena Sharma" userId="62c86d104d15e078" providerId="LiveId" clId="{F4567730-CF1C-49AC-91DE-FDB6A537FCD1}" dt="2024-12-16T08:32:20.243" v="583" actId="1035"/>
        <pc:sldMkLst>
          <pc:docMk/>
          <pc:sldMk cId="371773017" sldId="665"/>
        </pc:sldMkLst>
        <pc:spChg chg="mod">
          <ac:chgData name="Heena Sharma" userId="62c86d104d15e078" providerId="LiveId" clId="{F4567730-CF1C-49AC-91DE-FDB6A537FCD1}" dt="2024-12-16T08:32:20.243" v="583" actId="1035"/>
          <ac:spMkLst>
            <pc:docMk/>
            <pc:sldMk cId="371773017" sldId="665"/>
            <ac:spMk id="6" creationId="{00000000-0000-0000-0000-000000000000}"/>
          </ac:spMkLst>
        </pc:spChg>
        <pc:spChg chg="del">
          <ac:chgData name="Heena Sharma" userId="62c86d104d15e078" providerId="LiveId" clId="{F4567730-CF1C-49AC-91DE-FDB6A537FCD1}" dt="2024-12-16T08:27:54.150" v="42" actId="478"/>
          <ac:spMkLst>
            <pc:docMk/>
            <pc:sldMk cId="371773017" sldId="665"/>
            <ac:spMk id="7" creationId="{00000000-0000-0000-0000-000000000000}"/>
          </ac:spMkLst>
        </pc:spChg>
        <pc:spChg chg="mod">
          <ac:chgData name="Heena Sharma" userId="62c86d104d15e078" providerId="LiveId" clId="{F4567730-CF1C-49AC-91DE-FDB6A537FCD1}" dt="2024-12-16T08:27:48.640" v="41" actId="403"/>
          <ac:spMkLst>
            <pc:docMk/>
            <pc:sldMk cId="371773017" sldId="665"/>
            <ac:spMk id="9" creationId="{00000000-0000-0000-0000-000000000000}"/>
          </ac:spMkLst>
        </pc:spChg>
      </pc:sldChg>
      <pc:sldChg chg="delSp modSp del mod">
        <pc:chgData name="Heena Sharma" userId="62c86d104d15e078" providerId="LiveId" clId="{F4567730-CF1C-49AC-91DE-FDB6A537FCD1}" dt="2024-12-17T10:32:47.074" v="5736" actId="2696"/>
        <pc:sldMkLst>
          <pc:docMk/>
          <pc:sldMk cId="3167901213" sldId="666"/>
        </pc:sldMkLst>
        <pc:graphicFrameChg chg="del modGraphic">
          <ac:chgData name="Heena Sharma" userId="62c86d104d15e078" providerId="LiveId" clId="{F4567730-CF1C-49AC-91DE-FDB6A537FCD1}" dt="2024-12-16T08:53:14.084" v="2107" actId="478"/>
          <ac:graphicFrameMkLst>
            <pc:docMk/>
            <pc:sldMk cId="3167901213" sldId="666"/>
            <ac:graphicFrameMk id="3" creationId="{4DD6F950-093B-122F-D11F-0935096BA584}"/>
          </ac:graphicFrameMkLst>
        </pc:graphicFrameChg>
      </pc:sldChg>
      <pc:sldChg chg="delSp del">
        <pc:chgData name="Heena Sharma" userId="62c86d104d15e078" providerId="LiveId" clId="{F4567730-CF1C-49AC-91DE-FDB6A537FCD1}" dt="2024-12-17T10:32:51.890" v="5737" actId="2696"/>
        <pc:sldMkLst>
          <pc:docMk/>
          <pc:sldMk cId="2292020777" sldId="667"/>
        </pc:sldMkLst>
        <pc:picChg chg="del">
          <ac:chgData name="Heena Sharma" userId="62c86d104d15e078" providerId="LiveId" clId="{F4567730-CF1C-49AC-91DE-FDB6A537FCD1}" dt="2024-12-16T08:53:16.828" v="2108" actId="478"/>
          <ac:picMkLst>
            <pc:docMk/>
            <pc:sldMk cId="2292020777" sldId="667"/>
            <ac:picMk id="1026" creationId="{00000000-0000-0000-0000-000000000000}"/>
          </ac:picMkLst>
        </pc:picChg>
      </pc:sldChg>
      <pc:sldChg chg="addSp delSp modSp mod">
        <pc:chgData name="Heena Sharma" userId="62c86d104d15e078" providerId="LiveId" clId="{F4567730-CF1C-49AC-91DE-FDB6A537FCD1}" dt="2024-12-16T08:45:04.538" v="1832" actId="27636"/>
        <pc:sldMkLst>
          <pc:docMk/>
          <pc:sldMk cId="239812170" sldId="669"/>
        </pc:sldMkLst>
        <pc:spChg chg="mod">
          <ac:chgData name="Heena Sharma" userId="62c86d104d15e078" providerId="LiveId" clId="{F4567730-CF1C-49AC-91DE-FDB6A537FCD1}" dt="2024-12-16T08:39:03.297" v="1319" actId="20577"/>
          <ac:spMkLst>
            <pc:docMk/>
            <pc:sldMk cId="239812170" sldId="669"/>
            <ac:spMk id="2" creationId="{B9750E7C-41CC-4D1C-BB81-7714C2FF27DB}"/>
          </ac:spMkLst>
        </pc:spChg>
        <pc:spChg chg="del mod">
          <ac:chgData name="Heena Sharma" userId="62c86d104d15e078" providerId="LiveId" clId="{F4567730-CF1C-49AC-91DE-FDB6A537FCD1}" dt="2024-12-16T08:44:58.278" v="1828" actId="478"/>
          <ac:spMkLst>
            <pc:docMk/>
            <pc:sldMk cId="239812170" sldId="669"/>
            <ac:spMk id="3" creationId="{04128A12-6969-43D5-A979-3A35910A7FDD}"/>
          </ac:spMkLst>
        </pc:spChg>
        <pc:spChg chg="del">
          <ac:chgData name="Heena Sharma" userId="62c86d104d15e078" providerId="LiveId" clId="{F4567730-CF1C-49AC-91DE-FDB6A537FCD1}" dt="2024-12-16T08:38:55.406" v="1304" actId="478"/>
          <ac:spMkLst>
            <pc:docMk/>
            <pc:sldMk cId="239812170" sldId="669"/>
            <ac:spMk id="11" creationId="{11725F4A-AD2A-7B78-9298-459602AF71D3}"/>
          </ac:spMkLst>
        </pc:spChg>
        <pc:spChg chg="add mod">
          <ac:chgData name="Heena Sharma" userId="62c86d104d15e078" providerId="LiveId" clId="{F4567730-CF1C-49AC-91DE-FDB6A537FCD1}" dt="2024-12-16T08:45:04.538" v="1832" actId="27636"/>
          <ac:spMkLst>
            <pc:docMk/>
            <pc:sldMk cId="239812170" sldId="669"/>
            <ac:spMk id="12" creationId="{A0DB3F44-6AE8-E224-D613-DC4C3F479347}"/>
          </ac:spMkLst>
        </pc:spChg>
      </pc:sldChg>
      <pc:sldChg chg="addSp delSp modSp add del mod">
        <pc:chgData name="Heena Sharma" userId="62c86d104d15e078" providerId="LiveId" clId="{F4567730-CF1C-49AC-91DE-FDB6A537FCD1}" dt="2024-12-17T09:42:01.800" v="2464" actId="2696"/>
        <pc:sldMkLst>
          <pc:docMk/>
          <pc:sldMk cId="37086850" sldId="670"/>
        </pc:sldMkLst>
        <pc:spChg chg="mod">
          <ac:chgData name="Heena Sharma" userId="62c86d104d15e078" providerId="LiveId" clId="{F4567730-CF1C-49AC-91DE-FDB6A537FCD1}" dt="2024-12-17T09:38:43.617" v="2136" actId="20577"/>
          <ac:spMkLst>
            <pc:docMk/>
            <pc:sldMk cId="37086850" sldId="670"/>
            <ac:spMk id="2" creationId="{B9750E7C-41CC-4D1C-BB81-7714C2FF27DB}"/>
          </ac:spMkLst>
        </pc:spChg>
        <pc:spChg chg="del mod">
          <ac:chgData name="Heena Sharma" userId="62c86d104d15e078" providerId="LiveId" clId="{F4567730-CF1C-49AC-91DE-FDB6A537FCD1}" dt="2024-12-16T08:52:43.808" v="2100" actId="478"/>
          <ac:spMkLst>
            <pc:docMk/>
            <pc:sldMk cId="37086850" sldId="670"/>
            <ac:spMk id="3" creationId="{04128A12-6969-43D5-A979-3A35910A7FDD}"/>
          </ac:spMkLst>
        </pc:spChg>
        <pc:spChg chg="del">
          <ac:chgData name="Heena Sharma" userId="62c86d104d15e078" providerId="LiveId" clId="{F4567730-CF1C-49AC-91DE-FDB6A537FCD1}" dt="2024-12-17T09:38:11.357" v="2110" actId="478"/>
          <ac:spMkLst>
            <pc:docMk/>
            <pc:sldMk cId="37086850" sldId="670"/>
            <ac:spMk id="11" creationId="{11725F4A-AD2A-7B78-9298-459602AF71D3}"/>
          </ac:spMkLst>
        </pc:spChg>
        <pc:spChg chg="add del mod">
          <ac:chgData name="Heena Sharma" userId="62c86d104d15e078" providerId="LiveId" clId="{F4567730-CF1C-49AC-91DE-FDB6A537FCD1}" dt="2024-12-17T09:38:10.149" v="2109" actId="478"/>
          <ac:spMkLst>
            <pc:docMk/>
            <pc:sldMk cId="37086850" sldId="670"/>
            <ac:spMk id="12" creationId="{7C39DD99-B908-F0B9-AD5A-F0C001092F27}"/>
          </ac:spMkLst>
        </pc:spChg>
        <pc:spChg chg="add mod">
          <ac:chgData name="Heena Sharma" userId="62c86d104d15e078" providerId="LiveId" clId="{F4567730-CF1C-49AC-91DE-FDB6A537FCD1}" dt="2024-12-17T09:41:50.342" v="2462" actId="20577"/>
          <ac:spMkLst>
            <pc:docMk/>
            <pc:sldMk cId="37086850" sldId="670"/>
            <ac:spMk id="13" creationId="{E79E412A-FCE5-8165-D4BE-D8E66CEB5BA9}"/>
          </ac:spMkLst>
        </pc:spChg>
      </pc:sldChg>
      <pc:sldChg chg="modSp mod">
        <pc:chgData name="Heena Sharma" userId="62c86d104d15e078" providerId="LiveId" clId="{F4567730-CF1C-49AC-91DE-FDB6A537FCD1}" dt="2024-12-17T09:46:24.075" v="3259" actId="113"/>
        <pc:sldMkLst>
          <pc:docMk/>
          <pc:sldMk cId="2155790400" sldId="671"/>
        </pc:sldMkLst>
        <pc:spChg chg="mod">
          <ac:chgData name="Heena Sharma" userId="62c86d104d15e078" providerId="LiveId" clId="{F4567730-CF1C-49AC-91DE-FDB6A537FCD1}" dt="2024-12-17T09:43:51.506" v="2787" actId="20577"/>
          <ac:spMkLst>
            <pc:docMk/>
            <pc:sldMk cId="2155790400" sldId="671"/>
            <ac:spMk id="2" creationId="{B9750E7C-41CC-4D1C-BB81-7714C2FF27DB}"/>
          </ac:spMkLst>
        </pc:spChg>
        <pc:spChg chg="mod">
          <ac:chgData name="Heena Sharma" userId="62c86d104d15e078" providerId="LiveId" clId="{F4567730-CF1C-49AC-91DE-FDB6A537FCD1}" dt="2024-12-17T09:46:24.075" v="3259" actId="113"/>
          <ac:spMkLst>
            <pc:docMk/>
            <pc:sldMk cId="2155790400" sldId="671"/>
            <ac:spMk id="3" creationId="{04128A12-6969-43D5-A979-3A35910A7FDD}"/>
          </ac:spMkLst>
        </pc:spChg>
      </pc:sldChg>
      <pc:sldChg chg="addSp delSp modSp mod">
        <pc:chgData name="Heena Sharma" userId="62c86d104d15e078" providerId="LiveId" clId="{F4567730-CF1C-49AC-91DE-FDB6A537FCD1}" dt="2024-12-17T09:53:56.480" v="3775" actId="2710"/>
        <pc:sldMkLst>
          <pc:docMk/>
          <pc:sldMk cId="1703565890" sldId="672"/>
        </pc:sldMkLst>
        <pc:spChg chg="mod">
          <ac:chgData name="Heena Sharma" userId="62c86d104d15e078" providerId="LiveId" clId="{F4567730-CF1C-49AC-91DE-FDB6A537FCD1}" dt="2024-12-17T09:47:21.601" v="3329" actId="14100"/>
          <ac:spMkLst>
            <pc:docMk/>
            <pc:sldMk cId="1703565890" sldId="672"/>
            <ac:spMk id="2" creationId="{B9750E7C-41CC-4D1C-BB81-7714C2FF27DB}"/>
          </ac:spMkLst>
        </pc:spChg>
        <pc:spChg chg="del mod">
          <ac:chgData name="Heena Sharma" userId="62c86d104d15e078" providerId="LiveId" clId="{F4567730-CF1C-49AC-91DE-FDB6A537FCD1}" dt="2024-12-17T09:51:02.187" v="3559" actId="478"/>
          <ac:spMkLst>
            <pc:docMk/>
            <pc:sldMk cId="1703565890" sldId="672"/>
            <ac:spMk id="3" creationId="{04128A12-6969-43D5-A979-3A35910A7FDD}"/>
          </ac:spMkLst>
        </pc:spChg>
        <pc:spChg chg="add mod">
          <ac:chgData name="Heena Sharma" userId="62c86d104d15e078" providerId="LiveId" clId="{F4567730-CF1C-49AC-91DE-FDB6A537FCD1}" dt="2024-12-17T09:53:56.480" v="3775" actId="2710"/>
          <ac:spMkLst>
            <pc:docMk/>
            <pc:sldMk cId="1703565890" sldId="672"/>
            <ac:spMk id="11" creationId="{FC72746E-544F-97CF-9B9F-81C30BC6EB7E}"/>
          </ac:spMkLst>
        </pc:spChg>
      </pc:sldChg>
      <pc:sldChg chg="addSp delSp modSp mod">
        <pc:chgData name="Heena Sharma" userId="62c86d104d15e078" providerId="LiveId" clId="{F4567730-CF1C-49AC-91DE-FDB6A537FCD1}" dt="2024-12-17T09:53:39.788" v="3773" actId="122"/>
        <pc:sldMkLst>
          <pc:docMk/>
          <pc:sldMk cId="1578764613" sldId="673"/>
        </pc:sldMkLst>
        <pc:spChg chg="mod">
          <ac:chgData name="Heena Sharma" userId="62c86d104d15e078" providerId="LiveId" clId="{F4567730-CF1C-49AC-91DE-FDB6A537FCD1}" dt="2024-12-17T09:50:27.546" v="3551" actId="14100"/>
          <ac:spMkLst>
            <pc:docMk/>
            <pc:sldMk cId="1578764613" sldId="673"/>
            <ac:spMk id="2" creationId="{B9750E7C-41CC-4D1C-BB81-7714C2FF27DB}"/>
          </ac:spMkLst>
        </pc:spChg>
        <pc:spChg chg="del mod">
          <ac:chgData name="Heena Sharma" userId="62c86d104d15e078" providerId="LiveId" clId="{F4567730-CF1C-49AC-91DE-FDB6A537FCD1}" dt="2024-12-17T09:51:52.986" v="3596" actId="478"/>
          <ac:spMkLst>
            <pc:docMk/>
            <pc:sldMk cId="1578764613" sldId="673"/>
            <ac:spMk id="3" creationId="{04128A12-6969-43D5-A979-3A35910A7FDD}"/>
          </ac:spMkLst>
        </pc:spChg>
        <pc:spChg chg="add mod">
          <ac:chgData name="Heena Sharma" userId="62c86d104d15e078" providerId="LiveId" clId="{F4567730-CF1C-49AC-91DE-FDB6A537FCD1}" dt="2024-12-17T09:53:39.788" v="3773" actId="122"/>
          <ac:spMkLst>
            <pc:docMk/>
            <pc:sldMk cId="1578764613" sldId="673"/>
            <ac:spMk id="11" creationId="{4C723DD9-2682-91FB-E706-1EA5516E9C61}"/>
          </ac:spMkLst>
        </pc:spChg>
      </pc:sldChg>
      <pc:sldChg chg="addSp delSp modSp mod">
        <pc:chgData name="Heena Sharma" userId="62c86d104d15e078" providerId="LiveId" clId="{F4567730-CF1C-49AC-91DE-FDB6A537FCD1}" dt="2024-12-17T09:56:49.280" v="4157" actId="20577"/>
        <pc:sldMkLst>
          <pc:docMk/>
          <pc:sldMk cId="2284727555" sldId="674"/>
        </pc:sldMkLst>
        <pc:spChg chg="mod">
          <ac:chgData name="Heena Sharma" userId="62c86d104d15e078" providerId="LiveId" clId="{F4567730-CF1C-49AC-91DE-FDB6A537FCD1}" dt="2024-12-17T09:54:23.612" v="3795" actId="20577"/>
          <ac:spMkLst>
            <pc:docMk/>
            <pc:sldMk cId="2284727555" sldId="674"/>
            <ac:spMk id="2" creationId="{B9750E7C-41CC-4D1C-BB81-7714C2FF27DB}"/>
          </ac:spMkLst>
        </pc:spChg>
        <pc:spChg chg="del mod">
          <ac:chgData name="Heena Sharma" userId="62c86d104d15e078" providerId="LiveId" clId="{F4567730-CF1C-49AC-91DE-FDB6A537FCD1}" dt="2024-12-17T09:54:45.899" v="3844" actId="478"/>
          <ac:spMkLst>
            <pc:docMk/>
            <pc:sldMk cId="2284727555" sldId="674"/>
            <ac:spMk id="3" creationId="{04128A12-6969-43D5-A979-3A35910A7FDD}"/>
          </ac:spMkLst>
        </pc:spChg>
        <pc:spChg chg="add mod">
          <ac:chgData name="Heena Sharma" userId="62c86d104d15e078" providerId="LiveId" clId="{F4567730-CF1C-49AC-91DE-FDB6A537FCD1}" dt="2024-12-17T09:56:49.280" v="4157" actId="20577"/>
          <ac:spMkLst>
            <pc:docMk/>
            <pc:sldMk cId="2284727555" sldId="674"/>
            <ac:spMk id="11" creationId="{10A1F011-CC4B-1AE7-9AD4-D15077CB881D}"/>
          </ac:spMkLst>
        </pc:spChg>
      </pc:sldChg>
      <pc:sldChg chg="modSp add mod">
        <pc:chgData name="Heena Sharma" userId="62c86d104d15e078" providerId="LiveId" clId="{F4567730-CF1C-49AC-91DE-FDB6A537FCD1}" dt="2024-12-16T08:38:42.883" v="1303" actId="6549"/>
        <pc:sldMkLst>
          <pc:docMk/>
          <pc:sldMk cId="2326708223" sldId="675"/>
        </pc:sldMkLst>
        <pc:spChg chg="mod">
          <ac:chgData name="Heena Sharma" userId="62c86d104d15e078" providerId="LiveId" clId="{F4567730-CF1C-49AC-91DE-FDB6A537FCD1}" dt="2024-12-16T08:36:04.210" v="1039" actId="20577"/>
          <ac:spMkLst>
            <pc:docMk/>
            <pc:sldMk cId="2326708223" sldId="675"/>
            <ac:spMk id="2" creationId="{B9750E7C-41CC-4D1C-BB81-7714C2FF27DB}"/>
          </ac:spMkLst>
        </pc:spChg>
        <pc:spChg chg="mod">
          <ac:chgData name="Heena Sharma" userId="62c86d104d15e078" providerId="LiveId" clId="{F4567730-CF1C-49AC-91DE-FDB6A537FCD1}" dt="2024-12-16T08:38:42.883" v="1303" actId="6549"/>
          <ac:spMkLst>
            <pc:docMk/>
            <pc:sldMk cId="2326708223" sldId="675"/>
            <ac:spMk id="3" creationId="{04128A12-6969-43D5-A979-3A35910A7FDD}"/>
          </ac:spMkLst>
        </pc:spChg>
      </pc:sldChg>
      <pc:sldChg chg="modSp add mod">
        <pc:chgData name="Heena Sharma" userId="62c86d104d15e078" providerId="LiveId" clId="{F4567730-CF1C-49AC-91DE-FDB6A537FCD1}" dt="2024-12-16T08:48:56.670" v="2047" actId="1036"/>
        <pc:sldMkLst>
          <pc:docMk/>
          <pc:sldMk cId="3104098382" sldId="676"/>
        </pc:sldMkLst>
        <pc:spChg chg="mod">
          <ac:chgData name="Heena Sharma" userId="62c86d104d15e078" providerId="LiveId" clId="{F4567730-CF1C-49AC-91DE-FDB6A537FCD1}" dt="2024-12-16T08:45:46.417" v="1880" actId="1036"/>
          <ac:spMkLst>
            <pc:docMk/>
            <pc:sldMk cId="3104098382" sldId="676"/>
            <ac:spMk id="2" creationId="{B9750E7C-41CC-4D1C-BB81-7714C2FF27DB}"/>
          </ac:spMkLst>
        </pc:spChg>
        <pc:spChg chg="mod">
          <ac:chgData name="Heena Sharma" userId="62c86d104d15e078" providerId="LiveId" clId="{F4567730-CF1C-49AC-91DE-FDB6A537FCD1}" dt="2024-12-16T08:48:56.670" v="2047" actId="1036"/>
          <ac:spMkLst>
            <pc:docMk/>
            <pc:sldMk cId="3104098382" sldId="676"/>
            <ac:spMk id="12" creationId="{A0DB3F44-6AE8-E224-D613-DC4C3F479347}"/>
          </ac:spMkLst>
        </pc:spChg>
      </pc:sldChg>
      <pc:sldChg chg="modSp add mod">
        <pc:chgData name="Heena Sharma" userId="62c86d104d15e078" providerId="LiveId" clId="{F4567730-CF1C-49AC-91DE-FDB6A537FCD1}" dt="2024-12-16T08:52:32.004" v="2098" actId="20577"/>
        <pc:sldMkLst>
          <pc:docMk/>
          <pc:sldMk cId="3187826831" sldId="677"/>
        </pc:sldMkLst>
        <pc:spChg chg="mod">
          <ac:chgData name="Heena Sharma" userId="62c86d104d15e078" providerId="LiveId" clId="{F4567730-CF1C-49AC-91DE-FDB6A537FCD1}" dt="2024-12-16T08:50:44.684" v="2056" actId="20577"/>
          <ac:spMkLst>
            <pc:docMk/>
            <pc:sldMk cId="3187826831" sldId="677"/>
            <ac:spMk id="2" creationId="{B9750E7C-41CC-4D1C-BB81-7714C2FF27DB}"/>
          </ac:spMkLst>
        </pc:spChg>
        <pc:spChg chg="mod">
          <ac:chgData name="Heena Sharma" userId="62c86d104d15e078" providerId="LiveId" clId="{F4567730-CF1C-49AC-91DE-FDB6A537FCD1}" dt="2024-12-16T08:52:32.004" v="2098" actId="20577"/>
          <ac:spMkLst>
            <pc:docMk/>
            <pc:sldMk cId="3187826831" sldId="677"/>
            <ac:spMk id="12" creationId="{A0DB3F44-6AE8-E224-D613-DC4C3F479347}"/>
          </ac:spMkLst>
        </pc:spChg>
      </pc:sldChg>
      <pc:sldChg chg="modSp add mod">
        <pc:chgData name="Heena Sharma" userId="62c86d104d15e078" providerId="LiveId" clId="{F4567730-CF1C-49AC-91DE-FDB6A537FCD1}" dt="2024-12-17T09:43:41.143" v="2781" actId="20577"/>
        <pc:sldMkLst>
          <pc:docMk/>
          <pc:sldMk cId="2448649388" sldId="678"/>
        </pc:sldMkLst>
        <pc:spChg chg="mod">
          <ac:chgData name="Heena Sharma" userId="62c86d104d15e078" providerId="LiveId" clId="{F4567730-CF1C-49AC-91DE-FDB6A537FCD1}" dt="2024-12-17T09:42:13.770" v="2470" actId="20577"/>
          <ac:spMkLst>
            <pc:docMk/>
            <pc:sldMk cId="2448649388" sldId="678"/>
            <ac:spMk id="2" creationId="{B9750E7C-41CC-4D1C-BB81-7714C2FF27DB}"/>
          </ac:spMkLst>
        </pc:spChg>
        <pc:spChg chg="mod">
          <ac:chgData name="Heena Sharma" userId="62c86d104d15e078" providerId="LiveId" clId="{F4567730-CF1C-49AC-91DE-FDB6A537FCD1}" dt="2024-12-17T09:43:41.143" v="2781" actId="20577"/>
          <ac:spMkLst>
            <pc:docMk/>
            <pc:sldMk cId="2448649388" sldId="678"/>
            <ac:spMk id="13" creationId="{E79E412A-FCE5-8165-D4BE-D8E66CEB5BA9}"/>
          </ac:spMkLst>
        </pc:spChg>
      </pc:sldChg>
      <pc:sldChg chg="modSp add mod">
        <pc:chgData name="Heena Sharma" userId="62c86d104d15e078" providerId="LiveId" clId="{F4567730-CF1C-49AC-91DE-FDB6A537FCD1}" dt="2024-12-17T09:59:17.026" v="4416" actId="255"/>
        <pc:sldMkLst>
          <pc:docMk/>
          <pc:sldMk cId="2422031865" sldId="679"/>
        </pc:sldMkLst>
        <pc:spChg chg="mod">
          <ac:chgData name="Heena Sharma" userId="62c86d104d15e078" providerId="LiveId" clId="{F4567730-CF1C-49AC-91DE-FDB6A537FCD1}" dt="2024-12-17T09:57:35.317" v="4163" actId="20577"/>
          <ac:spMkLst>
            <pc:docMk/>
            <pc:sldMk cId="2422031865" sldId="679"/>
            <ac:spMk id="2" creationId="{B9750E7C-41CC-4D1C-BB81-7714C2FF27DB}"/>
          </ac:spMkLst>
        </pc:spChg>
        <pc:spChg chg="mod">
          <ac:chgData name="Heena Sharma" userId="62c86d104d15e078" providerId="LiveId" clId="{F4567730-CF1C-49AC-91DE-FDB6A537FCD1}" dt="2024-12-17T09:59:17.026" v="4416" actId="255"/>
          <ac:spMkLst>
            <pc:docMk/>
            <pc:sldMk cId="2422031865" sldId="679"/>
            <ac:spMk id="11" creationId="{10A1F011-CC4B-1AE7-9AD4-D15077CB881D}"/>
          </ac:spMkLst>
        </pc:spChg>
      </pc:sldChg>
      <pc:sldChg chg="modSp add del mod">
        <pc:chgData name="Heena Sharma" userId="62c86d104d15e078" providerId="LiveId" clId="{F4567730-CF1C-49AC-91DE-FDB6A537FCD1}" dt="2024-12-17T10:06:22.089" v="5128" actId="2696"/>
        <pc:sldMkLst>
          <pc:docMk/>
          <pc:sldMk cId="2754326288" sldId="680"/>
        </pc:sldMkLst>
        <pc:spChg chg="mod">
          <ac:chgData name="Heena Sharma" userId="62c86d104d15e078" providerId="LiveId" clId="{F4567730-CF1C-49AC-91DE-FDB6A537FCD1}" dt="2024-12-17T10:01:56.502" v="4699" actId="14100"/>
          <ac:spMkLst>
            <pc:docMk/>
            <pc:sldMk cId="2754326288" sldId="680"/>
            <ac:spMk id="2" creationId="{B9750E7C-41CC-4D1C-BB81-7714C2FF27DB}"/>
          </ac:spMkLst>
        </pc:spChg>
        <pc:spChg chg="mod">
          <ac:chgData name="Heena Sharma" userId="62c86d104d15e078" providerId="LiveId" clId="{F4567730-CF1C-49AC-91DE-FDB6A537FCD1}" dt="2024-12-17T10:05:59.612" v="5126" actId="20577"/>
          <ac:spMkLst>
            <pc:docMk/>
            <pc:sldMk cId="2754326288" sldId="680"/>
            <ac:spMk id="11" creationId="{10A1F011-CC4B-1AE7-9AD4-D15077CB881D}"/>
          </ac:spMkLst>
        </pc:spChg>
      </pc:sldChg>
      <pc:sldChg chg="modSp add mod">
        <pc:chgData name="Heena Sharma" userId="62c86d104d15e078" providerId="LiveId" clId="{F4567730-CF1C-49AC-91DE-FDB6A537FCD1}" dt="2024-12-17T10:16:08.548" v="5439" actId="5793"/>
        <pc:sldMkLst>
          <pc:docMk/>
          <pc:sldMk cId="1282544466" sldId="681"/>
        </pc:sldMkLst>
        <pc:spChg chg="mod">
          <ac:chgData name="Heena Sharma" userId="62c86d104d15e078" providerId="LiveId" clId="{F4567730-CF1C-49AC-91DE-FDB6A537FCD1}" dt="2024-12-17T10:06:40.762" v="5146" actId="20577"/>
          <ac:spMkLst>
            <pc:docMk/>
            <pc:sldMk cId="1282544466" sldId="681"/>
            <ac:spMk id="2" creationId="{B9750E7C-41CC-4D1C-BB81-7714C2FF27DB}"/>
          </ac:spMkLst>
        </pc:spChg>
        <pc:spChg chg="mod">
          <ac:chgData name="Heena Sharma" userId="62c86d104d15e078" providerId="LiveId" clId="{F4567730-CF1C-49AC-91DE-FDB6A537FCD1}" dt="2024-12-17T10:16:08.548" v="5439" actId="5793"/>
          <ac:spMkLst>
            <pc:docMk/>
            <pc:sldMk cId="1282544466" sldId="681"/>
            <ac:spMk id="11" creationId="{10A1F011-CC4B-1AE7-9AD4-D15077CB881D}"/>
          </ac:spMkLst>
        </pc:spChg>
      </pc:sldChg>
      <pc:sldChg chg="modSp add mod">
        <pc:chgData name="Heena Sharma" userId="62c86d104d15e078" providerId="LiveId" clId="{F4567730-CF1C-49AC-91DE-FDB6A537FCD1}" dt="2024-12-17T10:32:33.153" v="5735" actId="1036"/>
        <pc:sldMkLst>
          <pc:docMk/>
          <pc:sldMk cId="1105757346" sldId="682"/>
        </pc:sldMkLst>
        <pc:spChg chg="mod">
          <ac:chgData name="Heena Sharma" userId="62c86d104d15e078" providerId="LiveId" clId="{F4567730-CF1C-49AC-91DE-FDB6A537FCD1}" dt="2024-12-17T10:32:33.153" v="5735" actId="1036"/>
          <ac:spMkLst>
            <pc:docMk/>
            <pc:sldMk cId="1105757346" sldId="682"/>
            <ac:spMk id="2" creationId="{B9750E7C-41CC-4D1C-BB81-7714C2FF27DB}"/>
          </ac:spMkLst>
        </pc:spChg>
        <pc:spChg chg="mod">
          <ac:chgData name="Heena Sharma" userId="62c86d104d15e078" providerId="LiveId" clId="{F4567730-CF1C-49AC-91DE-FDB6A537FCD1}" dt="2024-12-17T10:32:25.503" v="5708" actId="1036"/>
          <ac:spMkLst>
            <pc:docMk/>
            <pc:sldMk cId="1105757346" sldId="682"/>
            <ac:spMk id="11" creationId="{10A1F011-CC4B-1AE7-9AD4-D15077CB88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805FB2-EF3E-4210-87F1-57F8CE6481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F554AD-B5F4-4FEF-96F5-28CD50CEB0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C78983-CC47-4F3F-A6B7-AEFDE2CDA9A3}" type="datetimeFigureOut">
              <a:rPr lang="en-US" smtClean="0"/>
              <a:t>12/21/2024</a:t>
            </a:fld>
            <a:endParaRPr lang="en-US"/>
          </a:p>
        </p:txBody>
      </p:sp>
      <p:sp>
        <p:nvSpPr>
          <p:cNvPr id="4" name="Footer Placeholder 3">
            <a:extLst>
              <a:ext uri="{FF2B5EF4-FFF2-40B4-BE49-F238E27FC236}">
                <a16:creationId xmlns:a16="http://schemas.microsoft.com/office/drawing/2014/main" id="{387AF080-6D6A-452B-9163-F97DC3A47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6DC612-1238-461C-9F9B-BD1171D7D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365888-1F24-4234-A756-C189EC23D43E}" type="slidenum">
              <a:rPr lang="en-US" smtClean="0"/>
              <a:t>‹#›</a:t>
            </a:fld>
            <a:endParaRPr lang="en-US"/>
          </a:p>
        </p:txBody>
      </p:sp>
    </p:spTree>
    <p:extLst>
      <p:ext uri="{BB962C8B-B14F-4D97-AF65-F5344CB8AC3E}">
        <p14:creationId xmlns:p14="http://schemas.microsoft.com/office/powerpoint/2010/main" val="4069296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E2C9C-23BE-43AC-9B60-0CBA78034A4C}" type="datetimeFigureOut">
              <a:rPr lang="en-US" smtClean="0"/>
              <a:t>12/21/2024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D835A-221B-4EB8-9871-0C56F7430662}" type="slidenum">
              <a:rPr lang="en-US" smtClean="0"/>
              <a:t>‹#›</a:t>
            </a:fld>
            <a:endParaRPr lang="en-US"/>
          </a:p>
        </p:txBody>
      </p:sp>
    </p:spTree>
    <p:extLst>
      <p:ext uri="{BB962C8B-B14F-4D97-AF65-F5344CB8AC3E}">
        <p14:creationId xmlns:p14="http://schemas.microsoft.com/office/powerpoint/2010/main" val="86907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1D835A-221B-4EB8-9871-0C56F7430662}" type="slidenum">
              <a:rPr lang="en-US" smtClean="0"/>
              <a:t>3</a:t>
            </a:fld>
            <a:endParaRPr lang="en-US"/>
          </a:p>
        </p:txBody>
      </p:sp>
    </p:spTree>
    <p:extLst>
      <p:ext uri="{BB962C8B-B14F-4D97-AF65-F5344CB8AC3E}">
        <p14:creationId xmlns:p14="http://schemas.microsoft.com/office/powerpoint/2010/main" val="1971778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BB325B-DFED-47F9-A904-259EEF642FB6}"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a:t>Dr. J.S. Batth, Asst. Prof., AIT-CSE, Chandigarh University</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pic>
        <p:nvPicPr>
          <p:cNvPr id="7" name="Picture 6">
            <a:extLst>
              <a:ext uri="{FF2B5EF4-FFF2-40B4-BE49-F238E27FC236}">
                <a16:creationId xmlns:a16="http://schemas.microsoft.com/office/drawing/2014/main" id="{53D0DC85-1C62-4255-A510-48D2188EA4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147373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9CF93D-8C61-442B-B485-F4D8474918A0}"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
        <p:nvSpPr>
          <p:cNvPr id="7" name="Footer Placeholder 4">
            <a:extLst>
              <a:ext uri="{FF2B5EF4-FFF2-40B4-BE49-F238E27FC236}">
                <a16:creationId xmlns:a16="http://schemas.microsoft.com/office/drawing/2014/main" id="{52281D22-2779-40F1-B72E-8F2D8B334065}"/>
              </a:ext>
            </a:extLst>
          </p:cNvPr>
          <p:cNvSpPr txBox="1">
            <a:spLocks/>
          </p:cNvSpPr>
          <p:nvPr userDrawn="1"/>
        </p:nvSpPr>
        <p:spPr>
          <a:xfrm>
            <a:off x="4191000" y="639791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Gaurav Srivastav[E9988] ©                             </a:t>
            </a:r>
          </a:p>
          <a:p>
            <a:r>
              <a:rPr lang="en-US" dirty="0"/>
              <a:t>APEX Institute of Technology</a:t>
            </a:r>
          </a:p>
          <a:p>
            <a:endParaRPr lang="en-US" dirty="0"/>
          </a:p>
        </p:txBody>
      </p:sp>
    </p:spTree>
    <p:extLst>
      <p:ext uri="{BB962C8B-B14F-4D97-AF65-F5344CB8AC3E}">
        <p14:creationId xmlns:p14="http://schemas.microsoft.com/office/powerpoint/2010/main" val="272745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8DCC3F-9F68-46C0-8EF8-0B10E758F4E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4028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4112FE-19CB-4BD8-86D4-137DAE921136}"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415680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F5A72-103E-4E7C-A361-EAE8990A863A}" type="datetime1">
              <a:rPr lang="en-US" smtClean="0"/>
              <a:t>12/21/2024</a:t>
            </a:fld>
            <a:endParaRPr lang="en-US"/>
          </a:p>
        </p:txBody>
      </p:sp>
      <p:sp>
        <p:nvSpPr>
          <p:cNvPr id="8" name="Footer Placeholder 7"/>
          <p:cNvSpPr>
            <a:spLocks noGrp="1"/>
          </p:cNvSpPr>
          <p:nvPr>
            <p:ph type="ftr" sz="quarter" idx="11"/>
          </p:nvPr>
        </p:nvSpPr>
        <p:spPr/>
        <p:txBody>
          <a:bodyPr/>
          <a:lstStyle/>
          <a:p>
            <a:r>
              <a:rPr lang="en-US"/>
              <a:t>Dr. J.S. Batth, Asst. Prof., AIT-CSE, Chandigarh University</a:t>
            </a:r>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96227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9443E-70F3-429A-B264-A1BD965FEB18}" type="datetime1">
              <a:rPr lang="en-US" smtClean="0"/>
              <a:t>12/21/2024</a:t>
            </a:fld>
            <a:endParaRPr lang="en-US"/>
          </a:p>
        </p:txBody>
      </p:sp>
      <p:sp>
        <p:nvSpPr>
          <p:cNvPr id="4" name="Footer Placeholder 3"/>
          <p:cNvSpPr>
            <a:spLocks noGrp="1"/>
          </p:cNvSpPr>
          <p:nvPr>
            <p:ph type="ftr" sz="quarter" idx="11"/>
          </p:nvPr>
        </p:nvSpPr>
        <p:spPr/>
        <p:txBody>
          <a:bodyPr/>
          <a:lstStyle/>
          <a:p>
            <a:r>
              <a:rPr lang="en-US"/>
              <a:t>Dr. J.S. Batth, Asst. Prof., AIT-CSE, Chandigarh University</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5643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89073-2FCE-4868-A5ED-8B9252ABD3BE}" type="datetime1">
              <a:rPr lang="en-US" smtClean="0"/>
              <a:t>12/21/2024</a:t>
            </a:fld>
            <a:endParaRPr lang="en-US"/>
          </a:p>
        </p:txBody>
      </p:sp>
      <p:sp>
        <p:nvSpPr>
          <p:cNvPr id="3" name="Footer Placeholder 2"/>
          <p:cNvSpPr>
            <a:spLocks noGrp="1"/>
          </p:cNvSpPr>
          <p:nvPr>
            <p:ph type="ftr" sz="quarter" idx="11"/>
          </p:nvPr>
        </p:nvSpPr>
        <p:spPr/>
        <p:txBody>
          <a:bodyPr/>
          <a:lstStyle/>
          <a:p>
            <a:r>
              <a:rPr lang="en-US"/>
              <a:t>Dr. J.S. Batth, Asst. Prof., AIT-CSE, Chandigarh University</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5255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2B95A-1A77-4FC2-A89F-CE92B281980C}"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30956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5BEA05-7A3A-4745-8C66-FC9D3C58CAC2}"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288083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19AF4-EA1C-4628-A05C-8D737267811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39705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90566-2CD0-4B8D-B6C7-D4740F954A97}"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5183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r>
              <a:rPr lang="en-US" noProof="0"/>
              <a:t>Click icon to add picture</a:t>
            </a:r>
            <a:endParaRPr lang="ru-RU" noProof="0" dirty="0"/>
          </a:p>
        </p:txBody>
      </p:sp>
    </p:spTree>
    <p:extLst>
      <p:ext uri="{BB962C8B-B14F-4D97-AF65-F5344CB8AC3E}">
        <p14:creationId xmlns:p14="http://schemas.microsoft.com/office/powerpoint/2010/main" val="2249146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563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436279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079315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2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31028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3" name="Isosceles Triangle 2"/>
          <p:cNvSpPr/>
          <p:nvPr/>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2" name="Isosceles Triangle 11"/>
          <p:cNvSpPr/>
          <p:nvPr/>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3" name="Isosceles Triangle 12"/>
          <p:cNvSpPr/>
          <p:nvPr/>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4" name="Isosceles Triangle 13"/>
          <p:cNvSpPr/>
          <p:nvPr/>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5" name="Rectangle 14"/>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53126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Images and Contents Layout">
    <p:spTree>
      <p:nvGrpSpPr>
        <p:cNvPr id="1" name=""/>
        <p:cNvGrpSpPr/>
        <p:nvPr/>
      </p:nvGrpSpPr>
      <p:grpSpPr>
        <a:xfrm>
          <a:off x="0" y="0"/>
          <a:ext cx="0" cy="0"/>
          <a:chOff x="0" y="0"/>
          <a:chExt cx="0" cy="0"/>
        </a:xfrm>
      </p:grpSpPr>
      <p:sp>
        <p:nvSpPr>
          <p:cNvPr id="2" name="Rectangle 1"/>
          <p:cNvSpPr/>
          <p:nvPr/>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3887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835657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139501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2" name="Rectangle 11"/>
          <p:cNvSpPr/>
          <p:nvPr/>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083293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75127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Rectangle 7"/>
          <p:cNvSpPr/>
          <p:nvPr/>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101557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Rectangle 15"/>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593844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206356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ICON SETS LAYOUT</a:t>
            </a:r>
          </a:p>
        </p:txBody>
      </p:sp>
      <p:grpSp>
        <p:nvGrpSpPr>
          <p:cNvPr id="5" name="Group 4"/>
          <p:cNvGrpSpPr/>
          <p:nvPr/>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415350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1DDDE-810D-4CD5-86D3-733AE9450C48}" type="datetime1">
              <a:rPr lang="en-US" smtClean="0"/>
              <a:t>12/21/2024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J.S. Batth, Asst. Prof., AIT-CSE, Chandigarh University</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1B0FB-D917-4C8C-928F-313BD683BF39}" type="slidenum">
              <a:rPr lang="en-US" smtClean="0"/>
              <a:pPr/>
              <a:t>‹#›</a:t>
            </a:fld>
            <a:endParaRPr lang="en-US"/>
          </a:p>
        </p:txBody>
      </p:sp>
      <p:pic>
        <p:nvPicPr>
          <p:cNvPr id="7" name="Picture 6">
            <a:extLst>
              <a:ext uri="{FF2B5EF4-FFF2-40B4-BE49-F238E27FC236}">
                <a16:creationId xmlns:a16="http://schemas.microsoft.com/office/drawing/2014/main" id="{28F03116-CB8E-4D02-84FD-384EC06A901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948191717"/>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89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hdr="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DR. HEENA SHARMA</a:t>
            </a:r>
          </a:p>
          <a:p>
            <a:pPr algn="l"/>
            <a:r>
              <a:rPr lang="en-US" sz="1400" b="1" dirty="0">
                <a:latin typeface="Times New Roman" panose="02020603050405020304" pitchFamily="18" charset="0"/>
                <a:cs typeface="Times New Roman" panose="02020603050405020304" pitchFamily="18" charset="0"/>
              </a:rPr>
              <a:t>E6398</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953782"/>
            <a:ext cx="9722858" cy="2862282"/>
          </a:xfrm>
          <a:prstGeom prst="rect">
            <a:avLst/>
          </a:prstGeom>
          <a:noFill/>
          <a:ln>
            <a:noFill/>
          </a:ln>
        </p:spPr>
        <p:txBody>
          <a:bodyPr spcFirstLastPara="1" wrap="square" lIns="91425" tIns="45700" rIns="91425" bIns="45700" anchor="t" anchorCtr="0">
            <a:spAutoFit/>
          </a:bodyPr>
          <a:lstStyle/>
          <a:p>
            <a:pPr algn="ctr"/>
            <a:endParaRPr lang="en-US" sz="6000" b="1" dirty="0">
              <a:solidFill>
                <a:srgbClr val="FF0000"/>
              </a:solidFill>
              <a:latin typeface="Times New Roman" panose="02020603050405020304" pitchFamily="18" charset="0"/>
              <a:ea typeface="Arial"/>
              <a:cs typeface="Times New Roman" panose="02020603050405020304" pitchFamily="18" charset="0"/>
              <a:sym typeface="Arial"/>
            </a:endParaRPr>
          </a:p>
          <a:p>
            <a:pPr algn="ctr"/>
            <a:r>
              <a:rPr lang="en-US" sz="6000" b="1" dirty="0">
                <a:solidFill>
                  <a:srgbClr val="FF0000"/>
                </a:solidFill>
                <a:latin typeface="Times New Roman" panose="02020603050405020304" pitchFamily="18" charset="0"/>
                <a:ea typeface="Arial"/>
                <a:cs typeface="Times New Roman" panose="02020603050405020304" pitchFamily="18" charset="0"/>
                <a:sym typeface="Arial"/>
              </a:rPr>
              <a:t>Testing of Hypothesis</a:t>
            </a:r>
          </a:p>
          <a:p>
            <a:pPr algn="ctr"/>
            <a:r>
              <a:rPr lang="en-US" sz="6000" b="1" dirty="0">
                <a:solidFill>
                  <a:srgbClr val="FF0000"/>
                </a:solidFill>
                <a:latin typeface="Times New Roman" panose="02020603050405020304" pitchFamily="18" charset="0"/>
                <a:ea typeface="Arial"/>
                <a:cs typeface="Times New Roman" panose="02020603050405020304" pitchFamily="18" charset="0"/>
                <a:sym typeface="Arial"/>
              </a:rPr>
              <a:t>For Large Samples</a:t>
            </a:r>
            <a:endParaRPr sz="6000" b="1" dirty="0">
              <a:solidFill>
                <a:srgbClr val="FF0000"/>
              </a:solidFill>
              <a:latin typeface="Times New Roman" panose="02020603050405020304" pitchFamily="18" charset="0"/>
              <a:ea typeface="Arial"/>
              <a:cs typeface="Times New Roman" panose="02020603050405020304" pitchFamily="18" charset="0"/>
              <a:sym typeface="Arial"/>
            </a:endParaRPr>
          </a:p>
        </p:txBody>
      </p:sp>
      <p:sp>
        <p:nvSpPr>
          <p:cNvPr id="2" name="Date Placeholder 1"/>
          <p:cNvSpPr>
            <a:spLocks noGrp="1"/>
          </p:cNvSpPr>
          <p:nvPr>
            <p:ph type="dt" sz="half" idx="10"/>
          </p:nvPr>
        </p:nvSpPr>
        <p:spPr/>
        <p:txBody>
          <a:bodyPr/>
          <a:lstStyle/>
          <a:p>
            <a:fld id="{DE06E73B-DFE1-4737-82D1-9EC3E866492B}" type="datetime1">
              <a:rPr lang="en-US" smtClean="0"/>
              <a:t>12/21/2024</a:t>
            </a:fld>
            <a:endParaRPr lang="en-US" dirty="0"/>
          </a:p>
        </p:txBody>
      </p:sp>
      <p:sp>
        <p:nvSpPr>
          <p:cNvPr id="10" name="Footer Placeholder 9"/>
          <p:cNvSpPr>
            <a:spLocks noGrp="1"/>
          </p:cNvSpPr>
          <p:nvPr>
            <p:ph type="ftr" sz="quarter" idx="11"/>
          </p:nvPr>
        </p:nvSpPr>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5" name="Content Placeholder 2"/>
          <p:cNvSpPr>
            <a:spLocks noGrp="1"/>
          </p:cNvSpPr>
          <p:nvPr>
            <p:ph idx="1"/>
          </p:nvPr>
        </p:nvSpPr>
        <p:spPr bwMode="auto">
          <a:xfrm>
            <a:off x="268941" y="1493520"/>
            <a:ext cx="11510683" cy="40009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noAutofit/>
          </a:bodyPr>
          <a:lstStyle/>
          <a:p>
            <a:pPr marL="0" indent="0" algn="just">
              <a:lnSpc>
                <a:spcPct val="150000"/>
              </a:lnSpc>
              <a:buNone/>
            </a:pPr>
            <a:r>
              <a:rPr lang="en-GB" altLang="en-US" sz="2600" dirty="0">
                <a:latin typeface="Times New Roman" panose="02020603050405020304" pitchFamily="18" charset="0"/>
                <a:cs typeface="Times New Roman" panose="02020603050405020304" pitchFamily="18" charset="0"/>
              </a:rPr>
              <a:t>A measure calculated from population data is called </a:t>
            </a:r>
            <a:r>
              <a:rPr lang="en-GB" altLang="en-US" sz="2600" b="1" dirty="0">
                <a:latin typeface="Times New Roman" panose="02020603050405020304" pitchFamily="18" charset="0"/>
                <a:cs typeface="Times New Roman" panose="02020603050405020304" pitchFamily="18" charset="0"/>
              </a:rPr>
              <a:t>Parameter.</a:t>
            </a:r>
          </a:p>
          <a:p>
            <a:pPr marL="0" indent="0" algn="just">
              <a:lnSpc>
                <a:spcPct val="150000"/>
              </a:lnSpc>
              <a:buNone/>
            </a:pPr>
            <a:r>
              <a:rPr lang="en-GB" altLang="en-US" sz="2600" dirty="0">
                <a:latin typeface="Times New Roman" panose="02020603050405020304" pitchFamily="18" charset="0"/>
                <a:cs typeface="Times New Roman" panose="02020603050405020304" pitchFamily="18" charset="0"/>
              </a:rPr>
              <a:t>A measure calculated from sample data is called </a:t>
            </a:r>
            <a:r>
              <a:rPr lang="en-GB" altLang="en-US" sz="2600" b="1" dirty="0">
                <a:latin typeface="Times New Roman" panose="02020603050405020304" pitchFamily="18" charset="0"/>
                <a:cs typeface="Times New Roman" panose="02020603050405020304" pitchFamily="18" charset="0"/>
              </a:rPr>
              <a:t>Statistics.</a:t>
            </a:r>
          </a:p>
          <a:p>
            <a:pPr marL="0" indent="0" algn="just">
              <a:lnSpc>
                <a:spcPct val="150000"/>
              </a:lnSpc>
              <a:buNone/>
            </a:pPr>
            <a:endParaRPr lang="en-GB" altLang="en-US" sz="2600" b="1"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3E677EF3-2C46-480E-8EDB-977BFADDC919}" type="datetime1">
              <a:rPr lang="en-US" smtClean="0"/>
              <a:t>12/21/2024</a:t>
            </a:fld>
            <a:endParaRPr lang="en-US" dirty="0"/>
          </a:p>
        </p:txBody>
      </p:sp>
      <p:sp>
        <p:nvSpPr>
          <p:cNvPr id="3" name="Footer Placeholder 2"/>
          <p:cNvSpPr>
            <a:spLocks noGrp="1"/>
          </p:cNvSpPr>
          <p:nvPr>
            <p:ph type="ftr" sz="quarter" idx="11"/>
          </p:nvPr>
        </p:nvSpPr>
        <p:spPr/>
        <p:txBody>
          <a:bodyPr/>
          <a:lstStyle/>
          <a:p>
            <a:r>
              <a:rPr lang="en-US" dirty="0"/>
              <a:t>Dr. Heena Sharma, Asst. Prof., CSE, Chandigarh University</a:t>
            </a:r>
          </a:p>
        </p:txBody>
      </p:sp>
      <p:sp>
        <p:nvSpPr>
          <p:cNvPr id="4" name="Slide Number Placeholder 3"/>
          <p:cNvSpPr>
            <a:spLocks noGrp="1"/>
          </p:cNvSpPr>
          <p:nvPr>
            <p:ph type="sldNum" sz="quarter" idx="12"/>
          </p:nvPr>
        </p:nvSpPr>
        <p:spPr/>
        <p:txBody>
          <a:bodyPr/>
          <a:lstStyle/>
          <a:p>
            <a:fld id="{EBFB1032-EA64-7144-B003-9BCC9D94B503}" type="slidenum">
              <a:rPr lang="en-US" smtClean="0"/>
              <a:t>2</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5" name="TextBox 4">
            <a:extLst>
              <a:ext uri="{FF2B5EF4-FFF2-40B4-BE49-F238E27FC236}">
                <a16:creationId xmlns:a16="http://schemas.microsoft.com/office/drawing/2014/main" id="{2069FE0B-4679-E4CA-6774-C7CFE6479AB8}"/>
              </a:ext>
            </a:extLst>
          </p:cNvPr>
          <p:cNvSpPr txBox="1"/>
          <p:nvPr/>
        </p:nvSpPr>
        <p:spPr>
          <a:xfrm>
            <a:off x="838200" y="426720"/>
            <a:ext cx="7393465" cy="707886"/>
          </a:xfrm>
          <a:prstGeom prst="rect">
            <a:avLst/>
          </a:prstGeom>
          <a:noFill/>
        </p:spPr>
        <p:txBody>
          <a:bodyPr wrap="square" rtlCol="0">
            <a:spAutoFit/>
          </a:bodyPr>
          <a:lstStyle/>
          <a:p>
            <a:r>
              <a:rPr lang="en-IN" sz="4000" b="1" dirty="0">
                <a:solidFill>
                  <a:srgbClr val="FF0000"/>
                </a:solidFill>
                <a:latin typeface="Times New Roman" panose="02020603050405020304" pitchFamily="18" charset="0"/>
                <a:cs typeface="Times New Roman" panose="02020603050405020304" pitchFamily="18" charset="0"/>
              </a:rPr>
              <a:t>Parameter and Statistics</a:t>
            </a:r>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6510E79B-D513-F228-2343-982C10B2E381}"/>
                  </a:ext>
                </a:extLst>
              </p:cNvPr>
              <p:cNvGraphicFramePr>
                <a:graphicFrameLocks noGrp="1"/>
              </p:cNvGraphicFramePr>
              <p:nvPr>
                <p:extLst>
                  <p:ext uri="{D42A27DB-BD31-4B8C-83A1-F6EECF244321}">
                    <p14:modId xmlns:p14="http://schemas.microsoft.com/office/powerpoint/2010/main" val="1981953214"/>
                  </p:ext>
                </p:extLst>
              </p:nvPr>
            </p:nvGraphicFramePr>
            <p:xfrm>
              <a:off x="1788160" y="3219026"/>
              <a:ext cx="8127999" cy="23774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4802697"/>
                        </a:ext>
                      </a:extLst>
                    </a:gridCol>
                    <a:gridCol w="2709333">
                      <a:extLst>
                        <a:ext uri="{9D8B030D-6E8A-4147-A177-3AD203B41FA5}">
                          <a16:colId xmlns:a16="http://schemas.microsoft.com/office/drawing/2014/main" val="3532913993"/>
                        </a:ext>
                      </a:extLst>
                    </a:gridCol>
                    <a:gridCol w="2709333">
                      <a:extLst>
                        <a:ext uri="{9D8B030D-6E8A-4147-A177-3AD203B41FA5}">
                          <a16:colId xmlns:a16="http://schemas.microsoft.com/office/drawing/2014/main" val="2126449185"/>
                        </a:ext>
                      </a:extLst>
                    </a:gridCol>
                  </a:tblGrid>
                  <a:tr h="370840">
                    <a:tc>
                      <a:txBody>
                        <a:bodyPr/>
                        <a:lstStyle/>
                        <a:p>
                          <a:pPr algn="l"/>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Parameter</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Statistic</a:t>
                          </a:r>
                        </a:p>
                      </a:txBody>
                      <a:tcPr/>
                    </a:tc>
                    <a:extLst>
                      <a:ext uri="{0D108BD9-81ED-4DB2-BD59-A6C34878D82A}">
                        <a16:rowId xmlns:a16="http://schemas.microsoft.com/office/drawing/2014/main" val="2708335381"/>
                      </a:ext>
                    </a:extLst>
                  </a:tr>
                  <a:tr h="3708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Size</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a:t>
                          </a:r>
                        </a:p>
                      </a:txBody>
                      <a:tcPr/>
                    </a:tc>
                    <a:extLst>
                      <a:ext uri="{0D108BD9-81ED-4DB2-BD59-A6C34878D82A}">
                        <a16:rowId xmlns:a16="http://schemas.microsoft.com/office/drawing/2014/main" val="893955945"/>
                      </a:ext>
                    </a:extLst>
                  </a:tr>
                  <a:tr h="3708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Mean</a:t>
                          </a:r>
                        </a:p>
                      </a:txBody>
                      <a:tcPr/>
                    </a:tc>
                    <a:tc>
                      <a:txBody>
                        <a:bodyPr/>
                        <a:lstStyle/>
                        <a:p>
                          <a:pPr algn="ct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𝜇</m:t>
                                </m:r>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IN" sz="2000" b="0" i="1" smtClean="0">
                                        <a:solidFill>
                                          <a:schemeClr val="tx1"/>
                                        </a:solidFill>
                                        <a:latin typeface="Cambria Math" panose="02040503050406030204" pitchFamily="18" charset="0"/>
                                      </a:rPr>
                                    </m:ctrlPr>
                                  </m:accPr>
                                  <m:e>
                                    <m:r>
                                      <a:rPr lang="en-IN" sz="2000" b="0" i="1" smtClean="0">
                                        <a:solidFill>
                                          <a:schemeClr val="tx1"/>
                                        </a:solidFill>
                                        <a:latin typeface="Cambria Math" panose="02040503050406030204" pitchFamily="18" charset="0"/>
                                      </a:rPr>
                                      <m:t>𝑥</m:t>
                                    </m:r>
                                  </m:e>
                                </m:acc>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9826534"/>
                      </a:ext>
                    </a:extLst>
                  </a:tr>
                  <a:tr h="3708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Standard Deviation</a:t>
                          </a:r>
                        </a:p>
                      </a:txBody>
                      <a:tcPr/>
                    </a:tc>
                    <a:tc>
                      <a:txBody>
                        <a:bodyPr/>
                        <a:lstStyle/>
                        <a:p>
                          <a:pPr algn="ct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𝜎</m:t>
                                </m:r>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a:t>
                          </a:r>
                        </a:p>
                      </a:txBody>
                      <a:tcPr/>
                    </a:tc>
                    <a:extLst>
                      <a:ext uri="{0D108BD9-81ED-4DB2-BD59-A6C34878D82A}">
                        <a16:rowId xmlns:a16="http://schemas.microsoft.com/office/drawing/2014/main" val="2763594353"/>
                      </a:ext>
                    </a:extLst>
                  </a:tr>
                  <a:tr h="3708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Proportion</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t>
                          </a:r>
                        </a:p>
                      </a:txBody>
                      <a:tcPr/>
                    </a:tc>
                    <a:extLst>
                      <a:ext uri="{0D108BD9-81ED-4DB2-BD59-A6C34878D82A}">
                        <a16:rowId xmlns:a16="http://schemas.microsoft.com/office/drawing/2014/main" val="2994085694"/>
                      </a:ext>
                    </a:extLst>
                  </a:tr>
                  <a:tr h="3708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Correlation Coefficient</a:t>
                          </a:r>
                        </a:p>
                      </a:txBody>
                      <a:tcPr/>
                    </a:tc>
                    <a:tc>
                      <a:txBody>
                        <a:bodyPr/>
                        <a:lstStyle/>
                        <a:p>
                          <a:pPr algn="ct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𝜌</m:t>
                                </m:r>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r</a:t>
                          </a:r>
                        </a:p>
                      </a:txBody>
                      <a:tcPr/>
                    </a:tc>
                    <a:extLst>
                      <a:ext uri="{0D108BD9-81ED-4DB2-BD59-A6C34878D82A}">
                        <a16:rowId xmlns:a16="http://schemas.microsoft.com/office/drawing/2014/main" val="3349655351"/>
                      </a:ext>
                    </a:extLst>
                  </a:tr>
                </a:tbl>
              </a:graphicData>
            </a:graphic>
          </p:graphicFrame>
        </mc:Choice>
        <mc:Fallback>
          <p:graphicFrame>
            <p:nvGraphicFramePr>
              <p:cNvPr id="6" name="Table 5">
                <a:extLst>
                  <a:ext uri="{FF2B5EF4-FFF2-40B4-BE49-F238E27FC236}">
                    <a16:creationId xmlns:a16="http://schemas.microsoft.com/office/drawing/2014/main" id="{6510E79B-D513-F228-2343-982C10B2E381}"/>
                  </a:ext>
                </a:extLst>
              </p:cNvPr>
              <p:cNvGraphicFramePr>
                <a:graphicFrameLocks noGrp="1"/>
              </p:cNvGraphicFramePr>
              <p:nvPr>
                <p:extLst>
                  <p:ext uri="{D42A27DB-BD31-4B8C-83A1-F6EECF244321}">
                    <p14:modId xmlns:p14="http://schemas.microsoft.com/office/powerpoint/2010/main" val="1981953214"/>
                  </p:ext>
                </p:extLst>
              </p:nvPr>
            </p:nvGraphicFramePr>
            <p:xfrm>
              <a:off x="1788160" y="3219026"/>
              <a:ext cx="8127999" cy="23774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4802697"/>
                        </a:ext>
                      </a:extLst>
                    </a:gridCol>
                    <a:gridCol w="2709333">
                      <a:extLst>
                        <a:ext uri="{9D8B030D-6E8A-4147-A177-3AD203B41FA5}">
                          <a16:colId xmlns:a16="http://schemas.microsoft.com/office/drawing/2014/main" val="3532913993"/>
                        </a:ext>
                      </a:extLst>
                    </a:gridCol>
                    <a:gridCol w="2709333">
                      <a:extLst>
                        <a:ext uri="{9D8B030D-6E8A-4147-A177-3AD203B41FA5}">
                          <a16:colId xmlns:a16="http://schemas.microsoft.com/office/drawing/2014/main" val="2126449185"/>
                        </a:ext>
                      </a:extLst>
                    </a:gridCol>
                  </a:tblGrid>
                  <a:tr h="396240">
                    <a:tc>
                      <a:txBody>
                        <a:bodyPr/>
                        <a:lstStyle/>
                        <a:p>
                          <a:pPr algn="l"/>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Parameter</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Statistic</a:t>
                          </a:r>
                        </a:p>
                      </a:txBody>
                      <a:tcPr/>
                    </a:tc>
                    <a:extLst>
                      <a:ext uri="{0D108BD9-81ED-4DB2-BD59-A6C34878D82A}">
                        <a16:rowId xmlns:a16="http://schemas.microsoft.com/office/drawing/2014/main" val="2708335381"/>
                      </a:ext>
                    </a:extLst>
                  </a:tr>
                  <a:tr h="3962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Size</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a:t>
                          </a:r>
                        </a:p>
                      </a:txBody>
                      <a:tcPr/>
                    </a:tc>
                    <a:extLst>
                      <a:ext uri="{0D108BD9-81ED-4DB2-BD59-A6C34878D82A}">
                        <a16:rowId xmlns:a16="http://schemas.microsoft.com/office/drawing/2014/main" val="893955945"/>
                      </a:ext>
                    </a:extLst>
                  </a:tr>
                  <a:tr h="3962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Mean</a:t>
                          </a:r>
                        </a:p>
                      </a:txBody>
                      <a:tcPr/>
                    </a:tc>
                    <a:tc>
                      <a:txBody>
                        <a:bodyPr/>
                        <a:lstStyle/>
                        <a:p>
                          <a:endParaRPr lang="en-US"/>
                        </a:p>
                      </a:txBody>
                      <a:tcPr>
                        <a:blipFill>
                          <a:blip r:embed="rId5"/>
                          <a:stretch>
                            <a:fillRect l="-100450" t="-204545" r="-101126" b="-321212"/>
                          </a:stretch>
                        </a:blipFill>
                      </a:tcPr>
                    </a:tc>
                    <a:tc>
                      <a:txBody>
                        <a:bodyPr/>
                        <a:lstStyle/>
                        <a:p>
                          <a:endParaRPr lang="en-US"/>
                        </a:p>
                      </a:txBody>
                      <a:tcPr>
                        <a:blipFill>
                          <a:blip r:embed="rId5"/>
                          <a:stretch>
                            <a:fillRect l="-200000" t="-204545" r="-899" b="-321212"/>
                          </a:stretch>
                        </a:blipFill>
                      </a:tcPr>
                    </a:tc>
                    <a:extLst>
                      <a:ext uri="{0D108BD9-81ED-4DB2-BD59-A6C34878D82A}">
                        <a16:rowId xmlns:a16="http://schemas.microsoft.com/office/drawing/2014/main" val="3559826534"/>
                      </a:ext>
                    </a:extLst>
                  </a:tr>
                  <a:tr h="3962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Standard Deviation</a:t>
                          </a:r>
                        </a:p>
                      </a:txBody>
                      <a:tcPr/>
                    </a:tc>
                    <a:tc>
                      <a:txBody>
                        <a:bodyPr/>
                        <a:lstStyle/>
                        <a:p>
                          <a:endParaRPr lang="en-US"/>
                        </a:p>
                      </a:txBody>
                      <a:tcPr>
                        <a:blipFill>
                          <a:blip r:embed="rId5"/>
                          <a:stretch>
                            <a:fillRect l="-100450" t="-309231" r="-101126" b="-226154"/>
                          </a:stretch>
                        </a:blip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a:t>
                          </a:r>
                        </a:p>
                      </a:txBody>
                      <a:tcPr/>
                    </a:tc>
                    <a:extLst>
                      <a:ext uri="{0D108BD9-81ED-4DB2-BD59-A6C34878D82A}">
                        <a16:rowId xmlns:a16="http://schemas.microsoft.com/office/drawing/2014/main" val="2763594353"/>
                      </a:ext>
                    </a:extLst>
                  </a:tr>
                  <a:tr h="3962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Proportion</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a:t>
                          </a:r>
                        </a:p>
                      </a:txBody>
                      <a:tcPr/>
                    </a:tc>
                    <a:extLst>
                      <a:ext uri="{0D108BD9-81ED-4DB2-BD59-A6C34878D82A}">
                        <a16:rowId xmlns:a16="http://schemas.microsoft.com/office/drawing/2014/main" val="2994085694"/>
                      </a:ext>
                    </a:extLst>
                  </a:tr>
                  <a:tr h="396240">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Correlation Coefficient</a:t>
                          </a:r>
                        </a:p>
                      </a:txBody>
                      <a:tcPr/>
                    </a:tc>
                    <a:tc>
                      <a:txBody>
                        <a:bodyPr/>
                        <a:lstStyle/>
                        <a:p>
                          <a:endParaRPr lang="en-US"/>
                        </a:p>
                      </a:txBody>
                      <a:tcPr>
                        <a:blipFill>
                          <a:blip r:embed="rId5"/>
                          <a:stretch>
                            <a:fillRect l="-100450" t="-509231" r="-101126" b="-26154"/>
                          </a:stretch>
                        </a:blip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r</a:t>
                          </a:r>
                        </a:p>
                      </a:txBody>
                      <a:tcPr/>
                    </a:tc>
                    <a:extLst>
                      <a:ext uri="{0D108BD9-81ED-4DB2-BD59-A6C34878D82A}">
                        <a16:rowId xmlns:a16="http://schemas.microsoft.com/office/drawing/2014/main" val="3349655351"/>
                      </a:ext>
                    </a:extLst>
                  </a:tr>
                </a:tbl>
              </a:graphicData>
            </a:graphic>
          </p:graphicFrame>
        </mc:Fallback>
      </mc:AlternateContent>
    </p:spTree>
    <p:extLst>
      <p:ext uri="{BB962C8B-B14F-4D97-AF65-F5344CB8AC3E}">
        <p14:creationId xmlns:p14="http://schemas.microsoft.com/office/powerpoint/2010/main" val="181111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71EB6E80-EE68-4000-96D8-C09964ACCAB5}" type="datetime1">
              <a:rPr lang="en-US" smtClean="0"/>
              <a:t>12/21/2024</a:t>
            </a:fld>
            <a:endParaRPr lang="en-US" dirty="0"/>
          </a:p>
        </p:txBody>
      </p:sp>
      <p:sp>
        <p:nvSpPr>
          <p:cNvPr id="9" name="Footer Placeholder 8"/>
          <p:cNvSpPr>
            <a:spLocks noGrp="1"/>
          </p:cNvSpPr>
          <p:nvPr>
            <p:ph type="ftr" sz="quarter" idx="11"/>
          </p:nvPr>
        </p:nvSpPr>
        <p:spPr/>
        <p:txBody>
          <a:bodyPr/>
          <a:lstStyle/>
          <a:p>
            <a:r>
              <a:rPr lang="en-US" dirty="0"/>
              <a:t>Dr. Heena Sharma, Asst. Prof., CSE, Chandigarh University</a:t>
            </a:r>
          </a:p>
        </p:txBody>
      </p:sp>
      <p:sp>
        <p:nvSpPr>
          <p:cNvPr id="13" name="Slide Number Placeholder 12"/>
          <p:cNvSpPr>
            <a:spLocks noGrp="1"/>
          </p:cNvSpPr>
          <p:nvPr>
            <p:ph type="sldNum" sz="quarter" idx="12"/>
          </p:nvPr>
        </p:nvSpPr>
        <p:spPr/>
        <p:txBody>
          <a:bodyPr/>
          <a:lstStyle/>
          <a:p>
            <a:fld id="{FA84A37A-AFC2-4A01-80A1-FC20F2C0D5BB}" type="slidenum">
              <a:rPr lang="en-US" smtClean="0"/>
              <a:pPr/>
              <a:t>3</a:t>
            </a:fld>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9C21F79-38BF-AC50-B5F5-8E91B3A1550F}"/>
                  </a:ext>
                </a:extLst>
              </p:cNvPr>
              <p:cNvSpPr txBox="1"/>
              <p:nvPr/>
            </p:nvSpPr>
            <p:spPr>
              <a:xfrm>
                <a:off x="883920" y="289560"/>
                <a:ext cx="6067366" cy="69249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IN" sz="4500" b="1" i="0" smtClean="0">
                          <a:solidFill>
                            <a:srgbClr val="FF0000"/>
                          </a:solidFill>
                          <a:latin typeface="Cambria Math" panose="02040503050406030204" pitchFamily="18" charset="0"/>
                        </a:rPr>
                        <m:t>𝐓𝐞𝐬𝐭𝐢𝐧𝐠</m:t>
                      </m:r>
                      <m:r>
                        <a:rPr lang="en-IN" sz="4500" b="1" i="0" smtClean="0">
                          <a:solidFill>
                            <a:srgbClr val="FF0000"/>
                          </a:solidFill>
                          <a:latin typeface="Cambria Math" panose="02040503050406030204" pitchFamily="18" charset="0"/>
                        </a:rPr>
                        <m:t> </m:t>
                      </m:r>
                      <m:r>
                        <a:rPr lang="en-IN" sz="4500" b="1" i="0" smtClean="0">
                          <a:solidFill>
                            <a:srgbClr val="FF0000"/>
                          </a:solidFill>
                          <a:latin typeface="Cambria Math" panose="02040503050406030204" pitchFamily="18" charset="0"/>
                        </a:rPr>
                        <m:t>𝐨𝐟</m:t>
                      </m:r>
                      <m:r>
                        <a:rPr lang="en-IN" sz="4500" b="1" i="0" smtClean="0">
                          <a:solidFill>
                            <a:srgbClr val="FF0000"/>
                          </a:solidFill>
                          <a:latin typeface="Cambria Math" panose="02040503050406030204" pitchFamily="18" charset="0"/>
                        </a:rPr>
                        <m:t> </m:t>
                      </m:r>
                      <m:r>
                        <a:rPr lang="en-IN" sz="4500" b="1" i="0" smtClean="0">
                          <a:solidFill>
                            <a:srgbClr val="FF0000"/>
                          </a:solidFill>
                          <a:latin typeface="Cambria Math" panose="02040503050406030204" pitchFamily="18" charset="0"/>
                        </a:rPr>
                        <m:t>𝐇𝐲𝐩𝐨𝐭𝐡𝐞𝐬𝐢𝐬</m:t>
                      </m:r>
                    </m:oMath>
                  </m:oMathPara>
                </a14:m>
                <a:endParaRPr lang="en-IN" sz="45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2" name="TextBox 1">
                <a:extLst>
                  <a:ext uri="{FF2B5EF4-FFF2-40B4-BE49-F238E27FC236}">
                    <a16:creationId xmlns:a16="http://schemas.microsoft.com/office/drawing/2014/main" id="{B9C21F79-38BF-AC50-B5F5-8E91B3A1550F}"/>
                  </a:ext>
                </a:extLst>
              </p:cNvPr>
              <p:cNvSpPr txBox="1">
                <a:spLocks noRot="1" noChangeAspect="1" noMove="1" noResize="1" noEditPoints="1" noAdjustHandles="1" noChangeArrowheads="1" noChangeShapeType="1" noTextEdit="1"/>
              </p:cNvSpPr>
              <p:nvPr/>
            </p:nvSpPr>
            <p:spPr>
              <a:xfrm>
                <a:off x="883920" y="289560"/>
                <a:ext cx="6067366" cy="692497"/>
              </a:xfrm>
              <a:prstGeom prst="rect">
                <a:avLst/>
              </a:prstGeom>
              <a:blipFill>
                <a:blip r:embed="rId6"/>
                <a:stretch>
                  <a:fillRect/>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33BD2E5D-37A1-3F32-1201-2F8758FE0D0E}"/>
              </a:ext>
            </a:extLst>
          </p:cNvPr>
          <p:cNvSpPr txBox="1"/>
          <p:nvPr/>
        </p:nvSpPr>
        <p:spPr>
          <a:xfrm>
            <a:off x="396240" y="1177687"/>
            <a:ext cx="11445240" cy="5724644"/>
          </a:xfrm>
          <a:prstGeom prst="rect">
            <a:avLst/>
          </a:prstGeom>
          <a:noFill/>
        </p:spPr>
        <p:txBody>
          <a:bodyPr wrap="square" lIns="0" tIns="0" rIns="0" bIns="0" rtlCol="0">
            <a:spAutoFit/>
          </a:bodyPr>
          <a:lstStyle/>
          <a:p>
            <a:pPr algn="just"/>
            <a:r>
              <a:rPr lang="en-IN" sz="3000" b="1" dirty="0">
                <a:solidFill>
                  <a:srgbClr val="FF0000"/>
                </a:solidFill>
                <a:latin typeface="Times New Roman" panose="02020603050405020304" pitchFamily="18" charset="0"/>
                <a:cs typeface="Times New Roman" panose="02020603050405020304" pitchFamily="18" charset="0"/>
              </a:rPr>
              <a:t>Statistical Hypothesis</a:t>
            </a:r>
          </a:p>
          <a:p>
            <a:pPr algn="just"/>
            <a:r>
              <a:rPr lang="en-IN" sz="3000" dirty="0">
                <a:latin typeface="Times New Roman" panose="02020603050405020304" pitchFamily="18" charset="0"/>
                <a:cs typeface="Times New Roman" panose="02020603050405020304" pitchFamily="18" charset="0"/>
              </a:rPr>
              <a:t>A statistical hypothesis is an assumption or any logical statement about the parameter of the population.</a:t>
            </a:r>
          </a:p>
          <a:p>
            <a:pPr algn="just"/>
            <a:r>
              <a:rPr lang="en-IN" sz="3000" dirty="0">
                <a:latin typeface="Times New Roman" panose="02020603050405020304" pitchFamily="18" charset="0"/>
                <a:cs typeface="Times New Roman" panose="02020603050405020304" pitchFamily="18" charset="0"/>
              </a:rPr>
              <a:t>E.g.</a:t>
            </a:r>
          </a:p>
          <a:p>
            <a:pPr marL="342900" indent="-342900" algn="just">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India will score on an average 300 runs in the next ODI series.</a:t>
            </a:r>
          </a:p>
          <a:p>
            <a:pPr marL="342900" indent="-342900" algn="just">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The average marks obtained by students at Chandigarh University in statistics is at least 80.</a:t>
            </a:r>
          </a:p>
          <a:p>
            <a:pPr marL="342900" indent="-342900" algn="just">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Proportion of Diabetic Patients in Punjab is not more than 10%.</a:t>
            </a:r>
          </a:p>
          <a:p>
            <a:pPr marL="342900" indent="-342900" algn="just">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Students of Chandigarh University score better than students from other universities.</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004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5"/>
              <p:cNvSpPr/>
              <p:nvPr/>
            </p:nvSpPr>
            <p:spPr>
              <a:xfrm>
                <a:off x="381913" y="936873"/>
                <a:ext cx="11549531" cy="5421933"/>
              </a:xfrm>
              <a:prstGeom prst="rect">
                <a:avLst/>
              </a:prstGeom>
            </p:spPr>
            <p:txBody>
              <a:bodyPr wrap="square">
                <a:spAutoFit/>
              </a:bodyPr>
              <a:lstStyle/>
              <a:p>
                <a:pPr>
                  <a:lnSpc>
                    <a:spcPct val="150000"/>
                  </a:lnSpc>
                </a:pPr>
                <a:r>
                  <a:rPr lang="en-US" sz="2600" dirty="0">
                    <a:latin typeface="Times New Roman" panose="02020603050405020304" pitchFamily="18" charset="0"/>
                    <a:cs typeface="Times New Roman" panose="02020603050405020304" pitchFamily="18" charset="0"/>
                  </a:rPr>
                  <a:t>A statistical hypothesis which is written for the possible acceptance is called </a:t>
                </a:r>
                <a:r>
                  <a:rPr lang="en-US" sz="2600" b="1" dirty="0">
                    <a:latin typeface="Times New Roman" panose="02020603050405020304" pitchFamily="18" charset="0"/>
                    <a:cs typeface="Times New Roman" panose="02020603050405020304" pitchFamily="18" charset="0"/>
                  </a:rPr>
                  <a:t>Null Hypothesis</a:t>
                </a:r>
                <a:r>
                  <a:rPr lang="en-US" sz="2600" dirty="0">
                    <a:latin typeface="Times New Roman" panose="02020603050405020304" pitchFamily="18" charset="0"/>
                    <a:cs typeface="Times New Roman" panose="02020603050405020304" pitchFamily="18" charset="0"/>
                  </a:rPr>
                  <a:t>. It is denoted by H0.</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Null hypothesis if the parameter assumes specific value the it is called </a:t>
                </a:r>
                <a:r>
                  <a:rPr lang="en-US" sz="2600" b="1" dirty="0">
                    <a:latin typeface="Times New Roman" panose="02020603050405020304" pitchFamily="18" charset="0"/>
                    <a:cs typeface="Times New Roman" panose="02020603050405020304" pitchFamily="18" charset="0"/>
                  </a:rPr>
                  <a:t>Simple hypothesis.</a:t>
                </a:r>
              </a:p>
              <a:p>
                <a:pPr>
                  <a:lnSpc>
                    <a:spcPct val="150000"/>
                  </a:lnSpc>
                </a:pPr>
                <a:r>
                  <a:rPr lang="en-US" sz="2600" b="1" dirty="0">
                    <a:latin typeface="Times New Roman" panose="02020603050405020304" pitchFamily="18" charset="0"/>
                    <a:cs typeface="Times New Roman" panose="02020603050405020304" pitchFamily="18" charset="0"/>
                  </a:rPr>
                  <a:t>      E.g. </a:t>
                </a:r>
                <a14:m>
                  <m:oMath xmlns:m="http://schemas.openxmlformats.org/officeDocument/2006/math">
                    <m:r>
                      <a:rPr lang="en-IN" sz="2600" b="1" i="1" smtClean="0">
                        <a:latin typeface="Cambria Math" panose="02040503050406030204" pitchFamily="18" charset="0"/>
                        <a:cs typeface="Times New Roman" panose="02020603050405020304" pitchFamily="18" charset="0"/>
                      </a:rPr>
                      <m:t>𝝁</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𝟐𝟖𝟎</m:t>
                    </m:r>
                    <m:r>
                      <a:rPr lang="en-IN" sz="2600" b="1" i="1" smtClean="0">
                        <a:latin typeface="Cambria Math" panose="02040503050406030204" pitchFamily="18" charset="0"/>
                        <a:cs typeface="Times New Roman" panose="02020603050405020304" pitchFamily="18" charset="0"/>
                      </a:rPr>
                      <m:t>, </m:t>
                    </m:r>
                    <m:r>
                      <a:rPr lang="en-IN" sz="2600" b="1" i="1" smtClean="0">
                        <a:latin typeface="Cambria Math" panose="02040503050406030204" pitchFamily="18" charset="0"/>
                        <a:cs typeface="Times New Roman" panose="02020603050405020304" pitchFamily="18" charset="0"/>
                      </a:rPr>
                      <m:t>𝑷</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𝟎</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𝟏𝟎</m:t>
                    </m:r>
                  </m:oMath>
                </a14:m>
                <a:endParaRPr lang="en-US" sz="2600" b="1"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Null hypothesis if the parameter assumes set of values then it is called </a:t>
                </a:r>
                <a:r>
                  <a:rPr lang="en-US" sz="2600" b="1" dirty="0">
                    <a:latin typeface="Times New Roman" panose="02020603050405020304" pitchFamily="18" charset="0"/>
                    <a:cs typeface="Times New Roman" panose="02020603050405020304" pitchFamily="18" charset="0"/>
                  </a:rPr>
                  <a:t>Composite hypothesis.</a:t>
                </a:r>
              </a:p>
              <a:p>
                <a:pPr marL="457200" indent="-457200">
                  <a:lnSpc>
                    <a:spcPct val="150000"/>
                  </a:lnSpc>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E.g. </a:t>
                </a:r>
                <a14:m>
                  <m:oMath xmlns:m="http://schemas.openxmlformats.org/officeDocument/2006/math">
                    <m:r>
                      <a:rPr lang="en-IN" sz="2600" b="1" i="1" smtClean="0">
                        <a:latin typeface="Cambria Math" panose="02040503050406030204" pitchFamily="18" charset="0"/>
                        <a:cs typeface="Times New Roman" panose="02020603050405020304" pitchFamily="18" charset="0"/>
                      </a:rPr>
                      <m:t>𝝁</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𝟐𝟖𝟎</m:t>
                    </m:r>
                    <m:r>
                      <a:rPr lang="en-IN" sz="2600" b="1" i="1" smtClean="0">
                        <a:latin typeface="Cambria Math" panose="02040503050406030204" pitchFamily="18" charset="0"/>
                        <a:cs typeface="Times New Roman" panose="02020603050405020304" pitchFamily="18" charset="0"/>
                      </a:rPr>
                      <m:t>, </m:t>
                    </m:r>
                    <m:r>
                      <a:rPr lang="en-IN" sz="2600" b="1" i="1" smtClean="0">
                        <a:latin typeface="Cambria Math" panose="02040503050406030204" pitchFamily="18" charset="0"/>
                        <a:cs typeface="Times New Roman" panose="02020603050405020304" pitchFamily="18" charset="0"/>
                      </a:rPr>
                      <m:t>𝑷</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𝟎</m:t>
                    </m:r>
                    <m:r>
                      <a:rPr lang="en-IN" sz="2600" b="1" i="1" smtClean="0">
                        <a:latin typeface="Cambria Math" panose="02040503050406030204" pitchFamily="18" charset="0"/>
                        <a:cs typeface="Times New Roman" panose="02020603050405020304" pitchFamily="18" charset="0"/>
                      </a:rPr>
                      <m:t>.</m:t>
                    </m:r>
                    <m:r>
                      <a:rPr lang="en-IN" sz="2600" b="1" i="1" smtClean="0">
                        <a:latin typeface="Cambria Math" panose="02040503050406030204" pitchFamily="18" charset="0"/>
                        <a:cs typeface="Times New Roman" panose="02020603050405020304" pitchFamily="18" charset="0"/>
                      </a:rPr>
                      <m:t>𝟏𝟎</m:t>
                    </m:r>
                  </m:oMath>
                </a14:m>
                <a:r>
                  <a:rPr lang="en-US" sz="2600" b="1" dirty="0">
                    <a:latin typeface="Times New Roman" panose="02020603050405020304" pitchFamily="18" charset="0"/>
                    <a:cs typeface="Times New Roman" panose="02020603050405020304" pitchFamily="18" charset="0"/>
                  </a:rPr>
                  <a:t>.</a:t>
                </a:r>
              </a:p>
              <a:p>
                <a:pPr marL="457200" indent="-457200">
                  <a:lnSpc>
                    <a:spcPct val="150000"/>
                  </a:lnSpc>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mc:Choice>
        <mc:Fallback>
          <p:sp>
            <p:nvSpPr>
              <p:cNvPr id="6" name="Rectangle 5"/>
              <p:cNvSpPr>
                <a:spLocks noRot="1" noChangeAspect="1" noMove="1" noResize="1" noEditPoints="1" noAdjustHandles="1" noChangeArrowheads="1" noChangeShapeType="1" noTextEdit="1"/>
              </p:cNvSpPr>
              <p:nvPr/>
            </p:nvSpPr>
            <p:spPr>
              <a:xfrm>
                <a:off x="381913" y="936873"/>
                <a:ext cx="11549531" cy="5421933"/>
              </a:xfrm>
              <a:prstGeom prst="rect">
                <a:avLst/>
              </a:prstGeom>
              <a:blipFill>
                <a:blip r:embed="rId2"/>
                <a:stretch>
                  <a:fillRect l="-950"/>
                </a:stretch>
              </a:blipFill>
            </p:spPr>
            <p:txBody>
              <a:bodyPr/>
              <a:lstStyle/>
              <a:p>
                <a:r>
                  <a:rPr lang="en-IN">
                    <a:noFill/>
                  </a:rPr>
                  <a:t> </a:t>
                </a:r>
              </a:p>
            </p:txBody>
          </p:sp>
        </mc:Fallback>
      </mc:AlternateContent>
      <p:sp>
        <p:nvSpPr>
          <p:cNvPr id="9" name="Title 8"/>
          <p:cNvSpPr>
            <a:spLocks noGrp="1"/>
          </p:cNvSpPr>
          <p:nvPr>
            <p:ph type="title"/>
          </p:nvPr>
        </p:nvSpPr>
        <p:spPr>
          <a:xfrm>
            <a:off x="838200" y="401509"/>
            <a:ext cx="9458148" cy="646331"/>
          </a:xfrm>
          <a:prstGeom prst="rect">
            <a:avLst/>
          </a:prstGeom>
        </p:spPr>
        <p:txBody>
          <a:bodyPr wrap="square">
            <a:spAutoFit/>
          </a:bodyPr>
          <a:lstStyle/>
          <a:p>
            <a:r>
              <a:rPr lang="en-US" sz="4000" b="1" dirty="0">
                <a:solidFill>
                  <a:srgbClr val="FF0000"/>
                </a:solidFill>
                <a:latin typeface="Times New Roman" panose="02020603050405020304" pitchFamily="18" charset="0"/>
                <a:cs typeface="Times New Roman" panose="02020603050405020304" pitchFamily="18" charset="0"/>
              </a:rPr>
              <a:t>Null Hypothesis</a:t>
            </a:r>
            <a:endParaRPr lang="en-US" sz="3300" b="1" dirty="0">
              <a:solidFill>
                <a:srgbClr val="FF0000"/>
              </a:solidFill>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10"/>
          </p:nvPr>
        </p:nvSpPr>
        <p:spPr/>
        <p:txBody>
          <a:bodyPr/>
          <a:lstStyle/>
          <a:p>
            <a:fld id="{CE3EB930-5C9E-40EA-934B-7FCB33AEC890}" type="datetime1">
              <a:rPr lang="en-US" smtClean="0"/>
              <a:t>12/21/2024</a:t>
            </a:fld>
            <a:endParaRPr lang="en-US" dirty="0"/>
          </a:p>
        </p:txBody>
      </p:sp>
      <p:sp>
        <p:nvSpPr>
          <p:cNvPr id="11" name="Footer Placeholder 10"/>
          <p:cNvSpPr>
            <a:spLocks noGrp="1"/>
          </p:cNvSpPr>
          <p:nvPr>
            <p:ph type="ftr" sz="quarter" idx="11"/>
          </p:nvPr>
        </p:nvSpPr>
        <p:spPr>
          <a:xfrm>
            <a:off x="3948545" y="6231225"/>
            <a:ext cx="4114800" cy="365125"/>
          </a:xfrm>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EBFB1032-EA64-7144-B003-9BCC9D94B503}" type="slidenum">
              <a:rPr lang="en-US" smtClean="0"/>
              <a:t>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4" name="Picture 13"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7177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Alternative Hypothesis</a:t>
            </a: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838200" y="1627638"/>
            <a:ext cx="10515600" cy="4351338"/>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A statistical hypothesis which is complementary to the Null hypothesis is called </a:t>
            </a:r>
            <a:r>
              <a:rPr lang="en-US" sz="2400" b="1" dirty="0">
                <a:latin typeface="Times New Roman" panose="02020603050405020304" pitchFamily="18" charset="0"/>
                <a:cs typeface="Times New Roman" panose="02020603050405020304" pitchFamily="18" charset="0"/>
              </a:rPr>
              <a:t>Alternative hypothesis. </a:t>
            </a:r>
            <a:r>
              <a:rPr lang="en-US" sz="2400" dirty="0">
                <a:latin typeface="Times New Roman" panose="02020603050405020304" pitchFamily="18" charset="0"/>
                <a:cs typeface="Times New Roman" panose="02020603050405020304" pitchFamily="18" charset="0"/>
              </a:rPr>
              <a:t>It is denoted by H1.</a:t>
            </a:r>
          </a:p>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66CEE92A-A923-6A0A-6F3E-559C7BFEC7DF}"/>
                  </a:ext>
                </a:extLst>
              </p:cNvPr>
              <p:cNvGraphicFramePr>
                <a:graphicFrameLocks noGrp="1"/>
              </p:cNvGraphicFramePr>
              <p:nvPr>
                <p:extLst>
                  <p:ext uri="{D42A27DB-BD31-4B8C-83A1-F6EECF244321}">
                    <p14:modId xmlns:p14="http://schemas.microsoft.com/office/powerpoint/2010/main" val="221098501"/>
                  </p:ext>
                </p:extLst>
              </p:nvPr>
            </p:nvGraphicFramePr>
            <p:xfrm>
              <a:off x="2032000" y="3295226"/>
              <a:ext cx="8127999" cy="221227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99164604"/>
                        </a:ext>
                      </a:extLst>
                    </a:gridCol>
                    <a:gridCol w="2709333">
                      <a:extLst>
                        <a:ext uri="{9D8B030D-6E8A-4147-A177-3AD203B41FA5}">
                          <a16:colId xmlns:a16="http://schemas.microsoft.com/office/drawing/2014/main" val="2683208118"/>
                        </a:ext>
                      </a:extLst>
                    </a:gridCol>
                    <a:gridCol w="2709333">
                      <a:extLst>
                        <a:ext uri="{9D8B030D-6E8A-4147-A177-3AD203B41FA5}">
                          <a16:colId xmlns:a16="http://schemas.microsoft.com/office/drawing/2014/main" val="1165090361"/>
                        </a:ext>
                      </a:extLst>
                    </a:gridCol>
                  </a:tblGrid>
                  <a:tr h="508785">
                    <a:tc>
                      <a:txBody>
                        <a:bodyPr/>
                        <a:lstStyle/>
                        <a:p>
                          <a:r>
                            <a:rPr lang="en-IN" dirty="0">
                              <a:solidFill>
                                <a:schemeClr val="tx1"/>
                              </a:solidFill>
                            </a:rPr>
                            <a:t>Null Hypothesis</a:t>
                          </a:r>
                        </a:p>
                      </a:txBody>
                      <a:tcPr/>
                    </a:tc>
                    <a:tc>
                      <a:txBody>
                        <a:bodyPr/>
                        <a:lstStyle/>
                        <a:p>
                          <a:r>
                            <a:rPr lang="en-IN" dirty="0">
                              <a:solidFill>
                                <a:schemeClr val="tx1"/>
                              </a:solidFill>
                            </a:rPr>
                            <a:t>Alternative Hypothesis</a:t>
                          </a:r>
                        </a:p>
                      </a:txBody>
                      <a:tcPr/>
                    </a:tc>
                    <a:tc>
                      <a:txBody>
                        <a:bodyPr/>
                        <a:lstStyle/>
                        <a:p>
                          <a:endParaRPr lang="en-IN">
                            <a:solidFill>
                              <a:schemeClr val="tx1"/>
                            </a:solidFill>
                          </a:endParaRPr>
                        </a:p>
                      </a:txBody>
                      <a:tcPr/>
                    </a:tc>
                    <a:extLst>
                      <a:ext uri="{0D108BD9-81ED-4DB2-BD59-A6C34878D82A}">
                        <a16:rowId xmlns:a16="http://schemas.microsoft.com/office/drawing/2014/main" val="957467724"/>
                      </a:ext>
                    </a:extLst>
                  </a:tr>
                  <a:tr h="554629">
                    <a:tc>
                      <a:txBody>
                        <a:bodyPr/>
                        <a:lstStyle/>
                        <a:p>
                          <a:pPr/>
                          <a14:m>
                            <m:oMathPara xmlns:m="http://schemas.openxmlformats.org/officeDocument/2006/math">
                              <m:oMathParaPr>
                                <m:jc m:val="centerGroup"/>
                              </m:oMathParaPr>
                              <m:oMath xmlns:m="http://schemas.openxmlformats.org/officeDocument/2006/math">
                                <m:r>
                                  <a:rPr lang="en-IN" b="0" i="1" smtClean="0">
                                    <a:solidFill>
                                      <a:schemeClr val="tx1"/>
                                    </a:solidFill>
                                    <a:latin typeface="Cambria Math" panose="02040503050406030204" pitchFamily="18" charset="0"/>
                                  </a:rPr>
                                  <m:t>𝜇</m:t>
                                </m:r>
                                <m:r>
                                  <a:rPr lang="en-IN" b="0" i="1" smtClean="0">
                                    <a:solidFill>
                                      <a:schemeClr val="tx1"/>
                                    </a:solidFill>
                                    <a:latin typeface="Cambria Math" panose="02040503050406030204" pitchFamily="18" charset="0"/>
                                  </a:rPr>
                                  <m:t>=</m:t>
                                </m:r>
                                <m:sSub>
                                  <m:sSubPr>
                                    <m:ctrlPr>
                                      <a:rPr lang="en-IN" b="0" i="1" smtClean="0">
                                        <a:solidFill>
                                          <a:schemeClr val="tx1"/>
                                        </a:solidFill>
                                        <a:latin typeface="Cambria Math" panose="02040503050406030204" pitchFamily="18" charset="0"/>
                                      </a:rPr>
                                    </m:ctrlPr>
                                  </m:sSubPr>
                                  <m:e>
                                    <m:r>
                                      <a:rPr lang="en-IN" b="0" i="1" smtClean="0">
                                        <a:solidFill>
                                          <a:schemeClr val="tx1"/>
                                        </a:solidFill>
                                        <a:latin typeface="Cambria Math" panose="02040503050406030204" pitchFamily="18" charset="0"/>
                                      </a:rPr>
                                      <m:t>𝜇</m:t>
                                    </m:r>
                                  </m:e>
                                  <m:sub>
                                    <m:r>
                                      <a:rPr lang="en-IN" b="0" i="1" smtClean="0">
                                        <a:solidFill>
                                          <a:schemeClr val="tx1"/>
                                        </a:solidFill>
                                        <a:latin typeface="Cambria Math" panose="02040503050406030204" pitchFamily="18" charset="0"/>
                                      </a:rPr>
                                      <m:t>0</m:t>
                                    </m:r>
                                  </m:sub>
                                </m:sSub>
                              </m:oMath>
                            </m:oMathPara>
                          </a14:m>
                          <a:endParaRPr lang="en-IN"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solidFill>
                                      <a:schemeClr val="tx1"/>
                                    </a:solidFill>
                                    <a:latin typeface="Cambria Math" panose="02040503050406030204" pitchFamily="18" charset="0"/>
                                  </a:rPr>
                                  <m:t>𝜇</m:t>
                                </m:r>
                                <m:r>
                                  <a:rPr lang="en-IN" b="0" i="1" smtClean="0">
                                    <a:solidFill>
                                      <a:schemeClr val="tx1"/>
                                    </a:solidFill>
                                    <a:latin typeface="Cambria Math" panose="02040503050406030204" pitchFamily="18" charset="0"/>
                                  </a:rPr>
                                  <m:t>≠</m:t>
                                </m:r>
                                <m:sSub>
                                  <m:sSubPr>
                                    <m:ctrlPr>
                                      <a:rPr lang="en-IN" b="0" i="1" smtClean="0">
                                        <a:solidFill>
                                          <a:schemeClr val="tx1"/>
                                        </a:solidFill>
                                        <a:latin typeface="Cambria Math" panose="02040503050406030204" pitchFamily="18" charset="0"/>
                                      </a:rPr>
                                    </m:ctrlPr>
                                  </m:sSubPr>
                                  <m:e>
                                    <m:r>
                                      <a:rPr lang="en-IN" b="0" i="1" smtClean="0">
                                        <a:solidFill>
                                          <a:schemeClr val="tx1"/>
                                        </a:solidFill>
                                        <a:latin typeface="Cambria Math" panose="02040503050406030204" pitchFamily="18" charset="0"/>
                                      </a:rPr>
                                      <m:t>𝜇</m:t>
                                    </m:r>
                                  </m:e>
                                  <m:sub>
                                    <m:r>
                                      <a:rPr lang="en-IN" b="0" i="1" smtClean="0">
                                        <a:solidFill>
                                          <a:schemeClr val="tx1"/>
                                        </a:solidFill>
                                        <a:latin typeface="Cambria Math" panose="02040503050406030204" pitchFamily="18" charset="0"/>
                                      </a:rPr>
                                      <m:t>0</m:t>
                                    </m:r>
                                  </m:sub>
                                </m:sSub>
                              </m:oMath>
                            </m:oMathPara>
                          </a14:m>
                          <a:endParaRPr lang="en-IN" dirty="0">
                            <a:solidFill>
                              <a:schemeClr val="tx1"/>
                            </a:solidFill>
                          </a:endParaRPr>
                        </a:p>
                      </a:txBody>
                      <a:tcPr/>
                    </a:tc>
                    <a:tc>
                      <a:txBody>
                        <a:bodyPr/>
                        <a:lstStyle/>
                        <a:p>
                          <a:r>
                            <a:rPr lang="en-IN" dirty="0">
                              <a:solidFill>
                                <a:schemeClr val="tx1"/>
                              </a:solidFill>
                            </a:rPr>
                            <a:t>Two tailed Test</a:t>
                          </a:r>
                        </a:p>
                      </a:txBody>
                      <a:tcPr/>
                    </a:tc>
                    <a:extLst>
                      <a:ext uri="{0D108BD9-81ED-4DB2-BD59-A6C34878D82A}">
                        <a16:rowId xmlns:a16="http://schemas.microsoft.com/office/drawing/2014/main" val="1108410636"/>
                      </a:ext>
                    </a:extLst>
                  </a:tr>
                  <a:tr h="508785">
                    <a:tc>
                      <a:txBody>
                        <a:bodyPr/>
                        <a:lstStyle/>
                        <a:p>
                          <a:endParaRPr lang="en-IN">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solidFill>
                                      <a:schemeClr val="tx1"/>
                                    </a:solidFill>
                                    <a:latin typeface="Cambria Math" panose="02040503050406030204" pitchFamily="18" charset="0"/>
                                  </a:rPr>
                                  <m:t>𝜇</m:t>
                                </m:r>
                                <m:r>
                                  <a:rPr lang="en-IN" b="0" i="1" smtClean="0">
                                    <a:solidFill>
                                      <a:schemeClr val="tx1"/>
                                    </a:solidFill>
                                    <a:latin typeface="Cambria Math" panose="02040503050406030204" pitchFamily="18" charset="0"/>
                                  </a:rPr>
                                  <m:t>&gt;</m:t>
                                </m:r>
                                <m:sSub>
                                  <m:sSubPr>
                                    <m:ctrlPr>
                                      <a:rPr lang="en-IN" b="0" i="1" smtClean="0">
                                        <a:solidFill>
                                          <a:schemeClr val="tx1"/>
                                        </a:solidFill>
                                        <a:latin typeface="Cambria Math" panose="02040503050406030204" pitchFamily="18" charset="0"/>
                                      </a:rPr>
                                    </m:ctrlPr>
                                  </m:sSubPr>
                                  <m:e>
                                    <m:r>
                                      <a:rPr lang="en-IN" b="0" i="1" smtClean="0">
                                        <a:solidFill>
                                          <a:schemeClr val="tx1"/>
                                        </a:solidFill>
                                        <a:latin typeface="Cambria Math" panose="02040503050406030204" pitchFamily="18" charset="0"/>
                                      </a:rPr>
                                      <m:t>𝜇</m:t>
                                    </m:r>
                                  </m:e>
                                  <m:sub>
                                    <m:r>
                                      <a:rPr lang="en-IN" b="0" i="1" smtClean="0">
                                        <a:solidFill>
                                          <a:schemeClr val="tx1"/>
                                        </a:solidFill>
                                        <a:latin typeface="Cambria Math" panose="02040503050406030204" pitchFamily="18" charset="0"/>
                                      </a:rPr>
                                      <m:t>0</m:t>
                                    </m:r>
                                  </m:sub>
                                </m:sSub>
                              </m:oMath>
                            </m:oMathPara>
                          </a14:m>
                          <a:endParaRPr lang="en-IN" dirty="0">
                            <a:solidFill>
                              <a:schemeClr val="tx1"/>
                            </a:solidFill>
                          </a:endParaRPr>
                        </a:p>
                      </a:txBody>
                      <a:tcPr/>
                    </a:tc>
                    <a:tc>
                      <a:txBody>
                        <a:bodyPr/>
                        <a:lstStyle/>
                        <a:p>
                          <a:r>
                            <a:rPr lang="en-IN" dirty="0">
                              <a:solidFill>
                                <a:schemeClr val="tx1"/>
                              </a:solidFill>
                            </a:rPr>
                            <a:t>Right sided on tailed test</a:t>
                          </a:r>
                        </a:p>
                      </a:txBody>
                      <a:tcPr/>
                    </a:tc>
                    <a:extLst>
                      <a:ext uri="{0D108BD9-81ED-4DB2-BD59-A6C34878D82A}">
                        <a16:rowId xmlns:a16="http://schemas.microsoft.com/office/drawing/2014/main" val="2178587502"/>
                      </a:ext>
                    </a:extLst>
                  </a:tr>
                  <a:tr h="508785">
                    <a:tc>
                      <a:txBody>
                        <a:bodyPr/>
                        <a:lstStyle/>
                        <a:p>
                          <a:endParaRPr lang="en-IN">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solidFill>
                                      <a:schemeClr val="tx1"/>
                                    </a:solidFill>
                                    <a:latin typeface="Cambria Math" panose="02040503050406030204" pitchFamily="18" charset="0"/>
                                  </a:rPr>
                                  <m:t>𝜇</m:t>
                                </m:r>
                                <m:r>
                                  <a:rPr lang="en-IN" b="0" i="1" smtClean="0">
                                    <a:solidFill>
                                      <a:schemeClr val="tx1"/>
                                    </a:solidFill>
                                    <a:latin typeface="Cambria Math" panose="02040503050406030204" pitchFamily="18" charset="0"/>
                                  </a:rPr>
                                  <m:t>&lt;</m:t>
                                </m:r>
                                <m:sSub>
                                  <m:sSubPr>
                                    <m:ctrlPr>
                                      <a:rPr lang="en-IN" b="0" i="1" smtClean="0">
                                        <a:solidFill>
                                          <a:schemeClr val="tx1"/>
                                        </a:solidFill>
                                        <a:latin typeface="Cambria Math" panose="02040503050406030204" pitchFamily="18" charset="0"/>
                                      </a:rPr>
                                    </m:ctrlPr>
                                  </m:sSubPr>
                                  <m:e>
                                    <m:r>
                                      <a:rPr lang="en-IN" b="0" i="1" smtClean="0">
                                        <a:solidFill>
                                          <a:schemeClr val="tx1"/>
                                        </a:solidFill>
                                        <a:latin typeface="Cambria Math" panose="02040503050406030204" pitchFamily="18" charset="0"/>
                                      </a:rPr>
                                      <m:t>𝜇</m:t>
                                    </m:r>
                                  </m:e>
                                  <m:sub>
                                    <m:r>
                                      <a:rPr lang="en-IN" b="0" i="1" smtClean="0">
                                        <a:solidFill>
                                          <a:schemeClr val="tx1"/>
                                        </a:solidFill>
                                        <a:latin typeface="Cambria Math" panose="02040503050406030204" pitchFamily="18" charset="0"/>
                                      </a:rPr>
                                      <m:t>0</m:t>
                                    </m:r>
                                  </m:sub>
                                </m:sSub>
                              </m:oMath>
                            </m:oMathPara>
                          </a14:m>
                          <a:endParaRPr lang="en-IN" dirty="0">
                            <a:solidFill>
                              <a:schemeClr val="tx1"/>
                            </a:solidFill>
                          </a:endParaRPr>
                        </a:p>
                        <a:p>
                          <a:endParaRPr lang="en-IN" dirty="0">
                            <a:solidFill>
                              <a:schemeClr val="tx1"/>
                            </a:solidFill>
                          </a:endParaRPr>
                        </a:p>
                      </a:txBody>
                      <a:tcPr/>
                    </a:tc>
                    <a:tc>
                      <a:txBody>
                        <a:bodyPr/>
                        <a:lstStyle/>
                        <a:p>
                          <a:r>
                            <a:rPr lang="en-IN" dirty="0">
                              <a:solidFill>
                                <a:schemeClr val="tx1"/>
                              </a:solidFill>
                            </a:rPr>
                            <a:t>Left sided on tailed test</a:t>
                          </a:r>
                        </a:p>
                      </a:txBody>
                      <a:tcPr/>
                    </a:tc>
                    <a:extLst>
                      <a:ext uri="{0D108BD9-81ED-4DB2-BD59-A6C34878D82A}">
                        <a16:rowId xmlns:a16="http://schemas.microsoft.com/office/drawing/2014/main" val="1909129650"/>
                      </a:ext>
                    </a:extLst>
                  </a:tr>
                </a:tbl>
              </a:graphicData>
            </a:graphic>
          </p:graphicFrame>
        </mc:Choice>
        <mc:Fallback>
          <p:graphicFrame>
            <p:nvGraphicFramePr>
              <p:cNvPr id="10" name="Table 9">
                <a:extLst>
                  <a:ext uri="{FF2B5EF4-FFF2-40B4-BE49-F238E27FC236}">
                    <a16:creationId xmlns:a16="http://schemas.microsoft.com/office/drawing/2014/main" id="{66CEE92A-A923-6A0A-6F3E-559C7BFEC7DF}"/>
                  </a:ext>
                </a:extLst>
              </p:cNvPr>
              <p:cNvGraphicFramePr>
                <a:graphicFrameLocks noGrp="1"/>
              </p:cNvGraphicFramePr>
              <p:nvPr>
                <p:extLst>
                  <p:ext uri="{D42A27DB-BD31-4B8C-83A1-F6EECF244321}">
                    <p14:modId xmlns:p14="http://schemas.microsoft.com/office/powerpoint/2010/main" val="221098501"/>
                  </p:ext>
                </p:extLst>
              </p:nvPr>
            </p:nvGraphicFramePr>
            <p:xfrm>
              <a:off x="2032000" y="3295226"/>
              <a:ext cx="8127999" cy="221227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99164604"/>
                        </a:ext>
                      </a:extLst>
                    </a:gridCol>
                    <a:gridCol w="2709333">
                      <a:extLst>
                        <a:ext uri="{9D8B030D-6E8A-4147-A177-3AD203B41FA5}">
                          <a16:colId xmlns:a16="http://schemas.microsoft.com/office/drawing/2014/main" val="2683208118"/>
                        </a:ext>
                      </a:extLst>
                    </a:gridCol>
                    <a:gridCol w="2709333">
                      <a:extLst>
                        <a:ext uri="{9D8B030D-6E8A-4147-A177-3AD203B41FA5}">
                          <a16:colId xmlns:a16="http://schemas.microsoft.com/office/drawing/2014/main" val="1165090361"/>
                        </a:ext>
                      </a:extLst>
                    </a:gridCol>
                  </a:tblGrid>
                  <a:tr h="508785">
                    <a:tc>
                      <a:txBody>
                        <a:bodyPr/>
                        <a:lstStyle/>
                        <a:p>
                          <a:r>
                            <a:rPr lang="en-IN" dirty="0">
                              <a:solidFill>
                                <a:schemeClr val="tx1"/>
                              </a:solidFill>
                            </a:rPr>
                            <a:t>Null Hypothesis</a:t>
                          </a:r>
                        </a:p>
                      </a:txBody>
                      <a:tcPr/>
                    </a:tc>
                    <a:tc>
                      <a:txBody>
                        <a:bodyPr/>
                        <a:lstStyle/>
                        <a:p>
                          <a:r>
                            <a:rPr lang="en-IN" dirty="0">
                              <a:solidFill>
                                <a:schemeClr val="tx1"/>
                              </a:solidFill>
                            </a:rPr>
                            <a:t>Alternative Hypothesis</a:t>
                          </a:r>
                        </a:p>
                      </a:txBody>
                      <a:tcPr/>
                    </a:tc>
                    <a:tc>
                      <a:txBody>
                        <a:bodyPr/>
                        <a:lstStyle/>
                        <a:p>
                          <a:endParaRPr lang="en-IN">
                            <a:solidFill>
                              <a:schemeClr val="tx1"/>
                            </a:solidFill>
                          </a:endParaRPr>
                        </a:p>
                      </a:txBody>
                      <a:tcPr/>
                    </a:tc>
                    <a:extLst>
                      <a:ext uri="{0D108BD9-81ED-4DB2-BD59-A6C34878D82A}">
                        <a16:rowId xmlns:a16="http://schemas.microsoft.com/office/drawing/2014/main" val="957467724"/>
                      </a:ext>
                    </a:extLst>
                  </a:tr>
                  <a:tr h="554629">
                    <a:tc>
                      <a:txBody>
                        <a:bodyPr/>
                        <a:lstStyle/>
                        <a:p>
                          <a:endParaRPr lang="en-US"/>
                        </a:p>
                      </a:txBody>
                      <a:tcPr>
                        <a:blipFill>
                          <a:blip r:embed="rId5"/>
                          <a:stretch>
                            <a:fillRect l="-225" t="-97802" r="-200674" b="-209890"/>
                          </a:stretch>
                        </a:blipFill>
                      </a:tcPr>
                    </a:tc>
                    <a:tc>
                      <a:txBody>
                        <a:bodyPr/>
                        <a:lstStyle/>
                        <a:p>
                          <a:endParaRPr lang="en-US"/>
                        </a:p>
                      </a:txBody>
                      <a:tcPr>
                        <a:blipFill>
                          <a:blip r:embed="rId5"/>
                          <a:stretch>
                            <a:fillRect l="-100450" t="-97802" r="-101126" b="-209890"/>
                          </a:stretch>
                        </a:blipFill>
                      </a:tcPr>
                    </a:tc>
                    <a:tc>
                      <a:txBody>
                        <a:bodyPr/>
                        <a:lstStyle/>
                        <a:p>
                          <a:r>
                            <a:rPr lang="en-IN" dirty="0">
                              <a:solidFill>
                                <a:schemeClr val="tx1"/>
                              </a:solidFill>
                            </a:rPr>
                            <a:t>Two tailed Test</a:t>
                          </a:r>
                        </a:p>
                      </a:txBody>
                      <a:tcPr/>
                    </a:tc>
                    <a:extLst>
                      <a:ext uri="{0D108BD9-81ED-4DB2-BD59-A6C34878D82A}">
                        <a16:rowId xmlns:a16="http://schemas.microsoft.com/office/drawing/2014/main" val="1108410636"/>
                      </a:ext>
                    </a:extLst>
                  </a:tr>
                  <a:tr h="508785">
                    <a:tc>
                      <a:txBody>
                        <a:bodyPr/>
                        <a:lstStyle/>
                        <a:p>
                          <a:endParaRPr lang="en-IN">
                            <a:solidFill>
                              <a:schemeClr val="tx1"/>
                            </a:solidFill>
                          </a:endParaRPr>
                        </a:p>
                      </a:txBody>
                      <a:tcPr/>
                    </a:tc>
                    <a:tc>
                      <a:txBody>
                        <a:bodyPr/>
                        <a:lstStyle/>
                        <a:p>
                          <a:endParaRPr lang="en-US"/>
                        </a:p>
                      </a:txBody>
                      <a:tcPr>
                        <a:blipFill>
                          <a:blip r:embed="rId5"/>
                          <a:stretch>
                            <a:fillRect l="-100450" t="-214286" r="-101126" b="-127381"/>
                          </a:stretch>
                        </a:blipFill>
                      </a:tcPr>
                    </a:tc>
                    <a:tc>
                      <a:txBody>
                        <a:bodyPr/>
                        <a:lstStyle/>
                        <a:p>
                          <a:r>
                            <a:rPr lang="en-IN" dirty="0">
                              <a:solidFill>
                                <a:schemeClr val="tx1"/>
                              </a:solidFill>
                            </a:rPr>
                            <a:t>Right sided on tailed test</a:t>
                          </a:r>
                        </a:p>
                      </a:txBody>
                      <a:tcPr/>
                    </a:tc>
                    <a:extLst>
                      <a:ext uri="{0D108BD9-81ED-4DB2-BD59-A6C34878D82A}">
                        <a16:rowId xmlns:a16="http://schemas.microsoft.com/office/drawing/2014/main" val="2178587502"/>
                      </a:ext>
                    </a:extLst>
                  </a:tr>
                  <a:tr h="640080">
                    <a:tc>
                      <a:txBody>
                        <a:bodyPr/>
                        <a:lstStyle/>
                        <a:p>
                          <a:endParaRPr lang="en-IN">
                            <a:solidFill>
                              <a:schemeClr val="tx1"/>
                            </a:solidFill>
                          </a:endParaRPr>
                        </a:p>
                      </a:txBody>
                      <a:tcPr/>
                    </a:tc>
                    <a:tc>
                      <a:txBody>
                        <a:bodyPr/>
                        <a:lstStyle/>
                        <a:p>
                          <a:endParaRPr lang="en-US"/>
                        </a:p>
                      </a:txBody>
                      <a:tcPr>
                        <a:blipFill>
                          <a:blip r:embed="rId5"/>
                          <a:stretch>
                            <a:fillRect l="-100450" t="-251429" r="-101126" b="-1905"/>
                          </a:stretch>
                        </a:blipFill>
                      </a:tcPr>
                    </a:tc>
                    <a:tc>
                      <a:txBody>
                        <a:bodyPr/>
                        <a:lstStyle/>
                        <a:p>
                          <a:r>
                            <a:rPr lang="en-IN" dirty="0">
                              <a:solidFill>
                                <a:schemeClr val="tx1"/>
                              </a:solidFill>
                            </a:rPr>
                            <a:t>Left sided on tailed test</a:t>
                          </a:r>
                        </a:p>
                      </a:txBody>
                      <a:tcPr/>
                    </a:tc>
                    <a:extLst>
                      <a:ext uri="{0D108BD9-81ED-4DB2-BD59-A6C34878D82A}">
                        <a16:rowId xmlns:a16="http://schemas.microsoft.com/office/drawing/2014/main" val="1909129650"/>
                      </a:ext>
                    </a:extLst>
                  </a:tr>
                </a:tbl>
              </a:graphicData>
            </a:graphic>
          </p:graphicFrame>
        </mc:Fallback>
      </mc:AlternateContent>
    </p:spTree>
    <p:extLst>
      <p:ext uri="{BB962C8B-B14F-4D97-AF65-F5344CB8AC3E}">
        <p14:creationId xmlns:p14="http://schemas.microsoft.com/office/powerpoint/2010/main" val="285474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838200" y="785252"/>
            <a:ext cx="10515600" cy="5356468"/>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1EE9EC6C-1B34-6C10-E95E-B4FB7E7E0E3B}"/>
                  </a:ext>
                </a:extLst>
              </p:cNvPr>
              <p:cNvGraphicFramePr>
                <a:graphicFrameLocks noGrp="1"/>
              </p:cNvGraphicFramePr>
              <p:nvPr>
                <p:extLst>
                  <p:ext uri="{D42A27DB-BD31-4B8C-83A1-F6EECF244321}">
                    <p14:modId xmlns:p14="http://schemas.microsoft.com/office/powerpoint/2010/main" val="2487443240"/>
                  </p:ext>
                </p:extLst>
              </p:nvPr>
            </p:nvGraphicFramePr>
            <p:xfrm>
              <a:off x="350520" y="1192106"/>
              <a:ext cx="11338560" cy="4793569"/>
            </p:xfrm>
            <a:graphic>
              <a:graphicData uri="http://schemas.openxmlformats.org/drawingml/2006/table">
                <a:tbl>
                  <a:tblPr firstRow="1" bandRow="1">
                    <a:tableStyleId>{5C22544A-7EE6-4342-B048-85BDC9FD1C3A}</a:tableStyleId>
                  </a:tblPr>
                  <a:tblGrid>
                    <a:gridCol w="6614160">
                      <a:extLst>
                        <a:ext uri="{9D8B030D-6E8A-4147-A177-3AD203B41FA5}">
                          <a16:colId xmlns:a16="http://schemas.microsoft.com/office/drawing/2014/main" val="224306831"/>
                        </a:ext>
                      </a:extLst>
                    </a:gridCol>
                    <a:gridCol w="2362200">
                      <a:extLst>
                        <a:ext uri="{9D8B030D-6E8A-4147-A177-3AD203B41FA5}">
                          <a16:colId xmlns:a16="http://schemas.microsoft.com/office/drawing/2014/main" val="1041779588"/>
                        </a:ext>
                      </a:extLst>
                    </a:gridCol>
                    <a:gridCol w="2362200">
                      <a:extLst>
                        <a:ext uri="{9D8B030D-6E8A-4147-A177-3AD203B41FA5}">
                          <a16:colId xmlns:a16="http://schemas.microsoft.com/office/drawing/2014/main" val="3403055674"/>
                        </a:ext>
                      </a:extLst>
                    </a:gridCol>
                  </a:tblGrid>
                  <a:tr h="1017435">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Problem Statement</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Null Hypothesis (H0)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Alternative hypothesis (H1)</a:t>
                          </a:r>
                        </a:p>
                      </a:txBody>
                      <a:tcPr/>
                    </a:tc>
                    <a:extLst>
                      <a:ext uri="{0D108BD9-81ED-4DB2-BD59-A6C34878D82A}">
                        <a16:rowId xmlns:a16="http://schemas.microsoft.com/office/drawing/2014/main" val="61514563"/>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India will score on an average 300 runs in the next ODI series.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𝜇</m:t>
                                </m:r>
                                <m:r>
                                  <a:rPr lang="en-IN" sz="2000" b="0" i="1" smtClean="0">
                                    <a:solidFill>
                                      <a:schemeClr val="tx1"/>
                                    </a:solidFill>
                                    <a:latin typeface="Cambria Math" panose="02040503050406030204" pitchFamily="18" charset="0"/>
                                  </a:rPr>
                                  <m:t>=300</m:t>
                                </m:r>
                              </m:oMath>
                            </m:oMathPara>
                          </a14:m>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𝜇</m:t>
                                </m:r>
                                <m:r>
                                  <a:rPr lang="en-IN" sz="2000" b="0" i="1" smtClean="0">
                                    <a:solidFill>
                                      <a:schemeClr val="tx1"/>
                                    </a:solidFill>
                                    <a:latin typeface="Cambria Math" panose="02040503050406030204" pitchFamily="18" charset="0"/>
                                  </a:rPr>
                                  <m:t>≠300</m:t>
                                </m:r>
                              </m:oMath>
                            </m:oMathPara>
                          </a14:m>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6614486"/>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The average marks obtained by student at Chandigarh University in statistics is at least 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𝜇</m:t>
                                </m:r>
                                <m:r>
                                  <a:rPr lang="en-IN" sz="2000" b="0" i="1" smtClean="0">
                                    <a:solidFill>
                                      <a:schemeClr val="tx1"/>
                                    </a:solidFill>
                                    <a:latin typeface="Cambria Math" panose="02040503050406030204" pitchFamily="18" charset="0"/>
                                  </a:rPr>
                                  <m:t>=80</m:t>
                                </m:r>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2000" b="0" i="1" smtClean="0">
                                    <a:solidFill>
                                      <a:schemeClr val="tx1"/>
                                    </a:solidFill>
                                    <a:latin typeface="Cambria Math" panose="02040503050406030204" pitchFamily="18" charset="0"/>
                                  </a:rPr>
                                  <m:t>𝜇</m:t>
                                </m:r>
                                <m:r>
                                  <a:rPr lang="en-IN" sz="2000" b="0" i="1" smtClean="0">
                                    <a:solidFill>
                                      <a:schemeClr val="tx1"/>
                                    </a:solidFill>
                                    <a:latin typeface="Cambria Math" panose="02040503050406030204" pitchFamily="18" charset="0"/>
                                  </a:rPr>
                                  <m:t>&lt;80</m:t>
                                </m:r>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39487087"/>
                      </a:ext>
                    </a:extLst>
                  </a:tr>
                  <a:tr h="723829">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Proportion of diabetic patients in Punjab is not more than 10%.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 = 0.10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 &gt; 0.10</a:t>
                          </a:r>
                        </a:p>
                      </a:txBody>
                      <a:tcPr/>
                    </a:tc>
                    <a:extLst>
                      <a:ext uri="{0D108BD9-81ED-4DB2-BD59-A6C34878D82A}">
                        <a16:rowId xmlns:a16="http://schemas.microsoft.com/office/drawing/2014/main" val="3581350420"/>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Student is Chandigarh University score better than students from other Universities.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𝜇</m:t>
                                    </m:r>
                                  </m:e>
                                  <m:sub>
                                    <m:r>
                                      <a:rPr lang="en-IN" sz="2000" b="0" i="1" smtClean="0">
                                        <a:solidFill>
                                          <a:schemeClr val="tx1"/>
                                        </a:solidFill>
                                        <a:latin typeface="Cambria Math" panose="02040503050406030204" pitchFamily="18" charset="0"/>
                                      </a:rPr>
                                      <m:t>1</m:t>
                                    </m:r>
                                  </m:sub>
                                </m:sSub>
                                <m:r>
                                  <a:rPr lang="en-IN" sz="2000" b="0" i="1" smtClean="0">
                                    <a:solidFill>
                                      <a:schemeClr val="tx1"/>
                                    </a:solidFill>
                                    <a:latin typeface="Cambria Math" panose="02040503050406030204" pitchFamily="18" charset="0"/>
                                  </a:rPr>
                                  <m:t>=</m:t>
                                </m:r>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𝜇</m:t>
                                    </m:r>
                                  </m:e>
                                  <m:sub>
                                    <m:r>
                                      <a:rPr lang="en-IN" sz="2000" b="0" i="1" smtClean="0">
                                        <a:solidFill>
                                          <a:schemeClr val="tx1"/>
                                        </a:solidFill>
                                        <a:latin typeface="Cambria Math" panose="02040503050406030204" pitchFamily="18" charset="0"/>
                                      </a:rPr>
                                      <m:t>2</m:t>
                                    </m:r>
                                  </m:sub>
                                </m:sSub>
                              </m:oMath>
                            </m:oMathPara>
                          </a14:m>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𝜇</m:t>
                                    </m:r>
                                  </m:e>
                                  <m:sub>
                                    <m:r>
                                      <a:rPr lang="en-IN" sz="2000" b="0" i="1" smtClean="0">
                                        <a:solidFill>
                                          <a:schemeClr val="tx1"/>
                                        </a:solidFill>
                                        <a:latin typeface="Cambria Math" panose="02040503050406030204" pitchFamily="18" charset="0"/>
                                      </a:rPr>
                                      <m:t>1</m:t>
                                    </m:r>
                                  </m:sub>
                                </m:sSub>
                                <m:r>
                                  <a:rPr lang="en-IN" sz="2000" b="0" i="1" smtClean="0">
                                    <a:solidFill>
                                      <a:schemeClr val="tx1"/>
                                    </a:solidFill>
                                    <a:latin typeface="Cambria Math" panose="02040503050406030204" pitchFamily="18" charset="0"/>
                                  </a:rPr>
                                  <m:t>≠</m:t>
                                </m:r>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𝜇</m:t>
                                    </m:r>
                                  </m:e>
                                  <m:sub>
                                    <m:r>
                                      <a:rPr lang="en-IN" sz="2000" b="0" i="1" smtClean="0">
                                        <a:solidFill>
                                          <a:schemeClr val="tx1"/>
                                        </a:solidFill>
                                        <a:latin typeface="Cambria Math" panose="02040503050406030204" pitchFamily="18" charset="0"/>
                                      </a:rPr>
                                      <m:t>2</m:t>
                                    </m:r>
                                  </m:sub>
                                </m:sSub>
                              </m:oMath>
                            </m:oMathPara>
                          </a14:m>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7501942"/>
                      </a:ext>
                    </a:extLst>
                  </a:tr>
                </a:tbl>
              </a:graphicData>
            </a:graphic>
          </p:graphicFrame>
        </mc:Choice>
        <mc:Fallback>
          <p:graphicFrame>
            <p:nvGraphicFramePr>
              <p:cNvPr id="10" name="Table 9">
                <a:extLst>
                  <a:ext uri="{FF2B5EF4-FFF2-40B4-BE49-F238E27FC236}">
                    <a16:creationId xmlns:a16="http://schemas.microsoft.com/office/drawing/2014/main" id="{1EE9EC6C-1B34-6C10-E95E-B4FB7E7E0E3B}"/>
                  </a:ext>
                </a:extLst>
              </p:cNvPr>
              <p:cNvGraphicFramePr>
                <a:graphicFrameLocks noGrp="1"/>
              </p:cNvGraphicFramePr>
              <p:nvPr>
                <p:extLst>
                  <p:ext uri="{D42A27DB-BD31-4B8C-83A1-F6EECF244321}">
                    <p14:modId xmlns:p14="http://schemas.microsoft.com/office/powerpoint/2010/main" val="2487443240"/>
                  </p:ext>
                </p:extLst>
              </p:nvPr>
            </p:nvGraphicFramePr>
            <p:xfrm>
              <a:off x="350520" y="1192106"/>
              <a:ext cx="11338560" cy="4793569"/>
            </p:xfrm>
            <a:graphic>
              <a:graphicData uri="http://schemas.openxmlformats.org/drawingml/2006/table">
                <a:tbl>
                  <a:tblPr firstRow="1" bandRow="1">
                    <a:tableStyleId>{5C22544A-7EE6-4342-B048-85BDC9FD1C3A}</a:tableStyleId>
                  </a:tblPr>
                  <a:tblGrid>
                    <a:gridCol w="6614160">
                      <a:extLst>
                        <a:ext uri="{9D8B030D-6E8A-4147-A177-3AD203B41FA5}">
                          <a16:colId xmlns:a16="http://schemas.microsoft.com/office/drawing/2014/main" val="224306831"/>
                        </a:ext>
                      </a:extLst>
                    </a:gridCol>
                    <a:gridCol w="2362200">
                      <a:extLst>
                        <a:ext uri="{9D8B030D-6E8A-4147-A177-3AD203B41FA5}">
                          <a16:colId xmlns:a16="http://schemas.microsoft.com/office/drawing/2014/main" val="1041779588"/>
                        </a:ext>
                      </a:extLst>
                    </a:gridCol>
                    <a:gridCol w="2362200">
                      <a:extLst>
                        <a:ext uri="{9D8B030D-6E8A-4147-A177-3AD203B41FA5}">
                          <a16:colId xmlns:a16="http://schemas.microsoft.com/office/drawing/2014/main" val="3403055674"/>
                        </a:ext>
                      </a:extLst>
                    </a:gridCol>
                  </a:tblGrid>
                  <a:tr h="1017435">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Problem Statement</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Null Hypothesis (H0)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Alternative hypothesis (H1)</a:t>
                          </a:r>
                        </a:p>
                      </a:txBody>
                      <a:tcPr/>
                    </a:tc>
                    <a:extLst>
                      <a:ext uri="{0D108BD9-81ED-4DB2-BD59-A6C34878D82A}">
                        <a16:rowId xmlns:a16="http://schemas.microsoft.com/office/drawing/2014/main" val="61514563"/>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India will score on an average 300 runs in the next ODI series.</a:t>
                          </a:r>
                        </a:p>
                      </a:txBody>
                      <a:tcPr/>
                    </a:tc>
                    <a:tc>
                      <a:txBody>
                        <a:bodyPr/>
                        <a:lstStyle/>
                        <a:p>
                          <a:endParaRPr lang="en-US"/>
                        </a:p>
                      </a:txBody>
                      <a:tcPr>
                        <a:blipFill>
                          <a:blip r:embed="rId5"/>
                          <a:stretch>
                            <a:fillRect l="-280879" t="-102994" r="-101292" b="-272455"/>
                          </a:stretch>
                        </a:blipFill>
                      </a:tcPr>
                    </a:tc>
                    <a:tc>
                      <a:txBody>
                        <a:bodyPr/>
                        <a:lstStyle/>
                        <a:p>
                          <a:endParaRPr lang="en-US"/>
                        </a:p>
                      </a:txBody>
                      <a:tcPr>
                        <a:blipFill>
                          <a:blip r:embed="rId5"/>
                          <a:stretch>
                            <a:fillRect l="-379897" t="-102994" r="-1031" b="-272455"/>
                          </a:stretch>
                        </a:blipFill>
                      </a:tcPr>
                    </a:tc>
                    <a:extLst>
                      <a:ext uri="{0D108BD9-81ED-4DB2-BD59-A6C34878D82A}">
                        <a16:rowId xmlns:a16="http://schemas.microsoft.com/office/drawing/2014/main" val="2156614486"/>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The average marks obtained by student at Chandigarh University in statistics is at least 80.</a:t>
                          </a:r>
                        </a:p>
                      </a:txBody>
                      <a:tcPr/>
                    </a:tc>
                    <a:tc>
                      <a:txBody>
                        <a:bodyPr/>
                        <a:lstStyle/>
                        <a:p>
                          <a:endParaRPr lang="en-US"/>
                        </a:p>
                      </a:txBody>
                      <a:tcPr>
                        <a:blipFill>
                          <a:blip r:embed="rId5"/>
                          <a:stretch>
                            <a:fillRect l="-280879" t="-202994" r="-101292" b="-172455"/>
                          </a:stretch>
                        </a:blipFill>
                      </a:tcPr>
                    </a:tc>
                    <a:tc>
                      <a:txBody>
                        <a:bodyPr/>
                        <a:lstStyle/>
                        <a:p>
                          <a:endParaRPr lang="en-US"/>
                        </a:p>
                      </a:txBody>
                      <a:tcPr>
                        <a:blipFill>
                          <a:blip r:embed="rId5"/>
                          <a:stretch>
                            <a:fillRect l="-379897" t="-202994" r="-1031" b="-172455"/>
                          </a:stretch>
                        </a:blipFill>
                      </a:tcPr>
                    </a:tc>
                    <a:extLst>
                      <a:ext uri="{0D108BD9-81ED-4DB2-BD59-A6C34878D82A}">
                        <a16:rowId xmlns:a16="http://schemas.microsoft.com/office/drawing/2014/main" val="939487087"/>
                      </a:ext>
                    </a:extLst>
                  </a:tr>
                  <a:tr h="723829">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Proportion of diabetic patients in Punjab is not more than 10%.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 = 0.10</a:t>
                          </a:r>
                        </a:p>
                      </a:txBody>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 &gt; 0.10</a:t>
                          </a:r>
                        </a:p>
                      </a:txBody>
                      <a:tcPr/>
                    </a:tc>
                    <a:extLst>
                      <a:ext uri="{0D108BD9-81ED-4DB2-BD59-A6C34878D82A}">
                        <a16:rowId xmlns:a16="http://schemas.microsoft.com/office/drawing/2014/main" val="3581350420"/>
                      </a:ext>
                    </a:extLst>
                  </a:tr>
                  <a:tr h="1017435">
                    <a:tc>
                      <a:txBody>
                        <a:bodyPr/>
                        <a:lstStyle/>
                        <a:p>
                          <a:pPr algn="l"/>
                          <a:r>
                            <a:rPr lang="en-IN" sz="2000" dirty="0">
                              <a:solidFill>
                                <a:schemeClr val="tx1"/>
                              </a:solidFill>
                              <a:latin typeface="Times New Roman" panose="02020603050405020304" pitchFamily="18" charset="0"/>
                              <a:cs typeface="Times New Roman" panose="02020603050405020304" pitchFamily="18" charset="0"/>
                            </a:rPr>
                            <a:t>Student is Chandigarh University score better than students from other Universities.</a:t>
                          </a:r>
                        </a:p>
                      </a:txBody>
                      <a:tcPr/>
                    </a:tc>
                    <a:tc>
                      <a:txBody>
                        <a:bodyPr/>
                        <a:lstStyle/>
                        <a:p>
                          <a:endParaRPr lang="en-US"/>
                        </a:p>
                      </a:txBody>
                      <a:tcPr>
                        <a:blipFill>
                          <a:blip r:embed="rId5"/>
                          <a:stretch>
                            <a:fillRect l="-280879" t="-374251" r="-101292" b="-1198"/>
                          </a:stretch>
                        </a:blipFill>
                      </a:tcPr>
                    </a:tc>
                    <a:tc>
                      <a:txBody>
                        <a:bodyPr/>
                        <a:lstStyle/>
                        <a:p>
                          <a:endParaRPr lang="en-US"/>
                        </a:p>
                      </a:txBody>
                      <a:tcPr>
                        <a:blipFill>
                          <a:blip r:embed="rId5"/>
                          <a:stretch>
                            <a:fillRect l="-379897" t="-374251" r="-1031" b="-1198"/>
                          </a:stretch>
                        </a:blipFill>
                      </a:tcPr>
                    </a:tc>
                    <a:extLst>
                      <a:ext uri="{0D108BD9-81ED-4DB2-BD59-A6C34878D82A}">
                        <a16:rowId xmlns:a16="http://schemas.microsoft.com/office/drawing/2014/main" val="787501942"/>
                      </a:ext>
                    </a:extLst>
                  </a:tr>
                </a:tbl>
              </a:graphicData>
            </a:graphic>
          </p:graphicFrame>
        </mc:Fallback>
      </mc:AlternateContent>
    </p:spTree>
    <p:extLst>
      <p:ext uri="{BB962C8B-B14F-4D97-AF65-F5344CB8AC3E}">
        <p14:creationId xmlns:p14="http://schemas.microsoft.com/office/powerpoint/2010/main" val="232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18159" y="-200234"/>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Testing of Hypothesis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557645" y="785252"/>
            <a:ext cx="11076709" cy="5391711"/>
          </a:xfrm>
        </p:spPr>
        <p:txBody>
          <a:bodyPr>
            <a:normAutofit fontScale="92500" lnSpcReduction="10000"/>
          </a:bodyPr>
          <a:lstStyle/>
          <a:p>
            <a:pPr marL="0" indent="0" algn="just">
              <a:lnSpc>
                <a:spcPct val="200000"/>
              </a:lnSpc>
              <a:buNone/>
            </a:pPr>
            <a:r>
              <a:rPr lang="en-IN" sz="2600" dirty="0">
                <a:latin typeface="Times New Roman" panose="02020603050405020304" pitchFamily="18" charset="0"/>
                <a:cs typeface="Times New Roman" panose="02020603050405020304" pitchFamily="18" charset="0"/>
              </a:rPr>
              <a:t>The procedure to decide whether to accept or reject the null hypothesis is called </a:t>
            </a:r>
            <a:r>
              <a:rPr lang="en-IN" sz="2600" b="1" dirty="0">
                <a:latin typeface="Times New Roman" panose="02020603050405020304" pitchFamily="18" charset="0"/>
                <a:cs typeface="Times New Roman" panose="02020603050405020304" pitchFamily="18" charset="0"/>
              </a:rPr>
              <a:t>Testing of Hypothesis.</a:t>
            </a:r>
          </a:p>
          <a:p>
            <a:pPr marL="0" indent="0" algn="just">
              <a:lnSpc>
                <a:spcPct val="200000"/>
              </a:lnSpc>
              <a:buNone/>
            </a:pPr>
            <a:r>
              <a:rPr lang="en-IN" sz="2600" b="1" dirty="0">
                <a:solidFill>
                  <a:srgbClr val="FF0000"/>
                </a:solidFill>
                <a:latin typeface="Times New Roman" panose="02020603050405020304" pitchFamily="18" charset="0"/>
                <a:cs typeface="Times New Roman" panose="02020603050405020304" pitchFamily="18" charset="0"/>
              </a:rPr>
              <a:t>Type-I and Type-II Error</a:t>
            </a:r>
          </a:p>
          <a:p>
            <a:pPr algn="just">
              <a:lnSpc>
                <a:spcPct val="200000"/>
              </a:lnSpc>
            </a:pPr>
            <a:r>
              <a:rPr lang="en-IN" sz="2600" dirty="0">
                <a:latin typeface="Times New Roman" panose="02020603050405020304" pitchFamily="18" charset="0"/>
                <a:cs typeface="Times New Roman" panose="02020603050405020304" pitchFamily="18" charset="0"/>
              </a:rPr>
              <a:t>The error of rejecting the true null hypothesis is called Type-I error. The probability of type-I error is denoted by </a:t>
            </a:r>
            <a:r>
              <a:rPr lang="el-GR" sz="2600" dirty="0">
                <a:latin typeface="Times New Roman" panose="02020603050405020304" pitchFamily="18" charset="0"/>
                <a:ea typeface="Calibri" panose="020F0502020204030204" pitchFamily="34" charset="0"/>
                <a:cs typeface="Times New Roman" panose="02020603050405020304" pitchFamily="18" charset="0"/>
              </a:rPr>
              <a:t>α</a:t>
            </a:r>
            <a:r>
              <a:rPr lang="en-IN" sz="2600" dirty="0">
                <a:latin typeface="Times New Roman" panose="02020603050405020304" pitchFamily="18" charset="0"/>
                <a:ea typeface="Calibri" panose="020F0502020204030204" pitchFamily="34" charset="0"/>
                <a:cs typeface="Times New Roman" panose="02020603050405020304" pitchFamily="18" charset="0"/>
              </a:rPr>
              <a:t>.         </a:t>
            </a:r>
            <a:r>
              <a:rPr lang="el-GR" sz="2600" dirty="0">
                <a:latin typeface="Times New Roman" panose="02020603050405020304" pitchFamily="18" charset="0"/>
                <a:ea typeface="Calibri" panose="020F0502020204030204" pitchFamily="34" charset="0"/>
                <a:cs typeface="Times New Roman" panose="02020603050405020304" pitchFamily="18" charset="0"/>
              </a:rPr>
              <a:t>α</a:t>
            </a:r>
            <a:r>
              <a:rPr lang="en-IN" sz="2600" dirty="0">
                <a:latin typeface="Times New Roman" panose="02020603050405020304" pitchFamily="18" charset="0"/>
                <a:ea typeface="Calibri" panose="020F0502020204030204" pitchFamily="34" charset="0"/>
                <a:cs typeface="Times New Roman" panose="02020603050405020304" pitchFamily="18" charset="0"/>
              </a:rPr>
              <a:t> = Prob [Reject H0/H0 is true]</a:t>
            </a:r>
          </a:p>
          <a:p>
            <a:pPr algn="just">
              <a:lnSpc>
                <a:spcPct val="200000"/>
              </a:lnSpc>
            </a:pPr>
            <a:r>
              <a:rPr lang="en-IN" sz="2600" dirty="0">
                <a:latin typeface="Times New Roman" panose="02020603050405020304" pitchFamily="18" charset="0"/>
                <a:cs typeface="Times New Roman" panose="02020603050405020304" pitchFamily="18" charset="0"/>
              </a:rPr>
              <a:t>The error of rejecting the false null hypothesis is called Type-II error. The probability of type-I error is denoted by </a:t>
            </a:r>
            <a:r>
              <a:rPr lang="el-GR" sz="2600" dirty="0">
                <a:latin typeface="Times New Roman" panose="02020603050405020304" pitchFamily="18" charset="0"/>
                <a:ea typeface="Calibri" panose="020F0502020204030204" pitchFamily="34" charset="0"/>
                <a:cs typeface="Times New Roman" panose="02020603050405020304" pitchFamily="18" charset="0"/>
              </a:rPr>
              <a:t>β</a:t>
            </a:r>
            <a:r>
              <a:rPr lang="en-IN" sz="2600" dirty="0">
                <a:latin typeface="Times New Roman" panose="02020603050405020304" pitchFamily="18" charset="0"/>
                <a:ea typeface="Calibri" panose="020F0502020204030204" pitchFamily="34" charset="0"/>
                <a:cs typeface="Times New Roman" panose="02020603050405020304" pitchFamily="18" charset="0"/>
              </a:rPr>
              <a:t>.      </a:t>
            </a:r>
            <a:r>
              <a:rPr lang="el-GR" sz="2600" dirty="0">
                <a:latin typeface="Times New Roman" panose="02020603050405020304" pitchFamily="18" charset="0"/>
                <a:ea typeface="Calibri" panose="020F0502020204030204" pitchFamily="34" charset="0"/>
                <a:cs typeface="Times New Roman" panose="02020603050405020304" pitchFamily="18" charset="0"/>
              </a:rPr>
              <a:t>β </a:t>
            </a:r>
            <a:r>
              <a:rPr lang="en-IN" sz="2600" dirty="0">
                <a:latin typeface="Times New Roman" panose="02020603050405020304" pitchFamily="18" charset="0"/>
                <a:ea typeface="Calibri" panose="020F0502020204030204" pitchFamily="34" charset="0"/>
                <a:cs typeface="Times New Roman" panose="02020603050405020304" pitchFamily="18" charset="0"/>
              </a:rPr>
              <a:t>= Prob [Reject H0/H0 is false]</a:t>
            </a:r>
          </a:p>
          <a:p>
            <a:pPr marL="0" indent="0" algn="just">
              <a:lnSpc>
                <a:spcPct val="200000"/>
              </a:lnSpc>
              <a:buNone/>
            </a:pP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200000"/>
              </a:lnSpc>
              <a:buNone/>
            </a:pP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200000"/>
              </a:lnSpc>
            </a:pPr>
            <a:endParaRPr lang="en-IN" b="1" dirty="0"/>
          </a:p>
        </p:txBody>
      </p:sp>
    </p:spTree>
    <p:extLst>
      <p:ext uri="{BB962C8B-B14F-4D97-AF65-F5344CB8AC3E}">
        <p14:creationId xmlns:p14="http://schemas.microsoft.com/office/powerpoint/2010/main" val="239812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Type-I and Type-II Error</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graphicFrame>
        <p:nvGraphicFramePr>
          <p:cNvPr id="3" name="Content Placeholder 2">
            <a:extLst>
              <a:ext uri="{FF2B5EF4-FFF2-40B4-BE49-F238E27FC236}">
                <a16:creationId xmlns:a16="http://schemas.microsoft.com/office/drawing/2014/main" id="{A51AF89A-3D8A-F9C6-7C92-CCA94D4AEB4F}"/>
              </a:ext>
            </a:extLst>
          </p:cNvPr>
          <p:cNvGraphicFramePr>
            <a:graphicFrameLocks noGrp="1"/>
          </p:cNvGraphicFramePr>
          <p:nvPr>
            <p:ph idx="1"/>
            <p:extLst>
              <p:ext uri="{D42A27DB-BD31-4B8C-83A1-F6EECF244321}">
                <p14:modId xmlns:p14="http://schemas.microsoft.com/office/powerpoint/2010/main" val="924062316"/>
              </p:ext>
            </p:extLst>
          </p:nvPr>
        </p:nvGraphicFramePr>
        <p:xfrm>
          <a:off x="838200" y="1981200"/>
          <a:ext cx="10515597" cy="3124201"/>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978942294"/>
                    </a:ext>
                  </a:extLst>
                </a:gridCol>
                <a:gridCol w="3505199">
                  <a:extLst>
                    <a:ext uri="{9D8B030D-6E8A-4147-A177-3AD203B41FA5}">
                      <a16:colId xmlns:a16="http://schemas.microsoft.com/office/drawing/2014/main" val="1184636286"/>
                    </a:ext>
                  </a:extLst>
                </a:gridCol>
                <a:gridCol w="3505199">
                  <a:extLst>
                    <a:ext uri="{9D8B030D-6E8A-4147-A177-3AD203B41FA5}">
                      <a16:colId xmlns:a16="http://schemas.microsoft.com/office/drawing/2014/main" val="2140093765"/>
                    </a:ext>
                  </a:extLst>
                </a:gridCol>
              </a:tblGrid>
              <a:tr h="741895">
                <a:tc rowSpan="2">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Decision</a:t>
                      </a:r>
                    </a:p>
                  </a:txBody>
                  <a:tcPr/>
                </a:tc>
                <a:tc gridSpan="2">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Null Hypothesis </a:t>
                      </a:r>
                    </a:p>
                  </a:txBody>
                  <a:tcPr/>
                </a:tc>
                <a:tc hMerge="1">
                  <a:txBody>
                    <a:bodyPr/>
                    <a:lstStyle/>
                    <a:p>
                      <a:endParaRPr lang="en-IN" dirty="0"/>
                    </a:p>
                  </a:txBody>
                  <a:tcPr/>
                </a:tc>
                <a:extLst>
                  <a:ext uri="{0D108BD9-81ED-4DB2-BD59-A6C34878D82A}">
                    <a16:rowId xmlns:a16="http://schemas.microsoft.com/office/drawing/2014/main" val="1279358319"/>
                  </a:ext>
                </a:extLst>
              </a:tr>
              <a:tr h="741895">
                <a:tc vMerge="1">
                  <a:txBody>
                    <a:bodyPr/>
                    <a:lstStyle/>
                    <a:p>
                      <a:endParaRPr lang="en-IN" dirty="0"/>
                    </a:p>
                  </a:txBody>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True</a:t>
                      </a:r>
                    </a:p>
                  </a:txBody>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False</a:t>
                      </a:r>
                    </a:p>
                  </a:txBody>
                  <a:tcPr/>
                </a:tc>
                <a:extLst>
                  <a:ext uri="{0D108BD9-81ED-4DB2-BD59-A6C34878D82A}">
                    <a16:rowId xmlns:a16="http://schemas.microsoft.com/office/drawing/2014/main" val="1719126064"/>
                  </a:ext>
                </a:extLst>
              </a:tr>
              <a:tr h="898516">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Accept</a:t>
                      </a:r>
                    </a:p>
                  </a:txBody>
                  <a:tcPr/>
                </a:tc>
                <a:tc>
                  <a:txBody>
                    <a:bodyPr/>
                    <a:lstStyle/>
                    <a:p>
                      <a:pPr algn="ctr"/>
                      <a:r>
                        <a:rPr lang="en-IN" sz="2400" dirty="0">
                          <a:solidFill>
                            <a:schemeClr val="accent1">
                              <a:lumMod val="75000"/>
                            </a:schemeClr>
                          </a:solidFill>
                          <a:latin typeface="Times New Roman" panose="02020603050405020304" pitchFamily="18" charset="0"/>
                          <a:cs typeface="Times New Roman" panose="02020603050405020304" pitchFamily="18" charset="0"/>
                        </a:rPr>
                        <a:t>No Error</a:t>
                      </a:r>
                    </a:p>
                  </a:txBody>
                  <a:tcPr/>
                </a:tc>
                <a:tc>
                  <a:txBody>
                    <a:bodyPr/>
                    <a:lstStyle/>
                    <a:p>
                      <a:pPr algn="ctr"/>
                      <a:r>
                        <a:rPr lang="en-IN" sz="2400" dirty="0">
                          <a:solidFill>
                            <a:srgbClr val="FF0000"/>
                          </a:solidFill>
                          <a:latin typeface="Times New Roman" panose="02020603050405020304" pitchFamily="18" charset="0"/>
                          <a:cs typeface="Times New Roman" panose="02020603050405020304" pitchFamily="18" charset="0"/>
                        </a:rPr>
                        <a:t>Type-II Error</a:t>
                      </a:r>
                    </a:p>
                  </a:txBody>
                  <a:tcPr/>
                </a:tc>
                <a:extLst>
                  <a:ext uri="{0D108BD9-81ED-4DB2-BD59-A6C34878D82A}">
                    <a16:rowId xmlns:a16="http://schemas.microsoft.com/office/drawing/2014/main" val="2475980455"/>
                  </a:ext>
                </a:extLst>
              </a:tr>
              <a:tr h="741895">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Reject</a:t>
                      </a:r>
                    </a:p>
                  </a:txBody>
                  <a:tcPr/>
                </a:tc>
                <a:tc>
                  <a:txBody>
                    <a:bodyPr/>
                    <a:lstStyle/>
                    <a:p>
                      <a:pPr algn="ctr"/>
                      <a:r>
                        <a:rPr lang="en-IN" sz="2400" dirty="0">
                          <a:solidFill>
                            <a:srgbClr val="FF0000"/>
                          </a:solidFill>
                          <a:latin typeface="Times New Roman" panose="02020603050405020304" pitchFamily="18" charset="0"/>
                          <a:cs typeface="Times New Roman" panose="02020603050405020304" pitchFamily="18" charset="0"/>
                        </a:rPr>
                        <a:t>Type-I Error</a:t>
                      </a:r>
                    </a:p>
                  </a:txBody>
                  <a:tcPr/>
                </a:tc>
                <a:tc>
                  <a:txBody>
                    <a:bodyPr/>
                    <a:lstStyle/>
                    <a:p>
                      <a:pPr algn="ctr"/>
                      <a:r>
                        <a:rPr lang="en-IN" sz="2400" dirty="0">
                          <a:solidFill>
                            <a:schemeClr val="accent1">
                              <a:lumMod val="75000"/>
                            </a:schemeClr>
                          </a:solidFill>
                          <a:latin typeface="Times New Roman" panose="02020603050405020304" pitchFamily="18" charset="0"/>
                          <a:cs typeface="Times New Roman" panose="02020603050405020304" pitchFamily="18" charset="0"/>
                        </a:rPr>
                        <a:t>No Error</a:t>
                      </a:r>
                    </a:p>
                  </a:txBody>
                  <a:tcPr/>
                </a:tc>
                <a:extLst>
                  <a:ext uri="{0D108BD9-81ED-4DB2-BD59-A6C34878D82A}">
                    <a16:rowId xmlns:a16="http://schemas.microsoft.com/office/drawing/2014/main" val="4181278153"/>
                  </a:ext>
                </a:extLst>
              </a:tr>
            </a:tbl>
          </a:graphicData>
        </a:graphic>
      </p:graphicFrame>
    </p:spTree>
    <p:extLst>
      <p:ext uri="{BB962C8B-B14F-4D97-AF65-F5344CB8AC3E}">
        <p14:creationId xmlns:p14="http://schemas.microsoft.com/office/powerpoint/2010/main" val="310409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Level of Significance</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838200" y="1716122"/>
            <a:ext cx="10515600" cy="4711557"/>
          </a:xfrm>
        </p:spPr>
        <p:txBody>
          <a:bodyPr>
            <a:normAutofit/>
          </a:bodyPr>
          <a:lstStyle/>
          <a:p>
            <a:pPr marL="0" indent="0" algn="just">
              <a:lnSpc>
                <a:spcPct val="150000"/>
              </a:lnSpc>
              <a:buNone/>
            </a:pPr>
            <a:r>
              <a:rPr lang="en-IN" altLang="en-US" sz="3200" dirty="0">
                <a:latin typeface="Times New Roman" panose="02020603050405020304" pitchFamily="18" charset="0"/>
                <a:cs typeface="Times New Roman" panose="02020603050405020304" pitchFamily="18" charset="0"/>
              </a:rPr>
              <a:t>The predetermined value of Probability of type-I error is called level of significance. It is denoted by </a:t>
            </a:r>
            <a:r>
              <a:rPr lang="el-GR" sz="3200" dirty="0">
                <a:latin typeface="Times New Roman" panose="02020603050405020304" pitchFamily="18" charset="0"/>
                <a:ea typeface="Calibri" panose="020F0502020204030204" pitchFamily="34" charset="0"/>
                <a:cs typeface="Times New Roman" panose="02020603050405020304" pitchFamily="18" charset="0"/>
              </a:rPr>
              <a:t>α</a:t>
            </a:r>
            <a:r>
              <a:rPr lang="en-IN" sz="3200" dirty="0">
                <a:latin typeface="Times New Roman" panose="02020603050405020304" pitchFamily="18" charset="0"/>
                <a:ea typeface="Calibri" panose="020F0502020204030204" pitchFamily="34" charset="0"/>
                <a:cs typeface="Times New Roman" panose="02020603050405020304" pitchFamily="18" charset="0"/>
              </a:rPr>
              <a:t>.</a:t>
            </a:r>
          </a:p>
          <a:p>
            <a:pPr marL="0" indent="0" algn="just">
              <a:lnSpc>
                <a:spcPct val="150000"/>
              </a:lnSpc>
              <a:buNone/>
            </a:pPr>
            <a:r>
              <a:rPr lang="en-IN" sz="3200" dirty="0">
                <a:latin typeface="Times New Roman" panose="02020603050405020304" pitchFamily="18" charset="0"/>
                <a:ea typeface="Calibri" panose="020F0502020204030204" pitchFamily="34" charset="0"/>
                <a:cs typeface="Times New Roman" panose="02020603050405020304" pitchFamily="18" charset="0"/>
              </a:rPr>
              <a:t>The most commonly used level of significance are 1% or 5%.</a:t>
            </a:r>
          </a:p>
          <a:p>
            <a:pPr marL="0" indent="0" algn="just">
              <a:lnSpc>
                <a:spcPct val="150000"/>
              </a:lnSpc>
              <a:buNone/>
            </a:pPr>
            <a:r>
              <a:rPr lang="en-IN" sz="3200" dirty="0">
                <a:latin typeface="Times New Roman" panose="02020603050405020304" pitchFamily="18" charset="0"/>
                <a:cs typeface="Times New Roman" panose="02020603050405020304" pitchFamily="18" charset="0"/>
              </a:rPr>
              <a:t>Interpretation: 5% level of significance means in 5 out of 100 cases, it is likely to reject a true null hypothesis.</a:t>
            </a:r>
          </a:p>
          <a:p>
            <a:pPr marL="0" indent="0" algn="just">
              <a:lnSpc>
                <a:spcPct val="150000"/>
              </a:lnSpc>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82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839585" y="-12557"/>
            <a:ext cx="10515600" cy="956609"/>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Critical Region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10</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3" name="TextBox 12">
            <a:extLst>
              <a:ext uri="{FF2B5EF4-FFF2-40B4-BE49-F238E27FC236}">
                <a16:creationId xmlns:a16="http://schemas.microsoft.com/office/drawing/2014/main" id="{E79E412A-FCE5-8165-D4BE-D8E66CEB5BA9}"/>
              </a:ext>
            </a:extLst>
          </p:cNvPr>
          <p:cNvSpPr txBox="1"/>
          <p:nvPr/>
        </p:nvSpPr>
        <p:spPr>
          <a:xfrm>
            <a:off x="678426" y="679900"/>
            <a:ext cx="11117334" cy="2241960"/>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 area of probability curve corresponding to </a:t>
            </a:r>
            <a:r>
              <a:rPr lang="el-GR" sz="2400" dirty="0">
                <a:latin typeface="Times New Roman" panose="02020603050405020304" pitchFamily="18" charset="0"/>
                <a:ea typeface="Calibri" panose="020F0502020204030204" pitchFamily="34" charset="0"/>
                <a:cs typeface="Times New Roman" panose="02020603050405020304" pitchFamily="18" charset="0"/>
              </a:rPr>
              <a:t>α</a:t>
            </a:r>
            <a:r>
              <a:rPr lang="en-IN" sz="2400" dirty="0">
                <a:latin typeface="Times New Roman" panose="02020603050405020304" pitchFamily="18" charset="0"/>
                <a:ea typeface="Calibri" panose="020F0502020204030204" pitchFamily="34" charset="0"/>
                <a:cs typeface="Times New Roman" panose="02020603050405020304" pitchFamily="18" charset="0"/>
              </a:rPr>
              <a:t> is called </a:t>
            </a:r>
            <a:r>
              <a:rPr lang="en-IN" sz="2400" b="1" dirty="0">
                <a:latin typeface="Times New Roman" panose="02020603050405020304" pitchFamily="18" charset="0"/>
                <a:ea typeface="Calibri" panose="020F0502020204030204" pitchFamily="34" charset="0"/>
                <a:cs typeface="Times New Roman" panose="02020603050405020304" pitchFamily="18" charset="0"/>
              </a:rPr>
              <a:t>critical region</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i.e. the area under normal curve at which a true null hypothesis is rejected is called area of rejection or critical region.</a:t>
            </a:r>
          </a:p>
          <a:p>
            <a:pPr algn="just">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The remaining region under normal curve is called </a:t>
            </a:r>
            <a:r>
              <a:rPr lang="en-IN" sz="2400" b="1" dirty="0">
                <a:latin typeface="Times New Roman" panose="02020603050405020304" pitchFamily="18" charset="0"/>
                <a:ea typeface="Calibri" panose="020F0502020204030204" pitchFamily="34" charset="0"/>
                <a:cs typeface="Times New Roman" panose="02020603050405020304" pitchFamily="18" charset="0"/>
              </a:rPr>
              <a:t>acceptance region</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CE1E3EB-E57F-F8B9-A6E0-0704E8D68534}"/>
              </a:ext>
            </a:extLst>
          </p:cNvPr>
          <p:cNvPicPr>
            <a:picLocks noChangeAspect="1"/>
          </p:cNvPicPr>
          <p:nvPr/>
        </p:nvPicPr>
        <p:blipFill>
          <a:blip r:embed="rId5"/>
          <a:stretch>
            <a:fillRect/>
          </a:stretch>
        </p:blipFill>
        <p:spPr>
          <a:xfrm>
            <a:off x="1421296" y="3063240"/>
            <a:ext cx="8854223" cy="3293111"/>
          </a:xfrm>
          <a:prstGeom prst="rect">
            <a:avLst/>
          </a:prstGeom>
        </p:spPr>
      </p:pic>
    </p:spTree>
    <p:extLst>
      <p:ext uri="{BB962C8B-B14F-4D97-AF65-F5344CB8AC3E}">
        <p14:creationId xmlns:p14="http://schemas.microsoft.com/office/powerpoint/2010/main" val="3708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Power of Test</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3" name="TextBox 12">
            <a:extLst>
              <a:ext uri="{FF2B5EF4-FFF2-40B4-BE49-F238E27FC236}">
                <a16:creationId xmlns:a16="http://schemas.microsoft.com/office/drawing/2014/main" id="{E79E412A-FCE5-8165-D4BE-D8E66CEB5BA9}"/>
              </a:ext>
            </a:extLst>
          </p:cNvPr>
          <p:cNvSpPr txBox="1"/>
          <p:nvPr/>
        </p:nvSpPr>
        <p:spPr>
          <a:xfrm>
            <a:off x="678426" y="1548580"/>
            <a:ext cx="10250129" cy="4411785"/>
          </a:xfrm>
          <a:prstGeom prst="rect">
            <a:avLst/>
          </a:prstGeom>
          <a:noFill/>
        </p:spPr>
        <p:txBody>
          <a:bodyPr wrap="square" rtlCol="0">
            <a:spAutoFit/>
          </a:bodyPr>
          <a:lstStyle/>
          <a:p>
            <a:pPr algn="just">
              <a:lnSpc>
                <a:spcPct val="200000"/>
              </a:lnSpc>
            </a:pPr>
            <a:r>
              <a:rPr lang="en-IN" sz="2400" dirty="0">
                <a:latin typeface="Times New Roman" panose="02020603050405020304" pitchFamily="18" charset="0"/>
                <a:cs typeface="Times New Roman" panose="02020603050405020304" pitchFamily="18" charset="0"/>
              </a:rPr>
              <a:t>The probability of rejecting the false null hypothesis is called the Power of the test. </a:t>
            </a:r>
          </a:p>
          <a:p>
            <a:pPr algn="just">
              <a:lnSpc>
                <a:spcPct val="200000"/>
              </a:lnSpc>
            </a:pPr>
            <a:r>
              <a:rPr lang="en-IN" sz="2400" dirty="0">
                <a:latin typeface="Times New Roman" panose="02020603050405020304" pitchFamily="18" charset="0"/>
                <a:cs typeface="Times New Roman" panose="02020603050405020304" pitchFamily="18" charset="0"/>
              </a:rPr>
              <a:t>It is denoted by 1- </a:t>
            </a:r>
            <a:r>
              <a:rPr lang="en-IN" sz="2400" dirty="0">
                <a:latin typeface="Times New Roman" panose="02020603050405020304" pitchFamily="18" charset="0"/>
                <a:ea typeface="Calibri" panose="020F0502020204030204" pitchFamily="34" charset="0"/>
                <a:cs typeface="Times New Roman" panose="02020603050405020304" pitchFamily="18" charset="0"/>
              </a:rPr>
              <a:t>β.</a:t>
            </a:r>
          </a:p>
          <a:p>
            <a:pPr algn="just">
              <a:lnSpc>
                <a:spcPct val="20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i.e. </a:t>
            </a:r>
            <a:r>
              <a:rPr lang="en-IN" sz="24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ea typeface="Calibri" panose="020F0502020204030204" pitchFamily="34" charset="0"/>
                <a:cs typeface="Times New Roman" panose="02020603050405020304" pitchFamily="18" charset="0"/>
              </a:rPr>
              <a:t>β = Prob [Reject H0/H0 is false]</a:t>
            </a:r>
          </a:p>
          <a:p>
            <a:pPr algn="just">
              <a:lnSpc>
                <a:spcPct val="200000"/>
              </a:lnSpc>
            </a:pPr>
            <a:endParaRPr lang="en-IN" sz="24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8649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003157"/>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Test Statistics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12</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81A90829-F544-562E-EBA4-4E6F4FF3537A}"/>
              </a:ext>
            </a:extLst>
          </p:cNvPr>
          <p:cNvSpPr txBox="1"/>
          <p:nvPr/>
        </p:nvSpPr>
        <p:spPr>
          <a:xfrm>
            <a:off x="838201" y="869836"/>
            <a:ext cx="10515599" cy="3052887"/>
          </a:xfrm>
          <a:prstGeom prst="rect">
            <a:avLst/>
          </a:prstGeom>
          <a:noFill/>
        </p:spPr>
        <p:txBody>
          <a:bodyPr wrap="square">
            <a:spAutoFit/>
          </a:bodyPr>
          <a:lstStyle/>
          <a:p>
            <a:pPr marL="0" indent="0" algn="just">
              <a:lnSpc>
                <a:spcPct val="200000"/>
              </a:lnSpc>
              <a:buNone/>
            </a:pPr>
            <a:r>
              <a:rPr lang="en-US" sz="2500" dirty="0">
                <a:latin typeface="Times New Roman" panose="02020603050405020304" pitchFamily="18" charset="0"/>
                <a:cs typeface="Times New Roman" panose="02020603050405020304" pitchFamily="18" charset="0"/>
              </a:rPr>
              <a:t>If the sample size is more than or equal to 30, it is called a </a:t>
            </a:r>
            <a:r>
              <a:rPr lang="en-US" sz="2500" b="1" dirty="0">
                <a:latin typeface="Times New Roman" panose="02020603050405020304" pitchFamily="18" charset="0"/>
                <a:cs typeface="Times New Roman" panose="02020603050405020304" pitchFamily="18" charset="0"/>
              </a:rPr>
              <a:t>large sample </a:t>
            </a:r>
            <a:r>
              <a:rPr lang="en-US" sz="2500" dirty="0">
                <a:latin typeface="Times New Roman" panose="02020603050405020304" pitchFamily="18" charset="0"/>
                <a:cs typeface="Times New Roman" panose="02020603050405020304" pitchFamily="18" charset="0"/>
              </a:rPr>
              <a:t>and if it is less than 30, it is called a </a:t>
            </a:r>
            <a:r>
              <a:rPr lang="en-US" sz="2500" b="1" dirty="0">
                <a:latin typeface="Times New Roman" panose="02020603050405020304" pitchFamily="18" charset="0"/>
                <a:cs typeface="Times New Roman" panose="02020603050405020304" pitchFamily="18" charset="0"/>
              </a:rPr>
              <a:t>small sample</a:t>
            </a:r>
            <a:r>
              <a:rPr lang="en-US" sz="2500" dirty="0">
                <a:latin typeface="Times New Roman" panose="02020603050405020304" pitchFamily="18" charset="0"/>
                <a:cs typeface="Times New Roman" panose="02020603050405020304" pitchFamily="18" charset="0"/>
              </a:rPr>
              <a:t>.</a:t>
            </a:r>
          </a:p>
          <a:p>
            <a:pPr marL="457200" indent="-457200" algn="just">
              <a:lnSpc>
                <a:spcPct val="20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For a large sample, test statistic </a:t>
            </a:r>
            <a:r>
              <a:rPr lang="en-US" sz="2500" b="1" i="1" dirty="0">
                <a:latin typeface="Times New Roman" panose="02020603050405020304" pitchFamily="18" charset="0"/>
                <a:cs typeface="Times New Roman" panose="02020603050405020304" pitchFamily="18" charset="0"/>
              </a:rPr>
              <a:t>z</a:t>
            </a:r>
            <a:r>
              <a:rPr lang="en-US" sz="2500" dirty="0">
                <a:latin typeface="Times New Roman" panose="02020603050405020304" pitchFamily="18" charset="0"/>
                <a:cs typeface="Times New Roman" panose="02020603050405020304" pitchFamily="18" charset="0"/>
              </a:rPr>
              <a:t> is used.</a:t>
            </a:r>
          </a:p>
          <a:p>
            <a:pPr marL="457200" indent="-457200" algn="just">
              <a:lnSpc>
                <a:spcPct val="20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For a small sample, test statistic</a:t>
            </a:r>
            <a:r>
              <a:rPr lang="en-US" sz="2500" b="1" dirty="0">
                <a:latin typeface="Times New Roman" panose="02020603050405020304" pitchFamily="18" charset="0"/>
                <a:cs typeface="Times New Roman" panose="02020603050405020304" pitchFamily="18" charset="0"/>
              </a:rPr>
              <a:t> </a:t>
            </a:r>
            <a:r>
              <a:rPr lang="en-US" sz="2500" b="1" i="1" dirty="0">
                <a:latin typeface="Times New Roman" panose="02020603050405020304" pitchFamily="18" charset="0"/>
                <a:cs typeface="Times New Roman" panose="02020603050405020304" pitchFamily="18" charset="0"/>
              </a:rPr>
              <a:t>t</a:t>
            </a:r>
            <a:r>
              <a:rPr lang="en-US" sz="2500" b="1"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is used.</a:t>
            </a:r>
          </a:p>
        </p:txBody>
      </p:sp>
      <p:sp>
        <p:nvSpPr>
          <p:cNvPr id="12" name="TextBox 11">
            <a:extLst>
              <a:ext uri="{FF2B5EF4-FFF2-40B4-BE49-F238E27FC236}">
                <a16:creationId xmlns:a16="http://schemas.microsoft.com/office/drawing/2014/main" id="{5AF13169-E339-C206-355F-96718771787D}"/>
              </a:ext>
            </a:extLst>
          </p:cNvPr>
          <p:cNvSpPr txBox="1"/>
          <p:nvPr/>
        </p:nvSpPr>
        <p:spPr>
          <a:xfrm>
            <a:off x="563880" y="4114800"/>
            <a:ext cx="10515598" cy="2308324"/>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Z-Table Value</a:t>
            </a:r>
          </a:p>
          <a:p>
            <a:endParaRPr lang="en-IN" sz="2400" b="1" dirty="0">
              <a:solidFill>
                <a:srgbClr val="FF0000"/>
              </a:solidFill>
              <a:latin typeface="Times New Roman" panose="02020603050405020304" pitchFamily="18" charset="0"/>
              <a:cs typeface="Times New Roman" panose="02020603050405020304" pitchFamily="18" charset="0"/>
            </a:endParaRPr>
          </a:p>
          <a:p>
            <a:endParaRPr lang="en-IN" sz="2400" b="1" dirty="0">
              <a:solidFill>
                <a:srgbClr val="FF0000"/>
              </a:solidFill>
              <a:latin typeface="Times New Roman" panose="02020603050405020304" pitchFamily="18" charset="0"/>
              <a:cs typeface="Times New Roman" panose="02020603050405020304" pitchFamily="18" charset="0"/>
            </a:endParaRPr>
          </a:p>
          <a:p>
            <a:endParaRPr lang="en-IN" sz="2400" b="1" dirty="0">
              <a:solidFill>
                <a:srgbClr val="FF0000"/>
              </a:solidFill>
              <a:latin typeface="Times New Roman" panose="02020603050405020304" pitchFamily="18" charset="0"/>
              <a:cs typeface="Times New Roman" panose="02020603050405020304" pitchFamily="18" charset="0"/>
            </a:endParaRPr>
          </a:p>
          <a:p>
            <a:endParaRPr lang="en-IN" sz="2400" b="1" dirty="0">
              <a:solidFill>
                <a:srgbClr val="FF0000"/>
              </a:solidFill>
              <a:latin typeface="Times New Roman" panose="02020603050405020304" pitchFamily="18" charset="0"/>
              <a:cs typeface="Times New Roman" panose="02020603050405020304" pitchFamily="18" charset="0"/>
            </a:endParaRPr>
          </a:p>
          <a:p>
            <a:endParaRPr lang="en-IN" sz="2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3" name="Table 12">
                <a:extLst>
                  <a:ext uri="{FF2B5EF4-FFF2-40B4-BE49-F238E27FC236}">
                    <a16:creationId xmlns:a16="http://schemas.microsoft.com/office/drawing/2014/main" id="{CC18E91B-C3CB-24CD-C5C3-7FFBCFF89B2C}"/>
                  </a:ext>
                </a:extLst>
              </p:cNvPr>
              <p:cNvGraphicFramePr>
                <a:graphicFrameLocks noGrp="1"/>
              </p:cNvGraphicFramePr>
              <p:nvPr>
                <p:extLst>
                  <p:ext uri="{D42A27DB-BD31-4B8C-83A1-F6EECF244321}">
                    <p14:modId xmlns:p14="http://schemas.microsoft.com/office/powerpoint/2010/main" val="2263381004"/>
                  </p:ext>
                </p:extLst>
              </p:nvPr>
            </p:nvGraphicFramePr>
            <p:xfrm>
              <a:off x="838199" y="4897177"/>
              <a:ext cx="10654144" cy="1188720"/>
            </p:xfrm>
            <a:graphic>
              <a:graphicData uri="http://schemas.openxmlformats.org/drawingml/2006/table">
                <a:tbl>
                  <a:tblPr firstRow="1" bandRow="1">
                    <a:tableStyleId>{5C22544A-7EE6-4342-B048-85BDC9FD1C3A}</a:tableStyleId>
                  </a:tblPr>
                  <a:tblGrid>
                    <a:gridCol w="3017521">
                      <a:extLst>
                        <a:ext uri="{9D8B030D-6E8A-4147-A177-3AD203B41FA5}">
                          <a16:colId xmlns:a16="http://schemas.microsoft.com/office/drawing/2014/main" val="4154606511"/>
                        </a:ext>
                      </a:extLst>
                    </a:gridCol>
                    <a:gridCol w="2309551">
                      <a:extLst>
                        <a:ext uri="{9D8B030D-6E8A-4147-A177-3AD203B41FA5}">
                          <a16:colId xmlns:a16="http://schemas.microsoft.com/office/drawing/2014/main" val="1122820385"/>
                        </a:ext>
                      </a:extLst>
                    </a:gridCol>
                    <a:gridCol w="2663536">
                      <a:extLst>
                        <a:ext uri="{9D8B030D-6E8A-4147-A177-3AD203B41FA5}">
                          <a16:colId xmlns:a16="http://schemas.microsoft.com/office/drawing/2014/main" val="2670000056"/>
                        </a:ext>
                      </a:extLst>
                    </a:gridCol>
                    <a:gridCol w="2663536">
                      <a:extLst>
                        <a:ext uri="{9D8B030D-6E8A-4147-A177-3AD203B41FA5}">
                          <a16:colId xmlns:a16="http://schemas.microsoft.com/office/drawing/2014/main" val="1897471959"/>
                        </a:ext>
                      </a:extLst>
                    </a:gridCol>
                  </a:tblGrid>
                  <a:tr h="370840">
                    <a:tc>
                      <a:txBody>
                        <a:bodyPr/>
                        <a:lstStyle/>
                        <a:p>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b="1" dirty="0">
                              <a:latin typeface="Times New Roman" panose="02020603050405020304" pitchFamily="18" charset="0"/>
                              <a:cs typeface="Times New Roman" panose="02020603050405020304" pitchFamily="18" charset="0"/>
                            </a:rPr>
                            <a:t>1%</a:t>
                          </a:r>
                        </a:p>
                      </a:txBody>
                      <a:tcPr/>
                    </a:tc>
                    <a:tc>
                      <a:txBody>
                        <a:bodyPr/>
                        <a:lstStyle/>
                        <a:p>
                          <a:r>
                            <a:rPr lang="en-IN" sz="2000" b="1" dirty="0">
                              <a:latin typeface="Times New Roman" panose="02020603050405020304" pitchFamily="18" charset="0"/>
                              <a:cs typeface="Times New Roman" panose="02020603050405020304" pitchFamily="18" charset="0"/>
                            </a:rPr>
                            <a:t>5%</a:t>
                          </a:r>
                        </a:p>
                      </a:txBody>
                      <a:tcPr/>
                    </a:tc>
                    <a:tc>
                      <a:txBody>
                        <a:bodyPr/>
                        <a:lstStyle/>
                        <a:p>
                          <a:r>
                            <a:rPr lang="en-IN" sz="2000" b="1" dirty="0">
                              <a:latin typeface="Times New Roman" panose="02020603050405020304" pitchFamily="18" charset="0"/>
                              <a:cs typeface="Times New Roman" panose="02020603050405020304" pitchFamily="18" charset="0"/>
                            </a:rPr>
                            <a:t>10%</a:t>
                          </a:r>
                        </a:p>
                      </a:txBody>
                      <a:tcPr/>
                    </a:tc>
                    <a:extLst>
                      <a:ext uri="{0D108BD9-81ED-4DB2-BD59-A6C34878D82A}">
                        <a16:rowId xmlns:a16="http://schemas.microsoft.com/office/drawing/2014/main" val="2197162707"/>
                      </a:ext>
                    </a:extLst>
                  </a:tr>
                  <a:tr h="370840">
                    <a:tc>
                      <a:txBody>
                        <a:bodyPr/>
                        <a:lstStyle/>
                        <a:p>
                          <a:r>
                            <a:rPr lang="en-IN" sz="2000" b="1" dirty="0">
                              <a:latin typeface="Times New Roman" panose="02020603050405020304" pitchFamily="18" charset="0"/>
                              <a:cs typeface="Times New Roman" panose="02020603050405020304" pitchFamily="18" charset="0"/>
                            </a:rPr>
                            <a:t>Two tailed test (</a:t>
                          </a:r>
                          <a14:m>
                            <m:oMath xmlns:m="http://schemas.openxmlformats.org/officeDocument/2006/math">
                              <m:r>
                                <a:rPr lang="en-IN" sz="2000" b="1" i="1" smtClean="0">
                                  <a:solidFill>
                                    <a:schemeClr val="tx1"/>
                                  </a:solidFill>
                                  <a:latin typeface="Cambria Math" panose="02040503050406030204" pitchFamily="18" charset="0"/>
                                </a:rPr>
                                <m:t>≠</m:t>
                              </m:r>
                            </m:oMath>
                          </a14:m>
                          <a:r>
                            <a:rPr lang="en-IN" sz="2000" b="1" dirty="0">
                              <a:latin typeface="Times New Roman" panose="02020603050405020304" pitchFamily="18" charset="0"/>
                              <a:cs typeface="Times New Roman" panose="02020603050405020304" pitchFamily="18" charset="0"/>
                            </a:rPr>
                            <a:t>)</a:t>
                          </a:r>
                        </a:p>
                      </a:txBody>
                      <a:tcPr/>
                    </a:tc>
                    <a:tc>
                      <a:txBody>
                        <a:bodyPr/>
                        <a:lstStyle/>
                        <a:p>
                          <a:r>
                            <a:rPr lang="en-IN" sz="2000" b="1" dirty="0">
                              <a:latin typeface="Times New Roman" panose="02020603050405020304" pitchFamily="18" charset="0"/>
                              <a:cs typeface="Times New Roman" panose="02020603050405020304" pitchFamily="18" charset="0"/>
                            </a:rPr>
                            <a:t>2.58</a:t>
                          </a:r>
                        </a:p>
                      </a:txBody>
                      <a:tcPr/>
                    </a:tc>
                    <a:tc>
                      <a:txBody>
                        <a:bodyPr/>
                        <a:lstStyle/>
                        <a:p>
                          <a:r>
                            <a:rPr lang="en-IN" sz="2000" b="1" dirty="0">
                              <a:latin typeface="Times New Roman" panose="02020603050405020304" pitchFamily="18" charset="0"/>
                              <a:cs typeface="Times New Roman" panose="02020603050405020304" pitchFamily="18" charset="0"/>
                            </a:rPr>
                            <a:t>1.96</a:t>
                          </a:r>
                        </a:p>
                      </a:txBody>
                      <a:tcPr/>
                    </a:tc>
                    <a:tc>
                      <a:txBody>
                        <a:bodyPr/>
                        <a:lstStyle/>
                        <a:p>
                          <a:r>
                            <a:rPr lang="en-IN" sz="2000" b="1" dirty="0">
                              <a:latin typeface="Times New Roman" panose="02020603050405020304" pitchFamily="18" charset="0"/>
                              <a:cs typeface="Times New Roman" panose="02020603050405020304" pitchFamily="18" charset="0"/>
                            </a:rPr>
                            <a:t>1.645</a:t>
                          </a:r>
                        </a:p>
                      </a:txBody>
                      <a:tcPr/>
                    </a:tc>
                    <a:extLst>
                      <a:ext uri="{0D108BD9-81ED-4DB2-BD59-A6C34878D82A}">
                        <a16:rowId xmlns:a16="http://schemas.microsoft.com/office/drawing/2014/main" val="3898984823"/>
                      </a:ext>
                    </a:extLst>
                  </a:tr>
                  <a:tr h="370840">
                    <a:tc>
                      <a:txBody>
                        <a:bodyPr/>
                        <a:lstStyle/>
                        <a:p>
                          <a:r>
                            <a:rPr lang="en-IN" sz="2000" b="1" dirty="0">
                              <a:latin typeface="Times New Roman" panose="02020603050405020304" pitchFamily="18" charset="0"/>
                              <a:cs typeface="Times New Roman" panose="02020603050405020304" pitchFamily="18" charset="0"/>
                            </a:rPr>
                            <a:t>One tailed test ( &gt; or &lt;)</a:t>
                          </a:r>
                        </a:p>
                      </a:txBody>
                      <a:tcPr/>
                    </a:tc>
                    <a:tc>
                      <a:txBody>
                        <a:bodyPr/>
                        <a:lstStyle/>
                        <a:p>
                          <a:r>
                            <a:rPr lang="en-IN" sz="2000" b="1" dirty="0">
                              <a:latin typeface="Times New Roman" panose="02020603050405020304" pitchFamily="18" charset="0"/>
                              <a:cs typeface="Times New Roman" panose="02020603050405020304" pitchFamily="18" charset="0"/>
                            </a:rPr>
                            <a:t>2.33</a:t>
                          </a:r>
                        </a:p>
                      </a:txBody>
                      <a:tcPr/>
                    </a:tc>
                    <a:tc>
                      <a:txBody>
                        <a:bodyPr/>
                        <a:lstStyle/>
                        <a:p>
                          <a:r>
                            <a:rPr lang="en-IN" sz="2000" b="1" dirty="0">
                              <a:latin typeface="Times New Roman" panose="02020603050405020304" pitchFamily="18" charset="0"/>
                              <a:cs typeface="Times New Roman" panose="02020603050405020304" pitchFamily="18" charset="0"/>
                            </a:rPr>
                            <a:t>1.645</a:t>
                          </a:r>
                        </a:p>
                      </a:txBody>
                      <a:tcPr/>
                    </a:tc>
                    <a:tc>
                      <a:txBody>
                        <a:bodyPr/>
                        <a:lstStyle/>
                        <a:p>
                          <a:r>
                            <a:rPr lang="en-IN" sz="2000" b="1" dirty="0">
                              <a:latin typeface="Times New Roman" panose="02020603050405020304" pitchFamily="18" charset="0"/>
                              <a:cs typeface="Times New Roman" panose="02020603050405020304" pitchFamily="18" charset="0"/>
                            </a:rPr>
                            <a:t>1.28</a:t>
                          </a:r>
                        </a:p>
                      </a:txBody>
                      <a:tcPr/>
                    </a:tc>
                    <a:extLst>
                      <a:ext uri="{0D108BD9-81ED-4DB2-BD59-A6C34878D82A}">
                        <a16:rowId xmlns:a16="http://schemas.microsoft.com/office/drawing/2014/main" val="146464507"/>
                      </a:ext>
                    </a:extLst>
                  </a:tr>
                </a:tbl>
              </a:graphicData>
            </a:graphic>
          </p:graphicFrame>
        </mc:Choice>
        <mc:Fallback>
          <p:graphicFrame>
            <p:nvGraphicFramePr>
              <p:cNvPr id="13" name="Table 12">
                <a:extLst>
                  <a:ext uri="{FF2B5EF4-FFF2-40B4-BE49-F238E27FC236}">
                    <a16:creationId xmlns:a16="http://schemas.microsoft.com/office/drawing/2014/main" id="{CC18E91B-C3CB-24CD-C5C3-7FFBCFF89B2C}"/>
                  </a:ext>
                </a:extLst>
              </p:cNvPr>
              <p:cNvGraphicFramePr>
                <a:graphicFrameLocks noGrp="1"/>
              </p:cNvGraphicFramePr>
              <p:nvPr>
                <p:extLst>
                  <p:ext uri="{D42A27DB-BD31-4B8C-83A1-F6EECF244321}">
                    <p14:modId xmlns:p14="http://schemas.microsoft.com/office/powerpoint/2010/main" val="2263381004"/>
                  </p:ext>
                </p:extLst>
              </p:nvPr>
            </p:nvGraphicFramePr>
            <p:xfrm>
              <a:off x="838199" y="4897177"/>
              <a:ext cx="10654144" cy="1188720"/>
            </p:xfrm>
            <a:graphic>
              <a:graphicData uri="http://schemas.openxmlformats.org/drawingml/2006/table">
                <a:tbl>
                  <a:tblPr firstRow="1" bandRow="1">
                    <a:tableStyleId>{5C22544A-7EE6-4342-B048-85BDC9FD1C3A}</a:tableStyleId>
                  </a:tblPr>
                  <a:tblGrid>
                    <a:gridCol w="3017521">
                      <a:extLst>
                        <a:ext uri="{9D8B030D-6E8A-4147-A177-3AD203B41FA5}">
                          <a16:colId xmlns:a16="http://schemas.microsoft.com/office/drawing/2014/main" val="4154606511"/>
                        </a:ext>
                      </a:extLst>
                    </a:gridCol>
                    <a:gridCol w="2309551">
                      <a:extLst>
                        <a:ext uri="{9D8B030D-6E8A-4147-A177-3AD203B41FA5}">
                          <a16:colId xmlns:a16="http://schemas.microsoft.com/office/drawing/2014/main" val="1122820385"/>
                        </a:ext>
                      </a:extLst>
                    </a:gridCol>
                    <a:gridCol w="2663536">
                      <a:extLst>
                        <a:ext uri="{9D8B030D-6E8A-4147-A177-3AD203B41FA5}">
                          <a16:colId xmlns:a16="http://schemas.microsoft.com/office/drawing/2014/main" val="2670000056"/>
                        </a:ext>
                      </a:extLst>
                    </a:gridCol>
                    <a:gridCol w="2663536">
                      <a:extLst>
                        <a:ext uri="{9D8B030D-6E8A-4147-A177-3AD203B41FA5}">
                          <a16:colId xmlns:a16="http://schemas.microsoft.com/office/drawing/2014/main" val="1897471959"/>
                        </a:ext>
                      </a:extLst>
                    </a:gridCol>
                  </a:tblGrid>
                  <a:tr h="396240">
                    <a:tc>
                      <a:txBody>
                        <a:bodyPr/>
                        <a:lstStyle/>
                        <a:p>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b="1" dirty="0">
                              <a:latin typeface="Times New Roman" panose="02020603050405020304" pitchFamily="18" charset="0"/>
                              <a:cs typeface="Times New Roman" panose="02020603050405020304" pitchFamily="18" charset="0"/>
                            </a:rPr>
                            <a:t>1%</a:t>
                          </a:r>
                        </a:p>
                      </a:txBody>
                      <a:tcPr/>
                    </a:tc>
                    <a:tc>
                      <a:txBody>
                        <a:bodyPr/>
                        <a:lstStyle/>
                        <a:p>
                          <a:r>
                            <a:rPr lang="en-IN" sz="2000" b="1" dirty="0">
                              <a:latin typeface="Times New Roman" panose="02020603050405020304" pitchFamily="18" charset="0"/>
                              <a:cs typeface="Times New Roman" panose="02020603050405020304" pitchFamily="18" charset="0"/>
                            </a:rPr>
                            <a:t>5%</a:t>
                          </a:r>
                        </a:p>
                      </a:txBody>
                      <a:tcPr/>
                    </a:tc>
                    <a:tc>
                      <a:txBody>
                        <a:bodyPr/>
                        <a:lstStyle/>
                        <a:p>
                          <a:r>
                            <a:rPr lang="en-IN" sz="2000" b="1" dirty="0">
                              <a:latin typeface="Times New Roman" panose="02020603050405020304" pitchFamily="18" charset="0"/>
                              <a:cs typeface="Times New Roman" panose="02020603050405020304" pitchFamily="18" charset="0"/>
                            </a:rPr>
                            <a:t>10%</a:t>
                          </a:r>
                        </a:p>
                      </a:txBody>
                      <a:tcPr/>
                    </a:tc>
                    <a:extLst>
                      <a:ext uri="{0D108BD9-81ED-4DB2-BD59-A6C34878D82A}">
                        <a16:rowId xmlns:a16="http://schemas.microsoft.com/office/drawing/2014/main" val="2197162707"/>
                      </a:ext>
                    </a:extLst>
                  </a:tr>
                  <a:tr h="396240">
                    <a:tc>
                      <a:txBody>
                        <a:bodyPr/>
                        <a:lstStyle/>
                        <a:p>
                          <a:endParaRPr lang="en-US"/>
                        </a:p>
                      </a:txBody>
                      <a:tcPr>
                        <a:blipFill>
                          <a:blip r:embed="rId5"/>
                          <a:stretch>
                            <a:fillRect l="-202" t="-106061" r="-254141" b="-124242"/>
                          </a:stretch>
                        </a:blipFill>
                      </a:tcPr>
                    </a:tc>
                    <a:tc>
                      <a:txBody>
                        <a:bodyPr/>
                        <a:lstStyle/>
                        <a:p>
                          <a:r>
                            <a:rPr lang="en-IN" sz="2000" b="1" dirty="0">
                              <a:latin typeface="Times New Roman" panose="02020603050405020304" pitchFamily="18" charset="0"/>
                              <a:cs typeface="Times New Roman" panose="02020603050405020304" pitchFamily="18" charset="0"/>
                            </a:rPr>
                            <a:t>2.58</a:t>
                          </a:r>
                        </a:p>
                      </a:txBody>
                      <a:tcPr/>
                    </a:tc>
                    <a:tc>
                      <a:txBody>
                        <a:bodyPr/>
                        <a:lstStyle/>
                        <a:p>
                          <a:r>
                            <a:rPr lang="en-IN" sz="2000" b="1" dirty="0">
                              <a:latin typeface="Times New Roman" panose="02020603050405020304" pitchFamily="18" charset="0"/>
                              <a:cs typeface="Times New Roman" panose="02020603050405020304" pitchFamily="18" charset="0"/>
                            </a:rPr>
                            <a:t>1.96</a:t>
                          </a:r>
                        </a:p>
                      </a:txBody>
                      <a:tcPr/>
                    </a:tc>
                    <a:tc>
                      <a:txBody>
                        <a:bodyPr/>
                        <a:lstStyle/>
                        <a:p>
                          <a:r>
                            <a:rPr lang="en-IN" sz="2000" b="1" dirty="0">
                              <a:latin typeface="Times New Roman" panose="02020603050405020304" pitchFamily="18" charset="0"/>
                              <a:cs typeface="Times New Roman" panose="02020603050405020304" pitchFamily="18" charset="0"/>
                            </a:rPr>
                            <a:t>1.645</a:t>
                          </a:r>
                        </a:p>
                      </a:txBody>
                      <a:tcPr/>
                    </a:tc>
                    <a:extLst>
                      <a:ext uri="{0D108BD9-81ED-4DB2-BD59-A6C34878D82A}">
                        <a16:rowId xmlns:a16="http://schemas.microsoft.com/office/drawing/2014/main" val="3898984823"/>
                      </a:ext>
                    </a:extLst>
                  </a:tr>
                  <a:tr h="396240">
                    <a:tc>
                      <a:txBody>
                        <a:bodyPr/>
                        <a:lstStyle/>
                        <a:p>
                          <a:r>
                            <a:rPr lang="en-IN" sz="2000" b="1" dirty="0">
                              <a:latin typeface="Times New Roman" panose="02020603050405020304" pitchFamily="18" charset="0"/>
                              <a:cs typeface="Times New Roman" panose="02020603050405020304" pitchFamily="18" charset="0"/>
                            </a:rPr>
                            <a:t>One tailed test ( &gt; or &lt;)</a:t>
                          </a:r>
                        </a:p>
                      </a:txBody>
                      <a:tcPr/>
                    </a:tc>
                    <a:tc>
                      <a:txBody>
                        <a:bodyPr/>
                        <a:lstStyle/>
                        <a:p>
                          <a:r>
                            <a:rPr lang="en-IN" sz="2000" b="1" dirty="0">
                              <a:latin typeface="Times New Roman" panose="02020603050405020304" pitchFamily="18" charset="0"/>
                              <a:cs typeface="Times New Roman" panose="02020603050405020304" pitchFamily="18" charset="0"/>
                            </a:rPr>
                            <a:t>2.33</a:t>
                          </a:r>
                        </a:p>
                      </a:txBody>
                      <a:tcPr/>
                    </a:tc>
                    <a:tc>
                      <a:txBody>
                        <a:bodyPr/>
                        <a:lstStyle/>
                        <a:p>
                          <a:r>
                            <a:rPr lang="en-IN" sz="2000" b="1" dirty="0">
                              <a:latin typeface="Times New Roman" panose="02020603050405020304" pitchFamily="18" charset="0"/>
                              <a:cs typeface="Times New Roman" panose="02020603050405020304" pitchFamily="18" charset="0"/>
                            </a:rPr>
                            <a:t>1.645</a:t>
                          </a:r>
                        </a:p>
                      </a:txBody>
                      <a:tcPr/>
                    </a:tc>
                    <a:tc>
                      <a:txBody>
                        <a:bodyPr/>
                        <a:lstStyle/>
                        <a:p>
                          <a:r>
                            <a:rPr lang="en-IN" sz="2000" b="1" dirty="0">
                              <a:latin typeface="Times New Roman" panose="02020603050405020304" pitchFamily="18" charset="0"/>
                              <a:cs typeface="Times New Roman" panose="02020603050405020304" pitchFamily="18" charset="0"/>
                            </a:rPr>
                            <a:t>1.28</a:t>
                          </a:r>
                        </a:p>
                      </a:txBody>
                      <a:tcPr/>
                    </a:tc>
                    <a:extLst>
                      <a:ext uri="{0D108BD9-81ED-4DB2-BD59-A6C34878D82A}">
                        <a16:rowId xmlns:a16="http://schemas.microsoft.com/office/drawing/2014/main" val="146464507"/>
                      </a:ext>
                    </a:extLst>
                  </a:tr>
                </a:tbl>
              </a:graphicData>
            </a:graphic>
          </p:graphicFrame>
        </mc:Fallback>
      </mc:AlternateContent>
    </p:spTree>
    <p:extLst>
      <p:ext uri="{BB962C8B-B14F-4D97-AF65-F5344CB8AC3E}">
        <p14:creationId xmlns:p14="http://schemas.microsoft.com/office/powerpoint/2010/main" val="2155790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81785" y="412955"/>
            <a:ext cx="10515600" cy="1052451"/>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Steps of Testing of Hypothesis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13</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C72746E-544F-97CF-9B9F-81C30BC6EB7E}"/>
                  </a:ext>
                </a:extLst>
              </p:cNvPr>
              <p:cNvSpPr txBox="1"/>
              <p:nvPr/>
            </p:nvSpPr>
            <p:spPr>
              <a:xfrm>
                <a:off x="838200" y="1574923"/>
                <a:ext cx="9898626" cy="4741426"/>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Step-1: Setting up Null hypothesis.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Step-2: Setting up Alternative hypothesis.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Step-3: Calculating test statistics.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Step-4: Determining table value of test statistics.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Step-5: Conclusion</a:t>
                </a:r>
              </a:p>
              <a:p>
                <a:pPr marL="457200" indent="-457200" algn="just">
                  <a:lnSpc>
                    <a:spcPct val="250000"/>
                  </a:lnSpc>
                  <a:buFont typeface="Wingdings" panose="05000000000000000000" pitchFamily="2" charset="2"/>
                  <a:buChar char="n"/>
                </a:pPr>
                <a:r>
                  <a:rPr lang="en-US" sz="2400" dirty="0">
                    <a:latin typeface="Times New Roman" panose="02020603050405020304" pitchFamily="18" charset="0"/>
                    <a:cs typeface="Times New Roman" panose="02020603050405020304" pitchFamily="18" charset="0"/>
                  </a:rPr>
                  <a:t>If test Statistics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table value, Null hypothesis is </a:t>
                </a:r>
                <a:r>
                  <a:rPr lang="en-US" sz="2400" b="1" dirty="0">
                    <a:latin typeface="Times New Roman" panose="02020603050405020304" pitchFamily="18" charset="0"/>
                    <a:cs typeface="Times New Roman" panose="02020603050405020304" pitchFamily="18" charset="0"/>
                  </a:rPr>
                  <a:t>Accepted</a:t>
                </a:r>
              </a:p>
              <a:p>
                <a:pPr marL="457200" indent="-457200" algn="just">
                  <a:lnSpc>
                    <a:spcPct val="250000"/>
                  </a:lnSpc>
                  <a:buFont typeface="Wingdings" panose="05000000000000000000" pitchFamily="2" charset="2"/>
                  <a:buChar char="n"/>
                </a:pPr>
                <a:r>
                  <a:rPr lang="en-US" sz="2400" dirty="0">
                    <a:latin typeface="Times New Roman" panose="02020603050405020304" pitchFamily="18" charset="0"/>
                    <a:cs typeface="Times New Roman" panose="02020603050405020304" pitchFamily="18" charset="0"/>
                  </a:rPr>
                  <a:t>If test Statistics &gt; table value, Null hypothesis is </a:t>
                </a:r>
                <a:r>
                  <a:rPr lang="en-US" sz="2400" b="1" dirty="0">
                    <a:latin typeface="Times New Roman" panose="02020603050405020304" pitchFamily="18" charset="0"/>
                    <a:cs typeface="Times New Roman" panose="02020603050405020304" pitchFamily="18" charset="0"/>
                  </a:rPr>
                  <a:t>Rejected</a:t>
                </a:r>
                <a:r>
                  <a:rPr lang="en-US" sz="3000" dirty="0">
                    <a:latin typeface="Times New Roman" panose="02020603050405020304" pitchFamily="18" charset="0"/>
                    <a:cs typeface="Times New Roman" panose="02020603050405020304" pitchFamily="18" charset="0"/>
                  </a:rPr>
                  <a:t>.</a:t>
                </a:r>
              </a:p>
            </p:txBody>
          </p:sp>
        </mc:Choice>
        <mc:Fallback>
          <p:sp>
            <p:nvSpPr>
              <p:cNvPr id="11" name="TextBox 10">
                <a:extLst>
                  <a:ext uri="{FF2B5EF4-FFF2-40B4-BE49-F238E27FC236}">
                    <a16:creationId xmlns:a16="http://schemas.microsoft.com/office/drawing/2014/main" id="{FC72746E-544F-97CF-9B9F-81C30BC6EB7E}"/>
                  </a:ext>
                </a:extLst>
              </p:cNvPr>
              <p:cNvSpPr txBox="1">
                <a:spLocks noRot="1" noChangeAspect="1" noMove="1" noResize="1" noEditPoints="1" noAdjustHandles="1" noChangeArrowheads="1" noChangeShapeType="1" noTextEdit="1"/>
              </p:cNvSpPr>
              <p:nvPr/>
            </p:nvSpPr>
            <p:spPr>
              <a:xfrm>
                <a:off x="838200" y="1574923"/>
                <a:ext cx="9898626" cy="4741426"/>
              </a:xfrm>
              <a:prstGeom prst="rect">
                <a:avLst/>
              </a:prstGeom>
              <a:blipFill>
                <a:blip r:embed="rId5"/>
                <a:stretch>
                  <a:fillRect l="-863" b="-3085"/>
                </a:stretch>
              </a:blipFill>
            </p:spPr>
            <p:txBody>
              <a:bodyPr/>
              <a:lstStyle/>
              <a:p>
                <a:r>
                  <a:rPr lang="en-IN">
                    <a:noFill/>
                  </a:rPr>
                  <a:t> </a:t>
                </a:r>
              </a:p>
            </p:txBody>
          </p:sp>
        </mc:Fallback>
      </mc:AlternateContent>
    </p:spTree>
    <p:extLst>
      <p:ext uri="{BB962C8B-B14F-4D97-AF65-F5344CB8AC3E}">
        <p14:creationId xmlns:p14="http://schemas.microsoft.com/office/powerpoint/2010/main" val="170356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37533" y="139126"/>
            <a:ext cx="10515600" cy="1067200"/>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Large Sample Test</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14</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Content Placeholder 10">
            <a:extLst>
              <a:ext uri="{FF2B5EF4-FFF2-40B4-BE49-F238E27FC236}">
                <a16:creationId xmlns:a16="http://schemas.microsoft.com/office/drawing/2014/main" id="{4C723DD9-2682-91FB-E706-1EA5516E9C61}"/>
              </a:ext>
            </a:extLst>
          </p:cNvPr>
          <p:cNvSpPr>
            <a:spLocks noGrp="1"/>
          </p:cNvSpPr>
          <p:nvPr>
            <p:ph idx="1"/>
          </p:nvPr>
        </p:nvSpPr>
        <p:spPr>
          <a:xfrm>
            <a:off x="637533" y="1286536"/>
            <a:ext cx="10853427" cy="4890427"/>
          </a:xfrm>
        </p:spPr>
        <p:txBody>
          <a:bodyPr>
            <a:normAutofit fontScale="92500"/>
          </a:bodyPr>
          <a:lstStyle/>
          <a:p>
            <a:pPr algn="just">
              <a:lnSpc>
                <a:spcPct val="200000"/>
              </a:lnSpc>
            </a:pPr>
            <a:r>
              <a:rPr lang="en-IN" sz="3000" dirty="0">
                <a:latin typeface="Times New Roman" panose="02020603050405020304" pitchFamily="18" charset="0"/>
                <a:cs typeface="Times New Roman" panose="02020603050405020304" pitchFamily="18" charset="0"/>
              </a:rPr>
              <a:t>Test of Single Mean</a:t>
            </a:r>
          </a:p>
          <a:p>
            <a:pPr algn="just">
              <a:lnSpc>
                <a:spcPct val="200000"/>
              </a:lnSpc>
            </a:pPr>
            <a:r>
              <a:rPr lang="en-IN" sz="3000" dirty="0">
                <a:latin typeface="Times New Roman" panose="02020603050405020304" pitchFamily="18" charset="0"/>
                <a:cs typeface="Times New Roman" panose="02020603050405020304" pitchFamily="18" charset="0"/>
              </a:rPr>
              <a:t>Test of Significance of difference between two means.</a:t>
            </a:r>
          </a:p>
          <a:p>
            <a:pPr algn="just">
              <a:lnSpc>
                <a:spcPct val="200000"/>
              </a:lnSpc>
            </a:pPr>
            <a:r>
              <a:rPr lang="en-IN" sz="3000" dirty="0">
                <a:latin typeface="Times New Roman" panose="02020603050405020304" pitchFamily="18" charset="0"/>
                <a:cs typeface="Times New Roman" panose="02020603050405020304" pitchFamily="18" charset="0"/>
              </a:rPr>
              <a:t>Test of Significance of difference between two standard deviation</a:t>
            </a:r>
          </a:p>
          <a:p>
            <a:pPr algn="just">
              <a:lnSpc>
                <a:spcPct val="200000"/>
              </a:lnSpc>
            </a:pPr>
            <a:r>
              <a:rPr lang="en-IN" sz="3000" dirty="0">
                <a:latin typeface="Times New Roman" panose="02020603050405020304" pitchFamily="18" charset="0"/>
                <a:cs typeface="Times New Roman" panose="02020603050405020304" pitchFamily="18" charset="0"/>
              </a:rPr>
              <a:t>Test of Single Proportion</a:t>
            </a:r>
          </a:p>
          <a:p>
            <a:pPr algn="just">
              <a:lnSpc>
                <a:spcPct val="200000"/>
              </a:lnSpc>
            </a:pPr>
            <a:r>
              <a:rPr lang="en-IN" sz="3000" dirty="0">
                <a:latin typeface="Times New Roman" panose="02020603050405020304" pitchFamily="18" charset="0"/>
                <a:cs typeface="Times New Roman" panose="02020603050405020304" pitchFamily="18" charset="0"/>
              </a:rPr>
              <a:t>Test of significance of difference between two proportions.</a:t>
            </a:r>
          </a:p>
          <a:p>
            <a:pPr algn="just">
              <a:lnSpc>
                <a:spcPct val="200000"/>
              </a:lnSpc>
            </a:pP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876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02425" y="-69707"/>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Test-1 Test of Single Mean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3832DBA-F6C4-AAB0-C454-85D12B41A0E6}"/>
                  </a:ext>
                </a:extLst>
              </p:cNvPr>
              <p:cNvSpPr txBox="1"/>
              <p:nvPr/>
            </p:nvSpPr>
            <p:spPr>
              <a:xfrm>
                <a:off x="228600" y="1057736"/>
                <a:ext cx="11658599" cy="5860066"/>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Null Hypothesis H0: </a:t>
                </a:r>
                <a14:m>
                  <m:oMath xmlns:m="http://schemas.openxmlformats.org/officeDocument/2006/math">
                    <m:r>
                      <a:rPr lang="en-IN" sz="2400" b="0" i="1" smtClean="0">
                        <a:solidFill>
                          <a:schemeClr val="tx1"/>
                        </a:solidFill>
                        <a:latin typeface="Cambria Math" panose="02040503050406030204" pitchFamily="18" charset="0"/>
                      </a:rPr>
                      <m:t>𝜇</m:t>
                    </m:r>
                    <m:r>
                      <a:rPr lang="en-IN" sz="2400" b="0" i="1" smtClean="0">
                        <a:solidFill>
                          <a:schemeClr val="tx1"/>
                        </a:solidFill>
                        <a:latin typeface="Cambria Math" panose="02040503050406030204" pitchFamily="18" charset="0"/>
                      </a:rPr>
                      <m:t>=</m:t>
                    </m:r>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𝜇</m:t>
                        </m:r>
                      </m:e>
                      <m:sub>
                        <m:r>
                          <a:rPr lang="en-IN" sz="2400" b="0" i="1" smtClean="0">
                            <a:solidFill>
                              <a:schemeClr val="tx1"/>
                            </a:solidFill>
                            <a:latin typeface="Cambria Math" panose="02040503050406030204" pitchFamily="18" charset="0"/>
                          </a:rPr>
                          <m:t>0</m:t>
                        </m:r>
                      </m:sub>
                    </m:sSub>
                  </m:oMath>
                </a14:m>
                <a:endParaRPr lang="en-IN" sz="2400" b="0" dirty="0">
                  <a:solidFill>
                    <a:schemeClr val="tx1"/>
                  </a:solidFill>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Step-2: </a:t>
                </a:r>
                <a:r>
                  <a:rPr lang="en-IN" sz="2400" dirty="0">
                    <a:solidFill>
                      <a:schemeClr val="tx1"/>
                    </a:solidFill>
                    <a:latin typeface="Times New Roman" panose="02020603050405020304" pitchFamily="18" charset="0"/>
                    <a:cs typeface="Times New Roman" panose="02020603050405020304" pitchFamily="18" charset="0"/>
                  </a:rPr>
                  <a:t>Alternative Hypothesis H1: </a:t>
                </a:r>
                <a14:m>
                  <m:oMath xmlns:m="http://schemas.openxmlformats.org/officeDocument/2006/math">
                    <m:r>
                      <a:rPr lang="en-IN" sz="2400" b="0" i="1" smtClean="0">
                        <a:solidFill>
                          <a:schemeClr val="tx1"/>
                        </a:solidFill>
                        <a:latin typeface="Cambria Math" panose="02040503050406030204" pitchFamily="18" charset="0"/>
                      </a:rPr>
                      <m:t>𝜇</m:t>
                    </m:r>
                    <m:r>
                      <a:rPr lang="en-IN" sz="2400" b="0" i="1" smtClean="0">
                        <a:solidFill>
                          <a:schemeClr val="tx1"/>
                        </a:solidFill>
                        <a:latin typeface="Cambria Math" panose="02040503050406030204" pitchFamily="18" charset="0"/>
                      </a:rPr>
                      <m:t>≠</m:t>
                    </m:r>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𝜇</m:t>
                        </m:r>
                      </m:e>
                      <m:sub>
                        <m:r>
                          <a:rPr lang="en-IN" sz="2400" b="0" i="1" smtClean="0">
                            <a:solidFill>
                              <a:schemeClr val="tx1"/>
                            </a:solidFill>
                            <a:latin typeface="Cambria Math" panose="02040503050406030204" pitchFamily="18" charset="0"/>
                          </a:rPr>
                          <m:t>0</m:t>
                        </m:r>
                      </m:sub>
                    </m:sSub>
                    <m:r>
                      <a:rPr lang="en-IN" sz="2400" i="1">
                        <a:latin typeface="Cambria Math" panose="02040503050406030204" pitchFamily="18" charset="0"/>
                      </a:rPr>
                      <m:t> </m:t>
                    </m:r>
                    <m:r>
                      <a:rPr lang="en-IN" sz="2400" i="1">
                        <a:latin typeface="Cambria Math" panose="02040503050406030204" pitchFamily="18" charset="0"/>
                      </a:rPr>
                      <m:t>𝑜𝑟</m:t>
                    </m:r>
                    <m:r>
                      <a:rPr lang="en-IN" sz="2400" b="0" i="1" smtClean="0">
                        <a:latin typeface="Cambria Math" panose="02040503050406030204" pitchFamily="18" charset="0"/>
                      </a:rPr>
                      <m:t> </m:t>
                    </m:r>
                    <m:r>
                      <a:rPr lang="en-IN" sz="2400" i="1">
                        <a:latin typeface="Cambria Math" panose="02040503050406030204" pitchFamily="18" charset="0"/>
                      </a:rPr>
                      <m:t>𝜇</m:t>
                    </m:r>
                    <m:r>
                      <a:rPr lang="en-IN" sz="2400" b="0" i="1" smtClean="0">
                        <a:latin typeface="Cambria Math" panose="02040503050406030204" pitchFamily="18" charset="0"/>
                      </a:rPr>
                      <m:t>&gt;</m:t>
                    </m:r>
                    <m:sSub>
                      <m:sSubPr>
                        <m:ctrlPr>
                          <a:rPr lang="en-IN" sz="2400" i="1">
                            <a:latin typeface="Cambria Math" panose="02040503050406030204" pitchFamily="18" charset="0"/>
                          </a:rPr>
                        </m:ctrlPr>
                      </m:sSubPr>
                      <m:e>
                        <m:r>
                          <a:rPr lang="en-IN" sz="2400" i="1">
                            <a:latin typeface="Cambria Math" panose="02040503050406030204" pitchFamily="18" charset="0"/>
                          </a:rPr>
                          <m:t>𝜇</m:t>
                        </m:r>
                      </m:e>
                      <m:sub>
                        <m:r>
                          <a:rPr lang="en-IN" sz="2400" i="1">
                            <a:latin typeface="Cambria Math" panose="02040503050406030204" pitchFamily="18" charset="0"/>
                          </a:rPr>
                          <m:t>0</m:t>
                        </m:r>
                      </m:sub>
                    </m:sSub>
                    <m:r>
                      <a:rPr lang="en-IN" sz="2400" b="0" i="1" smtClean="0">
                        <a:latin typeface="Cambria Math" panose="02040503050406030204" pitchFamily="18" charset="0"/>
                      </a:rPr>
                      <m:t> </m:t>
                    </m:r>
                    <m:r>
                      <a:rPr lang="en-IN" sz="2400" b="0" i="1" smtClean="0">
                        <a:latin typeface="Cambria Math" panose="02040503050406030204" pitchFamily="18" charset="0"/>
                      </a:rPr>
                      <m:t>𝑜𝑟</m:t>
                    </m:r>
                    <m:r>
                      <a:rPr lang="en-IN" sz="2400" b="0" i="1" smtClean="0">
                        <a:latin typeface="Cambria Math" panose="02040503050406030204" pitchFamily="18" charset="0"/>
                      </a:rPr>
                      <m:t> </m:t>
                    </m:r>
                    <m:r>
                      <a:rPr lang="en-IN" sz="2400" i="1">
                        <a:latin typeface="Cambria Math" panose="02040503050406030204" pitchFamily="18" charset="0"/>
                      </a:rPr>
                      <m:t>𝜇</m:t>
                    </m:r>
                    <m:r>
                      <a:rPr lang="en-IN" sz="2400" b="0" i="1" smtClean="0">
                        <a:latin typeface="Cambria Math" panose="02040503050406030204" pitchFamily="18" charset="0"/>
                      </a:rPr>
                      <m:t>&lt;</m:t>
                    </m:r>
                    <m:sSub>
                      <m:sSubPr>
                        <m:ctrlPr>
                          <a:rPr lang="en-IN" sz="2400" i="1">
                            <a:latin typeface="Cambria Math" panose="02040503050406030204" pitchFamily="18" charset="0"/>
                          </a:rPr>
                        </m:ctrlPr>
                      </m:sSubPr>
                      <m:e>
                        <m:r>
                          <a:rPr lang="en-IN" sz="2400" i="1">
                            <a:latin typeface="Cambria Math" panose="02040503050406030204" pitchFamily="18" charset="0"/>
                          </a:rPr>
                          <m:t>𝜇</m:t>
                        </m:r>
                      </m:e>
                      <m:sub>
                        <m:r>
                          <a:rPr lang="en-IN" sz="2400" i="1">
                            <a:latin typeface="Cambria Math" panose="02040503050406030204" pitchFamily="18" charset="0"/>
                          </a:rPr>
                          <m:t>0</m:t>
                        </m:r>
                      </m:sub>
                    </m:sSub>
                  </m:oMath>
                </a14:m>
                <a:endParaRPr lang="en-IN" sz="2400" dirty="0">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 3: </a:t>
                </a:r>
                <a:r>
                  <a:rPr lang="en-IN" sz="2400" dirty="0">
                    <a:solidFill>
                      <a:schemeClr val="tx1"/>
                    </a:solidFill>
                    <a:latin typeface="Times New Roman" panose="02020603050405020304" pitchFamily="18" charset="0"/>
                    <a:cs typeface="Times New Roman" panose="02020603050405020304" pitchFamily="18" charset="0"/>
                  </a:rPr>
                  <a:t>Test Statistics </a:t>
                </a:r>
              </a:p>
              <a:p>
                <a:pPr algn="just">
                  <a:lnSpc>
                    <a:spcPct val="150000"/>
                  </a:lnSpc>
                </a:pPr>
                <a14:m>
                  <m:oMath xmlns:m="http://schemas.openxmlformats.org/officeDocument/2006/math">
                    <m:r>
                      <a:rPr lang="en-IN" sz="2400" b="0" i="1" smtClean="0">
                        <a:solidFill>
                          <a:schemeClr val="tx1"/>
                        </a:solidFill>
                        <a:latin typeface="Cambria Math" panose="02040503050406030204" pitchFamily="18" charset="0"/>
                        <a:cs typeface="Times New Roman" panose="02020603050405020304" pitchFamily="18" charset="0"/>
                      </a:rPr>
                      <m:t>𝑍</m:t>
                    </m:r>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IN" sz="2400" b="0" i="1" smtClean="0">
                                <a:solidFill>
                                  <a:schemeClr val="tx1"/>
                                </a:solidFill>
                                <a:latin typeface="Cambria Math" panose="02040503050406030204" pitchFamily="18" charset="0"/>
                                <a:cs typeface="Times New Roman" panose="02020603050405020304" pitchFamily="18" charset="0"/>
                              </a:rPr>
                            </m:ctrlPr>
                          </m:dPr>
                          <m:e>
                            <m:acc>
                              <m:accPr>
                                <m:chr m:val="̅"/>
                                <m:ctrlPr>
                                  <a:rPr lang="en-IN" sz="2400" b="0" i="1" smtClean="0">
                                    <a:solidFill>
                                      <a:schemeClr val="tx1"/>
                                    </a:solidFill>
                                    <a:latin typeface="Cambria Math" panose="02040503050406030204" pitchFamily="18" charset="0"/>
                                    <a:cs typeface="Times New Roman" panose="02020603050405020304" pitchFamily="18" charset="0"/>
                                  </a:rPr>
                                </m:ctrlPr>
                              </m:accPr>
                              <m:e>
                                <m:r>
                                  <a:rPr lang="en-IN" sz="2400" b="0" i="1" smtClean="0">
                                    <a:solidFill>
                                      <a:schemeClr val="tx1"/>
                                    </a:solidFill>
                                    <a:latin typeface="Cambria Math" panose="02040503050406030204" pitchFamily="18" charset="0"/>
                                    <a:cs typeface="Times New Roman" panose="02020603050405020304" pitchFamily="18" charset="0"/>
                                  </a:rPr>
                                  <m:t>𝑥</m:t>
                                </m:r>
                              </m:e>
                            </m:acc>
                            <m:r>
                              <a:rPr lang="en-IN" sz="2400" b="0" i="1" smtClean="0">
                                <a:solidFill>
                                  <a:schemeClr val="tx1"/>
                                </a:solidFill>
                                <a:latin typeface="Cambria Math" panose="02040503050406030204" pitchFamily="18" charset="0"/>
                                <a:cs typeface="Times New Roman" panose="02020603050405020304" pitchFamily="18" charset="0"/>
                              </a:rPr>
                              <m:t>−</m:t>
                            </m:r>
                            <m:r>
                              <a:rPr lang="en-IN" sz="2400" b="0" i="1" smtClean="0">
                                <a:solidFill>
                                  <a:schemeClr val="tx1"/>
                                </a:solidFill>
                                <a:latin typeface="Cambria Math" panose="02040503050406030204" pitchFamily="18" charset="0"/>
                                <a:cs typeface="Times New Roman" panose="02020603050405020304" pitchFamily="18" charset="0"/>
                              </a:rPr>
                              <m:t>𝜇</m:t>
                            </m:r>
                          </m:e>
                        </m:d>
                      </m:num>
                      <m:den>
                        <m:f>
                          <m:fPr>
                            <m:ctrlPr>
                              <a:rPr lang="en-IN" sz="2400" b="0" i="1" smtClean="0">
                                <a:solidFill>
                                  <a:schemeClr val="tx1"/>
                                </a:solidFill>
                                <a:latin typeface="Cambria Math" panose="02040503050406030204" pitchFamily="18" charset="0"/>
                                <a:cs typeface="Times New Roman" panose="02020603050405020304" pitchFamily="18" charset="0"/>
                              </a:rPr>
                            </m:ctrlPr>
                          </m:fPr>
                          <m:num>
                            <m:r>
                              <a:rPr lang="en-IN" sz="2400" b="0" i="1" smtClean="0">
                                <a:solidFill>
                                  <a:schemeClr val="tx1"/>
                                </a:solidFill>
                                <a:latin typeface="Cambria Math" panose="02040503050406030204" pitchFamily="18" charset="0"/>
                                <a:cs typeface="Times New Roman" panose="02020603050405020304" pitchFamily="18" charset="0"/>
                              </a:rPr>
                              <m:t>𝜎</m:t>
                            </m:r>
                          </m:num>
                          <m:den>
                            <m:rad>
                              <m:radPr>
                                <m:degHide m:val="on"/>
                                <m:ctrlPr>
                                  <a:rPr lang="en-IN" sz="2400" b="0" i="1" smtClean="0">
                                    <a:solidFill>
                                      <a:schemeClr val="tx1"/>
                                    </a:solidFill>
                                    <a:latin typeface="Cambria Math" panose="02040503050406030204" pitchFamily="18" charset="0"/>
                                    <a:cs typeface="Times New Roman" panose="02020603050405020304" pitchFamily="18" charset="0"/>
                                  </a:rPr>
                                </m:ctrlPr>
                              </m:radPr>
                              <m:deg/>
                              <m:e>
                                <m:r>
                                  <a:rPr lang="en-IN" sz="2400" b="0" i="1" smtClean="0">
                                    <a:solidFill>
                                      <a:schemeClr val="tx1"/>
                                    </a:solidFill>
                                    <a:latin typeface="Cambria Math" panose="02040503050406030204" pitchFamily="18" charset="0"/>
                                    <a:cs typeface="Times New Roman" panose="02020603050405020304" pitchFamily="18" charset="0"/>
                                  </a:rPr>
                                  <m:t>𝑛</m:t>
                                </m:r>
                              </m:e>
                            </m:rad>
                          </m:den>
                        </m:f>
                      </m:den>
                    </m:f>
                    <m:r>
                      <a:rPr lang="en-IN" sz="2400" b="0" i="1" smtClean="0">
                        <a:solidFill>
                          <a:schemeClr val="tx1"/>
                        </a:solidFill>
                        <a:latin typeface="Cambria Math" panose="02040503050406030204" pitchFamily="18" charset="0"/>
                        <a:cs typeface="Times New Roman" panose="02020603050405020304" pitchFamily="18" charset="0"/>
                      </a:rPr>
                      <m:t>   </m:t>
                    </m:r>
                    <m:r>
                      <a:rPr lang="en-IN" sz="2400" b="0" i="1" smtClean="0">
                        <a:solidFill>
                          <a:schemeClr val="tx1"/>
                        </a:solidFill>
                        <a:latin typeface="Cambria Math" panose="02040503050406030204" pitchFamily="18" charset="0"/>
                        <a:cs typeface="Times New Roman" panose="02020603050405020304" pitchFamily="18" charset="0"/>
                      </a:rPr>
                      <m:t>𝑜𝑟</m:t>
                    </m:r>
                    <m:f>
                      <m:fPr>
                        <m:ctrlPr>
                          <a:rPr lang="en-IN" sz="2400" i="1">
                            <a:latin typeface="Cambria Math" panose="02040503050406030204" pitchFamily="18" charset="0"/>
                            <a:cs typeface="Times New Roman" panose="02020603050405020304" pitchFamily="18" charset="0"/>
                          </a:rPr>
                        </m:ctrlPr>
                      </m:fPr>
                      <m:num>
                        <m:d>
                          <m:dPr>
                            <m:begChr m:val="|"/>
                            <m:endChr m:val="|"/>
                            <m:ctrlPr>
                              <a:rPr lang="en-IN" sz="2400" i="1">
                                <a:latin typeface="Cambria Math" panose="02040503050406030204" pitchFamily="18" charset="0"/>
                                <a:cs typeface="Times New Roman" panose="02020603050405020304" pitchFamily="18" charset="0"/>
                              </a:rPr>
                            </m:ctrlPr>
                          </m:dPr>
                          <m:e>
                            <m:acc>
                              <m:accPr>
                                <m:chr m:val="̅"/>
                                <m:ctrlPr>
                                  <a:rPr lang="en-IN" sz="2400" i="1">
                                    <a:latin typeface="Cambria Math" panose="02040503050406030204" pitchFamily="18" charset="0"/>
                                    <a:cs typeface="Times New Roman" panose="02020603050405020304" pitchFamily="18" charset="0"/>
                                  </a:rPr>
                                </m:ctrlPr>
                              </m:accPr>
                              <m:e>
                                <m:r>
                                  <a:rPr lang="en-IN" sz="2400" i="1">
                                    <a:latin typeface="Cambria Math" panose="02040503050406030204" pitchFamily="18" charset="0"/>
                                    <a:cs typeface="Times New Roman" panose="02020603050405020304" pitchFamily="18" charset="0"/>
                                  </a:rPr>
                                  <m:t>𝑥</m:t>
                                </m:r>
                              </m:e>
                            </m:acc>
                            <m:r>
                              <a:rPr lang="en-IN" sz="2400" i="1">
                                <a:latin typeface="Cambria Math" panose="02040503050406030204" pitchFamily="18" charset="0"/>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𝜇</m:t>
                            </m:r>
                          </m:e>
                        </m:d>
                      </m:num>
                      <m:den>
                        <m:f>
                          <m:fPr>
                            <m:ctrlPr>
                              <a:rPr lang="en-IN" sz="2400" i="1">
                                <a:latin typeface="Cambria Math" panose="02040503050406030204" pitchFamily="18" charset="0"/>
                                <a:cs typeface="Times New Roman" panose="02020603050405020304" pitchFamily="18" charset="0"/>
                              </a:rPr>
                            </m:ctrlPr>
                          </m:fPr>
                          <m:num>
                            <m:r>
                              <a:rPr lang="en-IN" sz="2400" i="1">
                                <a:latin typeface="Cambria Math" panose="02040503050406030204" pitchFamily="18" charset="0"/>
                                <a:cs typeface="Times New Roman" panose="02020603050405020304" pitchFamily="18" charset="0"/>
                              </a:rPr>
                              <m:t>𝜎</m:t>
                            </m:r>
                          </m:num>
                          <m:den>
                            <m:rad>
                              <m:radPr>
                                <m:degHide m:val="on"/>
                                <m:ctrlPr>
                                  <a:rPr lang="en-IN" sz="2400" i="1">
                                    <a:latin typeface="Cambria Math" panose="02040503050406030204" pitchFamily="18" charset="0"/>
                                    <a:cs typeface="Times New Roman" panose="02020603050405020304" pitchFamily="18" charset="0"/>
                                  </a:rPr>
                                </m:ctrlPr>
                              </m:radPr>
                              <m:deg/>
                              <m:e>
                                <m:r>
                                  <a:rPr lang="en-IN" sz="2400" i="1">
                                    <a:latin typeface="Cambria Math" panose="02040503050406030204" pitchFamily="18" charset="0"/>
                                    <a:cs typeface="Times New Roman" panose="02020603050405020304" pitchFamily="18" charset="0"/>
                                  </a:rPr>
                                  <m:t>𝑛</m:t>
                                </m:r>
                              </m:e>
                            </m:rad>
                          </m:den>
                        </m:f>
                        <m:r>
                          <a:rPr lang="en-IN" sz="2400" b="0" i="1" smtClean="0">
                            <a:latin typeface="Cambria Math" panose="02040503050406030204" pitchFamily="18" charset="0"/>
                            <a:cs typeface="Times New Roman" panose="02020603050405020304" pitchFamily="18" charset="0"/>
                          </a:rPr>
                          <m:t>∗</m:t>
                        </m:r>
                        <m:rad>
                          <m:radPr>
                            <m:degHide m:val="on"/>
                            <m:ctrlPr>
                              <a:rPr lang="en-IN" sz="2400" b="0" i="1" smtClean="0">
                                <a:latin typeface="Cambria Math" panose="02040503050406030204" pitchFamily="18" charset="0"/>
                                <a:cs typeface="Times New Roman" panose="02020603050405020304" pitchFamily="18" charset="0"/>
                              </a:rPr>
                            </m:ctrlPr>
                          </m:radPr>
                          <m:deg/>
                          <m:e>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𝑁</m:t>
                                </m:r>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𝑛</m:t>
                                </m:r>
                              </m:num>
                              <m:den>
                                <m:r>
                                  <a:rPr lang="en-IN" sz="2400" b="0" i="1" smtClean="0">
                                    <a:latin typeface="Cambria Math" panose="02040503050406030204" pitchFamily="18" charset="0"/>
                                    <a:cs typeface="Times New Roman" panose="02020603050405020304" pitchFamily="18" charset="0"/>
                                  </a:rPr>
                                  <m:t>𝑁</m:t>
                                </m:r>
                                <m:r>
                                  <a:rPr lang="en-IN" sz="2400" b="0" i="1" smtClean="0">
                                    <a:latin typeface="Cambria Math" panose="02040503050406030204" pitchFamily="18" charset="0"/>
                                    <a:cs typeface="Times New Roman" panose="02020603050405020304" pitchFamily="18" charset="0"/>
                                  </a:rPr>
                                  <m:t>−1</m:t>
                                </m:r>
                              </m:den>
                            </m:f>
                          </m:e>
                        </m:rad>
                      </m:den>
                    </m:f>
                  </m:oMath>
                </a14:m>
                <a:r>
                  <a:rPr lang="en-IN" sz="2400" dirty="0">
                    <a:solidFill>
                      <a:schemeClr val="tx1"/>
                    </a:solidFill>
                    <a:latin typeface="Times New Roman" panose="02020603050405020304" pitchFamily="18" charset="0"/>
                    <a:cs typeface="Times New Roman" panose="02020603050405020304" pitchFamily="18" charset="0"/>
                  </a:rPr>
                  <a:t>      where </a:t>
                </a:r>
                <a14:m>
                  <m:oMath xmlns:m="http://schemas.openxmlformats.org/officeDocument/2006/math">
                    <m:rad>
                      <m:radPr>
                        <m:degHide m:val="on"/>
                        <m:ctrlPr>
                          <a:rPr lang="en-IN" sz="2400" i="1">
                            <a:latin typeface="Cambria Math" panose="02040503050406030204" pitchFamily="18" charset="0"/>
                            <a:cs typeface="Times New Roman" panose="02020603050405020304" pitchFamily="18" charset="0"/>
                          </a:rPr>
                        </m:ctrlPr>
                      </m:radPr>
                      <m:deg/>
                      <m:e>
                        <m:f>
                          <m:fPr>
                            <m:ctrlPr>
                              <a:rPr lang="en-IN" sz="2400" i="1">
                                <a:latin typeface="Cambria Math" panose="02040503050406030204" pitchFamily="18" charset="0"/>
                                <a:cs typeface="Times New Roman" panose="02020603050405020304" pitchFamily="18" charset="0"/>
                              </a:rPr>
                            </m:ctrlPr>
                          </m:fPr>
                          <m:num>
                            <m:r>
                              <a:rPr lang="en-IN" sz="2400" i="1">
                                <a:latin typeface="Cambria Math" panose="02040503050406030204" pitchFamily="18" charset="0"/>
                                <a:cs typeface="Times New Roman" panose="02020603050405020304" pitchFamily="18" charset="0"/>
                              </a:rPr>
                              <m:t>𝑁</m:t>
                            </m:r>
                            <m:r>
                              <a:rPr lang="en-IN" sz="2400" i="1">
                                <a:latin typeface="Cambria Math" panose="02040503050406030204" pitchFamily="18" charset="0"/>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𝑛</m:t>
                            </m:r>
                          </m:num>
                          <m:den>
                            <m:r>
                              <a:rPr lang="en-IN" sz="2400" i="1">
                                <a:latin typeface="Cambria Math" panose="02040503050406030204" pitchFamily="18" charset="0"/>
                                <a:cs typeface="Times New Roman" panose="02020603050405020304" pitchFamily="18" charset="0"/>
                              </a:rPr>
                              <m:t>𝑁</m:t>
                            </m:r>
                            <m:r>
                              <a:rPr lang="en-IN" sz="2400" i="1">
                                <a:latin typeface="Cambria Math" panose="02040503050406030204" pitchFamily="18" charset="0"/>
                                <a:cs typeface="Times New Roman" panose="02020603050405020304" pitchFamily="18" charset="0"/>
                              </a:rPr>
                              <m:t>−1</m:t>
                            </m:r>
                          </m:den>
                        </m:f>
                      </m:e>
                    </m:rad>
                  </m:oMath>
                </a14:m>
                <a:r>
                  <a:rPr lang="en-IN" sz="2400" dirty="0">
                    <a:solidFill>
                      <a:schemeClr val="tx1"/>
                    </a:solidFill>
                    <a:latin typeface="Times New Roman" panose="02020603050405020304" pitchFamily="18" charset="0"/>
                    <a:cs typeface="Times New Roman" panose="02020603050405020304" pitchFamily="18" charset="0"/>
                  </a:rPr>
                  <a:t> : Finite population correction factor.</a:t>
                </a:r>
              </a:p>
              <a:p>
                <a:pPr algn="just">
                  <a:lnSpc>
                    <a:spcPct val="150000"/>
                  </a:lnSpc>
                </a:pPr>
                <a:r>
                  <a:rPr lang="en-IN" sz="2400" dirty="0">
                    <a:latin typeface="Times New Roman" panose="02020603050405020304" pitchFamily="18" charset="0"/>
                    <a:cs typeface="Times New Roman" panose="02020603050405020304" pitchFamily="18" charset="0"/>
                  </a:rPr>
                  <a:t>Denominator is the standard error of sample mean i.e. S.E. (</a:t>
                </a:r>
                <a14:m>
                  <m:oMath xmlns:m="http://schemas.openxmlformats.org/officeDocument/2006/math">
                    <m:acc>
                      <m:accPr>
                        <m:chr m:val="̅"/>
                        <m:ctrlPr>
                          <a:rPr lang="en-IN" sz="2400" b="0" i="1" smtClean="0">
                            <a:solidFill>
                              <a:schemeClr val="tx1"/>
                            </a:solidFill>
                            <a:latin typeface="Cambria Math" panose="02040503050406030204" pitchFamily="18" charset="0"/>
                            <a:cs typeface="Times New Roman" panose="02020603050405020304" pitchFamily="18" charset="0"/>
                          </a:rPr>
                        </m:ctrlPr>
                      </m:accPr>
                      <m:e>
                        <m:r>
                          <a:rPr lang="en-IN" sz="2400" b="0" i="1" smtClean="0">
                            <a:solidFill>
                              <a:schemeClr val="tx1"/>
                            </a:solidFill>
                            <a:latin typeface="Cambria Math" panose="02040503050406030204" pitchFamily="18" charset="0"/>
                            <a:cs typeface="Times New Roman" panose="02020603050405020304" pitchFamily="18" charset="0"/>
                          </a:rPr>
                          <m:t>𝑥</m:t>
                        </m:r>
                      </m:e>
                    </m:acc>
                  </m:oMath>
                </a14:m>
                <a:r>
                  <a:rPr lang="en-IN" sz="2400" dirty="0">
                    <a:latin typeface="Times New Roman" panose="02020603050405020304" pitchFamily="18" charset="0"/>
                    <a:cs typeface="Times New Roman" panose="02020603050405020304" pitchFamily="18" charset="0"/>
                  </a:rPr>
                  <a:t>)</a:t>
                </a:r>
                <a:r>
                  <a:rPr lang="en-IN" sz="2400" dirty="0">
                    <a:solidFill>
                      <a:schemeClr val="tx1"/>
                    </a:solidFill>
                    <a:latin typeface="Times New Roman" panose="02020603050405020304" pitchFamily="18" charset="0"/>
                    <a:cs typeface="Times New Roman" panose="02020603050405020304" pitchFamily="18" charset="0"/>
                  </a:rPr>
                  <a:t>  </a:t>
                </a:r>
              </a:p>
              <a:p>
                <a:pPr algn="just">
                  <a:lnSpc>
                    <a:spcPct val="150000"/>
                  </a:lnSpc>
                </a:pPr>
                <a:r>
                  <a:rPr lang="en-IN" sz="2400" b="1" dirty="0">
                    <a:latin typeface="Times New Roman" panose="02020603050405020304" pitchFamily="18" charset="0"/>
                    <a:cs typeface="Times New Roman" panose="02020603050405020304" pitchFamily="18" charset="0"/>
                  </a:rPr>
                  <a:t>Step-4: </a:t>
                </a:r>
                <a:r>
                  <a:rPr lang="en-IN" sz="2400" dirty="0">
                    <a:latin typeface="Times New Roman" panose="02020603050405020304" pitchFamily="18" charset="0"/>
                    <a:cs typeface="Times New Roman" panose="02020603050405020304" pitchFamily="18" charset="0"/>
                  </a:rPr>
                  <a:t>Table value of z at </a:t>
                </a:r>
                <a:r>
                  <a:rPr lang="en-IN" sz="2400" dirty="0">
                    <a:latin typeface="Times New Roman" panose="02020603050405020304" pitchFamily="18" charset="0"/>
                    <a:ea typeface="Calibri" panose="020F0502020204030204" pitchFamily="34" charset="0"/>
                    <a:cs typeface="Times New Roman" panose="02020603050405020304" pitchFamily="18" charset="0"/>
                  </a:rPr>
                  <a:t>α % level of significance.</a:t>
                </a:r>
              </a:p>
              <a:p>
                <a:pPr algn="just">
                  <a:lnSpc>
                    <a:spcPct val="150000"/>
                  </a:lnSpc>
                </a:pPr>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Step-5: </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Accepted.</a:t>
                </a:r>
              </a:p>
              <a:p>
                <a:pPr algn="just">
                  <a:lnSpc>
                    <a:spcPct val="150000"/>
                  </a:lnSpc>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&gt;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Rejected.</a:t>
                </a:r>
              </a:p>
              <a:p>
                <a:pPr algn="just"/>
                <a:r>
                  <a:rPr lang="en-IN" sz="2200" dirty="0">
                    <a:solidFill>
                      <a:schemeClr val="tx1"/>
                    </a:solidFill>
                    <a:latin typeface="Times New Roman" panose="02020603050405020304" pitchFamily="18" charset="0"/>
                    <a:cs typeface="Times New Roman" panose="02020603050405020304" pitchFamily="18" charset="0"/>
                  </a:rPr>
                  <a:t>                     </a:t>
                </a:r>
              </a:p>
              <a:p>
                <a:pPr algn="just"/>
                <a:endParaRPr lang="en-IN" dirty="0"/>
              </a:p>
            </p:txBody>
          </p:sp>
        </mc:Choice>
        <mc:Fallback>
          <p:sp>
            <p:nvSpPr>
              <p:cNvPr id="3" name="TextBox 2">
                <a:extLst>
                  <a:ext uri="{FF2B5EF4-FFF2-40B4-BE49-F238E27FC236}">
                    <a16:creationId xmlns:a16="http://schemas.microsoft.com/office/drawing/2014/main" id="{83832DBA-F6C4-AAB0-C454-85D12B41A0E6}"/>
                  </a:ext>
                </a:extLst>
              </p:cNvPr>
              <p:cNvSpPr txBox="1">
                <a:spLocks noRot="1" noChangeAspect="1" noMove="1" noResize="1" noEditPoints="1" noAdjustHandles="1" noChangeArrowheads="1" noChangeShapeType="1" noTextEdit="1"/>
              </p:cNvSpPr>
              <p:nvPr/>
            </p:nvSpPr>
            <p:spPr>
              <a:xfrm>
                <a:off x="228600" y="1057736"/>
                <a:ext cx="11658599" cy="5860066"/>
              </a:xfrm>
              <a:prstGeom prst="rect">
                <a:avLst/>
              </a:prstGeom>
              <a:blipFill>
                <a:blip r:embed="rId5"/>
                <a:stretch>
                  <a:fillRect l="-837"/>
                </a:stretch>
              </a:blipFill>
            </p:spPr>
            <p:txBody>
              <a:bodyPr/>
              <a:lstStyle/>
              <a:p>
                <a:r>
                  <a:rPr lang="en-IN">
                    <a:noFill/>
                  </a:rPr>
                  <a:t> </a:t>
                </a:r>
              </a:p>
            </p:txBody>
          </p:sp>
        </mc:Fallback>
      </mc:AlternateContent>
    </p:spTree>
    <p:extLst>
      <p:ext uri="{BB962C8B-B14F-4D97-AF65-F5344CB8AC3E}">
        <p14:creationId xmlns:p14="http://schemas.microsoft.com/office/powerpoint/2010/main" val="228472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78625" y="-161147"/>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Case Study 1</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274320" y="967049"/>
            <a:ext cx="11445240" cy="5382499"/>
          </a:xfrm>
          <a:prstGeom prst="rect">
            <a:avLst/>
          </a:prstGeom>
          <a:noFill/>
        </p:spPr>
        <p:txBody>
          <a:bodyPr wrap="square">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It is hoped that a newly developed pain reliever will more quickly produce perceptible reduction in pain to patients after minor surgeries than a standard pain reliever.</a:t>
            </a:r>
          </a:p>
          <a:p>
            <a:pPr algn="just">
              <a:lnSpc>
                <a:spcPct val="200000"/>
              </a:lnSpc>
            </a:pPr>
            <a:r>
              <a:rPr lang="en-US" sz="2000" dirty="0">
                <a:latin typeface="Times New Roman" panose="02020603050405020304" pitchFamily="18" charset="0"/>
                <a:cs typeface="Times New Roman" panose="02020603050405020304" pitchFamily="18" charset="0"/>
              </a:rPr>
              <a:t>The standard pain reliever is known to bring relief in an average of 3.5 minutes with standard deviation 2.1 minutes. To test whether the new pain reliever works more quickly than the standard one, 50 patients with minor surgeries were given the new pain reliever and their times to relief were recorded. The experiment yielded sample mean is 3.1 minutes and sample standard deviation is 1.5 minutes. Is there sufficient evidence in the sample to indicate, at the 5% level of significance, that the newly developed pain reliever does deliver perceptible relief more quicky? </a:t>
            </a:r>
          </a:p>
          <a:p>
            <a:pPr>
              <a:lnSpc>
                <a:spcPct val="150000"/>
              </a:lnSpc>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031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0"/>
            <a:ext cx="10515600" cy="973394"/>
          </a:xfrm>
        </p:spPr>
        <p:txBody>
          <a:bodyPr/>
          <a:lstStyle/>
          <a:p>
            <a:r>
              <a:rPr lang="en-US" b="1" dirty="0">
                <a:solidFill>
                  <a:srgbClr val="FF0000"/>
                </a:solidFill>
                <a:latin typeface="Times New Roman" panose="02020603050405020304" pitchFamily="18" charset="0"/>
                <a:cs typeface="Times New Roman" panose="02020603050405020304" pitchFamily="18" charset="0"/>
              </a:rPr>
              <a:t>Case Study 2</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274320" y="1053570"/>
            <a:ext cx="11567160" cy="5109860"/>
          </a:xfrm>
          <a:prstGeom prst="rect">
            <a:avLst/>
          </a:prstGeom>
          <a:noFill/>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A cosmetics company fills its best selling 8-ounce jars of facial cream by an automatic dispensing machine.</a:t>
            </a:r>
          </a:p>
          <a:p>
            <a:pPr algn="just">
              <a:lnSpc>
                <a:spcPct val="150000"/>
              </a:lnSpc>
            </a:pPr>
            <a:r>
              <a:rPr lang="en-US" sz="2200" dirty="0">
                <a:latin typeface="Times New Roman" panose="02020603050405020304" pitchFamily="18" charset="0"/>
                <a:cs typeface="Times New Roman" panose="02020603050405020304" pitchFamily="18" charset="0"/>
              </a:rPr>
              <a:t>The machine is set to dispense a mean of 8.1 ounces per jar. Uncontrollable n the process can shift the mean away from 8.1 and cause either underfill or overfill, both of which are undesirable. In such a case the dispensing machine is stopped and recalibrated. Regardless of the mean amount dispensed, the standard deviation of the amount dispensed always has value 0.22 ounce. A quality control engineer routinely selects 30 jars from the assembly line to check the amounts filled. On one occasion, the sample mean is 8.2 ounces and the sample standard deviation is 0.25 ounce. Determine if there is sufficient evidence in the sample to indicate, at the 1% level of significance, that the machine should be recalibrated. </a:t>
            </a:r>
          </a:p>
        </p:txBody>
      </p:sp>
    </p:spTree>
    <p:extLst>
      <p:ext uri="{BB962C8B-B14F-4D97-AF65-F5344CB8AC3E}">
        <p14:creationId xmlns:p14="http://schemas.microsoft.com/office/powerpoint/2010/main" val="275432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56704" y="426720"/>
            <a:ext cx="11329555" cy="1066800"/>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Test 2: Test of significance of difference between two means</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0A1F011-CC4B-1AE7-9AD4-D15077CB881D}"/>
                  </a:ext>
                </a:extLst>
              </p:cNvPr>
              <p:cNvSpPr txBox="1"/>
              <p:nvPr/>
            </p:nvSpPr>
            <p:spPr>
              <a:xfrm>
                <a:off x="205740" y="1651037"/>
                <a:ext cx="11780520" cy="4388574"/>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Step-1: </a:t>
                </a:r>
                <a:r>
                  <a:rPr lang="en-IN" sz="2800" dirty="0">
                    <a:latin typeface="Times New Roman" panose="02020603050405020304" pitchFamily="18" charset="0"/>
                    <a:cs typeface="Times New Roman" panose="02020603050405020304" pitchFamily="18" charset="0"/>
                  </a:rPr>
                  <a:t>Null Hypothesis H0: </a:t>
                </a:r>
                <a14:m>
                  <m:oMath xmlns:m="http://schemas.openxmlformats.org/officeDocument/2006/math">
                    <m:sSub>
                      <m:sSubPr>
                        <m:ctrlPr>
                          <a:rPr lang="en-IN" sz="2800" b="0" i="1" smtClean="0">
                            <a:solidFill>
                              <a:schemeClr val="tx1"/>
                            </a:solidFill>
                            <a:latin typeface="Cambria Math" panose="02040503050406030204" pitchFamily="18" charset="0"/>
                          </a:rPr>
                        </m:ctrlPr>
                      </m:sSubPr>
                      <m:e>
                        <m:r>
                          <a:rPr lang="en-IN" sz="2800" b="0" i="1" smtClean="0">
                            <a:solidFill>
                              <a:schemeClr val="tx1"/>
                            </a:solidFill>
                            <a:latin typeface="Cambria Math" panose="02040503050406030204" pitchFamily="18" charset="0"/>
                          </a:rPr>
                          <m:t>𝜇</m:t>
                        </m:r>
                      </m:e>
                      <m:sub>
                        <m:r>
                          <a:rPr lang="en-IN" sz="2800" b="0" i="1" smtClean="0">
                            <a:solidFill>
                              <a:schemeClr val="tx1"/>
                            </a:solidFill>
                            <a:latin typeface="Cambria Math" panose="02040503050406030204" pitchFamily="18" charset="0"/>
                          </a:rPr>
                          <m:t>1</m:t>
                        </m:r>
                      </m:sub>
                    </m:sSub>
                    <m:r>
                      <a:rPr lang="en-IN" sz="2800" b="0" i="1" smtClean="0">
                        <a:solidFill>
                          <a:schemeClr val="tx1"/>
                        </a:solidFill>
                        <a:latin typeface="Cambria Math" panose="02040503050406030204" pitchFamily="18" charset="0"/>
                      </a:rPr>
                      <m:t>=</m:t>
                    </m:r>
                    <m:sSub>
                      <m:sSubPr>
                        <m:ctrlPr>
                          <a:rPr lang="en-IN" sz="2800" b="0" i="1" smtClean="0">
                            <a:solidFill>
                              <a:schemeClr val="tx1"/>
                            </a:solidFill>
                            <a:latin typeface="Cambria Math" panose="02040503050406030204" pitchFamily="18" charset="0"/>
                          </a:rPr>
                        </m:ctrlPr>
                      </m:sSubPr>
                      <m:e>
                        <m:r>
                          <a:rPr lang="en-IN" sz="2800" b="0" i="1" smtClean="0">
                            <a:solidFill>
                              <a:schemeClr val="tx1"/>
                            </a:solidFill>
                            <a:latin typeface="Cambria Math" panose="02040503050406030204" pitchFamily="18" charset="0"/>
                          </a:rPr>
                          <m:t>𝜇</m:t>
                        </m:r>
                      </m:e>
                      <m:sub>
                        <m:r>
                          <a:rPr lang="en-IN" sz="2800" b="0" i="1" smtClean="0">
                            <a:solidFill>
                              <a:schemeClr val="tx1"/>
                            </a:solidFill>
                            <a:latin typeface="Cambria Math" panose="02040503050406030204" pitchFamily="18" charset="0"/>
                          </a:rPr>
                          <m:t>2</m:t>
                        </m:r>
                      </m:sub>
                    </m:sSub>
                  </m:oMath>
                </a14:m>
                <a:endParaRPr lang="en-IN" sz="2800" b="0" dirty="0">
                  <a:solidFill>
                    <a:schemeClr val="tx1"/>
                  </a:solidFill>
                  <a:latin typeface="Times New Roman" panose="02020603050405020304" pitchFamily="18" charset="0"/>
                </a:endParaRPr>
              </a:p>
              <a:p>
                <a:pPr algn="just"/>
                <a:r>
                  <a:rPr lang="en-IN" sz="2800" b="1" dirty="0">
                    <a:solidFill>
                      <a:schemeClr val="tx1"/>
                    </a:solidFill>
                    <a:latin typeface="Times New Roman" panose="02020603050405020304" pitchFamily="18" charset="0"/>
                    <a:cs typeface="Times New Roman" panose="02020603050405020304" pitchFamily="18" charset="0"/>
                  </a:rPr>
                  <a:t>Step-2: </a:t>
                </a:r>
                <a:r>
                  <a:rPr lang="en-IN" sz="2800" dirty="0">
                    <a:solidFill>
                      <a:schemeClr val="tx1"/>
                    </a:solidFill>
                    <a:latin typeface="Times New Roman" panose="02020603050405020304" pitchFamily="18" charset="0"/>
                    <a:cs typeface="Times New Roman" panose="02020603050405020304" pitchFamily="18" charset="0"/>
                  </a:rPr>
                  <a:t>Alternative Hypothesis H1: </a:t>
                </a:r>
                <a14:m>
                  <m:oMath xmlns:m="http://schemas.openxmlformats.org/officeDocument/2006/math">
                    <m:sSub>
                      <m:sSubPr>
                        <m:ctrlPr>
                          <a:rPr lang="en-IN" sz="2800" b="0" i="1" smtClean="0">
                            <a:solidFill>
                              <a:schemeClr val="tx1"/>
                            </a:solidFill>
                            <a:latin typeface="Cambria Math" panose="02040503050406030204" pitchFamily="18" charset="0"/>
                          </a:rPr>
                        </m:ctrlPr>
                      </m:sSubPr>
                      <m:e>
                        <m:r>
                          <a:rPr lang="en-IN" sz="2800" b="0" i="1" smtClean="0">
                            <a:solidFill>
                              <a:schemeClr val="tx1"/>
                            </a:solidFill>
                            <a:latin typeface="Cambria Math" panose="02040503050406030204" pitchFamily="18" charset="0"/>
                          </a:rPr>
                          <m:t>𝜇</m:t>
                        </m:r>
                      </m:e>
                      <m:sub>
                        <m:r>
                          <a:rPr lang="en-IN" sz="2800" b="0" i="1" smtClean="0">
                            <a:solidFill>
                              <a:schemeClr val="tx1"/>
                            </a:solidFill>
                            <a:latin typeface="Cambria Math" panose="02040503050406030204" pitchFamily="18" charset="0"/>
                          </a:rPr>
                          <m:t>1</m:t>
                        </m:r>
                      </m:sub>
                    </m:sSub>
                    <m:r>
                      <a:rPr lang="en-IN" sz="2800" b="0" i="1" smtClean="0">
                        <a:solidFill>
                          <a:schemeClr val="tx1"/>
                        </a:solidFill>
                        <a:latin typeface="Cambria Math" panose="02040503050406030204" pitchFamily="18" charset="0"/>
                      </a:rPr>
                      <m:t>≠</m:t>
                    </m:r>
                    <m:sSub>
                      <m:sSubPr>
                        <m:ctrlPr>
                          <a:rPr lang="en-IN" sz="2800" b="0" i="1" smtClean="0">
                            <a:solidFill>
                              <a:schemeClr val="tx1"/>
                            </a:solidFill>
                            <a:latin typeface="Cambria Math" panose="02040503050406030204" pitchFamily="18" charset="0"/>
                          </a:rPr>
                        </m:ctrlPr>
                      </m:sSubPr>
                      <m:e>
                        <m:r>
                          <a:rPr lang="en-IN" sz="2800" b="0" i="1" smtClean="0">
                            <a:solidFill>
                              <a:schemeClr val="tx1"/>
                            </a:solidFill>
                            <a:latin typeface="Cambria Math" panose="02040503050406030204" pitchFamily="18" charset="0"/>
                          </a:rPr>
                          <m:t>𝜇</m:t>
                        </m:r>
                      </m:e>
                      <m:sub>
                        <m:r>
                          <a:rPr lang="en-IN" sz="2800" b="0" i="1" smtClean="0">
                            <a:solidFill>
                              <a:schemeClr val="tx1"/>
                            </a:solidFill>
                            <a:latin typeface="Cambria Math" panose="02040503050406030204" pitchFamily="18" charset="0"/>
                          </a:rPr>
                          <m:t>2</m:t>
                        </m:r>
                      </m:sub>
                    </m:sSub>
                    <m:r>
                      <a:rPr lang="en-IN" sz="2800" i="1">
                        <a:latin typeface="Cambria Math" panose="02040503050406030204" pitchFamily="18" charset="0"/>
                      </a:rPr>
                      <m:t> </m:t>
                    </m:r>
                    <m:r>
                      <a:rPr lang="en-IN" sz="2800" i="1">
                        <a:latin typeface="Cambria Math" panose="02040503050406030204" pitchFamily="18" charset="0"/>
                      </a:rPr>
                      <m:t>𝑜𝑟</m:t>
                    </m:r>
                    <m:r>
                      <a:rPr lang="en-IN" sz="2800" b="0" i="1"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i="1">
                            <a:latin typeface="Cambria Math" panose="02040503050406030204" pitchFamily="18" charset="0"/>
                          </a:rPr>
                          <m:t>𝜇</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&gt;</m:t>
                    </m:r>
                    <m:sSub>
                      <m:sSubPr>
                        <m:ctrlPr>
                          <a:rPr lang="en-IN" sz="2800" i="1">
                            <a:latin typeface="Cambria Math" panose="02040503050406030204" pitchFamily="18" charset="0"/>
                          </a:rPr>
                        </m:ctrlPr>
                      </m:sSubPr>
                      <m:e>
                        <m:r>
                          <a:rPr lang="en-IN" sz="2800" i="1">
                            <a:latin typeface="Cambria Math" panose="02040503050406030204" pitchFamily="18" charset="0"/>
                          </a:rPr>
                          <m:t>𝜇</m:t>
                        </m:r>
                      </m:e>
                      <m:sub>
                        <m:r>
                          <a:rPr lang="en-IN" sz="2800" b="0" i="1" smtClean="0">
                            <a:latin typeface="Cambria Math" panose="02040503050406030204" pitchFamily="18" charset="0"/>
                          </a:rPr>
                          <m:t>2</m:t>
                        </m:r>
                      </m:sub>
                    </m:sSub>
                    <m:r>
                      <a:rPr lang="en-IN" sz="2800" b="0" i="1" smtClean="0">
                        <a:latin typeface="Cambria Math" panose="02040503050406030204" pitchFamily="18" charset="0"/>
                      </a:rPr>
                      <m:t> </m:t>
                    </m:r>
                    <m:r>
                      <a:rPr lang="en-IN" sz="2800" b="0" i="1" smtClean="0">
                        <a:latin typeface="Cambria Math" panose="02040503050406030204" pitchFamily="18" charset="0"/>
                      </a:rPr>
                      <m:t>𝑜𝑟</m:t>
                    </m:r>
                    <m:r>
                      <a:rPr lang="en-IN" sz="2800" b="0" i="1"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i="1">
                            <a:latin typeface="Cambria Math" panose="02040503050406030204" pitchFamily="18" charset="0"/>
                          </a:rPr>
                          <m:t>𝜇</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&lt;</m:t>
                    </m:r>
                    <m:sSub>
                      <m:sSubPr>
                        <m:ctrlPr>
                          <a:rPr lang="en-IN" sz="2800" i="1">
                            <a:latin typeface="Cambria Math" panose="02040503050406030204" pitchFamily="18" charset="0"/>
                          </a:rPr>
                        </m:ctrlPr>
                      </m:sSubPr>
                      <m:e>
                        <m:r>
                          <a:rPr lang="en-IN" sz="2800" i="1">
                            <a:latin typeface="Cambria Math" panose="02040503050406030204" pitchFamily="18" charset="0"/>
                          </a:rPr>
                          <m:t>𝜇</m:t>
                        </m:r>
                      </m:e>
                      <m:sub>
                        <m:r>
                          <a:rPr lang="en-IN" sz="2800" b="0" i="1" smtClean="0">
                            <a:latin typeface="Cambria Math" panose="02040503050406030204" pitchFamily="18" charset="0"/>
                          </a:rPr>
                          <m:t>2</m:t>
                        </m:r>
                      </m:sub>
                    </m:sSub>
                  </m:oMath>
                </a14:m>
                <a:endParaRPr lang="en-IN" sz="2800" dirty="0">
                  <a:latin typeface="Times New Roman" panose="02020603050405020304" pitchFamily="18" charset="0"/>
                </a:endParaRPr>
              </a:p>
              <a:p>
                <a:pPr algn="just"/>
                <a:r>
                  <a:rPr lang="en-IN" sz="2800" b="1" dirty="0">
                    <a:solidFill>
                      <a:schemeClr val="tx1"/>
                    </a:solidFill>
                    <a:latin typeface="Times New Roman" panose="02020603050405020304" pitchFamily="18" charset="0"/>
                    <a:cs typeface="Times New Roman" panose="02020603050405020304" pitchFamily="18" charset="0"/>
                  </a:rPr>
                  <a:t>Step 3: </a:t>
                </a:r>
                <a:r>
                  <a:rPr lang="en-IN" sz="2800" dirty="0">
                    <a:solidFill>
                      <a:schemeClr val="tx1"/>
                    </a:solidFill>
                    <a:latin typeface="Times New Roman" panose="02020603050405020304" pitchFamily="18" charset="0"/>
                    <a:cs typeface="Times New Roman" panose="02020603050405020304" pitchFamily="18" charset="0"/>
                  </a:rPr>
                  <a:t>Test Statistics </a:t>
                </a:r>
                <a14:m>
                  <m:oMath xmlns:m="http://schemas.openxmlformats.org/officeDocument/2006/math">
                    <m:r>
                      <a:rPr lang="en-IN" sz="2800" b="0" i="0" smtClean="0">
                        <a:solidFill>
                          <a:schemeClr val="tx1"/>
                        </a:solidFill>
                        <a:latin typeface="Cambria Math" panose="02040503050406030204" pitchFamily="18" charset="0"/>
                        <a:cs typeface="Times New Roman" panose="02020603050405020304" pitchFamily="18" charset="0"/>
                      </a:rPr>
                      <m:t>  </m:t>
                    </m:r>
                    <m:r>
                      <a:rPr lang="en-IN" sz="2800" b="0" i="1" smtClean="0">
                        <a:solidFill>
                          <a:schemeClr val="tx1"/>
                        </a:solidFill>
                        <a:latin typeface="Cambria Math" panose="02040503050406030204" pitchFamily="18" charset="0"/>
                        <a:cs typeface="Times New Roman" panose="02020603050405020304" pitchFamily="18" charset="0"/>
                      </a:rPr>
                      <m:t>𝑍</m:t>
                    </m:r>
                    <m:r>
                      <a:rPr lang="en-IN" sz="2800" b="0" i="1" smtClean="0">
                        <a:solidFill>
                          <a:schemeClr val="tx1"/>
                        </a:solidFill>
                        <a:latin typeface="Cambria Math" panose="02040503050406030204" pitchFamily="18" charset="0"/>
                        <a:cs typeface="Times New Roman" panose="02020603050405020304" pitchFamily="18" charset="0"/>
                      </a:rPr>
                      <m:t>=</m:t>
                    </m:r>
                    <m:f>
                      <m:fPr>
                        <m:ctrlPr>
                          <a:rPr lang="en-IN" sz="28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IN" sz="2800" b="0" i="1" smtClean="0">
                                <a:solidFill>
                                  <a:schemeClr val="tx1"/>
                                </a:solidFill>
                                <a:latin typeface="Cambria Math" panose="02040503050406030204" pitchFamily="18" charset="0"/>
                                <a:cs typeface="Times New Roman" panose="02020603050405020304" pitchFamily="18" charset="0"/>
                              </a:rPr>
                            </m:ctrlPr>
                          </m:dPr>
                          <m:e>
                            <m:acc>
                              <m:accPr>
                                <m:chr m:val="̅"/>
                                <m:ctrlPr>
                                  <a:rPr lang="en-IN" sz="2800" b="0" i="1" smtClean="0">
                                    <a:solidFill>
                                      <a:schemeClr val="tx1"/>
                                    </a:solidFill>
                                    <a:latin typeface="Cambria Math" panose="02040503050406030204" pitchFamily="18" charset="0"/>
                                    <a:cs typeface="Times New Roman" panose="02020603050405020304" pitchFamily="18" charset="0"/>
                                  </a:rPr>
                                </m:ctrlPr>
                              </m:accPr>
                              <m:e>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𝑥</m:t>
                                    </m:r>
                                  </m:e>
                                  <m:sub>
                                    <m:r>
                                      <a:rPr lang="en-IN" sz="2800" b="0" i="1" smtClean="0">
                                        <a:solidFill>
                                          <a:schemeClr val="tx1"/>
                                        </a:solidFill>
                                        <a:latin typeface="Cambria Math" panose="02040503050406030204" pitchFamily="18" charset="0"/>
                                        <a:cs typeface="Times New Roman" panose="02020603050405020304" pitchFamily="18" charset="0"/>
                                      </a:rPr>
                                      <m:t>1</m:t>
                                    </m:r>
                                  </m:sub>
                                </m:sSub>
                              </m:e>
                            </m:acc>
                            <m:r>
                              <a:rPr lang="en-IN" sz="2800" b="0" i="1" smtClean="0">
                                <a:solidFill>
                                  <a:schemeClr val="tx1"/>
                                </a:solidFill>
                                <a:latin typeface="Cambria Math" panose="02040503050406030204" pitchFamily="18" charset="0"/>
                                <a:cs typeface="Times New Roman" panose="02020603050405020304" pitchFamily="18" charset="0"/>
                              </a:rPr>
                              <m:t>−</m:t>
                            </m:r>
                            <m:acc>
                              <m:accPr>
                                <m:chr m:val="̅"/>
                                <m:ctrlPr>
                                  <a:rPr lang="en-IN" sz="2800" b="0" i="1" smtClean="0">
                                    <a:solidFill>
                                      <a:schemeClr val="tx1"/>
                                    </a:solidFill>
                                    <a:latin typeface="Cambria Math" panose="02040503050406030204" pitchFamily="18" charset="0"/>
                                    <a:cs typeface="Times New Roman" panose="02020603050405020304" pitchFamily="18" charset="0"/>
                                  </a:rPr>
                                </m:ctrlPr>
                              </m:accPr>
                              <m:e>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𝑥</m:t>
                                    </m:r>
                                  </m:e>
                                  <m:sub>
                                    <m:r>
                                      <a:rPr lang="en-IN" sz="2800" b="0" i="1" smtClean="0">
                                        <a:solidFill>
                                          <a:schemeClr val="tx1"/>
                                        </a:solidFill>
                                        <a:latin typeface="Cambria Math" panose="02040503050406030204" pitchFamily="18" charset="0"/>
                                        <a:cs typeface="Times New Roman" panose="02020603050405020304" pitchFamily="18" charset="0"/>
                                      </a:rPr>
                                      <m:t>2</m:t>
                                    </m:r>
                                  </m:sub>
                                </m:sSub>
                              </m:e>
                            </m:acc>
                          </m:e>
                        </m:d>
                      </m:num>
                      <m:den>
                        <m:rad>
                          <m:radPr>
                            <m:degHide m:val="on"/>
                            <m:ctrlPr>
                              <a:rPr lang="en-IN" sz="2800" b="0" i="1" smtClean="0">
                                <a:solidFill>
                                  <a:schemeClr val="tx1"/>
                                </a:solidFill>
                                <a:latin typeface="Cambria Math" panose="02040503050406030204" pitchFamily="18" charset="0"/>
                                <a:cs typeface="Times New Roman" panose="02020603050405020304" pitchFamily="18" charset="0"/>
                              </a:rPr>
                            </m:ctrlPr>
                          </m:radPr>
                          <m:deg/>
                          <m:e>
                            <m:f>
                              <m:fPr>
                                <m:ctrlPr>
                                  <a:rPr lang="en-IN" sz="2800" b="0" i="1" smtClean="0">
                                    <a:solidFill>
                                      <a:schemeClr val="tx1"/>
                                    </a:solidFill>
                                    <a:latin typeface="Cambria Math" panose="02040503050406030204" pitchFamily="18" charset="0"/>
                                    <a:cs typeface="Times New Roman" panose="02020603050405020304" pitchFamily="18" charset="0"/>
                                  </a:rPr>
                                </m:ctrlPr>
                              </m:fPr>
                              <m:num>
                                <m:sSubSup>
                                  <m:sSubSupPr>
                                    <m:ctrlPr>
                                      <a:rPr lang="en-IN" sz="2800" b="0" i="1" smtClean="0">
                                        <a:solidFill>
                                          <a:schemeClr val="tx1"/>
                                        </a:solidFill>
                                        <a:latin typeface="Cambria Math" panose="02040503050406030204" pitchFamily="18" charset="0"/>
                                        <a:cs typeface="Times New Roman" panose="02020603050405020304" pitchFamily="18" charset="0"/>
                                      </a:rPr>
                                    </m:ctrlPr>
                                  </m:sSubSupPr>
                                  <m:e>
                                    <m:r>
                                      <a:rPr lang="en-IN" sz="2800" b="0" i="1" smtClean="0">
                                        <a:solidFill>
                                          <a:schemeClr val="tx1"/>
                                        </a:solidFill>
                                        <a:latin typeface="Cambria Math" panose="02040503050406030204" pitchFamily="18" charset="0"/>
                                        <a:cs typeface="Times New Roman" panose="02020603050405020304" pitchFamily="18" charset="0"/>
                                      </a:rPr>
                                      <m:t>𝜎</m:t>
                                    </m:r>
                                  </m:e>
                                  <m:sub>
                                    <m:r>
                                      <a:rPr lang="en-IN" sz="2800" b="0" i="1" smtClean="0">
                                        <a:solidFill>
                                          <a:schemeClr val="tx1"/>
                                        </a:solidFill>
                                        <a:latin typeface="Cambria Math" panose="02040503050406030204" pitchFamily="18" charset="0"/>
                                        <a:cs typeface="Times New Roman" panose="02020603050405020304" pitchFamily="18" charset="0"/>
                                      </a:rPr>
                                      <m:t>1</m:t>
                                    </m:r>
                                  </m:sub>
                                  <m:sup>
                                    <m:r>
                                      <a:rPr lang="en-IN" sz="2800" b="0" i="1" smtClean="0">
                                        <a:solidFill>
                                          <a:schemeClr val="tx1"/>
                                        </a:solidFill>
                                        <a:latin typeface="Cambria Math" panose="02040503050406030204" pitchFamily="18" charset="0"/>
                                        <a:cs typeface="Times New Roman" panose="02020603050405020304" pitchFamily="18" charset="0"/>
                                      </a:rPr>
                                      <m:t>2</m:t>
                                    </m:r>
                                  </m:sup>
                                </m:sSubSup>
                              </m:num>
                              <m:den>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𝑛</m:t>
                                    </m:r>
                                  </m:e>
                                  <m:sub>
                                    <m:r>
                                      <a:rPr lang="en-IN" sz="2800" b="0" i="1" smtClean="0">
                                        <a:solidFill>
                                          <a:schemeClr val="tx1"/>
                                        </a:solidFill>
                                        <a:latin typeface="Cambria Math" panose="02040503050406030204" pitchFamily="18" charset="0"/>
                                        <a:cs typeface="Times New Roman" panose="02020603050405020304" pitchFamily="18" charset="0"/>
                                      </a:rPr>
                                      <m:t>1</m:t>
                                    </m:r>
                                  </m:sub>
                                </m:sSub>
                              </m:den>
                            </m:f>
                            <m:r>
                              <a:rPr lang="en-IN" sz="2800" b="0" i="1" smtClean="0">
                                <a:solidFill>
                                  <a:schemeClr val="tx1"/>
                                </a:solidFill>
                                <a:latin typeface="Cambria Math" panose="02040503050406030204" pitchFamily="18" charset="0"/>
                                <a:cs typeface="Times New Roman" panose="02020603050405020304" pitchFamily="18" charset="0"/>
                              </a:rPr>
                              <m:t>+</m:t>
                            </m:r>
                            <m:f>
                              <m:fPr>
                                <m:ctrlPr>
                                  <a:rPr lang="en-IN" sz="2800" b="0" i="1" smtClean="0">
                                    <a:solidFill>
                                      <a:schemeClr val="tx1"/>
                                    </a:solidFill>
                                    <a:latin typeface="Cambria Math" panose="02040503050406030204" pitchFamily="18" charset="0"/>
                                    <a:cs typeface="Times New Roman" panose="02020603050405020304" pitchFamily="18" charset="0"/>
                                  </a:rPr>
                                </m:ctrlPr>
                              </m:fPr>
                              <m:num>
                                <m:sSubSup>
                                  <m:sSubSupPr>
                                    <m:ctrlPr>
                                      <a:rPr lang="en-IN" sz="2800" b="0" i="1" smtClean="0">
                                        <a:solidFill>
                                          <a:schemeClr val="tx1"/>
                                        </a:solidFill>
                                        <a:latin typeface="Cambria Math" panose="02040503050406030204" pitchFamily="18" charset="0"/>
                                        <a:cs typeface="Times New Roman" panose="02020603050405020304" pitchFamily="18" charset="0"/>
                                      </a:rPr>
                                    </m:ctrlPr>
                                  </m:sSubSupPr>
                                  <m:e>
                                    <m:r>
                                      <a:rPr lang="en-IN" sz="2800" b="0" i="1" smtClean="0">
                                        <a:solidFill>
                                          <a:schemeClr val="tx1"/>
                                        </a:solidFill>
                                        <a:latin typeface="Cambria Math" panose="02040503050406030204" pitchFamily="18" charset="0"/>
                                        <a:cs typeface="Times New Roman" panose="02020603050405020304" pitchFamily="18" charset="0"/>
                                      </a:rPr>
                                      <m:t>𝜎</m:t>
                                    </m:r>
                                  </m:e>
                                  <m:sub>
                                    <m:r>
                                      <a:rPr lang="en-IN" sz="2800" b="0" i="1" smtClean="0">
                                        <a:solidFill>
                                          <a:schemeClr val="tx1"/>
                                        </a:solidFill>
                                        <a:latin typeface="Cambria Math" panose="02040503050406030204" pitchFamily="18" charset="0"/>
                                        <a:cs typeface="Times New Roman" panose="02020603050405020304" pitchFamily="18" charset="0"/>
                                      </a:rPr>
                                      <m:t>2</m:t>
                                    </m:r>
                                  </m:sub>
                                  <m:sup>
                                    <m:r>
                                      <a:rPr lang="en-IN" sz="2800" b="0" i="1" smtClean="0">
                                        <a:solidFill>
                                          <a:schemeClr val="tx1"/>
                                        </a:solidFill>
                                        <a:latin typeface="Cambria Math" panose="02040503050406030204" pitchFamily="18" charset="0"/>
                                        <a:cs typeface="Times New Roman" panose="02020603050405020304" pitchFamily="18" charset="0"/>
                                      </a:rPr>
                                      <m:t>2</m:t>
                                    </m:r>
                                  </m:sup>
                                </m:sSubSup>
                              </m:num>
                              <m:den>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𝑛</m:t>
                                    </m:r>
                                  </m:e>
                                  <m:sub>
                                    <m:r>
                                      <a:rPr lang="en-IN" sz="2800" b="0" i="1" smtClean="0">
                                        <a:solidFill>
                                          <a:schemeClr val="tx1"/>
                                        </a:solidFill>
                                        <a:latin typeface="Cambria Math" panose="02040503050406030204" pitchFamily="18" charset="0"/>
                                        <a:cs typeface="Times New Roman" panose="02020603050405020304" pitchFamily="18" charset="0"/>
                                      </a:rPr>
                                      <m:t>2</m:t>
                                    </m:r>
                                  </m:sub>
                                </m:sSub>
                              </m:den>
                            </m:f>
                          </m:e>
                        </m:rad>
                      </m:den>
                    </m:f>
                  </m:oMath>
                </a14:m>
                <a:endParaRPr lang="en-IN" sz="2800" dirty="0">
                  <a:solidFill>
                    <a:schemeClr val="tx1"/>
                  </a:solidFill>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Denominator is the standard error of difference of sample mean i.e. </a:t>
                </a:r>
              </a:p>
              <a:p>
                <a:pPr algn="just"/>
                <a:r>
                  <a:rPr lang="en-IN" sz="2800" dirty="0">
                    <a:latin typeface="Times New Roman" panose="02020603050405020304" pitchFamily="18" charset="0"/>
                    <a:cs typeface="Times New Roman" panose="02020603050405020304" pitchFamily="18" charset="0"/>
                  </a:rPr>
                  <a:t>S.E. (</a:t>
                </a:r>
                <a14:m>
                  <m:oMath xmlns:m="http://schemas.openxmlformats.org/officeDocument/2006/math">
                    <m:acc>
                      <m:accPr>
                        <m:chr m:val="̅"/>
                        <m:ctrlPr>
                          <a:rPr lang="en-IN" sz="2800" b="0" i="1" smtClean="0">
                            <a:solidFill>
                              <a:schemeClr val="tx1"/>
                            </a:solidFill>
                            <a:latin typeface="Cambria Math" panose="02040503050406030204" pitchFamily="18" charset="0"/>
                            <a:cs typeface="Times New Roman" panose="02020603050405020304" pitchFamily="18" charset="0"/>
                          </a:rPr>
                        </m:ctrlPr>
                      </m:accPr>
                      <m:e>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𝑥</m:t>
                            </m:r>
                          </m:e>
                          <m:sub>
                            <m:r>
                              <a:rPr lang="en-IN" sz="2800" b="0" i="1" smtClean="0">
                                <a:solidFill>
                                  <a:schemeClr val="tx1"/>
                                </a:solidFill>
                                <a:latin typeface="Cambria Math" panose="02040503050406030204" pitchFamily="18" charset="0"/>
                                <a:cs typeface="Times New Roman" panose="02020603050405020304" pitchFamily="18" charset="0"/>
                              </a:rPr>
                              <m:t>1</m:t>
                            </m:r>
                          </m:sub>
                        </m:sSub>
                      </m:e>
                    </m:acc>
                    <m:r>
                      <a:rPr lang="en-IN" sz="2800" b="0" i="1" smtClean="0">
                        <a:solidFill>
                          <a:schemeClr val="tx1"/>
                        </a:solidFill>
                        <a:latin typeface="Cambria Math" panose="02040503050406030204" pitchFamily="18" charset="0"/>
                        <a:cs typeface="Times New Roman" panose="02020603050405020304" pitchFamily="18" charset="0"/>
                      </a:rPr>
                      <m:t>−</m:t>
                    </m:r>
                    <m:acc>
                      <m:accPr>
                        <m:chr m:val="̅"/>
                        <m:ctrlPr>
                          <a:rPr lang="en-IN" sz="2800" b="0" i="1" smtClean="0">
                            <a:solidFill>
                              <a:schemeClr val="tx1"/>
                            </a:solidFill>
                            <a:latin typeface="Cambria Math" panose="02040503050406030204" pitchFamily="18" charset="0"/>
                            <a:cs typeface="Times New Roman" panose="02020603050405020304" pitchFamily="18" charset="0"/>
                          </a:rPr>
                        </m:ctrlPr>
                      </m:accPr>
                      <m:e>
                        <m:sSub>
                          <m:sSubPr>
                            <m:ctrlPr>
                              <a:rPr lang="en-IN" sz="2800" b="0" i="1" smtClean="0">
                                <a:solidFill>
                                  <a:schemeClr val="tx1"/>
                                </a:solidFill>
                                <a:latin typeface="Cambria Math" panose="02040503050406030204" pitchFamily="18" charset="0"/>
                                <a:cs typeface="Times New Roman" panose="02020603050405020304" pitchFamily="18" charset="0"/>
                              </a:rPr>
                            </m:ctrlPr>
                          </m:sSubPr>
                          <m:e>
                            <m:r>
                              <a:rPr lang="en-IN" sz="2800" b="0" i="1" smtClean="0">
                                <a:solidFill>
                                  <a:schemeClr val="tx1"/>
                                </a:solidFill>
                                <a:latin typeface="Cambria Math" panose="02040503050406030204" pitchFamily="18" charset="0"/>
                                <a:cs typeface="Times New Roman" panose="02020603050405020304" pitchFamily="18" charset="0"/>
                              </a:rPr>
                              <m:t>𝑥</m:t>
                            </m:r>
                          </m:e>
                          <m:sub>
                            <m:r>
                              <a:rPr lang="en-IN" sz="2800" b="0" i="1" smtClean="0">
                                <a:solidFill>
                                  <a:schemeClr val="tx1"/>
                                </a:solidFill>
                                <a:latin typeface="Cambria Math" panose="02040503050406030204" pitchFamily="18" charset="0"/>
                                <a:cs typeface="Times New Roman" panose="02020603050405020304" pitchFamily="18" charset="0"/>
                              </a:rPr>
                              <m:t>2</m:t>
                            </m:r>
                          </m:sub>
                        </m:sSub>
                      </m:e>
                    </m:acc>
                  </m:oMath>
                </a14:m>
                <a:r>
                  <a:rPr lang="en-IN" sz="2800" dirty="0">
                    <a:latin typeface="Times New Roman" panose="02020603050405020304" pitchFamily="18" charset="0"/>
                    <a:cs typeface="Times New Roman" panose="02020603050405020304" pitchFamily="18" charset="0"/>
                  </a:rPr>
                  <a:t>)</a:t>
                </a:r>
                <a:r>
                  <a:rPr lang="en-IN" sz="2800" dirty="0">
                    <a:solidFill>
                      <a:schemeClr val="tx1"/>
                    </a:solidFill>
                    <a:latin typeface="Times New Roman" panose="02020603050405020304" pitchFamily="18" charset="0"/>
                    <a:cs typeface="Times New Roman" panose="02020603050405020304" pitchFamily="18" charset="0"/>
                  </a:rPr>
                  <a:t>  </a:t>
                </a:r>
              </a:p>
              <a:p>
                <a:pPr algn="just"/>
                <a:r>
                  <a:rPr lang="en-IN" sz="2800" b="1" dirty="0">
                    <a:latin typeface="Times New Roman" panose="02020603050405020304" pitchFamily="18" charset="0"/>
                    <a:cs typeface="Times New Roman" panose="02020603050405020304" pitchFamily="18" charset="0"/>
                  </a:rPr>
                  <a:t>Step-4: </a:t>
                </a:r>
                <a:r>
                  <a:rPr lang="en-IN" sz="2800" dirty="0">
                    <a:latin typeface="Times New Roman" panose="02020603050405020304" pitchFamily="18" charset="0"/>
                    <a:cs typeface="Times New Roman" panose="02020603050405020304" pitchFamily="18" charset="0"/>
                  </a:rPr>
                  <a:t>Table value of z at </a:t>
                </a:r>
                <a:r>
                  <a:rPr lang="en-IN" sz="2800" dirty="0">
                    <a:latin typeface="Times New Roman" panose="02020603050405020304" pitchFamily="18" charset="0"/>
                    <a:ea typeface="Calibri" panose="020F0502020204030204" pitchFamily="34" charset="0"/>
                    <a:cs typeface="Times New Roman" panose="02020603050405020304" pitchFamily="18" charset="0"/>
                  </a:rPr>
                  <a:t>α % level of significance.</a:t>
                </a:r>
              </a:p>
              <a:p>
                <a:pPr algn="just"/>
                <a:r>
                  <a:rPr lang="en-IN"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Step-5: </a:t>
                </a:r>
                <a: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800" dirty="0">
                    <a:solidFill>
                      <a:schemeClr val="tx1"/>
                    </a:solidFill>
                    <a:latin typeface="Times New Roman" panose="02020603050405020304" pitchFamily="18" charset="0"/>
                    <a:cs typeface="Times New Roman" panose="02020603050405020304" pitchFamily="18" charset="0"/>
                  </a:rPr>
                  <a:t> table value, H0 is Accepted.</a:t>
                </a:r>
              </a:p>
              <a:p>
                <a:pPr algn="just"/>
                <a: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&gt;</m:t>
                    </m:r>
                    <m:r>
                      <a:rPr lang="en-IN" sz="28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800" dirty="0">
                    <a:solidFill>
                      <a:schemeClr val="tx1"/>
                    </a:solidFill>
                    <a:latin typeface="Times New Roman" panose="02020603050405020304" pitchFamily="18" charset="0"/>
                    <a:cs typeface="Times New Roman" panose="02020603050405020304" pitchFamily="18" charset="0"/>
                  </a:rPr>
                  <a:t> table value, H0 is Rejected.                  </a:t>
                </a:r>
              </a:p>
            </p:txBody>
          </p:sp>
        </mc:Choice>
        <mc:Fallback>
          <p:sp>
            <p:nvSpPr>
              <p:cNvPr id="11" name="TextBox 10">
                <a:extLst>
                  <a:ext uri="{FF2B5EF4-FFF2-40B4-BE49-F238E27FC236}">
                    <a16:creationId xmlns:a16="http://schemas.microsoft.com/office/drawing/2014/main" id="{10A1F011-CC4B-1AE7-9AD4-D15077CB881D}"/>
                  </a:ext>
                </a:extLst>
              </p:cNvPr>
              <p:cNvSpPr txBox="1">
                <a:spLocks noRot="1" noChangeAspect="1" noMove="1" noResize="1" noEditPoints="1" noAdjustHandles="1" noChangeArrowheads="1" noChangeShapeType="1" noTextEdit="1"/>
              </p:cNvSpPr>
              <p:nvPr/>
            </p:nvSpPr>
            <p:spPr>
              <a:xfrm>
                <a:off x="205740" y="1651037"/>
                <a:ext cx="11780520" cy="4388574"/>
              </a:xfrm>
              <a:prstGeom prst="rect">
                <a:avLst/>
              </a:prstGeom>
              <a:blipFill>
                <a:blip r:embed="rId5"/>
                <a:stretch>
                  <a:fillRect l="-1087" t="-1528" b="-2917"/>
                </a:stretch>
              </a:blipFill>
            </p:spPr>
            <p:txBody>
              <a:bodyPr/>
              <a:lstStyle/>
              <a:p>
                <a:r>
                  <a:rPr lang="en-IN">
                    <a:noFill/>
                  </a:rPr>
                  <a:t> </a:t>
                </a:r>
              </a:p>
            </p:txBody>
          </p:sp>
        </mc:Fallback>
      </mc:AlternateContent>
    </p:spTree>
    <p:extLst>
      <p:ext uri="{BB962C8B-B14F-4D97-AF65-F5344CB8AC3E}">
        <p14:creationId xmlns:p14="http://schemas.microsoft.com/office/powerpoint/2010/main" val="1282544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Case Study 1</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274320" y="887888"/>
            <a:ext cx="11460480" cy="5571975"/>
          </a:xfrm>
          <a:prstGeom prst="rect">
            <a:avLst/>
          </a:prstGeom>
          <a:noFill/>
        </p:spPr>
        <p:txBody>
          <a:bodyPr wrap="square">
            <a:spAutoFit/>
          </a:bodyPr>
          <a:lstStyle/>
          <a:p>
            <a:pPr algn="just">
              <a:lnSpc>
                <a:spcPct val="200000"/>
              </a:lnSpc>
            </a:pPr>
            <a:r>
              <a:rPr lang="en-US" sz="2600" dirty="0">
                <a:latin typeface="Times New Roman" panose="02020603050405020304" pitchFamily="18" charset="0"/>
                <a:cs typeface="Times New Roman" panose="02020603050405020304" pitchFamily="18" charset="0"/>
              </a:rPr>
              <a:t>A nutritionist is interested in whether two proposed diets, Diet A and Diet B work equally well in providing weight-loss for customers.</a:t>
            </a:r>
          </a:p>
          <a:p>
            <a:pPr algn="just">
              <a:lnSpc>
                <a:spcPct val="200000"/>
              </a:lnSpc>
            </a:pPr>
            <a:r>
              <a:rPr lang="en-US" sz="2600" dirty="0">
                <a:latin typeface="Times New Roman" panose="02020603050405020304" pitchFamily="18" charset="0"/>
                <a:cs typeface="Times New Roman" panose="02020603050405020304" pitchFamily="18" charset="0"/>
              </a:rPr>
              <a:t>In order to assess a difference between the two diets, she puts 50 customers on Diet A and 60 other customers on the diet B for two weeks. Those on the former had weight losses with an average of 11 pounds and a standard deviation pf 3 pounds, while those on the latter lost an average of 8 pounds with a standard deviation of 2 pounds. Do the diets differ in terms of their weight loss?</a:t>
            </a:r>
          </a:p>
        </p:txBody>
      </p:sp>
    </p:spTree>
    <p:extLst>
      <p:ext uri="{BB962C8B-B14F-4D97-AF65-F5344CB8AC3E}">
        <p14:creationId xmlns:p14="http://schemas.microsoft.com/office/powerpoint/2010/main" val="1105757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Case Study 2</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20</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274320" y="887888"/>
            <a:ext cx="11460480" cy="3971536"/>
          </a:xfrm>
          <a:prstGeom prst="rect">
            <a:avLst/>
          </a:prstGeom>
          <a:noFill/>
        </p:spPr>
        <p:txBody>
          <a:bodyPr wrap="square">
            <a:spAutoFit/>
          </a:bodyPr>
          <a:lstStyle/>
          <a:p>
            <a:pPr algn="just">
              <a:lnSpc>
                <a:spcPct val="200000"/>
              </a:lnSpc>
            </a:pPr>
            <a:r>
              <a:rPr lang="en-US" sz="2600" dirty="0">
                <a:latin typeface="Times New Roman" panose="02020603050405020304" pitchFamily="18" charset="0"/>
                <a:cs typeface="Times New Roman" panose="02020603050405020304" pitchFamily="18" charset="0"/>
              </a:rPr>
              <a:t>To compare customer satisfaction levels of two competing cable television companies, 174 customers of company 1 and 355 customers of company 2 were randomly selected and were asked to rate their cable companies on a five-point scale, with 1 being least satisfied and 5 most satisfied. The survey results are summarized in the following table: </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3EFC1A4F-FEB6-8102-0C90-3B7A799C9BD5}"/>
                  </a:ext>
                </a:extLst>
              </p:cNvPr>
              <p:cNvGraphicFramePr>
                <a:graphicFrameLocks noGrp="1"/>
              </p:cNvGraphicFramePr>
              <p:nvPr>
                <p:extLst>
                  <p:ext uri="{D42A27DB-BD31-4B8C-83A1-F6EECF244321}">
                    <p14:modId xmlns:p14="http://schemas.microsoft.com/office/powerpoint/2010/main" val="2953849310"/>
                  </p:ext>
                </p:extLst>
              </p:nvPr>
            </p:nvGraphicFramePr>
            <p:xfrm>
              <a:off x="502920" y="5098626"/>
              <a:ext cx="3032760" cy="1483360"/>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615741139"/>
                        </a:ext>
                      </a:extLst>
                    </a:gridCol>
                    <a:gridCol w="1516380">
                      <a:extLst>
                        <a:ext uri="{9D8B030D-6E8A-4147-A177-3AD203B41FA5}">
                          <a16:colId xmlns:a16="http://schemas.microsoft.com/office/drawing/2014/main" val="3843867923"/>
                        </a:ext>
                      </a:extLst>
                    </a:gridCol>
                  </a:tblGrid>
                  <a:tr h="370840">
                    <a:tc>
                      <a:txBody>
                        <a:bodyPr/>
                        <a:lstStyle/>
                        <a:p>
                          <a:r>
                            <a:rPr lang="en-IN" dirty="0"/>
                            <a:t>Company 1</a:t>
                          </a:r>
                        </a:p>
                      </a:txBody>
                      <a:tcPr/>
                    </a:tc>
                    <a:tc>
                      <a:txBody>
                        <a:bodyPr/>
                        <a:lstStyle/>
                        <a:p>
                          <a:r>
                            <a:rPr lang="en-IN" dirty="0"/>
                            <a:t>Company 2</a:t>
                          </a:r>
                        </a:p>
                      </a:txBody>
                      <a:tcPr/>
                    </a:tc>
                    <a:extLst>
                      <a:ext uri="{0D108BD9-81ED-4DB2-BD59-A6C34878D82A}">
                        <a16:rowId xmlns:a16="http://schemas.microsoft.com/office/drawing/2014/main" val="252696337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dirty="0" smtClean="0">
                                        <a:latin typeface="Cambria Math" panose="02040503050406030204" pitchFamily="18" charset="0"/>
                                      </a:rPr>
                                    </m:ctrlPr>
                                  </m:sSubPr>
                                  <m:e>
                                    <m:r>
                                      <a:rPr lang="en-IN" i="1" dirty="0" smtClean="0">
                                        <a:latin typeface="Cambria Math" panose="02040503050406030204" pitchFamily="18" charset="0"/>
                                      </a:rPr>
                                      <m:t>𝑛</m:t>
                                    </m:r>
                                  </m:e>
                                  <m:sub>
                                    <m:r>
                                      <a:rPr lang="en-IN" i="1" dirty="0" smtClean="0">
                                        <a:latin typeface="Cambria Math" panose="02040503050406030204" pitchFamily="18" charset="0"/>
                                      </a:rPr>
                                      <m:t>1</m:t>
                                    </m:r>
                                  </m:sub>
                                </m:sSub>
                                <m:r>
                                  <a:rPr lang="en-IN" i="1" dirty="0" smtClean="0">
                                    <a:latin typeface="Cambria Math" panose="02040503050406030204" pitchFamily="18" charset="0"/>
                                  </a:rPr>
                                  <m:t>=174</m:t>
                                </m:r>
                              </m:oMath>
                            </m:oMathPara>
                          </a14:m>
                          <a:endParaRPr lang="en-IN" dirty="0"/>
                        </a:p>
                      </a:txBody>
                      <a:tcPr/>
                    </a:tc>
                    <a:tc>
                      <a:txBody>
                        <a:bodyPr/>
                        <a:lstStyle/>
                        <a:p>
                          <a14:m>
                            <m:oMathPara xmlns:m="http://schemas.openxmlformats.org/officeDocument/2006/math">
                              <m:oMathParaPr>
                                <m:jc m:val="centerGroup"/>
                              </m:oMathParaPr>
                              <m:oMath xmlns:m="http://schemas.openxmlformats.org/officeDocument/2006/math">
                                <m:sSub>
                                  <m:sSubPr>
                                    <m:ctrlPr>
                                      <a:rPr lang="en-IN" i="1" dirty="0" smtClean="0">
                                        <a:latin typeface="Cambria Math" panose="02040503050406030204" pitchFamily="18" charset="0"/>
                                      </a:rPr>
                                    </m:ctrlPr>
                                  </m:sSubPr>
                                  <m:e>
                                    <m:r>
                                      <a:rPr lang="en-IN" i="1" dirty="0" smtClean="0">
                                        <a:latin typeface="Cambria Math" panose="02040503050406030204" pitchFamily="18" charset="0"/>
                                      </a:rPr>
                                      <m:t>𝑛</m:t>
                                    </m:r>
                                  </m:e>
                                  <m:sub>
                                    <m:r>
                                      <a:rPr lang="en-IN" i="1" dirty="0" smtClean="0">
                                        <a:latin typeface="Cambria Math" panose="02040503050406030204" pitchFamily="18" charset="0"/>
                                      </a:rPr>
                                      <m:t>2</m:t>
                                    </m:r>
                                  </m:sub>
                                </m:sSub>
                                <m:r>
                                  <a:rPr lang="en-IN" i="1" dirty="0" smtClean="0">
                                    <a:latin typeface="Cambria Math" panose="02040503050406030204" pitchFamily="18" charset="0"/>
                                  </a:rPr>
                                  <m:t>=355</m:t>
                                </m:r>
                              </m:oMath>
                            </m:oMathPara>
                          </a14:m>
                          <a:endParaRPr lang="en-IN" dirty="0"/>
                        </a:p>
                      </a:txBody>
                      <a:tcPr/>
                    </a:tc>
                    <a:extLst>
                      <a:ext uri="{0D108BD9-81ED-4DB2-BD59-A6C34878D82A}">
                        <a16:rowId xmlns:a16="http://schemas.microsoft.com/office/drawing/2014/main" val="1427322630"/>
                      </a:ext>
                    </a:extLst>
                  </a:tr>
                  <a:tr h="370840">
                    <a:tc>
                      <a:txBody>
                        <a:bodyPr/>
                        <a:lstStyle/>
                        <a:p>
                          <a:pPr/>
                          <a14:m>
                            <m:oMathPara xmlns:m="http://schemas.openxmlformats.org/officeDocument/2006/math">
                              <m:oMathParaPr>
                                <m:jc m:val="centerGroup"/>
                              </m:oMathParaPr>
                              <m:oMath xmlns:m="http://schemas.openxmlformats.org/officeDocument/2006/math">
                                <m:acc>
                                  <m:accPr>
                                    <m:chr m:val="̅"/>
                                    <m:ctrlPr>
                                      <a:rPr lang="en-IN" b="0" i="1" smtClean="0">
                                        <a:latin typeface="Cambria Math" panose="02040503050406030204" pitchFamily="18" charset="0"/>
                                      </a:rPr>
                                    </m:ctrlPr>
                                  </m:acc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acc>
                                <m:r>
                                  <a:rPr lang="en-IN" b="0" i="1" smtClean="0">
                                    <a:latin typeface="Cambria Math" panose="02040503050406030204" pitchFamily="18" charset="0"/>
                                  </a:rPr>
                                  <m:t>=3.51</m:t>
                                </m:r>
                              </m:oMath>
                            </m:oMathPara>
                          </a14:m>
                          <a:endParaRPr lang="en-IN" dirty="0"/>
                        </a:p>
                      </a:txBody>
                      <a:tcPr/>
                    </a:tc>
                    <a:tc>
                      <a:txBody>
                        <a:bodyPr/>
                        <a:lstStyle/>
                        <a:p>
                          <a14:m>
                            <m:oMathPara xmlns:m="http://schemas.openxmlformats.org/officeDocument/2006/math">
                              <m:oMathParaPr>
                                <m:jc m:val="centerGroup"/>
                              </m:oMathParaPr>
                              <m:oMath xmlns:m="http://schemas.openxmlformats.org/officeDocument/2006/math">
                                <m:acc>
                                  <m:accPr>
                                    <m:chr m:val="̅"/>
                                    <m:ctrlPr>
                                      <a:rPr lang="en-IN" b="0" i="1" smtClean="0">
                                        <a:latin typeface="Cambria Math" panose="02040503050406030204" pitchFamily="18" charset="0"/>
                                      </a:rPr>
                                    </m:ctrlPr>
                                  </m:acc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acc>
                                <m:r>
                                  <a:rPr lang="en-IN" b="0" i="1" smtClean="0">
                                    <a:latin typeface="Cambria Math" panose="02040503050406030204" pitchFamily="18" charset="0"/>
                                  </a:rPr>
                                  <m:t>=3.24</m:t>
                                </m:r>
                              </m:oMath>
                            </m:oMathPara>
                          </a14:m>
                          <a:endParaRPr lang="en-IN" dirty="0"/>
                        </a:p>
                      </a:txBody>
                      <a:tcPr/>
                    </a:tc>
                    <a:extLst>
                      <a:ext uri="{0D108BD9-81ED-4DB2-BD59-A6C34878D82A}">
                        <a16:rowId xmlns:a16="http://schemas.microsoft.com/office/drawing/2014/main" val="408687972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1</m:t>
                                    </m:r>
                                  </m:sub>
                                </m:sSub>
                                <m:r>
                                  <a:rPr lang="en-IN" b="0" i="1" smtClean="0">
                                    <a:latin typeface="Cambria Math" panose="02040503050406030204" pitchFamily="18" charset="0"/>
                                  </a:rPr>
                                  <m:t>=0.51</m:t>
                                </m:r>
                              </m:oMath>
                            </m:oMathPara>
                          </a14:m>
                          <a:endParaRPr lang="en-IN" dirty="0"/>
                        </a:p>
                      </a:txBody>
                      <a:tcPr/>
                    </a:tc>
                    <a:tc>
                      <a:txBody>
                        <a:bodyPr/>
                        <a:lstStyle/>
                        <a:p>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2</m:t>
                                    </m:r>
                                  </m:sub>
                                </m:sSub>
                                <m:r>
                                  <a:rPr lang="en-IN" b="0" i="1" smtClean="0">
                                    <a:latin typeface="Cambria Math" panose="02040503050406030204" pitchFamily="18" charset="0"/>
                                  </a:rPr>
                                  <m:t>=0.52</m:t>
                                </m:r>
                              </m:oMath>
                            </m:oMathPara>
                          </a14:m>
                          <a:endParaRPr lang="en-IN" dirty="0"/>
                        </a:p>
                      </a:txBody>
                      <a:tcPr/>
                    </a:tc>
                    <a:extLst>
                      <a:ext uri="{0D108BD9-81ED-4DB2-BD59-A6C34878D82A}">
                        <a16:rowId xmlns:a16="http://schemas.microsoft.com/office/drawing/2014/main" val="3415826221"/>
                      </a:ext>
                    </a:extLst>
                  </a:tr>
                </a:tbl>
              </a:graphicData>
            </a:graphic>
          </p:graphicFrame>
        </mc:Choice>
        <mc:Fallback>
          <p:graphicFrame>
            <p:nvGraphicFramePr>
              <p:cNvPr id="3" name="Table 2">
                <a:extLst>
                  <a:ext uri="{FF2B5EF4-FFF2-40B4-BE49-F238E27FC236}">
                    <a16:creationId xmlns:a16="http://schemas.microsoft.com/office/drawing/2014/main" id="{3EFC1A4F-FEB6-8102-0C90-3B7A799C9BD5}"/>
                  </a:ext>
                </a:extLst>
              </p:cNvPr>
              <p:cNvGraphicFramePr>
                <a:graphicFrameLocks noGrp="1"/>
              </p:cNvGraphicFramePr>
              <p:nvPr>
                <p:extLst>
                  <p:ext uri="{D42A27DB-BD31-4B8C-83A1-F6EECF244321}">
                    <p14:modId xmlns:p14="http://schemas.microsoft.com/office/powerpoint/2010/main" val="2953849310"/>
                  </p:ext>
                </p:extLst>
              </p:nvPr>
            </p:nvGraphicFramePr>
            <p:xfrm>
              <a:off x="502920" y="5098626"/>
              <a:ext cx="3032760" cy="1483360"/>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615741139"/>
                        </a:ext>
                      </a:extLst>
                    </a:gridCol>
                    <a:gridCol w="1516380">
                      <a:extLst>
                        <a:ext uri="{9D8B030D-6E8A-4147-A177-3AD203B41FA5}">
                          <a16:colId xmlns:a16="http://schemas.microsoft.com/office/drawing/2014/main" val="3843867923"/>
                        </a:ext>
                      </a:extLst>
                    </a:gridCol>
                  </a:tblGrid>
                  <a:tr h="370840">
                    <a:tc>
                      <a:txBody>
                        <a:bodyPr/>
                        <a:lstStyle/>
                        <a:p>
                          <a:r>
                            <a:rPr lang="en-IN" dirty="0"/>
                            <a:t>Company 1</a:t>
                          </a:r>
                        </a:p>
                      </a:txBody>
                      <a:tcPr/>
                    </a:tc>
                    <a:tc>
                      <a:txBody>
                        <a:bodyPr/>
                        <a:lstStyle/>
                        <a:p>
                          <a:r>
                            <a:rPr lang="en-IN" dirty="0"/>
                            <a:t>Company 2</a:t>
                          </a:r>
                        </a:p>
                      </a:txBody>
                      <a:tcPr/>
                    </a:tc>
                    <a:extLst>
                      <a:ext uri="{0D108BD9-81ED-4DB2-BD59-A6C34878D82A}">
                        <a16:rowId xmlns:a16="http://schemas.microsoft.com/office/drawing/2014/main" val="2526963375"/>
                      </a:ext>
                    </a:extLst>
                  </a:tr>
                  <a:tr h="370840">
                    <a:tc>
                      <a:txBody>
                        <a:bodyPr/>
                        <a:lstStyle/>
                        <a:p>
                          <a:endParaRPr lang="en-US"/>
                        </a:p>
                      </a:txBody>
                      <a:tcPr>
                        <a:blipFill>
                          <a:blip r:embed="rId5"/>
                          <a:stretch>
                            <a:fillRect l="-402" t="-108197" r="-102008" b="-203279"/>
                          </a:stretch>
                        </a:blipFill>
                      </a:tcPr>
                    </a:tc>
                    <a:tc>
                      <a:txBody>
                        <a:bodyPr/>
                        <a:lstStyle/>
                        <a:p>
                          <a:endParaRPr lang="en-US"/>
                        </a:p>
                      </a:txBody>
                      <a:tcPr>
                        <a:blipFill>
                          <a:blip r:embed="rId5"/>
                          <a:stretch>
                            <a:fillRect l="-100402" t="-108197" r="-2008" b="-203279"/>
                          </a:stretch>
                        </a:blipFill>
                      </a:tcPr>
                    </a:tc>
                    <a:extLst>
                      <a:ext uri="{0D108BD9-81ED-4DB2-BD59-A6C34878D82A}">
                        <a16:rowId xmlns:a16="http://schemas.microsoft.com/office/drawing/2014/main" val="1427322630"/>
                      </a:ext>
                    </a:extLst>
                  </a:tr>
                  <a:tr h="370840">
                    <a:tc>
                      <a:txBody>
                        <a:bodyPr/>
                        <a:lstStyle/>
                        <a:p>
                          <a:endParaRPr lang="en-US"/>
                        </a:p>
                      </a:txBody>
                      <a:tcPr>
                        <a:blipFill>
                          <a:blip r:embed="rId5"/>
                          <a:stretch>
                            <a:fillRect l="-402" t="-208197" r="-102008" b="-103279"/>
                          </a:stretch>
                        </a:blipFill>
                      </a:tcPr>
                    </a:tc>
                    <a:tc>
                      <a:txBody>
                        <a:bodyPr/>
                        <a:lstStyle/>
                        <a:p>
                          <a:endParaRPr lang="en-US"/>
                        </a:p>
                      </a:txBody>
                      <a:tcPr>
                        <a:blipFill>
                          <a:blip r:embed="rId5"/>
                          <a:stretch>
                            <a:fillRect l="-100402" t="-208197" r="-2008" b="-103279"/>
                          </a:stretch>
                        </a:blipFill>
                      </a:tcPr>
                    </a:tc>
                    <a:extLst>
                      <a:ext uri="{0D108BD9-81ED-4DB2-BD59-A6C34878D82A}">
                        <a16:rowId xmlns:a16="http://schemas.microsoft.com/office/drawing/2014/main" val="4086879724"/>
                      </a:ext>
                    </a:extLst>
                  </a:tr>
                  <a:tr h="370840">
                    <a:tc>
                      <a:txBody>
                        <a:bodyPr/>
                        <a:lstStyle/>
                        <a:p>
                          <a:endParaRPr lang="en-US"/>
                        </a:p>
                      </a:txBody>
                      <a:tcPr>
                        <a:blipFill>
                          <a:blip r:embed="rId5"/>
                          <a:stretch>
                            <a:fillRect l="-402" t="-308197" r="-102008" b="-3279"/>
                          </a:stretch>
                        </a:blipFill>
                      </a:tcPr>
                    </a:tc>
                    <a:tc>
                      <a:txBody>
                        <a:bodyPr/>
                        <a:lstStyle/>
                        <a:p>
                          <a:endParaRPr lang="en-US"/>
                        </a:p>
                      </a:txBody>
                      <a:tcPr>
                        <a:blipFill>
                          <a:blip r:embed="rId5"/>
                          <a:stretch>
                            <a:fillRect l="-100402" t="-308197" r="-2008" b="-3279"/>
                          </a:stretch>
                        </a:blipFill>
                      </a:tcPr>
                    </a:tc>
                    <a:extLst>
                      <a:ext uri="{0D108BD9-81ED-4DB2-BD59-A6C34878D82A}">
                        <a16:rowId xmlns:a16="http://schemas.microsoft.com/office/drawing/2014/main" val="3415826221"/>
                      </a:ext>
                    </a:extLst>
                  </a:tr>
                </a:tbl>
              </a:graphicData>
            </a:graphic>
          </p:graphicFrame>
        </mc:Fallback>
      </mc:AlternateContent>
      <p:sp>
        <p:nvSpPr>
          <p:cNvPr id="10" name="TextBox 9">
            <a:extLst>
              <a:ext uri="{FF2B5EF4-FFF2-40B4-BE49-F238E27FC236}">
                <a16:creationId xmlns:a16="http://schemas.microsoft.com/office/drawing/2014/main" id="{B5E32EDF-9022-9C34-3907-524A54CCD8CE}"/>
              </a:ext>
            </a:extLst>
          </p:cNvPr>
          <p:cNvSpPr txBox="1"/>
          <p:nvPr/>
        </p:nvSpPr>
        <p:spPr>
          <a:xfrm>
            <a:off x="3916680" y="4244139"/>
            <a:ext cx="7665720" cy="1687963"/>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Test at the 1% level of significance whether the data provide sufficient evidence to conclude that company 1 has a higher mean satisfaction rating than does company 2.</a:t>
            </a:r>
          </a:p>
        </p:txBody>
      </p:sp>
    </p:spTree>
    <p:extLst>
      <p:ext uri="{BB962C8B-B14F-4D97-AF65-F5344CB8AC3E}">
        <p14:creationId xmlns:p14="http://schemas.microsoft.com/office/powerpoint/2010/main" val="1093280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Autofit/>
          </a:bodyPr>
          <a:lstStyle/>
          <a:p>
            <a:r>
              <a:rPr lang="en-US" sz="3000" b="1" dirty="0">
                <a:solidFill>
                  <a:srgbClr val="FF0000"/>
                </a:solidFill>
                <a:latin typeface="Times New Roman" panose="02020603050405020304" pitchFamily="18" charset="0"/>
                <a:cs typeface="Times New Roman" panose="02020603050405020304" pitchFamily="18" charset="0"/>
              </a:rPr>
              <a:t>Test 3: Test of significance of difference between two standard deviations</a:t>
            </a: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0A1F011-CC4B-1AE7-9AD4-D15077CB881D}"/>
                  </a:ext>
                </a:extLst>
              </p:cNvPr>
              <p:cNvSpPr txBox="1"/>
              <p:nvPr/>
            </p:nvSpPr>
            <p:spPr>
              <a:xfrm>
                <a:off x="993912" y="1543868"/>
                <a:ext cx="10048461" cy="4144340"/>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Null Hypothesis H0: </a:t>
                </a:r>
                <a14:m>
                  <m:oMath xmlns:m="http://schemas.openxmlformats.org/officeDocument/2006/math">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𝜎</m:t>
                        </m:r>
                      </m:e>
                      <m:sub>
                        <m:r>
                          <a:rPr lang="en-IN" sz="2400" b="0" i="1" smtClean="0">
                            <a:solidFill>
                              <a:schemeClr val="tx1"/>
                            </a:solidFill>
                            <a:latin typeface="Cambria Math" panose="02040503050406030204" pitchFamily="18" charset="0"/>
                          </a:rPr>
                          <m:t>1</m:t>
                        </m:r>
                      </m:sub>
                    </m:sSub>
                    <m:r>
                      <a:rPr lang="en-IN" sz="2400" b="0" i="1" smtClean="0">
                        <a:solidFill>
                          <a:schemeClr val="tx1"/>
                        </a:solidFill>
                        <a:latin typeface="Cambria Math" panose="02040503050406030204" pitchFamily="18" charset="0"/>
                      </a:rPr>
                      <m:t>=</m:t>
                    </m:r>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𝜎</m:t>
                        </m:r>
                      </m:e>
                      <m:sub>
                        <m:r>
                          <a:rPr lang="en-IN" sz="2400" b="0" i="1" smtClean="0">
                            <a:solidFill>
                              <a:schemeClr val="tx1"/>
                            </a:solidFill>
                            <a:latin typeface="Cambria Math" panose="02040503050406030204" pitchFamily="18" charset="0"/>
                          </a:rPr>
                          <m:t>2</m:t>
                        </m:r>
                      </m:sub>
                    </m:sSub>
                  </m:oMath>
                </a14:m>
                <a:endParaRPr lang="en-IN" sz="2400" b="0" dirty="0">
                  <a:solidFill>
                    <a:schemeClr val="tx1"/>
                  </a:solidFill>
                  <a:latin typeface="Times New Roman" panose="02020603050405020304" pitchFamily="18" charset="0"/>
                </a:endParaRPr>
              </a:p>
              <a:p>
                <a:pPr algn="just"/>
                <a:r>
                  <a:rPr lang="en-IN" sz="2400" b="1" dirty="0">
                    <a:solidFill>
                      <a:schemeClr val="tx1"/>
                    </a:solidFill>
                    <a:latin typeface="Times New Roman" panose="02020603050405020304" pitchFamily="18" charset="0"/>
                    <a:cs typeface="Times New Roman" panose="02020603050405020304" pitchFamily="18" charset="0"/>
                  </a:rPr>
                  <a:t>Step-2: </a:t>
                </a:r>
                <a:r>
                  <a:rPr lang="en-IN" sz="2400" dirty="0">
                    <a:solidFill>
                      <a:schemeClr val="tx1"/>
                    </a:solidFill>
                    <a:latin typeface="Times New Roman" panose="02020603050405020304" pitchFamily="18" charset="0"/>
                    <a:cs typeface="Times New Roman" panose="02020603050405020304" pitchFamily="18" charset="0"/>
                  </a:rPr>
                  <a:t>Alternative Hypothesis H1:</a:t>
                </a:r>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𝜎</m:t>
                        </m:r>
                      </m:e>
                      <m:sub>
                        <m:r>
                          <a:rPr lang="en-IN" sz="2400" i="1">
                            <a:latin typeface="Cambria Math" panose="02040503050406030204" pitchFamily="18" charset="0"/>
                          </a:rPr>
                          <m:t>1</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𝜎</m:t>
                        </m:r>
                      </m:e>
                      <m:sub>
                        <m:r>
                          <a:rPr lang="en-IN" sz="2400" i="1">
                            <a:latin typeface="Cambria Math" panose="02040503050406030204" pitchFamily="18" charset="0"/>
                          </a:rPr>
                          <m:t>2</m:t>
                        </m:r>
                      </m:sub>
                    </m:sSub>
                    <m:r>
                      <a:rPr lang="en-IN" sz="2400" i="1">
                        <a:latin typeface="Cambria Math" panose="02040503050406030204" pitchFamily="18" charset="0"/>
                      </a:rPr>
                      <m:t> </m:t>
                    </m:r>
                    <m:r>
                      <a:rPr lang="en-IN" sz="2400" i="1">
                        <a:latin typeface="Cambria Math" panose="02040503050406030204" pitchFamily="18" charset="0"/>
                      </a:rPr>
                      <m:t>𝑜𝑟</m:t>
                    </m:r>
                    <m:r>
                      <a:rPr lang="en-IN" sz="2400" b="0" i="1" smtClean="0">
                        <a:latin typeface="Cambria Math" panose="02040503050406030204" pitchFamily="18" charset="0"/>
                      </a:rPr>
                      <m:t> </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𝜎</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&gt;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𝜎</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 </m:t>
                    </m:r>
                    <m:r>
                      <a:rPr lang="en-IN" sz="2400" b="0" i="1" smtClean="0">
                        <a:latin typeface="Cambria Math" panose="02040503050406030204" pitchFamily="18" charset="0"/>
                      </a:rPr>
                      <m:t>𝑜𝑟</m:t>
                    </m:r>
                    <m:r>
                      <a:rPr lang="en-IN" sz="2400" b="0" i="1" smtClean="0">
                        <a:latin typeface="Cambria Math" panose="02040503050406030204" pitchFamily="18" charset="0"/>
                      </a:rPr>
                      <m:t> </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𝜎</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&lt;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𝜎</m:t>
                        </m:r>
                      </m:e>
                      <m:sub>
                        <m:r>
                          <a:rPr lang="en-IN" sz="2400" b="0" i="1" smtClean="0">
                            <a:latin typeface="Cambria Math" panose="02040503050406030204" pitchFamily="18" charset="0"/>
                          </a:rPr>
                          <m:t>2</m:t>
                        </m:r>
                      </m:sub>
                    </m:sSub>
                  </m:oMath>
                </a14:m>
                <a:endParaRPr lang="en-IN" sz="2400" dirty="0">
                  <a:latin typeface="Times New Roman" panose="02020603050405020304" pitchFamily="18" charset="0"/>
                </a:endParaRPr>
              </a:p>
              <a:p>
                <a:pPr algn="just"/>
                <a:r>
                  <a:rPr lang="en-IN" sz="2400" b="1" dirty="0">
                    <a:solidFill>
                      <a:schemeClr val="tx1"/>
                    </a:solidFill>
                    <a:latin typeface="Times New Roman" panose="02020603050405020304" pitchFamily="18" charset="0"/>
                    <a:cs typeface="Times New Roman" panose="02020603050405020304" pitchFamily="18" charset="0"/>
                  </a:rPr>
                  <a:t>Step 3: </a:t>
                </a:r>
                <a:r>
                  <a:rPr lang="en-IN" sz="2400" dirty="0">
                    <a:solidFill>
                      <a:schemeClr val="tx1"/>
                    </a:solidFill>
                    <a:latin typeface="Times New Roman" panose="02020603050405020304" pitchFamily="18" charset="0"/>
                    <a:cs typeface="Times New Roman" panose="02020603050405020304" pitchFamily="18" charset="0"/>
                  </a:rPr>
                  <a:t>Test Statistics </a:t>
                </a:r>
                <a14:m>
                  <m:oMath xmlns:m="http://schemas.openxmlformats.org/officeDocument/2006/math">
                    <m:r>
                      <a:rPr lang="en-IN" sz="2400" b="0" i="0" smtClean="0">
                        <a:solidFill>
                          <a:schemeClr val="tx1"/>
                        </a:solidFill>
                        <a:latin typeface="Cambria Math" panose="02040503050406030204" pitchFamily="18" charset="0"/>
                        <a:cs typeface="Times New Roman" panose="02020603050405020304" pitchFamily="18" charset="0"/>
                      </a:rPr>
                      <m:t>  </m:t>
                    </m:r>
                    <m:r>
                      <a:rPr lang="en-IN" sz="2400" b="0" i="1" smtClean="0">
                        <a:solidFill>
                          <a:schemeClr val="tx1"/>
                        </a:solidFill>
                        <a:latin typeface="Cambria Math" panose="02040503050406030204" pitchFamily="18" charset="0"/>
                        <a:cs typeface="Times New Roman" panose="02020603050405020304" pitchFamily="18" charset="0"/>
                      </a:rPr>
                      <m:t>𝑍</m:t>
                    </m:r>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IN" sz="2400" b="0" i="1" smtClean="0">
                                <a:solidFill>
                                  <a:schemeClr val="tx1"/>
                                </a:solidFill>
                                <a:latin typeface="Cambria Math" panose="02040503050406030204" pitchFamily="18" charset="0"/>
                                <a:cs typeface="Times New Roman" panose="02020603050405020304" pitchFamily="18" charset="0"/>
                              </a:rPr>
                            </m:ctrlPr>
                          </m:dPr>
                          <m:e>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𝑠</m:t>
                                </m:r>
                              </m:e>
                              <m:sub>
                                <m:r>
                                  <a:rPr lang="en-IN" sz="2400" b="0" i="1" smtClean="0">
                                    <a:solidFill>
                                      <a:schemeClr val="tx1"/>
                                    </a:solidFill>
                                    <a:latin typeface="Cambria Math" panose="02040503050406030204" pitchFamily="18" charset="0"/>
                                    <a:cs typeface="Times New Roman" panose="02020603050405020304" pitchFamily="18" charset="0"/>
                                  </a:rPr>
                                  <m:t>1</m:t>
                                </m:r>
                              </m:sub>
                            </m:sSub>
                            <m:r>
                              <a:rPr lang="en-IN" sz="2400" b="0" i="1" smtClean="0">
                                <a:solidFill>
                                  <a:schemeClr val="tx1"/>
                                </a:solidFill>
                                <a:latin typeface="Cambria Math" panose="02040503050406030204" pitchFamily="18" charset="0"/>
                                <a:cs typeface="Times New Roman" panose="02020603050405020304" pitchFamily="18" charset="0"/>
                              </a:rPr>
                              <m:t>−</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𝑠</m:t>
                                </m:r>
                              </m:e>
                              <m:sub>
                                <m:r>
                                  <a:rPr lang="en-IN" sz="2400" b="0" i="1" smtClean="0">
                                    <a:solidFill>
                                      <a:schemeClr val="tx1"/>
                                    </a:solidFill>
                                    <a:latin typeface="Cambria Math" panose="02040503050406030204" pitchFamily="18" charset="0"/>
                                    <a:cs typeface="Times New Roman" panose="02020603050405020304" pitchFamily="18" charset="0"/>
                                  </a:rPr>
                                  <m:t>2</m:t>
                                </m:r>
                              </m:sub>
                            </m:sSub>
                          </m:e>
                        </m:d>
                      </m:num>
                      <m:den>
                        <m:rad>
                          <m:radPr>
                            <m:degHide m:val="on"/>
                            <m:ctrlPr>
                              <a:rPr lang="en-IN" sz="2400" b="0" i="1" smtClean="0">
                                <a:solidFill>
                                  <a:schemeClr val="tx1"/>
                                </a:solidFill>
                                <a:latin typeface="Cambria Math" panose="02040503050406030204" pitchFamily="18" charset="0"/>
                                <a:cs typeface="Times New Roman" panose="02020603050405020304" pitchFamily="18" charset="0"/>
                              </a:rPr>
                            </m:ctrlPr>
                          </m:radPr>
                          <m:deg/>
                          <m:e>
                            <m:f>
                              <m:fPr>
                                <m:ctrlPr>
                                  <a:rPr lang="en-IN" sz="2400" b="0" i="1" smtClean="0">
                                    <a:solidFill>
                                      <a:schemeClr val="tx1"/>
                                    </a:solidFill>
                                    <a:latin typeface="Cambria Math" panose="02040503050406030204" pitchFamily="18" charset="0"/>
                                    <a:cs typeface="Times New Roman" panose="02020603050405020304" pitchFamily="18" charset="0"/>
                                  </a:rPr>
                                </m:ctrlPr>
                              </m:fPr>
                              <m:num>
                                <m:sSubSup>
                                  <m:sSubSupPr>
                                    <m:ctrlPr>
                                      <a:rPr lang="en-IN" sz="2400" b="0" i="1" smtClean="0">
                                        <a:solidFill>
                                          <a:schemeClr val="tx1"/>
                                        </a:solidFill>
                                        <a:latin typeface="Cambria Math" panose="02040503050406030204" pitchFamily="18" charset="0"/>
                                        <a:cs typeface="Times New Roman" panose="02020603050405020304" pitchFamily="18" charset="0"/>
                                      </a:rPr>
                                    </m:ctrlPr>
                                  </m:sSubSupPr>
                                  <m:e>
                                    <m:r>
                                      <a:rPr lang="en-IN" sz="2400" b="0" i="1" smtClean="0">
                                        <a:solidFill>
                                          <a:schemeClr val="tx1"/>
                                        </a:solidFill>
                                        <a:latin typeface="Cambria Math" panose="02040503050406030204" pitchFamily="18" charset="0"/>
                                        <a:cs typeface="Times New Roman" panose="02020603050405020304" pitchFamily="18" charset="0"/>
                                      </a:rPr>
                                      <m:t>𝜎</m:t>
                                    </m:r>
                                  </m:e>
                                  <m:sub>
                                    <m:r>
                                      <a:rPr lang="en-IN" sz="2400" b="0" i="1" smtClean="0">
                                        <a:solidFill>
                                          <a:schemeClr val="tx1"/>
                                        </a:solidFill>
                                        <a:latin typeface="Cambria Math" panose="02040503050406030204" pitchFamily="18" charset="0"/>
                                        <a:cs typeface="Times New Roman" panose="02020603050405020304" pitchFamily="18" charset="0"/>
                                      </a:rPr>
                                      <m:t>1</m:t>
                                    </m:r>
                                  </m:sub>
                                  <m:sup>
                                    <m:r>
                                      <a:rPr lang="en-IN" sz="2400" b="0" i="1" smtClean="0">
                                        <a:solidFill>
                                          <a:schemeClr val="tx1"/>
                                        </a:solidFill>
                                        <a:latin typeface="Cambria Math" panose="02040503050406030204" pitchFamily="18" charset="0"/>
                                        <a:cs typeface="Times New Roman" panose="02020603050405020304" pitchFamily="18" charset="0"/>
                                      </a:rPr>
                                      <m:t>2</m:t>
                                    </m:r>
                                  </m:sup>
                                </m:sSubSup>
                              </m:num>
                              <m:den>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2</m:t>
                                    </m:r>
                                    <m:r>
                                      <a:rPr lang="en-IN" sz="2400" b="0" i="1" smtClean="0">
                                        <a:solidFill>
                                          <a:schemeClr val="tx1"/>
                                        </a:solidFill>
                                        <a:latin typeface="Cambria Math" panose="02040503050406030204" pitchFamily="18" charset="0"/>
                                        <a:cs typeface="Times New Roman" panose="02020603050405020304" pitchFamily="18" charset="0"/>
                                      </a:rPr>
                                      <m:t>𝑛</m:t>
                                    </m:r>
                                  </m:e>
                                  <m:sub>
                                    <m:r>
                                      <a:rPr lang="en-IN" sz="2400" b="0" i="1" smtClean="0">
                                        <a:solidFill>
                                          <a:schemeClr val="tx1"/>
                                        </a:solidFill>
                                        <a:latin typeface="Cambria Math" panose="02040503050406030204" pitchFamily="18" charset="0"/>
                                        <a:cs typeface="Times New Roman" panose="02020603050405020304" pitchFamily="18" charset="0"/>
                                      </a:rPr>
                                      <m:t>1</m:t>
                                    </m:r>
                                  </m:sub>
                                </m:sSub>
                              </m:den>
                            </m:f>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sSubSup>
                                  <m:sSubSupPr>
                                    <m:ctrlPr>
                                      <a:rPr lang="en-IN" sz="2400" b="0" i="1" smtClean="0">
                                        <a:solidFill>
                                          <a:schemeClr val="tx1"/>
                                        </a:solidFill>
                                        <a:latin typeface="Cambria Math" panose="02040503050406030204" pitchFamily="18" charset="0"/>
                                        <a:cs typeface="Times New Roman" panose="02020603050405020304" pitchFamily="18" charset="0"/>
                                      </a:rPr>
                                    </m:ctrlPr>
                                  </m:sSubSupPr>
                                  <m:e>
                                    <m:r>
                                      <a:rPr lang="en-IN" sz="2400" b="0" i="1" smtClean="0">
                                        <a:solidFill>
                                          <a:schemeClr val="tx1"/>
                                        </a:solidFill>
                                        <a:latin typeface="Cambria Math" panose="02040503050406030204" pitchFamily="18" charset="0"/>
                                        <a:cs typeface="Times New Roman" panose="02020603050405020304" pitchFamily="18" charset="0"/>
                                      </a:rPr>
                                      <m:t>𝜎</m:t>
                                    </m:r>
                                  </m:e>
                                  <m:sub>
                                    <m:r>
                                      <a:rPr lang="en-IN" sz="2400" b="0" i="1" smtClean="0">
                                        <a:solidFill>
                                          <a:schemeClr val="tx1"/>
                                        </a:solidFill>
                                        <a:latin typeface="Cambria Math" panose="02040503050406030204" pitchFamily="18" charset="0"/>
                                        <a:cs typeface="Times New Roman" panose="02020603050405020304" pitchFamily="18" charset="0"/>
                                      </a:rPr>
                                      <m:t>2</m:t>
                                    </m:r>
                                  </m:sub>
                                  <m:sup>
                                    <m:r>
                                      <a:rPr lang="en-IN" sz="2400" b="0" i="1" smtClean="0">
                                        <a:solidFill>
                                          <a:schemeClr val="tx1"/>
                                        </a:solidFill>
                                        <a:latin typeface="Cambria Math" panose="02040503050406030204" pitchFamily="18" charset="0"/>
                                        <a:cs typeface="Times New Roman" panose="02020603050405020304" pitchFamily="18" charset="0"/>
                                      </a:rPr>
                                      <m:t>2</m:t>
                                    </m:r>
                                  </m:sup>
                                </m:sSubSup>
                              </m:num>
                              <m:den>
                                <m:r>
                                  <a:rPr lang="en-IN" sz="2400" b="0" i="1" smtClean="0">
                                    <a:solidFill>
                                      <a:schemeClr val="tx1"/>
                                    </a:solidFill>
                                    <a:latin typeface="Cambria Math" panose="02040503050406030204" pitchFamily="18" charset="0"/>
                                    <a:cs typeface="Times New Roman" panose="02020603050405020304" pitchFamily="18" charset="0"/>
                                  </a:rPr>
                                  <m:t>2</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𝑛</m:t>
                                    </m:r>
                                  </m:e>
                                  <m:sub>
                                    <m:r>
                                      <a:rPr lang="en-IN" sz="2400" b="0" i="1" smtClean="0">
                                        <a:solidFill>
                                          <a:schemeClr val="tx1"/>
                                        </a:solidFill>
                                        <a:latin typeface="Cambria Math" panose="02040503050406030204" pitchFamily="18" charset="0"/>
                                        <a:cs typeface="Times New Roman" panose="02020603050405020304" pitchFamily="18" charset="0"/>
                                      </a:rPr>
                                      <m:t>2</m:t>
                                    </m:r>
                                  </m:sub>
                                </m:sSub>
                              </m:den>
                            </m:f>
                          </m:e>
                        </m:rad>
                      </m:den>
                    </m:f>
                  </m:oMath>
                </a14:m>
                <a:endParaRPr lang="en-IN" sz="2400" dirty="0">
                  <a:solidFill>
                    <a:schemeClr val="tx1"/>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Denominator is the standard error of difference of sample mean i.e. </a:t>
                </a:r>
              </a:p>
              <a:p>
                <a:pPr algn="just"/>
                <a:r>
                  <a:rPr lang="en-IN" sz="2400" dirty="0">
                    <a:latin typeface="Times New Roman" panose="02020603050405020304" pitchFamily="18" charset="0"/>
                    <a:cs typeface="Times New Roman" panose="02020603050405020304" pitchFamily="18" charset="0"/>
                  </a:rPr>
                  <a:t>S.E. (</a:t>
                </a:r>
                <a14:m>
                  <m:oMath xmlns:m="http://schemas.openxmlformats.org/officeDocument/2006/math">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m:rPr>
                            <m:sty m:val="p"/>
                          </m:rPr>
                          <a:rPr lang="en-IN" sz="2400" b="0" i="0" smtClean="0">
                            <a:solidFill>
                              <a:schemeClr val="tx1"/>
                            </a:solidFill>
                            <a:latin typeface="Cambria Math" panose="02040503050406030204" pitchFamily="18" charset="0"/>
                            <a:cs typeface="Times New Roman" panose="02020603050405020304" pitchFamily="18" charset="0"/>
                          </a:rPr>
                          <m:t>s</m:t>
                        </m:r>
                      </m:e>
                      <m:sub>
                        <m:r>
                          <a:rPr lang="en-IN" sz="2400" b="0" i="0" smtClean="0">
                            <a:solidFill>
                              <a:schemeClr val="tx1"/>
                            </a:solidFill>
                            <a:latin typeface="Cambria Math" panose="02040503050406030204" pitchFamily="18" charset="0"/>
                            <a:cs typeface="Times New Roman" panose="02020603050405020304" pitchFamily="18" charset="0"/>
                          </a:rPr>
                          <m:t>1</m:t>
                        </m:r>
                      </m:sub>
                    </m:sSub>
                    <m:r>
                      <a:rPr lang="en-IN" sz="2400" b="0" i="1" smtClean="0">
                        <a:solidFill>
                          <a:schemeClr val="tx1"/>
                        </a:solidFill>
                        <a:latin typeface="Cambria Math" panose="02040503050406030204" pitchFamily="18" charset="0"/>
                        <a:cs typeface="Times New Roman" panose="02020603050405020304" pitchFamily="18" charset="0"/>
                      </a:rPr>
                      <m:t>−</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𝑠</m:t>
                        </m:r>
                      </m:e>
                      <m:sub>
                        <m:r>
                          <a:rPr lang="en-IN" sz="2400" b="0" i="1" smtClean="0">
                            <a:solidFill>
                              <a:schemeClr val="tx1"/>
                            </a:solidFill>
                            <a:latin typeface="Cambria Math" panose="02040503050406030204" pitchFamily="18" charset="0"/>
                            <a:cs typeface="Times New Roman" panose="02020603050405020304" pitchFamily="18" charset="0"/>
                          </a:rPr>
                          <m:t>2</m:t>
                        </m:r>
                      </m:sub>
                    </m:sSub>
                  </m:oMath>
                </a14:m>
                <a:r>
                  <a:rPr lang="en-IN" sz="2400" dirty="0">
                    <a:latin typeface="Times New Roman" panose="02020603050405020304" pitchFamily="18" charset="0"/>
                    <a:cs typeface="Times New Roman" panose="02020603050405020304" pitchFamily="18" charset="0"/>
                  </a:rPr>
                  <a:t>)</a:t>
                </a:r>
                <a:r>
                  <a:rPr lang="en-IN" sz="2400" dirty="0">
                    <a:solidFill>
                      <a:schemeClr val="tx1"/>
                    </a:solidFill>
                    <a:latin typeface="Times New Roman" panose="02020603050405020304" pitchFamily="18" charset="0"/>
                    <a:cs typeface="Times New Roman" panose="02020603050405020304" pitchFamily="18" charset="0"/>
                  </a:rPr>
                  <a:t>  </a:t>
                </a:r>
              </a:p>
              <a:p>
                <a:pPr algn="just"/>
                <a:r>
                  <a:rPr lang="en-IN" sz="2400" b="1" dirty="0">
                    <a:latin typeface="Times New Roman" panose="02020603050405020304" pitchFamily="18" charset="0"/>
                    <a:cs typeface="Times New Roman" panose="02020603050405020304" pitchFamily="18" charset="0"/>
                  </a:rPr>
                  <a:t>Step-4: </a:t>
                </a:r>
                <a:r>
                  <a:rPr lang="en-IN" sz="2400" dirty="0">
                    <a:latin typeface="Times New Roman" panose="02020603050405020304" pitchFamily="18" charset="0"/>
                    <a:cs typeface="Times New Roman" panose="02020603050405020304" pitchFamily="18" charset="0"/>
                  </a:rPr>
                  <a:t>Table value of z at </a:t>
                </a:r>
                <a:r>
                  <a:rPr lang="en-IN" sz="2400" dirty="0">
                    <a:latin typeface="Times New Roman" panose="02020603050405020304" pitchFamily="18" charset="0"/>
                    <a:ea typeface="Calibri" panose="020F0502020204030204" pitchFamily="34" charset="0"/>
                    <a:cs typeface="Times New Roman" panose="02020603050405020304" pitchFamily="18" charset="0"/>
                  </a:rPr>
                  <a:t>α % level of significance.</a:t>
                </a:r>
              </a:p>
              <a:p>
                <a:pPr algn="just"/>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Step-5: </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Accepted.</a:t>
                </a:r>
              </a:p>
              <a:p>
                <a:pPr algn="just"/>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&gt;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Rejected.</a:t>
                </a:r>
              </a:p>
              <a:p>
                <a:pPr algn="just"/>
                <a:endParaRPr lang="en-IN"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10A1F011-CC4B-1AE7-9AD4-D15077CB881D}"/>
                  </a:ext>
                </a:extLst>
              </p:cNvPr>
              <p:cNvSpPr txBox="1">
                <a:spLocks noRot="1" noChangeAspect="1" noMove="1" noResize="1" noEditPoints="1" noAdjustHandles="1" noChangeArrowheads="1" noChangeShapeType="1" noTextEdit="1"/>
              </p:cNvSpPr>
              <p:nvPr/>
            </p:nvSpPr>
            <p:spPr>
              <a:xfrm>
                <a:off x="993912" y="1543868"/>
                <a:ext cx="10048461" cy="4144340"/>
              </a:xfrm>
              <a:prstGeom prst="rect">
                <a:avLst/>
              </a:prstGeom>
              <a:blipFill>
                <a:blip r:embed="rId5"/>
                <a:stretch>
                  <a:fillRect l="-910" t="-1176"/>
                </a:stretch>
              </a:blipFill>
            </p:spPr>
            <p:txBody>
              <a:bodyPr/>
              <a:lstStyle/>
              <a:p>
                <a:r>
                  <a:rPr lang="en-IN">
                    <a:noFill/>
                  </a:rPr>
                  <a:t> </a:t>
                </a:r>
              </a:p>
            </p:txBody>
          </p:sp>
        </mc:Fallback>
      </mc:AlternateContent>
    </p:spTree>
    <p:extLst>
      <p:ext uri="{BB962C8B-B14F-4D97-AF65-F5344CB8AC3E}">
        <p14:creationId xmlns:p14="http://schemas.microsoft.com/office/powerpoint/2010/main" val="196629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Case Study </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22</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397565" y="967399"/>
            <a:ext cx="11290851" cy="2062872"/>
          </a:xfrm>
          <a:prstGeom prst="rect">
            <a:avLst/>
          </a:prstGeom>
          <a:noFill/>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To compare customer satisfaction levels of two competing cable television companies, 174 customers of company 1 and 355 customers of company 2 were randomly selected and were asked to rate their cable companies on a five-point scale, with 1 being least satisfied and 5 most satisfied. The survey results are summarized in the following table: </a:t>
            </a:r>
            <a:endParaRPr lang="en-IN"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2" name="Table 11">
                <a:extLst>
                  <a:ext uri="{FF2B5EF4-FFF2-40B4-BE49-F238E27FC236}">
                    <a16:creationId xmlns:a16="http://schemas.microsoft.com/office/drawing/2014/main" id="{9CC26A22-6C7B-A4CE-723A-A2DCFF4832E1}"/>
                  </a:ext>
                </a:extLst>
              </p:cNvPr>
              <p:cNvGraphicFramePr>
                <a:graphicFrameLocks noGrp="1"/>
              </p:cNvGraphicFramePr>
              <p:nvPr>
                <p:extLst>
                  <p:ext uri="{D42A27DB-BD31-4B8C-83A1-F6EECF244321}">
                    <p14:modId xmlns:p14="http://schemas.microsoft.com/office/powerpoint/2010/main" val="2519062155"/>
                  </p:ext>
                </p:extLst>
              </p:nvPr>
            </p:nvGraphicFramePr>
            <p:xfrm>
              <a:off x="480392" y="3495396"/>
              <a:ext cx="3032760" cy="1483360"/>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1894334718"/>
                        </a:ext>
                      </a:extLst>
                    </a:gridCol>
                    <a:gridCol w="1516380">
                      <a:extLst>
                        <a:ext uri="{9D8B030D-6E8A-4147-A177-3AD203B41FA5}">
                          <a16:colId xmlns:a16="http://schemas.microsoft.com/office/drawing/2014/main" val="941440385"/>
                        </a:ext>
                      </a:extLst>
                    </a:gridCol>
                  </a:tblGrid>
                  <a:tr h="370840">
                    <a:tc>
                      <a:txBody>
                        <a:bodyPr/>
                        <a:lstStyle/>
                        <a:p>
                          <a:r>
                            <a:rPr lang="en-IN" dirty="0"/>
                            <a:t>Company 1</a:t>
                          </a:r>
                        </a:p>
                      </a:txBody>
                      <a:tcPr/>
                    </a:tc>
                    <a:tc>
                      <a:txBody>
                        <a:bodyPr/>
                        <a:lstStyle/>
                        <a:p>
                          <a:r>
                            <a:rPr lang="en-IN" dirty="0"/>
                            <a:t>Company 2</a:t>
                          </a:r>
                        </a:p>
                      </a:txBody>
                      <a:tcPr/>
                    </a:tc>
                    <a:extLst>
                      <a:ext uri="{0D108BD9-81ED-4DB2-BD59-A6C34878D82A}">
                        <a16:rowId xmlns:a16="http://schemas.microsoft.com/office/drawing/2014/main" val="228443765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dirty="0" smtClean="0">
                                        <a:latin typeface="Cambria Math" panose="02040503050406030204" pitchFamily="18" charset="0"/>
                                      </a:rPr>
                                    </m:ctrlPr>
                                  </m:sSubPr>
                                  <m:e>
                                    <m:r>
                                      <a:rPr lang="en-IN" i="1" dirty="0" smtClean="0">
                                        <a:latin typeface="Cambria Math" panose="02040503050406030204" pitchFamily="18" charset="0"/>
                                      </a:rPr>
                                      <m:t>𝑛</m:t>
                                    </m:r>
                                  </m:e>
                                  <m:sub>
                                    <m:r>
                                      <a:rPr lang="en-IN" i="1" dirty="0" smtClean="0">
                                        <a:latin typeface="Cambria Math" panose="02040503050406030204" pitchFamily="18" charset="0"/>
                                      </a:rPr>
                                      <m:t>1</m:t>
                                    </m:r>
                                  </m:sub>
                                </m:sSub>
                                <m:r>
                                  <a:rPr lang="en-IN" i="1" dirty="0" smtClean="0">
                                    <a:latin typeface="Cambria Math" panose="02040503050406030204" pitchFamily="18" charset="0"/>
                                  </a:rPr>
                                  <m:t>=174</m:t>
                                </m:r>
                              </m:oMath>
                            </m:oMathPara>
                          </a14:m>
                          <a:endParaRPr lang="en-IN"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IN" i="1" dirty="0" smtClean="0">
                                        <a:latin typeface="Cambria Math" panose="02040503050406030204" pitchFamily="18" charset="0"/>
                                      </a:rPr>
                                    </m:ctrlPr>
                                  </m:sSubPr>
                                  <m:e>
                                    <m:r>
                                      <a:rPr lang="en-IN" i="1" dirty="0" smtClean="0">
                                        <a:latin typeface="Cambria Math" panose="02040503050406030204" pitchFamily="18" charset="0"/>
                                      </a:rPr>
                                      <m:t>𝑛</m:t>
                                    </m:r>
                                  </m:e>
                                  <m:sub>
                                    <m:r>
                                      <a:rPr lang="en-IN" i="1" dirty="0" smtClean="0">
                                        <a:latin typeface="Cambria Math" panose="02040503050406030204" pitchFamily="18" charset="0"/>
                                      </a:rPr>
                                      <m:t>2</m:t>
                                    </m:r>
                                  </m:sub>
                                </m:sSub>
                                <m:r>
                                  <a:rPr lang="en-IN" i="1" dirty="0" smtClean="0">
                                    <a:latin typeface="Cambria Math" panose="02040503050406030204" pitchFamily="18" charset="0"/>
                                  </a:rPr>
                                  <m:t>=355</m:t>
                                </m:r>
                              </m:oMath>
                            </m:oMathPara>
                          </a14:m>
                          <a:endParaRPr lang="en-IN" dirty="0"/>
                        </a:p>
                      </a:txBody>
                      <a:tcPr/>
                    </a:tc>
                    <a:extLst>
                      <a:ext uri="{0D108BD9-81ED-4DB2-BD59-A6C34878D82A}">
                        <a16:rowId xmlns:a16="http://schemas.microsoft.com/office/drawing/2014/main" val="1506950561"/>
                      </a:ext>
                    </a:extLst>
                  </a:tr>
                  <a:tr h="370840">
                    <a:tc>
                      <a:txBody>
                        <a:bodyPr/>
                        <a:lstStyle/>
                        <a:p>
                          <a:pPr/>
                          <a14:m>
                            <m:oMathPara xmlns:m="http://schemas.openxmlformats.org/officeDocument/2006/math">
                              <m:oMathParaPr>
                                <m:jc m:val="centerGroup"/>
                              </m:oMathParaPr>
                              <m:oMath xmlns:m="http://schemas.openxmlformats.org/officeDocument/2006/math">
                                <m:acc>
                                  <m:accPr>
                                    <m:chr m:val="̅"/>
                                    <m:ctrlPr>
                                      <a:rPr lang="en-IN" b="0" i="1" smtClean="0">
                                        <a:latin typeface="Cambria Math" panose="02040503050406030204" pitchFamily="18" charset="0"/>
                                      </a:rPr>
                                    </m:ctrlPr>
                                  </m:acc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acc>
                                <m:r>
                                  <a:rPr lang="en-IN" b="0" i="1" smtClean="0">
                                    <a:latin typeface="Cambria Math" panose="02040503050406030204" pitchFamily="18" charset="0"/>
                                  </a:rPr>
                                  <m:t>=3.51</m:t>
                                </m:r>
                              </m:oMath>
                            </m:oMathPara>
                          </a14:m>
                          <a:endParaRPr lang="en-IN"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IN" b="0" i="1" smtClean="0">
                                        <a:latin typeface="Cambria Math" panose="02040503050406030204" pitchFamily="18" charset="0"/>
                                      </a:rPr>
                                    </m:ctrlPr>
                                  </m:acc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acc>
                                <m:r>
                                  <a:rPr lang="en-IN" b="0" i="1" smtClean="0">
                                    <a:latin typeface="Cambria Math" panose="02040503050406030204" pitchFamily="18" charset="0"/>
                                  </a:rPr>
                                  <m:t>=3.24</m:t>
                                </m:r>
                              </m:oMath>
                            </m:oMathPara>
                          </a14:m>
                          <a:endParaRPr lang="en-IN" dirty="0"/>
                        </a:p>
                      </a:txBody>
                      <a:tcPr/>
                    </a:tc>
                    <a:extLst>
                      <a:ext uri="{0D108BD9-81ED-4DB2-BD59-A6C34878D82A}">
                        <a16:rowId xmlns:a16="http://schemas.microsoft.com/office/drawing/2014/main" val="105147832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1</m:t>
                                    </m:r>
                                  </m:sub>
                                </m:sSub>
                                <m:r>
                                  <a:rPr lang="en-IN" b="0" i="1" smtClean="0">
                                    <a:latin typeface="Cambria Math" panose="02040503050406030204" pitchFamily="18" charset="0"/>
                                  </a:rPr>
                                  <m:t>=0.51</m:t>
                                </m:r>
                              </m:oMath>
                            </m:oMathPara>
                          </a14:m>
                          <a:endParaRPr lang="en-IN"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2</m:t>
                                    </m:r>
                                  </m:sub>
                                </m:sSub>
                                <m:r>
                                  <a:rPr lang="en-IN" b="0" i="1" smtClean="0">
                                    <a:latin typeface="Cambria Math" panose="02040503050406030204" pitchFamily="18" charset="0"/>
                                  </a:rPr>
                                  <m:t>=0.52</m:t>
                                </m:r>
                              </m:oMath>
                            </m:oMathPara>
                          </a14:m>
                          <a:endParaRPr lang="en-IN" dirty="0"/>
                        </a:p>
                      </a:txBody>
                      <a:tcPr/>
                    </a:tc>
                    <a:extLst>
                      <a:ext uri="{0D108BD9-81ED-4DB2-BD59-A6C34878D82A}">
                        <a16:rowId xmlns:a16="http://schemas.microsoft.com/office/drawing/2014/main" val="2290821583"/>
                      </a:ext>
                    </a:extLst>
                  </a:tr>
                </a:tbl>
              </a:graphicData>
            </a:graphic>
          </p:graphicFrame>
        </mc:Choice>
        <mc:Fallback>
          <p:graphicFrame>
            <p:nvGraphicFramePr>
              <p:cNvPr id="12" name="Table 11">
                <a:extLst>
                  <a:ext uri="{FF2B5EF4-FFF2-40B4-BE49-F238E27FC236}">
                    <a16:creationId xmlns:a16="http://schemas.microsoft.com/office/drawing/2014/main" id="{9CC26A22-6C7B-A4CE-723A-A2DCFF4832E1}"/>
                  </a:ext>
                </a:extLst>
              </p:cNvPr>
              <p:cNvGraphicFramePr>
                <a:graphicFrameLocks noGrp="1"/>
              </p:cNvGraphicFramePr>
              <p:nvPr>
                <p:extLst>
                  <p:ext uri="{D42A27DB-BD31-4B8C-83A1-F6EECF244321}">
                    <p14:modId xmlns:p14="http://schemas.microsoft.com/office/powerpoint/2010/main" val="2519062155"/>
                  </p:ext>
                </p:extLst>
              </p:nvPr>
            </p:nvGraphicFramePr>
            <p:xfrm>
              <a:off x="480392" y="3495396"/>
              <a:ext cx="3032760" cy="1483360"/>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1894334718"/>
                        </a:ext>
                      </a:extLst>
                    </a:gridCol>
                    <a:gridCol w="1516380">
                      <a:extLst>
                        <a:ext uri="{9D8B030D-6E8A-4147-A177-3AD203B41FA5}">
                          <a16:colId xmlns:a16="http://schemas.microsoft.com/office/drawing/2014/main" val="941440385"/>
                        </a:ext>
                      </a:extLst>
                    </a:gridCol>
                  </a:tblGrid>
                  <a:tr h="370840">
                    <a:tc>
                      <a:txBody>
                        <a:bodyPr/>
                        <a:lstStyle/>
                        <a:p>
                          <a:r>
                            <a:rPr lang="en-IN" dirty="0"/>
                            <a:t>Company 1</a:t>
                          </a:r>
                        </a:p>
                      </a:txBody>
                      <a:tcPr/>
                    </a:tc>
                    <a:tc>
                      <a:txBody>
                        <a:bodyPr/>
                        <a:lstStyle/>
                        <a:p>
                          <a:r>
                            <a:rPr lang="en-IN" dirty="0"/>
                            <a:t>Company 2</a:t>
                          </a:r>
                        </a:p>
                      </a:txBody>
                      <a:tcPr/>
                    </a:tc>
                    <a:extLst>
                      <a:ext uri="{0D108BD9-81ED-4DB2-BD59-A6C34878D82A}">
                        <a16:rowId xmlns:a16="http://schemas.microsoft.com/office/drawing/2014/main" val="2284437659"/>
                      </a:ext>
                    </a:extLst>
                  </a:tr>
                  <a:tr h="370840">
                    <a:tc>
                      <a:txBody>
                        <a:bodyPr/>
                        <a:lstStyle/>
                        <a:p>
                          <a:endParaRPr lang="en-US"/>
                        </a:p>
                      </a:txBody>
                      <a:tcPr>
                        <a:blipFill>
                          <a:blip r:embed="rId5"/>
                          <a:stretch>
                            <a:fillRect l="-400" t="-108197" r="-101200" b="-203279"/>
                          </a:stretch>
                        </a:blipFill>
                      </a:tcPr>
                    </a:tc>
                    <a:tc>
                      <a:txBody>
                        <a:bodyPr/>
                        <a:lstStyle/>
                        <a:p>
                          <a:endParaRPr lang="en-US"/>
                        </a:p>
                      </a:txBody>
                      <a:tcPr>
                        <a:blipFill>
                          <a:blip r:embed="rId5"/>
                          <a:stretch>
                            <a:fillRect l="-100803" t="-108197" r="-1606" b="-203279"/>
                          </a:stretch>
                        </a:blipFill>
                      </a:tcPr>
                    </a:tc>
                    <a:extLst>
                      <a:ext uri="{0D108BD9-81ED-4DB2-BD59-A6C34878D82A}">
                        <a16:rowId xmlns:a16="http://schemas.microsoft.com/office/drawing/2014/main" val="1506950561"/>
                      </a:ext>
                    </a:extLst>
                  </a:tr>
                  <a:tr h="370840">
                    <a:tc>
                      <a:txBody>
                        <a:bodyPr/>
                        <a:lstStyle/>
                        <a:p>
                          <a:endParaRPr lang="en-US"/>
                        </a:p>
                      </a:txBody>
                      <a:tcPr>
                        <a:blipFill>
                          <a:blip r:embed="rId5"/>
                          <a:stretch>
                            <a:fillRect l="-400" t="-208197" r="-101200" b="-103279"/>
                          </a:stretch>
                        </a:blipFill>
                      </a:tcPr>
                    </a:tc>
                    <a:tc>
                      <a:txBody>
                        <a:bodyPr/>
                        <a:lstStyle/>
                        <a:p>
                          <a:endParaRPr lang="en-US"/>
                        </a:p>
                      </a:txBody>
                      <a:tcPr>
                        <a:blipFill>
                          <a:blip r:embed="rId5"/>
                          <a:stretch>
                            <a:fillRect l="-100803" t="-208197" r="-1606" b="-103279"/>
                          </a:stretch>
                        </a:blipFill>
                      </a:tcPr>
                    </a:tc>
                    <a:extLst>
                      <a:ext uri="{0D108BD9-81ED-4DB2-BD59-A6C34878D82A}">
                        <a16:rowId xmlns:a16="http://schemas.microsoft.com/office/drawing/2014/main" val="1051478326"/>
                      </a:ext>
                    </a:extLst>
                  </a:tr>
                  <a:tr h="370840">
                    <a:tc>
                      <a:txBody>
                        <a:bodyPr/>
                        <a:lstStyle/>
                        <a:p>
                          <a:endParaRPr lang="en-US"/>
                        </a:p>
                      </a:txBody>
                      <a:tcPr>
                        <a:blipFill>
                          <a:blip r:embed="rId5"/>
                          <a:stretch>
                            <a:fillRect l="-400" t="-308197" r="-101200" b="-3279"/>
                          </a:stretch>
                        </a:blipFill>
                      </a:tcPr>
                    </a:tc>
                    <a:tc>
                      <a:txBody>
                        <a:bodyPr/>
                        <a:lstStyle/>
                        <a:p>
                          <a:endParaRPr lang="en-US"/>
                        </a:p>
                      </a:txBody>
                      <a:tcPr>
                        <a:blipFill>
                          <a:blip r:embed="rId5"/>
                          <a:stretch>
                            <a:fillRect l="-100803" t="-308197" r="-1606" b="-3279"/>
                          </a:stretch>
                        </a:blipFill>
                      </a:tcPr>
                    </a:tc>
                    <a:extLst>
                      <a:ext uri="{0D108BD9-81ED-4DB2-BD59-A6C34878D82A}">
                        <a16:rowId xmlns:a16="http://schemas.microsoft.com/office/drawing/2014/main" val="2290821583"/>
                      </a:ext>
                    </a:extLst>
                  </a:tr>
                </a:tbl>
              </a:graphicData>
            </a:graphic>
          </p:graphicFrame>
        </mc:Fallback>
      </mc:AlternateContent>
      <p:sp>
        <p:nvSpPr>
          <p:cNvPr id="14" name="TextBox 13">
            <a:extLst>
              <a:ext uri="{FF2B5EF4-FFF2-40B4-BE49-F238E27FC236}">
                <a16:creationId xmlns:a16="http://schemas.microsoft.com/office/drawing/2014/main" id="{2FAAF6DB-5FE9-31A8-2B72-D1513F540669}"/>
              </a:ext>
            </a:extLst>
          </p:cNvPr>
          <p:cNvSpPr txBox="1"/>
          <p:nvPr/>
        </p:nvSpPr>
        <p:spPr>
          <a:xfrm>
            <a:off x="3825240" y="3450387"/>
            <a:ext cx="7773725" cy="1555041"/>
          </a:xfrm>
          <a:prstGeom prst="rect">
            <a:avLst/>
          </a:prstGeom>
          <a:noFill/>
        </p:spPr>
        <p:txBody>
          <a:bodyPr wrap="square">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Test at the 1% level of significance whether the data provide sufficient evidence to conclude that there is significant difference in standard deviation of company 1 and company 2.</a:t>
            </a:r>
          </a:p>
        </p:txBody>
      </p:sp>
    </p:spTree>
    <p:extLst>
      <p:ext uri="{BB962C8B-B14F-4D97-AF65-F5344CB8AC3E}">
        <p14:creationId xmlns:p14="http://schemas.microsoft.com/office/powerpoint/2010/main" val="1407353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Test 4: Test of Single Proportion </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23</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0A1F011-CC4B-1AE7-9AD4-D15077CB881D}"/>
                  </a:ext>
                </a:extLst>
              </p:cNvPr>
              <p:cNvSpPr txBox="1"/>
              <p:nvPr/>
            </p:nvSpPr>
            <p:spPr>
              <a:xfrm>
                <a:off x="397565" y="1195999"/>
                <a:ext cx="11290851" cy="5178149"/>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Null Hypothesis H0: P </a:t>
                </a:r>
                <a14:m>
                  <m:oMath xmlns:m="http://schemas.openxmlformats.org/officeDocument/2006/math">
                    <m:r>
                      <a:rPr lang="en-IN" sz="2400" b="0" i="1" smtClean="0">
                        <a:solidFill>
                          <a:schemeClr val="tx1"/>
                        </a:solidFill>
                        <a:latin typeface="Cambria Math" panose="02040503050406030204" pitchFamily="18" charset="0"/>
                      </a:rPr>
                      <m:t>=</m:t>
                    </m:r>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𝑃</m:t>
                        </m:r>
                      </m:e>
                      <m:sub>
                        <m:r>
                          <a:rPr lang="en-IN" sz="2400" b="0" i="1" smtClean="0">
                            <a:solidFill>
                              <a:schemeClr val="tx1"/>
                            </a:solidFill>
                            <a:latin typeface="Cambria Math" panose="02040503050406030204" pitchFamily="18" charset="0"/>
                          </a:rPr>
                          <m:t>0</m:t>
                        </m:r>
                      </m:sub>
                    </m:sSub>
                  </m:oMath>
                </a14:m>
                <a:endParaRPr lang="en-IN" sz="2400" b="0" dirty="0">
                  <a:solidFill>
                    <a:schemeClr val="tx1"/>
                  </a:solidFill>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Step-2: </a:t>
                </a:r>
                <a:r>
                  <a:rPr lang="en-IN" sz="2400" dirty="0">
                    <a:solidFill>
                      <a:schemeClr val="tx1"/>
                    </a:solidFill>
                    <a:latin typeface="Times New Roman" panose="02020603050405020304" pitchFamily="18" charset="0"/>
                    <a:cs typeface="Times New Roman" panose="02020603050405020304" pitchFamily="18" charset="0"/>
                  </a:rPr>
                  <a:t>Alternative Hypothesis H1 : </a:t>
                </a:r>
                <a14:m>
                  <m:oMath xmlns:m="http://schemas.openxmlformats.org/officeDocument/2006/math">
                    <m:r>
                      <a:rPr lang="en-IN" sz="2400" b="0" i="1" smtClean="0">
                        <a:latin typeface="Cambria Math" panose="02040503050406030204" pitchFamily="18" charset="0"/>
                      </a:rPr>
                      <m:t>𝑃</m:t>
                    </m:r>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0</m:t>
                        </m:r>
                      </m:sub>
                    </m:sSub>
                    <m:r>
                      <a:rPr lang="en-IN" sz="2400" i="1">
                        <a:latin typeface="Cambria Math" panose="02040503050406030204" pitchFamily="18" charset="0"/>
                      </a:rPr>
                      <m:t> </m:t>
                    </m:r>
                    <m:r>
                      <a:rPr lang="en-IN" sz="2400" i="1">
                        <a:latin typeface="Cambria Math" panose="02040503050406030204" pitchFamily="18" charset="0"/>
                      </a:rPr>
                      <m:t>𝑜𝑟</m:t>
                    </m:r>
                    <m:r>
                      <a:rPr lang="en-IN" sz="2400" b="0" i="1" smtClean="0">
                        <a:latin typeface="Cambria Math" panose="02040503050406030204" pitchFamily="18" charset="0"/>
                      </a:rPr>
                      <m:t> </m:t>
                    </m:r>
                    <m:r>
                      <a:rPr lang="en-IN" sz="2400" b="0" i="1" smtClean="0">
                        <a:latin typeface="Cambria Math" panose="02040503050406030204" pitchFamily="18" charset="0"/>
                      </a:rPr>
                      <m:t>𝑃</m:t>
                    </m:r>
                    <m:r>
                      <a:rPr lang="en-IN" sz="2400" b="0" i="1" smtClean="0">
                        <a:latin typeface="Cambria Math" panose="02040503050406030204" pitchFamily="18" charset="0"/>
                      </a:rPr>
                      <m:t>&gt;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0</m:t>
                        </m:r>
                      </m:sub>
                    </m:sSub>
                    <m:r>
                      <a:rPr lang="en-IN" sz="2400" b="0" i="1" smtClean="0">
                        <a:latin typeface="Cambria Math" panose="02040503050406030204" pitchFamily="18" charset="0"/>
                      </a:rPr>
                      <m:t> </m:t>
                    </m:r>
                    <m:r>
                      <a:rPr lang="en-IN" sz="2400" b="0" i="1" smtClean="0">
                        <a:latin typeface="Cambria Math" panose="02040503050406030204" pitchFamily="18" charset="0"/>
                      </a:rPr>
                      <m:t>𝑜𝑟</m:t>
                    </m:r>
                    <m:r>
                      <a:rPr lang="en-IN" sz="2400" b="0" i="1" smtClean="0">
                        <a:latin typeface="Cambria Math" panose="02040503050406030204" pitchFamily="18" charset="0"/>
                      </a:rPr>
                      <m:t> </m:t>
                    </m:r>
                    <m:r>
                      <a:rPr lang="en-IN" sz="2400" b="0" i="1" smtClean="0">
                        <a:latin typeface="Cambria Math" panose="02040503050406030204" pitchFamily="18" charset="0"/>
                      </a:rPr>
                      <m:t>𝑃</m:t>
                    </m:r>
                    <m:r>
                      <a:rPr lang="en-IN" sz="2400" b="0" i="1" smtClean="0">
                        <a:latin typeface="Cambria Math" panose="02040503050406030204" pitchFamily="18" charset="0"/>
                      </a:rPr>
                      <m:t>&lt;</m:t>
                    </m:r>
                    <m:sSub>
                      <m:sSubPr>
                        <m:ctrlPr>
                          <a:rPr lang="en-IN" sz="2400" b="0" i="1" smtClean="0">
                            <a:latin typeface="Cambria Math" panose="02040503050406030204" pitchFamily="18" charset="0"/>
                          </a:rPr>
                        </m:ctrlPr>
                      </m:sSubPr>
                      <m:e>
                        <m:r>
                          <a:rPr lang="en-IN" sz="2400" i="1" smtClean="0">
                            <a:latin typeface="Cambria Math" panose="02040503050406030204" pitchFamily="18" charset="0"/>
                          </a:rPr>
                          <m:t>𝑃</m:t>
                        </m:r>
                      </m:e>
                      <m:sub>
                        <m:r>
                          <a:rPr lang="en-IN" sz="2400" b="0" i="1" smtClean="0">
                            <a:latin typeface="Cambria Math" panose="02040503050406030204" pitchFamily="18" charset="0"/>
                          </a:rPr>
                          <m:t>0</m:t>
                        </m:r>
                      </m:sub>
                    </m:sSub>
                  </m:oMath>
                </a14:m>
                <a:endParaRPr lang="en-IN" sz="2400" dirty="0">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 3: </a:t>
                </a:r>
                <a:r>
                  <a:rPr lang="en-IN" sz="2400" dirty="0">
                    <a:solidFill>
                      <a:schemeClr val="tx1"/>
                    </a:solidFill>
                    <a:latin typeface="Times New Roman" panose="02020603050405020304" pitchFamily="18" charset="0"/>
                    <a:cs typeface="Times New Roman" panose="02020603050405020304" pitchFamily="18" charset="0"/>
                  </a:rPr>
                  <a:t>Test Statistics </a:t>
                </a:r>
                <a14:m>
                  <m:oMath xmlns:m="http://schemas.openxmlformats.org/officeDocument/2006/math">
                    <m:r>
                      <a:rPr lang="en-IN" sz="2400" b="0" i="0" smtClean="0">
                        <a:solidFill>
                          <a:schemeClr val="tx1"/>
                        </a:solidFill>
                        <a:latin typeface="Cambria Math" panose="02040503050406030204" pitchFamily="18" charset="0"/>
                        <a:cs typeface="Times New Roman" panose="02020603050405020304" pitchFamily="18" charset="0"/>
                      </a:rPr>
                      <m:t>  </m:t>
                    </m:r>
                    <m:r>
                      <a:rPr lang="en-IN" sz="2400" b="0" i="1" smtClean="0">
                        <a:solidFill>
                          <a:schemeClr val="tx1"/>
                        </a:solidFill>
                        <a:latin typeface="Cambria Math" panose="02040503050406030204" pitchFamily="18" charset="0"/>
                        <a:cs typeface="Times New Roman" panose="02020603050405020304" pitchFamily="18" charset="0"/>
                      </a:rPr>
                      <m:t>𝑍</m:t>
                    </m:r>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IN" sz="2400" b="0" i="1" smtClean="0">
                                <a:solidFill>
                                  <a:schemeClr val="tx1"/>
                                </a:solidFill>
                                <a:latin typeface="Cambria Math" panose="02040503050406030204" pitchFamily="18" charset="0"/>
                                <a:cs typeface="Times New Roman" panose="02020603050405020304" pitchFamily="18" charset="0"/>
                              </a:rPr>
                            </m:ctrlPr>
                          </m:dPr>
                          <m:e>
                            <m:r>
                              <a:rPr lang="en-IN" sz="2400" b="0" i="1" smtClean="0">
                                <a:solidFill>
                                  <a:schemeClr val="tx1"/>
                                </a:solidFill>
                                <a:latin typeface="Cambria Math" panose="02040503050406030204" pitchFamily="18" charset="0"/>
                                <a:cs typeface="Times New Roman" panose="02020603050405020304" pitchFamily="18" charset="0"/>
                              </a:rPr>
                              <m:t>𝑝</m:t>
                            </m:r>
                            <m:r>
                              <a:rPr lang="en-IN" sz="2400" b="0" i="1" smtClean="0">
                                <a:solidFill>
                                  <a:schemeClr val="tx1"/>
                                </a:solidFill>
                                <a:latin typeface="Cambria Math" panose="02040503050406030204" pitchFamily="18" charset="0"/>
                                <a:cs typeface="Times New Roman" panose="02020603050405020304" pitchFamily="18" charset="0"/>
                              </a:rPr>
                              <m:t>−</m:t>
                            </m:r>
                            <m:r>
                              <a:rPr lang="en-IN" sz="2400" b="0" i="1" smtClean="0">
                                <a:solidFill>
                                  <a:schemeClr val="tx1"/>
                                </a:solidFill>
                                <a:latin typeface="Cambria Math" panose="02040503050406030204" pitchFamily="18" charset="0"/>
                                <a:cs typeface="Times New Roman" panose="02020603050405020304" pitchFamily="18" charset="0"/>
                              </a:rPr>
                              <m:t>𝑃</m:t>
                            </m:r>
                          </m:e>
                        </m:d>
                      </m:num>
                      <m:den>
                        <m:rad>
                          <m:radPr>
                            <m:degHide m:val="on"/>
                            <m:ctrlPr>
                              <a:rPr lang="en-IN" sz="2400" b="0" i="1" smtClean="0">
                                <a:solidFill>
                                  <a:schemeClr val="tx1"/>
                                </a:solidFill>
                                <a:latin typeface="Cambria Math" panose="02040503050406030204" pitchFamily="18" charset="0"/>
                                <a:cs typeface="Times New Roman" panose="02020603050405020304" pitchFamily="18" charset="0"/>
                              </a:rPr>
                            </m:ctrlPr>
                          </m:radPr>
                          <m:deg/>
                          <m:e>
                            <m:f>
                              <m:fPr>
                                <m:ctrlPr>
                                  <a:rPr lang="en-IN" sz="2400" b="0" i="1" smtClean="0">
                                    <a:solidFill>
                                      <a:schemeClr val="tx1"/>
                                    </a:solidFill>
                                    <a:latin typeface="Cambria Math" panose="02040503050406030204" pitchFamily="18" charset="0"/>
                                    <a:cs typeface="Times New Roman" panose="02020603050405020304" pitchFamily="18" charset="0"/>
                                  </a:rPr>
                                </m:ctrlPr>
                              </m:fPr>
                              <m:num>
                                <m:r>
                                  <a:rPr lang="en-IN" sz="2400" b="0" i="1" smtClean="0">
                                    <a:solidFill>
                                      <a:schemeClr val="tx1"/>
                                    </a:solidFill>
                                    <a:latin typeface="Cambria Math" panose="02040503050406030204" pitchFamily="18" charset="0"/>
                                    <a:cs typeface="Times New Roman" panose="02020603050405020304" pitchFamily="18" charset="0"/>
                                  </a:rPr>
                                  <m:t>𝑃</m:t>
                                </m:r>
                                <m:r>
                                  <a:rPr lang="en-IN" sz="2400" b="0" i="1" smtClean="0">
                                    <a:solidFill>
                                      <a:schemeClr val="tx1"/>
                                    </a:solidFill>
                                    <a:latin typeface="Cambria Math" panose="02040503050406030204" pitchFamily="18" charset="0"/>
                                    <a:cs typeface="Times New Roman" panose="02020603050405020304" pitchFamily="18" charset="0"/>
                                  </a:rPr>
                                  <m:t>∗</m:t>
                                </m:r>
                                <m:r>
                                  <a:rPr lang="en-IN" sz="2400" b="0" i="1" smtClean="0">
                                    <a:solidFill>
                                      <a:schemeClr val="tx1"/>
                                    </a:solidFill>
                                    <a:latin typeface="Cambria Math" panose="02040503050406030204" pitchFamily="18" charset="0"/>
                                    <a:cs typeface="Times New Roman" panose="02020603050405020304" pitchFamily="18" charset="0"/>
                                  </a:rPr>
                                  <m:t>𝑄</m:t>
                                </m:r>
                              </m:num>
                              <m:den>
                                <m:r>
                                  <a:rPr lang="en-IN" sz="2400" b="0" i="1" smtClean="0">
                                    <a:solidFill>
                                      <a:schemeClr val="tx1"/>
                                    </a:solidFill>
                                    <a:latin typeface="Cambria Math" panose="02040503050406030204" pitchFamily="18" charset="0"/>
                                    <a:cs typeface="Times New Roman" panose="02020603050405020304" pitchFamily="18" charset="0"/>
                                  </a:rPr>
                                  <m:t>𝑛</m:t>
                                </m:r>
                              </m:den>
                            </m:f>
                          </m:e>
                        </m:rad>
                      </m:den>
                    </m:f>
                  </m:oMath>
                </a14:m>
                <a:endParaRPr lang="en-IN" sz="24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Denominator is the standard error of sample proportion i.e. S.E. (p)</a:t>
                </a:r>
                <a:r>
                  <a:rPr lang="en-IN" sz="2400" dirty="0">
                    <a:solidFill>
                      <a:schemeClr val="tx1"/>
                    </a:solidFill>
                    <a:latin typeface="Times New Roman" panose="02020603050405020304" pitchFamily="18" charset="0"/>
                    <a:cs typeface="Times New Roman" panose="02020603050405020304" pitchFamily="18" charset="0"/>
                  </a:rPr>
                  <a:t>  </a:t>
                </a:r>
              </a:p>
              <a:p>
                <a:pPr algn="just">
                  <a:lnSpc>
                    <a:spcPct val="150000"/>
                  </a:lnSpc>
                </a:pPr>
                <a:r>
                  <a:rPr lang="en-IN" sz="2400" b="1" dirty="0">
                    <a:latin typeface="Times New Roman" panose="02020603050405020304" pitchFamily="18" charset="0"/>
                    <a:cs typeface="Times New Roman" panose="02020603050405020304" pitchFamily="18" charset="0"/>
                  </a:rPr>
                  <a:t>Step-4: </a:t>
                </a:r>
                <a:r>
                  <a:rPr lang="en-IN" sz="2400" dirty="0">
                    <a:latin typeface="Times New Roman" panose="02020603050405020304" pitchFamily="18" charset="0"/>
                    <a:cs typeface="Times New Roman" panose="02020603050405020304" pitchFamily="18" charset="0"/>
                  </a:rPr>
                  <a:t>Table value of z at </a:t>
                </a:r>
                <a:r>
                  <a:rPr lang="en-IN" sz="2400" dirty="0">
                    <a:latin typeface="Times New Roman" panose="02020603050405020304" pitchFamily="18" charset="0"/>
                    <a:ea typeface="Calibri" panose="020F0502020204030204" pitchFamily="34" charset="0"/>
                    <a:cs typeface="Times New Roman" panose="02020603050405020304" pitchFamily="18" charset="0"/>
                  </a:rPr>
                  <a:t>α % level of significance.</a:t>
                </a:r>
              </a:p>
              <a:p>
                <a:pPr algn="just">
                  <a:lnSpc>
                    <a:spcPct val="150000"/>
                  </a:lnSpc>
                </a:pPr>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Step-5: </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Accepted.</a:t>
                </a:r>
              </a:p>
              <a:p>
                <a:pPr algn="just">
                  <a:lnSpc>
                    <a:spcPct val="150000"/>
                  </a:lnSpc>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&gt;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Rejected.</a:t>
                </a:r>
              </a:p>
              <a:p>
                <a:pPr algn="just">
                  <a:lnSpc>
                    <a:spcPct val="150000"/>
                  </a:lnSpc>
                </a:pPr>
                <a:endParaRPr lang="en-IN"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10A1F011-CC4B-1AE7-9AD4-D15077CB881D}"/>
                  </a:ext>
                </a:extLst>
              </p:cNvPr>
              <p:cNvSpPr txBox="1">
                <a:spLocks noRot="1" noChangeAspect="1" noMove="1" noResize="1" noEditPoints="1" noAdjustHandles="1" noChangeArrowheads="1" noChangeShapeType="1" noTextEdit="1"/>
              </p:cNvSpPr>
              <p:nvPr/>
            </p:nvSpPr>
            <p:spPr>
              <a:xfrm>
                <a:off x="397565" y="1195999"/>
                <a:ext cx="11290851" cy="5178149"/>
              </a:xfrm>
              <a:prstGeom prst="rect">
                <a:avLst/>
              </a:prstGeom>
              <a:blipFill>
                <a:blip r:embed="rId5"/>
                <a:stretch>
                  <a:fillRect l="-810"/>
                </a:stretch>
              </a:blipFill>
            </p:spPr>
            <p:txBody>
              <a:bodyPr/>
              <a:lstStyle/>
              <a:p>
                <a:r>
                  <a:rPr lang="en-IN">
                    <a:noFill/>
                  </a:rPr>
                  <a:t> </a:t>
                </a:r>
              </a:p>
            </p:txBody>
          </p:sp>
        </mc:Fallback>
      </mc:AlternateContent>
    </p:spTree>
    <p:extLst>
      <p:ext uri="{BB962C8B-B14F-4D97-AF65-F5344CB8AC3E}">
        <p14:creationId xmlns:p14="http://schemas.microsoft.com/office/powerpoint/2010/main" val="3792121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Case Study 1</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24</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397565" y="1195999"/>
            <a:ext cx="11290851"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Globally the long term proportion of new-borns who are male is 51.46%. A researcher believes that the proportion of boys at birth changes under severe economic conditions. To test this belief randomly selected birth records of 5, 000 babies born during a period of economic recession were examined. It was found in the sample that 52.55% of the new-borns were boys.</a:t>
            </a:r>
          </a:p>
          <a:p>
            <a:pPr algn="just">
              <a:lnSpc>
                <a:spcPct val="150000"/>
              </a:lnSpc>
            </a:pPr>
            <a:r>
              <a:rPr lang="en-IN" sz="2400" dirty="0">
                <a:solidFill>
                  <a:schemeClr val="tx1"/>
                </a:solidFill>
                <a:latin typeface="Times New Roman" panose="02020603050405020304" pitchFamily="18" charset="0"/>
                <a:cs typeface="Times New Roman" panose="02020603050405020304" pitchFamily="18" charset="0"/>
              </a:rPr>
              <a:t>Determin</a:t>
            </a:r>
            <a:r>
              <a:rPr lang="en-IN" sz="2400" dirty="0">
                <a:latin typeface="Times New Roman" panose="02020603050405020304" pitchFamily="18" charset="0"/>
                <a:cs typeface="Times New Roman" panose="02020603050405020304" pitchFamily="18" charset="0"/>
              </a:rPr>
              <a:t>e whether there is sufficient evidence, at the 10% level of significance, to support the researcher’s belief.</a:t>
            </a:r>
            <a:endParaRPr lang="en-IN" sz="2400" dirty="0">
              <a:solidFill>
                <a:schemeClr val="tx1"/>
              </a:solidFill>
              <a:latin typeface="Times New Roman" panose="02020603050405020304" pitchFamily="18" charset="0"/>
              <a:cs typeface="Times New Roman" panose="02020603050405020304" pitchFamily="18" charset="0"/>
            </a:endParaRPr>
          </a:p>
          <a:p>
            <a:pPr algn="just">
              <a:lnSpc>
                <a:spcPct val="150000"/>
              </a:lnSpc>
            </a:pP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082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93865" y="152400"/>
            <a:ext cx="10515600"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Case Study 2</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838200" y="1256959"/>
            <a:ext cx="10271760"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A soft drink maker claims that a majority of adults prefer its leading beverage over that of its man competitor’s. To test this claim 500 randomly selected people were given the two beverages in random order to taste. Among then, 270 preferred the soft drink maker’s brand, 211 preferred the competitor’s brand, and 19 could not make up their minds.</a:t>
            </a:r>
          </a:p>
          <a:p>
            <a:pPr algn="just">
              <a:lnSpc>
                <a:spcPct val="150000"/>
              </a:lnSpc>
            </a:pPr>
            <a:r>
              <a:rPr lang="en-IN" sz="2400" dirty="0">
                <a:solidFill>
                  <a:schemeClr val="tx1"/>
                </a:solidFill>
                <a:latin typeface="Times New Roman" panose="02020603050405020304" pitchFamily="18" charset="0"/>
                <a:cs typeface="Times New Roman" panose="02020603050405020304" pitchFamily="18" charset="0"/>
              </a:rPr>
              <a:t>Determine whether there is sufficient eviden</a:t>
            </a:r>
            <a:r>
              <a:rPr lang="en-IN" sz="2400" dirty="0">
                <a:latin typeface="Times New Roman" panose="02020603050405020304" pitchFamily="18" charset="0"/>
                <a:cs typeface="Times New Roman" panose="02020603050405020304" pitchFamily="18" charset="0"/>
              </a:rPr>
              <a:t>ce, at the 5% level of significance, to support the soft drink make’s claim against the default that the population is evenly split in its preference.</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353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24840" y="472440"/>
            <a:ext cx="11567159"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Test 5: Test of significance of difference between two proportions</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0A1F011-CC4B-1AE7-9AD4-D15077CB881D}"/>
                  </a:ext>
                </a:extLst>
              </p:cNvPr>
              <p:cNvSpPr txBox="1"/>
              <p:nvPr/>
            </p:nvSpPr>
            <p:spPr>
              <a:xfrm>
                <a:off x="365760" y="1256959"/>
                <a:ext cx="11201400" cy="4624151"/>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Null Hypothesis H0: </a:t>
                </a:r>
                <a14:m>
                  <m:oMath xmlns:m="http://schemas.openxmlformats.org/officeDocument/2006/math">
                    <m:sSub>
                      <m:sSubPr>
                        <m:ctrlPr>
                          <a:rPr lang="en-IN" sz="2400" b="0" i="0" smtClean="0">
                            <a:solidFill>
                              <a:schemeClr val="tx1"/>
                            </a:solidFill>
                            <a:latin typeface="Cambria Math" panose="02040503050406030204" pitchFamily="18" charset="0"/>
                          </a:rPr>
                        </m:ctrlPr>
                      </m:sSubPr>
                      <m:e>
                        <m:r>
                          <m:rPr>
                            <m:sty m:val="p"/>
                          </m:rPr>
                          <a:rPr lang="en-IN" sz="2400" b="0" i="0" smtClean="0">
                            <a:solidFill>
                              <a:schemeClr val="tx1"/>
                            </a:solidFill>
                            <a:latin typeface="Cambria Math" panose="02040503050406030204" pitchFamily="18" charset="0"/>
                          </a:rPr>
                          <m:t>P</m:t>
                        </m:r>
                      </m:e>
                      <m:sub>
                        <m:r>
                          <a:rPr lang="en-IN" sz="2400" b="0" i="0" smtClean="0">
                            <a:solidFill>
                              <a:schemeClr val="tx1"/>
                            </a:solidFill>
                            <a:latin typeface="Cambria Math" panose="02040503050406030204" pitchFamily="18" charset="0"/>
                          </a:rPr>
                          <m:t>1</m:t>
                        </m:r>
                      </m:sub>
                    </m:sSub>
                    <m:r>
                      <a:rPr lang="en-IN" sz="2400" b="0" i="1" smtClean="0">
                        <a:solidFill>
                          <a:schemeClr val="tx1"/>
                        </a:solidFill>
                        <a:latin typeface="Cambria Math" panose="02040503050406030204" pitchFamily="18" charset="0"/>
                      </a:rPr>
                      <m:t>=</m:t>
                    </m:r>
                    <m:sSub>
                      <m:sSubPr>
                        <m:ctrlPr>
                          <a:rPr lang="en-IN" sz="2400" b="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𝑃</m:t>
                        </m:r>
                      </m:e>
                      <m:sub>
                        <m:r>
                          <a:rPr lang="en-IN" sz="2400" b="0" i="1" smtClean="0">
                            <a:solidFill>
                              <a:schemeClr val="tx1"/>
                            </a:solidFill>
                            <a:latin typeface="Cambria Math" panose="02040503050406030204" pitchFamily="18" charset="0"/>
                          </a:rPr>
                          <m:t>2</m:t>
                        </m:r>
                      </m:sub>
                    </m:sSub>
                  </m:oMath>
                </a14:m>
                <a:endParaRPr lang="en-IN" sz="2400" b="0" dirty="0">
                  <a:solidFill>
                    <a:schemeClr val="tx1"/>
                  </a:solidFill>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Step-2: </a:t>
                </a:r>
                <a:r>
                  <a:rPr lang="en-IN" sz="2400" dirty="0">
                    <a:solidFill>
                      <a:schemeClr val="tx1"/>
                    </a:solidFill>
                    <a:latin typeface="Times New Roman" panose="02020603050405020304" pitchFamily="18" charset="0"/>
                    <a:cs typeface="Times New Roman" panose="02020603050405020304" pitchFamily="18" charset="0"/>
                  </a:rPr>
                  <a:t>Alternative Hypothesis H1 : </a:t>
                </a: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2</m:t>
                        </m:r>
                      </m:sub>
                    </m:sSub>
                    <m:r>
                      <a:rPr lang="en-IN" sz="2400" i="1">
                        <a:latin typeface="Cambria Math" panose="02040503050406030204" pitchFamily="18" charset="0"/>
                      </a:rPr>
                      <m:t> </m:t>
                    </m:r>
                    <m:r>
                      <a:rPr lang="en-IN" sz="2400" i="1">
                        <a:latin typeface="Cambria Math" panose="02040503050406030204" pitchFamily="18" charset="0"/>
                      </a:rPr>
                      <m:t>𝑜𝑟</m:t>
                    </m:r>
                    <m:r>
                      <a:rPr lang="en-IN" sz="2400" b="0" i="1" smtClean="0">
                        <a:latin typeface="Cambria Math" panose="02040503050406030204" pitchFamily="18" charset="0"/>
                      </a:rPr>
                      <m:t> </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&gt;</m:t>
                    </m:r>
                    <m:sSub>
                      <m:sSubPr>
                        <m:ctrlPr>
                          <a:rPr lang="en-IN" sz="2400" i="1">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 </m:t>
                    </m:r>
                    <m:r>
                      <a:rPr lang="en-IN" sz="2400" b="0" i="1" smtClean="0">
                        <a:latin typeface="Cambria Math" panose="02040503050406030204" pitchFamily="18" charset="0"/>
                      </a:rPr>
                      <m:t>𝑜𝑟</m:t>
                    </m:r>
                    <m:r>
                      <a:rPr lang="en-IN" sz="2400" b="0" i="1" smtClean="0">
                        <a:latin typeface="Cambria Math" panose="02040503050406030204" pitchFamily="18" charset="0"/>
                      </a:rPr>
                      <m:t> </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𝑃</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&lt;</m:t>
                    </m:r>
                    <m:sSub>
                      <m:sSubPr>
                        <m:ctrlPr>
                          <a:rPr lang="en-IN" sz="2400" b="0" i="1" smtClean="0">
                            <a:latin typeface="Cambria Math" panose="02040503050406030204" pitchFamily="18" charset="0"/>
                          </a:rPr>
                        </m:ctrlPr>
                      </m:sSubPr>
                      <m:e>
                        <m:r>
                          <a:rPr lang="en-IN" sz="2400" i="1" smtClean="0">
                            <a:latin typeface="Cambria Math" panose="02040503050406030204" pitchFamily="18" charset="0"/>
                          </a:rPr>
                          <m:t>𝑃</m:t>
                        </m:r>
                      </m:e>
                      <m:sub>
                        <m:r>
                          <a:rPr lang="en-IN" sz="2400" b="0" i="1" smtClean="0">
                            <a:latin typeface="Cambria Math" panose="02040503050406030204" pitchFamily="18" charset="0"/>
                          </a:rPr>
                          <m:t>2</m:t>
                        </m:r>
                      </m:sub>
                    </m:sSub>
                  </m:oMath>
                </a14:m>
                <a:endParaRPr lang="en-IN" sz="2400" dirty="0">
                  <a:latin typeface="Times New Roman" panose="02020603050405020304" pitchFamily="18" charset="0"/>
                </a:endParaRPr>
              </a:p>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Step 3: </a:t>
                </a:r>
                <a:r>
                  <a:rPr lang="en-IN" sz="2400" dirty="0">
                    <a:solidFill>
                      <a:schemeClr val="tx1"/>
                    </a:solidFill>
                    <a:latin typeface="Times New Roman" panose="02020603050405020304" pitchFamily="18" charset="0"/>
                    <a:cs typeface="Times New Roman" panose="02020603050405020304" pitchFamily="18" charset="0"/>
                  </a:rPr>
                  <a:t>Test Statistics </a:t>
                </a:r>
                <a14:m>
                  <m:oMath xmlns:m="http://schemas.openxmlformats.org/officeDocument/2006/math">
                    <m:r>
                      <a:rPr lang="en-IN" sz="2400" b="0" i="0" smtClean="0">
                        <a:solidFill>
                          <a:schemeClr val="tx1"/>
                        </a:solidFill>
                        <a:latin typeface="Cambria Math" panose="02040503050406030204" pitchFamily="18" charset="0"/>
                        <a:cs typeface="Times New Roman" panose="02020603050405020304" pitchFamily="18" charset="0"/>
                      </a:rPr>
                      <m:t>  </m:t>
                    </m:r>
                    <m:r>
                      <a:rPr lang="en-IN" sz="2400" b="0" i="1" smtClean="0">
                        <a:solidFill>
                          <a:schemeClr val="tx1"/>
                        </a:solidFill>
                        <a:latin typeface="Cambria Math" panose="02040503050406030204" pitchFamily="18" charset="0"/>
                        <a:cs typeface="Times New Roman" panose="02020603050405020304" pitchFamily="18" charset="0"/>
                      </a:rPr>
                      <m:t>𝑍</m:t>
                    </m:r>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d>
                          <m:dPr>
                            <m:begChr m:val="|"/>
                            <m:endChr m:val="|"/>
                            <m:ctrlPr>
                              <a:rPr lang="en-IN" sz="2400" b="0" i="1" smtClean="0">
                                <a:solidFill>
                                  <a:schemeClr val="tx1"/>
                                </a:solidFill>
                                <a:latin typeface="Cambria Math" panose="02040503050406030204" pitchFamily="18" charset="0"/>
                                <a:cs typeface="Times New Roman" panose="02020603050405020304" pitchFamily="18" charset="0"/>
                              </a:rPr>
                            </m:ctrlPr>
                          </m:dPr>
                          <m:e>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𝑝</m:t>
                                </m:r>
                              </m:e>
                              <m:sub>
                                <m:r>
                                  <a:rPr lang="en-IN" sz="2400" b="0" i="1" smtClean="0">
                                    <a:solidFill>
                                      <a:schemeClr val="tx1"/>
                                    </a:solidFill>
                                    <a:latin typeface="Cambria Math" panose="02040503050406030204" pitchFamily="18" charset="0"/>
                                    <a:cs typeface="Times New Roman" panose="02020603050405020304" pitchFamily="18" charset="0"/>
                                  </a:rPr>
                                  <m:t>1</m:t>
                                </m:r>
                              </m:sub>
                            </m:sSub>
                            <m:r>
                              <a:rPr lang="en-IN" sz="2400" b="0" i="1" smtClean="0">
                                <a:solidFill>
                                  <a:schemeClr val="tx1"/>
                                </a:solidFill>
                                <a:latin typeface="Cambria Math" panose="02040503050406030204" pitchFamily="18" charset="0"/>
                                <a:cs typeface="Times New Roman" panose="02020603050405020304" pitchFamily="18" charset="0"/>
                              </a:rPr>
                              <m:t>−</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𝑝</m:t>
                                </m:r>
                              </m:e>
                              <m:sub>
                                <m:r>
                                  <a:rPr lang="en-IN" sz="2400" b="0" i="1" smtClean="0">
                                    <a:solidFill>
                                      <a:schemeClr val="tx1"/>
                                    </a:solidFill>
                                    <a:latin typeface="Cambria Math" panose="02040503050406030204" pitchFamily="18" charset="0"/>
                                    <a:cs typeface="Times New Roman" panose="02020603050405020304" pitchFamily="18" charset="0"/>
                                  </a:rPr>
                                  <m:t>2</m:t>
                                </m:r>
                              </m:sub>
                            </m:sSub>
                          </m:e>
                        </m:d>
                      </m:num>
                      <m:den>
                        <m:rad>
                          <m:radPr>
                            <m:degHide m:val="on"/>
                            <m:ctrlPr>
                              <a:rPr lang="en-IN" sz="2400" b="0" i="1" smtClean="0">
                                <a:solidFill>
                                  <a:schemeClr val="tx1"/>
                                </a:solidFill>
                                <a:latin typeface="Cambria Math" panose="02040503050406030204" pitchFamily="18" charset="0"/>
                                <a:cs typeface="Times New Roman" panose="02020603050405020304" pitchFamily="18" charset="0"/>
                              </a:rPr>
                            </m:ctrlPr>
                          </m:radPr>
                          <m:deg/>
                          <m:e>
                            <m:f>
                              <m:fPr>
                                <m:ctrlPr>
                                  <a:rPr lang="en-IN" sz="2400" b="0" i="1" smtClean="0">
                                    <a:solidFill>
                                      <a:schemeClr val="tx1"/>
                                    </a:solidFill>
                                    <a:latin typeface="Cambria Math" panose="02040503050406030204" pitchFamily="18" charset="0"/>
                                    <a:cs typeface="Times New Roman" panose="02020603050405020304" pitchFamily="18" charset="0"/>
                                  </a:rPr>
                                </m:ctrlPr>
                              </m:fPr>
                              <m:num>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𝑃</m:t>
                                    </m:r>
                                  </m:e>
                                  <m:sub>
                                    <m:r>
                                      <a:rPr lang="en-IN" sz="2400" b="0" i="1" smtClean="0">
                                        <a:solidFill>
                                          <a:schemeClr val="tx1"/>
                                        </a:solidFill>
                                        <a:latin typeface="Cambria Math" panose="02040503050406030204" pitchFamily="18" charset="0"/>
                                        <a:cs typeface="Times New Roman" panose="02020603050405020304" pitchFamily="18" charset="0"/>
                                      </a:rPr>
                                      <m:t>1</m:t>
                                    </m:r>
                                  </m:sub>
                                </m:sSub>
                                <m:r>
                                  <a:rPr lang="en-IN" sz="2400" b="0" i="1" smtClean="0">
                                    <a:solidFill>
                                      <a:schemeClr val="tx1"/>
                                    </a:solidFill>
                                    <a:latin typeface="Cambria Math" panose="02040503050406030204" pitchFamily="18" charset="0"/>
                                    <a:cs typeface="Times New Roman" panose="02020603050405020304" pitchFamily="18" charset="0"/>
                                  </a:rPr>
                                  <m:t>∗</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𝑄</m:t>
                                    </m:r>
                                  </m:e>
                                  <m:sub>
                                    <m:r>
                                      <a:rPr lang="en-IN" sz="2400" b="0" i="1" smtClean="0">
                                        <a:solidFill>
                                          <a:schemeClr val="tx1"/>
                                        </a:solidFill>
                                        <a:latin typeface="Cambria Math" panose="02040503050406030204" pitchFamily="18" charset="0"/>
                                        <a:cs typeface="Times New Roman" panose="02020603050405020304" pitchFamily="18" charset="0"/>
                                      </a:rPr>
                                      <m:t>1</m:t>
                                    </m:r>
                                  </m:sub>
                                </m:sSub>
                              </m:num>
                              <m:den>
                                <m:r>
                                  <a:rPr lang="en-IN" sz="2400" b="0" i="1" smtClean="0">
                                    <a:solidFill>
                                      <a:schemeClr val="tx1"/>
                                    </a:solidFill>
                                    <a:latin typeface="Cambria Math" panose="02040503050406030204" pitchFamily="18" charset="0"/>
                                    <a:cs typeface="Times New Roman" panose="02020603050405020304" pitchFamily="18" charset="0"/>
                                  </a:rPr>
                                  <m:t>𝑛</m:t>
                                </m:r>
                              </m:den>
                            </m:f>
                            <m:r>
                              <a:rPr lang="en-IN" sz="2400" b="0" i="1" smtClean="0">
                                <a:solidFill>
                                  <a:schemeClr val="tx1"/>
                                </a:solidFill>
                                <a:latin typeface="Cambria Math" panose="02040503050406030204" pitchFamily="18" charset="0"/>
                                <a:cs typeface="Times New Roman" panose="02020603050405020304" pitchFamily="18" charset="0"/>
                              </a:rPr>
                              <m:t>+</m:t>
                            </m:r>
                            <m:f>
                              <m:fPr>
                                <m:ctrlPr>
                                  <a:rPr lang="en-IN" sz="2400" b="0" i="1" smtClean="0">
                                    <a:solidFill>
                                      <a:schemeClr val="tx1"/>
                                    </a:solidFill>
                                    <a:latin typeface="Cambria Math" panose="02040503050406030204" pitchFamily="18" charset="0"/>
                                    <a:cs typeface="Times New Roman" panose="02020603050405020304" pitchFamily="18" charset="0"/>
                                  </a:rPr>
                                </m:ctrlPr>
                              </m:fPr>
                              <m:num>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𝑃</m:t>
                                    </m:r>
                                  </m:e>
                                  <m:sub>
                                    <m:r>
                                      <a:rPr lang="en-IN" sz="2400" i="1">
                                        <a:latin typeface="Cambria Math" panose="02040503050406030204" pitchFamily="18" charset="0"/>
                                        <a:cs typeface="Times New Roman" panose="02020603050405020304" pitchFamily="18" charset="0"/>
                                      </a:rPr>
                                      <m:t>2</m:t>
                                    </m:r>
                                  </m:sub>
                                </m:sSub>
                                <m:r>
                                  <a:rPr lang="en-IN" sz="2400" i="1">
                                    <a:latin typeface="Cambria Math" panose="02040503050406030204" pitchFamily="18" charset="0"/>
                                    <a:cs typeface="Times New Roman" panose="02020603050405020304" pitchFamily="18" charset="0"/>
                                  </a:rPr>
                                  <m:t>∗</m:t>
                                </m:r>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𝑄</m:t>
                                    </m:r>
                                  </m:e>
                                  <m:sub>
                                    <m:r>
                                      <a:rPr lang="en-IN" sz="2400" b="0" i="1" smtClean="0">
                                        <a:solidFill>
                                          <a:schemeClr val="tx1"/>
                                        </a:solidFill>
                                        <a:latin typeface="Cambria Math" panose="02040503050406030204" pitchFamily="18" charset="0"/>
                                        <a:cs typeface="Times New Roman" panose="02020603050405020304" pitchFamily="18" charset="0"/>
                                      </a:rPr>
                                      <m:t>2</m:t>
                                    </m:r>
                                  </m:sub>
                                </m:sSub>
                              </m:num>
                              <m:den>
                                <m:sSub>
                                  <m:sSubPr>
                                    <m:ctrlPr>
                                      <a:rPr lang="en-IN" sz="2400" b="0" i="1" smtClean="0">
                                        <a:solidFill>
                                          <a:schemeClr val="tx1"/>
                                        </a:solidFill>
                                        <a:latin typeface="Cambria Math" panose="02040503050406030204" pitchFamily="18" charset="0"/>
                                        <a:cs typeface="Times New Roman" panose="02020603050405020304" pitchFamily="18" charset="0"/>
                                      </a:rPr>
                                    </m:ctrlPr>
                                  </m:sSubPr>
                                  <m:e>
                                    <m:r>
                                      <a:rPr lang="en-IN" sz="2400" b="0" i="1" smtClean="0">
                                        <a:solidFill>
                                          <a:schemeClr val="tx1"/>
                                        </a:solidFill>
                                        <a:latin typeface="Cambria Math" panose="02040503050406030204" pitchFamily="18" charset="0"/>
                                        <a:cs typeface="Times New Roman" panose="02020603050405020304" pitchFamily="18" charset="0"/>
                                      </a:rPr>
                                      <m:t>𝑛</m:t>
                                    </m:r>
                                  </m:e>
                                  <m:sub>
                                    <m:r>
                                      <a:rPr lang="en-IN" sz="2400" b="0" i="1" smtClean="0">
                                        <a:solidFill>
                                          <a:schemeClr val="tx1"/>
                                        </a:solidFill>
                                        <a:latin typeface="Cambria Math" panose="02040503050406030204" pitchFamily="18" charset="0"/>
                                        <a:cs typeface="Times New Roman" panose="02020603050405020304" pitchFamily="18" charset="0"/>
                                      </a:rPr>
                                      <m:t>2</m:t>
                                    </m:r>
                                  </m:sub>
                                </m:sSub>
                              </m:den>
                            </m:f>
                          </m:e>
                        </m:rad>
                      </m:den>
                    </m:f>
                  </m:oMath>
                </a14:m>
                <a:r>
                  <a:rPr lang="en-IN" sz="2400" dirty="0">
                    <a:solidFill>
                      <a:schemeClr val="tx1"/>
                    </a:solidFill>
                    <a:latin typeface="Times New Roman" panose="02020603050405020304" pitchFamily="18" charset="0"/>
                    <a:cs typeface="Times New Roman" panose="02020603050405020304" pitchFamily="18" charset="0"/>
                  </a:rPr>
                  <a:t> or </a:t>
                </a:r>
                <a14:m>
                  <m:oMath xmlns:m="http://schemas.openxmlformats.org/officeDocument/2006/math">
                    <m:f>
                      <m:fPr>
                        <m:ctrlPr>
                          <a:rPr lang="en-IN" sz="2400" i="1">
                            <a:latin typeface="Cambria Math" panose="02040503050406030204" pitchFamily="18" charset="0"/>
                            <a:cs typeface="Times New Roman" panose="02020603050405020304" pitchFamily="18" charset="0"/>
                          </a:rPr>
                        </m:ctrlPr>
                      </m:fPr>
                      <m:num>
                        <m:d>
                          <m:dPr>
                            <m:begChr m:val="|"/>
                            <m:endChr m:val="|"/>
                            <m:ctrlPr>
                              <a:rPr lang="en-IN" sz="2400" i="1">
                                <a:latin typeface="Cambria Math" panose="02040503050406030204" pitchFamily="18" charset="0"/>
                                <a:cs typeface="Times New Roman" panose="02020603050405020304" pitchFamily="18" charset="0"/>
                              </a:rPr>
                            </m:ctrlPr>
                          </m:dPr>
                          <m:e>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𝑝</m:t>
                                </m:r>
                              </m:e>
                              <m:sub>
                                <m:r>
                                  <a:rPr lang="en-IN" sz="2400" i="1">
                                    <a:latin typeface="Cambria Math" panose="02040503050406030204" pitchFamily="18" charset="0"/>
                                    <a:cs typeface="Times New Roman" panose="02020603050405020304" pitchFamily="18" charset="0"/>
                                  </a:rPr>
                                  <m:t>1</m:t>
                                </m:r>
                              </m:sub>
                            </m:sSub>
                            <m:r>
                              <a:rPr lang="en-IN" sz="2400" i="1">
                                <a:latin typeface="Cambria Math" panose="02040503050406030204" pitchFamily="18" charset="0"/>
                                <a:cs typeface="Times New Roman" panose="02020603050405020304" pitchFamily="18" charset="0"/>
                              </a:rPr>
                              <m:t>−</m:t>
                            </m:r>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𝑝</m:t>
                                </m:r>
                              </m:e>
                              <m:sub>
                                <m:r>
                                  <a:rPr lang="en-IN" sz="2400" i="1">
                                    <a:latin typeface="Cambria Math" panose="02040503050406030204" pitchFamily="18" charset="0"/>
                                    <a:cs typeface="Times New Roman" panose="02020603050405020304" pitchFamily="18" charset="0"/>
                                  </a:rPr>
                                  <m:t>2</m:t>
                                </m:r>
                              </m:sub>
                            </m:sSub>
                          </m:e>
                        </m:d>
                      </m:num>
                      <m:den>
                        <m:rad>
                          <m:radPr>
                            <m:degHide m:val="on"/>
                            <m:ctrlPr>
                              <a:rPr lang="en-IN" sz="2400" i="1">
                                <a:latin typeface="Cambria Math" panose="02040503050406030204" pitchFamily="18" charset="0"/>
                                <a:cs typeface="Times New Roman" panose="02020603050405020304" pitchFamily="18" charset="0"/>
                              </a:rPr>
                            </m:ctrlPr>
                          </m:radPr>
                          <m:deg/>
                          <m:e>
                            <m:acc>
                              <m:accPr>
                                <m:chr m:val="̂"/>
                                <m:ctrlPr>
                                  <a:rPr lang="en-IN" sz="2400" i="1">
                                    <a:latin typeface="Cambria Math" panose="02040503050406030204" pitchFamily="18" charset="0"/>
                                    <a:cs typeface="Times New Roman" panose="02020603050405020304" pitchFamily="18" charset="0"/>
                                  </a:rPr>
                                </m:ctrlPr>
                              </m:accPr>
                              <m:e>
                                <m:r>
                                  <a:rPr lang="en-IN" sz="2400" i="1">
                                    <a:latin typeface="Cambria Math" panose="02040503050406030204" pitchFamily="18" charset="0"/>
                                    <a:cs typeface="Times New Roman" panose="02020603050405020304" pitchFamily="18" charset="0"/>
                                  </a:rPr>
                                  <m:t>𝑃</m:t>
                                </m:r>
                              </m:e>
                            </m:acc>
                            <m:r>
                              <a:rPr lang="en-IN" sz="2400" i="1">
                                <a:latin typeface="Cambria Math" panose="02040503050406030204" pitchFamily="18" charset="0"/>
                                <a:cs typeface="Times New Roman" panose="02020603050405020304" pitchFamily="18" charset="0"/>
                              </a:rPr>
                              <m:t>∗</m:t>
                            </m:r>
                            <m:acc>
                              <m:accPr>
                                <m:chr m:val="̂"/>
                                <m:ctrlPr>
                                  <a:rPr lang="en-IN" sz="2400" i="1">
                                    <a:latin typeface="Cambria Math" panose="02040503050406030204" pitchFamily="18" charset="0"/>
                                    <a:cs typeface="Times New Roman" panose="02020603050405020304" pitchFamily="18" charset="0"/>
                                  </a:rPr>
                                </m:ctrlPr>
                              </m:accPr>
                              <m:e>
                                <m:r>
                                  <a:rPr lang="en-IN" sz="2400" i="1">
                                    <a:latin typeface="Cambria Math" panose="02040503050406030204" pitchFamily="18" charset="0"/>
                                    <a:cs typeface="Times New Roman" panose="02020603050405020304" pitchFamily="18" charset="0"/>
                                  </a:rPr>
                                  <m:t>𝑄</m:t>
                                </m:r>
                              </m:e>
                            </m:acc>
                            <m:d>
                              <m:dPr>
                                <m:ctrlPr>
                                  <a:rPr lang="en-IN" sz="2400" b="0" i="1" smtClean="0">
                                    <a:latin typeface="Cambria Math" panose="02040503050406030204" pitchFamily="18" charset="0"/>
                                    <a:cs typeface="Times New Roman" panose="02020603050405020304" pitchFamily="18" charset="0"/>
                                  </a:rPr>
                                </m:ctrlPr>
                              </m:dPr>
                              <m:e>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1</m:t>
                                    </m:r>
                                  </m:num>
                                  <m:den>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𝑛</m:t>
                                        </m:r>
                                      </m:e>
                                      <m:sub>
                                        <m:r>
                                          <a:rPr lang="en-IN" sz="2400" b="0" i="1" smtClean="0">
                                            <a:latin typeface="Cambria Math" panose="02040503050406030204" pitchFamily="18" charset="0"/>
                                            <a:cs typeface="Times New Roman" panose="02020603050405020304" pitchFamily="18" charset="0"/>
                                          </a:rPr>
                                          <m:t>1</m:t>
                                        </m:r>
                                      </m:sub>
                                    </m:sSub>
                                  </m:den>
                                </m:f>
                                <m:r>
                                  <a:rPr lang="en-IN" sz="2400" b="0" i="1" smtClean="0">
                                    <a:latin typeface="Cambria Math" panose="02040503050406030204" pitchFamily="18" charset="0"/>
                                    <a:cs typeface="Times New Roman" panose="02020603050405020304" pitchFamily="18" charset="0"/>
                                  </a:rPr>
                                  <m:t>+</m:t>
                                </m:r>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1</m:t>
                                    </m:r>
                                  </m:num>
                                  <m:den>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𝑛</m:t>
                                        </m:r>
                                      </m:e>
                                      <m:sub>
                                        <m:r>
                                          <a:rPr lang="en-IN" sz="2400" b="0" i="1" smtClean="0">
                                            <a:latin typeface="Cambria Math" panose="02040503050406030204" pitchFamily="18" charset="0"/>
                                            <a:cs typeface="Times New Roman" panose="02020603050405020304" pitchFamily="18" charset="0"/>
                                          </a:rPr>
                                          <m:t>2</m:t>
                                        </m:r>
                                      </m:sub>
                                    </m:sSub>
                                  </m:den>
                                </m:f>
                              </m:e>
                            </m:d>
                          </m:e>
                        </m:rad>
                      </m:den>
                    </m:f>
                  </m:oMath>
                </a14:m>
                <a:r>
                  <a:rPr lang="en-IN" sz="2400" dirty="0">
                    <a:solidFill>
                      <a:schemeClr val="tx1"/>
                    </a:solidFill>
                    <a:latin typeface="Times New Roman" panose="02020603050405020304" pitchFamily="18" charset="0"/>
                    <a:cs typeface="Times New Roman" panose="02020603050405020304" pitchFamily="18" charset="0"/>
                  </a:rPr>
                  <a:t>   where </a:t>
                </a:r>
                <a14:m>
                  <m:oMath xmlns:m="http://schemas.openxmlformats.org/officeDocument/2006/math">
                    <m:acc>
                      <m:accPr>
                        <m:chr m:val="̂"/>
                        <m:ctrlPr>
                          <a:rPr lang="en-IN" sz="2400" i="1">
                            <a:latin typeface="Cambria Math" panose="02040503050406030204" pitchFamily="18" charset="0"/>
                            <a:cs typeface="Times New Roman" panose="02020603050405020304" pitchFamily="18" charset="0"/>
                          </a:rPr>
                        </m:ctrlPr>
                      </m:accPr>
                      <m:e>
                        <m:r>
                          <a:rPr lang="en-IN" sz="2400" i="1">
                            <a:latin typeface="Cambria Math" panose="02040503050406030204" pitchFamily="18" charset="0"/>
                            <a:cs typeface="Times New Roman" panose="02020603050405020304" pitchFamily="18" charset="0"/>
                          </a:rPr>
                          <m:t>𝑃</m:t>
                        </m:r>
                      </m:e>
                    </m:acc>
                    <m:r>
                      <a:rPr lang="en-IN" sz="2400" b="0" i="1" smtClean="0">
                        <a:latin typeface="Cambria Math" panose="02040503050406030204" pitchFamily="18" charset="0"/>
                        <a:cs typeface="Times New Roman" panose="02020603050405020304" pitchFamily="18" charset="0"/>
                      </a:rPr>
                      <m:t>=</m:t>
                    </m:r>
                    <m:f>
                      <m:fPr>
                        <m:ctrlPr>
                          <a:rPr lang="en-IN" sz="2400" b="0" i="1" smtClean="0">
                            <a:latin typeface="Cambria Math" panose="02040503050406030204" pitchFamily="18" charset="0"/>
                            <a:cs typeface="Times New Roman" panose="02020603050405020304" pitchFamily="18" charset="0"/>
                          </a:rPr>
                        </m:ctrlPr>
                      </m:fPr>
                      <m:num>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𝑛</m:t>
                            </m:r>
                          </m:e>
                          <m:sub>
                            <m:r>
                              <a:rPr lang="en-IN" sz="2400" i="1">
                                <a:latin typeface="Cambria Math" panose="02040503050406030204" pitchFamily="18" charset="0"/>
                                <a:cs typeface="Times New Roman" panose="02020603050405020304" pitchFamily="18" charset="0"/>
                              </a:rPr>
                              <m:t>1</m:t>
                            </m:r>
                          </m:sub>
                        </m:sSub>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𝑝</m:t>
                            </m:r>
                          </m:e>
                          <m:sub>
                            <m:r>
                              <a:rPr lang="en-IN" sz="2400" i="1">
                                <a:latin typeface="Cambria Math" panose="02040503050406030204" pitchFamily="18" charset="0"/>
                                <a:cs typeface="Times New Roman" panose="02020603050405020304" pitchFamily="18" charset="0"/>
                              </a:rPr>
                              <m:t>1</m:t>
                            </m:r>
                          </m:sub>
                        </m:sSub>
                        <m:r>
                          <a:rPr lang="en-IN" sz="2400" i="1">
                            <a:latin typeface="Cambria Math" panose="02040503050406030204" pitchFamily="18" charset="0"/>
                            <a:cs typeface="Times New Roman" panose="02020603050405020304" pitchFamily="18" charset="0"/>
                          </a:rPr>
                          <m:t>+</m:t>
                        </m:r>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𝑛</m:t>
                            </m:r>
                          </m:e>
                          <m:sub>
                            <m:r>
                              <a:rPr lang="en-IN" sz="2400" b="0" i="1" smtClean="0">
                                <a:latin typeface="Cambria Math" panose="02040503050406030204" pitchFamily="18" charset="0"/>
                                <a:cs typeface="Times New Roman" panose="02020603050405020304" pitchFamily="18" charset="0"/>
                              </a:rPr>
                              <m:t>2</m:t>
                            </m:r>
                          </m:sub>
                        </m:sSub>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𝑝</m:t>
                            </m:r>
                          </m:e>
                          <m:sub>
                            <m:r>
                              <a:rPr lang="en-IN" sz="2400" b="0" i="1" smtClean="0">
                                <a:latin typeface="Cambria Math" panose="02040503050406030204" pitchFamily="18" charset="0"/>
                                <a:cs typeface="Times New Roman" panose="02020603050405020304" pitchFamily="18" charset="0"/>
                              </a:rPr>
                              <m:t>2</m:t>
                            </m:r>
                          </m:sub>
                        </m:sSub>
                      </m:num>
                      <m:den>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𝑛</m:t>
                            </m:r>
                          </m:e>
                          <m:sub>
                            <m:r>
                              <a:rPr lang="en-IN" sz="2400" b="0" i="1" smtClean="0">
                                <a:latin typeface="Cambria Math" panose="02040503050406030204" pitchFamily="18" charset="0"/>
                                <a:cs typeface="Times New Roman" panose="02020603050405020304" pitchFamily="18" charset="0"/>
                              </a:rPr>
                              <m:t>1</m:t>
                            </m:r>
                          </m:sub>
                        </m:sSub>
                        <m:r>
                          <a:rPr lang="en-IN" sz="2400" b="0" i="1" smtClean="0">
                            <a:latin typeface="Cambria Math" panose="02040503050406030204" pitchFamily="18" charset="0"/>
                            <a:cs typeface="Times New Roman" panose="02020603050405020304" pitchFamily="18" charset="0"/>
                          </a:rPr>
                          <m:t>+</m:t>
                        </m:r>
                        <m:sSub>
                          <m:sSubPr>
                            <m:ctrlPr>
                              <a:rPr lang="en-IN" sz="2400" b="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𝑛</m:t>
                            </m:r>
                          </m:e>
                          <m:sub>
                            <m:r>
                              <a:rPr lang="en-IN" sz="2400" b="0" i="1" smtClean="0">
                                <a:latin typeface="Cambria Math" panose="02040503050406030204" pitchFamily="18" charset="0"/>
                                <a:cs typeface="Times New Roman" panose="02020603050405020304" pitchFamily="18" charset="0"/>
                              </a:rPr>
                              <m:t>2</m:t>
                            </m:r>
                          </m:sub>
                        </m:sSub>
                      </m:den>
                    </m:f>
                    <m:r>
                      <a:rPr lang="en-IN" sz="2400" b="0" i="1" smtClean="0">
                        <a:latin typeface="Cambria Math" panose="02040503050406030204" pitchFamily="18" charset="0"/>
                        <a:cs typeface="Times New Roman" panose="02020603050405020304" pitchFamily="18" charset="0"/>
                      </a:rPr>
                      <m:t> </m:t>
                    </m:r>
                  </m:oMath>
                </a14:m>
                <a:r>
                  <a:rPr lang="en-IN" sz="2400" dirty="0">
                    <a:solidFill>
                      <a:schemeClr val="tx1"/>
                    </a:solidFill>
                    <a:latin typeface="Times New Roman" panose="02020603050405020304" pitchFamily="18" charset="0"/>
                    <a:cs typeface="Times New Roman" panose="02020603050405020304" pitchFamily="18" charset="0"/>
                  </a:rPr>
                  <a:t> </a:t>
                </a:r>
              </a:p>
              <a:p>
                <a:pPr algn="just">
                  <a:lnSpc>
                    <a:spcPct val="150000"/>
                  </a:lnSpc>
                </a:pPr>
                <a:r>
                  <a:rPr lang="en-IN" sz="2400" dirty="0">
                    <a:latin typeface="Times New Roman" panose="02020603050405020304" pitchFamily="18" charset="0"/>
                    <a:cs typeface="Times New Roman" panose="02020603050405020304" pitchFamily="18" charset="0"/>
                  </a:rPr>
                  <a:t>Denominator is the standard error of difference of sample proportions i.e. S.E. (</a:t>
                </a:r>
                <a14:m>
                  <m:oMath xmlns:m="http://schemas.openxmlformats.org/officeDocument/2006/math">
                    <m:sSub>
                      <m:sSubPr>
                        <m:ctrlPr>
                          <a:rPr lang="en-IN" sz="2400" i="1" smtClean="0">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𝑝</m:t>
                        </m:r>
                      </m:e>
                      <m:sub>
                        <m:r>
                          <a:rPr lang="en-IN" sz="2400" i="1">
                            <a:latin typeface="Cambria Math" panose="02040503050406030204" pitchFamily="18" charset="0"/>
                            <a:cs typeface="Times New Roman" panose="02020603050405020304" pitchFamily="18" charset="0"/>
                          </a:rPr>
                          <m:t>1</m:t>
                        </m:r>
                      </m:sub>
                    </m:sSub>
                    <m:r>
                      <a:rPr lang="en-IN" sz="2400" i="1">
                        <a:latin typeface="Cambria Math" panose="02040503050406030204" pitchFamily="18" charset="0"/>
                        <a:cs typeface="Times New Roman" panose="02020603050405020304" pitchFamily="18" charset="0"/>
                      </a:rPr>
                      <m:t>−</m:t>
                    </m:r>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𝑝</m:t>
                        </m:r>
                      </m:e>
                      <m:sub>
                        <m:r>
                          <a:rPr lang="en-IN" sz="2400" i="1">
                            <a:latin typeface="Cambria Math" panose="02040503050406030204" pitchFamily="18" charset="0"/>
                            <a:cs typeface="Times New Roman" panose="02020603050405020304" pitchFamily="18" charset="0"/>
                          </a:rPr>
                          <m:t>2</m:t>
                        </m:r>
                      </m:sub>
                    </m:sSub>
                  </m:oMath>
                </a14:m>
                <a:r>
                  <a:rPr lang="en-IN" sz="2400" dirty="0">
                    <a:latin typeface="Times New Roman" panose="02020603050405020304" pitchFamily="18" charset="0"/>
                    <a:cs typeface="Times New Roman" panose="02020603050405020304" pitchFamily="18" charset="0"/>
                  </a:rPr>
                  <a:t>)</a:t>
                </a:r>
                <a:r>
                  <a:rPr lang="en-IN" sz="2400" dirty="0">
                    <a:solidFill>
                      <a:schemeClr val="tx1"/>
                    </a:solidFill>
                    <a:latin typeface="Times New Roman" panose="02020603050405020304" pitchFamily="18" charset="0"/>
                    <a:cs typeface="Times New Roman" panose="02020603050405020304" pitchFamily="18" charset="0"/>
                  </a:rPr>
                  <a:t>  </a:t>
                </a:r>
              </a:p>
              <a:p>
                <a:pPr algn="just">
                  <a:lnSpc>
                    <a:spcPct val="150000"/>
                  </a:lnSpc>
                </a:pPr>
                <a:r>
                  <a:rPr lang="en-IN" sz="2400" b="1" dirty="0">
                    <a:latin typeface="Times New Roman" panose="02020603050405020304" pitchFamily="18" charset="0"/>
                    <a:cs typeface="Times New Roman" panose="02020603050405020304" pitchFamily="18" charset="0"/>
                  </a:rPr>
                  <a:t>Step-4: </a:t>
                </a:r>
                <a:r>
                  <a:rPr lang="en-IN" sz="2400" dirty="0">
                    <a:latin typeface="Times New Roman" panose="02020603050405020304" pitchFamily="18" charset="0"/>
                    <a:cs typeface="Times New Roman" panose="02020603050405020304" pitchFamily="18" charset="0"/>
                  </a:rPr>
                  <a:t>Table value of z at </a:t>
                </a:r>
                <a:r>
                  <a:rPr lang="en-IN" sz="2400" dirty="0">
                    <a:latin typeface="Times New Roman" panose="02020603050405020304" pitchFamily="18" charset="0"/>
                    <a:ea typeface="Calibri" panose="020F0502020204030204" pitchFamily="34" charset="0"/>
                    <a:cs typeface="Times New Roman" panose="02020603050405020304" pitchFamily="18" charset="0"/>
                  </a:rPr>
                  <a:t>α % level of significance.</a:t>
                </a:r>
              </a:p>
              <a:p>
                <a:pPr algn="just">
                  <a:lnSpc>
                    <a:spcPct val="150000"/>
                  </a:lnSpc>
                </a:pPr>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Step-5: </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Accepted.</a:t>
                </a:r>
              </a:p>
              <a:p>
                <a:pPr algn="just">
                  <a:lnSpc>
                    <a:spcPct val="150000"/>
                  </a:lnSpc>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a:t>
                </a:r>
                <a14:m>
                  <m:oMath xmlns:m="http://schemas.openxmlformats.org/officeDocument/2006/math">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𝑍</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&gt;</m:t>
                    </m:r>
                    <m:r>
                      <a:rPr lang="en-IN" sz="24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𝑧</m:t>
                    </m:r>
                  </m:oMath>
                </a14:m>
                <a:r>
                  <a:rPr lang="en-IN" sz="2400" dirty="0">
                    <a:solidFill>
                      <a:schemeClr val="tx1"/>
                    </a:solidFill>
                    <a:latin typeface="Times New Roman" panose="02020603050405020304" pitchFamily="18" charset="0"/>
                    <a:cs typeface="Times New Roman" panose="02020603050405020304" pitchFamily="18" charset="0"/>
                  </a:rPr>
                  <a:t> table value, H0 is Rejected.</a:t>
                </a:r>
              </a:p>
            </p:txBody>
          </p:sp>
        </mc:Choice>
        <mc:Fallback>
          <p:sp>
            <p:nvSpPr>
              <p:cNvPr id="11" name="TextBox 10">
                <a:extLst>
                  <a:ext uri="{FF2B5EF4-FFF2-40B4-BE49-F238E27FC236}">
                    <a16:creationId xmlns:a16="http://schemas.microsoft.com/office/drawing/2014/main" id="{10A1F011-CC4B-1AE7-9AD4-D15077CB881D}"/>
                  </a:ext>
                </a:extLst>
              </p:cNvPr>
              <p:cNvSpPr txBox="1">
                <a:spLocks noRot="1" noChangeAspect="1" noMove="1" noResize="1" noEditPoints="1" noAdjustHandles="1" noChangeArrowheads="1" noChangeShapeType="1" noTextEdit="1"/>
              </p:cNvSpPr>
              <p:nvPr/>
            </p:nvSpPr>
            <p:spPr>
              <a:xfrm>
                <a:off x="365760" y="1256959"/>
                <a:ext cx="11201400" cy="4624151"/>
              </a:xfrm>
              <a:prstGeom prst="rect">
                <a:avLst/>
              </a:prstGeom>
              <a:blipFill>
                <a:blip r:embed="rId5"/>
                <a:stretch>
                  <a:fillRect l="-816" b="-2108"/>
                </a:stretch>
              </a:blipFill>
            </p:spPr>
            <p:txBody>
              <a:bodyPr/>
              <a:lstStyle/>
              <a:p>
                <a:r>
                  <a:rPr lang="en-IN">
                    <a:noFill/>
                  </a:rPr>
                  <a:t> </a:t>
                </a:r>
              </a:p>
            </p:txBody>
          </p:sp>
        </mc:Fallback>
      </mc:AlternateContent>
    </p:spTree>
    <p:extLst>
      <p:ext uri="{BB962C8B-B14F-4D97-AF65-F5344CB8AC3E}">
        <p14:creationId xmlns:p14="http://schemas.microsoft.com/office/powerpoint/2010/main" val="739307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24840" y="472440"/>
            <a:ext cx="11567159"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Case Study 1</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365760" y="1256959"/>
            <a:ext cx="11201400" cy="1687963"/>
          </a:xfrm>
          <a:prstGeom prst="rect">
            <a:avLst/>
          </a:prstGeom>
          <a:noFill/>
        </p:spPr>
        <p:txBody>
          <a:bodyPr wrap="square">
            <a:spAutoFit/>
          </a:bodyPr>
          <a:lstStyle/>
          <a:p>
            <a:pPr algn="just">
              <a:lnSpc>
                <a:spcPct val="150000"/>
              </a:lnSpc>
            </a:pPr>
            <a:r>
              <a:rPr lang="en-IN" sz="2400" dirty="0" err="1">
                <a:solidFill>
                  <a:schemeClr val="tx1"/>
                </a:solidFill>
                <a:latin typeface="Times New Roman" panose="02020603050405020304" pitchFamily="18" charset="0"/>
                <a:cs typeface="Times New Roman" panose="02020603050405020304" pitchFamily="18" charset="0"/>
              </a:rPr>
              <a:t>Volters</a:t>
            </a:r>
            <a:r>
              <a:rPr lang="en-IN" sz="2400" dirty="0">
                <a:solidFill>
                  <a:schemeClr val="tx1"/>
                </a:solidFill>
                <a:latin typeface="Times New Roman" panose="02020603050405020304" pitchFamily="18" charset="0"/>
                <a:cs typeface="Times New Roman" panose="02020603050405020304" pitchFamily="18" charset="0"/>
              </a:rPr>
              <a:t> in a particular city who identify themselves with one or the other of two political  parties were randomly selected and asked if they favour a proposal to remove article 370 from Kashmir. The results are:</a:t>
            </a:r>
          </a:p>
        </p:txBody>
      </p:sp>
      <p:graphicFrame>
        <p:nvGraphicFramePr>
          <p:cNvPr id="3" name="Table 2">
            <a:extLst>
              <a:ext uri="{FF2B5EF4-FFF2-40B4-BE49-F238E27FC236}">
                <a16:creationId xmlns:a16="http://schemas.microsoft.com/office/drawing/2014/main" id="{811225DC-E11A-C979-FB78-71B0A627E438}"/>
              </a:ext>
            </a:extLst>
          </p:cNvPr>
          <p:cNvGraphicFramePr>
            <a:graphicFrameLocks noGrp="1"/>
          </p:cNvGraphicFramePr>
          <p:nvPr>
            <p:extLst>
              <p:ext uri="{D42A27DB-BD31-4B8C-83A1-F6EECF244321}">
                <p14:modId xmlns:p14="http://schemas.microsoft.com/office/powerpoint/2010/main" val="1417792769"/>
              </p:ext>
            </p:extLst>
          </p:nvPr>
        </p:nvGraphicFramePr>
        <p:xfrm>
          <a:off x="492762" y="3283663"/>
          <a:ext cx="4114800" cy="1687962"/>
        </p:xfrm>
        <a:graphic>
          <a:graphicData uri="http://schemas.openxmlformats.org/drawingml/2006/table">
            <a:tbl>
              <a:tblPr firstRow="1" bandRow="1">
                <a:tableStyleId>{5C22544A-7EE6-4342-B048-85BDC9FD1C3A}</a:tableStyleId>
              </a:tblPr>
              <a:tblGrid>
                <a:gridCol w="1564638">
                  <a:extLst>
                    <a:ext uri="{9D8B030D-6E8A-4147-A177-3AD203B41FA5}">
                      <a16:colId xmlns:a16="http://schemas.microsoft.com/office/drawing/2014/main" val="3439390718"/>
                    </a:ext>
                  </a:extLst>
                </a:gridCol>
                <a:gridCol w="1178562">
                  <a:extLst>
                    <a:ext uri="{9D8B030D-6E8A-4147-A177-3AD203B41FA5}">
                      <a16:colId xmlns:a16="http://schemas.microsoft.com/office/drawing/2014/main" val="3309225143"/>
                    </a:ext>
                  </a:extLst>
                </a:gridCol>
                <a:gridCol w="1371600">
                  <a:extLst>
                    <a:ext uri="{9D8B030D-6E8A-4147-A177-3AD203B41FA5}">
                      <a16:colId xmlns:a16="http://schemas.microsoft.com/office/drawing/2014/main" val="3782715341"/>
                    </a:ext>
                  </a:extLst>
                </a:gridCol>
              </a:tblGrid>
              <a:tr h="562654">
                <a:tc>
                  <a:txBody>
                    <a:bodyPr/>
                    <a:lstStyle/>
                    <a:p>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Part A</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Part B</a:t>
                      </a:r>
                    </a:p>
                  </a:txBody>
                  <a:tcPr/>
                </a:tc>
                <a:extLst>
                  <a:ext uri="{0D108BD9-81ED-4DB2-BD59-A6C34878D82A}">
                    <a16:rowId xmlns:a16="http://schemas.microsoft.com/office/drawing/2014/main" val="1456628910"/>
                  </a:ext>
                </a:extLst>
              </a:tr>
              <a:tr h="562654">
                <a:tc>
                  <a:txBody>
                    <a:bodyPr/>
                    <a:lstStyle/>
                    <a:p>
                      <a:r>
                        <a:rPr lang="en-IN" sz="2000" dirty="0">
                          <a:solidFill>
                            <a:schemeClr val="tx1"/>
                          </a:solidFill>
                          <a:latin typeface="Times New Roman" panose="02020603050405020304" pitchFamily="18" charset="0"/>
                          <a:cs typeface="Times New Roman" panose="02020603050405020304" pitchFamily="18" charset="0"/>
                        </a:rPr>
                        <a:t>Sample Size</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150</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200</a:t>
                      </a:r>
                    </a:p>
                  </a:txBody>
                  <a:tcPr/>
                </a:tc>
                <a:extLst>
                  <a:ext uri="{0D108BD9-81ED-4DB2-BD59-A6C34878D82A}">
                    <a16:rowId xmlns:a16="http://schemas.microsoft.com/office/drawing/2014/main" val="3215193087"/>
                  </a:ext>
                </a:extLst>
              </a:tr>
              <a:tr h="562654">
                <a:tc>
                  <a:txBody>
                    <a:bodyPr/>
                    <a:lstStyle/>
                    <a:p>
                      <a:r>
                        <a:rPr lang="en-IN" sz="2000" dirty="0">
                          <a:solidFill>
                            <a:schemeClr val="tx1"/>
                          </a:solidFill>
                          <a:latin typeface="Times New Roman" panose="02020603050405020304" pitchFamily="18" charset="0"/>
                          <a:cs typeface="Times New Roman" panose="02020603050405020304" pitchFamily="18" charset="0"/>
                        </a:rPr>
                        <a:t>No. in favour</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90</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140</a:t>
                      </a:r>
                    </a:p>
                  </a:txBody>
                  <a:tcPr/>
                </a:tc>
                <a:extLst>
                  <a:ext uri="{0D108BD9-81ED-4DB2-BD59-A6C34878D82A}">
                    <a16:rowId xmlns:a16="http://schemas.microsoft.com/office/drawing/2014/main" val="2883043371"/>
                  </a:ext>
                </a:extLst>
              </a:tr>
            </a:tbl>
          </a:graphicData>
        </a:graphic>
      </p:graphicFrame>
      <p:sp>
        <p:nvSpPr>
          <p:cNvPr id="10" name="TextBox 9">
            <a:extLst>
              <a:ext uri="{FF2B5EF4-FFF2-40B4-BE49-F238E27FC236}">
                <a16:creationId xmlns:a16="http://schemas.microsoft.com/office/drawing/2014/main" id="{E4FDF797-899C-B1C9-6062-E88ED57ABA8C}"/>
              </a:ext>
            </a:extLst>
          </p:cNvPr>
          <p:cNvSpPr txBox="1"/>
          <p:nvPr/>
        </p:nvSpPr>
        <p:spPr>
          <a:xfrm flipH="1">
            <a:off x="4831078" y="3298903"/>
            <a:ext cx="7025641" cy="1555041"/>
          </a:xfrm>
          <a:prstGeom prst="rect">
            <a:avLst/>
          </a:prstGeom>
          <a:noFill/>
        </p:spPr>
        <p:txBody>
          <a:bodyPr wrap="square" rtlCol="0">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Test, at the 5% level of significance, the hypothesis that the proportion of members of party A who favour the proposal is less than the proportion of members of party B who do.</a:t>
            </a:r>
          </a:p>
        </p:txBody>
      </p:sp>
    </p:spTree>
    <p:extLst>
      <p:ext uri="{BB962C8B-B14F-4D97-AF65-F5344CB8AC3E}">
        <p14:creationId xmlns:p14="http://schemas.microsoft.com/office/powerpoint/2010/main" val="2007643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24840" y="472440"/>
            <a:ext cx="11567159" cy="89128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Case Study 2</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365760" y="1256959"/>
            <a:ext cx="11201400" cy="3903954"/>
          </a:xfrm>
          <a:prstGeom prst="rect">
            <a:avLst/>
          </a:prstGeom>
          <a:noFill/>
        </p:spPr>
        <p:txBody>
          <a:bodyPr wrap="square">
            <a:spAutoFit/>
          </a:bodyPr>
          <a:lstStyle/>
          <a:p>
            <a:pPr algn="just">
              <a:lnSpc>
                <a:spcPct val="150000"/>
              </a:lnSpc>
            </a:pPr>
            <a:r>
              <a:rPr lang="en-IN" sz="2400" dirty="0">
                <a:solidFill>
                  <a:schemeClr val="tx1"/>
                </a:solidFill>
                <a:latin typeface="Times New Roman" panose="02020603050405020304" pitchFamily="18" charset="0"/>
                <a:cs typeface="Times New Roman" panose="02020603050405020304" pitchFamily="18" charset="0"/>
              </a:rPr>
              <a:t>Suppose the Acme Drug company develops a new drug, designed to prevent colds. The company states that the drug is equally effective for men and women. To test this claim, they choose a simple random sample of 100 women and 200 men who  were suffering from cold.</a:t>
            </a:r>
          </a:p>
          <a:p>
            <a:pPr algn="just">
              <a:lnSpc>
                <a:spcPct val="150000"/>
              </a:lnSpc>
            </a:pPr>
            <a:r>
              <a:rPr lang="en-IN" sz="2400" dirty="0">
                <a:latin typeface="Times New Roman" panose="02020603050405020304" pitchFamily="18" charset="0"/>
                <a:cs typeface="Times New Roman" panose="02020603050405020304" pitchFamily="18" charset="0"/>
              </a:rPr>
              <a:t>At the end of the study, 38% of the women were cured from cold; and 51% of the men were cured from cold. Based on these findings, can we reject the company’s claim that the drug is equally effective for men and women? Use a 0.05 level of significance.</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2027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563222" y="49261"/>
            <a:ext cx="9882809" cy="1314467"/>
          </a:xfrm>
        </p:spPr>
        <p:txBody>
          <a:bodyPr>
            <a:no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Flow chart for selecting Test</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29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pic>
        <p:nvPicPr>
          <p:cNvPr id="10" name="Picture 9">
            <a:extLst>
              <a:ext uri="{FF2B5EF4-FFF2-40B4-BE49-F238E27FC236}">
                <a16:creationId xmlns:a16="http://schemas.microsoft.com/office/drawing/2014/main" id="{50AC9F59-2BC7-6CFF-FA5B-92AD3087796A}"/>
              </a:ext>
            </a:extLst>
          </p:cNvPr>
          <p:cNvPicPr>
            <a:picLocks noChangeAspect="1"/>
          </p:cNvPicPr>
          <p:nvPr/>
        </p:nvPicPr>
        <p:blipFill>
          <a:blip r:embed="rId5"/>
          <a:stretch>
            <a:fillRect/>
          </a:stretch>
        </p:blipFill>
        <p:spPr>
          <a:xfrm>
            <a:off x="990600" y="1363728"/>
            <a:ext cx="10012017" cy="4838952"/>
          </a:xfrm>
          <a:prstGeom prst="rect">
            <a:avLst/>
          </a:prstGeom>
        </p:spPr>
      </p:pic>
    </p:spTree>
    <p:extLst>
      <p:ext uri="{BB962C8B-B14F-4D97-AF65-F5344CB8AC3E}">
        <p14:creationId xmlns:p14="http://schemas.microsoft.com/office/powerpoint/2010/main" val="3214254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90100" y="1750549"/>
            <a:ext cx="9701062" cy="1620763"/>
          </a:xfrm>
        </p:spPr>
        <p:txBody>
          <a:bodyPr>
            <a:normAutofit/>
          </a:bodyPr>
          <a:lstStyle/>
          <a:p>
            <a:r>
              <a:rPr lang="en-IN" sz="3600" b="1" dirty="0">
                <a:solidFill>
                  <a:srgbClr val="C00000"/>
                </a:solidFill>
                <a:latin typeface="Times New Roman" panose="02020603050405020304" pitchFamily="18" charset="0"/>
                <a:cs typeface="Times New Roman" panose="02020603050405020304" pitchFamily="18" charset="0"/>
              </a:rPr>
              <a:t>THANKS FOR PAYING ATTENTION</a:t>
            </a:r>
          </a:p>
        </p:txBody>
      </p:sp>
      <p:sp>
        <p:nvSpPr>
          <p:cNvPr id="3" name="Content Placeholder 2"/>
          <p:cNvSpPr>
            <a:spLocks noGrp="1"/>
          </p:cNvSpPr>
          <p:nvPr>
            <p:ph idx="1"/>
          </p:nvPr>
        </p:nvSpPr>
        <p:spPr>
          <a:xfrm>
            <a:off x="1511204" y="4751817"/>
            <a:ext cx="5581081" cy="1604535"/>
          </a:xfrm>
        </p:spPr>
        <p:txBody>
          <a:bodyPr/>
          <a:lstStyle/>
          <a:p>
            <a:pPr marL="0" indent="0">
              <a:buNone/>
            </a:pPr>
            <a:r>
              <a:rPr lang="en-IN" b="1" dirty="0">
                <a:latin typeface="Times New Roman" panose="02020603050405020304" pitchFamily="18" charset="0"/>
                <a:cs typeface="Times New Roman" panose="02020603050405020304" pitchFamily="18" charset="0"/>
              </a:rPr>
              <a:t>Please Send Your Queries on:</a:t>
            </a:r>
          </a:p>
          <a:p>
            <a:pPr marL="0" indent="0">
              <a:buNone/>
            </a:pPr>
            <a:endParaRPr lang="en-IN"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e-Mail:</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heena.e6398</a:t>
            </a:r>
            <a:r>
              <a:rPr lang="en-US" altLang="en-IN" dirty="0">
                <a:latin typeface="Times New Roman" panose="02020603050405020304" pitchFamily="18" charset="0"/>
                <a:cs typeface="Times New Roman" panose="02020603050405020304" pitchFamily="18" charset="0"/>
              </a:rPr>
              <a:t>@cumail.in</a:t>
            </a:r>
            <a:endParaRPr lang="en-IN" i="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C3F54D28-3166-46FA-830B-CDFA17016EA9}" type="datetime1">
              <a:rPr lang="en-US" smtClean="0"/>
              <a:t>12/21/2024</a:t>
            </a:fld>
            <a:endParaRPr lang="en-US" dirty="0"/>
          </a:p>
        </p:txBody>
      </p:sp>
      <p:sp>
        <p:nvSpPr>
          <p:cNvPr id="6" name="Footer Placeholder 5"/>
          <p:cNvSpPr>
            <a:spLocks noGrp="1"/>
          </p:cNvSpPr>
          <p:nvPr>
            <p:ph type="ftr" sz="quarter" idx="11"/>
          </p:nvPr>
        </p:nvSpPr>
        <p:spPr/>
        <p:txBody>
          <a:bodyPr/>
          <a:lstStyle/>
          <a:p>
            <a:r>
              <a:rPr lang="en-US" dirty="0"/>
              <a:t>Dr. Heena Sharma, Asst. Prof., CSE, Chandigarh University</a:t>
            </a:r>
          </a:p>
        </p:txBody>
      </p:sp>
      <p:sp>
        <p:nvSpPr>
          <p:cNvPr id="7" name="Slide Number Placeholder 6"/>
          <p:cNvSpPr>
            <a:spLocks noGrp="1"/>
          </p:cNvSpPr>
          <p:nvPr>
            <p:ph type="sldNum" sz="quarter" idx="12"/>
          </p:nvPr>
        </p:nvSpPr>
        <p:spPr/>
        <p:txBody>
          <a:bodyPr/>
          <a:lstStyle/>
          <a:p>
            <a:fld id="{EBFB1032-EA64-7144-B003-9BCC9D94B503}" type="slidenum">
              <a:rPr lang="en-US" smtClean="0"/>
              <a:t>30</a:t>
            </a:fld>
            <a:endParaRPr lang="en-US" dirty="0"/>
          </a:p>
        </p:txBody>
      </p:sp>
    </p:spTree>
    <p:extLst>
      <p:ext uri="{BB962C8B-B14F-4D97-AF65-F5344CB8AC3E}">
        <p14:creationId xmlns:p14="http://schemas.microsoft.com/office/powerpoint/2010/main" val="385525170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6D42BB5-B258-40DA-A2BD-23CC4410B433}" vid="{78C5852C-0C40-40EE-A5D6-7CC1AC678A84}"/>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5327</TotalTime>
  <Words>2841</Words>
  <Application>Microsoft Office PowerPoint</Application>
  <PresentationFormat>Widescreen</PresentationFormat>
  <Paragraphs>324</Paragraphs>
  <Slides>30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Calibri Light</vt:lpstr>
      <vt:lpstr>Cambria Math</vt:lpstr>
      <vt:lpstr>Times New Roman</vt:lpstr>
      <vt:lpstr>Wingdings</vt:lpstr>
      <vt:lpstr>Theme1</vt:lpstr>
      <vt:lpstr>Contents Slide Master</vt:lpstr>
      <vt:lpstr>PowerPoint Presentation</vt:lpstr>
      <vt:lpstr>PowerPoint Presentation</vt:lpstr>
      <vt:lpstr>PowerPoint Presentation</vt:lpstr>
      <vt:lpstr>Null Hypothesis</vt:lpstr>
      <vt:lpstr>Alternative Hypothesis</vt:lpstr>
      <vt:lpstr>PowerPoint Presentation</vt:lpstr>
      <vt:lpstr>Testing of Hypothesis</vt:lpstr>
      <vt:lpstr>Type-I and Type-II Error</vt:lpstr>
      <vt:lpstr>Level of Significance</vt:lpstr>
      <vt:lpstr>Critical Region</vt:lpstr>
      <vt:lpstr>Power of Test</vt:lpstr>
      <vt:lpstr>Test Statistics</vt:lpstr>
      <vt:lpstr>Steps of Testing of Hypothesis</vt:lpstr>
      <vt:lpstr>Large Sample Test</vt:lpstr>
      <vt:lpstr>Test-1 Test of Single Mean</vt:lpstr>
      <vt:lpstr>Case Study 1</vt:lpstr>
      <vt:lpstr>Case Study 2</vt:lpstr>
      <vt:lpstr>Test 2: Test of significance of difference between two means</vt:lpstr>
      <vt:lpstr>Case Study 1</vt:lpstr>
      <vt:lpstr>Case Study 2</vt:lpstr>
      <vt:lpstr>Test 3: Test of significance of difference between two standard deviations</vt:lpstr>
      <vt:lpstr>Case Study </vt:lpstr>
      <vt:lpstr>Test 4: Test of Single Proportion </vt:lpstr>
      <vt:lpstr>Case Study 1</vt:lpstr>
      <vt:lpstr>Case Study 2</vt:lpstr>
      <vt:lpstr>Test 5: Test of significance of difference between two proportions</vt:lpstr>
      <vt:lpstr>Case Study 1</vt:lpstr>
      <vt:lpstr>Case Study 2</vt:lpstr>
      <vt:lpstr>Flow chart for selecting Test</vt:lpstr>
      <vt:lpstr>THANKS FOR PAYING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Unit 1</dc:title>
  <dc:creator>gaurav srivastav</dc:creator>
  <cp:lastModifiedBy>Heena Sharma</cp:lastModifiedBy>
  <cp:revision>209</cp:revision>
  <dcterms:created xsi:type="dcterms:W3CDTF">2020-08-04T18:57:56Z</dcterms:created>
  <dcterms:modified xsi:type="dcterms:W3CDTF">2024-12-21T08:02:01Z</dcterms:modified>
</cp:coreProperties>
</file>