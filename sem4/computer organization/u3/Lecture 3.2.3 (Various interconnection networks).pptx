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4"/>
  </p:notesMasterIdLst>
  <p:sldIdLst>
    <p:sldId id="269" r:id="rId2"/>
    <p:sldId id="504" r:id="rId3"/>
    <p:sldId id="513" r:id="rId4"/>
    <p:sldId id="514" r:id="rId5"/>
    <p:sldId id="515" r:id="rId6"/>
    <p:sldId id="505" r:id="rId7"/>
    <p:sldId id="516" r:id="rId8"/>
    <p:sldId id="506" r:id="rId9"/>
    <p:sldId id="517" r:id="rId10"/>
    <p:sldId id="507" r:id="rId11"/>
    <p:sldId id="518" r:id="rId12"/>
    <p:sldId id="519" r:id="rId13"/>
    <p:sldId id="520" r:id="rId14"/>
    <p:sldId id="508" r:id="rId15"/>
    <p:sldId id="521" r:id="rId16"/>
    <p:sldId id="522" r:id="rId17"/>
    <p:sldId id="523" r:id="rId18"/>
    <p:sldId id="524" r:id="rId19"/>
    <p:sldId id="509" r:id="rId20"/>
    <p:sldId id="525" r:id="rId21"/>
    <p:sldId id="510" r:id="rId22"/>
    <p:sldId id="526" r:id="rId23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94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2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75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19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7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2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5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0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3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7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3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5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tutorialspoint.com/parallel_computer_architecture/parallel_computer_arc%20hitecture_interconnection_network_design.ht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cva.stanford.edu/classes/ee382c/ee482b/scribes01/lect04/ourlect_final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9318-3A58-5396-33DC-3B8D791E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62217-7073-B1E7-E318-D2A83A8E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B5F92-9BC6-1276-D82E-7947DBFB8E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6B3563C-B91A-A6E3-7FCA-A5B166E1230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C2B08F-50B5-BDA3-14A1-4BE2CD4059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819150"/>
            <a:ext cx="70104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11"/>
              </a:spcBef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ONNECTION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NE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WORKS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4276" indent="-109651" algn="just"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omputing,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ry 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all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mil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system.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spcBef>
                <a:spcPts val="41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  <a:tab pos="480143" algn="l"/>
                <a:tab pos="652409" algn="l"/>
                <a:tab pos="845749" algn="l"/>
                <a:tab pos="1076658" algn="l"/>
                <a:tab pos="1488996" algn="l"/>
                <a:tab pos="1658512" algn="l"/>
                <a:tab pos="2198521" algn="l"/>
                <a:tab pos="243309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	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	two	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	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	for	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	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these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Dy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rconn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41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High-spe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module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group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ssors.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41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High-speed computer Networks aim to provide fast and efficient performance (communication) among the nodes.</a:t>
            </a:r>
          </a:p>
          <a:p>
            <a:pPr marL="225716" marR="3971" indent="-109651" algn="just">
              <a:spcBef>
                <a:spcPts val="41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str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suppo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igh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ndwidth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ten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lang="en-US" sz="1700" dirty="0">
              <a:latin typeface="Times New Roman"/>
              <a:cs typeface="Times New Roman"/>
            </a:endParaRPr>
          </a:p>
          <a:p>
            <a:pPr marL="116065" marR="3971" algn="just">
              <a:spcBef>
                <a:spcPts val="41"/>
              </a:spcBef>
              <a:buClr>
                <a:srgbClr val="252525"/>
              </a:buClr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307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AF54-6E5F-49BD-2F6A-7D3D821C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64914-D1BF-4661-BBC4-ACD324FD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FCC476-A9AA-85CD-0D5E-B03B21A08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173D8B9-1444-5822-DB5C-3C9A846694B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8E82FC-87C8-5025-8F8C-8DFC3576A9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118CB2D4-1334-7E93-99ED-74E23D3B4A24}"/>
              </a:ext>
            </a:extLst>
          </p:cNvPr>
          <p:cNvSpPr txBox="1"/>
          <p:nvPr/>
        </p:nvSpPr>
        <p:spPr>
          <a:xfrm>
            <a:off x="990600" y="742950"/>
            <a:ext cx="7086600" cy="393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types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tatic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etwork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Dyn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amic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algn="just">
              <a:spcBef>
                <a:spcPts val="4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Sta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ction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lang="en-US" sz="1700" dirty="0">
              <a:latin typeface="Times New Roman"/>
              <a:cs typeface="Times New Roman"/>
            </a:endParaRPr>
          </a:p>
          <a:p>
            <a:pPr algn="just">
              <a:spcBef>
                <a:spcPts val="23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tatic inte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fix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 algn="just">
              <a:spcBef>
                <a:spcPts val="38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unidir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tic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no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ow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oc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dir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on. S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f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anoth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 no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but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the 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rse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on.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How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r,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static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k,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ows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muni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oc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ur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both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102015" indent="-109651" algn="just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hoice 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both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sp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ific 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quir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ents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computi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342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39DC-62F0-BD68-E9EF-49EC96A3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C13F3-1B27-75E8-4712-636BB9B7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85BE08-AA27-A0F0-6D9E-5236C76249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BD01CF7-661C-4A0A-905B-C289EA34193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318DD6-443B-C872-A833-555743AE14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A28BF65E-8EDB-59B3-C680-A2E5017699A9}"/>
              </a:ext>
            </a:extLst>
          </p:cNvPr>
          <p:cNvSpPr txBox="1"/>
          <p:nvPr/>
        </p:nvSpPr>
        <p:spPr>
          <a:xfrm>
            <a:off x="946810" y="742950"/>
            <a:ext cx="4804394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35"/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lso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type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 of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tic 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458965" indent="-342900">
              <a:buAutoNum type="alphaLcParenR"/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ly/Full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</a:p>
          <a:p>
            <a:pPr marL="458965" indent="-342900">
              <a:buAutoNum type="alphaLcParenR"/>
            </a:pP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401815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Connectivity: Here each node connected to every other node in the system, means that there is direct connection between any pair of nodes.</a:t>
            </a:r>
          </a:p>
          <a:p>
            <a:pPr marL="401815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Bandwidth and Latency: So here is the highest degree of connectivity. Advantages of fully connected network are low latency and high bandwidth.</a:t>
            </a:r>
          </a:p>
          <a:p>
            <a:pPr marL="401815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Cost  and  Complexity: As  the  number  of  wires  require  more  here  so  the  it  is expensive and it is much complex also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556118A0-CA5B-3B0A-A69D-17A2A5C30304}"/>
              </a:ext>
            </a:extLst>
          </p:cNvPr>
          <p:cNvSpPr/>
          <p:nvPr/>
        </p:nvSpPr>
        <p:spPr>
          <a:xfrm>
            <a:off x="5794994" y="1583770"/>
            <a:ext cx="2695875" cy="19759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375866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8FD6-CC31-3958-74F0-94B4BF604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FE8AF-D731-6A84-AF7E-968DE98A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98F6E-CE4B-63FE-1BC2-905970523C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B358E97-736F-5532-27B4-2B319DCC6D3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3E5F4-4AD1-9543-A793-A15A4EDD54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31118879-5527-1B3E-D4C2-9AF799F5C879}"/>
              </a:ext>
            </a:extLst>
          </p:cNvPr>
          <p:cNvSpPr txBox="1"/>
          <p:nvPr/>
        </p:nvSpPr>
        <p:spPr>
          <a:xfrm>
            <a:off x="946810" y="1276350"/>
            <a:ext cx="4804394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1815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Data Transmission: Since there are direct connections between processors, data can be transmitted quickly and efficiently.</a:t>
            </a:r>
          </a:p>
          <a:p>
            <a:pPr marL="401815" indent="-285750">
              <a:buFont typeface="Arial" panose="020B0604020202020204" pitchFamily="34" charset="0"/>
              <a:buChar char="•"/>
            </a:pPr>
            <a:endParaRPr lang="en-US" sz="1700" dirty="0">
              <a:latin typeface="Times New Roman"/>
              <a:cs typeface="Times New Roman"/>
            </a:endParaRPr>
          </a:p>
          <a:p>
            <a:pPr marL="401815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Number of Links: Number of links are required here is n(n-1)/2. Here n = 6, so total links will be 15 and each node link with (n-1) = (6-1) = 5 another nodes.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9A7E2CC5-C998-A969-6C45-E95A9EC7E6EB}"/>
              </a:ext>
            </a:extLst>
          </p:cNvPr>
          <p:cNvSpPr/>
          <p:nvPr/>
        </p:nvSpPr>
        <p:spPr>
          <a:xfrm>
            <a:off x="5794994" y="1583770"/>
            <a:ext cx="2695875" cy="19759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81597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9318-3A58-5396-33DC-3B8D791E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62217-7073-B1E7-E318-D2A83A8E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B5F92-9BC6-1276-D82E-7947DBFB8E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6B3563C-B91A-A6E3-7FCA-A5B166E1230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C2B08F-50B5-BDA3-14A1-4BE2CD4059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819150"/>
            <a:ext cx="72390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b) </a:t>
            </a:r>
            <a:r>
              <a:rPr sz="1700" b="1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mit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marR="3665" algn="just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known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artial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subse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ost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opti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iz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improv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lability.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introdu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limitations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ndwidth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5760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Tree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rk,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Hyp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</a:t>
            </a:r>
            <a:endParaRPr sz="1700" dirty="0">
              <a:latin typeface="Times New Roman"/>
              <a:cs typeface="Times New Roman"/>
            </a:endParaRPr>
          </a:p>
          <a:p>
            <a:pPr marL="115760" marR="3665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700" b="1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b="1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ry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rly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row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shion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system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will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tops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working.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44F72C06-1AEB-C20A-D9AB-FEA6E44A36CB}"/>
              </a:ext>
            </a:extLst>
          </p:cNvPr>
          <p:cNvSpPr/>
          <p:nvPr/>
        </p:nvSpPr>
        <p:spPr>
          <a:xfrm>
            <a:off x="3276600" y="3762923"/>
            <a:ext cx="2438400" cy="8443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28458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901B-D1F4-3A69-EFA2-BC4A4D20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52674-5B3C-5CF1-32B0-4FE7A963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6B95E-E1A3-FA53-16DB-5642CCC097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987CBC6-A2E3-F128-A65A-070F1A9B989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B1F1CE-1CD5-6193-E5F9-5ADBFEF012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C156627D-010D-27B2-3F1E-8EBD0E885DD2}"/>
              </a:ext>
            </a:extLst>
          </p:cNvPr>
          <p:cNvSpPr txBox="1"/>
          <p:nvPr/>
        </p:nvSpPr>
        <p:spPr>
          <a:xfrm>
            <a:off x="983635" y="819150"/>
            <a:ext cx="7017365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major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 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nly the di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last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irst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lang="en-US" sz="1700" b="1" dirty="0">
                <a:latin typeface="Times New Roman"/>
                <a:cs typeface="Times New Roman"/>
              </a:rPr>
              <a:t>Three cube Network:</a:t>
            </a:r>
            <a:r>
              <a:rPr lang="en-US" sz="1700" dirty="0">
                <a:latin typeface="Times New Roman"/>
                <a:cs typeface="Times New Roman"/>
              </a:rPr>
              <a:t> A “Three Cube Network” typically refers to a network topology used  in  computer  networking  and  data  center  design.  This  topology  involves  three switches (or cubes) interconnected in a specific way to provide redundancy and fault tolerance.</a:t>
            </a: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A7EEE54C-CF9D-BB13-9A1E-963052D190E9}"/>
              </a:ext>
            </a:extLst>
          </p:cNvPr>
          <p:cNvSpPr/>
          <p:nvPr/>
        </p:nvSpPr>
        <p:spPr>
          <a:xfrm>
            <a:off x="3459993" y="1504950"/>
            <a:ext cx="2224014" cy="1890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51880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9318-3A58-5396-33DC-3B8D791E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62217-7073-B1E7-E318-D2A83A8E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B5F92-9BC6-1276-D82E-7947DBFB8E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6B3563C-B91A-A6E3-7FCA-A5B166E1230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C2B08F-50B5-BDA3-14A1-4BE2CD4059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2495550"/>
            <a:ext cx="5638800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wo-Di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sio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b="1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b="1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nsion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ontext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omputing,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typi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topol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ogy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-like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ashion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type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ommonly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 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ribu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nvironme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 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3124199" y="209550"/>
            <a:ext cx="2315989" cy="1981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object 5"/>
          <p:cNvSpPr/>
          <p:nvPr/>
        </p:nvSpPr>
        <p:spPr>
          <a:xfrm>
            <a:off x="6629400" y="2551560"/>
            <a:ext cx="2063282" cy="20004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54525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7D82-5D2C-6E63-81E2-1FA89EF1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D4EBA-C2F5-0AE5-AFA9-026731DF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72D19-A289-6A28-26A4-71DC39127B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FB93FDE-3E92-6659-BA16-3785EA3D77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7774E1-E95C-C97F-DE44-019B37761E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F92AED7F-B480-8916-F4F5-DDB8138D6728}"/>
              </a:ext>
            </a:extLst>
          </p:cNvPr>
          <p:cNvSpPr txBox="1"/>
          <p:nvPr/>
        </p:nvSpPr>
        <p:spPr>
          <a:xfrm>
            <a:off x="914400" y="819150"/>
            <a:ext cx="70866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rding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Limited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445630" marR="3665" indent="-109957" algn="just">
              <a:buClr>
                <a:srgbClr val="252525"/>
              </a:buClr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tivity: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no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tely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rk.</a:t>
            </a:r>
            <a:endParaRPr sz="1700" dirty="0">
              <a:latin typeface="Times New Roman"/>
              <a:cs typeface="Times New Roman"/>
            </a:endParaRPr>
          </a:p>
          <a:p>
            <a:pPr marL="445630" marR="3665" indent="-109957" algn="just">
              <a:buClr>
                <a:srgbClr val="252525"/>
              </a:buClr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ths: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som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uted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other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node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networ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k.</a:t>
            </a:r>
            <a:endParaRPr sz="1700" dirty="0">
              <a:latin typeface="Times New Roman"/>
              <a:cs typeface="Times New Roman"/>
            </a:endParaRPr>
          </a:p>
          <a:p>
            <a:pPr marL="445630" marR="2443" indent="-109957" algn="just">
              <a:buClr>
                <a:srgbClr val="252525"/>
              </a:buClr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lability: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lability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typi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gr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ows.</a:t>
            </a:r>
            <a:endParaRPr sz="1700" dirty="0">
              <a:latin typeface="Times New Roman"/>
              <a:cs typeface="Times New Roman"/>
            </a:endParaRPr>
          </a:p>
          <a:p>
            <a:pPr marL="445630" marR="4582" indent="-109957" algn="just">
              <a:buClr>
                <a:srgbClr val="252525"/>
              </a:buClr>
              <a:buSzPct val="83333"/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Cost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xity: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Lim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445630" marR="3360" indent="-109957" algn="just">
              <a:buClr>
                <a:srgbClr val="252525"/>
              </a:buClr>
              <a:buSzPct val="83333"/>
              <a:buFont typeface="Symbol"/>
              <a:buChar char=""/>
              <a:tabLst>
                <a:tab pos="445935" algn="l"/>
                <a:tab pos="910196" algn="l"/>
                <a:tab pos="1158820" algn="l"/>
                <a:tab pos="1808481" algn="l"/>
                <a:tab pos="2273964" algn="l"/>
                <a:tab pos="2705543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ndwidth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	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y: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Lim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ndwidth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limited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0585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9318-3A58-5396-33DC-3B8D791E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62217-7073-B1E7-E318-D2A83A8E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B5F92-9BC6-1276-D82E-7947DBFB8E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6B3563C-B91A-A6E3-7FCA-A5B166E1230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C2B08F-50B5-BDA3-14A1-4BE2CD4059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519533"/>
            <a:ext cx="7239000" cy="419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/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Dyna</a:t>
            </a:r>
            <a:r>
              <a:rPr lang="en-US"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360"/>
            <a:endParaRPr lang="en-US" sz="1700" spc="-7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3360"/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Unlik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tatic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bles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dyn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figu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communi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quir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ments.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 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Dyna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figu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445630" marR="2443" lvl="1" indent="-109957" algn="just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dyn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onfigur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kloads.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two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7" dirty="0">
                <a:latin typeface="Times New Roman"/>
                <a:cs typeface="Times New Roman"/>
              </a:rPr>
              <a:t>Opti</a:t>
            </a:r>
            <a:r>
              <a:rPr sz="1700" spc="-5" dirty="0">
                <a:latin typeface="Times New Roman"/>
                <a:cs typeface="Times New Roman"/>
              </a:rPr>
              <a:t>miz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ths.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pts</a:t>
            </a:r>
            <a:r>
              <a:rPr sz="1700" dirty="0">
                <a:latin typeface="Times New Roman"/>
                <a:cs typeface="Times New Roman"/>
              </a:rPr>
              <a:t> to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 w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kloads.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latin typeface="Times New Roman"/>
                <a:cs typeface="Times New Roman"/>
              </a:rPr>
              <a:t>Suppo</a:t>
            </a:r>
            <a:r>
              <a:rPr sz="1700" spc="-2" dirty="0">
                <a:latin typeface="Times New Roman"/>
                <a:cs typeface="Times New Roman"/>
              </a:rPr>
              <a:t>rts 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ult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2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routing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round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omponents.</a:t>
            </a:r>
            <a:endParaRPr sz="1700" dirty="0">
              <a:latin typeface="Times New Roman"/>
              <a:cs typeface="Times New Roman"/>
            </a:endParaRPr>
          </a:p>
          <a:p>
            <a:pPr marL="445630" marR="4276" lvl="1" indent="-109957">
              <a:spcBef>
                <a:spcPts val="65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Exa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k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.g.,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Clos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twor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)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onfigu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provide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paths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822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139B-7D4E-0F19-1003-6DF57DEA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2E972-B633-5EDF-1849-5D9BB2086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3AE966-6898-273C-D53E-ED61876605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7C7E199-F3A7-4889-CE91-40D96AF8F18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83AE1-71A6-4973-F019-01771CD753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6796D20-F8B8-04E4-2A74-B625C5829F8C}"/>
              </a:ext>
            </a:extLst>
          </p:cNvPr>
          <p:cNvSpPr txBox="1"/>
          <p:nvPr/>
        </p:nvSpPr>
        <p:spPr>
          <a:xfrm>
            <a:off x="914400" y="819150"/>
            <a:ext cx="7239000" cy="367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buClr>
                <a:srgbClr val="252525"/>
              </a:buClr>
              <a:tabLst>
                <a:tab pos="226022" algn="l"/>
              </a:tabLst>
            </a:pP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2.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hanis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ms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445630" marR="3054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methods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thro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ugh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nism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includ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665848" marR="3360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Circ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tablish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ntire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665848" marR="3971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b="1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ides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mess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rout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indep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665848" marR="3971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ole</a:t>
            </a:r>
            <a:r>
              <a:rPr sz="1700" b="1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smal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"fli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"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digi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ts)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 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shion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throu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ghput.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networ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445630" marR="3971" lvl="1" indent="-109957">
              <a:spcBef>
                <a:spcPts val="63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ommonly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dyn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port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communi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442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09928-DD1D-A05D-28D9-B152DA02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85BA3-F1C4-F5A2-D1A2-9D04B073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548240-09BE-AC02-ABE0-30DAB6CD1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A7F0916-E078-2097-3492-2525483311F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8F3137-1453-8359-56CA-1EE0899104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F91F645-7002-0BA5-83E0-4A845F7ED0AB}"/>
              </a:ext>
            </a:extLst>
          </p:cNvPr>
          <p:cNvSpPr txBox="1"/>
          <p:nvPr/>
        </p:nvSpPr>
        <p:spPr>
          <a:xfrm>
            <a:off x="914400" y="819150"/>
            <a:ext cx="7239000" cy="289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buClr>
                <a:srgbClr val="252525"/>
              </a:buClr>
              <a:tabLst>
                <a:tab pos="226022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3.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Fl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xibility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445630" marR="3665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suppor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onfigur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major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Dy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665848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-to-point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665848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ast.</a:t>
            </a:r>
            <a:endParaRPr sz="1700" dirty="0">
              <a:latin typeface="Times New Roman"/>
              <a:cs typeface="Times New Roman"/>
            </a:endParaRPr>
          </a:p>
          <a:p>
            <a:pPr marL="665848" lvl="2" indent="-109957">
              <a:buClr>
                <a:srgbClr val="252525"/>
              </a:buClr>
              <a:buFont typeface="Courier New"/>
              <a:buChar char="o"/>
              <a:tabLst>
                <a:tab pos="666154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suitable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wi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appli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for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ific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445630" marR="2749" lvl="1" indent="-109957">
              <a:spcBef>
                <a:spcPts val="53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rossb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provid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maximum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xibility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386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4567-2F59-10D9-EA16-B7C0386D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2A614-08F6-65BE-ED0C-B7583D4D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76E04-BF85-07A8-AC8C-461375694C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B4FFE26-CFA8-F1E1-6A67-101038252AE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A4F21-0B3D-2D81-8B49-C51B4F171D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0C134E8-5FE1-456E-4DE4-8DF11B7C4C38}"/>
              </a:ext>
            </a:extLst>
          </p:cNvPr>
          <p:cNvSpPr txBox="1"/>
          <p:nvPr/>
        </p:nvSpPr>
        <p:spPr>
          <a:xfrm>
            <a:off x="914400" y="819150"/>
            <a:ext cx="72390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buClr>
                <a:srgbClr val="252525"/>
              </a:buClr>
              <a:tabLst>
                <a:tab pos="226022" algn="l"/>
              </a:tabLst>
            </a:pP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4.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ala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bility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  <a:buClr>
                <a:srgbClr val="252525"/>
              </a:buClr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445630" marR="4582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rk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row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suppor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dditional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mponents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.g.,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modul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without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ignifi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Suppo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rts future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systems.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Ensu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sten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le: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t-tree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orks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lable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ten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l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rge numb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erve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rs.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lvl="1">
              <a:spcBef>
                <a:spcPts val="12"/>
              </a:spcBef>
              <a:buClr>
                <a:srgbClr val="252525"/>
              </a:buClr>
              <a:tabLst>
                <a:tab pos="445935" algn="l"/>
              </a:tabLst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157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F6B0-0F37-F382-D917-FFA31D2A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1B22D-57EC-C33E-8828-5F375C7C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F208A-0AAA-C862-4024-5151089EBA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789B0B7-373D-7444-4658-EC2A8881D26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66BD04-1B3F-86DD-D951-FC74E25930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616" y="819150"/>
            <a:ext cx="6910184" cy="2105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indent="-109651">
              <a:buClr>
                <a:srgbClr val="252525"/>
              </a:buClr>
              <a:buFont typeface="Times New Roman"/>
              <a:buAutoNum type="arabicPeriod" startAt="5"/>
              <a:tabLst>
                <a:tab pos="226022" algn="l"/>
              </a:tabLst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Fault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Tol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  <a:buClr>
                <a:srgbClr val="252525"/>
              </a:buClr>
              <a:buFont typeface="Times New Roman"/>
              <a:buAutoNum type="arabicPeriod" startAt="5"/>
            </a:pPr>
            <a:endParaRPr sz="1700" dirty="0">
              <a:latin typeface="Times New Roman"/>
              <a:cs typeface="Times New Roman"/>
            </a:endParaRPr>
          </a:p>
          <a:p>
            <a:pPr marL="445630" marR="3665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omponents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.g.,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s, 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nks)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routing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figu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conne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ions.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sys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Ensu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nuous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despi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failur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445630" marR="2443" lvl="1" indent="-109957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le:</a:t>
            </a:r>
            <a:r>
              <a:rPr sz="1700" b="1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Dyn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amic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orks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route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7823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103C-82F2-2FB4-EDA5-AA388036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272D4-F2DC-5137-12C0-EEAEF4F86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76D27-5671-94D0-163E-D060814DC2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DC1836B-AEF8-E290-C29E-4B5FB3446AE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96494F-4D46-C446-03B7-353F0C6FD8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F95721C-8DBD-4BE5-ECCF-135EF7346023}"/>
              </a:ext>
            </a:extLst>
          </p:cNvPr>
          <p:cNvSpPr txBox="1"/>
          <p:nvPr/>
        </p:nvSpPr>
        <p:spPr>
          <a:xfrm>
            <a:off x="1014616" y="819150"/>
            <a:ext cx="6910184" cy="23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buClr>
                <a:srgbClr val="252525"/>
              </a:buClr>
              <a:tabLst>
                <a:tab pos="226022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6.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Co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ica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ion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  <a:buClr>
                <a:srgbClr val="252525"/>
              </a:buClr>
              <a:buFont typeface="Times New Roman"/>
              <a:buAutoNum type="arabicPeriod" startAt="5"/>
            </a:pPr>
            <a:endParaRPr sz="1700" dirty="0">
              <a:latin typeface="Times New Roman"/>
              <a:cs typeface="Times New Roman"/>
            </a:endParaRPr>
          </a:p>
          <a:p>
            <a:pPr marL="445630" marR="3054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k'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imize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maximi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idt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ion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bottlen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ks.</a:t>
            </a:r>
            <a:endParaRPr sz="1700" dirty="0">
              <a:latin typeface="Times New Roman"/>
              <a:cs typeface="Times New Roman"/>
            </a:endParaRPr>
          </a:p>
          <a:p>
            <a:pPr marL="445630" marR="2443" lvl="1" indent="-109957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le: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wi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diam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topologies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hyp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torus,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r,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effi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029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B02E8-1CAD-41C6-32DB-4BFDE834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CF4844-ABA4-D9B4-B229-073CAD87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3757A-7EC0-B930-1B70-7E9191EE01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F28C2FB-6910-63D5-0A4E-E4E2FF467C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E5C997-6E46-7668-323E-65E5E208D8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C9260BC-FD5E-72DC-4D2B-2C2D83A18C2C}"/>
              </a:ext>
            </a:extLst>
          </p:cNvPr>
          <p:cNvSpPr txBox="1"/>
          <p:nvPr/>
        </p:nvSpPr>
        <p:spPr>
          <a:xfrm>
            <a:off x="1014616" y="819150"/>
            <a:ext cx="7062584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Organi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ational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endParaRPr lang="en-US" sz="1700" b="1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tion 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ompo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ollow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thr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sic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ompone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ts −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link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le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more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opti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fib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tri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with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tor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port.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ugh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log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nsm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nd,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obtain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origin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 digit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rmation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m.</a:t>
            </a: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3665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spcBef>
                <a:spcPts val="17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ompos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a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input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rts,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“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”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ring,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logic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input-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ports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ports.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0881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2868-F46C-A100-7383-F05C6202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5F44BA-2430-9837-2C57-9B282AF6A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0542FA-0E0C-375F-DCBF-EF3C685E9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BE18AF5-6428-B012-00B1-386AA8057F6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572028-E35A-9F38-3DE9-87CA0F501F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7EAF74D-1C2C-5D36-144C-8401FE862BC4}"/>
              </a:ext>
            </a:extLst>
          </p:cNvPr>
          <p:cNvSpPr txBox="1"/>
          <p:nvPr/>
        </p:nvSpPr>
        <p:spPr>
          <a:xfrm>
            <a:off x="1066800" y="1047750"/>
            <a:ext cx="6910184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054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b="1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quite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ntly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than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switch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nks. 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routing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ring,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-to-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ror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king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flow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ontrol.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ost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influ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storage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7081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841D-2570-9FC2-3558-7F7EF5B6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20355-BDB3-1AD8-3E93-274066C61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95233-E234-A5D5-FAEC-D679FCB514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692E187-8D6A-356D-CB69-1974B613ECD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1C0AE3-CA31-7060-1C8B-AB83D8FC79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AC2A09C-B1F9-B92B-A968-F43F9DE861C8}"/>
              </a:ext>
            </a:extLst>
          </p:cNvPr>
          <p:cNvSpPr txBox="1"/>
          <p:nvPr/>
        </p:nvSpPr>
        <p:spPr>
          <a:xfrm>
            <a:off x="1014616" y="819150"/>
            <a:ext cx="6910184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>
              <a:spcBef>
                <a:spcPts val="31"/>
              </a:spcBef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switching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nts.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Topol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ogy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individual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ents,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like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the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tem.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Direc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b="1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Dire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 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ve 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-to-point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ighboring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point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rings,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mesh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2443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ir</a:t>
            </a:r>
            <a:r>
              <a:rPr lang="en-US"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lang="en-US" sz="17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lang="en-US" sz="1700" b="1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ndi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lang="en-US"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orks </a:t>
            </a:r>
            <a:r>
              <a:rPr lang="en-US"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ve </a:t>
            </a:r>
            <a:r>
              <a:rPr lang="en-US"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no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fix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ghbo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s. </a:t>
            </a:r>
            <a:r>
              <a:rPr lang="en-US"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topol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dyn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ppli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mands.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579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377B-4A55-234B-11FD-D5A22C73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E1B47-EADD-FF4D-5F4A-F06C2D71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0140C-FED8-48A6-8B3B-46F8A73D6D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B6D48BE-A886-DADF-BD66-FDE9A15E88F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0471E4-39B5-E557-1FE9-A4F01B8E1C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684894"/>
            <a:ext cx="72390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 marR="3971" algn="just">
              <a:buClr>
                <a:srgbClr val="252525"/>
              </a:buClr>
              <a:buSzPct val="83333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orks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subd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ivide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rts: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 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ks, multi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rossb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swit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16065" marR="3971" algn="just">
              <a:buClr>
                <a:srgbClr val="252525"/>
              </a:buClr>
              <a:buSzPct val="83333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445630" marR="3360" lvl="1" indent="-109957" algn="just">
              <a:spcBef>
                <a:spcPts val="17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b="1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ompos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umber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bit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whi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sour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busses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physi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for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ddr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multiplex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multiple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bu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rbite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445630" marR="3360" lvl="1" indent="-109957" algn="just">
              <a:spcBef>
                <a:spcPts val="17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445630" marR="3054" lvl="1" indent="-109957" algn="just"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ltistage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multistage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onsists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multiple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switche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ompos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‘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xb’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hich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(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mall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2x2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hoice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many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termine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hoosi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rns,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rious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types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multi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65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F8C0-A25A-4D29-8B0D-292CC038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92BBC-5A32-4BF3-D1A4-8A980DF1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F4BBBC-7F74-A5E6-0C14-FC253BAC46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30869F7-533A-3496-C00C-C1354E25BE2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02759F-F0C3-DA59-3FFF-41DA8FD766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00B2E61-178A-B226-E5A5-FAF49C6D2240}"/>
              </a:ext>
            </a:extLst>
          </p:cNvPr>
          <p:cNvSpPr txBox="1"/>
          <p:nvPr/>
        </p:nvSpPr>
        <p:spPr>
          <a:xfrm>
            <a:off x="952500" y="1047750"/>
            <a:ext cx="723900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5630" marR="3360" lvl="1" indent="-109957" algn="just">
              <a:spcBef>
                <a:spcPts val="31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oss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swit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−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rossbar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switch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ontai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mat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ix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simple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urnin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switch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trix,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mory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rossb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witch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-bl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king,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blocking.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5679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C6CD0-E377-97F5-9393-78FB090C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4A2CC-638E-8CDA-0960-B5FDE0D8D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42FAA-2886-EF23-0AA0-E25F7B6E0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304ED5-FF05-A555-A1A8-D87AD1B6384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081ECD-8067-462B-CAE4-DD6A2B808F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651377-565B-49FE-C78F-0AE6DCB95E0F}"/>
              </a:ext>
            </a:extLst>
          </p:cNvPr>
          <p:cNvSpPr txBox="1"/>
          <p:nvPr/>
        </p:nvSpPr>
        <p:spPr>
          <a:xfrm>
            <a:off x="1027706" y="665844"/>
            <a:ext cx="7049494" cy="378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213487">
              <a:spcBef>
                <a:spcPts val="183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3487">
              <a:spcBef>
                <a:spcPts val="183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183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58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70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09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tallings,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.,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ture”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Eight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rson </a:t>
            </a:r>
            <a:r>
              <a:rPr lang="en-US" sz="1700" spc="-5" dirty="0">
                <a:latin typeface="Times New Roman"/>
                <a:cs typeface="Times New Roman"/>
              </a:rPr>
              <a:t>Edu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3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xt Book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4"/>
              </a:spcBef>
              <a:buClr>
                <a:srgbClr val="252525"/>
              </a:buClr>
              <a:buSzPct val="91666"/>
              <a:buFont typeface="Calibri"/>
              <a:buChar char="●"/>
              <a:tabLst>
                <a:tab pos="226022" algn="l"/>
              </a:tabLst>
            </a:pPr>
            <a:r>
              <a:rPr lang="en-US" sz="1700" spc="-5" dirty="0" err="1">
                <a:latin typeface="Times New Roman"/>
                <a:cs typeface="Times New Roman"/>
              </a:rPr>
              <a:t>C</a:t>
            </a:r>
            <a:r>
              <a:rPr lang="en-US" sz="1700" spc="-7" dirty="0" err="1">
                <a:latin typeface="Times New Roman"/>
                <a:cs typeface="Times New Roman"/>
              </a:rPr>
              <a:t>a</a:t>
            </a:r>
            <a:r>
              <a:rPr lang="en-US" sz="1700" spc="-2" dirty="0" err="1">
                <a:latin typeface="Times New Roman"/>
                <a:cs typeface="Times New Roman"/>
              </a:rPr>
              <a:t>rpin</a:t>
            </a:r>
            <a:r>
              <a:rPr lang="en-US" sz="1700" spc="-10" dirty="0" err="1">
                <a:latin typeface="Times New Roman"/>
                <a:cs typeface="Times New Roman"/>
              </a:rPr>
              <a:t>e</a:t>
            </a:r>
            <a:r>
              <a:rPr lang="en-US" sz="1700" spc="-2" dirty="0" err="1">
                <a:latin typeface="Times New Roman"/>
                <a:cs typeface="Times New Roman"/>
              </a:rPr>
              <a:t>lli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J.D</a:t>
            </a:r>
            <a:r>
              <a:rPr lang="en-US" sz="1700" spc="2" dirty="0">
                <a:latin typeface="Times New Roman"/>
                <a:cs typeface="Times New Roman"/>
              </a:rPr>
              <a:t>,</a:t>
            </a:r>
            <a:r>
              <a:rPr lang="en-US" sz="1700" dirty="0">
                <a:latin typeface="Times New Roman"/>
                <a:cs typeface="Times New Roman"/>
              </a:rPr>
              <a:t>”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org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&amp;Ar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ou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2" dirty="0">
                <a:latin typeface="Times New Roman"/>
                <a:cs typeface="Times New Roman"/>
              </a:rPr>
              <a:t>Addiso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esley.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91666"/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rson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ssy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tur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ifth Edition </a:t>
            </a:r>
            <a:r>
              <a:rPr lang="en-US" sz="1700" spc="-2" dirty="0" err="1">
                <a:latin typeface="Times New Roman"/>
                <a:cs typeface="Times New Roman"/>
              </a:rPr>
              <a:t>Morga</a:t>
            </a:r>
            <a:r>
              <a:rPr lang="en-US" sz="1700" dirty="0" err="1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K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uf</a:t>
            </a:r>
            <a:r>
              <a:rPr lang="en-US" sz="1700" spc="-5" dirty="0">
                <a:latin typeface="Times New Roman"/>
                <a:cs typeface="Times New Roman"/>
              </a:rPr>
              <a:t>fman.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9989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102C-894E-608D-CE6B-5670C3D9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132EC-4C05-97EE-B6D0-A5BAFD8D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DF7C1-1B52-9F07-6217-0CEAB4A6E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B25D6CA-CB1E-2F29-7EBB-ADA2BB08A3B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555F89-4969-AD91-3A7A-B59E8E0BEB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E13914-E054-A3C6-E61B-3327A2522E4D}"/>
              </a:ext>
            </a:extLst>
          </p:cNvPr>
          <p:cNvSpPr txBox="1"/>
          <p:nvPr/>
        </p:nvSpPr>
        <p:spPr>
          <a:xfrm>
            <a:off x="1047253" y="1047750"/>
            <a:ext cx="7049494" cy="299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/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http://cv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.stan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f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ord.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du/c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l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sses/e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382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482b/s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es01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/le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t04/ourl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t_final.pdf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9468" indent="-109651">
              <a:spcBef>
                <a:spcPts val="58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.tutori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lspo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i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nt.com/par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ll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l_comput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er_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hite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/par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ll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l_c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r_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rc</a:t>
            </a:r>
            <a:r>
              <a:rPr lang="en-US" sz="1700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hit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_int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lang="en-US" sz="17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ec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lang="en-US" sz="17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_n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twor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k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_d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sign.htm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  <a:buClr>
                <a:srgbClr val="252525"/>
              </a:buClr>
              <a:buFont typeface="Symbol"/>
              <a:buChar char=""/>
            </a:pPr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Vi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o </a:t>
            </a:r>
            <a:r>
              <a:rPr lang="en-US" sz="1700" b="1" spc="-5" dirty="0">
                <a:latin typeface="Times New Roman"/>
                <a:cs typeface="Times New Roman"/>
              </a:rPr>
              <a:t>Li</a:t>
            </a:r>
            <a:r>
              <a:rPr lang="en-US" sz="1700" b="1" spc="-2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7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/k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I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546S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z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GbLM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</a:t>
            </a:r>
            <a:r>
              <a:rPr lang="en-US" sz="1700" u="sng" spc="5" dirty="0">
                <a:solidFill>
                  <a:srgbClr val="0462C1"/>
                </a:solidFill>
                <a:latin typeface="Times New Roman"/>
                <a:cs typeface="Times New Roman"/>
              </a:rPr>
              <a:t>J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I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JD</a:t>
            </a:r>
            <a:r>
              <a:rPr lang="en-US"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K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DoAs</a:t>
            </a:r>
            <a:r>
              <a:rPr lang="en-US"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D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U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qOCe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/jGuRd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Q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lang="en-US"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I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v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si=V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lang="en-US"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lang="en-US"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suXA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B</a:t>
            </a:r>
            <a:r>
              <a:rPr lang="en-US"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z</a:t>
            </a:r>
            <a:r>
              <a:rPr lang="en-US"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F0LZyW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23218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1845</Words>
  <Application>Microsoft Office PowerPoint</Application>
  <PresentationFormat>On-screen Show (16:9)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2024-12-26T14:32:54Z</dcterms:created>
  <dcterms:modified xsi:type="dcterms:W3CDTF">2024-12-26T16:28:02Z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