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9"/>
  </p:notesMasterIdLst>
  <p:sldIdLst>
    <p:sldId id="269" r:id="rId2"/>
    <p:sldId id="476" r:id="rId3"/>
    <p:sldId id="491" r:id="rId4"/>
    <p:sldId id="492" r:id="rId5"/>
    <p:sldId id="493" r:id="rId6"/>
    <p:sldId id="477" r:id="rId7"/>
    <p:sldId id="494" r:id="rId8"/>
    <p:sldId id="495" r:id="rId9"/>
    <p:sldId id="496" r:id="rId10"/>
    <p:sldId id="478" r:id="rId11"/>
    <p:sldId id="497" r:id="rId12"/>
    <p:sldId id="498" r:id="rId13"/>
    <p:sldId id="499" r:id="rId14"/>
    <p:sldId id="479" r:id="rId15"/>
    <p:sldId id="500" r:id="rId16"/>
    <p:sldId id="489" r:id="rId17"/>
    <p:sldId id="501" r:id="rId18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62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01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1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62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4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4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23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7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9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6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95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tevidyalay.com/pipelining-practice-problems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studytonight.com/computer-architecture/pipelin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atevidyalay.com/instruction-pipelining-performance/" TargetMode="External"/><Relationship Id="rId11" Type="http://schemas.openxmlformats.org/officeDocument/2006/relationships/hyperlink" Target="https://www.youtube.com/live/rQl8WxeUdf0?si=dVdXkTphehYcnkRh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youtu.be/HhAnkFR-IWE?si=lSOPXH-SLDVx6yrA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youtu.be/DpMVYR8FauE?si=9S9uKDCVeDSDBwL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8644-C9F8-E800-66CD-B00C4F2A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82681-73B9-10E7-428D-36174CA0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AF8DA-C544-1BA0-6254-A4DC9B32A3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1740F13-E42C-A802-9A4F-1C8B023438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FD03F7-1983-3C99-9036-70906D2F80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699" y="742950"/>
            <a:ext cx="7063501" cy="341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106286" algn="ctr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PERFOR</a:t>
            </a:r>
            <a:r>
              <a:rPr sz="1700" b="1" spc="-1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ANC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EL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OCE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Consid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k’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gment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n’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tasks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Now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irst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going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take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k’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but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–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1’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take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only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1’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h,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i.e,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– 1’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So,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ETpip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– 1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– 1)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Tp</a:t>
            </a:r>
            <a:endParaRPr sz="1700" dirty="0">
              <a:latin typeface="Times New Roman"/>
              <a:cs typeface="Times New Roman"/>
            </a:endParaRPr>
          </a:p>
          <a:p>
            <a:pPr marL="6109" marR="125534">
              <a:spcBef>
                <a:spcPts val="149"/>
              </a:spcBef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n’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be: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ETno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-pipeline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* k *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Tp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108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F776-339D-9A86-D460-93136192F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669CB-BB9E-0CF5-E286-AE839E999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A26296-1254-9CC1-277A-F93E9AA8D0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A2DD193-97EA-732C-9831-5011256D4F2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84E843-FDBE-0488-6A90-CB68A109FC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03AB166-6E4C-06E6-2FD7-873AFB529A7C}"/>
              </a:ext>
            </a:extLst>
          </p:cNvPr>
          <p:cNvSpPr txBox="1"/>
          <p:nvPr/>
        </p:nvSpPr>
        <p:spPr>
          <a:xfrm>
            <a:off x="1013699" y="742950"/>
            <a:ext cx="7063501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So,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dup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(S)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-pipelined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n’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tasks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ined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/Pe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endParaRPr sz="1700" dirty="0">
              <a:latin typeface="Times New Roman"/>
              <a:cs typeface="Times New Roman"/>
            </a:endParaRPr>
          </a:p>
          <a:p>
            <a:pPr marL="6109" marR="86744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ly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oportional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time, 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ETno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-pipeline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Tpipeline</a:t>
            </a:r>
            <a:endParaRPr sz="1700" dirty="0">
              <a:latin typeface="Times New Roman"/>
              <a:cs typeface="Times New Roman"/>
            </a:endParaRPr>
          </a:p>
          <a:p>
            <a:pPr marL="6109" marR="1620027">
              <a:spcBef>
                <a:spcPts val="17"/>
              </a:spcBef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&gt;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[n *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*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]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[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(k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– 1) *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p] 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[n *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k]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[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– 1]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63528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n’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larg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k,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 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&gt;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&gt;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* k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n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k’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pipeline.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247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1E8B-07C2-6E23-37BE-DD096C16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BB32F4-31D0-E7FF-F469-C58ED7FDC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339CB9-D791-6557-A52A-A186270BF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A962A95-6689-14DF-4039-D63F340E6B1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CAF630-FB46-7926-DDE4-A46078DC1E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6B354F9-8604-F8A4-5DEA-46A48FCFCF9C}"/>
              </a:ext>
            </a:extLst>
          </p:cNvPr>
          <p:cNvSpPr txBox="1"/>
          <p:nvPr/>
        </p:nvSpPr>
        <p:spPr>
          <a:xfrm>
            <a:off x="1013699" y="742950"/>
            <a:ext cx="7063501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926384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Also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Give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x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know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t,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So,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Eff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k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28525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ough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Numbe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Tot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complete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ions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So,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oug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put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(k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– 1) *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Note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(CPI)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lue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ide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pr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641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CF720-D140-5538-A9BF-DD349B45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AD81D-3E9A-72CA-E298-1308AE06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A999F-197A-D642-F0FD-B2F8E0D493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F8EEC53-E7A1-A7D1-2BE2-473E005F3F6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A083A9-6A43-B1BD-D6AE-88EAA8FB99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8395422-92DC-5B75-701C-0C876B221682}"/>
              </a:ext>
            </a:extLst>
          </p:cNvPr>
          <p:cNvSpPr txBox="1"/>
          <p:nvPr/>
        </p:nvSpPr>
        <p:spPr>
          <a:xfrm>
            <a:off x="1013699" y="742950"/>
            <a:ext cx="7063501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imple 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xa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endParaRPr lang="en-US" sz="1700" b="1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6109" marR="3054">
              <a:spcBef>
                <a:spcPts val="31"/>
              </a:spcBef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Consid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nonpipelined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hine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lengths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50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ns,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50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ns,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60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ns,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60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ns, 50 ns,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50 ns.</a:t>
            </a:r>
            <a:endParaRPr sz="1700" dirty="0">
              <a:latin typeface="Times New Roman"/>
              <a:cs typeface="Times New Roman"/>
            </a:endParaRPr>
          </a:p>
          <a:p>
            <a:pPr marL="24435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Find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hine.</a:t>
            </a:r>
            <a:endParaRPr sz="1700" dirty="0">
              <a:latin typeface="Times New Roman"/>
              <a:cs typeface="Times New Roman"/>
            </a:endParaRPr>
          </a:p>
          <a:p>
            <a:pPr marL="97739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Ho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much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take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100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struc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ons?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Solution: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lat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b="1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5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50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60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5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50=</a:t>
            </a:r>
            <a:r>
              <a:rPr sz="1700" i="1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3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20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 100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100*320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3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2000 ns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586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8644-C9F8-E800-66CD-B00C4F2A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82681-73B9-10E7-428D-36174CA0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AF8DA-C544-1BA0-6254-A4DC9B32A3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1740F13-E42C-A802-9A4F-1C8B023438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FD03F7-1983-3C99-9036-70906D2F80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742950"/>
            <a:ext cx="68580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4582" indent="18326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Suppose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introdu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lining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hine.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Assum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sk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5ns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140195" indent="-42455">
              <a:buClr>
                <a:srgbClr val="252525"/>
              </a:buClr>
              <a:buFont typeface="Times New Roman"/>
              <a:buChar char="-"/>
              <a:tabLst>
                <a:tab pos="140500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?</a:t>
            </a:r>
            <a:endParaRPr sz="1700" dirty="0">
              <a:latin typeface="Times New Roman"/>
              <a:cs typeface="Times New Roman"/>
            </a:endParaRPr>
          </a:p>
          <a:p>
            <a:pPr marL="140195" indent="-42455">
              <a:buClr>
                <a:srgbClr val="252525"/>
              </a:buClr>
              <a:buFont typeface="Times New Roman"/>
              <a:buChar char="-"/>
              <a:tabLst>
                <a:tab pos="140500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much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take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100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struc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ons?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Solution:</a:t>
            </a:r>
            <a:endParaRPr sz="1700" dirty="0">
              <a:latin typeface="Times New Roman"/>
              <a:cs typeface="Times New Roman"/>
            </a:endParaRPr>
          </a:p>
          <a:p>
            <a:pPr marL="6109" marR="5192">
              <a:spcBef>
                <a:spcPts val="31"/>
              </a:spcBef>
            </a:pP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i="1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i="1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imple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ntation,</a:t>
            </a:r>
            <a:r>
              <a:rPr sz="1700" i="1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length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i="1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pipe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i="1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mus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i="1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1700" i="1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i="1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 sam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i.e., the sp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slo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es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s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tage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plus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rhe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ad.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h 5ns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rhe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ad</a:t>
            </a:r>
            <a:r>
              <a:rPr sz="1700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om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to: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b="1" i="1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lengt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i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b="1" i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i="1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AX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lengths</a:t>
            </a:r>
            <a:r>
              <a:rPr sz="1700" i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i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unpipelined</a:t>
            </a:r>
            <a:r>
              <a:rPr sz="1700" i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stages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i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rhe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ad</a:t>
            </a:r>
            <a:r>
              <a:rPr sz="1700" i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60</a:t>
            </a:r>
            <a:r>
              <a:rPr sz="1700" i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5</a:t>
            </a:r>
            <a:r>
              <a:rPr lang="en-US"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65 ns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lat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b="1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65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 100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65*6*1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5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*1*99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390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6435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6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825 ns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292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2BB6-D536-2D89-57EB-7EFFC1A9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D3B05-E7F7-3DA8-4B84-29182E65D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157AA-2AE8-D558-53B8-E18242E0D6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558EDF3-5A95-C66A-94DD-B8C48A2AAF2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3A261C-43A0-B890-9F1A-FBCA020584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E8C31F3-3E79-CCE1-B6C0-2A405700D05C}"/>
              </a:ext>
            </a:extLst>
          </p:cNvPr>
          <p:cNvSpPr txBox="1"/>
          <p:nvPr/>
        </p:nvSpPr>
        <p:spPr>
          <a:xfrm>
            <a:off x="1066800" y="742950"/>
            <a:ext cx="68580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890" indent="-42455">
              <a:buClr>
                <a:srgbClr val="252525"/>
              </a:buClr>
              <a:buFont typeface="Times New Roman"/>
              <a:buChar char="-"/>
              <a:tabLst>
                <a:tab pos="67196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dup 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lining?</a:t>
            </a:r>
            <a:endParaRPr sz="1700" dirty="0">
              <a:latin typeface="Times New Roman"/>
              <a:cs typeface="Times New Roman"/>
            </a:endParaRPr>
          </a:p>
          <a:p>
            <a:pPr>
              <a:buClr>
                <a:srgbClr val="252525"/>
              </a:buClr>
              <a:buFont typeface="Times New Roman"/>
              <a:buChar char="-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Solution:</a:t>
            </a:r>
            <a:endParaRPr sz="1700" dirty="0">
              <a:latin typeface="Times New Roman"/>
              <a:cs typeface="Times New Roman"/>
            </a:endParaRPr>
          </a:p>
          <a:p>
            <a:pPr marL="6109" marR="2443">
              <a:spcBef>
                <a:spcPts val="31"/>
              </a:spcBef>
            </a:pP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Sp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dup </a:t>
            </a:r>
            <a:r>
              <a:rPr sz="1700" i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rat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io </a:t>
            </a:r>
            <a:r>
              <a:rPr sz="1700" i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rag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i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instructi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i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tim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i="1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ho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i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rage instructi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tim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pi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lining.</a:t>
            </a:r>
            <a:endParaRPr sz="1700" dirty="0">
              <a:latin typeface="Times New Roman"/>
              <a:cs typeface="Times New Roman"/>
            </a:endParaRPr>
          </a:p>
          <a:p>
            <a:pPr marL="6109" marR="3054"/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(h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we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do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onsid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any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sta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ls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introduc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differ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typ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hazards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700" i="1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we</a:t>
            </a:r>
            <a:r>
              <a:rPr sz="1700" i="1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will</a:t>
            </a:r>
            <a:r>
              <a:rPr sz="1700" i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look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at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on)</a:t>
            </a:r>
            <a:endParaRPr sz="1700" dirty="0">
              <a:latin typeface="Times New Roman"/>
              <a:cs typeface="Times New Roman"/>
            </a:endParaRPr>
          </a:p>
          <a:p>
            <a:pPr marL="6109" marR="1202803"/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rag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inst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320 ns 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rag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inst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65 ns  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dup for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100 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b="1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ct</a:t>
            </a:r>
            <a:r>
              <a:rPr sz="1700" b="1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b="1" i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32000 </a:t>
            </a:r>
            <a:r>
              <a:rPr sz="17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 6825</a:t>
            </a:r>
            <a:r>
              <a:rPr sz="17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=</a:t>
            </a:r>
            <a:r>
              <a:rPr sz="17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4</a:t>
            </a:r>
            <a:r>
              <a:rPr sz="17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i="1" dirty="0">
                <a:solidFill>
                  <a:srgbClr val="252525"/>
                </a:solidFill>
                <a:latin typeface="Times New Roman"/>
                <a:cs typeface="Times New Roman"/>
              </a:rPr>
              <a:t>69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459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15BA8-B8D9-C87E-AC89-A06D9F22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FC17E0-5CEF-592D-EFA9-0EC8ACCF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FDA1D-F0A9-77C4-65C5-966D440D1A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D2792DE-A4B4-2339-7CEC-BE9B73E856D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2EF4E8-A3F1-01F8-4FCE-F91D4E8EA0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B473D9D-C27D-6496-0F57-72B27ADC2B29}"/>
              </a:ext>
            </a:extLst>
          </p:cNvPr>
          <p:cNvSpPr txBox="1"/>
          <p:nvPr/>
        </p:nvSpPr>
        <p:spPr>
          <a:xfrm>
            <a:off x="1066800" y="742950"/>
            <a:ext cx="68580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ob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lem-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01: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971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Consid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ving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4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60,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50,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90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80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ns.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Give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 ns.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lcul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Non-pipeline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1000 tasks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1000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tasks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Throughput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700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5464-B9E0-220C-0534-BE3D7C7C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CBCC9D-6818-590B-D31C-FD981383E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1AA7B6-4B6E-F79E-F7A7-65BBB4E32A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86AAD8E-C0C1-634F-DC37-5715B50482F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BAFD83-F1CA-4D23-755F-E7B74517EE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69CA354-015D-2671-5080-3069CF07970E}"/>
              </a:ext>
            </a:extLst>
          </p:cNvPr>
          <p:cNvSpPr txBox="1"/>
          <p:nvPr/>
        </p:nvSpPr>
        <p:spPr>
          <a:xfrm>
            <a:off x="1066800" y="742950"/>
            <a:ext cx="68580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olution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Give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our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 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sta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60, 50,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90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80 ns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 ns</a:t>
            </a:r>
            <a:endParaRPr sz="1700" dirty="0">
              <a:latin typeface="Times New Roman"/>
              <a:cs typeface="Times New Roman"/>
            </a:endParaRPr>
          </a:p>
          <a:p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01: 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ip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Cy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ximum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x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{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60, 50, 90, 80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}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 ns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algn="just"/>
            <a:r>
              <a:rPr lang="de-DE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lang="de-DE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de-DE" sz="1700" dirty="0">
                <a:solidFill>
                  <a:srgbClr val="252525"/>
                </a:solidFill>
                <a:latin typeface="Times New Roman"/>
                <a:cs typeface="Times New Roman"/>
              </a:rPr>
              <a:t>90 ns</a:t>
            </a:r>
            <a:r>
              <a:rPr lang="de-DE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de-DE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lang="de-DE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de-DE" sz="1700" dirty="0">
                <a:solidFill>
                  <a:srgbClr val="252525"/>
                </a:solidFill>
                <a:latin typeface="Times New Roman"/>
                <a:cs typeface="Times New Roman"/>
              </a:rPr>
              <a:t>10 ns</a:t>
            </a:r>
            <a:endParaRPr lang="de-DE" sz="1700" dirty="0">
              <a:latin typeface="Times New Roman"/>
              <a:cs typeface="Times New Roman"/>
            </a:endParaRPr>
          </a:p>
          <a:p>
            <a:pPr marL="6109" algn="just"/>
            <a:r>
              <a:rPr lang="de-DE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lang="de-DE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de-DE" sz="1700" dirty="0">
                <a:solidFill>
                  <a:srgbClr val="252525"/>
                </a:solidFill>
                <a:latin typeface="Times New Roman"/>
                <a:cs typeface="Times New Roman"/>
              </a:rPr>
              <a:t>100 ns</a:t>
            </a:r>
            <a:endParaRPr lang="de-DE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139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8644-C9F8-E800-66CD-B00C4F2A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82681-73B9-10E7-428D-36174CA0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AF8DA-C544-1BA0-6254-A4DC9B32A3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1740F13-E42C-A802-9A4F-1C8B023438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FD03F7-1983-3C99-9036-70906D2F80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/>
          <p:cNvSpPr txBox="1"/>
          <p:nvPr/>
        </p:nvSpPr>
        <p:spPr>
          <a:xfrm>
            <a:off x="1015838" y="819150"/>
            <a:ext cx="6965886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02: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e-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Non-pipeline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80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280 ns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03: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Up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Rat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Non-pipeline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280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280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100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2.8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5927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2CA03-DE77-D3FE-FB48-73C12C47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B74BC-2ED6-44EC-25CF-82A17BFA7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548B0-3931-303F-4451-D182D76279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86B377D-13DB-8066-B212-5715CE68615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63F38D-F0F5-BE10-54BB-9A7E08881B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F609AE95-FAD3-D37C-C71E-94E6EFDA45E5}"/>
              </a:ext>
            </a:extLst>
          </p:cNvPr>
          <p:cNvSpPr txBox="1"/>
          <p:nvPr/>
        </p:nvSpPr>
        <p:spPr>
          <a:xfrm>
            <a:off x="1015838" y="819150"/>
            <a:ext cx="6965886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04: 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ip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1000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ask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1000 tasks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1st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task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 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999 tasks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 x 4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9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 x 1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4 x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999 x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4 x 100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999 x 100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400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99900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100300 ns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05: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Seq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tial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1000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ask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Non-pipeline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00 tasks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1000 x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task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1000 x 280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280000 ns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7488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7AF9-6B8F-58AB-D3F1-83462B76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9A4E2-CA04-51B8-4192-F99B55F8F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060DE1-DD1D-B0C1-A817-B68F26618E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CFD686C-A945-9FFF-854F-24E31064CC6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446AA0-EF19-0388-57C6-DDA217F6CC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86CFFF5A-1D33-6254-7D90-B96630307B8C}"/>
              </a:ext>
            </a:extLst>
          </p:cNvPr>
          <p:cNvSpPr txBox="1"/>
          <p:nvPr/>
        </p:nvSpPr>
        <p:spPr>
          <a:xfrm>
            <a:off x="1015838" y="819150"/>
            <a:ext cx="6965886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06: Th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oughpu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for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pipelined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Numbe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1000 tasks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100300 ns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2186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746F-03F9-0DE3-096C-6BE7E5DD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5AF61D-ACF7-F507-5A08-4ED6A210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DCCF31-390E-29CC-1133-468BC46A4D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814496B-ABDA-CFEF-D301-392A4A8B625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78295C-69D8-EA1E-7673-30636645C3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0038F1CF-ACB5-C704-34EC-6E061CECB854}"/>
              </a:ext>
            </a:extLst>
          </p:cNvPr>
          <p:cNvSpPr txBox="1"/>
          <p:nvPr/>
        </p:nvSpPr>
        <p:spPr>
          <a:xfrm>
            <a:off x="1015838" y="819150"/>
            <a:ext cx="6965886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ob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lem-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02: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four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150,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120,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160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140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ly.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h.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Assum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locking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te, the total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1000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data 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120.4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onds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160.5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onds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165.5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onds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590.0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ros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onds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144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C759-9703-6815-5C8D-7E74107B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79047-6DFF-221F-FBB0-3A1464693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35385-3405-C2A0-0033-6CD34ED291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3186760-F621-5822-727A-0D41DA96DCA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C001D3-EAB2-F92B-09DF-B6F753AD24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700134"/>
            <a:ext cx="698669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lang="en-US"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olution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Give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our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 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sta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150, 1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2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0, 160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140 ns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 ns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1000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items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ssed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le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ximum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del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x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{150,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120, 160,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40}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5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165 ns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7106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1B31B-9704-A2B8-7437-7ADEE69B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F4AA23-515F-B6ED-E34E-E44C30FB4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1C73F7-CCC1-8409-9C85-4BC4613B93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2BBD069-CCFD-5518-151E-3760668FFAE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D5DB85-F2D4-4815-7578-2B2F6C8F26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40DE50B-A260-40C3-67A8-2A7F1D489F6C}"/>
              </a:ext>
            </a:extLst>
          </p:cNvPr>
          <p:cNvSpPr txBox="1"/>
          <p:nvPr/>
        </p:nvSpPr>
        <p:spPr>
          <a:xfrm>
            <a:off x="1014310" y="819150"/>
            <a:ext cx="698669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1000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Dat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ms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1000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data 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1st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for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remaining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999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data 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 x 4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9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 x 1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4 x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999 x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4 x 165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999 x 165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660 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164835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165495 ns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165.5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μs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Thus,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Optio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(C)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434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4E086-7FAD-8D22-245D-76C307A8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54395-692D-15B0-7725-9D45CBC3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A58555-4363-BC05-4F0C-A03F4D25C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70F478C-7662-3506-9934-B9998189F73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4E8DF4-B760-1F7D-1271-1C7BACAF73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D65AFB-8388-11BD-768B-E751AD8D6643}"/>
              </a:ext>
            </a:extLst>
          </p:cNvPr>
          <p:cNvSpPr txBox="1"/>
          <p:nvPr/>
        </p:nvSpPr>
        <p:spPr>
          <a:xfrm>
            <a:off x="914400" y="692514"/>
            <a:ext cx="7162800" cy="385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2213487"/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2213487"/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/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9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dirty="0">
                <a:latin typeface="Times New Roman"/>
                <a:cs typeface="Times New Roman"/>
              </a:rPr>
              <a:t>no, </a:t>
            </a:r>
            <a:r>
              <a:rPr lang="en-US" sz="1700" spc="-2" dirty="0">
                <a:latin typeface="Times New Roman"/>
                <a:cs typeface="Times New Roman"/>
              </a:rPr>
              <a:t>M.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rd </a:t>
            </a:r>
            <a:r>
              <a:rPr lang="en-US" sz="1700" spc="-2" dirty="0">
                <a:latin typeface="Times New Roman"/>
                <a:cs typeface="Times New Roman"/>
              </a:rPr>
              <a:t>Edition, 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392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tallings,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.,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14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chit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ture”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Eight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rson </a:t>
            </a:r>
            <a:r>
              <a:rPr lang="en-US" sz="1700" spc="-5" dirty="0">
                <a:latin typeface="Times New Roman"/>
                <a:cs typeface="Times New Roman"/>
              </a:rPr>
              <a:t>Edu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387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387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xt Book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04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5" dirty="0" err="1">
                <a:latin typeface="Times New Roman"/>
                <a:cs typeface="Times New Roman"/>
              </a:rPr>
              <a:t>C</a:t>
            </a:r>
            <a:r>
              <a:rPr lang="en-US" sz="1700" spc="-7" dirty="0" err="1">
                <a:latin typeface="Times New Roman"/>
                <a:cs typeface="Times New Roman"/>
              </a:rPr>
              <a:t>a</a:t>
            </a:r>
            <a:r>
              <a:rPr lang="en-US" sz="1700" spc="-2" dirty="0" err="1">
                <a:latin typeface="Times New Roman"/>
                <a:cs typeface="Times New Roman"/>
              </a:rPr>
              <a:t>rpin</a:t>
            </a:r>
            <a:r>
              <a:rPr lang="en-US" sz="1700" spc="-10" dirty="0" err="1">
                <a:latin typeface="Times New Roman"/>
                <a:cs typeface="Times New Roman"/>
              </a:rPr>
              <a:t>e</a:t>
            </a:r>
            <a:r>
              <a:rPr lang="en-US" sz="1700" spc="-2" dirty="0" err="1">
                <a:latin typeface="Times New Roman"/>
                <a:cs typeface="Times New Roman"/>
              </a:rPr>
              <a:t>lli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J.D</a:t>
            </a:r>
            <a:r>
              <a:rPr lang="en-US" sz="1700" spc="2" dirty="0">
                <a:latin typeface="Times New Roman"/>
                <a:cs typeface="Times New Roman"/>
              </a:rPr>
              <a:t>,</a:t>
            </a:r>
            <a:r>
              <a:rPr lang="en-US" sz="1700" dirty="0">
                <a:latin typeface="Times New Roman"/>
                <a:cs typeface="Times New Roman"/>
              </a:rPr>
              <a:t>”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org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&amp;Ar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re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ou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2" dirty="0">
                <a:latin typeface="Times New Roman"/>
                <a:cs typeface="Times New Roman"/>
              </a:rPr>
              <a:t>Addiso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esley.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rson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ssy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tur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ifth Edition </a:t>
            </a:r>
            <a:r>
              <a:rPr lang="en-US" sz="1700" spc="-2" dirty="0" err="1">
                <a:latin typeface="Times New Roman"/>
                <a:cs typeface="Times New Roman"/>
              </a:rPr>
              <a:t>Morga</a:t>
            </a:r>
            <a:r>
              <a:rPr lang="en-US" sz="1700" dirty="0" err="1">
                <a:latin typeface="Times New Roman"/>
                <a:cs typeface="Times New Roman"/>
              </a:rPr>
              <a:t>on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K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uf</a:t>
            </a:r>
            <a:r>
              <a:rPr lang="en-US" sz="1700" spc="-5" dirty="0">
                <a:latin typeface="Times New Roman"/>
                <a:cs typeface="Times New Roman"/>
              </a:rPr>
              <a:t>fman.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828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A08F-261C-F25A-1099-0EC0A63F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516B16-63B8-DC80-ACB7-304BECB7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7E504-05B0-3231-5E1C-1A0D43CFE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4F4D7D3-90B3-BBC3-0E25-D74CF4552D9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FAA5F9-C107-2889-C2E1-85F72EDC23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32218B-BD8E-5F64-9AD0-CB7F8E6E9662}"/>
              </a:ext>
            </a:extLst>
          </p:cNvPr>
          <p:cNvSpPr txBox="1"/>
          <p:nvPr/>
        </p:nvSpPr>
        <p:spPr>
          <a:xfrm>
            <a:off x="914400" y="692514"/>
            <a:ext cx="7162800" cy="28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/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s: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.g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tevidy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lay.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om/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instru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-pipelini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ng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f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orm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7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.studytoni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gh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om/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omput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-ar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hit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ec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ur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/pi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p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li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ning</a:t>
            </a:r>
            <a:endParaRPr lang="en-US" sz="1700" u="sng" spc="-5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.g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tevidy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lay.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om/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pipelini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n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g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-pr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tic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-probl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ms/</a:t>
            </a:r>
            <a:endParaRPr lang="en-US" sz="1700" u="sng" spc="-5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>
              <a:buFont typeface="Symbol"/>
              <a:buChar char=""/>
            </a:pPr>
            <a:endParaRPr lang="en-US" sz="1700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Vi</a:t>
            </a:r>
            <a:r>
              <a:rPr lang="en-US" sz="1700" b="1" dirty="0">
                <a:latin typeface="Times New Roman"/>
                <a:cs typeface="Times New Roman"/>
              </a:rPr>
              <a:t>d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o </a:t>
            </a:r>
            <a:r>
              <a:rPr lang="en-US" sz="1700" b="1" spc="-5" dirty="0">
                <a:latin typeface="Times New Roman"/>
                <a:cs typeface="Times New Roman"/>
              </a:rPr>
              <a:t>Li</a:t>
            </a:r>
            <a:r>
              <a:rPr lang="en-US" sz="1700" b="1" spc="-2" dirty="0">
                <a:latin typeface="Times New Roman"/>
                <a:cs typeface="Times New Roman"/>
              </a:rPr>
              <a:t>n</a:t>
            </a:r>
            <a:r>
              <a:rPr lang="en-US" sz="1700" b="1" dirty="0">
                <a:latin typeface="Times New Roman"/>
                <a:cs typeface="Times New Roman"/>
              </a:rPr>
              <a:t>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/youtu.b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/DpMV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Y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R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8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F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uE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?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si=9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S9uK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DC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V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DSD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B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wL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X</a:t>
            </a:r>
            <a:endParaRPr lang="en-US" sz="1700" u="sng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/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/youtu.b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/HhAnk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F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R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-I</a:t>
            </a:r>
            <a:r>
              <a:rPr lang="en-US" sz="1700" u="sng" spc="-1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E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?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si=l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SOPX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H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-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S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LDV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x6yrA</a:t>
            </a:r>
            <a:endParaRPr lang="en-US" sz="1700" u="sng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//ww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.youtube.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om/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li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v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/r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Q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l8Wx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Ud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f0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?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s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i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=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dVd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XkTph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e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h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Y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cnkR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1"/>
              </a:rPr>
              <a:t>h</a:t>
            </a:r>
            <a:endParaRPr lang="en-US" sz="1700" u="sng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12377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</TotalTime>
  <Words>1330</Words>
  <Application>Microsoft Office PowerPoint</Application>
  <PresentationFormat>On-screen Show (16:9)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2024-12-26T11:05:39Z</dcterms:created>
  <dcterms:modified xsi:type="dcterms:W3CDTF">2024-12-26T15:11:33Z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2024-12-26T00:00:00Z</vt:filetime>
  </property>
  <property fmtid="{D5CDD505-2E9C-101B-9397-08002B2CF9AE}" pid="3" name="LastSaved">
    <vt:filetime>2024-12-26T00:00:00Z</vt:filetime>
  </property>
</Properties>
</file>