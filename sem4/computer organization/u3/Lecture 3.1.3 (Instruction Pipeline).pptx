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6"/>
  </p:notesMasterIdLst>
  <p:sldIdLst>
    <p:sldId id="265" r:id="rId2"/>
    <p:sldId id="464" r:id="rId3"/>
    <p:sldId id="474" r:id="rId4"/>
    <p:sldId id="473" r:id="rId5"/>
    <p:sldId id="475" r:id="rId6"/>
    <p:sldId id="465" r:id="rId7"/>
    <p:sldId id="477" r:id="rId8"/>
    <p:sldId id="466" r:id="rId9"/>
    <p:sldId id="478" r:id="rId10"/>
    <p:sldId id="467" r:id="rId11"/>
    <p:sldId id="480" r:id="rId12"/>
    <p:sldId id="481" r:id="rId13"/>
    <p:sldId id="479" r:id="rId14"/>
    <p:sldId id="468" r:id="rId15"/>
    <p:sldId id="482" r:id="rId16"/>
    <p:sldId id="483" r:id="rId17"/>
    <p:sldId id="469" r:id="rId18"/>
    <p:sldId id="484" r:id="rId19"/>
    <p:sldId id="470" r:id="rId20"/>
    <p:sldId id="487" r:id="rId21"/>
    <p:sldId id="488" r:id="rId22"/>
    <p:sldId id="489" r:id="rId23"/>
    <p:sldId id="471" r:id="rId24"/>
    <p:sldId id="490" r:id="rId25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00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44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8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56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24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2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2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1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9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2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3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32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69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gatevidyalay.com/pipelining-practice-problems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D9D2-66A5-F01E-E172-CCB112D4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2E0EF-BAE1-B66E-7788-50ABA303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F7D7DB-C236-0F02-28CD-77958EDA4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745869-1B24-A444-8172-46AC873071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533CD-1D4A-015D-DED2-CFC97AB09E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310" y="819150"/>
            <a:ext cx="6910490" cy="2890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661872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INS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RUCTI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PIP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EL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buClr>
                <a:srgbClr val="242424"/>
              </a:buClr>
              <a:buFont typeface="Symbol"/>
              <a:buChar char=""/>
              <a:tabLst>
                <a:tab pos="335979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hnique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implem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nts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sm</a:t>
            </a:r>
            <a:r>
              <a:rPr sz="1700" spc="4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335673"/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inst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lev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all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lis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wit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sing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  <a:p>
            <a:pPr marL="335673" marR="3360" indent="-109957">
              <a:spcBef>
                <a:spcPts val="53"/>
              </a:spcBef>
              <a:buClr>
                <a:srgbClr val="242424"/>
              </a:buClr>
              <a:buFont typeface="Symbol"/>
              <a:buChar char=""/>
              <a:tabLst>
                <a:tab pos="335979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</a:t>
            </a:r>
            <a:r>
              <a:rPr sz="1700" spc="-3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ro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not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until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vious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uted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tely.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buClr>
                <a:srgbClr val="242424"/>
              </a:buClr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tch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gins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12"/>
              </a:spcBef>
              <a:buClr>
                <a:srgbClr val="242424"/>
              </a:buClr>
              <a:buFont typeface="Symbol"/>
              <a:buChar char=""/>
              <a:tabLst>
                <a:tab pos="335979" algn="l"/>
              </a:tabLst>
            </a:pP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iple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simult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ousl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this.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17"/>
              </a:spcBef>
              <a:buClr>
                <a:srgbClr val="242424"/>
              </a:buClr>
              <a:buFont typeface="Symbol"/>
              <a:buChar char=""/>
              <a:tabLst>
                <a:tab pos="335979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more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that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no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-pipelined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161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6E8D-5F6D-66D5-FEE0-9401B8F1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F910B-AAF1-CC96-C604-795E36FFA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FD7ADC-AFD0-6FC1-8ABF-95F95C507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4B5A2DA-BBEA-056D-D9A5-E4BBEC14693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105727-0139-D115-9E42-E0EAEB6473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FA1514F-EB7F-3B83-91FA-F67E05525989}"/>
              </a:ext>
            </a:extLst>
          </p:cNvPr>
          <p:cNvSpPr txBox="1"/>
          <p:nvPr/>
        </p:nvSpPr>
        <p:spPr>
          <a:xfrm>
            <a:off x="1014310" y="819150"/>
            <a:ext cx="691049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Fou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tage Pip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887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</a:t>
            </a:r>
            <a:r>
              <a:rPr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</a:t>
            </a:r>
            <a:r>
              <a:rPr sz="1700" spc="6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6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spc="7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ted</a:t>
            </a:r>
            <a:r>
              <a:rPr sz="1700" spc="6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63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following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four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stages: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tch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(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(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E)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rite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(</a:t>
            </a:r>
            <a:r>
              <a:rPr sz="1700" spc="-12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implem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pipeline,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rdw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divided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into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fun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fu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orms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dic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task.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16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0CED-4890-B25F-4DEC-31AE3759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083D59-5C17-860B-2A48-D9C089BC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F5447D-80B5-9367-73E9-8744BF3037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0A039F1-F0C7-9F75-210E-421A1DFAC82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C24AD-2D3E-B209-6B27-5F06F37B8A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75BF2BB6-479C-2624-B510-57E8E4BD7246}"/>
              </a:ext>
            </a:extLst>
          </p:cNvPr>
          <p:cNvSpPr txBox="1"/>
          <p:nvPr/>
        </p:nvSpPr>
        <p:spPr>
          <a:xfrm>
            <a:off x="952500" y="2921289"/>
            <a:ext cx="7239000" cy="18312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tag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01: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01,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irst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fun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orms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</a:t>
            </a: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inst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lang="en-US"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uted.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nstr</a:t>
            </a:r>
            <a:r>
              <a:rPr lang="en-US"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lang="en-US"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code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rea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F398D01-C726-6EDF-58E0-920AAA7A07E2}"/>
              </a:ext>
            </a:extLst>
          </p:cNvPr>
          <p:cNvSpPr/>
          <p:nvPr/>
        </p:nvSpPr>
        <p:spPr>
          <a:xfrm>
            <a:off x="1942875" y="819150"/>
            <a:ext cx="4936755" cy="21059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35935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2FCD-8583-4A45-D1D6-56258269F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57D6D7-8C60-77D6-884E-B30951B56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D9920-E667-C804-9826-948A189142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A6C8861-9A25-FA42-758D-3A5ACAF7717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8EAF19-7B0E-A4A1-C665-AB7ABAF4C4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E5F70485-5F9B-E592-C4A8-0F0EFDDFD47B}"/>
              </a:ext>
            </a:extLst>
          </p:cNvPr>
          <p:cNvSpPr txBox="1"/>
          <p:nvPr/>
        </p:nvSpPr>
        <p:spPr>
          <a:xfrm>
            <a:off x="914400" y="923001"/>
            <a:ext cx="72390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tag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02:</a:t>
            </a:r>
            <a:endParaRPr lang="en-US" sz="1700" b="1" u="heavy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lang="en-US" sz="1700" b="1" u="heavy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t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02,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ond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 u</a:t>
            </a:r>
            <a:r>
              <a:rPr lang="en-US"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it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orms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od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the inst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  <a:p>
            <a:pPr marL="225716" marR="122785" indent="-109651">
              <a:spcBef>
                <a:spcPts val="31"/>
              </a:spcBef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 op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ion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buf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dirty="0">
                <a:latin typeface="Times New Roman"/>
                <a:cs typeface="Times New Roman"/>
              </a:rPr>
              <a:t>fy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 in input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tch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(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).</a:t>
            </a:r>
          </a:p>
          <a:p>
            <a:pPr marL="6109"/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92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D9D2-66A5-F01E-E172-CCB112D4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2E0EF-BAE1-B66E-7788-50ABA303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F7D7DB-C236-0F02-28CD-77958EDA4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745869-1B24-A444-8172-46AC873071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533CD-1D4A-015D-DED2-CFC97AB09E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700134"/>
            <a:ext cx="70866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5" dirty="0">
                <a:solidFill>
                  <a:srgbClr val="242424"/>
                </a:solidFill>
                <a:latin typeface="Times New Roman"/>
                <a:cs typeface="Times New Roman"/>
              </a:rPr>
              <a:t>tag</a:t>
            </a:r>
            <a:r>
              <a:rPr sz="1700" b="1" u="heavy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42424"/>
                </a:solidFill>
                <a:latin typeface="Times New Roman"/>
                <a:cs typeface="Times New Roman"/>
              </a:rPr>
              <a:t>03: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03,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fun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marR="2443" indent="-109651">
              <a:spcBef>
                <a:spcPts val="31"/>
              </a:spcBef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rithm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/logic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t.</a:t>
            </a:r>
          </a:p>
          <a:p>
            <a:pPr>
              <a:spcBef>
                <a:spcPts val="21"/>
              </a:spcBef>
              <a:buClr>
                <a:srgbClr val="242424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u="heavy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u="heavy" spc="-5" dirty="0">
                <a:solidFill>
                  <a:srgbClr val="242424"/>
                </a:solidFill>
                <a:latin typeface="Times New Roman"/>
                <a:cs typeface="Times New Roman"/>
              </a:rPr>
              <a:t>tag</a:t>
            </a:r>
            <a:r>
              <a:rPr sz="1700" b="1" u="heavy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42424"/>
                </a:solidFill>
                <a:latin typeface="Times New Roman"/>
                <a:cs typeface="Times New Roman"/>
              </a:rPr>
              <a:t>04: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04,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fu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unit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write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k.</a:t>
            </a:r>
            <a:endParaRPr sz="1700" dirty="0">
              <a:latin typeface="Times New Roman"/>
              <a:cs typeface="Times New Roman"/>
            </a:endParaRPr>
          </a:p>
          <a:p>
            <a:pPr marL="225716" marR="21075" indent="-109651">
              <a:spcBef>
                <a:spcPts val="31"/>
              </a:spcBef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main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or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rs,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obtai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ng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30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DAD5-DE5B-D653-8906-F7DA55D08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30B306-8B06-438E-DA20-DFF25AA4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72F80F-F727-C8D7-A24D-7B4A9D66EC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AE840E3-21D7-9444-BB80-04879F601E4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2425DC-0B3E-CCFF-DE5C-2FC883F7A8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4FA3600-7AAC-54D5-4BC2-CCE7FE77B378}"/>
              </a:ext>
            </a:extLst>
          </p:cNvPr>
          <p:cNvSpPr txBox="1"/>
          <p:nvPr/>
        </p:nvSpPr>
        <p:spPr>
          <a:xfrm>
            <a:off x="1066800" y="700134"/>
            <a:ext cx="70866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Pip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nstr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rogram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  <a:p>
            <a:pPr marL="225716" marR="42455" indent="-109651">
              <a:spcBef>
                <a:spcPts val="31"/>
              </a:spcBef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g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tage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(n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+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r>
              <a:rPr sz="1700" baseline="31250" dirty="0">
                <a:solidFill>
                  <a:srgbClr val="242424"/>
                </a:solidFill>
                <a:latin typeface="Times New Roman"/>
                <a:cs typeface="Times New Roman"/>
              </a:rPr>
              <a:t>th </a:t>
            </a:r>
            <a:r>
              <a:rPr sz="1700" spc="-68" baseline="3125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noth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go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(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)</a:t>
            </a:r>
            <a:r>
              <a:rPr sz="1700" baseline="31250" dirty="0">
                <a:solidFill>
                  <a:srgbClr val="242424"/>
                </a:solidFill>
                <a:latin typeface="Times New Roman"/>
                <a:cs typeface="Times New Roman"/>
              </a:rPr>
              <a:t>th </a:t>
            </a:r>
            <a:r>
              <a:rPr sz="1700" spc="-68" baseline="3125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tag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8949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no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-pipelined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 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sta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oth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099716B-3792-D277-9B4A-B023CE7E12EE}"/>
              </a:ext>
            </a:extLst>
          </p:cNvPr>
          <p:cNvSpPr/>
          <p:nvPr/>
        </p:nvSpPr>
        <p:spPr>
          <a:xfrm>
            <a:off x="3352098" y="3181350"/>
            <a:ext cx="3565631" cy="1447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0F9E4E3-87A4-0E7E-4F10-1E0160D6C61D}"/>
              </a:ext>
            </a:extLst>
          </p:cNvPr>
          <p:cNvSpPr txBox="1"/>
          <p:nvPr/>
        </p:nvSpPr>
        <p:spPr>
          <a:xfrm>
            <a:off x="3105639" y="3384159"/>
            <a:ext cx="246459" cy="1040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lnSpc>
                <a:spcPct val="145100"/>
              </a:lnSpc>
            </a:pPr>
            <a:r>
              <a:rPr sz="1200" b="1" spc="-5" dirty="0">
                <a:latin typeface="Times New Roman"/>
                <a:cs typeface="Times New Roman"/>
              </a:rPr>
              <a:t>S4</a:t>
            </a:r>
            <a:endParaRPr lang="en-US" sz="1200" b="1" spc="-5" dirty="0">
              <a:latin typeface="Times New Roman"/>
              <a:cs typeface="Times New Roman"/>
            </a:endParaRPr>
          </a:p>
          <a:p>
            <a:pPr marL="6109" marR="2443" algn="just">
              <a:lnSpc>
                <a:spcPct val="145100"/>
              </a:lnSpc>
            </a:pPr>
            <a:r>
              <a:rPr sz="1200" b="1" spc="-5" dirty="0">
                <a:latin typeface="Times New Roman"/>
                <a:cs typeface="Times New Roman"/>
              </a:rPr>
              <a:t>S3</a:t>
            </a:r>
            <a:endParaRPr lang="en-US" sz="1200" b="1" spc="-5" dirty="0">
              <a:latin typeface="Times New Roman"/>
              <a:cs typeface="Times New Roman"/>
            </a:endParaRPr>
          </a:p>
          <a:p>
            <a:pPr marL="6109" marR="2443" algn="just">
              <a:lnSpc>
                <a:spcPct val="145100"/>
              </a:lnSpc>
            </a:pPr>
            <a:r>
              <a:rPr sz="1200" b="1" spc="-5" dirty="0">
                <a:latin typeface="Times New Roman"/>
                <a:cs typeface="Times New Roman"/>
              </a:rPr>
              <a:t>S2</a:t>
            </a:r>
            <a:endParaRPr lang="en-US" sz="1200" b="1" spc="-5" dirty="0">
              <a:latin typeface="Times New Roman"/>
              <a:cs typeface="Times New Roman"/>
            </a:endParaRPr>
          </a:p>
          <a:p>
            <a:pPr marL="6109" marR="2443" algn="just">
              <a:lnSpc>
                <a:spcPct val="145100"/>
              </a:lnSpc>
            </a:pPr>
            <a:r>
              <a:rPr sz="1200" b="1" spc="-5" dirty="0">
                <a:latin typeface="Times New Roman"/>
                <a:cs typeface="Times New Roman"/>
              </a:rPr>
              <a:t>S1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9266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FD9D2-66A5-F01E-E172-CCB112D4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32E0EF-BAE1-B66E-7788-50ABA3031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F7D7DB-C236-0F02-28CD-77958EDA4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745869-1B24-A444-8172-46AC873071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2533CD-1D4A-015D-DED2-CFC97AB09E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object 2"/>
          <p:cNvSpPr txBox="1"/>
          <p:nvPr/>
        </p:nvSpPr>
        <p:spPr>
          <a:xfrm>
            <a:off x="867852" y="923001"/>
            <a:ext cx="7056948" cy="52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4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pi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mput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r,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ve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op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ted/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uted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in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rl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shion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867852" y="3288663"/>
            <a:ext cx="7209348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Phas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e-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Diagr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am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se-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diagr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ows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-17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</a:t>
            </a:r>
            <a:r>
              <a:rPr sz="1700" spc="-19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spcBef>
                <a:spcPts val="31"/>
              </a:spcBef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following</a:t>
            </a:r>
            <a:r>
              <a:rPr sz="1700" spc="-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diag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ows</a:t>
            </a:r>
            <a:r>
              <a:rPr sz="1700" spc="-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</a:t>
            </a:r>
            <a:r>
              <a:rPr sz="1700" spc="-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r>
              <a:rPr sz="1700" spc="-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-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three</a:t>
            </a:r>
            <a:r>
              <a:rPr sz="1700" spc="-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36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</a:t>
            </a:r>
            <a:r>
              <a:rPr sz="1700" spc="-34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fou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-38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16" name="object 5"/>
          <p:cNvSpPr/>
          <p:nvPr/>
        </p:nvSpPr>
        <p:spPr>
          <a:xfrm>
            <a:off x="2764447" y="1421687"/>
            <a:ext cx="3263758" cy="189151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8" name="object 7"/>
          <p:cNvSpPr txBox="1"/>
          <p:nvPr/>
        </p:nvSpPr>
        <p:spPr>
          <a:xfrm>
            <a:off x="2494973" y="1717328"/>
            <a:ext cx="344053" cy="13002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lnSpc>
                <a:spcPct val="145200"/>
              </a:lnSpc>
            </a:pPr>
            <a:r>
              <a:rPr sz="1500" b="1" spc="-5" dirty="0">
                <a:latin typeface="Times New Roman"/>
                <a:cs typeface="Times New Roman"/>
              </a:rPr>
              <a:t>S4</a:t>
            </a:r>
            <a:r>
              <a:rPr sz="1500" b="1" spc="-2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S3</a:t>
            </a:r>
            <a:r>
              <a:rPr sz="1500" b="1" spc="-2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S2</a:t>
            </a:r>
            <a:r>
              <a:rPr sz="1500" b="1" spc="-2" dirty="0">
                <a:latin typeface="Times New Roman"/>
                <a:cs typeface="Times New Roman"/>
              </a:rPr>
              <a:t> </a:t>
            </a:r>
            <a:r>
              <a:rPr sz="1500" b="1" spc="-5" dirty="0">
                <a:latin typeface="Times New Roman"/>
                <a:cs typeface="Times New Roman"/>
              </a:rPr>
              <a:t>S1</a:t>
            </a:r>
            <a:endParaRPr sz="15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680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019B0-57A7-C7DD-95DB-1F367CA29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2EAA8E-A3B8-FADE-77A1-121BA716A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6AE581-8921-3F90-BAE6-E9378D8AE4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29EF10E-42DE-C665-9DAD-2443D462E28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A184E-C8C7-E490-02E8-3E46A75F60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5" name="object 4">
            <a:extLst>
              <a:ext uri="{FF2B5EF4-FFF2-40B4-BE49-F238E27FC236}">
                <a16:creationId xmlns:a16="http://schemas.microsoft.com/office/drawing/2014/main" id="{E05D0402-F5B3-44F2-4752-0366ECCE390A}"/>
              </a:ext>
            </a:extLst>
          </p:cNvPr>
          <p:cNvSpPr txBox="1"/>
          <p:nvPr/>
        </p:nvSpPr>
        <p:spPr>
          <a:xfrm>
            <a:off x="932027" y="3046987"/>
            <a:ext cx="7086600" cy="156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exe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fo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pipelined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6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NO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TE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non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-pipelined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hi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,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woul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=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3 x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tak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lang="en-US"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cute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one 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lang="en-US"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lang="en-US" sz="1700" dirty="0">
                <a:solidFill>
                  <a:srgbClr val="242424"/>
                </a:solidFill>
                <a:latin typeface="Times New Roman"/>
                <a:cs typeface="Times New Roman"/>
              </a:rPr>
              <a:t>on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097C693C-6F4F-7627-8CC7-2D4F8FC06843}"/>
              </a:ext>
            </a:extLst>
          </p:cNvPr>
          <p:cNvSpPr/>
          <p:nvPr/>
        </p:nvSpPr>
        <p:spPr>
          <a:xfrm>
            <a:off x="2514600" y="710627"/>
            <a:ext cx="4403130" cy="22421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/>
          </a:p>
        </p:txBody>
      </p:sp>
    </p:spTree>
    <p:extLst>
      <p:ext uri="{BB962C8B-B14F-4D97-AF65-F5344CB8AC3E}">
        <p14:creationId xmlns:p14="http://schemas.microsoft.com/office/powerpoint/2010/main" val="58351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6C5F-6B8B-FCDA-28D6-3E2A59F7A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D1C130-20D4-BC8C-2544-B58B1C617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6061FD-0A08-DC54-1AED-1BC232D55F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4858D56-EA71-B503-577C-53AAFAD2A59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1519B-23B5-640D-FF9F-B6B73431FD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143000" y="742950"/>
            <a:ext cx="69342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3 x 4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12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Cle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rly,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ion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more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no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ipelined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f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an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of 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ip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li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Ex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tion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19790"/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The following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rve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rit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est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mate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rmance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ution: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Up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Ef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42424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Throughput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3901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833C-DB67-AC26-2E72-66E811E1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B1CB7E-C6BC-43F2-C794-E6DAF0654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7A9F25-683A-5E2D-CEC5-327F5A3C07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6814227-854C-50F1-BB27-F21DA8EBE48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FB63B2-5BEB-538A-B7E1-DBAAE522EC1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B5FB589-93EF-A282-3825-01DD81774683}"/>
              </a:ext>
            </a:extLst>
          </p:cNvPr>
          <p:cNvSpPr txBox="1"/>
          <p:nvPr/>
        </p:nvSpPr>
        <p:spPr>
          <a:xfrm>
            <a:off x="1143000" y="742950"/>
            <a:ext cx="6934200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/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1. 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Sp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ee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b="1" spc="-2" dirty="0">
                <a:solidFill>
                  <a:srgbClr val="242424"/>
                </a:solidFill>
                <a:latin typeface="Times New Roman"/>
                <a:cs typeface="Times New Roman"/>
              </a:rPr>
              <a:t>Up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50762"/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giv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idea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of "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how</a:t>
            </a:r>
            <a:r>
              <a:rPr sz="1700" b="1" spc="2" dirty="0">
                <a:solidFill>
                  <a:srgbClr val="242424"/>
                </a:solidFill>
                <a:latin typeface="Times New Roman"/>
                <a:cs typeface="Times New Roman"/>
              </a:rPr>
              <a:t> m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42424"/>
                </a:solidFill>
                <a:latin typeface="Times New Roman"/>
                <a:cs typeface="Times New Roman"/>
              </a:rPr>
              <a:t>h fas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b="1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"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the pipelined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omp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ar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to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no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pipelined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on.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lcul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ted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42424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25B9340-55D5-B711-9E4E-C34EA3F07B8B}"/>
              </a:ext>
            </a:extLst>
          </p:cNvPr>
          <p:cNvSpPr/>
          <p:nvPr/>
        </p:nvSpPr>
        <p:spPr>
          <a:xfrm>
            <a:off x="2590800" y="1951257"/>
            <a:ext cx="3101349" cy="7916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/>
          </a:p>
        </p:txBody>
      </p:sp>
    </p:spTree>
    <p:extLst>
      <p:ext uri="{BB962C8B-B14F-4D97-AF65-F5344CB8AC3E}">
        <p14:creationId xmlns:p14="http://schemas.microsoft.com/office/powerpoint/2010/main" val="159928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8887-2708-1A9A-0FB1-0CB51DD49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F30DE7-C317-A470-3A81-4A20A2AE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1E61EF-199D-5479-5CCC-6EFCE46B71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9F0BD18-CFD1-C141-E572-75DFAF87D8A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99248-2819-6CBE-B827-7AC295D536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43F9A274-8DE3-F9F9-E8E2-7FA8C6F7423C}"/>
              </a:ext>
            </a:extLst>
          </p:cNvPr>
          <p:cNvSpPr/>
          <p:nvPr/>
        </p:nvSpPr>
        <p:spPr>
          <a:xfrm>
            <a:off x="2057400" y="1885950"/>
            <a:ext cx="4114800" cy="18288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E4EA71EA-E61F-14FF-57F0-B6AA15C6BF64}"/>
              </a:ext>
            </a:extLst>
          </p:cNvPr>
          <p:cNvSpPr txBox="1"/>
          <p:nvPr/>
        </p:nvSpPr>
        <p:spPr>
          <a:xfrm>
            <a:off x="1066800" y="742950"/>
            <a:ext cx="6934200" cy="784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2.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Eff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lcul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68759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74B33-B2E5-653F-CC8E-A1BDE765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A9E5C5-05EA-66BC-D37E-BDC2F8A53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052D27-D0D6-C2A0-C35A-BDD6DF0934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F46E8EF-5EA6-BE89-EEB1-3C9177D7554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35D28A-003F-6971-435E-E992D7A810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89E0071C-CA1A-C413-8100-505210403F44}"/>
              </a:ext>
            </a:extLst>
          </p:cNvPr>
          <p:cNvSpPr txBox="1"/>
          <p:nvPr/>
        </p:nvSpPr>
        <p:spPr>
          <a:xfrm>
            <a:off x="1066800" y="742950"/>
            <a:ext cx="6934200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2. 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Throughput</a:t>
            </a:r>
          </a:p>
          <a:p>
            <a:pPr marL="6109"/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Throughput is defined as number of instructions executed per unit time. It is calculated as-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12" name="object 4"/>
          <p:cNvSpPr/>
          <p:nvPr/>
        </p:nvSpPr>
        <p:spPr>
          <a:xfrm>
            <a:off x="2501117" y="2070050"/>
            <a:ext cx="4416613" cy="8356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553612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43A4-68EA-3286-75E1-A21C05BB2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74830F-DB0C-C01B-6955-CC83AC75F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7C80F-3D6E-9C6A-47CD-6260371893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84E62AD-4D85-4E18-7C0C-F07D7A7015D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53E6C3-5566-9D91-54CB-5DC5430F25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/>
          <p:cNvSpPr txBox="1"/>
          <p:nvPr/>
        </p:nvSpPr>
        <p:spPr>
          <a:xfrm>
            <a:off x="951540" y="692514"/>
            <a:ext cx="7125660" cy="4001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Calc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lation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mp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nt 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 marR="209528">
              <a:spcBef>
                <a:spcPts val="149"/>
              </a:spcBef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rn 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lculate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import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Consid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90"/>
              </a:spcBef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Tot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uted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>
              <a:buClr>
                <a:srgbClr val="252525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01: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alculatin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le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glob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synchr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oniz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suc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all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sync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roni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1"/>
              </a:spcBef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ginni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of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lue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one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4389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F71B5-8612-1974-F7C3-6F75DAB1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9962F6-853E-2557-D77A-AB277B080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9D8AAF-2A01-629A-F308-F21CCD8064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3863B49-E0FE-B429-2345-95B17F4D298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A168C1-15C5-B885-D630-970D8B1B9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48E5ADC5-7D9A-B51C-646E-9E17EF62955A}"/>
              </a:ext>
            </a:extLst>
          </p:cNvPr>
          <p:cNvSpPr txBox="1"/>
          <p:nvPr/>
        </p:nvSpPr>
        <p:spPr>
          <a:xfrm>
            <a:off x="951540" y="692514"/>
            <a:ext cx="712566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possi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Cas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01: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sta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sa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la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lay,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by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including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its 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Cas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02: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do not 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sa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la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y-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lay,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Ma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ximum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del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by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including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its 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99383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B9810-5E0F-0D44-444C-D269293BA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FBAD5D-2AF7-4CAF-1118-F53AF955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9F1F6-3CEA-E26F-1B14-3AA1E58385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ECA7553-9B8A-4150-A245-B8BAEF11D9F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B9E8E8-CFB5-7F41-0FC2-E66B642817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7B73D1C9-2951-3520-2FA2-763843A07D0B}"/>
              </a:ext>
            </a:extLst>
          </p:cNvPr>
          <p:cNvSpPr txBox="1"/>
          <p:nvPr/>
        </p:nvSpPr>
        <p:spPr>
          <a:xfrm>
            <a:off x="951540" y="692514"/>
            <a:ext cx="712566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02: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alculatin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Clock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03: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alculatin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 Ti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lang="en-US" sz="1700" b="1" u="heavy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In non-pipelined architecture,</a:t>
            </a:r>
          </a:p>
          <a:p>
            <a:pPr marL="291859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The instructions execute one after the other.</a:t>
            </a:r>
          </a:p>
          <a:p>
            <a:pPr marL="291859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/>
                <a:cs typeface="Times New Roman"/>
              </a:rPr>
              <a:t>The execution of a new instruction begins only after the previous instruction has executed completely.</a:t>
            </a: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So, number of clock cycles taken by each instruction = k clock cycles</a:t>
            </a:r>
          </a:p>
          <a:p>
            <a:pPr marL="6109"/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Thus, Non-pipelined execution time</a:t>
            </a: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= Total number of instructions x Time taken to execute one instruction</a:t>
            </a:r>
          </a:p>
          <a:p>
            <a:pPr marL="6109"/>
            <a:r>
              <a:rPr lang="en-US" sz="1700" dirty="0">
                <a:latin typeface="Times New Roman"/>
                <a:cs typeface="Times New Roman"/>
              </a:rPr>
              <a:t>= n x k clock cycles</a:t>
            </a:r>
          </a:p>
        </p:txBody>
      </p:sp>
    </p:spTree>
    <p:extLst>
      <p:ext uri="{BB962C8B-B14F-4D97-AF65-F5344CB8AC3E}">
        <p14:creationId xmlns:p14="http://schemas.microsoft.com/office/powerpoint/2010/main" val="2720376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48EE1-47EA-242D-181B-AF496096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2B52A3-B01E-92D1-8ECA-ECD027FD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D662E1-7C5E-3096-CD8D-8598B658B0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F43CFF-5CCF-53FD-DFD9-9F681B657F2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F83B3-E6E0-932C-5E52-4115AF057C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/>
          <p:cNvSpPr txBox="1"/>
          <p:nvPr/>
        </p:nvSpPr>
        <p:spPr>
          <a:xfrm>
            <a:off x="990600" y="665844"/>
            <a:ext cx="70866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04: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alculatin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g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tion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1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e-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pipelined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Mul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iple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Numbe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irst instru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 marL="225716" marR="15272" indent="-109651">
              <a:spcBef>
                <a:spcPts val="31"/>
              </a:spcBef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tely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d, 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So,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endParaRPr sz="1700" dirty="0">
              <a:latin typeface="Times New Roman"/>
              <a:cs typeface="Times New Roman"/>
            </a:endParaRPr>
          </a:p>
          <a:p>
            <a:pPr>
              <a:buClr>
                <a:srgbClr val="252525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Thus,</a:t>
            </a:r>
            <a:r>
              <a:rPr lang="en-US"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ipelined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tak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x 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(n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1) x 1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 1)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6988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FA151-0241-9135-EEA8-EC0C6115C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0B29EE-3A95-0BCA-D627-C9E7574CA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3402AF-FEB7-6B09-01AB-243BB6612A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A20F959-E239-A1E7-32EC-D4350838316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3636D1-128B-895E-C83F-2CB09B49B73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BDD75667-0CCB-E5A7-295C-CA374B8A26DD}"/>
              </a:ext>
            </a:extLst>
          </p:cNvPr>
          <p:cNvSpPr txBox="1"/>
          <p:nvPr/>
        </p:nvSpPr>
        <p:spPr>
          <a:xfrm>
            <a:off x="990600" y="819150"/>
            <a:ext cx="70866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Poin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t-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05: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Calc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latin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g Sp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Non-pipelined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ipelined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n*k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 /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n – 1)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n*k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(k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– 1)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n*k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 1)</a:t>
            </a: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[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+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–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)/n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]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very 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rge number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tions, n→∞. Thus,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infinit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or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tic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y, K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stage p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line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K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-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times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f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aste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s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ri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1"/>
              </a:spcBef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But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this 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spe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up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mentioned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bove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nnot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be</a:t>
            </a:r>
            <a:r>
              <a:rPr sz="1700" spc="2" dirty="0">
                <a:solidFill>
                  <a:srgbClr val="242424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hiev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d d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to fa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tors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 like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ta 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42424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br</a:t>
            </a:r>
            <a:r>
              <a:rPr sz="1700" spc="-10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42424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nd i</a:t>
            </a:r>
            <a:r>
              <a:rPr sz="1700" spc="-2" dirty="0">
                <a:solidFill>
                  <a:srgbClr val="242424"/>
                </a:solidFill>
                <a:latin typeface="Times New Roman"/>
                <a:cs typeface="Times New Roman"/>
              </a:rPr>
              <a:t>nte</a:t>
            </a:r>
            <a:r>
              <a:rPr sz="1700" spc="-7" dirty="0">
                <a:solidFill>
                  <a:srgbClr val="242424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42424"/>
                </a:solidFill>
                <a:latin typeface="Times New Roman"/>
                <a:cs typeface="Times New Roman"/>
              </a:rPr>
              <a:t>rupts.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7734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CCAEA-A761-59BF-010B-E2DCF84E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A74E9-8CEC-22FE-0A27-F20014063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3837D5-542E-5497-14E9-3AB2A153B7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2B96EBB-79C0-127C-0E00-56B9F3C2C70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C8A82-4593-2BAC-17BB-70D46885A1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44244" y="819150"/>
            <a:ext cx="6423356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35" algn="ctr"/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lang="en-US"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tant</a:t>
            </a:r>
            <a:r>
              <a:rPr lang="en-US"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Not</a:t>
            </a:r>
            <a:r>
              <a:rPr lang="en-US" sz="1700" b="1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</a:p>
          <a:p>
            <a:pPr marL="24435" algn="ctr"/>
            <a:endParaRPr lang="en-US" sz="1700" b="1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435"/>
            <a:r>
              <a:rPr lang="en-US"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lang="en-US"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lang="en-US"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lang="en-US"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lang="en-US"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24435"/>
            <a:endParaRPr lang="en-US" sz="1700" dirty="0">
              <a:latin typeface="Times New Roman"/>
              <a:cs typeface="Times New Roman"/>
            </a:endParaRPr>
          </a:p>
          <a:p>
            <a:pPr marL="225716" marR="29933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archit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ords,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mainta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Cambria Math"/>
                <a:cs typeface="Cambria Math"/>
              </a:rPr>
              <a:t>≅</a:t>
            </a:r>
            <a:r>
              <a:rPr sz="1700" spc="17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1.</a:t>
            </a:r>
            <a:endParaRPr sz="1700" dirty="0">
              <a:latin typeface="Times New Roman"/>
              <a:cs typeface="Times New Roman"/>
            </a:endParaRPr>
          </a:p>
          <a:p>
            <a:pPr marL="225716" marR="5803" indent="-109651">
              <a:spcBef>
                <a:spcPts val="36"/>
              </a:spcBef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poss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hieve C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Cambria Math"/>
                <a:cs typeface="Cambria Math"/>
              </a:rPr>
              <a:t>≅</a:t>
            </a:r>
            <a:r>
              <a:rPr sz="1700" spc="17" dirty="0">
                <a:solidFill>
                  <a:srgbClr val="252525"/>
                </a:solidFill>
                <a:latin typeface="Cambria Math"/>
                <a:cs typeface="Cambria Math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lays that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intro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rs.</a:t>
            </a:r>
            <a:endParaRPr sz="1700" dirty="0">
              <a:latin typeface="Times New Roman"/>
              <a:cs typeface="Times New Roman"/>
            </a:endParaRPr>
          </a:p>
          <a:p>
            <a:pPr marL="225716" marR="107513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plete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(CP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8512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91AC-ED00-11F7-A785-D770326AA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BCAA81-FF35-EA58-BF9C-C3FFB3E3B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C99B43-9D9D-C969-DD81-1E8B5C3FCC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FA343C6-A63C-2674-E042-2CEBA06AD4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4AE9DD-F092-3D10-2340-5C46A85670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D4E9CB7-4F84-7E6E-80D4-F78E8B1FAF62}"/>
              </a:ext>
            </a:extLst>
          </p:cNvPr>
          <p:cNvSpPr txBox="1"/>
          <p:nvPr/>
        </p:nvSpPr>
        <p:spPr>
          <a:xfrm>
            <a:off x="1044244" y="819150"/>
            <a:ext cx="6423356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35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2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maximum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hiev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hiev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100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%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100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%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ipelined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  <a:buClr>
                <a:srgbClr val="252525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24435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3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ide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onditions,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i.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up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=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Numb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ipelined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cture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8286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9B985-1C28-A604-D12F-14463B482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D9132B-DAE5-9C38-2A02-529A215B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EC8E9C-26F8-CFAB-90EE-AFD37B96AC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0203B3B-EB1B-D2DD-83B7-780BA9E8327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4EAB9E-6691-D0E1-7799-440B592BB0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A84E4D5-F120-45E2-074B-9BD5A0D4EA37}"/>
              </a:ext>
            </a:extLst>
          </p:cNvPr>
          <p:cNvSpPr txBox="1"/>
          <p:nvPr/>
        </p:nvSpPr>
        <p:spPr>
          <a:xfrm>
            <a:off x="1044244" y="819150"/>
            <a:ext cx="6423356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4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rim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show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5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p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gives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per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  <a:buClr>
                <a:srgbClr val="252525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24435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5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only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uted,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Non-pipelined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gives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pip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This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introdu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Thus,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ex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cute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-pipelined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less.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08869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4A97-2AAD-8DDB-8879-BAF4243A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7D89BF-F986-A3F7-E1A3-885E9A94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470949-C2F0-ED6C-6321-B6C8CB442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211A6B3-0D1B-2D6C-E4D1-271A9FF3D55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C256E-0075-E6AA-9F83-2F32EACD20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E435253-9D4E-581C-8761-298DAD4F8665}"/>
              </a:ext>
            </a:extLst>
          </p:cNvPr>
          <p:cNvSpPr txBox="1"/>
          <p:nvPr/>
        </p:nvSpPr>
        <p:spPr>
          <a:xfrm>
            <a:off x="1044244" y="819150"/>
            <a:ext cx="6423356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435"/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b="1" u="heavy" spc="-5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b="1" u="heavy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u="heavy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0</a:t>
            </a:r>
            <a:r>
              <a:rPr sz="1700" b="1" u="heavy" spc="5" dirty="0">
                <a:solidFill>
                  <a:srgbClr val="252525"/>
                </a:solidFill>
                <a:latin typeface="Times New Roman"/>
                <a:cs typeface="Times New Roman"/>
              </a:rPr>
              <a:t>6</a:t>
            </a:r>
            <a:r>
              <a:rPr sz="1700" b="1" u="heavy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ici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pipel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pr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hieve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stage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dur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onditional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upts.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onfli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onditions.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966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089BA-3B13-0365-2F12-A73D4EFC9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52193B-282F-80CA-4517-743BBC905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A673AF-8644-DD86-483D-38E50AE23C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273A5E2-0766-95E5-680E-1DEC99F493A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559361-B33B-C78C-481B-0AC3EE9D79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742950"/>
            <a:ext cx="7010400" cy="40216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182944">
              <a:spcBef>
                <a:spcPts val="240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182944">
              <a:spcBef>
                <a:spcPts val="240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182944">
              <a:spcBef>
                <a:spcPts val="240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7"/>
              </a:spcBef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2"/>
              </a:spcBef>
              <a:buFont typeface="Times New Roman"/>
              <a:buChar char="●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buFont typeface="Times New Roman"/>
              <a:buChar char="●"/>
              <a:tabLst>
                <a:tab pos="226022" algn="l"/>
              </a:tabLst>
            </a:pPr>
            <a:endParaRPr lang="en-US" sz="1700" dirty="0">
              <a:latin typeface="Times New Roman"/>
              <a:cs typeface="Times New Roman"/>
            </a:endParaRPr>
          </a:p>
          <a:p>
            <a:pPr marL="225716" marR="3665" indent="-109651"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392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392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80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”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92"/>
              </a:spcBef>
              <a:buFont typeface="Times New Roman"/>
              <a:buChar char="●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enn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Morg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3613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42AC7-3FD5-F1AC-F392-A6546C70F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5BA308-2ECE-598B-E164-E32BE7E6C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9E4466-70E3-35B3-0209-422D5BD39E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D49077A-6007-7A37-7755-7A82589DFD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0A5CA0-C9AD-3FF3-8EAE-366033F3D8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5CC76A7-6559-AC7E-EDD8-CFABAB8E6F7F}"/>
              </a:ext>
            </a:extLst>
          </p:cNvPr>
          <p:cNvSpPr txBox="1"/>
          <p:nvPr/>
        </p:nvSpPr>
        <p:spPr>
          <a:xfrm>
            <a:off x="914400" y="742950"/>
            <a:ext cx="7010400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38"/>
              </a:spcBef>
            </a:pP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b="1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endParaRPr lang="en-US" sz="1700" b="1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>
              <a:spcBef>
                <a:spcPts val="438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tevidy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lay.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pipelini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g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tic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-probl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ms/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  <a:buClr>
                <a:srgbClr val="252525"/>
              </a:buClr>
              <a:buFont typeface="Times New Roman"/>
              <a:buChar char="●"/>
            </a:pPr>
            <a:endParaRPr sz="1700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Vi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s:</a:t>
            </a:r>
            <a:endParaRPr lang="en-US" sz="1700" b="1" spc="-2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/YhGv5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1s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?si=2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5gnNt1S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qi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Ogl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/1vqC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VT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0I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si=vG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nV1sPbp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8Z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3dA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Clr>
                <a:srgbClr val="252525"/>
              </a:buClr>
              <a:buSzPct val="83333"/>
              <a:buFont typeface="Times New Roman"/>
              <a:buChar char="●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/_c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Y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UUD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aq8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si=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63U4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XX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XiLOH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WZ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728320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</TotalTime>
  <Words>1485</Words>
  <Application>Microsoft Office PowerPoint</Application>
  <PresentationFormat>On-screen Show (16:9)</PresentationFormat>
  <Paragraphs>222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2024-12-26T11:05:26Z</dcterms:created>
  <dcterms:modified xsi:type="dcterms:W3CDTF">2024-12-26T14:44:32Z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2024-12-26T00:00:00Z</vt:filetime>
  </property>
  <property fmtid="{D5CDD505-2E9C-101B-9397-08002B2CF9AE}" pid="3" name="LastSaved">
    <vt:filetime>2024-12-26T00:00:00Z</vt:filetime>
  </property>
</Properties>
</file>