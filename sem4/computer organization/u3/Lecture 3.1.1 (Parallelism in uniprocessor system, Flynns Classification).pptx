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3"/>
  </p:notesMasterIdLst>
  <p:sldIdLst>
    <p:sldId id="265" r:id="rId2"/>
    <p:sldId id="450" r:id="rId3"/>
    <p:sldId id="459" r:id="rId4"/>
    <p:sldId id="460" r:id="rId5"/>
    <p:sldId id="461" r:id="rId6"/>
    <p:sldId id="451" r:id="rId7"/>
    <p:sldId id="462" r:id="rId8"/>
    <p:sldId id="463" r:id="rId9"/>
    <p:sldId id="452" r:id="rId10"/>
    <p:sldId id="464" r:id="rId11"/>
    <p:sldId id="453" r:id="rId12"/>
    <p:sldId id="465" r:id="rId13"/>
    <p:sldId id="466" r:id="rId14"/>
    <p:sldId id="454" r:id="rId15"/>
    <p:sldId id="467" r:id="rId16"/>
    <p:sldId id="455" r:id="rId17"/>
    <p:sldId id="468" r:id="rId18"/>
    <p:sldId id="456" r:id="rId19"/>
    <p:sldId id="457" r:id="rId20"/>
    <p:sldId id="469" r:id="rId21"/>
    <p:sldId id="470" r:id="rId22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393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868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3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32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8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6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2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45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6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28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computer-architecture-flynns-taxonomy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tutorialsinhand.com/tutorials/computer-organization-and-architecture-coa-%20tutorial/flynns-classification-of-computers/flynns-classification-of-computers.aspx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ribd.com/doc/14716458/Parallelism-in-Uniprocessor-System-and-Granularity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://www.brainkart.com/article/Flynn-s-Classification_8627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5F-1629-2AC0-029C-BEB4D71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52DFB-0485-946E-4D59-65700460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0F2E7-1E0F-4659-600E-1008149736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59C10D-9BA7-0582-6776-D2DEE3245EB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4CF99-16F5-B002-4123-560968EF1F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81100" y="1200150"/>
            <a:ext cx="6781800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Pa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all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lis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ip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Sy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887" algn="just"/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unipro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(o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)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rm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r>
              <a:rPr sz="1700" spc="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sk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mult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ousl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y.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tasks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not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othe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 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So, 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that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two 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mult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ousl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ould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onsid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form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ing.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09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3F33-2CA6-376B-0709-355A52CD9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762C03-5752-82A8-880C-4C101CAA3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7223BD-430C-EE5C-4FB7-2543EAE674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E121BED-FA73-D01A-3819-023AF445C46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D41743-A371-39A0-5AB8-95BA010275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BDD3E67-13B4-DCEB-C0E6-A99D7926CDFC}"/>
              </a:ext>
            </a:extLst>
          </p:cNvPr>
          <p:cNvSpPr txBox="1"/>
          <p:nvPr/>
        </p:nvSpPr>
        <p:spPr>
          <a:xfrm>
            <a:off x="1219200" y="819150"/>
            <a:ext cx="67818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Exa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Unipr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ystem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pipeline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manuf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turing </a:t>
            </a:r>
            <a:r>
              <a:rPr sz="1700" spc="-7" dirty="0">
                <a:latin typeface="Times New Roman"/>
                <a:cs typeface="Times New Roman"/>
              </a:rPr>
              <a:t>assembl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mbl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four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stages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stage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ives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rts,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orms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assembl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task,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esul</a:t>
            </a:r>
            <a:r>
              <a:rPr sz="1700" dirty="0">
                <a:latin typeface="Times New Roman"/>
                <a:cs typeface="Times New Roman"/>
              </a:rPr>
              <a:t>ts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cond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stage</a:t>
            </a:r>
            <a:r>
              <a:rPr sz="1700" spc="-2" dirty="0">
                <a:latin typeface="Times New Roman"/>
                <a:cs typeface="Times New Roman"/>
              </a:rPr>
              <a:t>;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stage </a:t>
            </a:r>
            <a:r>
              <a:rPr sz="1700" spc="-2" dirty="0">
                <a:latin typeface="Times New Roman"/>
                <a:cs typeface="Times New Roman"/>
              </a:rPr>
              <a:t>tak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ssem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led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prod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stage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rms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task,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k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stage</a:t>
            </a:r>
            <a:r>
              <a:rPr sz="1700" spc="-2" dirty="0">
                <a:latin typeface="Times New Roman"/>
                <a:cs typeface="Times New Roman"/>
              </a:rPr>
              <a:t>;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ird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stage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k,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sul</a:t>
            </a:r>
            <a:r>
              <a:rPr sz="1700" dirty="0">
                <a:latin typeface="Times New Roman"/>
                <a:cs typeface="Times New Roman"/>
              </a:rPr>
              <a:t>ts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last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stage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task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sul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pie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moves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stage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ond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rts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 pie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s</a:t>
            </a:r>
            <a:r>
              <a:rPr sz="1700" spc="-2" dirty="0">
                <a:latin typeface="Times New Roman"/>
                <a:cs typeface="Times New Roman"/>
              </a:rPr>
              <a:t>tag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Ult</a:t>
            </a:r>
            <a:r>
              <a:rPr sz="1700" spc="-5" dirty="0">
                <a:latin typeface="Times New Roman"/>
                <a:cs typeface="Times New Roman"/>
              </a:rPr>
              <a:t>imat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ly,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5" dirty="0">
                <a:latin typeface="Times New Roman"/>
                <a:cs typeface="Times New Roman"/>
              </a:rPr>
              <a:t>sta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piece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mult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eousl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how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spc="1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in </a:t>
            </a:r>
            <a:r>
              <a:rPr sz="1700" spc="-5" dirty="0">
                <a:latin typeface="Times New Roman"/>
                <a:cs typeface="Times New Roman"/>
              </a:rPr>
              <a:t>unipro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409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2607F-1635-AC62-3BFF-EE2A9A052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5FDD0-0EEE-9163-5EB0-89586E2A9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CAA37D-63ED-9A98-709E-8AA8F66436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A053780-FCDC-7785-3E10-D19864C511F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C1E689-401E-4260-AF95-6E36CCAAFE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56BB35F0-A313-4DA5-5739-6B7DAFD0EA3D}"/>
              </a:ext>
            </a:extLst>
          </p:cNvPr>
          <p:cNvSpPr txBox="1"/>
          <p:nvPr/>
        </p:nvSpPr>
        <p:spPr>
          <a:xfrm>
            <a:off x="1219200" y="819150"/>
            <a:ext cx="67818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odu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paralle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ing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Pa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all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lis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denote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lass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" dirty="0">
                <a:latin typeface="Times New Roman"/>
                <a:cs typeface="Times New Roman"/>
              </a:rPr>
              <a:t> 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hniques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provide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mult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ous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ta-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rovide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spe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of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7" dirty="0">
                <a:latin typeface="Times New Roman"/>
                <a:cs typeface="Times New Roman"/>
              </a:rPr>
              <a:t>system.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5803" algn="just"/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urr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hie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time.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276" algn="just"/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purp</a:t>
            </a:r>
            <a:r>
              <a:rPr sz="1700" spc="-2" dirty="0">
                <a:latin typeface="Times New Roman"/>
                <a:cs typeface="Times New Roman"/>
              </a:rPr>
              <a:t>os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p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bilit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throughput,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.e</a:t>
            </a:r>
            <a:r>
              <a:rPr sz="1700" spc="2" dirty="0">
                <a:latin typeface="Times New Roman"/>
                <a:cs typeface="Times New Roman"/>
              </a:rPr>
              <a:t>.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5" dirty="0">
                <a:latin typeface="Times New Roman"/>
                <a:cs typeface="Times New Roman"/>
              </a:rPr>
              <a:t>mount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7" dirty="0">
                <a:latin typeface="Times New Roman"/>
                <a:cs typeface="Times New Roman"/>
              </a:rPr>
              <a:t> 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omplished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during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-2" dirty="0">
                <a:latin typeface="Times New Roman"/>
                <a:cs typeface="Times New Roman"/>
              </a:rPr>
              <a:t> 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rv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time.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10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26EE-D761-B2C8-CF9F-890E42CE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B8DA04-E9D1-E126-C0E8-8C481F8A3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7C63C9-585F-E20B-2A60-76485FEE52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1339063-F37B-556B-942B-58F55C2D070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5DFADF-96A9-C20E-F1DF-4281B446DE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BA403AD-4847-C29C-DD7B-D1D91D6B4973}"/>
              </a:ext>
            </a:extLst>
          </p:cNvPr>
          <p:cNvSpPr txBox="1"/>
          <p:nvPr/>
        </p:nvSpPr>
        <p:spPr>
          <a:xfrm>
            <a:off x="1219200" y="819150"/>
            <a:ext cx="68580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5498" algn="just"/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mount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5" dirty="0">
                <a:latin typeface="Times New Roman"/>
                <a:cs typeface="Times New Roman"/>
              </a:rPr>
              <a:t>ha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par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ess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ost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ompa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nor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pute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2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971" algn="just"/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rious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</a:t>
            </a:r>
            <a:r>
              <a:rPr sz="1700" spc="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xit</a:t>
            </a:r>
            <a:r>
              <a:rPr sz="1700" dirty="0">
                <a:latin typeface="Times New Roman"/>
                <a:cs typeface="Times New Roman"/>
              </a:rPr>
              <a:t>y.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low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inguish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ser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ters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-7" dirty="0">
                <a:latin typeface="Times New Roman"/>
                <a:cs typeface="Times New Roman"/>
              </a:rPr>
              <a:t> e</a:t>
            </a:r>
            <a:r>
              <a:rPr sz="1700" dirty="0">
                <a:latin typeface="Times New Roman"/>
                <a:cs typeface="Times New Roman"/>
              </a:rPr>
              <a:t>.g</a:t>
            </a:r>
            <a:r>
              <a:rPr sz="1700" spc="10" dirty="0">
                <a:latin typeface="Times New Roman"/>
                <a:cs typeface="Times New Roman"/>
              </a:rPr>
              <a:t>.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hift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 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shion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time,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load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 w</a:t>
            </a:r>
            <a:r>
              <a:rPr sz="1700" dirty="0">
                <a:latin typeface="Times New Roman"/>
                <a:cs typeface="Times New Roman"/>
              </a:rPr>
              <a:t>ord </a:t>
            </a:r>
            <a:r>
              <a:rPr sz="1700" spc="-7" dirty="0">
                <a:latin typeface="Times New Roman"/>
                <a:cs typeface="Times New Roman"/>
              </a:rPr>
              <a:t>simu</a:t>
            </a:r>
            <a:r>
              <a:rPr sz="1700" spc="-2" dirty="0">
                <a:latin typeface="Times New Roman"/>
                <a:cs typeface="Times New Roman"/>
              </a:rPr>
              <a:t>ltan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ousl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  <a:p>
            <a:pPr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igher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by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multipli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y of </a:t>
            </a:r>
            <a:r>
              <a:rPr sz="1700" spc="-5" dirty="0">
                <a:latin typeface="Times New Roman"/>
                <a:cs typeface="Times New Roman"/>
              </a:rPr>
              <a:t>fun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s 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pe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identic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mult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ousl</a:t>
            </a:r>
            <a:r>
              <a:rPr sz="1700" dirty="0">
                <a:latin typeface="Times New Roman"/>
                <a:cs typeface="Times New Roman"/>
              </a:rPr>
              <a:t>y. 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establi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ributi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un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rithm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shif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nit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div</a:t>
            </a:r>
            <a:r>
              <a:rPr sz="1700" spc="-2" dirty="0">
                <a:latin typeface="Times New Roman"/>
                <a:cs typeface="Times New Roman"/>
              </a:rPr>
              <a:t>ert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ea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supervis</a:t>
            </a:r>
            <a:r>
              <a:rPr sz="1700" dirty="0">
                <a:latin typeface="Times New Roman"/>
                <a:cs typeface="Times New Roman"/>
              </a:rPr>
              <a:t>ion 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7891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5F-1629-2AC0-029C-BEB4D71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52DFB-0485-946E-4D59-65700460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0F2E7-1E0F-4659-600E-1008149736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59C10D-9BA7-0582-6776-D2DEE3245EB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4CF99-16F5-B002-4123-560968EF1F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2183972" y="1200150"/>
            <a:ext cx="4718518" cy="28969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612987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A621-3160-7911-6672-6925EAEC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44C1C7-4ACE-AC45-3BB3-D7E40AA91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D3A8FB-5ABA-F2B5-8B7B-9060E2609F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1916151-6296-6B74-75C7-BCAC0B0DA6E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0606B1-CE48-8D59-6137-2038DCE11C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B0979BC-A1F4-6683-9425-CA399E612130}"/>
              </a:ext>
            </a:extLst>
          </p:cNvPr>
          <p:cNvSpPr txBox="1"/>
          <p:nvPr/>
        </p:nvSpPr>
        <p:spPr>
          <a:xfrm>
            <a:off x="1013700" y="819150"/>
            <a:ext cx="69873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749" algn="just"/>
            <a:r>
              <a:rPr sz="1700" spc="-2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possi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ight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dopt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own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figu</a:t>
            </a:r>
            <a:r>
              <a:rPr sz="1700" spc="-5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nding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associa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nds. </a:t>
            </a:r>
            <a:r>
              <a:rPr sz="1700" spc="-5" dirty="0">
                <a:latin typeface="Times New Roman"/>
                <a:cs typeface="Times New Roman"/>
              </a:rPr>
              <a:t>The 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orm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fu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indi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ted in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block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diag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rithm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nteg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flo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2" dirty="0">
                <a:latin typeface="Times New Roman"/>
                <a:cs typeface="Times New Roman"/>
              </a:rPr>
              <a:t>-point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llel.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shift,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ur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10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 </a:t>
            </a:r>
            <a:r>
              <a:rPr sz="1700" spc="-5" dirty="0">
                <a:latin typeface="Times New Roman"/>
                <a:cs typeface="Times New Roman"/>
              </a:rPr>
              <a:t>indep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shifted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nother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-2" dirty="0">
                <a:latin typeface="Times New Roman"/>
                <a:cs typeface="Times New Roman"/>
              </a:rPr>
              <a:t> inc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multifun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associa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 to </a:t>
            </a:r>
            <a:r>
              <a:rPr sz="1700" spc="-5" dirty="0">
                <a:latin typeface="Times New Roman"/>
                <a:cs typeface="Times New Roman"/>
              </a:rPr>
              <a:t>coo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dinate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tivities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mong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rious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227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C5A1-1B4E-4FA7-319B-E492D9B0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48D7B-A1B8-F154-5E77-35ED5D732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96E9C9-BEE9-BAF2-3AAF-065406618D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F52D1CC-BBFD-75C9-6291-B86999E24B6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4466D0-2B27-D6F8-A240-AB3A2B5371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BED6EC9-3E5C-27A9-E313-02A55F55DBF7}"/>
              </a:ext>
            </a:extLst>
          </p:cNvPr>
          <p:cNvSpPr txBox="1"/>
          <p:nvPr/>
        </p:nvSpPr>
        <p:spPr>
          <a:xfrm>
            <a:off x="1013700" y="819150"/>
            <a:ext cx="69873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FLYN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'S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CLAS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IFI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ATI</a:t>
            </a:r>
            <a:r>
              <a:rPr sz="1700" b="1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Michae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J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lynn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propo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sc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lassifyi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nisations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1996.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lynn's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idea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for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lassifi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organiz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state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that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number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mult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ous</a:t>
            </a:r>
            <a:r>
              <a:rPr sz="1700" spc="-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-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spc="-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ms</a:t>
            </a:r>
            <a:r>
              <a:rPr sz="1700" spc="-2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by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PU</a:t>
            </a:r>
            <a:r>
              <a:rPr sz="1700" spc="-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during</a:t>
            </a:r>
            <a:r>
              <a:rPr sz="1700" spc="-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ram</a:t>
            </a:r>
            <a:r>
              <a:rPr sz="1700" spc="-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on,</a:t>
            </a:r>
            <a:r>
              <a:rPr sz="1700" spc="-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digital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 </a:t>
            </a:r>
            <a:r>
              <a:rPr sz="1700" spc="4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4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las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ifi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 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four </a:t>
            </a:r>
            <a:r>
              <a:rPr sz="1700" spc="4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tegori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 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popula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ly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known </a:t>
            </a:r>
            <a:r>
              <a:rPr sz="1700" spc="4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5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lynn's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lassifi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of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ording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lynn, the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our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lassifi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dig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tal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ingle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nstru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ingle 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or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ingle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iple 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stre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iple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ingle 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m,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Mult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iple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iple 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m,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9540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5F-1629-2AC0-029C-BEB4D71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52DFB-0485-946E-4D59-65700460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0F2E7-1E0F-4659-600E-1008149736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59C10D-9BA7-0582-6776-D2DEE3245EB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4CF99-16F5-B002-4123-560968EF1F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5108059" y="1123950"/>
            <a:ext cx="3619341" cy="25891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529D2-49F4-F5BB-A02E-437193D0FA81}"/>
              </a:ext>
            </a:extLst>
          </p:cNvPr>
          <p:cNvSpPr txBox="1"/>
          <p:nvPr/>
        </p:nvSpPr>
        <p:spPr>
          <a:xfrm>
            <a:off x="745070" y="427236"/>
            <a:ext cx="457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algn="just"/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Und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rst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nding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te</a:t>
            </a:r>
            <a:r>
              <a:rPr lang="en-US" sz="18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ms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us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bov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endParaRPr lang="en-US" sz="18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225716" marR="100182" indent="-109651">
              <a:buClr>
                <a:srgbClr val="242424"/>
              </a:buClr>
              <a:buSzPct val="83333"/>
              <a:buFont typeface="Calibri"/>
              <a:buChar char="●"/>
              <a:tabLst>
                <a:tab pos="226022" algn="l"/>
              </a:tabLst>
            </a:pP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lang="en-US" sz="18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8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8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r>
              <a:rPr lang="en-US" sz="18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ref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rs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to</a:t>
            </a:r>
            <a:r>
              <a:rPr lang="en-US" sz="18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se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qu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of o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bje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ts 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(</a:t>
            </a:r>
            <a:r>
              <a:rPr lang="en-US" sz="1800" spc="2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hich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be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ons)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that is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uted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by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a sin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le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CP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U.</a:t>
            </a:r>
            <a:endParaRPr lang="en-US" sz="1800" dirty="0">
              <a:latin typeface="Times New Roman"/>
              <a:cs typeface="Times New Roman"/>
            </a:endParaRPr>
          </a:p>
          <a:p>
            <a:pPr marL="225716" marR="39707" indent="-109651">
              <a:buClr>
                <a:srgbClr val="242424"/>
              </a:buClr>
              <a:buSzPct val="83333"/>
              <a:buFont typeface="Calibri"/>
              <a:buChar char="●"/>
              <a:tabLst>
                <a:tab pos="226022" algn="l"/>
              </a:tabLst>
            </a:pPr>
            <a:r>
              <a:rPr lang="en-US" sz="18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lang="en-US" sz="18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lang="en-US" sz="18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lang="en-US" sz="18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 S</a:t>
            </a:r>
            <a:r>
              <a:rPr lang="en-US" sz="18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8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8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r>
              <a:rPr lang="en-US" sz="18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ns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ru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fe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rs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to the s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equ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lang="en-US" sz="18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ns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th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uted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by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U.</a:t>
            </a:r>
            <a:endParaRPr lang="en-US" sz="1800" dirty="0">
              <a:latin typeface="Times New Roman"/>
              <a:cs typeface="Times New Roman"/>
            </a:endParaRPr>
          </a:p>
          <a:p>
            <a:pPr marL="225716" marR="107208" indent="-109651">
              <a:buClr>
                <a:srgbClr val="242424"/>
              </a:buClr>
              <a:buSzPct val="83333"/>
              <a:buFont typeface="Calibri"/>
              <a:buChar char="●"/>
              <a:tabLst>
                <a:tab pos="226022" algn="l"/>
              </a:tabLst>
            </a:pPr>
            <a:r>
              <a:rPr lang="en-US" sz="18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Da</a:t>
            </a:r>
            <a:r>
              <a:rPr lang="en-US" sz="18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a S</a:t>
            </a:r>
            <a:r>
              <a:rPr lang="en-US" sz="18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8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8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lang="en-US" sz="1800" b="1" dirty="0">
                <a:solidFill>
                  <a:srgbClr val="242424"/>
                </a:solidFill>
                <a:latin typeface="Times New Roman"/>
                <a:cs typeface="Times New Roman"/>
              </a:rPr>
              <a:t>: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stre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rs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to the </a:t>
            </a:r>
            <a:r>
              <a:rPr lang="en-US" sz="1800" spc="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qu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ludi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ng 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input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rti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 or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tempor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ry r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esul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ts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lang="en-US" sz="1800" spc="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or by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 instru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lang="en-US" sz="18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lang="en-US" sz="18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lang="en-US" sz="18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8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800" spc="-5" dirty="0">
                <a:solidFill>
                  <a:srgbClr val="242424"/>
                </a:solidFill>
                <a:latin typeface="Times New Roman"/>
                <a:cs typeface="Times New Roman"/>
              </a:rPr>
              <a:t>m.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BCC9D-8C1C-E16D-05D8-46CD8FE7201A}"/>
              </a:ext>
            </a:extLst>
          </p:cNvPr>
          <p:cNvSpPr txBox="1"/>
          <p:nvPr/>
        </p:nvSpPr>
        <p:spPr>
          <a:xfrm>
            <a:off x="770588" y="3747361"/>
            <a:ext cx="7687611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marR="2443" algn="just"/>
            <a:r>
              <a:rPr lang="en-US"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lang="en-US"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lang="en-US"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lang="en-US"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7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lang="en-US"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tch</a:t>
            </a:r>
            <a:r>
              <a:rPr lang="en-US"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lang="en-US" sz="1700" spc="-7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rom</a:t>
            </a:r>
            <a:r>
              <a:rPr lang="en-US" sz="1700" spc="7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ory </a:t>
            </a:r>
            <a:r>
              <a:rPr lang="en-US" sz="1700" spc="-7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modul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. </a:t>
            </a:r>
            <a:r>
              <a:rPr lang="en-US" sz="1700" spc="-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lang="en-US"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str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ms</a:t>
            </a:r>
            <a:r>
              <a:rPr lang="en-US" sz="1700" spc="7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low</a:t>
            </a:r>
            <a:r>
              <a:rPr lang="en-US"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bidir</a:t>
            </a:r>
            <a:r>
              <a:rPr lang="en-US"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tw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ee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lang="en-US"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pr</a:t>
            </a:r>
            <a:r>
              <a:rPr lang="en-US"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lem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ents</a:t>
            </a:r>
            <a:r>
              <a:rPr lang="en-US"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lang="en-US"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lang="en-US"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y.</a:t>
            </a:r>
            <a:r>
              <a:rPr lang="en-US"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ly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nn's</a:t>
            </a:r>
            <a:r>
              <a:rPr lang="en-US"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lassifi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lang="en-US"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lang="en-US"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lang="en-US"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lang="en-US"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lang="en-US"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multipli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y of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lang="en-US"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ms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in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sys</a:t>
            </a:r>
            <a:r>
              <a:rPr lang="en-US"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2774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D1CE-263A-656A-C68E-5EED802AD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C02AE4-1886-B774-8566-DCDB00565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21511F-54FB-311C-2CDC-12D6C792FE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D4BD3E5-1CFE-908B-A422-8AAC5FA9DF6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E40B41-F3A2-9D8E-8D6E-DA1289820D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E89C419-16A1-079F-D56C-4B5F2E765B6B}"/>
              </a:ext>
            </a:extLst>
          </p:cNvPr>
          <p:cNvSpPr txBox="1"/>
          <p:nvPr/>
        </p:nvSpPr>
        <p:spPr>
          <a:xfrm>
            <a:off x="1013700" y="819150"/>
            <a:ext cx="69111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A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tu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full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fo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of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ingle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nstru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—S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ingle 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5192" algn="just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uted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qu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</a:t>
            </a:r>
            <a:r>
              <a:rPr sz="1700" spc="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may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rl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their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other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ds,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the pipelin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hnique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ppli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to 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Mode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n-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unip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sys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ms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are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pipelined.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4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may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more than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one fun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it,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but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und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supervision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of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unit.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-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pr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type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Mos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 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seri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 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ble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today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follow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 </a:t>
            </a:r>
            <a:r>
              <a:rPr sz="1700" spc="-1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iven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low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diag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depi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ISD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6689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5F-1629-2AC0-029C-BEB4D71F8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52DFB-0485-946E-4D59-65700460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40F2E7-1E0F-4659-600E-1008149736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59C10D-9BA7-0582-6776-D2DEE3245EB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4CF99-16F5-B002-4123-560968EF1F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3181350"/>
            <a:ext cx="708660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u="sng" spc="-5" dirty="0">
                <a:solidFill>
                  <a:srgbClr val="242424"/>
                </a:solidFill>
                <a:latin typeface="Times New Roman"/>
                <a:cs typeface="Times New Roman"/>
              </a:rPr>
              <a:t>Ex</a:t>
            </a:r>
            <a:r>
              <a:rPr sz="1700" u="sng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242424"/>
                </a:solidFill>
                <a:latin typeface="Times New Roman"/>
                <a:cs typeface="Times New Roman"/>
              </a:rPr>
              <a:t>mpl</a:t>
            </a:r>
            <a:r>
              <a:rPr sz="1700" u="sng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u="sng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u="sng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u="sng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u="sng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u="sng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242424"/>
                </a:solidFill>
                <a:latin typeface="Times New Roman"/>
                <a:cs typeface="Times New Roman"/>
              </a:rPr>
              <a:t>om</a:t>
            </a:r>
            <a:r>
              <a:rPr sz="1700" u="sng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u="sng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u="sng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u="sng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Calibri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using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fun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unit: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701,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1620,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7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090</a:t>
            </a:r>
            <a:endParaRPr sz="1700" dirty="0">
              <a:latin typeface="Times New Roman"/>
              <a:cs typeface="Times New Roman"/>
            </a:endParaRPr>
          </a:p>
          <a:p>
            <a:pPr marL="225716" marR="5803" indent="-109651">
              <a:spcBef>
                <a:spcPts val="31"/>
              </a:spcBef>
              <a:buClr>
                <a:srgbClr val="242424"/>
              </a:buClr>
              <a:buSzPct val="83333"/>
              <a:buFont typeface="Calibri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using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ltiple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fun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units: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360/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91,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C 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100,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-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ASC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1435226" y="1047750"/>
            <a:ext cx="5943600" cy="20615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66425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BB5B2-1AA2-1B18-C24B-311FAB23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9885D3-3FC7-A0E3-DF48-7D4F8B172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72C2FF-6780-6F2A-E0C3-F40EA7C9E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12759A9-1B84-06DE-A82A-D1838267597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38944A-23C4-6FC8-7A92-D78C4DFAFA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27A148D-4CF2-97C6-7B69-24A22CE42934}"/>
              </a:ext>
            </a:extLst>
          </p:cNvPr>
          <p:cNvSpPr txBox="1"/>
          <p:nvPr/>
        </p:nvSpPr>
        <p:spPr>
          <a:xfrm>
            <a:off x="990600" y="742950"/>
            <a:ext cx="69342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A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ite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its full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fo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rm,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ingle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nstru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—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iple 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6878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r,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e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low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iag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multiple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p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ing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lem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rvis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by 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/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Al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ing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lem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ents,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wh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ive the sa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rom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the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but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rate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data sets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distinct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s.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diag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m,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the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pr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lem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nt.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shar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su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-sys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cont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multiple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odules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essential.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Give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low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diag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m: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6481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ADCA-CFA2-97D3-6DE3-754DF948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11B79-ADF8-4AA9-65C0-6F3997329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E8C85E-D98D-17B4-97C4-3BBF897947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3436BCE-2F91-E5F0-DB87-F31CEA90D59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34BB1-3E02-005F-FA51-91C7008AC3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62DBA564-F212-A345-A621-C36CA4869E37}"/>
              </a:ext>
            </a:extLst>
          </p:cNvPr>
          <p:cNvSpPr/>
          <p:nvPr/>
        </p:nvSpPr>
        <p:spPr>
          <a:xfrm>
            <a:off x="1641568" y="1123950"/>
            <a:ext cx="5276162" cy="26583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584335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93430-FCC5-4771-6B42-3F9462C1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9526DE-9607-CFAB-B540-8291BA39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ED5D9E-5699-A952-1C6D-85F42D249B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327DA84-457D-7D81-24B7-2E8CEA880F7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4E3073-8F24-DC9C-55D7-130C212778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49606F4E-D5BD-DD11-27F8-CE1BFC5D7D1D}"/>
              </a:ext>
            </a:extLst>
          </p:cNvPr>
          <p:cNvSpPr txBox="1"/>
          <p:nvPr/>
        </p:nvSpPr>
        <p:spPr>
          <a:xfrm>
            <a:off x="914400" y="742950"/>
            <a:ext cx="703001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atur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hi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tu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Give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low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are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import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ant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endParaRPr lang="en-US" sz="1700" spc="-2" dirty="0">
              <a:solidFill>
                <a:srgbClr val="242424"/>
              </a:solidFill>
              <a:latin typeface="Times New Roman"/>
              <a:cs typeface="Times New Roman"/>
            </a:endParaRPr>
          </a:p>
          <a:p>
            <a:pPr marL="291859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SIMD architecture introduces concept of parallelism which can execute multiple data sets based on single instruction.</a:t>
            </a:r>
          </a:p>
          <a:p>
            <a:pPr marL="291859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SIMD computer is used to process vector type data.</a:t>
            </a:r>
          </a:p>
          <a:p>
            <a:pPr marL="291859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SIMD architecture is suitable in tasks like multimedia processing (video, audio, image processing), cryptographic algorithm, matrix multiplications, etc.</a:t>
            </a:r>
          </a:p>
          <a:p>
            <a:pPr marL="6109"/>
            <a:r>
              <a:rPr lang="en-US" sz="1700" dirty="0">
                <a:latin typeface="Times New Roman"/>
                <a:cs typeface="Times New Roman"/>
              </a:rPr>
              <a:t>Array processor falls into SIMD computer.</a:t>
            </a:r>
          </a:p>
          <a:p>
            <a:pPr marL="6109"/>
            <a:endParaRPr lang="en-US" sz="1700" dirty="0">
              <a:latin typeface="Times New Roman"/>
              <a:cs typeface="Times New Roman"/>
            </a:endParaRPr>
          </a:p>
          <a:p>
            <a:pPr marL="6109"/>
            <a:r>
              <a:rPr lang="en-US" sz="1700" dirty="0">
                <a:latin typeface="Times New Roman"/>
                <a:cs typeface="Times New Roman"/>
              </a:rPr>
              <a:t>Example of SIMD computer</a:t>
            </a:r>
          </a:p>
          <a:p>
            <a:pPr marL="6109"/>
            <a:endParaRPr lang="en-US" sz="1700" dirty="0">
              <a:latin typeface="Times New Roman"/>
              <a:cs typeface="Times New Roman"/>
            </a:endParaRPr>
          </a:p>
          <a:p>
            <a:pPr marL="6109"/>
            <a:r>
              <a:rPr lang="en-US" sz="1700" dirty="0" err="1">
                <a:latin typeface="Times New Roman"/>
                <a:cs typeface="Times New Roman"/>
              </a:rPr>
              <a:t>Illiac</a:t>
            </a:r>
            <a:r>
              <a:rPr lang="en-US" sz="1700" dirty="0">
                <a:latin typeface="Times New Roman"/>
                <a:cs typeface="Times New Roman"/>
              </a:rPr>
              <a:t>-IV, PEPE, BSP</a:t>
            </a:r>
          </a:p>
        </p:txBody>
      </p:sp>
    </p:spTree>
    <p:extLst>
      <p:ext uri="{BB962C8B-B14F-4D97-AF65-F5344CB8AC3E}">
        <p14:creationId xmlns:p14="http://schemas.microsoft.com/office/powerpoint/2010/main" val="758578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E2C4B-79D4-0C00-3893-1224A69F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3C51F0-9851-0DDC-24FA-6D7E91B33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9E542B-6DBD-F906-60DA-BD080F5E1E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CA57299-7907-356C-8841-B163BE9A81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61657B-66D8-51DB-2ECB-2A0BBFD72D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D6855AA-7FD8-7BE7-D41F-A1B97B4AB0DC}"/>
              </a:ext>
            </a:extLst>
          </p:cNvPr>
          <p:cNvSpPr txBox="1"/>
          <p:nvPr/>
        </p:nvSpPr>
        <p:spPr>
          <a:xfrm>
            <a:off x="1002899" y="665844"/>
            <a:ext cx="7138202" cy="393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A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ite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tu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27244" algn="just"/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f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ltiple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spc="7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ingle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ata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spc="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ndic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tes th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 multiple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ppli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the sa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of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ta.</a:t>
            </a: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ar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 al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so known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systol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ic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rr</a:t>
            </a:r>
            <a:r>
              <a:rPr sz="1700" b="1" spc="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6109" marR="53757" algn="just"/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mong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the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our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hine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und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lynn's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lassifi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ion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r.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Othe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SIM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rs.</a:t>
            </a:r>
            <a:endParaRPr sz="1700" dirty="0">
              <a:latin typeface="Times New Roman"/>
              <a:cs typeface="Times New Roman"/>
            </a:endParaRPr>
          </a:p>
          <a:p>
            <a:pPr marL="24435" algn="just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42424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are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pr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ments.</a:t>
            </a:r>
            <a:endParaRPr sz="1700" dirty="0">
              <a:latin typeface="Times New Roman"/>
              <a:cs typeface="Times New Roman"/>
            </a:endParaRPr>
          </a:p>
          <a:p>
            <a:pPr marL="225716" marR="132253" indent="-109651" algn="just">
              <a:buClr>
                <a:srgbClr val="242424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pr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ments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di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stre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and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its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der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ivative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marR="145082" indent="-109651" algn="just">
              <a:buClr>
                <a:srgbClr val="242424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output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of o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omes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input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xt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pr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ssor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lem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ri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6109" marR="236101" algn="just">
              <a:spcBef>
                <a:spcPts val="137"/>
              </a:spcBef>
            </a:pP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ar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ly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ppli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pr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tical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sy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tems.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Give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low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diag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of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ture: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5936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20D2-4AC8-97EB-411C-34390DC69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018CF4-6773-6CAC-4EF7-02FCC53CE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CCF184-39E5-F523-C651-99C66AEB66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9556F55-F1CA-2C36-14DF-2BDE5824688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17F170-0DB1-DC66-D220-222B054F20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56696" y="3191868"/>
            <a:ext cx="739140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/>
            <a:r>
              <a:rPr lang="en-US" sz="1700" spc="-2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SD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ture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not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that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popular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though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som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ult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hines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thi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lass.</a:t>
            </a:r>
          </a:p>
          <a:p>
            <a:pPr>
              <a:spcBef>
                <a:spcPts val="15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/>
            <a:r>
              <a:rPr lang="en-US" sz="1700" u="sng" spc="-5" dirty="0">
                <a:latin typeface="Times New Roman"/>
                <a:cs typeface="Times New Roman"/>
              </a:rPr>
              <a:t>Ex</a:t>
            </a:r>
            <a:r>
              <a:rPr lang="en-US" sz="1700" u="sng" spc="-10" dirty="0">
                <a:latin typeface="Times New Roman"/>
                <a:cs typeface="Times New Roman"/>
              </a:rPr>
              <a:t>a</a:t>
            </a:r>
            <a:r>
              <a:rPr lang="en-US" sz="1700" u="sng" spc="-5" dirty="0">
                <a:latin typeface="Times New Roman"/>
                <a:cs typeface="Times New Roman"/>
              </a:rPr>
              <a:t>mpl</a:t>
            </a:r>
            <a:r>
              <a:rPr lang="en-US" sz="1700" u="sng" spc="-7" dirty="0">
                <a:latin typeface="Times New Roman"/>
                <a:cs typeface="Times New Roman"/>
              </a:rPr>
              <a:t>e</a:t>
            </a:r>
            <a:r>
              <a:rPr lang="en-US" sz="1700" u="sng" dirty="0">
                <a:latin typeface="Times New Roman"/>
                <a:cs typeface="Times New Roman"/>
              </a:rPr>
              <a:t>s</a:t>
            </a:r>
            <a:r>
              <a:rPr lang="en-US" sz="1700" u="sng" spc="-2" dirty="0">
                <a:latin typeface="Times New Roman"/>
                <a:cs typeface="Times New Roman"/>
              </a:rPr>
              <a:t> </a:t>
            </a:r>
            <a:r>
              <a:rPr lang="en-US" sz="1700" u="sng" dirty="0">
                <a:latin typeface="Times New Roman"/>
                <a:cs typeface="Times New Roman"/>
              </a:rPr>
              <a:t>of </a:t>
            </a:r>
            <a:r>
              <a:rPr lang="en-US" sz="1700" u="sng" spc="2" dirty="0">
                <a:latin typeface="Times New Roman"/>
                <a:cs typeface="Times New Roman"/>
              </a:rPr>
              <a:t>M</a:t>
            </a:r>
            <a:r>
              <a:rPr lang="en-US" sz="1700" u="sng" spc="-10" dirty="0">
                <a:latin typeface="Times New Roman"/>
                <a:cs typeface="Times New Roman"/>
              </a:rPr>
              <a:t>I</a:t>
            </a:r>
            <a:r>
              <a:rPr lang="en-US" sz="1700" u="sng" dirty="0">
                <a:latin typeface="Times New Roman"/>
                <a:cs typeface="Times New Roman"/>
              </a:rPr>
              <a:t>SD</a:t>
            </a:r>
            <a:r>
              <a:rPr lang="en-US" sz="1700" u="sng" spc="-2" dirty="0">
                <a:latin typeface="Times New Roman"/>
                <a:cs typeface="Times New Roman"/>
              </a:rPr>
              <a:t> </a:t>
            </a:r>
            <a:r>
              <a:rPr lang="en-US" sz="1700" u="sng" spc="-10" dirty="0">
                <a:latin typeface="Times New Roman"/>
                <a:cs typeface="Times New Roman"/>
              </a:rPr>
              <a:t>c</a:t>
            </a:r>
            <a:r>
              <a:rPr lang="en-US" sz="1700" u="sng" spc="-5" dirty="0">
                <a:latin typeface="Times New Roman"/>
                <a:cs typeface="Times New Roman"/>
              </a:rPr>
              <a:t>o</a:t>
            </a:r>
            <a:r>
              <a:rPr lang="en-US" sz="1700" u="sng" dirty="0">
                <a:latin typeface="Times New Roman"/>
                <a:cs typeface="Times New Roman"/>
              </a:rPr>
              <a:t>m</a:t>
            </a:r>
            <a:r>
              <a:rPr lang="en-US" sz="1700" u="sng" spc="-2" dirty="0">
                <a:latin typeface="Times New Roman"/>
                <a:cs typeface="Times New Roman"/>
              </a:rPr>
              <a:t>puter</a:t>
            </a:r>
            <a:endParaRPr lang="en-US" sz="1700" dirty="0">
              <a:latin typeface="Times New Roman"/>
              <a:cs typeface="Times New Roman"/>
            </a:endParaRPr>
          </a:p>
          <a:p>
            <a:pPr marL="6109"/>
            <a:r>
              <a:rPr lang="en-US" sz="1700" spc="-2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o p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2" dirty="0">
                <a:latin typeface="Times New Roman"/>
                <a:cs typeface="Times New Roman"/>
              </a:rPr>
              <a:t>tic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" dirty="0">
                <a:latin typeface="Times New Roman"/>
                <a:cs typeface="Times New Roman"/>
              </a:rPr>
              <a:t>exists.</a:t>
            </a:r>
            <a:endParaRPr lang="en-US" sz="1700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371600" y="856785"/>
            <a:ext cx="6161593" cy="21441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955480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4AF9-F534-92C7-A33B-80215A3C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E12981-001E-3B01-51EE-0DED582B7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19B693-A1D0-784F-97FD-D0FBF95144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56D33FE-8D3D-89B6-55F1-BD07AD84EF7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500546-45AD-CACF-63A2-EA625B96C3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44A1D6E2-4504-C8FB-0E00-A8B8BAD01D40}"/>
              </a:ext>
            </a:extLst>
          </p:cNvPr>
          <p:cNvSpPr txBox="1"/>
          <p:nvPr/>
        </p:nvSpPr>
        <p:spPr>
          <a:xfrm>
            <a:off x="914400" y="519533"/>
            <a:ext cx="7062890" cy="4198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ar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full</a:t>
            </a:r>
            <a:r>
              <a:rPr sz="1700" dirty="0">
                <a:latin typeface="Times New Roman"/>
                <a:cs typeface="Times New Roman"/>
              </a:rPr>
              <a:t> 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Mul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iple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nstr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ultiple 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endParaRPr sz="1700" dirty="0">
              <a:latin typeface="Times New Roman"/>
              <a:cs typeface="Times New Roman"/>
            </a:endParaRPr>
          </a:p>
          <a:p>
            <a:pPr marL="6109" marR="3054"/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mong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four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lynn</a:t>
            </a:r>
            <a:r>
              <a:rPr sz="1700" spc="5" dirty="0">
                <a:latin typeface="Times New Roman"/>
                <a:cs typeface="Times New Roman"/>
              </a:rPr>
              <a:t>'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lassifi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Othe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MD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2" dirty="0">
                <a:latin typeface="Times New Roman"/>
                <a:cs typeface="Times New Roman"/>
              </a:rPr>
              <a:t>M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pute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6109" marR="150885">
              <a:spcBef>
                <a:spcPts val="139"/>
              </a:spcBef>
            </a:pP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tegor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multiple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system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multipro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esso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ms.</a:t>
            </a:r>
            <a:r>
              <a:rPr sz="1700" spc="-2" dirty="0">
                <a:latin typeface="Times New Roman"/>
                <a:cs typeface="Times New Roman"/>
              </a:rPr>
              <a:t> M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dirty="0">
                <a:latin typeface="Times New Roman"/>
                <a:cs typeface="Times New Roman"/>
              </a:rPr>
              <a:t>of 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types: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3360" indent="-109651" algn="just">
              <a:buSzPct val="83333"/>
              <a:buFont typeface="Calibri"/>
              <a:buChar char="●"/>
              <a:tabLst>
                <a:tab pos="226022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tightly</a:t>
            </a:r>
            <a:r>
              <a:rPr sz="1700" b="1" dirty="0">
                <a:latin typeface="Times New Roman"/>
                <a:cs typeface="Times New Roman"/>
              </a:rPr>
              <a:t>  </a:t>
            </a:r>
            <a:r>
              <a:rPr sz="1700" b="1" spc="3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oup</a:t>
            </a:r>
            <a:r>
              <a:rPr sz="1700" b="1" spc="-5" dirty="0">
                <a:latin typeface="Times New Roman"/>
                <a:cs typeface="Times New Roman"/>
              </a:rPr>
              <a:t>led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dirty="0">
                <a:latin typeface="Times New Roman"/>
                <a:cs typeface="Times New Roman"/>
              </a:rPr>
              <a:t>  </a:t>
            </a:r>
            <a:r>
              <a:rPr sz="1700" b="1" spc="3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spc="-5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ifo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m  </a:t>
            </a:r>
            <a:r>
              <a:rPr sz="1700" b="1" spc="36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 </a:t>
            </a:r>
            <a:r>
              <a:rPr sz="1700" b="1" spc="34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  </a:t>
            </a:r>
            <a:r>
              <a:rPr sz="1700" b="1" spc="34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</a:t>
            </a:r>
            <a:r>
              <a:rPr sz="1700" b="1" spc="-5" dirty="0">
                <a:latin typeface="Times New Roman"/>
                <a:cs typeface="Times New Roman"/>
              </a:rPr>
              <a:t>U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A</a:t>
            </a:r>
            <a:r>
              <a:rPr sz="1700" b="1" spc="7" dirty="0">
                <a:latin typeface="Times New Roman"/>
                <a:cs typeface="Times New Roman"/>
              </a:rPr>
              <a:t>)</a:t>
            </a:r>
            <a:r>
              <a:rPr sz="1700" b="1" dirty="0">
                <a:latin typeface="Times New Roman"/>
                <a:cs typeface="Times New Roman"/>
              </a:rPr>
              <a:t>:  </a:t>
            </a:r>
            <a:r>
              <a:rPr sz="1700" b="1" spc="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M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D 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tightl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oupled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mong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is high.</a:t>
            </a:r>
            <a:endParaRPr sz="1700" dirty="0">
              <a:latin typeface="Times New Roman"/>
              <a:cs typeface="Times New Roman"/>
            </a:endParaRPr>
          </a:p>
          <a:p>
            <a:pPr marL="225716" marR="2749" indent="-109651" algn="just">
              <a:buSzPct val="83333"/>
              <a:buFont typeface="Calibri"/>
              <a:buChar char="●"/>
              <a:tabLst>
                <a:tab pos="226022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loosely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48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oup</a:t>
            </a:r>
            <a:r>
              <a:rPr sz="1700" b="1" spc="-5" dirty="0">
                <a:latin typeface="Times New Roman"/>
                <a:cs typeface="Times New Roman"/>
              </a:rPr>
              <a:t>led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48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No</a:t>
            </a:r>
            <a:r>
              <a:rPr sz="1700" b="1" spc="5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-Un</a:t>
            </a:r>
            <a:r>
              <a:rPr sz="1700" b="1" dirty="0">
                <a:latin typeface="Times New Roman"/>
                <a:cs typeface="Times New Roman"/>
              </a:rPr>
              <a:t>i</a:t>
            </a:r>
            <a:r>
              <a:rPr sz="1700" b="1" spc="-2" dirty="0">
                <a:latin typeface="Times New Roman"/>
                <a:cs typeface="Times New Roman"/>
              </a:rPr>
              <a:t>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m </a:t>
            </a:r>
            <a:r>
              <a:rPr sz="1700" b="1" spc="-43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48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 </a:t>
            </a:r>
            <a:r>
              <a:rPr sz="1700" b="1" spc="-46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</a:t>
            </a:r>
            <a:r>
              <a:rPr sz="1700" b="1" spc="-5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)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b="1" spc="-4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M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loosely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oupled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-Unifo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UMA</a:t>
            </a:r>
            <a:r>
              <a:rPr sz="1700" dirty="0">
                <a:latin typeface="Times New Roman"/>
                <a:cs typeface="Times New Roman"/>
              </a:rPr>
              <a:t>)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sor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is l</a:t>
            </a:r>
            <a:r>
              <a:rPr sz="1700" dirty="0">
                <a:latin typeface="Times New Roman"/>
                <a:cs typeface="Times New Roman"/>
              </a:rPr>
              <a:t>ow.</a:t>
            </a:r>
          </a:p>
          <a:p>
            <a:pPr>
              <a:spcBef>
                <a:spcPts val="2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7" dirty="0">
                <a:latin typeface="Times New Roman"/>
                <a:cs typeface="Times New Roman"/>
              </a:rPr>
              <a:t>Give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low</a:t>
            </a:r>
            <a:r>
              <a:rPr sz="1700" spc="-2" dirty="0">
                <a:latin typeface="Times New Roman"/>
                <a:cs typeface="Times New Roman"/>
              </a:rPr>
              <a:t> 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M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diag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-5" dirty="0">
                <a:latin typeface="Times New Roman"/>
                <a:cs typeface="Times New Roman"/>
              </a:rPr>
              <a:t>m: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0016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CBD6-EB08-458D-296F-4CC668522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C1CE6-43BA-3C48-5CA9-9876CEAB1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6BE86D-2F8E-3CC7-F6A5-B591CEFC03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B8384E3-CA28-F5D7-7230-7DE61CB61C9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B277AC-BB2A-8ED6-B2BF-B1698ED710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3427466"/>
            <a:ext cx="70866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u="sng" spc="-5" dirty="0">
                <a:latin typeface="Times New Roman"/>
                <a:cs typeface="Times New Roman"/>
              </a:rPr>
              <a:t>Ex</a:t>
            </a:r>
            <a:r>
              <a:rPr sz="1700" u="sng" spc="-10" dirty="0">
                <a:latin typeface="Times New Roman"/>
                <a:cs typeface="Times New Roman"/>
              </a:rPr>
              <a:t>a</a:t>
            </a:r>
            <a:r>
              <a:rPr sz="1700" u="sng" spc="-5" dirty="0">
                <a:latin typeface="Times New Roman"/>
                <a:cs typeface="Times New Roman"/>
              </a:rPr>
              <a:t>mple</a:t>
            </a:r>
            <a:r>
              <a:rPr sz="1700" u="sng" spc="-2" dirty="0">
                <a:latin typeface="Times New Roman"/>
                <a:cs typeface="Times New Roman"/>
              </a:rPr>
              <a:t> </a:t>
            </a:r>
            <a:r>
              <a:rPr sz="1700" u="sng" dirty="0">
                <a:latin typeface="Times New Roman"/>
                <a:cs typeface="Times New Roman"/>
              </a:rPr>
              <a:t>of </a:t>
            </a:r>
            <a:r>
              <a:rPr sz="1700" u="sng" spc="2" dirty="0">
                <a:latin typeface="Times New Roman"/>
                <a:cs typeface="Times New Roman"/>
              </a:rPr>
              <a:t>M</a:t>
            </a:r>
            <a:r>
              <a:rPr sz="1700" u="sng" spc="-10" dirty="0">
                <a:latin typeface="Times New Roman"/>
                <a:cs typeface="Times New Roman"/>
              </a:rPr>
              <a:t>I</a:t>
            </a:r>
            <a:r>
              <a:rPr sz="1700" u="sng" spc="-2" dirty="0">
                <a:latin typeface="Times New Roman"/>
                <a:cs typeface="Times New Roman"/>
              </a:rPr>
              <a:t>MD</a:t>
            </a: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spc="-7" dirty="0">
                <a:latin typeface="Times New Roman"/>
                <a:cs typeface="Times New Roman"/>
              </a:rPr>
              <a:t>c</a:t>
            </a:r>
            <a:r>
              <a:rPr sz="1700" u="sng" spc="-5" dirty="0">
                <a:latin typeface="Times New Roman"/>
                <a:cs typeface="Times New Roman"/>
              </a:rPr>
              <a:t>omput</a:t>
            </a:r>
            <a:r>
              <a:rPr sz="1700" u="sng" spc="-7" dirty="0">
                <a:latin typeface="Times New Roman"/>
                <a:cs typeface="Times New Roman"/>
              </a:rPr>
              <a:t>e</a:t>
            </a:r>
            <a:r>
              <a:rPr sz="1700" u="sng" dirty="0"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Calibri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loosely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oupled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mples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370/</a:t>
            </a:r>
            <a:r>
              <a:rPr sz="1700" dirty="0">
                <a:latin typeface="Times New Roman"/>
                <a:cs typeface="Times New Roman"/>
              </a:rPr>
              <a:t>168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P, </a:t>
            </a:r>
            <a:r>
              <a:rPr sz="1700" spc="-7" dirty="0">
                <a:latin typeface="Times New Roman"/>
                <a:cs typeface="Times New Roman"/>
              </a:rPr>
              <a:t>Univa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1100/80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Calibri"/>
              <a:buChar char="●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tightl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oupled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mples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.mm</a:t>
            </a:r>
            <a:r>
              <a:rPr sz="1700" dirty="0">
                <a:latin typeface="Times New Roman"/>
                <a:cs typeface="Times New Roman"/>
              </a:rPr>
              <a:t>p, </a:t>
            </a:r>
            <a:r>
              <a:rPr sz="1700" spc="-5" dirty="0">
                <a:latin typeface="Times New Roman"/>
                <a:cs typeface="Times New Roman"/>
              </a:rPr>
              <a:t>Cr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3, S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1, </a:t>
            </a:r>
            <a:r>
              <a:rPr sz="1700" spc="-5" dirty="0">
                <a:latin typeface="Times New Roman"/>
                <a:cs typeface="Times New Roman"/>
              </a:rPr>
              <a:t>Cr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 MP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524000" y="953676"/>
            <a:ext cx="5867400" cy="21821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36876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C3FDB-4DA2-66ED-5E84-6846B077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170F9B-329C-444E-8B43-E462792FC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CA3728-BFC5-ABAB-91E6-0DF7E5AD6E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14B5F4A-90B0-86BA-CAC5-416C047365C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26CFEC-1731-E722-4F0A-867F0A7BE8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64071" y="742950"/>
            <a:ext cx="7036929" cy="376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1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fe</a:t>
            </a:r>
            <a:r>
              <a:rPr kumimoji="0" lang="en-US" sz="1700" b="1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1700" b="1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ce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</a:p>
          <a:p>
            <a:pPr marL="6109" marR="2213487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700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6109" marR="2213487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1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fe</a:t>
            </a:r>
            <a:r>
              <a:rPr kumimoji="0" lang="en-US" sz="1700" b="1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1700" b="1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1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ook</a:t>
            </a:r>
            <a:r>
              <a:rPr kumimoji="0" lang="en-US" sz="1700" b="1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s: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0" lvl="0" indent="-109651" algn="l" defTabSz="457200" rtl="0" eaLnBrk="1" fontAlgn="auto" latinLnBrk="0" hangingPunct="1">
              <a:spcBef>
                <a:spcPts val="421"/>
              </a:spcBef>
              <a:spcAft>
                <a:spcPts val="0"/>
              </a:spcAft>
              <a:buClrTx/>
              <a:buSzTx/>
              <a:buFont typeface="Calibri"/>
              <a:buChar char="●"/>
              <a:tabLst>
                <a:tab pos="226022" algn="l"/>
              </a:tabLst>
              <a:defRPr/>
            </a:pP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J.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P.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ay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“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tu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niz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”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Third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dition.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0" lvl="0" indent="-109651" algn="l" defTabSz="457200" rtl="0" eaLnBrk="1" fontAlgn="auto" latinLnBrk="0" hangingPunct="1">
              <a:spcBef>
                <a:spcPts val="416"/>
              </a:spcBef>
              <a:spcAft>
                <a:spcPts val="0"/>
              </a:spcAft>
              <a:buClrTx/>
              <a:buSzTx/>
              <a:buFont typeface="Calibri"/>
              <a:buChar char="●"/>
              <a:tabLst>
                <a:tab pos="226022" algn="l"/>
              </a:tabLst>
              <a:defRPr/>
            </a:pP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no,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M.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“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Sys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tu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”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rd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Edition, 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nti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H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</a:p>
          <a:p>
            <a:pPr marL="225716" marR="3665" lvl="0" indent="-109651" algn="l" defTabSz="457200" rtl="0" eaLnBrk="1" fontAlgn="auto" latinLnBrk="0" hangingPunct="1">
              <a:spcBef>
                <a:spcPts val="397"/>
              </a:spcBef>
              <a:spcAft>
                <a:spcPts val="0"/>
              </a:spcAft>
              <a:buClrTx/>
              <a:buSzTx/>
              <a:buFont typeface="Calibri"/>
              <a:buChar char="●"/>
              <a:tabLst>
                <a:tab pos="226022" algn="l"/>
              </a:tabLst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tallings, </a:t>
            </a:r>
            <a:r>
              <a:rPr kumimoji="0" lang="en-US" sz="1700" b="0" i="0" u="none" strike="noStrike" kern="1200" cap="none" spc="-3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., </a:t>
            </a:r>
            <a:r>
              <a:rPr kumimoji="0" lang="en-US" sz="1700" b="0" i="0" u="none" strike="noStrike" kern="1200" cap="none" spc="-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“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</a:t>
            </a:r>
            <a:r>
              <a:rPr kumimoji="0" lang="en-US" sz="1700" b="0" i="0" u="none" strike="noStrike" kern="1200" cap="none" spc="-1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1700" b="0" i="0" u="none" strike="noStrike" kern="1200" cap="none" spc="-3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rg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niz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 </a:t>
            </a:r>
            <a:r>
              <a:rPr kumimoji="0" lang="en-US" sz="1700" b="0" i="0" u="none" strike="noStrike" kern="1200" cap="none" spc="-3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1700" b="0" i="0" u="none" strike="noStrike" kern="1200" cap="none" spc="-3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chit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ture”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1700" b="0" i="0" u="none" strike="noStrike" kern="1200" cap="none" spc="-3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Eight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 </a:t>
            </a:r>
            <a:r>
              <a:rPr kumimoji="0" lang="en-US" sz="1700" b="0" i="0" u="none" strike="noStrike" kern="1200" cap="none" spc="-3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Editi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on, </a:t>
            </a:r>
            <a:r>
              <a:rPr kumimoji="0" lang="en-US" sz="1700" b="0" i="0" u="none" strike="noStrike" kern="1200" cap="none" spc="-3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rson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Edu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on.</a:t>
            </a:r>
          </a:p>
          <a:p>
            <a:pPr marL="6109" marR="0" lvl="0" indent="0" algn="l" defTabSz="457200" rtl="0" eaLnBrk="1" fontAlgn="auto" latinLnBrk="0" hangingPunct="1">
              <a:spcBef>
                <a:spcPts val="4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6109" marR="0" lvl="0" indent="0" algn="l" defTabSz="457200" rtl="0" eaLnBrk="1" fontAlgn="auto" latinLnBrk="0" hangingPunct="1">
              <a:spcBef>
                <a:spcPts val="4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1700" b="1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xt Book</a:t>
            </a:r>
            <a:r>
              <a:rPr kumimoji="0" lang="en-US" sz="1700" b="1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s: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2443" lvl="0" indent="-109651" algn="l" defTabSz="457200" rtl="0" eaLnBrk="1" fontAlgn="auto" latinLnBrk="0" hangingPunct="1">
              <a:spcBef>
                <a:spcPts val="397"/>
              </a:spcBef>
              <a:spcAft>
                <a:spcPts val="0"/>
              </a:spcAft>
              <a:buClrTx/>
              <a:buSzTx/>
              <a:buFont typeface="Calibri"/>
              <a:buChar char="●"/>
              <a:tabLst>
                <a:tab pos="226022" algn="l"/>
              </a:tabLst>
              <a:defRPr/>
            </a:pPr>
            <a:r>
              <a:rPr kumimoji="0" lang="en-US" sz="1700" b="0" i="0" u="none" strike="noStrike" kern="1200" cap="none" spc="-5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none" strike="noStrike" kern="1200" cap="none" spc="-7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rpin</a:t>
            </a:r>
            <a:r>
              <a:rPr kumimoji="0" lang="en-US" sz="1700" b="0" i="0" u="none" strike="noStrike" kern="1200" cap="none" spc="-1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2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lli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4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J.D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” </a:t>
            </a:r>
            <a:r>
              <a:rPr kumimoji="0" lang="en-US" sz="1700" b="0" i="0" u="none" strike="noStrike" kern="1200" cap="none" spc="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1700" b="0" i="0" u="none" strike="noStrike" kern="1200" cap="none" spc="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sys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4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org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niz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ti</a:t>
            </a:r>
            <a:r>
              <a:rPr kumimoji="0" lang="en-US" sz="17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1700" b="0" i="0" u="none" strike="noStrike" kern="1200" cap="none" spc="4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&amp;Ar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tu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”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1700" b="0" i="0" u="none" strike="noStrike" kern="1200" cap="none" spc="5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ou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4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Editi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on,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Addiso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esley.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0" lvl="0" indent="-109651" algn="l" defTabSz="457200" rtl="0" eaLnBrk="1" fontAlgn="auto" latinLnBrk="0" hangingPunct="1">
              <a:spcBef>
                <a:spcPts val="421"/>
              </a:spcBef>
              <a:spcAft>
                <a:spcPts val="0"/>
              </a:spcAft>
              <a:buClrTx/>
              <a:buSzTx/>
              <a:buFont typeface="Calibri"/>
              <a:buChar char="●"/>
              <a:tabLst>
                <a:tab pos="226022" algn="l"/>
              </a:tabLst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rson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17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ssy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“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hite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tur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”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 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ifth Edition </a:t>
            </a:r>
            <a:r>
              <a:rPr kumimoji="0" lang="en-US" sz="1700" b="0" i="0" u="none" strike="noStrike" kern="1200" cap="none" spc="-2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Morga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</a:t>
            </a:r>
            <a:r>
              <a:rPr kumimoji="0" lang="en-US" sz="17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K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uf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fman.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753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6599F-8560-A350-E731-7F6C7DD09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ABC0D5-64A6-FB19-AB34-B16FA34EA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A88C93-6EF4-5DA9-0E5B-2E2E8FEA34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EAA9D16-D346-A121-3DDD-C380EE63C0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8B39B2-E45B-8D91-C090-33FB0B9252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6143AD8-C1FD-BD4B-60CB-F632368A4CAB}"/>
              </a:ext>
            </a:extLst>
          </p:cNvPr>
          <p:cNvSpPr txBox="1"/>
          <p:nvPr/>
        </p:nvSpPr>
        <p:spPr>
          <a:xfrm>
            <a:off x="964071" y="742950"/>
            <a:ext cx="7036929" cy="3152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0" lvl="0" indent="0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Oth</a:t>
            </a:r>
            <a:r>
              <a:rPr kumimoji="0" lang="en-US" sz="1700" b="1" i="0" u="none" strike="noStrike" kern="1200" cap="none" spc="-7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1" i="0" u="none" strike="noStrike" kern="120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1" i="0" u="none" strike="noStrike" kern="1200" cap="none" spc="-2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R</a:t>
            </a:r>
            <a:r>
              <a:rPr kumimoji="0" lang="en-US" sz="1700" b="1" i="0" u="none" strike="noStrike" kern="1200" cap="none" spc="-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1" i="0" u="none" strike="noStrike" kern="1200" cap="none" spc="2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1700" b="1" i="0" u="none" strike="noStrike" kern="1200" cap="none" spc="-7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1" i="0" u="none" strike="noStrike" kern="1200" cap="none" spc="-2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1" i="0" u="none" strike="noStrike" kern="1200" cap="none" spc="-7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1700" b="1" i="0" u="none" strike="noStrike" kern="1200" cap="none" spc="-7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ce</a:t>
            </a:r>
            <a:r>
              <a:rPr kumimoji="0" lang="en-US" sz="1700" b="1" i="0" u="none" strike="noStrike" kern="1200" cap="none" spc="2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: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spcBef>
                <a:spcPts val="1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154245" lvl="0" indent="-109651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226022" algn="l"/>
              </a:tabLst>
              <a:defRPr/>
            </a:pP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https: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//ww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w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.s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cribd.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c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om/do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c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/14716458/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P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r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ll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li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s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m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-in-Unipr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o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ce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sso</a:t>
            </a:r>
            <a:r>
              <a:rPr kumimoji="0" lang="en-US" sz="17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r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-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S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ystem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-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nd-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G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r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a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nula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r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it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6"/>
              </a:rPr>
              <a:t>y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0" lvl="0" indent="-109651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226022" algn="l"/>
              </a:tabLst>
              <a:defRPr/>
            </a:pP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https: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/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/br</a:t>
            </a:r>
            <a:r>
              <a:rPr kumimoji="0" lang="en-US" sz="17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inly.in/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qu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n/6662076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4582" lvl="0" indent="-109651" algn="l" defTabSz="457200" rtl="0" eaLnBrk="1" fontAlgn="auto" latinLnBrk="0" hangingPunct="1">
              <a:spcBef>
                <a:spcPts val="53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226022" algn="l"/>
              </a:tabLst>
              <a:defRPr/>
            </a:pP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ll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1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ro</a:t>
            </a:r>
            <a:r>
              <a:rPr kumimoji="0" lang="en-US" sz="17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ss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ing </a:t>
            </a:r>
            <a:r>
              <a:rPr kumimoji="0" lang="en-US" sz="1700" b="0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</a:t>
            </a:r>
            <a:r>
              <a:rPr kumimoji="0" lang="en-US" sz="1700" b="0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nsfer </a:t>
            </a:r>
            <a:r>
              <a:rPr kumimoji="0" lang="en-US" sz="1700" b="0" i="0" u="sng" strike="noStrike" kern="1200" cap="none" spc="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Mode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</a:t>
            </a:r>
            <a:r>
              <a:rPr kumimoji="0" lang="en-US" sz="1700" b="0" i="0" u="sng" strike="noStrike" kern="1200" cap="none" spc="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| </a:t>
            </a:r>
            <a:r>
              <a:rPr kumimoji="0" lang="en-US" sz="1700" b="0" i="0" u="sng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Comput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</a:t>
            </a:r>
            <a:r>
              <a:rPr kumimoji="0" lang="en-US" sz="1700" b="0" i="0" u="sng" strike="noStrike" kern="1200" cap="none" spc="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hite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ture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1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Tutori</a:t>
            </a:r>
            <a:r>
              <a:rPr kumimoji="0" lang="en-US" sz="17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1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|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1700" b="0" i="0" u="sng" strike="noStrike" kern="1200" cap="none" spc="0" normalizeH="0" baseline="0" noProof="0" dirty="0" err="1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1700" b="0" i="0" u="sng" strike="noStrike" kern="1200" cap="none" spc="-2" normalizeH="0" baseline="0" noProof="0" dirty="0" err="1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tudyt</a:t>
            </a:r>
            <a:r>
              <a:rPr kumimoji="0" lang="en-US" sz="1700" b="0" i="0" u="sng" strike="noStrike" kern="1200" cap="none" spc="-5" normalizeH="0" baseline="0" noProof="0" dirty="0" err="1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onight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115760" lvl="0" indent="-109651" algn="l" defTabSz="457200" rtl="0" eaLnBrk="1" fontAlgn="auto" latinLnBrk="0" hangingPunct="1">
              <a:spcBef>
                <a:spcPts val="38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226022" algn="l"/>
              </a:tabLst>
              <a:defRPr/>
            </a:pP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https: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/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/t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u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tori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lsinh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nd.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om/tutori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ls/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omput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e</a:t>
            </a:r>
            <a:r>
              <a:rPr kumimoji="0" lang="en-US" sz="17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r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org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niz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ti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on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n</a:t>
            </a:r>
            <a:r>
              <a:rPr kumimoji="0" lang="en-US" sz="17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d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r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hit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ec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tu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r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 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tutori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l/</a:t>
            </a:r>
            <a:r>
              <a:rPr kumimoji="0" lang="en-US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flynn</a:t>
            </a:r>
            <a:r>
              <a:rPr kumimoji="0" lang="en-US" sz="1700" b="0" i="0" u="none" strike="noStrike" kern="1200" cap="none" spc="2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s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lassifi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ca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t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ion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f-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omput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rs/flynns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lassifi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ti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on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f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-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c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omput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rs.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a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7"/>
              </a:rPr>
              <a:t>spx</a:t>
            </a:r>
            <a:endParaRPr kumimoji="0" lang="en-US" sz="1700" b="0" i="0" u="none" strike="noStrike" kern="1200" cap="none" spc="-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0" lvl="0" indent="-109651" algn="l" defTabSz="4572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226022" algn="l"/>
              </a:tabLst>
              <a:defRPr/>
            </a:pP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https: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//ww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w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.g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ee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ksfo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rg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eeks.org/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c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omput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e</a:t>
            </a:r>
            <a:r>
              <a:rPr kumimoji="0" lang="en-US" sz="1700" b="0" i="0" u="none" strike="noStrike" kern="1200" cap="none" spc="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r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-ar</a:t>
            </a:r>
            <a:r>
              <a:rPr kumimoji="0" lang="en-US" sz="1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c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hit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ctur</a:t>
            </a:r>
            <a:r>
              <a:rPr kumimoji="0" lang="en-US" sz="1700" b="0" i="0" u="none" strike="noStrike" kern="1200" cap="none" spc="-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e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-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flynns</a:t>
            </a:r>
            <a:r>
              <a:rPr kumimoji="0" lang="en-US" sz="1700" b="0" i="0" u="none" strike="noStrike" kern="1200" cap="none" spc="-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-</a:t>
            </a:r>
            <a:r>
              <a:rPr kumimoji="0" lang="en-US" sz="1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8"/>
              </a:rPr>
              <a:t>taxonomy/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25716" marR="0" lvl="0" indent="-109651" algn="l" defTabSz="457200" rtl="0" eaLnBrk="1" fontAlgn="auto" latinLnBrk="0" hangingPunct="1">
              <a:spcBef>
                <a:spcPts val="17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226022" algn="l"/>
              </a:tabLst>
              <a:defRPr/>
            </a:pP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http://ww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w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.br</a:t>
            </a:r>
            <a:r>
              <a:rPr kumimoji="0" lang="en-US" sz="17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a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inka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r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t.co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m/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a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rti</a:t>
            </a:r>
            <a:r>
              <a:rPr kumimoji="0" lang="en-US" sz="1700" b="0" i="0" u="sng" strike="noStrike" kern="1200" cap="none" spc="-7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c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le/</a:t>
            </a:r>
            <a:r>
              <a:rPr kumimoji="0" lang="en-US" sz="17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F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lyn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n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-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s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-</a:t>
            </a:r>
            <a:r>
              <a:rPr kumimoji="0" lang="en-US" sz="1700" b="0" i="0" u="sng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C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lassi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f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ic</a:t>
            </a:r>
            <a:r>
              <a:rPr kumimoji="0" lang="en-US" sz="17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a</a:t>
            </a:r>
            <a:r>
              <a:rPr kumimoji="0" lang="en-US" sz="1700" b="0" i="0" u="sng" strike="noStrike" kern="1200" cap="none" spc="-2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ti</a:t>
            </a:r>
            <a:r>
              <a:rPr kumimoji="0" lang="en-US" sz="1700" b="0" i="0" u="sng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  <a:hlinkClick r:id="rId9"/>
              </a:rPr>
              <a:t>on_8627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6559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F2350-419B-C43F-D9B4-2054F789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37273-549A-270F-59AD-843490A70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8A45D-100B-2B71-E201-3AC49422B1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38DB87D-7734-CB49-C528-E87B89EDAF8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56A587-6192-9E1F-A658-F3563B07F2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4DF022A-C0EF-FFAA-BD21-E0B00D6E95CF}"/>
              </a:ext>
            </a:extLst>
          </p:cNvPr>
          <p:cNvSpPr txBox="1"/>
          <p:nvPr/>
        </p:nvSpPr>
        <p:spPr>
          <a:xfrm>
            <a:off x="964071" y="742950"/>
            <a:ext cx="7036929" cy="1831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Vi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o </a:t>
            </a:r>
            <a:r>
              <a:rPr sz="1700" b="1" spc="-5" dirty="0">
                <a:latin typeface="Times New Roman"/>
                <a:cs typeface="Times New Roman"/>
              </a:rPr>
              <a:t>Li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/rBdk_</a:t>
            </a:r>
            <a:r>
              <a:rPr sz="1700" u="sng" spc="-12" dirty="0">
                <a:solidFill>
                  <a:srgbClr val="0462C1"/>
                </a:solidFill>
                <a:latin typeface="Times New Roman"/>
                <a:cs typeface="Times New Roman"/>
              </a:rPr>
              <a:t>h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DnQ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b0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?si=Z38PM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m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g</a:t>
            </a:r>
            <a:r>
              <a:rPr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Y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AmTD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dAhR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/dHr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O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z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N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f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55fs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?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si=</a:t>
            </a:r>
            <a:r>
              <a:rPr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Q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rJ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O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J</a:t>
            </a:r>
            <a:r>
              <a:rPr sz="1700" u="sng" spc="5" dirty="0">
                <a:solidFill>
                  <a:srgbClr val="0462C1"/>
                </a:solidFill>
                <a:latin typeface="Times New Roman"/>
                <a:cs typeface="Times New Roman"/>
              </a:rPr>
              <a:t>4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-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f</a:t>
            </a:r>
            <a:r>
              <a:rPr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_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F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Y</a:t>
            </a:r>
            <a:r>
              <a:rPr sz="1700" u="sng" spc="2" dirty="0">
                <a:solidFill>
                  <a:srgbClr val="0462C1"/>
                </a:solidFill>
                <a:latin typeface="Times New Roman"/>
                <a:cs typeface="Times New Roman"/>
              </a:rPr>
              <a:t>1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bJx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/t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xAy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A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_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Uo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zmM?si=</a:t>
            </a:r>
            <a:r>
              <a:rPr sz="1700" u="sng" spc="-10" dirty="0">
                <a:solidFill>
                  <a:srgbClr val="0462C1"/>
                </a:solidFill>
                <a:latin typeface="Times New Roman"/>
                <a:cs typeface="Times New Roman"/>
              </a:rPr>
              <a:t>K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3hsnLCT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Z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pX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X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Ki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P1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/D7U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K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46gXh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c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?si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=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D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f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QDir9yh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rPpB3n5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/qgbt</a:t>
            </a:r>
            <a:r>
              <a:rPr sz="1700" u="sng" spc="-7" dirty="0">
                <a:solidFill>
                  <a:srgbClr val="0462C1"/>
                </a:solidFill>
                <a:latin typeface="Times New Roman"/>
                <a:cs typeface="Times New Roman"/>
              </a:rPr>
              <a:t>9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mr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Q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7Gs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?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si=bsGG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9</a:t>
            </a:r>
            <a:r>
              <a:rPr sz="1700" u="sng" spc="5" dirty="0">
                <a:solidFill>
                  <a:srgbClr val="0462C1"/>
                </a:solidFill>
                <a:latin typeface="Times New Roman"/>
                <a:cs typeface="Times New Roman"/>
              </a:rPr>
              <a:t>y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Iq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f</a:t>
            </a:r>
            <a:r>
              <a:rPr sz="1700" u="sng" dirty="0">
                <a:solidFill>
                  <a:srgbClr val="0462C1"/>
                </a:solidFill>
                <a:latin typeface="Times New Roman"/>
                <a:cs typeface="Times New Roman"/>
              </a:rPr>
              <a:t>n5ff</a:t>
            </a:r>
            <a:r>
              <a:rPr sz="1700" u="sng" spc="-5" dirty="0">
                <a:solidFill>
                  <a:srgbClr val="0462C1"/>
                </a:solidFill>
                <a:latin typeface="Times New Roman"/>
                <a:cs typeface="Times New Roman"/>
              </a:rPr>
              <a:t>R</a:t>
            </a:r>
            <a:r>
              <a:rPr sz="1700" u="sng" spc="-2" dirty="0">
                <a:solidFill>
                  <a:srgbClr val="0462C1"/>
                </a:solidFill>
                <a:latin typeface="Times New Roman"/>
                <a:cs typeface="Times New Roman"/>
              </a:rPr>
              <a:t>YM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37571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</TotalTime>
  <Words>1723</Words>
  <Application>Microsoft Office PowerPoint</Application>
  <PresentationFormat>On-screen Show (16:9)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2024-12-26T11:23:55Z</dcterms:created>
  <dcterms:modified xsi:type="dcterms:W3CDTF">2024-12-26T13:56:10Z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2024-12-26T00:00:00Z</vt:filetime>
  </property>
  <property fmtid="{D5CDD505-2E9C-101B-9397-08002B2CF9AE}" pid="3" name="LastSaved">
    <vt:filetime>2024-12-26T00:00:00Z</vt:filetime>
  </property>
</Properties>
</file>