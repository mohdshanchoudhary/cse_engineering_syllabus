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8"/>
  </p:notesMasterIdLst>
  <p:sldIdLst>
    <p:sldId id="273" r:id="rId2"/>
    <p:sldId id="591" r:id="rId3"/>
    <p:sldId id="585" r:id="rId4"/>
    <p:sldId id="592" r:id="rId5"/>
    <p:sldId id="593" r:id="rId6"/>
    <p:sldId id="594" r:id="rId7"/>
    <p:sldId id="586" r:id="rId8"/>
    <p:sldId id="595" r:id="rId9"/>
    <p:sldId id="596" r:id="rId10"/>
    <p:sldId id="597" r:id="rId11"/>
    <p:sldId id="587" r:id="rId12"/>
    <p:sldId id="598" r:id="rId13"/>
    <p:sldId id="599" r:id="rId14"/>
    <p:sldId id="588" r:id="rId15"/>
    <p:sldId id="589" r:id="rId16"/>
    <p:sldId id="600" r:id="rId17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83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9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53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79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8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5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0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4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mpe.boun.edu.tr/~uskudarli/courses/cmpe235/Virtual%20Memory.pdf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enterprisestorageforum.com/storage-hardware/paging-and-%20segmentation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ques10.com/p/10067/what-is-virtual-memory-explain-the-role-of-pagin-%201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B9EDE-8BA5-06BA-209A-DC3CDE1C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1C549-F863-D7DF-DBF7-EAF1EA1F4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ECC390-7019-EA79-D3C3-A2059ED4C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BB9ECEE-382C-A7E6-D20D-57C65950D9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100DE-8125-EBE0-CD3B-F50CEF8371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AFA40BC-C907-484B-3A46-CFB904D8BA40}"/>
              </a:ext>
            </a:extLst>
          </p:cNvPr>
          <p:cNvSpPr txBox="1"/>
          <p:nvPr/>
        </p:nvSpPr>
        <p:spPr>
          <a:xfrm>
            <a:off x="1078197" y="1276350"/>
            <a:ext cx="6987606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081851" algn="ctr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ORY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2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NA</a:t>
            </a:r>
            <a:r>
              <a:rPr sz="1700" b="1" spc="-5" dirty="0">
                <a:latin typeface="Times New Roman"/>
                <a:cs typeface="Times New Roman"/>
              </a:rPr>
              <a:t>GE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T </a:t>
            </a:r>
            <a:r>
              <a:rPr sz="1700" b="1" spc="-5" dirty="0">
                <a:latin typeface="Times New Roman"/>
                <a:cs typeface="Times New Roman"/>
              </a:rPr>
              <a:t>H</a:t>
            </a:r>
            <a:r>
              <a:rPr sz="1700" b="1" spc="-2" dirty="0">
                <a:latin typeface="Times New Roman"/>
                <a:cs typeface="Times New Roman"/>
              </a:rPr>
              <a:t>ARDWARE</a:t>
            </a:r>
            <a:endParaRPr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17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17"/>
              </a:spcBef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role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esour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spons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subsy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tem,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nsuring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optimal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ilit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xplor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including its </a:t>
            </a:r>
            <a:r>
              <a:rPr sz="1700" spc="-5" dirty="0">
                <a:latin typeface="Times New Roman"/>
                <a:cs typeface="Times New Roman"/>
              </a:rPr>
              <a:t>co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pon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hniques.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552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CD70-1EFF-05BD-AFA1-1897FF7A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22A7A-2B14-A3EC-66BC-A792EB6D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48142-892D-6980-0653-77FA2FE3B4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E8F3A9A-98A4-4A09-736F-77C8257E43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B6196-4C6E-2CC2-5945-879CBF03B3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394" y="819150"/>
            <a:ext cx="6987606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600" b="1" spc="-2" dirty="0">
                <a:latin typeface="Times New Roman"/>
                <a:cs typeface="Times New Roman"/>
              </a:rPr>
              <a:t>Co</a:t>
            </a:r>
            <a:r>
              <a:rPr sz="1600" b="1" spc="2" dirty="0">
                <a:latin typeface="Times New Roman"/>
                <a:cs typeface="Times New Roman"/>
              </a:rPr>
              <a:t>m</a:t>
            </a:r>
            <a:r>
              <a:rPr sz="1600" b="1" dirty="0">
                <a:latin typeface="Times New Roman"/>
                <a:cs typeface="Times New Roman"/>
              </a:rPr>
              <a:t>pon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dirty="0">
                <a:latin typeface="Times New Roman"/>
                <a:cs typeface="Times New Roman"/>
              </a:rPr>
              <a:t>nts</a:t>
            </a:r>
            <a:r>
              <a:rPr sz="1600" b="1" spc="-2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7" dirty="0">
                <a:latin typeface="Times New Roman"/>
                <a:cs typeface="Times New Roman"/>
              </a:rPr>
              <a:t>Me</a:t>
            </a:r>
            <a:r>
              <a:rPr sz="1600" b="1" spc="2" dirty="0">
                <a:latin typeface="Times New Roman"/>
                <a:cs typeface="Times New Roman"/>
              </a:rPr>
              <a:t>m</a:t>
            </a:r>
            <a:r>
              <a:rPr sz="1600" b="1" spc="-5" dirty="0">
                <a:latin typeface="Times New Roman"/>
                <a:cs typeface="Times New Roman"/>
              </a:rPr>
              <a:t>o</a:t>
            </a:r>
            <a:r>
              <a:rPr sz="1600" b="1" spc="-7" dirty="0">
                <a:latin typeface="Times New Roman"/>
                <a:cs typeface="Times New Roman"/>
              </a:rPr>
              <a:t>r</a:t>
            </a:r>
            <a:r>
              <a:rPr sz="1600" b="1" dirty="0">
                <a:latin typeface="Times New Roman"/>
                <a:cs typeface="Times New Roman"/>
              </a:rPr>
              <a:t>y </a:t>
            </a:r>
            <a:r>
              <a:rPr sz="1600" b="1" spc="-10" dirty="0">
                <a:latin typeface="Times New Roman"/>
                <a:cs typeface="Times New Roman"/>
              </a:rPr>
              <a:t>M</a:t>
            </a:r>
            <a:r>
              <a:rPr sz="1600" b="1" dirty="0">
                <a:latin typeface="Times New Roman"/>
                <a:cs typeface="Times New Roman"/>
              </a:rPr>
              <a:t>an</a:t>
            </a:r>
            <a:r>
              <a:rPr sz="1600" b="1" spc="-5" dirty="0">
                <a:latin typeface="Times New Roman"/>
                <a:cs typeface="Times New Roman"/>
              </a:rPr>
              <a:t>ag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spc="2" dirty="0">
                <a:latin typeface="Times New Roman"/>
                <a:cs typeface="Times New Roman"/>
              </a:rPr>
              <a:t>m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dirty="0">
                <a:latin typeface="Times New Roman"/>
                <a:cs typeface="Times New Roman"/>
              </a:rPr>
              <a:t>nt </a:t>
            </a:r>
            <a:r>
              <a:rPr sz="1600" b="1" spc="-5" dirty="0">
                <a:latin typeface="Times New Roman"/>
                <a:cs typeface="Times New Roman"/>
              </a:rPr>
              <a:t>Ha</a:t>
            </a:r>
            <a:r>
              <a:rPr sz="1600" b="1" spc="-10" dirty="0">
                <a:latin typeface="Times New Roman"/>
                <a:cs typeface="Times New Roman"/>
              </a:rPr>
              <a:t>r</a:t>
            </a:r>
            <a:r>
              <a:rPr sz="1600" b="1" dirty="0">
                <a:latin typeface="Times New Roman"/>
                <a:cs typeface="Times New Roman"/>
              </a:rPr>
              <a:t>d</a:t>
            </a:r>
            <a:r>
              <a:rPr sz="1600" b="1" spc="-2" dirty="0">
                <a:latin typeface="Times New Roman"/>
                <a:cs typeface="Times New Roman"/>
              </a:rPr>
              <a:t>wa</a:t>
            </a:r>
            <a:r>
              <a:rPr sz="1600" b="1" spc="-5" dirty="0">
                <a:latin typeface="Times New Roman"/>
                <a:cs typeface="Times New Roman"/>
              </a:rPr>
              <a:t>re</a:t>
            </a:r>
            <a:endParaRPr sz="1600" dirty="0">
              <a:latin typeface="Times New Roman"/>
              <a:cs typeface="Times New Roman"/>
            </a:endParaRPr>
          </a:p>
          <a:p>
            <a:pPr marL="6109" marR="5803" algn="just">
              <a:spcBef>
                <a:spcPts val="31"/>
              </a:spcBef>
            </a:pPr>
            <a:endParaRPr lang="en-US" sz="1600" spc="-5" dirty="0">
              <a:latin typeface="Times New Roman"/>
              <a:cs typeface="Times New Roman"/>
            </a:endParaRPr>
          </a:p>
          <a:p>
            <a:pPr marL="6109" marR="5803" algn="just">
              <a:spcBef>
                <a:spcPts val="31"/>
              </a:spcBef>
            </a:pPr>
            <a:r>
              <a:rPr sz="1600" spc="-5" dirty="0">
                <a:latin typeface="Times New Roman"/>
                <a:cs typeface="Times New Roman"/>
              </a:rPr>
              <a:t>The memor</a:t>
            </a: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man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g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spc="-2" dirty="0">
                <a:latin typeface="Times New Roman"/>
                <a:cs typeface="Times New Roman"/>
              </a:rPr>
              <a:t>ent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rdw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onsist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s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omponents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wo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k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togeth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7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to 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nsure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f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-2" dirty="0">
                <a:latin typeface="Times New Roman"/>
                <a:cs typeface="Times New Roman"/>
              </a:rPr>
              <a:t>ici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mory</a:t>
            </a:r>
            <a:r>
              <a:rPr sz="1600" spc="2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</a:t>
            </a:r>
            <a:r>
              <a:rPr sz="1600" spc="-2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ge</a:t>
            </a:r>
            <a:r>
              <a:rPr sz="1600" spc="-2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lloc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ti</a:t>
            </a:r>
            <a:r>
              <a:rPr sz="1600" dirty="0">
                <a:latin typeface="Times New Roman"/>
                <a:cs typeface="Times New Roman"/>
              </a:rPr>
              <a:t>on.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2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omponents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in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lude:</a:t>
            </a:r>
            <a:endParaRPr sz="1600" dirty="0">
              <a:latin typeface="Times New Roman"/>
              <a:cs typeface="Times New Roman"/>
            </a:endParaRPr>
          </a:p>
          <a:p>
            <a:pPr marL="225716" marR="3665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600" b="1" spc="-2" dirty="0">
                <a:latin typeface="Times New Roman"/>
                <a:cs typeface="Times New Roman"/>
              </a:rPr>
              <a:t>Me</a:t>
            </a:r>
            <a:r>
              <a:rPr sz="1600" b="1" spc="-5" dirty="0">
                <a:latin typeface="Times New Roman"/>
                <a:cs typeface="Times New Roman"/>
              </a:rPr>
              <a:t>mory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72" dirty="0">
                <a:latin typeface="Times New Roman"/>
                <a:cs typeface="Times New Roman"/>
              </a:rPr>
              <a:t> </a:t>
            </a:r>
            <a:r>
              <a:rPr sz="1600" b="1" spc="-2" dirty="0">
                <a:latin typeface="Times New Roman"/>
                <a:cs typeface="Times New Roman"/>
              </a:rPr>
              <a:t>Ma</a:t>
            </a:r>
            <a:r>
              <a:rPr sz="1600" b="1" spc="-5" dirty="0">
                <a:latin typeface="Times New Roman"/>
                <a:cs typeface="Times New Roman"/>
              </a:rPr>
              <a:t>n</a:t>
            </a:r>
            <a:r>
              <a:rPr sz="1600" b="1" spc="-7" dirty="0">
                <a:latin typeface="Times New Roman"/>
                <a:cs typeface="Times New Roman"/>
              </a:rPr>
              <a:t>a</a:t>
            </a: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dirty="0">
                <a:latin typeface="Times New Roman"/>
                <a:cs typeface="Times New Roman"/>
              </a:rPr>
              <a:t>m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spc="-2" dirty="0">
                <a:latin typeface="Times New Roman"/>
                <a:cs typeface="Times New Roman"/>
              </a:rPr>
              <a:t>nt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2" dirty="0">
                <a:latin typeface="Times New Roman"/>
                <a:cs typeface="Times New Roman"/>
              </a:rPr>
              <a:t>U</a:t>
            </a:r>
            <a:r>
              <a:rPr sz="1600" b="1" spc="-2" dirty="0">
                <a:latin typeface="Times New Roman"/>
                <a:cs typeface="Times New Roman"/>
              </a:rPr>
              <a:t>nit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(MM</a:t>
            </a:r>
            <a:r>
              <a:rPr sz="1600" b="1" spc="-2" dirty="0">
                <a:latin typeface="Times New Roman"/>
                <a:cs typeface="Times New Roman"/>
              </a:rPr>
              <a:t>U):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2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MM</a:t>
            </a:r>
            <a:r>
              <a:rPr sz="1600" dirty="0">
                <a:latin typeface="Times New Roman"/>
                <a:cs typeface="Times New Roman"/>
              </a:rPr>
              <a:t>U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2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ritic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omponent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72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memor</a:t>
            </a:r>
            <a:r>
              <a:rPr sz="1600" dirty="0">
                <a:latin typeface="Times New Roman"/>
                <a:cs typeface="Times New Roman"/>
              </a:rPr>
              <a:t>y </a:t>
            </a:r>
            <a:r>
              <a:rPr sz="1600" spc="-5" dirty="0">
                <a:latin typeface="Times New Roman"/>
                <a:cs typeface="Times New Roman"/>
              </a:rPr>
              <a:t>man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ment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r>
              <a:rPr sz="1600" spc="-2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rd</a:t>
            </a:r>
            <a:r>
              <a:rPr sz="1600" spc="-5" dirty="0">
                <a:latin typeface="Times New Roman"/>
                <a:cs typeface="Times New Roman"/>
              </a:rPr>
              <a:t>w</a:t>
            </a:r>
            <a:r>
              <a:rPr sz="1600" spc="-2" dirty="0">
                <a:latin typeface="Times New Roman"/>
                <a:cs typeface="Times New Roman"/>
              </a:rPr>
              <a:t>ar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.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It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tr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nslat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virtu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l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dd</a:t>
            </a:r>
            <a:r>
              <a:rPr sz="1600" spc="2" dirty="0">
                <a:latin typeface="Times New Roman"/>
                <a:cs typeface="Times New Roman"/>
              </a:rPr>
              <a:t>r</a:t>
            </a:r>
            <a:r>
              <a:rPr sz="1600" spc="-2" dirty="0">
                <a:latin typeface="Times New Roman"/>
                <a:cs typeface="Times New Roman"/>
              </a:rPr>
              <a:t>esse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to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physi</a:t>
            </a:r>
            <a:r>
              <a:rPr sz="1600" spc="-7" dirty="0">
                <a:latin typeface="Times New Roman"/>
                <a:cs typeface="Times New Roman"/>
              </a:rPr>
              <a:t>ca</a:t>
            </a:r>
            <a:r>
              <a:rPr sz="1600" spc="-2" dirty="0">
                <a:latin typeface="Times New Roman"/>
                <a:cs typeface="Times New Roman"/>
              </a:rPr>
              <a:t>l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ddr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s</a:t>
            </a:r>
            <a:r>
              <a:rPr sz="1600" spc="-2" dirty="0">
                <a:latin typeface="Times New Roman"/>
                <a:cs typeface="Times New Roman"/>
              </a:rPr>
              <a:t>es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n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bli</a:t>
            </a:r>
            <a:r>
              <a:rPr sz="1600" dirty="0">
                <a:latin typeface="Times New Roman"/>
                <a:cs typeface="Times New Roman"/>
              </a:rPr>
              <a:t>ng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system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c</a:t>
            </a:r>
            <a:r>
              <a:rPr sz="1600" spc="-7" dirty="0">
                <a:latin typeface="Times New Roman"/>
                <a:cs typeface="Times New Roman"/>
              </a:rPr>
              <a:t>ce</a:t>
            </a:r>
            <a:r>
              <a:rPr sz="1600" spc="-2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2" dirty="0">
                <a:latin typeface="Times New Roman"/>
                <a:cs typeface="Times New Roman"/>
              </a:rPr>
              <a:t>the</a:t>
            </a:r>
            <a:r>
              <a:rPr sz="1600" spc="2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r>
              <a:rPr sz="1600" spc="-2" dirty="0">
                <a:latin typeface="Times New Roman"/>
                <a:cs typeface="Times New Roman"/>
              </a:rPr>
              <a:t>e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mory</a:t>
            </a:r>
            <a:r>
              <a:rPr sz="1600" spc="-2" dirty="0">
                <a:latin typeface="Times New Roman"/>
                <a:cs typeface="Times New Roman"/>
              </a:rPr>
              <a:t> loc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ti</a:t>
            </a:r>
            <a:r>
              <a:rPr sz="1600" dirty="0">
                <a:latin typeface="Times New Roman"/>
                <a:cs typeface="Times New Roman"/>
              </a:rPr>
              <a:t>on.</a:t>
            </a:r>
          </a:p>
          <a:p>
            <a:pPr marL="225716" marR="5803" indent="-109651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Tr</a:t>
            </a:r>
            <a:r>
              <a:rPr sz="1600" b="1" spc="-7" dirty="0">
                <a:latin typeface="Times New Roman"/>
                <a:cs typeface="Times New Roman"/>
              </a:rPr>
              <a:t>a</a:t>
            </a:r>
            <a:r>
              <a:rPr sz="1600" b="1" spc="-2" dirty="0">
                <a:latin typeface="Times New Roman"/>
                <a:cs typeface="Times New Roman"/>
              </a:rPr>
              <a:t>nslation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63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Look</a:t>
            </a:r>
            <a:r>
              <a:rPr sz="1600" b="1" spc="-10" dirty="0">
                <a:latin typeface="Times New Roman"/>
                <a:cs typeface="Times New Roman"/>
              </a:rPr>
              <a:t>a</a:t>
            </a:r>
            <a:r>
              <a:rPr sz="1600" b="1" spc="-5" dirty="0">
                <a:latin typeface="Times New Roman"/>
                <a:cs typeface="Times New Roman"/>
              </a:rPr>
              <a:t>side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Buf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dirty="0">
                <a:latin typeface="Times New Roman"/>
                <a:cs typeface="Times New Roman"/>
              </a:rPr>
              <a:t>r </a:t>
            </a:r>
            <a:r>
              <a:rPr sz="1600" b="1" spc="-63" dirty="0">
                <a:latin typeface="Times New Roman"/>
                <a:cs typeface="Times New Roman"/>
              </a:rPr>
              <a:t> </a:t>
            </a:r>
            <a:r>
              <a:rPr sz="1600" b="1" spc="-2" dirty="0">
                <a:latin typeface="Times New Roman"/>
                <a:cs typeface="Times New Roman"/>
              </a:rPr>
              <a:t>(</a:t>
            </a:r>
            <a:r>
              <a:rPr sz="1600" b="1" spc="-7" dirty="0">
                <a:latin typeface="Times New Roman"/>
                <a:cs typeface="Times New Roman"/>
              </a:rPr>
              <a:t>T</a:t>
            </a:r>
            <a:r>
              <a:rPr sz="1600" b="1" spc="-5" dirty="0">
                <a:latin typeface="Times New Roman"/>
                <a:cs typeface="Times New Roman"/>
              </a:rPr>
              <a:t>LB):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7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LB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3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cac</a:t>
            </a:r>
            <a:r>
              <a:rPr sz="1600" spc="5" dirty="0">
                <a:latin typeface="Times New Roman"/>
                <a:cs typeface="Times New Roman"/>
              </a:rPr>
              <a:t>h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7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that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store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c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ntl</a:t>
            </a:r>
            <a:r>
              <a:rPr sz="1600" dirty="0">
                <a:latin typeface="Times New Roman"/>
                <a:cs typeface="Times New Roman"/>
              </a:rPr>
              <a:t>y 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</a:t>
            </a:r>
            <a:r>
              <a:rPr sz="1600" spc="-2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d </a:t>
            </a:r>
            <a:r>
              <a:rPr sz="1600" spc="-2" dirty="0">
                <a:latin typeface="Times New Roman"/>
                <a:cs typeface="Times New Roman"/>
              </a:rPr>
              <a:t>virtu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l-to-</a:t>
            </a:r>
            <a:r>
              <a:rPr sz="1600" spc="-5" dirty="0">
                <a:latin typeface="Times New Roman"/>
                <a:cs typeface="Times New Roman"/>
              </a:rPr>
              <a:t>physi</a:t>
            </a:r>
            <a:r>
              <a:rPr sz="1600" spc="-7" dirty="0">
                <a:latin typeface="Times New Roman"/>
                <a:cs typeface="Times New Roman"/>
              </a:rPr>
              <a:t>ca</a:t>
            </a:r>
            <a:r>
              <a:rPr sz="1600" spc="-2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addr</a:t>
            </a:r>
            <a:r>
              <a:rPr sz="1600" spc="-2" dirty="0">
                <a:latin typeface="Times New Roman"/>
                <a:cs typeface="Times New Roman"/>
              </a:rPr>
              <a:t>es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2" dirty="0">
                <a:latin typeface="Times New Roman"/>
                <a:cs typeface="Times New Roman"/>
              </a:rPr>
              <a:t>tr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nslations</a:t>
            </a:r>
            <a:r>
              <a:rPr sz="1600" dirty="0">
                <a:latin typeface="Times New Roman"/>
                <a:cs typeface="Times New Roman"/>
              </a:rPr>
              <a:t>, </a:t>
            </a:r>
            <a:r>
              <a:rPr sz="1600" spc="-2" dirty="0">
                <a:latin typeface="Times New Roman"/>
                <a:cs typeface="Times New Roman"/>
              </a:rPr>
              <a:t>spe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ding</a:t>
            </a:r>
            <a:r>
              <a:rPr sz="1600" dirty="0">
                <a:latin typeface="Times New Roman"/>
                <a:cs typeface="Times New Roman"/>
              </a:rPr>
              <a:t> up </a:t>
            </a:r>
            <a:r>
              <a:rPr sz="1600" spc="-2" dirty="0">
                <a:latin typeface="Times New Roman"/>
                <a:cs typeface="Times New Roman"/>
              </a:rPr>
              <a:t>the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ddr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2" dirty="0">
                <a:latin typeface="Times New Roman"/>
                <a:cs typeface="Times New Roman"/>
              </a:rPr>
              <a:t>t</a:t>
            </a:r>
            <a:r>
              <a:rPr sz="1600" spc="2" dirty="0">
                <a:latin typeface="Times New Roman"/>
                <a:cs typeface="Times New Roman"/>
              </a:rPr>
              <a:t>r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nslation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</a:t>
            </a:r>
            <a:r>
              <a:rPr sz="1600" spc="-7" dirty="0">
                <a:latin typeface="Times New Roman"/>
                <a:cs typeface="Times New Roman"/>
              </a:rPr>
              <a:t>ce</a:t>
            </a:r>
            <a:r>
              <a:rPr sz="1600" spc="-2" dirty="0">
                <a:latin typeface="Times New Roman"/>
                <a:cs typeface="Times New Roman"/>
              </a:rPr>
              <a:t>ss.</a:t>
            </a:r>
            <a:endParaRPr sz="1600" dirty="0">
              <a:latin typeface="Times New Roman"/>
              <a:cs typeface="Times New Roman"/>
            </a:endParaRPr>
          </a:p>
          <a:p>
            <a:pPr marL="225716" marR="3360" indent="-109651">
              <a:spcBef>
                <a:spcPts val="2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600" b="1" spc="-2" dirty="0">
                <a:latin typeface="Times New Roman"/>
                <a:cs typeface="Times New Roman"/>
              </a:rPr>
              <a:t>Me</a:t>
            </a:r>
            <a:r>
              <a:rPr sz="1600" b="1" spc="-5" dirty="0">
                <a:latin typeface="Times New Roman"/>
                <a:cs typeface="Times New Roman"/>
              </a:rPr>
              <a:t>mory</a:t>
            </a:r>
            <a:r>
              <a:rPr sz="1600" b="1" spc="2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</a:t>
            </a:r>
            <a:r>
              <a:rPr sz="1600" b="1" spc="-7" dirty="0">
                <a:latin typeface="Times New Roman"/>
                <a:cs typeface="Times New Roman"/>
              </a:rPr>
              <a:t>e</a:t>
            </a:r>
            <a:r>
              <a:rPr sz="1600" b="1" spc="-5" dirty="0">
                <a:latin typeface="Times New Roman"/>
                <a:cs typeface="Times New Roman"/>
              </a:rPr>
              <a:t>gment</a:t>
            </a:r>
            <a:r>
              <a:rPr sz="1600" b="1" spc="-7" dirty="0">
                <a:latin typeface="Times New Roman"/>
                <a:cs typeface="Times New Roman"/>
              </a:rPr>
              <a:t>a</a:t>
            </a:r>
            <a:r>
              <a:rPr sz="1600" b="1" spc="-2" dirty="0">
                <a:latin typeface="Times New Roman"/>
                <a:cs typeface="Times New Roman"/>
              </a:rPr>
              <a:t>ti</a:t>
            </a:r>
            <a:r>
              <a:rPr sz="1600" b="1" dirty="0">
                <a:latin typeface="Times New Roman"/>
                <a:cs typeface="Times New Roman"/>
              </a:rPr>
              <a:t>on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7" dirty="0">
                <a:latin typeface="Times New Roman"/>
                <a:cs typeface="Times New Roman"/>
              </a:rPr>
              <a:t>Unit</a:t>
            </a:r>
            <a:r>
              <a:rPr sz="1600" b="1" spc="-2" dirty="0">
                <a:latin typeface="Times New Roman"/>
                <a:cs typeface="Times New Roman"/>
              </a:rPr>
              <a:t>:</a:t>
            </a:r>
            <a:r>
              <a:rPr sz="1600" b="1" spc="7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</a:t>
            </a:r>
            <a:r>
              <a:rPr sz="1600" spc="-7" dirty="0">
                <a:latin typeface="Times New Roman"/>
                <a:cs typeface="Times New Roman"/>
              </a:rPr>
              <a:t>i</a:t>
            </a:r>
            <a:r>
              <a:rPr sz="1600" spc="-2" dirty="0">
                <a:latin typeface="Times New Roman"/>
                <a:cs typeface="Times New Roman"/>
              </a:rPr>
              <a:t>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divid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mory</a:t>
            </a:r>
            <a:r>
              <a:rPr sz="1600" spc="2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int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fix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10" dirty="0">
                <a:latin typeface="Times New Roman"/>
                <a:cs typeface="Times New Roman"/>
              </a:rPr>
              <a:t>d</a:t>
            </a:r>
            <a:r>
              <a:rPr sz="1600" spc="-2" dirty="0">
                <a:latin typeface="Times New Roman"/>
                <a:cs typeface="Times New Roman"/>
              </a:rPr>
              <a:t>-</a:t>
            </a:r>
            <a:r>
              <a:rPr sz="1600" spc="-5" dirty="0">
                <a:latin typeface="Times New Roman"/>
                <a:cs typeface="Times New Roman"/>
              </a:rPr>
              <a:t>size</a:t>
            </a:r>
            <a:r>
              <a:rPr sz="1600" spc="2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se</a:t>
            </a:r>
            <a:r>
              <a:rPr sz="1600" spc="-5" dirty="0">
                <a:latin typeface="Times New Roman"/>
                <a:cs typeface="Times New Roman"/>
              </a:rPr>
              <a:t>gments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org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nize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</a:t>
            </a:r>
            <a:r>
              <a:rPr sz="1600" spc="-5" dirty="0">
                <a:latin typeface="Times New Roman"/>
                <a:cs typeface="Times New Roman"/>
              </a:rPr>
              <a:t>man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g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spc="-2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mory</a:t>
            </a:r>
            <a:r>
              <a:rPr sz="1600" spc="-2" dirty="0">
                <a:latin typeface="Times New Roman"/>
                <a:cs typeface="Times New Roman"/>
              </a:rPr>
              <a:t> r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sour</a:t>
            </a:r>
            <a:r>
              <a:rPr sz="1600" dirty="0">
                <a:latin typeface="Times New Roman"/>
                <a:cs typeface="Times New Roman"/>
              </a:rPr>
              <a:t>c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-2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2" dirty="0">
                <a:latin typeface="Times New Roman"/>
                <a:cs typeface="Times New Roman"/>
              </a:rPr>
              <a:t>f</a:t>
            </a:r>
            <a:r>
              <a:rPr sz="1600" spc="-2" dirty="0">
                <a:latin typeface="Times New Roman"/>
                <a:cs typeface="Times New Roman"/>
              </a:rPr>
              <a:t>fi</a:t>
            </a:r>
            <a:r>
              <a:rPr sz="1600" spc="-10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ient</a:t>
            </a:r>
            <a:r>
              <a:rPr sz="1600" dirty="0">
                <a:latin typeface="Times New Roman"/>
                <a:cs typeface="Times New Roman"/>
              </a:rPr>
              <a:t>ly.</a:t>
            </a:r>
          </a:p>
          <a:p>
            <a:pPr marL="225716" marR="4887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600" b="1" spc="-2" dirty="0">
                <a:latin typeface="Times New Roman"/>
                <a:cs typeface="Times New Roman"/>
              </a:rPr>
              <a:t>Me</a:t>
            </a:r>
            <a:r>
              <a:rPr sz="1600" b="1" spc="-5" dirty="0">
                <a:latin typeface="Times New Roman"/>
                <a:cs typeface="Times New Roman"/>
              </a:rPr>
              <a:t>mory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43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</a:t>
            </a:r>
            <a:r>
              <a:rPr sz="1600" b="1" spc="-2" dirty="0">
                <a:latin typeface="Times New Roman"/>
                <a:cs typeface="Times New Roman"/>
              </a:rPr>
              <a:t>rot</a:t>
            </a:r>
            <a:r>
              <a:rPr sz="1600" b="1" spc="-10" dirty="0">
                <a:latin typeface="Times New Roman"/>
                <a:cs typeface="Times New Roman"/>
              </a:rPr>
              <a:t>e</a:t>
            </a:r>
            <a:r>
              <a:rPr sz="1600" b="1" spc="-7" dirty="0">
                <a:latin typeface="Times New Roman"/>
                <a:cs typeface="Times New Roman"/>
              </a:rPr>
              <a:t>c</a:t>
            </a:r>
            <a:r>
              <a:rPr sz="1600" b="1" spc="-2" dirty="0">
                <a:latin typeface="Times New Roman"/>
                <a:cs typeface="Times New Roman"/>
              </a:rPr>
              <a:t>ti</a:t>
            </a:r>
            <a:r>
              <a:rPr sz="1600" b="1" dirty="0">
                <a:latin typeface="Times New Roman"/>
                <a:cs typeface="Times New Roman"/>
              </a:rPr>
              <a:t>on </a:t>
            </a:r>
            <a:r>
              <a:rPr sz="1600" b="1" spc="-43" dirty="0">
                <a:latin typeface="Times New Roman"/>
                <a:cs typeface="Times New Roman"/>
              </a:rPr>
              <a:t> </a:t>
            </a:r>
            <a:r>
              <a:rPr sz="1600" b="1" spc="-7" dirty="0">
                <a:latin typeface="Times New Roman"/>
                <a:cs typeface="Times New Roman"/>
              </a:rPr>
              <a:t>Uni</a:t>
            </a:r>
            <a:r>
              <a:rPr sz="1600" b="1" spc="-2" dirty="0">
                <a:latin typeface="Times New Roman"/>
                <a:cs typeface="Times New Roman"/>
              </a:rPr>
              <a:t>t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41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(MPU</a:t>
            </a:r>
            <a:r>
              <a:rPr sz="1600" b="1" spc="-2" dirty="0">
                <a:latin typeface="Times New Roman"/>
                <a:cs typeface="Times New Roman"/>
              </a:rPr>
              <a:t>):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4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46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PU </a:t>
            </a:r>
            <a:r>
              <a:rPr sz="1600" spc="-43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5" dirty="0">
                <a:latin typeface="Times New Roman"/>
                <a:cs typeface="Times New Roman"/>
              </a:rPr>
              <a:t>s</a:t>
            </a:r>
            <a:r>
              <a:rPr sz="1600" spc="-2" dirty="0">
                <a:latin typeface="Times New Roman"/>
                <a:cs typeface="Times New Roman"/>
              </a:rPr>
              <a:t>ur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41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43" dirty="0">
                <a:latin typeface="Times New Roman"/>
                <a:cs typeface="Times New Roman"/>
              </a:rPr>
              <a:t> </a:t>
            </a:r>
            <a:r>
              <a:rPr sz="1600" spc="-2" dirty="0">
                <a:latin typeface="Times New Roman"/>
                <a:cs typeface="Times New Roman"/>
              </a:rPr>
              <a:t>se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5" dirty="0">
                <a:latin typeface="Times New Roman"/>
                <a:cs typeface="Times New Roman"/>
              </a:rPr>
              <a:t>u</a:t>
            </a:r>
            <a:r>
              <a:rPr sz="1600" spc="-2" dirty="0">
                <a:latin typeface="Times New Roman"/>
                <a:cs typeface="Times New Roman"/>
              </a:rPr>
              <a:t>rity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41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</a:t>
            </a:r>
            <a:r>
              <a:rPr sz="1600" spc="-4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2" dirty="0">
                <a:latin typeface="Times New Roman"/>
                <a:cs typeface="Times New Roman"/>
              </a:rPr>
              <a:t>r</a:t>
            </a:r>
            <a:r>
              <a:rPr sz="1600" spc="-2" dirty="0">
                <a:latin typeface="Times New Roman"/>
                <a:cs typeface="Times New Roman"/>
              </a:rPr>
              <a:t>ote</a:t>
            </a:r>
            <a:r>
              <a:rPr sz="1600" spc="-10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ti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4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memor</a:t>
            </a:r>
            <a:r>
              <a:rPr sz="1600" dirty="0">
                <a:latin typeface="Times New Roman"/>
                <a:cs typeface="Times New Roman"/>
              </a:rPr>
              <a:t>y by 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nfor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ing</a:t>
            </a:r>
            <a:r>
              <a:rPr sz="1600" spc="-2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</a:t>
            </a:r>
            <a:r>
              <a:rPr sz="1600" spc="-7" dirty="0">
                <a:latin typeface="Times New Roman"/>
                <a:cs typeface="Times New Roman"/>
              </a:rPr>
              <a:t>ce</a:t>
            </a:r>
            <a:r>
              <a:rPr sz="1600" spc="-2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5" dirty="0">
                <a:latin typeface="Times New Roman"/>
                <a:cs typeface="Times New Roman"/>
              </a:rPr>
              <a:t>pe</a:t>
            </a:r>
            <a:r>
              <a:rPr sz="1600" spc="-7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mi</a:t>
            </a:r>
            <a:r>
              <a:rPr sz="1600" spc="-2" dirty="0">
                <a:latin typeface="Times New Roman"/>
                <a:cs typeface="Times New Roman"/>
              </a:rPr>
              <a:t>ss</a:t>
            </a:r>
            <a:r>
              <a:rPr sz="1600" dirty="0">
                <a:latin typeface="Times New Roman"/>
                <a:cs typeface="Times New Roman"/>
              </a:rPr>
              <a:t>ions</a:t>
            </a:r>
            <a:r>
              <a:rPr sz="1600" spc="-2" dirty="0">
                <a:latin typeface="Times New Roman"/>
                <a:cs typeface="Times New Roman"/>
              </a:rPr>
              <a:t> 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p</a:t>
            </a:r>
            <a:r>
              <a:rPr sz="1600" spc="2" dirty="0">
                <a:latin typeface="Times New Roman"/>
                <a:cs typeface="Times New Roman"/>
              </a:rPr>
              <a:t>r</a:t>
            </a:r>
            <a:r>
              <a:rPr sz="1600" spc="-2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nti</a:t>
            </a:r>
            <a:r>
              <a:rPr sz="1600" dirty="0">
                <a:latin typeface="Times New Roman"/>
                <a:cs typeface="Times New Roman"/>
              </a:rPr>
              <a:t>ng </a:t>
            </a:r>
            <a:r>
              <a:rPr sz="1600" spc="-5" dirty="0">
                <a:latin typeface="Times New Roman"/>
                <a:cs typeface="Times New Roman"/>
              </a:rPr>
              <a:t>un</a:t>
            </a:r>
            <a:r>
              <a:rPr sz="1600" spc="-7" dirty="0">
                <a:latin typeface="Times New Roman"/>
                <a:cs typeface="Times New Roman"/>
              </a:rPr>
              <a:t>a</a:t>
            </a:r>
            <a:r>
              <a:rPr sz="1600" spc="-2" dirty="0">
                <a:latin typeface="Times New Roman"/>
                <a:cs typeface="Times New Roman"/>
              </a:rPr>
              <a:t>uthori</a:t>
            </a:r>
            <a:r>
              <a:rPr sz="1600" spc="-7" dirty="0">
                <a:latin typeface="Times New Roman"/>
                <a:cs typeface="Times New Roman"/>
              </a:rPr>
              <a:t>ze</a:t>
            </a:r>
            <a:r>
              <a:rPr sz="1600" dirty="0">
                <a:latin typeface="Times New Roman"/>
                <a:cs typeface="Times New Roman"/>
              </a:rPr>
              <a:t>d </a:t>
            </a:r>
            <a:r>
              <a:rPr sz="1600" spc="-2" dirty="0">
                <a:latin typeface="Times New Roman"/>
                <a:cs typeface="Times New Roman"/>
              </a:rPr>
              <a:t>a</a:t>
            </a:r>
            <a:r>
              <a:rPr sz="1600" spc="-7" dirty="0">
                <a:latin typeface="Times New Roman"/>
                <a:cs typeface="Times New Roman"/>
              </a:rPr>
              <a:t>c</a:t>
            </a:r>
            <a:r>
              <a:rPr sz="1600" spc="-2" dirty="0">
                <a:latin typeface="Times New Roman"/>
                <a:cs typeface="Times New Roman"/>
              </a:rPr>
              <a:t>c</a:t>
            </a:r>
            <a:r>
              <a:rPr sz="1600" spc="-7" dirty="0">
                <a:latin typeface="Times New Roman"/>
                <a:cs typeface="Times New Roman"/>
              </a:rPr>
              <a:t>e</a:t>
            </a:r>
            <a:r>
              <a:rPr sz="1600" spc="-2" dirty="0">
                <a:latin typeface="Times New Roman"/>
                <a:cs typeface="Times New Roman"/>
              </a:rPr>
              <a:t>ss.</a:t>
            </a:r>
            <a:endParaRPr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89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5433-B5D6-66F4-CF30-235148AE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353848-10E4-3223-5C09-BBE4C300B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B62A0-A8B9-B70B-0421-00B863F176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8D8CB75-1A7C-1378-714D-CA5C7E9FB33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F684F2-D54C-4472-ADFC-1933983CF8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6A9EC34-F6D0-F164-4E28-A14E66796E2B}"/>
              </a:ext>
            </a:extLst>
          </p:cNvPr>
          <p:cNvSpPr txBox="1"/>
          <p:nvPr/>
        </p:nvSpPr>
        <p:spPr>
          <a:xfrm>
            <a:off x="1013394" y="819150"/>
            <a:ext cx="6987606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ag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Un</a:t>
            </a:r>
            <a:r>
              <a:rPr sz="1700" b="1" dirty="0">
                <a:latin typeface="Times New Roman"/>
                <a:cs typeface="Times New Roman"/>
              </a:rPr>
              <a:t>it </a:t>
            </a:r>
            <a:r>
              <a:rPr sz="1700" b="1" spc="-5" dirty="0">
                <a:latin typeface="Times New Roman"/>
                <a:cs typeface="Times New Roman"/>
              </a:rPr>
              <a:t>(</a:t>
            </a:r>
            <a:r>
              <a:rPr sz="1700" b="1" spc="-10" dirty="0">
                <a:latin typeface="Times New Roman"/>
                <a:cs typeface="Times New Roman"/>
              </a:rPr>
              <a:t>MM</a:t>
            </a:r>
            <a:r>
              <a:rPr sz="1700" b="1" spc="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(MM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 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rms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task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 marR="3054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ks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j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wit</a:t>
            </a:r>
            <a:r>
              <a:rPr sz="1700" spc="-5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m's</a:t>
            </a:r>
            <a:r>
              <a:rPr sz="1700" spc="-5" dirty="0">
                <a:latin typeface="Times New Roman"/>
                <a:cs typeface="Times New Roman"/>
              </a:rPr>
              <a:t> 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softw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-5" dirty="0">
                <a:latin typeface="Times New Roman"/>
                <a:cs typeface="Times New Roman"/>
              </a:rPr>
              <a:t>ue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nslation,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involv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ilizing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ra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dirty="0">
                <a:latin typeface="Times New Roman"/>
                <a:cs typeface="Times New Roman"/>
              </a:rPr>
              <a:t> 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bles.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</a:t>
            </a:r>
            <a:r>
              <a:rPr sz="1700" dirty="0">
                <a:latin typeface="Times New Roman"/>
                <a:cs typeface="Times New Roman"/>
              </a:rPr>
              <a:t>U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plays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role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nisms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nfor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rmissions,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nsuring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uthori</a:t>
            </a:r>
            <a:r>
              <a:rPr sz="1700" spc="-7" dirty="0">
                <a:latin typeface="Times New Roman"/>
                <a:cs typeface="Times New Roman"/>
              </a:rPr>
              <a:t>ze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itive 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87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646C-393E-144D-2D37-1FADA57F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D9A1C-4DF0-C36A-0989-B8B115224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04898-32EA-99D1-092E-9EAA3BA0E5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C5113CA-7105-C436-7F8D-04845E093A9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6C4F93-C53A-C168-A1FD-48279173D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181ECBE-0900-BFF5-02AA-D5E6F73BADB5}"/>
              </a:ext>
            </a:extLst>
          </p:cNvPr>
          <p:cNvSpPr txBox="1"/>
          <p:nvPr/>
        </p:nvSpPr>
        <p:spPr>
          <a:xfrm>
            <a:off x="1013394" y="819150"/>
            <a:ext cx="6987606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slation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kasi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uf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(TLB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spc="-5" dirty="0">
                <a:latin typeface="Times New Roman"/>
                <a:cs typeface="Times New Roman"/>
              </a:rPr>
              <a:t> Look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de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(TLB)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-to-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translations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spc="7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ns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5" dirty="0">
                <a:latin typeface="Times New Roman"/>
                <a:cs typeface="Times New Roman"/>
              </a:rPr>
              <a:t>improving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6109" marR="4582" algn="just"/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ks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t</a:t>
            </a:r>
            <a:r>
              <a:rPr sz="1700" spc="-5" dirty="0">
                <a:latin typeface="Times New Roman"/>
                <a:cs typeface="Times New Roman"/>
              </a:rPr>
              <a:t>ra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dirty="0">
                <a:latin typeface="Times New Roman"/>
                <a:cs typeface="Times New Roman"/>
              </a:rPr>
              <a:t> 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fou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d,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TLB</a:t>
            </a:r>
            <a:r>
              <a:rPr sz="1700" spc="-2" dirty="0">
                <a:latin typeface="Times New Roman"/>
                <a:cs typeface="Times New Roman"/>
              </a:rPr>
              <a:t> provi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spond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limin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onsuming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lookup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 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TLB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iple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lity,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futu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nslations</a:t>
            </a:r>
            <a:r>
              <a:rPr sz="1700" dirty="0">
                <a:latin typeface="Times New Roman"/>
                <a:cs typeface="Times New Roman"/>
              </a:rPr>
              <a:t>, 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TLB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 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 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nslation,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improving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-5" dirty="0">
                <a:latin typeface="Times New Roman"/>
                <a:cs typeface="Times New Roman"/>
              </a:rPr>
              <a:t>stem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07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B122-BBD9-06D8-DE87-7A1E24DA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C5D55-4FA3-7809-F2F9-D27D7FAE9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98DAF4-4691-3A32-8D45-205F30C39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2108C88-A8FB-1DAF-B6D5-3F538186303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3BCFF9-B56D-FEEC-ED80-14594FECEA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459BABC-2E26-0DEA-CAAA-7529F99357B0}"/>
              </a:ext>
            </a:extLst>
          </p:cNvPr>
          <p:cNvSpPr txBox="1"/>
          <p:nvPr/>
        </p:nvSpPr>
        <p:spPr>
          <a:xfrm>
            <a:off x="1013394" y="819150"/>
            <a:ext cx="6987606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Fun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ag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5" dirty="0">
                <a:latin typeface="Times New Roman"/>
                <a:cs typeface="Times New Roman"/>
              </a:rPr>
              <a:t>Ha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wa</a:t>
            </a:r>
            <a:r>
              <a:rPr sz="1700" b="1" spc="-5" dirty="0">
                <a:latin typeface="Times New Roman"/>
                <a:cs typeface="Times New Roman"/>
              </a:rPr>
              <a:t>re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/>
            <a:endParaRPr lang="en-US" sz="1700" spc="-5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dirty="0">
                <a:latin typeface="Times New Roman"/>
                <a:cs typeface="Times New Roman"/>
              </a:rPr>
              <a:t>The  memory  management  hardware  performs  several  critical  functions  to  ensure  efficient memory usage and allocation. These functions include:</a:t>
            </a:r>
          </a:p>
          <a:p>
            <a:pPr marL="6109" algn="just"/>
            <a:r>
              <a:rPr lang="en-US" sz="1700" dirty="0">
                <a:latin typeface="Times New Roman"/>
                <a:cs typeface="Times New Roman"/>
              </a:rPr>
              <a:t>Address Translation: The memory management hardware translates virtual addresses into physical addresses, allowing the CPU to access the correct memory location.</a:t>
            </a:r>
          </a:p>
          <a:p>
            <a:pPr marL="6109" algn="just"/>
            <a:r>
              <a:rPr lang="en-US" sz="1700" dirty="0">
                <a:latin typeface="Times New Roman"/>
                <a:cs typeface="Times New Roman"/>
              </a:rPr>
              <a:t>Memory  Allocation:  It  allocates  and  deallocates  memory  resources  to  processes, ensuring that each process has sufficient memory to execute efficiently.</a:t>
            </a:r>
          </a:p>
          <a:p>
            <a:pPr marL="6109" algn="just"/>
            <a:r>
              <a:rPr lang="en-US" sz="1700" dirty="0">
                <a:latin typeface="Times New Roman"/>
                <a:cs typeface="Times New Roman"/>
              </a:rPr>
              <a:t>Memory Protection: The memory management hardware enforces access permissions and prevents unauthorized access to memory areas.</a:t>
            </a:r>
          </a:p>
          <a:p>
            <a:pPr marL="6109" algn="just"/>
            <a:r>
              <a:rPr lang="en-US" sz="1700" dirty="0">
                <a:latin typeface="Times New Roman"/>
                <a:cs typeface="Times New Roman"/>
              </a:rPr>
              <a:t>Virtual Memory Management: It manages the mapping of virtual addresses to physical addresses, enabling the efficient use of limited physical memory by utilizing disk-based virtual memory.</a:t>
            </a:r>
          </a:p>
        </p:txBody>
      </p:sp>
    </p:spTree>
    <p:extLst>
      <p:ext uri="{BB962C8B-B14F-4D97-AF65-F5344CB8AC3E}">
        <p14:creationId xmlns:p14="http://schemas.microsoft.com/office/powerpoint/2010/main" val="303704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CD70-1EFF-05BD-AFA1-1897FF7A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22A7A-2B14-A3EC-66BC-A792EB6D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48142-892D-6980-0653-77FA2FE3B4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E8F3A9A-98A4-4A09-736F-77C8257E43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B6196-4C6E-2CC2-5945-879CBF03B3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742950"/>
            <a:ext cx="70635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slation</a:t>
            </a: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prim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5" dirty="0">
                <a:latin typeface="Times New Roman"/>
                <a:cs typeface="Times New Roman"/>
              </a:rPr>
              <a:t>involv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system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 marR="4582" algn="just"/>
            <a:r>
              <a:rPr sz="1700" spc="-2" dirty="0">
                <a:latin typeface="Times New Roman"/>
                <a:cs typeface="Times New Roman"/>
              </a:rPr>
              <a:t>Du</a:t>
            </a:r>
            <a:r>
              <a:rPr sz="1700" spc="-5" dirty="0">
                <a:latin typeface="Times New Roman"/>
                <a:cs typeface="Times New Roman"/>
              </a:rPr>
              <a:t>ring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 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ses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dirty="0">
                <a:latin typeface="Times New Roman"/>
                <a:cs typeface="Times New Roman"/>
              </a:rPr>
              <a:t>ts</a:t>
            </a:r>
            <a:r>
              <a:rPr sz="1700" spc="-2" dirty="0">
                <a:latin typeface="Times New Roman"/>
                <a:cs typeface="Times New Roman"/>
              </a:rPr>
              <a:t> isolat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spa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other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sses.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/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essentia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ph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spc="-5" dirty="0">
                <a:latin typeface="Times New Roman"/>
                <a:cs typeface="Times New Roman"/>
              </a:rPr>
              <a:t>sica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ilit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 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provid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 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unique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ace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63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E139-3578-799B-B13A-0C019680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348334-86A2-E67B-1540-912C123F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BA0734-60B2-655E-B3AB-B723C82BF8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0D15F10-DC6C-9A42-C037-EE2314B1DD9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BA08D4-0B5C-278F-C575-156D9FF66F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D727A32-3F55-0B75-E632-0B63BB48CD52}"/>
              </a:ext>
            </a:extLst>
          </p:cNvPr>
          <p:cNvSpPr txBox="1"/>
          <p:nvPr/>
        </p:nvSpPr>
        <p:spPr>
          <a:xfrm>
            <a:off x="1013700" y="742950"/>
            <a:ext cx="70635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7" dirty="0">
                <a:latin typeface="Times New Roman"/>
                <a:cs typeface="Times New Roman"/>
              </a:rPr>
              <a:t>Allocat</a:t>
            </a:r>
            <a:r>
              <a:rPr sz="1700" b="1" spc="-5" dirty="0">
                <a:latin typeface="Times New Roman"/>
                <a:cs typeface="Times New Roman"/>
              </a:rPr>
              <a:t>ion</a:t>
            </a:r>
            <a:endParaRPr sz="1700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1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1"/>
              </a:spcBef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nother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involv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gning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-2" dirty="0">
                <a:latin typeface="Times New Roman"/>
                <a:cs typeface="Times New Roman"/>
              </a:rPr>
              <a:t> 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no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6109" marR="4582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ks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blocks,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their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ments.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mount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y, 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sour</a:t>
            </a:r>
            <a:r>
              <a:rPr sz="1700" spc="-5" dirty="0">
                <a:latin typeface="Times New Roman"/>
                <a:cs typeface="Times New Roman"/>
              </a:rPr>
              <a:t>ce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ontention.</a:t>
            </a:r>
            <a:endParaRPr sz="1700" dirty="0">
              <a:latin typeface="Times New Roman"/>
              <a:cs typeface="Times New Roman"/>
            </a:endParaRPr>
          </a:p>
          <a:p>
            <a:pPr marL="6109" marR="3971" algn="just"/>
            <a:r>
              <a:rPr sz="1700" spc="-5" dirty="0">
                <a:latin typeface="Times New Roman"/>
                <a:cs typeface="Times New Roman"/>
              </a:rPr>
              <a:t>Ef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ous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sses, </a:t>
            </a:r>
            <a:r>
              <a:rPr sz="1700" spc="-5" dirty="0">
                <a:latin typeface="Times New Roman"/>
                <a:cs typeface="Times New Roman"/>
              </a:rPr>
              <a:t>maximi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prod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tivit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ff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ively,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minimiz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astage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optimi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025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BAF7-9ED9-46C0-D78C-97E57D85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B8C36E-FFC7-F326-1DDC-BB9742A9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0A72F1-542F-9096-6777-4A68DFE853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BB4A0F5-FDEF-831F-0016-4B88419A145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40406F-628B-1F54-7C9E-02C29DCCA2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91CA9FB-9A74-13CF-EBC4-D19D7B2B146E}"/>
              </a:ext>
            </a:extLst>
          </p:cNvPr>
          <p:cNvSpPr txBox="1"/>
          <p:nvPr/>
        </p:nvSpPr>
        <p:spPr>
          <a:xfrm>
            <a:off x="1013700" y="742950"/>
            <a:ext cx="70635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hn</a:t>
            </a:r>
            <a:r>
              <a:rPr sz="1700" b="1" spc="-2" dirty="0">
                <a:latin typeface="Times New Roman"/>
                <a:cs typeface="Times New Roman"/>
              </a:rPr>
              <a:t>iq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Use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14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ag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5" dirty="0">
                <a:latin typeface="Times New Roman"/>
                <a:cs typeface="Times New Roman"/>
              </a:rPr>
              <a:t>Ha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wa</a:t>
            </a:r>
            <a:r>
              <a:rPr sz="1700" b="1" spc="-5" dirty="0">
                <a:latin typeface="Times New Roman"/>
                <a:cs typeface="Times New Roman"/>
              </a:rPr>
              <a:t>re</a:t>
            </a: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The 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dirty="0">
                <a:latin typeface="Times New Roman"/>
                <a:cs typeface="Times New Roman"/>
              </a:rPr>
              <a:t>oys 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hniques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 S</a:t>
            </a:r>
            <a:r>
              <a:rPr sz="1700" spc="-5" dirty="0">
                <a:latin typeface="Times New Roman"/>
                <a:cs typeface="Times New Roman"/>
              </a:rPr>
              <a:t>ome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ly </a:t>
            </a:r>
            <a:r>
              <a:rPr sz="1700" dirty="0">
                <a:latin typeface="Times New Roman"/>
                <a:cs typeface="Times New Roman"/>
              </a:rPr>
              <a:t>used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hniques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ging: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involv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dividing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1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blocks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mapping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spac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by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on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mand.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22571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4887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gment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tion:</a:t>
            </a:r>
            <a:r>
              <a:rPr sz="1700" b="1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involv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dividing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ments.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p</a:t>
            </a:r>
            <a:r>
              <a:rPr sz="1700" spc="-2" dirty="0">
                <a:latin typeface="Times New Roman"/>
                <a:cs typeface="Times New Roman"/>
              </a:rPr>
              <a:t>rovid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xible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sc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l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exte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215115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A957-8009-EC2E-1FC3-A9008A21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BD822-6D4D-4177-BE58-4DFA7D671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F5D22C-0497-A63F-90D8-604C52AD87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1FF6830-0AF9-BD89-2C65-4DDB705888E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B06760-EEEB-A4ED-1230-B2A1ABF06E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07F3A13-DCCE-CCB3-A4E8-BE2A125B9502}"/>
              </a:ext>
            </a:extLst>
          </p:cNvPr>
          <p:cNvSpPr txBox="1"/>
          <p:nvPr/>
        </p:nvSpPr>
        <p:spPr>
          <a:xfrm>
            <a:off x="1040250" y="934431"/>
            <a:ext cx="70635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hn</a:t>
            </a:r>
            <a:r>
              <a:rPr sz="1700" b="1" spc="-2" dirty="0">
                <a:latin typeface="Times New Roman"/>
                <a:cs typeface="Times New Roman"/>
              </a:rPr>
              <a:t>iq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Use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14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ag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5" dirty="0">
                <a:latin typeface="Times New Roman"/>
                <a:cs typeface="Times New Roman"/>
              </a:rPr>
              <a:t>Ha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wa</a:t>
            </a:r>
            <a:r>
              <a:rPr sz="1700" b="1" spc="-5" dirty="0">
                <a:latin typeface="Times New Roman"/>
                <a:cs typeface="Times New Roman"/>
              </a:rPr>
              <a:t>re</a:t>
            </a: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Virtua</a:t>
            </a:r>
            <a:r>
              <a:rPr sz="1700" b="1" spc="-2" dirty="0">
                <a:latin typeface="Times New Roman"/>
                <a:cs typeface="Times New Roman"/>
              </a:rPr>
              <a:t>l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Me</a:t>
            </a:r>
            <a:r>
              <a:rPr sz="1700" b="1" spc="-5" dirty="0">
                <a:latin typeface="Times New Roman"/>
                <a:cs typeface="Times New Roman"/>
              </a:rPr>
              <a:t>mory: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Virtua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2" dirty="0">
                <a:latin typeface="Times New Roman"/>
                <a:cs typeface="Times New Roman"/>
              </a:rPr>
              <a:t> 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supp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mory,</a:t>
            </a:r>
            <a:r>
              <a:rPr sz="1700" spc="-2" dirty="0">
                <a:latin typeface="Times New Roman"/>
                <a:cs typeface="Times New Roman"/>
              </a:rPr>
              <a:t>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ring</a:t>
            </a:r>
            <a:r>
              <a:rPr sz="1700" spc="-2" dirty="0">
                <a:latin typeface="Times New Roman"/>
                <a:cs typeface="Times New Roman"/>
              </a:rPr>
              <a:t> data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mem</a:t>
            </a:r>
            <a:r>
              <a:rPr sz="1700" dirty="0">
                <a:latin typeface="Times New Roman"/>
                <a:cs typeface="Times New Roman"/>
              </a:rPr>
              <a:t>ory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dis</a:t>
            </a:r>
            <a:r>
              <a:rPr sz="1700" dirty="0">
                <a:latin typeface="Times New Roman"/>
                <a:cs typeface="Times New Roman"/>
              </a:rPr>
              <a:t>k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4887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Me</a:t>
            </a:r>
            <a:r>
              <a:rPr sz="1700" b="1" spc="-5" dirty="0">
                <a:latin typeface="Times New Roman"/>
                <a:cs typeface="Times New Roman"/>
              </a:rPr>
              <a:t>mory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rot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5" dirty="0">
                <a:latin typeface="Times New Roman"/>
                <a:cs typeface="Times New Roman"/>
              </a:rPr>
              <a:t> 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5" dirty="0">
                <a:latin typeface="Times New Roman"/>
                <a:cs typeface="Times New Roman"/>
              </a:rPr>
              <a:t> 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rio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prot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nisms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rmissio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privil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urity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grity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</p:txBody>
      </p:sp>
    </p:spTree>
    <p:extLst>
      <p:ext uri="{BB962C8B-B14F-4D97-AF65-F5344CB8AC3E}">
        <p14:creationId xmlns:p14="http://schemas.microsoft.com/office/powerpoint/2010/main" val="2906969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CD70-1EFF-05BD-AFA1-1897FF7A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22A7A-2B14-A3EC-66BC-A792EB6D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48142-892D-6980-0653-77FA2FE3B4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E8F3A9A-98A4-4A09-736F-77C8257E43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B6196-4C6E-2CC2-5945-879CBF03B3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3000" y="819150"/>
            <a:ext cx="69342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7" dirty="0">
                <a:latin typeface="Times New Roman"/>
                <a:cs typeface="Times New Roman"/>
              </a:rPr>
              <a:t>Vir</a:t>
            </a:r>
            <a:r>
              <a:rPr sz="1700" b="1" spc="-2" dirty="0">
                <a:latin typeface="Times New Roman"/>
                <a:cs typeface="Times New Roman"/>
              </a:rPr>
              <a:t>tual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endParaRPr lang="en-US" sz="1700" spc="-7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r>
              <a:rPr sz="1700" spc="-7" dirty="0">
                <a:latin typeface="Times New Roman"/>
                <a:cs typeface="Times New Roman"/>
              </a:rPr>
              <a:t>Virtua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ique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2" dirty="0">
                <a:latin typeface="Times New Roman"/>
                <a:cs typeface="Times New Roman"/>
              </a:rPr>
              <a:t> 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vides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illusi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dis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nsion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nsp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mand</a:t>
            </a:r>
            <a:r>
              <a:rPr sz="1700" spc="-2" dirty="0">
                <a:latin typeface="Times New Roman"/>
                <a:cs typeface="Times New Roman"/>
              </a:rPr>
              <a:t> 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</a:t>
            </a:r>
            <a:r>
              <a:rPr sz="1700" dirty="0">
                <a:latin typeface="Times New Roman"/>
                <a:cs typeface="Times New Roman"/>
              </a:rPr>
              <a:t>ly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/>
            <a:r>
              <a:rPr sz="1700" spc="-7" dirty="0">
                <a:latin typeface="Times New Roman"/>
                <a:cs typeface="Times New Roman"/>
              </a:rPr>
              <a:t>Virtua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improv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rmance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withou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quival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supp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</a:t>
            </a:r>
            <a:r>
              <a:rPr sz="1700" spc="-1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-2" dirty="0">
                <a:latin typeface="Times New Roman"/>
                <a:cs typeface="Times New Roman"/>
              </a:rPr>
              <a:t>y-int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nsive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</p:txBody>
      </p:sp>
    </p:spTree>
    <p:extLst>
      <p:ext uri="{BB962C8B-B14F-4D97-AF65-F5344CB8AC3E}">
        <p14:creationId xmlns:p14="http://schemas.microsoft.com/office/powerpoint/2010/main" val="312667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A91CC-54FE-C142-8A92-A2624B76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1351D-E948-5FE3-A301-A8448B35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80EC9F-6D85-C80C-24A5-19BB15F14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563FD12-DD06-B761-9695-DC4A779F117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AD93C1-27F7-B80F-3E11-28D865237A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1652FE9-F19E-CD65-A7A3-7188C7B24E9C}"/>
              </a:ext>
            </a:extLst>
          </p:cNvPr>
          <p:cNvSpPr txBox="1"/>
          <p:nvPr/>
        </p:nvSpPr>
        <p:spPr>
          <a:xfrm>
            <a:off x="1143000" y="742950"/>
            <a:ext cx="69342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7" dirty="0">
                <a:latin typeface="Times New Roman"/>
                <a:cs typeface="Times New Roman"/>
              </a:rPr>
              <a:t>Rol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ag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5" dirty="0">
                <a:latin typeface="Times New Roman"/>
                <a:cs typeface="Times New Roman"/>
              </a:rPr>
              <a:t>Ha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wa</a:t>
            </a:r>
            <a:r>
              <a:rPr sz="1700" b="1" spc="-5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 in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A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tu</a:t>
            </a:r>
            <a:r>
              <a:rPr sz="1700" b="1" spc="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plays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critic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role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nsuring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ilit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subsys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ly.</a:t>
            </a:r>
            <a:endParaRPr sz="1700" dirty="0">
              <a:latin typeface="Times New Roman"/>
              <a:cs typeface="Times New Roman"/>
            </a:endParaRPr>
          </a:p>
          <a:p>
            <a:pPr marL="6109" marR="4276" algn="just"/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</a:t>
            </a:r>
            <a:r>
              <a:rPr sz="1700" dirty="0">
                <a:latin typeface="Times New Roman"/>
                <a:cs typeface="Times New Roman"/>
              </a:rPr>
              <a:t>U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LB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optimi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slation</a:t>
            </a:r>
            <a:r>
              <a:rPr sz="1700" dirty="0">
                <a:latin typeface="Times New Roman"/>
                <a:cs typeface="Times New Roman"/>
              </a:rPr>
              <a:t>s,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nslation.</a:t>
            </a: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spc="-5" dirty="0">
                <a:latin typeface="Times New Roman"/>
                <a:cs typeface="Times New Roman"/>
              </a:rPr>
              <a:t>By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sour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ous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ms,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2" dirty="0">
                <a:latin typeface="Times New Roman"/>
                <a:cs typeface="Times New Roman"/>
              </a:rPr>
              <a:t>x</a:t>
            </a:r>
            <a:r>
              <a:rPr sz="1700" spc="-5" dirty="0">
                <a:latin typeface="Times New Roman"/>
                <a:cs typeface="Times New Roman"/>
              </a:rPr>
              <a:t>imizing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prod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nfor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nism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urity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grity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spc="10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uthori</a:t>
            </a:r>
            <a:r>
              <a:rPr sz="1700" spc="-7" dirty="0">
                <a:latin typeface="Times New Roman"/>
                <a:cs typeface="Times New Roman"/>
              </a:rPr>
              <a:t>ze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1970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2BF6-6458-92F6-48C8-B7EE87BD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BE943-3A5B-65F5-0A6B-39541B93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A1A2D-70C7-967B-2F62-6BA2C00206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319B8BF-BADD-83C9-9539-2F3E37BF93B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D376F7-CA14-EB1D-9B1B-ADCE8CA9D6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6435751-9BBF-75A0-B36F-771CE0F7F23E}"/>
              </a:ext>
            </a:extLst>
          </p:cNvPr>
          <p:cNvSpPr txBox="1"/>
          <p:nvPr/>
        </p:nvSpPr>
        <p:spPr>
          <a:xfrm>
            <a:off x="1104900" y="1047750"/>
            <a:ext cx="69342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360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urth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iques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ging,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</a:t>
            </a:r>
            <a:r>
              <a:rPr sz="1700" spc="-2" dirty="0">
                <a:latin typeface="Times New Roman"/>
                <a:cs typeface="Times New Roman"/>
              </a:rPr>
              <a:t>entation,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</a:t>
            </a:r>
            <a:r>
              <a:rPr sz="1700" dirty="0">
                <a:latin typeface="Times New Roman"/>
                <a:cs typeface="Times New Roman"/>
              </a:rPr>
              <a:t>ory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17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ysic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360" algn="just"/>
            <a:endParaRPr sz="1700" dirty="0">
              <a:latin typeface="Times New Roman"/>
              <a:cs typeface="Times New Roman"/>
            </a:endParaRPr>
          </a:p>
          <a:p>
            <a:pPr marL="6109" marR="4276" algn="just"/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lusi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vit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role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sour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optimizing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nsuring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smo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sses.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497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7627-5527-8496-2A09-4320E38E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72661-7D72-6B0D-1C66-890BB027B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3461D3-5D95-D9D0-2D20-C3DF231994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7AD304C-8FC9-2D30-C216-3AB4C4604F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ED0A04-1EE5-0DDC-DBD8-9DBE655518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/>
          <p:nvPr/>
        </p:nvSpPr>
        <p:spPr>
          <a:xfrm>
            <a:off x="2438400" y="1200150"/>
            <a:ext cx="4267200" cy="2895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662445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BD8C-ED53-913E-E8DA-030ED423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C1FB8-3508-332D-BA12-16975BEA1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360AAB-8A5E-D1DF-79BF-6AA961332C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1A83998-17B4-5BCE-712D-125893C04A1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979933-E28D-DF49-14D9-CD0511228A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742950"/>
            <a:ext cx="6987300" cy="3734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/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33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8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8454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3AE8-94BC-21D9-569D-1110F2E68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4A4F08-3E5E-B250-2ED8-586BB0F4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1F77EA-0B0F-7D35-D97E-0067CF492D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53C8D1D-9A95-5027-72D5-F940B65C66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4D7F45-A300-272B-79B0-E27B0EB4CD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C5075A5-BB93-7790-52BA-AD15B4BFE617}"/>
              </a:ext>
            </a:extLst>
          </p:cNvPr>
          <p:cNvSpPr txBox="1"/>
          <p:nvPr/>
        </p:nvSpPr>
        <p:spPr>
          <a:xfrm>
            <a:off x="1078350" y="1200150"/>
            <a:ext cx="698730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6958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.qu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s10.c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om/p/10067/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-is-virtu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memor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y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xplain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the-role-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f-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gin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1/</a:t>
            </a:r>
            <a:endParaRPr sz="1700" dirty="0">
              <a:latin typeface="Times New Roman"/>
              <a:cs typeface="Times New Roman"/>
            </a:endParaRPr>
          </a:p>
          <a:p>
            <a:pPr marL="225716" marR="431274" indent="-109651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nte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pris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storag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f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rum.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om/storag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/paging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nd-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se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gment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on.htm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mpe.boun.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du.tr/~uskuda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/cou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se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/cmp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235/Virtu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l%20M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mory.pdf</a:t>
            </a:r>
            <a:endParaRPr lang="en-US" sz="1700" u="sng" spc="-5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37370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</TotalTime>
  <Words>1493</Words>
  <Application>Microsoft Office PowerPoint</Application>
  <PresentationFormat>On-screen Show (16:9)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2024-12-24T22:25:56Z</dcterms:created>
  <dcterms:modified xsi:type="dcterms:W3CDTF">2024-12-26T04:55:08Z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