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7"/>
  </p:notesMasterIdLst>
  <p:sldIdLst>
    <p:sldId id="273" r:id="rId2"/>
    <p:sldId id="563" r:id="rId3"/>
    <p:sldId id="568" r:id="rId4"/>
    <p:sldId id="569" r:id="rId5"/>
    <p:sldId id="570" r:id="rId6"/>
    <p:sldId id="571" r:id="rId7"/>
    <p:sldId id="572" r:id="rId8"/>
    <p:sldId id="564" r:id="rId9"/>
    <p:sldId id="573" r:id="rId10"/>
    <p:sldId id="574" r:id="rId11"/>
    <p:sldId id="565" r:id="rId12"/>
    <p:sldId id="566" r:id="rId13"/>
    <p:sldId id="577" r:id="rId14"/>
    <p:sldId id="578" r:id="rId15"/>
    <p:sldId id="579" r:id="rId16"/>
    <p:sldId id="580" r:id="rId17"/>
    <p:sldId id="582" r:id="rId18"/>
    <p:sldId id="583" r:id="rId19"/>
    <p:sldId id="584" r:id="rId20"/>
    <p:sldId id="586" r:id="rId21"/>
    <p:sldId id="587" r:id="rId22"/>
    <p:sldId id="589" r:id="rId23"/>
    <p:sldId id="590" r:id="rId24"/>
    <p:sldId id="581" r:id="rId25"/>
    <p:sldId id="588" r:id="rId26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67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193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0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843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02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04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6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15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39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23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79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44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mpe.boun.edu.tr/~uskudarli/courses/cmpe235/Virtual%20Memory.pdf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www.enterprisestorageforum.com/storage-hardware/paging-and-%20segmentation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ques10.com/p/10067/what-is-virtual-memory-explain-the-role-of-pagin-%201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A4FA-DC8B-48DA-B5CC-DCBB3681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BBE81-E3E1-974E-1596-566C5FDC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83B95-565B-E5D4-24D2-9CBFAE00C0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91C5E24-BDC6-6AE0-2B08-1DA5BEEF7AD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D4EFBF-CA51-A364-B442-0DF4336E23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40250" y="1047750"/>
            <a:ext cx="70635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5192" algn="ctr"/>
            <a:r>
              <a:rPr lang="en-US" sz="1700" b="1" dirty="0">
                <a:latin typeface="Times New Roman"/>
                <a:cs typeface="Times New Roman"/>
              </a:rPr>
              <a:t>PAGING AND SEGMENTATION</a:t>
            </a:r>
          </a:p>
          <a:p>
            <a:pPr marL="6109" marR="5192" algn="just"/>
            <a:endParaRPr lang="en-US" sz="1700" dirty="0">
              <a:latin typeface="Times New Roman"/>
              <a:cs typeface="Times New Roman"/>
            </a:endParaRPr>
          </a:p>
          <a:p>
            <a:pPr marL="6109" marR="5192" algn="just"/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tri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'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disk.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665" algn="just"/>
            <a:r>
              <a:rPr sz="1700" i="1" spc="-5" dirty="0">
                <a:latin typeface="Times New Roman"/>
                <a:cs typeface="Times New Roman"/>
              </a:rPr>
              <a:t>Paging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sents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'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tion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rtu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piece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665" algn="just"/>
            <a:r>
              <a:rPr sz="1700" i="1" spc="-5" dirty="0">
                <a:latin typeface="Times New Roman"/>
                <a:cs typeface="Times New Roman"/>
              </a:rPr>
              <a:t>S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gm</a:t>
            </a:r>
            <a:r>
              <a:rPr sz="1700" i="1" spc="-5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ntation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riable-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spa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gments.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tri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2335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3BFDA-DACC-7DC4-E31F-2F4264BD1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2D24B-0717-7860-3432-16CFB4FA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29596-DBF5-2D22-5DCE-649FD4566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9B3FB7D-A458-B9DF-5E2C-6BB0ACD9A9D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7F5A03-45CA-592F-6288-A2D647813B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1386323-A9C6-269C-40BF-2E425EC7651C}"/>
              </a:ext>
            </a:extLst>
          </p:cNvPr>
          <p:cNvSpPr txBox="1"/>
          <p:nvPr/>
        </p:nvSpPr>
        <p:spPr>
          <a:xfrm>
            <a:off x="1013700" y="819150"/>
            <a:ext cx="70635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basic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-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both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bas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un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ystem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iently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limited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lone.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So, 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 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-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(MM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)  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 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-2" dirty="0">
                <a:latin typeface="Times New Roman"/>
                <a:cs typeface="Times New Roman"/>
              </a:rPr>
              <a:t> disk,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HD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SS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vi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tual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upplem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t's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look </a:t>
            </a:r>
            <a:r>
              <a:rPr sz="1700" spc="-2" dirty="0">
                <a:latin typeface="Times New Roman"/>
                <a:cs typeface="Times New Roman"/>
              </a:rPr>
              <a:t>in-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ing, 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e'l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look</a:t>
            </a:r>
            <a:r>
              <a:rPr sz="1700" spc="-2" dirty="0">
                <a:latin typeface="Times New Roman"/>
                <a:cs typeface="Times New Roman"/>
              </a:rPr>
              <a:t> i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>
              <a:spcBef>
                <a:spcPts val="10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WHAT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S P</a:t>
            </a:r>
            <a:r>
              <a:rPr sz="1700" b="1" spc="-2" dirty="0">
                <a:latin typeface="Times New Roman"/>
                <a:cs typeface="Times New Roman"/>
              </a:rPr>
              <a:t>A</a:t>
            </a:r>
            <a:r>
              <a:rPr sz="1700" b="1" spc="-5" dirty="0">
                <a:latin typeface="Times New Roman"/>
                <a:cs typeface="Times New Roman"/>
              </a:rPr>
              <a:t>GING?</a:t>
            </a: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endParaRPr lang="en-US" sz="1700" spc="-2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mentioned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bo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paging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dditional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nnot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disk,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MM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mapping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87406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97812-370E-4445-93F8-540588D6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28AA4-A0D3-9A31-6A3B-230BE189C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553602-7308-30DE-BB46-431224E474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818DFF4-6945-8584-F4DD-22FE032BDB1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DE1020-021B-3E8A-081C-AF1E40F684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2B8EFDD-A155-19FE-5BA1-8983B2AAA4B7}"/>
              </a:ext>
            </a:extLst>
          </p:cNvPr>
          <p:cNvSpPr txBox="1"/>
          <p:nvPr/>
        </p:nvSpPr>
        <p:spPr>
          <a:xfrm>
            <a:off x="1040250" y="1047750"/>
            <a:ext cx="70635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665" algn="just"/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laun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tailed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xp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mes,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12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fine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rms.</a:t>
            </a: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Pag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ixe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-length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guous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blo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k of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5" dirty="0">
                <a:latin typeface="Times New Roman"/>
                <a:cs typeface="Times New Roman"/>
              </a:rPr>
              <a:t>esid</a:t>
            </a:r>
            <a:r>
              <a:rPr sz="1700" dirty="0">
                <a:latin typeface="Times New Roman"/>
                <a:cs typeface="Times New Roman"/>
              </a:rPr>
              <a:t>ing on </a:t>
            </a:r>
            <a:r>
              <a:rPr sz="1700" spc="-2" dirty="0">
                <a:latin typeface="Times New Roman"/>
                <a:cs typeface="Times New Roman"/>
              </a:rPr>
              <a:t>dis</a:t>
            </a:r>
            <a:r>
              <a:rPr sz="1700" dirty="0">
                <a:latin typeface="Times New Roman"/>
                <a:cs typeface="Times New Roman"/>
              </a:rPr>
              <a:t>k.</a:t>
            </a:r>
          </a:p>
          <a:p>
            <a:pPr marL="225716" marR="3665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-length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conti</a:t>
            </a:r>
            <a:r>
              <a:rPr sz="1700" dirty="0">
                <a:latin typeface="Times New Roman"/>
                <a:cs typeface="Times New Roman"/>
              </a:rPr>
              <a:t>guous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block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</a:t>
            </a:r>
            <a:r>
              <a:rPr sz="1700" dirty="0">
                <a:latin typeface="Times New Roman"/>
                <a:cs typeface="Times New Roman"/>
              </a:rPr>
              <a:t>;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whos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sizing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identic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s.</a:t>
            </a:r>
            <a:endParaRPr sz="1700" dirty="0">
              <a:latin typeface="Times New Roman"/>
              <a:cs typeface="Times New Roman"/>
            </a:endParaRPr>
          </a:p>
          <a:p>
            <a:pPr marL="225716" marR="4276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Physical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14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y: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ndom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emor</a:t>
            </a:r>
            <a:r>
              <a:rPr sz="1700" dirty="0">
                <a:latin typeface="Times New Roman"/>
                <a:cs typeface="Times New Roman"/>
              </a:rPr>
              <a:t>y (RAM</a:t>
            </a:r>
            <a:r>
              <a:rPr sz="1700" spc="-5" dirty="0">
                <a:latin typeface="Times New Roman"/>
                <a:cs typeface="Times New Roman"/>
              </a:rPr>
              <a:t>)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M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rboa</a:t>
            </a:r>
            <a:r>
              <a:rPr sz="1700" dirty="0">
                <a:latin typeface="Times New Roman"/>
                <a:cs typeface="Times New Roman"/>
              </a:rPr>
              <a:t>rd.</a:t>
            </a:r>
          </a:p>
          <a:p>
            <a:pPr marL="225716" marR="5192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Vir</a:t>
            </a:r>
            <a:r>
              <a:rPr sz="1700" b="1" spc="-2" dirty="0">
                <a:latin typeface="Times New Roman"/>
                <a:cs typeface="Times New Roman"/>
              </a:rPr>
              <a:t>tual</a:t>
            </a:r>
            <a:r>
              <a:rPr sz="1700" b="1" spc="29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y: </a:t>
            </a:r>
            <a:r>
              <a:rPr sz="1700" spc="-5" dirty="0">
                <a:latin typeface="Times New Roman"/>
                <a:cs typeface="Times New Roman"/>
              </a:rPr>
              <a:t>Virtu</a:t>
            </a:r>
            <a:r>
              <a:rPr sz="1700" spc="-2" dirty="0">
                <a:latin typeface="Times New Roman"/>
                <a:cs typeface="Times New Roman"/>
              </a:rPr>
              <a:t>al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portion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SSD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serv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up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1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ory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CP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du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the worklo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on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</p:txBody>
      </p:sp>
    </p:spTree>
    <p:extLst>
      <p:ext uri="{BB962C8B-B14F-4D97-AF65-F5344CB8AC3E}">
        <p14:creationId xmlns:p14="http://schemas.microsoft.com/office/powerpoint/2010/main" val="3626075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9CEBA-8986-8234-202F-0D3F230A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FCF44-74ED-DAEC-BBA6-79E586045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C37370-7E85-EE9B-82E5-39D4DF7BDA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BA7BD39-F02E-4A67-AE60-7C2274EE59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2017B4-D811-6E71-E184-635B864C8E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08AA123-0BD3-483D-4388-A4C2621390B0}"/>
              </a:ext>
            </a:extLst>
          </p:cNvPr>
          <p:cNvSpPr txBox="1"/>
          <p:nvPr/>
        </p:nvSpPr>
        <p:spPr>
          <a:xfrm>
            <a:off x="1013700" y="819150"/>
            <a:ext cx="70635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3971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Vir</a:t>
            </a:r>
            <a:r>
              <a:rPr sz="1700" b="1" spc="-2" dirty="0">
                <a:latin typeface="Times New Roman"/>
                <a:cs typeface="Times New Roman"/>
              </a:rPr>
              <a:t>tual</a:t>
            </a:r>
            <a:r>
              <a:rPr sz="1700" b="1" spc="7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add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MM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maps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endParaRPr sz="1700" dirty="0">
              <a:latin typeface="Times New Roman"/>
              <a:cs typeface="Times New Roman"/>
            </a:endParaRPr>
          </a:p>
          <a:p>
            <a:pPr marL="225716"/>
            <a:r>
              <a:rPr sz="1700" spc="-2" dirty="0">
                <a:latin typeface="Times New Roman"/>
                <a:cs typeface="Times New Roman"/>
              </a:rPr>
              <a:t>to the </a:t>
            </a:r>
            <a:r>
              <a:rPr sz="1700" dirty="0">
                <a:latin typeface="Times New Roman"/>
                <a:cs typeface="Times New Roman"/>
              </a:rPr>
              <a:t>bus.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spa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und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CPU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ontrol.</a:t>
            </a:r>
            <a:endParaRPr sz="1700" dirty="0">
              <a:latin typeface="Times New Roman"/>
              <a:cs typeface="Times New Roman"/>
            </a:endParaRPr>
          </a:p>
          <a:p>
            <a:pPr marL="225716" marR="3665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Physical</a:t>
            </a:r>
            <a:r>
              <a:rPr sz="1700" b="1" spc="51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add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locati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 spa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ph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spc="-5" dirty="0">
                <a:latin typeface="Times New Roman"/>
                <a:cs typeface="Times New Roman"/>
              </a:rPr>
              <a:t>sica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spo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ding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CP</a:t>
            </a:r>
            <a:r>
              <a:rPr sz="1700" spc="1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rtu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sses.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spa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p</a:t>
            </a:r>
            <a:r>
              <a:rPr sz="1700" spc="-2" dirty="0">
                <a:latin typeface="Times New Roman"/>
                <a:cs typeface="Times New Roman"/>
              </a:rPr>
              <a:t>hysic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und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MM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ntrol.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971" algn="just"/>
            <a:r>
              <a:rPr sz="1700" i="1" spc="-5" dirty="0">
                <a:latin typeface="Times New Roman"/>
                <a:cs typeface="Times New Roman"/>
              </a:rPr>
              <a:t>By</a:t>
            </a:r>
            <a:r>
              <a:rPr sz="1700" i="1" spc="53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assi</a:t>
            </a:r>
            <a:r>
              <a:rPr sz="1700" i="1" spc="-5" dirty="0">
                <a:latin typeface="Times New Roman"/>
                <a:cs typeface="Times New Roman"/>
              </a:rPr>
              <a:t>gning</a:t>
            </a:r>
            <a:r>
              <a:rPr sz="1700" i="1" spc="58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an</a:t>
            </a:r>
            <a:r>
              <a:rPr sz="1700" i="1" spc="5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addr</a:t>
            </a:r>
            <a:r>
              <a:rPr sz="1700" i="1" spc="-2" dirty="0">
                <a:latin typeface="Times New Roman"/>
                <a:cs typeface="Times New Roman"/>
              </a:rPr>
              <a:t>es</a:t>
            </a:r>
            <a:r>
              <a:rPr sz="1700" i="1" dirty="0">
                <a:latin typeface="Times New Roman"/>
                <a:cs typeface="Times New Roman"/>
              </a:rPr>
              <a:t>s</a:t>
            </a:r>
            <a:r>
              <a:rPr sz="1700" i="1" spc="63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to</a:t>
            </a:r>
            <a:r>
              <a:rPr sz="1700" i="1" spc="58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</a:t>
            </a:r>
            <a:r>
              <a:rPr sz="1700" i="1" spc="55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piece</a:t>
            </a:r>
            <a:r>
              <a:rPr sz="1700" i="1" spc="53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of</a:t>
            </a:r>
            <a:r>
              <a:rPr sz="1700" i="1" spc="58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data</a:t>
            </a:r>
            <a:r>
              <a:rPr sz="1700" i="1" spc="58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using</a:t>
            </a:r>
            <a:r>
              <a:rPr sz="1700" i="1" spc="63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</a:t>
            </a:r>
            <a:r>
              <a:rPr sz="1700" i="1" spc="55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"page</a:t>
            </a:r>
            <a:r>
              <a:rPr sz="1700" i="1" spc="53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tabl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"</a:t>
            </a:r>
            <a:r>
              <a:rPr sz="1700" i="1" spc="55" dirty="0">
                <a:latin typeface="Times New Roman"/>
                <a:cs typeface="Times New Roman"/>
              </a:rPr>
              <a:t> </a:t>
            </a:r>
            <a:r>
              <a:rPr sz="1700" i="1" spc="5" dirty="0">
                <a:latin typeface="Times New Roman"/>
                <a:cs typeface="Times New Roman"/>
              </a:rPr>
              <a:t>b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-5" dirty="0">
                <a:latin typeface="Times New Roman"/>
                <a:cs typeface="Times New Roman"/>
              </a:rPr>
              <a:t>tw</a:t>
            </a:r>
            <a:r>
              <a:rPr sz="1700" i="1" spc="-7" dirty="0">
                <a:latin typeface="Times New Roman"/>
                <a:cs typeface="Times New Roman"/>
              </a:rPr>
              <a:t>ee</a:t>
            </a:r>
            <a:r>
              <a:rPr sz="1700" i="1" dirty="0">
                <a:latin typeface="Times New Roman"/>
                <a:cs typeface="Times New Roman"/>
              </a:rPr>
              <a:t>n</a:t>
            </a:r>
            <a:r>
              <a:rPr sz="1700" i="1" spc="60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the</a:t>
            </a:r>
            <a:r>
              <a:rPr sz="1700" i="1" spc="55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C</a:t>
            </a:r>
            <a:r>
              <a:rPr sz="1700" i="1" dirty="0">
                <a:latin typeface="Times New Roman"/>
                <a:cs typeface="Times New Roman"/>
              </a:rPr>
              <a:t>PU</a:t>
            </a:r>
            <a:r>
              <a:rPr sz="1700" i="1" spc="55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and</a:t>
            </a:r>
            <a:r>
              <a:rPr sz="1700" i="1" spc="55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the </a:t>
            </a:r>
            <a:r>
              <a:rPr sz="1700" i="1" spc="-7" dirty="0">
                <a:latin typeface="Times New Roman"/>
                <a:cs typeface="Times New Roman"/>
              </a:rPr>
              <a:t>c</a:t>
            </a:r>
            <a:r>
              <a:rPr sz="1700" i="1" spc="-5" dirty="0">
                <a:latin typeface="Times New Roman"/>
                <a:cs typeface="Times New Roman"/>
              </a:rPr>
              <a:t>omput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r'</a:t>
            </a:r>
            <a:r>
              <a:rPr sz="1700" i="1" dirty="0">
                <a:latin typeface="Times New Roman"/>
                <a:cs typeface="Times New Roman"/>
              </a:rPr>
              <a:t>s </a:t>
            </a:r>
            <a:r>
              <a:rPr sz="1700" i="1" spc="-48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physica</a:t>
            </a:r>
            <a:r>
              <a:rPr sz="1700" i="1" spc="-2" dirty="0">
                <a:latin typeface="Times New Roman"/>
                <a:cs typeface="Times New Roman"/>
              </a:rPr>
              <a:t>l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46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m</a:t>
            </a:r>
            <a:r>
              <a:rPr sz="1700" i="1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mor</a:t>
            </a:r>
            <a:r>
              <a:rPr sz="1700" i="1" spc="-5" dirty="0">
                <a:latin typeface="Times New Roman"/>
                <a:cs typeface="Times New Roman"/>
              </a:rPr>
              <a:t>y</a:t>
            </a:r>
            <a:r>
              <a:rPr sz="1700" i="1" dirty="0">
                <a:latin typeface="Times New Roman"/>
                <a:cs typeface="Times New Roman"/>
              </a:rPr>
              <a:t>, </a:t>
            </a:r>
            <a:r>
              <a:rPr sz="1700" i="1" spc="-48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 </a:t>
            </a:r>
            <a:r>
              <a:rPr sz="1700" i="1" spc="-48" dirty="0">
                <a:latin typeface="Times New Roman"/>
                <a:cs typeface="Times New Roman"/>
              </a:rPr>
              <a:t> </a:t>
            </a:r>
            <a:r>
              <a:rPr sz="1700" i="1" spc="-7" dirty="0">
                <a:latin typeface="Times New Roman"/>
                <a:cs typeface="Times New Roman"/>
              </a:rPr>
              <a:t>c</a:t>
            </a:r>
            <a:r>
              <a:rPr sz="1700" i="1" spc="-5" dirty="0">
                <a:latin typeface="Times New Roman"/>
                <a:cs typeface="Times New Roman"/>
              </a:rPr>
              <a:t>omput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r'</a:t>
            </a:r>
            <a:r>
              <a:rPr sz="1700" i="1" dirty="0">
                <a:latin typeface="Times New Roman"/>
                <a:cs typeface="Times New Roman"/>
              </a:rPr>
              <a:t>s </a:t>
            </a:r>
            <a:r>
              <a:rPr sz="1700" i="1" spc="-48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M</a:t>
            </a:r>
            <a:r>
              <a:rPr sz="1700" i="1" spc="2" dirty="0">
                <a:latin typeface="Times New Roman"/>
                <a:cs typeface="Times New Roman"/>
              </a:rPr>
              <a:t>M</a:t>
            </a:r>
            <a:r>
              <a:rPr sz="1700" i="1" dirty="0">
                <a:latin typeface="Times New Roman"/>
                <a:cs typeface="Times New Roman"/>
              </a:rPr>
              <a:t>U </a:t>
            </a:r>
            <a:r>
              <a:rPr sz="1700" i="1" spc="-48" dirty="0">
                <a:latin typeface="Times New Roman"/>
                <a:cs typeface="Times New Roman"/>
              </a:rPr>
              <a:t> 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-5" dirty="0">
                <a:latin typeface="Times New Roman"/>
                <a:cs typeface="Times New Roman"/>
              </a:rPr>
              <a:t>nables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48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the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48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syste</a:t>
            </a:r>
            <a:r>
              <a:rPr sz="1700" i="1" dirty="0">
                <a:latin typeface="Times New Roman"/>
                <a:cs typeface="Times New Roman"/>
              </a:rPr>
              <a:t>m </a:t>
            </a:r>
            <a:r>
              <a:rPr sz="1700" i="1" spc="-51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to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46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retri</a:t>
            </a:r>
            <a:r>
              <a:rPr sz="1700" i="1" spc="-7" dirty="0">
                <a:latin typeface="Times New Roman"/>
                <a:cs typeface="Times New Roman"/>
              </a:rPr>
              <a:t>ev</a:t>
            </a:r>
            <a:r>
              <a:rPr sz="1700" i="1" spc="-5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51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that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46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data</a:t>
            </a:r>
            <a:r>
              <a:rPr sz="1700" i="1" spc="-2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wh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-5" dirty="0">
                <a:latin typeface="Times New Roman"/>
                <a:cs typeface="Times New Roman"/>
              </a:rPr>
              <a:t>n</a:t>
            </a:r>
            <a:r>
              <a:rPr sz="1700" i="1" spc="-7" dirty="0">
                <a:latin typeface="Times New Roman"/>
                <a:cs typeface="Times New Roman"/>
              </a:rPr>
              <a:t>eve</a:t>
            </a:r>
            <a:r>
              <a:rPr sz="1700" i="1" dirty="0">
                <a:latin typeface="Times New Roman"/>
                <a:cs typeface="Times New Roman"/>
              </a:rPr>
              <a:t>r</a:t>
            </a:r>
            <a:r>
              <a:rPr sz="1700" i="1" spc="-2" dirty="0">
                <a:latin typeface="Times New Roman"/>
                <a:cs typeface="Times New Roman"/>
              </a:rPr>
              <a:t> </a:t>
            </a:r>
            <a:r>
              <a:rPr sz="1700" i="1" spc="5" dirty="0">
                <a:latin typeface="Times New Roman"/>
                <a:cs typeface="Times New Roman"/>
              </a:rPr>
              <a:t>n</a:t>
            </a:r>
            <a:r>
              <a:rPr sz="1700" i="1" spc="-7" dirty="0">
                <a:latin typeface="Times New Roman"/>
                <a:cs typeface="Times New Roman"/>
              </a:rPr>
              <a:t>ee</a:t>
            </a:r>
            <a:r>
              <a:rPr sz="1700" i="1" spc="-5" dirty="0">
                <a:latin typeface="Times New Roman"/>
                <a:cs typeface="Times New Roman"/>
              </a:rPr>
              <a:t>d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d.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99454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A85F8-B747-A45E-9C2C-B1A04808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CD565B-510D-6200-4484-DD582895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96CD4E-ADEC-45B4-8FF4-299F8869F5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1C2FABC-20C2-43EE-9B69-6B898F43B8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05BFF0-A04A-7DE0-9117-AF1E068744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8120ED5-32FF-40F8-3C35-AEEC7F318B3D}"/>
              </a:ext>
            </a:extLst>
          </p:cNvPr>
          <p:cNvSpPr txBox="1"/>
          <p:nvPr/>
        </p:nvSpPr>
        <p:spPr>
          <a:xfrm>
            <a:off x="1013700" y="819150"/>
            <a:ext cx="70635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Paging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/>
            <a:endParaRPr lang="en-US" sz="1700" spc="-5" dirty="0">
              <a:latin typeface="Times New Roman"/>
              <a:cs typeface="Times New Roman"/>
            </a:endParaRPr>
          </a:p>
          <a:p>
            <a:pPr marL="225716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Ext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rn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f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voided</a:t>
            </a:r>
            <a:r>
              <a:rPr lang="en-US" sz="1700" dirty="0">
                <a:latin typeface="Times New Roman"/>
                <a:cs typeface="Times New Roman"/>
              </a:rPr>
              <a:t> by </a:t>
            </a:r>
            <a:r>
              <a:rPr lang="en-US" sz="1700" spc="-5" dirty="0">
                <a:latin typeface="Times New Roman"/>
                <a:cs typeface="Times New Roman"/>
              </a:rPr>
              <a:t>using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pa</a:t>
            </a:r>
            <a:r>
              <a:rPr lang="en-US" sz="1700" spc="-7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ing</a:t>
            </a:r>
            <a:r>
              <a:rPr lang="en-US" sz="1700" spc="-2" dirty="0">
                <a:latin typeface="Times New Roman"/>
                <a:cs typeface="Times New Roman"/>
              </a:rPr>
              <a:t> 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hnique.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749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ging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5" dirty="0">
                <a:latin typeface="Times New Roman"/>
                <a:cs typeface="Times New Roman"/>
              </a:rPr>
              <a:t> a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5" dirty="0">
                <a:latin typeface="Times New Roman"/>
                <a:cs typeface="Times New Roman"/>
              </a:rPr>
              <a:t>hnique</a:t>
            </a:r>
            <a:r>
              <a:rPr lang="en-US" sz="1700" spc="-2" dirty="0">
                <a:latin typeface="Times New Roman"/>
                <a:cs typeface="Times New Roman"/>
              </a:rPr>
              <a:t> in </a:t>
            </a:r>
            <a:r>
              <a:rPr lang="en-US" sz="1700" spc="-7" dirty="0">
                <a:latin typeface="Times New Roman"/>
                <a:cs typeface="Times New Roman"/>
              </a:rPr>
              <a:t>whic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physi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is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brok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 int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blocks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sa</a:t>
            </a:r>
            <a:r>
              <a:rPr lang="en-US" sz="1700" spc="-5" dirty="0">
                <a:latin typeface="Times New Roman"/>
                <a:cs typeface="Times New Roman"/>
              </a:rPr>
              <a:t>me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size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(si</a:t>
            </a:r>
            <a:r>
              <a:rPr lang="en-US" sz="1700" spc="-7" dirty="0">
                <a:latin typeface="Times New Roman"/>
                <a:cs typeface="Times New Roman"/>
              </a:rPr>
              <a:t>z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is </a:t>
            </a:r>
            <a:r>
              <a:rPr lang="en-US" sz="1700" dirty="0">
                <a:latin typeface="Times New Roman"/>
                <a:cs typeface="Times New Roman"/>
              </a:rPr>
              <a:t>po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of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2,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5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n 512 </a:t>
            </a:r>
            <a:r>
              <a:rPr lang="en-US" sz="1700" spc="-5" dirty="0">
                <a:latin typeface="Times New Roman"/>
                <a:cs typeface="Times New Roman"/>
              </a:rPr>
              <a:t>byt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8192 </a:t>
            </a:r>
            <a:r>
              <a:rPr lang="en-US" sz="1700" spc="-2" dirty="0">
                <a:latin typeface="Times New Roman"/>
                <a:cs typeface="Times New Roman"/>
              </a:rPr>
              <a:t>bytes</a:t>
            </a:r>
            <a:r>
              <a:rPr lang="en-US" sz="1700" spc="-5" dirty="0">
                <a:latin typeface="Times New Roman"/>
                <a:cs typeface="Times New Roman"/>
              </a:rPr>
              <a:t>)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marR="3054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uted,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orr</a:t>
            </a:r>
            <a:r>
              <a:rPr lang="en-US" sz="1700" spc="-7" dirty="0">
                <a:latin typeface="Times New Roman"/>
                <a:cs typeface="Times New Roman"/>
              </a:rPr>
              <a:t>espond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g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load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ny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il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f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mes.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Logi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sp</a:t>
            </a:r>
            <a:r>
              <a:rPr lang="en-US" sz="1700" spc="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no</a:t>
            </a:r>
            <a:r>
              <a:rPr lang="en-US" sz="1700" spc="1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dirty="0">
                <a:latin typeface="Times New Roman"/>
                <a:cs typeface="Times New Roman"/>
              </a:rPr>
              <a:t>guous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is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llo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ted </a:t>
            </a:r>
            <a:r>
              <a:rPr lang="en-US" sz="1700" spc="-5" dirty="0">
                <a:latin typeface="Times New Roman"/>
                <a:cs typeface="Times New Roman"/>
              </a:rPr>
              <a:t>physi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w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</a:t>
            </a:r>
            <a:r>
              <a:rPr lang="en-US" sz="1700" dirty="0">
                <a:latin typeface="Times New Roman"/>
                <a:cs typeface="Times New Roman"/>
              </a:rPr>
              <a:t>ory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il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3971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Op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ng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k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ps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k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ng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ds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 f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mes</a:t>
            </a:r>
            <a:r>
              <a:rPr lang="en-US" sz="1700" spc="-2" dirty="0">
                <a:latin typeface="Times New Roman"/>
                <a:cs typeface="Times New Roman"/>
              </a:rPr>
              <a:t> to </a:t>
            </a:r>
            <a:r>
              <a:rPr lang="en-US" sz="1700" dirty="0">
                <a:latin typeface="Times New Roman"/>
                <a:cs typeface="Times New Roman"/>
              </a:rPr>
              <a:t>run </a:t>
            </a:r>
            <a:r>
              <a:rPr lang="en-US" sz="1700" spc="-5" dirty="0">
                <a:latin typeface="Times New Roman"/>
                <a:cs typeface="Times New Roman"/>
              </a:rPr>
              <a:t>a </a:t>
            </a:r>
            <a:r>
              <a:rPr lang="en-US" sz="1700" dirty="0">
                <a:latin typeface="Times New Roman"/>
                <a:cs typeface="Times New Roman"/>
              </a:rPr>
              <a:t>progr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of </a:t>
            </a:r>
            <a:r>
              <a:rPr lang="en-US" sz="1700" spc="-5" dirty="0">
                <a:latin typeface="Times New Roman"/>
                <a:cs typeface="Times New Roman"/>
              </a:rPr>
              <a:t>size</a:t>
            </a:r>
            <a:r>
              <a:rPr lang="en-US" sz="1700" dirty="0">
                <a:latin typeface="Times New Roman"/>
                <a:cs typeface="Times New Roman"/>
              </a:rPr>
              <a:t> n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4097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C98-EA31-9C2D-6E1F-1310505E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7BA580-244B-F266-F5CD-F5208F53C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23C969-A4C6-FD52-3A87-049F7F32A9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7333171-A258-5681-74F0-0241A439281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FC5901-AFC9-AFB5-16CD-F5D564F5B9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D788C81-BADF-D99A-0E82-0F1377216870}"/>
              </a:ext>
            </a:extLst>
          </p:cNvPr>
          <p:cNvSpPr txBox="1"/>
          <p:nvPr/>
        </p:nvSpPr>
        <p:spPr>
          <a:xfrm>
            <a:off x="1013700" y="819150"/>
            <a:ext cx="34821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lang="en-US" sz="1700" spc="-2" dirty="0">
                <a:latin typeface="Times New Roman"/>
                <a:cs typeface="Times New Roman"/>
              </a:rPr>
              <a:t>Add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-2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ted </a:t>
            </a:r>
            <a:r>
              <a:rPr lang="en-US" sz="1700" dirty="0">
                <a:latin typeface="Times New Roman"/>
                <a:cs typeface="Times New Roman"/>
              </a:rPr>
              <a:t>by C</a:t>
            </a:r>
            <a:r>
              <a:rPr lang="en-US" sz="1700" spc="7" dirty="0">
                <a:latin typeface="Times New Roman"/>
                <a:cs typeface="Times New Roman"/>
              </a:rPr>
              <a:t>P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-2" dirty="0">
                <a:latin typeface="Times New Roman"/>
                <a:cs typeface="Times New Roman"/>
              </a:rPr>
              <a:t> is </a:t>
            </a:r>
            <a:r>
              <a:rPr lang="en-US" sz="1700" spc="-5" dirty="0">
                <a:latin typeface="Times New Roman"/>
                <a:cs typeface="Times New Roman"/>
              </a:rPr>
              <a:t>divided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into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Page</a:t>
            </a:r>
            <a:r>
              <a:rPr lang="en-US" sz="1700" b="1" spc="7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nu</a:t>
            </a:r>
            <a:r>
              <a:rPr lang="en-US" sz="1700" b="1" spc="-2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b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r</a:t>
            </a:r>
            <a:r>
              <a:rPr lang="en-US" sz="1700" b="1" spc="7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(p)</a:t>
            </a:r>
            <a:r>
              <a:rPr lang="en-US" sz="1700" b="1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dirty="0">
                <a:latin typeface="Times New Roman"/>
                <a:cs typeface="Times New Roman"/>
              </a:rPr>
              <a:t>-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number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spc="-10" dirty="0">
                <a:latin typeface="Times New Roman"/>
                <a:cs typeface="Times New Roman"/>
              </a:rPr>
              <a:t>n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x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table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wh</a:t>
            </a:r>
            <a:r>
              <a:rPr lang="en-US" sz="1700" spc="-7" dirty="0">
                <a:latin typeface="Times New Roman"/>
                <a:cs typeface="Times New Roman"/>
              </a:rPr>
              <a:t>ic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ontains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dd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of 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in </a:t>
            </a:r>
            <a:r>
              <a:rPr lang="en-US" sz="1700" dirty="0">
                <a:latin typeface="Times New Roman"/>
                <a:cs typeface="Times New Roman"/>
              </a:rPr>
              <a:t>phys</a:t>
            </a:r>
            <a:r>
              <a:rPr lang="en-US" sz="1700" spc="-2" dirty="0">
                <a:latin typeface="Times New Roman"/>
                <a:cs typeface="Times New Roman"/>
              </a:rPr>
              <a:t>ic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Page</a:t>
            </a:r>
            <a:r>
              <a:rPr lang="en-US" sz="1700" b="1" spc="70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of</a:t>
            </a:r>
            <a:r>
              <a:rPr lang="en-US" sz="1700" b="1" spc="-5" dirty="0">
                <a:latin typeface="Times New Roman"/>
                <a:cs typeface="Times New Roman"/>
              </a:rPr>
              <a:t>f</a:t>
            </a:r>
            <a:r>
              <a:rPr lang="en-US" sz="1700" b="1" spc="-2" dirty="0">
                <a:latin typeface="Times New Roman"/>
                <a:cs typeface="Times New Roman"/>
              </a:rPr>
              <a:t>s</a:t>
            </a:r>
            <a:r>
              <a:rPr lang="en-US" sz="1700" b="1" spc="2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t </a:t>
            </a:r>
            <a:r>
              <a:rPr lang="en-US" sz="1700" b="1" spc="-7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(d) 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dirty="0">
                <a:latin typeface="Times New Roman"/>
                <a:cs typeface="Times New Roman"/>
              </a:rPr>
              <a:t>-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set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ombin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e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dd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fine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physi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l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0" y="819150"/>
            <a:ext cx="3810000" cy="3810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664670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A4FA-DC8B-48DA-B5CC-DCBB3681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BBE81-E3E1-974E-1596-566C5FDC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83B95-565B-E5D4-24D2-9CBFAE00C0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91C5E24-BDC6-6AE0-2B08-1DA5BEEF7AD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D4EFBF-CA51-A364-B442-0DF4336E23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700" y="819150"/>
            <a:ext cx="7063500" cy="39241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749" algn="just"/>
            <a:r>
              <a:rPr lang="en-US" sz="1700" b="1" spc="-5" dirty="0">
                <a:latin typeface="Times New Roman"/>
                <a:cs typeface="Times New Roman"/>
              </a:rPr>
              <a:t>THE P</a:t>
            </a:r>
            <a:r>
              <a:rPr lang="en-US" sz="1700" b="1" spc="-2" dirty="0">
                <a:latin typeface="Times New Roman"/>
                <a:cs typeface="Times New Roman"/>
              </a:rPr>
              <a:t>A</a:t>
            </a:r>
            <a:r>
              <a:rPr lang="en-US" sz="1700" b="1" spc="-5" dirty="0">
                <a:latin typeface="Times New Roman"/>
                <a:cs typeface="Times New Roman"/>
              </a:rPr>
              <a:t>GING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PROC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SS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749" algn="just"/>
            <a:endParaRPr lang="en-US"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efinit</a:t>
            </a:r>
            <a:r>
              <a:rPr sz="1700" dirty="0">
                <a:latin typeface="Times New Roman"/>
                <a:cs typeface="Times New Roman"/>
              </a:rPr>
              <a:t>ion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ta,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MMU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tri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orr</a:t>
            </a:r>
            <a:r>
              <a:rPr sz="1700" spc="-7" dirty="0">
                <a:latin typeface="Times New Roman"/>
                <a:cs typeface="Times New Roman"/>
              </a:rPr>
              <a:t>espond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mes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er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ing. </a:t>
            </a:r>
            <a:r>
              <a:rPr sz="1700" spc="-5" dirty="0">
                <a:latin typeface="Times New Roman"/>
                <a:cs typeface="Times New Roman"/>
              </a:rPr>
              <a:t>The 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ing.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192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MM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tables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2" dirty="0">
                <a:latin typeface="Times New Roman"/>
                <a:cs typeface="Times New Roman"/>
              </a:rPr>
              <a:t>es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ntry indi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ted: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2" dirty="0">
                <a:latin typeface="Times New Roman"/>
                <a:cs typeface="Times New Roman"/>
              </a:rPr>
              <a:t>multi-lev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page </a:t>
            </a:r>
            <a:r>
              <a:rPr sz="1700" spc="-2" dirty="0">
                <a:latin typeface="Times New Roman"/>
                <a:cs typeface="Times New Roman"/>
              </a:rPr>
              <a:t>table suc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di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gments.</a:t>
            </a:r>
            <a:endParaRPr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sz="1700" spc="-2" dirty="0">
                <a:latin typeface="Times New Roman"/>
                <a:cs typeface="Times New Roman"/>
              </a:rPr>
              <a:t>How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onst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lookups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slo</a:t>
            </a:r>
            <a:r>
              <a:rPr sz="1700" dirty="0">
                <a:latin typeface="Times New Roman"/>
                <a:cs typeface="Times New Roman"/>
              </a:rPr>
              <a:t>w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down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MMU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cac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Tra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Look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side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TLB)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for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pid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tri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l.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TLBs,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side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ons, </a:t>
            </a:r>
            <a:r>
              <a:rPr sz="1700" spc="-2" dirty="0">
                <a:latin typeface="Times New Roman"/>
                <a:cs typeface="Times New Roman"/>
              </a:rPr>
              <a:t>including </a:t>
            </a:r>
            <a:r>
              <a:rPr sz="1700" spc="-5" dirty="0">
                <a:latin typeface="Times New Roman"/>
                <a:cs typeface="Times New Roman"/>
              </a:rPr>
              <a:t>betw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CPU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AM</a:t>
            </a:r>
            <a:r>
              <a:rPr sz="1700" dirty="0">
                <a:latin typeface="Times New Roman"/>
                <a:cs typeface="Times New Roman"/>
              </a:rPr>
              <a:t>, 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multiple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table lev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9376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715C-1DF0-F1AC-CA36-FC3B775C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84D03B-6281-E6D9-A9F7-8B794EFAA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E2F477-7E69-6237-E618-CAD2882669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49D33DD-52E4-B946-1432-ACFFED2BBD73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B06716-95D7-B230-7503-0BC579DCB3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6ACFD4F-5128-3816-0A02-5E59BFFC863F}"/>
              </a:ext>
            </a:extLst>
          </p:cNvPr>
          <p:cNvSpPr txBox="1"/>
          <p:nvPr/>
        </p:nvSpPr>
        <p:spPr>
          <a:xfrm>
            <a:off x="1013700" y="819150"/>
            <a:ext cx="70635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smalle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mat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</a:t>
            </a:r>
            <a:r>
              <a:rPr sz="1700" spc="12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-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mes.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4KB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2MB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G</a:t>
            </a:r>
            <a:r>
              <a:rPr sz="1700" spc="7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dirty="0">
                <a:latin typeface="Times New Roman"/>
                <a:cs typeface="Times New Roman"/>
              </a:rPr>
              <a:t>h-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rve</a:t>
            </a:r>
            <a:r>
              <a:rPr sz="1700" dirty="0">
                <a:latin typeface="Times New Roman"/>
                <a:cs typeface="Times New Roman"/>
              </a:rPr>
              <a:t>rs.</a:t>
            </a: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iss</a:t>
            </a:r>
            <a:r>
              <a:rPr sz="1700" spc="-5" dirty="0">
                <a:latin typeface="Times New Roman"/>
                <a:cs typeface="Times New Roman"/>
              </a:rPr>
              <a:t>ue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hidden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probl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older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ind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ploym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(95, 98,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).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proble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(or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hidd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n)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Unlik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rious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al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ng,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dirty="0">
                <a:latin typeface="Times New Roman"/>
                <a:cs typeface="Times New Roman"/>
              </a:rPr>
              <a:t>urr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 </a:t>
            </a:r>
            <a:r>
              <a:rPr sz="1700" spc="-2" dirty="0">
                <a:latin typeface="Times New Roman"/>
                <a:cs typeface="Times New Roman"/>
              </a:rPr>
              <a:t>this 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iss</a:t>
            </a:r>
            <a:r>
              <a:rPr sz="1700" spc="-5" dirty="0">
                <a:latin typeface="Times New Roman"/>
                <a:cs typeface="Times New Roman"/>
              </a:rPr>
              <a:t>ue</a:t>
            </a:r>
            <a:r>
              <a:rPr sz="1700" spc="-2" dirty="0">
                <a:latin typeface="Times New Roman"/>
                <a:cs typeface="Times New Roman"/>
              </a:rPr>
              <a:t> in </a:t>
            </a:r>
            <a:r>
              <a:rPr sz="1700" spc="-5" dirty="0">
                <a:latin typeface="Times New Roman"/>
                <a:cs typeface="Times New Roman"/>
              </a:rPr>
              <a:t>mod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rn </a:t>
            </a:r>
            <a:r>
              <a:rPr sz="1700" spc="-1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indows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175582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56FE3-064E-4DC8-51F9-7916A85B1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1D41AD-F09F-E942-785D-4A918BE6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47CA46C-FC2F-2121-DEB8-400DD4DEB6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90A93E1-A6B3-2C02-4810-B2094B4B3BC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AD3F0A-E8D1-5118-817A-099FDBC455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B936CE3B-36D2-FEE5-6471-36228FCC8470}"/>
              </a:ext>
            </a:extLst>
          </p:cNvPr>
          <p:cNvSpPr txBox="1"/>
          <p:nvPr/>
        </p:nvSpPr>
        <p:spPr>
          <a:xfrm>
            <a:off x="1013700" y="819150"/>
            <a:ext cx="70635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WHAT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S S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GMEN</a:t>
            </a:r>
            <a:r>
              <a:rPr sz="1700" b="1" spc="-1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ATI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N?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582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s</a:t>
            </a:r>
            <a:r>
              <a:rPr sz="1700" i="1" spc="2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gm</a:t>
            </a:r>
            <a:r>
              <a:rPr sz="1700" i="1" spc="-5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ntation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spa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 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syst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m,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gments.</a:t>
            </a:r>
            <a:r>
              <a:rPr sz="1700" dirty="0">
                <a:latin typeface="Times New Roman"/>
                <a:cs typeface="Times New Roman"/>
              </a:rPr>
              <a:t> E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di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rtu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5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that 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spond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obj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971" algn="just"/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igns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gments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ste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ing.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maintains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se</a:t>
            </a:r>
            <a:r>
              <a:rPr sz="1700" spc="-5" dirty="0">
                <a:latin typeface="Times New Roman"/>
                <a:cs typeface="Times New Roman"/>
              </a:rPr>
              <a:t>gment,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ze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3736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A4FA-DC8B-48DA-B5CC-DCBB3681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BBE81-E3E1-974E-1596-566C5FDC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83B95-565B-E5D4-24D2-9CBFAE00C0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91C5E24-BDC6-6AE0-2B08-1DA5BEEF7AD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D4EFBF-CA51-A364-B442-0DF4336E23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14233" y="692514"/>
            <a:ext cx="4876800" cy="38080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2536695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A4FA-DC8B-48DA-B5CC-DCBB3681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FBBE81-E3E1-974E-1596-566C5FDC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83B95-565B-E5D4-24D2-9CBFAE00C0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91C5E24-BDC6-6AE0-2B08-1DA5BEEF7AD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D4EFBF-CA51-A364-B442-0DF4336E23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5838" y="819150"/>
            <a:ext cx="6985162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/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dirty="0">
                <a:latin typeface="Times New Roman"/>
                <a:cs typeface="Times New Roman"/>
              </a:rPr>
              <a:t> of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set.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fs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mount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2" dirty="0">
                <a:latin typeface="Times New Roman"/>
                <a:cs typeface="Times New Roman"/>
              </a:rPr>
              <a:t> the limit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wis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thro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sc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lcul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-2" dirty="0">
                <a:latin typeface="Times New Roman"/>
                <a:cs typeface="Times New Roman"/>
              </a:rPr>
              <a:t> 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invali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</p:txBody>
      </p:sp>
      <p:sp>
        <p:nvSpPr>
          <p:cNvPr id="5" name="object 5"/>
          <p:cNvSpPr/>
          <p:nvPr/>
        </p:nvSpPr>
        <p:spPr>
          <a:xfrm>
            <a:off x="1521013" y="2018895"/>
            <a:ext cx="6019800" cy="26102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375732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E6E5D-9E21-455E-E921-7A78391A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31082-DEA2-76BE-067E-8282EAFBA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BF4EF0-4DC3-7316-D598-EA97218BDA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19B5E0D-811C-A84F-8F74-5A10565F7E2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95BFA7-7FBB-91F7-F3BD-4D207E21808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/>
          <p:cNvSpPr txBox="1"/>
          <p:nvPr/>
        </p:nvSpPr>
        <p:spPr>
          <a:xfrm>
            <a:off x="1016448" y="819150"/>
            <a:ext cx="6984552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spc="-5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bove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figu</a:t>
            </a:r>
            <a:r>
              <a:rPr sz="1700" spc="-5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 show</a:t>
            </a:r>
            <a:r>
              <a:rPr sz="1700" dirty="0">
                <a:latin typeface="Times New Roman"/>
                <a:cs typeface="Times New Roman"/>
              </a:rPr>
              <a:t>s 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logic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054"/>
            <a:r>
              <a:rPr sz="1700" i="1" spc="-5" dirty="0">
                <a:latin typeface="Times New Roman"/>
                <a:cs typeface="Times New Roman"/>
              </a:rPr>
              <a:t>S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gm</a:t>
            </a:r>
            <a:r>
              <a:rPr sz="1700" i="1" spc="-5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ntation</a:t>
            </a:r>
            <a:r>
              <a:rPr sz="1700" i="1" spc="46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spe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ds</a:t>
            </a:r>
            <a:r>
              <a:rPr sz="1700" i="1" spc="51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up</a:t>
            </a:r>
            <a:r>
              <a:rPr sz="1700" i="1" spc="51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</a:t>
            </a:r>
            <a:r>
              <a:rPr sz="1700" i="1" spc="43" dirty="0">
                <a:latin typeface="Times New Roman"/>
                <a:cs typeface="Times New Roman"/>
              </a:rPr>
              <a:t> </a:t>
            </a:r>
            <a:r>
              <a:rPr sz="1700" i="1" spc="-7" dirty="0">
                <a:latin typeface="Times New Roman"/>
                <a:cs typeface="Times New Roman"/>
              </a:rPr>
              <a:t>c</a:t>
            </a:r>
            <a:r>
              <a:rPr sz="1700" i="1" spc="-5" dirty="0">
                <a:latin typeface="Times New Roman"/>
                <a:cs typeface="Times New Roman"/>
              </a:rPr>
              <a:t>omput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spc="5" dirty="0">
                <a:latin typeface="Times New Roman"/>
                <a:cs typeface="Times New Roman"/>
              </a:rPr>
              <a:t>r</a:t>
            </a:r>
            <a:r>
              <a:rPr sz="1700" i="1" spc="-5" dirty="0">
                <a:latin typeface="Times New Roman"/>
                <a:cs typeface="Times New Roman"/>
              </a:rPr>
              <a:t>'</a:t>
            </a:r>
            <a:r>
              <a:rPr sz="1700" i="1" dirty="0">
                <a:latin typeface="Times New Roman"/>
                <a:cs typeface="Times New Roman"/>
              </a:rPr>
              <a:t>s</a:t>
            </a:r>
            <a:r>
              <a:rPr sz="1700" i="1" spc="46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informati</a:t>
            </a:r>
            <a:r>
              <a:rPr sz="1700" i="1" dirty="0">
                <a:latin typeface="Times New Roman"/>
                <a:cs typeface="Times New Roman"/>
              </a:rPr>
              <a:t>on</a:t>
            </a:r>
            <a:r>
              <a:rPr sz="1700" i="1" spc="43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retri</a:t>
            </a:r>
            <a:r>
              <a:rPr sz="1700" i="1" spc="-7" dirty="0">
                <a:latin typeface="Times New Roman"/>
                <a:cs typeface="Times New Roman"/>
              </a:rPr>
              <a:t>ev</a:t>
            </a:r>
            <a:r>
              <a:rPr sz="1700" i="1" spc="-2" dirty="0">
                <a:latin typeface="Times New Roman"/>
                <a:cs typeface="Times New Roman"/>
              </a:rPr>
              <a:t>al</a:t>
            </a:r>
            <a:r>
              <a:rPr sz="1700" i="1" spc="46" dirty="0">
                <a:latin typeface="Times New Roman"/>
                <a:cs typeface="Times New Roman"/>
              </a:rPr>
              <a:t> </a:t>
            </a:r>
            <a:r>
              <a:rPr sz="1700" i="1" spc="5" dirty="0">
                <a:latin typeface="Times New Roman"/>
                <a:cs typeface="Times New Roman"/>
              </a:rPr>
              <a:t>b</a:t>
            </a:r>
            <a:r>
              <a:rPr sz="1700" i="1" spc="-5" dirty="0">
                <a:latin typeface="Times New Roman"/>
                <a:cs typeface="Times New Roman"/>
              </a:rPr>
              <a:t>y</a:t>
            </a:r>
            <a:r>
              <a:rPr sz="1700" i="1" spc="43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assi</a:t>
            </a:r>
            <a:r>
              <a:rPr sz="1700" i="1" spc="-5" dirty="0">
                <a:latin typeface="Times New Roman"/>
                <a:cs typeface="Times New Roman"/>
              </a:rPr>
              <a:t>gning</a:t>
            </a:r>
            <a:r>
              <a:rPr sz="1700" i="1" spc="51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relat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d</a:t>
            </a:r>
            <a:r>
              <a:rPr sz="1700" i="1" spc="43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data</a:t>
            </a:r>
            <a:r>
              <a:rPr sz="1700" i="1" spc="46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int</a:t>
            </a:r>
            <a:r>
              <a:rPr sz="1700" i="1" dirty="0">
                <a:latin typeface="Times New Roman"/>
                <a:cs typeface="Times New Roman"/>
              </a:rPr>
              <a:t>o</a:t>
            </a:r>
            <a:r>
              <a:rPr sz="1700" i="1" spc="43" dirty="0">
                <a:latin typeface="Times New Roman"/>
                <a:cs typeface="Times New Roman"/>
              </a:rPr>
              <a:t> </a:t>
            </a:r>
            <a:r>
              <a:rPr sz="1700" i="1" dirty="0">
                <a:latin typeface="Times New Roman"/>
                <a:cs typeface="Times New Roman"/>
              </a:rPr>
              <a:t>a </a:t>
            </a:r>
            <a:r>
              <a:rPr sz="1700" i="1" spc="-2" dirty="0">
                <a:latin typeface="Times New Roman"/>
                <a:cs typeface="Times New Roman"/>
              </a:rPr>
              <a:t>"s</a:t>
            </a:r>
            <a:r>
              <a:rPr sz="1700" i="1" spc="-7" dirty="0">
                <a:latin typeface="Times New Roman"/>
                <a:cs typeface="Times New Roman"/>
              </a:rPr>
              <a:t>e</a:t>
            </a:r>
            <a:r>
              <a:rPr sz="1700" i="1" dirty="0">
                <a:latin typeface="Times New Roman"/>
                <a:cs typeface="Times New Roman"/>
              </a:rPr>
              <a:t>gm</a:t>
            </a:r>
            <a:r>
              <a:rPr sz="1700" i="1" spc="-5" dirty="0">
                <a:latin typeface="Times New Roman"/>
                <a:cs typeface="Times New Roman"/>
              </a:rPr>
              <a:t>e</a:t>
            </a:r>
            <a:r>
              <a:rPr sz="1700" i="1" spc="-2" dirty="0">
                <a:latin typeface="Times New Roman"/>
                <a:cs typeface="Times New Roman"/>
              </a:rPr>
              <a:t>nt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table"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5" dirty="0">
                <a:latin typeface="Times New Roman"/>
                <a:cs typeface="Times New Roman"/>
              </a:rPr>
              <a:t>b</a:t>
            </a:r>
            <a:r>
              <a:rPr sz="1700" i="1" spc="-10" dirty="0">
                <a:latin typeface="Times New Roman"/>
                <a:cs typeface="Times New Roman"/>
              </a:rPr>
              <a:t>e</a:t>
            </a:r>
            <a:r>
              <a:rPr sz="1700" i="1" spc="-5" dirty="0">
                <a:latin typeface="Times New Roman"/>
                <a:cs typeface="Times New Roman"/>
              </a:rPr>
              <a:t>tw</a:t>
            </a:r>
            <a:r>
              <a:rPr sz="1700" i="1" spc="-7" dirty="0">
                <a:latin typeface="Times New Roman"/>
                <a:cs typeface="Times New Roman"/>
              </a:rPr>
              <a:t>ee</a:t>
            </a:r>
            <a:r>
              <a:rPr sz="1700" i="1" dirty="0">
                <a:latin typeface="Times New Roman"/>
                <a:cs typeface="Times New Roman"/>
              </a:rPr>
              <a:t>n</a:t>
            </a:r>
            <a:r>
              <a:rPr sz="1700" i="1" spc="5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the </a:t>
            </a:r>
            <a:r>
              <a:rPr sz="1700" i="1" dirty="0">
                <a:latin typeface="Times New Roman"/>
                <a:cs typeface="Times New Roman"/>
              </a:rPr>
              <a:t>CPU and </a:t>
            </a:r>
            <a:r>
              <a:rPr sz="1700" i="1" spc="-2" dirty="0">
                <a:latin typeface="Times New Roman"/>
                <a:cs typeface="Times New Roman"/>
              </a:rPr>
              <a:t>the </a:t>
            </a:r>
            <a:r>
              <a:rPr sz="1700" i="1" spc="-5" dirty="0">
                <a:latin typeface="Times New Roman"/>
                <a:cs typeface="Times New Roman"/>
              </a:rPr>
              <a:t>physic</a:t>
            </a:r>
            <a:r>
              <a:rPr sz="1700" i="1" dirty="0">
                <a:latin typeface="Times New Roman"/>
                <a:cs typeface="Times New Roman"/>
              </a:rPr>
              <a:t>a</a:t>
            </a:r>
            <a:r>
              <a:rPr sz="1700" i="1" spc="-2" dirty="0">
                <a:latin typeface="Times New Roman"/>
                <a:cs typeface="Times New Roman"/>
              </a:rPr>
              <a:t>l</a:t>
            </a:r>
            <a:r>
              <a:rPr sz="1700" i="1" dirty="0">
                <a:latin typeface="Times New Roman"/>
                <a:cs typeface="Times New Roman"/>
              </a:rPr>
              <a:t> </a:t>
            </a:r>
            <a:r>
              <a:rPr sz="1700" i="1" spc="-2" dirty="0">
                <a:latin typeface="Times New Roman"/>
                <a:cs typeface="Times New Roman"/>
              </a:rPr>
              <a:t>memor</a:t>
            </a:r>
            <a:r>
              <a:rPr sz="1700" i="1" spc="-5" dirty="0">
                <a:latin typeface="Times New Roman"/>
                <a:cs typeface="Times New Roman"/>
              </a:rPr>
              <a:t>y</a:t>
            </a:r>
            <a:r>
              <a:rPr sz="1700" i="1" dirty="0">
                <a:latin typeface="Times New Roman"/>
                <a:cs typeface="Times New Roman"/>
              </a:rPr>
              <a:t>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k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-1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pie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piece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oup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lated in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or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ments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for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eac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for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ng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and</a:t>
            </a:r>
            <a:r>
              <a:rPr lang="en-US" sz="1700" spc="-2" dirty="0">
                <a:latin typeface="Times New Roman"/>
                <a:cs typeface="Times New Roman"/>
              </a:rPr>
              <a:t> s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225716" marR="2443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im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5" dirty="0">
                <a:latin typeface="Times New Roman"/>
                <a:cs typeface="Times New Roman"/>
              </a:rPr>
              <a:t>lem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nted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using</a:t>
            </a:r>
            <a:r>
              <a:rPr lang="en-US" sz="1700" dirty="0">
                <a:latin typeface="Times New Roman"/>
                <a:cs typeface="Times New Roman"/>
              </a:rPr>
              <a:t> or </a:t>
            </a:r>
            <a:r>
              <a:rPr lang="en-US" sz="1700" spc="-2" dirty="0">
                <a:latin typeface="Times New Roman"/>
                <a:cs typeface="Times New Roman"/>
              </a:rPr>
              <a:t>without</a:t>
            </a:r>
            <a:r>
              <a:rPr lang="en-US" sz="1700" dirty="0">
                <a:latin typeface="Times New Roman"/>
                <a:cs typeface="Times New Roman"/>
              </a:rPr>
              <a:t> us</a:t>
            </a:r>
            <a:r>
              <a:rPr lang="en-US" sz="1700" spc="-5" dirty="0">
                <a:latin typeface="Times New Roman"/>
                <a:cs typeface="Times New Roman"/>
              </a:rPr>
              <a:t>ing</a:t>
            </a:r>
            <a:r>
              <a:rPr lang="en-US" sz="1700" spc="-2" dirty="0">
                <a:latin typeface="Times New Roman"/>
                <a:cs typeface="Times New Roman"/>
              </a:rPr>
              <a:t> paging.</a:t>
            </a:r>
          </a:p>
          <a:p>
            <a:pPr marL="225716" marR="2443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7" dirty="0">
                <a:latin typeface="Times New Roman"/>
                <a:cs typeface="Times New Roman"/>
              </a:rPr>
              <a:t>Unlik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ging,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ving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rying</a:t>
            </a:r>
            <a:r>
              <a:rPr lang="en-US" sz="1700" dirty="0">
                <a:latin typeface="Times New Roman"/>
                <a:cs typeface="Times New Roman"/>
              </a:rPr>
              <a:t> 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size</a:t>
            </a:r>
            <a:r>
              <a:rPr lang="en-US" sz="1700" dirty="0">
                <a:latin typeface="Times New Roman"/>
                <a:cs typeface="Times New Roman"/>
              </a:rPr>
              <a:t>s and   thus   eliminates   internal f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225716" marR="2443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Ext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rn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f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till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exist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but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 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xtent.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982192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51080-F971-E2E1-31F0-81C864E3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1C12B-D1E6-2F69-E0CE-054D5582F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549740-145F-4BC4-9480-D95B15C1C6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F371FD70-E66B-A864-3473-1E7A149504D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458030-3243-7505-01B5-3F44171BFC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743200" y="1047750"/>
            <a:ext cx="2969414" cy="25312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2269041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15C96-B050-6E73-406D-9C4A2B2C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79A7C3-2275-383F-331C-A3BEC9F4C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34BB2B-EBF4-BDE3-1BF4-FEE155230F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28D4A8DB-C492-1FFE-5497-92449862DB8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CC6DDA-FFC1-89CC-D331-717CF93FA90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5226" y="742950"/>
            <a:ext cx="4242574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spc="-2" dirty="0">
                <a:latin typeface="Times New Roman"/>
                <a:cs typeface="Times New Roman"/>
              </a:rPr>
              <a:t>Add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 </a:t>
            </a:r>
            <a:r>
              <a:rPr sz="1700" dirty="0">
                <a:latin typeface="Times New Roman"/>
                <a:cs typeface="Times New Roman"/>
              </a:rPr>
              <a:t>by C</a:t>
            </a:r>
            <a:r>
              <a:rPr sz="1700" spc="7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spc="-5" dirty="0">
                <a:latin typeface="Times New Roman"/>
                <a:cs typeface="Times New Roman"/>
              </a:rPr>
              <a:t>divided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into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2749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g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</a:t>
            </a:r>
            <a:r>
              <a:rPr sz="1700" b="1" spc="-26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u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6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(s)</a:t>
            </a:r>
            <a:r>
              <a:rPr sz="1700" b="1" spc="-22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-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number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index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limit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gment.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g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nt</a:t>
            </a:r>
            <a:r>
              <a:rPr sz="1700" b="1" spc="-19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2" dirty="0">
                <a:latin typeface="Times New Roman"/>
                <a:cs typeface="Times New Roman"/>
              </a:rPr>
              <a:t>se</a:t>
            </a:r>
            <a:r>
              <a:rPr sz="1700" b="1" dirty="0">
                <a:latin typeface="Times New Roman"/>
                <a:cs typeface="Times New Roman"/>
              </a:rPr>
              <a:t>t</a:t>
            </a:r>
            <a:r>
              <a:rPr sz="1700" b="1" spc="-19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(</a:t>
            </a:r>
            <a:r>
              <a:rPr sz="1700" b="1" spc="2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)</a:t>
            </a:r>
            <a:r>
              <a:rPr sz="1700" b="1" spc="-17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dirty="0">
                <a:latin typeface="Times New Roman"/>
                <a:cs typeface="Times New Roman"/>
              </a:rPr>
              <a:t>-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limit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ombin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base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ne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2" name="object 6"/>
          <p:cNvSpPr txBox="1"/>
          <p:nvPr/>
        </p:nvSpPr>
        <p:spPr>
          <a:xfrm>
            <a:off x="6375651" y="3965361"/>
            <a:ext cx="1593663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100" i="1" spc="-2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ddre</a:t>
            </a:r>
            <a:r>
              <a:rPr sz="1100" i="1" spc="-7" dirty="0">
                <a:latin typeface="Times New Roman"/>
                <a:cs typeface="Times New Roman"/>
              </a:rPr>
              <a:t>s</a:t>
            </a:r>
            <a:r>
              <a:rPr sz="1100" i="1" dirty="0">
                <a:latin typeface="Times New Roman"/>
                <a:cs typeface="Times New Roman"/>
              </a:rPr>
              <a:t>s ge</a:t>
            </a:r>
            <a:r>
              <a:rPr sz="1100" i="1" spc="-7" dirty="0">
                <a:latin typeface="Times New Roman"/>
                <a:cs typeface="Times New Roman"/>
              </a:rPr>
              <a:t>n</a:t>
            </a:r>
            <a:r>
              <a:rPr sz="1100" i="1" dirty="0">
                <a:latin typeface="Times New Roman"/>
                <a:cs typeface="Times New Roman"/>
              </a:rPr>
              <a:t>er</a:t>
            </a:r>
            <a:r>
              <a:rPr sz="1100" i="1" spc="-7" dirty="0">
                <a:latin typeface="Times New Roman"/>
                <a:cs typeface="Times New Roman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ted </a:t>
            </a:r>
            <a:r>
              <a:rPr sz="1100" i="1" spc="-5" dirty="0">
                <a:latin typeface="Times New Roman"/>
                <a:cs typeface="Times New Roman"/>
              </a:rPr>
              <a:t>b</a:t>
            </a:r>
            <a:r>
              <a:rPr sz="1100" i="1" dirty="0">
                <a:latin typeface="Times New Roman"/>
                <a:cs typeface="Times New Roman"/>
              </a:rPr>
              <a:t>y C</a:t>
            </a:r>
            <a:r>
              <a:rPr sz="1100" i="1" spc="-5" dirty="0">
                <a:latin typeface="Times New Roman"/>
                <a:cs typeface="Times New Roman"/>
              </a:rPr>
              <a:t>P</a:t>
            </a:r>
            <a:r>
              <a:rPr sz="1100" i="1" dirty="0">
                <a:latin typeface="Times New Roman"/>
                <a:cs typeface="Times New Roman"/>
              </a:rPr>
              <a:t>U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4" name="object 8"/>
          <p:cNvSpPr/>
          <p:nvPr/>
        </p:nvSpPr>
        <p:spPr>
          <a:xfrm>
            <a:off x="5562600" y="949671"/>
            <a:ext cx="3219767" cy="2743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 dirty="0"/>
          </a:p>
        </p:txBody>
      </p:sp>
    </p:spTree>
    <p:extLst>
      <p:ext uri="{BB962C8B-B14F-4D97-AF65-F5344CB8AC3E}">
        <p14:creationId xmlns:p14="http://schemas.microsoft.com/office/powerpoint/2010/main" val="3113129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48105-209A-DA80-F7B5-2ECB0CBC3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C9B9FF-17A0-283E-B9EE-88FE6F8EB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178287-651B-23CD-3DBB-46E5D43760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0063B5E-07A5-C65F-8F17-186B436E052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6CB834-587E-6FBD-0B74-CA7C1622D0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25950" y="1047750"/>
            <a:ext cx="72921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latin typeface="Times New Roman"/>
                <a:cs typeface="Times New Roman"/>
              </a:rPr>
              <a:t>THE S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GMENTATI</a:t>
            </a:r>
            <a:r>
              <a:rPr sz="1700" b="1" spc="-10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ROCE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665" algn="just"/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prim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ion,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utiliti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ps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table</a:t>
            </a:r>
            <a:r>
              <a:rPr sz="1700" dirty="0">
                <a:latin typeface="Times New Roman"/>
                <a:cs typeface="Times New Roman"/>
              </a:rPr>
              <a:t> for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blocks,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long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2" dirty="0">
                <a:latin typeface="Times New Roman"/>
                <a:cs typeface="Times New Roman"/>
              </a:rPr>
              <a:t> identifi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5" dirty="0">
                <a:latin typeface="Times New Roman"/>
                <a:cs typeface="Times New Roman"/>
              </a:rPr>
              <a:t>The 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 virt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unning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7" dirty="0">
                <a:latin typeface="Times New Roman"/>
                <a:cs typeface="Times New Roman"/>
              </a:rPr>
              <a:t>Segme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PU</a:t>
            </a:r>
            <a:r>
              <a:rPr sz="1700" dirty="0">
                <a:latin typeface="Times New Roman"/>
                <a:cs typeface="Times New Roman"/>
              </a:rPr>
              <a:t>- 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uniq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nslation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strictly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2" dirty="0">
                <a:latin typeface="Times New Roman"/>
                <a:cs typeface="Times New Roman"/>
              </a:rPr>
              <a:t>e-to-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2" dirty="0">
                <a:latin typeface="Times New Roman"/>
                <a:cs typeface="Times New Roman"/>
              </a:rPr>
              <a:t>e: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virtu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sa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physi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2670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C315A-A395-385B-C2FC-9B2B3BA9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C53017-7919-A07B-1CE2-135B12FD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7D98E5-B279-8888-2BB3-A9A7E5BC02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39B5348-647C-B8A3-802A-A7E6A838069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3B68F-B793-CDCC-3806-91FA4745C6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0774233-44DE-C0F3-A1F3-E003BBCB4489}"/>
              </a:ext>
            </a:extLst>
          </p:cNvPr>
          <p:cNvSpPr txBox="1"/>
          <p:nvPr/>
        </p:nvSpPr>
        <p:spPr>
          <a:xfrm>
            <a:off x="1013700" y="742950"/>
            <a:ext cx="70635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latin typeface="Times New Roman"/>
                <a:cs typeface="Times New Roman"/>
              </a:rPr>
              <a:t>THE </a:t>
            </a:r>
            <a:r>
              <a:rPr sz="1700" b="1" spc="-2" dirty="0">
                <a:latin typeface="Times New Roman"/>
                <a:cs typeface="Times New Roman"/>
              </a:rPr>
              <a:t>CHAL</a:t>
            </a:r>
            <a:r>
              <a:rPr sz="1700" b="1" dirty="0">
                <a:latin typeface="Times New Roman"/>
                <a:cs typeface="Times New Roman"/>
              </a:rPr>
              <a:t>L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G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O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 F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AGM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NTAT</a:t>
            </a:r>
            <a:r>
              <a:rPr sz="1700" b="1" dirty="0">
                <a:latin typeface="Times New Roman"/>
                <a:cs typeface="Times New Roman"/>
              </a:rPr>
              <a:t>ION</a:t>
            </a:r>
            <a:endParaRPr sz="1700" dirty="0">
              <a:latin typeface="Times New Roman"/>
              <a:cs typeface="Times New Roman"/>
            </a:endParaRPr>
          </a:p>
          <a:p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971" algn="just"/>
            <a:r>
              <a:rPr sz="1700" spc="-7" dirty="0">
                <a:latin typeface="Times New Roman"/>
                <a:cs typeface="Times New Roman"/>
              </a:rPr>
              <a:t>Althoug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hig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-spe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hi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hly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ure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insurmount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x86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64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serv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le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dirty="0">
                <a:latin typeface="Times New Roman"/>
                <a:cs typeface="Times New Roman"/>
              </a:rPr>
              <a:t> suppo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for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kw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ompatibility.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2443" algn="just"/>
            <a:r>
              <a:rPr sz="1700" spc="-5" dirty="0">
                <a:latin typeface="Times New Roman"/>
                <a:cs typeface="Times New Roman"/>
              </a:rPr>
              <a:t>Ext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f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cc</a:t>
            </a:r>
            <a:r>
              <a:rPr sz="1700" dirty="0">
                <a:latin typeface="Times New Roman"/>
                <a:cs typeface="Times New Roman"/>
              </a:rPr>
              <a:t>urs</a:t>
            </a:r>
            <a:r>
              <a:rPr sz="1700" spc="-2" dirty="0">
                <a:latin typeface="Times New Roman"/>
                <a:cs typeface="Times New Roman"/>
              </a:rPr>
              <a:t> 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unu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is 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ted outside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ted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blocks.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iss</a:t>
            </a:r>
            <a:r>
              <a:rPr sz="1700" spc="-5" dirty="0">
                <a:latin typeface="Times New Roman"/>
                <a:cs typeface="Times New Roman"/>
              </a:rPr>
              <a:t>ue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ugh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satisf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q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est</a:t>
            </a:r>
            <a:r>
              <a:rPr sz="1700" spc="-2" dirty="0">
                <a:latin typeface="Times New Roman"/>
                <a:cs typeface="Times New Roman"/>
              </a:rPr>
              <a:t>,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onti</a:t>
            </a:r>
            <a:r>
              <a:rPr sz="1700" dirty="0">
                <a:latin typeface="Times New Roman"/>
                <a:cs typeface="Times New Roman"/>
              </a:rPr>
              <a:t>guous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time,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</a:t>
            </a:r>
            <a:r>
              <a:rPr sz="1700" spc="12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tation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sign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ows</a:t>
            </a:r>
            <a:r>
              <a:rPr sz="1700" spc="-2" dirty="0">
                <a:latin typeface="Times New Roman"/>
                <a:cs typeface="Times New Roman"/>
              </a:rPr>
              <a:t> the s</a:t>
            </a:r>
            <a:r>
              <a:rPr sz="1700" spc="-5" dirty="0">
                <a:latin typeface="Times New Roman"/>
                <a:cs typeface="Times New Roman"/>
              </a:rPr>
              <a:t>egment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1860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6A300-C086-32DE-F1EC-AE7D139B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F53201-8E94-9A81-D511-B0F453353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D84DAF-7EC6-46DB-5A55-CC6A7840D9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2D2A3BA-E8AB-151B-AB5D-CFDED844B08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CAFC7FB-1975-0F78-0844-FF9453E852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213220B-5CDA-E5C9-1496-6C8B0280AF0D}"/>
              </a:ext>
            </a:extLst>
          </p:cNvPr>
          <p:cNvSpPr txBox="1"/>
          <p:nvPr/>
        </p:nvSpPr>
        <p:spPr>
          <a:xfrm>
            <a:off x="1013700" y="742950"/>
            <a:ext cx="7292100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5" dirty="0">
                <a:latin typeface="Times New Roman"/>
                <a:cs typeface="Times New Roman"/>
              </a:rPr>
              <a:t>EGMENTED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AGI</a:t>
            </a:r>
            <a:r>
              <a:rPr sz="1700" b="1" spc="-7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G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054" algn="just"/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ome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ment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ging.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Main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divid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bly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gments,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divid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smalle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fix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10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size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disk.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there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multiple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ess.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4582" algn="just"/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bout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gment.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mapp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tabl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map</a:t>
            </a:r>
            <a:r>
              <a:rPr sz="1700" spc="-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individu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pag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se</a:t>
            </a:r>
            <a:r>
              <a:rPr sz="1700" spc="-5" dirty="0">
                <a:latin typeface="Times New Roman"/>
                <a:cs typeface="Times New Roman"/>
              </a:rPr>
              <a:t>gment.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5498" algn="just"/>
            <a:r>
              <a:rPr sz="1700" spc="-2" dirty="0">
                <a:latin typeface="Times New Roman"/>
                <a:cs typeface="Times New Roman"/>
              </a:rPr>
              <a:t>Adv</a:t>
            </a:r>
            <a:r>
              <a:rPr sz="1700" spc="-5" dirty="0">
                <a:latin typeface="Times New Roman"/>
                <a:cs typeface="Times New Roman"/>
              </a:rPr>
              <a:t>antag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xibility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ze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mplifi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llo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dditional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urity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ging.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gment</a:t>
            </a:r>
            <a:r>
              <a:rPr sz="1700" spc="-2" dirty="0">
                <a:latin typeface="Times New Roman"/>
                <a:cs typeface="Times New Roman"/>
              </a:rPr>
              <a:t>ati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1696781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B690-10A0-30AC-A44F-6FC0B840D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F438EE-A7FA-6D2C-8E5E-CFACE6002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CB4D2C-2C27-EF2B-6C7D-EA82FC8568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FF256C1-9D43-FC32-EE2C-13C21E1308D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61F438-3897-8C54-F2A8-64D4B6EFB0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35A72AA-E693-214F-6CBB-37530F0223F9}"/>
              </a:ext>
            </a:extLst>
          </p:cNvPr>
          <p:cNvSpPr txBox="1"/>
          <p:nvPr/>
        </p:nvSpPr>
        <p:spPr>
          <a:xfrm>
            <a:off x="1013700" y="742950"/>
            <a:ext cx="7292100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Adva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 of </a:t>
            </a:r>
            <a:r>
              <a:rPr sz="1700" b="1" spc="-7" dirty="0">
                <a:latin typeface="Times New Roman"/>
                <a:cs typeface="Times New Roman"/>
              </a:rPr>
              <a:t>P</a:t>
            </a:r>
            <a:r>
              <a:rPr sz="1700" b="1" spc="-5" dirty="0">
                <a:latin typeface="Times New Roman"/>
                <a:cs typeface="Times New Roman"/>
              </a:rPr>
              <a:t>agi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g: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5192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l,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ging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nsp</a:t>
            </a:r>
            <a:r>
              <a:rPr sz="1700" spc="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5" dirty="0">
                <a:latin typeface="Times New Roman"/>
                <a:cs typeface="Times New Roman"/>
              </a:rPr>
              <a:t>fun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dirty="0">
                <a:latin typeface="Times New Roman"/>
                <a:cs typeface="Times New Roman"/>
              </a:rPr>
              <a:t> 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quire 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gmen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2" dirty="0">
                <a:latin typeface="Times New Roman"/>
                <a:cs typeface="Times New Roman"/>
              </a:rPr>
              <a:t>inte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f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 on </a:t>
            </a:r>
            <a:r>
              <a:rPr lang="en-US" sz="1700" spc="-5" dirty="0">
                <a:latin typeface="Times New Roman"/>
                <a:cs typeface="Times New Roman"/>
              </a:rPr>
              <a:t>upd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ted O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’</a:t>
            </a:r>
            <a:r>
              <a:rPr lang="en-US" sz="1700" dirty="0">
                <a:latin typeface="Times New Roman"/>
                <a:cs typeface="Times New Roman"/>
              </a:rPr>
              <a:t>s.</a:t>
            </a: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mes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do </a:t>
            </a:r>
            <a:r>
              <a:rPr lang="en-US" sz="1700" spc="-5" dirty="0">
                <a:latin typeface="Times New Roman"/>
                <a:cs typeface="Times New Roman"/>
              </a:rPr>
              <a:t>not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ve</a:t>
            </a:r>
            <a:r>
              <a:rPr lang="en-US" sz="1700" spc="-2" dirty="0">
                <a:latin typeface="Times New Roman"/>
                <a:cs typeface="Times New Roman"/>
              </a:rPr>
              <a:t> to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onti</a:t>
            </a:r>
            <a:r>
              <a:rPr lang="en-US" sz="1700" dirty="0">
                <a:latin typeface="Times New Roman"/>
                <a:cs typeface="Times New Roman"/>
              </a:rPr>
              <a:t>guous.</a:t>
            </a:r>
          </a:p>
          <a:p>
            <a:pPr>
              <a:spcBef>
                <a:spcPts val="10"/>
              </a:spcBef>
              <a:buFont typeface="Symbol"/>
              <a:buChar char=""/>
            </a:pPr>
            <a:endParaRPr lang="en-US" sz="1700" dirty="0">
              <a:latin typeface="Times New Roman"/>
              <a:cs typeface="Times New Roman"/>
            </a:endParaRPr>
          </a:p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Disa</a:t>
            </a:r>
            <a:r>
              <a:rPr lang="en-US" sz="1700" b="1" spc="2" dirty="0">
                <a:latin typeface="Times New Roman"/>
                <a:cs typeface="Times New Roman"/>
              </a:rPr>
              <a:t>d</a:t>
            </a:r>
            <a:r>
              <a:rPr lang="en-US" sz="1700" b="1" dirty="0">
                <a:latin typeface="Times New Roman"/>
                <a:cs typeface="Times New Roman"/>
              </a:rPr>
              <a:t>van</a:t>
            </a:r>
            <a:r>
              <a:rPr lang="en-US" sz="1700" b="1" spc="-5" dirty="0">
                <a:latin typeface="Times New Roman"/>
                <a:cs typeface="Times New Roman"/>
              </a:rPr>
              <a:t>tag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 of </a:t>
            </a:r>
            <a:r>
              <a:rPr lang="en-US" sz="1700" b="1" spc="-7" dirty="0">
                <a:latin typeface="Times New Roman"/>
                <a:cs typeface="Times New Roman"/>
              </a:rPr>
              <a:t>P</a:t>
            </a:r>
            <a:r>
              <a:rPr lang="en-US" sz="1700" b="1" spc="-5" dirty="0">
                <a:latin typeface="Times New Roman"/>
                <a:cs typeface="Times New Roman"/>
              </a:rPr>
              <a:t>agi</a:t>
            </a:r>
            <a:r>
              <a:rPr lang="en-US" sz="1700" b="1" spc="-2" dirty="0">
                <a:latin typeface="Times New Roman"/>
                <a:cs typeface="Times New Roman"/>
              </a:rPr>
              <a:t>n</a:t>
            </a:r>
            <a:r>
              <a:rPr lang="en-US" sz="1700" b="1" dirty="0">
                <a:latin typeface="Times New Roman"/>
                <a:cs typeface="Times New Roman"/>
              </a:rPr>
              <a:t>g: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int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rn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on </a:t>
            </a:r>
            <a:r>
              <a:rPr lang="en-US" sz="1700" spc="-2" dirty="0">
                <a:latin typeface="Times New Roman"/>
                <a:cs typeface="Times New Roman"/>
              </a:rPr>
              <a:t>older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tems.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Long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lookup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im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tion;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medy</a:t>
            </a:r>
            <a:r>
              <a:rPr lang="en-US" sz="1700" spc="-2" dirty="0">
                <a:latin typeface="Times New Roman"/>
                <a:cs typeface="Times New Roman"/>
              </a:rPr>
              <a:t> wit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5" dirty="0">
                <a:latin typeface="Times New Roman"/>
                <a:cs typeface="Times New Roman"/>
              </a:rPr>
              <a:t>TLB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</a:t>
            </a:r>
            <a:r>
              <a:rPr lang="en-US" sz="1700" dirty="0">
                <a:latin typeface="Times New Roman"/>
                <a:cs typeface="Times New Roman"/>
              </a:rPr>
              <a:t>ory 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3223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77AF-EC84-FA3E-619E-5905F7F9B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4C10B0-C13B-50D8-AB43-FC3BCD68D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D33168-9F23-4D1D-EC8C-2662761F96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D1C8A9B-ECDE-2CBB-E4B2-94A58320916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85DAE7-8E02-6957-FD20-ADB4694AF63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53D0B20-1F44-37A4-5687-8C6FA384AD98}"/>
              </a:ext>
            </a:extLst>
          </p:cNvPr>
          <p:cNvSpPr txBox="1"/>
          <p:nvPr/>
        </p:nvSpPr>
        <p:spPr>
          <a:xfrm>
            <a:off x="1033697" y="923001"/>
            <a:ext cx="72921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Adva</a:t>
            </a:r>
            <a:r>
              <a:rPr lang="en-US" sz="1700" b="1" spc="2" dirty="0">
                <a:latin typeface="Times New Roman"/>
                <a:cs typeface="Times New Roman"/>
              </a:rPr>
              <a:t>n</a:t>
            </a:r>
            <a:r>
              <a:rPr lang="en-US" sz="1700" b="1" spc="-5" dirty="0">
                <a:latin typeface="Times New Roman"/>
                <a:cs typeface="Times New Roman"/>
              </a:rPr>
              <a:t>tag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 of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g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</a:t>
            </a:r>
            <a:r>
              <a:rPr lang="en-US" sz="1700" b="1" dirty="0">
                <a:latin typeface="Times New Roman"/>
                <a:cs typeface="Times New Roman"/>
              </a:rPr>
              <a:t>n: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10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2" dirty="0">
                <a:latin typeface="Times New Roman"/>
                <a:cs typeface="Times New Roman"/>
              </a:rPr>
              <a:t>inte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f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n.</a:t>
            </a: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tabl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onsum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less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spa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spc="-2" dirty="0">
                <a:latin typeface="Times New Roman"/>
                <a:cs typeface="Times New Roman"/>
              </a:rPr>
              <a:t> tabl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749" indent="-109651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Av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</a:t>
            </a:r>
            <a:r>
              <a:rPr lang="en-US" sz="1700" dirty="0">
                <a:latin typeface="Times New Roman"/>
                <a:cs typeface="Times New Roman"/>
              </a:rPr>
              <a:t>z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la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most 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ze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-7" dirty="0">
                <a:latin typeface="Times New Roman"/>
                <a:cs typeface="Times New Roman"/>
              </a:rPr>
              <a:t> whic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dirty="0">
                <a:latin typeface="Times New Roman"/>
                <a:cs typeface="Times New Roman"/>
              </a:rPr>
              <a:t>ows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gm</a:t>
            </a:r>
            <a:r>
              <a:rPr lang="en-US" sz="1700" spc="-2" dirty="0">
                <a:latin typeface="Times New Roman"/>
                <a:cs typeface="Times New Roman"/>
              </a:rPr>
              <a:t>ents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5" dirty="0">
                <a:latin typeface="Times New Roman"/>
                <a:cs typeface="Times New Roman"/>
              </a:rPr>
              <a:t> store more proc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" dirty="0">
                <a:latin typeface="Times New Roman"/>
                <a:cs typeface="Times New Roman"/>
              </a:rPr>
              <a:t>dat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L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ing </a:t>
            </a:r>
            <a:r>
              <a:rPr lang="en-US" sz="1700" spc="-5" dirty="0">
                <a:latin typeface="Times New Roman"/>
                <a:cs typeface="Times New Roman"/>
              </a:rPr>
              <a:t>ov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rhe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d.</a:t>
            </a: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impler </a:t>
            </a:r>
            <a:r>
              <a:rPr lang="en-US" sz="1700" spc="-2" dirty="0">
                <a:latin typeface="Times New Roman"/>
                <a:cs typeface="Times New Roman"/>
              </a:rPr>
              <a:t>to 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loc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eg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nts</a:t>
            </a:r>
            <a:r>
              <a:rPr lang="en-US" sz="1700" dirty="0">
                <a:latin typeface="Times New Roman"/>
                <a:cs typeface="Times New Roman"/>
              </a:rPr>
              <a:t> t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to 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loc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on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iguous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7" dirty="0">
                <a:latin typeface="Times New Roman"/>
                <a:cs typeface="Times New Roman"/>
              </a:rPr>
              <a:t>spa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disk.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tabl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smal</a:t>
            </a:r>
            <a:r>
              <a:rPr lang="en-US" sz="1700" spc="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tabl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k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up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63278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0385E-4BEB-0BDA-A21D-5FB661E95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1C6439-1FBA-A591-05D4-25B2D017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57B9DC-4A86-E2F1-C433-7D7448FCCC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41393D0-F5F5-9B52-AAAB-F5C9816111C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F4C55B9-B54D-0DBB-6A86-1DAAA5050D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AD1BDCA-EAE4-0356-8355-12C2D15D2D56}"/>
              </a:ext>
            </a:extLst>
          </p:cNvPr>
          <p:cNvSpPr txBox="1"/>
          <p:nvPr/>
        </p:nvSpPr>
        <p:spPr>
          <a:xfrm>
            <a:off x="1033697" y="923001"/>
            <a:ext cx="729210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Disa</a:t>
            </a:r>
            <a:r>
              <a:rPr lang="en-US" sz="1700" b="1" spc="2" dirty="0">
                <a:latin typeface="Times New Roman"/>
                <a:cs typeface="Times New Roman"/>
              </a:rPr>
              <a:t>d</a:t>
            </a:r>
            <a:r>
              <a:rPr lang="en-US" sz="1700" b="1" dirty="0">
                <a:latin typeface="Times New Roman"/>
                <a:cs typeface="Times New Roman"/>
              </a:rPr>
              <a:t>van</a:t>
            </a:r>
            <a:r>
              <a:rPr lang="en-US" sz="1700" b="1" spc="-5" dirty="0">
                <a:latin typeface="Times New Roman"/>
                <a:cs typeface="Times New Roman"/>
              </a:rPr>
              <a:t>tag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 of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g</a:t>
            </a:r>
            <a:r>
              <a:rPr lang="en-US" sz="1700" b="1" spc="-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4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Us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leg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y 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5" dirty="0">
                <a:latin typeface="Times New Roman"/>
                <a:cs typeface="Times New Roman"/>
              </a:rPr>
              <a:t>hnology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 x8</a:t>
            </a:r>
            <a:r>
              <a:rPr lang="en-US" sz="1700" spc="2" dirty="0">
                <a:latin typeface="Times New Roman"/>
                <a:cs typeface="Times New Roman"/>
              </a:rPr>
              <a:t>6</a:t>
            </a:r>
            <a:r>
              <a:rPr lang="en-US" sz="1700" spc="-2" dirty="0">
                <a:latin typeface="Times New Roman"/>
                <a:cs typeface="Times New Roman"/>
              </a:rPr>
              <a:t>-</a:t>
            </a:r>
            <a:r>
              <a:rPr lang="en-US" sz="1700" dirty="0">
                <a:latin typeface="Times New Roman"/>
                <a:cs typeface="Times New Roman"/>
              </a:rPr>
              <a:t>64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rve</a:t>
            </a:r>
            <a:r>
              <a:rPr lang="en-US" sz="1700" dirty="0">
                <a:latin typeface="Times New Roman"/>
                <a:cs typeface="Times New Roman"/>
              </a:rPr>
              <a:t>rs.</a:t>
            </a:r>
          </a:p>
          <a:p>
            <a:pPr marL="225716" marR="3971" indent="-109651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Linux 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only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support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80x86 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rop</a:t>
            </a:r>
            <a:r>
              <a:rPr lang="en-US" sz="1700" spc="-5" dirty="0">
                <a:latin typeface="Times New Roman"/>
                <a:cs typeface="Times New Roman"/>
              </a:rPr>
              <a:t>ro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rs: 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state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ging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</a:t>
            </a:r>
            <a:r>
              <a:rPr lang="en-US" sz="1700" spc="-2" dirty="0">
                <a:latin typeface="Times New Roman"/>
                <a:cs typeface="Times New Roman"/>
              </a:rPr>
              <a:t>mplifi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ment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by </a:t>
            </a:r>
            <a:r>
              <a:rPr lang="en-US" sz="1700" spc="-2" dirty="0">
                <a:latin typeface="Times New Roman"/>
                <a:cs typeface="Times New Roman"/>
              </a:rPr>
              <a:t>usi</a:t>
            </a:r>
            <a:r>
              <a:rPr lang="en-US" sz="1700" dirty="0">
                <a:latin typeface="Times New Roman"/>
                <a:cs typeface="Times New Roman"/>
              </a:rPr>
              <a:t>ng </a:t>
            </a:r>
            <a:r>
              <a:rPr lang="en-US" sz="1700" spc="-2" dirty="0">
                <a:latin typeface="Times New Roman"/>
                <a:cs typeface="Times New Roman"/>
              </a:rPr>
              <a:t>the s</a:t>
            </a:r>
            <a:r>
              <a:rPr lang="en-US" sz="1700" spc="-5" dirty="0">
                <a:latin typeface="Times New Roman"/>
                <a:cs typeface="Times New Roman"/>
              </a:rPr>
              <a:t>ame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of </a:t>
            </a:r>
            <a:r>
              <a:rPr lang="en-US" sz="1700" spc="-2" dirty="0">
                <a:latin typeface="Times New Roman"/>
                <a:cs typeface="Times New Roman"/>
              </a:rPr>
              <a:t>lin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dd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sses.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3360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orting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Linux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dif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er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tur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probl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tic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dirty="0">
                <a:latin typeface="Times New Roman"/>
                <a:cs typeface="Times New Roman"/>
              </a:rPr>
              <a:t>use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limited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spc="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support.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quir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progr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225716" indent="-109651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5" dirty="0">
                <a:latin typeface="Times New Roman"/>
                <a:cs typeface="Times New Roman"/>
              </a:rPr>
              <a:t>ubje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dirty="0">
                <a:latin typeface="Times New Roman"/>
                <a:cs typeface="Times New Roman"/>
              </a:rPr>
              <a:t>rious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f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3519535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17612-1C6C-757E-AA80-62D797DA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CA7B2-89AB-FF1A-FADD-F1A0AB46F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4E700C-6BB6-A19D-CC69-5D474B74B6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76DA832-ADC6-A8E2-059E-03895895130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0D61D7-4D53-F8FB-2C03-A8255822E8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64DAD10-6510-50DC-A059-F005E4F01D23}"/>
              </a:ext>
            </a:extLst>
          </p:cNvPr>
          <p:cNvSpPr txBox="1"/>
          <p:nvPr/>
        </p:nvSpPr>
        <p:spPr>
          <a:xfrm>
            <a:off x="990600" y="872565"/>
            <a:ext cx="71628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lang="en-US" sz="1700" b="1" spc="-5" dirty="0">
                <a:latin typeface="Times New Roman"/>
                <a:cs typeface="Times New Roman"/>
              </a:rPr>
              <a:t>KEY</a:t>
            </a:r>
            <a:r>
              <a:rPr lang="en-US" sz="1700" b="1" spc="-2" dirty="0">
                <a:latin typeface="Times New Roman"/>
                <a:cs typeface="Times New Roman"/>
              </a:rPr>
              <a:t> D</a:t>
            </a:r>
            <a:r>
              <a:rPr lang="en-US" sz="1700" b="1" spc="-7" dirty="0">
                <a:latin typeface="Times New Roman"/>
                <a:cs typeface="Times New Roman"/>
              </a:rPr>
              <a:t>IFFER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NC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S: </a:t>
            </a:r>
            <a:r>
              <a:rPr lang="en-US" sz="1700" b="1" spc="-7" dirty="0"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latin typeface="Times New Roman"/>
                <a:cs typeface="Times New Roman"/>
              </a:rPr>
              <a:t>AGIN</a:t>
            </a:r>
            <a:r>
              <a:rPr lang="en-US" sz="1700" b="1" dirty="0">
                <a:latin typeface="Times New Roman"/>
                <a:cs typeface="Times New Roman"/>
              </a:rPr>
              <a:t>G </a:t>
            </a:r>
            <a:r>
              <a:rPr lang="en-US" sz="1700" b="1" spc="-2" dirty="0">
                <a:latin typeface="Times New Roman"/>
                <a:cs typeface="Times New Roman"/>
              </a:rPr>
              <a:t>AN</a:t>
            </a:r>
            <a:r>
              <a:rPr lang="en-US" sz="1700" b="1" dirty="0">
                <a:latin typeface="Times New Roman"/>
                <a:cs typeface="Times New Roman"/>
              </a:rPr>
              <a:t>D</a:t>
            </a:r>
            <a:r>
              <a:rPr lang="en-US" sz="1700" b="1" spc="-2" dirty="0">
                <a:latin typeface="Times New Roman"/>
                <a:cs typeface="Times New Roman"/>
              </a:rPr>
              <a:t> S</a:t>
            </a:r>
            <a:r>
              <a:rPr lang="en-US" sz="1700" b="1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GMENTAT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endParaRPr lang="en-US" sz="1700" dirty="0">
              <a:latin typeface="Times New Roman"/>
              <a:cs typeface="Times New Roman"/>
            </a:endParaRPr>
          </a:p>
          <a:p>
            <a:pPr algn="just">
              <a:spcBef>
                <a:spcPts val="26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2" dirty="0">
                <a:latin typeface="Times New Roman"/>
                <a:cs typeface="Times New Roman"/>
              </a:rPr>
              <a:t>iz</a:t>
            </a:r>
            <a:r>
              <a:rPr lang="en-US" sz="1700" b="1" spc="-10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4582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Paging: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Fixed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block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z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. 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3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min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/f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siz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g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r>
              <a:rPr lang="en-US" sz="1700" b="1" dirty="0">
                <a:latin typeface="Times New Roman"/>
                <a:cs typeface="Times New Roman"/>
              </a:rPr>
              <a:t>: </a:t>
            </a:r>
            <a:r>
              <a:rPr lang="en-US" sz="1700" spc="-2" dirty="0">
                <a:latin typeface="Times New Roman"/>
                <a:cs typeface="Times New Roman"/>
              </a:rPr>
              <a:t>V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ri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size</a:t>
            </a:r>
            <a:r>
              <a:rPr lang="en-US" sz="1700" spc="-2" dirty="0">
                <a:latin typeface="Times New Roman"/>
                <a:cs typeface="Times New Roman"/>
              </a:rPr>
              <a:t> se</a:t>
            </a:r>
            <a:r>
              <a:rPr lang="en-US" sz="1700" spc="-5" dirty="0">
                <a:latin typeface="Times New Roman"/>
                <a:cs typeface="Times New Roman"/>
              </a:rPr>
              <a:t>gments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-s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ifi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d.</a:t>
            </a:r>
          </a:p>
          <a:p>
            <a:pPr marL="6109" algn="just"/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b="1" spc="-5" dirty="0">
                <a:latin typeface="Times New Roman"/>
                <a:cs typeface="Times New Roman"/>
              </a:rPr>
              <a:t>F</a:t>
            </a:r>
            <a:r>
              <a:rPr lang="en-US" sz="1700" b="1" spc="-10" dirty="0">
                <a:latin typeface="Times New Roman"/>
                <a:cs typeface="Times New Roman"/>
              </a:rPr>
              <a:t>r</a:t>
            </a:r>
            <a:r>
              <a:rPr lang="en-US" sz="1700" b="1" dirty="0">
                <a:latin typeface="Times New Roman"/>
                <a:cs typeface="Times New Roman"/>
              </a:rPr>
              <a:t>ag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3971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Paging: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Olde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sys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ms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sub</a:t>
            </a:r>
            <a:r>
              <a:rPr lang="en-US" sz="1700" spc="-2" dirty="0">
                <a:latin typeface="Times New Roman"/>
                <a:cs typeface="Times New Roman"/>
              </a:rPr>
              <a:t>j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not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llo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ng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ntire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to 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mory.</a:t>
            </a:r>
            <a:r>
              <a:rPr lang="en-US" sz="1700" spc="-2" dirty="0">
                <a:latin typeface="Times New Roman"/>
                <a:cs typeface="Times New Roman"/>
              </a:rPr>
              <a:t> Mode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2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’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no </a:t>
            </a:r>
            <a:r>
              <a:rPr lang="en-US" sz="1700" spc="-5" dirty="0">
                <a:latin typeface="Times New Roman"/>
                <a:cs typeface="Times New Roman"/>
              </a:rPr>
              <a:t>long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ve</a:t>
            </a:r>
            <a:r>
              <a:rPr lang="en-US" sz="1700" spc="-2" dirty="0">
                <a:latin typeface="Times New Roman"/>
                <a:cs typeface="Times New Roman"/>
              </a:rPr>
              <a:t> 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spc="-5" dirty="0">
                <a:latin typeface="Times New Roman"/>
                <a:cs typeface="Times New Roman"/>
              </a:rPr>
              <a:t>problem.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g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r>
              <a:rPr lang="en-US" sz="1700" b="1" dirty="0">
                <a:latin typeface="Times New Roman"/>
                <a:cs typeface="Times New Roman"/>
              </a:rPr>
              <a:t>: 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ds</a:t>
            </a:r>
            <a:r>
              <a:rPr lang="en-US" sz="1700" spc="-2" dirty="0">
                <a:latin typeface="Times New Roman"/>
                <a:cs typeface="Times New Roman"/>
              </a:rPr>
              <a:t> t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f</a:t>
            </a:r>
            <a:r>
              <a:rPr lang="en-US" sz="1700" spc="-2" dirty="0">
                <a:latin typeface="Times New Roman"/>
                <a:cs typeface="Times New Roman"/>
              </a:rPr>
              <a:t>ra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</p:txBody>
      </p:sp>
    </p:spTree>
    <p:extLst>
      <p:ext uri="{BB962C8B-B14F-4D97-AF65-F5344CB8AC3E}">
        <p14:creationId xmlns:p14="http://schemas.microsoft.com/office/powerpoint/2010/main" val="2666213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BB13-B27C-A705-FA3E-992AACA2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38B1C0-0DB7-4842-ECA4-D4356FB0F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A2BD34-BD86-7851-13EA-5655CCE081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D81C35E-0CBF-5690-94E6-A44419C7FB3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ED72F-F420-16FD-EF42-76BD758BEF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087037D-E16C-E745-A116-388BBD35E90E}"/>
              </a:ext>
            </a:extLst>
          </p:cNvPr>
          <p:cNvSpPr txBox="1"/>
          <p:nvPr/>
        </p:nvSpPr>
        <p:spPr>
          <a:xfrm>
            <a:off x="990600" y="903951"/>
            <a:ext cx="7162800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lang="en-US" sz="1700" b="1" spc="-5" dirty="0">
                <a:latin typeface="Times New Roman"/>
                <a:cs typeface="Times New Roman"/>
              </a:rPr>
              <a:t>KEY</a:t>
            </a:r>
            <a:r>
              <a:rPr lang="en-US" sz="1700" b="1" spc="-2" dirty="0">
                <a:latin typeface="Times New Roman"/>
                <a:cs typeface="Times New Roman"/>
              </a:rPr>
              <a:t> D</a:t>
            </a:r>
            <a:r>
              <a:rPr lang="en-US" sz="1700" b="1" spc="-7" dirty="0">
                <a:latin typeface="Times New Roman"/>
                <a:cs typeface="Times New Roman"/>
              </a:rPr>
              <a:t>IFFER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NC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S: </a:t>
            </a:r>
            <a:r>
              <a:rPr lang="en-US" sz="1700" b="1" spc="-7" dirty="0"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latin typeface="Times New Roman"/>
                <a:cs typeface="Times New Roman"/>
              </a:rPr>
              <a:t>AGIN</a:t>
            </a:r>
            <a:r>
              <a:rPr lang="en-US" sz="1700" b="1" dirty="0">
                <a:latin typeface="Times New Roman"/>
                <a:cs typeface="Times New Roman"/>
              </a:rPr>
              <a:t>G </a:t>
            </a:r>
            <a:r>
              <a:rPr lang="en-US" sz="1700" b="1" spc="-2" dirty="0">
                <a:latin typeface="Times New Roman"/>
                <a:cs typeface="Times New Roman"/>
              </a:rPr>
              <a:t>AN</a:t>
            </a:r>
            <a:r>
              <a:rPr lang="en-US" sz="1700" b="1" dirty="0">
                <a:latin typeface="Times New Roman"/>
                <a:cs typeface="Times New Roman"/>
              </a:rPr>
              <a:t>D</a:t>
            </a:r>
            <a:r>
              <a:rPr lang="en-US" sz="1700" b="1" spc="-2" dirty="0">
                <a:latin typeface="Times New Roman"/>
                <a:cs typeface="Times New Roman"/>
              </a:rPr>
              <a:t> S</a:t>
            </a:r>
            <a:r>
              <a:rPr lang="en-US" sz="1700" b="1" dirty="0">
                <a:latin typeface="Times New Roman"/>
                <a:cs typeface="Times New Roman"/>
              </a:rPr>
              <a:t>E</a:t>
            </a:r>
            <a:r>
              <a:rPr lang="en-US" sz="1700" b="1" spc="-5" dirty="0">
                <a:latin typeface="Times New Roman"/>
                <a:cs typeface="Times New Roman"/>
              </a:rPr>
              <a:t>GMENTAT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endParaRPr lang="en-US" sz="1700" dirty="0">
              <a:latin typeface="Times New Roman"/>
              <a:cs typeface="Times New Roman"/>
            </a:endParaRPr>
          </a:p>
          <a:p>
            <a:pPr algn="just">
              <a:spcBef>
                <a:spcPts val="26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b="1" spc="-5" dirty="0">
                <a:latin typeface="Times New Roman"/>
                <a:cs typeface="Times New Roman"/>
              </a:rPr>
              <a:t>Tab</a:t>
            </a:r>
            <a:r>
              <a:rPr lang="en-US" sz="1700" b="1" spc="-2" dirty="0">
                <a:latin typeface="Times New Roman"/>
                <a:cs typeface="Times New Roman"/>
              </a:rPr>
              <a:t>les: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4582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Paging: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tabl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MM</a:t>
            </a:r>
            <a:r>
              <a:rPr lang="en-US" sz="1700" dirty="0">
                <a:latin typeface="Times New Roman"/>
                <a:cs typeface="Times New Roman"/>
              </a:rPr>
              <a:t>U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ge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-7" dirty="0">
                <a:latin typeface="Times New Roman"/>
                <a:cs typeface="Times New Roman"/>
              </a:rPr>
              <a:t>ca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status</a:t>
            </a:r>
            <a:r>
              <a:rPr lang="en-US" sz="1700" spc="-2" dirty="0">
                <a:latin typeface="Times New Roman"/>
                <a:cs typeface="Times New Roman"/>
              </a:rPr>
              <a:t>.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is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slo</a:t>
            </a:r>
            <a:r>
              <a:rPr lang="en-US" sz="1700" spc="5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g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ntation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bles,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but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TLB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5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ler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tes it.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g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r>
              <a:rPr lang="en-US" sz="1700" b="1" dirty="0">
                <a:latin typeface="Times New Roman"/>
                <a:cs typeface="Times New Roman"/>
              </a:rPr>
              <a:t>: 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tabl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ontain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gment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info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mation,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3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st</a:t>
            </a:r>
            <a:r>
              <a:rPr lang="en-US" sz="1700" dirty="0">
                <a:latin typeface="Times New Roman"/>
                <a:cs typeface="Times New Roman"/>
              </a:rPr>
              <a:t>er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spc="-2" dirty="0">
                <a:latin typeface="Times New Roman"/>
                <a:cs typeface="Times New Roman"/>
              </a:rPr>
              <a:t> di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paging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table </a:t>
            </a:r>
            <a:r>
              <a:rPr lang="en-US" sz="1700" dirty="0">
                <a:latin typeface="Times New Roman"/>
                <a:cs typeface="Times New Roman"/>
              </a:rPr>
              <a:t>lookups.</a:t>
            </a:r>
          </a:p>
          <a:p>
            <a:pPr marL="6109" algn="just"/>
            <a:endParaRPr lang="en-US" sz="1700" b="1" spc="-7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b="1" spc="-7" dirty="0">
                <a:latin typeface="Times New Roman"/>
                <a:cs typeface="Times New Roman"/>
              </a:rPr>
              <a:t>Availa</a:t>
            </a:r>
            <a:r>
              <a:rPr lang="en-US" sz="1700" b="1" spc="-2" dirty="0">
                <a:latin typeface="Times New Roman"/>
                <a:cs typeface="Times New Roman"/>
              </a:rPr>
              <a:t>bility: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Paging: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idely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il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MM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hips.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marR="3665" indent="-109651" algn="just">
              <a:spcBef>
                <a:spcPts val="31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lang="en-US" sz="1700" b="1" dirty="0">
                <a:latin typeface="Times New Roman"/>
                <a:cs typeface="Times New Roman"/>
              </a:rPr>
              <a:t>S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g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nta</a:t>
            </a:r>
            <a:r>
              <a:rPr lang="en-US" sz="1700" b="1" spc="-5" dirty="0">
                <a:latin typeface="Times New Roman"/>
                <a:cs typeface="Times New Roman"/>
              </a:rPr>
              <a:t>t</a:t>
            </a:r>
            <a:r>
              <a:rPr lang="en-US" sz="1700" b="1" spc="-2" dirty="0">
                <a:latin typeface="Times New Roman"/>
                <a:cs typeface="Times New Roman"/>
              </a:rPr>
              <a:t>ion</a:t>
            </a:r>
            <a:r>
              <a:rPr lang="en-US" sz="1700" b="1" dirty="0">
                <a:latin typeface="Times New Roman"/>
                <a:cs typeface="Times New Roman"/>
              </a:rPr>
              <a:t>: </a:t>
            </a:r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dirty="0">
                <a:latin typeface="Times New Roman"/>
                <a:cs typeface="Times New Roman"/>
              </a:rPr>
              <a:t>indows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rve</a:t>
            </a:r>
            <a:r>
              <a:rPr lang="en-US" sz="1700" dirty="0">
                <a:latin typeface="Times New Roman"/>
                <a:cs typeface="Times New Roman"/>
              </a:rPr>
              <a:t>rs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may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supp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spc="-2" dirty="0">
                <a:latin typeface="Times New Roman"/>
                <a:cs typeface="Times New Roman"/>
              </a:rPr>
              <a:t>rt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kw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rds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ompatibility,</a:t>
            </a:r>
            <a:r>
              <a:rPr lang="en-US" sz="1700" spc="4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whil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4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Linux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ry </a:t>
            </a:r>
            <a:r>
              <a:rPr lang="en-US" sz="1700" spc="-2" dirty="0">
                <a:latin typeface="Times New Roman"/>
                <a:cs typeface="Times New Roman"/>
              </a:rPr>
              <a:t>limit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support.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328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E40B2-537B-9453-252F-DC5A703DC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AB3CB3-F023-63DA-7585-33F494604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27F4A-B29B-CEB8-6AC9-511763F8F5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0F1FEC3-FC85-C5AC-780D-DB8583C5C2B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E5D539D-4528-E696-1F8C-8BE219AB968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700" y="819150"/>
            <a:ext cx="7139700" cy="3798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  <a:endParaRPr lang="en-US" sz="1700" dirty="0">
              <a:latin typeface="Times New Roman"/>
              <a:cs typeface="Times New Roman"/>
            </a:endParaRPr>
          </a:p>
          <a:p>
            <a:pPr marL="6109"/>
            <a:endParaRPr lang="en-US" sz="1700" b="1" spc="-2" dirty="0">
              <a:latin typeface="Times New Roman"/>
              <a:cs typeface="Times New Roman"/>
            </a:endParaRPr>
          </a:p>
          <a:p>
            <a:pPr marL="6109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</a:t>
            </a:r>
            <a:r>
              <a:rPr sz="1700" dirty="0">
                <a:latin typeface="Times New Roman"/>
                <a:cs typeface="Times New Roman"/>
              </a:rPr>
              <a:t>P.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ay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Third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dition.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26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spc="-5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8331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D388B-7D18-5E04-B2D8-8B80394A8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097E91-32CE-7D17-1D3B-CA2FBCAFC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8808E4-3387-F512-2D31-EF5F6450319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3FBB8A8-5BEE-4C78-7261-E47BB692289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D00D72-0D0A-E366-2E7A-3C3FC823C91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F8DA153-67D5-D37D-08A9-DEA20D9B6021}"/>
              </a:ext>
            </a:extLst>
          </p:cNvPr>
          <p:cNvSpPr txBox="1"/>
          <p:nvPr/>
        </p:nvSpPr>
        <p:spPr>
          <a:xfrm>
            <a:off x="1013700" y="819150"/>
            <a:ext cx="7139700" cy="209288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36958" indent="-109651" algn="just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.qu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s10.c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om/p/10067/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-is-virtu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l-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memor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y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xplain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the-role-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f-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gin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1/</a:t>
            </a:r>
            <a:endParaRPr sz="1700" dirty="0">
              <a:latin typeface="Times New Roman"/>
              <a:cs typeface="Times New Roman"/>
            </a:endParaRPr>
          </a:p>
          <a:p>
            <a:pPr marL="225716" marR="431274" indent="-109651" algn="just">
              <a:spcBef>
                <a:spcPts val="4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nte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pris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storag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f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rum.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om/storag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rd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/paging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-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nd-</a:t>
            </a:r>
            <a:r>
              <a:rPr sz="1700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 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se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gment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ti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on.htm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//ww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mpe.boun.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du.tr/~uskuda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/cou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se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/cmp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235/Virtu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l%20M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mory.pdf</a:t>
            </a:r>
            <a:endParaRPr lang="en-US" sz="1700" u="sng" spc="-5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9411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713</TotalTime>
  <Words>1987</Words>
  <Application>Microsoft Office PowerPoint</Application>
  <PresentationFormat>On-screen Show (16:9)</PresentationFormat>
  <Paragraphs>151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7</cp:revision>
  <dcterms:created xsi:type="dcterms:W3CDTF">2024-12-24T22:25:51Z</dcterms:created>
  <dcterms:modified xsi:type="dcterms:W3CDTF">2024-12-26T04:42:38Z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