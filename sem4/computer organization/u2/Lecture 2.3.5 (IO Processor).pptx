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5"/>
  </p:notesMasterIdLst>
  <p:sldIdLst>
    <p:sldId id="273" r:id="rId2"/>
    <p:sldId id="616" r:id="rId3"/>
    <p:sldId id="622" r:id="rId4"/>
    <p:sldId id="621" r:id="rId5"/>
    <p:sldId id="624" r:id="rId6"/>
    <p:sldId id="623" r:id="rId7"/>
    <p:sldId id="617" r:id="rId8"/>
    <p:sldId id="618" r:id="rId9"/>
    <p:sldId id="625" r:id="rId10"/>
    <p:sldId id="626" r:id="rId11"/>
    <p:sldId id="627" r:id="rId12"/>
    <p:sldId id="619" r:id="rId13"/>
    <p:sldId id="628" r:id="rId14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61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13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8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53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1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4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9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9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3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4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9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8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62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eeksforgeeks.org/io-interface-interrupt-dma-mode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ioenotes.edu.np/media/notes/computer-organization-and-architecture-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ecs.csun.edu/%7Ecputnam/Comp546/Input-Output-Web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4AAB-7CF9-C705-6A14-B8C1EF62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DF039-CA2F-B690-6BAE-A04D2E37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9B46FB-4154-CFD9-7D28-4628999F1F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194A413-AA7A-2E71-E9F4-87D105608F3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BDA2CD-A329-FC8F-AAA4-40950505A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394" y="819150"/>
            <a:ext cx="706380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35" algn="ctr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I/O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OCE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250151" indent="-134086">
              <a:spcBef>
                <a:spcPts val="115"/>
              </a:spcBef>
              <a:buClr>
                <a:srgbClr val="252525"/>
              </a:buClr>
              <a:buFont typeface="Symbol"/>
              <a:buChar char=""/>
              <a:tabLst>
                <a:tab pos="250457" algn="l"/>
              </a:tabLst>
            </a:pP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50151" indent="-134086">
              <a:spcBef>
                <a:spcPts val="115"/>
              </a:spcBef>
              <a:buClr>
                <a:srgbClr val="252525"/>
              </a:buClr>
              <a:buFont typeface="Symbol"/>
              <a:buChar char=""/>
              <a:tabLst>
                <a:tab pos="250457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bilit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 wit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250151" indent="-134086">
              <a:spcBef>
                <a:spcPts val="115"/>
              </a:spcBef>
              <a:buClr>
                <a:srgbClr val="252525"/>
              </a:buClr>
              <a:buFont typeface="Symbol"/>
              <a:buChar char=""/>
              <a:tabLst>
                <a:tab pos="250457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endParaRPr sz="1700" dirty="0">
              <a:latin typeface="Times New Roman"/>
              <a:cs typeface="Times New Roman"/>
            </a:endParaRPr>
          </a:p>
          <a:p>
            <a:pPr marL="250151" indent="-134086">
              <a:spcBef>
                <a:spcPts val="108"/>
              </a:spcBef>
              <a:buClr>
                <a:srgbClr val="252525"/>
              </a:buClr>
              <a:buFont typeface="Symbol"/>
              <a:buChar char=""/>
              <a:tabLst>
                <a:tab pos="250457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main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250151" indent="-134086">
              <a:spcBef>
                <a:spcPts val="115"/>
              </a:spcBef>
              <a:buClr>
                <a:srgbClr val="252525"/>
              </a:buClr>
              <a:buFont typeface="Symbol"/>
              <a:buChar char=""/>
              <a:tabLst>
                <a:tab pos="250457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Consi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(CC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250151" marR="5498" indent="-134086">
              <a:spcBef>
                <a:spcPts val="46"/>
              </a:spcBef>
              <a:buClr>
                <a:srgbClr val="252525"/>
              </a:buClr>
              <a:buFont typeface="Symbol"/>
              <a:buChar char=""/>
              <a:tabLst>
                <a:tab pos="250457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CCW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I/O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endParaRPr sz="1700" dirty="0">
              <a:latin typeface="Times New Roman"/>
              <a:cs typeface="Times New Roman"/>
            </a:endParaRPr>
          </a:p>
          <a:p>
            <a:pPr marL="250151" marR="5498" indent="-134086">
              <a:spcBef>
                <a:spcPts val="58"/>
              </a:spcBef>
              <a:buClr>
                <a:srgbClr val="252525"/>
              </a:buClr>
              <a:buFont typeface="Symbol"/>
              <a:buChar char=""/>
              <a:tabLst>
                <a:tab pos="250457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CPU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initi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 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lass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initi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ted,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indep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239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0C1E8-1486-A831-25B3-E5D4FE03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02969E-8571-5E28-87A7-11E38BD4C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3FFD1E-3D9E-1EB6-BD39-BA80100C4E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76D1DEF-5650-267D-F3B0-5DC5A7A500E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434CF2-C50D-C6A8-73C2-CDC241828E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1F29733-2E25-3497-0E05-27F4ABD1F6C6}"/>
              </a:ext>
            </a:extLst>
          </p:cNvPr>
          <p:cNvSpPr txBox="1"/>
          <p:nvPr/>
        </p:nvSpPr>
        <p:spPr>
          <a:xfrm>
            <a:off x="914400" y="1047750"/>
            <a:ext cx="7063806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inco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task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lang="en-US" sz="1700" spc="-14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spc="-14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P)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bilit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ific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desig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tasks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rithm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tic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logi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hing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nslation.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519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D33A7-1518-0877-893C-1CB71E4F4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443D26-AEE9-8705-E4E3-B9EB73A6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7B5E5-E029-B442-C639-3C12EE0954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F639811-4B21-7464-ECE4-2ED3629899A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8EC236-F74B-D681-AF46-186EB2A530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3DA23510-7A37-EC45-47CA-90BB1A390C66}"/>
              </a:ext>
            </a:extLst>
          </p:cNvPr>
          <p:cNvSpPr txBox="1"/>
          <p:nvPr/>
        </p:nvSpPr>
        <p:spPr>
          <a:xfrm>
            <a:off x="1028700" y="3028950"/>
            <a:ext cx="7086599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upies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positi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ponsible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solu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tional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tasks.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provid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ata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rious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riph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devi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87D61C0-5890-5D60-F297-DAA2EE1E8EF3}"/>
              </a:ext>
            </a:extLst>
          </p:cNvPr>
          <p:cNvSpPr/>
          <p:nvPr/>
        </p:nvSpPr>
        <p:spPr>
          <a:xfrm>
            <a:off x="2797884" y="771369"/>
            <a:ext cx="4119846" cy="16032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AA0C4-EA37-35E1-C45C-1CD16B4CD3EF}"/>
              </a:ext>
            </a:extLst>
          </p:cNvPr>
          <p:cNvSpPr txBox="1"/>
          <p:nvPr/>
        </p:nvSpPr>
        <p:spPr>
          <a:xfrm>
            <a:off x="2419033" y="2570975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6630"/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Block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dia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ra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m of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a comp</a:t>
            </a:r>
            <a:r>
              <a:rPr lang="en-US" sz="11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er 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th 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/O Pr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sor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128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1D69-36C0-6982-FA3B-9DC82B93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B66E7-7BEE-C678-095C-207807244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6968F-018F-A0BD-9F6D-353FFD0299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055B729-5B05-D0A6-878B-BC35E35BEED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F0190E-32AC-C635-6C96-7B0FC22019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0F4EB61C-25CE-0D4F-31A3-8166C9544A6A}"/>
              </a:ext>
            </a:extLst>
          </p:cNvPr>
          <p:cNvSpPr txBox="1"/>
          <p:nvPr/>
        </p:nvSpPr>
        <p:spPr>
          <a:xfrm>
            <a:off x="1066800" y="1200150"/>
            <a:ext cx="6934199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hile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a slave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initi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aft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erates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indep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eriph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bytes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hich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block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40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them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imil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O/P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934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377F-03CD-D878-E876-44785107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2F4015-1C03-98E8-F85A-8C19AF0F4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D46FFA-073A-2B96-98D0-319C308A69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71CCF60-C8C6-8260-9F14-18D0218AB7A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A3271B-05FE-C3FC-F0F5-08D4A69AC2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7C0BFCB4-7200-2D3A-15E8-7C4990F5DF22}"/>
              </a:ext>
            </a:extLst>
          </p:cNvPr>
          <p:cNvSpPr txBox="1"/>
          <p:nvPr/>
        </p:nvSpPr>
        <p:spPr>
          <a:xfrm>
            <a:off x="990600" y="690298"/>
            <a:ext cx="716280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CP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–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IO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COM</a:t>
            </a:r>
            <a:r>
              <a:rPr sz="1700" b="1" spc="-1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UN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ICA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endParaRPr lang="en-US" sz="1700" b="1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memory unit acts as a message center where each processor leaves information for the other. The operation of typical IOP is appreciated with the example by which the CPU and IOP communication.</a:t>
            </a:r>
          </a:p>
        </p:txBody>
      </p:sp>
      <p:sp>
        <p:nvSpPr>
          <p:cNvPr id="2" name="object 5"/>
          <p:cNvSpPr/>
          <p:nvPr/>
        </p:nvSpPr>
        <p:spPr>
          <a:xfrm>
            <a:off x="2590800" y="2022801"/>
            <a:ext cx="3667194" cy="26825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0E053-9563-AC65-075B-79F58DC1E2CC}"/>
              </a:ext>
            </a:extLst>
          </p:cNvPr>
          <p:cNvSpPr txBox="1"/>
          <p:nvPr/>
        </p:nvSpPr>
        <p:spPr>
          <a:xfrm>
            <a:off x="6367457" y="3257550"/>
            <a:ext cx="198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5375" algn="ctr"/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– I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P co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mm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un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4546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4AAB-7CF9-C705-6A14-B8C1EF62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DF039-CA2F-B690-6BAE-A04D2E37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9B46FB-4154-CFD9-7D28-4628999F1F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194A413-AA7A-2E71-E9F4-87D105608F3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BDA2CD-A329-FC8F-AAA4-40950505A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914400" y="819150"/>
            <a:ext cx="7239000" cy="3765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indent="-109651" algn="just"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path.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08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k.</a:t>
            </a:r>
            <a:endParaRPr sz="1700" dirty="0">
              <a:latin typeface="Times New Roman"/>
              <a:cs typeface="Times New Roman"/>
            </a:endParaRPr>
          </a:p>
          <a:p>
            <a:pPr marL="115760" marR="3971" indent="-109651" algn="just">
              <a:spcBef>
                <a:spcPts val="41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indi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ondition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rlo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ondition,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busy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dy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15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atus wor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in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ide 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do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15"/>
              </a:spcBef>
              <a:buFont typeface="Symbol"/>
              <a:buChar char=""/>
              <a:tabLst>
                <a:tab pos="11606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right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up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08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ontinu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anoth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og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15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08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issu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OP.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08"/>
              </a:spcBef>
              <a:buFont typeface="Symbol"/>
              <a:buChar char=""/>
              <a:tabLst>
                <a:tab pos="11606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pla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ontents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port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ry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 algn="just">
              <a:spcBef>
                <a:spcPts val="115"/>
              </a:spcBef>
              <a:buFont typeface="Symbol"/>
              <a:buChar char=""/>
              <a:tabLst>
                <a:tab pos="11606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tatus wor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indi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 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4866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4AAB-7CF9-C705-6A14-B8C1EF62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DF039-CA2F-B690-6BAE-A04D2E37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9B46FB-4154-CFD9-7D28-4628999F1F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194A413-AA7A-2E71-E9F4-87D105608F3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BDA2CD-A329-FC8F-AAA4-40950505A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616" y="819150"/>
            <a:ext cx="6986384" cy="324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8" marR="3665" algn="ctr">
              <a:tabLst>
                <a:tab pos="116065" algn="l"/>
              </a:tabLst>
            </a:pP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DA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OM</a:t>
            </a:r>
            <a:r>
              <a:rPr lang="en-US" sz="1700" b="1" spc="-1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NIC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IO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 PROCESSOR</a:t>
            </a:r>
            <a:endParaRPr lang="en-US" sz="1700" dirty="0">
              <a:latin typeface="Times New Roman"/>
              <a:cs typeface="Times New Roman"/>
            </a:endParaRPr>
          </a:p>
          <a:p>
            <a:pPr marL="116065" marR="3665" indent="-109957">
              <a:buFont typeface="Symbol"/>
              <a:buChar char=""/>
              <a:tabLst>
                <a:tab pos="116065" algn="l"/>
              </a:tabLst>
            </a:pPr>
            <a:endParaRPr lang="en-US" sz="1700" spc="-7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116065" marR="3665" indent="-109957">
              <a:buFont typeface="Symbol"/>
              <a:buChar char=""/>
              <a:tabLst>
                <a:tab pos="116065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Dis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tribut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many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mote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termin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throug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phone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 algn="just">
              <a:spcBef>
                <a:spcPts val="120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on: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63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hron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70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Asyn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hron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 algn="just">
              <a:spcBef>
                <a:spcPts val="120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63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rity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70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ksum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70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lic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75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Longitudinal 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5574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C3FB-5D08-5BA6-8F4D-FAE2B52A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6F307-7673-795D-2678-EFF3376E0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425FD3-2014-8831-DC8F-EA0B743153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5F3F83F-1672-BE9F-9552-53056EC921A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C16EC8-0F52-3948-E2C6-B083102BEE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AD99B2B-4084-9D95-70B1-999C836A0EF5}"/>
              </a:ext>
            </a:extLst>
          </p:cNvPr>
          <p:cNvSpPr txBox="1"/>
          <p:nvPr/>
        </p:nvSpPr>
        <p:spPr>
          <a:xfrm>
            <a:off x="1014616" y="819150"/>
            <a:ext cx="6986384" cy="2916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 indent="-109957" algn="just">
              <a:spcBef>
                <a:spcPts val="115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Mode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63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imples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75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lf 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uplex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Duple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 algn="just">
              <a:spcBef>
                <a:spcPts val="115"/>
              </a:spcBef>
              <a:buFont typeface="Symbol"/>
              <a:buChar char=""/>
              <a:tabLst>
                <a:tab pos="116065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&amp;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roto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ol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054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nd)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ibut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mote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lephone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on,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rough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i.e.,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sharing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on,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 wit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hrou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2155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08815-8031-4E6F-F485-91C2E131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1F7675-0684-CC12-3AFF-44F4EBE0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524779-7619-A34E-CB14-D4E5284A2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D683695-BF7D-D21B-2A44-B6AD145BA31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6FDB95-82B8-62F8-D147-C00F315D5F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76A9832-B6B0-0552-4793-9FE6FC721078}"/>
              </a:ext>
            </a:extLst>
          </p:cNvPr>
          <p:cNvSpPr txBox="1"/>
          <p:nvPr/>
        </p:nvSpPr>
        <p:spPr>
          <a:xfrm>
            <a:off x="1014616" y="819150"/>
            <a:ext cx="6986384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tel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phone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public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priv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ilities.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sync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hron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hron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ors.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rity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ived.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ksum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longitudin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lic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(CRC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irst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plex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mitt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ly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TV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ng.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duplex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both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lki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-talkie.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full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duplex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both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ousl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phon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356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B73CC-5975-9F48-87EA-CCA54D92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8E02A5-DA06-511E-6659-22A3F090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CFC1CA-3D8C-DAEF-9EEE-8C84AB032E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02B5BD6-62BA-E02F-EAD1-E9BFDFD1877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4F51ED-9AC2-6DB6-FF7D-A34E96A5B9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F9CC566-2367-BF0F-9972-DED44711D4D5}"/>
              </a:ext>
            </a:extLst>
          </p:cNvPr>
          <p:cNvSpPr txBox="1"/>
          <p:nvPr/>
        </p:nvSpPr>
        <p:spPr>
          <a:xfrm>
            <a:off x="990600" y="926811"/>
            <a:ext cx="6986384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4276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modems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quipm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ion 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info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mation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station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nk.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rly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info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mation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link 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omplished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proto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ol.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338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4AAB-7CF9-C705-6A14-B8C1EF62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DF039-CA2F-B690-6BAE-A04D2E37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9B46FB-4154-CFD9-7D28-4628999F1F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194A413-AA7A-2E71-E9F4-87D105608F3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BDA2CD-A329-FC8F-AAA4-40950505A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669654"/>
            <a:ext cx="7063500" cy="3849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2571">
              <a:spcBef>
                <a:spcPts val="426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2212571">
              <a:spcBef>
                <a:spcPts val="426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2571">
              <a:spcBef>
                <a:spcPts val="426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lvl="2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lvl="2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dirty="0">
                <a:latin typeface="Times New Roman"/>
                <a:cs typeface="Times New Roman"/>
              </a:rPr>
              <a:t>no, </a:t>
            </a:r>
            <a:r>
              <a:rPr lang="en-US" sz="1700" spc="-2" dirty="0">
                <a:latin typeface="Times New Roman"/>
                <a:cs typeface="Times New Roman"/>
              </a:rPr>
              <a:t>M.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rd </a:t>
            </a:r>
            <a:r>
              <a:rPr lang="en-US" sz="1700" spc="-2" dirty="0">
                <a:latin typeface="Times New Roman"/>
                <a:cs typeface="Times New Roman"/>
              </a:rPr>
              <a:t>Edition, 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5287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91CE-B558-A694-B46C-33EE290C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7339A-7E66-0DB3-0312-2F8332A98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F51524-1419-800A-0FC7-0B16B25722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D2F083C-73B0-2594-00FE-A2981F620FF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527BB7-3F17-BD2F-A892-9823BCA746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ED950A6-71B0-2ADC-6193-074DBB3A9CBF}"/>
              </a:ext>
            </a:extLst>
          </p:cNvPr>
          <p:cNvSpPr txBox="1"/>
          <p:nvPr/>
        </p:nvSpPr>
        <p:spPr>
          <a:xfrm>
            <a:off x="1040250" y="1047750"/>
            <a:ext cx="7063500" cy="1856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http://ww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ec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s.csun.e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du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~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putnam/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omp546/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u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Outpu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b.pdf</a:t>
            </a:r>
            <a:endParaRPr sz="1700" dirty="0">
              <a:latin typeface="Times New Roman"/>
              <a:cs typeface="Times New Roman"/>
            </a:endParaRPr>
          </a:p>
          <a:p>
            <a:pPr marL="225716" marR="140806" indent="-109651">
              <a:spcBef>
                <a:spcPts val="5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http://ww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.ioenot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s.e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du.np/m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dia/notes/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omput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org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niz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nd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hite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tur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dirty="0">
                <a:solidFill>
                  <a:srgbClr val="1F75A2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o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/Ch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pte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r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</a:rPr>
              <a:t>7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Input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-Out</a:t>
            </a:r>
            <a:r>
              <a:rPr sz="1700" u="sng" spc="5" dirty="0">
                <a:solidFill>
                  <a:srgbClr val="1F75A2"/>
                </a:solidFill>
                <a:latin typeface="Times New Roman"/>
                <a:cs typeface="Times New Roman"/>
              </a:rPr>
              <a:t>p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ut-O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rg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niz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</a:rPr>
              <a:t>on.pdf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1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</a:rPr>
              <a:t>/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.g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ksfo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rg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eeks.org/i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o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-int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f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-int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rr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up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dma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mode/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/O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Int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rf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nte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rupt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DMA Mode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69844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</TotalTime>
  <Words>1038</Words>
  <Application>Microsoft Office PowerPoint</Application>
  <PresentationFormat>On-screen Show (16:9)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Calibri Light</vt:lpstr>
      <vt:lpstr>Courier New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2024-12-24T17:02:57Z</dcterms:created>
  <dcterms:modified xsi:type="dcterms:W3CDTF">2024-12-26T07:00:58Z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