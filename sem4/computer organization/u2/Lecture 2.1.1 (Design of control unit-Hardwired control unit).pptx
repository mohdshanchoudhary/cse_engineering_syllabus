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6.jpg" ContentType="image/jpg"/>
  <Override PartName="/ppt/media/image8.jpg" ContentType="image/jpg"/>
  <Override PartName="/ppt/media/image9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8"/>
  </p:notesMasterIdLst>
  <p:sldIdLst>
    <p:sldId id="265" r:id="rId2"/>
    <p:sldId id="450" r:id="rId3"/>
    <p:sldId id="451" r:id="rId4"/>
    <p:sldId id="452" r:id="rId5"/>
    <p:sldId id="454" r:id="rId6"/>
    <p:sldId id="455" r:id="rId7"/>
    <p:sldId id="453" r:id="rId8"/>
    <p:sldId id="456" r:id="rId9"/>
    <p:sldId id="457" r:id="rId10"/>
    <p:sldId id="459" r:id="rId11"/>
    <p:sldId id="458" r:id="rId12"/>
    <p:sldId id="460" r:id="rId13"/>
    <p:sldId id="461" r:id="rId14"/>
    <p:sldId id="463" r:id="rId15"/>
    <p:sldId id="462" r:id="rId16"/>
    <p:sldId id="465" r:id="rId17"/>
  </p:sldIdLst>
  <p:sldSz cx="9144000" cy="5143500" type="screen16x9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5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874" y="67"/>
      </p:cViewPr>
      <p:guideLst>
        <p:guide orient="horz" pos="1385"/>
        <p:guide pos="26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3826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259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36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890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45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936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833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059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320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621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938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66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5712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1q2JKX3qg-4?si=dUjGIZjK8JVg78Xy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www.youtube.com/watch?v=gXXVX64yhM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youtube.com/watch?v=MxvZQLR6zqM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FCF30-EF72-A459-B1F4-E2DD160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354A7-7091-D91A-A7E7-7B5DF5BDC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67096D5-CA38-0859-FAF8-58F7984BD0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33E20-ECE4-6406-DB92-ABF9EA9DF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664002-4AA4-31D1-E101-4DF5A585878C}"/>
              </a:ext>
            </a:extLst>
          </p:cNvPr>
          <p:cNvSpPr txBox="1"/>
          <p:nvPr/>
        </p:nvSpPr>
        <p:spPr>
          <a:xfrm>
            <a:off x="961776" y="1435539"/>
            <a:ext cx="7220448" cy="1897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39815">
              <a:defRPr/>
            </a:pPr>
            <a:r>
              <a:rPr lang="en-US" sz="2597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University Institute of Engineering</a:t>
            </a:r>
            <a:endParaRPr lang="en-US" sz="2597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Science &amp; Engineering</a:t>
            </a:r>
          </a:p>
          <a:p>
            <a:pPr algn="ctr" defTabSz="439815">
              <a:defRPr/>
            </a:pP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&amp; ARCHITECTURE</a:t>
            </a: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lnSpc>
                <a:spcPct val="90000"/>
              </a:lnSpc>
              <a:spcBef>
                <a:spcPts val="606"/>
              </a:spcBef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(23CST-204/23ITT-204)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7016100-A7B3-0379-C4B5-D13BB8B70B9B}"/>
              </a:ext>
            </a:extLst>
          </p:cNvPr>
          <p:cNvSpPr txBox="1">
            <a:spLocks/>
          </p:cNvSpPr>
          <p:nvPr/>
        </p:nvSpPr>
        <p:spPr>
          <a:xfrm>
            <a:off x="304801" y="3655678"/>
            <a:ext cx="2364055" cy="1039831"/>
          </a:xfrm>
          <a:prstGeom prst="rect">
            <a:avLst/>
          </a:prstGeom>
        </p:spPr>
        <p:txBody>
          <a:bodyPr vert="horz" lIns="43982" tIns="21991" rIns="43982" bIns="21991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5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SHIKHA ATWAL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E11186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BE-CSE</a:t>
            </a:r>
          </a:p>
        </p:txBody>
      </p:sp>
    </p:spTree>
    <p:extLst>
      <p:ext uri="{BB962C8B-B14F-4D97-AF65-F5344CB8AC3E}">
        <p14:creationId xmlns:p14="http://schemas.microsoft.com/office/powerpoint/2010/main" val="127363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E345F-1629-2AC0-029C-BEB4D71F8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C52DFB-0485-946E-4D59-65700460B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40F2E7-1E0F-4659-600E-1008149736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859C10D-9BA7-0582-6776-D2DEE3245EB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14CF99-16F5-B002-4123-560968EF1F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90600" y="971550"/>
            <a:ext cx="3581400" cy="2616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682647" algn="ctr"/>
            <a:r>
              <a:rPr sz="1700" b="1" spc="-2" dirty="0">
                <a:latin typeface="Times New Roman"/>
                <a:cs typeface="Times New Roman"/>
              </a:rPr>
              <a:t>DE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IG</a:t>
            </a:r>
            <a:r>
              <a:rPr sz="1700" b="1" dirty="0">
                <a:latin typeface="Times New Roman"/>
                <a:cs typeface="Times New Roman"/>
              </a:rPr>
              <a:t>N </a:t>
            </a:r>
            <a:r>
              <a:rPr sz="1700" b="1" spc="-5" dirty="0">
                <a:latin typeface="Times New Roman"/>
                <a:cs typeface="Times New Roman"/>
              </a:rPr>
              <a:t>OF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ONT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O</a:t>
            </a:r>
            <a:r>
              <a:rPr sz="1700" b="1" spc="-5" dirty="0">
                <a:latin typeface="Times New Roman"/>
                <a:cs typeface="Times New Roman"/>
              </a:rPr>
              <a:t>L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UNIT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3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2443" algn="just"/>
            <a:r>
              <a:rPr sz="1700" spc="-5" dirty="0">
                <a:latin typeface="Times New Roman"/>
                <a:cs typeface="Times New Roman"/>
              </a:rPr>
              <a:t>To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ute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must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q</a:t>
            </a:r>
            <a:r>
              <a:rPr sz="1700" spc="-2" dirty="0">
                <a:latin typeface="Times New Roman"/>
                <a:cs typeface="Times New Roman"/>
              </a:rPr>
              <a:t>uir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signal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prop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qu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two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pproa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ng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signal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5" dirty="0">
                <a:latin typeface="Times New Roman"/>
                <a:cs typeface="Times New Roman"/>
              </a:rPr>
              <a:t>prop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q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H</a:t>
            </a:r>
            <a:r>
              <a:rPr sz="1700" spc="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wir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" dirty="0">
                <a:latin typeface="Times New Roman"/>
                <a:cs typeface="Times New Roman"/>
              </a:rPr>
              <a:t>Control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and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Mic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dirty="0">
                <a:latin typeface="Times New Roman"/>
                <a:cs typeface="Times New Roman"/>
              </a:rPr>
              <a:t>progr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4" name="object 4"/>
          <p:cNvSpPr/>
          <p:nvPr/>
        </p:nvSpPr>
        <p:spPr>
          <a:xfrm>
            <a:off x="5181600" y="971550"/>
            <a:ext cx="3200400" cy="2895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190797-7006-4B3F-A0A8-92E8273EDD79}"/>
              </a:ext>
            </a:extLst>
          </p:cNvPr>
          <p:cNvSpPr txBox="1"/>
          <p:nvPr/>
        </p:nvSpPr>
        <p:spPr>
          <a:xfrm>
            <a:off x="5338797" y="4041145"/>
            <a:ext cx="2886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1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Comput</a:t>
            </a:r>
            <a:r>
              <a:rPr lang="en-US" sz="11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1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1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syste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lang="en-US" sz="11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100" i="1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omp</a:t>
            </a:r>
            <a:r>
              <a:rPr lang="en-US" sz="1100" i="1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lang="en-US" sz="11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lang="en-US" sz="11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1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nts</a:t>
            </a:r>
            <a:endParaRPr lang="en-US" sz="11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70941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E345F-1629-2AC0-029C-BEB4D71F8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C52DFB-0485-946E-4D59-65700460B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40F2E7-1E0F-4659-600E-1008149736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859C10D-9BA7-0582-6776-D2DEE3245EB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14CF99-16F5-B002-4123-560968EF1F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/>
          <p:cNvSpPr txBox="1"/>
          <p:nvPr/>
        </p:nvSpPr>
        <p:spPr>
          <a:xfrm>
            <a:off x="914400" y="819150"/>
            <a:ext cx="7010400" cy="3400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spc="-5" dirty="0">
                <a:latin typeface="Times New Roman"/>
                <a:cs typeface="Times New Roman"/>
              </a:rPr>
              <a:t>The Control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Uni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cl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dirty="0">
                <a:latin typeface="Times New Roman"/>
                <a:cs typeface="Times New Roman"/>
              </a:rPr>
              <a:t>o two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major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tegori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7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" dirty="0">
                <a:latin typeface="Times New Roman"/>
                <a:cs typeface="Times New Roman"/>
              </a:rPr>
              <a:t>Control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Unit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Font typeface="Symbol"/>
              <a:buChar char=""/>
              <a:tabLst>
                <a:tab pos="226022" algn="l"/>
              </a:tabLst>
            </a:pPr>
            <a:r>
              <a:rPr sz="1700" spc="-7" dirty="0">
                <a:latin typeface="Times New Roman"/>
                <a:cs typeface="Times New Roman"/>
              </a:rPr>
              <a:t>Micr</a:t>
            </a:r>
            <a:r>
              <a:rPr sz="1700" dirty="0">
                <a:latin typeface="Times New Roman"/>
                <a:cs typeface="Times New Roman"/>
              </a:rPr>
              <a:t>opro</a:t>
            </a:r>
            <a:r>
              <a:rPr sz="1700" spc="-2" dirty="0">
                <a:latin typeface="Times New Roman"/>
                <a:cs typeface="Times New Roman"/>
              </a:rPr>
              <a:t>gr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" dirty="0">
                <a:latin typeface="Times New Roman"/>
                <a:cs typeface="Times New Roman"/>
              </a:rPr>
              <a:t>Cont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ol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Unit</a:t>
            </a:r>
            <a:endParaRPr sz="1700" dirty="0">
              <a:latin typeface="Times New Roman"/>
              <a:cs typeface="Times New Roman"/>
            </a:endParaRPr>
          </a:p>
          <a:p>
            <a:pPr>
              <a:buFont typeface="Symbol"/>
              <a:buChar char=""/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Hardwir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Cont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ol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marR="3054" indent="-109651" algn="just">
              <a:buFont typeface="Symbol"/>
              <a:buChar char=""/>
              <a:tabLst>
                <a:tab pos="226022" algn="l"/>
              </a:tabLst>
            </a:pP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unit</a:t>
            </a:r>
            <a:r>
              <a:rPr sz="17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method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signal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lp</a:t>
            </a:r>
            <a:r>
              <a:rPr sz="17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inite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hines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(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M).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 algn="just">
              <a:spcBef>
                <a:spcPts val="41"/>
              </a:spcBef>
              <a:buFont typeface="Symbol"/>
              <a:buChar char=""/>
              <a:tabLst>
                <a:tab pos="226022" algn="l"/>
              </a:tabLst>
            </a:pP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signal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Control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Uni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by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spe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ially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built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logi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uits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’t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nge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nism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withou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physi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nging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uit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struc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tur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59447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E345F-1629-2AC0-029C-BEB4D71F8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C52DFB-0485-946E-4D59-65700460B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40F2E7-1E0F-4659-600E-1008149736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859C10D-9BA7-0582-6776-D2DEE3245EB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14CF99-16F5-B002-4123-560968EF1F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/>
          <p:cNvSpPr/>
          <p:nvPr/>
        </p:nvSpPr>
        <p:spPr>
          <a:xfrm>
            <a:off x="1724499" y="417624"/>
            <a:ext cx="4520914" cy="413532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US" sz="86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4A329C-6C1A-73BA-363A-584E188EE0BF}"/>
              </a:ext>
            </a:extLst>
          </p:cNvPr>
          <p:cNvSpPr txBox="1"/>
          <p:nvPr/>
        </p:nvSpPr>
        <p:spPr>
          <a:xfrm>
            <a:off x="6629354" y="2356306"/>
            <a:ext cx="18229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Blo</a:t>
            </a:r>
            <a:r>
              <a:rPr lang="en-US" sz="11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1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lang="en-US" sz="11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 Diagra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m </a:t>
            </a:r>
            <a:r>
              <a:rPr lang="en-US" sz="11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1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Hardw</a:t>
            </a:r>
            <a:r>
              <a:rPr lang="en-US" sz="1100" i="1" spc="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lang="en-US" sz="11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lang="en-US" sz="11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Control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1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Unit</a:t>
            </a:r>
            <a:endParaRPr lang="en-US" sz="11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13448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BAF9F-0352-A88F-F8D3-E38C7AC62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56EC46-AF7F-B91F-5E75-290ACE908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A58DE8-59F0-9B8F-6C30-CBE771ABE9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AC6925E4-D0C2-48AB-6657-5EEE279F58A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FEA17C-6607-1CB1-EE42-D6749B55022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D0A3B9B8-2523-F060-B06F-54422627EF6D}"/>
              </a:ext>
            </a:extLst>
          </p:cNvPr>
          <p:cNvSpPr txBox="1"/>
          <p:nvPr/>
        </p:nvSpPr>
        <p:spPr>
          <a:xfrm>
            <a:off x="990600" y="665845"/>
            <a:ext cx="7086600" cy="3139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2" dirty="0">
                <a:latin typeface="Times New Roman"/>
                <a:cs typeface="Times New Roman"/>
              </a:rPr>
              <a:t>Chara</a:t>
            </a:r>
            <a:r>
              <a:rPr sz="1700" b="1" spc="-5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te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istics </a:t>
            </a:r>
            <a:r>
              <a:rPr sz="1700" b="1" dirty="0">
                <a:latin typeface="Times New Roman"/>
                <a:cs typeface="Times New Roman"/>
              </a:rPr>
              <a:t>of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Har</a:t>
            </a:r>
            <a:r>
              <a:rPr sz="1700" b="1" dirty="0">
                <a:latin typeface="Times New Roman"/>
                <a:cs typeface="Times New Roman"/>
              </a:rPr>
              <a:t>d</a:t>
            </a:r>
            <a:r>
              <a:rPr sz="1700" b="1" spc="-7" dirty="0">
                <a:latin typeface="Times New Roman"/>
                <a:cs typeface="Times New Roman"/>
              </a:rPr>
              <a:t>wire</a:t>
            </a:r>
            <a:r>
              <a:rPr sz="1700" b="1" dirty="0">
                <a:latin typeface="Times New Roman"/>
                <a:cs typeface="Times New Roman"/>
              </a:rPr>
              <a:t>d </a:t>
            </a:r>
            <a:r>
              <a:rPr sz="1700" b="1" spc="-2" dirty="0">
                <a:latin typeface="Times New Roman"/>
                <a:cs typeface="Times New Roman"/>
              </a:rPr>
              <a:t>Cont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ol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U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it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3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od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rs,</a:t>
            </a:r>
            <a:r>
              <a:rPr sz="1700" spc="-2" dirty="0">
                <a:latin typeface="Times New Roman"/>
                <a:cs typeface="Times New Roman"/>
              </a:rPr>
              <a:t> s</a:t>
            </a:r>
            <a:r>
              <a:rPr sz="1700" spc="-5" dirty="0">
                <a:latin typeface="Times New Roman"/>
                <a:cs typeface="Times New Roman"/>
              </a:rPr>
              <a:t>equ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ounter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logic 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tes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make </a:t>
            </a:r>
            <a:r>
              <a:rPr sz="1700" dirty="0">
                <a:latin typeface="Times New Roman"/>
                <a:cs typeface="Times New Roman"/>
              </a:rPr>
              <a:t>up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Control.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2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2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tor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5" dirty="0">
                <a:latin typeface="Times New Roman"/>
                <a:cs typeface="Times New Roman"/>
              </a:rPr>
              <a:t>un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(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).</a:t>
            </a:r>
          </a:p>
          <a:p>
            <a:pPr marL="225716" indent="-109651">
              <a:spcBef>
                <a:spcPts val="12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nsis</a:t>
            </a:r>
            <a:r>
              <a:rPr sz="1700" spc="-2" dirty="0">
                <a:latin typeface="Times New Roman"/>
                <a:cs typeface="Times New Roman"/>
              </a:rPr>
              <a:t>ts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0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hrou</a:t>
            </a:r>
            <a:r>
              <a:rPr sz="1700" spc="-2" dirty="0">
                <a:latin typeface="Times New Roman"/>
                <a:cs typeface="Times New Roman"/>
              </a:rPr>
              <a:t>g</a:t>
            </a:r>
            <a:r>
              <a:rPr sz="1700" dirty="0">
                <a:latin typeface="Times New Roman"/>
                <a:cs typeface="Times New Roman"/>
              </a:rPr>
              <a:t>h 11.</a:t>
            </a:r>
          </a:p>
          <a:p>
            <a:pPr marL="225716" indent="-109651">
              <a:spcBef>
                <a:spcPts val="12"/>
              </a:spcBef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3 x 8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od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to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ode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ode</a:t>
            </a:r>
            <a:r>
              <a:rPr sz="1700" spc="-2" dirty="0">
                <a:latin typeface="Times New Roman"/>
                <a:cs typeface="Times New Roman"/>
              </a:rPr>
              <a:t> in bits </a:t>
            </a:r>
            <a:r>
              <a:rPr sz="1700" dirty="0">
                <a:latin typeface="Times New Roman"/>
                <a:cs typeface="Times New Roman"/>
              </a:rPr>
              <a:t>12 </a:t>
            </a:r>
            <a:r>
              <a:rPr sz="1700" spc="-5" dirty="0">
                <a:latin typeface="Times New Roman"/>
                <a:cs typeface="Times New Roman"/>
              </a:rPr>
              <a:t>through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14.</a:t>
            </a:r>
          </a:p>
          <a:p>
            <a:pPr marL="225716" indent="-109651">
              <a:spcBef>
                <a:spcPts val="17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 d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’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outputs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noted</a:t>
            </a:r>
            <a:r>
              <a:rPr sz="1700" dirty="0">
                <a:latin typeface="Times New Roman"/>
                <a:cs typeface="Times New Roman"/>
              </a:rPr>
              <a:t> by </a:t>
            </a:r>
            <a:r>
              <a:rPr sz="1700" spc="-2" dirty="0">
                <a:latin typeface="Times New Roman"/>
                <a:cs typeface="Times New Roman"/>
              </a:rPr>
              <a:t>the lette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0 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ough </a:t>
            </a:r>
            <a:r>
              <a:rPr sz="1700" spc="-2" dirty="0">
                <a:latin typeface="Times New Roman"/>
                <a:cs typeface="Times New Roman"/>
              </a:rPr>
              <a:t>D7.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2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dirty="0">
                <a:latin typeface="Times New Roman"/>
                <a:cs typeface="Times New Roman"/>
              </a:rPr>
              <a:t> 15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is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nsf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fli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lop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7" dirty="0">
                <a:latin typeface="Times New Roman"/>
                <a:cs typeface="Times New Roman"/>
              </a:rPr>
              <a:t>symbo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indent="-109651">
              <a:spcBef>
                <a:spcPts val="12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logic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tes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</a:t>
            </a:r>
            <a:r>
              <a:rPr sz="1700" spc="-2" dirty="0">
                <a:latin typeface="Times New Roman"/>
                <a:cs typeface="Times New Roman"/>
              </a:rPr>
              <a:t>gr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bits </a:t>
            </a:r>
            <a:r>
              <a:rPr sz="1700" dirty="0">
                <a:latin typeface="Times New Roman"/>
                <a:cs typeface="Times New Roman"/>
              </a:rPr>
              <a:t>0 to 11.</a:t>
            </a:r>
          </a:p>
          <a:p>
            <a:pPr marL="225716" indent="-109651">
              <a:spcBef>
                <a:spcPts val="12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qu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oun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(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)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ount</a:t>
            </a:r>
            <a:r>
              <a:rPr sz="1700" dirty="0">
                <a:latin typeface="Times New Roman"/>
                <a:cs typeface="Times New Roman"/>
              </a:rPr>
              <a:t> f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om</a:t>
            </a:r>
            <a:r>
              <a:rPr sz="1700" dirty="0">
                <a:latin typeface="Times New Roman"/>
                <a:cs typeface="Times New Roman"/>
              </a:rPr>
              <a:t> 0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15 </a:t>
            </a:r>
            <a:r>
              <a:rPr sz="1700" spc="-2" dirty="0">
                <a:latin typeface="Times New Roman"/>
                <a:cs typeface="Times New Roman"/>
              </a:rPr>
              <a:t>in </a:t>
            </a:r>
            <a:r>
              <a:rPr sz="1700" spc="-5" dirty="0">
                <a:latin typeface="Times New Roman"/>
                <a:cs typeface="Times New Roman"/>
              </a:rPr>
              <a:t>bin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ry.</a:t>
            </a:r>
          </a:p>
        </p:txBody>
      </p:sp>
    </p:spTree>
    <p:extLst>
      <p:ext uri="{BB962C8B-B14F-4D97-AF65-F5344CB8AC3E}">
        <p14:creationId xmlns:p14="http://schemas.microsoft.com/office/powerpoint/2010/main" val="3563297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04725-31F4-92A7-680F-61964E217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278010-191F-CC01-4E9B-53A710208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AAD79A-6CC5-7699-4A64-3CEF7FAC6F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9F9929B5-1A11-7388-6673-E91454AB6B3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47A419-9006-1B77-D89C-875F71D027B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F13CD71A-724A-88BE-232D-25143AFCFD04}"/>
              </a:ext>
            </a:extLst>
          </p:cNvPr>
          <p:cNvSpPr txBox="1"/>
          <p:nvPr/>
        </p:nvSpPr>
        <p:spPr>
          <a:xfrm>
            <a:off x="990600" y="665845"/>
            <a:ext cx="7086600" cy="3139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sig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g of 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Ha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wire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Cont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ol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4582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following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som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ys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onst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gic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ve</a:t>
            </a:r>
            <a:r>
              <a:rPr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prop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osed: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8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marR="2443" indent="-109651">
              <a:buFont typeface="Symbol"/>
              <a:buChar char=""/>
              <a:tabLst>
                <a:tab pos="226022" algn="l"/>
              </a:tabLst>
            </a:pP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qu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e </a:t>
            </a:r>
            <a:r>
              <a:rPr sz="1700" b="1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Cou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b="1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Me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hod </a:t>
            </a:r>
            <a:r>
              <a:rPr sz="1700" b="1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−</a:t>
            </a:r>
            <a:r>
              <a:rPr sz="1700" b="1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most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design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somew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x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r.</a:t>
            </a:r>
            <a:endParaRPr sz="1700" dirty="0">
              <a:latin typeface="Times New Roman"/>
              <a:cs typeface="Times New Roman"/>
            </a:endParaRPr>
          </a:p>
          <a:p>
            <a:pPr marL="225716" marR="3360" indent="-109651">
              <a:spcBef>
                <a:spcPts val="36"/>
              </a:spcBef>
              <a:buFont typeface="Symbol"/>
              <a:buChar char=""/>
              <a:tabLst>
                <a:tab pos="226022" algn="l"/>
              </a:tabLst>
            </a:pP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elay</a:t>
            </a:r>
            <a:r>
              <a:rPr sz="1700" b="1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Elem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nt</a:t>
            </a:r>
            <a:r>
              <a:rPr sz="1700" b="1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thod</a:t>
            </a:r>
            <a:r>
              <a:rPr sz="1700" b="1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–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q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signals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his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method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lay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ments.</a:t>
            </a:r>
            <a:endParaRPr sz="1700" dirty="0">
              <a:latin typeface="Times New Roman"/>
              <a:cs typeface="Times New Roman"/>
            </a:endParaRPr>
          </a:p>
          <a:p>
            <a:pPr marL="225716" marR="3665" indent="-109651">
              <a:spcBef>
                <a:spcPts val="38"/>
              </a:spcBef>
              <a:buFont typeface="Symbol"/>
              <a:buChar char=""/>
              <a:tabLst>
                <a:tab pos="226022" algn="l"/>
              </a:tabLst>
            </a:pP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Sta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e </a:t>
            </a:r>
            <a:r>
              <a:rPr sz="1700" b="1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Table </a:t>
            </a:r>
            <a:r>
              <a:rPr sz="1700" b="1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Me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thod </a:t>
            </a:r>
            <a:r>
              <a:rPr sz="1700" b="1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−</a:t>
            </a:r>
            <a:r>
              <a:rPr sz="17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standa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rd 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lgorithmic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ppr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design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ing 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Note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z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ing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the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lassic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ble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thod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 this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thod.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931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11EFB-A652-7C27-0980-1D68E015E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71A5CC-811F-506D-9FB6-A28E7ED60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E250E2-D3C6-5FAF-10EA-B6ACB8B7F6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0FE8CD0-48A6-4965-F8F3-73BBFEB11E5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09B1DB-C531-F042-2FE6-B9DC9B1F871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63937" y="819150"/>
            <a:ext cx="7239000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Wo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g of a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Hardwir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Cont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ol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3360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basic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onta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ode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on.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r.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olle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of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de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rious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fields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inst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2443" algn="just"/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sul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t,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only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’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output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ve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tive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lues.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output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oupled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matr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ix’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inputs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ic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provide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signal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’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utive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units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sz="1700" spc="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This</a:t>
            </a:r>
            <a:r>
              <a:rPr sz="1700" spc="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matr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ix</a:t>
            </a:r>
            <a:r>
              <a:rPr sz="1700" spc="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ombin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signal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rom</a:t>
            </a:r>
            <a:r>
              <a:rPr sz="1700" spc="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ode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with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output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rom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rix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whic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tes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ls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indi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utive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unit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state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s,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signal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rom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outs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de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ld,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suc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rupt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ls.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ted in the sa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that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ble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logic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99830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792B1-1D3B-F344-68D7-4CD1910E0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DBDE93-8012-9158-3DBF-A59F41B93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AA6C5B-8E3B-B0F3-53E8-B7CFA2E2C9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B574CA4-AB13-BF64-B726-A25E50FEA7B9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7D5F70-6955-2F77-0B06-22CE431A3D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489484" y="819150"/>
            <a:ext cx="4936530" cy="33528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8D3418-41E3-0CED-96D6-9F3EA4346C34}"/>
              </a:ext>
            </a:extLst>
          </p:cNvPr>
          <p:cNvSpPr txBox="1"/>
          <p:nvPr/>
        </p:nvSpPr>
        <p:spPr>
          <a:xfrm>
            <a:off x="3157649" y="4081790"/>
            <a:ext cx="1600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1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Hardw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lang="en-US" sz="11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lang="en-US" sz="11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1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1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unit</a:t>
            </a:r>
            <a:endParaRPr lang="en-US" sz="11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0080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301AC-96D7-C970-6CAE-CF59E8410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3CDF22-4835-AFEB-64B1-D6E4E9D2A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E2CC3F-F393-C98A-0B4D-CD990AF8BD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D6D7A3F-5A65-845D-8697-DA0AD4AAD73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FCB9AE-119A-AADE-C053-30073614B54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/>
          <p:cNvSpPr txBox="1"/>
          <p:nvPr/>
        </p:nvSpPr>
        <p:spPr>
          <a:xfrm>
            <a:off x="990600" y="742950"/>
            <a:ext cx="7063500" cy="3816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Gene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ation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of a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ignal</a:t>
            </a:r>
            <a:endParaRPr lang="en-US" sz="1700" b="1" spc="-2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algn="just"/>
            <a:endParaRPr sz="1700" dirty="0">
              <a:latin typeface="Times New Roman"/>
              <a:cs typeface="Times New Roman"/>
            </a:endParaRPr>
          </a:p>
          <a:p>
            <a:pPr marL="291859" marR="11912" indent="-285750" algn="just">
              <a:spcBef>
                <a:spcPts val="253"/>
              </a:spcBef>
              <a:buFont typeface="Arial" panose="020B0604020202020204" pitchFamily="34" charset="0"/>
              <a:buChar char="•"/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Control sign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ls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must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du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ing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the wh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nge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that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spond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on,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not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just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time.</a:t>
            </a:r>
            <a:endParaRPr lang="en-US" sz="1700" spc="-2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91859" marR="11912" indent="-285750" algn="just">
              <a:spcBef>
                <a:spcPts val="253"/>
              </a:spcBef>
              <a:buFont typeface="Arial" panose="020B0604020202020204" pitchFamily="34" charset="0"/>
              <a:buChar char="•"/>
            </a:pP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unit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org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nises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ppro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pri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qu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rn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tes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on 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struc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ture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this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le.</a:t>
            </a:r>
            <a:endParaRPr lang="en-US" sz="1700" dirty="0">
              <a:latin typeface="Times New Roman"/>
              <a:cs typeface="Times New Roman"/>
            </a:endParaRPr>
          </a:p>
          <a:p>
            <a:pPr marL="291859" marR="11912" indent="-285750" algn="just">
              <a:spcBef>
                <a:spcPts val="253"/>
              </a:spcBef>
              <a:buFont typeface="Arial" panose="020B0604020202020204" pitchFamily="34" charset="0"/>
              <a:buChar char="•"/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matr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ix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nds 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mber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signal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 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input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following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matr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ix.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matr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ix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mix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these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timi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signal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ted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by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unit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nding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he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tangula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rns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typi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provid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by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qu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rtz</a:t>
            </a:r>
            <a:r>
              <a:rPr sz="17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tor.</a:t>
            </a:r>
            <a:endParaRPr lang="en-US" sz="1700" spc="-2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91859" marR="11912" indent="-285750" algn="just">
              <a:spcBef>
                <a:spcPts val="253"/>
              </a:spcBef>
              <a:buFont typeface="Arial" panose="020B0604020202020204" pitchFamily="34" charset="0"/>
              <a:buChar char="•"/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unit</a:t>
            </a:r>
            <a:r>
              <a:rPr sz="17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ginni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state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struc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on,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tching wh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28776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3B864-D8D7-012D-56F1-B51ED1E35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2EBCDD-B6EC-7846-81A9-8A931D09D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6C2994-9FE8-8616-E7D3-4CF778422E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A7B7F32D-2499-7BC3-B6A1-AE777D873F1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F84EB6-9CB8-A391-8A15-3BE14E9E87A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9296CEA1-4B6D-7942-D95D-33468C21CDF2}"/>
              </a:ext>
            </a:extLst>
          </p:cNvPr>
          <p:cNvSpPr txBox="1"/>
          <p:nvPr/>
        </p:nvSpPr>
        <p:spPr>
          <a:xfrm>
            <a:off x="990600" y="742950"/>
            <a:ext cx="7063500" cy="2169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Gene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ation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of a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ignal</a:t>
            </a:r>
            <a:endParaRPr lang="en-US" sz="1700" b="1" spc="-2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algn="just"/>
            <a:endParaRPr sz="1700" dirty="0">
              <a:latin typeface="Times New Roman"/>
              <a:cs typeface="Times New Roman"/>
            </a:endParaRPr>
          </a:p>
          <a:p>
            <a:pPr marL="291859" marR="11912" indent="-285750" algn="just">
              <a:spcBef>
                <a:spcPts val="253"/>
              </a:spcBef>
              <a:buFont typeface="Arial" panose="020B0604020202020204" pitchFamily="34" charset="0"/>
              <a:buChar char="•"/>
            </a:pP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nstru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oding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rmits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control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unit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nter the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state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ecuti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on,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whic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lasts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long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’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timi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 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ignals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other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input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signals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suc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fl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gs 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info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mation,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stay un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d.</a:t>
            </a:r>
            <a:endParaRPr lang="en-US" sz="1700" spc="5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91859" marR="11912" indent="-285750" algn="just">
              <a:spcBef>
                <a:spcPts val="253"/>
              </a:spcBef>
              <a:buFont typeface="Arial" panose="020B0604020202020204" pitchFamily="34" charset="0"/>
              <a:buChar char="•"/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nge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ny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viously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signal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trol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uni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’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statu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89267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7E8EE-2446-89E6-6D3D-0B3FD11C6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63ADD1-BA65-E717-A67E-B8CEE8929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093A98-3BD5-A890-13BD-C2010599E8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448FCEF-2A45-0A6E-214E-B8822C066F0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492338-7EE6-8E3E-59B0-C75E50307A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4310" y="819150"/>
            <a:ext cx="7139090" cy="37010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lt</a:t>
            </a:r>
            <a:endParaRPr sz="1700" dirty="0">
              <a:latin typeface="Times New Roman"/>
              <a:cs typeface="Times New Roman"/>
            </a:endParaRPr>
          </a:p>
          <a:p>
            <a:pPr marL="6109" marR="3054" algn="just">
              <a:spcBef>
                <a:spcPts val="260"/>
              </a:spcBef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espond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input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control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matr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ix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sul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this.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xte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(su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upt)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mes,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unit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rs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xt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whic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rne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spon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xte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(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mpl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rupt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ing).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ompu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’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fl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gs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state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riables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utilise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hoo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ppro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for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of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2443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’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tes</a:t>
            </a:r>
            <a:r>
              <a:rPr sz="17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tching</a:t>
            </a:r>
            <a:r>
              <a:rPr sz="17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’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xt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tion: se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nding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progr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m’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unter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ontent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dd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buf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ion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’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ter.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unit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xt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tive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runnin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stop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nstru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on,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whic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tes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ogr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mme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3650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D2B7E-FC2B-2E95-7769-3BD0D6A65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3BAD2C-A255-B0BB-40B4-9E263322A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A8C5F3-8A6A-254F-3C7C-5E6155F172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9EFC69A3-723F-0BBE-EF06-22F15C1630A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F6C32E-0F77-41BE-96C1-A5F8302F6D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362200" y="1079627"/>
            <a:ext cx="3328024" cy="298424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93624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82A66-E28C-CC76-6635-C16B6E4B5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B5FFE8-1ED6-F28E-F23C-69DF02AA9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BF257F-9B8D-C5A9-F3A1-FFD0019201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C2199BF-DE33-F2CC-E4DC-4825021BE27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546927-D9C0-EE52-A239-14DD2656389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/>
          <p:cNvSpPr txBox="1"/>
          <p:nvPr/>
        </p:nvSpPr>
        <p:spPr>
          <a:xfrm>
            <a:off x="952500" y="1047750"/>
            <a:ext cx="7239000" cy="2092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Adva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tag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Ha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wi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Cont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ol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endParaRPr sz="1700" dirty="0">
              <a:latin typeface="Times New Roman"/>
              <a:cs typeface="Times New Roman"/>
            </a:endParaRPr>
          </a:p>
          <a:p>
            <a:pPr algn="just">
              <a:spcBef>
                <a:spcPts val="23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marR="230908" indent="-109651" algn="just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Control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Uni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qu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ick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due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the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ombin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tion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signals.</a:t>
            </a:r>
            <a:endParaRPr sz="1700" dirty="0">
              <a:latin typeface="Times New Roman"/>
              <a:cs typeface="Times New Roman"/>
            </a:endParaRPr>
          </a:p>
          <a:p>
            <a:pPr marL="225716" marR="22602" indent="-109651" algn="just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mount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of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lay 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 the cr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ls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numb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of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 algn="just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stes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mode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o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ion.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 algn="just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Quic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unit.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79357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4E152-3A4D-A5F1-92C4-D6A285DFB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346A99-25DC-C973-FF10-3DAD8B94A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6E1DCA-59F6-B35C-B632-3F3C805693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8365AA1F-949A-39D3-F452-F0D6FDBEEC5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1EEF0B-FBE3-2458-D8F8-40243D7C607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103C4ADA-2231-B555-2307-4863A44FD206}"/>
              </a:ext>
            </a:extLst>
          </p:cNvPr>
          <p:cNvSpPr txBox="1"/>
          <p:nvPr/>
        </p:nvSpPr>
        <p:spPr>
          <a:xfrm>
            <a:off x="952500" y="1047750"/>
            <a:ext cx="7239000" cy="2354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Disa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van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tag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Ha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wire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Cont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ol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endParaRPr sz="1700" dirty="0">
              <a:latin typeface="Times New Roman"/>
              <a:cs typeface="Times New Roman"/>
            </a:endParaRPr>
          </a:p>
          <a:p>
            <a:pPr algn="just">
              <a:spcBef>
                <a:spcPts val="25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marR="160048" indent="-109651" algn="just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qu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dditional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ls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reated, 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design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omes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more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x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(n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mo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)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 algn="just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to control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ls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nging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ince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tate re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nging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 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 algn="just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t’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di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fi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ult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e-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nsuming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dd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tur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 algn="just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t’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di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fi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ult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ev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luate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fix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fla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initi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design.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 algn="just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t’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bit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pri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5967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AC1FC-A08E-8D97-37E7-0576550B6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BC7D91-A845-BD3B-9C71-8DEDDA883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D06028-86E9-7E1D-BB2B-AAE669FB6C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940C52B-8776-9C40-0383-3376E17E5B6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E0EFB2-4136-1613-B0EA-521F5978393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14400" y="742950"/>
            <a:ext cx="7162800" cy="37984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lang="en-US" sz="1700" b="1" spc="-2" dirty="0">
                <a:latin typeface="Times New Roman"/>
                <a:cs typeface="Times New Roman"/>
              </a:rPr>
              <a:t>R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fe</a:t>
            </a:r>
            <a:r>
              <a:rPr lang="en-US" sz="1700" b="1" spc="-7" dirty="0">
                <a:latin typeface="Times New Roman"/>
                <a:cs typeface="Times New Roman"/>
              </a:rPr>
              <a:t>re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7" dirty="0">
                <a:latin typeface="Times New Roman"/>
                <a:cs typeface="Times New Roman"/>
              </a:rPr>
              <a:t>ce</a:t>
            </a:r>
            <a:r>
              <a:rPr lang="en-US" sz="1700" b="1" dirty="0">
                <a:latin typeface="Times New Roman"/>
                <a:cs typeface="Times New Roman"/>
              </a:rPr>
              <a:t>s</a:t>
            </a:r>
            <a:endParaRPr lang="en-US" sz="1700" dirty="0">
              <a:latin typeface="Times New Roman"/>
              <a:cs typeface="Times New Roman"/>
            </a:endParaRPr>
          </a:p>
          <a:p>
            <a:pPr marL="6109"/>
            <a:endParaRPr lang="en-US" sz="1700" b="1" spc="-2" dirty="0">
              <a:latin typeface="Times New Roman"/>
              <a:cs typeface="Times New Roman"/>
            </a:endParaRPr>
          </a:p>
          <a:p>
            <a:pPr marL="6109"/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B</a:t>
            </a:r>
            <a:r>
              <a:rPr sz="1700" b="1" dirty="0">
                <a:latin typeface="Times New Roman"/>
                <a:cs typeface="Times New Roman"/>
              </a:rPr>
              <a:t>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7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J.</a:t>
            </a:r>
            <a:r>
              <a:rPr sz="1700" dirty="0">
                <a:latin typeface="Times New Roman"/>
                <a:cs typeface="Times New Roman"/>
              </a:rPr>
              <a:t>P.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ay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io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Third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dition.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0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Ma</a:t>
            </a:r>
            <a:r>
              <a:rPr sz="1700" dirty="0">
                <a:latin typeface="Times New Roman"/>
                <a:cs typeface="Times New Roman"/>
              </a:rPr>
              <a:t>no, </a:t>
            </a:r>
            <a:r>
              <a:rPr sz="1700" spc="-2" dirty="0">
                <a:latin typeface="Times New Roman"/>
                <a:cs typeface="Times New Roman"/>
              </a:rPr>
              <a:t>M.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rd </a:t>
            </a:r>
            <a:r>
              <a:rPr sz="1700" spc="-2" dirty="0">
                <a:latin typeface="Times New Roman"/>
                <a:cs typeface="Times New Roman"/>
              </a:rPr>
              <a:t>Edition, 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H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marR="3665" indent="-109651">
              <a:spcBef>
                <a:spcPts val="433"/>
              </a:spcBef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tallings,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.,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14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chit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ture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Eight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rson </a:t>
            </a:r>
            <a:r>
              <a:rPr sz="1700" spc="-5" dirty="0">
                <a:latin typeface="Times New Roman"/>
                <a:cs typeface="Times New Roman"/>
              </a:rPr>
              <a:t>Edu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6109">
              <a:spcBef>
                <a:spcPts val="409"/>
              </a:spcBef>
            </a:pPr>
            <a:endParaRPr lang="en-US" sz="1700" b="1" spc="-5" dirty="0">
              <a:latin typeface="Times New Roman"/>
              <a:cs typeface="Times New Roman"/>
            </a:endParaRPr>
          </a:p>
          <a:p>
            <a:pPr marL="6109">
              <a:spcBef>
                <a:spcPts val="409"/>
              </a:spcBef>
            </a:pP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xt Book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>
              <a:spcBef>
                <a:spcPts val="426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rpin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lli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J.D</a:t>
            </a:r>
            <a:r>
              <a:rPr sz="1700" spc="2" dirty="0">
                <a:latin typeface="Times New Roman"/>
                <a:cs typeface="Times New Roman"/>
              </a:rPr>
              <a:t>,</a:t>
            </a:r>
            <a:r>
              <a:rPr sz="1700" spc="-5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org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&amp;Ar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ou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2" dirty="0">
                <a:latin typeface="Times New Roman"/>
                <a:cs typeface="Times New Roman"/>
              </a:rPr>
              <a:t>Addiso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esley.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0"/>
              </a:spcBef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rson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ssy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tur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ifth Edition Morga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K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uf</a:t>
            </a:r>
            <a:r>
              <a:rPr sz="1700" spc="-5" dirty="0">
                <a:latin typeface="Times New Roman"/>
                <a:cs typeface="Times New Roman"/>
              </a:rPr>
              <a:t>fman.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71197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781EF-CF01-F73B-6AFD-624788B9C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DC1922-0A85-901F-9D74-C4CC9DCC3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0229EB-4E1E-2C9E-E463-A6001F55AC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8F84B0EB-C74C-6722-A367-E7FE9879809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E72A18-3E62-811C-98D8-FD417A174CA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9D122EBA-F985-3B0A-71DA-BDBF69140862}"/>
              </a:ext>
            </a:extLst>
          </p:cNvPr>
          <p:cNvSpPr txBox="1"/>
          <p:nvPr/>
        </p:nvSpPr>
        <p:spPr>
          <a:xfrm>
            <a:off x="914400" y="742950"/>
            <a:ext cx="7162800" cy="3249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>
              <a:spcBef>
                <a:spcPts val="404"/>
              </a:spcBef>
            </a:pP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5" dirty="0">
                <a:latin typeface="Times New Roman"/>
                <a:cs typeface="Times New Roman"/>
              </a:rPr>
              <a:t>W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b</a:t>
            </a:r>
            <a:r>
              <a:rPr sz="1700" b="1" spc="-5" dirty="0">
                <a:latin typeface="Times New Roman"/>
                <a:cs typeface="Times New Roman"/>
              </a:rPr>
              <a:t>site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endParaRPr lang="en-US" sz="1700" b="1" dirty="0">
              <a:latin typeface="Times New Roman"/>
              <a:cs typeface="Times New Roman"/>
            </a:endParaRPr>
          </a:p>
          <a:p>
            <a:pPr marL="6109">
              <a:spcBef>
                <a:spcPts val="404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4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esign 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of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ontrol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 Unit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|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Comput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O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rg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za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ti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on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nd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hite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ture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Tutori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r>
              <a:rPr sz="1700" u="sng" spc="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jav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tpoint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63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rd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w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d 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ontrol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Unit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|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 GA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TE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 Notes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(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byjus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o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m)</a:t>
            </a:r>
            <a:endParaRPr sz="1700" dirty="0">
              <a:latin typeface="Times New Roman"/>
              <a:cs typeface="Times New Roman"/>
            </a:endParaRPr>
          </a:p>
          <a:p>
            <a:pPr marL="6109">
              <a:spcBef>
                <a:spcPts val="404"/>
              </a:spcBef>
            </a:pPr>
            <a:endParaRPr lang="en-US" sz="1700" b="1" spc="-2" dirty="0">
              <a:latin typeface="Times New Roman"/>
              <a:cs typeface="Times New Roman"/>
            </a:endParaRPr>
          </a:p>
          <a:p>
            <a:pPr marL="6109">
              <a:spcBef>
                <a:spcPts val="404"/>
              </a:spcBef>
            </a:pP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Vi</a:t>
            </a:r>
            <a:r>
              <a:rPr sz="1700" b="1" dirty="0">
                <a:latin typeface="Times New Roman"/>
                <a:cs typeface="Times New Roman"/>
              </a:rPr>
              <a:t>d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o </a:t>
            </a:r>
            <a:r>
              <a:rPr sz="1700" b="1" spc="-5" dirty="0">
                <a:latin typeface="Times New Roman"/>
                <a:cs typeface="Times New Roman"/>
              </a:rPr>
              <a:t>Li</a:t>
            </a:r>
            <a:r>
              <a:rPr sz="1700" b="1" spc="-2" dirty="0">
                <a:latin typeface="Times New Roman"/>
                <a:cs typeface="Times New Roman"/>
              </a:rPr>
              <a:t>n</a:t>
            </a:r>
            <a:r>
              <a:rPr sz="1700" b="1" dirty="0">
                <a:latin typeface="Times New Roman"/>
                <a:cs typeface="Times New Roman"/>
              </a:rPr>
              <a:t>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lang="en-US" sz="1700" b="1" spc="-2" dirty="0">
              <a:latin typeface="Times New Roman"/>
              <a:cs typeface="Times New Roman"/>
            </a:endParaRPr>
          </a:p>
          <a:p>
            <a:pPr marL="6109">
              <a:spcBef>
                <a:spcPts val="404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4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https: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//ww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w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.youtube.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om/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w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tch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?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v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=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MxvZQL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R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6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z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qM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63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https: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//ww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w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.youtube.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om/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w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tch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?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v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=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g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X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XVX64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y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hME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67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https: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/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/youtu.b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/1q2J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K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X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3q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g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-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4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?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si=dU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j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G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ZjK8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J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V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g78Xy</a:t>
            </a:r>
            <a:endParaRPr lang="en-US" sz="1700" u="sng" dirty="0">
              <a:solidFill>
                <a:srgbClr val="0000FF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495585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231</TotalTime>
  <Words>1137</Words>
  <Application>Microsoft Office PowerPoint</Application>
  <PresentationFormat>On-screen Show (16:9)</PresentationFormat>
  <Paragraphs>93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Symbol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Shikha Atwal</cp:lastModifiedBy>
  <cp:revision>2</cp:revision>
  <dcterms:created xsi:type="dcterms:W3CDTF">2024-12-24T09:06:19Z</dcterms:created>
  <dcterms:modified xsi:type="dcterms:W3CDTF">2024-12-25T09:58:14Z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2024-12-24T00:00:00Z</vt:filetime>
  </property>
  <property fmtid="{D5CDD505-2E9C-101B-9397-08002B2CF9AE}" pid="3" name="LastSaved">
    <vt:filetime>2024-12-24T00:00:00Z</vt:filetime>
  </property>
</Properties>
</file>