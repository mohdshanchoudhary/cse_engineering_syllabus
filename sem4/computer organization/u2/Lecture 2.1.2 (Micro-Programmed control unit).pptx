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g"/>
  <Override PartName="/ppt/media/image7.jpg" ContentType="image/jpg"/>
  <Override PartName="/ppt/media/image8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7"/>
  </p:notesMasterIdLst>
  <p:sldIdLst>
    <p:sldId id="265" r:id="rId2"/>
    <p:sldId id="464" r:id="rId3"/>
    <p:sldId id="465" r:id="rId4"/>
    <p:sldId id="468" r:id="rId5"/>
    <p:sldId id="466" r:id="rId6"/>
    <p:sldId id="467" r:id="rId7"/>
    <p:sldId id="469" r:id="rId8"/>
    <p:sldId id="470" r:id="rId9"/>
    <p:sldId id="471" r:id="rId10"/>
    <p:sldId id="474" r:id="rId11"/>
    <p:sldId id="475" r:id="rId12"/>
    <p:sldId id="472" r:id="rId13"/>
    <p:sldId id="476" r:id="rId14"/>
    <p:sldId id="477" r:id="rId15"/>
    <p:sldId id="478" r:id="rId16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8301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204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8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211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2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75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3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77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22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92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7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38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720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geeksforgeeks.org/last-minute-notes-computer-organization/" TargetMode="External"/><Relationship Id="rId13" Type="http://schemas.openxmlformats.org/officeDocument/2006/relationships/hyperlink" Target="https://youtu.be/5Sk5OpoT66E?si=DoCgVZ36iUTQDyB2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://www.cs.binghamton.edu/%7Ereckert/hardwire3new.html" TargetMode="External"/><Relationship Id="rId12" Type="http://schemas.openxmlformats.org/officeDocument/2006/relationships/hyperlink" Target="https://www.youtube.com/live/tYiC5xqDzBc?si=shs5d4bTt99AO4w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pvpsiddhartha.ac.in/dep_it/lecturenotes/CSA/unit-3.pdf" TargetMode="External"/><Relationship Id="rId11" Type="http://schemas.openxmlformats.org/officeDocument/2006/relationships/hyperlink" Target="https://youtu.be/fqe8n_7ln2c?si=hgui5tMiCt-ZPU7g" TargetMode="External"/><Relationship Id="rId5" Type="http://schemas.openxmlformats.org/officeDocument/2006/relationships/image" Target="../media/image5.png"/><Relationship Id="rId10" Type="http://schemas.openxmlformats.org/officeDocument/2006/relationships/hyperlink" Target="https://www.javatpoint.com/design-of-control-unit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bmsit.ac.in/system/study_materials/documents/000/000/007/original/Comp%20uter_Organization_Chapter7.pdf?147705710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9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15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15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1" y="3655678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5B89C-784D-8F02-FDC2-CDF61C980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0BAF1D-9B8C-0075-9E68-FC1300A8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573800-E0F6-5E45-9DB1-BD0720EEC2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F67626C-54E1-AF8B-2595-7113F9202A8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AAD364-4108-8FE3-2EBF-F6053CF6AA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400" y="742950"/>
            <a:ext cx="7162800" cy="21441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ICR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OG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C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ONT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RO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UNIT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7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prog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mming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implem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rogr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ol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prog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made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up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roinstru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out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seri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o-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rati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ons.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uni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’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rogr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mpos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roinstru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ons.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set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of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of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roinstru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  <a:p>
            <a:pPr marL="6109" algn="just">
              <a:spcBef>
                <a:spcPts val="404"/>
              </a:spcBef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block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type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org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niz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show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low: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1100" y="2887127"/>
            <a:ext cx="6781800" cy="15134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15CA47-A96E-3AFA-993F-1DDEF1180CB5}"/>
              </a:ext>
            </a:extLst>
          </p:cNvPr>
          <p:cNvSpPr txBox="1"/>
          <p:nvPr/>
        </p:nvSpPr>
        <p:spPr>
          <a:xfrm>
            <a:off x="3390900" y="4400550"/>
            <a:ext cx="2209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i="1" dirty="0">
                <a:latin typeface="Times New Roman"/>
                <a:cs typeface="Times New Roman"/>
              </a:rPr>
              <a:t>Mi</a:t>
            </a:r>
            <a:r>
              <a:rPr lang="en-US" sz="1100" i="1" spc="-5" dirty="0">
                <a:latin typeface="Times New Roman"/>
                <a:cs typeface="Times New Roman"/>
              </a:rPr>
              <a:t>c</a:t>
            </a:r>
            <a:r>
              <a:rPr lang="en-US" sz="1100" i="1" spc="-2" dirty="0">
                <a:latin typeface="Times New Roman"/>
                <a:cs typeface="Times New Roman"/>
              </a:rPr>
              <a:t>r</a:t>
            </a:r>
            <a:r>
              <a:rPr lang="en-US" sz="1100" i="1" dirty="0">
                <a:latin typeface="Times New Roman"/>
                <a:cs typeface="Times New Roman"/>
              </a:rPr>
              <a:t>o-</a:t>
            </a:r>
            <a:r>
              <a:rPr lang="en-US" sz="1100" i="1" spc="-7" dirty="0">
                <a:latin typeface="Times New Roman"/>
                <a:cs typeface="Times New Roman"/>
              </a:rPr>
              <a:t>P</a:t>
            </a:r>
            <a:r>
              <a:rPr lang="en-US" sz="1100" i="1" spc="-2" dirty="0">
                <a:latin typeface="Times New Roman"/>
                <a:cs typeface="Times New Roman"/>
              </a:rPr>
              <a:t>rog</a:t>
            </a:r>
            <a:r>
              <a:rPr lang="en-US" sz="1100" i="1" spc="-5" dirty="0">
                <a:latin typeface="Times New Roman"/>
                <a:cs typeface="Times New Roman"/>
              </a:rPr>
              <a:t>r</a:t>
            </a:r>
            <a:r>
              <a:rPr lang="en-US" sz="1100" i="1" dirty="0">
                <a:latin typeface="Times New Roman"/>
                <a:cs typeface="Times New Roman"/>
              </a:rPr>
              <a:t>a</a:t>
            </a:r>
            <a:r>
              <a:rPr lang="en-US" sz="1100" i="1" spc="-5" dirty="0">
                <a:latin typeface="Times New Roman"/>
                <a:cs typeface="Times New Roman"/>
              </a:rPr>
              <a:t>mm</a:t>
            </a:r>
            <a:r>
              <a:rPr lang="en-US" sz="1100" i="1" dirty="0">
                <a:latin typeface="Times New Roman"/>
                <a:cs typeface="Times New Roman"/>
              </a:rPr>
              <a:t>ed Con</a:t>
            </a:r>
            <a:r>
              <a:rPr lang="en-US" sz="1100" i="1" spc="-5" dirty="0">
                <a:latin typeface="Times New Roman"/>
                <a:cs typeface="Times New Roman"/>
              </a:rPr>
              <a:t>t</a:t>
            </a:r>
            <a:r>
              <a:rPr lang="en-US" sz="1100" i="1" spc="-2" dirty="0">
                <a:latin typeface="Times New Roman"/>
                <a:cs typeface="Times New Roman"/>
              </a:rPr>
              <a:t>r</a:t>
            </a:r>
            <a:r>
              <a:rPr lang="en-US" sz="1100" i="1" spc="-5" dirty="0">
                <a:latin typeface="Times New Roman"/>
                <a:cs typeface="Times New Roman"/>
              </a:rPr>
              <a:t>o</a:t>
            </a:r>
            <a:r>
              <a:rPr lang="en-US" sz="1100" i="1" dirty="0">
                <a:latin typeface="Times New Roman"/>
                <a:cs typeface="Times New Roman"/>
              </a:rPr>
              <a:t>l</a:t>
            </a:r>
            <a:r>
              <a:rPr lang="en-US" sz="1100" i="1" spc="2" dirty="0">
                <a:latin typeface="Times New Roman"/>
                <a:cs typeface="Times New Roman"/>
              </a:rPr>
              <a:t> </a:t>
            </a:r>
            <a:r>
              <a:rPr lang="en-US" sz="1100" i="1" spc="-5" dirty="0">
                <a:latin typeface="Times New Roman"/>
                <a:cs typeface="Times New Roman"/>
              </a:rPr>
              <a:t>U</a:t>
            </a:r>
            <a:r>
              <a:rPr lang="en-US" sz="1100" i="1" dirty="0">
                <a:latin typeface="Times New Roman"/>
                <a:cs typeface="Times New Roman"/>
              </a:rPr>
              <a:t>n</a:t>
            </a:r>
            <a:r>
              <a:rPr lang="en-US" sz="1100" i="1" spc="-5" dirty="0">
                <a:latin typeface="Times New Roman"/>
                <a:cs typeface="Times New Roman"/>
              </a:rPr>
              <a:t>i</a:t>
            </a:r>
            <a:r>
              <a:rPr lang="en-US" sz="1100" i="1" dirty="0">
                <a:latin typeface="Times New Roman"/>
                <a:cs typeface="Times New Roman"/>
              </a:rPr>
              <a:t>t</a:t>
            </a:r>
            <a:endParaRPr lang="en-US" sz="11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09757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5B89C-784D-8F02-FDC2-CDF61C980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0BAF1D-9B8C-0075-9E68-FC1300A8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573800-E0F6-5E45-9DB1-BD0720EEC2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F67626C-54E1-AF8B-2595-7113F9202A8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AAD364-4108-8FE3-2EBF-F6053CF6AA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914400" y="742950"/>
            <a:ext cx="7239000" cy="376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>
              <a:spcBef>
                <a:spcPts val="397"/>
              </a:spcBef>
            </a:pPr>
            <a:r>
              <a:rPr sz="1700" b="1" spc="-2" dirty="0">
                <a:latin typeface="Times New Roman"/>
                <a:cs typeface="Times New Roman"/>
              </a:rPr>
              <a:t>Chara</a:t>
            </a:r>
            <a:r>
              <a:rPr sz="1700" b="1" spc="-5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te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istics </a:t>
            </a:r>
            <a:r>
              <a:rPr sz="1700" b="1" dirty="0">
                <a:latin typeface="Times New Roman"/>
                <a:cs typeface="Times New Roman"/>
              </a:rPr>
              <a:t>of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icr</a:t>
            </a:r>
            <a:r>
              <a:rPr sz="1700" b="1" spc="2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-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og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2" dirty="0">
                <a:latin typeface="Times New Roman"/>
                <a:cs typeface="Times New Roman"/>
              </a:rPr>
              <a:t>Cont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ol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U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it</a:t>
            </a:r>
            <a:endParaRPr lang="en-US" sz="1700" b="1" spc="-2" dirty="0">
              <a:latin typeface="Times New Roman"/>
              <a:cs typeface="Times New Roman"/>
            </a:endParaRPr>
          </a:p>
          <a:p>
            <a:pPr marL="6109" algn="just">
              <a:spcBef>
                <a:spcPts val="397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spcBef>
                <a:spcPts val="409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roinstru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spe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 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egis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</a:p>
          <a:p>
            <a:pPr marL="225716" marR="3054" indent="-109651" algn="just">
              <a:spcBef>
                <a:spcPts val="387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7" dirty="0">
                <a:latin typeface="Times New Roman"/>
                <a:cs typeface="Times New Roman"/>
              </a:rPr>
              <a:t>Al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mation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y,</a:t>
            </a:r>
            <a:r>
              <a:rPr sz="1700" spc="-7" dirty="0">
                <a:latin typeface="Times New Roman"/>
                <a:cs typeface="Times New Roman"/>
              </a:rPr>
              <a:t> 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onsid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5" dirty="0">
                <a:latin typeface="Times New Roman"/>
                <a:cs typeface="Times New Roman"/>
              </a:rPr>
              <a:t> be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OM.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spcBef>
                <a:spcPts val="411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roinstru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rec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ived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is </a:t>
            </a:r>
            <a:r>
              <a:rPr sz="1700" dirty="0">
                <a:latin typeface="Times New Roman"/>
                <a:cs typeface="Times New Roman"/>
              </a:rPr>
              <a:t>st</a:t>
            </a:r>
            <a:r>
              <a:rPr sz="1700" spc="-2" dirty="0">
                <a:latin typeface="Times New Roman"/>
                <a:cs typeface="Times New Roman"/>
              </a:rPr>
              <a:t>or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 the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</a:p>
          <a:p>
            <a:pPr marL="225716" marR="2443" indent="-109651" algn="just">
              <a:spcBef>
                <a:spcPts val="375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 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ic</a:t>
            </a:r>
            <a:r>
              <a:rPr sz="1700" spc="-2" dirty="0">
                <a:latin typeface="Times New Roman"/>
                <a:cs typeface="Times New Roman"/>
              </a:rPr>
              <a:t>roinstru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ne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multiple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p</a:t>
            </a:r>
            <a:r>
              <a:rPr sz="1700" spc="-5" dirty="0">
                <a:latin typeface="Times New Roman"/>
                <a:cs typeface="Times New Roman"/>
              </a:rPr>
              <a:t>ro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ssor.</a:t>
            </a:r>
            <a:endParaRPr sz="1700" dirty="0">
              <a:latin typeface="Times New Roman"/>
              <a:cs typeface="Times New Roman"/>
            </a:endParaRPr>
          </a:p>
          <a:p>
            <a:pPr marL="225716" marR="5192" indent="-109651" algn="just">
              <a:spcBef>
                <a:spcPts val="378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lculat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tor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then</a:t>
            </a:r>
            <a:r>
              <a:rPr sz="1700" spc="-2" dirty="0">
                <a:latin typeface="Times New Roman"/>
                <a:cs typeface="Times New Roman"/>
              </a:rPr>
              <a:t> 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nsf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2" dirty="0">
                <a:latin typeface="Times New Roman"/>
                <a:cs typeface="Times New Roman"/>
              </a:rPr>
              <a:t>croinstru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mic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ex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</a:p>
          <a:p>
            <a:pPr marL="225716" marR="4887" indent="-109651" algn="just">
              <a:spcBef>
                <a:spcPts val="380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eca</a:t>
            </a:r>
            <a:r>
              <a:rPr sz="1700" dirty="0">
                <a:latin typeface="Times New Roman"/>
                <a:cs typeface="Times New Roman"/>
              </a:rPr>
              <a:t>use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y,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add</a:t>
            </a:r>
            <a:r>
              <a:rPr sz="1700" spc="-7" dirty="0">
                <a:latin typeface="Times New Roman"/>
                <a:cs typeface="Times New Roman"/>
              </a:rPr>
              <a:t>re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tor is also </a:t>
            </a:r>
            <a:r>
              <a:rPr sz="1700" dirty="0">
                <a:latin typeface="Times New Roman"/>
                <a:cs typeface="Times New Roman"/>
              </a:rPr>
              <a:t>known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ro</a:t>
            </a:r>
            <a:r>
              <a:rPr sz="1700" spc="2" dirty="0">
                <a:latin typeface="Times New Roman"/>
                <a:cs typeface="Times New Roman"/>
              </a:rPr>
              <a:t>pr</a:t>
            </a:r>
            <a:r>
              <a:rPr sz="1700" spc="-5" dirty="0">
                <a:latin typeface="Times New Roman"/>
                <a:cs typeface="Times New Roman"/>
              </a:rPr>
              <a:t>ogr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seque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r.</a:t>
            </a:r>
          </a:p>
        </p:txBody>
      </p:sp>
    </p:spTree>
    <p:extLst>
      <p:ext uri="{BB962C8B-B14F-4D97-AF65-F5344CB8AC3E}">
        <p14:creationId xmlns:p14="http://schemas.microsoft.com/office/powerpoint/2010/main" val="4051163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76EEA-33EE-0D93-E228-B20714B81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922156-66A6-9997-E8AF-699B5A193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7A3EDD-5D94-0496-70EA-6F29100B02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EE50FC5-8AFE-1312-9AED-D9CE14A934B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BAC45D-E81D-33E4-390B-5FA0BEC966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72336822-B668-8598-1F49-D26A8ACBA248}"/>
              </a:ext>
            </a:extLst>
          </p:cNvPr>
          <p:cNvSpPr txBox="1"/>
          <p:nvPr/>
        </p:nvSpPr>
        <p:spPr>
          <a:xfrm>
            <a:off x="952500" y="887805"/>
            <a:ext cx="7239000" cy="2508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2" dirty="0">
                <a:latin typeface="Times New Roman"/>
                <a:cs typeface="Times New Roman"/>
              </a:rPr>
              <a:t>D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sig</a:t>
            </a:r>
            <a:r>
              <a:rPr sz="1700" b="1" spc="2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in</a:t>
            </a:r>
            <a:r>
              <a:rPr sz="1700" b="1" dirty="0">
                <a:latin typeface="Times New Roman"/>
                <a:cs typeface="Times New Roman"/>
              </a:rPr>
              <a:t>g of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ic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-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5" dirty="0">
                <a:latin typeface="Times New Roman"/>
                <a:cs typeface="Times New Roman"/>
              </a:rPr>
              <a:t>o</a:t>
            </a:r>
            <a:r>
              <a:rPr sz="1700" b="1" spc="-5" dirty="0">
                <a:latin typeface="Times New Roman"/>
                <a:cs typeface="Times New Roman"/>
              </a:rPr>
              <a:t>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2" dirty="0">
                <a:latin typeface="Times New Roman"/>
                <a:cs typeface="Times New Roman"/>
              </a:rPr>
              <a:t>Cont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ol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U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it</a:t>
            </a:r>
            <a:endParaRPr sz="1700" dirty="0">
              <a:latin typeface="Times New Roman"/>
              <a:cs typeface="Times New Roman"/>
            </a:endParaRPr>
          </a:p>
          <a:p>
            <a:pPr marL="6109" marR="43983" algn="just">
              <a:spcBef>
                <a:spcPts val="387"/>
              </a:spcBef>
            </a:pPr>
            <a:endParaRPr lang="en-US" sz="1700" spc="-5" dirty="0">
              <a:latin typeface="Times New Roman"/>
              <a:cs typeface="Times New Roman"/>
            </a:endParaRPr>
          </a:p>
          <a:p>
            <a:pPr marL="6109" marR="43983" algn="just">
              <a:spcBef>
                <a:spcPts val="387"/>
              </a:spcBef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 to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tore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ontaining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 </a:t>
            </a:r>
            <a:r>
              <a:rPr sz="1700" spc="-5" dirty="0">
                <a:latin typeface="Times New Roman"/>
                <a:cs typeface="Times New Roman"/>
              </a:rPr>
              <a:t>signal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f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main</a:t>
            </a:r>
            <a:r>
              <a:rPr sz="1700" spc="-2" dirty="0">
                <a:latin typeface="Times New Roman"/>
                <a:cs typeface="Times New Roman"/>
              </a:rPr>
              <a:t> distin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rop</a:t>
            </a:r>
            <a:r>
              <a:rPr sz="1700" spc="-5" dirty="0">
                <a:latin typeface="Times New Roman"/>
                <a:cs typeface="Times New Roman"/>
              </a:rPr>
              <a:t>rogr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struc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2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6109" marR="73610" algn="just">
              <a:spcBef>
                <a:spcPts val="387"/>
              </a:spcBef>
            </a:pP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the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roinstru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onn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ted to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ingle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sign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l.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sign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tive 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bit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t.,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-2" dirty="0">
                <a:latin typeface="Times New Roman"/>
                <a:cs typeface="Times New Roman"/>
              </a:rPr>
              <a:t> 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tive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cl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 A</a:t>
            </a:r>
            <a:r>
              <a:rPr sz="1700" spc="-2" dirty="0">
                <a:latin typeface="Times New Roman"/>
                <a:cs typeface="Times New Roman"/>
              </a:rPr>
              <a:t> 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q</a:t>
            </a:r>
            <a:r>
              <a:rPr sz="1700" spc="-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se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roinstru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k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pt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the inte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‘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ol</a:t>
            </a:r>
            <a:r>
              <a:rPr sz="1700" dirty="0">
                <a:latin typeface="Times New Roman"/>
                <a:cs typeface="Times New Roman"/>
              </a:rPr>
              <a:t>’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 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mic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opr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m-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ithin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</a:p>
        </p:txBody>
      </p:sp>
    </p:spTree>
    <p:extLst>
      <p:ext uri="{BB962C8B-B14F-4D97-AF65-F5344CB8AC3E}">
        <p14:creationId xmlns:p14="http://schemas.microsoft.com/office/powerpoint/2010/main" val="812587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5B89C-784D-8F02-FDC2-CDF61C980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0BAF1D-9B8C-0075-9E68-FC1300A8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573800-E0F6-5E45-9DB1-BD0720EEC2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F67626C-54E1-AF8B-2595-7113F9202A8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AAD364-4108-8FE3-2EBF-F6053CF6AA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66800" y="916362"/>
            <a:ext cx="6934200" cy="360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>
              <a:tabLst>
                <a:tab pos="152107" algn="l"/>
              </a:tabLst>
            </a:pPr>
            <a:r>
              <a:rPr lang="en-US" sz="1700" b="1" dirty="0">
                <a:latin typeface="Times New Roman"/>
                <a:cs typeface="Times New Roman"/>
              </a:rPr>
              <a:t>So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 Impor</a:t>
            </a:r>
            <a:r>
              <a:rPr lang="en-US" sz="1700" b="1" spc="-5" dirty="0">
                <a:latin typeface="Times New Roman"/>
                <a:cs typeface="Times New Roman"/>
              </a:rPr>
              <a:t>t</a:t>
            </a:r>
            <a:r>
              <a:rPr lang="en-US" sz="1700" b="1" dirty="0">
                <a:latin typeface="Times New Roman"/>
                <a:cs typeface="Times New Roman"/>
              </a:rPr>
              <a:t>ant </a:t>
            </a:r>
            <a:r>
              <a:rPr lang="en-US" sz="1700" b="1" spc="-5" dirty="0">
                <a:latin typeface="Times New Roman"/>
                <a:cs typeface="Times New Roman"/>
              </a:rPr>
              <a:t>T</a:t>
            </a:r>
            <a:r>
              <a:rPr lang="en-US" sz="1700" b="1" spc="-7" dirty="0">
                <a:latin typeface="Times New Roman"/>
                <a:cs typeface="Times New Roman"/>
              </a:rPr>
              <a:t>er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dirty="0">
                <a:latin typeface="Times New Roman"/>
                <a:cs typeface="Times New Roman"/>
              </a:rPr>
              <a:t>s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–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2443" algn="just">
              <a:buFont typeface="Times New Roman"/>
              <a:buAutoNum type="arabicPeriod"/>
              <a:tabLst>
                <a:tab pos="152107" algn="l"/>
              </a:tabLst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 marR="2443" algn="just">
              <a:buFont typeface="Times New Roman"/>
              <a:buAutoNum type="arabicPeriod"/>
              <a:tabLst>
                <a:tab pos="152107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Cont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ol</a:t>
            </a:r>
            <a:r>
              <a:rPr sz="1700" b="1" dirty="0">
                <a:latin typeface="Times New Roman"/>
                <a:cs typeface="Times New Roman"/>
              </a:rPr>
              <a:t> Word: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 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wor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ord 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ose</a:t>
            </a:r>
            <a:r>
              <a:rPr sz="1700" spc="-2" dirty="0">
                <a:latin typeface="Times New Roman"/>
                <a:cs typeface="Times New Roman"/>
              </a:rPr>
              <a:t> individual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pr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ious control </a:t>
            </a:r>
            <a:r>
              <a:rPr sz="1700" spc="-5" dirty="0">
                <a:latin typeface="Times New Roman"/>
                <a:cs typeface="Times New Roman"/>
              </a:rPr>
              <a:t>signals.</a:t>
            </a:r>
            <a:endParaRPr sz="1700" dirty="0">
              <a:latin typeface="Times New Roman"/>
              <a:cs typeface="Times New Roman"/>
            </a:endParaRPr>
          </a:p>
          <a:p>
            <a:pPr marL="6109" marR="4887" algn="just">
              <a:spcBef>
                <a:spcPts val="387"/>
              </a:spcBef>
              <a:buFont typeface="Times New Roman"/>
              <a:buAutoNum type="arabicPeriod"/>
              <a:tabLst>
                <a:tab pos="157299" algn="l"/>
              </a:tabLst>
            </a:pPr>
            <a:r>
              <a:rPr lang="en-US" sz="1700" b="1" spc="-1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ic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-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ou</a:t>
            </a:r>
            <a:r>
              <a:rPr sz="1700" b="1" spc="-2" dirty="0">
                <a:latin typeface="Times New Roman"/>
                <a:cs typeface="Times New Roman"/>
              </a:rPr>
              <a:t>tin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rds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orr</a:t>
            </a:r>
            <a:r>
              <a:rPr sz="1700" spc="-7" dirty="0">
                <a:latin typeface="Times New Roman"/>
                <a:cs typeface="Times New Roman"/>
              </a:rPr>
              <a:t>espond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trol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hine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titut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-routine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4887" algn="just">
              <a:spcBef>
                <a:spcPts val="387"/>
              </a:spcBef>
              <a:buFont typeface="Times New Roman"/>
              <a:buAutoNum type="arabicPeriod"/>
              <a:tabLst>
                <a:tab pos="157299" algn="l"/>
              </a:tabLst>
            </a:pPr>
            <a:r>
              <a:rPr lang="en-US" sz="1700" b="1" dirty="0">
                <a:latin typeface="Times New Roman"/>
                <a:cs typeface="Times New Roman"/>
              </a:rPr>
              <a:t> Micro-instruction:  </a:t>
            </a:r>
            <a:r>
              <a:rPr lang="en-US" sz="1700" dirty="0">
                <a:latin typeface="Times New Roman"/>
                <a:cs typeface="Times New Roman"/>
              </a:rPr>
              <a:t>Individual  control  words  in  this  micro-routine  are  referred  to  as microinstructions.</a:t>
            </a:r>
          </a:p>
          <a:p>
            <a:pPr marL="6109" marR="4887" algn="just">
              <a:spcBef>
                <a:spcPts val="387"/>
              </a:spcBef>
              <a:buFont typeface="Times New Roman"/>
              <a:buAutoNum type="arabicPeriod"/>
              <a:tabLst>
                <a:tab pos="157299" algn="l"/>
              </a:tabLst>
            </a:pPr>
            <a:r>
              <a:rPr lang="en-US" sz="1700" b="1" dirty="0">
                <a:latin typeface="Times New Roman"/>
                <a:cs typeface="Times New Roman"/>
              </a:rPr>
              <a:t> Micro-program: </a:t>
            </a:r>
            <a:r>
              <a:rPr lang="en-US" sz="1700" dirty="0">
                <a:latin typeface="Times New Roman"/>
                <a:cs typeface="Times New Roman"/>
              </a:rPr>
              <a:t>A sequence of micro-instructions is called a micro-program, which is stored in a ROM or RAM called a Control Memory (CM).</a:t>
            </a:r>
          </a:p>
          <a:p>
            <a:pPr marL="6109" marR="4887" algn="just">
              <a:spcBef>
                <a:spcPts val="387"/>
              </a:spcBef>
              <a:buFont typeface="Times New Roman"/>
              <a:buAutoNum type="arabicPeriod"/>
              <a:tabLst>
                <a:tab pos="157299" algn="l"/>
              </a:tabLst>
            </a:pPr>
            <a:r>
              <a:rPr lang="en-US" sz="1700" b="1" dirty="0">
                <a:latin typeface="Times New Roman"/>
                <a:cs typeface="Times New Roman"/>
              </a:rPr>
              <a:t> Control Store: </a:t>
            </a:r>
            <a:r>
              <a:rPr lang="en-US" sz="1700" dirty="0">
                <a:latin typeface="Times New Roman"/>
                <a:cs typeface="Times New Roman"/>
              </a:rPr>
              <a:t>the micro-routines for all instructions in the instruction set of a computer are stored in a special memory called the Control Store.</a:t>
            </a:r>
          </a:p>
        </p:txBody>
      </p:sp>
    </p:spTree>
    <p:extLst>
      <p:ext uri="{BB962C8B-B14F-4D97-AF65-F5344CB8AC3E}">
        <p14:creationId xmlns:p14="http://schemas.microsoft.com/office/powerpoint/2010/main" val="3228589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5B89C-784D-8F02-FDC2-CDF61C980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0BAF1D-9B8C-0075-9E68-FC1300A8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573800-E0F6-5E45-9DB1-BD0720EEC2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F67626C-54E1-AF8B-2595-7113F9202A8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AAD364-4108-8FE3-2EBF-F6053CF6AA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15226" y="792196"/>
            <a:ext cx="2768755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>
              <a:spcBef>
                <a:spcPts val="404"/>
              </a:spcBef>
            </a:pP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block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gram: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28633" y="1143000"/>
            <a:ext cx="6019800" cy="14478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996F5-E449-F010-19C3-B42B697C45A8}"/>
              </a:ext>
            </a:extLst>
          </p:cNvPr>
          <p:cNvSpPr txBox="1"/>
          <p:nvPr/>
        </p:nvSpPr>
        <p:spPr>
          <a:xfrm>
            <a:off x="2399603" y="259080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 indent="738847"/>
            <a:r>
              <a:rPr lang="en-US" sz="1100" i="1" dirty="0">
                <a:latin typeface="Times New Roman"/>
                <a:cs typeface="Times New Roman"/>
              </a:rPr>
              <a:t>Mi</a:t>
            </a:r>
            <a:r>
              <a:rPr lang="en-US" sz="1100" i="1" spc="-5" dirty="0">
                <a:latin typeface="Times New Roman"/>
                <a:cs typeface="Times New Roman"/>
              </a:rPr>
              <a:t>c</a:t>
            </a:r>
            <a:r>
              <a:rPr lang="en-US" sz="1100" i="1" spc="-2" dirty="0">
                <a:latin typeface="Times New Roman"/>
                <a:cs typeface="Times New Roman"/>
              </a:rPr>
              <a:t>r</a:t>
            </a:r>
            <a:r>
              <a:rPr lang="en-US" sz="1100" i="1" dirty="0">
                <a:latin typeface="Times New Roman"/>
                <a:cs typeface="Times New Roman"/>
              </a:rPr>
              <a:t>o-</a:t>
            </a:r>
            <a:r>
              <a:rPr lang="en-US" sz="1100" i="1" spc="-7" dirty="0">
                <a:latin typeface="Times New Roman"/>
                <a:cs typeface="Times New Roman"/>
              </a:rPr>
              <a:t>P</a:t>
            </a:r>
            <a:r>
              <a:rPr lang="en-US" sz="1100" i="1" spc="-2" dirty="0">
                <a:latin typeface="Times New Roman"/>
                <a:cs typeface="Times New Roman"/>
              </a:rPr>
              <a:t>rog</a:t>
            </a:r>
            <a:r>
              <a:rPr lang="en-US" sz="1100" i="1" spc="-5" dirty="0">
                <a:latin typeface="Times New Roman"/>
                <a:cs typeface="Times New Roman"/>
              </a:rPr>
              <a:t>r</a:t>
            </a:r>
            <a:r>
              <a:rPr lang="en-US" sz="1100" i="1" dirty="0">
                <a:latin typeface="Times New Roman"/>
                <a:cs typeface="Times New Roman"/>
              </a:rPr>
              <a:t>a</a:t>
            </a:r>
            <a:r>
              <a:rPr lang="en-US" sz="1100" i="1" spc="-5" dirty="0">
                <a:latin typeface="Times New Roman"/>
                <a:cs typeface="Times New Roman"/>
              </a:rPr>
              <a:t>mm</a:t>
            </a:r>
            <a:r>
              <a:rPr lang="en-US" sz="1100" i="1" dirty="0">
                <a:latin typeface="Times New Roman"/>
                <a:cs typeface="Times New Roman"/>
              </a:rPr>
              <a:t>ed Con</a:t>
            </a:r>
            <a:r>
              <a:rPr lang="en-US" sz="1100" i="1" spc="-5" dirty="0">
                <a:latin typeface="Times New Roman"/>
                <a:cs typeface="Times New Roman"/>
              </a:rPr>
              <a:t>t</a:t>
            </a:r>
            <a:r>
              <a:rPr lang="en-US" sz="1100" i="1" spc="-2" dirty="0">
                <a:latin typeface="Times New Roman"/>
                <a:cs typeface="Times New Roman"/>
              </a:rPr>
              <a:t>r</a:t>
            </a:r>
            <a:r>
              <a:rPr lang="en-US" sz="1100" i="1" spc="-5" dirty="0">
                <a:latin typeface="Times New Roman"/>
                <a:cs typeface="Times New Roman"/>
              </a:rPr>
              <a:t>o</a:t>
            </a:r>
            <a:r>
              <a:rPr lang="en-US" sz="1100" i="1" dirty="0">
                <a:latin typeface="Times New Roman"/>
                <a:cs typeface="Times New Roman"/>
              </a:rPr>
              <a:t>l</a:t>
            </a:r>
            <a:r>
              <a:rPr lang="en-US" sz="1100" i="1" spc="2" dirty="0">
                <a:latin typeface="Times New Roman"/>
                <a:cs typeface="Times New Roman"/>
              </a:rPr>
              <a:t> </a:t>
            </a:r>
            <a:r>
              <a:rPr lang="en-US" sz="1100" i="1" spc="-5" dirty="0">
                <a:latin typeface="Times New Roman"/>
                <a:cs typeface="Times New Roman"/>
              </a:rPr>
              <a:t>U</a:t>
            </a:r>
            <a:r>
              <a:rPr lang="en-US" sz="1100" i="1" dirty="0">
                <a:latin typeface="Times New Roman"/>
                <a:cs typeface="Times New Roman"/>
              </a:rPr>
              <a:t>n</a:t>
            </a:r>
            <a:r>
              <a:rPr lang="en-US" sz="1100" i="1" spc="-5" dirty="0">
                <a:latin typeface="Times New Roman"/>
                <a:cs typeface="Times New Roman"/>
              </a:rPr>
              <a:t>i</a:t>
            </a:r>
            <a:r>
              <a:rPr lang="en-US" sz="1100" i="1" dirty="0">
                <a:latin typeface="Times New Roman"/>
                <a:cs typeface="Times New Roman"/>
              </a:rPr>
              <a:t>t</a:t>
            </a:r>
            <a:r>
              <a:rPr lang="en-US" sz="1100" i="1" spc="2" dirty="0">
                <a:latin typeface="Times New Roman"/>
                <a:cs typeface="Times New Roman"/>
              </a:rPr>
              <a:t> </a:t>
            </a:r>
            <a:r>
              <a:rPr lang="en-US" sz="1100" i="1" spc="-5" dirty="0">
                <a:latin typeface="Times New Roman"/>
                <a:cs typeface="Times New Roman"/>
              </a:rPr>
              <a:t>O</a:t>
            </a:r>
            <a:r>
              <a:rPr lang="en-US" sz="1100" i="1" spc="-2" dirty="0">
                <a:latin typeface="Times New Roman"/>
                <a:cs typeface="Times New Roman"/>
              </a:rPr>
              <a:t>rga</a:t>
            </a:r>
            <a:r>
              <a:rPr lang="en-US" sz="1100" i="1" spc="-5" dirty="0">
                <a:latin typeface="Times New Roman"/>
                <a:cs typeface="Times New Roman"/>
              </a:rPr>
              <a:t>n</a:t>
            </a:r>
            <a:r>
              <a:rPr lang="en-US" sz="1100" i="1" dirty="0">
                <a:latin typeface="Times New Roman"/>
                <a:cs typeface="Times New Roman"/>
              </a:rPr>
              <a:t>i</a:t>
            </a:r>
            <a:r>
              <a:rPr lang="en-US" sz="1100" i="1" spc="-2" dirty="0">
                <a:latin typeface="Times New Roman"/>
                <a:cs typeface="Times New Roman"/>
              </a:rPr>
              <a:t>z</a:t>
            </a:r>
            <a:r>
              <a:rPr lang="en-US" sz="1100" i="1" spc="-5" dirty="0">
                <a:latin typeface="Times New Roman"/>
                <a:cs typeface="Times New Roman"/>
              </a:rPr>
              <a:t>a</a:t>
            </a:r>
            <a:r>
              <a:rPr lang="en-US" sz="1100" i="1" dirty="0">
                <a:latin typeface="Times New Roman"/>
                <a:cs typeface="Times New Roman"/>
              </a:rPr>
              <a:t>t</a:t>
            </a:r>
            <a:r>
              <a:rPr lang="en-US" sz="1100" i="1" spc="-5" dirty="0">
                <a:latin typeface="Times New Roman"/>
                <a:cs typeface="Times New Roman"/>
              </a:rPr>
              <a:t>i</a:t>
            </a:r>
            <a:r>
              <a:rPr lang="en-US" sz="1100" i="1" dirty="0">
                <a:latin typeface="Times New Roman"/>
                <a:cs typeface="Times New Roman"/>
              </a:rPr>
              <a:t>on</a:t>
            </a:r>
            <a:endParaRPr lang="en-US" sz="1100" dirty="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80C8EF-6C9E-331A-B187-56823FF8E8DA}"/>
              </a:ext>
            </a:extLst>
          </p:cNvPr>
          <p:cNvSpPr txBox="1"/>
          <p:nvPr/>
        </p:nvSpPr>
        <p:spPr>
          <a:xfrm>
            <a:off x="877892" y="2831796"/>
            <a:ext cx="7275507" cy="176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 algn="just"/>
            <a:r>
              <a:rPr lang="en-US" sz="1700" b="1" spc="-5" dirty="0">
                <a:latin typeface="Times New Roman"/>
                <a:cs typeface="Times New Roman"/>
              </a:rPr>
              <a:t>Wo</a:t>
            </a:r>
            <a:r>
              <a:rPr lang="en-US" sz="1700" b="1" spc="-7" dirty="0">
                <a:latin typeface="Times New Roman"/>
                <a:cs typeface="Times New Roman"/>
              </a:rPr>
              <a:t>r</a:t>
            </a:r>
            <a:r>
              <a:rPr lang="en-US" sz="1700" b="1" dirty="0">
                <a:latin typeface="Times New Roman"/>
                <a:cs typeface="Times New Roman"/>
              </a:rPr>
              <a:t>k</a:t>
            </a:r>
            <a:r>
              <a:rPr lang="en-US" sz="1700" b="1" spc="-2" dirty="0">
                <a:latin typeface="Times New Roman"/>
                <a:cs typeface="Times New Roman"/>
              </a:rPr>
              <a:t>in</a:t>
            </a:r>
            <a:r>
              <a:rPr lang="en-US" sz="1700" b="1" dirty="0">
                <a:latin typeface="Times New Roman"/>
                <a:cs typeface="Times New Roman"/>
              </a:rPr>
              <a:t>g of </a:t>
            </a:r>
            <a:r>
              <a:rPr lang="en-US" sz="1700" b="1" spc="-12" dirty="0">
                <a:latin typeface="Times New Roman"/>
                <a:cs typeface="Times New Roman"/>
              </a:rPr>
              <a:t>M</a:t>
            </a:r>
            <a:r>
              <a:rPr lang="en-US" sz="1700" b="1" spc="-2" dirty="0">
                <a:latin typeface="Times New Roman"/>
                <a:cs typeface="Times New Roman"/>
              </a:rPr>
              <a:t>ic</a:t>
            </a:r>
            <a:r>
              <a:rPr lang="en-US" sz="1700" b="1" spc="-10" dirty="0">
                <a:latin typeface="Times New Roman"/>
                <a:cs typeface="Times New Roman"/>
              </a:rPr>
              <a:t>r</a:t>
            </a:r>
            <a:r>
              <a:rPr lang="en-US" sz="1700" b="1" spc="2" dirty="0">
                <a:latin typeface="Times New Roman"/>
                <a:cs typeface="Times New Roman"/>
              </a:rPr>
              <a:t>o</a:t>
            </a:r>
            <a:r>
              <a:rPr lang="en-US" sz="1700" b="1" spc="-2" dirty="0">
                <a:latin typeface="Times New Roman"/>
                <a:cs typeface="Times New Roman"/>
              </a:rPr>
              <a:t>-</a:t>
            </a:r>
            <a:r>
              <a:rPr lang="en-US" sz="1700" b="1" dirty="0">
                <a:latin typeface="Times New Roman"/>
                <a:cs typeface="Times New Roman"/>
              </a:rPr>
              <a:t>p</a:t>
            </a:r>
            <a:r>
              <a:rPr lang="en-US" sz="1700" b="1" spc="-7" dirty="0">
                <a:latin typeface="Times New Roman"/>
                <a:cs typeface="Times New Roman"/>
              </a:rPr>
              <a:t>r</a:t>
            </a:r>
            <a:r>
              <a:rPr lang="en-US" sz="1700" b="1" dirty="0">
                <a:latin typeface="Times New Roman"/>
                <a:cs typeface="Times New Roman"/>
              </a:rPr>
              <a:t>o</a:t>
            </a:r>
            <a:r>
              <a:rPr lang="en-US" sz="1700" b="1" spc="5" dirty="0">
                <a:latin typeface="Times New Roman"/>
                <a:cs typeface="Times New Roman"/>
              </a:rPr>
              <a:t>g</a:t>
            </a:r>
            <a:r>
              <a:rPr lang="en-US" sz="1700" b="1" spc="-7" dirty="0">
                <a:latin typeface="Times New Roman"/>
                <a:cs typeface="Times New Roman"/>
              </a:rPr>
              <a:t>r</a:t>
            </a:r>
            <a:r>
              <a:rPr lang="en-US" sz="1700" b="1" dirty="0">
                <a:latin typeface="Times New Roman"/>
                <a:cs typeface="Times New Roman"/>
              </a:rPr>
              <a:t>a</a:t>
            </a:r>
            <a:r>
              <a:rPr lang="en-US" sz="1700" b="1" spc="2" dirty="0">
                <a:latin typeface="Times New Roman"/>
                <a:cs typeface="Times New Roman"/>
              </a:rPr>
              <a:t>mm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d </a:t>
            </a:r>
            <a:r>
              <a:rPr lang="en-US" sz="1700" b="1" spc="-2" dirty="0">
                <a:latin typeface="Times New Roman"/>
                <a:cs typeface="Times New Roman"/>
              </a:rPr>
              <a:t>Cont</a:t>
            </a:r>
            <a:r>
              <a:rPr lang="en-US" sz="1700" b="1" spc="-5" dirty="0">
                <a:latin typeface="Times New Roman"/>
                <a:cs typeface="Times New Roman"/>
              </a:rPr>
              <a:t>r</a:t>
            </a:r>
            <a:r>
              <a:rPr lang="en-US" sz="1700" b="1" spc="-2" dirty="0">
                <a:latin typeface="Times New Roman"/>
                <a:cs typeface="Times New Roman"/>
              </a:rPr>
              <a:t>ol</a:t>
            </a:r>
            <a:r>
              <a:rPr lang="en-US" sz="1700" b="1" dirty="0"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latin typeface="Times New Roman"/>
                <a:cs typeface="Times New Roman"/>
              </a:rPr>
              <a:t>U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2" dirty="0">
                <a:latin typeface="Times New Roman"/>
                <a:cs typeface="Times New Roman"/>
              </a:rPr>
              <a:t>it</a:t>
            </a:r>
            <a:endParaRPr lang="en-US" sz="1700" dirty="0">
              <a:latin typeface="Times New Roman"/>
              <a:cs typeface="Times New Roman"/>
            </a:endParaRPr>
          </a:p>
          <a:p>
            <a:pPr marL="291859" marR="3054" indent="-285750" algn="just">
              <a:spcBef>
                <a:spcPts val="387"/>
              </a:spcBef>
              <a:buFont typeface="Arial" panose="020B0604020202020204" pitchFamily="34" charset="0"/>
              <a:buChar char="•"/>
            </a:pPr>
            <a:r>
              <a:rPr lang="en-US" sz="1700" spc="-5" dirty="0">
                <a:latin typeface="Times New Roman"/>
                <a:cs typeface="Times New Roman"/>
              </a:rPr>
              <a:t>The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wo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ds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norm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tch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int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mi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12" dirty="0">
                <a:latin typeface="Times New Roman"/>
                <a:cs typeface="Times New Roman"/>
              </a:rPr>
              <a:t>o</a:t>
            </a:r>
            <a:r>
              <a:rPr lang="en-US" sz="1700" spc="-2" dirty="0">
                <a:latin typeface="Times New Roman"/>
                <a:cs typeface="Times New Roman"/>
              </a:rPr>
              <a:t>-</a:t>
            </a:r>
            <a:r>
              <a:rPr lang="en-US" sz="1700" dirty="0">
                <a:latin typeface="Times New Roman"/>
                <a:cs typeface="Times New Roman"/>
              </a:rPr>
              <a:t>progr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ontrol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units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  <a:endParaRPr lang="en-US" sz="1700" spc="-17" dirty="0">
              <a:latin typeface="Times New Roman"/>
              <a:cs typeface="Times New Roman"/>
            </a:endParaRPr>
          </a:p>
          <a:p>
            <a:pPr marL="291859" marR="3054" indent="-285750" algn="just">
              <a:spcBef>
                <a:spcPts val="387"/>
              </a:spcBef>
              <a:buFont typeface="Arial" panose="020B0604020202020204" pitchFamily="34" charset="0"/>
              <a:buChar char="•"/>
            </a:pPr>
            <a:r>
              <a:rPr lang="en-US" sz="1700" spc="-5" dirty="0">
                <a:latin typeface="Times New Roman"/>
                <a:cs typeface="Times New Roman"/>
              </a:rPr>
              <a:t>The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ode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n,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other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nd,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ot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dir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tl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5" dirty="0">
                <a:latin typeface="Times New Roman"/>
                <a:cs typeface="Times New Roman"/>
              </a:rPr>
              <a:t>od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ble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ontrol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signa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2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tion;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</a:t>
            </a:r>
            <a:r>
              <a:rPr lang="en-US" sz="1700" spc="-7" dirty="0">
                <a:latin typeface="Times New Roman"/>
                <a:cs typeface="Times New Roman"/>
              </a:rPr>
              <a:t>ea</a:t>
            </a:r>
            <a:r>
              <a:rPr lang="en-US" sz="1700" dirty="0">
                <a:latin typeface="Times New Roman"/>
                <a:cs typeface="Times New Roman"/>
              </a:rPr>
              <a:t>d, 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2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ontains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2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ddr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2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mi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rop</a:t>
            </a:r>
            <a:r>
              <a:rPr lang="en-US" sz="1700" spc="-5" dirty="0">
                <a:latin typeface="Times New Roman"/>
                <a:cs typeface="Times New Roman"/>
              </a:rPr>
              <a:t>rogr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on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rol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store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4494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AE85D-A71D-26D8-007D-3024249A0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4DF62E-CDB7-AD95-A4C6-A35DCA065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C61BFE-DF17-272B-8827-84C3ED8734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4FEE98A-2F71-B1FD-23BE-6AD5EA6623B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1154D7-7CB6-AB1B-0FF5-3582D8D488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6"/>
          <p:cNvSpPr txBox="1"/>
          <p:nvPr/>
        </p:nvSpPr>
        <p:spPr>
          <a:xfrm>
            <a:off x="1014310" y="819150"/>
            <a:ext cx="7215290" cy="3031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1859" marR="2443" indent="-285750" algn="just">
              <a:spcBef>
                <a:spcPts val="385"/>
              </a:spcBef>
              <a:buFont typeface="Arial" panose="020B0604020202020204" pitchFamily="34" charset="0"/>
              <a:buChar char="•"/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 re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ives 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ode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nstru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  <a:endParaRPr lang="en-US" sz="1700" dirty="0">
              <a:latin typeface="Times New Roman"/>
              <a:cs typeface="Times New Roman"/>
            </a:endParaRPr>
          </a:p>
          <a:p>
            <a:pPr marL="291859" marR="2443" indent="-285750" algn="just">
              <a:spcBef>
                <a:spcPts val="385"/>
              </a:spcBef>
              <a:buFont typeface="Arial" panose="020B0604020202020204" pitchFamily="34" charset="0"/>
              <a:buChar char="•"/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5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roinstru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rop</a:t>
            </a:r>
            <a:r>
              <a:rPr sz="1700" spc="-5" dirty="0">
                <a:latin typeface="Times New Roman"/>
                <a:cs typeface="Times New Roman"/>
              </a:rPr>
              <a:t>rogr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rp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roinstru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.</a:t>
            </a:r>
            <a:endParaRPr lang="en-US" sz="1700" spc="58" dirty="0">
              <a:latin typeface="Times New Roman"/>
              <a:cs typeface="Times New Roman"/>
            </a:endParaRPr>
          </a:p>
          <a:p>
            <a:pPr marL="291859" marR="2443" indent="-285750" algn="just">
              <a:spcBef>
                <a:spcPts val="385"/>
              </a:spcBef>
              <a:buFont typeface="Arial" panose="020B0604020202020204" pitchFamily="34" charset="0"/>
              <a:buChar char="•"/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lem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roinstru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ontains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signals</a:t>
            </a:r>
            <a:r>
              <a:rPr sz="1700" spc="-2" dirty="0">
                <a:latin typeface="Times New Roman"/>
                <a:cs typeface="Times New Roman"/>
              </a:rPr>
              <a:t>,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usu</a:t>
            </a:r>
            <a:r>
              <a:rPr sz="1700" spc="-2" dirty="0">
                <a:latin typeface="Times New Roman"/>
                <a:cs typeface="Times New Roman"/>
              </a:rPr>
              <a:t>all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w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lds.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using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oll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roinstr</a:t>
            </a:r>
            <a:r>
              <a:rPr sz="1700" spc="-12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rs.</a:t>
            </a:r>
            <a:endParaRPr lang="en-US" sz="1700" spc="-26" dirty="0">
              <a:latin typeface="Times New Roman"/>
              <a:cs typeface="Times New Roman"/>
            </a:endParaRPr>
          </a:p>
          <a:p>
            <a:pPr marL="291859" marR="2443" indent="-285750" algn="just">
              <a:spcBef>
                <a:spcPts val="385"/>
              </a:spcBef>
              <a:buFont typeface="Arial" panose="020B0604020202020204" pitchFamily="34" charset="0"/>
              <a:buChar char="•"/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roinstru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 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sup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li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 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 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rop</a:t>
            </a:r>
            <a:r>
              <a:rPr sz="1700" spc="-5" dirty="0">
                <a:latin typeface="Times New Roman"/>
                <a:cs typeface="Times New Roman"/>
              </a:rPr>
              <a:t>rogr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lso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includ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 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roinstru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 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ontrolling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ro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nstru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r’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</a:t>
            </a:r>
          </a:p>
        </p:txBody>
      </p:sp>
    </p:spTree>
    <p:extLst>
      <p:ext uri="{BB962C8B-B14F-4D97-AF65-F5344CB8AC3E}">
        <p14:creationId xmlns:p14="http://schemas.microsoft.com/office/powerpoint/2010/main" val="1737913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F4A59-1A63-5A29-E664-64DA49FE3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5E2E94-54EC-1768-CA88-3E9F370DD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FFAAE8-C038-866B-B7BB-FF2D9A254A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3354685-5BAC-5BAE-5084-307CA2B78C7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E61077-6440-21C9-1583-41BFE6E3BC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/>
          <p:nvPr/>
        </p:nvSpPr>
        <p:spPr>
          <a:xfrm>
            <a:off x="1441918" y="684894"/>
            <a:ext cx="6172200" cy="340134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 sz="86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BB993-5154-BB63-2017-887235276BAA}"/>
              </a:ext>
            </a:extLst>
          </p:cNvPr>
          <p:cNvSpPr txBox="1"/>
          <p:nvPr/>
        </p:nvSpPr>
        <p:spPr>
          <a:xfrm>
            <a:off x="3200400" y="3974487"/>
            <a:ext cx="259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i="1" dirty="0">
                <a:latin typeface="Times New Roman"/>
                <a:cs typeface="Times New Roman"/>
              </a:rPr>
              <a:t>Mi</a:t>
            </a:r>
            <a:r>
              <a:rPr lang="en-US" sz="1100" i="1" spc="-5" dirty="0">
                <a:latin typeface="Times New Roman"/>
                <a:cs typeface="Times New Roman"/>
              </a:rPr>
              <a:t>c</a:t>
            </a:r>
            <a:r>
              <a:rPr lang="en-US" sz="1100" i="1" spc="-2" dirty="0">
                <a:latin typeface="Times New Roman"/>
                <a:cs typeface="Times New Roman"/>
              </a:rPr>
              <a:t>rop</a:t>
            </a:r>
            <a:r>
              <a:rPr lang="en-US" sz="1100" i="1" spc="-5" dirty="0">
                <a:latin typeface="Times New Roman"/>
                <a:cs typeface="Times New Roman"/>
              </a:rPr>
              <a:t>r</a:t>
            </a:r>
            <a:r>
              <a:rPr lang="en-US" sz="1100" i="1" dirty="0">
                <a:latin typeface="Times New Roman"/>
                <a:cs typeface="Times New Roman"/>
              </a:rPr>
              <a:t>ogram</a:t>
            </a:r>
            <a:r>
              <a:rPr lang="en-US" sz="1100" i="1" spc="-5" dirty="0">
                <a:latin typeface="Times New Roman"/>
                <a:cs typeface="Times New Roman"/>
              </a:rPr>
              <a:t>m</a:t>
            </a:r>
            <a:r>
              <a:rPr lang="en-US" sz="1100" i="1" dirty="0">
                <a:latin typeface="Times New Roman"/>
                <a:cs typeface="Times New Roman"/>
              </a:rPr>
              <a:t>ed C</a:t>
            </a:r>
            <a:r>
              <a:rPr lang="en-US" sz="1100" i="1" spc="-7" dirty="0">
                <a:latin typeface="Times New Roman"/>
                <a:cs typeface="Times New Roman"/>
              </a:rPr>
              <a:t>o</a:t>
            </a:r>
            <a:r>
              <a:rPr lang="en-US" sz="1100" i="1" dirty="0">
                <a:latin typeface="Times New Roman"/>
                <a:cs typeface="Times New Roman"/>
              </a:rPr>
              <a:t>nt</a:t>
            </a:r>
            <a:r>
              <a:rPr lang="en-US" sz="1100" i="1" spc="-7" dirty="0">
                <a:latin typeface="Times New Roman"/>
                <a:cs typeface="Times New Roman"/>
              </a:rPr>
              <a:t>r</a:t>
            </a:r>
            <a:r>
              <a:rPr lang="en-US" sz="1100" i="1" dirty="0">
                <a:latin typeface="Times New Roman"/>
                <a:cs typeface="Times New Roman"/>
              </a:rPr>
              <a:t>ol</a:t>
            </a:r>
            <a:r>
              <a:rPr lang="en-US" sz="1100" i="1" spc="-5" dirty="0">
                <a:latin typeface="Times New Roman"/>
                <a:cs typeface="Times New Roman"/>
              </a:rPr>
              <a:t> U</a:t>
            </a:r>
            <a:r>
              <a:rPr lang="en-US" sz="1100" i="1" dirty="0">
                <a:latin typeface="Times New Roman"/>
                <a:cs typeface="Times New Roman"/>
              </a:rPr>
              <a:t>nit</a:t>
            </a:r>
            <a:endParaRPr lang="en-US" sz="11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363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BC48B-72DA-586D-D2AB-EAC08F6EA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AAC63-FAA0-DDB6-E3AE-A00B07A7F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C835F9-70EF-D061-97AA-3CE803849D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EE1BCFE-6D5E-445B-E5B1-272968FDB0E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44F361-193F-0B3F-1BEE-9A748BAE27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02455" y="1123950"/>
            <a:ext cx="7139090" cy="2457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1859" marR="2443" indent="-285750" algn="just">
              <a:spcBef>
                <a:spcPts val="378"/>
              </a:spcBef>
              <a:buFont typeface="Arial" panose="020B0604020202020204" pitchFamily="34" charset="0"/>
              <a:buChar char="•"/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ppli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ontinuing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roinstru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as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mentioned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ld.</a:t>
            </a:r>
            <a:endParaRPr lang="en-US" sz="1700" spc="17" dirty="0">
              <a:latin typeface="Times New Roman"/>
              <a:cs typeface="Times New Roman"/>
            </a:endParaRPr>
          </a:p>
          <a:p>
            <a:pPr marL="291859" marR="2443" indent="-285750" algn="just">
              <a:spcBef>
                <a:spcPts val="378"/>
              </a:spcBef>
              <a:buFont typeface="Arial" panose="020B0604020202020204" pitchFamily="34" charset="0"/>
              <a:buChar char="•"/>
            </a:pP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roinstru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onditional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mploying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ondition fl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gs,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2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ribe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statu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ulations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urr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m.</a:t>
            </a:r>
            <a:endParaRPr lang="en-US" sz="1700" spc="41" dirty="0">
              <a:latin typeface="Times New Roman"/>
              <a:cs typeface="Times New Roman"/>
            </a:endParaRPr>
          </a:p>
          <a:p>
            <a:pPr marL="291859" marR="2443" indent="-285750" algn="just">
              <a:spcBef>
                <a:spcPts val="378"/>
              </a:spcBef>
              <a:buFont typeface="Arial" panose="020B0604020202020204" pitchFamily="34" charset="0"/>
              <a:buChar char="•"/>
            </a:pP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roinstru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tch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main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last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roinstru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" dirty="0">
                <a:latin typeface="Times New Roman"/>
                <a:cs typeface="Times New Roman"/>
              </a:rPr>
              <a:t>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of</a:t>
            </a:r>
            <a:r>
              <a:rPr sz="1700" spc="-2" dirty="0">
                <a:latin typeface="Times New Roman"/>
                <a:cs typeface="Times New Roman"/>
              </a:rPr>
              <a:t> 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</a:t>
            </a:r>
            <a:r>
              <a:rPr sz="1700" spc="2" dirty="0">
                <a:latin typeface="Times New Roman"/>
                <a:cs typeface="Times New Roman"/>
              </a:rPr>
              <a:t>v</a:t>
            </a:r>
            <a:r>
              <a:rPr sz="1700" spc="-5" dirty="0">
                <a:latin typeface="Times New Roman"/>
                <a:cs typeface="Times New Roman"/>
              </a:rPr>
              <a:t>ided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mic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opro</a:t>
            </a:r>
            <a:r>
              <a:rPr sz="1700" spc="-2" dirty="0">
                <a:latin typeface="Times New Roman"/>
                <a:cs typeface="Times New Roman"/>
              </a:rPr>
              <a:t>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47934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57599-6DD2-1C93-E740-E1C1211E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F6976F-84E9-6B5F-0D28-E466C0AF7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81D868-EA6E-2F5C-319F-935D33B0CD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6F401B5-1FD0-BF09-7EB7-CF1A265B130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2E67A6-F48F-C721-10AF-B5AE242747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7E1E0BD-FA1E-EA09-5D80-0F2CE29CADB0}"/>
              </a:ext>
            </a:extLst>
          </p:cNvPr>
          <p:cNvSpPr txBox="1"/>
          <p:nvPr/>
        </p:nvSpPr>
        <p:spPr>
          <a:xfrm>
            <a:off x="1014310" y="819150"/>
            <a:ext cx="7139090" cy="3906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5" dirty="0">
                <a:latin typeface="Times New Roman"/>
                <a:cs typeface="Times New Roman"/>
              </a:rPr>
              <a:t>Typ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of </a:t>
            </a:r>
            <a:r>
              <a:rPr sz="1700" b="1" spc="-12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ic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-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o</a:t>
            </a:r>
            <a:r>
              <a:rPr sz="1700" b="1" spc="5" dirty="0">
                <a:latin typeface="Times New Roman"/>
                <a:cs typeface="Times New Roman"/>
              </a:rPr>
              <a:t>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5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2" dirty="0">
                <a:latin typeface="Times New Roman"/>
                <a:cs typeface="Times New Roman"/>
              </a:rPr>
              <a:t>C</a:t>
            </a:r>
            <a:r>
              <a:rPr sz="1700" b="1" spc="-7" dirty="0">
                <a:latin typeface="Times New Roman"/>
                <a:cs typeface="Times New Roman"/>
              </a:rPr>
              <a:t>o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ol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U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it</a:t>
            </a:r>
            <a:endParaRPr sz="1700" dirty="0">
              <a:latin typeface="Times New Roman"/>
              <a:cs typeface="Times New Roman"/>
            </a:endParaRPr>
          </a:p>
          <a:p>
            <a:pPr marL="6109" marR="82162">
              <a:spcBef>
                <a:spcPts val="387"/>
              </a:spcBef>
            </a:pP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 on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" dirty="0">
                <a:latin typeface="Times New Roman"/>
                <a:cs typeface="Times New Roman"/>
              </a:rPr>
              <a:t>Co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trol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ord </a:t>
            </a:r>
            <a:r>
              <a:rPr sz="1700" spc="-2" dirty="0">
                <a:latin typeface="Times New Roman"/>
                <a:cs typeface="Times New Roman"/>
              </a:rPr>
              <a:t>stor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 the 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(CM),</a:t>
            </a:r>
            <a:r>
              <a:rPr sz="1700" spc="-2" dirty="0">
                <a:latin typeface="Times New Roman"/>
                <a:cs typeface="Times New Roman"/>
              </a:rPr>
              <a:t> 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lassifi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 two</a:t>
            </a:r>
            <a:r>
              <a:rPr sz="1700" spc="-2" dirty="0">
                <a:latin typeface="Times New Roman"/>
                <a:cs typeface="Times New Roman"/>
              </a:rPr>
              <a:t> types:</a:t>
            </a:r>
            <a:endParaRPr sz="1700" dirty="0">
              <a:latin typeface="Times New Roman"/>
              <a:cs typeface="Times New Roman"/>
            </a:endParaRPr>
          </a:p>
          <a:p>
            <a:pPr marL="79413" indent="-73304" algn="just">
              <a:spcBef>
                <a:spcPts val="404"/>
              </a:spcBef>
              <a:buFont typeface="Times New Roman"/>
              <a:buAutoNum type="arabicPeriod"/>
              <a:tabLst>
                <a:tab pos="79413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Hori</a:t>
            </a:r>
            <a:r>
              <a:rPr sz="1700" b="1" spc="-7" dirty="0">
                <a:latin typeface="Times New Roman"/>
                <a:cs typeface="Times New Roman"/>
              </a:rPr>
              <a:t>z</a:t>
            </a:r>
            <a:r>
              <a:rPr sz="1700" b="1" dirty="0">
                <a:latin typeface="Times New Roman"/>
                <a:cs typeface="Times New Roman"/>
              </a:rPr>
              <a:t>on</a:t>
            </a:r>
            <a:r>
              <a:rPr sz="1700" b="1" spc="-2" dirty="0">
                <a:latin typeface="Times New Roman"/>
                <a:cs typeface="Times New Roman"/>
              </a:rPr>
              <a:t>tal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12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ic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-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og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on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ol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U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spc="-10" dirty="0">
                <a:latin typeface="Times New Roman"/>
                <a:cs typeface="Times New Roman"/>
              </a:rPr>
              <a:t>t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225716" lvl="1" indent="-109651">
              <a:spcBef>
                <a:spcPts val="454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sign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repr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nted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the </a:t>
            </a:r>
            <a:r>
              <a:rPr sz="1700" spc="2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bina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y fo</a:t>
            </a:r>
            <a:r>
              <a:rPr sz="1700" spc="-5" dirty="0">
                <a:latin typeface="Times New Roman"/>
                <a:cs typeface="Times New Roman"/>
              </a:rPr>
              <a:t>rmat</a:t>
            </a:r>
            <a:r>
              <a:rPr sz="1700" spc="-2" dirty="0">
                <a:latin typeface="Times New Roman"/>
                <a:cs typeface="Times New Roman"/>
              </a:rPr>
              <a:t> that is</a:t>
            </a:r>
            <a:r>
              <a:rPr sz="1700" dirty="0">
                <a:latin typeface="Times New Roman"/>
                <a:cs typeface="Times New Roman"/>
              </a:rPr>
              <a:t> 1 </a:t>
            </a:r>
            <a:r>
              <a:rPr sz="1700" spc="-2" dirty="0">
                <a:latin typeface="Times New Roman"/>
                <a:cs typeface="Times New Roman"/>
              </a:rPr>
              <a:t>bit/C</a:t>
            </a:r>
            <a:r>
              <a:rPr sz="1700" dirty="0">
                <a:latin typeface="Times New Roman"/>
                <a:cs typeface="Times New Roman"/>
              </a:rPr>
              <a:t>S.</a:t>
            </a:r>
          </a:p>
          <a:p>
            <a:pPr marL="225716" marR="67807" lvl="1" indent="-109651">
              <a:spcBef>
                <a:spcPts val="51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Ex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f 53 </a:t>
            </a:r>
            <a:r>
              <a:rPr sz="1700" spc="-5" dirty="0">
                <a:latin typeface="Times New Roman"/>
                <a:cs typeface="Times New Roman"/>
              </a:rPr>
              <a:t>Control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sign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 </a:t>
            </a:r>
            <a:r>
              <a:rPr sz="1700" spc="-5" dirty="0">
                <a:latin typeface="Times New Roman"/>
                <a:cs typeface="Times New Roman"/>
              </a:rPr>
              <a:t>are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than</a:t>
            </a:r>
            <a:r>
              <a:rPr sz="1700" spc="-2" dirty="0">
                <a:latin typeface="Times New Roman"/>
                <a:cs typeface="Times New Roman"/>
              </a:rPr>
              <a:t> 5</a:t>
            </a:r>
            <a:r>
              <a:rPr sz="1700" dirty="0">
                <a:latin typeface="Times New Roman"/>
                <a:cs typeface="Times New Roman"/>
              </a:rPr>
              <a:t>3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are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 </a:t>
            </a:r>
            <a:r>
              <a:rPr sz="1700" spc="-2" dirty="0">
                <a:latin typeface="Times New Roman"/>
                <a:cs typeface="Times New Roman"/>
              </a:rPr>
              <a:t>Mor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 than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g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bled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tim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lvl="1" indent="-109651">
              <a:spcBef>
                <a:spcPts val="7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sup</a:t>
            </a:r>
            <a:r>
              <a:rPr sz="1700" dirty="0">
                <a:latin typeface="Times New Roman"/>
                <a:cs typeface="Times New Roman"/>
              </a:rPr>
              <a:t>ports </a:t>
            </a:r>
            <a:r>
              <a:rPr sz="1700" spc="-5" dirty="0">
                <a:latin typeface="Times New Roman"/>
                <a:cs typeface="Times New Roman"/>
              </a:rPr>
              <a:t>long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d.</a:t>
            </a:r>
          </a:p>
          <a:p>
            <a:pPr marL="225716" lvl="1" indent="-109651">
              <a:spcBef>
                <a:spcPts val="6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used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ppli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</a:t>
            </a:r>
          </a:p>
          <a:p>
            <a:pPr marL="225716" lvl="1" indent="-109651">
              <a:spcBef>
                <a:spcPts val="65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allows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high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g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li</a:t>
            </a:r>
            <a:r>
              <a:rPr sz="1700" spc="-7" dirty="0">
                <a:latin typeface="Times New Roman"/>
                <a:cs typeface="Times New Roman"/>
              </a:rPr>
              <a:t>sm</a:t>
            </a:r>
            <a:r>
              <a:rPr sz="1700" spc="-2" dirty="0">
                <a:latin typeface="Times New Roman"/>
                <a:cs typeface="Times New Roman"/>
              </a:rPr>
              <a:t>.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f </a:t>
            </a:r>
            <a:r>
              <a:rPr sz="1700" spc="2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gree</a:t>
            </a:r>
            <a:r>
              <a:rPr sz="1700" spc="-2" dirty="0">
                <a:latin typeface="Times New Roman"/>
                <a:cs typeface="Times New Roman"/>
              </a:rPr>
              <a:t> is </a:t>
            </a:r>
            <a:r>
              <a:rPr sz="1700" dirty="0">
                <a:latin typeface="Times New Roman"/>
                <a:cs typeface="Times New Roman"/>
              </a:rPr>
              <a:t>n, n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bled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time.</a:t>
            </a:r>
            <a:endParaRPr sz="1700" dirty="0">
              <a:latin typeface="Times New Roman"/>
              <a:cs typeface="Times New Roman"/>
            </a:endParaRPr>
          </a:p>
          <a:p>
            <a:pPr marL="225716" marR="244653" lvl="1" indent="-109651">
              <a:spcBef>
                <a:spcPts val="51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dditional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(</a:t>
            </a:r>
            <a:r>
              <a:rPr sz="1700" spc="2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5" dirty="0">
                <a:latin typeface="Times New Roman"/>
                <a:cs typeface="Times New Roman"/>
              </a:rPr>
              <a:t>)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m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-2" dirty="0">
                <a:latin typeface="Times New Roman"/>
                <a:cs typeface="Times New Roman"/>
              </a:rPr>
              <a:t> 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ste</a:t>
            </a:r>
            <a:r>
              <a:rPr sz="1700" spc="-2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than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 </a:t>
            </a:r>
            <a:r>
              <a:rPr sz="1700" spc="-7" dirty="0">
                <a:latin typeface="Times New Roman"/>
                <a:cs typeface="Times New Roman"/>
              </a:rPr>
              <a:t>Micr</a:t>
            </a:r>
            <a:r>
              <a:rPr sz="1700" dirty="0">
                <a:latin typeface="Times New Roman"/>
                <a:cs typeface="Times New Roman"/>
              </a:rPr>
              <a:t>opro</a:t>
            </a:r>
            <a:r>
              <a:rPr sz="1700" spc="-2" dirty="0">
                <a:latin typeface="Times New Roman"/>
                <a:cs typeface="Times New Roman"/>
              </a:rPr>
              <a:t>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</a:p>
          <a:p>
            <a:pPr marL="225716" lvl="1" indent="-109651">
              <a:spcBef>
                <a:spcPts val="7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more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fl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xible </a:t>
            </a:r>
            <a:r>
              <a:rPr sz="1700" spc="-5" dirty="0">
                <a:latin typeface="Times New Roman"/>
                <a:cs typeface="Times New Roman"/>
              </a:rPr>
              <a:t>than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rti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mic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opro</a:t>
            </a:r>
            <a:r>
              <a:rPr sz="1700" spc="2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292995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F2595-4D1E-85F9-30FA-C202FDA50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BAA724-6A83-C5B1-FD7A-5E577700F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50297C-53CA-26F0-EE7A-2BE06DEB73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DED82C4-CD8E-3260-35B8-7F0ECAC889E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79D78E-0DFC-2B00-8F0E-081BA6C88D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128F2127-4CCD-E1C4-38EA-6B14089FF19F}"/>
              </a:ext>
            </a:extLst>
          </p:cNvPr>
          <p:cNvSpPr txBox="1"/>
          <p:nvPr/>
        </p:nvSpPr>
        <p:spPr>
          <a:xfrm>
            <a:off x="1014310" y="819150"/>
            <a:ext cx="7139090" cy="29931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>
              <a:spcBef>
                <a:spcPts val="404"/>
              </a:spcBef>
              <a:tabLst>
                <a:tab pos="79413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2. </a:t>
            </a:r>
            <a:r>
              <a:rPr sz="1700" b="1" spc="-2" dirty="0">
                <a:latin typeface="Times New Roman"/>
                <a:cs typeface="Times New Roman"/>
              </a:rPr>
              <a:t>V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ti</a:t>
            </a:r>
            <a:r>
              <a:rPr sz="1700" b="1" spc="-10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al</a:t>
            </a:r>
            <a:r>
              <a:rPr sz="1700" b="1" spc="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ic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7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-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og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on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ol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U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it:</a:t>
            </a:r>
            <a:endParaRPr sz="1700" dirty="0">
              <a:latin typeface="Times New Roman"/>
              <a:cs typeface="Times New Roman"/>
            </a:endParaRPr>
          </a:p>
          <a:p>
            <a:pPr marL="225716" marR="245875" lvl="1" indent="-109651">
              <a:spcBef>
                <a:spcPts val="438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sign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 re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nted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2" dirty="0">
                <a:latin typeface="Times New Roman"/>
                <a:cs typeface="Times New Roman"/>
              </a:rPr>
              <a:t>ina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y fo</a:t>
            </a:r>
            <a:r>
              <a:rPr sz="1700" spc="-5" dirty="0">
                <a:latin typeface="Times New Roman"/>
                <a:cs typeface="Times New Roman"/>
              </a:rPr>
              <a:t>rmat.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 N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ol </a:t>
            </a:r>
            <a:r>
              <a:rPr sz="1700" spc="-5" dirty="0">
                <a:latin typeface="Times New Roman"/>
                <a:cs typeface="Times New Roman"/>
              </a:rPr>
              <a:t>signal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-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Log2</a:t>
            </a:r>
            <a:r>
              <a:rPr sz="1700" spc="-7" dirty="0">
                <a:latin typeface="Times New Roman"/>
                <a:cs typeface="Times New Roman"/>
              </a:rPr>
              <a:t>(</a:t>
            </a:r>
            <a:r>
              <a:rPr sz="1700" spc="-2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)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</a:p>
          <a:p>
            <a:pPr marL="225716" lvl="1" indent="-109651">
              <a:spcBef>
                <a:spcPts val="67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sup</a:t>
            </a:r>
            <a:r>
              <a:rPr sz="1700" dirty="0">
                <a:latin typeface="Times New Roman"/>
                <a:cs typeface="Times New Roman"/>
              </a:rPr>
              <a:t>ports </a:t>
            </a:r>
            <a:r>
              <a:rPr sz="1700" spc="-5" dirty="0">
                <a:latin typeface="Times New Roman"/>
                <a:cs typeface="Times New Roman"/>
              </a:rPr>
              <a:t>short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wor</a:t>
            </a:r>
            <a:r>
              <a:rPr sz="1700" dirty="0">
                <a:latin typeface="Times New Roman"/>
                <a:cs typeface="Times New Roman"/>
              </a:rPr>
              <a:t>ds.</a:t>
            </a:r>
          </a:p>
          <a:p>
            <a:pPr marL="225716" lvl="1" indent="-109651">
              <a:spcBef>
                <a:spcPts val="6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sup</a:t>
            </a:r>
            <a:r>
              <a:rPr sz="1700" dirty="0">
                <a:latin typeface="Times New Roman"/>
                <a:cs typeface="Times New Roman"/>
              </a:rPr>
              <a:t>ports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5" dirty="0">
                <a:latin typeface="Times New Roman"/>
                <a:cs typeface="Times New Roman"/>
              </a:rPr>
              <a:t>impl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entation</a:t>
            </a:r>
            <a:r>
              <a:rPr sz="1700" dirty="0">
                <a:latin typeface="Times New Roman"/>
                <a:cs typeface="Times New Roman"/>
              </a:rPr>
              <a:t> of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2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gn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m</a:t>
            </a:r>
            <a:r>
              <a:rPr sz="1700" spc="-5" dirty="0">
                <a:latin typeface="Times New Roman"/>
                <a:cs typeface="Times New Roman"/>
              </a:rPr>
              <a:t>ore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fl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xibl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lvl="1" indent="-109651">
              <a:spcBef>
                <a:spcPts val="63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It allows low degree of parallelism i.e. degree of parallelism is either 0 or 1.</a:t>
            </a:r>
          </a:p>
          <a:p>
            <a:pPr marL="225716" lvl="1" indent="-109651">
              <a:spcBef>
                <a:spcPts val="63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Requires an additional hardware (decoders) to generate control signals, it implies it is slower than horizontal microprogrammed.</a:t>
            </a:r>
          </a:p>
          <a:p>
            <a:pPr marL="225716" lvl="1" indent="-109651">
              <a:spcBef>
                <a:spcPts val="63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It is less flexible than horizontal but more flexible than that of hardwired control unit.</a:t>
            </a:r>
          </a:p>
        </p:txBody>
      </p:sp>
    </p:spTree>
    <p:extLst>
      <p:ext uri="{BB962C8B-B14F-4D97-AF65-F5344CB8AC3E}">
        <p14:creationId xmlns:p14="http://schemas.microsoft.com/office/powerpoint/2010/main" val="1944960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B53B0-BE34-54CB-091F-540D80943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1F5827-7F07-A643-7152-831735705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2C14F3-C72C-D2E1-186B-0ECA996DA9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B0AE0CA-F8EE-04E6-76F8-5971F3BE568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0914E3-B1EC-B374-FC51-B72CF4595B1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66800" y="923001"/>
            <a:ext cx="6758700" cy="33316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>
              <a:spcBef>
                <a:spcPts val="404"/>
              </a:spcBef>
            </a:pPr>
            <a:r>
              <a:rPr sz="1700" b="1" spc="-2" dirty="0">
                <a:latin typeface="Times New Roman"/>
                <a:cs typeface="Times New Roman"/>
              </a:rPr>
              <a:t>Adva</a:t>
            </a:r>
            <a:r>
              <a:rPr sz="1700" b="1" spc="2" dirty="0">
                <a:latin typeface="Times New Roman"/>
                <a:cs typeface="Times New Roman"/>
              </a:rPr>
              <a:t>n</a:t>
            </a:r>
            <a:r>
              <a:rPr sz="1700" b="1" spc="-5" dirty="0">
                <a:latin typeface="Times New Roman"/>
                <a:cs typeface="Times New Roman"/>
              </a:rPr>
              <a:t>tag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of </a:t>
            </a:r>
            <a:r>
              <a:rPr sz="1700" b="1" spc="-12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ic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7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-P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og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2" dirty="0">
                <a:latin typeface="Times New Roman"/>
                <a:cs typeface="Times New Roman"/>
              </a:rPr>
              <a:t>Cont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ol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U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it</a:t>
            </a:r>
            <a:endParaRPr lang="en-US" sz="1700" b="1" spc="-2" dirty="0">
              <a:latin typeface="Times New Roman"/>
              <a:cs typeface="Times New Roman"/>
            </a:endParaRPr>
          </a:p>
          <a:p>
            <a:pPr marL="6109">
              <a:spcBef>
                <a:spcPts val="40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allows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5" dirty="0">
                <a:latin typeface="Times New Roman"/>
                <a:cs typeface="Times New Roman"/>
              </a:rPr>
              <a:t> 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odic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contr</a:t>
            </a:r>
            <a:r>
              <a:rPr sz="1700" spc="-2" dirty="0">
                <a:latin typeface="Times New Roman"/>
                <a:cs typeface="Times New Roman"/>
              </a:rPr>
              <a:t>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design.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7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12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asie</a:t>
            </a:r>
            <a:r>
              <a:rPr sz="1700" spc="-2" dirty="0">
                <a:latin typeface="Times New Roman"/>
                <a:cs typeface="Times New Roman"/>
              </a:rPr>
              <a:t>r to troub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eshoo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modi</a:t>
            </a:r>
            <a:r>
              <a:rPr sz="1700" dirty="0">
                <a:latin typeface="Times New Roman"/>
                <a:cs typeface="Times New Roman"/>
              </a:rPr>
              <a:t>fy.</a:t>
            </a:r>
          </a:p>
          <a:p>
            <a:pPr marL="225716" indent="-109651">
              <a:spcBef>
                <a:spcPts val="6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k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p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f</a:t>
            </a:r>
            <a:r>
              <a:rPr sz="1700" spc="2" dirty="0">
                <a:latin typeface="Times New Roman"/>
                <a:cs typeface="Times New Roman"/>
              </a:rPr>
              <a:t>u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fund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str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3971" indent="-109651">
              <a:spcBef>
                <a:spcPts val="46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make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uni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design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asier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sul</a:t>
            </a:r>
            <a:r>
              <a:rPr sz="1700" dirty="0">
                <a:latin typeface="Times New Roman"/>
                <a:cs typeface="Times New Roman"/>
              </a:rPr>
              <a:t>t,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less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nsive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less </a:t>
            </a:r>
            <a:r>
              <a:rPr sz="1700" spc="-5" dirty="0">
                <a:latin typeface="Times New Roman"/>
                <a:cs typeface="Times New Roman"/>
              </a:rPr>
              <a:t>prone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glitches.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75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has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bilit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design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methodic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2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</a:p>
          <a:p>
            <a:pPr marL="225716" indent="-109651">
              <a:spcBef>
                <a:spcPts val="65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used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soft</a:t>
            </a:r>
            <a:r>
              <a:rPr sz="1700" spc="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 fu</a:t>
            </a:r>
            <a:r>
              <a:rPr sz="1700" spc="2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u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</a:t>
            </a:r>
          </a:p>
          <a:p>
            <a:pPr marL="225716" indent="-109651">
              <a:spcBef>
                <a:spcPts val="6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12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ptabl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indent="-109651">
              <a:spcBef>
                <a:spcPts val="6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used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dirty="0">
                <a:latin typeface="Times New Roman"/>
                <a:cs typeface="Times New Roman"/>
              </a:rPr>
              <a:t>do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x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un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8078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6E996-2FCF-4F93-AC12-5C552CD1D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8AB65B-4D93-627C-C3E4-D3E440E03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12AADD-A33E-4FA0-E75A-828070973A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A9E30EE-4BD8-8229-8A45-03AFE38F2E2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6CFFBA-6E24-28EE-E265-BBDE1D68DA3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9AA66500-8A53-B5FB-92F7-02EF5FD94BBE}"/>
              </a:ext>
            </a:extLst>
          </p:cNvPr>
          <p:cNvSpPr txBox="1"/>
          <p:nvPr/>
        </p:nvSpPr>
        <p:spPr>
          <a:xfrm>
            <a:off x="990600" y="926811"/>
            <a:ext cx="6758700" cy="11746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>
              <a:spcBef>
                <a:spcPts val="404"/>
              </a:spcBef>
            </a:pPr>
            <a:r>
              <a:rPr sz="1700" b="1" spc="-2" dirty="0">
                <a:latin typeface="Times New Roman"/>
                <a:cs typeface="Times New Roman"/>
              </a:rPr>
              <a:t>Disa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dirty="0">
                <a:latin typeface="Times New Roman"/>
                <a:cs typeface="Times New Roman"/>
              </a:rPr>
              <a:t>van</a:t>
            </a:r>
            <a:r>
              <a:rPr sz="1700" b="1" spc="-5" dirty="0">
                <a:latin typeface="Times New Roman"/>
                <a:cs typeface="Times New Roman"/>
              </a:rPr>
              <a:t>tag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of </a:t>
            </a:r>
            <a:r>
              <a:rPr sz="1700" b="1" spc="-12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ic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7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-</a:t>
            </a:r>
            <a:r>
              <a:rPr sz="1700" b="1" spc="-5" dirty="0">
                <a:latin typeface="Times New Roman"/>
                <a:cs typeface="Times New Roman"/>
              </a:rPr>
              <a:t>P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og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2" dirty="0">
                <a:latin typeface="Times New Roman"/>
                <a:cs typeface="Times New Roman"/>
              </a:rPr>
              <a:t>Cont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ol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U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it</a:t>
            </a:r>
            <a:endParaRPr lang="en-US" sz="1700" b="1" spc="-2" dirty="0">
              <a:latin typeface="Times New Roman"/>
              <a:cs typeface="Times New Roman"/>
            </a:endParaRPr>
          </a:p>
          <a:p>
            <a:pPr marL="6109">
              <a:spcBef>
                <a:spcPts val="40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4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Ad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ptability </a:t>
            </a:r>
            <a:r>
              <a:rPr sz="1700" spc="-5" dirty="0">
                <a:latin typeface="Times New Roman"/>
                <a:cs typeface="Times New Roman"/>
              </a:rPr>
              <a:t>com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igher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pri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indent="-109651">
              <a:spcBef>
                <a:spcPts val="6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ly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lower 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</a:p>
        </p:txBody>
      </p:sp>
    </p:spTree>
    <p:extLst>
      <p:ext uri="{BB962C8B-B14F-4D97-AF65-F5344CB8AC3E}">
        <p14:creationId xmlns:p14="http://schemas.microsoft.com/office/powerpoint/2010/main" val="1654166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4D3DC-1F0D-CD84-56AE-134D2B526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9BEDEF-526F-ACF5-BD96-752FA7B45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DC500B-3911-8D0C-8F00-5F61EE92E0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7B11C60-0500-2BB8-5903-6EE1DD1D2B5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BB5F55-F7CB-9E0E-6AA6-DDA72A9797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2A901041-CFBB-5A91-F2E0-585433437E8B}"/>
              </a:ext>
            </a:extLst>
          </p:cNvPr>
          <p:cNvSpPr txBox="1"/>
          <p:nvPr/>
        </p:nvSpPr>
        <p:spPr>
          <a:xfrm>
            <a:off x="990600" y="682065"/>
            <a:ext cx="6758700" cy="38882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213487">
              <a:spcBef>
                <a:spcPts val="433"/>
              </a:spcBef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 marR="2213487">
              <a:spcBef>
                <a:spcPts val="433"/>
              </a:spcBef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 marR="2213487">
              <a:spcBef>
                <a:spcPts val="433"/>
              </a:spcBef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7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J.</a:t>
            </a:r>
            <a:r>
              <a:rPr sz="1700" dirty="0">
                <a:latin typeface="Times New Roman"/>
                <a:cs typeface="Times New Roman"/>
              </a:rPr>
              <a:t>P.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ay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Third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dition.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45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no, </a:t>
            </a:r>
            <a:r>
              <a:rPr sz="1700" spc="-2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rd </a:t>
            </a:r>
            <a:r>
              <a:rPr sz="1700" spc="-2" dirty="0">
                <a:latin typeface="Times New Roman"/>
                <a:cs typeface="Times New Roman"/>
              </a:rPr>
              <a:t>Edition, 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426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tallings,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.,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14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chit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ture”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Eight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rson </a:t>
            </a:r>
            <a:r>
              <a:rPr sz="1700" spc="-5" dirty="0">
                <a:latin typeface="Times New Roman"/>
                <a:cs typeface="Times New Roman"/>
              </a:rPr>
              <a:t>Edu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404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>
              <a:spcBef>
                <a:spcPts val="404"/>
              </a:spcBef>
            </a:pP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xt Book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38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rpin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lli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spc="2" dirty="0">
                <a:latin typeface="Times New Roman"/>
                <a:cs typeface="Times New Roman"/>
              </a:rPr>
              <a:t>,</a:t>
            </a:r>
            <a:r>
              <a:rPr sz="1700" dirty="0">
                <a:latin typeface="Times New Roman"/>
                <a:cs typeface="Times New Roman"/>
              </a:rPr>
              <a:t>”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&amp;Ar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2" dirty="0">
                <a:latin typeface="Times New Roman"/>
                <a:cs typeface="Times New Roman"/>
              </a:rPr>
              <a:t>Addiso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esley.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4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ssy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dirty="0">
                <a:latin typeface="Times New Roman"/>
                <a:cs typeface="Times New Roman"/>
              </a:rPr>
              <a:t>e”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ifth Edition Morga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K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9398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BC6D7-662A-0299-BA63-6161A4685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824946-FA14-7B40-15F6-BDC73D5AF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0CDCA5-75C0-52DD-C446-78B6D0ADE2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DE1F282-0B67-4FDD-4B67-A418E3B8EDB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3DB41C-753F-1593-374E-A4DBD802CC0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C8E6E5E6-D0FB-E98B-1CF0-BC147220B1B6}"/>
              </a:ext>
            </a:extLst>
          </p:cNvPr>
          <p:cNvSpPr txBox="1"/>
          <p:nvPr/>
        </p:nvSpPr>
        <p:spPr>
          <a:xfrm>
            <a:off x="990600" y="742950"/>
            <a:ext cx="6758700" cy="34342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>
              <a:spcBef>
                <a:spcPts val="404"/>
              </a:spcBef>
            </a:pPr>
            <a:r>
              <a:rPr sz="1700" b="1" spc="-5" dirty="0">
                <a:latin typeface="Times New Roman"/>
                <a:cs typeface="Times New Roman"/>
              </a:rPr>
              <a:t>Oth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 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f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spc="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spcBef>
                <a:spcPts val="409"/>
              </a:spcBef>
              <a:buFont typeface="Times New Roman"/>
              <a:buChar char="•"/>
              <a:tabLst>
                <a:tab pos="343309" algn="l"/>
              </a:tabLst>
            </a:pPr>
            <a:r>
              <a:rPr sz="1700" dirty="0">
                <a:latin typeface="Times New Roman"/>
                <a:cs typeface="Times New Roman"/>
                <a:hlinkClick r:id="rId6"/>
              </a:rPr>
              <a:t>http://ww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w</a:t>
            </a:r>
            <a:r>
              <a:rPr sz="1700" dirty="0">
                <a:latin typeface="Times New Roman"/>
                <a:cs typeface="Times New Roman"/>
                <a:hlinkClick r:id="rId6"/>
              </a:rPr>
              <a:t>.pvpsidd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h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a</a:t>
            </a:r>
            <a:r>
              <a:rPr sz="1700" dirty="0">
                <a:latin typeface="Times New Roman"/>
                <a:cs typeface="Times New Roman"/>
                <a:hlinkClick r:id="rId6"/>
              </a:rPr>
              <a:t>rth</a:t>
            </a:r>
            <a:r>
              <a:rPr sz="1700" spc="-5" dirty="0">
                <a:latin typeface="Times New Roman"/>
                <a:cs typeface="Times New Roman"/>
                <a:hlinkClick r:id="rId6"/>
              </a:rPr>
              <a:t>a</a:t>
            </a:r>
            <a:r>
              <a:rPr sz="1700" dirty="0">
                <a:latin typeface="Times New Roman"/>
                <a:cs typeface="Times New Roman"/>
                <a:hlinkClick r:id="rId6"/>
              </a:rPr>
              <a:t>.</a:t>
            </a:r>
            <a:r>
              <a:rPr sz="1700" spc="2" dirty="0">
                <a:latin typeface="Times New Roman"/>
                <a:cs typeface="Times New Roman"/>
                <a:hlinkClick r:id="rId6"/>
              </a:rPr>
              <a:t>a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c</a:t>
            </a:r>
            <a:r>
              <a:rPr sz="1700" dirty="0">
                <a:latin typeface="Times New Roman"/>
                <a:cs typeface="Times New Roman"/>
                <a:hlinkClick r:id="rId6"/>
              </a:rPr>
              <a:t>.in/d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e</a:t>
            </a:r>
            <a:r>
              <a:rPr sz="1700" dirty="0">
                <a:latin typeface="Times New Roman"/>
                <a:cs typeface="Times New Roman"/>
                <a:hlinkClick r:id="rId6"/>
              </a:rPr>
              <a:t>p_it/l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ec</a:t>
            </a:r>
            <a:r>
              <a:rPr sz="1700" dirty="0">
                <a:latin typeface="Times New Roman"/>
                <a:cs typeface="Times New Roman"/>
                <a:hlinkClick r:id="rId6"/>
              </a:rPr>
              <a:t>turenotes/CSA/uni</a:t>
            </a:r>
            <a:r>
              <a:rPr sz="1700" spc="12" dirty="0">
                <a:latin typeface="Times New Roman"/>
                <a:cs typeface="Times New Roman"/>
                <a:hlinkClick r:id="rId6"/>
              </a:rPr>
              <a:t>t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-</a:t>
            </a:r>
            <a:r>
              <a:rPr sz="1700" dirty="0">
                <a:latin typeface="Times New Roman"/>
                <a:cs typeface="Times New Roman"/>
                <a:hlinkClick r:id="rId6"/>
              </a:rPr>
              <a:t>3.pdf</a:t>
            </a:r>
            <a:endParaRPr sz="1700" dirty="0">
              <a:latin typeface="Times New Roman"/>
              <a:cs typeface="Times New Roman"/>
            </a:endParaRPr>
          </a:p>
          <a:p>
            <a:pPr marL="343004" lvl="1" indent="-117287">
              <a:spcBef>
                <a:spcPts val="409"/>
              </a:spcBef>
              <a:buFont typeface="Times New Roman"/>
              <a:buChar char="•"/>
              <a:tabLst>
                <a:tab pos="343309" algn="l"/>
              </a:tabLst>
            </a:pPr>
            <a:r>
              <a:rPr sz="1700" dirty="0">
                <a:latin typeface="Times New Roman"/>
                <a:cs typeface="Times New Roman"/>
                <a:hlinkClick r:id="rId7"/>
              </a:rPr>
              <a:t>http://ww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w</a:t>
            </a:r>
            <a:r>
              <a:rPr sz="1700" dirty="0">
                <a:latin typeface="Times New Roman"/>
                <a:cs typeface="Times New Roman"/>
                <a:hlinkClick r:id="rId7"/>
              </a:rPr>
              <a:t>.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c</a:t>
            </a:r>
            <a:r>
              <a:rPr sz="1700" dirty="0">
                <a:latin typeface="Times New Roman"/>
                <a:cs typeface="Times New Roman"/>
                <a:hlinkClick r:id="rId7"/>
              </a:rPr>
              <a:t>s.bingh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a</a:t>
            </a:r>
            <a:r>
              <a:rPr sz="1700" dirty="0">
                <a:latin typeface="Times New Roman"/>
                <a:cs typeface="Times New Roman"/>
                <a:hlinkClick r:id="rId7"/>
              </a:rPr>
              <a:t>mton.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e</a:t>
            </a:r>
            <a:r>
              <a:rPr sz="1700" dirty="0">
                <a:latin typeface="Times New Roman"/>
                <a:cs typeface="Times New Roman"/>
                <a:hlinkClick r:id="rId7"/>
              </a:rPr>
              <a:t>du/~r</a:t>
            </a:r>
            <a:r>
              <a:rPr sz="1700" spc="-5" dirty="0">
                <a:latin typeface="Times New Roman"/>
                <a:cs typeface="Times New Roman"/>
                <a:hlinkClick r:id="rId7"/>
              </a:rPr>
              <a:t>e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c</a:t>
            </a:r>
            <a:r>
              <a:rPr sz="1700" dirty="0">
                <a:latin typeface="Times New Roman"/>
                <a:cs typeface="Times New Roman"/>
                <a:hlinkClick r:id="rId7"/>
              </a:rPr>
              <a:t>k</a:t>
            </a:r>
            <a:r>
              <a:rPr sz="1700" spc="2" dirty="0">
                <a:latin typeface="Times New Roman"/>
                <a:cs typeface="Times New Roman"/>
                <a:hlinkClick r:id="rId7"/>
              </a:rPr>
              <a:t>e</a:t>
            </a:r>
            <a:r>
              <a:rPr sz="1700" dirty="0">
                <a:latin typeface="Times New Roman"/>
                <a:cs typeface="Times New Roman"/>
                <a:hlinkClick r:id="rId7"/>
              </a:rPr>
              <a:t>rt/h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a</a:t>
            </a:r>
            <a:r>
              <a:rPr sz="1700" dirty="0">
                <a:latin typeface="Times New Roman"/>
                <a:cs typeface="Times New Roman"/>
                <a:hlinkClick r:id="rId7"/>
              </a:rPr>
              <a:t>rdwir</a:t>
            </a:r>
            <a:r>
              <a:rPr sz="1700" spc="-5" dirty="0">
                <a:latin typeface="Times New Roman"/>
                <a:cs typeface="Times New Roman"/>
                <a:hlinkClick r:id="rId7"/>
              </a:rPr>
              <a:t>e</a:t>
            </a:r>
            <a:r>
              <a:rPr sz="1700" dirty="0">
                <a:latin typeface="Times New Roman"/>
                <a:cs typeface="Times New Roman"/>
                <a:hlinkClick r:id="rId7"/>
              </a:rPr>
              <a:t>3n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e</a:t>
            </a:r>
            <a:r>
              <a:rPr sz="1700" dirty="0">
                <a:latin typeface="Times New Roman"/>
                <a:cs typeface="Times New Roman"/>
                <a:hlinkClick r:id="rId7"/>
              </a:rPr>
              <a:t>w.html</a:t>
            </a:r>
            <a:endParaRPr sz="1700" dirty="0">
              <a:latin typeface="Times New Roman"/>
              <a:cs typeface="Times New Roman"/>
            </a:endParaRPr>
          </a:p>
          <a:p>
            <a:pPr marL="343004" lvl="1" indent="-117287">
              <a:spcBef>
                <a:spcPts val="404"/>
              </a:spcBef>
              <a:buFont typeface="Times New Roman"/>
              <a:buChar char="•"/>
              <a:tabLst>
                <a:tab pos="343309" algn="l"/>
              </a:tabLst>
            </a:pPr>
            <a:r>
              <a:rPr sz="1700" dirty="0">
                <a:latin typeface="Times New Roman"/>
                <a:cs typeface="Times New Roman"/>
                <a:hlinkClick r:id="rId8"/>
              </a:rPr>
              <a:t>https://ww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w</a:t>
            </a:r>
            <a:r>
              <a:rPr sz="1700" dirty="0">
                <a:latin typeface="Times New Roman"/>
                <a:cs typeface="Times New Roman"/>
                <a:hlinkClick r:id="rId8"/>
              </a:rPr>
              <a:t>.g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  <a:hlinkClick r:id="rId8"/>
              </a:rPr>
              <a:t>ksf</a:t>
            </a:r>
            <a:r>
              <a:rPr sz="1700" spc="2" dirty="0">
                <a:latin typeface="Times New Roman"/>
                <a:cs typeface="Times New Roman"/>
                <a:hlinkClick r:id="rId8"/>
              </a:rPr>
              <a:t>o</a:t>
            </a:r>
            <a:r>
              <a:rPr sz="1700" dirty="0">
                <a:latin typeface="Times New Roman"/>
                <a:cs typeface="Times New Roman"/>
                <a:hlinkClick r:id="rId8"/>
              </a:rPr>
              <a:t>rg</a:t>
            </a:r>
            <a:r>
              <a:rPr sz="1700" spc="-5" dirty="0">
                <a:latin typeface="Times New Roman"/>
                <a:cs typeface="Times New Roman"/>
                <a:hlinkClick r:id="rId8"/>
              </a:rPr>
              <a:t>e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e</a:t>
            </a:r>
            <a:r>
              <a:rPr sz="1700" dirty="0">
                <a:latin typeface="Times New Roman"/>
                <a:cs typeface="Times New Roman"/>
                <a:hlinkClick r:id="rId8"/>
              </a:rPr>
              <a:t>ks.org/las</a:t>
            </a:r>
            <a:r>
              <a:rPr sz="1700" spc="2" dirty="0">
                <a:latin typeface="Times New Roman"/>
                <a:cs typeface="Times New Roman"/>
                <a:hlinkClick r:id="rId8"/>
              </a:rPr>
              <a:t>t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-</a:t>
            </a:r>
            <a:r>
              <a:rPr sz="1700" spc="-5" dirty="0">
                <a:latin typeface="Times New Roman"/>
                <a:cs typeface="Times New Roman"/>
                <a:hlinkClick r:id="rId8"/>
              </a:rPr>
              <a:t>minut</a:t>
            </a:r>
            <a:r>
              <a:rPr sz="1700" spc="-7" dirty="0">
                <a:latin typeface="Times New Roman"/>
                <a:cs typeface="Times New Roman"/>
                <a:hlinkClick r:id="rId8"/>
              </a:rPr>
              <a:t>e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-</a:t>
            </a:r>
            <a:r>
              <a:rPr sz="1700" spc="5" dirty="0">
                <a:latin typeface="Times New Roman"/>
                <a:cs typeface="Times New Roman"/>
                <a:hlinkClick r:id="rId8"/>
              </a:rPr>
              <a:t>n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otes</a:t>
            </a:r>
            <a:r>
              <a:rPr sz="1700" spc="-5" dirty="0">
                <a:latin typeface="Times New Roman"/>
                <a:cs typeface="Times New Roman"/>
                <a:hlinkClick r:id="rId8"/>
              </a:rPr>
              <a:t>-</a:t>
            </a:r>
            <a:r>
              <a:rPr sz="1700" spc="-7" dirty="0">
                <a:latin typeface="Times New Roman"/>
                <a:cs typeface="Times New Roman"/>
                <a:hlinkClick r:id="rId8"/>
              </a:rPr>
              <a:t>c</a:t>
            </a:r>
            <a:r>
              <a:rPr sz="1700" spc="-5" dirty="0">
                <a:latin typeface="Times New Roman"/>
                <a:cs typeface="Times New Roman"/>
                <a:hlinkClick r:id="rId8"/>
              </a:rPr>
              <a:t>omput</a:t>
            </a:r>
            <a:r>
              <a:rPr sz="1700" spc="-7" dirty="0">
                <a:latin typeface="Times New Roman"/>
                <a:cs typeface="Times New Roman"/>
                <a:hlinkClick r:id="rId8"/>
              </a:rPr>
              <a:t>e</a:t>
            </a:r>
            <a:r>
              <a:rPr sz="1700" dirty="0">
                <a:latin typeface="Times New Roman"/>
                <a:cs typeface="Times New Roman"/>
                <a:hlinkClick r:id="rId8"/>
              </a:rPr>
              <a:t>r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-</a:t>
            </a:r>
            <a:r>
              <a:rPr sz="1700" spc="5" dirty="0">
                <a:latin typeface="Times New Roman"/>
                <a:cs typeface="Times New Roman"/>
                <a:hlinkClick r:id="rId8"/>
              </a:rPr>
              <a:t>o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rg</a:t>
            </a:r>
            <a:r>
              <a:rPr sz="1700" spc="-10" dirty="0">
                <a:latin typeface="Times New Roman"/>
                <a:cs typeface="Times New Roman"/>
                <a:hlinkClick r:id="rId8"/>
              </a:rPr>
              <a:t>a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niz</a:t>
            </a:r>
            <a:r>
              <a:rPr sz="1700" spc="-7" dirty="0">
                <a:latin typeface="Times New Roman"/>
                <a:cs typeface="Times New Roman"/>
                <a:hlinkClick r:id="rId8"/>
              </a:rPr>
              <a:t>a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tion/</a:t>
            </a:r>
            <a:endParaRPr sz="1700" dirty="0">
              <a:latin typeface="Times New Roman"/>
              <a:cs typeface="Times New Roman"/>
            </a:endParaRPr>
          </a:p>
          <a:p>
            <a:pPr marL="335673" marR="20464" lvl="1" indent="-109957">
              <a:spcBef>
                <a:spcPts val="387"/>
              </a:spcBef>
              <a:buFont typeface="Times New Roman"/>
              <a:buChar char="•"/>
              <a:tabLst>
                <a:tab pos="335979" algn="l"/>
              </a:tabLst>
            </a:pP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https: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/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/bm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s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it.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ac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.in/sys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t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e</a:t>
            </a:r>
            <a:r>
              <a:rPr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m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/st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udy_mat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e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ri</a:t>
            </a:r>
            <a:r>
              <a:rPr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a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ls/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do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c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uments/000/000/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007/origi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n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a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l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/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Comp</a:t>
            </a:r>
            <a:r>
              <a:rPr sz="1700" spc="-2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 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ute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r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_O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rg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a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n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i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za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ti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on_Ch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a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pte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r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7.pd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f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?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  <a:hlinkClick r:id="rId9"/>
              </a:rPr>
              <a:t>1477057102</a:t>
            </a: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spcBef>
                <a:spcPts val="22"/>
              </a:spcBef>
              <a:buFont typeface="Times New Roman"/>
              <a:buChar char="•"/>
              <a:tabLst>
                <a:tab pos="335979" algn="l"/>
              </a:tabLst>
            </a:pP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https: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//ww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w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.jav</a:t>
            </a:r>
            <a:r>
              <a:rPr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a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tpoi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nt.com/desig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n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-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o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f-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c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ontrol-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un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i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t</a:t>
            </a:r>
            <a:endParaRPr lang="en-US" sz="1700" u="sng" spc="-2" dirty="0">
              <a:solidFill>
                <a:srgbClr val="0462C1"/>
              </a:solidFill>
              <a:latin typeface="Times New Roman"/>
              <a:cs typeface="Times New Roman"/>
            </a:endParaRPr>
          </a:p>
          <a:p>
            <a:pPr marL="335673" lvl="1" indent="-109957">
              <a:spcBef>
                <a:spcPts val="22"/>
              </a:spcBef>
              <a:buFont typeface="Times New Roman"/>
              <a:buChar char="•"/>
              <a:tabLst>
                <a:tab pos="335979" algn="l"/>
              </a:tabLst>
            </a:pPr>
            <a:endParaRPr lang="en-US" sz="1700" u="sng" spc="-2" dirty="0">
              <a:solidFill>
                <a:srgbClr val="0462C1"/>
              </a:solidFill>
              <a:latin typeface="Times New Roman"/>
              <a:cs typeface="Times New Roman"/>
            </a:endParaRPr>
          </a:p>
          <a:p>
            <a:pPr marL="6109"/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2" dirty="0"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latin typeface="Times New Roman"/>
                <a:cs typeface="Times New Roman"/>
              </a:rPr>
              <a:t>Vi</a:t>
            </a:r>
            <a:r>
              <a:rPr lang="en-US" sz="1700" b="1" dirty="0">
                <a:latin typeface="Times New Roman"/>
                <a:cs typeface="Times New Roman"/>
              </a:rPr>
              <a:t>d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o </a:t>
            </a:r>
            <a:r>
              <a:rPr lang="en-US" sz="1700" b="1" spc="-5" dirty="0">
                <a:latin typeface="Times New Roman"/>
                <a:cs typeface="Times New Roman"/>
              </a:rPr>
              <a:t>Li</a:t>
            </a:r>
            <a:r>
              <a:rPr lang="en-US" sz="1700" b="1" spc="-2" dirty="0">
                <a:latin typeface="Times New Roman"/>
                <a:cs typeface="Times New Roman"/>
              </a:rPr>
              <a:t>n</a:t>
            </a:r>
            <a:r>
              <a:rPr lang="en-US" sz="1700" b="1" dirty="0">
                <a:latin typeface="Times New Roman"/>
                <a:cs typeface="Times New Roman"/>
              </a:rPr>
              <a:t>k</a:t>
            </a:r>
            <a:r>
              <a:rPr lang="en-US" sz="1700" b="1" spc="-2" dirty="0">
                <a:latin typeface="Times New Roman"/>
                <a:cs typeface="Times New Roman"/>
              </a:rPr>
              <a:t>s: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7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https: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/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/youtu.b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e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/fq</a:t>
            </a:r>
            <a:r>
              <a:rPr lang="en-US"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e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8n_7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l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n2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c?si=hgui5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t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Mi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C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t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-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ZP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U7g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63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https: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//ww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w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.youtube.</a:t>
            </a:r>
            <a:r>
              <a:rPr lang="en-US"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c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om/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li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v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e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/t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Yi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C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5xqD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zB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c?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si=shs5d4bTt99AO4w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L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63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3"/>
              </a:rPr>
              <a:t>https: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  <a:hlinkClick r:id="rId13"/>
              </a:rPr>
              <a:t>/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3"/>
              </a:rPr>
              <a:t>/youtu.b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13"/>
              </a:rPr>
              <a:t>e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3"/>
              </a:rPr>
              <a:t>/</a:t>
            </a:r>
            <a:r>
              <a:rPr lang="en-US"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3"/>
              </a:rPr>
              <a:t>5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  <a:hlinkClick r:id="rId13"/>
              </a:rPr>
              <a:t>Sk5Opo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3"/>
              </a:rPr>
              <a:t>T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13"/>
              </a:rPr>
              <a:t>66E</a:t>
            </a:r>
            <a:r>
              <a:rPr lang="en-US"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3"/>
              </a:rPr>
              <a:t>?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3"/>
              </a:rPr>
              <a:t>si=Do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13"/>
              </a:rPr>
              <a:t>C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  <a:hlinkClick r:id="rId13"/>
              </a:rPr>
              <a:t>gVZ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3"/>
              </a:rPr>
              <a:t>3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  <a:hlinkClick r:id="rId13"/>
              </a:rPr>
              <a:t>6i</a:t>
            </a:r>
            <a:r>
              <a:rPr lang="en-US" sz="1700" u="sng" spc="5" dirty="0">
                <a:solidFill>
                  <a:srgbClr val="0462C1"/>
                </a:solidFill>
                <a:latin typeface="Times New Roman"/>
                <a:cs typeface="Times New Roman"/>
                <a:hlinkClick r:id="rId13"/>
              </a:rPr>
              <a:t>U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  <a:hlinkClick r:id="rId13"/>
              </a:rPr>
              <a:t>T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13"/>
              </a:rPr>
              <a:t>QDyB2</a:t>
            </a:r>
            <a:endParaRPr lang="en-US" sz="1700" u="sng" spc="-2" dirty="0">
              <a:solidFill>
                <a:srgbClr val="0462C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394129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143</TotalTime>
  <Words>1271</Words>
  <Application>Microsoft Office PowerPoint</Application>
  <PresentationFormat>On-screen Show (16:9)</PresentationFormat>
  <Paragraphs>98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3</cp:revision>
  <dcterms:created xsi:type="dcterms:W3CDTF">2024-12-24T09:06:24Z</dcterms:created>
  <dcterms:modified xsi:type="dcterms:W3CDTF">2024-12-25T12:21:14Z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2024-12-24T00:00:00Z</vt:filetime>
  </property>
  <property fmtid="{D5CDD505-2E9C-101B-9397-08002B2CF9AE}" pid="3" name="LastSaved">
    <vt:filetime>2024-12-24T00:00:00Z</vt:filetime>
  </property>
</Properties>
</file>