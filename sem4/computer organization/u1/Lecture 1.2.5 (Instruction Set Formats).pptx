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9"/>
  </p:notesMasterIdLst>
  <p:sldIdLst>
    <p:sldId id="265" r:id="rId2"/>
    <p:sldId id="375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4" r:id="rId11"/>
    <p:sldId id="385" r:id="rId12"/>
    <p:sldId id="386" r:id="rId13"/>
    <p:sldId id="383" r:id="rId14"/>
    <p:sldId id="388" r:id="rId15"/>
    <p:sldId id="389" r:id="rId16"/>
    <p:sldId id="390" r:id="rId17"/>
    <p:sldId id="387" r:id="rId18"/>
    <p:sldId id="391" r:id="rId19"/>
    <p:sldId id="392" r:id="rId20"/>
    <p:sldId id="395" r:id="rId21"/>
    <p:sldId id="396" r:id="rId22"/>
    <p:sldId id="397" r:id="rId23"/>
    <p:sldId id="398" r:id="rId24"/>
    <p:sldId id="394" r:id="rId25"/>
    <p:sldId id="399" r:id="rId26"/>
    <p:sldId id="400" r:id="rId27"/>
    <p:sldId id="393" r:id="rId28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36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00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4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69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8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56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3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5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1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8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53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7F77-69BF-7541-BC0C-7F475F1F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BC0E3-D594-1DBD-46DD-A7DB2496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2B3D0-3C01-F7D6-1D8A-3BA95A452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4C616DA-6A3A-CB8D-63F8-1858FB4044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6E920-7E10-9884-FE11-F1FF368455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826933"/>
            <a:ext cx="72390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011601" algn="ctr"/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 S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2" dirty="0">
                <a:latin typeface="Times New Roman"/>
                <a:cs typeface="Times New Roman"/>
              </a:rPr>
              <a:t>AS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IFICA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ION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endParaRPr lang="en-US" sz="1700" spc="-5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an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bro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dly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fits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igure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four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</a:p>
          <a:p>
            <a:pPr marL="6109" marR="2749" algn="just">
              <a:spcBef>
                <a:spcPts val="5"/>
              </a:spcBef>
            </a:pP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th,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set, altogeth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nsure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5" dirty="0">
                <a:latin typeface="Times New Roman"/>
                <a:cs typeface="Times New Roman"/>
              </a:rPr>
              <a:t>The number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less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hund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plus.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note</a:t>
            </a:r>
            <a:r>
              <a:rPr sz="1700" spc="-7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orthy,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imply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power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ul. Mor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provide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own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tibilit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list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making</a:t>
            </a:r>
            <a:r>
              <a:rPr sz="1700" spc="-2" dirty="0">
                <a:latin typeface="Times New Roman"/>
                <a:cs typeface="Times New Roman"/>
              </a:rPr>
              <a:t> the 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21671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7F77-69BF-7541-BC0C-7F475F1F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BC0E3-D594-1DBD-46DD-A7DB2496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2B3D0-3C01-F7D6-1D8A-3BA95A452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4C616DA-6A3A-CB8D-63F8-1858FB4044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6E920-7E10-9884-FE11-F1FF368455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8A4D99-8DDC-5BB9-0561-50CB21873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805" y="665844"/>
            <a:ext cx="4937917" cy="3926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47E0AA-D673-F53F-60CF-FDD92E78A1BC}"/>
              </a:ext>
            </a:extLst>
          </p:cNvPr>
          <p:cNvSpPr txBox="1"/>
          <p:nvPr/>
        </p:nvSpPr>
        <p:spPr>
          <a:xfrm>
            <a:off x="2192226" y="447765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168"/>
            <a:r>
              <a:rPr lang="en-US" sz="1100" i="1" spc="-5" dirty="0">
                <a:latin typeface="Times New Roman"/>
                <a:cs typeface="Times New Roman"/>
              </a:rPr>
              <a:t>G</a:t>
            </a:r>
            <a:r>
              <a:rPr lang="en-US" sz="1100" i="1" dirty="0">
                <a:latin typeface="Times New Roman"/>
                <a:cs typeface="Times New Roman"/>
              </a:rPr>
              <a:t>ene</a:t>
            </a:r>
            <a:r>
              <a:rPr lang="en-US" sz="1100" i="1" spc="-2" dirty="0">
                <a:latin typeface="Times New Roman"/>
                <a:cs typeface="Times New Roman"/>
              </a:rPr>
              <a:t>ri</a:t>
            </a:r>
            <a:r>
              <a:rPr lang="en-US" sz="1100" i="1" dirty="0">
                <a:latin typeface="Times New Roman"/>
                <a:cs typeface="Times New Roman"/>
              </a:rPr>
              <a:t>c Cl</a:t>
            </a:r>
            <a:r>
              <a:rPr lang="en-US" sz="1100" i="1" spc="-5" dirty="0">
                <a:latin typeface="Times New Roman"/>
                <a:cs typeface="Times New Roman"/>
              </a:rPr>
              <a:t>a</a:t>
            </a:r>
            <a:r>
              <a:rPr lang="en-US" sz="1100" i="1" spc="-2" dirty="0">
                <a:latin typeface="Times New Roman"/>
                <a:cs typeface="Times New Roman"/>
              </a:rPr>
              <a:t>s</a:t>
            </a:r>
            <a:r>
              <a:rPr lang="en-US" sz="1100" i="1" spc="-5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5" dirty="0">
                <a:latin typeface="Times New Roman"/>
                <a:cs typeface="Times New Roman"/>
              </a:rPr>
              <a:t>f</a:t>
            </a:r>
            <a:r>
              <a:rPr lang="en-US" sz="1100" i="1" dirty="0">
                <a:latin typeface="Times New Roman"/>
                <a:cs typeface="Times New Roman"/>
              </a:rPr>
              <a:t>ic</a:t>
            </a:r>
            <a:r>
              <a:rPr lang="en-US" sz="1100" i="1" spc="-5" dirty="0">
                <a:latin typeface="Times New Roman"/>
                <a:cs typeface="Times New Roman"/>
              </a:rPr>
              <a:t>a</a:t>
            </a:r>
            <a:r>
              <a:rPr lang="en-US" sz="1100" i="1" dirty="0">
                <a:latin typeface="Times New Roman"/>
                <a:cs typeface="Times New Roman"/>
              </a:rPr>
              <a:t>tion</a:t>
            </a:r>
            <a:r>
              <a:rPr lang="en-US" sz="1100" i="1" spc="-7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of</a:t>
            </a:r>
            <a:r>
              <a:rPr lang="en-US" sz="1100" i="1" spc="-5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7" dirty="0">
                <a:latin typeface="Times New Roman"/>
                <a:cs typeface="Times New Roman"/>
              </a:rPr>
              <a:t>n</a:t>
            </a:r>
            <a:r>
              <a:rPr lang="en-US" sz="1100" i="1" spc="-2" dirty="0">
                <a:latin typeface="Times New Roman"/>
                <a:cs typeface="Times New Roman"/>
              </a:rPr>
              <a:t>s</a:t>
            </a:r>
            <a:r>
              <a:rPr lang="en-US" sz="1100" i="1" spc="2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spc="-5" dirty="0">
                <a:latin typeface="Times New Roman"/>
                <a:cs typeface="Times New Roman"/>
              </a:rPr>
              <a:t>u</a:t>
            </a:r>
            <a:r>
              <a:rPr lang="en-US" sz="1100" i="1" dirty="0">
                <a:latin typeface="Times New Roman"/>
                <a:cs typeface="Times New Roman"/>
              </a:rPr>
              <a:t>c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ion </a:t>
            </a:r>
            <a:r>
              <a:rPr lang="en-US" sz="1100" i="1" spc="-7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et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05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97F77-69BF-7541-BC0C-7F475F1F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BC0E3-D594-1DBD-46DD-A7DB2496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2B3D0-3C01-F7D6-1D8A-3BA95A452A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4C616DA-6A3A-CB8D-63F8-1858FB4044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6E920-7E10-9884-FE11-F1FF368455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819150"/>
            <a:ext cx="72390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ric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discus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vious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p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vious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brie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algn="just">
              <a:spcBef>
                <a:spcPts val="1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633167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nding,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are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ritten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5" dirty="0">
                <a:latin typeface="Times New Roman"/>
                <a:cs typeface="Times New Roman"/>
              </a:rPr>
              <a:t>mnemonic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to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ble.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irst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mnemonic.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tain to </a:t>
            </a:r>
            <a:r>
              <a:rPr sz="1700" spc="-5" dirty="0">
                <a:latin typeface="Times New Roman"/>
                <a:cs typeface="Times New Roman"/>
              </a:rPr>
              <a:t>any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</a:t>
            </a:r>
            <a:r>
              <a:rPr sz="1700" spc="-5" dirty="0">
                <a:latin typeface="Times New Roman"/>
                <a:cs typeface="Times New Roman"/>
              </a:rPr>
              <a:t> 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/>
            <a:endParaRPr lang="en-US" sz="1700" spc="-2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spc="-2" dirty="0">
                <a:latin typeface="Times New Roman"/>
                <a:cs typeface="Times New Roman"/>
              </a:rPr>
              <a:t>Da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dirty="0">
                <a:latin typeface="Times New Roman"/>
                <a:cs typeface="Times New Roman"/>
              </a:rPr>
              <a:t>a</a:t>
            </a:r>
            <a:r>
              <a:rPr lang="en-US" sz="1700" b="1" spc="34" dirty="0">
                <a:latin typeface="Times New Roman"/>
                <a:cs typeface="Times New Roman"/>
              </a:rPr>
              <a:t> </a:t>
            </a: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ov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</a:t>
            </a:r>
            <a:r>
              <a:rPr lang="en-US" sz="1700" b="1" spc="31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7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spc="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suppor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movem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rs,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mory,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r. </a:t>
            </a:r>
            <a:r>
              <a:rPr lang="en-US" sz="1700" spc="-2" dirty="0">
                <a:latin typeface="Times New Roman"/>
                <a:cs typeface="Times New Roman"/>
              </a:rPr>
              <a:t>Fe</a:t>
            </a:r>
            <a:r>
              <a:rPr lang="en-US" sz="170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 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-2" dirty="0">
                <a:latin typeface="Times New Roman"/>
                <a:cs typeface="Times New Roman"/>
              </a:rPr>
              <a:t> suppo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ment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too. D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movem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med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ith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2" dirty="0">
                <a:latin typeface="Times New Roman"/>
                <a:cs typeface="Times New Roman"/>
              </a:rPr>
              <a:t>Move</a:t>
            </a:r>
            <a:r>
              <a:rPr lang="en-US" sz="1700" spc="-5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Load/</a:t>
            </a:r>
            <a:r>
              <a:rPr lang="en-US" sz="1700" spc="-2" dirty="0">
                <a:latin typeface="Times New Roman"/>
                <a:cs typeface="Times New Roman"/>
              </a:rPr>
              <a:t>Store</a:t>
            </a:r>
            <a:r>
              <a:rPr lang="en-US" sz="1700" spc="-5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ons.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5" dirty="0">
                <a:latin typeface="Times New Roman"/>
                <a:cs typeface="Times New Roman"/>
              </a:rPr>
              <a:t>tego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is most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q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ly </a:t>
            </a:r>
            <a:r>
              <a:rPr lang="en-US" sz="1700" dirty="0">
                <a:latin typeface="Times New Roman"/>
                <a:cs typeface="Times New Roman"/>
              </a:rPr>
              <a:t>used by C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 while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ng 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ogr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887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4AE9-5139-5CC8-0F07-4EB8FDBE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32FE7F-FB48-7D77-F25B-BDE34C96A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7F6472-EF19-8E3F-4A84-D82622562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FEDDBB0-F0D3-507D-FBC6-F1EEAC0B46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D69C15-2872-E371-BA97-8E3AF57891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96505B-4529-9509-A3C7-848EA8C5544A}"/>
              </a:ext>
            </a:extLst>
          </p:cNvPr>
          <p:cNvSpPr txBox="1"/>
          <p:nvPr/>
        </p:nvSpPr>
        <p:spPr>
          <a:xfrm>
            <a:off x="876300" y="838736"/>
            <a:ext cx="739140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algn="just"/>
            <a:r>
              <a:rPr lang="en-US" sz="1700" dirty="0">
                <a:latin typeface="Times New Roman"/>
                <a:cs typeface="Times New Roman"/>
              </a:rPr>
              <a:t>For 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</a:p>
          <a:p>
            <a:pPr marL="6109" algn="just"/>
            <a:endParaRPr lang="en-US" sz="1700" spc="-2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spc="-2" dirty="0">
                <a:latin typeface="Times New Roman"/>
                <a:cs typeface="Times New Roman"/>
              </a:rPr>
              <a:t>Move R1, Total</a:t>
            </a:r>
          </a:p>
          <a:p>
            <a:pPr marL="6109" algn="just"/>
            <a:r>
              <a:rPr lang="en-US" sz="1700" spc="-2" dirty="0">
                <a:latin typeface="Times New Roman"/>
                <a:cs typeface="Times New Roman"/>
              </a:rPr>
              <a:t>Move Total, R1</a:t>
            </a:r>
          </a:p>
          <a:p>
            <a:pPr marL="6109" algn="just"/>
            <a:r>
              <a:rPr lang="en-US" sz="1700" spc="-2" dirty="0">
                <a:latin typeface="Times New Roman"/>
                <a:cs typeface="Times New Roman"/>
              </a:rPr>
              <a:t>Load R1, Total</a:t>
            </a:r>
          </a:p>
          <a:p>
            <a:pPr marL="6109" algn="just"/>
            <a:r>
              <a:rPr lang="en-US" sz="1700" spc="-2" dirty="0">
                <a:latin typeface="Times New Roman"/>
                <a:cs typeface="Times New Roman"/>
              </a:rPr>
              <a:t>Store R1, Total</a:t>
            </a:r>
          </a:p>
          <a:p>
            <a:pPr marL="6109" algn="just"/>
            <a:endParaRPr lang="en-US" sz="1700" spc="-2" dirty="0">
              <a:latin typeface="Times New Roman"/>
              <a:cs typeface="Times New Roman"/>
            </a:endParaRPr>
          </a:p>
          <a:p>
            <a:pPr marL="6109" marR="3971" algn="just"/>
            <a:r>
              <a:rPr lang="en-US" sz="1700" b="1" spc="-2" dirty="0">
                <a:latin typeface="Times New Roman"/>
                <a:cs typeface="Times New Roman"/>
              </a:rPr>
              <a:t>A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latin typeface="Times New Roman"/>
                <a:cs typeface="Times New Roman"/>
              </a:rPr>
              <a:t>ith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tic</a:t>
            </a:r>
            <a:r>
              <a:rPr lang="en-US" sz="1700" b="1" spc="60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and</a:t>
            </a:r>
            <a:r>
              <a:rPr lang="en-US" sz="1700" b="1" spc="63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Logical</a:t>
            </a:r>
            <a:r>
              <a:rPr lang="en-US" sz="1700" b="1" spc="63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spc="7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gory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rry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out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ulations.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minimum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gory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DD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UB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D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OR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XO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T.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ultipl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Divide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lw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mul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using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ddition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sub</a:t>
            </a:r>
            <a:r>
              <a:rPr lang="en-US" sz="1700" spc="-2" dirty="0">
                <a:latin typeface="Times New Roman"/>
                <a:cs typeface="Times New Roman"/>
              </a:rPr>
              <a:t>tra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ry 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rly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ev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r,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spc="2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L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PLY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V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are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more 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icient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mul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CP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P </a:t>
            </a:r>
            <a:r>
              <a:rPr lang="en-US" sz="1700" spc="-5" dirty="0">
                <a:latin typeface="Times New Roman"/>
                <a:cs typeface="Times New Roman"/>
              </a:rPr>
              <a:t>(Compa</a:t>
            </a:r>
            <a:r>
              <a:rPr lang="en-US" sz="1700" spc="-7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)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425173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CD781-2194-7B14-6F58-5C91A3BC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BBBAC-AB45-CA58-4FFF-9B7E67C4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ED8F2-9B1E-4D5D-4D23-AB3E474F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816B3EC-EC26-787A-EEB4-9D4D9A36296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3B2A5B-4C98-57D6-E4EB-6CBF81E3B7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542BBB-F81C-45FC-A5DE-10F6B1336A8B}"/>
              </a:ext>
            </a:extLst>
          </p:cNvPr>
          <p:cNvSpPr txBox="1"/>
          <p:nvPr/>
        </p:nvSpPr>
        <p:spPr>
          <a:xfrm>
            <a:off x="838200" y="911570"/>
            <a:ext cx="7315200" cy="347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4276" algn="just"/>
            <a:r>
              <a:rPr lang="en-US" sz="1800" spc="-5" dirty="0">
                <a:latin typeface="Times New Roman"/>
                <a:cs typeface="Times New Roman"/>
              </a:rPr>
              <a:t>The</a:t>
            </a:r>
            <a:r>
              <a:rPr lang="en-US" sz="1800" spc="-34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logi</a:t>
            </a:r>
            <a:r>
              <a:rPr lang="en-US" sz="1800" spc="-7" dirty="0">
                <a:latin typeface="Times New Roman"/>
                <a:cs typeface="Times New Roman"/>
              </a:rPr>
              <a:t>ca</a:t>
            </a:r>
            <a:r>
              <a:rPr lang="en-US" sz="1800" spc="-2" dirty="0">
                <a:latin typeface="Times New Roman"/>
                <a:cs typeface="Times New Roman"/>
              </a:rPr>
              <a:t>l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instru</a:t>
            </a:r>
            <a:r>
              <a:rPr lang="en-US" sz="1800" spc="-10" dirty="0">
                <a:latin typeface="Times New Roman"/>
                <a:cs typeface="Times New Roman"/>
              </a:rPr>
              <a:t>c</a:t>
            </a:r>
            <a:r>
              <a:rPr lang="en-US" sz="1800" spc="-2" dirty="0">
                <a:latin typeface="Times New Roman"/>
                <a:cs typeface="Times New Roman"/>
              </a:rPr>
              <a:t>ti</a:t>
            </a:r>
            <a:r>
              <a:rPr lang="en-US" sz="1800" dirty="0">
                <a:latin typeface="Times New Roman"/>
                <a:cs typeface="Times New Roman"/>
              </a:rPr>
              <a:t>ons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are</a:t>
            </a:r>
            <a:r>
              <a:rPr lang="en-US" sz="1800" spc="-34" dirty="0">
                <a:latin typeface="Times New Roman"/>
                <a:cs typeface="Times New Roman"/>
              </a:rPr>
              <a:t> </a:t>
            </a:r>
            <a:r>
              <a:rPr lang="en-US" sz="1800" spc="2" dirty="0">
                <a:latin typeface="Times New Roman"/>
                <a:cs typeface="Times New Roman"/>
              </a:rPr>
              <a:t>r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quir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d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to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implem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nt</a:t>
            </a:r>
            <a:r>
              <a:rPr lang="en-US" sz="1800" spc="-24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-31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spc="-2" dirty="0">
                <a:latin typeface="Times New Roman"/>
                <a:cs typeface="Times New Roman"/>
              </a:rPr>
              <a:t>ondition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spc="-5" dirty="0">
                <a:latin typeface="Times New Roman"/>
                <a:cs typeface="Times New Roman"/>
              </a:rPr>
              <a:t>h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spc="-5" dirty="0">
                <a:latin typeface="Times New Roman"/>
                <a:cs typeface="Times New Roman"/>
              </a:rPr>
              <a:t>king</a:t>
            </a:r>
            <a:r>
              <a:rPr lang="en-US" sz="1800" spc="-29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26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"F</a:t>
            </a:r>
            <a:r>
              <a:rPr lang="en-US" sz="1800" dirty="0">
                <a:latin typeface="Times New Roman"/>
                <a:cs typeface="Times New Roman"/>
              </a:rPr>
              <a:t>or</a:t>
            </a:r>
            <a:r>
              <a:rPr lang="en-US" sz="1800" spc="-31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Loops,</a:t>
            </a:r>
            <a:r>
              <a:rPr lang="en-US" sz="1800" spc="-24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W</a:t>
            </a:r>
            <a:r>
              <a:rPr lang="en-US" sz="1800" spc="-2" dirty="0">
                <a:latin typeface="Times New Roman"/>
                <a:cs typeface="Times New Roman"/>
              </a:rPr>
              <a:t>hile </a:t>
            </a:r>
            <a:r>
              <a:rPr lang="en-US" sz="1800" dirty="0">
                <a:latin typeface="Times New Roman"/>
                <a:cs typeface="Times New Roman"/>
              </a:rPr>
              <a:t>Loops,</a:t>
            </a:r>
            <a:r>
              <a:rPr lang="en-US" sz="1800" spc="-2" dirty="0">
                <a:latin typeface="Times New Roman"/>
                <a:cs typeface="Times New Roman"/>
              </a:rPr>
              <a:t> I</a:t>
            </a:r>
            <a:r>
              <a:rPr lang="en-US" sz="1800" spc="-5" dirty="0">
                <a:latin typeface="Times New Roman"/>
                <a:cs typeface="Times New Roman"/>
              </a:rPr>
              <a:t>F</a:t>
            </a:r>
            <a:r>
              <a:rPr lang="en-US" sz="1800" dirty="0">
                <a:latin typeface="Times New Roman"/>
                <a:cs typeface="Times New Roman"/>
              </a:rPr>
              <a:t>, 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dirty="0">
                <a:latin typeface="Times New Roman"/>
                <a:cs typeface="Times New Roman"/>
              </a:rPr>
              <a:t>..".</a:t>
            </a:r>
          </a:p>
          <a:p>
            <a:pPr>
              <a:spcBef>
                <a:spcPts val="9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marR="2443" algn="just">
              <a:lnSpc>
                <a:spcPct val="110300"/>
              </a:lnSpc>
            </a:pP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rithm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logic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ons,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nding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sul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 A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umul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tor,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Condition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(</a:t>
            </a:r>
            <a:r>
              <a:rPr lang="en-US" sz="1700" spc="-7" dirty="0">
                <a:latin typeface="Times New Roman"/>
                <a:cs typeface="Times New Roman"/>
              </a:rPr>
              <a:t>Ze</a:t>
            </a:r>
            <a:r>
              <a:rPr lang="en-US" sz="1700" dirty="0">
                <a:latin typeface="Times New Roman"/>
                <a:cs typeface="Times New Roman"/>
              </a:rPr>
              <a:t>ro,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ign,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Ov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low,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–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ZS</a:t>
            </a:r>
            <a:r>
              <a:rPr lang="en-US" sz="1700" spc="-2" dirty="0">
                <a:latin typeface="Times New Roman"/>
                <a:cs typeface="Times New Roman"/>
              </a:rPr>
              <a:t>OC</a:t>
            </a:r>
            <a:r>
              <a:rPr lang="en-US" sz="1700" dirty="0">
                <a:latin typeface="Times New Roman"/>
                <a:cs typeface="Times New Roman"/>
              </a:rPr>
              <a:t>)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set,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impl</a:t>
            </a:r>
            <a:r>
              <a:rPr lang="en-US" sz="1700" spc="-10" dirty="0">
                <a:latin typeface="Times New Roman"/>
                <a:cs typeface="Times New Roman"/>
              </a:rPr>
              <a:t>y</a:t>
            </a:r>
            <a:r>
              <a:rPr lang="en-US" sz="1700" spc="-5" dirty="0">
                <a:latin typeface="Times New Roman"/>
                <a:cs typeface="Times New Roman"/>
              </a:rPr>
              <a:t>ing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5" dirty="0">
                <a:latin typeface="Times New Roman"/>
                <a:cs typeface="Times New Roman"/>
              </a:rPr>
              <a:t>outcome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en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these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fl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gs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eful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12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ntrolling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flow of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m.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</a:p>
          <a:p>
            <a:pPr marL="6109" marR="2443" algn="just">
              <a:lnSpc>
                <a:spcPct val="110300"/>
              </a:lnSpc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>
              <a:lnSpc>
                <a:spcPct val="110300"/>
              </a:lnSpc>
            </a:pPr>
            <a:r>
              <a:rPr lang="en-US" sz="1700" spc="-2" dirty="0">
                <a:latin typeface="Times New Roman"/>
                <a:cs typeface="Times New Roman"/>
              </a:rPr>
              <a:t>ADD R1, TOTAL</a:t>
            </a:r>
          </a:p>
          <a:p>
            <a:pPr marL="6109" marR="2443" algn="just">
              <a:lnSpc>
                <a:spcPct val="110300"/>
              </a:lnSpc>
            </a:pPr>
            <a:r>
              <a:rPr lang="en-US" sz="1700" spc="-2" dirty="0">
                <a:latin typeface="Times New Roman"/>
                <a:cs typeface="Times New Roman"/>
              </a:rPr>
              <a:t>ADD R1, R2, R3</a:t>
            </a:r>
          </a:p>
          <a:p>
            <a:pPr marL="6109" marR="2443" algn="just">
              <a:lnSpc>
                <a:spcPct val="110300"/>
              </a:lnSpc>
            </a:pPr>
            <a:r>
              <a:rPr lang="en-US" sz="1700" spc="-2" dirty="0">
                <a:latin typeface="Times New Roman"/>
                <a:cs typeface="Times New Roman"/>
              </a:rPr>
              <a:t>XOR R4, TOTAL</a:t>
            </a:r>
          </a:p>
          <a:p>
            <a:pPr marL="6109" marR="2443" algn="just">
              <a:lnSpc>
                <a:spcPct val="110300"/>
              </a:lnSpc>
            </a:pPr>
            <a:r>
              <a:rPr lang="en-US" sz="1700" spc="-2" dirty="0">
                <a:latin typeface="Times New Roman"/>
                <a:cs typeface="Times New Roman"/>
              </a:rPr>
              <a:t>MUL R4, MARKS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9043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9711-3A76-BD50-85A7-90DBF4AC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51DB5-5BF9-4A25-942D-699179257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179863-49F1-CA57-2185-3C563EBA6E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57249FD-C26B-E44C-1D3B-F2FA349708B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36FBF1-4D57-0CD1-2BBF-67239BFE29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6"/>
          <p:cNvSpPr txBox="1"/>
          <p:nvPr/>
        </p:nvSpPr>
        <p:spPr>
          <a:xfrm>
            <a:off x="858196" y="1047750"/>
            <a:ext cx="74676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spc="-5" dirty="0">
                <a:latin typeface="Times New Roman"/>
                <a:cs typeface="Times New Roman"/>
              </a:rPr>
              <a:t>er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7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gory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ilit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flow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scrib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BR</a:t>
            </a:r>
            <a:r>
              <a:rPr sz="1700" spc="-2" dirty="0">
                <a:latin typeface="Times New Roman"/>
                <a:cs typeface="Times New Roman"/>
              </a:rPr>
              <a:t>AN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JMP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Condition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Code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fl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gs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hieve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nt.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Subro</a:t>
            </a:r>
            <a:r>
              <a:rPr sz="1700" spc="-2" dirty="0">
                <a:latin typeface="Times New Roman"/>
                <a:cs typeface="Times New Roman"/>
              </a:rPr>
              <a:t>utine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AL</a:t>
            </a:r>
            <a:r>
              <a:rPr sz="1700" spc="-5" dirty="0">
                <a:latin typeface="Times New Roman"/>
                <a:cs typeface="Times New Roman"/>
              </a:rPr>
              <a:t>LS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RET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iz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spc="5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/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/>
            <a:r>
              <a:rPr lang="en-US" sz="1700" spc="-2" dirty="0">
                <a:latin typeface="Times New Roman"/>
                <a:cs typeface="Times New Roman"/>
              </a:rPr>
              <a:t>JMP LABEL1        ;Jump</a:t>
            </a:r>
          </a:p>
          <a:p>
            <a:pPr marL="6109" marR="2443" algn="just"/>
            <a:r>
              <a:rPr lang="en-US" sz="1700" spc="-2" dirty="0">
                <a:latin typeface="Times New Roman"/>
                <a:cs typeface="Times New Roman"/>
              </a:rPr>
              <a:t>JNZ LABEL2        ;Jump on not zero</a:t>
            </a:r>
          </a:p>
          <a:p>
            <a:pPr marL="6109" marR="2443" algn="just"/>
            <a:r>
              <a:rPr lang="en-US" sz="1700" spc="-2" dirty="0">
                <a:latin typeface="Times New Roman"/>
                <a:cs typeface="Times New Roman"/>
              </a:rPr>
              <a:t>BZ LABEL2          ;Branch on Zero</a:t>
            </a:r>
          </a:p>
          <a:p>
            <a:pPr marL="6109" marR="2443" algn="just"/>
            <a:r>
              <a:rPr lang="en-US" sz="1700" spc="-2" dirty="0">
                <a:latin typeface="Times New Roman"/>
                <a:cs typeface="Times New Roman"/>
              </a:rPr>
              <a:t>BNE LABEL3       ;Branch on not Equal</a:t>
            </a:r>
          </a:p>
          <a:p>
            <a:pPr marL="6109" marR="2443" algn="just"/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508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51EC-726E-7B95-EED2-CFD67682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A04643-700E-CEEC-E35A-BB4AE4ADB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1CAAF0-2102-DD38-7588-F36D129E9F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C9CEA00-8C3D-9006-3ED8-D004CCCD33C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1C540A-001D-ED92-6036-0613E9AC0E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8"/>
          <p:cNvSpPr txBox="1"/>
          <p:nvPr/>
        </p:nvSpPr>
        <p:spPr>
          <a:xfrm>
            <a:off x="952500" y="942050"/>
            <a:ext cx="72390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npu</a:t>
            </a:r>
            <a:r>
              <a:rPr sz="1700" b="1" spc="-2" dirty="0">
                <a:latin typeface="Times New Roman"/>
                <a:cs typeface="Times New Roman"/>
              </a:rPr>
              <a:t>t/</a:t>
            </a:r>
            <a:r>
              <a:rPr sz="1700" b="1" spc="-12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utput</a:t>
            </a:r>
            <a:r>
              <a:rPr sz="1700" b="1" spc="-3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doing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nput/</a:t>
            </a:r>
            <a:r>
              <a:rPr sz="1700" spc="-7" dirty="0">
                <a:latin typeface="Times New Roman"/>
                <a:cs typeface="Times New Roman"/>
              </a:rPr>
              <a:t>Outpu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ntel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mily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ters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</a:t>
            </a:r>
            <a:r>
              <a:rPr sz="1700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rts.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Mot</a:t>
            </a:r>
            <a:r>
              <a:rPr sz="1700" spc="-2" dirty="0">
                <a:latin typeface="Times New Roman"/>
                <a:cs typeface="Times New Roman"/>
              </a:rPr>
              <a:t>orola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mily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gning m</a:t>
            </a:r>
            <a:r>
              <a:rPr sz="1700" spc="-1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spc="-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 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mapp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spc="2" dirty="0">
              <a:latin typeface="Times New Roman"/>
              <a:cs typeface="Times New Roman"/>
            </a:endParaRPr>
          </a:p>
          <a:p>
            <a:pPr marL="6109" marR="2443" algn="just"/>
            <a:endParaRPr lang="en-US" sz="1700" spc="-5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845444">
              <a:tabLst>
                <a:tab pos="1125528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	P</a:t>
            </a:r>
            <a:r>
              <a:rPr lang="en-US" sz="1700" spc="-5" dirty="0">
                <a:latin typeface="Times New Roman"/>
                <a:cs typeface="Times New Roman"/>
              </a:rPr>
              <a:t>ort#232</a:t>
            </a:r>
            <a:endParaRPr lang="en-US" sz="1700" dirty="0">
              <a:latin typeface="Times New Roman"/>
              <a:cs typeface="Times New Roman"/>
            </a:endParaRPr>
          </a:p>
          <a:p>
            <a:pPr marL="845444" marR="1222045">
              <a:tabLst>
                <a:tab pos="1125528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OU</a:t>
            </a:r>
            <a:r>
              <a:rPr lang="en-US" sz="1700" dirty="0">
                <a:latin typeface="Times New Roman"/>
                <a:cs typeface="Times New Roman"/>
              </a:rPr>
              <a:t>T	P</a:t>
            </a:r>
            <a:r>
              <a:rPr lang="en-US" sz="1700" spc="-5" dirty="0">
                <a:latin typeface="Times New Roman"/>
                <a:cs typeface="Times New Roman"/>
              </a:rPr>
              <a:t>ort#234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845444" marR="1222045">
              <a:tabLst>
                <a:tab pos="1125528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Mov</a:t>
            </a:r>
            <a:r>
              <a:rPr lang="en-US" sz="1700" dirty="0">
                <a:latin typeface="Times New Roman"/>
                <a:cs typeface="Times New Roman"/>
              </a:rPr>
              <a:t>e	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1, #</a:t>
            </a:r>
            <a:r>
              <a:rPr lang="en-US" sz="1700" spc="-5" dirty="0">
                <a:latin typeface="Times New Roman"/>
                <a:cs typeface="Times New Roman"/>
              </a:rPr>
              <a:t>FFEE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/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926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8296-F84F-0B6A-2592-1B86785C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58596-EF88-983E-E3B2-A125F6395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6C98EB-B85E-97FD-4311-34BF170C44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164917B-46AD-8CFA-9802-3AF951B19B7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4AEF7D-EEA1-2D7B-138E-913CBE8F96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34396" y="1123950"/>
            <a:ext cx="73914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4276" algn="just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isc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ll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ous</a:t>
            </a:r>
            <a:r>
              <a:rPr sz="1700" b="1" spc="17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dumm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us</a:t>
            </a:r>
            <a:r>
              <a:rPr sz="1700" spc="-2" dirty="0">
                <a:latin typeface="Times New Roman"/>
                <a:cs typeface="Times New Roman"/>
              </a:rPr>
              <a:t>eful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ome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al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pt.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upts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HA</a:t>
            </a:r>
            <a:r>
              <a:rPr sz="1700" spc="-5" dirty="0">
                <a:latin typeface="Times New Roman"/>
                <a:cs typeface="Times New Roman"/>
              </a:rPr>
              <a:t>LT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no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import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brings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"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hutdown".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ystem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grou</a:t>
            </a:r>
            <a:r>
              <a:rPr sz="1700" spc="-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marR="4276" algn="just"/>
            <a:endParaRPr lang="en-US" sz="1700" spc="-2" dirty="0">
              <a:latin typeface="Times New Roman"/>
              <a:cs typeface="Times New Roman"/>
            </a:endParaRPr>
          </a:p>
          <a:p>
            <a:pPr marL="6109" marR="4276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845444" marR="1725708"/>
            <a:r>
              <a:rPr sz="1700" spc="-2" dirty="0">
                <a:latin typeface="Times New Roman"/>
                <a:cs typeface="Times New Roman"/>
              </a:rPr>
              <a:t>HA</a:t>
            </a:r>
            <a:r>
              <a:rPr sz="1700" spc="-5" dirty="0">
                <a:latin typeface="Times New Roman"/>
                <a:cs typeface="Times New Roman"/>
              </a:rPr>
              <a:t>LT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845444" marR="1725708"/>
            <a:r>
              <a:rPr sz="1700" spc="-2" dirty="0">
                <a:latin typeface="Times New Roman"/>
                <a:cs typeface="Times New Roman"/>
              </a:rPr>
              <a:t>NOP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845444" marR="1725708"/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119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3C6D-8DB1-23D9-B008-A5AECFB2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64FF8A-D0DF-3AFE-FA56-50EF0D899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5A1DF-DCF0-D965-BCD4-CA063174E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0972E46-5EB0-5C3A-73F0-4E2FCA97C50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0D5267-7E89-2492-F082-683495D3B9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CF1F8BE-40DF-C8E9-9338-D9A3E9CB0506}"/>
              </a:ext>
            </a:extLst>
          </p:cNvPr>
          <p:cNvSpPr txBox="1"/>
          <p:nvPr/>
        </p:nvSpPr>
        <p:spPr>
          <a:xfrm>
            <a:off x="876300" y="742950"/>
            <a:ext cx="7391400" cy="393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054" algn="just"/>
            <a:r>
              <a:rPr sz="1700" b="1" spc="-5" dirty="0">
                <a:latin typeface="Times New Roman"/>
                <a:cs typeface="Times New Roman"/>
              </a:rPr>
              <a:t>Floating</a:t>
            </a:r>
            <a:r>
              <a:rPr sz="1700" b="1" spc="-7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Poin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1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vious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pter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ialised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-point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ks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loating-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oint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ithmetic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unique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are</a:t>
            </a:r>
            <a:r>
              <a:rPr sz="1700" spc="-5" dirty="0">
                <a:latin typeface="Times New Roman"/>
                <a:cs typeface="Times New Roman"/>
              </a:rPr>
              <a:t> 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pf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845444">
              <a:tabLst>
                <a:tab pos="1125528" algn="l"/>
              </a:tabLst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LD	</a:t>
            </a:r>
            <a:r>
              <a:rPr lang="en-US" sz="1700" dirty="0">
                <a:latin typeface="Times New Roman"/>
                <a:cs typeface="Times New Roman"/>
              </a:rPr>
              <a:t>	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P </a:t>
            </a:r>
            <a:r>
              <a:rPr sz="1700" spc="-5" dirty="0">
                <a:latin typeface="Times New Roman"/>
                <a:cs typeface="Times New Roman"/>
              </a:rPr>
              <a:t>Lo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</a:p>
          <a:p>
            <a:pPr marL="845444" marR="1382704">
              <a:spcBef>
                <a:spcPts val="31"/>
              </a:spcBef>
              <a:tabLst>
                <a:tab pos="1125528" algn="l"/>
              </a:tabLst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lang="en-US" sz="1700" dirty="0">
                <a:latin typeface="Times New Roman"/>
                <a:cs typeface="Times New Roman"/>
              </a:rPr>
              <a:t> 	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P S</a:t>
            </a:r>
            <a:r>
              <a:rPr sz="1700" spc="-2" dirty="0">
                <a:latin typeface="Times New Roman"/>
                <a:cs typeface="Times New Roman"/>
              </a:rPr>
              <a:t>tore 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845444" marR="1382704">
              <a:spcBef>
                <a:spcPts val="31"/>
              </a:spcBef>
              <a:tabLst>
                <a:tab pos="1125528" algn="l"/>
              </a:tabLst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	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P </a:t>
            </a: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</a:t>
            </a:r>
          </a:p>
          <a:p>
            <a:pPr marL="845444">
              <a:spcBef>
                <a:spcPts val="31"/>
              </a:spcBef>
              <a:tabLst>
                <a:tab pos="1125528" algn="l"/>
              </a:tabLst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B	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P S</a:t>
            </a:r>
            <a:r>
              <a:rPr sz="1700" spc="-2" dirty="0">
                <a:latin typeface="Times New Roman"/>
                <a:cs typeface="Times New Roman"/>
              </a:rPr>
              <a:t>ubtr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endParaRPr sz="1700" dirty="0">
              <a:latin typeface="Times New Roman"/>
              <a:cs typeface="Times New Roman"/>
            </a:endParaRPr>
          </a:p>
          <a:p>
            <a:pPr marL="845444">
              <a:spcBef>
                <a:spcPts val="70"/>
              </a:spcBef>
              <a:tabLst>
                <a:tab pos="1125528" algn="l"/>
              </a:tabLst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MU</a:t>
            </a:r>
            <a:r>
              <a:rPr sz="1700" dirty="0">
                <a:latin typeface="Times New Roman"/>
                <a:cs typeface="Times New Roman"/>
              </a:rPr>
              <a:t>L	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P </a:t>
            </a:r>
            <a:r>
              <a:rPr sz="1700" spc="-7" dirty="0">
                <a:latin typeface="Times New Roman"/>
                <a:cs typeface="Times New Roman"/>
              </a:rPr>
              <a:t>Mul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ipl</a:t>
            </a:r>
            <a:r>
              <a:rPr sz="1700" dirty="0">
                <a:latin typeface="Times New Roman"/>
                <a:cs typeface="Times New Roman"/>
              </a:rPr>
              <a:t>y</a:t>
            </a:r>
          </a:p>
          <a:p>
            <a:pPr>
              <a:spcBef>
                <a:spcPts val="2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582" algn="just"/>
            <a:r>
              <a:rPr sz="1700" b="1" spc="-5" dirty="0">
                <a:latin typeface="Times New Roman"/>
                <a:cs typeface="Times New Roman"/>
              </a:rPr>
              <a:t>Bi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2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Code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imal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umber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lcul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b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rsion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rsion 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 is 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imil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loating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2" dirty="0">
                <a:latin typeface="Times New Roman"/>
                <a:cs typeface="Times New Roman"/>
              </a:rPr>
              <a:t> 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ializ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spc="-5" dirty="0">
                <a:latin typeface="Times New Roman"/>
                <a:cs typeface="Times New Roman"/>
              </a:rPr>
              <a:t>av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labl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69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A55B-7543-2FF3-2FAD-0B110AE9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D8F02-14D1-E346-69A6-157FC009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666C2F-BD23-ACB6-1427-62A74E0F3E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4AC38E-8C27-03F2-8BF1-08217BB145C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C5239A-7244-5A8F-E5C0-C4099D309D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02CFDDE-B7C5-EF3D-8C7F-0ECECE147537}"/>
              </a:ext>
            </a:extLst>
          </p:cNvPr>
          <p:cNvSpPr txBox="1"/>
          <p:nvPr/>
        </p:nvSpPr>
        <p:spPr>
          <a:xfrm>
            <a:off x="838200" y="1276350"/>
            <a:ext cx="7239000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5498" algn="just"/>
            <a:r>
              <a:rPr sz="1700" b="1" spc="-2" dirty="0">
                <a:latin typeface="Times New Roman"/>
                <a:cs typeface="Times New Roman"/>
              </a:rPr>
              <a:t>V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2" dirty="0">
                <a:latin typeface="Times New Roman"/>
                <a:cs typeface="Times New Roman"/>
              </a:rPr>
              <a:t>o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1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ction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group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phic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oom,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z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flip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vy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lcul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s.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Matric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ions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tor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192" algn="just"/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lat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r-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support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t</a:t>
            </a:r>
            <a:r>
              <a:rPr sz="1700" spc="-5" dirty="0">
                <a:latin typeface="Times New Roman"/>
                <a:cs typeface="Times New Roman"/>
              </a:rPr>
              <a:t>yp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2721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45A6D-608D-E55E-E888-08331176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D2351-F6F1-4AF8-A10A-E07AB39D3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F216F-F06C-5C04-EF1F-E7601F46FF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5ED646D-FB3F-8429-83B2-E1E65C761E6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C6613-7AB0-BC60-1A09-AAF3F8918D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A258D20-590A-41CD-32FE-2C97472E828D}"/>
              </a:ext>
            </a:extLst>
          </p:cNvPr>
          <p:cNvSpPr txBox="1"/>
          <p:nvPr/>
        </p:nvSpPr>
        <p:spPr>
          <a:xfrm>
            <a:off x="952500" y="1047750"/>
            <a:ext cx="72390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CPU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2" dirty="0">
                <a:latin typeface="Times New Roman"/>
                <a:cs typeface="Times New Roman"/>
              </a:rPr>
              <a:t>ordingly, 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ies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mely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du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7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3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43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(R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lex 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 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10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2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054" algn="just"/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impli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ISC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er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C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number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ons.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matte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both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qu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fu</a:t>
            </a:r>
            <a:r>
              <a:rPr lang="en-US" sz="1700" spc="2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te.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M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PS,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AL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HA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14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ntel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i860,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Mot</a:t>
            </a:r>
            <a:r>
              <a:rPr lang="en-US" sz="1700" spc="-5" dirty="0">
                <a:latin typeface="Times New Roman"/>
                <a:cs typeface="Times New Roman"/>
              </a:rPr>
              <a:t>oro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88</a:t>
            </a:r>
            <a:r>
              <a:rPr lang="en-US" sz="1700" spc="5" dirty="0">
                <a:latin typeface="Times New Roman"/>
                <a:cs typeface="Times New Roman"/>
              </a:rPr>
              <a:t>0</a:t>
            </a:r>
            <a:r>
              <a:rPr lang="en-US" sz="1700" dirty="0">
                <a:latin typeface="Times New Roman"/>
                <a:cs typeface="Times New Roman"/>
              </a:rPr>
              <a:t>00,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</a:t>
            </a:r>
            <a:r>
              <a:rPr lang="en-US" sz="1700" spc="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ntel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X</a:t>
            </a:r>
            <a:r>
              <a:rPr lang="en-US" sz="1700" dirty="0">
                <a:latin typeface="Times New Roman"/>
                <a:cs typeface="Times New Roman"/>
              </a:rPr>
              <a:t>86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seri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17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Mot</a:t>
            </a:r>
            <a:r>
              <a:rPr lang="en-US" sz="1700" spc="-2" dirty="0">
                <a:latin typeface="Times New Roman"/>
                <a:cs typeface="Times New Roman"/>
              </a:rPr>
              <a:t>orola </a:t>
            </a:r>
            <a:r>
              <a:rPr lang="en-US" sz="1700" dirty="0">
                <a:latin typeface="Times New Roman"/>
                <a:cs typeface="Times New Roman"/>
              </a:rPr>
              <a:t>68K</a:t>
            </a:r>
            <a:r>
              <a:rPr lang="en-US" sz="1700" spc="-2" dirty="0">
                <a:latin typeface="Times New Roman"/>
                <a:cs typeface="Times New Roman"/>
              </a:rPr>
              <a:t> s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V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C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q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wil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ring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dirty="0">
                <a:latin typeface="Times New Roman"/>
                <a:cs typeface="Times New Roman"/>
              </a:rPr>
              <a:t>o 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CISC. The trade-off is between the size of the program code and the simplicity in decoding the instructions by the hardware.</a:t>
            </a:r>
          </a:p>
        </p:txBody>
      </p:sp>
    </p:spTree>
    <p:extLst>
      <p:ext uri="{BB962C8B-B14F-4D97-AF65-F5344CB8AC3E}">
        <p14:creationId xmlns:p14="http://schemas.microsoft.com/office/powerpoint/2010/main" val="289217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C4E00-D401-0B92-0C2B-FDB1C3F5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6DE83E-C26F-9D0B-FA6B-8D20070A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7FA3B4-01F7-7C98-630E-DD6CAABE60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03D7E0-0AD5-B3F3-6A42-ABDB1776C45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1E44E-7FE9-F2F9-D2B0-66B92C391E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239000" cy="316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ON S</a:t>
            </a:r>
            <a:r>
              <a:rPr sz="1700" b="1" spc="-5" dirty="0">
                <a:latin typeface="Times New Roman"/>
                <a:cs typeface="Times New Roman"/>
              </a:rPr>
              <a:t>ET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2" dirty="0">
                <a:latin typeface="Times New Roman"/>
                <a:cs typeface="Times New Roman"/>
              </a:rPr>
              <a:t>F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ATS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43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r>
              <a:rPr sz="1700" b="1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m,</a:t>
            </a:r>
            <a:r>
              <a:rPr sz="1700" spc="-2" dirty="0">
                <a:latin typeface="Times New Roman"/>
                <a:cs typeface="Times New Roman"/>
              </a:rPr>
              <a:t> 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pic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like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ds,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somet</a:t>
            </a:r>
            <a:r>
              <a:rPr sz="1700" spc="-5" dirty="0">
                <a:latin typeface="Times New Roman"/>
                <a:cs typeface="Times New Roman"/>
              </a:rPr>
              <a:t>imes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 </a:t>
            </a:r>
            <a:r>
              <a:rPr sz="1700" spc="-5" dirty="0">
                <a:latin typeface="Times New Roman"/>
                <a:cs typeface="Times New Roman"/>
              </a:rPr>
              <a:t>met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Basic Fi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ld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(Op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Code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0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.g.,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SU</a:t>
            </a:r>
            <a:r>
              <a:rPr sz="1700" dirty="0">
                <a:latin typeface="Times New Roman"/>
                <a:cs typeface="Times New Roman"/>
              </a:rPr>
              <a:t>B, </a:t>
            </a:r>
            <a:r>
              <a:rPr sz="1700" spc="-2" dirty="0">
                <a:latin typeface="Times New Roman"/>
                <a:cs typeface="Times New Roman"/>
              </a:rPr>
              <a:t>MOV</a:t>
            </a:r>
            <a:r>
              <a:rPr sz="1700" dirty="0">
                <a:latin typeface="Times New Roman"/>
                <a:cs typeface="Times New Roman"/>
              </a:rPr>
              <a:t>).</a:t>
            </a:r>
          </a:p>
          <a:p>
            <a:pPr marL="445630" lvl="1" indent="-109957">
              <a:spcBef>
                <a:spcPts val="67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(arithm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l, data 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nsfer,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tc.</a:t>
            </a:r>
            <a:r>
              <a:rPr sz="1700" spc="-7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740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7E7C0-9B91-374F-267D-253CBEA9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CB7A66-BC7F-C72A-8E7D-B041A167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059831-9908-3374-222F-494BBFF707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251F0C2-D57E-F237-44AD-9FD3144C79F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FBE20-9488-1754-A757-632854C21D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EE12F6B-4080-C2D6-2F67-AE3FC1564B70}"/>
              </a:ext>
            </a:extLst>
          </p:cNvPr>
          <p:cNvSpPr txBox="1"/>
          <p:nvPr/>
        </p:nvSpPr>
        <p:spPr>
          <a:xfrm>
            <a:off x="914400" y="923000"/>
            <a:ext cx="7239000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spcBef>
                <a:spcPts val="70"/>
              </a:spcBef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2.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and(s)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5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be:</a:t>
            </a:r>
            <a:endParaRPr sz="1700" dirty="0">
              <a:latin typeface="Times New Roman"/>
              <a:cs typeface="Times New Roman"/>
            </a:endParaRPr>
          </a:p>
          <a:p>
            <a:pPr marL="665848" lvl="2" indent="-109957">
              <a:spcBef>
                <a:spcPts val="70"/>
              </a:spcBef>
              <a:buSzPct val="83333"/>
              <a:buFont typeface="Microsoft Sans Serif"/>
              <a:buChar char="▪"/>
              <a:tabLst>
                <a:tab pos="666154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 marL="665848" lvl="2" indent="-109957">
              <a:spcBef>
                <a:spcPts val="67"/>
              </a:spcBef>
              <a:buSzPct val="83333"/>
              <a:buFont typeface="Microsoft Sans Serif"/>
              <a:buChar char="▪"/>
              <a:tabLst>
                <a:tab pos="666154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or </a:t>
            </a:r>
            <a:r>
              <a:rPr sz="1700" spc="-2" dirty="0">
                <a:latin typeface="Times New Roman"/>
                <a:cs typeface="Times New Roman"/>
              </a:rPr>
              <a:t>indire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 marL="665848" lvl="2" indent="-109957">
              <a:spcBef>
                <a:spcPts val="70"/>
              </a:spcBef>
              <a:buSzPct val="83333"/>
              <a:buFont typeface="Microsoft Sans Serif"/>
              <a:buChar char="▪"/>
              <a:tabLst>
                <a:tab pos="666154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Con</a:t>
            </a:r>
            <a:r>
              <a:rPr sz="1700" b="1" dirty="0">
                <a:latin typeface="Times New Roman"/>
                <a:cs typeface="Times New Roman"/>
              </a:rPr>
              <a:t>stants/Im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iate</a:t>
            </a:r>
            <a:r>
              <a:rPr sz="1700" b="1" spc="-3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Val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Fixed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116065">
              <a:spcBef>
                <a:spcPts val="67"/>
              </a:spcBef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3.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ing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630" marR="4887" lvl="1" indent="-109957">
              <a:spcBef>
                <a:spcPts val="5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1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(imm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t,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t,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tc.</a:t>
            </a:r>
            <a:r>
              <a:rPr sz="1700" spc="-7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116065">
              <a:spcBef>
                <a:spcPts val="70"/>
              </a:spcBef>
              <a:tabLst>
                <a:tab pos="226022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4.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ngt</a:t>
            </a:r>
            <a:r>
              <a:rPr sz="1700" b="1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630" marR="2443" lvl="1" indent="-109957">
              <a:spcBef>
                <a:spcPts val="31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entire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.g.,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10" dirty="0">
                <a:latin typeface="Times New Roman"/>
                <a:cs typeface="Times New Roman"/>
              </a:rPr>
              <a:t>6</a:t>
            </a:r>
            <a:r>
              <a:rPr sz="1700" spc="2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, 32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, 64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893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F61B7-E464-BB21-E203-EB55D245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E9199-EC9A-C0AC-51F8-7157994E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3DCA7-CA92-5D4C-C109-4914DA5ABF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BD7945A-8A55-2F04-62B3-FD8D684BB9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B13F1E-A98F-F52A-447E-1D205BFBBB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45CB9B8-6F54-2F90-C8D6-D44D14DBDF3D}"/>
              </a:ext>
            </a:extLst>
          </p:cNvPr>
          <p:cNvSpPr txBox="1"/>
          <p:nvPr/>
        </p:nvSpPr>
        <p:spPr>
          <a:xfrm>
            <a:off x="914400" y="742950"/>
            <a:ext cx="7239000" cy="3529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Key</a:t>
            </a:r>
            <a:r>
              <a:rPr sz="1700" b="1" spc="-2" dirty="0">
                <a:latin typeface="Times New Roman"/>
                <a:cs typeface="Times New Roman"/>
              </a:rPr>
              <a:t> C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si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ngth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5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hort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sav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limit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lity.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0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indent="-109651">
              <a:spcBef>
                <a:spcPts val="67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Numbe</a:t>
            </a:r>
            <a:r>
              <a:rPr sz="1700" dirty="0">
                <a:latin typeface="Times New Roman"/>
                <a:cs typeface="Times New Roman"/>
              </a:rPr>
              <a:t>r 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nds: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0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xibility.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5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latin typeface="Times New Roman"/>
                <a:cs typeface="Times New Roman"/>
              </a:rPr>
              <a:t>Z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ro </a:t>
            </a:r>
            <a:r>
              <a:rPr sz="1700" spc="-2" dirty="0">
                <a:latin typeface="Times New Roman"/>
                <a:cs typeface="Times New Roman"/>
              </a:rPr>
              <a:t>to 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indent="-109651">
              <a:spcBef>
                <a:spcPts val="70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Mode</a:t>
            </a:r>
            <a:r>
              <a:rPr sz="1700" spc="-5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0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ssed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flue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2" dirty="0">
                <a:latin typeface="Times New Roman"/>
                <a:cs typeface="Times New Roman"/>
              </a:rPr>
              <a:t>exit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 marL="225716" indent="-109651">
              <a:spcBef>
                <a:spcPts val="70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oding: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5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latin typeface="Times New Roman"/>
                <a:cs typeface="Times New Roman"/>
              </a:rPr>
              <a:t>Fixed</a:t>
            </a:r>
            <a:r>
              <a:rPr sz="1700" spc="-2" dirty="0">
                <a:latin typeface="Times New Roman"/>
                <a:cs typeface="Times New Roman"/>
              </a:rPr>
              <a:t>-length 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dirty="0">
                <a:latin typeface="Times New Roman"/>
                <a:cs typeface="Times New Roman"/>
              </a:rPr>
              <a:t>fy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aste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>
              <a:spcBef>
                <a:spcPts val="70"/>
              </a:spcBef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-length 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ts </a:t>
            </a:r>
            <a:r>
              <a:rPr sz="1700" spc="7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compli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oding.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731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EDB3-B5C1-EFC3-86F5-3D192777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E3DF6E-0BD4-DCA2-F046-A23E3624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797287-FC29-BDC7-B81B-3282844869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7611725-354E-4CA6-D1DF-B3CE2853F4A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CF4F9-B177-962F-FE9E-71EE43EDE6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7767005-CB27-EED2-D051-5ECF7FF7AAFD}"/>
              </a:ext>
            </a:extLst>
          </p:cNvPr>
          <p:cNvSpPr txBox="1"/>
          <p:nvPr/>
        </p:nvSpPr>
        <p:spPr>
          <a:xfrm>
            <a:off x="914400" y="742950"/>
            <a:ext cx="72390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Typ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498"/>
            <a:r>
              <a:rPr sz="1700" spc="-5" dirty="0">
                <a:latin typeface="Times New Roman"/>
                <a:cs typeface="Times New Roman"/>
              </a:rPr>
              <a:t>En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oding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eric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5498"/>
            <a:endParaRPr lang="en-US" sz="1700" dirty="0">
              <a:latin typeface="Times New Roman"/>
              <a:cs typeface="Times New Roman"/>
            </a:endParaRPr>
          </a:p>
          <a:p>
            <a:pPr marL="6109" marR="5498"/>
            <a:r>
              <a:rPr lang="en-US" sz="1700" dirty="0">
                <a:latin typeface="Times New Roman"/>
                <a:cs typeface="Times New Roman"/>
              </a:rPr>
              <a:t>1.  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Fix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70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length</a:t>
            </a:r>
            <a:r>
              <a:rPr lang="en-US" sz="1700" b="1" spc="67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spc="70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Fo</a:t>
            </a:r>
            <a:r>
              <a:rPr lang="en-US" sz="1700" b="1" spc="-10" dirty="0">
                <a:latin typeface="Times New Roman"/>
                <a:cs typeface="Times New Roman"/>
              </a:rPr>
              <a:t>r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a</a:t>
            </a:r>
            <a:r>
              <a:rPr lang="en-US" sz="1700" b="1" spc="5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-length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whic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nstr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upies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sa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mount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sp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length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fix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ir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spe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tive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op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spc="-2" dirty="0">
                <a:latin typeface="Times New Roman"/>
                <a:cs typeface="Times New Roman"/>
              </a:rPr>
              <a:t>mplifi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oding.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800" y="2876550"/>
            <a:ext cx="3429000" cy="1600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42AC7-45F7-96D2-FCDE-2B5C55AD52C0}"/>
              </a:ext>
            </a:extLst>
          </p:cNvPr>
          <p:cNvSpPr txBox="1"/>
          <p:nvPr/>
        </p:nvSpPr>
        <p:spPr>
          <a:xfrm>
            <a:off x="2286000" y="4386664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4365"/>
            <a:r>
              <a:rPr lang="en-US" sz="1100" i="1" dirty="0">
                <a:latin typeface="Times New Roman"/>
                <a:cs typeface="Times New Roman"/>
              </a:rPr>
              <a:t>An exa</a:t>
            </a:r>
            <a:r>
              <a:rPr lang="en-US" sz="1100" i="1" spc="-2" dirty="0">
                <a:latin typeface="Times New Roman"/>
                <a:cs typeface="Times New Roman"/>
              </a:rPr>
              <a:t>m</a:t>
            </a:r>
            <a:r>
              <a:rPr lang="en-US" sz="1100" i="1" spc="-7" dirty="0">
                <a:latin typeface="Times New Roman"/>
                <a:cs typeface="Times New Roman"/>
              </a:rPr>
              <a:t>p</a:t>
            </a:r>
            <a:r>
              <a:rPr lang="en-US" sz="1100" i="1" dirty="0">
                <a:latin typeface="Times New Roman"/>
                <a:cs typeface="Times New Roman"/>
              </a:rPr>
              <a:t>le </a:t>
            </a:r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f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F</a:t>
            </a:r>
            <a:r>
              <a:rPr lang="en-US" sz="1100" i="1" spc="-5" dirty="0">
                <a:latin typeface="Times New Roman"/>
                <a:cs typeface="Times New Roman"/>
              </a:rPr>
              <a:t>i</a:t>
            </a:r>
            <a:r>
              <a:rPr lang="en-US" sz="1100" i="1" dirty="0">
                <a:latin typeface="Times New Roman"/>
                <a:cs typeface="Times New Roman"/>
              </a:rPr>
              <a:t>xed </a:t>
            </a:r>
            <a:r>
              <a:rPr lang="en-US" sz="1100" i="1" spc="-2" dirty="0">
                <a:latin typeface="Times New Roman"/>
                <a:cs typeface="Times New Roman"/>
              </a:rPr>
              <a:t>L</a:t>
            </a:r>
            <a:r>
              <a:rPr lang="en-US" sz="1100" i="1" spc="-7" dirty="0">
                <a:latin typeface="Times New Roman"/>
                <a:cs typeface="Times New Roman"/>
              </a:rPr>
              <a:t>e</a:t>
            </a:r>
            <a:r>
              <a:rPr lang="en-US" sz="1100" i="1" dirty="0">
                <a:latin typeface="Times New Roman"/>
                <a:cs typeface="Times New Roman"/>
              </a:rPr>
              <a:t>ng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h In</a:t>
            </a:r>
            <a:r>
              <a:rPr lang="en-US" sz="1100" i="1" spc="-7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r</a:t>
            </a:r>
            <a:r>
              <a:rPr lang="en-US" sz="1100" i="1" spc="-5" dirty="0">
                <a:latin typeface="Times New Roman"/>
                <a:cs typeface="Times New Roman"/>
              </a:rPr>
              <a:t>u</a:t>
            </a:r>
            <a:r>
              <a:rPr lang="en-US" sz="1100" i="1" dirty="0">
                <a:latin typeface="Times New Roman"/>
                <a:cs typeface="Times New Roman"/>
              </a:rPr>
              <a:t>c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ion</a:t>
            </a:r>
            <a:r>
              <a:rPr lang="en-US" sz="1100" i="1" spc="-7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form</a:t>
            </a:r>
            <a:r>
              <a:rPr lang="en-US" sz="1100" i="1" spc="-7" dirty="0">
                <a:latin typeface="Times New Roman"/>
                <a:cs typeface="Times New Roman"/>
              </a:rPr>
              <a:t>a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7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– </a:t>
            </a:r>
            <a:r>
              <a:rPr lang="en-US" sz="1100" i="1" spc="-5" dirty="0">
                <a:latin typeface="Times New Roman"/>
                <a:cs typeface="Times New Roman"/>
              </a:rPr>
              <a:t>M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7" dirty="0">
                <a:latin typeface="Times New Roman"/>
                <a:cs typeface="Times New Roman"/>
              </a:rPr>
              <a:t>P</a:t>
            </a:r>
            <a:r>
              <a:rPr lang="en-US" sz="1100" i="1" dirty="0">
                <a:latin typeface="Times New Roman"/>
                <a:cs typeface="Times New Roman"/>
              </a:rPr>
              <a:t>S </a:t>
            </a:r>
            <a:r>
              <a:rPr lang="en-US" sz="1100" i="1" spc="-2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e</a:t>
            </a:r>
            <a:r>
              <a:rPr lang="en-US" sz="1100" i="1" spc="-7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ies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9491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5016-082C-04A6-BC5F-924C7CF4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72AFCA-047B-0663-F0A3-A8F978A8A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E7070-AB65-8CD9-3AE4-4B0001F841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2722977-6322-8C68-5ABB-BF51D0D91C4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937494-6EA8-A988-AF98-A00E54F27D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876300" y="1047750"/>
            <a:ext cx="7391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marR="5192" algn="just"/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PS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ply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length.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obs</a:t>
            </a:r>
            <a:r>
              <a:rPr sz="1700" spc="-2" dirty="0">
                <a:latin typeface="Times New Roman"/>
                <a:cs typeface="Times New Roman"/>
              </a:rPr>
              <a:t>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ster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nds.</a:t>
            </a:r>
          </a:p>
          <a:p>
            <a:pPr>
              <a:spcBef>
                <a:spcPts val="9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marR="2443" indent="-109957" algn="just"/>
            <a:r>
              <a:rPr sz="1700" dirty="0">
                <a:latin typeface="Times New Roman"/>
                <a:cs typeface="Times New Roman"/>
              </a:rPr>
              <a:t>2. 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Va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iable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ngth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ble-length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up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nds.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dund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ntation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oding.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84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63A31-7568-D554-31F3-8847C512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E3D596-DF91-96F4-253C-CC429ED1B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E39FB3-065F-158E-BAF8-F86560596F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B0E157-2A5D-E3F8-E15E-09477628DCA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9DAF14-A396-3DC0-E69C-E4E5F8773E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09600" y="388263"/>
            <a:ext cx="4114800" cy="43170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D43F1-8FFF-05C7-09F6-B6EF67CAB085}"/>
              </a:ext>
            </a:extLst>
          </p:cNvPr>
          <p:cNvSpPr txBox="1"/>
          <p:nvPr/>
        </p:nvSpPr>
        <p:spPr>
          <a:xfrm>
            <a:off x="152400" y="432435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8624"/>
            <a:r>
              <a:rPr lang="en-US" sz="1100" i="1" dirty="0">
                <a:latin typeface="Times New Roman"/>
                <a:cs typeface="Times New Roman"/>
              </a:rPr>
              <a:t>An exa</a:t>
            </a:r>
            <a:r>
              <a:rPr lang="en-US" sz="1100" i="1" spc="-2" dirty="0">
                <a:latin typeface="Times New Roman"/>
                <a:cs typeface="Times New Roman"/>
              </a:rPr>
              <a:t>m</a:t>
            </a:r>
            <a:r>
              <a:rPr lang="en-US" sz="1100" i="1" spc="-7" dirty="0">
                <a:latin typeface="Times New Roman"/>
                <a:cs typeface="Times New Roman"/>
              </a:rPr>
              <a:t>p</a:t>
            </a:r>
            <a:r>
              <a:rPr lang="en-US" sz="1100" i="1" dirty="0">
                <a:latin typeface="Times New Roman"/>
                <a:cs typeface="Times New Roman"/>
              </a:rPr>
              <a:t>le </a:t>
            </a:r>
            <a:r>
              <a:rPr lang="en-US" sz="1100" i="1" spc="-5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f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Va</a:t>
            </a:r>
            <a:r>
              <a:rPr lang="en-US" sz="1100" i="1" spc="-7" dirty="0">
                <a:latin typeface="Times New Roman"/>
                <a:cs typeface="Times New Roman"/>
              </a:rPr>
              <a:t>r</a:t>
            </a:r>
            <a:r>
              <a:rPr lang="en-US" sz="1100" i="1" dirty="0">
                <a:latin typeface="Times New Roman"/>
                <a:cs typeface="Times New Roman"/>
              </a:rPr>
              <a:t>ia</a:t>
            </a:r>
            <a:r>
              <a:rPr lang="en-US" sz="1100" i="1" spc="-7" dirty="0">
                <a:latin typeface="Times New Roman"/>
                <a:cs typeface="Times New Roman"/>
              </a:rPr>
              <a:t>b</a:t>
            </a:r>
            <a:r>
              <a:rPr lang="en-US" sz="1100" i="1" dirty="0">
                <a:latin typeface="Times New Roman"/>
                <a:cs typeface="Times New Roman"/>
              </a:rPr>
              <a:t>le </a:t>
            </a:r>
            <a:r>
              <a:rPr lang="en-US" sz="1100" i="1" spc="-2" dirty="0">
                <a:latin typeface="Times New Roman"/>
                <a:cs typeface="Times New Roman"/>
              </a:rPr>
              <a:t>L</a:t>
            </a:r>
            <a:r>
              <a:rPr lang="en-US" sz="1100" i="1" spc="-5" dirty="0">
                <a:latin typeface="Times New Roman"/>
                <a:cs typeface="Times New Roman"/>
              </a:rPr>
              <a:t>e</a:t>
            </a:r>
            <a:r>
              <a:rPr lang="en-US" sz="1100" i="1" dirty="0">
                <a:latin typeface="Times New Roman"/>
                <a:cs typeface="Times New Roman"/>
              </a:rPr>
              <a:t>ngth</a:t>
            </a:r>
            <a:r>
              <a:rPr lang="en-US" sz="1100" i="1" spc="-7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In</a:t>
            </a:r>
            <a:r>
              <a:rPr lang="en-US" sz="1100" i="1" spc="-7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ru</a:t>
            </a:r>
            <a:r>
              <a:rPr lang="en-US" sz="1100" i="1" spc="-5" dirty="0">
                <a:latin typeface="Times New Roman"/>
                <a:cs typeface="Times New Roman"/>
              </a:rPr>
              <a:t>c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-5" dirty="0">
                <a:latin typeface="Times New Roman"/>
                <a:cs typeface="Times New Roman"/>
              </a:rPr>
              <a:t>i</a:t>
            </a:r>
            <a:r>
              <a:rPr lang="en-US" sz="1100" i="1" dirty="0">
                <a:latin typeface="Times New Roman"/>
                <a:cs typeface="Times New Roman"/>
              </a:rPr>
              <a:t>on </a:t>
            </a:r>
            <a:r>
              <a:rPr lang="en-US" sz="1100" i="1" spc="-5" dirty="0">
                <a:latin typeface="Times New Roman"/>
                <a:cs typeface="Times New Roman"/>
              </a:rPr>
              <a:t>f</a:t>
            </a:r>
            <a:r>
              <a:rPr lang="en-US" sz="1100" i="1" dirty="0">
                <a:latin typeface="Times New Roman"/>
                <a:cs typeface="Times New Roman"/>
              </a:rPr>
              <a:t>ormat </a:t>
            </a:r>
            <a:r>
              <a:rPr lang="en-US" sz="1100" i="1" spc="-7" dirty="0">
                <a:latin typeface="Times New Roman"/>
                <a:cs typeface="Times New Roman"/>
              </a:rPr>
              <a:t>w</a:t>
            </a:r>
            <a:r>
              <a:rPr lang="en-US" sz="1100" i="1" dirty="0">
                <a:latin typeface="Times New Roman"/>
                <a:cs typeface="Times New Roman"/>
              </a:rPr>
              <a:t>i</a:t>
            </a:r>
            <a:r>
              <a:rPr lang="en-US" sz="1100" i="1" spc="-5" dirty="0">
                <a:latin typeface="Times New Roman"/>
                <a:cs typeface="Times New Roman"/>
              </a:rPr>
              <a:t>t</a:t>
            </a:r>
            <a:r>
              <a:rPr lang="en-US" sz="1100" i="1" dirty="0">
                <a:latin typeface="Times New Roman"/>
                <a:cs typeface="Times New Roman"/>
              </a:rPr>
              <a:t>h</a:t>
            </a:r>
            <a:r>
              <a:rPr lang="en-US" sz="1100" i="1" spc="5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M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tor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la</a:t>
            </a:r>
            <a:r>
              <a:rPr lang="en-US" sz="1100" i="1" spc="-2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M6800 </a:t>
            </a:r>
            <a:r>
              <a:rPr lang="en-US" sz="1100" i="1" spc="-10" dirty="0">
                <a:latin typeface="Times New Roman"/>
                <a:cs typeface="Times New Roman"/>
              </a:rPr>
              <a:t>C</a:t>
            </a:r>
            <a:r>
              <a:rPr lang="en-US" sz="1100" i="1" dirty="0">
                <a:latin typeface="Times New Roman"/>
                <a:cs typeface="Times New Roman"/>
              </a:rPr>
              <a:t>ISC</a:t>
            </a:r>
            <a:r>
              <a:rPr lang="en-US" sz="1100" i="1" spc="-2" dirty="0">
                <a:latin typeface="Times New Roman"/>
                <a:cs typeface="Times New Roman"/>
              </a:rPr>
              <a:t> </a:t>
            </a:r>
            <a:r>
              <a:rPr lang="en-US" sz="1100" i="1" spc="-10" dirty="0">
                <a:latin typeface="Times New Roman"/>
                <a:cs typeface="Times New Roman"/>
              </a:rPr>
              <a:t>C</a:t>
            </a:r>
            <a:r>
              <a:rPr lang="en-US" sz="1100" i="1" dirty="0">
                <a:latin typeface="Times New Roman"/>
                <a:cs typeface="Times New Roman"/>
              </a:rPr>
              <a:t>PU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775FA-DC7C-E582-236F-E02D576168B9}"/>
              </a:ext>
            </a:extLst>
          </p:cNvPr>
          <p:cNvSpPr txBox="1"/>
          <p:nvPr/>
        </p:nvSpPr>
        <p:spPr>
          <a:xfrm>
            <a:off x="4607236" y="1123950"/>
            <a:ext cx="3733800" cy="2373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443" algn="just">
              <a:lnSpc>
                <a:spcPct val="110300"/>
              </a:lnSpc>
              <a:spcBef>
                <a:spcPts val="370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supp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rtive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figu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un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rst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istics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ri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le</a:t>
            </a:r>
            <a:r>
              <a:rPr lang="en-US" sz="1700" spc="-2" dirty="0">
                <a:latin typeface="Times New Roman"/>
                <a:cs typeface="Times New Roman"/>
              </a:rPr>
              <a:t>-le</a:t>
            </a:r>
            <a:r>
              <a:rPr lang="en-US" sz="1700" spc="-5" dirty="0">
                <a:latin typeface="Times New Roman"/>
                <a:cs typeface="Times New Roman"/>
              </a:rPr>
              <a:t>ngth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</a:t>
            </a:r>
            <a:r>
              <a:rPr lang="en-US" sz="1700" spc="-5" dirty="0">
                <a:latin typeface="Times New Roman"/>
                <a:cs typeface="Times New Roman"/>
              </a:rPr>
              <a:t>rmat.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you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there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5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rying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2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by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length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bytes length.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ob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length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nding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upon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2306191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E6D3-D74D-9EC9-9E8E-6B0B5604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A2617-ED66-EC96-68E6-8ECA34C3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39522F-FC27-96F3-D72D-F01641A03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891346E-0EC4-DFD3-93DB-C9A62C10528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25C8BE-FD85-04EC-E80A-BF25500F18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6300" y="819150"/>
            <a:ext cx="7391400" cy="33060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54"/>
              </a:spcBef>
            </a:pP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2" dirty="0">
                <a:latin typeface="Times New Roman"/>
                <a:cs typeface="Times New Roman"/>
              </a:rPr>
              <a:t>F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ats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75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rms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other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Instr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rmats.</a:t>
            </a:r>
            <a:endParaRPr lang="en-US" sz="1700" spc="-5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7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7" dirty="0">
                <a:latin typeface="Times New Roman"/>
                <a:cs typeface="Times New Roman"/>
              </a:rPr>
              <a:t>ree</a:t>
            </a:r>
            <a:r>
              <a:rPr sz="1700" b="1" spc="-2" dirty="0">
                <a:latin typeface="Times New Roman"/>
                <a:cs typeface="Times New Roman"/>
              </a:rPr>
              <a:t>-Ad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  <a:buFont typeface="Times New Roman"/>
              <a:buAutoNum type="arabicPeriod"/>
            </a:pP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(so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1,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sour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2, </a:t>
            </a:r>
            <a:r>
              <a:rPr sz="1700" spc="-5" dirty="0">
                <a:latin typeface="Times New Roman"/>
                <a:cs typeface="Times New Roman"/>
              </a:rPr>
              <a:t>dest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on).</a:t>
            </a: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lvl="1">
              <a:spcBef>
                <a:spcPts val="10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335673">
              <a:tabLst>
                <a:tab pos="1105675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R1,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2,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3	</a:t>
            </a:r>
            <a:r>
              <a:rPr sz="1700" spc="-5" dirty="0">
                <a:latin typeface="Times New Roman"/>
                <a:cs typeface="Times New Roman"/>
              </a:rPr>
              <a:t>;R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2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3</a:t>
            </a: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35673"/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code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ourc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1 (R2)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our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2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(R3)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2" dirty="0">
                <a:latin typeface="Times New Roman"/>
                <a:cs typeface="Times New Roman"/>
              </a:rPr>
              <a:t> D</a:t>
            </a:r>
            <a:r>
              <a:rPr sz="1700" spc="-5" dirty="0">
                <a:latin typeface="Times New Roman"/>
                <a:cs typeface="Times New Roman"/>
              </a:rPr>
              <a:t>est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(R1)</a:t>
            </a:r>
          </a:p>
        </p:txBody>
      </p:sp>
    </p:spTree>
    <p:extLst>
      <p:ext uri="{BB962C8B-B14F-4D97-AF65-F5344CB8AC3E}">
        <p14:creationId xmlns:p14="http://schemas.microsoft.com/office/powerpoint/2010/main" val="322835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0144-499F-F5E1-9AF9-3C710D4D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B71E8-0A5B-294B-29ED-40C08E57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6304B0-C931-6DAB-433A-5AD5B0F199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BB7C65A-4444-5990-5B9A-6BD841D0677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16B7E0-4361-3A6B-3ABD-7011C596A9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FA158BA-AF05-7E83-3615-0899C19228DF}"/>
              </a:ext>
            </a:extLst>
          </p:cNvPr>
          <p:cNvSpPr txBox="1"/>
          <p:nvPr/>
        </p:nvSpPr>
        <p:spPr>
          <a:xfrm>
            <a:off x="876300" y="1047750"/>
            <a:ext cx="73914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indent="-109651">
              <a:buFont typeface="Times New Roman"/>
              <a:buAutoNum type="arabicPeriod" startAt="2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wo-Ad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  <a:buFont typeface="Times New Roman"/>
              <a:buAutoNum type="arabicPeriod" startAt="2"/>
            </a:pPr>
            <a:endParaRPr sz="1700" dirty="0">
              <a:latin typeface="Times New Roman"/>
              <a:cs typeface="Times New Roman"/>
            </a:endParaRPr>
          </a:p>
          <a:p>
            <a:pPr marL="335673" marR="106597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two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ur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nds.</a:t>
            </a: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lvl="1">
              <a:spcBef>
                <a:spcPts val="11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335673">
              <a:tabLst>
                <a:tab pos="845444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R1,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2	</a:t>
            </a:r>
            <a:r>
              <a:rPr sz="1700" spc="-5" dirty="0">
                <a:latin typeface="Times New Roman"/>
                <a:cs typeface="Times New Roman"/>
              </a:rPr>
              <a:t>;R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1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2</a:t>
            </a: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35673"/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code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ourc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/Dest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(R1)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(R2)</a:t>
            </a:r>
          </a:p>
        </p:txBody>
      </p:sp>
    </p:spTree>
    <p:extLst>
      <p:ext uri="{BB962C8B-B14F-4D97-AF65-F5344CB8AC3E}">
        <p14:creationId xmlns:p14="http://schemas.microsoft.com/office/powerpoint/2010/main" val="3450758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9AE6-C09D-0B8C-72AC-078E1460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8C75D-A3F8-6E6B-7E55-26BF324A3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7DA15-3C1F-E5F3-0D3A-C6EB72666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B453EE5-AE9A-B427-6494-5B79BD9639C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46C73-D613-025B-11D7-BD691F53A6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48181B0-E027-0B50-528C-682D86517B1C}"/>
              </a:ext>
            </a:extLst>
          </p:cNvPr>
          <p:cNvSpPr txBox="1"/>
          <p:nvPr/>
        </p:nvSpPr>
        <p:spPr>
          <a:xfrm>
            <a:off x="876300" y="1525309"/>
            <a:ext cx="73914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indent="-109651">
              <a:buFont typeface="Times New Roman"/>
              <a:buAutoNum type="arabicPeriod" startAt="3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-Ad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  <a:buFont typeface="Times New Roman"/>
              <a:buAutoNum type="arabicPeriod" startAt="3"/>
            </a:pP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 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(usu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r).</a:t>
            </a: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lvl="1">
              <a:spcBef>
                <a:spcPts val="4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335673">
              <a:tabLst>
                <a:tab pos="845444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	</a:t>
            </a:r>
            <a:r>
              <a:rPr sz="1700" spc="-5" dirty="0">
                <a:latin typeface="Times New Roman"/>
                <a:cs typeface="Times New Roman"/>
              </a:rPr>
              <a:t>;AC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C </a:t>
            </a:r>
            <a:r>
              <a:rPr sz="1700" spc="-5" dirty="0">
                <a:latin typeface="Times New Roman"/>
                <a:cs typeface="Times New Roman"/>
              </a:rPr>
              <a:t>+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</a:p>
          <a:p>
            <a:pPr marL="335673"/>
            <a:endParaRPr lang="en-US" sz="1700" b="1" spc="-5" dirty="0">
              <a:latin typeface="Times New Roman"/>
              <a:cs typeface="Times New Roman"/>
            </a:endParaRPr>
          </a:p>
          <a:p>
            <a:pPr marL="335673"/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code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|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(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3306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4F9E5-0BA2-FAE6-B156-09A2ABD2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54823-9C0F-6933-8D59-611B86A3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F2B3E-8679-AEE3-B33A-072E4F3BA0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5D4FCC4-76FF-3E7B-B072-64F3694BFA1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03923D-E693-491C-47F6-25B9DFD728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6868F32-3B20-A751-F65B-D302642A8F2A}"/>
              </a:ext>
            </a:extLst>
          </p:cNvPr>
          <p:cNvSpPr txBox="1"/>
          <p:nvPr/>
        </p:nvSpPr>
        <p:spPr>
          <a:xfrm>
            <a:off x="762000" y="1123950"/>
            <a:ext cx="73914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indent="-109651">
              <a:buFont typeface="Times New Roman"/>
              <a:buAutoNum type="arabicPeriod" startAt="4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Z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 (S</a:t>
            </a:r>
            <a:r>
              <a:rPr sz="1700" b="1" spc="-2" dirty="0">
                <a:latin typeface="Times New Roman"/>
                <a:cs typeface="Times New Roman"/>
              </a:rPr>
              <a:t>ta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spc="5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as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d)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  <a:buFont typeface="Times New Roman"/>
              <a:buAutoNum type="arabicPeriod" startAt="4"/>
            </a:pP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impli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top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sta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335673" lvl="1" indent="-109957">
              <a:buSzPct val="83333"/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35673">
              <a:tabLst>
                <a:tab pos="845444" algn="l"/>
              </a:tabLst>
            </a:pPr>
            <a:r>
              <a:rPr sz="1700" spc="-2" dirty="0">
                <a:latin typeface="Times New Roman"/>
                <a:cs typeface="Times New Roman"/>
              </a:rPr>
              <a:t>AD</a:t>
            </a:r>
            <a:r>
              <a:rPr sz="1700" dirty="0">
                <a:latin typeface="Times New Roman"/>
                <a:cs typeface="Times New Roman"/>
              </a:rPr>
              <a:t>D	</a:t>
            </a:r>
            <a:r>
              <a:rPr lang="en-US" sz="1700" dirty="0">
                <a:latin typeface="Times New Roman"/>
                <a:cs typeface="Times New Roman"/>
              </a:rPr>
              <a:t>           </a:t>
            </a:r>
            <a:r>
              <a:rPr sz="1700" spc="-5" dirty="0">
                <a:latin typeface="Times New Roman"/>
                <a:cs typeface="Times New Roman"/>
              </a:rPr>
              <a:t>;TOS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1) </a:t>
            </a:r>
            <a:r>
              <a:rPr sz="1700" spc="-5" dirty="0">
                <a:latin typeface="Times New Roman"/>
                <a:cs typeface="Times New Roman"/>
              </a:rPr>
              <a:t>+ </a:t>
            </a:r>
            <a:r>
              <a:rPr sz="1700" spc="-2" dirty="0">
                <a:latin typeface="Times New Roman"/>
                <a:cs typeface="Times New Roman"/>
              </a:rPr>
              <a:t>TOS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335673">
              <a:tabLst>
                <a:tab pos="845444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PUSH</a:t>
            </a:r>
          </a:p>
          <a:p>
            <a:pPr marL="335673">
              <a:tabLst>
                <a:tab pos="845444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POP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35673"/>
            <a:r>
              <a:rPr sz="1700" b="1" spc="-5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Op</a:t>
            </a:r>
            <a:r>
              <a:rPr sz="1700" spc="-5" dirty="0">
                <a:latin typeface="Times New Roman"/>
                <a:cs typeface="Times New Roman"/>
              </a:rPr>
              <a:t>code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1676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9D0A-FC10-DD8B-1268-EA992F04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90602-DADB-8744-A321-AA8DC9A60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C7196-E65F-4F70-8C4D-E3DF674E4F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096271E-718F-7F86-3777-EA8C5EAE1BF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F729B-7944-BC1E-70E9-6999B01DFB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89A19-4720-4E53-C6F0-0C7DE6A396BE}"/>
              </a:ext>
            </a:extLst>
          </p:cNvPr>
          <p:cNvSpPr txBox="1"/>
          <p:nvPr/>
        </p:nvSpPr>
        <p:spPr>
          <a:xfrm>
            <a:off x="1118181" y="1276350"/>
            <a:ext cx="6907638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below expression in all address formats of instructions.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(A+B)*(C+D)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7859-D65B-CF1B-6533-A79D37F7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A60A9-B2BE-0A8B-AD24-48194F071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675E28-4EAD-0B72-1D46-25C864655A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B0B047B-B203-840A-7A03-ACE1C5EE21F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979C5-2CF0-2795-4CDD-96D31F0EC5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52BA88-CC0E-E3E6-97C6-632276643683}"/>
              </a:ext>
            </a:extLst>
          </p:cNvPr>
          <p:cNvSpPr txBox="1"/>
          <p:nvPr/>
        </p:nvSpPr>
        <p:spPr>
          <a:xfrm>
            <a:off x="1219200" y="684894"/>
            <a:ext cx="46482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(A+B)*(C+D) in Three Address Format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R1, A, B		;R1=M[A]+M[B]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R2, C, D		;R2=M[C]+M[D]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X,R1, R2		;M[X]=R1*R2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(A+B)*(C+D) in Two Address Format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R1, A		;R1=M[A]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R1, B		;R1=R1+M[B]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R2, C		;R2=M[C]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R2, D		;R2=R2+M[D]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R1, R2		;R1=R1*R2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X, R1		;M[X]=R1</a:t>
            </a:r>
          </a:p>
        </p:txBody>
      </p:sp>
    </p:spTree>
    <p:extLst>
      <p:ext uri="{BB962C8B-B14F-4D97-AF65-F5344CB8AC3E}">
        <p14:creationId xmlns:p14="http://schemas.microsoft.com/office/powerpoint/2010/main" val="114187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79C1-B2C0-0D2C-84FD-C1B1F0B0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8839B1-993A-F478-694F-C0693820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A329F-1357-71CF-1757-576E9EEE86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54A15A7-0B71-9A57-64A2-2FADA5E322A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DD18C-59B1-E84D-87BC-39AA2F749C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E16763-74F2-4F6C-DCC7-8BD19BBCAFCF}"/>
              </a:ext>
            </a:extLst>
          </p:cNvPr>
          <p:cNvSpPr txBox="1"/>
          <p:nvPr/>
        </p:nvSpPr>
        <p:spPr>
          <a:xfrm>
            <a:off x="1131462" y="925904"/>
            <a:ext cx="457200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(A+B)*(C+D) in One Address Format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		;AC=M[A]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		;AC=AC+M[B]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		;M[T]=AC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		;AC=M[C]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		;AC=AC+M[D]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T		;AC=AC*M[T]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X		;M[X]=AC</a:t>
            </a:r>
          </a:p>
        </p:txBody>
      </p:sp>
    </p:spTree>
    <p:extLst>
      <p:ext uri="{BB962C8B-B14F-4D97-AF65-F5344CB8AC3E}">
        <p14:creationId xmlns:p14="http://schemas.microsoft.com/office/powerpoint/2010/main" val="639890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05D3-AD32-EE28-61A8-021437F6C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A7F06-9609-00E7-58F2-E9F03FE21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B9592-2E92-4424-2386-EB9ABDA424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B2BE9C1-4ADC-226F-494E-A14D8102CE1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FB1AD6-8B9B-8165-9D0D-AF098B320F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D477E7-55E4-2F6A-F212-FB3FF24C044A}"/>
              </a:ext>
            </a:extLst>
          </p:cNvPr>
          <p:cNvSpPr txBox="1"/>
          <p:nvPr/>
        </p:nvSpPr>
        <p:spPr>
          <a:xfrm>
            <a:off x="1131462" y="819150"/>
            <a:ext cx="45720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(A+B)*(C+D) in Zero Address Format</a:t>
            </a:r>
          </a:p>
          <a:p>
            <a:endParaRPr lang="pt-B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A		;TOP=A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B		;TOP=B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C		;TOP=C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D		;TOP=D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		;TOP=C+D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		;TOP=(C+D)*(A+B)</a:t>
            </a:r>
          </a:p>
          <a:p>
            <a:r>
              <a:rPr lang="pt-B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X		;M[X]=TOP</a:t>
            </a:r>
          </a:p>
        </p:txBody>
      </p:sp>
    </p:spTree>
    <p:extLst>
      <p:ext uri="{BB962C8B-B14F-4D97-AF65-F5344CB8AC3E}">
        <p14:creationId xmlns:p14="http://schemas.microsoft.com/office/powerpoint/2010/main" val="245938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2691-5FBC-1CEA-B44A-E5D5911A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76CA0-508F-B80E-DC84-73D0CDC5D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CBCB8A-A4BC-6DDF-EBBC-1C478C262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2B6D7A3-774F-23F5-7CF6-8F2ED57E717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2EA89A-B943-AF05-31D6-E35091EFA7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742950"/>
            <a:ext cx="7543800" cy="387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50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9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54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50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50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endParaRPr sz="1700" dirty="0">
              <a:latin typeface="Times New Roman"/>
              <a:cs typeface="Times New Roman"/>
            </a:endParaRPr>
          </a:p>
          <a:p>
            <a:pPr marL="225716" marR="5498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nstr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cture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Instr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ons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3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orm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 </a:t>
            </a:r>
            <a:r>
              <a:rPr sz="1700" u="sng" spc="2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itsc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om)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32059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318</TotalTime>
  <Words>2183</Words>
  <Application>Microsoft Office PowerPoint</Application>
  <PresentationFormat>On-screen Show (16:9)</PresentationFormat>
  <Paragraphs>199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Microsoft Sans Serif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2024-12-20T11:33:25Z</dcterms:created>
  <dcterms:modified xsi:type="dcterms:W3CDTF">2024-12-23T18:33:21Z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