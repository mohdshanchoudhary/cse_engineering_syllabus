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8"/>
  </p:notesMasterIdLst>
  <p:handoutMasterIdLst>
    <p:handoutMasterId r:id="rId19"/>
  </p:handoutMasterIdLst>
  <p:sldIdLst>
    <p:sldId id="354" r:id="rId3"/>
    <p:sldId id="383" r:id="rId4"/>
    <p:sldId id="368" r:id="rId5"/>
    <p:sldId id="369" r:id="rId6"/>
    <p:sldId id="370" r:id="rId7"/>
    <p:sldId id="371" r:id="rId8"/>
    <p:sldId id="372" r:id="rId9"/>
    <p:sldId id="373" r:id="rId10"/>
    <p:sldId id="374" r:id="rId11"/>
    <p:sldId id="375" r:id="rId12"/>
    <p:sldId id="376" r:id="rId13"/>
    <p:sldId id="377" r:id="rId14"/>
    <p:sldId id="381" r:id="rId15"/>
    <p:sldId id="382" r:id="rId16"/>
    <p:sldId id="353" r:id="rId17"/>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434" autoAdjust="0"/>
  </p:normalViewPr>
  <p:slideViewPr>
    <p:cSldViewPr snapToGrid="0">
      <p:cViewPr varScale="1">
        <p:scale>
          <a:sx n="73" d="100"/>
          <a:sy n="73" d="100"/>
        </p:scale>
        <p:origin x="474"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978051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686742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012389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medium.com/karuna-sehgal/an-introduction-to-bubble-sort-d85273acfcd8"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chegg.com/homework-help/questions-and-answers/matrix-array-vector-rows-data-frame-table-columns-lists-r-data-types-true-true-true-true-f-q28713018" TargetMode="Externa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slideplayer.com/slide/8414999/"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studytonight.com/data-structures/insertion-sorting"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interactivepython.org/courselib/static/pythonds/SortSearch/TheSelectionSort.html" TargetMode="Externa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hackerearth.com/practice/algorithms/sorting/selection-sort/tutorial/"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sorting-algorithms/" TargetMode="External"/><Relationship Id="rId2" Type="http://schemas.openxmlformats.org/officeDocument/2006/relationships/hyperlink" Target="https://www.cs.cmu.edu/~adamchik/15-121/lectures/Stacks%20and%20Queues/Stacks%20and%20Queues.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4"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Sorting</a:t>
            </a:r>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476983"/>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UNITS</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a:t>
            </a:r>
            <a:r>
              <a:rPr lang="en-US" sz="2800">
                <a:latin typeface="Times New Roman" panose="02020603050405020304" pitchFamily="18" charset="0"/>
                <a:ea typeface="Calibri" panose="020F0502020204030204" pitchFamily="34" charset="0"/>
                <a:cs typeface="Times New Roman" panose="02020603050405020304" pitchFamily="18" charset="0"/>
              </a:rPr>
              <a:t>: Elementary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Data Structure Using </a:t>
            </a:r>
            <a:r>
              <a:rPr lang="en-US" sz="2800" dirty="0">
                <a:latin typeface="Times New Roman" panose="02020603050405020304" pitchFamily="18" charset="0"/>
                <a:ea typeface="Calibri" panose="020F0502020204030204" pitchFamily="34" charset="0"/>
                <a:cs typeface="Times New Roman" panose="02020603050405020304" pitchFamily="18" charset="0"/>
              </a:rPr>
              <a:t>C++</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a:latin typeface="+mn-lt"/>
              </a:rPr>
              <a:t>Elementary</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1231277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92517353"/>
              </p:ext>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6459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5186284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2869" y="1018189"/>
            <a:ext cx="5778500" cy="4873625"/>
          </a:xfrm>
        </p:spPr>
        <p:txBody>
          <a:bodyPr>
            <a:normAutofit/>
          </a:bodyPr>
          <a:lstStyle/>
          <a:p>
            <a:pPr algn="just" fontAlgn="base"/>
            <a:r>
              <a:rPr lang="en-US" sz="2400" dirty="0"/>
              <a:t>Bubble Sort is a sorting </a:t>
            </a:r>
            <a:r>
              <a:rPr lang="en-US" sz="2400" dirty="0" smtClean="0"/>
              <a:t>algorithm. It </a:t>
            </a:r>
            <a:r>
              <a:rPr lang="en-US" sz="2400" dirty="0"/>
              <a:t>is based on the idea of repeatedly comparing pairs of adjacent elements and then swapping their positions if they </a:t>
            </a:r>
            <a:r>
              <a:rPr lang="en-US" sz="2400" dirty="0" smtClean="0"/>
              <a:t>show </a:t>
            </a:r>
            <a:r>
              <a:rPr lang="en-US" sz="2400" dirty="0"/>
              <a:t>in the wrong order.</a:t>
            </a:r>
          </a:p>
        </p:txBody>
      </p:sp>
      <p:sp>
        <p:nvSpPr>
          <p:cNvPr id="4" name="Text Placeholder 3"/>
          <p:cNvSpPr>
            <a:spLocks noGrp="1"/>
          </p:cNvSpPr>
          <p:nvPr>
            <p:ph type="body" sz="half" idx="2"/>
          </p:nvPr>
        </p:nvSpPr>
        <p:spPr>
          <a:xfrm>
            <a:off x="649705" y="3565744"/>
            <a:ext cx="4331369" cy="2623644"/>
          </a:xfrm>
        </p:spPr>
        <p:txBody>
          <a:bodyPr>
            <a:normAutofit/>
          </a:bodyPr>
          <a:lstStyle/>
          <a:p>
            <a:pPr algn="just">
              <a:spcBef>
                <a:spcPct val="50000"/>
              </a:spcBef>
            </a:pPr>
            <a:r>
              <a:rPr lang="en-US" dirty="0">
                <a:latin typeface="Casper" panose="02000506000000020004" pitchFamily="2" charset="0"/>
                <a:cs typeface="Arial" panose="020B0604020202020204" pitchFamily="34" charset="0"/>
              </a:rPr>
              <a:t>Bubble sort, sometimes referred to as sinking sort, is a simple sorting algorithm that repeatedly steps through the list, compares adjacent pairs and swaps them if they are in the wrong order. The pass through the list is repeated until the list is sorted</a:t>
            </a:r>
            <a:r>
              <a:rPr lang="en-US" dirty="0" smtClean="0">
                <a:latin typeface="Casper" panose="02000506000000020004" pitchFamily="2" charset="0"/>
                <a:cs typeface="Arial" panose="020B0604020202020204" pitchFamily="34" charset="0"/>
              </a:rPr>
              <a:t>.</a:t>
            </a:r>
          </a:p>
          <a:p>
            <a:pPr algn="just">
              <a:spcBef>
                <a:spcPct val="50000"/>
              </a:spcBef>
            </a:pPr>
            <a:r>
              <a:rPr lang="en-US" dirty="0">
                <a:latin typeface="Casper" panose="02000506000000020004" pitchFamily="2" charset="0"/>
                <a:cs typeface="Arial" panose="020B0604020202020204" pitchFamily="34" charset="0"/>
              </a:rPr>
              <a:t>Bubble Sort is the simplest sorting algorithm that works by repeatedly swapping the adjacent elements if they are in wrong order</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6859" y="1329503"/>
            <a:ext cx="5916010"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4400" b="1" dirty="0" smtClean="0">
                <a:solidFill>
                  <a:prstClr val="black">
                    <a:lumMod val="85000"/>
                    <a:lumOff val="15000"/>
                  </a:prstClr>
                </a:solidFill>
                <a:latin typeface="Casper Bold"/>
                <a:cs typeface="Times New Roman" panose="02020603050405020304" pitchFamily="18" charset="0"/>
              </a:rPr>
              <a:t>Sorting </a:t>
            </a:r>
            <a:r>
              <a:rPr lang="en-US" sz="4400" b="1" dirty="0">
                <a:solidFill>
                  <a:prstClr val="black">
                    <a:lumMod val="85000"/>
                    <a:lumOff val="15000"/>
                  </a:prstClr>
                </a:solidFill>
                <a:latin typeface="Casper Bold"/>
                <a:cs typeface="Times New Roman" panose="02020603050405020304" pitchFamily="18" charset="0"/>
              </a:rPr>
              <a:t>– Bubble </a:t>
            </a:r>
            <a:r>
              <a:rPr lang="en-US" sz="4400" b="1" dirty="0" smtClean="0">
                <a:solidFill>
                  <a:prstClr val="black">
                    <a:lumMod val="85000"/>
                    <a:lumOff val="15000"/>
                  </a:prstClr>
                </a:solidFill>
                <a:latin typeface="Casper Bold"/>
                <a:cs typeface="Times New Roman" panose="02020603050405020304" pitchFamily="18" charset="0"/>
              </a:rPr>
              <a:t>sort</a:t>
            </a:r>
            <a:r>
              <a:rPr lang="en-US" sz="4400" dirty="0" smtClean="0">
                <a:latin typeface="Casper Bold"/>
              </a:rPr>
              <a:t> </a:t>
            </a:r>
            <a:endParaRPr lang="en-US" sz="4400" dirty="0">
              <a:latin typeface="Casper Bold"/>
            </a:endParaRPr>
          </a:p>
        </p:txBody>
      </p:sp>
      <p:sp>
        <p:nvSpPr>
          <p:cNvPr id="2" name="Rectangle 1"/>
          <p:cNvSpPr/>
          <p:nvPr/>
        </p:nvSpPr>
        <p:spPr>
          <a:xfrm>
            <a:off x="5916010" y="806669"/>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3200400"/>
            <a:ext cx="4796506" cy="3155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154918" y="5543057"/>
            <a:ext cx="5389582" cy="646331"/>
          </a:xfrm>
          <a:prstGeom prst="rect">
            <a:avLst/>
          </a:prstGeom>
        </p:spPr>
        <p:txBody>
          <a:bodyPr wrap="square">
            <a:spAutoFit/>
          </a:bodyPr>
          <a:lstStyle/>
          <a:p>
            <a:r>
              <a:rPr lang="en-US" dirty="0">
                <a:hlinkClick r:id="rId2"/>
              </a:rPr>
              <a:t>https://medium.com/karuna-sehgal/an-introduction-to-bubble-sort-d85273acfcd8</a:t>
            </a:r>
            <a:endParaRPr lang="en-US" dirty="0">
              <a:latin typeface="Casper" panose="02000506000000020004" pitchFamily="2" charset="0"/>
              <a:cs typeface="Arial" panose="020B0604020202020204" pitchFamily="34" charset="0"/>
            </a:endParaRPr>
          </a:p>
        </p:txBody>
      </p:sp>
      <p:sp>
        <p:nvSpPr>
          <p:cNvPr id="44036" name="AutoShape 4"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8" name="AutoShape 6"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0" name="AutoShape 8"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4918" y="2771282"/>
            <a:ext cx="5506858" cy="277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95843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3338" y="765941"/>
            <a:ext cx="6170885" cy="4873625"/>
          </a:xfrm>
        </p:spPr>
        <p:txBody>
          <a:bodyPr>
            <a:normAutofit/>
          </a:bodyPr>
          <a:lstStyle/>
          <a:p>
            <a:pPr marL="0" indent="0">
              <a:buNone/>
            </a:pPr>
            <a:r>
              <a:rPr lang="en-US" sz="2400" dirty="0" smtClean="0"/>
              <a:t> </a:t>
            </a:r>
          </a:p>
          <a:p>
            <a:pPr>
              <a:buNone/>
            </a:pPr>
            <a:r>
              <a:rPr lang="en-US" sz="2400" dirty="0" smtClean="0"/>
              <a:t> </a:t>
            </a:r>
            <a:endParaRPr lang="en-US" sz="2400" dirty="0" smtClean="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168442" y="3450130"/>
            <a:ext cx="4848725" cy="2759074"/>
          </a:xfrm>
        </p:spPr>
        <p:txBody>
          <a:bodyPr>
            <a:normAutofit lnSpcReduction="10000"/>
          </a:bodyPr>
          <a:lstStyle/>
          <a:p>
            <a:pPr algn="just">
              <a:spcBef>
                <a:spcPct val="50000"/>
              </a:spcBef>
            </a:pPr>
            <a:r>
              <a:rPr lang="en-US" dirty="0">
                <a:latin typeface="Casper" panose="02000506000000020004" pitchFamily="2" charset="0"/>
                <a:cs typeface="Arial" panose="020B0604020202020204" pitchFamily="34" charset="0"/>
              </a:rPr>
              <a:t>It uses simple algorithm. It sorts by comparing each </a:t>
            </a:r>
            <a:r>
              <a:rPr lang="en-US" dirty="0" smtClean="0">
                <a:latin typeface="Casper" panose="02000506000000020004" pitchFamily="2" charset="0"/>
                <a:cs typeface="Arial" panose="020B0604020202020204" pitchFamily="34" charset="0"/>
              </a:rPr>
              <a:t>pair of </a:t>
            </a:r>
            <a:r>
              <a:rPr lang="en-US" dirty="0">
                <a:latin typeface="Casper" panose="02000506000000020004" pitchFamily="2" charset="0"/>
                <a:cs typeface="Arial" panose="020B0604020202020204" pitchFamily="34" charset="0"/>
              </a:rPr>
              <a:t>adjacent items and swapping them in the order</a:t>
            </a:r>
            <a:r>
              <a:rPr lang="en-US" dirty="0" smtClean="0">
                <a:latin typeface="Casper" panose="02000506000000020004" pitchFamily="2" charset="0"/>
                <a:cs typeface="Arial" panose="020B0604020202020204" pitchFamily="34" charset="0"/>
              </a:rPr>
              <a:t>.</a:t>
            </a:r>
          </a:p>
          <a:p>
            <a:pPr algn="just">
              <a:spcBef>
                <a:spcPct val="50000"/>
              </a:spcBef>
            </a:pPr>
            <a:r>
              <a:rPr lang="en-US" dirty="0" smtClean="0">
                <a:latin typeface="Casper" panose="02000506000000020004" pitchFamily="2" charset="0"/>
                <a:cs typeface="Arial" panose="020B0604020202020204" pitchFamily="34" charset="0"/>
              </a:rPr>
              <a:t> This will </a:t>
            </a:r>
            <a:r>
              <a:rPr lang="en-US" dirty="0">
                <a:latin typeface="Casper" panose="02000506000000020004" pitchFamily="2" charset="0"/>
                <a:cs typeface="Arial" panose="020B0604020202020204" pitchFamily="34" charset="0"/>
              </a:rPr>
              <a:t>be repeated until no swaps are needed. </a:t>
            </a:r>
            <a:r>
              <a:rPr lang="en-US" dirty="0" smtClean="0">
                <a:latin typeface="Casper" panose="02000506000000020004" pitchFamily="2" charset="0"/>
                <a:cs typeface="Arial" panose="020B0604020202020204" pitchFamily="34" charset="0"/>
              </a:rPr>
              <a:t>The algorithm </a:t>
            </a:r>
            <a:r>
              <a:rPr lang="en-US" dirty="0">
                <a:latin typeface="Casper" panose="02000506000000020004" pitchFamily="2" charset="0"/>
                <a:cs typeface="Arial" panose="020B0604020202020204" pitchFamily="34" charset="0"/>
              </a:rPr>
              <a:t>got its name from the way smaller </a:t>
            </a:r>
            <a:r>
              <a:rPr lang="en-US" dirty="0" smtClean="0">
                <a:latin typeface="Casper" panose="02000506000000020004" pitchFamily="2" charset="0"/>
                <a:cs typeface="Arial" panose="020B0604020202020204" pitchFamily="34" charset="0"/>
              </a:rPr>
              <a:t>elements "</a:t>
            </a:r>
            <a:r>
              <a:rPr lang="en-US" dirty="0">
                <a:latin typeface="Casper" panose="02000506000000020004" pitchFamily="2" charset="0"/>
                <a:cs typeface="Arial" panose="020B0604020202020204" pitchFamily="34" charset="0"/>
              </a:rPr>
              <a:t>bubble" to the top of the list</a:t>
            </a:r>
            <a:r>
              <a:rPr lang="en-US" dirty="0" smtClean="0">
                <a:latin typeface="Casper" panose="02000506000000020004" pitchFamily="2" charset="0"/>
                <a:cs typeface="Arial" panose="020B0604020202020204" pitchFamily="34" charset="0"/>
              </a:rPr>
              <a:t>.</a:t>
            </a:r>
          </a:p>
          <a:p>
            <a:pPr algn="just">
              <a:spcBef>
                <a:spcPct val="50000"/>
              </a:spcBef>
            </a:pPr>
            <a:r>
              <a:rPr lang="en-US" dirty="0" smtClean="0">
                <a:latin typeface="Casper" panose="02000506000000020004" pitchFamily="2" charset="0"/>
                <a:cs typeface="Arial" panose="020B0604020202020204" pitchFamily="34" charset="0"/>
              </a:rPr>
              <a:t>It </a:t>
            </a:r>
            <a:r>
              <a:rPr lang="en-US" dirty="0">
                <a:latin typeface="Casper" panose="02000506000000020004" pitchFamily="2" charset="0"/>
                <a:cs typeface="Arial" panose="020B0604020202020204" pitchFamily="34" charset="0"/>
              </a:rPr>
              <a:t>is not that much efficient, when a list is having </a:t>
            </a:r>
            <a:r>
              <a:rPr lang="en-US" dirty="0" smtClean="0">
                <a:latin typeface="Casper" panose="02000506000000020004" pitchFamily="2" charset="0"/>
                <a:cs typeface="Arial" panose="020B0604020202020204" pitchFamily="34" charset="0"/>
              </a:rPr>
              <a:t>more than </a:t>
            </a:r>
            <a:r>
              <a:rPr lang="en-US" dirty="0">
                <a:latin typeface="Casper" panose="02000506000000020004" pitchFamily="2" charset="0"/>
                <a:cs typeface="Arial" panose="020B0604020202020204" pitchFamily="34" charset="0"/>
              </a:rPr>
              <a:t>a few elements. Among simple sorting </a:t>
            </a:r>
            <a:r>
              <a:rPr lang="en-US" dirty="0" smtClean="0">
                <a:latin typeface="Casper" panose="02000506000000020004" pitchFamily="2" charset="0"/>
                <a:cs typeface="Arial" panose="020B0604020202020204" pitchFamily="34" charset="0"/>
              </a:rPr>
              <a:t>algorithms, algorithms </a:t>
            </a:r>
            <a:r>
              <a:rPr lang="en-US" dirty="0">
                <a:latin typeface="Casper" panose="02000506000000020004" pitchFamily="2" charset="0"/>
                <a:cs typeface="Arial" panose="020B0604020202020204" pitchFamily="34" charset="0"/>
              </a:rPr>
              <a:t>like insertion sort are usually considered </a:t>
            </a:r>
            <a:r>
              <a:rPr lang="en-US" dirty="0" smtClean="0">
                <a:latin typeface="Casper" panose="02000506000000020004" pitchFamily="2" charset="0"/>
                <a:cs typeface="Arial" panose="020B0604020202020204" pitchFamily="34" charset="0"/>
              </a:rPr>
              <a:t>as more </a:t>
            </a:r>
            <a:r>
              <a:rPr lang="en-US" dirty="0">
                <a:latin typeface="Casper" panose="02000506000000020004" pitchFamily="2" charset="0"/>
                <a:cs typeface="Arial" panose="020B0604020202020204" pitchFamily="34" charset="0"/>
              </a:rPr>
              <a:t>efficient</a:t>
            </a:r>
            <a:r>
              <a:rPr lang="en-US" dirty="0" smtClean="0">
                <a:latin typeface="Casper" panose="02000506000000020004" pitchFamily="2" charset="0"/>
                <a:cs typeface="Arial" panose="020B0604020202020204" pitchFamily="34" charset="0"/>
              </a:rPr>
              <a:t>. </a:t>
            </a:r>
          </a:p>
          <a:p>
            <a:pPr algn="just">
              <a:spcBef>
                <a:spcPct val="50000"/>
              </a:spcBef>
            </a:pPr>
            <a:r>
              <a:rPr lang="en-US" dirty="0" smtClean="0">
                <a:latin typeface="Casper" panose="02000506000000020004" pitchFamily="2" charset="0"/>
                <a:cs typeface="Arial" panose="020B0604020202020204" pitchFamily="34" charset="0"/>
              </a:rPr>
              <a:t>Bubble </a:t>
            </a:r>
            <a:r>
              <a:rPr lang="en-US" dirty="0">
                <a:latin typeface="Casper" panose="02000506000000020004" pitchFamily="2" charset="0"/>
                <a:cs typeface="Arial" panose="020B0604020202020204" pitchFamily="34" charset="0"/>
              </a:rPr>
              <a:t>sort is little slower compared to other </a:t>
            </a:r>
            <a:r>
              <a:rPr lang="en-US" dirty="0" smtClean="0">
                <a:latin typeface="Casper" panose="02000506000000020004" pitchFamily="2" charset="0"/>
                <a:cs typeface="Arial" panose="020B0604020202020204" pitchFamily="34" charset="0"/>
              </a:rPr>
              <a:t>sorting techniques </a:t>
            </a:r>
            <a:r>
              <a:rPr lang="en-US" dirty="0">
                <a:latin typeface="Casper" panose="02000506000000020004" pitchFamily="2" charset="0"/>
                <a:cs typeface="Arial" panose="020B0604020202020204" pitchFamily="34" charset="0"/>
              </a:rPr>
              <a:t>but it is easy because it deals with only </a:t>
            </a:r>
            <a:r>
              <a:rPr lang="en-US" dirty="0" smtClean="0">
                <a:latin typeface="Casper" panose="02000506000000020004" pitchFamily="2" charset="0"/>
                <a:cs typeface="Arial" panose="020B0604020202020204" pitchFamily="34" charset="0"/>
              </a:rPr>
              <a:t>two elements </a:t>
            </a:r>
            <a:r>
              <a:rPr lang="en-US" dirty="0">
                <a:latin typeface="Casper" panose="02000506000000020004" pitchFamily="2" charset="0"/>
                <a:cs typeface="Arial" panose="020B0604020202020204" pitchFamily="34" charset="0"/>
              </a:rPr>
              <a:t>at a time</a:t>
            </a:r>
            <a:r>
              <a:rPr lang="en-US" dirty="0" smtClean="0">
                <a:latin typeface="Casper" panose="02000506000000020004" pitchFamily="2" charset="0"/>
                <a:cs typeface="Arial" panose="020B0604020202020204" pitchFamily="34" charset="0"/>
              </a:rPr>
              <a:t>.</a:t>
            </a:r>
            <a:endParaRPr lang="en-US" dirty="0">
              <a:latin typeface="Casper" panose="02000506000000020004" pitchFamily="2" charset="0"/>
              <a:cs typeface="Arial" panose="020B0604020202020204" pitchFamily="34" charset="0"/>
            </a:endParaRPr>
          </a:p>
          <a:p>
            <a:pPr algn="just">
              <a:spcBef>
                <a:spcPct val="50000"/>
              </a:spcBef>
            </a:pP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168441" y="1175657"/>
            <a:ext cx="4848726" cy="1902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defTabSz="622300">
              <a:spcAft>
                <a:spcPct val="35000"/>
              </a:spcAft>
            </a:pPr>
            <a:r>
              <a:rPr lang="en-US" sz="4400" b="1" dirty="0">
                <a:solidFill>
                  <a:prstClr val="black">
                    <a:lumMod val="85000"/>
                    <a:lumOff val="15000"/>
                  </a:prstClr>
                </a:solidFill>
                <a:latin typeface="Casper Bold"/>
                <a:cs typeface="Times New Roman" panose="02020603050405020304" pitchFamily="18" charset="0"/>
              </a:rPr>
              <a:t>Repeat “Bubble Up” How Many Times?</a:t>
            </a:r>
          </a:p>
        </p:txBody>
      </p:sp>
      <p:sp>
        <p:nvSpPr>
          <p:cNvPr id="2" name="Rectangle 1"/>
          <p:cNvSpPr/>
          <p:nvPr/>
        </p:nvSpPr>
        <p:spPr>
          <a:xfrm>
            <a:off x="5171090" y="691055"/>
            <a:ext cx="6433645"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68442" y="3296653"/>
            <a:ext cx="4848725" cy="29125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71595" y="5285874"/>
            <a:ext cx="6232634" cy="923330"/>
          </a:xfrm>
          <a:prstGeom prst="rect">
            <a:avLst/>
          </a:prstGeom>
        </p:spPr>
        <p:txBody>
          <a:bodyPr wrap="square">
            <a:spAutoFit/>
          </a:bodyPr>
          <a:lstStyle/>
          <a:p>
            <a:r>
              <a:rPr lang="en-US" dirty="0">
                <a:hlinkClick r:id="rId2"/>
              </a:rPr>
              <a:t>www.chegg.com/homework-help/questions-and-answers/matrix-array-vector-rows-data-frame-table-columns-lists-r-data-types-true-true-true-true-f-q28713018</a:t>
            </a:r>
            <a:endParaRPr lang="en-US" dirty="0"/>
          </a:p>
        </p:txBody>
      </p:sp>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1595" y="869797"/>
            <a:ext cx="6232634" cy="4416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387806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0" y="3187337"/>
            <a:ext cx="4781006" cy="2926080"/>
          </a:xfrm>
        </p:spPr>
        <p:txBody>
          <a:bodyPr>
            <a:noAutofit/>
          </a:bodyPr>
          <a:lstStyle/>
          <a:p>
            <a:pPr marL="288925" indent="61913" algn="just">
              <a:spcBef>
                <a:spcPct val="50000"/>
              </a:spcBef>
            </a:pPr>
            <a:r>
              <a:rPr lang="en-US" dirty="0">
                <a:latin typeface="Casper" panose="02000506000000020004" pitchFamily="2" charset="0"/>
                <a:cs typeface="Arial" panose="020B0604020202020204" pitchFamily="34" charset="0"/>
              </a:rPr>
              <a:t>The space complexity for Bubble </a:t>
            </a:r>
            <a:r>
              <a:rPr lang="en-US" dirty="0" smtClean="0">
                <a:latin typeface="Casper" panose="02000506000000020004" pitchFamily="2" charset="0"/>
                <a:cs typeface="Arial" panose="020B0604020202020204" pitchFamily="34" charset="0"/>
              </a:rPr>
              <a:t>Sort is </a:t>
            </a:r>
            <a:r>
              <a:rPr lang="en-US" dirty="0">
                <a:latin typeface="Casper" panose="02000506000000020004" pitchFamily="2" charset="0"/>
                <a:cs typeface="Arial" panose="020B0604020202020204" pitchFamily="34" charset="0"/>
              </a:rPr>
              <a:t>O(1), because only a single additional memory space is required i.e. for temp variable. </a:t>
            </a:r>
            <a:r>
              <a:rPr lang="en-US" dirty="0" smtClean="0">
                <a:latin typeface="Casper" panose="02000506000000020004" pitchFamily="2" charset="0"/>
                <a:cs typeface="Arial" panose="020B0604020202020204" pitchFamily="34" charset="0"/>
              </a:rPr>
              <a:t>Also</a:t>
            </a:r>
            <a:r>
              <a:rPr lang="en-US" dirty="0">
                <a:latin typeface="Casper" panose="02000506000000020004" pitchFamily="2" charset="0"/>
                <a:cs typeface="Arial" panose="020B0604020202020204" pitchFamily="34" charset="0"/>
              </a:rPr>
              <a:t>, the best </a:t>
            </a:r>
            <a:r>
              <a:rPr lang="en-US" dirty="0" smtClean="0">
                <a:latin typeface="Casper" panose="02000506000000020004" pitchFamily="2" charset="0"/>
                <a:cs typeface="Arial" panose="020B0604020202020204" pitchFamily="34" charset="0"/>
              </a:rPr>
              <a:t>case time</a:t>
            </a:r>
            <a:r>
              <a:rPr lang="en-US" dirty="0">
                <a:latin typeface="Casper" panose="02000506000000020004" pitchFamily="2" charset="0"/>
                <a:cs typeface="Arial" panose="020B0604020202020204" pitchFamily="34" charset="0"/>
              </a:rPr>
              <a:t> </a:t>
            </a:r>
            <a:r>
              <a:rPr lang="en-US" dirty="0" smtClean="0">
                <a:latin typeface="Casper" panose="02000506000000020004" pitchFamily="2" charset="0"/>
                <a:cs typeface="Arial" panose="020B0604020202020204" pitchFamily="34" charset="0"/>
              </a:rPr>
              <a:t>complexity</a:t>
            </a:r>
            <a:r>
              <a:rPr lang="en-US" dirty="0">
                <a:latin typeface="Casper" panose="02000506000000020004" pitchFamily="2" charset="0"/>
                <a:cs typeface="Arial" panose="020B0604020202020204" pitchFamily="34" charset="0"/>
              </a:rPr>
              <a:t> will be O(n), </a:t>
            </a:r>
            <a:r>
              <a:rPr lang="en-US" dirty="0" smtClean="0">
                <a:latin typeface="Casper" panose="02000506000000020004" pitchFamily="2" charset="0"/>
                <a:cs typeface="Arial" panose="020B0604020202020204" pitchFamily="34" charset="0"/>
              </a:rPr>
              <a:t>when </a:t>
            </a:r>
            <a:r>
              <a:rPr lang="en-US" dirty="0">
                <a:latin typeface="Casper" panose="02000506000000020004" pitchFamily="2" charset="0"/>
                <a:cs typeface="Arial" panose="020B0604020202020204" pitchFamily="34" charset="0"/>
              </a:rPr>
              <a:t>the list is already sorted</a:t>
            </a:r>
            <a:r>
              <a:rPr lang="en-US" dirty="0" smtClean="0">
                <a:latin typeface="Casper" panose="02000506000000020004" pitchFamily="2" charset="0"/>
                <a:cs typeface="Arial" panose="020B0604020202020204" pitchFamily="34" charset="0"/>
              </a:rPr>
              <a:t>.</a:t>
            </a:r>
          </a:p>
          <a:p>
            <a:pPr marL="288925" indent="61913" algn="just">
              <a:spcBef>
                <a:spcPct val="50000"/>
              </a:spcBef>
            </a:pPr>
            <a:r>
              <a:rPr lang="en-US" dirty="0">
                <a:latin typeface="Casper" panose="02000506000000020004" pitchFamily="2" charset="0"/>
                <a:cs typeface="Arial" panose="020B0604020202020204" pitchFamily="34" charset="0"/>
              </a:rPr>
              <a:t>To calculate the complexity of the bubble sort algorithm, it is useful to determine how many comparisons each loop performs. </a:t>
            </a:r>
            <a:endParaRPr lang="en-US" dirty="0" smtClean="0">
              <a:latin typeface="Casper" panose="02000506000000020004" pitchFamily="2" charset="0"/>
              <a:cs typeface="Arial" panose="020B0604020202020204" pitchFamily="34" charset="0"/>
            </a:endParaRPr>
          </a:p>
          <a:p>
            <a:pPr marL="288925" indent="61913" algn="just">
              <a:spcBef>
                <a:spcPct val="50000"/>
              </a:spcBef>
            </a:pPr>
            <a:r>
              <a:rPr lang="en-US" dirty="0" smtClean="0">
                <a:latin typeface="Casper" panose="02000506000000020004" pitchFamily="2" charset="0"/>
                <a:cs typeface="Arial" panose="020B0604020202020204" pitchFamily="34" charset="0"/>
              </a:rPr>
              <a:t>For </a:t>
            </a:r>
            <a:r>
              <a:rPr lang="en-US" dirty="0">
                <a:latin typeface="Casper" panose="02000506000000020004" pitchFamily="2" charset="0"/>
                <a:cs typeface="Arial" panose="020B0604020202020204" pitchFamily="34" charset="0"/>
              </a:rPr>
              <a:t>each element in the array, bubble sort does n−1 comparisons. In big O notation</a:t>
            </a:r>
            <a:r>
              <a:rPr lang="en-US" dirty="0" smtClean="0">
                <a:latin typeface="Casper" panose="02000506000000020004" pitchFamily="2" charset="0"/>
                <a:cs typeface="Arial" panose="020B0604020202020204" pitchFamily="34" charset="0"/>
              </a:rPr>
              <a:t>, bubble </a:t>
            </a:r>
            <a:r>
              <a:rPr lang="en-US" dirty="0">
                <a:latin typeface="Casper" panose="02000506000000020004" pitchFamily="2" charset="0"/>
                <a:cs typeface="Arial" panose="020B0604020202020204" pitchFamily="34" charset="0"/>
              </a:rPr>
              <a:t>sort performs </a:t>
            </a:r>
            <a:r>
              <a:rPr lang="en-US" dirty="0" smtClean="0">
                <a:latin typeface="Casper" panose="02000506000000020004" pitchFamily="2" charset="0"/>
                <a:cs typeface="Arial" panose="020B0604020202020204" pitchFamily="34" charset="0"/>
              </a:rPr>
              <a:t>O(n) comparisons.</a:t>
            </a: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8" name="Title 7"/>
          <p:cNvSpPr txBox="1">
            <a:spLocks noGrp="1" noChangeArrowheads="1"/>
          </p:cNvSpPr>
          <p:nvPr>
            <p:ph type="title"/>
          </p:nvPr>
        </p:nvSpPr>
        <p:spPr bwMode="auto">
          <a:xfrm>
            <a:off x="179230" y="1643197"/>
            <a:ext cx="4908884"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a:latin typeface="Casper Bold"/>
              </a:rPr>
              <a:t>Complexity of the bubble sort algorithm</a:t>
            </a:r>
          </a:p>
        </p:txBody>
      </p:sp>
      <p:sp>
        <p:nvSpPr>
          <p:cNvPr id="2" name="Rectangle 1"/>
          <p:cNvSpPr/>
          <p:nvPr/>
        </p:nvSpPr>
        <p:spPr>
          <a:xfrm>
            <a:off x="5171090" y="691055"/>
            <a:ext cx="6433645"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07975" y="3003851"/>
            <a:ext cx="4576896" cy="32053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362576" y="5579374"/>
            <a:ext cx="6232634" cy="369332"/>
          </a:xfrm>
          <a:prstGeom prst="rect">
            <a:avLst/>
          </a:prstGeom>
        </p:spPr>
        <p:txBody>
          <a:bodyPr wrap="square">
            <a:spAutoFit/>
          </a:bodyPr>
          <a:lstStyle/>
          <a:p>
            <a:r>
              <a:rPr lang="en-US" dirty="0">
                <a:hlinkClick r:id="rId2"/>
              </a:rPr>
              <a:t>https://slideplayer.com/slide/8414999/</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6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191766" y="765374"/>
            <a:ext cx="6403444" cy="462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78685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60375" y="3272589"/>
            <a:ext cx="4833520" cy="2936616"/>
          </a:xfrm>
        </p:spPr>
        <p:txBody>
          <a:bodyPr>
            <a:normAutofit/>
          </a:bodyPr>
          <a:lstStyle/>
          <a:p>
            <a:r>
              <a:rPr lang="en-US" dirty="0" smtClean="0">
                <a:latin typeface="Casper" panose="02000506000000020004" pitchFamily="2" charset="0"/>
                <a:cs typeface="Arial" panose="020B0604020202020204" pitchFamily="34" charset="0"/>
              </a:rPr>
              <a:t>It </a:t>
            </a:r>
            <a:r>
              <a:rPr lang="en-US" dirty="0">
                <a:latin typeface="Casper" panose="02000506000000020004" pitchFamily="2" charset="0"/>
                <a:cs typeface="Arial" panose="020B0604020202020204" pitchFamily="34" charset="0"/>
              </a:rPr>
              <a:t>is efficient for smaller data sets, but very inefficient for larger lists.</a:t>
            </a:r>
          </a:p>
          <a:p>
            <a:r>
              <a:rPr lang="en-US" dirty="0">
                <a:latin typeface="Casper" panose="02000506000000020004" pitchFamily="2" charset="0"/>
                <a:cs typeface="Arial" panose="020B0604020202020204" pitchFamily="34" charset="0"/>
              </a:rPr>
              <a:t>Insertion Sort is adaptive, that means it reduces its total number of steps if a partially sorted array is provided as input, making it efficient.</a:t>
            </a:r>
          </a:p>
          <a:p>
            <a:r>
              <a:rPr lang="en-US" dirty="0">
                <a:latin typeface="Casper" panose="02000506000000020004" pitchFamily="2" charset="0"/>
                <a:cs typeface="Arial" panose="020B0604020202020204" pitchFamily="34" charset="0"/>
              </a:rPr>
              <a:t>It is better than Selection Sort and Bubble Sort algorithms.</a:t>
            </a:r>
          </a:p>
          <a:p>
            <a:r>
              <a:rPr lang="en-US" dirty="0">
                <a:latin typeface="Casper" panose="02000506000000020004" pitchFamily="2" charset="0"/>
                <a:cs typeface="Arial" panose="020B0604020202020204" pitchFamily="34" charset="0"/>
              </a:rPr>
              <a:t>Its space complexity is less. Like bubble Sort, insertion sort also requires a single additional memory space.</a:t>
            </a:r>
          </a:p>
          <a:p>
            <a:r>
              <a:rPr lang="en-US" dirty="0">
                <a:latin typeface="Casper" panose="02000506000000020004" pitchFamily="2" charset="0"/>
                <a:cs typeface="Arial" panose="020B0604020202020204" pitchFamily="34" charset="0"/>
              </a:rPr>
              <a:t>It is a stable sorting technique, as it does not change the relative order of elements which are equal.</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8</a:t>
            </a:fld>
            <a:endParaRPr lang="en-US" dirty="0"/>
          </a:p>
        </p:txBody>
      </p:sp>
      <p:sp>
        <p:nvSpPr>
          <p:cNvPr id="8" name="Title 7"/>
          <p:cNvSpPr txBox="1">
            <a:spLocks noGrp="1" noChangeArrowheads="1"/>
          </p:cNvSpPr>
          <p:nvPr>
            <p:ph type="title"/>
          </p:nvPr>
        </p:nvSpPr>
        <p:spPr bwMode="auto">
          <a:xfrm>
            <a:off x="320007" y="1250302"/>
            <a:ext cx="5296383"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smtClean="0">
                <a:latin typeface="Casper Bold"/>
              </a:rPr>
              <a:t>Algorithm </a:t>
            </a:r>
            <a:r>
              <a:rPr lang="en-US" sz="4400" b="1" dirty="0">
                <a:latin typeface="Casper Bold"/>
              </a:rPr>
              <a:t>for </a:t>
            </a:r>
            <a:r>
              <a:rPr lang="en-US" sz="4400" b="1" dirty="0" smtClean="0">
                <a:latin typeface="Casper Bold"/>
              </a:rPr>
              <a:t>Insertion Sort</a:t>
            </a:r>
            <a:endParaRPr lang="en-US" sz="4400" dirty="0">
              <a:latin typeface="Casper Bold"/>
            </a:endParaRPr>
          </a:p>
        </p:txBody>
      </p:sp>
      <p:sp>
        <p:nvSpPr>
          <p:cNvPr id="2" name="Rectangle 1"/>
          <p:cNvSpPr/>
          <p:nvPr/>
        </p:nvSpPr>
        <p:spPr>
          <a:xfrm>
            <a:off x="5702968" y="691055"/>
            <a:ext cx="5901767"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0" y="3056021"/>
            <a:ext cx="5058159" cy="3153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702969" y="5234473"/>
            <a:ext cx="5736558" cy="646331"/>
          </a:xfrm>
          <a:prstGeom prst="rect">
            <a:avLst/>
          </a:prstGeom>
        </p:spPr>
        <p:txBody>
          <a:bodyPr wrap="square">
            <a:spAutoFit/>
          </a:bodyPr>
          <a:lstStyle/>
          <a:p>
            <a:r>
              <a:rPr lang="en-US" dirty="0">
                <a:hlinkClick r:id="rId2"/>
              </a:rPr>
              <a:t>https://</a:t>
            </a:r>
            <a:r>
              <a:rPr lang="en-US" dirty="0" smtClean="0">
                <a:hlinkClick r:id="rId2"/>
              </a:rPr>
              <a:t>www.studytonight.com/data-structures/insertion-sorting</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Content Placeholder 12"/>
          <p:cNvSpPr>
            <a:spLocks noGrp="1"/>
          </p:cNvSpPr>
          <p:nvPr>
            <p:ph idx="1"/>
          </p:nvPr>
        </p:nvSpPr>
        <p:spPr>
          <a:xfrm>
            <a:off x="6196262" y="1371600"/>
            <a:ext cx="5159125" cy="4489450"/>
          </a:xfrm>
        </p:spPr>
        <p:txBody>
          <a:bodyPr/>
          <a:lstStyle/>
          <a:p>
            <a:r>
              <a:rPr lang="en-US" dirty="0" smtClean="0"/>
              <a:t>.</a:t>
            </a:r>
            <a:endParaRPr lang="en-US" dirty="0"/>
          </a:p>
        </p:txBody>
      </p:sp>
      <p:pic>
        <p:nvPicPr>
          <p:cNvPr id="12293" name="Picture 5" descr="Image result for algorithm for insertion so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2563" y="1208946"/>
            <a:ext cx="5362575" cy="369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3491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r>
              <a:rPr lang="en-US" dirty="0" smtClean="0">
                <a:latin typeface="Casper Bold"/>
              </a:rPr>
              <a:t> </a:t>
            </a:r>
            <a:r>
              <a:rPr lang="en-US" b="1" dirty="0" smtClean="0">
                <a:solidFill>
                  <a:prstClr val="black">
                    <a:lumMod val="85000"/>
                    <a:lumOff val="15000"/>
                  </a:prstClr>
                </a:solidFill>
                <a:latin typeface="Casper Bold"/>
                <a:cs typeface="Times New Roman" panose="02020603050405020304" pitchFamily="18" charset="0"/>
              </a:rPr>
              <a:t>Complexity</a:t>
            </a:r>
            <a:r>
              <a:rPr lang="en-US" b="1" dirty="0">
                <a:solidFill>
                  <a:prstClr val="black">
                    <a:lumMod val="85000"/>
                    <a:lumOff val="15000"/>
                  </a:prstClr>
                </a:solidFill>
                <a:latin typeface="Casper Bold"/>
                <a:cs typeface="Times New Roman" panose="02020603050405020304" pitchFamily="18" charset="0"/>
              </a:rPr>
              <a:t> Analysis of the Insertion sort </a:t>
            </a:r>
            <a:r>
              <a:rPr lang="en-US" b="1" dirty="0" smtClean="0">
                <a:solidFill>
                  <a:prstClr val="black">
                    <a:lumMod val="85000"/>
                    <a:lumOff val="15000"/>
                  </a:prstClr>
                </a:solidFill>
                <a:latin typeface="Casper Bold"/>
                <a:cs typeface="Times New Roman" panose="02020603050405020304" pitchFamily="18" charset="0"/>
              </a:rPr>
              <a:t>Algorithm</a:t>
            </a:r>
            <a:endParaRPr lang="en-US" b="1" dirty="0">
              <a:solidFill>
                <a:prstClr val="black">
                  <a:lumMod val="85000"/>
                  <a:lumOff val="15000"/>
                </a:prstClr>
              </a:solidFill>
              <a:latin typeface="Casper Bold"/>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spcBef>
                <a:spcPct val="50000"/>
              </a:spcBef>
            </a:pPr>
            <a:r>
              <a:rPr lang="en-US" sz="1600" dirty="0">
                <a:latin typeface="Casper" panose="02000506000000020004" pitchFamily="2" charset="0"/>
                <a:cs typeface="Arial" panose="020B0604020202020204" pitchFamily="34" charset="0"/>
              </a:rPr>
              <a:t>The worst case performance occurs when the elements of the input array are in descending order. In that case, the first pass requires 1 comparison, the 2nd pass requires 2 comparisons , and </a:t>
            </a:r>
            <a:r>
              <a:rPr lang="en-US" sz="1600" dirty="0" err="1">
                <a:latin typeface="Casper" panose="02000506000000020004" pitchFamily="2" charset="0"/>
                <a:cs typeface="Arial" panose="020B0604020202020204" pitchFamily="34" charset="0"/>
              </a:rPr>
              <a:t>kth</a:t>
            </a:r>
            <a:r>
              <a:rPr lang="en-US" sz="1600" dirty="0">
                <a:latin typeface="Casper" panose="02000506000000020004" pitchFamily="2" charset="0"/>
                <a:cs typeface="Arial" panose="020B0604020202020204" pitchFamily="34" charset="0"/>
              </a:rPr>
              <a:t> element requires (k-1) and finally the last pass requires (n-1) comparisons. Therefore, total no. of comparisons  in case of descending order(worst case) is:</a:t>
            </a:r>
          </a:p>
          <a:p>
            <a:pPr>
              <a:spcBef>
                <a:spcPct val="50000"/>
              </a:spcBef>
            </a:pPr>
            <a:r>
              <a:rPr lang="en-US" sz="1600" dirty="0">
                <a:latin typeface="Casper" panose="02000506000000020004" pitchFamily="2" charset="0"/>
                <a:cs typeface="Arial" panose="020B0604020202020204" pitchFamily="34" charset="0"/>
              </a:rPr>
              <a:t>F(n)= 1+2+3….+(n-1)</a:t>
            </a:r>
          </a:p>
          <a:p>
            <a:pPr>
              <a:spcBef>
                <a:spcPct val="50000"/>
              </a:spcBef>
            </a:pPr>
            <a:r>
              <a:rPr lang="en-US" sz="1600" dirty="0">
                <a:latin typeface="Casper" panose="02000506000000020004" pitchFamily="2" charset="0"/>
                <a:cs typeface="Arial" panose="020B0604020202020204" pitchFamily="34" charset="0"/>
              </a:rPr>
              <a:t>        =n(n-1)/2 = O(n2 )</a:t>
            </a:r>
          </a:p>
          <a:p>
            <a:pPr>
              <a:spcBef>
                <a:spcPct val="50000"/>
              </a:spcBef>
            </a:pPr>
            <a:r>
              <a:rPr lang="en-US" sz="1600" dirty="0">
                <a:latin typeface="Casper" panose="02000506000000020004" pitchFamily="2" charset="0"/>
                <a:cs typeface="Arial" panose="020B0604020202020204" pitchFamily="34" charset="0"/>
              </a:rPr>
              <a:t> Total number of comparisons in case of ascending order (best case) is: (n-1) comparisons</a:t>
            </a:r>
          </a:p>
          <a:p>
            <a:pPr>
              <a:spcBef>
                <a:spcPct val="50000"/>
              </a:spcBef>
            </a:pPr>
            <a:r>
              <a:rPr lang="en-US" sz="1600" dirty="0">
                <a:latin typeface="Casper" panose="02000506000000020004" pitchFamily="2" charset="0"/>
                <a:cs typeface="Arial" panose="020B0604020202020204" pitchFamily="34" charset="0"/>
              </a:rPr>
              <a:t>i.e. f(n)=O(n) </a:t>
            </a:r>
            <a:r>
              <a:rPr lang="en-US" sz="2000" dirty="0"/>
              <a:t>. </a:t>
            </a:r>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505626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60375" y="3272589"/>
            <a:ext cx="4833520" cy="2936616"/>
          </a:xfrm>
        </p:spPr>
        <p:txBody>
          <a:bodyPr>
            <a:normAutofit/>
          </a:bodyPr>
          <a:lstStyle/>
          <a:p>
            <a:r>
              <a:rPr lang="en-US" dirty="0" smtClean="0">
                <a:latin typeface="Casper" panose="02000506000000020004" pitchFamily="2" charset="0"/>
                <a:cs typeface="Arial" panose="020B0604020202020204" pitchFamily="34" charset="0"/>
              </a:rPr>
              <a:t>        </a:t>
            </a:r>
            <a:r>
              <a:rPr lang="en-US" dirty="0">
                <a:latin typeface="Casper" panose="02000506000000020004" pitchFamily="2" charset="0"/>
                <a:cs typeface="Arial" panose="020B0604020202020204" pitchFamily="34" charset="0"/>
              </a:rPr>
              <a:t>The selection sort improves on the bubble sort by making only one exchange for every pass through the list. In order to do this, a selection sort looks for the largest value as it makes a pass and, after completing the pass, places it in the proper location. </a:t>
            </a:r>
            <a:endParaRPr lang="en-US" dirty="0" smtClean="0">
              <a:latin typeface="Casper" panose="02000506000000020004" pitchFamily="2" charset="0"/>
              <a:cs typeface="Arial" panose="020B0604020202020204" pitchFamily="34" charset="0"/>
            </a:endParaRPr>
          </a:p>
          <a:p>
            <a:r>
              <a:rPr lang="en-US" dirty="0" smtClean="0">
                <a:latin typeface="Casper" panose="02000506000000020004" pitchFamily="2" charset="0"/>
                <a:cs typeface="Arial" panose="020B0604020202020204" pitchFamily="34" charset="0"/>
              </a:rPr>
              <a:t>As </a:t>
            </a:r>
            <a:r>
              <a:rPr lang="en-US" dirty="0">
                <a:latin typeface="Casper" panose="02000506000000020004" pitchFamily="2" charset="0"/>
                <a:cs typeface="Arial" panose="020B0604020202020204" pitchFamily="34" charset="0"/>
              </a:rPr>
              <a:t>with a bubble sort, after the first pass, the largest item is in the correct place</a:t>
            </a:r>
            <a:r>
              <a:rPr lang="en-US" dirty="0" smtClean="0">
                <a:latin typeface="Casper" panose="02000506000000020004" pitchFamily="2" charset="0"/>
                <a:cs typeface="Arial" panose="020B0604020202020204" pitchFamily="34" charset="0"/>
              </a:rPr>
              <a:t>.</a:t>
            </a:r>
          </a:p>
          <a:p>
            <a:r>
              <a:rPr lang="en-US" dirty="0" smtClean="0">
                <a:latin typeface="Casper" panose="02000506000000020004" pitchFamily="2" charset="0"/>
                <a:cs typeface="Arial" panose="020B0604020202020204" pitchFamily="34" charset="0"/>
              </a:rPr>
              <a:t> </a:t>
            </a:r>
            <a:r>
              <a:rPr lang="en-US" dirty="0">
                <a:latin typeface="Casper" panose="02000506000000020004" pitchFamily="2" charset="0"/>
                <a:cs typeface="Arial" panose="020B0604020202020204" pitchFamily="34" charset="0"/>
              </a:rPr>
              <a:t>After the second pass, the next largest is in place. This process continues and requires n−1n−1 passes to sort n items, since the final item must be in place after the (n−1)(n−1) </a:t>
            </a:r>
            <a:r>
              <a:rPr lang="en-US" dirty="0" err="1">
                <a:latin typeface="Casper" panose="02000506000000020004" pitchFamily="2" charset="0"/>
                <a:cs typeface="Arial" panose="020B0604020202020204" pitchFamily="34" charset="0"/>
              </a:rPr>
              <a:t>st</a:t>
            </a:r>
            <a:r>
              <a:rPr lang="en-US" dirty="0">
                <a:latin typeface="Casper" panose="02000506000000020004" pitchFamily="2" charset="0"/>
                <a:cs typeface="Arial" panose="020B0604020202020204" pitchFamily="34" charset="0"/>
              </a:rPr>
              <a:t> pass.</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10</a:t>
            </a:fld>
            <a:endParaRPr lang="en-US" dirty="0"/>
          </a:p>
        </p:txBody>
      </p:sp>
      <p:sp>
        <p:nvSpPr>
          <p:cNvPr id="8" name="Title 7"/>
          <p:cNvSpPr txBox="1">
            <a:spLocks noGrp="1" noChangeArrowheads="1"/>
          </p:cNvSpPr>
          <p:nvPr>
            <p:ph type="title"/>
          </p:nvPr>
        </p:nvSpPr>
        <p:spPr bwMode="auto">
          <a:xfrm>
            <a:off x="307975" y="1623281"/>
            <a:ext cx="5296383"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smtClean="0">
                <a:latin typeface="Casper Bold"/>
              </a:rPr>
              <a:t>Algorithm </a:t>
            </a:r>
            <a:r>
              <a:rPr lang="en-US" sz="4400" b="1" dirty="0">
                <a:latin typeface="Casper Bold"/>
              </a:rPr>
              <a:t>for </a:t>
            </a:r>
            <a:r>
              <a:rPr lang="en-US" sz="4400" b="1" dirty="0" smtClean="0">
                <a:latin typeface="Casper Bold"/>
              </a:rPr>
              <a:t>Selection Sort</a:t>
            </a:r>
            <a:endParaRPr lang="en-US" sz="4400" dirty="0">
              <a:latin typeface="Casper Bold"/>
            </a:endParaRPr>
          </a:p>
        </p:txBody>
      </p:sp>
      <p:sp>
        <p:nvSpPr>
          <p:cNvPr id="2" name="Rectangle 1"/>
          <p:cNvSpPr/>
          <p:nvPr/>
        </p:nvSpPr>
        <p:spPr>
          <a:xfrm>
            <a:off x="5702968" y="691055"/>
            <a:ext cx="5901767"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0" y="3056021"/>
            <a:ext cx="5058159" cy="3153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702969" y="5467985"/>
            <a:ext cx="5736558" cy="646331"/>
          </a:xfrm>
          <a:prstGeom prst="rect">
            <a:avLst/>
          </a:prstGeom>
        </p:spPr>
        <p:txBody>
          <a:bodyPr wrap="square">
            <a:spAutoFit/>
          </a:bodyPr>
          <a:lstStyle/>
          <a:p>
            <a:r>
              <a:rPr lang="en-US" dirty="0">
                <a:hlinkClick r:id="rId2"/>
              </a:rPr>
              <a:t>https://interactivepython.org/courselib/static/pythonds/SortSearch/TheSelectionSort.html</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Content Placeholder 12"/>
          <p:cNvSpPr>
            <a:spLocks noGrp="1"/>
          </p:cNvSpPr>
          <p:nvPr>
            <p:ph idx="1"/>
          </p:nvPr>
        </p:nvSpPr>
        <p:spPr>
          <a:xfrm>
            <a:off x="6196262" y="1371600"/>
            <a:ext cx="5159125" cy="4489450"/>
          </a:xfrm>
        </p:spPr>
        <p:txBody>
          <a:bodyPr/>
          <a:lstStyle/>
          <a:p>
            <a:r>
              <a:rPr lang="en-US" dirty="0" smtClean="0"/>
              <a:t>.</a:t>
            </a:r>
            <a:endParaRPr lang="en-US"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442" y="890337"/>
            <a:ext cx="5556084" cy="4588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7972811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60375" y="3272589"/>
            <a:ext cx="4833520" cy="2936616"/>
          </a:xfrm>
        </p:spPr>
        <p:txBody>
          <a:bodyPr>
            <a:normAutofit/>
          </a:bodyPr>
          <a:lstStyle/>
          <a:p>
            <a:r>
              <a:rPr lang="en-US" dirty="0" smtClean="0">
                <a:latin typeface="Casper" panose="02000506000000020004" pitchFamily="2" charset="0"/>
                <a:cs typeface="Arial" panose="020B0604020202020204" pitchFamily="34" charset="0"/>
              </a:rPr>
              <a:t>        </a:t>
            </a:r>
            <a:r>
              <a:rPr lang="en-US" dirty="0">
                <a:latin typeface="Casper" panose="02000506000000020004" pitchFamily="2" charset="0"/>
                <a:cs typeface="Arial" panose="020B0604020202020204" pitchFamily="34" charset="0"/>
              </a:rPr>
              <a:t>The Selection sort algorithm is based on the idea of finding the minimum or maximum element in an unsorted array and then putting it in its correct position in a sorted array.</a:t>
            </a:r>
          </a:p>
          <a:p>
            <a:r>
              <a:rPr lang="en-US" dirty="0">
                <a:latin typeface="Casper" panose="02000506000000020004" pitchFamily="2" charset="0"/>
                <a:cs typeface="Arial" panose="020B0604020202020204" pitchFamily="34" charset="0"/>
              </a:rPr>
              <a:t>Assume that the array A=[7,5,4,2] needs to be sorted in ascending order.</a:t>
            </a:r>
          </a:p>
          <a:p>
            <a:r>
              <a:rPr lang="en-US" dirty="0">
                <a:latin typeface="Casper" panose="02000506000000020004" pitchFamily="2" charset="0"/>
                <a:cs typeface="Arial" panose="020B0604020202020204" pitchFamily="34" charset="0"/>
              </a:rPr>
              <a:t>The minimum element in the array i.e. 2 is searched for and then swapped with the element that is currently located at the first position, i.e. 7</a:t>
            </a:r>
            <a:r>
              <a:rPr lang="en-US" dirty="0" smtClean="0">
                <a:latin typeface="Casper" panose="02000506000000020004" pitchFamily="2" charset="0"/>
                <a:cs typeface="Arial" panose="020B0604020202020204" pitchFamily="34" charset="0"/>
              </a:rPr>
              <a:t>.</a:t>
            </a:r>
          </a:p>
          <a:p>
            <a:r>
              <a:rPr lang="en-US" dirty="0" smtClean="0">
                <a:latin typeface="Casper" panose="02000506000000020004" pitchFamily="2" charset="0"/>
                <a:cs typeface="Arial" panose="020B0604020202020204" pitchFamily="34" charset="0"/>
              </a:rPr>
              <a:t> </a:t>
            </a:r>
            <a:r>
              <a:rPr lang="en-US" dirty="0">
                <a:latin typeface="Casper" panose="02000506000000020004" pitchFamily="2" charset="0"/>
                <a:cs typeface="Arial" panose="020B0604020202020204" pitchFamily="34" charset="0"/>
              </a:rPr>
              <a:t>Now the minimum element in the remaining unsorted array is searched for and put in the second position, and so on.</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11</a:t>
            </a:fld>
            <a:endParaRPr lang="en-US" dirty="0"/>
          </a:p>
        </p:txBody>
      </p:sp>
      <p:sp>
        <p:nvSpPr>
          <p:cNvPr id="8" name="Title 7"/>
          <p:cNvSpPr txBox="1">
            <a:spLocks noGrp="1" noChangeArrowheads="1"/>
          </p:cNvSpPr>
          <p:nvPr>
            <p:ph type="title"/>
          </p:nvPr>
        </p:nvSpPr>
        <p:spPr bwMode="auto">
          <a:xfrm>
            <a:off x="307975" y="1623281"/>
            <a:ext cx="5296383"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smtClean="0">
                <a:latin typeface="Casper Bold"/>
              </a:rPr>
              <a:t>Example Selection Sort</a:t>
            </a:r>
            <a:endParaRPr lang="en-US" sz="4400" dirty="0">
              <a:latin typeface="Casper Bold"/>
            </a:endParaRPr>
          </a:p>
        </p:txBody>
      </p:sp>
      <p:sp>
        <p:nvSpPr>
          <p:cNvPr id="2" name="Rectangle 1"/>
          <p:cNvSpPr/>
          <p:nvPr/>
        </p:nvSpPr>
        <p:spPr>
          <a:xfrm>
            <a:off x="5702968" y="691055"/>
            <a:ext cx="5901767"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0" y="3056021"/>
            <a:ext cx="5058159" cy="3153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702969" y="5467985"/>
            <a:ext cx="5736558" cy="646331"/>
          </a:xfrm>
          <a:prstGeom prst="rect">
            <a:avLst/>
          </a:prstGeom>
        </p:spPr>
        <p:txBody>
          <a:bodyPr wrap="square">
            <a:spAutoFit/>
          </a:bodyPr>
          <a:lstStyle/>
          <a:p>
            <a:r>
              <a:rPr lang="en-US" dirty="0">
                <a:hlinkClick r:id="rId2"/>
              </a:rPr>
              <a:t>https://www.hackerearth.com/practice/algorithms/sorting/selection-sort/tutorial/</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Content Placeholder 12"/>
          <p:cNvSpPr>
            <a:spLocks noGrp="1"/>
          </p:cNvSpPr>
          <p:nvPr>
            <p:ph idx="1"/>
          </p:nvPr>
        </p:nvSpPr>
        <p:spPr>
          <a:xfrm>
            <a:off x="6196262" y="1371600"/>
            <a:ext cx="5159125" cy="4489450"/>
          </a:xfrm>
        </p:spPr>
        <p:txBody>
          <a:bodyPr/>
          <a:lstStyle/>
          <a:p>
            <a:r>
              <a:rPr lang="en-US" dirty="0" smtClean="0"/>
              <a:t>.</a:t>
            </a:r>
            <a:endParaRPr lang="en-US"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5315" y="939216"/>
            <a:ext cx="5604211" cy="4342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73569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r>
              <a:rPr lang="en-US" dirty="0" smtClean="0">
                <a:latin typeface="Casper Bold"/>
              </a:rPr>
              <a:t> </a:t>
            </a:r>
            <a:r>
              <a:rPr lang="en-US" b="1" dirty="0" smtClean="0">
                <a:solidFill>
                  <a:prstClr val="black">
                    <a:lumMod val="85000"/>
                    <a:lumOff val="15000"/>
                  </a:prstClr>
                </a:solidFill>
                <a:latin typeface="Casper Bold"/>
                <a:cs typeface="Times New Roman" panose="02020603050405020304" pitchFamily="18" charset="0"/>
              </a:rPr>
              <a:t>Complexity</a:t>
            </a:r>
            <a:r>
              <a:rPr lang="en-US" b="1" dirty="0">
                <a:solidFill>
                  <a:prstClr val="black">
                    <a:lumMod val="85000"/>
                    <a:lumOff val="15000"/>
                  </a:prstClr>
                </a:solidFill>
                <a:latin typeface="Casper Bold"/>
                <a:cs typeface="Times New Roman" panose="02020603050405020304" pitchFamily="18" charset="0"/>
              </a:rPr>
              <a:t> of the </a:t>
            </a:r>
            <a:r>
              <a:rPr lang="en-US" b="1" dirty="0" smtClean="0">
                <a:solidFill>
                  <a:prstClr val="black">
                    <a:lumMod val="85000"/>
                    <a:lumOff val="15000"/>
                  </a:prstClr>
                </a:solidFill>
                <a:latin typeface="Casper Bold"/>
                <a:cs typeface="Times New Roman" panose="02020603050405020304" pitchFamily="18" charset="0"/>
              </a:rPr>
              <a:t>Selection</a:t>
            </a:r>
            <a:r>
              <a:rPr lang="en-US" b="1" dirty="0">
                <a:solidFill>
                  <a:prstClr val="black">
                    <a:lumMod val="85000"/>
                    <a:lumOff val="15000"/>
                  </a:prstClr>
                </a:solidFill>
                <a:latin typeface="Casper Bold"/>
                <a:cs typeface="Times New Roman" panose="02020603050405020304" pitchFamily="18" charset="0"/>
              </a:rPr>
              <a:t> sort algorithm</a:t>
            </a:r>
          </a:p>
        </p:txBody>
      </p:sp>
      <p:sp>
        <p:nvSpPr>
          <p:cNvPr id="3" name="Content Placeholder 2"/>
          <p:cNvSpPr>
            <a:spLocks noGrp="1"/>
          </p:cNvSpPr>
          <p:nvPr>
            <p:ph idx="1"/>
          </p:nvPr>
        </p:nvSpPr>
        <p:spPr/>
        <p:txBody>
          <a:bodyPr>
            <a:normAutofit/>
          </a:bodyPr>
          <a:lstStyle/>
          <a:p>
            <a:pPr>
              <a:spcBef>
                <a:spcPct val="50000"/>
              </a:spcBef>
            </a:pPr>
            <a:r>
              <a:rPr lang="en-US" sz="1600" dirty="0">
                <a:latin typeface="Casper" panose="02000506000000020004" pitchFamily="2" charset="0"/>
                <a:cs typeface="Arial" panose="020B0604020202020204" pitchFamily="34" charset="0"/>
              </a:rPr>
              <a:t>Number of comparisons in the selection sort algorithm is independent of the original order of the elements. N-1 comparisons required during pass1 to find the smallest element, n-2 in 2nd pass and so on.</a:t>
            </a:r>
          </a:p>
          <a:p>
            <a:pPr>
              <a:spcBef>
                <a:spcPct val="50000"/>
              </a:spcBef>
            </a:pPr>
            <a:r>
              <a:rPr lang="en-US" sz="1600" dirty="0">
                <a:latin typeface="Casper" panose="02000506000000020004" pitchFamily="2" charset="0"/>
                <a:cs typeface="Arial" panose="020B0604020202020204" pitchFamily="34" charset="0"/>
              </a:rPr>
              <a:t>f(n) =(n-1)+(n-2)+…..2+1= n(n-1)/2  = O(n2 )</a:t>
            </a:r>
          </a:p>
          <a:p>
            <a:pPr marL="0" indent="0">
              <a:buNone/>
            </a:pPr>
            <a:endParaRPr lang="en-US" sz="20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87511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defRPr/>
            </a:pPr>
            <a:r>
              <a:rPr lang="en-US" b="1" dirty="0">
                <a:latin typeface="Casper Bold"/>
              </a:rPr>
              <a:t>Applications</a:t>
            </a:r>
            <a:endParaRPr lang="en-US" dirty="0">
              <a:latin typeface="Casper Bold"/>
            </a:endParaRPr>
          </a:p>
        </p:txBody>
      </p:sp>
      <p:sp>
        <p:nvSpPr>
          <p:cNvPr id="3" name="Content Placeholder 2"/>
          <p:cNvSpPr>
            <a:spLocks noGrp="1"/>
          </p:cNvSpPr>
          <p:nvPr>
            <p:ph idx="1"/>
          </p:nvPr>
        </p:nvSpPr>
        <p:spPr/>
        <p:txBody>
          <a:bodyPr>
            <a:normAutofit/>
          </a:bodyPr>
          <a:lstStyle/>
          <a:p>
            <a:r>
              <a:rPr lang="en-US" sz="1600" dirty="0">
                <a:latin typeface="Casper" panose="02000506000000020004" pitchFamily="2" charset="0"/>
                <a:cs typeface="Arial" panose="020B0604020202020204" pitchFamily="34" charset="0"/>
              </a:rPr>
              <a:t>Searching </a:t>
            </a:r>
          </a:p>
          <a:p>
            <a:r>
              <a:rPr lang="en-US" sz="1600" dirty="0">
                <a:latin typeface="Casper" panose="02000506000000020004" pitchFamily="2" charset="0"/>
                <a:cs typeface="Arial" panose="020B0604020202020204" pitchFamily="34" charset="0"/>
              </a:rPr>
              <a:t>Closest </a:t>
            </a:r>
            <a:r>
              <a:rPr lang="en-US" sz="1600" dirty="0" smtClean="0">
                <a:latin typeface="Casper" panose="02000506000000020004" pitchFamily="2" charset="0"/>
                <a:cs typeface="Arial" panose="020B0604020202020204" pitchFamily="34" charset="0"/>
              </a:rPr>
              <a:t>pairs</a:t>
            </a:r>
            <a:endParaRPr lang="en-US" sz="1600" dirty="0">
              <a:latin typeface="Casper" panose="02000506000000020004" pitchFamily="2" charset="0"/>
              <a:cs typeface="Arial" panose="020B0604020202020204" pitchFamily="34" charset="0"/>
            </a:endParaRPr>
          </a:p>
          <a:p>
            <a:r>
              <a:rPr lang="en-US" sz="1600" dirty="0">
                <a:latin typeface="Casper" panose="02000506000000020004" pitchFamily="2" charset="0"/>
                <a:cs typeface="Arial" panose="020B0604020202020204" pitchFamily="34" charset="0"/>
              </a:rPr>
              <a:t>Element uniqueness</a:t>
            </a:r>
          </a:p>
          <a:p>
            <a:r>
              <a:rPr lang="en-US" sz="1600" dirty="0">
                <a:latin typeface="Casper" panose="02000506000000020004" pitchFamily="2" charset="0"/>
                <a:cs typeface="Arial" panose="020B0604020202020204" pitchFamily="34" charset="0"/>
              </a:rPr>
              <a:t>Frequency distribution</a:t>
            </a:r>
          </a:p>
          <a:p>
            <a:r>
              <a:rPr lang="en-US" sz="1600" dirty="0">
                <a:latin typeface="Casper" panose="02000506000000020004" pitchFamily="2" charset="0"/>
                <a:cs typeface="Arial" panose="020B0604020202020204" pitchFamily="34" charset="0"/>
              </a:rPr>
              <a:t>Selection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31380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smtClean="0">
                <a:solidFill>
                  <a:prstClr val="black">
                    <a:lumMod val="85000"/>
                    <a:lumOff val="15000"/>
                  </a:prstClr>
                </a:solidFill>
                <a:latin typeface="Casper Bold"/>
                <a:cs typeface="Times New Roman" panose="02020603050405020304" pitchFamily="18" charset="0"/>
              </a:rPr>
              <a:t>REFERENCES</a:t>
            </a:r>
            <a:r>
              <a:rPr lang="en-US" dirty="0" smtClean="0">
                <a:latin typeface="Casper Bold" panose="02000806040000020004" pitchFamily="2" charset="0"/>
                <a:cs typeface="Arial" panose="020B0604020202020204" pitchFamily="34" charset="0"/>
              </a:rPr>
              <a:t> </a:t>
            </a:r>
            <a:r>
              <a:rPr lang="en-US" sz="2800" dirty="0" smtClean="0">
                <a:latin typeface="Casper Bold" panose="02000806040000020004" pitchFamily="2" charset="0"/>
                <a:cs typeface="Arial" panose="020B0604020202020204" pitchFamily="34" charset="0"/>
              </a:rPr>
              <a:t> </a:t>
            </a:r>
            <a:r>
              <a:rPr lang="en-US" sz="2800" dirty="0" smtClean="0"/>
              <a:t>  </a:t>
            </a:r>
            <a:endParaRPr lang="en-US" dirty="0"/>
          </a:p>
        </p:txBody>
      </p:sp>
      <p:sp>
        <p:nvSpPr>
          <p:cNvPr id="3" name="Content Placeholder 2"/>
          <p:cNvSpPr>
            <a:spLocks noGrp="1"/>
          </p:cNvSpPr>
          <p:nvPr>
            <p:ph idx="1"/>
          </p:nvPr>
        </p:nvSpPr>
        <p:spPr/>
        <p:txBody>
          <a:bodyPr>
            <a:normAutofit/>
          </a:bodyPr>
          <a:lstStyle/>
          <a:p>
            <a:pPr marL="0" indent="0">
              <a:buNone/>
            </a:pPr>
            <a:endParaRPr lang="en-US" sz="1600" dirty="0" smtClean="0">
              <a:hlinkClick r:id="rId2"/>
            </a:endParaRPr>
          </a:p>
          <a:p>
            <a:pPr algn="just"/>
            <a:r>
              <a:rPr lang="en-US" sz="1600" dirty="0" err="1">
                <a:latin typeface="Casper" panose="02000506000000020004" pitchFamily="2" charset="0"/>
                <a:cs typeface="Arial" panose="020B0604020202020204" pitchFamily="34" charset="0"/>
              </a:rPr>
              <a:t>Lipschutz</a:t>
            </a:r>
            <a:r>
              <a:rPr lang="en-US" sz="1600" dirty="0">
                <a:latin typeface="Casper" panose="02000506000000020004" pitchFamily="2" charset="0"/>
                <a:cs typeface="Arial" panose="020B0604020202020204" pitchFamily="34" charset="0"/>
              </a:rPr>
              <a:t>, Seymour, “Data Structures”, </a:t>
            </a:r>
            <a:r>
              <a:rPr lang="en-US" sz="1600" dirty="0" err="1">
                <a:latin typeface="Casper" panose="02000506000000020004" pitchFamily="2" charset="0"/>
                <a:cs typeface="Arial" panose="020B0604020202020204" pitchFamily="34" charset="0"/>
              </a:rPr>
              <a:t>Schaum's</a:t>
            </a:r>
            <a:r>
              <a:rPr lang="en-US" sz="1600" dirty="0">
                <a:latin typeface="Casper" panose="02000506000000020004" pitchFamily="2" charset="0"/>
                <a:cs typeface="Arial" panose="020B0604020202020204" pitchFamily="34" charset="0"/>
              </a:rPr>
              <a:t> Outline Series, Tata McGraw Hill.</a:t>
            </a:r>
          </a:p>
          <a:p>
            <a:pPr algn="just"/>
            <a:r>
              <a:rPr lang="en-US" sz="1600" dirty="0">
                <a:latin typeface="Casper" panose="02000506000000020004" pitchFamily="2" charset="0"/>
                <a:cs typeface="Arial" panose="020B0604020202020204" pitchFamily="34" charset="0"/>
              </a:rPr>
              <a:t>Goodrich, Michael T., </a:t>
            </a:r>
            <a:r>
              <a:rPr lang="en-US" sz="1600" dirty="0" err="1">
                <a:latin typeface="Casper" panose="02000506000000020004" pitchFamily="2" charset="0"/>
                <a:cs typeface="Arial" panose="020B0604020202020204" pitchFamily="34" charset="0"/>
              </a:rPr>
              <a:t>Tamassia</a:t>
            </a:r>
            <a:r>
              <a:rPr lang="en-US" sz="1600" dirty="0">
                <a:latin typeface="Casper" panose="02000506000000020004" pitchFamily="2" charset="0"/>
                <a:cs typeface="Arial" panose="020B0604020202020204" pitchFamily="34" charset="0"/>
              </a:rPr>
              <a:t>, Roberto, and Mount, David M., “Data Structures and Algorithms in C++”, Wiley Student Edition.</a:t>
            </a:r>
          </a:p>
          <a:p>
            <a:pPr algn="just"/>
            <a:r>
              <a:rPr lang="en-US" sz="1600" dirty="0">
                <a:latin typeface="Casper" panose="02000506000000020004" pitchFamily="2" charset="0"/>
                <a:cs typeface="Arial" panose="020B0604020202020204" pitchFamily="34" charset="0"/>
              </a:rPr>
              <a:t>https://www.tutorialspoint.com/data_structures_algorithms/sorting_algorithms.htm</a:t>
            </a:r>
          </a:p>
          <a:p>
            <a:pPr algn="just"/>
            <a:r>
              <a:rPr lang="en-US" sz="1600" dirty="0">
                <a:latin typeface="Casper" panose="02000506000000020004" pitchFamily="2" charset="0"/>
                <a:cs typeface="Arial" panose="020B0604020202020204" pitchFamily="34" charset="0"/>
                <a:hlinkClick r:id="rId3"/>
              </a:rPr>
              <a:t>https://www.geeksforgeeks.org/sorting-algorithms</a:t>
            </a:r>
            <a:r>
              <a:rPr lang="en-US" sz="1600" dirty="0" smtClean="0">
                <a:latin typeface="Casper" panose="02000506000000020004" pitchFamily="2" charset="0"/>
                <a:cs typeface="Arial" panose="020B0604020202020204" pitchFamily="34" charset="0"/>
                <a:hlinkClick r:id="rId3"/>
              </a:rPr>
              <a:t>/</a:t>
            </a:r>
            <a:endParaRPr lang="en-US" sz="1600" dirty="0" smtClean="0">
              <a:latin typeface="Casper" panose="02000506000000020004" pitchFamily="2" charset="0"/>
              <a:cs typeface="Arial" panose="020B0604020202020204" pitchFamily="34" charset="0"/>
            </a:endParaRPr>
          </a:p>
          <a:p>
            <a:pPr lvl="0"/>
            <a:r>
              <a:rPr lang="en-US" sz="1600" dirty="0" err="1">
                <a:latin typeface="Casper" panose="02000506000000020004" pitchFamily="2" charset="0"/>
                <a:cs typeface="Arial" panose="020B0604020202020204" pitchFamily="34" charset="0"/>
              </a:rPr>
              <a:t>Lipschutz</a:t>
            </a:r>
            <a:r>
              <a:rPr lang="en-US" sz="1600" dirty="0">
                <a:latin typeface="Casper" panose="02000506000000020004" pitchFamily="2" charset="0"/>
                <a:cs typeface="Arial" panose="020B0604020202020204" pitchFamily="34" charset="0"/>
              </a:rPr>
              <a:t>, Seymour, “Data Structures”, </a:t>
            </a:r>
            <a:r>
              <a:rPr lang="en-US" sz="1600" dirty="0" err="1">
                <a:latin typeface="Casper" panose="02000506000000020004" pitchFamily="2" charset="0"/>
                <a:cs typeface="Arial" panose="020B0604020202020204" pitchFamily="34" charset="0"/>
              </a:rPr>
              <a:t>Schaum's</a:t>
            </a:r>
            <a:r>
              <a:rPr lang="en-US" sz="1600" dirty="0">
                <a:latin typeface="Casper" panose="02000506000000020004" pitchFamily="2" charset="0"/>
                <a:cs typeface="Arial" panose="020B0604020202020204" pitchFamily="34" charset="0"/>
              </a:rPr>
              <a:t> Outline Series, Tata McGraw Hill.</a:t>
            </a:r>
          </a:p>
          <a:p>
            <a:pPr lvl="0"/>
            <a:r>
              <a:rPr lang="en-US" sz="1600" dirty="0" err="1">
                <a:latin typeface="Casper" panose="02000506000000020004" pitchFamily="2" charset="0"/>
                <a:cs typeface="Arial" panose="020B0604020202020204" pitchFamily="34" charset="0"/>
              </a:rPr>
              <a:t>Gilberg</a:t>
            </a:r>
            <a:r>
              <a:rPr lang="en-US" sz="1600" dirty="0">
                <a:latin typeface="Casper" panose="02000506000000020004" pitchFamily="2" charset="0"/>
                <a:cs typeface="Arial" panose="020B0604020202020204" pitchFamily="34" charset="0"/>
              </a:rPr>
              <a:t>/</a:t>
            </a:r>
            <a:r>
              <a:rPr lang="en-US" sz="1600" dirty="0" err="1">
                <a:latin typeface="Casper" panose="02000506000000020004" pitchFamily="2" charset="0"/>
                <a:cs typeface="Arial" panose="020B0604020202020204" pitchFamily="34" charset="0"/>
              </a:rPr>
              <a:t>Forouzan</a:t>
            </a:r>
            <a:r>
              <a:rPr lang="en-US" sz="1600" dirty="0">
                <a:latin typeface="Casper" panose="02000506000000020004" pitchFamily="2" charset="0"/>
                <a:cs typeface="Arial" panose="020B0604020202020204" pitchFamily="34" charset="0"/>
              </a:rPr>
              <a:t>,” Data Structure with C ,</a:t>
            </a:r>
            <a:r>
              <a:rPr lang="en-US" sz="1600" dirty="0" err="1">
                <a:latin typeface="Casper" panose="02000506000000020004" pitchFamily="2" charset="0"/>
                <a:cs typeface="Arial" panose="020B0604020202020204" pitchFamily="34" charset="0"/>
              </a:rPr>
              <a:t>Cengage</a:t>
            </a:r>
            <a:r>
              <a:rPr lang="en-US" sz="1600" dirty="0">
                <a:latin typeface="Casper" panose="02000506000000020004" pitchFamily="2" charset="0"/>
                <a:cs typeface="Arial" panose="020B0604020202020204" pitchFamily="34" charset="0"/>
              </a:rPr>
              <a:t> Learning.</a:t>
            </a:r>
          </a:p>
          <a:p>
            <a:pPr lvl="0"/>
            <a:r>
              <a:rPr lang="en-US" sz="1600" dirty="0" err="1">
                <a:latin typeface="Casper" panose="02000506000000020004" pitchFamily="2" charset="0"/>
                <a:cs typeface="Arial" panose="020B0604020202020204" pitchFamily="34" charset="0"/>
              </a:rPr>
              <a:t>Augenstein,Moshe</a:t>
            </a:r>
            <a:r>
              <a:rPr lang="en-US" sz="1600" dirty="0">
                <a:latin typeface="Casper" panose="02000506000000020004" pitchFamily="2" charset="0"/>
                <a:cs typeface="Arial" panose="020B0604020202020204" pitchFamily="34" charset="0"/>
              </a:rPr>
              <a:t> J , </a:t>
            </a:r>
            <a:r>
              <a:rPr lang="en-US" sz="1600" dirty="0" err="1">
                <a:latin typeface="Casper" panose="02000506000000020004" pitchFamily="2" charset="0"/>
                <a:cs typeface="Arial" panose="020B0604020202020204" pitchFamily="34" charset="0"/>
              </a:rPr>
              <a:t>Tanenbaum</a:t>
            </a:r>
            <a:r>
              <a:rPr lang="en-US" sz="1600" dirty="0">
                <a:latin typeface="Casper" panose="02000506000000020004" pitchFamily="2" charset="0"/>
                <a:cs typeface="Arial" panose="020B0604020202020204" pitchFamily="34" charset="0"/>
              </a:rPr>
              <a:t>, Aaron  M, “Data Structures using C and C++”, Prentice Hall of India.</a:t>
            </a:r>
          </a:p>
          <a:p>
            <a:pPr marL="0" indent="0" algn="just">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211307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8"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2123</TotalTime>
  <Words>884</Words>
  <Application>Microsoft Office PowerPoint</Application>
  <PresentationFormat>Widescreen</PresentationFormat>
  <Paragraphs>116</Paragraphs>
  <Slides>15</Slides>
  <Notes>5</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30" baseType="lpstr">
      <vt:lpstr>Arial</vt:lpstr>
      <vt:lpstr>Arial Black</vt:lpstr>
      <vt:lpstr>Arial Unicode MS</vt:lpstr>
      <vt:lpstr>Calibri</vt:lpstr>
      <vt:lpstr>Calibri Light</vt:lpstr>
      <vt:lpstr>Cambria</vt:lpstr>
      <vt:lpstr>Casper</vt:lpstr>
      <vt:lpstr>Casper Bold</vt:lpstr>
      <vt:lpstr>Karla</vt:lpstr>
      <vt:lpstr>Raleway ExtraBold</vt:lpstr>
      <vt:lpstr>Segoe UI</vt:lpstr>
      <vt:lpstr>Times New Roman</vt:lpstr>
      <vt:lpstr>1_Office Theme</vt:lpstr>
      <vt:lpstr>Contents Slide Master</vt:lpstr>
      <vt:lpstr>CorelDRAW</vt:lpstr>
      <vt:lpstr>PowerPoint Presentation</vt:lpstr>
      <vt:lpstr>Elementary Data Structure Using C++</vt:lpstr>
      <vt:lpstr>PowerPoint Presentation</vt:lpstr>
      <vt:lpstr> Scheme of Evaluation  </vt:lpstr>
      <vt:lpstr>Sorting – Bubble sort </vt:lpstr>
      <vt:lpstr>Repeat “Bubble Up” How Many Times?</vt:lpstr>
      <vt:lpstr>Complexity of the bubble sort algorithm</vt:lpstr>
      <vt:lpstr>Algorithm for Insertion Sort</vt:lpstr>
      <vt:lpstr> Complexity Analysis of the Insertion sort Algorithm</vt:lpstr>
      <vt:lpstr>Algorithm for Selection Sort</vt:lpstr>
      <vt:lpstr>Example Selection Sort</vt:lpstr>
      <vt:lpstr> Complexity of the Selection sort algorithm</vt:lpstr>
      <vt:lpstr>Applications</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241</cp:revision>
  <dcterms:created xsi:type="dcterms:W3CDTF">2019-01-09T10:33:58Z</dcterms:created>
  <dcterms:modified xsi:type="dcterms:W3CDTF">2024-01-10T10:31:15Z</dcterms:modified>
</cp:coreProperties>
</file>