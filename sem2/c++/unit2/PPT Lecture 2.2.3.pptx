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4"/>
  </p:notesMasterIdLst>
  <p:handoutMasterIdLst>
    <p:handoutMasterId r:id="rId15"/>
  </p:handoutMasterIdLst>
  <p:sldIdLst>
    <p:sldId id="354" r:id="rId3"/>
    <p:sldId id="376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53" r:id="rId13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B7B0"/>
    <a:srgbClr val="4BDAE5"/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434" autoAdjust="0"/>
  </p:normalViewPr>
  <p:slideViewPr>
    <p:cSldViewPr snapToGrid="0">
      <p:cViewPr varScale="1">
        <p:scale>
          <a:sx n="73" d="100"/>
          <a:sy n="73" d="100"/>
        </p:scale>
        <p:origin x="474" y="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3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107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670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42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89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608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4582A66D-C0F3-434F-B929-A1EB35F7650A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199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7108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67C5ABF4-BA1E-46C2-8C7C-21385B58989A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4531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8132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0CF2EB6A-63B1-4AA7-8B1F-EBD255E94B6F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7991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9156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28D82BC9-1DED-42CE-9D02-2C7249B1B7BD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0360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5369340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236408" y="592201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240610" y="5988169"/>
            <a:ext cx="6432043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2-D Array</a:t>
            </a: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29CE43-2B94-49D3-9948-A297B0FB5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391" y="1476983"/>
            <a:ext cx="9884238" cy="332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- 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DEPARTMENT- ACADEMIC </a:t>
            </a:r>
            <a:r>
              <a:rPr lang="en-US" sz="32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UNITS</a:t>
            </a:r>
            <a:endParaRPr lang="en-US" sz="32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</a:t>
            </a: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Elementary 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Structure Using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C++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Code:23CSH-103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				</a:t>
            </a: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98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D4AFE-B27C-4A9A-A9F5-7F62354B0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0"/>
            <a:ext cx="4277328" cy="164592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+mn-lt"/>
              </a:rPr>
              <a:t>Elementary</a:t>
            </a:r>
            <a:r>
              <a:rPr lang="en-IN" b="1" dirty="0" smtClean="0">
                <a:latin typeface="+mn-lt"/>
              </a:rPr>
              <a:t> </a:t>
            </a:r>
            <a:r>
              <a:rPr lang="en-IN" b="1" dirty="0">
                <a:latin typeface="+mn-lt"/>
              </a:rPr>
              <a:t>Data Structure Using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B5602-926A-470D-BC2B-78EBF425F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IN" b="1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BF1DB-555C-464C-9D63-BB68417BD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0075" y="2136775"/>
            <a:ext cx="3683602" cy="333376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Course Objectives</a:t>
            </a:r>
          </a:p>
          <a:p>
            <a:endParaRPr lang="en-US" b="1" i="1" u="sng" dirty="0"/>
          </a:p>
          <a:p>
            <a:endParaRPr lang="en-US" b="1" i="1" u="sn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7145E-8450-434E-A8F0-1114075F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45ED97-A37D-4BD5-9BB8-9A010CD2A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329" y="3901327"/>
            <a:ext cx="2581941" cy="2520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C0D224-3882-4701-BE24-7AC23C1C37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481100"/>
            <a:ext cx="5812823" cy="3390813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48648" y="2630329"/>
          <a:ext cx="5459821" cy="37834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59821">
                  <a:extLst>
                    <a:ext uri="{9D8B030D-6E8A-4147-A177-3AD203B41FA5}">
                      <a16:colId xmlns:a16="http://schemas.microsoft.com/office/drawing/2014/main" val="98381966"/>
                    </a:ext>
                  </a:extLst>
                </a:gridCol>
              </a:tblGrid>
              <a:tr h="530408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To enable the students to understand various stages and constructs of C++ programming language. 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720509"/>
                  </a:ext>
                </a:extLst>
              </a:tr>
              <a:tr h="530408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To improve their ability to analyze and address variety of problems in C++.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109202"/>
                  </a:ext>
                </a:extLst>
              </a:tr>
              <a:tr h="530408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To understand the concept of data structures and various operations on them.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538032"/>
                  </a:ext>
                </a:extLst>
              </a:tr>
              <a:tr h="961675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97000"/>
                        </a:lnSpc>
                        <a:spcBef>
                          <a:spcPts val="42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To understand the properties of various data structures and able to identify the strengths and weaknesses of different data structures.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193080"/>
                  </a:ext>
                </a:extLst>
              </a:tr>
              <a:tr h="1060817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To analyze and compare the efficiency of algorithms and learn to design efficient algorithms for solving computing problems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423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124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3583" y="1144447"/>
            <a:ext cx="3755334" cy="4728357"/>
          </a:xfrm>
        </p:spPr>
        <p:txBody>
          <a:bodyPr>
            <a:normAutofit/>
          </a:bodyPr>
          <a:lstStyle/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8297137" y="1566862"/>
            <a:ext cx="3364639" cy="41214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517353"/>
              </p:ext>
            </p:extLst>
          </p:nvPr>
        </p:nvGraphicFramePr>
        <p:xfrm>
          <a:off x="374073" y="1801092"/>
          <a:ext cx="7532369" cy="43266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92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983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 Number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Course</a:t>
                      </a:r>
                      <a:r>
                        <a:rPr lang="en-US" sz="1800" b="1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Outcome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53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Understand the concepts of object-oriented programming including programming process and compilation process.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51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Apply different techniques to decompose a problem and programmed a solution with various concepts of object-oriented programming language.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16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Analyse and explain the behaviour of linear data structure operations using the programming addressed in the course.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42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Implement and evaluate the programs using the syntax and semantics of object-oriented programming.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924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Design the solution of real-world problems in order to determine that the program performs as expected.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88836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6270" y="1144447"/>
            <a:ext cx="2635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Course Outcomes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52861" y="2024947"/>
            <a:ext cx="3183156" cy="340760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60776" y="1701556"/>
            <a:ext cx="895189" cy="916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FBA091-1FD7-4CFB-ACD7-85BE3251E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77" y="109537"/>
            <a:ext cx="26860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94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9376" y="346479"/>
            <a:ext cx="7685314" cy="11473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sz="4900" b="1" dirty="0">
                <a:solidFill>
                  <a:srgbClr val="FF0000"/>
                </a:solidFill>
                <a:latin typeface="+mn-lt"/>
              </a:rPr>
              <a:t>Scheme of Evaluation 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1728" y="261543"/>
            <a:ext cx="10515600" cy="123229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82040" y="178927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05" y="1578775"/>
            <a:ext cx="1051560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62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30213" y="1730375"/>
            <a:ext cx="3162073" cy="2286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Arial Rounded MT Bold" panose="020F0704030504030204" pitchFamily="34" charset="0"/>
              </a:rPr>
              <a:t> 2-Dimensional Array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292600" y="326571"/>
            <a:ext cx="7694613" cy="2508070"/>
          </a:xfrm>
        </p:spPr>
        <p:txBody>
          <a:bodyPr>
            <a:normAutofit fontScale="62500" lnSpcReduction="20000"/>
          </a:bodyPr>
          <a:lstStyle/>
          <a:p>
            <a:pPr algn="just">
              <a:defRPr/>
            </a:pPr>
            <a:r>
              <a:rPr lang="en-US" dirty="0"/>
              <a:t>A two-dimensional array is an array where its elements are selected (identified) using two indices. In 2-D array, to declare and access elements of a 2-D array we use 2 subscripts instead of 1.</a:t>
            </a:r>
          </a:p>
          <a:p>
            <a:pPr>
              <a:defRPr/>
            </a:pPr>
            <a:r>
              <a:rPr lang="en-US" b="1" dirty="0"/>
              <a:t>Syntax: </a:t>
            </a:r>
            <a:r>
              <a:rPr lang="en-US" dirty="0"/>
              <a:t> data_type array_name[ROW][COL];</a:t>
            </a:r>
          </a:p>
          <a:p>
            <a:pPr>
              <a:defRPr/>
            </a:pPr>
            <a:r>
              <a:rPr lang="en-US" dirty="0"/>
              <a:t> The total number of elements in a 2-D array is ROW*COL. </a:t>
            </a:r>
          </a:p>
          <a:p>
            <a:pPr>
              <a:defRPr/>
            </a:pPr>
            <a:r>
              <a:rPr lang="en-US" dirty="0"/>
              <a:t> </a:t>
            </a:r>
            <a:r>
              <a:rPr lang="en-US" b="1" dirty="0"/>
              <a:t>Example:</a:t>
            </a:r>
            <a:r>
              <a:rPr lang="en-US" dirty="0"/>
              <a:t> int a[m][n];</a:t>
            </a:r>
          </a:p>
          <a:p>
            <a:pPr>
              <a:defRPr/>
            </a:pPr>
            <a:r>
              <a:rPr lang="en-US" dirty="0"/>
              <a:t>In rectangular 2-dimensional arrays, m number of rows and n number of columns in the array has the same number of array elements. </a:t>
            </a:r>
          </a:p>
          <a:p>
            <a:pPr marL="0" indent="0">
              <a:buNone/>
              <a:defRPr/>
            </a:pPr>
            <a:endParaRPr lang="en-US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  <a:p>
            <a:pPr marL="0" indent="0" eaLnBrk="1" hangingPunct="1">
              <a:buClr>
                <a:srgbClr val="1C1C1C"/>
              </a:buClr>
              <a:buFont typeface="Calibri" panose="020F0502020204030204" pitchFamily="34" charset="0"/>
              <a:buNone/>
              <a:defRPr/>
            </a:pPr>
            <a:endParaRPr lang="en-US" dirty="0"/>
          </a:p>
        </p:txBody>
      </p:sp>
      <p:pic>
        <p:nvPicPr>
          <p:cNvPr id="27652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-5080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6" descr="2-dim0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2984500"/>
            <a:ext cx="5924550" cy="307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5" name="Rectangle 8"/>
          <p:cNvSpPr>
            <a:spLocks noChangeArrowheads="1"/>
          </p:cNvSpPr>
          <p:nvPr/>
        </p:nvSpPr>
        <p:spPr bwMode="auto">
          <a:xfrm>
            <a:off x="5546725" y="6092825"/>
            <a:ext cx="4757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Arial" pitchFamily="34" charset="0"/>
              </a:rPr>
              <a:t> A conceptual representation of 2D array</a:t>
            </a:r>
            <a:endParaRPr lang="en-US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807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392613" y="379413"/>
            <a:ext cx="7283450" cy="58308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4562475" y="598488"/>
            <a:ext cx="7013575" cy="5508625"/>
          </a:xfrm>
        </p:spPr>
        <p:txBody>
          <a:bodyPr/>
          <a:lstStyle/>
          <a:p>
            <a:r>
              <a:rPr lang="en-US" altLang="en-US" b="1" u="sng" smtClean="0"/>
              <a:t>Initialization of two-dimensional array</a:t>
            </a:r>
            <a:r>
              <a:rPr lang="en-US" altLang="en-US" smtClean="0"/>
              <a:t>: Initialization of 2-D array is similar to a 1-D array. </a:t>
            </a:r>
          </a:p>
          <a:p>
            <a:r>
              <a:rPr lang="en-US" altLang="en-US" b="1" smtClean="0"/>
              <a:t>Example:</a:t>
            </a:r>
            <a:endParaRPr lang="en-US" altLang="en-US" smtClean="0"/>
          </a:p>
        </p:txBody>
      </p:sp>
      <p:sp>
        <p:nvSpPr>
          <p:cNvPr id="28676" name="Text Placeholder 3"/>
          <p:cNvSpPr>
            <a:spLocks noGrp="1"/>
          </p:cNvSpPr>
          <p:nvPr>
            <p:ph type="body" sz="half" idx="2"/>
          </p:nvPr>
        </p:nvSpPr>
        <p:spPr>
          <a:xfrm>
            <a:off x="227013" y="2355850"/>
            <a:ext cx="3508375" cy="3378200"/>
          </a:xfrm>
        </p:spPr>
        <p:txBody>
          <a:bodyPr/>
          <a:lstStyle/>
          <a:p>
            <a:pPr algn="ctr" eaLnBrk="1" hangingPunct="1"/>
            <a:r>
              <a:rPr lang="en-US" altLang="en-US" sz="4000" smtClean="0">
                <a:latin typeface="Arial Rounded MT Bold" pitchFamily="34" charset="0"/>
              </a:rPr>
              <a:t>Initialization 2-D Array</a:t>
            </a:r>
          </a:p>
          <a:p>
            <a:pPr eaLnBrk="1" hangingPunct="1"/>
            <a:endParaRPr lang="en-IN" altLang="en-US" sz="2800" smtClean="0">
              <a:latin typeface="Arial Rounded MT Bold" pitchFamily="34" charset="0"/>
            </a:endParaRPr>
          </a:p>
        </p:txBody>
      </p:sp>
      <p:pic>
        <p:nvPicPr>
          <p:cNvPr id="28677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Picture 8" descr="2-d-array-notation-150459368248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900" y="1381125"/>
            <a:ext cx="3798888" cy="293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4718050" y="4127500"/>
            <a:ext cx="5237163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  <a:defRPr sz="2000">
                <a:solidFill>
                  <a:srgbClr val="404040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800">
                <a:solidFill>
                  <a:srgbClr val="404040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rgbClr val="404040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itchFamily="34" charset="0"/>
              </a:rPr>
              <a:t>After this initialization, each element is as follows: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itchFamily="34" charset="0"/>
              </a:rPr>
              <a:t>temp[0][0] : 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itchFamily="34" charset="0"/>
              </a:rPr>
              <a:t>temp[0][1] : 2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itchFamily="34" charset="0"/>
              </a:rPr>
              <a:t>temp[0][2] : 3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itchFamily="34" charset="0"/>
              </a:rPr>
              <a:t>temp[1][0] : 11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itchFamily="34" charset="0"/>
              </a:rPr>
              <a:t>temp[1][1] : 22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itchFamily="34" charset="0"/>
              </a:rPr>
              <a:t>temp[1][2] : 33</a:t>
            </a:r>
          </a:p>
        </p:txBody>
      </p:sp>
    </p:spTree>
    <p:extLst>
      <p:ext uri="{BB962C8B-B14F-4D97-AF65-F5344CB8AC3E}">
        <p14:creationId xmlns:p14="http://schemas.microsoft.com/office/powerpoint/2010/main" val="33223400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55813"/>
            <a:ext cx="3994150" cy="2286000"/>
          </a:xfrm>
        </p:spPr>
        <p:txBody>
          <a:bodyPr/>
          <a:lstStyle/>
          <a:p>
            <a:pPr algn="ctr">
              <a:defRPr/>
            </a:pPr>
            <a:r>
              <a:rPr lang="en-US" sz="4000" dirty="0">
                <a:latin typeface="Arial Rounded MT Bold" pitchFamily="34" charset="0"/>
              </a:rPr>
              <a:t>Memory Representation 2-D Array</a:t>
            </a:r>
            <a:r>
              <a:rPr lang="en-US" dirty="0">
                <a:latin typeface="Arial Rounded MT Bold" pitchFamily="34" charset="0"/>
              </a:rPr>
              <a:t/>
            </a:r>
            <a:br>
              <a:rPr lang="en-US" dirty="0">
                <a:latin typeface="Arial Rounded MT Bold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813" y="42863"/>
            <a:ext cx="8104187" cy="685800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The compiler will allocate the memory for two dimensional array </a:t>
            </a:r>
            <a:r>
              <a:rPr lang="en-US" b="1" dirty="0"/>
              <a:t>row-wise</a:t>
            </a:r>
            <a:r>
              <a:rPr lang="en-US" dirty="0"/>
              <a:t> meaning the first element of the second row will be placed after the last element of the first row.</a:t>
            </a:r>
          </a:p>
        </p:txBody>
      </p:sp>
      <p:pic>
        <p:nvPicPr>
          <p:cNvPr id="29700" name="Picture 2" descr="https://dyclassroom.com/image/topic/c/pointers-2d-array/row-wis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856" y="2865710"/>
            <a:ext cx="7648575" cy="3234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4298949" y="2797832"/>
            <a:ext cx="7672387" cy="2905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298949" y="5936841"/>
            <a:ext cx="7713662" cy="1635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838" y="1403350"/>
            <a:ext cx="3200400" cy="2286000"/>
          </a:xfrm>
        </p:spPr>
        <p:txBody>
          <a:bodyPr/>
          <a:lstStyle/>
          <a:p>
            <a:pPr algn="ctr">
              <a:defRPr/>
            </a:pPr>
            <a:r>
              <a:rPr lang="en-US" dirty="0">
                <a:latin typeface="Arial Rounded MT Bold" pitchFamily="34" charset="0"/>
              </a:rPr>
              <a:t>Memory Representation 2-D Array</a:t>
            </a:r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4110038" y="104695"/>
            <a:ext cx="8081962" cy="7632859"/>
          </a:xfrm>
          <a:solidFill>
            <a:schemeClr val="accent1">
              <a:lumMod val="20000"/>
              <a:lumOff val="80000"/>
            </a:schemeClr>
          </a:solidFill>
        </p:spPr>
        <p:txBody>
          <a:bodyPr lIns="91440" rIns="9144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 smtClean="0">
                <a:solidFill>
                  <a:srgbClr val="333333"/>
                </a:solidFill>
                <a:latin typeface="Roboto"/>
                <a:ea typeface="Arial Unicode MS" pitchFamily="34" charset="-128"/>
                <a:cs typeface="Arial Unicode MS" pitchFamily="34" charset="-128"/>
              </a:rPr>
              <a:t>And </a:t>
            </a:r>
            <a:r>
              <a:rPr lang="en-US" dirty="0">
                <a:solidFill>
                  <a:srgbClr val="333333"/>
                </a:solidFill>
                <a:latin typeface="Roboto"/>
                <a:ea typeface="Arial Unicode MS" pitchFamily="34" charset="-128"/>
                <a:cs typeface="Arial Unicode MS" pitchFamily="34" charset="-128"/>
              </a:rPr>
              <a:t>if we assume that the first element of the array is at address 1000 and the size of type</a:t>
            </a:r>
            <a:r>
              <a:rPr lang="en-US" dirty="0">
                <a:solidFill>
                  <a:srgbClr val="333333"/>
                </a:solidFill>
                <a:latin typeface="Arial"/>
                <a:ea typeface="Arial Unicode MS" pitchFamily="34" charset="-128"/>
                <a:cs typeface="Arial Unicode MS" pitchFamily="34" charset="-128"/>
              </a:rPr>
              <a:t> </a:t>
            </a:r>
            <a:r>
              <a:rPr lang="en-US" dirty="0">
                <a:solidFill>
                  <a:srgbClr val="C7254E"/>
                </a:solidFill>
                <a:latin typeface="Menlo"/>
                <a:ea typeface="Arial Unicode MS" pitchFamily="34" charset="-128"/>
                <a:cs typeface="Arial Unicode MS" pitchFamily="34" charset="-128"/>
              </a:rPr>
              <a:t>int</a:t>
            </a:r>
            <a:r>
              <a:rPr lang="en-US" dirty="0">
                <a:solidFill>
                  <a:srgbClr val="333333"/>
                </a:solidFill>
                <a:latin typeface="Arial"/>
                <a:ea typeface="Arial Unicode MS" pitchFamily="34" charset="-128"/>
                <a:cs typeface="Arial Unicode MS" pitchFamily="34" charset="-128"/>
              </a:rPr>
              <a:t> </a:t>
            </a:r>
            <a:r>
              <a:rPr lang="en-US" dirty="0">
                <a:solidFill>
                  <a:srgbClr val="333333"/>
                </a:solidFill>
                <a:latin typeface="Roboto"/>
                <a:ea typeface="Arial Unicode MS" pitchFamily="34" charset="-128"/>
                <a:cs typeface="Arial Unicode MS" pitchFamily="34" charset="-128"/>
              </a:rPr>
              <a:t>is 2 bytes then the elements of the array will get the following allocated memory locations</a:t>
            </a:r>
            <a:r>
              <a:rPr lang="en-US" dirty="0" smtClean="0">
                <a:solidFill>
                  <a:srgbClr val="333333"/>
                </a:solidFill>
                <a:latin typeface="Roboto"/>
                <a:ea typeface="Arial Unicode MS" pitchFamily="34" charset="-128"/>
                <a:cs typeface="Arial Unicode MS" pitchFamily="34" charset="-128"/>
              </a:rPr>
              <a:t>.</a:t>
            </a: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500" dirty="0">
              <a:solidFill>
                <a:srgbClr val="333333"/>
              </a:solidFill>
              <a:latin typeface="Roboto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900" dirty="0">
              <a:solidFill>
                <a:schemeClr val="tx1"/>
              </a:solidFill>
              <a:latin typeface="Arial" pitchFamily="34" charset="0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t/>
            </a:r>
            <a:br>
              <a:rPr lang="en-US" sz="1800" dirty="0"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</a:br>
            <a:endParaRPr lang="en-US" sz="1800" dirty="0">
              <a:solidFill>
                <a:schemeClr val="tx1"/>
              </a:solidFill>
              <a:latin typeface="Arial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864850" y="3432175"/>
            <a:ext cx="1327150" cy="977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30726" name="Picture 4" descr="https://dyclassroom.com/image/topic/c/pointers-2d-array/row-wise-add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158" y="2828789"/>
            <a:ext cx="7858125" cy="347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0656888" y="2760595"/>
            <a:ext cx="1535112" cy="3698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1030358" y="5932351"/>
            <a:ext cx="1177925" cy="369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895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41800" y="0"/>
            <a:ext cx="7713663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7675" y="136525"/>
            <a:ext cx="5033963" cy="6672263"/>
          </a:xfrm>
        </p:spPr>
        <p:txBody>
          <a:bodyPr rtlCol="0">
            <a:normAutofit fontScale="25000" lnSpcReduction="20000"/>
          </a:bodyPr>
          <a:lstStyle/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b="1" dirty="0">
                <a:solidFill>
                  <a:schemeClr val="tx1"/>
                </a:solidFill>
              </a:rPr>
              <a:t>1. Program to store the elements from the user and store them in an 2D array.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#include&lt;</a:t>
            </a:r>
            <a:r>
              <a:rPr lang="en-US" sz="8000" dirty="0" err="1"/>
              <a:t>stdio.h</a:t>
            </a:r>
            <a:r>
              <a:rPr lang="en-US" sz="8000" dirty="0"/>
              <a:t>&gt; 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int main()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{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int </a:t>
            </a:r>
            <a:r>
              <a:rPr lang="en-US" sz="8000" dirty="0" err="1"/>
              <a:t>disp</a:t>
            </a:r>
            <a:r>
              <a:rPr lang="en-US" sz="8000" dirty="0"/>
              <a:t>[2][3], </a:t>
            </a:r>
            <a:r>
              <a:rPr lang="en-US" sz="8000" dirty="0" err="1"/>
              <a:t>i</a:t>
            </a:r>
            <a:r>
              <a:rPr lang="en-US" sz="8000" dirty="0"/>
              <a:t>, j;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 for(</a:t>
            </a:r>
            <a:r>
              <a:rPr lang="en-US" sz="8000" dirty="0" err="1"/>
              <a:t>i</a:t>
            </a:r>
            <a:r>
              <a:rPr lang="en-US" sz="8000" dirty="0"/>
              <a:t>=0; </a:t>
            </a:r>
            <a:r>
              <a:rPr lang="en-US" sz="8000" dirty="0" err="1"/>
              <a:t>i</a:t>
            </a:r>
            <a:r>
              <a:rPr lang="en-US" sz="8000" dirty="0"/>
              <a:t>&lt;2; </a:t>
            </a:r>
            <a:r>
              <a:rPr lang="en-US" sz="8000" dirty="0" err="1"/>
              <a:t>i</a:t>
            </a:r>
            <a:r>
              <a:rPr lang="en-US" sz="8000" dirty="0"/>
              <a:t>++) 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{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 for(j=0;j&lt;3;j++)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 { 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 err="1"/>
              <a:t>printf</a:t>
            </a:r>
            <a:r>
              <a:rPr lang="en-US" sz="8000" dirty="0"/>
              <a:t>("Enter value for </a:t>
            </a:r>
            <a:r>
              <a:rPr lang="en-US" sz="8000" dirty="0" err="1"/>
              <a:t>disp</a:t>
            </a:r>
            <a:r>
              <a:rPr lang="en-US" sz="8000" dirty="0"/>
              <a:t>[%d][%d]:", </a:t>
            </a:r>
            <a:r>
              <a:rPr lang="en-US" sz="8000" dirty="0" err="1"/>
              <a:t>i</a:t>
            </a:r>
            <a:r>
              <a:rPr lang="en-US" sz="8000" dirty="0"/>
              <a:t>, j);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 </a:t>
            </a:r>
            <a:r>
              <a:rPr lang="en-US" sz="8000" dirty="0" err="1"/>
              <a:t>scanf</a:t>
            </a:r>
            <a:r>
              <a:rPr lang="en-US" sz="8000" dirty="0"/>
              <a:t>("%d", &amp;</a:t>
            </a:r>
            <a:r>
              <a:rPr lang="en-US" sz="8000" dirty="0" err="1"/>
              <a:t>disp</a:t>
            </a:r>
            <a:r>
              <a:rPr lang="en-US" sz="8000" dirty="0"/>
              <a:t>[</a:t>
            </a:r>
            <a:r>
              <a:rPr lang="en-US" sz="8000" dirty="0" err="1"/>
              <a:t>i</a:t>
            </a:r>
            <a:r>
              <a:rPr lang="en-US" sz="8000" dirty="0"/>
              <a:t>][j]); 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}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 } 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 </a:t>
            </a:r>
            <a:r>
              <a:rPr lang="en-US" sz="8000" dirty="0" err="1"/>
              <a:t>printf</a:t>
            </a:r>
            <a:r>
              <a:rPr lang="en-US" sz="8000" dirty="0"/>
              <a:t>("Two Dimensional array elements:\n");</a:t>
            </a:r>
          </a:p>
          <a:p>
            <a:pPr marL="91440" indent="-9144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8000" dirty="0"/>
              <a:t> </a:t>
            </a:r>
            <a:endParaRPr lang="en-US" sz="56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  <a:p>
            <a:pPr marL="0" indent="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5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                       </a:t>
            </a:r>
            <a:r>
              <a:rPr lang="en-US" sz="5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 </a:t>
            </a:r>
          </a:p>
          <a:p>
            <a:pPr marL="0" indent="0" eaLnBrk="1" fontAlgn="auto" hangingPunct="1">
              <a:buFont typeface="Calibri" panose="020F0502020204030204" pitchFamily="34" charset="0"/>
              <a:buNone/>
              <a:defRPr/>
            </a:pPr>
            <a:endParaRPr lang="en-US" sz="56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  <a:p>
            <a:pPr marL="0" indent="0" eaLnBrk="1" fontAlgn="auto" hangingPunct="1">
              <a:buFont typeface="Calibri" panose="020F0502020204030204" pitchFamily="34" charset="0"/>
              <a:buNone/>
              <a:defRPr/>
            </a:pPr>
            <a:endParaRPr lang="en-US" sz="56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  <a:p>
            <a:pPr marL="0" indent="0" eaLnBrk="1" fontAlgn="auto" hangingPunct="1">
              <a:buFont typeface="Calibri" panose="020F0502020204030204" pitchFamily="34" charset="0"/>
              <a:buNone/>
              <a:defRPr/>
            </a:pPr>
            <a:endParaRPr lang="en-US" sz="56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  <a:p>
            <a:pPr marL="0" indent="0" eaLnBrk="1" fontAlgn="auto" hangingPunct="1">
              <a:buFont typeface="Calibri" panose="020F0502020204030204" pitchFamily="34" charset="0"/>
              <a:buNone/>
              <a:defRPr/>
            </a:pPr>
            <a:endParaRPr lang="en-US" sz="56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  <a:p>
            <a:pPr marL="0" indent="0" eaLnBrk="1" fontAlgn="auto" hangingPunct="1">
              <a:buFont typeface="Calibri" panose="020F0502020204030204" pitchFamily="34" charset="0"/>
              <a:buNone/>
              <a:defRPr/>
            </a:pPr>
            <a:r>
              <a:rPr lang="en-US" sz="5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  </a:t>
            </a:r>
            <a:endParaRPr lang="en-IN" sz="56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1748" name="Text Placeholder 3"/>
          <p:cNvSpPr>
            <a:spLocks noGrp="1"/>
          </p:cNvSpPr>
          <p:nvPr>
            <p:ph type="body" sz="half" idx="2"/>
          </p:nvPr>
        </p:nvSpPr>
        <p:spPr>
          <a:xfrm>
            <a:off x="203200" y="1808163"/>
            <a:ext cx="3713163" cy="3379787"/>
          </a:xfrm>
        </p:spPr>
        <p:txBody>
          <a:bodyPr/>
          <a:lstStyle/>
          <a:p>
            <a:pPr algn="ctr" eaLnBrk="1" hangingPunct="1"/>
            <a:r>
              <a:rPr lang="en-US" altLang="en-US" sz="4000" smtClean="0">
                <a:latin typeface="Arial Rounded MT Bold" pitchFamily="34" charset="0"/>
              </a:rPr>
              <a:t>Examples of 2-D Array</a:t>
            </a:r>
          </a:p>
        </p:txBody>
      </p:sp>
      <p:pic>
        <p:nvPicPr>
          <p:cNvPr id="31749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0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9237663" y="603250"/>
            <a:ext cx="2659062" cy="37544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91440" indent="-91440" eaLnBrk="1" fontAlgn="auto" hangingPunct="1">
              <a:defRPr/>
            </a:pPr>
            <a:r>
              <a:rPr lang="en-US" dirty="0"/>
              <a:t>f</a:t>
            </a:r>
            <a:r>
              <a:rPr lang="en-US" sz="2000" dirty="0">
                <a:latin typeface="+mn-lt"/>
              </a:rPr>
              <a:t>or(</a:t>
            </a:r>
            <a:r>
              <a:rPr lang="en-US" sz="2000" dirty="0" err="1">
                <a:latin typeface="+mn-lt"/>
              </a:rPr>
              <a:t>i</a:t>
            </a:r>
            <a:r>
              <a:rPr lang="en-US" sz="2000" dirty="0">
                <a:latin typeface="+mn-lt"/>
              </a:rPr>
              <a:t>=0; </a:t>
            </a:r>
            <a:r>
              <a:rPr lang="en-US" sz="2000" dirty="0" err="1">
                <a:latin typeface="+mn-lt"/>
              </a:rPr>
              <a:t>i</a:t>
            </a:r>
            <a:r>
              <a:rPr lang="en-US" sz="2000" dirty="0">
                <a:latin typeface="+mn-lt"/>
              </a:rPr>
              <a:t>&lt;2; </a:t>
            </a:r>
            <a:r>
              <a:rPr lang="en-US" sz="2000" dirty="0" err="1">
                <a:latin typeface="+mn-lt"/>
              </a:rPr>
              <a:t>i</a:t>
            </a:r>
            <a:r>
              <a:rPr lang="en-US" sz="2000" dirty="0">
                <a:latin typeface="+mn-lt"/>
              </a:rPr>
              <a:t>++)</a:t>
            </a:r>
          </a:p>
          <a:p>
            <a:pPr marL="91440" indent="-91440" eaLnBrk="1" fontAlgn="auto" hangingPunct="1">
              <a:defRPr/>
            </a:pPr>
            <a:r>
              <a:rPr lang="en-US" sz="2000" dirty="0">
                <a:latin typeface="+mn-lt"/>
              </a:rPr>
              <a:t> {</a:t>
            </a:r>
          </a:p>
          <a:p>
            <a:pPr marL="91440" indent="-91440" eaLnBrk="1" fontAlgn="auto" hangingPunct="1">
              <a:defRPr/>
            </a:pPr>
            <a:r>
              <a:rPr lang="en-US" sz="2000" dirty="0">
                <a:latin typeface="+mn-lt"/>
              </a:rPr>
              <a:t> for(j=0;j&lt;3;j++) </a:t>
            </a:r>
          </a:p>
          <a:p>
            <a:pPr marL="91440" indent="-91440" eaLnBrk="1" fontAlgn="auto" hangingPunct="1">
              <a:defRPr/>
            </a:pPr>
            <a:r>
              <a:rPr lang="en-US" sz="2000" dirty="0">
                <a:latin typeface="+mn-lt"/>
              </a:rPr>
              <a:t>{ </a:t>
            </a:r>
          </a:p>
          <a:p>
            <a:pPr marL="91440" indent="-91440" eaLnBrk="1" fontAlgn="auto" hangingPunct="1">
              <a:defRPr/>
            </a:pPr>
            <a:r>
              <a:rPr lang="en-US" sz="2000" dirty="0" err="1">
                <a:latin typeface="+mn-lt"/>
              </a:rPr>
              <a:t>printf</a:t>
            </a:r>
            <a:r>
              <a:rPr lang="en-US" sz="2000" dirty="0">
                <a:latin typeface="+mn-lt"/>
              </a:rPr>
              <a:t>("%d ", </a:t>
            </a:r>
            <a:r>
              <a:rPr lang="en-US" sz="2000" dirty="0" err="1">
                <a:latin typeface="+mn-lt"/>
              </a:rPr>
              <a:t>disp</a:t>
            </a:r>
            <a:r>
              <a:rPr lang="en-US" sz="2000" dirty="0">
                <a:latin typeface="+mn-lt"/>
              </a:rPr>
              <a:t>[</a:t>
            </a:r>
            <a:r>
              <a:rPr lang="en-US" sz="2000" dirty="0" err="1">
                <a:latin typeface="+mn-lt"/>
              </a:rPr>
              <a:t>i</a:t>
            </a:r>
            <a:r>
              <a:rPr lang="en-US" sz="2000" dirty="0">
                <a:latin typeface="+mn-lt"/>
              </a:rPr>
              <a:t>][j]);</a:t>
            </a:r>
          </a:p>
          <a:p>
            <a:pPr marL="91440" indent="-91440" eaLnBrk="1" fontAlgn="auto" hangingPunct="1">
              <a:defRPr/>
            </a:pPr>
            <a:r>
              <a:rPr lang="en-US" sz="2000" dirty="0">
                <a:latin typeface="+mn-lt"/>
              </a:rPr>
              <a:t> if(j==2){ </a:t>
            </a:r>
            <a:r>
              <a:rPr lang="en-US" sz="2000" dirty="0" err="1">
                <a:latin typeface="+mn-lt"/>
              </a:rPr>
              <a:t>printf</a:t>
            </a:r>
            <a:r>
              <a:rPr lang="en-US" sz="2000" dirty="0">
                <a:latin typeface="+mn-lt"/>
              </a:rPr>
              <a:t>("\n");</a:t>
            </a:r>
          </a:p>
          <a:p>
            <a:pPr marL="91440" indent="-91440" eaLnBrk="1" fontAlgn="auto" hangingPunct="1">
              <a:defRPr/>
            </a:pPr>
            <a:r>
              <a:rPr lang="en-US" sz="2000" dirty="0">
                <a:latin typeface="+mn-lt"/>
              </a:rPr>
              <a:t> }</a:t>
            </a:r>
          </a:p>
          <a:p>
            <a:pPr marL="91440" indent="-91440" eaLnBrk="1" fontAlgn="auto" hangingPunct="1">
              <a:defRPr/>
            </a:pPr>
            <a:r>
              <a:rPr lang="en-US" sz="2000" dirty="0">
                <a:latin typeface="+mn-lt"/>
              </a:rPr>
              <a:t> }</a:t>
            </a:r>
          </a:p>
          <a:p>
            <a:pPr marL="91440" indent="-91440" eaLnBrk="1" fontAlgn="auto" hangingPunct="1">
              <a:defRPr/>
            </a:pPr>
            <a:r>
              <a:rPr lang="en-US" sz="2000" dirty="0">
                <a:latin typeface="+mn-lt"/>
              </a:rPr>
              <a:t> }</a:t>
            </a:r>
          </a:p>
          <a:p>
            <a:pPr marL="91440" indent="-91440" eaLnBrk="1" fontAlgn="auto" hangingPunct="1">
              <a:defRPr/>
            </a:pPr>
            <a:r>
              <a:rPr lang="en-US" sz="2000" dirty="0">
                <a:latin typeface="+mn-lt"/>
              </a:rPr>
              <a:t> return 0; </a:t>
            </a:r>
          </a:p>
          <a:p>
            <a:pPr marL="91440" indent="-91440" eaLnBrk="1" fontAlgn="auto" hangingPunct="1">
              <a:defRPr/>
            </a:pPr>
            <a:r>
              <a:rPr lang="en-US" sz="2000" dirty="0">
                <a:latin typeface="+mn-lt"/>
              </a:rPr>
              <a:t>}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eaLnBrk="1" hangingPunct="1">
              <a:defRPr/>
            </a:pPr>
            <a:endParaRPr lang="en-US" dirty="0"/>
          </a:p>
        </p:txBody>
      </p:sp>
      <p:pic>
        <p:nvPicPr>
          <p:cNvPr id="31752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913" y="4056063"/>
            <a:ext cx="3021012" cy="280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63072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4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2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2" dur="2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6" dur="2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392613" y="204788"/>
            <a:ext cx="7283450" cy="66532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4414838" y="157163"/>
            <a:ext cx="4592637" cy="652145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b="1" smtClean="0">
                <a:solidFill>
                  <a:srgbClr val="860000"/>
                </a:solidFill>
              </a:rPr>
              <a:t>2.. Program to sum of even and odd of 2D array.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#include&lt;stdio.h&gt;  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int main()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{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      int i=0,j=0; 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      int arr[3][4]={{1,2,3,4},{2,3,4,5},{3,4,5,6}}; 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      int even=0;int odd=0;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      for(i=0;i&lt;3;i++)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{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     for(j=0;j&lt;4;j++) 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{ 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	if(arr[i][j]%2==0)</a:t>
            </a:r>
          </a:p>
          <a:p>
            <a:pPr eaLnBrk="1" hangingPunct="1">
              <a:buFont typeface="Calibri" panose="020F0502020204030204" pitchFamily="34" charset="0"/>
              <a:buNone/>
            </a:pPr>
            <a:r>
              <a:rPr lang="en-US" altLang="en-US" smtClean="0"/>
              <a:t>	{</a:t>
            </a:r>
          </a:p>
        </p:txBody>
      </p:sp>
      <p:sp>
        <p:nvSpPr>
          <p:cNvPr id="32772" name="Text Placeholder 3"/>
          <p:cNvSpPr>
            <a:spLocks noGrp="1"/>
          </p:cNvSpPr>
          <p:nvPr>
            <p:ph type="body" sz="half" idx="2"/>
          </p:nvPr>
        </p:nvSpPr>
        <p:spPr>
          <a:xfrm>
            <a:off x="227013" y="2355850"/>
            <a:ext cx="3508375" cy="3378200"/>
          </a:xfrm>
        </p:spPr>
        <p:txBody>
          <a:bodyPr/>
          <a:lstStyle/>
          <a:p>
            <a:pPr algn="ctr" eaLnBrk="1" hangingPunct="1"/>
            <a:r>
              <a:rPr lang="en-US" altLang="en-US" sz="4000" b="1" smtClean="0"/>
              <a:t>Examples of </a:t>
            </a:r>
          </a:p>
          <a:p>
            <a:pPr algn="ctr" eaLnBrk="1" hangingPunct="1"/>
            <a:r>
              <a:rPr lang="en-US" altLang="en-US" sz="4000" b="1" smtClean="0"/>
              <a:t>2-D Array</a:t>
            </a:r>
          </a:p>
          <a:p>
            <a:pPr eaLnBrk="1" hangingPunct="1"/>
            <a:endParaRPr lang="en-IN" altLang="en-US" sz="2800" smtClean="0">
              <a:latin typeface="Arial Rounded MT Bold" pitchFamily="34" charset="0"/>
            </a:endParaRPr>
          </a:p>
        </p:txBody>
      </p:sp>
      <p:pic>
        <p:nvPicPr>
          <p:cNvPr id="32773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488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863" y="5816600"/>
            <a:ext cx="2381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8482013" y="449263"/>
            <a:ext cx="3709987" cy="44926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91440" indent="-91440" eaLnBrk="1" fontAlgn="auto" hangingPunct="1">
              <a:defRPr/>
            </a:pPr>
            <a:r>
              <a:rPr lang="en-US" dirty="0"/>
              <a:t>	</a:t>
            </a:r>
          </a:p>
          <a:p>
            <a:pPr marL="91440" indent="-91440" eaLnBrk="1" fontAlgn="auto" hangingPunct="1">
              <a:defRPr/>
            </a:pPr>
            <a:r>
              <a:rPr lang="en-US" dirty="0"/>
              <a:t>even=</a:t>
            </a:r>
            <a:r>
              <a:rPr lang="en-US" dirty="0" err="1"/>
              <a:t>even+arr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][j];</a:t>
            </a:r>
          </a:p>
          <a:p>
            <a:pPr marL="91440" indent="-91440" eaLnBrk="1" fontAlgn="auto" hangingPunct="1">
              <a:defRPr/>
            </a:pPr>
            <a:r>
              <a:rPr lang="en-US" dirty="0"/>
              <a:t>	}	</a:t>
            </a:r>
          </a:p>
          <a:p>
            <a:pPr marL="91440" indent="-91440" eaLnBrk="1" fontAlgn="auto" hangingPunct="1">
              <a:defRPr/>
            </a:pPr>
            <a:r>
              <a:rPr lang="en-US" dirty="0"/>
              <a:t>else	</a:t>
            </a:r>
          </a:p>
          <a:p>
            <a:pPr marL="91440" indent="-91440" eaLnBrk="1" fontAlgn="auto" hangingPunct="1">
              <a:defRPr/>
            </a:pPr>
            <a:r>
              <a:rPr lang="en-US" dirty="0"/>
              <a:t> {	</a:t>
            </a:r>
          </a:p>
          <a:p>
            <a:pPr marL="91440" indent="-91440" eaLnBrk="1" fontAlgn="auto" hangingPunct="1">
              <a:defRPr/>
            </a:pPr>
            <a:r>
              <a:rPr lang="en-US" dirty="0"/>
              <a:t>odd=</a:t>
            </a:r>
            <a:r>
              <a:rPr lang="en-US" dirty="0" err="1"/>
              <a:t>odd+arr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][j];	</a:t>
            </a:r>
          </a:p>
          <a:p>
            <a:pPr marL="91440" indent="-91440" eaLnBrk="1" fontAlgn="auto" hangingPunct="1">
              <a:defRPr/>
            </a:pPr>
            <a:r>
              <a:rPr lang="en-US" dirty="0"/>
              <a:t> }</a:t>
            </a:r>
          </a:p>
          <a:p>
            <a:pPr marL="91440" indent="-91440" eaLnBrk="1" fontAlgn="auto" hangingPunct="1">
              <a:defRPr/>
            </a:pPr>
            <a:r>
              <a:rPr lang="en-US" dirty="0"/>
              <a:t> } </a:t>
            </a:r>
          </a:p>
          <a:p>
            <a:pPr marL="91440" indent="-91440" eaLnBrk="1" fontAlgn="auto" hangingPunct="1">
              <a:defRPr/>
            </a:pPr>
            <a:r>
              <a:rPr lang="en-US" dirty="0"/>
              <a:t> }</a:t>
            </a:r>
          </a:p>
          <a:p>
            <a:pPr marL="91440" indent="-91440" eaLnBrk="1" fontAlgn="auto" hangingPunct="1">
              <a:defRPr/>
            </a:pPr>
            <a:r>
              <a:rPr lang="en-US" dirty="0" err="1"/>
              <a:t>printf</a:t>
            </a:r>
            <a:r>
              <a:rPr lang="en-US" dirty="0"/>
              <a:t>("Sum of even =%d \</a:t>
            </a:r>
            <a:r>
              <a:rPr lang="en-US" dirty="0" err="1"/>
              <a:t>n",even</a:t>
            </a:r>
            <a:r>
              <a:rPr lang="en-US" dirty="0"/>
              <a:t>);</a:t>
            </a:r>
          </a:p>
          <a:p>
            <a:pPr marL="91440" indent="-91440" eaLnBrk="1" fontAlgn="auto" hangingPunct="1">
              <a:defRPr/>
            </a:pPr>
            <a:r>
              <a:rPr lang="en-US" dirty="0" err="1"/>
              <a:t>printf</a:t>
            </a:r>
            <a:r>
              <a:rPr lang="en-US" dirty="0"/>
              <a:t>("Sum of odd =%</a:t>
            </a:r>
            <a:r>
              <a:rPr lang="en-US" dirty="0" err="1"/>
              <a:t>d",odd</a:t>
            </a:r>
            <a:r>
              <a:rPr lang="en-US" dirty="0"/>
              <a:t>);</a:t>
            </a:r>
          </a:p>
          <a:p>
            <a:pPr marL="91440" indent="-91440" eaLnBrk="1" fontAlgn="auto" hangingPunct="1">
              <a:defRPr/>
            </a:pPr>
            <a:r>
              <a:rPr lang="en-US" dirty="0"/>
              <a:t>return 0;  } </a:t>
            </a:r>
            <a:endParaRPr lang="en-US" b="1" dirty="0">
              <a:solidFill>
                <a:srgbClr val="860000"/>
              </a:solidFill>
            </a:endParaRPr>
          </a:p>
          <a:p>
            <a:pPr marL="91440" indent="-91440" eaLnBrk="1" fontAlgn="auto" hangingPunct="1"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 marL="91440" indent="-91440" eaLnBrk="1" fontAlgn="auto" hangingPunct="1">
              <a:buFont typeface="Calibri" pitchFamily="34" charset="0"/>
              <a:buNone/>
              <a:defRPr/>
            </a:pPr>
            <a:r>
              <a:rPr lang="en-US" sz="2800" b="1" dirty="0">
                <a:solidFill>
                  <a:srgbClr val="860000"/>
                </a:solidFill>
              </a:rPr>
              <a:t>                               </a:t>
            </a:r>
          </a:p>
          <a:p>
            <a:pPr eaLnBrk="1" fontAlgn="auto" hangingPunct="1">
              <a:buFont typeface="Calibri" pitchFamily="34" charset="0"/>
              <a:buNone/>
              <a:defRPr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          </a:t>
            </a:r>
          </a:p>
        </p:txBody>
      </p:sp>
      <p:pic>
        <p:nvPicPr>
          <p:cNvPr id="32776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3763" y="4003675"/>
            <a:ext cx="3148012" cy="285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94187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" name="CorelDRAW" r:id="rId4" imgW="2169000" imgH="2169360" progId="">
                    <p:embed/>
                  </p:oleObj>
                </mc:Choice>
                <mc:Fallback>
                  <p:oleObj name="CorelDRAW" r:id="rId4" imgW="2169000" imgH="2169360" progId="">
                    <p:embed/>
                    <p:pic>
                      <p:nvPicPr>
                        <p:cNvPr id="33" name="Object 32">
                          <a:extLst>
                            <a:ext uri="{FF2B5EF4-FFF2-40B4-BE49-F238E27FC236}">
                              <a16:creationId xmlns:a16="http://schemas.microsoft.com/office/drawing/2014/main" id="{CAD0D7B8-E462-453C-B296-CA0154FA54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4310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C0F5EB19-77B9-4540-B06A-F2C718D084BF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,\u001B.\u0018{C273B255-4E4C-4601-ABF8-D07FC645117E}&quot;,&quot;F:\\CU\\BlackBoard\\20CST111\\PPT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2 Algorithm"/>
  <p:tag name="ISPRING_FIRST_PUBLI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2127</TotalTime>
  <Words>530</Words>
  <Application>Microsoft Office PowerPoint</Application>
  <PresentationFormat>Widescreen</PresentationFormat>
  <Paragraphs>152</Paragraphs>
  <Slides>11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7" baseType="lpstr">
      <vt:lpstr>Arial</vt:lpstr>
      <vt:lpstr>Arial Black</vt:lpstr>
      <vt:lpstr>Arial Rounded MT Bold</vt:lpstr>
      <vt:lpstr>Arial Unicode MS</vt:lpstr>
      <vt:lpstr>Calibri</vt:lpstr>
      <vt:lpstr>Calibri Light</vt:lpstr>
      <vt:lpstr>Casper</vt:lpstr>
      <vt:lpstr>Karla</vt:lpstr>
      <vt:lpstr>Menlo</vt:lpstr>
      <vt:lpstr>Raleway ExtraBold</vt:lpstr>
      <vt:lpstr>Roboto</vt:lpstr>
      <vt:lpstr>Segoe UI</vt:lpstr>
      <vt:lpstr>Times New Roman</vt:lpstr>
      <vt:lpstr>1_Office Theme</vt:lpstr>
      <vt:lpstr>Contents Slide Master</vt:lpstr>
      <vt:lpstr>CorelDRAW</vt:lpstr>
      <vt:lpstr>PowerPoint Presentation</vt:lpstr>
      <vt:lpstr>Elementary Data Structure Using C++</vt:lpstr>
      <vt:lpstr>PowerPoint Presentation</vt:lpstr>
      <vt:lpstr> Scheme of Evaluation  </vt:lpstr>
      <vt:lpstr> 2-Dimensional Array</vt:lpstr>
      <vt:lpstr>PowerPoint Presentation</vt:lpstr>
      <vt:lpstr>Memory Representation 2-D Array </vt:lpstr>
      <vt:lpstr>Memory Representation 2-D Array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 Algorithm</dc:title>
  <dc:creator>Branding</dc:creator>
  <cp:lastModifiedBy>nishu</cp:lastModifiedBy>
  <cp:revision>242</cp:revision>
  <dcterms:created xsi:type="dcterms:W3CDTF">2019-01-09T10:33:58Z</dcterms:created>
  <dcterms:modified xsi:type="dcterms:W3CDTF">2024-01-10T10:31:25Z</dcterms:modified>
</cp:coreProperties>
</file>