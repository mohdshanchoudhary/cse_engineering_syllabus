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8"/>
  </p:notesMasterIdLst>
  <p:handoutMasterIdLst>
    <p:handoutMasterId r:id="rId19"/>
  </p:handoutMasterIdLst>
  <p:sldIdLst>
    <p:sldId id="354" r:id="rId3"/>
    <p:sldId id="381" r:id="rId4"/>
    <p:sldId id="368" r:id="rId5"/>
    <p:sldId id="369" r:id="rId6"/>
    <p:sldId id="281" r:id="rId7"/>
    <p:sldId id="371" r:id="rId8"/>
    <p:sldId id="372" r:id="rId9"/>
    <p:sldId id="373" r:id="rId10"/>
    <p:sldId id="374" r:id="rId11"/>
    <p:sldId id="375" r:id="rId12"/>
    <p:sldId id="376" r:id="rId13"/>
    <p:sldId id="377" r:id="rId14"/>
    <p:sldId id="379" r:id="rId15"/>
    <p:sldId id="380" r:id="rId16"/>
    <p:sldId id="353" r:id="rId17"/>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434" autoAdjust="0"/>
  </p:normalViewPr>
  <p:slideViewPr>
    <p:cSldViewPr snapToGrid="0">
      <p:cViewPr varScale="1">
        <p:scale>
          <a:sx n="73" d="100"/>
          <a:sy n="73" d="100"/>
        </p:scale>
        <p:origin x="474"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2047017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686742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012389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differencebetween.info/difference-between-data-and-information" TargetMode="Externa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kullabs.com/classes/subjects/units/lessons/notes/note-detail/4094"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www.thecodingdelight.com/linked-list-data-structure/" TargetMode="External"/><Relationship Id="rId2" Type="http://schemas.openxmlformats.org/officeDocument/2006/relationships/hyperlink" Target="https://www.slideshare.net/rameeshasadaqat/data-structure-its-types" TargetMode="Externa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cs.cmu.edu/~adamchik/15-121/lectures/Stacks%20and%20Queues/Stacks%20and%20Queues.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2"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Introduction</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476983"/>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UNITS</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a:t>
            </a:r>
            <a:r>
              <a:rPr lang="en-US" sz="2800">
                <a:latin typeface="Times New Roman" panose="02020603050405020304" pitchFamily="18" charset="0"/>
                <a:ea typeface="Calibri" panose="020F0502020204030204" pitchFamily="34" charset="0"/>
                <a:cs typeface="Times New Roman" panose="02020603050405020304" pitchFamily="18" charset="0"/>
              </a:rPr>
              <a:t>: Elementary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Data Structure Using </a:t>
            </a:r>
            <a:r>
              <a:rPr lang="en-US" sz="2800" dirty="0">
                <a:latin typeface="Times New Roman" panose="02020603050405020304" pitchFamily="18" charset="0"/>
                <a:ea typeface="Calibri" panose="020F0502020204030204" pitchFamily="34" charset="0"/>
                <a:cs typeface="Times New Roman" panose="02020603050405020304" pitchFamily="18" charset="0"/>
              </a:rPr>
              <a:t>C++</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a:latin typeface="+mn-lt"/>
              </a:rPr>
              <a:t>Elementary</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678408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92517353"/>
              </p:ext>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6459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5186284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13652" y="2932509"/>
            <a:ext cx="4194403" cy="2045494"/>
          </a:xfrm>
        </p:spPr>
        <p:txBody>
          <a:bodyPr>
            <a:normAutofit/>
          </a:bodyPr>
          <a:lstStyle/>
          <a:p>
            <a:pPr marL="285750" indent="-285750">
              <a:buFont typeface="Arial" panose="020B0604020202020204" pitchFamily="34" charset="0"/>
              <a:buChar char="•"/>
            </a:pPr>
            <a:r>
              <a:rPr lang="en-IN" sz="2000" b="1" dirty="0"/>
              <a:t>Concept of Data and </a:t>
            </a:r>
            <a:r>
              <a:rPr lang="en-IN" sz="2000" b="1" dirty="0" smtClean="0"/>
              <a:t>Information</a:t>
            </a:r>
          </a:p>
          <a:p>
            <a:pPr marL="285750" indent="-285750">
              <a:buFont typeface="Arial" panose="020B0604020202020204" pitchFamily="34" charset="0"/>
              <a:buChar char="•"/>
            </a:pPr>
            <a:r>
              <a:rPr lang="en-IN" sz="2000" b="1" dirty="0" smtClean="0"/>
              <a:t>Introduction </a:t>
            </a:r>
            <a:r>
              <a:rPr lang="en-IN" sz="2000" b="1" dirty="0"/>
              <a:t>to Data </a:t>
            </a:r>
            <a:r>
              <a:rPr lang="en-IN" sz="2000" b="1" dirty="0" smtClean="0"/>
              <a:t>Structures</a:t>
            </a:r>
            <a:endParaRPr lang="en-US" sz="2000"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3351488" y="153548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9" name="Rectangle 8"/>
          <p:cNvSpPr/>
          <p:nvPr/>
        </p:nvSpPr>
        <p:spPr>
          <a:xfrm>
            <a:off x="3418390" y="2694781"/>
            <a:ext cx="4785084"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2869" y="1018189"/>
            <a:ext cx="5778500" cy="4873625"/>
          </a:xfrm>
        </p:spPr>
        <p:txBody>
          <a:bodyPr>
            <a:normAutofit/>
          </a:bodyPr>
          <a:lstStyle/>
          <a:p>
            <a:pPr fontAlgn="base"/>
            <a:r>
              <a:rPr lang="en-US" sz="1600" dirty="0">
                <a:latin typeface="Casper Bold"/>
              </a:rPr>
              <a:t>Data and information are interrelated. Data usually refers to raw data or unprocessed data. </a:t>
            </a:r>
            <a:endParaRPr lang="en-US" sz="1600" dirty="0" smtClean="0">
              <a:latin typeface="Casper Bold"/>
            </a:endParaRPr>
          </a:p>
          <a:p>
            <a:pPr fontAlgn="base"/>
            <a:r>
              <a:rPr lang="en-US" sz="1600" dirty="0" smtClean="0">
                <a:latin typeface="Casper Bold"/>
              </a:rPr>
              <a:t>Once </a:t>
            </a:r>
            <a:r>
              <a:rPr lang="en-US" sz="1600" dirty="0">
                <a:latin typeface="Casper Bold"/>
              </a:rPr>
              <a:t>the data is analyzed, it is considered as information. </a:t>
            </a:r>
          </a:p>
        </p:txBody>
      </p:sp>
      <p:sp>
        <p:nvSpPr>
          <p:cNvPr id="4" name="Text Placeholder 3"/>
          <p:cNvSpPr>
            <a:spLocks noGrp="1"/>
          </p:cNvSpPr>
          <p:nvPr>
            <p:ph type="body" sz="half" idx="2"/>
          </p:nvPr>
        </p:nvSpPr>
        <p:spPr>
          <a:xfrm>
            <a:off x="649705" y="3565744"/>
            <a:ext cx="4331369" cy="2623644"/>
          </a:xfrm>
        </p:spPr>
        <p:txBody>
          <a:bodyPr>
            <a:normAutofit/>
          </a:bodyPr>
          <a:lstStyle/>
          <a:p>
            <a:pPr algn="just">
              <a:spcBef>
                <a:spcPct val="50000"/>
              </a:spcBef>
            </a:pPr>
            <a:r>
              <a:rPr lang="en-US" dirty="0">
                <a:latin typeface="Casper Bold"/>
              </a:rPr>
              <a:t>Data -</a:t>
            </a:r>
            <a:r>
              <a:rPr lang="en-IN" dirty="0">
                <a:latin typeface="Casper Bold"/>
              </a:rPr>
              <a:t> Data usually refers to raw data, or unprocessed data.</a:t>
            </a:r>
            <a:r>
              <a:rPr lang="en-US" dirty="0">
                <a:latin typeface="Casper Bold"/>
              </a:rPr>
              <a:t> </a:t>
            </a:r>
            <a:r>
              <a:rPr lang="en-IN" dirty="0">
                <a:latin typeface="Casper Bold"/>
              </a:rPr>
              <a:t>It is the basic form of data, data that hasn’t been </a:t>
            </a:r>
            <a:r>
              <a:rPr lang="en-IN" dirty="0" smtClean="0">
                <a:latin typeface="Casper Bold"/>
              </a:rPr>
              <a:t>analysed </a:t>
            </a:r>
            <a:r>
              <a:rPr lang="en-IN" dirty="0">
                <a:latin typeface="Casper Bold"/>
              </a:rPr>
              <a:t>or processed in any manner.</a:t>
            </a:r>
          </a:p>
          <a:p>
            <a:pPr algn="just">
              <a:spcBef>
                <a:spcPct val="50000"/>
              </a:spcBef>
            </a:pPr>
            <a:r>
              <a:rPr lang="en-IN" dirty="0">
                <a:latin typeface="Casper Bold"/>
              </a:rPr>
              <a:t>Information - Once the data is </a:t>
            </a:r>
            <a:r>
              <a:rPr lang="en-IN" dirty="0" smtClean="0">
                <a:latin typeface="Casper Bold"/>
              </a:rPr>
              <a:t>analysed, </a:t>
            </a:r>
            <a:r>
              <a:rPr lang="en-IN" dirty="0">
                <a:latin typeface="Casper Bold"/>
              </a:rPr>
              <a:t>it is considered as information.</a:t>
            </a:r>
            <a:endParaRPr lang="en-US" dirty="0">
              <a:latin typeface="Casper Bold"/>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0" y="1425858"/>
            <a:ext cx="591601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dirty="0" smtClean="0">
                <a:latin typeface="Casper Bold"/>
              </a:rPr>
              <a:t>   </a:t>
            </a:r>
            <a:r>
              <a:rPr lang="en-US" sz="4400" b="1" dirty="0">
                <a:latin typeface="Casper Bold"/>
              </a:rPr>
              <a:t>Data &amp; Information</a:t>
            </a:r>
            <a:r>
              <a:rPr lang="en-US" sz="4400" dirty="0">
                <a:latin typeface="Casper Bold"/>
              </a:rPr>
              <a:t/>
            </a:r>
            <a:br>
              <a:rPr lang="en-US" sz="4400" dirty="0">
                <a:latin typeface="Casper Bold"/>
              </a:rPr>
            </a:br>
            <a:r>
              <a:rPr lang="en-US" sz="4400" dirty="0" smtClean="0">
                <a:latin typeface="Casper Bold"/>
              </a:rPr>
              <a:t> </a:t>
            </a:r>
            <a:endParaRPr lang="en-US" sz="4400" dirty="0">
              <a:latin typeface="Casper Bold"/>
            </a:endParaRPr>
          </a:p>
        </p:txBody>
      </p:sp>
      <p:sp>
        <p:nvSpPr>
          <p:cNvPr id="2" name="Rectangle 1"/>
          <p:cNvSpPr/>
          <p:nvPr/>
        </p:nvSpPr>
        <p:spPr>
          <a:xfrm>
            <a:off x="5916010" y="806669"/>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3200400"/>
            <a:ext cx="4796506" cy="3155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154918" y="5543057"/>
            <a:ext cx="5389582" cy="646331"/>
          </a:xfrm>
          <a:prstGeom prst="rect">
            <a:avLst/>
          </a:prstGeom>
        </p:spPr>
        <p:txBody>
          <a:bodyPr wrap="square">
            <a:spAutoFit/>
          </a:bodyPr>
          <a:lstStyle/>
          <a:p>
            <a:r>
              <a:rPr lang="en-US" dirty="0">
                <a:hlinkClick r:id="rId2"/>
              </a:rPr>
              <a:t>http://www.differencebetween.info/difference-between-data-and-information</a:t>
            </a:r>
            <a:endParaRPr lang="en-US" dirty="0">
              <a:latin typeface="Casper" panose="02000506000000020004" pitchFamily="2" charset="0"/>
              <a:cs typeface="Arial" panose="020B0604020202020204" pitchFamily="34" charset="0"/>
            </a:endParaRPr>
          </a:p>
        </p:txBody>
      </p:sp>
      <p:sp>
        <p:nvSpPr>
          <p:cNvPr id="44036" name="AutoShape 4"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8" name="AutoShape 6"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0" name="AutoShape 8"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 name="Picture 1"/>
          <p:cNvPicPr>
            <a:picLocks noChangeAspect="1" noChangeArrowheads="1"/>
          </p:cNvPicPr>
          <p:nvPr/>
        </p:nvPicPr>
        <p:blipFill>
          <a:blip r:embed="rId3" cstate="print"/>
          <a:srcRect/>
          <a:stretch>
            <a:fillRect/>
          </a:stretch>
        </p:blipFill>
        <p:spPr bwMode="auto">
          <a:xfrm>
            <a:off x="6989159" y="2971800"/>
            <a:ext cx="3721100" cy="2114550"/>
          </a:xfrm>
          <a:prstGeom prst="rect">
            <a:avLst/>
          </a:prstGeom>
          <a:noFill/>
          <a:ln w="9525">
            <a:noFill/>
            <a:miter lim="800000"/>
            <a:headEnd/>
            <a:tailEnd/>
          </a:ln>
          <a:effectLst/>
        </p:spPr>
      </p:pic>
    </p:spTree>
    <p:extLst>
      <p:ext uri="{BB962C8B-B14F-4D97-AF65-F5344CB8AC3E}">
        <p14:creationId xmlns:p14="http://schemas.microsoft.com/office/powerpoint/2010/main" val="86646819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3338" y="765941"/>
            <a:ext cx="6170885" cy="4873625"/>
          </a:xfrm>
        </p:spPr>
        <p:txBody>
          <a:bodyPr>
            <a:normAutofit/>
          </a:bodyPr>
          <a:lstStyle/>
          <a:p>
            <a:pPr marL="0" indent="0">
              <a:buNone/>
            </a:pPr>
            <a:r>
              <a:rPr lang="en-US" sz="2400" dirty="0" smtClean="0"/>
              <a:t> </a:t>
            </a:r>
          </a:p>
          <a:p>
            <a:pPr>
              <a:buNone/>
            </a:pPr>
            <a:r>
              <a:rPr lang="en-US" sz="2400" dirty="0" smtClean="0"/>
              <a:t> </a:t>
            </a:r>
            <a:endParaRPr lang="en-US" sz="2400" dirty="0" smtClean="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529389" y="2550694"/>
            <a:ext cx="4379495" cy="3974283"/>
          </a:xfrm>
        </p:spPr>
        <p:txBody>
          <a:bodyPr>
            <a:noAutofit/>
          </a:bodyPr>
          <a:lstStyle/>
          <a:p>
            <a:pPr algn="just">
              <a:spcBef>
                <a:spcPct val="50000"/>
              </a:spcBef>
            </a:pPr>
            <a:r>
              <a:rPr lang="en-US" dirty="0">
                <a:latin typeface="Casper Bold"/>
              </a:rPr>
              <a:t>Data type</a:t>
            </a:r>
          </a:p>
          <a:p>
            <a:pPr lvl="1" algn="just">
              <a:spcBef>
                <a:spcPct val="50000"/>
              </a:spcBef>
              <a:buFontTx/>
              <a:buChar char="•"/>
            </a:pPr>
            <a:r>
              <a:rPr lang="en-US" sz="1600" dirty="0">
                <a:latin typeface="Casper Bold"/>
              </a:rPr>
              <a:t>Set of possible values for variables</a:t>
            </a:r>
          </a:p>
          <a:p>
            <a:pPr lvl="1" algn="just">
              <a:buFontTx/>
              <a:buChar char="•"/>
            </a:pPr>
            <a:r>
              <a:rPr lang="en-US" sz="1600" dirty="0">
                <a:latin typeface="Casper Bold"/>
              </a:rPr>
              <a:t>Operations on those values</a:t>
            </a:r>
          </a:p>
          <a:p>
            <a:pPr lvl="1" algn="just"/>
            <a:r>
              <a:rPr lang="en-US" sz="1600" dirty="0">
                <a:latin typeface="Casper Bold"/>
              </a:rPr>
              <a:t>Ex : </a:t>
            </a:r>
            <a:r>
              <a:rPr lang="en-US" sz="1600" dirty="0" err="1">
                <a:latin typeface="Casper Bold"/>
              </a:rPr>
              <a:t>int</a:t>
            </a:r>
            <a:r>
              <a:rPr lang="en-US" sz="1600" dirty="0">
                <a:latin typeface="Casper Bold"/>
              </a:rPr>
              <a:t>, float, char ……….</a:t>
            </a:r>
          </a:p>
          <a:p>
            <a:pPr algn="just">
              <a:spcBef>
                <a:spcPct val="50000"/>
              </a:spcBef>
            </a:pPr>
            <a:r>
              <a:rPr lang="en-US" dirty="0">
                <a:latin typeface="Casper Bold"/>
              </a:rPr>
              <a:t>Data Structure</a:t>
            </a:r>
            <a:r>
              <a:rPr lang="en-US" altLang="zh-CN" dirty="0">
                <a:latin typeface="Casper Bold"/>
              </a:rPr>
              <a:t> </a:t>
            </a:r>
          </a:p>
          <a:p>
            <a:pPr lvl="1" algn="just">
              <a:spcBef>
                <a:spcPct val="50000"/>
              </a:spcBef>
            </a:pPr>
            <a:r>
              <a:rPr lang="en-US" altLang="zh-CN" sz="1600" dirty="0">
                <a:latin typeface="Casper Bold"/>
              </a:rPr>
              <a:t>A data structure is an arrangement of data in a computer's memory or even disk storage. </a:t>
            </a:r>
          </a:p>
          <a:p>
            <a:pPr lvl="1" algn="just">
              <a:spcBef>
                <a:spcPct val="50000"/>
              </a:spcBef>
            </a:pPr>
            <a:r>
              <a:rPr lang="en-US" altLang="zh-CN" sz="1600" dirty="0">
                <a:latin typeface="Casper Bold"/>
              </a:rPr>
              <a:t>The logical and mathematical model of a particular organization of data is called a data structure.</a:t>
            </a:r>
          </a:p>
          <a:p>
            <a:pPr lvl="1" algn="just">
              <a:spcBef>
                <a:spcPct val="50000"/>
              </a:spcBef>
            </a:pPr>
            <a:r>
              <a:rPr lang="en-US" sz="1600" dirty="0">
                <a:latin typeface="Casper Bold"/>
              </a:rPr>
              <a:t>A data structure is a particular way of storing and organizing data in a computer so that it can be used efficiently. </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8" name="Title 7"/>
          <p:cNvSpPr txBox="1">
            <a:spLocks noGrp="1" noChangeArrowheads="1"/>
          </p:cNvSpPr>
          <p:nvPr>
            <p:ph type="title"/>
          </p:nvPr>
        </p:nvSpPr>
        <p:spPr bwMode="auto">
          <a:xfrm>
            <a:off x="285366" y="1085670"/>
            <a:ext cx="423248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defTabSz="622300">
              <a:spcAft>
                <a:spcPct val="35000"/>
              </a:spcAft>
            </a:pPr>
            <a:r>
              <a:rPr lang="en-US" sz="4000" b="1" dirty="0">
                <a:solidFill>
                  <a:prstClr val="black">
                    <a:lumMod val="85000"/>
                    <a:lumOff val="15000"/>
                  </a:prstClr>
                </a:solidFill>
                <a:latin typeface="Casper Bold"/>
                <a:cs typeface="Times New Roman" panose="02020603050405020304" pitchFamily="18" charset="0"/>
              </a:rPr>
              <a:t>Data </a:t>
            </a:r>
            <a:r>
              <a:rPr lang="en-US" sz="4000" b="1" dirty="0" smtClean="0">
                <a:solidFill>
                  <a:prstClr val="black">
                    <a:lumMod val="85000"/>
                    <a:lumOff val="15000"/>
                  </a:prstClr>
                </a:solidFill>
                <a:latin typeface="Casper Bold"/>
                <a:cs typeface="Times New Roman" panose="02020603050405020304" pitchFamily="18" charset="0"/>
              </a:rPr>
              <a:t>Type &amp; </a:t>
            </a:r>
            <a:r>
              <a:rPr lang="en-US" sz="4000" b="1" dirty="0">
                <a:solidFill>
                  <a:prstClr val="black">
                    <a:lumMod val="85000"/>
                    <a:lumOff val="15000"/>
                  </a:prstClr>
                </a:solidFill>
                <a:latin typeface="Casper Bold"/>
                <a:cs typeface="Times New Roman" panose="02020603050405020304" pitchFamily="18" charset="0"/>
              </a:rPr>
              <a:t>Data Structure</a:t>
            </a:r>
          </a:p>
        </p:txBody>
      </p:sp>
      <p:sp>
        <p:nvSpPr>
          <p:cNvPr id="2" name="Rectangle 1"/>
          <p:cNvSpPr/>
          <p:nvPr/>
        </p:nvSpPr>
        <p:spPr>
          <a:xfrm>
            <a:off x="5171090" y="691055"/>
            <a:ext cx="6433645"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0" y="2285999"/>
            <a:ext cx="4588927" cy="39232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349766" y="5462970"/>
            <a:ext cx="6232634" cy="646331"/>
          </a:xfrm>
          <a:prstGeom prst="rect">
            <a:avLst/>
          </a:prstGeom>
        </p:spPr>
        <p:txBody>
          <a:bodyPr wrap="square">
            <a:spAutoFit/>
          </a:bodyPr>
          <a:lstStyle/>
          <a:p>
            <a:r>
              <a:rPr lang="en-US" dirty="0">
                <a:hlinkClick r:id="rId2"/>
              </a:rPr>
              <a:t>https://www.kullabs.com/classes/subjects/units/lessons/notes/note-detail/4094</a:t>
            </a:r>
            <a:endParaRPr lang="en-US"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766" y="900495"/>
            <a:ext cx="6089760" cy="456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73471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3338" y="765941"/>
            <a:ext cx="6170885" cy="4873625"/>
          </a:xfrm>
        </p:spPr>
        <p:txBody>
          <a:bodyPr>
            <a:normAutofit/>
          </a:bodyPr>
          <a:lstStyle/>
          <a:p>
            <a:pPr marL="0" indent="0">
              <a:buNone/>
            </a:pPr>
            <a:endParaRPr lang="en-US" sz="2400" dirty="0" smtClean="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460375" y="2586789"/>
            <a:ext cx="4544762" cy="3477127"/>
          </a:xfrm>
        </p:spPr>
        <p:txBody>
          <a:bodyPr>
            <a:normAutofit lnSpcReduction="10000"/>
          </a:bodyPr>
          <a:lstStyle/>
          <a:p>
            <a:pPr algn="just"/>
            <a:r>
              <a:rPr lang="en-US" dirty="0">
                <a:latin typeface="Casper Bold"/>
              </a:rPr>
              <a:t>Traversing: Accessing each records exactly once so that certain items in the record may be processed. </a:t>
            </a:r>
          </a:p>
          <a:p>
            <a:pPr algn="just"/>
            <a:r>
              <a:rPr lang="en-US" dirty="0">
                <a:latin typeface="Casper Bold"/>
              </a:rPr>
              <a:t> Searching: Finding the location of a particular record with a given key value, or finding the location of all records which satisfy one or more conditions.</a:t>
            </a:r>
          </a:p>
          <a:p>
            <a:pPr algn="just"/>
            <a:r>
              <a:rPr lang="en-US" dirty="0">
                <a:latin typeface="Casper Bold"/>
              </a:rPr>
              <a:t>Inserting: Adding a new record to the structure.</a:t>
            </a:r>
          </a:p>
          <a:p>
            <a:pPr algn="just"/>
            <a:r>
              <a:rPr lang="en-US" dirty="0">
                <a:latin typeface="Casper Bold"/>
              </a:rPr>
              <a:t>Deleting: Removing the record from the structure.</a:t>
            </a:r>
          </a:p>
          <a:p>
            <a:pPr algn="just"/>
            <a:r>
              <a:rPr lang="en-US" dirty="0">
                <a:latin typeface="Casper Bold"/>
              </a:rPr>
              <a:t>Sorting: Managing the data or record in some logical order(Ascending or descending order).</a:t>
            </a:r>
          </a:p>
          <a:p>
            <a:pPr algn="just"/>
            <a:r>
              <a:rPr lang="en-US" dirty="0">
                <a:latin typeface="Casper Bold"/>
              </a:rPr>
              <a:t>Merging: Combining the record in two different sorted files into a single sorted file.</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8</a:t>
            </a:fld>
            <a:endParaRPr lang="en-US" dirty="0"/>
          </a:p>
        </p:txBody>
      </p:sp>
      <p:sp>
        <p:nvSpPr>
          <p:cNvPr id="8" name="Title 7"/>
          <p:cNvSpPr txBox="1">
            <a:spLocks noGrp="1" noChangeArrowheads="1"/>
          </p:cNvSpPr>
          <p:nvPr>
            <p:ph type="title"/>
          </p:nvPr>
        </p:nvSpPr>
        <p:spPr bwMode="auto">
          <a:xfrm>
            <a:off x="388330" y="1111588"/>
            <a:ext cx="4908884"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defTabSz="622300">
              <a:spcAft>
                <a:spcPct val="35000"/>
              </a:spcAft>
            </a:pPr>
            <a:r>
              <a:rPr lang="en-US" sz="4400" b="1" dirty="0">
                <a:solidFill>
                  <a:prstClr val="black">
                    <a:lumMod val="85000"/>
                    <a:lumOff val="15000"/>
                  </a:prstClr>
                </a:solidFill>
                <a:latin typeface="Casper Bold"/>
                <a:cs typeface="Times New Roman" panose="02020603050405020304" pitchFamily="18" charset="0"/>
              </a:rPr>
              <a:t>Operations on Data Structure</a:t>
            </a:r>
          </a:p>
        </p:txBody>
      </p:sp>
      <p:sp>
        <p:nvSpPr>
          <p:cNvPr id="2" name="Rectangle 1"/>
          <p:cNvSpPr/>
          <p:nvPr/>
        </p:nvSpPr>
        <p:spPr>
          <a:xfrm>
            <a:off x="5171090" y="691055"/>
            <a:ext cx="6433645"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1" y="2478505"/>
            <a:ext cx="4576896" cy="37307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362576" y="5562874"/>
            <a:ext cx="6232634" cy="646331"/>
          </a:xfrm>
          <a:prstGeom prst="rect">
            <a:avLst/>
          </a:prstGeom>
        </p:spPr>
        <p:txBody>
          <a:bodyPr wrap="square">
            <a:spAutoFit/>
          </a:bodyPr>
          <a:lstStyle/>
          <a:p>
            <a:r>
              <a:rPr lang="en-US" dirty="0">
                <a:hlinkClick r:id="rId2"/>
              </a:rPr>
              <a:t>https://www.slideshare.net/rameeshasadaqat/data-structure-its-types</a:t>
            </a:r>
            <a:r>
              <a:rPr lang="en-US" dirty="0" smtClean="0">
                <a:hlinkClick r:id="rId3"/>
              </a:rPr>
              <a:t>/</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2576" y="805501"/>
            <a:ext cx="6076950" cy="4757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671036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b="1" dirty="0">
                <a:latin typeface="Casper Bold"/>
              </a:rPr>
              <a:t>Algorithm </a:t>
            </a:r>
            <a:r>
              <a:rPr lang="en-US" b="1" dirty="0">
                <a:solidFill>
                  <a:prstClr val="black">
                    <a:lumMod val="85000"/>
                    <a:lumOff val="15000"/>
                  </a:prstClr>
                </a:solidFill>
                <a:latin typeface="Casper Bold"/>
                <a:cs typeface="Times New Roman" panose="02020603050405020304" pitchFamily="18" charset="0"/>
              </a:rPr>
              <a:t>Complexity</a:t>
            </a:r>
          </a:p>
        </p:txBody>
      </p:sp>
      <p:sp>
        <p:nvSpPr>
          <p:cNvPr id="3" name="Content Placeholder 2"/>
          <p:cNvSpPr>
            <a:spLocks noGrp="1"/>
          </p:cNvSpPr>
          <p:nvPr>
            <p:ph idx="1"/>
          </p:nvPr>
        </p:nvSpPr>
        <p:spPr/>
        <p:txBody>
          <a:bodyPr>
            <a:normAutofit/>
          </a:bodyPr>
          <a:lstStyle/>
          <a:p>
            <a:pPr algn="just"/>
            <a:r>
              <a:rPr lang="en-US" sz="1600" dirty="0">
                <a:latin typeface="Casper Bold"/>
              </a:rPr>
              <a:t>Algorithm complexity is a measure which evaluates the order of the count of operations, performed by a given or algorithm as a function of the size of the input data. </a:t>
            </a:r>
          </a:p>
          <a:p>
            <a:pPr algn="just"/>
            <a:r>
              <a:rPr lang="en-US" sz="1600" dirty="0">
                <a:latin typeface="Casper Bold"/>
              </a:rPr>
              <a:t>To put this simpler, complexity is a rough approximation of the number of steps necessary to execute an algorithm. </a:t>
            </a:r>
          </a:p>
          <a:p>
            <a:pPr algn="just"/>
            <a:r>
              <a:rPr lang="en-US" sz="1600" dirty="0">
                <a:latin typeface="Casper Bold"/>
              </a:rPr>
              <a:t>When we evaluate complexity we speak of order of operation count, not of their exact count. </a:t>
            </a:r>
          </a:p>
          <a:p>
            <a:pPr algn="just"/>
            <a:r>
              <a:rPr lang="en-US" sz="1600" dirty="0">
                <a:latin typeface="Casper Bold"/>
              </a:rPr>
              <a:t>For example if we have an order of N2 operations to process N elements, then N2/2 and 3*N2 are of one and the same quadratic order</a:t>
            </a:r>
            <a:r>
              <a:rPr lang="en-US" sz="1600" dirty="0" smtClean="0">
                <a:latin typeface="Casper Bold"/>
              </a:rPr>
              <a:t>.</a:t>
            </a:r>
          </a:p>
          <a:p>
            <a:pPr algn="just"/>
            <a:r>
              <a:rPr lang="en-US" sz="1600" dirty="0">
                <a:latin typeface="Casper Bold"/>
              </a:rPr>
              <a:t>Algorithm complexity is commonly represented with the O(f) notation, also known as asymptotic notation or “Big O notation”, where f is the function of the size of the input data. </a:t>
            </a:r>
          </a:p>
          <a:p>
            <a:pPr algn="just"/>
            <a:r>
              <a:rPr lang="en-US" sz="1600" dirty="0">
                <a:latin typeface="Casper Bold"/>
              </a:rPr>
              <a:t>The asymptotic computational complexity O(f) measures the order of the consumed resources (CPU time, memory, etc.) by certain algorithm expressed as function of the input data size</a:t>
            </a:r>
            <a:r>
              <a:rPr lang="en-US" sz="1600" dirty="0" smtClean="0">
                <a:latin typeface="Casper Bold"/>
              </a:rPr>
              <a:t>.</a:t>
            </a:r>
          </a:p>
          <a:p>
            <a:pPr algn="just"/>
            <a:endParaRPr lang="en-US" sz="1600" dirty="0" smtClean="0"/>
          </a:p>
          <a:p>
            <a:pPr algn="just"/>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019200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lvl="0">
              <a:defRPr/>
            </a:pPr>
            <a:r>
              <a:rPr lang="en-US" b="1" dirty="0">
                <a:latin typeface="Casper Bold"/>
              </a:rPr>
              <a:t>Algorithm </a:t>
            </a:r>
            <a:r>
              <a:rPr lang="en-US" b="1" dirty="0">
                <a:solidFill>
                  <a:prstClr val="black">
                    <a:lumMod val="85000"/>
                    <a:lumOff val="15000"/>
                  </a:prstClr>
                </a:solidFill>
                <a:latin typeface="Casper Bold"/>
                <a:cs typeface="Times New Roman" panose="02020603050405020304" pitchFamily="18" charset="0"/>
              </a:rPr>
              <a:t>Complexity</a:t>
            </a:r>
          </a:p>
        </p:txBody>
      </p:sp>
      <p:sp>
        <p:nvSpPr>
          <p:cNvPr id="3" name="Content Placeholder 2"/>
          <p:cNvSpPr>
            <a:spLocks noGrp="1"/>
          </p:cNvSpPr>
          <p:nvPr>
            <p:ph idx="1"/>
          </p:nvPr>
        </p:nvSpPr>
        <p:spPr/>
        <p:txBody>
          <a:bodyPr>
            <a:normAutofit fontScale="92500" lnSpcReduction="10000"/>
          </a:bodyPr>
          <a:lstStyle/>
          <a:p>
            <a:pPr algn="just">
              <a:lnSpc>
                <a:spcPct val="100000"/>
              </a:lnSpc>
            </a:pPr>
            <a:r>
              <a:rPr lang="en-US" sz="1600" dirty="0" smtClean="0">
                <a:latin typeface="Casper Bold"/>
              </a:rPr>
              <a:t>1. Space </a:t>
            </a:r>
            <a:r>
              <a:rPr lang="en-US" sz="1600" dirty="0">
                <a:latin typeface="Casper Bold"/>
              </a:rPr>
              <a:t>Complexity -  The space complexity of an algorithm ,hence program ,is the amount of memory it needs to run to completion. Some of the reasons for studying space complexity are:</a:t>
            </a:r>
          </a:p>
          <a:p>
            <a:pPr marL="228600" lvl="1" algn="just">
              <a:lnSpc>
                <a:spcPct val="100000"/>
              </a:lnSpc>
              <a:spcBef>
                <a:spcPts val="1000"/>
              </a:spcBef>
            </a:pPr>
            <a:r>
              <a:rPr lang="en-US" sz="1600" dirty="0">
                <a:latin typeface="Casper Bold"/>
              </a:rPr>
              <a:t>	If the program is to run on multi-user system, it may be required to specify the amount of memory to be allocated to the program.</a:t>
            </a:r>
          </a:p>
          <a:p>
            <a:pPr marL="228600" lvl="1" algn="just">
              <a:lnSpc>
                <a:spcPct val="100000"/>
              </a:lnSpc>
              <a:spcBef>
                <a:spcPts val="1000"/>
              </a:spcBef>
            </a:pPr>
            <a:r>
              <a:rPr lang="en-US" sz="1600" dirty="0">
                <a:latin typeface="Casper Bold"/>
              </a:rPr>
              <a:t>	We may be interested to know in advance that whether sufficient memory is available to run the program.</a:t>
            </a:r>
          </a:p>
          <a:p>
            <a:pPr marL="228600" lvl="1" algn="just">
              <a:lnSpc>
                <a:spcPct val="100000"/>
              </a:lnSpc>
              <a:spcBef>
                <a:spcPts val="1000"/>
              </a:spcBef>
            </a:pPr>
            <a:r>
              <a:rPr lang="en-US" sz="1600" dirty="0">
                <a:latin typeface="Casper Bold"/>
              </a:rPr>
              <a:t>	can be used to estimate the size of the largest problem that a program can </a:t>
            </a:r>
            <a:r>
              <a:rPr lang="en-US" sz="1600" dirty="0" smtClean="0">
                <a:latin typeface="Casper Bold"/>
              </a:rPr>
              <a:t>solve.</a:t>
            </a:r>
          </a:p>
          <a:p>
            <a:pPr marL="228600" lvl="1" algn="just">
              <a:lnSpc>
                <a:spcPct val="100000"/>
              </a:lnSpc>
              <a:spcBef>
                <a:spcPts val="1000"/>
              </a:spcBef>
            </a:pPr>
            <a:r>
              <a:rPr lang="en-US" sz="1600" dirty="0" smtClean="0">
                <a:latin typeface="Casper Bold"/>
              </a:rPr>
              <a:t>2. Time Complexity – The time complexity of an algorithm is the amount of time it needs to run to completion. Some of the reasons for </a:t>
            </a:r>
            <a:r>
              <a:rPr lang="en-US" sz="1600" dirty="0">
                <a:latin typeface="Casper Bold"/>
              </a:rPr>
              <a:t>studying time complexity are:</a:t>
            </a:r>
          </a:p>
          <a:p>
            <a:pPr marL="228600" lvl="2" algn="just">
              <a:lnSpc>
                <a:spcPct val="100000"/>
              </a:lnSpc>
              <a:spcBef>
                <a:spcPts val="1000"/>
              </a:spcBef>
            </a:pPr>
            <a:r>
              <a:rPr lang="en-US" sz="1600" dirty="0" smtClean="0">
                <a:latin typeface="Casper Bold"/>
              </a:rPr>
              <a:t>We </a:t>
            </a:r>
            <a:r>
              <a:rPr lang="en-US" sz="1600" dirty="0">
                <a:latin typeface="Casper Bold"/>
              </a:rPr>
              <a:t>may be interested to know in advance that whether the program will provide a satisfactory real-time response. For ex, an interactive program such as editor, must provide such response. If it takes even a few seconds to move cursor one page up or down, it will not be acceptable to the user</a:t>
            </a:r>
            <a:r>
              <a:rPr lang="en-US" sz="1600" dirty="0" smtClean="0">
                <a:latin typeface="Casper Bold"/>
              </a:rPr>
              <a:t>.</a:t>
            </a:r>
          </a:p>
          <a:p>
            <a:pPr marL="1257300" lvl="2" indent="-342900" algn="just">
              <a:spcBef>
                <a:spcPct val="50000"/>
              </a:spcBef>
              <a:buFont typeface="Wingdings" pitchFamily="2" charset="2"/>
              <a:buChar char="§"/>
            </a:pPr>
            <a:endParaRPr lang="en-US" sz="1700" dirty="0" smtClean="0"/>
          </a:p>
          <a:p>
            <a:pPr marL="457200" lvl="1" indent="0" algn="just">
              <a:spcBef>
                <a:spcPct val="50000"/>
              </a:spcBef>
              <a:buNone/>
            </a:pPr>
            <a:endParaRPr lang="en-US" sz="1600" dirty="0"/>
          </a:p>
          <a:p>
            <a:pPr marL="342900" indent="-342900">
              <a:spcBef>
                <a:spcPct val="50000"/>
              </a:spcBef>
            </a:pPr>
            <a:r>
              <a:rPr lang="en-US" dirty="0"/>
              <a:t>	</a:t>
            </a: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059610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dirty="0" smtClean="0">
                <a:latin typeface="Casper Bold"/>
              </a:rPr>
              <a:t> </a:t>
            </a:r>
            <a:r>
              <a:rPr lang="en-US" b="1" dirty="0">
                <a:latin typeface="Casper Bold"/>
              </a:rPr>
              <a:t>Algorithm </a:t>
            </a:r>
            <a:r>
              <a:rPr lang="en-US" b="1" dirty="0">
                <a:solidFill>
                  <a:prstClr val="black">
                    <a:lumMod val="85000"/>
                    <a:lumOff val="15000"/>
                  </a:prstClr>
                </a:solidFill>
                <a:latin typeface="Casper Bold"/>
                <a:cs typeface="Times New Roman" panose="02020603050405020304" pitchFamily="18" charset="0"/>
              </a:rPr>
              <a:t>Complexity</a:t>
            </a:r>
          </a:p>
        </p:txBody>
      </p:sp>
      <p:sp>
        <p:nvSpPr>
          <p:cNvPr id="3" name="Content Placeholder 2"/>
          <p:cNvSpPr>
            <a:spLocks noGrp="1"/>
          </p:cNvSpPr>
          <p:nvPr>
            <p:ph idx="1"/>
          </p:nvPr>
        </p:nvSpPr>
        <p:spPr/>
        <p:txBody>
          <a:bodyPr>
            <a:normAutofit/>
          </a:bodyPr>
          <a:lstStyle/>
          <a:p>
            <a:pPr marL="800100" lvl="1" indent="-342900" algn="just">
              <a:spcBef>
                <a:spcPct val="50000"/>
              </a:spcBef>
            </a:pPr>
            <a:r>
              <a:rPr lang="en-US" sz="1600" b="1" dirty="0"/>
              <a:t>Time-space tradeoff</a:t>
            </a:r>
            <a:r>
              <a:rPr lang="en-US" sz="1600" dirty="0"/>
              <a:t>– The best algorithm , hence best program , to solve a given problem is one that requires less space in memory and takes less time to complete its execution. But in practice, it is not always possible to achieve both of these objectives.</a:t>
            </a:r>
          </a:p>
          <a:p>
            <a:pPr marL="800100" lvl="1" indent="-342900" algn="just">
              <a:spcBef>
                <a:spcPct val="50000"/>
              </a:spcBef>
            </a:pPr>
            <a:r>
              <a:rPr lang="en-US" sz="1700" b="1" dirty="0" smtClean="0"/>
              <a:t>Best </a:t>
            </a:r>
            <a:r>
              <a:rPr lang="en-US" sz="1700" b="1" dirty="0"/>
              <a:t>case  Complexity – </a:t>
            </a:r>
            <a:r>
              <a:rPr lang="en-IN" sz="1700" dirty="0"/>
              <a:t>The term best-case performance is used in computer science to describe an algorithm's behaviour under optimal conditions. For example, the best case for a simple linear search on a list occurs when the desired element is the first element of the list.</a:t>
            </a:r>
            <a:endParaRPr lang="en-US" sz="1700" dirty="0"/>
          </a:p>
          <a:p>
            <a:pPr marL="800100" lvl="1" indent="-342900" algn="just">
              <a:spcBef>
                <a:spcPct val="50000"/>
              </a:spcBef>
            </a:pPr>
            <a:r>
              <a:rPr lang="en-US" sz="1700" b="1" dirty="0" smtClean="0"/>
              <a:t> </a:t>
            </a:r>
            <a:r>
              <a:rPr lang="en-US" sz="1700" b="1" dirty="0"/>
              <a:t>Average Case  Complexity– </a:t>
            </a:r>
            <a:r>
              <a:rPr lang="en-US" sz="1700" dirty="0"/>
              <a:t>T</a:t>
            </a:r>
            <a:r>
              <a:rPr lang="en-IN" sz="1700" dirty="0"/>
              <a:t>he average-case complexity of an algorithm is the amount of some computational resource used by the algorithm, averaged over all possible inputs</a:t>
            </a:r>
            <a:endParaRPr lang="en-US" sz="1700" dirty="0"/>
          </a:p>
          <a:p>
            <a:pPr marL="800100" lvl="1" indent="-342900" algn="just">
              <a:spcBef>
                <a:spcPct val="50000"/>
              </a:spcBef>
            </a:pPr>
            <a:r>
              <a:rPr lang="en-US" sz="1700" b="1" dirty="0" smtClean="0"/>
              <a:t>Worst </a:t>
            </a:r>
            <a:r>
              <a:rPr lang="en-US" sz="1700" b="1" dirty="0"/>
              <a:t>Case  Complexity– </a:t>
            </a:r>
            <a:r>
              <a:rPr lang="en-US" sz="1700" dirty="0"/>
              <a:t>T</a:t>
            </a:r>
            <a:r>
              <a:rPr lang="en-IN" sz="1700" dirty="0"/>
              <a:t>he worst-case measures the resources (e.g. running time, memory) an algorithm requires in the worst-case. It gives an upper bound on the resources required by the algorithm.</a:t>
            </a: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447592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dirty="0" smtClean="0">
                <a:latin typeface="Casper Bold"/>
              </a:rPr>
              <a:t> </a:t>
            </a:r>
            <a:r>
              <a:rPr lang="en-IN" b="1" dirty="0">
                <a:latin typeface="Casper Bold"/>
              </a:rPr>
              <a:t>Various </a:t>
            </a:r>
            <a:r>
              <a:rPr lang="en-IN" b="1" dirty="0">
                <a:solidFill>
                  <a:prstClr val="black">
                    <a:lumMod val="85000"/>
                    <a:lumOff val="15000"/>
                  </a:prstClr>
                </a:solidFill>
                <a:latin typeface="Casper Bold"/>
                <a:cs typeface="Times New Roman" panose="02020603050405020304" pitchFamily="18" charset="0"/>
              </a:rPr>
              <a:t>complexities</a:t>
            </a:r>
            <a:r>
              <a:rPr lang="en-IN" b="1" dirty="0">
                <a:latin typeface="Casper Bold"/>
              </a:rPr>
              <a:t> of algorithms</a:t>
            </a:r>
            <a:endParaRPr lang="en-US" dirty="0">
              <a:latin typeface="Casper Bold"/>
            </a:endParaRPr>
          </a:p>
        </p:txBody>
      </p:sp>
      <p:sp>
        <p:nvSpPr>
          <p:cNvPr id="3" name="Content Placeholder 2"/>
          <p:cNvSpPr>
            <a:spLocks noGrp="1"/>
          </p:cNvSpPr>
          <p:nvPr>
            <p:ph idx="1"/>
          </p:nvPr>
        </p:nvSpPr>
        <p:spPr/>
        <p:txBody>
          <a:bodyPr>
            <a:normAutofit fontScale="92500" lnSpcReduction="10000"/>
          </a:bodyPr>
          <a:lstStyle/>
          <a:p>
            <a:r>
              <a:rPr lang="en-US" sz="1900" b="1" dirty="0"/>
              <a:t>Constant: </a:t>
            </a:r>
            <a:r>
              <a:rPr lang="en-US" sz="1900" dirty="0"/>
              <a:t>O(1)</a:t>
            </a:r>
            <a:r>
              <a:rPr lang="en-US" sz="1900" dirty="0">
                <a:sym typeface="Wingdings" pitchFamily="2" charset="2"/>
              </a:rPr>
              <a:t> constant number of operations, not depending on the input data size, </a:t>
            </a:r>
          </a:p>
          <a:p>
            <a:pPr>
              <a:buNone/>
            </a:pPr>
            <a:r>
              <a:rPr lang="en-US" sz="1900" dirty="0">
                <a:sym typeface="Wingdings" pitchFamily="2" charset="2"/>
              </a:rPr>
              <a:t>		e.g. n=10000 1 operation.</a:t>
            </a:r>
            <a:endParaRPr lang="en-US" sz="1900" b="1" dirty="0"/>
          </a:p>
          <a:p>
            <a:r>
              <a:rPr lang="en-US" sz="1900" b="1" dirty="0"/>
              <a:t>Logarithmic: </a:t>
            </a:r>
            <a:r>
              <a:rPr lang="en-US" sz="1900" dirty="0"/>
              <a:t>O(log n)</a:t>
            </a:r>
            <a:r>
              <a:rPr lang="en-US" sz="1900" dirty="0">
                <a:sym typeface="Wingdings" pitchFamily="2" charset="2"/>
              </a:rPr>
              <a:t> No. of operations proportional of log n where n is the size of input data,</a:t>
            </a:r>
          </a:p>
          <a:p>
            <a:pPr>
              <a:buNone/>
            </a:pPr>
            <a:r>
              <a:rPr lang="en-US" sz="1900" dirty="0">
                <a:sym typeface="Wingdings" pitchFamily="2" charset="2"/>
              </a:rPr>
              <a:t>		 e.g. n=100010operations.</a:t>
            </a:r>
            <a:endParaRPr lang="en-US" sz="1900" b="1" dirty="0"/>
          </a:p>
          <a:p>
            <a:r>
              <a:rPr lang="en-US" sz="1900" b="1" dirty="0"/>
              <a:t>Linear: </a:t>
            </a:r>
            <a:r>
              <a:rPr lang="en-US" sz="1900" dirty="0"/>
              <a:t>O(n)</a:t>
            </a:r>
            <a:r>
              <a:rPr lang="en-US" sz="1900" dirty="0">
                <a:sym typeface="Wingdings" pitchFamily="2" charset="2"/>
              </a:rPr>
              <a:t></a:t>
            </a:r>
            <a:r>
              <a:rPr lang="en-US" sz="1900" dirty="0"/>
              <a:t>no. of operations proportional to the input data size, </a:t>
            </a:r>
          </a:p>
          <a:p>
            <a:pPr>
              <a:buNone/>
            </a:pPr>
            <a:r>
              <a:rPr lang="en-US" sz="1900" dirty="0"/>
              <a:t>		e.g. n=10000</a:t>
            </a:r>
            <a:r>
              <a:rPr lang="en-US" sz="1900" dirty="0">
                <a:sym typeface="Wingdings" pitchFamily="2" charset="2"/>
              </a:rPr>
              <a:t> 10000operations.</a:t>
            </a:r>
            <a:endParaRPr lang="en-US" sz="1900" b="1" dirty="0"/>
          </a:p>
          <a:p>
            <a:r>
              <a:rPr lang="en-US" sz="1900" b="1" dirty="0"/>
              <a:t>Quadratic: </a:t>
            </a:r>
            <a:r>
              <a:rPr lang="en-US" sz="1900" dirty="0"/>
              <a:t>O(</a:t>
            </a:r>
            <a:r>
              <a:rPr lang="en-IN" sz="1900" dirty="0"/>
              <a:t>n</a:t>
            </a:r>
            <a:r>
              <a:rPr lang="en-IN" sz="1900" baseline="30000" dirty="0"/>
              <a:t>2</a:t>
            </a:r>
            <a:r>
              <a:rPr lang="en-US" sz="1900" dirty="0"/>
              <a:t>)</a:t>
            </a:r>
            <a:r>
              <a:rPr lang="en-US" sz="1900" dirty="0">
                <a:sym typeface="Wingdings" pitchFamily="2" charset="2"/>
              </a:rPr>
              <a:t></a:t>
            </a:r>
            <a:r>
              <a:rPr lang="en-US" sz="1900" dirty="0"/>
              <a:t>No. of operations proportional to the square of the size of the input data.</a:t>
            </a:r>
          </a:p>
          <a:p>
            <a:pPr>
              <a:buNone/>
            </a:pPr>
            <a:r>
              <a:rPr lang="en-US" sz="1900" dirty="0"/>
              <a:t>		e.g. n=500</a:t>
            </a:r>
            <a:r>
              <a:rPr lang="en-US" sz="1900" dirty="0">
                <a:sym typeface="Wingdings" pitchFamily="2" charset="2"/>
              </a:rPr>
              <a:t>250000 operations</a:t>
            </a:r>
            <a:endParaRPr lang="en-US" sz="1900" dirty="0"/>
          </a:p>
          <a:p>
            <a:r>
              <a:rPr lang="en-US" sz="1900" b="1" dirty="0"/>
              <a:t>Cubic: </a:t>
            </a:r>
            <a:r>
              <a:rPr lang="en-US" sz="1900" dirty="0"/>
              <a:t>O(</a:t>
            </a:r>
            <a:r>
              <a:rPr lang="en-IN" sz="1900" dirty="0"/>
              <a:t>n</a:t>
            </a:r>
            <a:r>
              <a:rPr lang="en-IN" sz="1900" baseline="30000" dirty="0"/>
              <a:t>3</a:t>
            </a:r>
            <a:r>
              <a:rPr lang="en-US" sz="1900" dirty="0"/>
              <a:t>)</a:t>
            </a:r>
            <a:r>
              <a:rPr lang="en-US" sz="1900" dirty="0">
                <a:sym typeface="Wingdings" pitchFamily="2" charset="2"/>
              </a:rPr>
              <a:t> no. of operations proportional to the cube of the size of the input data,</a:t>
            </a:r>
          </a:p>
          <a:p>
            <a:pPr>
              <a:buNone/>
            </a:pPr>
            <a:r>
              <a:rPr lang="en-US" sz="1900" dirty="0">
                <a:sym typeface="Wingdings" pitchFamily="2" charset="2"/>
              </a:rPr>
              <a:t>		e.g. n=10 1000 operations</a:t>
            </a:r>
            <a:endParaRPr lang="en-US" sz="1900" dirty="0"/>
          </a:p>
          <a:p>
            <a:r>
              <a:rPr lang="en-US" sz="1900" b="1" dirty="0"/>
              <a:t>Exponential: </a:t>
            </a:r>
            <a:r>
              <a:rPr lang="en-US" sz="1900" dirty="0"/>
              <a:t> exponential no. of operations, fast growing,</a:t>
            </a:r>
          </a:p>
          <a:p>
            <a:pPr>
              <a:buNone/>
            </a:pPr>
            <a:r>
              <a:rPr lang="en-US" sz="1900" dirty="0"/>
              <a:t>		e.g. n=20</a:t>
            </a:r>
            <a:r>
              <a:rPr lang="en-US" sz="1900" dirty="0">
                <a:sym typeface="Wingdings" pitchFamily="2" charset="2"/>
              </a:rPr>
              <a:t> 1048576 operations.</a:t>
            </a:r>
            <a:endParaRPr lang="en-US" sz="19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20693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defRPr/>
            </a:pPr>
            <a:r>
              <a:rPr lang="en-US" b="1" dirty="0">
                <a:latin typeface="Casper Bold"/>
              </a:rPr>
              <a:t>Applications</a:t>
            </a:r>
            <a:endParaRPr lang="en-US" dirty="0">
              <a:latin typeface="Casper Bold"/>
            </a:endParaRPr>
          </a:p>
        </p:txBody>
      </p:sp>
      <p:sp>
        <p:nvSpPr>
          <p:cNvPr id="3" name="Content Placeholder 2"/>
          <p:cNvSpPr>
            <a:spLocks noGrp="1"/>
          </p:cNvSpPr>
          <p:nvPr>
            <p:ph idx="1"/>
          </p:nvPr>
        </p:nvSpPr>
        <p:spPr/>
        <p:txBody>
          <a:bodyPr>
            <a:normAutofit/>
          </a:bodyPr>
          <a:lstStyle/>
          <a:p>
            <a:r>
              <a:rPr lang="en-US" dirty="0"/>
              <a:t>To </a:t>
            </a:r>
            <a:r>
              <a:rPr lang="en-US" dirty="0" smtClean="0"/>
              <a:t> improve the </a:t>
            </a:r>
            <a:r>
              <a:rPr lang="en-US" dirty="0"/>
              <a:t>agility of software.</a:t>
            </a:r>
          </a:p>
          <a:p>
            <a:r>
              <a:rPr lang="en-US" dirty="0"/>
              <a:t>To </a:t>
            </a:r>
            <a:r>
              <a:rPr lang="en-US" dirty="0" smtClean="0"/>
              <a:t>decrease </a:t>
            </a:r>
            <a:r>
              <a:rPr lang="en-US" dirty="0"/>
              <a:t>maintenance cost.</a:t>
            </a:r>
          </a:p>
          <a:p>
            <a:r>
              <a:rPr lang="en-US" dirty="0"/>
              <a:t>To meet architectural standards and improve code quality.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632818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smtClean="0">
                <a:latin typeface="Casper Bold" panose="02000806040000020004" pitchFamily="2" charset="0"/>
                <a:cs typeface="Arial" panose="020B0604020202020204" pitchFamily="34" charset="0"/>
              </a:rPr>
              <a:t>REFERENCES </a:t>
            </a:r>
            <a:r>
              <a:rPr lang="en-US" sz="2800" dirty="0" smtClean="0">
                <a:latin typeface="Casper Bold" panose="02000806040000020004" pitchFamily="2" charset="0"/>
                <a:cs typeface="Arial" panose="020B0604020202020204" pitchFamily="34" charset="0"/>
              </a:rPr>
              <a:t> </a:t>
            </a:r>
            <a:r>
              <a:rPr lang="en-US" sz="2800" dirty="0" smtClean="0"/>
              <a:t>  </a:t>
            </a:r>
            <a:endParaRPr lang="en-US" dirty="0"/>
          </a:p>
        </p:txBody>
      </p:sp>
      <p:sp>
        <p:nvSpPr>
          <p:cNvPr id="3" name="Content Placeholder 2"/>
          <p:cNvSpPr>
            <a:spLocks noGrp="1"/>
          </p:cNvSpPr>
          <p:nvPr>
            <p:ph idx="1"/>
          </p:nvPr>
        </p:nvSpPr>
        <p:spPr/>
        <p:txBody>
          <a:bodyPr>
            <a:normAutofit/>
          </a:bodyPr>
          <a:lstStyle/>
          <a:p>
            <a:pPr marL="0" indent="0">
              <a:buNone/>
            </a:pPr>
            <a:endParaRPr lang="en-US" sz="1600" dirty="0" smtClean="0">
              <a:hlinkClick r:id="rId2"/>
            </a:endParaRPr>
          </a:p>
          <a:p>
            <a:pPr algn="just"/>
            <a:r>
              <a:rPr lang="en-US" sz="1600" dirty="0" err="1"/>
              <a:t>Lipschutz</a:t>
            </a:r>
            <a:r>
              <a:rPr lang="en-US" sz="1600" dirty="0"/>
              <a:t>, Seymour, “Data Structures”, </a:t>
            </a:r>
            <a:r>
              <a:rPr lang="en-US" sz="1600" dirty="0" err="1"/>
              <a:t>Schaum's</a:t>
            </a:r>
            <a:r>
              <a:rPr lang="en-US" sz="1600" dirty="0"/>
              <a:t> Outline Series, Tata McGraw Hill.</a:t>
            </a:r>
          </a:p>
          <a:p>
            <a:pPr algn="just"/>
            <a:r>
              <a:rPr lang="en-US" sz="1600" dirty="0"/>
              <a:t>Goodrich, Michael T., </a:t>
            </a:r>
            <a:r>
              <a:rPr lang="en-US" sz="1600" dirty="0" err="1"/>
              <a:t>Tamassia</a:t>
            </a:r>
            <a:r>
              <a:rPr lang="en-US" sz="1600" dirty="0"/>
              <a:t>, Roberto, and Mount, David M., “Data Structures and Algorithms in C++”, Wiley Student Edition.</a:t>
            </a:r>
          </a:p>
          <a:p>
            <a:pPr algn="just"/>
            <a:r>
              <a:rPr lang="en-US" sz="1600" dirty="0"/>
              <a:t>https://www.tutorialspoint.com/data_structures_algorithms/algorithms_basics.htm</a:t>
            </a:r>
          </a:p>
          <a:p>
            <a:pPr algn="just"/>
            <a:r>
              <a:rPr lang="en-US" sz="1600" dirty="0"/>
              <a:t>https://www.cs.utexas.edu/users/djimenez/utsa/cs1723/lecture2.html</a:t>
            </a:r>
          </a:p>
          <a:p>
            <a:pPr lvl="0"/>
            <a:r>
              <a:rPr lang="en-US" sz="1600" dirty="0" err="1" smtClean="0"/>
              <a:t>Lipschutz</a:t>
            </a:r>
            <a:r>
              <a:rPr lang="en-US" sz="1600" dirty="0"/>
              <a:t>, Seymour, “Data Structures”, </a:t>
            </a:r>
            <a:r>
              <a:rPr lang="en-US" sz="1600" dirty="0" err="1"/>
              <a:t>Schaum's</a:t>
            </a:r>
            <a:r>
              <a:rPr lang="en-US" sz="1600" dirty="0"/>
              <a:t> Outline Series, Tata McGraw Hill.</a:t>
            </a:r>
          </a:p>
          <a:p>
            <a:pPr lvl="0"/>
            <a:r>
              <a:rPr lang="en-US" sz="1600" dirty="0" err="1"/>
              <a:t>Lipschutz</a:t>
            </a:r>
            <a:r>
              <a:rPr lang="en-US" sz="1600" dirty="0"/>
              <a:t>, Seymour, “Data Structures”, </a:t>
            </a:r>
            <a:r>
              <a:rPr lang="en-US" sz="1600" dirty="0" err="1"/>
              <a:t>Schaum's</a:t>
            </a:r>
            <a:r>
              <a:rPr lang="en-US" sz="1600" dirty="0"/>
              <a:t> Outline Series, Tata McGraw Hill.</a:t>
            </a:r>
          </a:p>
          <a:p>
            <a:pPr lvl="0"/>
            <a:r>
              <a:rPr lang="en-US" sz="1600" dirty="0" err="1"/>
              <a:t>Gilberg</a:t>
            </a:r>
            <a:r>
              <a:rPr lang="en-US" sz="1600" dirty="0"/>
              <a:t>/</a:t>
            </a:r>
            <a:r>
              <a:rPr lang="en-US" sz="1600" dirty="0" err="1"/>
              <a:t>Forouzan</a:t>
            </a:r>
            <a:r>
              <a:rPr lang="en-US" sz="1600" dirty="0"/>
              <a:t>,” Data Structure with C ,</a:t>
            </a:r>
            <a:r>
              <a:rPr lang="en-US" sz="1600" dirty="0" err="1"/>
              <a:t>Cengage</a:t>
            </a:r>
            <a:r>
              <a:rPr lang="en-US" sz="1600" dirty="0"/>
              <a:t> Learning.</a:t>
            </a:r>
          </a:p>
          <a:p>
            <a:r>
              <a:rPr lang="en-US" sz="1600" dirty="0" err="1"/>
              <a:t>Augenstein,Moshe</a:t>
            </a:r>
            <a:r>
              <a:rPr lang="en-US" sz="1600" dirty="0"/>
              <a:t> J , </a:t>
            </a:r>
            <a:r>
              <a:rPr lang="en-US" sz="1600" dirty="0" err="1"/>
              <a:t>Tanenbaum</a:t>
            </a:r>
            <a:r>
              <a:rPr lang="en-US" sz="1600" dirty="0"/>
              <a:t>, Aaron  M, “Data Structures using C and C++”, Prentice Hall of India</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83058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6"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2115</TotalTime>
  <Words>860</Words>
  <Application>Microsoft Office PowerPoint</Application>
  <PresentationFormat>Widescreen</PresentationFormat>
  <Paragraphs>141</Paragraphs>
  <Slides>15</Slides>
  <Notes>6</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32" baseType="lpstr">
      <vt:lpstr>宋体</vt:lpstr>
      <vt:lpstr>Arial</vt:lpstr>
      <vt:lpstr>Arial Black</vt:lpstr>
      <vt:lpstr>Arial Unicode MS</vt:lpstr>
      <vt:lpstr>Calibri</vt:lpstr>
      <vt:lpstr>Calibri Light</vt:lpstr>
      <vt:lpstr>Cambria</vt:lpstr>
      <vt:lpstr>Casper</vt:lpstr>
      <vt:lpstr>Casper Bold</vt:lpstr>
      <vt:lpstr>Karla</vt:lpstr>
      <vt:lpstr>Raleway ExtraBold</vt:lpstr>
      <vt:lpstr>Segoe UI</vt:lpstr>
      <vt:lpstr>Times New Roman</vt:lpstr>
      <vt:lpstr>Wingdings</vt:lpstr>
      <vt:lpstr>1_Office Theme</vt:lpstr>
      <vt:lpstr>Contents Slide Master</vt:lpstr>
      <vt:lpstr>CorelDRAW</vt:lpstr>
      <vt:lpstr>PowerPoint Presentation</vt:lpstr>
      <vt:lpstr>Elementary Data Structure Using C++</vt:lpstr>
      <vt:lpstr>PowerPoint Presentation</vt:lpstr>
      <vt:lpstr> Scheme of Evaluation  </vt:lpstr>
      <vt:lpstr>CONTENTS </vt:lpstr>
      <vt:lpstr>   Data &amp; Information  </vt:lpstr>
      <vt:lpstr>Data Type &amp; Data Structure</vt:lpstr>
      <vt:lpstr>Operations on Data Structure</vt:lpstr>
      <vt:lpstr>Algorithm Complexity</vt:lpstr>
      <vt:lpstr>Algorithm Complexity</vt:lpstr>
      <vt:lpstr> Algorithm Complexity</vt:lpstr>
      <vt:lpstr> Various complexities of algorithms</vt:lpstr>
      <vt:lpstr>Applications</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239</cp:revision>
  <dcterms:created xsi:type="dcterms:W3CDTF">2019-01-09T10:33:58Z</dcterms:created>
  <dcterms:modified xsi:type="dcterms:W3CDTF">2024-01-10T10:30:54Z</dcterms:modified>
</cp:coreProperties>
</file>