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1"/>
  </p:notesMasterIdLst>
  <p:handoutMasterIdLst>
    <p:handoutMasterId r:id="rId22"/>
  </p:handoutMasterIdLst>
  <p:sldIdLst>
    <p:sldId id="354" r:id="rId3"/>
    <p:sldId id="402" r:id="rId4"/>
    <p:sldId id="368" r:id="rId5"/>
    <p:sldId id="369" r:id="rId6"/>
    <p:sldId id="382" r:id="rId7"/>
    <p:sldId id="383" r:id="rId8"/>
    <p:sldId id="384" r:id="rId9"/>
    <p:sldId id="385" r:id="rId10"/>
    <p:sldId id="386" r:id="rId11"/>
    <p:sldId id="387" r:id="rId12"/>
    <p:sldId id="388" r:id="rId13"/>
    <p:sldId id="389" r:id="rId14"/>
    <p:sldId id="390" r:id="rId15"/>
    <p:sldId id="391" r:id="rId16"/>
    <p:sldId id="392" r:id="rId17"/>
    <p:sldId id="394" r:id="rId18"/>
    <p:sldId id="401" r:id="rId19"/>
    <p:sldId id="353"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B7B0"/>
    <a:srgbClr val="4BDAE5"/>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434" autoAdjust="0"/>
  </p:normalViewPr>
  <p:slideViewPr>
    <p:cSldViewPr snapToGrid="0">
      <p:cViewPr varScale="1">
        <p:scale>
          <a:sx n="73" d="100"/>
          <a:sy n="73" d="100"/>
        </p:scale>
        <p:origin x="474"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1/10/2024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215210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058820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2686742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20123890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9992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1/10/2024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mathcs.emory.edu/~cheung/Courses/171/Syllabus/1-intro/rev=arrays.html"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chegg.com/homework-help/questions-and-answers/matrix-array-vector-rows-data-frame-table-columns-lists-r-data-types-true-true-true-true-f-q28713018"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sqa.org.uk/e-learning/LinkedDS02CD/page_46.htm" TargetMode="Externa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slideplayer.com/slide/7853049/"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cs.cmu.edu/~adamchik/15-121/lectures/Stacks%20and%20Queues/Stacks%20and%20Queues.html"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0" y="5369340"/>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33" name="CorelDRAW" r:id="rId4" imgW="2169000" imgH="2169360" progId="">
                  <p:embed/>
                </p:oleObj>
              </mc:Choice>
              <mc:Fallback>
                <p:oleObj name="CorelDRAW" r:id="rId4"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Arrays</a:t>
            </a:r>
            <a:endParaRPr lang="en-US" sz="1600" dirty="0">
              <a:latin typeface="Raleway ExtraBold" pitchFamily="34" charset="-52"/>
            </a:endParaRPr>
          </a:p>
        </p:txBody>
      </p:sp>
      <p:sp>
        <p:nvSpPr>
          <p:cNvPr id="2" name="TextBox 1">
            <a:extLst>
              <a:ext uri="{FF2B5EF4-FFF2-40B4-BE49-F238E27FC236}">
                <a16:creationId xmlns:a16="http://schemas.microsoft.com/office/drawing/2014/main" id="{0329CE43-2B94-49D3-9948-A297B0FB52BF}"/>
              </a:ext>
            </a:extLst>
          </p:cNvPr>
          <p:cNvSpPr txBox="1">
            <a:spLocks noChangeArrowheads="1"/>
          </p:cNvSpPr>
          <p:nvPr/>
        </p:nvSpPr>
        <p:spPr bwMode="auto">
          <a:xfrm>
            <a:off x="914391" y="1476983"/>
            <a:ext cx="9884238" cy="3327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UNITS</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a:t>
            </a:r>
            <a:r>
              <a:rPr lang="en-US" sz="2800">
                <a:latin typeface="Times New Roman" panose="02020603050405020304" pitchFamily="18" charset="0"/>
                <a:ea typeface="Calibri" panose="020F0502020204030204" pitchFamily="34" charset="0"/>
                <a:cs typeface="Times New Roman" panose="02020603050405020304" pitchFamily="18" charset="0"/>
              </a:rPr>
              <a:t>: Elementary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Data Structure Using </a:t>
            </a:r>
            <a:r>
              <a:rPr lang="en-US" sz="2800" dirty="0">
                <a:latin typeface="Times New Roman" panose="02020603050405020304" pitchFamily="18" charset="0"/>
                <a:ea typeface="Calibri" panose="020F0502020204030204" pitchFamily="34" charset="0"/>
                <a:cs typeface="Times New Roman" panose="02020603050405020304" pitchFamily="18" charset="0"/>
              </a:rPr>
              <a:t>C++</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3171432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92517353"/>
              </p:ext>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64594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151862848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62869" y="1018189"/>
            <a:ext cx="5778500" cy="4873625"/>
          </a:xfrm>
        </p:spPr>
        <p:txBody>
          <a:bodyPr>
            <a:normAutofit/>
          </a:bodyPr>
          <a:lstStyle/>
          <a:p>
            <a:pPr fontAlgn="base"/>
            <a:endParaRPr lang="en-US" sz="2400" dirty="0"/>
          </a:p>
        </p:txBody>
      </p:sp>
      <p:sp>
        <p:nvSpPr>
          <p:cNvPr id="4" name="Text Placeholder 3"/>
          <p:cNvSpPr>
            <a:spLocks noGrp="1"/>
          </p:cNvSpPr>
          <p:nvPr>
            <p:ph type="body" sz="half" idx="2"/>
          </p:nvPr>
        </p:nvSpPr>
        <p:spPr>
          <a:xfrm>
            <a:off x="649705" y="3565744"/>
            <a:ext cx="4331369" cy="2623644"/>
          </a:xfrm>
        </p:spPr>
        <p:txBody>
          <a:bodyPr>
            <a:normAutofit/>
          </a:bodyPr>
          <a:lstStyle/>
          <a:p>
            <a:pPr marL="228600" indent="-228600">
              <a:buFont typeface="Arial" panose="020B0604020202020204" pitchFamily="34" charset="0"/>
              <a:buChar char="•"/>
            </a:pPr>
            <a:r>
              <a:rPr lang="en-US" dirty="0">
                <a:latin typeface="Casper"/>
                <a:cs typeface="Arial" pitchFamily="34" charset="0"/>
              </a:rPr>
              <a:t>An array is a collection of items stored at contiguous memory locations. The idea is to store multiple items of the same type together. </a:t>
            </a:r>
          </a:p>
          <a:p>
            <a:pPr marL="228600" indent="-228600">
              <a:buFont typeface="Arial" panose="020B0604020202020204" pitchFamily="34" charset="0"/>
              <a:buChar char="•"/>
            </a:pPr>
            <a:r>
              <a:rPr lang="en-US" dirty="0">
                <a:latin typeface="Casper"/>
                <a:cs typeface="Arial" pitchFamily="34" charset="0"/>
              </a:rPr>
              <a:t>This makes it easier to calculate the position of each element by simply adding an offset to a base value, i.e., the memory location of the first element of the array (generally denoted by the name of the array).</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0" y="1425858"/>
            <a:ext cx="5916010"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dirty="0">
                <a:latin typeface="Casper Bold"/>
              </a:rPr>
              <a:t>   </a:t>
            </a:r>
            <a:r>
              <a:rPr lang="en-US" sz="4400" b="1" dirty="0">
                <a:solidFill>
                  <a:prstClr val="black">
                    <a:lumMod val="85000"/>
                    <a:lumOff val="15000"/>
                  </a:prstClr>
                </a:solidFill>
                <a:latin typeface="Casper Bold"/>
                <a:cs typeface="Times New Roman" panose="02020603050405020304" pitchFamily="18" charset="0"/>
              </a:rPr>
              <a:t>Arrays</a:t>
            </a:r>
            <a:r>
              <a:rPr lang="en-US" sz="4400" dirty="0">
                <a:latin typeface="Casper Bold"/>
              </a:rPr>
              <a:t/>
            </a:r>
            <a:br>
              <a:rPr lang="en-US" sz="4400" dirty="0">
                <a:latin typeface="Casper Bold"/>
              </a:rPr>
            </a:br>
            <a:r>
              <a:rPr lang="en-US" sz="4400" dirty="0">
                <a:latin typeface="Casper Bold"/>
              </a:rPr>
              <a:t> </a:t>
            </a:r>
          </a:p>
        </p:txBody>
      </p:sp>
      <p:sp>
        <p:nvSpPr>
          <p:cNvPr id="2" name="Rectangle 1"/>
          <p:cNvSpPr/>
          <p:nvPr/>
        </p:nvSpPr>
        <p:spPr>
          <a:xfrm>
            <a:off x="5916010" y="806669"/>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3200400"/>
            <a:ext cx="4796506" cy="3155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154918" y="5543057"/>
            <a:ext cx="5389582" cy="646331"/>
          </a:xfrm>
          <a:prstGeom prst="rect">
            <a:avLst/>
          </a:prstGeom>
        </p:spPr>
        <p:txBody>
          <a:bodyPr wrap="square">
            <a:spAutoFit/>
          </a:bodyPr>
          <a:lstStyle/>
          <a:p>
            <a:r>
              <a:rPr lang="en-US" dirty="0">
                <a:hlinkClick r:id="rId2"/>
              </a:rPr>
              <a:t>http://www.mathcs.emory.edu/~cheung/Courses/171/Syllabus/1-intro/rev=arrays.html</a:t>
            </a:r>
            <a:endParaRPr lang="en-US" dirty="0">
              <a:latin typeface="Casper" panose="02000506000000020004" pitchFamily="2" charset="0"/>
              <a:cs typeface="Arial" panose="020B0604020202020204" pitchFamily="34" charset="0"/>
            </a:endParaRPr>
          </a:p>
        </p:txBody>
      </p:sp>
      <p:sp>
        <p:nvSpPr>
          <p:cNvPr id="44036" name="AutoShape 4"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0" name="AutoShape 8"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3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826" y="962527"/>
            <a:ext cx="5745766" cy="4385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26017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3338" y="765941"/>
            <a:ext cx="6170885" cy="4873625"/>
          </a:xfrm>
        </p:spPr>
        <p:txBody>
          <a:bodyPr>
            <a:normAutofit/>
          </a:bodyPr>
          <a:lstStyle/>
          <a:p>
            <a:pPr marL="0" indent="0">
              <a:buNone/>
            </a:pPr>
            <a:r>
              <a:rPr lang="en-US" sz="2400" dirty="0"/>
              <a:t> </a:t>
            </a:r>
          </a:p>
          <a:p>
            <a:pPr>
              <a:buNone/>
            </a:pPr>
            <a:r>
              <a:rPr lang="en-US" sz="2400" dirty="0"/>
              <a:t> </a:t>
            </a: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324853" y="1708484"/>
            <a:ext cx="4584031" cy="4367463"/>
          </a:xfrm>
        </p:spPr>
        <p:txBody>
          <a:bodyPr>
            <a:normAutofit fontScale="92500"/>
          </a:bodyPr>
          <a:lstStyle/>
          <a:p>
            <a:pPr marL="228600" indent="-228600">
              <a:buFont typeface="Arial" panose="020B0604020202020204" pitchFamily="34" charset="0"/>
              <a:buChar char="•"/>
            </a:pPr>
            <a:r>
              <a:rPr lang="en-US" dirty="0">
                <a:latin typeface="Casper"/>
                <a:cs typeface="Arial" pitchFamily="34" charset="0"/>
              </a:rPr>
              <a:t>Linear arrays are called one dimensional arrays because each element in such an array is referenced by one subscript.</a:t>
            </a:r>
          </a:p>
          <a:p>
            <a:pPr marL="228600" indent="-228600">
              <a:buFont typeface="Arial" panose="020B0604020202020204" pitchFamily="34" charset="0"/>
              <a:buChar char="•"/>
            </a:pPr>
            <a:r>
              <a:rPr lang="en-US" dirty="0">
                <a:latin typeface="Casper"/>
                <a:cs typeface="Arial" pitchFamily="34" charset="0"/>
              </a:rPr>
              <a:t> (Two dimensional array) : Two dimensional array is a collection of similar data elements where each element is referenced by two subscripts.</a:t>
            </a:r>
          </a:p>
          <a:p>
            <a:pPr marL="228600" indent="-228600">
              <a:buFont typeface="Arial" panose="020B0604020202020204" pitchFamily="34" charset="0"/>
              <a:buChar char="•"/>
            </a:pPr>
            <a:r>
              <a:rPr lang="en-US" dirty="0">
                <a:latin typeface="Casper"/>
                <a:cs typeface="Arial" pitchFamily="34" charset="0"/>
              </a:rPr>
              <a:t>Such arrays are called matrices in mathematics.</a:t>
            </a:r>
          </a:p>
          <a:p>
            <a:pPr marL="228600" indent="-228600">
              <a:buFont typeface="Arial" panose="020B0604020202020204" pitchFamily="34" charset="0"/>
              <a:buChar char="•"/>
            </a:pPr>
            <a:r>
              <a:rPr lang="en-US" dirty="0">
                <a:latin typeface="Casper"/>
                <a:cs typeface="Arial" pitchFamily="34" charset="0"/>
              </a:rPr>
              <a:t>Multidimensional arrays are defined analogously</a:t>
            </a:r>
          </a:p>
          <a:p>
            <a:pPr marL="228600" indent="-228600">
              <a:buFont typeface="Arial" panose="020B0604020202020204" pitchFamily="34" charset="0"/>
              <a:buChar char="•"/>
            </a:pPr>
            <a:r>
              <a:rPr lang="en-US" dirty="0">
                <a:latin typeface="Casper"/>
                <a:cs typeface="Arial" pitchFamily="34" charset="0"/>
              </a:rPr>
              <a:t>Array Data Structure </a:t>
            </a:r>
          </a:p>
          <a:p>
            <a:pPr marL="228600" indent="-228600">
              <a:buFont typeface="Arial" panose="020B0604020202020204" pitchFamily="34" charset="0"/>
              <a:buChar char="•"/>
            </a:pPr>
            <a:r>
              <a:rPr lang="en-US" dirty="0">
                <a:latin typeface="Casper"/>
                <a:cs typeface="Arial" pitchFamily="34" charset="0"/>
              </a:rPr>
              <a:t>It can hold multiple values of a single type. </a:t>
            </a:r>
          </a:p>
          <a:p>
            <a:pPr marL="228600" indent="-228600">
              <a:buFont typeface="Arial" panose="020B0604020202020204" pitchFamily="34" charset="0"/>
              <a:buChar char="•"/>
            </a:pPr>
            <a:r>
              <a:rPr lang="en-US" dirty="0">
                <a:latin typeface="Casper"/>
                <a:cs typeface="Arial" pitchFamily="34" charset="0"/>
              </a:rPr>
              <a:t>Elements are referenced by the array name and an ordinal index. </a:t>
            </a:r>
          </a:p>
          <a:p>
            <a:pPr marL="228600" indent="-228600">
              <a:buFont typeface="Arial" panose="020B0604020202020204" pitchFamily="34" charset="0"/>
              <a:buChar char="•"/>
            </a:pPr>
            <a:r>
              <a:rPr lang="en-US" dirty="0">
                <a:latin typeface="Casper"/>
                <a:cs typeface="Arial" pitchFamily="34" charset="0"/>
              </a:rPr>
              <a:t>Each element is a </a:t>
            </a:r>
            <a:r>
              <a:rPr lang="en-US" dirty="0" smtClean="0">
                <a:latin typeface="Casper"/>
                <a:cs typeface="Arial" pitchFamily="34" charset="0"/>
              </a:rPr>
              <a:t>value.</a:t>
            </a:r>
            <a:endParaRPr lang="en-US" dirty="0">
              <a:latin typeface="Casper"/>
              <a:cs typeface="Arial" pitchFamily="34" charset="0"/>
            </a:endParaRPr>
          </a:p>
          <a:p>
            <a:pPr marL="228600" indent="-228600">
              <a:buFont typeface="Arial" panose="020B0604020202020204" pitchFamily="34" charset="0"/>
              <a:buChar char="•"/>
            </a:pPr>
            <a:r>
              <a:rPr lang="en-US" dirty="0">
                <a:latin typeface="Casper"/>
                <a:cs typeface="Arial" pitchFamily="34" charset="0"/>
              </a:rPr>
              <a:t>Indexing begins at zero in C.</a:t>
            </a:r>
          </a:p>
          <a:p>
            <a:pPr marL="228600" indent="-228600">
              <a:buFont typeface="Arial" panose="020B0604020202020204" pitchFamily="34" charset="0"/>
              <a:buChar char="•"/>
            </a:pPr>
            <a:r>
              <a:rPr lang="en-US" dirty="0">
                <a:latin typeface="Casper"/>
                <a:cs typeface="Arial" pitchFamily="34" charset="0"/>
              </a:rPr>
              <a:t>The array forms a contiguous list in memory. </a:t>
            </a:r>
          </a:p>
          <a:p>
            <a:pPr algn="just">
              <a:spcBef>
                <a:spcPct val="50000"/>
              </a:spcBef>
            </a:pP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784681" y="834496"/>
            <a:ext cx="4232486"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rPr>
              <a:t>Arrays</a:t>
            </a:r>
            <a:endParaRPr lang="en-US" sz="4400" dirty="0">
              <a:latin typeface="Casper Bold"/>
            </a:endParaRP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68442" y="1540043"/>
            <a:ext cx="4848725" cy="46691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71595" y="5001938"/>
            <a:ext cx="6232634" cy="923330"/>
          </a:xfrm>
          <a:prstGeom prst="rect">
            <a:avLst/>
          </a:prstGeom>
        </p:spPr>
        <p:txBody>
          <a:bodyPr wrap="square">
            <a:spAutoFit/>
          </a:bodyPr>
          <a:lstStyle/>
          <a:p>
            <a:r>
              <a:rPr lang="en-US" dirty="0">
                <a:hlinkClick r:id="rId2"/>
              </a:rPr>
              <a:t>https://www.chegg.com/homework-help/questions-and-answers/matrix-array-vector-rows-data-frame-table-columns-lists-r-data-types-true-true-true-true-f-q28713018</a:t>
            </a:r>
            <a:endParaRPr lang="en-US" dirty="0"/>
          </a:p>
        </p:txBody>
      </p:sp>
      <p:pic>
        <p:nvPicPr>
          <p:cNvPr id="6" name="Picture 5"/>
          <p:cNvPicPr>
            <a:picLocks noChangeAspect="1"/>
          </p:cNvPicPr>
          <p:nvPr/>
        </p:nvPicPr>
        <p:blipFill>
          <a:blip r:embed="rId3"/>
          <a:stretch>
            <a:fillRect/>
          </a:stretch>
        </p:blipFill>
        <p:spPr>
          <a:xfrm>
            <a:off x="5423338" y="1018904"/>
            <a:ext cx="6080891" cy="3413396"/>
          </a:xfrm>
          <a:prstGeom prst="rect">
            <a:avLst/>
          </a:prstGeom>
        </p:spPr>
      </p:pic>
    </p:spTree>
    <p:extLst>
      <p:ext uri="{BB962C8B-B14F-4D97-AF65-F5344CB8AC3E}">
        <p14:creationId xmlns:p14="http://schemas.microsoft.com/office/powerpoint/2010/main" val="39937478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60375" y="2586789"/>
            <a:ext cx="4544762" cy="3622416"/>
          </a:xfrm>
        </p:spPr>
        <p:txBody>
          <a:bodyPr>
            <a:normAutofit fontScale="92500" lnSpcReduction="20000"/>
          </a:bodyPr>
          <a:lstStyle/>
          <a:p>
            <a:pPr algn="just">
              <a:spcBef>
                <a:spcPct val="50000"/>
              </a:spcBef>
            </a:pPr>
            <a:r>
              <a:rPr lang="en-US" sz="1700" dirty="0">
                <a:latin typeface="Casper"/>
                <a:cs typeface="Arial" pitchFamily="34" charset="0"/>
              </a:rPr>
              <a:t>Print the contents of each element of DATA or Count the number of elements of DATA with a given property. This can be accomplished by traversing DATA, That is, by accessing and processing (visiting) each element of DATA exactly once.</a:t>
            </a:r>
          </a:p>
          <a:p>
            <a:pPr algn="just"/>
            <a:r>
              <a:rPr lang="en-US" sz="1700" dirty="0">
                <a:latin typeface="Casper"/>
                <a:cs typeface="Arial" pitchFamily="34" charset="0"/>
              </a:rPr>
              <a:t>Traversing a linear structure means moving through it sequentially, node by node. Processing the data element of a node may be complex, but the general pattern is as follows:</a:t>
            </a:r>
          </a:p>
          <a:p>
            <a:pPr algn="just"/>
            <a:r>
              <a:rPr lang="en-US" sz="1700" dirty="0">
                <a:latin typeface="Casper"/>
                <a:cs typeface="Arial" pitchFamily="34" charset="0"/>
              </a:rPr>
              <a:t>Begin at the first node</a:t>
            </a:r>
          </a:p>
          <a:p>
            <a:pPr algn="just"/>
            <a:r>
              <a:rPr lang="en-US" sz="1700" dirty="0">
                <a:latin typeface="Casper"/>
                <a:cs typeface="Arial" pitchFamily="34" charset="0"/>
              </a:rPr>
              <a:t>Repeat until there are no more nodes</a:t>
            </a:r>
          </a:p>
          <a:p>
            <a:pPr algn="just"/>
            <a:r>
              <a:rPr lang="en-US" sz="1700" dirty="0">
                <a:latin typeface="Casper"/>
                <a:cs typeface="Arial" pitchFamily="34" charset="0"/>
              </a:rPr>
              <a:t>Process the current node</a:t>
            </a:r>
          </a:p>
          <a:p>
            <a:pPr algn="just"/>
            <a:r>
              <a:rPr lang="en-US" sz="1700" dirty="0">
                <a:latin typeface="Casper"/>
                <a:cs typeface="Arial" pitchFamily="34" charset="0"/>
              </a:rPr>
              <a:t>Move to the next node</a:t>
            </a:r>
          </a:p>
          <a:p>
            <a:r>
              <a:rPr lang="en-US" dirty="0"/>
              <a:t/>
            </a:r>
            <a:br>
              <a:rPr lang="en-US" dirty="0"/>
            </a:b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262206" y="1057797"/>
            <a:ext cx="4908884"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rPr>
              <a:t>Traversing  linear Arrays</a:t>
            </a:r>
            <a:endParaRPr lang="en-US" sz="4400" dirty="0">
              <a:latin typeface="Casper Bold"/>
            </a:endParaRPr>
          </a:p>
        </p:txBody>
      </p:sp>
      <p:sp>
        <p:nvSpPr>
          <p:cNvPr id="2" name="Rectangle 1"/>
          <p:cNvSpPr/>
          <p:nvPr/>
        </p:nvSpPr>
        <p:spPr>
          <a:xfrm>
            <a:off x="5171090" y="691055"/>
            <a:ext cx="6433645"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1" y="2478505"/>
            <a:ext cx="4576896" cy="37307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362576" y="5209858"/>
            <a:ext cx="6232634" cy="369332"/>
          </a:xfrm>
          <a:prstGeom prst="rect">
            <a:avLst/>
          </a:prstGeom>
        </p:spPr>
        <p:txBody>
          <a:bodyPr wrap="square">
            <a:spAutoFit/>
          </a:bodyPr>
          <a:lstStyle/>
          <a:p>
            <a:r>
              <a:rPr lang="en-US" dirty="0">
                <a:hlinkClick r:id="rId2"/>
              </a:rPr>
              <a:t>https://www.sqa.org.uk/e-learning/LinkedDS02CD/page_46.htm</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6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62577" y="2368550"/>
            <a:ext cx="6076950" cy="22997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084195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60375" y="3272589"/>
            <a:ext cx="4833520" cy="2936616"/>
          </a:xfrm>
        </p:spPr>
        <p:txBody>
          <a:bodyPr>
            <a:normAutofit fontScale="92500" lnSpcReduction="20000"/>
          </a:bodyPr>
          <a:lstStyle/>
          <a:p>
            <a:pPr marL="342900" indent="-342900">
              <a:spcBef>
                <a:spcPct val="50000"/>
              </a:spcBef>
            </a:pPr>
            <a:r>
              <a:rPr lang="en-US" dirty="0"/>
              <a:t>        </a:t>
            </a:r>
            <a:r>
              <a:rPr lang="en-US" sz="1700" dirty="0">
                <a:latin typeface="Casper"/>
                <a:cs typeface="Arial" pitchFamily="34" charset="0"/>
              </a:rPr>
              <a:t>To implement array data structure, memory bytes must be reserved and the accessing functions must be coded. In case of linear arrays, the declaration statements tell how many cells are needed to store the array.</a:t>
            </a:r>
          </a:p>
          <a:p>
            <a:pPr marL="342900" indent="-342900">
              <a:spcBef>
                <a:spcPct val="50000"/>
              </a:spcBef>
            </a:pPr>
            <a:r>
              <a:rPr lang="en-US" sz="1700" dirty="0">
                <a:latin typeface="Casper"/>
                <a:cs typeface="Arial" pitchFamily="34" charset="0"/>
              </a:rPr>
              <a:t/>
            </a:r>
            <a:br>
              <a:rPr lang="en-US" sz="1700" dirty="0">
                <a:latin typeface="Casper"/>
                <a:cs typeface="Arial" pitchFamily="34" charset="0"/>
              </a:rPr>
            </a:br>
            <a:r>
              <a:rPr lang="en-US" sz="1700" dirty="0">
                <a:latin typeface="Casper"/>
                <a:cs typeface="Arial" pitchFamily="34" charset="0"/>
              </a:rPr>
              <a:t>Each box represents the amount of memory needed to hold one array element. </a:t>
            </a:r>
          </a:p>
          <a:p>
            <a:pPr marL="342900" indent="-342900">
              <a:spcBef>
                <a:spcPct val="50000"/>
              </a:spcBef>
            </a:pPr>
            <a:r>
              <a:rPr lang="en-US" sz="1700" dirty="0">
                <a:latin typeface="Casper"/>
                <a:cs typeface="Arial" pitchFamily="34" charset="0"/>
              </a:rPr>
              <a:t>        Pointers hold the memory address of other data and are represented by a black disk with an arrow pointing to the data it references. </a:t>
            </a:r>
          </a:p>
          <a:p>
            <a:pPr marL="342900" indent="-342900">
              <a:spcBef>
                <a:spcPct val="50000"/>
              </a:spcBef>
            </a:pPr>
            <a:r>
              <a:rPr lang="en-US" sz="1700" dirty="0">
                <a:latin typeface="Casper"/>
                <a:cs typeface="Arial" pitchFamily="34" charset="0"/>
              </a:rPr>
              <a:t>        The actual array variable, a in this example, is a pointer to the memory for all of its elements.</a:t>
            </a: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8</a:t>
            </a:fld>
            <a:endParaRPr lang="en-US" dirty="0"/>
          </a:p>
        </p:txBody>
      </p:sp>
      <p:sp>
        <p:nvSpPr>
          <p:cNvPr id="8" name="Title 7"/>
          <p:cNvSpPr txBox="1">
            <a:spLocks noGrp="1" noChangeArrowheads="1"/>
          </p:cNvSpPr>
          <p:nvPr>
            <p:ph type="title"/>
          </p:nvPr>
        </p:nvSpPr>
        <p:spPr bwMode="auto">
          <a:xfrm>
            <a:off x="307975" y="1013883"/>
            <a:ext cx="5296383"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rPr>
              <a:t>Representation of linear array in memory</a:t>
            </a:r>
            <a:endParaRPr lang="en-US" sz="4400" dirty="0">
              <a:latin typeface="Casper Bold"/>
            </a:endParaRPr>
          </a:p>
        </p:txBody>
      </p:sp>
      <p:sp>
        <p:nvSpPr>
          <p:cNvPr id="2" name="Rectangle 1"/>
          <p:cNvSpPr/>
          <p:nvPr/>
        </p:nvSpPr>
        <p:spPr>
          <a:xfrm>
            <a:off x="5702968" y="691055"/>
            <a:ext cx="5901767"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8240" y="3056021"/>
            <a:ext cx="5058159" cy="31531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959366" y="5210042"/>
            <a:ext cx="6232634" cy="369332"/>
          </a:xfrm>
          <a:prstGeom prst="rect">
            <a:avLst/>
          </a:prstGeom>
        </p:spPr>
        <p:txBody>
          <a:bodyPr wrap="square">
            <a:spAutoFit/>
          </a:bodyPr>
          <a:lstStyle/>
          <a:p>
            <a:r>
              <a:rPr lang="en-US" dirty="0">
                <a:hlinkClick r:id="rId2"/>
              </a:rPr>
              <a:t>https://slideplayer.com/slide/7853049/</a:t>
            </a:r>
            <a:endParaRPr lang="en-US" dirty="0"/>
          </a:p>
        </p:txBody>
      </p:sp>
      <p:sp>
        <p:nvSpPr>
          <p:cNvPr id="6" name="AutoShape 2" descr="Image result for Queue definit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779627" y="1121648"/>
            <a:ext cx="5437649" cy="4042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450682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a:latin typeface="Casper Bold"/>
              </a:rPr>
              <a:t> </a:t>
            </a:r>
            <a:r>
              <a:rPr lang="en-US" b="1" dirty="0">
                <a:latin typeface="Casper Bold"/>
              </a:rPr>
              <a:t>Traversing Linear Arrays</a:t>
            </a:r>
            <a:endParaRPr lang="en-US" dirty="0">
              <a:latin typeface="Casper Bold"/>
            </a:endParaRPr>
          </a:p>
        </p:txBody>
      </p:sp>
      <p:sp>
        <p:nvSpPr>
          <p:cNvPr id="3" name="Content Placeholder 2"/>
          <p:cNvSpPr>
            <a:spLocks noGrp="1"/>
          </p:cNvSpPr>
          <p:nvPr>
            <p:ph idx="1"/>
          </p:nvPr>
        </p:nvSpPr>
        <p:spPr/>
        <p:txBody>
          <a:bodyPr>
            <a:normAutofit/>
          </a:bodyPr>
          <a:lstStyle/>
          <a:p>
            <a:r>
              <a:rPr lang="en-US" sz="1600" dirty="0">
                <a:latin typeface="Casper"/>
                <a:cs typeface="Arial" pitchFamily="34" charset="0"/>
              </a:rPr>
              <a:t>Example :</a:t>
            </a:r>
          </a:p>
          <a:p>
            <a:pPr marL="0" indent="0">
              <a:buNone/>
            </a:pPr>
            <a:r>
              <a:rPr lang="en-US" sz="1600" dirty="0">
                <a:latin typeface="Casper"/>
                <a:cs typeface="Arial" pitchFamily="34" charset="0"/>
              </a:rPr>
              <a:t>An automobile company uses an array AUTO to record the number of auto mobile sold each year      from 1932 through 1984. </a:t>
            </a:r>
          </a:p>
          <a:p>
            <a:pPr marL="0" indent="0">
              <a:buNone/>
            </a:pPr>
            <a:r>
              <a:rPr lang="en-US" sz="1600" dirty="0">
                <a:latin typeface="Casper"/>
                <a:cs typeface="Arial" pitchFamily="34" charset="0"/>
              </a:rPr>
              <a:t>     a) Find the number NUM of years during which more than 300 automobiles were sold.</a:t>
            </a:r>
          </a:p>
          <a:p>
            <a:pPr marL="0" indent="0">
              <a:buNone/>
            </a:pPr>
            <a:r>
              <a:rPr lang="en-US" sz="1600" dirty="0">
                <a:latin typeface="Casper"/>
                <a:cs typeface="Arial" pitchFamily="34" charset="0"/>
              </a:rPr>
              <a:t>    b) Print each year and the number of automobiles sold in that year.</a:t>
            </a:r>
          </a:p>
          <a:p>
            <a:pPr marL="342900" indent="-342900">
              <a:buFontTx/>
              <a:buAutoNum type="arabicPeriod"/>
            </a:pPr>
            <a:r>
              <a:rPr lang="en-US" sz="1600" dirty="0">
                <a:latin typeface="Casper"/>
                <a:cs typeface="Arial" pitchFamily="34" charset="0"/>
              </a:rPr>
              <a:t>Set NUM : = 0.</a:t>
            </a:r>
          </a:p>
          <a:p>
            <a:pPr marL="342900" indent="-342900">
              <a:buFontTx/>
              <a:buAutoNum type="arabicPeriod"/>
            </a:pPr>
            <a:r>
              <a:rPr lang="en-US" sz="1600" dirty="0">
                <a:latin typeface="Casper"/>
                <a:cs typeface="Arial" pitchFamily="34" charset="0"/>
              </a:rPr>
              <a:t>Repeat for K = 1932 to 1984:</a:t>
            </a:r>
          </a:p>
          <a:p>
            <a:pPr marL="0" indent="0">
              <a:buNone/>
            </a:pPr>
            <a:r>
              <a:rPr lang="en-US" sz="1600" dirty="0">
                <a:latin typeface="Casper"/>
                <a:cs typeface="Arial" pitchFamily="34" charset="0"/>
              </a:rPr>
              <a:t>      if AUTO[K]&gt; 300, then : set NUM : = NUM+1</a:t>
            </a:r>
          </a:p>
          <a:p>
            <a:pPr marL="342900" indent="-342900">
              <a:buFontTx/>
              <a:buAutoNum type="arabicPeriod" startAt="3"/>
            </a:pPr>
            <a:r>
              <a:rPr lang="en-US" sz="1600" dirty="0">
                <a:latin typeface="Casper"/>
                <a:cs typeface="Arial" pitchFamily="34" charset="0"/>
              </a:rPr>
              <a:t>Exit.</a:t>
            </a:r>
          </a:p>
          <a:p>
            <a:pPr marL="0" indent="0">
              <a:buNone/>
            </a:pPr>
            <a:endParaRPr lang="en-US" sz="20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770403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a:latin typeface="Casper Bold"/>
              </a:rPr>
              <a:t> </a:t>
            </a:r>
            <a:r>
              <a:rPr lang="en-US" b="1" dirty="0">
                <a:latin typeface="Casper Bold"/>
              </a:rPr>
              <a:t>Insertion in an Array</a:t>
            </a:r>
            <a:endParaRPr lang="en-US" dirty="0">
              <a:latin typeface="Casper Bold"/>
            </a:endParaRPr>
          </a:p>
        </p:txBody>
      </p:sp>
      <p:sp>
        <p:nvSpPr>
          <p:cNvPr id="3" name="Content Placeholder 2"/>
          <p:cNvSpPr>
            <a:spLocks noGrp="1"/>
          </p:cNvSpPr>
          <p:nvPr>
            <p:ph idx="1"/>
          </p:nvPr>
        </p:nvSpPr>
        <p:spPr/>
        <p:txBody>
          <a:bodyPr>
            <a:normAutofit fontScale="92500" lnSpcReduction="10000"/>
          </a:bodyPr>
          <a:lstStyle/>
          <a:p>
            <a:r>
              <a:rPr lang="en-US" sz="1700" dirty="0">
                <a:latin typeface="Casper"/>
                <a:cs typeface="Arial" pitchFamily="34" charset="0"/>
              </a:rPr>
              <a:t>INSERTING AN ELEMENT INTO AN ARRAY:</a:t>
            </a:r>
          </a:p>
          <a:p>
            <a:r>
              <a:rPr lang="en-US" sz="1700" dirty="0">
                <a:latin typeface="Casper"/>
                <a:cs typeface="Arial" pitchFamily="34" charset="0"/>
              </a:rPr>
              <a:t>Insert (LA, N, K, ITEM)</a:t>
            </a:r>
          </a:p>
          <a:p>
            <a:pPr marL="0" indent="0">
              <a:buNone/>
            </a:pPr>
            <a:r>
              <a:rPr lang="en-US" sz="1700" dirty="0">
                <a:latin typeface="Casper"/>
                <a:cs typeface="Arial" pitchFamily="34" charset="0"/>
              </a:rPr>
              <a:t>     Here LA is linear array with N elements and K(position) is a positive integer such that K&lt;=N.</a:t>
            </a:r>
          </a:p>
          <a:p>
            <a:pPr marL="0" indent="0">
              <a:buNone/>
            </a:pPr>
            <a:r>
              <a:rPr lang="en-US" sz="1700" dirty="0">
                <a:latin typeface="Casper"/>
                <a:cs typeface="Arial" pitchFamily="34" charset="0"/>
              </a:rPr>
              <a:t>     This   algorithm inserts an element ITEM into the </a:t>
            </a:r>
            <a:r>
              <a:rPr lang="en-US" sz="1700" dirty="0" err="1">
                <a:latin typeface="Casper"/>
                <a:cs typeface="Arial" pitchFamily="34" charset="0"/>
              </a:rPr>
              <a:t>Kth</a:t>
            </a:r>
            <a:r>
              <a:rPr lang="en-US" sz="1700" dirty="0">
                <a:latin typeface="Casper"/>
                <a:cs typeface="Arial" pitchFamily="34" charset="0"/>
              </a:rPr>
              <a:t> position in LA.</a:t>
            </a:r>
          </a:p>
          <a:p>
            <a:r>
              <a:rPr lang="en-US" sz="1700" dirty="0">
                <a:latin typeface="Casper"/>
                <a:cs typeface="Arial" pitchFamily="34" charset="0"/>
              </a:rPr>
              <a:t>ALGORITHM</a:t>
            </a:r>
          </a:p>
          <a:p>
            <a:pPr marL="0" indent="0">
              <a:buNone/>
            </a:pPr>
            <a:r>
              <a:rPr lang="en-US" sz="1700" dirty="0">
                <a:latin typeface="Casper"/>
                <a:cs typeface="Arial" pitchFamily="34" charset="0"/>
              </a:rPr>
              <a:t>     Step 1          [Initialize counter] Set J:=N</a:t>
            </a:r>
          </a:p>
          <a:p>
            <a:pPr marL="0" indent="0">
              <a:buNone/>
            </a:pPr>
            <a:r>
              <a:rPr lang="en-US" sz="1700" dirty="0">
                <a:latin typeface="Casper"/>
                <a:cs typeface="Arial" pitchFamily="34" charset="0"/>
              </a:rPr>
              <a:t>     Step 2          Repeat Steps 3 and 4 while J&gt;=K</a:t>
            </a:r>
          </a:p>
          <a:p>
            <a:pPr marL="0" indent="0">
              <a:buNone/>
            </a:pPr>
            <a:r>
              <a:rPr lang="en-US" sz="1700" dirty="0">
                <a:latin typeface="Casper"/>
                <a:cs typeface="Arial" pitchFamily="34" charset="0"/>
              </a:rPr>
              <a:t>     Step 3          [Move </a:t>
            </a:r>
            <a:r>
              <a:rPr lang="en-US" sz="1700" dirty="0" err="1">
                <a:latin typeface="Casper"/>
                <a:cs typeface="Arial" pitchFamily="34" charset="0"/>
              </a:rPr>
              <a:t>Jth</a:t>
            </a:r>
            <a:r>
              <a:rPr lang="en-US" sz="1700" dirty="0">
                <a:latin typeface="Casper"/>
                <a:cs typeface="Arial" pitchFamily="34" charset="0"/>
              </a:rPr>
              <a:t> element downward] Set LA [J+1]: =LA [J]</a:t>
            </a:r>
          </a:p>
          <a:p>
            <a:pPr marL="0" indent="0">
              <a:buNone/>
            </a:pPr>
            <a:r>
              <a:rPr lang="en-US" sz="1700" dirty="0">
                <a:latin typeface="Casper"/>
                <a:cs typeface="Arial" pitchFamily="34" charset="0"/>
              </a:rPr>
              <a:t>      Step 4          [Decrease counter] Set J:=J-1</a:t>
            </a:r>
          </a:p>
          <a:p>
            <a:pPr marL="0" indent="0">
              <a:buNone/>
            </a:pPr>
            <a:r>
              <a:rPr lang="en-US" sz="1700" dirty="0">
                <a:latin typeface="Casper"/>
                <a:cs typeface="Arial" pitchFamily="34" charset="0"/>
              </a:rPr>
              <a:t>         [End of step 2 loop]</a:t>
            </a:r>
          </a:p>
          <a:p>
            <a:pPr marL="0" indent="0">
              <a:buNone/>
            </a:pPr>
            <a:r>
              <a:rPr lang="en-US" sz="1700" dirty="0">
                <a:latin typeface="Casper"/>
                <a:cs typeface="Arial" pitchFamily="34" charset="0"/>
              </a:rPr>
              <a:t>     Step 5           [Insert element] Set LA [K]: =ITEM</a:t>
            </a:r>
          </a:p>
          <a:p>
            <a:pPr marL="0" indent="0">
              <a:buNone/>
            </a:pPr>
            <a:r>
              <a:rPr lang="en-US" sz="1700" dirty="0">
                <a:latin typeface="Casper"/>
                <a:cs typeface="Arial" pitchFamily="34" charset="0"/>
              </a:rPr>
              <a:t>     Step 6          [Reset N] Set N:=N+1</a:t>
            </a:r>
          </a:p>
          <a:p>
            <a:pPr marL="0" indent="0">
              <a:buNone/>
            </a:pPr>
            <a:r>
              <a:rPr lang="en-US" sz="1700" dirty="0">
                <a:latin typeface="Casper"/>
                <a:cs typeface="Arial" pitchFamily="34" charset="0"/>
              </a:rPr>
              <a:t>     Step 7          Exit</a:t>
            </a:r>
          </a:p>
          <a:p>
            <a:pPr marL="0" indent="0">
              <a:buNone/>
            </a:pPr>
            <a:endParaRPr lang="en-US" sz="20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867246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a:latin typeface="Casper Bold"/>
              </a:rPr>
              <a:t> </a:t>
            </a:r>
            <a:r>
              <a:rPr lang="en-US" b="1" dirty="0">
                <a:latin typeface="Casper Bold"/>
              </a:rPr>
              <a:t>Deletion from an Array</a:t>
            </a:r>
            <a:endParaRPr lang="en-US" dirty="0">
              <a:latin typeface="Casper Bold"/>
            </a:endParaRPr>
          </a:p>
        </p:txBody>
      </p:sp>
      <p:sp>
        <p:nvSpPr>
          <p:cNvPr id="3" name="Content Placeholder 2"/>
          <p:cNvSpPr>
            <a:spLocks noGrp="1"/>
          </p:cNvSpPr>
          <p:nvPr>
            <p:ph idx="1"/>
          </p:nvPr>
        </p:nvSpPr>
        <p:spPr/>
        <p:txBody>
          <a:bodyPr>
            <a:normAutofit/>
          </a:bodyPr>
          <a:lstStyle/>
          <a:p>
            <a:r>
              <a:rPr lang="en-US" sz="1700" dirty="0">
                <a:latin typeface="Casper"/>
                <a:cs typeface="Arial" pitchFamily="34" charset="0"/>
              </a:rPr>
              <a:t>DELETING AN ELEMENT FROM A LINEAR ARRAY</a:t>
            </a:r>
          </a:p>
          <a:p>
            <a:pPr marL="0" indent="0">
              <a:buNone/>
            </a:pPr>
            <a:r>
              <a:rPr lang="en-US" sz="1700" dirty="0">
                <a:latin typeface="Casper"/>
                <a:cs typeface="Arial" pitchFamily="34" charset="0"/>
              </a:rPr>
              <a:t>     Delete (LA, N, K, ITEM)</a:t>
            </a:r>
          </a:p>
          <a:p>
            <a:pPr marL="0" indent="0">
              <a:buNone/>
            </a:pPr>
            <a:r>
              <a:rPr lang="en-US" sz="1700" dirty="0">
                <a:latin typeface="Casper"/>
                <a:cs typeface="Arial" pitchFamily="34" charset="0"/>
              </a:rPr>
              <a:t>     Here LA is a linear array with N elements and k is a positive integer such that K&lt;=N. This algorithm   deletes the </a:t>
            </a:r>
            <a:r>
              <a:rPr lang="en-US" sz="1700" dirty="0" err="1">
                <a:latin typeface="Casper"/>
                <a:cs typeface="Arial" pitchFamily="34" charset="0"/>
              </a:rPr>
              <a:t>Kth</a:t>
            </a:r>
            <a:r>
              <a:rPr lang="en-US" sz="1700" dirty="0">
                <a:latin typeface="Casper"/>
                <a:cs typeface="Arial" pitchFamily="34" charset="0"/>
              </a:rPr>
              <a:t> element from LA.</a:t>
            </a:r>
          </a:p>
          <a:p>
            <a:r>
              <a:rPr lang="en-US" sz="1700" dirty="0">
                <a:latin typeface="Casper"/>
                <a:cs typeface="Arial" pitchFamily="34" charset="0"/>
              </a:rPr>
              <a:t>ALGORITHM</a:t>
            </a:r>
          </a:p>
          <a:p>
            <a:pPr marL="0" indent="0">
              <a:buNone/>
            </a:pPr>
            <a:r>
              <a:rPr lang="en-US" sz="1700" dirty="0">
                <a:latin typeface="Casper"/>
                <a:cs typeface="Arial" pitchFamily="34" charset="0"/>
              </a:rPr>
              <a:t>    Step 1         Set ITEM: = LA [K]</a:t>
            </a:r>
          </a:p>
          <a:p>
            <a:pPr marL="0" indent="0">
              <a:buNone/>
            </a:pPr>
            <a:r>
              <a:rPr lang="en-US" sz="1700" dirty="0">
                <a:latin typeface="Casper"/>
                <a:cs typeface="Arial" pitchFamily="34" charset="0"/>
              </a:rPr>
              <a:t>    Step 2          Repeat for steps 3&amp;4 for J=K to N-1:</a:t>
            </a:r>
          </a:p>
          <a:p>
            <a:pPr marL="0" indent="0">
              <a:buNone/>
            </a:pPr>
            <a:r>
              <a:rPr lang="en-US" sz="1700" dirty="0">
                <a:latin typeface="Casper"/>
                <a:cs typeface="Arial" pitchFamily="34" charset="0"/>
              </a:rPr>
              <a:t>    Step 3          [Move J+1st element upward] Set LA [J]: =LA [J+1]</a:t>
            </a:r>
          </a:p>
          <a:p>
            <a:pPr marL="0" indent="0">
              <a:buNone/>
            </a:pPr>
            <a:r>
              <a:rPr lang="en-US" sz="1700" dirty="0">
                <a:latin typeface="Casper"/>
                <a:cs typeface="Arial" pitchFamily="34" charset="0"/>
              </a:rPr>
              <a:t>    Step4            [Increment counter] J=J+1</a:t>
            </a:r>
          </a:p>
          <a:p>
            <a:pPr marL="0" indent="0">
              <a:buNone/>
            </a:pPr>
            <a:r>
              <a:rPr lang="en-US" sz="1700" dirty="0">
                <a:latin typeface="Casper"/>
                <a:cs typeface="Arial" pitchFamily="34" charset="0"/>
              </a:rPr>
              <a:t>            [End of step2 loop]</a:t>
            </a:r>
          </a:p>
          <a:p>
            <a:pPr marL="0" indent="0">
              <a:buNone/>
            </a:pPr>
            <a:r>
              <a:rPr lang="en-US" sz="1700" dirty="0">
                <a:latin typeface="Casper"/>
                <a:cs typeface="Arial" pitchFamily="34" charset="0"/>
              </a:rPr>
              <a:t>    Step 5           [Reset the number N of elements in LA] Set N:=N-1</a:t>
            </a:r>
          </a:p>
          <a:p>
            <a:pPr marL="0" indent="0">
              <a:buNone/>
            </a:pPr>
            <a:r>
              <a:rPr lang="en-US" sz="1700" dirty="0">
                <a:latin typeface="Casper"/>
                <a:cs typeface="Arial" pitchFamily="34" charset="0"/>
              </a:rPr>
              <a:t>    Step 6          Exit</a:t>
            </a:r>
          </a:p>
          <a:p>
            <a:pPr marL="0" indent="0">
              <a:buNone/>
            </a:pPr>
            <a:endParaRPr lang="en-US" sz="20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093311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r>
              <a:rPr lang="en-IN" b="1" dirty="0">
                <a:latin typeface="Casper Bold"/>
              </a:rPr>
              <a:t>Linear &amp; </a:t>
            </a:r>
            <a:r>
              <a:rPr lang="en-US" b="1" dirty="0">
                <a:latin typeface="Casper Bold"/>
              </a:rPr>
              <a:t>Binary Search</a:t>
            </a:r>
            <a:endParaRPr lang="en-US" dirty="0">
              <a:latin typeface="Casper Bold"/>
            </a:endParaRPr>
          </a:p>
        </p:txBody>
      </p:sp>
      <p:sp>
        <p:nvSpPr>
          <p:cNvPr id="3" name="Content Placeholder 2"/>
          <p:cNvSpPr>
            <a:spLocks noGrp="1"/>
          </p:cNvSpPr>
          <p:nvPr>
            <p:ph idx="1"/>
          </p:nvPr>
        </p:nvSpPr>
        <p:spPr/>
        <p:txBody>
          <a:bodyPr>
            <a:normAutofit/>
          </a:bodyPr>
          <a:lstStyle/>
          <a:p>
            <a:r>
              <a:rPr lang="en-US" sz="1600" dirty="0">
                <a:latin typeface="Casper"/>
                <a:cs typeface="Arial" pitchFamily="34" charset="0"/>
              </a:rPr>
              <a:t>Linear Search :</a:t>
            </a:r>
          </a:p>
          <a:p>
            <a:pPr lvl="1"/>
            <a:r>
              <a:rPr lang="en-US" sz="1600" dirty="0">
                <a:latin typeface="Casper"/>
                <a:cs typeface="Arial" pitchFamily="34" charset="0"/>
              </a:rPr>
              <a:t>Best Case: </a:t>
            </a:r>
            <a:r>
              <a:rPr lang="en-IN" sz="1600" dirty="0">
                <a:latin typeface="Casper"/>
                <a:cs typeface="Arial" pitchFamily="34" charset="0"/>
              </a:rPr>
              <a:t>Find at first place - one comparison </a:t>
            </a:r>
            <a:endParaRPr lang="en-US" sz="1600" dirty="0">
              <a:latin typeface="Casper"/>
              <a:cs typeface="Arial" pitchFamily="34" charset="0"/>
            </a:endParaRPr>
          </a:p>
          <a:p>
            <a:pPr lvl="1"/>
            <a:r>
              <a:rPr lang="en-US" sz="1600" dirty="0">
                <a:latin typeface="Casper"/>
                <a:cs typeface="Arial" pitchFamily="34" charset="0"/>
              </a:rPr>
              <a:t>Average case: </a:t>
            </a:r>
            <a:r>
              <a:rPr lang="en-IN" sz="1600" dirty="0">
                <a:latin typeface="Casper"/>
                <a:cs typeface="Arial" pitchFamily="34" charset="0"/>
              </a:rPr>
              <a:t>There are n cases that can occur, i.e. find at the first place, the second place, the third place and so on up to the nth place. </a:t>
            </a:r>
            <a:endParaRPr lang="en-US" sz="1600" dirty="0">
              <a:latin typeface="Casper"/>
              <a:cs typeface="Arial" pitchFamily="34" charset="0"/>
            </a:endParaRPr>
          </a:p>
          <a:p>
            <a:pPr lvl="1">
              <a:buNone/>
            </a:pPr>
            <a:r>
              <a:rPr lang="en-US" sz="1600" dirty="0">
                <a:latin typeface="Casper"/>
                <a:cs typeface="Arial" pitchFamily="34" charset="0"/>
              </a:rPr>
              <a:t>		</a:t>
            </a:r>
            <a:r>
              <a:rPr lang="en-IN" sz="1600" dirty="0">
                <a:latin typeface="Casper"/>
                <a:cs typeface="Arial" pitchFamily="34" charset="0"/>
              </a:rPr>
              <a:t>average = (1+2+3.....+n)/n = n(n+1)/2n=(n+1)/2</a:t>
            </a:r>
          </a:p>
          <a:p>
            <a:pPr lvl="1">
              <a:buNone/>
            </a:pPr>
            <a:r>
              <a:rPr lang="en-IN" sz="1600" dirty="0">
                <a:latin typeface="Casper"/>
                <a:cs typeface="Arial" pitchFamily="34" charset="0"/>
              </a:rPr>
              <a:t>			 where the result was used that 1+2+3 ...+n is equal to n(n+1)/2. </a:t>
            </a:r>
            <a:endParaRPr lang="en-US" sz="1600" dirty="0">
              <a:latin typeface="Casper"/>
              <a:cs typeface="Arial" pitchFamily="34" charset="0"/>
            </a:endParaRPr>
          </a:p>
          <a:p>
            <a:pPr lvl="1"/>
            <a:r>
              <a:rPr lang="en-US" sz="1600" dirty="0">
                <a:latin typeface="Casper"/>
                <a:cs typeface="Arial" pitchFamily="34" charset="0"/>
              </a:rPr>
              <a:t>Worst case: </a:t>
            </a:r>
            <a:r>
              <a:rPr lang="en-IN" sz="1600" dirty="0">
                <a:latin typeface="Casper"/>
                <a:cs typeface="Arial" pitchFamily="34" charset="0"/>
              </a:rPr>
              <a:t>Find at nth place or not at all - n comparisons </a:t>
            </a:r>
          </a:p>
          <a:p>
            <a:pPr algn="just"/>
            <a:r>
              <a:rPr lang="en-US" sz="1600" dirty="0">
                <a:latin typeface="Casper"/>
                <a:cs typeface="Arial" pitchFamily="34" charset="0"/>
              </a:rPr>
              <a:t>Binary Search:</a:t>
            </a:r>
          </a:p>
          <a:p>
            <a:pPr algn="just"/>
            <a:r>
              <a:rPr lang="en-US" sz="1600" dirty="0">
                <a:latin typeface="Casper"/>
                <a:cs typeface="Arial" pitchFamily="34" charset="0"/>
              </a:rPr>
              <a:t>       Algorithm: Binary(DATA,LB,UB,ITEM): Here data is a sorted array with lower bound LB and   upper bound UB and ITEM is an element to be searched. The variables BEG,END and MID denote, </a:t>
            </a:r>
            <a:r>
              <a:rPr lang="en-US" sz="1600" dirty="0" err="1">
                <a:latin typeface="Casper"/>
                <a:cs typeface="Arial" pitchFamily="34" charset="0"/>
              </a:rPr>
              <a:t>resp</a:t>
            </a:r>
            <a:r>
              <a:rPr lang="en-US" sz="1600" dirty="0">
                <a:latin typeface="Casper"/>
                <a:cs typeface="Arial" pitchFamily="34" charset="0"/>
              </a:rPr>
              <a:t>, the beginning, end and middle locations of a segment of elements of DATA. This algorithm find the location LOC of ITEM in DATA or sets LOC=NULL.</a:t>
            </a:r>
            <a:endParaRPr lang="en-IN" sz="1600" dirty="0">
              <a:latin typeface="Casper"/>
              <a:cs typeface="Arial" pitchFamily="34" charset="0"/>
            </a:endParaRPr>
          </a:p>
          <a:p>
            <a:pPr marL="0" indent="0">
              <a:buNone/>
            </a:pPr>
            <a:endParaRPr lang="en-US" sz="16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16653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a:latin typeface="Casper Bold"/>
              </a:rPr>
              <a:t> </a:t>
            </a:r>
            <a:r>
              <a:rPr lang="en-US" b="1" dirty="0">
                <a:latin typeface="Casper Bold"/>
              </a:rPr>
              <a:t>Searching – Linear </a:t>
            </a:r>
            <a:r>
              <a:rPr lang="en-US" b="1" dirty="0" smtClean="0">
                <a:latin typeface="Casper Bold"/>
              </a:rPr>
              <a:t>Search </a:t>
            </a:r>
            <a:r>
              <a:rPr lang="en-US" b="1" dirty="0">
                <a:latin typeface="Casper Bold"/>
              </a:rPr>
              <a:t>Algorithm</a:t>
            </a:r>
            <a:endParaRPr lang="en-US" dirty="0">
              <a:latin typeface="Casper Bold"/>
            </a:endParaRPr>
          </a:p>
        </p:txBody>
      </p:sp>
      <p:sp>
        <p:nvSpPr>
          <p:cNvPr id="3" name="Content Placeholder 2"/>
          <p:cNvSpPr>
            <a:spLocks noGrp="1"/>
          </p:cNvSpPr>
          <p:nvPr>
            <p:ph idx="1"/>
          </p:nvPr>
        </p:nvSpPr>
        <p:spPr/>
        <p:txBody>
          <a:bodyPr>
            <a:normAutofit lnSpcReduction="10000"/>
          </a:bodyPr>
          <a:lstStyle/>
          <a:p>
            <a:pPr marL="342900" indent="-342900">
              <a:spcBef>
                <a:spcPct val="50000"/>
              </a:spcBef>
            </a:pPr>
            <a:r>
              <a:rPr lang="en-US" sz="1700" dirty="0">
                <a:latin typeface="Casper"/>
                <a:cs typeface="Arial" pitchFamily="34" charset="0"/>
              </a:rPr>
              <a:t>Linear Search :</a:t>
            </a:r>
          </a:p>
          <a:p>
            <a:pPr marL="342900" indent="-342900" algn="just">
              <a:spcBef>
                <a:spcPct val="50000"/>
              </a:spcBef>
            </a:pPr>
            <a:r>
              <a:rPr lang="en-US" sz="1700" dirty="0">
                <a:latin typeface="Casper"/>
                <a:cs typeface="Arial" pitchFamily="34" charset="0"/>
              </a:rPr>
              <a:t>     Algorithm  : A linear array DATA with N elements and a specific ITEM of information are given. This algorithm finds the location LOC of ITEM in the array DATA or sets LOC = 0.</a:t>
            </a:r>
          </a:p>
          <a:p>
            <a:pPr marL="0" indent="0" algn="just">
              <a:spcBef>
                <a:spcPct val="50000"/>
              </a:spcBef>
              <a:buNone/>
            </a:pPr>
            <a:r>
              <a:rPr lang="en-US" sz="1700" dirty="0">
                <a:latin typeface="Casper"/>
                <a:cs typeface="Arial" pitchFamily="34" charset="0"/>
              </a:rPr>
              <a:t>               Set K : = 1, LOC : =0.</a:t>
            </a:r>
          </a:p>
          <a:p>
            <a:pPr marL="1714500" lvl="3" indent="-342900">
              <a:buFontTx/>
              <a:buAutoNum type="arabicPeriod"/>
            </a:pPr>
            <a:r>
              <a:rPr lang="en-US" sz="1700" dirty="0">
                <a:latin typeface="Casper"/>
                <a:cs typeface="Arial" pitchFamily="34" charset="0"/>
              </a:rPr>
              <a:t>Repeat steps 3 and 4 while LOC = 0 and K&lt;=N:</a:t>
            </a:r>
          </a:p>
          <a:p>
            <a:pPr marL="1714500" lvl="3" indent="-342900">
              <a:buFontTx/>
              <a:buAutoNum type="arabicPeriod"/>
            </a:pPr>
            <a:r>
              <a:rPr lang="en-US" sz="1700" dirty="0">
                <a:latin typeface="Casper"/>
                <a:cs typeface="Arial" pitchFamily="34" charset="0"/>
              </a:rPr>
              <a:t>If ITEM = DATA[K], then : Set  LOC : =K .</a:t>
            </a:r>
          </a:p>
          <a:p>
            <a:pPr marL="1714500" lvl="3" indent="-342900">
              <a:buFontTx/>
              <a:buAutoNum type="arabicPeriod"/>
            </a:pPr>
            <a:r>
              <a:rPr lang="en-US" sz="1700" dirty="0">
                <a:latin typeface="Casper"/>
                <a:cs typeface="Arial" pitchFamily="34" charset="0"/>
              </a:rPr>
              <a:t>Set K : = K+1. </a:t>
            </a:r>
          </a:p>
          <a:p>
            <a:pPr marL="1371600" lvl="3" indent="0">
              <a:buNone/>
            </a:pPr>
            <a:r>
              <a:rPr lang="en-US" sz="1700" dirty="0">
                <a:latin typeface="Casper"/>
                <a:cs typeface="Arial" pitchFamily="34" charset="0"/>
              </a:rPr>
              <a:t>      [End of step 2 loop]</a:t>
            </a:r>
          </a:p>
          <a:p>
            <a:pPr marL="1714500" lvl="3" indent="-342900">
              <a:buFontTx/>
              <a:buAutoNum type="arabicPeriod" startAt="5"/>
            </a:pPr>
            <a:r>
              <a:rPr lang="en-US" sz="1700" dirty="0">
                <a:latin typeface="Casper"/>
                <a:cs typeface="Arial" pitchFamily="34" charset="0"/>
              </a:rPr>
              <a:t>[Successful?]</a:t>
            </a:r>
          </a:p>
          <a:p>
            <a:pPr marL="1371600" lvl="3" indent="0">
              <a:buNone/>
            </a:pPr>
            <a:r>
              <a:rPr lang="en-US" sz="1700" dirty="0">
                <a:latin typeface="Casper"/>
                <a:cs typeface="Arial" pitchFamily="34" charset="0"/>
              </a:rPr>
              <a:t>      If LOC = 0, then :</a:t>
            </a:r>
          </a:p>
          <a:p>
            <a:pPr marL="1371600" lvl="3" indent="0">
              <a:buNone/>
            </a:pPr>
            <a:r>
              <a:rPr lang="en-US" sz="1700" dirty="0">
                <a:latin typeface="Casper"/>
                <a:cs typeface="Arial" pitchFamily="34" charset="0"/>
              </a:rPr>
              <a:t>      Write : ITEM is not in the array DATA.</a:t>
            </a:r>
          </a:p>
          <a:p>
            <a:pPr marL="1371600" lvl="3" indent="0">
              <a:buNone/>
            </a:pPr>
            <a:r>
              <a:rPr lang="en-US" sz="1700" dirty="0">
                <a:latin typeface="Casper"/>
                <a:cs typeface="Arial" pitchFamily="34" charset="0"/>
              </a:rPr>
              <a:t>Else :</a:t>
            </a:r>
          </a:p>
          <a:p>
            <a:pPr marL="1371600" lvl="3" indent="0">
              <a:buNone/>
            </a:pPr>
            <a:r>
              <a:rPr lang="en-US" sz="1700" dirty="0">
                <a:latin typeface="Casper"/>
                <a:cs typeface="Arial" pitchFamily="34" charset="0"/>
              </a:rPr>
              <a:t>      Write : LOC is the location of ITEM.</a:t>
            </a:r>
          </a:p>
          <a:p>
            <a:pPr marL="1371600" lvl="3" indent="0">
              <a:buNone/>
            </a:pPr>
            <a:r>
              <a:rPr lang="en-US" sz="1700" dirty="0">
                <a:latin typeface="Casper"/>
                <a:cs typeface="Arial" pitchFamily="34" charset="0"/>
              </a:rPr>
              <a:t>      [End of if structure]</a:t>
            </a:r>
          </a:p>
          <a:p>
            <a:pPr marL="1714500" lvl="3" indent="-342900">
              <a:buFontTx/>
              <a:buAutoNum type="arabicPeriod" startAt="6"/>
            </a:pPr>
            <a:r>
              <a:rPr lang="en-US" sz="1700" dirty="0">
                <a:latin typeface="Casper"/>
                <a:cs typeface="Arial" pitchFamily="34" charset="0"/>
              </a:rPr>
              <a:t>Exit.</a:t>
            </a:r>
          </a:p>
          <a:p>
            <a:pPr marL="0" indent="0">
              <a:buNone/>
            </a:pPr>
            <a:endParaRPr lang="en-US" sz="20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21537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r>
              <a:rPr lang="en-US" dirty="0">
                <a:latin typeface="Casper Bold"/>
              </a:rPr>
              <a:t> </a:t>
            </a:r>
            <a:r>
              <a:rPr lang="en-US" b="1" dirty="0">
                <a:latin typeface="Casper Bold"/>
              </a:rPr>
              <a:t>Binary Search Algorithm</a:t>
            </a:r>
            <a:endParaRPr lang="en-US" dirty="0">
              <a:latin typeface="Casper Bold"/>
            </a:endParaRPr>
          </a:p>
        </p:txBody>
      </p:sp>
      <p:sp>
        <p:nvSpPr>
          <p:cNvPr id="3" name="Content Placeholder 2"/>
          <p:cNvSpPr>
            <a:spLocks noGrp="1"/>
          </p:cNvSpPr>
          <p:nvPr>
            <p:ph idx="1"/>
          </p:nvPr>
        </p:nvSpPr>
        <p:spPr/>
        <p:txBody>
          <a:bodyPr>
            <a:normAutofit fontScale="40000" lnSpcReduction="20000"/>
          </a:bodyPr>
          <a:lstStyle/>
          <a:p>
            <a:pPr marL="381000" indent="-381000">
              <a:lnSpc>
                <a:spcPct val="80000"/>
              </a:lnSpc>
              <a:buNone/>
              <a:defRPr/>
            </a:pPr>
            <a:r>
              <a:rPr lang="en-US" sz="3400" dirty="0">
                <a:latin typeface="Casper"/>
                <a:cs typeface="Arial" pitchFamily="34" charset="0"/>
              </a:rPr>
              <a:t>BINARY(DATA, LB, UB, ITEM, LOC)</a:t>
            </a:r>
          </a:p>
          <a:p>
            <a:pPr marL="381000" indent="-381000">
              <a:lnSpc>
                <a:spcPct val="80000"/>
              </a:lnSpc>
              <a:buNone/>
              <a:defRPr/>
            </a:pPr>
            <a:endParaRPr lang="en-US" sz="3400" dirty="0">
              <a:latin typeface="Casper"/>
              <a:cs typeface="Arial" pitchFamily="34" charset="0"/>
            </a:endParaRPr>
          </a:p>
          <a:p>
            <a:pPr marL="381000" indent="-381000">
              <a:lnSpc>
                <a:spcPct val="80000"/>
              </a:lnSpc>
              <a:buFontTx/>
              <a:buAutoNum type="arabicPeriod"/>
              <a:defRPr/>
            </a:pPr>
            <a:r>
              <a:rPr lang="en-US" sz="3400" dirty="0">
                <a:latin typeface="Casper"/>
                <a:cs typeface="Arial" pitchFamily="34" charset="0"/>
              </a:rPr>
              <a:t>Set BEG=LB; END=UB; and MID=INT((BEG+END)/2).</a:t>
            </a:r>
          </a:p>
          <a:p>
            <a:pPr marL="381000" indent="-381000">
              <a:lnSpc>
                <a:spcPct val="80000"/>
              </a:lnSpc>
              <a:buFontTx/>
              <a:buAutoNum type="arabicPeriod"/>
              <a:defRPr/>
            </a:pPr>
            <a:r>
              <a:rPr lang="en-US" sz="3400" dirty="0">
                <a:latin typeface="Casper"/>
                <a:cs typeface="Arial" pitchFamily="34" charset="0"/>
              </a:rPr>
              <a:t>Repeat step 3 and 4 while BEG ≤ END and DATA[MID] ≠ ITEM</a:t>
            </a:r>
          </a:p>
          <a:p>
            <a:pPr marL="381000" indent="-381000">
              <a:lnSpc>
                <a:spcPct val="80000"/>
              </a:lnSpc>
              <a:buFontTx/>
              <a:buAutoNum type="arabicPeriod"/>
              <a:defRPr/>
            </a:pPr>
            <a:r>
              <a:rPr lang="en-US" sz="3400" dirty="0">
                <a:latin typeface="Casper"/>
                <a:cs typeface="Arial" pitchFamily="34" charset="0"/>
              </a:rPr>
              <a:t>If ITEM &lt; DATA[MID] then</a:t>
            </a:r>
          </a:p>
          <a:p>
            <a:pPr marL="838200" lvl="1" indent="-381000">
              <a:lnSpc>
                <a:spcPct val="80000"/>
              </a:lnSpc>
              <a:spcBef>
                <a:spcPts val="324"/>
              </a:spcBef>
              <a:buNone/>
              <a:defRPr/>
            </a:pPr>
            <a:r>
              <a:rPr lang="en-US" sz="3400" dirty="0">
                <a:latin typeface="Casper"/>
                <a:cs typeface="Arial" pitchFamily="34" charset="0"/>
              </a:rPr>
              <a:t>	Set END= MID - 1</a:t>
            </a:r>
          </a:p>
          <a:p>
            <a:pPr marL="381000" indent="-381000">
              <a:lnSpc>
                <a:spcPct val="80000"/>
              </a:lnSpc>
              <a:buNone/>
              <a:defRPr/>
            </a:pPr>
            <a:r>
              <a:rPr lang="en-US" sz="3400" dirty="0">
                <a:latin typeface="Casper"/>
                <a:cs typeface="Arial" pitchFamily="34" charset="0"/>
              </a:rPr>
              <a:t>       Else:</a:t>
            </a:r>
          </a:p>
          <a:p>
            <a:pPr marL="381000" indent="-381000">
              <a:lnSpc>
                <a:spcPct val="80000"/>
              </a:lnSpc>
              <a:buNone/>
              <a:defRPr/>
            </a:pPr>
            <a:r>
              <a:rPr lang="en-US" sz="3400" dirty="0">
                <a:latin typeface="Casper"/>
                <a:cs typeface="Arial" pitchFamily="34" charset="0"/>
              </a:rPr>
              <a:t>      	Set BEG= MID+1</a:t>
            </a:r>
          </a:p>
          <a:p>
            <a:pPr marL="381000" indent="-381000">
              <a:lnSpc>
                <a:spcPct val="80000"/>
              </a:lnSpc>
              <a:buNone/>
              <a:defRPr/>
            </a:pPr>
            <a:r>
              <a:rPr lang="en-US" sz="3400" dirty="0">
                <a:latin typeface="Casper"/>
                <a:cs typeface="Arial" pitchFamily="34" charset="0"/>
              </a:rPr>
              <a:t>	[end of if structure]</a:t>
            </a:r>
          </a:p>
          <a:p>
            <a:pPr marL="381000" indent="-381000">
              <a:lnSpc>
                <a:spcPct val="80000"/>
              </a:lnSpc>
              <a:buFontTx/>
              <a:buAutoNum type="arabicPeriod" startAt="4"/>
              <a:defRPr/>
            </a:pPr>
            <a:r>
              <a:rPr lang="en-US" sz="3400" dirty="0">
                <a:latin typeface="Casper"/>
                <a:cs typeface="Arial" pitchFamily="34" charset="0"/>
              </a:rPr>
              <a:t>Set MID= INT((BEG+END)/2)</a:t>
            </a:r>
          </a:p>
          <a:p>
            <a:pPr marL="381000" indent="-381000">
              <a:lnSpc>
                <a:spcPct val="80000"/>
              </a:lnSpc>
              <a:buNone/>
              <a:defRPr/>
            </a:pPr>
            <a:r>
              <a:rPr lang="en-US" sz="3400" dirty="0">
                <a:latin typeface="Casper"/>
                <a:cs typeface="Arial" pitchFamily="34" charset="0"/>
              </a:rPr>
              <a:t>	[End of step 2 loop]</a:t>
            </a:r>
          </a:p>
          <a:p>
            <a:pPr marL="381000" indent="-381000">
              <a:lnSpc>
                <a:spcPct val="80000"/>
              </a:lnSpc>
              <a:buFontTx/>
              <a:buAutoNum type="arabicPeriod" startAt="5"/>
              <a:defRPr/>
            </a:pPr>
            <a:r>
              <a:rPr lang="en-US" sz="3400" dirty="0">
                <a:latin typeface="Casper"/>
                <a:cs typeface="Arial" pitchFamily="34" charset="0"/>
              </a:rPr>
              <a:t>If ITEM = DATA[MID] then</a:t>
            </a:r>
          </a:p>
          <a:p>
            <a:pPr marL="838200" lvl="1" indent="-381000">
              <a:lnSpc>
                <a:spcPct val="80000"/>
              </a:lnSpc>
              <a:spcBef>
                <a:spcPts val="324"/>
              </a:spcBef>
              <a:buNone/>
              <a:defRPr/>
            </a:pPr>
            <a:r>
              <a:rPr lang="en-US" sz="3400" dirty="0">
                <a:latin typeface="Casper"/>
                <a:cs typeface="Arial" pitchFamily="34" charset="0"/>
              </a:rPr>
              <a:t>	Set LOC= MID</a:t>
            </a:r>
          </a:p>
          <a:p>
            <a:pPr marL="381000" indent="-381000">
              <a:lnSpc>
                <a:spcPct val="80000"/>
              </a:lnSpc>
              <a:buNone/>
              <a:defRPr/>
            </a:pPr>
            <a:r>
              <a:rPr lang="en-US" sz="3400" dirty="0">
                <a:latin typeface="Casper"/>
                <a:cs typeface="Arial" pitchFamily="34" charset="0"/>
              </a:rPr>
              <a:t>      Else:</a:t>
            </a:r>
          </a:p>
          <a:p>
            <a:pPr marL="381000" indent="-381000">
              <a:lnSpc>
                <a:spcPct val="80000"/>
              </a:lnSpc>
              <a:buNone/>
              <a:defRPr/>
            </a:pPr>
            <a:r>
              <a:rPr lang="en-US" sz="3400" dirty="0">
                <a:latin typeface="Casper"/>
                <a:cs typeface="Arial" pitchFamily="34" charset="0"/>
              </a:rPr>
              <a:t>      	         Set LOC= NULL</a:t>
            </a:r>
          </a:p>
          <a:p>
            <a:pPr marL="381000" indent="-381000">
              <a:lnSpc>
                <a:spcPct val="80000"/>
              </a:lnSpc>
              <a:buNone/>
              <a:defRPr/>
            </a:pPr>
            <a:r>
              <a:rPr lang="en-US" sz="3400" dirty="0">
                <a:latin typeface="Casper"/>
                <a:cs typeface="Arial" pitchFamily="34" charset="0"/>
              </a:rPr>
              <a:t>	[end of if structure]</a:t>
            </a:r>
          </a:p>
          <a:p>
            <a:pPr marL="381000" indent="-381000">
              <a:lnSpc>
                <a:spcPct val="80000"/>
              </a:lnSpc>
              <a:buFontTx/>
              <a:buAutoNum type="arabicPeriod" startAt="6"/>
              <a:defRPr/>
            </a:pPr>
            <a:r>
              <a:rPr lang="en-US" sz="3400" dirty="0">
                <a:latin typeface="Casper"/>
                <a:cs typeface="Arial" pitchFamily="34" charset="0"/>
              </a:rPr>
              <a:t>Exit.</a:t>
            </a:r>
          </a:p>
          <a:p>
            <a:pPr marL="0" indent="0">
              <a:buNone/>
            </a:pPr>
            <a:endParaRPr lang="en-US" sz="2000" dirty="0"/>
          </a:p>
          <a:p>
            <a:pPr marL="800100" lvl="1" indent="-342900" algn="just">
              <a:spcBef>
                <a:spcPct val="50000"/>
              </a:spcBef>
            </a:pPr>
            <a:endParaRPr lang="en-US" sz="1700" dirty="0"/>
          </a:p>
          <a:p>
            <a:pPr marL="800100" lvl="1" indent="-342900" algn="just">
              <a:spcBef>
                <a:spcPct val="50000"/>
              </a:spcBef>
            </a:pPr>
            <a:endParaRPr lang="en-US" dirty="0">
              <a:latin typeface="Cambria" panose="02040503050406030204" pitchFamily="18" charset="0"/>
            </a:endParaRPr>
          </a:p>
          <a:p>
            <a:pPr>
              <a:buNone/>
            </a:pPr>
            <a:endParaRPr lang="en-US" sz="1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421612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defRPr/>
            </a:pPr>
            <a:r>
              <a:rPr lang="en-US" b="1" dirty="0">
                <a:latin typeface="Casper Bold"/>
              </a:rPr>
              <a:t>Applications</a:t>
            </a:r>
            <a:endParaRPr lang="en-US" dirty="0">
              <a:latin typeface="Casper Bold"/>
            </a:endParaRPr>
          </a:p>
        </p:txBody>
      </p:sp>
      <p:sp>
        <p:nvSpPr>
          <p:cNvPr id="3" name="Content Placeholder 2"/>
          <p:cNvSpPr>
            <a:spLocks noGrp="1"/>
          </p:cNvSpPr>
          <p:nvPr>
            <p:ph idx="1"/>
          </p:nvPr>
        </p:nvSpPr>
        <p:spPr/>
        <p:txBody>
          <a:bodyPr>
            <a:normAutofit/>
          </a:bodyPr>
          <a:lstStyle/>
          <a:p>
            <a:r>
              <a:rPr lang="en-US" dirty="0">
                <a:solidFill>
                  <a:srgbClr val="333333"/>
                </a:solidFill>
                <a:latin typeface="Open Sans"/>
              </a:rPr>
              <a:t>Array can be used for sorting elements, can perform matrix operation &amp; can be used in CPU scheduling.</a:t>
            </a:r>
          </a:p>
          <a:p>
            <a:r>
              <a:rPr lang="en-US" dirty="0">
                <a:solidFill>
                  <a:srgbClr val="333333"/>
                </a:solidFill>
                <a:latin typeface="Open Sans"/>
              </a:rPr>
              <a:t>Stack is used in Expression evaluation</a:t>
            </a:r>
          </a:p>
          <a:p>
            <a:r>
              <a:rPr lang="en-US" dirty="0">
                <a:solidFill>
                  <a:srgbClr val="333333"/>
                </a:solidFill>
                <a:latin typeface="Open Sans"/>
              </a:rPr>
              <a:t>Disk Scheduling.</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991461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187EC-9A41-4AAD-88CB-7F4EEB2B3B49}"/>
              </a:ext>
            </a:extLst>
          </p:cNvPr>
          <p:cNvSpPr>
            <a:spLocks noGrp="1"/>
          </p:cNvSpPr>
          <p:nvPr>
            <p:ph idx="1"/>
          </p:nvPr>
        </p:nvSpPr>
        <p:spPr>
          <a:xfrm>
            <a:off x="771525" y="136525"/>
            <a:ext cx="10515600" cy="6584950"/>
          </a:xfrm>
        </p:spPr>
        <p:txBody>
          <a:bodyPr>
            <a:normAutofit lnSpcReduction="10000"/>
          </a:bodyPr>
          <a:lstStyle/>
          <a:p>
            <a:r>
              <a:rPr lang="en-US" b="1" dirty="0"/>
              <a:t>Application:</a:t>
            </a:r>
            <a:r>
              <a:rPr lang="en-US" dirty="0"/>
              <a:t/>
            </a:r>
            <a:br>
              <a:rPr lang="en-US" dirty="0"/>
            </a:br>
            <a:r>
              <a:rPr lang="en-US" dirty="0"/>
              <a:t>Two of the most essential applications performs on an array or a record are searching and sorting.</a:t>
            </a:r>
          </a:p>
          <a:p>
            <a:pPr fontAlgn="base"/>
            <a:r>
              <a:rPr lang="en-US" b="1" dirty="0"/>
              <a:t>Searching:</a:t>
            </a:r>
            <a:r>
              <a:rPr lang="en-US" dirty="0"/>
              <a:t> Each index in a parallel array corresponds to the data belonging to the same entity in a record. Thus, for searching an entity based on a specific value of an attribute, e.g. we need to find the name of a person having height &gt;200 </a:t>
            </a:r>
            <a:r>
              <a:rPr lang="en-US" dirty="0" err="1"/>
              <a:t>cms</a:t>
            </a:r>
            <a:r>
              <a:rPr lang="en-US" dirty="0"/>
              <a:t> in the above example. Thus, we search for the index in the height array having value greater than 200. Now, once we have obtained the index, we print the values of the index in the </a:t>
            </a:r>
            <a:r>
              <a:rPr lang="en-US" dirty="0" err="1"/>
              <a:t>first_name</a:t>
            </a:r>
            <a:r>
              <a:rPr lang="en-US" dirty="0"/>
              <a:t> and </a:t>
            </a:r>
            <a:r>
              <a:rPr lang="en-US" dirty="0" err="1"/>
              <a:t>last_name</a:t>
            </a:r>
            <a:r>
              <a:rPr lang="en-US" dirty="0"/>
              <a:t> arrays. This way searching becomes an easy task in parallel array.</a:t>
            </a:r>
          </a:p>
          <a:p>
            <a:pPr fontAlgn="base"/>
            <a:r>
              <a:rPr lang="en-US" b="1" dirty="0"/>
              <a:t>Sorting:</a:t>
            </a:r>
            <a:r>
              <a:rPr lang="en-US" dirty="0"/>
              <a:t> Now, using the same fact that each index corresponds to data items in different arrays corresponding to the same entity. Thus, we sort all arrays based on the same criteria. For example, in the above-displayed example, we need to sort the people in increasing order of their respective heights. Thus, when we swap the two heights, we even swap the corresponding values in other arrays using the same index.</a:t>
            </a:r>
          </a:p>
          <a:p>
            <a:endParaRPr lang="en-IN" dirty="0"/>
          </a:p>
        </p:txBody>
      </p:sp>
      <p:sp>
        <p:nvSpPr>
          <p:cNvPr id="4" name="Slide Number Placeholder 3">
            <a:extLst>
              <a:ext uri="{FF2B5EF4-FFF2-40B4-BE49-F238E27FC236}">
                <a16:creationId xmlns:a16="http://schemas.microsoft.com/office/drawing/2014/main" id="{DC249984-18B5-4686-9AC3-4543589D0E0B}"/>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325843821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 </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a:hlinkClick r:id="rId2"/>
            </a:endParaRPr>
          </a:p>
          <a:p>
            <a:pPr algn="just"/>
            <a:r>
              <a:rPr lang="en-US" sz="1600" dirty="0" err="1">
                <a:latin typeface="Casper"/>
                <a:cs typeface="Arial" pitchFamily="34" charset="0"/>
              </a:rPr>
              <a:t>Lipschutz</a:t>
            </a:r>
            <a:r>
              <a:rPr lang="en-US" sz="1600" dirty="0">
                <a:latin typeface="Casper"/>
                <a:cs typeface="Arial" pitchFamily="34" charset="0"/>
              </a:rPr>
              <a:t>, Seymour, “Data Structures”, </a:t>
            </a:r>
            <a:r>
              <a:rPr lang="en-US" sz="1600" dirty="0" err="1">
                <a:latin typeface="Casper"/>
                <a:cs typeface="Arial" pitchFamily="34" charset="0"/>
              </a:rPr>
              <a:t>Schaum's</a:t>
            </a:r>
            <a:r>
              <a:rPr lang="en-US" sz="1600" dirty="0">
                <a:latin typeface="Casper"/>
                <a:cs typeface="Arial" pitchFamily="34" charset="0"/>
              </a:rPr>
              <a:t> Outline Series, Tata McGraw Hill.</a:t>
            </a:r>
          </a:p>
          <a:p>
            <a:pPr algn="just"/>
            <a:r>
              <a:rPr lang="en-US" sz="1600" dirty="0">
                <a:latin typeface="Casper"/>
                <a:cs typeface="Arial" pitchFamily="34" charset="0"/>
              </a:rPr>
              <a:t>Goodrich, Michael T., </a:t>
            </a:r>
            <a:r>
              <a:rPr lang="en-US" sz="1600" dirty="0" err="1">
                <a:latin typeface="Casper"/>
                <a:cs typeface="Arial" pitchFamily="34" charset="0"/>
              </a:rPr>
              <a:t>Tamassia</a:t>
            </a:r>
            <a:r>
              <a:rPr lang="en-US" sz="1600" dirty="0">
                <a:latin typeface="Casper"/>
                <a:cs typeface="Arial" pitchFamily="34" charset="0"/>
              </a:rPr>
              <a:t>, Roberto, and Mount, David M., “Data Structures and Algorithms in C++”, Wiley Student Edition.</a:t>
            </a:r>
          </a:p>
          <a:p>
            <a:pPr algn="just"/>
            <a:r>
              <a:rPr lang="en-US" sz="1600" dirty="0">
                <a:latin typeface="Casper"/>
                <a:cs typeface="Arial" pitchFamily="34" charset="0"/>
              </a:rPr>
              <a:t>https://www.tutorialspoint.com/data_structures_algorithms/algorithms_basics.htm</a:t>
            </a:r>
          </a:p>
          <a:p>
            <a:pPr algn="just"/>
            <a:r>
              <a:rPr lang="en-US" sz="1600" dirty="0">
                <a:latin typeface="Casper"/>
                <a:cs typeface="Arial" pitchFamily="34" charset="0"/>
              </a:rPr>
              <a:t>https://www.cs.utexas.edu/users/djimenez/utsa/cs1723/lecture2.html</a:t>
            </a:r>
          </a:p>
          <a:p>
            <a:pPr lvl="0"/>
            <a:r>
              <a:rPr lang="en-US" sz="1600" dirty="0" err="1">
                <a:latin typeface="Casper"/>
                <a:cs typeface="Arial" pitchFamily="34" charset="0"/>
              </a:rPr>
              <a:t>Lipschutz</a:t>
            </a:r>
            <a:r>
              <a:rPr lang="en-US" sz="1600" dirty="0">
                <a:latin typeface="Casper"/>
                <a:cs typeface="Arial" pitchFamily="34" charset="0"/>
              </a:rPr>
              <a:t>, Seymour, “Data Structures”, </a:t>
            </a:r>
            <a:r>
              <a:rPr lang="en-US" sz="1600" dirty="0" err="1">
                <a:latin typeface="Casper"/>
                <a:cs typeface="Arial" pitchFamily="34" charset="0"/>
              </a:rPr>
              <a:t>Schaum's</a:t>
            </a:r>
            <a:r>
              <a:rPr lang="en-US" sz="1600" dirty="0">
                <a:latin typeface="Casper"/>
                <a:cs typeface="Arial" pitchFamily="34" charset="0"/>
              </a:rPr>
              <a:t> Outline Series, Tata McGraw Hill.</a:t>
            </a:r>
          </a:p>
          <a:p>
            <a:pPr lvl="0"/>
            <a:r>
              <a:rPr lang="en-US" sz="1600" dirty="0" err="1">
                <a:latin typeface="Casper"/>
                <a:cs typeface="Arial" pitchFamily="34" charset="0"/>
              </a:rPr>
              <a:t>Lipschutz</a:t>
            </a:r>
            <a:r>
              <a:rPr lang="en-US" sz="1600" dirty="0">
                <a:latin typeface="Casper"/>
                <a:cs typeface="Arial" pitchFamily="34" charset="0"/>
              </a:rPr>
              <a:t>, Seymour, “Data Structures”, </a:t>
            </a:r>
            <a:r>
              <a:rPr lang="en-US" sz="1600" dirty="0" err="1">
                <a:latin typeface="Casper"/>
                <a:cs typeface="Arial" pitchFamily="34" charset="0"/>
              </a:rPr>
              <a:t>Schaum's</a:t>
            </a:r>
            <a:r>
              <a:rPr lang="en-US" sz="1600" dirty="0">
                <a:latin typeface="Casper"/>
                <a:cs typeface="Arial" pitchFamily="34" charset="0"/>
              </a:rPr>
              <a:t> Outline Series, Tata McGraw Hill.</a:t>
            </a:r>
          </a:p>
          <a:p>
            <a:pPr lvl="0"/>
            <a:r>
              <a:rPr lang="en-US" sz="1600" dirty="0" err="1">
                <a:latin typeface="Casper"/>
                <a:cs typeface="Arial" pitchFamily="34" charset="0"/>
              </a:rPr>
              <a:t>Gilberg</a:t>
            </a:r>
            <a:r>
              <a:rPr lang="en-US" sz="1600" dirty="0">
                <a:latin typeface="Casper"/>
                <a:cs typeface="Arial" pitchFamily="34" charset="0"/>
              </a:rPr>
              <a:t>/</a:t>
            </a:r>
            <a:r>
              <a:rPr lang="en-US" sz="1600" dirty="0" err="1">
                <a:latin typeface="Casper"/>
                <a:cs typeface="Arial" pitchFamily="34" charset="0"/>
              </a:rPr>
              <a:t>Forouzan</a:t>
            </a:r>
            <a:r>
              <a:rPr lang="en-US" sz="1600" dirty="0">
                <a:latin typeface="Casper"/>
                <a:cs typeface="Arial" pitchFamily="34" charset="0"/>
              </a:rPr>
              <a:t>,” Data Structure with C ,</a:t>
            </a:r>
            <a:r>
              <a:rPr lang="en-US" sz="1600" dirty="0" err="1">
                <a:latin typeface="Casper"/>
                <a:cs typeface="Arial" pitchFamily="34" charset="0"/>
              </a:rPr>
              <a:t>Cengage</a:t>
            </a:r>
            <a:r>
              <a:rPr lang="en-US" sz="1600" dirty="0">
                <a:latin typeface="Casper"/>
                <a:cs typeface="Arial" pitchFamily="34" charset="0"/>
              </a:rPr>
              <a:t> Learning.</a:t>
            </a:r>
          </a:p>
          <a:p>
            <a:r>
              <a:rPr lang="en-US" sz="1600" dirty="0" err="1">
                <a:latin typeface="Casper"/>
                <a:cs typeface="Arial" pitchFamily="34" charset="0"/>
              </a:rPr>
              <a:t>Augenstein,Moshe</a:t>
            </a:r>
            <a:r>
              <a:rPr lang="en-US" sz="1600" dirty="0">
                <a:latin typeface="Casper"/>
                <a:cs typeface="Arial" pitchFamily="34" charset="0"/>
              </a:rPr>
              <a:t> J , </a:t>
            </a:r>
            <a:r>
              <a:rPr lang="en-US" sz="1600" dirty="0" err="1">
                <a:latin typeface="Casper"/>
                <a:cs typeface="Arial" pitchFamily="34" charset="0"/>
              </a:rPr>
              <a:t>Tanenbaum</a:t>
            </a:r>
            <a:r>
              <a:rPr lang="en-US" sz="1600" dirty="0">
                <a:latin typeface="Casper"/>
                <a:cs typeface="Arial" pitchFamily="34" charset="0"/>
              </a:rPr>
              <a:t>, Aaron  M, “Data Structures using C and C++”, Prentice Hall of India</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173412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7" name="CorelDRAW" r:id="rId4" imgW="2169000" imgH="2169360" progId="">
                    <p:embed/>
                  </p:oleObj>
                </mc:Choice>
                <mc:Fallback>
                  <p:oleObj name="CorelDRAW" r:id="rId4"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C0F5EB19-77B9-4540-B06A-F2C718D084BF"/>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2 Algorithm"/>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2118</TotalTime>
  <Words>1121</Words>
  <Application>Microsoft Office PowerPoint</Application>
  <PresentationFormat>Widescreen</PresentationFormat>
  <Paragraphs>192</Paragraphs>
  <Slides>18</Slides>
  <Notes>5</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34" baseType="lpstr">
      <vt:lpstr>Arial</vt:lpstr>
      <vt:lpstr>Arial Black</vt:lpstr>
      <vt:lpstr>Arial Unicode MS</vt:lpstr>
      <vt:lpstr>Calibri</vt:lpstr>
      <vt:lpstr>Calibri Light</vt:lpstr>
      <vt:lpstr>Cambria</vt:lpstr>
      <vt:lpstr>Casper</vt:lpstr>
      <vt:lpstr>Casper Bold</vt:lpstr>
      <vt:lpstr>Karla</vt:lpstr>
      <vt:lpstr>Open Sans</vt:lpstr>
      <vt:lpstr>Raleway ExtraBold</vt:lpstr>
      <vt:lpstr>Segoe UI</vt:lpstr>
      <vt:lpstr>Times New Roman</vt:lpstr>
      <vt:lpstr>1_Office Theme</vt:lpstr>
      <vt:lpstr>Contents Slide Master</vt:lpstr>
      <vt:lpstr>CorelDRAW</vt:lpstr>
      <vt:lpstr>PowerPoint Presentation</vt:lpstr>
      <vt:lpstr>Elementary Data Structure Using C++</vt:lpstr>
      <vt:lpstr>PowerPoint Presentation</vt:lpstr>
      <vt:lpstr> Scheme of Evaluation  </vt:lpstr>
      <vt:lpstr>   Arrays  </vt:lpstr>
      <vt:lpstr>Arrays</vt:lpstr>
      <vt:lpstr>Traversing  linear Arrays</vt:lpstr>
      <vt:lpstr>Representation of linear array in memory</vt:lpstr>
      <vt:lpstr> Traversing Linear Arrays</vt:lpstr>
      <vt:lpstr> Insertion in an Array</vt:lpstr>
      <vt:lpstr> Deletion from an Array</vt:lpstr>
      <vt:lpstr>Linear &amp; Binary Search</vt:lpstr>
      <vt:lpstr> Searching – Linear Search Algorithm</vt:lpstr>
      <vt:lpstr> Binary Search Algorithm</vt:lpstr>
      <vt:lpstr>Applications</vt:lpstr>
      <vt:lpstr>PowerPoint Presentation</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Algorithm</dc:title>
  <dc:creator>Branding</dc:creator>
  <cp:lastModifiedBy>nishu</cp:lastModifiedBy>
  <cp:revision>240</cp:revision>
  <dcterms:created xsi:type="dcterms:W3CDTF">2019-01-09T10:33:58Z</dcterms:created>
  <dcterms:modified xsi:type="dcterms:W3CDTF">2024-01-10T10:31:04Z</dcterms:modified>
</cp:coreProperties>
</file>