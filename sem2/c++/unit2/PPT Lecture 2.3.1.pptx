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1"/>
  </p:notesMasterIdLst>
  <p:handoutMasterIdLst>
    <p:handoutMasterId r:id="rId22"/>
  </p:handoutMasterIdLst>
  <p:sldIdLst>
    <p:sldId id="354" r:id="rId3"/>
    <p:sldId id="395" r:id="rId4"/>
    <p:sldId id="368" r:id="rId5"/>
    <p:sldId id="369" r:id="rId6"/>
    <p:sldId id="376" r:id="rId7"/>
    <p:sldId id="377" r:id="rId8"/>
    <p:sldId id="378" r:id="rId9"/>
    <p:sldId id="379" r:id="rId10"/>
    <p:sldId id="380" r:id="rId11"/>
    <p:sldId id="381" r:id="rId12"/>
    <p:sldId id="396" r:id="rId13"/>
    <p:sldId id="382" r:id="rId14"/>
    <p:sldId id="383" r:id="rId15"/>
    <p:sldId id="384" r:id="rId16"/>
    <p:sldId id="385" r:id="rId17"/>
    <p:sldId id="386" r:id="rId18"/>
    <p:sldId id="394" r:id="rId19"/>
    <p:sldId id="353" r:id="rId20"/>
  </p:sldIdLst>
  <p:sldSz cx="12192000" cy="6858000"/>
  <p:notesSz cx="6858000" cy="9144000"/>
  <p:custDataLst>
    <p:tags r:id="rId2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B7B0"/>
    <a:srgbClr val="4BDAE5"/>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4434" autoAdjust="0"/>
  </p:normalViewPr>
  <p:slideViewPr>
    <p:cSldViewPr snapToGrid="0">
      <p:cViewPr varScale="1">
        <p:scale>
          <a:sx n="73" d="100"/>
          <a:sy n="73" d="100"/>
        </p:scale>
        <p:origin x="474" y="78"/>
      </p:cViewPr>
      <p:guideLst>
        <p:guide orient="horz" pos="2160"/>
        <p:guide pos="3840"/>
      </p:guideLst>
    </p:cSldViewPr>
  </p:slideViewPr>
  <p:notesTextViewPr>
    <p:cViewPr>
      <p:scale>
        <a:sx n="3" d="2"/>
        <a:sy n="3" d="2"/>
      </p:scale>
      <p:origin x="0" y="0"/>
    </p:cViewPr>
  </p:notesTextViewPr>
  <p:sorterViewPr>
    <p:cViewPr>
      <p:scale>
        <a:sx n="100" d="100"/>
        <a:sy n="100" d="100"/>
      </p:scale>
      <p:origin x="0" y="-132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3/5/2024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3/5/2024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a:t>
            </a:fld>
            <a:endParaRPr lang="en-US"/>
          </a:p>
        </p:txBody>
      </p:sp>
    </p:spTree>
    <p:extLst>
      <p:ext uri="{BB962C8B-B14F-4D97-AF65-F5344CB8AC3E}">
        <p14:creationId xmlns:p14="http://schemas.microsoft.com/office/powerpoint/2010/main" val="2152107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a:t>
            </a:fld>
            <a:endParaRPr lang="en-US"/>
          </a:p>
        </p:txBody>
      </p:sp>
    </p:spTree>
    <p:extLst>
      <p:ext uri="{BB962C8B-B14F-4D97-AF65-F5344CB8AC3E}">
        <p14:creationId xmlns:p14="http://schemas.microsoft.com/office/powerpoint/2010/main" val="25737354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a:t>
            </a:fld>
            <a:endParaRPr lang="en-US"/>
          </a:p>
        </p:txBody>
      </p:sp>
    </p:spTree>
    <p:extLst>
      <p:ext uri="{BB962C8B-B14F-4D97-AF65-F5344CB8AC3E}">
        <p14:creationId xmlns:p14="http://schemas.microsoft.com/office/powerpoint/2010/main" val="26867423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a:t>
            </a:fld>
            <a:endParaRPr lang="en-US"/>
          </a:p>
        </p:txBody>
      </p:sp>
    </p:spTree>
    <p:extLst>
      <p:ext uri="{BB962C8B-B14F-4D97-AF65-F5344CB8AC3E}">
        <p14:creationId xmlns:p14="http://schemas.microsoft.com/office/powerpoint/2010/main" val="20123890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5</a:t>
            </a:fld>
            <a:endParaRPr lang="en-US"/>
          </a:p>
        </p:txBody>
      </p:sp>
    </p:spTree>
    <p:extLst>
      <p:ext uri="{BB962C8B-B14F-4D97-AF65-F5344CB8AC3E}">
        <p14:creationId xmlns:p14="http://schemas.microsoft.com/office/powerpoint/2010/main" val="37082437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17</a:t>
            </a:fld>
            <a:endParaRPr lang="en-US"/>
          </a:p>
        </p:txBody>
      </p:sp>
    </p:spTree>
    <p:extLst>
      <p:ext uri="{BB962C8B-B14F-4D97-AF65-F5344CB8AC3E}">
        <p14:creationId xmlns:p14="http://schemas.microsoft.com/office/powerpoint/2010/main" val="20254489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18</a:t>
            </a:fld>
            <a:endParaRPr lang="en-US"/>
          </a:p>
        </p:txBody>
      </p:sp>
    </p:spTree>
    <p:extLst>
      <p:ext uri="{BB962C8B-B14F-4D97-AF65-F5344CB8AC3E}">
        <p14:creationId xmlns:p14="http://schemas.microsoft.com/office/powerpoint/2010/main" val="9992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3/5/2024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12.jp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geeksforgeeks.org/double-pointer-pointer-pointer-c/"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geeksforgeeks.org/features-and-use-of-pointers-in-c-c/" TargetMode="External"/><Relationship Id="rId7" Type="http://schemas.openxmlformats.org/officeDocument/2006/relationships/image" Target="../media/image15.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www.youtube.com/watch?v=qcWQ1AmmNWI&amp;t=193s" TargetMode="External"/><Relationship Id="rId5" Type="http://schemas.openxmlformats.org/officeDocument/2006/relationships/hyperlink" Target="https://www.youtube.com/watch?v=sY-s7O0FiYE&amp;t=3s" TargetMode="External"/><Relationship Id="rId4" Type="http://schemas.openxmlformats.org/officeDocument/2006/relationships/hyperlink" Target="https://www.guru99.com/c-pointers.html" TargetMode="Externa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0" y="5369340"/>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p:nvSpPr>
        <p:spPr>
          <a:xfrm>
            <a:off x="236408" y="592201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1038" name="CorelDRAW" r:id="rId4" imgW="2169000" imgH="2169360" progId="">
                  <p:embed/>
                </p:oleObj>
              </mc:Choice>
              <mc:Fallback>
                <p:oleObj name="CorelDRAW" r:id="rId4"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5">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 name="Picture 29"/>
          <p:cNvPicPr>
            <a:picLocks noChangeAspect="1"/>
          </p:cNvPicPr>
          <p:nvPr/>
        </p:nvPicPr>
        <p:blipFill>
          <a:blip r:embed="rId6" cstate="print">
            <a:extLst>
              <a:ext uri="{BEBA8EAE-BF5A-486C-A8C5-ECC9F3942E4B}">
                <a14:imgProps xmlns:a14="http://schemas.microsoft.com/office/drawing/2010/main">
                  <a14:imgLayer r:embed="rId7">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p:cNvSpPr txBox="1">
            <a:spLocks noChangeArrowheads="1"/>
          </p:cNvSpPr>
          <p:nvPr/>
        </p:nvSpPr>
        <p:spPr bwMode="auto">
          <a:xfrm>
            <a:off x="240610" y="5988169"/>
            <a:ext cx="643204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smtClean="0">
                <a:solidFill>
                  <a:prstClr val="black">
                    <a:lumMod val="85000"/>
                    <a:lumOff val="15000"/>
                  </a:prstClr>
                </a:solidFill>
                <a:latin typeface="Times New Roman" panose="02020603050405020304" pitchFamily="18" charset="0"/>
                <a:cs typeface="Times New Roman" panose="02020603050405020304" pitchFamily="18" charset="0"/>
              </a:rPr>
              <a:t>Pointers</a:t>
            </a:r>
            <a:endParaRPr lang="en-US" sz="1600" dirty="0">
              <a:latin typeface="Raleway ExtraBold" pitchFamily="34" charset="-52"/>
            </a:endParaRPr>
          </a:p>
        </p:txBody>
      </p:sp>
      <p:sp>
        <p:nvSpPr>
          <p:cNvPr id="2" name="TextBox 1">
            <a:extLst>
              <a:ext uri="{FF2B5EF4-FFF2-40B4-BE49-F238E27FC236}">
                <a16:creationId xmlns:a16="http://schemas.microsoft.com/office/drawing/2014/main" id="{0329CE43-2B94-49D3-9948-A297B0FB52BF}"/>
              </a:ext>
            </a:extLst>
          </p:cNvPr>
          <p:cNvSpPr txBox="1">
            <a:spLocks noChangeArrowheads="1"/>
          </p:cNvSpPr>
          <p:nvPr/>
        </p:nvSpPr>
        <p:spPr bwMode="auto">
          <a:xfrm>
            <a:off x="914391" y="1476983"/>
            <a:ext cx="9884238" cy="332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a:t>
            </a:r>
            <a:r>
              <a:rPr lang="en-US" sz="3200" b="1" dirty="0" smtClean="0">
                <a:latin typeface="Arial Black" panose="020B0A04020102020204" pitchFamily="34" charset="0"/>
                <a:ea typeface="Karla" pitchFamily="2" charset="0"/>
                <a:cs typeface="Karla" pitchFamily="2" charset="0"/>
              </a:rPr>
              <a:t>UNITS</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a:t>
            </a:r>
            <a:r>
              <a:rPr lang="en-US" sz="2800">
                <a:latin typeface="Times New Roman" panose="02020603050405020304" pitchFamily="18" charset="0"/>
                <a:ea typeface="Calibri" panose="020F0502020204030204" pitchFamily="34" charset="0"/>
                <a:cs typeface="Times New Roman" panose="02020603050405020304" pitchFamily="18" charset="0"/>
              </a:rPr>
              <a:t>: Elementary </a:t>
            </a:r>
            <a:r>
              <a:rPr lang="en-US" sz="2800" dirty="0" smtClean="0">
                <a:latin typeface="Times New Roman" panose="02020603050405020304" pitchFamily="18" charset="0"/>
                <a:ea typeface="Calibri" panose="020F0502020204030204" pitchFamily="34" charset="0"/>
                <a:cs typeface="Times New Roman" panose="02020603050405020304" pitchFamily="18" charset="0"/>
              </a:rPr>
              <a:t>Data Structure Using </a:t>
            </a:r>
            <a:r>
              <a:rPr lang="en-US" sz="2800" dirty="0">
                <a:latin typeface="Times New Roman" panose="02020603050405020304" pitchFamily="18" charset="0"/>
                <a:ea typeface="Calibri" panose="020F0502020204030204" pitchFamily="34" charset="0"/>
                <a:cs typeface="Times New Roman" panose="02020603050405020304" pitchFamily="18" charset="0"/>
              </a:rPr>
              <a:t>C++</a:t>
            </a: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Code:23CSH-103</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pPr>
            <a:r>
              <a:rPr lang="en-US" sz="2800" dirty="0">
                <a:latin typeface="Times New Roman" panose="02020603050405020304" pitchFamily="18" charset="0"/>
                <a:ea typeface="Calibri" panose="020F0502020204030204" pitchFamily="34" charset="0"/>
                <a:cs typeface="Times New Roman" panose="02020603050405020304" pitchFamily="18" charset="0"/>
              </a:rPr>
              <a:t>							</a:t>
            </a:r>
            <a:endParaRPr lang="en-US" sz="2400" b="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00986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4AFE-B27C-4A9A-A9F5-7F62354B01A2}"/>
              </a:ext>
            </a:extLst>
          </p:cNvPr>
          <p:cNvSpPr>
            <a:spLocks noGrp="1"/>
          </p:cNvSpPr>
          <p:nvPr>
            <p:ph type="title"/>
          </p:nvPr>
        </p:nvSpPr>
        <p:spPr>
          <a:xfrm>
            <a:off x="600075" y="0"/>
            <a:ext cx="4277328" cy="1645920"/>
          </a:xfrm>
        </p:spPr>
        <p:txBody>
          <a:bodyPr>
            <a:normAutofit/>
          </a:bodyPr>
          <a:lstStyle/>
          <a:p>
            <a:pPr algn="ctr"/>
            <a:r>
              <a:rPr lang="en-US" b="1" dirty="0">
                <a:latin typeface="+mn-lt"/>
              </a:rPr>
              <a:t>Elementary</a:t>
            </a:r>
            <a:r>
              <a:rPr lang="en-IN" b="1" dirty="0" smtClean="0">
                <a:latin typeface="+mn-lt"/>
              </a:rPr>
              <a:t> </a:t>
            </a:r>
            <a:r>
              <a:rPr lang="en-IN" b="1" dirty="0">
                <a:latin typeface="+mn-lt"/>
              </a:rPr>
              <a:t>Data Structure Using C++</a:t>
            </a:r>
          </a:p>
        </p:txBody>
      </p:sp>
      <p:sp>
        <p:nvSpPr>
          <p:cNvPr id="3" name="Content Placeholder 2">
            <a:extLst>
              <a:ext uri="{FF2B5EF4-FFF2-40B4-BE49-F238E27FC236}">
                <a16:creationId xmlns:a16="http://schemas.microsoft.com/office/drawing/2014/main" id="{A09B5602-926A-470D-BC2B-78EBF425FF1F}"/>
              </a:ext>
            </a:extLst>
          </p:cNvPr>
          <p:cNvSpPr>
            <a:spLocks noGrp="1"/>
          </p:cNvSpPr>
          <p:nvPr>
            <p:ph idx="1"/>
          </p:nvPr>
        </p:nvSpPr>
        <p:spPr/>
        <p:txBody>
          <a:bodyPr>
            <a:normAutofit/>
          </a:bodyPr>
          <a:lstStyle/>
          <a:p>
            <a:pPr marL="0" lvl="0" indent="0">
              <a:buNone/>
            </a:pPr>
            <a:r>
              <a:rPr lang="en-US" dirty="0"/>
              <a:t/>
            </a:r>
            <a:br>
              <a:rPr lang="en-US" dirty="0"/>
            </a:br>
            <a:endParaRPr lang="en-IN" b="1" dirty="0"/>
          </a:p>
          <a:p>
            <a:endParaRPr lang="en-IN" dirty="0"/>
          </a:p>
        </p:txBody>
      </p:sp>
      <p:sp>
        <p:nvSpPr>
          <p:cNvPr id="4" name="Text Placeholder 3">
            <a:extLst>
              <a:ext uri="{FF2B5EF4-FFF2-40B4-BE49-F238E27FC236}">
                <a16:creationId xmlns:a16="http://schemas.microsoft.com/office/drawing/2014/main" id="{467BF1DB-555C-464C-9D63-BB68417BDF76}"/>
              </a:ext>
            </a:extLst>
          </p:cNvPr>
          <p:cNvSpPr>
            <a:spLocks noGrp="1"/>
          </p:cNvSpPr>
          <p:nvPr>
            <p:ph type="body" sz="half" idx="2"/>
          </p:nvPr>
        </p:nvSpPr>
        <p:spPr>
          <a:xfrm>
            <a:off x="600075" y="2136775"/>
            <a:ext cx="3683602" cy="333376"/>
          </a:xfrm>
        </p:spPr>
        <p:txBody>
          <a:bodyPr>
            <a:normAutofit fontScale="92500" lnSpcReduction="20000"/>
          </a:bodyPr>
          <a:lstStyle/>
          <a:p>
            <a:r>
              <a:rPr lang="en-US" sz="2400" b="1" dirty="0"/>
              <a:t>Course Objectives</a:t>
            </a:r>
          </a:p>
          <a:p>
            <a:endParaRPr lang="en-US" b="1" i="1" u="sng" dirty="0"/>
          </a:p>
          <a:p>
            <a:endParaRPr lang="en-US" b="1" i="1" u="sng" dirty="0"/>
          </a:p>
        </p:txBody>
      </p:sp>
      <p:sp>
        <p:nvSpPr>
          <p:cNvPr id="5" name="Slide Number Placeholder 4">
            <a:extLst>
              <a:ext uri="{FF2B5EF4-FFF2-40B4-BE49-F238E27FC236}">
                <a16:creationId xmlns:a16="http://schemas.microsoft.com/office/drawing/2014/main" id="{6817145E-8450-434E-A8F0-1114075FB9BF}"/>
              </a:ext>
            </a:extLst>
          </p:cNvPr>
          <p:cNvSpPr>
            <a:spLocks noGrp="1"/>
          </p:cNvSpPr>
          <p:nvPr>
            <p:ph type="sldNum" sz="quarter" idx="12"/>
          </p:nvPr>
        </p:nvSpPr>
        <p:spPr/>
        <p:txBody>
          <a:bodyPr/>
          <a:lstStyle/>
          <a:p>
            <a:fld id="{BDCDBBEF-AA6C-4BA6-85B2-A17D7F280E38}" type="slidenum">
              <a:rPr lang="en-US" smtClean="0"/>
              <a:pPr/>
              <a:t>2</a:t>
            </a:fld>
            <a:endParaRPr lang="en-US" dirty="0"/>
          </a:p>
        </p:txBody>
      </p:sp>
      <p:pic>
        <p:nvPicPr>
          <p:cNvPr id="7" name="Picture 6">
            <a:extLst>
              <a:ext uri="{FF2B5EF4-FFF2-40B4-BE49-F238E27FC236}">
                <a16:creationId xmlns:a16="http://schemas.microsoft.com/office/drawing/2014/main" id="{4F45ED97-A37D-4BD5-9BB8-9A010CD2A3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5329" y="3901327"/>
            <a:ext cx="2581941" cy="2520950"/>
          </a:xfrm>
          <a:prstGeom prst="rect">
            <a:avLst/>
          </a:prstGeom>
        </p:spPr>
      </p:pic>
      <p:pic>
        <p:nvPicPr>
          <p:cNvPr id="9" name="Picture 8">
            <a:extLst>
              <a:ext uri="{FF2B5EF4-FFF2-40B4-BE49-F238E27FC236}">
                <a16:creationId xmlns:a16="http://schemas.microsoft.com/office/drawing/2014/main" id="{E4C0D224-3882-4701-BE24-7AC23C1C37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8350" y="481100"/>
            <a:ext cx="5812823" cy="3390813"/>
          </a:xfrm>
          <a:prstGeom prst="rect">
            <a:avLst/>
          </a:prstGeom>
        </p:spPr>
      </p:pic>
      <p:graphicFrame>
        <p:nvGraphicFramePr>
          <p:cNvPr id="6" name="Table 5"/>
          <p:cNvGraphicFramePr>
            <a:graphicFrameLocks noGrp="1"/>
          </p:cNvGraphicFramePr>
          <p:nvPr/>
        </p:nvGraphicFramePr>
        <p:xfrm>
          <a:off x="248648" y="2630329"/>
          <a:ext cx="5459821" cy="3783474"/>
        </p:xfrm>
        <a:graphic>
          <a:graphicData uri="http://schemas.openxmlformats.org/drawingml/2006/table">
            <a:tbl>
              <a:tblPr firstRow="1" firstCol="1" bandRow="1">
                <a:tableStyleId>{5C22544A-7EE6-4342-B048-85BDC9FD1C3A}</a:tableStyleId>
              </a:tblPr>
              <a:tblGrid>
                <a:gridCol w="5459821">
                  <a:extLst>
                    <a:ext uri="{9D8B030D-6E8A-4147-A177-3AD203B41FA5}">
                      <a16:colId xmlns:a16="http://schemas.microsoft.com/office/drawing/2014/main" val="98381966"/>
                    </a:ext>
                  </a:extLst>
                </a:gridCol>
              </a:tblGrid>
              <a:tr h="530408">
                <a:tc>
                  <a:txBody>
                    <a:bodyPr/>
                    <a:lstStyle/>
                    <a:p>
                      <a:pPr marL="285750" indent="-285750" algn="just">
                        <a:lnSpc>
                          <a:spcPct val="107000"/>
                        </a:lnSpc>
                        <a:spcAft>
                          <a:spcPts val="0"/>
                        </a:spcAft>
                        <a:buFont typeface="Arial" panose="020B0604020202020204" pitchFamily="34" charset="0"/>
                        <a:buChar char="•"/>
                        <a:tabLst>
                          <a:tab pos="457200" algn="l"/>
                        </a:tabLst>
                      </a:pPr>
                      <a:r>
                        <a:rPr lang="en-US" sz="1800" dirty="0">
                          <a:solidFill>
                            <a:schemeClr val="tx1"/>
                          </a:solidFill>
                          <a:effectLst/>
                          <a:latin typeface="+mj-lt"/>
                        </a:rPr>
                        <a:t>To enable the students to understand various stages and constructs of C++ programming language. </a:t>
                      </a:r>
                      <a:endParaRPr lang="en-IN" sz="1800" dirty="0">
                        <a:solidFill>
                          <a:schemeClr val="tx1"/>
                        </a:solidFill>
                        <a:effectLst/>
                        <a:latin typeface="+mj-lt"/>
                        <a:ea typeface="Calibri" panose="020F0502020204030204" pitchFamily="34"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2697720509"/>
                  </a:ext>
                </a:extLst>
              </a:tr>
              <a:tr h="530408">
                <a:tc>
                  <a:txBody>
                    <a:bodyPr/>
                    <a:lstStyle/>
                    <a:p>
                      <a:pPr marL="285750" indent="-285750" algn="just">
                        <a:lnSpc>
                          <a:spcPct val="107000"/>
                        </a:lnSpc>
                        <a:spcAft>
                          <a:spcPts val="0"/>
                        </a:spcAft>
                        <a:buFont typeface="Arial" panose="020B0604020202020204" pitchFamily="34" charset="0"/>
                        <a:buChar char="•"/>
                        <a:tabLst>
                          <a:tab pos="457200" algn="l"/>
                        </a:tabLst>
                      </a:pPr>
                      <a:r>
                        <a:rPr lang="en-US" sz="1800" dirty="0">
                          <a:solidFill>
                            <a:schemeClr val="tx1"/>
                          </a:solidFill>
                          <a:effectLst/>
                          <a:latin typeface="+mj-lt"/>
                        </a:rPr>
                        <a:t>To improve their ability to analyze and address variety of problems in C++.</a:t>
                      </a:r>
                      <a:endParaRPr lang="en-IN" sz="1800" dirty="0">
                        <a:solidFill>
                          <a:schemeClr val="tx1"/>
                        </a:solidFill>
                        <a:effectLst/>
                        <a:latin typeface="+mj-lt"/>
                        <a:ea typeface="Calibri" panose="020F0502020204030204" pitchFamily="34"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2209109202"/>
                  </a:ext>
                </a:extLst>
              </a:tr>
              <a:tr h="530408">
                <a:tc>
                  <a:txBody>
                    <a:bodyPr/>
                    <a:lstStyle/>
                    <a:p>
                      <a:pPr marL="285750" indent="-285750" algn="just">
                        <a:lnSpc>
                          <a:spcPct val="107000"/>
                        </a:lnSpc>
                        <a:spcAft>
                          <a:spcPts val="0"/>
                        </a:spcAft>
                        <a:buFont typeface="Arial" panose="020B0604020202020204" pitchFamily="34" charset="0"/>
                        <a:buChar char="•"/>
                        <a:tabLst>
                          <a:tab pos="457200" algn="l"/>
                        </a:tabLst>
                      </a:pPr>
                      <a:r>
                        <a:rPr lang="en-US" sz="1800" dirty="0">
                          <a:solidFill>
                            <a:schemeClr val="tx1"/>
                          </a:solidFill>
                          <a:effectLst/>
                          <a:latin typeface="+mj-lt"/>
                        </a:rPr>
                        <a:t>To understand the concept of data structures and various operations on them.</a:t>
                      </a:r>
                      <a:endParaRPr lang="en-IN" sz="1800" dirty="0">
                        <a:solidFill>
                          <a:schemeClr val="tx1"/>
                        </a:solidFill>
                        <a:effectLst/>
                        <a:latin typeface="+mj-lt"/>
                        <a:ea typeface="Calibri" panose="020F0502020204030204" pitchFamily="34"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1991538032"/>
                  </a:ext>
                </a:extLst>
              </a:tr>
              <a:tr h="961675">
                <a:tc>
                  <a:txBody>
                    <a:bodyPr/>
                    <a:lstStyle/>
                    <a:p>
                      <a:pPr marL="285750" indent="-285750" algn="just">
                        <a:lnSpc>
                          <a:spcPct val="97000"/>
                        </a:lnSpc>
                        <a:spcBef>
                          <a:spcPts val="420"/>
                        </a:spcBef>
                        <a:spcAft>
                          <a:spcPts val="0"/>
                        </a:spcAft>
                        <a:buFont typeface="Arial" panose="020B0604020202020204" pitchFamily="34" charset="0"/>
                        <a:buChar char="•"/>
                        <a:tabLst>
                          <a:tab pos="457200" algn="l"/>
                        </a:tabLst>
                      </a:pPr>
                      <a:r>
                        <a:rPr lang="en-US" sz="1800" dirty="0">
                          <a:solidFill>
                            <a:schemeClr val="tx1"/>
                          </a:solidFill>
                          <a:effectLst/>
                          <a:latin typeface="+mj-lt"/>
                        </a:rPr>
                        <a:t>To understand the properties of various data structures and able to identify the strengths and weaknesses of different data structures.</a:t>
                      </a:r>
                      <a:endParaRPr lang="en-IN" sz="1800" dirty="0">
                        <a:solidFill>
                          <a:schemeClr val="tx1"/>
                        </a:solidFill>
                        <a:effectLst/>
                        <a:latin typeface="+mj-lt"/>
                      </a:endParaRPr>
                    </a:p>
                  </a:txBody>
                  <a:tcPr marL="68580" marR="68580" marT="0" marB="0">
                    <a:solidFill>
                      <a:schemeClr val="accent1">
                        <a:lumMod val="40000"/>
                        <a:lumOff val="60000"/>
                      </a:schemeClr>
                    </a:solidFill>
                  </a:tcPr>
                </a:tc>
                <a:extLst>
                  <a:ext uri="{0D108BD9-81ED-4DB2-BD59-A6C34878D82A}">
                    <a16:rowId xmlns:a16="http://schemas.microsoft.com/office/drawing/2014/main" val="1306193080"/>
                  </a:ext>
                </a:extLst>
              </a:tr>
              <a:tr h="1060817">
                <a:tc>
                  <a:txBody>
                    <a:bodyPr/>
                    <a:lstStyle/>
                    <a:p>
                      <a:pPr marL="285750" indent="-285750">
                        <a:lnSpc>
                          <a:spcPct val="107000"/>
                        </a:lnSpc>
                        <a:spcAft>
                          <a:spcPts val="0"/>
                        </a:spcAft>
                        <a:buFont typeface="Arial" panose="020B0604020202020204" pitchFamily="34" charset="0"/>
                        <a:buChar char="•"/>
                      </a:pPr>
                      <a:r>
                        <a:rPr lang="en-US" sz="1800" dirty="0">
                          <a:solidFill>
                            <a:schemeClr val="tx1"/>
                          </a:solidFill>
                          <a:effectLst/>
                          <a:latin typeface="+mj-lt"/>
                        </a:rPr>
                        <a:t>To analyze and compare the efficiency of algorithms and learn to design efficient algorithms for solving computing problems</a:t>
                      </a:r>
                      <a:endParaRPr lang="en-IN" sz="1800" dirty="0">
                        <a:solidFill>
                          <a:schemeClr val="tx1"/>
                        </a:solidFill>
                        <a:effectLst/>
                        <a:latin typeface="+mj-lt"/>
                        <a:ea typeface="Calibri" panose="020F0502020204030204" pitchFamily="34"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2572423643"/>
                  </a:ext>
                </a:extLst>
              </a:tr>
            </a:tbl>
          </a:graphicData>
        </a:graphic>
      </p:graphicFrame>
    </p:spTree>
    <p:extLst>
      <p:ext uri="{BB962C8B-B14F-4D97-AF65-F5344CB8AC3E}">
        <p14:creationId xmlns:p14="http://schemas.microsoft.com/office/powerpoint/2010/main" val="1865083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3583" y="1144447"/>
            <a:ext cx="3755334" cy="4728357"/>
          </a:xfrm>
        </p:spPr>
        <p:txBody>
          <a:bodyPr>
            <a:normAutofit/>
          </a:bodyPr>
          <a:lstStyle/>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2" name="Rectangle 1"/>
          <p:cNvSpPr/>
          <p:nvPr/>
        </p:nvSpPr>
        <p:spPr>
          <a:xfrm>
            <a:off x="8297137" y="1566862"/>
            <a:ext cx="3364639" cy="41214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192517353"/>
              </p:ext>
            </p:extLst>
          </p:nvPr>
        </p:nvGraphicFramePr>
        <p:xfrm>
          <a:off x="374073" y="1801092"/>
          <a:ext cx="7532369" cy="4326692"/>
        </p:xfrm>
        <a:graphic>
          <a:graphicData uri="http://schemas.openxmlformats.org/drawingml/2006/table">
            <a:tbl>
              <a:tblPr firstRow="1" firstCol="1" bandRow="1">
                <a:tableStyleId>{5940675A-B579-460E-94D1-54222C63F5DA}</a:tableStyleId>
              </a:tblPr>
              <a:tblGrid>
                <a:gridCol w="1092249">
                  <a:extLst>
                    <a:ext uri="{9D8B030D-6E8A-4147-A177-3AD203B41FA5}">
                      <a16:colId xmlns:a16="http://schemas.microsoft.com/office/drawing/2014/main" val="20000"/>
                    </a:ext>
                  </a:extLst>
                </a:gridCol>
                <a:gridCol w="6440120">
                  <a:extLst>
                    <a:ext uri="{9D8B030D-6E8A-4147-A177-3AD203B41FA5}">
                      <a16:colId xmlns:a16="http://schemas.microsoft.com/office/drawing/2014/main" val="20001"/>
                    </a:ext>
                  </a:extLst>
                </a:gridCol>
              </a:tblGrid>
              <a:tr h="719836">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 Number</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b="1" dirty="0" smtClean="0">
                          <a:solidFill>
                            <a:schemeClr val="tx1"/>
                          </a:solidFill>
                          <a:effectLst/>
                          <a:latin typeface="Times New Roman" panose="02020603050405020304" pitchFamily="18" charset="0"/>
                          <a:ea typeface="+mn-ea"/>
                          <a:cs typeface="Times New Roman" panose="02020603050405020304" pitchFamily="18" charset="0"/>
                        </a:rPr>
                        <a:t>Course</a:t>
                      </a:r>
                      <a:r>
                        <a:rPr lang="en-US" sz="1800" b="1" baseline="0" dirty="0" smtClean="0">
                          <a:solidFill>
                            <a:schemeClr val="tx1"/>
                          </a:solidFill>
                          <a:effectLst/>
                          <a:latin typeface="Times New Roman" panose="02020603050405020304" pitchFamily="18" charset="0"/>
                          <a:ea typeface="+mn-ea"/>
                          <a:cs typeface="Times New Roman" panose="02020603050405020304" pitchFamily="18" charset="0"/>
                        </a:rPr>
                        <a:t> Outcome</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683534">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CO1</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Understand the concepts of object-oriented programming including programming process and compilation process.</a:t>
                      </a:r>
                    </a:p>
                  </a:txBody>
                  <a:tcPr marL="68580" marR="68580" marT="0" marB="0"/>
                </a:tc>
                <a:extLst>
                  <a:ext uri="{0D108BD9-81ED-4DB2-BD59-A6C34878D82A}">
                    <a16:rowId xmlns:a16="http://schemas.microsoft.com/office/drawing/2014/main" val="10001"/>
                  </a:ext>
                </a:extLst>
              </a:tr>
              <a:tr h="625510">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CO2</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Apply different techniques to decompose a problem and programmed a solution with various concepts of object-oriented programming language. </a:t>
                      </a:r>
                    </a:p>
                  </a:txBody>
                  <a:tcPr marL="68580" marR="68580" marT="0" marB="0"/>
                </a:tc>
                <a:extLst>
                  <a:ext uri="{0D108BD9-81ED-4DB2-BD59-A6C34878D82A}">
                    <a16:rowId xmlns:a16="http://schemas.microsoft.com/office/drawing/2014/main" val="10002"/>
                  </a:ext>
                </a:extLst>
              </a:tr>
              <a:tr h="655163">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CO3</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Analyse and explain the behaviour of linear data structure operations using the programming addressed in the course.</a:t>
                      </a:r>
                    </a:p>
                  </a:txBody>
                  <a:tcPr marL="68580" marR="68580" marT="0" marB="0"/>
                </a:tc>
                <a:extLst>
                  <a:ext uri="{0D108BD9-81ED-4DB2-BD59-A6C34878D82A}">
                    <a16:rowId xmlns:a16="http://schemas.microsoft.com/office/drawing/2014/main" val="10003"/>
                  </a:ext>
                </a:extLst>
              </a:tr>
              <a:tr h="628422">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CO4</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Implement and evaluate the programs using the syntax and semantics of object-oriented programming.</a:t>
                      </a:r>
                    </a:p>
                  </a:txBody>
                  <a:tcPr marL="68580" marR="68580" marT="0" marB="0"/>
                </a:tc>
                <a:extLst>
                  <a:ext uri="{0D108BD9-81ED-4DB2-BD59-A6C34878D82A}">
                    <a16:rowId xmlns:a16="http://schemas.microsoft.com/office/drawing/2014/main" val="10004"/>
                  </a:ext>
                </a:extLst>
              </a:tr>
              <a:tr h="759246">
                <a:tc>
                  <a:txBody>
                    <a:bodyPr/>
                    <a:lstStyle/>
                    <a:p>
                      <a:pPr marL="0" marR="0">
                        <a:lnSpc>
                          <a:spcPct val="100000"/>
                        </a:lnSpc>
                        <a:spcBef>
                          <a:spcPts val="0"/>
                        </a:spcBef>
                        <a:spcAft>
                          <a:spcPts val="0"/>
                        </a:spcAft>
                      </a:pPr>
                      <a:r>
                        <a:rPr lang="en-US" sz="1800" b="1"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CO5</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31115"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Design the solution of real-world problems in order to determine that the program performs as expected.</a:t>
                      </a:r>
                    </a:p>
                  </a:txBody>
                  <a:tcPr marL="68580" marR="68580" marT="0" marB="0"/>
                </a:tc>
                <a:extLst>
                  <a:ext uri="{0D108BD9-81ED-4DB2-BD59-A6C34878D82A}">
                    <a16:rowId xmlns:a16="http://schemas.microsoft.com/office/drawing/2014/main" val="2838883604"/>
                  </a:ext>
                </a:extLst>
              </a:tr>
            </a:tbl>
          </a:graphicData>
        </a:graphic>
      </p:graphicFrame>
      <p:sp>
        <p:nvSpPr>
          <p:cNvPr id="11" name="Rectangle 10"/>
          <p:cNvSpPr/>
          <p:nvPr/>
        </p:nvSpPr>
        <p:spPr>
          <a:xfrm>
            <a:off x="546270" y="1144447"/>
            <a:ext cx="2635080" cy="461665"/>
          </a:xfrm>
          <a:prstGeom prst="rect">
            <a:avLst/>
          </a:prstGeom>
        </p:spPr>
        <p:txBody>
          <a:bodyPr wrap="square">
            <a:spAutoFit/>
          </a:bodyPr>
          <a:lstStyle/>
          <a:p>
            <a:r>
              <a:rPr lang="en-US" sz="2400" b="1" dirty="0"/>
              <a:t>Course Outcomes </a:t>
            </a:r>
          </a:p>
        </p:txBody>
      </p:sp>
      <p:pic>
        <p:nvPicPr>
          <p:cNvPr id="16" name="Picture 15"/>
          <p:cNvPicPr>
            <a:picLocks noChangeAspect="1"/>
          </p:cNvPicPr>
          <p:nvPr/>
        </p:nvPicPr>
        <p:blipFill>
          <a:blip r:embed="rId3" cstate="print"/>
          <a:stretch>
            <a:fillRect/>
          </a:stretch>
        </p:blipFill>
        <p:spPr>
          <a:xfrm>
            <a:off x="8352861" y="2024947"/>
            <a:ext cx="3183156" cy="3407607"/>
          </a:xfrm>
          <a:prstGeom prst="rect">
            <a:avLst/>
          </a:prstGeom>
        </p:spPr>
      </p:pic>
      <p:pic>
        <p:nvPicPr>
          <p:cNvPr id="18" name="Picture 17"/>
          <p:cNvPicPr>
            <a:picLocks noChangeAspect="1"/>
          </p:cNvPicPr>
          <p:nvPr/>
        </p:nvPicPr>
        <p:blipFill>
          <a:blip r:embed="rId4" cstate="print"/>
          <a:stretch>
            <a:fillRect/>
          </a:stretch>
        </p:blipFill>
        <p:spPr>
          <a:xfrm>
            <a:off x="8360776" y="1701556"/>
            <a:ext cx="895189" cy="916170"/>
          </a:xfrm>
          <a:prstGeom prst="rect">
            <a:avLst/>
          </a:prstGeom>
        </p:spPr>
      </p:pic>
      <p:pic>
        <p:nvPicPr>
          <p:cNvPr id="9" name="Picture 8">
            <a:extLst>
              <a:ext uri="{FF2B5EF4-FFF2-40B4-BE49-F238E27FC236}">
                <a16:creationId xmlns:a16="http://schemas.microsoft.com/office/drawing/2014/main" id="{39FBA091-1FD7-4CFB-ACD7-85BE3251E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677" y="109537"/>
            <a:ext cx="2686050" cy="1457325"/>
          </a:xfrm>
          <a:prstGeom prst="rect">
            <a:avLst/>
          </a:prstGeom>
        </p:spPr>
      </p:pic>
    </p:spTree>
    <p:extLst>
      <p:ext uri="{BB962C8B-B14F-4D97-AF65-F5344CB8AC3E}">
        <p14:creationId xmlns:p14="http://schemas.microsoft.com/office/powerpoint/2010/main" val="645943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9376" y="346479"/>
            <a:ext cx="7685314" cy="1147360"/>
          </a:xfrm>
        </p:spPr>
        <p:txBody>
          <a:bodyPr>
            <a:normAutofit fontScale="90000"/>
          </a:bodyPr>
          <a:lstStyle/>
          <a:p>
            <a:r>
              <a:rPr lang="en-US" b="1" dirty="0"/>
              <a:t/>
            </a:r>
            <a:br>
              <a:rPr lang="en-US" b="1" dirty="0"/>
            </a:br>
            <a:r>
              <a:rPr lang="en-US" sz="4900" b="1" dirty="0">
                <a:solidFill>
                  <a:srgbClr val="FF0000"/>
                </a:solidFill>
                <a:latin typeface="+mn-lt"/>
              </a:rPr>
              <a:t>Scheme of Evaluation </a:t>
            </a:r>
            <a:r>
              <a:rPr lang="en-US" dirty="0">
                <a:solidFill>
                  <a:srgbClr val="FF0000"/>
                </a:solidFill>
              </a:rPr>
              <a:t/>
            </a:r>
            <a:br>
              <a:rPr lang="en-US" dirty="0">
                <a:solidFill>
                  <a:srgbClr val="FF0000"/>
                </a:solidFill>
              </a:rPr>
            </a:br>
            <a:endParaRPr lang="en-US" dirty="0">
              <a:solidFill>
                <a:srgbClr val="FF0000"/>
              </a:solidFil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71728" y="261543"/>
            <a:ext cx="10515600" cy="123229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p:cNvSpPr txBox="1">
            <a:spLocks/>
          </p:cNvSpPr>
          <p:nvPr/>
        </p:nvSpPr>
        <p:spPr>
          <a:xfrm>
            <a:off x="1082040" y="178927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6" name="Picture 5"/>
          <p:cNvPicPr>
            <a:picLocks noChangeAspect="1"/>
          </p:cNvPicPr>
          <p:nvPr/>
        </p:nvPicPr>
        <p:blipFill>
          <a:blip r:embed="rId3"/>
          <a:stretch>
            <a:fillRect/>
          </a:stretch>
        </p:blipFill>
        <p:spPr>
          <a:xfrm>
            <a:off x="873905" y="1578775"/>
            <a:ext cx="10515600" cy="5153025"/>
          </a:xfrm>
          <a:prstGeom prst="rect">
            <a:avLst/>
          </a:prstGeom>
        </p:spPr>
      </p:pic>
    </p:spTree>
    <p:extLst>
      <p:ext uri="{BB962C8B-B14F-4D97-AF65-F5344CB8AC3E}">
        <p14:creationId xmlns:p14="http://schemas.microsoft.com/office/powerpoint/2010/main" val="151862848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4935F3D-C314-4E26-97BC-73BA026B555D}"/>
              </a:ext>
            </a:extLst>
          </p:cNvPr>
          <p:cNvSpPr>
            <a:spLocks noGrp="1"/>
          </p:cNvSpPr>
          <p:nvPr>
            <p:ph type="sldNum" sz="quarter" idx="12"/>
          </p:nvPr>
        </p:nvSpPr>
        <p:spPr/>
        <p:txBody>
          <a:bodyPr/>
          <a:lstStyle/>
          <a:p>
            <a:fld id="{BDCDBBEF-AA6C-4BA6-85B2-A17D7F280E38}" type="slidenum">
              <a:rPr lang="en-US" smtClean="0"/>
              <a:pPr/>
              <a:t>5</a:t>
            </a:fld>
            <a:endParaRPr lang="en-US"/>
          </a:p>
        </p:txBody>
      </p:sp>
      <p:sp>
        <p:nvSpPr>
          <p:cNvPr id="5" name="TextBox 4">
            <a:extLst>
              <a:ext uri="{FF2B5EF4-FFF2-40B4-BE49-F238E27FC236}">
                <a16:creationId xmlns:a16="http://schemas.microsoft.com/office/drawing/2014/main" id="{A5F5E4B6-2F2D-4512-A3F8-BF729BD8C562}"/>
              </a:ext>
            </a:extLst>
          </p:cNvPr>
          <p:cNvSpPr txBox="1"/>
          <p:nvPr/>
        </p:nvSpPr>
        <p:spPr>
          <a:xfrm>
            <a:off x="720906" y="1229897"/>
            <a:ext cx="5635505" cy="3785652"/>
          </a:xfrm>
          <a:prstGeom prst="rect">
            <a:avLst/>
          </a:prstGeom>
          <a:noFill/>
        </p:spPr>
        <p:txBody>
          <a:bodyPr wrap="square" rtlCol="0">
            <a:spAutoFit/>
          </a:bodyPr>
          <a:lstStyle/>
          <a:p>
            <a:pPr marL="285750" indent="-285750" algn="just">
              <a:buFont typeface="Arial" panose="020B0604020202020204" pitchFamily="34" charset="0"/>
              <a:buChar char="•"/>
            </a:pPr>
            <a:r>
              <a:rPr lang="en-IN" sz="2400" dirty="0"/>
              <a:t>POINTER is a variable that stores address of another variable. </a:t>
            </a:r>
          </a:p>
          <a:p>
            <a:pPr marL="285750" indent="-285750" algn="just">
              <a:buFont typeface="Arial" panose="020B0604020202020204" pitchFamily="34" charset="0"/>
              <a:buChar char="•"/>
            </a:pPr>
            <a:r>
              <a:rPr lang="en-IN" sz="2400" dirty="0"/>
              <a:t>A pointer can also be used to refer to another pointer function. </a:t>
            </a:r>
          </a:p>
          <a:p>
            <a:pPr marL="285750" indent="-285750" algn="just">
              <a:buFont typeface="Arial" panose="020B0604020202020204" pitchFamily="34" charset="0"/>
              <a:buChar char="•"/>
            </a:pPr>
            <a:r>
              <a:rPr lang="en-IN" sz="2400" dirty="0"/>
              <a:t>A pointer can be incremented/decremented, i.e., to point to the next/ previous memory location.</a:t>
            </a:r>
          </a:p>
          <a:p>
            <a:pPr marL="285750" indent="-285750" algn="just">
              <a:buFont typeface="Arial" panose="020B0604020202020204" pitchFamily="34" charset="0"/>
              <a:buChar char="•"/>
            </a:pPr>
            <a:r>
              <a:rPr lang="en-IN" sz="2400" dirty="0"/>
              <a:t> The purpose of pointer is to save memory space and achieve faster execution time.</a:t>
            </a:r>
          </a:p>
        </p:txBody>
      </p:sp>
      <p:sp>
        <p:nvSpPr>
          <p:cNvPr id="7" name="Title 1">
            <a:extLst>
              <a:ext uri="{FF2B5EF4-FFF2-40B4-BE49-F238E27FC236}">
                <a16:creationId xmlns:a16="http://schemas.microsoft.com/office/drawing/2014/main" id="{CAFF2DCD-35D6-4D70-8F6D-635B66C1E230}"/>
              </a:ext>
            </a:extLst>
          </p:cNvPr>
          <p:cNvSpPr>
            <a:spLocks noGrp="1"/>
          </p:cNvSpPr>
          <p:nvPr>
            <p:ph type="title"/>
          </p:nvPr>
        </p:nvSpPr>
        <p:spPr>
          <a:xfrm>
            <a:off x="838200" y="365125"/>
            <a:ext cx="10515600" cy="1325563"/>
          </a:xfrm>
        </p:spPr>
        <p:txBody>
          <a:bodyPr/>
          <a:lstStyle/>
          <a:p>
            <a:r>
              <a:rPr lang="en-US" sz="4400" b="1" dirty="0">
                <a:solidFill>
                  <a:srgbClr val="FF0000"/>
                </a:solidFill>
              </a:rPr>
              <a:t>Introduction</a:t>
            </a:r>
            <a:br>
              <a:rPr lang="en-US" sz="4400" b="1" dirty="0">
                <a:solidFill>
                  <a:srgbClr val="FF0000"/>
                </a:solidFill>
              </a:rPr>
            </a:br>
            <a:endParaRPr lang="en-IN" dirty="0"/>
          </a:p>
        </p:txBody>
      </p:sp>
      <p:sp>
        <p:nvSpPr>
          <p:cNvPr id="9" name="TextBox 8">
            <a:extLst>
              <a:ext uri="{FF2B5EF4-FFF2-40B4-BE49-F238E27FC236}">
                <a16:creationId xmlns:a16="http://schemas.microsoft.com/office/drawing/2014/main" id="{487D6467-A019-45FF-9608-9606F4CEF871}"/>
              </a:ext>
            </a:extLst>
          </p:cNvPr>
          <p:cNvSpPr txBox="1"/>
          <p:nvPr/>
        </p:nvSpPr>
        <p:spPr>
          <a:xfrm>
            <a:off x="6759443" y="4072951"/>
            <a:ext cx="5109441" cy="276999"/>
          </a:xfrm>
          <a:prstGeom prst="rect">
            <a:avLst/>
          </a:prstGeom>
          <a:noFill/>
        </p:spPr>
        <p:txBody>
          <a:bodyPr wrap="square" rtlCol="0">
            <a:spAutoFit/>
          </a:bodyPr>
          <a:lstStyle/>
          <a:p>
            <a:r>
              <a:rPr lang="en-IN" sz="1200" dirty="0"/>
              <a:t>Source: </a:t>
            </a:r>
            <a:r>
              <a:rPr lang="en-IN" sz="1200" dirty="0">
                <a:hlinkClick r:id="rId3"/>
              </a:rPr>
              <a:t>https://www.geeksforgeeks.org/double-pointer-pointer-pointer-c/</a:t>
            </a:r>
            <a:endParaRPr lang="en-IN" sz="1200" dirty="0"/>
          </a:p>
        </p:txBody>
      </p:sp>
      <p:pic>
        <p:nvPicPr>
          <p:cNvPr id="3" name="Picture 2" descr="A close up of a sign&#10;&#10;Description automatically generated">
            <a:extLst>
              <a:ext uri="{FF2B5EF4-FFF2-40B4-BE49-F238E27FC236}">
                <a16:creationId xmlns:a16="http://schemas.microsoft.com/office/drawing/2014/main" id="{5C019923-6714-4A3D-BED1-8AAAB58E86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04115" y="1349458"/>
            <a:ext cx="4820096" cy="2669128"/>
          </a:xfrm>
          <a:prstGeom prst="rect">
            <a:avLst/>
          </a:prstGeom>
        </p:spPr>
      </p:pic>
    </p:spTree>
    <p:extLst>
      <p:ext uri="{BB962C8B-B14F-4D97-AF65-F5344CB8AC3E}">
        <p14:creationId xmlns:p14="http://schemas.microsoft.com/office/powerpoint/2010/main" val="259031642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82041-6FE4-470C-BD16-EBB8CFB4757F}"/>
              </a:ext>
            </a:extLst>
          </p:cNvPr>
          <p:cNvSpPr>
            <a:spLocks noGrp="1"/>
          </p:cNvSpPr>
          <p:nvPr>
            <p:ph type="title"/>
          </p:nvPr>
        </p:nvSpPr>
        <p:spPr>
          <a:xfrm>
            <a:off x="933450" y="320675"/>
            <a:ext cx="10515600" cy="1325563"/>
          </a:xfrm>
        </p:spPr>
        <p:txBody>
          <a:bodyPr>
            <a:normAutofit/>
          </a:bodyPr>
          <a:lstStyle/>
          <a:p>
            <a:r>
              <a:rPr lang="en-IN" dirty="0">
                <a:solidFill>
                  <a:srgbClr val="FF0000"/>
                </a:solidFill>
              </a:rPr>
              <a:t>Features of Pointers</a:t>
            </a:r>
          </a:p>
        </p:txBody>
      </p:sp>
      <p:sp>
        <p:nvSpPr>
          <p:cNvPr id="3" name="Content Placeholder 2">
            <a:extLst>
              <a:ext uri="{FF2B5EF4-FFF2-40B4-BE49-F238E27FC236}">
                <a16:creationId xmlns:a16="http://schemas.microsoft.com/office/drawing/2014/main" id="{6505F30B-325C-43AC-A714-11505AE7A407}"/>
              </a:ext>
            </a:extLst>
          </p:cNvPr>
          <p:cNvSpPr>
            <a:spLocks noGrp="1"/>
          </p:cNvSpPr>
          <p:nvPr>
            <p:ph idx="1"/>
          </p:nvPr>
        </p:nvSpPr>
        <p:spPr>
          <a:xfrm>
            <a:off x="838200" y="1376039"/>
            <a:ext cx="10515600" cy="4800924"/>
          </a:xfrm>
        </p:spPr>
        <p:txBody>
          <a:bodyPr>
            <a:normAutofit fontScale="77500" lnSpcReduction="20000"/>
          </a:bodyPr>
          <a:lstStyle/>
          <a:p>
            <a:pPr algn="just"/>
            <a:r>
              <a:rPr lang="en-IN" dirty="0"/>
              <a:t>Pointers save memory space.</a:t>
            </a:r>
          </a:p>
          <a:p>
            <a:pPr algn="just"/>
            <a:r>
              <a:rPr lang="en-IN" dirty="0"/>
              <a:t>Execution time with pointers is faster because data are manipulated with the address, that is, direct access </a:t>
            </a:r>
            <a:r>
              <a:rPr lang="en-IN" dirty="0" smtClean="0"/>
              <a:t>to memory </a:t>
            </a:r>
            <a:r>
              <a:rPr lang="en-IN" dirty="0"/>
              <a:t>location.</a:t>
            </a:r>
          </a:p>
          <a:p>
            <a:pPr algn="just"/>
            <a:r>
              <a:rPr lang="en-IN" dirty="0"/>
              <a:t>Memory is accessed efficiently with the pointers. The pointer assigns and releases the memory as well. Hence it can be said the Memory of pointers is dynamically allocated.</a:t>
            </a:r>
          </a:p>
          <a:p>
            <a:pPr algn="just"/>
            <a:r>
              <a:rPr lang="en-IN" dirty="0"/>
              <a:t>Pointers are used with data structures. They are useful for representing two-dimensional </a:t>
            </a:r>
            <a:r>
              <a:rPr lang="en-IN"/>
              <a:t>and </a:t>
            </a:r>
            <a:r>
              <a:rPr lang="en-IN" smtClean="0"/>
              <a:t>multi-dimensional arrays</a:t>
            </a:r>
            <a:r>
              <a:rPr lang="en-IN" dirty="0"/>
              <a:t>.</a:t>
            </a:r>
          </a:p>
          <a:p>
            <a:pPr algn="just"/>
            <a:r>
              <a:rPr lang="en-IN" dirty="0"/>
              <a:t>An array, of any type can be accessed with the help of pointers, without considering its subscript range.</a:t>
            </a:r>
          </a:p>
          <a:p>
            <a:pPr algn="just"/>
            <a:r>
              <a:rPr lang="en-IN" dirty="0"/>
              <a:t>Pointers are used for file handling.</a:t>
            </a:r>
          </a:p>
          <a:p>
            <a:pPr algn="just"/>
            <a:r>
              <a:rPr lang="en-IN" dirty="0"/>
              <a:t>Pointers are used to allocate memory dynamically.</a:t>
            </a:r>
          </a:p>
          <a:p>
            <a:pPr algn="just"/>
            <a:r>
              <a:rPr lang="en-IN" dirty="0"/>
              <a:t>In C++, a pointer declared to a base class could access the object of a derived class. However, a pointer to a derived class cannot access the object of a base class.</a:t>
            </a:r>
          </a:p>
        </p:txBody>
      </p:sp>
      <p:sp>
        <p:nvSpPr>
          <p:cNvPr id="4" name="Slide Number Placeholder 3">
            <a:extLst>
              <a:ext uri="{FF2B5EF4-FFF2-40B4-BE49-F238E27FC236}">
                <a16:creationId xmlns:a16="http://schemas.microsoft.com/office/drawing/2014/main" id="{B1BC3DF1-2C71-471B-B289-2AC59010AE21}"/>
              </a:ext>
            </a:extLst>
          </p:cNvPr>
          <p:cNvSpPr>
            <a:spLocks noGrp="1"/>
          </p:cNvSpPr>
          <p:nvPr>
            <p:ph type="sldNum" sz="quarter" idx="12"/>
          </p:nvPr>
        </p:nvSpPr>
        <p:spPr/>
        <p:txBody>
          <a:bodyPr/>
          <a:lstStyle/>
          <a:p>
            <a:fld id="{BDCDBBEF-AA6C-4BA6-85B2-A17D7F280E38}" type="slidenum">
              <a:rPr lang="en-US" smtClean="0"/>
              <a:pPr/>
              <a:t>6</a:t>
            </a:fld>
            <a:endParaRPr lang="en-US"/>
          </a:p>
        </p:txBody>
      </p:sp>
    </p:spTree>
    <p:extLst>
      <p:ext uri="{BB962C8B-B14F-4D97-AF65-F5344CB8AC3E}">
        <p14:creationId xmlns:p14="http://schemas.microsoft.com/office/powerpoint/2010/main" val="235527699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C843C-B9D8-4441-B11E-E79E502C92A9}"/>
              </a:ext>
            </a:extLst>
          </p:cNvPr>
          <p:cNvSpPr>
            <a:spLocks noGrp="1"/>
          </p:cNvSpPr>
          <p:nvPr>
            <p:ph type="title"/>
          </p:nvPr>
        </p:nvSpPr>
        <p:spPr/>
        <p:txBody>
          <a:bodyPr/>
          <a:lstStyle/>
          <a:p>
            <a:r>
              <a:rPr lang="en-IN" b="1" dirty="0">
                <a:solidFill>
                  <a:srgbClr val="FF0000"/>
                </a:solidFill>
              </a:rPr>
              <a:t>Declaring a pointer</a:t>
            </a:r>
          </a:p>
        </p:txBody>
      </p:sp>
      <p:sp>
        <p:nvSpPr>
          <p:cNvPr id="3" name="Content Placeholder 2">
            <a:extLst>
              <a:ext uri="{FF2B5EF4-FFF2-40B4-BE49-F238E27FC236}">
                <a16:creationId xmlns:a16="http://schemas.microsoft.com/office/drawing/2014/main" id="{AC9C23F2-3ADD-4821-A048-860CDAADF21E}"/>
              </a:ext>
            </a:extLst>
          </p:cNvPr>
          <p:cNvSpPr>
            <a:spLocks noGrp="1"/>
          </p:cNvSpPr>
          <p:nvPr>
            <p:ph idx="1"/>
          </p:nvPr>
        </p:nvSpPr>
        <p:spPr>
          <a:xfrm>
            <a:off x="838200" y="1624614"/>
            <a:ext cx="10515600" cy="4552349"/>
          </a:xfrm>
        </p:spPr>
        <p:txBody>
          <a:bodyPr>
            <a:normAutofit/>
          </a:bodyPr>
          <a:lstStyle/>
          <a:p>
            <a:pPr algn="just"/>
            <a:r>
              <a:rPr lang="en-IN" b="0" i="0" dirty="0">
                <a:solidFill>
                  <a:srgbClr val="222222"/>
                </a:solidFill>
                <a:effectLst/>
                <a:latin typeface="Source Sans Pro" panose="020B0503030403020204" pitchFamily="34" charset="0"/>
              </a:rPr>
              <a:t>Like variables, pointers have to be declared before they can be used in your program. </a:t>
            </a:r>
          </a:p>
          <a:p>
            <a:pPr algn="just"/>
            <a:r>
              <a:rPr lang="en-IN" b="0" i="0" dirty="0">
                <a:solidFill>
                  <a:srgbClr val="222222"/>
                </a:solidFill>
                <a:effectLst/>
                <a:latin typeface="Source Sans Pro" panose="020B0503030403020204" pitchFamily="34" charset="0"/>
              </a:rPr>
              <a:t>Pointers can be named anything you want as long as they obey C's naming rules. </a:t>
            </a:r>
          </a:p>
          <a:p>
            <a:pPr algn="just"/>
            <a:r>
              <a:rPr lang="en-IN" b="0" i="0" dirty="0">
                <a:solidFill>
                  <a:srgbClr val="222222"/>
                </a:solidFill>
                <a:effectLst/>
                <a:latin typeface="Source Sans Pro" panose="020B0503030403020204" pitchFamily="34" charset="0"/>
              </a:rPr>
              <a:t>A pointer declaration has the following form.</a:t>
            </a:r>
          </a:p>
          <a:p>
            <a:pPr marL="914400" lvl="2" indent="0" algn="just">
              <a:buNone/>
            </a:pPr>
            <a:r>
              <a:rPr lang="en-IN" sz="3000" b="0" i="0" dirty="0" err="1">
                <a:solidFill>
                  <a:srgbClr val="222222"/>
                </a:solidFill>
                <a:effectLst/>
                <a:latin typeface="Source Sans Pro" panose="020B0503030403020204" pitchFamily="34" charset="0"/>
              </a:rPr>
              <a:t>data_type</a:t>
            </a:r>
            <a:r>
              <a:rPr lang="en-IN" sz="3000" b="0" i="0" dirty="0">
                <a:solidFill>
                  <a:srgbClr val="222222"/>
                </a:solidFill>
                <a:effectLst/>
                <a:latin typeface="Source Sans Pro" panose="020B0503030403020204" pitchFamily="34" charset="0"/>
              </a:rPr>
              <a:t> * </a:t>
            </a:r>
            <a:r>
              <a:rPr lang="en-IN" sz="3000" b="0" i="0" dirty="0" err="1">
                <a:solidFill>
                  <a:srgbClr val="222222"/>
                </a:solidFill>
                <a:effectLst/>
                <a:latin typeface="Source Sans Pro" panose="020B0503030403020204" pitchFamily="34" charset="0"/>
              </a:rPr>
              <a:t>pointer_variable_name</a:t>
            </a:r>
            <a:r>
              <a:rPr lang="en-IN" sz="3000" b="0" i="0" dirty="0">
                <a:solidFill>
                  <a:srgbClr val="222222"/>
                </a:solidFill>
                <a:effectLst/>
                <a:latin typeface="Source Sans Pro" panose="020B0503030403020204" pitchFamily="34" charset="0"/>
              </a:rPr>
              <a:t>;</a:t>
            </a:r>
          </a:p>
          <a:p>
            <a:pPr marL="0" indent="0" algn="just">
              <a:buNone/>
            </a:pPr>
            <a:r>
              <a:rPr lang="en-IN" b="1" i="0" dirty="0">
                <a:solidFill>
                  <a:srgbClr val="222222"/>
                </a:solidFill>
                <a:effectLst/>
                <a:latin typeface="Source Sans Pro" panose="020B0503030403020204" pitchFamily="34" charset="0"/>
              </a:rPr>
              <a:t>Here,</a:t>
            </a:r>
          </a:p>
          <a:p>
            <a:pPr algn="just"/>
            <a:r>
              <a:rPr lang="en-IN" b="0" i="0" dirty="0" err="1">
                <a:solidFill>
                  <a:srgbClr val="222222"/>
                </a:solidFill>
                <a:effectLst/>
                <a:latin typeface="Source Sans Pro" panose="020B0503030403020204" pitchFamily="34" charset="0"/>
              </a:rPr>
              <a:t>data_type</a:t>
            </a:r>
            <a:r>
              <a:rPr lang="en-IN" b="0" i="0" dirty="0">
                <a:solidFill>
                  <a:srgbClr val="222222"/>
                </a:solidFill>
                <a:effectLst/>
                <a:latin typeface="Source Sans Pro" panose="020B0503030403020204" pitchFamily="34" charset="0"/>
              </a:rPr>
              <a:t> is the pointer's base type of C's variable types and indicates the type of the variable that the pointer points to.</a:t>
            </a:r>
          </a:p>
          <a:p>
            <a:pPr algn="just"/>
            <a:r>
              <a:rPr lang="en-IN" b="0" i="0" dirty="0">
                <a:solidFill>
                  <a:srgbClr val="222222"/>
                </a:solidFill>
                <a:effectLst/>
                <a:latin typeface="Source Sans Pro" panose="020B0503030403020204" pitchFamily="34" charset="0"/>
              </a:rPr>
              <a:t>The asterisk (*: the same asterisk used for multiplication) which is indirection operator, declares a pointer.</a:t>
            </a:r>
          </a:p>
        </p:txBody>
      </p:sp>
      <p:sp>
        <p:nvSpPr>
          <p:cNvPr id="4" name="Slide Number Placeholder 3">
            <a:extLst>
              <a:ext uri="{FF2B5EF4-FFF2-40B4-BE49-F238E27FC236}">
                <a16:creationId xmlns:a16="http://schemas.microsoft.com/office/drawing/2014/main" id="{D8C46F4C-E482-4CB5-9402-77FE5DCDDBE7}"/>
              </a:ext>
            </a:extLst>
          </p:cNvPr>
          <p:cNvSpPr>
            <a:spLocks noGrp="1"/>
          </p:cNvSpPr>
          <p:nvPr>
            <p:ph type="sldNum" sz="quarter" idx="12"/>
          </p:nvPr>
        </p:nvSpPr>
        <p:spPr/>
        <p:txBody>
          <a:bodyPr/>
          <a:lstStyle/>
          <a:p>
            <a:fld id="{BDCDBBEF-AA6C-4BA6-85B2-A17D7F280E38}" type="slidenum">
              <a:rPr lang="en-US" smtClean="0"/>
              <a:pPr/>
              <a:t>7</a:t>
            </a:fld>
            <a:endParaRPr lang="en-US"/>
          </a:p>
        </p:txBody>
      </p:sp>
    </p:spTree>
    <p:extLst>
      <p:ext uri="{BB962C8B-B14F-4D97-AF65-F5344CB8AC3E}">
        <p14:creationId xmlns:p14="http://schemas.microsoft.com/office/powerpoint/2010/main" val="277439132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1BD6A-0952-4815-A011-E258ACFAA580}"/>
              </a:ext>
            </a:extLst>
          </p:cNvPr>
          <p:cNvSpPr>
            <a:spLocks noGrp="1"/>
          </p:cNvSpPr>
          <p:nvPr>
            <p:ph type="title"/>
          </p:nvPr>
        </p:nvSpPr>
        <p:spPr/>
        <p:txBody>
          <a:bodyPr/>
          <a:lstStyle/>
          <a:p>
            <a:r>
              <a:rPr lang="en-IN" b="1" dirty="0">
                <a:solidFill>
                  <a:srgbClr val="FF0000"/>
                </a:solidFill>
                <a:latin typeface="Calibri Light"/>
              </a:rPr>
              <a:t>Initialize a pointer</a:t>
            </a:r>
            <a:endParaRPr lang="en-IN" dirty="0"/>
          </a:p>
        </p:txBody>
      </p:sp>
      <p:sp>
        <p:nvSpPr>
          <p:cNvPr id="3" name="Content Placeholder 2">
            <a:extLst>
              <a:ext uri="{FF2B5EF4-FFF2-40B4-BE49-F238E27FC236}">
                <a16:creationId xmlns:a16="http://schemas.microsoft.com/office/drawing/2014/main" id="{C0B1C481-9F28-42C1-B95D-901EF3E01C15}"/>
              </a:ext>
            </a:extLst>
          </p:cNvPr>
          <p:cNvSpPr>
            <a:spLocks noGrp="1"/>
          </p:cNvSpPr>
          <p:nvPr>
            <p:ph idx="1"/>
          </p:nvPr>
        </p:nvSpPr>
        <p:spPr/>
        <p:txBody>
          <a:bodyPr>
            <a:normAutofit/>
          </a:bodyPr>
          <a:lstStyle/>
          <a:p>
            <a:pPr algn="just"/>
            <a:r>
              <a:rPr lang="en-IN" sz="2400" dirty="0"/>
              <a:t>After declaring a pointer, we initialize it like standard variables with a variable address. </a:t>
            </a:r>
          </a:p>
          <a:p>
            <a:pPr algn="just"/>
            <a:r>
              <a:rPr lang="en-IN" sz="2400" dirty="0"/>
              <a:t>If pointers are not uninitialized and used in the program, the results are unpredictable and potentially disastrous.</a:t>
            </a:r>
          </a:p>
          <a:p>
            <a:pPr algn="just"/>
            <a:r>
              <a:rPr lang="en-IN" sz="2400" dirty="0"/>
              <a:t>To get the address of a variable, we use the ampersand (&amp;)operator, placed before the name of a variable whose address we need. </a:t>
            </a:r>
          </a:p>
          <a:p>
            <a:pPr algn="just"/>
            <a:r>
              <a:rPr lang="en-IN" sz="2400" dirty="0"/>
              <a:t>Pointer initialization is done with the following </a:t>
            </a:r>
            <a:r>
              <a:rPr lang="en-IN" sz="2400" b="1" dirty="0"/>
              <a:t>syntax</a:t>
            </a:r>
            <a:r>
              <a:rPr lang="en-IN" sz="2400" dirty="0"/>
              <a:t>:</a:t>
            </a:r>
          </a:p>
          <a:p>
            <a:pPr marL="914400" lvl="2" indent="0" algn="just">
              <a:buNone/>
            </a:pPr>
            <a:r>
              <a:rPr lang="en-IN" sz="1600" dirty="0"/>
              <a:t> </a:t>
            </a:r>
            <a:r>
              <a:rPr lang="en-IN" sz="2800" dirty="0"/>
              <a:t>pointer = &amp;variable; </a:t>
            </a:r>
            <a:endParaRPr lang="en-IN" sz="600" dirty="0"/>
          </a:p>
        </p:txBody>
      </p:sp>
      <p:sp>
        <p:nvSpPr>
          <p:cNvPr id="4" name="Slide Number Placeholder 3">
            <a:extLst>
              <a:ext uri="{FF2B5EF4-FFF2-40B4-BE49-F238E27FC236}">
                <a16:creationId xmlns:a16="http://schemas.microsoft.com/office/drawing/2014/main" id="{448778E6-6E25-4CB4-93BA-EAC8291CB535}"/>
              </a:ext>
            </a:extLst>
          </p:cNvPr>
          <p:cNvSpPr>
            <a:spLocks noGrp="1"/>
          </p:cNvSpPr>
          <p:nvPr>
            <p:ph type="sldNum" sz="quarter" idx="12"/>
          </p:nvPr>
        </p:nvSpPr>
        <p:spPr/>
        <p:txBody>
          <a:bodyPr/>
          <a:lstStyle/>
          <a:p>
            <a:fld id="{BDCDBBEF-AA6C-4BA6-85B2-A17D7F280E38}" type="slidenum">
              <a:rPr lang="en-US" smtClean="0"/>
              <a:pPr/>
              <a:t>8</a:t>
            </a:fld>
            <a:endParaRPr lang="en-US"/>
          </a:p>
        </p:txBody>
      </p:sp>
    </p:spTree>
    <p:extLst>
      <p:ext uri="{BB962C8B-B14F-4D97-AF65-F5344CB8AC3E}">
        <p14:creationId xmlns:p14="http://schemas.microsoft.com/office/powerpoint/2010/main" val="189517852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DED0F4-6F43-46DC-B75E-C560DEB51E0C}"/>
              </a:ext>
            </a:extLst>
          </p:cNvPr>
          <p:cNvSpPr>
            <a:spLocks noGrp="1"/>
          </p:cNvSpPr>
          <p:nvPr>
            <p:ph idx="1"/>
          </p:nvPr>
        </p:nvSpPr>
        <p:spPr>
          <a:xfrm>
            <a:off x="838200" y="603682"/>
            <a:ext cx="10515600" cy="5573281"/>
          </a:xfrm>
        </p:spPr>
        <p:txBody>
          <a:bodyPr>
            <a:normAutofit fontScale="77500" lnSpcReduction="20000"/>
          </a:bodyPr>
          <a:lstStyle/>
          <a:p>
            <a:pPr marL="0" indent="0" algn="just">
              <a:buNone/>
            </a:pPr>
            <a:r>
              <a:rPr lang="en-IN" b="1" dirty="0"/>
              <a:t>Example:</a:t>
            </a:r>
          </a:p>
          <a:p>
            <a:pPr marL="0" indent="0" algn="just">
              <a:buNone/>
            </a:pPr>
            <a:r>
              <a:rPr lang="en-IN" dirty="0"/>
              <a:t>#include &lt;</a:t>
            </a:r>
            <a:r>
              <a:rPr lang="en-IN" dirty="0" err="1"/>
              <a:t>stdio.h</a:t>
            </a:r>
            <a:r>
              <a:rPr lang="en-IN" dirty="0"/>
              <a:t>&gt;</a:t>
            </a:r>
          </a:p>
          <a:p>
            <a:pPr marL="0" indent="0" algn="just">
              <a:buNone/>
            </a:pPr>
            <a:r>
              <a:rPr lang="en-IN" dirty="0"/>
              <a:t>int main()</a:t>
            </a:r>
          </a:p>
          <a:p>
            <a:pPr marL="0" indent="0" algn="just">
              <a:buNone/>
            </a:pPr>
            <a:r>
              <a:rPr lang="en-IN" dirty="0"/>
              <a:t>{</a:t>
            </a:r>
          </a:p>
          <a:p>
            <a:pPr marL="0" indent="0" algn="just">
              <a:buNone/>
            </a:pPr>
            <a:r>
              <a:rPr lang="en-IN" dirty="0"/>
              <a:t>   int a=10;    //variable declaration</a:t>
            </a:r>
          </a:p>
          <a:p>
            <a:pPr marL="0" indent="0" algn="just">
              <a:buNone/>
            </a:pPr>
            <a:r>
              <a:rPr lang="en-IN" dirty="0"/>
              <a:t>   int *p;      //pointer variable declaration</a:t>
            </a:r>
          </a:p>
          <a:p>
            <a:pPr marL="0" indent="0" algn="just">
              <a:buNone/>
            </a:pPr>
            <a:r>
              <a:rPr lang="en-IN" dirty="0"/>
              <a:t>   p=&amp;a;        //store address of variable a in pointer p</a:t>
            </a:r>
          </a:p>
          <a:p>
            <a:pPr marL="0" indent="0" algn="just">
              <a:buNone/>
            </a:pPr>
            <a:r>
              <a:rPr lang="en-IN" dirty="0"/>
              <a:t>   </a:t>
            </a:r>
            <a:r>
              <a:rPr lang="en-IN" dirty="0" err="1"/>
              <a:t>printf</a:t>
            </a:r>
            <a:r>
              <a:rPr lang="en-IN" dirty="0"/>
              <a:t>("Address stored in a variable p is:%x\</a:t>
            </a:r>
            <a:r>
              <a:rPr lang="en-IN" dirty="0" err="1"/>
              <a:t>n",p</a:t>
            </a:r>
            <a:r>
              <a:rPr lang="en-IN" dirty="0"/>
              <a:t>);  //accessing the address</a:t>
            </a:r>
          </a:p>
          <a:p>
            <a:pPr marL="0" indent="0" algn="just">
              <a:buNone/>
            </a:pPr>
            <a:r>
              <a:rPr lang="en-IN" dirty="0"/>
              <a:t>   </a:t>
            </a:r>
            <a:r>
              <a:rPr lang="en-IN" dirty="0" err="1"/>
              <a:t>printf</a:t>
            </a:r>
            <a:r>
              <a:rPr lang="en-IN" dirty="0"/>
              <a:t>("Value stored in a variable p is:%d\n",*p);   //accessing the value</a:t>
            </a:r>
          </a:p>
          <a:p>
            <a:pPr marL="0" indent="0" algn="just">
              <a:buNone/>
            </a:pPr>
            <a:r>
              <a:rPr lang="en-IN" dirty="0"/>
              <a:t>   return 0;</a:t>
            </a:r>
          </a:p>
          <a:p>
            <a:pPr marL="0" indent="0" algn="just">
              <a:buNone/>
            </a:pPr>
            <a:r>
              <a:rPr lang="en-IN" dirty="0"/>
              <a:t>}</a:t>
            </a:r>
          </a:p>
          <a:p>
            <a:pPr marL="0" indent="0" algn="just">
              <a:buNone/>
            </a:pPr>
            <a:endParaRPr lang="en-IN" dirty="0"/>
          </a:p>
          <a:p>
            <a:pPr marL="0" indent="0" algn="just">
              <a:buNone/>
            </a:pPr>
            <a:r>
              <a:rPr lang="en-IN" b="1" dirty="0"/>
              <a:t>Output:</a:t>
            </a:r>
          </a:p>
          <a:p>
            <a:pPr marL="0" indent="0" algn="just">
              <a:buNone/>
            </a:pPr>
            <a:r>
              <a:rPr lang="en-IN" dirty="0"/>
              <a:t>Address stored in a variable p is:60ff08</a:t>
            </a:r>
          </a:p>
          <a:p>
            <a:pPr marL="0" indent="0" algn="just">
              <a:buNone/>
            </a:pPr>
            <a:r>
              <a:rPr lang="en-IN" dirty="0"/>
              <a:t>Value stored in a variable p is:10</a:t>
            </a:r>
          </a:p>
        </p:txBody>
      </p:sp>
      <p:sp>
        <p:nvSpPr>
          <p:cNvPr id="4" name="Slide Number Placeholder 3">
            <a:extLst>
              <a:ext uri="{FF2B5EF4-FFF2-40B4-BE49-F238E27FC236}">
                <a16:creationId xmlns:a16="http://schemas.microsoft.com/office/drawing/2014/main" id="{CA28FEA7-2964-4723-8930-059EBB791AE2}"/>
              </a:ext>
            </a:extLst>
          </p:cNvPr>
          <p:cNvSpPr>
            <a:spLocks noGrp="1"/>
          </p:cNvSpPr>
          <p:nvPr>
            <p:ph type="sldNum" sz="quarter" idx="12"/>
          </p:nvPr>
        </p:nvSpPr>
        <p:spPr/>
        <p:txBody>
          <a:bodyPr/>
          <a:lstStyle/>
          <a:p>
            <a:fld id="{BDCDBBEF-AA6C-4BA6-85B2-A17D7F280E38}" type="slidenum">
              <a:rPr lang="en-US" smtClean="0"/>
              <a:pPr/>
              <a:t>9</a:t>
            </a:fld>
            <a:endParaRPr lang="en-US"/>
          </a:p>
        </p:txBody>
      </p:sp>
    </p:spTree>
    <p:extLst>
      <p:ext uri="{BB962C8B-B14F-4D97-AF65-F5344CB8AC3E}">
        <p14:creationId xmlns:p14="http://schemas.microsoft.com/office/powerpoint/2010/main" val="357821469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F10CC-5521-4C44-AF24-6D5D6803F480}"/>
              </a:ext>
            </a:extLst>
          </p:cNvPr>
          <p:cNvSpPr>
            <a:spLocks noGrp="1"/>
          </p:cNvSpPr>
          <p:nvPr>
            <p:ph type="title"/>
          </p:nvPr>
        </p:nvSpPr>
        <p:spPr/>
        <p:txBody>
          <a:bodyPr/>
          <a:lstStyle/>
          <a:p>
            <a:r>
              <a:rPr lang="en-IN" b="1" dirty="0">
                <a:solidFill>
                  <a:srgbClr val="FF0000"/>
                </a:solidFill>
              </a:rPr>
              <a:t>Operators used with Pointers</a:t>
            </a:r>
          </a:p>
        </p:txBody>
      </p:sp>
      <p:sp>
        <p:nvSpPr>
          <p:cNvPr id="4" name="Slide Number Placeholder 3">
            <a:extLst>
              <a:ext uri="{FF2B5EF4-FFF2-40B4-BE49-F238E27FC236}">
                <a16:creationId xmlns:a16="http://schemas.microsoft.com/office/drawing/2014/main" id="{8F1639AC-E023-45A3-A308-620015A13737}"/>
              </a:ext>
            </a:extLst>
          </p:cNvPr>
          <p:cNvSpPr>
            <a:spLocks noGrp="1"/>
          </p:cNvSpPr>
          <p:nvPr>
            <p:ph type="sldNum" sz="quarter" idx="12"/>
          </p:nvPr>
        </p:nvSpPr>
        <p:spPr/>
        <p:txBody>
          <a:bodyPr/>
          <a:lstStyle/>
          <a:p>
            <a:fld id="{BDCDBBEF-AA6C-4BA6-85B2-A17D7F280E38}" type="slidenum">
              <a:rPr lang="en-US" smtClean="0"/>
              <a:pPr/>
              <a:t>10</a:t>
            </a:fld>
            <a:endParaRPr lang="en-US"/>
          </a:p>
        </p:txBody>
      </p:sp>
      <p:graphicFrame>
        <p:nvGraphicFramePr>
          <p:cNvPr id="5" name="Table 4">
            <a:extLst>
              <a:ext uri="{FF2B5EF4-FFF2-40B4-BE49-F238E27FC236}">
                <a16:creationId xmlns:a16="http://schemas.microsoft.com/office/drawing/2014/main" id="{3DBF1310-CEE9-4705-8FB1-865C46334263}"/>
              </a:ext>
            </a:extLst>
          </p:cNvPr>
          <p:cNvGraphicFramePr>
            <a:graphicFrameLocks noGrp="1"/>
          </p:cNvGraphicFramePr>
          <p:nvPr>
            <p:extLst/>
          </p:nvPr>
        </p:nvGraphicFramePr>
        <p:xfrm>
          <a:off x="958787" y="1837678"/>
          <a:ext cx="9445842" cy="3932807"/>
        </p:xfrm>
        <a:graphic>
          <a:graphicData uri="http://schemas.openxmlformats.org/drawingml/2006/table">
            <a:tbl>
              <a:tblPr/>
              <a:tblGrid>
                <a:gridCol w="4722921">
                  <a:extLst>
                    <a:ext uri="{9D8B030D-6E8A-4147-A177-3AD203B41FA5}">
                      <a16:colId xmlns:a16="http://schemas.microsoft.com/office/drawing/2014/main" val="1013348596"/>
                    </a:ext>
                  </a:extLst>
                </a:gridCol>
                <a:gridCol w="4722921">
                  <a:extLst>
                    <a:ext uri="{9D8B030D-6E8A-4147-A177-3AD203B41FA5}">
                      <a16:colId xmlns:a16="http://schemas.microsoft.com/office/drawing/2014/main" val="1183554014"/>
                    </a:ext>
                  </a:extLst>
                </a:gridCol>
              </a:tblGrid>
              <a:tr h="681687">
                <a:tc>
                  <a:txBody>
                    <a:bodyPr/>
                    <a:lstStyle/>
                    <a:p>
                      <a:pPr algn="l" fontAlgn="t"/>
                      <a:r>
                        <a:rPr lang="en-IN" b="1" dirty="0">
                          <a:effectLst/>
                        </a:rPr>
                        <a:t>Operator</a:t>
                      </a:r>
                      <a:endParaRPr lang="en-IN" dirty="0">
                        <a:effectLst/>
                      </a:endParaRPr>
                    </a:p>
                  </a:txBody>
                  <a:tcPr marL="60960" marR="60960" marT="60960" marB="60960">
                    <a:lnL w="12700" cap="flat" cmpd="sng" algn="ctr">
                      <a:solidFill>
                        <a:srgbClr val="581B13"/>
                      </a:solidFill>
                      <a:prstDash val="solid"/>
                      <a:round/>
                      <a:headEnd type="none" w="med" len="med"/>
                      <a:tailEnd type="none" w="med" len="med"/>
                    </a:lnL>
                    <a:lnR w="12700" cap="flat" cmpd="sng" algn="ctr">
                      <a:solidFill>
                        <a:srgbClr val="F82613"/>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l" fontAlgn="t"/>
                      <a:r>
                        <a:rPr lang="en-IN" b="1">
                          <a:effectLst/>
                        </a:rPr>
                        <a:t>Meaning</a:t>
                      </a:r>
                      <a:endParaRPr lang="en-IN">
                        <a:effectLst/>
                      </a:endParaRPr>
                    </a:p>
                  </a:txBody>
                  <a:tcPr marL="60960" marR="60960" marT="60960" marB="60960">
                    <a:lnL w="12700" cap="flat" cmpd="sng" algn="ctr">
                      <a:solidFill>
                        <a:srgbClr val="F82613"/>
                      </a:solidFill>
                      <a:prstDash val="solid"/>
                      <a:round/>
                      <a:headEnd type="none" w="med" len="med"/>
                      <a:tailEnd type="none" w="med" len="med"/>
                    </a:lnL>
                    <a:lnR w="12700" cap="flat" cmpd="sng" algn="ctr">
                      <a:solidFill>
                        <a:srgbClr val="581B13"/>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2455550405"/>
                  </a:ext>
                </a:extLst>
              </a:tr>
              <a:tr h="2097497">
                <a:tc>
                  <a:txBody>
                    <a:bodyPr/>
                    <a:lstStyle/>
                    <a:p>
                      <a:pPr algn="l" fontAlgn="t"/>
                      <a:r>
                        <a:rPr lang="en-IN">
                          <a:effectLst/>
                        </a:rPr>
                        <a:t>*</a:t>
                      </a:r>
                    </a:p>
                  </a:txBody>
                  <a:tcPr marL="60960" marR="60960" marT="60960" marB="60960">
                    <a:lnL w="12700" cap="flat" cmpd="sng" algn="ctr">
                      <a:solidFill>
                        <a:srgbClr val="402D13"/>
                      </a:solidFill>
                      <a:prstDash val="solid"/>
                      <a:round/>
                      <a:headEnd type="none" w="med" len="med"/>
                      <a:tailEnd type="none" w="med" len="med"/>
                    </a:lnL>
                    <a:lnR w="12700" cap="flat" cmpd="sng" algn="ctr">
                      <a:solidFill>
                        <a:srgbClr val="402D13"/>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buFont typeface="+mj-lt"/>
                        <a:buAutoNum type="arabicPeriod"/>
                      </a:pPr>
                      <a:r>
                        <a:rPr lang="en-IN">
                          <a:effectLst/>
                        </a:rPr>
                        <a:t>Serves 2 purposeDeclaration of a pointer</a:t>
                      </a:r>
                    </a:p>
                    <a:p>
                      <a:pPr algn="l" fontAlgn="t">
                        <a:buFont typeface="+mj-lt"/>
                        <a:buAutoNum type="arabicPeriod"/>
                      </a:pPr>
                      <a:r>
                        <a:rPr lang="en-IN">
                          <a:effectLst/>
                        </a:rPr>
                        <a:t>Returns the value of the referenced variable</a:t>
                      </a:r>
                    </a:p>
                  </a:txBody>
                  <a:tcPr marL="60960" marR="60960" marT="60960" marB="60960">
                    <a:lnL w="12700" cap="flat" cmpd="sng" algn="ctr">
                      <a:solidFill>
                        <a:srgbClr val="402D13"/>
                      </a:solidFill>
                      <a:prstDash val="solid"/>
                      <a:round/>
                      <a:headEnd type="none" w="med" len="med"/>
                      <a:tailEnd type="none" w="med" len="med"/>
                    </a:lnL>
                    <a:lnR w="12700" cap="flat" cmpd="sng" algn="ctr">
                      <a:solidFill>
                        <a:srgbClr val="181C13"/>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65836273"/>
                  </a:ext>
                </a:extLst>
              </a:tr>
              <a:tr h="1153623">
                <a:tc>
                  <a:txBody>
                    <a:bodyPr/>
                    <a:lstStyle/>
                    <a:p>
                      <a:pPr algn="l" fontAlgn="t"/>
                      <a:r>
                        <a:rPr lang="en-IN">
                          <a:effectLst/>
                        </a:rPr>
                        <a:t>&amp;</a:t>
                      </a:r>
                    </a:p>
                  </a:txBody>
                  <a:tcPr marL="60960" marR="60960" marT="60960" marB="60960">
                    <a:lnL w="12700" cap="flat" cmpd="sng" algn="ctr">
                      <a:solidFill>
                        <a:srgbClr val="303413"/>
                      </a:solidFill>
                      <a:prstDash val="solid"/>
                      <a:round/>
                      <a:headEnd type="none" w="med" len="med"/>
                      <a:tailEnd type="none" w="med" len="med"/>
                    </a:lnL>
                    <a:lnR w="12700" cap="flat" cmpd="sng" algn="ctr">
                      <a:solidFill>
                        <a:srgbClr val="D83113"/>
                      </a:solidFill>
                      <a:prstDash val="solid"/>
                      <a:round/>
                      <a:headEnd type="none" w="med" len="med"/>
                      <a:tailEnd type="none" w="med" len="med"/>
                    </a:lnR>
                    <a:lnT w="7620" cap="flat" cmpd="sng" algn="ctr">
                      <a:solidFill>
                        <a:srgbClr val="DDDDDD"/>
                      </a:solidFill>
                      <a:prstDash val="solid"/>
                      <a:round/>
                      <a:headEnd type="none" w="med" len="med"/>
                      <a:tailEnd type="none" w="med" len="med"/>
                    </a:lnT>
                    <a:lnB w="12700" cap="flat" cmpd="sng" algn="ctr">
                      <a:solidFill>
                        <a:srgbClr val="D83113"/>
                      </a:solidFill>
                      <a:prstDash val="solid"/>
                      <a:round/>
                      <a:headEnd type="none" w="med" len="med"/>
                      <a:tailEnd type="none" w="med" len="med"/>
                    </a:lnB>
                    <a:solidFill>
                      <a:srgbClr val="F9F9F9"/>
                    </a:solidFill>
                  </a:tcPr>
                </a:tc>
                <a:tc>
                  <a:txBody>
                    <a:bodyPr/>
                    <a:lstStyle/>
                    <a:p>
                      <a:pPr algn="l" fontAlgn="t">
                        <a:buFont typeface="Arial" panose="020B0604020202020204" pitchFamily="34" charset="0"/>
                        <a:buChar char="•"/>
                      </a:pPr>
                      <a:r>
                        <a:rPr lang="en-IN" dirty="0">
                          <a:effectLst/>
                        </a:rPr>
                        <a:t>Serves only 1 purpose </a:t>
                      </a:r>
                    </a:p>
                    <a:p>
                      <a:pPr algn="l" fontAlgn="t">
                        <a:buFont typeface="Arial" panose="020B0604020202020204" pitchFamily="34" charset="0"/>
                        <a:buChar char="•"/>
                      </a:pPr>
                      <a:r>
                        <a:rPr lang="en-IN" dirty="0">
                          <a:effectLst/>
                        </a:rPr>
                        <a:t>Returns the address of a variable</a:t>
                      </a:r>
                    </a:p>
                  </a:txBody>
                  <a:tcPr marL="60960" marR="60960" marT="60960" marB="60960">
                    <a:lnL w="12700" cap="flat" cmpd="sng" algn="ctr">
                      <a:solidFill>
                        <a:srgbClr val="D83113"/>
                      </a:solidFill>
                      <a:prstDash val="solid"/>
                      <a:round/>
                      <a:headEnd type="none" w="med" len="med"/>
                      <a:tailEnd type="none" w="med" len="med"/>
                    </a:lnL>
                    <a:lnR w="12700" cap="flat" cmpd="sng" algn="ctr">
                      <a:solidFill>
                        <a:srgbClr val="482E13"/>
                      </a:solidFill>
                      <a:prstDash val="solid"/>
                      <a:round/>
                      <a:headEnd type="none" w="med" len="med"/>
                      <a:tailEnd type="none" w="med" len="med"/>
                    </a:lnR>
                    <a:lnT w="7620" cap="flat" cmpd="sng" algn="ctr">
                      <a:solidFill>
                        <a:srgbClr val="DDDDDD"/>
                      </a:solidFill>
                      <a:prstDash val="solid"/>
                      <a:round/>
                      <a:headEnd type="none" w="med" len="med"/>
                      <a:tailEnd type="none" w="med" len="med"/>
                    </a:lnT>
                    <a:lnB w="12700" cap="flat" cmpd="sng" algn="ctr">
                      <a:solidFill>
                        <a:srgbClr val="303413"/>
                      </a:solidFill>
                      <a:prstDash val="solid"/>
                      <a:round/>
                      <a:headEnd type="none" w="med" len="med"/>
                      <a:tailEnd type="none" w="med" len="med"/>
                    </a:lnB>
                    <a:solidFill>
                      <a:srgbClr val="F9F9F9"/>
                    </a:solidFill>
                  </a:tcPr>
                </a:tc>
                <a:extLst>
                  <a:ext uri="{0D108BD9-81ED-4DB2-BD59-A6C34878D82A}">
                    <a16:rowId xmlns:a16="http://schemas.microsoft.com/office/drawing/2014/main" val="2713974447"/>
                  </a:ext>
                </a:extLst>
              </a:tr>
            </a:tbl>
          </a:graphicData>
        </a:graphic>
      </p:graphicFrame>
    </p:spTree>
    <p:extLst>
      <p:ext uri="{BB962C8B-B14F-4D97-AF65-F5344CB8AC3E}">
        <p14:creationId xmlns:p14="http://schemas.microsoft.com/office/powerpoint/2010/main" val="19767390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DED0F4-6F43-46DC-B75E-C560DEB51E0C}"/>
              </a:ext>
            </a:extLst>
          </p:cNvPr>
          <p:cNvSpPr>
            <a:spLocks noGrp="1"/>
          </p:cNvSpPr>
          <p:nvPr>
            <p:ph idx="1"/>
          </p:nvPr>
        </p:nvSpPr>
        <p:spPr>
          <a:xfrm>
            <a:off x="838200" y="1489166"/>
            <a:ext cx="10515600" cy="5232309"/>
          </a:xfrm>
        </p:spPr>
        <p:txBody>
          <a:bodyPr>
            <a:noAutofit/>
          </a:bodyPr>
          <a:lstStyle/>
          <a:p>
            <a:pPr marL="0" indent="0" algn="just">
              <a:buNone/>
            </a:pPr>
            <a:r>
              <a:rPr lang="en-IN" sz="1600" dirty="0">
                <a:latin typeface="Times New Roman" panose="02020603050405020304" pitchFamily="18" charset="0"/>
                <a:cs typeface="Times New Roman" panose="02020603050405020304" pitchFamily="18" charset="0"/>
              </a:rPr>
              <a:t>#include &lt;</a:t>
            </a:r>
            <a:r>
              <a:rPr lang="en-IN" sz="1600" dirty="0" err="1">
                <a:latin typeface="Times New Roman" panose="02020603050405020304" pitchFamily="18" charset="0"/>
                <a:cs typeface="Times New Roman" panose="02020603050405020304" pitchFamily="18" charset="0"/>
              </a:rPr>
              <a:t>iostream</a:t>
            </a:r>
            <a:r>
              <a:rPr lang="en-IN" sz="1600" dirty="0">
                <a:latin typeface="Times New Roman" panose="02020603050405020304" pitchFamily="18" charset="0"/>
                <a:cs typeface="Times New Roman" panose="02020603050405020304" pitchFamily="18" charset="0"/>
              </a:rPr>
              <a:t>&gt;</a:t>
            </a:r>
          </a:p>
          <a:p>
            <a:pPr marL="0" indent="0" algn="just">
              <a:buNone/>
            </a:pPr>
            <a:r>
              <a:rPr lang="en-IN" sz="1600" dirty="0">
                <a:latin typeface="Times New Roman" panose="02020603050405020304" pitchFamily="18" charset="0"/>
                <a:cs typeface="Times New Roman" panose="02020603050405020304" pitchFamily="18" charset="0"/>
              </a:rPr>
              <a:t>using namespace </a:t>
            </a:r>
            <a:r>
              <a:rPr lang="en-IN" sz="1600" dirty="0" err="1">
                <a:latin typeface="Times New Roman" panose="02020603050405020304" pitchFamily="18" charset="0"/>
                <a:cs typeface="Times New Roman" panose="02020603050405020304" pitchFamily="18" charset="0"/>
              </a:rPr>
              <a:t>std</a:t>
            </a:r>
            <a:r>
              <a:rPr lang="en-IN" sz="1600" dirty="0">
                <a:latin typeface="Times New Roman" panose="02020603050405020304" pitchFamily="18" charset="0"/>
                <a:cs typeface="Times New Roman" panose="02020603050405020304" pitchFamily="18" charset="0"/>
              </a:rPr>
              <a:t>;</a:t>
            </a:r>
          </a:p>
          <a:p>
            <a:pPr marL="0" indent="0" algn="just">
              <a:buNone/>
            </a:pPr>
            <a:r>
              <a:rPr lang="en-IN" sz="1600" dirty="0" err="1">
                <a:latin typeface="Times New Roman" panose="02020603050405020304" pitchFamily="18" charset="0"/>
                <a:cs typeface="Times New Roman" panose="02020603050405020304" pitchFamily="18" charset="0"/>
              </a:rPr>
              <a:t>int</a:t>
            </a:r>
            <a:r>
              <a:rPr lang="en-IN" sz="1600" dirty="0">
                <a:latin typeface="Times New Roman" panose="02020603050405020304" pitchFamily="18" charset="0"/>
                <a:cs typeface="Times New Roman" panose="02020603050405020304" pitchFamily="18" charset="0"/>
              </a:rPr>
              <a:t> main()</a:t>
            </a:r>
          </a:p>
          <a:p>
            <a:pPr marL="0" indent="0" algn="just">
              <a:buNone/>
            </a:pPr>
            <a:r>
              <a:rPr lang="en-IN" sz="1600" dirty="0">
                <a:latin typeface="Times New Roman" panose="02020603050405020304" pitchFamily="18" charset="0"/>
                <a:cs typeface="Times New Roman" panose="02020603050405020304" pitchFamily="18" charset="0"/>
              </a:rPr>
              <a:t>{</a:t>
            </a:r>
          </a:p>
          <a:p>
            <a:pPr marL="0" indent="0" algn="just">
              <a:buNone/>
            </a:pP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int</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i</a:t>
            </a:r>
            <a:r>
              <a:rPr lang="en-IN" sz="1600" dirty="0">
                <a:latin typeface="Times New Roman" panose="02020603050405020304" pitchFamily="18" charset="0"/>
                <a:cs typeface="Times New Roman" panose="02020603050405020304" pitchFamily="18" charset="0"/>
              </a:rPr>
              <a:t>, A[3];</a:t>
            </a:r>
          </a:p>
          <a:p>
            <a:pPr marL="0" indent="0" algn="just">
              <a:buNone/>
            </a:pP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int</a:t>
            </a:r>
            <a:r>
              <a:rPr lang="en-IN" sz="1600" dirty="0">
                <a:latin typeface="Times New Roman" panose="02020603050405020304" pitchFamily="18" charset="0"/>
                <a:cs typeface="Times New Roman" panose="02020603050405020304" pitchFamily="18" charset="0"/>
              </a:rPr>
              <a:t> *p;</a:t>
            </a:r>
          </a:p>
          <a:p>
            <a:pPr marL="0" indent="0" algn="just">
              <a:buNone/>
            </a:pPr>
            <a:r>
              <a:rPr lang="en-IN" sz="1600" dirty="0">
                <a:latin typeface="Times New Roman" panose="02020603050405020304" pitchFamily="18" charset="0"/>
                <a:cs typeface="Times New Roman" panose="02020603050405020304" pitchFamily="18" charset="0"/>
              </a:rPr>
              <a:t>    p=&amp;A[0];</a:t>
            </a:r>
          </a:p>
          <a:p>
            <a:pPr marL="0" indent="0" algn="just">
              <a:buNone/>
            </a:pP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cout</a:t>
            </a:r>
            <a:r>
              <a:rPr lang="en-IN" sz="1600" dirty="0">
                <a:latin typeface="Times New Roman" panose="02020603050405020304" pitchFamily="18" charset="0"/>
                <a:cs typeface="Times New Roman" panose="02020603050405020304" pitchFamily="18" charset="0"/>
              </a:rPr>
              <a:t>&lt;&lt;"Input the array elements";</a:t>
            </a:r>
          </a:p>
          <a:p>
            <a:pPr marL="0" indent="0" algn="just">
              <a:buNone/>
            </a:pPr>
            <a:r>
              <a:rPr lang="en-IN" sz="1600" dirty="0">
                <a:latin typeface="Times New Roman" panose="02020603050405020304" pitchFamily="18" charset="0"/>
                <a:cs typeface="Times New Roman" panose="02020603050405020304" pitchFamily="18" charset="0"/>
              </a:rPr>
              <a:t>    for(</a:t>
            </a:r>
            <a:r>
              <a:rPr lang="en-IN" sz="1600" dirty="0" err="1">
                <a:latin typeface="Times New Roman" panose="02020603050405020304" pitchFamily="18" charset="0"/>
                <a:cs typeface="Times New Roman" panose="02020603050405020304" pitchFamily="18" charset="0"/>
              </a:rPr>
              <a:t>i</a:t>
            </a:r>
            <a:r>
              <a:rPr lang="en-IN" sz="1600" dirty="0">
                <a:latin typeface="Times New Roman" panose="02020603050405020304" pitchFamily="18" charset="0"/>
                <a:cs typeface="Times New Roman" panose="02020603050405020304" pitchFamily="18" charset="0"/>
              </a:rPr>
              <a:t>=0;i&lt;3;i</a:t>
            </a:r>
            <a:r>
              <a:rPr lang="en-IN" sz="1600" dirty="0" smtClean="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a:t>
            </a:r>
          </a:p>
          <a:p>
            <a:pPr marL="0" indent="0" algn="just">
              <a:buNone/>
            </a:pP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cin</a:t>
            </a:r>
            <a:r>
              <a:rPr lang="en-IN" sz="1600" dirty="0">
                <a:latin typeface="Times New Roman" panose="02020603050405020304" pitchFamily="18" charset="0"/>
                <a:cs typeface="Times New Roman" panose="02020603050405020304" pitchFamily="18" charset="0"/>
              </a:rPr>
              <a:t>&gt;&gt;*(</a:t>
            </a:r>
            <a:r>
              <a:rPr lang="en-IN" sz="1600" dirty="0" err="1">
                <a:latin typeface="Times New Roman" panose="02020603050405020304" pitchFamily="18" charset="0"/>
                <a:cs typeface="Times New Roman" panose="02020603050405020304" pitchFamily="18" charset="0"/>
              </a:rPr>
              <a:t>p+i</a:t>
            </a:r>
            <a:r>
              <a:rPr lang="en-IN" sz="1600" dirty="0" smtClean="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a:t>
            </a:r>
          </a:p>
          <a:p>
            <a:pPr marL="0" indent="0" algn="just">
              <a:buNone/>
            </a:pP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cout</a:t>
            </a:r>
            <a:r>
              <a:rPr lang="en-IN" sz="1600" dirty="0">
                <a:latin typeface="Times New Roman" panose="02020603050405020304" pitchFamily="18" charset="0"/>
                <a:cs typeface="Times New Roman" panose="02020603050405020304" pitchFamily="18" charset="0"/>
              </a:rPr>
              <a:t>&lt;&lt;"Array </a:t>
            </a:r>
            <a:r>
              <a:rPr lang="en-IN" sz="1600" dirty="0" err="1">
                <a:latin typeface="Times New Roman" panose="02020603050405020304" pitchFamily="18" charset="0"/>
                <a:cs typeface="Times New Roman" panose="02020603050405020304" pitchFamily="18" charset="0"/>
              </a:rPr>
              <a:t>elemenets</a:t>
            </a:r>
            <a:r>
              <a:rPr lang="en-IN" sz="1600" dirty="0">
                <a:latin typeface="Times New Roman" panose="02020603050405020304" pitchFamily="18" charset="0"/>
                <a:cs typeface="Times New Roman" panose="02020603050405020304" pitchFamily="18" charset="0"/>
              </a:rPr>
              <a:t> are:";</a:t>
            </a:r>
          </a:p>
          <a:p>
            <a:pPr marL="0" indent="0" algn="just">
              <a:buNone/>
            </a:pPr>
            <a:r>
              <a:rPr lang="en-IN" sz="1600" dirty="0">
                <a:latin typeface="Times New Roman" panose="02020603050405020304" pitchFamily="18" charset="0"/>
                <a:cs typeface="Times New Roman" panose="02020603050405020304" pitchFamily="18" charset="0"/>
              </a:rPr>
              <a:t>    for(</a:t>
            </a:r>
            <a:r>
              <a:rPr lang="en-IN" sz="1600" dirty="0" err="1">
                <a:latin typeface="Times New Roman" panose="02020603050405020304" pitchFamily="18" charset="0"/>
                <a:cs typeface="Times New Roman" panose="02020603050405020304" pitchFamily="18" charset="0"/>
              </a:rPr>
              <a:t>i</a:t>
            </a:r>
            <a:r>
              <a:rPr lang="en-IN" sz="1600" dirty="0">
                <a:latin typeface="Times New Roman" panose="02020603050405020304" pitchFamily="18" charset="0"/>
                <a:cs typeface="Times New Roman" panose="02020603050405020304" pitchFamily="18" charset="0"/>
              </a:rPr>
              <a:t>=0;i&lt;3;i</a:t>
            </a:r>
            <a:r>
              <a:rPr lang="en-IN" sz="1600" dirty="0" smtClean="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a:t>
            </a:r>
          </a:p>
          <a:p>
            <a:pPr marL="0" indent="0" algn="just">
              <a:buNone/>
            </a:pP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cout</a:t>
            </a:r>
            <a:r>
              <a:rPr lang="en-IN" sz="1600" dirty="0">
                <a:latin typeface="Times New Roman" panose="02020603050405020304" pitchFamily="18" charset="0"/>
                <a:cs typeface="Times New Roman" panose="02020603050405020304" pitchFamily="18" charset="0"/>
              </a:rPr>
              <a:t>&lt;&lt;*(</a:t>
            </a:r>
            <a:r>
              <a:rPr lang="en-IN" sz="1600" dirty="0" err="1">
                <a:latin typeface="Times New Roman" panose="02020603050405020304" pitchFamily="18" charset="0"/>
                <a:cs typeface="Times New Roman" panose="02020603050405020304" pitchFamily="18" charset="0"/>
              </a:rPr>
              <a:t>p+i</a:t>
            </a:r>
            <a:r>
              <a:rPr lang="en-IN" sz="1600" dirty="0">
                <a:latin typeface="Times New Roman" panose="02020603050405020304" pitchFamily="18" charset="0"/>
                <a:cs typeface="Times New Roman" panose="02020603050405020304" pitchFamily="18" charset="0"/>
              </a:rPr>
              <a:t>)&lt;&lt;</a:t>
            </a:r>
            <a:r>
              <a:rPr lang="en-IN" sz="1600" dirty="0" err="1">
                <a:latin typeface="Times New Roman" panose="02020603050405020304" pitchFamily="18" charset="0"/>
                <a:cs typeface="Times New Roman" panose="02020603050405020304" pitchFamily="18" charset="0"/>
              </a:rPr>
              <a:t>endl</a:t>
            </a:r>
            <a:r>
              <a:rPr lang="en-IN" sz="1600" dirty="0" smtClean="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a:t>
            </a:r>
          </a:p>
          <a:p>
            <a:pPr marL="0" indent="0" algn="just">
              <a:buNone/>
            </a:pPr>
            <a:r>
              <a:rPr lang="en-IN" sz="1600" dirty="0" smtClean="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return 0;</a:t>
            </a:r>
          </a:p>
          <a:p>
            <a:pPr marL="0" indent="0" algn="just">
              <a:buNone/>
            </a:pPr>
            <a:r>
              <a:rPr lang="en-IN"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A28FEA7-2964-4723-8930-059EBB791AE2}"/>
              </a:ext>
            </a:extLst>
          </p:cNvPr>
          <p:cNvSpPr>
            <a:spLocks noGrp="1"/>
          </p:cNvSpPr>
          <p:nvPr>
            <p:ph type="sldNum" sz="quarter" idx="12"/>
          </p:nvPr>
        </p:nvSpPr>
        <p:spPr/>
        <p:txBody>
          <a:bodyPr/>
          <a:lstStyle/>
          <a:p>
            <a:fld id="{BDCDBBEF-AA6C-4BA6-85B2-A17D7F280E38}" type="slidenum">
              <a:rPr lang="en-US" smtClean="0"/>
              <a:pPr/>
              <a:t>11</a:t>
            </a:fld>
            <a:endParaRPr lang="en-US"/>
          </a:p>
        </p:txBody>
      </p:sp>
      <p:sp>
        <p:nvSpPr>
          <p:cNvPr id="5" name="Title 1">
            <a:extLst>
              <a:ext uri="{FF2B5EF4-FFF2-40B4-BE49-F238E27FC236}">
                <a16:creationId xmlns:a16="http://schemas.microsoft.com/office/drawing/2014/main" id="{EBCE1DB5-224A-4DE2-9B99-43AF5EA6EC9F}"/>
              </a:ext>
            </a:extLst>
          </p:cNvPr>
          <p:cNvSpPr>
            <a:spLocks noGrp="1"/>
          </p:cNvSpPr>
          <p:nvPr>
            <p:ph type="title"/>
          </p:nvPr>
        </p:nvSpPr>
        <p:spPr>
          <a:xfrm>
            <a:off x="838200" y="365125"/>
            <a:ext cx="10515600" cy="1325563"/>
          </a:xfrm>
        </p:spPr>
        <p:txBody>
          <a:bodyPr/>
          <a:lstStyle/>
          <a:p>
            <a:r>
              <a:rPr lang="en-IN" b="1" dirty="0" smtClean="0">
                <a:solidFill>
                  <a:srgbClr val="FF0000"/>
                </a:solidFill>
              </a:rPr>
              <a:t>Traversing array using </a:t>
            </a:r>
            <a:r>
              <a:rPr lang="en-IN" b="1" dirty="0" smtClean="0">
                <a:solidFill>
                  <a:srgbClr val="FF0000"/>
                </a:solidFill>
              </a:rPr>
              <a:t>pointer</a:t>
            </a:r>
            <a:endParaRPr lang="en-IN" b="1" dirty="0">
              <a:solidFill>
                <a:srgbClr val="FF0000"/>
              </a:solidFill>
            </a:endParaRPr>
          </a:p>
        </p:txBody>
      </p:sp>
    </p:spTree>
    <p:extLst>
      <p:ext uri="{BB962C8B-B14F-4D97-AF65-F5344CB8AC3E}">
        <p14:creationId xmlns:p14="http://schemas.microsoft.com/office/powerpoint/2010/main" val="164106601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E1DB5-224A-4DE2-9B99-43AF5EA6EC9F}"/>
              </a:ext>
            </a:extLst>
          </p:cNvPr>
          <p:cNvSpPr>
            <a:spLocks noGrp="1"/>
          </p:cNvSpPr>
          <p:nvPr>
            <p:ph type="title"/>
          </p:nvPr>
        </p:nvSpPr>
        <p:spPr/>
        <p:txBody>
          <a:bodyPr/>
          <a:lstStyle/>
          <a:p>
            <a:r>
              <a:rPr lang="en-IN" b="1" dirty="0">
                <a:solidFill>
                  <a:srgbClr val="FF0000"/>
                </a:solidFill>
              </a:rPr>
              <a:t>Types of a pointer</a:t>
            </a:r>
          </a:p>
        </p:txBody>
      </p:sp>
      <p:sp>
        <p:nvSpPr>
          <p:cNvPr id="3" name="Content Placeholder 2">
            <a:extLst>
              <a:ext uri="{FF2B5EF4-FFF2-40B4-BE49-F238E27FC236}">
                <a16:creationId xmlns:a16="http://schemas.microsoft.com/office/drawing/2014/main" id="{F3582064-320D-4CA9-AD2A-077CC84C8A11}"/>
              </a:ext>
            </a:extLst>
          </p:cNvPr>
          <p:cNvSpPr>
            <a:spLocks noGrp="1"/>
          </p:cNvSpPr>
          <p:nvPr>
            <p:ph idx="1"/>
          </p:nvPr>
        </p:nvSpPr>
        <p:spPr/>
        <p:txBody>
          <a:bodyPr>
            <a:normAutofit lnSpcReduction="10000"/>
          </a:bodyPr>
          <a:lstStyle/>
          <a:p>
            <a:pPr marL="457200" indent="-457200" algn="just">
              <a:buFont typeface="+mj-lt"/>
              <a:buAutoNum type="arabicPeriod"/>
            </a:pPr>
            <a:r>
              <a:rPr lang="en-IN" sz="2000" b="1" dirty="0"/>
              <a:t>Null pointer</a:t>
            </a:r>
          </a:p>
          <a:p>
            <a:pPr marL="0" indent="0" algn="just">
              <a:buNone/>
            </a:pPr>
            <a:r>
              <a:rPr lang="en-IN" sz="2000" dirty="0"/>
              <a:t>We can create a null pointer by assigning null value during the pointer declaration. This method is useful when you do not have any address assigned to the pointer. A null pointer always contains value 0.</a:t>
            </a:r>
          </a:p>
          <a:p>
            <a:pPr marL="0" indent="0" algn="just">
              <a:buNone/>
            </a:pPr>
            <a:r>
              <a:rPr lang="en-IN" sz="2000" b="1" dirty="0"/>
              <a:t>Following program illustrates the use of a null pointer:</a:t>
            </a:r>
          </a:p>
          <a:p>
            <a:pPr marL="457200" lvl="1" indent="0" algn="just">
              <a:buNone/>
            </a:pPr>
            <a:r>
              <a:rPr lang="en-IN" sz="1600" dirty="0"/>
              <a:t>#include &lt;</a:t>
            </a:r>
            <a:r>
              <a:rPr lang="en-IN" sz="1600" dirty="0" err="1"/>
              <a:t>stdio.h</a:t>
            </a:r>
            <a:r>
              <a:rPr lang="en-IN" sz="1600" dirty="0"/>
              <a:t>&gt;</a:t>
            </a:r>
          </a:p>
          <a:p>
            <a:pPr marL="457200" lvl="1" indent="0" algn="just">
              <a:buNone/>
            </a:pPr>
            <a:r>
              <a:rPr lang="en-IN" sz="1600" dirty="0"/>
              <a:t>int main()</a:t>
            </a:r>
          </a:p>
          <a:p>
            <a:pPr marL="457200" lvl="1" indent="0" algn="just">
              <a:buNone/>
            </a:pPr>
            <a:r>
              <a:rPr lang="en-IN" sz="1600" dirty="0"/>
              <a:t>{</a:t>
            </a:r>
          </a:p>
          <a:p>
            <a:pPr marL="457200" lvl="1" indent="0" algn="just">
              <a:buNone/>
            </a:pPr>
            <a:r>
              <a:rPr lang="en-IN" sz="1600" dirty="0"/>
              <a:t>	int *p = NULL; 	//null pointer</a:t>
            </a:r>
          </a:p>
          <a:p>
            <a:pPr marL="457200" lvl="1" indent="0" algn="just">
              <a:buNone/>
            </a:pPr>
            <a:r>
              <a:rPr lang="en-IN" sz="1600" dirty="0"/>
              <a:t>	</a:t>
            </a:r>
            <a:r>
              <a:rPr lang="en-IN" sz="1600" dirty="0" err="1"/>
              <a:t>printf</a:t>
            </a:r>
            <a:r>
              <a:rPr lang="en-IN" sz="1600" dirty="0"/>
              <a:t>(“The value inside variable p is:\</a:t>
            </a:r>
            <a:r>
              <a:rPr lang="en-IN" sz="1600" dirty="0" err="1"/>
              <a:t>n%x</a:t>
            </a:r>
            <a:r>
              <a:rPr lang="en-IN" sz="1600" dirty="0"/>
              <a:t>”,p);</a:t>
            </a:r>
          </a:p>
          <a:p>
            <a:pPr marL="457200" lvl="1" indent="0" algn="just">
              <a:buNone/>
            </a:pPr>
            <a:r>
              <a:rPr lang="en-IN" sz="1600" dirty="0"/>
              <a:t>	return 0;</a:t>
            </a:r>
          </a:p>
          <a:p>
            <a:pPr marL="457200" lvl="1" indent="0" algn="just">
              <a:buNone/>
            </a:pPr>
            <a:r>
              <a:rPr lang="en-IN" sz="1600" dirty="0"/>
              <a:t>}</a:t>
            </a:r>
          </a:p>
          <a:p>
            <a:pPr marL="0" indent="0" algn="just">
              <a:buNone/>
            </a:pPr>
            <a:r>
              <a:rPr lang="en-IN" sz="2000" b="1" dirty="0"/>
              <a:t>Output:</a:t>
            </a:r>
          </a:p>
          <a:p>
            <a:pPr marL="457200" lvl="1" indent="0" algn="just">
              <a:buNone/>
            </a:pPr>
            <a:r>
              <a:rPr lang="en-IN" sz="1600" dirty="0"/>
              <a:t>The value inside variable p is:</a:t>
            </a:r>
          </a:p>
          <a:p>
            <a:pPr marL="457200" lvl="1" indent="0" algn="just">
              <a:buNone/>
            </a:pPr>
            <a:r>
              <a:rPr lang="en-IN" sz="1600" dirty="0"/>
              <a:t>0</a:t>
            </a:r>
          </a:p>
        </p:txBody>
      </p:sp>
      <p:sp>
        <p:nvSpPr>
          <p:cNvPr id="4" name="Slide Number Placeholder 3">
            <a:extLst>
              <a:ext uri="{FF2B5EF4-FFF2-40B4-BE49-F238E27FC236}">
                <a16:creationId xmlns:a16="http://schemas.microsoft.com/office/drawing/2014/main" id="{1415CE07-BC75-46D5-93D2-5D2168CE636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1303418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66B0C4-7EB5-46A0-9650-495B5DFFE664}"/>
              </a:ext>
            </a:extLst>
          </p:cNvPr>
          <p:cNvSpPr>
            <a:spLocks noGrp="1"/>
          </p:cNvSpPr>
          <p:nvPr>
            <p:ph idx="1"/>
          </p:nvPr>
        </p:nvSpPr>
        <p:spPr>
          <a:xfrm>
            <a:off x="838200" y="497150"/>
            <a:ext cx="10515600" cy="5679813"/>
          </a:xfrm>
        </p:spPr>
        <p:txBody>
          <a:bodyPr>
            <a:normAutofit fontScale="92500" lnSpcReduction="20000"/>
          </a:bodyPr>
          <a:lstStyle/>
          <a:p>
            <a:pPr marL="0" indent="0">
              <a:buNone/>
            </a:pPr>
            <a:r>
              <a:rPr lang="en-IN" b="1" dirty="0"/>
              <a:t>2. Void Pointer</a:t>
            </a:r>
          </a:p>
          <a:p>
            <a:pPr marL="0" indent="0">
              <a:buNone/>
            </a:pPr>
            <a:r>
              <a:rPr lang="en-IN" dirty="0"/>
              <a:t>In C programming, a void pointer is also called as a generic pointer. It does not have any standard data type. A void pointer is created by using the keyword void. It can be used to store an address of any variable.</a:t>
            </a:r>
          </a:p>
          <a:p>
            <a:pPr marL="0" indent="0">
              <a:buNone/>
            </a:pPr>
            <a:endParaRPr lang="en-IN" dirty="0"/>
          </a:p>
          <a:p>
            <a:pPr marL="0" indent="0">
              <a:buNone/>
            </a:pPr>
            <a:r>
              <a:rPr lang="en-IN" b="1" dirty="0"/>
              <a:t>Following program illustrates the use of a void pointer:</a:t>
            </a:r>
          </a:p>
          <a:p>
            <a:pPr marL="457200" lvl="1" indent="0">
              <a:buNone/>
            </a:pPr>
            <a:r>
              <a:rPr lang="en-IN" dirty="0"/>
              <a:t>#include &lt;</a:t>
            </a:r>
            <a:r>
              <a:rPr lang="en-IN" dirty="0" err="1"/>
              <a:t>stdio.h</a:t>
            </a:r>
            <a:r>
              <a:rPr lang="en-IN" dirty="0"/>
              <a:t>&gt;</a:t>
            </a:r>
          </a:p>
          <a:p>
            <a:pPr marL="457200" lvl="1" indent="0">
              <a:buNone/>
            </a:pPr>
            <a:r>
              <a:rPr lang="en-IN" dirty="0"/>
              <a:t>int main()</a:t>
            </a:r>
          </a:p>
          <a:p>
            <a:pPr marL="457200" lvl="1" indent="0">
              <a:buNone/>
            </a:pPr>
            <a:r>
              <a:rPr lang="en-IN" dirty="0"/>
              <a:t>{</a:t>
            </a:r>
          </a:p>
          <a:p>
            <a:pPr marL="457200" lvl="1" indent="0">
              <a:buNone/>
            </a:pPr>
            <a:r>
              <a:rPr lang="en-IN" dirty="0"/>
              <a:t>void *p = NULL; 	//void pointer</a:t>
            </a:r>
          </a:p>
          <a:p>
            <a:pPr marL="457200" lvl="1" indent="0">
              <a:buNone/>
            </a:pPr>
            <a:r>
              <a:rPr lang="en-IN" dirty="0" err="1"/>
              <a:t>printf</a:t>
            </a:r>
            <a:r>
              <a:rPr lang="en-IN" dirty="0"/>
              <a:t>("The size of pointer is:%d\n",</a:t>
            </a:r>
            <a:r>
              <a:rPr lang="en-IN" dirty="0" err="1"/>
              <a:t>sizeof</a:t>
            </a:r>
            <a:r>
              <a:rPr lang="en-IN" dirty="0"/>
              <a:t>(p));</a:t>
            </a:r>
          </a:p>
          <a:p>
            <a:pPr marL="457200" lvl="1" indent="0">
              <a:buNone/>
            </a:pPr>
            <a:r>
              <a:rPr lang="en-IN" dirty="0"/>
              <a:t>return 0;</a:t>
            </a:r>
          </a:p>
          <a:p>
            <a:pPr marL="457200" lvl="1" indent="0">
              <a:buNone/>
            </a:pPr>
            <a:r>
              <a:rPr lang="en-IN" dirty="0"/>
              <a:t>}</a:t>
            </a:r>
          </a:p>
          <a:p>
            <a:pPr marL="0" indent="0">
              <a:buNone/>
            </a:pPr>
            <a:endParaRPr lang="en-IN" dirty="0"/>
          </a:p>
          <a:p>
            <a:pPr marL="0" indent="0">
              <a:buNone/>
            </a:pPr>
            <a:r>
              <a:rPr lang="en-IN" b="1" dirty="0"/>
              <a:t>Output:</a:t>
            </a:r>
          </a:p>
          <a:p>
            <a:pPr marL="457200" lvl="1" indent="0">
              <a:buNone/>
            </a:pPr>
            <a:r>
              <a:rPr lang="en-IN" dirty="0"/>
              <a:t>The size of pointer is:4</a:t>
            </a:r>
          </a:p>
        </p:txBody>
      </p:sp>
      <p:sp>
        <p:nvSpPr>
          <p:cNvPr id="4" name="Slide Number Placeholder 3">
            <a:extLst>
              <a:ext uri="{FF2B5EF4-FFF2-40B4-BE49-F238E27FC236}">
                <a16:creationId xmlns:a16="http://schemas.microsoft.com/office/drawing/2014/main" id="{3B58D850-D6B0-48E8-8512-13D64FA9751A}"/>
              </a:ext>
            </a:extLst>
          </p:cNvPr>
          <p:cNvSpPr>
            <a:spLocks noGrp="1"/>
          </p:cNvSpPr>
          <p:nvPr>
            <p:ph type="sldNum" sz="quarter" idx="12"/>
          </p:nvPr>
        </p:nvSpPr>
        <p:spPr/>
        <p:txBody>
          <a:bodyPr/>
          <a:lstStyle/>
          <a:p>
            <a:fld id="{BDCDBBEF-AA6C-4BA6-85B2-A17D7F280E38}" type="slidenum">
              <a:rPr lang="en-US" smtClean="0"/>
              <a:pPr/>
              <a:t>13</a:t>
            </a:fld>
            <a:endParaRPr lang="en-US"/>
          </a:p>
        </p:txBody>
      </p:sp>
    </p:spTree>
    <p:extLst>
      <p:ext uri="{BB962C8B-B14F-4D97-AF65-F5344CB8AC3E}">
        <p14:creationId xmlns:p14="http://schemas.microsoft.com/office/powerpoint/2010/main" val="178245541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BC63C1-6E45-4454-8F51-8C7CDA34CEBA}"/>
              </a:ext>
            </a:extLst>
          </p:cNvPr>
          <p:cNvSpPr>
            <a:spLocks noGrp="1"/>
          </p:cNvSpPr>
          <p:nvPr>
            <p:ph idx="1"/>
          </p:nvPr>
        </p:nvSpPr>
        <p:spPr>
          <a:xfrm>
            <a:off x="838200" y="559293"/>
            <a:ext cx="10515600" cy="5617670"/>
          </a:xfrm>
        </p:spPr>
        <p:txBody>
          <a:bodyPr>
            <a:normAutofit fontScale="92500" lnSpcReduction="20000"/>
          </a:bodyPr>
          <a:lstStyle/>
          <a:p>
            <a:pPr marL="0" indent="0">
              <a:buNone/>
            </a:pPr>
            <a:r>
              <a:rPr lang="en-IN" b="1" dirty="0"/>
              <a:t>3. Wild pointer</a:t>
            </a:r>
          </a:p>
          <a:p>
            <a:pPr marL="0" indent="0">
              <a:buNone/>
            </a:pPr>
            <a:r>
              <a:rPr lang="en-IN" dirty="0"/>
              <a:t>A pointer is said to be a wild pointer if it is not being initialized to anything. These types of pointers are not efficient because they may point to some unknown memory location which may cause problems in our program and it may lead to crashing of the program. One should always be careful while working with wild pointers.</a:t>
            </a:r>
          </a:p>
          <a:p>
            <a:pPr marL="0" indent="0">
              <a:buNone/>
            </a:pPr>
            <a:r>
              <a:rPr lang="en-IN" b="1" dirty="0"/>
              <a:t>Following program illustrates the use of wild pointer:</a:t>
            </a:r>
          </a:p>
          <a:p>
            <a:pPr marL="457200" lvl="1" indent="0">
              <a:buNone/>
            </a:pPr>
            <a:r>
              <a:rPr lang="en-IN" dirty="0"/>
              <a:t>#include &lt;</a:t>
            </a:r>
            <a:r>
              <a:rPr lang="en-IN" dirty="0" err="1"/>
              <a:t>stdio.h</a:t>
            </a:r>
            <a:r>
              <a:rPr lang="en-IN" dirty="0"/>
              <a:t>&gt;</a:t>
            </a:r>
          </a:p>
          <a:p>
            <a:pPr marL="457200" lvl="1" indent="0">
              <a:buNone/>
            </a:pPr>
            <a:r>
              <a:rPr lang="en-IN" dirty="0"/>
              <a:t>int main()</a:t>
            </a:r>
          </a:p>
          <a:p>
            <a:pPr marL="457200" lvl="1" indent="0">
              <a:buNone/>
            </a:pPr>
            <a:r>
              <a:rPr lang="en-IN" dirty="0"/>
              <a:t>{</a:t>
            </a:r>
          </a:p>
          <a:p>
            <a:pPr marL="457200" lvl="1" indent="0">
              <a:buNone/>
            </a:pPr>
            <a:r>
              <a:rPr lang="en-IN" dirty="0"/>
              <a:t>int *p; 	//wild pointer</a:t>
            </a:r>
          </a:p>
          <a:p>
            <a:pPr marL="457200" lvl="1" indent="0">
              <a:buNone/>
            </a:pPr>
            <a:r>
              <a:rPr lang="en-IN" dirty="0" err="1"/>
              <a:t>printf</a:t>
            </a:r>
            <a:r>
              <a:rPr lang="en-IN" dirty="0"/>
              <a:t>("\</a:t>
            </a:r>
            <a:r>
              <a:rPr lang="en-IN" dirty="0" err="1"/>
              <a:t>n%d</a:t>
            </a:r>
            <a:r>
              <a:rPr lang="en-IN" dirty="0"/>
              <a:t>",*p);</a:t>
            </a:r>
          </a:p>
          <a:p>
            <a:pPr marL="457200" lvl="1" indent="0">
              <a:buNone/>
            </a:pPr>
            <a:r>
              <a:rPr lang="en-IN" dirty="0"/>
              <a:t>return 0;</a:t>
            </a:r>
          </a:p>
          <a:p>
            <a:pPr marL="457200" lvl="1" indent="0">
              <a:buNone/>
            </a:pPr>
            <a:r>
              <a:rPr lang="en-IN" dirty="0"/>
              <a:t>}</a:t>
            </a:r>
          </a:p>
          <a:p>
            <a:pPr marL="0" indent="0">
              <a:buNone/>
            </a:pPr>
            <a:r>
              <a:rPr lang="en-IN" b="1" dirty="0"/>
              <a:t>Output:</a:t>
            </a:r>
          </a:p>
          <a:p>
            <a:pPr marL="457200" lvl="1" indent="0">
              <a:buNone/>
            </a:pPr>
            <a:r>
              <a:rPr lang="en-IN" dirty="0"/>
              <a:t>timeout: the monitored command dumped core</a:t>
            </a:r>
          </a:p>
          <a:p>
            <a:pPr marL="457200" lvl="1" indent="0">
              <a:buNone/>
            </a:pPr>
            <a:r>
              <a:rPr lang="en-IN" dirty="0" err="1"/>
              <a:t>sh</a:t>
            </a:r>
            <a:r>
              <a:rPr lang="en-IN" dirty="0"/>
              <a:t>: line 1: 95298 Segmentation fault      timeout 10s main</a:t>
            </a:r>
          </a:p>
        </p:txBody>
      </p:sp>
      <p:sp>
        <p:nvSpPr>
          <p:cNvPr id="4" name="Slide Number Placeholder 3">
            <a:extLst>
              <a:ext uri="{FF2B5EF4-FFF2-40B4-BE49-F238E27FC236}">
                <a16:creationId xmlns:a16="http://schemas.microsoft.com/office/drawing/2014/main" id="{E2DAC647-3B5B-498A-ADBF-779486EA2C66}"/>
              </a:ext>
            </a:extLst>
          </p:cNvPr>
          <p:cNvSpPr>
            <a:spLocks noGrp="1"/>
          </p:cNvSpPr>
          <p:nvPr>
            <p:ph type="sldNum" sz="quarter" idx="12"/>
          </p:nvPr>
        </p:nvSpPr>
        <p:spPr/>
        <p:txBody>
          <a:bodyPr/>
          <a:lstStyle/>
          <a:p>
            <a:fld id="{BDCDBBEF-AA6C-4BA6-85B2-A17D7F280E38}" type="slidenum">
              <a:rPr lang="en-US" smtClean="0"/>
              <a:pPr/>
              <a:t>14</a:t>
            </a:fld>
            <a:endParaRPr lang="en-US"/>
          </a:p>
        </p:txBody>
      </p:sp>
    </p:spTree>
    <p:extLst>
      <p:ext uri="{BB962C8B-B14F-4D97-AF65-F5344CB8AC3E}">
        <p14:creationId xmlns:p14="http://schemas.microsoft.com/office/powerpoint/2010/main" val="205369672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82041-6FE4-470C-BD16-EBB8CFB4757F}"/>
              </a:ext>
            </a:extLst>
          </p:cNvPr>
          <p:cNvSpPr>
            <a:spLocks noGrp="1"/>
          </p:cNvSpPr>
          <p:nvPr>
            <p:ph type="title"/>
          </p:nvPr>
        </p:nvSpPr>
        <p:spPr>
          <a:xfrm>
            <a:off x="933450" y="320675"/>
            <a:ext cx="10515600" cy="1325563"/>
          </a:xfrm>
        </p:spPr>
        <p:txBody>
          <a:bodyPr>
            <a:normAutofit/>
          </a:bodyPr>
          <a:lstStyle/>
          <a:p>
            <a:r>
              <a:rPr lang="en-IN" b="1" dirty="0">
                <a:solidFill>
                  <a:srgbClr val="FF0000"/>
                </a:solidFill>
              </a:rPr>
              <a:t>Uses of pointers</a:t>
            </a:r>
            <a:endParaRPr lang="en-IN" b="1" i="0" dirty="0">
              <a:solidFill>
                <a:srgbClr val="FF0000"/>
              </a:solidFill>
              <a:effectLst/>
            </a:endParaRPr>
          </a:p>
        </p:txBody>
      </p:sp>
      <p:sp>
        <p:nvSpPr>
          <p:cNvPr id="3" name="Content Placeholder 2">
            <a:extLst>
              <a:ext uri="{FF2B5EF4-FFF2-40B4-BE49-F238E27FC236}">
                <a16:creationId xmlns:a16="http://schemas.microsoft.com/office/drawing/2014/main" id="{6505F30B-325C-43AC-A714-11505AE7A407}"/>
              </a:ext>
            </a:extLst>
          </p:cNvPr>
          <p:cNvSpPr>
            <a:spLocks noGrp="1"/>
          </p:cNvSpPr>
          <p:nvPr>
            <p:ph idx="1"/>
          </p:nvPr>
        </p:nvSpPr>
        <p:spPr/>
        <p:txBody>
          <a:bodyPr>
            <a:normAutofit/>
          </a:bodyPr>
          <a:lstStyle/>
          <a:p>
            <a:pPr algn="just"/>
            <a:r>
              <a:rPr lang="en-IN" dirty="0"/>
              <a:t>To pass arguments by reference</a:t>
            </a:r>
          </a:p>
          <a:p>
            <a:pPr algn="just"/>
            <a:r>
              <a:rPr lang="en-IN" dirty="0"/>
              <a:t>For accessing array elements</a:t>
            </a:r>
          </a:p>
          <a:p>
            <a:pPr algn="just"/>
            <a:r>
              <a:rPr lang="en-IN" dirty="0"/>
              <a:t>To return multiple values</a:t>
            </a:r>
          </a:p>
          <a:p>
            <a:pPr algn="just"/>
            <a:r>
              <a:rPr lang="en-IN" dirty="0"/>
              <a:t>Dynamic memory allocation</a:t>
            </a:r>
          </a:p>
          <a:p>
            <a:pPr algn="just"/>
            <a:r>
              <a:rPr lang="en-IN" dirty="0"/>
              <a:t>To implement data structures</a:t>
            </a:r>
          </a:p>
          <a:p>
            <a:pPr algn="just"/>
            <a:r>
              <a:rPr lang="en-IN" dirty="0"/>
              <a:t>To do system level programming where memory addresses are useful</a:t>
            </a:r>
          </a:p>
        </p:txBody>
      </p:sp>
      <p:sp>
        <p:nvSpPr>
          <p:cNvPr id="4" name="Slide Number Placeholder 3">
            <a:extLst>
              <a:ext uri="{FF2B5EF4-FFF2-40B4-BE49-F238E27FC236}">
                <a16:creationId xmlns:a16="http://schemas.microsoft.com/office/drawing/2014/main" id="{B1BC3DF1-2C71-471B-B289-2AC59010AE21}"/>
              </a:ext>
            </a:extLst>
          </p:cNvPr>
          <p:cNvSpPr>
            <a:spLocks noGrp="1"/>
          </p:cNvSpPr>
          <p:nvPr>
            <p:ph type="sldNum" sz="quarter" idx="12"/>
          </p:nvPr>
        </p:nvSpPr>
        <p:spPr/>
        <p:txBody>
          <a:bodyPr/>
          <a:lstStyle/>
          <a:p>
            <a:fld id="{BDCDBBEF-AA6C-4BA6-85B2-A17D7F280E38}" type="slidenum">
              <a:rPr lang="en-US" smtClean="0"/>
              <a:pPr/>
              <a:t>15</a:t>
            </a:fld>
            <a:endParaRPr lang="en-US"/>
          </a:p>
        </p:txBody>
      </p:sp>
    </p:spTree>
    <p:extLst>
      <p:ext uri="{BB962C8B-B14F-4D97-AF65-F5344CB8AC3E}">
        <p14:creationId xmlns:p14="http://schemas.microsoft.com/office/powerpoint/2010/main" val="250562241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82041-6FE4-470C-BD16-EBB8CFB4757F}"/>
              </a:ext>
            </a:extLst>
          </p:cNvPr>
          <p:cNvSpPr>
            <a:spLocks noGrp="1"/>
          </p:cNvSpPr>
          <p:nvPr>
            <p:ph type="title"/>
          </p:nvPr>
        </p:nvSpPr>
        <p:spPr>
          <a:xfrm>
            <a:off x="933450" y="320675"/>
            <a:ext cx="10515600" cy="1325563"/>
          </a:xfrm>
        </p:spPr>
        <p:txBody>
          <a:bodyPr>
            <a:normAutofit/>
          </a:bodyPr>
          <a:lstStyle/>
          <a:p>
            <a:r>
              <a:rPr lang="en-IN" b="1" i="0" dirty="0">
                <a:solidFill>
                  <a:srgbClr val="FF0000"/>
                </a:solidFill>
                <a:effectLst/>
              </a:rPr>
              <a:t>Disadvantages of pointer</a:t>
            </a:r>
          </a:p>
        </p:txBody>
      </p:sp>
      <p:sp>
        <p:nvSpPr>
          <p:cNvPr id="3" name="Content Placeholder 2">
            <a:extLst>
              <a:ext uri="{FF2B5EF4-FFF2-40B4-BE49-F238E27FC236}">
                <a16:creationId xmlns:a16="http://schemas.microsoft.com/office/drawing/2014/main" id="{6505F30B-325C-43AC-A714-11505AE7A407}"/>
              </a:ext>
            </a:extLst>
          </p:cNvPr>
          <p:cNvSpPr>
            <a:spLocks noGrp="1"/>
          </p:cNvSpPr>
          <p:nvPr>
            <p:ph idx="1"/>
          </p:nvPr>
        </p:nvSpPr>
        <p:spPr/>
        <p:txBody>
          <a:bodyPr>
            <a:normAutofit/>
          </a:bodyPr>
          <a:lstStyle/>
          <a:p>
            <a:pPr algn="just"/>
            <a:r>
              <a:rPr lang="en-IN" dirty="0"/>
              <a:t>Uninitialized pointers might cause segmentation fault.</a:t>
            </a:r>
          </a:p>
          <a:p>
            <a:pPr algn="just"/>
            <a:r>
              <a:rPr lang="en-IN" dirty="0"/>
              <a:t>Dynamically allocated block needs to be freed explicitly.</a:t>
            </a:r>
          </a:p>
          <a:p>
            <a:pPr algn="just"/>
            <a:r>
              <a:rPr lang="en-IN" dirty="0"/>
              <a:t>If pointers are updated with incorrect values, it might lead to memory corruption.</a:t>
            </a:r>
          </a:p>
        </p:txBody>
      </p:sp>
      <p:sp>
        <p:nvSpPr>
          <p:cNvPr id="4" name="Slide Number Placeholder 3">
            <a:extLst>
              <a:ext uri="{FF2B5EF4-FFF2-40B4-BE49-F238E27FC236}">
                <a16:creationId xmlns:a16="http://schemas.microsoft.com/office/drawing/2014/main" id="{B1BC3DF1-2C71-471B-B289-2AC59010AE21}"/>
              </a:ext>
            </a:extLst>
          </p:cNvPr>
          <p:cNvSpPr>
            <a:spLocks noGrp="1"/>
          </p:cNvSpPr>
          <p:nvPr>
            <p:ph type="sldNum" sz="quarter" idx="12"/>
          </p:nvPr>
        </p:nvSpPr>
        <p:spPr/>
        <p:txBody>
          <a:bodyPr/>
          <a:lstStyle/>
          <a:p>
            <a:fld id="{BDCDBBEF-AA6C-4BA6-85B2-A17D7F280E38}" type="slidenum">
              <a:rPr lang="en-US" smtClean="0"/>
              <a:pPr/>
              <a:t>16</a:t>
            </a:fld>
            <a:endParaRPr lang="en-US"/>
          </a:p>
        </p:txBody>
      </p:sp>
    </p:spTree>
    <p:extLst>
      <p:ext uri="{BB962C8B-B14F-4D97-AF65-F5344CB8AC3E}">
        <p14:creationId xmlns:p14="http://schemas.microsoft.com/office/powerpoint/2010/main" val="8626285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Casper Bold" panose="02000806040000020004" pitchFamily="2" charset="0"/>
                <a:cs typeface="Arial" panose="020B0604020202020204" pitchFamily="34" charset="0"/>
              </a:rPr>
              <a:t>REFERENCES</a:t>
            </a:r>
            <a:r>
              <a:rPr lang="en-US" sz="2800" dirty="0">
                <a:latin typeface="Casper Bold" panose="02000806040000020004" pitchFamily="2" charset="0"/>
                <a:cs typeface="Arial" panose="020B0604020202020204" pitchFamily="34" charset="0"/>
              </a:rPr>
              <a:t> </a:t>
            </a:r>
            <a:r>
              <a:rPr lang="en-US" sz="2800" dirty="0"/>
              <a:t>  </a:t>
            </a:r>
            <a:endParaRPr lang="en-US" dirty="0"/>
          </a:p>
        </p:txBody>
      </p:sp>
      <p:sp>
        <p:nvSpPr>
          <p:cNvPr id="3" name="Content Placeholder 2"/>
          <p:cNvSpPr>
            <a:spLocks noGrp="1"/>
          </p:cNvSpPr>
          <p:nvPr>
            <p:ph idx="1"/>
          </p:nvPr>
        </p:nvSpPr>
        <p:spPr>
          <a:xfrm>
            <a:off x="840377" y="1276349"/>
            <a:ext cx="7162800" cy="5445125"/>
          </a:xfrm>
        </p:spPr>
        <p:txBody>
          <a:bodyPr>
            <a:normAutofit/>
          </a:bodyPr>
          <a:lstStyle/>
          <a:p>
            <a:pPr marL="0" lvl="0" indent="0">
              <a:buNone/>
            </a:pPr>
            <a:r>
              <a:rPr lang="en-US" b="1" dirty="0"/>
              <a:t>Reference Books</a:t>
            </a:r>
          </a:p>
          <a:p>
            <a:pPr>
              <a:buNone/>
            </a:pPr>
            <a:r>
              <a:rPr lang="en-US" sz="1600" dirty="0">
                <a:latin typeface="Times New Roman" pitchFamily="18" charset="0"/>
                <a:cs typeface="Times New Roman" pitchFamily="18" charset="0"/>
              </a:rPr>
              <a:t>[1] Programming in C by Reema </a:t>
            </a:r>
            <a:r>
              <a:rPr lang="en-US" sz="1600" dirty="0" err="1">
                <a:latin typeface="Times New Roman" pitchFamily="18" charset="0"/>
                <a:cs typeface="Times New Roman" pitchFamily="18" charset="0"/>
              </a:rPr>
              <a:t>Thareja</a:t>
            </a:r>
            <a:r>
              <a:rPr lang="en-US" sz="1600" dirty="0">
                <a:latin typeface="Times New Roman" pitchFamily="18" charset="0"/>
                <a:cs typeface="Times New Roman" pitchFamily="18" charset="0"/>
              </a:rPr>
              <a:t>.</a:t>
            </a:r>
          </a:p>
          <a:p>
            <a:pPr>
              <a:buNone/>
            </a:pPr>
            <a:r>
              <a:rPr lang="en-US" sz="1600" dirty="0">
                <a:latin typeface="Times New Roman" pitchFamily="18" charset="0"/>
                <a:cs typeface="Times New Roman" pitchFamily="18" charset="0"/>
              </a:rPr>
              <a:t>[2] Programming in ANSI C by E. </a:t>
            </a:r>
            <a:r>
              <a:rPr lang="en-US" sz="1600" dirty="0" err="1">
                <a:latin typeface="Times New Roman" pitchFamily="18" charset="0"/>
                <a:cs typeface="Times New Roman" pitchFamily="18" charset="0"/>
              </a:rPr>
              <a:t>Balaguruswamy</a:t>
            </a:r>
            <a:r>
              <a:rPr lang="en-US" sz="1600" dirty="0">
                <a:latin typeface="Times New Roman" pitchFamily="18" charset="0"/>
                <a:cs typeface="Times New Roman" pitchFamily="18" charset="0"/>
              </a:rPr>
              <a:t>, Tata McGraw Hill.</a:t>
            </a:r>
          </a:p>
          <a:p>
            <a:pPr>
              <a:buNone/>
            </a:pPr>
            <a:r>
              <a:rPr lang="en-US" sz="1600" dirty="0">
                <a:latin typeface="Times New Roman" pitchFamily="18" charset="0"/>
                <a:cs typeface="Times New Roman" pitchFamily="18" charset="0"/>
              </a:rPr>
              <a:t>[3] Programming with C (</a:t>
            </a:r>
            <a:r>
              <a:rPr lang="en-US" sz="1600" dirty="0" err="1">
                <a:latin typeface="Times New Roman" pitchFamily="18" charset="0"/>
                <a:cs typeface="Times New Roman" pitchFamily="18" charset="0"/>
              </a:rPr>
              <a:t>Schaum's</a:t>
            </a:r>
            <a:r>
              <a:rPr lang="en-US" sz="1600" dirty="0">
                <a:latin typeface="Times New Roman" pitchFamily="18" charset="0"/>
                <a:cs typeface="Times New Roman" pitchFamily="18" charset="0"/>
              </a:rPr>
              <a:t> Outline Series) by Byron Gottfried  Jitender Chhabra, Tata McGraw Hill.</a:t>
            </a:r>
          </a:p>
          <a:p>
            <a:pPr>
              <a:buNone/>
            </a:pPr>
            <a:r>
              <a:rPr lang="en-US" sz="1600" dirty="0">
                <a:latin typeface="Times New Roman" pitchFamily="18" charset="0"/>
                <a:cs typeface="Times New Roman" pitchFamily="18" charset="0"/>
              </a:rPr>
              <a:t>[4] The C Programming Language by Brian W. Kernighan, Dennis Ritchie, Pearson education.</a:t>
            </a:r>
          </a:p>
          <a:p>
            <a:pPr marL="0" indent="0">
              <a:buNone/>
            </a:pPr>
            <a:r>
              <a:rPr lang="en-IN" b="1" dirty="0"/>
              <a:t>Websites:</a:t>
            </a:r>
          </a:p>
          <a:p>
            <a:pPr marL="342900" indent="-342900">
              <a:buFont typeface="+mj-lt"/>
              <a:buAutoNum type="arabicPeriod"/>
            </a:pPr>
            <a:r>
              <a:rPr lang="en-IN" sz="1600" dirty="0">
                <a:hlinkClick r:id="rId3"/>
              </a:rPr>
              <a:t>https://www.geeksforgeeks.org/features-and-use-of-pointers-in-c-c/</a:t>
            </a:r>
            <a:endParaRPr lang="en-IN" sz="1600" dirty="0"/>
          </a:p>
          <a:p>
            <a:pPr marL="342900" indent="-342900">
              <a:buFont typeface="+mj-lt"/>
              <a:buAutoNum type="arabicPeriod"/>
            </a:pPr>
            <a:r>
              <a:rPr lang="en-IN" sz="1600" dirty="0">
                <a:hlinkClick r:id="rId4"/>
              </a:rPr>
              <a:t>https://www.guru99.com/c-pointers.html</a:t>
            </a:r>
            <a:endParaRPr lang="en-IN" sz="1600" dirty="0"/>
          </a:p>
          <a:p>
            <a:pPr marL="0" indent="0">
              <a:buNone/>
            </a:pPr>
            <a:r>
              <a:rPr lang="en-IN" sz="2600" b="1" dirty="0"/>
              <a:t>YouTube Links:</a:t>
            </a:r>
          </a:p>
          <a:p>
            <a:pPr marL="342900" indent="-342900">
              <a:buFont typeface="+mj-lt"/>
              <a:buAutoNum type="arabicPeriod"/>
            </a:pPr>
            <a:r>
              <a:rPr lang="en-IN" sz="1600" dirty="0">
                <a:hlinkClick r:id="rId5"/>
              </a:rPr>
              <a:t>https://www.youtube.com/watch?v=sY-s7O0FiYE&amp;t=3s</a:t>
            </a:r>
            <a:endParaRPr lang="en-IN" sz="2600" b="1" dirty="0"/>
          </a:p>
          <a:p>
            <a:pPr marL="342900" indent="-342900">
              <a:buFont typeface="+mj-lt"/>
              <a:buAutoNum type="arabicPeriod"/>
            </a:pPr>
            <a:r>
              <a:rPr lang="en-IN" sz="1600" dirty="0">
                <a:hlinkClick r:id="rId6"/>
              </a:rPr>
              <a:t>https://www.youtube.com/watch?v=qcWQ1AmmNWI&amp;t=193s</a:t>
            </a:r>
            <a:endParaRPr lang="en-IN" sz="2600"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dirty="0"/>
          </a:p>
        </p:txBody>
      </p:sp>
      <p:sp>
        <p:nvSpPr>
          <p:cNvPr id="5" name="Rectangle 4"/>
          <p:cNvSpPr/>
          <p:nvPr/>
        </p:nvSpPr>
        <p:spPr>
          <a:xfrm>
            <a:off x="838200" y="1803400"/>
            <a:ext cx="7162800" cy="43688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Related image"/>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999912" y="1666923"/>
            <a:ext cx="3352800" cy="3914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4259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062" name="CorelDRAW" r:id="rId4" imgW="2169000" imgH="2169360" progId="">
                    <p:embed/>
                  </p:oleObj>
                </mc:Choice>
                <mc:Fallback>
                  <p:oleObj name="CorelDRAW" r:id="rId4" imgW="2169000" imgH="2169360" progId="">
                    <p:embed/>
                    <p:pic>
                      <p:nvPicPr>
                        <p:cNvPr id="33" name="Object 32">
                          <a:extLst>
                            <a:ext uri="{FF2B5EF4-FFF2-40B4-BE49-F238E27FC236}">
                              <a16:creationId xmlns:a16="http://schemas.microsoft.com/office/drawing/2014/main" id="{CAD0D7B8-E462-453C-B296-CA0154FA54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43103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C0F5EB19-77B9-4540-B06A-F2C718D084BF"/>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001B.\u0018{C273B255-4E4C-4601-ABF8-D07FC645117E}&quot;,&quot;F:\\CU\\BlackBoard\\20CST111\\PPT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lecture 2 Algorithm"/>
  <p:tag name="ISPRING_FIRST_PUBLI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2132</TotalTime>
  <Words>1168</Words>
  <Application>Microsoft Office PowerPoint</Application>
  <PresentationFormat>Widescreen</PresentationFormat>
  <Paragraphs>188</Paragraphs>
  <Slides>18</Slides>
  <Notes>7</Notes>
  <HiddenSlides>0</HiddenSlides>
  <MMClips>0</MMClips>
  <ScaleCrop>false</ScaleCrop>
  <HeadingPairs>
    <vt:vector size="8" baseType="variant">
      <vt:variant>
        <vt:lpstr>Fonts Used</vt:lpstr>
      </vt:variant>
      <vt:variant>
        <vt:i4>12</vt:i4>
      </vt:variant>
      <vt:variant>
        <vt:lpstr>Theme</vt:lpstr>
      </vt:variant>
      <vt:variant>
        <vt:i4>2</vt:i4>
      </vt:variant>
      <vt:variant>
        <vt:lpstr>Embedded OLE Servers</vt:lpstr>
      </vt:variant>
      <vt:variant>
        <vt:i4>1</vt:i4>
      </vt:variant>
      <vt:variant>
        <vt:lpstr>Slide Titles</vt:lpstr>
      </vt:variant>
      <vt:variant>
        <vt:i4>18</vt:i4>
      </vt:variant>
    </vt:vector>
  </HeadingPairs>
  <TitlesOfParts>
    <vt:vector size="33" baseType="lpstr">
      <vt:lpstr>Arial</vt:lpstr>
      <vt:lpstr>Arial Black</vt:lpstr>
      <vt:lpstr>Arial Unicode MS</vt:lpstr>
      <vt:lpstr>Calibri</vt:lpstr>
      <vt:lpstr>Calibri Light</vt:lpstr>
      <vt:lpstr>Casper</vt:lpstr>
      <vt:lpstr>Casper Bold</vt:lpstr>
      <vt:lpstr>Karla</vt:lpstr>
      <vt:lpstr>Raleway ExtraBold</vt:lpstr>
      <vt:lpstr>Segoe UI</vt:lpstr>
      <vt:lpstr>Source Sans Pro</vt:lpstr>
      <vt:lpstr>Times New Roman</vt:lpstr>
      <vt:lpstr>1_Office Theme</vt:lpstr>
      <vt:lpstr>Contents Slide Master</vt:lpstr>
      <vt:lpstr>CorelDRAW</vt:lpstr>
      <vt:lpstr>PowerPoint Presentation</vt:lpstr>
      <vt:lpstr>Elementary Data Structure Using C++</vt:lpstr>
      <vt:lpstr>PowerPoint Presentation</vt:lpstr>
      <vt:lpstr> Scheme of Evaluation  </vt:lpstr>
      <vt:lpstr>Introduction </vt:lpstr>
      <vt:lpstr>Features of Pointers</vt:lpstr>
      <vt:lpstr>Declaring a pointer</vt:lpstr>
      <vt:lpstr>Initialize a pointer</vt:lpstr>
      <vt:lpstr>PowerPoint Presentation</vt:lpstr>
      <vt:lpstr>Operators used with Pointers</vt:lpstr>
      <vt:lpstr>Traversing array using pointer</vt:lpstr>
      <vt:lpstr>Types of a pointer</vt:lpstr>
      <vt:lpstr>PowerPoint Presentation</vt:lpstr>
      <vt:lpstr>PowerPoint Presentation</vt:lpstr>
      <vt:lpstr>Uses of pointers</vt:lpstr>
      <vt:lpstr>Disadvantages of pointer</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 Algorithm</dc:title>
  <dc:creator>Branding</dc:creator>
  <cp:lastModifiedBy>nishu</cp:lastModifiedBy>
  <cp:revision>245</cp:revision>
  <dcterms:created xsi:type="dcterms:W3CDTF">2019-01-09T10:33:58Z</dcterms:created>
  <dcterms:modified xsi:type="dcterms:W3CDTF">2024-03-05T04:44:31Z</dcterms:modified>
</cp:coreProperties>
</file>