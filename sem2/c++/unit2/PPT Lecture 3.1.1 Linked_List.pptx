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17"/>
  </p:notesMasterIdLst>
  <p:handoutMasterIdLst>
    <p:handoutMasterId r:id="rId18"/>
  </p:handoutMasterIdLst>
  <p:sldIdLst>
    <p:sldId id="277" r:id="rId3"/>
    <p:sldId id="295" r:id="rId4"/>
    <p:sldId id="293" r:id="rId5"/>
    <p:sldId id="294" r:id="rId6"/>
    <p:sldId id="281" r:id="rId7"/>
    <p:sldId id="285" r:id="rId8"/>
    <p:sldId id="287" r:id="rId9"/>
    <p:sldId id="286" r:id="rId10"/>
    <p:sldId id="288" r:id="rId11"/>
    <p:sldId id="289" r:id="rId12"/>
    <p:sldId id="290" r:id="rId13"/>
    <p:sldId id="291" r:id="rId14"/>
    <p:sldId id="284" r:id="rId15"/>
    <p:sldId id="27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15" autoAdjust="0"/>
    <p:restoredTop sz="94660"/>
  </p:normalViewPr>
  <p:slideViewPr>
    <p:cSldViewPr snapToGrid="0">
      <p:cViewPr varScale="1">
        <p:scale>
          <a:sx n="73" d="100"/>
          <a:sy n="73" d="100"/>
        </p:scale>
        <p:origin x="600"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1/10/2024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2120361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20611570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1929653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1/10/2024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data-structures/linked-list/" TargetMode="External"/><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hyperlink" Target="https://www.google.com/search?biw=1600&amp;bih=789&amp;tbm=isch&amp;sa=1&amp;ei=Ujn6XJKvFPLXz7sP6fCQgAk&amp;q=ARRAYS+VS+LINKLISTS&amp;oq=ARRAYS+VS+LINKLISTS&amp;gs_l=img.12...264094.264094..266665...0.0..0.148.148.0j1......0....2j1..gws-wiz-img.A9FVRjK-qiY" TargetMode="External"/><Relationship Id="rId2" Type="http://schemas.openxmlformats.org/officeDocument/2006/relationships/image" Target="../media/image15.jpe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geeksforgeeks.org/data-structures/linked-list/" TargetMode="External"/><Relationship Id="rId2" Type="http://schemas.openxmlformats.org/officeDocument/2006/relationships/hyperlink" Target="https://www.cs.cmu.edu/~adamchik/15-121/lectures/Linked%20Lists/linked%20lists.html" TargetMode="External"/><Relationship Id="rId1" Type="http://schemas.openxmlformats.org/officeDocument/2006/relationships/slideLayout" Target="../slideLayouts/slideLayout2.xml"/><Relationship Id="rId6" Type="http://schemas.openxmlformats.org/officeDocument/2006/relationships/hyperlink" Target="https://www.geeksforgeeks.org/reverse-a-linked-list/" TargetMode="External"/><Relationship Id="rId5" Type="http://schemas.openxmlformats.org/officeDocument/2006/relationships/hyperlink" Target="https://www.geeksforgeeks.org/merge-two-sorted-lists-place/" TargetMode="External"/><Relationship Id="rId4" Type="http://schemas.openxmlformats.org/officeDocument/2006/relationships/hyperlink" Target="https://www.tutorialspoint.com/data_structures_algorithms/linked_list_algorithms.htm" TargetMode="Externa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8241" name="CorelDRAW" r:id="rId3" imgW="2169000" imgH="2169360" progId="">
                  <p:embed/>
                </p:oleObj>
              </mc:Choice>
              <mc:Fallback>
                <p:oleObj name="CorelDRAW" r:id="rId3" imgW="2169000" imgH="2169360" progId="">
                  <p:embed/>
                  <p:pic>
                    <p:nvPicPr>
                      <p:cNvPr id="0" name="Picture 46"/>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59213" y="6014156"/>
            <a:ext cx="64320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smtClean="0">
                <a:solidFill>
                  <a:prstClr val="black">
                    <a:lumMod val="85000"/>
                    <a:lumOff val="15000"/>
                  </a:prstClr>
                </a:solidFill>
                <a:latin typeface="Times New Roman" pitchFamily="18" charset="0"/>
                <a:cs typeface="Times New Roman" pitchFamily="18" charset="0"/>
              </a:rPr>
              <a:t>LINKED LIST </a:t>
            </a:r>
            <a:endParaRPr lang="en-US" sz="2400" b="1" dirty="0">
              <a:solidFill>
                <a:prstClr val="black">
                  <a:lumMod val="85000"/>
                  <a:lumOff val="15000"/>
                </a:prstClr>
              </a:solidFill>
              <a:latin typeface="Times New Roman" pitchFamily="18" charset="0"/>
              <a:cs typeface="Times New Roman" pitchFamily="18" charset="0"/>
            </a:endParaRPr>
          </a:p>
        </p:txBody>
      </p:sp>
      <p:sp>
        <p:nvSpPr>
          <p:cNvPr id="2" name="TextBox 1"/>
          <p:cNvSpPr txBox="1"/>
          <p:nvPr/>
        </p:nvSpPr>
        <p:spPr>
          <a:xfrm>
            <a:off x="3871857" y="6296559"/>
            <a:ext cx="1830785" cy="369332"/>
          </a:xfrm>
          <a:prstGeom prst="rect">
            <a:avLst/>
          </a:prstGeom>
          <a:noFill/>
        </p:spPr>
        <p:txBody>
          <a:bodyPr wrap="square" rtlCol="0">
            <a:spAutoFit/>
          </a:bodyPr>
          <a:lstStyle/>
          <a:p>
            <a:r>
              <a:rPr lang="en-US" dirty="0" smtClean="0"/>
              <a:t> </a:t>
            </a:r>
            <a:endParaRPr lang="en-US" dirty="0"/>
          </a:p>
        </p:txBody>
      </p:sp>
      <p:sp>
        <p:nvSpPr>
          <p:cNvPr id="16" name="TextBox 15">
            <a:extLst>
              <a:ext uri="{FF2B5EF4-FFF2-40B4-BE49-F238E27FC236}">
                <a16:creationId xmlns:a16="http://schemas.microsoft.com/office/drawing/2014/main" id="{0329CE43-2B94-49D3-9948-A297B0FB52BF}"/>
              </a:ext>
            </a:extLst>
          </p:cNvPr>
          <p:cNvSpPr txBox="1">
            <a:spLocks noChangeArrowheads="1"/>
          </p:cNvSpPr>
          <p:nvPr/>
        </p:nvSpPr>
        <p:spPr bwMode="auto">
          <a:xfrm>
            <a:off x="914391" y="1476983"/>
            <a:ext cx="9884238" cy="332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UNITS</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a:t>
            </a:r>
            <a:r>
              <a:rPr lang="en-US" sz="2800">
                <a:latin typeface="Times New Roman" panose="02020603050405020304" pitchFamily="18" charset="0"/>
                <a:ea typeface="Calibri" panose="020F0502020204030204" pitchFamily="34" charset="0"/>
                <a:cs typeface="Times New Roman" panose="02020603050405020304" pitchFamily="18" charset="0"/>
              </a:rPr>
              <a:t>: Elementary </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Data Structure Using </a:t>
            </a:r>
            <a:r>
              <a:rPr lang="en-US" sz="2800" dirty="0">
                <a:latin typeface="Times New Roman" panose="02020603050405020304" pitchFamily="18" charset="0"/>
                <a:ea typeface="Calibri" panose="020F0502020204030204" pitchFamily="34" charset="0"/>
                <a:cs typeface="Times New Roman" panose="02020603050405020304" pitchFamily="18" charset="0"/>
              </a:rPr>
              <a:t>C++</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Code:23CSH-103</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pPr>
            <a:r>
              <a:rPr lang="en-US" sz="2800" dirty="0">
                <a:latin typeface="Times New Roman" panose="02020603050405020304" pitchFamily="18" charset="0"/>
                <a:ea typeface="Calibri" panose="020F0502020204030204" pitchFamily="34" charset="0"/>
                <a:cs typeface="Times New Roman" panose="02020603050405020304" pitchFamily="18" charset="0"/>
              </a:rPr>
              <a:t>							</a:t>
            </a: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1645920"/>
          </a:xfrm>
        </p:spPr>
        <p:txBody>
          <a:bodyPr>
            <a:normAutofit/>
          </a:bodyPr>
          <a:lstStyle/>
          <a:p>
            <a:pPr algn="ctr"/>
            <a:r>
              <a:rPr lang="en-US" b="1" dirty="0">
                <a:latin typeface="+mn-lt"/>
              </a:rPr>
              <a:t>Elementary</a:t>
            </a:r>
            <a:r>
              <a:rPr lang="en-IN" b="1" dirty="0" smtClean="0">
                <a:latin typeface="+mn-lt"/>
              </a:rPr>
              <a:t> </a:t>
            </a:r>
            <a:r>
              <a:rPr lang="en-IN" b="1" dirty="0">
                <a:latin typeface="+mn-lt"/>
              </a:rPr>
              <a:t>Data Structure Using C++</a:t>
            </a:r>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600075" y="2136775"/>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graphicFrame>
        <p:nvGraphicFramePr>
          <p:cNvPr id="6" name="Table 5"/>
          <p:cNvGraphicFramePr>
            <a:graphicFrameLocks noGrp="1"/>
          </p:cNvGraphicFramePr>
          <p:nvPr/>
        </p:nvGraphicFramePr>
        <p:xfrm>
          <a:off x="248648" y="2630329"/>
          <a:ext cx="5459821" cy="3783474"/>
        </p:xfrm>
        <a:graphic>
          <a:graphicData uri="http://schemas.openxmlformats.org/drawingml/2006/table">
            <a:tbl>
              <a:tblPr firstRow="1" firstCol="1" bandRow="1">
                <a:tableStyleId>{5C22544A-7EE6-4342-B048-85BDC9FD1C3A}</a:tableStyleId>
              </a:tblPr>
              <a:tblGrid>
                <a:gridCol w="5459821">
                  <a:extLst>
                    <a:ext uri="{9D8B030D-6E8A-4147-A177-3AD203B41FA5}">
                      <a16:colId xmlns:a16="http://schemas.microsoft.com/office/drawing/2014/main" val="98381966"/>
                    </a:ext>
                  </a:extLst>
                </a:gridCol>
              </a:tblGrid>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enable the students to understand various stages and constructs of C++ programming language. </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697720509"/>
                  </a:ext>
                </a:extLst>
              </a:tr>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improve their ability to analyze and address variety of problems in C++.</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209109202"/>
                  </a:ext>
                </a:extLst>
              </a:tr>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understand the concept of data structures and various operations on them.</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991538032"/>
                  </a:ext>
                </a:extLst>
              </a:tr>
              <a:tr h="961675">
                <a:tc>
                  <a:txBody>
                    <a:bodyPr/>
                    <a:lstStyle/>
                    <a:p>
                      <a:pPr marL="285750" indent="-285750" algn="just">
                        <a:lnSpc>
                          <a:spcPct val="97000"/>
                        </a:lnSpc>
                        <a:spcBef>
                          <a:spcPts val="420"/>
                        </a:spcBef>
                        <a:spcAft>
                          <a:spcPts val="0"/>
                        </a:spcAft>
                        <a:buFont typeface="Arial" panose="020B0604020202020204" pitchFamily="34" charset="0"/>
                        <a:buChar char="•"/>
                        <a:tabLst>
                          <a:tab pos="457200" algn="l"/>
                        </a:tabLst>
                      </a:pPr>
                      <a:r>
                        <a:rPr lang="en-US" sz="1800" dirty="0">
                          <a:solidFill>
                            <a:schemeClr val="tx1"/>
                          </a:solidFill>
                          <a:effectLst/>
                          <a:latin typeface="+mj-lt"/>
                        </a:rPr>
                        <a:t>To understand the properties of various data structures and able to identify the strengths and weaknesses of different data structures.</a:t>
                      </a:r>
                      <a:endParaRPr lang="en-IN" sz="1800" dirty="0">
                        <a:solidFill>
                          <a:schemeClr val="tx1"/>
                        </a:solidFill>
                        <a:effectLst/>
                        <a:latin typeface="+mj-lt"/>
                      </a:endParaRPr>
                    </a:p>
                  </a:txBody>
                  <a:tcPr marL="68580" marR="68580" marT="0" marB="0">
                    <a:solidFill>
                      <a:schemeClr val="accent1">
                        <a:lumMod val="40000"/>
                        <a:lumOff val="60000"/>
                      </a:schemeClr>
                    </a:solidFill>
                  </a:tcPr>
                </a:tc>
                <a:extLst>
                  <a:ext uri="{0D108BD9-81ED-4DB2-BD59-A6C34878D82A}">
                    <a16:rowId xmlns:a16="http://schemas.microsoft.com/office/drawing/2014/main" val="1306193080"/>
                  </a:ext>
                </a:extLst>
              </a:tr>
              <a:tr h="1060817">
                <a:tc>
                  <a:txBody>
                    <a:bodyPr/>
                    <a:lstStyle/>
                    <a:p>
                      <a:pPr marL="285750" indent="-285750">
                        <a:lnSpc>
                          <a:spcPct val="107000"/>
                        </a:lnSpc>
                        <a:spcAft>
                          <a:spcPts val="0"/>
                        </a:spcAft>
                        <a:buFont typeface="Arial" panose="020B0604020202020204" pitchFamily="34" charset="0"/>
                        <a:buChar char="•"/>
                      </a:pPr>
                      <a:r>
                        <a:rPr lang="en-US" sz="1800" dirty="0">
                          <a:solidFill>
                            <a:schemeClr val="tx1"/>
                          </a:solidFill>
                          <a:effectLst/>
                          <a:latin typeface="+mj-lt"/>
                        </a:rPr>
                        <a:t>To analyze and compare the efficiency of algorithms and learn to design efficient algorithms for solving computing problems</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572423643"/>
                  </a:ext>
                </a:extLst>
              </a:tr>
            </a:tbl>
          </a:graphicData>
        </a:graphic>
      </p:graphicFrame>
    </p:spTree>
    <p:extLst>
      <p:ext uri="{BB962C8B-B14F-4D97-AF65-F5344CB8AC3E}">
        <p14:creationId xmlns:p14="http://schemas.microsoft.com/office/powerpoint/2010/main" val="4007229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326692"/>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 Number</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mn-ea"/>
                          <a:cs typeface="Times New Roman" panose="02020603050405020304" pitchFamily="18" charset="0"/>
                        </a:rPr>
                        <a:t>Course</a:t>
                      </a:r>
                      <a:r>
                        <a:rPr lang="en-US" sz="1800" b="1" baseline="0" dirty="0" smtClean="0">
                          <a:solidFill>
                            <a:schemeClr val="tx1"/>
                          </a:solidFill>
                          <a:effectLst/>
                          <a:latin typeface="Times New Roman" panose="02020603050405020304" pitchFamily="18" charset="0"/>
                          <a:ea typeface="+mn-ea"/>
                          <a:cs typeface="Times New Roman" panose="02020603050405020304" pitchFamily="18" charset="0"/>
                        </a:rPr>
                        <a:t> Outcome</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CO1</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Understand the concepts of object-oriented programming including programming process and compilation process.</a:t>
                      </a: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CO2</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Apply different techniques to decompose a problem and programmed a solution with various concepts of object-oriented programming language. </a:t>
                      </a: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CO3</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Analyse and explain the behaviour of linear data structure operations using the programming addressed in the course.</a:t>
                      </a: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CO4</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Implement and evaluate the programs using the syntax and semantics of object-oriented programming.</a:t>
                      </a: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31115"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Design the solution of real-world problems in order to determine that the program performs as expected.</a:t>
                      </a: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684092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36607252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r>
              <a:rPr lang="en-US" sz="2400" dirty="0" smtClean="0"/>
              <a:t>A linked list is a linear data structure, in which the elements are not stored at contiguous memory locations. </a:t>
            </a:r>
            <a:endParaRPr lang="en-US" sz="2400" dirty="0" smtClean="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839787" y="3955256"/>
            <a:ext cx="3932237" cy="2045494"/>
          </a:xfrm>
        </p:spPr>
        <p:txBody>
          <a:bodyPr>
            <a:normAutofit/>
          </a:bodyPr>
          <a:lstStyle/>
          <a:p>
            <a:r>
              <a:rPr lang="en-US" dirty="0" smtClean="0"/>
              <a:t>A rundown executed by every thing having a connection to the following thing. </a:t>
            </a:r>
          </a:p>
          <a:p>
            <a:r>
              <a:rPr lang="en-US" dirty="0" smtClean="0"/>
              <a:t>Every hub comprises of its own information and the location of the following hub and structures a chain. </a:t>
            </a:r>
          </a:p>
          <a:p>
            <a:r>
              <a:rPr lang="en-US" dirty="0" smtClean="0"/>
              <a:t>Connected Lists are utilized to make trees and charts.</a:t>
            </a:r>
            <a:endParaRPr lang="en-US"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5</a:t>
            </a:fld>
            <a:endParaRPr lang="en-US" dirty="0"/>
          </a:p>
        </p:txBody>
      </p:sp>
      <p:sp>
        <p:nvSpPr>
          <p:cNvPr id="8" name="Title 7"/>
          <p:cNvSpPr txBox="1">
            <a:spLocks noGrp="1" noChangeArrowheads="1"/>
          </p:cNvSpPr>
          <p:nvPr>
            <p:ph type="title"/>
          </p:nvPr>
        </p:nvSpPr>
        <p:spPr bwMode="auto">
          <a:xfrm>
            <a:off x="449262" y="1734466"/>
            <a:ext cx="4456567" cy="718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sz="4400" b="1" dirty="0" smtClean="0">
                <a:latin typeface="Casper Bold"/>
              </a:rPr>
              <a:t>Link List</a:t>
            </a:r>
            <a:endParaRPr lang="en-US" sz="4400" b="1" dirty="0">
              <a:latin typeface="Casper Bold"/>
            </a:endParaRPr>
          </a:p>
        </p:txBody>
      </p:sp>
      <p:sp>
        <p:nvSpPr>
          <p:cNvPr id="2" name="Rectangle 1"/>
          <p:cNvSpPr/>
          <p:nvPr/>
        </p:nvSpPr>
        <p:spPr>
          <a:xfrm>
            <a:off x="5295900" y="838200"/>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49262" y="3835400"/>
            <a:ext cx="4322762" cy="2520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034" name="Picture 2" descr="Image result for Link Lists in computer science"/>
          <p:cNvPicPr>
            <a:picLocks noChangeAspect="1" noChangeArrowheads="1"/>
          </p:cNvPicPr>
          <p:nvPr/>
        </p:nvPicPr>
        <p:blipFill>
          <a:blip r:embed="rId2"/>
          <a:srcRect/>
          <a:stretch>
            <a:fillRect/>
          </a:stretch>
        </p:blipFill>
        <p:spPr bwMode="auto">
          <a:xfrm>
            <a:off x="5948856" y="2687966"/>
            <a:ext cx="4561489" cy="1609726"/>
          </a:xfrm>
          <a:prstGeom prst="rect">
            <a:avLst/>
          </a:prstGeom>
          <a:noFill/>
        </p:spPr>
      </p:pic>
      <p:sp>
        <p:nvSpPr>
          <p:cNvPr id="11" name="Rectangle 10"/>
          <p:cNvSpPr/>
          <p:nvPr/>
        </p:nvSpPr>
        <p:spPr>
          <a:xfrm>
            <a:off x="5324205" y="4652720"/>
            <a:ext cx="5747727" cy="369332"/>
          </a:xfrm>
          <a:prstGeom prst="rect">
            <a:avLst/>
          </a:prstGeom>
        </p:spPr>
        <p:txBody>
          <a:bodyPr wrap="none">
            <a:spAutoFit/>
          </a:bodyPr>
          <a:lstStyle/>
          <a:p>
            <a:r>
              <a:rPr lang="en-US" dirty="0" smtClean="0">
                <a:hlinkClick r:id="rId3"/>
              </a:rPr>
              <a:t>https://www.geeksforgeeks.org/data-structures/linked-list/</a:t>
            </a:r>
            <a:endParaRPr lang="en-US" dirty="0">
              <a:latin typeface="Casper" panose="02000506000000020004" pitchFamily="2" charset="0"/>
              <a:cs typeface="Arial" panose="020B0604020202020204" pitchFamily="34" charset="0"/>
            </a:endParaRPr>
          </a:p>
        </p:txBody>
      </p:sp>
    </p:spTree>
    <p:extLst>
      <p:ext uri="{BB962C8B-B14F-4D97-AF65-F5344CB8AC3E}">
        <p14:creationId xmlns:p14="http://schemas.microsoft.com/office/powerpoint/2010/main" val="6938015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23338" y="765941"/>
            <a:ext cx="6170885" cy="4873625"/>
          </a:xfrm>
        </p:spPr>
        <p:txBody>
          <a:bodyPr>
            <a:normAutofit/>
          </a:bodyPr>
          <a:lstStyle/>
          <a:p>
            <a:r>
              <a:rPr lang="en-US" sz="2400" dirty="0" smtClean="0"/>
              <a:t>Arrays and Linked Lists both are direct information structures, yet the two of them have a few points of interest and drawbacks over one another. </a:t>
            </a:r>
          </a:p>
          <a:p>
            <a:pPr>
              <a:buNone/>
            </a:pPr>
            <a:r>
              <a:rPr lang="en-US" sz="2400" dirty="0" smtClean="0"/>
              <a:t> </a:t>
            </a:r>
            <a:endParaRPr lang="en-US" sz="2400" dirty="0" smtClean="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577029" y="3114428"/>
            <a:ext cx="3932237" cy="2045494"/>
          </a:xfrm>
        </p:spPr>
        <p:txBody>
          <a:bodyPr>
            <a:normAutofit/>
          </a:bodyPr>
          <a:lstStyle/>
          <a:p>
            <a:r>
              <a:rPr lang="en-US" dirty="0" smtClean="0"/>
              <a:t>A rundown executed by every thing having a connection to the following thing. </a:t>
            </a:r>
          </a:p>
          <a:p>
            <a:r>
              <a:rPr lang="en-US" dirty="0" smtClean="0"/>
              <a:t>Every hub comprises of its own information and the location of the following hub and structures a chain. </a:t>
            </a:r>
          </a:p>
          <a:p>
            <a:r>
              <a:rPr lang="en-US" dirty="0" smtClean="0"/>
              <a:t>Connected Lists are utilized to make trees and charts.</a:t>
            </a:r>
            <a:endParaRPr lang="en-US"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6</a:t>
            </a:fld>
            <a:endParaRPr lang="en-US" dirty="0"/>
          </a:p>
        </p:txBody>
      </p:sp>
      <p:sp>
        <p:nvSpPr>
          <p:cNvPr id="8" name="Title 7"/>
          <p:cNvSpPr txBox="1">
            <a:spLocks noGrp="1" noChangeArrowheads="1"/>
          </p:cNvSpPr>
          <p:nvPr>
            <p:ph type="title"/>
          </p:nvPr>
        </p:nvSpPr>
        <p:spPr bwMode="auto">
          <a:xfrm>
            <a:off x="325821" y="1313794"/>
            <a:ext cx="5118537" cy="718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sz="4400" b="1" dirty="0" smtClean="0">
                <a:latin typeface="Casper Bold"/>
              </a:rPr>
              <a:t>ARRAYS VS LINK LISTS</a:t>
            </a:r>
            <a:endParaRPr lang="en-US" sz="4400" dirty="0">
              <a:latin typeface="Casper Bold"/>
            </a:endParaRPr>
          </a:p>
        </p:txBody>
      </p:sp>
      <p:sp>
        <p:nvSpPr>
          <p:cNvPr id="2" name="Rectangle 1"/>
          <p:cNvSpPr/>
          <p:nvPr/>
        </p:nvSpPr>
        <p:spPr>
          <a:xfrm>
            <a:off x="5171090" y="691055"/>
            <a:ext cx="6433645"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28241" y="2942020"/>
            <a:ext cx="4322762" cy="2520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154" name="Picture 2" descr="Image result for ARRAYS VS LINKED LISTS"/>
          <p:cNvPicPr>
            <a:picLocks noChangeAspect="1" noChangeArrowheads="1"/>
          </p:cNvPicPr>
          <p:nvPr/>
        </p:nvPicPr>
        <p:blipFill>
          <a:blip r:embed="rId2"/>
          <a:srcRect/>
          <a:stretch>
            <a:fillRect/>
          </a:stretch>
        </p:blipFill>
        <p:spPr bwMode="auto">
          <a:xfrm>
            <a:off x="5517931" y="2275544"/>
            <a:ext cx="5791200" cy="2440880"/>
          </a:xfrm>
          <a:prstGeom prst="rect">
            <a:avLst/>
          </a:prstGeom>
          <a:noFill/>
        </p:spPr>
      </p:pic>
      <p:sp>
        <p:nvSpPr>
          <p:cNvPr id="12" name="Rectangle 11"/>
          <p:cNvSpPr/>
          <p:nvPr/>
        </p:nvSpPr>
        <p:spPr>
          <a:xfrm>
            <a:off x="5349766" y="4813738"/>
            <a:ext cx="6232634" cy="1477328"/>
          </a:xfrm>
          <a:prstGeom prst="rect">
            <a:avLst/>
          </a:prstGeom>
        </p:spPr>
        <p:txBody>
          <a:bodyPr wrap="square">
            <a:spAutoFit/>
          </a:bodyPr>
          <a:lstStyle/>
          <a:p>
            <a:r>
              <a:rPr lang="en-US" dirty="0" smtClean="0">
                <a:hlinkClick r:id="rId3"/>
              </a:rPr>
              <a:t>https://www.google.com/search?biw=1600&amp;bih=789&amp;tbm=isch&amp;sa=1&amp;ei=Ujn6XJKvFPLXz7sP6fCQgAk&amp;q=ARRAYS+VS+LINKLISTS&amp;oq=ARRAYS+VS+LINKLISTS&amp;gs_l=img.12...264094.264094..266665...0.0..0.148.148.0j1......0....2j1..gws-wiz-img.A9FVRjK-qiY#imgrc=t1853XlC8zYF9M:</a:t>
            </a:r>
            <a:endParaRPr lang="en-US" dirty="0"/>
          </a:p>
        </p:txBody>
      </p:sp>
    </p:spTree>
    <p:extLst>
      <p:ext uri="{BB962C8B-B14F-4D97-AF65-F5344CB8AC3E}">
        <p14:creationId xmlns:p14="http://schemas.microsoft.com/office/powerpoint/2010/main" val="6938015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fontScale="90000"/>
          </a:bodyPr>
          <a:lstStyle/>
          <a:p>
            <a:r>
              <a:rPr lang="en-US" sz="4900" b="1" dirty="0" smtClean="0">
                <a:latin typeface="Casper Bold"/>
              </a:rPr>
              <a:t>INSERTING AT BEGINNING OF THE LIST</a:t>
            </a:r>
            <a:r>
              <a:rPr lang="en-US" dirty="0" smtClean="0">
                <a:latin typeface="Casper Bold"/>
              </a:rPr>
              <a:t/>
            </a:r>
            <a:br>
              <a:rPr lang="en-US" dirty="0" smtClean="0">
                <a:latin typeface="Casper Bold"/>
              </a:rPr>
            </a:br>
            <a:endParaRPr lang="en-US" dirty="0"/>
          </a:p>
        </p:txBody>
      </p:sp>
      <p:sp>
        <p:nvSpPr>
          <p:cNvPr id="3" name="Content Placeholder 2"/>
          <p:cNvSpPr>
            <a:spLocks noGrp="1"/>
          </p:cNvSpPr>
          <p:nvPr>
            <p:ph idx="1"/>
          </p:nvPr>
        </p:nvSpPr>
        <p:spPr/>
        <p:txBody>
          <a:bodyPr>
            <a:normAutofit/>
          </a:bodyPr>
          <a:lstStyle/>
          <a:p>
            <a:pPr>
              <a:buNone/>
            </a:pPr>
            <a:r>
              <a:rPr lang="en-US" sz="1600" dirty="0" smtClean="0"/>
              <a:t>Lets START is the pointer  having the initial position in linked list.</a:t>
            </a:r>
          </a:p>
          <a:p>
            <a:pPr>
              <a:buNone/>
            </a:pPr>
            <a:r>
              <a:rPr lang="en-US" sz="1600" dirty="0" smtClean="0"/>
              <a:t> Let data be the element to be inserted in the new node. </a:t>
            </a:r>
          </a:p>
          <a:p>
            <a:pPr>
              <a:buNone/>
            </a:pPr>
            <a:r>
              <a:rPr lang="en-US" sz="1600" dirty="0" smtClean="0"/>
              <a:t> POS is the mark where the new node is to be inserted. </a:t>
            </a:r>
          </a:p>
          <a:p>
            <a:pPr>
              <a:buNone/>
            </a:pPr>
            <a:r>
              <a:rPr lang="en-US" sz="1600" dirty="0" smtClean="0"/>
              <a:t>TEMP is a temporary pointer to hold the  node address.</a:t>
            </a:r>
          </a:p>
          <a:p>
            <a:pPr>
              <a:buNone/>
            </a:pPr>
            <a:r>
              <a:rPr lang="en-US" sz="1600" dirty="0" smtClean="0"/>
              <a:t>1. Input data</a:t>
            </a:r>
          </a:p>
          <a:p>
            <a:pPr>
              <a:buNone/>
            </a:pPr>
            <a:r>
              <a:rPr lang="en-US" sz="1600" dirty="0" smtClean="0"/>
              <a:t> 2. Develop a New Node </a:t>
            </a:r>
          </a:p>
          <a:p>
            <a:pPr>
              <a:buNone/>
            </a:pPr>
            <a:r>
              <a:rPr lang="en-US" sz="1600" dirty="0" smtClean="0"/>
              <a:t>3. New Node → DATA = data</a:t>
            </a:r>
          </a:p>
          <a:p>
            <a:pPr>
              <a:buNone/>
            </a:pPr>
            <a:r>
              <a:rPr lang="en-US" sz="1600" dirty="0" smtClean="0"/>
              <a:t>4. New Node → Next = NULL </a:t>
            </a:r>
          </a:p>
          <a:p>
            <a:pPr>
              <a:buNone/>
            </a:pPr>
            <a:r>
              <a:rPr lang="en-US" sz="1600" dirty="0" smtClean="0"/>
              <a:t>5. If (START equal to NULL) </a:t>
            </a:r>
          </a:p>
          <a:p>
            <a:pPr>
              <a:buNone/>
            </a:pPr>
            <a:r>
              <a:rPr lang="en-US" sz="1600" dirty="0" smtClean="0"/>
              <a:t>             then  START = New Node</a:t>
            </a:r>
            <a:r>
              <a:rPr lang="en-US" sz="1600" dirty="0" smtClean="0">
                <a:latin typeface="Casper" panose="02000506000000020004" pitchFamily="2" charset="0"/>
                <a:cs typeface="Arial" panose="020B0604020202020204" pitchFamily="34" charset="0"/>
              </a:rPr>
              <a:t>.</a:t>
            </a: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smtClean="0">
                <a:latin typeface="Casper Bold"/>
              </a:rPr>
              <a:t>INSERT A NODE AT THE END</a:t>
            </a:r>
            <a:endParaRPr lang="en-US" dirty="0"/>
          </a:p>
        </p:txBody>
      </p:sp>
      <p:sp>
        <p:nvSpPr>
          <p:cNvPr id="3" name="Content Placeholder 2"/>
          <p:cNvSpPr>
            <a:spLocks noGrp="1"/>
          </p:cNvSpPr>
          <p:nvPr>
            <p:ph idx="1"/>
          </p:nvPr>
        </p:nvSpPr>
        <p:spPr/>
        <p:txBody>
          <a:bodyPr>
            <a:normAutofit lnSpcReduction="10000"/>
          </a:bodyPr>
          <a:lstStyle/>
          <a:p>
            <a:pPr>
              <a:buNone/>
            </a:pPr>
            <a:r>
              <a:rPr lang="en-US" sz="1600" dirty="0" smtClean="0"/>
              <a:t>Begin</a:t>
            </a:r>
          </a:p>
          <a:p>
            <a:pPr>
              <a:buNone/>
            </a:pPr>
            <a:r>
              <a:rPr lang="en-US" sz="1600" dirty="0" smtClean="0"/>
              <a:t> 1. Input DATA</a:t>
            </a:r>
          </a:p>
          <a:p>
            <a:pPr>
              <a:buNone/>
            </a:pPr>
            <a:r>
              <a:rPr lang="en-US" sz="1600" dirty="0" smtClean="0"/>
              <a:t>2. develop a New Node </a:t>
            </a:r>
          </a:p>
          <a:p>
            <a:pPr>
              <a:buNone/>
            </a:pPr>
            <a:r>
              <a:rPr lang="en-US" sz="1600" dirty="0" smtClean="0"/>
              <a:t>3. New Node → DATA = DATA</a:t>
            </a:r>
          </a:p>
          <a:p>
            <a:pPr>
              <a:buNone/>
            </a:pPr>
            <a:r>
              <a:rPr lang="en-US" sz="1600" dirty="0" smtClean="0"/>
              <a:t> 4. New Node → Next = NULL</a:t>
            </a:r>
          </a:p>
          <a:p>
            <a:pPr>
              <a:buNone/>
            </a:pPr>
            <a:r>
              <a:rPr lang="en-US" sz="1600" dirty="0" smtClean="0"/>
              <a:t> 5. If (START equal to NULL) </a:t>
            </a:r>
          </a:p>
          <a:p>
            <a:pPr>
              <a:buNone/>
            </a:pPr>
            <a:r>
              <a:rPr lang="en-US" sz="1600" dirty="0" smtClean="0"/>
              <a:t>            (a) START = New Node</a:t>
            </a:r>
          </a:p>
          <a:p>
            <a:pPr>
              <a:buNone/>
            </a:pPr>
            <a:r>
              <a:rPr lang="en-US" sz="1600" dirty="0" smtClean="0"/>
              <a:t> 6. Else</a:t>
            </a:r>
          </a:p>
          <a:p>
            <a:pPr>
              <a:buNone/>
            </a:pPr>
            <a:r>
              <a:rPr lang="en-US" sz="1600" dirty="0" smtClean="0"/>
              <a:t>            (a) TEMP = START</a:t>
            </a:r>
          </a:p>
          <a:p>
            <a:pPr>
              <a:buNone/>
            </a:pPr>
            <a:r>
              <a:rPr lang="en-US" sz="1600" dirty="0" smtClean="0"/>
              <a:t>            (b) While (TEMP → Next not equal to NULL)</a:t>
            </a:r>
          </a:p>
          <a:p>
            <a:pPr>
              <a:buNone/>
            </a:pPr>
            <a:r>
              <a:rPr lang="en-US" sz="1600" dirty="0" smtClean="0"/>
              <a:t>                              (</a:t>
            </a:r>
            <a:r>
              <a:rPr lang="en-US" sz="1600" dirty="0" err="1" smtClean="0"/>
              <a:t>i</a:t>
            </a:r>
            <a:r>
              <a:rPr lang="en-US" sz="1600" dirty="0" smtClean="0"/>
              <a:t>) TEMP = TEMP → Next</a:t>
            </a:r>
          </a:p>
          <a:p>
            <a:pPr>
              <a:buNone/>
            </a:pPr>
            <a:r>
              <a:rPr lang="en-US" sz="1600" dirty="0" smtClean="0"/>
              <a:t> 7. TEMP → Next = New Node </a:t>
            </a:r>
          </a:p>
          <a:p>
            <a:pPr>
              <a:buNone/>
            </a:pPr>
            <a:r>
              <a:rPr lang="en-US" sz="1600" dirty="0" smtClean="0"/>
              <a:t>         Exit </a:t>
            </a:r>
            <a:endParaRPr lang="en-US" sz="1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fontScale="90000"/>
          </a:bodyPr>
          <a:lstStyle/>
          <a:p>
            <a:r>
              <a:rPr lang="en-US" sz="4900" b="1" dirty="0" smtClean="0">
                <a:latin typeface="Casper Bold"/>
              </a:rPr>
              <a:t>DELETION</a:t>
            </a:r>
            <a:r>
              <a:rPr lang="en-US" dirty="0" smtClean="0">
                <a:latin typeface="Casper Bold"/>
              </a:rPr>
              <a:t/>
            </a:r>
            <a:br>
              <a:rPr lang="en-US" dirty="0" smtClean="0">
                <a:latin typeface="Casper Bold"/>
              </a:rPr>
            </a:br>
            <a:r>
              <a:rPr lang="en-US" dirty="0" smtClean="0">
                <a:latin typeface="Casper Bold"/>
              </a:rPr>
              <a:t/>
            </a:r>
            <a:br>
              <a:rPr lang="en-US" dirty="0" smtClean="0">
                <a:latin typeface="Casper Bold"/>
              </a:rPr>
            </a:br>
            <a:endParaRPr lang="en-US" dirty="0"/>
          </a:p>
        </p:txBody>
      </p:sp>
      <p:sp>
        <p:nvSpPr>
          <p:cNvPr id="3" name="Content Placeholder 2"/>
          <p:cNvSpPr>
            <a:spLocks noGrp="1"/>
          </p:cNvSpPr>
          <p:nvPr>
            <p:ph idx="1"/>
          </p:nvPr>
        </p:nvSpPr>
        <p:spPr/>
        <p:txBody>
          <a:bodyPr>
            <a:normAutofit/>
          </a:bodyPr>
          <a:lstStyle/>
          <a:p>
            <a:r>
              <a:rPr lang="en-US" sz="1600" dirty="0" smtClean="0"/>
              <a:t>In order to delete  FIRST node from linked list we have to consider three possibilities: </a:t>
            </a:r>
          </a:p>
          <a:p>
            <a:pPr>
              <a:buNone/>
            </a:pPr>
            <a:r>
              <a:rPr lang="en-US" sz="1600" dirty="0" smtClean="0"/>
              <a:t/>
            </a:r>
            <a:br>
              <a:rPr lang="en-US" sz="1600" dirty="0" smtClean="0"/>
            </a:br>
            <a:r>
              <a:rPr lang="en-US" sz="1600" b="1" dirty="0" smtClean="0"/>
              <a:t>(1)</a:t>
            </a:r>
            <a:r>
              <a:rPr lang="en-US" sz="1600" dirty="0" smtClean="0"/>
              <a:t> </a:t>
            </a:r>
            <a:r>
              <a:rPr lang="en-US" sz="1600" b="1" dirty="0" smtClean="0"/>
              <a:t>List is Empty (START = NULL).</a:t>
            </a:r>
            <a:r>
              <a:rPr lang="en-US" sz="1600" dirty="0" smtClean="0"/>
              <a:t> In this case we can not delete node from linked list. </a:t>
            </a:r>
          </a:p>
          <a:p>
            <a:pPr>
              <a:buNone/>
            </a:pPr>
            <a:r>
              <a:rPr lang="en-US" sz="1600" dirty="0" smtClean="0"/>
              <a:t/>
            </a:r>
            <a:br>
              <a:rPr lang="en-US" sz="1600" dirty="0" smtClean="0"/>
            </a:br>
            <a:r>
              <a:rPr lang="en-US" sz="1600" b="1" dirty="0" smtClean="0"/>
              <a:t>(2)</a:t>
            </a:r>
            <a:r>
              <a:rPr lang="en-US" sz="1600" dirty="0" smtClean="0"/>
              <a:t> </a:t>
            </a:r>
            <a:r>
              <a:rPr lang="en-US" sz="1600" b="1" dirty="0" smtClean="0"/>
              <a:t>There is only one node in the linked list</a:t>
            </a:r>
          </a:p>
          <a:p>
            <a:pPr>
              <a:buNone/>
            </a:pPr>
            <a:r>
              <a:rPr lang="en-US" sz="1600" b="1" dirty="0" smtClean="0"/>
              <a:t>      (START-&gt;LINK=NULL).</a:t>
            </a:r>
            <a:r>
              <a:rPr lang="en-US" sz="1600" dirty="0" smtClean="0"/>
              <a:t> In this case we can delete the first node and then linked list becomes empty (START=NULL).</a:t>
            </a:r>
          </a:p>
          <a:p>
            <a:pPr>
              <a:buNone/>
            </a:pPr>
            <a:r>
              <a:rPr lang="en-US" sz="1600" dirty="0" smtClean="0"/>
              <a:t/>
            </a:r>
            <a:br>
              <a:rPr lang="en-US" sz="1600" dirty="0" smtClean="0"/>
            </a:br>
            <a:r>
              <a:rPr lang="en-US" sz="1600" b="1" dirty="0" smtClean="0"/>
              <a:t>(3) There are more then one nodes in the linked list. </a:t>
            </a:r>
            <a:r>
              <a:rPr lang="en-US" sz="1600" dirty="0" smtClean="0"/>
              <a:t>In this case we can delete the first node. </a:t>
            </a:r>
          </a:p>
          <a:p>
            <a:pPr>
              <a:buNone/>
            </a:pPr>
            <a:r>
              <a:rPr lang="en-US" sz="1600" dirty="0" smtClean="0"/>
              <a:t>           After deleting the first node we have to move FIRST pointer to next node so that it can points to the newly first node in       the linked list.</a:t>
            </a:r>
            <a:endParaRPr lang="en-US" sz="1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202706"/>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fontScale="90000"/>
          </a:bodyPr>
          <a:lstStyle/>
          <a:p>
            <a:r>
              <a:rPr lang="en-US" sz="4900" b="1" dirty="0" smtClean="0">
                <a:latin typeface="Casper Bold"/>
              </a:rPr>
              <a:t>DELETION</a:t>
            </a:r>
            <a:r>
              <a:rPr lang="en-US" dirty="0" smtClean="0">
                <a:latin typeface="Casper Bold"/>
              </a:rPr>
              <a:t/>
            </a:r>
            <a:br>
              <a:rPr lang="en-US" dirty="0" smtClean="0">
                <a:latin typeface="Casper Bold"/>
              </a:rPr>
            </a:br>
            <a:r>
              <a:rPr lang="en-US" dirty="0" smtClean="0">
                <a:latin typeface="Casper Bold"/>
              </a:rPr>
              <a:t/>
            </a:r>
            <a:br>
              <a:rPr lang="en-US" dirty="0" smtClean="0">
                <a:latin typeface="Casper Bold"/>
              </a:rPr>
            </a:br>
            <a:endParaRPr lang="en-US" dirty="0"/>
          </a:p>
        </p:txBody>
      </p:sp>
      <p:sp>
        <p:nvSpPr>
          <p:cNvPr id="3" name="Content Placeholder 2"/>
          <p:cNvSpPr>
            <a:spLocks noGrp="1"/>
          </p:cNvSpPr>
          <p:nvPr>
            <p:ph idx="1"/>
          </p:nvPr>
        </p:nvSpPr>
        <p:spPr/>
        <p:txBody>
          <a:bodyPr>
            <a:normAutofit/>
          </a:bodyPr>
          <a:lstStyle/>
          <a:p>
            <a:r>
              <a:rPr lang="en-US" sz="1600" dirty="0" smtClean="0"/>
              <a:t>In order to delete  FIRST node from linked list we have to consider three possibilities: </a:t>
            </a:r>
          </a:p>
          <a:p>
            <a:pPr>
              <a:buNone/>
            </a:pPr>
            <a:r>
              <a:rPr lang="en-US" sz="1600" dirty="0" smtClean="0"/>
              <a:t/>
            </a:r>
            <a:br>
              <a:rPr lang="en-US" sz="1600" dirty="0" smtClean="0"/>
            </a:br>
            <a:r>
              <a:rPr lang="en-US" sz="1600" b="1" dirty="0" smtClean="0"/>
              <a:t>(1)</a:t>
            </a:r>
            <a:r>
              <a:rPr lang="en-US" sz="1600" dirty="0" smtClean="0"/>
              <a:t> </a:t>
            </a:r>
            <a:r>
              <a:rPr lang="en-US" sz="1600" b="1" dirty="0" smtClean="0"/>
              <a:t>List is Empty (START = NULL).</a:t>
            </a:r>
            <a:r>
              <a:rPr lang="en-US" sz="1600" dirty="0" smtClean="0"/>
              <a:t> In this case we can not delete node from linked list. </a:t>
            </a:r>
          </a:p>
          <a:p>
            <a:pPr>
              <a:buNone/>
            </a:pPr>
            <a:r>
              <a:rPr lang="en-US" sz="1600" dirty="0" smtClean="0"/>
              <a:t/>
            </a:r>
            <a:br>
              <a:rPr lang="en-US" sz="1600" dirty="0" smtClean="0"/>
            </a:br>
            <a:r>
              <a:rPr lang="en-US" sz="1600" b="1" dirty="0" smtClean="0"/>
              <a:t>(2)</a:t>
            </a:r>
            <a:r>
              <a:rPr lang="en-US" sz="1600" dirty="0" smtClean="0"/>
              <a:t> </a:t>
            </a:r>
            <a:r>
              <a:rPr lang="en-US" sz="1600" b="1" dirty="0" smtClean="0"/>
              <a:t>There is only one node in the linked list</a:t>
            </a:r>
          </a:p>
          <a:p>
            <a:pPr>
              <a:buNone/>
            </a:pPr>
            <a:r>
              <a:rPr lang="en-US" sz="1600" b="1" dirty="0" smtClean="0"/>
              <a:t>      (START-&gt;LINK=NULL).</a:t>
            </a:r>
            <a:r>
              <a:rPr lang="en-US" sz="1600" dirty="0" smtClean="0"/>
              <a:t> In this case we can delete the first node and then linked list becomes empty (START=NULL).</a:t>
            </a:r>
          </a:p>
          <a:p>
            <a:pPr>
              <a:buNone/>
            </a:pPr>
            <a:r>
              <a:rPr lang="en-US" sz="1600" dirty="0" smtClean="0"/>
              <a:t/>
            </a:r>
            <a:br>
              <a:rPr lang="en-US" sz="1600" dirty="0" smtClean="0"/>
            </a:br>
            <a:r>
              <a:rPr lang="en-US" sz="1600" b="1" dirty="0" smtClean="0"/>
              <a:t>(3) There are more then one nodes in the linked list. </a:t>
            </a:r>
            <a:r>
              <a:rPr lang="en-US" sz="1600" dirty="0" smtClean="0"/>
              <a:t>In this case we can delete the first node. </a:t>
            </a:r>
          </a:p>
          <a:p>
            <a:pPr>
              <a:buNone/>
            </a:pPr>
            <a:r>
              <a:rPr lang="en-US" sz="1600" dirty="0" smtClean="0"/>
              <a:t>           After deleting the first node we have to move FIRST pointer to next node so that it can points to the newly first node in       the linked list.</a:t>
            </a:r>
            <a:endParaRPr lang="en-US" sz="1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202706"/>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fontScale="90000"/>
          </a:bodyPr>
          <a:lstStyle/>
          <a:p>
            <a:r>
              <a:rPr lang="en-US" sz="4900" b="1" dirty="0" smtClean="0">
                <a:latin typeface="Casper Bold"/>
              </a:rPr>
              <a:t>FAQ</a:t>
            </a:r>
            <a:r>
              <a:rPr lang="en-US" dirty="0" smtClean="0">
                <a:latin typeface="Casper Bold"/>
              </a:rPr>
              <a:t/>
            </a:r>
            <a:br>
              <a:rPr lang="en-US" dirty="0" smtClean="0">
                <a:latin typeface="Casper Bold"/>
              </a:rPr>
            </a:br>
            <a:r>
              <a:rPr lang="en-US" dirty="0" smtClean="0">
                <a:latin typeface="Casper Bold"/>
              </a:rPr>
              <a:t/>
            </a:r>
            <a:br>
              <a:rPr lang="en-US" dirty="0" smtClean="0">
                <a:latin typeface="Casper Bold"/>
              </a:rPr>
            </a:br>
            <a:endParaRPr lang="en-US" dirty="0"/>
          </a:p>
        </p:txBody>
      </p:sp>
      <p:sp>
        <p:nvSpPr>
          <p:cNvPr id="3" name="Content Placeholder 2"/>
          <p:cNvSpPr>
            <a:spLocks noGrp="1"/>
          </p:cNvSpPr>
          <p:nvPr>
            <p:ph idx="1"/>
          </p:nvPr>
        </p:nvSpPr>
        <p:spPr/>
        <p:txBody>
          <a:bodyPr>
            <a:normAutofit/>
          </a:bodyPr>
          <a:lstStyle/>
          <a:p>
            <a:pPr marL="457200" indent="-457200">
              <a:buFont typeface="+mj-lt"/>
              <a:buAutoNum type="arabicPeriod"/>
            </a:pPr>
            <a:r>
              <a:rPr lang="en-US" sz="1600" dirty="0" smtClean="0"/>
              <a:t>What is the  complexity of search operation in linked list?</a:t>
            </a:r>
          </a:p>
          <a:p>
            <a:pPr marL="457200" indent="-457200">
              <a:buFont typeface="+mj-lt"/>
              <a:buAutoNum type="arabicPeriod"/>
            </a:pPr>
            <a:r>
              <a:rPr lang="en-US" sz="1600" dirty="0" smtClean="0"/>
              <a:t>How linked list is better than array?</a:t>
            </a:r>
          </a:p>
          <a:p>
            <a:pPr marL="457200" indent="-457200">
              <a:buFont typeface="+mj-lt"/>
              <a:buAutoNum type="arabicPeriod"/>
            </a:pPr>
            <a:r>
              <a:rPr lang="en-US" sz="1600" dirty="0" smtClean="0"/>
              <a:t>In what cases link lists give worst results?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202706"/>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smtClean="0">
                <a:latin typeface="Casper Bold"/>
              </a:rPr>
              <a:t>APPLICATION OF LINK LIST</a:t>
            </a:r>
            <a:r>
              <a:rPr lang="en-US" sz="2800" dirty="0" smtClean="0">
                <a:latin typeface="Casper Bold" panose="02000806040000020004" pitchFamily="2" charset="0"/>
                <a:cs typeface="Arial" panose="020B0604020202020204" pitchFamily="34" charset="0"/>
              </a:rPr>
              <a:t> </a:t>
            </a:r>
            <a:r>
              <a:rPr lang="en-US" sz="2800" dirty="0" smtClean="0"/>
              <a:t>  </a:t>
            </a:r>
            <a:endParaRPr lang="en-US" dirty="0"/>
          </a:p>
        </p:txBody>
      </p:sp>
      <p:sp>
        <p:nvSpPr>
          <p:cNvPr id="3" name="Content Placeholder 2"/>
          <p:cNvSpPr>
            <a:spLocks noGrp="1"/>
          </p:cNvSpPr>
          <p:nvPr>
            <p:ph idx="1"/>
          </p:nvPr>
        </p:nvSpPr>
        <p:spPr/>
        <p:txBody>
          <a:bodyPr>
            <a:normAutofit/>
          </a:bodyPr>
          <a:lstStyle/>
          <a:p>
            <a:r>
              <a:rPr lang="en-US" sz="1600" dirty="0" smtClean="0">
                <a:latin typeface="Casper" panose="02000506000000020004" pitchFamily="2" charset="0"/>
                <a:cs typeface="Arial" panose="020B0604020202020204" pitchFamily="34" charset="0"/>
              </a:rPr>
              <a:t>Pre-characterized number of classifications suggests that we can utilize a basic static structure like cluster to speak to the classes. Since we don't have the foggiest idea about the quantity of things in every class, we can speak to things in every classification utilizing a connected rundown. So what we need is a variety of connected records </a:t>
            </a:r>
          </a:p>
          <a:p>
            <a:r>
              <a:rPr lang="en-US" sz="1600" dirty="0" smtClean="0">
                <a:latin typeface="Casper" panose="02000506000000020004" pitchFamily="2" charset="0"/>
                <a:cs typeface="Arial" panose="020B0604020202020204" pitchFamily="34" charset="0"/>
              </a:rPr>
              <a:t>You can likewise consider speaking to a web list utilizing a variety of connected records, where exhibit contains the catchphrases and connected records contains the web URL's the place that watchword happens.</a:t>
            </a: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smtClean="0">
                <a:latin typeface="Casper Bold" panose="02000806040000020004" pitchFamily="2" charset="0"/>
                <a:cs typeface="Arial" panose="020B0604020202020204" pitchFamily="34" charset="0"/>
              </a:rPr>
              <a:t>REFERENCES </a:t>
            </a:r>
            <a:r>
              <a:rPr lang="en-US" sz="2800" b="1" dirty="0" smtClean="0">
                <a:latin typeface="Casper Bold" panose="02000806040000020004" pitchFamily="2" charset="0"/>
                <a:cs typeface="Arial" panose="020B0604020202020204" pitchFamily="34" charset="0"/>
              </a:rPr>
              <a:t> </a:t>
            </a:r>
            <a:r>
              <a:rPr lang="en-US" sz="2800" b="1" dirty="0" smtClean="0"/>
              <a:t>  </a:t>
            </a:r>
            <a:endParaRPr lang="en-US" b="1" dirty="0"/>
          </a:p>
        </p:txBody>
      </p:sp>
      <p:sp>
        <p:nvSpPr>
          <p:cNvPr id="3" name="Content Placeholder 2"/>
          <p:cNvSpPr>
            <a:spLocks noGrp="1"/>
          </p:cNvSpPr>
          <p:nvPr>
            <p:ph idx="1"/>
          </p:nvPr>
        </p:nvSpPr>
        <p:spPr/>
        <p:txBody>
          <a:bodyPr>
            <a:normAutofit/>
          </a:bodyPr>
          <a:lstStyle/>
          <a:p>
            <a:r>
              <a:rPr lang="en-US" sz="1600" dirty="0" smtClean="0">
                <a:hlinkClick r:id="rId2"/>
              </a:rPr>
              <a:t>https://www.cs.cmu.edu/~adamchik/15-121/lectures/Linked%20Lists/linked%20lists.html</a:t>
            </a:r>
            <a:endParaRPr lang="en-US" sz="1600" dirty="0" smtClean="0"/>
          </a:p>
          <a:p>
            <a:r>
              <a:rPr lang="en-US" sz="1600" dirty="0" smtClean="0">
                <a:hlinkClick r:id="rId3"/>
              </a:rPr>
              <a:t>https://www.geeksforgeeks.org/data-structures/linked-list/</a:t>
            </a:r>
            <a:endParaRPr lang="en-US" sz="1600" dirty="0" smtClean="0"/>
          </a:p>
          <a:p>
            <a:r>
              <a:rPr lang="en-US" sz="1600" dirty="0" smtClean="0">
                <a:hlinkClick r:id="rId4"/>
              </a:rPr>
              <a:t>https://www.tutorialspoint.com/data_structures_algorithms/linked_list_algorithms.htm</a:t>
            </a:r>
            <a:endParaRPr lang="en-US" sz="1600" dirty="0" smtClean="0"/>
          </a:p>
          <a:p>
            <a:r>
              <a:rPr lang="en-US" sz="1600" dirty="0" smtClean="0">
                <a:hlinkClick r:id="rId5"/>
              </a:rPr>
              <a:t>https://www.geeksforgeeks.org/merge-two-sorted-lists-place/</a:t>
            </a:r>
            <a:endParaRPr lang="en-US" sz="1600" dirty="0" smtClean="0"/>
          </a:p>
          <a:p>
            <a:r>
              <a:rPr lang="en-US" sz="1600" dirty="0" smtClean="0">
                <a:hlinkClick r:id="rId6"/>
              </a:rPr>
              <a:t>https://www.geeksforgeeks.org/reverse-a-linked-list/</a:t>
            </a:r>
            <a:endParaRPr lang="en-US" sz="1600" dirty="0" smtClean="0"/>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9244" name="CorelDRAW" r:id="rId3" imgW="2169000" imgH="2169360" progId="">
                    <p:embed/>
                  </p:oleObj>
                </mc:Choice>
                <mc:Fallback>
                  <p:oleObj name="CorelDRAW" r:id="rId3" imgW="2169000" imgH="2169360" progId="">
                    <p:embed/>
                    <p:pic>
                      <p:nvPicPr>
                        <p:cNvPr id="0" name="Picture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683</TotalTime>
  <Words>776</Words>
  <Application>Microsoft Office PowerPoint</Application>
  <PresentationFormat>Widescreen</PresentationFormat>
  <Paragraphs>113</Paragraphs>
  <Slides>14</Slides>
  <Notes>3</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14</vt:i4>
      </vt:variant>
    </vt:vector>
  </HeadingPairs>
  <TitlesOfParts>
    <vt:vector size="27" baseType="lpstr">
      <vt:lpstr>Arial</vt:lpstr>
      <vt:lpstr>Arial Black</vt:lpstr>
      <vt:lpstr>Arial Unicode MS</vt:lpstr>
      <vt:lpstr>Calibri</vt:lpstr>
      <vt:lpstr>Calibri Light</vt:lpstr>
      <vt:lpstr>Casper</vt:lpstr>
      <vt:lpstr>Casper Bold</vt:lpstr>
      <vt:lpstr>Karla</vt:lpstr>
      <vt:lpstr>Segoe UI</vt:lpstr>
      <vt:lpstr>Times New Roman</vt:lpstr>
      <vt:lpstr>1_Office Theme</vt:lpstr>
      <vt:lpstr>Contents Slide Master</vt:lpstr>
      <vt:lpstr>CorelDRAW</vt:lpstr>
      <vt:lpstr>PowerPoint Presentation</vt:lpstr>
      <vt:lpstr>Elementary Data Structure Using C++</vt:lpstr>
      <vt:lpstr>PowerPoint Presentation</vt:lpstr>
      <vt:lpstr> Scheme of Evaluation  </vt:lpstr>
      <vt:lpstr>Link List</vt:lpstr>
      <vt:lpstr>ARRAYS VS LINK LISTS</vt:lpstr>
      <vt:lpstr>INSERTING AT BEGINNING OF THE LIST </vt:lpstr>
      <vt:lpstr>INSERT A NODE AT THE END</vt:lpstr>
      <vt:lpstr>DELETION  </vt:lpstr>
      <vt:lpstr>DELETION  </vt:lpstr>
      <vt:lpstr>FAQ  </vt:lpstr>
      <vt:lpstr>APPLICATION OF LINK LIST   </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nishu</cp:lastModifiedBy>
  <cp:revision>74</cp:revision>
  <dcterms:created xsi:type="dcterms:W3CDTF">2019-01-09T10:33:58Z</dcterms:created>
  <dcterms:modified xsi:type="dcterms:W3CDTF">2024-01-10T10:31:49Z</dcterms:modified>
</cp:coreProperties>
</file>