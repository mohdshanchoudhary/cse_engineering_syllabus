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3"/>
  </p:notesMasterIdLst>
  <p:handoutMasterIdLst>
    <p:handoutMasterId r:id="rId24"/>
  </p:handoutMasterIdLst>
  <p:sldIdLst>
    <p:sldId id="277" r:id="rId3"/>
    <p:sldId id="312" r:id="rId4"/>
    <p:sldId id="310" r:id="rId5"/>
    <p:sldId id="311" r:id="rId6"/>
    <p:sldId id="281" r:id="rId7"/>
    <p:sldId id="297" r:id="rId8"/>
    <p:sldId id="298" r:id="rId9"/>
    <p:sldId id="299" r:id="rId10"/>
    <p:sldId id="300" r:id="rId11"/>
    <p:sldId id="301" r:id="rId12"/>
    <p:sldId id="303" r:id="rId13"/>
    <p:sldId id="302" r:id="rId14"/>
    <p:sldId id="304" r:id="rId15"/>
    <p:sldId id="305" r:id="rId16"/>
    <p:sldId id="306" r:id="rId17"/>
    <p:sldId id="308" r:id="rId18"/>
    <p:sldId id="307" r:id="rId19"/>
    <p:sldId id="291" r:id="rId20"/>
    <p:sldId id="284" r:id="rId21"/>
    <p:sldId id="27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86" autoAdjust="0"/>
    <p:restoredTop sz="94660"/>
  </p:normalViewPr>
  <p:slideViewPr>
    <p:cSldViewPr snapToGrid="0">
      <p:cViewPr varScale="1">
        <p:scale>
          <a:sx n="73" d="100"/>
          <a:sy n="73" d="100"/>
        </p:scale>
        <p:origin x="48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1/10/2024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503308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3251026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2339915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1/10/2024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geeksforgeeks.org/stack-data-structure-introduction-program/" TargetMode="External"/><Relationship Id="rId2" Type="http://schemas.openxmlformats.org/officeDocument/2006/relationships/hyperlink" Target="https://www.cs.cmu.edu/~adamchik/15-121/lectures/Stacks%20and%20Queues/Stacks%20and%20Queues.html" TargetMode="External"/><Relationship Id="rId1" Type="http://schemas.openxmlformats.org/officeDocument/2006/relationships/slideLayout" Target="../slideLayouts/slideLayout2.xml"/><Relationship Id="rId5" Type="http://schemas.openxmlformats.org/officeDocument/2006/relationships/hyperlink" Target="http://www.yashcode.com/2017/11/prefix-to-postfix-conversion-using-stack.html" TargetMode="External"/><Relationship Id="rId4" Type="http://schemas.openxmlformats.org/officeDocument/2006/relationships/hyperlink" Target="https://www.geeksforgeeks.org/queue-set-1introduction-and-array-implementation/" TargetMode="Externa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8272" name="CorelDRAW" r:id="rId3" imgW="2169000" imgH="2169360" progId="">
                  <p:embed/>
                </p:oleObj>
              </mc:Choice>
              <mc:Fallback>
                <p:oleObj name="CorelDRAW" r:id="rId3" imgW="2169000" imgH="2169360" progId="">
                  <p:embed/>
                  <p:pic>
                    <p:nvPicPr>
                      <p:cNvPr id="0" name="Picture 77"/>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59213" y="6014156"/>
            <a:ext cx="64320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STACK </a:t>
            </a:r>
            <a:r>
              <a:rPr lang="en-US" sz="24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3871857" y="6296559"/>
            <a:ext cx="1830785" cy="369332"/>
          </a:xfrm>
          <a:prstGeom prst="rect">
            <a:avLst/>
          </a:prstGeom>
          <a:noFill/>
        </p:spPr>
        <p:txBody>
          <a:bodyPr wrap="square" rtlCol="0">
            <a:spAutoFit/>
          </a:bodyPr>
          <a:lstStyle/>
          <a:p>
            <a:r>
              <a:rPr lang="en-US" dirty="0"/>
              <a:t> </a:t>
            </a:r>
          </a:p>
        </p:txBody>
      </p:sp>
      <p:sp>
        <p:nvSpPr>
          <p:cNvPr id="26" name="TextBox 25"/>
          <p:cNvSpPr txBox="1">
            <a:spLocks noChangeArrowheads="1"/>
          </p:cNvSpPr>
          <p:nvPr/>
        </p:nvSpPr>
        <p:spPr bwMode="auto">
          <a:xfrm>
            <a:off x="1967668" y="1584507"/>
            <a:ext cx="9063318" cy="513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Bef>
                <a:spcPct val="0"/>
              </a:spcBef>
              <a:spcAft>
                <a:spcPct val="35000"/>
              </a:spcAft>
              <a:defRPr/>
            </a:pPr>
            <a:r>
              <a:rPr lang="en-US" sz="2800" b="1" dirty="0">
                <a:latin typeface="Arial Black" panose="020B0A04020102020204" pitchFamily="34" charset="0"/>
                <a:ea typeface="Karla" pitchFamily="2" charset="0"/>
                <a:cs typeface="Karla" pitchFamily="2" charset="0"/>
              </a:rPr>
              <a:t>UNIVERSITY INSTITUTE OF ENGINEERING</a:t>
            </a:r>
          </a:p>
          <a:p>
            <a:pPr algn="ctr" defTabSz="622300">
              <a:lnSpc>
                <a:spcPct val="90000"/>
              </a:lnSpc>
              <a:spcBef>
                <a:spcPct val="0"/>
              </a:spcBef>
              <a:spcAft>
                <a:spcPct val="35000"/>
              </a:spcAft>
              <a:defRPr/>
            </a:pPr>
            <a:r>
              <a:rPr lang="en-US" sz="2800" b="1" dirty="0">
                <a:latin typeface="Arial Black" panose="020B0A04020102020204" pitchFamily="34" charset="0"/>
                <a:ea typeface="Karla" pitchFamily="2" charset="0"/>
                <a:cs typeface="Karla" pitchFamily="2" charset="0"/>
              </a:rPr>
              <a:t>DEPARTMENT- ACADEMIC </a:t>
            </a:r>
            <a:r>
              <a:rPr lang="en-US" sz="2800" b="1" dirty="0" smtClean="0">
                <a:latin typeface="Arial Black" panose="020B0A04020102020204" pitchFamily="34" charset="0"/>
                <a:ea typeface="Karla" pitchFamily="2" charset="0"/>
                <a:cs typeface="Karla" pitchFamily="2" charset="0"/>
              </a:rPr>
              <a:t>UNITS</a:t>
            </a:r>
            <a:endParaRPr lang="en-US" sz="2800" b="1" dirty="0">
              <a:latin typeface="Arial Black" panose="020B0A04020102020204" pitchFamily="34" charset="0"/>
              <a:ea typeface="Karla" pitchFamily="2" charset="0"/>
              <a:cs typeface="Karla" pitchFamily="2" charset="0"/>
            </a:endParaRPr>
          </a:p>
          <a:p>
            <a:pPr algn="ctr" defTabSz="622300">
              <a:lnSpc>
                <a:spcPct val="90000"/>
              </a:lnSpc>
              <a:spcBef>
                <a:spcPct val="0"/>
              </a:spcBef>
              <a:spcAft>
                <a:spcPct val="35000"/>
              </a:spcAft>
              <a:defRPr/>
            </a:pPr>
            <a:r>
              <a:rPr lang="en-US" sz="2400" b="1" dirty="0">
                <a:latin typeface="Arial Black" panose="020B0A04020102020204" pitchFamily="34" charset="0"/>
                <a:ea typeface="Karla" pitchFamily="2" charset="0"/>
                <a:cs typeface="Karla" pitchFamily="2" charset="0"/>
              </a:rPr>
              <a:t>Bachelor of Engineering (Computer Science &amp; Engineering)</a:t>
            </a:r>
          </a:p>
          <a:p>
            <a:pPr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Subject Name :</a:t>
            </a:r>
            <a:r>
              <a:rPr lang="en-US" sz="2800" b="1" dirty="0" smtClean="0">
                <a:latin typeface="Arial Black" panose="020B0A04020102020204" pitchFamily="34" charset="0"/>
                <a:ea typeface="Karla" pitchFamily="2" charset="0"/>
                <a:cs typeface="Karla" pitchFamily="2" charset="0"/>
              </a:rPr>
              <a:t> </a:t>
            </a:r>
            <a:r>
              <a:rPr lang="en-US" sz="2800" dirty="0">
                <a:latin typeface="Times New Roman" panose="02020603050405020304" pitchFamily="18" charset="0"/>
                <a:ea typeface="Calibri" panose="020F0502020204030204" pitchFamily="34" charset="0"/>
                <a:cs typeface="Times New Roman" panose="02020603050405020304" pitchFamily="18" charset="0"/>
              </a:rPr>
              <a:t>Elementary</a:t>
            </a:r>
            <a:r>
              <a:rPr lang="en-US" sz="2800" dirty="0" smtClean="0">
                <a:latin typeface="Times New Roman" pitchFamily="18" charset="0"/>
                <a:ea typeface="Karla" pitchFamily="2" charset="0"/>
                <a:cs typeface="Times New Roman" pitchFamily="18" charset="0"/>
              </a:rPr>
              <a:t> </a:t>
            </a:r>
            <a:r>
              <a:rPr lang="en-US" sz="2800" dirty="0" smtClean="0">
                <a:latin typeface="Times New Roman" pitchFamily="18" charset="0"/>
                <a:ea typeface="Calibri" panose="020F0502020204030204" pitchFamily="34" charset="0"/>
                <a:cs typeface="Times New Roman" pitchFamily="18" charset="0"/>
              </a:rPr>
              <a:t>Data Structures using C++</a:t>
            </a:r>
          </a:p>
          <a:p>
            <a:pPr algn="ctr" defTabSz="622300">
              <a:lnSpc>
                <a:spcPct val="90000"/>
              </a:lnSpc>
              <a:spcBef>
                <a:spcPct val="0"/>
              </a:spcBef>
              <a:spcAft>
                <a:spcPct val="35000"/>
              </a:spcAft>
            </a:pPr>
            <a:r>
              <a:rPr lang="en-US" sz="2800" dirty="0" smtClean="0">
                <a:latin typeface="Times New Roman" pitchFamily="18" charset="0"/>
                <a:ea typeface="Calibri" panose="020F0502020204030204" pitchFamily="34" charset="0"/>
                <a:cs typeface="Times New Roman" pitchFamily="18" charset="0"/>
              </a:rPr>
              <a:t>Subject Code: 23CSH-103</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 </a:t>
            </a: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1645920"/>
          </a:xfrm>
        </p:spPr>
        <p:txBody>
          <a:bodyPr>
            <a:normAutofit/>
          </a:bodyPr>
          <a:lstStyle/>
          <a:p>
            <a:pPr algn="ctr"/>
            <a:r>
              <a:rPr lang="en-US" b="1" dirty="0">
                <a:latin typeface="+mn-lt"/>
              </a:rPr>
              <a:t>Elementary</a:t>
            </a:r>
            <a:r>
              <a:rPr lang="en-IN" b="1" dirty="0" smtClean="0">
                <a:latin typeface="+mn-lt"/>
              </a:rPr>
              <a:t> </a:t>
            </a:r>
            <a:r>
              <a:rPr lang="en-IN" b="1" dirty="0">
                <a:latin typeface="+mn-lt"/>
              </a:rPr>
              <a:t>Data Structure Using C++</a:t>
            </a:r>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600075" y="2136775"/>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graphicFrame>
        <p:nvGraphicFramePr>
          <p:cNvPr id="6" name="Table 5"/>
          <p:cNvGraphicFramePr>
            <a:graphicFrameLocks noGrp="1"/>
          </p:cNvGraphicFramePr>
          <p:nvPr/>
        </p:nvGraphicFramePr>
        <p:xfrm>
          <a:off x="248648" y="2630329"/>
          <a:ext cx="5459821" cy="3783474"/>
        </p:xfrm>
        <a:graphic>
          <a:graphicData uri="http://schemas.openxmlformats.org/drawingml/2006/table">
            <a:tbl>
              <a:tblPr firstRow="1" firstCol="1" bandRow="1">
                <a:tableStyleId>{5C22544A-7EE6-4342-B048-85BDC9FD1C3A}</a:tableStyleId>
              </a:tblPr>
              <a:tblGrid>
                <a:gridCol w="5459821">
                  <a:extLst>
                    <a:ext uri="{9D8B030D-6E8A-4147-A177-3AD203B41FA5}">
                      <a16:colId xmlns:a16="http://schemas.microsoft.com/office/drawing/2014/main" val="98381966"/>
                    </a:ext>
                  </a:extLst>
                </a:gridCol>
              </a:tblGrid>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enable the students to understand various stages and constructs of C++ programming language. </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697720509"/>
                  </a:ext>
                </a:extLst>
              </a:tr>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improve their ability to analyze and address variety of problems in C++.</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209109202"/>
                  </a:ext>
                </a:extLst>
              </a:tr>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understand the concept of data structures and various operations on them.</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991538032"/>
                  </a:ext>
                </a:extLst>
              </a:tr>
              <a:tr h="961675">
                <a:tc>
                  <a:txBody>
                    <a:bodyPr/>
                    <a:lstStyle/>
                    <a:p>
                      <a:pPr marL="285750" indent="-285750" algn="just">
                        <a:lnSpc>
                          <a:spcPct val="97000"/>
                        </a:lnSpc>
                        <a:spcBef>
                          <a:spcPts val="420"/>
                        </a:spcBef>
                        <a:spcAft>
                          <a:spcPts val="0"/>
                        </a:spcAft>
                        <a:buFont typeface="Arial" panose="020B0604020202020204" pitchFamily="34" charset="0"/>
                        <a:buChar char="•"/>
                        <a:tabLst>
                          <a:tab pos="457200" algn="l"/>
                        </a:tabLst>
                      </a:pPr>
                      <a:r>
                        <a:rPr lang="en-US" sz="1800" dirty="0">
                          <a:solidFill>
                            <a:schemeClr val="tx1"/>
                          </a:solidFill>
                          <a:effectLst/>
                          <a:latin typeface="+mj-lt"/>
                        </a:rPr>
                        <a:t>To understand the properties of various data structures and able to identify the strengths and weaknesses of different data structures.</a:t>
                      </a:r>
                      <a:endParaRPr lang="en-IN" sz="1800" dirty="0">
                        <a:solidFill>
                          <a:schemeClr val="tx1"/>
                        </a:solidFill>
                        <a:effectLst/>
                        <a:latin typeface="+mj-lt"/>
                      </a:endParaRPr>
                    </a:p>
                  </a:txBody>
                  <a:tcPr marL="68580" marR="68580" marT="0" marB="0">
                    <a:solidFill>
                      <a:schemeClr val="accent1">
                        <a:lumMod val="40000"/>
                        <a:lumOff val="60000"/>
                      </a:schemeClr>
                    </a:solidFill>
                  </a:tcPr>
                </a:tc>
                <a:extLst>
                  <a:ext uri="{0D108BD9-81ED-4DB2-BD59-A6C34878D82A}">
                    <a16:rowId xmlns:a16="http://schemas.microsoft.com/office/drawing/2014/main" val="1306193080"/>
                  </a:ext>
                </a:extLst>
              </a:tr>
              <a:tr h="1060817">
                <a:tc>
                  <a:txBody>
                    <a:bodyPr/>
                    <a:lstStyle/>
                    <a:p>
                      <a:pPr marL="285750" indent="-285750">
                        <a:lnSpc>
                          <a:spcPct val="107000"/>
                        </a:lnSpc>
                        <a:spcAft>
                          <a:spcPts val="0"/>
                        </a:spcAft>
                        <a:buFont typeface="Arial" panose="020B0604020202020204" pitchFamily="34" charset="0"/>
                        <a:buChar char="•"/>
                      </a:pPr>
                      <a:r>
                        <a:rPr lang="en-US" sz="1800" dirty="0">
                          <a:solidFill>
                            <a:schemeClr val="tx1"/>
                          </a:solidFill>
                          <a:effectLst/>
                          <a:latin typeface="+mj-lt"/>
                        </a:rPr>
                        <a:t>To analyze and compare the efficiency of algorithms and learn to design efficient algorithms for solving computing problems</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572423643"/>
                  </a:ext>
                </a:extLst>
              </a:tr>
            </a:tbl>
          </a:graphicData>
        </a:graphic>
      </p:graphicFrame>
    </p:spTree>
    <p:extLst>
      <p:ext uri="{BB962C8B-B14F-4D97-AF65-F5344CB8AC3E}">
        <p14:creationId xmlns:p14="http://schemas.microsoft.com/office/powerpoint/2010/main" val="4202764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326692"/>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 Number</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mn-ea"/>
                          <a:cs typeface="Times New Roman" panose="02020603050405020304" pitchFamily="18" charset="0"/>
                        </a:rPr>
                        <a:t>Course</a:t>
                      </a:r>
                      <a:r>
                        <a:rPr lang="en-US" sz="1800" b="1" baseline="0" dirty="0" smtClean="0">
                          <a:solidFill>
                            <a:schemeClr val="tx1"/>
                          </a:solidFill>
                          <a:effectLst/>
                          <a:latin typeface="Times New Roman" panose="02020603050405020304" pitchFamily="18" charset="0"/>
                          <a:ea typeface="+mn-ea"/>
                          <a:cs typeface="Times New Roman" panose="02020603050405020304" pitchFamily="18" charset="0"/>
                        </a:rPr>
                        <a:t> Outcome</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CO1</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Understand the concepts of object-oriented programming including programming process and compilation process.</a:t>
                      </a: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CO2</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Apply different techniques to decompose a problem and programmed a solution with various concepts of object-oriented programming language. </a:t>
                      </a: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CO3</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Analyse and explain the behaviour of linear data structure operations using the programming addressed in the course.</a:t>
                      </a: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CO4</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Implement and evaluate the programs using the syntax and semantics of object-oriented programming.</a:t>
                      </a: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31115"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Design the solution of real-world problems in order to determine that the program performs as expected.</a:t>
                      </a: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1768338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164374309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16010" y="336246"/>
            <a:ext cx="5778500" cy="3457558"/>
          </a:xfrm>
        </p:spPr>
        <p:txBody>
          <a:bodyPr>
            <a:normAutofit/>
          </a:bodyPr>
          <a:lstStyle/>
          <a:p>
            <a:r>
              <a:rPr lang="en-US" altLang="en-US" sz="2400" dirty="0">
                <a:cs typeface="Times New Roman" panose="02020603050405020304" pitchFamily="18" charset="0"/>
              </a:rPr>
              <a:t>The last element to be added is the first to be removed (</a:t>
            </a:r>
            <a:r>
              <a:rPr lang="en-US" altLang="en-US" sz="2400" b="1" dirty="0">
                <a:cs typeface="Times New Roman" panose="02020603050405020304" pitchFamily="18" charset="0"/>
              </a:rPr>
              <a:t>LIFO</a:t>
            </a:r>
            <a:r>
              <a:rPr lang="en-US" altLang="en-US" sz="2400" dirty="0">
                <a:cs typeface="Times New Roman" panose="02020603050405020304" pitchFamily="18" charset="0"/>
              </a:rPr>
              <a:t>: Last In, First Out).</a:t>
            </a:r>
            <a:endParaRPr lang="en-US" altLang="en-US" sz="2400" dirty="0">
              <a:latin typeface="Courier New" panose="02070309020205020404" pitchFamily="49" charset="0"/>
              <a:cs typeface="Courier New" panose="02070309020205020404" pitchFamily="49"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5</a:t>
            </a:fld>
            <a:endParaRPr lang="en-US" dirty="0"/>
          </a:p>
        </p:txBody>
      </p:sp>
      <p:sp>
        <p:nvSpPr>
          <p:cNvPr id="8" name="Title 7"/>
          <p:cNvSpPr txBox="1">
            <a:spLocks noGrp="1" noChangeArrowheads="1"/>
          </p:cNvSpPr>
          <p:nvPr>
            <p:ph type="title"/>
          </p:nvPr>
        </p:nvSpPr>
        <p:spPr bwMode="auto">
          <a:xfrm>
            <a:off x="889485" y="264455"/>
            <a:ext cx="5801710"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sz="4400" dirty="0">
                <a:latin typeface="Casper Bold"/>
              </a:rPr>
              <a:t>     </a:t>
            </a:r>
            <a:r>
              <a:rPr lang="en-US" sz="4400" b="1" dirty="0">
                <a:latin typeface="Casper Bold"/>
              </a:rPr>
              <a:t>DEFINITION</a:t>
            </a:r>
            <a:r>
              <a:rPr lang="en-US" sz="4400" dirty="0">
                <a:latin typeface="Casper Bold"/>
              </a:rPr>
              <a:t> </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36" name="AutoShape 4" descr="Image result for DEFINITION OF STAC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4038" name="AutoShape 6" descr="Image result for DEFINITION OF STAC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4040" name="AutoShape 8" descr="Image result for DEFINITION OF STAC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4042" name="Picture 10" descr="Image result for DEFINITION OF STACK"/>
          <p:cNvPicPr>
            <a:picLocks noChangeAspect="1" noChangeArrowheads="1"/>
          </p:cNvPicPr>
          <p:nvPr/>
        </p:nvPicPr>
        <p:blipFill>
          <a:blip r:embed="rId2"/>
          <a:srcRect/>
          <a:stretch>
            <a:fillRect/>
          </a:stretch>
        </p:blipFill>
        <p:spPr bwMode="auto">
          <a:xfrm>
            <a:off x="7209323" y="1276569"/>
            <a:ext cx="2545866" cy="2290367"/>
          </a:xfrm>
          <a:prstGeom prst="rect">
            <a:avLst/>
          </a:prstGeom>
          <a:noFill/>
        </p:spPr>
      </p:pic>
      <p:sp>
        <p:nvSpPr>
          <p:cNvPr id="12" name="Text Placeholder 11">
            <a:extLst>
              <a:ext uri="{FF2B5EF4-FFF2-40B4-BE49-F238E27FC236}">
                <a16:creationId xmlns:a16="http://schemas.microsoft.com/office/drawing/2014/main" id="{16A54CA2-7819-4ADD-A6EF-BF1890DB8525}"/>
              </a:ext>
            </a:extLst>
          </p:cNvPr>
          <p:cNvSpPr>
            <a:spLocks noGrp="1"/>
          </p:cNvSpPr>
          <p:nvPr>
            <p:ph type="body" sz="half" idx="2"/>
          </p:nvPr>
        </p:nvSpPr>
        <p:spPr>
          <a:xfrm>
            <a:off x="823795" y="895149"/>
            <a:ext cx="4855109" cy="4973839"/>
          </a:xfrm>
        </p:spPr>
        <p:txBody>
          <a:bodyPr/>
          <a:lstStyle/>
          <a:p>
            <a:pPr algn="just"/>
            <a:r>
              <a:rPr lang="en-US" sz="2000" dirty="0"/>
              <a:t>A stack is an Abstract Data Type (ADT), commonly used in most programming languages. It is named stack as it behaves like a real-world stack, for example – a deck of cards or stack of trays etc.</a:t>
            </a:r>
          </a:p>
          <a:p>
            <a:pPr algn="just"/>
            <a:r>
              <a:rPr lang="en-US" altLang="en-US" sz="2000" dirty="0">
                <a:cs typeface="Times New Roman" panose="02020603050405020304" pitchFamily="18" charset="0"/>
              </a:rPr>
              <a:t>It is an ordered group of homogeneous items of elements.</a:t>
            </a:r>
          </a:p>
          <a:p>
            <a:pPr algn="just"/>
            <a:r>
              <a:rPr lang="en-US" altLang="en-US" sz="2000" dirty="0">
                <a:cs typeface="Times New Roman" panose="02020603050405020304" pitchFamily="18" charset="0"/>
              </a:rPr>
              <a:t>Elements are added to and removed from the top of the stack (the most</a:t>
            </a:r>
            <a:r>
              <a:rPr lang="en-US" altLang="en-US" sz="2000" dirty="0">
                <a:latin typeface="Courier New" panose="02070309020205020404" pitchFamily="49" charset="0"/>
                <a:cs typeface="Courier New" panose="02070309020205020404" pitchFamily="49" charset="0"/>
              </a:rPr>
              <a:t> </a:t>
            </a:r>
            <a:r>
              <a:rPr lang="en-US" altLang="en-US" sz="2000" dirty="0">
                <a:cs typeface="Times New Roman" panose="02020603050405020304" pitchFamily="18" charset="0"/>
              </a:rPr>
              <a:t>recently added items are at the top of the stack).</a:t>
            </a:r>
          </a:p>
          <a:p>
            <a:endParaRPr lang="en-IN" dirty="0"/>
          </a:p>
        </p:txBody>
      </p:sp>
      <p:pic>
        <p:nvPicPr>
          <p:cNvPr id="13" name="Picture 4">
            <a:extLst>
              <a:ext uri="{FF2B5EF4-FFF2-40B4-BE49-F238E27FC236}">
                <a16:creationId xmlns:a16="http://schemas.microsoft.com/office/drawing/2014/main" id="{C4BD2719-079F-4EDD-A7AA-77AF79017B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45114" y="4424497"/>
            <a:ext cx="9501772" cy="2296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2033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06A4E-D398-462B-BAB4-6FC2C9B94DAD}"/>
              </a:ext>
            </a:extLst>
          </p:cNvPr>
          <p:cNvSpPr>
            <a:spLocks noGrp="1"/>
          </p:cNvSpPr>
          <p:nvPr>
            <p:ph type="ctrTitle"/>
          </p:nvPr>
        </p:nvSpPr>
        <p:spPr>
          <a:xfrm>
            <a:off x="1524000" y="1122363"/>
            <a:ext cx="9144000" cy="764189"/>
          </a:xfrm>
        </p:spPr>
        <p:txBody>
          <a:bodyPr>
            <a:normAutofit fontScale="90000"/>
          </a:bodyPr>
          <a:lstStyle/>
          <a:p>
            <a:r>
              <a:rPr lang="en-IN" dirty="0"/>
              <a:t>Stack Representation</a:t>
            </a:r>
            <a:br>
              <a:rPr lang="en-IN" dirty="0"/>
            </a:br>
            <a:endParaRPr lang="en-IN" dirty="0"/>
          </a:p>
        </p:txBody>
      </p:sp>
      <p:sp>
        <p:nvSpPr>
          <p:cNvPr id="4" name="Slide Number Placeholder 3">
            <a:extLst>
              <a:ext uri="{FF2B5EF4-FFF2-40B4-BE49-F238E27FC236}">
                <a16:creationId xmlns:a16="http://schemas.microsoft.com/office/drawing/2014/main" id="{50C158D4-4513-4B0C-8383-C62DDD100805}"/>
              </a:ext>
            </a:extLst>
          </p:cNvPr>
          <p:cNvSpPr>
            <a:spLocks noGrp="1"/>
          </p:cNvSpPr>
          <p:nvPr>
            <p:ph type="sldNum" sz="quarter" idx="12"/>
          </p:nvPr>
        </p:nvSpPr>
        <p:spPr/>
        <p:txBody>
          <a:bodyPr/>
          <a:lstStyle/>
          <a:p>
            <a:fld id="{BDCDBBEF-AA6C-4BA6-85B2-A17D7F280E38}" type="slidenum">
              <a:rPr lang="en-US" smtClean="0"/>
              <a:pPr/>
              <a:t>6</a:t>
            </a:fld>
            <a:endParaRPr lang="en-US"/>
          </a:p>
        </p:txBody>
      </p:sp>
      <p:pic>
        <p:nvPicPr>
          <p:cNvPr id="6" name="Picture 5">
            <a:extLst>
              <a:ext uri="{FF2B5EF4-FFF2-40B4-BE49-F238E27FC236}">
                <a16:creationId xmlns:a16="http://schemas.microsoft.com/office/drawing/2014/main" id="{E319ACAB-157E-4656-AC1A-3A0F9CA32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1000" y="1504457"/>
            <a:ext cx="6350000" cy="4381500"/>
          </a:xfrm>
          <a:prstGeom prst="rect">
            <a:avLst/>
          </a:prstGeom>
        </p:spPr>
      </p:pic>
    </p:spTree>
    <p:extLst>
      <p:ext uri="{BB962C8B-B14F-4D97-AF65-F5344CB8AC3E}">
        <p14:creationId xmlns:p14="http://schemas.microsoft.com/office/powerpoint/2010/main" val="16262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27E1F5-BFE5-49B5-BE0E-2CFFDB23080B}"/>
              </a:ext>
            </a:extLst>
          </p:cNvPr>
          <p:cNvSpPr>
            <a:spLocks noGrp="1"/>
          </p:cNvSpPr>
          <p:nvPr>
            <p:ph idx="1"/>
          </p:nvPr>
        </p:nvSpPr>
        <p:spPr>
          <a:xfrm>
            <a:off x="838200" y="336884"/>
            <a:ext cx="10515600" cy="6384591"/>
          </a:xfrm>
        </p:spPr>
        <p:txBody>
          <a:bodyPr>
            <a:normAutofit fontScale="85000" lnSpcReduction="20000"/>
          </a:bodyPr>
          <a:lstStyle/>
          <a:p>
            <a:pPr algn="just"/>
            <a:r>
              <a:rPr lang="en-US" dirty="0"/>
              <a:t>A stack can be implemented by means of Array, Structure, Pointer, and Linked List. Stack can either be a fixed size one or it may have a sense of dynamic resizing. Here, we are going to implement stack using arrays, which makes it a fixed size stack implementation.</a:t>
            </a:r>
          </a:p>
          <a:p>
            <a:pPr marL="0" indent="0">
              <a:buNone/>
            </a:pPr>
            <a:r>
              <a:rPr lang="en-US" b="1" u="sng" dirty="0"/>
              <a:t>Basic Operations</a:t>
            </a:r>
          </a:p>
          <a:p>
            <a:pPr marL="0" indent="0">
              <a:buNone/>
            </a:pPr>
            <a:r>
              <a:rPr lang="en-US" dirty="0"/>
              <a:t>Stack operations may involve initializing the stack, using it and then de-initializing it. Apart from these basic stuffs, a stack is used for the following two primary operations −</a:t>
            </a:r>
          </a:p>
          <a:p>
            <a:r>
              <a:rPr lang="en-US" b="1" dirty="0"/>
              <a:t>push()</a:t>
            </a:r>
            <a:r>
              <a:rPr lang="en-US" dirty="0"/>
              <a:t> − Pushing (storing) an element on the stack.</a:t>
            </a:r>
          </a:p>
          <a:p>
            <a:r>
              <a:rPr lang="en-US" b="1" dirty="0"/>
              <a:t>pop()</a:t>
            </a:r>
            <a:r>
              <a:rPr lang="en-US" dirty="0"/>
              <a:t> − Removing (accessing) an element from the stack.</a:t>
            </a:r>
          </a:p>
          <a:p>
            <a:endParaRPr lang="en-US" dirty="0"/>
          </a:p>
          <a:p>
            <a:r>
              <a:rPr lang="en-US" dirty="0"/>
              <a:t>To use a stack efficiently, we need to check the status of stack as well. For the same purpose, the following functionality is added to stacks −</a:t>
            </a:r>
          </a:p>
          <a:p>
            <a:r>
              <a:rPr lang="en-US" b="1" dirty="0"/>
              <a:t>peek()</a:t>
            </a:r>
            <a:r>
              <a:rPr lang="en-US" dirty="0"/>
              <a:t> − get the top data element of the stack, without removing it.</a:t>
            </a:r>
          </a:p>
          <a:p>
            <a:r>
              <a:rPr lang="en-US" b="1" dirty="0" err="1"/>
              <a:t>isFull</a:t>
            </a:r>
            <a:r>
              <a:rPr lang="en-US" b="1" dirty="0"/>
              <a:t>()</a:t>
            </a:r>
            <a:r>
              <a:rPr lang="en-US" dirty="0"/>
              <a:t> − check if stack is full.</a:t>
            </a:r>
          </a:p>
          <a:p>
            <a:r>
              <a:rPr lang="en-US" b="1" dirty="0" err="1"/>
              <a:t>isEmpty</a:t>
            </a:r>
            <a:r>
              <a:rPr lang="en-US" b="1" dirty="0"/>
              <a:t>()</a:t>
            </a:r>
            <a:r>
              <a:rPr lang="en-US" dirty="0"/>
              <a:t> − check if stack is empty.</a:t>
            </a:r>
          </a:p>
          <a:p>
            <a:r>
              <a:rPr lang="en-US" dirty="0"/>
              <a:t>At all times, we maintain a pointer to the last </a:t>
            </a:r>
            <a:r>
              <a:rPr lang="en-US" dirty="0" err="1"/>
              <a:t>PUSHed</a:t>
            </a:r>
            <a:r>
              <a:rPr lang="en-US" dirty="0"/>
              <a:t> data on the stack. As this pointer always represents the top of the stack, hence named </a:t>
            </a:r>
            <a:r>
              <a:rPr lang="en-US" b="1" dirty="0"/>
              <a:t>top</a:t>
            </a:r>
            <a:r>
              <a:rPr lang="en-US" dirty="0"/>
              <a:t>. The </a:t>
            </a:r>
            <a:r>
              <a:rPr lang="en-US" b="1" dirty="0"/>
              <a:t>top</a:t>
            </a:r>
            <a:r>
              <a:rPr lang="en-US" dirty="0"/>
              <a:t> pointer provides top value of the stack without actually removing it.</a:t>
            </a:r>
          </a:p>
          <a:p>
            <a:endParaRPr lang="en-IN" dirty="0"/>
          </a:p>
        </p:txBody>
      </p:sp>
      <p:sp>
        <p:nvSpPr>
          <p:cNvPr id="4" name="Slide Number Placeholder 3">
            <a:extLst>
              <a:ext uri="{FF2B5EF4-FFF2-40B4-BE49-F238E27FC236}">
                <a16:creationId xmlns:a16="http://schemas.microsoft.com/office/drawing/2014/main" id="{6F94E372-88E9-479A-880A-5CD5E3002383}"/>
              </a:ext>
            </a:extLst>
          </p:cNvPr>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1854066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64D91BD-B8F6-465F-A1FF-CF9AA96A358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2981" y="654519"/>
            <a:ext cx="5033558" cy="5062888"/>
          </a:xfrm>
        </p:spPr>
      </p:pic>
      <p:sp>
        <p:nvSpPr>
          <p:cNvPr id="4" name="Slide Number Placeholder 3">
            <a:extLst>
              <a:ext uri="{FF2B5EF4-FFF2-40B4-BE49-F238E27FC236}">
                <a16:creationId xmlns:a16="http://schemas.microsoft.com/office/drawing/2014/main" id="{59E57F35-B740-42E5-BCA9-3E17FB0F9789}"/>
              </a:ext>
            </a:extLst>
          </p:cNvPr>
          <p:cNvSpPr>
            <a:spLocks noGrp="1"/>
          </p:cNvSpPr>
          <p:nvPr>
            <p:ph type="sldNum" sz="quarter" idx="12"/>
          </p:nvPr>
        </p:nvSpPr>
        <p:spPr/>
        <p:txBody>
          <a:bodyPr/>
          <a:lstStyle/>
          <a:p>
            <a:fld id="{BDCDBBEF-AA6C-4BA6-85B2-A17D7F280E38}" type="slidenum">
              <a:rPr lang="en-US" smtClean="0"/>
              <a:pPr/>
              <a:t>8</a:t>
            </a:fld>
            <a:endParaRPr lang="en-US"/>
          </a:p>
        </p:txBody>
      </p:sp>
      <p:pic>
        <p:nvPicPr>
          <p:cNvPr id="9" name="Picture 8">
            <a:extLst>
              <a:ext uri="{FF2B5EF4-FFF2-40B4-BE49-F238E27FC236}">
                <a16:creationId xmlns:a16="http://schemas.microsoft.com/office/drawing/2014/main" id="{D8CA2177-4210-4D5D-9818-246C791B59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88833"/>
            <a:ext cx="5569819" cy="6127470"/>
          </a:xfrm>
          <a:prstGeom prst="rect">
            <a:avLst/>
          </a:prstGeom>
        </p:spPr>
      </p:pic>
    </p:spTree>
    <p:extLst>
      <p:ext uri="{BB962C8B-B14F-4D97-AF65-F5344CB8AC3E}">
        <p14:creationId xmlns:p14="http://schemas.microsoft.com/office/powerpoint/2010/main" val="1773458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732FBC9-814C-46F1-A6AA-08AA9C4EAA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11165" y="1164657"/>
            <a:ext cx="8922619" cy="5012306"/>
          </a:xfrm>
        </p:spPr>
      </p:pic>
      <p:sp>
        <p:nvSpPr>
          <p:cNvPr id="4" name="Slide Number Placeholder 3">
            <a:extLst>
              <a:ext uri="{FF2B5EF4-FFF2-40B4-BE49-F238E27FC236}">
                <a16:creationId xmlns:a16="http://schemas.microsoft.com/office/drawing/2014/main" id="{0A01DC4A-B06E-45E8-81AC-EFCD10CA6350}"/>
              </a:ext>
            </a:extLst>
          </p:cNvPr>
          <p:cNvSpPr>
            <a:spLocks noGrp="1"/>
          </p:cNvSpPr>
          <p:nvPr>
            <p:ph type="sldNum" sz="quarter" idx="12"/>
          </p:nvPr>
        </p:nvSpPr>
        <p:spPr/>
        <p:txBody>
          <a:bodyPr/>
          <a:lstStyle/>
          <a:p>
            <a:fld id="{BDCDBBEF-AA6C-4BA6-85B2-A17D7F280E38}" type="slidenum">
              <a:rPr lang="en-US" smtClean="0"/>
              <a:pPr/>
              <a:t>9</a:t>
            </a:fld>
            <a:endParaRPr lang="en-US"/>
          </a:p>
        </p:txBody>
      </p:sp>
    </p:spTree>
    <p:extLst>
      <p:ext uri="{BB962C8B-B14F-4D97-AF65-F5344CB8AC3E}">
        <p14:creationId xmlns:p14="http://schemas.microsoft.com/office/powerpoint/2010/main" val="2927747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39F59-F1FB-425E-906D-D4756DA55F46}"/>
              </a:ext>
            </a:extLst>
          </p:cNvPr>
          <p:cNvSpPr>
            <a:spLocks noGrp="1"/>
          </p:cNvSpPr>
          <p:nvPr>
            <p:ph type="title"/>
          </p:nvPr>
        </p:nvSpPr>
        <p:spPr>
          <a:xfrm>
            <a:off x="838200" y="365126"/>
            <a:ext cx="10515600" cy="635902"/>
          </a:xfrm>
        </p:spPr>
        <p:txBody>
          <a:bodyPr>
            <a:normAutofit fontScale="90000"/>
          </a:bodyPr>
          <a:lstStyle/>
          <a:p>
            <a:r>
              <a:rPr lang="en-US" dirty="0"/>
              <a:t>Push Operation</a:t>
            </a:r>
            <a:br>
              <a:rPr lang="en-US" dirty="0"/>
            </a:br>
            <a:endParaRPr lang="en-IN" dirty="0"/>
          </a:p>
        </p:txBody>
      </p:sp>
      <p:sp>
        <p:nvSpPr>
          <p:cNvPr id="3" name="Content Placeholder 2">
            <a:extLst>
              <a:ext uri="{FF2B5EF4-FFF2-40B4-BE49-F238E27FC236}">
                <a16:creationId xmlns:a16="http://schemas.microsoft.com/office/drawing/2014/main" id="{DC6E85F5-5C98-43DC-BA23-12D33A62A99F}"/>
              </a:ext>
            </a:extLst>
          </p:cNvPr>
          <p:cNvSpPr>
            <a:spLocks noGrp="1"/>
          </p:cNvSpPr>
          <p:nvPr>
            <p:ph idx="1"/>
          </p:nvPr>
        </p:nvSpPr>
        <p:spPr>
          <a:xfrm>
            <a:off x="889535" y="683077"/>
            <a:ext cx="10515600" cy="2493260"/>
          </a:xfrm>
        </p:spPr>
        <p:txBody>
          <a:bodyPr>
            <a:normAutofit fontScale="77500" lnSpcReduction="20000"/>
          </a:bodyPr>
          <a:lstStyle/>
          <a:p>
            <a:r>
              <a:rPr lang="en-US" dirty="0"/>
              <a:t>The process of putting a new data element onto stack is known as a Push Operation. Push operation involves a series of steps −</a:t>
            </a:r>
          </a:p>
          <a:p>
            <a:r>
              <a:rPr lang="en-US" b="1" dirty="0"/>
              <a:t>Step 1</a:t>
            </a:r>
            <a:r>
              <a:rPr lang="en-US" dirty="0"/>
              <a:t> − Checks if the stack is full.</a:t>
            </a:r>
          </a:p>
          <a:p>
            <a:r>
              <a:rPr lang="en-US" b="1" dirty="0"/>
              <a:t>Step 2</a:t>
            </a:r>
            <a:r>
              <a:rPr lang="en-US" dirty="0"/>
              <a:t> − If the stack is full, produces an error and exit.</a:t>
            </a:r>
          </a:p>
          <a:p>
            <a:r>
              <a:rPr lang="en-US" b="1" dirty="0"/>
              <a:t>Step 3</a:t>
            </a:r>
            <a:r>
              <a:rPr lang="en-US" dirty="0"/>
              <a:t> − If the stack is not full, increments </a:t>
            </a:r>
            <a:r>
              <a:rPr lang="en-US" b="1" dirty="0"/>
              <a:t>top</a:t>
            </a:r>
            <a:r>
              <a:rPr lang="en-US" dirty="0"/>
              <a:t> to point next empty space.</a:t>
            </a:r>
          </a:p>
          <a:p>
            <a:r>
              <a:rPr lang="en-US" b="1" dirty="0"/>
              <a:t>Step 4</a:t>
            </a:r>
            <a:r>
              <a:rPr lang="en-US" dirty="0"/>
              <a:t> − Adds data element to the stack location, where top is pointing.</a:t>
            </a:r>
          </a:p>
          <a:p>
            <a:r>
              <a:rPr lang="en-US" b="1" dirty="0"/>
              <a:t>Step 5</a:t>
            </a:r>
            <a:r>
              <a:rPr lang="en-US" dirty="0"/>
              <a:t> − Returns success</a:t>
            </a:r>
          </a:p>
          <a:p>
            <a:endParaRPr lang="en-IN" dirty="0"/>
          </a:p>
        </p:txBody>
      </p:sp>
      <p:sp>
        <p:nvSpPr>
          <p:cNvPr id="4" name="Slide Number Placeholder 3">
            <a:extLst>
              <a:ext uri="{FF2B5EF4-FFF2-40B4-BE49-F238E27FC236}">
                <a16:creationId xmlns:a16="http://schemas.microsoft.com/office/drawing/2014/main" id="{ADDADF99-4F63-4ABF-8C36-1E83E3B760F0}"/>
              </a:ext>
            </a:extLst>
          </p:cNvPr>
          <p:cNvSpPr>
            <a:spLocks noGrp="1"/>
          </p:cNvSpPr>
          <p:nvPr>
            <p:ph type="sldNum" sz="quarter" idx="12"/>
          </p:nvPr>
        </p:nvSpPr>
        <p:spPr/>
        <p:txBody>
          <a:bodyPr/>
          <a:lstStyle/>
          <a:p>
            <a:fld id="{BDCDBBEF-AA6C-4BA6-85B2-A17D7F280E38}" type="slidenum">
              <a:rPr lang="en-US" smtClean="0"/>
              <a:pPr/>
              <a:t>10</a:t>
            </a:fld>
            <a:endParaRPr lang="en-US"/>
          </a:p>
        </p:txBody>
      </p:sp>
      <p:pic>
        <p:nvPicPr>
          <p:cNvPr id="6" name="Picture 5">
            <a:extLst>
              <a:ext uri="{FF2B5EF4-FFF2-40B4-BE49-F238E27FC236}">
                <a16:creationId xmlns:a16="http://schemas.microsoft.com/office/drawing/2014/main" id="{2BDEAA4E-5A55-4FFC-BE4C-ACABF7355A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8742" y="3429000"/>
            <a:ext cx="5080000" cy="3124200"/>
          </a:xfrm>
          <a:prstGeom prst="rect">
            <a:avLst/>
          </a:prstGeom>
        </p:spPr>
      </p:pic>
      <p:sp>
        <p:nvSpPr>
          <p:cNvPr id="7" name="Rectangle 6">
            <a:extLst>
              <a:ext uri="{FF2B5EF4-FFF2-40B4-BE49-F238E27FC236}">
                <a16:creationId xmlns:a16="http://schemas.microsoft.com/office/drawing/2014/main" id="{2873CC11-5A66-4B2B-B10D-4562DBBDB39E}"/>
              </a:ext>
            </a:extLst>
          </p:cNvPr>
          <p:cNvSpPr/>
          <p:nvPr/>
        </p:nvSpPr>
        <p:spPr>
          <a:xfrm>
            <a:off x="712270" y="4048026"/>
            <a:ext cx="1771048" cy="2308324"/>
          </a:xfrm>
          <a:prstGeom prst="rect">
            <a:avLst/>
          </a:prstGeom>
        </p:spPr>
        <p:txBody>
          <a:bodyPr wrap="square">
            <a:spAutoFit/>
          </a:bodyPr>
          <a:lstStyle/>
          <a:p>
            <a:r>
              <a:rPr lang="en-US" dirty="0">
                <a:solidFill>
                  <a:srgbClr val="000000"/>
                </a:solidFill>
                <a:latin typeface="Arial" panose="020B0604020202020204" pitchFamily="34" charset="0"/>
              </a:rPr>
              <a:t>If the linked list is used to implement the stack, then in step 3, we need to allocate space dynamically</a:t>
            </a:r>
            <a:endParaRPr lang="en-IN" dirty="0"/>
          </a:p>
        </p:txBody>
      </p:sp>
    </p:spTree>
    <p:extLst>
      <p:ext uri="{BB962C8B-B14F-4D97-AF65-F5344CB8AC3E}">
        <p14:creationId xmlns:p14="http://schemas.microsoft.com/office/powerpoint/2010/main" val="3185120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CFF1307-E86F-4F86-B84D-389A0E858A6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1747" y="1809580"/>
            <a:ext cx="5007158" cy="3570942"/>
          </a:xfrm>
        </p:spPr>
      </p:pic>
      <p:sp>
        <p:nvSpPr>
          <p:cNvPr id="4" name="Slide Number Placeholder 3">
            <a:extLst>
              <a:ext uri="{FF2B5EF4-FFF2-40B4-BE49-F238E27FC236}">
                <a16:creationId xmlns:a16="http://schemas.microsoft.com/office/drawing/2014/main" id="{BD22B1E1-35B9-41FC-A1D3-9B3390F5E7B4}"/>
              </a:ext>
            </a:extLst>
          </p:cNvPr>
          <p:cNvSpPr>
            <a:spLocks noGrp="1"/>
          </p:cNvSpPr>
          <p:nvPr>
            <p:ph type="sldNum" sz="quarter" idx="12"/>
          </p:nvPr>
        </p:nvSpPr>
        <p:spPr/>
        <p:txBody>
          <a:bodyPr/>
          <a:lstStyle/>
          <a:p>
            <a:fld id="{BDCDBBEF-AA6C-4BA6-85B2-A17D7F280E38}" type="slidenum">
              <a:rPr lang="en-US" smtClean="0"/>
              <a:pPr/>
              <a:t>11</a:t>
            </a:fld>
            <a:endParaRPr lang="en-US"/>
          </a:p>
        </p:txBody>
      </p:sp>
      <p:pic>
        <p:nvPicPr>
          <p:cNvPr id="8" name="Picture 7">
            <a:extLst>
              <a:ext uri="{FF2B5EF4-FFF2-40B4-BE49-F238E27FC236}">
                <a16:creationId xmlns:a16="http://schemas.microsoft.com/office/drawing/2014/main" id="{7CAD094F-C400-4438-9AB7-76778B2722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8787" y="1587405"/>
            <a:ext cx="6015301" cy="4091500"/>
          </a:xfrm>
          <a:prstGeom prst="rect">
            <a:avLst/>
          </a:prstGeom>
        </p:spPr>
      </p:pic>
    </p:spTree>
    <p:extLst>
      <p:ext uri="{BB962C8B-B14F-4D97-AF65-F5344CB8AC3E}">
        <p14:creationId xmlns:p14="http://schemas.microsoft.com/office/powerpoint/2010/main" val="1104225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9B4B3-AD3D-4784-9FFB-294CED921A23}"/>
              </a:ext>
            </a:extLst>
          </p:cNvPr>
          <p:cNvSpPr>
            <a:spLocks noGrp="1"/>
          </p:cNvSpPr>
          <p:nvPr>
            <p:ph type="title"/>
          </p:nvPr>
        </p:nvSpPr>
        <p:spPr>
          <a:xfrm>
            <a:off x="838200" y="365125"/>
            <a:ext cx="10515600" cy="578151"/>
          </a:xfrm>
        </p:spPr>
        <p:txBody>
          <a:bodyPr>
            <a:normAutofit fontScale="90000"/>
          </a:bodyPr>
          <a:lstStyle/>
          <a:p>
            <a:r>
              <a:rPr lang="en-US" dirty="0"/>
              <a:t>Pop Operation</a:t>
            </a:r>
            <a:br>
              <a:rPr lang="en-US" dirty="0"/>
            </a:br>
            <a:endParaRPr lang="en-IN" dirty="0"/>
          </a:p>
        </p:txBody>
      </p:sp>
      <p:sp>
        <p:nvSpPr>
          <p:cNvPr id="3" name="Content Placeholder 2">
            <a:extLst>
              <a:ext uri="{FF2B5EF4-FFF2-40B4-BE49-F238E27FC236}">
                <a16:creationId xmlns:a16="http://schemas.microsoft.com/office/drawing/2014/main" id="{3A006744-3C77-4CC2-8749-D48B9B37EFC4}"/>
              </a:ext>
            </a:extLst>
          </p:cNvPr>
          <p:cNvSpPr>
            <a:spLocks noGrp="1"/>
          </p:cNvSpPr>
          <p:nvPr>
            <p:ph idx="1"/>
          </p:nvPr>
        </p:nvSpPr>
        <p:spPr>
          <a:xfrm>
            <a:off x="770823" y="779646"/>
            <a:ext cx="10515600" cy="3667226"/>
          </a:xfrm>
        </p:spPr>
        <p:txBody>
          <a:bodyPr>
            <a:normAutofit fontScale="77500" lnSpcReduction="20000"/>
          </a:bodyPr>
          <a:lstStyle/>
          <a:p>
            <a:r>
              <a:rPr lang="en-US" dirty="0"/>
              <a:t>Accessing the content while removing it from the stack, is known as a Pop Operation. In an array implementation of pop() operation, the data element is not actually removed, instead </a:t>
            </a:r>
            <a:r>
              <a:rPr lang="en-US" b="1" dirty="0"/>
              <a:t>top</a:t>
            </a:r>
            <a:r>
              <a:rPr lang="en-US" dirty="0"/>
              <a:t> is decremented to a lower position in the stack to point to the next value. But in linked-list implementation, pop() actually removes data element and deallocates memory space.</a:t>
            </a:r>
          </a:p>
          <a:p>
            <a:r>
              <a:rPr lang="en-US" dirty="0"/>
              <a:t>A Pop operation may involve the following steps −</a:t>
            </a:r>
          </a:p>
          <a:p>
            <a:r>
              <a:rPr lang="en-US" b="1" dirty="0"/>
              <a:t>Step 1</a:t>
            </a:r>
            <a:r>
              <a:rPr lang="en-US" dirty="0"/>
              <a:t> − Checks if the stack is empty.</a:t>
            </a:r>
          </a:p>
          <a:p>
            <a:r>
              <a:rPr lang="en-US" b="1" dirty="0"/>
              <a:t>Step 2</a:t>
            </a:r>
            <a:r>
              <a:rPr lang="en-US" dirty="0"/>
              <a:t> − If the stack is empty, produces an error and exit.</a:t>
            </a:r>
          </a:p>
          <a:p>
            <a:r>
              <a:rPr lang="en-US" b="1" dirty="0"/>
              <a:t>Step 3</a:t>
            </a:r>
            <a:r>
              <a:rPr lang="en-US" dirty="0"/>
              <a:t> − If the stack is not empty, accesses the data element at which </a:t>
            </a:r>
            <a:r>
              <a:rPr lang="en-US" b="1" dirty="0"/>
              <a:t>top</a:t>
            </a:r>
            <a:r>
              <a:rPr lang="en-US" dirty="0"/>
              <a:t> is pointing.</a:t>
            </a:r>
          </a:p>
          <a:p>
            <a:r>
              <a:rPr lang="en-US" b="1" dirty="0"/>
              <a:t>Step 4</a:t>
            </a:r>
            <a:r>
              <a:rPr lang="en-US" dirty="0"/>
              <a:t> − Decreases the value of top by 1.</a:t>
            </a:r>
          </a:p>
          <a:p>
            <a:r>
              <a:rPr lang="en-US" b="1" dirty="0"/>
              <a:t>Step 5</a:t>
            </a:r>
            <a:r>
              <a:rPr lang="en-US" dirty="0"/>
              <a:t> − Returns success.</a:t>
            </a:r>
          </a:p>
          <a:p>
            <a:endParaRPr lang="en-IN" dirty="0"/>
          </a:p>
        </p:txBody>
      </p:sp>
      <p:sp>
        <p:nvSpPr>
          <p:cNvPr id="4" name="Slide Number Placeholder 3">
            <a:extLst>
              <a:ext uri="{FF2B5EF4-FFF2-40B4-BE49-F238E27FC236}">
                <a16:creationId xmlns:a16="http://schemas.microsoft.com/office/drawing/2014/main" id="{2B3B763E-9878-4065-90A3-77F37DB9429B}"/>
              </a:ext>
            </a:extLst>
          </p:cNvPr>
          <p:cNvSpPr>
            <a:spLocks noGrp="1"/>
          </p:cNvSpPr>
          <p:nvPr>
            <p:ph type="sldNum" sz="quarter" idx="12"/>
          </p:nvPr>
        </p:nvSpPr>
        <p:spPr/>
        <p:txBody>
          <a:bodyPr/>
          <a:lstStyle/>
          <a:p>
            <a:fld id="{BDCDBBEF-AA6C-4BA6-85B2-A17D7F280E38}" type="slidenum">
              <a:rPr lang="en-US" smtClean="0"/>
              <a:pPr/>
              <a:t>12</a:t>
            </a:fld>
            <a:endParaRPr lang="en-US"/>
          </a:p>
        </p:txBody>
      </p:sp>
      <p:pic>
        <p:nvPicPr>
          <p:cNvPr id="6" name="Picture 5">
            <a:extLst>
              <a:ext uri="{FF2B5EF4-FFF2-40B4-BE49-F238E27FC236}">
                <a16:creationId xmlns:a16="http://schemas.microsoft.com/office/drawing/2014/main" id="{214274D7-812D-459A-990D-3F837B97E8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3574" y="3508375"/>
            <a:ext cx="5715000" cy="3213100"/>
          </a:xfrm>
          <a:prstGeom prst="rect">
            <a:avLst/>
          </a:prstGeom>
        </p:spPr>
      </p:pic>
    </p:spTree>
    <p:extLst>
      <p:ext uri="{BB962C8B-B14F-4D97-AF65-F5344CB8AC3E}">
        <p14:creationId xmlns:p14="http://schemas.microsoft.com/office/powerpoint/2010/main" val="2220958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55EBA30-1D68-4B6D-B44E-020BD83292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80675" y="1260909"/>
            <a:ext cx="6423634" cy="4045377"/>
          </a:xfrm>
        </p:spPr>
      </p:pic>
      <p:sp>
        <p:nvSpPr>
          <p:cNvPr id="4" name="Slide Number Placeholder 3">
            <a:extLst>
              <a:ext uri="{FF2B5EF4-FFF2-40B4-BE49-F238E27FC236}">
                <a16:creationId xmlns:a16="http://schemas.microsoft.com/office/drawing/2014/main" id="{54FE6F1C-E309-4AEB-960F-D76355E85650}"/>
              </a:ext>
            </a:extLst>
          </p:cNvPr>
          <p:cNvSpPr>
            <a:spLocks noGrp="1"/>
          </p:cNvSpPr>
          <p:nvPr>
            <p:ph type="sldNum" sz="quarter" idx="12"/>
          </p:nvPr>
        </p:nvSpPr>
        <p:spPr/>
        <p:txBody>
          <a:bodyPr/>
          <a:lstStyle/>
          <a:p>
            <a:fld id="{BDCDBBEF-AA6C-4BA6-85B2-A17D7F280E38}" type="slidenum">
              <a:rPr lang="en-US" smtClean="0"/>
              <a:pPr/>
              <a:t>13</a:t>
            </a:fld>
            <a:endParaRPr lang="en-US"/>
          </a:p>
        </p:txBody>
      </p:sp>
    </p:spTree>
    <p:extLst>
      <p:ext uri="{BB962C8B-B14F-4D97-AF65-F5344CB8AC3E}">
        <p14:creationId xmlns:p14="http://schemas.microsoft.com/office/powerpoint/2010/main" val="3867884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6D183-D90E-4CE0-BF79-9C4EFD2821F8}"/>
              </a:ext>
            </a:extLst>
          </p:cNvPr>
          <p:cNvSpPr>
            <a:spLocks noGrp="1"/>
          </p:cNvSpPr>
          <p:nvPr>
            <p:ph type="title"/>
          </p:nvPr>
        </p:nvSpPr>
        <p:spPr>
          <a:xfrm>
            <a:off x="838200" y="365126"/>
            <a:ext cx="10515600" cy="722530"/>
          </a:xfrm>
        </p:spPr>
        <p:txBody>
          <a:bodyPr/>
          <a:lstStyle/>
          <a:p>
            <a:r>
              <a:rPr lang="en-US" dirty="0"/>
              <a:t>Notations</a:t>
            </a:r>
            <a:endParaRPr lang="en-IN" dirty="0"/>
          </a:p>
        </p:txBody>
      </p:sp>
      <p:sp>
        <p:nvSpPr>
          <p:cNvPr id="3" name="Content Placeholder 2">
            <a:extLst>
              <a:ext uri="{FF2B5EF4-FFF2-40B4-BE49-F238E27FC236}">
                <a16:creationId xmlns:a16="http://schemas.microsoft.com/office/drawing/2014/main" id="{C9FF4C01-C762-4BB9-92D4-99521816CE3C}"/>
              </a:ext>
            </a:extLst>
          </p:cNvPr>
          <p:cNvSpPr>
            <a:spLocks noGrp="1"/>
          </p:cNvSpPr>
          <p:nvPr>
            <p:ph idx="1"/>
          </p:nvPr>
        </p:nvSpPr>
        <p:spPr>
          <a:xfrm>
            <a:off x="838200" y="1001027"/>
            <a:ext cx="10515600" cy="5175936"/>
          </a:xfrm>
        </p:spPr>
        <p:txBody>
          <a:bodyPr>
            <a:normAutofit fontScale="77500" lnSpcReduction="20000"/>
          </a:bodyPr>
          <a:lstStyle/>
          <a:p>
            <a:pPr marL="0" indent="0">
              <a:buNone/>
            </a:pPr>
            <a:r>
              <a:rPr lang="en-US" dirty="0"/>
              <a:t>An arithmetic expression can be written in three different but equivalent notations, i.e., without changing the essence or output of an expression. These notations are −</a:t>
            </a:r>
          </a:p>
          <a:p>
            <a:r>
              <a:rPr lang="en-US" dirty="0"/>
              <a:t>Infix Notation</a:t>
            </a:r>
          </a:p>
          <a:p>
            <a:r>
              <a:rPr lang="en-US" dirty="0"/>
              <a:t>Prefix (Polish) Notation</a:t>
            </a:r>
          </a:p>
          <a:p>
            <a:r>
              <a:rPr lang="en-US" dirty="0"/>
              <a:t>Postfix (Reverse-Polish) Notation</a:t>
            </a:r>
          </a:p>
          <a:p>
            <a:pPr marL="0" indent="0">
              <a:buNone/>
            </a:pPr>
            <a:r>
              <a:rPr lang="en-US" dirty="0"/>
              <a:t>These notations are named as how they use operator in expression. We shall learn the same here in this chapter.</a:t>
            </a:r>
          </a:p>
          <a:p>
            <a:pPr marL="0" indent="0">
              <a:buNone/>
            </a:pPr>
            <a:r>
              <a:rPr lang="en-US" b="1" u="sng" dirty="0"/>
              <a:t>Infix Notation</a:t>
            </a:r>
          </a:p>
          <a:p>
            <a:pPr marL="0" indent="0">
              <a:buNone/>
            </a:pPr>
            <a:r>
              <a:rPr lang="en-US" dirty="0"/>
              <a:t>We write expression in </a:t>
            </a:r>
            <a:r>
              <a:rPr lang="en-US" b="1" dirty="0"/>
              <a:t>infix</a:t>
            </a:r>
            <a:r>
              <a:rPr lang="en-US" dirty="0"/>
              <a:t> notation, e.g. a - b + c, where operators are used </a:t>
            </a:r>
            <a:r>
              <a:rPr lang="en-US" b="1" dirty="0"/>
              <a:t>in</a:t>
            </a:r>
            <a:r>
              <a:rPr lang="en-US" dirty="0"/>
              <a:t>-between operands. It is easy for us humans to read, write, and speak in infix notation but the same does not go well with computing devices. An algorithm to process infix notation could be difficult and costly in terms of time and space consumption.</a:t>
            </a:r>
          </a:p>
          <a:p>
            <a:pPr marL="0" indent="0">
              <a:buNone/>
            </a:pPr>
            <a:r>
              <a:rPr lang="en-US" b="1" u="sng" dirty="0"/>
              <a:t>Prefix Notation</a:t>
            </a:r>
          </a:p>
          <a:p>
            <a:pPr marL="0" indent="0">
              <a:buNone/>
            </a:pPr>
            <a:r>
              <a:rPr lang="en-US" dirty="0"/>
              <a:t>In this notation, operator is </a:t>
            </a:r>
            <a:r>
              <a:rPr lang="en-US" b="1" dirty="0"/>
              <a:t>prefix</a:t>
            </a:r>
            <a:r>
              <a:rPr lang="en-US" dirty="0"/>
              <a:t>ed to operands, i.e. operator is written ahead of operands. For example, </a:t>
            </a:r>
            <a:r>
              <a:rPr lang="en-US" b="1" dirty="0"/>
              <a:t>+ab</a:t>
            </a:r>
            <a:r>
              <a:rPr lang="en-US" dirty="0"/>
              <a:t>. This is equivalent to its infix notation </a:t>
            </a:r>
            <a:r>
              <a:rPr lang="en-US" b="1" dirty="0"/>
              <a:t>a + b</a:t>
            </a:r>
            <a:r>
              <a:rPr lang="en-US" dirty="0"/>
              <a:t>. Prefix notation is also known as </a:t>
            </a:r>
            <a:r>
              <a:rPr lang="en-US" b="1" dirty="0"/>
              <a:t>Polish Notation</a:t>
            </a:r>
            <a:r>
              <a:rPr lang="en-US" dirty="0"/>
              <a:t>.</a:t>
            </a:r>
          </a:p>
          <a:p>
            <a:endParaRPr lang="en-IN" dirty="0"/>
          </a:p>
        </p:txBody>
      </p:sp>
      <p:sp>
        <p:nvSpPr>
          <p:cNvPr id="4" name="Slide Number Placeholder 3">
            <a:extLst>
              <a:ext uri="{FF2B5EF4-FFF2-40B4-BE49-F238E27FC236}">
                <a16:creationId xmlns:a16="http://schemas.microsoft.com/office/drawing/2014/main" id="{89F38C6D-443A-4DC2-8949-16B5A58B7DD9}"/>
              </a:ext>
            </a:extLst>
          </p:cNvPr>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val="9911817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34F90695-1480-4FBE-A632-8EC9D78ABD1D}"/>
              </a:ext>
            </a:extLst>
          </p:cNvPr>
          <p:cNvGraphicFramePr>
            <a:graphicFrameLocks noGrp="1"/>
          </p:cNvGraphicFramePr>
          <p:nvPr>
            <p:ph idx="1"/>
            <p:extLst>
              <p:ext uri="{D42A27DB-BD31-4B8C-83A1-F6EECF244321}">
                <p14:modId xmlns:p14="http://schemas.microsoft.com/office/powerpoint/2010/main" val="1117663020"/>
              </p:ext>
            </p:extLst>
          </p:nvPr>
        </p:nvGraphicFramePr>
        <p:xfrm>
          <a:off x="2098308" y="2935705"/>
          <a:ext cx="6763932" cy="3672434"/>
        </p:xfrm>
        <a:graphic>
          <a:graphicData uri="http://schemas.openxmlformats.org/drawingml/2006/table">
            <a:tbl>
              <a:tblPr/>
              <a:tblGrid>
                <a:gridCol w="1690983">
                  <a:extLst>
                    <a:ext uri="{9D8B030D-6E8A-4147-A177-3AD203B41FA5}">
                      <a16:colId xmlns:a16="http://schemas.microsoft.com/office/drawing/2014/main" val="2493372935"/>
                    </a:ext>
                  </a:extLst>
                </a:gridCol>
                <a:gridCol w="1690983">
                  <a:extLst>
                    <a:ext uri="{9D8B030D-6E8A-4147-A177-3AD203B41FA5}">
                      <a16:colId xmlns:a16="http://schemas.microsoft.com/office/drawing/2014/main" val="2481830466"/>
                    </a:ext>
                  </a:extLst>
                </a:gridCol>
                <a:gridCol w="1690983">
                  <a:extLst>
                    <a:ext uri="{9D8B030D-6E8A-4147-A177-3AD203B41FA5}">
                      <a16:colId xmlns:a16="http://schemas.microsoft.com/office/drawing/2014/main" val="1066245898"/>
                    </a:ext>
                  </a:extLst>
                </a:gridCol>
                <a:gridCol w="1690983">
                  <a:extLst>
                    <a:ext uri="{9D8B030D-6E8A-4147-A177-3AD203B41FA5}">
                      <a16:colId xmlns:a16="http://schemas.microsoft.com/office/drawing/2014/main" val="1220660363"/>
                    </a:ext>
                  </a:extLst>
                </a:gridCol>
              </a:tblGrid>
              <a:tr h="525782">
                <a:tc>
                  <a:txBody>
                    <a:bodyPr/>
                    <a:lstStyle/>
                    <a:p>
                      <a:pPr algn="ctr" fontAlgn="t"/>
                      <a:r>
                        <a:rPr lang="en-IN">
                          <a:effectLst/>
                        </a:rPr>
                        <a:t>Sr.No.</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a:effectLst/>
                        </a:rPr>
                        <a:t>Infix Notation</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a:effectLst/>
                        </a:rPr>
                        <a:t>Prefix Notation</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a:effectLst/>
                        </a:rPr>
                        <a:t>Postfix Notation</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64287573"/>
                  </a:ext>
                </a:extLst>
              </a:tr>
              <a:tr h="517742">
                <a:tc>
                  <a:txBody>
                    <a:bodyPr/>
                    <a:lstStyle/>
                    <a:p>
                      <a:pPr fontAlgn="t"/>
                      <a:r>
                        <a:rPr lang="en-IN" dirty="0">
                          <a:effectLst/>
                        </a:rPr>
                        <a:t>1</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 + b</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 a b</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 b +</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738475243"/>
                  </a:ext>
                </a:extLst>
              </a:tr>
              <a:tr h="525782">
                <a:tc>
                  <a:txBody>
                    <a:bodyPr/>
                    <a:lstStyle/>
                    <a:p>
                      <a:pPr fontAlgn="t"/>
                      <a:r>
                        <a:rPr lang="en-IN" dirty="0">
                          <a:effectLst/>
                        </a:rPr>
                        <a:t>2</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 + b) ∗ c</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 + a b c</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 b + c ∗</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891671822"/>
                  </a:ext>
                </a:extLst>
              </a:tr>
              <a:tr h="525782">
                <a:tc>
                  <a:txBody>
                    <a:bodyPr/>
                    <a:lstStyle/>
                    <a:p>
                      <a:pPr fontAlgn="t"/>
                      <a:r>
                        <a:rPr lang="en-IN">
                          <a:effectLst/>
                        </a:rPr>
                        <a:t>3</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dirty="0">
                          <a:effectLst/>
                        </a:rPr>
                        <a:t>a ∗ (b + c)</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 a + b c</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 b c + ∗</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750061520"/>
                  </a:ext>
                </a:extLst>
              </a:tr>
              <a:tr h="525782">
                <a:tc>
                  <a:txBody>
                    <a:bodyPr/>
                    <a:lstStyle/>
                    <a:p>
                      <a:pPr fontAlgn="t"/>
                      <a:r>
                        <a:rPr lang="en-IN">
                          <a:effectLst/>
                        </a:rPr>
                        <a:t>4</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dirty="0">
                          <a:effectLst/>
                        </a:rPr>
                        <a:t>a / b + c / d</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 / a b / c d</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 b / c d / +</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15098650"/>
                  </a:ext>
                </a:extLst>
              </a:tr>
              <a:tr h="525782">
                <a:tc>
                  <a:txBody>
                    <a:bodyPr/>
                    <a:lstStyle/>
                    <a:p>
                      <a:pPr fontAlgn="t"/>
                      <a:r>
                        <a:rPr lang="en-IN">
                          <a:effectLst/>
                        </a:rPr>
                        <a:t>5</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 + b) ∗ (c + d)</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 + a b + c d</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 b + c d + ∗</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835918229"/>
                  </a:ext>
                </a:extLst>
              </a:tr>
              <a:tr h="525782">
                <a:tc>
                  <a:txBody>
                    <a:bodyPr/>
                    <a:lstStyle/>
                    <a:p>
                      <a:pPr fontAlgn="t"/>
                      <a:r>
                        <a:rPr lang="en-IN">
                          <a:effectLst/>
                        </a:rPr>
                        <a:t>6</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 + b) ∗ c) - d</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 ∗ + a b c d</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dirty="0">
                          <a:effectLst/>
                        </a:rPr>
                        <a:t>a b + c ∗ d -</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769408056"/>
                  </a:ext>
                </a:extLst>
              </a:tr>
            </a:tbl>
          </a:graphicData>
        </a:graphic>
      </p:graphicFrame>
      <p:sp>
        <p:nvSpPr>
          <p:cNvPr id="4" name="Slide Number Placeholder 3">
            <a:extLst>
              <a:ext uri="{FF2B5EF4-FFF2-40B4-BE49-F238E27FC236}">
                <a16:creationId xmlns:a16="http://schemas.microsoft.com/office/drawing/2014/main" id="{992C6D9D-3D16-41A8-AD24-C56D257727FF}"/>
              </a:ext>
            </a:extLst>
          </p:cNvPr>
          <p:cNvSpPr>
            <a:spLocks noGrp="1"/>
          </p:cNvSpPr>
          <p:nvPr>
            <p:ph type="sldNum" sz="quarter" idx="12"/>
          </p:nvPr>
        </p:nvSpPr>
        <p:spPr/>
        <p:txBody>
          <a:bodyPr/>
          <a:lstStyle/>
          <a:p>
            <a:fld id="{BDCDBBEF-AA6C-4BA6-85B2-A17D7F280E38}" type="slidenum">
              <a:rPr lang="en-US" smtClean="0"/>
              <a:pPr/>
              <a:t>15</a:t>
            </a:fld>
            <a:endParaRPr lang="en-US"/>
          </a:p>
        </p:txBody>
      </p:sp>
      <p:sp>
        <p:nvSpPr>
          <p:cNvPr id="7" name="Rectangle 6">
            <a:extLst>
              <a:ext uri="{FF2B5EF4-FFF2-40B4-BE49-F238E27FC236}">
                <a16:creationId xmlns:a16="http://schemas.microsoft.com/office/drawing/2014/main" id="{BB1494FF-E55B-44BA-A46A-FEF4CB142682}"/>
              </a:ext>
            </a:extLst>
          </p:cNvPr>
          <p:cNvSpPr/>
          <p:nvPr/>
        </p:nvSpPr>
        <p:spPr>
          <a:xfrm>
            <a:off x="895149" y="675201"/>
            <a:ext cx="10915049" cy="1692771"/>
          </a:xfrm>
          <a:prstGeom prst="rect">
            <a:avLst/>
          </a:prstGeom>
        </p:spPr>
        <p:txBody>
          <a:bodyPr wrap="square">
            <a:spAutoFit/>
          </a:bodyPr>
          <a:lstStyle/>
          <a:p>
            <a:pPr lvl="0" algn="just" eaLnBrk="0" fontAlgn="base" hangingPunct="0">
              <a:spcBef>
                <a:spcPct val="0"/>
              </a:spcBef>
              <a:spcAft>
                <a:spcPct val="0"/>
              </a:spcAft>
            </a:pPr>
            <a:r>
              <a:rPr lang="en-US" altLang="en-US" sz="3200" u="sng" dirty="0">
                <a:latin typeface="Arial" panose="020B0604020202020204" pitchFamily="34" charset="0"/>
                <a:cs typeface="Arial" panose="020B0604020202020204" pitchFamily="34" charset="0"/>
              </a:rPr>
              <a:t>Postfix Notation</a:t>
            </a:r>
          </a:p>
          <a:p>
            <a:pPr lvl="0" algn="just" eaLnBrk="0" fontAlgn="base" hangingPunct="0">
              <a:spcBef>
                <a:spcPct val="0"/>
              </a:spcBef>
              <a:spcAft>
                <a:spcPct val="0"/>
              </a:spcAft>
            </a:pPr>
            <a:r>
              <a:rPr lang="en-US" altLang="en-US" dirty="0">
                <a:solidFill>
                  <a:srgbClr val="000000"/>
                </a:solidFill>
                <a:latin typeface="Arial" panose="020B0604020202020204" pitchFamily="34" charset="0"/>
                <a:cs typeface="Arial" panose="020B0604020202020204" pitchFamily="34" charset="0"/>
              </a:rPr>
              <a:t>This notation style is known as </a:t>
            </a:r>
            <a:r>
              <a:rPr lang="en-US" altLang="en-US" b="1" dirty="0">
                <a:solidFill>
                  <a:srgbClr val="000000"/>
                </a:solidFill>
                <a:latin typeface="Arial" panose="020B0604020202020204" pitchFamily="34" charset="0"/>
                <a:cs typeface="Arial" panose="020B0604020202020204" pitchFamily="34" charset="0"/>
              </a:rPr>
              <a:t>Reversed Polish Notation</a:t>
            </a:r>
            <a:r>
              <a:rPr lang="en-US" altLang="en-US" dirty="0">
                <a:solidFill>
                  <a:srgbClr val="000000"/>
                </a:solidFill>
                <a:latin typeface="Arial" panose="020B0604020202020204" pitchFamily="34" charset="0"/>
                <a:cs typeface="Arial" panose="020B0604020202020204" pitchFamily="34" charset="0"/>
              </a:rPr>
              <a:t>. In this notation style, the operator is </a:t>
            </a:r>
            <a:r>
              <a:rPr lang="en-US" altLang="en-US" b="1" dirty="0" err="1">
                <a:solidFill>
                  <a:srgbClr val="000000"/>
                </a:solidFill>
                <a:latin typeface="Arial" panose="020B0604020202020204" pitchFamily="34" charset="0"/>
                <a:cs typeface="Arial" panose="020B0604020202020204" pitchFamily="34" charset="0"/>
              </a:rPr>
              <a:t>postfix</a:t>
            </a:r>
            <a:r>
              <a:rPr lang="en-US" altLang="en-US" dirty="0" err="1">
                <a:solidFill>
                  <a:srgbClr val="000000"/>
                </a:solidFill>
                <a:latin typeface="Arial" panose="020B0604020202020204" pitchFamily="34" charset="0"/>
                <a:cs typeface="Arial" panose="020B0604020202020204" pitchFamily="34" charset="0"/>
              </a:rPr>
              <a:t>ed</a:t>
            </a:r>
            <a:r>
              <a:rPr lang="en-US" altLang="en-US" dirty="0">
                <a:solidFill>
                  <a:srgbClr val="000000"/>
                </a:solidFill>
                <a:latin typeface="Arial" panose="020B0604020202020204" pitchFamily="34" charset="0"/>
                <a:cs typeface="Arial" panose="020B0604020202020204" pitchFamily="34" charset="0"/>
              </a:rPr>
              <a:t> to the operands i.e., the operator is written after the operands. For example, </a:t>
            </a:r>
            <a:r>
              <a:rPr lang="en-US" altLang="en-US" b="1" dirty="0">
                <a:solidFill>
                  <a:srgbClr val="000000"/>
                </a:solidFill>
                <a:latin typeface="Arial" panose="020B0604020202020204" pitchFamily="34" charset="0"/>
                <a:cs typeface="Arial" panose="020B0604020202020204" pitchFamily="34" charset="0"/>
              </a:rPr>
              <a:t>ab+</a:t>
            </a:r>
            <a:r>
              <a:rPr lang="en-US" altLang="en-US" dirty="0">
                <a:solidFill>
                  <a:srgbClr val="000000"/>
                </a:solidFill>
                <a:latin typeface="Arial" panose="020B0604020202020204" pitchFamily="34" charset="0"/>
                <a:cs typeface="Arial" panose="020B0604020202020204" pitchFamily="34" charset="0"/>
              </a:rPr>
              <a:t>. This is equivalent to its infix notation </a:t>
            </a:r>
            <a:r>
              <a:rPr lang="en-US" altLang="en-US" b="1" dirty="0">
                <a:solidFill>
                  <a:srgbClr val="000000"/>
                </a:solidFill>
                <a:latin typeface="Arial" panose="020B0604020202020204" pitchFamily="34" charset="0"/>
                <a:cs typeface="Arial" panose="020B0604020202020204" pitchFamily="34" charset="0"/>
              </a:rPr>
              <a:t>a + b</a:t>
            </a:r>
            <a:r>
              <a:rPr lang="en-US" altLang="en-US" dirty="0">
                <a:solidFill>
                  <a:srgbClr val="000000"/>
                </a:solidFill>
                <a:latin typeface="Arial" panose="020B0604020202020204" pitchFamily="34" charset="0"/>
                <a:cs typeface="Arial" panose="020B0604020202020204" pitchFamily="34" charset="0"/>
              </a:rPr>
              <a:t>.</a:t>
            </a:r>
            <a:endParaRPr lang="en-US" altLang="en-US" sz="1100" dirty="0"/>
          </a:p>
          <a:p>
            <a:pPr lvl="0" algn="just" eaLnBrk="0" fontAlgn="base" hangingPunct="0">
              <a:spcBef>
                <a:spcPct val="0"/>
              </a:spcBef>
              <a:spcAft>
                <a:spcPct val="0"/>
              </a:spcAft>
            </a:pPr>
            <a:r>
              <a:rPr lang="en-US" altLang="en-US" dirty="0">
                <a:solidFill>
                  <a:srgbClr val="000000"/>
                </a:solidFill>
                <a:latin typeface="Arial" panose="020B0604020202020204" pitchFamily="34" charset="0"/>
                <a:cs typeface="Arial" panose="020B0604020202020204" pitchFamily="34" charset="0"/>
              </a:rPr>
              <a:t>The following table briefly tries to show the difference in all three notations −</a:t>
            </a:r>
            <a:endParaRPr lang="en-US" altLang="en-US" sz="3200" dirty="0">
              <a:latin typeface="Arial" panose="020B0604020202020204" pitchFamily="34" charset="0"/>
            </a:endParaRPr>
          </a:p>
        </p:txBody>
      </p:sp>
    </p:spTree>
    <p:extLst>
      <p:ext uri="{BB962C8B-B14F-4D97-AF65-F5344CB8AC3E}">
        <p14:creationId xmlns:p14="http://schemas.microsoft.com/office/powerpoint/2010/main" val="2666223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A9585A72-8FB9-4303-B82D-268A6F0A5F72}"/>
              </a:ext>
            </a:extLst>
          </p:cNvPr>
          <p:cNvGraphicFramePr>
            <a:graphicFrameLocks noGrp="1"/>
          </p:cNvGraphicFramePr>
          <p:nvPr>
            <p:ph idx="1"/>
            <p:extLst>
              <p:ext uri="{D42A27DB-BD31-4B8C-83A1-F6EECF244321}">
                <p14:modId xmlns:p14="http://schemas.microsoft.com/office/powerpoint/2010/main" val="2636837243"/>
              </p:ext>
            </p:extLst>
          </p:nvPr>
        </p:nvGraphicFramePr>
        <p:xfrm>
          <a:off x="433137" y="4514733"/>
          <a:ext cx="10732168" cy="2052320"/>
        </p:xfrm>
        <a:graphic>
          <a:graphicData uri="http://schemas.openxmlformats.org/drawingml/2006/table">
            <a:tbl>
              <a:tblPr/>
              <a:tblGrid>
                <a:gridCol w="2683042">
                  <a:extLst>
                    <a:ext uri="{9D8B030D-6E8A-4147-A177-3AD203B41FA5}">
                      <a16:colId xmlns:a16="http://schemas.microsoft.com/office/drawing/2014/main" val="1352376317"/>
                    </a:ext>
                  </a:extLst>
                </a:gridCol>
                <a:gridCol w="2683042">
                  <a:extLst>
                    <a:ext uri="{9D8B030D-6E8A-4147-A177-3AD203B41FA5}">
                      <a16:colId xmlns:a16="http://schemas.microsoft.com/office/drawing/2014/main" val="1688263935"/>
                    </a:ext>
                  </a:extLst>
                </a:gridCol>
                <a:gridCol w="2683042">
                  <a:extLst>
                    <a:ext uri="{9D8B030D-6E8A-4147-A177-3AD203B41FA5}">
                      <a16:colId xmlns:a16="http://schemas.microsoft.com/office/drawing/2014/main" val="3570326603"/>
                    </a:ext>
                  </a:extLst>
                </a:gridCol>
                <a:gridCol w="2683042">
                  <a:extLst>
                    <a:ext uri="{9D8B030D-6E8A-4147-A177-3AD203B41FA5}">
                      <a16:colId xmlns:a16="http://schemas.microsoft.com/office/drawing/2014/main" val="4028292061"/>
                    </a:ext>
                  </a:extLst>
                </a:gridCol>
              </a:tblGrid>
              <a:tr h="307454">
                <a:tc>
                  <a:txBody>
                    <a:bodyPr/>
                    <a:lstStyle/>
                    <a:p>
                      <a:pPr algn="ctr" fontAlgn="t"/>
                      <a:r>
                        <a:rPr lang="en-IN">
                          <a:effectLst/>
                        </a:rPr>
                        <a:t>Sr.No.</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a:effectLst/>
                        </a:rPr>
                        <a:t>Operator</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a:effectLst/>
                        </a:rPr>
                        <a:t>Precedence</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a:effectLst/>
                        </a:rPr>
                        <a:t>Associativity</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321995686"/>
                  </a:ext>
                </a:extLst>
              </a:tr>
              <a:tr h="307454">
                <a:tc>
                  <a:txBody>
                    <a:bodyPr/>
                    <a:lstStyle/>
                    <a:p>
                      <a:pPr fontAlgn="t"/>
                      <a:r>
                        <a:rPr lang="en-IN">
                          <a:effectLst/>
                        </a:rPr>
                        <a:t>1</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Exponentiation ^</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Highest</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Right Associative</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45534290"/>
                  </a:ext>
                </a:extLst>
              </a:tr>
              <a:tr h="531813">
                <a:tc>
                  <a:txBody>
                    <a:bodyPr/>
                    <a:lstStyle/>
                    <a:p>
                      <a:pPr fontAlgn="t"/>
                      <a:r>
                        <a:rPr lang="en-IN" dirty="0">
                          <a:effectLst/>
                        </a:rPr>
                        <a:t>2</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Multiplication ( ∗ ) &amp; Division ( / )</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Second Highest</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Left Associative</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47078966"/>
                  </a:ext>
                </a:extLst>
              </a:tr>
              <a:tr h="531813">
                <a:tc>
                  <a:txBody>
                    <a:bodyPr/>
                    <a:lstStyle/>
                    <a:p>
                      <a:pPr fontAlgn="t"/>
                      <a:r>
                        <a:rPr lang="en-IN">
                          <a:effectLst/>
                        </a:rPr>
                        <a:t>3</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Addition ( + ) &amp; Subtraction ( − )</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Lowest</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dirty="0">
                          <a:effectLst/>
                        </a:rPr>
                        <a:t>Left Associative</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4296254"/>
                  </a:ext>
                </a:extLst>
              </a:tr>
            </a:tbl>
          </a:graphicData>
        </a:graphic>
      </p:graphicFrame>
      <p:sp>
        <p:nvSpPr>
          <p:cNvPr id="4" name="Slide Number Placeholder 3">
            <a:extLst>
              <a:ext uri="{FF2B5EF4-FFF2-40B4-BE49-F238E27FC236}">
                <a16:creationId xmlns:a16="http://schemas.microsoft.com/office/drawing/2014/main" id="{551D991A-7AA3-4EC3-BD99-4ED8E1FCC202}"/>
              </a:ext>
            </a:extLst>
          </p:cNvPr>
          <p:cNvSpPr>
            <a:spLocks noGrp="1"/>
          </p:cNvSpPr>
          <p:nvPr>
            <p:ph type="sldNum" sz="quarter" idx="12"/>
          </p:nvPr>
        </p:nvSpPr>
        <p:spPr/>
        <p:txBody>
          <a:bodyPr/>
          <a:lstStyle/>
          <a:p>
            <a:fld id="{BDCDBBEF-AA6C-4BA6-85B2-A17D7F280E38}" type="slidenum">
              <a:rPr lang="en-US" smtClean="0"/>
              <a:pPr/>
              <a:t>16</a:t>
            </a:fld>
            <a:endParaRPr lang="en-US"/>
          </a:p>
        </p:txBody>
      </p:sp>
      <p:sp>
        <p:nvSpPr>
          <p:cNvPr id="7" name="AutoShape 2" descr="Operator Precendence">
            <a:extLst>
              <a:ext uri="{FF2B5EF4-FFF2-40B4-BE49-F238E27FC236}">
                <a16:creationId xmlns:a16="http://schemas.microsoft.com/office/drawing/2014/main" id="{191C30FE-4515-4BCA-A60F-DE5F59DA68E0}"/>
              </a:ext>
            </a:extLst>
          </p:cNvPr>
          <p:cNvSpPr>
            <a:spLocks noChangeAspect="1" noChangeArrowheads="1"/>
          </p:cNvSpPr>
          <p:nvPr/>
        </p:nvSpPr>
        <p:spPr bwMode="auto">
          <a:xfrm>
            <a:off x="4246563" y="1564840"/>
            <a:ext cx="557712" cy="13854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02C0AEF0-A4EB-4351-8E47-6EDE322827AB}"/>
              </a:ext>
            </a:extLst>
          </p:cNvPr>
          <p:cNvSpPr/>
          <p:nvPr/>
        </p:nvSpPr>
        <p:spPr>
          <a:xfrm>
            <a:off x="1001027" y="217705"/>
            <a:ext cx="9885146" cy="4247317"/>
          </a:xfrm>
          <a:prstGeom prst="rect">
            <a:avLst/>
          </a:prstGeom>
        </p:spPr>
        <p:txBody>
          <a:bodyPr wrap="square">
            <a:spAutoFit/>
          </a:bodyPr>
          <a:lstStyle/>
          <a:p>
            <a:pPr lvl="0" algn="just" eaLnBrk="0" fontAlgn="base" hangingPunct="0">
              <a:spcBef>
                <a:spcPct val="0"/>
              </a:spcBef>
              <a:spcAft>
                <a:spcPct val="0"/>
              </a:spcAft>
            </a:pPr>
            <a:endParaRPr lang="en-US" altLang="en-US" sz="2400" dirty="0">
              <a:latin typeface="Arial" panose="020B0604020202020204" pitchFamily="34" charset="0"/>
              <a:cs typeface="Arial" panose="020B0604020202020204" pitchFamily="34" charset="0"/>
            </a:endParaRPr>
          </a:p>
          <a:p>
            <a:pPr lvl="0" algn="just" eaLnBrk="0" fontAlgn="base" hangingPunct="0">
              <a:spcBef>
                <a:spcPct val="0"/>
              </a:spcBef>
              <a:spcAft>
                <a:spcPct val="0"/>
              </a:spcAft>
            </a:pPr>
            <a:r>
              <a:rPr lang="en-US" altLang="en-US" sz="2400" dirty="0">
                <a:latin typeface="Arial" panose="020B0604020202020204" pitchFamily="34" charset="0"/>
                <a:cs typeface="Arial" panose="020B0604020202020204" pitchFamily="34" charset="0"/>
              </a:rPr>
              <a:t>Precedence</a:t>
            </a:r>
          </a:p>
          <a:p>
            <a:pPr lvl="0" algn="just" eaLnBrk="0" fontAlgn="base" hangingPunct="0">
              <a:spcBef>
                <a:spcPct val="0"/>
              </a:spcBef>
              <a:spcAft>
                <a:spcPct val="0"/>
              </a:spcAft>
            </a:pPr>
            <a:r>
              <a:rPr lang="en-US" altLang="en-US" dirty="0">
                <a:solidFill>
                  <a:srgbClr val="000000"/>
                </a:solidFill>
                <a:latin typeface="Arial" panose="020B0604020202020204" pitchFamily="34" charset="0"/>
                <a:cs typeface="Arial" panose="020B0604020202020204" pitchFamily="34" charset="0"/>
              </a:rPr>
              <a:t>When an operand is in between two different operators, which operator will take the operand first, is decided by the precedence of an operator over others. </a:t>
            </a:r>
          </a:p>
          <a:p>
            <a:pPr lvl="0" algn="just" eaLnBrk="0" fontAlgn="base" hangingPunct="0">
              <a:spcBef>
                <a:spcPct val="0"/>
              </a:spcBef>
              <a:spcAft>
                <a:spcPct val="0"/>
              </a:spcAft>
            </a:pPr>
            <a:r>
              <a:rPr lang="en-US" altLang="en-US" sz="2400" dirty="0">
                <a:latin typeface="Arial" panose="020B0604020202020204" pitchFamily="34" charset="0"/>
                <a:cs typeface="Arial" panose="020B0604020202020204" pitchFamily="34" charset="0"/>
              </a:rPr>
              <a:t>Associativity</a:t>
            </a:r>
          </a:p>
          <a:p>
            <a:pPr lvl="0" algn="just" eaLnBrk="0" fontAlgn="base" hangingPunct="0">
              <a:spcBef>
                <a:spcPct val="0"/>
              </a:spcBef>
              <a:spcAft>
                <a:spcPct val="0"/>
              </a:spcAft>
            </a:pPr>
            <a:r>
              <a:rPr lang="en-US" altLang="en-US" dirty="0">
                <a:solidFill>
                  <a:srgbClr val="000000"/>
                </a:solidFill>
                <a:latin typeface="Arial" panose="020B0604020202020204" pitchFamily="34" charset="0"/>
                <a:cs typeface="Arial" panose="020B0604020202020204" pitchFamily="34" charset="0"/>
              </a:rPr>
              <a:t>Associativity describes the rule where operators with the same precedence appear in an expression. For example, in expression a + b − c, both + and – have the same precedence, then which part of the expression will be evaluated first, is determined by associativity of those operators. Here, both + and − are left associative, so the expression will be evaluated as </a:t>
            </a:r>
            <a:r>
              <a:rPr lang="en-US" altLang="en-US" b="1" dirty="0">
                <a:solidFill>
                  <a:srgbClr val="000000"/>
                </a:solidFill>
                <a:latin typeface="Arial" panose="020B0604020202020204" pitchFamily="34" charset="0"/>
                <a:cs typeface="Arial" panose="020B0604020202020204" pitchFamily="34" charset="0"/>
              </a:rPr>
              <a:t>(a + b) − c</a:t>
            </a:r>
            <a:r>
              <a:rPr lang="en-US" altLang="en-US" dirty="0">
                <a:solidFill>
                  <a:srgbClr val="000000"/>
                </a:solidFill>
                <a:latin typeface="Arial" panose="020B0604020202020204" pitchFamily="34" charset="0"/>
                <a:cs typeface="Arial" panose="020B0604020202020204" pitchFamily="34" charset="0"/>
              </a:rPr>
              <a:t>.</a:t>
            </a:r>
            <a:endParaRPr lang="en-US" altLang="en-US" sz="1100" dirty="0"/>
          </a:p>
          <a:p>
            <a:pPr lvl="0" algn="just" eaLnBrk="0" fontAlgn="base" hangingPunct="0">
              <a:spcBef>
                <a:spcPct val="0"/>
              </a:spcBef>
              <a:spcAft>
                <a:spcPct val="0"/>
              </a:spcAft>
            </a:pPr>
            <a:r>
              <a:rPr lang="en-US" altLang="en-US" dirty="0">
                <a:solidFill>
                  <a:srgbClr val="000000"/>
                </a:solidFill>
                <a:latin typeface="Arial" panose="020B0604020202020204" pitchFamily="34" charset="0"/>
                <a:cs typeface="Arial" panose="020B0604020202020204" pitchFamily="34" charset="0"/>
              </a:rPr>
              <a:t>Precedence and associativity determines the order of evaluation of an expression. Following is an operator precedence and associativity table (highest to lowest) −</a:t>
            </a:r>
            <a:endParaRPr lang="en-US" altLang="en-US" sz="1100" dirty="0"/>
          </a:p>
          <a:p>
            <a:pPr lvl="0" algn="just" eaLnBrk="0" fontAlgn="base" hangingPunct="0">
              <a:spcBef>
                <a:spcPct val="0"/>
              </a:spcBef>
              <a:spcAft>
                <a:spcPct val="0"/>
              </a:spcAft>
            </a:pPr>
            <a:r>
              <a:rPr lang="en-US" altLang="en-US" dirty="0">
                <a:solidFill>
                  <a:srgbClr val="000000"/>
                </a:solidFill>
                <a:latin typeface="Arial" panose="020B0604020202020204" pitchFamily="34" charset="0"/>
                <a:cs typeface="Arial" panose="020B0604020202020204" pitchFamily="34" charset="0"/>
              </a:rPr>
              <a:t>In </a:t>
            </a:r>
            <a:r>
              <a:rPr lang="en-US" altLang="en-US" b="1" dirty="0">
                <a:solidFill>
                  <a:srgbClr val="000000"/>
                </a:solidFill>
                <a:latin typeface="Arial" panose="020B0604020202020204" pitchFamily="34" charset="0"/>
                <a:cs typeface="Arial" panose="020B0604020202020204" pitchFamily="34" charset="0"/>
              </a:rPr>
              <a:t>a + b*c</a:t>
            </a:r>
            <a:r>
              <a:rPr lang="en-US" altLang="en-US" dirty="0">
                <a:solidFill>
                  <a:srgbClr val="000000"/>
                </a:solidFill>
                <a:latin typeface="Arial" panose="020B0604020202020204" pitchFamily="34" charset="0"/>
                <a:cs typeface="Arial" panose="020B0604020202020204" pitchFamily="34" charset="0"/>
              </a:rPr>
              <a:t>, the expression part </a:t>
            </a:r>
            <a:r>
              <a:rPr lang="en-US" altLang="en-US" b="1" dirty="0">
                <a:solidFill>
                  <a:srgbClr val="000000"/>
                </a:solidFill>
                <a:latin typeface="Arial" panose="020B0604020202020204" pitchFamily="34" charset="0"/>
                <a:cs typeface="Arial" panose="020B0604020202020204" pitchFamily="34" charset="0"/>
              </a:rPr>
              <a:t>b</a:t>
            </a:r>
            <a:r>
              <a:rPr lang="en-US" altLang="en-US" dirty="0">
                <a:solidFill>
                  <a:srgbClr val="000000"/>
                </a:solidFill>
                <a:latin typeface="Arial" panose="020B0604020202020204" pitchFamily="34" charset="0"/>
                <a:cs typeface="Arial" panose="020B0604020202020204" pitchFamily="34" charset="0"/>
              </a:rPr>
              <a:t>*</a:t>
            </a:r>
            <a:r>
              <a:rPr lang="en-US" altLang="en-US" b="1" dirty="0">
                <a:solidFill>
                  <a:srgbClr val="000000"/>
                </a:solidFill>
                <a:latin typeface="Arial" panose="020B0604020202020204" pitchFamily="34" charset="0"/>
                <a:cs typeface="Arial" panose="020B0604020202020204" pitchFamily="34" charset="0"/>
              </a:rPr>
              <a:t>c</a:t>
            </a:r>
            <a:r>
              <a:rPr lang="en-US" altLang="en-US" dirty="0">
                <a:solidFill>
                  <a:srgbClr val="000000"/>
                </a:solidFill>
                <a:latin typeface="Arial" panose="020B0604020202020204" pitchFamily="34" charset="0"/>
                <a:cs typeface="Arial" panose="020B0604020202020204" pitchFamily="34" charset="0"/>
              </a:rPr>
              <a:t> will be evaluated first, with multiplication as precedence over addition. We here use parenthesis for </a:t>
            </a:r>
            <a:r>
              <a:rPr lang="en-US" altLang="en-US" b="1" dirty="0">
                <a:solidFill>
                  <a:srgbClr val="000000"/>
                </a:solidFill>
                <a:latin typeface="Arial" panose="020B0604020202020204" pitchFamily="34" charset="0"/>
                <a:cs typeface="Arial" panose="020B0604020202020204" pitchFamily="34" charset="0"/>
              </a:rPr>
              <a:t>a + b</a:t>
            </a:r>
            <a:r>
              <a:rPr lang="en-US" altLang="en-US" dirty="0">
                <a:solidFill>
                  <a:srgbClr val="000000"/>
                </a:solidFill>
                <a:latin typeface="Arial" panose="020B0604020202020204" pitchFamily="34" charset="0"/>
                <a:cs typeface="Arial" panose="020B0604020202020204" pitchFamily="34" charset="0"/>
              </a:rPr>
              <a:t> to be evaluated first, like </a:t>
            </a:r>
            <a:r>
              <a:rPr lang="en-US" altLang="en-US" b="1" dirty="0">
                <a:solidFill>
                  <a:srgbClr val="000000"/>
                </a:solidFill>
                <a:latin typeface="Arial" panose="020B0604020202020204" pitchFamily="34" charset="0"/>
                <a:cs typeface="Arial" panose="020B0604020202020204" pitchFamily="34" charset="0"/>
              </a:rPr>
              <a:t>(a + b)*c</a:t>
            </a:r>
            <a:r>
              <a:rPr lang="en-US" altLang="en-US" dirty="0">
                <a:solidFill>
                  <a:srgbClr val="000000"/>
                </a:solidFill>
                <a:latin typeface="Arial" panose="020B0604020202020204" pitchFamily="34" charset="0"/>
                <a:cs typeface="Arial" panose="020B0604020202020204" pitchFamily="34" charset="0"/>
              </a:rPr>
              <a:t>.</a:t>
            </a:r>
            <a:endParaRPr lang="en-IN" dirty="0"/>
          </a:p>
        </p:txBody>
      </p:sp>
    </p:spTree>
    <p:extLst>
      <p:ext uri="{BB962C8B-B14F-4D97-AF65-F5344CB8AC3E}">
        <p14:creationId xmlns:p14="http://schemas.microsoft.com/office/powerpoint/2010/main" val="1295452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0149448-4044-4EBF-BF19-8F1560A56C17}"/>
              </a:ext>
            </a:extLst>
          </p:cNvPr>
          <p:cNvSpPr>
            <a:spLocks noGrp="1"/>
          </p:cNvSpPr>
          <p:nvPr>
            <p:ph type="title"/>
          </p:nvPr>
        </p:nvSpPr>
        <p:spPr>
          <a:xfrm>
            <a:off x="838200" y="1106905"/>
            <a:ext cx="10515600" cy="583783"/>
          </a:xfrm>
        </p:spPr>
        <p:txBody>
          <a:bodyPr>
            <a:normAutofit fontScale="90000"/>
          </a:bodyPr>
          <a:lstStyle/>
          <a:p>
            <a:r>
              <a:rPr lang="en-US" b="1" u="sng" dirty="0"/>
              <a:t>Postfix Evaluation Algorithm</a:t>
            </a:r>
            <a:r>
              <a:rPr lang="en-US" dirty="0"/>
              <a:t/>
            </a:r>
            <a:br>
              <a:rPr lang="en-US" dirty="0"/>
            </a:br>
            <a:r>
              <a:rPr lang="en-US" dirty="0"/>
              <a:t/>
            </a:r>
            <a:br>
              <a:rPr lang="en-US" dirty="0"/>
            </a:br>
            <a:endParaRPr lang="en-IN" dirty="0"/>
          </a:p>
        </p:txBody>
      </p:sp>
      <p:sp>
        <p:nvSpPr>
          <p:cNvPr id="5" name="Rectangle 1">
            <a:extLst>
              <a:ext uri="{FF2B5EF4-FFF2-40B4-BE49-F238E27FC236}">
                <a16:creationId xmlns:a16="http://schemas.microsoft.com/office/drawing/2014/main" id="{FA38D815-9D91-45BE-A980-3CA17C06B1F2}"/>
              </a:ext>
            </a:extLst>
          </p:cNvPr>
          <p:cNvSpPr>
            <a:spLocks noGrp="1" noChangeArrowheads="1"/>
          </p:cNvSpPr>
          <p:nvPr>
            <p:ph idx="1"/>
          </p:nvPr>
        </p:nvSpPr>
        <p:spPr/>
        <p:txBody>
          <a:bodyPr/>
          <a:lstStyle/>
          <a:p>
            <a:pPr lvl="0"/>
            <a:r>
              <a:rPr lang="en-US" altLang="en-US" dirty="0"/>
              <a:t>Step 1 − scan the expression from left to right </a:t>
            </a:r>
          </a:p>
          <a:p>
            <a:pPr lvl="0"/>
            <a:r>
              <a:rPr lang="en-US" altLang="en-US" dirty="0"/>
              <a:t>Step 2 − if it is an operand push it to stack </a:t>
            </a:r>
          </a:p>
          <a:p>
            <a:pPr lvl="0"/>
            <a:r>
              <a:rPr lang="en-US" altLang="en-US" dirty="0"/>
              <a:t>Step 3 − if it is an operator pull operand from stack and perform operation </a:t>
            </a:r>
          </a:p>
          <a:p>
            <a:pPr lvl="0"/>
            <a:r>
              <a:rPr lang="en-US" altLang="en-US" dirty="0"/>
              <a:t>Step 4 − store the output of step 3, back to stack </a:t>
            </a:r>
          </a:p>
          <a:p>
            <a:pPr lvl="0"/>
            <a:r>
              <a:rPr lang="en-US" altLang="en-US" dirty="0"/>
              <a:t>Step 5 − scan the expression until all operands are consumed </a:t>
            </a:r>
          </a:p>
          <a:p>
            <a:pPr lvl="0"/>
            <a:r>
              <a:rPr lang="en-US" altLang="en-US" dirty="0"/>
              <a:t>Step 6 − pop the stack and perform operation </a:t>
            </a:r>
          </a:p>
        </p:txBody>
      </p:sp>
      <p:sp>
        <p:nvSpPr>
          <p:cNvPr id="4" name="Slide Number Placeholder 3">
            <a:extLst>
              <a:ext uri="{FF2B5EF4-FFF2-40B4-BE49-F238E27FC236}">
                <a16:creationId xmlns:a16="http://schemas.microsoft.com/office/drawing/2014/main" id="{9CA8C81B-6E82-456D-841C-21C2939458AA}"/>
              </a:ext>
            </a:extLst>
          </p:cNvPr>
          <p:cNvSpPr>
            <a:spLocks noGrp="1"/>
          </p:cNvSpPr>
          <p:nvPr>
            <p:ph type="sldNum" sz="quarter" idx="12"/>
          </p:nvPr>
        </p:nvSpPr>
        <p:spPr/>
        <p:txBody>
          <a:bodyPr/>
          <a:lstStyle/>
          <a:p>
            <a:fld id="{BDCDBBEF-AA6C-4BA6-85B2-A17D7F280E38}" type="slidenum">
              <a:rPr lang="en-US" smtClean="0"/>
              <a:pPr/>
              <a:t>17</a:t>
            </a:fld>
            <a:endParaRPr lang="en-US"/>
          </a:p>
        </p:txBody>
      </p:sp>
    </p:spTree>
    <p:extLst>
      <p:ext uri="{BB962C8B-B14F-4D97-AF65-F5344CB8AC3E}">
        <p14:creationId xmlns:p14="http://schemas.microsoft.com/office/powerpoint/2010/main" val="4042242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r>
              <a:rPr lang="en-US" b="1" dirty="0">
                <a:latin typeface="Casper Bold"/>
              </a:rPr>
              <a:t>Applications of Stack</a:t>
            </a:r>
          </a:p>
        </p:txBody>
      </p:sp>
      <p:sp>
        <p:nvSpPr>
          <p:cNvPr id="3" name="Content Placeholder 2"/>
          <p:cNvSpPr>
            <a:spLocks noGrp="1"/>
          </p:cNvSpPr>
          <p:nvPr>
            <p:ph idx="1"/>
          </p:nvPr>
        </p:nvSpPr>
        <p:spPr/>
        <p:txBody>
          <a:bodyPr>
            <a:normAutofit/>
          </a:bodyPr>
          <a:lstStyle/>
          <a:p>
            <a:r>
              <a:rPr lang="en-US" sz="1600" dirty="0">
                <a:solidFill>
                  <a:schemeClr val="tx1">
                    <a:lumMod val="85000"/>
                    <a:lumOff val="15000"/>
                  </a:schemeClr>
                </a:solidFill>
                <a:latin typeface="Casper" panose="02000506000000020004" pitchFamily="2" charset="0"/>
                <a:cs typeface="Arial" panose="020B0604020202020204" pitchFamily="34" charset="0"/>
              </a:rPr>
              <a:t>Express Evolution</a:t>
            </a:r>
          </a:p>
          <a:p>
            <a:r>
              <a:rPr lang="en-US" sz="1600" dirty="0">
                <a:solidFill>
                  <a:schemeClr val="tx1">
                    <a:lumMod val="85000"/>
                    <a:lumOff val="15000"/>
                  </a:schemeClr>
                </a:solidFill>
                <a:latin typeface="Casper" panose="02000506000000020004" pitchFamily="2" charset="0"/>
                <a:cs typeface="Arial" panose="020B0604020202020204" pitchFamily="34" charset="0"/>
              </a:rPr>
              <a:t>Express interchange</a:t>
            </a:r>
          </a:p>
          <a:p>
            <a:pPr lvl="1"/>
            <a:r>
              <a:rPr lang="en-US" sz="1600" dirty="0">
                <a:solidFill>
                  <a:schemeClr val="tx1">
                    <a:lumMod val="85000"/>
                    <a:lumOff val="15000"/>
                  </a:schemeClr>
                </a:solidFill>
                <a:latin typeface="Casper" panose="02000506000000020004" pitchFamily="2" charset="0"/>
                <a:cs typeface="Arial" panose="020B0604020202020204" pitchFamily="34" charset="0"/>
              </a:rPr>
              <a:t>Infix changes to Postfix</a:t>
            </a:r>
          </a:p>
          <a:p>
            <a:pPr lvl="1"/>
            <a:r>
              <a:rPr lang="en-US" sz="1600" dirty="0">
                <a:solidFill>
                  <a:schemeClr val="tx1">
                    <a:lumMod val="85000"/>
                    <a:lumOff val="15000"/>
                  </a:schemeClr>
                </a:solidFill>
                <a:latin typeface="Casper" panose="02000506000000020004" pitchFamily="2" charset="0"/>
                <a:cs typeface="Arial" panose="020B0604020202020204" pitchFamily="34" charset="0"/>
              </a:rPr>
              <a:t>Infix changes to Prefix</a:t>
            </a:r>
          </a:p>
          <a:p>
            <a:pPr lvl="1"/>
            <a:r>
              <a:rPr lang="en-US" sz="1600" dirty="0">
                <a:solidFill>
                  <a:schemeClr val="tx1">
                    <a:lumMod val="85000"/>
                    <a:lumOff val="15000"/>
                  </a:schemeClr>
                </a:solidFill>
                <a:latin typeface="Casper" panose="02000506000000020004" pitchFamily="2" charset="0"/>
                <a:cs typeface="Arial" panose="020B0604020202020204" pitchFamily="34" charset="0"/>
              </a:rPr>
              <a:t>Postfix changes to Infix</a:t>
            </a:r>
          </a:p>
          <a:p>
            <a:pPr lvl="1"/>
            <a:r>
              <a:rPr lang="en-US" sz="1600" dirty="0">
                <a:solidFill>
                  <a:schemeClr val="tx1">
                    <a:lumMod val="85000"/>
                    <a:lumOff val="15000"/>
                  </a:schemeClr>
                </a:solidFill>
                <a:latin typeface="Casper" panose="02000506000000020004" pitchFamily="2" charset="0"/>
                <a:cs typeface="Arial" panose="020B0604020202020204" pitchFamily="34" charset="0"/>
              </a:rPr>
              <a:t>Prefix changes to Infix</a:t>
            </a:r>
          </a:p>
          <a:p>
            <a:r>
              <a:rPr lang="en-US" sz="1600" dirty="0">
                <a:solidFill>
                  <a:schemeClr val="tx1">
                    <a:lumMod val="85000"/>
                    <a:lumOff val="15000"/>
                  </a:schemeClr>
                </a:solidFill>
                <a:latin typeface="Casper" panose="02000506000000020004" pitchFamily="2" charset="0"/>
                <a:cs typeface="Arial" panose="020B0604020202020204" pitchFamily="34" charset="0"/>
              </a:rPr>
              <a:t>Parsing easily done</a:t>
            </a:r>
          </a:p>
          <a:p>
            <a:r>
              <a:rPr lang="en-US" sz="1600" dirty="0">
                <a:solidFill>
                  <a:schemeClr val="tx1">
                    <a:lumMod val="85000"/>
                    <a:lumOff val="15000"/>
                  </a:schemeClr>
                </a:solidFill>
                <a:latin typeface="Casper" panose="02000506000000020004" pitchFamily="2" charset="0"/>
                <a:cs typeface="Arial" panose="020B0604020202020204" pitchFamily="34" charset="0"/>
              </a:rPr>
              <a:t>Simulation of recursion</a:t>
            </a:r>
          </a:p>
          <a:p>
            <a:r>
              <a:rPr lang="en-US" sz="1600" dirty="0">
                <a:solidFill>
                  <a:schemeClr val="tx1">
                    <a:lumMod val="85000"/>
                    <a:lumOff val="15000"/>
                  </a:schemeClr>
                </a:solidFill>
                <a:latin typeface="Casper" panose="02000506000000020004" pitchFamily="2" charset="0"/>
                <a:cs typeface="Arial" panose="020B0604020202020204" pitchFamily="34" charset="0"/>
              </a:rPr>
              <a:t>Function call</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Casper Bold" panose="02000806040000020004" pitchFamily="2" charset="0"/>
                <a:cs typeface="Arial" panose="020B0604020202020204" pitchFamily="34" charset="0"/>
              </a:rPr>
              <a:t>REFERENCES </a:t>
            </a:r>
            <a:r>
              <a:rPr lang="en-US" sz="4000" b="1"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p:txBody>
          <a:bodyPr>
            <a:normAutofit/>
          </a:bodyPr>
          <a:lstStyle/>
          <a:p>
            <a:pPr marL="0" indent="0">
              <a:buNone/>
            </a:pPr>
            <a:endParaRPr lang="en-US" sz="1600" dirty="0">
              <a:hlinkClick r:id="rId2"/>
            </a:endParaRPr>
          </a:p>
          <a:p>
            <a:r>
              <a:rPr lang="en-US" sz="1600" dirty="0">
                <a:solidFill>
                  <a:schemeClr val="tx1">
                    <a:lumMod val="85000"/>
                    <a:lumOff val="15000"/>
                  </a:schemeClr>
                </a:solidFill>
                <a:latin typeface="Casper" panose="02000506000000020004" pitchFamily="2" charset="0"/>
                <a:cs typeface="Arial" panose="020B0604020202020204" pitchFamily="34" charset="0"/>
                <a:hlinkClick r:id="rId2"/>
              </a:rPr>
              <a:t>https://www.cs.cmu.edu/~adamchik/15-121/lectures/Stacks%20and%20Queues/Stacks%20and%20Queues.html</a:t>
            </a:r>
            <a:endParaRPr lang="en-US" sz="1600" dirty="0">
              <a:solidFill>
                <a:schemeClr val="tx1">
                  <a:lumMod val="85000"/>
                  <a:lumOff val="15000"/>
                </a:schemeClr>
              </a:solidFill>
              <a:latin typeface="Casper" panose="02000506000000020004" pitchFamily="2" charset="0"/>
              <a:cs typeface="Arial" panose="020B0604020202020204" pitchFamily="34" charset="0"/>
            </a:endParaRPr>
          </a:p>
          <a:p>
            <a:r>
              <a:rPr lang="en-US" sz="1600" dirty="0">
                <a:solidFill>
                  <a:schemeClr val="tx1">
                    <a:lumMod val="85000"/>
                    <a:lumOff val="15000"/>
                  </a:schemeClr>
                </a:solidFill>
                <a:latin typeface="Casper" panose="02000506000000020004" pitchFamily="2" charset="0"/>
                <a:cs typeface="Arial" panose="020B0604020202020204" pitchFamily="34" charset="0"/>
              </a:rPr>
              <a:t>Data Structures with C/ </a:t>
            </a:r>
            <a:r>
              <a:rPr lang="en-US" sz="1600" dirty="0" err="1">
                <a:solidFill>
                  <a:schemeClr val="tx1">
                    <a:lumMod val="85000"/>
                    <a:lumOff val="15000"/>
                  </a:schemeClr>
                </a:solidFill>
                <a:latin typeface="Casper" panose="02000506000000020004" pitchFamily="2" charset="0"/>
                <a:cs typeface="Arial" panose="020B0604020202020204" pitchFamily="34" charset="0"/>
              </a:rPr>
              <a:t>schaum</a:t>
            </a:r>
            <a:r>
              <a:rPr lang="en-US" sz="1600" dirty="0">
                <a:solidFill>
                  <a:schemeClr val="tx1">
                    <a:lumMod val="85000"/>
                    <a:lumOff val="15000"/>
                  </a:schemeClr>
                </a:solidFill>
                <a:latin typeface="Casper" panose="02000506000000020004" pitchFamily="2" charset="0"/>
                <a:cs typeface="Arial" panose="020B0604020202020204" pitchFamily="34" charset="0"/>
              </a:rPr>
              <a:t>  outline series/ volume 2</a:t>
            </a:r>
          </a:p>
          <a:p>
            <a:r>
              <a:rPr lang="en-US" sz="1600" dirty="0">
                <a:solidFill>
                  <a:schemeClr val="tx1">
                    <a:lumMod val="85000"/>
                    <a:lumOff val="15000"/>
                  </a:schemeClr>
                </a:solidFill>
                <a:latin typeface="Casper" panose="02000506000000020004" pitchFamily="2" charset="0"/>
                <a:cs typeface="Arial" panose="020B0604020202020204" pitchFamily="34" charset="0"/>
                <a:hlinkClick r:id="rId3"/>
              </a:rPr>
              <a:t>https://www.geeksforgeeks.org/stack-data-structure-introduction-program/</a:t>
            </a:r>
            <a:endParaRPr lang="en-US" sz="1600" dirty="0">
              <a:solidFill>
                <a:schemeClr val="tx1">
                  <a:lumMod val="85000"/>
                  <a:lumOff val="15000"/>
                </a:schemeClr>
              </a:solidFill>
              <a:latin typeface="Casper" panose="02000506000000020004" pitchFamily="2" charset="0"/>
              <a:cs typeface="Arial" panose="020B0604020202020204" pitchFamily="34" charset="0"/>
            </a:endParaRPr>
          </a:p>
          <a:p>
            <a:r>
              <a:rPr lang="en-US" sz="1600" dirty="0">
                <a:solidFill>
                  <a:schemeClr val="tx1">
                    <a:lumMod val="85000"/>
                    <a:lumOff val="15000"/>
                  </a:schemeClr>
                </a:solidFill>
                <a:latin typeface="Casper" panose="02000506000000020004" pitchFamily="2" charset="0"/>
                <a:cs typeface="Arial" panose="020B0604020202020204" pitchFamily="34" charset="0"/>
                <a:hlinkClick r:id="rId4"/>
              </a:rPr>
              <a:t>https://www.geeksforgeeks.org/queue-set-1introduction-and-array-implementation/</a:t>
            </a:r>
            <a:endParaRPr lang="en-US" sz="1600" dirty="0">
              <a:solidFill>
                <a:schemeClr val="tx1">
                  <a:lumMod val="85000"/>
                  <a:lumOff val="15000"/>
                </a:schemeClr>
              </a:solidFill>
              <a:latin typeface="Casper" panose="02000506000000020004" pitchFamily="2" charset="0"/>
              <a:cs typeface="Arial" panose="020B0604020202020204" pitchFamily="34" charset="0"/>
            </a:endParaRPr>
          </a:p>
          <a:p>
            <a:r>
              <a:rPr lang="en-US" sz="1600" dirty="0">
                <a:solidFill>
                  <a:schemeClr val="tx1">
                    <a:lumMod val="85000"/>
                    <a:lumOff val="15000"/>
                  </a:schemeClr>
                </a:solidFill>
                <a:latin typeface="Casper" panose="02000506000000020004" pitchFamily="2" charset="0"/>
                <a:cs typeface="Arial" panose="020B0604020202020204" pitchFamily="34" charset="0"/>
                <a:hlinkClick r:id="rId5"/>
              </a:rPr>
              <a:t>http://www.yashcode.com/2017/11/prefix-to-postfix-conversion-using-stack.html</a:t>
            </a:r>
            <a:endParaRPr lang="en-US" sz="1600" dirty="0">
              <a:solidFill>
                <a:schemeClr val="tx1">
                  <a:lumMod val="85000"/>
                  <a:lumOff val="15000"/>
                </a:schemeClr>
              </a:solidFill>
              <a:latin typeface="Casper" panose="02000506000000020004" pitchFamily="2" charset="0"/>
              <a:cs typeface="Arial" panose="020B0604020202020204" pitchFamily="34" charset="0"/>
            </a:endParaRPr>
          </a:p>
          <a:p>
            <a:pPr lvl="0"/>
            <a:r>
              <a:rPr lang="en-US" sz="1600" dirty="0" err="1">
                <a:solidFill>
                  <a:schemeClr val="tx1">
                    <a:lumMod val="85000"/>
                    <a:lumOff val="15000"/>
                  </a:schemeClr>
                </a:solidFill>
                <a:latin typeface="Casper" panose="02000506000000020004" pitchFamily="2" charset="0"/>
                <a:cs typeface="Arial" panose="020B0604020202020204" pitchFamily="34" charset="0"/>
              </a:rPr>
              <a:t>Lipschutz</a:t>
            </a:r>
            <a:r>
              <a:rPr lang="en-US" sz="1600" dirty="0">
                <a:solidFill>
                  <a:schemeClr val="tx1">
                    <a:lumMod val="85000"/>
                    <a:lumOff val="15000"/>
                  </a:schemeClr>
                </a:solidFill>
                <a:latin typeface="Casper" panose="02000506000000020004" pitchFamily="2" charset="0"/>
                <a:cs typeface="Arial" panose="020B0604020202020204" pitchFamily="34" charset="0"/>
              </a:rPr>
              <a:t>, Seymour, “Data Structures”, </a:t>
            </a:r>
            <a:r>
              <a:rPr lang="en-US" sz="1600" dirty="0" err="1">
                <a:solidFill>
                  <a:schemeClr val="tx1">
                    <a:lumMod val="85000"/>
                    <a:lumOff val="15000"/>
                  </a:schemeClr>
                </a:solidFill>
                <a:latin typeface="Casper" panose="02000506000000020004" pitchFamily="2" charset="0"/>
                <a:cs typeface="Arial" panose="020B0604020202020204" pitchFamily="34" charset="0"/>
              </a:rPr>
              <a:t>Schaum's</a:t>
            </a:r>
            <a:r>
              <a:rPr lang="en-US" sz="1600" dirty="0">
                <a:solidFill>
                  <a:schemeClr val="tx1">
                    <a:lumMod val="85000"/>
                    <a:lumOff val="15000"/>
                  </a:schemeClr>
                </a:solidFill>
                <a:latin typeface="Casper" panose="02000506000000020004" pitchFamily="2" charset="0"/>
                <a:cs typeface="Arial" panose="020B0604020202020204" pitchFamily="34" charset="0"/>
              </a:rPr>
              <a:t> Outline Series, Tata McGraw Hill.</a:t>
            </a:r>
          </a:p>
          <a:p>
            <a:pPr lvl="0"/>
            <a:r>
              <a:rPr lang="en-US" sz="1600" dirty="0" err="1">
                <a:solidFill>
                  <a:schemeClr val="tx1">
                    <a:lumMod val="85000"/>
                    <a:lumOff val="15000"/>
                  </a:schemeClr>
                </a:solidFill>
                <a:latin typeface="Casper" panose="02000506000000020004" pitchFamily="2" charset="0"/>
                <a:cs typeface="Arial" panose="020B0604020202020204" pitchFamily="34" charset="0"/>
              </a:rPr>
              <a:t>Gilberg</a:t>
            </a:r>
            <a:r>
              <a:rPr lang="en-US" sz="1600" dirty="0">
                <a:solidFill>
                  <a:schemeClr val="tx1">
                    <a:lumMod val="85000"/>
                    <a:lumOff val="15000"/>
                  </a:schemeClr>
                </a:solidFill>
                <a:latin typeface="Casper" panose="02000506000000020004" pitchFamily="2" charset="0"/>
                <a:cs typeface="Arial" panose="020B0604020202020204" pitchFamily="34" charset="0"/>
              </a:rPr>
              <a:t>/</a:t>
            </a:r>
            <a:r>
              <a:rPr lang="en-US" sz="1600" dirty="0" err="1">
                <a:solidFill>
                  <a:schemeClr val="tx1">
                    <a:lumMod val="85000"/>
                    <a:lumOff val="15000"/>
                  </a:schemeClr>
                </a:solidFill>
                <a:latin typeface="Casper" panose="02000506000000020004" pitchFamily="2" charset="0"/>
                <a:cs typeface="Arial" panose="020B0604020202020204" pitchFamily="34" charset="0"/>
              </a:rPr>
              <a:t>Forouzan</a:t>
            </a:r>
            <a:r>
              <a:rPr lang="en-US" sz="1600" dirty="0">
                <a:solidFill>
                  <a:schemeClr val="tx1">
                    <a:lumMod val="85000"/>
                    <a:lumOff val="15000"/>
                  </a:schemeClr>
                </a:solidFill>
                <a:latin typeface="Casper" panose="02000506000000020004" pitchFamily="2" charset="0"/>
                <a:cs typeface="Arial" panose="020B0604020202020204" pitchFamily="34" charset="0"/>
              </a:rPr>
              <a:t>,” Data Structure with C ,</a:t>
            </a:r>
            <a:r>
              <a:rPr lang="en-US" sz="1600" dirty="0" err="1">
                <a:solidFill>
                  <a:schemeClr val="tx1">
                    <a:lumMod val="85000"/>
                    <a:lumOff val="15000"/>
                  </a:schemeClr>
                </a:solidFill>
                <a:latin typeface="Casper" panose="02000506000000020004" pitchFamily="2" charset="0"/>
                <a:cs typeface="Arial" panose="020B0604020202020204" pitchFamily="34" charset="0"/>
              </a:rPr>
              <a:t>Cengage</a:t>
            </a:r>
            <a:r>
              <a:rPr lang="en-US" sz="1600" dirty="0">
                <a:solidFill>
                  <a:schemeClr val="tx1">
                    <a:lumMod val="85000"/>
                    <a:lumOff val="15000"/>
                  </a:schemeClr>
                </a:solidFill>
                <a:latin typeface="Casper" panose="02000506000000020004" pitchFamily="2" charset="0"/>
                <a:cs typeface="Arial" panose="020B0604020202020204" pitchFamily="34" charset="0"/>
              </a:rPr>
              <a:t> Learning.</a:t>
            </a:r>
          </a:p>
          <a:p>
            <a:pPr lvl="0"/>
            <a:r>
              <a:rPr lang="en-US" sz="1600" dirty="0" err="1">
                <a:solidFill>
                  <a:schemeClr val="tx1">
                    <a:lumMod val="85000"/>
                    <a:lumOff val="15000"/>
                  </a:schemeClr>
                </a:solidFill>
                <a:latin typeface="Casper" panose="02000506000000020004" pitchFamily="2" charset="0"/>
                <a:cs typeface="Arial" panose="020B0604020202020204" pitchFamily="34" charset="0"/>
              </a:rPr>
              <a:t>Augenstein,Moshe</a:t>
            </a:r>
            <a:r>
              <a:rPr lang="en-US" sz="1600" dirty="0">
                <a:solidFill>
                  <a:schemeClr val="tx1">
                    <a:lumMod val="85000"/>
                    <a:lumOff val="15000"/>
                  </a:schemeClr>
                </a:solidFill>
                <a:latin typeface="Casper" panose="02000506000000020004" pitchFamily="2" charset="0"/>
                <a:cs typeface="Arial" panose="020B0604020202020204" pitchFamily="34" charset="0"/>
              </a:rPr>
              <a:t> J , </a:t>
            </a:r>
            <a:r>
              <a:rPr lang="en-US" sz="1600" dirty="0" err="1">
                <a:solidFill>
                  <a:schemeClr val="tx1">
                    <a:lumMod val="85000"/>
                    <a:lumOff val="15000"/>
                  </a:schemeClr>
                </a:solidFill>
                <a:latin typeface="Casper" panose="02000506000000020004" pitchFamily="2" charset="0"/>
                <a:cs typeface="Arial" panose="020B0604020202020204" pitchFamily="34" charset="0"/>
              </a:rPr>
              <a:t>Tanenbaum</a:t>
            </a:r>
            <a:r>
              <a:rPr lang="en-US" sz="1600" dirty="0">
                <a:solidFill>
                  <a:schemeClr val="tx1">
                    <a:lumMod val="85000"/>
                    <a:lumOff val="15000"/>
                  </a:schemeClr>
                </a:solidFill>
                <a:latin typeface="Casper" panose="02000506000000020004" pitchFamily="2" charset="0"/>
                <a:cs typeface="Arial" panose="020B0604020202020204" pitchFamily="34" charset="0"/>
              </a:rPr>
              <a:t>, Aaron  M, “Data Structures using C and C++”, Prentice Hall of India.</a:t>
            </a:r>
          </a:p>
          <a:p>
            <a:pPr lvl="0"/>
            <a:r>
              <a:rPr lang="en-US" sz="1600" dirty="0">
                <a:solidFill>
                  <a:schemeClr val="tx1">
                    <a:lumMod val="85000"/>
                    <a:lumOff val="15000"/>
                  </a:schemeClr>
                </a:solidFill>
                <a:latin typeface="Casper" panose="02000506000000020004" pitchFamily="2" charset="0"/>
                <a:cs typeface="Arial" panose="020B0604020202020204" pitchFamily="34" charset="0"/>
              </a:rPr>
              <a:t>Goodrich, Michael T., </a:t>
            </a:r>
            <a:r>
              <a:rPr lang="en-US" sz="1600" dirty="0" err="1">
                <a:solidFill>
                  <a:schemeClr val="tx1">
                    <a:lumMod val="85000"/>
                    <a:lumOff val="15000"/>
                  </a:schemeClr>
                </a:solidFill>
                <a:latin typeface="Casper" panose="02000506000000020004" pitchFamily="2" charset="0"/>
                <a:cs typeface="Arial" panose="020B0604020202020204" pitchFamily="34" charset="0"/>
              </a:rPr>
              <a:t>Tamassia</a:t>
            </a:r>
            <a:r>
              <a:rPr lang="en-US" sz="1600" dirty="0">
                <a:solidFill>
                  <a:schemeClr val="tx1">
                    <a:lumMod val="85000"/>
                    <a:lumOff val="15000"/>
                  </a:schemeClr>
                </a:solidFill>
                <a:latin typeface="Casper" panose="02000506000000020004" pitchFamily="2" charset="0"/>
                <a:cs typeface="Arial" panose="020B0604020202020204" pitchFamily="34" charset="0"/>
              </a:rPr>
              <a:t>, Roberto, and Mount, David M., “Data Structures and Algorithms in C++”, Wiley Student Edition.</a:t>
            </a:r>
          </a:p>
          <a:p>
            <a:r>
              <a:rPr lang="en-US" sz="1600" dirty="0" err="1">
                <a:solidFill>
                  <a:schemeClr val="tx1">
                    <a:lumMod val="85000"/>
                    <a:lumOff val="15000"/>
                  </a:schemeClr>
                </a:solidFill>
                <a:latin typeface="Casper" panose="02000506000000020004" pitchFamily="2" charset="0"/>
                <a:cs typeface="Arial" panose="020B0604020202020204" pitchFamily="34" charset="0"/>
              </a:rPr>
              <a:t>Aho</a:t>
            </a:r>
            <a:r>
              <a:rPr lang="en-US" sz="1600" dirty="0">
                <a:solidFill>
                  <a:schemeClr val="tx1">
                    <a:lumMod val="85000"/>
                    <a:lumOff val="15000"/>
                  </a:schemeClr>
                </a:solidFill>
                <a:latin typeface="Casper" panose="02000506000000020004" pitchFamily="2" charset="0"/>
                <a:cs typeface="Arial" panose="020B0604020202020204" pitchFamily="34" charset="0"/>
              </a:rPr>
              <a:t>, Alfred V., Ullman, Jeffrey D., </a:t>
            </a:r>
            <a:r>
              <a:rPr lang="en-US" sz="1600" dirty="0" err="1">
                <a:solidFill>
                  <a:schemeClr val="tx1">
                    <a:lumMod val="85000"/>
                    <a:lumOff val="15000"/>
                  </a:schemeClr>
                </a:solidFill>
                <a:latin typeface="Casper" panose="02000506000000020004" pitchFamily="2" charset="0"/>
                <a:cs typeface="Arial" panose="020B0604020202020204" pitchFamily="34" charset="0"/>
              </a:rPr>
              <a:t>Hopcroft</a:t>
            </a:r>
            <a:r>
              <a:rPr lang="en-US" sz="1600" dirty="0">
                <a:solidFill>
                  <a:schemeClr val="tx1">
                    <a:lumMod val="85000"/>
                    <a:lumOff val="15000"/>
                  </a:schemeClr>
                </a:solidFill>
                <a:latin typeface="Casper" panose="02000506000000020004" pitchFamily="2" charset="0"/>
                <a:cs typeface="Arial" panose="020B0604020202020204" pitchFamily="34" charset="0"/>
              </a:rPr>
              <a:t> ,John E. “Data Structures and Algorithms”, Addison Wesley</a:t>
            </a:r>
          </a:p>
          <a:p>
            <a:endParaRPr lang="en-US" sz="1600" dirty="0"/>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9275" name="CorelDRAW" r:id="rId3" imgW="2169000" imgH="2169360" progId="">
                    <p:embed/>
                  </p:oleObj>
                </mc:Choice>
                <mc:Fallback>
                  <p:oleObj name="CorelDRAW" r:id="rId3" imgW="2169000" imgH="2169360" progId="">
                    <p:embed/>
                    <p:pic>
                      <p:nvPicPr>
                        <p:cNvPr id="0" name="Picture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828</TotalTime>
  <Words>1032</Words>
  <Application>Microsoft Office PowerPoint</Application>
  <PresentationFormat>Widescreen</PresentationFormat>
  <Paragraphs>182</Paragraphs>
  <Slides>20</Slides>
  <Notes>3</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35" baseType="lpstr">
      <vt:lpstr>Arial</vt:lpstr>
      <vt:lpstr>Arial Black</vt:lpstr>
      <vt:lpstr>Arial Unicode MS</vt:lpstr>
      <vt:lpstr>Calibri</vt:lpstr>
      <vt:lpstr>Calibri Light</vt:lpstr>
      <vt:lpstr>Casper</vt:lpstr>
      <vt:lpstr>Casper Bold</vt:lpstr>
      <vt:lpstr>Courier New</vt:lpstr>
      <vt:lpstr>Karla</vt:lpstr>
      <vt:lpstr>Raleway ExtraBold</vt:lpstr>
      <vt:lpstr>Segoe UI</vt:lpstr>
      <vt:lpstr>Times New Roman</vt:lpstr>
      <vt:lpstr>1_Office Theme</vt:lpstr>
      <vt:lpstr>Contents Slide Master</vt:lpstr>
      <vt:lpstr>CorelDRAW</vt:lpstr>
      <vt:lpstr>PowerPoint Presentation</vt:lpstr>
      <vt:lpstr>Elementary Data Structure Using C++</vt:lpstr>
      <vt:lpstr>PowerPoint Presentation</vt:lpstr>
      <vt:lpstr> Scheme of Evaluation  </vt:lpstr>
      <vt:lpstr>     DEFINITION </vt:lpstr>
      <vt:lpstr>Stack Representation </vt:lpstr>
      <vt:lpstr>PowerPoint Presentation</vt:lpstr>
      <vt:lpstr>PowerPoint Presentation</vt:lpstr>
      <vt:lpstr>PowerPoint Presentation</vt:lpstr>
      <vt:lpstr>Push Operation </vt:lpstr>
      <vt:lpstr>PowerPoint Presentation</vt:lpstr>
      <vt:lpstr>Pop Operation </vt:lpstr>
      <vt:lpstr>PowerPoint Presentation</vt:lpstr>
      <vt:lpstr>Notations</vt:lpstr>
      <vt:lpstr>PowerPoint Presentation</vt:lpstr>
      <vt:lpstr>PowerPoint Presentation</vt:lpstr>
      <vt:lpstr>Postfix Evaluation Algorithm  </vt:lpstr>
      <vt:lpstr>Applications of Stack</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nishu</cp:lastModifiedBy>
  <cp:revision>102</cp:revision>
  <dcterms:created xsi:type="dcterms:W3CDTF">2019-01-09T10:33:58Z</dcterms:created>
  <dcterms:modified xsi:type="dcterms:W3CDTF">2024-01-10T10:32:01Z</dcterms:modified>
</cp:coreProperties>
</file>