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44"/>
  </p:notesMasterIdLst>
  <p:handoutMasterIdLst>
    <p:handoutMasterId r:id="rId45"/>
  </p:handoutMasterIdLst>
  <p:sldIdLst>
    <p:sldId id="347" r:id="rId3"/>
    <p:sldId id="312" r:id="rId4"/>
    <p:sldId id="310" r:id="rId5"/>
    <p:sldId id="346" r:id="rId6"/>
    <p:sldId id="281" r:id="rId7"/>
    <p:sldId id="297" r:id="rId8"/>
    <p:sldId id="298" r:id="rId9"/>
    <p:sldId id="313" r:id="rId10"/>
    <p:sldId id="337" r:id="rId11"/>
    <p:sldId id="338" r:id="rId12"/>
    <p:sldId id="339" r:id="rId13"/>
    <p:sldId id="340" r:id="rId14"/>
    <p:sldId id="341" r:id="rId15"/>
    <p:sldId id="342" r:id="rId16"/>
    <p:sldId id="344" r:id="rId17"/>
    <p:sldId id="343" r:id="rId18"/>
    <p:sldId id="314" r:id="rId19"/>
    <p:sldId id="315" r:id="rId20"/>
    <p:sldId id="305" r:id="rId21"/>
    <p:sldId id="306" r:id="rId22"/>
    <p:sldId id="308" r:id="rId23"/>
    <p:sldId id="321" r:id="rId24"/>
    <p:sldId id="322" r:id="rId25"/>
    <p:sldId id="323" r:id="rId26"/>
    <p:sldId id="324" r:id="rId27"/>
    <p:sldId id="325" r:id="rId28"/>
    <p:sldId id="326" r:id="rId29"/>
    <p:sldId id="327" r:id="rId30"/>
    <p:sldId id="328" r:id="rId31"/>
    <p:sldId id="329" r:id="rId32"/>
    <p:sldId id="345" r:id="rId33"/>
    <p:sldId id="330" r:id="rId34"/>
    <p:sldId id="331" r:id="rId35"/>
    <p:sldId id="332" r:id="rId36"/>
    <p:sldId id="333" r:id="rId37"/>
    <p:sldId id="334" r:id="rId38"/>
    <p:sldId id="335" r:id="rId39"/>
    <p:sldId id="336" r:id="rId40"/>
    <p:sldId id="291" r:id="rId41"/>
    <p:sldId id="284" r:id="rId42"/>
    <p:sldId id="27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86" autoAdjust="0"/>
    <p:restoredTop sz="94660"/>
  </p:normalViewPr>
  <p:slideViewPr>
    <p:cSldViewPr snapToGrid="0">
      <p:cViewPr varScale="1">
        <p:scale>
          <a:sx n="71" d="100"/>
          <a:sy n="71" d="100"/>
        </p:scale>
        <p:origin x="564"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3/24/2024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3/24/2024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503308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3251026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3/24/2024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2.jpe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geeksforgeeks.org/stack-data-structure-introduction-program/" TargetMode="External"/><Relationship Id="rId2" Type="http://schemas.openxmlformats.org/officeDocument/2006/relationships/hyperlink" Target="https://www.cs.cmu.edu/~adamchik/15-121/lectures/Stacks%20and%20Queues/Stacks%20and%20Queues.html" TargetMode="External"/><Relationship Id="rId1" Type="http://schemas.openxmlformats.org/officeDocument/2006/relationships/slideLayout" Target="../slideLayouts/slideLayout2.xml"/><Relationship Id="rId5" Type="http://schemas.openxmlformats.org/officeDocument/2006/relationships/hyperlink" Target="http://www.yashcode.com/2017/11/prefix-to-postfix-conversion-using-stack.html" TargetMode="External"/><Relationship Id="rId4" Type="http://schemas.openxmlformats.org/officeDocument/2006/relationships/hyperlink" Target="https://www.geeksforgeeks.org/queue-set-1introduction-and-array-implementation/" TargetMode="Externa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42"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3871857" y="6296559"/>
            <a:ext cx="1830785" cy="369332"/>
          </a:xfrm>
          <a:prstGeom prst="rect">
            <a:avLst/>
          </a:prstGeom>
          <a:noFill/>
        </p:spPr>
        <p:txBody>
          <a:bodyPr wrap="square" rtlCol="0">
            <a:spAutoFit/>
          </a:bodyPr>
          <a:lstStyle/>
          <a:p>
            <a:r>
              <a:rPr lang="en-US" dirty="0"/>
              <a:t> </a:t>
            </a:r>
          </a:p>
        </p:txBody>
      </p:sp>
      <p:sp>
        <p:nvSpPr>
          <p:cNvPr id="26" name="TextBox 25"/>
          <p:cNvSpPr txBox="1">
            <a:spLocks noChangeArrowheads="1"/>
          </p:cNvSpPr>
          <p:nvPr/>
        </p:nvSpPr>
        <p:spPr bwMode="auto">
          <a:xfrm>
            <a:off x="1562130" y="1791350"/>
            <a:ext cx="9063318" cy="2557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defRPr/>
            </a:pPr>
            <a:r>
              <a:rPr lang="en-US" sz="2800" b="1" dirty="0">
                <a:latin typeface="Arial Black" panose="020B0A04020102020204" pitchFamily="34" charset="0"/>
                <a:ea typeface="Karla" pitchFamily="2" charset="0"/>
                <a:cs typeface="Karla" pitchFamily="2" charset="0"/>
              </a:rPr>
              <a:t>UNIVERSITY INSTITUTE OF </a:t>
            </a:r>
            <a:r>
              <a:rPr lang="en-US" sz="2800" b="1" dirty="0" smtClean="0">
                <a:latin typeface="Arial Black" panose="020B0A04020102020204" pitchFamily="34" charset="0"/>
                <a:ea typeface="Karla" pitchFamily="2" charset="0"/>
                <a:cs typeface="Karla" pitchFamily="2" charset="0"/>
              </a:rPr>
              <a:t>ENGINEERING</a:t>
            </a:r>
          </a:p>
          <a:p>
            <a:pPr algn="ctr" defTabSz="622300">
              <a:lnSpc>
                <a:spcPct val="90000"/>
              </a:lnSpc>
              <a:spcBef>
                <a:spcPct val="0"/>
              </a:spcBef>
              <a:spcAft>
                <a:spcPct val="35000"/>
              </a:spcAft>
              <a:defRPr/>
            </a:pPr>
            <a:r>
              <a:rPr lang="en-US" sz="2800" b="1" dirty="0">
                <a:latin typeface="Arial Black" panose="020B0A04020102020204" pitchFamily="34" charset="0"/>
                <a:ea typeface="Karla" pitchFamily="2" charset="0"/>
                <a:cs typeface="Karla" pitchFamily="2" charset="0"/>
              </a:rPr>
              <a:t>DEPARTMENT- ACADEMIC UNITS</a:t>
            </a:r>
            <a:endParaRPr lang="en-US" sz="2800" b="1" dirty="0">
              <a:latin typeface="Arial Black" panose="020B0A04020102020204" pitchFamily="34" charset="0"/>
              <a:ea typeface="Karla" pitchFamily="2" charset="0"/>
              <a:cs typeface="Karla" pitchFamily="2" charset="0"/>
            </a:endParaRPr>
          </a:p>
          <a:p>
            <a:pPr algn="ctr" defTabSz="622300">
              <a:lnSpc>
                <a:spcPct val="90000"/>
              </a:lnSpc>
              <a:spcBef>
                <a:spcPct val="0"/>
              </a:spcBef>
              <a:spcAft>
                <a:spcPct val="35000"/>
              </a:spcAft>
              <a:defRPr/>
            </a:pPr>
            <a:r>
              <a:rPr lang="en-US" sz="2400" dirty="0" smtClean="0">
                <a:latin typeface="Times New Roman" panose="02020603050405020304" pitchFamily="18" charset="0"/>
                <a:ea typeface="Karla" pitchFamily="2" charset="0"/>
                <a:cs typeface="Times New Roman" panose="02020603050405020304" pitchFamily="18" charset="0"/>
              </a:rPr>
              <a:t>FIRST YEAR ENGINEERING PROGRAMMES</a:t>
            </a:r>
            <a:endParaRPr lang="en-US" sz="2400" dirty="0">
              <a:latin typeface="Times New Roman" panose="02020603050405020304" pitchFamily="18" charset="0"/>
              <a:ea typeface="Karla" pitchFamily="2" charset="0"/>
              <a:cs typeface="Times New Roman" panose="02020603050405020304" pitchFamily="18" charset="0"/>
            </a:endParaRPr>
          </a:p>
          <a:p>
            <a:pPr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b="1" dirty="0" smtClean="0">
                <a:latin typeface="Arial Black" panose="020B0A04020102020204" pitchFamily="34" charset="0"/>
                <a:ea typeface="Karla" pitchFamily="2" charset="0"/>
                <a:cs typeface="Karla" pitchFamily="2" charset="0"/>
              </a:rPr>
              <a:t> </a:t>
            </a:r>
            <a:r>
              <a:rPr lang="en-US" sz="2800" dirty="0">
                <a:latin typeface="Times New Roman" panose="02020603050405020304" pitchFamily="18" charset="0"/>
                <a:ea typeface="Calibri" panose="020F0502020204030204" pitchFamily="34" charset="0"/>
                <a:cs typeface="Times New Roman" panose="02020603050405020304" pitchFamily="18" charset="0"/>
              </a:rPr>
              <a:t>Elementary</a:t>
            </a:r>
            <a:r>
              <a:rPr lang="en-US" sz="2800" dirty="0" smtClean="0">
                <a:latin typeface="Times New Roman" pitchFamily="18" charset="0"/>
                <a:ea typeface="Karla" pitchFamily="2" charset="0"/>
                <a:cs typeface="Times New Roman" pitchFamily="18" charset="0"/>
              </a:rPr>
              <a:t> </a:t>
            </a:r>
            <a:r>
              <a:rPr lang="en-US" sz="2800" dirty="0" smtClean="0">
                <a:latin typeface="Times New Roman" pitchFamily="18" charset="0"/>
                <a:ea typeface="Calibri" panose="020F0502020204030204" pitchFamily="34" charset="0"/>
                <a:cs typeface="Times New Roman" pitchFamily="18" charset="0"/>
              </a:rPr>
              <a:t>Data Structures using C++</a:t>
            </a:r>
          </a:p>
          <a:p>
            <a:pPr algn="ctr" defTabSz="622300">
              <a:lnSpc>
                <a:spcPct val="90000"/>
              </a:lnSpc>
              <a:spcBef>
                <a:spcPct val="0"/>
              </a:spcBef>
              <a:spcAft>
                <a:spcPct val="35000"/>
              </a:spcAft>
            </a:pPr>
            <a:r>
              <a:rPr lang="en-US" sz="2800" dirty="0" smtClean="0">
                <a:latin typeface="Times New Roman" pitchFamily="18" charset="0"/>
                <a:ea typeface="Calibri" panose="020F0502020204030204" pitchFamily="34" charset="0"/>
                <a:cs typeface="Times New Roman" pitchFamily="18" charset="0"/>
              </a:rPr>
              <a:t>Subject Code: 23CSH-103</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
        <p:nvSpPr>
          <p:cNvPr id="15" name="TextBox 14"/>
          <p:cNvSpPr txBox="1">
            <a:spLocks noChangeArrowheads="1"/>
          </p:cNvSpPr>
          <p:nvPr/>
        </p:nvSpPr>
        <p:spPr bwMode="auto">
          <a:xfrm>
            <a:off x="-459213" y="6014156"/>
            <a:ext cx="6432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STACK </a:t>
            </a: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1697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1645920"/>
          </a:xfrm>
        </p:spPr>
        <p:txBody>
          <a:bodyPr>
            <a:normAutofit/>
          </a:bodyPr>
          <a:lstStyle/>
          <a:p>
            <a:pPr algn="ctr"/>
            <a:r>
              <a:rPr lang="en-US" b="1" dirty="0">
                <a:latin typeface="+mn-lt"/>
              </a:rPr>
              <a:t>Elementary</a:t>
            </a:r>
            <a:r>
              <a:rPr lang="en-IN" b="1" dirty="0" smtClean="0">
                <a:latin typeface="+mn-lt"/>
              </a:rPr>
              <a:t> </a:t>
            </a:r>
            <a:r>
              <a:rPr lang="en-IN" b="1" dirty="0">
                <a:latin typeface="+mn-lt"/>
              </a:rPr>
              <a:t>Data Structure Using C++</a:t>
            </a:r>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600075" y="2136775"/>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6" name="Table 5"/>
          <p:cNvGraphicFramePr>
            <a:graphicFrameLocks noGrp="1"/>
          </p:cNvGraphicFramePr>
          <p:nvPr/>
        </p:nvGraphicFramePr>
        <p:xfrm>
          <a:off x="248648" y="2630329"/>
          <a:ext cx="5459821" cy="3783474"/>
        </p:xfrm>
        <a:graphic>
          <a:graphicData uri="http://schemas.openxmlformats.org/drawingml/2006/table">
            <a:tbl>
              <a:tblPr firstRow="1" firstCol="1" bandRow="1">
                <a:tableStyleId>{5C22544A-7EE6-4342-B048-85BDC9FD1C3A}</a:tableStyleId>
              </a:tblPr>
              <a:tblGrid>
                <a:gridCol w="5459821">
                  <a:extLst>
                    <a:ext uri="{9D8B030D-6E8A-4147-A177-3AD203B41FA5}">
                      <a16:colId xmlns:a16="http://schemas.microsoft.com/office/drawing/2014/main" val="98381966"/>
                    </a:ext>
                  </a:extLst>
                </a:gridCol>
              </a:tblGrid>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enable the students to understand various stages and constructs of C++ programming language. </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697720509"/>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improve their ability to analyze and address variety of problems in C++.</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209109202"/>
                  </a:ext>
                </a:extLst>
              </a:tr>
              <a:tr h="530408">
                <a:tc>
                  <a:txBody>
                    <a:bodyPr/>
                    <a:lstStyle/>
                    <a:p>
                      <a:pPr marL="285750" indent="-285750" algn="just">
                        <a:lnSpc>
                          <a:spcPct val="107000"/>
                        </a:lnSpc>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concept of data structures and various operations on them.</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1991538032"/>
                  </a:ext>
                </a:extLst>
              </a:tr>
              <a:tr h="961675">
                <a:tc>
                  <a:txBody>
                    <a:bodyPr/>
                    <a:lstStyle/>
                    <a:p>
                      <a:pPr marL="285750" indent="-285750" algn="just">
                        <a:lnSpc>
                          <a:spcPct val="97000"/>
                        </a:lnSpc>
                        <a:spcBef>
                          <a:spcPts val="420"/>
                        </a:spcBef>
                        <a:spcAft>
                          <a:spcPts val="0"/>
                        </a:spcAft>
                        <a:buFont typeface="Arial" panose="020B0604020202020204" pitchFamily="34" charset="0"/>
                        <a:buChar char="•"/>
                        <a:tabLst>
                          <a:tab pos="457200" algn="l"/>
                        </a:tabLst>
                      </a:pPr>
                      <a:r>
                        <a:rPr lang="en-US" sz="1800" dirty="0">
                          <a:solidFill>
                            <a:schemeClr val="tx1"/>
                          </a:solidFill>
                          <a:effectLst/>
                          <a:latin typeface="+mj-lt"/>
                        </a:rPr>
                        <a:t>To understand the properties of various data structures and able to identify the strengths and weaknesses of different data structures.</a:t>
                      </a:r>
                      <a:endParaRPr lang="en-IN" sz="1800" dirty="0">
                        <a:solidFill>
                          <a:schemeClr val="tx1"/>
                        </a:solidFill>
                        <a:effectLst/>
                        <a:latin typeface="+mj-lt"/>
                      </a:endParaRPr>
                    </a:p>
                  </a:txBody>
                  <a:tcPr marL="68580" marR="68580" marT="0" marB="0">
                    <a:solidFill>
                      <a:schemeClr val="accent1">
                        <a:lumMod val="40000"/>
                        <a:lumOff val="60000"/>
                      </a:schemeClr>
                    </a:solidFill>
                  </a:tcPr>
                </a:tc>
                <a:extLst>
                  <a:ext uri="{0D108BD9-81ED-4DB2-BD59-A6C34878D82A}">
                    <a16:rowId xmlns:a16="http://schemas.microsoft.com/office/drawing/2014/main" val="1306193080"/>
                  </a:ext>
                </a:extLst>
              </a:tr>
              <a:tr h="1060817">
                <a:tc>
                  <a:txBody>
                    <a:bodyPr/>
                    <a:lstStyle/>
                    <a:p>
                      <a:pPr marL="285750" indent="-285750">
                        <a:lnSpc>
                          <a:spcPct val="107000"/>
                        </a:lnSpc>
                        <a:spcAft>
                          <a:spcPts val="0"/>
                        </a:spcAft>
                        <a:buFont typeface="Arial" panose="020B0604020202020204" pitchFamily="34" charset="0"/>
                        <a:buChar char="•"/>
                      </a:pPr>
                      <a:r>
                        <a:rPr lang="en-US" sz="1800" dirty="0">
                          <a:solidFill>
                            <a:schemeClr val="tx1"/>
                          </a:solidFill>
                          <a:effectLst/>
                          <a:latin typeface="+mj-lt"/>
                        </a:rPr>
                        <a:t>To analyze and compare the efficiency of algorithms and learn to design efficient algorithms for solving computing problems</a:t>
                      </a:r>
                      <a:endParaRPr lang="en-IN" sz="1800" dirty="0">
                        <a:solidFill>
                          <a:schemeClr val="tx1"/>
                        </a:solidFill>
                        <a:effectLst/>
                        <a:latin typeface="+mj-lt"/>
                        <a:ea typeface="Calibri" panose="020F0502020204030204" pitchFamily="34" charset="0"/>
                      </a:endParaRPr>
                    </a:p>
                  </a:txBody>
                  <a:tcPr marL="68580" marR="68580" marT="0" marB="0">
                    <a:solidFill>
                      <a:schemeClr val="accent1">
                        <a:lumMod val="40000"/>
                        <a:lumOff val="60000"/>
                      </a:schemeClr>
                    </a:solidFill>
                  </a:tcPr>
                </a:tc>
                <a:extLst>
                  <a:ext uri="{0D108BD9-81ED-4DB2-BD59-A6C34878D82A}">
                    <a16:rowId xmlns:a16="http://schemas.microsoft.com/office/drawing/2014/main" val="2572423643"/>
                  </a:ext>
                </a:extLst>
              </a:tr>
            </a:tbl>
          </a:graphicData>
        </a:graphic>
      </p:graphicFrame>
    </p:spTree>
    <p:extLst>
      <p:ext uri="{BB962C8B-B14F-4D97-AF65-F5344CB8AC3E}">
        <p14:creationId xmlns:p14="http://schemas.microsoft.com/office/powerpoint/2010/main" val="4202764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1768338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86510F-874B-00E3-A58D-D59125CE3406}"/>
              </a:ext>
            </a:extLst>
          </p:cNvPr>
          <p:cNvSpPr>
            <a:spLocks noGrp="1"/>
          </p:cNvSpPr>
          <p:nvPr>
            <p:ph type="sldNum" sz="quarter" idx="12"/>
          </p:nvPr>
        </p:nvSpPr>
        <p:spPr/>
        <p:txBody>
          <a:bodyPr/>
          <a:lstStyle/>
          <a:p>
            <a:fld id="{BDCDBBEF-AA6C-4BA6-85B2-A17D7F280E38}" type="slidenum">
              <a:rPr lang="en-US" smtClean="0"/>
              <a:t>4</a:t>
            </a:fld>
            <a:endParaRPr lang="en-US"/>
          </a:p>
        </p:txBody>
      </p:sp>
      <p:sp>
        <p:nvSpPr>
          <p:cNvPr id="9" name="Rectangle 1">
            <a:extLst>
              <a:ext uri="{FF2B5EF4-FFF2-40B4-BE49-F238E27FC236}">
                <a16:creationId xmlns:a16="http://schemas.microsoft.com/office/drawing/2014/main" id="{FBAB53C2-6A20-EF92-66E9-BFBADE233B52}"/>
              </a:ext>
            </a:extLst>
          </p:cNvPr>
          <p:cNvSpPr>
            <a:spLocks noChangeArrowheads="1"/>
          </p:cNvSpPr>
          <p:nvPr/>
        </p:nvSpPr>
        <p:spPr bwMode="auto">
          <a:xfrm>
            <a:off x="828079" y="-399257"/>
            <a:ext cx="5717100" cy="240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79312" tIns="888720" rIns="228528" bIns="761760" numCol="1" anchor="ctr" anchorCtr="0" compatLnSpc="1">
            <a:prstTxWarp prst="textNoShape">
              <a:avLst/>
            </a:prstTxWarp>
            <a:spAutoFit/>
          </a:bodyPr>
          <a:lstStyle>
            <a:lvl1pPr eaLnBrk="0" fontAlgn="base" hangingPunct="0">
              <a:spcBef>
                <a:spcPct val="0"/>
              </a:spcBef>
              <a:spcAft>
                <a:spcPct val="0"/>
              </a:spcAft>
              <a:tabLst>
                <a:tab pos="695325" algn="l"/>
              </a:tabLst>
              <a:defRPr>
                <a:solidFill>
                  <a:schemeClr val="tx1"/>
                </a:solidFill>
                <a:latin typeface="Arial" panose="020B0604020202020204" pitchFamily="34" charset="0"/>
              </a:defRPr>
            </a:lvl1pPr>
            <a:lvl2pPr eaLnBrk="0" fontAlgn="base" hangingPunct="0">
              <a:spcBef>
                <a:spcPct val="0"/>
              </a:spcBef>
              <a:spcAft>
                <a:spcPct val="0"/>
              </a:spcAft>
              <a:tabLst>
                <a:tab pos="695325" algn="l"/>
              </a:tabLst>
              <a:defRPr>
                <a:solidFill>
                  <a:schemeClr val="tx1"/>
                </a:solidFill>
                <a:latin typeface="Arial" panose="020B0604020202020204" pitchFamily="34" charset="0"/>
              </a:defRPr>
            </a:lvl2pPr>
            <a:lvl3pPr eaLnBrk="0" fontAlgn="base" hangingPunct="0">
              <a:spcBef>
                <a:spcPct val="0"/>
              </a:spcBef>
              <a:spcAft>
                <a:spcPct val="0"/>
              </a:spcAft>
              <a:tabLst>
                <a:tab pos="695325" algn="l"/>
              </a:tabLst>
              <a:defRPr>
                <a:solidFill>
                  <a:schemeClr val="tx1"/>
                </a:solidFill>
                <a:latin typeface="Arial" panose="020B0604020202020204" pitchFamily="34" charset="0"/>
              </a:defRPr>
            </a:lvl3pPr>
            <a:lvl4pPr eaLnBrk="0" fontAlgn="base" hangingPunct="0">
              <a:spcBef>
                <a:spcPct val="0"/>
              </a:spcBef>
              <a:spcAft>
                <a:spcPct val="0"/>
              </a:spcAft>
              <a:tabLst>
                <a:tab pos="695325" algn="l"/>
              </a:tabLst>
              <a:defRPr>
                <a:solidFill>
                  <a:schemeClr val="tx1"/>
                </a:solidFill>
                <a:latin typeface="Arial" panose="020B0604020202020204" pitchFamily="34" charset="0"/>
              </a:defRPr>
            </a:lvl4pPr>
            <a:lvl5pPr eaLnBrk="0" fontAlgn="base" hangingPunct="0">
              <a:spcBef>
                <a:spcPct val="0"/>
              </a:spcBef>
              <a:spcAft>
                <a:spcPct val="0"/>
              </a:spcAft>
              <a:tabLst>
                <a:tab pos="695325" algn="l"/>
              </a:tabLst>
              <a:defRPr>
                <a:solidFill>
                  <a:schemeClr val="tx1"/>
                </a:solidFill>
                <a:latin typeface="Arial" panose="020B0604020202020204" pitchFamily="34" charset="0"/>
              </a:defRPr>
            </a:lvl5pPr>
            <a:lvl6pPr eaLnBrk="0" fontAlgn="base" hangingPunct="0">
              <a:spcBef>
                <a:spcPct val="0"/>
              </a:spcBef>
              <a:spcAft>
                <a:spcPct val="0"/>
              </a:spcAft>
              <a:tabLst>
                <a:tab pos="695325" algn="l"/>
              </a:tabLst>
              <a:defRPr>
                <a:solidFill>
                  <a:schemeClr val="tx1"/>
                </a:solidFill>
                <a:latin typeface="Arial" panose="020B0604020202020204" pitchFamily="34" charset="0"/>
              </a:defRPr>
            </a:lvl6pPr>
            <a:lvl7pPr eaLnBrk="0" fontAlgn="base" hangingPunct="0">
              <a:spcBef>
                <a:spcPct val="0"/>
              </a:spcBef>
              <a:spcAft>
                <a:spcPct val="0"/>
              </a:spcAft>
              <a:tabLst>
                <a:tab pos="695325" algn="l"/>
              </a:tabLst>
              <a:defRPr>
                <a:solidFill>
                  <a:schemeClr val="tx1"/>
                </a:solidFill>
                <a:latin typeface="Arial" panose="020B0604020202020204" pitchFamily="34" charset="0"/>
              </a:defRPr>
            </a:lvl7pPr>
            <a:lvl8pPr eaLnBrk="0" fontAlgn="base" hangingPunct="0">
              <a:spcBef>
                <a:spcPct val="0"/>
              </a:spcBef>
              <a:spcAft>
                <a:spcPct val="0"/>
              </a:spcAft>
              <a:tabLst>
                <a:tab pos="695325" algn="l"/>
              </a:tabLst>
              <a:defRPr>
                <a:solidFill>
                  <a:schemeClr val="tx1"/>
                </a:solidFill>
                <a:latin typeface="Arial" panose="020B0604020202020204" pitchFamily="34" charset="0"/>
              </a:defRPr>
            </a:lvl8pPr>
            <a:lvl9pPr eaLnBrk="0" fontAlgn="base" hangingPunct="0">
              <a:spcBef>
                <a:spcPct val="0"/>
              </a:spcBef>
              <a:spcAft>
                <a:spcPct val="0"/>
              </a:spcAft>
              <a:tabLst>
                <a:tab pos="69532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tabLst>
                <a:tab pos="695325" algn="l"/>
              </a:tabLst>
            </a:pPr>
            <a:r>
              <a:rPr kumimoji="0" lang="en-US" altLang="en-US" sz="3200" b="1" i="0" u="none" strike="noStrike" cap="none" normalizeH="0" baseline="0" dirty="0" smtClean="0">
                <a:ln>
                  <a:noFill/>
                </a:ln>
                <a:solidFill>
                  <a:schemeClr val="tx1"/>
                </a:solidFill>
                <a:effectLst/>
                <a:latin typeface="Times New Roman" panose="02020603050405020304" pitchFamily="18" charset="0"/>
                <a:ea typeface="Verdana" panose="020B0604030504040204" pitchFamily="34" charset="0"/>
                <a:cs typeface="Times New Roman" panose="02020603050405020304" pitchFamily="18" charset="0"/>
              </a:rPr>
              <a:t>A</a:t>
            </a:r>
            <a:r>
              <a:rPr kumimoji="0" lang="en-US" altLang="en-US" sz="3200" b="1" i="0" u="none" strike="noStrike" cap="none" normalizeH="0" baseline="0" dirty="0" smtClean="0" bmk="">
                <a:ln>
                  <a:noFill/>
                </a:ln>
                <a:solidFill>
                  <a:schemeClr val="tx1"/>
                </a:solidFill>
                <a:effectLst/>
                <a:latin typeface="Times New Roman" panose="02020603050405020304" pitchFamily="18" charset="0"/>
                <a:ea typeface="Verdana" panose="020B0604030504040204" pitchFamily="34" charset="0"/>
                <a:cs typeface="Times New Roman" panose="02020603050405020304" pitchFamily="18" charset="0"/>
              </a:rPr>
              <a:t>SSESSMENT PATTERN</a:t>
            </a:r>
            <a:endParaRPr kumimoji="0" lang="en-US" altLang="en-US" sz="3200" b="0" i="0" u="none" strike="noStrike" cap="none" normalizeH="0" baseline="0" dirty="0" bmk="">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695325" algn="l"/>
              </a:tabLst>
            </a:pPr>
            <a:r>
              <a:rPr kumimoji="0" lang="en-US" altLang="en-US" sz="1600" b="0" i="0" u="none" strike="noStrike" cap="none" normalizeH="0" baseline="0" dirty="0" smtClean="0"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a:t>
            </a:r>
            <a:r>
              <a:rPr kumimoji="0" lang="en-US" altLang="en-US" sz="1600" b="0" i="0" u="none" strike="noStrike" cap="none" normalizeH="0" baseline="0" dirty="0"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performance of students is evaluated as follows</a:t>
            </a:r>
            <a:r>
              <a:rPr kumimoji="0" lang="en-US" altLang="en-US" sz="1600" b="0" i="0" u="none" strike="noStrike" cap="none" normalizeH="0" baseline="0" dirty="0" smtClean="0" bmk="">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sz="1200" b="0" i="0" u="none" strike="noStrike" cap="none" normalizeH="0" baseline="0" dirty="0" bmk="">
              <a:ln>
                <a:noFill/>
              </a:ln>
              <a:solidFill>
                <a:schemeClr val="tx1"/>
              </a:solidFill>
              <a:effectLst/>
            </a:endParaRPr>
          </a:p>
        </p:txBody>
      </p:sp>
      <p:graphicFrame>
        <p:nvGraphicFramePr>
          <p:cNvPr id="10" name="Table 9">
            <a:extLst>
              <a:ext uri="{FF2B5EF4-FFF2-40B4-BE49-F238E27FC236}">
                <a16:creationId xmlns:a16="http://schemas.microsoft.com/office/drawing/2014/main" id="{8E813284-3E5F-1394-B3EC-D2587E9C89CF}"/>
              </a:ext>
            </a:extLst>
          </p:cNvPr>
          <p:cNvGraphicFramePr>
            <a:graphicFrameLocks noGrp="1"/>
          </p:cNvGraphicFramePr>
          <p:nvPr>
            <p:extLst/>
          </p:nvPr>
        </p:nvGraphicFramePr>
        <p:xfrm>
          <a:off x="1685109" y="1565492"/>
          <a:ext cx="7461067" cy="1041482"/>
        </p:xfrm>
        <a:graphic>
          <a:graphicData uri="http://schemas.openxmlformats.org/drawingml/2006/table">
            <a:tbl>
              <a:tblPr firstRow="1" firstCol="1" lastRow="1" lastCol="1" bandRow="1" bandCol="1"/>
              <a:tblGrid>
                <a:gridCol w="1273034">
                  <a:extLst>
                    <a:ext uri="{9D8B030D-6E8A-4147-A177-3AD203B41FA5}">
                      <a16:colId xmlns:a16="http://schemas.microsoft.com/office/drawing/2014/main" val="1279282291"/>
                    </a:ext>
                  </a:extLst>
                </a:gridCol>
                <a:gridCol w="1664545">
                  <a:extLst>
                    <a:ext uri="{9D8B030D-6E8A-4147-A177-3AD203B41FA5}">
                      <a16:colId xmlns:a16="http://schemas.microsoft.com/office/drawing/2014/main" val="1317047220"/>
                    </a:ext>
                  </a:extLst>
                </a:gridCol>
                <a:gridCol w="1695997">
                  <a:extLst>
                    <a:ext uri="{9D8B030D-6E8A-4147-A177-3AD203B41FA5}">
                      <a16:colId xmlns:a16="http://schemas.microsoft.com/office/drawing/2014/main" val="1534157159"/>
                    </a:ext>
                  </a:extLst>
                </a:gridCol>
                <a:gridCol w="1469203">
                  <a:extLst>
                    <a:ext uri="{9D8B030D-6E8A-4147-A177-3AD203B41FA5}">
                      <a16:colId xmlns:a16="http://schemas.microsoft.com/office/drawing/2014/main" val="1471745708"/>
                    </a:ext>
                  </a:extLst>
                </a:gridCol>
                <a:gridCol w="1358288">
                  <a:extLst>
                    <a:ext uri="{9D8B030D-6E8A-4147-A177-3AD203B41FA5}">
                      <a16:colId xmlns:a16="http://schemas.microsoft.com/office/drawing/2014/main" val="1304499668"/>
                    </a:ext>
                  </a:extLst>
                </a:gridCol>
              </a:tblGrid>
              <a:tr h="175408">
                <a:tc>
                  <a:txBody>
                    <a:bodyPr/>
                    <a:lstStyle/>
                    <a:p>
                      <a:pPr algn="l"/>
                      <a:r>
                        <a:rPr lang="en-US" sz="105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R="45085" algn="ctr">
                        <a:lnSpc>
                          <a:spcPts val="1140"/>
                        </a:lnSpc>
                      </a:pPr>
                      <a:r>
                        <a:rPr lang="en-US" sz="1100" b="1" spc="-10">
                          <a:effectLst/>
                          <a:latin typeface="Times New Roman" panose="02020603050405020304" pitchFamily="18" charset="0"/>
                          <a:ea typeface="Times New Roman" panose="02020603050405020304" pitchFamily="18" charset="0"/>
                          <a:cs typeface="Times New Roman" panose="02020603050405020304" pitchFamily="18" charset="0"/>
                        </a:rPr>
                        <a:t>Theory</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gridSpan="2">
                  <a:txBody>
                    <a:bodyPr/>
                    <a:lstStyle/>
                    <a:p>
                      <a:pPr marR="43815" algn="ctr">
                        <a:lnSpc>
                          <a:spcPts val="1140"/>
                        </a:lnSpc>
                      </a:pPr>
                      <a:r>
                        <a:rPr lang="en-US" sz="1100" b="1" spc="-10">
                          <a:effectLst/>
                          <a:latin typeface="Times New Roman" panose="02020603050405020304" pitchFamily="18" charset="0"/>
                          <a:ea typeface="Times New Roman" panose="02020603050405020304" pitchFamily="18" charset="0"/>
                          <a:cs typeface="Times New Roman" panose="02020603050405020304" pitchFamily="18" charset="0"/>
                        </a:rPr>
                        <a:t>Practical</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4187026910"/>
                  </a:ext>
                </a:extLst>
              </a:tr>
              <a:tr h="516158">
                <a:tc>
                  <a:txBody>
                    <a:bodyPr/>
                    <a:lstStyle/>
                    <a:p>
                      <a:pPr algn="l">
                        <a:spcBef>
                          <a:spcPts val="565"/>
                        </a:spcBef>
                      </a:pPr>
                      <a:r>
                        <a:rPr lang="en-US" sz="11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gn="l"/>
                      <a:r>
                        <a:rPr lang="en-US" sz="1100" b="1" spc="-10">
                          <a:effectLst/>
                          <a:latin typeface="Times New Roman" panose="02020603050405020304" pitchFamily="18" charset="0"/>
                          <a:ea typeface="Times New Roman" panose="02020603050405020304" pitchFamily="18" charset="0"/>
                          <a:cs typeface="Times New Roman" panose="02020603050405020304" pitchFamily="18" charset="0"/>
                        </a:rPr>
                        <a:t>Components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191770" algn="l">
                        <a:spcBef>
                          <a:spcPts val="565"/>
                        </a:spcBef>
                        <a:spcAft>
                          <a:spcPts val="0"/>
                        </a:spcAft>
                      </a:pPr>
                      <a:r>
                        <a:rPr lang="en-US" sz="1100" b="1" spc="-10">
                          <a:effectLst/>
                          <a:latin typeface="Times New Roman" panose="02020603050405020304" pitchFamily="18" charset="0"/>
                          <a:ea typeface="Times New Roman" panose="02020603050405020304" pitchFamily="18" charset="0"/>
                          <a:cs typeface="Times New Roman" panose="02020603050405020304" pitchFamily="18" charset="0"/>
                        </a:rPr>
                        <a:t>Continuous Internal </a:t>
                      </a: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Assessment</a:t>
                      </a:r>
                      <a:r>
                        <a:rPr lang="en-US" sz="1100" b="1" spc="-6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(CAE)</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8580" marR="114935" algn="l">
                        <a:spcBef>
                          <a:spcPts val="1140"/>
                        </a:spcBef>
                        <a:spcAft>
                          <a:spcPts val="0"/>
                        </a:spcAft>
                        <a:tabLst>
                          <a:tab pos="951865" algn="l"/>
                        </a:tabLst>
                      </a:pPr>
                      <a:r>
                        <a:rPr lang="en-US" sz="1100" b="1" spc="-10" dirty="0">
                          <a:effectLst/>
                          <a:latin typeface="Times New Roman" panose="02020603050405020304" pitchFamily="18" charset="0"/>
                          <a:ea typeface="Times New Roman" panose="02020603050405020304" pitchFamily="18" charset="0"/>
                          <a:cs typeface="Times New Roman" panose="02020603050405020304" pitchFamily="18" charset="0"/>
                        </a:rPr>
                        <a:t>Semester </a:t>
                      </a:r>
                      <a:r>
                        <a:rPr lang="en-US" sz="1100" b="1" spc="-20" dirty="0">
                          <a:effectLst/>
                          <a:latin typeface="Times New Roman" panose="02020603050405020304" pitchFamily="18" charset="0"/>
                          <a:ea typeface="Times New Roman" panose="02020603050405020304" pitchFamily="18" charset="0"/>
                          <a:cs typeface="Times New Roman" panose="02020603050405020304" pitchFamily="18" charset="0"/>
                        </a:rPr>
                        <a:t>End </a:t>
                      </a:r>
                      <a:r>
                        <a:rPr lang="en-US" sz="1100" b="1" dirty="0">
                          <a:effectLst/>
                          <a:latin typeface="Times New Roman" panose="02020603050405020304" pitchFamily="18" charset="0"/>
                          <a:ea typeface="Times New Roman" panose="02020603050405020304" pitchFamily="18" charset="0"/>
                          <a:cs typeface="Times New Roman" panose="02020603050405020304" pitchFamily="18" charset="0"/>
                        </a:rPr>
                        <a:t>Examination (SEE)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9215" marR="109220" algn="l">
                        <a:spcAft>
                          <a:spcPts val="0"/>
                        </a:spcAft>
                      </a:pPr>
                      <a:r>
                        <a:rPr lang="en-US" sz="1100" b="1" spc="-10" dirty="0">
                          <a:effectLst/>
                          <a:latin typeface="Times New Roman" panose="02020603050405020304" pitchFamily="18" charset="0"/>
                          <a:ea typeface="Times New Roman" panose="02020603050405020304" pitchFamily="18" charset="0"/>
                          <a:cs typeface="Times New Roman" panose="02020603050405020304" pitchFamily="18" charset="0"/>
                        </a:rPr>
                        <a:t>Continuous Internal Assessment (CAE)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0485" marR="114300" algn="l">
                        <a:spcBef>
                          <a:spcPts val="565"/>
                        </a:spcBef>
                        <a:spcAft>
                          <a:spcPts val="0"/>
                        </a:spcAft>
                        <a:tabLst>
                          <a:tab pos="694690" algn="l"/>
                        </a:tabLst>
                      </a:pPr>
                      <a:r>
                        <a:rPr lang="en-US" sz="1100" b="1" spc="-10" dirty="0">
                          <a:effectLst/>
                          <a:latin typeface="Times New Roman" panose="02020603050405020304" pitchFamily="18" charset="0"/>
                          <a:ea typeface="Times New Roman" panose="02020603050405020304" pitchFamily="18" charset="0"/>
                          <a:cs typeface="Times New Roman" panose="02020603050405020304" pitchFamily="18" charset="0"/>
                        </a:rPr>
                        <a:t>Semester </a:t>
                      </a:r>
                      <a:r>
                        <a:rPr lang="en-US" sz="1100" b="1" spc="-20" dirty="0">
                          <a:effectLst/>
                          <a:latin typeface="Times New Roman" panose="02020603050405020304" pitchFamily="18" charset="0"/>
                          <a:ea typeface="Times New Roman" panose="02020603050405020304" pitchFamily="18" charset="0"/>
                          <a:cs typeface="Times New Roman" panose="02020603050405020304" pitchFamily="18" charset="0"/>
                        </a:rPr>
                        <a:t>End </a:t>
                      </a:r>
                      <a:r>
                        <a:rPr lang="en-US" sz="1100" b="1" spc="-10" dirty="0">
                          <a:effectLst/>
                          <a:latin typeface="Times New Roman" panose="02020603050405020304" pitchFamily="18" charset="0"/>
                          <a:ea typeface="Times New Roman" panose="02020603050405020304" pitchFamily="18" charset="0"/>
                          <a:cs typeface="Times New Roman" panose="02020603050405020304" pitchFamily="18" charset="0"/>
                        </a:rPr>
                        <a:t>Examination (SEE)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9405638"/>
                  </a:ext>
                </a:extLst>
              </a:tr>
              <a:tr h="175408">
                <a:tc>
                  <a:txBody>
                    <a:bodyPr/>
                    <a:lstStyle/>
                    <a:p>
                      <a:pPr marL="67945" algn="l">
                        <a:lnSpc>
                          <a:spcPts val="1140"/>
                        </a:lnSpc>
                      </a:pPr>
                      <a:r>
                        <a:rPr lang="en-US" sz="1100" b="1" spc="-10" dirty="0">
                          <a:effectLst/>
                          <a:latin typeface="Times New Roman" panose="02020603050405020304" pitchFamily="18" charset="0"/>
                          <a:ea typeface="Times New Roman" panose="02020603050405020304" pitchFamily="18" charset="0"/>
                          <a:cs typeface="Times New Roman" panose="02020603050405020304" pitchFamily="18" charset="0"/>
                        </a:rPr>
                        <a:t>Marks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42545" algn="ctr">
                        <a:lnSpc>
                          <a:spcPts val="1115"/>
                        </a:lnSpc>
                      </a:pPr>
                      <a:r>
                        <a:rPr lang="en-US" sz="1100" spc="-25">
                          <a:effectLst/>
                          <a:latin typeface="Times New Roman" panose="02020603050405020304" pitchFamily="18" charset="0"/>
                          <a:ea typeface="Times New Roman" panose="02020603050405020304" pitchFamily="18" charset="0"/>
                          <a:cs typeface="Times New Roman" panose="02020603050405020304" pitchFamily="18" charset="0"/>
                        </a:rPr>
                        <a:t>40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42545" algn="ctr">
                        <a:lnSpc>
                          <a:spcPts val="1115"/>
                        </a:lnSpc>
                      </a:pPr>
                      <a:r>
                        <a:rPr lang="en-US" sz="1100" spc="-25">
                          <a:effectLst/>
                          <a:latin typeface="Times New Roman" panose="02020603050405020304" pitchFamily="18" charset="0"/>
                          <a:ea typeface="Times New Roman" panose="02020603050405020304" pitchFamily="18" charset="0"/>
                          <a:cs typeface="Times New Roman" panose="02020603050405020304" pitchFamily="18" charset="0"/>
                        </a:rPr>
                        <a:t>60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40640" algn="ctr">
                        <a:lnSpc>
                          <a:spcPts val="1115"/>
                        </a:lnSpc>
                      </a:pPr>
                      <a:r>
                        <a:rPr lang="en-US" sz="1100" spc="-25">
                          <a:effectLst/>
                          <a:latin typeface="Times New Roman" panose="02020603050405020304" pitchFamily="18" charset="0"/>
                          <a:ea typeface="Times New Roman" panose="02020603050405020304" pitchFamily="18" charset="0"/>
                          <a:cs typeface="Times New Roman" panose="02020603050405020304" pitchFamily="18" charset="0"/>
                        </a:rPr>
                        <a:t>60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41910" algn="ctr">
                        <a:lnSpc>
                          <a:spcPts val="1115"/>
                        </a:lnSpc>
                      </a:pPr>
                      <a:r>
                        <a:rPr lang="en-US" sz="1100" spc="-25">
                          <a:effectLst/>
                          <a:latin typeface="Times New Roman" panose="02020603050405020304" pitchFamily="18" charset="0"/>
                          <a:ea typeface="Times New Roman" panose="02020603050405020304" pitchFamily="18" charset="0"/>
                          <a:cs typeface="Times New Roman" panose="02020603050405020304" pitchFamily="18" charset="0"/>
                        </a:rPr>
                        <a:t>40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0311873"/>
                  </a:ext>
                </a:extLst>
              </a:tr>
              <a:tr h="174508">
                <a:tc>
                  <a:txBody>
                    <a:bodyPr/>
                    <a:lstStyle/>
                    <a:p>
                      <a:pPr marL="67945" algn="l">
                        <a:lnSpc>
                          <a:spcPts val="1140"/>
                        </a:lnSpc>
                      </a:pPr>
                      <a:r>
                        <a:rPr lang="en-US" sz="1100" b="1">
                          <a:effectLst/>
                          <a:latin typeface="Times New Roman" panose="02020603050405020304" pitchFamily="18" charset="0"/>
                          <a:ea typeface="Times New Roman" panose="02020603050405020304" pitchFamily="18" charset="0"/>
                          <a:cs typeface="Times New Roman" panose="02020603050405020304" pitchFamily="18" charset="0"/>
                        </a:rPr>
                        <a:t>Total</a:t>
                      </a:r>
                      <a:r>
                        <a:rPr lang="en-US" sz="1100" b="1" spc="-3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100" b="1" spc="-10">
                          <a:effectLst/>
                          <a:latin typeface="Times New Roman" panose="02020603050405020304" pitchFamily="18" charset="0"/>
                          <a:ea typeface="Times New Roman" panose="02020603050405020304" pitchFamily="18" charset="0"/>
                          <a:cs typeface="Times New Roman" panose="02020603050405020304" pitchFamily="18" charset="0"/>
                        </a:rPr>
                        <a:t>Marks</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2540" marR="45085" algn="ctr">
                        <a:lnSpc>
                          <a:spcPts val="1115"/>
                        </a:lnSpc>
                        <a:spcAft>
                          <a:spcPts val="0"/>
                        </a:spcAft>
                      </a:pPr>
                      <a:r>
                        <a:rPr lang="en-US" sz="1100" spc="-25">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gridSpan="2">
                  <a:txBody>
                    <a:bodyPr/>
                    <a:lstStyle/>
                    <a:p>
                      <a:pPr marL="635" marR="43815" algn="ctr">
                        <a:lnSpc>
                          <a:spcPts val="1115"/>
                        </a:lnSpc>
                        <a:spcAft>
                          <a:spcPts val="0"/>
                        </a:spcAft>
                      </a:pPr>
                      <a:r>
                        <a:rPr lang="en-US" sz="1100" spc="-25" dirty="0">
                          <a:effectLst/>
                          <a:latin typeface="Times New Roman" panose="02020603050405020304" pitchFamily="18" charset="0"/>
                          <a:ea typeface="Times New Roman" panose="02020603050405020304" pitchFamily="18" charset="0"/>
                          <a:cs typeface="Times New Roman" panose="02020603050405020304" pitchFamily="18" charset="0"/>
                        </a:rPr>
                        <a:t>100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919059657"/>
                  </a:ext>
                </a:extLst>
              </a:tr>
            </a:tbl>
          </a:graphicData>
        </a:graphic>
      </p:graphicFrame>
      <p:pic>
        <p:nvPicPr>
          <p:cNvPr id="7" name="Picture 6"/>
          <p:cNvPicPr>
            <a:picLocks noChangeAspect="1"/>
          </p:cNvPicPr>
          <p:nvPr/>
        </p:nvPicPr>
        <p:blipFill>
          <a:blip r:embed="rId2"/>
          <a:stretch>
            <a:fillRect/>
          </a:stretch>
        </p:blipFill>
        <p:spPr>
          <a:xfrm>
            <a:off x="1854927" y="2656614"/>
            <a:ext cx="7081034" cy="4114501"/>
          </a:xfrm>
          <a:prstGeom prst="rect">
            <a:avLst/>
          </a:prstGeom>
        </p:spPr>
      </p:pic>
    </p:spTree>
    <p:extLst>
      <p:ext uri="{BB962C8B-B14F-4D97-AF65-F5344CB8AC3E}">
        <p14:creationId xmlns:p14="http://schemas.microsoft.com/office/powerpoint/2010/main" val="69892369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16010" y="336246"/>
            <a:ext cx="5778500" cy="3457558"/>
          </a:xfrm>
        </p:spPr>
        <p:txBody>
          <a:bodyPr>
            <a:normAutofit/>
          </a:bodyPr>
          <a:lstStyle/>
          <a:p>
            <a:r>
              <a:rPr lang="en-US" altLang="en-US" sz="2400" dirty="0">
                <a:cs typeface="Times New Roman" panose="02020603050405020304" pitchFamily="18" charset="0"/>
              </a:rPr>
              <a:t>The last element to be added is the first to be removed (</a:t>
            </a:r>
            <a:r>
              <a:rPr lang="en-US" altLang="en-US" sz="2400" b="1" dirty="0">
                <a:cs typeface="Times New Roman" panose="02020603050405020304" pitchFamily="18" charset="0"/>
              </a:rPr>
              <a:t>LIFO</a:t>
            </a:r>
            <a:r>
              <a:rPr lang="en-US" altLang="en-US" sz="2400" dirty="0">
                <a:cs typeface="Times New Roman" panose="02020603050405020304" pitchFamily="18" charset="0"/>
              </a:rPr>
              <a:t>: Last In, First Out).</a:t>
            </a:r>
            <a:endParaRPr lang="en-US" altLang="en-US" sz="2400" dirty="0">
              <a:latin typeface="Courier New" panose="02070309020205020404" pitchFamily="49" charset="0"/>
              <a:cs typeface="Courier New" panose="02070309020205020404" pitchFamily="49"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889485" y="264455"/>
            <a:ext cx="5801710"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4400" dirty="0">
                <a:latin typeface="Casper Bold"/>
              </a:rPr>
              <a:t>     </a:t>
            </a:r>
            <a:r>
              <a:rPr lang="en-US" sz="4400" b="1" dirty="0">
                <a:latin typeface="Casper Bold"/>
              </a:rPr>
              <a:t>DEFINITION</a:t>
            </a:r>
            <a:r>
              <a:rPr lang="en-US" sz="4400" dirty="0">
                <a:latin typeface="Casper Bold"/>
              </a:rPr>
              <a:t> </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36" name="AutoShape 4"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38" name="AutoShape 6"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4040" name="AutoShape 8" descr="Image result for DEFINITION OF STA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4042" name="Picture 10" descr="Image result for DEFINITION OF STACK"/>
          <p:cNvPicPr>
            <a:picLocks noChangeAspect="1" noChangeArrowheads="1"/>
          </p:cNvPicPr>
          <p:nvPr/>
        </p:nvPicPr>
        <p:blipFill>
          <a:blip r:embed="rId2"/>
          <a:srcRect/>
          <a:stretch>
            <a:fillRect/>
          </a:stretch>
        </p:blipFill>
        <p:spPr bwMode="auto">
          <a:xfrm>
            <a:off x="7209323" y="1276569"/>
            <a:ext cx="2545866" cy="2290367"/>
          </a:xfrm>
          <a:prstGeom prst="rect">
            <a:avLst/>
          </a:prstGeom>
          <a:noFill/>
        </p:spPr>
      </p:pic>
      <p:sp>
        <p:nvSpPr>
          <p:cNvPr id="12" name="Text Placeholder 11">
            <a:extLst>
              <a:ext uri="{FF2B5EF4-FFF2-40B4-BE49-F238E27FC236}">
                <a16:creationId xmlns:a16="http://schemas.microsoft.com/office/drawing/2014/main" id="{16A54CA2-7819-4ADD-A6EF-BF1890DB8525}"/>
              </a:ext>
            </a:extLst>
          </p:cNvPr>
          <p:cNvSpPr>
            <a:spLocks noGrp="1"/>
          </p:cNvSpPr>
          <p:nvPr>
            <p:ph type="body" sz="half" idx="2"/>
          </p:nvPr>
        </p:nvSpPr>
        <p:spPr>
          <a:xfrm>
            <a:off x="823795" y="895149"/>
            <a:ext cx="4855109" cy="4973839"/>
          </a:xfrm>
        </p:spPr>
        <p:txBody>
          <a:bodyPr/>
          <a:lstStyle/>
          <a:p>
            <a:pPr algn="just"/>
            <a:r>
              <a:rPr lang="en-US" sz="2000" dirty="0"/>
              <a:t>A stack is an Abstract Data Type (ADT), commonly used in most programming languages. It is named stack as it behaves like a real-world stack, for example – a deck of cards or stack of trays etc.</a:t>
            </a:r>
          </a:p>
          <a:p>
            <a:pPr algn="just"/>
            <a:r>
              <a:rPr lang="en-US" altLang="en-US" sz="2000" dirty="0">
                <a:cs typeface="Times New Roman" panose="02020603050405020304" pitchFamily="18" charset="0"/>
              </a:rPr>
              <a:t>It is an ordered group of homogeneous items of elements.</a:t>
            </a:r>
          </a:p>
          <a:p>
            <a:pPr algn="just"/>
            <a:r>
              <a:rPr lang="en-US" altLang="en-US" sz="2000" dirty="0">
                <a:cs typeface="Times New Roman" panose="02020603050405020304" pitchFamily="18" charset="0"/>
              </a:rPr>
              <a:t>Elements are added to and removed from the top of the stack (the most</a:t>
            </a:r>
            <a:r>
              <a:rPr lang="en-US" altLang="en-US" sz="2000" dirty="0">
                <a:latin typeface="Courier New" panose="02070309020205020404" pitchFamily="49" charset="0"/>
                <a:cs typeface="Courier New" panose="02070309020205020404" pitchFamily="49" charset="0"/>
              </a:rPr>
              <a:t> </a:t>
            </a:r>
            <a:r>
              <a:rPr lang="en-US" altLang="en-US" sz="2000" dirty="0">
                <a:cs typeface="Times New Roman" panose="02020603050405020304" pitchFamily="18" charset="0"/>
              </a:rPr>
              <a:t>recently added items are at the top of the stack).</a:t>
            </a:r>
          </a:p>
          <a:p>
            <a:endParaRPr lang="en-IN" dirty="0"/>
          </a:p>
        </p:txBody>
      </p:sp>
      <p:pic>
        <p:nvPicPr>
          <p:cNvPr id="13" name="Picture 4">
            <a:extLst>
              <a:ext uri="{FF2B5EF4-FFF2-40B4-BE49-F238E27FC236}">
                <a16:creationId xmlns:a16="http://schemas.microsoft.com/office/drawing/2014/main" id="{C4BD2719-079F-4EDD-A7AA-77AF79017B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5114" y="4424497"/>
            <a:ext cx="9501772" cy="2296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2033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06A4E-D398-462B-BAB4-6FC2C9B94DAD}"/>
              </a:ext>
            </a:extLst>
          </p:cNvPr>
          <p:cNvSpPr>
            <a:spLocks noGrp="1"/>
          </p:cNvSpPr>
          <p:nvPr>
            <p:ph type="ctrTitle"/>
          </p:nvPr>
        </p:nvSpPr>
        <p:spPr>
          <a:xfrm>
            <a:off x="1406434" y="505071"/>
            <a:ext cx="9144000" cy="764189"/>
          </a:xfrm>
        </p:spPr>
        <p:txBody>
          <a:bodyPr>
            <a:normAutofit/>
          </a:bodyPr>
          <a:lstStyle/>
          <a:p>
            <a:r>
              <a:rPr lang="en-IN" sz="4800" b="1" dirty="0">
                <a:latin typeface="Casper Bold"/>
              </a:rPr>
              <a:t>Stack </a:t>
            </a:r>
            <a:r>
              <a:rPr lang="en-IN" sz="4900" b="1" dirty="0" smtClean="0">
                <a:latin typeface="Casper Bold"/>
              </a:rPr>
              <a:t>Representation</a:t>
            </a:r>
            <a:endParaRPr lang="en-IN" dirty="0"/>
          </a:p>
        </p:txBody>
      </p:sp>
      <p:sp>
        <p:nvSpPr>
          <p:cNvPr id="4" name="Slide Number Placeholder 3">
            <a:extLst>
              <a:ext uri="{FF2B5EF4-FFF2-40B4-BE49-F238E27FC236}">
                <a16:creationId xmlns:a16="http://schemas.microsoft.com/office/drawing/2014/main" id="{50C158D4-4513-4B0C-8383-C62DDD100805}"/>
              </a:ext>
            </a:extLst>
          </p:cNvPr>
          <p:cNvSpPr>
            <a:spLocks noGrp="1"/>
          </p:cNvSpPr>
          <p:nvPr>
            <p:ph type="sldNum" sz="quarter" idx="12"/>
          </p:nvPr>
        </p:nvSpPr>
        <p:spPr/>
        <p:txBody>
          <a:bodyPr/>
          <a:lstStyle/>
          <a:p>
            <a:fld id="{BDCDBBEF-AA6C-4BA6-85B2-A17D7F280E38}" type="slidenum">
              <a:rPr lang="en-US" smtClean="0"/>
              <a:pPr/>
              <a:t>6</a:t>
            </a:fld>
            <a:endParaRPr lang="en-US"/>
          </a:p>
        </p:txBody>
      </p:sp>
      <p:pic>
        <p:nvPicPr>
          <p:cNvPr id="6" name="Picture 5">
            <a:extLst>
              <a:ext uri="{FF2B5EF4-FFF2-40B4-BE49-F238E27FC236}">
                <a16:creationId xmlns:a16="http://schemas.microsoft.com/office/drawing/2014/main" id="{E319ACAB-157E-4656-AC1A-3A0F9CA32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21000" y="1504457"/>
            <a:ext cx="6350000" cy="4381500"/>
          </a:xfrm>
          <a:prstGeom prst="rect">
            <a:avLst/>
          </a:prstGeom>
        </p:spPr>
      </p:pic>
    </p:spTree>
    <p:extLst>
      <p:ext uri="{BB962C8B-B14F-4D97-AF65-F5344CB8AC3E}">
        <p14:creationId xmlns:p14="http://schemas.microsoft.com/office/powerpoint/2010/main" val="16262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27E1F5-BFE5-49B5-BE0E-2CFFDB23080B}"/>
              </a:ext>
            </a:extLst>
          </p:cNvPr>
          <p:cNvSpPr>
            <a:spLocks noGrp="1"/>
          </p:cNvSpPr>
          <p:nvPr>
            <p:ph idx="1"/>
          </p:nvPr>
        </p:nvSpPr>
        <p:spPr>
          <a:xfrm>
            <a:off x="838200" y="336884"/>
            <a:ext cx="10515600" cy="6384591"/>
          </a:xfrm>
        </p:spPr>
        <p:txBody>
          <a:bodyPr>
            <a:normAutofit fontScale="85000" lnSpcReduction="20000"/>
          </a:bodyPr>
          <a:lstStyle/>
          <a:p>
            <a:pPr algn="just"/>
            <a:r>
              <a:rPr lang="en-US" dirty="0"/>
              <a:t>A stack can be implemented by means of Array, Structure, Pointer, and Linked List. Stack can either be a fixed size one or it may have a sense of dynamic resizing. Here, we are going to implement stack using arrays, which makes it a fixed size stack implementation.</a:t>
            </a:r>
          </a:p>
          <a:p>
            <a:pPr marL="0" indent="0">
              <a:buNone/>
            </a:pPr>
            <a:r>
              <a:rPr lang="en-US" b="1" u="sng" dirty="0"/>
              <a:t>Basic Operations</a:t>
            </a:r>
          </a:p>
          <a:p>
            <a:pPr marL="0" indent="0">
              <a:buNone/>
            </a:pPr>
            <a:r>
              <a:rPr lang="en-US" dirty="0"/>
              <a:t>Stack operations may involve initializing the stack, using it and then de-initializing it. Apart from these basic stuffs, a stack is used for the following two primary operations −</a:t>
            </a:r>
          </a:p>
          <a:p>
            <a:r>
              <a:rPr lang="en-US" b="1" dirty="0"/>
              <a:t>push()</a:t>
            </a:r>
            <a:r>
              <a:rPr lang="en-US" dirty="0"/>
              <a:t> − Pushing (storing) an element on the stack.</a:t>
            </a:r>
          </a:p>
          <a:p>
            <a:r>
              <a:rPr lang="en-US" b="1" dirty="0"/>
              <a:t>pop()</a:t>
            </a:r>
            <a:r>
              <a:rPr lang="en-US" dirty="0"/>
              <a:t> − Removing (accessing) an element from the stack.</a:t>
            </a:r>
          </a:p>
          <a:p>
            <a:endParaRPr lang="en-US" dirty="0"/>
          </a:p>
          <a:p>
            <a:r>
              <a:rPr lang="en-US" dirty="0"/>
              <a:t>To use a stack efficiently, we need to check the status of stack as well. For the same purpose, the following functionality is added to stacks −</a:t>
            </a:r>
          </a:p>
          <a:p>
            <a:r>
              <a:rPr lang="en-US" b="1" dirty="0"/>
              <a:t>peek()</a:t>
            </a:r>
            <a:r>
              <a:rPr lang="en-US" dirty="0"/>
              <a:t> − get the top data element of the stack, without removing it.</a:t>
            </a:r>
          </a:p>
          <a:p>
            <a:r>
              <a:rPr lang="en-US" b="1" dirty="0" err="1"/>
              <a:t>isFull</a:t>
            </a:r>
            <a:r>
              <a:rPr lang="en-US" b="1" dirty="0"/>
              <a:t>()</a:t>
            </a:r>
            <a:r>
              <a:rPr lang="en-US" dirty="0"/>
              <a:t> − check if stack is full.</a:t>
            </a:r>
          </a:p>
          <a:p>
            <a:r>
              <a:rPr lang="en-US" b="1" dirty="0" err="1"/>
              <a:t>isEmpty</a:t>
            </a:r>
            <a:r>
              <a:rPr lang="en-US" b="1" dirty="0"/>
              <a:t>()</a:t>
            </a:r>
            <a:r>
              <a:rPr lang="en-US" dirty="0"/>
              <a:t> − check if stack is empty.</a:t>
            </a:r>
          </a:p>
          <a:p>
            <a:r>
              <a:rPr lang="en-US" dirty="0"/>
              <a:t>At all times, we maintain a pointer to the last </a:t>
            </a:r>
            <a:r>
              <a:rPr lang="en-US" dirty="0" err="1"/>
              <a:t>PUSHed</a:t>
            </a:r>
            <a:r>
              <a:rPr lang="en-US" dirty="0"/>
              <a:t> data on the stack. As this pointer always represents the top of the stack, hence named </a:t>
            </a:r>
            <a:r>
              <a:rPr lang="en-US" b="1" dirty="0"/>
              <a:t>top</a:t>
            </a:r>
            <a:r>
              <a:rPr lang="en-US" dirty="0"/>
              <a:t>. The </a:t>
            </a:r>
            <a:r>
              <a:rPr lang="en-US" b="1" dirty="0"/>
              <a:t>top</a:t>
            </a:r>
            <a:r>
              <a:rPr lang="en-US" dirty="0"/>
              <a:t> pointer provides top value of the stack without actually removing it.</a:t>
            </a:r>
          </a:p>
          <a:p>
            <a:endParaRPr lang="en-IN" dirty="0"/>
          </a:p>
        </p:txBody>
      </p:sp>
      <p:sp>
        <p:nvSpPr>
          <p:cNvPr id="4" name="Slide Number Placeholder 3">
            <a:extLst>
              <a:ext uri="{FF2B5EF4-FFF2-40B4-BE49-F238E27FC236}">
                <a16:creationId xmlns:a16="http://schemas.microsoft.com/office/drawing/2014/main" id="{6F94E372-88E9-479A-880A-5CD5E3002383}"/>
              </a:ext>
            </a:extLst>
          </p:cNvPr>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1854066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304800"/>
            <a:ext cx="10566400" cy="609600"/>
          </a:xfrm>
        </p:spPr>
        <p:txBody>
          <a:bodyPr>
            <a:noAutofit/>
          </a:bodyPr>
          <a:lstStyle/>
          <a:p>
            <a:r>
              <a:rPr lang="en-US" sz="4000" b="1" dirty="0">
                <a:latin typeface="Casper Bold"/>
              </a:rPr>
              <a:t>Sequential/ Array representation of Stack</a:t>
            </a:r>
          </a:p>
        </p:txBody>
      </p:sp>
      <p:sp>
        <p:nvSpPr>
          <p:cNvPr id="3" name="Content Placeholder 2"/>
          <p:cNvSpPr>
            <a:spLocks noGrp="1"/>
          </p:cNvSpPr>
          <p:nvPr>
            <p:ph idx="1"/>
          </p:nvPr>
        </p:nvSpPr>
        <p:spPr>
          <a:xfrm>
            <a:off x="1219200" y="2667000"/>
            <a:ext cx="6096000" cy="3581400"/>
          </a:xfrm>
        </p:spPr>
        <p:txBody>
          <a:bodyPr>
            <a:normAutofit fontScale="92500" lnSpcReduction="20000"/>
          </a:bodyPr>
          <a:lstStyle/>
          <a:p>
            <a:pPr algn="just"/>
            <a:r>
              <a:rPr lang="en-US" dirty="0" smtClean="0"/>
              <a:t>Stack may be represented in the computer in various ways, usually by means of a one-way list or a linear array.</a:t>
            </a:r>
          </a:p>
          <a:p>
            <a:pPr algn="just"/>
            <a:r>
              <a:rPr lang="en-US" dirty="0" smtClean="0"/>
              <a:t>In case of linear array, a pointer variable TOP contains the location of the top element of the stack and a variable MAXSTK which gives the maximum number of elements that can be held by the stack.</a:t>
            </a:r>
          </a:p>
          <a:p>
            <a:pPr algn="just"/>
            <a:r>
              <a:rPr lang="en-US" dirty="0" smtClean="0"/>
              <a:t>The condition TOP=0 or TOP=NULL will indicate that the stack is empty.</a:t>
            </a:r>
            <a:endParaRPr lang="en-US" dirty="0"/>
          </a:p>
        </p:txBody>
      </p:sp>
      <p:pic>
        <p:nvPicPr>
          <p:cNvPr id="1027" name="Picture 3"/>
          <p:cNvPicPr>
            <a:picLocks noChangeAspect="1" noChangeArrowheads="1"/>
          </p:cNvPicPr>
          <p:nvPr/>
        </p:nvPicPr>
        <p:blipFill>
          <a:blip r:embed="rId2" cstate="print">
            <a:lum bright="16000"/>
          </a:blip>
          <a:srcRect/>
          <a:stretch>
            <a:fillRect/>
          </a:stretch>
        </p:blipFill>
        <p:spPr bwMode="auto">
          <a:xfrm>
            <a:off x="7213600" y="990600"/>
            <a:ext cx="4572000" cy="45720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lum bright="16000"/>
          </a:blip>
          <a:srcRect/>
          <a:stretch>
            <a:fillRect/>
          </a:stretch>
        </p:blipFill>
        <p:spPr bwMode="auto">
          <a:xfrm>
            <a:off x="1625600" y="990599"/>
            <a:ext cx="5994401" cy="1524001"/>
          </a:xfrm>
          <a:prstGeom prst="rect">
            <a:avLst/>
          </a:prstGeom>
          <a:noFill/>
          <a:ln w="9525">
            <a:noFill/>
            <a:miter lim="800000"/>
            <a:headEnd/>
            <a:tailEnd/>
          </a:ln>
          <a:effectLst/>
        </p:spPr>
      </p:pic>
      <p:sp>
        <p:nvSpPr>
          <p:cNvPr id="7" name="TextBox 6"/>
          <p:cNvSpPr txBox="1"/>
          <p:nvPr/>
        </p:nvSpPr>
        <p:spPr>
          <a:xfrm>
            <a:off x="5689600" y="2145268"/>
            <a:ext cx="301686" cy="369332"/>
          </a:xfrm>
          <a:prstGeom prst="rect">
            <a:avLst/>
          </a:prstGeom>
          <a:noFill/>
        </p:spPr>
        <p:txBody>
          <a:bodyPr wrap="none" rtlCol="0">
            <a:spAutoFit/>
          </a:bodyPr>
          <a:lstStyle/>
          <a:p>
            <a:r>
              <a:rPr lang="en-US" dirty="0" smtClean="0"/>
              <a:t>8</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latin typeface="Casper Bold"/>
              </a:rPr>
              <a:t>Insertion in a Stack</a:t>
            </a:r>
          </a:p>
        </p:txBody>
      </p:sp>
      <p:sp>
        <p:nvSpPr>
          <p:cNvPr id="3" name="Content Placeholder 2"/>
          <p:cNvSpPr>
            <a:spLocks noGrp="1"/>
          </p:cNvSpPr>
          <p:nvPr>
            <p:ph idx="1"/>
          </p:nvPr>
        </p:nvSpPr>
        <p:spPr/>
        <p:txBody>
          <a:bodyPr/>
          <a:lstStyle/>
          <a:p>
            <a:r>
              <a:rPr lang="en-US" dirty="0" smtClean="0"/>
              <a:t>Stack is implemented here as a one dimensional array of size 	7.</a:t>
            </a:r>
          </a:p>
          <a:p>
            <a:endParaRPr lang="en-US" dirty="0"/>
          </a:p>
        </p:txBody>
      </p:sp>
      <p:pic>
        <p:nvPicPr>
          <p:cNvPr id="3074" name="Picture 2"/>
          <p:cNvPicPr>
            <a:picLocks noChangeAspect="1" noChangeArrowheads="1"/>
          </p:cNvPicPr>
          <p:nvPr/>
        </p:nvPicPr>
        <p:blipFill>
          <a:blip r:embed="rId2"/>
          <a:srcRect/>
          <a:stretch>
            <a:fillRect/>
          </a:stretch>
        </p:blipFill>
        <p:spPr bwMode="auto">
          <a:xfrm>
            <a:off x="508001" y="2667000"/>
            <a:ext cx="5168900" cy="2457450"/>
          </a:xfrm>
          <a:prstGeom prst="rect">
            <a:avLst/>
          </a:prstGeom>
          <a:noFill/>
          <a:ln w="9525">
            <a:noFill/>
            <a:miter lim="800000"/>
            <a:headEnd/>
            <a:tailEnd/>
          </a:ln>
          <a:effectLst/>
        </p:spPr>
      </p:pic>
      <p:pic>
        <p:nvPicPr>
          <p:cNvPr id="5" name="Picture 2"/>
          <p:cNvPicPr>
            <a:picLocks noChangeAspect="1" noChangeArrowheads="1"/>
          </p:cNvPicPr>
          <p:nvPr/>
        </p:nvPicPr>
        <p:blipFill>
          <a:blip r:embed="rId3"/>
          <a:srcRect/>
          <a:stretch>
            <a:fillRect/>
          </a:stretch>
        </p:blipFill>
        <p:spPr bwMode="auto">
          <a:xfrm>
            <a:off x="5486400" y="2438400"/>
            <a:ext cx="5410200" cy="2857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latin typeface="Casper Bold"/>
              </a:rPr>
              <a:t>Insertion in a Stack(contd..)</a:t>
            </a:r>
          </a:p>
        </p:txBody>
      </p:sp>
      <p:pic>
        <p:nvPicPr>
          <p:cNvPr id="4099" name="Picture 3"/>
          <p:cNvPicPr>
            <a:picLocks noChangeAspect="1" noChangeArrowheads="1"/>
          </p:cNvPicPr>
          <p:nvPr/>
        </p:nvPicPr>
        <p:blipFill>
          <a:blip r:embed="rId2"/>
          <a:srcRect/>
          <a:stretch>
            <a:fillRect/>
          </a:stretch>
        </p:blipFill>
        <p:spPr bwMode="auto">
          <a:xfrm>
            <a:off x="304801" y="2362201"/>
            <a:ext cx="5092700" cy="2638425"/>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6502401" y="2438401"/>
            <a:ext cx="5422900" cy="26765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latin typeface="Casper Bold"/>
              </a:rPr>
              <a:t>Insertion in a Stack(contd..)</a:t>
            </a:r>
          </a:p>
        </p:txBody>
      </p:sp>
      <p:pic>
        <p:nvPicPr>
          <p:cNvPr id="5122" name="Picture 2"/>
          <p:cNvPicPr>
            <a:picLocks noChangeAspect="1" noChangeArrowheads="1"/>
          </p:cNvPicPr>
          <p:nvPr/>
        </p:nvPicPr>
        <p:blipFill>
          <a:blip r:embed="rId2"/>
          <a:srcRect/>
          <a:stretch>
            <a:fillRect/>
          </a:stretch>
        </p:blipFill>
        <p:spPr bwMode="auto">
          <a:xfrm>
            <a:off x="304800" y="2552700"/>
            <a:ext cx="5664200" cy="2857500"/>
          </a:xfrm>
          <a:prstGeom prst="rect">
            <a:avLst/>
          </a:prstGeom>
          <a:noFill/>
          <a:ln w="9525">
            <a:noFill/>
            <a:miter lim="800000"/>
            <a:headEnd/>
            <a:tailEnd/>
          </a:ln>
          <a:effectLst/>
        </p:spPr>
      </p:pic>
      <p:pic>
        <p:nvPicPr>
          <p:cNvPr id="5124" name="Picture 4"/>
          <p:cNvPicPr>
            <a:picLocks noChangeAspect="1" noChangeArrowheads="1"/>
          </p:cNvPicPr>
          <p:nvPr/>
        </p:nvPicPr>
        <p:blipFill>
          <a:blip r:embed="rId3"/>
          <a:srcRect/>
          <a:stretch>
            <a:fillRect/>
          </a:stretch>
        </p:blipFill>
        <p:spPr bwMode="auto">
          <a:xfrm>
            <a:off x="8128001" y="3438526"/>
            <a:ext cx="2197100" cy="21240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latin typeface="Casper Bold"/>
              </a:rPr>
              <a:t>Deletion from stack</a:t>
            </a:r>
          </a:p>
        </p:txBody>
      </p:sp>
      <p:pic>
        <p:nvPicPr>
          <p:cNvPr id="6146" name="Picture 2"/>
          <p:cNvPicPr>
            <a:picLocks noChangeAspect="1" noChangeArrowheads="1"/>
          </p:cNvPicPr>
          <p:nvPr/>
        </p:nvPicPr>
        <p:blipFill>
          <a:blip r:embed="rId2"/>
          <a:srcRect/>
          <a:stretch>
            <a:fillRect/>
          </a:stretch>
        </p:blipFill>
        <p:spPr bwMode="auto">
          <a:xfrm>
            <a:off x="304801" y="2667000"/>
            <a:ext cx="5346700" cy="2800350"/>
          </a:xfrm>
          <a:prstGeom prst="rect">
            <a:avLst/>
          </a:prstGeom>
          <a:noFill/>
          <a:ln w="9525">
            <a:noFill/>
            <a:miter lim="800000"/>
            <a:headEnd/>
            <a:tailEnd/>
          </a:ln>
          <a:effectLst/>
        </p:spPr>
      </p:pic>
      <p:pic>
        <p:nvPicPr>
          <p:cNvPr id="6147" name="Picture 3"/>
          <p:cNvPicPr>
            <a:picLocks noChangeAspect="1" noChangeArrowheads="1"/>
          </p:cNvPicPr>
          <p:nvPr/>
        </p:nvPicPr>
        <p:blipFill>
          <a:blip r:embed="rId3"/>
          <a:srcRect/>
          <a:stretch>
            <a:fillRect/>
          </a:stretch>
        </p:blipFill>
        <p:spPr bwMode="auto">
          <a:xfrm>
            <a:off x="6299201" y="2667000"/>
            <a:ext cx="5295900" cy="28384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latin typeface="Casper Bold"/>
              </a:rPr>
              <a:t>Deletion from stack(contd..)</a:t>
            </a:r>
          </a:p>
        </p:txBody>
      </p:sp>
      <p:pic>
        <p:nvPicPr>
          <p:cNvPr id="7170" name="Picture 2"/>
          <p:cNvPicPr>
            <a:picLocks noChangeAspect="1" noChangeArrowheads="1"/>
          </p:cNvPicPr>
          <p:nvPr/>
        </p:nvPicPr>
        <p:blipFill>
          <a:blip r:embed="rId2"/>
          <a:srcRect/>
          <a:stretch>
            <a:fillRect/>
          </a:stretch>
        </p:blipFill>
        <p:spPr bwMode="auto">
          <a:xfrm>
            <a:off x="508000" y="2362201"/>
            <a:ext cx="5283200" cy="2790825"/>
          </a:xfrm>
          <a:prstGeom prst="rect">
            <a:avLst/>
          </a:prstGeom>
          <a:noFill/>
          <a:ln w="9525">
            <a:noFill/>
            <a:miter lim="800000"/>
            <a:headEnd/>
            <a:tailEnd/>
          </a:ln>
          <a:effectLst/>
        </p:spPr>
      </p:pic>
      <p:pic>
        <p:nvPicPr>
          <p:cNvPr id="7171" name="Picture 3"/>
          <p:cNvPicPr>
            <a:picLocks noChangeAspect="1" noChangeArrowheads="1"/>
          </p:cNvPicPr>
          <p:nvPr/>
        </p:nvPicPr>
        <p:blipFill>
          <a:blip r:embed="rId3"/>
          <a:srcRect/>
          <a:stretch>
            <a:fillRect/>
          </a:stretch>
        </p:blipFill>
        <p:spPr bwMode="auto">
          <a:xfrm>
            <a:off x="6616701" y="2362200"/>
            <a:ext cx="5575300" cy="27813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39F59-F1FB-425E-906D-D4756DA55F46}"/>
              </a:ext>
            </a:extLst>
          </p:cNvPr>
          <p:cNvSpPr>
            <a:spLocks noGrp="1"/>
          </p:cNvSpPr>
          <p:nvPr>
            <p:ph type="title"/>
          </p:nvPr>
        </p:nvSpPr>
        <p:spPr>
          <a:xfrm>
            <a:off x="838200" y="365126"/>
            <a:ext cx="10515600" cy="635902"/>
          </a:xfrm>
        </p:spPr>
        <p:txBody>
          <a:bodyPr>
            <a:normAutofit fontScale="90000"/>
          </a:bodyPr>
          <a:lstStyle/>
          <a:p>
            <a:r>
              <a:rPr lang="en-US" b="1" dirty="0">
                <a:latin typeface="Casper Bold"/>
              </a:rPr>
              <a:t>Push Operation</a:t>
            </a:r>
            <a:r>
              <a:rPr lang="en-US" dirty="0"/>
              <a:t/>
            </a:r>
            <a:br>
              <a:rPr lang="en-US" dirty="0"/>
            </a:br>
            <a:endParaRPr lang="en-IN" dirty="0"/>
          </a:p>
        </p:txBody>
      </p:sp>
      <p:sp>
        <p:nvSpPr>
          <p:cNvPr id="3" name="Content Placeholder 2">
            <a:extLst>
              <a:ext uri="{FF2B5EF4-FFF2-40B4-BE49-F238E27FC236}">
                <a16:creationId xmlns:a16="http://schemas.microsoft.com/office/drawing/2014/main" id="{DC6E85F5-5C98-43DC-BA23-12D33A62A99F}"/>
              </a:ext>
            </a:extLst>
          </p:cNvPr>
          <p:cNvSpPr>
            <a:spLocks noGrp="1"/>
          </p:cNvSpPr>
          <p:nvPr>
            <p:ph idx="1"/>
          </p:nvPr>
        </p:nvSpPr>
        <p:spPr>
          <a:xfrm>
            <a:off x="889535" y="683077"/>
            <a:ext cx="10515600" cy="2493260"/>
          </a:xfrm>
        </p:spPr>
        <p:txBody>
          <a:bodyPr>
            <a:normAutofit fontScale="77500" lnSpcReduction="20000"/>
          </a:bodyPr>
          <a:lstStyle/>
          <a:p>
            <a:r>
              <a:rPr lang="en-US" dirty="0"/>
              <a:t>The process of putting a new data element onto stack is known as a Push Operation. Push operation involves a series of steps −</a:t>
            </a:r>
          </a:p>
          <a:p>
            <a:r>
              <a:rPr lang="en-US" b="1" dirty="0"/>
              <a:t>Step 1</a:t>
            </a:r>
            <a:r>
              <a:rPr lang="en-US" dirty="0"/>
              <a:t> − Checks if the stack is full.</a:t>
            </a:r>
          </a:p>
          <a:p>
            <a:r>
              <a:rPr lang="en-US" b="1" dirty="0"/>
              <a:t>Step 2</a:t>
            </a:r>
            <a:r>
              <a:rPr lang="en-US" dirty="0"/>
              <a:t> − If the stack is full, produces an error and exit.</a:t>
            </a:r>
          </a:p>
          <a:p>
            <a:r>
              <a:rPr lang="en-US" b="1" dirty="0"/>
              <a:t>Step 3</a:t>
            </a:r>
            <a:r>
              <a:rPr lang="en-US" dirty="0"/>
              <a:t> − If the stack is not full, increments </a:t>
            </a:r>
            <a:r>
              <a:rPr lang="en-US" b="1" dirty="0"/>
              <a:t>top</a:t>
            </a:r>
            <a:r>
              <a:rPr lang="en-US" dirty="0"/>
              <a:t> to point next empty space.</a:t>
            </a:r>
          </a:p>
          <a:p>
            <a:r>
              <a:rPr lang="en-US" b="1" dirty="0"/>
              <a:t>Step 4</a:t>
            </a:r>
            <a:r>
              <a:rPr lang="en-US" dirty="0"/>
              <a:t> − Adds data element to the stack location, where top is pointing.</a:t>
            </a:r>
          </a:p>
          <a:p>
            <a:r>
              <a:rPr lang="en-US" b="1" dirty="0"/>
              <a:t>Step 5</a:t>
            </a:r>
            <a:r>
              <a:rPr lang="en-US" dirty="0"/>
              <a:t> − Returns success</a:t>
            </a:r>
          </a:p>
          <a:p>
            <a:endParaRPr lang="en-IN" dirty="0"/>
          </a:p>
        </p:txBody>
      </p:sp>
      <p:sp>
        <p:nvSpPr>
          <p:cNvPr id="4" name="Slide Number Placeholder 3">
            <a:extLst>
              <a:ext uri="{FF2B5EF4-FFF2-40B4-BE49-F238E27FC236}">
                <a16:creationId xmlns:a16="http://schemas.microsoft.com/office/drawing/2014/main" id="{ADDADF99-4F63-4ABF-8C36-1E83E3B760F0}"/>
              </a:ext>
            </a:extLst>
          </p:cNvPr>
          <p:cNvSpPr>
            <a:spLocks noGrp="1"/>
          </p:cNvSpPr>
          <p:nvPr>
            <p:ph type="sldNum" sz="quarter" idx="12"/>
          </p:nvPr>
        </p:nvSpPr>
        <p:spPr/>
        <p:txBody>
          <a:bodyPr/>
          <a:lstStyle/>
          <a:p>
            <a:fld id="{BDCDBBEF-AA6C-4BA6-85B2-A17D7F280E38}" type="slidenum">
              <a:rPr lang="en-US" smtClean="0"/>
              <a:pPr/>
              <a:t>14</a:t>
            </a:fld>
            <a:endParaRPr lang="en-US"/>
          </a:p>
        </p:txBody>
      </p:sp>
      <p:pic>
        <p:nvPicPr>
          <p:cNvPr id="6" name="Picture 5">
            <a:extLst>
              <a:ext uri="{FF2B5EF4-FFF2-40B4-BE49-F238E27FC236}">
                <a16:creationId xmlns:a16="http://schemas.microsoft.com/office/drawing/2014/main" id="{2BDEAA4E-5A55-4FFC-BE4C-ACABF7355A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8742" y="3429000"/>
            <a:ext cx="5080000" cy="3124200"/>
          </a:xfrm>
          <a:prstGeom prst="rect">
            <a:avLst/>
          </a:prstGeom>
        </p:spPr>
      </p:pic>
    </p:spTree>
    <p:extLst>
      <p:ext uri="{BB962C8B-B14F-4D97-AF65-F5344CB8AC3E}">
        <p14:creationId xmlns:p14="http://schemas.microsoft.com/office/powerpoint/2010/main" val="3185120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67393" y="1828799"/>
            <a:ext cx="6435636" cy="4356463"/>
          </a:xfrm>
        </p:spPr>
        <p:txBody>
          <a:bodyPr>
            <a:normAutofit fontScale="92500" lnSpcReduction="10000"/>
          </a:bodyPr>
          <a:lstStyle/>
          <a:p>
            <a:pPr>
              <a:buNone/>
            </a:pPr>
            <a:r>
              <a:rPr lang="en-US" b="1" dirty="0" smtClean="0"/>
              <a:t>Algorithm: PUSH(STACK,TOP,MAXSTK,ITEM)</a:t>
            </a:r>
          </a:p>
          <a:p>
            <a:pPr>
              <a:buNone/>
            </a:pPr>
            <a:r>
              <a:rPr lang="en-US" dirty="0" smtClean="0"/>
              <a:t>	This procedure pushes an ITEM onto a stack.</a:t>
            </a:r>
          </a:p>
          <a:p>
            <a:pPr>
              <a:buNone/>
            </a:pPr>
            <a:endParaRPr lang="en-US" dirty="0" smtClean="0"/>
          </a:p>
          <a:p>
            <a:pPr>
              <a:buNone/>
            </a:pPr>
            <a:r>
              <a:rPr lang="en-US" dirty="0" smtClean="0"/>
              <a:t>	1. [Stack already filled?]</a:t>
            </a:r>
          </a:p>
          <a:p>
            <a:pPr>
              <a:buNone/>
            </a:pPr>
            <a:r>
              <a:rPr lang="en-US" dirty="0" smtClean="0"/>
              <a:t>		If TOP=MAXSTK, </a:t>
            </a:r>
          </a:p>
          <a:p>
            <a:pPr>
              <a:buNone/>
            </a:pPr>
            <a:r>
              <a:rPr lang="en-US" dirty="0"/>
              <a:t>	</a:t>
            </a:r>
            <a:r>
              <a:rPr lang="en-US" dirty="0" smtClean="0"/>
              <a:t>	then: 	Print: OVERFLOW &amp; Exit</a:t>
            </a:r>
          </a:p>
          <a:p>
            <a:pPr>
              <a:buNone/>
            </a:pPr>
            <a:r>
              <a:rPr lang="en-US" dirty="0" smtClean="0"/>
              <a:t>	2. Set TOP=TOP+1	[Increases TOP by 1]</a:t>
            </a:r>
          </a:p>
          <a:p>
            <a:pPr>
              <a:buNone/>
            </a:pPr>
            <a:r>
              <a:rPr lang="en-US" dirty="0" smtClean="0"/>
              <a:t>	3. Set STACK[TOP]=ITEM	[Inserts ITEM in new 	TOP position.]</a:t>
            </a:r>
          </a:p>
          <a:p>
            <a:pPr>
              <a:buNone/>
            </a:pPr>
            <a:r>
              <a:rPr lang="en-US" dirty="0" smtClean="0"/>
              <a:t>	4. Exit</a:t>
            </a:r>
            <a:endParaRPr lang="en-US" dirty="0"/>
          </a:p>
        </p:txBody>
      </p:sp>
      <p:sp>
        <p:nvSpPr>
          <p:cNvPr id="4" name="Title 1"/>
          <p:cNvSpPr>
            <a:spLocks noGrp="1"/>
          </p:cNvSpPr>
          <p:nvPr>
            <p:ph type="title"/>
          </p:nvPr>
        </p:nvSpPr>
        <p:spPr/>
        <p:txBody>
          <a:bodyPr>
            <a:normAutofit/>
          </a:bodyPr>
          <a:lstStyle/>
          <a:p>
            <a:r>
              <a:rPr lang="en-US" sz="4000" b="1" dirty="0">
                <a:latin typeface="Casper Bold"/>
              </a:rPr>
              <a:t>Algorithm to insert in Stack</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9B4B3-AD3D-4784-9FFB-294CED921A23}"/>
              </a:ext>
            </a:extLst>
          </p:cNvPr>
          <p:cNvSpPr>
            <a:spLocks noGrp="1"/>
          </p:cNvSpPr>
          <p:nvPr>
            <p:ph type="title"/>
          </p:nvPr>
        </p:nvSpPr>
        <p:spPr>
          <a:xfrm>
            <a:off x="838200" y="365125"/>
            <a:ext cx="10515600" cy="578151"/>
          </a:xfrm>
        </p:spPr>
        <p:txBody>
          <a:bodyPr>
            <a:normAutofit fontScale="90000"/>
          </a:bodyPr>
          <a:lstStyle/>
          <a:p>
            <a:r>
              <a:rPr lang="en-US" b="1" dirty="0">
                <a:latin typeface="Casper Bold"/>
              </a:rPr>
              <a:t>Pop Operation</a:t>
            </a:r>
            <a:r>
              <a:rPr lang="en-US" dirty="0"/>
              <a:t/>
            </a:r>
            <a:br>
              <a:rPr lang="en-US" dirty="0"/>
            </a:br>
            <a:endParaRPr lang="en-IN" dirty="0"/>
          </a:p>
        </p:txBody>
      </p:sp>
      <p:sp>
        <p:nvSpPr>
          <p:cNvPr id="3" name="Content Placeholder 2">
            <a:extLst>
              <a:ext uri="{FF2B5EF4-FFF2-40B4-BE49-F238E27FC236}">
                <a16:creationId xmlns:a16="http://schemas.microsoft.com/office/drawing/2014/main" id="{3A006744-3C77-4CC2-8749-D48B9B37EFC4}"/>
              </a:ext>
            </a:extLst>
          </p:cNvPr>
          <p:cNvSpPr>
            <a:spLocks noGrp="1"/>
          </p:cNvSpPr>
          <p:nvPr>
            <p:ph idx="1"/>
          </p:nvPr>
        </p:nvSpPr>
        <p:spPr>
          <a:xfrm>
            <a:off x="770823" y="779646"/>
            <a:ext cx="10515600" cy="3667226"/>
          </a:xfrm>
        </p:spPr>
        <p:txBody>
          <a:bodyPr>
            <a:normAutofit fontScale="77500" lnSpcReduction="20000"/>
          </a:bodyPr>
          <a:lstStyle/>
          <a:p>
            <a:r>
              <a:rPr lang="en-US" dirty="0"/>
              <a:t>Accessing the content while removing it from the stack, is known as a Pop Operation. In an array implementation of pop() operation, the data element is not actually removed, instead </a:t>
            </a:r>
            <a:r>
              <a:rPr lang="en-US" b="1" dirty="0"/>
              <a:t>top</a:t>
            </a:r>
            <a:r>
              <a:rPr lang="en-US" dirty="0"/>
              <a:t> is decremented to a lower position in the stack to point to the next value. But in linked-list implementation, pop() actually removes data element and deallocates memory space.</a:t>
            </a:r>
          </a:p>
          <a:p>
            <a:r>
              <a:rPr lang="en-US" dirty="0"/>
              <a:t>A Pop operation may involve the following steps −</a:t>
            </a:r>
          </a:p>
          <a:p>
            <a:r>
              <a:rPr lang="en-US" b="1" dirty="0"/>
              <a:t>Step 1</a:t>
            </a:r>
            <a:r>
              <a:rPr lang="en-US" dirty="0"/>
              <a:t> − Checks if the stack is empty.</a:t>
            </a:r>
          </a:p>
          <a:p>
            <a:r>
              <a:rPr lang="en-US" b="1" dirty="0"/>
              <a:t>Step 2</a:t>
            </a:r>
            <a:r>
              <a:rPr lang="en-US" dirty="0"/>
              <a:t> − If the stack is empty, produces an error and exit.</a:t>
            </a:r>
          </a:p>
          <a:p>
            <a:r>
              <a:rPr lang="en-US" b="1" dirty="0"/>
              <a:t>Step 3</a:t>
            </a:r>
            <a:r>
              <a:rPr lang="en-US" dirty="0"/>
              <a:t> − If the stack is not empty, accesses the data element at which </a:t>
            </a:r>
            <a:r>
              <a:rPr lang="en-US" b="1" dirty="0"/>
              <a:t>top</a:t>
            </a:r>
            <a:r>
              <a:rPr lang="en-US" dirty="0"/>
              <a:t> is pointing.</a:t>
            </a:r>
          </a:p>
          <a:p>
            <a:r>
              <a:rPr lang="en-US" b="1" dirty="0"/>
              <a:t>Step 4</a:t>
            </a:r>
            <a:r>
              <a:rPr lang="en-US" dirty="0"/>
              <a:t> − Decreases the value of top by 1.</a:t>
            </a:r>
          </a:p>
          <a:p>
            <a:r>
              <a:rPr lang="en-US" b="1" dirty="0"/>
              <a:t>Step 5</a:t>
            </a:r>
            <a:r>
              <a:rPr lang="en-US" dirty="0"/>
              <a:t> − Returns success.</a:t>
            </a:r>
          </a:p>
          <a:p>
            <a:endParaRPr lang="en-IN" dirty="0"/>
          </a:p>
        </p:txBody>
      </p:sp>
      <p:sp>
        <p:nvSpPr>
          <p:cNvPr id="4" name="Slide Number Placeholder 3">
            <a:extLst>
              <a:ext uri="{FF2B5EF4-FFF2-40B4-BE49-F238E27FC236}">
                <a16:creationId xmlns:a16="http://schemas.microsoft.com/office/drawing/2014/main" id="{2B3B763E-9878-4065-90A3-77F37DB9429B}"/>
              </a:ext>
            </a:extLst>
          </p:cNvPr>
          <p:cNvSpPr>
            <a:spLocks noGrp="1"/>
          </p:cNvSpPr>
          <p:nvPr>
            <p:ph type="sldNum" sz="quarter" idx="12"/>
          </p:nvPr>
        </p:nvSpPr>
        <p:spPr/>
        <p:txBody>
          <a:bodyPr/>
          <a:lstStyle/>
          <a:p>
            <a:fld id="{BDCDBBEF-AA6C-4BA6-85B2-A17D7F280E38}" type="slidenum">
              <a:rPr lang="en-US" smtClean="0"/>
              <a:pPr/>
              <a:t>16</a:t>
            </a:fld>
            <a:endParaRPr lang="en-US"/>
          </a:p>
        </p:txBody>
      </p:sp>
      <p:pic>
        <p:nvPicPr>
          <p:cNvPr id="6" name="Picture 5">
            <a:extLst>
              <a:ext uri="{FF2B5EF4-FFF2-40B4-BE49-F238E27FC236}">
                <a16:creationId xmlns:a16="http://schemas.microsoft.com/office/drawing/2014/main" id="{214274D7-812D-459A-990D-3F837B97E8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3574" y="3508375"/>
            <a:ext cx="5715000" cy="3213100"/>
          </a:xfrm>
          <a:prstGeom prst="rect">
            <a:avLst/>
          </a:prstGeom>
        </p:spPr>
      </p:pic>
    </p:spTree>
    <p:extLst>
      <p:ext uri="{BB962C8B-B14F-4D97-AF65-F5344CB8AC3E}">
        <p14:creationId xmlns:p14="http://schemas.microsoft.com/office/powerpoint/2010/main" val="2220958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rmAutofit/>
          </a:bodyPr>
          <a:lstStyle/>
          <a:p>
            <a:r>
              <a:rPr lang="en-US" sz="4000" b="1" dirty="0">
                <a:latin typeface="Casper Bold"/>
              </a:rPr>
              <a:t>Algorithm to delete in Stack</a:t>
            </a:r>
          </a:p>
        </p:txBody>
      </p:sp>
      <p:sp>
        <p:nvSpPr>
          <p:cNvPr id="5" name="Content Placeholder 2"/>
          <p:cNvSpPr txBox="1">
            <a:spLocks/>
          </p:cNvSpPr>
          <p:nvPr/>
        </p:nvSpPr>
        <p:spPr>
          <a:xfrm>
            <a:off x="1143723" y="1700348"/>
            <a:ext cx="8248472" cy="4419600"/>
          </a:xfrm>
          <a:prstGeom prst="rect">
            <a:avLst/>
          </a:prstGeom>
          <a:noFill/>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smtClean="0">
                <a:ln>
                  <a:noFill/>
                </a:ln>
                <a:solidFill>
                  <a:schemeClr val="tx1"/>
                </a:solidFill>
                <a:effectLst/>
                <a:uLnTx/>
                <a:uFillTx/>
                <a:latin typeface="Cambria" pitchFamily="18" charset="0"/>
                <a:ea typeface="+mn-ea"/>
                <a:cs typeface="+mn-cs"/>
              </a:rPr>
              <a:t>Algorithm: POP(STACK,TOP,ITEM)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rPr>
              <a:t>	This procedure deletes the top element of STACK &amp; assigns it to the variable</a:t>
            </a:r>
            <a:r>
              <a:rPr kumimoji="0" lang="en-US" sz="2400" b="0" i="0" u="none" strike="noStrike" kern="1200" cap="none" spc="0" normalizeH="0" noProof="0" dirty="0" smtClean="0">
                <a:ln>
                  <a:noFill/>
                </a:ln>
                <a:solidFill>
                  <a:schemeClr val="tx1"/>
                </a:solidFill>
                <a:effectLst/>
                <a:uLnTx/>
                <a:uFillTx/>
                <a:latin typeface="Cambria" pitchFamily="18" charset="0"/>
                <a:ea typeface="+mn-ea"/>
                <a:cs typeface="+mn-cs"/>
              </a:rPr>
              <a:t> ITEM.</a:t>
            </a:r>
            <a:endPar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rPr>
              <a:t>	1. [Stack has an item to be 	removed?]</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rPr>
              <a:t>		If TOP=0,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latin typeface="Cambria" pitchFamily="18" charset="0"/>
              </a:rPr>
              <a:t>	</a:t>
            </a:r>
            <a:r>
              <a:rPr lang="en-US" sz="2400" dirty="0" smtClean="0">
                <a:latin typeface="Cambria" pitchFamily="18" charset="0"/>
              </a:rPr>
              <a:t>	</a:t>
            </a:r>
            <a:r>
              <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rPr>
              <a:t>then: Print: 	UNDERFLOW &amp; Exit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rPr>
              <a:t>	2. Set ITEM=STACK[TOP]</a:t>
            </a:r>
            <a:r>
              <a:rPr lang="en-US" sz="2400" dirty="0">
                <a:latin typeface="Cambria" pitchFamily="18" charset="0"/>
              </a:rPr>
              <a:t> </a:t>
            </a:r>
            <a:r>
              <a:rPr lang="en-US" sz="2400" dirty="0" smtClean="0">
                <a:latin typeface="Cambria" pitchFamily="18" charset="0"/>
              </a:rPr>
              <a:t> </a:t>
            </a:r>
            <a:r>
              <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rPr>
              <a:t>[Assigns TOP element to ITEM]</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rPr>
              <a:t>	3. Set TOP=TOP-1		[Decreases</a:t>
            </a:r>
            <a:r>
              <a:rPr kumimoji="0" lang="en-US" sz="2400" b="0" i="0" u="none" strike="noStrike" kern="1200" cap="none" spc="0" normalizeH="0" noProof="0" dirty="0" smtClean="0">
                <a:ln>
                  <a:noFill/>
                </a:ln>
                <a:solidFill>
                  <a:schemeClr val="tx1"/>
                </a:solidFill>
                <a:effectLst/>
                <a:uLnTx/>
                <a:uFillTx/>
                <a:latin typeface="Cambria" pitchFamily="18" charset="0"/>
                <a:ea typeface="+mn-ea"/>
                <a:cs typeface="+mn-cs"/>
              </a:rPr>
              <a:t> TOP by 1</a:t>
            </a:r>
            <a:r>
              <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schemeClr val="tx1"/>
                </a:solidFill>
                <a:effectLst/>
                <a:uLnTx/>
                <a:uFillTx/>
                <a:latin typeface="Cambria" pitchFamily="18" charset="0"/>
                <a:ea typeface="+mn-ea"/>
                <a:cs typeface="+mn-cs"/>
              </a:rPr>
              <a:t>	4. Exit</a:t>
            </a:r>
            <a:endParaRPr kumimoji="0" lang="en-US" sz="2400" b="0" i="0" u="none" strike="noStrike" kern="1200" cap="none" spc="0" normalizeH="0" baseline="0" noProof="0" dirty="0">
              <a:ln>
                <a:noFill/>
              </a:ln>
              <a:solidFill>
                <a:schemeClr val="tx1"/>
              </a:solidFill>
              <a:effectLst/>
              <a:uLnTx/>
              <a:uFillTx/>
              <a:latin typeface="Cambria" pitchFamily="18" charset="0"/>
              <a:ea typeface="+mn-ea"/>
              <a:cs typeface="+mn-cs"/>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Casper Bold"/>
              </a:rPr>
              <a:t>Linked representation of Stack</a:t>
            </a:r>
          </a:p>
        </p:txBody>
      </p:sp>
      <p:sp>
        <p:nvSpPr>
          <p:cNvPr id="3" name="Content Placeholder 2"/>
          <p:cNvSpPr>
            <a:spLocks noGrp="1"/>
          </p:cNvSpPr>
          <p:nvPr>
            <p:ph idx="1"/>
          </p:nvPr>
        </p:nvSpPr>
        <p:spPr/>
        <p:txBody>
          <a:bodyPr>
            <a:normAutofit/>
          </a:bodyPr>
          <a:lstStyle/>
          <a:p>
            <a:r>
              <a:rPr lang="en-US" sz="1800" dirty="0" smtClean="0"/>
              <a:t>The INFO fields of the nodes hold the elements of the stack and the LINK fields hold pointers to the neighboring element in the stack.</a:t>
            </a:r>
          </a:p>
          <a:p>
            <a:r>
              <a:rPr lang="en-US" sz="1800" dirty="0" smtClean="0"/>
              <a:t>The START pointer of the linked list behaves as the TOP pointer variable of the stack and the null pointer of the last node in the list signals the bottom of stack.</a:t>
            </a:r>
            <a:endParaRPr lang="en-US" sz="1800" dirty="0"/>
          </a:p>
        </p:txBody>
      </p:sp>
      <p:pic>
        <p:nvPicPr>
          <p:cNvPr id="2050" name="Picture 2"/>
          <p:cNvPicPr>
            <a:picLocks noChangeAspect="1" noChangeArrowheads="1"/>
          </p:cNvPicPr>
          <p:nvPr/>
        </p:nvPicPr>
        <p:blipFill>
          <a:blip r:embed="rId2" cstate="print">
            <a:lum bright="16000"/>
          </a:blip>
          <a:srcRect/>
          <a:stretch>
            <a:fillRect/>
          </a:stretch>
        </p:blipFill>
        <p:spPr bwMode="auto">
          <a:xfrm>
            <a:off x="2235200" y="3810000"/>
            <a:ext cx="8128000" cy="243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6D183-D90E-4CE0-BF79-9C4EFD2821F8}"/>
              </a:ext>
            </a:extLst>
          </p:cNvPr>
          <p:cNvSpPr>
            <a:spLocks noGrp="1"/>
          </p:cNvSpPr>
          <p:nvPr>
            <p:ph type="title"/>
          </p:nvPr>
        </p:nvSpPr>
        <p:spPr>
          <a:xfrm>
            <a:off x="838200" y="365126"/>
            <a:ext cx="10515600" cy="722530"/>
          </a:xfrm>
        </p:spPr>
        <p:txBody>
          <a:bodyPr>
            <a:normAutofit/>
          </a:bodyPr>
          <a:lstStyle/>
          <a:p>
            <a:r>
              <a:rPr lang="en-US" sz="4000" b="1" dirty="0">
                <a:latin typeface="Casper Bold"/>
              </a:rPr>
              <a:t>Notations</a:t>
            </a:r>
            <a:endParaRPr lang="en-IN" sz="4000" b="1" dirty="0">
              <a:latin typeface="Casper Bold"/>
            </a:endParaRPr>
          </a:p>
        </p:txBody>
      </p:sp>
      <p:sp>
        <p:nvSpPr>
          <p:cNvPr id="3" name="Content Placeholder 2">
            <a:extLst>
              <a:ext uri="{FF2B5EF4-FFF2-40B4-BE49-F238E27FC236}">
                <a16:creationId xmlns:a16="http://schemas.microsoft.com/office/drawing/2014/main" id="{C9FF4C01-C762-4BB9-92D4-99521816CE3C}"/>
              </a:ext>
            </a:extLst>
          </p:cNvPr>
          <p:cNvSpPr>
            <a:spLocks noGrp="1"/>
          </p:cNvSpPr>
          <p:nvPr>
            <p:ph idx="1"/>
          </p:nvPr>
        </p:nvSpPr>
        <p:spPr>
          <a:xfrm>
            <a:off x="838200" y="1001027"/>
            <a:ext cx="10515600" cy="5175936"/>
          </a:xfrm>
        </p:spPr>
        <p:txBody>
          <a:bodyPr>
            <a:normAutofit fontScale="77500" lnSpcReduction="20000"/>
          </a:bodyPr>
          <a:lstStyle/>
          <a:p>
            <a:pPr marL="0" indent="0">
              <a:buNone/>
            </a:pPr>
            <a:r>
              <a:rPr lang="en-US" dirty="0"/>
              <a:t>An arithmetic expression can be written in three different but equivalent notations, i.e., without changing the essence or output of an expression. These notations are −</a:t>
            </a:r>
          </a:p>
          <a:p>
            <a:r>
              <a:rPr lang="en-US" dirty="0"/>
              <a:t>Infix Notation</a:t>
            </a:r>
          </a:p>
          <a:p>
            <a:r>
              <a:rPr lang="en-US" dirty="0"/>
              <a:t>Prefix (Polish) Notation</a:t>
            </a:r>
          </a:p>
          <a:p>
            <a:r>
              <a:rPr lang="en-US" dirty="0"/>
              <a:t>Postfix (Reverse-Polish) Notation</a:t>
            </a:r>
          </a:p>
          <a:p>
            <a:pPr marL="0" indent="0">
              <a:buNone/>
            </a:pPr>
            <a:r>
              <a:rPr lang="en-US" dirty="0"/>
              <a:t>These notations are named as how they use operator in expression. We shall learn the same here in this chapter.</a:t>
            </a:r>
          </a:p>
          <a:p>
            <a:pPr marL="0" indent="0">
              <a:buNone/>
            </a:pPr>
            <a:r>
              <a:rPr lang="en-US" b="1" u="sng" dirty="0"/>
              <a:t>Infix Notation</a:t>
            </a:r>
          </a:p>
          <a:p>
            <a:pPr marL="0" indent="0">
              <a:buNone/>
            </a:pPr>
            <a:r>
              <a:rPr lang="en-US" dirty="0"/>
              <a:t>We write expression in </a:t>
            </a:r>
            <a:r>
              <a:rPr lang="en-US" b="1" dirty="0"/>
              <a:t>infix</a:t>
            </a:r>
            <a:r>
              <a:rPr lang="en-US" dirty="0"/>
              <a:t> notation, e.g. a - b + c, where operators are used </a:t>
            </a:r>
            <a:r>
              <a:rPr lang="en-US" b="1" dirty="0"/>
              <a:t>in</a:t>
            </a:r>
            <a:r>
              <a:rPr lang="en-US" dirty="0"/>
              <a:t>-between operands. It is easy for us humans to read, write, and speak in infix notation but the same does not go well with computing devices. An algorithm to process infix notation could be difficult and costly in terms of time and space consumption.</a:t>
            </a:r>
          </a:p>
          <a:p>
            <a:pPr marL="0" indent="0">
              <a:buNone/>
            </a:pPr>
            <a:r>
              <a:rPr lang="en-US" b="1" u="sng" dirty="0"/>
              <a:t>Prefix Notation</a:t>
            </a:r>
          </a:p>
          <a:p>
            <a:pPr marL="0" indent="0">
              <a:buNone/>
            </a:pPr>
            <a:r>
              <a:rPr lang="en-US" dirty="0"/>
              <a:t>In this notation, operator is </a:t>
            </a:r>
            <a:r>
              <a:rPr lang="en-US" b="1" dirty="0"/>
              <a:t>prefix</a:t>
            </a:r>
            <a:r>
              <a:rPr lang="en-US" dirty="0"/>
              <a:t>ed to operands, i.e. operator is written ahead of operands. For example, </a:t>
            </a:r>
            <a:r>
              <a:rPr lang="en-US" b="1" dirty="0"/>
              <a:t>+ab</a:t>
            </a:r>
            <a:r>
              <a:rPr lang="en-US" dirty="0"/>
              <a:t>. This is equivalent to its infix notation </a:t>
            </a:r>
            <a:r>
              <a:rPr lang="en-US" b="1" dirty="0"/>
              <a:t>a + b</a:t>
            </a:r>
            <a:r>
              <a:rPr lang="en-US" dirty="0"/>
              <a:t>. Prefix notation is also known as </a:t>
            </a:r>
            <a:r>
              <a:rPr lang="en-US" b="1" dirty="0"/>
              <a:t>Polish Notation</a:t>
            </a:r>
            <a:r>
              <a:rPr lang="en-US" dirty="0"/>
              <a:t>.</a:t>
            </a:r>
          </a:p>
          <a:p>
            <a:endParaRPr lang="en-IN" dirty="0"/>
          </a:p>
        </p:txBody>
      </p:sp>
      <p:sp>
        <p:nvSpPr>
          <p:cNvPr id="4" name="Slide Number Placeholder 3">
            <a:extLst>
              <a:ext uri="{FF2B5EF4-FFF2-40B4-BE49-F238E27FC236}">
                <a16:creationId xmlns:a16="http://schemas.microsoft.com/office/drawing/2014/main" id="{89F38C6D-443A-4DC2-8949-16B5A58B7DD9}"/>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991181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4F90695-1480-4FBE-A632-8EC9D78ABD1D}"/>
              </a:ext>
            </a:extLst>
          </p:cNvPr>
          <p:cNvGraphicFramePr>
            <a:graphicFrameLocks noGrp="1"/>
          </p:cNvGraphicFramePr>
          <p:nvPr>
            <p:ph idx="1"/>
            <p:extLst>
              <p:ext uri="{D42A27DB-BD31-4B8C-83A1-F6EECF244321}">
                <p14:modId xmlns:p14="http://schemas.microsoft.com/office/powerpoint/2010/main" val="1117663020"/>
              </p:ext>
            </p:extLst>
          </p:nvPr>
        </p:nvGraphicFramePr>
        <p:xfrm>
          <a:off x="2098308" y="2935705"/>
          <a:ext cx="6763932" cy="3672434"/>
        </p:xfrm>
        <a:graphic>
          <a:graphicData uri="http://schemas.openxmlformats.org/drawingml/2006/table">
            <a:tbl>
              <a:tblPr/>
              <a:tblGrid>
                <a:gridCol w="1690983">
                  <a:extLst>
                    <a:ext uri="{9D8B030D-6E8A-4147-A177-3AD203B41FA5}">
                      <a16:colId xmlns:a16="http://schemas.microsoft.com/office/drawing/2014/main" val="2493372935"/>
                    </a:ext>
                  </a:extLst>
                </a:gridCol>
                <a:gridCol w="1690983">
                  <a:extLst>
                    <a:ext uri="{9D8B030D-6E8A-4147-A177-3AD203B41FA5}">
                      <a16:colId xmlns:a16="http://schemas.microsoft.com/office/drawing/2014/main" val="2481830466"/>
                    </a:ext>
                  </a:extLst>
                </a:gridCol>
                <a:gridCol w="1690983">
                  <a:extLst>
                    <a:ext uri="{9D8B030D-6E8A-4147-A177-3AD203B41FA5}">
                      <a16:colId xmlns:a16="http://schemas.microsoft.com/office/drawing/2014/main" val="1066245898"/>
                    </a:ext>
                  </a:extLst>
                </a:gridCol>
                <a:gridCol w="1690983">
                  <a:extLst>
                    <a:ext uri="{9D8B030D-6E8A-4147-A177-3AD203B41FA5}">
                      <a16:colId xmlns:a16="http://schemas.microsoft.com/office/drawing/2014/main" val="1220660363"/>
                    </a:ext>
                  </a:extLst>
                </a:gridCol>
              </a:tblGrid>
              <a:tr h="525782">
                <a:tc>
                  <a:txBody>
                    <a:bodyPr/>
                    <a:lstStyle/>
                    <a:p>
                      <a:pPr algn="ctr" fontAlgn="t"/>
                      <a:r>
                        <a:rPr lang="en-IN">
                          <a:effectLst/>
                        </a:rPr>
                        <a:t>Sr.No.</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Infix Notation</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Prefix Notation</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Postfix Notation</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64287573"/>
                  </a:ext>
                </a:extLst>
              </a:tr>
              <a:tr h="517742">
                <a:tc>
                  <a:txBody>
                    <a:bodyPr/>
                    <a:lstStyle/>
                    <a:p>
                      <a:pPr fontAlgn="t"/>
                      <a:r>
                        <a:rPr lang="en-IN" dirty="0">
                          <a:effectLst/>
                        </a:rPr>
                        <a:t>1</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 b</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a b</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b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38475243"/>
                  </a:ext>
                </a:extLst>
              </a:tr>
              <a:tr h="525782">
                <a:tc>
                  <a:txBody>
                    <a:bodyPr/>
                    <a:lstStyle/>
                    <a:p>
                      <a:pPr fontAlgn="t"/>
                      <a:r>
                        <a:rPr lang="en-IN" dirty="0">
                          <a:effectLst/>
                        </a:rPr>
                        <a:t>2</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 b) ∗ c</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 a b c</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b + c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91671822"/>
                  </a:ext>
                </a:extLst>
              </a:tr>
              <a:tr h="525782">
                <a:tc>
                  <a:txBody>
                    <a:bodyPr/>
                    <a:lstStyle/>
                    <a:p>
                      <a:pPr fontAlgn="t"/>
                      <a:r>
                        <a:rPr lang="en-IN">
                          <a:effectLst/>
                        </a:rPr>
                        <a:t>3</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dirty="0">
                          <a:effectLst/>
                        </a:rPr>
                        <a:t>a ∗ (b + c)</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a + b c</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b c +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50061520"/>
                  </a:ext>
                </a:extLst>
              </a:tr>
              <a:tr h="525782">
                <a:tc>
                  <a:txBody>
                    <a:bodyPr/>
                    <a:lstStyle/>
                    <a:p>
                      <a:pPr fontAlgn="t"/>
                      <a:r>
                        <a:rPr lang="en-IN">
                          <a:effectLst/>
                        </a:rPr>
                        <a:t>4</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dirty="0">
                          <a:effectLst/>
                        </a:rPr>
                        <a:t>a / b + c /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 a b / c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b / c d /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5098650"/>
                  </a:ext>
                </a:extLst>
              </a:tr>
              <a:tr h="525782">
                <a:tc>
                  <a:txBody>
                    <a:bodyPr/>
                    <a:lstStyle/>
                    <a:p>
                      <a:pPr fontAlgn="t"/>
                      <a:r>
                        <a:rPr lang="en-IN">
                          <a:effectLst/>
                        </a:rPr>
                        <a:t>5</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 b) ∗ (c +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 a b + c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b + c d +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35918229"/>
                  </a:ext>
                </a:extLst>
              </a:tr>
              <a:tr h="525782">
                <a:tc>
                  <a:txBody>
                    <a:bodyPr/>
                    <a:lstStyle/>
                    <a:p>
                      <a:pPr fontAlgn="t"/>
                      <a:r>
                        <a:rPr lang="en-IN">
                          <a:effectLst/>
                        </a:rPr>
                        <a:t>6</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 + b) ∗ c) -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 ∗ + a b c d</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dirty="0">
                          <a:effectLst/>
                        </a:rPr>
                        <a:t>a b + c ∗ d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69408056"/>
                  </a:ext>
                </a:extLst>
              </a:tr>
            </a:tbl>
          </a:graphicData>
        </a:graphic>
      </p:graphicFrame>
      <p:sp>
        <p:nvSpPr>
          <p:cNvPr id="4" name="Slide Number Placeholder 3">
            <a:extLst>
              <a:ext uri="{FF2B5EF4-FFF2-40B4-BE49-F238E27FC236}">
                <a16:creationId xmlns:a16="http://schemas.microsoft.com/office/drawing/2014/main" id="{992C6D9D-3D16-41A8-AD24-C56D257727FF}"/>
              </a:ext>
            </a:extLst>
          </p:cNvPr>
          <p:cNvSpPr>
            <a:spLocks noGrp="1"/>
          </p:cNvSpPr>
          <p:nvPr>
            <p:ph type="sldNum" sz="quarter" idx="12"/>
          </p:nvPr>
        </p:nvSpPr>
        <p:spPr/>
        <p:txBody>
          <a:bodyPr/>
          <a:lstStyle/>
          <a:p>
            <a:fld id="{BDCDBBEF-AA6C-4BA6-85B2-A17D7F280E38}" type="slidenum">
              <a:rPr lang="en-US" smtClean="0"/>
              <a:pPr/>
              <a:t>20</a:t>
            </a:fld>
            <a:endParaRPr lang="en-US"/>
          </a:p>
        </p:txBody>
      </p:sp>
      <p:sp>
        <p:nvSpPr>
          <p:cNvPr id="7" name="Rectangle 6">
            <a:extLst>
              <a:ext uri="{FF2B5EF4-FFF2-40B4-BE49-F238E27FC236}">
                <a16:creationId xmlns:a16="http://schemas.microsoft.com/office/drawing/2014/main" id="{BB1494FF-E55B-44BA-A46A-FEF4CB142682}"/>
              </a:ext>
            </a:extLst>
          </p:cNvPr>
          <p:cNvSpPr/>
          <p:nvPr/>
        </p:nvSpPr>
        <p:spPr>
          <a:xfrm>
            <a:off x="895149" y="675201"/>
            <a:ext cx="10915049" cy="1754326"/>
          </a:xfrm>
          <a:prstGeom prst="rect">
            <a:avLst/>
          </a:prstGeom>
        </p:spPr>
        <p:txBody>
          <a:bodyPr wrap="square">
            <a:spAutoFit/>
          </a:bodyPr>
          <a:lstStyle/>
          <a:p>
            <a:pPr lvl="0" fontAlgn="base">
              <a:lnSpc>
                <a:spcPct val="90000"/>
              </a:lnSpc>
              <a:spcBef>
                <a:spcPct val="0"/>
              </a:spcBef>
              <a:spcAft>
                <a:spcPct val="0"/>
              </a:spcAft>
            </a:pPr>
            <a:r>
              <a:rPr lang="en-US" altLang="en-US" sz="4000" b="1" dirty="0">
                <a:latin typeface="Casper Bold"/>
                <a:ea typeface="+mj-ea"/>
                <a:cs typeface="+mj-cs"/>
              </a:rPr>
              <a:t>Postfix Notation</a:t>
            </a:r>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This notation style is known as </a:t>
            </a:r>
            <a:r>
              <a:rPr lang="en-US" altLang="en-US" b="1" dirty="0">
                <a:solidFill>
                  <a:srgbClr val="000000"/>
                </a:solidFill>
                <a:latin typeface="Arial" panose="020B0604020202020204" pitchFamily="34" charset="0"/>
                <a:cs typeface="Arial" panose="020B0604020202020204" pitchFamily="34" charset="0"/>
              </a:rPr>
              <a:t>Reversed Polish Notation</a:t>
            </a:r>
            <a:r>
              <a:rPr lang="en-US" altLang="en-US" dirty="0">
                <a:solidFill>
                  <a:srgbClr val="000000"/>
                </a:solidFill>
                <a:latin typeface="Arial" panose="020B0604020202020204" pitchFamily="34" charset="0"/>
                <a:cs typeface="Arial" panose="020B0604020202020204" pitchFamily="34" charset="0"/>
              </a:rPr>
              <a:t>. In this notation style, the operator is </a:t>
            </a:r>
            <a:r>
              <a:rPr lang="en-US" altLang="en-US" b="1" dirty="0" err="1">
                <a:solidFill>
                  <a:srgbClr val="000000"/>
                </a:solidFill>
                <a:latin typeface="Arial" panose="020B0604020202020204" pitchFamily="34" charset="0"/>
                <a:cs typeface="Arial" panose="020B0604020202020204" pitchFamily="34" charset="0"/>
              </a:rPr>
              <a:t>postfix</a:t>
            </a:r>
            <a:r>
              <a:rPr lang="en-US" altLang="en-US" dirty="0" err="1">
                <a:solidFill>
                  <a:srgbClr val="000000"/>
                </a:solidFill>
                <a:latin typeface="Arial" panose="020B0604020202020204" pitchFamily="34" charset="0"/>
                <a:cs typeface="Arial" panose="020B0604020202020204" pitchFamily="34" charset="0"/>
              </a:rPr>
              <a:t>ed</a:t>
            </a:r>
            <a:r>
              <a:rPr lang="en-US" altLang="en-US" dirty="0">
                <a:solidFill>
                  <a:srgbClr val="000000"/>
                </a:solidFill>
                <a:latin typeface="Arial" panose="020B0604020202020204" pitchFamily="34" charset="0"/>
                <a:cs typeface="Arial" panose="020B0604020202020204" pitchFamily="34" charset="0"/>
              </a:rPr>
              <a:t> to the operands i.e., the operator is written after the operands. For example, </a:t>
            </a:r>
            <a:r>
              <a:rPr lang="en-US" altLang="en-US" b="1" dirty="0">
                <a:solidFill>
                  <a:srgbClr val="000000"/>
                </a:solidFill>
                <a:latin typeface="Arial" panose="020B0604020202020204" pitchFamily="34" charset="0"/>
                <a:cs typeface="Arial" panose="020B0604020202020204" pitchFamily="34" charset="0"/>
              </a:rPr>
              <a:t>ab+</a:t>
            </a:r>
            <a:r>
              <a:rPr lang="en-US" altLang="en-US" dirty="0">
                <a:solidFill>
                  <a:srgbClr val="000000"/>
                </a:solidFill>
                <a:latin typeface="Arial" panose="020B0604020202020204" pitchFamily="34" charset="0"/>
                <a:cs typeface="Arial" panose="020B0604020202020204" pitchFamily="34" charset="0"/>
              </a:rPr>
              <a:t>. This is equivalent to its infix notation </a:t>
            </a:r>
            <a:r>
              <a:rPr lang="en-US" altLang="en-US" b="1" dirty="0">
                <a:solidFill>
                  <a:srgbClr val="000000"/>
                </a:solidFill>
                <a:latin typeface="Arial" panose="020B0604020202020204" pitchFamily="34" charset="0"/>
                <a:cs typeface="Arial" panose="020B0604020202020204" pitchFamily="34" charset="0"/>
              </a:rPr>
              <a:t>a + b</a:t>
            </a:r>
            <a:r>
              <a:rPr lang="en-US" altLang="en-US" dirty="0">
                <a:solidFill>
                  <a:srgbClr val="000000"/>
                </a:solidFill>
                <a:latin typeface="Arial" panose="020B0604020202020204" pitchFamily="34" charset="0"/>
                <a:cs typeface="Arial" panose="020B0604020202020204" pitchFamily="34" charset="0"/>
              </a:rPr>
              <a:t>.</a:t>
            </a:r>
            <a:endParaRPr lang="en-US" altLang="en-US" sz="1100" dirty="0"/>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The following table briefly tries to show the difference in all three notations −</a:t>
            </a:r>
            <a:endParaRPr lang="en-US" altLang="en-US" sz="3200" dirty="0">
              <a:latin typeface="Arial" panose="020B0604020202020204" pitchFamily="34" charset="0"/>
            </a:endParaRPr>
          </a:p>
        </p:txBody>
      </p:sp>
    </p:spTree>
    <p:extLst>
      <p:ext uri="{BB962C8B-B14F-4D97-AF65-F5344CB8AC3E}">
        <p14:creationId xmlns:p14="http://schemas.microsoft.com/office/powerpoint/2010/main" val="2666223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A9585A72-8FB9-4303-B82D-268A6F0A5F72}"/>
              </a:ext>
            </a:extLst>
          </p:cNvPr>
          <p:cNvGraphicFramePr>
            <a:graphicFrameLocks noGrp="1"/>
          </p:cNvGraphicFramePr>
          <p:nvPr>
            <p:ph idx="1"/>
            <p:extLst>
              <p:ext uri="{D42A27DB-BD31-4B8C-83A1-F6EECF244321}">
                <p14:modId xmlns:p14="http://schemas.microsoft.com/office/powerpoint/2010/main" val="2636837243"/>
              </p:ext>
            </p:extLst>
          </p:nvPr>
        </p:nvGraphicFramePr>
        <p:xfrm>
          <a:off x="433137" y="4514733"/>
          <a:ext cx="10732168" cy="2052320"/>
        </p:xfrm>
        <a:graphic>
          <a:graphicData uri="http://schemas.openxmlformats.org/drawingml/2006/table">
            <a:tbl>
              <a:tblPr/>
              <a:tblGrid>
                <a:gridCol w="2683042">
                  <a:extLst>
                    <a:ext uri="{9D8B030D-6E8A-4147-A177-3AD203B41FA5}">
                      <a16:colId xmlns:a16="http://schemas.microsoft.com/office/drawing/2014/main" val="1352376317"/>
                    </a:ext>
                  </a:extLst>
                </a:gridCol>
                <a:gridCol w="2683042">
                  <a:extLst>
                    <a:ext uri="{9D8B030D-6E8A-4147-A177-3AD203B41FA5}">
                      <a16:colId xmlns:a16="http://schemas.microsoft.com/office/drawing/2014/main" val="1688263935"/>
                    </a:ext>
                  </a:extLst>
                </a:gridCol>
                <a:gridCol w="2683042">
                  <a:extLst>
                    <a:ext uri="{9D8B030D-6E8A-4147-A177-3AD203B41FA5}">
                      <a16:colId xmlns:a16="http://schemas.microsoft.com/office/drawing/2014/main" val="3570326603"/>
                    </a:ext>
                  </a:extLst>
                </a:gridCol>
                <a:gridCol w="2683042">
                  <a:extLst>
                    <a:ext uri="{9D8B030D-6E8A-4147-A177-3AD203B41FA5}">
                      <a16:colId xmlns:a16="http://schemas.microsoft.com/office/drawing/2014/main" val="4028292061"/>
                    </a:ext>
                  </a:extLst>
                </a:gridCol>
              </a:tblGrid>
              <a:tr h="307454">
                <a:tc>
                  <a:txBody>
                    <a:bodyPr/>
                    <a:lstStyle/>
                    <a:p>
                      <a:pPr algn="ctr" fontAlgn="t"/>
                      <a:r>
                        <a:rPr lang="en-IN">
                          <a:effectLst/>
                        </a:rPr>
                        <a:t>Sr.No.</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Operator</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Precedence</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Associativity</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321995686"/>
                  </a:ext>
                </a:extLst>
              </a:tr>
              <a:tr h="307454">
                <a:tc>
                  <a:txBody>
                    <a:bodyPr/>
                    <a:lstStyle/>
                    <a:p>
                      <a:pPr fontAlgn="t"/>
                      <a:r>
                        <a:rPr lang="en-IN">
                          <a:effectLst/>
                        </a:rPr>
                        <a:t>1</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Exponentiation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Highest</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Right Associative</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45534290"/>
                  </a:ext>
                </a:extLst>
              </a:tr>
              <a:tr h="531813">
                <a:tc>
                  <a:txBody>
                    <a:bodyPr/>
                    <a:lstStyle/>
                    <a:p>
                      <a:pPr fontAlgn="t"/>
                      <a:r>
                        <a:rPr lang="en-IN" dirty="0">
                          <a:effectLst/>
                        </a:rPr>
                        <a:t>2</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Multiplication ( ∗ ) &amp; Division ( /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Second Highest</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Left Associative</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47078966"/>
                  </a:ext>
                </a:extLst>
              </a:tr>
              <a:tr h="531813">
                <a:tc>
                  <a:txBody>
                    <a:bodyPr/>
                    <a:lstStyle/>
                    <a:p>
                      <a:pPr fontAlgn="t"/>
                      <a:r>
                        <a:rPr lang="en-IN">
                          <a:effectLst/>
                        </a:rPr>
                        <a:t>3</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Addition ( + ) &amp; Subtraction ( − )</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a:effectLst/>
                        </a:rPr>
                        <a:t>Lowest</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fontAlgn="t"/>
                      <a:r>
                        <a:rPr lang="en-IN" dirty="0">
                          <a:effectLst/>
                        </a:rPr>
                        <a:t>Left Associative</a:t>
                      </a:r>
                    </a:p>
                  </a:txBody>
                  <a:tcPr marL="50800" marR="50800" marT="50800" marB="5080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4296254"/>
                  </a:ext>
                </a:extLst>
              </a:tr>
            </a:tbl>
          </a:graphicData>
        </a:graphic>
      </p:graphicFrame>
      <p:sp>
        <p:nvSpPr>
          <p:cNvPr id="4" name="Slide Number Placeholder 3">
            <a:extLst>
              <a:ext uri="{FF2B5EF4-FFF2-40B4-BE49-F238E27FC236}">
                <a16:creationId xmlns:a16="http://schemas.microsoft.com/office/drawing/2014/main" id="{551D991A-7AA3-4EC3-BD99-4ED8E1FCC202}"/>
              </a:ext>
            </a:extLst>
          </p:cNvPr>
          <p:cNvSpPr>
            <a:spLocks noGrp="1"/>
          </p:cNvSpPr>
          <p:nvPr>
            <p:ph type="sldNum" sz="quarter" idx="12"/>
          </p:nvPr>
        </p:nvSpPr>
        <p:spPr/>
        <p:txBody>
          <a:bodyPr/>
          <a:lstStyle/>
          <a:p>
            <a:fld id="{BDCDBBEF-AA6C-4BA6-85B2-A17D7F280E38}" type="slidenum">
              <a:rPr lang="en-US" smtClean="0"/>
              <a:pPr/>
              <a:t>21</a:t>
            </a:fld>
            <a:endParaRPr lang="en-US"/>
          </a:p>
        </p:txBody>
      </p:sp>
      <p:sp>
        <p:nvSpPr>
          <p:cNvPr id="7" name="AutoShape 2" descr="Operator Precendence">
            <a:extLst>
              <a:ext uri="{FF2B5EF4-FFF2-40B4-BE49-F238E27FC236}">
                <a16:creationId xmlns:a16="http://schemas.microsoft.com/office/drawing/2014/main" id="{191C30FE-4515-4BCA-A60F-DE5F59DA68E0}"/>
              </a:ext>
            </a:extLst>
          </p:cNvPr>
          <p:cNvSpPr>
            <a:spLocks noChangeAspect="1" noChangeArrowheads="1"/>
          </p:cNvSpPr>
          <p:nvPr/>
        </p:nvSpPr>
        <p:spPr bwMode="auto">
          <a:xfrm>
            <a:off x="4246563" y="1564840"/>
            <a:ext cx="557712" cy="13854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Rectangle 7">
            <a:extLst>
              <a:ext uri="{FF2B5EF4-FFF2-40B4-BE49-F238E27FC236}">
                <a16:creationId xmlns:a16="http://schemas.microsoft.com/office/drawing/2014/main" id="{02C0AEF0-A4EB-4351-8E47-6EDE322827AB}"/>
              </a:ext>
            </a:extLst>
          </p:cNvPr>
          <p:cNvSpPr/>
          <p:nvPr/>
        </p:nvSpPr>
        <p:spPr>
          <a:xfrm>
            <a:off x="1001027" y="217705"/>
            <a:ext cx="9885146" cy="4247317"/>
          </a:xfrm>
          <a:prstGeom prst="rect">
            <a:avLst/>
          </a:prstGeom>
        </p:spPr>
        <p:txBody>
          <a:bodyPr wrap="square">
            <a:spAutoFit/>
          </a:bodyPr>
          <a:lstStyle/>
          <a:p>
            <a:pPr lvl="0" algn="just" eaLnBrk="0" fontAlgn="base" hangingPunct="0">
              <a:spcBef>
                <a:spcPct val="0"/>
              </a:spcBef>
              <a:spcAft>
                <a:spcPct val="0"/>
              </a:spcAft>
            </a:pPr>
            <a:endParaRPr lang="en-US" altLang="en-US" sz="2400" dirty="0">
              <a:latin typeface="Arial" panose="020B0604020202020204" pitchFamily="34" charset="0"/>
              <a:cs typeface="Arial" panose="020B0604020202020204" pitchFamily="34" charset="0"/>
            </a:endParaRPr>
          </a:p>
          <a:p>
            <a:pPr lvl="0" algn="just" eaLnBrk="0" fontAlgn="base" hangingPunct="0">
              <a:spcBef>
                <a:spcPct val="0"/>
              </a:spcBef>
              <a:spcAft>
                <a:spcPct val="0"/>
              </a:spcAft>
            </a:pPr>
            <a:r>
              <a:rPr lang="en-US" altLang="en-US" sz="2400" dirty="0">
                <a:latin typeface="Arial" panose="020B0604020202020204" pitchFamily="34" charset="0"/>
                <a:cs typeface="Arial" panose="020B0604020202020204" pitchFamily="34" charset="0"/>
              </a:rPr>
              <a:t>Precedence</a:t>
            </a:r>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When an operand is in between two different operators, which operator will take the operand first, is decided by the precedence of an operator over others. </a:t>
            </a:r>
          </a:p>
          <a:p>
            <a:pPr lvl="0" algn="just" eaLnBrk="0" fontAlgn="base" hangingPunct="0">
              <a:spcBef>
                <a:spcPct val="0"/>
              </a:spcBef>
              <a:spcAft>
                <a:spcPct val="0"/>
              </a:spcAft>
            </a:pPr>
            <a:r>
              <a:rPr lang="en-US" altLang="en-US" sz="2400" dirty="0">
                <a:latin typeface="Arial" panose="020B0604020202020204" pitchFamily="34" charset="0"/>
                <a:cs typeface="Arial" panose="020B0604020202020204" pitchFamily="34" charset="0"/>
              </a:rPr>
              <a:t>Associativity</a:t>
            </a:r>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Associativity describes the rule where operators with the same precedence appear in an expression. For example, in expression a + b − c, both + and – have the same precedence, then which part of the expression will be evaluated first, is determined by associativity of those operators. Here, both + and − are left associative, so the expression will be evaluated as </a:t>
            </a:r>
            <a:r>
              <a:rPr lang="en-US" altLang="en-US" b="1" dirty="0">
                <a:solidFill>
                  <a:srgbClr val="000000"/>
                </a:solidFill>
                <a:latin typeface="Arial" panose="020B0604020202020204" pitchFamily="34" charset="0"/>
                <a:cs typeface="Arial" panose="020B0604020202020204" pitchFamily="34" charset="0"/>
              </a:rPr>
              <a:t>(a + b) − c</a:t>
            </a:r>
            <a:r>
              <a:rPr lang="en-US" altLang="en-US" dirty="0">
                <a:solidFill>
                  <a:srgbClr val="000000"/>
                </a:solidFill>
                <a:latin typeface="Arial" panose="020B0604020202020204" pitchFamily="34" charset="0"/>
                <a:cs typeface="Arial" panose="020B0604020202020204" pitchFamily="34" charset="0"/>
              </a:rPr>
              <a:t>.</a:t>
            </a:r>
            <a:endParaRPr lang="en-US" altLang="en-US" sz="1100" dirty="0"/>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Precedence and associativity determines the order of evaluation of an expression. Following is an operator precedence and associativity table (highest to lowest) −</a:t>
            </a:r>
            <a:endParaRPr lang="en-US" altLang="en-US" sz="1100" dirty="0"/>
          </a:p>
          <a:p>
            <a:pPr lvl="0" algn="just" eaLnBrk="0" fontAlgn="base" hangingPunct="0">
              <a:spcBef>
                <a:spcPct val="0"/>
              </a:spcBef>
              <a:spcAft>
                <a:spcPct val="0"/>
              </a:spcAft>
            </a:pPr>
            <a:r>
              <a:rPr lang="en-US" altLang="en-US" dirty="0">
                <a:solidFill>
                  <a:srgbClr val="000000"/>
                </a:solidFill>
                <a:latin typeface="Arial" panose="020B0604020202020204" pitchFamily="34" charset="0"/>
                <a:cs typeface="Arial" panose="020B0604020202020204" pitchFamily="34" charset="0"/>
              </a:rPr>
              <a:t>In </a:t>
            </a:r>
            <a:r>
              <a:rPr lang="en-US" altLang="en-US" b="1" dirty="0">
                <a:solidFill>
                  <a:srgbClr val="000000"/>
                </a:solidFill>
                <a:latin typeface="Arial" panose="020B0604020202020204" pitchFamily="34" charset="0"/>
                <a:cs typeface="Arial" panose="020B0604020202020204" pitchFamily="34" charset="0"/>
              </a:rPr>
              <a:t>a + b*c</a:t>
            </a:r>
            <a:r>
              <a:rPr lang="en-US" altLang="en-US" dirty="0">
                <a:solidFill>
                  <a:srgbClr val="000000"/>
                </a:solidFill>
                <a:latin typeface="Arial" panose="020B0604020202020204" pitchFamily="34" charset="0"/>
                <a:cs typeface="Arial" panose="020B0604020202020204" pitchFamily="34" charset="0"/>
              </a:rPr>
              <a:t>, the expression part </a:t>
            </a:r>
            <a:r>
              <a:rPr lang="en-US" altLang="en-US" b="1" dirty="0">
                <a:solidFill>
                  <a:srgbClr val="000000"/>
                </a:solidFill>
                <a:latin typeface="Arial" panose="020B0604020202020204" pitchFamily="34" charset="0"/>
                <a:cs typeface="Arial" panose="020B0604020202020204" pitchFamily="34" charset="0"/>
              </a:rPr>
              <a:t>b</a:t>
            </a:r>
            <a:r>
              <a:rPr lang="en-US" altLang="en-US" dirty="0">
                <a:solidFill>
                  <a:srgbClr val="000000"/>
                </a:solidFill>
                <a:latin typeface="Arial" panose="020B0604020202020204" pitchFamily="34" charset="0"/>
                <a:cs typeface="Arial" panose="020B0604020202020204" pitchFamily="34" charset="0"/>
              </a:rPr>
              <a:t>*</a:t>
            </a:r>
            <a:r>
              <a:rPr lang="en-US" altLang="en-US" b="1" dirty="0">
                <a:solidFill>
                  <a:srgbClr val="000000"/>
                </a:solidFill>
                <a:latin typeface="Arial" panose="020B0604020202020204" pitchFamily="34" charset="0"/>
                <a:cs typeface="Arial" panose="020B0604020202020204" pitchFamily="34" charset="0"/>
              </a:rPr>
              <a:t>c</a:t>
            </a:r>
            <a:r>
              <a:rPr lang="en-US" altLang="en-US" dirty="0">
                <a:solidFill>
                  <a:srgbClr val="000000"/>
                </a:solidFill>
                <a:latin typeface="Arial" panose="020B0604020202020204" pitchFamily="34" charset="0"/>
                <a:cs typeface="Arial" panose="020B0604020202020204" pitchFamily="34" charset="0"/>
              </a:rPr>
              <a:t> will be evaluated first, with multiplication as precedence over addition. We here use parenthesis for </a:t>
            </a:r>
            <a:r>
              <a:rPr lang="en-US" altLang="en-US" b="1" dirty="0">
                <a:solidFill>
                  <a:srgbClr val="000000"/>
                </a:solidFill>
                <a:latin typeface="Arial" panose="020B0604020202020204" pitchFamily="34" charset="0"/>
                <a:cs typeface="Arial" panose="020B0604020202020204" pitchFamily="34" charset="0"/>
              </a:rPr>
              <a:t>a + b</a:t>
            </a:r>
            <a:r>
              <a:rPr lang="en-US" altLang="en-US" dirty="0">
                <a:solidFill>
                  <a:srgbClr val="000000"/>
                </a:solidFill>
                <a:latin typeface="Arial" panose="020B0604020202020204" pitchFamily="34" charset="0"/>
                <a:cs typeface="Arial" panose="020B0604020202020204" pitchFamily="34" charset="0"/>
              </a:rPr>
              <a:t> to be evaluated first, like </a:t>
            </a:r>
            <a:r>
              <a:rPr lang="en-US" altLang="en-US" b="1" dirty="0">
                <a:solidFill>
                  <a:srgbClr val="000000"/>
                </a:solidFill>
                <a:latin typeface="Arial" panose="020B0604020202020204" pitchFamily="34" charset="0"/>
                <a:cs typeface="Arial" panose="020B0604020202020204" pitchFamily="34" charset="0"/>
              </a:rPr>
              <a:t>(a + b)*c</a:t>
            </a:r>
            <a:r>
              <a:rPr lang="en-US" altLang="en-US" dirty="0">
                <a:solidFill>
                  <a:srgbClr val="000000"/>
                </a:solidFill>
                <a:latin typeface="Arial" panose="020B0604020202020204" pitchFamily="34" charset="0"/>
                <a:cs typeface="Arial" panose="020B0604020202020204" pitchFamily="34" charset="0"/>
              </a:rPr>
              <a:t>.</a:t>
            </a:r>
            <a:endParaRPr lang="en-IN" dirty="0"/>
          </a:p>
        </p:txBody>
      </p:sp>
    </p:spTree>
    <p:extLst>
      <p:ext uri="{BB962C8B-B14F-4D97-AF65-F5344CB8AC3E}">
        <p14:creationId xmlns:p14="http://schemas.microsoft.com/office/powerpoint/2010/main" val="1295452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0800" y="381000"/>
            <a:ext cx="10566400" cy="609600"/>
          </a:xfrm>
        </p:spPr>
        <p:txBody>
          <a:bodyPr>
            <a:noAutofit/>
          </a:bodyPr>
          <a:lstStyle/>
          <a:p>
            <a:pPr fontAlgn="base">
              <a:spcAft>
                <a:spcPct val="0"/>
              </a:spcAft>
            </a:pPr>
            <a:r>
              <a:rPr lang="en-US" sz="4000" b="1" dirty="0">
                <a:latin typeface="Casper Bold"/>
              </a:rPr>
              <a:t>INFIX, POSTFIX &amp; PREFIX</a:t>
            </a:r>
          </a:p>
        </p:txBody>
      </p:sp>
      <p:sp>
        <p:nvSpPr>
          <p:cNvPr id="3" name="Content Placeholder 2"/>
          <p:cNvSpPr>
            <a:spLocks noGrp="1"/>
          </p:cNvSpPr>
          <p:nvPr>
            <p:ph idx="1"/>
          </p:nvPr>
        </p:nvSpPr>
        <p:spPr>
          <a:xfrm>
            <a:off x="1219200" y="914400"/>
            <a:ext cx="10668000" cy="4495800"/>
          </a:xfrm>
        </p:spPr>
        <p:txBody>
          <a:bodyPr/>
          <a:lstStyle/>
          <a:p>
            <a:pPr algn="just"/>
            <a:r>
              <a:rPr lang="en-US" b="1" dirty="0" smtClean="0"/>
              <a:t>Conversion from INFIX to POSTFIX-</a:t>
            </a:r>
            <a:r>
              <a:rPr lang="en-US" dirty="0" smtClean="0"/>
              <a:t> The only rules to remember during the conversion process are that operators with highest precedence are converted first and that after a portion of the expression has been converted to postfix it is to be treated as a single operand.</a:t>
            </a:r>
          </a:p>
          <a:p>
            <a:pPr lvl="1" algn="just"/>
            <a:r>
              <a:rPr lang="en-US" dirty="0" smtClean="0"/>
              <a:t>When un-parenthesized operators of the same precedence are scanned, the order is assumed to be left to right except in the case of exponentiation, where the order is assumed to be from right to left.</a:t>
            </a:r>
          </a:p>
          <a:p>
            <a:pPr lvl="1" algn="just"/>
            <a:r>
              <a:rPr lang="en-US" dirty="0" smtClean="0"/>
              <a:t>Thus, A+B+C means (A+B)+C whereas, A^B^C means A^(B^C)</a:t>
            </a:r>
          </a:p>
        </p:txBody>
      </p:sp>
      <p:graphicFrame>
        <p:nvGraphicFramePr>
          <p:cNvPr id="4" name="Table 3"/>
          <p:cNvGraphicFramePr>
            <a:graphicFrameLocks noGrp="1"/>
          </p:cNvGraphicFramePr>
          <p:nvPr/>
        </p:nvGraphicFramePr>
        <p:xfrm>
          <a:off x="2133600" y="4495800"/>
          <a:ext cx="8128000" cy="185420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20000"/>
                    </a:ext>
                  </a:extLst>
                </a:gridCol>
              </a:tblGrid>
              <a:tr h="370840">
                <a:tc>
                  <a:txBody>
                    <a:bodyPr/>
                    <a:lstStyle/>
                    <a:p>
                      <a:pPr algn="ctr"/>
                      <a:r>
                        <a:rPr lang="en-US" dirty="0" smtClean="0"/>
                        <a:t>PRECEDENCE – HIGHEST to LOWEST</a:t>
                      </a:r>
                    </a:p>
                  </a:txBody>
                  <a:tcPr marL="121920" marR="121920"/>
                </a:tc>
                <a:extLst>
                  <a:ext uri="{0D108BD9-81ED-4DB2-BD59-A6C34878D82A}">
                    <a16:rowId xmlns:a16="http://schemas.microsoft.com/office/drawing/2014/main" val="10000"/>
                  </a:ext>
                </a:extLst>
              </a:tr>
              <a:tr h="370840">
                <a:tc>
                  <a:txBody>
                    <a:bodyPr/>
                    <a:lstStyle/>
                    <a:p>
                      <a:pPr algn="ctr"/>
                      <a:r>
                        <a:rPr lang="en-US" dirty="0" smtClean="0"/>
                        <a:t>BRACKETS</a:t>
                      </a:r>
                      <a:endParaRPr lang="en-US" dirty="0"/>
                    </a:p>
                  </a:txBody>
                  <a:tcPr marL="121920" marR="121920"/>
                </a:tc>
                <a:extLst>
                  <a:ext uri="{0D108BD9-81ED-4DB2-BD59-A6C34878D82A}">
                    <a16:rowId xmlns:a16="http://schemas.microsoft.com/office/drawing/2014/main" val="10001"/>
                  </a:ext>
                </a:extLst>
              </a:tr>
              <a:tr h="370840">
                <a:tc>
                  <a:txBody>
                    <a:bodyPr/>
                    <a:lstStyle/>
                    <a:p>
                      <a:pPr algn="ctr"/>
                      <a:r>
                        <a:rPr lang="en-US" dirty="0" smtClean="0"/>
                        <a:t>EXPONENTIATION (↑^$)</a:t>
                      </a:r>
                      <a:endParaRPr lang="en-US" dirty="0"/>
                    </a:p>
                  </a:txBody>
                  <a:tcPr marL="121920" marR="121920"/>
                </a:tc>
                <a:extLst>
                  <a:ext uri="{0D108BD9-81ED-4DB2-BD59-A6C34878D82A}">
                    <a16:rowId xmlns:a16="http://schemas.microsoft.com/office/drawing/2014/main" val="10002"/>
                  </a:ext>
                </a:extLst>
              </a:tr>
              <a:tr h="370840">
                <a:tc>
                  <a:txBody>
                    <a:bodyPr/>
                    <a:lstStyle/>
                    <a:p>
                      <a:pPr algn="ctr"/>
                      <a:r>
                        <a:rPr lang="en-US" dirty="0" smtClean="0"/>
                        <a:t>MULTIPLICATION/DIVISION</a:t>
                      </a:r>
                      <a:endParaRPr lang="en-US" dirty="0"/>
                    </a:p>
                  </a:txBody>
                  <a:tcPr marL="121920" marR="121920"/>
                </a:tc>
                <a:extLst>
                  <a:ext uri="{0D108BD9-81ED-4DB2-BD59-A6C34878D82A}">
                    <a16:rowId xmlns:a16="http://schemas.microsoft.com/office/drawing/2014/main" val="10003"/>
                  </a:ext>
                </a:extLst>
              </a:tr>
              <a:tr h="370840">
                <a:tc>
                  <a:txBody>
                    <a:bodyPr/>
                    <a:lstStyle/>
                    <a:p>
                      <a:pPr algn="ctr"/>
                      <a:r>
                        <a:rPr lang="en-US" dirty="0" smtClean="0"/>
                        <a:t>ADDITION/SUBTRACTION</a:t>
                      </a:r>
                      <a:endParaRPr lang="en-US" dirty="0"/>
                    </a:p>
                  </a:txBody>
                  <a:tcPr marL="121920" marR="121920"/>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spcAft>
                <a:spcPct val="0"/>
              </a:spcAft>
            </a:pPr>
            <a:r>
              <a:rPr lang="en-US" sz="4000" b="1" dirty="0">
                <a:latin typeface="Casper Bold"/>
              </a:rPr>
              <a:t>INFIX to POSTFIX Examples</a:t>
            </a:r>
          </a:p>
        </p:txBody>
      </p:sp>
      <p:graphicFrame>
        <p:nvGraphicFramePr>
          <p:cNvPr id="4" name="Content Placeholder 3"/>
          <p:cNvGraphicFramePr>
            <a:graphicFrameLocks noGrp="1"/>
          </p:cNvGraphicFramePr>
          <p:nvPr>
            <p:ph idx="1"/>
          </p:nvPr>
        </p:nvGraphicFramePr>
        <p:xfrm>
          <a:off x="1219200" y="1752600"/>
          <a:ext cx="10668000" cy="4450080"/>
        </p:xfrm>
        <a:graphic>
          <a:graphicData uri="http://schemas.openxmlformats.org/drawingml/2006/table">
            <a:tbl>
              <a:tblPr firstRow="1" bandRow="1">
                <a:tableStyleId>{5C22544A-7EE6-4342-B048-85BDC9FD1C3A}</a:tableStyleId>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pPr algn="ctr"/>
                      <a:r>
                        <a:rPr lang="en-US" dirty="0" smtClean="0"/>
                        <a:t>INFIX</a:t>
                      </a:r>
                      <a:endParaRPr lang="en-US" dirty="0"/>
                    </a:p>
                  </a:txBody>
                  <a:tcPr marL="121920" marR="121920"/>
                </a:tc>
                <a:tc>
                  <a:txBody>
                    <a:bodyPr/>
                    <a:lstStyle/>
                    <a:p>
                      <a:pPr algn="ctr"/>
                      <a:r>
                        <a:rPr lang="en-US" dirty="0" smtClean="0"/>
                        <a:t>POSTFIX</a:t>
                      </a:r>
                      <a:endParaRPr lang="en-US" dirty="0"/>
                    </a:p>
                  </a:txBody>
                  <a:tcPr marL="121920" marR="121920"/>
                </a:tc>
                <a:extLst>
                  <a:ext uri="{0D108BD9-81ED-4DB2-BD59-A6C34878D82A}">
                    <a16:rowId xmlns:a16="http://schemas.microsoft.com/office/drawing/2014/main" val="10000"/>
                  </a:ext>
                </a:extLst>
              </a:tr>
              <a:tr h="370840">
                <a:tc>
                  <a:txBody>
                    <a:bodyPr/>
                    <a:lstStyle/>
                    <a:p>
                      <a:pPr algn="ctr"/>
                      <a:r>
                        <a:rPr lang="en-US" dirty="0" smtClean="0"/>
                        <a:t>A+B</a:t>
                      </a:r>
                      <a:endParaRPr lang="en-US" dirty="0"/>
                    </a:p>
                  </a:txBody>
                  <a:tcPr marL="121920" marR="121920"/>
                </a:tc>
                <a:tc>
                  <a:txBody>
                    <a:bodyPr/>
                    <a:lstStyle/>
                    <a:p>
                      <a:pPr algn="ctr"/>
                      <a:r>
                        <a:rPr lang="en-US" dirty="0" smtClean="0"/>
                        <a:t>AB+</a:t>
                      </a:r>
                      <a:endParaRPr lang="en-US" dirty="0"/>
                    </a:p>
                  </a:txBody>
                  <a:tcPr marL="121920" marR="121920"/>
                </a:tc>
                <a:extLst>
                  <a:ext uri="{0D108BD9-81ED-4DB2-BD59-A6C34878D82A}">
                    <a16:rowId xmlns:a16="http://schemas.microsoft.com/office/drawing/2014/main" val="10001"/>
                  </a:ext>
                </a:extLst>
              </a:tr>
              <a:tr h="370840">
                <a:tc>
                  <a:txBody>
                    <a:bodyPr/>
                    <a:lstStyle/>
                    <a:p>
                      <a:pPr algn="ctr"/>
                      <a:r>
                        <a:rPr lang="en-US" dirty="0" smtClean="0"/>
                        <a:t>A+B-C</a:t>
                      </a:r>
                      <a:endParaRPr lang="en-US" dirty="0"/>
                    </a:p>
                  </a:txBody>
                  <a:tcPr marL="121920" marR="121920"/>
                </a:tc>
                <a:tc>
                  <a:txBody>
                    <a:bodyPr/>
                    <a:lstStyle/>
                    <a:p>
                      <a:pPr algn="ctr"/>
                      <a:r>
                        <a:rPr lang="en-US" dirty="0" smtClean="0"/>
                        <a:t>AB+C-</a:t>
                      </a:r>
                      <a:endParaRPr lang="en-US" dirty="0"/>
                    </a:p>
                  </a:txBody>
                  <a:tcPr marL="121920" marR="121920"/>
                </a:tc>
                <a:extLst>
                  <a:ext uri="{0D108BD9-81ED-4DB2-BD59-A6C34878D82A}">
                    <a16:rowId xmlns:a16="http://schemas.microsoft.com/office/drawing/2014/main" val="10002"/>
                  </a:ext>
                </a:extLst>
              </a:tr>
              <a:tr h="370840">
                <a:tc>
                  <a:txBody>
                    <a:bodyPr/>
                    <a:lstStyle/>
                    <a:p>
                      <a:pPr algn="ctr"/>
                      <a:r>
                        <a:rPr lang="en-US" dirty="0" smtClean="0"/>
                        <a:t>(A+B) * (C-D)</a:t>
                      </a:r>
                      <a:endParaRPr lang="en-US" dirty="0"/>
                    </a:p>
                  </a:txBody>
                  <a:tcPr marL="121920" marR="121920"/>
                </a:tc>
                <a:tc>
                  <a:txBody>
                    <a:bodyPr/>
                    <a:lstStyle/>
                    <a:p>
                      <a:pPr algn="ctr"/>
                      <a:r>
                        <a:rPr lang="en-US" dirty="0" smtClean="0"/>
                        <a:t>AB+CD-*</a:t>
                      </a:r>
                      <a:endParaRPr lang="en-US" dirty="0"/>
                    </a:p>
                  </a:txBody>
                  <a:tcPr marL="121920" marR="121920"/>
                </a:tc>
                <a:extLst>
                  <a:ext uri="{0D108BD9-81ED-4DB2-BD59-A6C34878D82A}">
                    <a16:rowId xmlns:a16="http://schemas.microsoft.com/office/drawing/2014/main" val="10003"/>
                  </a:ext>
                </a:extLst>
              </a:tr>
              <a:tr h="370840">
                <a:tc>
                  <a:txBody>
                    <a:bodyPr/>
                    <a:lstStyle/>
                    <a:p>
                      <a:pPr algn="ctr"/>
                      <a:r>
                        <a:rPr lang="en-US" dirty="0" smtClean="0"/>
                        <a:t>A$B*C-D+E/F/(G+H)</a:t>
                      </a:r>
                      <a:endParaRPr lang="en-US" dirty="0"/>
                    </a:p>
                  </a:txBody>
                  <a:tcPr marL="121920" marR="121920"/>
                </a:tc>
                <a:tc>
                  <a:txBody>
                    <a:bodyPr/>
                    <a:lstStyle/>
                    <a:p>
                      <a:pPr algn="ctr"/>
                      <a:r>
                        <a:rPr lang="en-US" dirty="0" smtClean="0"/>
                        <a:t>AB$C*D-EF/GH+/+</a:t>
                      </a:r>
                      <a:endParaRPr lang="en-US" dirty="0"/>
                    </a:p>
                  </a:txBody>
                  <a:tcPr marL="121920" marR="121920"/>
                </a:tc>
                <a:extLst>
                  <a:ext uri="{0D108BD9-81ED-4DB2-BD59-A6C34878D82A}">
                    <a16:rowId xmlns:a16="http://schemas.microsoft.com/office/drawing/2014/main" val="10004"/>
                  </a:ext>
                </a:extLst>
              </a:tr>
              <a:tr h="370840">
                <a:tc>
                  <a:txBody>
                    <a:bodyPr/>
                    <a:lstStyle/>
                    <a:p>
                      <a:pPr algn="ctr"/>
                      <a:r>
                        <a:rPr lang="en-US" dirty="0" smtClean="0"/>
                        <a:t>((A+B)*C-(D-E))$(F+G)</a:t>
                      </a:r>
                      <a:endParaRPr lang="en-US" dirty="0"/>
                    </a:p>
                  </a:txBody>
                  <a:tcPr marL="121920" marR="121920"/>
                </a:tc>
                <a:tc>
                  <a:txBody>
                    <a:bodyPr/>
                    <a:lstStyle/>
                    <a:p>
                      <a:pPr algn="ctr"/>
                      <a:r>
                        <a:rPr lang="en-US" dirty="0" smtClean="0"/>
                        <a:t>AB+C*DE- -FG+$</a:t>
                      </a:r>
                      <a:endParaRPr lang="en-US" dirty="0"/>
                    </a:p>
                  </a:txBody>
                  <a:tcPr marL="121920" marR="121920"/>
                </a:tc>
                <a:extLst>
                  <a:ext uri="{0D108BD9-81ED-4DB2-BD59-A6C34878D82A}">
                    <a16:rowId xmlns:a16="http://schemas.microsoft.com/office/drawing/2014/main" val="10005"/>
                  </a:ext>
                </a:extLst>
              </a:tr>
              <a:tr h="370840">
                <a:tc>
                  <a:txBody>
                    <a:bodyPr/>
                    <a:lstStyle/>
                    <a:p>
                      <a:pPr algn="ctr"/>
                      <a:r>
                        <a:rPr lang="en-US" dirty="0" smtClean="0"/>
                        <a:t>A-B/(C*D$E)</a:t>
                      </a:r>
                      <a:endParaRPr lang="en-US" dirty="0"/>
                    </a:p>
                  </a:txBody>
                  <a:tcPr marL="121920" marR="121920"/>
                </a:tc>
                <a:tc>
                  <a:txBody>
                    <a:bodyPr/>
                    <a:lstStyle/>
                    <a:p>
                      <a:pPr algn="ctr"/>
                      <a:r>
                        <a:rPr lang="en-US" dirty="0" smtClean="0"/>
                        <a:t>ABCDE$*/-</a:t>
                      </a:r>
                      <a:endParaRPr lang="en-US" dirty="0"/>
                    </a:p>
                  </a:txBody>
                  <a:tcPr marL="121920" marR="121920"/>
                </a:tc>
                <a:extLst>
                  <a:ext uri="{0D108BD9-81ED-4DB2-BD59-A6C34878D82A}">
                    <a16:rowId xmlns:a16="http://schemas.microsoft.com/office/drawing/2014/main" val="10006"/>
                  </a:ext>
                </a:extLst>
              </a:tr>
              <a:tr h="370840">
                <a:tc>
                  <a:txBody>
                    <a:bodyPr/>
                    <a:lstStyle/>
                    <a:p>
                      <a:pPr algn="ctr"/>
                      <a:r>
                        <a:rPr lang="en-US" dirty="0" smtClean="0"/>
                        <a:t>A+((B+C)*(D+E))+F/G</a:t>
                      </a:r>
                      <a:endParaRPr lang="en-US" dirty="0"/>
                    </a:p>
                  </a:txBody>
                  <a:tcPr marL="121920" marR="121920"/>
                </a:tc>
                <a:tc>
                  <a:txBody>
                    <a:bodyPr/>
                    <a:lstStyle/>
                    <a:p>
                      <a:pPr algn="ctr"/>
                      <a:r>
                        <a:rPr lang="en-US" dirty="0" smtClean="0"/>
                        <a:t>ABC+DE+*+FG/+</a:t>
                      </a:r>
                      <a:endParaRPr lang="en-US" dirty="0"/>
                    </a:p>
                  </a:txBody>
                  <a:tcPr marL="121920" marR="121920"/>
                </a:tc>
                <a:extLst>
                  <a:ext uri="{0D108BD9-81ED-4DB2-BD59-A6C34878D82A}">
                    <a16:rowId xmlns:a16="http://schemas.microsoft.com/office/drawing/2014/main" val="10007"/>
                  </a:ext>
                </a:extLst>
              </a:tr>
              <a:tr h="370840">
                <a:tc>
                  <a:txBody>
                    <a:bodyPr/>
                    <a:lstStyle/>
                    <a:p>
                      <a:pPr algn="ctr"/>
                      <a:r>
                        <a:rPr lang="en-US" dirty="0" smtClean="0"/>
                        <a:t>A+(B+C*D+E)+F/G</a:t>
                      </a:r>
                      <a:endParaRPr lang="en-US" dirty="0"/>
                    </a:p>
                  </a:txBody>
                  <a:tcPr marL="121920" marR="121920"/>
                </a:tc>
                <a:tc>
                  <a:txBody>
                    <a:bodyPr/>
                    <a:lstStyle/>
                    <a:p>
                      <a:pPr algn="ctr"/>
                      <a:r>
                        <a:rPr lang="en-US" dirty="0" smtClean="0"/>
                        <a:t>ABCD*+E++FG/+</a:t>
                      </a:r>
                      <a:endParaRPr lang="en-US" dirty="0"/>
                    </a:p>
                  </a:txBody>
                  <a:tcPr marL="121920" marR="121920"/>
                </a:tc>
                <a:extLst>
                  <a:ext uri="{0D108BD9-81ED-4DB2-BD59-A6C34878D82A}">
                    <a16:rowId xmlns:a16="http://schemas.microsoft.com/office/drawing/2014/main" val="10008"/>
                  </a:ext>
                </a:extLst>
              </a:tr>
              <a:tr h="370840">
                <a:tc>
                  <a:txBody>
                    <a:bodyPr/>
                    <a:lstStyle/>
                    <a:p>
                      <a:pPr algn="ctr"/>
                      <a:r>
                        <a:rPr lang="en-US" dirty="0" smtClean="0"/>
                        <a:t>A-B/(C^D)+(E*F)</a:t>
                      </a:r>
                      <a:endParaRPr lang="en-US" dirty="0"/>
                    </a:p>
                  </a:txBody>
                  <a:tcPr marL="121920" marR="121920"/>
                </a:tc>
                <a:tc>
                  <a:txBody>
                    <a:bodyPr/>
                    <a:lstStyle/>
                    <a:p>
                      <a:pPr algn="ctr"/>
                      <a:r>
                        <a:rPr lang="en-US" dirty="0" smtClean="0"/>
                        <a:t>ABCD^/-EF*+</a:t>
                      </a:r>
                      <a:endParaRPr lang="en-US" dirty="0"/>
                    </a:p>
                  </a:txBody>
                  <a:tcPr marL="121920" marR="121920"/>
                </a:tc>
                <a:extLst>
                  <a:ext uri="{0D108BD9-81ED-4DB2-BD59-A6C34878D82A}">
                    <a16:rowId xmlns:a16="http://schemas.microsoft.com/office/drawing/2014/main" val="10009"/>
                  </a:ext>
                </a:extLst>
              </a:tr>
              <a:tr h="370840">
                <a:tc>
                  <a:txBody>
                    <a:bodyPr/>
                    <a:lstStyle/>
                    <a:p>
                      <a:pPr algn="ctr"/>
                      <a:r>
                        <a:rPr lang="en-US" dirty="0" smtClean="0"/>
                        <a:t>A*(B+C)+(B/D)*A+Z*U</a:t>
                      </a:r>
                      <a:endParaRPr lang="en-US" dirty="0"/>
                    </a:p>
                  </a:txBody>
                  <a:tcPr marL="121920" marR="121920"/>
                </a:tc>
                <a:tc>
                  <a:txBody>
                    <a:bodyPr/>
                    <a:lstStyle/>
                    <a:p>
                      <a:pPr algn="ctr"/>
                      <a:r>
                        <a:rPr lang="en-US" dirty="0" smtClean="0"/>
                        <a:t>ABC+*BD/A*+ZU*+</a:t>
                      </a:r>
                      <a:endParaRPr lang="en-US" dirty="0"/>
                    </a:p>
                  </a:txBody>
                  <a:tcPr marL="121920" marR="121920"/>
                </a:tc>
                <a:extLst>
                  <a:ext uri="{0D108BD9-81ED-4DB2-BD59-A6C34878D82A}">
                    <a16:rowId xmlns:a16="http://schemas.microsoft.com/office/drawing/2014/main" val="10010"/>
                  </a:ext>
                </a:extLst>
              </a:tr>
              <a:tr h="370840">
                <a:tc>
                  <a:txBody>
                    <a:bodyPr/>
                    <a:lstStyle/>
                    <a:p>
                      <a:pPr algn="ctr"/>
                      <a:r>
                        <a:rPr lang="en-US" dirty="0" smtClean="0"/>
                        <a:t>A+(B*C-(D/E^F)*G)*H</a:t>
                      </a:r>
                      <a:endParaRPr lang="en-US" dirty="0"/>
                    </a:p>
                  </a:txBody>
                  <a:tcPr marL="121920" marR="121920"/>
                </a:tc>
                <a:tc>
                  <a:txBody>
                    <a:bodyPr/>
                    <a:lstStyle/>
                    <a:p>
                      <a:pPr algn="ctr"/>
                      <a:r>
                        <a:rPr lang="en-US" dirty="0" smtClean="0"/>
                        <a:t>ABC*DEF^/G*-H*+</a:t>
                      </a:r>
                      <a:endParaRPr lang="en-US" dirty="0"/>
                    </a:p>
                  </a:txBody>
                  <a:tcPr marL="121920" marR="121920"/>
                </a:tc>
                <a:extLst>
                  <a:ext uri="{0D108BD9-81ED-4DB2-BD59-A6C34878D82A}">
                    <a16:rowId xmlns:a16="http://schemas.microsoft.com/office/drawing/2014/main" val="10011"/>
                  </a:ext>
                </a:extLst>
              </a:tr>
            </a:tbl>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a:xfrm>
            <a:off x="1117600" y="267789"/>
            <a:ext cx="10566400" cy="609600"/>
          </a:xfrm>
        </p:spPr>
        <p:txBody>
          <a:bodyPr>
            <a:noAutofit/>
          </a:bodyPr>
          <a:lstStyle/>
          <a:p>
            <a:pPr fontAlgn="base">
              <a:spcAft>
                <a:spcPct val="0"/>
              </a:spcAft>
            </a:pPr>
            <a:r>
              <a:rPr lang="en-US" sz="4000" b="1" dirty="0">
                <a:latin typeface="Casper Bold"/>
              </a:rPr>
              <a:t>Algorithm for Infix to Postfix</a:t>
            </a:r>
          </a:p>
        </p:txBody>
      </p:sp>
      <p:sp>
        <p:nvSpPr>
          <p:cNvPr id="17411" name="Rectangle 3"/>
          <p:cNvSpPr>
            <a:spLocks noGrp="1" noChangeArrowheads="1"/>
          </p:cNvSpPr>
          <p:nvPr>
            <p:ph idx="1"/>
          </p:nvPr>
        </p:nvSpPr>
        <p:spPr>
          <a:xfrm>
            <a:off x="863600" y="877388"/>
            <a:ext cx="11074400" cy="5889171"/>
          </a:xfrm>
        </p:spPr>
        <p:txBody>
          <a:bodyPr>
            <a:noAutofit/>
          </a:bodyPr>
          <a:lstStyle/>
          <a:p>
            <a:pPr eaLnBrk="1" hangingPunct="1">
              <a:lnSpc>
                <a:spcPct val="80000"/>
              </a:lnSpc>
              <a:spcBef>
                <a:spcPct val="40000"/>
              </a:spcBef>
              <a:buFont typeface="Wingdings" pitchFamily="2" charset="2"/>
              <a:buNone/>
            </a:pPr>
            <a:r>
              <a:rPr lang="en-US" sz="2100" dirty="0" smtClean="0"/>
              <a:t>Suppose Q is an arithmetic expression written in infix notation. This algorithm also finds the equivalent postfix expression P.  </a:t>
            </a:r>
          </a:p>
          <a:p>
            <a:pPr marL="457200" indent="-457200" eaLnBrk="1" hangingPunct="1">
              <a:lnSpc>
                <a:spcPct val="80000"/>
              </a:lnSpc>
              <a:spcBef>
                <a:spcPct val="40000"/>
              </a:spcBef>
              <a:buFont typeface="Wingdings" pitchFamily="2" charset="2"/>
              <a:buAutoNum type="arabicParenR"/>
            </a:pPr>
            <a:r>
              <a:rPr lang="en-US" sz="2100" dirty="0" smtClean="0"/>
              <a:t>Push “(“ onto stack and add “)” to the end of Q.</a:t>
            </a:r>
          </a:p>
          <a:p>
            <a:pPr marL="457200" indent="-457200" eaLnBrk="1" hangingPunct="1">
              <a:lnSpc>
                <a:spcPct val="80000"/>
              </a:lnSpc>
              <a:spcBef>
                <a:spcPct val="40000"/>
              </a:spcBef>
              <a:buFont typeface="Wingdings" pitchFamily="2" charset="2"/>
              <a:buAutoNum type="arabicParenR"/>
            </a:pPr>
            <a:r>
              <a:rPr lang="en-US" sz="2100" dirty="0" smtClean="0"/>
              <a:t>Scan Q from left to right and repeat steps 3 to 6 for each element of Q until the stack is empty:</a:t>
            </a:r>
          </a:p>
          <a:p>
            <a:pPr marL="457200" indent="-457200" eaLnBrk="1" hangingPunct="1">
              <a:lnSpc>
                <a:spcPct val="80000"/>
              </a:lnSpc>
              <a:spcBef>
                <a:spcPct val="40000"/>
              </a:spcBef>
              <a:buNone/>
            </a:pPr>
            <a:r>
              <a:rPr lang="en-US" sz="2100" dirty="0" smtClean="0"/>
              <a:t>3)      	 If an operand is encountered, add it to P.</a:t>
            </a:r>
          </a:p>
          <a:p>
            <a:pPr marL="457200" indent="-457200" eaLnBrk="1" hangingPunct="1">
              <a:lnSpc>
                <a:spcPct val="80000"/>
              </a:lnSpc>
              <a:spcBef>
                <a:spcPct val="40000"/>
              </a:spcBef>
              <a:buNone/>
            </a:pPr>
            <a:r>
              <a:rPr lang="en-US" sz="2100" dirty="0" smtClean="0"/>
              <a:t>4)  		 If a left parenthesis is encountered, push it onto stack.</a:t>
            </a:r>
          </a:p>
          <a:p>
            <a:pPr marL="457200" indent="-457200">
              <a:lnSpc>
                <a:spcPct val="80000"/>
              </a:lnSpc>
              <a:spcBef>
                <a:spcPct val="40000"/>
              </a:spcBef>
              <a:buNone/>
            </a:pPr>
            <a:r>
              <a:rPr lang="en-US" sz="2100" dirty="0" smtClean="0"/>
              <a:t>5) 		 If an operator ⊗ is encountered, then:</a:t>
            </a:r>
          </a:p>
          <a:p>
            <a:pPr marL="457200" indent="-457200" eaLnBrk="1" hangingPunct="1">
              <a:lnSpc>
                <a:spcPct val="80000"/>
              </a:lnSpc>
              <a:spcBef>
                <a:spcPct val="40000"/>
              </a:spcBef>
              <a:buNone/>
            </a:pPr>
            <a:r>
              <a:rPr lang="en-US" sz="2100" dirty="0" smtClean="0"/>
              <a:t>			(a) Repeatedly pop from stack and add to P each operator(on top of 	stack) which has the same precedence as or higher precedence than ⊗.</a:t>
            </a:r>
          </a:p>
          <a:p>
            <a:pPr marL="457200" indent="-457200">
              <a:lnSpc>
                <a:spcPct val="80000"/>
              </a:lnSpc>
              <a:spcBef>
                <a:spcPct val="40000"/>
              </a:spcBef>
              <a:buNone/>
            </a:pPr>
            <a:r>
              <a:rPr lang="en-US" sz="2100" dirty="0" smtClean="0"/>
              <a:t>			(b) Add ⊗ to stack.</a:t>
            </a:r>
          </a:p>
          <a:p>
            <a:pPr marL="457200" indent="-457200">
              <a:lnSpc>
                <a:spcPct val="80000"/>
              </a:lnSpc>
              <a:spcBef>
                <a:spcPct val="40000"/>
              </a:spcBef>
              <a:buNone/>
            </a:pPr>
            <a:r>
              <a:rPr lang="en-US" sz="2100" dirty="0" smtClean="0"/>
              <a:t>		[End of if structure]</a:t>
            </a:r>
          </a:p>
          <a:p>
            <a:pPr marL="457200" indent="-457200">
              <a:lnSpc>
                <a:spcPct val="80000"/>
              </a:lnSpc>
              <a:spcBef>
                <a:spcPct val="40000"/>
              </a:spcBef>
              <a:buAutoNum type="arabicParenR" startAt="6"/>
            </a:pPr>
            <a:r>
              <a:rPr lang="en-US" sz="2100" dirty="0" smtClean="0"/>
              <a:t>If a right parenthesis is encountered, then:</a:t>
            </a:r>
          </a:p>
          <a:p>
            <a:pPr marL="457200" indent="-457200">
              <a:lnSpc>
                <a:spcPct val="80000"/>
              </a:lnSpc>
              <a:spcBef>
                <a:spcPct val="40000"/>
              </a:spcBef>
              <a:buNone/>
            </a:pPr>
            <a:r>
              <a:rPr lang="en-US" sz="2100" dirty="0" smtClean="0"/>
              <a:t>			(a) Repeatedly pop from stack and add to P each operator until a left parenthesis is encountered.</a:t>
            </a:r>
          </a:p>
          <a:p>
            <a:pPr marL="457200" indent="-457200">
              <a:lnSpc>
                <a:spcPct val="80000"/>
              </a:lnSpc>
              <a:spcBef>
                <a:spcPct val="40000"/>
              </a:spcBef>
              <a:buNone/>
            </a:pPr>
            <a:r>
              <a:rPr lang="en-US" sz="2100" dirty="0" smtClean="0"/>
              <a:t>			(b) Remove a left parenthesis.</a:t>
            </a:r>
          </a:p>
          <a:p>
            <a:pPr marL="457200" indent="-457200">
              <a:lnSpc>
                <a:spcPct val="80000"/>
              </a:lnSpc>
              <a:spcBef>
                <a:spcPct val="40000"/>
              </a:spcBef>
              <a:buNone/>
            </a:pPr>
            <a:r>
              <a:rPr lang="en-US" sz="2100" dirty="0" smtClean="0"/>
              <a:t>	[end of if structure]</a:t>
            </a:r>
          </a:p>
          <a:p>
            <a:pPr marL="457200" indent="-457200" eaLnBrk="1" hangingPunct="1">
              <a:lnSpc>
                <a:spcPct val="80000"/>
              </a:lnSpc>
              <a:spcBef>
                <a:spcPct val="40000"/>
              </a:spcBef>
              <a:buFont typeface="Wingdings" pitchFamily="2" charset="2"/>
              <a:buAutoNum type="arabicParenR"/>
            </a:pPr>
            <a:endParaRPr lang="en-US" sz="21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04800"/>
            <a:ext cx="10566400" cy="609600"/>
          </a:xfrm>
        </p:spPr>
        <p:txBody>
          <a:bodyPr/>
          <a:lstStyle/>
          <a:p>
            <a:pPr algn="l"/>
            <a:r>
              <a:rPr lang="en-US" sz="2000" dirty="0" smtClean="0"/>
              <a:t>Application of stacks :conversion from infix to postfix representation</a:t>
            </a:r>
            <a:endParaRPr lang="en-US" sz="2000" dirty="0"/>
          </a:p>
        </p:txBody>
      </p:sp>
      <p:sp>
        <p:nvSpPr>
          <p:cNvPr id="4" name="Rectangle 2"/>
          <p:cNvSpPr>
            <a:spLocks noChangeArrowheads="1"/>
          </p:cNvSpPr>
          <p:nvPr/>
        </p:nvSpPr>
        <p:spPr bwMode="auto">
          <a:xfrm>
            <a:off x="1" y="2209801"/>
            <a:ext cx="3352800" cy="954107"/>
          </a:xfrm>
          <a:prstGeom prst="rect">
            <a:avLst/>
          </a:prstGeom>
          <a:noFill/>
          <a:ln w="9525">
            <a:noFill/>
            <a:miter lim="800000"/>
            <a:headEnd/>
            <a:tailEnd/>
          </a:ln>
        </p:spPr>
        <p:txBody>
          <a:bodyPr wrap="square" anchor="ctr">
            <a:spAutoFit/>
          </a:bodyPr>
          <a:lstStyle/>
          <a:p>
            <a:pPr algn="l" eaLnBrk="0" hangingPunct="0"/>
            <a:r>
              <a:rPr lang="en-US" sz="1400" i="0" dirty="0">
                <a:latin typeface="Times New Roman" pitchFamily="18" charset="0"/>
                <a:cs typeface="Times New Roman" pitchFamily="18" charset="0"/>
              </a:rPr>
              <a:t>Suppose we want to convert</a:t>
            </a:r>
            <a:r>
              <a:rPr lang="en-US" sz="1400" i="0" dirty="0">
                <a:solidFill>
                  <a:schemeClr val="hlink"/>
                </a:solidFill>
                <a:latin typeface="Times New Roman" pitchFamily="18" charset="0"/>
                <a:cs typeface="Times New Roman" pitchFamily="18" charset="0"/>
              </a:rPr>
              <a:t> 2*3/(2-1)+5*3 </a:t>
            </a:r>
            <a:r>
              <a:rPr lang="en-US" sz="1400" i="0" dirty="0">
                <a:latin typeface="Times New Roman" pitchFamily="18" charset="0"/>
                <a:cs typeface="Times New Roman" pitchFamily="18" charset="0"/>
              </a:rPr>
              <a:t>into Postfix form</a:t>
            </a:r>
            <a:r>
              <a:rPr lang="en-US" sz="1400" i="0" dirty="0" smtClean="0">
                <a:solidFill>
                  <a:schemeClr val="hlink"/>
                </a:solidFill>
                <a:latin typeface="Times New Roman" pitchFamily="18" charset="0"/>
                <a:cs typeface="Times New Roman" pitchFamily="18" charset="0"/>
              </a:rPr>
              <a:t>,</a:t>
            </a:r>
          </a:p>
          <a:p>
            <a:pPr algn="l" eaLnBrk="0" hangingPunct="0"/>
            <a:r>
              <a:rPr lang="en-US" sz="1400" b="0" dirty="0" smtClean="0">
                <a:solidFill>
                  <a:schemeClr val="hlink"/>
                </a:solidFill>
                <a:latin typeface="Times New Roman" pitchFamily="18" charset="0"/>
                <a:cs typeface="Times New Roman" pitchFamily="18" charset="0"/>
              </a:rPr>
              <a:t>Push “(“ onto stack and add “)” to the end of expression.</a:t>
            </a:r>
            <a:endParaRPr lang="en-US" sz="1400" b="0" i="0" dirty="0">
              <a:solidFill>
                <a:schemeClr val="hlink"/>
              </a:solidFill>
            </a:endParaRPr>
          </a:p>
        </p:txBody>
      </p:sp>
      <p:graphicFrame>
        <p:nvGraphicFramePr>
          <p:cNvPr id="5" name="Group 282"/>
          <p:cNvGraphicFramePr>
            <a:graphicFrameLocks noGrp="1"/>
          </p:cNvGraphicFramePr>
          <p:nvPr/>
        </p:nvGraphicFramePr>
        <p:xfrm>
          <a:off x="3962400" y="1143000"/>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2</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2</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6" name="Group 286"/>
          <p:cNvGraphicFramePr>
            <a:graphicFrameLocks noGrp="1"/>
          </p:cNvGraphicFramePr>
          <p:nvPr/>
        </p:nvGraphicFramePr>
        <p:xfrm>
          <a:off x="3962400" y="1524000"/>
          <a:ext cx="8026400" cy="365760"/>
        </p:xfrm>
        <a:graphic>
          <a:graphicData uri="http://schemas.openxmlformats.org/drawingml/2006/table">
            <a:tbl>
              <a:tblPr/>
              <a:tblGrid>
                <a:gridCol w="2407541">
                  <a:extLst>
                    <a:ext uri="{9D8B030D-6E8A-4147-A177-3AD203B41FA5}">
                      <a16:colId xmlns:a16="http://schemas.microsoft.com/office/drawing/2014/main" val="20000"/>
                    </a:ext>
                  </a:extLst>
                </a:gridCol>
                <a:gridCol w="2700168">
                  <a:extLst>
                    <a:ext uri="{9D8B030D-6E8A-4147-A177-3AD203B41FA5}">
                      <a16:colId xmlns:a16="http://schemas.microsoft.com/office/drawing/2014/main" val="20001"/>
                    </a:ext>
                  </a:extLst>
                </a:gridCol>
                <a:gridCol w="2918691">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2</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7" name="Group 263"/>
          <p:cNvGraphicFramePr>
            <a:graphicFrameLocks noGrp="1"/>
          </p:cNvGraphicFramePr>
          <p:nvPr/>
        </p:nvGraphicFramePr>
        <p:xfrm>
          <a:off x="3962400" y="1914525"/>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3</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smtClean="0">
                          <a:ln>
                            <a:noFill/>
                          </a:ln>
                          <a:solidFill>
                            <a:schemeClr val="tx1"/>
                          </a:solidFill>
                          <a:effectLst>
                            <a:outerShdw blurRad="38100" dist="38100" dir="2700000" algn="tl">
                              <a:srgbClr val="000000"/>
                            </a:outerShdw>
                          </a:effectLst>
                          <a:latin typeface="Arial" charset="0"/>
                        </a:rPr>
                        <a:t>23</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8" name="Group 262"/>
          <p:cNvGraphicFramePr>
            <a:graphicFrameLocks noGrp="1"/>
          </p:cNvGraphicFramePr>
          <p:nvPr/>
        </p:nvGraphicFramePr>
        <p:xfrm>
          <a:off x="3962400" y="2301875"/>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23*</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9" name="Group 261"/>
          <p:cNvGraphicFramePr>
            <a:graphicFrameLocks noGrp="1"/>
          </p:cNvGraphicFramePr>
          <p:nvPr/>
        </p:nvGraphicFramePr>
        <p:xfrm>
          <a:off x="3962400" y="2667000"/>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smtClean="0">
                          <a:ln>
                            <a:noFill/>
                          </a:ln>
                          <a:solidFill>
                            <a:schemeClr val="tx1"/>
                          </a:solidFill>
                          <a:effectLst>
                            <a:outerShdw blurRad="38100" dist="38100" dir="2700000" algn="tl">
                              <a:srgbClr val="000000"/>
                            </a:outerShdw>
                          </a:effectLst>
                          <a:latin typeface="Arial" charset="0"/>
                        </a:rPr>
                        <a:t>23*</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0" name="Group 260"/>
          <p:cNvGraphicFramePr>
            <a:graphicFrameLocks noGrp="1"/>
          </p:cNvGraphicFramePr>
          <p:nvPr/>
        </p:nvGraphicFramePr>
        <p:xfrm>
          <a:off x="3962400" y="3063875"/>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2</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23*2</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1" name="Group 267"/>
          <p:cNvGraphicFramePr>
            <a:graphicFrameLocks noGrp="1"/>
          </p:cNvGraphicFramePr>
          <p:nvPr/>
        </p:nvGraphicFramePr>
        <p:xfrm>
          <a:off x="3962400" y="3459163"/>
          <a:ext cx="8026399" cy="365760"/>
        </p:xfrm>
        <a:graphic>
          <a:graphicData uri="http://schemas.openxmlformats.org/drawingml/2006/table">
            <a:tbl>
              <a:tblPr/>
              <a:tblGrid>
                <a:gridCol w="2462645">
                  <a:extLst>
                    <a:ext uri="{9D8B030D-6E8A-4147-A177-3AD203B41FA5}">
                      <a16:colId xmlns:a16="http://schemas.microsoft.com/office/drawing/2014/main" val="20000"/>
                    </a:ext>
                  </a:extLst>
                </a:gridCol>
                <a:gridCol w="2584257">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smtClean="0">
                          <a:ln>
                            <a:noFill/>
                          </a:ln>
                          <a:solidFill>
                            <a:schemeClr val="tx1"/>
                          </a:solidFill>
                          <a:effectLst>
                            <a:outerShdw blurRad="38100" dist="38100" dir="2700000" algn="tl">
                              <a:srgbClr val="000000"/>
                            </a:outerShdw>
                          </a:effectLst>
                          <a:latin typeface="Arial" charset="0"/>
                        </a:rPr>
                        <a:t>23*2</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2" name="Group 257"/>
          <p:cNvGraphicFramePr>
            <a:graphicFrameLocks noGrp="1"/>
          </p:cNvGraphicFramePr>
          <p:nvPr/>
        </p:nvGraphicFramePr>
        <p:xfrm>
          <a:off x="3962400" y="3810000"/>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1</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smtClean="0">
                          <a:ln>
                            <a:noFill/>
                          </a:ln>
                          <a:solidFill>
                            <a:schemeClr val="tx1"/>
                          </a:solidFill>
                          <a:effectLst>
                            <a:outerShdw blurRad="38100" dist="38100" dir="2700000" algn="tl">
                              <a:srgbClr val="000000"/>
                            </a:outerShdw>
                          </a:effectLst>
                          <a:latin typeface="Arial" charset="0"/>
                        </a:rPr>
                        <a:t>23*21</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3" name="Group 256"/>
          <p:cNvGraphicFramePr>
            <a:graphicFrameLocks noGrp="1"/>
          </p:cNvGraphicFramePr>
          <p:nvPr/>
        </p:nvGraphicFramePr>
        <p:xfrm>
          <a:off x="3962400" y="4206875"/>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smtClean="0">
                          <a:ln>
                            <a:noFill/>
                          </a:ln>
                          <a:solidFill>
                            <a:schemeClr val="tx1"/>
                          </a:solidFill>
                          <a:effectLst>
                            <a:outerShdw blurRad="38100" dist="38100" dir="2700000" algn="tl">
                              <a:srgbClr val="000000"/>
                            </a:outerShdw>
                          </a:effectLst>
                          <a:latin typeface="Arial" charset="0"/>
                        </a:rPr>
                        <a:t>23*21-</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4" name="Group 255"/>
          <p:cNvGraphicFramePr>
            <a:graphicFrameLocks noGrp="1"/>
          </p:cNvGraphicFramePr>
          <p:nvPr/>
        </p:nvGraphicFramePr>
        <p:xfrm>
          <a:off x="3962400" y="4572000"/>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smtClean="0">
                          <a:ln>
                            <a:noFill/>
                          </a:ln>
                          <a:solidFill>
                            <a:schemeClr val="tx1"/>
                          </a:solidFill>
                          <a:effectLst>
                            <a:outerShdw blurRad="38100" dist="38100" dir="2700000" algn="tl">
                              <a:srgbClr val="000000"/>
                            </a:outerShdw>
                          </a:effectLst>
                          <a:latin typeface="Arial" charset="0"/>
                        </a:rPr>
                        <a:t>23*21-/</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5" name="Group 254"/>
          <p:cNvGraphicFramePr>
            <a:graphicFrameLocks noGrp="1"/>
          </p:cNvGraphicFramePr>
          <p:nvPr/>
        </p:nvGraphicFramePr>
        <p:xfrm>
          <a:off x="3962400" y="4937125"/>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5</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smtClean="0">
                          <a:ln>
                            <a:noFill/>
                          </a:ln>
                          <a:solidFill>
                            <a:schemeClr val="tx1"/>
                          </a:solidFill>
                          <a:effectLst>
                            <a:outerShdw blurRad="38100" dist="38100" dir="2700000" algn="tl">
                              <a:srgbClr val="000000"/>
                            </a:outerShdw>
                          </a:effectLst>
                          <a:latin typeface="Arial" charset="0"/>
                        </a:rPr>
                        <a:t>23*21-/5</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6" name="Group 253"/>
          <p:cNvGraphicFramePr>
            <a:graphicFrameLocks noGrp="1"/>
          </p:cNvGraphicFramePr>
          <p:nvPr/>
        </p:nvGraphicFramePr>
        <p:xfrm>
          <a:off x="3962400" y="5638800"/>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3</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Tahoma" pitchFamily="34" charset="0"/>
                          <a:cs typeface="Times New Roman" charset="0"/>
                        </a:rPr>
                        <a:t>(+*</a:t>
                      </a:r>
                      <a:endPar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endParaRP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smtClean="0">
                          <a:ln>
                            <a:noFill/>
                          </a:ln>
                          <a:solidFill>
                            <a:schemeClr val="tx1"/>
                          </a:solidFill>
                          <a:effectLst>
                            <a:outerShdw blurRad="38100" dist="38100" dir="2700000" algn="tl">
                              <a:srgbClr val="000000"/>
                            </a:outerShdw>
                          </a:effectLst>
                          <a:latin typeface="Tahoma" pitchFamily="34" charset="0"/>
                          <a:cs typeface="Times New Roman" charset="0"/>
                        </a:rPr>
                        <a:t>23*21-/53</a:t>
                      </a:r>
                      <a:endParaRPr kumimoji="0" lang="en-US" sz="1800" b="0" i="0" u="none" strike="noStrike" cap="none" normalizeH="0" baseline="0" smtClean="0">
                        <a:ln>
                          <a:noFill/>
                        </a:ln>
                        <a:solidFill>
                          <a:schemeClr val="tx1"/>
                        </a:solidFill>
                        <a:effectLst>
                          <a:outerShdw blurRad="38100" dist="38100" dir="2700000" algn="tl">
                            <a:srgbClr val="000000"/>
                          </a:outerShdw>
                        </a:effectLst>
                        <a:latin typeface="Arial" charset="0"/>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7" name="Group 311"/>
          <p:cNvGraphicFramePr>
            <a:graphicFrameLocks noGrp="1"/>
          </p:cNvGraphicFramePr>
          <p:nvPr/>
        </p:nvGraphicFramePr>
        <p:xfrm>
          <a:off x="3962400" y="807720"/>
          <a:ext cx="8026400" cy="335280"/>
        </p:xfrm>
        <a:graphic>
          <a:graphicData uri="http://schemas.openxmlformats.org/drawingml/2006/table">
            <a:tbl>
              <a:tblPr/>
              <a:tblGrid>
                <a:gridCol w="2462645">
                  <a:extLst>
                    <a:ext uri="{9D8B030D-6E8A-4147-A177-3AD203B41FA5}">
                      <a16:colId xmlns:a16="http://schemas.microsoft.com/office/drawing/2014/main" val="20000"/>
                    </a:ext>
                  </a:extLst>
                </a:gridCol>
                <a:gridCol w="2645064">
                  <a:extLst>
                    <a:ext uri="{9D8B030D-6E8A-4147-A177-3AD203B41FA5}">
                      <a16:colId xmlns:a16="http://schemas.microsoft.com/office/drawing/2014/main" val="20001"/>
                    </a:ext>
                  </a:extLst>
                </a:gridCol>
                <a:gridCol w="2918691">
                  <a:extLst>
                    <a:ext uri="{9D8B030D-6E8A-4147-A177-3AD203B41FA5}">
                      <a16:colId xmlns:a16="http://schemas.microsoft.com/office/drawing/2014/main" val="20002"/>
                    </a:ext>
                  </a:extLst>
                </a:gridCol>
              </a:tblGrid>
              <a:tr h="209550">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16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Symbol scanned</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16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Stack</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1"/>
                        </a:buClr>
                        <a:buSzPct val="70000"/>
                        <a:buFont typeface="Wingdings" pitchFamily="2" charset="2"/>
                        <a:buNone/>
                        <a:tabLst/>
                      </a:pPr>
                      <a:r>
                        <a:rPr kumimoji="0" lang="en-US" sz="16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Expression P</a:t>
                      </a: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8" name="Group 289"/>
          <p:cNvGraphicFramePr>
            <a:graphicFrameLocks noGrp="1"/>
          </p:cNvGraphicFramePr>
          <p:nvPr/>
        </p:nvGraphicFramePr>
        <p:xfrm>
          <a:off x="3962400" y="5273675"/>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Tahoma" pitchFamily="34" charset="0"/>
                          <a:cs typeface="Times New Roman" charset="0"/>
                        </a:rPr>
                        <a:t>(+*</a:t>
                      </a:r>
                      <a:endPar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endParaRP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Tahoma" pitchFamily="34" charset="0"/>
                          <a:cs typeface="Times New Roman" charset="0"/>
                        </a:rPr>
                        <a:t>23*21-/53</a:t>
                      </a:r>
                      <a:endPar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19" name="Group 300"/>
          <p:cNvGraphicFramePr>
            <a:graphicFrameLocks noGrp="1"/>
          </p:cNvGraphicFramePr>
          <p:nvPr/>
        </p:nvGraphicFramePr>
        <p:xfrm>
          <a:off x="3962400" y="6019800"/>
          <a:ext cx="8026399" cy="365760"/>
        </p:xfrm>
        <a:graphic>
          <a:graphicData uri="http://schemas.openxmlformats.org/drawingml/2006/table">
            <a:tbl>
              <a:tblPr/>
              <a:tblGrid>
                <a:gridCol w="2428441">
                  <a:extLst>
                    <a:ext uri="{9D8B030D-6E8A-4147-A177-3AD203B41FA5}">
                      <a16:colId xmlns:a16="http://schemas.microsoft.com/office/drawing/2014/main" val="20000"/>
                    </a:ext>
                  </a:extLst>
                </a:gridCol>
                <a:gridCol w="2618461">
                  <a:extLst>
                    <a:ext uri="{9D8B030D-6E8A-4147-A177-3AD203B41FA5}">
                      <a16:colId xmlns:a16="http://schemas.microsoft.com/office/drawing/2014/main" val="20001"/>
                    </a:ext>
                  </a:extLst>
                </a:gridCol>
                <a:gridCol w="2979497">
                  <a:extLst>
                    <a:ext uri="{9D8B030D-6E8A-4147-A177-3AD203B41FA5}">
                      <a16:colId xmlns:a16="http://schemas.microsoft.com/office/drawing/2014/main" val="20002"/>
                    </a:ext>
                  </a:extLst>
                </a:gridCol>
              </a:tblGrid>
              <a:tr h="228600">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a:t>
                      </a:r>
                    </a:p>
                  </a:txBody>
                  <a:tcPr marL="121920" marR="1219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rPr>
                        <a:t>Empty</a:t>
                      </a:r>
                    </a:p>
                  </a:txBody>
                  <a:tcPr marL="121920" marR="1219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Pct val="70000"/>
                        <a:buFontTx/>
                        <a:buNone/>
                        <a:tabLst/>
                      </a:pPr>
                      <a:r>
                        <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Tahoma" pitchFamily="34" charset="0"/>
                          <a:cs typeface="Times New Roman" charset="0"/>
                        </a:rPr>
                        <a:t>23*21-/53*+</a:t>
                      </a:r>
                      <a:endParaRPr kumimoji="0" lang="en-US" sz="1800" b="0" i="0" u="none" strike="noStrike" cap="none" normalizeH="0" baseline="0" dirty="0" smtClean="0">
                        <a:ln>
                          <a:noFill/>
                        </a:ln>
                        <a:solidFill>
                          <a:schemeClr val="tx1"/>
                        </a:solidFill>
                        <a:effectLst>
                          <a:outerShdw blurRad="38100" dist="38100" dir="2700000" algn="tl">
                            <a:srgbClr val="000000"/>
                          </a:outerShdw>
                        </a:effectLst>
                        <a:latin typeface="Arial" charset="0"/>
                      </a:endParaRPr>
                    </a:p>
                  </a:txBody>
                  <a:tcPr marL="121920" marR="12192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0-#ppt_w/2"/>
                                          </p:val>
                                        </p:tav>
                                        <p:tav tm="100000">
                                          <p:val>
                                            <p:strVal val="#ppt_x"/>
                                          </p:val>
                                        </p:tav>
                                      </p:tavLst>
                                    </p:anim>
                                    <p:anim calcmode="lin" valueType="num">
                                      <p:cBhvr additive="base">
                                        <p:cTn id="4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0-#ppt_w/2"/>
                                          </p:val>
                                        </p:tav>
                                        <p:tav tm="100000">
                                          <p:val>
                                            <p:strVal val="#ppt_x"/>
                                          </p:val>
                                        </p:tav>
                                      </p:tavLst>
                                    </p:anim>
                                    <p:anim calcmode="lin" valueType="num">
                                      <p:cBhvr additive="base">
                                        <p:cTn id="50"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ppt_x</p:attrName>
                                        </p:attrNameLst>
                                      </p:cBhvr>
                                      <p:tavLst>
                                        <p:tav tm="0">
                                          <p:val>
                                            <p:strVal val="0-#ppt_w/2"/>
                                          </p:val>
                                        </p:tav>
                                        <p:tav tm="100000">
                                          <p:val>
                                            <p:strVal val="#ppt_x"/>
                                          </p:val>
                                        </p:tav>
                                      </p:tavLst>
                                    </p:anim>
                                    <p:anim calcmode="lin" valueType="num">
                                      <p:cBhvr additive="base">
                                        <p:cTn id="5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nodeType="click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0-#ppt_w/2"/>
                                          </p:val>
                                        </p:tav>
                                        <p:tav tm="100000">
                                          <p:val>
                                            <p:strVal val="#ppt_x"/>
                                          </p:val>
                                        </p:tav>
                                      </p:tavLst>
                                    </p:anim>
                                    <p:anim calcmode="lin" valueType="num">
                                      <p:cBhvr additive="base">
                                        <p:cTn id="62"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5"/>
                                        </p:tgtEl>
                                        <p:attrNameLst>
                                          <p:attrName>style.visibility</p:attrName>
                                        </p:attrNameLst>
                                      </p:cBhvr>
                                      <p:to>
                                        <p:strVal val="visible"/>
                                      </p:to>
                                    </p:set>
                                    <p:anim calcmode="lin" valueType="num">
                                      <p:cBhvr additive="base">
                                        <p:cTn id="67" dur="500" fill="hold"/>
                                        <p:tgtEl>
                                          <p:spTgt spid="15"/>
                                        </p:tgtEl>
                                        <p:attrNameLst>
                                          <p:attrName>ppt_x</p:attrName>
                                        </p:attrNameLst>
                                      </p:cBhvr>
                                      <p:tavLst>
                                        <p:tav tm="0">
                                          <p:val>
                                            <p:strVal val="0-#ppt_w/2"/>
                                          </p:val>
                                        </p:tav>
                                        <p:tav tm="100000">
                                          <p:val>
                                            <p:strVal val="#ppt_x"/>
                                          </p:val>
                                        </p:tav>
                                      </p:tavLst>
                                    </p:anim>
                                    <p:anim calcmode="lin" valueType="num">
                                      <p:cBhvr additive="base">
                                        <p:cTn id="6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499"/>
                                          </p:stCondLst>
                                        </p:cTn>
                                        <p:tgtEl>
                                          <p:spTgt spid="1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499"/>
                                          </p:stCondLst>
                                        </p:cTn>
                                        <p:tgtEl>
                                          <p:spTgt spid="1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219200" y="304800"/>
            <a:ext cx="10566400" cy="609600"/>
          </a:xfrm>
          <a:prstGeom prst="rect">
            <a:avLst/>
          </a:prstGeom>
          <a:scene3d>
            <a:camera prst="orthographicFront"/>
            <a:lightRig rig="threePt" dir="t"/>
          </a:scene3d>
          <a:sp3d>
            <a:bevelT prst="relaxedInset"/>
          </a:sp3d>
        </p:spPr>
        <p:txBody>
          <a:bodyPr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smtClean="0">
                <a:ln>
                  <a:noFill/>
                </a:ln>
                <a:solidFill>
                  <a:schemeClr val="tx1"/>
                </a:solidFill>
                <a:effectLst/>
                <a:uLnTx/>
                <a:uFillTx/>
                <a:latin typeface="Cambria" pitchFamily="18" charset="0"/>
                <a:ea typeface="+mj-ea"/>
                <a:cs typeface="+mj-cs"/>
              </a:rPr>
              <a:t>Application of stacks :conversion from infix to postfix representation</a:t>
            </a:r>
            <a:endParaRPr kumimoji="0" lang="en-US" sz="2000" b="1" i="0" u="none" strike="noStrike" kern="1200" cap="none" spc="0" normalizeH="0" baseline="0" noProof="0" dirty="0">
              <a:ln>
                <a:noFill/>
              </a:ln>
              <a:solidFill>
                <a:schemeClr val="tx1"/>
              </a:solidFill>
              <a:effectLst/>
              <a:uLnTx/>
              <a:uFillTx/>
              <a:latin typeface="Cambria" pitchFamily="18" charset="0"/>
              <a:ea typeface="+mj-ea"/>
              <a:cs typeface="+mj-cs"/>
            </a:endParaRPr>
          </a:p>
        </p:txBody>
      </p:sp>
      <p:sp>
        <p:nvSpPr>
          <p:cNvPr id="5" name="Rectangle 2"/>
          <p:cNvSpPr>
            <a:spLocks noChangeArrowheads="1"/>
          </p:cNvSpPr>
          <p:nvPr/>
        </p:nvSpPr>
        <p:spPr bwMode="auto">
          <a:xfrm>
            <a:off x="1" y="2209801"/>
            <a:ext cx="3352800" cy="954107"/>
          </a:xfrm>
          <a:prstGeom prst="rect">
            <a:avLst/>
          </a:prstGeom>
          <a:noFill/>
          <a:ln w="9525">
            <a:noFill/>
            <a:miter lim="800000"/>
            <a:headEnd/>
            <a:tailEnd/>
          </a:ln>
        </p:spPr>
        <p:txBody>
          <a:bodyPr wrap="square" anchor="ctr">
            <a:spAutoFit/>
          </a:bodyPr>
          <a:lstStyle/>
          <a:p>
            <a:pPr algn="l" eaLnBrk="0" hangingPunct="0"/>
            <a:r>
              <a:rPr lang="en-US" sz="1400" i="0" dirty="0">
                <a:latin typeface="Times New Roman" pitchFamily="18" charset="0"/>
                <a:cs typeface="Times New Roman" pitchFamily="18" charset="0"/>
              </a:rPr>
              <a:t>Suppose we want to convert</a:t>
            </a:r>
            <a:r>
              <a:rPr lang="en-US" sz="1400" i="0" dirty="0">
                <a:solidFill>
                  <a:schemeClr val="hlink"/>
                </a:solidFill>
                <a:latin typeface="Times New Roman" pitchFamily="18" charset="0"/>
                <a:cs typeface="Times New Roman" pitchFamily="18" charset="0"/>
              </a:rPr>
              <a:t> </a:t>
            </a:r>
            <a:r>
              <a:rPr lang="en-US" sz="1400" dirty="0" smtClean="0">
                <a:solidFill>
                  <a:schemeClr val="hlink"/>
                </a:solidFill>
                <a:latin typeface="Times New Roman" pitchFamily="18" charset="0"/>
                <a:cs typeface="Times New Roman" pitchFamily="18" charset="0"/>
              </a:rPr>
              <a:t>(A+B)*(C-D) </a:t>
            </a:r>
            <a:r>
              <a:rPr lang="en-US" sz="1400" i="0" dirty="0" smtClean="0">
                <a:latin typeface="Times New Roman" pitchFamily="18" charset="0"/>
                <a:cs typeface="Times New Roman" pitchFamily="18" charset="0"/>
              </a:rPr>
              <a:t>into </a:t>
            </a:r>
            <a:r>
              <a:rPr lang="en-US" sz="1400" i="0" dirty="0">
                <a:latin typeface="Times New Roman" pitchFamily="18" charset="0"/>
                <a:cs typeface="Times New Roman" pitchFamily="18" charset="0"/>
              </a:rPr>
              <a:t>Postfix form</a:t>
            </a:r>
            <a:r>
              <a:rPr lang="en-US" sz="1400" i="0" dirty="0" smtClean="0">
                <a:solidFill>
                  <a:schemeClr val="hlink"/>
                </a:solidFill>
                <a:latin typeface="Times New Roman" pitchFamily="18" charset="0"/>
                <a:cs typeface="Times New Roman" pitchFamily="18" charset="0"/>
              </a:rPr>
              <a:t>,</a:t>
            </a:r>
          </a:p>
          <a:p>
            <a:pPr algn="l" eaLnBrk="0" hangingPunct="0"/>
            <a:r>
              <a:rPr lang="en-US" sz="1400" b="0" dirty="0" smtClean="0">
                <a:solidFill>
                  <a:schemeClr val="hlink"/>
                </a:solidFill>
                <a:latin typeface="Times New Roman" pitchFamily="18" charset="0"/>
                <a:cs typeface="Times New Roman" pitchFamily="18" charset="0"/>
              </a:rPr>
              <a:t>Push “(“ onto stack and add “)” to the end of expression.</a:t>
            </a:r>
            <a:endParaRPr lang="en-US" sz="1400" b="0" i="0" dirty="0">
              <a:solidFill>
                <a:schemeClr val="hlink"/>
              </a:solidFill>
            </a:endParaRPr>
          </a:p>
        </p:txBody>
      </p:sp>
      <p:graphicFrame>
        <p:nvGraphicFramePr>
          <p:cNvPr id="6" name="Table 5"/>
          <p:cNvGraphicFramePr>
            <a:graphicFrameLocks noGrp="1"/>
          </p:cNvGraphicFramePr>
          <p:nvPr/>
        </p:nvGraphicFramePr>
        <p:xfrm>
          <a:off x="3860800" y="990600"/>
          <a:ext cx="8127999" cy="48310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Symbol scanned</a:t>
                      </a:r>
                    </a:p>
                  </a:txBody>
                  <a:tcPr marL="121920" marR="12192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Stack</a:t>
                      </a:r>
                      <a:endParaRPr lang="en-US" b="1" dirty="0"/>
                    </a:p>
                  </a:txBody>
                  <a:tcPr marL="121920" marR="12192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Expression P</a:t>
                      </a:r>
                      <a:endParaRPr lang="en-US" b="1" dirty="0"/>
                    </a:p>
                  </a:txBody>
                  <a:tcPr marL="121920" marR="121920"/>
                </a:tc>
                <a:extLst>
                  <a:ext uri="{0D108BD9-81ED-4DB2-BD59-A6C34878D82A}">
                    <a16:rowId xmlns:a16="http://schemas.microsoft.com/office/drawing/2014/main" val="10000"/>
                  </a:ext>
                </a:extLst>
              </a:tr>
              <a:tr h="370840">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endParaRPr lang="en-US" b="1" dirty="0"/>
                    </a:p>
                  </a:txBody>
                  <a:tcPr marL="121920" marR="121920"/>
                </a:tc>
                <a:extLst>
                  <a:ext uri="{0D108BD9-81ED-4DB2-BD59-A6C34878D82A}">
                    <a16:rowId xmlns:a16="http://schemas.microsoft.com/office/drawing/2014/main" val="10001"/>
                  </a:ext>
                </a:extLst>
              </a:tr>
              <a:tr h="370840">
                <a:tc>
                  <a:txBody>
                    <a:bodyPr/>
                    <a:lstStyle/>
                    <a:p>
                      <a:r>
                        <a:rPr lang="en-US" b="1" dirty="0" smtClean="0"/>
                        <a:t>A</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a:t>
                      </a:r>
                      <a:endParaRPr lang="en-US" b="1" dirty="0"/>
                    </a:p>
                  </a:txBody>
                  <a:tcPr marL="121920" marR="121920"/>
                </a:tc>
                <a:extLst>
                  <a:ext uri="{0D108BD9-81ED-4DB2-BD59-A6C34878D82A}">
                    <a16:rowId xmlns:a16="http://schemas.microsoft.com/office/drawing/2014/main" val="10002"/>
                  </a:ext>
                </a:extLst>
              </a:tr>
              <a:tr h="370840">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a:t>
                      </a:r>
                      <a:endParaRPr lang="en-US" b="1" dirty="0"/>
                    </a:p>
                  </a:txBody>
                  <a:tcPr marL="121920" marR="121920"/>
                </a:tc>
                <a:extLst>
                  <a:ext uri="{0D108BD9-81ED-4DB2-BD59-A6C34878D82A}">
                    <a16:rowId xmlns:a16="http://schemas.microsoft.com/office/drawing/2014/main" val="10003"/>
                  </a:ext>
                </a:extLst>
              </a:tr>
              <a:tr h="370840">
                <a:tc>
                  <a:txBody>
                    <a:bodyPr/>
                    <a:lstStyle/>
                    <a:p>
                      <a:r>
                        <a:rPr lang="en-US" b="1" dirty="0" smtClean="0"/>
                        <a:t>B</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a:t>
                      </a:r>
                      <a:endParaRPr lang="en-US" b="1" dirty="0"/>
                    </a:p>
                  </a:txBody>
                  <a:tcPr marL="121920" marR="121920"/>
                </a:tc>
                <a:extLst>
                  <a:ext uri="{0D108BD9-81ED-4DB2-BD59-A6C34878D82A}">
                    <a16:rowId xmlns:a16="http://schemas.microsoft.com/office/drawing/2014/main" val="10004"/>
                  </a:ext>
                </a:extLst>
              </a:tr>
              <a:tr h="370840">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a:t>
                      </a:r>
                      <a:endParaRPr lang="en-US" b="1" dirty="0"/>
                    </a:p>
                  </a:txBody>
                  <a:tcPr marL="121920" marR="121920"/>
                </a:tc>
                <a:extLst>
                  <a:ext uri="{0D108BD9-81ED-4DB2-BD59-A6C34878D82A}">
                    <a16:rowId xmlns:a16="http://schemas.microsoft.com/office/drawing/2014/main" val="10005"/>
                  </a:ext>
                </a:extLst>
              </a:tr>
              <a:tr h="370840">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a:t>
                      </a:r>
                      <a:endParaRPr lang="en-US" b="1" dirty="0"/>
                    </a:p>
                  </a:txBody>
                  <a:tcPr marL="121920" marR="121920"/>
                </a:tc>
                <a:extLst>
                  <a:ext uri="{0D108BD9-81ED-4DB2-BD59-A6C34878D82A}">
                    <a16:rowId xmlns:a16="http://schemas.microsoft.com/office/drawing/2014/main" val="10006"/>
                  </a:ext>
                </a:extLst>
              </a:tr>
              <a:tr h="370840">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a:t>
                      </a:r>
                      <a:endParaRPr lang="en-US" b="1" dirty="0"/>
                    </a:p>
                  </a:txBody>
                  <a:tcPr marL="121920" marR="121920"/>
                </a:tc>
                <a:extLst>
                  <a:ext uri="{0D108BD9-81ED-4DB2-BD59-A6C34878D82A}">
                    <a16:rowId xmlns:a16="http://schemas.microsoft.com/office/drawing/2014/main" val="10007"/>
                  </a:ext>
                </a:extLst>
              </a:tr>
              <a:tr h="370840">
                <a:tc>
                  <a:txBody>
                    <a:bodyPr/>
                    <a:lstStyle/>
                    <a:p>
                      <a:r>
                        <a:rPr lang="en-US" b="1" dirty="0" smtClean="0"/>
                        <a:t>C</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AB+C</a:t>
                      </a:r>
                      <a:endParaRPr lang="en-US" b="1" dirty="0"/>
                    </a:p>
                  </a:txBody>
                  <a:tcPr marL="121920" marR="121920"/>
                </a:tc>
                <a:extLst>
                  <a:ext uri="{0D108BD9-81ED-4DB2-BD59-A6C34878D82A}">
                    <a16:rowId xmlns:a16="http://schemas.microsoft.com/office/drawing/2014/main" val="10008"/>
                  </a:ext>
                </a:extLst>
              </a:tr>
              <a:tr h="370840">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AB+C</a:t>
                      </a:r>
                      <a:endParaRPr lang="en-US" b="1" dirty="0"/>
                    </a:p>
                  </a:txBody>
                  <a:tcPr marL="121920" marR="121920"/>
                </a:tc>
                <a:extLst>
                  <a:ext uri="{0D108BD9-81ED-4DB2-BD59-A6C34878D82A}">
                    <a16:rowId xmlns:a16="http://schemas.microsoft.com/office/drawing/2014/main" val="10009"/>
                  </a:ext>
                </a:extLst>
              </a:tr>
              <a:tr h="370840">
                <a:tc>
                  <a:txBody>
                    <a:bodyPr/>
                    <a:lstStyle/>
                    <a:p>
                      <a:r>
                        <a:rPr lang="en-US" b="1" dirty="0" smtClean="0"/>
                        <a:t>D</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AB+CD</a:t>
                      </a:r>
                      <a:endParaRPr lang="en-US" b="1" dirty="0"/>
                    </a:p>
                  </a:txBody>
                  <a:tcPr marL="121920" marR="121920"/>
                </a:tc>
                <a:extLst>
                  <a:ext uri="{0D108BD9-81ED-4DB2-BD59-A6C34878D82A}">
                    <a16:rowId xmlns:a16="http://schemas.microsoft.com/office/drawing/2014/main" val="10010"/>
                  </a:ext>
                </a:extLst>
              </a:tr>
              <a:tr h="370840">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AB+CD-</a:t>
                      </a:r>
                      <a:endParaRPr lang="en-US" b="1" dirty="0"/>
                    </a:p>
                  </a:txBody>
                  <a:tcPr marL="121920" marR="121920"/>
                </a:tc>
                <a:extLst>
                  <a:ext uri="{0D108BD9-81ED-4DB2-BD59-A6C34878D82A}">
                    <a16:rowId xmlns:a16="http://schemas.microsoft.com/office/drawing/2014/main" val="10011"/>
                  </a:ext>
                </a:extLst>
              </a:tr>
              <a:tr h="370840">
                <a:tc>
                  <a:txBody>
                    <a:bodyPr/>
                    <a:lstStyle/>
                    <a:p>
                      <a:r>
                        <a:rPr lang="en-US" b="1" dirty="0" smtClean="0"/>
                        <a:t>)</a:t>
                      </a:r>
                      <a:endParaRPr lang="en-US" b="1" dirty="0"/>
                    </a:p>
                  </a:txBody>
                  <a:tcPr marL="121920" marR="121920"/>
                </a:tc>
                <a:tc>
                  <a:txBody>
                    <a:bodyPr/>
                    <a:lstStyle/>
                    <a:p>
                      <a:endParaRPr lang="en-US" b="1" dirty="0"/>
                    </a:p>
                  </a:txBody>
                  <a:tcPr marL="121920" marR="121920"/>
                </a:tc>
                <a:tc>
                  <a:txBody>
                    <a:bodyPr/>
                    <a:lstStyle/>
                    <a:p>
                      <a:r>
                        <a:rPr lang="en-US" b="1" dirty="0" smtClean="0"/>
                        <a:t>AB+CD-*</a:t>
                      </a:r>
                      <a:endParaRPr lang="en-US" b="1" dirty="0"/>
                    </a:p>
                  </a:txBody>
                  <a:tcPr marL="121920" marR="121920"/>
                </a:tc>
                <a:extLst>
                  <a:ext uri="{0D108BD9-81ED-4DB2-BD59-A6C34878D82A}">
                    <a16:rowId xmlns:a16="http://schemas.microsoft.com/office/drawing/2014/main" val="10012"/>
                  </a:ext>
                </a:extLst>
              </a:tr>
            </a:tbl>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074" y="0"/>
            <a:ext cx="10566400" cy="609600"/>
          </a:xfrm>
        </p:spPr>
        <p:txBody>
          <a:bodyPr/>
          <a:lstStyle/>
          <a:p>
            <a:pPr algn="l"/>
            <a:r>
              <a:rPr lang="en-US" sz="2000" dirty="0" smtClean="0"/>
              <a:t>Application of stacks :conversion from infix to postfix representation</a:t>
            </a:r>
            <a:endParaRPr lang="en-US" sz="2000" dirty="0"/>
          </a:p>
        </p:txBody>
      </p:sp>
      <p:sp>
        <p:nvSpPr>
          <p:cNvPr id="4" name="Rectangle 2"/>
          <p:cNvSpPr>
            <a:spLocks noChangeArrowheads="1"/>
          </p:cNvSpPr>
          <p:nvPr/>
        </p:nvSpPr>
        <p:spPr bwMode="auto">
          <a:xfrm>
            <a:off x="1" y="2209801"/>
            <a:ext cx="3352800" cy="954107"/>
          </a:xfrm>
          <a:prstGeom prst="rect">
            <a:avLst/>
          </a:prstGeom>
          <a:noFill/>
          <a:ln w="9525">
            <a:noFill/>
            <a:miter lim="800000"/>
            <a:headEnd/>
            <a:tailEnd/>
          </a:ln>
        </p:spPr>
        <p:txBody>
          <a:bodyPr wrap="square" anchor="ctr">
            <a:spAutoFit/>
          </a:bodyPr>
          <a:lstStyle/>
          <a:p>
            <a:pPr algn="l" eaLnBrk="0" hangingPunct="0"/>
            <a:r>
              <a:rPr lang="en-US" sz="1400" i="0" dirty="0">
                <a:latin typeface="Times New Roman" pitchFamily="18" charset="0"/>
                <a:cs typeface="Times New Roman" pitchFamily="18" charset="0"/>
              </a:rPr>
              <a:t>Suppose we want to convert</a:t>
            </a:r>
            <a:r>
              <a:rPr lang="en-US" sz="1400" i="0" dirty="0">
                <a:solidFill>
                  <a:schemeClr val="hlink"/>
                </a:solidFill>
                <a:latin typeface="Times New Roman" pitchFamily="18" charset="0"/>
                <a:cs typeface="Times New Roman" pitchFamily="18" charset="0"/>
              </a:rPr>
              <a:t> </a:t>
            </a:r>
            <a:r>
              <a:rPr lang="en-US" sz="1400" dirty="0" smtClean="0">
                <a:solidFill>
                  <a:schemeClr val="hlink"/>
                </a:solidFill>
                <a:latin typeface="Times New Roman" pitchFamily="18" charset="0"/>
                <a:cs typeface="Times New Roman" pitchFamily="18" charset="0"/>
              </a:rPr>
              <a:t>(A+B)*C – (D-E)^F</a:t>
            </a:r>
            <a:r>
              <a:rPr lang="en-US" sz="1400" i="0" dirty="0" smtClean="0">
                <a:solidFill>
                  <a:schemeClr val="hlink"/>
                </a:solidFill>
                <a:latin typeface="Times New Roman" pitchFamily="18" charset="0"/>
                <a:cs typeface="Times New Roman" pitchFamily="18" charset="0"/>
              </a:rPr>
              <a:t> </a:t>
            </a:r>
            <a:r>
              <a:rPr lang="en-US" sz="1400" i="0" dirty="0">
                <a:latin typeface="Times New Roman" pitchFamily="18" charset="0"/>
                <a:cs typeface="Times New Roman" pitchFamily="18" charset="0"/>
              </a:rPr>
              <a:t>into Postfix form</a:t>
            </a:r>
            <a:r>
              <a:rPr lang="en-US" sz="1400" i="0" dirty="0" smtClean="0">
                <a:solidFill>
                  <a:schemeClr val="hlink"/>
                </a:solidFill>
                <a:latin typeface="Times New Roman" pitchFamily="18" charset="0"/>
                <a:cs typeface="Times New Roman" pitchFamily="18" charset="0"/>
              </a:rPr>
              <a:t>,</a:t>
            </a:r>
          </a:p>
          <a:p>
            <a:pPr algn="l" eaLnBrk="0" hangingPunct="0"/>
            <a:r>
              <a:rPr lang="en-US" sz="1400" b="0" dirty="0" smtClean="0">
                <a:solidFill>
                  <a:schemeClr val="hlink"/>
                </a:solidFill>
                <a:latin typeface="Times New Roman" pitchFamily="18" charset="0"/>
                <a:cs typeface="Times New Roman" pitchFamily="18" charset="0"/>
              </a:rPr>
              <a:t>Push “(“ onto stack and add “)” to the end of expression.</a:t>
            </a:r>
            <a:endParaRPr lang="en-US" sz="1400" b="0" i="0" dirty="0">
              <a:solidFill>
                <a:schemeClr val="hlink"/>
              </a:solidFill>
            </a:endParaRPr>
          </a:p>
        </p:txBody>
      </p:sp>
      <p:graphicFrame>
        <p:nvGraphicFramePr>
          <p:cNvPr id="20" name="Table 19"/>
          <p:cNvGraphicFramePr>
            <a:graphicFrameLocks noGrp="1"/>
          </p:cNvGraphicFramePr>
          <p:nvPr/>
        </p:nvGraphicFramePr>
        <p:xfrm>
          <a:off x="3722914" y="535576"/>
          <a:ext cx="8020593" cy="6217920"/>
        </p:xfrm>
        <a:graphic>
          <a:graphicData uri="http://schemas.openxmlformats.org/drawingml/2006/table">
            <a:tbl>
              <a:tblPr firstRow="1" bandRow="1">
                <a:tableStyleId>{5C22544A-7EE6-4342-B048-85BDC9FD1C3A}</a:tableStyleId>
              </a:tblPr>
              <a:tblGrid>
                <a:gridCol w="2673531">
                  <a:extLst>
                    <a:ext uri="{9D8B030D-6E8A-4147-A177-3AD203B41FA5}">
                      <a16:colId xmlns:a16="http://schemas.microsoft.com/office/drawing/2014/main" val="20000"/>
                    </a:ext>
                  </a:extLst>
                </a:gridCol>
                <a:gridCol w="2673531">
                  <a:extLst>
                    <a:ext uri="{9D8B030D-6E8A-4147-A177-3AD203B41FA5}">
                      <a16:colId xmlns:a16="http://schemas.microsoft.com/office/drawing/2014/main" val="20001"/>
                    </a:ext>
                  </a:extLst>
                </a:gridCol>
                <a:gridCol w="2673531">
                  <a:extLst>
                    <a:ext uri="{9D8B030D-6E8A-4147-A177-3AD203B41FA5}">
                      <a16:colId xmlns:a16="http://schemas.microsoft.com/office/drawing/2014/main" val="20002"/>
                    </a:ext>
                  </a:extLst>
                </a:gridCol>
              </a:tblGrid>
              <a:tr h="34526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Symbol scanned</a:t>
                      </a:r>
                    </a:p>
                  </a:txBody>
                  <a:tcPr marL="121920" marR="12192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Stack</a:t>
                      </a:r>
                      <a:endParaRPr lang="en-US" b="1" dirty="0"/>
                    </a:p>
                  </a:txBody>
                  <a:tcPr marL="121920" marR="12192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Expression P</a:t>
                      </a:r>
                      <a:endParaRPr lang="en-US" b="1" dirty="0"/>
                    </a:p>
                  </a:txBody>
                  <a:tcPr marL="121920" marR="121920"/>
                </a:tc>
                <a:extLst>
                  <a:ext uri="{0D108BD9-81ED-4DB2-BD59-A6C34878D82A}">
                    <a16:rowId xmlns:a16="http://schemas.microsoft.com/office/drawing/2014/main" val="10000"/>
                  </a:ext>
                </a:extLst>
              </a:tr>
              <a:tr h="345269">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endParaRPr lang="en-US" b="1" dirty="0"/>
                    </a:p>
                  </a:txBody>
                  <a:tcPr marL="121920" marR="121920"/>
                </a:tc>
                <a:extLst>
                  <a:ext uri="{0D108BD9-81ED-4DB2-BD59-A6C34878D82A}">
                    <a16:rowId xmlns:a16="http://schemas.microsoft.com/office/drawing/2014/main" val="10001"/>
                  </a:ext>
                </a:extLst>
              </a:tr>
              <a:tr h="345269">
                <a:tc>
                  <a:txBody>
                    <a:bodyPr/>
                    <a:lstStyle/>
                    <a:p>
                      <a:r>
                        <a:rPr lang="en-US" b="1" dirty="0" smtClean="0"/>
                        <a:t>A</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a:t>
                      </a:r>
                      <a:endParaRPr lang="en-US" b="1" dirty="0"/>
                    </a:p>
                  </a:txBody>
                  <a:tcPr marL="121920" marR="121920"/>
                </a:tc>
                <a:extLst>
                  <a:ext uri="{0D108BD9-81ED-4DB2-BD59-A6C34878D82A}">
                    <a16:rowId xmlns:a16="http://schemas.microsoft.com/office/drawing/2014/main" val="10002"/>
                  </a:ext>
                </a:extLst>
              </a:tr>
              <a:tr h="345269">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a:t>
                      </a:r>
                      <a:endParaRPr lang="en-US" b="1" dirty="0"/>
                    </a:p>
                  </a:txBody>
                  <a:tcPr marL="121920" marR="121920"/>
                </a:tc>
                <a:extLst>
                  <a:ext uri="{0D108BD9-81ED-4DB2-BD59-A6C34878D82A}">
                    <a16:rowId xmlns:a16="http://schemas.microsoft.com/office/drawing/2014/main" val="10003"/>
                  </a:ext>
                </a:extLst>
              </a:tr>
              <a:tr h="345269">
                <a:tc>
                  <a:txBody>
                    <a:bodyPr/>
                    <a:lstStyle/>
                    <a:p>
                      <a:r>
                        <a:rPr lang="en-US" b="1" dirty="0" smtClean="0"/>
                        <a:t>B</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a:t>
                      </a:r>
                      <a:endParaRPr lang="en-US" b="1" dirty="0"/>
                    </a:p>
                  </a:txBody>
                  <a:tcPr marL="121920" marR="121920"/>
                </a:tc>
                <a:extLst>
                  <a:ext uri="{0D108BD9-81ED-4DB2-BD59-A6C34878D82A}">
                    <a16:rowId xmlns:a16="http://schemas.microsoft.com/office/drawing/2014/main" val="10004"/>
                  </a:ext>
                </a:extLst>
              </a:tr>
              <a:tr h="345269">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a:t>
                      </a:r>
                      <a:endParaRPr lang="en-US" b="1" dirty="0"/>
                    </a:p>
                  </a:txBody>
                  <a:tcPr marL="121920" marR="121920"/>
                </a:tc>
                <a:extLst>
                  <a:ext uri="{0D108BD9-81ED-4DB2-BD59-A6C34878D82A}">
                    <a16:rowId xmlns:a16="http://schemas.microsoft.com/office/drawing/2014/main" val="10005"/>
                  </a:ext>
                </a:extLst>
              </a:tr>
              <a:tr h="345269">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a:t>
                      </a:r>
                      <a:endParaRPr lang="en-US" b="1" dirty="0"/>
                    </a:p>
                  </a:txBody>
                  <a:tcPr marL="121920" marR="121920"/>
                </a:tc>
                <a:extLst>
                  <a:ext uri="{0D108BD9-81ED-4DB2-BD59-A6C34878D82A}">
                    <a16:rowId xmlns:a16="http://schemas.microsoft.com/office/drawing/2014/main" val="10006"/>
                  </a:ext>
                </a:extLst>
              </a:tr>
              <a:tr h="345269">
                <a:tc>
                  <a:txBody>
                    <a:bodyPr/>
                    <a:lstStyle/>
                    <a:p>
                      <a:r>
                        <a:rPr lang="en-US" b="1" dirty="0" smtClean="0"/>
                        <a:t>C</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AB+C</a:t>
                      </a:r>
                      <a:endParaRPr lang="en-US" b="1" dirty="0"/>
                    </a:p>
                  </a:txBody>
                  <a:tcPr marL="121920" marR="121920"/>
                </a:tc>
                <a:extLst>
                  <a:ext uri="{0D108BD9-81ED-4DB2-BD59-A6C34878D82A}">
                    <a16:rowId xmlns:a16="http://schemas.microsoft.com/office/drawing/2014/main" val="10007"/>
                  </a:ext>
                </a:extLst>
              </a:tr>
              <a:tr h="345269">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AB+C*</a:t>
                      </a:r>
                      <a:endParaRPr lang="en-US" b="1" dirty="0"/>
                    </a:p>
                  </a:txBody>
                  <a:tcPr marL="121920" marR="121920"/>
                </a:tc>
                <a:extLst>
                  <a:ext uri="{0D108BD9-81ED-4DB2-BD59-A6C34878D82A}">
                    <a16:rowId xmlns:a16="http://schemas.microsoft.com/office/drawing/2014/main" val="10008"/>
                  </a:ext>
                </a:extLst>
              </a:tr>
              <a:tr h="345269">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AB+C*</a:t>
                      </a:r>
                      <a:endParaRPr lang="en-US" b="1" dirty="0"/>
                    </a:p>
                  </a:txBody>
                  <a:tcPr marL="121920" marR="121920"/>
                </a:tc>
                <a:extLst>
                  <a:ext uri="{0D108BD9-81ED-4DB2-BD59-A6C34878D82A}">
                    <a16:rowId xmlns:a16="http://schemas.microsoft.com/office/drawing/2014/main" val="10009"/>
                  </a:ext>
                </a:extLst>
              </a:tr>
              <a:tr h="345269">
                <a:tc>
                  <a:txBody>
                    <a:bodyPr/>
                    <a:lstStyle/>
                    <a:p>
                      <a:r>
                        <a:rPr lang="en-US" b="1" dirty="0" smtClean="0"/>
                        <a:t>D</a:t>
                      </a:r>
                      <a:endParaRPr lang="en-US" b="1" dirty="0"/>
                    </a:p>
                  </a:txBody>
                  <a:tcPr marL="121920" marR="121920"/>
                </a:tc>
                <a:tc>
                  <a:txBody>
                    <a:bodyPr/>
                    <a:lstStyle/>
                    <a:p>
                      <a:r>
                        <a:rPr lang="en-US" b="1" dirty="0" smtClean="0"/>
                        <a:t>(-(</a:t>
                      </a:r>
                      <a:endParaRPr lang="en-US" b="1" dirty="0"/>
                    </a:p>
                  </a:txBody>
                  <a:tcPr marL="121920" marR="121920"/>
                </a:tc>
                <a:tc>
                  <a:txBody>
                    <a:bodyPr/>
                    <a:lstStyle/>
                    <a:p>
                      <a:r>
                        <a:rPr lang="en-US" b="1" dirty="0" smtClean="0"/>
                        <a:t>AB+C*D</a:t>
                      </a:r>
                      <a:endParaRPr lang="en-US" b="1" dirty="0"/>
                    </a:p>
                  </a:txBody>
                  <a:tcPr marL="121920" marR="121920"/>
                </a:tc>
                <a:extLst>
                  <a:ext uri="{0D108BD9-81ED-4DB2-BD59-A6C34878D82A}">
                    <a16:rowId xmlns:a16="http://schemas.microsoft.com/office/drawing/2014/main" val="10010"/>
                  </a:ext>
                </a:extLst>
              </a:tr>
              <a:tr h="345269">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AB+C*D</a:t>
                      </a:r>
                    </a:p>
                  </a:txBody>
                  <a:tcPr marL="121920" marR="121920"/>
                </a:tc>
                <a:extLst>
                  <a:ext uri="{0D108BD9-81ED-4DB2-BD59-A6C34878D82A}">
                    <a16:rowId xmlns:a16="http://schemas.microsoft.com/office/drawing/2014/main" val="10011"/>
                  </a:ext>
                </a:extLst>
              </a:tr>
              <a:tr h="345269">
                <a:tc>
                  <a:txBody>
                    <a:bodyPr/>
                    <a:lstStyle/>
                    <a:p>
                      <a:r>
                        <a:rPr lang="en-US" b="1" dirty="0" smtClean="0"/>
                        <a:t>E</a:t>
                      </a:r>
                      <a:endParaRPr lang="en-US" b="1" dirty="0"/>
                    </a:p>
                  </a:txBody>
                  <a:tcPr marL="121920" marR="121920"/>
                </a:tc>
                <a:tc>
                  <a:txBody>
                    <a:bodyPr/>
                    <a:lstStyle/>
                    <a:p>
                      <a:r>
                        <a:rPr lang="en-US" b="1" dirty="0" smtClean="0"/>
                        <a:t>(-(-</a:t>
                      </a:r>
                      <a:endParaRPr lang="en-US"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AB+C*DE</a:t>
                      </a:r>
                    </a:p>
                  </a:txBody>
                  <a:tcPr marL="121920" marR="121920"/>
                </a:tc>
                <a:extLst>
                  <a:ext uri="{0D108BD9-81ED-4DB2-BD59-A6C34878D82A}">
                    <a16:rowId xmlns:a16="http://schemas.microsoft.com/office/drawing/2014/main" val="10012"/>
                  </a:ext>
                </a:extLst>
              </a:tr>
              <a:tr h="345269">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AB+C*DE-</a:t>
                      </a:r>
                    </a:p>
                  </a:txBody>
                  <a:tcPr marL="121920" marR="121920"/>
                </a:tc>
                <a:extLst>
                  <a:ext uri="{0D108BD9-81ED-4DB2-BD59-A6C34878D82A}">
                    <a16:rowId xmlns:a16="http://schemas.microsoft.com/office/drawing/2014/main" val="10013"/>
                  </a:ext>
                </a:extLst>
              </a:tr>
              <a:tr h="345269">
                <a:tc>
                  <a:txBody>
                    <a:bodyPr/>
                    <a:lstStyle/>
                    <a:p>
                      <a:r>
                        <a:rPr lang="en-US" b="1" dirty="0" smtClean="0"/>
                        <a:t>^</a:t>
                      </a:r>
                      <a:endParaRPr lang="en-US" b="1" dirty="0"/>
                    </a:p>
                  </a:txBody>
                  <a:tcPr marL="121920" marR="121920"/>
                </a:tc>
                <a:tc>
                  <a:txBody>
                    <a:bodyPr/>
                    <a:lstStyle/>
                    <a:p>
                      <a:r>
                        <a:rPr lang="en-US" b="1" dirty="0" smtClean="0"/>
                        <a:t>(-^</a:t>
                      </a:r>
                      <a:endParaRPr lang="en-US"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AB+C*DE-</a:t>
                      </a:r>
                    </a:p>
                  </a:txBody>
                  <a:tcPr marL="121920" marR="121920"/>
                </a:tc>
                <a:extLst>
                  <a:ext uri="{0D108BD9-81ED-4DB2-BD59-A6C34878D82A}">
                    <a16:rowId xmlns:a16="http://schemas.microsoft.com/office/drawing/2014/main" val="10014"/>
                  </a:ext>
                </a:extLst>
              </a:tr>
              <a:tr h="345269">
                <a:tc>
                  <a:txBody>
                    <a:bodyPr/>
                    <a:lstStyle/>
                    <a:p>
                      <a:r>
                        <a:rPr lang="en-US" b="1" dirty="0" smtClean="0"/>
                        <a:t>F</a:t>
                      </a:r>
                      <a:endParaRPr lang="en-US" b="1" dirty="0"/>
                    </a:p>
                  </a:txBody>
                  <a:tcPr marL="121920" marR="121920"/>
                </a:tc>
                <a:tc>
                  <a:txBody>
                    <a:bodyPr/>
                    <a:lstStyle/>
                    <a:p>
                      <a:r>
                        <a:rPr lang="en-US" b="1" dirty="0" smtClean="0"/>
                        <a:t>(-^</a:t>
                      </a:r>
                      <a:endParaRPr lang="en-US"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AB+C*DE-F</a:t>
                      </a:r>
                    </a:p>
                  </a:txBody>
                  <a:tcPr marL="121920" marR="121920"/>
                </a:tc>
                <a:extLst>
                  <a:ext uri="{0D108BD9-81ED-4DB2-BD59-A6C34878D82A}">
                    <a16:rowId xmlns:a16="http://schemas.microsoft.com/office/drawing/2014/main" val="10015"/>
                  </a:ext>
                </a:extLst>
              </a:tr>
              <a:tr h="345269">
                <a:tc>
                  <a:txBody>
                    <a:bodyPr/>
                    <a:lstStyle/>
                    <a:p>
                      <a:r>
                        <a:rPr lang="en-US" b="1" dirty="0" smtClean="0"/>
                        <a:t>)</a:t>
                      </a:r>
                      <a:endParaRPr lang="en-US" b="1" dirty="0"/>
                    </a:p>
                  </a:txBody>
                  <a:tcPr marL="121920" marR="121920"/>
                </a:tc>
                <a:tc>
                  <a:txBody>
                    <a:bodyPr/>
                    <a:lstStyle/>
                    <a:p>
                      <a:endParaRPr lang="en-US" b="1"/>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AB+C*DE-F^-</a:t>
                      </a:r>
                    </a:p>
                  </a:txBody>
                  <a:tcPr marL="121920" marR="121920"/>
                </a:tc>
                <a:extLst>
                  <a:ext uri="{0D108BD9-81ED-4DB2-BD59-A6C34878D82A}">
                    <a16:rowId xmlns:a16="http://schemas.microsoft.com/office/drawing/2014/main" val="10016"/>
                  </a:ext>
                </a:extLst>
              </a:tr>
            </a:tbl>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1676400"/>
            <a:ext cx="3352800" cy="609600"/>
          </a:xfrm>
        </p:spPr>
        <p:txBody>
          <a:bodyPr>
            <a:normAutofit fontScale="90000"/>
          </a:bodyPr>
          <a:lstStyle/>
          <a:p>
            <a:pPr algn="l"/>
            <a:r>
              <a:rPr lang="en-US" sz="2000" dirty="0" smtClean="0"/>
              <a:t>Application of stacks :conversion from infix to postfix representation</a:t>
            </a:r>
            <a:endParaRPr lang="en-US" sz="2000" dirty="0"/>
          </a:p>
        </p:txBody>
      </p:sp>
      <p:sp>
        <p:nvSpPr>
          <p:cNvPr id="4" name="Rectangle 2"/>
          <p:cNvSpPr>
            <a:spLocks noChangeArrowheads="1"/>
          </p:cNvSpPr>
          <p:nvPr/>
        </p:nvSpPr>
        <p:spPr bwMode="auto">
          <a:xfrm>
            <a:off x="1" y="3223736"/>
            <a:ext cx="3352800" cy="523220"/>
          </a:xfrm>
          <a:prstGeom prst="rect">
            <a:avLst/>
          </a:prstGeom>
          <a:noFill/>
          <a:ln w="9525">
            <a:noFill/>
            <a:miter lim="800000"/>
            <a:headEnd/>
            <a:tailEnd/>
          </a:ln>
        </p:spPr>
        <p:txBody>
          <a:bodyPr wrap="square" anchor="ctr">
            <a:spAutoFit/>
          </a:bodyPr>
          <a:lstStyle/>
          <a:p>
            <a:pPr algn="l" eaLnBrk="0" hangingPunct="0"/>
            <a:r>
              <a:rPr lang="en-US" sz="1400" i="0" dirty="0">
                <a:latin typeface="Times New Roman" pitchFamily="18" charset="0"/>
                <a:cs typeface="Times New Roman" pitchFamily="18" charset="0"/>
              </a:rPr>
              <a:t>Suppose we want to convert</a:t>
            </a:r>
            <a:r>
              <a:rPr lang="en-US" sz="1400" i="0" dirty="0">
                <a:solidFill>
                  <a:schemeClr val="hlink"/>
                </a:solidFill>
                <a:latin typeface="Times New Roman" pitchFamily="18" charset="0"/>
                <a:cs typeface="Times New Roman" pitchFamily="18" charset="0"/>
              </a:rPr>
              <a:t> </a:t>
            </a:r>
            <a:r>
              <a:rPr lang="en-US" sz="1400" dirty="0" smtClean="0">
                <a:solidFill>
                  <a:schemeClr val="hlink"/>
                </a:solidFill>
                <a:latin typeface="Times New Roman" pitchFamily="18" charset="0"/>
                <a:cs typeface="Times New Roman" pitchFamily="18" charset="0"/>
              </a:rPr>
              <a:t>A+(B*C-(D/E^F)*G)*H </a:t>
            </a:r>
            <a:r>
              <a:rPr lang="en-US" sz="1400" i="0" dirty="0" smtClean="0">
                <a:latin typeface="Times New Roman" pitchFamily="18" charset="0"/>
                <a:cs typeface="Times New Roman" pitchFamily="18" charset="0"/>
              </a:rPr>
              <a:t>into </a:t>
            </a:r>
            <a:r>
              <a:rPr lang="en-US" sz="1400" i="0" dirty="0">
                <a:latin typeface="Times New Roman" pitchFamily="18" charset="0"/>
                <a:cs typeface="Times New Roman" pitchFamily="18" charset="0"/>
              </a:rPr>
              <a:t>Postfix form</a:t>
            </a:r>
            <a:r>
              <a:rPr lang="en-US" sz="1400" i="0" dirty="0" smtClean="0">
                <a:solidFill>
                  <a:schemeClr val="hlink"/>
                </a:solidFill>
                <a:latin typeface="Times New Roman" pitchFamily="18" charset="0"/>
                <a:cs typeface="Times New Roman" pitchFamily="18" charset="0"/>
              </a:rPr>
              <a:t>,</a:t>
            </a:r>
          </a:p>
        </p:txBody>
      </p:sp>
      <p:graphicFrame>
        <p:nvGraphicFramePr>
          <p:cNvPr id="20" name="Table 19"/>
          <p:cNvGraphicFramePr>
            <a:graphicFrameLocks noGrp="1"/>
          </p:cNvGraphicFramePr>
          <p:nvPr/>
        </p:nvGraphicFramePr>
        <p:xfrm>
          <a:off x="3759200" y="86360"/>
          <a:ext cx="8127999" cy="66192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Symbol scanned</a:t>
                      </a:r>
                    </a:p>
                  </a:txBody>
                  <a:tcPr marL="121920" marR="12192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Stack</a:t>
                      </a:r>
                      <a:endParaRPr lang="en-US" b="1" dirty="0"/>
                    </a:p>
                  </a:txBody>
                  <a:tcPr marL="121920" marR="12192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Expression P</a:t>
                      </a:r>
                      <a:endParaRPr lang="en-US" b="1" dirty="0"/>
                    </a:p>
                  </a:txBody>
                  <a:tcPr marL="121920" marR="121920"/>
                </a:tc>
                <a:extLst>
                  <a:ext uri="{0D108BD9-81ED-4DB2-BD59-A6C34878D82A}">
                    <a16:rowId xmlns:a16="http://schemas.microsoft.com/office/drawing/2014/main" val="10000"/>
                  </a:ext>
                </a:extLst>
              </a:tr>
              <a:tr h="228600">
                <a:tc>
                  <a:txBody>
                    <a:bodyPr/>
                    <a:lstStyle/>
                    <a:p>
                      <a:r>
                        <a:rPr lang="en-US" sz="1400" b="1" dirty="0" smtClean="0"/>
                        <a:t>A</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a:t>
                      </a:r>
                      <a:endParaRPr lang="en-US" sz="1400" b="1" dirty="0"/>
                    </a:p>
                  </a:txBody>
                  <a:tcPr marL="121920" marR="121920"/>
                </a:tc>
                <a:extLst>
                  <a:ext uri="{0D108BD9-81ED-4DB2-BD59-A6C34878D82A}">
                    <a16:rowId xmlns:a16="http://schemas.microsoft.com/office/drawing/2014/main" val="10001"/>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a:t>
                      </a:r>
                      <a:endParaRPr lang="en-US" sz="1400" b="1" dirty="0"/>
                    </a:p>
                  </a:txBody>
                  <a:tcPr marL="121920" marR="121920"/>
                </a:tc>
                <a:extLst>
                  <a:ext uri="{0D108BD9-81ED-4DB2-BD59-A6C34878D82A}">
                    <a16:rowId xmlns:a16="http://schemas.microsoft.com/office/drawing/2014/main" val="10002"/>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a:t>
                      </a:r>
                      <a:endParaRPr lang="en-US" sz="1400" b="1" dirty="0"/>
                    </a:p>
                  </a:txBody>
                  <a:tcPr marL="121920" marR="121920"/>
                </a:tc>
                <a:extLst>
                  <a:ext uri="{0D108BD9-81ED-4DB2-BD59-A6C34878D82A}">
                    <a16:rowId xmlns:a16="http://schemas.microsoft.com/office/drawing/2014/main" val="10003"/>
                  </a:ext>
                </a:extLst>
              </a:tr>
              <a:tr h="228600">
                <a:tc>
                  <a:txBody>
                    <a:bodyPr/>
                    <a:lstStyle/>
                    <a:p>
                      <a:r>
                        <a:rPr lang="en-US" sz="1400" b="1" dirty="0" smtClean="0"/>
                        <a:t>B</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a:t>
                      </a:r>
                      <a:endParaRPr lang="en-US" sz="1400" b="1" dirty="0"/>
                    </a:p>
                  </a:txBody>
                  <a:tcPr marL="121920" marR="121920"/>
                </a:tc>
                <a:extLst>
                  <a:ext uri="{0D108BD9-81ED-4DB2-BD59-A6C34878D82A}">
                    <a16:rowId xmlns:a16="http://schemas.microsoft.com/office/drawing/2014/main" val="10004"/>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a:t>
                      </a:r>
                      <a:endParaRPr lang="en-US" sz="1400" b="1" dirty="0"/>
                    </a:p>
                  </a:txBody>
                  <a:tcPr marL="121920" marR="121920"/>
                </a:tc>
                <a:extLst>
                  <a:ext uri="{0D108BD9-81ED-4DB2-BD59-A6C34878D82A}">
                    <a16:rowId xmlns:a16="http://schemas.microsoft.com/office/drawing/2014/main" val="10005"/>
                  </a:ext>
                </a:extLst>
              </a:tr>
              <a:tr h="304800">
                <a:tc>
                  <a:txBody>
                    <a:bodyPr/>
                    <a:lstStyle/>
                    <a:p>
                      <a:r>
                        <a:rPr lang="en-US" sz="1400" b="1" dirty="0" smtClean="0"/>
                        <a:t>C</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ABC</a:t>
                      </a:r>
                      <a:endParaRPr lang="en-US" sz="1400" b="1" dirty="0"/>
                    </a:p>
                  </a:txBody>
                  <a:tcPr marL="121920" marR="121920"/>
                </a:tc>
                <a:extLst>
                  <a:ext uri="{0D108BD9-81ED-4DB2-BD59-A6C34878D82A}">
                    <a16:rowId xmlns:a16="http://schemas.microsoft.com/office/drawing/2014/main" val="10006"/>
                  </a:ext>
                </a:extLst>
              </a:tr>
              <a:tr h="28956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ABC*</a:t>
                      </a:r>
                      <a:endParaRPr lang="en-US" sz="1400" b="1" dirty="0"/>
                    </a:p>
                  </a:txBody>
                  <a:tcPr marL="121920" marR="121920"/>
                </a:tc>
                <a:extLst>
                  <a:ext uri="{0D108BD9-81ED-4DB2-BD59-A6C34878D82A}">
                    <a16:rowId xmlns:a16="http://schemas.microsoft.com/office/drawing/2014/main" val="10007"/>
                  </a:ext>
                </a:extLst>
              </a:tr>
              <a:tr h="3048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ABC*</a:t>
                      </a:r>
                      <a:endParaRPr lang="en-US" sz="1400" b="1" dirty="0"/>
                    </a:p>
                  </a:txBody>
                  <a:tcPr marL="121920" marR="121920"/>
                </a:tc>
                <a:extLst>
                  <a:ext uri="{0D108BD9-81ED-4DB2-BD59-A6C34878D82A}">
                    <a16:rowId xmlns:a16="http://schemas.microsoft.com/office/drawing/2014/main" val="10008"/>
                  </a:ext>
                </a:extLst>
              </a:tr>
              <a:tr h="228600">
                <a:tc>
                  <a:txBody>
                    <a:bodyPr/>
                    <a:lstStyle/>
                    <a:p>
                      <a:r>
                        <a:rPr lang="en-US" sz="1400" b="1" dirty="0" smtClean="0"/>
                        <a:t>D</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ABC*D</a:t>
                      </a:r>
                      <a:endParaRPr lang="en-US" sz="1400" b="1" dirty="0"/>
                    </a:p>
                  </a:txBody>
                  <a:tcPr marL="121920" marR="121920"/>
                </a:tc>
                <a:extLst>
                  <a:ext uri="{0D108BD9-81ED-4DB2-BD59-A6C34878D82A}">
                    <a16:rowId xmlns:a16="http://schemas.microsoft.com/office/drawing/2014/main" val="10009"/>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a:t>
                      </a:r>
                    </a:p>
                  </a:txBody>
                  <a:tcPr marL="121920" marR="121920"/>
                </a:tc>
                <a:extLst>
                  <a:ext uri="{0D108BD9-81ED-4DB2-BD59-A6C34878D82A}">
                    <a16:rowId xmlns:a16="http://schemas.microsoft.com/office/drawing/2014/main" val="10010"/>
                  </a:ext>
                </a:extLst>
              </a:tr>
              <a:tr h="228600">
                <a:tc>
                  <a:txBody>
                    <a:bodyPr/>
                    <a:lstStyle/>
                    <a:p>
                      <a:r>
                        <a:rPr lang="en-US" sz="1400" b="1" dirty="0" smtClean="0"/>
                        <a:t>E</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a:t>
                      </a:r>
                    </a:p>
                  </a:txBody>
                  <a:tcPr marL="121920" marR="121920"/>
                </a:tc>
                <a:extLst>
                  <a:ext uri="{0D108BD9-81ED-4DB2-BD59-A6C34878D82A}">
                    <a16:rowId xmlns:a16="http://schemas.microsoft.com/office/drawing/2014/main" val="10011"/>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a:t>
                      </a:r>
                    </a:p>
                  </a:txBody>
                  <a:tcPr marL="121920" marR="121920"/>
                </a:tc>
                <a:extLst>
                  <a:ext uri="{0D108BD9-81ED-4DB2-BD59-A6C34878D82A}">
                    <a16:rowId xmlns:a16="http://schemas.microsoft.com/office/drawing/2014/main" val="10012"/>
                  </a:ext>
                </a:extLst>
              </a:tr>
              <a:tr h="304800">
                <a:tc>
                  <a:txBody>
                    <a:bodyPr/>
                    <a:lstStyle/>
                    <a:p>
                      <a:r>
                        <a:rPr lang="en-US" sz="1400" b="1" dirty="0" smtClean="0"/>
                        <a:t>F</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a:t>
                      </a:r>
                    </a:p>
                  </a:txBody>
                  <a:tcPr marL="121920" marR="121920"/>
                </a:tc>
                <a:extLst>
                  <a:ext uri="{0D108BD9-81ED-4DB2-BD59-A6C34878D82A}">
                    <a16:rowId xmlns:a16="http://schemas.microsoft.com/office/drawing/2014/main" val="10013"/>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a:t>
                      </a:r>
                    </a:p>
                  </a:txBody>
                  <a:tcPr marL="121920" marR="121920"/>
                </a:tc>
                <a:extLst>
                  <a:ext uri="{0D108BD9-81ED-4DB2-BD59-A6C34878D82A}">
                    <a16:rowId xmlns:a16="http://schemas.microsoft.com/office/drawing/2014/main" val="10014"/>
                  </a:ext>
                </a:extLst>
              </a:tr>
              <a:tr h="152400">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a:t>
                      </a:r>
                    </a:p>
                  </a:txBody>
                  <a:tcPr marL="121920" marR="121920"/>
                </a:tc>
                <a:extLst>
                  <a:ext uri="{0D108BD9-81ED-4DB2-BD59-A6C34878D82A}">
                    <a16:rowId xmlns:a16="http://schemas.microsoft.com/office/drawing/2014/main" val="10015"/>
                  </a:ext>
                </a:extLst>
              </a:tr>
              <a:tr h="238760">
                <a:tc>
                  <a:txBody>
                    <a:bodyPr/>
                    <a:lstStyle/>
                    <a:p>
                      <a:r>
                        <a:rPr lang="en-US" sz="1400" b="1" dirty="0" smtClean="0"/>
                        <a:t>G</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t>
                      </a: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a:t>
                      </a:r>
                    </a:p>
                  </a:txBody>
                  <a:tcPr marL="121920" marR="121920"/>
                </a:tc>
                <a:extLst>
                  <a:ext uri="{0D108BD9-81ED-4DB2-BD59-A6C34878D82A}">
                    <a16:rowId xmlns:a16="http://schemas.microsoft.com/office/drawing/2014/main" val="10016"/>
                  </a:ext>
                </a:extLst>
              </a:tr>
              <a:tr h="16256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a:t>
                      </a:r>
                    </a:p>
                  </a:txBody>
                  <a:tcPr marL="121920" marR="121920"/>
                </a:tc>
                <a:extLst>
                  <a:ext uri="{0D108BD9-81ED-4DB2-BD59-A6C34878D82A}">
                    <a16:rowId xmlns:a16="http://schemas.microsoft.com/office/drawing/2014/main" val="10017"/>
                  </a:ext>
                </a:extLst>
              </a:tr>
              <a:tr h="16256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a:t>
                      </a:r>
                    </a:p>
                  </a:txBody>
                  <a:tcPr marL="121920" marR="121920"/>
                </a:tc>
                <a:extLst>
                  <a:ext uri="{0D108BD9-81ED-4DB2-BD59-A6C34878D82A}">
                    <a16:rowId xmlns:a16="http://schemas.microsoft.com/office/drawing/2014/main" val="10018"/>
                  </a:ext>
                </a:extLst>
              </a:tr>
              <a:tr h="0">
                <a:tc>
                  <a:txBody>
                    <a:bodyPr/>
                    <a:lstStyle/>
                    <a:p>
                      <a:r>
                        <a:rPr lang="en-US" sz="1400" b="1" dirty="0" smtClean="0"/>
                        <a:t>H</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ABC*DEF^/G*-H</a:t>
                      </a:r>
                    </a:p>
                  </a:txBody>
                  <a:tcPr marL="121920" marR="121920"/>
                </a:tc>
                <a:extLst>
                  <a:ext uri="{0D108BD9-81ED-4DB2-BD59-A6C34878D82A}">
                    <a16:rowId xmlns:a16="http://schemas.microsoft.com/office/drawing/2014/main" val="10019"/>
                  </a:ext>
                </a:extLst>
              </a:tr>
              <a:tr h="370840">
                <a:tc>
                  <a:txBody>
                    <a:bodyPr/>
                    <a:lstStyle/>
                    <a:p>
                      <a:r>
                        <a:rPr lang="en-US" sz="1400" b="1" dirty="0" smtClean="0"/>
                        <a:t>)</a:t>
                      </a:r>
                      <a:endParaRPr lang="en-US" sz="1400" b="1" dirty="0"/>
                    </a:p>
                  </a:txBody>
                  <a:tcPr marL="121920" marR="121920"/>
                </a:tc>
                <a:tc>
                  <a:txBody>
                    <a:bodyPr/>
                    <a:lstStyle/>
                    <a:p>
                      <a:endParaRPr lang="en-US" sz="1400" b="1"/>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ABC*DEF^/G*-H*+</a:t>
                      </a:r>
                    </a:p>
                  </a:txBody>
                  <a:tcPr marL="121920" marR="121920"/>
                </a:tc>
                <a:extLst>
                  <a:ext uri="{0D108BD9-81ED-4DB2-BD59-A6C34878D82A}">
                    <a16:rowId xmlns:a16="http://schemas.microsoft.com/office/drawing/2014/main" val="10020"/>
                  </a:ext>
                </a:extLst>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1676400"/>
            <a:ext cx="3352800" cy="609600"/>
          </a:xfrm>
        </p:spPr>
        <p:txBody>
          <a:bodyPr>
            <a:normAutofit fontScale="90000"/>
          </a:bodyPr>
          <a:lstStyle/>
          <a:p>
            <a:pPr algn="l"/>
            <a:r>
              <a:rPr lang="en-US" sz="2000" dirty="0" smtClean="0"/>
              <a:t>Application of stacks :conversion from infix to postfix representation</a:t>
            </a:r>
            <a:endParaRPr lang="en-US" sz="2000" dirty="0"/>
          </a:p>
        </p:txBody>
      </p:sp>
      <p:sp>
        <p:nvSpPr>
          <p:cNvPr id="4" name="Rectangle 2"/>
          <p:cNvSpPr>
            <a:spLocks noChangeArrowheads="1"/>
          </p:cNvSpPr>
          <p:nvPr/>
        </p:nvSpPr>
        <p:spPr bwMode="auto">
          <a:xfrm>
            <a:off x="1" y="3223736"/>
            <a:ext cx="3352800" cy="738664"/>
          </a:xfrm>
          <a:prstGeom prst="rect">
            <a:avLst/>
          </a:prstGeom>
          <a:noFill/>
          <a:ln w="9525">
            <a:noFill/>
            <a:miter lim="800000"/>
            <a:headEnd/>
            <a:tailEnd/>
          </a:ln>
        </p:spPr>
        <p:txBody>
          <a:bodyPr wrap="square" anchor="ctr">
            <a:spAutoFit/>
          </a:bodyPr>
          <a:lstStyle/>
          <a:p>
            <a:pPr eaLnBrk="0" hangingPunct="0"/>
            <a:r>
              <a:rPr lang="en-US" sz="1400" i="0" dirty="0">
                <a:latin typeface="Times New Roman" pitchFamily="18" charset="0"/>
                <a:cs typeface="Times New Roman" pitchFamily="18" charset="0"/>
              </a:rPr>
              <a:t>Suppose we want to convert</a:t>
            </a:r>
            <a:r>
              <a:rPr lang="en-US" sz="1400" i="0" dirty="0">
                <a:solidFill>
                  <a:schemeClr val="hlink"/>
                </a:solidFill>
                <a:latin typeface="Times New Roman" pitchFamily="18" charset="0"/>
                <a:cs typeface="Times New Roman" pitchFamily="18" charset="0"/>
              </a:rPr>
              <a:t> </a:t>
            </a:r>
            <a:r>
              <a:rPr lang="en-US" sz="1400" dirty="0" smtClean="0">
                <a:solidFill>
                  <a:schemeClr val="hlink"/>
                </a:solidFill>
                <a:latin typeface="Times New Roman" pitchFamily="18" charset="0"/>
                <a:cs typeface="Times New Roman" pitchFamily="18" charset="0"/>
              </a:rPr>
              <a:t>A^B*C-D+E/F/(G+H)</a:t>
            </a:r>
          </a:p>
          <a:p>
            <a:pPr algn="l" eaLnBrk="0" hangingPunct="0"/>
            <a:r>
              <a:rPr lang="en-US" sz="1400" i="0" dirty="0" smtClean="0">
                <a:latin typeface="Times New Roman" pitchFamily="18" charset="0"/>
                <a:cs typeface="Times New Roman" pitchFamily="18" charset="0"/>
              </a:rPr>
              <a:t>into </a:t>
            </a:r>
            <a:r>
              <a:rPr lang="en-US" sz="1400" i="0" dirty="0">
                <a:latin typeface="Times New Roman" pitchFamily="18" charset="0"/>
                <a:cs typeface="Times New Roman" pitchFamily="18" charset="0"/>
              </a:rPr>
              <a:t>Postfix form</a:t>
            </a:r>
            <a:r>
              <a:rPr lang="en-US" sz="1400" i="0" dirty="0" smtClean="0">
                <a:solidFill>
                  <a:schemeClr val="hlink"/>
                </a:solidFill>
                <a:latin typeface="Times New Roman" pitchFamily="18" charset="0"/>
                <a:cs typeface="Times New Roman" pitchFamily="18" charset="0"/>
              </a:rPr>
              <a:t>,</a:t>
            </a:r>
          </a:p>
        </p:txBody>
      </p:sp>
      <p:graphicFrame>
        <p:nvGraphicFramePr>
          <p:cNvPr id="20" name="Table 19"/>
          <p:cNvGraphicFramePr>
            <a:graphicFrameLocks noGrp="1"/>
          </p:cNvGraphicFramePr>
          <p:nvPr/>
        </p:nvGraphicFramePr>
        <p:xfrm>
          <a:off x="3759200" y="86360"/>
          <a:ext cx="8127999" cy="59436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Symbol scanned</a:t>
                      </a:r>
                    </a:p>
                  </a:txBody>
                  <a:tcPr marL="121920" marR="12192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Stack</a:t>
                      </a:r>
                      <a:endParaRPr lang="en-US" b="1" dirty="0"/>
                    </a:p>
                  </a:txBody>
                  <a:tcPr marL="121920" marR="12192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Expression P</a:t>
                      </a:r>
                      <a:endParaRPr lang="en-US" b="1" dirty="0"/>
                    </a:p>
                  </a:txBody>
                  <a:tcPr marL="121920" marR="121920"/>
                </a:tc>
                <a:extLst>
                  <a:ext uri="{0D108BD9-81ED-4DB2-BD59-A6C34878D82A}">
                    <a16:rowId xmlns:a16="http://schemas.microsoft.com/office/drawing/2014/main" val="10000"/>
                  </a:ext>
                </a:extLst>
              </a:tr>
              <a:tr h="228600">
                <a:tc>
                  <a:txBody>
                    <a:bodyPr/>
                    <a:lstStyle/>
                    <a:p>
                      <a:r>
                        <a:rPr lang="en-US" sz="1400" b="1" dirty="0" smtClean="0"/>
                        <a:t>A</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a:t>
                      </a:r>
                      <a:endParaRPr lang="en-US" sz="1400" b="1" dirty="0"/>
                    </a:p>
                  </a:txBody>
                  <a:tcPr marL="121920" marR="121920"/>
                </a:tc>
                <a:extLst>
                  <a:ext uri="{0D108BD9-81ED-4DB2-BD59-A6C34878D82A}">
                    <a16:rowId xmlns:a16="http://schemas.microsoft.com/office/drawing/2014/main" val="10001"/>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a:t>
                      </a:r>
                      <a:endParaRPr lang="en-US" sz="1400" b="1" dirty="0"/>
                    </a:p>
                  </a:txBody>
                  <a:tcPr marL="121920" marR="121920"/>
                </a:tc>
                <a:extLst>
                  <a:ext uri="{0D108BD9-81ED-4DB2-BD59-A6C34878D82A}">
                    <a16:rowId xmlns:a16="http://schemas.microsoft.com/office/drawing/2014/main" val="10002"/>
                  </a:ext>
                </a:extLst>
              </a:tr>
              <a:tr h="228600">
                <a:tc>
                  <a:txBody>
                    <a:bodyPr/>
                    <a:lstStyle/>
                    <a:p>
                      <a:r>
                        <a:rPr lang="en-US" sz="1400" b="1" dirty="0" smtClean="0"/>
                        <a:t>B</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a:t>
                      </a:r>
                      <a:endParaRPr lang="en-US" sz="1400" b="1" dirty="0"/>
                    </a:p>
                  </a:txBody>
                  <a:tcPr marL="121920" marR="121920"/>
                </a:tc>
                <a:extLst>
                  <a:ext uri="{0D108BD9-81ED-4DB2-BD59-A6C34878D82A}">
                    <a16:rowId xmlns:a16="http://schemas.microsoft.com/office/drawing/2014/main" val="10003"/>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a:t>
                      </a:r>
                      <a:endParaRPr lang="en-US" sz="1400" b="1" dirty="0"/>
                    </a:p>
                  </a:txBody>
                  <a:tcPr marL="121920" marR="121920"/>
                </a:tc>
                <a:extLst>
                  <a:ext uri="{0D108BD9-81ED-4DB2-BD59-A6C34878D82A}">
                    <a16:rowId xmlns:a16="http://schemas.microsoft.com/office/drawing/2014/main" val="10004"/>
                  </a:ext>
                </a:extLst>
              </a:tr>
              <a:tr h="228600">
                <a:tc>
                  <a:txBody>
                    <a:bodyPr/>
                    <a:lstStyle/>
                    <a:p>
                      <a:r>
                        <a:rPr lang="en-US" sz="1400" b="1" dirty="0" smtClean="0"/>
                        <a:t>C</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AB^C</a:t>
                      </a:r>
                      <a:endParaRPr lang="en-US" sz="1400" b="1" dirty="0"/>
                    </a:p>
                  </a:txBody>
                  <a:tcPr marL="121920" marR="121920"/>
                </a:tc>
                <a:extLst>
                  <a:ext uri="{0D108BD9-81ED-4DB2-BD59-A6C34878D82A}">
                    <a16:rowId xmlns:a16="http://schemas.microsoft.com/office/drawing/2014/main" val="10005"/>
                  </a:ext>
                </a:extLst>
              </a:tr>
              <a:tr h="3048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AB^C*</a:t>
                      </a:r>
                      <a:endParaRPr lang="en-US" sz="1400" b="1" dirty="0"/>
                    </a:p>
                  </a:txBody>
                  <a:tcPr marL="121920" marR="121920"/>
                </a:tc>
                <a:extLst>
                  <a:ext uri="{0D108BD9-81ED-4DB2-BD59-A6C34878D82A}">
                    <a16:rowId xmlns:a16="http://schemas.microsoft.com/office/drawing/2014/main" val="10006"/>
                  </a:ext>
                </a:extLst>
              </a:tr>
              <a:tr h="289560">
                <a:tc>
                  <a:txBody>
                    <a:bodyPr/>
                    <a:lstStyle/>
                    <a:p>
                      <a:r>
                        <a:rPr lang="en-US" sz="1400" b="1" dirty="0" smtClean="0"/>
                        <a:t>D</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AB^C*D</a:t>
                      </a:r>
                      <a:endParaRPr lang="en-US" sz="1400" b="1" dirty="0"/>
                    </a:p>
                  </a:txBody>
                  <a:tcPr marL="121920" marR="121920"/>
                </a:tc>
                <a:extLst>
                  <a:ext uri="{0D108BD9-81ED-4DB2-BD59-A6C34878D82A}">
                    <a16:rowId xmlns:a16="http://schemas.microsoft.com/office/drawing/2014/main" val="10007"/>
                  </a:ext>
                </a:extLst>
              </a:tr>
              <a:tr h="3048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a:t>
                      </a:r>
                      <a:r>
                        <a:rPr lang="en-US" sz="1400" b="1" dirty="0"/>
                        <a:t>-</a:t>
                      </a:r>
                      <a:endParaRPr lang="en-US" sz="1400" b="1" dirty="0" smtClean="0"/>
                    </a:p>
                  </a:txBody>
                  <a:tcPr marL="121920" marR="121920"/>
                </a:tc>
                <a:extLst>
                  <a:ext uri="{0D108BD9-81ED-4DB2-BD59-A6C34878D82A}">
                    <a16:rowId xmlns:a16="http://schemas.microsoft.com/office/drawing/2014/main" val="10008"/>
                  </a:ext>
                </a:extLst>
              </a:tr>
              <a:tr h="228600">
                <a:tc>
                  <a:txBody>
                    <a:bodyPr/>
                    <a:lstStyle/>
                    <a:p>
                      <a:r>
                        <a:rPr lang="en-US" sz="1400" b="1" dirty="0" smtClean="0"/>
                        <a:t>E</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a:t>
                      </a:r>
                    </a:p>
                  </a:txBody>
                  <a:tcPr marL="121920" marR="121920"/>
                </a:tc>
                <a:extLst>
                  <a:ext uri="{0D108BD9-81ED-4DB2-BD59-A6C34878D82A}">
                    <a16:rowId xmlns:a16="http://schemas.microsoft.com/office/drawing/2014/main" val="10009"/>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a:t>
                      </a:r>
                    </a:p>
                  </a:txBody>
                  <a:tcPr marL="121920" marR="121920"/>
                </a:tc>
                <a:extLst>
                  <a:ext uri="{0D108BD9-81ED-4DB2-BD59-A6C34878D82A}">
                    <a16:rowId xmlns:a16="http://schemas.microsoft.com/office/drawing/2014/main" val="10010"/>
                  </a:ext>
                </a:extLst>
              </a:tr>
              <a:tr h="228600">
                <a:tc>
                  <a:txBody>
                    <a:bodyPr/>
                    <a:lstStyle/>
                    <a:p>
                      <a:r>
                        <a:rPr lang="en-US" sz="1400" b="1" dirty="0" smtClean="0"/>
                        <a:t>F</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a:t>
                      </a:r>
                    </a:p>
                  </a:txBody>
                  <a:tcPr marL="121920" marR="121920"/>
                </a:tc>
                <a:extLst>
                  <a:ext uri="{0D108BD9-81ED-4DB2-BD59-A6C34878D82A}">
                    <a16:rowId xmlns:a16="http://schemas.microsoft.com/office/drawing/2014/main" val="10011"/>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a:t>
                      </a:r>
                    </a:p>
                  </a:txBody>
                  <a:tcPr marL="121920" marR="121920"/>
                </a:tc>
                <a:extLst>
                  <a:ext uri="{0D108BD9-81ED-4DB2-BD59-A6C34878D82A}">
                    <a16:rowId xmlns:a16="http://schemas.microsoft.com/office/drawing/2014/main" val="10012"/>
                  </a:ext>
                </a:extLst>
              </a:tr>
              <a:tr h="3048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a:t>
                      </a:r>
                    </a:p>
                  </a:txBody>
                  <a:tcPr marL="121920" marR="121920"/>
                </a:tc>
                <a:extLst>
                  <a:ext uri="{0D108BD9-81ED-4DB2-BD59-A6C34878D82A}">
                    <a16:rowId xmlns:a16="http://schemas.microsoft.com/office/drawing/2014/main" val="10013"/>
                  </a:ext>
                </a:extLst>
              </a:tr>
              <a:tr h="228600">
                <a:tc>
                  <a:txBody>
                    <a:bodyPr/>
                    <a:lstStyle/>
                    <a:p>
                      <a:r>
                        <a:rPr lang="en-US" sz="1400" b="1" dirty="0" smtClean="0"/>
                        <a:t>G</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t>
                      </a: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a:t>
                      </a:r>
                    </a:p>
                  </a:txBody>
                  <a:tcPr marL="121920" marR="121920"/>
                </a:tc>
                <a:extLst>
                  <a:ext uri="{0D108BD9-81ED-4DB2-BD59-A6C34878D82A}">
                    <a16:rowId xmlns:a16="http://schemas.microsoft.com/office/drawing/2014/main" val="10014"/>
                  </a:ext>
                </a:extLst>
              </a:tr>
              <a:tr h="152400">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t>
                      </a:r>
                      <a:r>
                        <a:rPr lang="en-US" sz="1400" b="1" dirty="0"/>
                        <a:t>+</a:t>
                      </a:r>
                      <a:endParaRPr lang="en-US" sz="1400" b="1" dirty="0" smtClean="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a:t>
                      </a:r>
                    </a:p>
                  </a:txBody>
                  <a:tcPr marL="121920" marR="121920"/>
                </a:tc>
                <a:extLst>
                  <a:ext uri="{0D108BD9-81ED-4DB2-BD59-A6C34878D82A}">
                    <a16:rowId xmlns:a16="http://schemas.microsoft.com/office/drawing/2014/main" val="10015"/>
                  </a:ext>
                </a:extLst>
              </a:tr>
              <a:tr h="238760">
                <a:tc>
                  <a:txBody>
                    <a:bodyPr/>
                    <a:lstStyle/>
                    <a:p>
                      <a:r>
                        <a:rPr lang="en-US" sz="1400" b="1" dirty="0" smtClean="0"/>
                        <a:t>H</a:t>
                      </a: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t>
                      </a: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AB^C*D-EF/GH</a:t>
                      </a:r>
                    </a:p>
                  </a:txBody>
                  <a:tcPr marL="121920" marR="121920"/>
                </a:tc>
                <a:extLst>
                  <a:ext uri="{0D108BD9-81ED-4DB2-BD59-A6C34878D82A}">
                    <a16:rowId xmlns:a16="http://schemas.microsoft.com/office/drawing/2014/main" val="10016"/>
                  </a:ext>
                </a:extLst>
              </a:tr>
              <a:tr h="16256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AB^C*D-EF/GH+</a:t>
                      </a:r>
                    </a:p>
                  </a:txBody>
                  <a:tcPr marL="121920" marR="121920"/>
                </a:tc>
                <a:extLst>
                  <a:ext uri="{0D108BD9-81ED-4DB2-BD59-A6C34878D82A}">
                    <a16:rowId xmlns:a16="http://schemas.microsoft.com/office/drawing/2014/main" val="10017"/>
                  </a:ext>
                </a:extLst>
              </a:tr>
              <a:tr h="162560">
                <a:tc>
                  <a:txBody>
                    <a:bodyPr/>
                    <a:lstStyle/>
                    <a:p>
                      <a:r>
                        <a:rPr lang="en-US" sz="1400" b="1" dirty="0" smtClean="0"/>
                        <a:t>)</a:t>
                      </a:r>
                      <a:endParaRPr lang="en-US" sz="1400" b="1" dirty="0"/>
                    </a:p>
                  </a:txBody>
                  <a:tcPr marL="121920" marR="121920"/>
                </a:tc>
                <a:tc>
                  <a:txBody>
                    <a:bodyPr/>
                    <a:lstStyle/>
                    <a:p>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AB^C*D-EF/GH+/+</a:t>
                      </a:r>
                    </a:p>
                  </a:txBody>
                  <a:tcPr marL="121920" marR="121920"/>
                </a:tc>
                <a:extLst>
                  <a:ext uri="{0D108BD9-81ED-4DB2-BD59-A6C34878D82A}">
                    <a16:rowId xmlns:a16="http://schemas.microsoft.com/office/drawing/2014/main" val="10018"/>
                  </a:ext>
                </a:extLst>
              </a:tr>
            </a:tbl>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200" y="1676400"/>
            <a:ext cx="3352800" cy="609600"/>
          </a:xfrm>
        </p:spPr>
        <p:txBody>
          <a:bodyPr>
            <a:normAutofit fontScale="90000"/>
          </a:bodyPr>
          <a:lstStyle/>
          <a:p>
            <a:pPr algn="l"/>
            <a:r>
              <a:rPr lang="en-US" sz="2000" dirty="0" smtClean="0"/>
              <a:t>Application of stacks :conversion from infix to postfix representation</a:t>
            </a:r>
            <a:endParaRPr lang="en-US" sz="2000" dirty="0"/>
          </a:p>
        </p:txBody>
      </p:sp>
      <p:sp>
        <p:nvSpPr>
          <p:cNvPr id="4" name="Rectangle 2"/>
          <p:cNvSpPr>
            <a:spLocks noChangeArrowheads="1"/>
          </p:cNvSpPr>
          <p:nvPr/>
        </p:nvSpPr>
        <p:spPr bwMode="auto">
          <a:xfrm>
            <a:off x="1" y="3223736"/>
            <a:ext cx="3352800" cy="738664"/>
          </a:xfrm>
          <a:prstGeom prst="rect">
            <a:avLst/>
          </a:prstGeom>
          <a:noFill/>
          <a:ln w="9525">
            <a:noFill/>
            <a:miter lim="800000"/>
            <a:headEnd/>
            <a:tailEnd/>
          </a:ln>
        </p:spPr>
        <p:txBody>
          <a:bodyPr wrap="square" anchor="ctr">
            <a:spAutoFit/>
          </a:bodyPr>
          <a:lstStyle/>
          <a:p>
            <a:pPr eaLnBrk="0" hangingPunct="0"/>
            <a:r>
              <a:rPr lang="en-US" sz="1400" i="0" dirty="0">
                <a:latin typeface="Times New Roman" pitchFamily="18" charset="0"/>
                <a:cs typeface="Times New Roman" pitchFamily="18" charset="0"/>
              </a:rPr>
              <a:t>Suppose we want to convert</a:t>
            </a:r>
            <a:r>
              <a:rPr lang="en-US" sz="1400" i="0" dirty="0">
                <a:solidFill>
                  <a:schemeClr val="hlink"/>
                </a:solidFill>
                <a:latin typeface="Times New Roman" pitchFamily="18" charset="0"/>
                <a:cs typeface="Times New Roman" pitchFamily="18" charset="0"/>
              </a:rPr>
              <a:t> </a:t>
            </a:r>
            <a:r>
              <a:rPr lang="en-US" sz="1400" dirty="0" smtClean="0">
                <a:solidFill>
                  <a:schemeClr val="hlink"/>
                </a:solidFill>
                <a:latin typeface="Times New Roman" pitchFamily="18" charset="0"/>
                <a:cs typeface="Times New Roman" pitchFamily="18" charset="0"/>
              </a:rPr>
              <a:t>A*B-C-D+E*F-G/H*T</a:t>
            </a:r>
          </a:p>
          <a:p>
            <a:pPr algn="l" eaLnBrk="0" hangingPunct="0"/>
            <a:r>
              <a:rPr lang="en-US" sz="1400" i="0" dirty="0" smtClean="0">
                <a:latin typeface="Times New Roman" pitchFamily="18" charset="0"/>
                <a:cs typeface="Times New Roman" pitchFamily="18" charset="0"/>
              </a:rPr>
              <a:t>into </a:t>
            </a:r>
            <a:r>
              <a:rPr lang="en-US" sz="1400" i="0" dirty="0">
                <a:latin typeface="Times New Roman" pitchFamily="18" charset="0"/>
                <a:cs typeface="Times New Roman" pitchFamily="18" charset="0"/>
              </a:rPr>
              <a:t>Postfix form</a:t>
            </a:r>
            <a:r>
              <a:rPr lang="en-US" sz="1400" i="0" dirty="0" smtClean="0">
                <a:solidFill>
                  <a:schemeClr val="hlink"/>
                </a:solidFill>
                <a:latin typeface="Times New Roman" pitchFamily="18" charset="0"/>
                <a:cs typeface="Times New Roman" pitchFamily="18" charset="0"/>
              </a:rPr>
              <a:t>,</a:t>
            </a:r>
          </a:p>
        </p:txBody>
      </p:sp>
      <p:graphicFrame>
        <p:nvGraphicFramePr>
          <p:cNvPr id="20" name="Table 19"/>
          <p:cNvGraphicFramePr>
            <a:graphicFrameLocks noGrp="1"/>
          </p:cNvGraphicFramePr>
          <p:nvPr/>
        </p:nvGraphicFramePr>
        <p:xfrm>
          <a:off x="3759200" y="86360"/>
          <a:ext cx="8127999" cy="59436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572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Symbol scanned</a:t>
                      </a:r>
                    </a:p>
                  </a:txBody>
                  <a:tcPr marL="121920" marR="12192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Stack</a:t>
                      </a:r>
                      <a:endParaRPr lang="en-US" b="1" dirty="0"/>
                    </a:p>
                  </a:txBody>
                  <a:tcPr marL="121920" marR="12192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cap="none" normalizeH="0" baseline="0" dirty="0" smtClean="0">
                          <a:ln>
                            <a:noFill/>
                          </a:ln>
                          <a:solidFill>
                            <a:schemeClr val="hlink"/>
                          </a:solidFill>
                          <a:effectLst>
                            <a:outerShdw blurRad="38100" dist="38100" dir="2700000" algn="tl">
                              <a:srgbClr val="000000"/>
                            </a:outerShdw>
                          </a:effectLst>
                          <a:latin typeface="Times New Roman" charset="0"/>
                        </a:rPr>
                        <a:t>Expression P</a:t>
                      </a:r>
                      <a:endParaRPr lang="en-US" b="1" dirty="0"/>
                    </a:p>
                  </a:txBody>
                  <a:tcPr marL="121920" marR="121920"/>
                </a:tc>
                <a:extLst>
                  <a:ext uri="{0D108BD9-81ED-4DB2-BD59-A6C34878D82A}">
                    <a16:rowId xmlns:a16="http://schemas.microsoft.com/office/drawing/2014/main" val="10000"/>
                  </a:ext>
                </a:extLst>
              </a:tr>
              <a:tr h="228600">
                <a:tc>
                  <a:txBody>
                    <a:bodyPr/>
                    <a:lstStyle/>
                    <a:p>
                      <a:r>
                        <a:rPr lang="en-US" sz="1400" b="1" dirty="0" smtClean="0"/>
                        <a:t>A</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a:t>
                      </a:r>
                      <a:endParaRPr lang="en-US" sz="1400" b="1" dirty="0"/>
                    </a:p>
                  </a:txBody>
                  <a:tcPr marL="121920" marR="121920"/>
                </a:tc>
                <a:extLst>
                  <a:ext uri="{0D108BD9-81ED-4DB2-BD59-A6C34878D82A}">
                    <a16:rowId xmlns:a16="http://schemas.microsoft.com/office/drawing/2014/main" val="10001"/>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a:t>
                      </a:r>
                      <a:endParaRPr lang="en-US" sz="1400" b="1" dirty="0"/>
                    </a:p>
                  </a:txBody>
                  <a:tcPr marL="121920" marR="121920"/>
                </a:tc>
                <a:extLst>
                  <a:ext uri="{0D108BD9-81ED-4DB2-BD59-A6C34878D82A}">
                    <a16:rowId xmlns:a16="http://schemas.microsoft.com/office/drawing/2014/main" val="10002"/>
                  </a:ext>
                </a:extLst>
              </a:tr>
              <a:tr h="228600">
                <a:tc>
                  <a:txBody>
                    <a:bodyPr/>
                    <a:lstStyle/>
                    <a:p>
                      <a:r>
                        <a:rPr lang="en-US" sz="1400" b="1" dirty="0" smtClean="0"/>
                        <a:t>B</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r>
                        <a:rPr lang="en-US" sz="1400" b="1" dirty="0" smtClean="0"/>
                        <a:t>AB</a:t>
                      </a:r>
                      <a:endParaRPr lang="en-US" sz="1400" b="1" dirty="0"/>
                    </a:p>
                  </a:txBody>
                  <a:tcPr marL="121920" marR="121920"/>
                </a:tc>
                <a:extLst>
                  <a:ext uri="{0D108BD9-81ED-4DB2-BD59-A6C34878D82A}">
                    <a16:rowId xmlns:a16="http://schemas.microsoft.com/office/drawing/2014/main" val="10003"/>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a:t>
                      </a:r>
                    </a:p>
                  </a:txBody>
                  <a:tcPr marL="121920" marR="121920"/>
                </a:tc>
                <a:extLst>
                  <a:ext uri="{0D108BD9-81ED-4DB2-BD59-A6C34878D82A}">
                    <a16:rowId xmlns:a16="http://schemas.microsoft.com/office/drawing/2014/main" val="10004"/>
                  </a:ext>
                </a:extLst>
              </a:tr>
              <a:tr h="228600">
                <a:tc>
                  <a:txBody>
                    <a:bodyPr/>
                    <a:lstStyle/>
                    <a:p>
                      <a:r>
                        <a:rPr lang="en-US" sz="1400" b="1" dirty="0" smtClean="0"/>
                        <a:t>C</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a:t>
                      </a:r>
                    </a:p>
                  </a:txBody>
                  <a:tcPr marL="121920" marR="121920"/>
                </a:tc>
                <a:extLst>
                  <a:ext uri="{0D108BD9-81ED-4DB2-BD59-A6C34878D82A}">
                    <a16:rowId xmlns:a16="http://schemas.microsoft.com/office/drawing/2014/main" val="10005"/>
                  </a:ext>
                </a:extLst>
              </a:tr>
              <a:tr h="3048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a:t>
                      </a:r>
                    </a:p>
                  </a:txBody>
                  <a:tcPr marL="121920" marR="121920"/>
                </a:tc>
                <a:extLst>
                  <a:ext uri="{0D108BD9-81ED-4DB2-BD59-A6C34878D82A}">
                    <a16:rowId xmlns:a16="http://schemas.microsoft.com/office/drawing/2014/main" val="10006"/>
                  </a:ext>
                </a:extLst>
              </a:tr>
              <a:tr h="289560">
                <a:tc>
                  <a:txBody>
                    <a:bodyPr/>
                    <a:lstStyle/>
                    <a:p>
                      <a:r>
                        <a:rPr lang="en-US" sz="1400" b="1" dirty="0" smtClean="0"/>
                        <a:t>D</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a:t>
                      </a:r>
                    </a:p>
                  </a:txBody>
                  <a:tcPr marL="121920" marR="121920"/>
                </a:tc>
                <a:extLst>
                  <a:ext uri="{0D108BD9-81ED-4DB2-BD59-A6C34878D82A}">
                    <a16:rowId xmlns:a16="http://schemas.microsoft.com/office/drawing/2014/main" val="10007"/>
                  </a:ext>
                </a:extLst>
              </a:tr>
              <a:tr h="3048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a:t>
                      </a:r>
                    </a:p>
                  </a:txBody>
                  <a:tcPr marL="121920" marR="121920"/>
                </a:tc>
                <a:extLst>
                  <a:ext uri="{0D108BD9-81ED-4DB2-BD59-A6C34878D82A}">
                    <a16:rowId xmlns:a16="http://schemas.microsoft.com/office/drawing/2014/main" val="10008"/>
                  </a:ext>
                </a:extLst>
              </a:tr>
              <a:tr h="228600">
                <a:tc>
                  <a:txBody>
                    <a:bodyPr/>
                    <a:lstStyle/>
                    <a:p>
                      <a:r>
                        <a:rPr lang="en-US" sz="1400" b="1" dirty="0" smtClean="0"/>
                        <a:t>E</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a:t>
                      </a:r>
                    </a:p>
                  </a:txBody>
                  <a:tcPr marL="121920" marR="121920"/>
                </a:tc>
                <a:extLst>
                  <a:ext uri="{0D108BD9-81ED-4DB2-BD59-A6C34878D82A}">
                    <a16:rowId xmlns:a16="http://schemas.microsoft.com/office/drawing/2014/main" val="10009"/>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a:t>
                      </a:r>
                    </a:p>
                  </a:txBody>
                  <a:tcPr marL="121920" marR="121920"/>
                </a:tc>
                <a:extLst>
                  <a:ext uri="{0D108BD9-81ED-4DB2-BD59-A6C34878D82A}">
                    <a16:rowId xmlns:a16="http://schemas.microsoft.com/office/drawing/2014/main" val="10010"/>
                  </a:ext>
                </a:extLst>
              </a:tr>
              <a:tr h="228600">
                <a:tc>
                  <a:txBody>
                    <a:bodyPr/>
                    <a:lstStyle/>
                    <a:p>
                      <a:r>
                        <a:rPr lang="en-US" sz="1400" b="1" dirty="0" smtClean="0"/>
                        <a:t>F</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a:t>
                      </a:r>
                    </a:p>
                  </a:txBody>
                  <a:tcPr marL="121920" marR="121920"/>
                </a:tc>
                <a:extLst>
                  <a:ext uri="{0D108BD9-81ED-4DB2-BD59-A6C34878D82A}">
                    <a16:rowId xmlns:a16="http://schemas.microsoft.com/office/drawing/2014/main" val="10011"/>
                  </a:ext>
                </a:extLst>
              </a:tr>
              <a:tr h="228600">
                <a:tc>
                  <a:txBody>
                    <a:bodyPr/>
                    <a:lstStyle/>
                    <a:p>
                      <a:r>
                        <a:rPr lang="en-US" sz="1400" b="1" dirty="0" smtClean="0"/>
                        <a: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a:t>
                      </a:r>
                    </a:p>
                  </a:txBody>
                  <a:tcPr marL="121920" marR="121920"/>
                </a:tc>
                <a:extLst>
                  <a:ext uri="{0D108BD9-81ED-4DB2-BD59-A6C34878D82A}">
                    <a16:rowId xmlns:a16="http://schemas.microsoft.com/office/drawing/2014/main" val="10012"/>
                  </a:ext>
                </a:extLst>
              </a:tr>
              <a:tr h="304800">
                <a:tc>
                  <a:txBody>
                    <a:bodyPr/>
                    <a:lstStyle/>
                    <a:p>
                      <a:r>
                        <a:rPr lang="en-US" sz="1400" b="1" dirty="0" smtClean="0"/>
                        <a:t>G</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a:t>
                      </a:r>
                    </a:p>
                  </a:txBody>
                  <a:tcPr marL="121920" marR="121920"/>
                </a:tc>
                <a:extLst>
                  <a:ext uri="{0D108BD9-81ED-4DB2-BD59-A6C34878D82A}">
                    <a16:rowId xmlns:a16="http://schemas.microsoft.com/office/drawing/2014/main" val="10013"/>
                  </a:ext>
                </a:extLst>
              </a:tr>
              <a:tr h="228600">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t>
                      </a: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a:t>
                      </a:r>
                    </a:p>
                  </a:txBody>
                  <a:tcPr marL="121920" marR="121920"/>
                </a:tc>
                <a:extLst>
                  <a:ext uri="{0D108BD9-81ED-4DB2-BD59-A6C34878D82A}">
                    <a16:rowId xmlns:a16="http://schemas.microsoft.com/office/drawing/2014/main" val="10014"/>
                  </a:ext>
                </a:extLst>
              </a:tr>
              <a:tr h="152400">
                <a:tc>
                  <a:txBody>
                    <a:bodyPr/>
                    <a:lstStyle/>
                    <a:p>
                      <a:r>
                        <a:rPr lang="en-US" sz="1400" b="1" dirty="0" smtClean="0"/>
                        <a:t>H</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t>
                      </a: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AB*C-D-EF*+GH</a:t>
                      </a:r>
                    </a:p>
                  </a:txBody>
                  <a:tcPr marL="121920" marR="121920"/>
                </a:tc>
                <a:extLst>
                  <a:ext uri="{0D108BD9-81ED-4DB2-BD59-A6C34878D82A}">
                    <a16:rowId xmlns:a16="http://schemas.microsoft.com/office/drawing/2014/main" val="10015"/>
                  </a:ext>
                </a:extLst>
              </a:tr>
              <a:tr h="238760">
                <a:tc>
                  <a:txBody>
                    <a:bodyPr/>
                    <a:lstStyle/>
                    <a:p>
                      <a:r>
                        <a:rPr lang="en-US" sz="1400" b="1" dirty="0" smtClean="0"/>
                        <a:t>*</a:t>
                      </a: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t>
                      </a:r>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AB*C-D-EF*+GH/</a:t>
                      </a:r>
                    </a:p>
                  </a:txBody>
                  <a:tcPr marL="121920" marR="121920"/>
                </a:tc>
                <a:extLst>
                  <a:ext uri="{0D108BD9-81ED-4DB2-BD59-A6C34878D82A}">
                    <a16:rowId xmlns:a16="http://schemas.microsoft.com/office/drawing/2014/main" val="10016"/>
                  </a:ext>
                </a:extLst>
              </a:tr>
              <a:tr h="162560">
                <a:tc>
                  <a:txBody>
                    <a:bodyPr/>
                    <a:lstStyle/>
                    <a:p>
                      <a:r>
                        <a:rPr lang="en-US" sz="1400" b="1" dirty="0" smtClean="0"/>
                        <a:t>T</a:t>
                      </a:r>
                      <a:endParaRPr lang="en-US" sz="1400" b="1" dirty="0"/>
                    </a:p>
                  </a:txBody>
                  <a:tcPr marL="121920" marR="121920"/>
                </a:tc>
                <a:tc>
                  <a:txBody>
                    <a:bodyPr/>
                    <a:lstStyle/>
                    <a:p>
                      <a:r>
                        <a:rPr lang="en-US" sz="1400" b="1" dirty="0" smtClean="0"/>
                        <a:t>(-*</a:t>
                      </a:r>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AB*C-D-EF*+GH/T</a:t>
                      </a:r>
                    </a:p>
                  </a:txBody>
                  <a:tcPr marL="121920" marR="121920"/>
                </a:tc>
                <a:extLst>
                  <a:ext uri="{0D108BD9-81ED-4DB2-BD59-A6C34878D82A}">
                    <a16:rowId xmlns:a16="http://schemas.microsoft.com/office/drawing/2014/main" val="10017"/>
                  </a:ext>
                </a:extLst>
              </a:tr>
              <a:tr h="162560">
                <a:tc>
                  <a:txBody>
                    <a:bodyPr/>
                    <a:lstStyle/>
                    <a:p>
                      <a:r>
                        <a:rPr lang="en-US" sz="1400" b="1" dirty="0" smtClean="0"/>
                        <a:t>)</a:t>
                      </a:r>
                      <a:endParaRPr lang="en-US" sz="1400" b="1" dirty="0"/>
                    </a:p>
                  </a:txBody>
                  <a:tcPr marL="121920" marR="121920"/>
                </a:tc>
                <a:tc>
                  <a:txBody>
                    <a:bodyPr/>
                    <a:lstStyle/>
                    <a:p>
                      <a:endParaRPr lang="en-US" sz="1400" b="1" dirty="0"/>
                    </a:p>
                  </a:txBody>
                  <a:tcPr marL="121920" marR="121920"/>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1" dirty="0" smtClean="0"/>
                        <a:t>AB*C-D-EF*+GH/T*-</a:t>
                      </a:r>
                    </a:p>
                  </a:txBody>
                  <a:tcPr marL="121920" marR="121920"/>
                </a:tc>
                <a:extLst>
                  <a:ext uri="{0D108BD9-81ED-4DB2-BD59-A6C34878D82A}">
                    <a16:rowId xmlns:a16="http://schemas.microsoft.com/office/drawing/2014/main" val="10018"/>
                  </a:ext>
                </a:extLst>
              </a:tr>
            </a:tbl>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0149448-4044-4EBF-BF19-8F1560A56C17}"/>
              </a:ext>
            </a:extLst>
          </p:cNvPr>
          <p:cNvSpPr>
            <a:spLocks noGrp="1"/>
          </p:cNvSpPr>
          <p:nvPr>
            <p:ph type="title"/>
          </p:nvPr>
        </p:nvSpPr>
        <p:spPr>
          <a:xfrm>
            <a:off x="838200" y="688893"/>
            <a:ext cx="10515600" cy="583783"/>
          </a:xfrm>
        </p:spPr>
        <p:txBody>
          <a:bodyPr>
            <a:normAutofit fontScale="90000"/>
          </a:bodyPr>
          <a:lstStyle/>
          <a:p>
            <a:r>
              <a:rPr lang="en-US" b="1" dirty="0">
                <a:latin typeface="Casper Bold"/>
              </a:rPr>
              <a:t>Postfix Evaluation </a:t>
            </a:r>
            <a:r>
              <a:rPr lang="en-US" b="1" dirty="0" smtClean="0">
                <a:latin typeface="Casper Bold"/>
              </a:rPr>
              <a:t>Algorithm</a:t>
            </a:r>
            <a:endParaRPr lang="en-IN" dirty="0"/>
          </a:p>
        </p:txBody>
      </p:sp>
      <p:sp>
        <p:nvSpPr>
          <p:cNvPr id="5" name="Rectangle 1">
            <a:extLst>
              <a:ext uri="{FF2B5EF4-FFF2-40B4-BE49-F238E27FC236}">
                <a16:creationId xmlns:a16="http://schemas.microsoft.com/office/drawing/2014/main" id="{FA38D815-9D91-45BE-A980-3CA17C06B1F2}"/>
              </a:ext>
            </a:extLst>
          </p:cNvPr>
          <p:cNvSpPr>
            <a:spLocks noGrp="1" noChangeArrowheads="1"/>
          </p:cNvSpPr>
          <p:nvPr>
            <p:ph idx="1"/>
          </p:nvPr>
        </p:nvSpPr>
        <p:spPr/>
        <p:txBody>
          <a:bodyPr/>
          <a:lstStyle/>
          <a:p>
            <a:pPr lvl="0"/>
            <a:r>
              <a:rPr lang="en-US" altLang="en-US" dirty="0"/>
              <a:t>Step 1 − scan the expression from left to right </a:t>
            </a:r>
          </a:p>
          <a:p>
            <a:pPr lvl="0"/>
            <a:r>
              <a:rPr lang="en-US" altLang="en-US" dirty="0"/>
              <a:t>Step 2 − if it is an operand push it to stack </a:t>
            </a:r>
          </a:p>
          <a:p>
            <a:pPr lvl="0"/>
            <a:r>
              <a:rPr lang="en-US" altLang="en-US" dirty="0"/>
              <a:t>Step 3 − if it is an operator pull operand from stack and perform operation </a:t>
            </a:r>
          </a:p>
          <a:p>
            <a:pPr lvl="0"/>
            <a:r>
              <a:rPr lang="en-US" altLang="en-US" dirty="0"/>
              <a:t>Step 4 − store the output of step 3, back to stack </a:t>
            </a:r>
          </a:p>
          <a:p>
            <a:pPr lvl="0"/>
            <a:r>
              <a:rPr lang="en-US" altLang="en-US" dirty="0"/>
              <a:t>Step 5 − scan the expression until all operands are consumed </a:t>
            </a:r>
          </a:p>
          <a:p>
            <a:pPr lvl="0"/>
            <a:r>
              <a:rPr lang="en-US" altLang="en-US" dirty="0"/>
              <a:t>Step 6 − pop the stack and perform operation </a:t>
            </a:r>
          </a:p>
        </p:txBody>
      </p:sp>
      <p:sp>
        <p:nvSpPr>
          <p:cNvPr id="4" name="Slide Number Placeholder 3">
            <a:extLst>
              <a:ext uri="{FF2B5EF4-FFF2-40B4-BE49-F238E27FC236}">
                <a16:creationId xmlns:a16="http://schemas.microsoft.com/office/drawing/2014/main" id="{9CA8C81B-6E82-456D-841C-21C2939458AA}"/>
              </a:ext>
            </a:extLst>
          </p:cNvPr>
          <p:cNvSpPr>
            <a:spLocks noGrp="1"/>
          </p:cNvSpPr>
          <p:nvPr>
            <p:ph type="sldNum" sz="quarter" idx="12"/>
          </p:nvPr>
        </p:nvSpPr>
        <p:spPr/>
        <p:txBody>
          <a:bodyPr/>
          <a:lstStyle/>
          <a:p>
            <a:fld id="{BDCDBBEF-AA6C-4BA6-85B2-A17D7F280E38}" type="slidenum">
              <a:rPr lang="en-US" smtClean="0"/>
              <a:pPr/>
              <a:t>31</a:t>
            </a:fld>
            <a:endParaRPr lang="en-US"/>
          </a:p>
        </p:txBody>
      </p:sp>
    </p:spTree>
    <p:extLst>
      <p:ext uri="{BB962C8B-B14F-4D97-AF65-F5344CB8AC3E}">
        <p14:creationId xmlns:p14="http://schemas.microsoft.com/office/powerpoint/2010/main" val="40422420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a:xfrm>
            <a:off x="838200" y="365125"/>
            <a:ext cx="10515600" cy="562338"/>
          </a:xfrm>
        </p:spPr>
        <p:txBody>
          <a:bodyPr>
            <a:normAutofit/>
          </a:bodyPr>
          <a:lstStyle/>
          <a:p>
            <a:r>
              <a:rPr lang="en-US" sz="3100" b="1" dirty="0">
                <a:latin typeface="Casper Bold"/>
              </a:rPr>
              <a:t>Application of stacks: Evaluating a postfix expression</a:t>
            </a:r>
          </a:p>
        </p:txBody>
      </p:sp>
      <p:sp>
        <p:nvSpPr>
          <p:cNvPr id="20483" name="Rectangle 3"/>
          <p:cNvSpPr>
            <a:spLocks noGrp="1" noChangeArrowheads="1"/>
          </p:cNvSpPr>
          <p:nvPr>
            <p:ph idx="1"/>
          </p:nvPr>
        </p:nvSpPr>
        <p:spPr>
          <a:xfrm>
            <a:off x="1016000" y="927463"/>
            <a:ext cx="9992784" cy="5930537"/>
          </a:xfrm>
        </p:spPr>
        <p:txBody>
          <a:bodyPr>
            <a:noAutofit/>
          </a:bodyPr>
          <a:lstStyle/>
          <a:p>
            <a:pPr eaLnBrk="1" hangingPunct="1">
              <a:lnSpc>
                <a:spcPct val="90000"/>
              </a:lnSpc>
            </a:pPr>
            <a:r>
              <a:rPr lang="en-US" sz="2200" dirty="0" smtClean="0"/>
              <a:t>This algorithm finds the value of an arithmetic expression P written in postfix notation.</a:t>
            </a:r>
          </a:p>
          <a:p>
            <a:pPr marL="457200" indent="-457200" eaLnBrk="1" hangingPunct="1">
              <a:lnSpc>
                <a:spcPct val="90000"/>
              </a:lnSpc>
              <a:buAutoNum type="arabicParenR"/>
            </a:pPr>
            <a:r>
              <a:rPr lang="en-US" sz="2200" dirty="0" smtClean="0"/>
              <a:t>Add a right parenthesis “)” at the end of P(expression).</a:t>
            </a:r>
          </a:p>
          <a:p>
            <a:pPr marL="457200" indent="-457200" eaLnBrk="1" hangingPunct="1">
              <a:lnSpc>
                <a:spcPct val="90000"/>
              </a:lnSpc>
              <a:buAutoNum type="arabicParenR"/>
            </a:pPr>
            <a:r>
              <a:rPr lang="en-US" sz="2200" dirty="0" smtClean="0"/>
              <a:t>Scan P from left to right and repeat steps 3 &amp; 4 for each element of P until the sentinel “)” is encountered.</a:t>
            </a:r>
          </a:p>
          <a:p>
            <a:pPr marL="457200" indent="-457200" eaLnBrk="1" hangingPunct="1">
              <a:lnSpc>
                <a:spcPct val="90000"/>
              </a:lnSpc>
              <a:buAutoNum type="arabicParenR"/>
            </a:pPr>
            <a:r>
              <a:rPr lang="en-US" sz="2200" dirty="0" smtClean="0"/>
              <a:t>If an operand is encountered, put it on STACK.</a:t>
            </a:r>
          </a:p>
          <a:p>
            <a:pPr marL="457200" indent="-457200">
              <a:lnSpc>
                <a:spcPct val="90000"/>
              </a:lnSpc>
              <a:buAutoNum type="arabicParenR"/>
            </a:pPr>
            <a:r>
              <a:rPr lang="en-US" sz="2200" dirty="0" smtClean="0"/>
              <a:t>If an operator ⊗ is encountered , then:</a:t>
            </a:r>
          </a:p>
          <a:p>
            <a:pPr marL="457200" indent="-457200" eaLnBrk="1" hangingPunct="1">
              <a:lnSpc>
                <a:spcPct val="90000"/>
              </a:lnSpc>
              <a:buNone/>
            </a:pPr>
            <a:r>
              <a:rPr lang="en-US" sz="2200" dirty="0" smtClean="0"/>
              <a:t>		a) Remove the two top elements of stack, where A is the top element and B is the next-to-top element.</a:t>
            </a:r>
          </a:p>
          <a:p>
            <a:pPr marL="457200" indent="-457200">
              <a:lnSpc>
                <a:spcPct val="90000"/>
              </a:lnSpc>
              <a:buNone/>
            </a:pPr>
            <a:r>
              <a:rPr lang="en-US" sz="2200" dirty="0" smtClean="0"/>
              <a:t>		b) Evaluate B ⊗ A.</a:t>
            </a:r>
          </a:p>
          <a:p>
            <a:pPr marL="457200" indent="-457200" eaLnBrk="1" hangingPunct="1">
              <a:lnSpc>
                <a:spcPct val="90000"/>
              </a:lnSpc>
              <a:buNone/>
            </a:pPr>
            <a:r>
              <a:rPr lang="en-US" sz="2200" dirty="0" smtClean="0"/>
              <a:t>		c) Place the result of (b) back on stack.</a:t>
            </a:r>
          </a:p>
          <a:p>
            <a:pPr marL="457200" indent="-457200" eaLnBrk="1" hangingPunct="1">
              <a:lnSpc>
                <a:spcPct val="90000"/>
              </a:lnSpc>
              <a:buNone/>
            </a:pPr>
            <a:r>
              <a:rPr lang="en-US" sz="2200" dirty="0" smtClean="0"/>
              <a:t>	[End of if structure]</a:t>
            </a:r>
          </a:p>
          <a:p>
            <a:pPr marL="457200" indent="-457200" eaLnBrk="1" hangingPunct="1">
              <a:lnSpc>
                <a:spcPct val="90000"/>
              </a:lnSpc>
              <a:buNone/>
            </a:pPr>
            <a:r>
              <a:rPr lang="en-US" sz="2200" dirty="0" smtClean="0"/>
              <a:t>	[End of step2 loop]</a:t>
            </a:r>
          </a:p>
          <a:p>
            <a:pPr marL="457200" indent="-457200" eaLnBrk="1" hangingPunct="1">
              <a:lnSpc>
                <a:spcPct val="90000"/>
              </a:lnSpc>
              <a:buNone/>
            </a:pPr>
            <a:r>
              <a:rPr lang="en-US" sz="2200" dirty="0" smtClean="0"/>
              <a:t>5)     Set value equal to the top element on stack.</a:t>
            </a:r>
          </a:p>
          <a:p>
            <a:pPr marL="457200" indent="-457200" eaLnBrk="1" hangingPunct="1">
              <a:lnSpc>
                <a:spcPct val="90000"/>
              </a:lnSpc>
              <a:buNone/>
            </a:pPr>
            <a:r>
              <a:rPr lang="en-US" sz="2200" dirty="0" smtClean="0"/>
              <a:t>6)     Exit</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Casper Bold"/>
              </a:rPr>
              <a:t>Evaluating a postfix expression(contd..)</a:t>
            </a:r>
          </a:p>
        </p:txBody>
      </p:sp>
      <p:pic>
        <p:nvPicPr>
          <p:cNvPr id="4" name="Picture 3" descr="A:\stacks_fig3.jpg"/>
          <p:cNvPicPr>
            <a:picLocks noChangeAspect="1" noChangeArrowheads="1"/>
          </p:cNvPicPr>
          <p:nvPr/>
        </p:nvPicPr>
        <p:blipFill>
          <a:blip r:embed="rId2"/>
          <a:srcRect/>
          <a:stretch>
            <a:fillRect/>
          </a:stretch>
        </p:blipFill>
        <p:spPr bwMode="auto">
          <a:xfrm>
            <a:off x="711200" y="1828800"/>
            <a:ext cx="10668000" cy="4389438"/>
          </a:xfrm>
          <a:prstGeom prst="rect">
            <a:avLst/>
          </a:prstGeom>
          <a:noFill/>
          <a:ln w="9525">
            <a:noFill/>
            <a:miter lim="800000"/>
            <a:headEnd/>
            <a:tailEnd/>
          </a:ln>
        </p:spPr>
      </p:pic>
      <p:sp>
        <p:nvSpPr>
          <p:cNvPr id="5" name="TextBox 4"/>
          <p:cNvSpPr txBox="1"/>
          <p:nvPr/>
        </p:nvSpPr>
        <p:spPr>
          <a:xfrm>
            <a:off x="8534400" y="4648200"/>
            <a:ext cx="1760610" cy="369332"/>
          </a:xfrm>
          <a:prstGeom prst="rect">
            <a:avLst/>
          </a:prstGeom>
          <a:noFill/>
        </p:spPr>
        <p:txBody>
          <a:bodyPr wrap="none" rtlCol="0">
            <a:spAutoFit/>
          </a:bodyPr>
          <a:lstStyle/>
          <a:p>
            <a:r>
              <a:rPr lang="en-US" dirty="0" smtClean="0"/>
              <a:t>Final result is: 45</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Casper Bold"/>
              </a:rPr>
              <a:t>Evaluate these postfix expressions</a:t>
            </a:r>
          </a:p>
        </p:txBody>
      </p:sp>
      <p:sp>
        <p:nvSpPr>
          <p:cNvPr id="3" name="Content Placeholder 2"/>
          <p:cNvSpPr>
            <a:spLocks noGrp="1"/>
          </p:cNvSpPr>
          <p:nvPr>
            <p:ph idx="1"/>
          </p:nvPr>
        </p:nvSpPr>
        <p:spPr/>
        <p:txBody>
          <a:bodyPr/>
          <a:lstStyle/>
          <a:p>
            <a:r>
              <a:rPr lang="en-US" dirty="0" smtClean="0"/>
              <a:t>6 2 3 + - 3 8 2 / + * 2 ^ 3 +</a:t>
            </a:r>
          </a:p>
          <a:p>
            <a:r>
              <a:rPr lang="en-US" dirty="0" smtClean="0"/>
              <a:t>5 6 2 + * 12 4 / -</a:t>
            </a:r>
          </a:p>
          <a:p>
            <a:r>
              <a:rPr lang="en-US" dirty="0" smtClean="0"/>
              <a:t>2 3 1 * + 9 –</a:t>
            </a:r>
          </a:p>
          <a:p>
            <a:r>
              <a:rPr lang="en-US" dirty="0" smtClean="0"/>
              <a:t>2 10 + 9 6 - /</a:t>
            </a:r>
          </a:p>
          <a:p>
            <a:r>
              <a:rPr lang="en-US" dirty="0" smtClean="0"/>
              <a:t>1 2 3 * + 4 -</a:t>
            </a:r>
            <a:endParaRPr lang="en-US" dirty="0"/>
          </a:p>
        </p:txBody>
      </p:sp>
      <p:sp>
        <p:nvSpPr>
          <p:cNvPr id="5" name="TextBox 4"/>
          <p:cNvSpPr txBox="1"/>
          <p:nvPr/>
        </p:nvSpPr>
        <p:spPr>
          <a:xfrm>
            <a:off x="2641601" y="4648200"/>
            <a:ext cx="1048685" cy="1477328"/>
          </a:xfrm>
          <a:prstGeom prst="rect">
            <a:avLst/>
          </a:prstGeom>
          <a:noFill/>
        </p:spPr>
        <p:txBody>
          <a:bodyPr wrap="none" rtlCol="0">
            <a:spAutoFit/>
          </a:bodyPr>
          <a:lstStyle/>
          <a:p>
            <a:r>
              <a:rPr lang="en-US" dirty="0" err="1" smtClean="0"/>
              <a:t>Ans</a:t>
            </a:r>
            <a:r>
              <a:rPr lang="en-US" dirty="0" smtClean="0"/>
              <a:t> 1: 52</a:t>
            </a:r>
          </a:p>
          <a:p>
            <a:r>
              <a:rPr lang="en-US" dirty="0" err="1" smtClean="0"/>
              <a:t>Ans</a:t>
            </a:r>
            <a:r>
              <a:rPr lang="en-US" dirty="0" smtClean="0"/>
              <a:t> 2: 37</a:t>
            </a:r>
          </a:p>
          <a:p>
            <a:r>
              <a:rPr lang="en-US" dirty="0" err="1" smtClean="0"/>
              <a:t>Ans</a:t>
            </a:r>
            <a:r>
              <a:rPr lang="en-US" dirty="0" smtClean="0"/>
              <a:t> 3: -4</a:t>
            </a:r>
          </a:p>
          <a:p>
            <a:r>
              <a:rPr lang="en-US" dirty="0" err="1" smtClean="0"/>
              <a:t>Ans</a:t>
            </a:r>
            <a:r>
              <a:rPr lang="en-US" dirty="0" smtClean="0"/>
              <a:t> 4: 4</a:t>
            </a:r>
          </a:p>
          <a:p>
            <a:r>
              <a:rPr lang="en-US" dirty="0" err="1" smtClean="0"/>
              <a:t>Ans</a:t>
            </a:r>
            <a:r>
              <a:rPr lang="en-US" dirty="0" smtClean="0"/>
              <a:t> 5: 3</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Casper Bold"/>
              </a:rPr>
              <a:t>INFIX to PREFIX Examples</a:t>
            </a:r>
          </a:p>
        </p:txBody>
      </p:sp>
      <p:graphicFrame>
        <p:nvGraphicFramePr>
          <p:cNvPr id="4" name="Content Placeholder 3"/>
          <p:cNvGraphicFramePr>
            <a:graphicFrameLocks noGrp="1"/>
          </p:cNvGraphicFramePr>
          <p:nvPr>
            <p:ph idx="1"/>
          </p:nvPr>
        </p:nvGraphicFramePr>
        <p:xfrm>
          <a:off x="1219200" y="1752600"/>
          <a:ext cx="10668000" cy="4450080"/>
        </p:xfrm>
        <a:graphic>
          <a:graphicData uri="http://schemas.openxmlformats.org/drawingml/2006/table">
            <a:tbl>
              <a:tblPr firstRow="1" bandRow="1">
                <a:tableStyleId>{5C22544A-7EE6-4342-B048-85BDC9FD1C3A}</a:tableStyleId>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370840">
                <a:tc>
                  <a:txBody>
                    <a:bodyPr/>
                    <a:lstStyle/>
                    <a:p>
                      <a:pPr algn="ctr"/>
                      <a:r>
                        <a:rPr lang="en-US" dirty="0" smtClean="0"/>
                        <a:t>INFIX</a:t>
                      </a:r>
                      <a:endParaRPr lang="en-US" dirty="0"/>
                    </a:p>
                  </a:txBody>
                  <a:tcPr marL="121920" marR="121920"/>
                </a:tc>
                <a:tc>
                  <a:txBody>
                    <a:bodyPr/>
                    <a:lstStyle/>
                    <a:p>
                      <a:pPr algn="ctr"/>
                      <a:r>
                        <a:rPr lang="en-US" dirty="0" smtClean="0"/>
                        <a:t>POSTFIX</a:t>
                      </a:r>
                      <a:endParaRPr lang="en-US" dirty="0"/>
                    </a:p>
                  </a:txBody>
                  <a:tcPr marL="121920" marR="121920"/>
                </a:tc>
                <a:extLst>
                  <a:ext uri="{0D108BD9-81ED-4DB2-BD59-A6C34878D82A}">
                    <a16:rowId xmlns:a16="http://schemas.microsoft.com/office/drawing/2014/main" val="10000"/>
                  </a:ext>
                </a:extLst>
              </a:tr>
              <a:tr h="370840">
                <a:tc>
                  <a:txBody>
                    <a:bodyPr/>
                    <a:lstStyle/>
                    <a:p>
                      <a:pPr algn="ctr"/>
                      <a:r>
                        <a:rPr lang="en-US" dirty="0" smtClean="0"/>
                        <a:t>A+B</a:t>
                      </a:r>
                      <a:endParaRPr lang="en-US" dirty="0"/>
                    </a:p>
                  </a:txBody>
                  <a:tcPr marL="121920" marR="121920"/>
                </a:tc>
                <a:tc>
                  <a:txBody>
                    <a:bodyPr/>
                    <a:lstStyle/>
                    <a:p>
                      <a:pPr algn="ctr"/>
                      <a:r>
                        <a:rPr lang="en-US" dirty="0" smtClean="0"/>
                        <a:t>+AB</a:t>
                      </a:r>
                      <a:endParaRPr lang="en-US" dirty="0"/>
                    </a:p>
                  </a:txBody>
                  <a:tcPr marL="121920" marR="121920"/>
                </a:tc>
                <a:extLst>
                  <a:ext uri="{0D108BD9-81ED-4DB2-BD59-A6C34878D82A}">
                    <a16:rowId xmlns:a16="http://schemas.microsoft.com/office/drawing/2014/main" val="10001"/>
                  </a:ext>
                </a:extLst>
              </a:tr>
              <a:tr h="370840">
                <a:tc>
                  <a:txBody>
                    <a:bodyPr/>
                    <a:lstStyle/>
                    <a:p>
                      <a:pPr algn="ctr"/>
                      <a:r>
                        <a:rPr lang="en-US" dirty="0" smtClean="0"/>
                        <a:t>A+B-C</a:t>
                      </a:r>
                      <a:endParaRPr lang="en-US" dirty="0"/>
                    </a:p>
                  </a:txBody>
                  <a:tcPr marL="121920" marR="121920"/>
                </a:tc>
                <a:tc>
                  <a:txBody>
                    <a:bodyPr/>
                    <a:lstStyle/>
                    <a:p>
                      <a:pPr algn="ctr"/>
                      <a:r>
                        <a:rPr lang="en-US" dirty="0" smtClean="0"/>
                        <a:t>-+ABC</a:t>
                      </a:r>
                      <a:endParaRPr lang="en-US" dirty="0"/>
                    </a:p>
                  </a:txBody>
                  <a:tcPr marL="121920" marR="121920"/>
                </a:tc>
                <a:extLst>
                  <a:ext uri="{0D108BD9-81ED-4DB2-BD59-A6C34878D82A}">
                    <a16:rowId xmlns:a16="http://schemas.microsoft.com/office/drawing/2014/main" val="10002"/>
                  </a:ext>
                </a:extLst>
              </a:tr>
              <a:tr h="370840">
                <a:tc>
                  <a:txBody>
                    <a:bodyPr/>
                    <a:lstStyle/>
                    <a:p>
                      <a:pPr algn="ctr"/>
                      <a:r>
                        <a:rPr lang="en-US" dirty="0" smtClean="0"/>
                        <a:t>(A+B) * (C-D)</a:t>
                      </a:r>
                      <a:endParaRPr lang="en-US" dirty="0"/>
                    </a:p>
                  </a:txBody>
                  <a:tcPr marL="121920" marR="121920"/>
                </a:tc>
                <a:tc>
                  <a:txBody>
                    <a:bodyPr/>
                    <a:lstStyle/>
                    <a:p>
                      <a:pPr algn="ctr"/>
                      <a:r>
                        <a:rPr lang="en-US" dirty="0" smtClean="0"/>
                        <a:t>*+AB-CD</a:t>
                      </a:r>
                      <a:endParaRPr lang="en-US" dirty="0"/>
                    </a:p>
                  </a:txBody>
                  <a:tcPr marL="121920" marR="121920"/>
                </a:tc>
                <a:extLst>
                  <a:ext uri="{0D108BD9-81ED-4DB2-BD59-A6C34878D82A}">
                    <a16:rowId xmlns:a16="http://schemas.microsoft.com/office/drawing/2014/main" val="10003"/>
                  </a:ext>
                </a:extLst>
              </a:tr>
              <a:tr h="370840">
                <a:tc>
                  <a:txBody>
                    <a:bodyPr/>
                    <a:lstStyle/>
                    <a:p>
                      <a:pPr algn="ctr"/>
                      <a:r>
                        <a:rPr lang="en-US" dirty="0" smtClean="0"/>
                        <a:t>A$B*C-D+E/F/(G+H)</a:t>
                      </a:r>
                      <a:endParaRPr lang="en-US" dirty="0"/>
                    </a:p>
                  </a:txBody>
                  <a:tcPr marL="121920" marR="121920"/>
                </a:tc>
                <a:tc>
                  <a:txBody>
                    <a:bodyPr/>
                    <a:lstStyle/>
                    <a:p>
                      <a:pPr algn="ctr"/>
                      <a:r>
                        <a:rPr lang="en-US" dirty="0" smtClean="0"/>
                        <a:t>+-*$ABCD//EF+GH</a:t>
                      </a:r>
                      <a:endParaRPr lang="en-US" dirty="0"/>
                    </a:p>
                  </a:txBody>
                  <a:tcPr marL="121920" marR="121920"/>
                </a:tc>
                <a:extLst>
                  <a:ext uri="{0D108BD9-81ED-4DB2-BD59-A6C34878D82A}">
                    <a16:rowId xmlns:a16="http://schemas.microsoft.com/office/drawing/2014/main" val="10004"/>
                  </a:ext>
                </a:extLst>
              </a:tr>
              <a:tr h="370840">
                <a:tc>
                  <a:txBody>
                    <a:bodyPr/>
                    <a:lstStyle/>
                    <a:p>
                      <a:pPr algn="ctr"/>
                      <a:r>
                        <a:rPr lang="en-US" dirty="0" smtClean="0"/>
                        <a:t>((A+B)*C-(D-E))$(F+G)</a:t>
                      </a:r>
                      <a:endParaRPr lang="en-US" dirty="0"/>
                    </a:p>
                  </a:txBody>
                  <a:tcPr marL="121920" marR="121920"/>
                </a:tc>
                <a:tc>
                  <a:txBody>
                    <a:bodyPr/>
                    <a:lstStyle/>
                    <a:p>
                      <a:pPr algn="ctr"/>
                      <a:r>
                        <a:rPr lang="en-US" dirty="0" smtClean="0"/>
                        <a:t>$-*+ABC-DE+FG</a:t>
                      </a:r>
                      <a:endParaRPr lang="en-US" dirty="0"/>
                    </a:p>
                  </a:txBody>
                  <a:tcPr marL="121920" marR="121920"/>
                </a:tc>
                <a:extLst>
                  <a:ext uri="{0D108BD9-81ED-4DB2-BD59-A6C34878D82A}">
                    <a16:rowId xmlns:a16="http://schemas.microsoft.com/office/drawing/2014/main" val="10005"/>
                  </a:ext>
                </a:extLst>
              </a:tr>
              <a:tr h="370840">
                <a:tc>
                  <a:txBody>
                    <a:bodyPr/>
                    <a:lstStyle/>
                    <a:p>
                      <a:pPr algn="ctr"/>
                      <a:r>
                        <a:rPr lang="en-US" dirty="0" smtClean="0"/>
                        <a:t>A-B/(C*D$E)</a:t>
                      </a:r>
                      <a:endParaRPr lang="en-US" dirty="0"/>
                    </a:p>
                  </a:txBody>
                  <a:tcPr marL="121920" marR="121920"/>
                </a:tc>
                <a:tc>
                  <a:txBody>
                    <a:bodyPr/>
                    <a:lstStyle/>
                    <a:p>
                      <a:pPr algn="ctr"/>
                      <a:r>
                        <a:rPr lang="en-US" dirty="0" smtClean="0"/>
                        <a:t>-A/B*C$DE</a:t>
                      </a:r>
                      <a:endParaRPr lang="en-US" dirty="0"/>
                    </a:p>
                  </a:txBody>
                  <a:tcPr marL="121920" marR="121920"/>
                </a:tc>
                <a:extLst>
                  <a:ext uri="{0D108BD9-81ED-4DB2-BD59-A6C34878D82A}">
                    <a16:rowId xmlns:a16="http://schemas.microsoft.com/office/drawing/2014/main" val="10006"/>
                  </a:ext>
                </a:extLst>
              </a:tr>
              <a:tr h="370840">
                <a:tc>
                  <a:txBody>
                    <a:bodyPr/>
                    <a:lstStyle/>
                    <a:p>
                      <a:pPr algn="ctr"/>
                      <a:r>
                        <a:rPr lang="en-US" dirty="0" smtClean="0"/>
                        <a:t>A+((B+C)*(D+E))+F/G</a:t>
                      </a:r>
                      <a:endParaRPr lang="en-US" dirty="0"/>
                    </a:p>
                  </a:txBody>
                  <a:tcPr marL="121920" marR="121920"/>
                </a:tc>
                <a:tc>
                  <a:txBody>
                    <a:bodyPr/>
                    <a:lstStyle/>
                    <a:p>
                      <a:pPr algn="ctr"/>
                      <a:r>
                        <a:rPr lang="en-US" dirty="0" smtClean="0"/>
                        <a:t>++A*+BC+DE/FG</a:t>
                      </a:r>
                      <a:endParaRPr lang="en-US" dirty="0"/>
                    </a:p>
                  </a:txBody>
                  <a:tcPr marL="121920" marR="121920"/>
                </a:tc>
                <a:extLst>
                  <a:ext uri="{0D108BD9-81ED-4DB2-BD59-A6C34878D82A}">
                    <a16:rowId xmlns:a16="http://schemas.microsoft.com/office/drawing/2014/main" val="10007"/>
                  </a:ext>
                </a:extLst>
              </a:tr>
              <a:tr h="370840">
                <a:tc>
                  <a:txBody>
                    <a:bodyPr/>
                    <a:lstStyle/>
                    <a:p>
                      <a:pPr algn="ctr"/>
                      <a:r>
                        <a:rPr lang="en-US" dirty="0" smtClean="0"/>
                        <a:t>A+(B+C*D+E)+F/G</a:t>
                      </a:r>
                      <a:endParaRPr lang="en-US" dirty="0"/>
                    </a:p>
                  </a:txBody>
                  <a:tcPr marL="121920" marR="121920"/>
                </a:tc>
                <a:tc>
                  <a:txBody>
                    <a:bodyPr/>
                    <a:lstStyle/>
                    <a:p>
                      <a:pPr algn="ctr"/>
                      <a:r>
                        <a:rPr lang="en-US" dirty="0" smtClean="0"/>
                        <a:t>++A++B*CDE/FG</a:t>
                      </a:r>
                      <a:endParaRPr lang="en-US" dirty="0"/>
                    </a:p>
                  </a:txBody>
                  <a:tcPr marL="121920" marR="121920"/>
                </a:tc>
                <a:extLst>
                  <a:ext uri="{0D108BD9-81ED-4DB2-BD59-A6C34878D82A}">
                    <a16:rowId xmlns:a16="http://schemas.microsoft.com/office/drawing/2014/main" val="10008"/>
                  </a:ext>
                </a:extLst>
              </a:tr>
              <a:tr h="370840">
                <a:tc>
                  <a:txBody>
                    <a:bodyPr/>
                    <a:lstStyle/>
                    <a:p>
                      <a:pPr algn="ctr"/>
                      <a:r>
                        <a:rPr lang="en-US" dirty="0" smtClean="0"/>
                        <a:t>A-B/(C^D)+(E*F)</a:t>
                      </a:r>
                      <a:endParaRPr lang="en-US" dirty="0"/>
                    </a:p>
                  </a:txBody>
                  <a:tcPr marL="121920" marR="121920"/>
                </a:tc>
                <a:tc>
                  <a:txBody>
                    <a:bodyPr/>
                    <a:lstStyle/>
                    <a:p>
                      <a:pPr algn="ctr"/>
                      <a:r>
                        <a:rPr lang="en-US" dirty="0" smtClean="0"/>
                        <a:t>+-A/B^CD*EF</a:t>
                      </a:r>
                      <a:endParaRPr lang="en-US" dirty="0"/>
                    </a:p>
                  </a:txBody>
                  <a:tcPr marL="121920" marR="121920"/>
                </a:tc>
                <a:extLst>
                  <a:ext uri="{0D108BD9-81ED-4DB2-BD59-A6C34878D82A}">
                    <a16:rowId xmlns:a16="http://schemas.microsoft.com/office/drawing/2014/main" val="10009"/>
                  </a:ext>
                </a:extLst>
              </a:tr>
              <a:tr h="370840">
                <a:tc>
                  <a:txBody>
                    <a:bodyPr/>
                    <a:lstStyle/>
                    <a:p>
                      <a:pPr algn="ctr"/>
                      <a:r>
                        <a:rPr lang="en-US" dirty="0" smtClean="0"/>
                        <a:t>A*(B+C)+(B/D)*A+Z*U</a:t>
                      </a:r>
                      <a:endParaRPr lang="en-US" dirty="0"/>
                    </a:p>
                  </a:txBody>
                  <a:tcPr marL="121920" marR="121920"/>
                </a:tc>
                <a:tc>
                  <a:txBody>
                    <a:bodyPr/>
                    <a:lstStyle/>
                    <a:p>
                      <a:pPr algn="ctr"/>
                      <a:r>
                        <a:rPr lang="en-US" dirty="0" smtClean="0"/>
                        <a:t>++*A+BC*/BDA*ZU</a:t>
                      </a:r>
                      <a:endParaRPr lang="en-US" dirty="0"/>
                    </a:p>
                  </a:txBody>
                  <a:tcPr marL="121920" marR="121920"/>
                </a:tc>
                <a:extLst>
                  <a:ext uri="{0D108BD9-81ED-4DB2-BD59-A6C34878D82A}">
                    <a16:rowId xmlns:a16="http://schemas.microsoft.com/office/drawing/2014/main" val="10010"/>
                  </a:ext>
                </a:extLst>
              </a:tr>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A+(B*C-(D/E^F)*G)*H</a:t>
                      </a:r>
                    </a:p>
                  </a:txBody>
                  <a:tcPr marL="121920" marR="121920"/>
                </a:tc>
                <a:tc>
                  <a:txBody>
                    <a:bodyPr/>
                    <a:lstStyle/>
                    <a:p>
                      <a:pPr algn="ctr"/>
                      <a:r>
                        <a:rPr lang="en-US" dirty="0" smtClean="0"/>
                        <a:t>+A*-*BC*/D^EFGH</a:t>
                      </a:r>
                      <a:endParaRPr lang="en-US" dirty="0"/>
                    </a:p>
                  </a:txBody>
                  <a:tcPr marL="121920" marR="121920"/>
                </a:tc>
                <a:extLst>
                  <a:ext uri="{0D108BD9-81ED-4DB2-BD59-A6C34878D82A}">
                    <a16:rowId xmlns:a16="http://schemas.microsoft.com/office/drawing/2014/main" val="10011"/>
                  </a:ext>
                </a:extLst>
              </a:tr>
            </a:tbl>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Casper Bold"/>
              </a:rPr>
              <a:t>Prefix to Infix</a:t>
            </a:r>
          </a:p>
        </p:txBody>
      </p:sp>
      <p:sp>
        <p:nvSpPr>
          <p:cNvPr id="5" name="TextBox 4"/>
          <p:cNvSpPr txBox="1"/>
          <p:nvPr/>
        </p:nvSpPr>
        <p:spPr>
          <a:xfrm>
            <a:off x="1117601" y="2438401"/>
            <a:ext cx="2244525" cy="1323439"/>
          </a:xfrm>
          <a:prstGeom prst="rect">
            <a:avLst/>
          </a:prstGeom>
          <a:noFill/>
        </p:spPr>
        <p:txBody>
          <a:bodyPr wrap="none" rtlCol="0">
            <a:spAutoFit/>
          </a:bodyPr>
          <a:lstStyle/>
          <a:p>
            <a:r>
              <a:rPr lang="en-US" sz="2000" b="1" dirty="0" smtClean="0"/>
              <a:t>PREFIX  :   +A-BC</a:t>
            </a:r>
          </a:p>
          <a:p>
            <a:r>
              <a:rPr lang="en-US" sz="2000" b="1" dirty="0" smtClean="0"/>
              <a:t>	   +A</a:t>
            </a:r>
            <a:r>
              <a:rPr lang="en-US" sz="2000" b="1" dirty="0" smtClean="0">
                <a:solidFill>
                  <a:schemeClr val="bg2">
                    <a:lumMod val="50000"/>
                  </a:schemeClr>
                </a:solidFill>
              </a:rPr>
              <a:t>-</a:t>
            </a:r>
            <a:r>
              <a:rPr lang="en-US" sz="2000" b="1" dirty="0" smtClean="0">
                <a:solidFill>
                  <a:srgbClr val="FF0000"/>
                </a:solidFill>
              </a:rPr>
              <a:t>B</a:t>
            </a:r>
            <a:r>
              <a:rPr lang="en-US" sz="2000" b="1" dirty="0" smtClean="0">
                <a:solidFill>
                  <a:srgbClr val="00B050"/>
                </a:solidFill>
              </a:rPr>
              <a:t>C</a:t>
            </a:r>
          </a:p>
          <a:p>
            <a:r>
              <a:rPr lang="en-US" sz="2000" b="1" dirty="0" smtClean="0">
                <a:solidFill>
                  <a:srgbClr val="FF0000"/>
                </a:solidFill>
              </a:rPr>
              <a:t>	</a:t>
            </a:r>
            <a:r>
              <a:rPr lang="en-US" sz="2000" b="1" dirty="0" smtClean="0">
                <a:solidFill>
                  <a:schemeClr val="bg2">
                    <a:lumMod val="50000"/>
                  </a:schemeClr>
                </a:solidFill>
              </a:rPr>
              <a:t>   +</a:t>
            </a:r>
            <a:r>
              <a:rPr lang="en-US" sz="2000" b="1" dirty="0" smtClean="0">
                <a:solidFill>
                  <a:srgbClr val="FF0000"/>
                </a:solidFill>
              </a:rPr>
              <a:t>A</a:t>
            </a:r>
            <a:r>
              <a:rPr lang="en-US" sz="2000" b="1" dirty="0" smtClean="0">
                <a:solidFill>
                  <a:srgbClr val="00B050"/>
                </a:solidFill>
              </a:rPr>
              <a:t>(B-C)</a:t>
            </a:r>
          </a:p>
          <a:p>
            <a:r>
              <a:rPr lang="en-US" sz="2000" b="1" dirty="0" smtClean="0"/>
              <a:t>INFIX:</a:t>
            </a:r>
            <a:r>
              <a:rPr lang="en-US" sz="2000" b="1" dirty="0" smtClean="0">
                <a:solidFill>
                  <a:srgbClr val="00B050"/>
                </a:solidFill>
              </a:rPr>
              <a:t>	</a:t>
            </a:r>
            <a:r>
              <a:rPr lang="en-US" sz="2000" b="1" dirty="0" smtClean="0"/>
              <a:t>   (A+(B-C))</a:t>
            </a:r>
            <a:endParaRPr lang="en-US" sz="2000" b="1" dirty="0"/>
          </a:p>
        </p:txBody>
      </p:sp>
      <p:sp>
        <p:nvSpPr>
          <p:cNvPr id="6" name="TextBox 5"/>
          <p:cNvSpPr txBox="1"/>
          <p:nvPr/>
        </p:nvSpPr>
        <p:spPr>
          <a:xfrm>
            <a:off x="812800" y="1905000"/>
            <a:ext cx="508000" cy="369332"/>
          </a:xfrm>
          <a:prstGeom prst="rect">
            <a:avLst/>
          </a:prstGeom>
          <a:solidFill>
            <a:schemeClr val="bg2">
              <a:lumMod val="75000"/>
            </a:schemeClr>
          </a:solidFill>
        </p:spPr>
        <p:txBody>
          <a:bodyPr wrap="square" rtlCol="0">
            <a:spAutoFit/>
          </a:bodyPr>
          <a:lstStyle/>
          <a:p>
            <a:endParaRPr lang="en-US" dirty="0">
              <a:solidFill>
                <a:schemeClr val="bg2">
                  <a:lumMod val="50000"/>
                </a:schemeClr>
              </a:solidFill>
            </a:endParaRPr>
          </a:p>
        </p:txBody>
      </p:sp>
      <p:sp>
        <p:nvSpPr>
          <p:cNvPr id="7" name="TextBox 6"/>
          <p:cNvSpPr txBox="1"/>
          <p:nvPr/>
        </p:nvSpPr>
        <p:spPr>
          <a:xfrm>
            <a:off x="7924800" y="1905000"/>
            <a:ext cx="508000" cy="369332"/>
          </a:xfrm>
          <a:prstGeom prst="rect">
            <a:avLst/>
          </a:prstGeom>
          <a:solidFill>
            <a:srgbClr val="00B050"/>
          </a:solidFill>
        </p:spPr>
        <p:txBody>
          <a:bodyPr wrap="square" rtlCol="0">
            <a:spAutoFit/>
          </a:bodyPr>
          <a:lstStyle/>
          <a:p>
            <a:endParaRPr lang="en-US" dirty="0">
              <a:solidFill>
                <a:schemeClr val="bg2">
                  <a:lumMod val="50000"/>
                </a:schemeClr>
              </a:solidFill>
            </a:endParaRPr>
          </a:p>
        </p:txBody>
      </p:sp>
      <p:sp>
        <p:nvSpPr>
          <p:cNvPr id="8" name="TextBox 7"/>
          <p:cNvSpPr txBox="1"/>
          <p:nvPr/>
        </p:nvSpPr>
        <p:spPr>
          <a:xfrm>
            <a:off x="4368800" y="1905000"/>
            <a:ext cx="508000" cy="369332"/>
          </a:xfrm>
          <a:prstGeom prst="rect">
            <a:avLst/>
          </a:prstGeom>
          <a:solidFill>
            <a:srgbClr val="FF0000"/>
          </a:solidFill>
        </p:spPr>
        <p:txBody>
          <a:bodyPr wrap="square" rtlCol="0">
            <a:spAutoFit/>
          </a:bodyPr>
          <a:lstStyle/>
          <a:p>
            <a:endParaRPr lang="en-US" dirty="0">
              <a:solidFill>
                <a:schemeClr val="bg2">
                  <a:lumMod val="50000"/>
                </a:schemeClr>
              </a:solidFill>
            </a:endParaRPr>
          </a:p>
        </p:txBody>
      </p:sp>
      <p:sp>
        <p:nvSpPr>
          <p:cNvPr id="9" name="TextBox 8"/>
          <p:cNvSpPr txBox="1"/>
          <p:nvPr/>
        </p:nvSpPr>
        <p:spPr>
          <a:xfrm>
            <a:off x="1524000" y="1981200"/>
            <a:ext cx="1004314" cy="369332"/>
          </a:xfrm>
          <a:prstGeom prst="rect">
            <a:avLst/>
          </a:prstGeom>
          <a:noFill/>
        </p:spPr>
        <p:txBody>
          <a:bodyPr wrap="none" rtlCol="0">
            <a:spAutoFit/>
          </a:bodyPr>
          <a:lstStyle/>
          <a:p>
            <a:r>
              <a:rPr lang="en-US" dirty="0" smtClean="0"/>
              <a:t>operator</a:t>
            </a:r>
            <a:endParaRPr lang="en-US" dirty="0"/>
          </a:p>
        </p:txBody>
      </p:sp>
      <p:sp>
        <p:nvSpPr>
          <p:cNvPr id="10" name="TextBox 9"/>
          <p:cNvSpPr txBox="1"/>
          <p:nvPr/>
        </p:nvSpPr>
        <p:spPr>
          <a:xfrm>
            <a:off x="4978401" y="1905000"/>
            <a:ext cx="1384931" cy="369332"/>
          </a:xfrm>
          <a:prstGeom prst="rect">
            <a:avLst/>
          </a:prstGeom>
          <a:noFill/>
        </p:spPr>
        <p:txBody>
          <a:bodyPr wrap="none" rtlCol="0">
            <a:spAutoFit/>
          </a:bodyPr>
          <a:lstStyle/>
          <a:p>
            <a:r>
              <a:rPr lang="en-US" dirty="0" smtClean="0"/>
              <a:t>Left operand</a:t>
            </a:r>
            <a:endParaRPr lang="en-US" dirty="0"/>
          </a:p>
        </p:txBody>
      </p:sp>
      <p:sp>
        <p:nvSpPr>
          <p:cNvPr id="11" name="TextBox 10"/>
          <p:cNvSpPr txBox="1"/>
          <p:nvPr/>
        </p:nvSpPr>
        <p:spPr>
          <a:xfrm>
            <a:off x="8516626" y="1905000"/>
            <a:ext cx="1509901" cy="369332"/>
          </a:xfrm>
          <a:prstGeom prst="rect">
            <a:avLst/>
          </a:prstGeom>
          <a:noFill/>
        </p:spPr>
        <p:txBody>
          <a:bodyPr wrap="none" rtlCol="0">
            <a:spAutoFit/>
          </a:bodyPr>
          <a:lstStyle/>
          <a:p>
            <a:r>
              <a:rPr lang="en-US" dirty="0" smtClean="0"/>
              <a:t>Right operand</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Casper Bold"/>
              </a:rPr>
              <a:t>Postfix to Infix</a:t>
            </a:r>
          </a:p>
        </p:txBody>
      </p:sp>
      <p:sp>
        <p:nvSpPr>
          <p:cNvPr id="4" name="TextBox 3"/>
          <p:cNvSpPr txBox="1"/>
          <p:nvPr/>
        </p:nvSpPr>
        <p:spPr>
          <a:xfrm>
            <a:off x="4368800" y="1524000"/>
            <a:ext cx="2608406" cy="369332"/>
          </a:xfrm>
          <a:prstGeom prst="rect">
            <a:avLst/>
          </a:prstGeom>
          <a:noFill/>
        </p:spPr>
        <p:txBody>
          <a:bodyPr wrap="none" rtlCol="0">
            <a:spAutoFit/>
          </a:bodyPr>
          <a:lstStyle/>
          <a:p>
            <a:r>
              <a:rPr lang="en-US" dirty="0" smtClean="0"/>
              <a:t>POSTFIX:   ABCDE-+/*EF*-</a:t>
            </a:r>
            <a:endParaRPr lang="en-US" dirty="0"/>
          </a:p>
        </p:txBody>
      </p:sp>
      <p:graphicFrame>
        <p:nvGraphicFramePr>
          <p:cNvPr id="5" name="Table 4"/>
          <p:cNvGraphicFramePr>
            <a:graphicFrameLocks noGrp="1"/>
          </p:cNvGraphicFramePr>
          <p:nvPr/>
        </p:nvGraphicFramePr>
        <p:xfrm>
          <a:off x="508000" y="2849880"/>
          <a:ext cx="1016000" cy="7315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tblGrid>
              <a:tr h="361315">
                <a:tc>
                  <a:txBody>
                    <a:bodyPr/>
                    <a:lstStyle/>
                    <a:p>
                      <a:pPr algn="ctr"/>
                      <a:endParaRPr lang="en-US" dirty="0"/>
                    </a:p>
                  </a:txBody>
                  <a:tcPr marL="121920" marR="121920">
                    <a:solidFill>
                      <a:schemeClr val="bg1">
                        <a:lumMod val="85000"/>
                      </a:schemeClr>
                    </a:solidFill>
                  </a:tcPr>
                </a:tc>
                <a:extLst>
                  <a:ext uri="{0D108BD9-81ED-4DB2-BD59-A6C34878D82A}">
                    <a16:rowId xmlns:a16="http://schemas.microsoft.com/office/drawing/2014/main" val="10000"/>
                  </a:ext>
                </a:extLst>
              </a:tr>
              <a:tr h="361315">
                <a:tc>
                  <a:txBody>
                    <a:bodyPr/>
                    <a:lstStyle/>
                    <a:p>
                      <a:pPr algn="ctr"/>
                      <a:r>
                        <a:rPr lang="en-US" dirty="0" smtClean="0"/>
                        <a:t>A</a:t>
                      </a:r>
                      <a:endParaRPr lang="en-US" dirty="0"/>
                    </a:p>
                  </a:txBody>
                  <a:tcPr marL="121920" marR="121920"/>
                </a:tc>
                <a:extLst>
                  <a:ext uri="{0D108BD9-81ED-4DB2-BD59-A6C34878D82A}">
                    <a16:rowId xmlns:a16="http://schemas.microsoft.com/office/drawing/2014/main" val="10001"/>
                  </a:ext>
                </a:extLst>
              </a:tr>
            </a:tbl>
          </a:graphicData>
        </a:graphic>
      </p:graphicFrame>
      <p:graphicFrame>
        <p:nvGraphicFramePr>
          <p:cNvPr id="6" name="Table 5"/>
          <p:cNvGraphicFramePr>
            <a:graphicFrameLocks noGrp="1"/>
          </p:cNvGraphicFramePr>
          <p:nvPr/>
        </p:nvGraphicFramePr>
        <p:xfrm>
          <a:off x="2032000" y="2468880"/>
          <a:ext cx="914400" cy="111252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tblGrid>
              <a:tr h="370840">
                <a:tc>
                  <a:txBody>
                    <a:bodyPr/>
                    <a:lstStyle/>
                    <a:p>
                      <a:pPr algn="ctr"/>
                      <a:endParaRPr lang="en-US" dirty="0"/>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dirty="0" smtClean="0"/>
                        <a:t>B</a:t>
                      </a:r>
                      <a:endParaRPr lang="en-US" dirty="0"/>
                    </a:p>
                  </a:txBody>
                  <a:tcPr marL="121920" marR="121920"/>
                </a:tc>
                <a:extLst>
                  <a:ext uri="{0D108BD9-81ED-4DB2-BD59-A6C34878D82A}">
                    <a16:rowId xmlns:a16="http://schemas.microsoft.com/office/drawing/2014/main" val="10001"/>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nvGraphicFramePr>
        <p:xfrm>
          <a:off x="3759200" y="2545080"/>
          <a:ext cx="914400" cy="111252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tblGrid>
              <a:tr h="370840">
                <a:tc>
                  <a:txBody>
                    <a:bodyPr/>
                    <a:lstStyle/>
                    <a:p>
                      <a:pPr algn="ctr"/>
                      <a:r>
                        <a:rPr lang="en-US" dirty="0" smtClean="0">
                          <a:solidFill>
                            <a:schemeClr val="tx1"/>
                          </a:solidFill>
                        </a:rPr>
                        <a:t>C</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dirty="0" smtClean="0"/>
                        <a:t>B</a:t>
                      </a:r>
                      <a:endParaRPr lang="en-US" dirty="0"/>
                    </a:p>
                  </a:txBody>
                  <a:tcPr marL="121920" marR="121920"/>
                </a:tc>
                <a:extLst>
                  <a:ext uri="{0D108BD9-81ED-4DB2-BD59-A6C34878D82A}">
                    <a16:rowId xmlns:a16="http://schemas.microsoft.com/office/drawing/2014/main" val="10001"/>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2"/>
                  </a:ext>
                </a:extLst>
              </a:tr>
            </a:tbl>
          </a:graphicData>
        </a:graphic>
      </p:graphicFrame>
      <p:graphicFrame>
        <p:nvGraphicFramePr>
          <p:cNvPr id="8" name="Table 7"/>
          <p:cNvGraphicFramePr>
            <a:graphicFrameLocks noGrp="1"/>
          </p:cNvGraphicFramePr>
          <p:nvPr/>
        </p:nvGraphicFramePr>
        <p:xfrm>
          <a:off x="5486400" y="2174240"/>
          <a:ext cx="914400" cy="148336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tblGrid>
              <a:tr h="370840">
                <a:tc>
                  <a:txBody>
                    <a:bodyPr/>
                    <a:lstStyle/>
                    <a:p>
                      <a:pPr algn="ctr"/>
                      <a:r>
                        <a:rPr lang="en-US" dirty="0" smtClean="0">
                          <a:solidFill>
                            <a:schemeClr val="tx1"/>
                          </a:solidFill>
                        </a:rPr>
                        <a:t>D</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dirty="0" smtClean="0">
                          <a:solidFill>
                            <a:schemeClr val="tx1"/>
                          </a:solidFill>
                        </a:rPr>
                        <a:t>C</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70840">
                <a:tc>
                  <a:txBody>
                    <a:bodyPr/>
                    <a:lstStyle/>
                    <a:p>
                      <a:pPr algn="ctr"/>
                      <a:r>
                        <a:rPr lang="en-US" dirty="0" smtClean="0"/>
                        <a:t>B</a:t>
                      </a:r>
                      <a:endParaRPr lang="en-US" dirty="0"/>
                    </a:p>
                  </a:txBody>
                  <a:tcPr marL="121920" marR="121920"/>
                </a:tc>
                <a:extLst>
                  <a:ext uri="{0D108BD9-81ED-4DB2-BD59-A6C34878D82A}">
                    <a16:rowId xmlns:a16="http://schemas.microsoft.com/office/drawing/2014/main" val="10002"/>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3"/>
                  </a:ext>
                </a:extLst>
              </a:tr>
            </a:tbl>
          </a:graphicData>
        </a:graphic>
      </p:graphicFrame>
      <p:graphicFrame>
        <p:nvGraphicFramePr>
          <p:cNvPr id="9" name="Table 8"/>
          <p:cNvGraphicFramePr>
            <a:graphicFrameLocks noGrp="1"/>
          </p:cNvGraphicFramePr>
          <p:nvPr/>
        </p:nvGraphicFramePr>
        <p:xfrm>
          <a:off x="7213600" y="1828800"/>
          <a:ext cx="914400" cy="18542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tblGrid>
              <a:tr h="370840">
                <a:tc>
                  <a:txBody>
                    <a:bodyPr/>
                    <a:lstStyle/>
                    <a:p>
                      <a:pPr algn="ctr"/>
                      <a:r>
                        <a:rPr lang="en-US" dirty="0" smtClean="0">
                          <a:solidFill>
                            <a:schemeClr val="tx1"/>
                          </a:solidFill>
                        </a:rPr>
                        <a:t>E</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dirty="0" smtClean="0">
                          <a:solidFill>
                            <a:schemeClr val="tx1"/>
                          </a:solidFill>
                        </a:rPr>
                        <a:t>D</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70840">
                <a:tc>
                  <a:txBody>
                    <a:bodyPr/>
                    <a:lstStyle/>
                    <a:p>
                      <a:pPr algn="ctr"/>
                      <a:r>
                        <a:rPr lang="en-US" dirty="0" smtClean="0">
                          <a:solidFill>
                            <a:schemeClr val="tx1"/>
                          </a:solidFill>
                        </a:rPr>
                        <a:t>C</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70840">
                <a:tc>
                  <a:txBody>
                    <a:bodyPr/>
                    <a:lstStyle/>
                    <a:p>
                      <a:pPr algn="ctr"/>
                      <a:r>
                        <a:rPr lang="en-US" dirty="0" smtClean="0"/>
                        <a:t>B</a:t>
                      </a:r>
                      <a:endParaRPr lang="en-US" dirty="0"/>
                    </a:p>
                  </a:txBody>
                  <a:tcPr marL="121920" marR="121920"/>
                </a:tc>
                <a:extLst>
                  <a:ext uri="{0D108BD9-81ED-4DB2-BD59-A6C34878D82A}">
                    <a16:rowId xmlns:a16="http://schemas.microsoft.com/office/drawing/2014/main" val="10003"/>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nvGraphicFramePr>
        <p:xfrm>
          <a:off x="9042400" y="1447800"/>
          <a:ext cx="914400" cy="22250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tblGrid>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r>
                        <a:rPr lang="en-US" dirty="0" smtClean="0">
                          <a:solidFill>
                            <a:schemeClr val="tx1"/>
                          </a:solidFill>
                        </a:rPr>
                        <a:t>E</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70840">
                <a:tc>
                  <a:txBody>
                    <a:bodyPr/>
                    <a:lstStyle/>
                    <a:p>
                      <a:pPr algn="ctr"/>
                      <a:r>
                        <a:rPr lang="en-US" dirty="0" smtClean="0">
                          <a:solidFill>
                            <a:schemeClr val="tx1"/>
                          </a:solidFill>
                        </a:rPr>
                        <a:t>D</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70840">
                <a:tc>
                  <a:txBody>
                    <a:bodyPr/>
                    <a:lstStyle/>
                    <a:p>
                      <a:pPr algn="ctr"/>
                      <a:r>
                        <a:rPr lang="en-US" dirty="0" smtClean="0">
                          <a:solidFill>
                            <a:schemeClr val="tx1"/>
                          </a:solidFill>
                        </a:rPr>
                        <a:t>C</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70840">
                <a:tc>
                  <a:txBody>
                    <a:bodyPr/>
                    <a:lstStyle/>
                    <a:p>
                      <a:pPr algn="ctr"/>
                      <a:r>
                        <a:rPr lang="en-US" dirty="0" smtClean="0"/>
                        <a:t>B</a:t>
                      </a:r>
                      <a:endParaRPr lang="en-US" dirty="0"/>
                    </a:p>
                  </a:txBody>
                  <a:tcPr marL="121920" marR="121920"/>
                </a:tc>
                <a:extLst>
                  <a:ext uri="{0D108BD9-81ED-4DB2-BD59-A6C34878D82A}">
                    <a16:rowId xmlns:a16="http://schemas.microsoft.com/office/drawing/2014/main" val="10004"/>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11" name="Table 10"/>
          <p:cNvGraphicFramePr>
            <a:graphicFrameLocks noGrp="1"/>
          </p:cNvGraphicFramePr>
          <p:nvPr/>
        </p:nvGraphicFramePr>
        <p:xfrm>
          <a:off x="10668000" y="1447800"/>
          <a:ext cx="914400" cy="22250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tblGrid>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70840">
                <a:tc>
                  <a:txBody>
                    <a:bodyPr/>
                    <a:lstStyle/>
                    <a:p>
                      <a:pPr algn="ctr"/>
                      <a:r>
                        <a:rPr lang="en-US" dirty="0" smtClean="0">
                          <a:solidFill>
                            <a:schemeClr val="tx1"/>
                          </a:solidFill>
                        </a:rPr>
                        <a:t>(D-E)</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70840">
                <a:tc>
                  <a:txBody>
                    <a:bodyPr/>
                    <a:lstStyle/>
                    <a:p>
                      <a:pPr algn="ctr"/>
                      <a:r>
                        <a:rPr lang="en-US" dirty="0" smtClean="0">
                          <a:solidFill>
                            <a:schemeClr val="tx1"/>
                          </a:solidFill>
                        </a:rPr>
                        <a:t>C</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70840">
                <a:tc>
                  <a:txBody>
                    <a:bodyPr/>
                    <a:lstStyle/>
                    <a:p>
                      <a:pPr algn="ctr"/>
                      <a:r>
                        <a:rPr lang="en-US" dirty="0" smtClean="0"/>
                        <a:t>B</a:t>
                      </a:r>
                      <a:endParaRPr lang="en-US" dirty="0"/>
                    </a:p>
                  </a:txBody>
                  <a:tcPr marL="121920" marR="121920"/>
                </a:tc>
                <a:extLst>
                  <a:ext uri="{0D108BD9-81ED-4DB2-BD59-A6C34878D82A}">
                    <a16:rowId xmlns:a16="http://schemas.microsoft.com/office/drawing/2014/main" val="10004"/>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12" name="Table 11"/>
          <p:cNvGraphicFramePr>
            <a:graphicFrameLocks noGrp="1"/>
          </p:cNvGraphicFramePr>
          <p:nvPr/>
        </p:nvGraphicFramePr>
        <p:xfrm>
          <a:off x="508000" y="4191000"/>
          <a:ext cx="914400" cy="222504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tblGrid>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70840">
                <a:tc>
                  <a:txBody>
                    <a:bodyPr/>
                    <a:lstStyle/>
                    <a:p>
                      <a:pPr algn="ctr"/>
                      <a:r>
                        <a:rPr lang="en-US" dirty="0" smtClean="0">
                          <a:solidFill>
                            <a:schemeClr val="tx1"/>
                          </a:solidFill>
                        </a:rPr>
                        <a:t>(D-E)</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70840">
                <a:tc>
                  <a:txBody>
                    <a:bodyPr/>
                    <a:lstStyle/>
                    <a:p>
                      <a:pPr algn="ctr"/>
                      <a:r>
                        <a:rPr lang="en-US" dirty="0" smtClean="0">
                          <a:solidFill>
                            <a:schemeClr val="tx1"/>
                          </a:solidFill>
                        </a:rPr>
                        <a:t>C</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70840">
                <a:tc>
                  <a:txBody>
                    <a:bodyPr/>
                    <a:lstStyle/>
                    <a:p>
                      <a:pPr algn="ctr"/>
                      <a:r>
                        <a:rPr lang="en-US" dirty="0" smtClean="0"/>
                        <a:t>B</a:t>
                      </a:r>
                      <a:endParaRPr lang="en-US" dirty="0"/>
                    </a:p>
                  </a:txBody>
                  <a:tcPr marL="121920" marR="121920"/>
                </a:tc>
                <a:extLst>
                  <a:ext uri="{0D108BD9-81ED-4DB2-BD59-A6C34878D82A}">
                    <a16:rowId xmlns:a16="http://schemas.microsoft.com/office/drawing/2014/main" val="10004"/>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13" name="Table 12"/>
          <p:cNvGraphicFramePr>
            <a:graphicFrameLocks noGrp="1"/>
          </p:cNvGraphicFramePr>
          <p:nvPr/>
        </p:nvGraphicFramePr>
        <p:xfrm>
          <a:off x="2235200" y="4191000"/>
          <a:ext cx="1625600" cy="222504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tblGrid>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70840">
                <a:tc>
                  <a:txBody>
                    <a:bodyPr/>
                    <a:lstStyle/>
                    <a:p>
                      <a:pPr algn="ctr"/>
                      <a:r>
                        <a:rPr lang="en-US" dirty="0" smtClean="0">
                          <a:solidFill>
                            <a:schemeClr val="tx1"/>
                          </a:solidFill>
                        </a:rPr>
                        <a:t>(C+(D-E))</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70840">
                <a:tc>
                  <a:txBody>
                    <a:bodyPr/>
                    <a:lstStyle/>
                    <a:p>
                      <a:pPr algn="ctr"/>
                      <a:r>
                        <a:rPr lang="en-US" dirty="0" smtClean="0"/>
                        <a:t>B</a:t>
                      </a:r>
                      <a:endParaRPr lang="en-US" dirty="0"/>
                    </a:p>
                  </a:txBody>
                  <a:tcPr marL="121920" marR="121920"/>
                </a:tc>
                <a:extLst>
                  <a:ext uri="{0D108BD9-81ED-4DB2-BD59-A6C34878D82A}">
                    <a16:rowId xmlns:a16="http://schemas.microsoft.com/office/drawing/2014/main" val="10004"/>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14" name="Table 13"/>
          <p:cNvGraphicFramePr>
            <a:graphicFrameLocks noGrp="1"/>
          </p:cNvGraphicFramePr>
          <p:nvPr/>
        </p:nvGraphicFramePr>
        <p:xfrm>
          <a:off x="4775200" y="4191000"/>
          <a:ext cx="1422400" cy="222504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20000"/>
                    </a:ext>
                  </a:extLst>
                </a:gridCol>
              </a:tblGrid>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70840">
                <a:tc>
                  <a:txBody>
                    <a:bodyPr/>
                    <a:lstStyle/>
                    <a:p>
                      <a:pPr algn="ctr"/>
                      <a:r>
                        <a:rPr lang="en-US" dirty="0" smtClean="0">
                          <a:solidFill>
                            <a:schemeClr val="tx1"/>
                          </a:solidFill>
                        </a:rPr>
                        <a:t>(C+(D-E))</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70840">
                <a:tc>
                  <a:txBody>
                    <a:bodyPr/>
                    <a:lstStyle/>
                    <a:p>
                      <a:pPr algn="ctr"/>
                      <a:r>
                        <a:rPr lang="en-US" dirty="0" smtClean="0"/>
                        <a:t>B</a:t>
                      </a:r>
                      <a:endParaRPr lang="en-US" dirty="0"/>
                    </a:p>
                  </a:txBody>
                  <a:tcPr marL="121920" marR="121920"/>
                </a:tc>
                <a:extLst>
                  <a:ext uri="{0D108BD9-81ED-4DB2-BD59-A6C34878D82A}">
                    <a16:rowId xmlns:a16="http://schemas.microsoft.com/office/drawing/2014/main" val="10004"/>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3652247571"/>
              </p:ext>
            </p:extLst>
          </p:nvPr>
        </p:nvGraphicFramePr>
        <p:xfrm>
          <a:off x="6908800" y="4267200"/>
          <a:ext cx="1930400" cy="2225040"/>
        </p:xfrm>
        <a:graphic>
          <a:graphicData uri="http://schemas.openxmlformats.org/drawingml/2006/table">
            <a:tbl>
              <a:tblPr firstRow="1" bandRow="1">
                <a:tableStyleId>{5C22544A-7EE6-4342-B048-85BDC9FD1C3A}</a:tableStyleId>
              </a:tblPr>
              <a:tblGrid>
                <a:gridCol w="1930400">
                  <a:extLst>
                    <a:ext uri="{9D8B030D-6E8A-4147-A177-3AD203B41FA5}">
                      <a16:colId xmlns:a16="http://schemas.microsoft.com/office/drawing/2014/main" val="20000"/>
                    </a:ext>
                  </a:extLst>
                </a:gridCol>
              </a:tblGrid>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70840">
                <a:tc>
                  <a:txBody>
                    <a:bodyPr/>
                    <a:lstStyle/>
                    <a:p>
                      <a:pPr algn="ctr"/>
                      <a:r>
                        <a:rPr lang="en-US" dirty="0" smtClean="0"/>
                        <a:t>(B/(C+(D-E))</a:t>
                      </a:r>
                      <a:endParaRPr lang="en-US" dirty="0"/>
                    </a:p>
                  </a:txBody>
                  <a:tcPr marL="121920" marR="121920"/>
                </a:tc>
                <a:extLst>
                  <a:ext uri="{0D108BD9-81ED-4DB2-BD59-A6C34878D82A}">
                    <a16:rowId xmlns:a16="http://schemas.microsoft.com/office/drawing/2014/main" val="10004"/>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147481112"/>
              </p:ext>
            </p:extLst>
          </p:nvPr>
        </p:nvGraphicFramePr>
        <p:xfrm>
          <a:off x="9652000" y="4267200"/>
          <a:ext cx="1930400" cy="2225040"/>
        </p:xfrm>
        <a:graphic>
          <a:graphicData uri="http://schemas.openxmlformats.org/drawingml/2006/table">
            <a:tbl>
              <a:tblPr firstRow="1" bandRow="1">
                <a:tableStyleId>{5C22544A-7EE6-4342-B048-85BDC9FD1C3A}</a:tableStyleId>
              </a:tblPr>
              <a:tblGrid>
                <a:gridCol w="1930400">
                  <a:extLst>
                    <a:ext uri="{9D8B030D-6E8A-4147-A177-3AD203B41FA5}">
                      <a16:colId xmlns:a16="http://schemas.microsoft.com/office/drawing/2014/main" val="20000"/>
                    </a:ext>
                  </a:extLst>
                </a:gridCol>
              </a:tblGrid>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70840">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70840">
                <a:tc>
                  <a:txBody>
                    <a:bodyPr/>
                    <a:lstStyle/>
                    <a:p>
                      <a:pPr algn="ctr"/>
                      <a:r>
                        <a:rPr lang="en-US" dirty="0" smtClean="0"/>
                        <a:t>(B/(C+(D-E))</a:t>
                      </a:r>
                      <a:endParaRPr lang="en-US" dirty="0"/>
                    </a:p>
                  </a:txBody>
                  <a:tcPr marL="121920" marR="121920"/>
                </a:tc>
                <a:extLst>
                  <a:ext uri="{0D108BD9-81ED-4DB2-BD59-A6C34878D82A}">
                    <a16:rowId xmlns:a16="http://schemas.microsoft.com/office/drawing/2014/main" val="10004"/>
                  </a:ext>
                </a:extLst>
              </a:tr>
              <a:tr h="370840">
                <a:tc>
                  <a:txBody>
                    <a:bodyPr/>
                    <a:lstStyle/>
                    <a:p>
                      <a:pPr algn="ctr"/>
                      <a:r>
                        <a:rPr lang="en-US" dirty="0" smtClean="0"/>
                        <a:t>A</a:t>
                      </a:r>
                      <a:endParaRPr lang="en-US" dirty="0"/>
                    </a:p>
                  </a:txBody>
                  <a:tcPr marL="121920" marR="121920"/>
                </a:tc>
                <a:extLst>
                  <a:ext uri="{0D108BD9-81ED-4DB2-BD59-A6C34878D82A}">
                    <a16:rowId xmlns:a16="http://schemas.microsoft.com/office/drawing/2014/main" val="10005"/>
                  </a:ext>
                </a:extLst>
              </a:tr>
            </a:tbl>
          </a:graphicData>
        </a:graphic>
      </p:graphicFrame>
      <p:sp>
        <p:nvSpPr>
          <p:cNvPr id="17" name="TextBox 16"/>
          <p:cNvSpPr txBox="1"/>
          <p:nvPr/>
        </p:nvSpPr>
        <p:spPr>
          <a:xfrm>
            <a:off x="8839201" y="1066800"/>
            <a:ext cx="954107" cy="369332"/>
          </a:xfrm>
          <a:prstGeom prst="rect">
            <a:avLst/>
          </a:prstGeom>
          <a:noFill/>
        </p:spPr>
        <p:txBody>
          <a:bodyPr wrap="none" rtlCol="0">
            <a:spAutoFit/>
          </a:bodyPr>
          <a:lstStyle/>
          <a:p>
            <a:r>
              <a:rPr lang="en-US" dirty="0" smtClean="0"/>
              <a:t>- So pop</a:t>
            </a:r>
            <a:endParaRPr lang="en-US" dirty="0"/>
          </a:p>
        </p:txBody>
      </p:sp>
      <p:sp>
        <p:nvSpPr>
          <p:cNvPr id="18" name="TextBox 17"/>
          <p:cNvSpPr txBox="1"/>
          <p:nvPr/>
        </p:nvSpPr>
        <p:spPr>
          <a:xfrm>
            <a:off x="304801" y="3733800"/>
            <a:ext cx="998991" cy="369332"/>
          </a:xfrm>
          <a:prstGeom prst="rect">
            <a:avLst/>
          </a:prstGeom>
          <a:noFill/>
        </p:spPr>
        <p:txBody>
          <a:bodyPr wrap="none" rtlCol="0">
            <a:spAutoFit/>
          </a:bodyPr>
          <a:lstStyle/>
          <a:p>
            <a:r>
              <a:rPr lang="en-US" dirty="0" smtClean="0"/>
              <a:t>+ So pop</a:t>
            </a:r>
            <a:endParaRPr lang="en-US" dirty="0"/>
          </a:p>
        </p:txBody>
      </p:sp>
      <p:sp>
        <p:nvSpPr>
          <p:cNvPr id="19" name="TextBox 18"/>
          <p:cNvSpPr txBox="1"/>
          <p:nvPr/>
        </p:nvSpPr>
        <p:spPr>
          <a:xfrm>
            <a:off x="4775201" y="3810000"/>
            <a:ext cx="973343" cy="369332"/>
          </a:xfrm>
          <a:prstGeom prst="rect">
            <a:avLst/>
          </a:prstGeom>
          <a:noFill/>
        </p:spPr>
        <p:txBody>
          <a:bodyPr wrap="none" rtlCol="0">
            <a:spAutoFit/>
          </a:bodyPr>
          <a:lstStyle/>
          <a:p>
            <a:r>
              <a:rPr lang="en-US" dirty="0" smtClean="0"/>
              <a:t>/ So pop</a:t>
            </a:r>
            <a:endParaRPr lang="en-US" dirty="0"/>
          </a:p>
        </p:txBody>
      </p:sp>
      <p:sp>
        <p:nvSpPr>
          <p:cNvPr id="20" name="TextBox 19"/>
          <p:cNvSpPr txBox="1"/>
          <p:nvPr/>
        </p:nvSpPr>
        <p:spPr>
          <a:xfrm>
            <a:off x="9956801" y="3886200"/>
            <a:ext cx="998991" cy="369332"/>
          </a:xfrm>
          <a:prstGeom prst="rect">
            <a:avLst/>
          </a:prstGeom>
          <a:noFill/>
        </p:spPr>
        <p:txBody>
          <a:bodyPr wrap="none" rtlCol="0">
            <a:spAutoFit/>
          </a:bodyPr>
          <a:lstStyle/>
          <a:p>
            <a:r>
              <a:rPr lang="en-US" dirty="0" smtClean="0"/>
              <a:t>* So pop</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003019920"/>
              </p:ext>
            </p:extLst>
          </p:nvPr>
        </p:nvGraphicFramePr>
        <p:xfrm>
          <a:off x="812800" y="1600200"/>
          <a:ext cx="2540000" cy="2381956"/>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tblGrid>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16089">
                <a:tc>
                  <a:txBody>
                    <a:bodyPr/>
                    <a:lstStyle/>
                    <a:p>
                      <a:pPr algn="ctr"/>
                      <a:endParaRPr lang="en-US" dirty="0"/>
                    </a:p>
                  </a:txBody>
                  <a:tcPr marL="121920" marR="121920"/>
                </a:tc>
                <a:extLst>
                  <a:ext uri="{0D108BD9-81ED-4DB2-BD59-A6C34878D82A}">
                    <a16:rowId xmlns:a16="http://schemas.microsoft.com/office/drawing/2014/main" val="10004"/>
                  </a:ext>
                </a:extLst>
              </a:tr>
              <a:tr h="5531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(A*(B/(C+(D-E))))</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642551078"/>
              </p:ext>
            </p:extLst>
          </p:nvPr>
        </p:nvGraphicFramePr>
        <p:xfrm>
          <a:off x="3556000" y="1600200"/>
          <a:ext cx="2540000" cy="2381956"/>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tblGrid>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16089">
                <a:tc>
                  <a:txBody>
                    <a:bodyPr/>
                    <a:lstStyle/>
                    <a:p>
                      <a:pPr algn="ctr"/>
                      <a:r>
                        <a:rPr lang="en-US" dirty="0" smtClean="0"/>
                        <a:t>E</a:t>
                      </a:r>
                      <a:endParaRPr lang="en-US" dirty="0"/>
                    </a:p>
                  </a:txBody>
                  <a:tcPr marL="121920" marR="121920"/>
                </a:tc>
                <a:extLst>
                  <a:ext uri="{0D108BD9-81ED-4DB2-BD59-A6C34878D82A}">
                    <a16:rowId xmlns:a16="http://schemas.microsoft.com/office/drawing/2014/main" val="10004"/>
                  </a:ext>
                </a:extLst>
              </a:tr>
              <a:tr h="5531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(A*(B/(C+(D-E))))</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464666084"/>
              </p:ext>
            </p:extLst>
          </p:nvPr>
        </p:nvGraphicFramePr>
        <p:xfrm>
          <a:off x="6400800" y="1676400"/>
          <a:ext cx="2540000" cy="2381956"/>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tblGrid>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16089">
                <a:tc>
                  <a:txBody>
                    <a:bodyPr/>
                    <a:lstStyle/>
                    <a:p>
                      <a:pPr algn="ctr"/>
                      <a:r>
                        <a:rPr lang="en-US" dirty="0" smtClean="0">
                          <a:solidFill>
                            <a:schemeClr val="tx1"/>
                          </a:solidFill>
                        </a:rPr>
                        <a:t>F</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16089">
                <a:tc>
                  <a:txBody>
                    <a:bodyPr/>
                    <a:lstStyle/>
                    <a:p>
                      <a:pPr algn="ctr"/>
                      <a:r>
                        <a:rPr lang="en-US" dirty="0" smtClean="0"/>
                        <a:t>E</a:t>
                      </a:r>
                      <a:endParaRPr lang="en-US" dirty="0"/>
                    </a:p>
                  </a:txBody>
                  <a:tcPr marL="121920" marR="121920"/>
                </a:tc>
                <a:extLst>
                  <a:ext uri="{0D108BD9-81ED-4DB2-BD59-A6C34878D82A}">
                    <a16:rowId xmlns:a16="http://schemas.microsoft.com/office/drawing/2014/main" val="10004"/>
                  </a:ext>
                </a:extLst>
              </a:tr>
              <a:tr h="5531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(A*(B/(C+(D-E))))</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819906208"/>
              </p:ext>
            </p:extLst>
          </p:nvPr>
        </p:nvGraphicFramePr>
        <p:xfrm>
          <a:off x="9042400" y="1656644"/>
          <a:ext cx="2540000" cy="2381956"/>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tblGrid>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16089">
                <a:tc>
                  <a:txBody>
                    <a:bodyPr/>
                    <a:lstStyle/>
                    <a:p>
                      <a:pPr algn="ctr"/>
                      <a:r>
                        <a:rPr lang="en-US" dirty="0" smtClean="0">
                          <a:solidFill>
                            <a:schemeClr val="tx1"/>
                          </a:solidFill>
                        </a:rPr>
                        <a:t>F</a:t>
                      </a: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16089">
                <a:tc>
                  <a:txBody>
                    <a:bodyPr/>
                    <a:lstStyle/>
                    <a:p>
                      <a:pPr algn="ctr"/>
                      <a:r>
                        <a:rPr lang="en-US" dirty="0" smtClean="0"/>
                        <a:t>E</a:t>
                      </a:r>
                      <a:endParaRPr lang="en-US" dirty="0"/>
                    </a:p>
                  </a:txBody>
                  <a:tcPr marL="121920" marR="121920"/>
                </a:tc>
                <a:extLst>
                  <a:ext uri="{0D108BD9-81ED-4DB2-BD59-A6C34878D82A}">
                    <a16:rowId xmlns:a16="http://schemas.microsoft.com/office/drawing/2014/main" val="10004"/>
                  </a:ext>
                </a:extLst>
              </a:tr>
              <a:tr h="5531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(A*(B/(C+(D-E))))</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736510865"/>
              </p:ext>
            </p:extLst>
          </p:nvPr>
        </p:nvGraphicFramePr>
        <p:xfrm>
          <a:off x="711200" y="4323644"/>
          <a:ext cx="2540000" cy="2381956"/>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tblGrid>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16089">
                <a:tc>
                  <a:txBody>
                    <a:bodyPr/>
                    <a:lstStyle/>
                    <a:p>
                      <a:pPr algn="ctr"/>
                      <a:r>
                        <a:rPr lang="en-US" dirty="0" smtClean="0"/>
                        <a:t>(E*F)</a:t>
                      </a:r>
                      <a:endParaRPr lang="en-US" dirty="0"/>
                    </a:p>
                  </a:txBody>
                  <a:tcPr marL="121920" marR="121920"/>
                </a:tc>
                <a:extLst>
                  <a:ext uri="{0D108BD9-81ED-4DB2-BD59-A6C34878D82A}">
                    <a16:rowId xmlns:a16="http://schemas.microsoft.com/office/drawing/2014/main" val="10004"/>
                  </a:ext>
                </a:extLst>
              </a:tr>
              <a:tr h="5531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(A*(B/(C+(D-E))))</a:t>
                      </a:r>
                      <a:endParaRPr lang="en-US" dirty="0"/>
                    </a:p>
                  </a:txBody>
                  <a:tcPr marL="121920" marR="121920"/>
                </a:tc>
                <a:extLst>
                  <a:ext uri="{0D108BD9-81ED-4DB2-BD59-A6C34878D82A}">
                    <a16:rowId xmlns:a16="http://schemas.microsoft.com/office/drawing/2014/main" val="10005"/>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4225354193"/>
              </p:ext>
            </p:extLst>
          </p:nvPr>
        </p:nvGraphicFramePr>
        <p:xfrm>
          <a:off x="3556000" y="4476044"/>
          <a:ext cx="2540000" cy="2381956"/>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tblGrid>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0"/>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1"/>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2"/>
                  </a:ext>
                </a:extLst>
              </a:tr>
              <a:tr h="316089">
                <a:tc>
                  <a:txBody>
                    <a:bodyPr/>
                    <a:lstStyle/>
                    <a:p>
                      <a:pPr algn="ctr"/>
                      <a:endParaRPr lang="en-US" dirty="0">
                        <a:solidFill>
                          <a:schemeClr val="tx1"/>
                        </a:solidFill>
                      </a:endParaRPr>
                    </a:p>
                  </a:txBody>
                  <a:tcPr marL="121920" marR="121920">
                    <a:solidFill>
                      <a:schemeClr val="bg1">
                        <a:lumMod val="85000"/>
                      </a:schemeClr>
                    </a:solidFill>
                  </a:tcPr>
                </a:tc>
                <a:extLst>
                  <a:ext uri="{0D108BD9-81ED-4DB2-BD59-A6C34878D82A}">
                    <a16:rowId xmlns:a16="http://schemas.microsoft.com/office/drawing/2014/main" val="10003"/>
                  </a:ext>
                </a:extLst>
              </a:tr>
              <a:tr h="316089">
                <a:tc>
                  <a:txBody>
                    <a:bodyPr/>
                    <a:lstStyle/>
                    <a:p>
                      <a:pPr algn="ctr"/>
                      <a:r>
                        <a:rPr lang="en-US" dirty="0" smtClean="0"/>
                        <a:t>(E*F)</a:t>
                      </a:r>
                      <a:endParaRPr lang="en-US" dirty="0"/>
                    </a:p>
                  </a:txBody>
                  <a:tcPr marL="121920" marR="121920"/>
                </a:tc>
                <a:extLst>
                  <a:ext uri="{0D108BD9-81ED-4DB2-BD59-A6C34878D82A}">
                    <a16:rowId xmlns:a16="http://schemas.microsoft.com/office/drawing/2014/main" val="10004"/>
                  </a:ext>
                </a:extLst>
              </a:tr>
              <a:tr h="5531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(A*(B/(C+(D-E))))</a:t>
                      </a:r>
                      <a:endParaRPr lang="en-US" dirty="0"/>
                    </a:p>
                  </a:txBody>
                  <a:tcPr marL="121920" marR="121920"/>
                </a:tc>
                <a:extLst>
                  <a:ext uri="{0D108BD9-81ED-4DB2-BD59-A6C34878D82A}">
                    <a16:rowId xmlns:a16="http://schemas.microsoft.com/office/drawing/2014/main" val="10005"/>
                  </a:ext>
                </a:extLst>
              </a:tr>
            </a:tbl>
          </a:graphicData>
        </a:graphic>
      </p:graphicFrame>
      <p:sp>
        <p:nvSpPr>
          <p:cNvPr id="11" name="TextBox 10"/>
          <p:cNvSpPr txBox="1"/>
          <p:nvPr/>
        </p:nvSpPr>
        <p:spPr>
          <a:xfrm>
            <a:off x="9550401" y="1219200"/>
            <a:ext cx="998991" cy="369332"/>
          </a:xfrm>
          <a:prstGeom prst="rect">
            <a:avLst/>
          </a:prstGeom>
          <a:noFill/>
        </p:spPr>
        <p:txBody>
          <a:bodyPr wrap="none" rtlCol="0">
            <a:spAutoFit/>
          </a:bodyPr>
          <a:lstStyle/>
          <a:p>
            <a:r>
              <a:rPr lang="en-US" dirty="0" smtClean="0"/>
              <a:t>* So pop</a:t>
            </a:r>
            <a:endParaRPr lang="en-US" dirty="0"/>
          </a:p>
        </p:txBody>
      </p:sp>
      <p:sp>
        <p:nvSpPr>
          <p:cNvPr id="12" name="TextBox 11"/>
          <p:cNvSpPr txBox="1"/>
          <p:nvPr/>
        </p:nvSpPr>
        <p:spPr>
          <a:xfrm>
            <a:off x="4165601" y="3962400"/>
            <a:ext cx="954107" cy="369332"/>
          </a:xfrm>
          <a:prstGeom prst="rect">
            <a:avLst/>
          </a:prstGeom>
          <a:noFill/>
        </p:spPr>
        <p:txBody>
          <a:bodyPr wrap="none" rtlCol="0">
            <a:spAutoFit/>
          </a:bodyPr>
          <a:lstStyle/>
          <a:p>
            <a:r>
              <a:rPr lang="en-US" dirty="0" smtClean="0"/>
              <a:t>- So pop</a:t>
            </a:r>
            <a:endParaRPr lang="en-US" dirty="0"/>
          </a:p>
        </p:txBody>
      </p:sp>
      <p:sp>
        <p:nvSpPr>
          <p:cNvPr id="13" name="Rectangle 12"/>
          <p:cNvSpPr/>
          <p:nvPr/>
        </p:nvSpPr>
        <p:spPr>
          <a:xfrm>
            <a:off x="7041999" y="5193268"/>
            <a:ext cx="2321469" cy="369332"/>
          </a:xfrm>
          <a:prstGeom prst="rect">
            <a:avLst/>
          </a:prstGeom>
        </p:spPr>
        <p:txBody>
          <a:bodyPr wrap="none">
            <a:spAutoFit/>
          </a:bodyPr>
          <a:lstStyle/>
          <a:p>
            <a:pPr algn="ctr">
              <a:defRPr/>
            </a:pPr>
            <a:r>
              <a:rPr lang="en-US" dirty="0" smtClean="0"/>
              <a:t>(E*F)-(A*(B/(C+(D-E))))</a:t>
            </a:r>
            <a:endParaRPr lang="en-US" dirty="0"/>
          </a:p>
        </p:txBody>
      </p:sp>
      <p:sp>
        <p:nvSpPr>
          <p:cNvPr id="14" name="Title 1"/>
          <p:cNvSpPr>
            <a:spLocks noGrp="1"/>
          </p:cNvSpPr>
          <p:nvPr>
            <p:ph type="title"/>
          </p:nvPr>
        </p:nvSpPr>
        <p:spPr/>
        <p:txBody>
          <a:bodyPr>
            <a:normAutofit/>
          </a:bodyPr>
          <a:lstStyle/>
          <a:p>
            <a:r>
              <a:rPr lang="en-US" sz="4000" b="1" dirty="0">
                <a:latin typeface="Casper Bold"/>
              </a:rPr>
              <a:t>Postfix to Infix(contd..)</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r>
              <a:rPr lang="en-US" b="1" dirty="0">
                <a:latin typeface="Casper Bold"/>
              </a:rPr>
              <a:t>Applications of Stack</a:t>
            </a:r>
          </a:p>
        </p:txBody>
      </p:sp>
      <p:sp>
        <p:nvSpPr>
          <p:cNvPr id="3" name="Content Placeholder 2"/>
          <p:cNvSpPr>
            <a:spLocks noGrp="1"/>
          </p:cNvSpPr>
          <p:nvPr>
            <p:ph idx="1"/>
          </p:nvPr>
        </p:nvSpPr>
        <p:spPr/>
        <p:txBody>
          <a:bodyPr>
            <a:normAutofit/>
          </a:bodyPr>
          <a:lstStyle/>
          <a:p>
            <a:r>
              <a:rPr lang="en-US" sz="1600" dirty="0">
                <a:solidFill>
                  <a:schemeClr val="tx1">
                    <a:lumMod val="85000"/>
                    <a:lumOff val="15000"/>
                  </a:schemeClr>
                </a:solidFill>
                <a:latin typeface="Casper" panose="02000506000000020004" pitchFamily="2" charset="0"/>
                <a:cs typeface="Arial" panose="020B0604020202020204" pitchFamily="34" charset="0"/>
              </a:rPr>
              <a:t>Express Evolution</a:t>
            </a:r>
          </a:p>
          <a:p>
            <a:r>
              <a:rPr lang="en-US" sz="1600" dirty="0">
                <a:solidFill>
                  <a:schemeClr val="tx1">
                    <a:lumMod val="85000"/>
                    <a:lumOff val="15000"/>
                  </a:schemeClr>
                </a:solidFill>
                <a:latin typeface="Casper" panose="02000506000000020004" pitchFamily="2" charset="0"/>
                <a:cs typeface="Arial" panose="020B0604020202020204" pitchFamily="34" charset="0"/>
              </a:rPr>
              <a:t>Express interchange</a:t>
            </a:r>
          </a:p>
          <a:p>
            <a:pPr lvl="1"/>
            <a:r>
              <a:rPr lang="en-US" sz="1600" dirty="0">
                <a:solidFill>
                  <a:schemeClr val="tx1">
                    <a:lumMod val="85000"/>
                    <a:lumOff val="15000"/>
                  </a:schemeClr>
                </a:solidFill>
                <a:latin typeface="Casper" panose="02000506000000020004" pitchFamily="2" charset="0"/>
                <a:cs typeface="Arial" panose="020B0604020202020204" pitchFamily="34" charset="0"/>
              </a:rPr>
              <a:t>Infix changes to Postfix</a:t>
            </a:r>
          </a:p>
          <a:p>
            <a:pPr lvl="1"/>
            <a:r>
              <a:rPr lang="en-US" sz="1600" dirty="0">
                <a:solidFill>
                  <a:schemeClr val="tx1">
                    <a:lumMod val="85000"/>
                    <a:lumOff val="15000"/>
                  </a:schemeClr>
                </a:solidFill>
                <a:latin typeface="Casper" panose="02000506000000020004" pitchFamily="2" charset="0"/>
                <a:cs typeface="Arial" panose="020B0604020202020204" pitchFamily="34" charset="0"/>
              </a:rPr>
              <a:t>Infix changes to Prefix</a:t>
            </a:r>
          </a:p>
          <a:p>
            <a:pPr lvl="1"/>
            <a:r>
              <a:rPr lang="en-US" sz="1600" dirty="0">
                <a:solidFill>
                  <a:schemeClr val="tx1">
                    <a:lumMod val="85000"/>
                    <a:lumOff val="15000"/>
                  </a:schemeClr>
                </a:solidFill>
                <a:latin typeface="Casper" panose="02000506000000020004" pitchFamily="2" charset="0"/>
                <a:cs typeface="Arial" panose="020B0604020202020204" pitchFamily="34" charset="0"/>
              </a:rPr>
              <a:t>Postfix changes to Infix</a:t>
            </a:r>
          </a:p>
          <a:p>
            <a:pPr lvl="1"/>
            <a:r>
              <a:rPr lang="en-US" sz="1600" dirty="0">
                <a:solidFill>
                  <a:schemeClr val="tx1">
                    <a:lumMod val="85000"/>
                    <a:lumOff val="15000"/>
                  </a:schemeClr>
                </a:solidFill>
                <a:latin typeface="Casper" panose="02000506000000020004" pitchFamily="2" charset="0"/>
                <a:cs typeface="Arial" panose="020B0604020202020204" pitchFamily="34" charset="0"/>
              </a:rPr>
              <a:t>Prefix changes to Infix</a:t>
            </a:r>
          </a:p>
          <a:p>
            <a:r>
              <a:rPr lang="en-US" sz="1600" dirty="0">
                <a:solidFill>
                  <a:schemeClr val="tx1">
                    <a:lumMod val="85000"/>
                    <a:lumOff val="15000"/>
                  </a:schemeClr>
                </a:solidFill>
                <a:latin typeface="Casper" panose="02000506000000020004" pitchFamily="2" charset="0"/>
                <a:cs typeface="Arial" panose="020B0604020202020204" pitchFamily="34" charset="0"/>
              </a:rPr>
              <a:t>Parsing easily done</a:t>
            </a:r>
          </a:p>
          <a:p>
            <a:r>
              <a:rPr lang="en-US" sz="1600" dirty="0">
                <a:solidFill>
                  <a:schemeClr val="tx1">
                    <a:lumMod val="85000"/>
                    <a:lumOff val="15000"/>
                  </a:schemeClr>
                </a:solidFill>
                <a:latin typeface="Casper" panose="02000506000000020004" pitchFamily="2" charset="0"/>
                <a:cs typeface="Arial" panose="020B0604020202020204" pitchFamily="34" charset="0"/>
              </a:rPr>
              <a:t>Simulation of recursion</a:t>
            </a:r>
          </a:p>
          <a:p>
            <a:r>
              <a:rPr lang="en-US" sz="1600" dirty="0">
                <a:solidFill>
                  <a:schemeClr val="tx1">
                    <a:lumMod val="85000"/>
                    <a:lumOff val="15000"/>
                  </a:schemeClr>
                </a:solidFill>
                <a:latin typeface="Casper" panose="02000506000000020004" pitchFamily="2" charset="0"/>
                <a:cs typeface="Arial" panose="020B0604020202020204" pitchFamily="34" charset="0"/>
              </a:rPr>
              <a:t>Function call</a:t>
            </a:r>
          </a:p>
        </p:txBody>
      </p:sp>
      <p:sp>
        <p:nvSpPr>
          <p:cNvPr id="4" name="Slide Number Placeholder 3"/>
          <p:cNvSpPr>
            <a:spLocks noGrp="1"/>
          </p:cNvSpPr>
          <p:nvPr>
            <p:ph type="sldNum" sz="quarter" idx="12"/>
          </p:nvPr>
        </p:nvSpPr>
        <p:spPr/>
        <p:txBody>
          <a:bodyPr/>
          <a:lstStyle/>
          <a:p>
            <a:fld id="{BDCDBBEF-AA6C-4BA6-85B2-A17D7F280E38}" type="slidenum">
              <a:rPr lang="en-US" smtClean="0"/>
              <a:pPr/>
              <a:t>39</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b="1" dirty="0">
                <a:latin typeface="Casper Bold" panose="02000806040000020004" pitchFamily="2" charset="0"/>
                <a:cs typeface="Arial" panose="020B0604020202020204" pitchFamily="34" charset="0"/>
              </a:rPr>
              <a:t>REFERENCES </a:t>
            </a:r>
            <a:r>
              <a:rPr lang="en-US" sz="4000" b="1"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p:txBody>
          <a:bodyPr>
            <a:normAutofit/>
          </a:bodyPr>
          <a:lstStyle/>
          <a:p>
            <a:pPr marL="0" indent="0">
              <a:buNone/>
            </a:pPr>
            <a:endParaRPr lang="en-US" sz="1600" dirty="0">
              <a:hlinkClick r:id="rId2"/>
            </a:endParaRP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2"/>
              </a:rPr>
              <a:t>https://www.cs.cmu.edu/~adamchik/15-121/lectures/Stacks%20and%20Queues/Stacks%20and%20Queues.html</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r>
              <a:rPr lang="en-US" sz="1600" dirty="0">
                <a:solidFill>
                  <a:schemeClr val="tx1">
                    <a:lumMod val="85000"/>
                    <a:lumOff val="15000"/>
                  </a:schemeClr>
                </a:solidFill>
                <a:latin typeface="Casper" panose="02000506000000020004" pitchFamily="2" charset="0"/>
                <a:cs typeface="Arial" panose="020B0604020202020204" pitchFamily="34" charset="0"/>
              </a:rPr>
              <a:t>Data Structures with C/ </a:t>
            </a:r>
            <a:r>
              <a:rPr lang="en-US" sz="1600" dirty="0" err="1">
                <a:solidFill>
                  <a:schemeClr val="tx1">
                    <a:lumMod val="85000"/>
                    <a:lumOff val="15000"/>
                  </a:schemeClr>
                </a:solidFill>
                <a:latin typeface="Casper" panose="02000506000000020004" pitchFamily="2" charset="0"/>
                <a:cs typeface="Arial" panose="020B0604020202020204" pitchFamily="34" charset="0"/>
              </a:rPr>
              <a:t>schaum</a:t>
            </a:r>
            <a:r>
              <a:rPr lang="en-US" sz="1600" dirty="0">
                <a:solidFill>
                  <a:schemeClr val="tx1">
                    <a:lumMod val="85000"/>
                    <a:lumOff val="15000"/>
                  </a:schemeClr>
                </a:solidFill>
                <a:latin typeface="Casper" panose="02000506000000020004" pitchFamily="2" charset="0"/>
                <a:cs typeface="Arial" panose="020B0604020202020204" pitchFamily="34" charset="0"/>
              </a:rPr>
              <a:t>  outline series/ volume 2</a:t>
            </a: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3"/>
              </a:rPr>
              <a:t>https://www.geeksforgeeks.org/stack-data-structure-introduction-program/</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4"/>
              </a:rPr>
              <a:t>https://www.geeksforgeeks.org/queue-set-1introduction-and-array-implementation/</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r>
              <a:rPr lang="en-US" sz="1600" dirty="0">
                <a:solidFill>
                  <a:schemeClr val="tx1">
                    <a:lumMod val="85000"/>
                    <a:lumOff val="15000"/>
                  </a:schemeClr>
                </a:solidFill>
                <a:latin typeface="Casper" panose="02000506000000020004" pitchFamily="2" charset="0"/>
                <a:cs typeface="Arial" panose="020B0604020202020204" pitchFamily="34" charset="0"/>
                <a:hlinkClick r:id="rId5"/>
              </a:rPr>
              <a:t>http://www.yashcode.com/2017/11/prefix-to-postfix-conversion-using-stack.html</a:t>
            </a:r>
            <a:endParaRPr lang="en-US" sz="1600" dirty="0">
              <a:solidFill>
                <a:schemeClr val="tx1">
                  <a:lumMod val="85000"/>
                  <a:lumOff val="15000"/>
                </a:schemeClr>
              </a:solidFill>
              <a:latin typeface="Casper" panose="02000506000000020004" pitchFamily="2" charset="0"/>
              <a:cs typeface="Arial" panose="020B0604020202020204" pitchFamily="34" charset="0"/>
            </a:endParaRPr>
          </a:p>
          <a:p>
            <a:pPr lvl="0"/>
            <a:r>
              <a:rPr lang="en-US" sz="1600" dirty="0" err="1">
                <a:solidFill>
                  <a:schemeClr val="tx1">
                    <a:lumMod val="85000"/>
                    <a:lumOff val="15000"/>
                  </a:schemeClr>
                </a:solidFill>
                <a:latin typeface="Casper" panose="02000506000000020004" pitchFamily="2" charset="0"/>
                <a:cs typeface="Arial" panose="020B0604020202020204" pitchFamily="34" charset="0"/>
              </a:rPr>
              <a:t>Lipschutz</a:t>
            </a:r>
            <a:r>
              <a:rPr lang="en-US" sz="1600" dirty="0">
                <a:solidFill>
                  <a:schemeClr val="tx1">
                    <a:lumMod val="85000"/>
                    <a:lumOff val="15000"/>
                  </a:schemeClr>
                </a:solidFill>
                <a:latin typeface="Casper" panose="02000506000000020004" pitchFamily="2" charset="0"/>
                <a:cs typeface="Arial" panose="020B0604020202020204" pitchFamily="34" charset="0"/>
              </a:rPr>
              <a:t>, Seymour, “Data Structures”, </a:t>
            </a:r>
            <a:r>
              <a:rPr lang="en-US" sz="1600" dirty="0" err="1">
                <a:solidFill>
                  <a:schemeClr val="tx1">
                    <a:lumMod val="85000"/>
                    <a:lumOff val="15000"/>
                  </a:schemeClr>
                </a:solidFill>
                <a:latin typeface="Casper" panose="02000506000000020004" pitchFamily="2" charset="0"/>
                <a:cs typeface="Arial" panose="020B0604020202020204" pitchFamily="34" charset="0"/>
              </a:rPr>
              <a:t>Schaum's</a:t>
            </a:r>
            <a:r>
              <a:rPr lang="en-US" sz="1600" dirty="0">
                <a:solidFill>
                  <a:schemeClr val="tx1">
                    <a:lumMod val="85000"/>
                    <a:lumOff val="15000"/>
                  </a:schemeClr>
                </a:solidFill>
                <a:latin typeface="Casper" panose="02000506000000020004" pitchFamily="2" charset="0"/>
                <a:cs typeface="Arial" panose="020B0604020202020204" pitchFamily="34" charset="0"/>
              </a:rPr>
              <a:t> Outline Series, Tata McGraw Hill.</a:t>
            </a:r>
          </a:p>
          <a:p>
            <a:pPr lvl="0"/>
            <a:r>
              <a:rPr lang="en-US" sz="1600" dirty="0" err="1">
                <a:solidFill>
                  <a:schemeClr val="tx1">
                    <a:lumMod val="85000"/>
                    <a:lumOff val="15000"/>
                  </a:schemeClr>
                </a:solidFill>
                <a:latin typeface="Casper" panose="02000506000000020004" pitchFamily="2" charset="0"/>
                <a:cs typeface="Arial" panose="020B0604020202020204" pitchFamily="34" charset="0"/>
              </a:rPr>
              <a:t>Gilberg</a:t>
            </a:r>
            <a:r>
              <a:rPr lang="en-US" sz="1600" dirty="0">
                <a:solidFill>
                  <a:schemeClr val="tx1">
                    <a:lumMod val="85000"/>
                    <a:lumOff val="15000"/>
                  </a:schemeClr>
                </a:solidFill>
                <a:latin typeface="Casper" panose="02000506000000020004" pitchFamily="2" charset="0"/>
                <a:cs typeface="Arial" panose="020B0604020202020204" pitchFamily="34" charset="0"/>
              </a:rPr>
              <a:t>/</a:t>
            </a:r>
            <a:r>
              <a:rPr lang="en-US" sz="1600" dirty="0" err="1">
                <a:solidFill>
                  <a:schemeClr val="tx1">
                    <a:lumMod val="85000"/>
                    <a:lumOff val="15000"/>
                  </a:schemeClr>
                </a:solidFill>
                <a:latin typeface="Casper" panose="02000506000000020004" pitchFamily="2" charset="0"/>
                <a:cs typeface="Arial" panose="020B0604020202020204" pitchFamily="34" charset="0"/>
              </a:rPr>
              <a:t>Forouzan</a:t>
            </a:r>
            <a:r>
              <a:rPr lang="en-US" sz="1600" dirty="0">
                <a:solidFill>
                  <a:schemeClr val="tx1">
                    <a:lumMod val="85000"/>
                    <a:lumOff val="15000"/>
                  </a:schemeClr>
                </a:solidFill>
                <a:latin typeface="Casper" panose="02000506000000020004" pitchFamily="2" charset="0"/>
                <a:cs typeface="Arial" panose="020B0604020202020204" pitchFamily="34" charset="0"/>
              </a:rPr>
              <a:t>,” Data Structure with C ,</a:t>
            </a:r>
            <a:r>
              <a:rPr lang="en-US" sz="1600" dirty="0" err="1">
                <a:solidFill>
                  <a:schemeClr val="tx1">
                    <a:lumMod val="85000"/>
                    <a:lumOff val="15000"/>
                  </a:schemeClr>
                </a:solidFill>
                <a:latin typeface="Casper" panose="02000506000000020004" pitchFamily="2" charset="0"/>
                <a:cs typeface="Arial" panose="020B0604020202020204" pitchFamily="34" charset="0"/>
              </a:rPr>
              <a:t>Cengage</a:t>
            </a:r>
            <a:r>
              <a:rPr lang="en-US" sz="1600" dirty="0">
                <a:solidFill>
                  <a:schemeClr val="tx1">
                    <a:lumMod val="85000"/>
                    <a:lumOff val="15000"/>
                  </a:schemeClr>
                </a:solidFill>
                <a:latin typeface="Casper" panose="02000506000000020004" pitchFamily="2" charset="0"/>
                <a:cs typeface="Arial" panose="020B0604020202020204" pitchFamily="34" charset="0"/>
              </a:rPr>
              <a:t> Learning.</a:t>
            </a:r>
          </a:p>
          <a:p>
            <a:pPr lvl="0"/>
            <a:r>
              <a:rPr lang="en-US" sz="1600" dirty="0" err="1">
                <a:solidFill>
                  <a:schemeClr val="tx1">
                    <a:lumMod val="85000"/>
                    <a:lumOff val="15000"/>
                  </a:schemeClr>
                </a:solidFill>
                <a:latin typeface="Casper" panose="02000506000000020004" pitchFamily="2" charset="0"/>
                <a:cs typeface="Arial" panose="020B0604020202020204" pitchFamily="34" charset="0"/>
              </a:rPr>
              <a:t>Augenstein,Moshe</a:t>
            </a:r>
            <a:r>
              <a:rPr lang="en-US" sz="1600" dirty="0">
                <a:solidFill>
                  <a:schemeClr val="tx1">
                    <a:lumMod val="85000"/>
                    <a:lumOff val="15000"/>
                  </a:schemeClr>
                </a:solidFill>
                <a:latin typeface="Casper" panose="02000506000000020004" pitchFamily="2" charset="0"/>
                <a:cs typeface="Arial" panose="020B0604020202020204" pitchFamily="34" charset="0"/>
              </a:rPr>
              <a:t> J , </a:t>
            </a:r>
            <a:r>
              <a:rPr lang="en-US" sz="1600" dirty="0" err="1">
                <a:solidFill>
                  <a:schemeClr val="tx1">
                    <a:lumMod val="85000"/>
                    <a:lumOff val="15000"/>
                  </a:schemeClr>
                </a:solidFill>
                <a:latin typeface="Casper" panose="02000506000000020004" pitchFamily="2" charset="0"/>
                <a:cs typeface="Arial" panose="020B0604020202020204" pitchFamily="34" charset="0"/>
              </a:rPr>
              <a:t>Tanenbaum</a:t>
            </a:r>
            <a:r>
              <a:rPr lang="en-US" sz="1600" dirty="0">
                <a:solidFill>
                  <a:schemeClr val="tx1">
                    <a:lumMod val="85000"/>
                    <a:lumOff val="15000"/>
                  </a:schemeClr>
                </a:solidFill>
                <a:latin typeface="Casper" panose="02000506000000020004" pitchFamily="2" charset="0"/>
                <a:cs typeface="Arial" panose="020B0604020202020204" pitchFamily="34" charset="0"/>
              </a:rPr>
              <a:t>, Aaron  M, “Data Structures using C and C++”, Prentice Hall of India.</a:t>
            </a:r>
          </a:p>
          <a:p>
            <a:pPr lvl="0"/>
            <a:r>
              <a:rPr lang="en-US" sz="1600" dirty="0">
                <a:solidFill>
                  <a:schemeClr val="tx1">
                    <a:lumMod val="85000"/>
                    <a:lumOff val="15000"/>
                  </a:schemeClr>
                </a:solidFill>
                <a:latin typeface="Casper" panose="02000506000000020004" pitchFamily="2" charset="0"/>
                <a:cs typeface="Arial" panose="020B0604020202020204" pitchFamily="34" charset="0"/>
              </a:rPr>
              <a:t>Goodrich, Michael T., </a:t>
            </a:r>
            <a:r>
              <a:rPr lang="en-US" sz="1600" dirty="0" err="1">
                <a:solidFill>
                  <a:schemeClr val="tx1">
                    <a:lumMod val="85000"/>
                    <a:lumOff val="15000"/>
                  </a:schemeClr>
                </a:solidFill>
                <a:latin typeface="Casper" panose="02000506000000020004" pitchFamily="2" charset="0"/>
                <a:cs typeface="Arial" panose="020B0604020202020204" pitchFamily="34" charset="0"/>
              </a:rPr>
              <a:t>Tamassia</a:t>
            </a:r>
            <a:r>
              <a:rPr lang="en-US" sz="1600" dirty="0">
                <a:solidFill>
                  <a:schemeClr val="tx1">
                    <a:lumMod val="85000"/>
                    <a:lumOff val="15000"/>
                  </a:schemeClr>
                </a:solidFill>
                <a:latin typeface="Casper" panose="02000506000000020004" pitchFamily="2" charset="0"/>
                <a:cs typeface="Arial" panose="020B0604020202020204" pitchFamily="34" charset="0"/>
              </a:rPr>
              <a:t>, Roberto, and Mount, David M., “Data Structures and Algorithms in C++”, Wiley Student Edition.</a:t>
            </a:r>
          </a:p>
          <a:p>
            <a:r>
              <a:rPr lang="en-US" sz="1600" dirty="0" err="1">
                <a:solidFill>
                  <a:schemeClr val="tx1">
                    <a:lumMod val="85000"/>
                    <a:lumOff val="15000"/>
                  </a:schemeClr>
                </a:solidFill>
                <a:latin typeface="Casper" panose="02000506000000020004" pitchFamily="2" charset="0"/>
                <a:cs typeface="Arial" panose="020B0604020202020204" pitchFamily="34" charset="0"/>
              </a:rPr>
              <a:t>Aho</a:t>
            </a:r>
            <a:r>
              <a:rPr lang="en-US" sz="1600" dirty="0">
                <a:solidFill>
                  <a:schemeClr val="tx1">
                    <a:lumMod val="85000"/>
                    <a:lumOff val="15000"/>
                  </a:schemeClr>
                </a:solidFill>
                <a:latin typeface="Casper" panose="02000506000000020004" pitchFamily="2" charset="0"/>
                <a:cs typeface="Arial" panose="020B0604020202020204" pitchFamily="34" charset="0"/>
              </a:rPr>
              <a:t>, Alfred V., Ullman, Jeffrey D., </a:t>
            </a:r>
            <a:r>
              <a:rPr lang="en-US" sz="1600" dirty="0" err="1">
                <a:solidFill>
                  <a:schemeClr val="tx1">
                    <a:lumMod val="85000"/>
                    <a:lumOff val="15000"/>
                  </a:schemeClr>
                </a:solidFill>
                <a:latin typeface="Casper" panose="02000506000000020004" pitchFamily="2" charset="0"/>
                <a:cs typeface="Arial" panose="020B0604020202020204" pitchFamily="34" charset="0"/>
              </a:rPr>
              <a:t>Hopcroft</a:t>
            </a:r>
            <a:r>
              <a:rPr lang="en-US" sz="1600" dirty="0">
                <a:solidFill>
                  <a:schemeClr val="tx1">
                    <a:lumMod val="85000"/>
                    <a:lumOff val="15000"/>
                  </a:schemeClr>
                </a:solidFill>
                <a:latin typeface="Casper" panose="02000506000000020004" pitchFamily="2" charset="0"/>
                <a:cs typeface="Arial" panose="020B0604020202020204" pitchFamily="34" charset="0"/>
              </a:rPr>
              <a:t> ,John E. “Data Structures and Algorithms”, Addison Wesley</a:t>
            </a:r>
          </a:p>
          <a:p>
            <a:endParaRPr lang="en-US" sz="1600" dirty="0"/>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9282" name="CorelDRAW" r:id="rId3" imgW="2169000" imgH="2169360" progId="">
                    <p:embed/>
                  </p:oleObj>
                </mc:Choice>
                <mc:Fallback>
                  <p:oleObj name="CorelDRAW" r:id="rId3" imgW="2169000" imgH="2169360" progId="">
                    <p:embed/>
                    <p:pic>
                      <p:nvPicPr>
                        <p:cNvPr id="0" name="Picture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905</TotalTime>
  <Words>2495</Words>
  <Application>Microsoft Office PowerPoint</Application>
  <PresentationFormat>Widescreen</PresentationFormat>
  <Paragraphs>715</Paragraphs>
  <Slides>41</Slides>
  <Notes>2</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1</vt:i4>
      </vt:variant>
      <vt:variant>
        <vt:lpstr>Slide Titles</vt:lpstr>
      </vt:variant>
      <vt:variant>
        <vt:i4>41</vt:i4>
      </vt:variant>
    </vt:vector>
  </HeadingPairs>
  <TitlesOfParts>
    <vt:vector size="59" baseType="lpstr">
      <vt:lpstr>Arial</vt:lpstr>
      <vt:lpstr>Arial Black</vt:lpstr>
      <vt:lpstr>Arial Unicode MS</vt:lpstr>
      <vt:lpstr>Calibri</vt:lpstr>
      <vt:lpstr>Calibri Light</vt:lpstr>
      <vt:lpstr>Cambria</vt:lpstr>
      <vt:lpstr>Casper</vt:lpstr>
      <vt:lpstr>Casper Bold</vt:lpstr>
      <vt:lpstr>Courier New</vt:lpstr>
      <vt:lpstr>Karla</vt:lpstr>
      <vt:lpstr>Segoe UI</vt:lpstr>
      <vt:lpstr>Tahoma</vt:lpstr>
      <vt:lpstr>Times New Roman</vt:lpstr>
      <vt:lpstr>Verdana</vt:lpstr>
      <vt:lpstr>Wingdings</vt:lpstr>
      <vt:lpstr>1_Office Theme</vt:lpstr>
      <vt:lpstr>Contents Slide Master</vt:lpstr>
      <vt:lpstr>CorelDRAW</vt:lpstr>
      <vt:lpstr>PowerPoint Presentation</vt:lpstr>
      <vt:lpstr>Elementary Data Structure Using C++</vt:lpstr>
      <vt:lpstr>PowerPoint Presentation</vt:lpstr>
      <vt:lpstr>PowerPoint Presentation</vt:lpstr>
      <vt:lpstr>     DEFINITION </vt:lpstr>
      <vt:lpstr>Stack Representation</vt:lpstr>
      <vt:lpstr>PowerPoint Presentation</vt:lpstr>
      <vt:lpstr>Sequential/ Array representation of Stack</vt:lpstr>
      <vt:lpstr>Insertion in a Stack</vt:lpstr>
      <vt:lpstr>Insertion in a Stack(contd..)</vt:lpstr>
      <vt:lpstr>Insertion in a Stack(contd..)</vt:lpstr>
      <vt:lpstr>Deletion from stack</vt:lpstr>
      <vt:lpstr>Deletion from stack(contd..)</vt:lpstr>
      <vt:lpstr>Push Operation </vt:lpstr>
      <vt:lpstr>Algorithm to insert in Stack</vt:lpstr>
      <vt:lpstr>Pop Operation </vt:lpstr>
      <vt:lpstr>Algorithm to delete in Stack</vt:lpstr>
      <vt:lpstr>Linked representation of Stack</vt:lpstr>
      <vt:lpstr>Notations</vt:lpstr>
      <vt:lpstr>PowerPoint Presentation</vt:lpstr>
      <vt:lpstr>PowerPoint Presentation</vt:lpstr>
      <vt:lpstr>INFIX, POSTFIX &amp; PREFIX</vt:lpstr>
      <vt:lpstr>INFIX to POSTFIX Examples</vt:lpstr>
      <vt:lpstr>Algorithm for Infix to Postfix</vt:lpstr>
      <vt:lpstr>Application of stacks :conversion from infix to postfix representation</vt:lpstr>
      <vt:lpstr>PowerPoint Presentation</vt:lpstr>
      <vt:lpstr>Application of stacks :conversion from infix to postfix representation</vt:lpstr>
      <vt:lpstr>Application of stacks :conversion from infix to postfix representation</vt:lpstr>
      <vt:lpstr>Application of stacks :conversion from infix to postfix representation</vt:lpstr>
      <vt:lpstr>Application of stacks :conversion from infix to postfix representation</vt:lpstr>
      <vt:lpstr>Postfix Evaluation Algorithm</vt:lpstr>
      <vt:lpstr>Application of stacks: Evaluating a postfix expression</vt:lpstr>
      <vt:lpstr>Evaluating a postfix expression(contd..)</vt:lpstr>
      <vt:lpstr>Evaluate these postfix expressions</vt:lpstr>
      <vt:lpstr>INFIX to PREFIX Examples</vt:lpstr>
      <vt:lpstr>Prefix to Infix</vt:lpstr>
      <vt:lpstr>Postfix to Infix</vt:lpstr>
      <vt:lpstr>Postfix to Infix(contd..)</vt:lpstr>
      <vt:lpstr>Applications of Stack</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Stech</cp:lastModifiedBy>
  <cp:revision>114</cp:revision>
  <dcterms:created xsi:type="dcterms:W3CDTF">2019-01-09T10:33:58Z</dcterms:created>
  <dcterms:modified xsi:type="dcterms:W3CDTF">2024-03-24T08:24:00Z</dcterms:modified>
</cp:coreProperties>
</file>