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0"/>
  </p:notesMasterIdLst>
  <p:handoutMasterIdLst>
    <p:handoutMasterId r:id="rId21"/>
  </p:handoutMasterIdLst>
  <p:sldIdLst>
    <p:sldId id="277" r:id="rId3"/>
    <p:sldId id="320" r:id="rId4"/>
    <p:sldId id="318" r:id="rId5"/>
    <p:sldId id="319" r:id="rId6"/>
    <p:sldId id="295" r:id="rId7"/>
    <p:sldId id="258" r:id="rId8"/>
    <p:sldId id="259" r:id="rId9"/>
    <p:sldId id="286" r:id="rId10"/>
    <p:sldId id="296" r:id="rId11"/>
    <p:sldId id="313" r:id="rId12"/>
    <p:sldId id="314" r:id="rId13"/>
    <p:sldId id="315" r:id="rId14"/>
    <p:sldId id="316" r:id="rId15"/>
    <p:sldId id="290" r:id="rId16"/>
    <p:sldId id="294" r:id="rId17"/>
    <p:sldId id="284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6" autoAdjust="0"/>
    <p:restoredTop sz="94660"/>
  </p:normalViewPr>
  <p:slideViewPr>
    <p:cSldViewPr snapToGrid="0">
      <p:cViewPr varScale="1">
        <p:scale>
          <a:sx n="73" d="100"/>
          <a:sy n="73" d="100"/>
        </p:scale>
        <p:origin x="48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42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09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2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www.cs.uregina.ca/Links/class-info/210/Queue/" TargetMode="Externa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tack-data-structure-introduction-program/" TargetMode="External"/><Relationship Id="rId2" Type="http://schemas.openxmlformats.org/officeDocument/2006/relationships/hyperlink" Target="https://www.cs.cmu.edu/~adamchik/15-121/lectures/Stacks%20and%20Queues/Stacks%20and%20Queue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yashcode.com/2017/11/prefix-to-postfix-conversion-using-stack.html" TargetMode="External"/><Relationship Id="rId4" Type="http://schemas.openxmlformats.org/officeDocument/2006/relationships/hyperlink" Target="https://www.geeksforgeeks.org/queue-set-1introduction-and-array-implementatio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2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459213" y="6014156"/>
            <a:ext cx="6432043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71857" y="6296559"/>
            <a:ext cx="183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122304" y="1669942"/>
            <a:ext cx="9063318" cy="513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sz="28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ENGINEERING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sz="28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DEPARTMENT- ACADEMIC </a:t>
            </a:r>
            <a:r>
              <a:rPr lang="en-US" sz="28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UNITS</a:t>
            </a:r>
            <a:endParaRPr lang="en-US" sz="28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sz="24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Bachelor of Engineering (Computer Science &amp; Engineering)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:</a:t>
            </a:r>
            <a:r>
              <a:rPr lang="en-US" sz="28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Elementary</a:t>
            </a:r>
            <a:r>
              <a:rPr lang="en-US" sz="2800" dirty="0" smtClean="0">
                <a:latin typeface="Times New Roman" pitchFamily="18" charset="0"/>
                <a:ea typeface="Karla" pitchFamily="2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Data Structures using C++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Subject Code: 23CSH-103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D4AFE-B27C-4A9A-A9F5-7F62354B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0"/>
            <a:ext cx="4277328" cy="164592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+mn-lt"/>
              </a:rPr>
              <a:t>Elementary</a:t>
            </a:r>
            <a:r>
              <a:rPr lang="en-IN" b="1" dirty="0" smtClean="0">
                <a:latin typeface="+mn-lt"/>
              </a:rPr>
              <a:t> </a:t>
            </a:r>
            <a:r>
              <a:rPr lang="en-IN" b="1" dirty="0">
                <a:latin typeface="+mn-lt"/>
              </a:rPr>
              <a:t>Data Structure Using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B5602-926A-470D-BC2B-78EBF425F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b="1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BF1DB-555C-464C-9D63-BB68417BD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0075" y="2136775"/>
            <a:ext cx="3683602" cy="333376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Course Objectives</a:t>
            </a:r>
          </a:p>
          <a:p>
            <a:endParaRPr lang="en-US" b="1" i="1" u="sng" dirty="0"/>
          </a:p>
          <a:p>
            <a:endParaRPr lang="en-US" b="1" i="1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7145E-8450-434E-A8F0-1114075F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45ED97-A37D-4BD5-9BB8-9A010CD2A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329" y="3901327"/>
            <a:ext cx="2581941" cy="2520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C0D224-3882-4701-BE24-7AC23C1C37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481100"/>
            <a:ext cx="5812823" cy="339081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48648" y="2630329"/>
          <a:ext cx="5459821" cy="37834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59821">
                  <a:extLst>
                    <a:ext uri="{9D8B030D-6E8A-4147-A177-3AD203B41FA5}">
                      <a16:colId xmlns:a16="http://schemas.microsoft.com/office/drawing/2014/main" val="98381966"/>
                    </a:ext>
                  </a:extLst>
                </a:gridCol>
              </a:tblGrid>
              <a:tr h="530408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 enable the students to understand various stages and constructs of C++ programming language. 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720509"/>
                  </a:ext>
                </a:extLst>
              </a:tr>
              <a:tr h="530408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 improve their ability to analyze and address variety of problems in C++.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109202"/>
                  </a:ext>
                </a:extLst>
              </a:tr>
              <a:tr h="530408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 understand the concept of data structures and various operations on them.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538032"/>
                  </a:ext>
                </a:extLst>
              </a:tr>
              <a:tr h="961675"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97000"/>
                        </a:lnSpc>
                        <a:spcBef>
                          <a:spcPts val="42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 understand the properties of various data structures and able to identify the strengths and weaknesses of different data structures.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193080"/>
                  </a:ext>
                </a:extLst>
              </a:tr>
              <a:tr h="1060817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 analyze and compare the efficiency of algorithms and learn to design efficient algorithms for solving computing problems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423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923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3583" y="1144447"/>
            <a:ext cx="3755334" cy="4728357"/>
          </a:xfrm>
        </p:spPr>
        <p:txBody>
          <a:bodyPr>
            <a:normAutofit/>
          </a:bodyPr>
          <a:lstStyle/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8297137" y="1566862"/>
            <a:ext cx="3364639" cy="41214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374073" y="1801092"/>
          <a:ext cx="7532369" cy="43266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92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83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 Number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Course</a:t>
                      </a:r>
                      <a:r>
                        <a:rPr lang="en-US" sz="1800" b="1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Outcome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53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Understand the concepts of object-oriented programming including programming process and compilation process.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51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Apply different techniques to decompose a problem and programmed a solution with various concepts of object-oriented programming language.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16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Analyse and explain the behaviour of linear data structure operations using the programming addressed in the course.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42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Implement and evaluate the programs using the syntax and semantics of object-oriented programming.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924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Design the solution of real-world problems in order to determine that the program performs as expected.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88836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6270" y="1144447"/>
            <a:ext cx="2635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Course Outcomes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861" y="2024947"/>
            <a:ext cx="3183156" cy="340760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60776" y="1701556"/>
            <a:ext cx="895189" cy="916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FBA091-1FD7-4CFB-ACD7-85BE3251E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77" y="109537"/>
            <a:ext cx="26860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02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9376" y="346479"/>
            <a:ext cx="7685314" cy="11473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sz="4900" b="1" dirty="0">
                <a:solidFill>
                  <a:srgbClr val="FF0000"/>
                </a:solidFill>
                <a:latin typeface="+mn-lt"/>
              </a:rPr>
              <a:t>Scheme of Evaluation 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1728" y="261543"/>
            <a:ext cx="10515600" cy="12322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82040" y="178927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05" y="1578775"/>
            <a:ext cx="1051560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18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3338" y="765941"/>
            <a:ext cx="6170885" cy="4873625"/>
          </a:xfrm>
        </p:spPr>
        <p:txBody>
          <a:bodyPr>
            <a:normAutofit/>
          </a:bodyPr>
          <a:lstStyle/>
          <a:p>
            <a:r>
              <a:rPr lang="en-US" sz="2400" dirty="0"/>
              <a:t>A Queue is "an abstract data type in which elements are added to the rear and removed from the front; a 'first in, first out' (FIFO) structure." </a:t>
            </a: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25821" y="1313794"/>
            <a:ext cx="5118537" cy="718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r>
              <a:rPr lang="en-US" sz="4400" b="1" dirty="0">
                <a:latin typeface="Casper Bold"/>
              </a:rPr>
              <a:t>QUEUE</a:t>
            </a:r>
          </a:p>
        </p:txBody>
      </p:sp>
      <p:sp>
        <p:nvSpPr>
          <p:cNvPr id="2" name="Rectangle 1"/>
          <p:cNvSpPr/>
          <p:nvPr/>
        </p:nvSpPr>
        <p:spPr>
          <a:xfrm>
            <a:off x="5171090" y="691055"/>
            <a:ext cx="6433645" cy="5518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349766" y="4813738"/>
            <a:ext cx="6232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http://www.cs.uregina.ca/Links/class-info/210/Queue/</a:t>
            </a:r>
            <a:endParaRPr lang="en-US" dirty="0"/>
          </a:p>
        </p:txBody>
      </p:sp>
      <p:sp>
        <p:nvSpPr>
          <p:cNvPr id="6" name="AutoShape 2" descr="Image result for Queue defini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369" y="2683367"/>
            <a:ext cx="2809875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3A24B62-D8ED-4561-89D2-8098A9366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298950"/>
          </a:xfrm>
        </p:spPr>
        <p:txBody>
          <a:bodyPr>
            <a:normAutofit lnSpcReduction="10000"/>
          </a:bodyPr>
          <a:lstStyle/>
          <a:p>
            <a:r>
              <a:rPr lang="en-US" altLang="en-US" sz="2400" dirty="0"/>
              <a:t>A queue is a data structure that stores data in such a way that the last piece of data stored, is the last one retrieved</a:t>
            </a:r>
          </a:p>
          <a:p>
            <a:pPr lvl="1"/>
            <a:r>
              <a:rPr lang="en-US" altLang="en-US" sz="2400" u="sng" dirty="0"/>
              <a:t>also called First-In, First-Out (FIFO)</a:t>
            </a:r>
          </a:p>
          <a:p>
            <a:r>
              <a:rPr lang="en-US" altLang="en-US" sz="2400" dirty="0"/>
              <a:t>Only access to the stack is the first and last element</a:t>
            </a:r>
          </a:p>
          <a:p>
            <a:r>
              <a:rPr lang="en-US" altLang="en-US" sz="2400" dirty="0"/>
              <a:t>consider people standing in line , they get service in the order that they arrive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8417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D46C318-164B-47B9-A296-6A236DC11C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Queues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9607605-4BD7-4FB2-8F5A-8A86415C80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i="1"/>
              <a:t>Enque</a:t>
            </a:r>
            <a:endParaRPr lang="en-US" altLang="en-US"/>
          </a:p>
          <a:p>
            <a:pPr lvl="1"/>
            <a:r>
              <a:rPr lang="en-US" altLang="en-US"/>
              <a:t>operation to place a new item at the tail of the queue</a:t>
            </a:r>
          </a:p>
          <a:p>
            <a:r>
              <a:rPr lang="en-US" altLang="en-US" i="1"/>
              <a:t>Dequeue</a:t>
            </a:r>
          </a:p>
          <a:p>
            <a:pPr lvl="1"/>
            <a:r>
              <a:rPr lang="en-US" altLang="en-US"/>
              <a:t>operation to remove the next item from the head of the queue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E35BABF0-86B3-47BE-9009-0DB71538CD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Queue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FA721955-B8AA-4C83-B4F0-981023BDB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1336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26" name="Text Box 6">
            <a:extLst>
              <a:ext uri="{FF2B5EF4-FFF2-40B4-BE49-F238E27FC236}">
                <a16:creationId xmlns:a16="http://schemas.microsoft.com/office/drawing/2014/main" id="{C4F5D1A9-0359-46E3-9161-4C4F699C3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286000"/>
            <a:ext cx="3048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</a:t>
            </a:r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1DF5EADA-CA56-4D7F-B934-B8E5F1692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1336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30" name="Text Box 10">
            <a:extLst>
              <a:ext uri="{FF2B5EF4-FFF2-40B4-BE49-F238E27FC236}">
                <a16:creationId xmlns:a16="http://schemas.microsoft.com/office/drawing/2014/main" id="{42B982A1-1A34-4D50-ADDA-BE48311C0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286000"/>
            <a:ext cx="3177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</a:t>
            </a:r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E00BD38A-D672-4583-8C17-2AA090272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1336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33" name="Text Box 13">
            <a:extLst>
              <a:ext uri="{FF2B5EF4-FFF2-40B4-BE49-F238E27FC236}">
                <a16:creationId xmlns:a16="http://schemas.microsoft.com/office/drawing/2014/main" id="{02982A1D-18ED-4623-82F5-753E0D164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286000"/>
            <a:ext cx="3818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M</a:t>
            </a:r>
          </a:p>
        </p:txBody>
      </p:sp>
      <p:sp>
        <p:nvSpPr>
          <p:cNvPr id="5135" name="Rectangle 15">
            <a:extLst>
              <a:ext uri="{FF2B5EF4-FFF2-40B4-BE49-F238E27FC236}">
                <a16:creationId xmlns:a16="http://schemas.microsoft.com/office/drawing/2014/main" id="{CDFFAC4B-8908-4956-83AE-44AEB6197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1336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38" name="Rectangle 18">
            <a:extLst>
              <a:ext uri="{FF2B5EF4-FFF2-40B4-BE49-F238E27FC236}">
                <a16:creationId xmlns:a16="http://schemas.microsoft.com/office/drawing/2014/main" id="{CD4C7F68-7A12-4D9D-ABBD-745427C7A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1336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40" name="Line 20">
            <a:extLst>
              <a:ext uri="{FF2B5EF4-FFF2-40B4-BE49-F238E27FC236}">
                <a16:creationId xmlns:a16="http://schemas.microsoft.com/office/drawing/2014/main" id="{27DDDE59-DD4A-447F-A87F-BFDAC3F35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600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41" name="Text Box 21">
            <a:extLst>
              <a:ext uri="{FF2B5EF4-FFF2-40B4-BE49-F238E27FC236}">
                <a16:creationId xmlns:a16="http://schemas.microsoft.com/office/drawing/2014/main" id="{6914DAB3-CDE4-42BA-9939-E8A1C8E21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219201"/>
            <a:ext cx="628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start</a:t>
            </a:r>
          </a:p>
        </p:txBody>
      </p:sp>
      <p:sp>
        <p:nvSpPr>
          <p:cNvPr id="5142" name="Line 22">
            <a:extLst>
              <a:ext uri="{FF2B5EF4-FFF2-40B4-BE49-F238E27FC236}">
                <a16:creationId xmlns:a16="http://schemas.microsoft.com/office/drawing/2014/main" id="{83964BA7-4BDD-4996-B5D1-FF27F1625D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600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43" name="Text Box 23">
            <a:extLst>
              <a:ext uri="{FF2B5EF4-FFF2-40B4-BE49-F238E27FC236}">
                <a16:creationId xmlns:a16="http://schemas.microsoft.com/office/drawing/2014/main" id="{B7667AF7-5991-4B0E-BA1C-FFC6E66BE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19201"/>
            <a:ext cx="565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end</a:t>
            </a:r>
          </a:p>
        </p:txBody>
      </p:sp>
      <p:sp>
        <p:nvSpPr>
          <p:cNvPr id="5144" name="Rectangle 24">
            <a:extLst>
              <a:ext uri="{FF2B5EF4-FFF2-40B4-BE49-F238E27FC236}">
                <a16:creationId xmlns:a16="http://schemas.microsoft.com/office/drawing/2014/main" id="{7125F086-60D4-4270-8A55-93CEB6E9D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1816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45" name="Text Box 25">
            <a:extLst>
              <a:ext uri="{FF2B5EF4-FFF2-40B4-BE49-F238E27FC236}">
                <a16:creationId xmlns:a16="http://schemas.microsoft.com/office/drawing/2014/main" id="{45BDE4C7-4D98-4C8A-8AF9-C4541C59F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334000"/>
            <a:ext cx="3048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</a:t>
            </a:r>
          </a:p>
        </p:txBody>
      </p:sp>
      <p:sp>
        <p:nvSpPr>
          <p:cNvPr id="5146" name="Rectangle 26">
            <a:extLst>
              <a:ext uri="{FF2B5EF4-FFF2-40B4-BE49-F238E27FC236}">
                <a16:creationId xmlns:a16="http://schemas.microsoft.com/office/drawing/2014/main" id="{2E87FC37-A1C2-46A4-863E-9F402348D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1816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47" name="Text Box 27">
            <a:extLst>
              <a:ext uri="{FF2B5EF4-FFF2-40B4-BE49-F238E27FC236}">
                <a16:creationId xmlns:a16="http://schemas.microsoft.com/office/drawing/2014/main" id="{584CAECB-F0B4-4407-B23D-59DEA9F38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334000"/>
            <a:ext cx="3177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</a:t>
            </a:r>
          </a:p>
        </p:txBody>
      </p:sp>
      <p:sp>
        <p:nvSpPr>
          <p:cNvPr id="5148" name="Rectangle 28">
            <a:extLst>
              <a:ext uri="{FF2B5EF4-FFF2-40B4-BE49-F238E27FC236}">
                <a16:creationId xmlns:a16="http://schemas.microsoft.com/office/drawing/2014/main" id="{320AB4F5-123A-4F99-861E-8544F4DD1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1816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49" name="Text Box 29">
            <a:extLst>
              <a:ext uri="{FF2B5EF4-FFF2-40B4-BE49-F238E27FC236}">
                <a16:creationId xmlns:a16="http://schemas.microsoft.com/office/drawing/2014/main" id="{7A102552-1FD2-4704-A3F6-F50CB27CD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334000"/>
            <a:ext cx="3818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M</a:t>
            </a:r>
          </a:p>
        </p:txBody>
      </p:sp>
      <p:sp>
        <p:nvSpPr>
          <p:cNvPr id="5150" name="Rectangle 30">
            <a:extLst>
              <a:ext uri="{FF2B5EF4-FFF2-40B4-BE49-F238E27FC236}">
                <a16:creationId xmlns:a16="http://schemas.microsoft.com/office/drawing/2014/main" id="{0693FF1B-E6EE-43B6-98BD-63B75888B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1816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51" name="Rectangle 31">
            <a:extLst>
              <a:ext uri="{FF2B5EF4-FFF2-40B4-BE49-F238E27FC236}">
                <a16:creationId xmlns:a16="http://schemas.microsoft.com/office/drawing/2014/main" id="{FFA6896F-85B1-4EF9-8A31-240854784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51816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52" name="Line 32">
            <a:extLst>
              <a:ext uri="{FF2B5EF4-FFF2-40B4-BE49-F238E27FC236}">
                <a16:creationId xmlns:a16="http://schemas.microsoft.com/office/drawing/2014/main" id="{57E4B272-0C7E-469B-8071-A174987E92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648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53" name="Text Box 33">
            <a:extLst>
              <a:ext uri="{FF2B5EF4-FFF2-40B4-BE49-F238E27FC236}">
                <a16:creationId xmlns:a16="http://schemas.microsoft.com/office/drawing/2014/main" id="{DF199C52-D7B8-4668-AF1C-BFB4E0D7C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267201"/>
            <a:ext cx="628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start</a:t>
            </a:r>
          </a:p>
        </p:txBody>
      </p:sp>
      <p:sp>
        <p:nvSpPr>
          <p:cNvPr id="5154" name="Line 34">
            <a:extLst>
              <a:ext uri="{FF2B5EF4-FFF2-40B4-BE49-F238E27FC236}">
                <a16:creationId xmlns:a16="http://schemas.microsoft.com/office/drawing/2014/main" id="{3F9ADD67-0F5A-4D0D-A873-5FE21E5484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648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55" name="Text Box 35">
            <a:extLst>
              <a:ext uri="{FF2B5EF4-FFF2-40B4-BE49-F238E27FC236}">
                <a16:creationId xmlns:a16="http://schemas.microsoft.com/office/drawing/2014/main" id="{069D66F0-1E1A-4D80-8C4D-3BD92A7F7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267201"/>
            <a:ext cx="565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end</a:t>
            </a:r>
          </a:p>
        </p:txBody>
      </p:sp>
      <p:sp>
        <p:nvSpPr>
          <p:cNvPr id="5156" name="Rectangle 36">
            <a:extLst>
              <a:ext uri="{FF2B5EF4-FFF2-40B4-BE49-F238E27FC236}">
                <a16:creationId xmlns:a16="http://schemas.microsoft.com/office/drawing/2014/main" id="{49CAB72C-5DCE-47F1-8AD0-C01959B99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2578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58" name="Rectangle 38">
            <a:extLst>
              <a:ext uri="{FF2B5EF4-FFF2-40B4-BE49-F238E27FC236}">
                <a16:creationId xmlns:a16="http://schemas.microsoft.com/office/drawing/2014/main" id="{6A6BAA0C-0759-4642-8E3C-7CA62B9BC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52578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59" name="Text Box 39">
            <a:extLst>
              <a:ext uri="{FF2B5EF4-FFF2-40B4-BE49-F238E27FC236}">
                <a16:creationId xmlns:a16="http://schemas.microsoft.com/office/drawing/2014/main" id="{EABA8A4F-4C99-45FC-8BB8-3BCB56EBE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5410200"/>
            <a:ext cx="3177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</a:t>
            </a:r>
          </a:p>
        </p:txBody>
      </p:sp>
      <p:sp>
        <p:nvSpPr>
          <p:cNvPr id="5160" name="Rectangle 40">
            <a:extLst>
              <a:ext uri="{FF2B5EF4-FFF2-40B4-BE49-F238E27FC236}">
                <a16:creationId xmlns:a16="http://schemas.microsoft.com/office/drawing/2014/main" id="{A81A4D05-83CC-4420-B493-E04EE4EB1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52578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61" name="Text Box 41">
            <a:extLst>
              <a:ext uri="{FF2B5EF4-FFF2-40B4-BE49-F238E27FC236}">
                <a16:creationId xmlns:a16="http://schemas.microsoft.com/office/drawing/2014/main" id="{478F7734-9D78-4778-91A7-AB5D11A0B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5410200"/>
            <a:ext cx="3818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M</a:t>
            </a:r>
          </a:p>
        </p:txBody>
      </p:sp>
      <p:sp>
        <p:nvSpPr>
          <p:cNvPr id="5162" name="Rectangle 42">
            <a:extLst>
              <a:ext uri="{FF2B5EF4-FFF2-40B4-BE49-F238E27FC236}">
                <a16:creationId xmlns:a16="http://schemas.microsoft.com/office/drawing/2014/main" id="{CCF1A747-7CAA-4879-BCD5-FD2D256DB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52578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63" name="Rectangle 43">
            <a:extLst>
              <a:ext uri="{FF2B5EF4-FFF2-40B4-BE49-F238E27FC236}">
                <a16:creationId xmlns:a16="http://schemas.microsoft.com/office/drawing/2014/main" id="{48443A37-0A0B-4613-ABC3-91F783D07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0" y="5257800"/>
            <a:ext cx="685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64" name="Line 44">
            <a:extLst>
              <a:ext uri="{FF2B5EF4-FFF2-40B4-BE49-F238E27FC236}">
                <a16:creationId xmlns:a16="http://schemas.microsoft.com/office/drawing/2014/main" id="{9C276F6F-31F4-4A36-8B20-5D9923E6EDE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472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65" name="Text Box 45">
            <a:extLst>
              <a:ext uri="{FF2B5EF4-FFF2-40B4-BE49-F238E27FC236}">
                <a16:creationId xmlns:a16="http://schemas.microsoft.com/office/drawing/2014/main" id="{4A346ADD-01D1-411B-9526-CE739BC9F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343401"/>
            <a:ext cx="628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start</a:t>
            </a:r>
          </a:p>
        </p:txBody>
      </p:sp>
      <p:sp>
        <p:nvSpPr>
          <p:cNvPr id="5168" name="AutoShape 48">
            <a:extLst>
              <a:ext uri="{FF2B5EF4-FFF2-40B4-BE49-F238E27FC236}">
                <a16:creationId xmlns:a16="http://schemas.microsoft.com/office/drawing/2014/main" id="{21081A12-E0FC-4C34-9EFA-0C265A3A8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989" y="3198814"/>
            <a:ext cx="384175" cy="1216025"/>
          </a:xfrm>
          <a:prstGeom prst="downArrow">
            <a:avLst>
              <a:gd name="adj1" fmla="val 50000"/>
              <a:gd name="adj2" fmla="val 7913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69" name="AutoShape 49">
            <a:extLst>
              <a:ext uri="{FF2B5EF4-FFF2-40B4-BE49-F238E27FC236}">
                <a16:creationId xmlns:a16="http://schemas.microsoft.com/office/drawing/2014/main" id="{E23E7D99-5683-419C-B348-85A8C6BEF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5410200"/>
            <a:ext cx="1295400" cy="304800"/>
          </a:xfrm>
          <a:prstGeom prst="rightArrow">
            <a:avLst>
              <a:gd name="adj1" fmla="val 50000"/>
              <a:gd name="adj2" fmla="val 1062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70" name="Text Box 50">
            <a:extLst>
              <a:ext uri="{FF2B5EF4-FFF2-40B4-BE49-F238E27FC236}">
                <a16:creationId xmlns:a16="http://schemas.microsoft.com/office/drawing/2014/main" id="{9D3DD204-AB0D-43E7-BBC2-745C14616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505200"/>
            <a:ext cx="12650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enqueue(F)</a:t>
            </a:r>
          </a:p>
        </p:txBody>
      </p:sp>
      <p:sp>
        <p:nvSpPr>
          <p:cNvPr id="5171" name="Text Box 51">
            <a:extLst>
              <a:ext uri="{FF2B5EF4-FFF2-40B4-BE49-F238E27FC236}">
                <a16:creationId xmlns:a16="http://schemas.microsoft.com/office/drawing/2014/main" id="{2CDD37FA-88E4-477C-B533-6E36F3B5E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334000"/>
            <a:ext cx="2904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</a:t>
            </a:r>
          </a:p>
        </p:txBody>
      </p:sp>
      <p:sp>
        <p:nvSpPr>
          <p:cNvPr id="5172" name="Text Box 52">
            <a:extLst>
              <a:ext uri="{FF2B5EF4-FFF2-40B4-BE49-F238E27FC236}">
                <a16:creationId xmlns:a16="http://schemas.microsoft.com/office/drawing/2014/main" id="{0D2EBC0C-02A2-41D4-B159-A3F96F044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1" y="5715001"/>
            <a:ext cx="180761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item = dequeue()</a:t>
            </a:r>
          </a:p>
          <a:p>
            <a:r>
              <a:rPr lang="en-US" altLang="en-US"/>
              <a:t>item = X</a:t>
            </a:r>
          </a:p>
        </p:txBody>
      </p:sp>
      <p:sp>
        <p:nvSpPr>
          <p:cNvPr id="5174" name="Line 54">
            <a:extLst>
              <a:ext uri="{FF2B5EF4-FFF2-40B4-BE49-F238E27FC236}">
                <a16:creationId xmlns:a16="http://schemas.microsoft.com/office/drawing/2014/main" id="{ED6C3DDD-FDD4-44D1-B22D-0200DA4CA5DC}"/>
              </a:ext>
            </a:extLst>
          </p:cNvPr>
          <p:cNvSpPr>
            <a:spLocks noChangeShapeType="1"/>
          </p:cNvSpPr>
          <p:nvPr/>
        </p:nvSpPr>
        <p:spPr bwMode="auto">
          <a:xfrm>
            <a:off x="9448800" y="472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75" name="Text Box 55">
            <a:extLst>
              <a:ext uri="{FF2B5EF4-FFF2-40B4-BE49-F238E27FC236}">
                <a16:creationId xmlns:a16="http://schemas.microsoft.com/office/drawing/2014/main" id="{78F25651-09E3-4756-98E1-B24B463BC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4343401"/>
            <a:ext cx="565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end</a:t>
            </a:r>
          </a:p>
        </p:txBody>
      </p:sp>
      <p:sp>
        <p:nvSpPr>
          <p:cNvPr id="5176" name="Text Box 56">
            <a:extLst>
              <a:ext uri="{FF2B5EF4-FFF2-40B4-BE49-F238E27FC236}">
                <a16:creationId xmlns:a16="http://schemas.microsoft.com/office/drawing/2014/main" id="{0266787D-4E81-4B3C-9035-DCC0DB4AA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0" y="5410200"/>
            <a:ext cx="2904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r>
              <a:rPr lang="en-US" b="1" dirty="0">
                <a:latin typeface="Casper Bold"/>
              </a:rPr>
              <a:t>ALGORITHM FOR INSERTION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1. If REAR=MAX then: write: Overflow &amp; Exit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2. Read ITEM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	If FRONT=0 then: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		a) FRONT=FRONT+1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		b) REAR=REAR+1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		c) Q[REAR]=ITEM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	else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		REAR=REAR+1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		Q[REAR]=ITEM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3.  Exit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236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r>
              <a:rPr lang="en-US" b="1" dirty="0">
                <a:latin typeface="Casper Bold"/>
              </a:rPr>
              <a:t>ALGORITHM FOR DELETION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If FRONT=0 then: write: “UNDERFLOW and Exit”</a:t>
            </a: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If FRONT=REAR, then: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		Q[FRONT]=NULL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		FRONT=0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		REAR=0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	else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		Q[FRONT]=NULL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		FRONT=FRONT+1</a:t>
            </a: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Exit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51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04EB-A770-46FE-BB45-ECC8AD2A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Queue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9F122-94EF-4BB0-A7B5-7D29EDCED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Circular queue is a linear data structure in which the operations are performed based on FIFO (First In First Out) principle and the last position is connected back to the first position to make a circle. It is also called </a:t>
            </a:r>
            <a:r>
              <a:rPr lang="en-US" b="1" dirty="0"/>
              <a:t>‘Ring Buffer’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CDE02-87AA-4C82-BED1-0DA97A153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 descr="A picture containing clock&#10;&#10;Description automatically generated">
            <a:extLst>
              <a:ext uri="{FF2B5EF4-FFF2-40B4-BE49-F238E27FC236}">
                <a16:creationId xmlns:a16="http://schemas.microsoft.com/office/drawing/2014/main" id="{42CE6AB7-59AD-47B0-8541-89E6C1F02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370" y="3399631"/>
            <a:ext cx="276225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67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9E9B7-75E6-425C-B24E-F22533F1A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960"/>
            <a:ext cx="10515600" cy="1603375"/>
          </a:xfrm>
        </p:spPr>
        <p:txBody>
          <a:bodyPr/>
          <a:lstStyle/>
          <a:p>
            <a:r>
              <a:rPr lang="en-US" dirty="0"/>
              <a:t>In a normal Queue, we can insert elements until queue becomes full. But once queue becomes full, we can not insert the next element even if there is a space in front of queue.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E7F24-73FE-434A-BB34-419B00286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520006-34F3-4140-88FD-835F5B97F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783" y="1811723"/>
            <a:ext cx="10281262" cy="454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63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6DE8C-BD24-4D57-93B6-C2226DE79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1638"/>
            <a:ext cx="10515600" cy="5705325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Operations on Circular Queue:</a:t>
            </a:r>
          </a:p>
          <a:p>
            <a:pPr fontAlgn="base"/>
            <a:r>
              <a:rPr lang="en-US" b="1" dirty="0"/>
              <a:t>Front:</a:t>
            </a:r>
            <a:r>
              <a:rPr lang="en-US" dirty="0"/>
              <a:t> Get the front item from queue.</a:t>
            </a:r>
          </a:p>
          <a:p>
            <a:pPr fontAlgn="base"/>
            <a:r>
              <a:rPr lang="en-US" b="1" dirty="0"/>
              <a:t>Rear:</a:t>
            </a:r>
            <a:r>
              <a:rPr lang="en-US" dirty="0"/>
              <a:t> Get the last item from queue.</a:t>
            </a:r>
          </a:p>
          <a:p>
            <a:pPr fontAlgn="base"/>
            <a:r>
              <a:rPr lang="en-US" b="1" dirty="0" err="1"/>
              <a:t>enQueue</a:t>
            </a:r>
            <a:r>
              <a:rPr lang="en-US" b="1" dirty="0"/>
              <a:t>(value) </a:t>
            </a:r>
            <a:r>
              <a:rPr lang="en-US" dirty="0"/>
              <a:t>This function is used to insert an element into the circular queue. In a circular queue, the new element is always inserted at Rear position.</a:t>
            </a:r>
          </a:p>
          <a:p>
            <a:pPr lvl="1" fontAlgn="base"/>
            <a:r>
              <a:rPr lang="en-US" b="1" dirty="0" err="1"/>
              <a:t>Steps:</a:t>
            </a:r>
            <a:r>
              <a:rPr lang="en-US" dirty="0" err="1"/>
              <a:t>Check</a:t>
            </a:r>
            <a:r>
              <a:rPr lang="en-US" dirty="0"/>
              <a:t> whether queue is Full – Check ((rear == SIZE-1 &amp;&amp; front == 0) || (rear == front-1)).</a:t>
            </a:r>
          </a:p>
          <a:p>
            <a:pPr lvl="1" fontAlgn="base"/>
            <a:r>
              <a:rPr lang="en-US" dirty="0"/>
              <a:t>If it is full then display Queue is full. If queue is not full then, check if (rear == SIZE – 1 &amp;&amp; front != 0) if it is true then set rear=0 and insert element.</a:t>
            </a:r>
          </a:p>
          <a:p>
            <a:pPr fontAlgn="base"/>
            <a:r>
              <a:rPr lang="en-US" b="1" dirty="0" err="1"/>
              <a:t>deQueue</a:t>
            </a:r>
            <a:r>
              <a:rPr lang="en-US" b="1" dirty="0"/>
              <a:t>()</a:t>
            </a:r>
            <a:r>
              <a:rPr lang="en-US" dirty="0"/>
              <a:t> This function is used to delete an element from the circular queue. In a circular queue, the element is always deleted from front position.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DBD5A-1692-41FA-A354-2327215F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345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E5455-C973-4983-AB48-2658FA896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25"/>
            <a:ext cx="10515600" cy="6456780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b="1" dirty="0"/>
              <a:t>Steps:</a:t>
            </a:r>
          </a:p>
          <a:p>
            <a:pPr marL="0" indent="0" fontAlgn="base">
              <a:buNone/>
            </a:pPr>
            <a:r>
              <a:rPr lang="en-US" b="1" dirty="0"/>
              <a:t>Step 1:</a:t>
            </a:r>
            <a:r>
              <a:rPr lang="en-US" dirty="0"/>
              <a:t>Check whether queue is Empty means check (front==-1).</a:t>
            </a:r>
          </a:p>
          <a:p>
            <a:pPr marL="0" indent="0" fontAlgn="base">
              <a:buNone/>
            </a:pPr>
            <a:r>
              <a:rPr lang="en-US" b="1" dirty="0"/>
              <a:t>Step 2</a:t>
            </a:r>
            <a:r>
              <a:rPr lang="en-US" dirty="0"/>
              <a:t>:If it is empty then display Queue is empty. If queue is not empty then step 3</a:t>
            </a:r>
          </a:p>
          <a:p>
            <a:pPr marL="0" indent="0" fontAlgn="base">
              <a:buNone/>
            </a:pPr>
            <a:r>
              <a:rPr lang="en-US" b="1" dirty="0"/>
              <a:t>Step 3:</a:t>
            </a:r>
            <a:r>
              <a:rPr lang="en-US" dirty="0"/>
              <a:t>Check if (front==rear) if it is true then set front=rear= -1 else check if (front==size-1), if it is true then set front=0 and return the element.</a:t>
            </a:r>
          </a:p>
          <a:p>
            <a:pPr marL="0" indent="0" fontAlgn="base">
              <a:buNone/>
            </a:pPr>
            <a:r>
              <a:rPr lang="en-US" b="1" u="sng" dirty="0"/>
              <a:t>Time Complexity:</a:t>
            </a:r>
            <a:r>
              <a:rPr lang="en-US" u="sng" dirty="0"/>
              <a:t> </a:t>
            </a:r>
            <a:r>
              <a:rPr lang="en-US" dirty="0"/>
              <a:t>Time complexity of </a:t>
            </a:r>
            <a:r>
              <a:rPr lang="en-US" dirty="0" err="1"/>
              <a:t>enQueue</a:t>
            </a:r>
            <a:r>
              <a:rPr lang="en-US" dirty="0"/>
              <a:t>(), </a:t>
            </a:r>
            <a:r>
              <a:rPr lang="en-US" dirty="0" err="1"/>
              <a:t>deQueue</a:t>
            </a:r>
            <a:r>
              <a:rPr lang="en-US" dirty="0"/>
              <a:t>() operation is O(1) as there is no loop in any of the operation.</a:t>
            </a:r>
          </a:p>
          <a:p>
            <a:pPr marL="0" indent="0" fontAlgn="base">
              <a:buNone/>
            </a:pPr>
            <a:r>
              <a:rPr lang="en-US" b="1" u="sng" dirty="0"/>
              <a:t>Applications:</a:t>
            </a:r>
            <a:endParaRPr lang="en-US" u="sng" dirty="0"/>
          </a:p>
          <a:p>
            <a:pPr fontAlgn="base"/>
            <a:r>
              <a:rPr lang="en-US" b="1" dirty="0"/>
              <a:t>Memory Management:</a:t>
            </a:r>
            <a:r>
              <a:rPr lang="en-US" dirty="0"/>
              <a:t> The unused memory locations in the case of ordinary queues can be utilized in circular queues.</a:t>
            </a:r>
          </a:p>
          <a:p>
            <a:pPr fontAlgn="base"/>
            <a:r>
              <a:rPr lang="en-US" b="1" dirty="0"/>
              <a:t>Traffic system:</a:t>
            </a:r>
            <a:r>
              <a:rPr lang="en-US" dirty="0"/>
              <a:t> In computer controlled traffic system, circular queues are used to switch on the traffic lights one by one repeatedly as per the time set.</a:t>
            </a:r>
          </a:p>
          <a:p>
            <a:pPr fontAlgn="base"/>
            <a:r>
              <a:rPr lang="en-US" b="1" dirty="0"/>
              <a:t>CPU Scheduling:</a:t>
            </a:r>
            <a:r>
              <a:rPr lang="en-US" dirty="0"/>
              <a:t> Operating systems often maintain a queue of processes that are ready to execute or that are waiting for a particular event to occur.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D8DE7-ED1A-4CB9-A353-98C1D027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51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latin typeface="Casper Bold"/>
              </a:rPr>
              <a:t>FAQ</a:t>
            </a:r>
            <a:br>
              <a:rPr lang="en-US" sz="4900" b="1" dirty="0">
                <a:latin typeface="Casper Bold"/>
              </a:rPr>
            </a:br>
            <a:r>
              <a:rPr lang="en-US" dirty="0">
                <a:latin typeface="Casper Bold"/>
              </a:rPr>
              <a:t/>
            </a:r>
            <a:br>
              <a:rPr lang="en-US" dirty="0">
                <a:latin typeface="Casper Bold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1. Give any 2 applications of stack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2. Give any 2 applications of queue</a:t>
            </a:r>
          </a:p>
          <a:p>
            <a:pPr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3. Advantages of Stack over Queues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202706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r>
              <a:rPr lang="en-US" b="1" dirty="0">
                <a:latin typeface="Casper Bold"/>
              </a:rPr>
              <a:t>Applications of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Print lines of a document </a:t>
            </a: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Simulation</a:t>
            </a: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Printer sharing between computers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67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REFERENCES </a:t>
            </a:r>
            <a:r>
              <a:rPr lang="en-US" sz="4000" b="1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600" dirty="0">
              <a:hlinkClick r:id="rId2"/>
            </a:endParaRP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  <a:hlinkClick r:id="rId2"/>
              </a:rPr>
              <a:t>https://www.cs.cmu.edu/~adamchik/15-121/lectures/Stacks%20and%20Queues/Stacks%20and%20Queues.html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Casper" panose="02000506000000020004" pitchFamily="2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Data Structures with C/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schaum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  outline series/ volume 2</a:t>
            </a: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  <a:hlinkClick r:id="rId3"/>
              </a:rPr>
              <a:t>https://www.geeksforgeeks.org/stack-data-structure-introduction-program/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Casper" panose="02000506000000020004" pitchFamily="2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  <a:hlinkClick r:id="rId4"/>
              </a:rPr>
              <a:t>https://www.geeksforgeeks.org/queue-set-1introduction-and-array-implementation/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Casper" panose="02000506000000020004" pitchFamily="2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  <a:hlinkClick r:id="rId5"/>
              </a:rPr>
              <a:t>http://www.yashcode.com/2017/11/prefix-to-postfix-conversion-using-stack.html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lvl="0"/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Lipschutz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, Seymour, “Data Structures”,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Schaum's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 Outline Series, Tata McGraw Hill.</a:t>
            </a:r>
          </a:p>
          <a:p>
            <a:pPr lvl="0"/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Gilberg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/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Forouzan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,” Data Structure with C ,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Cengage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 Learning.</a:t>
            </a:r>
          </a:p>
          <a:p>
            <a:pPr lvl="0"/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Augenstein,Moshe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 J , 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Tanenbaum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, Aaron  M, “Data Structures using C and C++”, Prentice Hall of India.</a:t>
            </a:r>
          </a:p>
          <a:p>
            <a:pPr lvl="0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Goodrich, Michael T.,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Tamassia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, Roberto, and Mount, David M., “Data Structures and Algorithms in C++”, Wiley Student Edition.</a:t>
            </a:r>
          </a:p>
          <a:p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Aho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, Alfred V., Ullman, Jeffrey D.,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Hopcroft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sper" panose="02000506000000020004" pitchFamily="2" charset="0"/>
                <a:cs typeface="Arial" panose="020B0604020202020204" pitchFamily="34" charset="0"/>
              </a:rPr>
              <a:t> ,John E. “Data Structures and Algorithms”, Addison Wesley</a:t>
            </a:r>
          </a:p>
          <a:p>
            <a:endParaRPr lang="en-US" sz="1600" dirty="0"/>
          </a:p>
          <a:p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75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825</TotalTime>
  <Words>680</Words>
  <Application>Microsoft Office PowerPoint</Application>
  <PresentationFormat>Widescreen</PresentationFormat>
  <Paragraphs>143</Paragraphs>
  <Slides>17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1" baseType="lpstr"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Karla</vt:lpstr>
      <vt:lpstr>Raleway ExtraBold</vt:lpstr>
      <vt:lpstr>Segoe UI</vt:lpstr>
      <vt:lpstr>Times New Roman</vt:lpstr>
      <vt:lpstr>1_Office Theme</vt:lpstr>
      <vt:lpstr>Contents Slide Master</vt:lpstr>
      <vt:lpstr>CorelDRAW</vt:lpstr>
      <vt:lpstr>PowerPoint Presentation</vt:lpstr>
      <vt:lpstr>Elementary Data Structure Using C++</vt:lpstr>
      <vt:lpstr>PowerPoint Presentation</vt:lpstr>
      <vt:lpstr> Scheme of Evaluation  </vt:lpstr>
      <vt:lpstr>QUEUE</vt:lpstr>
      <vt:lpstr>Queues</vt:lpstr>
      <vt:lpstr>Queue</vt:lpstr>
      <vt:lpstr>ALGORITHM FOR INSERTION</vt:lpstr>
      <vt:lpstr>ALGORITHM FOR DELETION</vt:lpstr>
      <vt:lpstr>Circular Queue</vt:lpstr>
      <vt:lpstr>PowerPoint Presentation</vt:lpstr>
      <vt:lpstr>PowerPoint Presentation</vt:lpstr>
      <vt:lpstr>PowerPoint Presentation</vt:lpstr>
      <vt:lpstr>FAQ  </vt:lpstr>
      <vt:lpstr>Applications of Queue</vt:lpstr>
      <vt:lpstr>REFERENCES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nishu</cp:lastModifiedBy>
  <cp:revision>102</cp:revision>
  <dcterms:created xsi:type="dcterms:W3CDTF">2019-01-09T10:33:58Z</dcterms:created>
  <dcterms:modified xsi:type="dcterms:W3CDTF">2024-01-10T10:32:15Z</dcterms:modified>
</cp:coreProperties>
</file>