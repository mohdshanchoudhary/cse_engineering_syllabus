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31"/>
  </p:notesMasterIdLst>
  <p:handoutMasterIdLst>
    <p:handoutMasterId r:id="rId32"/>
  </p:handoutMasterIdLst>
  <p:sldIdLst>
    <p:sldId id="354" r:id="rId3"/>
    <p:sldId id="383" r:id="rId4"/>
    <p:sldId id="384" r:id="rId5"/>
    <p:sldId id="382" r:id="rId6"/>
    <p:sldId id="358" r:id="rId7"/>
    <p:sldId id="281" r:id="rId8"/>
    <p:sldId id="328" r:id="rId9"/>
    <p:sldId id="364" r:id="rId10"/>
    <p:sldId id="365" r:id="rId11"/>
    <p:sldId id="366" r:id="rId12"/>
    <p:sldId id="367" r:id="rId13"/>
    <p:sldId id="368" r:id="rId14"/>
    <p:sldId id="369" r:id="rId15"/>
    <p:sldId id="376" r:id="rId16"/>
    <p:sldId id="377" r:id="rId17"/>
    <p:sldId id="385" r:id="rId18"/>
    <p:sldId id="386" r:id="rId19"/>
    <p:sldId id="387" r:id="rId20"/>
    <p:sldId id="388" r:id="rId21"/>
    <p:sldId id="350" r:id="rId22"/>
    <p:sldId id="351" r:id="rId23"/>
    <p:sldId id="359" r:id="rId24"/>
    <p:sldId id="329" r:id="rId25"/>
    <p:sldId id="330" r:id="rId26"/>
    <p:sldId id="378" r:id="rId27"/>
    <p:sldId id="352" r:id="rId28"/>
    <p:sldId id="284" r:id="rId29"/>
    <p:sldId id="353" r:id="rId30"/>
  </p:sldIdLst>
  <p:sldSz cx="12192000" cy="6858000"/>
  <p:notesSz cx="6858000" cy="9144000"/>
  <p:custDataLst>
    <p:tags r:id="rId3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B7B0"/>
    <a:srgbClr val="4BDAE5"/>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75" autoAdjust="0"/>
    <p:restoredTop sz="94434" autoAdjust="0"/>
  </p:normalViewPr>
  <p:slideViewPr>
    <p:cSldViewPr snapToGrid="0">
      <p:cViewPr varScale="1">
        <p:scale>
          <a:sx n="73" d="100"/>
          <a:sy n="73" d="100"/>
        </p:scale>
        <p:origin x="540" y="78"/>
      </p:cViewPr>
      <p:guideLst>
        <p:guide orient="horz" pos="2160"/>
        <p:guide pos="3840"/>
      </p:guideLst>
    </p:cSldViewPr>
  </p:slideViewPr>
  <p:notesTextViewPr>
    <p:cViewPr>
      <p:scale>
        <a:sx n="3" d="2"/>
        <a:sy n="3" d="2"/>
      </p:scale>
      <p:origin x="0" y="0"/>
    </p:cViewPr>
  </p:notesTextViewPr>
  <p:sorterViewPr>
    <p:cViewPr>
      <p:scale>
        <a:sx n="100" d="100"/>
        <a:sy n="100" d="100"/>
      </p:scale>
      <p:origin x="0" y="-132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handoutMaster" Target="handoutMasters/handoutMaster1.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30D818A-DE61-492C-9F49-4330F19690E3}"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IN"/>
        </a:p>
      </dgm:t>
    </dgm:pt>
    <dgm:pt modelId="{72067E99-1C3B-406E-B0E9-FC347F914FA8}">
      <dgm:prSet phldrT="[Text]" custT="1"/>
      <dgm:spPr/>
      <dgm:t>
        <a:bodyPr/>
        <a:lstStyle/>
        <a:p>
          <a:r>
            <a:rPr lang="en-US" sz="2400" b="1" dirty="0">
              <a:solidFill>
                <a:schemeClr val="bg2">
                  <a:lumMod val="10000"/>
                </a:schemeClr>
              </a:solidFill>
            </a:rPr>
            <a:t>In this lecture we have discussed about Constructor.</a:t>
          </a:r>
          <a:endParaRPr lang="en-IN" sz="2400" b="1" dirty="0">
            <a:solidFill>
              <a:schemeClr val="bg2">
                <a:lumMod val="10000"/>
              </a:schemeClr>
            </a:solidFill>
          </a:endParaRPr>
        </a:p>
      </dgm:t>
    </dgm:pt>
    <dgm:pt modelId="{E295694A-E3FF-4E4D-B786-E47583760C4E}" type="parTrans" cxnId="{AAE49CDE-EE1C-4041-8DCB-69A3B80087AD}">
      <dgm:prSet/>
      <dgm:spPr/>
      <dgm:t>
        <a:bodyPr/>
        <a:lstStyle/>
        <a:p>
          <a:endParaRPr lang="en-IN"/>
        </a:p>
      </dgm:t>
    </dgm:pt>
    <dgm:pt modelId="{E2FCE763-C2C6-41BB-BE42-2FC9B40C0439}" type="sibTrans" cxnId="{AAE49CDE-EE1C-4041-8DCB-69A3B80087AD}">
      <dgm:prSet/>
      <dgm:spPr/>
      <dgm:t>
        <a:bodyPr/>
        <a:lstStyle/>
        <a:p>
          <a:endParaRPr lang="en-IN"/>
        </a:p>
      </dgm:t>
    </dgm:pt>
    <dgm:pt modelId="{A7DE4063-2DA9-4CA0-9DDC-11769B7332D8}">
      <dgm:prSet phldrT="[Text]" custT="1"/>
      <dgm:spPr/>
      <dgm:t>
        <a:bodyPr/>
        <a:lstStyle/>
        <a:p>
          <a:r>
            <a:rPr lang="en-US" sz="2400" b="1" dirty="0">
              <a:solidFill>
                <a:schemeClr val="bg2">
                  <a:lumMod val="10000"/>
                </a:schemeClr>
              </a:solidFill>
            </a:rPr>
            <a:t>We have discussed about various types of constructor. </a:t>
          </a:r>
          <a:endParaRPr lang="en-IN" sz="2400" b="1" dirty="0">
            <a:solidFill>
              <a:schemeClr val="bg2">
                <a:lumMod val="10000"/>
              </a:schemeClr>
            </a:solidFill>
          </a:endParaRPr>
        </a:p>
      </dgm:t>
    </dgm:pt>
    <dgm:pt modelId="{ED3D644F-FD3E-48AA-A0DA-12CED9DB591C}" type="parTrans" cxnId="{CB715DCB-B8A2-400C-A562-D0851701E2C1}">
      <dgm:prSet/>
      <dgm:spPr/>
      <dgm:t>
        <a:bodyPr/>
        <a:lstStyle/>
        <a:p>
          <a:endParaRPr lang="en-IN"/>
        </a:p>
      </dgm:t>
    </dgm:pt>
    <dgm:pt modelId="{EA51BD59-3F69-42AA-902C-6B9694E16D92}" type="sibTrans" cxnId="{CB715DCB-B8A2-400C-A562-D0851701E2C1}">
      <dgm:prSet/>
      <dgm:spPr/>
      <dgm:t>
        <a:bodyPr/>
        <a:lstStyle/>
        <a:p>
          <a:endParaRPr lang="en-IN"/>
        </a:p>
      </dgm:t>
    </dgm:pt>
    <dgm:pt modelId="{0621545F-95F6-44EB-825F-83C24ABAE76E}">
      <dgm:prSet phldrT="[Text]" custT="1"/>
      <dgm:spPr/>
      <dgm:t>
        <a:bodyPr/>
        <a:lstStyle/>
        <a:p>
          <a:r>
            <a:rPr lang="en-US" sz="2400" b="1" dirty="0">
              <a:solidFill>
                <a:schemeClr val="tx1">
                  <a:lumMod val="95000"/>
                  <a:lumOff val="5000"/>
                </a:schemeClr>
              </a:solidFill>
            </a:rPr>
            <a:t>Moreover we have learnt about order of execution of constructor.</a:t>
          </a:r>
          <a:endParaRPr lang="en-IN" sz="2400" b="1" dirty="0">
            <a:solidFill>
              <a:schemeClr val="tx1">
                <a:lumMod val="95000"/>
                <a:lumOff val="5000"/>
              </a:schemeClr>
            </a:solidFill>
          </a:endParaRPr>
        </a:p>
      </dgm:t>
    </dgm:pt>
    <dgm:pt modelId="{0DC4AED1-1C4B-492D-B362-E4F34DA21582}" type="parTrans" cxnId="{57421435-2741-45ED-8B76-658C1BDCB734}">
      <dgm:prSet/>
      <dgm:spPr/>
      <dgm:t>
        <a:bodyPr/>
        <a:lstStyle/>
        <a:p>
          <a:endParaRPr lang="en-IN"/>
        </a:p>
      </dgm:t>
    </dgm:pt>
    <dgm:pt modelId="{93AF2E2B-5524-48E6-96A4-F1B0B555DF04}" type="sibTrans" cxnId="{57421435-2741-45ED-8B76-658C1BDCB734}">
      <dgm:prSet/>
      <dgm:spPr/>
      <dgm:t>
        <a:bodyPr/>
        <a:lstStyle/>
        <a:p>
          <a:endParaRPr lang="en-IN"/>
        </a:p>
      </dgm:t>
    </dgm:pt>
    <dgm:pt modelId="{A01C6F03-8F64-4572-A415-227584B1F1D4}">
      <dgm:prSet custT="1"/>
      <dgm:spPr>
        <a:solidFill>
          <a:schemeClr val="accent1">
            <a:lumMod val="40000"/>
            <a:lumOff val="60000"/>
          </a:schemeClr>
        </a:solidFill>
      </dgm:spPr>
      <dgm:t>
        <a:bodyPr/>
        <a:lstStyle/>
        <a:p>
          <a:r>
            <a:rPr lang="en-US" sz="2400" b="1" dirty="0">
              <a:solidFill>
                <a:schemeClr val="bg2">
                  <a:lumMod val="10000"/>
                </a:schemeClr>
              </a:solidFill>
              <a:sym typeface="Wingdings" panose="05000000000000000000" pitchFamily="2" charset="2"/>
            </a:rPr>
            <a:t>Discussed about destructor, and its needs.</a:t>
          </a:r>
        </a:p>
      </dgm:t>
    </dgm:pt>
    <dgm:pt modelId="{4DA968A8-0948-417F-9134-FA754EAB92DA}" type="parTrans" cxnId="{9495434F-F7C9-45D7-B8C6-CCE0B7994591}">
      <dgm:prSet/>
      <dgm:spPr/>
      <dgm:t>
        <a:bodyPr/>
        <a:lstStyle/>
        <a:p>
          <a:endParaRPr lang="en-IN"/>
        </a:p>
      </dgm:t>
    </dgm:pt>
    <dgm:pt modelId="{14056E56-91CB-4AD0-BDAA-2A69C7D39824}" type="sibTrans" cxnId="{9495434F-F7C9-45D7-B8C6-CCE0B7994591}">
      <dgm:prSet/>
      <dgm:spPr/>
      <dgm:t>
        <a:bodyPr/>
        <a:lstStyle/>
        <a:p>
          <a:endParaRPr lang="en-IN"/>
        </a:p>
      </dgm:t>
    </dgm:pt>
    <dgm:pt modelId="{097EF926-1259-452F-A448-711C22076917}" type="pres">
      <dgm:prSet presAssocID="{A30D818A-DE61-492C-9F49-4330F19690E3}" presName="diagram" presStyleCnt="0">
        <dgm:presLayoutVars>
          <dgm:dir/>
          <dgm:resizeHandles val="exact"/>
        </dgm:presLayoutVars>
      </dgm:prSet>
      <dgm:spPr/>
      <dgm:t>
        <a:bodyPr/>
        <a:lstStyle/>
        <a:p>
          <a:endParaRPr lang="en-US"/>
        </a:p>
      </dgm:t>
    </dgm:pt>
    <dgm:pt modelId="{2F0A59F6-A053-4340-A4F0-E60DDF039046}" type="pres">
      <dgm:prSet presAssocID="{72067E99-1C3B-406E-B0E9-FC347F914FA8}" presName="node" presStyleLbl="node1" presStyleIdx="0" presStyleCnt="4" custLinFactNeighborX="-5593" custLinFactNeighborY="843">
        <dgm:presLayoutVars>
          <dgm:bulletEnabled val="1"/>
        </dgm:presLayoutVars>
      </dgm:prSet>
      <dgm:spPr/>
      <dgm:t>
        <a:bodyPr/>
        <a:lstStyle/>
        <a:p>
          <a:endParaRPr lang="en-US"/>
        </a:p>
      </dgm:t>
    </dgm:pt>
    <dgm:pt modelId="{B7110241-4B56-449E-BE7E-CE03E41DECBD}" type="pres">
      <dgm:prSet presAssocID="{E2FCE763-C2C6-41BB-BE42-2FC9B40C0439}" presName="sibTrans" presStyleCnt="0"/>
      <dgm:spPr/>
    </dgm:pt>
    <dgm:pt modelId="{DE45F2CF-0A49-462B-B901-AD08FACBBB0E}" type="pres">
      <dgm:prSet presAssocID="{A7DE4063-2DA9-4CA0-9DDC-11769B7332D8}" presName="node" presStyleLbl="node1" presStyleIdx="1" presStyleCnt="4">
        <dgm:presLayoutVars>
          <dgm:bulletEnabled val="1"/>
        </dgm:presLayoutVars>
      </dgm:prSet>
      <dgm:spPr/>
      <dgm:t>
        <a:bodyPr/>
        <a:lstStyle/>
        <a:p>
          <a:endParaRPr lang="en-US"/>
        </a:p>
      </dgm:t>
    </dgm:pt>
    <dgm:pt modelId="{E15D8264-6CE6-4D91-B2D2-1EAC00783183}" type="pres">
      <dgm:prSet presAssocID="{EA51BD59-3F69-42AA-902C-6B9694E16D92}" presName="sibTrans" presStyleCnt="0"/>
      <dgm:spPr/>
    </dgm:pt>
    <dgm:pt modelId="{45C74EF1-9A11-4F71-A1B7-79F2B3452A9C}" type="pres">
      <dgm:prSet presAssocID="{0621545F-95F6-44EB-825F-83C24ABAE76E}" presName="node" presStyleLbl="node1" presStyleIdx="2" presStyleCnt="4" custLinFactNeighborX="229" custLinFactNeighborY="-776">
        <dgm:presLayoutVars>
          <dgm:bulletEnabled val="1"/>
        </dgm:presLayoutVars>
      </dgm:prSet>
      <dgm:spPr/>
      <dgm:t>
        <a:bodyPr/>
        <a:lstStyle/>
        <a:p>
          <a:endParaRPr lang="en-US"/>
        </a:p>
      </dgm:t>
    </dgm:pt>
    <dgm:pt modelId="{0CC0DE93-1BD7-4691-B76E-8B0327162FB5}" type="pres">
      <dgm:prSet presAssocID="{93AF2E2B-5524-48E6-96A4-F1B0B555DF04}" presName="sibTrans" presStyleCnt="0"/>
      <dgm:spPr/>
    </dgm:pt>
    <dgm:pt modelId="{125214B9-F360-433C-AD02-087D02D43A08}" type="pres">
      <dgm:prSet presAssocID="{A01C6F03-8F64-4572-A415-227584B1F1D4}" presName="node" presStyleLbl="node1" presStyleIdx="3" presStyleCnt="4">
        <dgm:presLayoutVars>
          <dgm:bulletEnabled val="1"/>
        </dgm:presLayoutVars>
      </dgm:prSet>
      <dgm:spPr/>
      <dgm:t>
        <a:bodyPr/>
        <a:lstStyle/>
        <a:p>
          <a:endParaRPr lang="en-US"/>
        </a:p>
      </dgm:t>
    </dgm:pt>
  </dgm:ptLst>
  <dgm:cxnLst>
    <dgm:cxn modelId="{9495434F-F7C9-45D7-B8C6-CCE0B7994591}" srcId="{A30D818A-DE61-492C-9F49-4330F19690E3}" destId="{A01C6F03-8F64-4572-A415-227584B1F1D4}" srcOrd="3" destOrd="0" parTransId="{4DA968A8-0948-417F-9134-FA754EAB92DA}" sibTransId="{14056E56-91CB-4AD0-BDAA-2A69C7D39824}"/>
    <dgm:cxn modelId="{CB715DCB-B8A2-400C-A562-D0851701E2C1}" srcId="{A30D818A-DE61-492C-9F49-4330F19690E3}" destId="{A7DE4063-2DA9-4CA0-9DDC-11769B7332D8}" srcOrd="1" destOrd="0" parTransId="{ED3D644F-FD3E-48AA-A0DA-12CED9DB591C}" sibTransId="{EA51BD59-3F69-42AA-902C-6B9694E16D92}"/>
    <dgm:cxn modelId="{7DDA5D15-540F-4782-AC07-9170D87AA5BA}" type="presOf" srcId="{A7DE4063-2DA9-4CA0-9DDC-11769B7332D8}" destId="{DE45F2CF-0A49-462B-B901-AD08FACBBB0E}" srcOrd="0" destOrd="0" presId="urn:microsoft.com/office/officeart/2005/8/layout/default"/>
    <dgm:cxn modelId="{57421435-2741-45ED-8B76-658C1BDCB734}" srcId="{A30D818A-DE61-492C-9F49-4330F19690E3}" destId="{0621545F-95F6-44EB-825F-83C24ABAE76E}" srcOrd="2" destOrd="0" parTransId="{0DC4AED1-1C4B-492D-B362-E4F34DA21582}" sibTransId="{93AF2E2B-5524-48E6-96A4-F1B0B555DF04}"/>
    <dgm:cxn modelId="{537F3816-8AD7-4A36-A251-136F9CB6EDBD}" type="presOf" srcId="{A01C6F03-8F64-4572-A415-227584B1F1D4}" destId="{125214B9-F360-433C-AD02-087D02D43A08}" srcOrd="0" destOrd="0" presId="urn:microsoft.com/office/officeart/2005/8/layout/default"/>
    <dgm:cxn modelId="{D00252CB-9D61-4788-A959-DB99FAB8CBDB}" type="presOf" srcId="{A30D818A-DE61-492C-9F49-4330F19690E3}" destId="{097EF926-1259-452F-A448-711C22076917}" srcOrd="0" destOrd="0" presId="urn:microsoft.com/office/officeart/2005/8/layout/default"/>
    <dgm:cxn modelId="{AAE49CDE-EE1C-4041-8DCB-69A3B80087AD}" srcId="{A30D818A-DE61-492C-9F49-4330F19690E3}" destId="{72067E99-1C3B-406E-B0E9-FC347F914FA8}" srcOrd="0" destOrd="0" parTransId="{E295694A-E3FF-4E4D-B786-E47583760C4E}" sibTransId="{E2FCE763-C2C6-41BB-BE42-2FC9B40C0439}"/>
    <dgm:cxn modelId="{FB907561-3042-443C-9925-0235425570A1}" type="presOf" srcId="{0621545F-95F6-44EB-825F-83C24ABAE76E}" destId="{45C74EF1-9A11-4F71-A1B7-79F2B3452A9C}" srcOrd="0" destOrd="0" presId="urn:microsoft.com/office/officeart/2005/8/layout/default"/>
    <dgm:cxn modelId="{ECCE3782-0BA7-4D11-9D3C-49385FC334F5}" type="presOf" srcId="{72067E99-1C3B-406E-B0E9-FC347F914FA8}" destId="{2F0A59F6-A053-4340-A4F0-E60DDF039046}" srcOrd="0" destOrd="0" presId="urn:microsoft.com/office/officeart/2005/8/layout/default"/>
    <dgm:cxn modelId="{699A32D2-8395-47D4-BE2B-5B8EF202D093}" type="presParOf" srcId="{097EF926-1259-452F-A448-711C22076917}" destId="{2F0A59F6-A053-4340-A4F0-E60DDF039046}" srcOrd="0" destOrd="0" presId="urn:microsoft.com/office/officeart/2005/8/layout/default"/>
    <dgm:cxn modelId="{02491696-24B3-49AC-8F8C-9C3FB5FD4A79}" type="presParOf" srcId="{097EF926-1259-452F-A448-711C22076917}" destId="{B7110241-4B56-449E-BE7E-CE03E41DECBD}" srcOrd="1" destOrd="0" presId="urn:microsoft.com/office/officeart/2005/8/layout/default"/>
    <dgm:cxn modelId="{74690019-F115-4FDC-B1CB-756CF730DB81}" type="presParOf" srcId="{097EF926-1259-452F-A448-711C22076917}" destId="{DE45F2CF-0A49-462B-B901-AD08FACBBB0E}" srcOrd="2" destOrd="0" presId="urn:microsoft.com/office/officeart/2005/8/layout/default"/>
    <dgm:cxn modelId="{5AB02E86-EE83-4357-B54B-6448622334B5}" type="presParOf" srcId="{097EF926-1259-452F-A448-711C22076917}" destId="{E15D8264-6CE6-4D91-B2D2-1EAC00783183}" srcOrd="3" destOrd="0" presId="urn:microsoft.com/office/officeart/2005/8/layout/default"/>
    <dgm:cxn modelId="{5E671BA3-C945-46E3-8A16-A759A8BB1E41}" type="presParOf" srcId="{097EF926-1259-452F-A448-711C22076917}" destId="{45C74EF1-9A11-4F71-A1B7-79F2B3452A9C}" srcOrd="4" destOrd="0" presId="urn:microsoft.com/office/officeart/2005/8/layout/default"/>
    <dgm:cxn modelId="{83814BDA-AC59-4D7F-A37F-B0624856D23C}" type="presParOf" srcId="{097EF926-1259-452F-A448-711C22076917}" destId="{0CC0DE93-1BD7-4691-B76E-8B0327162FB5}" srcOrd="5" destOrd="0" presId="urn:microsoft.com/office/officeart/2005/8/layout/default"/>
    <dgm:cxn modelId="{CEF43F2E-179B-44AB-B9A4-9CF127E089EE}" type="presParOf" srcId="{097EF926-1259-452F-A448-711C22076917}" destId="{125214B9-F360-433C-AD02-087D02D43A08}" srcOrd="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0A59F6-A053-4340-A4F0-E60DDF039046}">
      <dsp:nvSpPr>
        <dsp:cNvPr id="0" name=""/>
        <dsp:cNvSpPr/>
      </dsp:nvSpPr>
      <dsp:spPr>
        <a:xfrm>
          <a:off x="0" y="22329"/>
          <a:ext cx="4166272" cy="2499763"/>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a:solidFill>
                <a:schemeClr val="bg2">
                  <a:lumMod val="10000"/>
                </a:schemeClr>
              </a:solidFill>
            </a:rPr>
            <a:t>In this lecture we have discussed about Constructor.</a:t>
          </a:r>
          <a:endParaRPr lang="en-IN" sz="2400" b="1" kern="1200" dirty="0">
            <a:solidFill>
              <a:schemeClr val="bg2">
                <a:lumMod val="10000"/>
              </a:schemeClr>
            </a:solidFill>
          </a:endParaRPr>
        </a:p>
      </dsp:txBody>
      <dsp:txXfrm>
        <a:off x="0" y="22329"/>
        <a:ext cx="4166272" cy="2499763"/>
      </dsp:txXfrm>
    </dsp:sp>
    <dsp:sp modelId="{DE45F2CF-0A49-462B-B901-AD08FACBBB0E}">
      <dsp:nvSpPr>
        <dsp:cNvPr id="0" name=""/>
        <dsp:cNvSpPr/>
      </dsp:nvSpPr>
      <dsp:spPr>
        <a:xfrm>
          <a:off x="4656972" y="1256"/>
          <a:ext cx="4166272" cy="2499763"/>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a:solidFill>
                <a:schemeClr val="bg2">
                  <a:lumMod val="10000"/>
                </a:schemeClr>
              </a:solidFill>
            </a:rPr>
            <a:t>We have discussed about various types of constructor. </a:t>
          </a:r>
          <a:endParaRPr lang="en-IN" sz="2400" b="1" kern="1200" dirty="0">
            <a:solidFill>
              <a:schemeClr val="bg2">
                <a:lumMod val="10000"/>
              </a:schemeClr>
            </a:solidFill>
          </a:endParaRPr>
        </a:p>
      </dsp:txBody>
      <dsp:txXfrm>
        <a:off x="4656972" y="1256"/>
        <a:ext cx="4166272" cy="2499763"/>
      </dsp:txXfrm>
    </dsp:sp>
    <dsp:sp modelId="{45C74EF1-9A11-4F71-A1B7-79F2B3452A9C}">
      <dsp:nvSpPr>
        <dsp:cNvPr id="0" name=""/>
        <dsp:cNvSpPr/>
      </dsp:nvSpPr>
      <dsp:spPr>
        <a:xfrm>
          <a:off x="83612" y="2898248"/>
          <a:ext cx="4166272" cy="2499763"/>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a:solidFill>
                <a:schemeClr val="tx1">
                  <a:lumMod val="95000"/>
                  <a:lumOff val="5000"/>
                </a:schemeClr>
              </a:solidFill>
            </a:rPr>
            <a:t>Moreover we have learnt about order of execution of constructor.</a:t>
          </a:r>
          <a:endParaRPr lang="en-IN" sz="2400" b="1" kern="1200" dirty="0">
            <a:solidFill>
              <a:schemeClr val="tx1">
                <a:lumMod val="95000"/>
                <a:lumOff val="5000"/>
              </a:schemeClr>
            </a:solidFill>
          </a:endParaRPr>
        </a:p>
      </dsp:txBody>
      <dsp:txXfrm>
        <a:off x="83612" y="2898248"/>
        <a:ext cx="4166272" cy="2499763"/>
      </dsp:txXfrm>
    </dsp:sp>
    <dsp:sp modelId="{125214B9-F360-433C-AD02-087D02D43A08}">
      <dsp:nvSpPr>
        <dsp:cNvPr id="0" name=""/>
        <dsp:cNvSpPr/>
      </dsp:nvSpPr>
      <dsp:spPr>
        <a:xfrm>
          <a:off x="4656972" y="2917647"/>
          <a:ext cx="4166272" cy="2499763"/>
        </a:xfrm>
        <a:prstGeom prst="rect">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a:solidFill>
                <a:schemeClr val="bg2">
                  <a:lumMod val="10000"/>
                </a:schemeClr>
              </a:solidFill>
              <a:sym typeface="Wingdings" panose="05000000000000000000" pitchFamily="2" charset="2"/>
            </a:rPr>
            <a:t>Discussed about destructor, and its needs.</a:t>
          </a:r>
        </a:p>
      </dsp:txBody>
      <dsp:txXfrm>
        <a:off x="4656972" y="2917647"/>
        <a:ext cx="4166272" cy="2499763"/>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12/4/2023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12/4/2023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a:t>
            </a:fld>
            <a:endParaRPr lang="en-US"/>
          </a:p>
        </p:txBody>
      </p:sp>
    </p:spTree>
    <p:extLst>
      <p:ext uri="{BB962C8B-B14F-4D97-AF65-F5344CB8AC3E}">
        <p14:creationId xmlns:p14="http://schemas.microsoft.com/office/powerpoint/2010/main" val="21521072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a:t>
            </a:fld>
            <a:endParaRPr lang="en-US"/>
          </a:p>
        </p:txBody>
      </p:sp>
    </p:spTree>
    <p:extLst>
      <p:ext uri="{BB962C8B-B14F-4D97-AF65-F5344CB8AC3E}">
        <p14:creationId xmlns:p14="http://schemas.microsoft.com/office/powerpoint/2010/main" val="14407496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3</a:t>
            </a:fld>
            <a:endParaRPr lang="en-US"/>
          </a:p>
        </p:txBody>
      </p:sp>
    </p:spTree>
    <p:extLst>
      <p:ext uri="{BB962C8B-B14F-4D97-AF65-F5344CB8AC3E}">
        <p14:creationId xmlns:p14="http://schemas.microsoft.com/office/powerpoint/2010/main" val="10338189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4</a:t>
            </a:fld>
            <a:endParaRPr lang="en-US"/>
          </a:p>
        </p:txBody>
      </p:sp>
    </p:spTree>
    <p:extLst>
      <p:ext uri="{BB962C8B-B14F-4D97-AF65-F5344CB8AC3E}">
        <p14:creationId xmlns:p14="http://schemas.microsoft.com/office/powerpoint/2010/main" val="42553958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5</a:t>
            </a:fld>
            <a:endParaRPr lang="en-US"/>
          </a:p>
        </p:txBody>
      </p:sp>
    </p:spTree>
    <p:extLst>
      <p:ext uri="{BB962C8B-B14F-4D97-AF65-F5344CB8AC3E}">
        <p14:creationId xmlns:p14="http://schemas.microsoft.com/office/powerpoint/2010/main" val="40741595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Computer in the diagram is 3</a:t>
            </a:r>
            <a:r>
              <a:rPr lang="en-US" baseline="30000" dirty="0"/>
              <a:t>rd</a:t>
            </a:r>
            <a:r>
              <a:rPr lang="en-US" dirty="0"/>
              <a:t> generation</a:t>
            </a:r>
            <a:r>
              <a:rPr lang="en-US" baseline="0" dirty="0"/>
              <a:t> computer. The period of third generation was from 1965-1971. The computers of third generation used Integrated Circuits (ICs) in place of transistors. A single IC has many transistors, resistors, and capacitors along with the associated circuitry. The main features of third generation are −</a:t>
            </a:r>
          </a:p>
          <a:p>
            <a:r>
              <a:rPr lang="en-US" baseline="0" dirty="0"/>
              <a:t>IC used</a:t>
            </a:r>
          </a:p>
          <a:p>
            <a:r>
              <a:rPr lang="en-US" baseline="0" dirty="0"/>
              <a:t>More reliable in comparison to previous two generations</a:t>
            </a:r>
          </a:p>
          <a:p>
            <a:r>
              <a:rPr lang="en-US" baseline="0" dirty="0"/>
              <a:t>Smaller size</a:t>
            </a:r>
          </a:p>
          <a:p>
            <a:r>
              <a:rPr lang="en-US" baseline="0" dirty="0"/>
              <a:t>Generated less heat</a:t>
            </a:r>
          </a:p>
          <a:p>
            <a:r>
              <a:rPr lang="en-US" baseline="0" dirty="0"/>
              <a:t>Faster</a:t>
            </a:r>
          </a:p>
          <a:p>
            <a:r>
              <a:rPr lang="en-US" baseline="0" dirty="0"/>
              <a:t>Lesser maintenance</a:t>
            </a:r>
          </a:p>
          <a:p>
            <a:r>
              <a:rPr lang="en-US" baseline="0" dirty="0"/>
              <a:t>Costly</a:t>
            </a:r>
          </a:p>
          <a:p>
            <a:r>
              <a:rPr lang="en-US" baseline="0" dirty="0"/>
              <a:t>AC required</a:t>
            </a:r>
          </a:p>
          <a:p>
            <a:r>
              <a:rPr lang="en-US" baseline="0" dirty="0"/>
              <a:t>Consumed lesser electricity</a:t>
            </a:r>
          </a:p>
          <a:p>
            <a:r>
              <a:rPr lang="en-US" baseline="0" dirty="0"/>
              <a:t>Supported high-level language</a:t>
            </a:r>
            <a:endParaRPr lang="en-US" dirty="0"/>
          </a:p>
        </p:txBody>
      </p:sp>
      <p:sp>
        <p:nvSpPr>
          <p:cNvPr id="4" name="Slide Number Placeholder 3"/>
          <p:cNvSpPr>
            <a:spLocks noGrp="1"/>
          </p:cNvSpPr>
          <p:nvPr>
            <p:ph type="sldNum" sz="quarter" idx="10"/>
          </p:nvPr>
        </p:nvSpPr>
        <p:spPr/>
        <p:txBody>
          <a:bodyPr/>
          <a:lstStyle/>
          <a:p>
            <a:fld id="{60732FBC-CC67-4B17-8935-02F23E3364AC}" type="slidenum">
              <a:rPr lang="en-US" smtClean="0"/>
              <a:pPr/>
              <a:t>6</a:t>
            </a:fld>
            <a:endParaRPr lang="en-US"/>
          </a:p>
        </p:txBody>
      </p:sp>
    </p:spTree>
    <p:extLst>
      <p:ext uri="{BB962C8B-B14F-4D97-AF65-F5344CB8AC3E}">
        <p14:creationId xmlns:p14="http://schemas.microsoft.com/office/powerpoint/2010/main" val="41860240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7</a:t>
            </a:fld>
            <a:endParaRPr lang="en-US"/>
          </a:p>
        </p:txBody>
      </p:sp>
    </p:spTree>
    <p:extLst>
      <p:ext uri="{BB962C8B-B14F-4D97-AF65-F5344CB8AC3E}">
        <p14:creationId xmlns:p14="http://schemas.microsoft.com/office/powerpoint/2010/main" val="6697888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8</a:t>
            </a:fld>
            <a:endParaRPr lang="en-US"/>
          </a:p>
        </p:txBody>
      </p:sp>
    </p:spTree>
    <p:extLst>
      <p:ext uri="{BB962C8B-B14F-4D97-AF65-F5344CB8AC3E}">
        <p14:creationId xmlns:p14="http://schemas.microsoft.com/office/powerpoint/2010/main" val="6697888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9</a:t>
            </a:fld>
            <a:endParaRPr lang="en-US"/>
          </a:p>
        </p:txBody>
      </p:sp>
    </p:spTree>
    <p:extLst>
      <p:ext uri="{BB962C8B-B14F-4D97-AF65-F5344CB8AC3E}">
        <p14:creationId xmlns:p14="http://schemas.microsoft.com/office/powerpoint/2010/main" val="6697888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10</a:t>
            </a:fld>
            <a:endParaRPr lang="en-US"/>
          </a:p>
        </p:txBody>
      </p:sp>
    </p:spTree>
    <p:extLst>
      <p:ext uri="{BB962C8B-B14F-4D97-AF65-F5344CB8AC3E}">
        <p14:creationId xmlns:p14="http://schemas.microsoft.com/office/powerpoint/2010/main" val="6697888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20</a:t>
            </a:fld>
            <a:endParaRPr lang="en-US"/>
          </a:p>
        </p:txBody>
      </p:sp>
    </p:spTree>
    <p:extLst>
      <p:ext uri="{BB962C8B-B14F-4D97-AF65-F5344CB8AC3E}">
        <p14:creationId xmlns:p14="http://schemas.microsoft.com/office/powerpoint/2010/main" val="38562935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21</a:t>
            </a:fld>
            <a:endParaRPr lang="en-US"/>
          </a:p>
        </p:txBody>
      </p:sp>
    </p:spTree>
    <p:extLst>
      <p:ext uri="{BB962C8B-B14F-4D97-AF65-F5344CB8AC3E}">
        <p14:creationId xmlns:p14="http://schemas.microsoft.com/office/powerpoint/2010/main" val="7034769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22</a:t>
            </a:fld>
            <a:endParaRPr lang="en-US"/>
          </a:p>
        </p:txBody>
      </p:sp>
    </p:spTree>
    <p:extLst>
      <p:ext uri="{BB962C8B-B14F-4D97-AF65-F5344CB8AC3E}">
        <p14:creationId xmlns:p14="http://schemas.microsoft.com/office/powerpoint/2010/main" val="17752035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23</a:t>
            </a:fld>
            <a:endParaRPr lang="en-US"/>
          </a:p>
        </p:txBody>
      </p:sp>
    </p:spTree>
    <p:extLst>
      <p:ext uri="{BB962C8B-B14F-4D97-AF65-F5344CB8AC3E}">
        <p14:creationId xmlns:p14="http://schemas.microsoft.com/office/powerpoint/2010/main" val="28789068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24</a:t>
            </a:fld>
            <a:endParaRPr lang="en-US"/>
          </a:p>
        </p:txBody>
      </p:sp>
    </p:spTree>
    <p:extLst>
      <p:ext uri="{BB962C8B-B14F-4D97-AF65-F5344CB8AC3E}">
        <p14:creationId xmlns:p14="http://schemas.microsoft.com/office/powerpoint/2010/main" val="40921612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25</a:t>
            </a:fld>
            <a:endParaRPr lang="en-US"/>
          </a:p>
        </p:txBody>
      </p:sp>
    </p:spTree>
    <p:extLst>
      <p:ext uri="{BB962C8B-B14F-4D97-AF65-F5344CB8AC3E}">
        <p14:creationId xmlns:p14="http://schemas.microsoft.com/office/powerpoint/2010/main" val="40921612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26</a:t>
            </a:fld>
            <a:endParaRPr lang="en-US"/>
          </a:p>
        </p:txBody>
      </p:sp>
    </p:spTree>
    <p:extLst>
      <p:ext uri="{BB962C8B-B14F-4D97-AF65-F5344CB8AC3E}">
        <p14:creationId xmlns:p14="http://schemas.microsoft.com/office/powerpoint/2010/main" val="9324736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27</a:t>
            </a:fld>
            <a:endParaRPr lang="en-US"/>
          </a:p>
        </p:txBody>
      </p:sp>
    </p:spTree>
    <p:extLst>
      <p:ext uri="{BB962C8B-B14F-4D97-AF65-F5344CB8AC3E}">
        <p14:creationId xmlns:p14="http://schemas.microsoft.com/office/powerpoint/2010/main" val="37252839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28</a:t>
            </a:fld>
            <a:endParaRPr lang="en-US"/>
          </a:p>
        </p:txBody>
      </p:sp>
    </p:spTree>
    <p:extLst>
      <p:ext uri="{BB962C8B-B14F-4D97-AF65-F5344CB8AC3E}">
        <p14:creationId xmlns:p14="http://schemas.microsoft.com/office/powerpoint/2010/main" val="99920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12/4/2023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microsoft.com/office/2007/relationships/hdphoto" Target="../media/hdphoto1.wdp"/><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7.png"/><Relationship Id="rId5" Type="http://schemas.openxmlformats.org/officeDocument/2006/relationships/image" Target="../media/image6.emf"/><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5" Type="http://schemas.openxmlformats.org/officeDocument/2006/relationships/image" Target="../media/image12.jp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gi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en.wikipedia.org/wiki/Constructor_(object-oriented_programming)"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6.jpeg"/><Relationship Id="rId5" Type="http://schemas.openxmlformats.org/officeDocument/2006/relationships/hyperlink" Target="https://en.wikipedia.org/wiki/Destructor_(computer_programming)" TargetMode="External"/><Relationship Id="rId4" Type="http://schemas.openxmlformats.org/officeDocument/2006/relationships/hyperlink" Target="https://www.programiz.com/cpp-programming/constructors" TargetMode="Externa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3.xml"/><Relationship Id="rId1" Type="http://schemas.openxmlformats.org/officeDocument/2006/relationships/vmlDrawing" Target="../drawings/vmlDrawing2.vml"/><Relationship Id="rId5" Type="http://schemas.openxmlformats.org/officeDocument/2006/relationships/image" Target="../media/image6.emf"/><Relationship Id="rId4" Type="http://schemas.openxmlformats.org/officeDocument/2006/relationships/oleObject" Target="../embeddings/oleObject2.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0" y="5369340"/>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p:cNvSpPr/>
          <p:nvPr/>
        </p:nvSpPr>
        <p:spPr>
          <a:xfrm>
            <a:off x="236408" y="592201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spid="_x0000_s1034" name="CorelDRAW" r:id="rId4" imgW="2169000" imgH="2169360" progId="">
                  <p:embed/>
                </p:oleObj>
              </mc:Choice>
              <mc:Fallback>
                <p:oleObj name="CorelDRAW" r:id="rId4" imgW="2169000" imgH="2169360" progId="">
                  <p:embed/>
                  <p:pic>
                    <p:nvPicPr>
                      <p:cNvPr id="48" name="Object 47">
                        <a:extLst>
                          <a:ext uri="{FF2B5EF4-FFF2-40B4-BE49-F238E27FC236}">
                            <a16:creationId xmlns:a16="http://schemas.microsoft.com/office/drawing/2014/main" id="{CAD0D7B8-E462-453C-B296-CA0154FA54AE}"/>
                          </a:ext>
                        </a:extLst>
                      </p:cNvPr>
                      <p:cNvPicPr>
                        <a:picLocks noChangeAspect="1" noChangeArrowheads="1"/>
                      </p:cNvPicPr>
                      <p:nvPr/>
                    </p:nvPicPr>
                    <p:blipFill>
                      <a:blip r:embed="rId5">
                        <a:lum bright="76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0" name="Picture 29"/>
          <p:cNvPicPr>
            <a:picLocks noChangeAspect="1"/>
          </p:cNvPicPr>
          <p:nvPr/>
        </p:nvPicPr>
        <p:blipFill>
          <a:blip r:embed="rId6" cstate="print">
            <a:extLst>
              <a:ext uri="{BEBA8EAE-BF5A-486C-A8C5-ECC9F3942E4B}">
                <a14:imgProps xmlns:a14="http://schemas.microsoft.com/office/drawing/2010/main">
                  <a14:imgLayer r:embed="rId7">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TextBox 52"/>
          <p:cNvSpPr txBox="1">
            <a:spLocks noChangeArrowheads="1"/>
          </p:cNvSpPr>
          <p:nvPr/>
        </p:nvSpPr>
        <p:spPr bwMode="auto">
          <a:xfrm>
            <a:off x="252333" y="5988169"/>
            <a:ext cx="6432043" cy="8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400" b="1" dirty="0">
                <a:solidFill>
                  <a:prstClr val="black">
                    <a:lumMod val="85000"/>
                    <a:lumOff val="15000"/>
                  </a:prstClr>
                </a:solidFill>
                <a:latin typeface="Times New Roman" panose="02020603050405020304" pitchFamily="18" charset="0"/>
                <a:cs typeface="Times New Roman" panose="02020603050405020304" pitchFamily="18" charset="0"/>
              </a:rPr>
              <a:t>Topic : </a:t>
            </a:r>
            <a:r>
              <a:rPr lang="en-US" sz="2400" b="1" dirty="0">
                <a:solidFill>
                  <a:prstClr val="black">
                    <a:lumMod val="85000"/>
                    <a:lumOff val="15000"/>
                  </a:prstClr>
                </a:solidFill>
                <a:latin typeface="Times New Roman" panose="02020603050405020304" pitchFamily="18" charset="0"/>
                <a:cs typeface="Times New Roman" panose="02020603050405020304" pitchFamily="18" charset="0"/>
              </a:rPr>
              <a:t>Constructors &amp; Destructors</a:t>
            </a:r>
            <a:endParaRPr lang="en-US" sz="2400" b="1" dirty="0">
              <a:solidFill>
                <a:prstClr val="black">
                  <a:lumMod val="85000"/>
                  <a:lumOff val="15000"/>
                </a:prstClr>
              </a:solidFill>
              <a:latin typeface="Times New Roman" panose="02020603050405020304" pitchFamily="18" charset="0"/>
              <a:cs typeface="Times New Roman" panose="02020603050405020304" pitchFamily="18" charset="0"/>
            </a:endParaRPr>
          </a:p>
          <a:p>
            <a:pPr eaLnBrk="1" hangingPunct="1"/>
            <a:endParaRPr lang="en-US" sz="1600" dirty="0">
              <a:latin typeface="Raleway ExtraBold" pitchFamily="34" charset="-52"/>
            </a:endParaRPr>
          </a:p>
        </p:txBody>
      </p:sp>
      <p:sp>
        <p:nvSpPr>
          <p:cNvPr id="2" name="TextBox 1">
            <a:extLst>
              <a:ext uri="{FF2B5EF4-FFF2-40B4-BE49-F238E27FC236}">
                <a16:creationId xmlns:a16="http://schemas.microsoft.com/office/drawing/2014/main" id="{0329CE43-2B94-49D3-9948-A297B0FB52BF}"/>
              </a:ext>
            </a:extLst>
          </p:cNvPr>
          <p:cNvSpPr txBox="1">
            <a:spLocks noChangeArrowheads="1"/>
          </p:cNvSpPr>
          <p:nvPr/>
        </p:nvSpPr>
        <p:spPr bwMode="auto">
          <a:xfrm>
            <a:off x="809888" y="1864101"/>
            <a:ext cx="9884238" cy="2788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INSTITUTE - UIE</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ACADEMIC UNIT-2</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(Computer Science &amp; Engineering) </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Name: </a:t>
            </a:r>
            <a:r>
              <a:rPr lang="en-US" sz="2800" dirty="0">
                <a:latin typeface="Times New Roman" panose="02020603050405020304" pitchFamily="18" charset="0"/>
                <a:ea typeface="Calibri" panose="020F0502020204030204" pitchFamily="34" charset="0"/>
                <a:cs typeface="Times New Roman" panose="02020603050405020304" pitchFamily="18" charset="0"/>
              </a:rPr>
              <a:t>Basic Data Structure Using </a:t>
            </a:r>
            <a:r>
              <a:rPr lang="en-US" sz="2800" dirty="0" smtClean="0">
                <a:latin typeface="Times New Roman" panose="02020603050405020304" pitchFamily="18" charset="0"/>
                <a:ea typeface="Calibri" panose="020F0502020204030204" pitchFamily="34" charset="0"/>
                <a:cs typeface="Times New Roman" panose="02020603050405020304" pitchFamily="18" charset="0"/>
              </a:rPr>
              <a:t>C++</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r>
              <a:rPr lang="en-US" sz="2800" dirty="0" smtClean="0">
                <a:latin typeface="Times New Roman" panose="02020603050405020304" pitchFamily="18" charset="0"/>
                <a:ea typeface="Calibri" panose="020F0502020204030204" pitchFamily="34" charset="0"/>
                <a:cs typeface="Times New Roman" panose="02020603050405020304" pitchFamily="18" charset="0"/>
              </a:rPr>
              <a:t>Code:23CSH-103</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00986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D4AFE-B27C-4A9A-A9F5-7F62354B01A2}"/>
              </a:ext>
            </a:extLst>
          </p:cNvPr>
          <p:cNvSpPr>
            <a:spLocks noGrp="1"/>
          </p:cNvSpPr>
          <p:nvPr>
            <p:ph type="title"/>
          </p:nvPr>
        </p:nvSpPr>
        <p:spPr>
          <a:xfrm>
            <a:off x="600075" y="838200"/>
            <a:ext cx="4834074" cy="1748246"/>
          </a:xfrm>
        </p:spPr>
        <p:txBody>
          <a:bodyPr>
            <a:normAutofit/>
          </a:bodyPr>
          <a:lstStyle/>
          <a:p>
            <a:pPr algn="ctr"/>
            <a:r>
              <a:rPr lang="en-US" sz="4400" dirty="0">
                <a:latin typeface="Times New Roman" panose="02020603050405020304" pitchFamily="18" charset="0"/>
                <a:ea typeface="Calibri" panose="020F0502020204030204" pitchFamily="34" charset="0"/>
                <a:cs typeface="Times New Roman" panose="02020603050405020304" pitchFamily="18" charset="0"/>
              </a:rPr>
              <a:t>Basic Data Structure Using C++</a:t>
            </a:r>
            <a:endParaRPr lang="en-IN" dirty="0"/>
          </a:p>
        </p:txBody>
      </p:sp>
      <p:sp>
        <p:nvSpPr>
          <p:cNvPr id="3" name="Content Placeholder 2">
            <a:extLst>
              <a:ext uri="{FF2B5EF4-FFF2-40B4-BE49-F238E27FC236}">
                <a16:creationId xmlns:a16="http://schemas.microsoft.com/office/drawing/2014/main" id="{A09B5602-926A-470D-BC2B-78EBF425FF1F}"/>
              </a:ext>
            </a:extLst>
          </p:cNvPr>
          <p:cNvSpPr>
            <a:spLocks noGrp="1"/>
          </p:cNvSpPr>
          <p:nvPr>
            <p:ph idx="1"/>
          </p:nvPr>
        </p:nvSpPr>
        <p:spPr/>
        <p:txBody>
          <a:bodyPr>
            <a:normAutofit/>
          </a:bodyPr>
          <a:lstStyle/>
          <a:p>
            <a:pPr marL="0" lvl="0" indent="0">
              <a:buNone/>
            </a:pPr>
            <a:r>
              <a:rPr lang="en-US" dirty="0"/>
              <a:t/>
            </a:r>
            <a:br>
              <a:rPr lang="en-US" dirty="0"/>
            </a:br>
            <a:endParaRPr lang="en-IN" b="1" dirty="0"/>
          </a:p>
          <a:p>
            <a:endParaRPr lang="en-IN" dirty="0"/>
          </a:p>
        </p:txBody>
      </p:sp>
      <p:sp>
        <p:nvSpPr>
          <p:cNvPr id="4" name="Text Placeholder 3">
            <a:extLst>
              <a:ext uri="{FF2B5EF4-FFF2-40B4-BE49-F238E27FC236}">
                <a16:creationId xmlns:a16="http://schemas.microsoft.com/office/drawing/2014/main" id="{467BF1DB-555C-464C-9D63-BB68417BDF76}"/>
              </a:ext>
            </a:extLst>
          </p:cNvPr>
          <p:cNvSpPr>
            <a:spLocks noGrp="1"/>
          </p:cNvSpPr>
          <p:nvPr>
            <p:ph type="body" sz="half" idx="2"/>
          </p:nvPr>
        </p:nvSpPr>
        <p:spPr>
          <a:xfrm>
            <a:off x="119133" y="3825531"/>
            <a:ext cx="3683602" cy="333376"/>
          </a:xfrm>
        </p:spPr>
        <p:txBody>
          <a:bodyPr>
            <a:normAutofit fontScale="92500" lnSpcReduction="20000"/>
          </a:bodyPr>
          <a:lstStyle/>
          <a:p>
            <a:r>
              <a:rPr lang="en-US" sz="2400" b="1" dirty="0"/>
              <a:t>Course Objectives</a:t>
            </a:r>
          </a:p>
          <a:p>
            <a:endParaRPr lang="en-US" b="1" i="1" u="sng" dirty="0"/>
          </a:p>
          <a:p>
            <a:endParaRPr lang="en-US" b="1" i="1" u="sng" dirty="0"/>
          </a:p>
        </p:txBody>
      </p:sp>
      <p:sp>
        <p:nvSpPr>
          <p:cNvPr id="5" name="Slide Number Placeholder 4">
            <a:extLst>
              <a:ext uri="{FF2B5EF4-FFF2-40B4-BE49-F238E27FC236}">
                <a16:creationId xmlns:a16="http://schemas.microsoft.com/office/drawing/2014/main" id="{6817145E-8450-434E-A8F0-1114075FB9BF}"/>
              </a:ext>
            </a:extLst>
          </p:cNvPr>
          <p:cNvSpPr>
            <a:spLocks noGrp="1"/>
          </p:cNvSpPr>
          <p:nvPr>
            <p:ph type="sldNum" sz="quarter" idx="12"/>
          </p:nvPr>
        </p:nvSpPr>
        <p:spPr/>
        <p:txBody>
          <a:bodyPr/>
          <a:lstStyle/>
          <a:p>
            <a:fld id="{BDCDBBEF-AA6C-4BA6-85B2-A17D7F280E38}" type="slidenum">
              <a:rPr lang="en-US" smtClean="0"/>
              <a:pPr/>
              <a:t>2</a:t>
            </a:fld>
            <a:endParaRPr lang="en-US" dirty="0"/>
          </a:p>
        </p:txBody>
      </p:sp>
      <p:pic>
        <p:nvPicPr>
          <p:cNvPr id="7" name="Picture 6">
            <a:extLst>
              <a:ext uri="{FF2B5EF4-FFF2-40B4-BE49-F238E27FC236}">
                <a16:creationId xmlns:a16="http://schemas.microsoft.com/office/drawing/2014/main" id="{4F45ED97-A37D-4BD5-9BB8-9A010CD2A3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05329" y="3901327"/>
            <a:ext cx="2581941" cy="2520950"/>
          </a:xfrm>
          <a:prstGeom prst="rect">
            <a:avLst/>
          </a:prstGeom>
        </p:spPr>
      </p:pic>
      <p:pic>
        <p:nvPicPr>
          <p:cNvPr id="9" name="Picture 8">
            <a:extLst>
              <a:ext uri="{FF2B5EF4-FFF2-40B4-BE49-F238E27FC236}">
                <a16:creationId xmlns:a16="http://schemas.microsoft.com/office/drawing/2014/main" id="{E4C0D224-3882-4701-BE24-7AC23C1C37A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48350" y="481100"/>
            <a:ext cx="5812823" cy="3390813"/>
          </a:xfrm>
          <a:prstGeom prst="rect">
            <a:avLst/>
          </a:prstGeom>
        </p:spPr>
      </p:pic>
      <p:graphicFrame>
        <p:nvGraphicFramePr>
          <p:cNvPr id="8" name="Table 10">
            <a:extLst>
              <a:ext uri="{FF2B5EF4-FFF2-40B4-BE49-F238E27FC236}">
                <a16:creationId xmlns:a16="http://schemas.microsoft.com/office/drawing/2014/main" id="{A82640A5-2231-4AFB-8485-E0B914CD594E}"/>
              </a:ext>
            </a:extLst>
          </p:cNvPr>
          <p:cNvGraphicFramePr>
            <a:graphicFrameLocks noGrp="1"/>
          </p:cNvGraphicFramePr>
          <p:nvPr>
            <p:extLst/>
          </p:nvPr>
        </p:nvGraphicFramePr>
        <p:xfrm>
          <a:off x="119133" y="4308909"/>
          <a:ext cx="7752657" cy="1402080"/>
        </p:xfrm>
        <a:graphic>
          <a:graphicData uri="http://schemas.openxmlformats.org/drawingml/2006/table">
            <a:tbl>
              <a:tblPr firstRow="1" bandRow="1">
                <a:tableStyleId>{21E4AEA4-8DFA-4A89-87EB-49C32662AFE0}</a:tableStyleId>
              </a:tblPr>
              <a:tblGrid>
                <a:gridCol w="7752657">
                  <a:extLst>
                    <a:ext uri="{9D8B030D-6E8A-4147-A177-3AD203B41FA5}">
                      <a16:colId xmlns:a16="http://schemas.microsoft.com/office/drawing/2014/main" val="398512777"/>
                    </a:ext>
                  </a:extLst>
                </a:gridCol>
              </a:tblGrid>
              <a:tr h="370840">
                <a:tc>
                  <a:txBody>
                    <a:bodyPr/>
                    <a:lstStyle/>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2000" b="1" kern="1200" dirty="0" smtClean="0">
                          <a:solidFill>
                            <a:srgbClr val="FF0000"/>
                          </a:solidFill>
                          <a:effectLst/>
                          <a:latin typeface="+mn-lt"/>
                          <a:ea typeface="+mn-ea"/>
                          <a:cs typeface="+mn-cs"/>
                        </a:rPr>
                        <a:t>To enable the students to understand various stages and constructs of C++ programming language.</a:t>
                      </a:r>
                      <a:endParaRPr lang="en-IN" sz="2400" b="1" i="0" kern="1200" dirty="0">
                        <a:solidFill>
                          <a:srgbClr val="FF0000"/>
                        </a:solidFill>
                        <a:effectLst/>
                        <a:latin typeface="+mn-lt"/>
                        <a:ea typeface="+mn-ea"/>
                        <a:cs typeface="+mn-cs"/>
                      </a:endParaRPr>
                    </a:p>
                  </a:txBody>
                  <a:tcPr>
                    <a:noFill/>
                  </a:tcPr>
                </a:tc>
                <a:extLst>
                  <a:ext uri="{0D108BD9-81ED-4DB2-BD59-A6C34878D82A}">
                    <a16:rowId xmlns:a16="http://schemas.microsoft.com/office/drawing/2014/main" val="4281817151"/>
                  </a:ext>
                </a:extLst>
              </a:tr>
              <a:tr h="370840">
                <a:tc>
                  <a:txBody>
                    <a:bodyPr/>
                    <a:lstStyle/>
                    <a:p>
                      <a:pPr marL="285750" indent="-285750" algn="just">
                        <a:buFont typeface="Arial" panose="020B0604020202020204" pitchFamily="34" charset="0"/>
                        <a:buChar char="•"/>
                      </a:pPr>
                      <a:r>
                        <a:rPr lang="en-US" sz="2000" b="1" i="0" kern="1200" dirty="0" smtClean="0">
                          <a:solidFill>
                            <a:srgbClr val="FF0000"/>
                          </a:solidFill>
                          <a:effectLst/>
                          <a:latin typeface="+mn-lt"/>
                          <a:ea typeface="+mn-ea"/>
                          <a:cs typeface="+mn-cs"/>
                        </a:rPr>
                        <a:t>To improve their ability to analyze and address variety of problems in C++.</a:t>
                      </a:r>
                      <a:endParaRPr lang="en-IN" sz="2000" b="1" dirty="0">
                        <a:solidFill>
                          <a:srgbClr val="FF0000"/>
                        </a:solidFill>
                      </a:endParaRPr>
                    </a:p>
                  </a:txBody>
                  <a:tcPr>
                    <a:noFill/>
                  </a:tcPr>
                </a:tc>
                <a:extLst>
                  <a:ext uri="{0D108BD9-81ED-4DB2-BD59-A6C34878D82A}">
                    <a16:rowId xmlns:a16="http://schemas.microsoft.com/office/drawing/2014/main" val="511240425"/>
                  </a:ext>
                </a:extLst>
              </a:tr>
            </a:tbl>
          </a:graphicData>
        </a:graphic>
      </p:graphicFrame>
    </p:spTree>
    <p:extLst>
      <p:ext uri="{BB962C8B-B14F-4D97-AF65-F5344CB8AC3E}">
        <p14:creationId xmlns:p14="http://schemas.microsoft.com/office/powerpoint/2010/main" val="3022658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123583" y="1144447"/>
            <a:ext cx="3755334" cy="4728357"/>
          </a:xfrm>
        </p:spPr>
        <p:txBody>
          <a:bodyPr>
            <a:normAutofit/>
          </a:bodyPr>
          <a:lstStyle/>
          <a:p>
            <a:endParaRPr lang="en-US" sz="2400" dirty="0">
              <a:latin typeface="Casper" panose="02000506000000020004" pitchFamily="2" charset="0"/>
              <a:cs typeface="Arial" panose="020B0604020202020204" pitchFamily="34" charset="0"/>
            </a:endParaRPr>
          </a:p>
          <a:p>
            <a:endParaRPr lang="en-US" sz="2400" dirty="0">
              <a:latin typeface="Casper" panose="02000506000000020004" pitchFamily="2" charset="0"/>
              <a:cs typeface="Arial" panose="020B0604020202020204" pitchFamily="34" charset="0"/>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3</a:t>
            </a:fld>
            <a:endParaRPr lang="en-US" dirty="0"/>
          </a:p>
        </p:txBody>
      </p:sp>
      <p:sp>
        <p:nvSpPr>
          <p:cNvPr id="2" name="Rectangle 1"/>
          <p:cNvSpPr/>
          <p:nvPr/>
        </p:nvSpPr>
        <p:spPr>
          <a:xfrm>
            <a:off x="8297137" y="1566862"/>
            <a:ext cx="3364639" cy="412142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6" name="Table 5"/>
          <p:cNvGraphicFramePr>
            <a:graphicFrameLocks noGrp="1"/>
          </p:cNvGraphicFramePr>
          <p:nvPr>
            <p:extLst/>
          </p:nvPr>
        </p:nvGraphicFramePr>
        <p:xfrm>
          <a:off x="374073" y="1801092"/>
          <a:ext cx="7532369" cy="4326692"/>
        </p:xfrm>
        <a:graphic>
          <a:graphicData uri="http://schemas.openxmlformats.org/drawingml/2006/table">
            <a:tbl>
              <a:tblPr firstRow="1" firstCol="1" bandRow="1">
                <a:tableStyleId>{5940675A-B579-460E-94D1-54222C63F5DA}</a:tableStyleId>
              </a:tblPr>
              <a:tblGrid>
                <a:gridCol w="1092249">
                  <a:extLst>
                    <a:ext uri="{9D8B030D-6E8A-4147-A177-3AD203B41FA5}">
                      <a16:colId xmlns:a16="http://schemas.microsoft.com/office/drawing/2014/main" val="20000"/>
                    </a:ext>
                  </a:extLst>
                </a:gridCol>
                <a:gridCol w="6440120">
                  <a:extLst>
                    <a:ext uri="{9D8B030D-6E8A-4147-A177-3AD203B41FA5}">
                      <a16:colId xmlns:a16="http://schemas.microsoft.com/office/drawing/2014/main" val="20001"/>
                    </a:ext>
                  </a:extLst>
                </a:gridCol>
              </a:tblGrid>
              <a:tr h="719836">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 Number</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00000"/>
                        </a:lnSpc>
                        <a:spcBef>
                          <a:spcPts val="0"/>
                        </a:spcBef>
                        <a:spcAft>
                          <a:spcPts val="0"/>
                        </a:spcAft>
                      </a:pPr>
                      <a:r>
                        <a:rPr lang="en-US" sz="1800" b="1" dirty="0" smtClean="0">
                          <a:solidFill>
                            <a:schemeClr val="tx1"/>
                          </a:solidFill>
                          <a:effectLst/>
                          <a:latin typeface="Times New Roman" panose="02020603050405020304" pitchFamily="18" charset="0"/>
                          <a:ea typeface="+mn-ea"/>
                          <a:cs typeface="Times New Roman" panose="02020603050405020304" pitchFamily="18" charset="0"/>
                        </a:rPr>
                        <a:t>Course</a:t>
                      </a:r>
                      <a:r>
                        <a:rPr lang="en-US" sz="1800" b="1" baseline="0" dirty="0" smtClean="0">
                          <a:solidFill>
                            <a:schemeClr val="tx1"/>
                          </a:solidFill>
                          <a:effectLst/>
                          <a:latin typeface="Times New Roman" panose="02020603050405020304" pitchFamily="18" charset="0"/>
                          <a:ea typeface="+mn-ea"/>
                          <a:cs typeface="Times New Roman" panose="02020603050405020304" pitchFamily="18" charset="0"/>
                        </a:rPr>
                        <a:t> Outcome</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683534">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CO1</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Understand the concepts of object-oriented programming including programming process and compilation process.</a:t>
                      </a:r>
                    </a:p>
                  </a:txBody>
                  <a:tcPr marL="68580" marR="68580" marT="0" marB="0"/>
                </a:tc>
                <a:extLst>
                  <a:ext uri="{0D108BD9-81ED-4DB2-BD59-A6C34878D82A}">
                    <a16:rowId xmlns:a16="http://schemas.microsoft.com/office/drawing/2014/main" val="10001"/>
                  </a:ext>
                </a:extLst>
              </a:tr>
              <a:tr h="625510">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CO2</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Apply different techniques to decompose a problem and programmed a solution with various concepts of object-oriented programming language. </a:t>
                      </a:r>
                    </a:p>
                  </a:txBody>
                  <a:tcPr marL="68580" marR="68580" marT="0" marB="0"/>
                </a:tc>
                <a:extLst>
                  <a:ext uri="{0D108BD9-81ED-4DB2-BD59-A6C34878D82A}">
                    <a16:rowId xmlns:a16="http://schemas.microsoft.com/office/drawing/2014/main" val="10002"/>
                  </a:ext>
                </a:extLst>
              </a:tr>
              <a:tr h="655163">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CO3</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Analyse and explain the behaviour of linear data structure operations using the programming addressed in the course.</a:t>
                      </a:r>
                    </a:p>
                  </a:txBody>
                  <a:tcPr marL="68580" marR="68580" marT="0" marB="0"/>
                </a:tc>
                <a:extLst>
                  <a:ext uri="{0D108BD9-81ED-4DB2-BD59-A6C34878D82A}">
                    <a16:rowId xmlns:a16="http://schemas.microsoft.com/office/drawing/2014/main" val="10003"/>
                  </a:ext>
                </a:extLst>
              </a:tr>
              <a:tr h="628422">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CO4</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Implement and evaluate the programs using the syntax and semantics of object-oriented programming.</a:t>
                      </a:r>
                    </a:p>
                  </a:txBody>
                  <a:tcPr marL="68580" marR="68580" marT="0" marB="0"/>
                </a:tc>
                <a:extLst>
                  <a:ext uri="{0D108BD9-81ED-4DB2-BD59-A6C34878D82A}">
                    <a16:rowId xmlns:a16="http://schemas.microsoft.com/office/drawing/2014/main" val="10004"/>
                  </a:ext>
                </a:extLst>
              </a:tr>
              <a:tr h="759246">
                <a:tc>
                  <a:txBody>
                    <a:bodyPr/>
                    <a:lstStyle/>
                    <a:p>
                      <a:pPr marL="0" marR="0">
                        <a:lnSpc>
                          <a:spcPct val="100000"/>
                        </a:lnSpc>
                        <a:spcBef>
                          <a:spcPts val="0"/>
                        </a:spcBef>
                        <a:spcAft>
                          <a:spcPts val="0"/>
                        </a:spcAft>
                      </a:pPr>
                      <a:r>
                        <a:rPr lang="en-US" sz="1800" b="1" dirty="0" smtClea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CO5</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31115"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Design the solution of real-world problems in order to determine that the program performs as expected.</a:t>
                      </a:r>
                    </a:p>
                  </a:txBody>
                  <a:tcPr marL="68580" marR="68580" marT="0" marB="0"/>
                </a:tc>
                <a:extLst>
                  <a:ext uri="{0D108BD9-81ED-4DB2-BD59-A6C34878D82A}">
                    <a16:rowId xmlns:a16="http://schemas.microsoft.com/office/drawing/2014/main" val="2838883604"/>
                  </a:ext>
                </a:extLst>
              </a:tr>
            </a:tbl>
          </a:graphicData>
        </a:graphic>
      </p:graphicFrame>
      <p:sp>
        <p:nvSpPr>
          <p:cNvPr id="11" name="Rectangle 10"/>
          <p:cNvSpPr/>
          <p:nvPr/>
        </p:nvSpPr>
        <p:spPr>
          <a:xfrm>
            <a:off x="546270" y="1144447"/>
            <a:ext cx="2635080" cy="461665"/>
          </a:xfrm>
          <a:prstGeom prst="rect">
            <a:avLst/>
          </a:prstGeom>
        </p:spPr>
        <p:txBody>
          <a:bodyPr wrap="square">
            <a:spAutoFit/>
          </a:bodyPr>
          <a:lstStyle/>
          <a:p>
            <a:r>
              <a:rPr lang="en-US" sz="2400" b="1" dirty="0"/>
              <a:t>Course Outcomes </a:t>
            </a:r>
          </a:p>
        </p:txBody>
      </p:sp>
      <p:pic>
        <p:nvPicPr>
          <p:cNvPr id="16" name="Picture 15"/>
          <p:cNvPicPr>
            <a:picLocks noChangeAspect="1"/>
          </p:cNvPicPr>
          <p:nvPr/>
        </p:nvPicPr>
        <p:blipFill>
          <a:blip r:embed="rId3" cstate="print"/>
          <a:stretch>
            <a:fillRect/>
          </a:stretch>
        </p:blipFill>
        <p:spPr>
          <a:xfrm>
            <a:off x="8352861" y="2024947"/>
            <a:ext cx="3183156" cy="3407607"/>
          </a:xfrm>
          <a:prstGeom prst="rect">
            <a:avLst/>
          </a:prstGeom>
        </p:spPr>
      </p:pic>
      <p:pic>
        <p:nvPicPr>
          <p:cNvPr id="18" name="Picture 17"/>
          <p:cNvPicPr>
            <a:picLocks noChangeAspect="1"/>
          </p:cNvPicPr>
          <p:nvPr/>
        </p:nvPicPr>
        <p:blipFill>
          <a:blip r:embed="rId4" cstate="print"/>
          <a:stretch>
            <a:fillRect/>
          </a:stretch>
        </p:blipFill>
        <p:spPr>
          <a:xfrm>
            <a:off x="8360776" y="1701556"/>
            <a:ext cx="895189" cy="916170"/>
          </a:xfrm>
          <a:prstGeom prst="rect">
            <a:avLst/>
          </a:prstGeom>
        </p:spPr>
      </p:pic>
      <p:pic>
        <p:nvPicPr>
          <p:cNvPr id="9" name="Picture 8">
            <a:extLst>
              <a:ext uri="{FF2B5EF4-FFF2-40B4-BE49-F238E27FC236}">
                <a16:creationId xmlns:a16="http://schemas.microsoft.com/office/drawing/2014/main" id="{39FBA091-1FD7-4CFB-ACD7-85BE3251E7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2677" y="109537"/>
            <a:ext cx="2686050" cy="1457325"/>
          </a:xfrm>
          <a:prstGeom prst="rect">
            <a:avLst/>
          </a:prstGeom>
        </p:spPr>
      </p:pic>
    </p:spTree>
    <p:extLst>
      <p:ext uri="{BB962C8B-B14F-4D97-AF65-F5344CB8AC3E}">
        <p14:creationId xmlns:p14="http://schemas.microsoft.com/office/powerpoint/2010/main" val="2104079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89376" y="346479"/>
            <a:ext cx="7685314" cy="1147360"/>
          </a:xfrm>
        </p:spPr>
        <p:txBody>
          <a:bodyPr>
            <a:normAutofit fontScale="90000"/>
          </a:bodyPr>
          <a:lstStyle/>
          <a:p>
            <a:r>
              <a:rPr lang="en-US" b="1" dirty="0"/>
              <a:t/>
            </a:r>
            <a:br>
              <a:rPr lang="en-US" b="1" dirty="0"/>
            </a:br>
            <a:r>
              <a:rPr lang="en-US" sz="4900" b="1" dirty="0">
                <a:solidFill>
                  <a:srgbClr val="FF0000"/>
                </a:solidFill>
                <a:latin typeface="+mn-lt"/>
              </a:rPr>
              <a:t>Scheme of Evaluation </a:t>
            </a:r>
            <a:r>
              <a:rPr lang="en-US" dirty="0">
                <a:solidFill>
                  <a:srgbClr val="FF0000"/>
                </a:solidFill>
              </a:rPr>
              <a:t/>
            </a:r>
            <a:br>
              <a:rPr lang="en-US" dirty="0">
                <a:solidFill>
                  <a:srgbClr val="FF0000"/>
                </a:solidFill>
              </a:rPr>
            </a:br>
            <a:endParaRPr lang="en-US" dirty="0">
              <a:solidFill>
                <a:srgbClr val="FF0000"/>
              </a:solidFill>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
        <p:nvSpPr>
          <p:cNvPr id="5" name="Rectangle 4"/>
          <p:cNvSpPr/>
          <p:nvPr/>
        </p:nvSpPr>
        <p:spPr>
          <a:xfrm>
            <a:off x="871728" y="261543"/>
            <a:ext cx="10515600" cy="123229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2"/>
          <p:cNvSpPr txBox="1">
            <a:spLocks/>
          </p:cNvSpPr>
          <p:nvPr/>
        </p:nvSpPr>
        <p:spPr>
          <a:xfrm>
            <a:off x="1082040" y="1789278"/>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6" name="Picture 5"/>
          <p:cNvPicPr>
            <a:picLocks noChangeAspect="1"/>
          </p:cNvPicPr>
          <p:nvPr/>
        </p:nvPicPr>
        <p:blipFill>
          <a:blip r:embed="rId3"/>
          <a:stretch>
            <a:fillRect/>
          </a:stretch>
        </p:blipFill>
        <p:spPr>
          <a:xfrm>
            <a:off x="873905" y="1578775"/>
            <a:ext cx="10515600" cy="5153025"/>
          </a:xfrm>
          <a:prstGeom prst="rect">
            <a:avLst/>
          </a:prstGeom>
        </p:spPr>
      </p:pic>
    </p:spTree>
    <p:extLst>
      <p:ext uri="{BB962C8B-B14F-4D97-AF65-F5344CB8AC3E}">
        <p14:creationId xmlns:p14="http://schemas.microsoft.com/office/powerpoint/2010/main" val="161252069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F4C94B-33A8-4423-9E3C-594F2DF570E0}"/>
              </a:ext>
            </a:extLst>
          </p:cNvPr>
          <p:cNvSpPr>
            <a:spLocks noGrp="1"/>
          </p:cNvSpPr>
          <p:nvPr>
            <p:ph idx="1"/>
          </p:nvPr>
        </p:nvSpPr>
        <p:spPr>
          <a:xfrm>
            <a:off x="5850529" y="1685381"/>
            <a:ext cx="5216434" cy="4670969"/>
          </a:xfrm>
        </p:spPr>
        <p:txBody>
          <a:bodyPr>
            <a:noAutofit/>
          </a:bodyPr>
          <a:lstStyle/>
          <a:p>
            <a:pPr marL="0" indent="0" algn="ctr">
              <a:lnSpc>
                <a:spcPct val="100000"/>
              </a:lnSpc>
              <a:buNone/>
            </a:pPr>
            <a:r>
              <a:rPr lang="en-US" sz="2400" b="1" dirty="0">
                <a:solidFill>
                  <a:srgbClr val="FF0000"/>
                </a:solidFill>
              </a:rPr>
              <a:t>Why</a:t>
            </a:r>
          </a:p>
          <a:p>
            <a:pPr marL="0" indent="0" algn="ctr">
              <a:lnSpc>
                <a:spcPct val="100000"/>
              </a:lnSpc>
              <a:buNone/>
            </a:pPr>
            <a:r>
              <a:rPr lang="en-IN" dirty="0"/>
              <a:t>The purpose of </a:t>
            </a:r>
            <a:r>
              <a:rPr lang="en-IN" b="1" dirty="0"/>
              <a:t>constructor</a:t>
            </a:r>
            <a:r>
              <a:rPr lang="en-IN" dirty="0"/>
              <a:t> is to initialize the object of a class while the purpose of a method is to perform a task by executing java code. </a:t>
            </a:r>
            <a:r>
              <a:rPr lang="en-IN" b="1" dirty="0"/>
              <a:t>Constructors</a:t>
            </a:r>
            <a:r>
              <a:rPr lang="en-IN" dirty="0"/>
              <a:t> cannot be abstract, final, static and synchronised while methods can be. </a:t>
            </a:r>
            <a:r>
              <a:rPr lang="en-IN" b="1" dirty="0"/>
              <a:t>Constructors</a:t>
            </a:r>
            <a:r>
              <a:rPr lang="en-IN" dirty="0"/>
              <a:t> do not have return types while methods do.</a:t>
            </a:r>
            <a:r>
              <a:rPr lang="en-US" sz="2400" b="1" dirty="0">
                <a:solidFill>
                  <a:srgbClr val="FF0000"/>
                </a:solidFill>
              </a:rPr>
              <a:t> </a:t>
            </a:r>
          </a:p>
        </p:txBody>
      </p:sp>
      <p:sp>
        <p:nvSpPr>
          <p:cNvPr id="4" name="Slide Number Placeholder 3">
            <a:extLst>
              <a:ext uri="{FF2B5EF4-FFF2-40B4-BE49-F238E27FC236}">
                <a16:creationId xmlns:a16="http://schemas.microsoft.com/office/drawing/2014/main" id="{E4935F3D-C314-4E26-97BC-73BA026B555D}"/>
              </a:ext>
            </a:extLst>
          </p:cNvPr>
          <p:cNvSpPr>
            <a:spLocks noGrp="1"/>
          </p:cNvSpPr>
          <p:nvPr>
            <p:ph type="sldNum" sz="quarter" idx="12"/>
          </p:nvPr>
        </p:nvSpPr>
        <p:spPr/>
        <p:txBody>
          <a:bodyPr/>
          <a:lstStyle/>
          <a:p>
            <a:fld id="{BDCDBBEF-AA6C-4BA6-85B2-A17D7F280E38}" type="slidenum">
              <a:rPr lang="en-US" smtClean="0"/>
              <a:pPr/>
              <a:t>5</a:t>
            </a:fld>
            <a:endParaRPr lang="en-US"/>
          </a:p>
        </p:txBody>
      </p:sp>
      <p:sp>
        <p:nvSpPr>
          <p:cNvPr id="5" name="TextBox 4">
            <a:extLst>
              <a:ext uri="{FF2B5EF4-FFF2-40B4-BE49-F238E27FC236}">
                <a16:creationId xmlns:a16="http://schemas.microsoft.com/office/drawing/2014/main" id="{A5F5E4B6-2F2D-4512-A3F8-BF729BD8C562}"/>
              </a:ext>
            </a:extLst>
          </p:cNvPr>
          <p:cNvSpPr txBox="1"/>
          <p:nvPr/>
        </p:nvSpPr>
        <p:spPr>
          <a:xfrm>
            <a:off x="1013188" y="400050"/>
            <a:ext cx="4130312" cy="5047536"/>
          </a:xfrm>
          <a:prstGeom prst="rect">
            <a:avLst/>
          </a:prstGeom>
          <a:noFill/>
        </p:spPr>
        <p:txBody>
          <a:bodyPr wrap="square" rtlCol="0">
            <a:spAutoFit/>
          </a:bodyPr>
          <a:lstStyle/>
          <a:p>
            <a:pPr algn="ctr"/>
            <a:r>
              <a:rPr lang="en-US" sz="2400" b="1" dirty="0">
                <a:solidFill>
                  <a:srgbClr val="FF0000"/>
                </a:solidFill>
              </a:rPr>
              <a:t>What</a:t>
            </a:r>
          </a:p>
          <a:p>
            <a:pPr algn="ctr"/>
            <a:r>
              <a:rPr lang="en-IN" sz="2800" dirty="0"/>
              <a:t>It is a member function having </a:t>
            </a:r>
            <a:r>
              <a:rPr lang="en-IN" sz="2800" b="1" dirty="0"/>
              <a:t>same name</a:t>
            </a:r>
            <a:r>
              <a:rPr lang="en-IN" sz="2800" dirty="0"/>
              <a:t> as it’s </a:t>
            </a:r>
            <a:r>
              <a:rPr lang="en-IN" sz="2800" b="1" dirty="0"/>
              <a:t>class</a:t>
            </a:r>
            <a:r>
              <a:rPr lang="en-IN" sz="2800" dirty="0"/>
              <a:t> and</a:t>
            </a:r>
          </a:p>
          <a:p>
            <a:pPr algn="ctr"/>
            <a:r>
              <a:rPr lang="en-IN" sz="2800" dirty="0"/>
              <a:t>which is </a:t>
            </a:r>
            <a:r>
              <a:rPr lang="en-IN" sz="2800" b="1" dirty="0"/>
              <a:t>used</a:t>
            </a:r>
            <a:r>
              <a:rPr lang="en-IN" sz="2800" dirty="0"/>
              <a:t> to </a:t>
            </a:r>
            <a:r>
              <a:rPr lang="en-IN" sz="2800" b="1" dirty="0"/>
              <a:t>initialize</a:t>
            </a:r>
            <a:r>
              <a:rPr lang="en-IN" sz="2800" dirty="0"/>
              <a:t> the objects of that class type with a</a:t>
            </a:r>
          </a:p>
          <a:p>
            <a:pPr algn="ctr"/>
            <a:r>
              <a:rPr lang="en-IN" sz="2800" dirty="0"/>
              <a:t>legal initial value. </a:t>
            </a:r>
            <a:r>
              <a:rPr lang="en-IN" sz="2800" b="1" dirty="0"/>
              <a:t>Constructor</a:t>
            </a:r>
            <a:r>
              <a:rPr lang="en-IN" sz="2800" dirty="0"/>
              <a:t> is automatically called when</a:t>
            </a:r>
          </a:p>
          <a:p>
            <a:pPr algn="ctr"/>
            <a:r>
              <a:rPr lang="en-IN" sz="2800" dirty="0"/>
              <a:t>object is created.</a:t>
            </a:r>
            <a:endParaRPr lang="en-US" b="1" dirty="0">
              <a:solidFill>
                <a:srgbClr val="FF0000"/>
              </a:solidFill>
            </a:endParaRPr>
          </a:p>
          <a:p>
            <a:pPr algn="ctr"/>
            <a:endParaRPr lang="en-IN" b="1" dirty="0">
              <a:solidFill>
                <a:srgbClr val="FF0000"/>
              </a:solidFill>
            </a:endParaRPr>
          </a:p>
        </p:txBody>
      </p:sp>
    </p:spTree>
    <p:extLst>
      <p:ext uri="{BB962C8B-B14F-4D97-AF65-F5344CB8AC3E}">
        <p14:creationId xmlns:p14="http://schemas.microsoft.com/office/powerpoint/2010/main" val="49429449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3613652" y="2932509"/>
            <a:ext cx="3932237" cy="2045494"/>
          </a:xfrm>
        </p:spPr>
        <p:txBody>
          <a:bodyPr/>
          <a:lstStyle/>
          <a:p>
            <a:endParaRPr lang="en-IN" b="1" dirty="0">
              <a:latin typeface="Casper"/>
            </a:endParaRPr>
          </a:p>
          <a:p>
            <a:pPr marL="285750" indent="-285750">
              <a:buFont typeface="Arial" panose="020B0604020202020204" pitchFamily="34" charset="0"/>
              <a:buChar char="•"/>
            </a:pPr>
            <a:r>
              <a:rPr lang="en-IN" sz="1800" b="1" dirty="0">
                <a:latin typeface="Casper"/>
              </a:rPr>
              <a:t>Need for Constructors</a:t>
            </a:r>
          </a:p>
          <a:p>
            <a:pPr marL="285750" indent="-285750">
              <a:buFont typeface="Arial" panose="020B0604020202020204" pitchFamily="34" charset="0"/>
              <a:buChar char="•"/>
            </a:pPr>
            <a:r>
              <a:rPr lang="en-IN" sz="1800" b="1" dirty="0">
                <a:latin typeface="Casper"/>
              </a:rPr>
              <a:t>Types of Constructors</a:t>
            </a:r>
          </a:p>
          <a:p>
            <a:endParaRPr lang="en-US" b="1" dirty="0">
              <a:latin typeface="Casper"/>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6</a:t>
            </a:fld>
            <a:endParaRPr lang="en-US" dirty="0"/>
          </a:p>
        </p:txBody>
      </p:sp>
      <p:sp>
        <p:nvSpPr>
          <p:cNvPr id="8" name="Title 7"/>
          <p:cNvSpPr txBox="1">
            <a:spLocks noGrp="1" noChangeArrowheads="1"/>
          </p:cNvSpPr>
          <p:nvPr>
            <p:ph type="title"/>
          </p:nvPr>
        </p:nvSpPr>
        <p:spPr bwMode="auto">
          <a:xfrm>
            <a:off x="3351488" y="1535480"/>
            <a:ext cx="4456567"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Bold" panose="02000806040000020004" pitchFamily="2" charset="0"/>
                <a:ea typeface="Karla" pitchFamily="2" charset="0"/>
                <a:cs typeface="Karla" pitchFamily="2" charset="0"/>
              </a:rPr>
              <a:t>CONTENTS</a:t>
            </a:r>
            <a:r>
              <a:rPr lang="en-US" sz="2000" b="1" dirty="0">
                <a:latin typeface="Karla" pitchFamily="2" charset="0"/>
                <a:ea typeface="Karla" pitchFamily="2" charset="0"/>
                <a:cs typeface="Karla" pitchFamily="2" charset="0"/>
              </a:rPr>
              <a:t/>
            </a:r>
            <a:br>
              <a:rPr lang="en-US" sz="2000" b="1" dirty="0">
                <a:latin typeface="Karla" pitchFamily="2" charset="0"/>
                <a:ea typeface="Karla" pitchFamily="2" charset="0"/>
                <a:cs typeface="Karla" pitchFamily="2" charset="0"/>
              </a:rPr>
            </a:br>
            <a:endParaRPr lang="en-US" sz="1600" dirty="0">
              <a:latin typeface="Raleway ExtraBold" pitchFamily="34" charset="-52"/>
            </a:endParaRPr>
          </a:p>
        </p:txBody>
      </p:sp>
      <p:sp>
        <p:nvSpPr>
          <p:cNvPr id="9" name="Rectangle 8"/>
          <p:cNvSpPr/>
          <p:nvPr/>
        </p:nvSpPr>
        <p:spPr>
          <a:xfrm>
            <a:off x="3418390" y="2694781"/>
            <a:ext cx="4322762" cy="25209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93801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8959A-E274-48FD-824C-42FC29C0345B}"/>
              </a:ext>
            </a:extLst>
          </p:cNvPr>
          <p:cNvSpPr>
            <a:spLocks noGrp="1"/>
          </p:cNvSpPr>
          <p:nvPr>
            <p:ph type="title"/>
          </p:nvPr>
        </p:nvSpPr>
        <p:spPr/>
        <p:txBody>
          <a:bodyPr/>
          <a:lstStyle/>
          <a:p>
            <a:r>
              <a:rPr lang="en-US" dirty="0"/>
              <a:t>Constructor</a:t>
            </a:r>
            <a:endParaRPr lang="en-IN" dirty="0"/>
          </a:p>
        </p:txBody>
      </p:sp>
      <p:sp>
        <p:nvSpPr>
          <p:cNvPr id="3" name="Content Placeholder 2">
            <a:extLst>
              <a:ext uri="{FF2B5EF4-FFF2-40B4-BE49-F238E27FC236}">
                <a16:creationId xmlns:a16="http://schemas.microsoft.com/office/drawing/2014/main" id="{33B5843A-DD22-4C0F-846E-9CD268E98161}"/>
              </a:ext>
            </a:extLst>
          </p:cNvPr>
          <p:cNvSpPr>
            <a:spLocks noGrp="1"/>
          </p:cNvSpPr>
          <p:nvPr>
            <p:ph idx="1"/>
          </p:nvPr>
        </p:nvSpPr>
        <p:spPr>
          <a:xfrm>
            <a:off x="838200" y="1419225"/>
            <a:ext cx="10515600" cy="981075"/>
          </a:xfrm>
        </p:spPr>
        <p:txBody>
          <a:bodyPr>
            <a:normAutofit fontScale="92500" lnSpcReduction="20000"/>
          </a:bodyPr>
          <a:lstStyle/>
          <a:p>
            <a:r>
              <a:rPr lang="en-IN" dirty="0"/>
              <a:t>A </a:t>
            </a:r>
            <a:r>
              <a:rPr lang="en-IN" b="1" dirty="0"/>
              <a:t>constructor</a:t>
            </a:r>
            <a:r>
              <a:rPr lang="en-IN" dirty="0"/>
              <a:t> is a member function of a class which initializes objects of a class. In C++, Constructor is automatically called when object(instance of class) create. It is special member function of the class.</a:t>
            </a:r>
          </a:p>
          <a:p>
            <a:endParaRPr lang="en-IN" dirty="0"/>
          </a:p>
          <a:p>
            <a:endParaRPr lang="en-IN" dirty="0"/>
          </a:p>
        </p:txBody>
      </p:sp>
      <p:sp>
        <p:nvSpPr>
          <p:cNvPr id="4" name="Slide Number Placeholder 3">
            <a:extLst>
              <a:ext uri="{FF2B5EF4-FFF2-40B4-BE49-F238E27FC236}">
                <a16:creationId xmlns:a16="http://schemas.microsoft.com/office/drawing/2014/main" id="{EC4390CB-5263-4801-8FAE-57C800310CB8}"/>
              </a:ext>
            </a:extLst>
          </p:cNvPr>
          <p:cNvSpPr>
            <a:spLocks noGrp="1"/>
          </p:cNvSpPr>
          <p:nvPr>
            <p:ph type="sldNum" sz="quarter" idx="12"/>
          </p:nvPr>
        </p:nvSpPr>
        <p:spPr/>
        <p:txBody>
          <a:bodyPr/>
          <a:lstStyle/>
          <a:p>
            <a:fld id="{BDCDBBEF-AA6C-4BA6-85B2-A17D7F280E38}" type="slidenum">
              <a:rPr lang="en-US" smtClean="0"/>
              <a:pPr/>
              <a:t>7</a:t>
            </a:fld>
            <a:endParaRPr lang="en-US"/>
          </a:p>
        </p:txBody>
      </p:sp>
      <p:sp>
        <p:nvSpPr>
          <p:cNvPr id="9" name="Content Placeholder 2">
            <a:extLst>
              <a:ext uri="{FF2B5EF4-FFF2-40B4-BE49-F238E27FC236}">
                <a16:creationId xmlns:a16="http://schemas.microsoft.com/office/drawing/2014/main" id="{DD4BF05F-0AA7-4891-A774-91A417052B38}"/>
              </a:ext>
            </a:extLst>
          </p:cNvPr>
          <p:cNvSpPr txBox="1">
            <a:spLocks/>
          </p:cNvSpPr>
          <p:nvPr/>
        </p:nvSpPr>
        <p:spPr>
          <a:xfrm>
            <a:off x="838200" y="1419225"/>
            <a:ext cx="10515600" cy="47577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IN" dirty="0"/>
          </a:p>
          <a:p>
            <a:pPr marL="0" indent="0">
              <a:buNone/>
            </a:pPr>
            <a:endParaRPr lang="en-IN" dirty="0"/>
          </a:p>
        </p:txBody>
      </p:sp>
      <p:sp>
        <p:nvSpPr>
          <p:cNvPr id="6" name="TextBox 5"/>
          <p:cNvSpPr txBox="1"/>
          <p:nvPr/>
        </p:nvSpPr>
        <p:spPr>
          <a:xfrm>
            <a:off x="1488831" y="2637692"/>
            <a:ext cx="2624886" cy="3416320"/>
          </a:xfrm>
          <a:prstGeom prst="rect">
            <a:avLst/>
          </a:prstGeom>
          <a:noFill/>
        </p:spPr>
        <p:txBody>
          <a:bodyPr wrap="none" rtlCol="0">
            <a:spAutoFit/>
          </a:bodyPr>
          <a:lstStyle/>
          <a:p>
            <a:r>
              <a:rPr lang="en-IN" b="1" dirty="0"/>
              <a:t>Syntax of Constructor:-</a:t>
            </a:r>
          </a:p>
          <a:p>
            <a:endParaRPr lang="en-IN" b="1" dirty="0"/>
          </a:p>
          <a:p>
            <a:r>
              <a:rPr lang="en-IN" dirty="0"/>
              <a:t>class A</a:t>
            </a:r>
          </a:p>
          <a:p>
            <a:r>
              <a:rPr lang="en-IN" dirty="0"/>
              <a:t>{</a:t>
            </a:r>
          </a:p>
          <a:p>
            <a:r>
              <a:rPr lang="en-IN" dirty="0"/>
              <a:t>    public:</a:t>
            </a:r>
          </a:p>
          <a:p>
            <a:r>
              <a:rPr lang="en-IN" dirty="0"/>
              <a:t>    </a:t>
            </a:r>
            <a:r>
              <a:rPr lang="en-IN" dirty="0" err="1"/>
              <a:t>int</a:t>
            </a:r>
            <a:r>
              <a:rPr lang="en-IN" dirty="0"/>
              <a:t> x;</a:t>
            </a:r>
          </a:p>
          <a:p>
            <a:r>
              <a:rPr lang="en-IN" dirty="0"/>
              <a:t>    // constructor</a:t>
            </a:r>
          </a:p>
          <a:p>
            <a:r>
              <a:rPr lang="en-IN" dirty="0"/>
              <a:t>    A()</a:t>
            </a:r>
          </a:p>
          <a:p>
            <a:r>
              <a:rPr lang="en-IN" dirty="0"/>
              <a:t>    {</a:t>
            </a:r>
          </a:p>
          <a:p>
            <a:r>
              <a:rPr lang="en-IN" dirty="0"/>
              <a:t>        // object initialization</a:t>
            </a:r>
          </a:p>
          <a:p>
            <a:r>
              <a:rPr lang="en-IN" dirty="0"/>
              <a:t>    }</a:t>
            </a:r>
          </a:p>
          <a:p>
            <a:r>
              <a:rPr lang="en-IN" dirty="0"/>
              <a:t>};</a:t>
            </a:r>
          </a:p>
        </p:txBody>
      </p:sp>
    </p:spTree>
    <p:extLst>
      <p:ext uri="{BB962C8B-B14F-4D97-AF65-F5344CB8AC3E}">
        <p14:creationId xmlns:p14="http://schemas.microsoft.com/office/powerpoint/2010/main" val="29124225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C4390CB-5263-4801-8FAE-57C800310CB8}"/>
              </a:ext>
            </a:extLst>
          </p:cNvPr>
          <p:cNvSpPr>
            <a:spLocks noGrp="1"/>
          </p:cNvSpPr>
          <p:nvPr>
            <p:ph type="sldNum" sz="quarter" idx="12"/>
          </p:nvPr>
        </p:nvSpPr>
        <p:spPr/>
        <p:txBody>
          <a:bodyPr/>
          <a:lstStyle/>
          <a:p>
            <a:fld id="{BDCDBBEF-AA6C-4BA6-85B2-A17D7F280E38}" type="slidenum">
              <a:rPr lang="en-US" smtClean="0"/>
              <a:pPr/>
              <a:t>8</a:t>
            </a:fld>
            <a:endParaRPr lang="en-US"/>
          </a:p>
        </p:txBody>
      </p:sp>
      <p:sp>
        <p:nvSpPr>
          <p:cNvPr id="9" name="Content Placeholder 2">
            <a:extLst>
              <a:ext uri="{FF2B5EF4-FFF2-40B4-BE49-F238E27FC236}">
                <a16:creationId xmlns:a16="http://schemas.microsoft.com/office/drawing/2014/main" id="{DD4BF05F-0AA7-4891-A774-91A417052B38}"/>
              </a:ext>
            </a:extLst>
          </p:cNvPr>
          <p:cNvSpPr txBox="1">
            <a:spLocks/>
          </p:cNvSpPr>
          <p:nvPr/>
        </p:nvSpPr>
        <p:spPr>
          <a:xfrm>
            <a:off x="838200" y="1419225"/>
            <a:ext cx="10515600" cy="47577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IN" dirty="0"/>
          </a:p>
          <a:p>
            <a:pPr marL="0" indent="0">
              <a:buNone/>
            </a:pPr>
            <a:endParaRPr lang="en-IN" dirty="0"/>
          </a:p>
        </p:txBody>
      </p:sp>
      <p:sp>
        <p:nvSpPr>
          <p:cNvPr id="5" name="TextBox 4"/>
          <p:cNvSpPr txBox="1"/>
          <p:nvPr/>
        </p:nvSpPr>
        <p:spPr>
          <a:xfrm>
            <a:off x="978877" y="1004228"/>
            <a:ext cx="9003323" cy="3570208"/>
          </a:xfrm>
          <a:prstGeom prst="rect">
            <a:avLst/>
          </a:prstGeom>
          <a:noFill/>
        </p:spPr>
        <p:txBody>
          <a:bodyPr wrap="square" rtlCol="0">
            <a:spAutoFit/>
          </a:bodyPr>
          <a:lstStyle/>
          <a:p>
            <a:pPr fontAlgn="base"/>
            <a:r>
              <a:rPr lang="en-IN" sz="3200" b="1" dirty="0"/>
              <a:t>How constructors are different from a normal member function?</a:t>
            </a:r>
          </a:p>
          <a:p>
            <a:pPr fontAlgn="base"/>
            <a:endParaRPr lang="en-IN" dirty="0"/>
          </a:p>
          <a:p>
            <a:pPr marL="285750" indent="-285750" fontAlgn="base">
              <a:buFont typeface="Arial" pitchFamily="34" charset="0"/>
              <a:buChar char="•"/>
            </a:pPr>
            <a:r>
              <a:rPr lang="en-IN" sz="2400" dirty="0"/>
              <a:t>Constructor has same name as the class itself</a:t>
            </a:r>
          </a:p>
          <a:p>
            <a:pPr marL="285750" indent="-285750" fontAlgn="base">
              <a:buFont typeface="Arial" pitchFamily="34" charset="0"/>
              <a:buChar char="•"/>
            </a:pPr>
            <a:r>
              <a:rPr lang="en-IN" sz="2400" dirty="0"/>
              <a:t>Constructors don’t have return type</a:t>
            </a:r>
          </a:p>
          <a:p>
            <a:pPr marL="285750" indent="-285750" fontAlgn="base">
              <a:buFont typeface="Arial" pitchFamily="34" charset="0"/>
              <a:buChar char="•"/>
            </a:pPr>
            <a:r>
              <a:rPr lang="en-IN" sz="2400" dirty="0"/>
              <a:t>A constructor is automatically called when an object is created.</a:t>
            </a:r>
          </a:p>
          <a:p>
            <a:pPr marL="285750" indent="-285750" fontAlgn="base">
              <a:buFont typeface="Arial" pitchFamily="34" charset="0"/>
              <a:buChar char="•"/>
            </a:pPr>
            <a:r>
              <a:rPr lang="en-IN" sz="2400" dirty="0"/>
              <a:t>If we do not specify a constructor, C++ compiler generates a default constructor for us (expects no parameters and has an empty body).</a:t>
            </a:r>
          </a:p>
          <a:p>
            <a:endParaRPr lang="en-IN" sz="2400" dirty="0"/>
          </a:p>
        </p:txBody>
      </p:sp>
    </p:spTree>
    <p:extLst>
      <p:ext uri="{BB962C8B-B14F-4D97-AF65-F5344CB8AC3E}">
        <p14:creationId xmlns:p14="http://schemas.microsoft.com/office/powerpoint/2010/main" val="2323002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C4390CB-5263-4801-8FAE-57C800310CB8}"/>
              </a:ext>
            </a:extLst>
          </p:cNvPr>
          <p:cNvSpPr>
            <a:spLocks noGrp="1"/>
          </p:cNvSpPr>
          <p:nvPr>
            <p:ph type="sldNum" sz="quarter" idx="12"/>
          </p:nvPr>
        </p:nvSpPr>
        <p:spPr/>
        <p:txBody>
          <a:bodyPr/>
          <a:lstStyle/>
          <a:p>
            <a:fld id="{BDCDBBEF-AA6C-4BA6-85B2-A17D7F280E38}" type="slidenum">
              <a:rPr lang="en-US" smtClean="0"/>
              <a:pPr/>
              <a:t>9</a:t>
            </a:fld>
            <a:endParaRPr lang="en-US"/>
          </a:p>
        </p:txBody>
      </p:sp>
      <p:sp>
        <p:nvSpPr>
          <p:cNvPr id="9" name="Content Placeholder 2">
            <a:extLst>
              <a:ext uri="{FF2B5EF4-FFF2-40B4-BE49-F238E27FC236}">
                <a16:creationId xmlns:a16="http://schemas.microsoft.com/office/drawing/2014/main" id="{DD4BF05F-0AA7-4891-A774-91A417052B38}"/>
              </a:ext>
            </a:extLst>
          </p:cNvPr>
          <p:cNvSpPr txBox="1">
            <a:spLocks/>
          </p:cNvSpPr>
          <p:nvPr/>
        </p:nvSpPr>
        <p:spPr>
          <a:xfrm>
            <a:off x="838200" y="1419225"/>
            <a:ext cx="10515600" cy="47577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IN" dirty="0"/>
          </a:p>
          <a:p>
            <a:pPr marL="0" indent="0">
              <a:buNone/>
            </a:pPr>
            <a:endParaRPr lang="en-IN" dirty="0"/>
          </a:p>
        </p:txBody>
      </p:sp>
      <p:sp>
        <p:nvSpPr>
          <p:cNvPr id="10" name="TextBox 9"/>
          <p:cNvSpPr txBox="1"/>
          <p:nvPr/>
        </p:nvSpPr>
        <p:spPr>
          <a:xfrm>
            <a:off x="1090247" y="549218"/>
            <a:ext cx="9005350" cy="1508105"/>
          </a:xfrm>
          <a:prstGeom prst="rect">
            <a:avLst/>
          </a:prstGeom>
          <a:noFill/>
        </p:spPr>
        <p:txBody>
          <a:bodyPr wrap="none" rtlCol="0">
            <a:spAutoFit/>
          </a:bodyPr>
          <a:lstStyle/>
          <a:p>
            <a:r>
              <a:rPr lang="en-IN" sz="2800" b="1" dirty="0"/>
              <a:t>Types of Constructors</a:t>
            </a:r>
          </a:p>
          <a:p>
            <a:endParaRPr lang="en-IN" sz="2800" b="1" dirty="0"/>
          </a:p>
          <a:p>
            <a:r>
              <a:rPr lang="en-IN" b="1" dirty="0"/>
              <a:t>1) Default Constructors: </a:t>
            </a:r>
            <a:endParaRPr lang="en-IN" dirty="0"/>
          </a:p>
          <a:p>
            <a:r>
              <a:rPr lang="en-IN" b="1" dirty="0"/>
              <a:t>Default constructor</a:t>
            </a:r>
            <a:r>
              <a:rPr lang="en-IN" dirty="0"/>
              <a:t> is the constructor which doesn’t take any argument. It has no parameters.</a:t>
            </a:r>
          </a:p>
        </p:txBody>
      </p:sp>
      <p:sp>
        <p:nvSpPr>
          <p:cNvPr id="2" name="TextBox 1"/>
          <p:cNvSpPr txBox="1"/>
          <p:nvPr/>
        </p:nvSpPr>
        <p:spPr>
          <a:xfrm>
            <a:off x="1266092" y="2080710"/>
            <a:ext cx="3552093" cy="4801314"/>
          </a:xfrm>
          <a:prstGeom prst="rect">
            <a:avLst/>
          </a:prstGeom>
          <a:noFill/>
        </p:spPr>
        <p:txBody>
          <a:bodyPr wrap="square" rtlCol="0">
            <a:spAutoFit/>
          </a:bodyPr>
          <a:lstStyle/>
          <a:p>
            <a:r>
              <a:rPr lang="en-IN" dirty="0"/>
              <a:t>#include &lt;</a:t>
            </a:r>
            <a:r>
              <a:rPr lang="en-IN" dirty="0" err="1"/>
              <a:t>iostream</a:t>
            </a:r>
            <a:r>
              <a:rPr lang="en-IN" dirty="0"/>
              <a:t>&gt;</a:t>
            </a:r>
          </a:p>
          <a:p>
            <a:r>
              <a:rPr lang="en-IN" dirty="0"/>
              <a:t>using namespace </a:t>
            </a:r>
            <a:r>
              <a:rPr lang="en-IN" dirty="0" err="1"/>
              <a:t>std</a:t>
            </a:r>
            <a:r>
              <a:rPr lang="en-IN" dirty="0"/>
              <a:t>;</a:t>
            </a:r>
          </a:p>
          <a:p>
            <a:endParaRPr lang="en-IN" dirty="0"/>
          </a:p>
          <a:p>
            <a:r>
              <a:rPr lang="en-IN" dirty="0"/>
              <a:t>class construct </a:t>
            </a:r>
          </a:p>
          <a:p>
            <a:r>
              <a:rPr lang="en-IN" dirty="0"/>
              <a:t>{</a:t>
            </a:r>
          </a:p>
          <a:p>
            <a:r>
              <a:rPr lang="en-IN" dirty="0"/>
              <a:t>public:</a:t>
            </a:r>
          </a:p>
          <a:p>
            <a:r>
              <a:rPr lang="en-IN" dirty="0"/>
              <a:t>	</a:t>
            </a:r>
            <a:r>
              <a:rPr lang="en-IN" dirty="0" err="1"/>
              <a:t>int</a:t>
            </a:r>
            <a:r>
              <a:rPr lang="en-IN" dirty="0"/>
              <a:t> a, b;</a:t>
            </a:r>
          </a:p>
          <a:p>
            <a:endParaRPr lang="en-IN" dirty="0"/>
          </a:p>
          <a:p>
            <a:r>
              <a:rPr lang="en-IN" dirty="0"/>
              <a:t>// Default Constructor</a:t>
            </a:r>
          </a:p>
          <a:p>
            <a:r>
              <a:rPr lang="en-IN" dirty="0"/>
              <a:t>construct()</a:t>
            </a:r>
          </a:p>
          <a:p>
            <a:r>
              <a:rPr lang="en-IN" dirty="0"/>
              <a:t>{</a:t>
            </a:r>
          </a:p>
          <a:p>
            <a:r>
              <a:rPr lang="en-IN" dirty="0"/>
              <a:t>	a = 10;</a:t>
            </a:r>
          </a:p>
          <a:p>
            <a:r>
              <a:rPr lang="en-IN" dirty="0"/>
              <a:t>	b = 20;</a:t>
            </a:r>
          </a:p>
          <a:p>
            <a:r>
              <a:rPr lang="en-IN" dirty="0"/>
              <a:t>}</a:t>
            </a:r>
          </a:p>
          <a:p>
            <a:r>
              <a:rPr lang="en-IN" dirty="0"/>
              <a:t>};</a:t>
            </a:r>
          </a:p>
          <a:p>
            <a:endParaRPr lang="en-IN" dirty="0"/>
          </a:p>
          <a:p>
            <a:endParaRPr lang="en-IN" dirty="0"/>
          </a:p>
        </p:txBody>
      </p:sp>
      <p:sp>
        <p:nvSpPr>
          <p:cNvPr id="3" name="TextBox 2"/>
          <p:cNvSpPr txBox="1"/>
          <p:nvPr/>
        </p:nvSpPr>
        <p:spPr>
          <a:xfrm>
            <a:off x="5751776" y="2057323"/>
            <a:ext cx="4157870" cy="4062651"/>
          </a:xfrm>
          <a:prstGeom prst="rect">
            <a:avLst/>
          </a:prstGeom>
          <a:noFill/>
        </p:spPr>
        <p:txBody>
          <a:bodyPr wrap="none" rtlCol="0">
            <a:spAutoFit/>
          </a:bodyPr>
          <a:lstStyle/>
          <a:p>
            <a:r>
              <a:rPr lang="en-IN" dirty="0" err="1"/>
              <a:t>int</a:t>
            </a:r>
            <a:r>
              <a:rPr lang="en-IN" dirty="0"/>
              <a:t> main()</a:t>
            </a:r>
          </a:p>
          <a:p>
            <a:r>
              <a:rPr lang="en-IN" dirty="0"/>
              <a:t>{</a:t>
            </a:r>
          </a:p>
          <a:p>
            <a:r>
              <a:rPr lang="en-IN" dirty="0"/>
              <a:t>// Default constructor called automatically</a:t>
            </a:r>
          </a:p>
          <a:p>
            <a:r>
              <a:rPr lang="en-IN" dirty="0"/>
              <a:t>// when the object is created</a:t>
            </a:r>
          </a:p>
          <a:p>
            <a:r>
              <a:rPr lang="en-IN" dirty="0"/>
              <a:t>construct c;</a:t>
            </a:r>
          </a:p>
          <a:p>
            <a:r>
              <a:rPr lang="en-IN" dirty="0" err="1"/>
              <a:t>cout</a:t>
            </a:r>
            <a:r>
              <a:rPr lang="en-IN" dirty="0"/>
              <a:t> &lt;&lt; "a: " &lt;&lt; </a:t>
            </a:r>
            <a:r>
              <a:rPr lang="en-IN" dirty="0" err="1"/>
              <a:t>c.a</a:t>
            </a:r>
            <a:r>
              <a:rPr lang="en-IN" dirty="0"/>
              <a:t> &lt;&lt; </a:t>
            </a:r>
            <a:r>
              <a:rPr lang="en-IN" dirty="0" err="1"/>
              <a:t>endl</a:t>
            </a:r>
            <a:endParaRPr lang="en-IN" dirty="0"/>
          </a:p>
          <a:p>
            <a:r>
              <a:rPr lang="en-IN" dirty="0"/>
              <a:t>		&lt;&lt; "b: " &lt;&lt; </a:t>
            </a:r>
            <a:r>
              <a:rPr lang="en-IN" dirty="0" err="1"/>
              <a:t>c.b</a:t>
            </a:r>
            <a:r>
              <a:rPr lang="en-IN" dirty="0"/>
              <a:t>;</a:t>
            </a:r>
          </a:p>
          <a:p>
            <a:r>
              <a:rPr lang="en-IN" dirty="0"/>
              <a:t>	return 1;</a:t>
            </a:r>
          </a:p>
          <a:p>
            <a:r>
              <a:rPr lang="en-IN" dirty="0"/>
              <a:t>}</a:t>
            </a:r>
          </a:p>
          <a:p>
            <a:endParaRPr lang="en-IN" dirty="0"/>
          </a:p>
          <a:p>
            <a:r>
              <a:rPr lang="en-IN" sz="2400" b="1" dirty="0"/>
              <a:t>Output:-</a:t>
            </a:r>
          </a:p>
          <a:p>
            <a:r>
              <a:rPr lang="en-IN" b="1" dirty="0"/>
              <a:t>a: 10</a:t>
            </a:r>
          </a:p>
          <a:p>
            <a:r>
              <a:rPr lang="en-IN" b="1" dirty="0"/>
              <a:t>b: 20</a:t>
            </a:r>
          </a:p>
          <a:p>
            <a:endParaRPr lang="en-IN" dirty="0"/>
          </a:p>
        </p:txBody>
      </p:sp>
      <p:sp>
        <p:nvSpPr>
          <p:cNvPr id="6" name="TextBox 5"/>
          <p:cNvSpPr txBox="1"/>
          <p:nvPr/>
        </p:nvSpPr>
        <p:spPr>
          <a:xfrm>
            <a:off x="1806972" y="6002743"/>
            <a:ext cx="8102674" cy="646331"/>
          </a:xfrm>
          <a:prstGeom prst="rect">
            <a:avLst/>
          </a:prstGeom>
          <a:noFill/>
        </p:spPr>
        <p:txBody>
          <a:bodyPr wrap="square" rtlCol="0">
            <a:spAutoFit/>
          </a:bodyPr>
          <a:lstStyle/>
          <a:p>
            <a:r>
              <a:rPr lang="en-IN" b="1" dirty="0">
                <a:solidFill>
                  <a:srgbClr val="FF0000"/>
                </a:solidFill>
              </a:rPr>
              <a:t>Note: </a:t>
            </a:r>
            <a:r>
              <a:rPr lang="en-IN" dirty="0">
                <a:solidFill>
                  <a:srgbClr val="FF0000"/>
                </a:solidFill>
              </a:rPr>
              <a:t>Even if we do not define any constructor explicitly, the compiler will automatically provide a default constructor implicitly.</a:t>
            </a:r>
          </a:p>
        </p:txBody>
      </p:sp>
    </p:spTree>
    <p:extLst>
      <p:ext uri="{BB962C8B-B14F-4D97-AF65-F5344CB8AC3E}">
        <p14:creationId xmlns:p14="http://schemas.microsoft.com/office/powerpoint/2010/main" val="320545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C4390CB-5263-4801-8FAE-57C800310CB8}"/>
              </a:ext>
            </a:extLst>
          </p:cNvPr>
          <p:cNvSpPr>
            <a:spLocks noGrp="1"/>
          </p:cNvSpPr>
          <p:nvPr>
            <p:ph type="sldNum" sz="quarter" idx="12"/>
          </p:nvPr>
        </p:nvSpPr>
        <p:spPr/>
        <p:txBody>
          <a:bodyPr/>
          <a:lstStyle/>
          <a:p>
            <a:fld id="{BDCDBBEF-AA6C-4BA6-85B2-A17D7F280E38}" type="slidenum">
              <a:rPr lang="en-US" smtClean="0"/>
              <a:pPr/>
              <a:t>10</a:t>
            </a:fld>
            <a:endParaRPr lang="en-US"/>
          </a:p>
        </p:txBody>
      </p:sp>
      <p:sp>
        <p:nvSpPr>
          <p:cNvPr id="9" name="Content Placeholder 2">
            <a:extLst>
              <a:ext uri="{FF2B5EF4-FFF2-40B4-BE49-F238E27FC236}">
                <a16:creationId xmlns:a16="http://schemas.microsoft.com/office/drawing/2014/main" id="{DD4BF05F-0AA7-4891-A774-91A417052B38}"/>
              </a:ext>
            </a:extLst>
          </p:cNvPr>
          <p:cNvSpPr txBox="1">
            <a:spLocks/>
          </p:cNvSpPr>
          <p:nvPr/>
        </p:nvSpPr>
        <p:spPr>
          <a:xfrm>
            <a:off x="838200" y="1419225"/>
            <a:ext cx="10515600" cy="47577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IN" dirty="0"/>
          </a:p>
          <a:p>
            <a:pPr marL="0" indent="0">
              <a:buNone/>
            </a:pPr>
            <a:endParaRPr lang="en-IN" dirty="0"/>
          </a:p>
        </p:txBody>
      </p:sp>
      <p:sp>
        <p:nvSpPr>
          <p:cNvPr id="10" name="TextBox 9"/>
          <p:cNvSpPr txBox="1"/>
          <p:nvPr/>
        </p:nvSpPr>
        <p:spPr>
          <a:xfrm>
            <a:off x="1090248" y="549218"/>
            <a:ext cx="9671538" cy="2677656"/>
          </a:xfrm>
          <a:prstGeom prst="rect">
            <a:avLst/>
          </a:prstGeom>
          <a:noFill/>
        </p:spPr>
        <p:txBody>
          <a:bodyPr wrap="square" rtlCol="0">
            <a:spAutoFit/>
          </a:bodyPr>
          <a:lstStyle/>
          <a:p>
            <a:r>
              <a:rPr lang="en-IN" sz="2400" b="1" dirty="0" smtClean="0"/>
              <a:t>2</a:t>
            </a:r>
            <a:r>
              <a:rPr lang="en-IN" sz="2400" b="1" dirty="0"/>
              <a:t>) Parameterized Constructors:</a:t>
            </a:r>
          </a:p>
          <a:p>
            <a:endParaRPr lang="en-IN" sz="2400" b="1" dirty="0"/>
          </a:p>
          <a:p>
            <a:r>
              <a:rPr lang="en-IN" sz="2400" dirty="0"/>
              <a:t>It is possible to pass arguments to constructors. Typically, these arguments help initialize an object when it is created. To create a parameterized constructor, simply add parameters to it the way you would to any other function. When you define the constructor’s body, use the parameters to initialize the object. </a:t>
            </a:r>
          </a:p>
        </p:txBody>
      </p:sp>
      <p:sp>
        <p:nvSpPr>
          <p:cNvPr id="7" name="TextBox 6"/>
          <p:cNvSpPr txBox="1"/>
          <p:nvPr/>
        </p:nvSpPr>
        <p:spPr>
          <a:xfrm>
            <a:off x="1324708" y="3470031"/>
            <a:ext cx="2999219" cy="2862322"/>
          </a:xfrm>
          <a:prstGeom prst="rect">
            <a:avLst/>
          </a:prstGeom>
          <a:noFill/>
        </p:spPr>
        <p:txBody>
          <a:bodyPr wrap="none" rtlCol="0">
            <a:spAutoFit/>
          </a:bodyPr>
          <a:lstStyle/>
          <a:p>
            <a:r>
              <a:rPr lang="en-IN" dirty="0"/>
              <a:t>// CPP program to illustrate</a:t>
            </a:r>
          </a:p>
          <a:p>
            <a:r>
              <a:rPr lang="en-IN" dirty="0"/>
              <a:t>// parameterized constructors</a:t>
            </a:r>
          </a:p>
          <a:p>
            <a:r>
              <a:rPr lang="en-IN" dirty="0"/>
              <a:t>#include &lt;</a:t>
            </a:r>
            <a:r>
              <a:rPr lang="en-IN" dirty="0" err="1"/>
              <a:t>iostream</a:t>
            </a:r>
            <a:r>
              <a:rPr lang="en-IN" dirty="0"/>
              <a:t>&gt;</a:t>
            </a:r>
          </a:p>
          <a:p>
            <a:r>
              <a:rPr lang="en-IN" dirty="0"/>
              <a:t>using namespace </a:t>
            </a:r>
            <a:r>
              <a:rPr lang="en-IN" dirty="0" err="1"/>
              <a:t>std</a:t>
            </a:r>
            <a:r>
              <a:rPr lang="en-IN" dirty="0"/>
              <a:t>;</a:t>
            </a:r>
          </a:p>
          <a:p>
            <a:endParaRPr lang="en-IN" dirty="0"/>
          </a:p>
          <a:p>
            <a:r>
              <a:rPr lang="en-IN" dirty="0"/>
              <a:t>class Point </a:t>
            </a:r>
          </a:p>
          <a:p>
            <a:r>
              <a:rPr lang="en-IN" dirty="0"/>
              <a:t>{</a:t>
            </a:r>
          </a:p>
          <a:p>
            <a:r>
              <a:rPr lang="en-IN" dirty="0"/>
              <a:t>private:</a:t>
            </a:r>
          </a:p>
          <a:p>
            <a:r>
              <a:rPr lang="en-IN" dirty="0"/>
              <a:t>	</a:t>
            </a:r>
            <a:r>
              <a:rPr lang="en-IN" dirty="0" err="1"/>
              <a:t>int</a:t>
            </a:r>
            <a:r>
              <a:rPr lang="en-IN" dirty="0"/>
              <a:t> x, y;</a:t>
            </a:r>
          </a:p>
          <a:p>
            <a:endParaRPr lang="en-IN" dirty="0"/>
          </a:p>
        </p:txBody>
      </p:sp>
    </p:spTree>
    <p:extLst>
      <p:ext uri="{BB962C8B-B14F-4D97-AF65-F5344CB8AC3E}">
        <p14:creationId xmlns:p14="http://schemas.microsoft.com/office/powerpoint/2010/main" val="37991517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11</a:t>
            </a:fld>
            <a:endParaRPr lang="en-US"/>
          </a:p>
        </p:txBody>
      </p:sp>
      <p:sp>
        <p:nvSpPr>
          <p:cNvPr id="5" name="TextBox 4"/>
          <p:cNvSpPr txBox="1"/>
          <p:nvPr/>
        </p:nvSpPr>
        <p:spPr>
          <a:xfrm>
            <a:off x="984739" y="844062"/>
            <a:ext cx="3856184" cy="5355312"/>
          </a:xfrm>
          <a:prstGeom prst="rect">
            <a:avLst/>
          </a:prstGeom>
          <a:noFill/>
        </p:spPr>
        <p:txBody>
          <a:bodyPr wrap="none" rtlCol="0">
            <a:spAutoFit/>
          </a:bodyPr>
          <a:lstStyle/>
          <a:p>
            <a:r>
              <a:rPr lang="en-IN" dirty="0"/>
              <a:t>public:</a:t>
            </a:r>
          </a:p>
          <a:p>
            <a:r>
              <a:rPr lang="en-IN" dirty="0"/>
              <a:t>	// Parameterized Constructor</a:t>
            </a:r>
          </a:p>
          <a:p>
            <a:r>
              <a:rPr lang="en-IN" dirty="0"/>
              <a:t>	Point(</a:t>
            </a:r>
            <a:r>
              <a:rPr lang="en-IN" dirty="0" err="1"/>
              <a:t>int</a:t>
            </a:r>
            <a:r>
              <a:rPr lang="en-IN" dirty="0"/>
              <a:t> x1, </a:t>
            </a:r>
            <a:r>
              <a:rPr lang="en-IN" dirty="0" err="1"/>
              <a:t>int</a:t>
            </a:r>
            <a:r>
              <a:rPr lang="en-IN" dirty="0"/>
              <a:t> y1)</a:t>
            </a:r>
          </a:p>
          <a:p>
            <a:r>
              <a:rPr lang="en-IN" dirty="0"/>
              <a:t>	{</a:t>
            </a:r>
          </a:p>
          <a:p>
            <a:r>
              <a:rPr lang="en-IN" dirty="0"/>
              <a:t>		x = x1;</a:t>
            </a:r>
          </a:p>
          <a:p>
            <a:r>
              <a:rPr lang="en-IN" dirty="0"/>
              <a:t>		y = y1;</a:t>
            </a:r>
          </a:p>
          <a:p>
            <a:r>
              <a:rPr lang="en-IN" dirty="0"/>
              <a:t>	}</a:t>
            </a:r>
          </a:p>
          <a:p>
            <a:endParaRPr lang="en-IN" dirty="0"/>
          </a:p>
          <a:p>
            <a:r>
              <a:rPr lang="en-IN" dirty="0"/>
              <a:t>	</a:t>
            </a:r>
            <a:r>
              <a:rPr lang="en-IN" dirty="0" err="1"/>
              <a:t>int</a:t>
            </a:r>
            <a:r>
              <a:rPr lang="en-IN" dirty="0"/>
              <a:t> </a:t>
            </a:r>
            <a:r>
              <a:rPr lang="en-IN" dirty="0" err="1"/>
              <a:t>getX</a:t>
            </a:r>
            <a:r>
              <a:rPr lang="en-IN" dirty="0"/>
              <a:t>()</a:t>
            </a:r>
          </a:p>
          <a:p>
            <a:r>
              <a:rPr lang="en-IN" dirty="0"/>
              <a:t>	{</a:t>
            </a:r>
          </a:p>
          <a:p>
            <a:r>
              <a:rPr lang="en-IN" dirty="0"/>
              <a:t>		return x;</a:t>
            </a:r>
          </a:p>
          <a:p>
            <a:r>
              <a:rPr lang="en-IN" dirty="0"/>
              <a:t>	}</a:t>
            </a:r>
          </a:p>
          <a:p>
            <a:r>
              <a:rPr lang="en-IN" dirty="0"/>
              <a:t>	</a:t>
            </a:r>
            <a:r>
              <a:rPr lang="en-IN" dirty="0" err="1"/>
              <a:t>int</a:t>
            </a:r>
            <a:r>
              <a:rPr lang="en-IN" dirty="0"/>
              <a:t> </a:t>
            </a:r>
            <a:r>
              <a:rPr lang="en-IN" dirty="0" err="1"/>
              <a:t>getY</a:t>
            </a:r>
            <a:r>
              <a:rPr lang="en-IN" dirty="0"/>
              <a:t>()</a:t>
            </a:r>
          </a:p>
          <a:p>
            <a:r>
              <a:rPr lang="en-IN" dirty="0"/>
              <a:t>	{</a:t>
            </a:r>
          </a:p>
          <a:p>
            <a:r>
              <a:rPr lang="en-IN" dirty="0"/>
              <a:t>		return y;</a:t>
            </a:r>
          </a:p>
          <a:p>
            <a:r>
              <a:rPr lang="en-IN" dirty="0"/>
              <a:t>	}</a:t>
            </a:r>
          </a:p>
          <a:p>
            <a:r>
              <a:rPr lang="en-IN" dirty="0"/>
              <a:t>};</a:t>
            </a:r>
          </a:p>
          <a:p>
            <a:endParaRPr lang="en-IN" dirty="0"/>
          </a:p>
          <a:p>
            <a:endParaRPr lang="en-IN" dirty="0"/>
          </a:p>
        </p:txBody>
      </p:sp>
      <p:sp>
        <p:nvSpPr>
          <p:cNvPr id="6" name="TextBox 5"/>
          <p:cNvSpPr txBox="1"/>
          <p:nvPr/>
        </p:nvSpPr>
        <p:spPr>
          <a:xfrm>
            <a:off x="5193323" y="691662"/>
            <a:ext cx="5432256" cy="3416320"/>
          </a:xfrm>
          <a:prstGeom prst="rect">
            <a:avLst/>
          </a:prstGeom>
          <a:noFill/>
        </p:spPr>
        <p:txBody>
          <a:bodyPr wrap="none" rtlCol="0">
            <a:spAutoFit/>
          </a:bodyPr>
          <a:lstStyle/>
          <a:p>
            <a:endParaRPr lang="en-IN" dirty="0"/>
          </a:p>
          <a:p>
            <a:r>
              <a:rPr lang="en-IN" dirty="0" err="1"/>
              <a:t>int</a:t>
            </a:r>
            <a:r>
              <a:rPr lang="en-IN" dirty="0"/>
              <a:t> main()</a:t>
            </a:r>
          </a:p>
          <a:p>
            <a:r>
              <a:rPr lang="en-IN" dirty="0"/>
              <a:t>{</a:t>
            </a:r>
          </a:p>
          <a:p>
            <a:r>
              <a:rPr lang="en-IN" dirty="0"/>
              <a:t>	// Constructor called</a:t>
            </a:r>
          </a:p>
          <a:p>
            <a:r>
              <a:rPr lang="en-IN" dirty="0"/>
              <a:t>	Point p1(10, 15);</a:t>
            </a:r>
          </a:p>
          <a:p>
            <a:endParaRPr lang="en-IN" dirty="0"/>
          </a:p>
          <a:p>
            <a:r>
              <a:rPr lang="en-IN" dirty="0"/>
              <a:t>	// Access values assigned by constructor</a:t>
            </a:r>
          </a:p>
          <a:p>
            <a:r>
              <a:rPr lang="en-IN" dirty="0" err="1"/>
              <a:t>cout</a:t>
            </a:r>
            <a:r>
              <a:rPr lang="en-IN" dirty="0"/>
              <a:t> &lt;&lt; "p1.x = " &lt;&lt; p1.getX() &lt;&lt; ", p1.y = " &lt;&lt; p1.getY();</a:t>
            </a:r>
          </a:p>
          <a:p>
            <a:endParaRPr lang="en-IN" dirty="0"/>
          </a:p>
          <a:p>
            <a:r>
              <a:rPr lang="en-IN" dirty="0"/>
              <a:t>	return 0;</a:t>
            </a:r>
          </a:p>
          <a:p>
            <a:r>
              <a:rPr lang="en-IN" dirty="0"/>
              <a:t>}</a:t>
            </a:r>
          </a:p>
          <a:p>
            <a:endParaRPr lang="en-IN" dirty="0"/>
          </a:p>
        </p:txBody>
      </p:sp>
      <p:sp>
        <p:nvSpPr>
          <p:cNvPr id="7" name="TextBox 6"/>
          <p:cNvSpPr txBox="1"/>
          <p:nvPr/>
        </p:nvSpPr>
        <p:spPr>
          <a:xfrm>
            <a:off x="5193323" y="4290646"/>
            <a:ext cx="1993816" cy="923330"/>
          </a:xfrm>
          <a:prstGeom prst="rect">
            <a:avLst/>
          </a:prstGeom>
          <a:noFill/>
        </p:spPr>
        <p:txBody>
          <a:bodyPr wrap="none" rtlCol="0">
            <a:spAutoFit/>
          </a:bodyPr>
          <a:lstStyle/>
          <a:p>
            <a:pPr fontAlgn="base"/>
            <a:r>
              <a:rPr lang="fr-FR" b="1" dirty="0"/>
              <a:t>Output: </a:t>
            </a:r>
          </a:p>
          <a:p>
            <a:pPr fontAlgn="base"/>
            <a:endParaRPr lang="fr-FR" dirty="0"/>
          </a:p>
          <a:p>
            <a:r>
              <a:rPr lang="fr-FR" dirty="0"/>
              <a:t>p1.x = 10, p1.y = 15</a:t>
            </a:r>
            <a:endParaRPr lang="en-IN" dirty="0"/>
          </a:p>
        </p:txBody>
      </p:sp>
    </p:spTree>
    <p:extLst>
      <p:ext uri="{BB962C8B-B14F-4D97-AF65-F5344CB8AC3E}">
        <p14:creationId xmlns:p14="http://schemas.microsoft.com/office/powerpoint/2010/main" val="136308004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12</a:t>
            </a:fld>
            <a:endParaRPr lang="en-US"/>
          </a:p>
        </p:txBody>
      </p:sp>
      <p:sp>
        <p:nvSpPr>
          <p:cNvPr id="6" name="TextBox 5"/>
          <p:cNvSpPr txBox="1"/>
          <p:nvPr/>
        </p:nvSpPr>
        <p:spPr>
          <a:xfrm>
            <a:off x="1184031" y="855784"/>
            <a:ext cx="10656277" cy="2031325"/>
          </a:xfrm>
          <a:prstGeom prst="rect">
            <a:avLst/>
          </a:prstGeom>
          <a:noFill/>
        </p:spPr>
        <p:txBody>
          <a:bodyPr wrap="square" rtlCol="0">
            <a:spAutoFit/>
          </a:bodyPr>
          <a:lstStyle/>
          <a:p>
            <a:r>
              <a:rPr lang="en-IN" b="1" dirty="0"/>
              <a:t>3) Copy Constructor:</a:t>
            </a:r>
          </a:p>
          <a:p>
            <a:endParaRPr lang="en-IN" b="1" dirty="0"/>
          </a:p>
          <a:p>
            <a:r>
              <a:rPr lang="en-IN" b="1" dirty="0"/>
              <a:t>Copy Constructor</a:t>
            </a:r>
            <a:r>
              <a:rPr lang="en-IN" dirty="0"/>
              <a:t> is a type of constructor which is used to create a copy of an already existing object of a class type. It is usually of the form </a:t>
            </a:r>
            <a:r>
              <a:rPr lang="en-IN" b="1" dirty="0"/>
              <a:t>X (X&amp;)</a:t>
            </a:r>
            <a:r>
              <a:rPr lang="en-IN" dirty="0"/>
              <a:t>, where X is the class name. The compiler provides a default Copy Constructor to all the classes.</a:t>
            </a:r>
          </a:p>
          <a:p>
            <a:endParaRPr lang="en-IN" b="1" dirty="0"/>
          </a:p>
          <a:p>
            <a:endParaRPr lang="en-IN" dirty="0"/>
          </a:p>
        </p:txBody>
      </p:sp>
      <p:sp>
        <p:nvSpPr>
          <p:cNvPr id="7" name="TextBox 6"/>
          <p:cNvSpPr txBox="1"/>
          <p:nvPr/>
        </p:nvSpPr>
        <p:spPr>
          <a:xfrm>
            <a:off x="1477107" y="2563943"/>
            <a:ext cx="4237378" cy="1785104"/>
          </a:xfrm>
          <a:prstGeom prst="rect">
            <a:avLst/>
          </a:prstGeom>
          <a:noFill/>
        </p:spPr>
        <p:txBody>
          <a:bodyPr wrap="none" rtlCol="0">
            <a:spAutoFit/>
          </a:bodyPr>
          <a:lstStyle/>
          <a:p>
            <a:r>
              <a:rPr lang="en-IN" sz="2000" b="1" dirty="0"/>
              <a:t>Syntax of Copy Constructor</a:t>
            </a:r>
          </a:p>
          <a:p>
            <a:endParaRPr lang="en-IN" dirty="0"/>
          </a:p>
          <a:p>
            <a:r>
              <a:rPr lang="en-IN" dirty="0" err="1"/>
              <a:t>Classname</a:t>
            </a:r>
            <a:r>
              <a:rPr lang="en-IN" dirty="0"/>
              <a:t>(</a:t>
            </a:r>
            <a:r>
              <a:rPr lang="en-IN" dirty="0" err="1"/>
              <a:t>const</a:t>
            </a:r>
            <a:r>
              <a:rPr lang="en-IN" dirty="0"/>
              <a:t> </a:t>
            </a:r>
            <a:r>
              <a:rPr lang="en-IN" dirty="0" err="1"/>
              <a:t>classname</a:t>
            </a:r>
            <a:r>
              <a:rPr lang="en-IN" dirty="0"/>
              <a:t> &amp; </a:t>
            </a:r>
            <a:r>
              <a:rPr lang="en-IN" dirty="0" err="1"/>
              <a:t>objectname</a:t>
            </a:r>
            <a:r>
              <a:rPr lang="en-IN" dirty="0"/>
              <a:t>)</a:t>
            </a:r>
          </a:p>
          <a:p>
            <a:r>
              <a:rPr lang="en-IN" dirty="0"/>
              <a:t> {</a:t>
            </a:r>
          </a:p>
          <a:p>
            <a:r>
              <a:rPr lang="en-IN" dirty="0"/>
              <a:t> . . . .</a:t>
            </a:r>
          </a:p>
          <a:p>
            <a:r>
              <a:rPr lang="en-IN" dirty="0"/>
              <a:t> }</a:t>
            </a:r>
          </a:p>
        </p:txBody>
      </p:sp>
      <p:sp>
        <p:nvSpPr>
          <p:cNvPr id="8" name="TextBox 7"/>
          <p:cNvSpPr txBox="1"/>
          <p:nvPr/>
        </p:nvSpPr>
        <p:spPr>
          <a:xfrm>
            <a:off x="1184031" y="5487961"/>
            <a:ext cx="8733693" cy="646331"/>
          </a:xfrm>
          <a:prstGeom prst="rect">
            <a:avLst/>
          </a:prstGeom>
          <a:noFill/>
        </p:spPr>
        <p:txBody>
          <a:bodyPr wrap="square" rtlCol="0">
            <a:spAutoFit/>
          </a:bodyPr>
          <a:lstStyle/>
          <a:p>
            <a:r>
              <a:rPr lang="en-IN" dirty="0"/>
              <a:t>As it is used to create an object, hence it is called a constructor. And, it creates a new object, which is exact copy of the existing copy, hence it is called </a:t>
            </a:r>
            <a:r>
              <a:rPr lang="en-IN" b="1" dirty="0"/>
              <a:t>copy constructor</a:t>
            </a:r>
            <a:r>
              <a:rPr lang="en-IN" dirty="0"/>
              <a:t>.</a:t>
            </a:r>
          </a:p>
        </p:txBody>
      </p:sp>
      <p:pic>
        <p:nvPicPr>
          <p:cNvPr id="9" name="Picture 2" descr="C:\Users\HP-PC\Desktop\copy-constructor.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6196" y="2350279"/>
            <a:ext cx="3940419" cy="27582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265553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13</a:t>
            </a:fld>
            <a:endParaRPr lang="en-US"/>
          </a:p>
        </p:txBody>
      </p:sp>
      <p:sp>
        <p:nvSpPr>
          <p:cNvPr id="5" name="TextBox 4"/>
          <p:cNvSpPr txBox="1"/>
          <p:nvPr/>
        </p:nvSpPr>
        <p:spPr>
          <a:xfrm>
            <a:off x="937847" y="785446"/>
            <a:ext cx="4322145" cy="6186309"/>
          </a:xfrm>
          <a:prstGeom prst="rect">
            <a:avLst/>
          </a:prstGeom>
          <a:noFill/>
        </p:spPr>
        <p:txBody>
          <a:bodyPr wrap="none" rtlCol="0">
            <a:spAutoFit/>
          </a:bodyPr>
          <a:lstStyle/>
          <a:p>
            <a:r>
              <a:rPr lang="en-IN" dirty="0"/>
              <a:t>#include&lt;</a:t>
            </a:r>
            <a:r>
              <a:rPr lang="en-IN" dirty="0" err="1"/>
              <a:t>iostream</a:t>
            </a:r>
            <a:r>
              <a:rPr lang="en-IN" dirty="0"/>
              <a:t>&gt;</a:t>
            </a:r>
          </a:p>
          <a:p>
            <a:r>
              <a:rPr lang="en-IN" dirty="0"/>
              <a:t>using namespace </a:t>
            </a:r>
            <a:r>
              <a:rPr lang="en-IN" dirty="0" err="1"/>
              <a:t>std</a:t>
            </a:r>
            <a:r>
              <a:rPr lang="en-IN" dirty="0"/>
              <a:t>;</a:t>
            </a:r>
          </a:p>
          <a:p>
            <a:r>
              <a:rPr lang="en-IN" dirty="0"/>
              <a:t>class </a:t>
            </a:r>
            <a:r>
              <a:rPr lang="en-IN" b="1" dirty="0" err="1"/>
              <a:t>copyconstructor</a:t>
            </a:r>
            <a:endParaRPr lang="en-IN" b="1" dirty="0"/>
          </a:p>
          <a:p>
            <a:r>
              <a:rPr lang="en-IN" dirty="0"/>
              <a:t>{</a:t>
            </a:r>
          </a:p>
          <a:p>
            <a:r>
              <a:rPr lang="en-IN" dirty="0"/>
              <a:t>    private:</a:t>
            </a:r>
          </a:p>
          <a:p>
            <a:r>
              <a:rPr lang="en-IN" dirty="0"/>
              <a:t>    </a:t>
            </a:r>
            <a:r>
              <a:rPr lang="en-IN" dirty="0" err="1"/>
              <a:t>int</a:t>
            </a:r>
            <a:r>
              <a:rPr lang="en-IN" dirty="0"/>
              <a:t> x, y;   //data members</a:t>
            </a:r>
          </a:p>
          <a:p>
            <a:r>
              <a:rPr lang="en-IN" dirty="0"/>
              <a:t>    </a:t>
            </a:r>
          </a:p>
          <a:p>
            <a:r>
              <a:rPr lang="en-IN" dirty="0"/>
              <a:t>    public:</a:t>
            </a:r>
          </a:p>
          <a:p>
            <a:r>
              <a:rPr lang="en-IN" b="1" dirty="0"/>
              <a:t>    </a:t>
            </a:r>
            <a:r>
              <a:rPr lang="en-IN" b="1" dirty="0" err="1"/>
              <a:t>copyconstructor</a:t>
            </a:r>
            <a:r>
              <a:rPr lang="en-IN" dirty="0"/>
              <a:t>(</a:t>
            </a:r>
            <a:r>
              <a:rPr lang="en-IN" dirty="0" err="1"/>
              <a:t>int</a:t>
            </a:r>
            <a:r>
              <a:rPr lang="en-IN" dirty="0"/>
              <a:t> x1, </a:t>
            </a:r>
            <a:r>
              <a:rPr lang="en-IN" dirty="0" err="1"/>
              <a:t>int</a:t>
            </a:r>
            <a:r>
              <a:rPr lang="en-IN" dirty="0"/>
              <a:t> y1)</a:t>
            </a:r>
          </a:p>
          <a:p>
            <a:r>
              <a:rPr lang="en-IN" dirty="0"/>
              <a:t>    {</a:t>
            </a:r>
          </a:p>
          <a:p>
            <a:r>
              <a:rPr lang="en-IN" dirty="0"/>
              <a:t>        x = x1;</a:t>
            </a:r>
          </a:p>
          <a:p>
            <a:r>
              <a:rPr lang="en-IN" dirty="0"/>
              <a:t>        y = y1;</a:t>
            </a:r>
          </a:p>
          <a:p>
            <a:r>
              <a:rPr lang="en-IN" dirty="0"/>
              <a:t>    }</a:t>
            </a:r>
          </a:p>
          <a:p>
            <a:r>
              <a:rPr lang="en-IN" dirty="0"/>
              <a:t>    </a:t>
            </a:r>
          </a:p>
          <a:p>
            <a:r>
              <a:rPr lang="en-IN" dirty="0"/>
              <a:t>    /* Copy constructor */</a:t>
            </a:r>
          </a:p>
          <a:p>
            <a:r>
              <a:rPr lang="en-IN" b="1" dirty="0"/>
              <a:t>    </a:t>
            </a:r>
            <a:r>
              <a:rPr lang="en-IN" b="1" dirty="0" err="1"/>
              <a:t>copyconstructor</a:t>
            </a:r>
            <a:r>
              <a:rPr lang="en-IN" b="1" dirty="0"/>
              <a:t> </a:t>
            </a:r>
            <a:r>
              <a:rPr lang="en-IN" dirty="0"/>
              <a:t>(</a:t>
            </a:r>
            <a:r>
              <a:rPr lang="en-IN" b="1" dirty="0" err="1"/>
              <a:t>copyconstructor</a:t>
            </a:r>
            <a:r>
              <a:rPr lang="en-IN" dirty="0"/>
              <a:t> &amp;</a:t>
            </a:r>
            <a:r>
              <a:rPr lang="en-IN" dirty="0" err="1"/>
              <a:t>sam</a:t>
            </a:r>
            <a:r>
              <a:rPr lang="en-IN" dirty="0"/>
              <a:t>)</a:t>
            </a:r>
          </a:p>
          <a:p>
            <a:r>
              <a:rPr lang="en-IN" dirty="0"/>
              <a:t>    {</a:t>
            </a:r>
          </a:p>
          <a:p>
            <a:r>
              <a:rPr lang="en-IN" dirty="0"/>
              <a:t>        x = </a:t>
            </a:r>
            <a:r>
              <a:rPr lang="en-IN" dirty="0" err="1"/>
              <a:t>sam.x</a:t>
            </a:r>
            <a:r>
              <a:rPr lang="en-IN" dirty="0"/>
              <a:t>;</a:t>
            </a:r>
          </a:p>
          <a:p>
            <a:r>
              <a:rPr lang="en-IN" dirty="0"/>
              <a:t>        y = </a:t>
            </a:r>
            <a:r>
              <a:rPr lang="en-IN" dirty="0" err="1"/>
              <a:t>sam.y</a:t>
            </a:r>
            <a:r>
              <a:rPr lang="en-IN" dirty="0"/>
              <a:t>;</a:t>
            </a:r>
          </a:p>
          <a:p>
            <a:r>
              <a:rPr lang="en-IN" dirty="0"/>
              <a:t>    }</a:t>
            </a:r>
          </a:p>
          <a:p>
            <a:r>
              <a:rPr lang="en-IN" dirty="0"/>
              <a:t>    </a:t>
            </a:r>
          </a:p>
          <a:p>
            <a:r>
              <a:rPr lang="en-IN" dirty="0"/>
              <a:t>   </a:t>
            </a:r>
          </a:p>
        </p:txBody>
      </p:sp>
      <p:sp>
        <p:nvSpPr>
          <p:cNvPr id="6" name="TextBox 5"/>
          <p:cNvSpPr txBox="1"/>
          <p:nvPr/>
        </p:nvSpPr>
        <p:spPr>
          <a:xfrm>
            <a:off x="5353822" y="761999"/>
            <a:ext cx="5336461" cy="4801314"/>
          </a:xfrm>
          <a:prstGeom prst="rect">
            <a:avLst/>
          </a:prstGeom>
          <a:noFill/>
        </p:spPr>
        <p:txBody>
          <a:bodyPr wrap="none" rtlCol="0">
            <a:spAutoFit/>
          </a:bodyPr>
          <a:lstStyle/>
          <a:p>
            <a:r>
              <a:rPr lang="en-IN" dirty="0"/>
              <a:t> void display()</a:t>
            </a:r>
          </a:p>
          <a:p>
            <a:r>
              <a:rPr lang="en-IN" dirty="0"/>
              <a:t>    {</a:t>
            </a:r>
          </a:p>
          <a:p>
            <a:r>
              <a:rPr lang="en-IN" dirty="0"/>
              <a:t>        </a:t>
            </a:r>
            <a:r>
              <a:rPr lang="en-IN" dirty="0" err="1"/>
              <a:t>cout</a:t>
            </a:r>
            <a:r>
              <a:rPr lang="en-IN" dirty="0"/>
              <a:t>&lt;&lt;x&lt;&lt;" "&lt;&lt;y&lt;&lt;</a:t>
            </a:r>
            <a:r>
              <a:rPr lang="en-IN" dirty="0" err="1"/>
              <a:t>endl</a:t>
            </a:r>
            <a:r>
              <a:rPr lang="en-IN" dirty="0"/>
              <a:t>;</a:t>
            </a:r>
          </a:p>
          <a:p>
            <a:r>
              <a:rPr lang="en-IN" dirty="0"/>
              <a:t>    }</a:t>
            </a:r>
          </a:p>
          <a:p>
            <a:r>
              <a:rPr lang="en-IN" dirty="0"/>
              <a:t>};</a:t>
            </a:r>
          </a:p>
          <a:p>
            <a:r>
              <a:rPr lang="en-IN" dirty="0"/>
              <a:t>/* main function */</a:t>
            </a:r>
          </a:p>
          <a:p>
            <a:r>
              <a:rPr lang="en-IN" dirty="0" err="1"/>
              <a:t>int</a:t>
            </a:r>
            <a:r>
              <a:rPr lang="en-IN" dirty="0"/>
              <a:t> main()</a:t>
            </a:r>
          </a:p>
          <a:p>
            <a:r>
              <a:rPr lang="en-IN" dirty="0"/>
              <a:t>{</a:t>
            </a:r>
          </a:p>
          <a:p>
            <a:r>
              <a:rPr lang="en-IN" dirty="0"/>
              <a:t> </a:t>
            </a:r>
            <a:r>
              <a:rPr lang="en-IN" b="1" dirty="0" err="1"/>
              <a:t>copyconstructor</a:t>
            </a:r>
            <a:r>
              <a:rPr lang="en-IN" dirty="0"/>
              <a:t> obj1(10, 15);     // Normal constructor</a:t>
            </a:r>
          </a:p>
          <a:p>
            <a:r>
              <a:rPr lang="en-IN" dirty="0"/>
              <a:t> </a:t>
            </a:r>
            <a:r>
              <a:rPr lang="en-IN" b="1" dirty="0" err="1"/>
              <a:t>copyconstructor</a:t>
            </a:r>
            <a:r>
              <a:rPr lang="en-IN" dirty="0"/>
              <a:t> obj2 = obj1;      // Copy constructor</a:t>
            </a:r>
          </a:p>
          <a:p>
            <a:r>
              <a:rPr lang="en-IN" dirty="0"/>
              <a:t> </a:t>
            </a:r>
            <a:r>
              <a:rPr lang="en-IN" b="1" dirty="0" err="1"/>
              <a:t>cout</a:t>
            </a:r>
            <a:r>
              <a:rPr lang="en-IN" b="1" dirty="0"/>
              <a:t>&lt;&lt;"Normal constructor : ";</a:t>
            </a:r>
          </a:p>
          <a:p>
            <a:r>
              <a:rPr lang="en-IN" dirty="0"/>
              <a:t> obj1.display();</a:t>
            </a:r>
          </a:p>
          <a:p>
            <a:r>
              <a:rPr lang="en-IN" b="1" dirty="0"/>
              <a:t> </a:t>
            </a:r>
            <a:r>
              <a:rPr lang="en-IN" b="1" dirty="0" err="1"/>
              <a:t>cout</a:t>
            </a:r>
            <a:r>
              <a:rPr lang="en-IN" b="1" dirty="0"/>
              <a:t>&lt;&lt;"Copy constructor : ";</a:t>
            </a:r>
          </a:p>
          <a:p>
            <a:r>
              <a:rPr lang="en-IN" dirty="0"/>
              <a:t> obj2.display();</a:t>
            </a:r>
          </a:p>
          <a:p>
            <a:r>
              <a:rPr lang="en-IN" dirty="0"/>
              <a:t> return 0;</a:t>
            </a:r>
          </a:p>
          <a:p>
            <a:r>
              <a:rPr lang="en-IN" dirty="0"/>
              <a:t>}</a:t>
            </a:r>
          </a:p>
          <a:p>
            <a:endParaRPr lang="en-IN" dirty="0"/>
          </a:p>
        </p:txBody>
      </p:sp>
      <p:sp>
        <p:nvSpPr>
          <p:cNvPr id="7" name="TextBox 6"/>
          <p:cNvSpPr txBox="1"/>
          <p:nvPr/>
        </p:nvSpPr>
        <p:spPr>
          <a:xfrm>
            <a:off x="5904806" y="5281191"/>
            <a:ext cx="2741584" cy="1200329"/>
          </a:xfrm>
          <a:prstGeom prst="rect">
            <a:avLst/>
          </a:prstGeom>
          <a:noFill/>
        </p:spPr>
        <p:txBody>
          <a:bodyPr wrap="none" rtlCol="0">
            <a:spAutoFit/>
          </a:bodyPr>
          <a:lstStyle/>
          <a:p>
            <a:r>
              <a:rPr lang="es-ES" b="1" dirty="0"/>
              <a:t>Output:-</a:t>
            </a:r>
          </a:p>
          <a:p>
            <a:endParaRPr lang="es-ES" dirty="0"/>
          </a:p>
          <a:p>
            <a:r>
              <a:rPr lang="es-ES" dirty="0"/>
              <a:t>Normal constructor : 10 15</a:t>
            </a:r>
          </a:p>
          <a:p>
            <a:r>
              <a:rPr lang="es-ES" dirty="0" err="1"/>
              <a:t>Copy</a:t>
            </a:r>
            <a:r>
              <a:rPr lang="es-ES" dirty="0"/>
              <a:t> constructor     : 10 15</a:t>
            </a:r>
            <a:endParaRPr lang="en-IN" dirty="0"/>
          </a:p>
        </p:txBody>
      </p:sp>
    </p:spTree>
    <p:extLst>
      <p:ext uri="{BB962C8B-B14F-4D97-AF65-F5344CB8AC3E}">
        <p14:creationId xmlns:p14="http://schemas.microsoft.com/office/powerpoint/2010/main" val="176306604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Destructors</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14</a:t>
            </a:fld>
            <a:endParaRPr lang="en-US"/>
          </a:p>
        </p:txBody>
      </p:sp>
      <p:sp>
        <p:nvSpPr>
          <p:cNvPr id="5" name="TextBox 4"/>
          <p:cNvSpPr txBox="1"/>
          <p:nvPr/>
        </p:nvSpPr>
        <p:spPr>
          <a:xfrm>
            <a:off x="949569" y="1395729"/>
            <a:ext cx="9612923" cy="5632311"/>
          </a:xfrm>
          <a:prstGeom prst="rect">
            <a:avLst/>
          </a:prstGeom>
          <a:noFill/>
        </p:spPr>
        <p:txBody>
          <a:bodyPr wrap="square" rtlCol="0">
            <a:spAutoFit/>
          </a:bodyPr>
          <a:lstStyle/>
          <a:p>
            <a:r>
              <a:rPr lang="en-IN" sz="2400" b="1" dirty="0"/>
              <a:t>Destructor</a:t>
            </a:r>
            <a:r>
              <a:rPr lang="en-IN" sz="2400" dirty="0"/>
              <a:t> is a special class function which destroys the object as soon as the scope of object ends. The destructor is called automatically by the compiler when the object goes out of scope.</a:t>
            </a:r>
          </a:p>
          <a:p>
            <a:r>
              <a:rPr lang="en-IN" sz="2400" u="sng" dirty="0"/>
              <a:t>Syntax for destructor</a:t>
            </a:r>
          </a:p>
          <a:p>
            <a:r>
              <a:rPr lang="en-IN" sz="2400" dirty="0"/>
              <a:t>The class name is used for the name of destructor, with a </a:t>
            </a:r>
            <a:r>
              <a:rPr lang="en-IN" sz="2400" b="1" dirty="0"/>
              <a:t>tilde</a:t>
            </a:r>
            <a:r>
              <a:rPr lang="en-IN" sz="2400" dirty="0"/>
              <a:t> ~ sign as prefix to it.</a:t>
            </a:r>
            <a:endParaRPr lang="en-IN" sz="2400" b="1" u="sng" dirty="0"/>
          </a:p>
          <a:p>
            <a:r>
              <a:rPr lang="en-IN" sz="2400" dirty="0"/>
              <a:t>class A</a:t>
            </a:r>
          </a:p>
          <a:p>
            <a:r>
              <a:rPr lang="en-IN" sz="2400" dirty="0"/>
              <a:t>{</a:t>
            </a:r>
          </a:p>
          <a:p>
            <a:r>
              <a:rPr lang="en-IN" sz="2400" dirty="0"/>
              <a:t>    public:</a:t>
            </a:r>
          </a:p>
          <a:p>
            <a:r>
              <a:rPr lang="en-IN" sz="2400" dirty="0"/>
              <a:t>    // defining destructor for class</a:t>
            </a:r>
          </a:p>
          <a:p>
            <a:r>
              <a:rPr lang="en-IN" sz="2400" dirty="0"/>
              <a:t>    ~A() </a:t>
            </a:r>
          </a:p>
          <a:p>
            <a:r>
              <a:rPr lang="en-IN" sz="2400" dirty="0"/>
              <a:t>    {</a:t>
            </a:r>
          </a:p>
          <a:p>
            <a:r>
              <a:rPr lang="en-IN" sz="2400" dirty="0"/>
              <a:t>        // statement</a:t>
            </a:r>
          </a:p>
          <a:p>
            <a:r>
              <a:rPr lang="en-IN" sz="2400" dirty="0"/>
              <a:t>    }   </a:t>
            </a:r>
          </a:p>
          <a:p>
            <a:r>
              <a:rPr lang="en-IN" sz="2400" dirty="0"/>
              <a:t>};</a:t>
            </a:r>
          </a:p>
        </p:txBody>
      </p:sp>
      <p:sp>
        <p:nvSpPr>
          <p:cNvPr id="6" name="TextBox 5"/>
          <p:cNvSpPr txBox="1"/>
          <p:nvPr/>
        </p:nvSpPr>
        <p:spPr>
          <a:xfrm>
            <a:off x="6201867" y="4199105"/>
            <a:ext cx="4231671" cy="923330"/>
          </a:xfrm>
          <a:prstGeom prst="rect">
            <a:avLst/>
          </a:prstGeom>
          <a:noFill/>
        </p:spPr>
        <p:txBody>
          <a:bodyPr wrap="none" rtlCol="0">
            <a:spAutoFit/>
          </a:bodyPr>
          <a:lstStyle/>
          <a:p>
            <a:r>
              <a:rPr lang="en-IN" b="1" dirty="0"/>
              <a:t>Note:-</a:t>
            </a:r>
          </a:p>
          <a:p>
            <a:endParaRPr lang="en-IN" dirty="0"/>
          </a:p>
          <a:p>
            <a:r>
              <a:rPr lang="en-IN" dirty="0"/>
              <a:t>Destructors will never have any arguments.</a:t>
            </a:r>
          </a:p>
        </p:txBody>
      </p:sp>
    </p:spTree>
    <p:extLst>
      <p:ext uri="{BB962C8B-B14F-4D97-AF65-F5344CB8AC3E}">
        <p14:creationId xmlns:p14="http://schemas.microsoft.com/office/powerpoint/2010/main" val="280388915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Example to see how Constructor and Destructor are called</a:t>
            </a:r>
            <a:br>
              <a:rPr lang="en-IN" b="1" dirty="0"/>
            </a:br>
            <a:endParaRPr lang="en-IN" b="1"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15</a:t>
            </a:fld>
            <a:endParaRPr lang="en-US"/>
          </a:p>
        </p:txBody>
      </p:sp>
      <p:sp>
        <p:nvSpPr>
          <p:cNvPr id="5" name="TextBox 4"/>
          <p:cNvSpPr txBox="1"/>
          <p:nvPr/>
        </p:nvSpPr>
        <p:spPr>
          <a:xfrm>
            <a:off x="691661" y="1535724"/>
            <a:ext cx="3319498" cy="3970318"/>
          </a:xfrm>
          <a:prstGeom prst="rect">
            <a:avLst/>
          </a:prstGeom>
          <a:noFill/>
        </p:spPr>
        <p:txBody>
          <a:bodyPr wrap="none" rtlCol="0">
            <a:spAutoFit/>
          </a:bodyPr>
          <a:lstStyle/>
          <a:p>
            <a:r>
              <a:rPr lang="en-IN" dirty="0"/>
              <a:t>class A</a:t>
            </a:r>
          </a:p>
          <a:p>
            <a:r>
              <a:rPr lang="en-IN" dirty="0"/>
              <a:t>{</a:t>
            </a:r>
          </a:p>
          <a:p>
            <a:r>
              <a:rPr lang="en-IN" dirty="0"/>
              <a:t>    // constructor</a:t>
            </a:r>
          </a:p>
          <a:p>
            <a:r>
              <a:rPr lang="en-IN" dirty="0"/>
              <a:t>    A()</a:t>
            </a:r>
          </a:p>
          <a:p>
            <a:r>
              <a:rPr lang="en-IN" dirty="0"/>
              <a:t>    {</a:t>
            </a:r>
          </a:p>
          <a:p>
            <a:r>
              <a:rPr lang="en-IN" dirty="0"/>
              <a:t>        </a:t>
            </a:r>
            <a:r>
              <a:rPr lang="en-IN" dirty="0" err="1"/>
              <a:t>cout</a:t>
            </a:r>
            <a:r>
              <a:rPr lang="en-IN" dirty="0"/>
              <a:t> &lt;&lt; "Constructor called";</a:t>
            </a:r>
          </a:p>
          <a:p>
            <a:r>
              <a:rPr lang="en-IN" dirty="0"/>
              <a:t>    }</a:t>
            </a:r>
          </a:p>
          <a:p>
            <a:endParaRPr lang="en-IN" dirty="0"/>
          </a:p>
          <a:p>
            <a:r>
              <a:rPr lang="en-IN" dirty="0"/>
              <a:t>    // destructor</a:t>
            </a:r>
          </a:p>
          <a:p>
            <a:r>
              <a:rPr lang="en-IN" dirty="0"/>
              <a:t>    ~A()</a:t>
            </a:r>
          </a:p>
          <a:p>
            <a:r>
              <a:rPr lang="en-IN" dirty="0"/>
              <a:t>    {</a:t>
            </a:r>
          </a:p>
          <a:p>
            <a:r>
              <a:rPr lang="en-IN" dirty="0"/>
              <a:t>        </a:t>
            </a:r>
            <a:r>
              <a:rPr lang="en-IN" dirty="0" err="1"/>
              <a:t>cout</a:t>
            </a:r>
            <a:r>
              <a:rPr lang="en-IN" dirty="0"/>
              <a:t> &lt;&lt; "Destructor called";</a:t>
            </a:r>
          </a:p>
          <a:p>
            <a:r>
              <a:rPr lang="en-IN" dirty="0"/>
              <a:t>    }</a:t>
            </a:r>
          </a:p>
          <a:p>
            <a:r>
              <a:rPr lang="en-IN" dirty="0"/>
              <a:t>};</a:t>
            </a:r>
          </a:p>
        </p:txBody>
      </p:sp>
      <p:sp>
        <p:nvSpPr>
          <p:cNvPr id="6" name="TextBox 5"/>
          <p:cNvSpPr txBox="1"/>
          <p:nvPr/>
        </p:nvSpPr>
        <p:spPr>
          <a:xfrm>
            <a:off x="4876800" y="937847"/>
            <a:ext cx="3347391" cy="3139321"/>
          </a:xfrm>
          <a:prstGeom prst="rect">
            <a:avLst/>
          </a:prstGeom>
          <a:noFill/>
        </p:spPr>
        <p:txBody>
          <a:bodyPr wrap="none" rtlCol="0">
            <a:spAutoFit/>
          </a:bodyPr>
          <a:lstStyle/>
          <a:p>
            <a:endParaRPr lang="en-IN" dirty="0"/>
          </a:p>
          <a:p>
            <a:r>
              <a:rPr lang="en-IN" dirty="0" err="1"/>
              <a:t>int</a:t>
            </a:r>
            <a:r>
              <a:rPr lang="en-IN" dirty="0"/>
              <a:t> main()</a:t>
            </a:r>
          </a:p>
          <a:p>
            <a:r>
              <a:rPr lang="en-IN" dirty="0"/>
              <a:t>{</a:t>
            </a:r>
          </a:p>
          <a:p>
            <a:r>
              <a:rPr lang="en-IN" dirty="0"/>
              <a:t>    A obj1;   // Constructor Called</a:t>
            </a:r>
          </a:p>
          <a:p>
            <a:r>
              <a:rPr lang="en-IN" dirty="0"/>
              <a:t>    </a:t>
            </a:r>
            <a:r>
              <a:rPr lang="en-IN" dirty="0" err="1"/>
              <a:t>int</a:t>
            </a:r>
            <a:r>
              <a:rPr lang="en-IN" dirty="0"/>
              <a:t> x = 1</a:t>
            </a:r>
          </a:p>
          <a:p>
            <a:r>
              <a:rPr lang="en-IN" dirty="0"/>
              <a:t>    if(x)</a:t>
            </a:r>
          </a:p>
          <a:p>
            <a:r>
              <a:rPr lang="en-IN" dirty="0"/>
              <a:t>    {</a:t>
            </a:r>
          </a:p>
          <a:p>
            <a:r>
              <a:rPr lang="en-IN" dirty="0"/>
              <a:t>        A obj2;  // Constructor Called</a:t>
            </a:r>
          </a:p>
          <a:p>
            <a:r>
              <a:rPr lang="en-IN" dirty="0"/>
              <a:t>    }   // Destructor Called for obj2</a:t>
            </a:r>
          </a:p>
          <a:p>
            <a:r>
              <a:rPr lang="en-IN" dirty="0"/>
              <a:t>} //  Destructor called for obj1</a:t>
            </a:r>
          </a:p>
          <a:p>
            <a:endParaRPr lang="en-IN" dirty="0"/>
          </a:p>
        </p:txBody>
      </p:sp>
      <p:sp>
        <p:nvSpPr>
          <p:cNvPr id="7" name="TextBox 6"/>
          <p:cNvSpPr txBox="1"/>
          <p:nvPr/>
        </p:nvSpPr>
        <p:spPr>
          <a:xfrm>
            <a:off x="9120553" y="2248368"/>
            <a:ext cx="2250831" cy="1508105"/>
          </a:xfrm>
          <a:prstGeom prst="rect">
            <a:avLst/>
          </a:prstGeom>
          <a:noFill/>
        </p:spPr>
        <p:txBody>
          <a:bodyPr wrap="square" rtlCol="0">
            <a:spAutoFit/>
          </a:bodyPr>
          <a:lstStyle/>
          <a:p>
            <a:r>
              <a:rPr lang="en-IN" sz="2000" b="1" dirty="0"/>
              <a:t>Output:-</a:t>
            </a:r>
          </a:p>
          <a:p>
            <a:r>
              <a:rPr lang="en-IN" dirty="0"/>
              <a:t>Constructor called</a:t>
            </a:r>
          </a:p>
          <a:p>
            <a:r>
              <a:rPr lang="en-IN" dirty="0"/>
              <a:t>Constructor called</a:t>
            </a:r>
          </a:p>
          <a:p>
            <a:r>
              <a:rPr lang="en-IN" dirty="0"/>
              <a:t>Destructor called</a:t>
            </a:r>
          </a:p>
          <a:p>
            <a:r>
              <a:rPr lang="en-IN" dirty="0"/>
              <a:t>Destructor called</a:t>
            </a:r>
          </a:p>
        </p:txBody>
      </p:sp>
      <p:sp>
        <p:nvSpPr>
          <p:cNvPr id="8" name="TextBox 7"/>
          <p:cNvSpPr txBox="1"/>
          <p:nvPr/>
        </p:nvSpPr>
        <p:spPr>
          <a:xfrm>
            <a:off x="4314091" y="4100613"/>
            <a:ext cx="6869723" cy="2308324"/>
          </a:xfrm>
          <a:prstGeom prst="rect">
            <a:avLst/>
          </a:prstGeom>
          <a:noFill/>
        </p:spPr>
        <p:txBody>
          <a:bodyPr wrap="square" rtlCol="0">
            <a:spAutoFit/>
          </a:bodyPr>
          <a:lstStyle/>
          <a:p>
            <a:r>
              <a:rPr lang="en-IN" dirty="0"/>
              <a:t>When an object is created the constructor of that class is called. The object reference is destroyed when its scope ends, which is generally after the closing curly bracket } for the code block in which it is created.</a:t>
            </a:r>
          </a:p>
          <a:p>
            <a:endParaRPr lang="en-IN" dirty="0"/>
          </a:p>
          <a:p>
            <a:r>
              <a:rPr lang="en-IN" dirty="0"/>
              <a:t>The object obj2 is destroyed when the if block ends because it was created inside the if block. And the object obj1 is destroyed when the main() function ends.</a:t>
            </a:r>
          </a:p>
          <a:p>
            <a:endParaRPr lang="en-IN" dirty="0"/>
          </a:p>
        </p:txBody>
      </p:sp>
    </p:spTree>
    <p:extLst>
      <p:ext uri="{BB962C8B-B14F-4D97-AF65-F5344CB8AC3E}">
        <p14:creationId xmlns:p14="http://schemas.microsoft.com/office/powerpoint/2010/main" val="236578455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16</a:t>
            </a:fld>
            <a:endParaRPr lang="en-US"/>
          </a:p>
        </p:txBody>
      </p:sp>
      <p:sp>
        <p:nvSpPr>
          <p:cNvPr id="5" name="TextBox 4"/>
          <p:cNvSpPr txBox="1"/>
          <p:nvPr/>
        </p:nvSpPr>
        <p:spPr>
          <a:xfrm>
            <a:off x="1477108" y="890954"/>
            <a:ext cx="6530955" cy="2123658"/>
          </a:xfrm>
          <a:prstGeom prst="rect">
            <a:avLst/>
          </a:prstGeom>
          <a:noFill/>
        </p:spPr>
        <p:txBody>
          <a:bodyPr wrap="none" rtlCol="0">
            <a:spAutoFit/>
          </a:bodyPr>
          <a:lstStyle/>
          <a:p>
            <a:r>
              <a:rPr lang="en-IN" sz="2400" b="1" dirty="0"/>
              <a:t>When does the destructor get called?</a:t>
            </a:r>
          </a:p>
          <a:p>
            <a:endParaRPr lang="en-IN" b="1" dirty="0"/>
          </a:p>
          <a:p>
            <a:r>
              <a:rPr lang="en-IN" dirty="0"/>
              <a:t>A destructor is </a:t>
            </a:r>
            <a:r>
              <a:rPr lang="en-IN" b="1" dirty="0"/>
              <a:t>automatically called</a:t>
            </a:r>
            <a:r>
              <a:rPr lang="en-IN" dirty="0"/>
              <a:t> when:</a:t>
            </a:r>
            <a:br>
              <a:rPr lang="en-IN" dirty="0"/>
            </a:br>
            <a:r>
              <a:rPr lang="en-IN" dirty="0"/>
              <a:t>1) The program finished execution.</a:t>
            </a:r>
            <a:br>
              <a:rPr lang="en-IN" dirty="0"/>
            </a:br>
            <a:r>
              <a:rPr lang="en-IN" dirty="0"/>
              <a:t>2) When a scope (the { } parenthesis) containing local variable ends.</a:t>
            </a:r>
            <a:br>
              <a:rPr lang="en-IN" dirty="0"/>
            </a:br>
            <a:r>
              <a:rPr lang="en-IN" dirty="0"/>
              <a:t>3) When you call the delete operator.</a:t>
            </a:r>
          </a:p>
          <a:p>
            <a:endParaRPr lang="en-IN" dirty="0"/>
          </a:p>
        </p:txBody>
      </p:sp>
      <p:sp>
        <p:nvSpPr>
          <p:cNvPr id="6" name="TextBox 5"/>
          <p:cNvSpPr txBox="1"/>
          <p:nvPr/>
        </p:nvSpPr>
        <p:spPr>
          <a:xfrm>
            <a:off x="1559170" y="3083169"/>
            <a:ext cx="9202616" cy="2677656"/>
          </a:xfrm>
          <a:prstGeom prst="rect">
            <a:avLst/>
          </a:prstGeom>
          <a:noFill/>
        </p:spPr>
        <p:txBody>
          <a:bodyPr wrap="square" rtlCol="0">
            <a:spAutoFit/>
          </a:bodyPr>
          <a:lstStyle/>
          <a:p>
            <a:r>
              <a:rPr lang="en-IN" sz="2400" b="1" dirty="0"/>
              <a:t>Destructor rules</a:t>
            </a:r>
          </a:p>
          <a:p>
            <a:endParaRPr lang="en-IN" dirty="0"/>
          </a:p>
          <a:p>
            <a:r>
              <a:rPr lang="en-IN" dirty="0"/>
              <a:t>1) Name should begin with tilde sign(~) and must match class name.</a:t>
            </a:r>
            <a:br>
              <a:rPr lang="en-IN" dirty="0"/>
            </a:br>
            <a:r>
              <a:rPr lang="en-IN" dirty="0"/>
              <a:t>2) There cannot be more than one destructor in a class.</a:t>
            </a:r>
            <a:br>
              <a:rPr lang="en-IN" dirty="0"/>
            </a:br>
            <a:r>
              <a:rPr lang="en-IN" dirty="0"/>
              <a:t>3) Unlike constructors that can have parameters, destructors do not allow any parameter.</a:t>
            </a:r>
            <a:br>
              <a:rPr lang="en-IN" dirty="0"/>
            </a:br>
            <a:r>
              <a:rPr lang="en-IN" dirty="0"/>
              <a:t>4) They do not have any return type, just like constructors.</a:t>
            </a:r>
            <a:br>
              <a:rPr lang="en-IN" dirty="0"/>
            </a:br>
            <a:r>
              <a:rPr lang="en-IN" dirty="0"/>
              <a:t>5) When you do not specify any destructor in a class, compiler generates a default destructor and inserts it into your code.</a:t>
            </a:r>
          </a:p>
          <a:p>
            <a:endParaRPr lang="en-IN" dirty="0"/>
          </a:p>
        </p:txBody>
      </p:sp>
    </p:spTree>
    <p:extLst>
      <p:ext uri="{BB962C8B-B14F-4D97-AF65-F5344CB8AC3E}">
        <p14:creationId xmlns:p14="http://schemas.microsoft.com/office/powerpoint/2010/main" val="459526900"/>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9584" y="435463"/>
            <a:ext cx="10515600" cy="1325563"/>
          </a:xfrm>
        </p:spPr>
        <p:txBody>
          <a:bodyPr>
            <a:noAutofit/>
          </a:bodyPr>
          <a:lstStyle/>
          <a:p>
            <a:r>
              <a:rPr lang="en-IN" sz="3200" b="1" dirty="0">
                <a:latin typeface="+mn-lt"/>
              </a:rPr>
              <a:t>Order of Execution of constructor and destructor</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17</a:t>
            </a:fld>
            <a:endParaRPr lang="en-US"/>
          </a:p>
        </p:txBody>
      </p:sp>
      <p:sp>
        <p:nvSpPr>
          <p:cNvPr id="6" name="TextBox 5"/>
          <p:cNvSpPr txBox="1"/>
          <p:nvPr/>
        </p:nvSpPr>
        <p:spPr>
          <a:xfrm>
            <a:off x="6717323" y="1992923"/>
            <a:ext cx="184731" cy="369332"/>
          </a:xfrm>
          <a:prstGeom prst="rect">
            <a:avLst/>
          </a:prstGeom>
          <a:noFill/>
        </p:spPr>
        <p:txBody>
          <a:bodyPr wrap="none" rtlCol="0">
            <a:spAutoFit/>
          </a:bodyPr>
          <a:lstStyle/>
          <a:p>
            <a:endParaRPr lang="en-IN" dirty="0"/>
          </a:p>
        </p:txBody>
      </p:sp>
      <p:pic>
        <p:nvPicPr>
          <p:cNvPr id="4098" name="Picture 2" descr="C:\Users\HP-PC\Desktop\c++\ord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8126" y="1481127"/>
            <a:ext cx="7530366" cy="49815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837365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9584" y="435463"/>
            <a:ext cx="10515600" cy="1325563"/>
          </a:xfrm>
        </p:spPr>
        <p:txBody>
          <a:bodyPr>
            <a:noAutofit/>
          </a:bodyPr>
          <a:lstStyle/>
          <a:p>
            <a:r>
              <a:rPr lang="en-IN" sz="3200" b="1">
                <a:latin typeface="+mn-lt"/>
              </a:rPr>
              <a:t>Example 1</a:t>
            </a:r>
            <a:endParaRPr lang="en-IN" sz="3200" b="1" dirty="0">
              <a:latin typeface="+mn-lt"/>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18</a:t>
            </a:fld>
            <a:endParaRPr lang="en-US"/>
          </a:p>
        </p:txBody>
      </p:sp>
      <p:sp>
        <p:nvSpPr>
          <p:cNvPr id="5" name="TextBox 4"/>
          <p:cNvSpPr txBox="1"/>
          <p:nvPr/>
        </p:nvSpPr>
        <p:spPr>
          <a:xfrm>
            <a:off x="937846" y="1735015"/>
            <a:ext cx="3559821" cy="4801314"/>
          </a:xfrm>
          <a:prstGeom prst="rect">
            <a:avLst/>
          </a:prstGeom>
          <a:noFill/>
        </p:spPr>
        <p:txBody>
          <a:bodyPr wrap="none" rtlCol="0">
            <a:spAutoFit/>
          </a:bodyPr>
          <a:lstStyle/>
          <a:p>
            <a:r>
              <a:rPr lang="en-IN" dirty="0"/>
              <a:t>#include&lt;</a:t>
            </a:r>
            <a:r>
              <a:rPr lang="en-IN" dirty="0" err="1"/>
              <a:t>iostream</a:t>
            </a:r>
            <a:r>
              <a:rPr lang="en-IN" dirty="0"/>
              <a:t>&gt;</a:t>
            </a:r>
            <a:br>
              <a:rPr lang="en-IN" dirty="0"/>
            </a:br>
            <a:r>
              <a:rPr lang="en-IN" dirty="0"/>
              <a:t>using namespace </a:t>
            </a:r>
            <a:r>
              <a:rPr lang="en-IN" dirty="0" err="1"/>
              <a:t>std</a:t>
            </a:r>
            <a:r>
              <a:rPr lang="en-IN" dirty="0"/>
              <a:t>;</a:t>
            </a:r>
            <a:br>
              <a:rPr lang="en-IN" dirty="0"/>
            </a:br>
            <a:r>
              <a:rPr lang="en-IN" dirty="0"/>
              <a:t/>
            </a:r>
            <a:br>
              <a:rPr lang="en-IN" dirty="0"/>
            </a:br>
            <a:r>
              <a:rPr lang="en-IN" dirty="0"/>
              <a:t>class parent //parent class</a:t>
            </a:r>
            <a:br>
              <a:rPr lang="en-IN" dirty="0"/>
            </a:br>
            <a:r>
              <a:rPr lang="en-IN" dirty="0"/>
              <a:t>{</a:t>
            </a:r>
            <a:br>
              <a:rPr lang="en-IN" dirty="0"/>
            </a:br>
            <a:r>
              <a:rPr lang="en-IN" dirty="0"/>
              <a:t>public:</a:t>
            </a:r>
            <a:br>
              <a:rPr lang="en-IN" dirty="0"/>
            </a:br>
            <a:r>
              <a:rPr lang="en-IN" dirty="0"/>
              <a:t>parent() //constructor</a:t>
            </a:r>
            <a:br>
              <a:rPr lang="en-IN" dirty="0"/>
            </a:br>
            <a:r>
              <a:rPr lang="en-IN" dirty="0"/>
              <a:t>{</a:t>
            </a:r>
            <a:br>
              <a:rPr lang="en-IN" dirty="0"/>
            </a:br>
            <a:r>
              <a:rPr lang="en-IN" dirty="0" err="1"/>
              <a:t>cout</a:t>
            </a:r>
            <a:r>
              <a:rPr lang="en-IN" dirty="0"/>
              <a:t>&lt;&lt;"Parent class Constructor\n";</a:t>
            </a:r>
            <a:br>
              <a:rPr lang="en-IN" dirty="0"/>
            </a:br>
            <a:r>
              <a:rPr lang="en-IN" dirty="0"/>
              <a:t>}</a:t>
            </a:r>
            <a:br>
              <a:rPr lang="en-IN" dirty="0"/>
            </a:br>
            <a:r>
              <a:rPr lang="en-IN" dirty="0"/>
              <a:t/>
            </a:r>
            <a:br>
              <a:rPr lang="en-IN" dirty="0"/>
            </a:br>
            <a:r>
              <a:rPr lang="en-IN" dirty="0"/>
              <a:t>~parent()//destructor</a:t>
            </a:r>
            <a:br>
              <a:rPr lang="en-IN" dirty="0"/>
            </a:br>
            <a:r>
              <a:rPr lang="en-IN" dirty="0"/>
              <a:t>{</a:t>
            </a:r>
            <a:br>
              <a:rPr lang="en-IN" dirty="0"/>
            </a:br>
            <a:r>
              <a:rPr lang="en-IN" dirty="0" err="1"/>
              <a:t>cout</a:t>
            </a:r>
            <a:r>
              <a:rPr lang="en-IN" dirty="0"/>
              <a:t>&lt;&lt;"Parent class Destructor\n";</a:t>
            </a:r>
            <a:br>
              <a:rPr lang="en-IN" dirty="0"/>
            </a:br>
            <a:r>
              <a:rPr lang="en-IN" dirty="0"/>
              <a:t>}</a:t>
            </a:r>
            <a:br>
              <a:rPr lang="en-IN" dirty="0"/>
            </a:br>
            <a:r>
              <a:rPr lang="en-IN" dirty="0"/>
              <a:t>};</a:t>
            </a:r>
            <a:br>
              <a:rPr lang="en-IN" dirty="0"/>
            </a:br>
            <a:endParaRPr lang="en-IN" dirty="0"/>
          </a:p>
        </p:txBody>
      </p:sp>
      <p:sp>
        <p:nvSpPr>
          <p:cNvPr id="6" name="TextBox 5"/>
          <p:cNvSpPr txBox="1"/>
          <p:nvPr/>
        </p:nvSpPr>
        <p:spPr>
          <a:xfrm>
            <a:off x="6717323" y="1992923"/>
            <a:ext cx="184731" cy="369332"/>
          </a:xfrm>
          <a:prstGeom prst="rect">
            <a:avLst/>
          </a:prstGeom>
          <a:noFill/>
        </p:spPr>
        <p:txBody>
          <a:bodyPr wrap="none" rtlCol="0">
            <a:spAutoFit/>
          </a:bodyPr>
          <a:lstStyle/>
          <a:p>
            <a:endParaRPr lang="en-IN" dirty="0"/>
          </a:p>
        </p:txBody>
      </p:sp>
      <p:sp>
        <p:nvSpPr>
          <p:cNvPr id="8" name="TextBox 7"/>
          <p:cNvSpPr txBox="1"/>
          <p:nvPr/>
        </p:nvSpPr>
        <p:spPr>
          <a:xfrm>
            <a:off x="6550360" y="1735015"/>
            <a:ext cx="3049617" cy="3970318"/>
          </a:xfrm>
          <a:prstGeom prst="rect">
            <a:avLst/>
          </a:prstGeom>
          <a:noFill/>
        </p:spPr>
        <p:txBody>
          <a:bodyPr wrap="none" rtlCol="0">
            <a:spAutoFit/>
          </a:bodyPr>
          <a:lstStyle/>
          <a:p>
            <a:r>
              <a:rPr lang="en-IN" dirty="0"/>
              <a:t/>
            </a:r>
            <a:br>
              <a:rPr lang="en-IN" dirty="0"/>
            </a:br>
            <a:r>
              <a:rPr lang="en-IN" dirty="0" err="1"/>
              <a:t>int</a:t>
            </a:r>
            <a:r>
              <a:rPr lang="en-IN" dirty="0"/>
              <a:t> main()</a:t>
            </a:r>
            <a:br>
              <a:rPr lang="en-IN" dirty="0"/>
            </a:br>
            <a:r>
              <a:rPr lang="en-IN" dirty="0"/>
              <a:t>{</a:t>
            </a:r>
            <a:br>
              <a:rPr lang="en-IN" dirty="0"/>
            </a:br>
            <a:r>
              <a:rPr lang="en-IN" dirty="0"/>
              <a:t/>
            </a:r>
            <a:br>
              <a:rPr lang="en-IN" dirty="0"/>
            </a:br>
            <a:r>
              <a:rPr lang="en-IN" dirty="0"/>
              <a:t>parent c;</a:t>
            </a:r>
          </a:p>
          <a:p>
            <a:r>
              <a:rPr lang="en-IN" dirty="0"/>
              <a:t>//automatically executes</a:t>
            </a:r>
          </a:p>
          <a:p>
            <a:r>
              <a:rPr lang="en-IN" dirty="0"/>
              <a:t>//parent class </a:t>
            </a:r>
          </a:p>
          <a:p>
            <a:r>
              <a:rPr lang="en-IN" dirty="0"/>
              <a:t>//constructors and destructors</a:t>
            </a:r>
          </a:p>
          <a:p>
            <a:r>
              <a:rPr lang="en-IN" dirty="0"/>
              <a:t>// because of inheritance</a:t>
            </a:r>
            <a:br>
              <a:rPr lang="en-IN" dirty="0"/>
            </a:br>
            <a:r>
              <a:rPr lang="en-IN" dirty="0"/>
              <a:t/>
            </a:r>
            <a:br>
              <a:rPr lang="en-IN" dirty="0"/>
            </a:br>
            <a:r>
              <a:rPr lang="en-IN" dirty="0"/>
              <a:t>return 0;</a:t>
            </a:r>
            <a:br>
              <a:rPr lang="en-IN" dirty="0"/>
            </a:br>
            <a:r>
              <a:rPr lang="en-IN" dirty="0"/>
              <a:t>}</a:t>
            </a:r>
          </a:p>
          <a:p>
            <a:endParaRPr lang="en-IN" dirty="0"/>
          </a:p>
          <a:p>
            <a:endParaRPr lang="en-IN" dirty="0"/>
          </a:p>
        </p:txBody>
      </p:sp>
      <p:sp>
        <p:nvSpPr>
          <p:cNvPr id="9" name="TextBox 8"/>
          <p:cNvSpPr txBox="1"/>
          <p:nvPr/>
        </p:nvSpPr>
        <p:spPr>
          <a:xfrm>
            <a:off x="6084278" y="5357446"/>
            <a:ext cx="2505366" cy="923330"/>
          </a:xfrm>
          <a:prstGeom prst="rect">
            <a:avLst/>
          </a:prstGeom>
          <a:noFill/>
        </p:spPr>
        <p:txBody>
          <a:bodyPr wrap="none" rtlCol="0">
            <a:spAutoFit/>
          </a:bodyPr>
          <a:lstStyle/>
          <a:p>
            <a:r>
              <a:rPr lang="en-IN" b="1" dirty="0"/>
              <a:t>Output:-</a:t>
            </a:r>
          </a:p>
          <a:p>
            <a:r>
              <a:rPr lang="en-IN" dirty="0"/>
              <a:t>Parent class Constructor </a:t>
            </a:r>
            <a:br>
              <a:rPr lang="en-IN" dirty="0"/>
            </a:br>
            <a:r>
              <a:rPr lang="en-IN" dirty="0"/>
              <a:t>Parent class Destructor </a:t>
            </a:r>
          </a:p>
        </p:txBody>
      </p:sp>
    </p:spTree>
    <p:extLst>
      <p:ext uri="{BB962C8B-B14F-4D97-AF65-F5344CB8AC3E}">
        <p14:creationId xmlns:p14="http://schemas.microsoft.com/office/powerpoint/2010/main" val="785234701"/>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9584" y="435463"/>
            <a:ext cx="10515600" cy="1325563"/>
          </a:xfrm>
        </p:spPr>
        <p:txBody>
          <a:bodyPr>
            <a:normAutofit/>
          </a:bodyPr>
          <a:lstStyle/>
          <a:p>
            <a:r>
              <a:rPr lang="en-IN" sz="3200" b="1" dirty="0">
                <a:latin typeface="+mn-lt"/>
              </a:rPr>
              <a:t>Example 2 using Inheritance</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19</a:t>
            </a:fld>
            <a:endParaRPr lang="en-US"/>
          </a:p>
        </p:txBody>
      </p:sp>
      <p:sp>
        <p:nvSpPr>
          <p:cNvPr id="5" name="TextBox 4"/>
          <p:cNvSpPr txBox="1"/>
          <p:nvPr/>
        </p:nvSpPr>
        <p:spPr>
          <a:xfrm>
            <a:off x="644769" y="1579711"/>
            <a:ext cx="3559821" cy="4801314"/>
          </a:xfrm>
          <a:prstGeom prst="rect">
            <a:avLst/>
          </a:prstGeom>
          <a:noFill/>
        </p:spPr>
        <p:txBody>
          <a:bodyPr wrap="none" rtlCol="0">
            <a:spAutoFit/>
          </a:bodyPr>
          <a:lstStyle/>
          <a:p>
            <a:r>
              <a:rPr lang="en-IN" dirty="0"/>
              <a:t>#include&lt;</a:t>
            </a:r>
            <a:r>
              <a:rPr lang="en-IN" dirty="0" err="1"/>
              <a:t>iostream</a:t>
            </a:r>
            <a:r>
              <a:rPr lang="en-IN" dirty="0"/>
              <a:t>&gt;</a:t>
            </a:r>
            <a:br>
              <a:rPr lang="en-IN" dirty="0"/>
            </a:br>
            <a:r>
              <a:rPr lang="en-IN" dirty="0"/>
              <a:t>using namespace </a:t>
            </a:r>
            <a:r>
              <a:rPr lang="en-IN" dirty="0" err="1"/>
              <a:t>std</a:t>
            </a:r>
            <a:r>
              <a:rPr lang="en-IN" dirty="0"/>
              <a:t>;</a:t>
            </a:r>
            <a:br>
              <a:rPr lang="en-IN" dirty="0"/>
            </a:br>
            <a:r>
              <a:rPr lang="en-IN" dirty="0"/>
              <a:t/>
            </a:r>
            <a:br>
              <a:rPr lang="en-IN" dirty="0"/>
            </a:br>
            <a:r>
              <a:rPr lang="en-IN" dirty="0"/>
              <a:t>class parent//parent class</a:t>
            </a:r>
            <a:br>
              <a:rPr lang="en-IN" dirty="0"/>
            </a:br>
            <a:r>
              <a:rPr lang="en-IN" dirty="0"/>
              <a:t>{</a:t>
            </a:r>
            <a:br>
              <a:rPr lang="en-IN" dirty="0"/>
            </a:br>
            <a:r>
              <a:rPr lang="en-IN" dirty="0"/>
              <a:t>public:</a:t>
            </a:r>
            <a:br>
              <a:rPr lang="en-IN" dirty="0"/>
            </a:br>
            <a:r>
              <a:rPr lang="en-IN" dirty="0"/>
              <a:t>parent()//constructor</a:t>
            </a:r>
            <a:br>
              <a:rPr lang="en-IN" dirty="0"/>
            </a:br>
            <a:r>
              <a:rPr lang="en-IN" dirty="0"/>
              <a:t>{</a:t>
            </a:r>
            <a:br>
              <a:rPr lang="en-IN" dirty="0"/>
            </a:br>
            <a:r>
              <a:rPr lang="en-IN" dirty="0" err="1"/>
              <a:t>cout</a:t>
            </a:r>
            <a:r>
              <a:rPr lang="en-IN" dirty="0"/>
              <a:t>&lt;&lt;"Parent class Constructor\n";</a:t>
            </a:r>
            <a:br>
              <a:rPr lang="en-IN" dirty="0"/>
            </a:br>
            <a:r>
              <a:rPr lang="en-IN" dirty="0"/>
              <a:t>}</a:t>
            </a:r>
            <a:br>
              <a:rPr lang="en-IN" dirty="0"/>
            </a:br>
            <a:r>
              <a:rPr lang="en-IN" dirty="0"/>
              <a:t/>
            </a:r>
            <a:br>
              <a:rPr lang="en-IN" dirty="0"/>
            </a:br>
            <a:r>
              <a:rPr lang="en-IN" dirty="0"/>
              <a:t>~parent()//destructor</a:t>
            </a:r>
            <a:br>
              <a:rPr lang="en-IN" dirty="0"/>
            </a:br>
            <a:r>
              <a:rPr lang="en-IN" dirty="0"/>
              <a:t>{</a:t>
            </a:r>
            <a:br>
              <a:rPr lang="en-IN" dirty="0"/>
            </a:br>
            <a:r>
              <a:rPr lang="en-IN" dirty="0" err="1"/>
              <a:t>cout</a:t>
            </a:r>
            <a:r>
              <a:rPr lang="en-IN" dirty="0"/>
              <a:t>&lt;&lt;"Parent class Destructor\n";</a:t>
            </a:r>
            <a:br>
              <a:rPr lang="en-IN" dirty="0"/>
            </a:br>
            <a:r>
              <a:rPr lang="en-IN" dirty="0"/>
              <a:t>}</a:t>
            </a:r>
            <a:br>
              <a:rPr lang="en-IN" dirty="0"/>
            </a:br>
            <a:r>
              <a:rPr lang="en-IN" dirty="0"/>
              <a:t>};</a:t>
            </a:r>
            <a:br>
              <a:rPr lang="en-IN" dirty="0"/>
            </a:br>
            <a:endParaRPr lang="en-IN" dirty="0"/>
          </a:p>
        </p:txBody>
      </p:sp>
      <p:sp>
        <p:nvSpPr>
          <p:cNvPr id="6" name="TextBox 5"/>
          <p:cNvSpPr txBox="1"/>
          <p:nvPr/>
        </p:nvSpPr>
        <p:spPr>
          <a:xfrm>
            <a:off x="6717323" y="1992923"/>
            <a:ext cx="184731" cy="369332"/>
          </a:xfrm>
          <a:prstGeom prst="rect">
            <a:avLst/>
          </a:prstGeom>
          <a:noFill/>
        </p:spPr>
        <p:txBody>
          <a:bodyPr wrap="none" rtlCol="0">
            <a:spAutoFit/>
          </a:bodyPr>
          <a:lstStyle/>
          <a:p>
            <a:endParaRPr lang="en-IN" dirty="0"/>
          </a:p>
        </p:txBody>
      </p:sp>
      <p:sp>
        <p:nvSpPr>
          <p:cNvPr id="7" name="TextBox 6"/>
          <p:cNvSpPr txBox="1"/>
          <p:nvPr/>
        </p:nvSpPr>
        <p:spPr>
          <a:xfrm>
            <a:off x="4497667" y="1302712"/>
            <a:ext cx="3653885" cy="4524315"/>
          </a:xfrm>
          <a:prstGeom prst="rect">
            <a:avLst/>
          </a:prstGeom>
          <a:noFill/>
        </p:spPr>
        <p:txBody>
          <a:bodyPr wrap="none" rtlCol="0">
            <a:spAutoFit/>
          </a:bodyPr>
          <a:lstStyle/>
          <a:p>
            <a:r>
              <a:rPr lang="en-IN" dirty="0"/>
              <a:t/>
            </a:r>
            <a:br>
              <a:rPr lang="en-IN" dirty="0"/>
            </a:br>
            <a:r>
              <a:rPr lang="en-IN" dirty="0"/>
              <a:t>class child : public parent//child class</a:t>
            </a:r>
            <a:br>
              <a:rPr lang="en-IN" dirty="0"/>
            </a:br>
            <a:r>
              <a:rPr lang="en-IN" dirty="0"/>
              <a:t>{</a:t>
            </a:r>
            <a:br>
              <a:rPr lang="en-IN" dirty="0"/>
            </a:br>
            <a:r>
              <a:rPr lang="en-IN" dirty="0"/>
              <a:t/>
            </a:r>
            <a:br>
              <a:rPr lang="en-IN" dirty="0"/>
            </a:br>
            <a:r>
              <a:rPr lang="en-IN" dirty="0"/>
              <a:t>public:</a:t>
            </a:r>
            <a:br>
              <a:rPr lang="en-IN" dirty="0"/>
            </a:br>
            <a:r>
              <a:rPr lang="en-IN" dirty="0"/>
              <a:t>child() //constructor</a:t>
            </a:r>
            <a:br>
              <a:rPr lang="en-IN" dirty="0"/>
            </a:br>
            <a:r>
              <a:rPr lang="en-IN" dirty="0"/>
              <a:t>{</a:t>
            </a:r>
            <a:br>
              <a:rPr lang="en-IN" dirty="0"/>
            </a:br>
            <a:r>
              <a:rPr lang="en-IN" dirty="0" err="1"/>
              <a:t>cout</a:t>
            </a:r>
            <a:r>
              <a:rPr lang="en-IN" dirty="0"/>
              <a:t>&lt;&lt;"Child class Constructor\n";</a:t>
            </a:r>
            <a:br>
              <a:rPr lang="en-IN" dirty="0"/>
            </a:br>
            <a:r>
              <a:rPr lang="en-IN" dirty="0"/>
              <a:t>}</a:t>
            </a:r>
            <a:br>
              <a:rPr lang="en-IN" dirty="0"/>
            </a:br>
            <a:r>
              <a:rPr lang="en-IN" dirty="0"/>
              <a:t/>
            </a:r>
            <a:br>
              <a:rPr lang="en-IN" dirty="0"/>
            </a:br>
            <a:r>
              <a:rPr lang="en-IN" dirty="0"/>
              <a:t>~ child() //destructor</a:t>
            </a:r>
            <a:br>
              <a:rPr lang="en-IN" dirty="0"/>
            </a:br>
            <a:r>
              <a:rPr lang="en-IN" dirty="0"/>
              <a:t>{</a:t>
            </a:r>
            <a:br>
              <a:rPr lang="en-IN" dirty="0"/>
            </a:br>
            <a:r>
              <a:rPr lang="en-IN" dirty="0" err="1"/>
              <a:t>cout</a:t>
            </a:r>
            <a:r>
              <a:rPr lang="en-IN" dirty="0"/>
              <a:t>&lt;&lt;"Child class Destructor\n";</a:t>
            </a:r>
            <a:br>
              <a:rPr lang="en-IN" dirty="0"/>
            </a:br>
            <a:r>
              <a:rPr lang="en-IN" dirty="0"/>
              <a:t>}</a:t>
            </a:r>
            <a:br>
              <a:rPr lang="en-IN" dirty="0"/>
            </a:br>
            <a:r>
              <a:rPr lang="en-IN" dirty="0"/>
              <a:t>};</a:t>
            </a:r>
            <a:br>
              <a:rPr lang="en-IN" dirty="0"/>
            </a:br>
            <a:endParaRPr lang="en-IN" dirty="0"/>
          </a:p>
        </p:txBody>
      </p:sp>
      <p:sp>
        <p:nvSpPr>
          <p:cNvPr id="8" name="TextBox 7"/>
          <p:cNvSpPr txBox="1"/>
          <p:nvPr/>
        </p:nvSpPr>
        <p:spPr>
          <a:xfrm>
            <a:off x="8659638" y="1579711"/>
            <a:ext cx="3049617" cy="3970318"/>
          </a:xfrm>
          <a:prstGeom prst="rect">
            <a:avLst/>
          </a:prstGeom>
          <a:noFill/>
        </p:spPr>
        <p:txBody>
          <a:bodyPr wrap="none" rtlCol="0">
            <a:spAutoFit/>
          </a:bodyPr>
          <a:lstStyle/>
          <a:p>
            <a:r>
              <a:rPr lang="en-IN" dirty="0"/>
              <a:t/>
            </a:r>
            <a:br>
              <a:rPr lang="en-IN" dirty="0"/>
            </a:br>
            <a:r>
              <a:rPr lang="en-IN" dirty="0" err="1"/>
              <a:t>int</a:t>
            </a:r>
            <a:r>
              <a:rPr lang="en-IN" dirty="0"/>
              <a:t> main()</a:t>
            </a:r>
            <a:br>
              <a:rPr lang="en-IN" dirty="0"/>
            </a:br>
            <a:r>
              <a:rPr lang="en-IN" dirty="0"/>
              <a:t>{</a:t>
            </a:r>
            <a:br>
              <a:rPr lang="en-IN" dirty="0"/>
            </a:br>
            <a:r>
              <a:rPr lang="en-IN" dirty="0"/>
              <a:t/>
            </a:r>
            <a:br>
              <a:rPr lang="en-IN" dirty="0"/>
            </a:br>
            <a:r>
              <a:rPr lang="en-IN" dirty="0"/>
              <a:t>child c;</a:t>
            </a:r>
          </a:p>
          <a:p>
            <a:r>
              <a:rPr lang="en-IN" dirty="0"/>
              <a:t>//automatically executes both </a:t>
            </a:r>
          </a:p>
          <a:p>
            <a:r>
              <a:rPr lang="en-IN" dirty="0"/>
              <a:t>//child and parent class </a:t>
            </a:r>
          </a:p>
          <a:p>
            <a:r>
              <a:rPr lang="en-IN" dirty="0"/>
              <a:t>//constructors and destructors</a:t>
            </a:r>
          </a:p>
          <a:p>
            <a:r>
              <a:rPr lang="en-IN" dirty="0"/>
              <a:t>// because of inheritance</a:t>
            </a:r>
            <a:br>
              <a:rPr lang="en-IN" dirty="0"/>
            </a:br>
            <a:r>
              <a:rPr lang="en-IN" dirty="0"/>
              <a:t/>
            </a:r>
            <a:br>
              <a:rPr lang="en-IN" dirty="0"/>
            </a:br>
            <a:r>
              <a:rPr lang="en-IN" dirty="0"/>
              <a:t>return 0;</a:t>
            </a:r>
            <a:br>
              <a:rPr lang="en-IN" dirty="0"/>
            </a:br>
            <a:r>
              <a:rPr lang="en-IN" dirty="0"/>
              <a:t>}</a:t>
            </a:r>
          </a:p>
          <a:p>
            <a:endParaRPr lang="en-IN" dirty="0"/>
          </a:p>
          <a:p>
            <a:endParaRPr lang="en-IN" dirty="0"/>
          </a:p>
        </p:txBody>
      </p:sp>
      <p:sp>
        <p:nvSpPr>
          <p:cNvPr id="3" name="TextBox 2"/>
          <p:cNvSpPr txBox="1"/>
          <p:nvPr/>
        </p:nvSpPr>
        <p:spPr>
          <a:xfrm>
            <a:off x="6717323" y="5205046"/>
            <a:ext cx="2505366" cy="1477328"/>
          </a:xfrm>
          <a:prstGeom prst="rect">
            <a:avLst/>
          </a:prstGeom>
          <a:noFill/>
        </p:spPr>
        <p:txBody>
          <a:bodyPr wrap="none" rtlCol="0">
            <a:spAutoFit/>
          </a:bodyPr>
          <a:lstStyle/>
          <a:p>
            <a:r>
              <a:rPr lang="en-IN" b="1" dirty="0"/>
              <a:t>Output:-</a:t>
            </a:r>
          </a:p>
          <a:p>
            <a:r>
              <a:rPr lang="en-IN" dirty="0"/>
              <a:t>Parent class Constructor </a:t>
            </a:r>
            <a:br>
              <a:rPr lang="en-IN" dirty="0"/>
            </a:br>
            <a:r>
              <a:rPr lang="en-IN" dirty="0"/>
              <a:t>Child class Constructor </a:t>
            </a:r>
            <a:br>
              <a:rPr lang="en-IN" dirty="0"/>
            </a:br>
            <a:r>
              <a:rPr lang="en-IN" dirty="0"/>
              <a:t>Child class Destructor </a:t>
            </a:r>
            <a:br>
              <a:rPr lang="en-IN" dirty="0"/>
            </a:br>
            <a:r>
              <a:rPr lang="en-IN" dirty="0"/>
              <a:t>Parent class Destructor</a:t>
            </a:r>
          </a:p>
        </p:txBody>
      </p:sp>
    </p:spTree>
    <p:extLst>
      <p:ext uri="{BB962C8B-B14F-4D97-AF65-F5344CB8AC3E}">
        <p14:creationId xmlns:p14="http://schemas.microsoft.com/office/powerpoint/2010/main" val="168421236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72F9E2-FFA9-470D-8177-51DABEE80B0B}"/>
              </a:ext>
            </a:extLst>
          </p:cNvPr>
          <p:cNvSpPr>
            <a:spLocks noGrp="1"/>
          </p:cNvSpPr>
          <p:nvPr>
            <p:ph idx="1"/>
          </p:nvPr>
        </p:nvSpPr>
        <p:spPr>
          <a:xfrm>
            <a:off x="781878" y="1152525"/>
            <a:ext cx="11510904" cy="5340350"/>
          </a:xfrm>
        </p:spPr>
        <p:txBody>
          <a:bodyPr>
            <a:normAutofit/>
          </a:bodyPr>
          <a:lstStyle/>
          <a:p>
            <a:endParaRPr lang="en-US" sz="3200" dirty="0"/>
          </a:p>
          <a:p>
            <a:pPr marL="0" indent="0">
              <a:buNone/>
            </a:pPr>
            <a:endParaRPr lang="en-IN" sz="3200" dirty="0"/>
          </a:p>
        </p:txBody>
      </p:sp>
      <p:sp>
        <p:nvSpPr>
          <p:cNvPr id="4" name="Slide Number Placeholder 3">
            <a:extLst>
              <a:ext uri="{FF2B5EF4-FFF2-40B4-BE49-F238E27FC236}">
                <a16:creationId xmlns:a16="http://schemas.microsoft.com/office/drawing/2014/main" id="{42F074E6-5593-499A-999A-A8E6BFB26FEF}"/>
              </a:ext>
            </a:extLst>
          </p:cNvPr>
          <p:cNvSpPr>
            <a:spLocks noGrp="1"/>
          </p:cNvSpPr>
          <p:nvPr>
            <p:ph type="sldNum" sz="quarter" idx="12"/>
          </p:nvPr>
        </p:nvSpPr>
        <p:spPr>
          <a:xfrm>
            <a:off x="9563100" y="6675756"/>
            <a:ext cx="2050344" cy="45719"/>
          </a:xfrm>
        </p:spPr>
        <p:txBody>
          <a:bodyPr/>
          <a:lstStyle/>
          <a:p>
            <a:fld id="{BDCDBBEF-AA6C-4BA6-85B2-A17D7F280E38}" type="slidenum">
              <a:rPr lang="en-US" sz="1400" smtClean="0"/>
              <a:pPr/>
              <a:t>20</a:t>
            </a:fld>
            <a:endParaRPr lang="en-US" sz="1400" dirty="0"/>
          </a:p>
        </p:txBody>
      </p:sp>
      <p:sp>
        <p:nvSpPr>
          <p:cNvPr id="5" name="Flowchart: Sequential Access Storage 4">
            <a:extLst>
              <a:ext uri="{FF2B5EF4-FFF2-40B4-BE49-F238E27FC236}">
                <a16:creationId xmlns:a16="http://schemas.microsoft.com/office/drawing/2014/main" id="{A9A974E1-239B-41FB-8D6A-D0A9F00EB13D}"/>
              </a:ext>
            </a:extLst>
          </p:cNvPr>
          <p:cNvSpPr/>
          <p:nvPr/>
        </p:nvSpPr>
        <p:spPr>
          <a:xfrm>
            <a:off x="1003852" y="138734"/>
            <a:ext cx="2643809" cy="1013791"/>
          </a:xfrm>
          <a:prstGeom prst="flowChartMagneticTap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bg2">
                    <a:lumMod val="10000"/>
                  </a:schemeClr>
                </a:solidFill>
              </a:rPr>
              <a:t>Summary</a:t>
            </a:r>
            <a:endParaRPr lang="en-IN" sz="3200" b="1" dirty="0">
              <a:solidFill>
                <a:schemeClr val="bg2">
                  <a:lumMod val="10000"/>
                </a:schemeClr>
              </a:solidFill>
            </a:endParaRPr>
          </a:p>
        </p:txBody>
      </p:sp>
      <p:graphicFrame>
        <p:nvGraphicFramePr>
          <p:cNvPr id="6" name="Diagram 5">
            <a:extLst>
              <a:ext uri="{FF2B5EF4-FFF2-40B4-BE49-F238E27FC236}">
                <a16:creationId xmlns:a16="http://schemas.microsoft.com/office/drawing/2014/main" id="{A7F6A135-B6D5-40B7-BF67-2E0F4EF47A01}"/>
              </a:ext>
            </a:extLst>
          </p:cNvPr>
          <p:cNvGraphicFramePr/>
          <p:nvPr>
            <p:extLst>
              <p:ext uri="{D42A27DB-BD31-4B8C-83A1-F6EECF244321}">
                <p14:modId xmlns:p14="http://schemas.microsoft.com/office/powerpoint/2010/main" val="2376481816"/>
              </p:ext>
            </p:extLst>
          </p:nvPr>
        </p:nvGraphicFramePr>
        <p:xfrm>
          <a:off x="2088671" y="1300599"/>
          <a:ext cx="8897317"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78795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8E2F6-A89B-465A-A1BD-AB3595FE99C5}"/>
              </a:ext>
            </a:extLst>
          </p:cNvPr>
          <p:cNvSpPr>
            <a:spLocks noGrp="1"/>
          </p:cNvSpPr>
          <p:nvPr>
            <p:ph type="title"/>
          </p:nvPr>
        </p:nvSpPr>
        <p:spPr/>
        <p:txBody>
          <a:bodyPr/>
          <a:lstStyle/>
          <a:p>
            <a:r>
              <a:rPr lang="en-US" b="1" dirty="0"/>
              <a:t>Frequently Asked question</a:t>
            </a:r>
            <a:endParaRPr lang="en-IN" b="1" dirty="0"/>
          </a:p>
        </p:txBody>
      </p:sp>
      <p:sp>
        <p:nvSpPr>
          <p:cNvPr id="3" name="Content Placeholder 2">
            <a:extLst>
              <a:ext uri="{FF2B5EF4-FFF2-40B4-BE49-F238E27FC236}">
                <a16:creationId xmlns:a16="http://schemas.microsoft.com/office/drawing/2014/main" id="{7E006E3E-5DF9-4790-B5C6-ECD785B8D0E7}"/>
              </a:ext>
            </a:extLst>
          </p:cNvPr>
          <p:cNvSpPr>
            <a:spLocks noGrp="1"/>
          </p:cNvSpPr>
          <p:nvPr>
            <p:ph idx="1"/>
          </p:nvPr>
        </p:nvSpPr>
        <p:spPr>
          <a:xfrm>
            <a:off x="447261" y="1690688"/>
            <a:ext cx="11443251" cy="4351338"/>
          </a:xfrm>
        </p:spPr>
        <p:txBody>
          <a:bodyPr>
            <a:normAutofit fontScale="92500" lnSpcReduction="10000"/>
          </a:bodyPr>
          <a:lstStyle/>
          <a:p>
            <a:pPr marL="0" indent="0" algn="just">
              <a:buNone/>
            </a:pPr>
            <a:r>
              <a:rPr lang="en-IN" b="1" dirty="0"/>
              <a:t>Q1 What is the use of a constructor? </a:t>
            </a:r>
          </a:p>
          <a:p>
            <a:pPr marL="0" indent="0" algn="just">
              <a:buNone/>
            </a:pPr>
            <a:r>
              <a:rPr lang="en-IN" dirty="0"/>
              <a:t/>
            </a:r>
            <a:br>
              <a:rPr lang="en-IN" dirty="0"/>
            </a:br>
            <a:r>
              <a:rPr lang="en-IN" dirty="0"/>
              <a:t>Constructor is a special function having same name as class name. Constructor is called at the time of creating object to your class. Constructor is used to initialize the instance variables of an object while creating it. Constructor is also used to create virtual tables for virtual functions.</a:t>
            </a:r>
          </a:p>
          <a:p>
            <a:pPr marL="0" indent="0" algn="just">
              <a:buNone/>
            </a:pPr>
            <a:endParaRPr lang="en-IN" dirty="0"/>
          </a:p>
          <a:p>
            <a:pPr marL="0" indent="0" algn="just">
              <a:buNone/>
            </a:pPr>
            <a:r>
              <a:rPr lang="en-IN" b="1" dirty="0"/>
              <a:t>Q2 What is the order of constructor execution in C++?</a:t>
            </a:r>
          </a:p>
          <a:p>
            <a:pPr marL="0" indent="0" algn="just">
              <a:buNone/>
            </a:pPr>
            <a:endParaRPr lang="en-IN" dirty="0"/>
          </a:p>
          <a:p>
            <a:pPr marL="0" indent="0" algn="just">
              <a:buNone/>
            </a:pPr>
            <a:r>
              <a:rPr lang="en-IN" dirty="0"/>
              <a:t>First base class constructor is executed and then derived class constructor, so execution happens from top to bottom in inheritance tree.</a:t>
            </a:r>
          </a:p>
        </p:txBody>
      </p:sp>
      <p:sp>
        <p:nvSpPr>
          <p:cNvPr id="4" name="Slide Number Placeholder 3">
            <a:extLst>
              <a:ext uri="{FF2B5EF4-FFF2-40B4-BE49-F238E27FC236}">
                <a16:creationId xmlns:a16="http://schemas.microsoft.com/office/drawing/2014/main" id="{1A7B4CF3-EBCB-4313-9D42-E3317606C387}"/>
              </a:ext>
            </a:extLst>
          </p:cNvPr>
          <p:cNvSpPr>
            <a:spLocks noGrp="1"/>
          </p:cNvSpPr>
          <p:nvPr>
            <p:ph type="sldNum" sz="quarter" idx="12"/>
          </p:nvPr>
        </p:nvSpPr>
        <p:spPr/>
        <p:txBody>
          <a:bodyPr/>
          <a:lstStyle/>
          <a:p>
            <a:fld id="{BDCDBBEF-AA6C-4BA6-85B2-A17D7F280E38}" type="slidenum">
              <a:rPr lang="en-US" smtClean="0"/>
              <a:pPr/>
              <a:t>21</a:t>
            </a:fld>
            <a:endParaRPr lang="en-US"/>
          </a:p>
        </p:txBody>
      </p:sp>
    </p:spTree>
    <p:extLst>
      <p:ext uri="{BB962C8B-B14F-4D97-AF65-F5344CB8AC3E}">
        <p14:creationId xmlns:p14="http://schemas.microsoft.com/office/powerpoint/2010/main" val="128444470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B4B594-F373-4FAE-A658-17A4132BDAC7}"/>
              </a:ext>
            </a:extLst>
          </p:cNvPr>
          <p:cNvSpPr>
            <a:spLocks noGrp="1"/>
          </p:cNvSpPr>
          <p:nvPr>
            <p:ph idx="1"/>
          </p:nvPr>
        </p:nvSpPr>
        <p:spPr>
          <a:xfrm>
            <a:off x="838200" y="838200"/>
            <a:ext cx="10515600" cy="5338763"/>
          </a:xfrm>
        </p:spPr>
        <p:txBody>
          <a:bodyPr>
            <a:normAutofit lnSpcReduction="10000"/>
          </a:bodyPr>
          <a:lstStyle/>
          <a:p>
            <a:pPr marL="0" indent="0">
              <a:buNone/>
            </a:pPr>
            <a:r>
              <a:rPr lang="en-IN" b="1" dirty="0"/>
              <a:t>Q3 What is the order of destructor execution in C++?</a:t>
            </a:r>
            <a:r>
              <a:rPr lang="en-IN" dirty="0"/>
              <a:t/>
            </a:r>
            <a:br>
              <a:rPr lang="en-IN" dirty="0"/>
            </a:br>
            <a:endParaRPr lang="en-IN" dirty="0"/>
          </a:p>
          <a:p>
            <a:pPr marL="0" indent="0">
              <a:buNone/>
            </a:pPr>
            <a:r>
              <a:rPr lang="en-IN" dirty="0"/>
              <a:t>Generally derived class destructor, and then base class destructor. Except in case if we are taking a derived class object into a base class pointer (or reference variable), and we forget to give virtual keyword for base class destructor. See virtual destructor for details.</a:t>
            </a:r>
          </a:p>
          <a:p>
            <a:pPr marL="0" indent="0">
              <a:buNone/>
            </a:pPr>
            <a:endParaRPr lang="en-IN" dirty="0"/>
          </a:p>
          <a:p>
            <a:pPr marL="0" indent="0">
              <a:buNone/>
            </a:pPr>
            <a:r>
              <a:rPr lang="en-IN" b="1" dirty="0"/>
              <a:t>Q4</a:t>
            </a:r>
            <a:r>
              <a:rPr lang="en-IN" dirty="0"/>
              <a:t> </a:t>
            </a:r>
            <a:r>
              <a:rPr lang="en-IN" b="1" dirty="0"/>
              <a:t>Is the default constructor created even if we create any other constructor?</a:t>
            </a:r>
          </a:p>
          <a:p>
            <a:pPr marL="0" indent="0">
              <a:buNone/>
            </a:pPr>
            <a:endParaRPr lang="en-IN" dirty="0"/>
          </a:p>
          <a:p>
            <a:pPr marL="0" indent="0">
              <a:buNone/>
            </a:pPr>
            <a:r>
              <a:rPr lang="en-IN" dirty="0"/>
              <a:t>Constructors are created by default by the compiler if a programmer doesn’t define any constructor explicitly. If the programmer defines a constructor then compiler holds its work and does not define any of it.</a:t>
            </a:r>
          </a:p>
          <a:p>
            <a:pPr marL="0" indent="0">
              <a:buNone/>
            </a:pPr>
            <a:endParaRPr lang="en-IN" dirty="0"/>
          </a:p>
        </p:txBody>
      </p:sp>
      <p:sp>
        <p:nvSpPr>
          <p:cNvPr id="4" name="Slide Number Placeholder 3">
            <a:extLst>
              <a:ext uri="{FF2B5EF4-FFF2-40B4-BE49-F238E27FC236}">
                <a16:creationId xmlns:a16="http://schemas.microsoft.com/office/drawing/2014/main" id="{4D49BC22-1010-4A54-ACD6-4D30AA9A929E}"/>
              </a:ext>
            </a:extLst>
          </p:cNvPr>
          <p:cNvSpPr>
            <a:spLocks noGrp="1"/>
          </p:cNvSpPr>
          <p:nvPr>
            <p:ph type="sldNum" sz="quarter" idx="12"/>
          </p:nvPr>
        </p:nvSpPr>
        <p:spPr/>
        <p:txBody>
          <a:bodyPr/>
          <a:lstStyle/>
          <a:p>
            <a:fld id="{BDCDBBEF-AA6C-4BA6-85B2-A17D7F280E38}" type="slidenum">
              <a:rPr lang="en-US" smtClean="0"/>
              <a:pPr/>
              <a:t>22</a:t>
            </a:fld>
            <a:endParaRPr lang="en-US"/>
          </a:p>
        </p:txBody>
      </p:sp>
    </p:spTree>
    <p:extLst>
      <p:ext uri="{BB962C8B-B14F-4D97-AF65-F5344CB8AC3E}">
        <p14:creationId xmlns:p14="http://schemas.microsoft.com/office/powerpoint/2010/main" val="307530580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1BE98-18FB-4FB3-8B9F-0C785ABEDA0D}"/>
              </a:ext>
            </a:extLst>
          </p:cNvPr>
          <p:cNvSpPr>
            <a:spLocks noGrp="1"/>
          </p:cNvSpPr>
          <p:nvPr>
            <p:ph type="title"/>
          </p:nvPr>
        </p:nvSpPr>
        <p:spPr/>
        <p:txBody>
          <a:bodyPr/>
          <a:lstStyle/>
          <a:p>
            <a:r>
              <a:rPr lang="en-US" b="1" dirty="0"/>
              <a:t>Assessment Questions</a:t>
            </a:r>
            <a:r>
              <a:rPr lang="en-US" dirty="0"/>
              <a:t>:</a:t>
            </a:r>
            <a:endParaRPr lang="en-IN" dirty="0"/>
          </a:p>
        </p:txBody>
      </p:sp>
      <p:sp>
        <p:nvSpPr>
          <p:cNvPr id="4" name="Slide Number Placeholder 3">
            <a:extLst>
              <a:ext uri="{FF2B5EF4-FFF2-40B4-BE49-F238E27FC236}">
                <a16:creationId xmlns:a16="http://schemas.microsoft.com/office/drawing/2014/main" id="{C82694DC-3131-4CF1-80DA-F51EC2FBB8E3}"/>
              </a:ext>
            </a:extLst>
          </p:cNvPr>
          <p:cNvSpPr>
            <a:spLocks noGrp="1"/>
          </p:cNvSpPr>
          <p:nvPr>
            <p:ph type="sldNum" sz="quarter" idx="12"/>
          </p:nvPr>
        </p:nvSpPr>
        <p:spPr/>
        <p:txBody>
          <a:bodyPr/>
          <a:lstStyle/>
          <a:p>
            <a:fld id="{BDCDBBEF-AA6C-4BA6-85B2-A17D7F280E38}" type="slidenum">
              <a:rPr lang="en-US" smtClean="0"/>
              <a:pPr/>
              <a:t>23</a:t>
            </a:fld>
            <a:endParaRPr lang="en-US"/>
          </a:p>
        </p:txBody>
      </p:sp>
      <p:sp>
        <p:nvSpPr>
          <p:cNvPr id="7" name="Content Placeholder 6">
            <a:extLst>
              <a:ext uri="{FF2B5EF4-FFF2-40B4-BE49-F238E27FC236}">
                <a16:creationId xmlns:a16="http://schemas.microsoft.com/office/drawing/2014/main" id="{879F1566-03CD-417B-B4D0-B0BF250D449A}"/>
              </a:ext>
            </a:extLst>
          </p:cNvPr>
          <p:cNvSpPr>
            <a:spLocks noGrp="1"/>
          </p:cNvSpPr>
          <p:nvPr>
            <p:ph idx="1"/>
          </p:nvPr>
        </p:nvSpPr>
        <p:spPr>
          <a:xfrm>
            <a:off x="466725" y="1501774"/>
            <a:ext cx="10515600" cy="4854575"/>
          </a:xfrm>
        </p:spPr>
        <p:txBody>
          <a:bodyPr>
            <a:normAutofit fontScale="25000" lnSpcReduction="20000"/>
          </a:bodyPr>
          <a:lstStyle/>
          <a:p>
            <a:pPr marL="0" indent="0">
              <a:buNone/>
            </a:pPr>
            <a:r>
              <a:rPr lang="en-IN" sz="8000" dirty="0">
                <a:solidFill>
                  <a:srgbClr val="FF0000"/>
                </a:solidFill>
              </a:rPr>
              <a:t>1. Why constructors are efficient instead of a function </a:t>
            </a:r>
            <a:r>
              <a:rPr lang="en-IN" sz="8000" dirty="0" err="1">
                <a:solidFill>
                  <a:srgbClr val="FF0000"/>
                </a:solidFill>
              </a:rPr>
              <a:t>init</a:t>
            </a:r>
            <a:r>
              <a:rPr lang="en-IN" sz="8000" dirty="0">
                <a:solidFill>
                  <a:srgbClr val="FF0000"/>
                </a:solidFill>
              </a:rPr>
              <a:t>() defined by the user to initialize the data members of an object?</a:t>
            </a:r>
          </a:p>
          <a:p>
            <a:pPr marL="0" indent="0">
              <a:buNone/>
            </a:pPr>
            <a:r>
              <a:rPr lang="en-IN" sz="8000" dirty="0">
                <a:solidFill>
                  <a:srgbClr val="FF0000"/>
                </a:solidFill>
              </a:rPr>
              <a:t/>
            </a:r>
            <a:br>
              <a:rPr lang="en-IN" sz="8000" dirty="0">
                <a:solidFill>
                  <a:srgbClr val="FF0000"/>
                </a:solidFill>
              </a:rPr>
            </a:br>
            <a:r>
              <a:rPr lang="en-IN" sz="8000" dirty="0">
                <a:solidFill>
                  <a:srgbClr val="FF0000"/>
                </a:solidFill>
              </a:rPr>
              <a:t>a) Because user may forget to call </a:t>
            </a:r>
            <a:r>
              <a:rPr lang="en-IN" sz="8000" dirty="0" err="1">
                <a:solidFill>
                  <a:srgbClr val="FF0000"/>
                </a:solidFill>
              </a:rPr>
              <a:t>init</a:t>
            </a:r>
            <a:r>
              <a:rPr lang="en-IN" sz="8000" dirty="0">
                <a:solidFill>
                  <a:srgbClr val="FF0000"/>
                </a:solidFill>
              </a:rPr>
              <a:t>() using that object leading segmentation fault</a:t>
            </a:r>
            <a:br>
              <a:rPr lang="en-IN" sz="8000" dirty="0">
                <a:solidFill>
                  <a:srgbClr val="FF0000"/>
                </a:solidFill>
              </a:rPr>
            </a:br>
            <a:r>
              <a:rPr lang="en-IN" sz="8000" dirty="0">
                <a:solidFill>
                  <a:srgbClr val="FF0000"/>
                </a:solidFill>
              </a:rPr>
              <a:t>b) Because user may call </a:t>
            </a:r>
            <a:r>
              <a:rPr lang="en-IN" sz="8000" dirty="0" err="1">
                <a:solidFill>
                  <a:srgbClr val="FF0000"/>
                </a:solidFill>
              </a:rPr>
              <a:t>init</a:t>
            </a:r>
            <a:r>
              <a:rPr lang="en-IN" sz="8000" dirty="0">
                <a:solidFill>
                  <a:srgbClr val="FF0000"/>
                </a:solidFill>
              </a:rPr>
              <a:t>() more than once which leads to overwriting values</a:t>
            </a:r>
            <a:br>
              <a:rPr lang="en-IN" sz="8000" dirty="0">
                <a:solidFill>
                  <a:srgbClr val="FF0000"/>
                </a:solidFill>
              </a:rPr>
            </a:br>
            <a:r>
              <a:rPr lang="en-IN" sz="8000" dirty="0">
                <a:solidFill>
                  <a:srgbClr val="FF0000"/>
                </a:solidFill>
              </a:rPr>
              <a:t>c) Because user may forget to define </a:t>
            </a:r>
            <a:r>
              <a:rPr lang="en-IN" sz="8000" dirty="0" err="1">
                <a:solidFill>
                  <a:srgbClr val="FF0000"/>
                </a:solidFill>
              </a:rPr>
              <a:t>init</a:t>
            </a:r>
            <a:r>
              <a:rPr lang="en-IN" sz="8000" dirty="0">
                <a:solidFill>
                  <a:srgbClr val="FF0000"/>
                </a:solidFill>
              </a:rPr>
              <a:t>() function</a:t>
            </a:r>
            <a:br>
              <a:rPr lang="en-IN" sz="8000" dirty="0">
                <a:solidFill>
                  <a:srgbClr val="FF0000"/>
                </a:solidFill>
              </a:rPr>
            </a:br>
            <a:r>
              <a:rPr lang="en-IN" sz="8000" dirty="0">
                <a:solidFill>
                  <a:srgbClr val="FF0000"/>
                </a:solidFill>
              </a:rPr>
              <a:t>d) All of the mentioned</a:t>
            </a:r>
          </a:p>
          <a:p>
            <a:pPr marL="0" indent="0">
              <a:buNone/>
            </a:pPr>
            <a:endParaRPr lang="en-US" sz="8000" dirty="0">
              <a:solidFill>
                <a:srgbClr val="FF0000"/>
              </a:solidFill>
            </a:endParaRPr>
          </a:p>
          <a:p>
            <a:pPr marL="0" indent="0">
              <a:buNone/>
            </a:pPr>
            <a:r>
              <a:rPr lang="en-US" sz="8000" dirty="0">
                <a:solidFill>
                  <a:srgbClr val="FF0000"/>
                </a:solidFill>
              </a:rPr>
              <a:t>2. </a:t>
            </a:r>
            <a:r>
              <a:rPr lang="en-IN" sz="8000" dirty="0">
                <a:solidFill>
                  <a:srgbClr val="FF0000"/>
                </a:solidFill>
              </a:rPr>
              <a:t>What is a copy constructor?</a:t>
            </a:r>
          </a:p>
          <a:p>
            <a:pPr marL="0" indent="0">
              <a:buNone/>
            </a:pPr>
            <a:r>
              <a:rPr lang="en-IN" sz="8000" dirty="0">
                <a:solidFill>
                  <a:srgbClr val="FF0000"/>
                </a:solidFill>
              </a:rPr>
              <a:t/>
            </a:r>
            <a:br>
              <a:rPr lang="en-IN" sz="8000" dirty="0">
                <a:solidFill>
                  <a:srgbClr val="FF0000"/>
                </a:solidFill>
              </a:rPr>
            </a:br>
            <a:r>
              <a:rPr lang="en-IN" sz="8000" dirty="0">
                <a:solidFill>
                  <a:srgbClr val="FF0000"/>
                </a:solidFill>
              </a:rPr>
              <a:t>a) A constructor that allows a user to move data from one object to another</a:t>
            </a:r>
            <a:br>
              <a:rPr lang="en-IN" sz="8000" dirty="0">
                <a:solidFill>
                  <a:srgbClr val="FF0000"/>
                </a:solidFill>
              </a:rPr>
            </a:br>
            <a:r>
              <a:rPr lang="en-IN" sz="8000" dirty="0">
                <a:solidFill>
                  <a:srgbClr val="FF0000"/>
                </a:solidFill>
              </a:rPr>
              <a:t>b) A constructor to initialize an object with the values of another object</a:t>
            </a:r>
            <a:br>
              <a:rPr lang="en-IN" sz="8000" dirty="0">
                <a:solidFill>
                  <a:srgbClr val="FF0000"/>
                </a:solidFill>
              </a:rPr>
            </a:br>
            <a:r>
              <a:rPr lang="en-IN" sz="8000" dirty="0">
                <a:solidFill>
                  <a:srgbClr val="FF0000"/>
                </a:solidFill>
              </a:rPr>
              <a:t>c) A constructor to check the whether to objects are equal or not</a:t>
            </a:r>
            <a:br>
              <a:rPr lang="en-IN" sz="8000" dirty="0">
                <a:solidFill>
                  <a:srgbClr val="FF0000"/>
                </a:solidFill>
              </a:rPr>
            </a:br>
            <a:r>
              <a:rPr lang="en-IN" sz="8000" dirty="0">
                <a:solidFill>
                  <a:srgbClr val="FF0000"/>
                </a:solidFill>
              </a:rPr>
              <a:t>d) A constructor to kill other copies of a given object.</a:t>
            </a:r>
          </a:p>
          <a:p>
            <a:pPr marL="0" indent="0">
              <a:buNone/>
            </a:pPr>
            <a:r>
              <a:rPr lang="en-US" sz="6200" dirty="0">
                <a:solidFill>
                  <a:srgbClr val="C00000"/>
                </a:solidFill>
              </a:rPr>
              <a:t/>
            </a:r>
            <a:br>
              <a:rPr lang="en-US" sz="6200" dirty="0">
                <a:solidFill>
                  <a:srgbClr val="C00000"/>
                </a:solidFill>
              </a:rPr>
            </a:br>
            <a:endParaRPr lang="en-US" sz="6200" dirty="0">
              <a:solidFill>
                <a:srgbClr val="C00000"/>
              </a:solidFill>
            </a:endParaRPr>
          </a:p>
          <a:p>
            <a:pPr marL="0" indent="0">
              <a:buNone/>
            </a:pPr>
            <a:r>
              <a:rPr lang="en-US" sz="6200" dirty="0">
                <a:solidFill>
                  <a:srgbClr val="C00000"/>
                </a:solidFill>
              </a:rPr>
              <a:t/>
            </a:r>
            <a:br>
              <a:rPr lang="en-US" sz="6200" dirty="0">
                <a:solidFill>
                  <a:srgbClr val="C00000"/>
                </a:solidFill>
              </a:rPr>
            </a:br>
            <a:endParaRPr lang="en-IN" dirty="0">
              <a:solidFill>
                <a:srgbClr val="C00000"/>
              </a:solidFill>
            </a:endParaRPr>
          </a:p>
        </p:txBody>
      </p:sp>
    </p:spTree>
    <p:extLst>
      <p:ext uri="{BB962C8B-B14F-4D97-AF65-F5344CB8AC3E}">
        <p14:creationId xmlns:p14="http://schemas.microsoft.com/office/powerpoint/2010/main" val="1289346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67124EF-F8EA-4921-9976-B9A80A2112F5}"/>
              </a:ext>
            </a:extLst>
          </p:cNvPr>
          <p:cNvSpPr>
            <a:spLocks noGrp="1"/>
          </p:cNvSpPr>
          <p:nvPr>
            <p:ph type="sldNum" sz="quarter" idx="12"/>
          </p:nvPr>
        </p:nvSpPr>
        <p:spPr/>
        <p:txBody>
          <a:bodyPr/>
          <a:lstStyle/>
          <a:p>
            <a:fld id="{BDCDBBEF-AA6C-4BA6-85B2-A17D7F280E38}" type="slidenum">
              <a:rPr lang="en-US" smtClean="0"/>
              <a:pPr/>
              <a:t>24</a:t>
            </a:fld>
            <a:endParaRPr lang="en-US"/>
          </a:p>
        </p:txBody>
      </p:sp>
      <p:sp>
        <p:nvSpPr>
          <p:cNvPr id="2" name="Rectangle 1">
            <a:extLst>
              <a:ext uri="{FF2B5EF4-FFF2-40B4-BE49-F238E27FC236}">
                <a16:creationId xmlns:a16="http://schemas.microsoft.com/office/drawing/2014/main" id="{AA9EE1F6-906F-4246-88DA-D2EC0433E995}"/>
              </a:ext>
            </a:extLst>
          </p:cNvPr>
          <p:cNvSpPr/>
          <p:nvPr/>
        </p:nvSpPr>
        <p:spPr>
          <a:xfrm>
            <a:off x="838200" y="352603"/>
            <a:ext cx="10791825" cy="5016758"/>
          </a:xfrm>
          <a:prstGeom prst="rect">
            <a:avLst/>
          </a:prstGeom>
        </p:spPr>
        <p:txBody>
          <a:bodyPr wrap="square">
            <a:spAutoFit/>
          </a:bodyPr>
          <a:lstStyle/>
          <a:p>
            <a:r>
              <a:rPr lang="en-US" sz="2000" dirty="0">
                <a:solidFill>
                  <a:srgbClr val="FF0000"/>
                </a:solidFill>
              </a:rPr>
              <a:t>3. </a:t>
            </a:r>
            <a:r>
              <a:rPr lang="en-IN" sz="2000" dirty="0">
                <a:solidFill>
                  <a:srgbClr val="FF0000"/>
                </a:solidFill>
              </a:rPr>
              <a:t>What happens if a user forgets to define a constructor inside a class?</a:t>
            </a:r>
          </a:p>
          <a:p>
            <a:r>
              <a:rPr lang="en-IN" sz="2000" dirty="0">
                <a:solidFill>
                  <a:srgbClr val="FF0000"/>
                </a:solidFill>
              </a:rPr>
              <a:t/>
            </a:r>
            <a:br>
              <a:rPr lang="en-IN" sz="2000" dirty="0">
                <a:solidFill>
                  <a:srgbClr val="FF0000"/>
                </a:solidFill>
              </a:rPr>
            </a:br>
            <a:r>
              <a:rPr lang="en-IN" sz="2000" dirty="0">
                <a:solidFill>
                  <a:srgbClr val="FF0000"/>
                </a:solidFill>
              </a:rPr>
              <a:t>a) Error occurs</a:t>
            </a:r>
            <a:br>
              <a:rPr lang="en-IN" sz="2000" dirty="0">
                <a:solidFill>
                  <a:srgbClr val="FF0000"/>
                </a:solidFill>
              </a:rPr>
            </a:br>
            <a:r>
              <a:rPr lang="en-IN" sz="2000" dirty="0">
                <a:solidFill>
                  <a:srgbClr val="FF0000"/>
                </a:solidFill>
              </a:rPr>
              <a:t>b) Segmentation fault</a:t>
            </a:r>
            <a:br>
              <a:rPr lang="en-IN" sz="2000" dirty="0">
                <a:solidFill>
                  <a:srgbClr val="FF0000"/>
                </a:solidFill>
              </a:rPr>
            </a:br>
            <a:r>
              <a:rPr lang="en-IN" sz="2000" dirty="0">
                <a:solidFill>
                  <a:srgbClr val="FF0000"/>
                </a:solidFill>
              </a:rPr>
              <a:t>c) Objects are not created properly</a:t>
            </a:r>
            <a:br>
              <a:rPr lang="en-IN" sz="2000" dirty="0">
                <a:solidFill>
                  <a:srgbClr val="FF0000"/>
                </a:solidFill>
              </a:rPr>
            </a:br>
            <a:r>
              <a:rPr lang="en-IN" sz="2000" dirty="0">
                <a:solidFill>
                  <a:srgbClr val="FF0000"/>
                </a:solidFill>
              </a:rPr>
              <a:t>d) Compiler provides a default constructor to avoid faults/errors</a:t>
            </a:r>
          </a:p>
          <a:p>
            <a:endParaRPr lang="en-IN" sz="2000" dirty="0">
              <a:solidFill>
                <a:srgbClr val="FF0000"/>
              </a:solidFill>
            </a:endParaRPr>
          </a:p>
          <a:p>
            <a:r>
              <a:rPr lang="en-IN" sz="2000" dirty="0">
                <a:solidFill>
                  <a:srgbClr val="FF0000"/>
                </a:solidFill>
              </a:rPr>
              <a:t>4. How constructors are different from other member functions of the class?</a:t>
            </a:r>
          </a:p>
          <a:p>
            <a:r>
              <a:rPr lang="en-IN" sz="2000" dirty="0">
                <a:solidFill>
                  <a:srgbClr val="FF0000"/>
                </a:solidFill>
              </a:rPr>
              <a:t/>
            </a:r>
            <a:br>
              <a:rPr lang="en-IN" sz="2000" dirty="0">
                <a:solidFill>
                  <a:srgbClr val="FF0000"/>
                </a:solidFill>
              </a:rPr>
            </a:br>
            <a:r>
              <a:rPr lang="en-IN" sz="2000" dirty="0">
                <a:solidFill>
                  <a:srgbClr val="FF0000"/>
                </a:solidFill>
              </a:rPr>
              <a:t>a) Constructor has the same name as the class itself</a:t>
            </a:r>
            <a:br>
              <a:rPr lang="en-IN" sz="2000" dirty="0">
                <a:solidFill>
                  <a:srgbClr val="FF0000"/>
                </a:solidFill>
              </a:rPr>
            </a:br>
            <a:r>
              <a:rPr lang="en-IN" sz="2000" dirty="0">
                <a:solidFill>
                  <a:srgbClr val="FF0000"/>
                </a:solidFill>
              </a:rPr>
              <a:t>b) Constructors do not return anything</a:t>
            </a:r>
            <a:br>
              <a:rPr lang="en-IN" sz="2000" dirty="0">
                <a:solidFill>
                  <a:srgbClr val="FF0000"/>
                </a:solidFill>
              </a:rPr>
            </a:br>
            <a:r>
              <a:rPr lang="en-IN" sz="2000" dirty="0">
                <a:solidFill>
                  <a:srgbClr val="FF0000"/>
                </a:solidFill>
              </a:rPr>
              <a:t>c) Constructors are automatically called when an object is created</a:t>
            </a:r>
            <a:br>
              <a:rPr lang="en-IN" sz="2000" dirty="0">
                <a:solidFill>
                  <a:srgbClr val="FF0000"/>
                </a:solidFill>
              </a:rPr>
            </a:br>
            <a:r>
              <a:rPr lang="en-IN" sz="2000" dirty="0">
                <a:solidFill>
                  <a:srgbClr val="FF0000"/>
                </a:solidFill>
              </a:rPr>
              <a:t>d) All of the mentioned</a:t>
            </a:r>
          </a:p>
          <a:p>
            <a:endParaRPr lang="en-IN" sz="2000" dirty="0">
              <a:solidFill>
                <a:srgbClr val="FF0000"/>
              </a:solidFill>
            </a:endParaRPr>
          </a:p>
          <a:p>
            <a:endParaRPr lang="en-IN" sz="2000" dirty="0">
              <a:solidFill>
                <a:srgbClr val="FF0000"/>
              </a:solidFill>
            </a:endParaRPr>
          </a:p>
          <a:p>
            <a:endParaRPr lang="en-US" sz="2000" dirty="0">
              <a:solidFill>
                <a:srgbClr val="FF0000"/>
              </a:solidFill>
            </a:endParaRPr>
          </a:p>
        </p:txBody>
      </p:sp>
    </p:spTree>
    <p:extLst>
      <p:ext uri="{BB962C8B-B14F-4D97-AF65-F5344CB8AC3E}">
        <p14:creationId xmlns:p14="http://schemas.microsoft.com/office/powerpoint/2010/main" val="2582282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67124EF-F8EA-4921-9976-B9A80A2112F5}"/>
              </a:ext>
            </a:extLst>
          </p:cNvPr>
          <p:cNvSpPr>
            <a:spLocks noGrp="1"/>
          </p:cNvSpPr>
          <p:nvPr>
            <p:ph type="sldNum" sz="quarter" idx="12"/>
          </p:nvPr>
        </p:nvSpPr>
        <p:spPr/>
        <p:txBody>
          <a:bodyPr/>
          <a:lstStyle/>
          <a:p>
            <a:fld id="{BDCDBBEF-AA6C-4BA6-85B2-A17D7F280E38}" type="slidenum">
              <a:rPr lang="en-US" smtClean="0"/>
              <a:pPr/>
              <a:t>25</a:t>
            </a:fld>
            <a:endParaRPr lang="en-US"/>
          </a:p>
        </p:txBody>
      </p:sp>
      <p:sp>
        <p:nvSpPr>
          <p:cNvPr id="2" name="Rectangle 1">
            <a:extLst>
              <a:ext uri="{FF2B5EF4-FFF2-40B4-BE49-F238E27FC236}">
                <a16:creationId xmlns:a16="http://schemas.microsoft.com/office/drawing/2014/main" id="{AA9EE1F6-906F-4246-88DA-D2EC0433E995}"/>
              </a:ext>
            </a:extLst>
          </p:cNvPr>
          <p:cNvSpPr/>
          <p:nvPr/>
        </p:nvSpPr>
        <p:spPr>
          <a:xfrm>
            <a:off x="838200" y="352603"/>
            <a:ext cx="10791825" cy="5940088"/>
          </a:xfrm>
          <a:prstGeom prst="rect">
            <a:avLst/>
          </a:prstGeom>
        </p:spPr>
        <p:txBody>
          <a:bodyPr wrap="square">
            <a:spAutoFit/>
          </a:bodyPr>
          <a:lstStyle/>
          <a:p>
            <a:r>
              <a:rPr lang="en-US" sz="2000" dirty="0">
                <a:solidFill>
                  <a:srgbClr val="FF0000"/>
                </a:solidFill>
              </a:rPr>
              <a:t>5</a:t>
            </a:r>
            <a:r>
              <a:rPr lang="en-IN" sz="2000" dirty="0">
                <a:solidFill>
                  <a:srgbClr val="FF0000"/>
                </a:solidFill>
              </a:rPr>
              <a:t>. State whether the following statements about the constructor are True or False.</a:t>
            </a:r>
          </a:p>
          <a:p>
            <a:r>
              <a:rPr lang="en-IN" sz="2000" dirty="0">
                <a:solidFill>
                  <a:srgbClr val="FF0000"/>
                </a:solidFill>
              </a:rPr>
              <a:t>i) constructors should be declared in the private section. </a:t>
            </a:r>
          </a:p>
          <a:p>
            <a:r>
              <a:rPr lang="en-IN" sz="2000" dirty="0">
                <a:solidFill>
                  <a:srgbClr val="FF0000"/>
                </a:solidFill>
              </a:rPr>
              <a:t>ii) constructors are invoked automatically when the objects are created.</a:t>
            </a:r>
            <a:br>
              <a:rPr lang="en-IN" sz="2000" dirty="0">
                <a:solidFill>
                  <a:srgbClr val="FF0000"/>
                </a:solidFill>
              </a:rPr>
            </a:br>
            <a:endParaRPr lang="en-IN" sz="2000" dirty="0">
              <a:solidFill>
                <a:srgbClr val="FF0000"/>
              </a:solidFill>
            </a:endParaRPr>
          </a:p>
          <a:p>
            <a:r>
              <a:rPr lang="en-IN" sz="2000" dirty="0">
                <a:solidFill>
                  <a:srgbClr val="FF0000"/>
                </a:solidFill>
              </a:rPr>
              <a:t>A. </a:t>
            </a:r>
            <a:r>
              <a:rPr lang="en-IN" sz="2000" dirty="0" err="1">
                <a:solidFill>
                  <a:srgbClr val="FF0000"/>
                </a:solidFill>
              </a:rPr>
              <a:t>True,True</a:t>
            </a:r>
            <a:r>
              <a:rPr lang="en-IN" sz="2000" dirty="0">
                <a:solidFill>
                  <a:srgbClr val="FF0000"/>
                </a:solidFill>
              </a:rPr>
              <a:t/>
            </a:r>
            <a:br>
              <a:rPr lang="en-IN" sz="2000" dirty="0">
                <a:solidFill>
                  <a:srgbClr val="FF0000"/>
                </a:solidFill>
              </a:rPr>
            </a:br>
            <a:r>
              <a:rPr lang="en-IN" sz="2000" dirty="0">
                <a:solidFill>
                  <a:srgbClr val="FF0000"/>
                </a:solidFill>
              </a:rPr>
              <a:t>B. </a:t>
            </a:r>
            <a:r>
              <a:rPr lang="en-IN" sz="2000" dirty="0" err="1">
                <a:solidFill>
                  <a:srgbClr val="FF0000"/>
                </a:solidFill>
              </a:rPr>
              <a:t>True,False</a:t>
            </a:r>
            <a:r>
              <a:rPr lang="en-IN" sz="2000" dirty="0">
                <a:solidFill>
                  <a:srgbClr val="FF0000"/>
                </a:solidFill>
              </a:rPr>
              <a:t/>
            </a:r>
            <a:br>
              <a:rPr lang="en-IN" sz="2000" dirty="0">
                <a:solidFill>
                  <a:srgbClr val="FF0000"/>
                </a:solidFill>
              </a:rPr>
            </a:br>
            <a:r>
              <a:rPr lang="en-IN" sz="2000" dirty="0">
                <a:solidFill>
                  <a:srgbClr val="FF0000"/>
                </a:solidFill>
              </a:rPr>
              <a:t>C. </a:t>
            </a:r>
            <a:r>
              <a:rPr lang="en-IN" sz="2000" dirty="0" err="1">
                <a:solidFill>
                  <a:srgbClr val="FF0000"/>
                </a:solidFill>
              </a:rPr>
              <a:t>False,True</a:t>
            </a:r>
            <a:r>
              <a:rPr lang="en-IN" sz="2000" dirty="0">
                <a:solidFill>
                  <a:srgbClr val="FF0000"/>
                </a:solidFill>
              </a:rPr>
              <a:t/>
            </a:r>
            <a:br>
              <a:rPr lang="en-IN" sz="2000" dirty="0">
                <a:solidFill>
                  <a:srgbClr val="FF0000"/>
                </a:solidFill>
              </a:rPr>
            </a:br>
            <a:r>
              <a:rPr lang="en-IN" sz="2000" dirty="0">
                <a:solidFill>
                  <a:srgbClr val="FF0000"/>
                </a:solidFill>
              </a:rPr>
              <a:t>D. </a:t>
            </a:r>
            <a:r>
              <a:rPr lang="en-IN" sz="2000" dirty="0" err="1">
                <a:solidFill>
                  <a:srgbClr val="FF0000"/>
                </a:solidFill>
              </a:rPr>
              <a:t>False,False</a:t>
            </a:r>
            <a:endParaRPr lang="en-IN" sz="2000" dirty="0">
              <a:solidFill>
                <a:srgbClr val="FF0000"/>
              </a:solidFill>
            </a:endParaRPr>
          </a:p>
          <a:p>
            <a:endParaRPr lang="en-IN" sz="2000" dirty="0">
              <a:solidFill>
                <a:srgbClr val="FF0000"/>
              </a:solidFill>
            </a:endParaRPr>
          </a:p>
          <a:p>
            <a:r>
              <a:rPr lang="en-IN" sz="2000" dirty="0">
                <a:solidFill>
                  <a:srgbClr val="FF0000"/>
                </a:solidFill>
              </a:rPr>
              <a:t>6. Destructors __________ for automatic objects if the program terminates with a call to function exit or function abort</a:t>
            </a:r>
            <a:br>
              <a:rPr lang="en-IN" sz="2000" dirty="0">
                <a:solidFill>
                  <a:srgbClr val="FF0000"/>
                </a:solidFill>
              </a:rPr>
            </a:br>
            <a:endParaRPr lang="en-IN" sz="2000" dirty="0">
              <a:solidFill>
                <a:srgbClr val="FF0000"/>
              </a:solidFill>
            </a:endParaRPr>
          </a:p>
          <a:p>
            <a:r>
              <a:rPr lang="en-IN" sz="2000" dirty="0">
                <a:solidFill>
                  <a:srgbClr val="FF0000"/>
                </a:solidFill>
              </a:rPr>
              <a:t>A. Are called</a:t>
            </a:r>
            <a:br>
              <a:rPr lang="en-IN" sz="2000" dirty="0">
                <a:solidFill>
                  <a:srgbClr val="FF0000"/>
                </a:solidFill>
              </a:rPr>
            </a:br>
            <a:r>
              <a:rPr lang="en-IN" sz="2000" dirty="0">
                <a:solidFill>
                  <a:srgbClr val="FF0000"/>
                </a:solidFill>
              </a:rPr>
              <a:t>B. Are not called</a:t>
            </a:r>
            <a:br>
              <a:rPr lang="en-IN" sz="2000" dirty="0">
                <a:solidFill>
                  <a:srgbClr val="FF0000"/>
                </a:solidFill>
              </a:rPr>
            </a:br>
            <a:r>
              <a:rPr lang="en-IN" sz="2000" dirty="0">
                <a:solidFill>
                  <a:srgbClr val="FF0000"/>
                </a:solidFill>
              </a:rPr>
              <a:t>C. Are inherited</a:t>
            </a:r>
            <a:br>
              <a:rPr lang="en-IN" sz="2000" dirty="0">
                <a:solidFill>
                  <a:srgbClr val="FF0000"/>
                </a:solidFill>
              </a:rPr>
            </a:br>
            <a:r>
              <a:rPr lang="en-IN" sz="2000" dirty="0">
                <a:solidFill>
                  <a:srgbClr val="FF0000"/>
                </a:solidFill>
              </a:rPr>
              <a:t>D. Are created</a:t>
            </a:r>
          </a:p>
          <a:p>
            <a:endParaRPr lang="en-IN" sz="2000" dirty="0">
              <a:solidFill>
                <a:srgbClr val="FF0000"/>
              </a:solidFill>
            </a:endParaRPr>
          </a:p>
          <a:p>
            <a:endParaRPr lang="en-IN" sz="2000" dirty="0">
              <a:solidFill>
                <a:srgbClr val="FF0000"/>
              </a:solidFill>
            </a:endParaRPr>
          </a:p>
          <a:p>
            <a:endParaRPr lang="en-US" sz="2000" dirty="0">
              <a:solidFill>
                <a:srgbClr val="FF0000"/>
              </a:solidFill>
            </a:endParaRPr>
          </a:p>
        </p:txBody>
      </p:sp>
    </p:spTree>
    <p:extLst>
      <p:ext uri="{BB962C8B-B14F-4D97-AF65-F5344CB8AC3E}">
        <p14:creationId xmlns:p14="http://schemas.microsoft.com/office/powerpoint/2010/main" val="3509185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591E3-02DA-4066-9127-2B9D821C4DAB}"/>
              </a:ext>
            </a:extLst>
          </p:cNvPr>
          <p:cNvSpPr>
            <a:spLocks noGrp="1"/>
          </p:cNvSpPr>
          <p:nvPr>
            <p:ph type="title"/>
          </p:nvPr>
        </p:nvSpPr>
        <p:spPr/>
        <p:txBody>
          <a:bodyPr/>
          <a:lstStyle/>
          <a:p>
            <a:r>
              <a:rPr lang="en-US" b="1" dirty="0"/>
              <a:t>Discussion forum</a:t>
            </a:r>
            <a:r>
              <a:rPr lang="en-US" dirty="0"/>
              <a:t>.</a:t>
            </a:r>
            <a:endParaRPr lang="en-IN" dirty="0"/>
          </a:p>
        </p:txBody>
      </p:sp>
      <p:sp>
        <p:nvSpPr>
          <p:cNvPr id="3" name="Content Placeholder 2">
            <a:extLst>
              <a:ext uri="{FF2B5EF4-FFF2-40B4-BE49-F238E27FC236}">
                <a16:creationId xmlns:a16="http://schemas.microsoft.com/office/drawing/2014/main" id="{75A2FD90-1CA1-4A43-803B-2F922D4B9EC4}"/>
              </a:ext>
            </a:extLst>
          </p:cNvPr>
          <p:cNvSpPr>
            <a:spLocks noGrp="1"/>
          </p:cNvSpPr>
          <p:nvPr>
            <p:ph idx="1"/>
          </p:nvPr>
        </p:nvSpPr>
        <p:spPr>
          <a:xfrm>
            <a:off x="752061" y="894112"/>
            <a:ext cx="10687878" cy="3363084"/>
          </a:xfrm>
        </p:spPr>
        <p:txBody>
          <a:bodyPr/>
          <a:lstStyle/>
          <a:p>
            <a:endParaRPr lang="en-IN" dirty="0"/>
          </a:p>
          <a:p>
            <a:pPr marL="0" indent="0">
              <a:buNone/>
            </a:pPr>
            <a:r>
              <a:rPr lang="en-IN" dirty="0"/>
              <a:t>Order of Execution of Constructors and Destructors in Inheritance in C++?</a:t>
            </a:r>
          </a:p>
        </p:txBody>
      </p:sp>
      <p:sp>
        <p:nvSpPr>
          <p:cNvPr id="4" name="Slide Number Placeholder 3">
            <a:extLst>
              <a:ext uri="{FF2B5EF4-FFF2-40B4-BE49-F238E27FC236}">
                <a16:creationId xmlns:a16="http://schemas.microsoft.com/office/drawing/2014/main" id="{B4DFB7C1-5531-4CBA-AA56-069AD25EF56C}"/>
              </a:ext>
            </a:extLst>
          </p:cNvPr>
          <p:cNvSpPr>
            <a:spLocks noGrp="1"/>
          </p:cNvSpPr>
          <p:nvPr>
            <p:ph type="sldNum" sz="quarter" idx="12"/>
          </p:nvPr>
        </p:nvSpPr>
        <p:spPr/>
        <p:txBody>
          <a:bodyPr/>
          <a:lstStyle/>
          <a:p>
            <a:fld id="{BDCDBBEF-AA6C-4BA6-85B2-A17D7F280E38}" type="slidenum">
              <a:rPr lang="en-US" smtClean="0"/>
              <a:pPr/>
              <a:t>26</a:t>
            </a:fld>
            <a:endParaRPr lang="en-US"/>
          </a:p>
        </p:txBody>
      </p:sp>
      <p:sp>
        <p:nvSpPr>
          <p:cNvPr id="5" name="Rectangle 4">
            <a:extLst>
              <a:ext uri="{FF2B5EF4-FFF2-40B4-BE49-F238E27FC236}">
                <a16:creationId xmlns:a16="http://schemas.microsoft.com/office/drawing/2014/main" id="{2286B93F-AE56-4538-971E-9E2B9276A0B1}"/>
              </a:ext>
            </a:extLst>
          </p:cNvPr>
          <p:cNvSpPr/>
          <p:nvPr/>
        </p:nvSpPr>
        <p:spPr>
          <a:xfrm>
            <a:off x="2862470" y="3838853"/>
            <a:ext cx="7253747" cy="369332"/>
          </a:xfrm>
          <a:prstGeom prst="rect">
            <a:avLst/>
          </a:prstGeom>
        </p:spPr>
        <p:txBody>
          <a:bodyPr wrap="square">
            <a:spAutoFit/>
          </a:bodyPr>
          <a:lstStyle/>
          <a:p>
            <a:endParaRPr lang="en-IN" dirty="0"/>
          </a:p>
        </p:txBody>
      </p:sp>
      <p:sp>
        <p:nvSpPr>
          <p:cNvPr id="6" name="Arrow: Curved Right 5">
            <a:extLst>
              <a:ext uri="{FF2B5EF4-FFF2-40B4-BE49-F238E27FC236}">
                <a16:creationId xmlns:a16="http://schemas.microsoft.com/office/drawing/2014/main" id="{41188ABF-04C6-4D24-AE32-F9EFFF363BA6}"/>
              </a:ext>
            </a:extLst>
          </p:cNvPr>
          <p:cNvSpPr/>
          <p:nvPr/>
        </p:nvSpPr>
        <p:spPr>
          <a:xfrm>
            <a:off x="3129170" y="2185651"/>
            <a:ext cx="795130" cy="983974"/>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7" name="Rectangle 6">
            <a:extLst>
              <a:ext uri="{FF2B5EF4-FFF2-40B4-BE49-F238E27FC236}">
                <a16:creationId xmlns:a16="http://schemas.microsoft.com/office/drawing/2014/main" id="{C5BD0BF2-3FB6-44C3-90B3-B15DC7D0C72E}"/>
              </a:ext>
            </a:extLst>
          </p:cNvPr>
          <p:cNvSpPr/>
          <p:nvPr/>
        </p:nvSpPr>
        <p:spPr>
          <a:xfrm>
            <a:off x="752061" y="3250832"/>
            <a:ext cx="6453113" cy="461665"/>
          </a:xfrm>
          <a:prstGeom prst="rect">
            <a:avLst/>
          </a:prstGeom>
        </p:spPr>
        <p:txBody>
          <a:bodyPr wrap="none">
            <a:spAutoFit/>
          </a:bodyPr>
          <a:lstStyle/>
          <a:p>
            <a:r>
              <a:rPr lang="en-IN" sz="2400" dirty="0">
                <a:solidFill>
                  <a:schemeClr val="accent1"/>
                </a:solidFill>
              </a:rPr>
              <a:t>https://www.youtube.com/watch?v=fCK7sLu0G0Y</a:t>
            </a:r>
          </a:p>
        </p:txBody>
      </p:sp>
    </p:spTree>
    <p:extLst>
      <p:ext uri="{BB962C8B-B14F-4D97-AF65-F5344CB8AC3E}">
        <p14:creationId xmlns:p14="http://schemas.microsoft.com/office/powerpoint/2010/main" val="173025305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u="sng" dirty="0">
                <a:latin typeface="+mn-lt"/>
                <a:cs typeface="Arial" panose="020B0604020202020204" pitchFamily="34" charset="0"/>
              </a:rPr>
              <a:t>REFERENCES</a:t>
            </a:r>
            <a:r>
              <a:rPr lang="en-US" sz="2800" dirty="0">
                <a:latin typeface="Casper Bold" panose="02000806040000020004" pitchFamily="2" charset="0"/>
                <a:cs typeface="Arial" panose="020B0604020202020204" pitchFamily="34" charset="0"/>
              </a:rPr>
              <a:t> </a:t>
            </a:r>
            <a:r>
              <a:rPr lang="en-US" sz="2800" dirty="0"/>
              <a:t>  </a:t>
            </a:r>
            <a:endParaRPr lang="en-US" dirty="0"/>
          </a:p>
        </p:txBody>
      </p:sp>
      <p:sp>
        <p:nvSpPr>
          <p:cNvPr id="3" name="Content Placeholder 2"/>
          <p:cNvSpPr>
            <a:spLocks noGrp="1"/>
          </p:cNvSpPr>
          <p:nvPr>
            <p:ph idx="1"/>
          </p:nvPr>
        </p:nvSpPr>
        <p:spPr>
          <a:xfrm>
            <a:off x="840377" y="1276349"/>
            <a:ext cx="7162800" cy="5445125"/>
          </a:xfrm>
        </p:spPr>
        <p:txBody>
          <a:bodyPr>
            <a:normAutofit lnSpcReduction="10000"/>
          </a:bodyPr>
          <a:lstStyle/>
          <a:p>
            <a:pPr marL="0" indent="0">
              <a:buNone/>
            </a:pPr>
            <a:endParaRPr lang="en-US" sz="1600" dirty="0">
              <a:latin typeface="Casper" panose="02000506000000020004" pitchFamily="2" charset="0"/>
              <a:cs typeface="Arial" panose="020B0604020202020204" pitchFamily="34" charset="0"/>
            </a:endParaRPr>
          </a:p>
          <a:p>
            <a:pPr marL="0" lvl="0" indent="0">
              <a:buNone/>
            </a:pPr>
            <a:r>
              <a:rPr lang="en-US" sz="1600" dirty="0">
                <a:latin typeface="Casper"/>
              </a:rPr>
              <a:t>Reference Books</a:t>
            </a:r>
          </a:p>
          <a:p>
            <a:pPr>
              <a:buNone/>
            </a:pPr>
            <a:r>
              <a:rPr lang="en-US" sz="1600" dirty="0">
                <a:latin typeface="Times New Roman" pitchFamily="18" charset="0"/>
                <a:cs typeface="Times New Roman" pitchFamily="18" charset="0"/>
              </a:rPr>
              <a:t>[1] Programming in C++ by Reema </a:t>
            </a:r>
            <a:r>
              <a:rPr lang="en-US" sz="1600" dirty="0" err="1">
                <a:latin typeface="Times New Roman" pitchFamily="18" charset="0"/>
                <a:cs typeface="Times New Roman" pitchFamily="18" charset="0"/>
              </a:rPr>
              <a:t>Thareja</a:t>
            </a:r>
            <a:r>
              <a:rPr lang="en-US" sz="1600" dirty="0">
                <a:latin typeface="Times New Roman" pitchFamily="18" charset="0"/>
                <a:cs typeface="Times New Roman" pitchFamily="18" charset="0"/>
              </a:rPr>
              <a:t>.</a:t>
            </a:r>
          </a:p>
          <a:p>
            <a:pPr>
              <a:buNone/>
            </a:pPr>
            <a:r>
              <a:rPr lang="en-US" sz="1600" dirty="0">
                <a:latin typeface="Times New Roman" pitchFamily="18" charset="0"/>
                <a:cs typeface="Times New Roman" pitchFamily="18" charset="0"/>
              </a:rPr>
              <a:t>[2] Programming in ANSI C++ by E. </a:t>
            </a:r>
            <a:r>
              <a:rPr lang="en-US" sz="1600" dirty="0" err="1">
                <a:latin typeface="Times New Roman" pitchFamily="18" charset="0"/>
                <a:cs typeface="Times New Roman" pitchFamily="18" charset="0"/>
              </a:rPr>
              <a:t>Balaguruswamy</a:t>
            </a:r>
            <a:r>
              <a:rPr lang="en-US" sz="1600" dirty="0">
                <a:latin typeface="Times New Roman" pitchFamily="18" charset="0"/>
                <a:cs typeface="Times New Roman" pitchFamily="18" charset="0"/>
              </a:rPr>
              <a:t>, Tata McGraw Hill.</a:t>
            </a:r>
          </a:p>
          <a:p>
            <a:pPr>
              <a:buNone/>
            </a:pPr>
            <a:r>
              <a:rPr lang="en-US" sz="1600" dirty="0">
                <a:latin typeface="Times New Roman" pitchFamily="18" charset="0"/>
                <a:cs typeface="Times New Roman" pitchFamily="18" charset="0"/>
              </a:rPr>
              <a:t>[3] Programming with C++ (</a:t>
            </a:r>
            <a:r>
              <a:rPr lang="en-US" sz="1600" dirty="0" err="1">
                <a:latin typeface="Times New Roman" pitchFamily="18" charset="0"/>
                <a:cs typeface="Times New Roman" pitchFamily="18" charset="0"/>
              </a:rPr>
              <a:t>Schaum's</a:t>
            </a:r>
            <a:r>
              <a:rPr lang="en-US" sz="1600" dirty="0">
                <a:latin typeface="Times New Roman" pitchFamily="18" charset="0"/>
                <a:cs typeface="Times New Roman" pitchFamily="18" charset="0"/>
              </a:rPr>
              <a:t> Outline Series) by Byron Gottfried  Jitender Chhabra, Tata McGraw Hill.</a:t>
            </a:r>
          </a:p>
          <a:p>
            <a:pPr marL="0" indent="0">
              <a:buNone/>
            </a:pPr>
            <a:r>
              <a:rPr lang="en-IN" sz="1900" b="1" dirty="0"/>
              <a:t>Websites:</a:t>
            </a:r>
            <a:endParaRPr lang="en-IN" sz="1900" dirty="0"/>
          </a:p>
          <a:p>
            <a:pPr marL="0" indent="0">
              <a:buNone/>
            </a:pPr>
            <a:r>
              <a:rPr lang="en-IN" sz="1900" u="sng" dirty="0">
                <a:hlinkClick r:id="rId3"/>
              </a:rPr>
              <a:t>https://en.wikipedia.org/wiki/Constructor_(object-oriented_programming)</a:t>
            </a:r>
            <a:endParaRPr lang="en-IN" sz="1900" u="sng" dirty="0"/>
          </a:p>
          <a:p>
            <a:pPr marL="0" indent="0">
              <a:buNone/>
            </a:pPr>
            <a:r>
              <a:rPr lang="en-IN" sz="1900" u="sng" dirty="0">
                <a:hlinkClick r:id="rId4"/>
              </a:rPr>
              <a:t>https://www.programiz.com/cpp-programming/constructors</a:t>
            </a:r>
            <a:endParaRPr lang="en-IN" sz="1900" u="sng" dirty="0"/>
          </a:p>
          <a:p>
            <a:pPr marL="0" indent="0">
              <a:buNone/>
            </a:pPr>
            <a:r>
              <a:rPr lang="en-IN" sz="1900" u="sng" dirty="0">
                <a:hlinkClick r:id="rId5"/>
              </a:rPr>
              <a:t>https://en.wikipedia.org/wiki/Destructor_(computer_programming)</a:t>
            </a:r>
            <a:endParaRPr lang="en-IN" sz="1900" u="sng" dirty="0"/>
          </a:p>
          <a:p>
            <a:pPr marL="0" indent="0">
              <a:buNone/>
            </a:pPr>
            <a:r>
              <a:rPr lang="en-IN" sz="1900" b="1" dirty="0"/>
              <a:t>YouTube Links:</a:t>
            </a:r>
            <a:endParaRPr lang="en-IN" sz="1900" dirty="0"/>
          </a:p>
          <a:p>
            <a:pPr marL="0" lvl="0" indent="0">
              <a:buNone/>
            </a:pPr>
            <a:r>
              <a:rPr lang="en-IN" sz="1900" dirty="0"/>
              <a:t>What is Constructor? </a:t>
            </a:r>
            <a:r>
              <a:rPr lang="en-IN" sz="1900" u="sng" dirty="0">
                <a:solidFill>
                  <a:schemeClr val="accent1"/>
                </a:solidFill>
              </a:rPr>
              <a:t>https://www.youtube.com/watch?v=q7aWkjH3UUI</a:t>
            </a:r>
            <a:endParaRPr lang="en-IN" sz="1900" dirty="0">
              <a:solidFill>
                <a:schemeClr val="accent1"/>
              </a:solidFill>
            </a:endParaRPr>
          </a:p>
          <a:p>
            <a:pPr marL="0" lvl="0" indent="0">
              <a:buNone/>
            </a:pPr>
            <a:r>
              <a:rPr lang="en-IN" sz="1900" dirty="0"/>
              <a:t>What is destructor? </a:t>
            </a:r>
            <a:endParaRPr lang="en-IN" sz="1900" u="sng" dirty="0"/>
          </a:p>
          <a:p>
            <a:pPr marL="0" indent="0">
              <a:buNone/>
            </a:pPr>
            <a:r>
              <a:rPr lang="en-US" sz="1900" u="sng" dirty="0">
                <a:solidFill>
                  <a:schemeClr val="accent1"/>
                </a:solidFill>
                <a:latin typeface="Casper" panose="02000506000000020004" pitchFamily="2" charset="0"/>
                <a:cs typeface="Arial" panose="020B0604020202020204" pitchFamily="34" charset="0"/>
              </a:rPr>
              <a:t>https://www.youtube.com/watch?v=D8cWquReFqw</a:t>
            </a:r>
          </a:p>
        </p:txBody>
      </p:sp>
      <p:sp>
        <p:nvSpPr>
          <p:cNvPr id="4" name="Slide Number Placeholder 3"/>
          <p:cNvSpPr>
            <a:spLocks noGrp="1"/>
          </p:cNvSpPr>
          <p:nvPr>
            <p:ph type="sldNum" sz="quarter" idx="12"/>
          </p:nvPr>
        </p:nvSpPr>
        <p:spPr/>
        <p:txBody>
          <a:bodyPr/>
          <a:lstStyle/>
          <a:p>
            <a:fld id="{BDCDBBEF-AA6C-4BA6-85B2-A17D7F280E38}" type="slidenum">
              <a:rPr lang="en-US" smtClean="0"/>
              <a:pPr/>
              <a:t>27</a:t>
            </a:fld>
            <a:endParaRPr lang="en-US"/>
          </a:p>
        </p:txBody>
      </p:sp>
      <p:sp>
        <p:nvSpPr>
          <p:cNvPr id="5" name="Rectangle 4"/>
          <p:cNvSpPr/>
          <p:nvPr/>
        </p:nvSpPr>
        <p:spPr>
          <a:xfrm>
            <a:off x="838200" y="1803400"/>
            <a:ext cx="7162800" cy="436880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Related image"/>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999912" y="1666923"/>
            <a:ext cx="3352800" cy="3914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7387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2058" name="CorelDRAW" r:id="rId4" imgW="2169000" imgH="2169360" progId="">
                    <p:embed/>
                  </p:oleObj>
                </mc:Choice>
                <mc:Fallback>
                  <p:oleObj name="CorelDRAW" r:id="rId4" imgW="2169000" imgH="2169360" progId="">
                    <p:embed/>
                    <p:pic>
                      <p:nvPicPr>
                        <p:cNvPr id="33" name="Object 32">
                          <a:extLst>
                            <a:ext uri="{FF2B5EF4-FFF2-40B4-BE49-F238E27FC236}">
                              <a16:creationId xmlns:a16="http://schemas.microsoft.com/office/drawing/2014/main" id="{CAD0D7B8-E462-453C-B296-CA0154FA54A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2643103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LMS_API_VERSION" val="SCORM 2004 (2nd edition)"/>
  <p:tag name="ISPRING_ULTRA_SCORM_COURSE_ID" val="C0F5EB19-77B9-4540-B06A-F2C718D084BF"/>
  <p:tag name="ISPRING_CMI5_LAUNCH_METHOD" val="any window"/>
  <p:tag name="ISPRING_SCORM_ENDPOINT" val="&lt;endpoint&gt;&lt;enable&gt;0&lt;/enable&gt;&lt;lrs&gt;http://&lt;/lrs&gt;&lt;auth&gt;0&lt;/auth&gt;&lt;login&gt;&lt;/login&gt;&lt;password&gt;&lt;/password&gt;&lt;key&gt;&lt;/key&gt;&lt;name&gt;&lt;/name&gt;&lt;email&gt;&lt;/email&gt;&lt;/endpoint&gt;&#10;"/>
  <p:tag name="ISPRINGCLOUDFOLDERID" val="1"/>
  <p:tag name="ISPRINGONLINEFOLDERID" val="1"/>
  <p:tag name="ISPRING_OUTPUT_FOLDER" val="[[&quot;,\u001B.\u0018{C273B255-4E4C-4601-ABF8-D07FC645117E}&quot;,&quot;F:\\CU\\BlackBoard\\20CST111\\PPTs&quot;]]"/>
  <p:tag name="ISPRING_PUBLISH_SETTINGS" val="{&quot;commonSettings&quot;:{&quot;webSettings&quot;:{&quot;useMobileViewer&quot;:&quot;T_FALSE&quot;},&quot;lmsSettings&quot;:{&quot;useMobileViewer&quot;:&quot;T_FALSE&quot;},&quot;cloudSettings&quot;:{&quot;useMobileViewer&quot;:&quot;T_FALSE&quot;},&quot;ispringLmsSettings&quot;:{&quot;useMobileViewer&quot;:&quot;T_FALSE&quot;},&quot;playerId&quot;:&quot;universal&quot;},&quot;advancedSettings&quot;:{&quot;enableTextAllocation&quot;:&quot;T_TRUE&quot;,&quot;viewingFromLocalDrive&quot;:&quot;T_TRUE&quot;,&quot;contentScale&quot;:75,&quot;contentScaleMode&quot;:&quot;SCALE&quot;},&quot;accessibilitySettings&quot;:{&quot;enabled&quot;:&quot;T_FALSE&quot;},&quot;compressionSettings&quot;:{&quot;imageSettings&quot;:{&quot;jpegQuality&quot;:70,&quot;optimizeImageForResolution&quot;:&quot;T_FALSE&quot;},&quot;audioQuality&quot;:70,&quot;videoQuality&quot;:65},&quot;protectionSettings&quot;:{&quot;watermarkEnabled&quot;:&quot;T_FALSE&quot;,&quot;watermarkPosition&quot;:&quot;MIDDLE_CENTER&quot;,&quot;openWatermarkUrl&quot;:&quot;T_FALSE&quot;,&quot;openWatermarkWebPageInNewWindow&quot;:&quot;T_FALSE&quot;,&quot;displayAfterEnabled&quot;:&quot;T_FALSE&quot;,&quot;displayUntilEnabled&quot;:&quot;T_FALSE&quot;,&quot;domainRestrictionEnabled&quot;:&quot;T_FALSE&quot;,&quot;enablePassword&quot;:&quot;T_FALSE&quot;},&quot;videoSettings&quot;:{&quot;videoCompressionSettings&quot;:{&quot;audioQuality&quot;:70,&quot;videoQuality&quot;:75},&quot;secondsOnEachSlide&quot;:5,&quot;hostingSettings&quot;:{}},&quot;ispringOnlineSettings&quot;:{&quot;onlineDestinationFolderId&quot;:&quot;1&quot;},&quot;cloudSettings&quot;:{&quot;onlineDestinationFolderId&quot;:&quot;1&quot;},&quot;publishDestination&quot;:&quot;LMS&quot;,&quot;wordSettings&quot;:{&quot;printCopies&quot;:1}}"/>
  <p:tag name="ISPRING_SCORM_RATE_SLIDES" val="0"/>
  <p:tag name="ISPRING_SCORM_RATE_QUIZZES" val="0"/>
  <p:tag name="ISPRING_SCORM_PASSING_SCORE" val="0.000000"/>
  <p:tag name="ISPRING_CURRENT_PLAYER_ID" val="universal"/>
  <p:tag name="ISPRING_PRESENTATION_TITLE" val="lecture 2 Algorithm"/>
  <p:tag name="ISPRING_FIRST_PUBLI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2421</TotalTime>
  <Words>1342</Words>
  <Application>Microsoft Office PowerPoint</Application>
  <PresentationFormat>Widescreen</PresentationFormat>
  <Paragraphs>376</Paragraphs>
  <Slides>28</Slides>
  <Notes>19</Notes>
  <HiddenSlides>0</HiddenSlides>
  <MMClips>0</MMClips>
  <ScaleCrop>false</ScaleCrop>
  <HeadingPairs>
    <vt:vector size="8" baseType="variant">
      <vt:variant>
        <vt:lpstr>Fonts Used</vt:lpstr>
      </vt:variant>
      <vt:variant>
        <vt:i4>12</vt:i4>
      </vt:variant>
      <vt:variant>
        <vt:lpstr>Theme</vt:lpstr>
      </vt:variant>
      <vt:variant>
        <vt:i4>2</vt:i4>
      </vt:variant>
      <vt:variant>
        <vt:lpstr>Embedded OLE Servers</vt:lpstr>
      </vt:variant>
      <vt:variant>
        <vt:i4>1</vt:i4>
      </vt:variant>
      <vt:variant>
        <vt:lpstr>Slide Titles</vt:lpstr>
      </vt:variant>
      <vt:variant>
        <vt:i4>28</vt:i4>
      </vt:variant>
    </vt:vector>
  </HeadingPairs>
  <TitlesOfParts>
    <vt:vector size="43" baseType="lpstr">
      <vt:lpstr>Arial</vt:lpstr>
      <vt:lpstr>Arial Black</vt:lpstr>
      <vt:lpstr>Arial Unicode MS</vt:lpstr>
      <vt:lpstr>Calibri</vt:lpstr>
      <vt:lpstr>Calibri Light</vt:lpstr>
      <vt:lpstr>Casper</vt:lpstr>
      <vt:lpstr>Casper Bold</vt:lpstr>
      <vt:lpstr>Karla</vt:lpstr>
      <vt:lpstr>Raleway ExtraBold</vt:lpstr>
      <vt:lpstr>Segoe UI</vt:lpstr>
      <vt:lpstr>Times New Roman</vt:lpstr>
      <vt:lpstr>Wingdings</vt:lpstr>
      <vt:lpstr>1_Office Theme</vt:lpstr>
      <vt:lpstr>Contents Slide Master</vt:lpstr>
      <vt:lpstr>CorelDRAW</vt:lpstr>
      <vt:lpstr>PowerPoint Presentation</vt:lpstr>
      <vt:lpstr>Basic Data Structure Using C++</vt:lpstr>
      <vt:lpstr>PowerPoint Presentation</vt:lpstr>
      <vt:lpstr> Scheme of Evaluation  </vt:lpstr>
      <vt:lpstr>PowerPoint Presentation</vt:lpstr>
      <vt:lpstr>CONTENTS </vt:lpstr>
      <vt:lpstr>Constructor</vt:lpstr>
      <vt:lpstr>PowerPoint Presentation</vt:lpstr>
      <vt:lpstr>PowerPoint Presentation</vt:lpstr>
      <vt:lpstr>PowerPoint Presentation</vt:lpstr>
      <vt:lpstr>PowerPoint Presentation</vt:lpstr>
      <vt:lpstr>PowerPoint Presentation</vt:lpstr>
      <vt:lpstr>PowerPoint Presentation</vt:lpstr>
      <vt:lpstr>Destructors</vt:lpstr>
      <vt:lpstr>Example to see how Constructor and Destructor are called </vt:lpstr>
      <vt:lpstr>PowerPoint Presentation</vt:lpstr>
      <vt:lpstr>Order of Execution of constructor and destructor</vt:lpstr>
      <vt:lpstr>Example 1</vt:lpstr>
      <vt:lpstr>Example 2 using Inheritance</vt:lpstr>
      <vt:lpstr>PowerPoint Presentation</vt:lpstr>
      <vt:lpstr>Frequently Asked question</vt:lpstr>
      <vt:lpstr>PowerPoint Presentation</vt:lpstr>
      <vt:lpstr>Assessment Questions:</vt:lpstr>
      <vt:lpstr>PowerPoint Presentation</vt:lpstr>
      <vt:lpstr>PowerPoint Presentation</vt:lpstr>
      <vt:lpstr>Discussion forum.</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2 Algorithm</dc:title>
  <dc:creator>Branding</dc:creator>
  <cp:lastModifiedBy>nishu</cp:lastModifiedBy>
  <cp:revision>258</cp:revision>
  <dcterms:created xsi:type="dcterms:W3CDTF">2019-01-09T10:33:58Z</dcterms:created>
  <dcterms:modified xsi:type="dcterms:W3CDTF">2023-12-04T10:48:00Z</dcterms:modified>
</cp:coreProperties>
</file>