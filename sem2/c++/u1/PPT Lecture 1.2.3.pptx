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8"/>
  </p:notesMasterIdLst>
  <p:handoutMasterIdLst>
    <p:handoutMasterId r:id="rId29"/>
  </p:handoutMasterIdLst>
  <p:sldIdLst>
    <p:sldId id="354" r:id="rId3"/>
    <p:sldId id="380" r:id="rId4"/>
    <p:sldId id="381" r:id="rId5"/>
    <p:sldId id="379" r:id="rId6"/>
    <p:sldId id="281" r:id="rId7"/>
    <p:sldId id="364" r:id="rId8"/>
    <p:sldId id="372" r:id="rId9"/>
    <p:sldId id="365" r:id="rId10"/>
    <p:sldId id="366" r:id="rId11"/>
    <p:sldId id="367" r:id="rId12"/>
    <p:sldId id="368" r:id="rId13"/>
    <p:sldId id="369" r:id="rId14"/>
    <p:sldId id="370" r:id="rId15"/>
    <p:sldId id="373" r:id="rId16"/>
    <p:sldId id="374" r:id="rId17"/>
    <p:sldId id="371" r:id="rId18"/>
    <p:sldId id="350" r:id="rId19"/>
    <p:sldId id="351" r:id="rId20"/>
    <p:sldId id="359" r:id="rId21"/>
    <p:sldId id="360" r:id="rId22"/>
    <p:sldId id="329" r:id="rId23"/>
    <p:sldId id="330" r:id="rId24"/>
    <p:sldId id="352" r:id="rId25"/>
    <p:sldId id="284" r:id="rId26"/>
    <p:sldId id="353" r:id="rId27"/>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7B0"/>
    <a:srgbClr val="4BDAE5"/>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5" autoAdjust="0"/>
    <p:restoredTop sz="94434" autoAdjust="0"/>
  </p:normalViewPr>
  <p:slideViewPr>
    <p:cSldViewPr snapToGrid="0">
      <p:cViewPr varScale="1">
        <p:scale>
          <a:sx n="73" d="100"/>
          <a:sy n="73" d="100"/>
        </p:scale>
        <p:origin x="540"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ags" Target="tags/tag1.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D818A-DE61-492C-9F49-4330F19690E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N"/>
        </a:p>
      </dgm:t>
    </dgm:pt>
    <dgm:pt modelId="{72067E99-1C3B-406E-B0E9-FC347F914FA8}">
      <dgm:prSet phldrT="[Text]" custT="1"/>
      <dgm:spPr/>
      <dgm:t>
        <a:bodyPr/>
        <a:lstStyle/>
        <a:p>
          <a:r>
            <a:rPr lang="en-US" sz="2400" b="1" dirty="0">
              <a:solidFill>
                <a:schemeClr val="bg2">
                  <a:lumMod val="10000"/>
                </a:schemeClr>
              </a:solidFill>
            </a:rPr>
            <a:t>In this lecture we have discussed about Inline Function.</a:t>
          </a:r>
          <a:endParaRPr lang="en-IN" sz="2400" b="1" dirty="0">
            <a:solidFill>
              <a:schemeClr val="bg2">
                <a:lumMod val="10000"/>
              </a:schemeClr>
            </a:solidFill>
          </a:endParaRPr>
        </a:p>
      </dgm:t>
    </dgm:pt>
    <dgm:pt modelId="{E295694A-E3FF-4E4D-B786-E47583760C4E}" type="parTrans" cxnId="{AAE49CDE-EE1C-4041-8DCB-69A3B80087AD}">
      <dgm:prSet/>
      <dgm:spPr/>
      <dgm:t>
        <a:bodyPr/>
        <a:lstStyle/>
        <a:p>
          <a:endParaRPr lang="en-IN"/>
        </a:p>
      </dgm:t>
    </dgm:pt>
    <dgm:pt modelId="{E2FCE763-C2C6-41BB-BE42-2FC9B40C0439}" type="sibTrans" cxnId="{AAE49CDE-EE1C-4041-8DCB-69A3B80087AD}">
      <dgm:prSet/>
      <dgm:spPr/>
      <dgm:t>
        <a:bodyPr/>
        <a:lstStyle/>
        <a:p>
          <a:endParaRPr lang="en-IN"/>
        </a:p>
      </dgm:t>
    </dgm:pt>
    <dgm:pt modelId="{A7DE4063-2DA9-4CA0-9DDC-11769B7332D8}">
      <dgm:prSet phldrT="[Text]" custT="1"/>
      <dgm:spPr/>
      <dgm:t>
        <a:bodyPr/>
        <a:lstStyle/>
        <a:p>
          <a:r>
            <a:rPr lang="en-US" sz="2400" b="1" dirty="0">
              <a:solidFill>
                <a:schemeClr val="bg2">
                  <a:lumMod val="10000"/>
                </a:schemeClr>
              </a:solidFill>
            </a:rPr>
            <a:t>We have discussed about Advantages of Inline Function</a:t>
          </a:r>
          <a:endParaRPr lang="en-IN" sz="2400" b="1" dirty="0">
            <a:solidFill>
              <a:schemeClr val="bg2">
                <a:lumMod val="10000"/>
              </a:schemeClr>
            </a:solidFill>
          </a:endParaRPr>
        </a:p>
      </dgm:t>
    </dgm:pt>
    <dgm:pt modelId="{ED3D644F-FD3E-48AA-A0DA-12CED9DB591C}" type="parTrans" cxnId="{CB715DCB-B8A2-400C-A562-D0851701E2C1}">
      <dgm:prSet/>
      <dgm:spPr/>
      <dgm:t>
        <a:bodyPr/>
        <a:lstStyle/>
        <a:p>
          <a:endParaRPr lang="en-IN"/>
        </a:p>
      </dgm:t>
    </dgm:pt>
    <dgm:pt modelId="{EA51BD59-3F69-42AA-902C-6B9694E16D92}" type="sibTrans" cxnId="{CB715DCB-B8A2-400C-A562-D0851701E2C1}">
      <dgm:prSet/>
      <dgm:spPr/>
      <dgm:t>
        <a:bodyPr/>
        <a:lstStyle/>
        <a:p>
          <a:endParaRPr lang="en-IN"/>
        </a:p>
      </dgm:t>
    </dgm:pt>
    <dgm:pt modelId="{A01C6F03-8F64-4572-A415-227584B1F1D4}">
      <dgm:prSet custT="1"/>
      <dgm:spPr>
        <a:solidFill>
          <a:schemeClr val="accent1">
            <a:lumMod val="40000"/>
            <a:lumOff val="60000"/>
          </a:schemeClr>
        </a:solidFill>
      </dgm:spPr>
      <dgm:t>
        <a:bodyPr/>
        <a:lstStyle/>
        <a:p>
          <a:r>
            <a:rPr lang="en-US" sz="2400" b="1" dirty="0">
              <a:solidFill>
                <a:schemeClr val="bg2">
                  <a:lumMod val="10000"/>
                </a:schemeClr>
              </a:solidFill>
              <a:sym typeface="Wingdings" panose="05000000000000000000" pitchFamily="2" charset="2"/>
            </a:rPr>
            <a:t>Discussed about examples of inline functions</a:t>
          </a:r>
        </a:p>
      </dgm:t>
    </dgm:pt>
    <dgm:pt modelId="{4DA968A8-0948-417F-9134-FA754EAB92DA}" type="parTrans" cxnId="{9495434F-F7C9-45D7-B8C6-CCE0B7994591}">
      <dgm:prSet/>
      <dgm:spPr/>
      <dgm:t>
        <a:bodyPr/>
        <a:lstStyle/>
        <a:p>
          <a:endParaRPr lang="en-IN"/>
        </a:p>
      </dgm:t>
    </dgm:pt>
    <dgm:pt modelId="{14056E56-91CB-4AD0-BDAA-2A69C7D39824}" type="sibTrans" cxnId="{9495434F-F7C9-45D7-B8C6-CCE0B7994591}">
      <dgm:prSet/>
      <dgm:spPr/>
      <dgm:t>
        <a:bodyPr/>
        <a:lstStyle/>
        <a:p>
          <a:endParaRPr lang="en-IN"/>
        </a:p>
      </dgm:t>
    </dgm:pt>
    <dgm:pt modelId="{097EF926-1259-452F-A448-711C22076917}" type="pres">
      <dgm:prSet presAssocID="{A30D818A-DE61-492C-9F49-4330F19690E3}" presName="diagram" presStyleCnt="0">
        <dgm:presLayoutVars>
          <dgm:dir/>
          <dgm:resizeHandles val="exact"/>
        </dgm:presLayoutVars>
      </dgm:prSet>
      <dgm:spPr/>
      <dgm:t>
        <a:bodyPr/>
        <a:lstStyle/>
        <a:p>
          <a:endParaRPr lang="en-US"/>
        </a:p>
      </dgm:t>
    </dgm:pt>
    <dgm:pt modelId="{2F0A59F6-A053-4340-A4F0-E60DDF039046}" type="pres">
      <dgm:prSet presAssocID="{72067E99-1C3B-406E-B0E9-FC347F914FA8}" presName="node" presStyleLbl="node1" presStyleIdx="0" presStyleCnt="3" custLinFactNeighborX="-5593" custLinFactNeighborY="843">
        <dgm:presLayoutVars>
          <dgm:bulletEnabled val="1"/>
        </dgm:presLayoutVars>
      </dgm:prSet>
      <dgm:spPr/>
      <dgm:t>
        <a:bodyPr/>
        <a:lstStyle/>
        <a:p>
          <a:endParaRPr lang="en-US"/>
        </a:p>
      </dgm:t>
    </dgm:pt>
    <dgm:pt modelId="{B7110241-4B56-449E-BE7E-CE03E41DECBD}" type="pres">
      <dgm:prSet presAssocID="{E2FCE763-C2C6-41BB-BE42-2FC9B40C0439}" presName="sibTrans" presStyleCnt="0"/>
      <dgm:spPr/>
    </dgm:pt>
    <dgm:pt modelId="{DE45F2CF-0A49-462B-B901-AD08FACBBB0E}" type="pres">
      <dgm:prSet presAssocID="{A7DE4063-2DA9-4CA0-9DDC-11769B7332D8}" presName="node" presStyleLbl="node1" presStyleIdx="1" presStyleCnt="3">
        <dgm:presLayoutVars>
          <dgm:bulletEnabled val="1"/>
        </dgm:presLayoutVars>
      </dgm:prSet>
      <dgm:spPr/>
      <dgm:t>
        <a:bodyPr/>
        <a:lstStyle/>
        <a:p>
          <a:endParaRPr lang="en-US"/>
        </a:p>
      </dgm:t>
    </dgm:pt>
    <dgm:pt modelId="{E15D8264-6CE6-4D91-B2D2-1EAC00783183}" type="pres">
      <dgm:prSet presAssocID="{EA51BD59-3F69-42AA-902C-6B9694E16D92}" presName="sibTrans" presStyleCnt="0"/>
      <dgm:spPr/>
    </dgm:pt>
    <dgm:pt modelId="{125214B9-F360-433C-AD02-087D02D43A08}" type="pres">
      <dgm:prSet presAssocID="{A01C6F03-8F64-4572-A415-227584B1F1D4}" presName="node" presStyleLbl="node1" presStyleIdx="2" presStyleCnt="3">
        <dgm:presLayoutVars>
          <dgm:bulletEnabled val="1"/>
        </dgm:presLayoutVars>
      </dgm:prSet>
      <dgm:spPr/>
      <dgm:t>
        <a:bodyPr/>
        <a:lstStyle/>
        <a:p>
          <a:endParaRPr lang="en-US"/>
        </a:p>
      </dgm:t>
    </dgm:pt>
  </dgm:ptLst>
  <dgm:cxnLst>
    <dgm:cxn modelId="{D00252CB-9D61-4788-A959-DB99FAB8CBDB}" type="presOf" srcId="{A30D818A-DE61-492C-9F49-4330F19690E3}" destId="{097EF926-1259-452F-A448-711C22076917}" srcOrd="0" destOrd="0" presId="urn:microsoft.com/office/officeart/2005/8/layout/default"/>
    <dgm:cxn modelId="{ECCE3782-0BA7-4D11-9D3C-49385FC334F5}" type="presOf" srcId="{72067E99-1C3B-406E-B0E9-FC347F914FA8}" destId="{2F0A59F6-A053-4340-A4F0-E60DDF039046}" srcOrd="0" destOrd="0" presId="urn:microsoft.com/office/officeart/2005/8/layout/default"/>
    <dgm:cxn modelId="{CB715DCB-B8A2-400C-A562-D0851701E2C1}" srcId="{A30D818A-DE61-492C-9F49-4330F19690E3}" destId="{A7DE4063-2DA9-4CA0-9DDC-11769B7332D8}" srcOrd="1" destOrd="0" parTransId="{ED3D644F-FD3E-48AA-A0DA-12CED9DB591C}" sibTransId="{EA51BD59-3F69-42AA-902C-6B9694E16D92}"/>
    <dgm:cxn modelId="{AAE49CDE-EE1C-4041-8DCB-69A3B80087AD}" srcId="{A30D818A-DE61-492C-9F49-4330F19690E3}" destId="{72067E99-1C3B-406E-B0E9-FC347F914FA8}" srcOrd="0" destOrd="0" parTransId="{E295694A-E3FF-4E4D-B786-E47583760C4E}" sibTransId="{E2FCE763-C2C6-41BB-BE42-2FC9B40C0439}"/>
    <dgm:cxn modelId="{9495434F-F7C9-45D7-B8C6-CCE0B7994591}" srcId="{A30D818A-DE61-492C-9F49-4330F19690E3}" destId="{A01C6F03-8F64-4572-A415-227584B1F1D4}" srcOrd="2" destOrd="0" parTransId="{4DA968A8-0948-417F-9134-FA754EAB92DA}" sibTransId="{14056E56-91CB-4AD0-BDAA-2A69C7D39824}"/>
    <dgm:cxn modelId="{537F3816-8AD7-4A36-A251-136F9CB6EDBD}" type="presOf" srcId="{A01C6F03-8F64-4572-A415-227584B1F1D4}" destId="{125214B9-F360-433C-AD02-087D02D43A08}" srcOrd="0" destOrd="0" presId="urn:microsoft.com/office/officeart/2005/8/layout/default"/>
    <dgm:cxn modelId="{7DDA5D15-540F-4782-AC07-9170D87AA5BA}" type="presOf" srcId="{A7DE4063-2DA9-4CA0-9DDC-11769B7332D8}" destId="{DE45F2CF-0A49-462B-B901-AD08FACBBB0E}" srcOrd="0" destOrd="0" presId="urn:microsoft.com/office/officeart/2005/8/layout/default"/>
    <dgm:cxn modelId="{699A32D2-8395-47D4-BE2B-5B8EF202D093}" type="presParOf" srcId="{097EF926-1259-452F-A448-711C22076917}" destId="{2F0A59F6-A053-4340-A4F0-E60DDF039046}" srcOrd="0" destOrd="0" presId="urn:microsoft.com/office/officeart/2005/8/layout/default"/>
    <dgm:cxn modelId="{02491696-24B3-49AC-8F8C-9C3FB5FD4A79}" type="presParOf" srcId="{097EF926-1259-452F-A448-711C22076917}" destId="{B7110241-4B56-449E-BE7E-CE03E41DECBD}" srcOrd="1" destOrd="0" presId="urn:microsoft.com/office/officeart/2005/8/layout/default"/>
    <dgm:cxn modelId="{74690019-F115-4FDC-B1CB-756CF730DB81}" type="presParOf" srcId="{097EF926-1259-452F-A448-711C22076917}" destId="{DE45F2CF-0A49-462B-B901-AD08FACBBB0E}" srcOrd="2" destOrd="0" presId="urn:microsoft.com/office/officeart/2005/8/layout/default"/>
    <dgm:cxn modelId="{5AB02E86-EE83-4357-B54B-6448622334B5}" type="presParOf" srcId="{097EF926-1259-452F-A448-711C22076917}" destId="{E15D8264-6CE6-4D91-B2D2-1EAC00783183}" srcOrd="3" destOrd="0" presId="urn:microsoft.com/office/officeart/2005/8/layout/default"/>
    <dgm:cxn modelId="{CEF43F2E-179B-44AB-B9A4-9CF127E089EE}" type="presParOf" srcId="{097EF926-1259-452F-A448-711C22076917}" destId="{125214B9-F360-433C-AD02-087D02D43A08}"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A59F6-A053-4340-A4F0-E60DDF039046}">
      <dsp:nvSpPr>
        <dsp:cNvPr id="0" name=""/>
        <dsp:cNvSpPr/>
      </dsp:nvSpPr>
      <dsp:spPr>
        <a:xfrm>
          <a:off x="0" y="22329"/>
          <a:ext cx="4166272" cy="249976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In this lecture we have discussed about Inline Function.</a:t>
          </a:r>
          <a:endParaRPr lang="en-IN" sz="2400" b="1" kern="1200" dirty="0">
            <a:solidFill>
              <a:schemeClr val="bg2">
                <a:lumMod val="10000"/>
              </a:schemeClr>
            </a:solidFill>
          </a:endParaRPr>
        </a:p>
      </dsp:txBody>
      <dsp:txXfrm>
        <a:off x="0" y="22329"/>
        <a:ext cx="4166272" cy="2499763"/>
      </dsp:txXfrm>
    </dsp:sp>
    <dsp:sp modelId="{DE45F2CF-0A49-462B-B901-AD08FACBBB0E}">
      <dsp:nvSpPr>
        <dsp:cNvPr id="0" name=""/>
        <dsp:cNvSpPr/>
      </dsp:nvSpPr>
      <dsp:spPr>
        <a:xfrm>
          <a:off x="4656972" y="1256"/>
          <a:ext cx="4166272" cy="249976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We have discussed about Advantages of Inline Function</a:t>
          </a:r>
          <a:endParaRPr lang="en-IN" sz="2400" b="1" kern="1200" dirty="0">
            <a:solidFill>
              <a:schemeClr val="bg2">
                <a:lumMod val="10000"/>
              </a:schemeClr>
            </a:solidFill>
          </a:endParaRPr>
        </a:p>
      </dsp:txBody>
      <dsp:txXfrm>
        <a:off x="4656972" y="1256"/>
        <a:ext cx="4166272" cy="2499763"/>
      </dsp:txXfrm>
    </dsp:sp>
    <dsp:sp modelId="{125214B9-F360-433C-AD02-087D02D43A08}">
      <dsp:nvSpPr>
        <dsp:cNvPr id="0" name=""/>
        <dsp:cNvSpPr/>
      </dsp:nvSpPr>
      <dsp:spPr>
        <a:xfrm>
          <a:off x="2365522" y="2917647"/>
          <a:ext cx="4166272" cy="2499763"/>
        </a:xfrm>
        <a:prstGeom prst="rect">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sym typeface="Wingdings" panose="05000000000000000000" pitchFamily="2" charset="2"/>
            </a:rPr>
            <a:t>Discussed about examples of inline functions</a:t>
          </a:r>
        </a:p>
      </dsp:txBody>
      <dsp:txXfrm>
        <a:off x="2365522" y="2917647"/>
        <a:ext cx="4166272" cy="249976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215210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3925623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1029942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632511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4186024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a:p>
        </p:txBody>
      </p:sp>
    </p:spTree>
    <p:extLst>
      <p:ext uri="{BB962C8B-B14F-4D97-AF65-F5344CB8AC3E}">
        <p14:creationId xmlns:p14="http://schemas.microsoft.com/office/powerpoint/2010/main" val="3856293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18</a:t>
            </a:fld>
            <a:endParaRPr lang="en-US"/>
          </a:p>
        </p:txBody>
      </p:sp>
    </p:spTree>
    <p:extLst>
      <p:ext uri="{BB962C8B-B14F-4D97-AF65-F5344CB8AC3E}">
        <p14:creationId xmlns:p14="http://schemas.microsoft.com/office/powerpoint/2010/main" val="703476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19</a:t>
            </a:fld>
            <a:endParaRPr lang="en-US"/>
          </a:p>
        </p:txBody>
      </p:sp>
    </p:spTree>
    <p:extLst>
      <p:ext uri="{BB962C8B-B14F-4D97-AF65-F5344CB8AC3E}">
        <p14:creationId xmlns:p14="http://schemas.microsoft.com/office/powerpoint/2010/main" val="1775203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20</a:t>
            </a:fld>
            <a:endParaRPr lang="en-US"/>
          </a:p>
        </p:txBody>
      </p:sp>
    </p:spTree>
    <p:extLst>
      <p:ext uri="{BB962C8B-B14F-4D97-AF65-F5344CB8AC3E}">
        <p14:creationId xmlns:p14="http://schemas.microsoft.com/office/powerpoint/2010/main" val="1731106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21</a:t>
            </a:fld>
            <a:endParaRPr lang="en-US"/>
          </a:p>
        </p:txBody>
      </p:sp>
    </p:spTree>
    <p:extLst>
      <p:ext uri="{BB962C8B-B14F-4D97-AF65-F5344CB8AC3E}">
        <p14:creationId xmlns:p14="http://schemas.microsoft.com/office/powerpoint/2010/main" val="2878906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40921612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a:p>
        </p:txBody>
      </p:sp>
    </p:spTree>
    <p:extLst>
      <p:ext uri="{BB962C8B-B14F-4D97-AF65-F5344CB8AC3E}">
        <p14:creationId xmlns:p14="http://schemas.microsoft.com/office/powerpoint/2010/main" val="9324736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24</a:t>
            </a:fld>
            <a:endParaRPr lang="en-US"/>
          </a:p>
        </p:txBody>
      </p:sp>
    </p:spTree>
    <p:extLst>
      <p:ext uri="{BB962C8B-B14F-4D97-AF65-F5344CB8AC3E}">
        <p14:creationId xmlns:p14="http://schemas.microsoft.com/office/powerpoint/2010/main" val="37252839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25</a:t>
            </a:fld>
            <a:endParaRPr lang="en-US"/>
          </a:p>
        </p:txBody>
      </p:sp>
    </p:spTree>
    <p:extLst>
      <p:ext uri="{BB962C8B-B14F-4D97-AF65-F5344CB8AC3E}">
        <p14:creationId xmlns:p14="http://schemas.microsoft.com/office/powerpoint/2010/main" val="999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geeksforgeeks.org/inline-functions-cpp/"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hyperlink" Target="https://www.educative.io/edpresso/what-is-a-cpp-inline-function" TargetMode="External"/><Relationship Id="rId4" Type="http://schemas.openxmlformats.org/officeDocument/2006/relationships/hyperlink" Target="https://www.tutorialspoint.com/cplusplus/cpp_inline_functions.htm" TargetMode="Externa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9"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40610" y="5988169"/>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Topic: Inline function</a:t>
            </a:r>
          </a:p>
          <a:p>
            <a:pPr eaLnBrk="1" hangingPunct="1"/>
            <a:endParaRPr lang="en-US" sz="1600" dirty="0">
              <a:latin typeface="Raleway ExtraBold" pitchFamily="34" charset="-52"/>
            </a:endParaRPr>
          </a:p>
        </p:txBody>
      </p:sp>
      <p:sp>
        <p:nvSpPr>
          <p:cNvPr id="2" name="TextBox 1">
            <a:extLst>
              <a:ext uri="{FF2B5EF4-FFF2-40B4-BE49-F238E27FC236}">
                <a16:creationId xmlns:a16="http://schemas.microsoft.com/office/drawing/2014/main" id="{0329CE43-2B94-49D3-9948-A297B0FB52BF}"/>
              </a:ext>
            </a:extLst>
          </p:cNvPr>
          <p:cNvSpPr txBox="1">
            <a:spLocks noChangeArrowheads="1"/>
          </p:cNvSpPr>
          <p:nvPr/>
        </p:nvSpPr>
        <p:spPr bwMode="auto">
          <a:xfrm>
            <a:off x="914391" y="1784932"/>
            <a:ext cx="9884238" cy="332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a:t>
            </a:r>
            <a:r>
              <a:rPr lang="en-US" sz="2800" dirty="0">
                <a:latin typeface="Times New Roman" panose="02020603050405020304" pitchFamily="18" charset="0"/>
                <a:ea typeface="Calibri" panose="020F0502020204030204" pitchFamily="34" charset="0"/>
                <a:cs typeface="Times New Roman" panose="02020603050405020304" pitchFamily="18" charset="0"/>
              </a:rPr>
              <a:t>Basic Data Structure Using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Code:23CSH-103</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pPr>
            <a:r>
              <a:rPr lang="en-US" sz="2800" dirty="0">
                <a:latin typeface="Times New Roman" panose="02020603050405020304" pitchFamily="18" charset="0"/>
                <a:ea typeface="Calibri" panose="020F0502020204030204" pitchFamily="34" charset="0"/>
                <a:cs typeface="Times New Roman" panose="02020603050405020304" pitchFamily="18" charset="0"/>
              </a:rPr>
              <a:t>							</a:t>
            </a: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838200"/>
            <a:ext cx="4834074" cy="1748246"/>
          </a:xfrm>
        </p:spPr>
        <p:txBody>
          <a:bodyPr>
            <a:normAutofit/>
          </a:bodyPr>
          <a:lstStyle/>
          <a:p>
            <a:pPr algn="ctr"/>
            <a:r>
              <a:rPr lang="en-US" sz="4400" dirty="0">
                <a:latin typeface="Times New Roman" panose="02020603050405020304" pitchFamily="18" charset="0"/>
                <a:ea typeface="Calibri" panose="020F0502020204030204" pitchFamily="34" charset="0"/>
                <a:cs typeface="Times New Roman" panose="02020603050405020304" pitchFamily="18" charset="0"/>
              </a:rPr>
              <a:t>Basic Data Structure Using C++</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119133" y="3825531"/>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8" name="Table 10">
            <a:extLst>
              <a:ext uri="{FF2B5EF4-FFF2-40B4-BE49-F238E27FC236}">
                <a16:creationId xmlns:a16="http://schemas.microsoft.com/office/drawing/2014/main" id="{A82640A5-2231-4AFB-8485-E0B914CD594E}"/>
              </a:ext>
            </a:extLst>
          </p:cNvPr>
          <p:cNvGraphicFramePr>
            <a:graphicFrameLocks noGrp="1"/>
          </p:cNvGraphicFramePr>
          <p:nvPr>
            <p:extLst/>
          </p:nvPr>
        </p:nvGraphicFramePr>
        <p:xfrm>
          <a:off x="119133" y="4308909"/>
          <a:ext cx="7752657" cy="1402080"/>
        </p:xfrm>
        <a:graphic>
          <a:graphicData uri="http://schemas.openxmlformats.org/drawingml/2006/table">
            <a:tbl>
              <a:tblPr firstRow="1" bandRow="1">
                <a:tableStyleId>{21E4AEA4-8DFA-4A89-87EB-49C32662AFE0}</a:tableStyleId>
              </a:tblPr>
              <a:tblGrid>
                <a:gridCol w="7752657">
                  <a:extLst>
                    <a:ext uri="{9D8B030D-6E8A-4147-A177-3AD203B41FA5}">
                      <a16:colId xmlns:a16="http://schemas.microsoft.com/office/drawing/2014/main" val="398512777"/>
                    </a:ext>
                  </a:extLst>
                </a:gridCol>
              </a:tblGrid>
              <a:tr h="370840">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000" b="1" kern="1200" dirty="0" smtClean="0">
                          <a:solidFill>
                            <a:srgbClr val="FF0000"/>
                          </a:solidFill>
                          <a:effectLst/>
                          <a:latin typeface="+mn-lt"/>
                          <a:ea typeface="+mn-ea"/>
                          <a:cs typeface="+mn-cs"/>
                        </a:rPr>
                        <a:t>To enable the students to understand various stages and constructs of C++ programming language.</a:t>
                      </a:r>
                      <a:endParaRPr lang="en-IN" sz="2400" b="1" i="0" kern="1200" dirty="0">
                        <a:solidFill>
                          <a:srgbClr val="FF0000"/>
                        </a:solidFill>
                        <a:effectLst/>
                        <a:latin typeface="+mn-lt"/>
                        <a:ea typeface="+mn-ea"/>
                        <a:cs typeface="+mn-cs"/>
                      </a:endParaRPr>
                    </a:p>
                  </a:txBody>
                  <a:tcPr>
                    <a:noFill/>
                  </a:tcPr>
                </a:tc>
                <a:extLst>
                  <a:ext uri="{0D108BD9-81ED-4DB2-BD59-A6C34878D82A}">
                    <a16:rowId xmlns:a16="http://schemas.microsoft.com/office/drawing/2014/main" val="4281817151"/>
                  </a:ext>
                </a:extLst>
              </a:tr>
              <a:tr h="370840">
                <a:tc>
                  <a:txBody>
                    <a:bodyPr/>
                    <a:lstStyle/>
                    <a:p>
                      <a:pPr marL="285750" indent="-285750" algn="just">
                        <a:buFont typeface="Arial" panose="020B0604020202020204" pitchFamily="34" charset="0"/>
                        <a:buChar char="•"/>
                      </a:pPr>
                      <a:r>
                        <a:rPr lang="en-US" sz="2000" b="1" i="0" kern="1200" dirty="0" smtClean="0">
                          <a:solidFill>
                            <a:srgbClr val="FF0000"/>
                          </a:solidFill>
                          <a:effectLst/>
                          <a:latin typeface="+mn-lt"/>
                          <a:ea typeface="+mn-ea"/>
                          <a:cs typeface="+mn-cs"/>
                        </a:rPr>
                        <a:t>To improve their ability to analyze and address variety of problems in C++.</a:t>
                      </a:r>
                      <a:endParaRPr lang="en-IN" sz="2000" b="1" dirty="0">
                        <a:solidFill>
                          <a:srgbClr val="FF0000"/>
                        </a:solidFill>
                      </a:endParaRPr>
                    </a:p>
                  </a:txBody>
                  <a:tcPr>
                    <a:noFill/>
                  </a:tcPr>
                </a:tc>
                <a:extLst>
                  <a:ext uri="{0D108BD9-81ED-4DB2-BD59-A6C34878D82A}">
                    <a16:rowId xmlns:a16="http://schemas.microsoft.com/office/drawing/2014/main" val="511240425"/>
                  </a:ext>
                </a:extLst>
              </a:tr>
            </a:tbl>
          </a:graphicData>
        </a:graphic>
      </p:graphicFrame>
    </p:spTree>
    <p:extLst>
      <p:ext uri="{BB962C8B-B14F-4D97-AF65-F5344CB8AC3E}">
        <p14:creationId xmlns:p14="http://schemas.microsoft.com/office/powerpoint/2010/main" val="3189941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326692"/>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553544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266159498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613652" y="2932509"/>
            <a:ext cx="3932237" cy="2045494"/>
          </a:xfrm>
        </p:spPr>
        <p:txBody>
          <a:bodyPr>
            <a:noAutofit/>
          </a:bodyPr>
          <a:lstStyle/>
          <a:p>
            <a:pPr marL="285750" indent="-285750">
              <a:buFont typeface="Arial" panose="020B0604020202020204" pitchFamily="34" charset="0"/>
              <a:buChar char="•"/>
            </a:pPr>
            <a:r>
              <a:rPr lang="en-US" sz="2800" b="1" dirty="0">
                <a:latin typeface="Casper"/>
              </a:rPr>
              <a:t>Introduction to Inline Function </a:t>
            </a:r>
          </a:p>
          <a:p>
            <a:pPr marL="285750" indent="-285750">
              <a:buFont typeface="Arial" panose="020B0604020202020204" pitchFamily="34" charset="0"/>
              <a:buChar char="•"/>
            </a:pPr>
            <a:r>
              <a:rPr lang="en-US" sz="2800" b="1" dirty="0">
                <a:latin typeface="Casper"/>
              </a:rPr>
              <a:t>Advantages of inline function </a:t>
            </a:r>
          </a:p>
          <a:p>
            <a:pPr marL="285750" indent="-285750">
              <a:buFont typeface="Arial" panose="020B0604020202020204" pitchFamily="34" charset="0"/>
              <a:buChar char="•"/>
            </a:pPr>
            <a:r>
              <a:rPr lang="en-US" sz="2800" b="1" dirty="0">
                <a:latin typeface="Casper"/>
              </a:rPr>
              <a:t>Examples</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3351488" y="1535480"/>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9" name="Rectangle 8"/>
          <p:cNvSpPr/>
          <p:nvPr/>
        </p:nvSpPr>
        <p:spPr>
          <a:xfrm>
            <a:off x="3418390" y="2694781"/>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3801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344D2-EA37-4A7D-A86F-55AC9A4C7F78}"/>
              </a:ext>
            </a:extLst>
          </p:cNvPr>
          <p:cNvSpPr>
            <a:spLocks noGrp="1"/>
          </p:cNvSpPr>
          <p:nvPr>
            <p:ph type="title"/>
          </p:nvPr>
        </p:nvSpPr>
        <p:spPr/>
        <p:txBody>
          <a:bodyPr/>
          <a:lstStyle/>
          <a:p>
            <a:r>
              <a:rPr lang="en-US" dirty="0">
                <a:latin typeface="Casper Bold" panose="02000806040000020004" pitchFamily="2" charset="0"/>
                <a:cs typeface="Arial" panose="020B0604020202020204" pitchFamily="34" charset="0"/>
              </a:rPr>
              <a:t>INLINE FUNCTION</a:t>
            </a:r>
            <a:endParaRPr lang="en-IN" dirty="0"/>
          </a:p>
        </p:txBody>
      </p:sp>
      <p:sp>
        <p:nvSpPr>
          <p:cNvPr id="3" name="Content Placeholder 2">
            <a:extLst>
              <a:ext uri="{FF2B5EF4-FFF2-40B4-BE49-F238E27FC236}">
                <a16:creationId xmlns:a16="http://schemas.microsoft.com/office/drawing/2014/main" id="{A99383C7-E2A8-44C6-A833-06DE82516E62}"/>
              </a:ext>
            </a:extLst>
          </p:cNvPr>
          <p:cNvSpPr>
            <a:spLocks noGrp="1"/>
          </p:cNvSpPr>
          <p:nvPr>
            <p:ph idx="1"/>
          </p:nvPr>
        </p:nvSpPr>
        <p:spPr>
          <a:xfrm>
            <a:off x="838200" y="1825624"/>
            <a:ext cx="10515600" cy="4424255"/>
          </a:xfrm>
        </p:spPr>
        <p:txBody>
          <a:bodyPr>
            <a:normAutofit fontScale="77500" lnSpcReduction="20000"/>
          </a:bodyPr>
          <a:lstStyle/>
          <a:p>
            <a:pPr marL="0" indent="0">
              <a:buNone/>
            </a:pPr>
            <a:r>
              <a:rPr lang="en-IN" sz="3300" dirty="0">
                <a:cs typeface="Times New Roman" panose="02020603050405020304" pitchFamily="18" charset="0"/>
              </a:rPr>
              <a:t>Inline functions are actual functions, which are copied everywhere during compilation, like </a:t>
            </a:r>
            <a:r>
              <a:rPr lang="en-IN" sz="3300" dirty="0" err="1">
                <a:cs typeface="Times New Roman" panose="02020603050405020304" pitchFamily="18" charset="0"/>
              </a:rPr>
              <a:t>preprocessor</a:t>
            </a:r>
            <a:r>
              <a:rPr lang="en-IN" sz="3300" dirty="0">
                <a:cs typeface="Times New Roman" pitchFamily="18" charset="0"/>
              </a:rPr>
              <a:t> macro, so the overhead of function calling is reduced. All the functions defined inside class definition are by default inline, but you can also make any non-class function inline by using keyword inline with them. </a:t>
            </a:r>
          </a:p>
          <a:p>
            <a:pPr marL="0" indent="0">
              <a:buNone/>
            </a:pPr>
            <a:r>
              <a:rPr lang="en-IN" sz="3300" dirty="0">
                <a:cs typeface="Times New Roman" pitchFamily="18" charset="0"/>
              </a:rPr>
              <a:t>An inline function is expanded (i.e. the function code is replaced when a call to the inline function is made) in the line where it is invoked.</a:t>
            </a:r>
          </a:p>
          <a:p>
            <a:pPr>
              <a:buNone/>
            </a:pPr>
            <a:r>
              <a:rPr lang="en-IN" sz="3300" b="1" u="sng" dirty="0">
                <a:cs typeface="Times New Roman" pitchFamily="18" charset="0"/>
              </a:rPr>
              <a:t>Syntax:</a:t>
            </a:r>
          </a:p>
          <a:p>
            <a:pPr>
              <a:buNone/>
            </a:pPr>
            <a:r>
              <a:rPr lang="en-IN" sz="3300" dirty="0">
                <a:cs typeface="Times New Roman" pitchFamily="18" charset="0"/>
              </a:rPr>
              <a:t>    inline </a:t>
            </a:r>
            <a:r>
              <a:rPr lang="en-IN" sz="3300" dirty="0" err="1">
                <a:cs typeface="Times New Roman" pitchFamily="18" charset="0"/>
              </a:rPr>
              <a:t>function_header</a:t>
            </a:r>
            <a:r>
              <a:rPr lang="en-IN" sz="3300" dirty="0">
                <a:cs typeface="Times New Roman" pitchFamily="18" charset="0"/>
              </a:rPr>
              <a:t> </a:t>
            </a:r>
          </a:p>
          <a:p>
            <a:pPr>
              <a:buNone/>
            </a:pPr>
            <a:r>
              <a:rPr lang="en-IN" sz="3300" dirty="0">
                <a:cs typeface="Times New Roman" pitchFamily="18" charset="0"/>
              </a:rPr>
              <a:t>    { </a:t>
            </a:r>
          </a:p>
          <a:p>
            <a:pPr>
              <a:buNone/>
            </a:pPr>
            <a:r>
              <a:rPr lang="en-IN" sz="3300" dirty="0">
                <a:cs typeface="Times New Roman" pitchFamily="18" charset="0"/>
              </a:rPr>
              <a:t>        body of the function </a:t>
            </a:r>
          </a:p>
          <a:p>
            <a:pPr>
              <a:buNone/>
            </a:pPr>
            <a:r>
              <a:rPr lang="en-IN" sz="3300" dirty="0">
                <a:cs typeface="Times New Roman" pitchFamily="18" charset="0"/>
              </a:rPr>
              <a:t>     } </a:t>
            </a:r>
          </a:p>
          <a:p>
            <a:endParaRPr lang="en-IN" dirty="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03C641-469B-45D7-B5C1-E777FFF80BB2}"/>
              </a:ext>
            </a:extLst>
          </p:cNvPr>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155305626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61C2A9-BEB2-4D38-A178-DC56C0C4D813}"/>
              </a:ext>
            </a:extLst>
          </p:cNvPr>
          <p:cNvSpPr>
            <a:spLocks noGrp="1"/>
          </p:cNvSpPr>
          <p:nvPr>
            <p:ph idx="1"/>
          </p:nvPr>
        </p:nvSpPr>
        <p:spPr/>
        <p:txBody>
          <a:bodyPr>
            <a:normAutofit lnSpcReduction="10000"/>
          </a:bodyPr>
          <a:lstStyle/>
          <a:p>
            <a:r>
              <a:rPr lang="en-IN" sz="2800" dirty="0">
                <a:cs typeface="Arial" panose="020B0604020202020204" pitchFamily="34" charset="0"/>
              </a:rPr>
              <a:t>We must keep inline functions small, small inline functions have better efficiency.</a:t>
            </a:r>
          </a:p>
          <a:p>
            <a:r>
              <a:rPr lang="en-IN" sz="2800" dirty="0">
                <a:cs typeface="Arial" panose="020B0604020202020204" pitchFamily="34" charset="0"/>
              </a:rPr>
              <a:t>Inline functions do increase efficiency, but we should not make all the functions inline. Because if we make large functions inline, it may lead to code bloat, and might affect the speed too.</a:t>
            </a:r>
          </a:p>
          <a:p>
            <a:r>
              <a:rPr lang="en-IN" sz="2800" dirty="0">
                <a:cs typeface="Arial" panose="020B0604020202020204" pitchFamily="34" charset="0"/>
              </a:rPr>
              <a:t>Hence, it is </a:t>
            </a:r>
            <a:r>
              <a:rPr lang="en-IN" sz="2800" dirty="0" err="1">
                <a:cs typeface="Arial" panose="020B0604020202020204" pitchFamily="34" charset="0"/>
              </a:rPr>
              <a:t>adviced</a:t>
            </a:r>
            <a:r>
              <a:rPr lang="en-IN" sz="2800" dirty="0">
                <a:cs typeface="Arial" panose="020B0604020202020204" pitchFamily="34" charset="0"/>
              </a:rPr>
              <a:t> to define large functions outside the class definition using scope resolution :: operator, because if we define such functions inside class definition, then they become inline automatically.</a:t>
            </a:r>
          </a:p>
          <a:p>
            <a:r>
              <a:rPr lang="en-IN" sz="2800" dirty="0">
                <a:cs typeface="Arial" panose="020B0604020202020204" pitchFamily="34" charset="0"/>
              </a:rPr>
              <a:t>Inline functions are kept in the Symbol Table by the compiler, and all the call for such functions is taken care at compile time</a:t>
            </a:r>
          </a:p>
          <a:p>
            <a:endParaRPr lang="en-IN" dirty="0"/>
          </a:p>
        </p:txBody>
      </p:sp>
      <p:sp>
        <p:nvSpPr>
          <p:cNvPr id="4" name="Slide Number Placeholder 3">
            <a:extLst>
              <a:ext uri="{FF2B5EF4-FFF2-40B4-BE49-F238E27FC236}">
                <a16:creationId xmlns:a16="http://schemas.microsoft.com/office/drawing/2014/main" id="{91510754-2648-4E9F-A101-381715CC68E1}"/>
              </a:ext>
            </a:extLst>
          </p:cNvPr>
          <p:cNvSpPr>
            <a:spLocks noGrp="1"/>
          </p:cNvSpPr>
          <p:nvPr>
            <p:ph type="sldNum" sz="quarter" idx="12"/>
          </p:nvPr>
        </p:nvSpPr>
        <p:spPr/>
        <p:txBody>
          <a:bodyPr/>
          <a:lstStyle/>
          <a:p>
            <a:fld id="{BDCDBBEF-AA6C-4BA6-85B2-A17D7F280E38}" type="slidenum">
              <a:rPr lang="en-US" smtClean="0"/>
              <a:pPr/>
              <a:t>7</a:t>
            </a:fld>
            <a:endParaRPr lang="en-US"/>
          </a:p>
        </p:txBody>
      </p:sp>
      <p:sp>
        <p:nvSpPr>
          <p:cNvPr id="7" name="TextBox 6">
            <a:extLst>
              <a:ext uri="{FF2B5EF4-FFF2-40B4-BE49-F238E27FC236}">
                <a16:creationId xmlns:a16="http://schemas.microsoft.com/office/drawing/2014/main" id="{DE4E1255-3C82-4F7B-A800-6A413209294C}"/>
              </a:ext>
            </a:extLst>
          </p:cNvPr>
          <p:cNvSpPr txBox="1"/>
          <p:nvPr/>
        </p:nvSpPr>
        <p:spPr>
          <a:xfrm>
            <a:off x="1111929" y="681037"/>
            <a:ext cx="6094520" cy="769441"/>
          </a:xfrm>
          <a:prstGeom prst="rect">
            <a:avLst/>
          </a:prstGeom>
          <a:noFill/>
        </p:spPr>
        <p:txBody>
          <a:bodyPr wrap="square">
            <a:spAutoFit/>
          </a:bodyPr>
          <a:lstStyle/>
          <a:p>
            <a:r>
              <a:rPr lang="en-IN" sz="4400" dirty="0"/>
              <a:t>INLINE FUNCTION</a:t>
            </a:r>
          </a:p>
        </p:txBody>
      </p:sp>
    </p:spTree>
    <p:extLst>
      <p:ext uri="{BB962C8B-B14F-4D97-AF65-F5344CB8AC3E}">
        <p14:creationId xmlns:p14="http://schemas.microsoft.com/office/powerpoint/2010/main" val="398090264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B2BB0-9640-45D7-BE47-5526C1E43A63}"/>
              </a:ext>
            </a:extLst>
          </p:cNvPr>
          <p:cNvSpPr>
            <a:spLocks noGrp="1"/>
          </p:cNvSpPr>
          <p:nvPr>
            <p:ph type="title"/>
          </p:nvPr>
        </p:nvSpPr>
        <p:spPr/>
        <p:txBody>
          <a:bodyPr/>
          <a:lstStyle/>
          <a:p>
            <a:r>
              <a:rPr lang="en-US" dirty="0">
                <a:latin typeface="Casper Bold" panose="02000806040000020004" pitchFamily="2" charset="0"/>
                <a:cs typeface="Arial" panose="020B0604020202020204" pitchFamily="34" charset="0"/>
              </a:rPr>
              <a:t>INLINE FUNCTION</a:t>
            </a:r>
            <a:endParaRPr lang="en-IN" b="1" dirty="0"/>
          </a:p>
        </p:txBody>
      </p:sp>
      <p:sp>
        <p:nvSpPr>
          <p:cNvPr id="3" name="Content Placeholder 2">
            <a:extLst>
              <a:ext uri="{FF2B5EF4-FFF2-40B4-BE49-F238E27FC236}">
                <a16:creationId xmlns:a16="http://schemas.microsoft.com/office/drawing/2014/main" id="{13D6B6BF-96C1-468B-B172-C6ED27804568}"/>
              </a:ext>
            </a:extLst>
          </p:cNvPr>
          <p:cNvSpPr>
            <a:spLocks noGrp="1"/>
          </p:cNvSpPr>
          <p:nvPr>
            <p:ph idx="1"/>
          </p:nvPr>
        </p:nvSpPr>
        <p:spPr/>
        <p:txBody>
          <a:bodyPr/>
          <a:lstStyle/>
          <a:p>
            <a:pPr marL="0" indent="0">
              <a:buNone/>
            </a:pPr>
            <a:r>
              <a:rPr lang="en-IN" sz="2800" dirty="0">
                <a:latin typeface="Casper" panose="02000506000000020004" pitchFamily="2" charset="0"/>
                <a:cs typeface="Arial" panose="020B0604020202020204" pitchFamily="34" charset="0"/>
              </a:rPr>
              <a:t>The </a:t>
            </a:r>
            <a:r>
              <a:rPr lang="en-IN" sz="2800" dirty="0" err="1">
                <a:latin typeface="Casper" panose="02000506000000020004" pitchFamily="2" charset="0"/>
                <a:cs typeface="Arial" panose="020B0604020202020204" pitchFamily="34" charset="0"/>
              </a:rPr>
              <a:t>inlining</a:t>
            </a:r>
            <a:r>
              <a:rPr lang="en-IN" sz="2800" dirty="0">
                <a:latin typeface="Casper" panose="02000506000000020004" pitchFamily="2" charset="0"/>
                <a:cs typeface="Arial" panose="020B0604020202020204" pitchFamily="34" charset="0"/>
              </a:rPr>
              <a:t> does not work for the following situations : </a:t>
            </a:r>
          </a:p>
          <a:p>
            <a:pPr marL="0" indent="0">
              <a:buNone/>
            </a:pPr>
            <a:r>
              <a:rPr lang="en-IN" sz="2800" dirty="0">
                <a:latin typeface="Casper" panose="02000506000000020004" pitchFamily="2" charset="0"/>
                <a:cs typeface="Arial" panose="020B0604020202020204" pitchFamily="34" charset="0"/>
              </a:rPr>
              <a:t>1. For functions returning values and having a loop or a switch or a </a:t>
            </a:r>
            <a:r>
              <a:rPr lang="en-IN" sz="2800" dirty="0" err="1">
                <a:latin typeface="Casper" panose="02000506000000020004" pitchFamily="2" charset="0"/>
                <a:cs typeface="Arial" panose="020B0604020202020204" pitchFamily="34" charset="0"/>
              </a:rPr>
              <a:t>goto</a:t>
            </a:r>
            <a:r>
              <a:rPr lang="en-IN" sz="2800" dirty="0">
                <a:latin typeface="Casper" panose="02000506000000020004" pitchFamily="2" charset="0"/>
                <a:cs typeface="Arial" panose="020B0604020202020204" pitchFamily="34" charset="0"/>
              </a:rPr>
              <a:t> statement. </a:t>
            </a:r>
          </a:p>
          <a:p>
            <a:pPr marL="0" indent="0">
              <a:buNone/>
            </a:pPr>
            <a:r>
              <a:rPr lang="en-IN" sz="2800" dirty="0">
                <a:latin typeface="Casper" panose="02000506000000020004" pitchFamily="2" charset="0"/>
                <a:cs typeface="Arial" panose="020B0604020202020204" pitchFamily="34" charset="0"/>
              </a:rPr>
              <a:t>2. For functions that do not return value and having a return statement. </a:t>
            </a:r>
          </a:p>
          <a:p>
            <a:pPr marL="0" indent="0">
              <a:buNone/>
            </a:pPr>
            <a:r>
              <a:rPr lang="en-IN" sz="2800" dirty="0">
                <a:latin typeface="Casper" panose="02000506000000020004" pitchFamily="2" charset="0"/>
                <a:cs typeface="Arial" panose="020B0604020202020204" pitchFamily="34" charset="0"/>
              </a:rPr>
              <a:t>3. For functions having static variable(s). </a:t>
            </a:r>
          </a:p>
          <a:p>
            <a:pPr marL="0" indent="0">
              <a:buNone/>
            </a:pPr>
            <a:r>
              <a:rPr lang="en-IN" sz="2800" dirty="0">
                <a:latin typeface="Casper" panose="02000506000000020004" pitchFamily="2" charset="0"/>
                <a:cs typeface="Arial" panose="020B0604020202020204" pitchFamily="34" charset="0"/>
              </a:rPr>
              <a:t>4. If the inline functions are recursive (i.e. a function defined in terms of itself). </a:t>
            </a:r>
          </a:p>
          <a:p>
            <a:endParaRPr lang="en-IN" dirty="0"/>
          </a:p>
        </p:txBody>
      </p:sp>
      <p:sp>
        <p:nvSpPr>
          <p:cNvPr id="4" name="Slide Number Placeholder 3">
            <a:extLst>
              <a:ext uri="{FF2B5EF4-FFF2-40B4-BE49-F238E27FC236}">
                <a16:creationId xmlns:a16="http://schemas.microsoft.com/office/drawing/2014/main" id="{8C94F55F-9F0C-4452-A9BE-D0641779B531}"/>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332672066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5E0D5-8765-42DD-932D-F7C98E90EBDD}"/>
              </a:ext>
            </a:extLst>
          </p:cNvPr>
          <p:cNvSpPr>
            <a:spLocks noGrp="1"/>
          </p:cNvSpPr>
          <p:nvPr>
            <p:ph type="title"/>
          </p:nvPr>
        </p:nvSpPr>
        <p:spPr>
          <a:xfrm>
            <a:off x="838200" y="122700"/>
            <a:ext cx="10515600" cy="1325563"/>
          </a:xfrm>
        </p:spPr>
        <p:txBody>
          <a:bodyPr>
            <a:normAutofit fontScale="90000"/>
          </a:bodyPr>
          <a:lstStyle/>
          <a:p>
            <a:r>
              <a:rPr lang="en-IN" sz="4400" dirty="0">
                <a:solidFill>
                  <a:srgbClr val="000000"/>
                </a:solidFill>
                <a:effectLst/>
                <a:latin typeface="Roboto"/>
                <a:ea typeface="Calibri" panose="020F0502020204030204" pitchFamily="34" charset="0"/>
                <a:cs typeface="Times New Roman" panose="02020603050405020304" pitchFamily="18" charset="0"/>
              </a:rPr>
              <a:t/>
            </a:r>
            <a:br>
              <a:rPr lang="en-IN" sz="4400" dirty="0">
                <a:solidFill>
                  <a:srgbClr val="000000"/>
                </a:solidFill>
                <a:effectLst/>
                <a:latin typeface="Roboto"/>
                <a:ea typeface="Calibri" panose="020F0502020204030204" pitchFamily="34" charset="0"/>
                <a:cs typeface="Times New Roman" panose="02020603050405020304" pitchFamily="18" charset="0"/>
              </a:rPr>
            </a:br>
            <a:r>
              <a:rPr lang="en-IN" sz="4400" b="1" dirty="0">
                <a:solidFill>
                  <a:srgbClr val="000000"/>
                </a:solidFill>
                <a:effectLst/>
                <a:latin typeface="Roboto"/>
                <a:ea typeface="Calibri" panose="020F0502020204030204" pitchFamily="34" charset="0"/>
                <a:cs typeface="Times New Roman" panose="02020603050405020304" pitchFamily="18" charset="0"/>
              </a:rPr>
              <a:t>Inline functions provide following advantages:</a:t>
            </a:r>
            <a:r>
              <a:rPr lang="en-IN" sz="4400" b="1" dirty="0">
                <a:effectLst/>
                <a:latin typeface="Calibri" panose="020F0502020204030204" pitchFamily="34" charset="0"/>
                <a:ea typeface="Calibri" panose="020F0502020204030204" pitchFamily="34" charset="0"/>
                <a:cs typeface="Times New Roman" panose="02020603050405020304" pitchFamily="18" charset="0"/>
              </a:rPr>
              <a:t/>
            </a:r>
            <a:br>
              <a:rPr lang="en-IN" sz="4400" b="1" dirty="0">
                <a:effectLst/>
                <a:latin typeface="Calibri" panose="020F0502020204030204" pitchFamily="34" charset="0"/>
                <a:ea typeface="Calibri" panose="020F0502020204030204" pitchFamily="34" charset="0"/>
                <a:cs typeface="Times New Roman" panose="02020603050405020304" pitchFamily="18" charset="0"/>
              </a:rPr>
            </a:br>
            <a:endParaRPr lang="en-IN" b="1" dirty="0"/>
          </a:p>
        </p:txBody>
      </p:sp>
      <p:sp>
        <p:nvSpPr>
          <p:cNvPr id="3" name="Content Placeholder 2">
            <a:extLst>
              <a:ext uri="{FF2B5EF4-FFF2-40B4-BE49-F238E27FC236}">
                <a16:creationId xmlns:a16="http://schemas.microsoft.com/office/drawing/2014/main" id="{8749CC1F-96DE-45FF-9833-98E37B5C0545}"/>
              </a:ext>
            </a:extLst>
          </p:cNvPr>
          <p:cNvSpPr>
            <a:spLocks noGrp="1"/>
          </p:cNvSpPr>
          <p:nvPr>
            <p:ph idx="1"/>
          </p:nvPr>
        </p:nvSpPr>
        <p:spPr>
          <a:xfrm>
            <a:off x="838200" y="1643948"/>
            <a:ext cx="10515600" cy="4351338"/>
          </a:xfrm>
        </p:spPr>
        <p:txBody>
          <a:bodyPr>
            <a:noAutofit/>
          </a:bodyPr>
          <a:lstStyle/>
          <a:p>
            <a:pPr marL="0" indent="0">
              <a:lnSpc>
                <a:spcPct val="107000"/>
              </a:lnSpc>
              <a:spcAft>
                <a:spcPts val="800"/>
              </a:spcAft>
              <a:buNone/>
            </a:pPr>
            <a:r>
              <a:rPr lang="en-IN" dirty="0">
                <a:solidFill>
                  <a:srgbClr val="000000"/>
                </a:solidFill>
                <a:effectLst/>
                <a:latin typeface="Roboto"/>
                <a:ea typeface="Calibri" panose="020F0502020204030204" pitchFamily="34" charset="0"/>
                <a:cs typeface="Times New Roman" panose="02020603050405020304" pitchFamily="18" charset="0"/>
              </a:rPr>
              <a:t>1) Function call overhead doesn’t occur.</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dirty="0">
                <a:solidFill>
                  <a:srgbClr val="000000"/>
                </a:solidFill>
                <a:effectLst/>
                <a:latin typeface="Roboto"/>
                <a:ea typeface="Calibri" panose="020F0502020204030204" pitchFamily="34" charset="0"/>
                <a:cs typeface="Times New Roman" panose="02020603050405020304" pitchFamily="18" charset="0"/>
              </a:rPr>
              <a:t>2) It also saves the overhead of push/pop variables on the stack when function is called.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dirty="0">
                <a:solidFill>
                  <a:srgbClr val="000000"/>
                </a:solidFill>
                <a:effectLst/>
                <a:latin typeface="Roboto"/>
                <a:ea typeface="Calibri" panose="020F0502020204030204" pitchFamily="34" charset="0"/>
                <a:cs typeface="Times New Roman" panose="02020603050405020304" pitchFamily="18" charset="0"/>
              </a:rPr>
              <a:t>3) It also saves overhead of a return call from a function.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dirty="0">
                <a:solidFill>
                  <a:srgbClr val="000000"/>
                </a:solidFill>
                <a:effectLst/>
                <a:latin typeface="Roboto"/>
                <a:ea typeface="Calibri" panose="020F0502020204030204" pitchFamily="34" charset="0"/>
                <a:cs typeface="Times New Roman" panose="02020603050405020304" pitchFamily="18" charset="0"/>
              </a:rPr>
              <a:t>4) When you inline a function, you may enable compiler to perform context specific optimization on the body of function. Such optimizations are not possible for normal function calls. Other optimizations can be obtained by considering the flows of calling context and the called context.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31322205-E26E-4734-8D93-836715EF1D56}"/>
              </a:ext>
            </a:extLst>
          </p:cNvPr>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77965464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56D3B-2C43-439D-B3B1-6016FD57ECAA}"/>
              </a:ext>
            </a:extLst>
          </p:cNvPr>
          <p:cNvSpPr>
            <a:spLocks noGrp="1"/>
          </p:cNvSpPr>
          <p:nvPr>
            <p:ph type="title"/>
          </p:nvPr>
        </p:nvSpPr>
        <p:spPr>
          <a:xfrm>
            <a:off x="838200" y="136525"/>
            <a:ext cx="10515600" cy="1325563"/>
          </a:xfrm>
        </p:spPr>
        <p:txBody>
          <a:bodyPr/>
          <a:lstStyle/>
          <a:p>
            <a:r>
              <a:rPr lang="en-IN" b="1" dirty="0"/>
              <a:t>Example</a:t>
            </a:r>
            <a:endParaRPr lang="en-IN" dirty="0"/>
          </a:p>
        </p:txBody>
      </p:sp>
      <p:sp>
        <p:nvSpPr>
          <p:cNvPr id="4" name="Slide Number Placeholder 3">
            <a:extLst>
              <a:ext uri="{FF2B5EF4-FFF2-40B4-BE49-F238E27FC236}">
                <a16:creationId xmlns:a16="http://schemas.microsoft.com/office/drawing/2014/main" id="{D77FB6D0-D065-4F05-8DFA-318212D486C2}"/>
              </a:ext>
            </a:extLst>
          </p:cNvPr>
          <p:cNvSpPr>
            <a:spLocks noGrp="1"/>
          </p:cNvSpPr>
          <p:nvPr>
            <p:ph type="sldNum" sz="quarter" idx="12"/>
          </p:nvPr>
        </p:nvSpPr>
        <p:spPr/>
        <p:txBody>
          <a:bodyPr/>
          <a:lstStyle/>
          <a:p>
            <a:fld id="{BDCDBBEF-AA6C-4BA6-85B2-A17D7F280E38}" type="slidenum">
              <a:rPr lang="en-US" smtClean="0"/>
              <a:pPr/>
              <a:t>10</a:t>
            </a:fld>
            <a:endParaRPr lang="en-US"/>
          </a:p>
        </p:txBody>
      </p:sp>
      <p:sp>
        <p:nvSpPr>
          <p:cNvPr id="6" name="Content Placeholder 5">
            <a:extLst>
              <a:ext uri="{FF2B5EF4-FFF2-40B4-BE49-F238E27FC236}">
                <a16:creationId xmlns:a16="http://schemas.microsoft.com/office/drawing/2014/main" id="{FAFB8794-9ECE-4A95-92AC-21157156C0DB}"/>
              </a:ext>
            </a:extLst>
          </p:cNvPr>
          <p:cNvSpPr>
            <a:spLocks noGrp="1"/>
          </p:cNvSpPr>
          <p:nvPr>
            <p:ph idx="1"/>
          </p:nvPr>
        </p:nvSpPr>
        <p:spPr>
          <a:xfrm>
            <a:off x="838200" y="1189608"/>
            <a:ext cx="10515600" cy="5531867"/>
          </a:xfrm>
        </p:spPr>
        <p:txBody>
          <a:bodyPr>
            <a:normAutofit fontScale="25000" lnSpcReduction="20000"/>
          </a:bodyPr>
          <a:lstStyle/>
          <a:p>
            <a:pPr marL="0" indent="0">
              <a:buNone/>
            </a:pPr>
            <a:r>
              <a:rPr lang="en-IN" sz="8000" dirty="0">
                <a:cs typeface="Times New Roman" panose="02020603050405020304" pitchFamily="18" charset="0"/>
              </a:rPr>
              <a:t>#include&lt;iostream&gt;</a:t>
            </a:r>
          </a:p>
          <a:p>
            <a:pPr marL="0" indent="0">
              <a:buNone/>
            </a:pPr>
            <a:r>
              <a:rPr lang="en-IN" sz="8000" dirty="0">
                <a:cs typeface="Times New Roman" panose="02020603050405020304" pitchFamily="18" charset="0"/>
              </a:rPr>
              <a:t>using namespace std;</a:t>
            </a:r>
          </a:p>
          <a:p>
            <a:pPr marL="0" indent="0">
              <a:buNone/>
            </a:pPr>
            <a:endParaRPr lang="en-IN" sz="8000" dirty="0">
              <a:cs typeface="Times New Roman" panose="02020603050405020304" pitchFamily="18" charset="0"/>
            </a:endParaRPr>
          </a:p>
          <a:p>
            <a:pPr marL="0" indent="0">
              <a:buNone/>
            </a:pPr>
            <a:r>
              <a:rPr lang="en-IN" sz="8000" dirty="0">
                <a:cs typeface="Times New Roman" panose="02020603050405020304" pitchFamily="18" charset="0"/>
              </a:rPr>
              <a:t>	inline int Add(int </a:t>
            </a:r>
            <a:r>
              <a:rPr lang="en-IN" sz="8000" dirty="0" err="1">
                <a:cs typeface="Times New Roman" panose="02020603050405020304" pitchFamily="18" charset="0"/>
              </a:rPr>
              <a:t>x,int</a:t>
            </a:r>
            <a:r>
              <a:rPr lang="en-IN" sz="8000" dirty="0">
                <a:cs typeface="Times New Roman" panose="02020603050405020304" pitchFamily="18" charset="0"/>
              </a:rPr>
              <a:t> y)</a:t>
            </a:r>
          </a:p>
          <a:p>
            <a:pPr marL="0" indent="0">
              <a:buNone/>
            </a:pPr>
            <a:r>
              <a:rPr lang="en-IN" sz="8000" dirty="0">
                <a:cs typeface="Times New Roman" panose="02020603050405020304" pitchFamily="18" charset="0"/>
              </a:rPr>
              <a:t>	{</a:t>
            </a:r>
          </a:p>
          <a:p>
            <a:pPr marL="0" indent="0">
              <a:buNone/>
            </a:pPr>
            <a:endParaRPr lang="en-IN" sz="8000" dirty="0">
              <a:cs typeface="Times New Roman" panose="02020603050405020304" pitchFamily="18" charset="0"/>
            </a:endParaRPr>
          </a:p>
          <a:p>
            <a:pPr marL="0" indent="0">
              <a:buNone/>
            </a:pPr>
            <a:r>
              <a:rPr lang="en-IN" sz="8000" dirty="0">
                <a:cs typeface="Times New Roman" panose="02020603050405020304" pitchFamily="18" charset="0"/>
              </a:rPr>
              <a:t>		return </a:t>
            </a:r>
            <a:r>
              <a:rPr lang="en-IN" sz="8000" dirty="0" err="1">
                <a:cs typeface="Times New Roman" panose="02020603050405020304" pitchFamily="18" charset="0"/>
              </a:rPr>
              <a:t>x+y</a:t>
            </a:r>
            <a:r>
              <a:rPr lang="en-IN" sz="8000" dirty="0">
                <a:cs typeface="Times New Roman" panose="02020603050405020304" pitchFamily="18" charset="0"/>
              </a:rPr>
              <a:t>;</a:t>
            </a:r>
          </a:p>
          <a:p>
            <a:pPr marL="0" indent="0">
              <a:buNone/>
            </a:pPr>
            <a:r>
              <a:rPr lang="en-IN" sz="8000" dirty="0">
                <a:cs typeface="Times New Roman" panose="02020603050405020304" pitchFamily="18" charset="0"/>
              </a:rPr>
              <a:t>	}</a:t>
            </a:r>
          </a:p>
          <a:p>
            <a:pPr marL="0" indent="0">
              <a:buNone/>
            </a:pPr>
            <a:endParaRPr lang="en-IN" sz="8000" dirty="0">
              <a:cs typeface="Times New Roman" panose="02020603050405020304" pitchFamily="18" charset="0"/>
            </a:endParaRPr>
          </a:p>
          <a:p>
            <a:pPr marL="0" indent="0">
              <a:buNone/>
            </a:pPr>
            <a:r>
              <a:rPr lang="en-IN" sz="8000" dirty="0">
                <a:cs typeface="Times New Roman" panose="02020603050405020304" pitchFamily="18" charset="0"/>
              </a:rPr>
              <a:t>	int main()</a:t>
            </a:r>
          </a:p>
          <a:p>
            <a:pPr marL="0" indent="0">
              <a:buNone/>
            </a:pPr>
            <a:r>
              <a:rPr lang="en-IN" sz="8000" dirty="0">
                <a:cs typeface="Times New Roman" panose="02020603050405020304" pitchFamily="18" charset="0"/>
              </a:rPr>
              <a:t>	{</a:t>
            </a:r>
          </a:p>
          <a:p>
            <a:pPr marL="0" indent="0">
              <a:buNone/>
            </a:pPr>
            <a:endParaRPr lang="en-IN" sz="8000" dirty="0">
              <a:cs typeface="Times New Roman" panose="02020603050405020304" pitchFamily="18" charset="0"/>
            </a:endParaRPr>
          </a:p>
          <a:p>
            <a:pPr marL="0" indent="0">
              <a:buNone/>
            </a:pPr>
            <a:r>
              <a:rPr lang="en-IN" sz="8000" dirty="0">
                <a:cs typeface="Times New Roman" panose="02020603050405020304" pitchFamily="18" charset="0"/>
              </a:rPr>
              <a:t>		</a:t>
            </a:r>
            <a:r>
              <a:rPr lang="en-IN" sz="8000" dirty="0" err="1">
                <a:cs typeface="Times New Roman" panose="02020603050405020304" pitchFamily="18" charset="0"/>
              </a:rPr>
              <a:t>cout</a:t>
            </a:r>
            <a:r>
              <a:rPr lang="en-IN" sz="8000" dirty="0">
                <a:cs typeface="Times New Roman" panose="02020603050405020304" pitchFamily="18" charset="0"/>
              </a:rPr>
              <a:t>&lt;&lt;"\n\</a:t>
            </a:r>
            <a:r>
              <a:rPr lang="en-IN" sz="8000" dirty="0" err="1">
                <a:cs typeface="Times New Roman" panose="02020603050405020304" pitchFamily="18" charset="0"/>
              </a:rPr>
              <a:t>tThe</a:t>
            </a:r>
            <a:r>
              <a:rPr lang="en-IN" sz="8000" dirty="0">
                <a:cs typeface="Times New Roman" panose="02020603050405020304" pitchFamily="18" charset="0"/>
              </a:rPr>
              <a:t> Sum is : " &lt;&lt; Add(10,20);</a:t>
            </a:r>
          </a:p>
          <a:p>
            <a:pPr marL="0" indent="0">
              <a:buNone/>
            </a:pPr>
            <a:r>
              <a:rPr lang="en-IN" sz="8000" dirty="0">
                <a:cs typeface="Times New Roman" panose="02020603050405020304" pitchFamily="18" charset="0"/>
              </a:rPr>
              <a:t>		</a:t>
            </a:r>
            <a:r>
              <a:rPr lang="en-IN" sz="8000" dirty="0" err="1">
                <a:cs typeface="Times New Roman" panose="02020603050405020304" pitchFamily="18" charset="0"/>
              </a:rPr>
              <a:t>cout</a:t>
            </a:r>
            <a:r>
              <a:rPr lang="en-IN" sz="8000" dirty="0">
                <a:cs typeface="Times New Roman" panose="02020603050405020304" pitchFamily="18" charset="0"/>
              </a:rPr>
              <a:t>&lt;&lt;"\n\</a:t>
            </a:r>
            <a:r>
              <a:rPr lang="en-IN" sz="8000" dirty="0" err="1">
                <a:cs typeface="Times New Roman" panose="02020603050405020304" pitchFamily="18" charset="0"/>
              </a:rPr>
              <a:t>tThe</a:t>
            </a:r>
            <a:r>
              <a:rPr lang="en-IN" sz="8000" dirty="0">
                <a:cs typeface="Times New Roman" panose="02020603050405020304" pitchFamily="18" charset="0"/>
              </a:rPr>
              <a:t> Sum is : " &lt;&lt; Add(45,83);</a:t>
            </a:r>
          </a:p>
          <a:p>
            <a:pPr marL="0" indent="0">
              <a:buNone/>
            </a:pPr>
            <a:r>
              <a:rPr lang="en-IN" sz="8000" dirty="0">
                <a:cs typeface="Times New Roman" panose="02020603050405020304" pitchFamily="18" charset="0"/>
              </a:rPr>
              <a:t>		</a:t>
            </a:r>
            <a:r>
              <a:rPr lang="en-IN" sz="8000" dirty="0" err="1">
                <a:cs typeface="Times New Roman" panose="02020603050405020304" pitchFamily="18" charset="0"/>
              </a:rPr>
              <a:t>cout</a:t>
            </a:r>
            <a:r>
              <a:rPr lang="en-IN" sz="8000" dirty="0">
                <a:cs typeface="Times New Roman" panose="02020603050405020304" pitchFamily="18" charset="0"/>
              </a:rPr>
              <a:t>&lt;&lt;"\n\</a:t>
            </a:r>
            <a:r>
              <a:rPr lang="en-IN" sz="8000" dirty="0" err="1">
                <a:cs typeface="Times New Roman" panose="02020603050405020304" pitchFamily="18" charset="0"/>
              </a:rPr>
              <a:t>tThe</a:t>
            </a:r>
            <a:r>
              <a:rPr lang="en-IN" sz="8000" dirty="0">
                <a:cs typeface="Times New Roman" panose="02020603050405020304" pitchFamily="18" charset="0"/>
              </a:rPr>
              <a:t> Sum is : " &lt;&lt; Add(27,48);</a:t>
            </a:r>
          </a:p>
          <a:p>
            <a:pPr marL="0" indent="0">
              <a:buNone/>
            </a:pPr>
            <a:r>
              <a:rPr lang="en-IN" sz="8000" dirty="0">
                <a:cs typeface="Times New Roman" panose="02020603050405020304" pitchFamily="18" charset="0"/>
              </a:rPr>
              <a:t>                  }</a:t>
            </a:r>
          </a:p>
          <a:p>
            <a:endParaRPr lang="en-IN" dirty="0"/>
          </a:p>
        </p:txBody>
      </p:sp>
    </p:spTree>
    <p:extLst>
      <p:ext uri="{BB962C8B-B14F-4D97-AF65-F5344CB8AC3E}">
        <p14:creationId xmlns:p14="http://schemas.microsoft.com/office/powerpoint/2010/main" val="13462683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58E25-895E-4722-9861-775CC660A524}"/>
              </a:ext>
            </a:extLst>
          </p:cNvPr>
          <p:cNvSpPr>
            <a:spLocks noGrp="1"/>
          </p:cNvSpPr>
          <p:nvPr>
            <p:ph type="title"/>
          </p:nvPr>
        </p:nvSpPr>
        <p:spPr/>
        <p:txBody>
          <a:bodyPr/>
          <a:lstStyle/>
          <a:p>
            <a:r>
              <a:rPr lang="en-IN" b="1" dirty="0"/>
              <a:t>Output:</a:t>
            </a:r>
          </a:p>
        </p:txBody>
      </p:sp>
      <p:sp>
        <p:nvSpPr>
          <p:cNvPr id="4" name="Slide Number Placeholder 3">
            <a:extLst>
              <a:ext uri="{FF2B5EF4-FFF2-40B4-BE49-F238E27FC236}">
                <a16:creationId xmlns:a16="http://schemas.microsoft.com/office/drawing/2014/main" id="{00EF51C9-27D6-43EC-905E-845BF2CBF066}"/>
              </a:ext>
            </a:extLst>
          </p:cNvPr>
          <p:cNvSpPr>
            <a:spLocks noGrp="1"/>
          </p:cNvSpPr>
          <p:nvPr>
            <p:ph type="sldNum" sz="quarter" idx="12"/>
          </p:nvPr>
        </p:nvSpPr>
        <p:spPr/>
        <p:txBody>
          <a:bodyPr/>
          <a:lstStyle/>
          <a:p>
            <a:fld id="{BDCDBBEF-AA6C-4BA6-85B2-A17D7F280E38}" type="slidenum">
              <a:rPr lang="en-US" smtClean="0"/>
              <a:pPr/>
              <a:t>11</a:t>
            </a:fld>
            <a:endParaRPr lang="en-US"/>
          </a:p>
        </p:txBody>
      </p:sp>
      <p:pic>
        <p:nvPicPr>
          <p:cNvPr id="5" name="Content Placeholder 4">
            <a:extLst>
              <a:ext uri="{FF2B5EF4-FFF2-40B4-BE49-F238E27FC236}">
                <a16:creationId xmlns:a16="http://schemas.microsoft.com/office/drawing/2014/main" id="{AACEC08A-FA2E-4787-AC11-E63B11653805}"/>
              </a:ext>
            </a:extLst>
          </p:cNvPr>
          <p:cNvPicPr>
            <a:picLocks noGrp="1"/>
          </p:cNvPicPr>
          <p:nvPr>
            <p:ph idx="1"/>
          </p:nvPr>
        </p:nvPicPr>
        <p:blipFill>
          <a:blip r:embed="rId2"/>
          <a:stretch>
            <a:fillRect/>
          </a:stretch>
        </p:blipFill>
        <p:spPr>
          <a:xfrm>
            <a:off x="3009900" y="2099388"/>
            <a:ext cx="6172200" cy="3083006"/>
          </a:xfrm>
          <a:prstGeom prst="rect">
            <a:avLst/>
          </a:prstGeom>
        </p:spPr>
      </p:pic>
    </p:spTree>
    <p:extLst>
      <p:ext uri="{BB962C8B-B14F-4D97-AF65-F5344CB8AC3E}">
        <p14:creationId xmlns:p14="http://schemas.microsoft.com/office/powerpoint/2010/main" val="360924638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C78AF2-FE72-4D82-8FEA-010AE1D35C1D}"/>
              </a:ext>
            </a:extLst>
          </p:cNvPr>
          <p:cNvSpPr>
            <a:spLocks noGrp="1"/>
          </p:cNvSpPr>
          <p:nvPr>
            <p:ph idx="1"/>
          </p:nvPr>
        </p:nvSpPr>
        <p:spPr/>
        <p:txBody>
          <a:bodyPr/>
          <a:lstStyle/>
          <a:p>
            <a:r>
              <a:rPr lang="en-IN"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It is also possible to define the inline function inside the class. In fact, all the functions defined inside the class are implicitly inline. Thus, all the restrictions of inline functions are also applied here. </a:t>
            </a:r>
          </a:p>
          <a:p>
            <a:r>
              <a:rPr lang="en-IN"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you need to explicitly declare inline function in the class then just declare the function inside the class and define it outside the class using inline keyword.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4FFC4EBE-15A5-4331-9122-218FCC6982C3}"/>
              </a:ext>
            </a:extLst>
          </p:cNvPr>
          <p:cNvSpPr>
            <a:spLocks noGrp="1"/>
          </p:cNvSpPr>
          <p:nvPr>
            <p:ph type="sldNum" sz="quarter" idx="12"/>
          </p:nvPr>
        </p:nvSpPr>
        <p:spPr/>
        <p:txBody>
          <a:bodyPr/>
          <a:lstStyle/>
          <a:p>
            <a:fld id="{BDCDBBEF-AA6C-4BA6-85B2-A17D7F280E38}" type="slidenum">
              <a:rPr lang="en-US" smtClean="0"/>
              <a:pPr/>
              <a:t>12</a:t>
            </a:fld>
            <a:endParaRPr lang="en-US"/>
          </a:p>
        </p:txBody>
      </p:sp>
      <p:sp>
        <p:nvSpPr>
          <p:cNvPr id="5" name="Title 1">
            <a:extLst>
              <a:ext uri="{FF2B5EF4-FFF2-40B4-BE49-F238E27FC236}">
                <a16:creationId xmlns:a16="http://schemas.microsoft.com/office/drawing/2014/main" id="{1DED3467-AAB3-4A98-A217-43FABB4DE4FB}"/>
              </a:ext>
            </a:extLst>
          </p:cNvPr>
          <p:cNvSpPr>
            <a:spLocks noGrp="1"/>
          </p:cNvSpPr>
          <p:nvPr>
            <p:ph type="title"/>
          </p:nvPr>
        </p:nvSpPr>
        <p:spPr>
          <a:xfrm>
            <a:off x="838200" y="365125"/>
            <a:ext cx="10515600" cy="1325563"/>
          </a:xfrm>
        </p:spPr>
        <p:txBody>
          <a:bodyPr/>
          <a:lstStyle/>
          <a:p>
            <a:r>
              <a:rPr lang="en-US" dirty="0">
                <a:latin typeface="Casper Bold" panose="02000806040000020004" pitchFamily="2" charset="0"/>
                <a:cs typeface="Arial" panose="020B0604020202020204" pitchFamily="34" charset="0"/>
              </a:rPr>
              <a:t>INLINE FUNCTION</a:t>
            </a:r>
            <a:endParaRPr lang="en-IN" b="1" dirty="0"/>
          </a:p>
        </p:txBody>
      </p:sp>
    </p:spTree>
    <p:extLst>
      <p:ext uri="{BB962C8B-B14F-4D97-AF65-F5344CB8AC3E}">
        <p14:creationId xmlns:p14="http://schemas.microsoft.com/office/powerpoint/2010/main" val="243754629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DB3E6-E424-4D1A-BA7D-D056E26681BF}"/>
              </a:ext>
            </a:extLst>
          </p:cNvPr>
          <p:cNvSpPr>
            <a:spLocks noGrp="1"/>
          </p:cNvSpPr>
          <p:nvPr>
            <p:ph type="title"/>
          </p:nvPr>
        </p:nvSpPr>
        <p:spPr>
          <a:xfrm>
            <a:off x="838200" y="0"/>
            <a:ext cx="10515600" cy="1325563"/>
          </a:xfrm>
        </p:spPr>
        <p:txBody>
          <a:bodyPr/>
          <a:lstStyle/>
          <a:p>
            <a:r>
              <a:rPr lang="en-IN" b="1" dirty="0"/>
              <a:t>Example</a:t>
            </a:r>
          </a:p>
        </p:txBody>
      </p:sp>
      <p:sp>
        <p:nvSpPr>
          <p:cNvPr id="4" name="Slide Number Placeholder 3">
            <a:extLst>
              <a:ext uri="{FF2B5EF4-FFF2-40B4-BE49-F238E27FC236}">
                <a16:creationId xmlns:a16="http://schemas.microsoft.com/office/drawing/2014/main" id="{0D09A5B6-C12D-4EA2-9307-A468DA2490EC}"/>
              </a:ext>
            </a:extLst>
          </p:cNvPr>
          <p:cNvSpPr>
            <a:spLocks noGrp="1"/>
          </p:cNvSpPr>
          <p:nvPr>
            <p:ph type="sldNum" sz="quarter" idx="12"/>
          </p:nvPr>
        </p:nvSpPr>
        <p:spPr/>
        <p:txBody>
          <a:bodyPr/>
          <a:lstStyle/>
          <a:p>
            <a:fld id="{BDCDBBEF-AA6C-4BA6-85B2-A17D7F280E38}" type="slidenum">
              <a:rPr lang="en-US" smtClean="0"/>
              <a:pPr/>
              <a:t>13</a:t>
            </a:fld>
            <a:endParaRPr lang="en-US"/>
          </a:p>
        </p:txBody>
      </p:sp>
      <p:sp>
        <p:nvSpPr>
          <p:cNvPr id="6" name="Content Placeholder 5">
            <a:extLst>
              <a:ext uri="{FF2B5EF4-FFF2-40B4-BE49-F238E27FC236}">
                <a16:creationId xmlns:a16="http://schemas.microsoft.com/office/drawing/2014/main" id="{20D1D4E9-6F16-44C5-8E88-0D67E79A2102}"/>
              </a:ext>
            </a:extLst>
          </p:cNvPr>
          <p:cNvSpPr>
            <a:spLocks noGrp="1"/>
          </p:cNvSpPr>
          <p:nvPr>
            <p:ph idx="1"/>
          </p:nvPr>
        </p:nvSpPr>
        <p:spPr>
          <a:xfrm>
            <a:off x="1491448" y="1325563"/>
            <a:ext cx="4829453" cy="5478601"/>
          </a:xfrm>
        </p:spPr>
        <p:txBody>
          <a:bodyPr>
            <a:normAutofit fontScale="32500" lnSpcReduction="20000"/>
          </a:bodyPr>
          <a:lstStyle/>
          <a:p>
            <a:pPr marL="0" indent="0" algn="just">
              <a:buNone/>
            </a:pPr>
            <a:r>
              <a:rPr lang="en-IN" sz="4500" dirty="0"/>
              <a:t>#include &lt;iostream&gt; </a:t>
            </a:r>
          </a:p>
          <a:p>
            <a:pPr marL="0" indent="0" algn="just">
              <a:buNone/>
            </a:pPr>
            <a:r>
              <a:rPr lang="en-IN" sz="4500" dirty="0"/>
              <a:t>using namespace std; </a:t>
            </a:r>
          </a:p>
          <a:p>
            <a:pPr marL="0" indent="0" algn="just">
              <a:buNone/>
            </a:pPr>
            <a:r>
              <a:rPr lang="en-IN" sz="4500" dirty="0"/>
              <a:t>class operation </a:t>
            </a:r>
          </a:p>
          <a:p>
            <a:pPr marL="0" indent="0" algn="just">
              <a:buNone/>
            </a:pPr>
            <a:r>
              <a:rPr lang="en-IN" sz="4500" dirty="0"/>
              <a:t>{ </a:t>
            </a:r>
          </a:p>
          <a:p>
            <a:pPr marL="0" indent="0" algn="just">
              <a:buNone/>
            </a:pPr>
            <a:r>
              <a:rPr lang="en-IN" sz="4500" dirty="0"/>
              <a:t>    int a, b, add, sub; </a:t>
            </a:r>
          </a:p>
          <a:p>
            <a:pPr marL="0" indent="0" algn="just">
              <a:buNone/>
            </a:pPr>
            <a:r>
              <a:rPr lang="en-IN" sz="4500" dirty="0"/>
              <a:t>    </a:t>
            </a:r>
          </a:p>
          <a:p>
            <a:pPr marL="0" indent="0" algn="just">
              <a:buNone/>
            </a:pPr>
            <a:r>
              <a:rPr lang="en-IN" sz="4500" dirty="0"/>
              <a:t>public: </a:t>
            </a:r>
          </a:p>
          <a:p>
            <a:pPr marL="0" indent="0" algn="just">
              <a:buNone/>
            </a:pPr>
            <a:r>
              <a:rPr lang="en-IN" sz="4500" dirty="0"/>
              <a:t>    void get(); </a:t>
            </a:r>
          </a:p>
          <a:p>
            <a:pPr marL="0" indent="0" algn="just">
              <a:buNone/>
            </a:pPr>
            <a:r>
              <a:rPr lang="en-IN" sz="4500" dirty="0"/>
              <a:t>    void sum(); </a:t>
            </a:r>
          </a:p>
          <a:p>
            <a:pPr marL="0" indent="0" algn="just">
              <a:buNone/>
            </a:pPr>
            <a:r>
              <a:rPr lang="en-IN" sz="4500" dirty="0"/>
              <a:t>    void difference(); </a:t>
            </a:r>
          </a:p>
          <a:p>
            <a:pPr marL="0" indent="0" algn="just">
              <a:buNone/>
            </a:pPr>
            <a:r>
              <a:rPr lang="en-IN" sz="4500" dirty="0"/>
              <a:t>     </a:t>
            </a:r>
          </a:p>
          <a:p>
            <a:pPr marL="0" indent="0" algn="just">
              <a:buNone/>
            </a:pPr>
            <a:r>
              <a:rPr lang="en-IN" sz="4500" dirty="0"/>
              <a:t>}; </a:t>
            </a:r>
          </a:p>
          <a:p>
            <a:pPr marL="0" indent="0" algn="just">
              <a:buNone/>
            </a:pPr>
            <a:r>
              <a:rPr lang="en-IN" sz="4500" dirty="0"/>
              <a:t>inline void operation :: get() </a:t>
            </a:r>
          </a:p>
          <a:p>
            <a:pPr marL="0" indent="0" algn="just">
              <a:buNone/>
            </a:pPr>
            <a:r>
              <a:rPr lang="en-IN" sz="4500" dirty="0"/>
              <a:t>{ </a:t>
            </a:r>
          </a:p>
          <a:p>
            <a:pPr marL="0" indent="0" algn="just">
              <a:buNone/>
            </a:pPr>
            <a:r>
              <a:rPr lang="en-IN" sz="4500" dirty="0"/>
              <a:t>    </a:t>
            </a:r>
            <a:r>
              <a:rPr lang="en-IN" sz="4500" dirty="0" err="1"/>
              <a:t>cout</a:t>
            </a:r>
            <a:r>
              <a:rPr lang="en-IN" sz="4500" dirty="0"/>
              <a:t> &lt;&lt; "Enter first value:"; </a:t>
            </a:r>
          </a:p>
          <a:p>
            <a:pPr marL="0" indent="0" algn="just">
              <a:buNone/>
            </a:pPr>
            <a:r>
              <a:rPr lang="en-IN" sz="4500" dirty="0"/>
              <a:t>    </a:t>
            </a:r>
            <a:r>
              <a:rPr lang="en-IN" sz="4500" dirty="0" err="1"/>
              <a:t>cin</a:t>
            </a:r>
            <a:r>
              <a:rPr lang="en-IN" sz="4500" dirty="0"/>
              <a:t> &gt;&gt; a; </a:t>
            </a:r>
          </a:p>
          <a:p>
            <a:pPr marL="0" indent="0" algn="just">
              <a:buNone/>
            </a:pPr>
            <a:r>
              <a:rPr lang="en-IN" sz="4500" dirty="0"/>
              <a:t>    </a:t>
            </a:r>
            <a:r>
              <a:rPr lang="en-IN" sz="4500" dirty="0" err="1"/>
              <a:t>cout</a:t>
            </a:r>
            <a:r>
              <a:rPr lang="en-IN" sz="4500" dirty="0"/>
              <a:t> &lt;&lt; "Enter second value:"; </a:t>
            </a:r>
          </a:p>
          <a:p>
            <a:pPr marL="0" indent="0" algn="just">
              <a:buNone/>
            </a:pPr>
            <a:r>
              <a:rPr lang="en-IN" sz="4500" dirty="0"/>
              <a:t>    </a:t>
            </a:r>
            <a:r>
              <a:rPr lang="en-IN" sz="4500" dirty="0" err="1"/>
              <a:t>cin</a:t>
            </a:r>
            <a:r>
              <a:rPr lang="en-IN" sz="4500" dirty="0"/>
              <a:t> &gt;&gt; b; </a:t>
            </a:r>
          </a:p>
          <a:p>
            <a:pPr marL="0" indent="0" algn="just">
              <a:buNone/>
            </a:pPr>
            <a:r>
              <a:rPr lang="en-IN" sz="4500" dirty="0"/>
              <a:t>} </a:t>
            </a:r>
          </a:p>
          <a:p>
            <a:pPr marL="0" indent="0">
              <a:buNone/>
            </a:pPr>
            <a:endParaRPr lang="en-IN" dirty="0"/>
          </a:p>
        </p:txBody>
      </p:sp>
    </p:spTree>
    <p:extLst>
      <p:ext uri="{BB962C8B-B14F-4D97-AF65-F5344CB8AC3E}">
        <p14:creationId xmlns:p14="http://schemas.microsoft.com/office/powerpoint/2010/main" val="243436768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08625-423F-477C-9498-860B0920D6E2}"/>
              </a:ext>
            </a:extLst>
          </p:cNvPr>
          <p:cNvSpPr>
            <a:spLocks noGrp="1"/>
          </p:cNvSpPr>
          <p:nvPr>
            <p:ph type="title"/>
          </p:nvPr>
        </p:nvSpPr>
        <p:spPr>
          <a:xfrm>
            <a:off x="838200" y="355107"/>
            <a:ext cx="10515600" cy="1095822"/>
          </a:xfrm>
        </p:spPr>
        <p:txBody>
          <a:bodyPr/>
          <a:lstStyle/>
          <a:p>
            <a:r>
              <a:rPr lang="en-IN" b="1" dirty="0"/>
              <a:t>Example </a:t>
            </a:r>
            <a:r>
              <a:rPr lang="en-IN" b="1" dirty="0" err="1"/>
              <a:t>Contd</a:t>
            </a:r>
            <a:r>
              <a:rPr lang="en-IN" b="1" dirty="0"/>
              <a:t>…</a:t>
            </a:r>
          </a:p>
        </p:txBody>
      </p:sp>
      <p:sp>
        <p:nvSpPr>
          <p:cNvPr id="3" name="Content Placeholder 2">
            <a:extLst>
              <a:ext uri="{FF2B5EF4-FFF2-40B4-BE49-F238E27FC236}">
                <a16:creationId xmlns:a16="http://schemas.microsoft.com/office/drawing/2014/main" id="{129A3ABB-53C8-4D5B-A39E-6CAF4664D619}"/>
              </a:ext>
            </a:extLst>
          </p:cNvPr>
          <p:cNvSpPr>
            <a:spLocks noGrp="1"/>
          </p:cNvSpPr>
          <p:nvPr>
            <p:ph idx="1"/>
          </p:nvPr>
        </p:nvSpPr>
        <p:spPr>
          <a:xfrm>
            <a:off x="838200" y="1450929"/>
            <a:ext cx="10515600" cy="4726034"/>
          </a:xfrm>
        </p:spPr>
        <p:txBody>
          <a:bodyPr numCol="2">
            <a:normAutofit/>
          </a:bodyPr>
          <a:lstStyle/>
          <a:p>
            <a:pPr marL="0" indent="0">
              <a:buNone/>
            </a:pPr>
            <a:r>
              <a:rPr lang="en-US" sz="1600" dirty="0"/>
              <a:t>inline void operation :: sum() </a:t>
            </a:r>
          </a:p>
          <a:p>
            <a:pPr marL="0" indent="0">
              <a:buNone/>
            </a:pPr>
            <a:r>
              <a:rPr lang="en-US" sz="1600" dirty="0"/>
              <a:t>{ </a:t>
            </a:r>
          </a:p>
          <a:p>
            <a:pPr marL="0" indent="0">
              <a:buNone/>
            </a:pPr>
            <a:r>
              <a:rPr lang="en-US" sz="1600" dirty="0"/>
              <a:t>    add = </a:t>
            </a:r>
            <a:r>
              <a:rPr lang="en-US" sz="1600" dirty="0" err="1"/>
              <a:t>a+b</a:t>
            </a:r>
            <a:r>
              <a:rPr lang="en-US" sz="1600" dirty="0"/>
              <a:t>; </a:t>
            </a:r>
          </a:p>
          <a:p>
            <a:pPr marL="0" indent="0">
              <a:buNone/>
            </a:pPr>
            <a:r>
              <a:rPr lang="en-US" sz="1600" dirty="0"/>
              <a:t>    </a:t>
            </a:r>
            <a:r>
              <a:rPr lang="en-US" sz="1600" dirty="0" err="1"/>
              <a:t>cout</a:t>
            </a:r>
            <a:r>
              <a:rPr lang="en-US" sz="1600" dirty="0"/>
              <a:t> &lt;&lt; "Addition of two numbers: " &lt;&lt; </a:t>
            </a:r>
            <a:r>
              <a:rPr lang="en-US" sz="1600" dirty="0" err="1"/>
              <a:t>a+b</a:t>
            </a:r>
            <a:r>
              <a:rPr lang="en-US" sz="1600" dirty="0"/>
              <a:t> &lt;&lt; "\n"; </a:t>
            </a:r>
          </a:p>
          <a:p>
            <a:pPr marL="0" indent="0">
              <a:buNone/>
            </a:pPr>
            <a:r>
              <a:rPr lang="en-US" sz="1600" dirty="0"/>
              <a:t>} </a:t>
            </a:r>
          </a:p>
          <a:p>
            <a:pPr marL="0" indent="0">
              <a:buNone/>
            </a:pPr>
            <a:r>
              <a:rPr lang="en-US" sz="1600" dirty="0"/>
              <a:t>  </a:t>
            </a:r>
          </a:p>
          <a:p>
            <a:pPr marL="0" indent="0">
              <a:buNone/>
            </a:pPr>
            <a:r>
              <a:rPr lang="en-US" sz="1600" dirty="0"/>
              <a:t>inline void operation :: difference() </a:t>
            </a:r>
          </a:p>
          <a:p>
            <a:pPr marL="0" indent="0">
              <a:buNone/>
            </a:pPr>
            <a:r>
              <a:rPr lang="en-US" sz="1600" dirty="0"/>
              <a:t>{ </a:t>
            </a:r>
          </a:p>
          <a:p>
            <a:pPr marL="0" indent="0">
              <a:buNone/>
            </a:pPr>
            <a:r>
              <a:rPr lang="en-US" sz="1600" dirty="0"/>
              <a:t> sub = a-b; </a:t>
            </a:r>
          </a:p>
          <a:p>
            <a:pPr marL="0" indent="0">
              <a:buNone/>
            </a:pPr>
            <a:r>
              <a:rPr lang="en-US" sz="1600" dirty="0"/>
              <a:t> </a:t>
            </a:r>
            <a:r>
              <a:rPr lang="en-US" sz="1600" dirty="0" err="1"/>
              <a:t>cout</a:t>
            </a:r>
            <a:r>
              <a:rPr lang="en-US" sz="1600" dirty="0"/>
              <a:t> &lt;&lt; "Difference of two numbers: " &lt;&lt; a-b &lt;&lt; "\n"; </a:t>
            </a:r>
          </a:p>
          <a:p>
            <a:pPr marL="0" indent="0">
              <a:buNone/>
            </a:pPr>
            <a:r>
              <a:rPr lang="en-US" sz="1600" dirty="0"/>
              <a:t>} </a:t>
            </a:r>
          </a:p>
          <a:p>
            <a:pPr marL="0" indent="0">
              <a:buNone/>
            </a:pPr>
            <a:endParaRPr lang="en-IN" dirty="0"/>
          </a:p>
        </p:txBody>
      </p:sp>
      <p:sp>
        <p:nvSpPr>
          <p:cNvPr id="4" name="Slide Number Placeholder 3">
            <a:extLst>
              <a:ext uri="{FF2B5EF4-FFF2-40B4-BE49-F238E27FC236}">
                <a16:creationId xmlns:a16="http://schemas.microsoft.com/office/drawing/2014/main" id="{E0D90199-E554-4F6A-8E6C-59981112435E}"/>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24004741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D831C-740C-44D1-A91D-C6EB069B6EEA}"/>
              </a:ext>
            </a:extLst>
          </p:cNvPr>
          <p:cNvSpPr>
            <a:spLocks noGrp="1"/>
          </p:cNvSpPr>
          <p:nvPr>
            <p:ph type="title"/>
          </p:nvPr>
        </p:nvSpPr>
        <p:spPr/>
        <p:txBody>
          <a:bodyPr/>
          <a:lstStyle/>
          <a:p>
            <a:r>
              <a:rPr lang="en-IN" b="1" dirty="0"/>
              <a:t>Example </a:t>
            </a:r>
            <a:r>
              <a:rPr lang="en-IN" b="1" dirty="0" err="1"/>
              <a:t>Contd</a:t>
            </a:r>
            <a:r>
              <a:rPr lang="en-IN" b="1" dirty="0"/>
              <a:t>…</a:t>
            </a:r>
          </a:p>
        </p:txBody>
      </p:sp>
      <p:sp>
        <p:nvSpPr>
          <p:cNvPr id="3" name="Content Placeholder 2">
            <a:extLst>
              <a:ext uri="{FF2B5EF4-FFF2-40B4-BE49-F238E27FC236}">
                <a16:creationId xmlns:a16="http://schemas.microsoft.com/office/drawing/2014/main" id="{2199BB39-A7FF-40F9-8615-4F03582F6FA9}"/>
              </a:ext>
            </a:extLst>
          </p:cNvPr>
          <p:cNvSpPr>
            <a:spLocks noGrp="1"/>
          </p:cNvSpPr>
          <p:nvPr>
            <p:ph idx="1"/>
          </p:nvPr>
        </p:nvSpPr>
        <p:spPr>
          <a:xfrm>
            <a:off x="838200" y="1690688"/>
            <a:ext cx="10515600" cy="4486275"/>
          </a:xfrm>
        </p:spPr>
        <p:txBody>
          <a:bodyPr>
            <a:normAutofit/>
          </a:bodyPr>
          <a:lstStyle/>
          <a:p>
            <a:pPr marL="0" indent="0">
              <a:buNone/>
            </a:pPr>
            <a:r>
              <a:rPr lang="en-US" dirty="0"/>
              <a:t> </a:t>
            </a:r>
            <a:endParaRPr lang="en-US" sz="1900" dirty="0"/>
          </a:p>
          <a:p>
            <a:pPr marL="0" indent="0">
              <a:buNone/>
            </a:pPr>
            <a:r>
              <a:rPr lang="en-US" sz="1600" dirty="0"/>
              <a:t>int main() </a:t>
            </a:r>
          </a:p>
          <a:p>
            <a:pPr marL="0" indent="0">
              <a:buNone/>
            </a:pPr>
            <a:r>
              <a:rPr lang="en-US" sz="1600" dirty="0"/>
              <a:t>{ </a:t>
            </a:r>
          </a:p>
          <a:p>
            <a:pPr marL="0" indent="0">
              <a:buNone/>
            </a:pPr>
            <a:r>
              <a:rPr lang="en-US" sz="1600" dirty="0"/>
              <a:t>    </a:t>
            </a:r>
            <a:r>
              <a:rPr lang="en-US" sz="1600" dirty="0" err="1"/>
              <a:t>cout</a:t>
            </a:r>
            <a:r>
              <a:rPr lang="en-US" sz="1600" dirty="0"/>
              <a:t> &lt;&lt; "Program using inline function\n"; </a:t>
            </a:r>
          </a:p>
          <a:p>
            <a:pPr marL="0" indent="0">
              <a:buNone/>
            </a:pPr>
            <a:r>
              <a:rPr lang="en-US" sz="1600" dirty="0"/>
              <a:t>    operation s; </a:t>
            </a:r>
          </a:p>
          <a:p>
            <a:pPr marL="0" indent="0">
              <a:buNone/>
            </a:pPr>
            <a:r>
              <a:rPr lang="en-US" sz="1600" dirty="0"/>
              <a:t>    </a:t>
            </a:r>
            <a:r>
              <a:rPr lang="en-US" sz="1600" dirty="0" err="1"/>
              <a:t>s.get</a:t>
            </a:r>
            <a:r>
              <a:rPr lang="en-US" sz="1600" dirty="0"/>
              <a:t>(); </a:t>
            </a:r>
          </a:p>
          <a:p>
            <a:pPr marL="0" indent="0">
              <a:buNone/>
            </a:pPr>
            <a:r>
              <a:rPr lang="en-US" sz="1600" dirty="0"/>
              <a:t>    </a:t>
            </a:r>
            <a:r>
              <a:rPr lang="en-US" sz="1600" dirty="0" err="1"/>
              <a:t>s.sum</a:t>
            </a:r>
            <a:r>
              <a:rPr lang="en-US" sz="1600" dirty="0"/>
              <a:t>(); </a:t>
            </a:r>
          </a:p>
          <a:p>
            <a:pPr marL="0" indent="0">
              <a:buNone/>
            </a:pPr>
            <a:r>
              <a:rPr lang="en-US" sz="1600" dirty="0"/>
              <a:t>    </a:t>
            </a:r>
            <a:r>
              <a:rPr lang="en-US" sz="1600" dirty="0" err="1"/>
              <a:t>s.difference</a:t>
            </a:r>
            <a:r>
              <a:rPr lang="en-US" sz="1600" dirty="0"/>
              <a:t>(); </a:t>
            </a:r>
          </a:p>
          <a:p>
            <a:pPr marL="0" indent="0">
              <a:buNone/>
            </a:pPr>
            <a:r>
              <a:rPr lang="en-US" sz="1600" dirty="0"/>
              <a:t>    return 0; </a:t>
            </a:r>
          </a:p>
          <a:p>
            <a:pPr marL="0" indent="0">
              <a:buNone/>
            </a:pPr>
            <a:r>
              <a:rPr lang="en-US" sz="1600" dirty="0"/>
              <a:t>}</a:t>
            </a:r>
          </a:p>
          <a:p>
            <a:endParaRPr lang="en-IN" dirty="0"/>
          </a:p>
        </p:txBody>
      </p:sp>
      <p:sp>
        <p:nvSpPr>
          <p:cNvPr id="4" name="Slide Number Placeholder 3">
            <a:extLst>
              <a:ext uri="{FF2B5EF4-FFF2-40B4-BE49-F238E27FC236}">
                <a16:creationId xmlns:a16="http://schemas.microsoft.com/office/drawing/2014/main" id="{FD2D57AC-09EF-4EEC-B71E-02E603ACD370}"/>
              </a:ext>
            </a:extLst>
          </p:cNvPr>
          <p:cNvSpPr>
            <a:spLocks noGrp="1"/>
          </p:cNvSpPr>
          <p:nvPr>
            <p:ph type="sldNum" sz="quarter" idx="12"/>
          </p:nvPr>
        </p:nvSpPr>
        <p:spPr/>
        <p:txBody>
          <a:bodyPr/>
          <a:lstStyle/>
          <a:p>
            <a:fld id="{BDCDBBEF-AA6C-4BA6-85B2-A17D7F280E38}" type="slidenum">
              <a:rPr lang="en-US" smtClean="0"/>
              <a:pPr/>
              <a:t>15</a:t>
            </a:fld>
            <a:endParaRPr lang="en-US"/>
          </a:p>
        </p:txBody>
      </p:sp>
    </p:spTree>
    <p:extLst>
      <p:ext uri="{BB962C8B-B14F-4D97-AF65-F5344CB8AC3E}">
        <p14:creationId xmlns:p14="http://schemas.microsoft.com/office/powerpoint/2010/main" val="52264140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D4275-8066-4795-A8AA-5C031D9E9968}"/>
              </a:ext>
            </a:extLst>
          </p:cNvPr>
          <p:cNvSpPr>
            <a:spLocks noGrp="1"/>
          </p:cNvSpPr>
          <p:nvPr>
            <p:ph type="title"/>
          </p:nvPr>
        </p:nvSpPr>
        <p:spPr/>
        <p:txBody>
          <a:bodyPr/>
          <a:lstStyle/>
          <a:p>
            <a:r>
              <a:rPr lang="en-IN" dirty="0"/>
              <a:t>Output</a:t>
            </a:r>
          </a:p>
        </p:txBody>
      </p:sp>
      <p:sp>
        <p:nvSpPr>
          <p:cNvPr id="4" name="Slide Number Placeholder 3">
            <a:extLst>
              <a:ext uri="{FF2B5EF4-FFF2-40B4-BE49-F238E27FC236}">
                <a16:creationId xmlns:a16="http://schemas.microsoft.com/office/drawing/2014/main" id="{1BEB4FBA-BE1A-477F-93ED-1870BE60D78E}"/>
              </a:ext>
            </a:extLst>
          </p:cNvPr>
          <p:cNvSpPr>
            <a:spLocks noGrp="1"/>
          </p:cNvSpPr>
          <p:nvPr>
            <p:ph type="sldNum" sz="quarter" idx="12"/>
          </p:nvPr>
        </p:nvSpPr>
        <p:spPr/>
        <p:txBody>
          <a:bodyPr/>
          <a:lstStyle/>
          <a:p>
            <a:fld id="{BDCDBBEF-AA6C-4BA6-85B2-A17D7F280E38}" type="slidenum">
              <a:rPr lang="en-US" smtClean="0"/>
              <a:pPr/>
              <a:t>16</a:t>
            </a:fld>
            <a:endParaRPr lang="en-US"/>
          </a:p>
        </p:txBody>
      </p:sp>
      <p:pic>
        <p:nvPicPr>
          <p:cNvPr id="5" name="Content Placeholder 4">
            <a:extLst>
              <a:ext uri="{FF2B5EF4-FFF2-40B4-BE49-F238E27FC236}">
                <a16:creationId xmlns:a16="http://schemas.microsoft.com/office/drawing/2014/main" id="{7DC51BD3-9B97-453B-8796-1956A46D7EF9}"/>
              </a:ext>
            </a:extLst>
          </p:cNvPr>
          <p:cNvPicPr>
            <a:picLocks noGrp="1"/>
          </p:cNvPicPr>
          <p:nvPr>
            <p:ph idx="1"/>
          </p:nvPr>
        </p:nvPicPr>
        <p:blipFill>
          <a:blip r:embed="rId2"/>
          <a:stretch>
            <a:fillRect/>
          </a:stretch>
        </p:blipFill>
        <p:spPr>
          <a:xfrm>
            <a:off x="838201" y="2228850"/>
            <a:ext cx="6316726" cy="2400300"/>
          </a:xfrm>
          <a:prstGeom prst="rect">
            <a:avLst/>
          </a:prstGeom>
        </p:spPr>
      </p:pic>
    </p:spTree>
    <p:extLst>
      <p:ext uri="{BB962C8B-B14F-4D97-AF65-F5344CB8AC3E}">
        <p14:creationId xmlns:p14="http://schemas.microsoft.com/office/powerpoint/2010/main" val="425249997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2F9E2-FFA9-470D-8177-51DABEE80B0B}"/>
              </a:ext>
            </a:extLst>
          </p:cNvPr>
          <p:cNvSpPr>
            <a:spLocks noGrp="1"/>
          </p:cNvSpPr>
          <p:nvPr>
            <p:ph idx="1"/>
          </p:nvPr>
        </p:nvSpPr>
        <p:spPr>
          <a:xfrm>
            <a:off x="781878" y="1152525"/>
            <a:ext cx="11510904" cy="5340350"/>
          </a:xfrm>
        </p:spPr>
        <p:txBody>
          <a:bodyPr>
            <a:normAutofit/>
          </a:bodyPr>
          <a:lstStyle/>
          <a:p>
            <a:endParaRPr lang="en-US" sz="3200" dirty="0"/>
          </a:p>
          <a:p>
            <a:pPr marL="0" indent="0">
              <a:buNone/>
            </a:pPr>
            <a:endParaRPr lang="en-IN" sz="3200" dirty="0"/>
          </a:p>
        </p:txBody>
      </p:sp>
      <p:sp>
        <p:nvSpPr>
          <p:cNvPr id="4" name="Slide Number Placeholder 3">
            <a:extLst>
              <a:ext uri="{FF2B5EF4-FFF2-40B4-BE49-F238E27FC236}">
                <a16:creationId xmlns:a16="http://schemas.microsoft.com/office/drawing/2014/main" id="{42F074E6-5593-499A-999A-A8E6BFB26FEF}"/>
              </a:ext>
            </a:extLst>
          </p:cNvPr>
          <p:cNvSpPr>
            <a:spLocks noGrp="1"/>
          </p:cNvSpPr>
          <p:nvPr>
            <p:ph type="sldNum" sz="quarter" idx="12"/>
          </p:nvPr>
        </p:nvSpPr>
        <p:spPr>
          <a:xfrm>
            <a:off x="9563100" y="6675756"/>
            <a:ext cx="2050344" cy="45719"/>
          </a:xfrm>
        </p:spPr>
        <p:txBody>
          <a:bodyPr/>
          <a:lstStyle/>
          <a:p>
            <a:fld id="{BDCDBBEF-AA6C-4BA6-85B2-A17D7F280E38}" type="slidenum">
              <a:rPr lang="en-US" sz="1400" smtClean="0"/>
              <a:pPr/>
              <a:t>17</a:t>
            </a:fld>
            <a:endParaRPr lang="en-US" sz="1400" dirty="0"/>
          </a:p>
        </p:txBody>
      </p:sp>
      <p:sp>
        <p:nvSpPr>
          <p:cNvPr id="5" name="Flowchart: Sequential Access Storage 4">
            <a:extLst>
              <a:ext uri="{FF2B5EF4-FFF2-40B4-BE49-F238E27FC236}">
                <a16:creationId xmlns:a16="http://schemas.microsoft.com/office/drawing/2014/main" id="{A9A974E1-239B-41FB-8D6A-D0A9F00EB13D}"/>
              </a:ext>
            </a:extLst>
          </p:cNvPr>
          <p:cNvSpPr/>
          <p:nvPr/>
        </p:nvSpPr>
        <p:spPr>
          <a:xfrm>
            <a:off x="1003852" y="138734"/>
            <a:ext cx="2643809" cy="1013791"/>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10000"/>
                  </a:schemeClr>
                </a:solidFill>
              </a:rPr>
              <a:t>Summary</a:t>
            </a:r>
            <a:endParaRPr lang="en-IN" sz="3200" b="1" dirty="0">
              <a:solidFill>
                <a:schemeClr val="bg2">
                  <a:lumMod val="10000"/>
                </a:schemeClr>
              </a:solidFill>
            </a:endParaRPr>
          </a:p>
        </p:txBody>
      </p:sp>
      <p:graphicFrame>
        <p:nvGraphicFramePr>
          <p:cNvPr id="6" name="Diagram 5">
            <a:extLst>
              <a:ext uri="{FF2B5EF4-FFF2-40B4-BE49-F238E27FC236}">
                <a16:creationId xmlns:a16="http://schemas.microsoft.com/office/drawing/2014/main" id="{A7F6A135-B6D5-40B7-BF67-2E0F4EF47A01}"/>
              </a:ext>
            </a:extLst>
          </p:cNvPr>
          <p:cNvGraphicFramePr/>
          <p:nvPr>
            <p:extLst>
              <p:ext uri="{D42A27DB-BD31-4B8C-83A1-F6EECF244321}">
                <p14:modId xmlns:p14="http://schemas.microsoft.com/office/powerpoint/2010/main" val="2498631782"/>
              </p:ext>
            </p:extLst>
          </p:nvPr>
        </p:nvGraphicFramePr>
        <p:xfrm>
          <a:off x="2088671" y="1300599"/>
          <a:ext cx="889731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87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p:txBody>
          <a:bodyPr/>
          <a:lstStyle/>
          <a:p>
            <a:r>
              <a:rPr lang="en-US" b="1" dirty="0"/>
              <a:t>Frequently Asked question</a:t>
            </a:r>
            <a:endParaRPr lang="en-IN"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447261" y="1690688"/>
            <a:ext cx="11443251" cy="4351338"/>
          </a:xfrm>
        </p:spPr>
        <p:txBody>
          <a:bodyPr>
            <a:normAutofit/>
          </a:bodyPr>
          <a:lstStyle/>
          <a:p>
            <a:pPr marL="0" indent="0" algn="just">
              <a:buNone/>
            </a:pPr>
            <a:r>
              <a:rPr lang="en-IN" b="1" dirty="0"/>
              <a:t>Q1 </a:t>
            </a:r>
            <a:r>
              <a:rPr lang="en-US" b="1" dirty="0"/>
              <a:t>Define Inline Function.</a:t>
            </a:r>
          </a:p>
          <a:p>
            <a:pPr marL="0" indent="0" algn="just">
              <a:buNone/>
            </a:pPr>
            <a:r>
              <a:rPr lang="en-US" b="1" dirty="0"/>
              <a:t>Answer : When the function is defined Inline, the C++ compiler puts the function body inside the calling function. You can define function as Inline when the function body is small and need to be called many times, thus reduces the overhead in calling a function like passing values, passing control, returning values, returning control.</a:t>
            </a:r>
          </a:p>
          <a:p>
            <a:pPr marL="0" indent="0" algn="just">
              <a:buNone/>
            </a:pPr>
            <a:endParaRPr lang="en-IN" dirty="0"/>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18</a:t>
            </a:fld>
            <a:endParaRPr lang="en-US"/>
          </a:p>
        </p:txBody>
      </p:sp>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4B594-F373-4FAE-A658-17A4132BDAC7}"/>
              </a:ext>
            </a:extLst>
          </p:cNvPr>
          <p:cNvSpPr>
            <a:spLocks noGrp="1"/>
          </p:cNvSpPr>
          <p:nvPr>
            <p:ph idx="1"/>
          </p:nvPr>
        </p:nvSpPr>
        <p:spPr>
          <a:xfrm>
            <a:off x="838200" y="838200"/>
            <a:ext cx="10515600" cy="5338763"/>
          </a:xfrm>
        </p:spPr>
        <p:txBody>
          <a:bodyPr>
            <a:normAutofit/>
          </a:bodyPr>
          <a:lstStyle/>
          <a:p>
            <a:pPr marL="0" indent="0">
              <a:buNone/>
            </a:pPr>
            <a:r>
              <a:rPr lang="en-IN" b="1" dirty="0"/>
              <a:t>Q2 </a:t>
            </a:r>
            <a:r>
              <a:rPr lang="en-US" b="1" dirty="0"/>
              <a:t>Do inline functions improve performance? Explain.</a:t>
            </a:r>
          </a:p>
          <a:p>
            <a:pPr marL="0" indent="0">
              <a:buNone/>
            </a:pPr>
            <a:r>
              <a:rPr lang="en-US" b="1" dirty="0"/>
              <a:t>Answer: A function when defined as INLINE, the code from the function definition is directly copied into the code of the calling function.</a:t>
            </a:r>
          </a:p>
          <a:p>
            <a:pPr marL="0" indent="0">
              <a:buNone/>
            </a:pPr>
            <a:r>
              <a:rPr lang="en-US" b="1" dirty="0"/>
              <a:t> It avoids the overhead of calling the actual function. This is because the complier performs and inline expansion which eliminates the time overhead when a function is called.</a:t>
            </a:r>
          </a:p>
          <a:p>
            <a:pPr marL="0" indent="0">
              <a:buNone/>
            </a:pPr>
            <a:r>
              <a:rPr lang="en-US" b="1" dirty="0"/>
              <a:t>Reduces space as no separate set of instructions in memory is written.</a:t>
            </a:r>
          </a:p>
          <a:p>
            <a:pPr marL="0" indent="0">
              <a:buNone/>
            </a:pPr>
            <a:endParaRPr lang="en-IN" dirty="0"/>
          </a:p>
        </p:txBody>
      </p:sp>
      <p:sp>
        <p:nvSpPr>
          <p:cNvPr id="4" name="Slide Number Placeholder 3">
            <a:extLst>
              <a:ext uri="{FF2B5EF4-FFF2-40B4-BE49-F238E27FC236}">
                <a16:creationId xmlns:a16="http://schemas.microsoft.com/office/drawing/2014/main" id="{4D49BC22-1010-4A54-ACD6-4D30AA9A929E}"/>
              </a:ext>
            </a:extLst>
          </p:cNvPr>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307530580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331274-42AE-4010-AC1C-B912B35F0A30}"/>
              </a:ext>
            </a:extLst>
          </p:cNvPr>
          <p:cNvSpPr>
            <a:spLocks noGrp="1"/>
          </p:cNvSpPr>
          <p:nvPr>
            <p:ph type="sldNum" sz="quarter" idx="12"/>
          </p:nvPr>
        </p:nvSpPr>
        <p:spPr/>
        <p:txBody>
          <a:bodyPr/>
          <a:lstStyle/>
          <a:p>
            <a:fld id="{BDCDBBEF-AA6C-4BA6-85B2-A17D7F280E38}" type="slidenum">
              <a:rPr lang="en-US" smtClean="0"/>
              <a:pPr/>
              <a:t>20</a:t>
            </a:fld>
            <a:endParaRPr lang="en-US"/>
          </a:p>
        </p:txBody>
      </p:sp>
      <p:sp>
        <p:nvSpPr>
          <p:cNvPr id="5" name="Rectangle 4">
            <a:extLst>
              <a:ext uri="{FF2B5EF4-FFF2-40B4-BE49-F238E27FC236}">
                <a16:creationId xmlns:a16="http://schemas.microsoft.com/office/drawing/2014/main" id="{24D8082F-0FE2-46F7-B5F0-242E08DCB58C}"/>
              </a:ext>
            </a:extLst>
          </p:cNvPr>
          <p:cNvSpPr/>
          <p:nvPr/>
        </p:nvSpPr>
        <p:spPr>
          <a:xfrm>
            <a:off x="1047749" y="898788"/>
            <a:ext cx="7839075" cy="4539512"/>
          </a:xfrm>
          <a:prstGeom prst="rect">
            <a:avLst/>
          </a:prstGeom>
        </p:spPr>
        <p:txBody>
          <a:bodyPr wrap="square">
            <a:spAutoFit/>
          </a:bodyPr>
          <a:lstStyle/>
          <a:p>
            <a:pPr algn="just">
              <a:lnSpc>
                <a:spcPct val="107000"/>
              </a:lnSpc>
              <a:spcAft>
                <a:spcPts val="800"/>
              </a:spcAft>
            </a:pPr>
            <a:r>
              <a:rPr lang="en-IN" sz="2400" b="1" dirty="0">
                <a:latin typeface="Calibri" panose="020F0502020204030204" pitchFamily="34" charset="0"/>
                <a:ea typeface="Calibri" panose="020F0502020204030204" pitchFamily="34" charset="0"/>
                <a:cs typeface="Times New Roman" panose="02020603050405020304" pitchFamily="18" charset="0"/>
              </a:rPr>
              <a:t>Q3 </a:t>
            </a:r>
            <a:r>
              <a:rPr lang="en-US" sz="2400" b="1" dirty="0">
                <a:latin typeface="Calibri" panose="020F0502020204030204" pitchFamily="34" charset="0"/>
                <a:ea typeface="Calibri" panose="020F0502020204030204" pitchFamily="34" charset="0"/>
                <a:cs typeface="Times New Roman" panose="02020603050405020304" pitchFamily="18" charset="0"/>
              </a:rPr>
              <a:t>When to use Inline function?</a:t>
            </a:r>
          </a:p>
          <a:p>
            <a:pPr algn="just">
              <a:lnSpc>
                <a:spcPct val="107000"/>
              </a:lnSpc>
              <a:spcAft>
                <a:spcPts val="800"/>
              </a:spcAft>
            </a:pPr>
            <a:r>
              <a:rPr lang="en-US" sz="2400" b="1" dirty="0">
                <a:latin typeface="Calibri" panose="020F0502020204030204" pitchFamily="34" charset="0"/>
                <a:ea typeface="Calibri" panose="020F0502020204030204" pitchFamily="34" charset="0"/>
                <a:cs typeface="Times New Roman" panose="02020603050405020304" pitchFamily="18" charset="0"/>
              </a:rPr>
              <a:t>Answer: We can use Inline function as per our needs. Some useful recommendation are mentioned below-</a:t>
            </a:r>
          </a:p>
          <a:p>
            <a:pPr algn="just">
              <a:lnSpc>
                <a:spcPct val="107000"/>
              </a:lnSpc>
              <a:spcAft>
                <a:spcPts val="800"/>
              </a:spcAft>
            </a:pPr>
            <a:r>
              <a:rPr lang="en-US" sz="2400" b="1" dirty="0">
                <a:latin typeface="Calibri" panose="020F0502020204030204" pitchFamily="34" charset="0"/>
                <a:ea typeface="Calibri" panose="020F0502020204030204" pitchFamily="34" charset="0"/>
                <a:cs typeface="Times New Roman" panose="02020603050405020304" pitchFamily="18" charset="0"/>
              </a:rPr>
              <a:t>We can use the inline function when performance is needed.</a:t>
            </a:r>
          </a:p>
          <a:p>
            <a:pPr algn="just">
              <a:lnSpc>
                <a:spcPct val="107000"/>
              </a:lnSpc>
              <a:spcAft>
                <a:spcPts val="800"/>
              </a:spcAft>
            </a:pPr>
            <a:r>
              <a:rPr lang="en-US" sz="2400" b="1" dirty="0">
                <a:latin typeface="Calibri" panose="020F0502020204030204" pitchFamily="34" charset="0"/>
                <a:ea typeface="Calibri" panose="020F0502020204030204" pitchFamily="34" charset="0"/>
                <a:cs typeface="Times New Roman" panose="02020603050405020304" pitchFamily="18" charset="0"/>
              </a:rPr>
              <a:t>We can use the inline function over macros.</a:t>
            </a:r>
          </a:p>
          <a:p>
            <a:pPr algn="just">
              <a:lnSpc>
                <a:spcPct val="107000"/>
              </a:lnSpc>
              <a:spcAft>
                <a:spcPts val="800"/>
              </a:spcAft>
            </a:pPr>
            <a:r>
              <a:rPr lang="en-US" sz="2400" b="1" dirty="0">
                <a:latin typeface="Calibri" panose="020F0502020204030204" pitchFamily="34" charset="0"/>
                <a:ea typeface="Calibri" panose="020F0502020204030204" pitchFamily="34" charset="0"/>
                <a:cs typeface="Times New Roman" panose="02020603050405020304" pitchFamily="18" charset="0"/>
              </a:rPr>
              <a:t>We prefer to use the inline keyword outside the class with the function definition to hide implementation details of the function.</a:t>
            </a:r>
          </a:p>
          <a:p>
            <a:pPr algn="just">
              <a:lnSpc>
                <a:spcPct val="107000"/>
              </a:lnSpc>
              <a:spcAft>
                <a:spcPts val="800"/>
              </a:spcAft>
            </a:pP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9828964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lstStyle/>
          <a:p>
            <a:r>
              <a:rPr lang="en-US" b="1" dirty="0"/>
              <a:t>Assessment Questions</a:t>
            </a:r>
            <a:r>
              <a:rPr lang="en-US" dirty="0"/>
              <a:t>:</a:t>
            </a:r>
            <a:endParaRPr lang="en-IN" dirty="0"/>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21</a:t>
            </a:fld>
            <a:endParaRPr lang="en-US"/>
          </a:p>
        </p:txBody>
      </p:sp>
      <p:sp>
        <p:nvSpPr>
          <p:cNvPr id="7" name="Content Placeholder 6">
            <a:extLst>
              <a:ext uri="{FF2B5EF4-FFF2-40B4-BE49-F238E27FC236}">
                <a16:creationId xmlns:a16="http://schemas.microsoft.com/office/drawing/2014/main" id="{879F1566-03CD-417B-B4D0-B0BF250D449A}"/>
              </a:ext>
            </a:extLst>
          </p:cNvPr>
          <p:cNvSpPr>
            <a:spLocks noGrp="1"/>
          </p:cNvSpPr>
          <p:nvPr>
            <p:ph idx="1"/>
          </p:nvPr>
        </p:nvSpPr>
        <p:spPr>
          <a:xfrm>
            <a:off x="466725" y="1501774"/>
            <a:ext cx="10515600" cy="4854575"/>
          </a:xfrm>
        </p:spPr>
        <p:txBody>
          <a:bodyPr>
            <a:normAutofit fontScale="32500" lnSpcReduction="20000"/>
          </a:bodyPr>
          <a:lstStyle/>
          <a:p>
            <a:pPr marL="0" indent="0">
              <a:buNone/>
            </a:pPr>
            <a:r>
              <a:rPr lang="en-US" sz="6200" dirty="0">
                <a:solidFill>
                  <a:srgbClr val="C00000"/>
                </a:solidFill>
              </a:rPr>
              <a:t>1. Pick the incorrect statement about inline functions in C++?</a:t>
            </a:r>
          </a:p>
          <a:p>
            <a:pPr marL="0" indent="0">
              <a:buNone/>
            </a:pPr>
            <a:r>
              <a:rPr lang="en-US" sz="6200" dirty="0">
                <a:solidFill>
                  <a:srgbClr val="C00000"/>
                </a:solidFill>
              </a:rPr>
              <a:t>a) They reduce function call overheads</a:t>
            </a:r>
          </a:p>
          <a:p>
            <a:pPr marL="0" indent="0">
              <a:buNone/>
            </a:pPr>
            <a:r>
              <a:rPr lang="en-US" sz="6200" dirty="0">
                <a:solidFill>
                  <a:srgbClr val="C00000"/>
                </a:solidFill>
              </a:rPr>
              <a:t>b) These functions are inserted/substituted at the point of call</a:t>
            </a:r>
          </a:p>
          <a:p>
            <a:pPr marL="0" indent="0">
              <a:buNone/>
            </a:pPr>
            <a:r>
              <a:rPr lang="en-US" sz="6200" dirty="0">
                <a:solidFill>
                  <a:srgbClr val="C00000"/>
                </a:solidFill>
              </a:rPr>
              <a:t>c) Saves overhead of a return call from a function</a:t>
            </a:r>
          </a:p>
          <a:p>
            <a:pPr marL="0" indent="0">
              <a:buNone/>
            </a:pPr>
            <a:r>
              <a:rPr lang="en-US" sz="6200" dirty="0">
                <a:solidFill>
                  <a:srgbClr val="C00000"/>
                </a:solidFill>
              </a:rPr>
              <a:t>d) They are generally very large and complicated function</a:t>
            </a:r>
            <a:br>
              <a:rPr lang="en-US" sz="6200" dirty="0">
                <a:solidFill>
                  <a:srgbClr val="C00000"/>
                </a:solidFill>
              </a:rPr>
            </a:br>
            <a:endParaRPr lang="en-US" sz="6200" dirty="0">
              <a:solidFill>
                <a:srgbClr val="C00000"/>
              </a:solidFill>
            </a:endParaRPr>
          </a:p>
          <a:p>
            <a:pPr marL="0" indent="0">
              <a:buNone/>
            </a:pPr>
            <a:r>
              <a:rPr lang="en-US" sz="6200" dirty="0">
                <a:solidFill>
                  <a:srgbClr val="C00000"/>
                </a:solidFill>
              </a:rPr>
              <a:t>2. Inline functions are avoided when ____________________________</a:t>
            </a:r>
          </a:p>
          <a:p>
            <a:pPr marL="0" indent="0">
              <a:buNone/>
            </a:pPr>
            <a:r>
              <a:rPr lang="en-US" sz="6200" dirty="0">
                <a:solidFill>
                  <a:srgbClr val="C00000"/>
                </a:solidFill>
              </a:rPr>
              <a:t>a) function contains static variables</a:t>
            </a:r>
          </a:p>
          <a:p>
            <a:pPr marL="0" indent="0">
              <a:buNone/>
            </a:pPr>
            <a:r>
              <a:rPr lang="en-US" sz="6200" dirty="0">
                <a:solidFill>
                  <a:srgbClr val="C00000"/>
                </a:solidFill>
              </a:rPr>
              <a:t>b) function have recursive calls</a:t>
            </a:r>
          </a:p>
          <a:p>
            <a:pPr marL="0" indent="0">
              <a:buNone/>
            </a:pPr>
            <a:r>
              <a:rPr lang="en-US" sz="6200" dirty="0">
                <a:solidFill>
                  <a:srgbClr val="C00000"/>
                </a:solidFill>
              </a:rPr>
              <a:t>c) function have loops</a:t>
            </a:r>
          </a:p>
          <a:p>
            <a:pPr marL="0" indent="0">
              <a:buNone/>
            </a:pPr>
            <a:r>
              <a:rPr lang="en-US" sz="6200" dirty="0">
                <a:solidFill>
                  <a:srgbClr val="C00000"/>
                </a:solidFill>
              </a:rPr>
              <a:t>d) all of the mentioned</a:t>
            </a:r>
            <a:br>
              <a:rPr lang="en-US" sz="6200" dirty="0">
                <a:solidFill>
                  <a:srgbClr val="C00000"/>
                </a:solidFill>
              </a:rPr>
            </a:br>
            <a:endParaRPr lang="en-US" sz="6200" dirty="0">
              <a:solidFill>
                <a:srgbClr val="C00000"/>
              </a:solidFill>
            </a:endParaRPr>
          </a:p>
          <a:p>
            <a:pPr marL="0" indent="0">
              <a:buNone/>
            </a:pPr>
            <a:r>
              <a:rPr lang="en-US" sz="6200" dirty="0">
                <a:solidFill>
                  <a:srgbClr val="C00000"/>
                </a:solidFill>
              </a:rPr>
              <a:t/>
            </a:r>
            <a:br>
              <a:rPr lang="en-US" sz="6200" dirty="0">
                <a:solidFill>
                  <a:srgbClr val="C00000"/>
                </a:solidFill>
              </a:rPr>
            </a:br>
            <a:endParaRPr lang="en-IN" dirty="0">
              <a:solidFill>
                <a:srgbClr val="C00000"/>
              </a:solidFill>
            </a:endParaRPr>
          </a:p>
        </p:txBody>
      </p:sp>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124EF-F8EA-4921-9976-B9A80A2112F5}"/>
              </a:ext>
            </a:extLst>
          </p:cNvPr>
          <p:cNvSpPr>
            <a:spLocks noGrp="1"/>
          </p:cNvSpPr>
          <p:nvPr>
            <p:ph type="sldNum" sz="quarter" idx="12"/>
          </p:nvPr>
        </p:nvSpPr>
        <p:spPr/>
        <p:txBody>
          <a:bodyPr/>
          <a:lstStyle/>
          <a:p>
            <a:fld id="{BDCDBBEF-AA6C-4BA6-85B2-A17D7F280E38}" type="slidenum">
              <a:rPr lang="en-US" smtClean="0"/>
              <a:pPr/>
              <a:t>22</a:t>
            </a:fld>
            <a:endParaRPr lang="en-US"/>
          </a:p>
        </p:txBody>
      </p:sp>
      <p:sp>
        <p:nvSpPr>
          <p:cNvPr id="2" name="Rectangle 1">
            <a:extLst>
              <a:ext uri="{FF2B5EF4-FFF2-40B4-BE49-F238E27FC236}">
                <a16:creationId xmlns:a16="http://schemas.microsoft.com/office/drawing/2014/main" id="{AA9EE1F6-906F-4246-88DA-D2EC0433E995}"/>
              </a:ext>
            </a:extLst>
          </p:cNvPr>
          <p:cNvSpPr/>
          <p:nvPr/>
        </p:nvSpPr>
        <p:spPr>
          <a:xfrm>
            <a:off x="838200" y="352603"/>
            <a:ext cx="10791825" cy="5078313"/>
          </a:xfrm>
          <a:prstGeom prst="rect">
            <a:avLst/>
          </a:prstGeom>
        </p:spPr>
        <p:txBody>
          <a:bodyPr wrap="square">
            <a:spAutoFit/>
          </a:bodyPr>
          <a:lstStyle/>
          <a:p>
            <a:r>
              <a:rPr lang="en-US" dirty="0">
                <a:solidFill>
                  <a:srgbClr val="C00000"/>
                </a:solidFill>
              </a:rPr>
              <a:t>3 . Pick the correct statement.</a:t>
            </a:r>
          </a:p>
          <a:p>
            <a:r>
              <a:rPr lang="en-US" dirty="0">
                <a:solidFill>
                  <a:srgbClr val="C00000"/>
                </a:solidFill>
              </a:rPr>
              <a:t>a) Macros and inline functions are same thing</a:t>
            </a:r>
          </a:p>
          <a:p>
            <a:r>
              <a:rPr lang="en-US" dirty="0">
                <a:solidFill>
                  <a:srgbClr val="C00000"/>
                </a:solidFill>
              </a:rPr>
              <a:t>b) Macros looks like function calls but they are actually not</a:t>
            </a:r>
          </a:p>
          <a:p>
            <a:r>
              <a:rPr lang="en-US" dirty="0">
                <a:solidFill>
                  <a:srgbClr val="C00000"/>
                </a:solidFill>
              </a:rPr>
              <a:t>c) Inline functions looks like function but they are not</a:t>
            </a:r>
          </a:p>
          <a:p>
            <a:r>
              <a:rPr lang="en-US" dirty="0">
                <a:solidFill>
                  <a:srgbClr val="C00000"/>
                </a:solidFill>
              </a:rPr>
              <a:t>d) Inline function are always large</a:t>
            </a:r>
            <a:br>
              <a:rPr lang="en-US" dirty="0">
                <a:solidFill>
                  <a:srgbClr val="C00000"/>
                </a:solidFill>
              </a:rPr>
            </a:br>
            <a:endParaRPr lang="en-US" dirty="0">
              <a:solidFill>
                <a:srgbClr val="C00000"/>
              </a:solidFill>
            </a:endParaRPr>
          </a:p>
          <a:p>
            <a:endParaRPr lang="en-US" dirty="0">
              <a:solidFill>
                <a:srgbClr val="C00000"/>
              </a:solidFill>
            </a:endParaRPr>
          </a:p>
          <a:p>
            <a:r>
              <a:rPr lang="en-US" dirty="0">
                <a:solidFill>
                  <a:srgbClr val="C00000"/>
                </a:solidFill>
              </a:rPr>
              <a:t>4. Which functions of a class are called inline functions?</a:t>
            </a:r>
          </a:p>
          <a:p>
            <a:r>
              <a:rPr lang="en-US" dirty="0">
                <a:solidFill>
                  <a:srgbClr val="C00000"/>
                </a:solidFill>
              </a:rPr>
              <a:t>a) All the functions containing declared inside the class</a:t>
            </a:r>
          </a:p>
          <a:p>
            <a:r>
              <a:rPr lang="en-US" dirty="0">
                <a:solidFill>
                  <a:srgbClr val="C00000"/>
                </a:solidFill>
              </a:rPr>
              <a:t>b) All functions defined inside or with the inline keyword</a:t>
            </a:r>
          </a:p>
          <a:p>
            <a:r>
              <a:rPr lang="en-US" dirty="0">
                <a:solidFill>
                  <a:srgbClr val="C00000"/>
                </a:solidFill>
              </a:rPr>
              <a:t>c) All the functions accessing static members of the class</a:t>
            </a:r>
          </a:p>
          <a:p>
            <a:r>
              <a:rPr lang="en-US" dirty="0">
                <a:solidFill>
                  <a:srgbClr val="C00000"/>
                </a:solidFill>
              </a:rPr>
              <a:t>d) All the functions that are defined outside the class </a:t>
            </a:r>
          </a:p>
          <a:p>
            <a:endParaRPr lang="en-US" dirty="0">
              <a:solidFill>
                <a:srgbClr val="C00000"/>
              </a:solidFill>
            </a:endParaRPr>
          </a:p>
          <a:p>
            <a:r>
              <a:rPr lang="en-US" dirty="0">
                <a:solidFill>
                  <a:srgbClr val="C00000"/>
                </a:solidFill>
              </a:rPr>
              <a:t>5. Which of the following is a valid inline for function foo?</a:t>
            </a:r>
          </a:p>
          <a:p>
            <a:r>
              <a:rPr lang="en-US" dirty="0">
                <a:solidFill>
                  <a:srgbClr val="C00000"/>
                </a:solidFill>
              </a:rPr>
              <a:t>A. inline void foo() {}</a:t>
            </a:r>
          </a:p>
          <a:p>
            <a:r>
              <a:rPr lang="en-US" dirty="0">
                <a:solidFill>
                  <a:srgbClr val="C00000"/>
                </a:solidFill>
              </a:rPr>
              <a:t>B. void foo() inline {}</a:t>
            </a:r>
          </a:p>
          <a:p>
            <a:r>
              <a:rPr lang="en-US" dirty="0">
                <a:solidFill>
                  <a:srgbClr val="C00000"/>
                </a:solidFill>
              </a:rPr>
              <a:t>C. </a:t>
            </a:r>
            <a:r>
              <a:rPr lang="en-US" dirty="0" err="1">
                <a:solidFill>
                  <a:srgbClr val="C00000"/>
                </a:solidFill>
              </a:rPr>
              <a:t>inline:void</a:t>
            </a:r>
            <a:r>
              <a:rPr lang="en-US" dirty="0">
                <a:solidFill>
                  <a:srgbClr val="C00000"/>
                </a:solidFill>
              </a:rPr>
              <a:t> foo() {}</a:t>
            </a:r>
          </a:p>
          <a:p>
            <a:r>
              <a:rPr lang="en-US" dirty="0">
                <a:solidFill>
                  <a:srgbClr val="C00000"/>
                </a:solidFill>
              </a:rPr>
              <a:t>D. None of the above</a:t>
            </a:r>
            <a:endParaRPr lang="en-US" dirty="0"/>
          </a:p>
        </p:txBody>
      </p:sp>
    </p:spTree>
    <p:extLst>
      <p:ext uri="{BB962C8B-B14F-4D97-AF65-F5344CB8AC3E}">
        <p14:creationId xmlns:p14="http://schemas.microsoft.com/office/powerpoint/2010/main" val="2582282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591E3-02DA-4066-9127-2B9D821C4DAB}"/>
              </a:ext>
            </a:extLst>
          </p:cNvPr>
          <p:cNvSpPr>
            <a:spLocks noGrp="1"/>
          </p:cNvSpPr>
          <p:nvPr>
            <p:ph type="title"/>
          </p:nvPr>
        </p:nvSpPr>
        <p:spPr/>
        <p:txBody>
          <a:bodyPr/>
          <a:lstStyle/>
          <a:p>
            <a:r>
              <a:rPr lang="en-US" b="1" dirty="0"/>
              <a:t>Discussion forum</a:t>
            </a:r>
            <a:r>
              <a:rPr lang="en-US" dirty="0"/>
              <a:t>.</a:t>
            </a:r>
            <a:br>
              <a:rPr lang="en-US" dirty="0"/>
            </a:br>
            <a:endParaRPr lang="en-IN" dirty="0"/>
          </a:p>
        </p:txBody>
      </p:sp>
      <p:sp>
        <p:nvSpPr>
          <p:cNvPr id="3" name="Content Placeholder 2">
            <a:extLst>
              <a:ext uri="{FF2B5EF4-FFF2-40B4-BE49-F238E27FC236}">
                <a16:creationId xmlns:a16="http://schemas.microsoft.com/office/drawing/2014/main" id="{75A2FD90-1CA1-4A43-803B-2F922D4B9EC4}"/>
              </a:ext>
            </a:extLst>
          </p:cNvPr>
          <p:cNvSpPr>
            <a:spLocks noGrp="1"/>
          </p:cNvSpPr>
          <p:nvPr>
            <p:ph idx="1"/>
          </p:nvPr>
        </p:nvSpPr>
        <p:spPr>
          <a:xfrm>
            <a:off x="752061" y="894112"/>
            <a:ext cx="10687878" cy="3363084"/>
          </a:xfrm>
        </p:spPr>
        <p:txBody>
          <a:bodyPr>
            <a:noAutofit/>
          </a:bodyPr>
          <a:lstStyle/>
          <a:p>
            <a:endParaRPr lang="en-IN" sz="1200" b="1" dirty="0"/>
          </a:p>
          <a:p>
            <a:endParaRPr lang="en-IN" sz="1200" b="1" dirty="0"/>
          </a:p>
        </p:txBody>
      </p:sp>
      <p:sp>
        <p:nvSpPr>
          <p:cNvPr id="4" name="Slide Number Placeholder 3">
            <a:extLst>
              <a:ext uri="{FF2B5EF4-FFF2-40B4-BE49-F238E27FC236}">
                <a16:creationId xmlns:a16="http://schemas.microsoft.com/office/drawing/2014/main" id="{B4DFB7C1-5531-4CBA-AA56-069AD25EF56C}"/>
              </a:ext>
            </a:extLst>
          </p:cNvPr>
          <p:cNvSpPr>
            <a:spLocks noGrp="1"/>
          </p:cNvSpPr>
          <p:nvPr>
            <p:ph type="sldNum" sz="quarter" idx="12"/>
          </p:nvPr>
        </p:nvSpPr>
        <p:spPr/>
        <p:txBody>
          <a:bodyPr/>
          <a:lstStyle/>
          <a:p>
            <a:fld id="{BDCDBBEF-AA6C-4BA6-85B2-A17D7F280E38}" type="slidenum">
              <a:rPr lang="en-US" smtClean="0"/>
              <a:pPr/>
              <a:t>23</a:t>
            </a:fld>
            <a:endParaRPr lang="en-US"/>
          </a:p>
        </p:txBody>
      </p:sp>
      <p:sp>
        <p:nvSpPr>
          <p:cNvPr id="5" name="Rectangle 4">
            <a:extLst>
              <a:ext uri="{FF2B5EF4-FFF2-40B4-BE49-F238E27FC236}">
                <a16:creationId xmlns:a16="http://schemas.microsoft.com/office/drawing/2014/main" id="{2286B93F-AE56-4538-971E-9E2B9276A0B1}"/>
              </a:ext>
            </a:extLst>
          </p:cNvPr>
          <p:cNvSpPr/>
          <p:nvPr/>
        </p:nvSpPr>
        <p:spPr>
          <a:xfrm>
            <a:off x="2862470" y="3838853"/>
            <a:ext cx="7253747" cy="369332"/>
          </a:xfrm>
          <a:prstGeom prst="rect">
            <a:avLst/>
          </a:prstGeom>
        </p:spPr>
        <p:txBody>
          <a:bodyPr wrap="square">
            <a:spAutoFit/>
          </a:bodyPr>
          <a:lstStyle/>
          <a:p>
            <a:endParaRPr lang="en-IN" dirty="0"/>
          </a:p>
        </p:txBody>
      </p:sp>
      <p:sp>
        <p:nvSpPr>
          <p:cNvPr id="13" name="TextBox 12">
            <a:extLst>
              <a:ext uri="{FF2B5EF4-FFF2-40B4-BE49-F238E27FC236}">
                <a16:creationId xmlns:a16="http://schemas.microsoft.com/office/drawing/2014/main" id="{1224856F-C733-4EED-B0EB-0985B22D27CE}"/>
              </a:ext>
            </a:extLst>
          </p:cNvPr>
          <p:cNvSpPr txBox="1"/>
          <p:nvPr/>
        </p:nvSpPr>
        <p:spPr>
          <a:xfrm>
            <a:off x="1003016" y="1816935"/>
            <a:ext cx="7607584" cy="1200329"/>
          </a:xfrm>
          <a:prstGeom prst="rect">
            <a:avLst/>
          </a:prstGeom>
          <a:noFill/>
        </p:spPr>
        <p:txBody>
          <a:bodyPr wrap="square">
            <a:spAutoFit/>
          </a:bodyPr>
          <a:lstStyle/>
          <a:p>
            <a:r>
              <a:rPr lang="en-US" sz="2400" b="1" dirty="0">
                <a:effectLst/>
                <a:latin typeface="Calibri" panose="020F0502020204030204" pitchFamily="34" charset="0"/>
                <a:ea typeface="Calibri" panose="020F0502020204030204" pitchFamily="34" charset="0"/>
                <a:cs typeface="SimSun" panose="02010600030101010101" pitchFamily="2" charset="-122"/>
              </a:rPr>
              <a:t>Write a C++ program to perform different arithmetic operation such as addition, subtraction, division, modulus and multiplication using inline function.</a:t>
            </a:r>
            <a:endParaRPr lang="en-IN" sz="2400" dirty="0"/>
          </a:p>
        </p:txBody>
      </p:sp>
    </p:spTree>
    <p:extLst>
      <p:ext uri="{BB962C8B-B14F-4D97-AF65-F5344CB8AC3E}">
        <p14:creationId xmlns:p14="http://schemas.microsoft.com/office/powerpoint/2010/main" val="17302530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u="sng" dirty="0">
                <a:latin typeface="+mn-lt"/>
                <a:cs typeface="Calibri" panose="020F0502020204030204" pitchFamily="34" charset="0"/>
              </a:rPr>
              <a:t>REFERENCES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40377" y="1276349"/>
            <a:ext cx="7162800" cy="5445125"/>
          </a:xfrm>
        </p:spPr>
        <p:txBody>
          <a:bodyPr>
            <a:noAutofit/>
          </a:bodyPr>
          <a:lstStyle/>
          <a:p>
            <a:pPr marL="0" lvl="0" indent="0">
              <a:buNone/>
            </a:pPr>
            <a:r>
              <a:rPr lang="en-US" sz="1800" dirty="0">
                <a:latin typeface="Casper"/>
              </a:rPr>
              <a:t>Reference Books</a:t>
            </a:r>
          </a:p>
          <a:p>
            <a:pPr>
              <a:buNone/>
            </a:pPr>
            <a:r>
              <a:rPr lang="en-US" sz="1800" dirty="0">
                <a:latin typeface="Times New Roman" pitchFamily="18" charset="0"/>
                <a:cs typeface="Times New Roman" pitchFamily="18" charset="0"/>
              </a:rPr>
              <a:t>[1] Programming in C by Reema </a:t>
            </a:r>
            <a:r>
              <a:rPr lang="en-US" sz="1800" dirty="0" err="1">
                <a:latin typeface="Times New Roman" pitchFamily="18" charset="0"/>
                <a:cs typeface="Times New Roman" pitchFamily="18" charset="0"/>
              </a:rPr>
              <a:t>Thareja</a:t>
            </a:r>
            <a:r>
              <a:rPr lang="en-US" sz="1800" dirty="0">
                <a:latin typeface="Times New Roman" pitchFamily="18" charset="0"/>
                <a:cs typeface="Times New Roman" pitchFamily="18" charset="0"/>
              </a:rPr>
              <a:t>.</a:t>
            </a:r>
          </a:p>
          <a:p>
            <a:pPr>
              <a:buNone/>
            </a:pPr>
            <a:r>
              <a:rPr lang="en-US" sz="1800" dirty="0">
                <a:latin typeface="Times New Roman" pitchFamily="18" charset="0"/>
                <a:cs typeface="Times New Roman" pitchFamily="18" charset="0"/>
              </a:rPr>
              <a:t>[2] Programming in ANSI C by E. </a:t>
            </a:r>
            <a:r>
              <a:rPr lang="en-US" sz="1800" dirty="0" err="1">
                <a:latin typeface="Times New Roman" pitchFamily="18" charset="0"/>
                <a:cs typeface="Times New Roman" pitchFamily="18" charset="0"/>
              </a:rPr>
              <a:t>Balaguruswamy</a:t>
            </a:r>
            <a:r>
              <a:rPr lang="en-US" sz="1800" dirty="0">
                <a:latin typeface="Times New Roman" pitchFamily="18" charset="0"/>
                <a:cs typeface="Times New Roman" pitchFamily="18" charset="0"/>
              </a:rPr>
              <a:t>, Tata McGraw Hill.</a:t>
            </a:r>
          </a:p>
          <a:p>
            <a:pPr>
              <a:buNone/>
            </a:pPr>
            <a:r>
              <a:rPr lang="en-US" sz="1800" dirty="0">
                <a:latin typeface="Times New Roman" pitchFamily="18" charset="0"/>
                <a:cs typeface="Times New Roman" pitchFamily="18" charset="0"/>
              </a:rPr>
              <a:t>[3] Programming with C (</a:t>
            </a:r>
            <a:r>
              <a:rPr lang="en-US" sz="1800" dirty="0" err="1">
                <a:latin typeface="Times New Roman" pitchFamily="18" charset="0"/>
                <a:cs typeface="Times New Roman" pitchFamily="18" charset="0"/>
              </a:rPr>
              <a:t>Schaum's</a:t>
            </a:r>
            <a:r>
              <a:rPr lang="en-US" sz="1800" dirty="0">
                <a:latin typeface="Times New Roman" pitchFamily="18" charset="0"/>
                <a:cs typeface="Times New Roman" pitchFamily="18" charset="0"/>
              </a:rPr>
              <a:t> Outline Series) by Byron Gottfried  Jitender Chhabra, Tata McGraw Hill.</a:t>
            </a:r>
          </a:p>
          <a:p>
            <a:pPr>
              <a:buNone/>
            </a:pPr>
            <a:r>
              <a:rPr lang="en-US" sz="1800" dirty="0">
                <a:latin typeface="Times New Roman" pitchFamily="18" charset="0"/>
                <a:cs typeface="Times New Roman" pitchFamily="18" charset="0"/>
              </a:rPr>
              <a:t>[4] The C Programming Language by Brian W. Kernighan, Dennis Ritchie, Pearson education.</a:t>
            </a:r>
          </a:p>
          <a:p>
            <a:pPr marL="0" indent="0">
              <a:buNone/>
            </a:pPr>
            <a:r>
              <a:rPr lang="en-IN" sz="1800" b="1" dirty="0"/>
              <a:t>Websites:</a:t>
            </a:r>
          </a:p>
          <a:p>
            <a:pPr marL="342900" lvl="0" indent="-342900" algn="just">
              <a:lnSpc>
                <a:spcPct val="107000"/>
              </a:lnSpc>
              <a:buFont typeface="Symbol" panose="05050102010706020507" pitchFamily="18" charset="2"/>
              <a:buChar char=""/>
            </a:pPr>
            <a:r>
              <a:rPr lang="en-IN" sz="1800" u="none" strike="noStrike"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https://www.geeksforgeeks.org/inline-functions-cpp/</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1800" u="none" strike="noStrike"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https://www.tutorialspoint.com/cplusplus/cpp_inline_functions.htm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hlinkClick r:id="rId5"/>
              </a:rPr>
              <a:t>https://www.educative.io/edpresso/what-is-a-cpp-inline-function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800" b="1" dirty="0"/>
              <a:t>YouTube Links:</a:t>
            </a:r>
            <a:endParaRPr lang="en-IN" sz="1800" dirty="0"/>
          </a:p>
          <a:p>
            <a:pPr marL="0" lvl="0" indent="0">
              <a:buNone/>
            </a:pPr>
            <a:r>
              <a:rPr lang="en-IN" sz="1800" u="sng" dirty="0" smtClean="0">
                <a:solidFill>
                  <a:schemeClr val="accent1"/>
                </a:solidFill>
              </a:rPr>
              <a:t>http</a:t>
            </a:r>
            <a:r>
              <a:rPr lang="en-IN" sz="1800" u="sng" dirty="0">
                <a:solidFill>
                  <a:schemeClr val="accent1"/>
                </a:solidFill>
              </a:rPr>
              <a:t>://www.infocobuild.com/education/audio-video-courses/computer-science/ProgrammingInCpp-IIT-Kharagpur/lecture-08.html</a:t>
            </a:r>
            <a:endParaRPr lang="en-US" sz="1800" u="sng" dirty="0">
              <a:solidFill>
                <a:schemeClr val="accent1"/>
              </a:solidFill>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5" name="Rectangle 4"/>
          <p:cNvSpPr/>
          <p:nvPr/>
        </p:nvSpPr>
        <p:spPr>
          <a:xfrm>
            <a:off x="838200" y="1803400"/>
            <a:ext cx="7162800"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lated imag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3"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C0F5EB19-77B9-4540-B06A-F2C718D084BF"/>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2 Algorithm"/>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2041</TotalTime>
  <Words>1308</Words>
  <Application>Microsoft Office PowerPoint</Application>
  <PresentationFormat>Widescreen</PresentationFormat>
  <Paragraphs>229</Paragraphs>
  <Slides>25</Slides>
  <Notes>14</Notes>
  <HiddenSlides>0</HiddenSlides>
  <MMClips>0</MMClips>
  <ScaleCrop>false</ScaleCrop>
  <HeadingPairs>
    <vt:vector size="8" baseType="variant">
      <vt:variant>
        <vt:lpstr>Fonts Used</vt:lpstr>
      </vt:variant>
      <vt:variant>
        <vt:i4>15</vt:i4>
      </vt:variant>
      <vt:variant>
        <vt:lpstr>Theme</vt:lpstr>
      </vt:variant>
      <vt:variant>
        <vt:i4>2</vt:i4>
      </vt:variant>
      <vt:variant>
        <vt:lpstr>Embedded OLE Servers</vt:lpstr>
      </vt:variant>
      <vt:variant>
        <vt:i4>1</vt:i4>
      </vt:variant>
      <vt:variant>
        <vt:lpstr>Slide Titles</vt:lpstr>
      </vt:variant>
      <vt:variant>
        <vt:i4>25</vt:i4>
      </vt:variant>
    </vt:vector>
  </HeadingPairs>
  <TitlesOfParts>
    <vt:vector size="43" baseType="lpstr">
      <vt:lpstr>SimSun</vt:lpstr>
      <vt:lpstr>Arial</vt:lpstr>
      <vt:lpstr>Arial Black</vt:lpstr>
      <vt:lpstr>Arial Unicode MS</vt:lpstr>
      <vt:lpstr>Calibri</vt:lpstr>
      <vt:lpstr>Calibri Light</vt:lpstr>
      <vt:lpstr>Casper</vt:lpstr>
      <vt:lpstr>Casper Bold</vt:lpstr>
      <vt:lpstr>Karla</vt:lpstr>
      <vt:lpstr>Raleway ExtraBold</vt:lpstr>
      <vt:lpstr>Roboto</vt:lpstr>
      <vt:lpstr>Segoe UI</vt:lpstr>
      <vt:lpstr>Symbol</vt:lpstr>
      <vt:lpstr>Times New Roman</vt:lpstr>
      <vt:lpstr>Wingdings</vt:lpstr>
      <vt:lpstr>1_Office Theme</vt:lpstr>
      <vt:lpstr>Contents Slide Master</vt:lpstr>
      <vt:lpstr>CorelDRAW</vt:lpstr>
      <vt:lpstr>PowerPoint Presentation</vt:lpstr>
      <vt:lpstr>Basic Data Structure Using C++</vt:lpstr>
      <vt:lpstr>PowerPoint Presentation</vt:lpstr>
      <vt:lpstr> Scheme of Evaluation  </vt:lpstr>
      <vt:lpstr>CONTENTS </vt:lpstr>
      <vt:lpstr>INLINE FUNCTION</vt:lpstr>
      <vt:lpstr>PowerPoint Presentation</vt:lpstr>
      <vt:lpstr>INLINE FUNCTION</vt:lpstr>
      <vt:lpstr> Inline functions provide following advantages: </vt:lpstr>
      <vt:lpstr>Example</vt:lpstr>
      <vt:lpstr>Output:</vt:lpstr>
      <vt:lpstr>INLINE FUNCTION</vt:lpstr>
      <vt:lpstr>Example</vt:lpstr>
      <vt:lpstr>Example Contd…</vt:lpstr>
      <vt:lpstr>Example Contd…</vt:lpstr>
      <vt:lpstr>Output</vt:lpstr>
      <vt:lpstr>PowerPoint Presentation</vt:lpstr>
      <vt:lpstr>Frequently Asked question</vt:lpstr>
      <vt:lpstr>PowerPoint Presentation</vt:lpstr>
      <vt:lpstr>PowerPoint Presentation</vt:lpstr>
      <vt:lpstr>Assessment Questions:</vt:lpstr>
      <vt:lpstr>PowerPoint Presentation</vt:lpstr>
      <vt:lpstr>Discussion forum.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Algorithm</dc:title>
  <dc:creator>Branding</dc:creator>
  <cp:lastModifiedBy>nishu</cp:lastModifiedBy>
  <cp:revision>219</cp:revision>
  <dcterms:created xsi:type="dcterms:W3CDTF">2019-01-09T10:33:58Z</dcterms:created>
  <dcterms:modified xsi:type="dcterms:W3CDTF">2023-12-04T10:43:54Z</dcterms:modified>
</cp:coreProperties>
</file>