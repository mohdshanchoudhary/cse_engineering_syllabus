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285" r:id="rId3"/>
    <p:sldId id="383" r:id="rId4"/>
    <p:sldId id="384" r:id="rId5"/>
    <p:sldId id="363" r:id="rId6"/>
    <p:sldId id="281" r:id="rId7"/>
    <p:sldId id="280" r:id="rId8"/>
    <p:sldId id="350" r:id="rId9"/>
    <p:sldId id="289" r:id="rId10"/>
    <p:sldId id="351" r:id="rId11"/>
    <p:sldId id="338" r:id="rId12"/>
    <p:sldId id="352" r:id="rId13"/>
    <p:sldId id="353" r:id="rId14"/>
    <p:sldId id="288" r:id="rId15"/>
    <p:sldId id="376" r:id="rId16"/>
    <p:sldId id="377" r:id="rId17"/>
    <p:sldId id="378" r:id="rId18"/>
    <p:sldId id="379" r:id="rId19"/>
    <p:sldId id="380" r:id="rId20"/>
    <p:sldId id="381" r:id="rId21"/>
    <p:sldId id="282" r:id="rId22"/>
    <p:sldId id="283" r:id="rId23"/>
    <p:sldId id="374" r:id="rId24"/>
    <p:sldId id="375" r:id="rId25"/>
    <p:sldId id="382" r:id="rId26"/>
    <p:sldId id="284"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4434" autoAdjust="0"/>
  </p:normalViewPr>
  <p:slideViewPr>
    <p:cSldViewPr snapToGrid="0">
      <p:cViewPr varScale="1">
        <p:scale>
          <a:sx n="69" d="100"/>
          <a:sy n="69" d="100"/>
        </p:scale>
        <p:origin x="75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12/4/2023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12/4/2023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2308950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7006103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1396906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#include &lt;bits/</a:t>
            </a:r>
            <a:r>
              <a:rPr lang="en-IN" dirty="0" err="1"/>
              <a:t>stdc</a:t>
            </a:r>
            <a:r>
              <a:rPr lang="en-IN" dirty="0"/>
              <a:t>++.h&gt; </a:t>
            </a:r>
          </a:p>
          <a:p>
            <a:r>
              <a:rPr lang="en-IN" dirty="0"/>
              <a:t>using namespace </a:t>
            </a:r>
            <a:r>
              <a:rPr lang="en-IN" dirty="0" err="1"/>
              <a:t>std</a:t>
            </a:r>
            <a:r>
              <a:rPr lang="en-IN" dirty="0"/>
              <a:t>; </a:t>
            </a:r>
          </a:p>
          <a:p>
            <a:endParaRPr lang="en-IN" dirty="0"/>
          </a:p>
          <a:p>
            <a:r>
              <a:rPr lang="en-IN" dirty="0"/>
              <a:t>//Base class </a:t>
            </a:r>
          </a:p>
          <a:p>
            <a:r>
              <a:rPr lang="en-IN" dirty="0"/>
              <a:t>class Parent </a:t>
            </a:r>
          </a:p>
          <a:p>
            <a:r>
              <a:rPr lang="en-IN" dirty="0"/>
              <a:t>{ </a:t>
            </a:r>
          </a:p>
          <a:p>
            <a:r>
              <a:rPr lang="en-IN" dirty="0"/>
              <a:t>    public: </a:t>
            </a:r>
          </a:p>
          <a:p>
            <a:r>
              <a:rPr lang="en-IN" dirty="0"/>
              <a:t>      </a:t>
            </a:r>
            <a:r>
              <a:rPr lang="en-IN" dirty="0" err="1"/>
              <a:t>int</a:t>
            </a:r>
            <a:r>
              <a:rPr lang="en-IN" dirty="0"/>
              <a:t> </a:t>
            </a:r>
            <a:r>
              <a:rPr lang="en-IN" dirty="0" err="1"/>
              <a:t>id_p</a:t>
            </a:r>
            <a:r>
              <a:rPr lang="en-IN" dirty="0"/>
              <a:t>; </a:t>
            </a:r>
          </a:p>
          <a:p>
            <a:r>
              <a:rPr lang="en-IN" dirty="0"/>
              <a:t>}; </a:t>
            </a:r>
          </a:p>
          <a:p>
            <a:r>
              <a:rPr lang="en-IN" dirty="0"/>
              <a:t>  </a:t>
            </a:r>
          </a:p>
          <a:p>
            <a:r>
              <a:rPr lang="en-IN" dirty="0"/>
              <a:t>// Sub class inheriting from Base Class(Parent) </a:t>
            </a:r>
          </a:p>
          <a:p>
            <a:r>
              <a:rPr lang="en-IN" dirty="0"/>
              <a:t>class Child : public Parent </a:t>
            </a:r>
          </a:p>
          <a:p>
            <a:r>
              <a:rPr lang="en-IN" dirty="0"/>
              <a:t>{ </a:t>
            </a:r>
          </a:p>
          <a:p>
            <a:r>
              <a:rPr lang="en-IN" dirty="0"/>
              <a:t>    public: </a:t>
            </a:r>
          </a:p>
          <a:p>
            <a:r>
              <a:rPr lang="en-IN" dirty="0"/>
              <a:t>      </a:t>
            </a:r>
            <a:r>
              <a:rPr lang="en-IN" dirty="0" err="1"/>
              <a:t>int</a:t>
            </a:r>
            <a:r>
              <a:rPr lang="en-IN" dirty="0"/>
              <a:t> </a:t>
            </a:r>
            <a:r>
              <a:rPr lang="en-IN" dirty="0" err="1"/>
              <a:t>id_c</a:t>
            </a:r>
            <a:r>
              <a:rPr lang="en-IN" dirty="0"/>
              <a:t>; </a:t>
            </a:r>
          </a:p>
          <a:p>
            <a:r>
              <a:rPr lang="en-IN" dirty="0"/>
              <a:t>};</a:t>
            </a:r>
          </a:p>
          <a:p>
            <a:endParaRPr lang="en-IN" dirty="0"/>
          </a:p>
          <a:p>
            <a:r>
              <a:rPr lang="en-IN" dirty="0"/>
              <a:t>//main function </a:t>
            </a:r>
          </a:p>
          <a:p>
            <a:r>
              <a:rPr lang="en-IN" dirty="0" err="1"/>
              <a:t>int</a:t>
            </a:r>
            <a:r>
              <a:rPr lang="en-IN" dirty="0"/>
              <a:t> main()  </a:t>
            </a:r>
          </a:p>
          <a:p>
            <a:r>
              <a:rPr lang="en-IN" dirty="0"/>
              <a:t>   { </a:t>
            </a:r>
          </a:p>
          <a:p>
            <a:r>
              <a:rPr lang="en-IN" dirty="0"/>
              <a:t>       </a:t>
            </a:r>
          </a:p>
          <a:p>
            <a:r>
              <a:rPr lang="en-IN" dirty="0"/>
              <a:t>        Child obj1; </a:t>
            </a:r>
          </a:p>
          <a:p>
            <a:r>
              <a:rPr lang="en-IN" dirty="0"/>
              <a:t>           </a:t>
            </a:r>
          </a:p>
          <a:p>
            <a:r>
              <a:rPr lang="en-IN" dirty="0"/>
              <a:t>        // An object of class child has all data members </a:t>
            </a:r>
          </a:p>
          <a:p>
            <a:r>
              <a:rPr lang="en-IN" dirty="0"/>
              <a:t>        // and member functions of class parent </a:t>
            </a:r>
          </a:p>
          <a:p>
            <a:r>
              <a:rPr lang="en-IN" dirty="0"/>
              <a:t>        obj1.id_c = 7; </a:t>
            </a:r>
          </a:p>
          <a:p>
            <a:r>
              <a:rPr lang="en-IN" dirty="0"/>
              <a:t>        obj1.id_p = 91; </a:t>
            </a:r>
          </a:p>
          <a:p>
            <a:r>
              <a:rPr lang="en-IN" dirty="0"/>
              <a:t>        </a:t>
            </a:r>
            <a:r>
              <a:rPr lang="en-IN" dirty="0" err="1"/>
              <a:t>cout</a:t>
            </a:r>
            <a:r>
              <a:rPr lang="en-IN" dirty="0"/>
              <a:t> &lt;&lt; "Child id is " &lt;&lt;  obj1.id_c &lt;&lt; </a:t>
            </a:r>
            <a:r>
              <a:rPr lang="en-IN" dirty="0" err="1"/>
              <a:t>endl</a:t>
            </a:r>
            <a:r>
              <a:rPr lang="en-IN" dirty="0"/>
              <a:t>; </a:t>
            </a:r>
          </a:p>
          <a:p>
            <a:r>
              <a:rPr lang="en-IN" dirty="0"/>
              <a:t>        </a:t>
            </a:r>
            <a:r>
              <a:rPr lang="en-IN" dirty="0" err="1"/>
              <a:t>cout</a:t>
            </a:r>
            <a:r>
              <a:rPr lang="en-IN" dirty="0"/>
              <a:t> &lt;&lt; "Parent id is " &lt;&lt;  obj1.id_p &lt;&lt; </a:t>
            </a:r>
            <a:r>
              <a:rPr lang="en-IN" dirty="0" err="1"/>
              <a:t>endl</a:t>
            </a:r>
            <a:r>
              <a:rPr lang="en-IN" dirty="0"/>
              <a:t>; </a:t>
            </a:r>
          </a:p>
          <a:p>
            <a:r>
              <a:rPr lang="en-IN" dirty="0"/>
              <a:t>          </a:t>
            </a:r>
          </a:p>
          <a:p>
            <a:r>
              <a:rPr lang="en-IN" dirty="0"/>
              <a:t>        return 0; </a:t>
            </a:r>
          </a:p>
          <a:p>
            <a:r>
              <a:rPr lang="en-IN" dirty="0"/>
              <a:t>   }  </a:t>
            </a:r>
          </a:p>
          <a:p>
            <a:endParaRPr lang="en-IN" dirty="0"/>
          </a:p>
          <a:p>
            <a:r>
              <a:rPr lang="en-IN" dirty="0"/>
              <a:t> </a:t>
            </a:r>
          </a:p>
        </p:txBody>
      </p:sp>
      <p:sp>
        <p:nvSpPr>
          <p:cNvPr id="4" name="Slide Number Placeholder 3"/>
          <p:cNvSpPr>
            <a:spLocks noGrp="1"/>
          </p:cNvSpPr>
          <p:nvPr>
            <p:ph type="sldNum" sz="quarter" idx="10"/>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215614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12/4/2023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jp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s://www.youtube.com/watch?v=RO1ZYW9NAzg" TargetMode="External"/><Relationship Id="rId3" Type="http://schemas.openxmlformats.org/officeDocument/2006/relationships/hyperlink" Target="https://www.geeksforgeeks.org/object-oriented-programming-in-cpp/" TargetMode="External"/><Relationship Id="rId7" Type="http://schemas.openxmlformats.org/officeDocument/2006/relationships/hyperlink" Target="https://www.youtube.com/watch?v=5pJyKzON8Ww" TargetMode="External"/><Relationship Id="rId2" Type="http://schemas.openxmlformats.org/officeDocument/2006/relationships/hyperlink" Target="https://www.geeksforgeeks.org/inheritance-in-c/" TargetMode="External"/><Relationship Id="rId1" Type="http://schemas.openxmlformats.org/officeDocument/2006/relationships/slideLayout" Target="../slideLayouts/slideLayout2.xml"/><Relationship Id="rId6" Type="http://schemas.openxmlformats.org/officeDocument/2006/relationships/hyperlink" Target="https://www.youtube.com/watch?v=rr7HVs4d1Qo" TargetMode="External"/><Relationship Id="rId5" Type="http://schemas.openxmlformats.org/officeDocument/2006/relationships/hyperlink" Target="https://en.cppreference.com/w/cpp/language/nested_types" TargetMode="External"/><Relationship Id="rId4" Type="http://schemas.openxmlformats.org/officeDocument/2006/relationships/hyperlink" Target="https://www.geeksforgeeks.org/copy-constructor-argument-const/" TargetMode="External"/><Relationship Id="rId9"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solidFill>
                <a:prstClr val="black">
                  <a:tint val="75000"/>
                </a:prstClr>
              </a:solidFill>
            </a:endParaRPr>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defRPr/>
            </a:pPr>
            <a:endParaRPr lang="en-ID" kern="0">
              <a:solidFill>
                <a:srgbClr val="FFFFFF"/>
              </a:solidFill>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9" name="CorelDRAW" r:id="rId3" imgW="2169000" imgH="2169360" progId="">
                  <p:embed/>
                </p:oleObj>
              </mc:Choice>
              <mc:Fallback>
                <p:oleObj name="CorelDRAW" r:id="rId3" imgW="2169000" imgH="2169360" progId="">
                  <p:embed/>
                  <p:pic>
                    <p:nvPicPr>
                      <p:cNvPr id="0" name="Picture 207"/>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a:defRPr/>
            </a:pPr>
            <a:endParaRPr lang="en-ID" kern="0">
              <a:solidFill>
                <a:srgbClr val="FFFFFF"/>
              </a:solidFill>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0" name="Picture 29"/>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endParaRPr lang="en-US" sz="1600" b="1" dirty="0">
              <a:solidFill>
                <a:prstClr val="black"/>
              </a:solidFill>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622300">
              <a:lnSpc>
                <a:spcPct val="90000"/>
              </a:lnSpc>
              <a:spcBef>
                <a:spcPct val="0"/>
              </a:spcBef>
              <a:spcAft>
                <a:spcPct val="35000"/>
              </a:spcAft>
            </a:pP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Inheritance</a:t>
            </a:r>
          </a:p>
          <a:p>
            <a:endParaRPr lang="en-US" sz="1600" dirty="0">
              <a:solidFill>
                <a:prstClr val="black"/>
              </a:solidFill>
              <a:latin typeface="Raleway ExtraBold" pitchFamily="34" charset="-52"/>
            </a:endParaRPr>
          </a:p>
        </p:txBody>
      </p:sp>
      <p:sp>
        <p:nvSpPr>
          <p:cNvPr id="26" name="TextBox 25"/>
          <p:cNvSpPr txBox="1">
            <a:spLocks noChangeArrowheads="1"/>
          </p:cNvSpPr>
          <p:nvPr/>
        </p:nvSpPr>
        <p:spPr bwMode="auto">
          <a:xfrm>
            <a:off x="1374512" y="2031830"/>
            <a:ext cx="9063318" cy="4416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solidFill>
                  <a:prstClr val="black"/>
                </a:solidFill>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solidFill>
                  <a:prstClr val="black"/>
                </a:solidFill>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Basic Data Structure Using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Code:23CSH-103</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endParaRPr lang="en-US" sz="1600" dirty="0">
              <a:solidFill>
                <a:prstClr val="black"/>
              </a:solidFill>
              <a:latin typeface="Raleway ExtraBold" pitchFamily="34" charset="-52"/>
            </a:endParaRPr>
          </a:p>
        </p:txBody>
      </p:sp>
    </p:spTree>
    <p:extLst>
      <p:ext uri="{BB962C8B-B14F-4D97-AF65-F5344CB8AC3E}">
        <p14:creationId xmlns:p14="http://schemas.microsoft.com/office/powerpoint/2010/main" val="3257197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838200"/>
            <a:ext cx="4834074" cy="1748246"/>
          </a:xfrm>
        </p:spPr>
        <p:txBody>
          <a:bodyPr>
            <a:normAutofit/>
          </a:bodyPr>
          <a:lstStyle/>
          <a:p>
            <a:pPr algn="ctr"/>
            <a:r>
              <a:rPr lang="en-US" sz="4400" dirty="0">
                <a:latin typeface="Times New Roman" panose="02020603050405020304" pitchFamily="18" charset="0"/>
                <a:ea typeface="Calibri" panose="020F0502020204030204" pitchFamily="34" charset="0"/>
                <a:cs typeface="Times New Roman" panose="02020603050405020304" pitchFamily="18" charset="0"/>
              </a:rPr>
              <a:t>Basic Data Structure Using C++</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119133" y="3825531"/>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pic>
        <p:nvPicPr>
          <p:cNvPr id="7" name="Picture 6">
            <a:extLst>
              <a:ext uri="{FF2B5EF4-FFF2-40B4-BE49-F238E27FC236}">
                <a16:creationId xmlns:a16="http://schemas.microsoft.com/office/drawing/2014/main" id="{4F45ED97-A37D-4BD5-9BB8-9A010CD2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05329" y="3901327"/>
            <a:ext cx="2581941" cy="2520950"/>
          </a:xfrm>
          <a:prstGeom prst="rect">
            <a:avLst/>
          </a:prstGeom>
        </p:spPr>
      </p:pic>
      <p:pic>
        <p:nvPicPr>
          <p:cNvPr id="9" name="Picture 8">
            <a:extLst>
              <a:ext uri="{FF2B5EF4-FFF2-40B4-BE49-F238E27FC236}">
                <a16:creationId xmlns:a16="http://schemas.microsoft.com/office/drawing/2014/main" id="{E4C0D224-3882-4701-BE24-7AC23C1C37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48350" y="481100"/>
            <a:ext cx="5812823" cy="3390813"/>
          </a:xfrm>
          <a:prstGeom prst="rect">
            <a:avLst/>
          </a:prstGeom>
        </p:spPr>
      </p:pic>
      <p:graphicFrame>
        <p:nvGraphicFramePr>
          <p:cNvPr id="8" name="Table 10">
            <a:extLst>
              <a:ext uri="{FF2B5EF4-FFF2-40B4-BE49-F238E27FC236}">
                <a16:creationId xmlns:a16="http://schemas.microsoft.com/office/drawing/2014/main" id="{A82640A5-2231-4AFB-8485-E0B914CD594E}"/>
              </a:ext>
            </a:extLst>
          </p:cNvPr>
          <p:cNvGraphicFramePr>
            <a:graphicFrameLocks noGrp="1"/>
          </p:cNvGraphicFramePr>
          <p:nvPr>
            <p:extLst/>
          </p:nvPr>
        </p:nvGraphicFramePr>
        <p:xfrm>
          <a:off x="119133" y="4308909"/>
          <a:ext cx="7752657" cy="1402080"/>
        </p:xfrm>
        <a:graphic>
          <a:graphicData uri="http://schemas.openxmlformats.org/drawingml/2006/table">
            <a:tbl>
              <a:tblPr firstRow="1" bandRow="1">
                <a:tableStyleId>{21E4AEA4-8DFA-4A89-87EB-49C32662AFE0}</a:tableStyleId>
              </a:tblPr>
              <a:tblGrid>
                <a:gridCol w="7752657">
                  <a:extLst>
                    <a:ext uri="{9D8B030D-6E8A-4147-A177-3AD203B41FA5}">
                      <a16:colId xmlns:a16="http://schemas.microsoft.com/office/drawing/2014/main" val="398512777"/>
                    </a:ext>
                  </a:extLst>
                </a:gridCol>
              </a:tblGrid>
              <a:tr h="370840">
                <a:tc>
                  <a:txBody>
                    <a:bodyPr/>
                    <a:lstStyle/>
                    <a:p>
                      <a:pPr marL="285750" marR="0" lvl="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2000" b="1" kern="1200" dirty="0" smtClean="0">
                          <a:solidFill>
                            <a:srgbClr val="FF0000"/>
                          </a:solidFill>
                          <a:effectLst/>
                          <a:latin typeface="+mn-lt"/>
                          <a:ea typeface="+mn-ea"/>
                          <a:cs typeface="+mn-cs"/>
                        </a:rPr>
                        <a:t>To enable the students to understand various stages and constructs of C++ programming language.</a:t>
                      </a:r>
                      <a:endParaRPr lang="en-IN" sz="2400" b="1" i="0" kern="1200" dirty="0">
                        <a:solidFill>
                          <a:srgbClr val="FF0000"/>
                        </a:solidFill>
                        <a:effectLst/>
                        <a:latin typeface="+mn-lt"/>
                        <a:ea typeface="+mn-ea"/>
                        <a:cs typeface="+mn-cs"/>
                      </a:endParaRPr>
                    </a:p>
                  </a:txBody>
                  <a:tcPr>
                    <a:noFill/>
                  </a:tcPr>
                </a:tc>
                <a:extLst>
                  <a:ext uri="{0D108BD9-81ED-4DB2-BD59-A6C34878D82A}">
                    <a16:rowId xmlns:a16="http://schemas.microsoft.com/office/drawing/2014/main" val="4281817151"/>
                  </a:ext>
                </a:extLst>
              </a:tr>
              <a:tr h="370840">
                <a:tc>
                  <a:txBody>
                    <a:bodyPr/>
                    <a:lstStyle/>
                    <a:p>
                      <a:pPr marL="285750" indent="-285750" algn="just">
                        <a:buFont typeface="Arial" panose="020B0604020202020204" pitchFamily="34" charset="0"/>
                        <a:buChar char="•"/>
                      </a:pPr>
                      <a:r>
                        <a:rPr lang="en-US" sz="2000" b="1" i="0" kern="1200" dirty="0" smtClean="0">
                          <a:solidFill>
                            <a:srgbClr val="FF0000"/>
                          </a:solidFill>
                          <a:effectLst/>
                          <a:latin typeface="+mn-lt"/>
                          <a:ea typeface="+mn-ea"/>
                          <a:cs typeface="+mn-cs"/>
                        </a:rPr>
                        <a:t>To improve their ability to analyze and address variety of problems in C++.</a:t>
                      </a:r>
                      <a:endParaRPr lang="en-IN" sz="2000" b="1" dirty="0">
                        <a:solidFill>
                          <a:srgbClr val="FF0000"/>
                        </a:solidFill>
                      </a:endParaRPr>
                    </a:p>
                  </a:txBody>
                  <a:tcPr>
                    <a:noFill/>
                  </a:tcPr>
                </a:tc>
                <a:extLst>
                  <a:ext uri="{0D108BD9-81ED-4DB2-BD59-A6C34878D82A}">
                    <a16:rowId xmlns:a16="http://schemas.microsoft.com/office/drawing/2014/main" val="511240425"/>
                  </a:ext>
                </a:extLst>
              </a:tr>
            </a:tbl>
          </a:graphicData>
        </a:graphic>
      </p:graphicFrame>
    </p:spTree>
    <p:extLst>
      <p:ext uri="{BB962C8B-B14F-4D97-AF65-F5344CB8AC3E}">
        <p14:creationId xmlns:p14="http://schemas.microsoft.com/office/powerpoint/2010/main" val="324615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326692"/>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 Number</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mn-ea"/>
                          <a:cs typeface="Times New Roman" panose="02020603050405020304" pitchFamily="18" charset="0"/>
                        </a:rPr>
                        <a:t>Course</a:t>
                      </a:r>
                      <a:r>
                        <a:rPr lang="en-US" sz="1800" b="1" baseline="0" dirty="0" smtClean="0">
                          <a:solidFill>
                            <a:schemeClr val="tx1"/>
                          </a:solidFill>
                          <a:effectLst/>
                          <a:latin typeface="Times New Roman" panose="02020603050405020304" pitchFamily="18" charset="0"/>
                          <a:ea typeface="+mn-ea"/>
                          <a:cs typeface="Times New Roman" panose="02020603050405020304" pitchFamily="18" charset="0"/>
                        </a:rPr>
                        <a:t> Outcome</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CO1</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Understand the concepts of object-oriented programming including programming process and compilation process.</a:t>
                      </a: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CO2</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Apply different techniques to decompose a problem and programmed a solution with various concepts of object-oriented programming language. </a:t>
                      </a: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CO3</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Analyse and explain the behaviour of linear data structure operations using the programming addressed in the course.</a:t>
                      </a: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latin typeface="Times New Roman" panose="02020603050405020304" pitchFamily="18" charset="0"/>
                          <a:cs typeface="Times New Roman" panose="02020603050405020304" pitchFamily="18" charset="0"/>
                        </a:rPr>
                        <a:t>CO4</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Implement and evaluate the programs using the syntax and semantics of object-oriented programming.</a:t>
                      </a: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indent="-31115" algn="just">
                        <a:lnSpc>
                          <a:spcPct val="107000"/>
                        </a:lnSpc>
                        <a:spcAft>
                          <a:spcPts val="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Design the solution of real-world problems in order to determine that the program performs as expected.</a:t>
                      </a: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046116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graphicFrame>
        <p:nvGraphicFramePr>
          <p:cNvPr id="3" name="Table 2">
            <a:extLst>
              <a:ext uri="{FF2B5EF4-FFF2-40B4-BE49-F238E27FC236}">
                <a16:creationId xmlns:a16="http://schemas.microsoft.com/office/drawing/2014/main" id="{D7477AAF-A07C-4596-A48D-8E485D58D469}"/>
              </a:ext>
            </a:extLst>
          </p:cNvPr>
          <p:cNvGraphicFramePr>
            <a:graphicFrameLocks noGrp="1"/>
          </p:cNvGraphicFramePr>
          <p:nvPr/>
        </p:nvGraphicFramePr>
        <p:xfrm>
          <a:off x="1274907" y="1800116"/>
          <a:ext cx="9642185" cy="4635939"/>
        </p:xfrm>
        <a:graphic>
          <a:graphicData uri="http://schemas.openxmlformats.org/drawingml/2006/table">
            <a:tbl>
              <a:tblPr firstRow="1" firstCol="1" lastRow="1" lastCol="1" bandRow="1" bandCol="1"/>
              <a:tblGrid>
                <a:gridCol w="561427">
                  <a:extLst>
                    <a:ext uri="{9D8B030D-6E8A-4147-A177-3AD203B41FA5}">
                      <a16:colId xmlns:a16="http://schemas.microsoft.com/office/drawing/2014/main" val="2474331142"/>
                    </a:ext>
                  </a:extLst>
                </a:gridCol>
                <a:gridCol w="1842124">
                  <a:extLst>
                    <a:ext uri="{9D8B030D-6E8A-4147-A177-3AD203B41FA5}">
                      <a16:colId xmlns:a16="http://schemas.microsoft.com/office/drawing/2014/main" val="1184856305"/>
                    </a:ext>
                  </a:extLst>
                </a:gridCol>
                <a:gridCol w="1703266">
                  <a:extLst>
                    <a:ext uri="{9D8B030D-6E8A-4147-A177-3AD203B41FA5}">
                      <a16:colId xmlns:a16="http://schemas.microsoft.com/office/drawing/2014/main" val="2645493871"/>
                    </a:ext>
                  </a:extLst>
                </a:gridCol>
                <a:gridCol w="1657314">
                  <a:extLst>
                    <a:ext uri="{9D8B030D-6E8A-4147-A177-3AD203B41FA5}">
                      <a16:colId xmlns:a16="http://schemas.microsoft.com/office/drawing/2014/main" val="3841429667"/>
                    </a:ext>
                  </a:extLst>
                </a:gridCol>
                <a:gridCol w="2184778">
                  <a:extLst>
                    <a:ext uri="{9D8B030D-6E8A-4147-A177-3AD203B41FA5}">
                      <a16:colId xmlns:a16="http://schemas.microsoft.com/office/drawing/2014/main" val="2238627060"/>
                    </a:ext>
                  </a:extLst>
                </a:gridCol>
                <a:gridCol w="1693276">
                  <a:extLst>
                    <a:ext uri="{9D8B030D-6E8A-4147-A177-3AD203B41FA5}">
                      <a16:colId xmlns:a16="http://schemas.microsoft.com/office/drawing/2014/main" val="1949201981"/>
                    </a:ext>
                  </a:extLst>
                </a:gridCol>
              </a:tblGrid>
              <a:tr h="653197">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Sr.</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algn="ctr">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36258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Type of Assessment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10287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Weightage of actual conduct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16954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Frequency of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16383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Final Weightage in Internal</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marR="227965" algn="ctr">
                        <a:lnSpc>
                          <a:spcPts val="1220"/>
                        </a:lnSpc>
                        <a:spcBef>
                          <a:spcPts val="1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Assessment (Prorated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dirty="0">
                          <a:effectLst/>
                          <a:latin typeface="Cambria" panose="02040503050406030204" pitchFamily="18" charset="0"/>
                          <a:ea typeface="Cambria" panose="02040503050406030204" pitchFamily="18" charset="0"/>
                          <a:cs typeface="Cambria" panose="02040503050406030204" pitchFamily="18" charset="0"/>
                        </a:rPr>
                        <a:t>Remarks</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74228872"/>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Assignment*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10 marks</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of</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310" marR="349885"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each </a:t>
                      </a:r>
                      <a:r>
                        <a:rPr lang="en-US" sz="1200" b="1" spc="-5">
                          <a:effectLst/>
                          <a:latin typeface="Cambria" panose="02040503050406030204" pitchFamily="18" charset="0"/>
                          <a:ea typeface="Cambria" panose="02040503050406030204" pitchFamily="18" charset="0"/>
                          <a:cs typeface="Cambria" panose="02040503050406030204" pitchFamily="18" charset="0"/>
                        </a:rPr>
                        <a:t>assignment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10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to</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course types depicted</a:t>
                      </a:r>
                      <a:r>
                        <a:rPr lang="en-US" sz="1200" b="1" spc="40">
                          <a:effectLst/>
                          <a:latin typeface="Cambria" panose="02040503050406030204" pitchFamily="18" charset="0"/>
                          <a:ea typeface="Cambria" panose="02040503050406030204" pitchFamily="18" charset="0"/>
                          <a:cs typeface="Cambria" panose="02040503050406030204" pitchFamily="18" charset="0"/>
                        </a:rPr>
                        <a:t> </a:t>
                      </a:r>
                      <a:r>
                        <a:rPr lang="en-US" sz="1200" b="1" spc="-20">
                          <a:effectLst/>
                          <a:latin typeface="Cambria" panose="02040503050406030204" pitchFamily="18" charset="0"/>
                          <a:ea typeface="Cambria" panose="02040503050406030204" pitchFamily="18" charset="0"/>
                          <a:cs typeface="Cambria" panose="02040503050406030204" pitchFamily="18" charset="0"/>
                        </a:rPr>
                        <a:t>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50270279"/>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38798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Time Bound Surprise</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Test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64795" algn="ctr">
                        <a:lnSpc>
                          <a:spcPct val="98000"/>
                        </a:lnSpc>
                        <a:spcAft>
                          <a:spcPts val="0"/>
                        </a:spcAft>
                      </a:pPr>
                      <a:r>
                        <a:rPr lang="en-US" sz="1200" b="1" dirty="0">
                          <a:effectLst/>
                          <a:latin typeface="Cambria" panose="02040503050406030204" pitchFamily="18" charset="0"/>
                          <a:ea typeface="Cambria" panose="02040503050406030204" pitchFamily="18" charset="0"/>
                          <a:cs typeface="Cambria" panose="02040503050406030204" pitchFamily="18" charset="0"/>
                        </a:rPr>
                        <a:t>12 marks for each test</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4318392"/>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3.</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Quiz</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10223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 marks of each quiz</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per Unit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5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8423615"/>
                  </a:ext>
                </a:extLst>
              </a:tr>
              <a:tr h="488074">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4.</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marR="289560"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Mid-Semester Test**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marR="26479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20 marks for one MST.</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per semester</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20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lnSpc>
                          <a:spcPct val="9800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2127541"/>
                  </a:ext>
                </a:extLst>
              </a:tr>
              <a:tr h="489400">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5.</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Presentation***</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Cambria" panose="02040503050406030204" pitchFamily="18" charset="0"/>
                          <a:cs typeface="Cambria" panose="02040503050406030204" pitchFamily="18" charset="0"/>
                        </a:rPr>
                        <a:t> </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a:effectLst/>
                          <a:latin typeface="Times New Roman" panose="02020603050405020304" pitchFamily="18" charset="0"/>
                          <a:ea typeface="Cambria" panose="02040503050406030204" pitchFamily="18" charset="0"/>
                          <a:cs typeface="Cambria" panose="02040503050406030204" pitchFamily="18" charset="0"/>
                        </a:rPr>
                        <a:t> </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 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337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Only for Self Study</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MNGCourses.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22513427"/>
                  </a:ext>
                </a:extLst>
              </a:tr>
              <a:tr h="489400">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6.</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Homework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30"/>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a:t>
                      </a:r>
                      <a:r>
                        <a:rPr lang="en-US" sz="1200" b="1" spc="-15">
                          <a:effectLst/>
                          <a:latin typeface="Cambria" panose="02040503050406030204" pitchFamily="18" charset="0"/>
                          <a:ea typeface="Cambria" panose="02040503050406030204" pitchFamily="18" charset="0"/>
                          <a:cs typeface="Cambria" panose="02040503050406030204" pitchFamily="18" charset="0"/>
                        </a:rPr>
                        <a:t>lecture </a:t>
                      </a:r>
                      <a:r>
                        <a:rPr lang="en-US" sz="1200" b="1">
                          <a:effectLst/>
                          <a:latin typeface="Cambria" panose="02040503050406030204" pitchFamily="18" charset="0"/>
                          <a:ea typeface="Cambria" panose="02040503050406030204" pitchFamily="18" charset="0"/>
                          <a:cs typeface="Cambria" panose="02040503050406030204" pitchFamily="18" charset="0"/>
                        </a:rPr>
                        <a:t>topic (of</a:t>
                      </a:r>
                      <a:r>
                        <a:rPr lang="en-US" sz="1200" b="1" spc="-10">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2</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675"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questions)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908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 to course types</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13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depicted 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44953821"/>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7.</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Discussion Forum</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marR="514350"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One per Chapter</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marR="294005" algn="ctr">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Non Graded: Engagement Task</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As applicable</a:t>
                      </a:r>
                      <a:r>
                        <a:rPr lang="en-US" sz="1200" b="1" spc="-5">
                          <a:effectLst/>
                          <a:latin typeface="Cambria" panose="02040503050406030204" pitchFamily="18" charset="0"/>
                          <a:ea typeface="Cambria" panose="02040503050406030204" pitchFamily="18" charset="0"/>
                          <a:cs typeface="Cambria" panose="02040503050406030204" pitchFamily="18" charset="0"/>
                        </a:rPr>
                        <a:t> </a:t>
                      </a:r>
                      <a:r>
                        <a:rPr lang="en-US" sz="1200" b="1">
                          <a:effectLst/>
                          <a:latin typeface="Cambria" panose="02040503050406030204" pitchFamily="18" charset="0"/>
                          <a:ea typeface="Cambria" panose="02040503050406030204" pitchFamily="18" charset="0"/>
                          <a:cs typeface="Cambria" panose="02040503050406030204" pitchFamily="18" charset="0"/>
                        </a:rPr>
                        <a:t>to</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6040" algn="ctr">
                        <a:lnSpc>
                          <a:spcPts val="1200"/>
                        </a:lnSpc>
                        <a:spcBef>
                          <a:spcPts val="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course types depicted</a:t>
                      </a:r>
                      <a:r>
                        <a:rPr lang="en-US" sz="1200" b="1" spc="40">
                          <a:effectLst/>
                          <a:latin typeface="Cambria" panose="02040503050406030204" pitchFamily="18" charset="0"/>
                          <a:ea typeface="Cambria" panose="02040503050406030204" pitchFamily="18" charset="0"/>
                          <a:cs typeface="Cambria" panose="02040503050406030204" pitchFamily="18" charset="0"/>
                        </a:rPr>
                        <a:t> </a:t>
                      </a:r>
                      <a:r>
                        <a:rPr lang="en-US" sz="1200" b="1" spc="-20">
                          <a:effectLst/>
                          <a:latin typeface="Cambria" panose="02040503050406030204" pitchFamily="18" charset="0"/>
                          <a:ea typeface="Cambria" panose="02040503050406030204" pitchFamily="18" charset="0"/>
                          <a:cs typeface="Cambria" panose="02040503050406030204" pitchFamily="18" charset="0"/>
                        </a:rPr>
                        <a:t>above.</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3220233"/>
                  </a:ext>
                </a:extLst>
              </a:tr>
              <a:tr h="489400">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8.</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94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Attendance and</a:t>
                      </a:r>
                      <a:endParaRPr lang="en-IN" sz="1600" b="1">
                        <a:effectLst/>
                        <a:latin typeface="Cambria" panose="02040503050406030204" pitchFamily="18" charset="0"/>
                        <a:ea typeface="Cambria" panose="02040503050406030204" pitchFamily="18" charset="0"/>
                        <a:cs typeface="Cambria" panose="02040503050406030204" pitchFamily="18" charset="0"/>
                      </a:endParaRPr>
                    </a:p>
                    <a:p>
                      <a:pPr marL="67945" marR="375285" algn="ctr">
                        <a:lnSpc>
                          <a:spcPts val="1220"/>
                        </a:lnSpc>
                        <a:spcBef>
                          <a:spcPts val="25"/>
                        </a:spcBef>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Engagement Score on BB</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731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675"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NA</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66040" algn="ctr">
                        <a:lnSpc>
                          <a:spcPts val="1215"/>
                        </a:lnSpc>
                        <a:spcAft>
                          <a:spcPts val="0"/>
                        </a:spcAft>
                      </a:pPr>
                      <a:r>
                        <a:rPr lang="en-US" sz="1200" b="1">
                          <a:effectLst/>
                          <a:latin typeface="Cambria" panose="02040503050406030204" pitchFamily="18" charset="0"/>
                          <a:ea typeface="Cambria" panose="02040503050406030204" pitchFamily="18" charset="0"/>
                          <a:cs typeface="Cambria" panose="02040503050406030204" pitchFamily="18" charset="0"/>
                        </a:rPr>
                        <a:t>2 marks</a:t>
                      </a:r>
                      <a:endParaRPr lang="en-IN" sz="1600" b="1">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dirty="0">
                          <a:effectLst/>
                          <a:latin typeface="Times New Roman" panose="02020603050405020304" pitchFamily="18" charset="0"/>
                          <a:ea typeface="Cambria" panose="02040503050406030204" pitchFamily="18" charset="0"/>
                          <a:cs typeface="Cambria" panose="02040503050406030204" pitchFamily="18" charset="0"/>
                        </a:rPr>
                        <a:t> </a:t>
                      </a:r>
                      <a:endParaRPr lang="en-IN" sz="1600" b="1" dirty="0">
                        <a:effectLst/>
                        <a:latin typeface="Cambria" panose="02040503050406030204" pitchFamily="18" charset="0"/>
                        <a:ea typeface="Cambria" panose="02040503050406030204" pitchFamily="18" charset="0"/>
                        <a:cs typeface="Cambria" panose="020405030504060302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2552667"/>
                  </a:ext>
                </a:extLst>
              </a:tr>
            </a:tbl>
          </a:graphicData>
        </a:graphic>
      </p:graphicFrame>
    </p:spTree>
    <p:extLst>
      <p:ext uri="{BB962C8B-B14F-4D97-AF65-F5344CB8AC3E}">
        <p14:creationId xmlns:p14="http://schemas.microsoft.com/office/powerpoint/2010/main" val="150023765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IN" sz="2400" dirty="0">
                <a:latin typeface="Casper" panose="02000506000000020004" pitchFamily="2" charset="0"/>
                <a:cs typeface="Arial" panose="020B0604020202020204" pitchFamily="34" charset="0"/>
              </a:rPr>
              <a:t>Defining derived </a:t>
            </a:r>
            <a:r>
              <a:rPr lang="en-IN" sz="2400" dirty="0" smtClean="0">
                <a:latin typeface="Casper" panose="02000506000000020004" pitchFamily="2" charset="0"/>
                <a:cs typeface="Arial" panose="020B0604020202020204" pitchFamily="34" charset="0"/>
              </a:rPr>
              <a:t>class </a:t>
            </a:r>
            <a:endParaRPr lang="en-IN" sz="2400" dirty="0">
              <a:latin typeface="Casper" panose="02000506000000020004" pitchFamily="2" charset="0"/>
              <a:cs typeface="Arial" panose="020B0604020202020204" pitchFamily="34" charset="0"/>
            </a:endParaRPr>
          </a:p>
          <a:p>
            <a:r>
              <a:rPr lang="en-IN" sz="2400" dirty="0">
                <a:latin typeface="Casper" panose="02000506000000020004" pitchFamily="2" charset="0"/>
                <a:cs typeface="Arial" panose="020B0604020202020204" pitchFamily="34" charset="0"/>
              </a:rPr>
              <a:t>modes of </a:t>
            </a:r>
            <a:r>
              <a:rPr lang="en-IN" sz="2400" dirty="0" smtClean="0">
                <a:latin typeface="Casper" panose="02000506000000020004" pitchFamily="2" charset="0"/>
                <a:cs typeface="Arial" panose="020B0604020202020204" pitchFamily="34" charset="0"/>
              </a:rPr>
              <a:t>inheritance </a:t>
            </a:r>
            <a:endParaRPr lang="en-IN" sz="2400" dirty="0">
              <a:latin typeface="Casper" panose="02000506000000020004" pitchFamily="2" charset="0"/>
              <a:cs typeface="Arial" panose="020B0604020202020204" pitchFamily="34" charset="0"/>
            </a:endParaRPr>
          </a:p>
          <a:p>
            <a:r>
              <a:rPr lang="en-IN" sz="2400" dirty="0">
                <a:latin typeface="Casper" panose="02000506000000020004" pitchFamily="2" charset="0"/>
                <a:cs typeface="Arial" panose="020B0604020202020204" pitchFamily="34" charset="0"/>
              </a:rPr>
              <a:t>types of </a:t>
            </a:r>
            <a:r>
              <a:rPr lang="en-IN" sz="2400" dirty="0" smtClean="0">
                <a:latin typeface="Casper" panose="02000506000000020004" pitchFamily="2" charset="0"/>
                <a:cs typeface="Arial" panose="020B0604020202020204" pitchFamily="34" charset="0"/>
              </a:rPr>
              <a:t>inheritance</a:t>
            </a:r>
            <a:r>
              <a:rPr lang="en-IN" sz="2400" dirty="0">
                <a:latin typeface="Casper" panose="02000506000000020004" pitchFamily="2" charset="0"/>
                <a:cs typeface="Arial" panose="020B0604020202020204" pitchFamily="34" charset="0"/>
              </a:rPr>
              <a:t>	</a:t>
            </a: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449262" y="3856830"/>
            <a:ext cx="4322762" cy="2624651"/>
          </a:xfrm>
        </p:spPr>
        <p:txBody>
          <a:bodyPr>
            <a:normAutofit/>
          </a:bodyPr>
          <a:lstStyle/>
          <a:p>
            <a:pPr algn="just"/>
            <a:r>
              <a:rPr lang="en-IN" dirty="0"/>
              <a:t>The capability of a class to derive properties and characteristics from another class is called Inheritance. </a:t>
            </a:r>
          </a:p>
          <a:p>
            <a:pPr algn="just"/>
            <a:r>
              <a:rPr lang="en-IN" dirty="0"/>
              <a:t>Inheritance is one of the most important feature of Object Oriented Programming</a:t>
            </a:r>
            <a:endParaRPr lang="en-US" dirty="0"/>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49262" y="3835400"/>
            <a:ext cx="4322762" cy="2520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957865" y="2429010"/>
            <a:ext cx="1143000" cy="37651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93801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INHERITANCE</a:t>
            </a:r>
            <a:endParaRPr lang="en-US" dirty="0"/>
          </a:p>
        </p:txBody>
      </p:sp>
      <p:sp>
        <p:nvSpPr>
          <p:cNvPr id="3" name="Content Placeholder 2"/>
          <p:cNvSpPr>
            <a:spLocks noGrp="1"/>
          </p:cNvSpPr>
          <p:nvPr>
            <p:ph idx="1"/>
          </p:nvPr>
        </p:nvSpPr>
        <p:spPr>
          <a:xfrm>
            <a:off x="838200" y="1825624"/>
            <a:ext cx="10515600" cy="4510087"/>
          </a:xfrm>
        </p:spPr>
        <p:txBody>
          <a:bodyPr>
            <a:normAutofit/>
          </a:bodyPr>
          <a:lstStyle/>
          <a:p>
            <a:pPr marL="0" indent="0">
              <a:buNone/>
            </a:pPr>
            <a:r>
              <a:rPr lang="en-IN" sz="1600" dirty="0">
                <a:latin typeface="Casper" panose="02000506000000020004" pitchFamily="2" charset="0"/>
                <a:cs typeface="Arial" panose="020B0604020202020204" pitchFamily="34" charset="0"/>
              </a:rPr>
              <a:t>It is the Process of creating a New class from an existing class. The Existing class is called Base or Parent class. The New class is called as Child or Derived Class.</a:t>
            </a:r>
          </a:p>
          <a:p>
            <a:pPr marL="0" indent="0">
              <a:buNone/>
            </a:pPr>
            <a:r>
              <a:rPr lang="en-IN" sz="1600" dirty="0">
                <a:latin typeface="Casper" panose="02000506000000020004" pitchFamily="2" charset="0"/>
                <a:cs typeface="Arial" panose="020B0604020202020204" pitchFamily="34" charset="0"/>
              </a:rPr>
              <a:t>Advantages  </a:t>
            </a:r>
          </a:p>
          <a:p>
            <a:r>
              <a:rPr lang="en-IN" sz="1600" dirty="0">
                <a:latin typeface="Casper" panose="02000506000000020004" pitchFamily="2" charset="0"/>
                <a:cs typeface="Arial" panose="020B0604020202020204" pitchFamily="34" charset="0"/>
              </a:rPr>
              <a:t>It permits code reusability. So, save time and increase the program reliability.</a:t>
            </a:r>
          </a:p>
          <a:p>
            <a:r>
              <a:rPr lang="en-IN" sz="1600" dirty="0">
                <a:latin typeface="Casper" panose="02000506000000020004" pitchFamily="2" charset="0"/>
                <a:cs typeface="Arial" panose="020B0604020202020204" pitchFamily="34" charset="0"/>
              </a:rPr>
              <a:t>A programmer can use a class created by another person or company without modifying it derive other classes from it that are suited to particular situations</a:t>
            </a:r>
          </a:p>
          <a:p>
            <a:r>
              <a:rPr lang="en-IN" sz="1600" dirty="0">
                <a:latin typeface="Casper" panose="02000506000000020004" pitchFamily="2" charset="0"/>
                <a:cs typeface="Arial" panose="020B0604020202020204" pitchFamily="34" charset="0"/>
              </a:rPr>
              <a:t>Improve Program Reliability</a:t>
            </a:r>
          </a:p>
          <a:p>
            <a:r>
              <a:rPr lang="en-IN" sz="1600" dirty="0">
                <a:latin typeface="Casper" panose="02000506000000020004" pitchFamily="2" charset="0"/>
                <a:cs typeface="Arial" panose="020B0604020202020204" pitchFamily="34" charset="0"/>
              </a:rPr>
              <a:t>It Permits code sharing</a:t>
            </a:r>
          </a:p>
          <a:p>
            <a:r>
              <a:rPr lang="en-IN" sz="1600" dirty="0" smtClean="0">
                <a:latin typeface="Casper" panose="02000506000000020004" pitchFamily="2" charset="0"/>
                <a:cs typeface="Arial" panose="020B0604020202020204" pitchFamily="34" charset="0"/>
              </a:rPr>
              <a:t>The </a:t>
            </a:r>
            <a:r>
              <a:rPr lang="en-IN" sz="1600" dirty="0">
                <a:latin typeface="Casper" panose="02000506000000020004" pitchFamily="2" charset="0"/>
                <a:cs typeface="Arial" panose="020B0604020202020204" pitchFamily="34" charset="0"/>
              </a:rPr>
              <a:t>base class need not be changed but can be adapted to suit the requirements in different applications.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dirty="0"/>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3702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INHERITANCE</a:t>
            </a:r>
            <a:endParaRPr lang="en-US" dirty="0"/>
          </a:p>
        </p:txBody>
      </p:sp>
      <p:sp>
        <p:nvSpPr>
          <p:cNvPr id="3" name="Content Placeholder 2"/>
          <p:cNvSpPr>
            <a:spLocks noGrp="1"/>
          </p:cNvSpPr>
          <p:nvPr>
            <p:ph idx="1"/>
          </p:nvPr>
        </p:nvSpPr>
        <p:spPr>
          <a:xfrm>
            <a:off x="838200" y="1825624"/>
            <a:ext cx="10515600" cy="4510087"/>
          </a:xfrm>
        </p:spPr>
        <p:txBody>
          <a:bodyPr>
            <a:normAutofit/>
          </a:bodyPr>
          <a:lstStyle/>
          <a:p>
            <a:pPr marL="0" indent="0">
              <a:buNone/>
            </a:pPr>
            <a:r>
              <a:rPr lang="en-IN" sz="1600" dirty="0">
                <a:latin typeface="Casper" panose="02000506000000020004" pitchFamily="2" charset="0"/>
                <a:cs typeface="Arial" panose="020B0604020202020204" pitchFamily="34" charset="0"/>
              </a:rPr>
              <a:t>It is the Process of creating a New class from an existing class. The Existing class is called Base or Parent class. The New class is called as Child or Derived Class.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dirty="0"/>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
          <p:cNvSpPr>
            <a:spLocks noChangeArrowheads="1"/>
          </p:cNvSpPr>
          <p:nvPr/>
        </p:nvSpPr>
        <p:spPr bwMode="auto">
          <a:xfrm>
            <a:off x="2456330" y="2891118"/>
            <a:ext cx="2438400" cy="1828800"/>
          </a:xfrm>
          <a:prstGeom prst="rect">
            <a:avLst/>
          </a:prstGeom>
          <a:gradFill rotWithShape="0">
            <a:gsLst>
              <a:gs pos="0">
                <a:srgbClr val="FF99CC"/>
              </a:gs>
              <a:gs pos="100000">
                <a:srgbClr val="76475E"/>
              </a:gs>
            </a:gsLst>
            <a:lin ang="2700000" scaled="1"/>
          </a:gradFill>
          <a:ln w="9525">
            <a:solidFill>
              <a:schemeClr val="tx1"/>
            </a:solidFill>
            <a:miter lim="800000"/>
            <a:headEnd/>
            <a:tailEnd/>
          </a:ln>
        </p:spPr>
        <p:txBody>
          <a:bodyPr wrap="none" anchor="ctr"/>
          <a:lstStyle/>
          <a:p>
            <a:endParaRPr lang="en-US"/>
          </a:p>
        </p:txBody>
      </p:sp>
      <p:sp>
        <p:nvSpPr>
          <p:cNvPr id="8" name="AutoShape 4"/>
          <p:cNvSpPr>
            <a:spLocks noChangeArrowheads="1"/>
          </p:cNvSpPr>
          <p:nvPr/>
        </p:nvSpPr>
        <p:spPr bwMode="auto">
          <a:xfrm rot="-5380308">
            <a:off x="6190130" y="2818093"/>
            <a:ext cx="304800" cy="2286000"/>
          </a:xfrm>
          <a:prstGeom prst="downArrow">
            <a:avLst>
              <a:gd name="adj1" fmla="val 50000"/>
              <a:gd name="adj2" fmla="val 187500"/>
            </a:avLst>
          </a:prstGeom>
          <a:solidFill>
            <a:srgbClr val="CCFFFF"/>
          </a:solidFill>
          <a:ln w="9525">
            <a:solidFill>
              <a:schemeClr val="tx1"/>
            </a:solidFill>
            <a:miter lim="800000"/>
            <a:headEnd/>
            <a:tailEnd/>
          </a:ln>
        </p:spPr>
        <p:txBody>
          <a:bodyPr wrap="none" anchor="ctr"/>
          <a:lstStyle/>
          <a:p>
            <a:endParaRPr lang="en-US"/>
          </a:p>
        </p:txBody>
      </p:sp>
      <p:sp>
        <p:nvSpPr>
          <p:cNvPr id="9" name="Text Box 5"/>
          <p:cNvSpPr txBox="1">
            <a:spLocks noChangeArrowheads="1"/>
          </p:cNvSpPr>
          <p:nvPr/>
        </p:nvSpPr>
        <p:spPr bwMode="auto">
          <a:xfrm>
            <a:off x="2608730" y="3500718"/>
            <a:ext cx="1752600" cy="1187450"/>
          </a:xfrm>
          <a:prstGeom prst="rect">
            <a:avLst/>
          </a:prstGeom>
          <a:noFill/>
          <a:ln w="9525">
            <a:noFill/>
            <a:miter lim="800000"/>
            <a:headEnd/>
            <a:tailEnd/>
          </a:ln>
        </p:spPr>
        <p:txBody>
          <a:bodyPr>
            <a:spAutoFit/>
          </a:bodyPr>
          <a:lstStyle/>
          <a:p>
            <a:pPr algn="ctr">
              <a:spcBef>
                <a:spcPct val="50000"/>
              </a:spcBef>
            </a:pPr>
            <a:r>
              <a:rPr lang="en-US" sz="2400" dirty="0">
                <a:latin typeface="Times New Roman" pitchFamily="18" charset="0"/>
              </a:rPr>
              <a:t>Methods</a:t>
            </a:r>
            <a:br>
              <a:rPr lang="en-US" sz="2400" dirty="0">
                <a:latin typeface="Times New Roman" pitchFamily="18" charset="0"/>
              </a:rPr>
            </a:br>
            <a:r>
              <a:rPr lang="en-US" sz="2400" dirty="0">
                <a:latin typeface="Times New Roman" pitchFamily="18" charset="0"/>
              </a:rPr>
              <a:t>and Properties</a:t>
            </a:r>
          </a:p>
        </p:txBody>
      </p:sp>
      <p:sp>
        <p:nvSpPr>
          <p:cNvPr id="10" name="Rectangle 6"/>
          <p:cNvSpPr>
            <a:spLocks noChangeArrowheads="1"/>
          </p:cNvSpPr>
          <p:nvPr/>
        </p:nvSpPr>
        <p:spPr bwMode="auto">
          <a:xfrm>
            <a:off x="7561730" y="2738718"/>
            <a:ext cx="2590800" cy="2057400"/>
          </a:xfrm>
          <a:prstGeom prst="rect">
            <a:avLst/>
          </a:prstGeom>
          <a:gradFill rotWithShape="0">
            <a:gsLst>
              <a:gs pos="0">
                <a:srgbClr val="00CCFF"/>
              </a:gs>
              <a:gs pos="100000">
                <a:srgbClr val="005E76"/>
              </a:gs>
            </a:gsLst>
            <a:lin ang="2700000" scaled="1"/>
          </a:gradFill>
          <a:ln w="9525">
            <a:solidFill>
              <a:schemeClr val="tx1"/>
            </a:solidFill>
            <a:miter lim="800000"/>
            <a:headEnd/>
            <a:tailEnd/>
          </a:ln>
        </p:spPr>
        <p:txBody>
          <a:bodyPr wrap="none" anchor="ctr"/>
          <a:lstStyle/>
          <a:p>
            <a:endParaRPr lang="en-US"/>
          </a:p>
        </p:txBody>
      </p:sp>
      <p:sp>
        <p:nvSpPr>
          <p:cNvPr id="11" name="Text Box 7"/>
          <p:cNvSpPr txBox="1">
            <a:spLocks noChangeArrowheads="1"/>
          </p:cNvSpPr>
          <p:nvPr/>
        </p:nvSpPr>
        <p:spPr bwMode="auto">
          <a:xfrm>
            <a:off x="7486385" y="2967318"/>
            <a:ext cx="2818545" cy="461665"/>
          </a:xfrm>
          <a:prstGeom prst="rect">
            <a:avLst/>
          </a:prstGeom>
          <a:noFill/>
          <a:ln w="9525">
            <a:noFill/>
            <a:miter lim="800000"/>
            <a:headEnd/>
            <a:tailEnd/>
          </a:ln>
        </p:spPr>
        <p:txBody>
          <a:bodyPr wrap="square">
            <a:spAutoFit/>
          </a:bodyPr>
          <a:lstStyle/>
          <a:p>
            <a:pPr>
              <a:spcBef>
                <a:spcPct val="50000"/>
              </a:spcBef>
            </a:pPr>
            <a:r>
              <a:rPr lang="en-US" sz="2400" b="1" dirty="0">
                <a:latin typeface="Times New Roman" pitchFamily="18" charset="0"/>
              </a:rPr>
              <a:t>Derived/Super class</a:t>
            </a:r>
          </a:p>
        </p:txBody>
      </p:sp>
      <p:sp>
        <p:nvSpPr>
          <p:cNvPr id="12" name="Text Box 10"/>
          <p:cNvSpPr txBox="1">
            <a:spLocks noChangeArrowheads="1"/>
          </p:cNvSpPr>
          <p:nvPr/>
        </p:nvSpPr>
        <p:spPr bwMode="auto">
          <a:xfrm>
            <a:off x="7561730" y="3576918"/>
            <a:ext cx="2743200" cy="1187450"/>
          </a:xfrm>
          <a:prstGeom prst="rect">
            <a:avLst/>
          </a:prstGeom>
          <a:noFill/>
          <a:ln w="9525">
            <a:noFill/>
            <a:miter lim="800000"/>
            <a:headEnd/>
            <a:tailEnd/>
          </a:ln>
        </p:spPr>
        <p:txBody>
          <a:bodyPr>
            <a:spAutoFit/>
          </a:bodyPr>
          <a:lstStyle/>
          <a:p>
            <a:pPr algn="ctr">
              <a:spcBef>
                <a:spcPct val="50000"/>
              </a:spcBef>
            </a:pPr>
            <a:r>
              <a:rPr lang="en-US" sz="2400">
                <a:latin typeface="Times New Roman" pitchFamily="18" charset="0"/>
              </a:rPr>
              <a:t>Base class methods + </a:t>
            </a:r>
            <a:br>
              <a:rPr lang="en-US" sz="2400">
                <a:latin typeface="Times New Roman" pitchFamily="18" charset="0"/>
              </a:rPr>
            </a:br>
            <a:r>
              <a:rPr lang="en-US" sz="2400">
                <a:latin typeface="Times New Roman" pitchFamily="18" charset="0"/>
              </a:rPr>
              <a:t>Additional methods</a:t>
            </a:r>
          </a:p>
        </p:txBody>
      </p:sp>
      <p:sp>
        <p:nvSpPr>
          <p:cNvPr id="13" name="Text Box 3"/>
          <p:cNvSpPr txBox="1">
            <a:spLocks noChangeArrowheads="1"/>
          </p:cNvSpPr>
          <p:nvPr/>
        </p:nvSpPr>
        <p:spPr bwMode="auto">
          <a:xfrm>
            <a:off x="2456330" y="3032406"/>
            <a:ext cx="2438399" cy="461665"/>
          </a:xfrm>
          <a:prstGeom prst="rect">
            <a:avLst/>
          </a:prstGeom>
          <a:noFill/>
          <a:ln w="9525">
            <a:noFill/>
            <a:miter lim="800000"/>
            <a:headEnd/>
            <a:tailEnd/>
          </a:ln>
        </p:spPr>
        <p:txBody>
          <a:bodyPr wrap="square">
            <a:spAutoFit/>
          </a:bodyPr>
          <a:lstStyle/>
          <a:p>
            <a:pPr>
              <a:spcBef>
                <a:spcPct val="50000"/>
              </a:spcBef>
            </a:pPr>
            <a:r>
              <a:rPr lang="en-US" sz="2400" b="1" dirty="0">
                <a:latin typeface="Times New Roman" pitchFamily="18" charset="0"/>
              </a:rPr>
              <a:t>Base/Sub Class</a:t>
            </a:r>
          </a:p>
        </p:txBody>
      </p:sp>
    </p:spTree>
    <p:extLst>
      <p:ext uri="{BB962C8B-B14F-4D97-AF65-F5344CB8AC3E}">
        <p14:creationId xmlns:p14="http://schemas.microsoft.com/office/powerpoint/2010/main" val="3210951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IN" dirty="0">
                <a:latin typeface="Casper Bold" panose="02000806040000020004" pitchFamily="2" charset="0"/>
                <a:cs typeface="Arial" panose="020B0604020202020204" pitchFamily="34" charset="0"/>
              </a:rPr>
              <a:t>WHY AND WHEN TO USE INHERITANCE?</a:t>
            </a:r>
            <a:endParaRPr lang="en-US" dirty="0"/>
          </a:p>
        </p:txBody>
      </p:sp>
      <p:sp>
        <p:nvSpPr>
          <p:cNvPr id="3" name="Content Placeholder 2"/>
          <p:cNvSpPr>
            <a:spLocks noGrp="1"/>
          </p:cNvSpPr>
          <p:nvPr>
            <p:ph idx="1"/>
          </p:nvPr>
        </p:nvSpPr>
        <p:spPr>
          <a:xfrm>
            <a:off x="838200" y="1825624"/>
            <a:ext cx="10515600" cy="4655857"/>
          </a:xfrm>
        </p:spPr>
        <p:txBody>
          <a:bodyPr>
            <a:normAutofit/>
          </a:bodyPr>
          <a:lstStyle/>
          <a:p>
            <a:r>
              <a:rPr lang="en-IN" sz="1600" dirty="0">
                <a:latin typeface="Casper" panose="02000506000000020004" pitchFamily="2" charset="0"/>
                <a:cs typeface="Arial" panose="020B0604020202020204" pitchFamily="34" charset="0"/>
              </a:rPr>
              <a:t>Consider a group of vehicles. You need to create classes for Bus, Car and Truck. The methods </a:t>
            </a:r>
            <a:r>
              <a:rPr lang="en-IN" sz="1600" dirty="0" err="1">
                <a:latin typeface="Casper" panose="02000506000000020004" pitchFamily="2" charset="0"/>
                <a:cs typeface="Arial" panose="020B0604020202020204" pitchFamily="34" charset="0"/>
              </a:rPr>
              <a:t>fuelAmount</a:t>
            </a:r>
            <a:r>
              <a:rPr lang="en-IN" sz="1600" dirty="0">
                <a:latin typeface="Casper" panose="02000506000000020004" pitchFamily="2" charset="0"/>
                <a:cs typeface="Arial" panose="020B0604020202020204" pitchFamily="34" charset="0"/>
              </a:rPr>
              <a:t>(), capacity(), </a:t>
            </a:r>
            <a:r>
              <a:rPr lang="en-IN" sz="1600" dirty="0" err="1">
                <a:latin typeface="Casper" panose="02000506000000020004" pitchFamily="2" charset="0"/>
                <a:cs typeface="Arial" panose="020B0604020202020204" pitchFamily="34" charset="0"/>
              </a:rPr>
              <a:t>applyBrakes</a:t>
            </a:r>
            <a:r>
              <a:rPr lang="en-IN" sz="1600" dirty="0">
                <a:latin typeface="Casper" panose="02000506000000020004" pitchFamily="2" charset="0"/>
                <a:cs typeface="Arial" panose="020B0604020202020204" pitchFamily="34" charset="0"/>
              </a:rPr>
              <a:t>() will be same for all of the three classes. If we create these classes avoiding inheritance then we have to write all of these functions in each of the three classes as shown in below figure:</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8556" y="2881787"/>
            <a:ext cx="8373644" cy="2543530"/>
          </a:xfrm>
          <a:prstGeom prst="rect">
            <a:avLst/>
          </a:prstGeom>
        </p:spPr>
        <p:style>
          <a:lnRef idx="2">
            <a:schemeClr val="accent6"/>
          </a:lnRef>
          <a:fillRef idx="1">
            <a:schemeClr val="lt1"/>
          </a:fillRef>
          <a:effectRef idx="0">
            <a:schemeClr val="accent6"/>
          </a:effectRef>
          <a:fontRef idx="minor">
            <a:schemeClr val="dk1"/>
          </a:fontRef>
        </p:style>
      </p:pic>
      <p:sp>
        <p:nvSpPr>
          <p:cNvPr id="8" name="TextBox 7"/>
          <p:cNvSpPr txBox="1"/>
          <p:nvPr/>
        </p:nvSpPr>
        <p:spPr>
          <a:xfrm>
            <a:off x="4572000" y="5688106"/>
            <a:ext cx="2282291" cy="276999"/>
          </a:xfrm>
          <a:prstGeom prst="rect">
            <a:avLst/>
          </a:prstGeom>
          <a:noFill/>
        </p:spPr>
        <p:txBody>
          <a:bodyPr wrap="none" rtlCol="0">
            <a:spAutoFit/>
          </a:bodyPr>
          <a:lstStyle/>
          <a:p>
            <a:r>
              <a:rPr lang="en-IN" sz="1200" dirty="0"/>
              <a:t>Figure 4.1 Need of inheritance [1]</a:t>
            </a:r>
          </a:p>
        </p:txBody>
      </p:sp>
    </p:spTree>
    <p:extLst>
      <p:ext uri="{BB962C8B-B14F-4D97-AF65-F5344CB8AC3E}">
        <p14:creationId xmlns:p14="http://schemas.microsoft.com/office/powerpoint/2010/main" val="2476384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IN" dirty="0">
                <a:latin typeface="Casper Bold" panose="02000806040000020004" pitchFamily="2" charset="0"/>
                <a:cs typeface="Arial" panose="020B0604020202020204" pitchFamily="34" charset="0"/>
              </a:rPr>
              <a:t>WHY AND WHEN TO USE INHERITANCE?</a:t>
            </a:r>
            <a:endParaRPr lang="en-US" dirty="0"/>
          </a:p>
        </p:txBody>
      </p:sp>
      <p:sp>
        <p:nvSpPr>
          <p:cNvPr id="3" name="Content Placeholder 2"/>
          <p:cNvSpPr>
            <a:spLocks noGrp="1"/>
          </p:cNvSpPr>
          <p:nvPr>
            <p:ph idx="1"/>
          </p:nvPr>
        </p:nvSpPr>
        <p:spPr>
          <a:xfrm>
            <a:off x="838200" y="1825624"/>
            <a:ext cx="10515600" cy="4655857"/>
          </a:xfrm>
        </p:spPr>
        <p:txBody>
          <a:bodyPr>
            <a:normAutofit/>
          </a:bodyPr>
          <a:lstStyle/>
          <a:p>
            <a:r>
              <a:rPr lang="en-IN" sz="1600" dirty="0">
                <a:latin typeface="Casper" panose="02000506000000020004" pitchFamily="2" charset="0"/>
                <a:cs typeface="Arial" panose="020B0604020202020204" pitchFamily="34" charset="0"/>
              </a:rPr>
              <a:t>If we create a class Vehicle and write these three functions in it and inherit the rest of the classes from the vehicle class, then we can simply avoid the duplication of data and increase re-usability</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625788" y="6055150"/>
            <a:ext cx="2282291" cy="276999"/>
          </a:xfrm>
          <a:prstGeom prst="rect">
            <a:avLst/>
          </a:prstGeom>
          <a:noFill/>
        </p:spPr>
        <p:txBody>
          <a:bodyPr wrap="none" rtlCol="0">
            <a:spAutoFit/>
          </a:bodyPr>
          <a:lstStyle/>
          <a:p>
            <a:r>
              <a:rPr lang="en-IN" sz="1200" dirty="0"/>
              <a:t>Figure 4.2 Need of inheritance [1]</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0076" y="2487706"/>
            <a:ext cx="8028162" cy="3485688"/>
          </a:xfrm>
          <a:prstGeom prst="rect">
            <a:avLst/>
          </a:prstGeom>
        </p:spPr>
        <p:style>
          <a:lnRef idx="2">
            <a:schemeClr val="accent6"/>
          </a:lnRef>
          <a:fillRef idx="1">
            <a:schemeClr val="lt1"/>
          </a:fillRef>
          <a:effectRef idx="0">
            <a:schemeClr val="accent6"/>
          </a:effectRef>
          <a:fontRef idx="minor">
            <a:schemeClr val="dk1"/>
          </a:fontRef>
        </p:style>
      </p:pic>
    </p:spTree>
    <p:extLst>
      <p:ext uri="{BB962C8B-B14F-4D97-AF65-F5344CB8AC3E}">
        <p14:creationId xmlns:p14="http://schemas.microsoft.com/office/powerpoint/2010/main" val="6373908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IMPLEMENTING INHERITANCE IN C++</a:t>
            </a:r>
            <a:endParaRPr lang="en-US" dirty="0"/>
          </a:p>
        </p:txBody>
      </p:sp>
      <p:sp>
        <p:nvSpPr>
          <p:cNvPr id="3" name="Content Placeholder 2"/>
          <p:cNvSpPr>
            <a:spLocks noGrp="1"/>
          </p:cNvSpPr>
          <p:nvPr>
            <p:ph idx="1"/>
          </p:nvPr>
        </p:nvSpPr>
        <p:spPr>
          <a:xfrm>
            <a:off x="838200" y="1825624"/>
            <a:ext cx="10515600" cy="4655857"/>
          </a:xfrm>
        </p:spPr>
        <p:txBody>
          <a:bodyPr>
            <a:normAutofit/>
          </a:bodyPr>
          <a:lstStyle/>
          <a:p>
            <a:r>
              <a:rPr lang="en-IN" sz="1600" dirty="0">
                <a:latin typeface="Casper" panose="02000506000000020004" pitchFamily="2" charset="0"/>
                <a:cs typeface="Arial" panose="020B0604020202020204" pitchFamily="34" charset="0"/>
              </a:rPr>
              <a:t>For creating a sub-class which is inherited from the base class we have to follow the below syntax.</a:t>
            </a:r>
          </a:p>
          <a:p>
            <a:r>
              <a:rPr lang="en-IN" sz="1600" dirty="0">
                <a:latin typeface="Casper" panose="02000506000000020004" pitchFamily="2" charset="0"/>
                <a:cs typeface="Arial" panose="020B0604020202020204" pitchFamily="34" charset="0"/>
              </a:rPr>
              <a:t>Syntax:</a:t>
            </a:r>
          </a:p>
          <a:p>
            <a:pPr marL="457200" lvl="1" indent="0">
              <a:buNone/>
            </a:pPr>
            <a:r>
              <a:rPr lang="en-IN" sz="1600" dirty="0">
                <a:latin typeface="Casper" panose="02000506000000020004" pitchFamily="2" charset="0"/>
                <a:cs typeface="Arial" panose="020B0604020202020204" pitchFamily="34" charset="0"/>
              </a:rPr>
              <a:t>class </a:t>
            </a:r>
            <a:r>
              <a:rPr lang="en-IN" sz="1600" dirty="0" err="1">
                <a:latin typeface="Casper" panose="02000506000000020004" pitchFamily="2" charset="0"/>
                <a:cs typeface="Arial" panose="020B0604020202020204" pitchFamily="34" charset="0"/>
              </a:rPr>
              <a:t>subclass_name</a:t>
            </a:r>
            <a:r>
              <a:rPr lang="en-IN" sz="1600" dirty="0">
                <a:latin typeface="Casper" panose="02000506000000020004" pitchFamily="2" charset="0"/>
                <a:cs typeface="Arial" panose="020B0604020202020204" pitchFamily="34" charset="0"/>
              </a:rPr>
              <a:t> : </a:t>
            </a:r>
            <a:r>
              <a:rPr lang="en-IN" sz="1600" dirty="0" err="1">
                <a:latin typeface="Casper" panose="02000506000000020004" pitchFamily="2" charset="0"/>
                <a:cs typeface="Arial" panose="020B0604020202020204" pitchFamily="34" charset="0"/>
              </a:rPr>
              <a:t>access_mode</a:t>
            </a:r>
            <a:r>
              <a:rPr lang="en-IN" sz="1600" dirty="0">
                <a:latin typeface="Casper" panose="02000506000000020004" pitchFamily="2" charset="0"/>
                <a:cs typeface="Arial" panose="020B0604020202020204" pitchFamily="34" charset="0"/>
              </a:rPr>
              <a:t> </a:t>
            </a:r>
            <a:r>
              <a:rPr lang="en-IN" sz="1600" dirty="0" err="1">
                <a:latin typeface="Casper" panose="02000506000000020004" pitchFamily="2" charset="0"/>
                <a:cs typeface="Arial" panose="020B0604020202020204" pitchFamily="34" charset="0"/>
              </a:rPr>
              <a:t>base_class_name</a:t>
            </a:r>
            <a:endParaRPr lang="en-IN" sz="1600" dirty="0">
              <a:latin typeface="Casper" panose="02000506000000020004" pitchFamily="2" charset="0"/>
              <a:cs typeface="Arial" panose="020B0604020202020204" pitchFamily="34" charset="0"/>
            </a:endParaRPr>
          </a:p>
          <a:p>
            <a:pPr marL="457200" lvl="1" indent="0">
              <a:buNone/>
            </a:pPr>
            <a:r>
              <a:rPr lang="en-IN" sz="1600" dirty="0">
                <a:latin typeface="Casper" panose="02000506000000020004" pitchFamily="2" charset="0"/>
                <a:cs typeface="Arial" panose="020B0604020202020204" pitchFamily="34" charset="0"/>
              </a:rPr>
              <a:t>{</a:t>
            </a:r>
          </a:p>
          <a:p>
            <a:pPr marL="457200" lvl="1" indent="0">
              <a:buNone/>
            </a:pPr>
            <a:r>
              <a:rPr lang="en-IN" sz="1600" dirty="0">
                <a:latin typeface="Casper" panose="02000506000000020004" pitchFamily="2" charset="0"/>
                <a:cs typeface="Arial" panose="020B0604020202020204" pitchFamily="34" charset="0"/>
              </a:rPr>
              <a:t>  //body of subclass</a:t>
            </a:r>
          </a:p>
          <a:p>
            <a:pPr marL="457200" lvl="1" indent="0">
              <a:buNone/>
            </a:pPr>
            <a:r>
              <a:rPr lang="en-IN" sz="1600" dirty="0">
                <a:latin typeface="Casper" panose="02000506000000020004" pitchFamily="2" charset="0"/>
                <a:cs typeface="Arial" panose="020B0604020202020204" pitchFamily="34" charset="0"/>
              </a:rPr>
              <a:t>};</a:t>
            </a:r>
          </a:p>
          <a:p>
            <a:r>
              <a:rPr lang="en-IN" sz="1600" dirty="0">
                <a:latin typeface="Casper" panose="02000506000000020004" pitchFamily="2" charset="0"/>
                <a:cs typeface="Arial" panose="020B0604020202020204" pitchFamily="34" charset="0"/>
              </a:rPr>
              <a:t>Here, </a:t>
            </a:r>
            <a:r>
              <a:rPr lang="en-IN" sz="1600" dirty="0" err="1">
                <a:latin typeface="Casper" panose="02000506000000020004" pitchFamily="2" charset="0"/>
                <a:cs typeface="Arial" panose="020B0604020202020204" pitchFamily="34" charset="0"/>
              </a:rPr>
              <a:t>subclass_name</a:t>
            </a:r>
            <a:r>
              <a:rPr lang="en-IN" sz="1600" dirty="0">
                <a:latin typeface="Casper" panose="02000506000000020004" pitchFamily="2" charset="0"/>
                <a:cs typeface="Arial" panose="020B0604020202020204" pitchFamily="34" charset="0"/>
              </a:rPr>
              <a:t> is the name of the sub class, </a:t>
            </a:r>
            <a:r>
              <a:rPr lang="en-IN" sz="1600" dirty="0" err="1">
                <a:latin typeface="Casper" panose="02000506000000020004" pitchFamily="2" charset="0"/>
                <a:cs typeface="Arial" panose="020B0604020202020204" pitchFamily="34" charset="0"/>
              </a:rPr>
              <a:t>access_mode</a:t>
            </a:r>
            <a:r>
              <a:rPr lang="en-IN" sz="1600" dirty="0">
                <a:latin typeface="Casper" panose="02000506000000020004" pitchFamily="2" charset="0"/>
                <a:cs typeface="Arial" panose="020B0604020202020204" pitchFamily="34" charset="0"/>
              </a:rPr>
              <a:t> is the mode in which you want to inherit this sub class for example: public, private etc. and </a:t>
            </a:r>
            <a:r>
              <a:rPr lang="en-IN" sz="1600" dirty="0" err="1">
                <a:latin typeface="Casper" panose="02000506000000020004" pitchFamily="2" charset="0"/>
                <a:cs typeface="Arial" panose="020B0604020202020204" pitchFamily="34" charset="0"/>
              </a:rPr>
              <a:t>base_class_name</a:t>
            </a:r>
            <a:r>
              <a:rPr lang="en-IN" sz="1600" dirty="0">
                <a:latin typeface="Casper" panose="02000506000000020004" pitchFamily="2" charset="0"/>
                <a:cs typeface="Arial" panose="020B0604020202020204" pitchFamily="34" charset="0"/>
              </a:rPr>
              <a:t> is the name of the base class from which you want to inherit the sub class.</a:t>
            </a: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3317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IMPLEMENTING INHERITANCE IN C++</a:t>
            </a:r>
            <a:endParaRPr lang="en-US" dirty="0"/>
          </a:p>
        </p:txBody>
      </p:sp>
      <p:sp>
        <p:nvSpPr>
          <p:cNvPr id="3" name="Content Placeholder 2"/>
          <p:cNvSpPr>
            <a:spLocks noGrp="1"/>
          </p:cNvSpPr>
          <p:nvPr>
            <p:ph idx="1"/>
          </p:nvPr>
        </p:nvSpPr>
        <p:spPr>
          <a:xfrm>
            <a:off x="838200" y="1825624"/>
            <a:ext cx="10515600" cy="4655857"/>
          </a:xfrm>
        </p:spPr>
        <p:txBody>
          <a:bodyPr>
            <a:normAutofit/>
          </a:bodyPr>
          <a:lstStyle/>
          <a:p>
            <a:r>
              <a:rPr lang="en-IN" sz="1600" dirty="0">
                <a:latin typeface="Casper" panose="02000506000000020004" pitchFamily="2" charset="0"/>
                <a:cs typeface="Arial" panose="020B0604020202020204" pitchFamily="34" charset="0"/>
              </a:rPr>
              <a:t>EXAMPLE</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stretch>
            <a:fillRect/>
          </a:stretch>
        </p:blipFill>
        <p:spPr>
          <a:xfrm>
            <a:off x="2282638" y="1787524"/>
            <a:ext cx="7264774" cy="4558060"/>
          </a:xfrm>
          <a:prstGeom prst="rect">
            <a:avLst/>
          </a:prstGeom>
        </p:spPr>
      </p:pic>
      <p:sp>
        <p:nvSpPr>
          <p:cNvPr id="8" name="TextBox 7"/>
          <p:cNvSpPr txBox="1"/>
          <p:nvPr/>
        </p:nvSpPr>
        <p:spPr>
          <a:xfrm>
            <a:off x="4370294" y="6354720"/>
            <a:ext cx="3241721" cy="276999"/>
          </a:xfrm>
          <a:prstGeom prst="rect">
            <a:avLst/>
          </a:prstGeom>
          <a:noFill/>
        </p:spPr>
        <p:txBody>
          <a:bodyPr wrap="none" rtlCol="0">
            <a:spAutoFit/>
          </a:bodyPr>
          <a:lstStyle/>
          <a:p>
            <a:r>
              <a:rPr lang="en-IN" sz="1200" dirty="0"/>
              <a:t>Figure 4.3 Example inheritance made on Dev C++</a:t>
            </a:r>
          </a:p>
        </p:txBody>
      </p:sp>
    </p:spTree>
    <p:extLst>
      <p:ext uri="{BB962C8B-B14F-4D97-AF65-F5344CB8AC3E}">
        <p14:creationId xmlns:p14="http://schemas.microsoft.com/office/powerpoint/2010/main" val="4055315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IMPLEMENTING INHERITANCE IN C++</a:t>
            </a:r>
            <a:endParaRPr lang="en-US" dirty="0"/>
          </a:p>
        </p:txBody>
      </p:sp>
      <p:sp>
        <p:nvSpPr>
          <p:cNvPr id="3" name="Content Placeholder 2"/>
          <p:cNvSpPr>
            <a:spLocks noGrp="1"/>
          </p:cNvSpPr>
          <p:nvPr>
            <p:ph idx="1"/>
          </p:nvPr>
        </p:nvSpPr>
        <p:spPr>
          <a:xfrm>
            <a:off x="838200" y="1825624"/>
            <a:ext cx="10515600" cy="4655857"/>
          </a:xfrm>
        </p:spPr>
        <p:txBody>
          <a:bodyPr>
            <a:normAutofit/>
          </a:bodyPr>
          <a:lstStyle/>
          <a:p>
            <a:r>
              <a:rPr lang="en-IN" sz="1600" dirty="0">
                <a:latin typeface="Casper" panose="02000506000000020004" pitchFamily="2" charset="0"/>
                <a:cs typeface="Arial" panose="020B0604020202020204" pitchFamily="34" charset="0"/>
              </a:rPr>
              <a:t>EXAMPLE</a:t>
            </a:r>
          </a:p>
          <a:p>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55295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4370294" y="6354720"/>
            <a:ext cx="3241721" cy="276999"/>
          </a:xfrm>
          <a:prstGeom prst="rect">
            <a:avLst/>
          </a:prstGeom>
          <a:noFill/>
        </p:spPr>
        <p:txBody>
          <a:bodyPr wrap="none" rtlCol="0">
            <a:spAutoFit/>
          </a:bodyPr>
          <a:lstStyle/>
          <a:p>
            <a:r>
              <a:rPr lang="en-IN" sz="1200" dirty="0"/>
              <a:t>Figure 4.4 Example inheritance made on Dev C++</a:t>
            </a:r>
          </a:p>
        </p:txBody>
      </p:sp>
      <p:pic>
        <p:nvPicPr>
          <p:cNvPr id="9" name="Picture 8"/>
          <p:cNvPicPr>
            <a:picLocks noChangeAspect="1"/>
          </p:cNvPicPr>
          <p:nvPr/>
        </p:nvPicPr>
        <p:blipFill>
          <a:blip r:embed="rId3"/>
          <a:stretch>
            <a:fillRect/>
          </a:stretch>
        </p:blipFill>
        <p:spPr>
          <a:xfrm>
            <a:off x="2024343" y="1814512"/>
            <a:ext cx="8704998" cy="4540208"/>
          </a:xfrm>
          <a:prstGeom prst="rect">
            <a:avLst/>
          </a:prstGeom>
        </p:spPr>
      </p:pic>
    </p:spTree>
    <p:extLst>
      <p:ext uri="{BB962C8B-B14F-4D97-AF65-F5344CB8AC3E}">
        <p14:creationId xmlns:p14="http://schemas.microsoft.com/office/powerpoint/2010/main" val="1633477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MODES OF INHERITANCE</a:t>
            </a:r>
          </a:p>
        </p:txBody>
      </p:sp>
      <p:sp>
        <p:nvSpPr>
          <p:cNvPr id="3" name="Content Placeholder 2"/>
          <p:cNvSpPr>
            <a:spLocks noGrp="1"/>
          </p:cNvSpPr>
          <p:nvPr>
            <p:ph idx="1"/>
          </p:nvPr>
        </p:nvSpPr>
        <p:spPr/>
        <p:txBody>
          <a:bodyPr>
            <a:normAutofit/>
          </a:bodyPr>
          <a:lstStyle/>
          <a:p>
            <a:r>
              <a:rPr lang="en-IN" sz="1600" dirty="0">
                <a:latin typeface="Casper" panose="02000506000000020004" pitchFamily="2" charset="0"/>
                <a:cs typeface="Arial" panose="020B0604020202020204" pitchFamily="34" charset="0"/>
              </a:rPr>
              <a:t>Modes of Inheritance</a:t>
            </a:r>
          </a:p>
          <a:p>
            <a:r>
              <a:rPr lang="en-IN" sz="1600" dirty="0">
                <a:latin typeface="Casper" panose="02000506000000020004" pitchFamily="2" charset="0"/>
                <a:cs typeface="Arial" panose="020B0604020202020204" pitchFamily="34" charset="0"/>
              </a:rPr>
              <a:t>Public mode: If we derive a sub class from a public base class. Then the public member of the base class will become public in the derived class and protected members of the base class will become protected in derived class. </a:t>
            </a:r>
          </a:p>
          <a:p>
            <a:r>
              <a:rPr lang="en-IN" sz="1600" dirty="0">
                <a:latin typeface="Casper" panose="02000506000000020004" pitchFamily="2" charset="0"/>
                <a:cs typeface="Arial" panose="020B0604020202020204" pitchFamily="34" charset="0"/>
              </a:rPr>
              <a:t>Protected mode: If we derive a sub class from a Protected base class. Then both public member and protected members of the base class will become protected in derived class. </a:t>
            </a:r>
          </a:p>
          <a:p>
            <a:r>
              <a:rPr lang="en-IN" sz="1600" dirty="0">
                <a:latin typeface="Casper" panose="02000506000000020004" pitchFamily="2" charset="0"/>
                <a:cs typeface="Arial" panose="020B0604020202020204" pitchFamily="34" charset="0"/>
              </a:rPr>
              <a:t>Private mode: If we derive a sub class from a Private base class. Then both public member and protected members of the base class will become Private in derived class.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8621" y="3795280"/>
            <a:ext cx="6004851" cy="2376920"/>
          </a:xfrm>
          <a:prstGeom prst="rect">
            <a:avLst/>
          </a:prstGeom>
        </p:spPr>
      </p:pic>
      <p:sp>
        <p:nvSpPr>
          <p:cNvPr id="8" name="TextBox 7"/>
          <p:cNvSpPr txBox="1"/>
          <p:nvPr/>
        </p:nvSpPr>
        <p:spPr>
          <a:xfrm>
            <a:off x="4370294" y="6354720"/>
            <a:ext cx="2344809" cy="276999"/>
          </a:xfrm>
          <a:prstGeom prst="rect">
            <a:avLst/>
          </a:prstGeom>
          <a:noFill/>
        </p:spPr>
        <p:txBody>
          <a:bodyPr wrap="none" rtlCol="0">
            <a:spAutoFit/>
          </a:bodyPr>
          <a:lstStyle/>
          <a:p>
            <a:r>
              <a:rPr lang="en-IN" sz="1200" dirty="0"/>
              <a:t>Figure 4.5 Modes of inheritance[1]</a:t>
            </a:r>
          </a:p>
        </p:txBody>
      </p:sp>
    </p:spTree>
    <p:extLst>
      <p:ext uri="{BB962C8B-B14F-4D97-AF65-F5344CB8AC3E}">
        <p14:creationId xmlns:p14="http://schemas.microsoft.com/office/powerpoint/2010/main" val="231204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78D7B-DD01-4023-B689-FCA85885EE14}"/>
              </a:ext>
            </a:extLst>
          </p:cNvPr>
          <p:cNvSpPr>
            <a:spLocks noGrp="1"/>
          </p:cNvSpPr>
          <p:nvPr>
            <p:ph type="title"/>
          </p:nvPr>
        </p:nvSpPr>
        <p:spPr/>
        <p:txBody>
          <a:bodyPr/>
          <a:lstStyle/>
          <a:p>
            <a:r>
              <a:rPr lang="en-US" dirty="0"/>
              <a:t>Types of Inheritance (Overview) </a:t>
            </a:r>
          </a:p>
        </p:txBody>
      </p:sp>
      <p:sp>
        <p:nvSpPr>
          <p:cNvPr id="4" name="Slide Number Placeholder 3">
            <a:extLst>
              <a:ext uri="{FF2B5EF4-FFF2-40B4-BE49-F238E27FC236}">
                <a16:creationId xmlns:a16="http://schemas.microsoft.com/office/drawing/2014/main" id="{58E93D77-FB55-44E2-BAA4-7BC331AAE9B4}"/>
              </a:ext>
            </a:extLst>
          </p:cNvPr>
          <p:cNvSpPr>
            <a:spLocks noGrp="1"/>
          </p:cNvSpPr>
          <p:nvPr>
            <p:ph type="sldNum" sz="quarter" idx="12"/>
          </p:nvPr>
        </p:nvSpPr>
        <p:spPr/>
        <p:txBody>
          <a:bodyPr/>
          <a:lstStyle/>
          <a:p>
            <a:fld id="{BDCDBBEF-AA6C-4BA6-85B2-A17D7F280E38}" type="slidenum">
              <a:rPr lang="en-US" smtClean="0"/>
              <a:pPr/>
              <a:t>14</a:t>
            </a:fld>
            <a:endParaRPr lang="en-US"/>
          </a:p>
        </p:txBody>
      </p:sp>
      <p:pic>
        <p:nvPicPr>
          <p:cNvPr id="5" name="Content Placeholder 4">
            <a:extLst>
              <a:ext uri="{FF2B5EF4-FFF2-40B4-BE49-F238E27FC236}">
                <a16:creationId xmlns:a16="http://schemas.microsoft.com/office/drawing/2014/main" id="{F509C181-2B18-406C-9398-EA52A9DC89F6}"/>
              </a:ext>
            </a:extLst>
          </p:cNvPr>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3971628" y="2262739"/>
            <a:ext cx="4248743" cy="3477110"/>
          </a:xfrm>
          <a:prstGeom prst="rect">
            <a:avLst/>
          </a:prstGeom>
        </p:spPr>
      </p:pic>
    </p:spTree>
    <p:extLst>
      <p:ext uri="{BB962C8B-B14F-4D97-AF65-F5344CB8AC3E}">
        <p14:creationId xmlns:p14="http://schemas.microsoft.com/office/powerpoint/2010/main" val="3397239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2840E-F0CF-4385-A6B2-9CC1D2CCA079}"/>
              </a:ext>
            </a:extLst>
          </p:cNvPr>
          <p:cNvSpPr>
            <a:spLocks noGrp="1"/>
          </p:cNvSpPr>
          <p:nvPr>
            <p:ph type="title"/>
          </p:nvPr>
        </p:nvSpPr>
        <p:spPr/>
        <p:txBody>
          <a:bodyPr>
            <a:normAutofit fontScale="90000"/>
          </a:bodyPr>
          <a:lstStyle/>
          <a:p>
            <a:r>
              <a:rPr lang="en-US" b="1" cap="all" dirty="0"/>
              <a:t>Pre-requisites (Public, Private and Protected Inheritance)</a:t>
            </a:r>
            <a:r>
              <a:rPr lang="en-US" dirty="0"/>
              <a:t/>
            </a:r>
            <a:br>
              <a:rPr lang="en-US" dirty="0"/>
            </a:br>
            <a:endParaRPr lang="en-US" dirty="0"/>
          </a:p>
        </p:txBody>
      </p:sp>
      <p:sp>
        <p:nvSpPr>
          <p:cNvPr id="3" name="Content Placeholder 2">
            <a:extLst>
              <a:ext uri="{FF2B5EF4-FFF2-40B4-BE49-F238E27FC236}">
                <a16:creationId xmlns:a16="http://schemas.microsoft.com/office/drawing/2014/main" id="{D89D425F-F14D-4B12-B5A6-B2AA9283E932}"/>
              </a:ext>
            </a:extLst>
          </p:cNvPr>
          <p:cNvSpPr>
            <a:spLocks noGrp="1"/>
          </p:cNvSpPr>
          <p:nvPr>
            <p:ph idx="1"/>
          </p:nvPr>
        </p:nvSpPr>
        <p:spPr/>
        <p:txBody>
          <a:bodyPr/>
          <a:lstStyle/>
          <a:p>
            <a:pPr marL="0" marR="0" indent="0" algn="just">
              <a:lnSpc>
                <a:spcPct val="107000"/>
              </a:lnSpc>
              <a:spcBef>
                <a:spcPts val="0"/>
              </a:spcBef>
              <a:spcAft>
                <a:spcPts val="800"/>
              </a:spcAft>
              <a:buNone/>
            </a:pPr>
            <a:r>
              <a:rPr lang="en-IN" sz="1800" b="1" dirty="0">
                <a:effectLst/>
                <a:latin typeface="Calibri" panose="020F0502020204030204" pitchFamily="34" charset="0"/>
                <a:ea typeface="Calibri" panose="020F0502020204030204" pitchFamily="34" charset="0"/>
                <a:cs typeface="Times New Roman" panose="02020603050405020304" pitchFamily="18" charset="0"/>
              </a:rPr>
              <a:t>1. Public Inheritance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Consider the dummy code given below for inheritance.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class B : public 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line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class B : public A</a:t>
            </a:r>
            <a:r>
              <a:rPr lang="en-IN" sz="1800" dirty="0">
                <a:effectLst/>
                <a:latin typeface="Calibri" panose="020F0502020204030204" pitchFamily="34" charset="0"/>
                <a:ea typeface="Calibri" panose="020F0502020204030204" pitchFamily="34" charset="0"/>
                <a:cs typeface="Times New Roman" panose="02020603050405020304" pitchFamily="18" charset="0"/>
              </a:rPr>
              <a:t> tells the compiler that we are inheriting class A in class B in public followings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 All the public members of class A becomes public members of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(b) All the protected members of class A becomes protected members of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 Private members are never inherited.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8DAD96E1-FBC4-41BD-8627-E64923441CFD}"/>
              </a:ext>
            </a:extLst>
          </p:cNvPr>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3907941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C4FC2-542D-4CB3-B2B5-42B91712B91E}"/>
              </a:ext>
            </a:extLst>
          </p:cNvPr>
          <p:cNvSpPr>
            <a:spLocks noGrp="1"/>
          </p:cNvSpPr>
          <p:nvPr>
            <p:ph type="title"/>
          </p:nvPr>
        </p:nvSpPr>
        <p:spPr/>
        <p:txBody>
          <a:bodyPr/>
          <a:lstStyle/>
          <a:p>
            <a:r>
              <a:rPr lang="en-IN" sz="4400" b="1" cap="all" dirty="0">
                <a:effectLst/>
                <a:latin typeface="Calibri" panose="020F0502020204030204" pitchFamily="34" charset="0"/>
                <a:ea typeface="Calibri" panose="020F0502020204030204" pitchFamily="34" charset="0"/>
                <a:cs typeface="Times New Roman" panose="02020603050405020304" pitchFamily="18" charset="0"/>
              </a:rPr>
              <a:t>2. Private Inheritance</a:t>
            </a:r>
            <a:r>
              <a:rPr lang="en-US" sz="4400" dirty="0">
                <a:effectLst/>
                <a:latin typeface="Calibri" panose="020F0502020204030204" pitchFamily="34" charset="0"/>
                <a:ea typeface="Calibri" panose="020F0502020204030204" pitchFamily="34" charset="0"/>
                <a:cs typeface="Times New Roman" panose="02020603050405020304" pitchFamily="18" charset="0"/>
              </a:rPr>
              <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4922C5B-48ED-4433-AA59-FE96405D67F3}"/>
              </a:ext>
            </a:extLst>
          </p:cNvPr>
          <p:cNvSpPr>
            <a:spLocks noGrp="1"/>
          </p:cNvSpPr>
          <p:nvPr>
            <p:ph idx="1"/>
          </p:nvPr>
        </p:nvSpPr>
        <p:spPr/>
        <p:txBody>
          <a:bodyPr>
            <a:normAutofit/>
          </a:bodyPr>
          <a:lstStyle/>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Consider the dummy code given below for inheritance: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class B : private 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line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class B : private A</a:t>
            </a:r>
            <a:r>
              <a:rPr lang="en-IN" sz="1800" dirty="0">
                <a:effectLst/>
                <a:latin typeface="Calibri" panose="020F0502020204030204" pitchFamily="34" charset="0"/>
                <a:ea typeface="Calibri" panose="020F0502020204030204" pitchFamily="34" charset="0"/>
                <a:cs typeface="Times New Roman" panose="02020603050405020304" pitchFamily="18" charset="0"/>
              </a:rPr>
              <a:t> tells the compiler that we are inheriting class A in class B in private mode. In private mode inheritance note the following points: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 All the public members of class A becomes private members of the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(b) All the protected members of the class A becomes private members of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 Private members are never inherited.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4303BDF5-8207-41EA-BAD3-1C4D553D5371}"/>
              </a:ext>
            </a:extLst>
          </p:cNvPr>
          <p:cNvSpPr>
            <a:spLocks noGrp="1"/>
          </p:cNvSpPr>
          <p:nvPr>
            <p:ph type="sldNum" sz="quarter" idx="12"/>
          </p:nvPr>
        </p:nvSpPr>
        <p:spPr/>
        <p:txBody>
          <a:bodyPr/>
          <a:lstStyle/>
          <a:p>
            <a:fld id="{BDCDBBEF-AA6C-4BA6-85B2-A17D7F280E38}" type="slidenum">
              <a:rPr lang="en-US" smtClean="0"/>
              <a:pPr/>
              <a:t>16</a:t>
            </a:fld>
            <a:endParaRPr lang="en-US"/>
          </a:p>
        </p:txBody>
      </p:sp>
    </p:spTree>
    <p:extLst>
      <p:ext uri="{BB962C8B-B14F-4D97-AF65-F5344CB8AC3E}">
        <p14:creationId xmlns:p14="http://schemas.microsoft.com/office/powerpoint/2010/main" val="212172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99BBEA-9AB4-4B2C-9454-AEE70FD4065D}"/>
              </a:ext>
            </a:extLst>
          </p:cNvPr>
          <p:cNvSpPr>
            <a:spLocks noGrp="1"/>
          </p:cNvSpPr>
          <p:nvPr>
            <p:ph idx="1"/>
          </p:nvPr>
        </p:nvSpPr>
        <p:spPr/>
        <p:txBody>
          <a:bodyPr/>
          <a:lstStyle/>
          <a:p>
            <a:pPr marL="0" marR="0" indent="0" algn="just">
              <a:lnSpc>
                <a:spcPct val="107000"/>
              </a:lnSpc>
              <a:spcBef>
                <a:spcPts val="0"/>
              </a:spcBef>
              <a:spcAft>
                <a:spcPts val="800"/>
              </a:spcAft>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The above dummy code can be written as too.</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class B : A</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IN" sz="2800" dirty="0">
                <a:effectLst/>
                <a:latin typeface="Calibri" panose="020F0502020204030204" pitchFamily="34" charset="0"/>
                <a:ea typeface="Calibri" panose="020F0502020204030204" pitchFamily="34" charset="0"/>
                <a:cs typeface="Times New Roman" panose="02020603050405020304" pitchFamily="18" charset="0"/>
              </a:rPr>
              <a:t>As the default inheritance mode is private mode.</a:t>
            </a:r>
            <a:endParaRPr lang="en-US" dirty="0"/>
          </a:p>
        </p:txBody>
      </p:sp>
      <p:sp>
        <p:nvSpPr>
          <p:cNvPr id="4" name="Slide Number Placeholder 3">
            <a:extLst>
              <a:ext uri="{FF2B5EF4-FFF2-40B4-BE49-F238E27FC236}">
                <a16:creationId xmlns:a16="http://schemas.microsoft.com/office/drawing/2014/main" id="{755CB104-B35F-49A1-9994-0C001F5DB582}"/>
              </a:ext>
            </a:extLst>
          </p:cNvPr>
          <p:cNvSpPr>
            <a:spLocks noGrp="1"/>
          </p:cNvSpPr>
          <p:nvPr>
            <p:ph type="sldNum" sz="quarter" idx="12"/>
          </p:nvPr>
        </p:nvSpPr>
        <p:spPr/>
        <p:txBody>
          <a:bodyPr/>
          <a:lstStyle/>
          <a:p>
            <a:fld id="{BDCDBBEF-AA6C-4BA6-85B2-A17D7F280E38}" type="slidenum">
              <a:rPr lang="en-US" smtClean="0"/>
              <a:pPr/>
              <a:t>17</a:t>
            </a:fld>
            <a:endParaRPr lang="en-US"/>
          </a:p>
        </p:txBody>
      </p:sp>
    </p:spTree>
    <p:extLst>
      <p:ext uri="{BB962C8B-B14F-4D97-AF65-F5344CB8AC3E}">
        <p14:creationId xmlns:p14="http://schemas.microsoft.com/office/powerpoint/2010/main" val="1747024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3CC8C-B2BD-47A6-AF54-BCD0D32EE18D}"/>
              </a:ext>
            </a:extLst>
          </p:cNvPr>
          <p:cNvSpPr>
            <a:spLocks noGrp="1"/>
          </p:cNvSpPr>
          <p:nvPr>
            <p:ph type="title"/>
          </p:nvPr>
        </p:nvSpPr>
        <p:spPr/>
        <p:txBody>
          <a:bodyPr/>
          <a:lstStyle/>
          <a:p>
            <a:r>
              <a:rPr lang="en-US" b="1" cap="all" dirty="0"/>
              <a:t>Protected Inheritance</a:t>
            </a:r>
          </a:p>
        </p:txBody>
      </p:sp>
      <p:sp>
        <p:nvSpPr>
          <p:cNvPr id="3" name="Content Placeholder 2">
            <a:extLst>
              <a:ext uri="{FF2B5EF4-FFF2-40B4-BE49-F238E27FC236}">
                <a16:creationId xmlns:a16="http://schemas.microsoft.com/office/drawing/2014/main" id="{B3ED7CA7-DB60-4B96-B6C3-FA76AA920B18}"/>
              </a:ext>
            </a:extLst>
          </p:cNvPr>
          <p:cNvSpPr>
            <a:spLocks noGrp="1"/>
          </p:cNvSpPr>
          <p:nvPr>
            <p:ph idx="1"/>
          </p:nvPr>
        </p:nvSpPr>
        <p:spPr/>
        <p:txBody>
          <a:bodyPr/>
          <a:lstStyle/>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Consider the dummy code given below for inheritance: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class B : protected 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r>
              <a:rPr lang="en-US" sz="1800" dirty="0">
                <a:latin typeface="Calibri" panose="020F0502020204030204" pitchFamily="34" charset="0"/>
                <a:ea typeface="Calibri" panose="020F0502020204030204" pitchFamily="34" charset="0"/>
                <a:cs typeface="Times New Roman" panose="02020603050405020304" pitchFamily="18" charset="0"/>
              </a:rPr>
              <a:t> </a:t>
            </a: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The line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class B : protected A</a:t>
            </a:r>
            <a:r>
              <a:rPr lang="en-IN" sz="1800" dirty="0">
                <a:effectLst/>
                <a:latin typeface="Calibri" panose="020F0502020204030204" pitchFamily="34" charset="0"/>
                <a:ea typeface="Calibri" panose="020F0502020204030204" pitchFamily="34" charset="0"/>
                <a:cs typeface="Times New Roman" panose="02020603050405020304" pitchFamily="18" charset="0"/>
              </a:rPr>
              <a:t> tells the compiler that we are inheriting class A in class B in protected mode. In protected mode inheritance note the following points: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(a) All the public members of class A becomes protected members of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(b) All the protected members of class A becomes protected members of class B.</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R="0" indent="0" algn="just">
              <a:lnSpc>
                <a:spcPct val="107000"/>
              </a:lnSpc>
              <a:spcBef>
                <a:spcPts val="0"/>
              </a:spcBef>
              <a:spcAft>
                <a:spcPts val="800"/>
              </a:spcAft>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 Private members are never inherited.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1B84832-D027-4D4F-A389-F89A85712467}"/>
              </a:ext>
            </a:extLst>
          </p:cNvPr>
          <p:cNvSpPr>
            <a:spLocks noGrp="1"/>
          </p:cNvSpPr>
          <p:nvPr>
            <p:ph type="sldNum" sz="quarter" idx="12"/>
          </p:nvPr>
        </p:nvSpPr>
        <p:spPr/>
        <p:txBody>
          <a:bodyPr/>
          <a:lstStyle/>
          <a:p>
            <a:fld id="{BDCDBBEF-AA6C-4BA6-85B2-A17D7F280E38}" type="slidenum">
              <a:rPr lang="en-US" smtClean="0"/>
              <a:pPr/>
              <a:t>18</a:t>
            </a:fld>
            <a:endParaRPr lang="en-US"/>
          </a:p>
        </p:txBody>
      </p:sp>
    </p:spTree>
    <p:extLst>
      <p:ext uri="{BB962C8B-B14F-4D97-AF65-F5344CB8AC3E}">
        <p14:creationId xmlns:p14="http://schemas.microsoft.com/office/powerpoint/2010/main" val="40115557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6B980-8730-4EE2-85AA-B873D8CD2CA1}"/>
              </a:ext>
            </a:extLst>
          </p:cNvPr>
          <p:cNvSpPr>
            <a:spLocks noGrp="1"/>
          </p:cNvSpPr>
          <p:nvPr>
            <p:ph type="title"/>
          </p:nvPr>
        </p:nvSpPr>
        <p:spPr/>
        <p:txBody>
          <a:bodyPr/>
          <a:lstStyle/>
          <a:p>
            <a:r>
              <a:rPr lang="en-US" b="1" dirty="0"/>
              <a:t>NOTE:</a:t>
            </a:r>
          </a:p>
        </p:txBody>
      </p:sp>
      <p:sp>
        <p:nvSpPr>
          <p:cNvPr id="3" name="Content Placeholder 2">
            <a:extLst>
              <a:ext uri="{FF2B5EF4-FFF2-40B4-BE49-F238E27FC236}">
                <a16:creationId xmlns:a16="http://schemas.microsoft.com/office/drawing/2014/main" id="{0110041E-8380-405C-AC16-0E176EE6B8A9}"/>
              </a:ext>
            </a:extLst>
          </p:cNvPr>
          <p:cNvSpPr>
            <a:spLocks noGrp="1"/>
          </p:cNvSpPr>
          <p:nvPr>
            <p:ph idx="1"/>
          </p:nvPr>
        </p:nvSpPr>
        <p:spPr/>
        <p:txBody>
          <a:bodyPr/>
          <a:lstStyle/>
          <a:p>
            <a:pPr marL="0" marR="0" algn="just">
              <a:lnSpc>
                <a:spcPct val="107000"/>
              </a:lnSpc>
              <a:spcBef>
                <a:spcPts val="0"/>
              </a:spcBef>
              <a:spcAft>
                <a:spcPts val="800"/>
              </a:spcAft>
            </a:pPr>
            <a:r>
              <a:rPr lang="en-IN" sz="1800" b="1" dirty="0">
                <a:effectLst/>
                <a:latin typeface="Calibri" panose="020F0502020204030204" pitchFamily="34" charset="0"/>
                <a:ea typeface="Calibri" panose="020F0502020204030204" pitchFamily="34" charset="0"/>
                <a:cs typeface="Times New Roman" panose="02020603050405020304" pitchFamily="18" charset="0"/>
              </a:rPr>
              <a:t>Note that: </a:t>
            </a:r>
            <a:r>
              <a:rPr lang="en-IN" sz="1800" dirty="0">
                <a:effectLst/>
                <a:latin typeface="Calibri" panose="020F0502020204030204" pitchFamily="34" charset="0"/>
                <a:ea typeface="Calibri" panose="020F0502020204030204" pitchFamily="34" charset="0"/>
                <a:cs typeface="Times New Roman" panose="02020603050405020304" pitchFamily="18" charset="0"/>
              </a:rPr>
              <a:t>A class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A</a:t>
            </a:r>
            <a:r>
              <a:rPr lang="en-IN" sz="1800" dirty="0">
                <a:effectLst/>
                <a:latin typeface="Calibri" panose="020F0502020204030204" pitchFamily="34" charset="0"/>
                <a:ea typeface="Calibri" panose="020F0502020204030204" pitchFamily="34" charset="0"/>
                <a:cs typeface="Times New Roman" panose="02020603050405020304" pitchFamily="18" charset="0"/>
              </a:rPr>
              <a:t> is inherited in class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B</a:t>
            </a:r>
            <a:r>
              <a:rPr lang="en-IN" sz="1800" dirty="0">
                <a:effectLst/>
                <a:latin typeface="Calibri" panose="020F0502020204030204" pitchFamily="34" charset="0"/>
                <a:ea typeface="Calibri" panose="020F0502020204030204" pitchFamily="34" charset="0"/>
                <a:cs typeface="Times New Roman" panose="02020603050405020304" pitchFamily="18" charset="0"/>
              </a:rPr>
              <a:t> in public mode, all protected members of class A becomes protected for class </a:t>
            </a:r>
            <a:r>
              <a:rPr lang="en-IN" sz="1800" b="1" dirty="0">
                <a:effectLst/>
                <a:latin typeface="Calibri" panose="020F0502020204030204" pitchFamily="34" charset="0"/>
                <a:ea typeface="Calibri" panose="020F0502020204030204" pitchFamily="34" charset="0"/>
                <a:cs typeface="Times New Roman" panose="02020603050405020304" pitchFamily="18" charset="0"/>
              </a:rPr>
              <a:t>B</a:t>
            </a:r>
            <a:r>
              <a:rPr lang="en-IN" sz="1800" dirty="0">
                <a:effectLst/>
                <a:latin typeface="Calibri" panose="020F0502020204030204" pitchFamily="34" charset="0"/>
                <a:ea typeface="Calibri" panose="020F0502020204030204" pitchFamily="34" charset="0"/>
                <a:cs typeface="Times New Roman" panose="02020603050405020304" pitchFamily="18" charset="0"/>
              </a:rPr>
              <a:t>. Now if this class B is inherited to some new class C, then these protected members inherited from A will be available from A will be available to class C, in whatever mode you inherit class B to class 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IN" sz="1800" dirty="0">
                <a:effectLst/>
                <a:latin typeface="Calibri" panose="020F0502020204030204" pitchFamily="34" charset="0"/>
                <a:ea typeface="Calibri" panose="020F0502020204030204" pitchFamily="34" charset="0"/>
                <a:cs typeface="Times New Roman" panose="02020603050405020304" pitchFamily="18" charset="0"/>
              </a:rPr>
              <a:t>Initially let us assume that you inherited class A into class B in private mode, then all protected members of class A becomes private for class B. They can be used inside the class B. But if you inherit class B into new class C then these members won’t be available in C as private members are never inherited.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D9F0D366-5DD2-4733-9F9E-5F55EB609F1C}"/>
              </a:ext>
            </a:extLst>
          </p:cNvPr>
          <p:cNvSpPr>
            <a:spLocks noGrp="1"/>
          </p:cNvSpPr>
          <p:nvPr>
            <p:ph type="sldNum" sz="quarter" idx="12"/>
          </p:nvPr>
        </p:nvSpPr>
        <p:spPr/>
        <p:txBody>
          <a:bodyPr/>
          <a:lstStyle/>
          <a:p>
            <a:fld id="{BDCDBBEF-AA6C-4BA6-85B2-A17D7F280E38}" type="slidenum">
              <a:rPr lang="en-US" smtClean="0"/>
              <a:pPr/>
              <a:t>19</a:t>
            </a:fld>
            <a:endParaRPr lang="en-US"/>
          </a:p>
        </p:txBody>
      </p:sp>
    </p:spTree>
    <p:extLst>
      <p:ext uri="{BB962C8B-B14F-4D97-AF65-F5344CB8AC3E}">
        <p14:creationId xmlns:p14="http://schemas.microsoft.com/office/powerpoint/2010/main" val="1793841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Assessment Questions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pPr marL="342900" indent="-342900" algn="just">
              <a:buFont typeface="+mj-lt"/>
              <a:buAutoNum type="arabicPeriod"/>
            </a:pPr>
            <a:r>
              <a:rPr lang="en-US" sz="1600" dirty="0">
                <a:latin typeface="Casper" panose="02000506000000020004" pitchFamily="2" charset="0"/>
                <a:cs typeface="Arial" panose="020B0604020202020204" pitchFamily="34" charset="0"/>
              </a:rPr>
              <a:t>(a) Define ambiguity in inheritance.</a:t>
            </a:r>
          </a:p>
          <a:p>
            <a:pPr marL="0" indent="0" algn="just">
              <a:buNone/>
            </a:pPr>
            <a:r>
              <a:rPr lang="en-US" sz="1600" dirty="0">
                <a:latin typeface="Casper" panose="02000506000000020004" pitchFamily="2" charset="0"/>
                <a:cs typeface="Arial" panose="020B0604020202020204" pitchFamily="34" charset="0"/>
              </a:rPr>
              <a:t>         (b) What are modes of inheritance?</a:t>
            </a:r>
          </a:p>
          <a:p>
            <a:pPr marL="0" indent="0" algn="just">
              <a:buNone/>
            </a:pPr>
            <a:r>
              <a:rPr lang="en-US" sz="1600" dirty="0">
                <a:latin typeface="Casper" panose="02000506000000020004" pitchFamily="2" charset="0"/>
                <a:cs typeface="Arial" panose="020B0604020202020204" pitchFamily="34" charset="0"/>
              </a:rPr>
              <a:t>         (c) What is nesting of classes?</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Can we call private constructor? If yes , then how?</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Write a C++ program to differentiate between three modes of inheritance.</a:t>
            </a:r>
          </a:p>
          <a:p>
            <a:pPr marL="342900" indent="-342900" algn="just">
              <a:buFont typeface="+mj-lt"/>
              <a:buAutoNum type="arabicPeriod" startAt="2"/>
            </a:pPr>
            <a:r>
              <a:rPr lang="en-IN" sz="1600" dirty="0">
                <a:latin typeface="Casper" panose="02000506000000020004" pitchFamily="2" charset="0"/>
                <a:cs typeface="Arial" panose="020B0604020202020204" pitchFamily="34" charset="0"/>
              </a:rPr>
              <a:t>Write a C++ program to demonstrate hierarchical inheritance.</a:t>
            </a:r>
          </a:p>
          <a:p>
            <a:pPr marL="0" indent="0" algn="just">
              <a:buNone/>
            </a:pPr>
            <a:endParaRPr lang="en-IN"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0" indent="0" algn="just">
              <a:buNone/>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a:p>
            <a:pPr marL="342900" indent="-342900" algn="just">
              <a:buFont typeface="+mj-lt"/>
              <a:buAutoNum type="arabicPeriod" startAt="2"/>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APPLICATIONS </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p:txBody>
          <a:bodyPr>
            <a:normAutofit/>
          </a:bodyPr>
          <a:lstStyle/>
          <a:p>
            <a:r>
              <a:rPr lang="en-IN" sz="1600" dirty="0">
                <a:latin typeface="Casper" panose="02000506000000020004" pitchFamily="2" charset="0"/>
                <a:cs typeface="Arial" panose="020B0604020202020204" pitchFamily="34" charset="0"/>
              </a:rPr>
              <a:t>You use nested classes to reflect and to enforce the relationship between two classes. You should define a class within another class when the nested class makes sense only in the context of its enclosing class or when it relies on the enclosing class for its function. For example, a text cursor might make sense only in the context of a text component. </a:t>
            </a:r>
          </a:p>
          <a:p>
            <a:endParaRPr lang="en-US" sz="1600" dirty="0">
              <a:latin typeface="Casper" panose="02000506000000020004" pitchFamily="2" charset="0"/>
              <a:cs typeface="Arial" panose="020B0604020202020204" pitchFamily="34" charset="0"/>
            </a:endParaRPr>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95971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EA21-F7F3-48A3-824B-42EF768F0434}"/>
              </a:ext>
            </a:extLst>
          </p:cNvPr>
          <p:cNvSpPr>
            <a:spLocks noGrp="1"/>
          </p:cNvSpPr>
          <p:nvPr>
            <p:ph type="title"/>
          </p:nvPr>
        </p:nvSpPr>
        <p:spPr>
          <a:ln>
            <a:solidFill>
              <a:schemeClr val="accent1"/>
            </a:solidFill>
          </a:ln>
        </p:spPr>
        <p:txBody>
          <a:bodyPr/>
          <a:lstStyle/>
          <a:p>
            <a:r>
              <a:rPr lang="en-US" dirty="0"/>
              <a:t>Frequently Asked Questions: - </a:t>
            </a:r>
          </a:p>
        </p:txBody>
      </p:sp>
      <p:sp>
        <p:nvSpPr>
          <p:cNvPr id="3" name="Content Placeholder 2">
            <a:extLst>
              <a:ext uri="{FF2B5EF4-FFF2-40B4-BE49-F238E27FC236}">
                <a16:creationId xmlns:a16="http://schemas.microsoft.com/office/drawing/2014/main" id="{869AE2FD-9D53-4E1A-8CE1-8FA26675342A}"/>
              </a:ext>
            </a:extLst>
          </p:cNvPr>
          <p:cNvSpPr>
            <a:spLocks noGrp="1"/>
          </p:cNvSpPr>
          <p:nvPr>
            <p:ph idx="1"/>
          </p:nvPr>
        </p:nvSpPr>
        <p:spPr>
          <a:ln>
            <a:solidFill>
              <a:schemeClr val="accent1"/>
            </a:solidFill>
          </a:ln>
        </p:spPr>
        <p:txBody>
          <a:bodyPr>
            <a:normAutofit fontScale="85000" lnSpcReduction="10000"/>
          </a:bodyPr>
          <a:lstStyle/>
          <a:p>
            <a:pPr marL="514350" indent="-514350">
              <a:buFont typeface="+mj-lt"/>
              <a:buAutoNum type="arabicPeriod"/>
            </a:pPr>
            <a:r>
              <a:rPr lang="en-US" dirty="0"/>
              <a:t>Is inheritance important to C++?</a:t>
            </a:r>
          </a:p>
          <a:p>
            <a:pPr marL="514350" indent="-514350">
              <a:buFont typeface="+mj-lt"/>
              <a:buAutoNum type="arabicPeriod"/>
            </a:pPr>
            <a:r>
              <a:rPr lang="en-US" dirty="0"/>
              <a:t>When would I use inheritance?</a:t>
            </a:r>
          </a:p>
          <a:p>
            <a:pPr marL="514350" indent="-514350">
              <a:buFont typeface="+mj-lt"/>
              <a:buAutoNum type="arabicPeriod"/>
            </a:pPr>
            <a:r>
              <a:rPr lang="en-US" dirty="0"/>
              <a:t>How do you express inheritance in C++?</a:t>
            </a:r>
          </a:p>
          <a:p>
            <a:pPr marL="514350" indent="-514350">
              <a:buFont typeface="+mj-lt"/>
              <a:buAutoNum type="arabicPeriod"/>
            </a:pPr>
            <a:r>
              <a:rPr lang="en-US" dirty="0"/>
              <a:t>Is it okay to convert a pointer from a derived class to its base class?</a:t>
            </a:r>
          </a:p>
          <a:p>
            <a:pPr marL="514350" indent="-514350">
              <a:buFont typeface="+mj-lt"/>
              <a:buAutoNum type="arabicPeriod"/>
            </a:pPr>
            <a:r>
              <a:rPr lang="en-US" dirty="0"/>
              <a:t>What’s the difference between public, private, and protected?</a:t>
            </a:r>
          </a:p>
          <a:p>
            <a:pPr marL="514350" indent="-514350">
              <a:buFont typeface="+mj-lt"/>
              <a:buAutoNum type="arabicPeriod"/>
            </a:pPr>
            <a:r>
              <a:rPr lang="en-US" dirty="0"/>
              <a:t>Why can’t my derived class access private things from my base class?</a:t>
            </a:r>
          </a:p>
          <a:p>
            <a:pPr marL="514350" indent="-514350">
              <a:buFont typeface="+mj-lt"/>
              <a:buAutoNum type="arabicPeriod"/>
            </a:pPr>
            <a:r>
              <a:rPr lang="en-US" dirty="0"/>
              <a:t>How can I protect derived classes from breaking when I change the internal parts of the base class?</a:t>
            </a:r>
          </a:p>
          <a:p>
            <a:pPr marL="514350" indent="-514350">
              <a:buFont typeface="+mj-lt"/>
              <a:buAutoNum type="arabicPeriod"/>
            </a:pPr>
            <a:r>
              <a:rPr lang="en-US" dirty="0"/>
              <a:t>I’ve been told to never use protected data, and instead to always use private data with protected access functions. Is that a good rule?</a:t>
            </a:r>
          </a:p>
          <a:p>
            <a:pPr marL="514350" indent="-514350">
              <a:buFont typeface="+mj-lt"/>
              <a:buAutoNum type="arabicPeriod"/>
            </a:pPr>
            <a:r>
              <a:rPr lang="en-US" dirty="0"/>
              <a:t>Okay, so exactly how should I decide whether to build a “protected interface”?</a:t>
            </a:r>
          </a:p>
        </p:txBody>
      </p:sp>
      <p:sp>
        <p:nvSpPr>
          <p:cNvPr id="4" name="Slide Number Placeholder 3">
            <a:extLst>
              <a:ext uri="{FF2B5EF4-FFF2-40B4-BE49-F238E27FC236}">
                <a16:creationId xmlns:a16="http://schemas.microsoft.com/office/drawing/2014/main" id="{D6097133-7941-412E-85A8-22955A51C427}"/>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val="12298659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9AB99-58B7-4ED5-A576-595968F57CE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5D480901-5129-49E2-9FA0-9F29B043550D}"/>
              </a:ext>
            </a:extLst>
          </p:cNvPr>
          <p:cNvSpPr>
            <a:spLocks noGrp="1"/>
          </p:cNvSpPr>
          <p:nvPr>
            <p:ph idx="1"/>
          </p:nvPr>
        </p:nvSpPr>
        <p:spPr/>
        <p:txBody>
          <a:bodyPr>
            <a:normAutofit/>
          </a:bodyPr>
          <a:lstStyle/>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Inheritance is the mechanism of deriving new class from an existing class. The old class and new class is known as in pair : super-sub, base-derived, parent-child.</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Inheritance provides the idea of reusability. Code once written can be used again and again in several different classes.</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 provides support for: single level and multilevel inheritance, multiple inheritance, hierarchical inheritance, hybrid inheritance.</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Private members are never inherited.</a:t>
            </a:r>
          </a:p>
          <a:p>
            <a:pPr marL="342900" marR="0" indent="-342900" algn="just">
              <a:lnSpc>
                <a:spcPct val="115000"/>
              </a:lnSpc>
              <a:spcBef>
                <a:spcPts val="0"/>
              </a:spcBef>
              <a:spcAft>
                <a:spcPts val="1000"/>
              </a:spcAft>
              <a:buAutoNum type="arabicPeriod"/>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Virtual base class is used to avoid duplicity of data members into the target derived class.</a:t>
            </a:r>
          </a:p>
          <a:p>
            <a:pPr marL="342900" marR="0" indent="-342900" algn="just">
              <a:lnSpc>
                <a:spcPct val="115000"/>
              </a:lnSpc>
              <a:spcBef>
                <a:spcPts val="0"/>
              </a:spcBef>
              <a:spcAft>
                <a:spcPts val="1000"/>
              </a:spcAft>
              <a:buAutoNum type="arabicPeriod"/>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B8C64B-B8FB-4CEB-991F-08839DC84638}"/>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val="3350422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0F59F-D42D-46C2-BD89-EE5B85D28724}"/>
              </a:ext>
            </a:extLst>
          </p:cNvPr>
          <p:cNvSpPr>
            <a:spLocks noGrp="1"/>
          </p:cNvSpPr>
          <p:nvPr>
            <p:ph type="title"/>
          </p:nvPr>
        </p:nvSpPr>
        <p:spPr/>
        <p:txBody>
          <a:bodyPr/>
          <a:lstStyle/>
          <a:p>
            <a:r>
              <a:rPr lang="en-US" dirty="0"/>
              <a:t>SUMMARY (Continued)</a:t>
            </a:r>
          </a:p>
        </p:txBody>
      </p:sp>
      <p:sp>
        <p:nvSpPr>
          <p:cNvPr id="3" name="Content Placeholder 2">
            <a:extLst>
              <a:ext uri="{FF2B5EF4-FFF2-40B4-BE49-F238E27FC236}">
                <a16:creationId xmlns:a16="http://schemas.microsoft.com/office/drawing/2014/main" id="{CC12EB31-C008-4CC8-917C-C3288966A526}"/>
              </a:ext>
            </a:extLst>
          </p:cNvPr>
          <p:cNvSpPr>
            <a:spLocks noGrp="1"/>
          </p:cNvSpPr>
          <p:nvPr>
            <p:ph idx="1"/>
          </p:nvPr>
        </p:nvSpPr>
        <p:spPr/>
        <p:txBody>
          <a:bodyPr/>
          <a:lstStyle/>
          <a:p>
            <a:r>
              <a:rPr lang="en-US" dirty="0"/>
              <a:t>In an inheritance hierarchy constructor of base class is called first, then constructor of derived class is called.</a:t>
            </a:r>
          </a:p>
          <a:p>
            <a:endParaRPr lang="en-US" dirty="0"/>
          </a:p>
          <a:p>
            <a:r>
              <a:rPr lang="en-US" dirty="0"/>
              <a:t>In an inheritance hierarchy destructor class is called first, then destructor of base class is called.</a:t>
            </a:r>
          </a:p>
          <a:p>
            <a:endParaRPr lang="en-US" dirty="0"/>
          </a:p>
          <a:p>
            <a:r>
              <a:rPr lang="en-US" dirty="0"/>
              <a:t>Containership allows us to use object of one class as a member of other class. This type of containership provides the idea of has a relationship or nesting of classes.</a:t>
            </a:r>
          </a:p>
          <a:p>
            <a:endParaRPr lang="en-US" dirty="0"/>
          </a:p>
        </p:txBody>
      </p:sp>
      <p:sp>
        <p:nvSpPr>
          <p:cNvPr id="4" name="Slide Number Placeholder 3">
            <a:extLst>
              <a:ext uri="{FF2B5EF4-FFF2-40B4-BE49-F238E27FC236}">
                <a16:creationId xmlns:a16="http://schemas.microsoft.com/office/drawing/2014/main" id="{6548004D-40F8-4230-9E10-1E3E54FE1C4B}"/>
              </a:ext>
            </a:extLst>
          </p:cNvPr>
          <p:cNvSpPr>
            <a:spLocks noGrp="1"/>
          </p:cNvSpPr>
          <p:nvPr>
            <p:ph type="sldNum" sz="quarter" idx="12"/>
          </p:nvPr>
        </p:nvSpPr>
        <p:spPr/>
        <p:txBody>
          <a:bodyPr/>
          <a:lstStyle/>
          <a:p>
            <a:fld id="{BDCDBBEF-AA6C-4BA6-85B2-A17D7F280E38}" type="slidenum">
              <a:rPr lang="en-US" smtClean="0"/>
              <a:pPr/>
              <a:t>24</a:t>
            </a:fld>
            <a:endParaRPr lang="en-US"/>
          </a:p>
        </p:txBody>
      </p:sp>
    </p:spTree>
    <p:extLst>
      <p:ext uri="{BB962C8B-B14F-4D97-AF65-F5344CB8AC3E}">
        <p14:creationId xmlns:p14="http://schemas.microsoft.com/office/powerpoint/2010/main" val="30594064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u="sng" dirty="0">
                <a:latin typeface="+mn-lt"/>
                <a:cs typeface="Arial" panose="020B0604020202020204" pitchFamily="34" charset="0"/>
              </a:rPr>
              <a:t>REFERENCES</a:t>
            </a:r>
            <a:endParaRPr lang="en-US" u="sng" dirty="0">
              <a:latin typeface="+mn-lt"/>
            </a:endParaRPr>
          </a:p>
        </p:txBody>
      </p:sp>
      <p:sp>
        <p:nvSpPr>
          <p:cNvPr id="3" name="Content Placeholder 2"/>
          <p:cNvSpPr>
            <a:spLocks noGrp="1"/>
          </p:cNvSpPr>
          <p:nvPr>
            <p:ph idx="1"/>
          </p:nvPr>
        </p:nvSpPr>
        <p:spPr>
          <a:xfrm>
            <a:off x="838200" y="1825625"/>
            <a:ext cx="10515600" cy="4672014"/>
          </a:xfrm>
        </p:spPr>
        <p:txBody>
          <a:bodyPr>
            <a:normAutofit fontScale="92500" lnSpcReduction="10000"/>
          </a:bodyPr>
          <a:lstStyle/>
          <a:p>
            <a:pPr marL="0" indent="0">
              <a:buNone/>
            </a:pPr>
            <a:r>
              <a:rPr lang="en-US" sz="1600" b="1" dirty="0"/>
              <a:t>Reference Website</a:t>
            </a:r>
          </a:p>
          <a:p>
            <a:pPr marL="0" indent="0">
              <a:buNone/>
            </a:pPr>
            <a:r>
              <a:rPr lang="en-US" sz="1600" dirty="0"/>
              <a:t>[1] </a:t>
            </a:r>
            <a:r>
              <a:rPr lang="en-US" sz="1600" dirty="0">
                <a:hlinkClick r:id="rId2"/>
              </a:rPr>
              <a:t>https://www.geeksforgeeks.org/inheritance-in-c/</a:t>
            </a:r>
            <a:endParaRPr lang="en-US" sz="1600" dirty="0"/>
          </a:p>
          <a:p>
            <a:pPr marL="0" indent="0">
              <a:buNone/>
            </a:pPr>
            <a:r>
              <a:rPr lang="en-US" sz="1600" dirty="0"/>
              <a:t>[2] </a:t>
            </a:r>
            <a:r>
              <a:rPr lang="en-US" sz="1600" dirty="0">
                <a:hlinkClick r:id="rId3"/>
              </a:rPr>
              <a:t>https://www.geeksforgeeks.org/object-oriented-programming-in-cpp/</a:t>
            </a:r>
            <a:endParaRPr lang="en-US" sz="1600" dirty="0"/>
          </a:p>
          <a:p>
            <a:pPr marL="0" indent="0">
              <a:buNone/>
            </a:pPr>
            <a:r>
              <a:rPr lang="en-US" sz="1600" dirty="0"/>
              <a:t>[3] </a:t>
            </a:r>
            <a:r>
              <a:rPr lang="en-US" sz="1600" dirty="0">
                <a:hlinkClick r:id="rId4"/>
              </a:rPr>
              <a:t>https://www.geeksforgeeks.org/copy-constructor-argument-const/</a:t>
            </a:r>
            <a:endParaRPr lang="en-US" sz="1600" dirty="0"/>
          </a:p>
          <a:p>
            <a:pPr marL="0" indent="0">
              <a:buNone/>
            </a:pPr>
            <a:r>
              <a:rPr lang="en-US" sz="1600" dirty="0"/>
              <a:t>[4] </a:t>
            </a:r>
            <a:r>
              <a:rPr lang="en-US" sz="1600" dirty="0">
                <a:hlinkClick r:id="rId5"/>
              </a:rPr>
              <a:t>https://en.cppreference.com/w/cpp/language/nested_types</a:t>
            </a:r>
            <a:endParaRPr lang="en-US" sz="1600" dirty="0"/>
          </a:p>
          <a:p>
            <a:pPr marL="0" indent="0">
              <a:buNone/>
            </a:pPr>
            <a:endParaRPr lang="en-US" sz="1600" b="1" dirty="0"/>
          </a:p>
          <a:p>
            <a:pPr marL="0" indent="0">
              <a:buNone/>
            </a:pPr>
            <a:r>
              <a:rPr lang="en-US" sz="1600" b="1" dirty="0"/>
              <a:t>References on YouTubes</a:t>
            </a:r>
          </a:p>
          <a:p>
            <a:pPr marL="0" indent="0">
              <a:buNone/>
            </a:pPr>
            <a:r>
              <a:rPr lang="en-US" sz="1600" dirty="0"/>
              <a:t>[1] </a:t>
            </a:r>
            <a:r>
              <a:rPr lang="en-US" sz="1600" dirty="0">
                <a:hlinkClick r:id="rId6"/>
              </a:rPr>
              <a:t>https://www.youtube.com/watch?v=rr7HVs4d1Qo</a:t>
            </a:r>
            <a:endParaRPr lang="en-US" sz="1600" dirty="0"/>
          </a:p>
          <a:p>
            <a:pPr marL="0" indent="0">
              <a:buNone/>
            </a:pPr>
            <a:r>
              <a:rPr lang="en-US" sz="1600" dirty="0"/>
              <a:t>[2] </a:t>
            </a:r>
            <a:r>
              <a:rPr lang="en-US" sz="1600" dirty="0">
                <a:hlinkClick r:id="rId7"/>
              </a:rPr>
              <a:t>https://www.youtube.com/watch?v=5pJyKzON8Ww</a:t>
            </a:r>
            <a:endParaRPr lang="en-US" sz="1600" dirty="0"/>
          </a:p>
          <a:p>
            <a:pPr marL="0" indent="0">
              <a:buNone/>
            </a:pPr>
            <a:r>
              <a:rPr lang="en-US" sz="1600" dirty="0"/>
              <a:t>[3] </a:t>
            </a:r>
            <a:r>
              <a:rPr lang="en-US" sz="1600" dirty="0">
                <a:hlinkClick r:id="rId8"/>
              </a:rPr>
              <a:t>https://www.youtube.com/watch?v=RO1ZYW9NAzg</a:t>
            </a:r>
            <a:endParaRPr lang="en-US" sz="1600" dirty="0"/>
          </a:p>
          <a:p>
            <a:pPr marL="0" indent="0">
              <a:buNone/>
            </a:pPr>
            <a:endParaRPr lang="en-US" sz="1600" b="1" dirty="0"/>
          </a:p>
          <a:p>
            <a:pPr marL="0" indent="0">
              <a:buNone/>
            </a:pPr>
            <a:r>
              <a:rPr lang="en-US" sz="1600" b="1" dirty="0"/>
              <a:t>References books</a:t>
            </a:r>
          </a:p>
          <a:p>
            <a:pPr marL="0" indent="0">
              <a:buNone/>
            </a:pPr>
            <a:r>
              <a:rPr lang="en-US" sz="1600" dirty="0"/>
              <a:t>[1] Object-Oriented Programming in C++, by </a:t>
            </a:r>
            <a:r>
              <a:rPr lang="en-US" sz="1600" b="1" dirty="0"/>
              <a:t>Robert </a:t>
            </a:r>
            <a:r>
              <a:rPr lang="en-US" sz="1600" b="1" dirty="0" err="1"/>
              <a:t>Lafore</a:t>
            </a:r>
            <a:r>
              <a:rPr lang="en-US" sz="1600" b="1" dirty="0"/>
              <a:t> </a:t>
            </a:r>
          </a:p>
          <a:p>
            <a:pPr marL="0" indent="0">
              <a:buNone/>
            </a:pPr>
            <a:r>
              <a:rPr lang="en-US" sz="1600" dirty="0"/>
              <a:t>[2] Object-Oriented Programming Using C++, by </a:t>
            </a:r>
            <a:r>
              <a:rPr lang="en-US" sz="1600" b="1" dirty="0"/>
              <a:t>Joyce Farrell</a:t>
            </a:r>
          </a:p>
          <a:p>
            <a:pPr marL="0" indent="0">
              <a:buNone/>
            </a:pPr>
            <a:r>
              <a:rPr lang="en-US" sz="1600" dirty="0"/>
              <a:t>[3] Object-Oriented Programming Using C++, by </a:t>
            </a:r>
            <a:r>
              <a:rPr lang="en-US" sz="1600" b="1" dirty="0"/>
              <a:t>Pohl </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Rectangle 4"/>
          <p:cNvSpPr/>
          <p:nvPr/>
        </p:nvSpPr>
        <p:spPr>
          <a:xfrm>
            <a:off x="838200" y="1803400"/>
            <a:ext cx="10515600" cy="46942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elated imag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48470" y="2257472"/>
            <a:ext cx="3805330" cy="3914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918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3" name="CorelDRAW" r:id="rId3" imgW="2169000" imgH="2169360" progId="">
                    <p:embed/>
                  </p:oleObj>
                </mc:Choice>
                <mc:Fallback>
                  <p:oleObj name="CorelDRAW" r:id="rId3" imgW="2169000" imgH="2169360" progId="">
                    <p:embed/>
                    <p:pic>
                      <p:nvPicPr>
                        <p:cNvPr id="0" name="Picture 2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1487</TotalTime>
  <Words>2033</Words>
  <Application>Microsoft Office PowerPoint</Application>
  <PresentationFormat>Widescreen</PresentationFormat>
  <Paragraphs>297</Paragraphs>
  <Slides>26</Slides>
  <Notes>4</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41" baseType="lpstr">
      <vt:lpstr>Arial</vt:lpstr>
      <vt:lpstr>Arial Black</vt:lpstr>
      <vt:lpstr>Arial Unicode MS</vt:lpstr>
      <vt:lpstr>Calibri</vt:lpstr>
      <vt:lpstr>Calibri Light</vt:lpstr>
      <vt:lpstr>Cambria</vt:lpstr>
      <vt:lpstr>Casper</vt:lpstr>
      <vt:lpstr>Casper Bold</vt:lpstr>
      <vt:lpstr>Karla</vt:lpstr>
      <vt:lpstr>Raleway ExtraBold</vt:lpstr>
      <vt:lpstr>Segoe UI</vt:lpstr>
      <vt:lpstr>Times New Roman</vt:lpstr>
      <vt:lpstr>1_Office Theme</vt:lpstr>
      <vt:lpstr>Contents Slide Master</vt:lpstr>
      <vt:lpstr>CorelDRAW</vt:lpstr>
      <vt:lpstr>PowerPoint Presentation</vt:lpstr>
      <vt:lpstr>Basic Data Structure Using C++</vt:lpstr>
      <vt:lpstr>PowerPoint Presentation</vt:lpstr>
      <vt:lpstr> Scheme of Evaluation  </vt:lpstr>
      <vt:lpstr>CONTENTS </vt:lpstr>
      <vt:lpstr>INHERITANCE</vt:lpstr>
      <vt:lpstr>INHERITANCE</vt:lpstr>
      <vt:lpstr>WHY AND WHEN TO USE INHERITANCE?</vt:lpstr>
      <vt:lpstr>WHY AND WHEN TO USE INHERITANCE?</vt:lpstr>
      <vt:lpstr>IMPLEMENTING INHERITANCE IN C++</vt:lpstr>
      <vt:lpstr>IMPLEMENTING INHERITANCE IN C++</vt:lpstr>
      <vt:lpstr>IMPLEMENTING INHERITANCE IN C++</vt:lpstr>
      <vt:lpstr>MODES OF INHERITANCE</vt:lpstr>
      <vt:lpstr>Types of Inheritance (Overview) </vt:lpstr>
      <vt:lpstr>Pre-requisites (Public, Private and Protected Inheritance) </vt:lpstr>
      <vt:lpstr>2. Private Inheritance </vt:lpstr>
      <vt:lpstr>PowerPoint Presentation</vt:lpstr>
      <vt:lpstr>Protected Inheritance</vt:lpstr>
      <vt:lpstr>NOTE:</vt:lpstr>
      <vt:lpstr>Assessment Questions   </vt:lpstr>
      <vt:lpstr>APPLICATIONS    </vt:lpstr>
      <vt:lpstr>Frequently Asked Questions: - </vt:lpstr>
      <vt:lpstr>SUMMARY</vt:lpstr>
      <vt:lpstr>SUMMARY (Continued)</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nishu</cp:lastModifiedBy>
  <cp:revision>281</cp:revision>
  <dcterms:created xsi:type="dcterms:W3CDTF">2019-01-09T10:33:58Z</dcterms:created>
  <dcterms:modified xsi:type="dcterms:W3CDTF">2023-12-04T10:51:43Z</dcterms:modified>
</cp:coreProperties>
</file>