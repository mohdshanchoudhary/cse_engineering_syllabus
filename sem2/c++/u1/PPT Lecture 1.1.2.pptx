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9"/>
  </p:notesMasterIdLst>
  <p:handoutMasterIdLst>
    <p:handoutMasterId r:id="rId20"/>
  </p:handoutMasterIdLst>
  <p:sldIdLst>
    <p:sldId id="354" r:id="rId3"/>
    <p:sldId id="385" r:id="rId4"/>
    <p:sldId id="386" r:id="rId5"/>
    <p:sldId id="384" r:id="rId6"/>
    <p:sldId id="281" r:id="rId7"/>
    <p:sldId id="377" r:id="rId8"/>
    <p:sldId id="378" r:id="rId9"/>
    <p:sldId id="379" r:id="rId10"/>
    <p:sldId id="380" r:id="rId11"/>
    <p:sldId id="350" r:id="rId12"/>
    <p:sldId id="351" r:id="rId13"/>
    <p:sldId id="359" r:id="rId14"/>
    <p:sldId id="329" r:id="rId15"/>
    <p:sldId id="352" r:id="rId16"/>
    <p:sldId id="364" r:id="rId17"/>
    <p:sldId id="353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7B0"/>
    <a:srgbClr val="4BDAE5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540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D818A-DE61-492C-9F49-4330F19690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2067E99-1C3B-406E-B0E9-FC347F914FA8}">
      <dgm:prSet phldrT="[Text]" custT="1"/>
      <dgm:spPr/>
      <dgm:t>
        <a:bodyPr/>
        <a:lstStyle/>
        <a:p>
          <a:r>
            <a:rPr lang="en-US" sz="2400" b="1" dirty="0">
              <a:solidFill>
                <a:schemeClr val="bg2">
                  <a:lumMod val="10000"/>
                </a:schemeClr>
              </a:solidFill>
            </a:rPr>
            <a:t>In this lecture we have discussed about difference between structure and class.</a:t>
          </a:r>
          <a:endParaRPr lang="en-IN" sz="2400" b="1" dirty="0">
            <a:solidFill>
              <a:schemeClr val="bg2">
                <a:lumMod val="10000"/>
              </a:schemeClr>
            </a:solidFill>
          </a:endParaRPr>
        </a:p>
      </dgm:t>
    </dgm:pt>
    <dgm:pt modelId="{E295694A-E3FF-4E4D-B786-E47583760C4E}" type="parTrans" cxnId="{AAE49CDE-EE1C-4041-8DCB-69A3B80087AD}">
      <dgm:prSet/>
      <dgm:spPr/>
      <dgm:t>
        <a:bodyPr/>
        <a:lstStyle/>
        <a:p>
          <a:endParaRPr lang="en-IN"/>
        </a:p>
      </dgm:t>
    </dgm:pt>
    <dgm:pt modelId="{E2FCE763-C2C6-41BB-BE42-2FC9B40C0439}" type="sibTrans" cxnId="{AAE49CDE-EE1C-4041-8DCB-69A3B80087AD}">
      <dgm:prSet/>
      <dgm:spPr/>
      <dgm:t>
        <a:bodyPr/>
        <a:lstStyle/>
        <a:p>
          <a:endParaRPr lang="en-IN"/>
        </a:p>
      </dgm:t>
    </dgm:pt>
    <dgm:pt modelId="{A7DE4063-2DA9-4CA0-9DDC-11769B7332D8}">
      <dgm:prSet phldrT="[Text]" custT="1"/>
      <dgm:spPr/>
      <dgm:t>
        <a:bodyPr/>
        <a:lstStyle/>
        <a:p>
          <a:r>
            <a:rPr lang="en-US" sz="2400" b="1" dirty="0">
              <a:solidFill>
                <a:schemeClr val="bg2">
                  <a:lumMod val="10000"/>
                </a:schemeClr>
              </a:solidFill>
            </a:rPr>
            <a:t>We have discussed about various data types in C++</a:t>
          </a:r>
          <a:endParaRPr lang="en-IN" sz="2400" b="1" dirty="0">
            <a:solidFill>
              <a:schemeClr val="bg2">
                <a:lumMod val="10000"/>
              </a:schemeClr>
            </a:solidFill>
          </a:endParaRPr>
        </a:p>
      </dgm:t>
    </dgm:pt>
    <dgm:pt modelId="{ED3D644F-FD3E-48AA-A0DA-12CED9DB591C}" type="parTrans" cxnId="{CB715DCB-B8A2-400C-A562-D0851701E2C1}">
      <dgm:prSet/>
      <dgm:spPr/>
      <dgm:t>
        <a:bodyPr/>
        <a:lstStyle/>
        <a:p>
          <a:endParaRPr lang="en-IN"/>
        </a:p>
      </dgm:t>
    </dgm:pt>
    <dgm:pt modelId="{EA51BD59-3F69-42AA-902C-6B9694E16D92}" type="sibTrans" cxnId="{CB715DCB-B8A2-400C-A562-D0851701E2C1}">
      <dgm:prSet/>
      <dgm:spPr/>
      <dgm:t>
        <a:bodyPr/>
        <a:lstStyle/>
        <a:p>
          <a:endParaRPr lang="en-IN"/>
        </a:p>
      </dgm:t>
    </dgm:pt>
    <dgm:pt modelId="{0621545F-95F6-44EB-825F-83C24ABAE76E}">
      <dgm:prSet phldrT="[Text]" custT="1"/>
      <dgm:spPr/>
      <dgm:t>
        <a:bodyPr/>
        <a:lstStyle/>
        <a:p>
          <a:r>
            <a:rPr lang="en-US" sz="2400" b="1" dirty="0">
              <a:solidFill>
                <a:schemeClr val="tx1">
                  <a:lumMod val="95000"/>
                  <a:lumOff val="5000"/>
                </a:schemeClr>
              </a:solidFill>
            </a:rPr>
            <a:t>Moreover we have learnt about basic </a:t>
          </a:r>
          <a:r>
            <a:rPr lang="en-US" sz="2400" b="1" dirty="0" err="1">
              <a:solidFill>
                <a:schemeClr val="tx1">
                  <a:lumMod val="95000"/>
                  <a:lumOff val="5000"/>
                </a:schemeClr>
              </a:solidFill>
            </a:rPr>
            <a:t>i</a:t>
          </a:r>
          <a:r>
            <a:rPr lang="en-US" sz="2400" b="1" dirty="0">
              <a:solidFill>
                <a:schemeClr val="tx1">
                  <a:lumMod val="95000"/>
                  <a:lumOff val="5000"/>
                </a:schemeClr>
              </a:solidFill>
            </a:rPr>
            <a:t>/o in </a:t>
          </a:r>
          <a:r>
            <a:rPr lang="en-US" sz="2400" b="1" dirty="0" err="1">
              <a:solidFill>
                <a:schemeClr val="tx1">
                  <a:lumMod val="95000"/>
                  <a:lumOff val="5000"/>
                </a:schemeClr>
              </a:solidFill>
            </a:rPr>
            <a:t>c++</a:t>
          </a:r>
          <a:endParaRPr lang="en-IN" sz="2400" b="1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0DC4AED1-1C4B-492D-B362-E4F34DA21582}" type="parTrans" cxnId="{57421435-2741-45ED-8B76-658C1BDCB734}">
      <dgm:prSet/>
      <dgm:spPr/>
      <dgm:t>
        <a:bodyPr/>
        <a:lstStyle/>
        <a:p>
          <a:endParaRPr lang="en-IN"/>
        </a:p>
      </dgm:t>
    </dgm:pt>
    <dgm:pt modelId="{93AF2E2B-5524-48E6-96A4-F1B0B555DF04}" type="sibTrans" cxnId="{57421435-2741-45ED-8B76-658C1BDCB734}">
      <dgm:prSet/>
      <dgm:spPr/>
      <dgm:t>
        <a:bodyPr/>
        <a:lstStyle/>
        <a:p>
          <a:endParaRPr lang="en-IN"/>
        </a:p>
      </dgm:t>
    </dgm:pt>
    <dgm:pt modelId="{097EF926-1259-452F-A448-711C22076917}" type="pres">
      <dgm:prSet presAssocID="{A30D818A-DE61-492C-9F49-4330F19690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F0A59F6-A053-4340-A4F0-E60DDF039046}" type="pres">
      <dgm:prSet presAssocID="{72067E99-1C3B-406E-B0E9-FC347F914FA8}" presName="node" presStyleLbl="node1" presStyleIdx="0" presStyleCnt="3" custLinFactNeighborX="-5593" custLinFactNeighborY="8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110241-4B56-449E-BE7E-CE03E41DECBD}" type="pres">
      <dgm:prSet presAssocID="{E2FCE763-C2C6-41BB-BE42-2FC9B40C0439}" presName="sibTrans" presStyleCnt="0"/>
      <dgm:spPr/>
    </dgm:pt>
    <dgm:pt modelId="{DE45F2CF-0A49-462B-B901-AD08FACBBB0E}" type="pres">
      <dgm:prSet presAssocID="{A7DE4063-2DA9-4CA0-9DDC-11769B7332D8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5D8264-6CE6-4D91-B2D2-1EAC00783183}" type="pres">
      <dgm:prSet presAssocID="{EA51BD59-3F69-42AA-902C-6B9694E16D92}" presName="sibTrans" presStyleCnt="0"/>
      <dgm:spPr/>
    </dgm:pt>
    <dgm:pt modelId="{45C74EF1-9A11-4F71-A1B7-79F2B3452A9C}" type="pres">
      <dgm:prSet presAssocID="{0621545F-95F6-44EB-825F-83C24ABAE76E}" presName="node" presStyleLbl="node1" presStyleIdx="2" presStyleCnt="3" custLinFactNeighborX="229" custLinFactNeighborY="-7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00252CB-9D61-4788-A959-DB99FAB8CBDB}" type="presOf" srcId="{A30D818A-DE61-492C-9F49-4330F19690E3}" destId="{097EF926-1259-452F-A448-711C22076917}" srcOrd="0" destOrd="0" presId="urn:microsoft.com/office/officeart/2005/8/layout/default"/>
    <dgm:cxn modelId="{57421435-2741-45ED-8B76-658C1BDCB734}" srcId="{A30D818A-DE61-492C-9F49-4330F19690E3}" destId="{0621545F-95F6-44EB-825F-83C24ABAE76E}" srcOrd="2" destOrd="0" parTransId="{0DC4AED1-1C4B-492D-B362-E4F34DA21582}" sibTransId="{93AF2E2B-5524-48E6-96A4-F1B0B555DF04}"/>
    <dgm:cxn modelId="{ECCE3782-0BA7-4D11-9D3C-49385FC334F5}" type="presOf" srcId="{72067E99-1C3B-406E-B0E9-FC347F914FA8}" destId="{2F0A59F6-A053-4340-A4F0-E60DDF039046}" srcOrd="0" destOrd="0" presId="urn:microsoft.com/office/officeart/2005/8/layout/default"/>
    <dgm:cxn modelId="{CB715DCB-B8A2-400C-A562-D0851701E2C1}" srcId="{A30D818A-DE61-492C-9F49-4330F19690E3}" destId="{A7DE4063-2DA9-4CA0-9DDC-11769B7332D8}" srcOrd="1" destOrd="0" parTransId="{ED3D644F-FD3E-48AA-A0DA-12CED9DB591C}" sibTransId="{EA51BD59-3F69-42AA-902C-6B9694E16D92}"/>
    <dgm:cxn modelId="{FB907561-3042-443C-9925-0235425570A1}" type="presOf" srcId="{0621545F-95F6-44EB-825F-83C24ABAE76E}" destId="{45C74EF1-9A11-4F71-A1B7-79F2B3452A9C}" srcOrd="0" destOrd="0" presId="urn:microsoft.com/office/officeart/2005/8/layout/default"/>
    <dgm:cxn modelId="{AAE49CDE-EE1C-4041-8DCB-69A3B80087AD}" srcId="{A30D818A-DE61-492C-9F49-4330F19690E3}" destId="{72067E99-1C3B-406E-B0E9-FC347F914FA8}" srcOrd="0" destOrd="0" parTransId="{E295694A-E3FF-4E4D-B786-E47583760C4E}" sibTransId="{E2FCE763-C2C6-41BB-BE42-2FC9B40C0439}"/>
    <dgm:cxn modelId="{7DDA5D15-540F-4782-AC07-9170D87AA5BA}" type="presOf" srcId="{A7DE4063-2DA9-4CA0-9DDC-11769B7332D8}" destId="{DE45F2CF-0A49-462B-B901-AD08FACBBB0E}" srcOrd="0" destOrd="0" presId="urn:microsoft.com/office/officeart/2005/8/layout/default"/>
    <dgm:cxn modelId="{699A32D2-8395-47D4-BE2B-5B8EF202D093}" type="presParOf" srcId="{097EF926-1259-452F-A448-711C22076917}" destId="{2F0A59F6-A053-4340-A4F0-E60DDF039046}" srcOrd="0" destOrd="0" presId="urn:microsoft.com/office/officeart/2005/8/layout/default"/>
    <dgm:cxn modelId="{02491696-24B3-49AC-8F8C-9C3FB5FD4A79}" type="presParOf" srcId="{097EF926-1259-452F-A448-711C22076917}" destId="{B7110241-4B56-449E-BE7E-CE03E41DECBD}" srcOrd="1" destOrd="0" presId="urn:microsoft.com/office/officeart/2005/8/layout/default"/>
    <dgm:cxn modelId="{74690019-F115-4FDC-B1CB-756CF730DB81}" type="presParOf" srcId="{097EF926-1259-452F-A448-711C22076917}" destId="{DE45F2CF-0A49-462B-B901-AD08FACBBB0E}" srcOrd="2" destOrd="0" presId="urn:microsoft.com/office/officeart/2005/8/layout/default"/>
    <dgm:cxn modelId="{5AB02E86-EE83-4357-B54B-6448622334B5}" type="presParOf" srcId="{097EF926-1259-452F-A448-711C22076917}" destId="{E15D8264-6CE6-4D91-B2D2-1EAC00783183}" srcOrd="3" destOrd="0" presId="urn:microsoft.com/office/officeart/2005/8/layout/default"/>
    <dgm:cxn modelId="{5E671BA3-C945-46E3-8A16-A759A8BB1E41}" type="presParOf" srcId="{097EF926-1259-452F-A448-711C22076917}" destId="{45C74EF1-9A11-4F71-A1B7-79F2B3452A9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A59F6-A053-4340-A4F0-E60DDF039046}">
      <dsp:nvSpPr>
        <dsp:cNvPr id="0" name=""/>
        <dsp:cNvSpPr/>
      </dsp:nvSpPr>
      <dsp:spPr>
        <a:xfrm>
          <a:off x="0" y="22329"/>
          <a:ext cx="4166272" cy="24997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bg2">
                  <a:lumMod val="10000"/>
                </a:schemeClr>
              </a:solidFill>
            </a:rPr>
            <a:t>In this lecture we have discussed about difference between structure and class.</a:t>
          </a:r>
          <a:endParaRPr lang="en-IN" sz="2400" b="1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0" y="22329"/>
        <a:ext cx="4166272" cy="2499763"/>
      </dsp:txXfrm>
    </dsp:sp>
    <dsp:sp modelId="{DE45F2CF-0A49-462B-B901-AD08FACBBB0E}">
      <dsp:nvSpPr>
        <dsp:cNvPr id="0" name=""/>
        <dsp:cNvSpPr/>
      </dsp:nvSpPr>
      <dsp:spPr>
        <a:xfrm>
          <a:off x="4656972" y="1256"/>
          <a:ext cx="4166272" cy="24997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bg2">
                  <a:lumMod val="10000"/>
                </a:schemeClr>
              </a:solidFill>
            </a:rPr>
            <a:t>We have discussed about various data types in C++</a:t>
          </a:r>
          <a:endParaRPr lang="en-IN" sz="2400" b="1" kern="1200" dirty="0">
            <a:solidFill>
              <a:schemeClr val="bg2">
                <a:lumMod val="10000"/>
              </a:schemeClr>
            </a:solidFill>
          </a:endParaRPr>
        </a:p>
      </dsp:txBody>
      <dsp:txXfrm>
        <a:off x="4656972" y="1256"/>
        <a:ext cx="4166272" cy="2499763"/>
      </dsp:txXfrm>
    </dsp:sp>
    <dsp:sp modelId="{45C74EF1-9A11-4F71-A1B7-79F2B3452A9C}">
      <dsp:nvSpPr>
        <dsp:cNvPr id="0" name=""/>
        <dsp:cNvSpPr/>
      </dsp:nvSpPr>
      <dsp:spPr>
        <a:xfrm>
          <a:off x="2375062" y="2898248"/>
          <a:ext cx="4166272" cy="24997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Moreover we have learnt about basic </a:t>
          </a:r>
          <a:r>
            <a:rPr lang="en-US" sz="2400" b="1" kern="1200" dirty="0" err="1">
              <a:solidFill>
                <a:schemeClr val="tx1">
                  <a:lumMod val="95000"/>
                  <a:lumOff val="5000"/>
                </a:schemeClr>
              </a:solidFill>
            </a:rPr>
            <a:t>i</a:t>
          </a:r>
          <a:r>
            <a:rPr lang="en-US" sz="24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/o in </a:t>
          </a:r>
          <a:r>
            <a:rPr lang="en-US" sz="2400" b="1" kern="1200" dirty="0" err="1">
              <a:solidFill>
                <a:schemeClr val="tx1">
                  <a:lumMod val="95000"/>
                  <a:lumOff val="5000"/>
                </a:schemeClr>
              </a:solidFill>
            </a:rPr>
            <a:t>c++</a:t>
          </a:r>
          <a:endParaRPr lang="en-IN" sz="2400" b="1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2375062" y="2898248"/>
        <a:ext cx="4166272" cy="2499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07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49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46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33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in the diagram is 3</a:t>
            </a:r>
            <a:r>
              <a:rPr lang="en-US" baseline="30000" dirty="0"/>
              <a:t>rd</a:t>
            </a:r>
            <a:r>
              <a:rPr lang="en-US" dirty="0"/>
              <a:t> generation</a:t>
            </a:r>
            <a:r>
              <a:rPr lang="en-US" baseline="0" dirty="0"/>
              <a:t> computer. The period of third generation was from 1965-1971. The computers of third generation used Integrated Circuits (ICs) in place of transistors. A single IC has many transistors, resistors, and capacitors along with the associated circuitry. The main features of third generation are −</a:t>
            </a:r>
          </a:p>
          <a:p>
            <a:r>
              <a:rPr lang="en-US" baseline="0" dirty="0"/>
              <a:t>IC used</a:t>
            </a:r>
          </a:p>
          <a:p>
            <a:r>
              <a:rPr lang="en-US" baseline="0" dirty="0"/>
              <a:t>More reliable in comparison to previous two generations</a:t>
            </a:r>
          </a:p>
          <a:p>
            <a:r>
              <a:rPr lang="en-US" baseline="0" dirty="0"/>
              <a:t>Smaller size</a:t>
            </a:r>
          </a:p>
          <a:p>
            <a:r>
              <a:rPr lang="en-US" baseline="0" dirty="0"/>
              <a:t>Generated less heat</a:t>
            </a:r>
          </a:p>
          <a:p>
            <a:r>
              <a:rPr lang="en-US" baseline="0" dirty="0"/>
              <a:t>Faster</a:t>
            </a:r>
          </a:p>
          <a:p>
            <a:r>
              <a:rPr lang="en-US" baseline="0" dirty="0"/>
              <a:t>Lesser maintenance</a:t>
            </a:r>
          </a:p>
          <a:p>
            <a:r>
              <a:rPr lang="en-US" baseline="0" dirty="0"/>
              <a:t>Costly</a:t>
            </a:r>
          </a:p>
          <a:p>
            <a:r>
              <a:rPr lang="en-US" baseline="0" dirty="0"/>
              <a:t>AC required</a:t>
            </a:r>
          </a:p>
          <a:p>
            <a:r>
              <a:rPr lang="en-US" baseline="0" dirty="0"/>
              <a:t>Consumed lesser electricity</a:t>
            </a:r>
          </a:p>
          <a:p>
            <a:r>
              <a:rPr lang="en-US" baseline="0" dirty="0"/>
              <a:t>Supported high-level language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24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76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03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06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73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83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hyperlink" Target="https://www.tutorialspoint.com/What-is-the-difference-between-cin-and-cout-streams-in-cplusplus#:~:text=cin%20is%20an%20object%20of,They%20also%20use%20different%20operators" TargetMode="External"/><Relationship Id="rId7" Type="http://schemas.openxmlformats.org/officeDocument/2006/relationships/hyperlink" Target="https://www.cppbuzz.com/interview-questions-on-datatype-in-c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gramiz.com/cpp-programming/data-types" TargetMode="External"/><Relationship Id="rId5" Type="http://schemas.openxmlformats.org/officeDocument/2006/relationships/hyperlink" Target="http://www.differencebetween.info/difference-between-class-and-structure-in-cplusplus" TargetMode="External"/><Relationship Id="rId4" Type="http://schemas.openxmlformats.org/officeDocument/2006/relationships/hyperlink" Target="https://www.geeksforgeeks.org/basic-input-output-c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69340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36408" y="592201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40610" y="5988169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US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 </a:t>
            </a:r>
            <a:r>
              <a:rPr lang="en-IN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9CE43-2B94-49D3-9948-A297B0FB5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391" y="1549481"/>
            <a:ext cx="9884238" cy="338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Basic Data Structure Using C++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Code:23CSH-103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</a:t>
            </a:r>
            <a:endParaRPr lang="en-US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38200"/>
            <a:ext cx="4834074" cy="174824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Basic Data Structure Using C++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133" y="3825531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A82640A5-2231-4AFB-8485-E0B914CD59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9133" y="4308909"/>
          <a:ext cx="7752657" cy="1402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752657">
                  <a:extLst>
                    <a:ext uri="{9D8B030D-6E8A-4147-A177-3AD203B41FA5}">
                      <a16:colId xmlns:a16="http://schemas.microsoft.com/office/drawing/2014/main" val="398512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2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enable the students to understand various stages and constructs of C++ programming language.</a:t>
                      </a:r>
                      <a:endParaRPr lang="en-IN" sz="2400" b="1" i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817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000" b="1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improve their ability to analyze and address variety of problems in C++.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4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83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43069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Understand the concepts of object-oriented programming including programming process and compilation process.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Apply different techniques to decompose a problem and programmed a solution with various concepts of object-oriented programming language.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Analyse and explain the behaviour of linear data structure operations using the programming addressed in the course.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Implement and evaluate the programs using the syntax and semantics of object-oriented programming.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the solution of real-world problems in order to determine that the program performs as expected.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0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13652" y="2932509"/>
            <a:ext cx="3932237" cy="204549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latin typeface="Casper"/>
              </a:rPr>
              <a:t>Input </a:t>
            </a:r>
            <a:r>
              <a:rPr lang="en-IN" b="1" dirty="0">
                <a:latin typeface="Casper"/>
              </a:rPr>
              <a:t>and output streams (</a:t>
            </a:r>
            <a:r>
              <a:rPr lang="en-IN" b="1" dirty="0" err="1">
                <a:latin typeface="Casper"/>
              </a:rPr>
              <a:t>cin</a:t>
            </a:r>
            <a:r>
              <a:rPr lang="en-IN" b="1" dirty="0">
                <a:latin typeface="Casper"/>
              </a:rPr>
              <a:t>, </a:t>
            </a:r>
            <a:r>
              <a:rPr lang="en-IN" b="1" dirty="0" err="1">
                <a:latin typeface="Casper"/>
              </a:rPr>
              <a:t>cout</a:t>
            </a:r>
            <a:r>
              <a:rPr lang="en-IN" b="1" dirty="0">
                <a:latin typeface="Casper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351488" y="153548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CONTENTS</a:t>
            </a:r>
            <a: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18390" y="2694781"/>
            <a:ext cx="4322762" cy="2520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732E-3EAC-4946-A9E1-71AE509D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and output streams (</a:t>
            </a:r>
            <a:r>
              <a:rPr lang="en-IN" dirty="0" err="1"/>
              <a:t>cin</a:t>
            </a:r>
            <a:r>
              <a:rPr lang="en-IN" dirty="0"/>
              <a:t>, </a:t>
            </a:r>
            <a:r>
              <a:rPr lang="en-IN" dirty="0" err="1"/>
              <a:t>cout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C9C9-7F45-48DD-89AF-F01AA908E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C++ comes with libraries that provide us with many ways for performing input and output. In C++ input and output are performed in the form of a sequence of bytes or more commonly known as streams.</a:t>
            </a:r>
          </a:p>
          <a:p>
            <a:endParaRPr lang="en-IN" dirty="0"/>
          </a:p>
          <a:p>
            <a:r>
              <a:rPr lang="en-IN" dirty="0"/>
              <a:t>Input Stream: If the direction of flow of bytes is from the device(for example, Keyboard) to the main memory then this process is called input.</a:t>
            </a:r>
          </a:p>
          <a:p>
            <a:r>
              <a:rPr lang="en-IN" dirty="0"/>
              <a:t>Output Stream: If the direction of flow of bytes is opposite, i.e. from main memory to device( display screen ) then this process is called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BE016-2E56-422E-B1A6-8B51B655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3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671C-F2FE-47B8-B9F3-9F72A3E7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474"/>
            <a:ext cx="10515600" cy="58484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dirty="0"/>
              <a:t>Header files available in C++ for Input/Output operations are:</a:t>
            </a:r>
          </a:p>
          <a:p>
            <a:endParaRPr lang="en-IN" sz="2600" dirty="0"/>
          </a:p>
          <a:p>
            <a:r>
              <a:rPr lang="en-IN" sz="2600" b="1" dirty="0"/>
              <a:t>iostream</a:t>
            </a:r>
            <a:r>
              <a:rPr lang="en-IN" sz="2600" dirty="0"/>
              <a:t>: iostream stands for standard input-output stream. This header file contains definitions to objects like </a:t>
            </a:r>
            <a:r>
              <a:rPr lang="en-IN" sz="2600" dirty="0" err="1"/>
              <a:t>cin</a:t>
            </a:r>
            <a:r>
              <a:rPr lang="en-IN" sz="2600" dirty="0"/>
              <a:t>, </a:t>
            </a:r>
            <a:r>
              <a:rPr lang="en-IN" sz="2600" dirty="0" err="1"/>
              <a:t>cout</a:t>
            </a:r>
            <a:r>
              <a:rPr lang="en-IN" sz="2600" dirty="0"/>
              <a:t>, </a:t>
            </a:r>
            <a:r>
              <a:rPr lang="en-IN" sz="2600" dirty="0" err="1"/>
              <a:t>cerr</a:t>
            </a:r>
            <a:r>
              <a:rPr lang="en-IN" sz="2600" dirty="0"/>
              <a:t> etc.</a:t>
            </a:r>
          </a:p>
          <a:p>
            <a:r>
              <a:rPr lang="en-IN" sz="2600" b="1" dirty="0" err="1"/>
              <a:t>iomanip</a:t>
            </a:r>
            <a:r>
              <a:rPr lang="en-IN" sz="2600" dirty="0"/>
              <a:t>: </a:t>
            </a:r>
            <a:r>
              <a:rPr lang="en-IN" sz="2600" dirty="0" err="1"/>
              <a:t>iomanip</a:t>
            </a:r>
            <a:r>
              <a:rPr lang="en-IN" sz="2600" dirty="0"/>
              <a:t> stands for input output manipulators. The methods declared in this files are used for manipulating streams. This file contains definitions of </a:t>
            </a:r>
            <a:r>
              <a:rPr lang="en-IN" sz="2600" dirty="0" err="1"/>
              <a:t>setw</a:t>
            </a:r>
            <a:r>
              <a:rPr lang="en-IN" sz="2600" dirty="0"/>
              <a:t>, </a:t>
            </a:r>
            <a:r>
              <a:rPr lang="en-IN" sz="2600" dirty="0" err="1"/>
              <a:t>setprecision</a:t>
            </a:r>
            <a:r>
              <a:rPr lang="en-IN" sz="2600" dirty="0"/>
              <a:t>, etc.</a:t>
            </a:r>
          </a:p>
          <a:p>
            <a:r>
              <a:rPr lang="en-IN" sz="2600" b="1" dirty="0" err="1"/>
              <a:t>fstream</a:t>
            </a:r>
            <a:r>
              <a:rPr lang="en-IN" sz="2600" dirty="0"/>
              <a:t>: This header file mainly describes the file stream. This header file is used to handle the data being read from a file as input or data being written into the file as output.</a:t>
            </a:r>
          </a:p>
          <a:p>
            <a:endParaRPr lang="en-IN" sz="2600" dirty="0"/>
          </a:p>
          <a:p>
            <a:r>
              <a:rPr lang="en-IN" sz="2600" dirty="0"/>
              <a:t>The two keywords </a:t>
            </a:r>
            <a:r>
              <a:rPr lang="en-IN" sz="2600" dirty="0" err="1"/>
              <a:t>cout</a:t>
            </a:r>
            <a:r>
              <a:rPr lang="en-IN" sz="2600" dirty="0"/>
              <a:t> and </a:t>
            </a:r>
            <a:r>
              <a:rPr lang="en-IN" sz="2600" dirty="0" err="1"/>
              <a:t>cin</a:t>
            </a:r>
            <a:r>
              <a:rPr lang="en-IN" sz="2600" dirty="0"/>
              <a:t> in C++ are used very often for printing outputs and taking inputs respectively. These two are the most basic methods of taking input and printing output in C++. To use </a:t>
            </a:r>
            <a:r>
              <a:rPr lang="en-IN" sz="2600" dirty="0" err="1"/>
              <a:t>cin</a:t>
            </a:r>
            <a:r>
              <a:rPr lang="en-IN" sz="2600" dirty="0"/>
              <a:t> and </a:t>
            </a:r>
            <a:r>
              <a:rPr lang="en-IN" sz="2600" dirty="0" err="1"/>
              <a:t>cout</a:t>
            </a:r>
            <a:r>
              <a:rPr lang="en-IN" sz="2600" dirty="0"/>
              <a:t> in C++ one must include the header file iostream in the program.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4101-7B0D-49BF-9028-16DFCEB7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3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671C-F2FE-47B8-B9F3-9F72A3E7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474"/>
            <a:ext cx="10515600" cy="58484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/>
              <a:t>Standard output stream (</a:t>
            </a:r>
            <a:r>
              <a:rPr lang="en-IN" sz="2600" b="1" dirty="0" err="1"/>
              <a:t>cout</a:t>
            </a:r>
            <a:r>
              <a:rPr lang="en-IN" sz="2600" b="1" dirty="0"/>
              <a:t>): </a:t>
            </a:r>
          </a:p>
          <a:p>
            <a:r>
              <a:rPr lang="en-IN" sz="2600" dirty="0"/>
              <a:t>Usually the standard output device is the display screen. </a:t>
            </a:r>
          </a:p>
          <a:p>
            <a:r>
              <a:rPr lang="en-IN" sz="2600" dirty="0"/>
              <a:t>The C++ </a:t>
            </a:r>
            <a:r>
              <a:rPr lang="en-IN" sz="2600" dirty="0" err="1"/>
              <a:t>cout</a:t>
            </a:r>
            <a:r>
              <a:rPr lang="en-IN" sz="2600" dirty="0"/>
              <a:t> statement is the instance of the </a:t>
            </a:r>
            <a:r>
              <a:rPr lang="en-IN" sz="2600" dirty="0" err="1"/>
              <a:t>ostream</a:t>
            </a:r>
            <a:r>
              <a:rPr lang="en-IN" sz="2600" dirty="0"/>
              <a:t> class. </a:t>
            </a:r>
          </a:p>
          <a:p>
            <a:r>
              <a:rPr lang="en-IN" sz="2600" dirty="0"/>
              <a:t>It is used to produce output on the standard output device which is usually the display screen. </a:t>
            </a:r>
          </a:p>
          <a:p>
            <a:r>
              <a:rPr lang="en-IN" sz="2600" dirty="0"/>
              <a:t>The data needed to be displayed on the screen is inserted in the standard output stream (</a:t>
            </a:r>
            <a:r>
              <a:rPr lang="en-IN" sz="2600" dirty="0" err="1"/>
              <a:t>cout</a:t>
            </a:r>
            <a:r>
              <a:rPr lang="en-IN" sz="2600" dirty="0"/>
              <a:t>) using the insertion operator(&lt;&lt;).</a:t>
            </a:r>
          </a:p>
          <a:p>
            <a:r>
              <a:rPr lang="en-IN" sz="2600" b="1" dirty="0"/>
              <a:t>Example: </a:t>
            </a:r>
          </a:p>
          <a:p>
            <a:pPr marL="457200" lvl="1" indent="0">
              <a:buNone/>
            </a:pPr>
            <a:r>
              <a:rPr lang="en-IN" sz="2200" dirty="0"/>
              <a:t>#include &lt;iostream&gt; </a:t>
            </a:r>
          </a:p>
          <a:p>
            <a:pPr marL="457200" lvl="1" indent="0">
              <a:buNone/>
            </a:pPr>
            <a:r>
              <a:rPr lang="en-IN" sz="2200" dirty="0"/>
              <a:t>using namespace std; </a:t>
            </a:r>
          </a:p>
          <a:p>
            <a:pPr marL="457200" lvl="1" indent="0">
              <a:buNone/>
            </a:pPr>
            <a:r>
              <a:rPr lang="en-IN" sz="2200" dirty="0"/>
              <a:t>int main() </a:t>
            </a:r>
          </a:p>
          <a:p>
            <a:pPr marL="457200" lvl="1" indent="0">
              <a:buNone/>
            </a:pPr>
            <a:r>
              <a:rPr lang="en-IN" sz="2200" dirty="0"/>
              <a:t>{ </a:t>
            </a:r>
          </a:p>
          <a:p>
            <a:pPr marL="457200" lvl="1" indent="0">
              <a:buNone/>
            </a:pPr>
            <a:r>
              <a:rPr lang="en-IN" sz="2200" dirty="0"/>
              <a:t>    char sample[] = "</a:t>
            </a:r>
            <a:r>
              <a:rPr lang="en-IN" sz="2200" dirty="0" err="1"/>
              <a:t>GeeksforGeeks</a:t>
            </a:r>
            <a:r>
              <a:rPr lang="en-IN" sz="2200" dirty="0"/>
              <a:t>"; </a:t>
            </a:r>
          </a:p>
          <a:p>
            <a:pPr marL="457200" lvl="1" indent="0">
              <a:buNone/>
            </a:pPr>
            <a:r>
              <a:rPr lang="en-IN" sz="2200" dirty="0"/>
              <a:t>    </a:t>
            </a:r>
            <a:r>
              <a:rPr lang="en-IN" sz="2200" dirty="0" err="1"/>
              <a:t>cout</a:t>
            </a:r>
            <a:r>
              <a:rPr lang="en-IN" sz="2200" dirty="0"/>
              <a:t> &lt;&lt; sample &lt;&lt; " - A computer science portal for geeks"; </a:t>
            </a:r>
          </a:p>
          <a:p>
            <a:pPr marL="457200" lvl="1" indent="0">
              <a:buNone/>
            </a:pPr>
            <a:r>
              <a:rPr lang="en-IN" sz="2200" dirty="0"/>
              <a:t>    return 0; </a:t>
            </a:r>
          </a:p>
          <a:p>
            <a:pPr marL="457200" lvl="1" indent="0">
              <a:buNone/>
            </a:pPr>
            <a:r>
              <a:rPr lang="en-IN" sz="2200" dirty="0"/>
              <a:t>}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4101-7B0D-49BF-9028-16DFCEB7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0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671C-F2FE-47B8-B9F3-9F72A3E7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474"/>
            <a:ext cx="10515600" cy="58484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dirty="0"/>
              <a:t>Standard input stream (</a:t>
            </a:r>
            <a:r>
              <a:rPr lang="en-IN" sz="2600" b="1" dirty="0" err="1"/>
              <a:t>cin</a:t>
            </a:r>
            <a:r>
              <a:rPr lang="en-IN" sz="2600" b="1" dirty="0"/>
              <a:t>): </a:t>
            </a:r>
          </a:p>
          <a:p>
            <a:r>
              <a:rPr lang="en-IN" sz="2600" dirty="0"/>
              <a:t>Usually the input device in a computer is the keyboard. </a:t>
            </a:r>
          </a:p>
          <a:p>
            <a:r>
              <a:rPr lang="en-IN" sz="2600" dirty="0"/>
              <a:t>C++ </a:t>
            </a:r>
            <a:r>
              <a:rPr lang="en-IN" sz="2600" dirty="0" err="1"/>
              <a:t>cin</a:t>
            </a:r>
            <a:r>
              <a:rPr lang="en-IN" sz="2600" dirty="0"/>
              <a:t> statement is the instance of the class </a:t>
            </a:r>
            <a:r>
              <a:rPr lang="en-IN" sz="2600" dirty="0" err="1"/>
              <a:t>istream</a:t>
            </a:r>
            <a:r>
              <a:rPr lang="en-IN" sz="2600" dirty="0"/>
              <a:t> and is used to read input from the standard input device which is usually a keyboard.</a:t>
            </a:r>
          </a:p>
          <a:p>
            <a:r>
              <a:rPr lang="en-IN" sz="2600" dirty="0"/>
              <a:t>The extraction operator(&gt;&gt;) is used along with the object </a:t>
            </a:r>
            <a:r>
              <a:rPr lang="en-IN" sz="2600" dirty="0" err="1"/>
              <a:t>cin</a:t>
            </a:r>
            <a:r>
              <a:rPr lang="en-IN" sz="2600" dirty="0"/>
              <a:t> for reading inputs. </a:t>
            </a:r>
          </a:p>
          <a:p>
            <a:r>
              <a:rPr lang="en-IN" sz="2600" dirty="0"/>
              <a:t>The extraction operator extracts the data from the object </a:t>
            </a:r>
            <a:r>
              <a:rPr lang="en-IN" sz="2600" dirty="0" err="1"/>
              <a:t>cin</a:t>
            </a:r>
            <a:r>
              <a:rPr lang="en-IN" sz="2600" dirty="0"/>
              <a:t> which is entered using the keyboard.</a:t>
            </a:r>
          </a:p>
          <a:p>
            <a:r>
              <a:rPr lang="en-IN" sz="2600" dirty="0"/>
              <a:t>Example:</a:t>
            </a:r>
          </a:p>
          <a:p>
            <a:pPr marL="457200" lvl="1" indent="0">
              <a:buNone/>
            </a:pPr>
            <a:r>
              <a:rPr lang="en-IN" sz="2200" dirty="0"/>
              <a:t>#include &lt;iostream&gt; </a:t>
            </a:r>
          </a:p>
          <a:p>
            <a:pPr marL="457200" lvl="1" indent="0">
              <a:buNone/>
            </a:pPr>
            <a:r>
              <a:rPr lang="en-IN" sz="2200" dirty="0"/>
              <a:t>using namespace std; </a:t>
            </a:r>
          </a:p>
          <a:p>
            <a:pPr marL="457200" lvl="1" indent="0">
              <a:buNone/>
            </a:pPr>
            <a:r>
              <a:rPr lang="en-IN" sz="2200" dirty="0"/>
              <a:t>int main() </a:t>
            </a:r>
          </a:p>
          <a:p>
            <a:pPr marL="457200" lvl="1" indent="0">
              <a:buNone/>
            </a:pPr>
            <a:r>
              <a:rPr lang="en-IN" sz="2200" dirty="0"/>
              <a:t>{ </a:t>
            </a:r>
          </a:p>
          <a:p>
            <a:pPr marL="457200" lvl="1" indent="0">
              <a:buNone/>
            </a:pPr>
            <a:r>
              <a:rPr lang="en-IN" sz="2200" dirty="0"/>
              <a:t>    int age; </a:t>
            </a:r>
          </a:p>
          <a:p>
            <a:pPr marL="457200" lvl="1" indent="0">
              <a:buNone/>
            </a:pPr>
            <a:r>
              <a:rPr lang="en-IN" sz="2200" dirty="0"/>
              <a:t>    </a:t>
            </a:r>
            <a:r>
              <a:rPr lang="en-IN" sz="2200" dirty="0" err="1"/>
              <a:t>cout</a:t>
            </a:r>
            <a:r>
              <a:rPr lang="en-IN" sz="2200" dirty="0"/>
              <a:t> &lt;&lt; "Enter your age:"; </a:t>
            </a:r>
          </a:p>
          <a:p>
            <a:pPr marL="457200" lvl="1" indent="0">
              <a:buNone/>
            </a:pPr>
            <a:r>
              <a:rPr lang="en-IN" sz="2200" dirty="0"/>
              <a:t>    </a:t>
            </a:r>
            <a:r>
              <a:rPr lang="en-IN" sz="2200" dirty="0" err="1"/>
              <a:t>cin</a:t>
            </a:r>
            <a:r>
              <a:rPr lang="en-IN" sz="2200" dirty="0"/>
              <a:t> &gt;&gt; age; </a:t>
            </a:r>
          </a:p>
          <a:p>
            <a:pPr marL="457200" lvl="1" indent="0">
              <a:buNone/>
            </a:pPr>
            <a:r>
              <a:rPr lang="en-IN" sz="2200" dirty="0"/>
              <a:t>    </a:t>
            </a:r>
            <a:r>
              <a:rPr lang="en-IN" sz="2200" dirty="0" err="1"/>
              <a:t>cout</a:t>
            </a:r>
            <a:r>
              <a:rPr lang="en-IN" sz="2200" dirty="0"/>
              <a:t> &lt;&lt; "\</a:t>
            </a:r>
            <a:r>
              <a:rPr lang="en-IN" sz="2200" dirty="0" err="1"/>
              <a:t>nYour</a:t>
            </a:r>
            <a:r>
              <a:rPr lang="en-IN" sz="2200" dirty="0"/>
              <a:t> age is: " &lt;&lt; age; </a:t>
            </a:r>
          </a:p>
          <a:p>
            <a:pPr marL="457200" lvl="1" indent="0">
              <a:buNone/>
            </a:pPr>
            <a:r>
              <a:rPr lang="en-IN" sz="2200" dirty="0"/>
              <a:t>    return 0; </a:t>
            </a:r>
          </a:p>
          <a:p>
            <a:pPr marL="457200" lvl="1" indent="0">
              <a:buNone/>
            </a:pPr>
            <a:r>
              <a:rPr lang="en-IN" sz="2200" dirty="0"/>
              <a:t>}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4101-7B0D-49BF-9028-16DFCEB7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9E2-FFA9-470D-8177-51DABEE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1152525"/>
            <a:ext cx="11510904" cy="534035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74E6-5593-499A-999A-A8E6BFB2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63100" y="6675756"/>
            <a:ext cx="2050344" cy="45719"/>
          </a:xfrm>
        </p:spPr>
        <p:txBody>
          <a:bodyPr/>
          <a:lstStyle/>
          <a:p>
            <a:fld id="{BDCDBBEF-AA6C-4BA6-85B2-A17D7F280E38}" type="slidenum">
              <a:rPr lang="en-US" sz="1400" smtClean="0"/>
              <a:pPr/>
              <a:t>10</a:t>
            </a:fld>
            <a:endParaRPr lang="en-US" sz="1400" dirty="0"/>
          </a:p>
        </p:txBody>
      </p:sp>
      <p:sp>
        <p:nvSpPr>
          <p:cNvPr id="5" name="Flowchart: Sequential Access Storage 4">
            <a:extLst>
              <a:ext uri="{FF2B5EF4-FFF2-40B4-BE49-F238E27FC236}">
                <a16:creationId xmlns:a16="http://schemas.microsoft.com/office/drawing/2014/main" id="{A9A974E1-239B-41FB-8D6A-D0A9F00EB13D}"/>
              </a:ext>
            </a:extLst>
          </p:cNvPr>
          <p:cNvSpPr/>
          <p:nvPr/>
        </p:nvSpPr>
        <p:spPr>
          <a:xfrm>
            <a:off x="1003852" y="138734"/>
            <a:ext cx="2643809" cy="1013791"/>
          </a:xfrm>
          <a:prstGeom prst="flowChartMagneticTap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Summary</a:t>
            </a:r>
            <a:endParaRPr lang="en-IN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F6A135-B6D5-40B7-BF67-2E0F4EF47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874499"/>
              </p:ext>
            </p:extLst>
          </p:nvPr>
        </p:nvGraphicFramePr>
        <p:xfrm>
          <a:off x="2088671" y="1300599"/>
          <a:ext cx="88973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87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E2F6-A89B-465A-A1BD-AB3595FE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Frequently Asked question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6E3E-5DF9-4790-B5C6-ECD785B8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1690688"/>
            <a:ext cx="11443251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Q1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difference between structure and class?</a:t>
            </a:r>
          </a:p>
          <a:p>
            <a:pPr marL="0" indent="0" algn="just"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C++ is an object oriented language that mainly focuses on objects. A class in C++ can be defined as a collection of related variables and functions encapsulated in a single structure. Instances of the class are termed as objects. A structure in C++ can be referred to as an user defined data type possessing its own operations. Unlike in the C language, they both are quite similar in C++. The main difference that exists between them is regarding the access modifier; the members of a class are private by default, whereas members of a struct are public by default. </a:t>
            </a:r>
          </a:p>
          <a:p>
            <a:pPr marL="0" indent="0" algn="just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class in C++ is just an extension of a structure used in the C language. It is a user defined data type. It actually binds the data and its related functions in one unit. A structure and a class in C language differs a lot as a structure has limited functionality and features as compared to a class. On the other hand, structure and class in C++ are quite similar. The main difference arises due to the fact that by default, all the members of a class are private, whereas by default all the members of a structure are public.</a:t>
            </a:r>
          </a:p>
          <a:p>
            <a:pPr marL="0" indent="0" algn="just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Structure is also a user defined data type with a certain template. It is generally used for grouping of logically related data items. After the creation of a structure, the variables pertaining to the type of structure can be defined and used. A structure is used to represent a record. In C++, a structure can have both data members and functions as classes. Many people find it difficult to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differenciate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between a class and a structure. Technically they both are regarded as the same in C++.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4B594-F373-4FAE-A658-17A4132BD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200"/>
            <a:ext cx="10515600" cy="5338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Q2 </a:t>
            </a:r>
            <a:r>
              <a:rPr lang="en-IN" dirty="0"/>
              <a:t>What are the various I/O in C++?</a:t>
            </a:r>
          </a:p>
          <a:p>
            <a:pPr marL="0" indent="0">
              <a:buNone/>
            </a:pPr>
            <a:r>
              <a:rPr lang="en-IN" dirty="0"/>
              <a:t>Answer: C++ comes with libraries that provide us with many ways for performing input and output. In C++ input and output are performed in the form of a sequence of bytes or more commonly known as streams.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Input Stream: If the direction of flow of bytes is from the device(for example, Keyboard) to the main memory then this process is called input.</a:t>
            </a:r>
          </a:p>
          <a:p>
            <a:pPr marL="0" indent="0">
              <a:buNone/>
            </a:pPr>
            <a:r>
              <a:rPr lang="en-IN" dirty="0"/>
              <a:t>Output Stream: If the direction of flow of bytes is opposite, i.e. from main memory to device( display screen ) then this process is called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9BC22-1010-4A54-ACD6-4D30AA9A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0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BE98-18FB-4FB3-8B9F-0C785AB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Questions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94DC-3131-4CF1-80DA-F51EC2F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9F1566-03CD-417B-B4D0-B0BF250D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01774"/>
            <a:ext cx="10515600" cy="48545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200" dirty="0">
                <a:solidFill>
                  <a:srgbClr val="C00000"/>
                </a:solidFill>
              </a:rPr>
              <a:t>1. </a:t>
            </a:r>
            <a:r>
              <a:rPr lang="en-IN" sz="6200" dirty="0">
                <a:solidFill>
                  <a:srgbClr val="C00000"/>
                </a:solidFill>
              </a:rPr>
              <a:t>What is size of void in bytes?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(A) 1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(B) 2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(C) 4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(D) 0</a:t>
            </a:r>
            <a:r>
              <a:rPr lang="en-US" sz="6200" dirty="0">
                <a:solidFill>
                  <a:srgbClr val="C00000"/>
                </a:solidFill>
              </a:rPr>
              <a:t/>
            </a:r>
            <a:br>
              <a:rPr lang="en-US" sz="6200" dirty="0">
                <a:solidFill>
                  <a:srgbClr val="C00000"/>
                </a:solidFill>
              </a:rPr>
            </a:br>
            <a:endParaRPr lang="en-US" sz="6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6200" dirty="0">
                <a:solidFill>
                  <a:srgbClr val="C00000"/>
                </a:solidFill>
              </a:rPr>
              <a:t>2. </a:t>
            </a:r>
            <a:r>
              <a:rPr lang="en-IN" sz="6200" dirty="0">
                <a:solidFill>
                  <a:srgbClr val="C00000"/>
                </a:solidFill>
              </a:rPr>
              <a:t>What is the size of empty class?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(A) 0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(B) 1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(C) 2</a:t>
            </a:r>
          </a:p>
          <a:p>
            <a:pPr marL="0" indent="0">
              <a:buNone/>
            </a:pPr>
            <a:r>
              <a:rPr lang="pt-BR" sz="6200" dirty="0">
                <a:solidFill>
                  <a:srgbClr val="C00000"/>
                </a:solidFill>
              </a:rPr>
              <a:t>(D) 4</a:t>
            </a:r>
            <a:r>
              <a:rPr lang="en-US" sz="6200" dirty="0">
                <a:solidFill>
                  <a:srgbClr val="C00000"/>
                </a:solidFill>
              </a:rPr>
              <a:t/>
            </a:r>
            <a:br>
              <a:rPr lang="en-US" sz="6200" dirty="0">
                <a:solidFill>
                  <a:srgbClr val="C00000"/>
                </a:solidFill>
              </a:rPr>
            </a:br>
            <a:endParaRPr lang="en-US" sz="6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6200" dirty="0">
                <a:solidFill>
                  <a:srgbClr val="C00000"/>
                </a:solidFill>
              </a:rPr>
              <a:t>3. </a:t>
            </a:r>
            <a:r>
              <a:rPr lang="en-IN" sz="6200" dirty="0">
                <a:solidFill>
                  <a:srgbClr val="C00000"/>
                </a:solidFill>
              </a:rPr>
              <a:t>Which is not an integer data type?</a:t>
            </a:r>
          </a:p>
          <a:p>
            <a:pPr marL="0" indent="0">
              <a:buNone/>
            </a:pPr>
            <a:r>
              <a:rPr lang="en-IN" sz="6200" dirty="0">
                <a:solidFill>
                  <a:srgbClr val="C00000"/>
                </a:solidFill>
              </a:rPr>
              <a:t>(A) Single</a:t>
            </a:r>
          </a:p>
          <a:p>
            <a:pPr marL="0" indent="0">
              <a:buNone/>
            </a:pPr>
            <a:r>
              <a:rPr lang="en-IN" sz="6200" dirty="0">
                <a:solidFill>
                  <a:srgbClr val="C00000"/>
                </a:solidFill>
              </a:rPr>
              <a:t>(B) Byte</a:t>
            </a:r>
          </a:p>
          <a:p>
            <a:pPr marL="0" indent="0">
              <a:buNone/>
            </a:pPr>
            <a:r>
              <a:rPr lang="en-IN" sz="6200" dirty="0">
                <a:solidFill>
                  <a:srgbClr val="C00000"/>
                </a:solidFill>
              </a:rPr>
              <a:t>(C) Short</a:t>
            </a:r>
          </a:p>
          <a:p>
            <a:pPr marL="0" indent="0">
              <a:buNone/>
            </a:pPr>
            <a:r>
              <a:rPr lang="en-IN" sz="6200" dirty="0">
                <a:solidFill>
                  <a:srgbClr val="C00000"/>
                </a:solidFill>
              </a:rPr>
              <a:t>(D) Integer</a:t>
            </a:r>
            <a:r>
              <a:rPr lang="en-US" sz="6200" dirty="0">
                <a:solidFill>
                  <a:srgbClr val="C00000"/>
                </a:solidFill>
              </a:rPr>
              <a:t/>
            </a:r>
            <a:br>
              <a:rPr lang="en-US" sz="6200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4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1E3-02DA-4066-9127-2B9D821C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forum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FD90-1CA1-4A43-803B-2F922D4B9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061" y="894112"/>
            <a:ext cx="10687878" cy="3363084"/>
          </a:xfrm>
        </p:spPr>
        <p:txBody>
          <a:bodyPr/>
          <a:lstStyle/>
          <a:p>
            <a:endParaRPr lang="en-IN" dirty="0"/>
          </a:p>
          <a:p>
            <a:pPr marL="0" indent="0">
              <a:buNone/>
            </a:pPr>
            <a:r>
              <a:rPr lang="en-IN" dirty="0"/>
              <a:t>A deeper dive into Data Types in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FB7C1-5531-4CBA-AA56-069AD25E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6B93F-AE56-4538-971E-9E2B9276A0B1}"/>
              </a:ext>
            </a:extLst>
          </p:cNvPr>
          <p:cNvSpPr/>
          <p:nvPr/>
        </p:nvSpPr>
        <p:spPr>
          <a:xfrm>
            <a:off x="2862470" y="3838853"/>
            <a:ext cx="7253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41188ABF-04C6-4D24-AE32-F9EFFF363BA6}"/>
              </a:ext>
            </a:extLst>
          </p:cNvPr>
          <p:cNvSpPr/>
          <p:nvPr/>
        </p:nvSpPr>
        <p:spPr>
          <a:xfrm>
            <a:off x="3129170" y="2392362"/>
            <a:ext cx="795130" cy="98397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D0BF2-3FB6-44C3-90B3-B15DC7D0C72E}"/>
              </a:ext>
            </a:extLst>
          </p:cNvPr>
          <p:cNvSpPr/>
          <p:nvPr/>
        </p:nvSpPr>
        <p:spPr>
          <a:xfrm>
            <a:off x="752061" y="3250832"/>
            <a:ext cx="65975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https://www.youtube.com/watch?v=qa960QezGDE</a:t>
            </a:r>
          </a:p>
        </p:txBody>
      </p:sp>
    </p:spTree>
    <p:extLst>
      <p:ext uri="{BB962C8B-B14F-4D97-AF65-F5344CB8AC3E}">
        <p14:creationId xmlns:p14="http://schemas.microsoft.com/office/powerpoint/2010/main" val="17302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377" y="1276349"/>
            <a:ext cx="7162800" cy="54451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b="1" dirty="0"/>
              <a:t>TEXT BOOKS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T1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lang="en-IN" sz="1800" b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Balagurusamy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., “Object Oriented Programming in C++”, Tata McGraw-Hill.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T2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Robert </a:t>
            </a:r>
            <a:r>
              <a:rPr lang="en-IN" sz="1800" b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Lafore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“Object Oriented Programming in C++”, Waite Group. </a:t>
            </a:r>
          </a:p>
          <a:p>
            <a:pPr marL="0" indent="0">
              <a:buNone/>
            </a:pPr>
            <a:r>
              <a:rPr lang="en-IN" b="1" dirty="0"/>
              <a:t>REFERENCE BOOKS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R1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Herbert </a:t>
            </a:r>
            <a:r>
              <a:rPr lang="en-IN" sz="1800" b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Schildt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, “C++- The Complete Reference”, Tata McGraw-Hill 2003, New Delhi.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R2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Bjarne </a:t>
            </a:r>
            <a:r>
              <a:rPr lang="en-IN" sz="1800" b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Stroustrup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“The C++ Programming Language” (4th Edition). Addison-Wesley.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R3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Ravichandran , “Programming with C++”,Tata McGraw-Hill Education.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R4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Joyce M. Farrell,” Object Oriented Programming Using C++”, Learning.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R5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Programming Languages: Design and Implementation (4th Edition), by Terrence W. Pratt, Marvin V. </a:t>
            </a:r>
            <a:r>
              <a:rPr lang="en-IN" sz="1800" b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Zelkowitz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Pearson. </a:t>
            </a:r>
          </a:p>
          <a:p>
            <a:pPr marL="0" indent="0">
              <a:buNone/>
            </a:pPr>
            <a:r>
              <a:rPr lang="en-IN" sz="1800" b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R6 </a:t>
            </a:r>
            <a:r>
              <a:rPr lang="en-IN" sz="18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Programming Language Pragmatics, Third Edition, by Michael L. Scott, Morgan Kaufmann.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b="1" dirty="0"/>
              <a:t>Websites: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  <a:hlinkClick r:id="rId3"/>
              </a:rPr>
              <a:t>https://www.tutorialspoint.com/What-is-the-difference-between-cin-and-cout-streams-in-cplusplus#:~:text=cin%20is%20an%20object%20of,They%20also%20use%20different%20operators</a:t>
            </a: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  <a:hlinkClick r:id="rId4"/>
              </a:rPr>
              <a:t>https://www.geeksforgeeks.org/basic-input-output-c/</a:t>
            </a: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  <a:hlinkClick r:id="rId5"/>
              </a:rPr>
              <a:t>http://www.differencebetween.info/difference-between-class-and-structure-in-cplusplus</a:t>
            </a: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  <a:hlinkClick r:id="rId6"/>
              </a:rPr>
              <a:t>https://www.programiz.com/cpp-programming/data-types</a:t>
            </a: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  <a:hlinkClick r:id="rId7"/>
              </a:rPr>
              <a:t>https://www.cppbuzz.com/interview-questions-on-datatype-in-c</a:t>
            </a:r>
            <a:r>
              <a:rPr lang="en-US" sz="1600" dirty="0">
                <a:latin typeface="Casper" panose="02000506000000020004" pitchFamily="2" charset="0"/>
                <a:cs typeface="Arial" panose="020B0604020202020204" pitchFamily="34" charset="0"/>
              </a:rPr>
              <a:t>++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7162800" cy="4368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912" y="1666923"/>
            <a:ext cx="3352800" cy="39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1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310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C0F5EB19-77B9-4540-B06A-F2C718D084BF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2 Algorithm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2262</TotalTime>
  <Words>1306</Words>
  <Application>Microsoft Office PowerPoint</Application>
  <PresentationFormat>Widescreen</PresentationFormat>
  <Paragraphs>162</Paragraphs>
  <Slides>16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Raleway ExtraBold</vt:lpstr>
      <vt:lpstr>Segoe UI</vt:lpstr>
      <vt:lpstr>Times New Roman</vt:lpstr>
      <vt:lpstr>1_Office Theme</vt:lpstr>
      <vt:lpstr>Contents Slide Master</vt:lpstr>
      <vt:lpstr>CorelDRAW</vt:lpstr>
      <vt:lpstr>PowerPoint Presentation</vt:lpstr>
      <vt:lpstr>Basic Data Structure Using C++</vt:lpstr>
      <vt:lpstr>PowerPoint Presentation</vt:lpstr>
      <vt:lpstr> Scheme of Evaluation  </vt:lpstr>
      <vt:lpstr>CONTENTS </vt:lpstr>
      <vt:lpstr>Input and output streams (cin, cout)</vt:lpstr>
      <vt:lpstr>PowerPoint Presentation</vt:lpstr>
      <vt:lpstr>PowerPoint Presentation</vt:lpstr>
      <vt:lpstr>PowerPoint Presentation</vt:lpstr>
      <vt:lpstr>PowerPoint Presentation</vt:lpstr>
      <vt:lpstr>Frequently Asked question</vt:lpstr>
      <vt:lpstr>PowerPoint Presentation</vt:lpstr>
      <vt:lpstr>Assessment Questions:</vt:lpstr>
      <vt:lpstr>Discussion forum.</vt:lpstr>
      <vt:lpstr>REFERENCES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Algorithm</dc:title>
  <dc:creator>Branding</dc:creator>
  <cp:lastModifiedBy>nishu</cp:lastModifiedBy>
  <cp:revision>237</cp:revision>
  <dcterms:created xsi:type="dcterms:W3CDTF">2019-01-09T10:33:58Z</dcterms:created>
  <dcterms:modified xsi:type="dcterms:W3CDTF">2023-12-04T10:36:39Z</dcterms:modified>
</cp:coreProperties>
</file>