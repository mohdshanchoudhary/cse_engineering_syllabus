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7"/>
  </p:notesMasterIdLst>
  <p:handoutMasterIdLst>
    <p:handoutMasterId r:id="rId28"/>
  </p:handoutMasterIdLst>
  <p:sldIdLst>
    <p:sldId id="354" r:id="rId3"/>
    <p:sldId id="395" r:id="rId4"/>
    <p:sldId id="358" r:id="rId5"/>
    <p:sldId id="396" r:id="rId6"/>
    <p:sldId id="394" r:id="rId7"/>
    <p:sldId id="281" r:id="rId8"/>
    <p:sldId id="328" r:id="rId9"/>
    <p:sldId id="365" r:id="rId10"/>
    <p:sldId id="383" r:id="rId11"/>
    <p:sldId id="379" r:id="rId12"/>
    <p:sldId id="397" r:id="rId13"/>
    <p:sldId id="387" r:id="rId14"/>
    <p:sldId id="381" r:id="rId15"/>
    <p:sldId id="388" r:id="rId16"/>
    <p:sldId id="390" r:id="rId17"/>
    <p:sldId id="389" r:id="rId18"/>
    <p:sldId id="398" r:id="rId19"/>
    <p:sldId id="399" r:id="rId20"/>
    <p:sldId id="351" r:id="rId21"/>
    <p:sldId id="359" r:id="rId22"/>
    <p:sldId id="329" r:id="rId23"/>
    <p:sldId id="352" r:id="rId24"/>
    <p:sldId id="284" r:id="rId25"/>
    <p:sldId id="353" r:id="rId26"/>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434" autoAdjust="0"/>
  </p:normalViewPr>
  <p:slideViewPr>
    <p:cSldViewPr snapToGrid="0">
      <p:cViewPr>
        <p:scale>
          <a:sx n="66" d="100"/>
          <a:sy n="66" d="100"/>
        </p:scale>
        <p:origin x="592" y="32"/>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616774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407415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726437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811757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access-modifiers-in-c/"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youtu.be/6Q0Cff29YwU"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tutorialspoint.com/cplusplus/cpp_classes_objects.htm" TargetMode="External"/><Relationship Id="rId7"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youtu.be/n9Ej2J0m4a0" TargetMode="External"/><Relationship Id="rId5" Type="http://schemas.openxmlformats.org/officeDocument/2006/relationships/hyperlink" Target="https://youtu.be/6Q0Cff29YwU" TargetMode="External"/><Relationship Id="rId4" Type="http://schemas.openxmlformats.org/officeDocument/2006/relationships/hyperlink" Target="https://www.w3schools.com/cpp/cpp_classes.asp" TargetMode="Externa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0" name="Picture 5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a:xfrm>
            <a:off x="3206904" y="397418"/>
            <a:ext cx="6172200" cy="4873625"/>
          </a:xfrm>
        </p:spPr>
        <p:txBody>
          <a:bodyPr>
            <a:normAutofit/>
          </a:bodyPr>
          <a:lstStyle/>
          <a:p>
            <a:pPr marL="0" lvl="0" indent="0">
              <a:buNone/>
            </a:pP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a:bodyPr>
          <a:lstStyle/>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ext uri="{D42A27DB-BD31-4B8C-83A1-F6EECF244321}">
                <p14:modId xmlns:p14="http://schemas.microsoft.com/office/powerpoint/2010/main" val="309119461"/>
              </p:ext>
            </p:extLst>
          </p:nvPr>
        </p:nvGraphicFramePr>
        <p:xfrm>
          <a:off x="119133" y="4308909"/>
          <a:ext cx="7752657" cy="85344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1245924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endParaRPr lang="en-US" dirty="0"/>
          </a:p>
        </p:txBody>
      </p:sp>
      <p:sp>
        <p:nvSpPr>
          <p:cNvPr id="5" name="TextBox 4">
            <a:extLst>
              <a:ext uri="{FF2B5EF4-FFF2-40B4-BE49-F238E27FC236}">
                <a16:creationId xmlns:a16="http://schemas.microsoft.com/office/drawing/2014/main" id="{A5F5E4B6-2F2D-4512-A3F8-BF729BD8C562}"/>
              </a:ext>
            </a:extLst>
          </p:cNvPr>
          <p:cNvSpPr txBox="1"/>
          <p:nvPr/>
        </p:nvSpPr>
        <p:spPr>
          <a:xfrm>
            <a:off x="145181" y="933770"/>
            <a:ext cx="11702690" cy="6001643"/>
          </a:xfrm>
          <a:prstGeom prst="rect">
            <a:avLst/>
          </a:prstGeom>
          <a:noFill/>
        </p:spPr>
        <p:txBody>
          <a:bodyPr wrap="square" rtlCol="0">
            <a:spAutoFit/>
          </a:bodyPr>
          <a:lstStyle/>
          <a:p>
            <a:pPr algn="l" fontAlgn="base"/>
            <a:r>
              <a:rPr lang="en-US" sz="2400" b="1" i="0" dirty="0">
                <a:solidFill>
                  <a:srgbClr val="273239"/>
                </a:solidFill>
                <a:effectLst/>
                <a:latin typeface="Nunito" panose="020F0502020204030204" pitchFamily="2" charset="0"/>
              </a:rPr>
              <a:t>Class in C++</a:t>
            </a:r>
            <a:r>
              <a:rPr lang="en-US" sz="2400" b="0" i="0" dirty="0">
                <a:solidFill>
                  <a:srgbClr val="273239"/>
                </a:solidFill>
                <a:effectLst/>
                <a:latin typeface="Nunito" panose="020F0502020204030204" pitchFamily="2" charset="0"/>
              </a:rPr>
              <a:t> is the building block that leads to Object-Oriented programming. It is a user-defined data type, which holds its own data members and member functions, which can be accessed and used by creating an instance of that class. A C++ class is like a blueprint for an object. For Example: Consider the Class of </a:t>
            </a:r>
            <a:r>
              <a:rPr lang="en-US" sz="2400" b="1" i="0" dirty="0">
                <a:solidFill>
                  <a:srgbClr val="273239"/>
                </a:solidFill>
                <a:effectLst/>
                <a:latin typeface="Nunito" panose="020F0502020204030204" pitchFamily="2" charset="0"/>
              </a:rPr>
              <a:t>Cars</a:t>
            </a:r>
            <a:r>
              <a:rPr lang="en-US" sz="2400" b="0" i="0" dirty="0">
                <a:solidFill>
                  <a:srgbClr val="273239"/>
                </a:solidFill>
                <a:effectLst/>
                <a:latin typeface="Nunito" panose="020F0502020204030204" pitchFamily="2" charset="0"/>
              </a:rPr>
              <a:t>. There may be many cars with different names and brands but all of them will share some common properties like all of them will have </a:t>
            </a:r>
            <a:r>
              <a:rPr lang="en-US" sz="2400" b="0" i="1" dirty="0">
                <a:solidFill>
                  <a:srgbClr val="273239"/>
                </a:solidFill>
                <a:effectLst/>
                <a:latin typeface="Nunito" panose="020F0502020204030204" pitchFamily="2" charset="0"/>
              </a:rPr>
              <a:t>4 wheels</a:t>
            </a:r>
            <a:r>
              <a:rPr lang="en-US" sz="2400" b="0" i="0" dirty="0">
                <a:solidFill>
                  <a:srgbClr val="273239"/>
                </a:solidFill>
                <a:effectLst/>
                <a:latin typeface="Nunito" panose="020F0502020204030204" pitchFamily="2" charset="0"/>
              </a:rPr>
              <a:t>, </a:t>
            </a:r>
            <a:r>
              <a:rPr lang="en-US" sz="2400" b="0" i="1" dirty="0">
                <a:solidFill>
                  <a:srgbClr val="273239"/>
                </a:solidFill>
                <a:effectLst/>
                <a:latin typeface="Nunito" panose="020F0502020204030204" pitchFamily="2" charset="0"/>
              </a:rPr>
              <a:t>Speed Limit</a:t>
            </a:r>
            <a:r>
              <a:rPr lang="en-US" sz="2400" b="0" i="0" dirty="0">
                <a:solidFill>
                  <a:srgbClr val="273239"/>
                </a:solidFill>
                <a:effectLst/>
                <a:latin typeface="Nunito" panose="020F0502020204030204" pitchFamily="2" charset="0"/>
              </a:rPr>
              <a:t>, </a:t>
            </a:r>
            <a:r>
              <a:rPr lang="en-US" sz="2400" b="0" i="1" dirty="0">
                <a:solidFill>
                  <a:srgbClr val="273239"/>
                </a:solidFill>
                <a:effectLst/>
                <a:latin typeface="Nunito" panose="020F0502020204030204" pitchFamily="2" charset="0"/>
              </a:rPr>
              <a:t>Mileage range,</a:t>
            </a:r>
            <a:r>
              <a:rPr lang="en-US" sz="2400" b="0" i="0" dirty="0">
                <a:solidFill>
                  <a:srgbClr val="273239"/>
                </a:solidFill>
                <a:effectLst/>
                <a:latin typeface="Nunito" panose="020F0502020204030204" pitchFamily="2" charset="0"/>
              </a:rPr>
              <a:t> etc. So here, Car is the class, and wheels, speed limits, and mileage are their properties.</a:t>
            </a:r>
          </a:p>
          <a:p>
            <a:pPr algn="l" fontAlgn="base">
              <a:buFont typeface="Arial" panose="020B0604020202020204" pitchFamily="34" charset="0"/>
              <a:buChar char="•"/>
            </a:pPr>
            <a:r>
              <a:rPr lang="en-US" sz="2400" b="0" i="0" dirty="0">
                <a:solidFill>
                  <a:srgbClr val="273239"/>
                </a:solidFill>
                <a:effectLst/>
                <a:latin typeface="Nunito" panose="020F0502020204030204" pitchFamily="2" charset="0"/>
              </a:rPr>
              <a:t>A Class is a user-defined data type that has data members and member functions.</a:t>
            </a:r>
          </a:p>
          <a:p>
            <a:pPr algn="l" fontAlgn="base">
              <a:buFont typeface="Arial" panose="020B0604020202020204" pitchFamily="34" charset="0"/>
              <a:buChar char="•"/>
            </a:pPr>
            <a:r>
              <a:rPr lang="en-US" sz="2400" b="0" i="0" dirty="0">
                <a:solidFill>
                  <a:srgbClr val="273239"/>
                </a:solidFill>
                <a:effectLst/>
                <a:latin typeface="Nunito" panose="020F0502020204030204" pitchFamily="2" charset="0"/>
              </a:rPr>
              <a:t>Data members are the data variables and member functions are the functions used to manipulate these variables together, these data members and member functions define the properties and behavior of the objects in a Class.</a:t>
            </a:r>
          </a:p>
          <a:p>
            <a:pPr algn="l" fontAlgn="base">
              <a:buFont typeface="Arial" panose="020B0604020202020204" pitchFamily="34" charset="0"/>
              <a:buChar char="•"/>
            </a:pPr>
            <a:r>
              <a:rPr lang="en-US" sz="2400" b="0" i="0" dirty="0">
                <a:solidFill>
                  <a:srgbClr val="273239"/>
                </a:solidFill>
                <a:effectLst/>
                <a:latin typeface="Nunito" panose="020F0502020204030204" pitchFamily="2" charset="0"/>
              </a:rPr>
              <a:t>In the above example of class </a:t>
            </a:r>
            <a:r>
              <a:rPr lang="en-US" sz="2400" b="0" i="1" dirty="0">
                <a:solidFill>
                  <a:srgbClr val="273239"/>
                </a:solidFill>
                <a:effectLst/>
                <a:latin typeface="Nunito" panose="020F0502020204030204" pitchFamily="2" charset="0"/>
              </a:rPr>
              <a:t>Car</a:t>
            </a:r>
            <a:r>
              <a:rPr lang="en-US" sz="2400" b="0" i="0" dirty="0">
                <a:solidFill>
                  <a:srgbClr val="273239"/>
                </a:solidFill>
                <a:effectLst/>
                <a:latin typeface="Nunito" panose="020F0502020204030204" pitchFamily="2" charset="0"/>
              </a:rPr>
              <a:t>, the data member will be </a:t>
            </a:r>
            <a:r>
              <a:rPr lang="en-US" sz="2400" b="0" i="1" dirty="0">
                <a:solidFill>
                  <a:srgbClr val="273239"/>
                </a:solidFill>
                <a:effectLst/>
                <a:latin typeface="Nunito" panose="020F0502020204030204" pitchFamily="2" charset="0"/>
              </a:rPr>
              <a:t>speed limit</a:t>
            </a:r>
            <a:r>
              <a:rPr lang="en-US" sz="2400" b="0" i="0" dirty="0">
                <a:solidFill>
                  <a:srgbClr val="273239"/>
                </a:solidFill>
                <a:effectLst/>
                <a:latin typeface="Nunito" panose="020F0502020204030204" pitchFamily="2" charset="0"/>
              </a:rPr>
              <a:t>, </a:t>
            </a:r>
            <a:r>
              <a:rPr lang="en-US" sz="2400" b="0" i="1" dirty="0">
                <a:solidFill>
                  <a:srgbClr val="273239"/>
                </a:solidFill>
                <a:effectLst/>
                <a:latin typeface="Nunito" panose="020F0502020204030204" pitchFamily="2" charset="0"/>
              </a:rPr>
              <a:t>mileage,</a:t>
            </a:r>
            <a:r>
              <a:rPr lang="en-US" sz="2400" b="0" i="0" dirty="0">
                <a:solidFill>
                  <a:srgbClr val="273239"/>
                </a:solidFill>
                <a:effectLst/>
                <a:latin typeface="Nunito" panose="020F0502020204030204" pitchFamily="2" charset="0"/>
              </a:rPr>
              <a:t> </a:t>
            </a:r>
            <a:r>
              <a:rPr lang="en-US" sz="2400" b="0" i="0" dirty="0" err="1">
                <a:solidFill>
                  <a:srgbClr val="273239"/>
                </a:solidFill>
                <a:effectLst/>
                <a:latin typeface="Nunito" panose="020F0502020204030204" pitchFamily="2" charset="0"/>
              </a:rPr>
              <a:t>etc</a:t>
            </a:r>
            <a:r>
              <a:rPr lang="en-US" sz="2400" b="0" i="0" dirty="0">
                <a:solidFill>
                  <a:srgbClr val="273239"/>
                </a:solidFill>
                <a:effectLst/>
                <a:latin typeface="Nunito" panose="020F0502020204030204" pitchFamily="2" charset="0"/>
              </a:rPr>
              <a:t>, and member functions can be </a:t>
            </a:r>
            <a:r>
              <a:rPr lang="en-US" sz="2400" b="0" i="1" dirty="0">
                <a:solidFill>
                  <a:srgbClr val="273239"/>
                </a:solidFill>
                <a:effectLst/>
                <a:latin typeface="Nunito" panose="020F0502020204030204" pitchFamily="2" charset="0"/>
              </a:rPr>
              <a:t>applying brakes</a:t>
            </a:r>
            <a:r>
              <a:rPr lang="en-US" sz="2400" b="0" i="0" dirty="0">
                <a:solidFill>
                  <a:srgbClr val="273239"/>
                </a:solidFill>
                <a:effectLst/>
                <a:latin typeface="Nunito" panose="020F0502020204030204" pitchFamily="2" charset="0"/>
              </a:rPr>
              <a:t>, </a:t>
            </a:r>
            <a:r>
              <a:rPr lang="en-US" sz="2400" b="0" i="1" dirty="0">
                <a:solidFill>
                  <a:srgbClr val="273239"/>
                </a:solidFill>
                <a:effectLst/>
                <a:latin typeface="Nunito" panose="020F0502020204030204" pitchFamily="2" charset="0"/>
              </a:rPr>
              <a:t>increasing speed,</a:t>
            </a:r>
            <a:r>
              <a:rPr lang="en-US" sz="2400" b="0" i="0" dirty="0">
                <a:solidFill>
                  <a:srgbClr val="273239"/>
                </a:solidFill>
                <a:effectLst/>
                <a:latin typeface="Nunito" panose="020F0502020204030204" pitchFamily="2" charset="0"/>
              </a:rPr>
              <a:t> etc.</a:t>
            </a:r>
          </a:p>
          <a:p>
            <a:pPr algn="l" fontAlgn="base"/>
            <a:r>
              <a:rPr lang="en-US" sz="2400" b="0" i="0" dirty="0">
                <a:solidFill>
                  <a:srgbClr val="273239"/>
                </a:solidFill>
                <a:effectLst/>
                <a:latin typeface="Nunito" panose="020F0502020204030204" pitchFamily="2" charset="0"/>
              </a:rPr>
              <a:t>An </a:t>
            </a:r>
            <a:r>
              <a:rPr lang="en-US" sz="2400" b="1" i="0" dirty="0">
                <a:solidFill>
                  <a:srgbClr val="273239"/>
                </a:solidFill>
                <a:effectLst/>
                <a:latin typeface="Nunito" panose="020F0502020204030204" pitchFamily="2" charset="0"/>
              </a:rPr>
              <a:t>Object</a:t>
            </a:r>
            <a:r>
              <a:rPr lang="en-US" sz="2400" b="0" i="0" dirty="0">
                <a:solidFill>
                  <a:srgbClr val="273239"/>
                </a:solidFill>
                <a:effectLst/>
                <a:latin typeface="Nunito" panose="020F0502020204030204" pitchFamily="2" charset="0"/>
              </a:rPr>
              <a:t> is an instance of a Class. When a class is defined, no memory is allocated but when it is instantiated (i.e. an object is created) memory is allocated.</a:t>
            </a:r>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4" name="Picture 2" descr="C++ Class and Object">
            <a:extLst>
              <a:ext uri="{FF2B5EF4-FFF2-40B4-BE49-F238E27FC236}">
                <a16:creationId xmlns:a16="http://schemas.microsoft.com/office/drawing/2014/main" id="{41E7E433-E66D-2A79-2E47-567E66E0CE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619" y="1686718"/>
            <a:ext cx="4130880" cy="155792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6785CED-F800-C9C3-D3D3-6B5BDC3C307C}"/>
              </a:ext>
            </a:extLst>
          </p:cNvPr>
          <p:cNvSpPr txBox="1"/>
          <p:nvPr/>
        </p:nvSpPr>
        <p:spPr>
          <a:xfrm>
            <a:off x="943277" y="442762"/>
            <a:ext cx="8840804" cy="1477328"/>
          </a:xfrm>
          <a:prstGeom prst="rect">
            <a:avLst/>
          </a:prstGeom>
          <a:noFill/>
        </p:spPr>
        <p:txBody>
          <a:bodyPr wrap="square" rtlCol="0">
            <a:spAutoFit/>
          </a:bodyPr>
          <a:lstStyle/>
          <a:p>
            <a:pPr algn="l" fontAlgn="base"/>
            <a:r>
              <a:rPr lang="en-US" b="1" i="0" dirty="0">
                <a:solidFill>
                  <a:srgbClr val="273239"/>
                </a:solidFill>
                <a:effectLst/>
                <a:latin typeface="Nunito" pitchFamily="2" charset="0"/>
              </a:rPr>
              <a:t>Defining Class and Declaring Objects</a:t>
            </a:r>
          </a:p>
          <a:p>
            <a:pPr algn="l" fontAlgn="base"/>
            <a:r>
              <a:rPr lang="en-US" b="0" i="0" dirty="0">
                <a:solidFill>
                  <a:srgbClr val="273239"/>
                </a:solidFill>
                <a:effectLst/>
                <a:latin typeface="Nunito" pitchFamily="2" charset="0"/>
              </a:rPr>
              <a:t>A class is defined in C++ using the keyword class followed by the name of the class. The body of the class is defined inside the curly brackets and terminated by a semicolon at the end.</a:t>
            </a:r>
          </a:p>
          <a:p>
            <a:endParaRPr lang="en-IN" dirty="0"/>
          </a:p>
        </p:txBody>
      </p:sp>
      <p:sp>
        <p:nvSpPr>
          <p:cNvPr id="14" name="TextBox 13">
            <a:extLst>
              <a:ext uri="{FF2B5EF4-FFF2-40B4-BE49-F238E27FC236}">
                <a16:creationId xmlns:a16="http://schemas.microsoft.com/office/drawing/2014/main" id="{72C2B428-9D9C-265F-6BA0-D5B2B6E3F6C9}"/>
              </a:ext>
            </a:extLst>
          </p:cNvPr>
          <p:cNvSpPr txBox="1"/>
          <p:nvPr/>
        </p:nvSpPr>
        <p:spPr>
          <a:xfrm>
            <a:off x="287205" y="3224979"/>
            <a:ext cx="10764253" cy="1477328"/>
          </a:xfrm>
          <a:prstGeom prst="rect">
            <a:avLst/>
          </a:prstGeom>
          <a:noFill/>
        </p:spPr>
        <p:txBody>
          <a:bodyPr wrap="square" rtlCol="0">
            <a:spAutoFit/>
          </a:bodyPr>
          <a:lstStyle/>
          <a:p>
            <a:pPr algn="l" fontAlgn="base"/>
            <a:r>
              <a:rPr lang="en-US" b="1" i="0" dirty="0">
                <a:solidFill>
                  <a:srgbClr val="273239"/>
                </a:solidFill>
                <a:effectLst/>
                <a:latin typeface="Nunito" pitchFamily="2" charset="0"/>
              </a:rPr>
              <a:t>Declaring Objects</a:t>
            </a:r>
          </a:p>
          <a:p>
            <a:pPr algn="l" fontAlgn="base"/>
            <a:r>
              <a:rPr lang="en-US" b="0" i="0" dirty="0">
                <a:solidFill>
                  <a:srgbClr val="273239"/>
                </a:solidFill>
                <a:effectLst/>
                <a:latin typeface="Nunito" pitchFamily="2" charset="0"/>
              </a:rPr>
              <a:t>When a class is defined, only the specification for the object is defined; no memory or storage is allocated. To use the data and access functions defined in the class, you need to create objects.</a:t>
            </a:r>
          </a:p>
          <a:p>
            <a:pPr algn="l" fontAlgn="base"/>
            <a:r>
              <a:rPr lang="en-US" b="1" i="0" dirty="0">
                <a:solidFill>
                  <a:srgbClr val="273239"/>
                </a:solidFill>
                <a:effectLst/>
                <a:latin typeface="Nunito" pitchFamily="2" charset="0"/>
              </a:rPr>
              <a:t>Syntax</a:t>
            </a:r>
          </a:p>
          <a:p>
            <a:endParaRPr lang="en-IN" dirty="0"/>
          </a:p>
        </p:txBody>
      </p:sp>
      <p:sp>
        <p:nvSpPr>
          <p:cNvPr id="15" name="TextBox 14">
            <a:extLst>
              <a:ext uri="{FF2B5EF4-FFF2-40B4-BE49-F238E27FC236}">
                <a16:creationId xmlns:a16="http://schemas.microsoft.com/office/drawing/2014/main" id="{43486B3C-5A07-A118-48B9-FEC406036E26}"/>
              </a:ext>
            </a:extLst>
          </p:cNvPr>
          <p:cNvSpPr txBox="1"/>
          <p:nvPr/>
        </p:nvSpPr>
        <p:spPr>
          <a:xfrm>
            <a:off x="510139" y="4702307"/>
            <a:ext cx="184731" cy="369332"/>
          </a:xfrm>
          <a:prstGeom prst="rect">
            <a:avLst/>
          </a:prstGeom>
          <a:noFill/>
        </p:spPr>
        <p:txBody>
          <a:bodyPr wrap="none" rtlCol="0">
            <a:spAutoFit/>
          </a:bodyPr>
          <a:lstStyle/>
          <a:p>
            <a:endParaRPr lang="en-IN" dirty="0"/>
          </a:p>
        </p:txBody>
      </p:sp>
      <p:sp>
        <p:nvSpPr>
          <p:cNvPr id="22" name="Rectangle 5">
            <a:extLst>
              <a:ext uri="{FF2B5EF4-FFF2-40B4-BE49-F238E27FC236}">
                <a16:creationId xmlns:a16="http://schemas.microsoft.com/office/drawing/2014/main" id="{08ECE418-1DF1-73F5-4E40-D049A2D38CE3}"/>
              </a:ext>
            </a:extLst>
          </p:cNvPr>
          <p:cNvSpPr>
            <a:spLocks noChangeArrowheads="1"/>
          </p:cNvSpPr>
          <p:nvPr/>
        </p:nvSpPr>
        <p:spPr bwMode="auto">
          <a:xfrm>
            <a:off x="432619" y="4325651"/>
            <a:ext cx="3568285" cy="802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273239"/>
                </a:solidFill>
                <a:effectLst/>
                <a:latin typeface="Consolas" panose="020B0609020204030204" pitchFamily="49" charset="0"/>
              </a:rPr>
              <a:t>ClassName</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err="1">
                <a:ln>
                  <a:noFill/>
                </a:ln>
                <a:solidFill>
                  <a:srgbClr val="273239"/>
                </a:solidFill>
                <a:effectLst/>
                <a:latin typeface="Consolas" panose="020B0609020204030204" pitchFamily="49" charset="0"/>
              </a:rPr>
              <a:t>ObjectName</a:t>
            </a:r>
            <a:r>
              <a:rPr kumimoji="0" lang="en-US" altLang="en-US" sz="2400" b="0" i="0" u="none" strike="noStrike" cap="none" normalizeH="0" baseline="0" dirty="0">
                <a:ln>
                  <a:noFill/>
                </a:ln>
                <a:solidFill>
                  <a:srgbClr val="273239"/>
                </a:solidFill>
                <a:effectLst/>
                <a:latin typeface="Consolas" panose="020B0609020204030204" pitchFamily="49" charset="0"/>
              </a:rPr>
              <a:t>;</a:t>
            </a:r>
            <a:br>
              <a:rPr kumimoji="0" lang="en-US" altLang="en-US" sz="2400" b="0" i="0" u="none" strike="noStrike" cap="none" normalizeH="0" baseline="0" dirty="0">
                <a:ln>
                  <a:noFill/>
                </a:ln>
                <a:solidFill>
                  <a:schemeClr val="tx1"/>
                </a:solidFill>
                <a:effectLst/>
              </a:rPr>
            </a:b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053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a:bodyPr>
          <a:lstStyle/>
          <a:p>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Tree>
    <p:extLst>
      <p:ext uri="{BB962C8B-B14F-4D97-AF65-F5344CB8AC3E}">
        <p14:creationId xmlns:p14="http://schemas.microsoft.com/office/powerpoint/2010/main" val="8524530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3932237" cy="2045494"/>
          </a:xfrm>
        </p:spPr>
        <p:txBody>
          <a:bodyPr/>
          <a:lstStyle/>
          <a:p>
            <a:pPr marL="285750" indent="-285750">
              <a:buFont typeface="Arial" panose="020B0604020202020204" pitchFamily="34" charset="0"/>
              <a:buChar char="•"/>
            </a:pPr>
            <a:endParaRPr lang="en-US"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65126"/>
            <a:ext cx="10515600" cy="889244"/>
          </a:xfrm>
        </p:spPr>
        <p:txBody>
          <a:bodyPr>
            <a:normAutofit/>
          </a:bodyPr>
          <a:lstStyle/>
          <a:p>
            <a:pPr algn="ctr"/>
            <a:r>
              <a:rPr lang="en-US" sz="2800" b="1" dirty="0">
                <a:latin typeface="+mn-lt"/>
                <a:ea typeface="+mn-ea"/>
                <a:cs typeface="+mn-cs"/>
              </a:rPr>
              <a:t>Class</a:t>
            </a:r>
            <a:endParaRPr lang="en-IN" sz="2800" b="1" dirty="0">
              <a:latin typeface="+mn-lt"/>
              <a:ea typeface="+mn-ea"/>
              <a:cs typeface="+mn-cs"/>
            </a:endParaRPr>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726831" y="1441938"/>
            <a:ext cx="10521461" cy="5029199"/>
          </a:xfrm>
        </p:spPr>
        <p:txBody>
          <a:bodyPr>
            <a:normAutofit fontScale="25000" lnSpcReduction="20000"/>
          </a:bodyPr>
          <a:lstStyle/>
          <a:p>
            <a:pPr algn="just">
              <a:lnSpc>
                <a:spcPct val="110000"/>
              </a:lnSpc>
            </a:pPr>
            <a:r>
              <a:rPr lang="en-US" sz="9600" dirty="0">
                <a:latin typeface="Times New Roman" pitchFamily="18" charset="0"/>
                <a:cs typeface="Times New Roman" pitchFamily="18" charset="0"/>
              </a:rPr>
              <a:t>A class is user defined data type which consists of two sections, a private and  a protected section that holds data and a public section that holds the interface operations.</a:t>
            </a:r>
          </a:p>
          <a:p>
            <a:pPr algn="just">
              <a:lnSpc>
                <a:spcPct val="110000"/>
              </a:lnSpc>
            </a:pPr>
            <a:r>
              <a:rPr lang="en-US" sz="9600" dirty="0">
                <a:latin typeface="Times New Roman" pitchFamily="18" charset="0"/>
                <a:cs typeface="Times New Roman" pitchFamily="18" charset="0"/>
              </a:rPr>
              <a:t>A class definition is a process of naming a class and data variables, and methods or interface operations of the class.</a:t>
            </a:r>
          </a:p>
          <a:p>
            <a:pPr algn="just">
              <a:lnSpc>
                <a:spcPct val="110000"/>
              </a:lnSpc>
            </a:pPr>
            <a:r>
              <a:rPr lang="en-IN" sz="9600" dirty="0">
                <a:latin typeface="Times New Roman" pitchFamily="18" charset="0"/>
                <a:cs typeface="Times New Roman" pitchFamily="18" charset="0"/>
              </a:rPr>
              <a:t>Once a class has been defined, we can create any number of objects belonging to that class.</a:t>
            </a:r>
          </a:p>
          <a:p>
            <a:pPr algn="just">
              <a:lnSpc>
                <a:spcPct val="110000"/>
              </a:lnSpc>
            </a:pPr>
            <a:r>
              <a:rPr lang="en-IN" sz="9600" dirty="0">
                <a:latin typeface="Times New Roman" pitchFamily="18" charset="0"/>
                <a:cs typeface="Times New Roman" pitchFamily="18" charset="0"/>
              </a:rPr>
              <a:t>A class is collection of objects of similar type.</a:t>
            </a:r>
          </a:p>
          <a:p>
            <a:pPr algn="just">
              <a:lnSpc>
                <a:spcPct val="110000"/>
              </a:lnSpc>
            </a:pPr>
            <a:endParaRPr lang="en-IN" sz="9600" dirty="0">
              <a:latin typeface="Times New Roman" pitchFamily="18" charset="0"/>
              <a:cs typeface="Times New Roman" pitchFamily="18" charset="0"/>
            </a:endParaRPr>
          </a:p>
          <a:p>
            <a:pPr algn="just">
              <a:lnSpc>
                <a:spcPct val="110000"/>
              </a:lnSpc>
              <a:buNone/>
            </a:pPr>
            <a:r>
              <a:rPr lang="en-IN" sz="9600" dirty="0">
                <a:latin typeface="Times New Roman" pitchFamily="18" charset="0"/>
                <a:cs typeface="Times New Roman" pitchFamily="18" charset="0"/>
              </a:rPr>
              <a:t>Example-- If  fruit  has been defined as a class, then the statement</a:t>
            </a:r>
          </a:p>
          <a:p>
            <a:pPr algn="just">
              <a:lnSpc>
                <a:spcPct val="110000"/>
              </a:lnSpc>
              <a:buNone/>
            </a:pPr>
            <a:r>
              <a:rPr lang="en-IN" sz="9600" dirty="0">
                <a:latin typeface="Times New Roman" pitchFamily="18" charset="0"/>
                <a:cs typeface="Times New Roman" pitchFamily="18" charset="0"/>
              </a:rPr>
              <a:t>			fruit mango;</a:t>
            </a:r>
          </a:p>
          <a:p>
            <a:pPr algn="just">
              <a:lnSpc>
                <a:spcPct val="110000"/>
              </a:lnSpc>
              <a:buNone/>
            </a:pPr>
            <a:r>
              <a:rPr lang="en-IN" sz="9600" dirty="0">
                <a:latin typeface="Times New Roman" pitchFamily="18" charset="0"/>
                <a:cs typeface="Times New Roman" pitchFamily="18" charset="0"/>
              </a:rPr>
              <a:t>	will create an object mango belonging to the class fruit.</a:t>
            </a:r>
          </a:p>
          <a:p>
            <a:pPr algn="just"/>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61646" y="1173040"/>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sz="2400" dirty="0">
                <a:latin typeface="Times New Roman" pitchFamily="18" charset="0"/>
                <a:cs typeface="Times New Roman" pitchFamily="18" charset="0"/>
              </a:rPr>
              <a:t>Class specification has two parts:</a:t>
            </a:r>
          </a:p>
          <a:p>
            <a:pPr lvl="1" algn="just"/>
            <a:r>
              <a:rPr lang="en-US" dirty="0">
                <a:latin typeface="Times New Roman" pitchFamily="18" charset="0"/>
                <a:cs typeface="Times New Roman" pitchFamily="18" charset="0"/>
              </a:rPr>
              <a:t>Class declaration</a:t>
            </a:r>
          </a:p>
          <a:p>
            <a:pPr lvl="1" algn="just"/>
            <a:r>
              <a:rPr lang="en-US" dirty="0">
                <a:latin typeface="Times New Roman" pitchFamily="18" charset="0"/>
                <a:cs typeface="Times New Roman" pitchFamily="18" charset="0"/>
              </a:rPr>
              <a:t>Class function definitions</a:t>
            </a:r>
          </a:p>
          <a:p>
            <a:pPr algn="just"/>
            <a:r>
              <a:rPr lang="en-US" sz="2400" dirty="0">
                <a:latin typeface="Times New Roman" pitchFamily="18" charset="0"/>
                <a:cs typeface="Times New Roman" pitchFamily="18" charset="0"/>
              </a:rPr>
              <a:t>Class declaration describes type and scope of its members </a:t>
            </a:r>
          </a:p>
          <a:p>
            <a:pPr algn="just"/>
            <a:r>
              <a:rPr lang="en-US" sz="2400" dirty="0">
                <a:latin typeface="Times New Roman" pitchFamily="18" charset="0"/>
                <a:cs typeface="Times New Roman" pitchFamily="18" charset="0"/>
              </a:rPr>
              <a:t>Class function definition describes how class functions are implemented.</a:t>
            </a:r>
          </a:p>
          <a:p>
            <a:pPr algn="just">
              <a:buNone/>
            </a:pPr>
            <a:r>
              <a:rPr lang="en-US" sz="2400" dirty="0">
                <a:latin typeface="Times New Roman" pitchFamily="18" charset="0"/>
                <a:cs typeface="Times New Roman" pitchFamily="18" charset="0"/>
              </a:rPr>
              <a:t>Example:</a:t>
            </a:r>
          </a:p>
          <a:p>
            <a:pPr algn="just">
              <a:buNone/>
            </a:pPr>
            <a:r>
              <a:rPr lang="en-US" sz="2400" dirty="0">
                <a:latin typeface="Times New Roman" pitchFamily="18" charset="0"/>
                <a:cs typeface="Times New Roman" pitchFamily="18" charset="0"/>
              </a:rPr>
              <a:t>     class </a:t>
            </a:r>
            <a:r>
              <a:rPr lang="en-US" sz="2400" dirty="0" err="1">
                <a:latin typeface="Times New Roman" pitchFamily="18" charset="0"/>
                <a:cs typeface="Times New Roman" pitchFamily="18" charset="0"/>
              </a:rPr>
              <a:t>class_name</a:t>
            </a:r>
            <a:endParaRPr lang="en-US" sz="24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    {     	 private: variable declarations;</a:t>
            </a:r>
          </a:p>
          <a:p>
            <a:pPr marL="0" indent="0" algn="just">
              <a:buNone/>
            </a:pPr>
            <a:r>
              <a:rPr lang="en-US" sz="2400" dirty="0">
                <a:latin typeface="Times New Roman" pitchFamily="18" charset="0"/>
                <a:cs typeface="Times New Roman" pitchFamily="18" charset="0"/>
              </a:rPr>
              <a:t>	  public: function declaration;</a:t>
            </a:r>
          </a:p>
          <a:p>
            <a:pPr marL="0" indent="0" algn="just">
              <a:buNone/>
            </a:pPr>
            <a:r>
              <a:rPr lang="en-US" sz="2400" dirty="0">
                <a:latin typeface="Times New Roman" pitchFamily="18" charset="0"/>
                <a:cs typeface="Times New Roman" pitchFamily="18" charset="0"/>
              </a:rPr>
              <a:t>     }; </a:t>
            </a:r>
          </a:p>
        </p:txBody>
      </p:sp>
      <p:sp>
        <p:nvSpPr>
          <p:cNvPr id="10" name="TextBox 9"/>
          <p:cNvSpPr txBox="1"/>
          <p:nvPr/>
        </p:nvSpPr>
        <p:spPr>
          <a:xfrm>
            <a:off x="1090246" y="549218"/>
            <a:ext cx="8311661" cy="954107"/>
          </a:xfrm>
          <a:prstGeom prst="rect">
            <a:avLst/>
          </a:prstGeom>
          <a:noFill/>
        </p:spPr>
        <p:txBody>
          <a:bodyPr wrap="square" rtlCol="0">
            <a:spAutoFit/>
          </a:bodyPr>
          <a:lstStyle/>
          <a:p>
            <a:pPr algn="ctr"/>
            <a:r>
              <a:rPr lang="en-IN" sz="2800" b="1" dirty="0"/>
              <a:t>Specifying A Class</a:t>
            </a:r>
          </a:p>
          <a:p>
            <a:endParaRPr lang="en-IN" sz="2800" b="1" dirty="0"/>
          </a:p>
        </p:txBody>
      </p:sp>
    </p:spTree>
    <p:extLst>
      <p:ext uri="{BB962C8B-B14F-4D97-AF65-F5344CB8AC3E}">
        <p14:creationId xmlns:p14="http://schemas.microsoft.com/office/powerpoint/2010/main" val="32054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Times New Roman" pitchFamily="18" charset="0"/>
                <a:cs typeface="Times New Roman" pitchFamily="18" charset="0"/>
              </a:rPr>
              <a:t>Oops  uses object as fundamental Building Block Definitions.</a:t>
            </a:r>
          </a:p>
          <a:p>
            <a:pPr algn="just"/>
            <a:r>
              <a:rPr lang="en-US" dirty="0">
                <a:latin typeface="Times New Roman" pitchFamily="18" charset="0"/>
                <a:cs typeface="Times New Roman" pitchFamily="18" charset="0"/>
              </a:rPr>
              <a:t>Objects are the basic run time entities in object oriented System.</a:t>
            </a:r>
          </a:p>
          <a:p>
            <a:pPr algn="just"/>
            <a:r>
              <a:rPr lang="en-US" dirty="0">
                <a:latin typeface="Times New Roman" pitchFamily="18" charset="0"/>
                <a:cs typeface="Times New Roman" pitchFamily="18" charset="0"/>
              </a:rPr>
              <a:t>Every object is associated with Data and Functions which define meaningful operations on an object.</a:t>
            </a:r>
          </a:p>
          <a:p>
            <a:pPr algn="just"/>
            <a:r>
              <a:rPr lang="en-US" dirty="0">
                <a:latin typeface="Times New Roman" pitchFamily="18" charset="0"/>
                <a:cs typeface="Times New Roman" pitchFamily="18" charset="0"/>
              </a:rPr>
              <a:t>Object is a real world existing entity.</a:t>
            </a:r>
          </a:p>
          <a:p>
            <a:pPr algn="just"/>
            <a:r>
              <a:rPr lang="en-US" dirty="0">
                <a:latin typeface="Times New Roman" pitchFamily="18" charset="0"/>
                <a:cs typeface="Times New Roman" pitchFamily="18" charset="0"/>
              </a:rPr>
              <a:t>Object is an instance of a particular class.</a:t>
            </a:r>
          </a:p>
        </p:txBody>
      </p:sp>
      <p:sp>
        <p:nvSpPr>
          <p:cNvPr id="10" name="TextBox 9"/>
          <p:cNvSpPr txBox="1"/>
          <p:nvPr/>
        </p:nvSpPr>
        <p:spPr>
          <a:xfrm>
            <a:off x="1090246" y="549218"/>
            <a:ext cx="8311661" cy="523220"/>
          </a:xfrm>
          <a:prstGeom prst="rect">
            <a:avLst/>
          </a:prstGeom>
          <a:noFill/>
        </p:spPr>
        <p:txBody>
          <a:bodyPr wrap="square" rtlCol="0">
            <a:spAutoFit/>
          </a:bodyPr>
          <a:lstStyle/>
          <a:p>
            <a:pPr algn="ctr"/>
            <a:r>
              <a:rPr lang="en-IN" sz="2800" b="1" dirty="0"/>
              <a:t>Objects</a:t>
            </a:r>
          </a:p>
        </p:txBody>
      </p:sp>
    </p:spTree>
    <p:extLst>
      <p:ext uri="{BB962C8B-B14F-4D97-AF65-F5344CB8AC3E}">
        <p14:creationId xmlns:p14="http://schemas.microsoft.com/office/powerpoint/2010/main" val="32054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sz="2400" dirty="0"/>
              <a:t>Objects are created from classes. Class objects are declared in a similar way as variables are declared. The class name must start, followed by the object name.</a:t>
            </a:r>
          </a:p>
          <a:p>
            <a:pPr algn="just">
              <a:buNone/>
            </a:pPr>
            <a:r>
              <a:rPr lang="en-IN" sz="2400" dirty="0">
                <a:latin typeface="Times New Roman" pitchFamily="18" charset="0"/>
                <a:cs typeface="Times New Roman" pitchFamily="18" charset="0"/>
              </a:rPr>
              <a:t>   For example, </a:t>
            </a:r>
          </a:p>
          <a:p>
            <a:pPr algn="just">
              <a:buNone/>
            </a:pPr>
            <a:r>
              <a:rPr lang="en-IN" sz="2400" dirty="0">
                <a:latin typeface="Times New Roman" pitchFamily="18" charset="0"/>
                <a:cs typeface="Times New Roman" pitchFamily="18" charset="0"/>
              </a:rPr>
              <a:t>			ABC ob1,ob2; //object declaration will create two objects </a:t>
            </a:r>
            <a:r>
              <a:rPr lang="en-IN" sz="2400" b="1" dirty="0">
                <a:latin typeface="Times New Roman" pitchFamily="18" charset="0"/>
                <a:cs typeface="Times New Roman" pitchFamily="18" charset="0"/>
              </a:rPr>
              <a:t>ob1 and ob2 of ABC class type. </a:t>
            </a:r>
          </a:p>
          <a:p>
            <a:pPr algn="just"/>
            <a:r>
              <a:rPr lang="en-IN" sz="2400" dirty="0">
                <a:latin typeface="Times New Roman" pitchFamily="18" charset="0"/>
                <a:cs typeface="Times New Roman" pitchFamily="18" charset="0"/>
              </a:rPr>
              <a:t>Memory space is allocated separately to each object for their data members. </a:t>
            </a:r>
          </a:p>
          <a:p>
            <a:pPr algn="just"/>
            <a:r>
              <a:rPr lang="en-IN" sz="2400" dirty="0">
                <a:latin typeface="Times New Roman" pitchFamily="18" charset="0"/>
                <a:cs typeface="Times New Roman" pitchFamily="18" charset="0"/>
              </a:rPr>
              <a:t>Member variables store different values for different objects of a class. </a:t>
            </a:r>
          </a:p>
          <a:p>
            <a:pPr algn="just">
              <a:buNone/>
            </a:pPr>
            <a:endParaRPr lang="en-IN" sz="2400" b="1" dirty="0">
              <a:latin typeface="Times New Roman" pitchFamily="18" charset="0"/>
              <a:cs typeface="Times New Roman" pitchFamily="18" charset="0"/>
            </a:endParaRPr>
          </a:p>
          <a:p>
            <a:pPr algn="just">
              <a:buNone/>
            </a:pPr>
            <a:endParaRPr lang="en-IN" sz="2400" dirty="0"/>
          </a:p>
        </p:txBody>
      </p:sp>
      <p:sp>
        <p:nvSpPr>
          <p:cNvPr id="10" name="TextBox 9"/>
          <p:cNvSpPr txBox="1"/>
          <p:nvPr/>
        </p:nvSpPr>
        <p:spPr>
          <a:xfrm>
            <a:off x="1090246" y="549218"/>
            <a:ext cx="8311661" cy="954107"/>
          </a:xfrm>
          <a:prstGeom prst="rect">
            <a:avLst/>
          </a:prstGeom>
          <a:noFill/>
        </p:spPr>
        <p:txBody>
          <a:bodyPr wrap="square" rtlCol="0">
            <a:spAutoFit/>
          </a:bodyPr>
          <a:lstStyle/>
          <a:p>
            <a:pPr algn="ctr"/>
            <a:r>
              <a:rPr lang="en-IN" sz="2800" b="1" dirty="0"/>
              <a:t>               Creating Objects</a:t>
            </a:r>
          </a:p>
          <a:p>
            <a:endParaRPr lang="en-IN" sz="2800" b="1" dirty="0"/>
          </a:p>
        </p:txBody>
      </p:sp>
    </p:spTree>
    <p:extLst>
      <p:ext uri="{BB962C8B-B14F-4D97-AF65-F5344CB8AC3E}">
        <p14:creationId xmlns:p14="http://schemas.microsoft.com/office/powerpoint/2010/main" val="32054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983AC3-C834-F4DE-30AA-101C62EB821C}"/>
              </a:ext>
            </a:extLst>
          </p:cNvPr>
          <p:cNvSpPr>
            <a:spLocks noGrp="1"/>
          </p:cNvSpPr>
          <p:nvPr>
            <p:ph idx="1"/>
          </p:nvPr>
        </p:nvSpPr>
        <p:spPr/>
        <p:txBody>
          <a:bodyPr>
            <a:normAutofit fontScale="92500" lnSpcReduction="10000"/>
          </a:bodyPr>
          <a:lstStyle/>
          <a:p>
            <a:pPr algn="l" fontAlgn="base"/>
            <a:r>
              <a:rPr lang="en-US" b="1" i="0" dirty="0">
                <a:solidFill>
                  <a:srgbClr val="273239"/>
                </a:solidFill>
                <a:effectLst/>
                <a:latin typeface="Nunito" pitchFamily="2" charset="0"/>
              </a:rPr>
              <a:t>Accessing data members and member functions</a:t>
            </a:r>
            <a:r>
              <a:rPr lang="en-US" b="0" i="0" dirty="0">
                <a:solidFill>
                  <a:srgbClr val="273239"/>
                </a:solidFill>
                <a:effectLst/>
                <a:latin typeface="Nunito" pitchFamily="2" charset="0"/>
              </a:rPr>
              <a:t>: The data members and member functions of the class can be accessed using the dot(‘.’) operator with the object. For example, if the name of the object is </a:t>
            </a:r>
            <a:r>
              <a:rPr lang="en-US" b="0" i="1" dirty="0">
                <a:solidFill>
                  <a:srgbClr val="273239"/>
                </a:solidFill>
                <a:effectLst/>
                <a:latin typeface="Nunito" pitchFamily="2" charset="0"/>
              </a:rPr>
              <a:t>obj</a:t>
            </a:r>
            <a:r>
              <a:rPr lang="en-US" b="0" i="0" dirty="0">
                <a:solidFill>
                  <a:srgbClr val="273239"/>
                </a:solidFill>
                <a:effectLst/>
                <a:latin typeface="Nunito" pitchFamily="2" charset="0"/>
              </a:rPr>
              <a:t> and you want to access the member function with the name </a:t>
            </a:r>
            <a:r>
              <a:rPr lang="en-US" b="0" i="1" dirty="0" err="1">
                <a:solidFill>
                  <a:srgbClr val="273239"/>
                </a:solidFill>
                <a:effectLst/>
                <a:latin typeface="Nunito" pitchFamily="2" charset="0"/>
              </a:rPr>
              <a:t>printName</a:t>
            </a:r>
            <a:r>
              <a:rPr lang="en-US" b="0" i="1" dirty="0">
                <a:solidFill>
                  <a:srgbClr val="273239"/>
                </a:solidFill>
                <a:effectLst/>
                <a:latin typeface="Nunito" pitchFamily="2" charset="0"/>
              </a:rPr>
              <a:t>()</a:t>
            </a:r>
            <a:r>
              <a:rPr lang="en-US" b="0" i="0" dirty="0">
                <a:solidFill>
                  <a:srgbClr val="273239"/>
                </a:solidFill>
                <a:effectLst/>
                <a:latin typeface="Nunito" pitchFamily="2" charset="0"/>
              </a:rPr>
              <a:t> then you will have to write </a:t>
            </a:r>
            <a:r>
              <a:rPr lang="en-US" b="0" i="1" dirty="0" err="1">
                <a:solidFill>
                  <a:srgbClr val="273239"/>
                </a:solidFill>
                <a:effectLst/>
                <a:latin typeface="Nunito" pitchFamily="2" charset="0"/>
              </a:rPr>
              <a:t>obj.printName</a:t>
            </a:r>
            <a:r>
              <a:rPr lang="en-US" b="0" i="1" dirty="0">
                <a:solidFill>
                  <a:srgbClr val="273239"/>
                </a:solidFill>
                <a:effectLst/>
                <a:latin typeface="Nunito" pitchFamily="2" charset="0"/>
              </a:rPr>
              <a:t>()</a:t>
            </a:r>
            <a:r>
              <a:rPr lang="en-US" b="0" i="0" dirty="0">
                <a:solidFill>
                  <a:srgbClr val="273239"/>
                </a:solidFill>
                <a:effectLst/>
                <a:latin typeface="Nunito" pitchFamily="2" charset="0"/>
              </a:rPr>
              <a:t>.</a:t>
            </a:r>
          </a:p>
          <a:p>
            <a:pPr algn="l" fontAlgn="base"/>
            <a:r>
              <a:rPr lang="en-US" b="1" i="0" dirty="0">
                <a:solidFill>
                  <a:srgbClr val="273239"/>
                </a:solidFill>
                <a:effectLst/>
                <a:latin typeface="Nunito" pitchFamily="2" charset="0"/>
              </a:rPr>
              <a:t>Accessing Data Members</a:t>
            </a:r>
          </a:p>
          <a:p>
            <a:pPr algn="l" fontAlgn="base"/>
            <a:r>
              <a:rPr lang="en-US" b="0" i="0" dirty="0">
                <a:solidFill>
                  <a:srgbClr val="273239"/>
                </a:solidFill>
                <a:effectLst/>
                <a:latin typeface="Nunito" pitchFamily="2" charset="0"/>
              </a:rPr>
              <a:t>The public data members are also accessed in the same way given however the private data members are not allowed to be accessed directly by the object. Accessing a data member depends solely on the access control of that data member. This access control is given by </a:t>
            </a:r>
            <a:r>
              <a:rPr lang="en-US" b="0" i="0" u="sng" dirty="0">
                <a:solidFill>
                  <a:srgbClr val="273239"/>
                </a:solidFill>
                <a:effectLst/>
                <a:latin typeface="Nunito" pitchFamily="2" charset="0"/>
                <a:hlinkClick r:id="rId2"/>
              </a:rPr>
              <a:t>Access modifiers in C++</a:t>
            </a:r>
            <a:r>
              <a:rPr lang="en-US" b="0" i="0" dirty="0">
                <a:solidFill>
                  <a:srgbClr val="273239"/>
                </a:solidFill>
                <a:effectLst/>
                <a:latin typeface="Nunito" pitchFamily="2" charset="0"/>
              </a:rPr>
              <a:t>. There are three access modifiers: </a:t>
            </a:r>
            <a:r>
              <a:rPr lang="en-US" b="1" i="0" dirty="0">
                <a:solidFill>
                  <a:srgbClr val="273239"/>
                </a:solidFill>
                <a:effectLst/>
                <a:latin typeface="Nunito" pitchFamily="2" charset="0"/>
              </a:rPr>
              <a:t>public, private, and protected</a:t>
            </a:r>
            <a:r>
              <a:rPr lang="en-US" b="0" i="0" dirty="0">
                <a:solidFill>
                  <a:srgbClr val="273239"/>
                </a:solidFill>
                <a:effectLst/>
                <a:latin typeface="Nunito" pitchFamily="2" charset="0"/>
              </a:rPr>
              <a:t>.</a:t>
            </a:r>
          </a:p>
          <a:p>
            <a:endParaRPr lang="en-IN" dirty="0"/>
          </a:p>
        </p:txBody>
      </p:sp>
      <p:sp>
        <p:nvSpPr>
          <p:cNvPr id="4" name="Slide Number Placeholder 3">
            <a:extLst>
              <a:ext uri="{FF2B5EF4-FFF2-40B4-BE49-F238E27FC236}">
                <a16:creationId xmlns:a16="http://schemas.microsoft.com/office/drawing/2014/main" id="{64EF6B41-28B9-DE2F-153C-34312B9B60A2}"/>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423067052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2800" b="1" dirty="0">
                <a:latin typeface="+mn-lt"/>
                <a:ea typeface="+mn-ea"/>
                <a:cs typeface="+mn-cs"/>
              </a:rPr>
              <a:t>Accessing Class Members</a:t>
            </a:r>
            <a:endParaRPr lang="en-US" sz="2800" b="1" dirty="0">
              <a:latin typeface="+mn-lt"/>
              <a:ea typeface="+mn-ea"/>
              <a:cs typeface="+mn-cs"/>
            </a:endParaRPr>
          </a:p>
        </p:txBody>
      </p:sp>
      <p:sp>
        <p:nvSpPr>
          <p:cNvPr id="3" name="Content Placeholder 2"/>
          <p:cNvSpPr>
            <a:spLocks noGrp="1"/>
          </p:cNvSpPr>
          <p:nvPr>
            <p:ph idx="1"/>
          </p:nvPr>
        </p:nvSpPr>
        <p:spPr/>
        <p:txBody>
          <a:bodyPr/>
          <a:lstStyle/>
          <a:p>
            <a:pPr algn="just"/>
            <a:r>
              <a:rPr lang="en-IN" dirty="0"/>
              <a:t>Accessing a data member depends  on the access control of that data member. If its public, then the data member can be easily accessed using the direct member access (.) operator with the object of that class.</a:t>
            </a:r>
            <a:endParaRPr lang="en-US" dirty="0"/>
          </a:p>
          <a:p>
            <a:pPr algn="just"/>
            <a:r>
              <a:rPr lang="en-IN" dirty="0"/>
              <a:t>If, the data member is defined as private or protected, then we cannot access the data variables directly. Then we will have to create special public member functions to access, use or initialize the private and protected data members. These member functions are also called </a:t>
            </a:r>
            <a:r>
              <a:rPr lang="en-IN" dirty="0" err="1"/>
              <a:t>Accessors</a:t>
            </a:r>
            <a:r>
              <a:rPr lang="en-IN" dirty="0"/>
              <a:t> and </a:t>
            </a:r>
            <a:r>
              <a:rPr lang="en-IN" dirty="0" err="1"/>
              <a:t>Mutator</a:t>
            </a:r>
            <a:r>
              <a:rPr lang="en-IN" dirty="0"/>
              <a:t>  methods or getter and setter functions.</a:t>
            </a: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IN" sz="2400" dirty="0">
                <a:latin typeface="Times New Roman" pitchFamily="18" charset="0"/>
                <a:cs typeface="Times New Roman" pitchFamily="18" charset="0"/>
              </a:rPr>
              <a:t>class person    {		//class declaration</a:t>
            </a:r>
          </a:p>
          <a:p>
            <a:pPr>
              <a:buNone/>
            </a:pPr>
            <a:r>
              <a:rPr lang="en-IN" sz="2400" dirty="0">
                <a:latin typeface="Times New Roman" pitchFamily="18" charset="0"/>
                <a:cs typeface="Times New Roman" pitchFamily="18" charset="0"/>
              </a:rPr>
              <a:t>public:			//access </a:t>
            </a:r>
            <a:r>
              <a:rPr lang="en-IN" sz="2400" dirty="0" err="1">
                <a:latin typeface="Times New Roman" pitchFamily="18" charset="0"/>
                <a:cs typeface="Times New Roman" pitchFamily="18" charset="0"/>
              </a:rPr>
              <a:t>specifier</a:t>
            </a:r>
            <a:endParaRPr lang="en-IN"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string name;		//variable declaration</a:t>
            </a:r>
          </a:p>
          <a:p>
            <a:pPr>
              <a:buNone/>
            </a:pPr>
            <a:r>
              <a:rPr lang="en-IN" sz="2400" dirty="0" err="1">
                <a:latin typeface="Times New Roman" pitchFamily="18" charset="0"/>
                <a:cs typeface="Times New Roman" pitchFamily="18" charset="0"/>
              </a:rPr>
              <a:t>int</a:t>
            </a:r>
            <a:r>
              <a:rPr lang="en-IN" sz="2400" dirty="0">
                <a:latin typeface="Times New Roman" pitchFamily="18" charset="0"/>
                <a:cs typeface="Times New Roman" pitchFamily="18" charset="0"/>
              </a:rPr>
              <a:t> number;</a:t>
            </a:r>
          </a:p>
          <a:p>
            <a:pPr>
              <a:buNone/>
            </a:pPr>
            <a:r>
              <a:rPr lang="en-IN" sz="2400" dirty="0">
                <a:latin typeface="Times New Roman" pitchFamily="18" charset="0"/>
                <a:cs typeface="Times New Roman" pitchFamily="18" charset="0"/>
              </a:rPr>
              <a:t>};</a:t>
            </a:r>
          </a:p>
          <a:p>
            <a:pPr>
              <a:buNone/>
            </a:pPr>
            <a:r>
              <a:rPr lang="en-IN" sz="2400" dirty="0">
                <a:latin typeface="Times New Roman" pitchFamily="18" charset="0"/>
                <a:cs typeface="Times New Roman" pitchFamily="18" charset="0"/>
              </a:rPr>
              <a:t>main()     {			//main function</a:t>
            </a:r>
          </a:p>
          <a:p>
            <a:pPr>
              <a:buNone/>
            </a:pPr>
            <a:r>
              <a:rPr lang="en-IN" sz="2400" dirty="0">
                <a:latin typeface="Times New Roman" pitchFamily="18" charset="0"/>
                <a:cs typeface="Times New Roman" pitchFamily="18" charset="0"/>
              </a:rPr>
              <a:t>person </a:t>
            </a:r>
            <a:r>
              <a:rPr lang="en-IN" sz="2400" dirty="0" err="1">
                <a:latin typeface="Times New Roman" pitchFamily="18" charset="0"/>
                <a:cs typeface="Times New Roman" pitchFamily="18" charset="0"/>
              </a:rPr>
              <a:t>obj</a:t>
            </a:r>
            <a:r>
              <a:rPr lang="en-IN" sz="2400" dirty="0">
                <a:latin typeface="Times New Roman" pitchFamily="18" charset="0"/>
                <a:cs typeface="Times New Roman" pitchFamily="18" charset="0"/>
              </a:rPr>
              <a:t>;		//object creation for class</a:t>
            </a:r>
          </a:p>
          <a:p>
            <a:pPr>
              <a:buNone/>
            </a:pPr>
            <a:r>
              <a:rPr lang="en-IN" sz="2400" dirty="0" err="1">
                <a:latin typeface="Times New Roman" pitchFamily="18" charset="0"/>
                <a:cs typeface="Times New Roman" pitchFamily="18" charset="0"/>
              </a:rPr>
              <a:t>cout</a:t>
            </a:r>
            <a:r>
              <a:rPr lang="en-IN" sz="2400" dirty="0">
                <a:latin typeface="Times New Roman" pitchFamily="18" charset="0"/>
                <a:cs typeface="Times New Roman" pitchFamily="18" charset="0"/>
              </a:rPr>
              <a:t>&lt;&lt;“Enter name:”;	//get input values for object variables</a:t>
            </a:r>
          </a:p>
          <a:p>
            <a:pPr>
              <a:buNone/>
            </a:pPr>
            <a:r>
              <a:rPr lang="en-IN" sz="2400" dirty="0" err="1">
                <a:latin typeface="Times New Roman" pitchFamily="18" charset="0"/>
                <a:cs typeface="Times New Roman" pitchFamily="18" charset="0"/>
              </a:rPr>
              <a:t>cin</a:t>
            </a:r>
            <a:r>
              <a:rPr lang="en-IN" sz="2400" dirty="0">
                <a:latin typeface="Times New Roman" pitchFamily="18" charset="0"/>
                <a:cs typeface="Times New Roman" pitchFamily="18" charset="0"/>
              </a:rPr>
              <a:t>&gt;&gt;obj.name;</a:t>
            </a:r>
          </a:p>
          <a:p>
            <a:pPr>
              <a:buNone/>
            </a:pPr>
            <a:r>
              <a:rPr lang="en-IN" sz="2400" dirty="0" err="1">
                <a:latin typeface="Times New Roman" pitchFamily="18" charset="0"/>
                <a:cs typeface="Times New Roman" pitchFamily="18" charset="0"/>
              </a:rPr>
              <a:t>cout</a:t>
            </a:r>
            <a:r>
              <a:rPr lang="en-IN" sz="2400" dirty="0">
                <a:latin typeface="Times New Roman" pitchFamily="18" charset="0"/>
                <a:cs typeface="Times New Roman" pitchFamily="18" charset="0"/>
              </a:rPr>
              <a:t>&lt;&lt;“Enter number:”;</a:t>
            </a:r>
          </a:p>
          <a:p>
            <a:pPr>
              <a:buNone/>
            </a:pPr>
            <a:r>
              <a:rPr lang="en-IN" sz="2400" dirty="0" err="1">
                <a:latin typeface="Times New Roman" pitchFamily="18" charset="0"/>
                <a:cs typeface="Times New Roman" pitchFamily="18" charset="0"/>
              </a:rPr>
              <a:t>cin</a:t>
            </a:r>
            <a:r>
              <a:rPr lang="en-IN" sz="2400" dirty="0">
                <a:latin typeface="Times New Roman" pitchFamily="18" charset="0"/>
                <a:cs typeface="Times New Roman" pitchFamily="18" charset="0"/>
              </a:rPr>
              <a:t>&gt;&gt;</a:t>
            </a:r>
            <a:r>
              <a:rPr lang="en-IN" sz="2400" dirty="0" err="1">
                <a:latin typeface="Times New Roman" pitchFamily="18" charset="0"/>
                <a:cs typeface="Times New Roman" pitchFamily="18" charset="0"/>
              </a:rPr>
              <a:t>obj.number</a:t>
            </a:r>
            <a:r>
              <a:rPr lang="en-IN" sz="2400" dirty="0">
                <a:latin typeface="Times New Roman" pitchFamily="18" charset="0"/>
                <a:cs typeface="Times New Roman" pitchFamily="18" charset="0"/>
              </a:rPr>
              <a:t>;</a:t>
            </a:r>
          </a:p>
          <a:p>
            <a:pPr>
              <a:buNone/>
            </a:pPr>
            <a:r>
              <a:rPr lang="en-IN" sz="2400" dirty="0" err="1">
                <a:latin typeface="Times New Roman" pitchFamily="18" charset="0"/>
                <a:cs typeface="Times New Roman" pitchFamily="18" charset="0"/>
              </a:rPr>
              <a:t>cout</a:t>
            </a:r>
            <a:r>
              <a:rPr lang="en-IN" sz="2400" dirty="0">
                <a:latin typeface="Times New Roman" pitchFamily="18" charset="0"/>
                <a:cs typeface="Times New Roman" pitchFamily="18" charset="0"/>
              </a:rPr>
              <a:t>&lt;&lt;obj.name&lt;&lt;“:”&lt;&lt;</a:t>
            </a:r>
            <a:r>
              <a:rPr lang="en-IN" sz="2400" dirty="0" err="1">
                <a:latin typeface="Times New Roman" pitchFamily="18" charset="0"/>
                <a:cs typeface="Times New Roman" pitchFamily="18" charset="0"/>
              </a:rPr>
              <a:t>obj.number</a:t>
            </a:r>
            <a:r>
              <a:rPr lang="en-IN" sz="2400" dirty="0">
                <a:latin typeface="Times New Roman" pitchFamily="18" charset="0"/>
                <a:cs typeface="Times New Roman" pitchFamily="18" charset="0"/>
              </a:rPr>
              <a:t>&lt;&lt;</a:t>
            </a:r>
            <a:r>
              <a:rPr lang="en-IN" sz="2400" dirty="0" err="1">
                <a:latin typeface="Times New Roman" pitchFamily="18" charset="0"/>
                <a:cs typeface="Times New Roman" pitchFamily="18" charset="0"/>
              </a:rPr>
              <a:t>endl</a:t>
            </a:r>
            <a:r>
              <a:rPr lang="en-IN" sz="2400" dirty="0">
                <a:latin typeface="Times New Roman" pitchFamily="18" charset="0"/>
                <a:cs typeface="Times New Roman" pitchFamily="18" charset="0"/>
              </a:rPr>
              <a:t>;	</a:t>
            </a:r>
            <a:endParaRPr lang="en-IN" sz="2400" dirty="0"/>
          </a:p>
        </p:txBody>
      </p:sp>
      <p:sp>
        <p:nvSpPr>
          <p:cNvPr id="10" name="TextBox 9"/>
          <p:cNvSpPr txBox="1"/>
          <p:nvPr/>
        </p:nvSpPr>
        <p:spPr>
          <a:xfrm>
            <a:off x="1090246" y="549218"/>
            <a:ext cx="8311661" cy="523220"/>
          </a:xfrm>
          <a:prstGeom prst="rect">
            <a:avLst/>
          </a:prstGeom>
          <a:noFill/>
        </p:spPr>
        <p:txBody>
          <a:bodyPr wrap="square" rtlCol="0">
            <a:spAutoFit/>
          </a:bodyPr>
          <a:lstStyle/>
          <a:p>
            <a:pPr algn="ctr"/>
            <a:r>
              <a:rPr lang="en-IN" sz="2800" b="1" dirty="0"/>
              <a:t>               Accessing Class Members</a:t>
            </a:r>
          </a:p>
        </p:txBody>
      </p:sp>
    </p:spTree>
    <p:extLst>
      <p:ext uri="{BB962C8B-B14F-4D97-AF65-F5344CB8AC3E}">
        <p14:creationId xmlns:p14="http://schemas.microsoft.com/office/powerpoint/2010/main" val="32054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2800" b="1" dirty="0">
                <a:latin typeface="+mn-lt"/>
                <a:ea typeface="+mn-ea"/>
                <a:cs typeface="+mn-cs"/>
              </a:rPr>
              <a:t>Accessing Public Class Members(Example)</a:t>
            </a:r>
            <a:endParaRPr lang="en-US" sz="2800" b="1" dirty="0">
              <a:latin typeface="+mn-lt"/>
              <a:ea typeface="+mn-ea"/>
              <a:cs typeface="+mn-cs"/>
            </a:endParaRPr>
          </a:p>
        </p:txBody>
      </p:sp>
      <p:sp>
        <p:nvSpPr>
          <p:cNvPr id="3" name="Content Placeholder 2"/>
          <p:cNvSpPr>
            <a:spLocks noGrp="1"/>
          </p:cNvSpPr>
          <p:nvPr>
            <p:ph idx="1"/>
          </p:nvPr>
        </p:nvSpPr>
        <p:spPr>
          <a:xfrm>
            <a:off x="744415" y="1860793"/>
            <a:ext cx="10515600" cy="4727575"/>
          </a:xfrm>
        </p:spPr>
        <p:txBody>
          <a:bodyPr>
            <a:normAutofit fontScale="25000" lnSpcReduction="20000"/>
          </a:bodyPr>
          <a:lstStyle/>
          <a:p>
            <a:pPr>
              <a:lnSpc>
                <a:spcPct val="120000"/>
              </a:lnSpc>
              <a:buNone/>
            </a:pPr>
            <a:r>
              <a:rPr lang="en-IN" sz="8800" dirty="0">
                <a:latin typeface="Times New Roman" pitchFamily="18" charset="0"/>
                <a:cs typeface="Times New Roman" pitchFamily="18" charset="0"/>
              </a:rPr>
              <a:t>Following is an example to show you how to initialize and use the public data members</a:t>
            </a:r>
          </a:p>
          <a:p>
            <a:pPr>
              <a:lnSpc>
                <a:spcPct val="120000"/>
              </a:lnSpc>
              <a:buNone/>
            </a:pPr>
            <a:r>
              <a:rPr lang="en-IN" sz="8800" dirty="0">
                <a:latin typeface="Times New Roman" pitchFamily="18" charset="0"/>
                <a:cs typeface="Times New Roman" pitchFamily="18" charset="0"/>
              </a:rPr>
              <a:t>using the dot (.) operator and the respective object of class.</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class Student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public:</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a:t>
            </a:r>
            <a:r>
              <a:rPr lang="en-IN" sz="8800" dirty="0" err="1">
                <a:latin typeface="Times New Roman" pitchFamily="18" charset="0"/>
                <a:cs typeface="Times New Roman" pitchFamily="18" charset="0"/>
              </a:rPr>
              <a:t>int</a:t>
            </a:r>
            <a:r>
              <a:rPr lang="en-IN" sz="8800" dirty="0">
                <a:latin typeface="Times New Roman" pitchFamily="18" charset="0"/>
                <a:cs typeface="Times New Roman" pitchFamily="18" charset="0"/>
              </a:rPr>
              <a:t> </a:t>
            </a:r>
            <a:r>
              <a:rPr lang="en-IN" sz="8800" dirty="0" err="1">
                <a:latin typeface="Times New Roman" pitchFamily="18" charset="0"/>
                <a:cs typeface="Times New Roman" pitchFamily="18" charset="0"/>
              </a:rPr>
              <a:t>rollno</a:t>
            </a: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string name;</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nSpc>
                <a:spcPct val="120000"/>
              </a:lnSpc>
              <a:buNone/>
            </a:pPr>
            <a:r>
              <a:rPr lang="en-IN" sz="8800" dirty="0" err="1">
                <a:latin typeface="Times New Roman" pitchFamily="18" charset="0"/>
                <a:cs typeface="Times New Roman" pitchFamily="18" charset="0"/>
              </a:rPr>
              <a:t>int</a:t>
            </a:r>
            <a:r>
              <a:rPr lang="en-IN" sz="8800" dirty="0">
                <a:latin typeface="Times New Roman" pitchFamily="18" charset="0"/>
                <a:cs typeface="Times New Roman" pitchFamily="18" charset="0"/>
              </a:rPr>
              <a:t> main()</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2800" b="1" dirty="0">
                <a:latin typeface="+mn-lt"/>
                <a:ea typeface="+mn-ea"/>
                <a:cs typeface="+mn-cs"/>
              </a:rPr>
              <a:t>Accessing Public Class Members</a:t>
            </a:r>
            <a:endParaRPr lang="en-US" sz="2800" b="1" dirty="0">
              <a:latin typeface="+mn-lt"/>
              <a:ea typeface="+mn-ea"/>
              <a:cs typeface="+mn-cs"/>
            </a:endParaRPr>
          </a:p>
        </p:txBody>
      </p:sp>
      <p:sp>
        <p:nvSpPr>
          <p:cNvPr id="3" name="Content Placeholder 2"/>
          <p:cNvSpPr>
            <a:spLocks noGrp="1"/>
          </p:cNvSpPr>
          <p:nvPr>
            <p:ph idx="1"/>
          </p:nvPr>
        </p:nvSpPr>
        <p:spPr>
          <a:xfrm>
            <a:off x="720968" y="1723292"/>
            <a:ext cx="10662139" cy="5134708"/>
          </a:xfrm>
        </p:spPr>
        <p:txBody>
          <a:bodyPr>
            <a:normAutofit fontScale="25000" lnSpcReduction="20000"/>
          </a:bodyPr>
          <a:lstStyle/>
          <a:p>
            <a:pPr>
              <a:lnSpc>
                <a:spcPct val="120000"/>
              </a:lnSpc>
              <a:buNone/>
            </a:pPr>
            <a:r>
              <a:rPr lang="en-IN" sz="8800" dirty="0">
                <a:latin typeface="Times New Roman" pitchFamily="18" charset="0"/>
                <a:cs typeface="Times New Roman" pitchFamily="18" charset="0"/>
              </a:rPr>
              <a:t>    Student A;</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Student B;</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 setting values for A object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a:t>
            </a:r>
            <a:r>
              <a:rPr lang="en-IN" sz="8800" dirty="0" err="1">
                <a:latin typeface="Times New Roman" pitchFamily="18" charset="0"/>
                <a:cs typeface="Times New Roman" pitchFamily="18" charset="0"/>
              </a:rPr>
              <a:t>A.rollno</a:t>
            </a:r>
            <a:r>
              <a:rPr lang="en-IN" sz="8800" dirty="0">
                <a:latin typeface="Times New Roman" pitchFamily="18" charset="0"/>
                <a:cs typeface="Times New Roman" pitchFamily="18" charset="0"/>
              </a:rPr>
              <a:t>=2021;</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A.name="Karan";</a:t>
            </a:r>
          </a:p>
          <a:p>
            <a:pPr>
              <a:lnSpc>
                <a:spcPct val="120000"/>
              </a:lnSpc>
              <a:buNone/>
            </a:pPr>
            <a:r>
              <a:rPr lang="en-IN" sz="8800" dirty="0">
                <a:latin typeface="Times New Roman" pitchFamily="18" charset="0"/>
                <a:cs typeface="Times New Roman" pitchFamily="18" charset="0"/>
              </a:rPr>
              <a:t>// setting values for B object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a:t>
            </a:r>
            <a:r>
              <a:rPr lang="en-IN" sz="8800" dirty="0" err="1">
                <a:latin typeface="Times New Roman" pitchFamily="18" charset="0"/>
                <a:cs typeface="Times New Roman" pitchFamily="18" charset="0"/>
              </a:rPr>
              <a:t>B.rollno</a:t>
            </a:r>
            <a:r>
              <a:rPr lang="en-IN" sz="8800" dirty="0">
                <a:latin typeface="Times New Roman" pitchFamily="18" charset="0"/>
                <a:cs typeface="Times New Roman" pitchFamily="18" charset="0"/>
              </a:rPr>
              <a:t>=20212121;</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B.name="</a:t>
            </a:r>
            <a:r>
              <a:rPr lang="en-IN" sz="8800" dirty="0" err="1">
                <a:latin typeface="Times New Roman" pitchFamily="18" charset="0"/>
                <a:cs typeface="Times New Roman" pitchFamily="18" charset="0"/>
              </a:rPr>
              <a:t>Arjun</a:t>
            </a:r>
            <a:r>
              <a:rPr lang="en-IN" sz="8800" dirty="0">
                <a:latin typeface="Times New Roman" pitchFamily="18" charset="0"/>
                <a:cs typeface="Times New Roman" pitchFamily="18" charset="0"/>
              </a:rPr>
              <a:t>";</a:t>
            </a:r>
          </a:p>
          <a:p>
            <a:pPr>
              <a:lnSpc>
                <a:spcPct val="120000"/>
              </a:lnSpc>
              <a:buNone/>
            </a:pPr>
            <a:r>
              <a:rPr lang="en-IN" sz="8800" dirty="0" err="1">
                <a:latin typeface="Times New Roman" pitchFamily="18" charset="0"/>
                <a:cs typeface="Times New Roman" pitchFamily="18" charset="0"/>
              </a:rPr>
              <a:t>cout</a:t>
            </a:r>
            <a:r>
              <a:rPr lang="en-IN" sz="8800" dirty="0">
                <a:latin typeface="Times New Roman" pitchFamily="18" charset="0"/>
                <a:cs typeface="Times New Roman" pitchFamily="18" charset="0"/>
              </a:rPr>
              <a:t> &lt;&lt;"Name and Roll no of A is: "&lt;&lt; A.name &lt;&lt; "-" &lt;&lt; </a:t>
            </a:r>
            <a:r>
              <a:rPr lang="en-IN" sz="8800" dirty="0" err="1">
                <a:latin typeface="Times New Roman" pitchFamily="18" charset="0"/>
                <a:cs typeface="Times New Roman" pitchFamily="18" charset="0"/>
              </a:rPr>
              <a:t>A.rollno</a:t>
            </a: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a:t>
            </a:r>
            <a:r>
              <a:rPr lang="en-IN" sz="8800" dirty="0" err="1">
                <a:latin typeface="Times New Roman" pitchFamily="18" charset="0"/>
                <a:cs typeface="Times New Roman" pitchFamily="18" charset="0"/>
              </a:rPr>
              <a:t>cout</a:t>
            </a:r>
            <a:r>
              <a:rPr lang="en-IN" sz="8800" dirty="0">
                <a:latin typeface="Times New Roman" pitchFamily="18" charset="0"/>
                <a:cs typeface="Times New Roman" pitchFamily="18" charset="0"/>
              </a:rPr>
              <a:t> &lt;&lt;"Name and Roll no of B is: "&lt;&lt; B.name &lt;&lt; "-" &lt;&lt; </a:t>
            </a:r>
            <a:r>
              <a:rPr lang="en-IN" sz="8800" dirty="0" err="1">
                <a:latin typeface="Times New Roman" pitchFamily="18" charset="0"/>
                <a:cs typeface="Times New Roman" pitchFamily="18" charset="0"/>
              </a:rPr>
              <a:t>B.rollno</a:t>
            </a: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nSpc>
                <a:spcPct val="120000"/>
              </a:lnSpc>
              <a:buNone/>
            </a:pPr>
            <a:r>
              <a:rPr lang="en-IN" sz="8800" dirty="0">
                <a:latin typeface="Times New Roman" pitchFamily="18" charset="0"/>
                <a:cs typeface="Times New Roman" pitchFamily="18" charset="0"/>
              </a:rPr>
              <a:t> </a:t>
            </a:r>
            <a:endParaRPr lang="en-US" sz="8800" dirty="0">
              <a:latin typeface="Times New Roman" pitchFamily="18" charset="0"/>
              <a:cs typeface="Times New Roman" pitchFamily="18" charset="0"/>
            </a:endParaRPr>
          </a:p>
          <a:p>
            <a:pPr>
              <a:lnSpc>
                <a:spcPct val="100000"/>
              </a:lnSpc>
              <a:buNone/>
            </a:pPr>
            <a:endParaRPr lang="en-US" dirty="0">
              <a:latin typeface="Times New Roman" pitchFamily="18" charset="0"/>
              <a:cs typeface="Times New Roman" pitchFamily="18" charset="0"/>
            </a:endParaRPr>
          </a:p>
          <a:p>
            <a:pPr>
              <a:lnSpc>
                <a:spcPct val="120000"/>
              </a:lnSpc>
              <a:buNone/>
            </a:pPr>
            <a:endParaRPr lang="en-US" dirty="0">
              <a:latin typeface="Times New Roman" pitchFamily="18" charset="0"/>
              <a:cs typeface="Times New Roman" pitchFamily="18" charset="0"/>
            </a:endParaRPr>
          </a:p>
          <a:p>
            <a:pPr>
              <a:lnSpc>
                <a:spcPct val="120000"/>
              </a:lnSpc>
              <a:buNone/>
            </a:pPr>
            <a:r>
              <a:rPr lang="en-IN" dirty="0">
                <a:latin typeface="Times New Roman" pitchFamily="18" charset="0"/>
                <a:cs typeface="Times New Roman" pitchFamily="18" charset="0"/>
              </a:rPr>
              <a:t>    </a:t>
            </a:r>
            <a:endParaRPr lang="en-US" dirty="0">
              <a:latin typeface="Times New Roman" pitchFamily="18" charset="0"/>
              <a:cs typeface="Times New Roman" pitchFamily="18" charset="0"/>
            </a:endParaRP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71600"/>
            <a:ext cx="10515600" cy="5240215"/>
          </a:xfrm>
          <a:ln>
            <a:solidFill>
              <a:schemeClr val="accent1"/>
            </a:solidFill>
          </a:ln>
        </p:spPr>
        <p:txBody>
          <a:bodyPr>
            <a:noAutofit/>
          </a:bodyPr>
          <a:lstStyle/>
          <a:p>
            <a:pPr>
              <a:lnSpc>
                <a:spcPct val="100000"/>
              </a:lnSpc>
              <a:buNone/>
            </a:pPr>
            <a:r>
              <a:rPr lang="en-IN" sz="2200" dirty="0">
                <a:latin typeface="Times New Roman" pitchFamily="18" charset="0"/>
                <a:cs typeface="Times New Roman" pitchFamily="18" charset="0"/>
              </a:rPr>
              <a:t> </a:t>
            </a:r>
            <a:endParaRPr lang="en-US" sz="2200" dirty="0">
              <a:latin typeface="Times New Roman" pitchFamily="18" charset="0"/>
              <a:cs typeface="Times New Roman" pitchFamily="18" charset="0"/>
            </a:endParaRPr>
          </a:p>
          <a:p>
            <a:pPr>
              <a:lnSpc>
                <a:spcPct val="100000"/>
              </a:lnSpc>
              <a:buNone/>
            </a:pPr>
            <a:r>
              <a:rPr lang="en-IN" sz="2200" dirty="0">
                <a:latin typeface="Times New Roman" pitchFamily="18" charset="0"/>
                <a:cs typeface="Times New Roman" pitchFamily="18" charset="0"/>
              </a:rPr>
              <a:t>OUTPUT:</a:t>
            </a:r>
            <a:br>
              <a:rPr lang="en-IN"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a:p>
            <a:pPr>
              <a:lnSpc>
                <a:spcPct val="100000"/>
              </a:lnSpc>
              <a:buNone/>
            </a:pPr>
            <a:r>
              <a:rPr lang="en-IN" sz="2200" dirty="0">
                <a:latin typeface="Times New Roman" pitchFamily="18" charset="0"/>
                <a:cs typeface="Times New Roman" pitchFamily="18" charset="0"/>
              </a:rPr>
              <a:t>Name and Roll no of A is: Karan-2021</a:t>
            </a:r>
            <a:endParaRPr lang="en-US" sz="2200" dirty="0">
              <a:latin typeface="Times New Roman" pitchFamily="18" charset="0"/>
              <a:cs typeface="Times New Roman" pitchFamily="18" charset="0"/>
            </a:endParaRPr>
          </a:p>
          <a:p>
            <a:pPr>
              <a:lnSpc>
                <a:spcPct val="100000"/>
              </a:lnSpc>
              <a:buNone/>
            </a:pPr>
            <a:r>
              <a:rPr lang="en-IN" sz="2200" dirty="0">
                <a:latin typeface="Times New Roman" pitchFamily="18" charset="0"/>
                <a:cs typeface="Times New Roman" pitchFamily="18" charset="0"/>
              </a:rPr>
              <a:t>Name and Roll no of B is: Arjun-20212121</a:t>
            </a:r>
            <a:endParaRPr lang="en-US" sz="2200" dirty="0">
              <a:latin typeface="Times New Roman" pitchFamily="18" charset="0"/>
              <a:cs typeface="Times New Roman" pitchFamily="18" charset="0"/>
            </a:endParaRPr>
          </a:p>
          <a:p>
            <a:pPr>
              <a:lnSpc>
                <a:spcPct val="100000"/>
              </a:lnSpc>
              <a:buNone/>
            </a:pPr>
            <a:r>
              <a:rPr lang="en-US" sz="22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DF1665-8102-6D5F-5182-C545D877CFF1}"/>
              </a:ext>
            </a:extLst>
          </p:cNvPr>
          <p:cNvSpPr>
            <a:spLocks noGrp="1"/>
          </p:cNvSpPr>
          <p:nvPr>
            <p:ph idx="1"/>
          </p:nvPr>
        </p:nvSpPr>
        <p:spPr>
          <a:xfrm>
            <a:off x="838200" y="560439"/>
            <a:ext cx="10515600" cy="5616524"/>
          </a:xfrm>
        </p:spPr>
        <p:txBody>
          <a:bodyPr>
            <a:noAutofit/>
          </a:bodyPr>
          <a:lstStyle/>
          <a:p>
            <a:r>
              <a:rPr lang="en-IN" sz="1200" dirty="0"/>
              <a:t>// C++ program to demonstrate accessing of data members </a:t>
            </a:r>
          </a:p>
          <a:p>
            <a:r>
              <a:rPr lang="en-IN" sz="1200" dirty="0"/>
              <a:t>#include &lt;bits/</a:t>
            </a:r>
            <a:r>
              <a:rPr lang="en-IN" sz="1200" dirty="0" err="1"/>
              <a:t>stdc</a:t>
            </a:r>
            <a:r>
              <a:rPr lang="en-IN" sz="1200" dirty="0"/>
              <a:t>++.h&gt; </a:t>
            </a:r>
          </a:p>
          <a:p>
            <a:r>
              <a:rPr lang="en-IN" sz="1200" dirty="0"/>
              <a:t>using namespace std; </a:t>
            </a:r>
          </a:p>
          <a:p>
            <a:r>
              <a:rPr lang="en-IN" sz="1200" dirty="0"/>
              <a:t>class Geeks { </a:t>
            </a:r>
          </a:p>
          <a:p>
            <a:r>
              <a:rPr lang="en-IN" sz="1200" dirty="0"/>
              <a:t>	// Access specifier </a:t>
            </a:r>
          </a:p>
          <a:p>
            <a:r>
              <a:rPr lang="en-IN" sz="1200" dirty="0"/>
              <a:t>public: </a:t>
            </a:r>
          </a:p>
          <a:p>
            <a:r>
              <a:rPr lang="en-IN" sz="1200" dirty="0"/>
              <a:t>	// Data Members </a:t>
            </a:r>
          </a:p>
          <a:p>
            <a:r>
              <a:rPr lang="en-IN" sz="1200" dirty="0"/>
              <a:t>	string </a:t>
            </a:r>
            <a:r>
              <a:rPr lang="en-IN" sz="1200" dirty="0" err="1"/>
              <a:t>geekname</a:t>
            </a:r>
            <a:r>
              <a:rPr lang="en-IN" sz="1200" dirty="0"/>
              <a:t>; </a:t>
            </a:r>
          </a:p>
          <a:p>
            <a:r>
              <a:rPr lang="en-IN" sz="1200" dirty="0"/>
              <a:t>	// Member Functions() </a:t>
            </a:r>
          </a:p>
          <a:p>
            <a:r>
              <a:rPr lang="en-IN" sz="1200" dirty="0"/>
              <a:t>	void </a:t>
            </a:r>
            <a:r>
              <a:rPr lang="en-IN" sz="1200" dirty="0" err="1"/>
              <a:t>printname</a:t>
            </a:r>
            <a:r>
              <a:rPr lang="en-IN" sz="1200" dirty="0"/>
              <a:t>() { </a:t>
            </a:r>
            <a:r>
              <a:rPr lang="en-IN" sz="1200" dirty="0" err="1"/>
              <a:t>cout</a:t>
            </a:r>
            <a:r>
              <a:rPr lang="en-IN" sz="1200" dirty="0"/>
              <a:t> &lt;&lt; "</a:t>
            </a:r>
            <a:r>
              <a:rPr lang="en-IN" sz="1200" dirty="0" err="1"/>
              <a:t>Geekname</a:t>
            </a:r>
            <a:r>
              <a:rPr lang="en-IN" sz="1200" dirty="0"/>
              <a:t> is:" &lt;&lt; </a:t>
            </a:r>
            <a:r>
              <a:rPr lang="en-IN" sz="1200" dirty="0" err="1"/>
              <a:t>geekname</a:t>
            </a:r>
            <a:r>
              <a:rPr lang="en-IN" sz="1200" dirty="0"/>
              <a:t>; } </a:t>
            </a:r>
          </a:p>
          <a:p>
            <a:r>
              <a:rPr lang="en-IN" sz="1200" dirty="0"/>
              <a:t>}; </a:t>
            </a:r>
          </a:p>
          <a:p>
            <a:r>
              <a:rPr lang="en-IN" sz="1200" dirty="0"/>
              <a:t>int main() </a:t>
            </a:r>
          </a:p>
          <a:p>
            <a:r>
              <a:rPr lang="en-IN" sz="1200" dirty="0"/>
              <a:t>{ </a:t>
            </a:r>
          </a:p>
          <a:p>
            <a:r>
              <a:rPr lang="en-IN" sz="1200" dirty="0"/>
              <a:t>	// Declare an object of class geeks </a:t>
            </a:r>
          </a:p>
          <a:p>
            <a:r>
              <a:rPr lang="en-IN" sz="1200" dirty="0"/>
              <a:t>	Geeks obj1; </a:t>
            </a:r>
          </a:p>
          <a:p>
            <a:r>
              <a:rPr lang="en-IN" sz="1200" dirty="0"/>
              <a:t>	// accessing data member </a:t>
            </a:r>
          </a:p>
          <a:p>
            <a:r>
              <a:rPr lang="en-IN" sz="1200" dirty="0"/>
              <a:t>	obj1.geekname = "Abhi"; </a:t>
            </a:r>
          </a:p>
          <a:p>
            <a:r>
              <a:rPr lang="en-IN" sz="1200" dirty="0"/>
              <a:t>	// accessing member function </a:t>
            </a:r>
          </a:p>
          <a:p>
            <a:r>
              <a:rPr lang="en-IN" sz="1200" dirty="0"/>
              <a:t>	obj1.printname(); </a:t>
            </a:r>
          </a:p>
          <a:p>
            <a:r>
              <a:rPr lang="en-IN" sz="1200" dirty="0"/>
              <a:t>	return 0; </a:t>
            </a:r>
          </a:p>
          <a:p>
            <a:r>
              <a:rPr lang="en-IN" sz="1200" dirty="0"/>
              <a:t>}</a:t>
            </a:r>
          </a:p>
          <a:p>
            <a:endParaRPr lang="en-IN" sz="1200" dirty="0"/>
          </a:p>
        </p:txBody>
      </p:sp>
      <p:sp>
        <p:nvSpPr>
          <p:cNvPr id="4" name="Slide Number Placeholder 3">
            <a:extLst>
              <a:ext uri="{FF2B5EF4-FFF2-40B4-BE49-F238E27FC236}">
                <a16:creationId xmlns:a16="http://schemas.microsoft.com/office/drawing/2014/main" id="{8844BAC3-21F6-1730-A915-010E81E330DD}"/>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353211206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32A8EB-C91F-89ED-CF04-B1F0B8409B55}"/>
              </a:ext>
            </a:extLst>
          </p:cNvPr>
          <p:cNvSpPr>
            <a:spLocks noGrp="1"/>
          </p:cNvSpPr>
          <p:nvPr>
            <p:ph idx="1"/>
          </p:nvPr>
        </p:nvSpPr>
        <p:spPr>
          <a:xfrm>
            <a:off x="218768" y="429444"/>
            <a:ext cx="4978874" cy="6292031"/>
          </a:xfrm>
        </p:spPr>
        <p:txBody>
          <a:bodyPr>
            <a:normAutofit fontScale="55000" lnSpcReduction="20000"/>
          </a:bodyPr>
          <a:lstStyle/>
          <a:p>
            <a:r>
              <a:rPr lang="en-IN" dirty="0"/>
              <a:t>// C++ program to demonstrate function </a:t>
            </a:r>
          </a:p>
          <a:p>
            <a:r>
              <a:rPr lang="en-IN" dirty="0"/>
              <a:t>// declaration outside class </a:t>
            </a:r>
          </a:p>
          <a:p>
            <a:endParaRPr lang="en-IN" dirty="0"/>
          </a:p>
          <a:p>
            <a:r>
              <a:rPr lang="en-IN" dirty="0"/>
              <a:t>#include &lt;bits/</a:t>
            </a:r>
            <a:r>
              <a:rPr lang="en-IN" dirty="0" err="1"/>
              <a:t>stdc</a:t>
            </a:r>
            <a:r>
              <a:rPr lang="en-IN" dirty="0"/>
              <a:t>++.h&gt; </a:t>
            </a:r>
          </a:p>
          <a:p>
            <a:r>
              <a:rPr lang="en-IN" dirty="0"/>
              <a:t>using namespace std; </a:t>
            </a:r>
          </a:p>
          <a:p>
            <a:r>
              <a:rPr lang="en-IN" dirty="0"/>
              <a:t>class Geeks </a:t>
            </a:r>
          </a:p>
          <a:p>
            <a:r>
              <a:rPr lang="en-IN" dirty="0"/>
              <a:t>{ </a:t>
            </a:r>
          </a:p>
          <a:p>
            <a:r>
              <a:rPr lang="en-IN" dirty="0"/>
              <a:t>	public: </a:t>
            </a:r>
          </a:p>
          <a:p>
            <a:r>
              <a:rPr lang="en-IN" dirty="0"/>
              <a:t>	string </a:t>
            </a:r>
            <a:r>
              <a:rPr lang="en-IN" dirty="0" err="1"/>
              <a:t>geekname</a:t>
            </a:r>
            <a:r>
              <a:rPr lang="en-IN" dirty="0"/>
              <a:t>; </a:t>
            </a:r>
          </a:p>
          <a:p>
            <a:r>
              <a:rPr lang="en-IN" dirty="0"/>
              <a:t>	int id; </a:t>
            </a:r>
          </a:p>
          <a:p>
            <a:r>
              <a:rPr lang="en-IN" dirty="0"/>
              <a:t>	</a:t>
            </a:r>
          </a:p>
          <a:p>
            <a:r>
              <a:rPr lang="en-IN" dirty="0"/>
              <a:t>	// </a:t>
            </a:r>
            <a:r>
              <a:rPr lang="en-IN" dirty="0" err="1"/>
              <a:t>printname</a:t>
            </a:r>
            <a:r>
              <a:rPr lang="en-IN" dirty="0"/>
              <a:t> is not defined inside class definition </a:t>
            </a:r>
          </a:p>
          <a:p>
            <a:r>
              <a:rPr lang="en-IN" dirty="0"/>
              <a:t>	void </a:t>
            </a:r>
            <a:r>
              <a:rPr lang="en-IN" dirty="0" err="1"/>
              <a:t>printname</a:t>
            </a:r>
            <a:r>
              <a:rPr lang="en-IN" dirty="0"/>
              <a:t>(); </a:t>
            </a:r>
          </a:p>
          <a:p>
            <a:r>
              <a:rPr lang="en-IN" dirty="0"/>
              <a:t>	</a:t>
            </a:r>
          </a:p>
          <a:p>
            <a:r>
              <a:rPr lang="en-IN" dirty="0"/>
              <a:t>	// </a:t>
            </a:r>
            <a:r>
              <a:rPr lang="en-IN" dirty="0" err="1"/>
              <a:t>printid</a:t>
            </a:r>
            <a:r>
              <a:rPr lang="en-IN" dirty="0"/>
              <a:t> is defined inside class definition </a:t>
            </a:r>
          </a:p>
          <a:p>
            <a:r>
              <a:rPr lang="en-IN" dirty="0"/>
              <a:t>	void </a:t>
            </a:r>
            <a:r>
              <a:rPr lang="en-IN" dirty="0" err="1"/>
              <a:t>printid</a:t>
            </a:r>
            <a:r>
              <a:rPr lang="en-IN" dirty="0"/>
              <a:t>() </a:t>
            </a:r>
          </a:p>
          <a:p>
            <a:r>
              <a:rPr lang="en-IN" dirty="0"/>
              <a:t>	{ </a:t>
            </a:r>
          </a:p>
          <a:p>
            <a:r>
              <a:rPr lang="en-IN" dirty="0"/>
              <a:t>		</a:t>
            </a:r>
            <a:r>
              <a:rPr lang="en-IN" dirty="0" err="1"/>
              <a:t>cout</a:t>
            </a:r>
            <a:r>
              <a:rPr lang="en-IN" dirty="0"/>
              <a:t> &lt;&lt;"Geek id is: "&lt;&lt;id; </a:t>
            </a:r>
          </a:p>
          <a:p>
            <a:r>
              <a:rPr lang="en-IN" dirty="0"/>
              <a:t>	} </a:t>
            </a:r>
          </a:p>
          <a:p>
            <a:r>
              <a:rPr lang="en-IN" dirty="0"/>
              <a:t>}; </a:t>
            </a:r>
          </a:p>
          <a:p>
            <a:endParaRPr lang="en-IN" dirty="0"/>
          </a:p>
          <a:p>
            <a:endParaRPr lang="en-IN" dirty="0"/>
          </a:p>
        </p:txBody>
      </p:sp>
      <p:sp>
        <p:nvSpPr>
          <p:cNvPr id="4" name="Slide Number Placeholder 3">
            <a:extLst>
              <a:ext uri="{FF2B5EF4-FFF2-40B4-BE49-F238E27FC236}">
                <a16:creationId xmlns:a16="http://schemas.microsoft.com/office/drawing/2014/main" id="{AE421DAC-F7D6-B95B-5F80-60E2C3AB1DD5}"/>
              </a:ext>
            </a:extLst>
          </p:cNvPr>
          <p:cNvSpPr>
            <a:spLocks noGrp="1"/>
          </p:cNvSpPr>
          <p:nvPr>
            <p:ph type="sldNum" sz="quarter" idx="12"/>
          </p:nvPr>
        </p:nvSpPr>
        <p:spPr/>
        <p:txBody>
          <a:bodyPr/>
          <a:lstStyle/>
          <a:p>
            <a:fld id="{BDCDBBEF-AA6C-4BA6-85B2-A17D7F280E38}" type="slidenum">
              <a:rPr lang="en-US" smtClean="0"/>
              <a:pPr/>
              <a:t>18</a:t>
            </a:fld>
            <a:endParaRPr lang="en-US"/>
          </a:p>
        </p:txBody>
      </p:sp>
      <p:sp>
        <p:nvSpPr>
          <p:cNvPr id="5" name="TextBox 4">
            <a:extLst>
              <a:ext uri="{FF2B5EF4-FFF2-40B4-BE49-F238E27FC236}">
                <a16:creationId xmlns:a16="http://schemas.microsoft.com/office/drawing/2014/main" id="{A7350A7B-D7B0-AC2F-2A41-A036BD142BEF}"/>
              </a:ext>
            </a:extLst>
          </p:cNvPr>
          <p:cNvSpPr txBox="1"/>
          <p:nvPr/>
        </p:nvSpPr>
        <p:spPr>
          <a:xfrm>
            <a:off x="5852160" y="837398"/>
            <a:ext cx="5881162" cy="5355312"/>
          </a:xfrm>
          <a:prstGeom prst="rect">
            <a:avLst/>
          </a:prstGeom>
          <a:noFill/>
        </p:spPr>
        <p:txBody>
          <a:bodyPr wrap="none" rtlCol="0">
            <a:spAutoFit/>
          </a:bodyPr>
          <a:lstStyle/>
          <a:p>
            <a:r>
              <a:rPr lang="en-IN" dirty="0"/>
              <a:t>// Definition of </a:t>
            </a:r>
            <a:r>
              <a:rPr lang="en-IN" dirty="0" err="1"/>
              <a:t>printname</a:t>
            </a:r>
            <a:r>
              <a:rPr lang="en-IN" dirty="0"/>
              <a:t> using scope resolution operator :: </a:t>
            </a:r>
          </a:p>
          <a:p>
            <a:r>
              <a:rPr lang="en-IN" dirty="0"/>
              <a:t>void Geeks::</a:t>
            </a:r>
            <a:r>
              <a:rPr lang="en-IN" dirty="0" err="1"/>
              <a:t>printname</a:t>
            </a:r>
            <a:r>
              <a:rPr lang="en-IN" dirty="0"/>
              <a:t>() </a:t>
            </a:r>
          </a:p>
          <a:p>
            <a:r>
              <a:rPr lang="en-IN" dirty="0"/>
              <a:t>{ </a:t>
            </a:r>
          </a:p>
          <a:p>
            <a:r>
              <a:rPr lang="en-IN" dirty="0"/>
              <a:t>	</a:t>
            </a:r>
            <a:r>
              <a:rPr lang="en-IN" dirty="0" err="1"/>
              <a:t>cout</a:t>
            </a:r>
            <a:r>
              <a:rPr lang="en-IN" dirty="0"/>
              <a:t> &lt;&lt;"</a:t>
            </a:r>
            <a:r>
              <a:rPr lang="en-IN" dirty="0" err="1"/>
              <a:t>Geekname</a:t>
            </a:r>
            <a:r>
              <a:rPr lang="en-IN" dirty="0"/>
              <a:t> is: "&lt;&lt;</a:t>
            </a:r>
            <a:r>
              <a:rPr lang="en-IN" dirty="0" err="1"/>
              <a:t>geekname</a:t>
            </a:r>
            <a:r>
              <a:rPr lang="en-IN" dirty="0"/>
              <a:t>; </a:t>
            </a:r>
          </a:p>
          <a:p>
            <a:r>
              <a:rPr lang="en-IN" dirty="0"/>
              <a:t>} </a:t>
            </a:r>
          </a:p>
          <a:p>
            <a:r>
              <a:rPr lang="en-IN" dirty="0"/>
              <a:t>int main() { </a:t>
            </a:r>
          </a:p>
          <a:p>
            <a:r>
              <a:rPr lang="en-IN" dirty="0"/>
              <a:t>	</a:t>
            </a:r>
          </a:p>
          <a:p>
            <a:r>
              <a:rPr lang="en-IN" dirty="0"/>
              <a:t>	Geeks obj1; </a:t>
            </a:r>
          </a:p>
          <a:p>
            <a:r>
              <a:rPr lang="en-IN" dirty="0"/>
              <a:t>	obj1.geekname = "</a:t>
            </a:r>
            <a:r>
              <a:rPr lang="en-IN" dirty="0" err="1"/>
              <a:t>xyz</a:t>
            </a:r>
            <a:r>
              <a:rPr lang="en-IN" dirty="0"/>
              <a:t>"; </a:t>
            </a:r>
          </a:p>
          <a:p>
            <a:r>
              <a:rPr lang="en-IN" dirty="0"/>
              <a:t>	obj1.id=15; </a:t>
            </a:r>
          </a:p>
          <a:p>
            <a:r>
              <a:rPr lang="en-IN" dirty="0"/>
              <a:t>	</a:t>
            </a:r>
          </a:p>
          <a:p>
            <a:r>
              <a:rPr lang="en-IN" dirty="0"/>
              <a:t>	// call </a:t>
            </a:r>
            <a:r>
              <a:rPr lang="en-IN" dirty="0" err="1"/>
              <a:t>printname</a:t>
            </a:r>
            <a:r>
              <a:rPr lang="en-IN" dirty="0"/>
              <a:t>() </a:t>
            </a:r>
          </a:p>
          <a:p>
            <a:r>
              <a:rPr lang="en-IN" dirty="0"/>
              <a:t>	obj1.printname(); </a:t>
            </a:r>
          </a:p>
          <a:p>
            <a:r>
              <a:rPr lang="en-IN" dirty="0"/>
              <a:t>	</a:t>
            </a:r>
            <a:r>
              <a:rPr lang="en-IN" dirty="0" err="1"/>
              <a:t>cout</a:t>
            </a:r>
            <a:r>
              <a:rPr lang="en-IN" dirty="0"/>
              <a:t> &lt;&lt; </a:t>
            </a:r>
            <a:r>
              <a:rPr lang="en-IN" dirty="0" err="1"/>
              <a:t>endl</a:t>
            </a:r>
            <a:r>
              <a:rPr lang="en-IN" dirty="0"/>
              <a:t>; </a:t>
            </a:r>
          </a:p>
          <a:p>
            <a:r>
              <a:rPr lang="en-IN" dirty="0"/>
              <a:t>	</a:t>
            </a:r>
          </a:p>
          <a:p>
            <a:r>
              <a:rPr lang="en-IN" dirty="0"/>
              <a:t>	// call </a:t>
            </a:r>
            <a:r>
              <a:rPr lang="en-IN" dirty="0" err="1"/>
              <a:t>printid</a:t>
            </a:r>
            <a:r>
              <a:rPr lang="en-IN" dirty="0"/>
              <a:t>() </a:t>
            </a:r>
          </a:p>
          <a:p>
            <a:r>
              <a:rPr lang="en-IN" dirty="0"/>
              <a:t>	obj1.printid(); </a:t>
            </a:r>
          </a:p>
          <a:p>
            <a:r>
              <a:rPr lang="en-IN" dirty="0"/>
              <a:t>	return 0; </a:t>
            </a:r>
          </a:p>
          <a:p>
            <a:r>
              <a:rPr lang="en-IN" dirty="0"/>
              <a:t>}</a:t>
            </a:r>
          </a:p>
        </p:txBody>
      </p:sp>
    </p:spTree>
    <p:extLst>
      <p:ext uri="{BB962C8B-B14F-4D97-AF65-F5344CB8AC3E}">
        <p14:creationId xmlns:p14="http://schemas.microsoft.com/office/powerpoint/2010/main" val="125420690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normAutofit/>
          </a:bodyPr>
          <a:lstStyle/>
          <a:p>
            <a:r>
              <a:rPr lang="en-US" sz="2800" b="1" dirty="0"/>
              <a:t>Frequently Asked question</a:t>
            </a:r>
            <a:endParaRPr lang="en-IN" sz="2800"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92500" lnSpcReduction="20000"/>
          </a:bodyPr>
          <a:lstStyle/>
          <a:p>
            <a:pPr>
              <a:buNone/>
            </a:pPr>
            <a:r>
              <a:rPr lang="en-IN" b="1" dirty="0"/>
              <a:t>Q1</a:t>
            </a:r>
            <a:r>
              <a:rPr lang="en-IN" dirty="0"/>
              <a:t>What is a class? </a:t>
            </a:r>
            <a:endParaRPr lang="en-US" dirty="0"/>
          </a:p>
          <a:p>
            <a:pPr algn="just">
              <a:buNone/>
            </a:pPr>
            <a:r>
              <a:rPr lang="en-IN" dirty="0"/>
              <a:t>   A class is user defined data type which consists of two sections, a private and  a protected section that holds data and a public section that holds the interface operations. A class definition is a process of naming a class and data variables, and methods or interface operations of the class. A </a:t>
            </a:r>
            <a:r>
              <a:rPr lang="en-US" dirty="0"/>
              <a:t>class is defined in C++ using keyword class followed by the name of class. The body of class is defined inside the curly brackets and terminated by a semicolon at the end.</a:t>
            </a:r>
          </a:p>
          <a:p>
            <a:pPr marL="0" indent="0" algn="just">
              <a:buNone/>
            </a:pPr>
            <a:endParaRPr lang="en-IN" dirty="0"/>
          </a:p>
          <a:p>
            <a:pPr>
              <a:buNone/>
            </a:pPr>
            <a:r>
              <a:rPr lang="en-IN" b="1" dirty="0"/>
              <a:t>Q2 </a:t>
            </a:r>
            <a:r>
              <a:rPr lang="en-IN" dirty="0"/>
              <a:t>What is an object?</a:t>
            </a:r>
            <a:endParaRPr lang="en-US" dirty="0"/>
          </a:p>
          <a:p>
            <a:pPr algn="just">
              <a:buNone/>
            </a:pPr>
            <a:r>
              <a:rPr lang="en-IN" dirty="0"/>
              <a:t>    An </a:t>
            </a:r>
            <a:r>
              <a:rPr lang="en-US" dirty="0"/>
              <a:t>Object is an instance of a Class. When a class is defined, no memory is allocated but when it is instantiated (i.e. an object is created) memory is allocated. For example: in real life, a car is an object</a:t>
            </a:r>
            <a:r>
              <a:rPr lang="en-IN" dirty="0"/>
              <a:t>.</a:t>
            </a: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a:bodyPr>
          <a:lstStyle/>
          <a:p>
            <a:pPr>
              <a:buNone/>
            </a:pPr>
            <a:r>
              <a:rPr lang="en-IN" b="1" dirty="0"/>
              <a:t>Q3 </a:t>
            </a:r>
            <a:r>
              <a:rPr lang="en-IN" dirty="0"/>
              <a:t>How to create an object?</a:t>
            </a:r>
            <a:endParaRPr lang="en-US" dirty="0"/>
          </a:p>
          <a:p>
            <a:pPr algn="just">
              <a:buNone/>
            </a:pPr>
            <a:r>
              <a:rPr lang="en-IN" dirty="0"/>
              <a:t>  Objects are created from classes. Class objects are declared in a similar way as variables are declared. The class name must start, followed by the object name.</a:t>
            </a:r>
            <a:endParaRPr lang="en-US" dirty="0"/>
          </a:p>
          <a:p>
            <a:pPr>
              <a:buNone/>
            </a:pPr>
            <a:r>
              <a:rPr lang="en-IN" b="1" dirty="0"/>
              <a:t>class name object name;</a:t>
            </a:r>
            <a:endParaRPr lang="en-US" dirty="0"/>
          </a:p>
          <a:p>
            <a:pPr marL="0" indent="0">
              <a:buNone/>
            </a:pPr>
            <a:r>
              <a:rPr lang="en-IN" b="1" dirty="0"/>
              <a:t> </a:t>
            </a:r>
            <a:endParaRPr lang="en-IN" dirty="0"/>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normAutofit/>
          </a:bodyPr>
          <a:lstStyle/>
          <a:p>
            <a:r>
              <a:rPr lang="en-US" sz="2800" b="1" dirty="0"/>
              <a:t>Assessment Questions</a:t>
            </a:r>
            <a:r>
              <a:rPr lang="en-US" sz="2800" dirty="0"/>
              <a:t>:</a:t>
            </a:r>
            <a:endParaRPr lang="en-IN" sz="2800"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fontScale="25000" lnSpcReduction="20000"/>
          </a:bodyPr>
          <a:lstStyle/>
          <a:p>
            <a:pPr marL="0" indent="0">
              <a:buNone/>
            </a:pPr>
            <a:r>
              <a:rPr lang="en-IN" sz="11200" dirty="0"/>
              <a:t>1. </a:t>
            </a:r>
            <a:r>
              <a:rPr lang="en-US" sz="11200" dirty="0"/>
              <a:t> Where does the object is created?</a:t>
            </a:r>
            <a:br>
              <a:rPr lang="en-US" sz="11200" dirty="0"/>
            </a:br>
            <a:endParaRPr lang="en-US" sz="11200" dirty="0"/>
          </a:p>
          <a:p>
            <a:pPr marL="0" indent="0">
              <a:buNone/>
            </a:pPr>
            <a:r>
              <a:rPr lang="en-US" sz="11200" dirty="0"/>
              <a:t>A. Class</a:t>
            </a:r>
            <a:br>
              <a:rPr lang="en-US" sz="11200" dirty="0"/>
            </a:br>
            <a:r>
              <a:rPr lang="en-US" sz="11200" dirty="0"/>
              <a:t>B. Constructor</a:t>
            </a:r>
            <a:br>
              <a:rPr lang="en-US" sz="11200" dirty="0"/>
            </a:br>
            <a:r>
              <a:rPr lang="en-US" sz="11200" dirty="0"/>
              <a:t>C. Destructors</a:t>
            </a:r>
            <a:br>
              <a:rPr lang="en-US" sz="11200" dirty="0"/>
            </a:br>
            <a:r>
              <a:rPr lang="en-US" sz="11200" dirty="0"/>
              <a:t>D. Attributes</a:t>
            </a:r>
          </a:p>
          <a:p>
            <a:pPr marL="0" indent="0">
              <a:buNone/>
            </a:pPr>
            <a:endParaRPr lang="en-US" sz="11200" dirty="0"/>
          </a:p>
          <a:p>
            <a:pPr marL="0" indent="0">
              <a:buNone/>
            </a:pPr>
            <a:r>
              <a:rPr lang="en-US" sz="11200" dirty="0"/>
              <a:t>2.A member function can always access the data in __________ , (in C++).</a:t>
            </a:r>
            <a:br>
              <a:rPr lang="en-US" sz="11200" dirty="0"/>
            </a:br>
            <a:r>
              <a:rPr lang="en-US" sz="11200" dirty="0"/>
              <a:t>(A) the class of which it is member</a:t>
            </a:r>
            <a:br>
              <a:rPr lang="en-US" sz="11200" dirty="0"/>
            </a:br>
            <a:r>
              <a:rPr lang="en-US" sz="11200" dirty="0"/>
              <a:t>(B) the object of which it is a member</a:t>
            </a:r>
            <a:br>
              <a:rPr lang="en-US" sz="11200" dirty="0"/>
            </a:br>
            <a:r>
              <a:rPr lang="en-US" sz="11200" dirty="0"/>
              <a:t>(C) the public part of its class</a:t>
            </a:r>
            <a:br>
              <a:rPr lang="en-US" sz="11200" dirty="0"/>
            </a:br>
            <a:r>
              <a:rPr lang="en-US" sz="11200" dirty="0"/>
              <a:t>(D) the private part of its class</a:t>
            </a:r>
            <a:br>
              <a:rPr lang="en-US" sz="11200" dirty="0"/>
            </a:br>
            <a:br>
              <a:rPr lang="en-US" sz="8000" dirty="0"/>
            </a:br>
            <a:br>
              <a:rPr lang="en-US" sz="6200" dirty="0">
                <a:solidFill>
                  <a:srgbClr val="C00000"/>
                </a:solidFill>
              </a:rPr>
            </a:br>
            <a:endParaRPr lang="en-US" sz="6200" dirty="0">
              <a:solidFill>
                <a:srgbClr val="C00000"/>
              </a:solidFill>
            </a:endParaRPr>
          </a:p>
          <a:p>
            <a:pPr marL="0" indent="0">
              <a:buNone/>
            </a:pPr>
            <a:br>
              <a:rPr lang="en-US" sz="6200" dirty="0">
                <a:solidFill>
                  <a:srgbClr val="C00000"/>
                </a:solidFill>
              </a:rPr>
            </a:br>
            <a:endParaRPr lang="en-IN" dirty="0">
              <a:solidFill>
                <a:srgbClr val="C0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normAutofit/>
          </a:bodyPr>
          <a:lstStyle/>
          <a:p>
            <a:r>
              <a:rPr lang="en-US" sz="3200" b="1" dirty="0"/>
              <a:t>Discussion forum</a:t>
            </a:r>
            <a:r>
              <a:rPr lang="en-US" sz="3200" dirty="0"/>
              <a:t>.</a:t>
            </a:r>
            <a:endParaRPr lang="en-IN" sz="3200"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927908" y="1524000"/>
            <a:ext cx="10687878" cy="2698026"/>
          </a:xfrm>
        </p:spPr>
        <p:txBody>
          <a:bodyPr/>
          <a:lstStyle/>
          <a:p>
            <a:pPr marL="0" indent="0">
              <a:buNone/>
            </a:pPr>
            <a:r>
              <a:rPr lang="en-IN" dirty="0"/>
              <a:t>How to create Class and Objects CPP?</a:t>
            </a:r>
          </a:p>
          <a:p>
            <a:pPr marL="0" indent="0">
              <a:buNone/>
            </a:pPr>
            <a:r>
              <a:rPr lang="en-IN" dirty="0"/>
              <a:t>How to access class members?</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129170" y="2895600"/>
            <a:ext cx="1009076" cy="98473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C5BD0BF2-3FB6-44C3-90B3-B15DC7D0C72E}"/>
              </a:ext>
            </a:extLst>
          </p:cNvPr>
          <p:cNvSpPr/>
          <p:nvPr/>
        </p:nvSpPr>
        <p:spPr>
          <a:xfrm>
            <a:off x="2743199" y="4103077"/>
            <a:ext cx="5439509" cy="1200329"/>
          </a:xfrm>
          <a:prstGeom prst="rect">
            <a:avLst/>
          </a:prstGeom>
        </p:spPr>
        <p:txBody>
          <a:bodyPr wrap="square">
            <a:spAutoFit/>
          </a:bodyPr>
          <a:lstStyle/>
          <a:p>
            <a:pPr algn="ctr"/>
            <a:r>
              <a:rPr lang="en-IN" sz="2400" b="1" u="sng" dirty="0">
                <a:hlinkClick r:id="rId3"/>
              </a:rPr>
              <a:t>https://youtu.be/6Q0Cff29YwU</a:t>
            </a:r>
            <a:endParaRPr lang="en-US" sz="2400" dirty="0"/>
          </a:p>
          <a:p>
            <a:r>
              <a:rPr lang="en-IN" sz="2400" b="1" dirty="0"/>
              <a:t>         https://youtu.be/n9Ej2J0m4a0</a:t>
            </a:r>
            <a:endParaRPr lang="en-US" sz="2400" dirty="0"/>
          </a:p>
          <a:p>
            <a:endParaRPr lang="en-IN" sz="2400" dirty="0">
              <a:solidFill>
                <a:schemeClr val="accent1"/>
              </a:solidFill>
            </a:endParaRPr>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u="sng" dirty="0">
                <a:latin typeface="+mn-lt"/>
                <a:cs typeface="Arial" panose="020B0604020202020204" pitchFamily="34" charset="0"/>
              </a:rPr>
              <a:t>REFERENCES</a:t>
            </a:r>
            <a:r>
              <a:rPr lang="en-US" sz="2800" dirty="0">
                <a:latin typeface="+mn-lt"/>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lvl="0">
              <a:buNone/>
            </a:pPr>
            <a:r>
              <a:rPr lang="en-US" sz="2000" b="1" u="sng" dirty="0">
                <a:latin typeface="Times New Roman" pitchFamily="18" charset="0"/>
                <a:cs typeface="Times New Roman" pitchFamily="18" charset="0"/>
              </a:rPr>
              <a:t>Reference Books:</a:t>
            </a:r>
          </a:p>
          <a:p>
            <a:pPr lvl="0">
              <a:buNone/>
            </a:pPr>
            <a:endParaRPr lang="en-US" sz="18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[1] Programming in C++ by Reema </a:t>
            </a:r>
            <a:r>
              <a:rPr lang="en-US" sz="1800" dirty="0" err="1">
                <a:latin typeface="Times New Roman" pitchFamily="18" charset="0"/>
                <a:cs typeface="Times New Roman" pitchFamily="18" charset="0"/>
              </a:rPr>
              <a:t>Thareja</a:t>
            </a:r>
            <a:r>
              <a:rPr lang="en-US" sz="1800" dirty="0">
                <a:latin typeface="Times New Roman" pitchFamily="18" charset="0"/>
                <a:cs typeface="Times New Roman" pitchFamily="18" charset="0"/>
              </a:rPr>
              <a:t>.</a:t>
            </a:r>
          </a:p>
          <a:p>
            <a:pPr>
              <a:buNone/>
            </a:pPr>
            <a:r>
              <a:rPr lang="en-US" sz="1800" dirty="0">
                <a:latin typeface="Times New Roman" pitchFamily="18" charset="0"/>
                <a:cs typeface="Times New Roman" pitchFamily="18" charset="0"/>
              </a:rPr>
              <a:t>[2] Programming in ANSI C++ by E. </a:t>
            </a:r>
            <a:r>
              <a:rPr lang="en-US" sz="1800" dirty="0" err="1">
                <a:latin typeface="Times New Roman" pitchFamily="18" charset="0"/>
                <a:cs typeface="Times New Roman" pitchFamily="18" charset="0"/>
              </a:rPr>
              <a:t>Balaguruswamy</a:t>
            </a:r>
            <a:r>
              <a:rPr lang="en-US" sz="1800" dirty="0">
                <a:latin typeface="Times New Roman" pitchFamily="18" charset="0"/>
                <a:cs typeface="Times New Roman" pitchFamily="18" charset="0"/>
              </a:rPr>
              <a:t>, Tata McGraw Hill.</a:t>
            </a:r>
          </a:p>
          <a:p>
            <a:pPr>
              <a:buNone/>
            </a:pPr>
            <a:r>
              <a:rPr lang="en-US" sz="1800" dirty="0">
                <a:latin typeface="Times New Roman" pitchFamily="18" charset="0"/>
                <a:cs typeface="Times New Roman" pitchFamily="18" charset="0"/>
              </a:rPr>
              <a:t>[3] Programming with C++ (</a:t>
            </a:r>
            <a:r>
              <a:rPr lang="en-US" sz="1800" dirty="0" err="1">
                <a:latin typeface="Times New Roman" pitchFamily="18" charset="0"/>
                <a:cs typeface="Times New Roman" pitchFamily="18" charset="0"/>
              </a:rPr>
              <a:t>Schaum's</a:t>
            </a:r>
            <a:r>
              <a:rPr lang="en-US" sz="1800" dirty="0">
                <a:latin typeface="Times New Roman" pitchFamily="18" charset="0"/>
                <a:cs typeface="Times New Roman" pitchFamily="18" charset="0"/>
              </a:rPr>
              <a:t> Outline Series) by Byron Gottfried  Jitender Chhabra, Tata McGraw Hill.</a:t>
            </a:r>
          </a:p>
          <a:p>
            <a:pPr>
              <a:buNone/>
            </a:pPr>
            <a:endParaRPr lang="en-US" sz="1800" dirty="0">
              <a:latin typeface="Times New Roman" pitchFamily="18" charset="0"/>
              <a:cs typeface="Times New Roman" pitchFamily="18" charset="0"/>
            </a:endParaRPr>
          </a:p>
          <a:p>
            <a:pPr>
              <a:buNone/>
            </a:pPr>
            <a:r>
              <a:rPr lang="en-IN" sz="1800" b="1" dirty="0"/>
              <a:t>Websites:</a:t>
            </a:r>
          </a:p>
          <a:p>
            <a:r>
              <a:rPr lang="en-IN" sz="1800" b="1" dirty="0">
                <a:hlinkClick r:id="rId3"/>
              </a:rPr>
              <a:t>https://www.tutorialspoint.com/cplusplus/cpp_classes_objects.htm</a:t>
            </a:r>
            <a:endParaRPr lang="en-US" sz="1800" dirty="0"/>
          </a:p>
          <a:p>
            <a:r>
              <a:rPr lang="en-IN" sz="1800" b="1" dirty="0">
                <a:hlinkClick r:id="rId4"/>
              </a:rPr>
              <a:t>https://www.w3schools.com/cpp/cpp_classes.asp</a:t>
            </a:r>
            <a:endParaRPr lang="en-IN" sz="1800" b="1" dirty="0"/>
          </a:p>
          <a:p>
            <a:pPr>
              <a:buNone/>
            </a:pPr>
            <a:r>
              <a:rPr lang="en-IN" sz="1800" b="1" dirty="0"/>
              <a:t> YouTube Links:</a:t>
            </a:r>
          </a:p>
          <a:p>
            <a:r>
              <a:rPr lang="en-IN" sz="1800" b="1" u="sng" dirty="0">
                <a:hlinkClick r:id="rId5"/>
              </a:rPr>
              <a:t>https://youtu.be/6Q0Cff29YwU</a:t>
            </a:r>
            <a:endParaRPr lang="en-US" sz="1800" dirty="0"/>
          </a:p>
          <a:p>
            <a:r>
              <a:rPr lang="en-IN" sz="1800" b="1" dirty="0">
                <a:hlinkClick r:id="rId6"/>
              </a:rPr>
              <a:t>https://youtu.be/n9Ej2J0m4a0</a:t>
            </a:r>
            <a:endParaRPr lang="en-IN" sz="1800" b="1" dirty="0"/>
          </a:p>
          <a:p>
            <a:pPr marL="0" indent="0">
              <a:buNone/>
            </a:pPr>
            <a:endParaRPr lang="en-US" sz="1800" dirty="0"/>
          </a:p>
          <a:p>
            <a:pPr marL="0" indent="0">
              <a:buNone/>
            </a:pPr>
            <a:endParaRPr lang="en-IN" sz="1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0" name="Picture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2542</TotalTime>
  <Words>1984</Words>
  <Application>Microsoft Office PowerPoint</Application>
  <PresentationFormat>Widescreen</PresentationFormat>
  <Paragraphs>240</Paragraphs>
  <Slides>24</Slides>
  <Notes>17</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4" baseType="lpstr">
      <vt:lpstr>Arial</vt:lpstr>
      <vt:lpstr>Calibri</vt:lpstr>
      <vt:lpstr>Calibri Light</vt:lpstr>
      <vt:lpstr>Casper</vt:lpstr>
      <vt:lpstr>Consolas</vt:lpstr>
      <vt:lpstr>Nunito</vt:lpstr>
      <vt:lpstr>Times New Roman</vt:lpstr>
      <vt:lpstr>1_Office Theme</vt:lpstr>
      <vt:lpstr>Contents Slide Master</vt:lpstr>
      <vt:lpstr>CorelDRAW</vt:lpstr>
      <vt:lpstr>PowerPoint Presentation</vt:lpstr>
      <vt:lpstr>PowerPoint Presentation</vt:lpstr>
      <vt:lpstr>PowerPoint Presentation</vt:lpstr>
      <vt:lpstr>PowerPoint Presentation</vt:lpstr>
      <vt:lpstr>PowerPoint Presentation</vt:lpstr>
      <vt:lpstr>PowerPoint Presentation</vt:lpstr>
      <vt:lpstr>Class</vt:lpstr>
      <vt:lpstr>PowerPoint Presentation</vt:lpstr>
      <vt:lpstr>PowerPoint Presentation</vt:lpstr>
      <vt:lpstr>PowerPoint Presentation</vt:lpstr>
      <vt:lpstr>PowerPoint Presentation</vt:lpstr>
      <vt:lpstr>Accessing Class Members</vt:lpstr>
      <vt:lpstr>PowerPoint Presentation</vt:lpstr>
      <vt:lpstr>Accessing Public Class Members(Example)</vt:lpstr>
      <vt:lpstr>Accessing Public Class Members</vt:lpstr>
      <vt:lpstr>PowerPoint Presentation</vt:lpstr>
      <vt:lpstr>PowerPoint Presentation</vt:lpstr>
      <vt:lpstr>PowerPoint Presentation</vt:lpstr>
      <vt:lpstr>Frequently Asked question</vt:lpstr>
      <vt:lpstr>PowerPoint Presentation</vt:lpstr>
      <vt:lpstr>Assessment Questions:</vt:lpstr>
      <vt:lpstr>Discussion forum.</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MOHD SHAN</cp:lastModifiedBy>
  <cp:revision>279</cp:revision>
  <dcterms:created xsi:type="dcterms:W3CDTF">2019-01-09T10:33:58Z</dcterms:created>
  <dcterms:modified xsi:type="dcterms:W3CDTF">2024-01-20T19:37:29Z</dcterms:modified>
</cp:coreProperties>
</file>