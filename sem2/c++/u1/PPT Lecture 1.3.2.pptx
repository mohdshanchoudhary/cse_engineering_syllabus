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285" r:id="rId3"/>
    <p:sldId id="383" r:id="rId4"/>
    <p:sldId id="384" r:id="rId5"/>
    <p:sldId id="363" r:id="rId6"/>
    <p:sldId id="281" r:id="rId7"/>
    <p:sldId id="313" r:id="rId8"/>
    <p:sldId id="354" r:id="rId9"/>
    <p:sldId id="314" r:id="rId10"/>
    <p:sldId id="355" r:id="rId11"/>
    <p:sldId id="356" r:id="rId12"/>
    <p:sldId id="339" r:id="rId13"/>
    <p:sldId id="357" r:id="rId14"/>
    <p:sldId id="358" r:id="rId15"/>
    <p:sldId id="341" r:id="rId16"/>
    <p:sldId id="361" r:id="rId17"/>
    <p:sldId id="362" r:id="rId18"/>
    <p:sldId id="282" r:id="rId19"/>
    <p:sldId id="283" r:id="rId20"/>
    <p:sldId id="374" r:id="rId21"/>
    <p:sldId id="375" r:id="rId22"/>
    <p:sldId id="382" r:id="rId23"/>
    <p:sldId id="284"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434" autoAdjust="0"/>
  </p:normalViewPr>
  <p:slideViewPr>
    <p:cSldViewPr snapToGrid="0">
      <p:cViewPr varScale="1">
        <p:scale>
          <a:sx n="69" d="100"/>
          <a:sy n="69" d="100"/>
        </p:scale>
        <p:origin x="7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308950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700610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396906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IN" sz="1200" b="0" i="0" u="none" strike="noStrike" kern="1200" dirty="0">
                <a:solidFill>
                  <a:schemeClr val="tx1"/>
                </a:solidFill>
                <a:effectLst/>
                <a:latin typeface="+mn-lt"/>
                <a:ea typeface="+mn-ea"/>
                <a:cs typeface="+mn-cs"/>
              </a:rPr>
              <a:t>// C++ program to explain  </a:t>
            </a:r>
          </a:p>
          <a:p>
            <a:pPr rtl="0" fontAlgn="base"/>
            <a:r>
              <a:rPr lang="en-IN" sz="1200" b="0" i="0" u="none" strike="noStrike" kern="1200" dirty="0">
                <a:solidFill>
                  <a:schemeClr val="tx1"/>
                </a:solidFill>
                <a:effectLst/>
                <a:latin typeface="+mn-lt"/>
                <a:ea typeface="+mn-ea"/>
                <a:cs typeface="+mn-cs"/>
              </a:rPr>
              <a:t>// Single inheritance </a:t>
            </a:r>
          </a:p>
          <a:p>
            <a:pPr rtl="0" fontAlgn="base"/>
            <a:r>
              <a:rPr lang="en-IN" sz="1200" b="0" i="0" u="none" strike="noStrike" kern="1200" dirty="0">
                <a:solidFill>
                  <a:schemeClr val="tx1"/>
                </a:solidFill>
                <a:effectLst/>
                <a:latin typeface="+mn-lt"/>
                <a:ea typeface="+mn-ea"/>
                <a:cs typeface="+mn-cs"/>
              </a:rPr>
              <a:t>#include &lt;</a:t>
            </a:r>
            <a:r>
              <a:rPr lang="en-IN" sz="1200" b="0" i="0" u="none" strike="noStrike" kern="1200" dirty="0" err="1">
                <a:solidFill>
                  <a:schemeClr val="tx1"/>
                </a:solidFill>
                <a:effectLst/>
                <a:latin typeface="+mn-lt"/>
                <a:ea typeface="+mn-ea"/>
                <a:cs typeface="+mn-cs"/>
              </a:rPr>
              <a:t>iostream</a:t>
            </a:r>
            <a:r>
              <a:rPr lang="en-IN" sz="1200" b="0" i="0" u="none" strike="noStrike" kern="1200" dirty="0">
                <a:solidFill>
                  <a:schemeClr val="tx1"/>
                </a:solidFill>
                <a:effectLst/>
                <a:latin typeface="+mn-lt"/>
                <a:ea typeface="+mn-ea"/>
                <a:cs typeface="+mn-cs"/>
              </a:rPr>
              <a:t>&gt; </a:t>
            </a:r>
          </a:p>
          <a:p>
            <a:pPr rtl="0" fontAlgn="base"/>
            <a:r>
              <a:rPr lang="en-IN" sz="1200" b="0" i="0" u="none" strike="noStrike" kern="1200" dirty="0">
                <a:solidFill>
                  <a:schemeClr val="tx1"/>
                </a:solidFill>
                <a:effectLst/>
                <a:latin typeface="+mn-lt"/>
                <a:ea typeface="+mn-ea"/>
                <a:cs typeface="+mn-cs"/>
              </a:rPr>
              <a:t>using namespace </a:t>
            </a:r>
            <a:r>
              <a:rPr lang="en-IN" sz="1200" b="0" i="0" u="none" strike="noStrike" kern="1200" dirty="0" err="1">
                <a:solidFill>
                  <a:schemeClr val="tx1"/>
                </a:solidFill>
                <a:effectLst/>
                <a:latin typeface="+mn-lt"/>
                <a:ea typeface="+mn-ea"/>
                <a:cs typeface="+mn-cs"/>
              </a:rPr>
              <a:t>std</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base class </a:t>
            </a:r>
          </a:p>
          <a:p>
            <a:pPr rtl="0" fontAlgn="base"/>
            <a:r>
              <a:rPr lang="en-IN" sz="1200" b="0" i="0" u="none" strike="noStrike" kern="1200" dirty="0">
                <a:solidFill>
                  <a:schemeClr val="tx1"/>
                </a:solidFill>
                <a:effectLst/>
                <a:latin typeface="+mn-lt"/>
                <a:ea typeface="+mn-ea"/>
                <a:cs typeface="+mn-cs"/>
              </a:rPr>
              <a:t>class Vehicle { </a:t>
            </a:r>
          </a:p>
          <a:p>
            <a:pPr rtl="0" fontAlgn="base"/>
            <a:r>
              <a:rPr lang="en-IN" sz="1200" b="0" i="0" u="none" strike="noStrike" kern="1200" dirty="0">
                <a:solidFill>
                  <a:schemeClr val="tx1"/>
                </a:solidFill>
                <a:effectLst/>
                <a:latin typeface="+mn-lt"/>
                <a:ea typeface="+mn-ea"/>
                <a:cs typeface="+mn-cs"/>
              </a:rPr>
              <a:t>  public: </a:t>
            </a:r>
          </a:p>
          <a:p>
            <a:pPr rtl="0" fontAlgn="base"/>
            <a:r>
              <a:rPr lang="en-IN" sz="1200" b="0" i="0" u="none" strike="noStrike" kern="1200" dirty="0">
                <a:solidFill>
                  <a:schemeClr val="tx1"/>
                </a:solidFill>
                <a:effectLst/>
                <a:latin typeface="+mn-lt"/>
                <a:ea typeface="+mn-ea"/>
                <a:cs typeface="+mn-cs"/>
              </a:rPr>
              <a:t>    Vehicle()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r>
              <a:rPr lang="en-IN" sz="1200" b="0" i="0" u="none" strike="noStrike" kern="1200" dirty="0" err="1">
                <a:solidFill>
                  <a:schemeClr val="tx1"/>
                </a:solidFill>
                <a:effectLst/>
                <a:latin typeface="+mn-lt"/>
                <a:ea typeface="+mn-ea"/>
                <a:cs typeface="+mn-cs"/>
              </a:rPr>
              <a:t>cout</a:t>
            </a:r>
            <a:r>
              <a:rPr lang="en-IN" sz="1200" b="0" i="0" u="none" strike="noStrike" kern="1200" dirty="0">
                <a:solidFill>
                  <a:schemeClr val="tx1"/>
                </a:solidFill>
                <a:effectLst/>
                <a:latin typeface="+mn-lt"/>
                <a:ea typeface="+mn-ea"/>
                <a:cs typeface="+mn-cs"/>
              </a:rPr>
              <a:t> &lt;&lt; "This is a Vehicle" &lt;&lt; </a:t>
            </a:r>
            <a:r>
              <a:rPr lang="en-IN" sz="1200" b="0" i="0" u="none" strike="noStrike" kern="1200" dirty="0" err="1">
                <a:solidFill>
                  <a:schemeClr val="tx1"/>
                </a:solidFill>
                <a:effectLst/>
                <a:latin typeface="+mn-lt"/>
                <a:ea typeface="+mn-ea"/>
                <a:cs typeface="+mn-cs"/>
              </a:rPr>
              <a:t>endl</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sub class derived from two base classes </a:t>
            </a:r>
          </a:p>
          <a:p>
            <a:pPr rtl="0" fontAlgn="base"/>
            <a:r>
              <a:rPr lang="en-IN" sz="1200" b="0" i="0" u="none" strike="noStrike" kern="1200" dirty="0">
                <a:solidFill>
                  <a:schemeClr val="tx1"/>
                </a:solidFill>
                <a:effectLst/>
                <a:latin typeface="+mn-lt"/>
                <a:ea typeface="+mn-ea"/>
                <a:cs typeface="+mn-cs"/>
              </a:rPr>
              <a:t>class Car: public Vehicle{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main function </a:t>
            </a:r>
          </a:p>
          <a:p>
            <a:pPr rtl="0" fontAlgn="base"/>
            <a:r>
              <a:rPr lang="en-IN" sz="1200" b="0" i="0" u="none" strike="noStrike" kern="1200" dirty="0" err="1">
                <a:solidFill>
                  <a:schemeClr val="tx1"/>
                </a:solidFill>
                <a:effectLst/>
                <a:latin typeface="+mn-lt"/>
                <a:ea typeface="+mn-ea"/>
                <a:cs typeface="+mn-cs"/>
              </a:rPr>
              <a:t>int</a:t>
            </a:r>
            <a:r>
              <a:rPr lang="en-IN" sz="1200" b="0" i="0" u="none" strike="noStrike" kern="1200" dirty="0">
                <a:solidFill>
                  <a:schemeClr val="tx1"/>
                </a:solidFill>
                <a:effectLst/>
                <a:latin typeface="+mn-lt"/>
                <a:ea typeface="+mn-ea"/>
                <a:cs typeface="+mn-cs"/>
              </a:rPr>
              <a:t> main()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creating object of sub class will </a:t>
            </a:r>
          </a:p>
          <a:p>
            <a:pPr rtl="0" fontAlgn="base"/>
            <a:r>
              <a:rPr lang="en-IN" sz="1200" b="0" i="0" u="none" strike="noStrike" kern="1200" dirty="0">
                <a:solidFill>
                  <a:schemeClr val="tx1"/>
                </a:solidFill>
                <a:effectLst/>
                <a:latin typeface="+mn-lt"/>
                <a:ea typeface="+mn-ea"/>
                <a:cs typeface="+mn-cs"/>
              </a:rPr>
              <a:t>    // invoke the constructor of base classes </a:t>
            </a:r>
          </a:p>
          <a:p>
            <a:pPr rtl="0" fontAlgn="base"/>
            <a:r>
              <a:rPr lang="en-IN" sz="1200" b="0" i="0" u="none" strike="noStrike" kern="1200" dirty="0">
                <a:solidFill>
                  <a:schemeClr val="tx1"/>
                </a:solidFill>
                <a:effectLst/>
                <a:latin typeface="+mn-lt"/>
                <a:ea typeface="+mn-ea"/>
                <a:cs typeface="+mn-cs"/>
              </a:rPr>
              <a:t>    Car </a:t>
            </a:r>
            <a:r>
              <a:rPr lang="en-IN" sz="1200" b="0" i="0" u="none" strike="noStrike" kern="1200" dirty="0" err="1">
                <a:solidFill>
                  <a:schemeClr val="tx1"/>
                </a:solidFill>
                <a:effectLst/>
                <a:latin typeface="+mn-lt"/>
                <a:ea typeface="+mn-ea"/>
                <a:cs typeface="+mn-cs"/>
              </a:rPr>
              <a:t>obj</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return 0; </a:t>
            </a:r>
          </a:p>
          <a:p>
            <a:pPr rtl="0" fontAlgn="base"/>
            <a:r>
              <a:rPr lang="en-IN" sz="1200" b="0" i="0" u="none" strike="noStrike" kern="1200" dirty="0">
                <a:solidFill>
                  <a:schemeClr val="tx1"/>
                </a:solidFill>
                <a:effectLst/>
                <a:latin typeface="+mn-lt"/>
                <a:ea typeface="+mn-ea"/>
                <a:cs typeface="+mn-cs"/>
              </a:rPr>
              <a:t>} </a:t>
            </a:r>
          </a:p>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2378080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IN" sz="1200" b="0" i="0" u="none" strike="noStrike" kern="1200" dirty="0">
                <a:solidFill>
                  <a:schemeClr val="tx1"/>
                </a:solidFill>
                <a:effectLst/>
                <a:latin typeface="+mn-lt"/>
                <a:ea typeface="+mn-ea"/>
                <a:cs typeface="+mn-cs"/>
              </a:rPr>
              <a:t>// C++ program to explain  </a:t>
            </a:r>
          </a:p>
          <a:p>
            <a:pPr rtl="0" fontAlgn="base"/>
            <a:r>
              <a:rPr lang="en-IN" sz="1200" b="0" i="0" u="none" strike="noStrike" kern="1200" dirty="0">
                <a:solidFill>
                  <a:schemeClr val="tx1"/>
                </a:solidFill>
                <a:effectLst/>
                <a:latin typeface="+mn-lt"/>
                <a:ea typeface="+mn-ea"/>
                <a:cs typeface="+mn-cs"/>
              </a:rPr>
              <a:t>// Single inheritance </a:t>
            </a:r>
          </a:p>
          <a:p>
            <a:pPr rtl="0" fontAlgn="base"/>
            <a:r>
              <a:rPr lang="en-IN" sz="1200" b="0" i="0" u="none" strike="noStrike" kern="1200" dirty="0">
                <a:solidFill>
                  <a:schemeClr val="tx1"/>
                </a:solidFill>
                <a:effectLst/>
                <a:latin typeface="+mn-lt"/>
                <a:ea typeface="+mn-ea"/>
                <a:cs typeface="+mn-cs"/>
              </a:rPr>
              <a:t>#include &lt;</a:t>
            </a:r>
            <a:r>
              <a:rPr lang="en-IN" sz="1200" b="0" i="0" u="none" strike="noStrike" kern="1200" dirty="0" err="1">
                <a:solidFill>
                  <a:schemeClr val="tx1"/>
                </a:solidFill>
                <a:effectLst/>
                <a:latin typeface="+mn-lt"/>
                <a:ea typeface="+mn-ea"/>
                <a:cs typeface="+mn-cs"/>
              </a:rPr>
              <a:t>iostream</a:t>
            </a:r>
            <a:r>
              <a:rPr lang="en-IN" sz="1200" b="0" i="0" u="none" strike="noStrike" kern="1200" dirty="0">
                <a:solidFill>
                  <a:schemeClr val="tx1"/>
                </a:solidFill>
                <a:effectLst/>
                <a:latin typeface="+mn-lt"/>
                <a:ea typeface="+mn-ea"/>
                <a:cs typeface="+mn-cs"/>
              </a:rPr>
              <a:t>&gt; </a:t>
            </a:r>
          </a:p>
          <a:p>
            <a:pPr rtl="0" fontAlgn="base"/>
            <a:r>
              <a:rPr lang="en-IN" sz="1200" b="0" i="0" u="none" strike="noStrike" kern="1200" dirty="0">
                <a:solidFill>
                  <a:schemeClr val="tx1"/>
                </a:solidFill>
                <a:effectLst/>
                <a:latin typeface="+mn-lt"/>
                <a:ea typeface="+mn-ea"/>
                <a:cs typeface="+mn-cs"/>
              </a:rPr>
              <a:t>using namespace </a:t>
            </a:r>
            <a:r>
              <a:rPr lang="en-IN" sz="1200" b="0" i="0" u="none" strike="noStrike" kern="1200" dirty="0" err="1">
                <a:solidFill>
                  <a:schemeClr val="tx1"/>
                </a:solidFill>
                <a:effectLst/>
                <a:latin typeface="+mn-lt"/>
                <a:ea typeface="+mn-ea"/>
                <a:cs typeface="+mn-cs"/>
              </a:rPr>
              <a:t>std</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base class </a:t>
            </a:r>
          </a:p>
          <a:p>
            <a:pPr rtl="0" fontAlgn="base"/>
            <a:r>
              <a:rPr lang="en-IN" sz="1200" b="0" i="0" u="none" strike="noStrike" kern="1200" dirty="0">
                <a:solidFill>
                  <a:schemeClr val="tx1"/>
                </a:solidFill>
                <a:effectLst/>
                <a:latin typeface="+mn-lt"/>
                <a:ea typeface="+mn-ea"/>
                <a:cs typeface="+mn-cs"/>
              </a:rPr>
              <a:t>class Vehicle { </a:t>
            </a:r>
          </a:p>
          <a:p>
            <a:pPr rtl="0" fontAlgn="base"/>
            <a:r>
              <a:rPr lang="en-IN" sz="1200" b="0" i="0" u="none" strike="noStrike" kern="1200" dirty="0">
                <a:solidFill>
                  <a:schemeClr val="tx1"/>
                </a:solidFill>
                <a:effectLst/>
                <a:latin typeface="+mn-lt"/>
                <a:ea typeface="+mn-ea"/>
                <a:cs typeface="+mn-cs"/>
              </a:rPr>
              <a:t>  public: </a:t>
            </a:r>
          </a:p>
          <a:p>
            <a:pPr rtl="0" fontAlgn="base"/>
            <a:r>
              <a:rPr lang="en-IN" sz="1200" b="0" i="0" u="none" strike="noStrike" kern="1200" dirty="0">
                <a:solidFill>
                  <a:schemeClr val="tx1"/>
                </a:solidFill>
                <a:effectLst/>
                <a:latin typeface="+mn-lt"/>
                <a:ea typeface="+mn-ea"/>
                <a:cs typeface="+mn-cs"/>
              </a:rPr>
              <a:t>    Vehicle()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r>
              <a:rPr lang="en-IN" sz="1200" b="0" i="0" u="none" strike="noStrike" kern="1200" dirty="0" err="1">
                <a:solidFill>
                  <a:schemeClr val="tx1"/>
                </a:solidFill>
                <a:effectLst/>
                <a:latin typeface="+mn-lt"/>
                <a:ea typeface="+mn-ea"/>
                <a:cs typeface="+mn-cs"/>
              </a:rPr>
              <a:t>cout</a:t>
            </a:r>
            <a:r>
              <a:rPr lang="en-IN" sz="1200" b="0" i="0" u="none" strike="noStrike" kern="1200" dirty="0">
                <a:solidFill>
                  <a:schemeClr val="tx1"/>
                </a:solidFill>
                <a:effectLst/>
                <a:latin typeface="+mn-lt"/>
                <a:ea typeface="+mn-ea"/>
                <a:cs typeface="+mn-cs"/>
              </a:rPr>
              <a:t> &lt;&lt; "This is a Vehicle" &lt;&lt; </a:t>
            </a:r>
            <a:r>
              <a:rPr lang="en-IN" sz="1200" b="0" i="0" u="none" strike="noStrike" kern="1200" dirty="0" err="1">
                <a:solidFill>
                  <a:schemeClr val="tx1"/>
                </a:solidFill>
                <a:effectLst/>
                <a:latin typeface="+mn-lt"/>
                <a:ea typeface="+mn-ea"/>
                <a:cs typeface="+mn-cs"/>
              </a:rPr>
              <a:t>endl</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sub class derived from two base classes </a:t>
            </a:r>
          </a:p>
          <a:p>
            <a:pPr rtl="0" fontAlgn="base"/>
            <a:r>
              <a:rPr lang="en-IN" sz="1200" b="0" i="0" u="none" strike="noStrike" kern="1200" dirty="0">
                <a:solidFill>
                  <a:schemeClr val="tx1"/>
                </a:solidFill>
                <a:effectLst/>
                <a:latin typeface="+mn-lt"/>
                <a:ea typeface="+mn-ea"/>
                <a:cs typeface="+mn-cs"/>
              </a:rPr>
              <a:t>class Car: public Vehicle{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main function </a:t>
            </a:r>
          </a:p>
          <a:p>
            <a:pPr rtl="0" fontAlgn="base"/>
            <a:r>
              <a:rPr lang="en-IN" sz="1200" b="0" i="0" u="none" strike="noStrike" kern="1200" dirty="0" err="1">
                <a:solidFill>
                  <a:schemeClr val="tx1"/>
                </a:solidFill>
                <a:effectLst/>
                <a:latin typeface="+mn-lt"/>
                <a:ea typeface="+mn-ea"/>
                <a:cs typeface="+mn-cs"/>
              </a:rPr>
              <a:t>int</a:t>
            </a:r>
            <a:r>
              <a:rPr lang="en-IN" sz="1200" b="0" i="0" u="none" strike="noStrike" kern="1200" dirty="0">
                <a:solidFill>
                  <a:schemeClr val="tx1"/>
                </a:solidFill>
                <a:effectLst/>
                <a:latin typeface="+mn-lt"/>
                <a:ea typeface="+mn-ea"/>
                <a:cs typeface="+mn-cs"/>
              </a:rPr>
              <a:t> main()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creating object of sub class will </a:t>
            </a:r>
          </a:p>
          <a:p>
            <a:pPr rtl="0" fontAlgn="base"/>
            <a:r>
              <a:rPr lang="en-IN" sz="1200" b="0" i="0" u="none" strike="noStrike" kern="1200" dirty="0">
                <a:solidFill>
                  <a:schemeClr val="tx1"/>
                </a:solidFill>
                <a:effectLst/>
                <a:latin typeface="+mn-lt"/>
                <a:ea typeface="+mn-ea"/>
                <a:cs typeface="+mn-cs"/>
              </a:rPr>
              <a:t>    // invoke the constructor of base classes </a:t>
            </a:r>
          </a:p>
          <a:p>
            <a:pPr rtl="0" fontAlgn="base"/>
            <a:r>
              <a:rPr lang="en-IN" sz="1200" b="0" i="0" u="none" strike="noStrike" kern="1200" dirty="0">
                <a:solidFill>
                  <a:schemeClr val="tx1"/>
                </a:solidFill>
                <a:effectLst/>
                <a:latin typeface="+mn-lt"/>
                <a:ea typeface="+mn-ea"/>
                <a:cs typeface="+mn-cs"/>
              </a:rPr>
              <a:t>    Car </a:t>
            </a:r>
            <a:r>
              <a:rPr lang="en-IN" sz="1200" b="0" i="0" u="none" strike="noStrike" kern="1200" dirty="0" err="1">
                <a:solidFill>
                  <a:schemeClr val="tx1"/>
                </a:solidFill>
                <a:effectLst/>
                <a:latin typeface="+mn-lt"/>
                <a:ea typeface="+mn-ea"/>
                <a:cs typeface="+mn-cs"/>
              </a:rPr>
              <a:t>obj</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return 0; </a:t>
            </a:r>
          </a:p>
          <a:p>
            <a:pPr rtl="0" fontAlgn="base"/>
            <a:r>
              <a:rPr lang="en-IN" sz="1200" b="0" i="0" u="none" strike="noStrike" kern="1200" dirty="0">
                <a:solidFill>
                  <a:schemeClr val="tx1"/>
                </a:solidFill>
                <a:effectLst/>
                <a:latin typeface="+mn-lt"/>
                <a:ea typeface="+mn-ea"/>
                <a:cs typeface="+mn-cs"/>
              </a:rPr>
              <a:t>} </a:t>
            </a:r>
          </a:p>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3882565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IN" sz="1200" b="0" i="0" u="none" strike="noStrike" kern="1200" dirty="0">
                <a:solidFill>
                  <a:schemeClr val="tx1"/>
                </a:solidFill>
                <a:effectLst/>
                <a:latin typeface="+mn-lt"/>
                <a:ea typeface="+mn-ea"/>
                <a:cs typeface="+mn-cs"/>
              </a:rPr>
              <a:t>// C++ program to explain  </a:t>
            </a:r>
          </a:p>
          <a:p>
            <a:pPr rtl="0" fontAlgn="base"/>
            <a:r>
              <a:rPr lang="en-IN" sz="1200" b="0" i="0" u="none" strike="noStrike" kern="1200" dirty="0">
                <a:solidFill>
                  <a:schemeClr val="tx1"/>
                </a:solidFill>
                <a:effectLst/>
                <a:latin typeface="+mn-lt"/>
                <a:ea typeface="+mn-ea"/>
                <a:cs typeface="+mn-cs"/>
              </a:rPr>
              <a:t>// Single inheritance </a:t>
            </a:r>
          </a:p>
          <a:p>
            <a:pPr rtl="0" fontAlgn="base"/>
            <a:r>
              <a:rPr lang="en-IN" sz="1200" b="0" i="0" u="none" strike="noStrike" kern="1200" dirty="0">
                <a:solidFill>
                  <a:schemeClr val="tx1"/>
                </a:solidFill>
                <a:effectLst/>
                <a:latin typeface="+mn-lt"/>
                <a:ea typeface="+mn-ea"/>
                <a:cs typeface="+mn-cs"/>
              </a:rPr>
              <a:t>#include &lt;</a:t>
            </a:r>
            <a:r>
              <a:rPr lang="en-IN" sz="1200" b="0" i="0" u="none" strike="noStrike" kern="1200" dirty="0" err="1">
                <a:solidFill>
                  <a:schemeClr val="tx1"/>
                </a:solidFill>
                <a:effectLst/>
                <a:latin typeface="+mn-lt"/>
                <a:ea typeface="+mn-ea"/>
                <a:cs typeface="+mn-cs"/>
              </a:rPr>
              <a:t>iostream</a:t>
            </a:r>
            <a:r>
              <a:rPr lang="en-IN" sz="1200" b="0" i="0" u="none" strike="noStrike" kern="1200" dirty="0">
                <a:solidFill>
                  <a:schemeClr val="tx1"/>
                </a:solidFill>
                <a:effectLst/>
                <a:latin typeface="+mn-lt"/>
                <a:ea typeface="+mn-ea"/>
                <a:cs typeface="+mn-cs"/>
              </a:rPr>
              <a:t>&gt; </a:t>
            </a:r>
          </a:p>
          <a:p>
            <a:pPr rtl="0" fontAlgn="base"/>
            <a:r>
              <a:rPr lang="en-IN" sz="1200" b="0" i="0" u="none" strike="noStrike" kern="1200" dirty="0">
                <a:solidFill>
                  <a:schemeClr val="tx1"/>
                </a:solidFill>
                <a:effectLst/>
                <a:latin typeface="+mn-lt"/>
                <a:ea typeface="+mn-ea"/>
                <a:cs typeface="+mn-cs"/>
              </a:rPr>
              <a:t>using namespace </a:t>
            </a:r>
            <a:r>
              <a:rPr lang="en-IN" sz="1200" b="0" i="0" u="none" strike="noStrike" kern="1200" dirty="0" err="1">
                <a:solidFill>
                  <a:schemeClr val="tx1"/>
                </a:solidFill>
                <a:effectLst/>
                <a:latin typeface="+mn-lt"/>
                <a:ea typeface="+mn-ea"/>
                <a:cs typeface="+mn-cs"/>
              </a:rPr>
              <a:t>std</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base class </a:t>
            </a:r>
          </a:p>
          <a:p>
            <a:pPr rtl="0" fontAlgn="base"/>
            <a:r>
              <a:rPr lang="en-IN" sz="1200" b="0" i="0" u="none" strike="noStrike" kern="1200" dirty="0">
                <a:solidFill>
                  <a:schemeClr val="tx1"/>
                </a:solidFill>
                <a:effectLst/>
                <a:latin typeface="+mn-lt"/>
                <a:ea typeface="+mn-ea"/>
                <a:cs typeface="+mn-cs"/>
              </a:rPr>
              <a:t>class Vehicle { </a:t>
            </a:r>
          </a:p>
          <a:p>
            <a:pPr rtl="0" fontAlgn="base"/>
            <a:r>
              <a:rPr lang="en-IN" sz="1200" b="0" i="0" u="none" strike="noStrike" kern="1200" dirty="0">
                <a:solidFill>
                  <a:schemeClr val="tx1"/>
                </a:solidFill>
                <a:effectLst/>
                <a:latin typeface="+mn-lt"/>
                <a:ea typeface="+mn-ea"/>
                <a:cs typeface="+mn-cs"/>
              </a:rPr>
              <a:t>  public: </a:t>
            </a:r>
          </a:p>
          <a:p>
            <a:pPr rtl="0" fontAlgn="base"/>
            <a:r>
              <a:rPr lang="en-IN" sz="1200" b="0" i="0" u="none" strike="noStrike" kern="1200" dirty="0">
                <a:solidFill>
                  <a:schemeClr val="tx1"/>
                </a:solidFill>
                <a:effectLst/>
                <a:latin typeface="+mn-lt"/>
                <a:ea typeface="+mn-ea"/>
                <a:cs typeface="+mn-cs"/>
              </a:rPr>
              <a:t>    Vehicle()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r>
              <a:rPr lang="en-IN" sz="1200" b="0" i="0" u="none" strike="noStrike" kern="1200" dirty="0" err="1">
                <a:solidFill>
                  <a:schemeClr val="tx1"/>
                </a:solidFill>
                <a:effectLst/>
                <a:latin typeface="+mn-lt"/>
                <a:ea typeface="+mn-ea"/>
                <a:cs typeface="+mn-cs"/>
              </a:rPr>
              <a:t>cout</a:t>
            </a:r>
            <a:r>
              <a:rPr lang="en-IN" sz="1200" b="0" i="0" u="none" strike="noStrike" kern="1200" dirty="0">
                <a:solidFill>
                  <a:schemeClr val="tx1"/>
                </a:solidFill>
                <a:effectLst/>
                <a:latin typeface="+mn-lt"/>
                <a:ea typeface="+mn-ea"/>
                <a:cs typeface="+mn-cs"/>
              </a:rPr>
              <a:t> &lt;&lt; "This is a Vehicle" &lt;&lt; </a:t>
            </a:r>
            <a:r>
              <a:rPr lang="en-IN" sz="1200" b="0" i="0" u="none" strike="noStrike" kern="1200" dirty="0" err="1">
                <a:solidFill>
                  <a:schemeClr val="tx1"/>
                </a:solidFill>
                <a:effectLst/>
                <a:latin typeface="+mn-lt"/>
                <a:ea typeface="+mn-ea"/>
                <a:cs typeface="+mn-cs"/>
              </a:rPr>
              <a:t>endl</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sub class derived from two base classes </a:t>
            </a:r>
          </a:p>
          <a:p>
            <a:pPr rtl="0" fontAlgn="base"/>
            <a:r>
              <a:rPr lang="en-IN" sz="1200" b="0" i="0" u="none" strike="noStrike" kern="1200" dirty="0">
                <a:solidFill>
                  <a:schemeClr val="tx1"/>
                </a:solidFill>
                <a:effectLst/>
                <a:latin typeface="+mn-lt"/>
                <a:ea typeface="+mn-ea"/>
                <a:cs typeface="+mn-cs"/>
              </a:rPr>
              <a:t>class Car: public Vehicle{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main function </a:t>
            </a:r>
          </a:p>
          <a:p>
            <a:pPr rtl="0" fontAlgn="base"/>
            <a:r>
              <a:rPr lang="en-IN" sz="1200" b="0" i="0" u="none" strike="noStrike" kern="1200" dirty="0" err="1">
                <a:solidFill>
                  <a:schemeClr val="tx1"/>
                </a:solidFill>
                <a:effectLst/>
                <a:latin typeface="+mn-lt"/>
                <a:ea typeface="+mn-ea"/>
                <a:cs typeface="+mn-cs"/>
              </a:rPr>
              <a:t>int</a:t>
            </a:r>
            <a:r>
              <a:rPr lang="en-IN" sz="1200" b="0" i="0" u="none" strike="noStrike" kern="1200" dirty="0">
                <a:solidFill>
                  <a:schemeClr val="tx1"/>
                </a:solidFill>
                <a:effectLst/>
                <a:latin typeface="+mn-lt"/>
                <a:ea typeface="+mn-ea"/>
                <a:cs typeface="+mn-cs"/>
              </a:rPr>
              <a:t> main() </a:t>
            </a:r>
          </a:p>
          <a:p>
            <a:pPr rtl="0" fontAlgn="base"/>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 creating object of sub class will </a:t>
            </a:r>
          </a:p>
          <a:p>
            <a:pPr rtl="0" fontAlgn="base"/>
            <a:r>
              <a:rPr lang="en-IN" sz="1200" b="0" i="0" u="none" strike="noStrike" kern="1200" dirty="0">
                <a:solidFill>
                  <a:schemeClr val="tx1"/>
                </a:solidFill>
                <a:effectLst/>
                <a:latin typeface="+mn-lt"/>
                <a:ea typeface="+mn-ea"/>
                <a:cs typeface="+mn-cs"/>
              </a:rPr>
              <a:t>    // invoke the constructor of base classes </a:t>
            </a:r>
          </a:p>
          <a:p>
            <a:pPr rtl="0" fontAlgn="base"/>
            <a:r>
              <a:rPr lang="en-IN" sz="1200" b="0" i="0" u="none" strike="noStrike" kern="1200" dirty="0">
                <a:solidFill>
                  <a:schemeClr val="tx1"/>
                </a:solidFill>
                <a:effectLst/>
                <a:latin typeface="+mn-lt"/>
                <a:ea typeface="+mn-ea"/>
                <a:cs typeface="+mn-cs"/>
              </a:rPr>
              <a:t>    Car </a:t>
            </a:r>
            <a:r>
              <a:rPr lang="en-IN" sz="1200" b="0" i="0" u="none" strike="noStrike" kern="1200" dirty="0" err="1">
                <a:solidFill>
                  <a:schemeClr val="tx1"/>
                </a:solidFill>
                <a:effectLst/>
                <a:latin typeface="+mn-lt"/>
                <a:ea typeface="+mn-ea"/>
                <a:cs typeface="+mn-cs"/>
              </a:rPr>
              <a:t>obj</a:t>
            </a:r>
            <a:r>
              <a:rPr lang="en-IN" sz="1200" b="0" i="0" u="none" strike="noStrike" kern="1200" dirty="0">
                <a:solidFill>
                  <a:schemeClr val="tx1"/>
                </a:solidFill>
                <a:effectLst/>
                <a:latin typeface="+mn-lt"/>
                <a:ea typeface="+mn-ea"/>
                <a:cs typeface="+mn-cs"/>
              </a:rPr>
              <a:t>; </a:t>
            </a:r>
          </a:p>
          <a:p>
            <a:pPr rtl="0" fontAlgn="base"/>
            <a:r>
              <a:rPr lang="en-IN" sz="1200" b="0" i="0" u="none" strike="noStrike" kern="1200" dirty="0">
                <a:solidFill>
                  <a:schemeClr val="tx1"/>
                </a:solidFill>
                <a:effectLst/>
                <a:latin typeface="+mn-lt"/>
                <a:ea typeface="+mn-ea"/>
                <a:cs typeface="+mn-cs"/>
              </a:rPr>
              <a:t>    return 0; </a:t>
            </a:r>
          </a:p>
          <a:p>
            <a:pPr rtl="0" fontAlgn="base"/>
            <a:r>
              <a:rPr lang="en-IN" sz="1200" b="0" i="0" u="none" strike="noStrike" kern="1200" dirty="0">
                <a:solidFill>
                  <a:schemeClr val="tx1"/>
                </a:solidFill>
                <a:effectLst/>
                <a:latin typeface="+mn-lt"/>
                <a:ea typeface="+mn-ea"/>
                <a:cs typeface="+mn-cs"/>
              </a:rPr>
              <a:t>} </a:t>
            </a:r>
          </a:p>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2491813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2755702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#include &lt;</a:t>
            </a:r>
            <a:r>
              <a:rPr lang="en-IN" dirty="0" err="1"/>
              <a:t>iostream</a:t>
            </a:r>
            <a:r>
              <a:rPr lang="en-IN" dirty="0"/>
              <a:t>&gt; </a:t>
            </a:r>
          </a:p>
          <a:p>
            <a:r>
              <a:rPr lang="en-IN" dirty="0"/>
              <a:t>using namespace </a:t>
            </a:r>
            <a:r>
              <a:rPr lang="en-IN" dirty="0" err="1"/>
              <a:t>std</a:t>
            </a:r>
            <a:r>
              <a:rPr lang="en-IN" dirty="0"/>
              <a:t>; </a:t>
            </a:r>
          </a:p>
          <a:p>
            <a:endParaRPr lang="en-IN" dirty="0"/>
          </a:p>
          <a:p>
            <a:r>
              <a:rPr lang="en-IN" dirty="0"/>
              <a:t>// base class </a:t>
            </a:r>
          </a:p>
          <a:p>
            <a:r>
              <a:rPr lang="en-IN" dirty="0"/>
              <a:t>class Vehicle </a:t>
            </a:r>
          </a:p>
          <a:p>
            <a:r>
              <a:rPr lang="en-IN" dirty="0"/>
              <a:t>{ </a:t>
            </a:r>
          </a:p>
          <a:p>
            <a:r>
              <a:rPr lang="en-IN" dirty="0"/>
              <a:t>public: </a:t>
            </a:r>
          </a:p>
          <a:p>
            <a:r>
              <a:rPr lang="en-IN" dirty="0"/>
              <a:t>	Vehicle() </a:t>
            </a:r>
          </a:p>
          <a:p>
            <a:r>
              <a:rPr lang="en-IN" dirty="0"/>
              <a:t>	{ </a:t>
            </a:r>
          </a:p>
          <a:p>
            <a:r>
              <a:rPr lang="en-IN" dirty="0"/>
              <a:t>	</a:t>
            </a:r>
            <a:r>
              <a:rPr lang="en-IN" dirty="0" err="1"/>
              <a:t>cout</a:t>
            </a:r>
            <a:r>
              <a:rPr lang="en-IN" dirty="0"/>
              <a:t> &lt;&lt; "This is a Vehicle" &lt;&lt; </a:t>
            </a:r>
            <a:r>
              <a:rPr lang="en-IN" dirty="0" err="1"/>
              <a:t>endl</a:t>
            </a:r>
            <a:r>
              <a:rPr lang="en-IN" dirty="0"/>
              <a:t>; </a:t>
            </a:r>
          </a:p>
          <a:p>
            <a:r>
              <a:rPr lang="en-IN" dirty="0"/>
              <a:t>	} </a:t>
            </a:r>
          </a:p>
          <a:p>
            <a:r>
              <a:rPr lang="en-IN" dirty="0"/>
              <a:t>}; </a:t>
            </a:r>
          </a:p>
          <a:p>
            <a:endParaRPr lang="en-IN" dirty="0"/>
          </a:p>
          <a:p>
            <a:r>
              <a:rPr lang="en-IN" dirty="0"/>
              <a:t>//base class </a:t>
            </a:r>
          </a:p>
          <a:p>
            <a:r>
              <a:rPr lang="en-IN" dirty="0"/>
              <a:t>class Fare </a:t>
            </a:r>
          </a:p>
          <a:p>
            <a:r>
              <a:rPr lang="en-IN" dirty="0"/>
              <a:t>{ </a:t>
            </a:r>
          </a:p>
          <a:p>
            <a:r>
              <a:rPr lang="en-IN" dirty="0"/>
              <a:t>	public: </a:t>
            </a:r>
          </a:p>
          <a:p>
            <a:r>
              <a:rPr lang="en-IN" dirty="0"/>
              <a:t>	Fare() </a:t>
            </a:r>
          </a:p>
          <a:p>
            <a:r>
              <a:rPr lang="en-IN" dirty="0"/>
              <a:t>	{ </a:t>
            </a:r>
          </a:p>
          <a:p>
            <a:r>
              <a:rPr lang="en-IN" dirty="0"/>
              <a:t>		</a:t>
            </a:r>
            <a:r>
              <a:rPr lang="en-IN" dirty="0" err="1"/>
              <a:t>cout</a:t>
            </a:r>
            <a:r>
              <a:rPr lang="en-IN" dirty="0"/>
              <a:t>&lt;&lt;"Fare of Vehicle\n"; </a:t>
            </a:r>
          </a:p>
          <a:p>
            <a:r>
              <a:rPr lang="en-IN" dirty="0"/>
              <a:t>	} </a:t>
            </a:r>
          </a:p>
          <a:p>
            <a:r>
              <a:rPr lang="en-IN" dirty="0"/>
              <a:t>}; </a:t>
            </a:r>
          </a:p>
          <a:p>
            <a:endParaRPr lang="en-IN" dirty="0"/>
          </a:p>
          <a:p>
            <a:r>
              <a:rPr lang="en-IN" dirty="0"/>
              <a:t>// first sub class </a:t>
            </a:r>
          </a:p>
          <a:p>
            <a:r>
              <a:rPr lang="en-IN" dirty="0"/>
              <a:t>class Car: public Vehicle </a:t>
            </a:r>
          </a:p>
          <a:p>
            <a:r>
              <a:rPr lang="en-IN" dirty="0"/>
              <a:t>{ </a:t>
            </a:r>
          </a:p>
          <a:p>
            <a:endParaRPr lang="en-IN" dirty="0"/>
          </a:p>
          <a:p>
            <a:r>
              <a:rPr lang="en-IN" dirty="0"/>
              <a:t>}; </a:t>
            </a:r>
          </a:p>
          <a:p>
            <a:endParaRPr lang="en-IN" dirty="0"/>
          </a:p>
          <a:p>
            <a:r>
              <a:rPr lang="en-IN" dirty="0"/>
              <a:t>// second sub class </a:t>
            </a:r>
          </a:p>
          <a:p>
            <a:r>
              <a:rPr lang="en-IN" dirty="0"/>
              <a:t>class Bus: public Vehicle, public Fare </a:t>
            </a:r>
          </a:p>
          <a:p>
            <a:r>
              <a:rPr lang="en-IN" dirty="0"/>
              <a:t>{ </a:t>
            </a:r>
          </a:p>
          <a:p>
            <a:r>
              <a:rPr lang="en-IN" dirty="0"/>
              <a:t>	</a:t>
            </a:r>
          </a:p>
          <a:p>
            <a:r>
              <a:rPr lang="en-IN" dirty="0"/>
              <a:t>}; </a:t>
            </a:r>
          </a:p>
          <a:p>
            <a:endParaRPr lang="en-IN" dirty="0"/>
          </a:p>
          <a:p>
            <a:r>
              <a:rPr lang="en-IN" dirty="0"/>
              <a:t>// main function </a:t>
            </a:r>
          </a:p>
          <a:p>
            <a:r>
              <a:rPr lang="en-IN" dirty="0" err="1"/>
              <a:t>int</a:t>
            </a:r>
            <a:r>
              <a:rPr lang="en-IN" dirty="0"/>
              <a:t> main() </a:t>
            </a:r>
          </a:p>
          <a:p>
            <a:r>
              <a:rPr lang="en-IN" dirty="0"/>
              <a:t>{ </a:t>
            </a:r>
          </a:p>
          <a:p>
            <a:r>
              <a:rPr lang="en-IN" dirty="0"/>
              <a:t>	// creating object of sub class will </a:t>
            </a:r>
          </a:p>
          <a:p>
            <a:r>
              <a:rPr lang="en-IN" dirty="0"/>
              <a:t>	// invoke the constructor of base class </a:t>
            </a:r>
          </a:p>
          <a:p>
            <a:r>
              <a:rPr lang="en-IN" dirty="0"/>
              <a:t>	Bus obj2; </a:t>
            </a:r>
          </a:p>
          <a:p>
            <a:r>
              <a:rPr lang="en-IN" dirty="0"/>
              <a:t>	return 0; </a:t>
            </a:r>
          </a:p>
          <a:p>
            <a:r>
              <a:rPr lang="en-IN" dirty="0"/>
              <a:t>} </a:t>
            </a:r>
          </a:p>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1902461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youtube.com/watch?v=RO1ZYW9NAzg" TargetMode="External"/><Relationship Id="rId3" Type="http://schemas.openxmlformats.org/officeDocument/2006/relationships/hyperlink" Target="https://www.geeksforgeeks.org/object-oriented-programming-in-cpp/" TargetMode="External"/><Relationship Id="rId7" Type="http://schemas.openxmlformats.org/officeDocument/2006/relationships/hyperlink" Target="https://www.youtube.com/watch?v=5pJyKzON8Ww" TargetMode="External"/><Relationship Id="rId2" Type="http://schemas.openxmlformats.org/officeDocument/2006/relationships/hyperlink" Target="https://www.geeksforgeeks.org/inheritance-in-c/" TargetMode="External"/><Relationship Id="rId1" Type="http://schemas.openxmlformats.org/officeDocument/2006/relationships/slideLayout" Target="../slideLayouts/slideLayout2.xml"/><Relationship Id="rId6" Type="http://schemas.openxmlformats.org/officeDocument/2006/relationships/hyperlink" Target="https://www.youtube.com/watch?v=rr7HVs4d1Qo" TargetMode="External"/><Relationship Id="rId5" Type="http://schemas.openxmlformats.org/officeDocument/2006/relationships/hyperlink" Target="https://en.cppreference.com/w/cpp/language/nested_types" TargetMode="External"/><Relationship Id="rId4" Type="http://schemas.openxmlformats.org/officeDocument/2006/relationships/hyperlink" Target="https://www.geeksforgeeks.org/copy-constructor-argument-const/" TargetMode="External"/><Relationship Id="rId9" Type="http://schemas.openxmlformats.org/officeDocument/2006/relationships/image" Target="../media/image31.jpe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prstClr val="black">
                  <a:tint val="75000"/>
                </a:prstClr>
              </a:solidFill>
            </a:endParaRPr>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defRPr/>
            </a:pPr>
            <a:endParaRPr lang="en-ID" kern="0">
              <a:solidFill>
                <a:srgbClr val="FFFFFF"/>
              </a:solidFill>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3" imgW="2169000" imgH="2169360" progId="">
                  <p:embed/>
                </p:oleObj>
              </mc:Choice>
              <mc:Fallback>
                <p:oleObj name="CorelDRAW" r:id="rId3" imgW="2169000" imgH="2169360" progId="">
                  <p:embed/>
                  <p:pic>
                    <p:nvPicPr>
                      <p:cNvPr id="0" name="Picture 20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defRPr/>
            </a:pPr>
            <a:endParaRPr lang="en-ID" kern="0">
              <a:solidFill>
                <a:srgbClr val="FFFFFF"/>
              </a:solidFill>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endParaRPr lang="en-US" sz="1600" b="1" dirty="0">
              <a:solidFill>
                <a:prstClr val="black"/>
              </a:solidFill>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Inheritance</a:t>
            </a:r>
          </a:p>
          <a:p>
            <a:endParaRPr lang="en-US" sz="1600" dirty="0">
              <a:solidFill>
                <a:prstClr val="black"/>
              </a:solidFill>
              <a:latin typeface="Raleway ExtraBold" pitchFamily="34" charset="-52"/>
            </a:endParaRPr>
          </a:p>
        </p:txBody>
      </p:sp>
      <p:sp>
        <p:nvSpPr>
          <p:cNvPr id="26" name="TextBox 25"/>
          <p:cNvSpPr txBox="1">
            <a:spLocks noChangeArrowheads="1"/>
          </p:cNvSpPr>
          <p:nvPr/>
        </p:nvSpPr>
        <p:spPr bwMode="auto">
          <a:xfrm>
            <a:off x="1374512" y="2031830"/>
            <a:ext cx="9063318"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solidFill>
                  <a:prstClr val="black"/>
                </a:solidFill>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solidFill>
                  <a:prstClr val="black"/>
                </a:solidFill>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Basic Data Structure Using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endParaRPr lang="en-US" sz="1600" dirty="0">
              <a:solidFill>
                <a:prstClr val="black"/>
              </a:solidFill>
              <a:latin typeface="Raleway ExtraBold" pitchFamily="34" charset="-52"/>
            </a:endParaRPr>
          </a:p>
        </p:txBody>
      </p:sp>
    </p:spTree>
    <p:extLst>
      <p:ext uri="{BB962C8B-B14F-4D97-AF65-F5344CB8AC3E}">
        <p14:creationId xmlns:p14="http://schemas.microsoft.com/office/powerpoint/2010/main" val="3257197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324615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046116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aphicFrame>
        <p:nvGraphicFramePr>
          <p:cNvPr id="3" name="Table 2">
            <a:extLst>
              <a:ext uri="{FF2B5EF4-FFF2-40B4-BE49-F238E27FC236}">
                <a16:creationId xmlns:a16="http://schemas.microsoft.com/office/drawing/2014/main" id="{D7477AAF-A07C-4596-A48D-8E485D58D469}"/>
              </a:ext>
            </a:extLst>
          </p:cNvPr>
          <p:cNvGraphicFramePr>
            <a:graphicFrameLocks noGrp="1"/>
          </p:cNvGraphicFramePr>
          <p:nvPr/>
        </p:nvGraphicFramePr>
        <p:xfrm>
          <a:off x="1274907" y="1800116"/>
          <a:ext cx="9642185" cy="4635939"/>
        </p:xfrm>
        <a:graphic>
          <a:graphicData uri="http://schemas.openxmlformats.org/drawingml/2006/table">
            <a:tbl>
              <a:tblPr firstRow="1" firstCol="1" lastRow="1" lastCol="1" bandRow="1" bandCol="1"/>
              <a:tblGrid>
                <a:gridCol w="561427">
                  <a:extLst>
                    <a:ext uri="{9D8B030D-6E8A-4147-A177-3AD203B41FA5}">
                      <a16:colId xmlns:a16="http://schemas.microsoft.com/office/drawing/2014/main" val="2474331142"/>
                    </a:ext>
                  </a:extLst>
                </a:gridCol>
                <a:gridCol w="1842124">
                  <a:extLst>
                    <a:ext uri="{9D8B030D-6E8A-4147-A177-3AD203B41FA5}">
                      <a16:colId xmlns:a16="http://schemas.microsoft.com/office/drawing/2014/main" val="1184856305"/>
                    </a:ext>
                  </a:extLst>
                </a:gridCol>
                <a:gridCol w="1703266">
                  <a:extLst>
                    <a:ext uri="{9D8B030D-6E8A-4147-A177-3AD203B41FA5}">
                      <a16:colId xmlns:a16="http://schemas.microsoft.com/office/drawing/2014/main" val="2645493871"/>
                    </a:ext>
                  </a:extLst>
                </a:gridCol>
                <a:gridCol w="1657314">
                  <a:extLst>
                    <a:ext uri="{9D8B030D-6E8A-4147-A177-3AD203B41FA5}">
                      <a16:colId xmlns:a16="http://schemas.microsoft.com/office/drawing/2014/main" val="3841429667"/>
                    </a:ext>
                  </a:extLst>
                </a:gridCol>
                <a:gridCol w="2184778">
                  <a:extLst>
                    <a:ext uri="{9D8B030D-6E8A-4147-A177-3AD203B41FA5}">
                      <a16:colId xmlns:a16="http://schemas.microsoft.com/office/drawing/2014/main" val="2238627060"/>
                    </a:ext>
                  </a:extLst>
                </a:gridCol>
                <a:gridCol w="1693276">
                  <a:extLst>
                    <a:ext uri="{9D8B030D-6E8A-4147-A177-3AD203B41FA5}">
                      <a16:colId xmlns:a16="http://schemas.microsoft.com/office/drawing/2014/main" val="1949201981"/>
                    </a:ext>
                  </a:extLst>
                </a:gridCol>
              </a:tblGrid>
              <a:tr h="653197">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Sr.</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algn="ctr">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36258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Type of Assessment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10287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Weightage of actual conduct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6954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Frequency of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16383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Final Weightage in Internal</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marR="227965" algn="ctr">
                        <a:lnSpc>
                          <a:spcPts val="1220"/>
                        </a:lnSpc>
                        <a:spcBef>
                          <a:spcPts val="1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Assessment (Prorated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dirty="0">
                          <a:effectLst/>
                          <a:latin typeface="Cambria" panose="02040503050406030204" pitchFamily="18" charset="0"/>
                          <a:ea typeface="Cambria" panose="02040503050406030204" pitchFamily="18" charset="0"/>
                          <a:cs typeface="Cambria" panose="02040503050406030204" pitchFamily="18" charset="0"/>
                        </a:rPr>
                        <a:t>Remarks</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4228872"/>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Assignment*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10 marks</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of</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310" marR="349885"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each </a:t>
                      </a:r>
                      <a:r>
                        <a:rPr lang="en-US" sz="1200" b="1" spc="-5">
                          <a:effectLst/>
                          <a:latin typeface="Cambria" panose="02040503050406030204" pitchFamily="18" charset="0"/>
                          <a:ea typeface="Cambria" panose="02040503050406030204" pitchFamily="18" charset="0"/>
                          <a:cs typeface="Cambria" panose="02040503050406030204" pitchFamily="18" charset="0"/>
                        </a:rPr>
                        <a:t>assignment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10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to</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course types depicted</a:t>
                      </a:r>
                      <a:r>
                        <a:rPr lang="en-US" sz="1200" b="1" spc="40">
                          <a:effectLst/>
                          <a:latin typeface="Cambria" panose="02040503050406030204" pitchFamily="18" charset="0"/>
                          <a:ea typeface="Cambria" panose="02040503050406030204" pitchFamily="18" charset="0"/>
                          <a:cs typeface="Cambria" panose="02040503050406030204" pitchFamily="18" charset="0"/>
                        </a:rPr>
                        <a:t> </a:t>
                      </a:r>
                      <a:r>
                        <a:rPr lang="en-US" sz="1200" b="1" spc="-20">
                          <a:effectLst/>
                          <a:latin typeface="Cambria" panose="02040503050406030204" pitchFamily="18" charset="0"/>
                          <a:ea typeface="Cambria" panose="02040503050406030204" pitchFamily="18" charset="0"/>
                          <a:cs typeface="Cambria" panose="02040503050406030204" pitchFamily="18" charset="0"/>
                        </a:rPr>
                        <a:t>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0270279"/>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38798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Time Bound Surprise</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Test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64795" algn="ctr">
                        <a:lnSpc>
                          <a:spcPct val="98000"/>
                        </a:lnSpc>
                        <a:spcAft>
                          <a:spcPts val="0"/>
                        </a:spcAft>
                      </a:pPr>
                      <a:r>
                        <a:rPr lang="en-US" sz="1200" b="1" dirty="0">
                          <a:effectLst/>
                          <a:latin typeface="Cambria" panose="02040503050406030204" pitchFamily="18" charset="0"/>
                          <a:ea typeface="Cambria" panose="02040503050406030204" pitchFamily="18" charset="0"/>
                          <a:cs typeface="Cambria" panose="02040503050406030204" pitchFamily="18" charset="0"/>
                        </a:rPr>
                        <a:t>12 marks for each test</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318392"/>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3.</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Quiz</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10223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 marks of each quiz</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423615"/>
                  </a:ext>
                </a:extLst>
              </a:tr>
              <a:tr h="488074">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289560"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Mid-Semester Test**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6479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20 marks for one MST.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per semester</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20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2127541"/>
                  </a:ext>
                </a:extLst>
              </a:tr>
              <a:tr h="489400">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5.</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Presentation***</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Cambria" panose="02040503050406030204" pitchFamily="18" charset="0"/>
                          <a:cs typeface="Cambria" panose="02040503050406030204" pitchFamily="18" charset="0"/>
                        </a:rPr>
                        <a:t> </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Cambria" panose="02040503050406030204" pitchFamily="18" charset="0"/>
                          <a:cs typeface="Cambria" panose="02040503050406030204" pitchFamily="18" charset="0"/>
                        </a:rPr>
                        <a:t> </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 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337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Only for Self Study</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MNGCourses.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2513427"/>
                  </a:ext>
                </a:extLst>
              </a:tr>
              <a:tr h="489400">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6.</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Homework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a:t>
                      </a:r>
                      <a:r>
                        <a:rPr lang="en-US" sz="1200" b="1" spc="-15">
                          <a:effectLst/>
                          <a:latin typeface="Cambria" panose="02040503050406030204" pitchFamily="18" charset="0"/>
                          <a:ea typeface="Cambria" panose="02040503050406030204" pitchFamily="18" charset="0"/>
                          <a:cs typeface="Cambria" panose="02040503050406030204" pitchFamily="18" charset="0"/>
                        </a:rPr>
                        <a:t>lecture </a:t>
                      </a:r>
                      <a:r>
                        <a:rPr lang="en-US" sz="1200" b="1">
                          <a:effectLst/>
                          <a:latin typeface="Cambria" panose="02040503050406030204" pitchFamily="18" charset="0"/>
                          <a:ea typeface="Cambria" panose="02040503050406030204" pitchFamily="18" charset="0"/>
                          <a:cs typeface="Cambria" panose="02040503050406030204" pitchFamily="18" charset="0"/>
                        </a:rPr>
                        <a:t>topic (of</a:t>
                      </a:r>
                      <a:r>
                        <a:rPr lang="en-US" sz="1200" b="1" spc="-10">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2</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675"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questions)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4953821"/>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7.</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Discussion Forum</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51435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Chapter</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 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to</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20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course types depicted</a:t>
                      </a:r>
                      <a:r>
                        <a:rPr lang="en-US" sz="1200" b="1" spc="40">
                          <a:effectLst/>
                          <a:latin typeface="Cambria" panose="02040503050406030204" pitchFamily="18" charset="0"/>
                          <a:ea typeface="Cambria" panose="02040503050406030204" pitchFamily="18" charset="0"/>
                          <a:cs typeface="Cambria" panose="02040503050406030204" pitchFamily="18" charset="0"/>
                        </a:rPr>
                        <a:t> </a:t>
                      </a:r>
                      <a:r>
                        <a:rPr lang="en-US" sz="1200" b="1" spc="-20">
                          <a:effectLst/>
                          <a:latin typeface="Cambria" panose="02040503050406030204" pitchFamily="18" charset="0"/>
                          <a:ea typeface="Cambria" panose="02040503050406030204" pitchFamily="18" charset="0"/>
                          <a:cs typeface="Cambria" panose="02040503050406030204" pitchFamily="18" charset="0"/>
                        </a:rPr>
                        <a:t>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3220233"/>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8.</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Attendance and</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marR="375285"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Engagement Score on BB</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dirty="0">
                          <a:effectLst/>
                          <a:latin typeface="Times New Roman" panose="02020603050405020304" pitchFamily="18" charset="0"/>
                          <a:ea typeface="Cambria" panose="02040503050406030204" pitchFamily="18" charset="0"/>
                          <a:cs typeface="Cambria" panose="02040503050406030204" pitchFamily="18" charset="0"/>
                        </a:rPr>
                        <a:t> </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2552667"/>
                  </a:ext>
                </a:extLst>
              </a:tr>
            </a:tbl>
          </a:graphicData>
        </a:graphic>
      </p:graphicFrame>
    </p:spTree>
    <p:extLst>
      <p:ext uri="{BB962C8B-B14F-4D97-AF65-F5344CB8AC3E}">
        <p14:creationId xmlns:p14="http://schemas.microsoft.com/office/powerpoint/2010/main" val="15002376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IN" sz="2400" dirty="0">
                <a:latin typeface="Casper" panose="02000506000000020004" pitchFamily="2" charset="0"/>
                <a:cs typeface="Arial" panose="020B0604020202020204" pitchFamily="34" charset="0"/>
              </a:rPr>
              <a:t>Defining derived </a:t>
            </a:r>
            <a:r>
              <a:rPr lang="en-IN" sz="2400" dirty="0" smtClean="0">
                <a:latin typeface="Casper" panose="02000506000000020004" pitchFamily="2" charset="0"/>
                <a:cs typeface="Arial" panose="020B0604020202020204" pitchFamily="34" charset="0"/>
              </a:rPr>
              <a:t>class </a:t>
            </a:r>
            <a:endParaRPr lang="en-IN" sz="2400" dirty="0">
              <a:latin typeface="Casper" panose="02000506000000020004" pitchFamily="2" charset="0"/>
              <a:cs typeface="Arial" panose="020B0604020202020204" pitchFamily="34" charset="0"/>
            </a:endParaRPr>
          </a:p>
          <a:p>
            <a:r>
              <a:rPr lang="en-IN" sz="2400" dirty="0">
                <a:latin typeface="Casper" panose="02000506000000020004" pitchFamily="2" charset="0"/>
                <a:cs typeface="Arial" panose="020B0604020202020204" pitchFamily="34" charset="0"/>
              </a:rPr>
              <a:t>modes of </a:t>
            </a:r>
            <a:r>
              <a:rPr lang="en-IN" sz="2400" dirty="0" smtClean="0">
                <a:latin typeface="Casper" panose="02000506000000020004" pitchFamily="2" charset="0"/>
                <a:cs typeface="Arial" panose="020B0604020202020204" pitchFamily="34" charset="0"/>
              </a:rPr>
              <a:t>inheritance </a:t>
            </a:r>
            <a:endParaRPr lang="en-IN" sz="2400" dirty="0">
              <a:latin typeface="Casper" panose="02000506000000020004" pitchFamily="2" charset="0"/>
              <a:cs typeface="Arial" panose="020B0604020202020204" pitchFamily="34" charset="0"/>
            </a:endParaRPr>
          </a:p>
          <a:p>
            <a:r>
              <a:rPr lang="en-IN" sz="2400" dirty="0">
                <a:latin typeface="Casper" panose="02000506000000020004" pitchFamily="2" charset="0"/>
                <a:cs typeface="Arial" panose="020B0604020202020204" pitchFamily="34" charset="0"/>
              </a:rPr>
              <a:t>types of </a:t>
            </a:r>
            <a:r>
              <a:rPr lang="en-IN" sz="2400" dirty="0" smtClean="0">
                <a:latin typeface="Casper" panose="02000506000000020004" pitchFamily="2" charset="0"/>
                <a:cs typeface="Arial" panose="020B0604020202020204" pitchFamily="34" charset="0"/>
              </a:rPr>
              <a:t>inheritance</a:t>
            </a:r>
            <a:r>
              <a:rPr lang="en-IN" sz="2400" dirty="0">
                <a:latin typeface="Casper" panose="02000506000000020004" pitchFamily="2" charset="0"/>
                <a:cs typeface="Arial" panose="020B0604020202020204" pitchFamily="34" charset="0"/>
              </a:rPr>
              <a:t>	</a:t>
            </a: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49262" y="3856830"/>
            <a:ext cx="4322762" cy="2624651"/>
          </a:xfrm>
        </p:spPr>
        <p:txBody>
          <a:bodyPr>
            <a:normAutofit/>
          </a:bodyPr>
          <a:lstStyle/>
          <a:p>
            <a:pPr algn="just"/>
            <a:r>
              <a:rPr lang="en-IN" dirty="0"/>
              <a:t>The capability of a class to derive properties and characteristics from another class is called Inheritance. </a:t>
            </a:r>
          </a:p>
          <a:p>
            <a:pPr algn="just"/>
            <a:r>
              <a:rPr lang="en-IN" dirty="0"/>
              <a:t>Inheritance is one of the most important feature of Object Oriented Programming</a:t>
            </a: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8354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957865" y="2429010"/>
            <a:ext cx="1143000" cy="3765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TYPES OF INHERITANCE</a:t>
            </a:r>
            <a:endParaRPr lang="en-US" dirty="0"/>
          </a:p>
        </p:txBody>
      </p:sp>
      <p:sp>
        <p:nvSpPr>
          <p:cNvPr id="3" name="Content Placeholder 2"/>
          <p:cNvSpPr>
            <a:spLocks noGrp="1"/>
          </p:cNvSpPr>
          <p:nvPr>
            <p:ph idx="1"/>
          </p:nvPr>
        </p:nvSpPr>
        <p:spPr/>
        <p:txBody>
          <a:bodyPr>
            <a:normAutofit/>
          </a:bodyPr>
          <a:lstStyle/>
          <a:p>
            <a:pPr marL="0" indent="0">
              <a:buNone/>
            </a:pPr>
            <a:endParaRPr lang="en-IN" sz="1600" dirty="0">
              <a:latin typeface="Casper" panose="02000506000000020004" pitchFamily="2" charset="0"/>
              <a:cs typeface="Arial" panose="020B0604020202020204" pitchFamily="34" charset="0"/>
            </a:endParaRP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9736" y="2246048"/>
            <a:ext cx="2991267" cy="1886213"/>
          </a:xfrm>
          <a:prstGeom prst="rect">
            <a:avLst/>
          </a:prstGeom>
        </p:spPr>
        <p:style>
          <a:lnRef idx="2">
            <a:schemeClr val="accent6"/>
          </a:lnRef>
          <a:fillRef idx="1">
            <a:schemeClr val="lt1"/>
          </a:fillRef>
          <a:effectRef idx="0">
            <a:schemeClr val="accent6"/>
          </a:effectRef>
          <a:fontRef idx="minor">
            <a:schemeClr val="dk1"/>
          </a:fontRef>
        </p:style>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1366" y="4473506"/>
            <a:ext cx="6215039" cy="1501775"/>
          </a:xfrm>
          <a:prstGeom prst="rect">
            <a:avLst/>
          </a:prstGeom>
        </p:spPr>
        <p:style>
          <a:lnRef idx="2">
            <a:schemeClr val="accent6"/>
          </a:lnRef>
          <a:fillRef idx="1">
            <a:schemeClr val="lt1"/>
          </a:fillRef>
          <a:effectRef idx="0">
            <a:schemeClr val="accent6"/>
          </a:effectRef>
          <a:fontRef idx="minor">
            <a:schemeClr val="dk1"/>
          </a:fontRef>
        </p:style>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8549" y="1942036"/>
            <a:ext cx="3783106" cy="2821697"/>
          </a:xfrm>
          <a:prstGeom prst="rect">
            <a:avLst/>
          </a:prstGeom>
        </p:spPr>
        <p:style>
          <a:lnRef idx="2">
            <a:schemeClr val="accent6"/>
          </a:lnRef>
          <a:fillRef idx="1">
            <a:schemeClr val="lt1"/>
          </a:fillRef>
          <a:effectRef idx="0">
            <a:schemeClr val="accent6"/>
          </a:effectRef>
          <a:fontRef idx="minor">
            <a:schemeClr val="dk1"/>
          </a:fontRef>
        </p:style>
      </p:pic>
      <p:sp>
        <p:nvSpPr>
          <p:cNvPr id="10" name="TextBox 9"/>
          <p:cNvSpPr txBox="1"/>
          <p:nvPr/>
        </p:nvSpPr>
        <p:spPr>
          <a:xfrm>
            <a:off x="1162458" y="2908096"/>
            <a:ext cx="1997278" cy="338554"/>
          </a:xfrm>
          <a:prstGeom prst="rect">
            <a:avLst/>
          </a:prstGeom>
          <a:noFill/>
        </p:spPr>
        <p:txBody>
          <a:bodyPr wrap="none" rtlCol="0">
            <a:spAutoFit/>
          </a:bodyPr>
          <a:lstStyle/>
          <a:p>
            <a:r>
              <a:rPr lang="en-IN" sz="1600" dirty="0">
                <a:latin typeface="Casper" panose="02000506000000020004"/>
              </a:rPr>
              <a:t>1. SINGLE INHERITANCE</a:t>
            </a:r>
          </a:p>
        </p:txBody>
      </p:sp>
      <p:sp>
        <p:nvSpPr>
          <p:cNvPr id="11" name="TextBox 10"/>
          <p:cNvSpPr txBox="1"/>
          <p:nvPr/>
        </p:nvSpPr>
        <p:spPr>
          <a:xfrm>
            <a:off x="1171366" y="5587413"/>
            <a:ext cx="2182264" cy="338554"/>
          </a:xfrm>
          <a:prstGeom prst="rect">
            <a:avLst/>
          </a:prstGeom>
          <a:noFill/>
        </p:spPr>
        <p:txBody>
          <a:bodyPr wrap="none" rtlCol="0">
            <a:spAutoFit/>
          </a:bodyPr>
          <a:lstStyle/>
          <a:p>
            <a:r>
              <a:rPr lang="en-IN" sz="1600" dirty="0">
                <a:latin typeface="Casper" panose="02000506000000020004"/>
              </a:rPr>
              <a:t>2. MULTIPLE INHERITANCE</a:t>
            </a:r>
          </a:p>
        </p:txBody>
      </p:sp>
      <p:sp>
        <p:nvSpPr>
          <p:cNvPr id="12" name="TextBox 11"/>
          <p:cNvSpPr txBox="1"/>
          <p:nvPr/>
        </p:nvSpPr>
        <p:spPr>
          <a:xfrm>
            <a:off x="8610600" y="4763733"/>
            <a:ext cx="2413096" cy="338554"/>
          </a:xfrm>
          <a:prstGeom prst="rect">
            <a:avLst/>
          </a:prstGeom>
          <a:noFill/>
        </p:spPr>
        <p:txBody>
          <a:bodyPr wrap="none" rtlCol="0">
            <a:spAutoFit/>
          </a:bodyPr>
          <a:lstStyle/>
          <a:p>
            <a:r>
              <a:rPr lang="en-IN" sz="1600" dirty="0">
                <a:latin typeface="Casper" panose="02000506000000020004"/>
              </a:rPr>
              <a:t>3. MULTI-LEVEL INHERITANCE</a:t>
            </a:r>
          </a:p>
        </p:txBody>
      </p:sp>
      <p:sp>
        <p:nvSpPr>
          <p:cNvPr id="13" name="TextBox 12"/>
          <p:cNvSpPr txBox="1"/>
          <p:nvPr/>
        </p:nvSpPr>
        <p:spPr>
          <a:xfrm>
            <a:off x="4370294" y="6354720"/>
            <a:ext cx="2268891" cy="276999"/>
          </a:xfrm>
          <a:prstGeom prst="rect">
            <a:avLst/>
          </a:prstGeom>
          <a:noFill/>
        </p:spPr>
        <p:txBody>
          <a:bodyPr wrap="none" rtlCol="0">
            <a:spAutoFit/>
          </a:bodyPr>
          <a:lstStyle/>
          <a:p>
            <a:r>
              <a:rPr lang="en-IN" sz="1200" dirty="0"/>
              <a:t>Figure 4.6 Types of inheritance[1]</a:t>
            </a:r>
          </a:p>
        </p:txBody>
      </p:sp>
    </p:spTree>
    <p:extLst>
      <p:ext uri="{BB962C8B-B14F-4D97-AF65-F5344CB8AC3E}">
        <p14:creationId xmlns:p14="http://schemas.microsoft.com/office/powerpoint/2010/main" val="787352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TYPES OF INHERITANCE</a:t>
            </a:r>
            <a:endParaRPr lang="en-US" dirty="0"/>
          </a:p>
        </p:txBody>
      </p:sp>
      <p:sp>
        <p:nvSpPr>
          <p:cNvPr id="3" name="Content Placeholder 2"/>
          <p:cNvSpPr>
            <a:spLocks noGrp="1"/>
          </p:cNvSpPr>
          <p:nvPr>
            <p:ph idx="1"/>
          </p:nvPr>
        </p:nvSpPr>
        <p:spPr/>
        <p:txBody>
          <a:bodyPr>
            <a:normAutofit/>
          </a:bodyPr>
          <a:lstStyle/>
          <a:p>
            <a:pPr marL="0" indent="0">
              <a:buNone/>
            </a:pPr>
            <a:endParaRPr lang="en-IN" sz="1600" dirty="0">
              <a:latin typeface="Casper" panose="02000506000000020004" pitchFamily="2" charset="0"/>
              <a:cs typeface="Arial" panose="020B0604020202020204" pitchFamily="34" charset="0"/>
            </a:endParaRP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879143" y="4933010"/>
            <a:ext cx="2629759" cy="338554"/>
          </a:xfrm>
          <a:prstGeom prst="rect">
            <a:avLst/>
          </a:prstGeom>
          <a:noFill/>
        </p:spPr>
        <p:txBody>
          <a:bodyPr wrap="none" rtlCol="0">
            <a:spAutoFit/>
          </a:bodyPr>
          <a:lstStyle/>
          <a:p>
            <a:r>
              <a:rPr lang="en-IN" sz="1600" dirty="0">
                <a:latin typeface="Casper" panose="02000506000000020004"/>
              </a:rPr>
              <a:t>4. HIERARCHICAL INHERITANCE</a:t>
            </a:r>
          </a:p>
        </p:txBody>
      </p:sp>
      <p:sp>
        <p:nvSpPr>
          <p:cNvPr id="12" name="TextBox 11"/>
          <p:cNvSpPr txBox="1"/>
          <p:nvPr/>
        </p:nvSpPr>
        <p:spPr>
          <a:xfrm>
            <a:off x="8301318" y="4458475"/>
            <a:ext cx="2798971" cy="338554"/>
          </a:xfrm>
          <a:prstGeom prst="rect">
            <a:avLst/>
          </a:prstGeom>
          <a:noFill/>
        </p:spPr>
        <p:txBody>
          <a:bodyPr wrap="none" rtlCol="0">
            <a:spAutoFit/>
          </a:bodyPr>
          <a:lstStyle/>
          <a:p>
            <a:r>
              <a:rPr lang="en-IN" sz="1600" dirty="0">
                <a:latin typeface="Casper" panose="02000506000000020004"/>
              </a:rPr>
              <a:t>5. HYBRID/VIRTUAL INHERITANCE</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999" y="1985375"/>
            <a:ext cx="6027685" cy="2865879"/>
          </a:xfrm>
          <a:prstGeom prst="rect">
            <a:avLst/>
          </a:prstGeom>
        </p:spPr>
        <p:style>
          <a:lnRef idx="2">
            <a:schemeClr val="accent6"/>
          </a:lnRef>
          <a:fillRef idx="1">
            <a:schemeClr val="lt1"/>
          </a:fillRef>
          <a:effectRef idx="0">
            <a:schemeClr val="accent6"/>
          </a:effectRef>
          <a:fontRef idx="minor">
            <a:schemeClr val="dk1"/>
          </a:fontRef>
        </p:style>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985" y="1971885"/>
            <a:ext cx="4524759" cy="2409594"/>
          </a:xfrm>
          <a:prstGeom prst="rect">
            <a:avLst/>
          </a:prstGeom>
        </p:spPr>
        <p:style>
          <a:lnRef idx="2">
            <a:schemeClr val="accent6"/>
          </a:lnRef>
          <a:fillRef idx="1">
            <a:schemeClr val="lt1"/>
          </a:fillRef>
          <a:effectRef idx="0">
            <a:schemeClr val="accent6"/>
          </a:effectRef>
          <a:fontRef idx="minor">
            <a:schemeClr val="dk1"/>
          </a:fontRef>
        </p:style>
      </p:pic>
      <p:sp>
        <p:nvSpPr>
          <p:cNvPr id="15" name="TextBox 14"/>
          <p:cNvSpPr txBox="1"/>
          <p:nvPr/>
        </p:nvSpPr>
        <p:spPr>
          <a:xfrm>
            <a:off x="4370294" y="6354720"/>
            <a:ext cx="2268891" cy="276999"/>
          </a:xfrm>
          <a:prstGeom prst="rect">
            <a:avLst/>
          </a:prstGeom>
          <a:noFill/>
        </p:spPr>
        <p:txBody>
          <a:bodyPr wrap="none" rtlCol="0">
            <a:spAutoFit/>
          </a:bodyPr>
          <a:lstStyle/>
          <a:p>
            <a:r>
              <a:rPr lang="en-IN" sz="1200" dirty="0"/>
              <a:t>Figure 4.7 Types of inheritance[1]</a:t>
            </a:r>
          </a:p>
        </p:txBody>
      </p:sp>
    </p:spTree>
    <p:extLst>
      <p:ext uri="{BB962C8B-B14F-4D97-AF65-F5344CB8AC3E}">
        <p14:creationId xmlns:p14="http://schemas.microsoft.com/office/powerpoint/2010/main" val="353536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	SINGLE INHERITANCE</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a:latin typeface="Casper" panose="02000506000000020004" pitchFamily="2" charset="0"/>
                <a:cs typeface="Arial" panose="020B0604020202020204" pitchFamily="34" charset="0"/>
              </a:rPr>
              <a:t>CLASS</a:t>
            </a:r>
          </a:p>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477871" y="6302392"/>
            <a:ext cx="2323072" cy="261610"/>
          </a:xfrm>
          <a:prstGeom prst="rect">
            <a:avLst/>
          </a:prstGeom>
          <a:noFill/>
        </p:spPr>
        <p:txBody>
          <a:bodyPr wrap="none" rtlCol="0">
            <a:spAutoFit/>
          </a:bodyPr>
          <a:lstStyle/>
          <a:p>
            <a:r>
              <a:rPr lang="en-IN" sz="1100" dirty="0"/>
              <a:t>Figure 4.8 Program made on Dev-C++</a:t>
            </a:r>
          </a:p>
        </p:txBody>
      </p:sp>
      <p:pic>
        <p:nvPicPr>
          <p:cNvPr id="10" name="Picture 9"/>
          <p:cNvPicPr>
            <a:picLocks noChangeAspect="1"/>
          </p:cNvPicPr>
          <p:nvPr/>
        </p:nvPicPr>
        <p:blipFill>
          <a:blip r:embed="rId3"/>
          <a:stretch>
            <a:fillRect/>
          </a:stretch>
        </p:blipFill>
        <p:spPr>
          <a:xfrm>
            <a:off x="838200" y="1821656"/>
            <a:ext cx="6062412" cy="4350544"/>
          </a:xfrm>
          <a:prstGeom prst="rect">
            <a:avLst/>
          </a:prstGeom>
        </p:spPr>
      </p:pic>
      <p:pic>
        <p:nvPicPr>
          <p:cNvPr id="11" name="Picture 10"/>
          <p:cNvPicPr>
            <a:picLocks noChangeAspect="1"/>
          </p:cNvPicPr>
          <p:nvPr/>
        </p:nvPicPr>
        <p:blipFill>
          <a:blip r:embed="rId4"/>
          <a:stretch>
            <a:fillRect/>
          </a:stretch>
        </p:blipFill>
        <p:spPr>
          <a:xfrm>
            <a:off x="5362126" y="1825625"/>
            <a:ext cx="5991674" cy="1946275"/>
          </a:xfrm>
          <a:prstGeom prst="rect">
            <a:avLst/>
          </a:prstGeom>
        </p:spPr>
      </p:pic>
    </p:spTree>
    <p:extLst>
      <p:ext uri="{BB962C8B-B14F-4D97-AF65-F5344CB8AC3E}">
        <p14:creationId xmlns:p14="http://schemas.microsoft.com/office/powerpoint/2010/main" val="2579414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	MULTIPLE INHERITANCE</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a:latin typeface="Casper" panose="02000506000000020004" pitchFamily="2" charset="0"/>
                <a:cs typeface="Arial" panose="020B0604020202020204" pitchFamily="34" charset="0"/>
              </a:rPr>
              <a:t>CLASS</a:t>
            </a:r>
          </a:p>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7872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715903" y="6590670"/>
            <a:ext cx="2323072" cy="261610"/>
          </a:xfrm>
          <a:prstGeom prst="rect">
            <a:avLst/>
          </a:prstGeom>
          <a:noFill/>
        </p:spPr>
        <p:txBody>
          <a:bodyPr wrap="none" rtlCol="0">
            <a:spAutoFit/>
          </a:bodyPr>
          <a:lstStyle/>
          <a:p>
            <a:r>
              <a:rPr lang="en-IN" sz="1100" dirty="0"/>
              <a:t>Figure 4.8 Program made on Dev-C++</a:t>
            </a:r>
          </a:p>
        </p:txBody>
      </p:sp>
      <p:pic>
        <p:nvPicPr>
          <p:cNvPr id="7" name="Picture 6"/>
          <p:cNvPicPr>
            <a:picLocks noChangeAspect="1"/>
          </p:cNvPicPr>
          <p:nvPr/>
        </p:nvPicPr>
        <p:blipFill>
          <a:blip r:embed="rId3"/>
          <a:stretch>
            <a:fillRect/>
          </a:stretch>
        </p:blipFill>
        <p:spPr>
          <a:xfrm>
            <a:off x="838201" y="1792767"/>
            <a:ext cx="6480156" cy="4797903"/>
          </a:xfrm>
          <a:prstGeom prst="rect">
            <a:avLst/>
          </a:prstGeom>
        </p:spPr>
      </p:pic>
    </p:spTree>
    <p:extLst>
      <p:ext uri="{BB962C8B-B14F-4D97-AF65-F5344CB8AC3E}">
        <p14:creationId xmlns:p14="http://schemas.microsoft.com/office/powerpoint/2010/main" val="289291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	MULTIPLE INHERITANCE</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a:latin typeface="Casper" panose="02000506000000020004" pitchFamily="2" charset="0"/>
                <a:cs typeface="Arial" panose="020B0604020202020204" pitchFamily="34" charset="0"/>
              </a:rPr>
              <a:t>CLASS</a:t>
            </a:r>
          </a:p>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7872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715903" y="6590670"/>
            <a:ext cx="2323072" cy="261610"/>
          </a:xfrm>
          <a:prstGeom prst="rect">
            <a:avLst/>
          </a:prstGeom>
          <a:noFill/>
        </p:spPr>
        <p:txBody>
          <a:bodyPr wrap="none" rtlCol="0">
            <a:spAutoFit/>
          </a:bodyPr>
          <a:lstStyle/>
          <a:p>
            <a:r>
              <a:rPr lang="en-IN" sz="1100" dirty="0"/>
              <a:t>Figure 4.8 Program made on Dev-C++</a:t>
            </a:r>
          </a:p>
        </p:txBody>
      </p:sp>
      <p:pic>
        <p:nvPicPr>
          <p:cNvPr id="8" name="Picture 7"/>
          <p:cNvPicPr>
            <a:picLocks noChangeAspect="1"/>
          </p:cNvPicPr>
          <p:nvPr/>
        </p:nvPicPr>
        <p:blipFill>
          <a:blip r:embed="rId3"/>
          <a:stretch>
            <a:fillRect/>
          </a:stretch>
        </p:blipFill>
        <p:spPr>
          <a:xfrm>
            <a:off x="838200" y="1798637"/>
            <a:ext cx="8538049" cy="4350859"/>
          </a:xfrm>
          <a:prstGeom prst="rect">
            <a:avLst/>
          </a:prstGeom>
        </p:spPr>
      </p:pic>
    </p:spTree>
    <p:extLst>
      <p:ext uri="{BB962C8B-B14F-4D97-AF65-F5344CB8AC3E}">
        <p14:creationId xmlns:p14="http://schemas.microsoft.com/office/powerpoint/2010/main" val="989169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MULTILEVEL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31659" y="6463950"/>
            <a:ext cx="2427268" cy="261610"/>
          </a:xfrm>
          <a:prstGeom prst="rect">
            <a:avLst/>
          </a:prstGeom>
          <a:noFill/>
        </p:spPr>
        <p:txBody>
          <a:bodyPr wrap="none" rtlCol="0">
            <a:spAutoFit/>
          </a:bodyPr>
          <a:lstStyle/>
          <a:p>
            <a:r>
              <a:rPr lang="en-IN" sz="1100" dirty="0"/>
              <a:t>Figure 4.9 Program  made on Dev-C++</a:t>
            </a:r>
          </a:p>
        </p:txBody>
      </p:sp>
      <p:pic>
        <p:nvPicPr>
          <p:cNvPr id="7" name="Picture 6"/>
          <p:cNvPicPr>
            <a:picLocks noChangeAspect="1"/>
          </p:cNvPicPr>
          <p:nvPr/>
        </p:nvPicPr>
        <p:blipFill>
          <a:blip r:embed="rId2"/>
          <a:stretch>
            <a:fillRect/>
          </a:stretch>
        </p:blipFill>
        <p:spPr>
          <a:xfrm>
            <a:off x="838200" y="1787522"/>
            <a:ext cx="9015380" cy="4676427"/>
          </a:xfrm>
          <a:prstGeom prst="rect">
            <a:avLst/>
          </a:prstGeom>
        </p:spPr>
      </p:pic>
    </p:spTree>
    <p:extLst>
      <p:ext uri="{BB962C8B-B14F-4D97-AF65-F5344CB8AC3E}">
        <p14:creationId xmlns:p14="http://schemas.microsoft.com/office/powerpoint/2010/main" val="2363707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MULTILEVEL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31659" y="6463950"/>
            <a:ext cx="2427268" cy="261610"/>
          </a:xfrm>
          <a:prstGeom prst="rect">
            <a:avLst/>
          </a:prstGeom>
          <a:noFill/>
        </p:spPr>
        <p:txBody>
          <a:bodyPr wrap="none" rtlCol="0">
            <a:spAutoFit/>
          </a:bodyPr>
          <a:lstStyle/>
          <a:p>
            <a:r>
              <a:rPr lang="en-IN" sz="1100" dirty="0"/>
              <a:t>Figure 4.10 Program  made on Dev-C++</a:t>
            </a:r>
          </a:p>
        </p:txBody>
      </p:sp>
      <p:pic>
        <p:nvPicPr>
          <p:cNvPr id="8" name="Picture 7"/>
          <p:cNvPicPr>
            <a:picLocks noChangeAspect="1"/>
          </p:cNvPicPr>
          <p:nvPr/>
        </p:nvPicPr>
        <p:blipFill>
          <a:blip r:embed="rId2"/>
          <a:stretch>
            <a:fillRect/>
          </a:stretch>
        </p:blipFill>
        <p:spPr>
          <a:xfrm>
            <a:off x="862926" y="1825624"/>
            <a:ext cx="7747673" cy="4672815"/>
          </a:xfrm>
          <a:prstGeom prst="rect">
            <a:avLst/>
          </a:prstGeom>
        </p:spPr>
      </p:pic>
    </p:spTree>
    <p:extLst>
      <p:ext uri="{BB962C8B-B14F-4D97-AF65-F5344CB8AC3E}">
        <p14:creationId xmlns:p14="http://schemas.microsoft.com/office/powerpoint/2010/main" val="80210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MULTILEVEL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31659" y="6463950"/>
            <a:ext cx="2427268" cy="261610"/>
          </a:xfrm>
          <a:prstGeom prst="rect">
            <a:avLst/>
          </a:prstGeom>
          <a:noFill/>
        </p:spPr>
        <p:txBody>
          <a:bodyPr wrap="none" rtlCol="0">
            <a:spAutoFit/>
          </a:bodyPr>
          <a:lstStyle/>
          <a:p>
            <a:r>
              <a:rPr lang="en-IN" sz="1100" dirty="0"/>
              <a:t>Figure 4.10 Program  made on Dev-C++</a:t>
            </a:r>
          </a:p>
        </p:txBody>
      </p:sp>
      <p:pic>
        <p:nvPicPr>
          <p:cNvPr id="7" name="Picture 6"/>
          <p:cNvPicPr>
            <a:picLocks noChangeAspect="1"/>
          </p:cNvPicPr>
          <p:nvPr/>
        </p:nvPicPr>
        <p:blipFill>
          <a:blip r:embed="rId3"/>
          <a:stretch>
            <a:fillRect/>
          </a:stretch>
        </p:blipFill>
        <p:spPr>
          <a:xfrm>
            <a:off x="838200" y="1803399"/>
            <a:ext cx="7148120" cy="2411414"/>
          </a:xfrm>
          <a:prstGeom prst="rect">
            <a:avLst/>
          </a:prstGeom>
        </p:spPr>
      </p:pic>
      <p:pic>
        <p:nvPicPr>
          <p:cNvPr id="9" name="Picture 8"/>
          <p:cNvPicPr>
            <a:picLocks noChangeAspect="1"/>
          </p:cNvPicPr>
          <p:nvPr/>
        </p:nvPicPr>
        <p:blipFill>
          <a:blip r:embed="rId4"/>
          <a:stretch>
            <a:fillRect/>
          </a:stretch>
        </p:blipFill>
        <p:spPr>
          <a:xfrm>
            <a:off x="838201" y="4234338"/>
            <a:ext cx="7962900" cy="2229612"/>
          </a:xfrm>
          <a:prstGeom prst="rect">
            <a:avLst/>
          </a:prstGeom>
        </p:spPr>
      </p:pic>
    </p:spTree>
    <p:extLst>
      <p:ext uri="{BB962C8B-B14F-4D97-AF65-F5344CB8AC3E}">
        <p14:creationId xmlns:p14="http://schemas.microsoft.com/office/powerpoint/2010/main" val="2607601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HYBRID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838200" y="1825625"/>
            <a:ext cx="6401337" cy="3532188"/>
          </a:xfrm>
          <a:prstGeom prst="rect">
            <a:avLst/>
          </a:prstGeom>
        </p:spPr>
      </p:pic>
      <p:pic>
        <p:nvPicPr>
          <p:cNvPr id="8" name="Picture 7"/>
          <p:cNvPicPr>
            <a:picLocks noChangeAspect="1"/>
          </p:cNvPicPr>
          <p:nvPr/>
        </p:nvPicPr>
        <p:blipFill>
          <a:blip r:embed="rId4"/>
          <a:stretch>
            <a:fillRect/>
          </a:stretch>
        </p:blipFill>
        <p:spPr>
          <a:xfrm>
            <a:off x="5800673" y="1803399"/>
            <a:ext cx="5553127" cy="2606817"/>
          </a:xfrm>
          <a:prstGeom prst="rect">
            <a:avLst/>
          </a:prstGeom>
        </p:spPr>
      </p:pic>
      <p:sp>
        <p:nvSpPr>
          <p:cNvPr id="9" name="TextBox 8"/>
          <p:cNvSpPr txBox="1"/>
          <p:nvPr/>
        </p:nvSpPr>
        <p:spPr>
          <a:xfrm>
            <a:off x="4531659" y="6463950"/>
            <a:ext cx="2427268" cy="261610"/>
          </a:xfrm>
          <a:prstGeom prst="rect">
            <a:avLst/>
          </a:prstGeom>
          <a:noFill/>
        </p:spPr>
        <p:txBody>
          <a:bodyPr wrap="none" rtlCol="0">
            <a:spAutoFit/>
          </a:bodyPr>
          <a:lstStyle/>
          <a:p>
            <a:r>
              <a:rPr lang="en-IN" sz="1100" dirty="0"/>
              <a:t>Figure 4.14 Program  made on Dev-C++</a:t>
            </a:r>
          </a:p>
        </p:txBody>
      </p:sp>
    </p:spTree>
    <p:extLst>
      <p:ext uri="{BB962C8B-B14F-4D97-AF65-F5344CB8AC3E}">
        <p14:creationId xmlns:p14="http://schemas.microsoft.com/office/powerpoint/2010/main" val="885081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HYBRID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stretch>
            <a:fillRect/>
          </a:stretch>
        </p:blipFill>
        <p:spPr>
          <a:xfrm>
            <a:off x="838200" y="1825625"/>
            <a:ext cx="7279803" cy="3832225"/>
          </a:xfrm>
          <a:prstGeom prst="rect">
            <a:avLst/>
          </a:prstGeom>
        </p:spPr>
      </p:pic>
      <p:sp>
        <p:nvSpPr>
          <p:cNvPr id="11" name="TextBox 10"/>
          <p:cNvSpPr txBox="1"/>
          <p:nvPr/>
        </p:nvSpPr>
        <p:spPr>
          <a:xfrm>
            <a:off x="4531659" y="6463950"/>
            <a:ext cx="2427268" cy="261610"/>
          </a:xfrm>
          <a:prstGeom prst="rect">
            <a:avLst/>
          </a:prstGeom>
          <a:noFill/>
        </p:spPr>
        <p:txBody>
          <a:bodyPr wrap="none" rtlCol="0">
            <a:spAutoFit/>
          </a:bodyPr>
          <a:lstStyle/>
          <a:p>
            <a:r>
              <a:rPr lang="en-IN" sz="1100" dirty="0"/>
              <a:t>Figure 4.15 Program  made on Dev-C++</a:t>
            </a:r>
          </a:p>
        </p:txBody>
      </p:sp>
    </p:spTree>
    <p:extLst>
      <p:ext uri="{BB962C8B-B14F-4D97-AF65-F5344CB8AC3E}">
        <p14:creationId xmlns:p14="http://schemas.microsoft.com/office/powerpoint/2010/main" val="132383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HYBRID INHERITANCE</a:t>
            </a:r>
            <a:endParaRPr lang="en-US" dirty="0"/>
          </a:p>
        </p:txBody>
      </p:sp>
      <p:sp>
        <p:nvSpPr>
          <p:cNvPr id="3" name="Content Placeholder 2"/>
          <p:cNvSpPr>
            <a:spLocks noGrp="1"/>
          </p:cNvSpPr>
          <p:nvPr>
            <p:ph idx="1"/>
          </p:nvPr>
        </p:nvSpPr>
        <p:spPr/>
        <p:txBody>
          <a:bodyPr>
            <a:normAutofit/>
          </a:bodyPr>
          <a:lstStyle/>
          <a:p>
            <a:pPr marL="0" indent="0">
              <a:buNone/>
            </a:pPr>
            <a:r>
              <a:rPr lang="en-IN" sz="1600" dirty="0">
                <a:latin typeface="Casper" panose="02000506000000020004" pitchFamily="2" charset="0"/>
                <a:cs typeface="Arial" panose="020B0604020202020204" pitchFamily="34" charset="0"/>
              </a:rPr>
              <a:t>	</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p:cNvSpPr/>
          <p:nvPr/>
        </p:nvSpPr>
        <p:spPr>
          <a:xfrm>
            <a:off x="838200" y="1803399"/>
            <a:ext cx="10515600" cy="46646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838200" y="1825625"/>
            <a:ext cx="7313421" cy="2532063"/>
          </a:xfrm>
          <a:prstGeom prst="rect">
            <a:avLst/>
          </a:prstGeom>
        </p:spPr>
      </p:pic>
      <p:pic>
        <p:nvPicPr>
          <p:cNvPr id="8" name="Picture 7"/>
          <p:cNvPicPr>
            <a:picLocks noChangeAspect="1"/>
          </p:cNvPicPr>
          <p:nvPr/>
        </p:nvPicPr>
        <p:blipFill>
          <a:blip r:embed="rId3"/>
          <a:stretch>
            <a:fillRect/>
          </a:stretch>
        </p:blipFill>
        <p:spPr>
          <a:xfrm>
            <a:off x="947737" y="4379914"/>
            <a:ext cx="4710113" cy="2053455"/>
          </a:xfrm>
          <a:prstGeom prst="rect">
            <a:avLst/>
          </a:prstGeom>
        </p:spPr>
      </p:pic>
      <p:sp>
        <p:nvSpPr>
          <p:cNvPr id="11" name="TextBox 10"/>
          <p:cNvSpPr txBox="1"/>
          <p:nvPr/>
        </p:nvSpPr>
        <p:spPr>
          <a:xfrm>
            <a:off x="4531659" y="6463950"/>
            <a:ext cx="2427268" cy="261610"/>
          </a:xfrm>
          <a:prstGeom prst="rect">
            <a:avLst/>
          </a:prstGeom>
          <a:noFill/>
        </p:spPr>
        <p:txBody>
          <a:bodyPr wrap="none" rtlCol="0">
            <a:spAutoFit/>
          </a:bodyPr>
          <a:lstStyle/>
          <a:p>
            <a:r>
              <a:rPr lang="en-IN" sz="1100" dirty="0"/>
              <a:t>Figure 4.16 Program  made on Dev-C++</a:t>
            </a:r>
          </a:p>
        </p:txBody>
      </p:sp>
    </p:spTree>
    <p:extLst>
      <p:ext uri="{BB962C8B-B14F-4D97-AF65-F5344CB8AC3E}">
        <p14:creationId xmlns:p14="http://schemas.microsoft.com/office/powerpoint/2010/main" val="1530281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Assessment Questions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342900" indent="-342900" algn="just">
              <a:buFont typeface="+mj-lt"/>
              <a:buAutoNum type="arabicPeriod"/>
            </a:pPr>
            <a:r>
              <a:rPr lang="en-US" sz="1600" dirty="0">
                <a:latin typeface="Casper" panose="02000506000000020004" pitchFamily="2" charset="0"/>
                <a:cs typeface="Arial" panose="020B0604020202020204" pitchFamily="34" charset="0"/>
              </a:rPr>
              <a:t>(a) Define ambiguity in inheritance.</a:t>
            </a:r>
          </a:p>
          <a:p>
            <a:pPr marL="0" indent="0" algn="just">
              <a:buNone/>
            </a:pPr>
            <a:r>
              <a:rPr lang="en-US" sz="1600" dirty="0">
                <a:latin typeface="Casper" panose="02000506000000020004" pitchFamily="2" charset="0"/>
                <a:cs typeface="Arial" panose="020B0604020202020204" pitchFamily="34" charset="0"/>
              </a:rPr>
              <a:t>         (b) What are modes of inheritance?</a:t>
            </a:r>
          </a:p>
          <a:p>
            <a:pPr marL="0" indent="0" algn="just">
              <a:buNone/>
            </a:pPr>
            <a:r>
              <a:rPr lang="en-US" sz="1600" dirty="0">
                <a:latin typeface="Casper" panose="02000506000000020004" pitchFamily="2" charset="0"/>
                <a:cs typeface="Arial" panose="020B0604020202020204" pitchFamily="34" charset="0"/>
              </a:rPr>
              <a:t>         (c) What is nesting of classes?</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Can we call private constructor? If yes , then how?</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Write a C++ program to differentiate between three modes of inheritance.</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Write a C++ program to demonstrate hierarchical inheritance.</a:t>
            </a:r>
          </a:p>
          <a:p>
            <a:pPr marL="0" indent="0" algn="just">
              <a:buNone/>
            </a:pPr>
            <a:endParaRPr lang="en-IN"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0" indent="0" algn="just">
              <a:buNone/>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APPLICATIONS </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r>
              <a:rPr lang="en-IN" sz="1600" dirty="0">
                <a:latin typeface="Casper" panose="02000506000000020004" pitchFamily="2" charset="0"/>
                <a:cs typeface="Arial" panose="020B0604020202020204" pitchFamily="34" charset="0"/>
              </a:rPr>
              <a:t>You use nested classes to reflect and to enforce the relationship between two classes. You should define a class within another class when the nested class makes sense only in the context of its enclosing class or when it relies on the enclosing class for its function. For example, a text cursor might make sense only in the context of a text component. </a:t>
            </a:r>
          </a:p>
          <a:p>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A21-F7F3-48A3-824B-42EF768F0434}"/>
              </a:ext>
            </a:extLst>
          </p:cNvPr>
          <p:cNvSpPr>
            <a:spLocks noGrp="1"/>
          </p:cNvSpPr>
          <p:nvPr>
            <p:ph type="title"/>
          </p:nvPr>
        </p:nvSpPr>
        <p:spPr>
          <a:ln>
            <a:solidFill>
              <a:schemeClr val="accent1"/>
            </a:solidFill>
          </a:ln>
        </p:spPr>
        <p:txBody>
          <a:bodyPr/>
          <a:lstStyle/>
          <a:p>
            <a:r>
              <a:rPr lang="en-US" dirty="0"/>
              <a:t>Frequently Asked Questions: - </a:t>
            </a:r>
          </a:p>
        </p:txBody>
      </p:sp>
      <p:sp>
        <p:nvSpPr>
          <p:cNvPr id="3" name="Content Placeholder 2">
            <a:extLst>
              <a:ext uri="{FF2B5EF4-FFF2-40B4-BE49-F238E27FC236}">
                <a16:creationId xmlns:a16="http://schemas.microsoft.com/office/drawing/2014/main" id="{869AE2FD-9D53-4E1A-8CE1-8FA26675342A}"/>
              </a:ext>
            </a:extLst>
          </p:cNvPr>
          <p:cNvSpPr>
            <a:spLocks noGrp="1"/>
          </p:cNvSpPr>
          <p:nvPr>
            <p:ph idx="1"/>
          </p:nvPr>
        </p:nvSpPr>
        <p:spPr>
          <a:ln>
            <a:solidFill>
              <a:schemeClr val="accent1"/>
            </a:solidFill>
          </a:ln>
        </p:spPr>
        <p:txBody>
          <a:bodyPr>
            <a:normAutofit fontScale="85000" lnSpcReduction="10000"/>
          </a:bodyPr>
          <a:lstStyle/>
          <a:p>
            <a:pPr marL="514350" indent="-514350">
              <a:buFont typeface="+mj-lt"/>
              <a:buAutoNum type="arabicPeriod"/>
            </a:pPr>
            <a:r>
              <a:rPr lang="en-US" dirty="0"/>
              <a:t>Is inheritance important to C++?</a:t>
            </a:r>
          </a:p>
          <a:p>
            <a:pPr marL="514350" indent="-514350">
              <a:buFont typeface="+mj-lt"/>
              <a:buAutoNum type="arabicPeriod"/>
            </a:pPr>
            <a:r>
              <a:rPr lang="en-US" dirty="0"/>
              <a:t>When would I use inheritance?</a:t>
            </a:r>
          </a:p>
          <a:p>
            <a:pPr marL="514350" indent="-514350">
              <a:buFont typeface="+mj-lt"/>
              <a:buAutoNum type="arabicPeriod"/>
            </a:pPr>
            <a:r>
              <a:rPr lang="en-US" dirty="0"/>
              <a:t>How do you express inheritance in C++?</a:t>
            </a:r>
          </a:p>
          <a:p>
            <a:pPr marL="514350" indent="-514350">
              <a:buFont typeface="+mj-lt"/>
              <a:buAutoNum type="arabicPeriod"/>
            </a:pPr>
            <a:r>
              <a:rPr lang="en-US" dirty="0"/>
              <a:t>Is it okay to convert a pointer from a derived class to its base class?</a:t>
            </a:r>
          </a:p>
          <a:p>
            <a:pPr marL="514350" indent="-514350">
              <a:buFont typeface="+mj-lt"/>
              <a:buAutoNum type="arabicPeriod"/>
            </a:pPr>
            <a:r>
              <a:rPr lang="en-US" dirty="0"/>
              <a:t>What’s the difference between public, private, and protected?</a:t>
            </a:r>
          </a:p>
          <a:p>
            <a:pPr marL="514350" indent="-514350">
              <a:buFont typeface="+mj-lt"/>
              <a:buAutoNum type="arabicPeriod"/>
            </a:pPr>
            <a:r>
              <a:rPr lang="en-US" dirty="0"/>
              <a:t>Why can’t my derived class access private things from my base class?</a:t>
            </a:r>
          </a:p>
          <a:p>
            <a:pPr marL="514350" indent="-514350">
              <a:buFont typeface="+mj-lt"/>
              <a:buAutoNum type="arabicPeriod"/>
            </a:pPr>
            <a:r>
              <a:rPr lang="en-US" dirty="0"/>
              <a:t>How can I protect derived classes from breaking when I change the internal parts of the base class?</a:t>
            </a:r>
          </a:p>
          <a:p>
            <a:pPr marL="514350" indent="-514350">
              <a:buFont typeface="+mj-lt"/>
              <a:buAutoNum type="arabicPeriod"/>
            </a:pPr>
            <a:r>
              <a:rPr lang="en-US" dirty="0"/>
              <a:t>I’ve been told to never use protected data, and instead to always use private data with protected access functions. Is that a good rule?</a:t>
            </a:r>
          </a:p>
          <a:p>
            <a:pPr marL="514350" indent="-514350">
              <a:buFont typeface="+mj-lt"/>
              <a:buAutoNum type="arabicPeriod"/>
            </a:pPr>
            <a:r>
              <a:rPr lang="en-US" dirty="0"/>
              <a:t>Okay, so exactly how should I decide whether to build a “protected interface”?</a:t>
            </a:r>
          </a:p>
        </p:txBody>
      </p:sp>
      <p:sp>
        <p:nvSpPr>
          <p:cNvPr id="4" name="Slide Number Placeholder 3">
            <a:extLst>
              <a:ext uri="{FF2B5EF4-FFF2-40B4-BE49-F238E27FC236}">
                <a16:creationId xmlns:a16="http://schemas.microsoft.com/office/drawing/2014/main" id="{D6097133-7941-412E-85A8-22955A51C427}"/>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1229865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AB99-58B7-4ED5-A576-595968F57CE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D480901-5129-49E2-9FA0-9F29B043550D}"/>
              </a:ext>
            </a:extLst>
          </p:cNvPr>
          <p:cNvSpPr>
            <a:spLocks noGrp="1"/>
          </p:cNvSpPr>
          <p:nvPr>
            <p:ph idx="1"/>
          </p:nvPr>
        </p:nvSpPr>
        <p:spPr/>
        <p:txBody>
          <a:bodyPr>
            <a:normAutofit/>
          </a:bodyPr>
          <a:lstStyle/>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Inheritance is the mechanism of deriving new class from an existing class. The old class and new class is known as in pair : super-sub, base-derived, parent-child.</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Inheritance provides the idea of reusability. Code once written can be used again and again in several different classes.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 provides support for: single level and multilevel inheritance, multiple inheritance, hierarchical inheritance, hybrid inheritance.</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Private members are never inherited.</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Virtual base class is used to avoid duplicity of data members into the target derived class.</a:t>
            </a:r>
          </a:p>
          <a:p>
            <a:pPr marL="342900" marR="0" indent="-342900" algn="just">
              <a:lnSpc>
                <a:spcPct val="115000"/>
              </a:lnSpc>
              <a:spcBef>
                <a:spcPts val="0"/>
              </a:spcBef>
              <a:spcAft>
                <a:spcPts val="1000"/>
              </a:spcAft>
              <a:buAutoNum type="arabicPeriod"/>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B8C64B-B8FB-4CEB-991F-08839DC84638}"/>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3350422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F59F-D42D-46C2-BD89-EE5B85D28724}"/>
              </a:ext>
            </a:extLst>
          </p:cNvPr>
          <p:cNvSpPr>
            <a:spLocks noGrp="1"/>
          </p:cNvSpPr>
          <p:nvPr>
            <p:ph type="title"/>
          </p:nvPr>
        </p:nvSpPr>
        <p:spPr/>
        <p:txBody>
          <a:bodyPr/>
          <a:lstStyle/>
          <a:p>
            <a:r>
              <a:rPr lang="en-US" dirty="0"/>
              <a:t>SUMMARY (Continued)</a:t>
            </a:r>
          </a:p>
        </p:txBody>
      </p:sp>
      <p:sp>
        <p:nvSpPr>
          <p:cNvPr id="3" name="Content Placeholder 2">
            <a:extLst>
              <a:ext uri="{FF2B5EF4-FFF2-40B4-BE49-F238E27FC236}">
                <a16:creationId xmlns:a16="http://schemas.microsoft.com/office/drawing/2014/main" id="{CC12EB31-C008-4CC8-917C-C3288966A526}"/>
              </a:ext>
            </a:extLst>
          </p:cNvPr>
          <p:cNvSpPr>
            <a:spLocks noGrp="1"/>
          </p:cNvSpPr>
          <p:nvPr>
            <p:ph idx="1"/>
          </p:nvPr>
        </p:nvSpPr>
        <p:spPr/>
        <p:txBody>
          <a:bodyPr/>
          <a:lstStyle/>
          <a:p>
            <a:r>
              <a:rPr lang="en-US" dirty="0"/>
              <a:t>In an inheritance hierarchy constructor of base class is called first, then constructor of derived class is called.</a:t>
            </a:r>
          </a:p>
          <a:p>
            <a:endParaRPr lang="en-US" dirty="0"/>
          </a:p>
          <a:p>
            <a:r>
              <a:rPr lang="en-US" dirty="0"/>
              <a:t>In an inheritance hierarchy destructor class is called first, then destructor of base class is called.</a:t>
            </a:r>
          </a:p>
          <a:p>
            <a:endParaRPr lang="en-US" dirty="0"/>
          </a:p>
          <a:p>
            <a:r>
              <a:rPr lang="en-US" dirty="0"/>
              <a:t>Containership allows us to use object of one class as a member of other class. This type of containership provides the idea of has a relationship or nesting of classes.</a:t>
            </a:r>
          </a:p>
          <a:p>
            <a:endParaRPr lang="en-US" dirty="0"/>
          </a:p>
        </p:txBody>
      </p:sp>
      <p:sp>
        <p:nvSpPr>
          <p:cNvPr id="4" name="Slide Number Placeholder 3">
            <a:extLst>
              <a:ext uri="{FF2B5EF4-FFF2-40B4-BE49-F238E27FC236}">
                <a16:creationId xmlns:a16="http://schemas.microsoft.com/office/drawing/2014/main" id="{6548004D-40F8-4230-9E10-1E3E54FE1C4B}"/>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059406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Arial" panose="020B0604020202020204" pitchFamily="34" charset="0"/>
              </a:rPr>
              <a:t>REFERENCES</a:t>
            </a:r>
            <a:endParaRPr lang="en-US" u="sng" dirty="0">
              <a:latin typeface="+mn-lt"/>
            </a:endParaRPr>
          </a:p>
        </p:txBody>
      </p:sp>
      <p:sp>
        <p:nvSpPr>
          <p:cNvPr id="3" name="Content Placeholder 2"/>
          <p:cNvSpPr>
            <a:spLocks noGrp="1"/>
          </p:cNvSpPr>
          <p:nvPr>
            <p:ph idx="1"/>
          </p:nvPr>
        </p:nvSpPr>
        <p:spPr>
          <a:xfrm>
            <a:off x="838200" y="1825625"/>
            <a:ext cx="10515600" cy="4672014"/>
          </a:xfrm>
        </p:spPr>
        <p:txBody>
          <a:bodyPr>
            <a:normAutofit fontScale="92500" lnSpcReduction="10000"/>
          </a:bodyPr>
          <a:lstStyle/>
          <a:p>
            <a:pPr marL="0" indent="0">
              <a:buNone/>
            </a:pPr>
            <a:r>
              <a:rPr lang="en-US" sz="1600" b="1" dirty="0"/>
              <a:t>Reference Website</a:t>
            </a:r>
          </a:p>
          <a:p>
            <a:pPr marL="0" indent="0">
              <a:buNone/>
            </a:pPr>
            <a:r>
              <a:rPr lang="en-US" sz="1600" dirty="0"/>
              <a:t>[1] </a:t>
            </a:r>
            <a:r>
              <a:rPr lang="en-US" sz="1600" dirty="0">
                <a:hlinkClick r:id="rId2"/>
              </a:rPr>
              <a:t>https://www.geeksforgeeks.org/inheritance-in-c/</a:t>
            </a:r>
            <a:endParaRPr lang="en-US" sz="1600" dirty="0"/>
          </a:p>
          <a:p>
            <a:pPr marL="0" indent="0">
              <a:buNone/>
            </a:pPr>
            <a:r>
              <a:rPr lang="en-US" sz="1600" dirty="0"/>
              <a:t>[2] </a:t>
            </a:r>
            <a:r>
              <a:rPr lang="en-US" sz="1600" dirty="0">
                <a:hlinkClick r:id="rId3"/>
              </a:rPr>
              <a:t>https://www.geeksforgeeks.org/object-oriented-programming-in-cpp/</a:t>
            </a:r>
            <a:endParaRPr lang="en-US" sz="1600" dirty="0"/>
          </a:p>
          <a:p>
            <a:pPr marL="0" indent="0">
              <a:buNone/>
            </a:pPr>
            <a:r>
              <a:rPr lang="en-US" sz="1600" dirty="0"/>
              <a:t>[3] </a:t>
            </a:r>
            <a:r>
              <a:rPr lang="en-US" sz="1600" dirty="0">
                <a:hlinkClick r:id="rId4"/>
              </a:rPr>
              <a:t>https://www.geeksforgeeks.org/copy-constructor-argument-const/</a:t>
            </a:r>
            <a:endParaRPr lang="en-US" sz="1600" dirty="0"/>
          </a:p>
          <a:p>
            <a:pPr marL="0" indent="0">
              <a:buNone/>
            </a:pPr>
            <a:r>
              <a:rPr lang="en-US" sz="1600" dirty="0"/>
              <a:t>[4] </a:t>
            </a:r>
            <a:r>
              <a:rPr lang="en-US" sz="1600" dirty="0">
                <a:hlinkClick r:id="rId5"/>
              </a:rPr>
              <a:t>https://en.cppreference.com/w/cpp/language/nested_types</a:t>
            </a:r>
            <a:endParaRPr lang="en-US" sz="1600" dirty="0"/>
          </a:p>
          <a:p>
            <a:pPr marL="0" indent="0">
              <a:buNone/>
            </a:pPr>
            <a:endParaRPr lang="en-US" sz="1600" b="1" dirty="0"/>
          </a:p>
          <a:p>
            <a:pPr marL="0" indent="0">
              <a:buNone/>
            </a:pPr>
            <a:r>
              <a:rPr lang="en-US" sz="1600" b="1" dirty="0"/>
              <a:t>References on YouTubes</a:t>
            </a:r>
          </a:p>
          <a:p>
            <a:pPr marL="0" indent="0">
              <a:buNone/>
            </a:pPr>
            <a:r>
              <a:rPr lang="en-US" sz="1600" dirty="0"/>
              <a:t>[1] </a:t>
            </a:r>
            <a:r>
              <a:rPr lang="en-US" sz="1600" dirty="0">
                <a:hlinkClick r:id="rId6"/>
              </a:rPr>
              <a:t>https://www.youtube.com/watch?v=rr7HVs4d1Qo</a:t>
            </a:r>
            <a:endParaRPr lang="en-US" sz="1600" dirty="0"/>
          </a:p>
          <a:p>
            <a:pPr marL="0" indent="0">
              <a:buNone/>
            </a:pPr>
            <a:r>
              <a:rPr lang="en-US" sz="1600" dirty="0"/>
              <a:t>[2] </a:t>
            </a:r>
            <a:r>
              <a:rPr lang="en-US" sz="1600" dirty="0">
                <a:hlinkClick r:id="rId7"/>
              </a:rPr>
              <a:t>https://www.youtube.com/watch?v=5pJyKzON8Ww</a:t>
            </a:r>
            <a:endParaRPr lang="en-US" sz="1600" dirty="0"/>
          </a:p>
          <a:p>
            <a:pPr marL="0" indent="0">
              <a:buNone/>
            </a:pPr>
            <a:r>
              <a:rPr lang="en-US" sz="1600" dirty="0"/>
              <a:t>[3] </a:t>
            </a:r>
            <a:r>
              <a:rPr lang="en-US" sz="1600" dirty="0">
                <a:hlinkClick r:id="rId8"/>
              </a:rPr>
              <a:t>https://www.youtube.com/watch?v=RO1ZYW9NAzg</a:t>
            </a:r>
            <a:endParaRPr lang="en-US" sz="1600" dirty="0"/>
          </a:p>
          <a:p>
            <a:pPr marL="0" indent="0">
              <a:buNone/>
            </a:pPr>
            <a:endParaRPr lang="en-US" sz="1600" b="1" dirty="0"/>
          </a:p>
          <a:p>
            <a:pPr marL="0" indent="0">
              <a:buNone/>
            </a:pPr>
            <a:r>
              <a:rPr lang="en-US" sz="1600" b="1" dirty="0"/>
              <a:t>References books</a:t>
            </a:r>
          </a:p>
          <a:p>
            <a:pPr marL="0" indent="0">
              <a:buNone/>
            </a:pPr>
            <a:r>
              <a:rPr lang="en-US" sz="1600" dirty="0"/>
              <a:t>[1] Object-Oriented Programming in C++, by </a:t>
            </a:r>
            <a:r>
              <a:rPr lang="en-US" sz="1600" b="1" dirty="0"/>
              <a:t>Robert </a:t>
            </a:r>
            <a:r>
              <a:rPr lang="en-US" sz="1600" b="1" dirty="0" err="1"/>
              <a:t>Lafore</a:t>
            </a:r>
            <a:r>
              <a:rPr lang="en-US" sz="1600" b="1" dirty="0"/>
              <a:t> </a:t>
            </a:r>
          </a:p>
          <a:p>
            <a:pPr marL="0" indent="0">
              <a:buNone/>
            </a:pPr>
            <a:r>
              <a:rPr lang="en-US" sz="1600" dirty="0"/>
              <a:t>[2] Object-Oriented Programming Using C++, by </a:t>
            </a:r>
            <a:r>
              <a:rPr lang="en-US" sz="1600" b="1" dirty="0"/>
              <a:t>Joyce Farrell</a:t>
            </a:r>
          </a:p>
          <a:p>
            <a:pPr marL="0" indent="0">
              <a:buNone/>
            </a:pPr>
            <a:r>
              <a:rPr lang="en-US" sz="1600" dirty="0"/>
              <a:t>[3] Object-Oriented Programming Using C++, by </a:t>
            </a:r>
            <a:r>
              <a:rPr lang="en-US" sz="1600" b="1" dirty="0"/>
              <a:t>Pohl </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p:cNvSpPr/>
          <p:nvPr/>
        </p:nvSpPr>
        <p:spPr>
          <a:xfrm>
            <a:off x="838200" y="1803400"/>
            <a:ext cx="10515600" cy="46942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8470" y="2257472"/>
            <a:ext cx="380533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91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3" imgW="2169000" imgH="2169360" progId="">
                    <p:embed/>
                  </p:oleObj>
                </mc:Choice>
                <mc:Fallback>
                  <p:oleObj name="CorelDRAW" r:id="rId3" imgW="2169000" imgH="2169360" progId="">
                    <p:embed/>
                    <p:pic>
                      <p:nvPicPr>
                        <p:cNvPr id="0" name="Picture 2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1486</TotalTime>
  <Words>1091</Words>
  <Application>Microsoft Office PowerPoint</Application>
  <PresentationFormat>Widescreen</PresentationFormat>
  <Paragraphs>349</Paragraphs>
  <Slides>23</Slides>
  <Notes>8</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8" baseType="lpstr">
      <vt:lpstr>Arial</vt:lpstr>
      <vt:lpstr>Arial Black</vt:lpstr>
      <vt:lpstr>Arial Unicode MS</vt:lpstr>
      <vt:lpstr>Calibri</vt:lpstr>
      <vt:lpstr>Calibri Light</vt:lpstr>
      <vt:lpstr>Cambria</vt:lpstr>
      <vt:lpstr>Casper</vt:lpstr>
      <vt:lpstr>Casper Bold</vt:lpstr>
      <vt:lpstr>Karla</vt:lpstr>
      <vt:lpstr>Raleway ExtraBold</vt:lpstr>
      <vt:lpstr>Segoe UI</vt:lpstr>
      <vt:lpstr>Times New Roman</vt:lpstr>
      <vt:lpstr>1_Office Theme</vt:lpstr>
      <vt:lpstr>Contents Slide Master</vt:lpstr>
      <vt:lpstr>CorelDRAW</vt:lpstr>
      <vt:lpstr>PowerPoint Presentation</vt:lpstr>
      <vt:lpstr>Basic Data Structure Using C++</vt:lpstr>
      <vt:lpstr>PowerPoint Presentation</vt:lpstr>
      <vt:lpstr> Scheme of Evaluation  </vt:lpstr>
      <vt:lpstr>CONTENTS </vt:lpstr>
      <vt:lpstr>TYPES OF INHERITANCE</vt:lpstr>
      <vt:lpstr>TYPES OF INHERITANCE</vt:lpstr>
      <vt:lpstr> SINGLE INHERITANCE</vt:lpstr>
      <vt:lpstr> MULTIPLE INHERITANCE</vt:lpstr>
      <vt:lpstr> MULTIPLE INHERITANCE</vt:lpstr>
      <vt:lpstr>MULTILEVEL INHERITANCE</vt:lpstr>
      <vt:lpstr>MULTILEVEL INHERITANCE</vt:lpstr>
      <vt:lpstr>MULTILEVEL INHERITANCE</vt:lpstr>
      <vt:lpstr>HYBRID INHERITANCE</vt:lpstr>
      <vt:lpstr>HYBRID INHERITANCE</vt:lpstr>
      <vt:lpstr>HYBRID INHERITANCE</vt:lpstr>
      <vt:lpstr>Assessment Questions   </vt:lpstr>
      <vt:lpstr>APPLICATIONS    </vt:lpstr>
      <vt:lpstr>Frequently Asked Questions: - </vt:lpstr>
      <vt:lpstr>SUMMARY</vt:lpstr>
      <vt:lpstr>SUMMARY (Continued)</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nishu</cp:lastModifiedBy>
  <cp:revision>281</cp:revision>
  <dcterms:created xsi:type="dcterms:W3CDTF">2019-01-09T10:33:58Z</dcterms:created>
  <dcterms:modified xsi:type="dcterms:W3CDTF">2023-12-04T10:52:30Z</dcterms:modified>
</cp:coreProperties>
</file>