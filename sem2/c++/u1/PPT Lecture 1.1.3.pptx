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1"/>
  </p:notesMasterIdLst>
  <p:handoutMasterIdLst>
    <p:handoutMasterId r:id="rId22"/>
  </p:handoutMasterIdLst>
  <p:sldIdLst>
    <p:sldId id="354" r:id="rId3"/>
    <p:sldId id="376" r:id="rId4"/>
    <p:sldId id="377" r:id="rId5"/>
    <p:sldId id="375" r:id="rId6"/>
    <p:sldId id="281" r:id="rId7"/>
    <p:sldId id="328" r:id="rId8"/>
    <p:sldId id="370" r:id="rId9"/>
    <p:sldId id="371" r:id="rId10"/>
    <p:sldId id="373" r:id="rId11"/>
    <p:sldId id="372" r:id="rId12"/>
    <p:sldId id="350" r:id="rId13"/>
    <p:sldId id="351" r:id="rId14"/>
    <p:sldId id="359" r:id="rId15"/>
    <p:sldId id="329" r:id="rId16"/>
    <p:sldId id="330" r:id="rId17"/>
    <p:sldId id="352" r:id="rId18"/>
    <p:sldId id="364" r:id="rId19"/>
    <p:sldId id="353" r:id="rId20"/>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434" autoAdjust="0"/>
  </p:normalViewPr>
  <p:slideViewPr>
    <p:cSldViewPr snapToGrid="0">
      <p:cViewPr varScale="1">
        <p:scale>
          <a:sx n="73" d="100"/>
          <a:sy n="73" d="100"/>
        </p:scale>
        <p:origin x="54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Namespaces in C++</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1" custLinFactNeighborX="-5593" custLinFactNeighborY="843">
        <dgm:presLayoutVars>
          <dgm:bulletEnabled val="1"/>
        </dgm:presLayoutVars>
      </dgm:prSet>
      <dgm:spPr/>
      <dgm:t>
        <a:bodyPr/>
        <a:lstStyle/>
        <a:p>
          <a:endParaRPr lang="en-US"/>
        </a:p>
      </dgm:t>
    </dgm:pt>
  </dgm:ptLst>
  <dgm:cxnLst>
    <dgm:cxn modelId="{D00252CB-9D61-4788-A959-DB99FAB8CBDB}" type="presOf" srcId="{A30D818A-DE61-492C-9F49-4330F19690E3}" destId="{097EF926-1259-452F-A448-711C22076917}" srcOrd="0" destOrd="0" presId="urn:microsoft.com/office/officeart/2005/8/layout/default"/>
    <dgm:cxn modelId="{AAE49CDE-EE1C-4041-8DCB-69A3B80087AD}" srcId="{A30D818A-DE61-492C-9F49-4330F19690E3}" destId="{72067E99-1C3B-406E-B0E9-FC347F914FA8}" srcOrd="0" destOrd="0" parTransId="{E295694A-E3FF-4E4D-B786-E47583760C4E}" sibTransId="{E2FCE763-C2C6-41BB-BE42-2FC9B40C0439}"/>
    <dgm:cxn modelId="{ECCE3782-0BA7-4D11-9D3C-49385FC334F5}" type="presOf" srcId="{72067E99-1C3B-406E-B0E9-FC347F914FA8}" destId="{2F0A59F6-A053-4340-A4F0-E60DDF039046}"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0" y="80276"/>
          <a:ext cx="8897317" cy="533839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Namespaces in C++</a:t>
          </a:r>
          <a:endParaRPr lang="en-IN" sz="2400" b="1" kern="1200" dirty="0">
            <a:solidFill>
              <a:schemeClr val="bg2">
                <a:lumMod val="10000"/>
              </a:schemeClr>
            </a:solidFill>
          </a:endParaRPr>
        </a:p>
      </dsp:txBody>
      <dsp:txXfrm>
        <a:off x="0" y="80276"/>
        <a:ext cx="8897317" cy="533839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414866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928921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047643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705614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3856293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703476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1775203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4092161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932473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3725283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en.cppreference.com/w/cpp/language/namespac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hyperlink" Target="https://www.sanfoundry.com/cplusplus-programming-questions-answers-namespaces-2/" TargetMode="External"/><Relationship Id="rId4" Type="http://schemas.openxmlformats.org/officeDocument/2006/relationships/hyperlink" Target="https://www.tutorialspoint.com/cplusplus/cpp_namespaces.htm"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8"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Topic: Introduction to namespace</a:t>
            </a:r>
          </a:p>
          <a:p>
            <a:pPr eaLnBrk="1" hangingPunct="1"/>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586841"/>
            <a:ext cx="9884238" cy="3865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a:latin typeface="Times New Roman" panose="02020603050405020304" pitchFamily="18" charset="0"/>
                <a:ea typeface="Calibri" panose="020F0502020204030204" pitchFamily="34" charset="0"/>
                <a:cs typeface="Times New Roman" panose="02020603050405020304" pitchFamily="18" charset="0"/>
              </a:rPr>
              <a:t>Basic Data Structure Using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a:t>
            </a:r>
            <a:r>
              <a:rPr lang="en-US" sz="2800" dirty="0">
                <a:latin typeface="Times New Roman" panose="02020603050405020304" pitchFamily="18" charset="0"/>
                <a:ea typeface="Calibri" panose="020F0502020204030204" pitchFamily="34" charset="0"/>
                <a:cs typeface="Times New Roman" panose="02020603050405020304" pitchFamily="18" charset="0"/>
              </a:rPr>
              <a:t>++</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Basic Data Structure Using C++</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nvPr>
        </p:nvGraphicFramePr>
        <p:xfrm>
          <a:off x="119133" y="4308909"/>
          <a:ext cx="7752657" cy="140208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kern="1200" dirty="0" smtClean="0">
                          <a:solidFill>
                            <a:srgbClr val="FF0000"/>
                          </a:solidFill>
                          <a:effectLst/>
                          <a:latin typeface="+mn-lt"/>
                          <a:ea typeface="+mn-ea"/>
                          <a:cs typeface="+mn-cs"/>
                        </a:rPr>
                        <a:t>To enable the students to understand various stages and constructs of C++ programming language.</a:t>
                      </a: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r>
                        <a:rPr lang="en-US" sz="2000" b="1" i="0" kern="1200" dirty="0" smtClean="0">
                          <a:solidFill>
                            <a:srgbClr val="FF0000"/>
                          </a:solidFill>
                          <a:effectLst/>
                          <a:latin typeface="+mn-lt"/>
                          <a:ea typeface="+mn-ea"/>
                          <a:cs typeface="+mn-cs"/>
                        </a:rPr>
                        <a:t>To improve their ability to analyze and address variety of problems in C++.</a:t>
                      </a: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2114296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85316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29032084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13652" y="2932509"/>
            <a:ext cx="3932237" cy="2045494"/>
          </a:xfrm>
        </p:spPr>
        <p:txBody>
          <a:bodyPr/>
          <a:lstStyle/>
          <a:p>
            <a:pPr marL="285750" indent="-285750">
              <a:buFont typeface="Arial" panose="020B0604020202020204" pitchFamily="34" charset="0"/>
              <a:buChar char="•"/>
            </a:pPr>
            <a:r>
              <a:rPr lang="en-US" b="1" dirty="0">
                <a:latin typeface="Casper"/>
              </a:rPr>
              <a:t>Introduction to namespace</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3351488" y="153548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9" name="Rectangle 8"/>
          <p:cNvSpPr/>
          <p:nvPr/>
        </p:nvSpPr>
        <p:spPr>
          <a:xfrm>
            <a:off x="3418390" y="2694781"/>
            <a:ext cx="4322762" cy="18772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p:txBody>
          <a:bodyPr/>
          <a:lstStyle/>
          <a:p>
            <a:r>
              <a:rPr lang="en-US" dirty="0"/>
              <a:t>Namespace</a:t>
            </a:r>
            <a:endParaRPr lang="en-IN" dirty="0"/>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838200" y="1419225"/>
            <a:ext cx="10515600" cy="4937125"/>
          </a:xfrm>
        </p:spPr>
        <p:txBody>
          <a:bodyPr>
            <a:normAutofit/>
          </a:bodyPr>
          <a:lstStyle/>
          <a:p>
            <a:pPr algn="l"/>
            <a:r>
              <a:rPr lang="en-IN" b="0" i="0" dirty="0">
                <a:solidFill>
                  <a:srgbClr val="000000"/>
                </a:solidFill>
                <a:effectLst/>
                <a:latin typeface="DejaVuSans"/>
              </a:rPr>
              <a:t>Namespaces provide a method for preventing name conflicts in large projects.</a:t>
            </a:r>
          </a:p>
          <a:p>
            <a:pPr algn="l"/>
            <a:r>
              <a:rPr lang="en-IN" b="0" i="0" dirty="0">
                <a:solidFill>
                  <a:srgbClr val="000000"/>
                </a:solidFill>
                <a:effectLst/>
                <a:latin typeface="DejaVuSans"/>
              </a:rPr>
              <a:t>Symbols declared inside a namespace block are placed in a named scope that prevents them from being mistaken for identically-named symbols in other scopes.</a:t>
            </a:r>
          </a:p>
          <a:p>
            <a:pPr algn="l"/>
            <a:r>
              <a:rPr lang="en-IN" b="0" i="0" dirty="0">
                <a:solidFill>
                  <a:srgbClr val="000000"/>
                </a:solidFill>
                <a:effectLst/>
                <a:latin typeface="DejaVuSans"/>
              </a:rPr>
              <a:t>Multiple namespace blocks with the same name are allowed. All declarations within those blocks are declared in the named scope.</a:t>
            </a:r>
          </a:p>
          <a:p>
            <a:endParaRPr lang="en-IN" dirty="0"/>
          </a:p>
          <a:p>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endParaRPr lang="en-IN" dirty="0"/>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p:txBody>
          <a:bodyPr/>
          <a:lstStyle/>
          <a:p>
            <a:r>
              <a:rPr lang="en-IN" dirty="0"/>
              <a:t>Defining a Namespace</a:t>
            </a:r>
            <a:r>
              <a:rPr lang="en-IN" b="0" i="0" dirty="0">
                <a:effectLst/>
                <a:latin typeface="Arial" panose="020B0604020202020204" pitchFamily="34" charset="0"/>
              </a:rPr>
              <a:t/>
            </a:r>
            <a:br>
              <a:rPr lang="en-IN" b="0" i="0" dirty="0">
                <a:effectLst/>
                <a:latin typeface="Arial" panose="020B0604020202020204" pitchFamily="34" charset="0"/>
              </a:rPr>
            </a:br>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endParaRPr lang="en-IN" dirty="0"/>
          </a:p>
        </p:txBody>
      </p:sp>
      <p:sp>
        <p:nvSpPr>
          <p:cNvPr id="5" name="Rectangle 1">
            <a:extLst>
              <a:ext uri="{FF2B5EF4-FFF2-40B4-BE49-F238E27FC236}">
                <a16:creationId xmlns:a16="http://schemas.microsoft.com/office/drawing/2014/main" id="{49D79A45-2C48-4AAD-B5F6-DE02F769B33E}"/>
              </a:ext>
            </a:extLst>
          </p:cNvPr>
          <p:cNvSpPr>
            <a:spLocks noChangeArrowheads="1"/>
          </p:cNvSpPr>
          <p:nvPr/>
        </p:nvSpPr>
        <p:spPr bwMode="auto">
          <a:xfrm>
            <a:off x="0" y="43934"/>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EF7EDF81-2000-4DA2-887F-DB1E3C518B5A}"/>
              </a:ext>
            </a:extLst>
          </p:cNvPr>
          <p:cNvSpPr>
            <a:spLocks noGrp="1"/>
          </p:cNvSpPr>
          <p:nvPr>
            <p:ph idx="1"/>
          </p:nvPr>
        </p:nvSpPr>
        <p:spPr/>
        <p:txBody>
          <a:bodyPr/>
          <a:lstStyle/>
          <a:p>
            <a:pPr eaLnBrk="0" fontAlgn="base" hangingPunct="0">
              <a:lnSpc>
                <a:spcPct val="100000"/>
              </a:lnSpc>
              <a:spcBef>
                <a:spcPct val="0"/>
              </a:spcBef>
              <a:spcAft>
                <a:spcPct val="0"/>
              </a:spcAft>
            </a:pPr>
            <a:r>
              <a:rPr kumimoji="0" lang="en-US" altLang="en-US" sz="2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 namespace definition begins with the keyword </a:t>
            </a:r>
            <a:r>
              <a:rPr kumimoji="0" lang="en-US" altLang="en-US" sz="2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namespace</a:t>
            </a:r>
            <a:r>
              <a:rPr kumimoji="0" lang="en-US" altLang="en-US" sz="2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followed by the namespace name as follows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namespace </a:t>
            </a:r>
            <a:r>
              <a:rPr kumimoji="0" lang="en-US" altLang="en-US" sz="24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namespace_name</a:t>
            </a:r>
            <a:r>
              <a:rPr kumimoji="0" lang="en-US" altLang="en-US"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 code declarations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To call the namespace-enabled version of either function or variable, prepend (::) the namespace name as follows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name::code; // code could be variable or function.</a:t>
            </a:r>
            <a:r>
              <a:rPr kumimoji="0" lang="en-US" altLang="en-US" sz="1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2900662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A1EF4D-5E1F-4249-8F5E-EDDCB52C8A86}"/>
              </a:ext>
            </a:extLst>
          </p:cNvPr>
          <p:cNvSpPr>
            <a:spLocks noGrp="1"/>
          </p:cNvSpPr>
          <p:nvPr>
            <p:ph idx="1"/>
          </p:nvPr>
        </p:nvSpPr>
        <p:spPr>
          <a:xfrm>
            <a:off x="838200" y="101713"/>
            <a:ext cx="10515600" cy="5866245"/>
          </a:xfrm>
        </p:spPr>
        <p:txBody>
          <a:bodyPr>
            <a:noAutofit/>
          </a:bodyPr>
          <a:lstStyle/>
          <a:p>
            <a:pPr marL="0" indent="0">
              <a:buNone/>
            </a:pPr>
            <a:r>
              <a:rPr lang="en-IN" sz="3200" b="1" dirty="0"/>
              <a:t>Example:</a:t>
            </a:r>
            <a:endParaRPr lang="en-IN" sz="1200" b="1" dirty="0"/>
          </a:p>
          <a:p>
            <a:pPr marL="0" indent="0">
              <a:buNone/>
            </a:pPr>
            <a:r>
              <a:rPr lang="en-IN" sz="1200" dirty="0"/>
              <a:t>#include &lt;iostream&gt;</a:t>
            </a:r>
          </a:p>
          <a:p>
            <a:pPr marL="0" indent="0">
              <a:buNone/>
            </a:pPr>
            <a:r>
              <a:rPr lang="en-IN" sz="1200" dirty="0"/>
              <a:t>using namespace std;</a:t>
            </a:r>
          </a:p>
          <a:p>
            <a:pPr marL="0" indent="0">
              <a:buNone/>
            </a:pPr>
            <a:r>
              <a:rPr lang="en-IN" sz="1200" dirty="0"/>
              <a:t>// first name space</a:t>
            </a:r>
          </a:p>
          <a:p>
            <a:pPr marL="0" indent="0">
              <a:buNone/>
            </a:pPr>
            <a:r>
              <a:rPr lang="en-IN" sz="1200" dirty="0"/>
              <a:t>namespace </a:t>
            </a:r>
            <a:r>
              <a:rPr lang="en-IN" sz="1200" dirty="0" err="1"/>
              <a:t>first_space</a:t>
            </a:r>
            <a:r>
              <a:rPr lang="en-IN" sz="1200" dirty="0"/>
              <a:t> {</a:t>
            </a:r>
          </a:p>
          <a:p>
            <a:pPr marL="0" indent="0">
              <a:buNone/>
            </a:pPr>
            <a:r>
              <a:rPr lang="en-IN" sz="1200" dirty="0"/>
              <a:t>   void </a:t>
            </a:r>
            <a:r>
              <a:rPr lang="en-IN" sz="1200" dirty="0" err="1"/>
              <a:t>func</a:t>
            </a:r>
            <a:r>
              <a:rPr lang="en-IN" sz="1200" dirty="0"/>
              <a:t>() {</a:t>
            </a:r>
          </a:p>
          <a:p>
            <a:pPr marL="0" indent="0">
              <a:buNone/>
            </a:pPr>
            <a:r>
              <a:rPr lang="en-IN" sz="1200" dirty="0"/>
              <a:t>      </a:t>
            </a:r>
            <a:r>
              <a:rPr lang="en-IN" sz="1200" dirty="0" err="1"/>
              <a:t>cout</a:t>
            </a:r>
            <a:r>
              <a:rPr lang="en-IN" sz="1200" dirty="0"/>
              <a:t> &lt;&lt; "Inside </a:t>
            </a:r>
            <a:r>
              <a:rPr lang="en-IN" sz="1200" dirty="0" err="1"/>
              <a:t>first_space</a:t>
            </a:r>
            <a:r>
              <a:rPr lang="en-IN" sz="1200" dirty="0"/>
              <a:t>" &lt;&lt; </a:t>
            </a:r>
            <a:r>
              <a:rPr lang="en-IN" sz="1200" dirty="0" err="1"/>
              <a:t>endl</a:t>
            </a:r>
            <a:r>
              <a:rPr lang="en-IN" sz="1200" dirty="0"/>
              <a:t>;</a:t>
            </a:r>
          </a:p>
          <a:p>
            <a:pPr marL="0" indent="0">
              <a:buNone/>
            </a:pPr>
            <a:r>
              <a:rPr lang="en-IN" sz="1200" dirty="0"/>
              <a:t>   }</a:t>
            </a:r>
          </a:p>
          <a:p>
            <a:pPr marL="0" indent="0">
              <a:buNone/>
            </a:pPr>
            <a:r>
              <a:rPr lang="en-IN" sz="1200" dirty="0"/>
              <a:t>}</a:t>
            </a:r>
          </a:p>
          <a:p>
            <a:pPr marL="0" indent="0">
              <a:buNone/>
            </a:pPr>
            <a:r>
              <a:rPr lang="en-IN" sz="1200" dirty="0"/>
              <a:t>// second name space</a:t>
            </a:r>
          </a:p>
          <a:p>
            <a:pPr marL="0" indent="0">
              <a:buNone/>
            </a:pPr>
            <a:r>
              <a:rPr lang="en-IN" sz="1200" dirty="0"/>
              <a:t>namespace </a:t>
            </a:r>
            <a:r>
              <a:rPr lang="en-IN" sz="1200" dirty="0" err="1"/>
              <a:t>second_space</a:t>
            </a:r>
            <a:r>
              <a:rPr lang="en-IN" sz="1200" dirty="0"/>
              <a:t> {</a:t>
            </a:r>
          </a:p>
          <a:p>
            <a:pPr marL="0" indent="0">
              <a:buNone/>
            </a:pPr>
            <a:r>
              <a:rPr lang="en-IN" sz="1200" dirty="0"/>
              <a:t>   void </a:t>
            </a:r>
            <a:r>
              <a:rPr lang="en-IN" sz="1200" dirty="0" err="1"/>
              <a:t>func</a:t>
            </a:r>
            <a:r>
              <a:rPr lang="en-IN" sz="1200" dirty="0"/>
              <a:t>() {</a:t>
            </a:r>
          </a:p>
          <a:p>
            <a:pPr marL="0" indent="0">
              <a:buNone/>
            </a:pPr>
            <a:r>
              <a:rPr lang="en-IN" sz="1200" dirty="0"/>
              <a:t>      </a:t>
            </a:r>
            <a:r>
              <a:rPr lang="en-IN" sz="1200" dirty="0" err="1"/>
              <a:t>cout</a:t>
            </a:r>
            <a:r>
              <a:rPr lang="en-IN" sz="1200" dirty="0"/>
              <a:t> &lt;&lt; "Inside </a:t>
            </a:r>
            <a:r>
              <a:rPr lang="en-IN" sz="1200" dirty="0" err="1"/>
              <a:t>second_space</a:t>
            </a:r>
            <a:r>
              <a:rPr lang="en-IN" sz="1200" dirty="0"/>
              <a:t>" &lt;&lt; </a:t>
            </a:r>
            <a:r>
              <a:rPr lang="en-IN" sz="1200" dirty="0" err="1"/>
              <a:t>endl</a:t>
            </a:r>
            <a:r>
              <a:rPr lang="en-IN" sz="1200" dirty="0"/>
              <a:t>;</a:t>
            </a:r>
          </a:p>
          <a:p>
            <a:pPr marL="0" indent="0">
              <a:buNone/>
            </a:pPr>
            <a:r>
              <a:rPr lang="en-IN" sz="1200" dirty="0"/>
              <a:t>   }</a:t>
            </a:r>
          </a:p>
          <a:p>
            <a:pPr marL="0" indent="0">
              <a:buNone/>
            </a:pPr>
            <a:r>
              <a:rPr lang="en-IN" sz="1200" dirty="0"/>
              <a:t>}</a:t>
            </a:r>
          </a:p>
          <a:p>
            <a:pPr marL="0" indent="0">
              <a:buNone/>
            </a:pPr>
            <a:r>
              <a:rPr lang="en-IN" sz="1200" dirty="0"/>
              <a:t>int main () {</a:t>
            </a:r>
          </a:p>
          <a:p>
            <a:pPr marL="0" indent="0">
              <a:buNone/>
            </a:pPr>
            <a:r>
              <a:rPr lang="en-IN" sz="1200" dirty="0"/>
              <a:t>   // Calls function from first name space.</a:t>
            </a:r>
          </a:p>
          <a:p>
            <a:pPr marL="0" indent="0">
              <a:buNone/>
            </a:pPr>
            <a:r>
              <a:rPr lang="en-IN" sz="1200" dirty="0"/>
              <a:t>   </a:t>
            </a:r>
            <a:r>
              <a:rPr lang="en-IN" sz="1200" dirty="0" err="1"/>
              <a:t>first_space</a:t>
            </a:r>
            <a:r>
              <a:rPr lang="en-IN" sz="1200" dirty="0"/>
              <a:t>::</a:t>
            </a:r>
            <a:r>
              <a:rPr lang="en-IN" sz="1200" dirty="0" err="1"/>
              <a:t>func</a:t>
            </a:r>
            <a:r>
              <a:rPr lang="en-IN" sz="1200" dirty="0"/>
              <a:t>();</a:t>
            </a:r>
          </a:p>
          <a:p>
            <a:pPr marL="0" indent="0">
              <a:buNone/>
            </a:pPr>
            <a:r>
              <a:rPr lang="en-IN" sz="1200" dirty="0"/>
              <a:t>   </a:t>
            </a:r>
          </a:p>
          <a:p>
            <a:pPr marL="0" indent="0">
              <a:buNone/>
            </a:pPr>
            <a:r>
              <a:rPr lang="en-IN" sz="1200" dirty="0"/>
              <a:t>   // Calls function from second name space.</a:t>
            </a:r>
          </a:p>
          <a:p>
            <a:pPr marL="0" indent="0">
              <a:buNone/>
            </a:pPr>
            <a:r>
              <a:rPr lang="en-IN" sz="1200" dirty="0"/>
              <a:t>   </a:t>
            </a:r>
            <a:r>
              <a:rPr lang="en-IN" sz="1200" dirty="0" err="1"/>
              <a:t>second_space</a:t>
            </a:r>
            <a:r>
              <a:rPr lang="en-IN" sz="1200" dirty="0"/>
              <a:t>::</a:t>
            </a:r>
            <a:r>
              <a:rPr lang="en-IN" sz="1200" dirty="0" err="1"/>
              <a:t>func</a:t>
            </a:r>
            <a:r>
              <a:rPr lang="en-IN" sz="1200" dirty="0"/>
              <a:t>(); </a:t>
            </a:r>
          </a:p>
          <a:p>
            <a:pPr marL="0" indent="0">
              <a:buNone/>
            </a:pPr>
            <a:r>
              <a:rPr lang="en-IN" sz="1200" dirty="0"/>
              <a:t>   return 0;</a:t>
            </a:r>
          </a:p>
          <a:p>
            <a:pPr marL="0" indent="0">
              <a:buNone/>
            </a:pPr>
            <a:r>
              <a:rPr lang="en-IN" sz="1200" dirty="0"/>
              <a:t>}</a:t>
            </a:r>
          </a:p>
        </p:txBody>
      </p:sp>
      <p:sp>
        <p:nvSpPr>
          <p:cNvPr id="4" name="Slide Number Placeholder 3">
            <a:extLst>
              <a:ext uri="{FF2B5EF4-FFF2-40B4-BE49-F238E27FC236}">
                <a16:creationId xmlns:a16="http://schemas.microsoft.com/office/drawing/2014/main" id="{58EB380E-9A1E-47D1-AF90-287AFDE6D95F}"/>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1">
            <a:extLst>
              <a:ext uri="{FF2B5EF4-FFF2-40B4-BE49-F238E27FC236}">
                <a16:creationId xmlns:a16="http://schemas.microsoft.com/office/drawing/2014/main" id="{E8F5001E-1709-4508-A019-61DE75F2B4A2}"/>
              </a:ext>
            </a:extLst>
          </p:cNvPr>
          <p:cNvSpPr>
            <a:spLocks noChangeArrowheads="1"/>
          </p:cNvSpPr>
          <p:nvPr/>
        </p:nvSpPr>
        <p:spPr bwMode="auto">
          <a:xfrm>
            <a:off x="5912528" y="1487215"/>
            <a:ext cx="3645494" cy="76944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t>Output: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t>Inside </a:t>
            </a:r>
            <a:r>
              <a:rPr lang="en-US" altLang="en-US" sz="1400" dirty="0" err="1"/>
              <a:t>first_space</a:t>
            </a:r>
            <a:r>
              <a:rPr lang="en-US" altLang="en-US" sz="14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t>Inside </a:t>
            </a:r>
            <a:r>
              <a:rPr lang="en-US" altLang="en-US" sz="1400" dirty="0" err="1"/>
              <a:t>second_space</a:t>
            </a:r>
            <a:r>
              <a:rPr lang="en-US" altLang="en-US" sz="1400" dirty="0"/>
              <a:t> </a:t>
            </a:r>
          </a:p>
        </p:txBody>
      </p:sp>
    </p:spTree>
    <p:extLst>
      <p:ext uri="{BB962C8B-B14F-4D97-AF65-F5344CB8AC3E}">
        <p14:creationId xmlns:p14="http://schemas.microsoft.com/office/powerpoint/2010/main" val="4395726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64932-F688-492C-8845-AADC39137813}"/>
              </a:ext>
            </a:extLst>
          </p:cNvPr>
          <p:cNvSpPr>
            <a:spLocks noGrp="1"/>
          </p:cNvSpPr>
          <p:nvPr>
            <p:ph type="title"/>
          </p:nvPr>
        </p:nvSpPr>
        <p:spPr/>
        <p:txBody>
          <a:bodyPr/>
          <a:lstStyle/>
          <a:p>
            <a:r>
              <a:rPr lang="en-IN" dirty="0"/>
              <a:t>The using directive</a:t>
            </a:r>
          </a:p>
        </p:txBody>
      </p:sp>
      <p:sp>
        <p:nvSpPr>
          <p:cNvPr id="3" name="Content Placeholder 2">
            <a:extLst>
              <a:ext uri="{FF2B5EF4-FFF2-40B4-BE49-F238E27FC236}">
                <a16:creationId xmlns:a16="http://schemas.microsoft.com/office/drawing/2014/main" id="{C07BE2B9-AE50-42D3-89E7-8815A1F16789}"/>
              </a:ext>
            </a:extLst>
          </p:cNvPr>
          <p:cNvSpPr>
            <a:spLocks noGrp="1"/>
          </p:cNvSpPr>
          <p:nvPr>
            <p:ph idx="1"/>
          </p:nvPr>
        </p:nvSpPr>
        <p:spPr/>
        <p:txBody>
          <a:bodyPr/>
          <a:lstStyle/>
          <a:p>
            <a:r>
              <a:rPr lang="en-IN" dirty="0"/>
              <a:t>You can also avoid prepending of namespaces with the using namespace directive. This directive tells the compiler that the subsequent code is making use of names in the specified namespace.</a:t>
            </a:r>
          </a:p>
          <a:p>
            <a:r>
              <a:rPr lang="en-IN" dirty="0"/>
              <a:t>The ‘using’ directive can also be used to refer to a particular item within a namespace. For example, if the only part of the std namespace that you intend to use is </a:t>
            </a:r>
            <a:r>
              <a:rPr lang="en-IN" dirty="0" err="1"/>
              <a:t>cout</a:t>
            </a:r>
            <a:r>
              <a:rPr lang="en-IN" dirty="0"/>
              <a:t>, you can refer to it as follows −</a:t>
            </a:r>
          </a:p>
          <a:p>
            <a:pPr marL="0" indent="0">
              <a:buNone/>
            </a:pPr>
            <a:r>
              <a:rPr lang="en-IN" dirty="0"/>
              <a:t>       using std::</a:t>
            </a:r>
            <a:r>
              <a:rPr lang="en-IN" dirty="0" err="1"/>
              <a:t>cout</a:t>
            </a:r>
            <a:r>
              <a:rPr lang="en-IN" dirty="0"/>
              <a:t>;</a:t>
            </a:r>
          </a:p>
          <a:p>
            <a:endParaRPr lang="en-IN" dirty="0"/>
          </a:p>
        </p:txBody>
      </p:sp>
      <p:sp>
        <p:nvSpPr>
          <p:cNvPr id="4" name="Slide Number Placeholder 3">
            <a:extLst>
              <a:ext uri="{FF2B5EF4-FFF2-40B4-BE49-F238E27FC236}">
                <a16:creationId xmlns:a16="http://schemas.microsoft.com/office/drawing/2014/main" id="{B2FBD893-1531-4CFB-B35F-681DD7239F11}"/>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356929534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A1EF4D-5E1F-4249-8F5E-EDDCB52C8A86}"/>
              </a:ext>
            </a:extLst>
          </p:cNvPr>
          <p:cNvSpPr>
            <a:spLocks noGrp="1"/>
          </p:cNvSpPr>
          <p:nvPr>
            <p:ph idx="1"/>
          </p:nvPr>
        </p:nvSpPr>
        <p:spPr>
          <a:xfrm>
            <a:off x="838200" y="310718"/>
            <a:ext cx="10515600" cy="5866245"/>
          </a:xfrm>
        </p:spPr>
        <p:txBody>
          <a:bodyPr>
            <a:normAutofit fontScale="47500" lnSpcReduction="20000"/>
          </a:bodyPr>
          <a:lstStyle/>
          <a:p>
            <a:pPr marL="0" indent="0">
              <a:buNone/>
            </a:pPr>
            <a:r>
              <a:rPr lang="en-IN" sz="7000" b="1" dirty="0"/>
              <a:t>Example:</a:t>
            </a:r>
            <a:endParaRPr lang="en-IN" b="1" dirty="0"/>
          </a:p>
          <a:p>
            <a:pPr marL="0" indent="0">
              <a:buNone/>
            </a:pPr>
            <a:r>
              <a:rPr lang="en-IN" dirty="0"/>
              <a:t>#include &lt;iostream&gt;</a:t>
            </a:r>
          </a:p>
          <a:p>
            <a:pPr marL="0" indent="0">
              <a:buNone/>
            </a:pPr>
            <a:r>
              <a:rPr lang="en-IN" dirty="0"/>
              <a:t>using namespace std;</a:t>
            </a:r>
          </a:p>
          <a:p>
            <a:pPr marL="0" indent="0">
              <a:buNone/>
            </a:pPr>
            <a:r>
              <a:rPr lang="en-IN" dirty="0"/>
              <a:t>// first name space</a:t>
            </a:r>
          </a:p>
          <a:p>
            <a:pPr marL="0" indent="0">
              <a:buNone/>
            </a:pPr>
            <a:r>
              <a:rPr lang="en-IN" dirty="0"/>
              <a:t>namespace </a:t>
            </a:r>
            <a:r>
              <a:rPr lang="en-IN" dirty="0" err="1"/>
              <a:t>first_space</a:t>
            </a:r>
            <a:r>
              <a:rPr lang="en-IN" dirty="0"/>
              <a:t> {</a:t>
            </a:r>
          </a:p>
          <a:p>
            <a:pPr marL="0" indent="0">
              <a:buNone/>
            </a:pPr>
            <a:r>
              <a:rPr lang="en-IN" dirty="0"/>
              <a:t>   void </a:t>
            </a:r>
            <a:r>
              <a:rPr lang="en-IN" dirty="0" err="1"/>
              <a:t>func</a:t>
            </a:r>
            <a:r>
              <a:rPr lang="en-IN" dirty="0"/>
              <a:t>() {</a:t>
            </a:r>
          </a:p>
          <a:p>
            <a:pPr marL="0" indent="0">
              <a:buNone/>
            </a:pPr>
            <a:r>
              <a:rPr lang="en-IN" dirty="0"/>
              <a:t>      </a:t>
            </a:r>
            <a:r>
              <a:rPr lang="en-IN" dirty="0" err="1"/>
              <a:t>cout</a:t>
            </a:r>
            <a:r>
              <a:rPr lang="en-IN" dirty="0"/>
              <a:t> &lt;&lt; "Inside </a:t>
            </a:r>
            <a:r>
              <a:rPr lang="en-IN" dirty="0" err="1"/>
              <a:t>first_space</a:t>
            </a:r>
            <a:r>
              <a:rPr lang="en-IN" dirty="0"/>
              <a:t>" &lt;&lt; </a:t>
            </a:r>
            <a:r>
              <a:rPr lang="en-IN" dirty="0" err="1"/>
              <a:t>endl</a:t>
            </a:r>
            <a:r>
              <a:rPr lang="en-IN" dirty="0"/>
              <a:t>;</a:t>
            </a:r>
          </a:p>
          <a:p>
            <a:pPr marL="0" indent="0">
              <a:buNone/>
            </a:pPr>
            <a:r>
              <a:rPr lang="en-IN" dirty="0"/>
              <a:t>   }</a:t>
            </a:r>
          </a:p>
          <a:p>
            <a:pPr marL="0" indent="0">
              <a:buNone/>
            </a:pPr>
            <a:r>
              <a:rPr lang="en-IN" dirty="0"/>
              <a:t>}</a:t>
            </a:r>
          </a:p>
          <a:p>
            <a:pPr marL="0" indent="0">
              <a:buNone/>
            </a:pPr>
            <a:r>
              <a:rPr lang="en-IN" dirty="0"/>
              <a:t>// second name space</a:t>
            </a:r>
          </a:p>
          <a:p>
            <a:pPr marL="0" indent="0">
              <a:buNone/>
            </a:pPr>
            <a:r>
              <a:rPr lang="en-IN" dirty="0"/>
              <a:t>namespace </a:t>
            </a:r>
            <a:r>
              <a:rPr lang="en-IN" dirty="0" err="1"/>
              <a:t>second_space</a:t>
            </a:r>
            <a:r>
              <a:rPr lang="en-IN" dirty="0"/>
              <a:t> {</a:t>
            </a:r>
          </a:p>
          <a:p>
            <a:pPr marL="0" indent="0">
              <a:buNone/>
            </a:pPr>
            <a:r>
              <a:rPr lang="en-IN" dirty="0"/>
              <a:t>   void </a:t>
            </a:r>
            <a:r>
              <a:rPr lang="en-IN" dirty="0" err="1"/>
              <a:t>func</a:t>
            </a:r>
            <a:r>
              <a:rPr lang="en-IN" dirty="0"/>
              <a:t>() {</a:t>
            </a:r>
          </a:p>
          <a:p>
            <a:pPr marL="0" indent="0">
              <a:buNone/>
            </a:pPr>
            <a:r>
              <a:rPr lang="en-IN" dirty="0"/>
              <a:t>      </a:t>
            </a:r>
            <a:r>
              <a:rPr lang="en-IN" dirty="0" err="1"/>
              <a:t>cout</a:t>
            </a:r>
            <a:r>
              <a:rPr lang="en-IN" dirty="0"/>
              <a:t> &lt;&lt; "Inside </a:t>
            </a:r>
            <a:r>
              <a:rPr lang="en-IN" dirty="0" err="1"/>
              <a:t>second_space</a:t>
            </a:r>
            <a:r>
              <a:rPr lang="en-IN" dirty="0"/>
              <a:t>" &lt;&lt; </a:t>
            </a:r>
            <a:r>
              <a:rPr lang="en-IN" dirty="0" err="1"/>
              <a:t>endl</a:t>
            </a:r>
            <a:r>
              <a:rPr lang="en-IN" dirty="0"/>
              <a:t>;</a:t>
            </a:r>
          </a:p>
          <a:p>
            <a:pPr marL="0" indent="0">
              <a:buNone/>
            </a:pPr>
            <a:r>
              <a:rPr lang="en-IN" dirty="0"/>
              <a:t>   }</a:t>
            </a:r>
          </a:p>
          <a:p>
            <a:pPr marL="0" indent="0">
              <a:buNone/>
            </a:pPr>
            <a:r>
              <a:rPr lang="en-IN" dirty="0"/>
              <a:t>}</a:t>
            </a:r>
          </a:p>
          <a:p>
            <a:pPr marL="0" indent="0">
              <a:buNone/>
            </a:pPr>
            <a:r>
              <a:rPr lang="en-IN" dirty="0"/>
              <a:t>using namespace </a:t>
            </a:r>
            <a:r>
              <a:rPr lang="en-IN" dirty="0" err="1"/>
              <a:t>first_space</a:t>
            </a:r>
            <a:r>
              <a:rPr lang="en-IN" dirty="0"/>
              <a:t>;</a:t>
            </a:r>
          </a:p>
          <a:p>
            <a:pPr marL="0" indent="0">
              <a:buNone/>
            </a:pPr>
            <a:r>
              <a:rPr lang="en-IN" dirty="0"/>
              <a:t>int main () {</a:t>
            </a:r>
          </a:p>
          <a:p>
            <a:pPr marL="0" indent="0">
              <a:buNone/>
            </a:pPr>
            <a:r>
              <a:rPr lang="en-IN" dirty="0"/>
              <a:t>   // This calls function from first name space.</a:t>
            </a:r>
          </a:p>
          <a:p>
            <a:pPr marL="0" indent="0">
              <a:buNone/>
            </a:pPr>
            <a:r>
              <a:rPr lang="en-IN" dirty="0"/>
              <a:t>   </a:t>
            </a:r>
            <a:r>
              <a:rPr lang="en-IN" dirty="0" err="1"/>
              <a:t>func</a:t>
            </a:r>
            <a:r>
              <a:rPr lang="en-IN" dirty="0"/>
              <a:t>();</a:t>
            </a:r>
          </a:p>
          <a:p>
            <a:pPr marL="0" indent="0">
              <a:buNone/>
            </a:pPr>
            <a:r>
              <a:rPr lang="en-IN" dirty="0"/>
              <a:t>      return 0;</a:t>
            </a:r>
          </a:p>
          <a:p>
            <a:pPr marL="0" indent="0">
              <a:buNone/>
            </a:pPr>
            <a:r>
              <a:rPr lang="en-IN" dirty="0"/>
              <a:t>}</a:t>
            </a:r>
          </a:p>
        </p:txBody>
      </p:sp>
      <p:sp>
        <p:nvSpPr>
          <p:cNvPr id="4" name="Slide Number Placeholder 3">
            <a:extLst>
              <a:ext uri="{FF2B5EF4-FFF2-40B4-BE49-F238E27FC236}">
                <a16:creationId xmlns:a16="http://schemas.microsoft.com/office/drawing/2014/main" id="{58EB380E-9A1E-47D1-AF90-287AFDE6D95F}"/>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1">
            <a:extLst>
              <a:ext uri="{FF2B5EF4-FFF2-40B4-BE49-F238E27FC236}">
                <a16:creationId xmlns:a16="http://schemas.microsoft.com/office/drawing/2014/main" id="{E8F5001E-1709-4508-A019-61DE75F2B4A2}"/>
              </a:ext>
            </a:extLst>
          </p:cNvPr>
          <p:cNvSpPr>
            <a:spLocks noChangeArrowheads="1"/>
          </p:cNvSpPr>
          <p:nvPr/>
        </p:nvSpPr>
        <p:spPr bwMode="auto">
          <a:xfrm>
            <a:off x="5912528" y="1594936"/>
            <a:ext cx="3645494" cy="55399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t>Output: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t>Inside </a:t>
            </a:r>
            <a:r>
              <a:rPr lang="en-US" altLang="en-US" sz="1400" dirty="0" err="1"/>
              <a:t>first_space</a:t>
            </a:r>
            <a:r>
              <a:rPr lang="en-US" altLang="en-US" sz="1400" dirty="0"/>
              <a:t>  </a:t>
            </a:r>
          </a:p>
        </p:txBody>
      </p:sp>
    </p:spTree>
    <p:extLst>
      <p:ext uri="{BB962C8B-B14F-4D97-AF65-F5344CB8AC3E}">
        <p14:creationId xmlns:p14="http://schemas.microsoft.com/office/powerpoint/2010/main" val="399845108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11</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2386253497"/>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a:bodyPr>
          <a:lstStyle/>
          <a:p>
            <a:pPr marL="0" indent="0" algn="just">
              <a:buNone/>
            </a:pPr>
            <a:r>
              <a:rPr lang="en-IN" b="1" dirty="0"/>
              <a:t>Q1 What is a namespace</a:t>
            </a:r>
            <a:r>
              <a:rPr lang="en-IN" dirty="0"/>
              <a:t>?</a:t>
            </a:r>
          </a:p>
          <a:p>
            <a:pPr marL="0" indent="0" algn="just">
              <a:buNone/>
            </a:pPr>
            <a:r>
              <a:rPr lang="en-IN" dirty="0"/>
              <a:t>Answer: A namespace is designed to overcome this difficulty and is used as additional information to differentiate similar functions, classes, variables etc. with the same name available in different libraries. Using namespace, you can define the context in which names are defined. In essence, a namespace defines a scope.</a:t>
            </a: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4B594-F373-4FAE-A658-17A4132BDAC7}"/>
              </a:ext>
            </a:extLst>
          </p:cNvPr>
          <p:cNvSpPr>
            <a:spLocks noGrp="1"/>
          </p:cNvSpPr>
          <p:nvPr>
            <p:ph idx="1"/>
          </p:nvPr>
        </p:nvSpPr>
        <p:spPr>
          <a:xfrm>
            <a:off x="838200" y="838200"/>
            <a:ext cx="10515600" cy="5338763"/>
          </a:xfrm>
        </p:spPr>
        <p:txBody>
          <a:bodyPr>
            <a:normAutofit fontScale="85000" lnSpcReduction="10000"/>
          </a:bodyPr>
          <a:lstStyle/>
          <a:p>
            <a:pPr marL="0" indent="0">
              <a:buNone/>
            </a:pPr>
            <a:r>
              <a:rPr lang="en-IN" b="1" dirty="0"/>
              <a:t>Q2 Why is namespace important?</a:t>
            </a:r>
          </a:p>
          <a:p>
            <a:pPr marL="0" indent="0">
              <a:buNone/>
            </a:pPr>
            <a:r>
              <a:rPr lang="en-IN" dirty="0"/>
              <a:t>Answer: Consider a situation, when we have two persons with the same name, Zara, in the same class. Whenever we need to differentiate them definitely we would have to use some additional information along with their name, like either the area, if they live in different area or their mother’s or father’s name, etc.</a:t>
            </a:r>
          </a:p>
          <a:p>
            <a:pPr marL="0" indent="0">
              <a:buNone/>
            </a:pPr>
            <a:endParaRPr lang="en-IN" dirty="0"/>
          </a:p>
          <a:p>
            <a:pPr marL="0" indent="0">
              <a:buNone/>
            </a:pPr>
            <a:r>
              <a:rPr lang="en-IN" dirty="0"/>
              <a:t>Same situation can arise in your C++ applications. For example, you might be writing some code that has a function called </a:t>
            </a:r>
            <a:r>
              <a:rPr lang="en-IN" dirty="0" err="1"/>
              <a:t>xyz</a:t>
            </a:r>
            <a:r>
              <a:rPr lang="en-IN" dirty="0"/>
              <a:t>() and there is another library available which is also having same function </a:t>
            </a:r>
            <a:r>
              <a:rPr lang="en-IN" dirty="0" err="1"/>
              <a:t>xyz</a:t>
            </a:r>
            <a:r>
              <a:rPr lang="en-IN" dirty="0"/>
              <a:t>(). Now the compiler has no way of knowing which version of </a:t>
            </a:r>
            <a:r>
              <a:rPr lang="en-IN" dirty="0" err="1"/>
              <a:t>xyz</a:t>
            </a:r>
            <a:r>
              <a:rPr lang="en-IN" dirty="0"/>
              <a:t>() function you are referring to within your code.</a:t>
            </a:r>
          </a:p>
          <a:p>
            <a:pPr marL="0" indent="0">
              <a:buNone/>
            </a:pPr>
            <a:endParaRPr lang="en-IN" dirty="0"/>
          </a:p>
          <a:p>
            <a:pPr marL="0" indent="0">
              <a:buNone/>
            </a:pPr>
            <a:r>
              <a:rPr lang="en-IN" dirty="0"/>
              <a:t>A namespace is designed to overcome this difficulty and is used as additional information to differentiate similar functions, classes, variables etc. with the same name available in different libraries. Using namespace, you can define the context in which names are defined. In essence, a namespace defines a scope.</a:t>
            </a:r>
          </a:p>
        </p:txBody>
      </p:sp>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rmAutofit fontScale="25000" lnSpcReduction="20000"/>
          </a:bodyPr>
          <a:lstStyle/>
          <a:p>
            <a:pPr marL="0" indent="0">
              <a:buNone/>
            </a:pPr>
            <a:r>
              <a:rPr lang="en-IN" sz="6200" dirty="0">
                <a:solidFill>
                  <a:srgbClr val="C00000"/>
                </a:solidFill>
              </a:rPr>
              <a:t>1. Which operator is used for accessing a member of namespace?</a:t>
            </a:r>
            <a:br>
              <a:rPr lang="en-IN" sz="6200" dirty="0">
                <a:solidFill>
                  <a:srgbClr val="C00000"/>
                </a:solidFill>
              </a:rPr>
            </a:br>
            <a:r>
              <a:rPr lang="en-IN" sz="6200" dirty="0">
                <a:solidFill>
                  <a:srgbClr val="C00000"/>
                </a:solidFill>
              </a:rPr>
              <a:t>a) :</a:t>
            </a:r>
            <a:br>
              <a:rPr lang="en-IN" sz="6200" dirty="0">
                <a:solidFill>
                  <a:srgbClr val="C00000"/>
                </a:solidFill>
              </a:rPr>
            </a:br>
            <a:r>
              <a:rPr lang="en-IN" sz="6200" dirty="0">
                <a:solidFill>
                  <a:srgbClr val="C00000"/>
                </a:solidFill>
              </a:rPr>
              <a:t>b) ::</a:t>
            </a:r>
            <a:br>
              <a:rPr lang="en-IN" sz="6200" dirty="0">
                <a:solidFill>
                  <a:srgbClr val="C00000"/>
                </a:solidFill>
              </a:rPr>
            </a:br>
            <a:r>
              <a:rPr lang="en-IN" sz="6200" dirty="0">
                <a:solidFill>
                  <a:srgbClr val="C00000"/>
                </a:solidFill>
              </a:rPr>
              <a:t>c) -&gt;</a:t>
            </a:r>
            <a:br>
              <a:rPr lang="en-IN" sz="6200" dirty="0">
                <a:solidFill>
                  <a:srgbClr val="C00000"/>
                </a:solidFill>
              </a:rPr>
            </a:br>
            <a:r>
              <a:rPr lang="en-IN" sz="6200" dirty="0">
                <a:solidFill>
                  <a:srgbClr val="C00000"/>
                </a:solidFill>
              </a:rPr>
              <a:t>d) .</a:t>
            </a:r>
          </a:p>
          <a:p>
            <a:pPr marL="1143000" indent="-1143000">
              <a:buAutoNum type="arabicPeriod"/>
            </a:pPr>
            <a:endParaRPr lang="en-US" sz="6200" dirty="0">
              <a:solidFill>
                <a:srgbClr val="C00000"/>
              </a:solidFill>
            </a:endParaRPr>
          </a:p>
          <a:p>
            <a:pPr marL="0" indent="0">
              <a:buNone/>
            </a:pPr>
            <a:r>
              <a:rPr lang="en-US" sz="6200" dirty="0">
                <a:solidFill>
                  <a:srgbClr val="C00000"/>
                </a:solidFill>
              </a:rPr>
              <a:t>2. </a:t>
            </a:r>
            <a:r>
              <a:rPr lang="en-IN" sz="6200" dirty="0">
                <a:solidFill>
                  <a:srgbClr val="C00000"/>
                </a:solidFill>
              </a:rPr>
              <a:t>Pick the incorrect statement for namespaces in C++.</a:t>
            </a:r>
            <a:br>
              <a:rPr lang="en-IN" sz="6200" dirty="0">
                <a:solidFill>
                  <a:srgbClr val="C00000"/>
                </a:solidFill>
              </a:rPr>
            </a:br>
            <a:r>
              <a:rPr lang="en-IN" sz="6200" dirty="0">
                <a:solidFill>
                  <a:srgbClr val="C00000"/>
                </a:solidFill>
              </a:rPr>
              <a:t>a) Namespace declarations are always global scope</a:t>
            </a:r>
            <a:br>
              <a:rPr lang="en-IN" sz="6200" dirty="0">
                <a:solidFill>
                  <a:srgbClr val="C00000"/>
                </a:solidFill>
              </a:rPr>
            </a:br>
            <a:r>
              <a:rPr lang="en-IN" sz="6200" dirty="0">
                <a:solidFill>
                  <a:srgbClr val="C00000"/>
                </a:solidFill>
              </a:rPr>
              <a:t>b) Keyword namespace is used at the starting of a namespace definition</a:t>
            </a:r>
            <a:br>
              <a:rPr lang="en-IN" sz="6200" dirty="0">
                <a:solidFill>
                  <a:srgbClr val="C00000"/>
                </a:solidFill>
              </a:rPr>
            </a:br>
            <a:r>
              <a:rPr lang="en-IN" sz="6200" dirty="0">
                <a:solidFill>
                  <a:srgbClr val="C00000"/>
                </a:solidFill>
              </a:rPr>
              <a:t>c) Namespace has access specifiers like private or public</a:t>
            </a:r>
            <a:br>
              <a:rPr lang="en-IN" sz="6200" dirty="0">
                <a:solidFill>
                  <a:srgbClr val="C00000"/>
                </a:solidFill>
              </a:rPr>
            </a:br>
            <a:r>
              <a:rPr lang="en-IN" sz="6200" dirty="0">
                <a:solidFill>
                  <a:srgbClr val="C00000"/>
                </a:solidFill>
              </a:rPr>
              <a:t>d) Namespace definitions can be nested</a:t>
            </a:r>
          </a:p>
          <a:p>
            <a:pPr marL="0" indent="0">
              <a:buNone/>
            </a:pPr>
            <a:endParaRPr lang="en-IN" sz="6200" dirty="0">
              <a:solidFill>
                <a:srgbClr val="C00000"/>
              </a:solidFill>
            </a:endParaRPr>
          </a:p>
          <a:p>
            <a:pPr marL="0" indent="0">
              <a:buNone/>
            </a:pPr>
            <a:r>
              <a:rPr lang="en-US" sz="6200" dirty="0">
                <a:solidFill>
                  <a:srgbClr val="C00000"/>
                </a:solidFill>
              </a:rPr>
              <a:t>3. </a:t>
            </a:r>
            <a:r>
              <a:rPr lang="en-IN" sz="6200" dirty="0">
                <a:solidFill>
                  <a:srgbClr val="C00000"/>
                </a:solidFill>
              </a:rPr>
              <a:t>What is the correct syntax of defining a namespace?</a:t>
            </a:r>
          </a:p>
          <a:p>
            <a:pPr marL="0" indent="0">
              <a:buNone/>
            </a:pPr>
            <a:r>
              <a:rPr lang="en-IN" sz="6200" dirty="0">
                <a:solidFill>
                  <a:srgbClr val="C00000"/>
                </a:solidFill>
              </a:rPr>
              <a:t>a) namespace name{}</a:t>
            </a:r>
          </a:p>
          <a:p>
            <a:pPr marL="0" indent="0">
              <a:buNone/>
            </a:pPr>
            <a:r>
              <a:rPr lang="en-IN" sz="6200" dirty="0">
                <a:solidFill>
                  <a:srgbClr val="C00000"/>
                </a:solidFill>
              </a:rPr>
              <a:t>b) Namespace name{};</a:t>
            </a:r>
          </a:p>
          <a:p>
            <a:pPr marL="0" indent="0">
              <a:buNone/>
            </a:pPr>
            <a:r>
              <a:rPr lang="en-IN" sz="6200" dirty="0">
                <a:solidFill>
                  <a:srgbClr val="C00000"/>
                </a:solidFill>
              </a:rPr>
              <a:t>c) namespace name{};</a:t>
            </a:r>
          </a:p>
          <a:p>
            <a:pPr marL="0" indent="0">
              <a:buNone/>
            </a:pPr>
            <a:r>
              <a:rPr lang="en-IN" sz="6200" dirty="0">
                <a:solidFill>
                  <a:srgbClr val="C00000"/>
                </a:solidFill>
              </a:rPr>
              <a:t>d) typedef namespace name{} NAME</a:t>
            </a:r>
            <a:endParaRPr lang="en-US" sz="6200" dirty="0">
              <a:solidFill>
                <a:srgbClr val="C00000"/>
              </a:solidFill>
            </a:endParaRPr>
          </a:p>
          <a:p>
            <a:pPr marL="0" indent="0">
              <a:buNone/>
            </a:pPr>
            <a:r>
              <a:rPr lang="en-US" sz="6200" dirty="0">
                <a:solidFill>
                  <a:srgbClr val="C00000"/>
                </a:solidFill>
              </a:rPr>
              <a:t/>
            </a:r>
            <a:br>
              <a:rPr lang="en-US" sz="6200" dirty="0">
                <a:solidFill>
                  <a:srgbClr val="C00000"/>
                </a:solidFill>
              </a:rPr>
            </a:br>
            <a:endParaRPr lang="en-US" sz="6200" dirty="0">
              <a:solidFill>
                <a:srgbClr val="C00000"/>
              </a:solidFill>
            </a:endParaRPr>
          </a:p>
          <a:p>
            <a:pPr marL="0" indent="0">
              <a:buNone/>
            </a:pPr>
            <a:r>
              <a:rPr lang="en-US" sz="6200" dirty="0">
                <a:solidFill>
                  <a:srgbClr val="C00000"/>
                </a:solidFill>
              </a:rPr>
              <a:t/>
            </a:r>
            <a:br>
              <a:rPr lang="en-US" sz="6200" dirty="0">
                <a:solidFill>
                  <a:srgbClr val="C00000"/>
                </a:solidFill>
              </a:rPr>
            </a:br>
            <a:endParaRPr lang="en-IN" dirty="0">
              <a:solidFill>
                <a:srgbClr val="C0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2" name="Rectangle 1">
            <a:extLst>
              <a:ext uri="{FF2B5EF4-FFF2-40B4-BE49-F238E27FC236}">
                <a16:creationId xmlns:a16="http://schemas.microsoft.com/office/drawing/2014/main" id="{AA9EE1F6-906F-4246-88DA-D2EC0433E995}"/>
              </a:ext>
            </a:extLst>
          </p:cNvPr>
          <p:cNvSpPr/>
          <p:nvPr/>
        </p:nvSpPr>
        <p:spPr>
          <a:xfrm>
            <a:off x="838200" y="352603"/>
            <a:ext cx="10791825" cy="6986528"/>
          </a:xfrm>
          <a:prstGeom prst="rect">
            <a:avLst/>
          </a:prstGeom>
        </p:spPr>
        <p:txBody>
          <a:bodyPr wrap="square">
            <a:spAutoFit/>
          </a:bodyPr>
          <a:lstStyle/>
          <a:p>
            <a:r>
              <a:rPr lang="en-US" sz="1400" dirty="0">
                <a:solidFill>
                  <a:srgbClr val="C00000"/>
                </a:solidFill>
              </a:rPr>
              <a:t>4. </a:t>
            </a:r>
            <a:r>
              <a:rPr lang="en-IN" sz="1400" dirty="0">
                <a:solidFill>
                  <a:srgbClr val="C00000"/>
                </a:solidFill>
              </a:rPr>
              <a:t>What will be the output of the following C++ code?</a:t>
            </a:r>
          </a:p>
          <a:p>
            <a:r>
              <a:rPr lang="en-US" sz="1400" dirty="0">
                <a:solidFill>
                  <a:srgbClr val="C00000"/>
                </a:solidFill>
              </a:rPr>
              <a:t>#include &lt;iostream&gt;</a:t>
            </a:r>
          </a:p>
          <a:p>
            <a:r>
              <a:rPr lang="en-US" sz="1400" dirty="0">
                <a:solidFill>
                  <a:srgbClr val="C00000"/>
                </a:solidFill>
              </a:rPr>
              <a:t>#include &lt;string&gt;</a:t>
            </a:r>
          </a:p>
          <a:p>
            <a:r>
              <a:rPr lang="en-US" sz="1400" dirty="0">
                <a:solidFill>
                  <a:srgbClr val="C00000"/>
                </a:solidFill>
              </a:rPr>
              <a:t>using namespace std;</a:t>
            </a:r>
          </a:p>
          <a:p>
            <a:r>
              <a:rPr lang="en-US" sz="1400" dirty="0">
                <a:solidFill>
                  <a:srgbClr val="C00000"/>
                </a:solidFill>
              </a:rPr>
              <a:t>namespace </a:t>
            </a:r>
          </a:p>
          <a:p>
            <a:r>
              <a:rPr lang="en-US" sz="1400" dirty="0">
                <a:solidFill>
                  <a:srgbClr val="C00000"/>
                </a:solidFill>
              </a:rPr>
              <a:t>{</a:t>
            </a:r>
          </a:p>
          <a:p>
            <a:r>
              <a:rPr lang="en-US" sz="1400" dirty="0">
                <a:solidFill>
                  <a:srgbClr val="C00000"/>
                </a:solidFill>
              </a:rPr>
              <a:t>	int var = 10;</a:t>
            </a:r>
          </a:p>
          <a:p>
            <a:r>
              <a:rPr lang="en-US" sz="1400" dirty="0">
                <a:solidFill>
                  <a:srgbClr val="C00000"/>
                </a:solidFill>
              </a:rPr>
              <a:t>}</a:t>
            </a:r>
          </a:p>
          <a:p>
            <a:r>
              <a:rPr lang="en-US" sz="1400" dirty="0">
                <a:solidFill>
                  <a:srgbClr val="C00000"/>
                </a:solidFill>
              </a:rPr>
              <a:t>int main()</a:t>
            </a:r>
          </a:p>
          <a:p>
            <a:r>
              <a:rPr lang="en-US" sz="1400" dirty="0">
                <a:solidFill>
                  <a:srgbClr val="C00000"/>
                </a:solidFill>
              </a:rPr>
              <a:t>{</a:t>
            </a:r>
          </a:p>
          <a:p>
            <a:r>
              <a:rPr lang="en-US" sz="1400" dirty="0">
                <a:solidFill>
                  <a:srgbClr val="C00000"/>
                </a:solidFill>
              </a:rPr>
              <a:t>	</a:t>
            </a:r>
            <a:r>
              <a:rPr lang="en-US" sz="1400" dirty="0" err="1">
                <a:solidFill>
                  <a:srgbClr val="C00000"/>
                </a:solidFill>
              </a:rPr>
              <a:t>cout</a:t>
            </a:r>
            <a:r>
              <a:rPr lang="en-US" sz="1400" dirty="0">
                <a:solidFill>
                  <a:srgbClr val="C00000"/>
                </a:solidFill>
              </a:rPr>
              <a:t>&lt;&lt;var;</a:t>
            </a:r>
          </a:p>
          <a:p>
            <a:r>
              <a:rPr lang="en-US" sz="1400" dirty="0">
                <a:solidFill>
                  <a:srgbClr val="C00000"/>
                </a:solidFill>
              </a:rPr>
              <a:t>}</a:t>
            </a:r>
          </a:p>
          <a:p>
            <a:r>
              <a:rPr lang="en-US" sz="1400" dirty="0">
                <a:solidFill>
                  <a:srgbClr val="C00000"/>
                </a:solidFill>
              </a:rPr>
              <a:t>a) 10</a:t>
            </a:r>
          </a:p>
          <a:p>
            <a:r>
              <a:rPr lang="en-US" sz="1400" dirty="0">
                <a:solidFill>
                  <a:srgbClr val="C00000"/>
                </a:solidFill>
              </a:rPr>
              <a:t>b) Error</a:t>
            </a:r>
          </a:p>
          <a:p>
            <a:r>
              <a:rPr lang="en-US" sz="1400" dirty="0">
                <a:solidFill>
                  <a:srgbClr val="C00000"/>
                </a:solidFill>
              </a:rPr>
              <a:t>c) Some garbage value</a:t>
            </a:r>
          </a:p>
          <a:p>
            <a:r>
              <a:rPr lang="en-US" sz="1400" dirty="0">
                <a:solidFill>
                  <a:srgbClr val="C00000"/>
                </a:solidFill>
              </a:rPr>
              <a:t>d) Nothing but program runs perfectly</a:t>
            </a:r>
          </a:p>
          <a:p>
            <a:endParaRPr lang="en-US" sz="1400" dirty="0">
              <a:solidFill>
                <a:srgbClr val="C00000"/>
              </a:solidFill>
            </a:endParaRPr>
          </a:p>
          <a:p>
            <a:r>
              <a:rPr lang="en-US" sz="1400" dirty="0">
                <a:solidFill>
                  <a:srgbClr val="C00000"/>
                </a:solidFill>
              </a:rPr>
              <a:t>5. </a:t>
            </a:r>
            <a:r>
              <a:rPr lang="en-IN" sz="1400" dirty="0">
                <a:solidFill>
                  <a:srgbClr val="C00000"/>
                </a:solidFill>
              </a:rPr>
              <a:t>How to print the value of the </a:t>
            </a:r>
            <a:r>
              <a:rPr lang="en-IN" sz="1400" dirty="0" err="1">
                <a:solidFill>
                  <a:srgbClr val="C00000"/>
                </a:solidFill>
              </a:rPr>
              <a:t>i</a:t>
            </a:r>
            <a:r>
              <a:rPr lang="en-IN" sz="1400" dirty="0">
                <a:solidFill>
                  <a:srgbClr val="C00000"/>
                </a:solidFill>
              </a:rPr>
              <a:t> variable inside namespace B?</a:t>
            </a:r>
          </a:p>
          <a:p>
            <a:endParaRPr lang="en-IN" sz="1400" dirty="0">
              <a:solidFill>
                <a:srgbClr val="C00000"/>
              </a:solidFill>
            </a:endParaRPr>
          </a:p>
          <a:p>
            <a:r>
              <a:rPr lang="en-IN" sz="1400" dirty="0">
                <a:solidFill>
                  <a:srgbClr val="C00000"/>
                </a:solidFill>
              </a:rPr>
              <a:t>namespace A{</a:t>
            </a:r>
          </a:p>
          <a:p>
            <a:r>
              <a:rPr lang="en-IN" sz="1400" dirty="0">
                <a:solidFill>
                  <a:srgbClr val="C00000"/>
                </a:solidFill>
              </a:rPr>
              <a:t>	int var = 10;</a:t>
            </a:r>
          </a:p>
          <a:p>
            <a:r>
              <a:rPr lang="en-IN" sz="1400" dirty="0">
                <a:solidFill>
                  <a:srgbClr val="C00000"/>
                </a:solidFill>
              </a:rPr>
              <a:t>	namespace B{</a:t>
            </a:r>
          </a:p>
          <a:p>
            <a:r>
              <a:rPr lang="en-IN" sz="1400" dirty="0">
                <a:solidFill>
                  <a:srgbClr val="C00000"/>
                </a:solidFill>
              </a:rPr>
              <a:t>		int </a:t>
            </a:r>
            <a:r>
              <a:rPr lang="en-IN" sz="1400" dirty="0" err="1">
                <a:solidFill>
                  <a:srgbClr val="C00000"/>
                </a:solidFill>
              </a:rPr>
              <a:t>i</a:t>
            </a:r>
            <a:r>
              <a:rPr lang="en-IN" sz="1400" dirty="0">
                <a:solidFill>
                  <a:srgbClr val="C00000"/>
                </a:solidFill>
              </a:rPr>
              <a:t> = 15;</a:t>
            </a:r>
          </a:p>
          <a:p>
            <a:r>
              <a:rPr lang="en-IN" sz="1400" dirty="0">
                <a:solidFill>
                  <a:srgbClr val="C00000"/>
                </a:solidFill>
              </a:rPr>
              <a:t>	}</a:t>
            </a:r>
          </a:p>
          <a:p>
            <a:r>
              <a:rPr lang="en-IN" sz="1400" dirty="0">
                <a:solidFill>
                  <a:srgbClr val="C00000"/>
                </a:solidFill>
              </a:rPr>
              <a:t>}</a:t>
            </a:r>
          </a:p>
          <a:p>
            <a:r>
              <a:rPr lang="en-IN" sz="1400" dirty="0">
                <a:solidFill>
                  <a:srgbClr val="C00000"/>
                </a:solidFill>
              </a:rPr>
              <a:t>a) </a:t>
            </a:r>
            <a:r>
              <a:rPr lang="en-IN" sz="1400" dirty="0" err="1">
                <a:solidFill>
                  <a:srgbClr val="C00000"/>
                </a:solidFill>
              </a:rPr>
              <a:t>cout</a:t>
            </a:r>
            <a:r>
              <a:rPr lang="en-IN" sz="1400" dirty="0">
                <a:solidFill>
                  <a:srgbClr val="C00000"/>
                </a:solidFill>
              </a:rPr>
              <a:t>&lt;&lt;A::</a:t>
            </a:r>
            <a:r>
              <a:rPr lang="en-IN" sz="1400" dirty="0" err="1">
                <a:solidFill>
                  <a:srgbClr val="C00000"/>
                </a:solidFill>
              </a:rPr>
              <a:t>i</a:t>
            </a:r>
            <a:r>
              <a:rPr lang="en-IN" sz="1400" dirty="0">
                <a:solidFill>
                  <a:srgbClr val="C00000"/>
                </a:solidFill>
              </a:rPr>
              <a:t>;</a:t>
            </a:r>
          </a:p>
          <a:p>
            <a:r>
              <a:rPr lang="en-IN" sz="1400" dirty="0">
                <a:solidFill>
                  <a:srgbClr val="C00000"/>
                </a:solidFill>
              </a:rPr>
              <a:t>b) </a:t>
            </a:r>
            <a:r>
              <a:rPr lang="en-IN" sz="1400" dirty="0" err="1">
                <a:solidFill>
                  <a:srgbClr val="C00000"/>
                </a:solidFill>
              </a:rPr>
              <a:t>cout</a:t>
            </a:r>
            <a:r>
              <a:rPr lang="en-IN" sz="1400" dirty="0">
                <a:solidFill>
                  <a:srgbClr val="C00000"/>
                </a:solidFill>
              </a:rPr>
              <a:t>&lt;&lt;B::</a:t>
            </a:r>
            <a:r>
              <a:rPr lang="en-IN" sz="1400" dirty="0" err="1">
                <a:solidFill>
                  <a:srgbClr val="C00000"/>
                </a:solidFill>
              </a:rPr>
              <a:t>i</a:t>
            </a:r>
            <a:r>
              <a:rPr lang="en-IN" sz="1400" dirty="0">
                <a:solidFill>
                  <a:srgbClr val="C00000"/>
                </a:solidFill>
              </a:rPr>
              <a:t>;</a:t>
            </a:r>
          </a:p>
          <a:p>
            <a:r>
              <a:rPr lang="en-IN" sz="1400" dirty="0">
                <a:solidFill>
                  <a:srgbClr val="C00000"/>
                </a:solidFill>
              </a:rPr>
              <a:t>c) </a:t>
            </a:r>
            <a:r>
              <a:rPr lang="en-IN" sz="1400" dirty="0" err="1">
                <a:solidFill>
                  <a:srgbClr val="C00000"/>
                </a:solidFill>
              </a:rPr>
              <a:t>cout</a:t>
            </a:r>
            <a:r>
              <a:rPr lang="en-IN" sz="1400" dirty="0">
                <a:solidFill>
                  <a:srgbClr val="C00000"/>
                </a:solidFill>
              </a:rPr>
              <a:t>&lt;&lt;A::B::</a:t>
            </a:r>
            <a:r>
              <a:rPr lang="en-IN" sz="1400" dirty="0" err="1">
                <a:solidFill>
                  <a:srgbClr val="C00000"/>
                </a:solidFill>
              </a:rPr>
              <a:t>i</a:t>
            </a:r>
            <a:r>
              <a:rPr lang="en-IN" sz="1400" dirty="0">
                <a:solidFill>
                  <a:srgbClr val="C00000"/>
                </a:solidFill>
              </a:rPr>
              <a:t>;</a:t>
            </a:r>
          </a:p>
          <a:p>
            <a:r>
              <a:rPr lang="en-IN" sz="1400" dirty="0">
                <a:solidFill>
                  <a:srgbClr val="C00000"/>
                </a:solidFill>
              </a:rPr>
              <a:t>d) </a:t>
            </a:r>
            <a:r>
              <a:rPr lang="en-IN" sz="1400" dirty="0" err="1">
                <a:solidFill>
                  <a:srgbClr val="C00000"/>
                </a:solidFill>
              </a:rPr>
              <a:t>cout</a:t>
            </a:r>
            <a:r>
              <a:rPr lang="en-IN" sz="1400" dirty="0">
                <a:solidFill>
                  <a:srgbClr val="C00000"/>
                </a:solidFill>
              </a:rPr>
              <a:t>&lt;&lt;</a:t>
            </a:r>
            <a:r>
              <a:rPr lang="en-IN" sz="1400" dirty="0" err="1">
                <a:solidFill>
                  <a:srgbClr val="C00000"/>
                </a:solidFill>
              </a:rPr>
              <a:t>i</a:t>
            </a:r>
            <a:r>
              <a:rPr lang="en-IN" sz="1400" dirty="0">
                <a:solidFill>
                  <a:srgbClr val="C00000"/>
                </a:solidFill>
              </a:rPr>
              <a:t>;</a:t>
            </a:r>
            <a:r>
              <a:rPr lang="en-US" sz="1400" dirty="0">
                <a:solidFill>
                  <a:srgbClr val="C00000"/>
                </a:solidFill>
              </a:rPr>
              <a:t/>
            </a:r>
            <a:br>
              <a:rPr lang="en-US" sz="1400" dirty="0">
                <a:solidFill>
                  <a:srgbClr val="C00000"/>
                </a:solidFill>
              </a:rPr>
            </a:br>
            <a:endParaRPr lang="en-US" sz="1400" dirty="0">
              <a:solidFill>
                <a:srgbClr val="C00000"/>
              </a:solidFill>
            </a:endParaRPr>
          </a:p>
          <a:p>
            <a:endParaRPr lang="en-US" sz="1400" dirty="0">
              <a:solidFill>
                <a:srgbClr val="C00000"/>
              </a:solidFill>
            </a:endParaRPr>
          </a:p>
          <a:p>
            <a:endParaRPr lang="en-US" sz="1400" dirty="0"/>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52061" y="894112"/>
            <a:ext cx="10687878" cy="3363084"/>
          </a:xfrm>
        </p:spPr>
        <p:txBody>
          <a:bodyPr/>
          <a:lstStyle/>
          <a:p>
            <a:endParaRPr lang="en-IN" dirty="0"/>
          </a:p>
          <a:p>
            <a:pPr marL="0" indent="0">
              <a:buNone/>
            </a:pPr>
            <a:r>
              <a:rPr lang="en-IN" dirty="0"/>
              <a:t>A deeper dive into namespaces </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16</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3129170" y="2392362"/>
            <a:ext cx="795130" cy="98397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C5BD0BF2-3FB6-44C3-90B3-B15DC7D0C72E}"/>
              </a:ext>
            </a:extLst>
          </p:cNvPr>
          <p:cNvSpPr/>
          <p:nvPr/>
        </p:nvSpPr>
        <p:spPr>
          <a:xfrm>
            <a:off x="752061" y="3250832"/>
            <a:ext cx="6453113" cy="461665"/>
          </a:xfrm>
          <a:prstGeom prst="rect">
            <a:avLst/>
          </a:prstGeom>
        </p:spPr>
        <p:txBody>
          <a:bodyPr wrap="none">
            <a:spAutoFit/>
          </a:bodyPr>
          <a:lstStyle/>
          <a:p>
            <a:r>
              <a:rPr lang="en-IN" sz="2400" dirty="0">
                <a:solidFill>
                  <a:srgbClr val="FF0000"/>
                </a:solidFill>
              </a:rPr>
              <a:t>https://www.youtube.com/watch?v=ts1Eek5w7ZA</a:t>
            </a:r>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fontScale="92500" lnSpcReduction="20000"/>
          </a:bodyPr>
          <a:lstStyle/>
          <a:p>
            <a:pPr marL="0" indent="0">
              <a:buNone/>
            </a:pPr>
            <a:r>
              <a:rPr lang="en-IN" sz="1800" b="0" i="0" u="none" strike="noStrike" baseline="0" dirty="0">
                <a:solidFill>
                  <a:srgbClr val="000000"/>
                </a:solidFill>
                <a:latin typeface="Times New Roman" panose="02020603050405020304" pitchFamily="18" charset="0"/>
              </a:rPr>
              <a:t> </a:t>
            </a:r>
            <a:r>
              <a:rPr lang="en-IN" b="1" dirty="0"/>
              <a:t>TEXT BOOKS </a:t>
            </a:r>
          </a:p>
          <a:p>
            <a:pPr marL="0" indent="0">
              <a:buNone/>
            </a:pPr>
            <a:r>
              <a:rPr lang="en-IN" sz="1800" b="1" u="none" strike="noStrike" baseline="0" dirty="0">
                <a:solidFill>
                  <a:srgbClr val="000000"/>
                </a:solidFill>
                <a:latin typeface="Times New Roman" panose="02020603050405020304" pitchFamily="18" charset="0"/>
              </a:rPr>
              <a:t>T1 </a:t>
            </a:r>
            <a:r>
              <a:rPr lang="en-IN" sz="1800" b="0" u="none" strike="noStrike" baseline="0" dirty="0">
                <a:solidFill>
                  <a:srgbClr val="000000"/>
                </a:solidFill>
                <a:latin typeface="Times New Roman" panose="02020603050405020304" pitchFamily="18" charset="0"/>
              </a:rPr>
              <a:t>E </a:t>
            </a:r>
            <a:r>
              <a:rPr lang="en-IN" sz="1800" b="0" u="none" strike="noStrike" baseline="0" dirty="0" err="1">
                <a:solidFill>
                  <a:srgbClr val="000000"/>
                </a:solidFill>
                <a:latin typeface="Times New Roman" panose="02020603050405020304" pitchFamily="18" charset="0"/>
              </a:rPr>
              <a:t>Balagurusamy</a:t>
            </a:r>
            <a:r>
              <a:rPr lang="en-IN" sz="1800" b="0" u="none" strike="noStrike" baseline="0" dirty="0">
                <a:solidFill>
                  <a:srgbClr val="000000"/>
                </a:solidFill>
                <a:latin typeface="Times New Roman" panose="02020603050405020304" pitchFamily="18" charset="0"/>
              </a:rPr>
              <a:t>., “Object Oriented Programming in C++”, Tata McGraw-Hill. </a:t>
            </a:r>
          </a:p>
          <a:p>
            <a:pPr marL="0" indent="0">
              <a:buNone/>
            </a:pPr>
            <a:r>
              <a:rPr lang="en-IN" sz="1800" b="1" u="none" strike="noStrike" baseline="0" dirty="0">
                <a:solidFill>
                  <a:srgbClr val="000000"/>
                </a:solidFill>
                <a:latin typeface="Times New Roman" panose="02020603050405020304" pitchFamily="18" charset="0"/>
              </a:rPr>
              <a:t>T2 </a:t>
            </a:r>
            <a:r>
              <a:rPr lang="en-IN" sz="1800" b="0" u="none" strike="noStrike" baseline="0" dirty="0">
                <a:solidFill>
                  <a:srgbClr val="000000"/>
                </a:solidFill>
                <a:latin typeface="Times New Roman" panose="02020603050405020304" pitchFamily="18" charset="0"/>
              </a:rPr>
              <a:t>Robert </a:t>
            </a:r>
            <a:r>
              <a:rPr lang="en-IN" sz="1800" b="0" u="none" strike="noStrike" baseline="0" dirty="0" err="1">
                <a:solidFill>
                  <a:srgbClr val="000000"/>
                </a:solidFill>
                <a:latin typeface="Times New Roman" panose="02020603050405020304" pitchFamily="18" charset="0"/>
              </a:rPr>
              <a:t>Lafore</a:t>
            </a:r>
            <a:r>
              <a:rPr lang="en-IN" sz="1800" b="0" u="none" strike="noStrike" baseline="0" dirty="0">
                <a:solidFill>
                  <a:srgbClr val="000000"/>
                </a:solidFill>
                <a:latin typeface="Times New Roman" panose="02020603050405020304" pitchFamily="18" charset="0"/>
              </a:rPr>
              <a:t>, “Object Oriented Programming in C++”, Waite Group. </a:t>
            </a:r>
          </a:p>
          <a:p>
            <a:pPr marL="0" indent="0">
              <a:buNone/>
            </a:pPr>
            <a:r>
              <a:rPr lang="en-IN" b="1" dirty="0"/>
              <a:t>REFERENCE BOOKS </a:t>
            </a:r>
          </a:p>
          <a:p>
            <a:pPr marL="0" indent="0">
              <a:buNone/>
            </a:pPr>
            <a:r>
              <a:rPr lang="en-IN" sz="1800" b="1" u="none" strike="noStrike" baseline="0" dirty="0">
                <a:solidFill>
                  <a:srgbClr val="000000"/>
                </a:solidFill>
                <a:latin typeface="Times New Roman" panose="02020603050405020304" pitchFamily="18" charset="0"/>
              </a:rPr>
              <a:t>R1 </a:t>
            </a:r>
            <a:r>
              <a:rPr lang="en-IN" sz="1800" b="0" u="none" strike="noStrike" baseline="0" dirty="0">
                <a:solidFill>
                  <a:srgbClr val="000000"/>
                </a:solidFill>
                <a:latin typeface="Times New Roman" panose="02020603050405020304" pitchFamily="18" charset="0"/>
              </a:rPr>
              <a:t>Herbert </a:t>
            </a:r>
            <a:r>
              <a:rPr lang="en-IN" sz="1800" b="0" u="none" strike="noStrike" baseline="0" dirty="0" err="1">
                <a:solidFill>
                  <a:srgbClr val="000000"/>
                </a:solidFill>
                <a:latin typeface="Times New Roman" panose="02020603050405020304" pitchFamily="18" charset="0"/>
              </a:rPr>
              <a:t>Schildt</a:t>
            </a:r>
            <a:r>
              <a:rPr lang="en-IN" sz="1800" b="0" u="none" strike="noStrike" baseline="0" dirty="0">
                <a:solidFill>
                  <a:srgbClr val="000000"/>
                </a:solidFill>
                <a:latin typeface="Times New Roman" panose="02020603050405020304" pitchFamily="18" charset="0"/>
              </a:rPr>
              <a:t> , “C++- The Complete Reference”, Tata McGraw-Hill 2003, New Delhi. </a:t>
            </a:r>
          </a:p>
          <a:p>
            <a:pPr marL="0" indent="0">
              <a:buNone/>
            </a:pPr>
            <a:r>
              <a:rPr lang="en-IN" sz="1800" b="1" u="none" strike="noStrike" baseline="0" dirty="0">
                <a:solidFill>
                  <a:srgbClr val="000000"/>
                </a:solidFill>
                <a:latin typeface="Times New Roman" panose="02020603050405020304" pitchFamily="18" charset="0"/>
              </a:rPr>
              <a:t>R2 </a:t>
            </a:r>
            <a:r>
              <a:rPr lang="en-IN" sz="1800" b="0" u="none" strike="noStrike" baseline="0" dirty="0">
                <a:solidFill>
                  <a:srgbClr val="000000"/>
                </a:solidFill>
                <a:latin typeface="Times New Roman" panose="02020603050405020304" pitchFamily="18" charset="0"/>
              </a:rPr>
              <a:t>Bjarne </a:t>
            </a:r>
            <a:r>
              <a:rPr lang="en-IN" sz="1800" b="0" u="none" strike="noStrike" baseline="0" dirty="0" err="1">
                <a:solidFill>
                  <a:srgbClr val="000000"/>
                </a:solidFill>
                <a:latin typeface="Times New Roman" panose="02020603050405020304" pitchFamily="18" charset="0"/>
              </a:rPr>
              <a:t>Stroustrup</a:t>
            </a:r>
            <a:r>
              <a:rPr lang="en-IN" sz="1800" b="0" u="none" strike="noStrike" baseline="0" dirty="0">
                <a:solidFill>
                  <a:srgbClr val="000000"/>
                </a:solidFill>
                <a:latin typeface="Times New Roman" panose="02020603050405020304" pitchFamily="18" charset="0"/>
              </a:rPr>
              <a:t>: “The C++ Programming Language” (4th Edition). Addison-Wesley. </a:t>
            </a:r>
          </a:p>
          <a:p>
            <a:pPr marL="0" indent="0">
              <a:buNone/>
            </a:pPr>
            <a:r>
              <a:rPr lang="en-IN" sz="1800" b="1" u="none" strike="noStrike" baseline="0" dirty="0">
                <a:solidFill>
                  <a:srgbClr val="000000"/>
                </a:solidFill>
                <a:latin typeface="Times New Roman" panose="02020603050405020304" pitchFamily="18" charset="0"/>
              </a:rPr>
              <a:t>R3 </a:t>
            </a:r>
            <a:r>
              <a:rPr lang="en-IN" sz="1800" b="0" u="none" strike="noStrike" baseline="0" dirty="0">
                <a:solidFill>
                  <a:srgbClr val="000000"/>
                </a:solidFill>
                <a:latin typeface="Times New Roman" panose="02020603050405020304" pitchFamily="18" charset="0"/>
              </a:rPr>
              <a:t>Ravichandran , “Programming with C++”,Tata McGraw-Hill Education. </a:t>
            </a:r>
          </a:p>
          <a:p>
            <a:pPr marL="0" indent="0">
              <a:buNone/>
            </a:pPr>
            <a:r>
              <a:rPr lang="en-IN" sz="1800" b="1" u="none" strike="noStrike" baseline="0" dirty="0">
                <a:solidFill>
                  <a:srgbClr val="000000"/>
                </a:solidFill>
                <a:latin typeface="Times New Roman" panose="02020603050405020304" pitchFamily="18" charset="0"/>
              </a:rPr>
              <a:t>R4 </a:t>
            </a:r>
            <a:r>
              <a:rPr lang="en-IN" sz="1800" b="0" u="none" strike="noStrike" baseline="0" dirty="0">
                <a:solidFill>
                  <a:srgbClr val="000000"/>
                </a:solidFill>
                <a:latin typeface="Times New Roman" panose="02020603050405020304" pitchFamily="18" charset="0"/>
              </a:rPr>
              <a:t>Joyce M. Farrell,” Object Oriented Programming Using C++”, Learning. </a:t>
            </a:r>
          </a:p>
          <a:p>
            <a:pPr marL="0" indent="0">
              <a:buNone/>
            </a:pPr>
            <a:r>
              <a:rPr lang="en-IN" sz="1800" b="1" u="none" strike="noStrike" baseline="0" dirty="0">
                <a:solidFill>
                  <a:srgbClr val="000000"/>
                </a:solidFill>
                <a:latin typeface="Times New Roman" panose="02020603050405020304" pitchFamily="18" charset="0"/>
              </a:rPr>
              <a:t>R5 </a:t>
            </a:r>
            <a:r>
              <a:rPr lang="en-IN" sz="1800" b="0" u="none" strike="noStrike" baseline="0" dirty="0">
                <a:solidFill>
                  <a:srgbClr val="000000"/>
                </a:solidFill>
                <a:latin typeface="Times New Roman" panose="02020603050405020304" pitchFamily="18" charset="0"/>
              </a:rPr>
              <a:t>Programming Languages: Design and Implementation (4th Edition), by Terrence W. Pratt, Marvin V. </a:t>
            </a:r>
            <a:r>
              <a:rPr lang="en-IN" sz="1800" b="0" u="none" strike="noStrike" baseline="0" dirty="0" err="1">
                <a:solidFill>
                  <a:srgbClr val="000000"/>
                </a:solidFill>
                <a:latin typeface="Times New Roman" panose="02020603050405020304" pitchFamily="18" charset="0"/>
              </a:rPr>
              <a:t>Zelkowitz</a:t>
            </a:r>
            <a:r>
              <a:rPr lang="en-IN" sz="1800" b="0" u="none" strike="noStrike" baseline="0" dirty="0">
                <a:solidFill>
                  <a:srgbClr val="000000"/>
                </a:solidFill>
                <a:latin typeface="Times New Roman" panose="02020603050405020304" pitchFamily="18" charset="0"/>
              </a:rPr>
              <a:t>, Pearson. </a:t>
            </a:r>
          </a:p>
          <a:p>
            <a:pPr marL="0" indent="0">
              <a:buNone/>
            </a:pPr>
            <a:r>
              <a:rPr lang="en-IN" sz="1800" b="1" u="none" strike="noStrike" baseline="0" dirty="0">
                <a:solidFill>
                  <a:srgbClr val="000000"/>
                </a:solidFill>
                <a:latin typeface="Times New Roman" panose="02020603050405020304" pitchFamily="18" charset="0"/>
              </a:rPr>
              <a:t>R6 </a:t>
            </a:r>
            <a:r>
              <a:rPr lang="en-IN" sz="1800" b="0" u="none" strike="noStrike" baseline="0" dirty="0">
                <a:solidFill>
                  <a:srgbClr val="000000"/>
                </a:solidFill>
                <a:latin typeface="Times New Roman" panose="02020603050405020304" pitchFamily="18" charset="0"/>
              </a:rPr>
              <a:t>Programming Language Pragmatics, Third Edition, by Michael L. Scott, Morgan Kaufmann. </a:t>
            </a:r>
            <a:endParaRPr lang="en-US" sz="1600" dirty="0">
              <a:latin typeface="Times New Roman" pitchFamily="18" charset="0"/>
              <a:cs typeface="Times New Roman" pitchFamily="18" charset="0"/>
            </a:endParaRPr>
          </a:p>
          <a:p>
            <a:pPr>
              <a:buNone/>
            </a:pPr>
            <a:r>
              <a:rPr lang="en-IN" b="1" dirty="0"/>
              <a:t>Websites:</a:t>
            </a:r>
            <a:endParaRPr lang="en-IN" dirty="0"/>
          </a:p>
          <a:p>
            <a:pPr marL="342900" indent="-342900">
              <a:buFont typeface="+mj-lt"/>
              <a:buAutoNum type="arabicPeriod"/>
            </a:pPr>
            <a:r>
              <a:rPr lang="en-US" sz="1600" dirty="0">
                <a:latin typeface="Casper" panose="02000506000000020004" pitchFamily="2" charset="0"/>
                <a:cs typeface="Arial" panose="020B0604020202020204" pitchFamily="34" charset="0"/>
                <a:hlinkClick r:id="rId3"/>
              </a:rPr>
              <a:t>https://en.cppreference.com/w/cpp/language/namespace</a:t>
            </a:r>
            <a:endParaRPr lang="en-US" sz="1600" dirty="0">
              <a:latin typeface="Casper" panose="02000506000000020004" pitchFamily="2" charset="0"/>
              <a:cs typeface="Arial" panose="020B0604020202020204" pitchFamily="34" charset="0"/>
            </a:endParaRPr>
          </a:p>
          <a:p>
            <a:pPr marL="342900" indent="-342900">
              <a:buFont typeface="+mj-lt"/>
              <a:buAutoNum type="arabicPeriod"/>
            </a:pPr>
            <a:r>
              <a:rPr lang="en-US" sz="1600" dirty="0">
                <a:latin typeface="Casper" panose="02000506000000020004" pitchFamily="2" charset="0"/>
                <a:cs typeface="Arial" panose="020B0604020202020204" pitchFamily="34" charset="0"/>
                <a:hlinkClick r:id="rId4"/>
              </a:rPr>
              <a:t>https://www.tutorialspoint.com/cplusplus/cpp_namespaces.htm</a:t>
            </a:r>
            <a:endParaRPr lang="en-US" sz="1600" dirty="0">
              <a:latin typeface="Casper" panose="02000506000000020004" pitchFamily="2" charset="0"/>
              <a:cs typeface="Arial" panose="020B0604020202020204" pitchFamily="34" charset="0"/>
            </a:endParaRPr>
          </a:p>
          <a:p>
            <a:pPr marL="342900" indent="-342900">
              <a:buFont typeface="+mj-lt"/>
              <a:buAutoNum type="arabicPeriod"/>
            </a:pPr>
            <a:r>
              <a:rPr lang="en-US" sz="1600" dirty="0">
                <a:latin typeface="Casper" panose="02000506000000020004" pitchFamily="2" charset="0"/>
                <a:cs typeface="Arial" panose="020B0604020202020204" pitchFamily="34" charset="0"/>
                <a:hlinkClick r:id="rId5"/>
              </a:rPr>
              <a:t>https://www.sanfoundry.com/cplusplus-programming-questions-answers-namespaces-2/</a:t>
            </a:r>
            <a:endParaRPr lang="en-US" sz="1600" dirty="0">
              <a:latin typeface="Casper" panose="02000506000000020004" pitchFamily="2" charset="0"/>
              <a:cs typeface="Arial" panose="020B0604020202020204" pitchFamily="34" charset="0"/>
            </a:endParaRPr>
          </a:p>
          <a:p>
            <a:pPr marL="342900" indent="-342900">
              <a:buFont typeface="+mj-lt"/>
              <a:buAutoNum type="arabicPeriod"/>
            </a:pPr>
            <a:endParaRPr lang="en-US"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61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2"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2132</TotalTime>
  <Words>1113</Words>
  <Application>Microsoft Office PowerPoint</Application>
  <PresentationFormat>Widescreen</PresentationFormat>
  <Paragraphs>210</Paragraphs>
  <Slides>18</Slides>
  <Notes>15</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34" baseType="lpstr">
      <vt:lpstr>Arial</vt:lpstr>
      <vt:lpstr>Arial Black</vt:lpstr>
      <vt:lpstr>Arial Unicode MS</vt:lpstr>
      <vt:lpstr>Calibri</vt:lpstr>
      <vt:lpstr>Calibri Light</vt:lpstr>
      <vt:lpstr>Casper</vt:lpstr>
      <vt:lpstr>Casper Bold</vt:lpstr>
      <vt:lpstr>Courier New</vt:lpstr>
      <vt:lpstr>DejaVuSans</vt:lpstr>
      <vt:lpstr>Karla</vt:lpstr>
      <vt:lpstr>Raleway ExtraBold</vt:lpstr>
      <vt:lpstr>Segoe UI</vt:lpstr>
      <vt:lpstr>Times New Roman</vt:lpstr>
      <vt:lpstr>1_Office Theme</vt:lpstr>
      <vt:lpstr>Contents Slide Master</vt:lpstr>
      <vt:lpstr>CorelDRAW</vt:lpstr>
      <vt:lpstr>PowerPoint Presentation</vt:lpstr>
      <vt:lpstr>Basic Data Structure Using C++</vt:lpstr>
      <vt:lpstr>PowerPoint Presentation</vt:lpstr>
      <vt:lpstr> Scheme of Evaluation  </vt:lpstr>
      <vt:lpstr>CONTENTS </vt:lpstr>
      <vt:lpstr>Namespace</vt:lpstr>
      <vt:lpstr>Defining a Namespace </vt:lpstr>
      <vt:lpstr>PowerPoint Presentation</vt:lpstr>
      <vt:lpstr>The using directive</vt:lpstr>
      <vt:lpstr>PowerPoint Presentation</vt:lpstr>
      <vt:lpstr>PowerPoint Presentation</vt:lpstr>
      <vt:lpstr>Frequently Asked question</vt:lpstr>
      <vt:lpstr>PowerPoint Presentation</vt:lpstr>
      <vt:lpstr>Assessment Questions:</vt:lpstr>
      <vt:lpstr>PowerPoint Presentation</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226</cp:revision>
  <dcterms:created xsi:type="dcterms:W3CDTF">2019-01-09T10:33:58Z</dcterms:created>
  <dcterms:modified xsi:type="dcterms:W3CDTF">2023-12-04T10:37:53Z</dcterms:modified>
</cp:coreProperties>
</file>