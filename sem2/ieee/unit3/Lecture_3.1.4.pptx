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84" r:id="rId4"/>
    <p:sldId id="285" r:id="rId5"/>
    <p:sldId id="262" r:id="rId6"/>
    <p:sldId id="263" r:id="rId7"/>
    <p:sldId id="264" r:id="rId8"/>
    <p:sldId id="265" r:id="rId9"/>
    <p:sldId id="266" r:id="rId10"/>
    <p:sldId id="267" r:id="rId11"/>
    <p:sldId id="268" r:id="rId12"/>
    <p:sldId id="269" r:id="rId13"/>
    <p:sldId id="270" r:id="rId14"/>
    <p:sldId id="271" r:id="rId15"/>
    <p:sldId id="272" r:id="rId16"/>
    <p:sldId id="273" r:id="rId17"/>
    <p:sldId id="283" r:id="rId18"/>
    <p:sldId id="274" r:id="rId19"/>
    <p:sldId id="275" r:id="rId20"/>
    <p:sldId id="276" r:id="rId21"/>
    <p:sldId id="277" r:id="rId22"/>
    <p:sldId id="286" r:id="rId23"/>
    <p:sldId id="279" r:id="rId24"/>
    <p:sldId id="280" r:id="rId25"/>
    <p:sldId id="281" r:id="rId26"/>
    <p:sldId id="282" r:id="rId2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p:cViewPr varScale="1">
        <p:scale>
          <a:sx n="69" d="100"/>
          <a:sy n="69" d="100"/>
        </p:scale>
        <p:origin x="756" y="72"/>
      </p:cViewPr>
      <p:guideLst>
        <p:guide orient="horz" pos="2160"/>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D49A88-671D-4AA1-A4FC-807A8CC5F0D6}" type="datetimeFigureOut">
              <a:rPr lang="en-US" smtClean="0"/>
              <a:pPr/>
              <a:t>6/20/2023</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E2E624-B99A-4791-B6CA-4D99CFD8D81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A04CCA-2628-44A3-A38A-E51C3E8CB30C}"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F38CDC-A315-42B1-BABE-F29317F53D4B}"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F38CDC-A315-42B1-BABE-F29317F53D4B}"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7F38CDC-A315-42B1-BABE-F29317F53D4B}"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589" y="1600201"/>
            <a:ext cx="720960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225341" y="1600201"/>
            <a:ext cx="720960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F38CDC-A315-42B1-BABE-F29317F53D4B}" type="datetimeFigureOut">
              <a:rPr lang="en-US" smtClean="0"/>
              <a:pPr/>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969943"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F38CDC-A315-42B1-BABE-F29317F53D4B}" type="datetimeFigureOut">
              <a:rPr lang="en-US" smtClean="0"/>
              <a:pPr/>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F38CDC-A315-42B1-BABE-F29317F53D4B}" type="datetimeFigureOut">
              <a:rPr lang="en-US" smtClean="0"/>
              <a:pPr/>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F38CDC-A315-42B1-BABE-F29317F53D4B}" type="datetimeFigureOut">
              <a:rPr lang="en-US" smtClean="0"/>
              <a:pPr/>
              <a:t>6/20/2023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7F38CDC-A315-42B1-BABE-F29317F53D4B}" type="datetimeFigureOut">
              <a:rPr lang="en-US" smtClean="0"/>
              <a:pPr/>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7F38CDC-A315-42B1-BABE-F29317F53D4B}" type="datetimeFigureOut">
              <a:rPr lang="en-US" smtClean="0"/>
              <a:pPr/>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F38CDC-A315-42B1-BABE-F29317F53D4B}"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0415" y="274639"/>
            <a:ext cx="36545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589" y="274639"/>
            <a:ext cx="1076468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F38CDC-A315-42B1-BABE-F29317F53D4B}"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4EAC84-8796-4B26-B464-6FF59BA8C5A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18962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F38CDC-A315-42B1-BABE-F29317F53D4B}" type="datetimeFigureOut">
              <a:rPr lang="en-US" smtClean="0"/>
              <a:pPr/>
              <a:t>6/20/2023</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4EAC84-8796-4B26-B464-6FF59BA8C5A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emf"/><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png"/><Relationship Id="rId4" Type="http://schemas.openxmlformats.org/officeDocument/2006/relationships/hyperlink" Target="https://en.wikipedia.org/wiki/DC_motor"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e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hyperlink" Target="https://www.electrical4u.com/dc-motor-or-direct-current-motor/"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hyperlink" Target="https://en.wikipedia.org/wiki/DC_moto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hyperlink" Target="https://www.electrical4u.com/construction-of-dc-motor-yoke-poles-armature-field-winding-commutator-brushes-of-dc-motor/"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0.png"/><Relationship Id="rId7" Type="http://schemas.openxmlformats.org/officeDocument/2006/relationships/hyperlink" Target="https://blog.oureducation.in/construction-of-dc-motor/" TargetMode="External"/><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emf"/></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notesSlide" Target="../notesSlides/notesSlide1.xml"/><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hyperlink" Target="https://circuitglobe.com/construction-of-dc-generator.html" TargetMode="External"/><Relationship Id="rId5" Type="http://schemas.openxmlformats.org/officeDocument/2006/relationships/image" Target="../media/image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2.bin"/><Relationship Id="rId5" Type="http://schemas.openxmlformats.org/officeDocument/2006/relationships/hyperlink" Target="https://circuitglobe.com/construction-of-dc-generator.html" TargetMode="Externa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14.bin"/><Relationship Id="rId5" Type="http://schemas.openxmlformats.org/officeDocument/2006/relationships/hyperlink" Target="https://circuitglobe.com/construction-of-dc-generator.html" TargetMode="Externa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20.bin"/></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3" Type="http://schemas.openxmlformats.org/officeDocument/2006/relationships/hyperlink" Target="https://www.usna.edu/EE/ee301/supplements/Rotating%20DC%20Motors%20Supplement%20I.pdf" TargetMode="Externa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22.bin"/><Relationship Id="rId5" Type="http://schemas.openxmlformats.org/officeDocument/2006/relationships/image" Target="../media/image4.png"/><Relationship Id="rId4" Type="http://schemas.openxmlformats.org/officeDocument/2006/relationships/hyperlink" Target="https://www.usna.edu/EE/ee301/supplements/Linear%20Motors%20Supplement.pdf"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slideshare.net/saaz1425/dc-motor-23906628" TargetMode="External"/><Relationship Id="rId13" Type="http://schemas.openxmlformats.org/officeDocument/2006/relationships/oleObject" Target="../embeddings/oleObject23.bin"/><Relationship Id="rId3" Type="http://schemas.openxmlformats.org/officeDocument/2006/relationships/hyperlink" Target="http://www.freeengineeringbooks.com/Electrical/DC-Motors-Books.php" TargetMode="External"/><Relationship Id="rId7" Type="http://schemas.openxmlformats.org/officeDocument/2006/relationships/hyperlink" Target="https://nptel.ac.in/content/storage2/courses/108105053/pdf/L-39(TB)(ET)%20((EE)NPTEL).pdf" TargetMode="Externa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hyperlink" Target="https://www.electrical4u.com/dc-motor-or-direct-current-motor/" TargetMode="External"/><Relationship Id="rId11" Type="http://schemas.openxmlformats.org/officeDocument/2006/relationships/hyperlink" Target="https://www.youtube.com/watch?v=xsWNGcZ-jds" TargetMode="External"/><Relationship Id="rId5" Type="http://schemas.openxmlformats.org/officeDocument/2006/relationships/hyperlink" Target="https://en.wikipedia.org/wiki/DC_motor" TargetMode="External"/><Relationship Id="rId10" Type="http://schemas.openxmlformats.org/officeDocument/2006/relationships/hyperlink" Target="https://www.youtube.com/watch?v=ASnDSEeWADk" TargetMode="External"/><Relationship Id="rId4" Type="http://schemas.openxmlformats.org/officeDocument/2006/relationships/hyperlink" Target="http://pemclab.cn.nctu.edu.tw/W3lib/books/ElectroCraft85/ch2.dcmotor.pdf" TargetMode="External"/><Relationship Id="rId9" Type="http://schemas.openxmlformats.org/officeDocument/2006/relationships/hyperlink" Target="https://www.youtube.com/watch?v=6MnmcMYbsfQ" TargetMode="External"/><Relationship Id="rId14" Type="http://schemas.openxmlformats.org/officeDocument/2006/relationships/image" Target="../media/image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2.xml"/><Relationship Id="rId1" Type="http://schemas.openxmlformats.org/officeDocument/2006/relationships/vmlDrawing" Target="../drawings/vmlDrawing23.vml"/><Relationship Id="rId6" Type="http://schemas.openxmlformats.org/officeDocument/2006/relationships/oleObject" Target="../embeddings/oleObject25.bin"/><Relationship Id="rId5" Type="http://schemas.openxmlformats.org/officeDocument/2006/relationships/hyperlink" Target="mailto:akhilnigam.eee@cumail.in"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0" y="5427343"/>
            <a:ext cx="12193244"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19" y="5901987"/>
            <a:ext cx="45707"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0718" y="6508752"/>
            <a:ext cx="2742486"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4382" y="5939880"/>
            <a:ext cx="1291436"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677" y="4023363"/>
          <a:ext cx="2630457" cy="2507676"/>
        </p:xfrm>
        <a:graphic>
          <a:graphicData uri="http://schemas.openxmlformats.org/presentationml/2006/ole">
            <mc:AlternateContent xmlns:mc="http://schemas.openxmlformats.org/markup-compatibility/2006">
              <mc:Choice xmlns:v="urn:schemas-microsoft-com:vml" Requires="v">
                <p:oleObj spid="_x0000_s1052"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677" y="4023363"/>
                        <a:ext cx="2630457"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3603" y="-64960"/>
            <a:ext cx="514522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sp>
        <p:nvSpPr>
          <p:cNvPr id="45" name="Rectangle 44"/>
          <p:cNvSpPr/>
          <p:nvPr/>
        </p:nvSpPr>
        <p:spPr>
          <a:xfrm>
            <a:off x="2123522" y="2025527"/>
            <a:ext cx="6827647"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2" y="24501"/>
            <a:ext cx="3858748" cy="1538254"/>
          </a:xfrm>
          <a:prstGeom prst="rect">
            <a:avLst/>
          </a:prstGeom>
        </p:spPr>
      </p:pic>
      <p:sp>
        <p:nvSpPr>
          <p:cNvPr id="43" name="Right Triangle 42"/>
          <p:cNvSpPr/>
          <p:nvPr/>
        </p:nvSpPr>
        <p:spPr>
          <a:xfrm rot="10800000" flipV="1">
            <a:off x="9827238" y="5334001"/>
            <a:ext cx="2366006"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79566" y="6019562"/>
            <a:ext cx="4927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3989" y="6043646"/>
            <a:ext cx="45707"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p:cNvSpPr txBox="1">
            <a:spLocks noChangeArrowheads="1"/>
          </p:cNvSpPr>
          <p:nvPr/>
        </p:nvSpPr>
        <p:spPr bwMode="auto">
          <a:xfrm>
            <a:off x="0" y="1600200"/>
            <a:ext cx="11811000" cy="664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UNIVERSITY INSTITUTE </a:t>
            </a:r>
            <a:r>
              <a:rPr lang="en-US" sz="3200" b="1" dirty="0">
                <a:latin typeface="Arial Black" panose="020B0A04020102020204" pitchFamily="34" charset="0"/>
                <a:ea typeface="Karla" pitchFamily="2" charset="0"/>
                <a:cs typeface="Karla" pitchFamily="2" charset="0"/>
              </a:rPr>
              <a:t>ENGINEER</a:t>
            </a:r>
            <a:r>
              <a:rPr lang="en-US" sz="3600" b="1" dirty="0">
                <a:latin typeface="Arial Black" panose="020B0A04020102020204" pitchFamily="34" charset="0"/>
                <a:ea typeface="Karla" pitchFamily="2" charset="0"/>
                <a:cs typeface="Karla" pitchFamily="2" charset="0"/>
              </a:rPr>
              <a:t>ING </a:t>
            </a:r>
          </a:p>
          <a:p>
            <a:pPr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ACADEMIC </a:t>
            </a:r>
            <a:r>
              <a:rPr lang="en-US" sz="3600" b="1" dirty="0" smtClean="0">
                <a:latin typeface="Arial Black" panose="020B0A04020102020204" pitchFamily="34" charset="0"/>
                <a:ea typeface="Karla" pitchFamily="2" charset="0"/>
                <a:cs typeface="Karla" pitchFamily="2" charset="0"/>
              </a:rPr>
              <a:t>UNIT-1 </a:t>
            </a:r>
            <a:endParaRPr lang="en-US" sz="3600" b="1" dirty="0">
              <a:latin typeface="Arial Black" panose="020B0A04020102020204" pitchFamily="34" charset="0"/>
              <a:ea typeface="Karla" pitchFamily="2" charset="0"/>
              <a:cs typeface="Karla" pitchFamily="2" charset="0"/>
            </a:endParaRPr>
          </a:p>
          <a:p>
            <a:pPr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000" dirty="0">
                <a:latin typeface="Times New Roman" panose="02020603050405020304" pitchFamily="18" charset="0"/>
                <a:ea typeface="Calibri" panose="020F0502020204030204" pitchFamily="34" charset="0"/>
                <a:cs typeface="Times New Roman" panose="02020603050405020304" pitchFamily="18" charset="0"/>
              </a:rPr>
              <a:t>of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Engineering) </a:t>
            </a:r>
          </a:p>
          <a:p>
            <a:pPr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SUBJECT NAME: </a:t>
            </a:r>
            <a:r>
              <a:rPr lang="en-US" sz="2000" dirty="0">
                <a:latin typeface="Times New Roman" panose="02020603050405020304" pitchFamily="18" charset="0"/>
                <a:ea typeface="Calibri" panose="020F0502020204030204" pitchFamily="34" charset="0"/>
                <a:cs typeface="Times New Roman" panose="02020603050405020304" pitchFamily="18" charset="0"/>
              </a:rPr>
              <a:t>INTRODUCTION TO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ELECTRICAL &amp; ELECTRONICS ENGINEERING</a:t>
            </a:r>
          </a:p>
          <a:p>
            <a:pPr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SUBJECT CODE :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23ECH-101</a:t>
            </a:r>
            <a:endParaRPr lang="en-US" sz="20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By</a:t>
            </a:r>
          </a:p>
          <a:p>
            <a:pPr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Unit-3, Chapter-1</a:t>
            </a:r>
          </a:p>
          <a:p>
            <a:pPr lvl="0"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Lecture No. 3.1.4</a:t>
            </a:r>
          </a:p>
          <a:p>
            <a:pPr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 DC  MACHINES </a:t>
            </a:r>
          </a:p>
          <a:p>
            <a:pPr lvl="0" algn="ctr" defTabSz="622300">
              <a:lnSpc>
                <a:spcPct val="90000"/>
              </a:lnSpc>
              <a:spcBef>
                <a:spcPct val="0"/>
              </a:spcBef>
              <a:spcAft>
                <a:spcPct val="35000"/>
              </a:spcAft>
            </a:pPr>
            <a:endPar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grpSp>
        <p:nvGrpSpPr>
          <p:cNvPr id="15" name="Group 28"/>
          <p:cNvGrpSpPr/>
          <p:nvPr/>
        </p:nvGrpSpPr>
        <p:grpSpPr>
          <a:xfrm>
            <a:off x="11961812" y="5791200"/>
            <a:ext cx="227013" cy="1066800"/>
            <a:chOff x="83821" y="0"/>
            <a:chExt cx="219636" cy="903079"/>
          </a:xfrm>
        </p:grpSpPr>
        <p:sp>
          <p:nvSpPr>
            <p:cNvPr id="16" name="Rectangle 15"/>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Object 18">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053" name="CorelDRAW" r:id="rId7" imgW="2169000" imgH="2169360" progId="">
                    <p:embed/>
                  </p:oleObj>
                </mc:Choice>
                <mc:Fallback>
                  <p:oleObj name="CorelDRAW" r:id="rId7" imgW="2169000" imgH="216936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6898" y="6356351"/>
            <a:ext cx="2742486"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455612" y="365272"/>
            <a:ext cx="563880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lnSpc>
                <a:spcPct val="90000"/>
              </a:lnSpc>
            </a:pPr>
            <a:r>
              <a:rPr lang="en-US" sz="4400" dirty="0" smtClean="0">
                <a:latin typeface="Casper"/>
              </a:rPr>
              <a:t>LECTURE </a:t>
            </a:r>
            <a:br>
              <a:rPr lang="en-US" sz="4400" dirty="0" smtClean="0">
                <a:latin typeface="Casper"/>
              </a:rPr>
            </a:br>
            <a:r>
              <a:rPr lang="en-US" sz="4400" dirty="0" smtClean="0">
                <a:latin typeface="Casper"/>
              </a:rPr>
              <a:t>OBJECTIVES</a:t>
            </a:r>
          </a:p>
        </p:txBody>
      </p:sp>
      <p:sp>
        <p:nvSpPr>
          <p:cNvPr id="10" name="Oval 9"/>
          <p:cNvSpPr/>
          <p:nvPr/>
        </p:nvSpPr>
        <p:spPr>
          <a:xfrm>
            <a:off x="11214355" y="6324601"/>
            <a:ext cx="444384"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1091665859"/>
              </p:ext>
            </p:extLst>
          </p:nvPr>
        </p:nvGraphicFramePr>
        <p:xfrm>
          <a:off x="281935" y="1882797"/>
          <a:ext cx="6803078" cy="4670403"/>
        </p:xfrm>
        <a:graphic>
          <a:graphicData uri="http://schemas.openxmlformats.org/drawingml/2006/table">
            <a:tbl>
              <a:tblPr firstRow="1" firstCol="1" bandRow="1"/>
              <a:tblGrid>
                <a:gridCol w="579501">
                  <a:extLst>
                    <a:ext uri="{9D8B030D-6E8A-4147-A177-3AD203B41FA5}">
                      <a16:colId xmlns:a16="http://schemas.microsoft.com/office/drawing/2014/main" val="20000"/>
                    </a:ext>
                  </a:extLst>
                </a:gridCol>
                <a:gridCol w="6223577">
                  <a:extLst>
                    <a:ext uri="{9D8B030D-6E8A-4147-A177-3AD203B41FA5}">
                      <a16:colId xmlns:a16="http://schemas.microsoft.com/office/drawing/2014/main" val="20001"/>
                    </a:ext>
                  </a:extLst>
                </a:gridCol>
              </a:tblGrid>
              <a:tr h="715940">
                <a:tc>
                  <a:txBody>
                    <a:bodyPr/>
                    <a:lstStyle/>
                    <a:p>
                      <a:pPr marL="0" algn="ctr" defTabSz="914400" rtl="0" eaLnBrk="1" fontAlgn="ctr" latinLnBrk="0" hangingPunct="1"/>
                      <a:r>
                        <a:rPr lang="en-US" sz="1200" b="1" i="0" kern="1200" dirty="0" smtClean="0">
                          <a:solidFill>
                            <a:schemeClr val="tx1"/>
                          </a:solidFill>
                          <a:latin typeface="+mn-lt"/>
                          <a:ea typeface="+mn-ea"/>
                          <a:cs typeface="+mn-cs"/>
                        </a:rPr>
                        <a:t>S. No.</a:t>
                      </a:r>
                      <a:endParaRPr lang="en-US" sz="1200" b="1"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1" i="0" kern="1200" dirty="0" smtClean="0">
                          <a:solidFill>
                            <a:schemeClr val="tx1"/>
                          </a:solidFill>
                          <a:latin typeface="+mn-lt"/>
                          <a:ea typeface="+mn-ea"/>
                          <a:cs typeface="+mn-cs"/>
                        </a:rPr>
                        <a:t>Objectives</a:t>
                      </a:r>
                      <a:endParaRPr lang="en-US" sz="1200" b="1"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65541">
                <a:tc>
                  <a:txBody>
                    <a:bodyPr/>
                    <a:lstStyle/>
                    <a:p>
                      <a:pPr marL="0" algn="ctr" defTabSz="914400" rtl="0" eaLnBrk="1" fontAlgn="ctr" latinLnBrk="0" hangingPunct="1"/>
                      <a:r>
                        <a:rPr lang="en-US" sz="1200" b="0" i="0" kern="1200" dirty="0" smtClean="0">
                          <a:solidFill>
                            <a:schemeClr val="tx1"/>
                          </a:solidFill>
                          <a:latin typeface="+mn-lt"/>
                          <a:ea typeface="+mn-ea"/>
                          <a:cs typeface="+mn-cs"/>
                        </a:rPr>
                        <a:t>1</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kern="1200" dirty="0" smtClean="0">
                          <a:solidFill>
                            <a:schemeClr val="tx1"/>
                          </a:solidFill>
                          <a:latin typeface="+mn-lt"/>
                          <a:ea typeface="+mn-ea"/>
                          <a:cs typeface="+mn-cs"/>
                        </a:rPr>
                        <a:t>To make student aware about the basic  construction of DC Machine.</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40338">
                <a:tc>
                  <a:txBody>
                    <a:bodyPr/>
                    <a:lstStyle/>
                    <a:p>
                      <a:pPr marL="0" algn="ctr" defTabSz="914400" rtl="0" eaLnBrk="1" fontAlgn="ctr" latinLnBrk="0" hangingPunct="1"/>
                      <a:r>
                        <a:rPr lang="en-US" sz="1200" b="0" i="0" kern="1200" dirty="0" smtClean="0">
                          <a:solidFill>
                            <a:schemeClr val="tx1"/>
                          </a:solidFill>
                          <a:latin typeface="+mn-lt"/>
                          <a:ea typeface="+mn-ea"/>
                          <a:cs typeface="+mn-cs"/>
                        </a:rPr>
                        <a:t>2</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kern="1200" dirty="0" smtClean="0">
                          <a:solidFill>
                            <a:schemeClr val="tx1"/>
                          </a:solidFill>
                          <a:latin typeface="+mn-lt"/>
                          <a:ea typeface="+mn-ea"/>
                          <a:cs typeface="+mn-cs"/>
                        </a:rPr>
                        <a:t>To aware about the working principal of  DC Machine.</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67908">
                <a:tc>
                  <a:txBody>
                    <a:bodyPr/>
                    <a:lstStyle/>
                    <a:p>
                      <a:pPr marL="0" algn="ctr" defTabSz="914400" rtl="0" eaLnBrk="1" fontAlgn="ctr" latinLnBrk="0" hangingPunct="1"/>
                      <a:r>
                        <a:rPr lang="en-US" sz="1200" b="0" i="0" kern="1200" dirty="0" smtClean="0">
                          <a:solidFill>
                            <a:schemeClr val="tx1"/>
                          </a:solidFill>
                          <a:latin typeface="+mn-lt"/>
                          <a:ea typeface="+mn-ea"/>
                          <a:cs typeface="+mn-cs"/>
                        </a:rPr>
                        <a:t>3</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kern="1200" dirty="0" smtClean="0">
                          <a:solidFill>
                            <a:schemeClr val="tx1"/>
                          </a:solidFill>
                          <a:latin typeface="+mn-lt"/>
                          <a:ea typeface="+mn-ea"/>
                          <a:cs typeface="+mn-cs"/>
                        </a:rPr>
                        <a:t>To provide knowledge about the load characteristics of DC machines.</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40338">
                <a:tc>
                  <a:txBody>
                    <a:bodyPr/>
                    <a:lstStyle/>
                    <a:p>
                      <a:pPr marL="0" algn="ctr" defTabSz="914400" rtl="0" eaLnBrk="1" fontAlgn="ctr" latinLnBrk="0" hangingPunct="1"/>
                      <a:r>
                        <a:rPr lang="en-US" sz="1200" b="0" i="0" kern="1200" dirty="0" smtClean="0">
                          <a:solidFill>
                            <a:schemeClr val="tx1"/>
                          </a:solidFill>
                          <a:latin typeface="+mn-lt"/>
                          <a:ea typeface="+mn-ea"/>
                          <a:cs typeface="+mn-cs"/>
                        </a:rPr>
                        <a:t>4</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kern="1200" dirty="0" smtClean="0">
                          <a:solidFill>
                            <a:schemeClr val="tx1"/>
                          </a:solidFill>
                          <a:latin typeface="+mn-lt"/>
                          <a:ea typeface="+mn-ea"/>
                          <a:cs typeface="+mn-cs"/>
                        </a:rPr>
                        <a:t>To make familiar with speed control of DC Machines.</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40338">
                <a:tc>
                  <a:txBody>
                    <a:bodyPr/>
                    <a:lstStyle/>
                    <a:p>
                      <a:pPr marL="0" algn="ctr" defTabSz="914400" rtl="0" eaLnBrk="1" fontAlgn="ctr" latinLnBrk="0" hangingPunct="1"/>
                      <a:r>
                        <a:rPr lang="en-US" sz="1200" b="0" i="0" kern="1200" dirty="0" smtClean="0">
                          <a:solidFill>
                            <a:schemeClr val="tx1"/>
                          </a:solidFill>
                          <a:latin typeface="+mn-lt"/>
                          <a:ea typeface="+mn-ea"/>
                          <a:cs typeface="+mn-cs"/>
                        </a:rPr>
                        <a:t>5</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latinLnBrk="0" hangingPunct="1"/>
                      <a:r>
                        <a:rPr lang="en-US" sz="1200" b="0" i="0" kern="1200" dirty="0" smtClean="0">
                          <a:solidFill>
                            <a:schemeClr val="tx1"/>
                          </a:solidFill>
                          <a:latin typeface="+mn-lt"/>
                          <a:ea typeface="+mn-ea"/>
                          <a:cs typeface="+mn-cs"/>
                        </a:rPr>
                        <a:t>To give knowledge about EMF equation of DC Machine.</a:t>
                      </a:r>
                      <a:endParaRPr lang="en-US" sz="1200" b="0" i="0" kern="1200" dirty="0">
                        <a:solidFill>
                          <a:schemeClr val="tx1"/>
                        </a:solidFill>
                        <a:latin typeface="+mn-lt"/>
                        <a:ea typeface="+mn-ea"/>
                        <a:cs typeface="+mn-cs"/>
                      </a:endParaRPr>
                    </a:p>
                  </a:txBody>
                  <a:tcPr marL="7618" marR="7618"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54274" name="Picture 2" descr="C:\Users\Hemupooja\Desktop\Scrap Material\Motor.jpg"/>
          <p:cNvPicPr>
            <a:picLocks noChangeAspect="1" noChangeArrowheads="1"/>
          </p:cNvPicPr>
          <p:nvPr/>
        </p:nvPicPr>
        <p:blipFill>
          <a:blip r:embed="rId3" cstate="print"/>
          <a:srcRect/>
          <a:stretch>
            <a:fillRect/>
          </a:stretch>
        </p:blipFill>
        <p:spPr bwMode="auto">
          <a:xfrm>
            <a:off x="7161212" y="609600"/>
            <a:ext cx="4876800" cy="5562600"/>
          </a:xfrm>
          <a:prstGeom prst="rect">
            <a:avLst/>
          </a:prstGeom>
          <a:noFill/>
          <a:ln>
            <a:solidFill>
              <a:schemeClr val="tx1"/>
            </a:solidFill>
          </a:ln>
        </p:spPr>
      </p:pic>
      <p:sp>
        <p:nvSpPr>
          <p:cNvPr id="13" name="Rectangle 12"/>
          <p:cNvSpPr/>
          <p:nvPr/>
        </p:nvSpPr>
        <p:spPr>
          <a:xfrm>
            <a:off x="7313612" y="6172200"/>
            <a:ext cx="3981026" cy="369332"/>
          </a:xfrm>
          <a:prstGeom prst="rect">
            <a:avLst/>
          </a:prstGeom>
        </p:spPr>
        <p:txBody>
          <a:bodyPr wrap="none">
            <a:spAutoFit/>
          </a:bodyPr>
          <a:lstStyle/>
          <a:p>
            <a:r>
              <a:rPr lang="en-US" dirty="0" smtClean="0">
                <a:hlinkClick r:id="rId4"/>
              </a:rPr>
              <a:t>https://en.wikipedia.org/wiki/DC_motor</a:t>
            </a:r>
            <a:endParaRPr lang="en-US" dirty="0"/>
          </a:p>
        </p:txBody>
      </p:sp>
      <p:pic>
        <p:nvPicPr>
          <p:cNvPr id="96257" name="Picture 1" descr="D:\study materal\CU data\BEEE\CU logo.png"/>
          <p:cNvPicPr>
            <a:picLocks noChangeAspect="1" noChangeArrowheads="1"/>
          </p:cNvPicPr>
          <p:nvPr/>
        </p:nvPicPr>
        <p:blipFill>
          <a:blip r:embed="rId5" cstate="print"/>
          <a:srcRect/>
          <a:stretch>
            <a:fillRect/>
          </a:stretch>
        </p:blipFill>
        <p:spPr bwMode="auto">
          <a:xfrm>
            <a:off x="0" y="0"/>
            <a:ext cx="676275" cy="1038225"/>
          </a:xfrm>
          <a:prstGeom prst="rect">
            <a:avLst/>
          </a:prstGeom>
          <a:noFill/>
        </p:spPr>
      </p:pic>
      <p:grpSp>
        <p:nvGrpSpPr>
          <p:cNvPr id="9" name="Group 28"/>
          <p:cNvGrpSpPr/>
          <p:nvPr/>
        </p:nvGrpSpPr>
        <p:grpSpPr>
          <a:xfrm>
            <a:off x="11961812" y="5791200"/>
            <a:ext cx="227013" cy="1066800"/>
            <a:chOff x="83821" y="0"/>
            <a:chExt cx="219636" cy="903079"/>
          </a:xfrm>
        </p:grpSpPr>
        <p:sp>
          <p:nvSpPr>
            <p:cNvPr id="11" name="Rectangle 10"/>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Object 15">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40974" name="CorelDRAW" r:id="rId6" imgW="2169000" imgH="2169360" progId="">
                    <p:embed/>
                  </p:oleObj>
                </mc:Choice>
                <mc:Fallback>
                  <p:oleObj name="CorelDRAW" r:id="rId6" imgW="2169000" imgH="2169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6898" y="6356351"/>
            <a:ext cx="2742486"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800" y="470527"/>
            <a:ext cx="4455406"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Objectives</a:t>
            </a:r>
            <a:endParaRPr lang="en-US" sz="4400" b="1" dirty="0">
              <a:latin typeface="Casper"/>
            </a:endParaRPr>
          </a:p>
        </p:txBody>
      </p:sp>
      <p:sp>
        <p:nvSpPr>
          <p:cNvPr id="10" name="Oval 9"/>
          <p:cNvSpPr/>
          <p:nvPr/>
        </p:nvSpPr>
        <p:spPr>
          <a:xfrm>
            <a:off x="11214355" y="6324601"/>
            <a:ext cx="444384"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7091283" y="5251269"/>
            <a:ext cx="4427156" cy="609781"/>
          </a:xfrm>
        </p:spPr>
        <p:txBody>
          <a:bodyPr>
            <a:normAutofit lnSpcReduction="10000"/>
          </a:bodyPr>
          <a:lstStyle/>
          <a:p>
            <a:pPr algn="ctr">
              <a:buNone/>
            </a:pPr>
            <a:r>
              <a:rPr lang="en-US" sz="1800" dirty="0" smtClean="0">
                <a:hlinkClick r:id="rId2"/>
              </a:rPr>
              <a:t>https://library.automationdirect.com/basic-electrical-theory/</a:t>
            </a:r>
            <a:endParaRPr lang="en-US" sz="1800" dirty="0">
              <a:solidFill>
                <a:srgbClr val="00B0F0"/>
              </a:solidFill>
            </a:endParaRPr>
          </a:p>
        </p:txBody>
      </p:sp>
      <p:pic>
        <p:nvPicPr>
          <p:cNvPr id="9" name="Picture 1" descr="C:\Users\Administrator\Desktop\circuit.png"/>
          <p:cNvPicPr>
            <a:picLocks noChangeAspect="1" noChangeArrowheads="1"/>
          </p:cNvPicPr>
          <p:nvPr/>
        </p:nvPicPr>
        <p:blipFill>
          <a:blip r:embed="rId3" cstate="print"/>
          <a:srcRect/>
          <a:stretch>
            <a:fillRect/>
          </a:stretch>
        </p:blipFill>
        <p:spPr bwMode="auto">
          <a:xfrm>
            <a:off x="7120943" y="1789611"/>
            <a:ext cx="4687324"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2575292872"/>
              </p:ext>
            </p:extLst>
          </p:nvPr>
        </p:nvGraphicFramePr>
        <p:xfrm>
          <a:off x="609600" y="2270168"/>
          <a:ext cx="6192981" cy="3590882"/>
        </p:xfrm>
        <a:graphic>
          <a:graphicData uri="http://schemas.openxmlformats.org/drawingml/2006/table">
            <a:tbl>
              <a:tblPr firstRow="1" firstCol="1" bandRow="1"/>
              <a:tblGrid>
                <a:gridCol w="527532">
                  <a:extLst>
                    <a:ext uri="{9D8B030D-6E8A-4147-A177-3AD203B41FA5}">
                      <a16:colId xmlns:a16="http://schemas.microsoft.com/office/drawing/2014/main" val="1802701976"/>
                    </a:ext>
                  </a:extLst>
                </a:gridCol>
                <a:gridCol w="5665449">
                  <a:extLst>
                    <a:ext uri="{9D8B030D-6E8A-4147-A177-3AD203B41FA5}">
                      <a16:colId xmlns:a16="http://schemas.microsoft.com/office/drawing/2014/main" val="3097224918"/>
                    </a:ext>
                  </a:extLst>
                </a:gridCol>
              </a:tblGrid>
              <a:tr h="673655">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6058137"/>
                  </a:ext>
                </a:extLst>
              </a:tr>
              <a:tr h="972410">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9723479"/>
                  </a:ext>
                </a:extLst>
              </a:tr>
              <a:tr h="1944817">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4296251"/>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6898" y="6356351"/>
            <a:ext cx="2742486"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800" y="470527"/>
            <a:ext cx="4455406"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Outcomes</a:t>
            </a:r>
            <a:endParaRPr lang="en-US" sz="4400" b="1" dirty="0">
              <a:latin typeface="Casper"/>
            </a:endParaRPr>
          </a:p>
        </p:txBody>
      </p:sp>
      <p:sp>
        <p:nvSpPr>
          <p:cNvPr id="10" name="Oval 9"/>
          <p:cNvSpPr/>
          <p:nvPr/>
        </p:nvSpPr>
        <p:spPr>
          <a:xfrm>
            <a:off x="11214355" y="6324601"/>
            <a:ext cx="444384"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608086" y="5329647"/>
            <a:ext cx="4914118" cy="518341"/>
          </a:xfrm>
        </p:spPr>
        <p:txBody>
          <a:bodyPr>
            <a:normAutofit fontScale="85000" lnSpcReduction="20000"/>
          </a:bodyPr>
          <a:lstStyle/>
          <a:p>
            <a:pPr algn="ctr">
              <a:buNone/>
            </a:pPr>
            <a:r>
              <a:rPr lang="en-US" sz="2000" dirty="0" smtClean="0">
                <a:hlinkClick r:id="rId2"/>
              </a:rPr>
              <a:t>https://library.automationdirect.com/basic-electrical-theory/</a:t>
            </a:r>
            <a:endParaRPr lang="en-US" sz="2000" dirty="0">
              <a:solidFill>
                <a:srgbClr val="00B0F0"/>
              </a:solidFill>
            </a:endParaRPr>
          </a:p>
        </p:txBody>
      </p:sp>
      <p:pic>
        <p:nvPicPr>
          <p:cNvPr id="11" name="Picture 1" descr="C:\Users\Administrator\Desktop\circuit.png"/>
          <p:cNvPicPr>
            <a:picLocks noChangeAspect="1" noChangeArrowheads="1"/>
          </p:cNvPicPr>
          <p:nvPr/>
        </p:nvPicPr>
        <p:blipFill>
          <a:blip r:embed="rId3" cstate="print"/>
          <a:srcRect/>
          <a:stretch>
            <a:fillRect/>
          </a:stretch>
        </p:blipFill>
        <p:spPr bwMode="auto">
          <a:xfrm>
            <a:off x="6729159" y="1763486"/>
            <a:ext cx="4687324"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1265563989"/>
              </p:ext>
            </p:extLst>
          </p:nvPr>
        </p:nvGraphicFramePr>
        <p:xfrm>
          <a:off x="609600" y="1941655"/>
          <a:ext cx="5971310" cy="4382947"/>
        </p:xfrm>
        <a:graphic>
          <a:graphicData uri="http://schemas.openxmlformats.org/drawingml/2006/table">
            <a:tbl>
              <a:tblPr firstRow="1" firstCol="1" bandRow="1"/>
              <a:tblGrid>
                <a:gridCol w="497083">
                  <a:extLst>
                    <a:ext uri="{9D8B030D-6E8A-4147-A177-3AD203B41FA5}">
                      <a16:colId xmlns:a16="http://schemas.microsoft.com/office/drawing/2014/main" val="2680944829"/>
                    </a:ext>
                  </a:extLst>
                </a:gridCol>
                <a:gridCol w="4677009">
                  <a:extLst>
                    <a:ext uri="{9D8B030D-6E8A-4147-A177-3AD203B41FA5}">
                      <a16:colId xmlns:a16="http://schemas.microsoft.com/office/drawing/2014/main" val="1338317805"/>
                    </a:ext>
                  </a:extLst>
                </a:gridCol>
                <a:gridCol w="797218">
                  <a:extLst>
                    <a:ext uri="{9D8B030D-6E8A-4147-A177-3AD203B41FA5}">
                      <a16:colId xmlns:a16="http://schemas.microsoft.com/office/drawing/2014/main" val="957103262"/>
                    </a:ext>
                  </a:extLst>
                </a:gridCol>
              </a:tblGrid>
              <a:tr h="600798">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4220414"/>
                  </a:ext>
                </a:extLst>
              </a:tr>
              <a:tr h="680940">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2044367"/>
                  </a:ext>
                </a:extLst>
              </a:tr>
              <a:tr h="88247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9856933"/>
                  </a:ext>
                </a:extLst>
              </a:tr>
              <a:tr h="680940">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8361435"/>
                  </a:ext>
                </a:extLst>
              </a:tr>
              <a:tr h="88247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9412061"/>
                  </a:ext>
                </a:extLst>
              </a:tr>
              <a:tr h="655323">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CO5</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5758523"/>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150" y="228600"/>
            <a:ext cx="11351062" cy="1279527"/>
          </a:xfrm>
          <a:ln>
            <a:solidFill>
              <a:schemeClr val="tx1"/>
            </a:solidFill>
          </a:ln>
        </p:spPr>
        <p:txBody>
          <a:bodyPr>
            <a:normAutofit/>
          </a:bodyPr>
          <a:lstStyle/>
          <a:p>
            <a:r>
              <a:rPr lang="en-US" b="1" dirty="0" smtClean="0">
                <a:latin typeface="Calibri Light"/>
                <a:cs typeface="Arial" panose="020B0604020202020204" pitchFamily="34" charset="0"/>
              </a:rPr>
              <a:t>CONTENTS   </a:t>
            </a:r>
            <a:endParaRPr lang="en-US" b="1" dirty="0">
              <a:latin typeface="Calibri Light"/>
              <a:cs typeface="Arial" panose="020B0604020202020204" pitchFamily="34" charset="0"/>
            </a:endParaRPr>
          </a:p>
        </p:txBody>
      </p:sp>
      <p:sp>
        <p:nvSpPr>
          <p:cNvPr id="3" name="Content Placeholder 2"/>
          <p:cNvSpPr>
            <a:spLocks noGrp="1"/>
          </p:cNvSpPr>
          <p:nvPr>
            <p:ph idx="1"/>
          </p:nvPr>
        </p:nvSpPr>
        <p:spPr>
          <a:xfrm>
            <a:off x="760412" y="1676400"/>
            <a:ext cx="11050587" cy="4800600"/>
          </a:xfrm>
          <a:ln>
            <a:solidFill>
              <a:schemeClr val="tx1"/>
            </a:solidFill>
          </a:ln>
        </p:spPr>
        <p:txBody>
          <a:bodyPr>
            <a:normAutofit/>
          </a:bodyPr>
          <a:lstStyle/>
          <a:p>
            <a:pPr marL="342900" lvl="0" indent="-342900">
              <a:lnSpc>
                <a:spcPct val="100000"/>
              </a:lnSpc>
              <a:spcBef>
                <a:spcPts val="0"/>
              </a:spcBef>
              <a:buFont typeface="Wingdings" pitchFamily="2" charset="2"/>
              <a:buChar char="v"/>
            </a:pPr>
            <a:r>
              <a:rPr lang="en-IN" sz="2800" dirty="0" smtClean="0">
                <a:solidFill>
                  <a:prstClr val="black"/>
                </a:solidFill>
                <a:cs typeface="Times New Roman" pitchFamily="18" charset="0"/>
              </a:rPr>
              <a:t>Introduction of  DC Motor</a:t>
            </a:r>
          </a:p>
          <a:p>
            <a:pPr lvl="0">
              <a:spcBef>
                <a:spcPts val="0"/>
              </a:spcBef>
              <a:buFont typeface="Wingdings" pitchFamily="2" charset="2"/>
              <a:buChar char="v"/>
            </a:pPr>
            <a:r>
              <a:rPr lang="en-US" sz="2800" dirty="0" smtClean="0"/>
              <a:t>Constructional Parts of DC Motor</a:t>
            </a:r>
            <a:r>
              <a:rPr lang="en-IN" sz="2800" dirty="0" smtClean="0">
                <a:solidFill>
                  <a:prstClr val="black"/>
                </a:solidFill>
                <a:cs typeface="Times New Roman" pitchFamily="18" charset="0"/>
              </a:rPr>
              <a:t>.</a:t>
            </a:r>
          </a:p>
          <a:p>
            <a:pPr lvl="0">
              <a:spcBef>
                <a:spcPts val="0"/>
              </a:spcBef>
              <a:buFont typeface="Wingdings" pitchFamily="2" charset="2"/>
              <a:buChar char="v"/>
            </a:pPr>
            <a:r>
              <a:rPr lang="en-IN" sz="2800" dirty="0">
                <a:solidFill>
                  <a:prstClr val="black"/>
                </a:solidFill>
                <a:cs typeface="Times New Roman" pitchFamily="18" charset="0"/>
              </a:rPr>
              <a:t> </a:t>
            </a:r>
            <a:r>
              <a:rPr lang="en-IN" sz="2800" dirty="0" smtClean="0">
                <a:solidFill>
                  <a:prstClr val="black"/>
                </a:solidFill>
                <a:cs typeface="Times New Roman" pitchFamily="18" charset="0"/>
              </a:rPr>
              <a:t>Function of Commutator in DC Motor</a:t>
            </a:r>
          </a:p>
          <a:p>
            <a:pPr lvl="0">
              <a:spcBef>
                <a:spcPts val="0"/>
              </a:spcBef>
              <a:buFont typeface="Wingdings" pitchFamily="2" charset="2"/>
              <a:buChar char="v"/>
            </a:pPr>
            <a:r>
              <a:rPr lang="en-IN" sz="2800" dirty="0">
                <a:solidFill>
                  <a:prstClr val="black"/>
                </a:solidFill>
                <a:cs typeface="Times New Roman" pitchFamily="18" charset="0"/>
              </a:rPr>
              <a:t> </a:t>
            </a:r>
            <a:r>
              <a:rPr lang="en-IN" sz="2800" dirty="0" smtClean="0">
                <a:solidFill>
                  <a:prstClr val="black"/>
                </a:solidFill>
                <a:cs typeface="Times New Roman" pitchFamily="18" charset="0"/>
              </a:rPr>
              <a:t>Function of Armature Winding.</a:t>
            </a:r>
          </a:p>
          <a:p>
            <a:pPr lvl="0">
              <a:spcBef>
                <a:spcPts val="0"/>
              </a:spcBef>
              <a:buFont typeface="Wingdings" pitchFamily="2" charset="2"/>
              <a:buChar char="v"/>
            </a:pPr>
            <a:r>
              <a:rPr lang="en-IN" sz="2800" dirty="0" smtClean="0">
                <a:solidFill>
                  <a:prstClr val="black"/>
                </a:solidFill>
                <a:cs typeface="Times New Roman" pitchFamily="18" charset="0"/>
              </a:rPr>
              <a:t> Types of Armature Windings</a:t>
            </a:r>
          </a:p>
          <a:p>
            <a:pPr lvl="0">
              <a:spcBef>
                <a:spcPts val="0"/>
              </a:spcBef>
              <a:buFont typeface="Wingdings" pitchFamily="2" charset="2"/>
              <a:buChar char="v"/>
            </a:pPr>
            <a:r>
              <a:rPr lang="en-IN" sz="2800" dirty="0" smtClean="0">
                <a:solidFill>
                  <a:prstClr val="black"/>
                </a:solidFill>
                <a:cs typeface="Times New Roman" pitchFamily="18" charset="0"/>
              </a:rPr>
              <a:t> Function of Brushes in DC Motor.</a:t>
            </a:r>
          </a:p>
          <a:p>
            <a:pPr lvl="0">
              <a:spcBef>
                <a:spcPts val="0"/>
              </a:spcBef>
              <a:buFont typeface="Wingdings" pitchFamily="2" charset="2"/>
              <a:buChar char="v"/>
            </a:pPr>
            <a:r>
              <a:rPr lang="en-IN" sz="2800" dirty="0" smtClean="0">
                <a:solidFill>
                  <a:prstClr val="black"/>
                </a:solidFill>
                <a:cs typeface="Times New Roman" pitchFamily="18" charset="0"/>
              </a:rPr>
              <a:t> Working of DC Motor.</a:t>
            </a:r>
          </a:p>
          <a:p>
            <a:pPr marL="342900" lvl="0" indent="-342900">
              <a:lnSpc>
                <a:spcPct val="100000"/>
              </a:lnSpc>
              <a:spcBef>
                <a:spcPts val="0"/>
              </a:spcBef>
              <a:buNone/>
            </a:pPr>
            <a:endParaRPr lang="en-IN" dirty="0" smtClean="0">
              <a:solidFill>
                <a:prstClr val="black"/>
              </a:solidFill>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379412" y="1371600"/>
            <a:ext cx="11201400" cy="50292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7982" y="360362"/>
            <a:ext cx="10512862"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8" name="Group 28"/>
          <p:cNvGrpSpPr/>
          <p:nvPr/>
        </p:nvGrpSpPr>
        <p:grpSpPr>
          <a:xfrm>
            <a:off x="11961812" y="5791200"/>
            <a:ext cx="227013" cy="1066800"/>
            <a:chOff x="83821" y="0"/>
            <a:chExt cx="219636" cy="903079"/>
          </a:xfrm>
        </p:grpSpPr>
        <p:sp>
          <p:nvSpPr>
            <p:cNvPr id="9" name="Rectangle 8"/>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6878"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2589212" y="1828800"/>
            <a:ext cx="7010400" cy="3810000"/>
          </a:xfrm>
          <a:prstGeom prst="rect">
            <a:avLst/>
          </a:prstGeom>
          <a:blipFill>
            <a:blip r:embed="rId3" cstate="print"/>
            <a:stretch>
              <a:fillRect/>
            </a:stretch>
          </a:blipFill>
        </p:spPr>
        <p:txBody>
          <a:bodyPr wrap="square" lIns="0" tIns="0" rIns="0" bIns="0" rtlCol="0"/>
          <a:lstStyle/>
          <a:p>
            <a:endParaRPr/>
          </a:p>
        </p:txBody>
      </p:sp>
      <p:sp>
        <p:nvSpPr>
          <p:cNvPr id="6" name="Title 5"/>
          <p:cNvSpPr>
            <a:spLocks noGrp="1"/>
          </p:cNvSpPr>
          <p:nvPr>
            <p:ph type="ctrTitle"/>
          </p:nvPr>
        </p:nvSpPr>
        <p:spPr>
          <a:xfrm>
            <a:off x="3427412" y="152400"/>
            <a:ext cx="5334000" cy="1219200"/>
          </a:xfrm>
          <a:ln>
            <a:solidFill>
              <a:schemeClr val="tx1"/>
            </a:solidFill>
          </a:ln>
        </p:spPr>
        <p:txBody>
          <a:bodyPr>
            <a:noAutofit/>
          </a:bodyPr>
          <a:lstStyle/>
          <a:p>
            <a:r>
              <a:rPr lang="en-US" b="1" dirty="0" smtClean="0">
                <a:latin typeface="Calibri Light"/>
                <a:cs typeface="Arial" panose="020B0604020202020204" pitchFamily="34" charset="0"/>
              </a:rPr>
              <a:t>UNIT-2</a:t>
            </a:r>
            <a:br>
              <a:rPr lang="en-US" b="1" dirty="0" smtClean="0">
                <a:latin typeface="Calibri Light"/>
                <a:cs typeface="Arial" panose="020B0604020202020204" pitchFamily="34" charset="0"/>
              </a:rPr>
            </a:br>
            <a:r>
              <a:rPr lang="en-US" b="1" dirty="0" smtClean="0">
                <a:latin typeface="Calibri Light"/>
                <a:cs typeface="Arial" panose="020B0604020202020204" pitchFamily="34" charset="0"/>
              </a:rPr>
              <a:t>DC MOTOR</a:t>
            </a:r>
            <a:endParaRPr lang="en-US" b="1" dirty="0">
              <a:latin typeface="Calibri Light"/>
              <a:cs typeface="Arial" panose="020B0604020202020204" pitchFamily="34" charset="0"/>
            </a:endParaRPr>
          </a:p>
        </p:txBody>
      </p:sp>
      <p:pic>
        <p:nvPicPr>
          <p:cNvPr id="4" name="Picture 1" descr="D:\study materal\CU data\BEEE\CU logo.png"/>
          <p:cNvPicPr>
            <a:picLocks noChangeAspect="1" noChangeArrowheads="1"/>
          </p:cNvPicPr>
          <p:nvPr/>
        </p:nvPicPr>
        <p:blipFill>
          <a:blip r:embed="rId4" cstate="print"/>
          <a:srcRect/>
          <a:stretch>
            <a:fillRect/>
          </a:stretch>
        </p:blipFill>
        <p:spPr bwMode="auto">
          <a:xfrm>
            <a:off x="0" y="0"/>
            <a:ext cx="676275" cy="1038225"/>
          </a:xfrm>
          <a:prstGeom prst="rect">
            <a:avLst/>
          </a:prstGeom>
          <a:noFill/>
        </p:spPr>
      </p:pic>
      <p:sp>
        <p:nvSpPr>
          <p:cNvPr id="7" name="object 4"/>
          <p:cNvSpPr/>
          <p:nvPr/>
        </p:nvSpPr>
        <p:spPr>
          <a:xfrm>
            <a:off x="2513012" y="6172200"/>
            <a:ext cx="6629400" cy="3810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pPr algn="ctr"/>
            <a:r>
              <a:rPr lang="en-US" b="1" dirty="0" smtClean="0"/>
              <a:t>Fig: 1. Pictorial View of DC Motor</a:t>
            </a:r>
            <a:endParaRPr b="1"/>
          </a:p>
        </p:txBody>
      </p:sp>
      <p:sp>
        <p:nvSpPr>
          <p:cNvPr id="8" name="Rectangle 7"/>
          <p:cNvSpPr/>
          <p:nvPr/>
        </p:nvSpPr>
        <p:spPr>
          <a:xfrm>
            <a:off x="2817812" y="6096000"/>
            <a:ext cx="7924800" cy="646331"/>
          </a:xfrm>
          <a:prstGeom prst="rect">
            <a:avLst/>
          </a:prstGeom>
          <a:ln>
            <a:solidFill>
              <a:schemeClr val="tx1"/>
            </a:solidFill>
          </a:ln>
        </p:spPr>
        <p:txBody>
          <a:bodyPr wrap="square">
            <a:spAutoFit/>
          </a:bodyPr>
          <a:lstStyle/>
          <a:p>
            <a:pPr algn="ctr"/>
            <a:endParaRPr lang="en-US" dirty="0" smtClean="0">
              <a:hlinkClick r:id="rId5"/>
            </a:endParaRPr>
          </a:p>
          <a:p>
            <a:pPr algn="ctr"/>
            <a:r>
              <a:rPr lang="en-US" dirty="0" smtClean="0">
                <a:hlinkClick r:id="rId5"/>
              </a:rPr>
              <a:t>https://www.electrical4u.com/dc-motor-or-direct-current-motor/</a:t>
            </a:r>
            <a:endParaRPr lang="en-US" dirty="0"/>
          </a:p>
        </p:txBody>
      </p:sp>
      <p:grpSp>
        <p:nvGrpSpPr>
          <p:cNvPr id="9" name="Group 28"/>
          <p:cNvGrpSpPr/>
          <p:nvPr/>
        </p:nvGrpSpPr>
        <p:grpSpPr>
          <a:xfrm>
            <a:off x="11961812" y="5791200"/>
            <a:ext cx="227013" cy="1066800"/>
            <a:chOff x="83821" y="0"/>
            <a:chExt cx="219636" cy="903079"/>
          </a:xfrm>
        </p:grpSpPr>
        <p:sp>
          <p:nvSpPr>
            <p:cNvPr id="10" name="Rectangle 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Object 12">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5854" name="CorelDRAW" r:id="rId6" imgW="2169000" imgH="2169360" progId="">
                    <p:embed/>
                  </p:oleObj>
                </mc:Choice>
                <mc:Fallback>
                  <p:oleObj name="CorelDRAW" r:id="rId6" imgW="2169000" imgH="2169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sp>
        <p:nvSpPr>
          <p:cNvPr id="5" name="object 4"/>
          <p:cNvSpPr/>
          <p:nvPr/>
        </p:nvSpPr>
        <p:spPr>
          <a:xfrm>
            <a:off x="8304212" y="3810000"/>
            <a:ext cx="2945633" cy="2286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r>
              <a:rPr lang="en-US" b="1" dirty="0" smtClean="0"/>
              <a:t>Fig: 2. Small Size DC Motor</a:t>
            </a:r>
            <a:endParaRPr b="1"/>
          </a:p>
        </p:txBody>
      </p:sp>
      <p:sp>
        <p:nvSpPr>
          <p:cNvPr id="6" name="object 4"/>
          <p:cNvSpPr/>
          <p:nvPr/>
        </p:nvSpPr>
        <p:spPr>
          <a:xfrm>
            <a:off x="8254179" y="6019800"/>
            <a:ext cx="2945633" cy="3810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r>
              <a:rPr lang="en-US" b="1" dirty="0" smtClean="0"/>
              <a:t>Fig: 3. Large Size DC Motor</a:t>
            </a:r>
            <a:endParaRPr b="1"/>
          </a:p>
        </p:txBody>
      </p:sp>
      <p:sp>
        <p:nvSpPr>
          <p:cNvPr id="7" name="Rectangle 6"/>
          <p:cNvSpPr/>
          <p:nvPr/>
        </p:nvSpPr>
        <p:spPr>
          <a:xfrm>
            <a:off x="7675986" y="6336268"/>
            <a:ext cx="3981026" cy="369332"/>
          </a:xfrm>
          <a:prstGeom prst="rect">
            <a:avLst/>
          </a:prstGeom>
          <a:ln>
            <a:solidFill>
              <a:schemeClr val="tx1"/>
            </a:solidFill>
          </a:ln>
        </p:spPr>
        <p:txBody>
          <a:bodyPr wrap="none">
            <a:spAutoFit/>
          </a:bodyPr>
          <a:lstStyle/>
          <a:p>
            <a:r>
              <a:rPr lang="en-US" dirty="0" smtClean="0">
                <a:hlinkClick r:id="rId4"/>
              </a:rPr>
              <a:t>https://en.wikipedia.org/wiki/DC_motor</a:t>
            </a:r>
            <a:endParaRPr lang="en-US" dirty="0"/>
          </a:p>
        </p:txBody>
      </p:sp>
      <p:grpSp>
        <p:nvGrpSpPr>
          <p:cNvPr id="8" name="Group 28"/>
          <p:cNvGrpSpPr/>
          <p:nvPr/>
        </p:nvGrpSpPr>
        <p:grpSpPr>
          <a:xfrm>
            <a:off x="11961812" y="5791200"/>
            <a:ext cx="227013" cy="1066800"/>
            <a:chOff x="83821" y="0"/>
            <a:chExt cx="219636" cy="903079"/>
          </a:xfrm>
        </p:grpSpPr>
        <p:sp>
          <p:nvSpPr>
            <p:cNvPr id="9" name="Rectangle 8"/>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4830" name="CorelDRAW" r:id="rId5" imgW="2169000" imgH="2169360" progId="">
                    <p:embed/>
                  </p:oleObj>
                </mc:Choice>
                <mc:Fallback>
                  <p:oleObj name="CorelDRAW" r:id="rId5" imgW="2169000" imgH="2169360" progId="">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 name="Title 12"/>
          <p:cNvSpPr>
            <a:spLocks noGrp="1"/>
          </p:cNvSpPr>
          <p:nvPr>
            <p:ph type="title"/>
          </p:nvPr>
        </p:nvSpPr>
        <p:spPr>
          <a:ln>
            <a:solidFill>
              <a:schemeClr val="tx1"/>
            </a:solidFill>
          </a:ln>
        </p:spPr>
        <p:txBody>
          <a:bodyPr/>
          <a:lstStyle/>
          <a:p>
            <a:r>
              <a:rPr lang="en-US" b="1" dirty="0" smtClean="0">
                <a:latin typeface="Calibri Light"/>
              </a:rPr>
              <a:t>DC MOTOR</a:t>
            </a:r>
            <a:endParaRPr lang="en-US" b="1" dirty="0">
              <a:latin typeface="Calibri Light"/>
            </a:endParaRPr>
          </a:p>
        </p:txBody>
      </p:sp>
      <p:sp>
        <p:nvSpPr>
          <p:cNvPr id="14" name="Content Placeholder 13"/>
          <p:cNvSpPr>
            <a:spLocks noGrp="1"/>
          </p:cNvSpPr>
          <p:nvPr>
            <p:ph idx="1"/>
          </p:nvPr>
        </p:nvSpPr>
        <p:spPr>
          <a:xfrm>
            <a:off x="303212" y="1371600"/>
            <a:ext cx="6932771" cy="4525963"/>
          </a:xfrm>
        </p:spPr>
        <p:txBody>
          <a:bodyPr>
            <a:normAutofit/>
          </a:bodyPr>
          <a:lstStyle/>
          <a:p>
            <a:pPr algn="just"/>
            <a:r>
              <a:rPr lang="en-US" sz="2800" dirty="0" smtClean="0"/>
              <a:t> A DC Motor or Direct Current Motor converts electrical energy in to mechanical energy.</a:t>
            </a:r>
          </a:p>
          <a:p>
            <a:pPr algn="just"/>
            <a:r>
              <a:rPr lang="en-US" sz="2800" dirty="0" smtClean="0"/>
              <a:t> A Direct Current (DC) motor is fairly simple electric motor that uses electricity and a magnetic field to produce torque, which turns the rotor and hence give mechanical work.</a:t>
            </a:r>
            <a:endParaRPr lang="en-US" sz="2800" dirty="0"/>
          </a:p>
        </p:txBody>
      </p:sp>
      <p:pic>
        <p:nvPicPr>
          <p:cNvPr id="34818" name="Picture 2"/>
          <p:cNvPicPr>
            <a:picLocks noChangeAspect="1" noChangeArrowheads="1"/>
          </p:cNvPicPr>
          <p:nvPr/>
        </p:nvPicPr>
        <p:blipFill>
          <a:blip r:embed="rId7" cstate="print"/>
          <a:srcRect/>
          <a:stretch>
            <a:fillRect/>
          </a:stretch>
        </p:blipFill>
        <p:spPr bwMode="auto">
          <a:xfrm>
            <a:off x="7561262" y="1552575"/>
            <a:ext cx="4019550" cy="2105025"/>
          </a:xfrm>
          <a:prstGeom prst="rect">
            <a:avLst/>
          </a:prstGeom>
          <a:noFill/>
          <a:ln w="9525">
            <a:noFill/>
            <a:miter lim="800000"/>
            <a:headEnd/>
            <a:tailEnd/>
          </a:ln>
          <a:effectLst/>
        </p:spPr>
      </p:pic>
      <p:pic>
        <p:nvPicPr>
          <p:cNvPr id="34819" name="Picture 3"/>
          <p:cNvPicPr>
            <a:picLocks noChangeAspect="1" noChangeArrowheads="1"/>
          </p:cNvPicPr>
          <p:nvPr/>
        </p:nvPicPr>
        <p:blipFill>
          <a:blip r:embed="rId8" cstate="print"/>
          <a:srcRect/>
          <a:stretch>
            <a:fillRect/>
          </a:stretch>
        </p:blipFill>
        <p:spPr bwMode="auto">
          <a:xfrm>
            <a:off x="7827962" y="4095750"/>
            <a:ext cx="3752850" cy="19240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763112" y="76200"/>
            <a:ext cx="11198700" cy="1219200"/>
          </a:xfrm>
          <a:ln>
            <a:solidFill>
              <a:schemeClr val="tx1"/>
            </a:solidFill>
          </a:ln>
        </p:spPr>
        <p:txBody>
          <a:bodyPr>
            <a:noAutofit/>
          </a:bodyPr>
          <a:lstStyle/>
          <a:p>
            <a:r>
              <a:rPr lang="en-US" b="1" dirty="0" smtClean="0">
                <a:latin typeface="Calibri Light"/>
                <a:cs typeface="Arial" panose="020B0604020202020204" pitchFamily="34" charset="0"/>
              </a:rPr>
              <a:t>CONSTRUCTIONAL PARTS OF DC MACHINE</a:t>
            </a:r>
            <a:endParaRPr lang="en-US" b="1" dirty="0">
              <a:latin typeface="Calibri Light"/>
              <a:cs typeface="Arial" panose="020B0604020202020204" pitchFamily="34" charset="0"/>
            </a:endParaRPr>
          </a:p>
        </p:txBody>
      </p:sp>
      <p:sp>
        <p:nvSpPr>
          <p:cNvPr id="7" name="Subtitle 6"/>
          <p:cNvSpPr>
            <a:spLocks noGrp="1"/>
          </p:cNvSpPr>
          <p:nvPr>
            <p:ph type="subTitle" idx="4294967295"/>
          </p:nvPr>
        </p:nvSpPr>
        <p:spPr>
          <a:xfrm>
            <a:off x="0" y="1371600"/>
            <a:ext cx="12188825" cy="5486400"/>
          </a:xfrm>
          <a:prstGeom prst="rect">
            <a:avLst/>
          </a:prstGeom>
        </p:spPr>
        <p:txBody>
          <a:bodyPr>
            <a:noAutofit/>
          </a:bodyPr>
          <a:lstStyle/>
          <a:p>
            <a:pPr marL="457200" indent="-457200">
              <a:spcBef>
                <a:spcPts val="0"/>
              </a:spcBef>
              <a:buAutoNum type="arabicParenR"/>
            </a:pPr>
            <a:r>
              <a:rPr lang="en-US" sz="2800" dirty="0" smtClean="0">
                <a:cs typeface="Times New Roman" pitchFamily="18" charset="0"/>
              </a:rPr>
              <a:t>Magnetic Frame or yoke</a:t>
            </a:r>
          </a:p>
          <a:p>
            <a:pPr marL="457200" indent="-457200">
              <a:spcBef>
                <a:spcPts val="0"/>
              </a:spcBef>
              <a:buAutoNum type="arabicParenR"/>
            </a:pPr>
            <a:r>
              <a:rPr lang="en-US" sz="2800" dirty="0" smtClean="0">
                <a:cs typeface="Times New Roman" pitchFamily="18" charset="0"/>
              </a:rPr>
              <a:t> Pole core &amp; Pole shoes.</a:t>
            </a:r>
          </a:p>
          <a:p>
            <a:pPr marL="457200" indent="-457200">
              <a:spcBef>
                <a:spcPts val="0"/>
              </a:spcBef>
              <a:buAutoNum type="arabicParenR"/>
            </a:pPr>
            <a:r>
              <a:rPr lang="en-US" sz="2800" dirty="0" smtClean="0">
                <a:cs typeface="Times New Roman" pitchFamily="18" charset="0"/>
              </a:rPr>
              <a:t> Magnetic field or Exciting coils</a:t>
            </a:r>
          </a:p>
          <a:p>
            <a:pPr marL="457200" indent="-457200">
              <a:spcBef>
                <a:spcPts val="0"/>
              </a:spcBef>
              <a:buAutoNum type="arabicParenR"/>
            </a:pPr>
            <a:r>
              <a:rPr lang="en-US" sz="2800" dirty="0" smtClean="0">
                <a:cs typeface="Times New Roman" pitchFamily="18" charset="0"/>
              </a:rPr>
              <a:t> Armature core</a:t>
            </a:r>
          </a:p>
          <a:p>
            <a:pPr marL="457200" indent="-457200">
              <a:spcBef>
                <a:spcPts val="0"/>
              </a:spcBef>
              <a:buAutoNum type="arabicParenR"/>
            </a:pPr>
            <a:r>
              <a:rPr lang="en-US" sz="2800" dirty="0" smtClean="0">
                <a:cs typeface="Times New Roman" pitchFamily="18" charset="0"/>
              </a:rPr>
              <a:t> Armature winding</a:t>
            </a:r>
          </a:p>
          <a:p>
            <a:pPr marL="457200" indent="-457200">
              <a:spcBef>
                <a:spcPts val="0"/>
              </a:spcBef>
              <a:buNone/>
            </a:pPr>
            <a:r>
              <a:rPr lang="en-US" sz="2800" dirty="0" smtClean="0">
                <a:cs typeface="Times New Roman" pitchFamily="18" charset="0"/>
              </a:rPr>
              <a:t>    a) Lap Winding</a:t>
            </a:r>
          </a:p>
          <a:p>
            <a:pPr marL="457200" indent="-457200">
              <a:spcBef>
                <a:spcPts val="0"/>
              </a:spcBef>
              <a:buNone/>
            </a:pPr>
            <a:r>
              <a:rPr lang="en-US" sz="2800" dirty="0" smtClean="0">
                <a:cs typeface="Times New Roman" pitchFamily="18" charset="0"/>
              </a:rPr>
              <a:t>    b) Wave Winding</a:t>
            </a:r>
          </a:p>
          <a:p>
            <a:pPr marL="457200" indent="-457200">
              <a:spcBef>
                <a:spcPts val="0"/>
              </a:spcBef>
              <a:buNone/>
            </a:pPr>
            <a:r>
              <a:rPr lang="en-US" sz="2800" dirty="0" smtClean="0">
                <a:cs typeface="Times New Roman" pitchFamily="18" charset="0"/>
              </a:rPr>
              <a:t>6) Commutator</a:t>
            </a:r>
          </a:p>
          <a:p>
            <a:pPr marL="457200" indent="-457200">
              <a:spcBef>
                <a:spcPts val="0"/>
              </a:spcBef>
              <a:buNone/>
            </a:pPr>
            <a:r>
              <a:rPr lang="en-US" sz="2800" dirty="0" smtClean="0">
                <a:cs typeface="Times New Roman" pitchFamily="18" charset="0"/>
              </a:rPr>
              <a:t>7) Brushes.</a:t>
            </a:r>
          </a:p>
          <a:p>
            <a:pPr marL="457200" indent="-457200">
              <a:spcBef>
                <a:spcPts val="0"/>
              </a:spcBef>
              <a:buNone/>
            </a:pPr>
            <a:r>
              <a:rPr lang="en-US" sz="2800" dirty="0" smtClean="0">
                <a:cs typeface="Times New Roman" pitchFamily="18" charset="0"/>
              </a:rPr>
              <a:t>8) Bearing</a:t>
            </a:r>
          </a:p>
          <a:p>
            <a:pPr marL="457200" indent="-457200">
              <a:spcBef>
                <a:spcPts val="0"/>
              </a:spcBef>
              <a:buNone/>
            </a:pPr>
            <a:r>
              <a:rPr lang="en-US" sz="2800" dirty="0" smtClean="0">
                <a:cs typeface="Times New Roman" pitchFamily="18" charset="0"/>
              </a:rPr>
              <a:t>9) End ring</a:t>
            </a:r>
          </a:p>
          <a:p>
            <a:pPr marL="457200" indent="-457200">
              <a:spcBef>
                <a:spcPts val="0"/>
              </a:spcBef>
              <a:buNone/>
            </a:pPr>
            <a:r>
              <a:rPr lang="en-US" sz="2800" dirty="0" smtClean="0">
                <a:cs typeface="Times New Roman" pitchFamily="18" charset="0"/>
              </a:rPr>
              <a:t>10) Shaft.</a:t>
            </a:r>
            <a:endParaRPr lang="en-US" sz="2800" dirty="0">
              <a:cs typeface="Times New Roman" pitchFamily="18" charset="0"/>
            </a:endParaRPr>
          </a:p>
        </p:txBody>
      </p:sp>
      <p:pic>
        <p:nvPicPr>
          <p:cNvPr id="4"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5" name="Group 28"/>
          <p:cNvGrpSpPr/>
          <p:nvPr/>
        </p:nvGrpSpPr>
        <p:grpSpPr>
          <a:xfrm>
            <a:off x="11961812" y="5791200"/>
            <a:ext cx="227013" cy="1066800"/>
            <a:chOff x="83821" y="0"/>
            <a:chExt cx="219636" cy="903079"/>
          </a:xfrm>
        </p:grpSpPr>
        <p:sp>
          <p:nvSpPr>
            <p:cNvPr id="8" name="Rectangle 7"/>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3806"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2" y="0"/>
            <a:ext cx="11276013" cy="1354217"/>
          </a:xfrm>
          <a:ln>
            <a:solidFill>
              <a:schemeClr val="tx1"/>
            </a:solidFill>
          </a:ln>
        </p:spPr>
        <p:txBody>
          <a:bodyPr>
            <a:noAutofit/>
          </a:bodyPr>
          <a:lstStyle/>
          <a:p>
            <a:r>
              <a:rPr lang="en-US" b="1" dirty="0" smtClean="0">
                <a:latin typeface="Calibri Light"/>
                <a:cs typeface="Arial" panose="020B0604020202020204" pitchFamily="34" charset="0"/>
              </a:rPr>
              <a:t>CONSTRUCTIONAL VIEW OF DC MACHINE </a:t>
            </a:r>
            <a:endParaRPr lang="en-US" b="1" dirty="0">
              <a:latin typeface="Calibri Light"/>
              <a:cs typeface="Arial" panose="020B0604020202020204" pitchFamily="34" charset="0"/>
            </a:endParaRPr>
          </a:p>
        </p:txBody>
      </p:sp>
      <p:pic>
        <p:nvPicPr>
          <p:cNvPr id="1026" name="Picture 2" descr="C:\Users\Hemupooja\Downloads\1General-DC-Motor-Construction-of-DC-Motor-Yoke-Poles-Armature-Field-Winding.jpg"/>
          <p:cNvPicPr>
            <a:picLocks noChangeAspect="1" noChangeArrowheads="1"/>
          </p:cNvPicPr>
          <p:nvPr/>
        </p:nvPicPr>
        <p:blipFill>
          <a:blip r:embed="rId3" cstate="print"/>
          <a:srcRect/>
          <a:stretch>
            <a:fillRect/>
          </a:stretch>
        </p:blipFill>
        <p:spPr bwMode="auto">
          <a:xfrm>
            <a:off x="0" y="1447800"/>
            <a:ext cx="12188825" cy="4419600"/>
          </a:xfrm>
          <a:prstGeom prst="rect">
            <a:avLst/>
          </a:prstGeom>
          <a:noFill/>
        </p:spPr>
      </p:pic>
      <p:pic>
        <p:nvPicPr>
          <p:cNvPr id="4" name="Picture 1" descr="D:\study materal\CU data\BEEE\CU logo.png"/>
          <p:cNvPicPr>
            <a:picLocks noChangeAspect="1" noChangeArrowheads="1"/>
          </p:cNvPicPr>
          <p:nvPr/>
        </p:nvPicPr>
        <p:blipFill>
          <a:blip r:embed="rId4" cstate="print"/>
          <a:srcRect/>
          <a:stretch>
            <a:fillRect/>
          </a:stretch>
        </p:blipFill>
        <p:spPr bwMode="auto">
          <a:xfrm>
            <a:off x="0" y="0"/>
            <a:ext cx="676275" cy="1038225"/>
          </a:xfrm>
          <a:prstGeom prst="rect">
            <a:avLst/>
          </a:prstGeom>
          <a:noFill/>
        </p:spPr>
      </p:pic>
      <p:sp>
        <p:nvSpPr>
          <p:cNvPr id="5" name="object 4"/>
          <p:cNvSpPr/>
          <p:nvPr/>
        </p:nvSpPr>
        <p:spPr>
          <a:xfrm>
            <a:off x="3529779" y="6172200"/>
            <a:ext cx="4545833" cy="3810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r>
              <a:rPr lang="en-US" b="1" dirty="0" smtClean="0"/>
              <a:t>Fig: 4. Constructional View of DC Machine</a:t>
            </a:r>
            <a:endParaRPr b="1"/>
          </a:p>
        </p:txBody>
      </p:sp>
      <p:sp>
        <p:nvSpPr>
          <p:cNvPr id="6" name="Rectangle 5"/>
          <p:cNvSpPr/>
          <p:nvPr/>
        </p:nvSpPr>
        <p:spPr>
          <a:xfrm>
            <a:off x="74612" y="6400800"/>
            <a:ext cx="12268200" cy="369332"/>
          </a:xfrm>
          <a:prstGeom prst="rect">
            <a:avLst/>
          </a:prstGeom>
          <a:ln>
            <a:solidFill>
              <a:schemeClr val="tx1"/>
            </a:solidFill>
          </a:ln>
        </p:spPr>
        <p:txBody>
          <a:bodyPr wrap="square">
            <a:spAutoFit/>
          </a:bodyPr>
          <a:lstStyle/>
          <a:p>
            <a:r>
              <a:rPr lang="en-US" dirty="0" smtClean="0">
                <a:hlinkClick r:id="rId5"/>
              </a:rPr>
              <a:t>https://www.electrical4u.com/construction-of-dc-motor-yoke-poles-armature-field-winding-commutator-brushes-of-dc-motor/</a:t>
            </a:r>
            <a:endParaRPr lang="en-US" dirty="0"/>
          </a:p>
        </p:txBody>
      </p:sp>
      <p:grpSp>
        <p:nvGrpSpPr>
          <p:cNvPr id="7" name="Group 28"/>
          <p:cNvGrpSpPr/>
          <p:nvPr/>
        </p:nvGrpSpPr>
        <p:grpSpPr>
          <a:xfrm>
            <a:off x="11961812" y="5791200"/>
            <a:ext cx="227013" cy="1066800"/>
            <a:chOff x="83821" y="0"/>
            <a:chExt cx="219636" cy="903079"/>
          </a:xfrm>
        </p:grpSpPr>
        <p:sp>
          <p:nvSpPr>
            <p:cNvPr id="8" name="Rectangle 7"/>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2782" name="CorelDRAW" r:id="rId6" imgW="2169000" imgH="2169360" progId="">
                    <p:embed/>
                  </p:oleObj>
                </mc:Choice>
                <mc:Fallback>
                  <p:oleObj name="CorelDRAW" r:id="rId6" imgW="2169000" imgH="2169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863982" y="1160637"/>
            <a:ext cx="4282021" cy="2768887"/>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7922736" y="4101084"/>
            <a:ext cx="4266089" cy="2756915"/>
          </a:xfrm>
          <a:prstGeom prst="rect">
            <a:avLst/>
          </a:prstGeom>
          <a:blipFill>
            <a:blip r:embed="rId4"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914162" y="152400"/>
            <a:ext cx="10258928" cy="689932"/>
          </a:xfrm>
          <a:prstGeom prst="rect">
            <a:avLst/>
          </a:prstGeom>
          <a:ln>
            <a:solidFill>
              <a:schemeClr val="tx1"/>
            </a:solidFill>
          </a:ln>
        </p:spPr>
        <p:txBody>
          <a:bodyPr vert="horz" wrap="square" lIns="0" tIns="12700" rIns="0" bIns="0" rtlCol="0">
            <a:spAutoFit/>
          </a:bodyPr>
          <a:lstStyle/>
          <a:p>
            <a:pPr marL="12700">
              <a:lnSpc>
                <a:spcPct val="100000"/>
              </a:lnSpc>
            </a:pPr>
            <a:r>
              <a:rPr lang="en-US" b="1" dirty="0" smtClean="0">
                <a:latin typeface="Calibri Light"/>
                <a:cs typeface="Arial" panose="020B0604020202020204" pitchFamily="34" charset="0"/>
              </a:rPr>
              <a:t>OVERVIEW OF DC MACHINE</a:t>
            </a:r>
            <a:endParaRPr lang="en-US" b="1" dirty="0">
              <a:latin typeface="Calibri Light"/>
              <a:cs typeface="Arial" panose="020B0604020202020204" pitchFamily="34" charset="0"/>
            </a:endParaRPr>
          </a:p>
        </p:txBody>
      </p:sp>
      <p:sp>
        <p:nvSpPr>
          <p:cNvPr id="5" name="object 5"/>
          <p:cNvSpPr/>
          <p:nvPr/>
        </p:nvSpPr>
        <p:spPr>
          <a:xfrm>
            <a:off x="443302" y="1066801"/>
            <a:ext cx="7199854" cy="5029200"/>
          </a:xfrm>
          <a:prstGeom prst="rect">
            <a:avLst/>
          </a:prstGeom>
          <a:blipFill>
            <a:blip r:embed="rId5" cstate="print"/>
            <a:stretch>
              <a:fillRect/>
            </a:stretch>
          </a:blipFill>
          <a:ln>
            <a:solidFill>
              <a:schemeClr val="tx1"/>
            </a:solidFill>
          </a:ln>
        </p:spPr>
        <p:txBody>
          <a:bodyPr wrap="square" lIns="0" tIns="0" rIns="0" bIns="0" rtlCol="0"/>
          <a:lstStyle/>
          <a:p>
            <a:endParaRPr/>
          </a:p>
        </p:txBody>
      </p:sp>
      <p:pic>
        <p:nvPicPr>
          <p:cNvPr id="6" name="Picture 1" descr="D:\study materal\CU data\BEEE\CU logo.png"/>
          <p:cNvPicPr>
            <a:picLocks noChangeAspect="1" noChangeArrowheads="1"/>
          </p:cNvPicPr>
          <p:nvPr/>
        </p:nvPicPr>
        <p:blipFill>
          <a:blip r:embed="rId6" cstate="print"/>
          <a:srcRect/>
          <a:stretch>
            <a:fillRect/>
          </a:stretch>
        </p:blipFill>
        <p:spPr bwMode="auto">
          <a:xfrm>
            <a:off x="0" y="0"/>
            <a:ext cx="676275" cy="1038225"/>
          </a:xfrm>
          <a:prstGeom prst="rect">
            <a:avLst/>
          </a:prstGeom>
          <a:noFill/>
        </p:spPr>
      </p:pic>
      <p:sp>
        <p:nvSpPr>
          <p:cNvPr id="7" name="object 4"/>
          <p:cNvSpPr/>
          <p:nvPr/>
        </p:nvSpPr>
        <p:spPr>
          <a:xfrm>
            <a:off x="2234379" y="6096000"/>
            <a:ext cx="2945633" cy="3810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r>
              <a:rPr lang="en-US" b="1" dirty="0" smtClean="0"/>
              <a:t>Fig:5. </a:t>
            </a:r>
            <a:r>
              <a:rPr lang="en-US" b="1" dirty="0" smtClean="0">
                <a:cs typeface="Times New Roman" pitchFamily="18" charset="0"/>
              </a:rPr>
              <a:t>Overview of DC Machine</a:t>
            </a:r>
            <a:r>
              <a:rPr lang="en-US" b="1" dirty="0" smtClean="0"/>
              <a:t> </a:t>
            </a:r>
            <a:endParaRPr b="1"/>
          </a:p>
        </p:txBody>
      </p:sp>
      <p:sp>
        <p:nvSpPr>
          <p:cNvPr id="8" name="Rectangle 7"/>
          <p:cNvSpPr/>
          <p:nvPr/>
        </p:nvSpPr>
        <p:spPr>
          <a:xfrm>
            <a:off x="1674812" y="6400800"/>
            <a:ext cx="5419625" cy="369332"/>
          </a:xfrm>
          <a:prstGeom prst="rect">
            <a:avLst/>
          </a:prstGeom>
          <a:ln>
            <a:solidFill>
              <a:schemeClr val="tx1"/>
            </a:solidFill>
          </a:ln>
        </p:spPr>
        <p:txBody>
          <a:bodyPr wrap="none">
            <a:spAutoFit/>
          </a:bodyPr>
          <a:lstStyle/>
          <a:p>
            <a:r>
              <a:rPr lang="en-US" dirty="0" smtClean="0">
                <a:hlinkClick r:id="rId7"/>
              </a:rPr>
              <a:t>https://blog.oureducation.in/construction-of-dc-motor/</a:t>
            </a:r>
            <a:endParaRPr lang="en-US" dirty="0"/>
          </a:p>
        </p:txBody>
      </p:sp>
      <p:grpSp>
        <p:nvGrpSpPr>
          <p:cNvPr id="9" name="Group 28"/>
          <p:cNvGrpSpPr/>
          <p:nvPr/>
        </p:nvGrpSpPr>
        <p:grpSpPr>
          <a:xfrm>
            <a:off x="11961812" y="5791200"/>
            <a:ext cx="227013" cy="1066800"/>
            <a:chOff x="83821" y="0"/>
            <a:chExt cx="219636" cy="903079"/>
          </a:xfrm>
        </p:grpSpPr>
        <p:sp>
          <p:nvSpPr>
            <p:cNvPr id="10" name="Rectangle 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Object 12">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1758" name="CorelDRAW" r:id="rId8" imgW="2169000" imgH="2169360" progId="">
                    <p:embed/>
                  </p:oleObj>
                </mc:Choice>
                <mc:Fallback>
                  <p:oleObj name="CorelDRAW" r:id="rId8" imgW="2169000" imgH="2169360" progId="">
                    <p:embed/>
                    <p:pic>
                      <p:nvPicPr>
                        <p:cNvPr id="0" name="Picture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2522" y="228600"/>
            <a:ext cx="11173090" cy="1143001"/>
          </a:xfrm>
          <a:ln>
            <a:solidFill>
              <a:schemeClr val="tx1"/>
            </a:solidFill>
          </a:ln>
        </p:spPr>
        <p:txBody>
          <a:bodyPr>
            <a:normAutofit fontScale="90000"/>
          </a:bodyPr>
          <a:lstStyle/>
          <a:p>
            <a:r>
              <a:rPr lang="en-US" sz="4900" b="1" dirty="0" smtClean="0">
                <a:solidFill>
                  <a:schemeClr val="dk1"/>
                </a:solidFill>
                <a:latin typeface="Calibri Light"/>
                <a:ea typeface="+mn-ea"/>
                <a:cs typeface="+mn-cs"/>
              </a:rPr>
              <a:t/>
            </a:r>
            <a:br>
              <a:rPr lang="en-US" sz="4900" b="1" dirty="0" smtClean="0">
                <a:solidFill>
                  <a:schemeClr val="dk1"/>
                </a:solidFill>
                <a:latin typeface="Calibri Light"/>
                <a:ea typeface="+mn-ea"/>
                <a:cs typeface="+mn-cs"/>
              </a:rPr>
            </a:br>
            <a:r>
              <a:rPr lang="en-US" sz="4900" b="1" dirty="0" smtClean="0">
                <a:solidFill>
                  <a:schemeClr val="dk1"/>
                </a:solidFill>
                <a:latin typeface="Calibri Light"/>
                <a:ea typeface="+mn-ea"/>
                <a:cs typeface="+mn-cs"/>
              </a:rPr>
              <a:t>MAGNETIC FRAME OR YOKE</a:t>
            </a:r>
            <a:r>
              <a:rPr lang="en-US" b="1" dirty="0" smtClean="0">
                <a:cs typeface="Times New Roman" pitchFamily="18" charset="0"/>
              </a:rPr>
              <a:t/>
            </a:r>
            <a:br>
              <a:rPr lang="en-US" b="1" dirty="0" smtClean="0">
                <a:cs typeface="Times New Roman" pitchFamily="18" charset="0"/>
              </a:rPr>
            </a:br>
            <a:endParaRPr lang="en-US" b="1" dirty="0"/>
          </a:p>
        </p:txBody>
      </p:sp>
      <p:sp>
        <p:nvSpPr>
          <p:cNvPr id="4" name="Subtitle 3"/>
          <p:cNvSpPr>
            <a:spLocks noGrp="1"/>
          </p:cNvSpPr>
          <p:nvPr>
            <p:ph type="subTitle" idx="4294967295"/>
          </p:nvPr>
        </p:nvSpPr>
        <p:spPr>
          <a:xfrm>
            <a:off x="406294" y="1447800"/>
            <a:ext cx="11173090" cy="4114800"/>
          </a:xfrm>
          <a:prstGeom prst="rect">
            <a:avLst/>
          </a:prstGeom>
        </p:spPr>
        <p:txBody>
          <a:bodyPr>
            <a:normAutofit/>
          </a:bodyPr>
          <a:lstStyle/>
          <a:p>
            <a:pPr algn="just">
              <a:buFont typeface="Arial" pitchFamily="34" charset="0"/>
              <a:buChar char="•"/>
            </a:pPr>
            <a:r>
              <a:rPr lang="en-US" sz="2800" dirty="0" smtClean="0">
                <a:cs typeface="Times New Roman" pitchFamily="18" charset="0"/>
              </a:rPr>
              <a:t>The outer hollow cylindrical frame to which main poles and inter-poles are fixed and by means of which the machine is fixed to the foundation is known as Yoke.</a:t>
            </a:r>
          </a:p>
          <a:p>
            <a:pPr algn="just"/>
            <a:r>
              <a:rPr lang="en-US" sz="2800" dirty="0" smtClean="0">
                <a:cs typeface="Times New Roman" pitchFamily="18" charset="0"/>
              </a:rPr>
              <a:t>The two main purposes of the yoke are as follows:-</a:t>
            </a:r>
          </a:p>
          <a:p>
            <a:pPr algn="just">
              <a:buFont typeface="Arial" pitchFamily="34" charset="0"/>
              <a:buChar char="•"/>
            </a:pPr>
            <a:r>
              <a:rPr lang="en-US" sz="2800" dirty="0" smtClean="0">
                <a:cs typeface="Times New Roman" pitchFamily="18" charset="0"/>
              </a:rPr>
              <a:t>It supports the pole cores and provides mechanical protection to the inner parts of the machines.</a:t>
            </a:r>
          </a:p>
          <a:p>
            <a:pPr algn="just">
              <a:buFont typeface="Arial" pitchFamily="34" charset="0"/>
              <a:buChar char="•"/>
            </a:pPr>
            <a:r>
              <a:rPr lang="en-US" sz="2800" dirty="0" smtClean="0">
                <a:cs typeface="Times New Roman" pitchFamily="18" charset="0"/>
              </a:rPr>
              <a:t> It provides a low reluctance path for the magnetic flux.</a:t>
            </a:r>
          </a:p>
          <a:p>
            <a:pPr algn="just"/>
            <a:endParaRPr lang="en-US" sz="2800" dirty="0">
              <a:cs typeface="Times New Roman" pitchFamily="18" charset="0"/>
            </a:endParaRPr>
          </a:p>
        </p:txBody>
      </p:sp>
      <p:pic>
        <p:nvPicPr>
          <p:cNvPr id="5"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6" name="Group 28"/>
          <p:cNvGrpSpPr/>
          <p:nvPr/>
        </p:nvGrpSpPr>
        <p:grpSpPr>
          <a:xfrm>
            <a:off x="11961812" y="5791200"/>
            <a:ext cx="227013" cy="1066800"/>
            <a:chOff x="83821" y="0"/>
            <a:chExt cx="219636" cy="903079"/>
          </a:xfrm>
        </p:grpSpPr>
        <p:sp>
          <p:nvSpPr>
            <p:cNvPr id="7" name="Rectangle 6"/>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0734"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2" y="76200"/>
            <a:ext cx="10258928" cy="677108"/>
          </a:xfrm>
          <a:ln>
            <a:solidFill>
              <a:schemeClr val="tx1"/>
            </a:solidFill>
          </a:ln>
        </p:spPr>
        <p:txBody>
          <a:bodyPr>
            <a:noAutofit/>
          </a:bodyPr>
          <a:lstStyle/>
          <a:p>
            <a:r>
              <a:rPr lang="en-US" b="1" dirty="0" smtClean="0">
                <a:latin typeface="Calibri Light"/>
                <a:cs typeface="Arial" panose="020B0604020202020204" pitchFamily="34" charset="0"/>
              </a:rPr>
              <a:t>POLE CORE &amp; POLE SHOES</a:t>
            </a:r>
            <a:endParaRPr lang="en-US" b="1" dirty="0">
              <a:latin typeface="Calibri Light"/>
              <a:cs typeface="Arial" panose="020B0604020202020204" pitchFamily="34" charset="0"/>
            </a:endParaRPr>
          </a:p>
        </p:txBody>
      </p:sp>
      <p:sp>
        <p:nvSpPr>
          <p:cNvPr id="3" name="Text Placeholder 2"/>
          <p:cNvSpPr>
            <a:spLocks noGrp="1"/>
          </p:cNvSpPr>
          <p:nvPr>
            <p:ph type="body" idx="1"/>
          </p:nvPr>
        </p:nvSpPr>
        <p:spPr>
          <a:xfrm>
            <a:off x="-1" y="990600"/>
            <a:ext cx="12188825" cy="5943600"/>
          </a:xfrm>
        </p:spPr>
        <p:txBody>
          <a:bodyPr>
            <a:normAutofit/>
          </a:bodyPr>
          <a:lstStyle/>
          <a:p>
            <a:pPr algn="just">
              <a:buFont typeface="Arial" pitchFamily="34" charset="0"/>
              <a:buChar char="•"/>
            </a:pPr>
            <a:r>
              <a:rPr lang="en-US" sz="2800" dirty="0" smtClean="0">
                <a:cs typeface="Times New Roman" pitchFamily="18" charset="0"/>
              </a:rPr>
              <a:t> The Pole Core and Pole Shoes are fixed to the magnetic frame or yoke by bolts.</a:t>
            </a:r>
          </a:p>
          <a:p>
            <a:pPr algn="just">
              <a:buFont typeface="Arial" pitchFamily="34" charset="0"/>
              <a:buChar char="•"/>
            </a:pPr>
            <a:r>
              <a:rPr lang="en-US" sz="2800" dirty="0" smtClean="0">
                <a:cs typeface="Times New Roman" pitchFamily="18" charset="0"/>
              </a:rPr>
              <a:t> The pole core and shoes are made of thin cast steel or wrought iron laminations.</a:t>
            </a:r>
          </a:p>
          <a:p>
            <a:pPr algn="just">
              <a:buFont typeface="Arial" pitchFamily="34" charset="0"/>
              <a:buChar char="•"/>
            </a:pPr>
            <a:r>
              <a:rPr lang="en-US" sz="2800" dirty="0" smtClean="0">
                <a:cs typeface="Times New Roman" pitchFamily="18" charset="0"/>
              </a:rPr>
              <a:t>  It supports the field or exciting coils.</a:t>
            </a:r>
          </a:p>
          <a:p>
            <a:pPr algn="just">
              <a:buFont typeface="Arial" pitchFamily="34" charset="0"/>
              <a:buChar char="•"/>
            </a:pPr>
            <a:r>
              <a:rPr lang="en-US" sz="2800" dirty="0" smtClean="0">
                <a:cs typeface="Times New Roman" pitchFamily="18" charset="0"/>
              </a:rPr>
              <a:t> They spread out the magnetic flux over the armature periphery more uniformly. </a:t>
            </a:r>
          </a:p>
          <a:p>
            <a:pPr algn="just">
              <a:buFont typeface="Arial" pitchFamily="34" charset="0"/>
              <a:buChar char="•"/>
            </a:pPr>
            <a:r>
              <a:rPr lang="en-US" sz="2800" dirty="0" smtClean="0">
                <a:cs typeface="Times New Roman" pitchFamily="18" charset="0"/>
              </a:rPr>
              <a:t> It increases the cross-sectional area of the magnetic circuit, as a result, the reluctance of the magnetic path is reduced.</a:t>
            </a:r>
          </a:p>
          <a:p>
            <a:pPr algn="just">
              <a:buFont typeface="Arial" pitchFamily="34" charset="0"/>
              <a:buChar char="•"/>
            </a:pPr>
            <a:endParaRPr lang="en-US" sz="2800" dirty="0">
              <a:cs typeface="Times New Roman" pitchFamily="18" charset="0"/>
            </a:endParaRPr>
          </a:p>
        </p:txBody>
      </p:sp>
      <p:pic>
        <p:nvPicPr>
          <p:cNvPr id="1027" name="Picture 3"/>
          <p:cNvPicPr>
            <a:picLocks noChangeAspect="1" noChangeArrowheads="1"/>
          </p:cNvPicPr>
          <p:nvPr/>
        </p:nvPicPr>
        <p:blipFill>
          <a:blip r:embed="rId4" cstate="print"/>
          <a:srcRect/>
          <a:stretch>
            <a:fillRect/>
          </a:stretch>
        </p:blipFill>
        <p:spPr bwMode="auto">
          <a:xfrm>
            <a:off x="4037012" y="4343400"/>
            <a:ext cx="3581400" cy="1828800"/>
          </a:xfrm>
          <a:prstGeom prst="rect">
            <a:avLst/>
          </a:prstGeom>
          <a:noFill/>
          <a:ln w="9525">
            <a:solidFill>
              <a:schemeClr val="tx1"/>
            </a:solidFill>
            <a:miter lim="800000"/>
            <a:headEnd/>
            <a:tailEnd/>
          </a:ln>
          <a:effectLst/>
        </p:spPr>
      </p:pic>
      <p:pic>
        <p:nvPicPr>
          <p:cNvPr id="5" name="Picture 1" descr="D:\study materal\CU data\BEEE\CU logo.png"/>
          <p:cNvPicPr>
            <a:picLocks noChangeAspect="1" noChangeArrowheads="1"/>
          </p:cNvPicPr>
          <p:nvPr/>
        </p:nvPicPr>
        <p:blipFill>
          <a:blip r:embed="rId5" cstate="print"/>
          <a:srcRect/>
          <a:stretch>
            <a:fillRect/>
          </a:stretch>
        </p:blipFill>
        <p:spPr bwMode="auto">
          <a:xfrm>
            <a:off x="0" y="0"/>
            <a:ext cx="676275" cy="1038225"/>
          </a:xfrm>
          <a:prstGeom prst="rect">
            <a:avLst/>
          </a:prstGeom>
          <a:noFill/>
        </p:spPr>
      </p:pic>
      <p:sp>
        <p:nvSpPr>
          <p:cNvPr id="6" name="object 4"/>
          <p:cNvSpPr/>
          <p:nvPr/>
        </p:nvSpPr>
        <p:spPr>
          <a:xfrm>
            <a:off x="4113212" y="6248400"/>
            <a:ext cx="4267200" cy="3810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r>
              <a:rPr lang="en-US" b="1" dirty="0" smtClean="0"/>
              <a:t>Fig:6. Pole Core &amp; Pole Shoes</a:t>
            </a:r>
            <a:endParaRPr b="1"/>
          </a:p>
        </p:txBody>
      </p:sp>
      <p:sp>
        <p:nvSpPr>
          <p:cNvPr id="7" name="Rectangle 6"/>
          <p:cNvSpPr/>
          <p:nvPr/>
        </p:nvSpPr>
        <p:spPr>
          <a:xfrm>
            <a:off x="3198812" y="6488668"/>
            <a:ext cx="5735737" cy="369332"/>
          </a:xfrm>
          <a:prstGeom prst="rect">
            <a:avLst/>
          </a:prstGeom>
          <a:ln>
            <a:solidFill>
              <a:schemeClr val="tx1"/>
            </a:solidFill>
          </a:ln>
        </p:spPr>
        <p:txBody>
          <a:bodyPr wrap="none">
            <a:spAutoFit/>
          </a:bodyPr>
          <a:lstStyle/>
          <a:p>
            <a:r>
              <a:rPr lang="en-US" dirty="0" smtClean="0">
                <a:hlinkClick r:id="rId6"/>
              </a:rPr>
              <a:t>https://circuitglobe.com/construction-of-dc-generator.html</a:t>
            </a:r>
            <a:endParaRPr lang="en-US" dirty="0"/>
          </a:p>
        </p:txBody>
      </p:sp>
      <p:grpSp>
        <p:nvGrpSpPr>
          <p:cNvPr id="8" name="Group 28"/>
          <p:cNvGrpSpPr/>
          <p:nvPr/>
        </p:nvGrpSpPr>
        <p:grpSpPr>
          <a:xfrm>
            <a:off x="11961812" y="5791200"/>
            <a:ext cx="227013" cy="1066800"/>
            <a:chOff x="83821" y="0"/>
            <a:chExt cx="219636" cy="903079"/>
          </a:xfrm>
        </p:grpSpPr>
        <p:sp>
          <p:nvSpPr>
            <p:cNvPr id="9" name="Rectangle 8"/>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9710" name="CorelDRAW" r:id="rId7" imgW="2169000" imgH="2169360" progId="">
                    <p:embed/>
                  </p:oleObj>
                </mc:Choice>
                <mc:Fallback>
                  <p:oleObj name="CorelDRAW" r:id="rId7" imgW="2169000" imgH="2169360" progId="">
                    <p:embed/>
                    <p:pic>
                      <p:nvPicPr>
                        <p:cNvPr id="0"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2" y="228600"/>
            <a:ext cx="10258928" cy="677108"/>
          </a:xfrm>
          <a:ln>
            <a:solidFill>
              <a:schemeClr val="tx1"/>
            </a:solidFill>
          </a:ln>
        </p:spPr>
        <p:txBody>
          <a:bodyPr>
            <a:noAutofit/>
          </a:bodyPr>
          <a:lstStyle/>
          <a:p>
            <a:pPr>
              <a:lnSpc>
                <a:spcPct val="90000"/>
              </a:lnSpc>
              <a:defRPr/>
            </a:pPr>
            <a:r>
              <a:rPr lang="en-US" b="1" dirty="0" smtClean="0">
                <a:solidFill>
                  <a:schemeClr val="dk1"/>
                </a:solidFill>
                <a:latin typeface="Calibri Light"/>
                <a:ea typeface="+mn-ea"/>
                <a:cs typeface="+mn-cs"/>
              </a:rPr>
              <a:t>FIELD or EXCITING COILS</a:t>
            </a:r>
          </a:p>
        </p:txBody>
      </p:sp>
      <p:sp>
        <p:nvSpPr>
          <p:cNvPr id="3" name="Text Placeholder 2"/>
          <p:cNvSpPr>
            <a:spLocks noGrp="1"/>
          </p:cNvSpPr>
          <p:nvPr>
            <p:ph type="body" idx="1"/>
          </p:nvPr>
        </p:nvSpPr>
        <p:spPr>
          <a:xfrm>
            <a:off x="104958" y="1221995"/>
            <a:ext cx="11856853" cy="1846659"/>
          </a:xfrm>
        </p:spPr>
        <p:txBody>
          <a:bodyPr>
            <a:noAutofit/>
          </a:bodyPr>
          <a:lstStyle/>
          <a:p>
            <a:pPr algn="just">
              <a:buFont typeface="Arial" pitchFamily="34" charset="0"/>
              <a:buChar char="•"/>
            </a:pPr>
            <a:r>
              <a:rPr lang="en-US" sz="2800" dirty="0" smtClean="0">
                <a:cs typeface="Times New Roman" pitchFamily="18" charset="0"/>
              </a:rPr>
              <a:t> The enameled copper wire is used for the construction of field or exciting coils.</a:t>
            </a:r>
          </a:p>
          <a:p>
            <a:pPr algn="just">
              <a:buFont typeface="Arial" pitchFamily="34" charset="0"/>
              <a:buChar char="•"/>
            </a:pPr>
            <a:r>
              <a:rPr lang="en-US" sz="2800" dirty="0" smtClean="0">
                <a:cs typeface="Times New Roman" pitchFamily="18" charset="0"/>
              </a:rPr>
              <a:t> The field coils of all the poles are connected in series in such a way that when current flows through them, the adjacent poles attain opposite polarity.</a:t>
            </a:r>
            <a:endParaRPr lang="en-US" sz="2800" dirty="0">
              <a:cs typeface="Times New Roman" pitchFamily="18" charset="0"/>
            </a:endParaRPr>
          </a:p>
        </p:txBody>
      </p:sp>
      <p:pic>
        <p:nvPicPr>
          <p:cNvPr id="2050" name="Picture 2"/>
          <p:cNvPicPr>
            <a:picLocks noChangeAspect="1" noChangeArrowheads="1"/>
          </p:cNvPicPr>
          <p:nvPr/>
        </p:nvPicPr>
        <p:blipFill>
          <a:blip r:embed="rId3" cstate="print"/>
          <a:srcRect/>
          <a:stretch>
            <a:fillRect/>
          </a:stretch>
        </p:blipFill>
        <p:spPr bwMode="auto">
          <a:xfrm>
            <a:off x="3732212" y="3429000"/>
            <a:ext cx="4572000" cy="2514600"/>
          </a:xfrm>
          <a:prstGeom prst="rect">
            <a:avLst/>
          </a:prstGeom>
          <a:noFill/>
          <a:ln w="9525">
            <a:solidFill>
              <a:schemeClr val="tx1"/>
            </a:solidFill>
            <a:miter lim="800000"/>
            <a:headEnd/>
            <a:tailEnd/>
          </a:ln>
          <a:effectLst/>
        </p:spPr>
      </p:pic>
      <p:pic>
        <p:nvPicPr>
          <p:cNvPr id="5" name="Picture 1" descr="D:\study materal\CU data\BEEE\CU logo.png"/>
          <p:cNvPicPr>
            <a:picLocks noChangeAspect="1" noChangeArrowheads="1"/>
          </p:cNvPicPr>
          <p:nvPr/>
        </p:nvPicPr>
        <p:blipFill>
          <a:blip r:embed="rId4" cstate="print"/>
          <a:srcRect/>
          <a:stretch>
            <a:fillRect/>
          </a:stretch>
        </p:blipFill>
        <p:spPr bwMode="auto">
          <a:xfrm>
            <a:off x="0" y="0"/>
            <a:ext cx="676275" cy="1038225"/>
          </a:xfrm>
          <a:prstGeom prst="rect">
            <a:avLst/>
          </a:prstGeom>
          <a:noFill/>
        </p:spPr>
      </p:pic>
      <p:sp>
        <p:nvSpPr>
          <p:cNvPr id="6" name="object 4"/>
          <p:cNvSpPr/>
          <p:nvPr/>
        </p:nvSpPr>
        <p:spPr>
          <a:xfrm>
            <a:off x="3275012" y="6019800"/>
            <a:ext cx="4953000" cy="3810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pPr algn="ctr"/>
            <a:r>
              <a:rPr lang="en-US" b="1" dirty="0" smtClean="0"/>
              <a:t>Fig:7. Field or Exciting Coils </a:t>
            </a:r>
            <a:endParaRPr b="1"/>
          </a:p>
        </p:txBody>
      </p:sp>
      <p:sp>
        <p:nvSpPr>
          <p:cNvPr id="7" name="Rectangle 6"/>
          <p:cNvSpPr/>
          <p:nvPr/>
        </p:nvSpPr>
        <p:spPr>
          <a:xfrm>
            <a:off x="3226544" y="6336268"/>
            <a:ext cx="5735737" cy="369332"/>
          </a:xfrm>
          <a:prstGeom prst="rect">
            <a:avLst/>
          </a:prstGeom>
          <a:ln>
            <a:solidFill>
              <a:schemeClr val="tx1"/>
            </a:solidFill>
          </a:ln>
        </p:spPr>
        <p:txBody>
          <a:bodyPr wrap="none">
            <a:spAutoFit/>
          </a:bodyPr>
          <a:lstStyle/>
          <a:p>
            <a:r>
              <a:rPr lang="en-US" dirty="0" smtClean="0">
                <a:hlinkClick r:id="rId5"/>
              </a:rPr>
              <a:t>https://circuitglobe.com/construction-of-dc-generator.html</a:t>
            </a:r>
            <a:endParaRPr lang="en-US" dirty="0"/>
          </a:p>
        </p:txBody>
      </p:sp>
      <p:grpSp>
        <p:nvGrpSpPr>
          <p:cNvPr id="8" name="Group 28"/>
          <p:cNvGrpSpPr/>
          <p:nvPr/>
        </p:nvGrpSpPr>
        <p:grpSpPr>
          <a:xfrm>
            <a:off x="11961812" y="5791200"/>
            <a:ext cx="227013" cy="1066800"/>
            <a:chOff x="83821" y="0"/>
            <a:chExt cx="219636" cy="903079"/>
          </a:xfrm>
        </p:grpSpPr>
        <p:sp>
          <p:nvSpPr>
            <p:cNvPr id="9" name="Rectangle 8"/>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7662" name="CorelDRAW" r:id="rId6" imgW="2169000" imgH="2169360" progId="">
                    <p:embed/>
                  </p:oleObj>
                </mc:Choice>
                <mc:Fallback>
                  <p:oleObj name="CorelDRAW" r:id="rId6" imgW="2169000" imgH="2169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736" y="362457"/>
            <a:ext cx="9649486" cy="677108"/>
          </a:xfrm>
          <a:ln>
            <a:solidFill>
              <a:schemeClr val="tx1"/>
            </a:solidFill>
          </a:ln>
        </p:spPr>
        <p:txBody>
          <a:bodyPr>
            <a:noAutofit/>
          </a:bodyPr>
          <a:lstStyle/>
          <a:p>
            <a:pPr>
              <a:lnSpc>
                <a:spcPct val="90000"/>
              </a:lnSpc>
              <a:defRPr/>
            </a:pPr>
            <a:r>
              <a:rPr lang="en-US" b="1" dirty="0" smtClean="0">
                <a:solidFill>
                  <a:schemeClr val="dk1"/>
                </a:solidFill>
                <a:latin typeface="Calibri Light"/>
                <a:ea typeface="+mn-ea"/>
                <a:cs typeface="+mn-cs"/>
              </a:rPr>
              <a:t>ARMATURE WINDING</a:t>
            </a:r>
            <a:endParaRPr lang="en-US" b="1" dirty="0">
              <a:solidFill>
                <a:schemeClr val="dk1"/>
              </a:solidFill>
              <a:latin typeface="Calibri Light"/>
              <a:ea typeface="+mn-ea"/>
              <a:cs typeface="+mn-cs"/>
            </a:endParaRPr>
          </a:p>
        </p:txBody>
      </p:sp>
      <p:sp>
        <p:nvSpPr>
          <p:cNvPr id="3" name="Text Placeholder 2"/>
          <p:cNvSpPr>
            <a:spLocks noGrp="1"/>
          </p:cNvSpPr>
          <p:nvPr>
            <p:ph type="body" idx="1"/>
          </p:nvPr>
        </p:nvSpPr>
        <p:spPr>
          <a:xfrm>
            <a:off x="104959" y="1221995"/>
            <a:ext cx="11628253" cy="5255005"/>
          </a:xfrm>
        </p:spPr>
        <p:txBody>
          <a:bodyPr>
            <a:noAutofit/>
          </a:bodyPr>
          <a:lstStyle/>
          <a:p>
            <a:pPr algn="just">
              <a:buFont typeface="Arial" pitchFamily="34" charset="0"/>
              <a:buChar char="•"/>
            </a:pPr>
            <a:r>
              <a:rPr lang="en-US" sz="2800" dirty="0" smtClean="0">
                <a:cs typeface="Times New Roman" pitchFamily="18" charset="0"/>
              </a:rPr>
              <a:t> The insulated conductors are placed in the slots of the armature core. </a:t>
            </a:r>
          </a:p>
          <a:p>
            <a:pPr algn="just">
              <a:buFont typeface="Arial" pitchFamily="34" charset="0"/>
              <a:buChar char="•"/>
            </a:pPr>
            <a:r>
              <a:rPr lang="en-US" sz="2800" dirty="0" smtClean="0">
                <a:cs typeface="Times New Roman" pitchFamily="18" charset="0"/>
              </a:rPr>
              <a:t> </a:t>
            </a:r>
            <a:r>
              <a:rPr lang="en-US" sz="2800" b="1" dirty="0" smtClean="0">
                <a:cs typeface="Times New Roman" pitchFamily="18" charset="0"/>
              </a:rPr>
              <a:t>The armature winding is the heart of the DC Machine.</a:t>
            </a:r>
            <a:endParaRPr lang="en-US" sz="2800" dirty="0" smtClean="0">
              <a:cs typeface="Times New Roman" pitchFamily="18" charset="0"/>
            </a:endParaRPr>
          </a:p>
          <a:p>
            <a:pPr algn="just"/>
            <a:r>
              <a:rPr lang="en-US" sz="2800" dirty="0" smtClean="0">
                <a:cs typeface="Times New Roman" pitchFamily="18" charset="0"/>
              </a:rPr>
              <a:t>Armature winding is a place where conversion of power takes place. </a:t>
            </a:r>
          </a:p>
          <a:p>
            <a:pPr algn="just">
              <a:buFont typeface="Arial" pitchFamily="34" charset="0"/>
              <a:buChar char="•"/>
            </a:pPr>
            <a:r>
              <a:rPr lang="en-US" sz="2800" dirty="0" smtClean="0">
                <a:cs typeface="Times New Roman" pitchFamily="18" charset="0"/>
              </a:rPr>
              <a:t> windings are classified into two types named as Lap Winding and Wave Winding.</a:t>
            </a:r>
          </a:p>
          <a:p>
            <a:pPr algn="just"/>
            <a:r>
              <a:rPr lang="en-US" sz="2800" b="1" dirty="0" smtClean="0">
                <a:cs typeface="Times New Roman" pitchFamily="18" charset="0"/>
              </a:rPr>
              <a:t>Lap Winding</a:t>
            </a:r>
            <a:endParaRPr lang="en-US" sz="2800" dirty="0" smtClean="0">
              <a:cs typeface="Times New Roman" pitchFamily="18" charset="0"/>
            </a:endParaRPr>
          </a:p>
          <a:p>
            <a:pPr algn="just"/>
            <a:r>
              <a:rPr lang="en-US" sz="2800" dirty="0" smtClean="0">
                <a:cs typeface="Times New Roman" pitchFamily="18" charset="0"/>
              </a:rPr>
              <a:t>In lap winding, the conductors are connected in such a way that the number of parallel paths are equal to the number of poles.</a:t>
            </a:r>
          </a:p>
          <a:p>
            <a:pPr algn="just"/>
            <a:r>
              <a:rPr lang="en-US" sz="2800" b="1" dirty="0" smtClean="0">
                <a:cs typeface="Times New Roman" pitchFamily="18" charset="0"/>
              </a:rPr>
              <a:t>Wave Winding</a:t>
            </a:r>
            <a:endParaRPr lang="en-US" sz="2800" dirty="0" smtClean="0">
              <a:cs typeface="Times New Roman" pitchFamily="18" charset="0"/>
            </a:endParaRPr>
          </a:p>
          <a:p>
            <a:pPr algn="just"/>
            <a:r>
              <a:rPr lang="en-US" sz="2800" dirty="0" smtClean="0">
                <a:cs typeface="Times New Roman" pitchFamily="18" charset="0"/>
              </a:rPr>
              <a:t>In wave winding, the conductors are so connected that they are divided into two parallel paths irrespective of the number of poles of the machine.</a:t>
            </a:r>
          </a:p>
          <a:p>
            <a:pPr algn="just"/>
            <a:endParaRPr lang="en-US" sz="2800" dirty="0" smtClean="0">
              <a:cs typeface="Times New Roman" pitchFamily="18" charset="0"/>
            </a:endParaRPr>
          </a:p>
          <a:p>
            <a:pPr algn="just"/>
            <a:endParaRPr lang="en-US" sz="2800" dirty="0" smtClean="0">
              <a:cs typeface="Times New Roman" pitchFamily="18" charset="0"/>
            </a:endParaRPr>
          </a:p>
          <a:p>
            <a:pPr algn="just"/>
            <a:endParaRPr lang="en-US" sz="2800" dirty="0" smtClean="0">
              <a:cs typeface="Times New Roman" pitchFamily="18" charset="0"/>
            </a:endParaRPr>
          </a:p>
          <a:p>
            <a:pPr algn="just">
              <a:buFont typeface="Arial" pitchFamily="34" charset="0"/>
              <a:buChar char="•"/>
            </a:pPr>
            <a:endParaRPr lang="en-US" sz="2800" dirty="0">
              <a:cs typeface="Times New Roman" pitchFamily="18" charset="0"/>
            </a:endParaRPr>
          </a:p>
        </p:txBody>
      </p:sp>
      <p:pic>
        <p:nvPicPr>
          <p:cNvPr id="4"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5" name="Group 28"/>
          <p:cNvGrpSpPr/>
          <p:nvPr/>
        </p:nvGrpSpPr>
        <p:grpSpPr>
          <a:xfrm>
            <a:off x="11961812" y="5791200"/>
            <a:ext cx="227013" cy="1066800"/>
            <a:chOff x="83821" y="0"/>
            <a:chExt cx="219636" cy="903079"/>
          </a:xfrm>
        </p:grpSpPr>
        <p:sp>
          <p:nvSpPr>
            <p:cNvPr id="6" name="Rectangle 5"/>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6638"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2" y="152400"/>
            <a:ext cx="10668000" cy="914400"/>
          </a:xfrm>
          <a:ln>
            <a:solidFill>
              <a:schemeClr val="tx1"/>
            </a:solidFill>
          </a:ln>
        </p:spPr>
        <p:txBody>
          <a:bodyPr>
            <a:normAutofit fontScale="90000"/>
          </a:bodyPr>
          <a:lstStyle/>
          <a:p>
            <a:r>
              <a:rPr lang="en-US" sz="4900" b="1" dirty="0" smtClean="0">
                <a:solidFill>
                  <a:schemeClr val="dk1"/>
                </a:solidFill>
                <a:latin typeface="Calibri Light"/>
                <a:ea typeface="+mn-ea"/>
                <a:cs typeface="+mn-cs"/>
              </a:rPr>
              <a:t/>
            </a:r>
            <a:br>
              <a:rPr lang="en-US" sz="4900" b="1" dirty="0" smtClean="0">
                <a:solidFill>
                  <a:schemeClr val="dk1"/>
                </a:solidFill>
                <a:latin typeface="Calibri Light"/>
                <a:ea typeface="+mn-ea"/>
                <a:cs typeface="+mn-cs"/>
              </a:rPr>
            </a:br>
            <a:r>
              <a:rPr lang="en-US" sz="4900" b="1" dirty="0" smtClean="0">
                <a:solidFill>
                  <a:schemeClr val="dk1"/>
                </a:solidFill>
                <a:latin typeface="Calibri Light"/>
                <a:ea typeface="+mn-ea"/>
                <a:cs typeface="+mn-cs"/>
              </a:rPr>
              <a:t>COMMUTATOR</a:t>
            </a:r>
            <a:r>
              <a:rPr lang="en-US" b="1" dirty="0" smtClean="0"/>
              <a:t> </a:t>
            </a:r>
            <a:br>
              <a:rPr lang="en-US" b="1" dirty="0" smtClean="0"/>
            </a:br>
            <a:endParaRPr lang="en-US" b="1" dirty="0"/>
          </a:p>
        </p:txBody>
      </p:sp>
      <p:sp>
        <p:nvSpPr>
          <p:cNvPr id="3" name="Text Placeholder 2"/>
          <p:cNvSpPr>
            <a:spLocks noGrp="1"/>
          </p:cNvSpPr>
          <p:nvPr>
            <p:ph type="body" idx="1"/>
          </p:nvPr>
        </p:nvSpPr>
        <p:spPr>
          <a:xfrm>
            <a:off x="104959" y="1221994"/>
            <a:ext cx="11575999" cy="5407406"/>
          </a:xfrm>
        </p:spPr>
        <p:txBody>
          <a:bodyPr>
            <a:normAutofit/>
          </a:bodyPr>
          <a:lstStyle/>
          <a:p>
            <a:pPr algn="just">
              <a:buFont typeface="Arial" pitchFamily="34" charset="0"/>
              <a:buChar char="•"/>
            </a:pPr>
            <a:r>
              <a:rPr lang="en-US" sz="2800" dirty="0" smtClean="0">
                <a:cs typeface="Times New Roman" pitchFamily="18" charset="0"/>
              </a:rPr>
              <a:t> The </a:t>
            </a:r>
            <a:r>
              <a:rPr lang="en-US" sz="2800" dirty="0" err="1" smtClean="0">
                <a:cs typeface="Times New Roman" pitchFamily="18" charset="0"/>
              </a:rPr>
              <a:t>commutator</a:t>
            </a:r>
            <a:r>
              <a:rPr lang="en-US" sz="2800" dirty="0" smtClean="0">
                <a:cs typeface="Times New Roman" pitchFamily="18" charset="0"/>
              </a:rPr>
              <a:t> which rotates with the armature, is cylindrical in shape.</a:t>
            </a:r>
          </a:p>
          <a:p>
            <a:pPr algn="just">
              <a:buFont typeface="Arial" pitchFamily="34" charset="0"/>
              <a:buChar char="•"/>
            </a:pPr>
            <a:r>
              <a:rPr lang="en-US" sz="2800" dirty="0" smtClean="0">
                <a:cs typeface="Times New Roman" pitchFamily="18" charset="0"/>
              </a:rPr>
              <a:t> It connects the rotating armature conductors to the stationary external circuit through brushes.</a:t>
            </a:r>
          </a:p>
          <a:p>
            <a:pPr algn="just">
              <a:buFont typeface="Arial" pitchFamily="34" charset="0"/>
              <a:buChar char="•"/>
            </a:pPr>
            <a:r>
              <a:rPr lang="en-US" sz="2800" dirty="0" smtClean="0">
                <a:cs typeface="Times New Roman" pitchFamily="18" charset="0"/>
              </a:rPr>
              <a:t> It converts the induced alternating current in the armature conductor into unidirectional current in the external load circuit in DC Generator action, whereas it converts the alternating torque into unidirectional (continuous) torque produced in the armature in motor action.</a:t>
            </a:r>
          </a:p>
          <a:p>
            <a:pPr algn="just">
              <a:buFont typeface="Arial" pitchFamily="34" charset="0"/>
              <a:buChar char="•"/>
            </a:pPr>
            <a:endParaRPr lang="en-US" sz="2800" dirty="0">
              <a:cs typeface="Times New Roman" pitchFamily="18" charset="0"/>
            </a:endParaRPr>
          </a:p>
        </p:txBody>
      </p:sp>
      <p:pic>
        <p:nvPicPr>
          <p:cNvPr id="4098" name="Picture 2"/>
          <p:cNvPicPr>
            <a:picLocks noChangeAspect="1" noChangeArrowheads="1"/>
          </p:cNvPicPr>
          <p:nvPr/>
        </p:nvPicPr>
        <p:blipFill>
          <a:blip r:embed="rId3" cstate="print"/>
          <a:srcRect/>
          <a:stretch>
            <a:fillRect/>
          </a:stretch>
        </p:blipFill>
        <p:spPr bwMode="auto">
          <a:xfrm>
            <a:off x="4570412" y="4419600"/>
            <a:ext cx="3048000" cy="1752600"/>
          </a:xfrm>
          <a:prstGeom prst="rect">
            <a:avLst/>
          </a:prstGeom>
          <a:noFill/>
          <a:ln w="9525">
            <a:solidFill>
              <a:schemeClr val="tx1"/>
            </a:solidFill>
            <a:miter lim="800000"/>
            <a:headEnd/>
            <a:tailEnd/>
          </a:ln>
          <a:effectLst/>
        </p:spPr>
      </p:pic>
      <p:pic>
        <p:nvPicPr>
          <p:cNvPr id="5" name="Picture 1" descr="D:\study materal\CU data\BEEE\CU logo.png"/>
          <p:cNvPicPr>
            <a:picLocks noChangeAspect="1" noChangeArrowheads="1"/>
          </p:cNvPicPr>
          <p:nvPr/>
        </p:nvPicPr>
        <p:blipFill>
          <a:blip r:embed="rId4" cstate="print"/>
          <a:srcRect/>
          <a:stretch>
            <a:fillRect/>
          </a:stretch>
        </p:blipFill>
        <p:spPr bwMode="auto">
          <a:xfrm>
            <a:off x="0" y="0"/>
            <a:ext cx="676275" cy="1038225"/>
          </a:xfrm>
          <a:prstGeom prst="rect">
            <a:avLst/>
          </a:prstGeom>
          <a:noFill/>
        </p:spPr>
      </p:pic>
      <p:sp>
        <p:nvSpPr>
          <p:cNvPr id="6" name="object 4"/>
          <p:cNvSpPr/>
          <p:nvPr/>
        </p:nvSpPr>
        <p:spPr>
          <a:xfrm>
            <a:off x="4341812" y="6248400"/>
            <a:ext cx="4267200" cy="304800"/>
          </a:xfrm>
          <a:custGeom>
            <a:avLst/>
            <a:gdLst/>
            <a:ahLst/>
            <a:cxnLst/>
            <a:rect l="l" t="t" r="r" b="b"/>
            <a:pathLst>
              <a:path w="2209800" h="381000">
                <a:moveTo>
                  <a:pt x="0" y="381000"/>
                </a:moveTo>
                <a:lnTo>
                  <a:pt x="2209799" y="381000"/>
                </a:lnTo>
                <a:lnTo>
                  <a:pt x="2209799" y="0"/>
                </a:lnTo>
                <a:lnTo>
                  <a:pt x="0" y="0"/>
                </a:lnTo>
                <a:lnTo>
                  <a:pt x="0" y="381000"/>
                </a:lnTo>
                <a:close/>
              </a:path>
            </a:pathLst>
          </a:custGeom>
          <a:solidFill>
            <a:srgbClr val="FFFFFF"/>
          </a:solidFill>
        </p:spPr>
        <p:txBody>
          <a:bodyPr wrap="square" lIns="0" tIns="0" rIns="0" bIns="0" rtlCol="0"/>
          <a:lstStyle/>
          <a:p>
            <a:pPr algn="ctr"/>
            <a:r>
              <a:rPr lang="en-US" b="1" dirty="0" smtClean="0"/>
              <a:t>Fig:8. Commutator </a:t>
            </a:r>
            <a:br>
              <a:rPr lang="en-US" b="1" dirty="0" smtClean="0"/>
            </a:br>
            <a:endParaRPr b="1"/>
          </a:p>
        </p:txBody>
      </p:sp>
      <p:sp>
        <p:nvSpPr>
          <p:cNvPr id="7" name="Rectangle 6"/>
          <p:cNvSpPr/>
          <p:nvPr/>
        </p:nvSpPr>
        <p:spPr>
          <a:xfrm>
            <a:off x="3732212" y="6488668"/>
            <a:ext cx="5735737" cy="369332"/>
          </a:xfrm>
          <a:prstGeom prst="rect">
            <a:avLst/>
          </a:prstGeom>
          <a:ln>
            <a:solidFill>
              <a:schemeClr val="tx1"/>
            </a:solidFill>
          </a:ln>
        </p:spPr>
        <p:txBody>
          <a:bodyPr wrap="none">
            <a:spAutoFit/>
          </a:bodyPr>
          <a:lstStyle/>
          <a:p>
            <a:r>
              <a:rPr lang="en-US" dirty="0" smtClean="0">
                <a:hlinkClick r:id="rId5"/>
              </a:rPr>
              <a:t>https://circuitglobe.com/construction-of-dc-generator.html</a:t>
            </a:r>
            <a:endParaRPr lang="en-US" dirty="0"/>
          </a:p>
        </p:txBody>
      </p:sp>
      <p:grpSp>
        <p:nvGrpSpPr>
          <p:cNvPr id="8" name="Group 28"/>
          <p:cNvGrpSpPr/>
          <p:nvPr/>
        </p:nvGrpSpPr>
        <p:grpSpPr>
          <a:xfrm>
            <a:off x="11961812" y="5791200"/>
            <a:ext cx="227013" cy="1066800"/>
            <a:chOff x="83821" y="0"/>
            <a:chExt cx="219636" cy="903079"/>
          </a:xfrm>
        </p:grpSpPr>
        <p:sp>
          <p:nvSpPr>
            <p:cNvPr id="9" name="Rectangle 8"/>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5614" name="CorelDRAW" r:id="rId6" imgW="2169000" imgH="2169360" progId="">
                    <p:embed/>
                  </p:oleObj>
                </mc:Choice>
                <mc:Fallback>
                  <p:oleObj name="CorelDRAW" r:id="rId6" imgW="2169000" imgH="2169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2" y="152399"/>
            <a:ext cx="10820400" cy="762001"/>
          </a:xfrm>
          <a:ln>
            <a:solidFill>
              <a:schemeClr val="tx1"/>
            </a:solidFill>
          </a:ln>
        </p:spPr>
        <p:txBody>
          <a:bodyPr>
            <a:normAutofit fontScale="90000"/>
          </a:bodyPr>
          <a:lstStyle/>
          <a:p>
            <a:r>
              <a:rPr lang="en-US" sz="4900" b="1" dirty="0" smtClean="0">
                <a:solidFill>
                  <a:schemeClr val="dk1"/>
                </a:solidFill>
                <a:latin typeface="Calibri Light"/>
                <a:ea typeface="+mn-ea"/>
                <a:cs typeface="+mn-cs"/>
              </a:rPr>
              <a:t/>
            </a:r>
            <a:br>
              <a:rPr lang="en-US" sz="4900" b="1" dirty="0" smtClean="0">
                <a:solidFill>
                  <a:schemeClr val="dk1"/>
                </a:solidFill>
                <a:latin typeface="Calibri Light"/>
                <a:ea typeface="+mn-ea"/>
                <a:cs typeface="+mn-cs"/>
              </a:rPr>
            </a:br>
            <a:r>
              <a:rPr lang="en-US" sz="4900" b="1" dirty="0" smtClean="0">
                <a:solidFill>
                  <a:schemeClr val="dk1"/>
                </a:solidFill>
                <a:latin typeface="Calibri Light"/>
                <a:ea typeface="+mn-ea"/>
                <a:cs typeface="+mn-cs"/>
              </a:rPr>
              <a:t>BRUSHES</a:t>
            </a:r>
            <a:r>
              <a:rPr lang="en-US" b="1" dirty="0" smtClean="0"/>
              <a:t/>
            </a:r>
            <a:br>
              <a:rPr lang="en-US" b="1" dirty="0" smtClean="0"/>
            </a:br>
            <a:endParaRPr lang="en-US" b="1" dirty="0"/>
          </a:p>
        </p:txBody>
      </p:sp>
      <p:sp>
        <p:nvSpPr>
          <p:cNvPr id="3" name="Text Placeholder 2"/>
          <p:cNvSpPr>
            <a:spLocks noGrp="1"/>
          </p:cNvSpPr>
          <p:nvPr>
            <p:ph type="body" idx="1"/>
          </p:nvPr>
        </p:nvSpPr>
        <p:spPr>
          <a:xfrm>
            <a:off x="104958" y="1219200"/>
            <a:ext cx="11628253" cy="2438400"/>
          </a:xfrm>
        </p:spPr>
        <p:txBody>
          <a:bodyPr>
            <a:noAutofit/>
          </a:bodyPr>
          <a:lstStyle/>
          <a:p>
            <a:pPr algn="just">
              <a:buFont typeface="Arial" pitchFamily="34" charset="0"/>
              <a:buChar char="•"/>
            </a:pPr>
            <a:r>
              <a:rPr lang="en-US" sz="2800" dirty="0" smtClean="0">
                <a:cs typeface="Times New Roman" pitchFamily="18" charset="0"/>
              </a:rPr>
              <a:t> The brushes are pressed upon the Commutator and form the connecting link between the armature winding and the external circuit.</a:t>
            </a:r>
          </a:p>
          <a:p>
            <a:pPr algn="just">
              <a:buFont typeface="Arial" pitchFamily="34" charset="0"/>
              <a:buChar char="•"/>
            </a:pPr>
            <a:r>
              <a:rPr lang="en-US" sz="2800" dirty="0" smtClean="0">
                <a:cs typeface="Times New Roman" pitchFamily="18" charset="0"/>
              </a:rPr>
              <a:t> The pressure exerted by the brushes on the Commutator can be adjusted and is maintained at a constant value by means of springs.</a:t>
            </a:r>
          </a:p>
          <a:p>
            <a:pPr algn="just">
              <a:buFont typeface="Arial" pitchFamily="34" charset="0"/>
              <a:buChar char="•"/>
            </a:pPr>
            <a:r>
              <a:rPr lang="en-US" sz="2800" dirty="0" smtClean="0">
                <a:cs typeface="Times New Roman" pitchFamily="18" charset="0"/>
              </a:rPr>
              <a:t> It can be used to provide a lubricating effect on Commutator surface.</a:t>
            </a:r>
            <a:endParaRPr lang="en-US" sz="2800" dirty="0">
              <a:cs typeface="Times New Roman" pitchFamily="18" charset="0"/>
            </a:endParaRPr>
          </a:p>
        </p:txBody>
      </p:sp>
      <p:sp>
        <p:nvSpPr>
          <p:cNvPr id="4" name="Rectangle 3"/>
          <p:cNvSpPr/>
          <p:nvPr/>
        </p:nvSpPr>
        <p:spPr>
          <a:xfrm>
            <a:off x="74612" y="3568005"/>
            <a:ext cx="11961812" cy="1384995"/>
          </a:xfrm>
          <a:prstGeom prst="rect">
            <a:avLst/>
          </a:prstGeom>
        </p:spPr>
        <p:txBody>
          <a:bodyPr wrap="square">
            <a:spAutoFit/>
          </a:bodyPr>
          <a:lstStyle/>
          <a:p>
            <a:r>
              <a:rPr lang="en-US" sz="2800" b="1" dirty="0" smtClean="0">
                <a:solidFill>
                  <a:schemeClr val="dk1"/>
                </a:solidFill>
                <a:latin typeface="Calibri Light"/>
              </a:rPr>
              <a:t>END HOUSINGS</a:t>
            </a:r>
          </a:p>
          <a:p>
            <a:pPr algn="just">
              <a:buFont typeface="Arial" pitchFamily="34" charset="0"/>
              <a:buChar char="•"/>
            </a:pPr>
            <a:r>
              <a:rPr lang="en-US" sz="2800" dirty="0" smtClean="0">
                <a:cs typeface="Times New Roman" pitchFamily="18" charset="0"/>
              </a:rPr>
              <a:t>End housings are attached to the ends of the Mainframe and provide support to the bearings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5" name="Rectangle 4"/>
          <p:cNvSpPr/>
          <p:nvPr/>
        </p:nvSpPr>
        <p:spPr>
          <a:xfrm>
            <a:off x="0" y="4876800"/>
            <a:ext cx="11885612" cy="1815882"/>
          </a:xfrm>
          <a:prstGeom prst="rect">
            <a:avLst/>
          </a:prstGeom>
        </p:spPr>
        <p:txBody>
          <a:bodyPr wrap="square">
            <a:spAutoFit/>
          </a:bodyPr>
          <a:lstStyle/>
          <a:p>
            <a:pPr algn="just"/>
            <a:r>
              <a:rPr lang="en-US" sz="2800" b="1" dirty="0" smtClean="0">
                <a:solidFill>
                  <a:schemeClr val="dk1"/>
                </a:solidFill>
                <a:latin typeface="Calibri Light"/>
              </a:rPr>
              <a:t>BEARINGS</a:t>
            </a:r>
          </a:p>
          <a:p>
            <a:pPr algn="just">
              <a:buFont typeface="Arial" pitchFamily="34" charset="0"/>
              <a:buChar char="•"/>
            </a:pPr>
            <a:r>
              <a:rPr lang="en-US" sz="2800" dirty="0" smtClean="0">
                <a:cs typeface="Times New Roman" pitchFamily="18" charset="0"/>
              </a:rPr>
              <a:t>The ball or roller bearings are fitted in the end housings. The function of the bearings is to reduce friction between the rotating and stationary parts of the machine</a:t>
            </a:r>
            <a:endParaRPr lang="en-US" sz="2800" dirty="0">
              <a:cs typeface="Times New Roman" pitchFamily="18" charset="0"/>
            </a:endParaRPr>
          </a:p>
        </p:txBody>
      </p:sp>
      <p:pic>
        <p:nvPicPr>
          <p:cNvPr id="7"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8" name="Group 28"/>
          <p:cNvGrpSpPr/>
          <p:nvPr/>
        </p:nvGrpSpPr>
        <p:grpSpPr>
          <a:xfrm>
            <a:off x="11961812" y="5791200"/>
            <a:ext cx="227013" cy="1066800"/>
            <a:chOff x="83821" y="0"/>
            <a:chExt cx="219636" cy="903079"/>
          </a:xfrm>
        </p:grpSpPr>
        <p:sp>
          <p:nvSpPr>
            <p:cNvPr id="9" name="Rectangle 8"/>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4590"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269" y="274638"/>
            <a:ext cx="10969943" cy="1143000"/>
          </a:xfrm>
          <a:ln>
            <a:solidFill>
              <a:schemeClr val="tx1"/>
            </a:solidFill>
          </a:ln>
        </p:spPr>
        <p:txBody>
          <a:bodyPr>
            <a:noAutofit/>
          </a:bodyPr>
          <a:lstStyle/>
          <a:p>
            <a:r>
              <a:rPr lang="en-US" b="1" dirty="0" smtClean="0">
                <a:solidFill>
                  <a:schemeClr val="dk1"/>
                </a:solidFill>
                <a:latin typeface="Calibri Light"/>
                <a:ea typeface="+mn-ea"/>
                <a:cs typeface="+mn-cs"/>
              </a:rPr>
              <a:t/>
            </a:r>
            <a:br>
              <a:rPr lang="en-US" b="1" dirty="0" smtClean="0">
                <a:solidFill>
                  <a:schemeClr val="dk1"/>
                </a:solidFill>
                <a:latin typeface="Calibri Light"/>
                <a:ea typeface="+mn-ea"/>
                <a:cs typeface="+mn-cs"/>
              </a:rPr>
            </a:br>
            <a:r>
              <a:rPr lang="en-US" b="1" dirty="0" smtClean="0">
                <a:solidFill>
                  <a:schemeClr val="dk1"/>
                </a:solidFill>
                <a:latin typeface="Calibri Light"/>
                <a:ea typeface="+mn-ea"/>
                <a:cs typeface="+mn-cs"/>
              </a:rPr>
              <a:t>SHAFT</a:t>
            </a:r>
            <a:br>
              <a:rPr lang="en-US" b="1" dirty="0" smtClean="0">
                <a:solidFill>
                  <a:schemeClr val="dk1"/>
                </a:solidFill>
                <a:latin typeface="Calibri Light"/>
                <a:ea typeface="+mn-ea"/>
                <a:cs typeface="+mn-cs"/>
              </a:rPr>
            </a:br>
            <a:endParaRPr lang="en-US" b="1" dirty="0" smtClean="0">
              <a:solidFill>
                <a:schemeClr val="dk1"/>
              </a:solidFill>
              <a:latin typeface="Calibri Light"/>
              <a:ea typeface="+mn-ea"/>
              <a:cs typeface="+mn-cs"/>
            </a:endParaRPr>
          </a:p>
        </p:txBody>
      </p:sp>
      <p:sp>
        <p:nvSpPr>
          <p:cNvPr id="4" name="Content Placeholder 3"/>
          <p:cNvSpPr>
            <a:spLocks noGrp="1"/>
          </p:cNvSpPr>
          <p:nvPr>
            <p:ph idx="1"/>
          </p:nvPr>
        </p:nvSpPr>
        <p:spPr>
          <a:xfrm>
            <a:off x="379412" y="1676400"/>
            <a:ext cx="10969943" cy="954107"/>
          </a:xfrm>
          <a:prstGeom prst="rect">
            <a:avLst/>
          </a:prstGeom>
        </p:spPr>
        <p:txBody>
          <a:bodyPr wrap="square">
            <a:spAutoFit/>
          </a:bodyPr>
          <a:lstStyle/>
          <a:p>
            <a:pPr algn="just"/>
            <a:r>
              <a:rPr lang="en-US" sz="2800" dirty="0" smtClean="0">
                <a:cs typeface="Times New Roman" pitchFamily="18" charset="0"/>
              </a:rPr>
              <a:t>The shaft is made of mild steel with a maximum breaking strength. The shaft is used to transfer mechanical power from or to the machine.</a:t>
            </a:r>
            <a:endParaRPr lang="en-US" sz="2800" dirty="0">
              <a:cs typeface="Times New Roman" pitchFamily="18" charset="0"/>
            </a:endParaRPr>
          </a:p>
        </p:txBody>
      </p:sp>
      <p:pic>
        <p:nvPicPr>
          <p:cNvPr id="5"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6" name="Group 28"/>
          <p:cNvGrpSpPr/>
          <p:nvPr/>
        </p:nvGrpSpPr>
        <p:grpSpPr>
          <a:xfrm>
            <a:off x="11961812" y="5791200"/>
            <a:ext cx="227013" cy="1066800"/>
            <a:chOff x="83821" y="0"/>
            <a:chExt cx="219636" cy="903079"/>
          </a:xfrm>
        </p:grpSpPr>
        <p:sp>
          <p:nvSpPr>
            <p:cNvPr id="7" name="Rectangle 6"/>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44047" name="CorelDRAW" r:id="rId4" imgW="2169000" imgH="2169360" progId="">
                    <p:embed/>
                  </p:oleObj>
                </mc:Choice>
                <mc:Fallback>
                  <p:oleObj name="CorelDRAW" r:id="rId4" imgW="2169000" imgH="216936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763269" y="152400"/>
            <a:ext cx="10969943" cy="1143000"/>
          </a:xfrm>
          <a:ln>
            <a:solidFill>
              <a:schemeClr val="tx1"/>
            </a:solidFill>
          </a:ln>
        </p:spPr>
        <p:txBody>
          <a:bodyPr>
            <a:normAutofit/>
          </a:bodyPr>
          <a:lstStyle/>
          <a:p>
            <a:r>
              <a:rPr lang="en-US" b="1" dirty="0" smtClean="0">
                <a:solidFill>
                  <a:schemeClr val="dk1"/>
                </a:solidFill>
                <a:latin typeface="Calibri Light"/>
                <a:ea typeface="+mn-ea"/>
                <a:cs typeface="+mn-cs"/>
              </a:rPr>
              <a:t>WORKING PRINCIPLE OF DC MOTOR </a:t>
            </a:r>
            <a:endParaRPr lang="en-US" b="1" dirty="0">
              <a:solidFill>
                <a:schemeClr val="dk1"/>
              </a:solidFill>
              <a:latin typeface="Calibri Light"/>
              <a:ea typeface="+mn-ea"/>
              <a:cs typeface="+mn-cs"/>
            </a:endParaRPr>
          </a:p>
        </p:txBody>
      </p:sp>
      <p:pic>
        <p:nvPicPr>
          <p:cNvPr id="8"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11" name="Group 28"/>
          <p:cNvGrpSpPr/>
          <p:nvPr/>
        </p:nvGrpSpPr>
        <p:grpSpPr>
          <a:xfrm>
            <a:off x="11961812" y="5791200"/>
            <a:ext cx="227013" cy="1066800"/>
            <a:chOff x="83821" y="0"/>
            <a:chExt cx="219636" cy="903079"/>
          </a:xfrm>
        </p:grpSpPr>
        <p:sp>
          <p:nvSpPr>
            <p:cNvPr id="12" name="Rectangle 11"/>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Object 14">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3566"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554" name="Rectangle 2"/>
          <p:cNvSpPr>
            <a:spLocks noChangeArrowheads="1"/>
          </p:cNvSpPr>
          <p:nvPr/>
        </p:nvSpPr>
        <p:spPr bwMode="auto">
          <a:xfrm>
            <a:off x="150812" y="1447800"/>
            <a:ext cx="11506200" cy="569386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800" b="0" u="none" strike="noStrike" cap="none" normalizeH="0" baseline="0" dirty="0" smtClean="0">
                <a:ln>
                  <a:noFill/>
                </a:ln>
                <a:solidFill>
                  <a:srgbClr val="1E1E1E"/>
                </a:solidFill>
                <a:effectLst/>
                <a:ea typeface="Times New Roman" pitchFamily="18" charset="0"/>
                <a:cs typeface="Times New Roman" pitchFamily="18" charset="0"/>
              </a:rPr>
              <a:t> A machine that converts DC electrical power into mechanical power is known as a Direct Current motor. </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lang="en-US" sz="2800" dirty="0" smtClean="0">
                <a:solidFill>
                  <a:srgbClr val="1E1E1E"/>
                </a:solidFill>
                <a:ea typeface="Times New Roman" pitchFamily="18" charset="0"/>
                <a:cs typeface="Times New Roman" pitchFamily="18" charset="0"/>
              </a:rPr>
              <a:t> </a:t>
            </a:r>
            <a:r>
              <a:rPr kumimoji="0" lang="en-US" sz="2800" b="1" u="none" strike="noStrike" cap="none" normalizeH="0" baseline="0" dirty="0" smtClean="0">
                <a:ln>
                  <a:noFill/>
                </a:ln>
                <a:solidFill>
                  <a:srgbClr val="1E1E1E"/>
                </a:solidFill>
                <a:effectLst/>
                <a:ea typeface="Times New Roman" pitchFamily="18" charset="0"/>
                <a:cs typeface="Arial" pitchFamily="34" charset="0"/>
              </a:rPr>
              <a:t>DC motor working is based on the principle that when a current carrying conductor is placed in a magnetic field, the conductor experiences a mechanical force. </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lang="en-US" sz="2800" b="1" dirty="0" smtClean="0">
                <a:solidFill>
                  <a:srgbClr val="1E1E1E"/>
                </a:solidFill>
                <a:ea typeface="Times New Roman" pitchFamily="18" charset="0"/>
                <a:cs typeface="Arial" pitchFamily="34" charset="0"/>
              </a:rPr>
              <a:t> </a:t>
            </a:r>
            <a:r>
              <a:rPr kumimoji="0" lang="en-US" sz="2800" b="0" u="none" strike="noStrike" cap="none" normalizeH="0" baseline="0" dirty="0" smtClean="0">
                <a:ln>
                  <a:noFill/>
                </a:ln>
                <a:solidFill>
                  <a:srgbClr val="1E1E1E"/>
                </a:solidFill>
                <a:effectLst/>
                <a:ea typeface="Times New Roman" pitchFamily="18" charset="0"/>
                <a:cs typeface="Arial" pitchFamily="34" charset="0"/>
              </a:rPr>
              <a:t>The direction of this force is given by </a:t>
            </a:r>
            <a:r>
              <a:rPr kumimoji="0" lang="en-US" sz="2800" b="1" u="none" strike="noStrike" cap="none" normalizeH="0" baseline="0" dirty="0" smtClean="0">
                <a:ln>
                  <a:noFill/>
                </a:ln>
                <a:solidFill>
                  <a:srgbClr val="1E1E1E"/>
                </a:solidFill>
                <a:effectLst/>
                <a:ea typeface="Times New Roman" pitchFamily="18" charset="0"/>
                <a:cs typeface="Arial" pitchFamily="34" charset="0"/>
              </a:rPr>
              <a:t>Fleming’s left-hand rule</a:t>
            </a:r>
            <a:r>
              <a:rPr kumimoji="0" lang="en-US" sz="2800" b="0" u="none" strike="noStrike" cap="none" normalizeH="0" baseline="0" dirty="0" smtClean="0">
                <a:ln>
                  <a:noFill/>
                </a:ln>
                <a:solidFill>
                  <a:srgbClr val="1E1E1E"/>
                </a:solidFill>
                <a:effectLst/>
                <a:ea typeface="Times New Roman" pitchFamily="18" charset="0"/>
                <a:cs typeface="Arial" pitchFamily="34" charset="0"/>
              </a:rPr>
              <a:t> and magnitude is given by;</a:t>
            </a:r>
            <a:endParaRPr kumimoji="0" lang="en-US" sz="2800" b="0" u="none" strike="noStrike" cap="none" normalizeH="0" baseline="0" dirty="0" smtClean="0">
              <a:ln>
                <a:noFill/>
              </a:ln>
              <a:solidFill>
                <a:schemeClr val="tx1"/>
              </a:solidFill>
              <a:effectLst/>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1" u="none" strike="noStrike" cap="none" normalizeH="0" baseline="0" dirty="0" smtClean="0">
                <a:ln>
                  <a:noFill/>
                </a:ln>
                <a:solidFill>
                  <a:srgbClr val="1E1E1E"/>
                </a:solidFill>
                <a:effectLst/>
                <a:ea typeface="Times New Roman" pitchFamily="18" charset="0"/>
                <a:cs typeface="Times New Roman" pitchFamily="18" charset="0"/>
              </a:rPr>
              <a:t>F = BIL Newton’s</a:t>
            </a: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lang="en-US" sz="2800" b="1" dirty="0" smtClean="0">
                <a:solidFill>
                  <a:srgbClr val="1E1E1E"/>
                </a:solidFill>
                <a:ea typeface="Times New Roman" pitchFamily="18" charset="0"/>
                <a:cs typeface="Times New Roman" pitchFamily="18" charset="0"/>
              </a:rPr>
              <a:t>  </a:t>
            </a:r>
            <a:r>
              <a:rPr kumimoji="0" lang="en-US" sz="2800" b="0" u="none" strike="noStrike" cap="none" normalizeH="0" baseline="0" dirty="0" smtClean="0">
                <a:ln>
                  <a:noFill/>
                </a:ln>
                <a:solidFill>
                  <a:srgbClr val="1E1E1E"/>
                </a:solidFill>
                <a:effectLst/>
                <a:ea typeface="Times New Roman" pitchFamily="18" charset="0"/>
                <a:cs typeface="Arial" pitchFamily="34" charset="0"/>
              </a:rPr>
              <a:t>According to Fleming’s left-hand rule when an electric current passes through a coil in a magnetic field, the magnetic force produces a torque that turns the DC motor. The direction of this force is perpendicular to both the wire and the magnetic field.</a:t>
            </a:r>
          </a:p>
          <a:p>
            <a:pPr marL="0" marR="0" lvl="0" indent="0" algn="just" defTabSz="914400" rtl="0" eaLnBrk="0" fontAlgn="base" latinLnBrk="0" hangingPunct="0">
              <a:lnSpc>
                <a:spcPct val="100000"/>
              </a:lnSpc>
              <a:spcBef>
                <a:spcPct val="0"/>
              </a:spcBef>
              <a:spcAft>
                <a:spcPct val="0"/>
              </a:spcAft>
              <a:buClrTx/>
              <a:buSzTx/>
              <a:tabLst/>
            </a:pPr>
            <a:endParaRPr kumimoji="0" lang="en-US" sz="2800" b="0" u="none" strike="noStrike" cap="none" normalizeH="0" baseline="0" dirty="0" smtClean="0">
              <a:ln>
                <a:noFill/>
              </a:ln>
              <a:solidFill>
                <a:schemeClr val="tx1"/>
              </a:solidFill>
              <a:effectLst/>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12" y="304800"/>
            <a:ext cx="10512862" cy="1058726"/>
          </a:xfrm>
        </p:spPr>
        <p:style>
          <a:lnRef idx="2">
            <a:schemeClr val="dk1"/>
          </a:lnRef>
          <a:fillRef idx="1">
            <a:schemeClr val="lt1"/>
          </a:fillRef>
          <a:effectRef idx="0">
            <a:schemeClr val="dk1"/>
          </a:effectRef>
          <a:fontRef idx="minor">
            <a:schemeClr val="dk1"/>
          </a:fontRef>
        </p:style>
        <p:txBody>
          <a:bodyPr>
            <a:normAutofit/>
          </a:bodyPr>
          <a:lstStyle/>
          <a:p>
            <a:r>
              <a:rPr lang="en-US" b="1" dirty="0" smtClean="0">
                <a:latin typeface="Calibri Light"/>
              </a:rPr>
              <a:t>SUMMARY</a:t>
            </a:r>
            <a:endParaRPr lang="en-US" b="1" dirty="0">
              <a:latin typeface="Calibri Light"/>
            </a:endParaRPr>
          </a:p>
        </p:txBody>
      </p:sp>
      <p:sp>
        <p:nvSpPr>
          <p:cNvPr id="3" name="Content Placeholder 2"/>
          <p:cNvSpPr>
            <a:spLocks noGrp="1"/>
          </p:cNvSpPr>
          <p:nvPr>
            <p:ph idx="1"/>
          </p:nvPr>
        </p:nvSpPr>
        <p:spPr>
          <a:xfrm>
            <a:off x="824922" y="1603557"/>
            <a:ext cx="10512862" cy="4351338"/>
          </a:xfrm>
        </p:spPr>
        <p:txBody>
          <a:bodyPr>
            <a:normAutofit/>
          </a:bodyPr>
          <a:lstStyle/>
          <a:p>
            <a:pPr lvl="0">
              <a:buFont typeface="Wingdings" pitchFamily="2" charset="2"/>
              <a:buChar char="ü"/>
            </a:pPr>
            <a:r>
              <a:rPr lang="en-US" sz="2800" dirty="0" smtClean="0"/>
              <a:t> </a:t>
            </a:r>
            <a:r>
              <a:rPr lang="en-US" sz="2800" dirty="0"/>
              <a:t>Introduction to DC Motor &amp; its constructions</a:t>
            </a:r>
            <a:r>
              <a:rPr lang="en-US" sz="2800" dirty="0" smtClean="0"/>
              <a:t>.</a:t>
            </a:r>
          </a:p>
          <a:p>
            <a:pPr lvl="0">
              <a:buFont typeface="Wingdings" pitchFamily="2" charset="2"/>
              <a:buChar char="ü"/>
            </a:pPr>
            <a:r>
              <a:rPr lang="en-US" sz="2800" dirty="0"/>
              <a:t> </a:t>
            </a:r>
            <a:r>
              <a:rPr lang="en-US" sz="2800" dirty="0" smtClean="0"/>
              <a:t> </a:t>
            </a:r>
            <a:r>
              <a:rPr lang="en-US" sz="2800" dirty="0"/>
              <a:t>Working </a:t>
            </a:r>
            <a:r>
              <a:rPr lang="en-US" sz="2800" dirty="0" smtClean="0"/>
              <a:t>Principle </a:t>
            </a:r>
            <a:r>
              <a:rPr lang="en-US" sz="2800" dirty="0"/>
              <a:t>of DC Motor</a:t>
            </a:r>
          </a:p>
          <a:p>
            <a:pPr algn="just">
              <a:buFont typeface="Wingdings" pitchFamily="2" charset="2"/>
              <a:buChar char="ü"/>
            </a:pPr>
            <a:r>
              <a:rPr lang="en-US" sz="2800" dirty="0" smtClean="0"/>
              <a:t> Function of Commutator in DC motor</a:t>
            </a:r>
          </a:p>
          <a:p>
            <a:pPr algn="just">
              <a:buFont typeface="Wingdings" pitchFamily="2" charset="2"/>
              <a:buChar char="ü"/>
            </a:pPr>
            <a:r>
              <a:rPr lang="en-US" sz="2800" dirty="0"/>
              <a:t> </a:t>
            </a:r>
            <a:r>
              <a:rPr lang="en-US" sz="2800" dirty="0" smtClean="0"/>
              <a:t>Types of Armature Windings.</a:t>
            </a:r>
          </a:p>
          <a:p>
            <a:pPr algn="just">
              <a:buNone/>
            </a:pPr>
            <a:endParaRPr lang="en-US" sz="2800"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dirty="0"/>
          </a:p>
        </p:txBody>
      </p:sp>
      <p:pic>
        <p:nvPicPr>
          <p:cNvPr id="5"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6" name="Group 28"/>
          <p:cNvGrpSpPr/>
          <p:nvPr/>
        </p:nvGrpSpPr>
        <p:grpSpPr>
          <a:xfrm>
            <a:off x="11961812" y="5791200"/>
            <a:ext cx="227013" cy="1066800"/>
            <a:chOff x="83821" y="0"/>
            <a:chExt cx="219636" cy="903079"/>
          </a:xfrm>
        </p:grpSpPr>
        <p:sp>
          <p:nvSpPr>
            <p:cNvPr id="7" name="Rectangle 6"/>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2542"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412" y="228600"/>
            <a:ext cx="10969943" cy="1143000"/>
          </a:xfr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a:normAutofit/>
          </a:bodyPr>
          <a:lstStyle/>
          <a:p>
            <a:r>
              <a:rPr lang="en-US" b="1" dirty="0" smtClean="0">
                <a:latin typeface="Calibri Light"/>
              </a:rPr>
              <a:t>FREQUENTLY ASKED QUESTIONS</a:t>
            </a:r>
            <a:endParaRPr lang="en-US" b="1" dirty="0">
              <a:latin typeface="Calibri Light"/>
            </a:endParaRPr>
          </a:p>
        </p:txBody>
      </p:sp>
      <p:sp>
        <p:nvSpPr>
          <p:cNvPr id="3" name="Content Placeholder 2"/>
          <p:cNvSpPr>
            <a:spLocks noGrp="1"/>
          </p:cNvSpPr>
          <p:nvPr>
            <p:ph idx="1"/>
          </p:nvPr>
        </p:nvSpPr>
        <p:spPr>
          <a:xfrm>
            <a:off x="303212" y="1447800"/>
            <a:ext cx="11047632" cy="4876800"/>
          </a:xfrm>
        </p:spPr>
        <p:txBody>
          <a:bodyPr>
            <a:normAutofit/>
          </a:bodyPr>
          <a:lstStyle/>
          <a:p>
            <a:pPr lvl="0"/>
            <a:r>
              <a:rPr lang="en-US" sz="2800" dirty="0"/>
              <a:t>What is the principle operation of DC Motors? </a:t>
            </a:r>
          </a:p>
          <a:p>
            <a:pPr lvl="0"/>
            <a:r>
              <a:rPr lang="en-US" sz="2800" dirty="0"/>
              <a:t> What is the function of Commutator in DC Motor.</a:t>
            </a:r>
          </a:p>
          <a:p>
            <a:pPr lvl="0"/>
            <a:r>
              <a:rPr lang="en-US" sz="2800" dirty="0"/>
              <a:t> What is the function of Brushes in DC Motor.</a:t>
            </a:r>
          </a:p>
          <a:p>
            <a:pPr lvl="0"/>
            <a:r>
              <a:rPr lang="en-US" sz="2800" dirty="0"/>
              <a:t> What is Lap Winding &amp; Wave Winding.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dirty="0"/>
          </a:p>
        </p:txBody>
      </p:sp>
      <p:pic>
        <p:nvPicPr>
          <p:cNvPr id="5"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6" name="Group 28"/>
          <p:cNvGrpSpPr/>
          <p:nvPr/>
        </p:nvGrpSpPr>
        <p:grpSpPr>
          <a:xfrm>
            <a:off x="11961812" y="5791200"/>
            <a:ext cx="227013" cy="1066800"/>
            <a:chOff x="83821" y="0"/>
            <a:chExt cx="219636" cy="903079"/>
          </a:xfrm>
        </p:grpSpPr>
        <p:sp>
          <p:nvSpPr>
            <p:cNvPr id="7" name="Rectangle 6"/>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1518"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3399" y="1028703"/>
            <a:ext cx="5776995" cy="4873625"/>
          </a:xfrm>
        </p:spPr>
        <p:txBody>
          <a:bodyPr>
            <a:normAutofit lnSpcReduction="10000"/>
          </a:bodyPr>
          <a:lstStyle/>
          <a:p>
            <a:pPr marL="0" indent="0" algn="just">
              <a:buNone/>
            </a:pPr>
            <a:r>
              <a:rPr lang="en-IN" sz="2800" dirty="0" smtClean="0">
                <a:cs typeface="Times New Roman" pitchFamily="18" charset="0"/>
              </a:rPr>
              <a:t> </a:t>
            </a:r>
            <a:r>
              <a:rPr lang="en-US" sz="2800" dirty="0" smtClean="0"/>
              <a:t> </a:t>
            </a:r>
            <a:r>
              <a:rPr lang="en-IN" sz="2800" dirty="0"/>
              <a:t>To Guide the students about basic knowledge of DC motor &amp; it’s working principle.</a:t>
            </a:r>
            <a:endParaRPr lang="en-US" sz="2800" dirty="0"/>
          </a:p>
          <a:p>
            <a:pPr lvl="0" algn="just"/>
            <a:r>
              <a:rPr lang="en-US" sz="2800" dirty="0"/>
              <a:t> To aware about constructional part of DC motor.</a:t>
            </a:r>
          </a:p>
          <a:p>
            <a:pPr lvl="0" algn="just"/>
            <a:r>
              <a:rPr lang="en-US" sz="2800" dirty="0"/>
              <a:t>To make the students aware about concept of type of armature windings.</a:t>
            </a:r>
          </a:p>
          <a:p>
            <a:pPr lvl="0" algn="just"/>
            <a:r>
              <a:rPr lang="en-US" sz="2800" dirty="0"/>
              <a:t> To make the students about function of Commutator in DC Motor.</a:t>
            </a:r>
          </a:p>
          <a:p>
            <a:pPr algn="just"/>
            <a:endParaRPr lang="en-US" sz="2800" dirty="0"/>
          </a:p>
          <a:p>
            <a:pPr algn="just"/>
            <a:endParaRPr lang="en-US" sz="2400" dirty="0" smtClean="0">
              <a:cs typeface="Arial" panose="020B0604020202020204" pitchFamily="34" charset="0"/>
            </a:endParaRPr>
          </a:p>
          <a:p>
            <a:pPr marL="0" indent="0" algn="just">
              <a:buNone/>
            </a:pPr>
            <a:endParaRPr lang="en-US" sz="2400" dirty="0">
              <a:cs typeface="Arial" panose="020B0604020202020204" pitchFamily="34" charset="0"/>
            </a:endParaRPr>
          </a:p>
        </p:txBody>
      </p:sp>
      <p:sp>
        <p:nvSpPr>
          <p:cNvPr id="5" name="Slide Number Placeholder 4"/>
          <p:cNvSpPr>
            <a:spLocks noGrp="1"/>
          </p:cNvSpPr>
          <p:nvPr>
            <p:ph type="sldNum" sz="quarter" idx="12"/>
          </p:nvPr>
        </p:nvSpPr>
        <p:spPr>
          <a:xfrm>
            <a:off x="8836898" y="6356353"/>
            <a:ext cx="2742486" cy="365125"/>
          </a:xfrm>
        </p:spPr>
        <p:txBody>
          <a:bodyPr/>
          <a:lstStyle/>
          <a:p>
            <a:fld id="{BDCDBBEF-AA6C-4BA6-85B2-A17D7F280E38}" type="slidenum">
              <a:rPr lang="en-US" smtClean="0"/>
              <a:pPr/>
              <a:t>21</a:t>
            </a:fld>
            <a:endParaRPr lang="en-US" dirty="0"/>
          </a:p>
        </p:txBody>
      </p:sp>
      <p:sp>
        <p:nvSpPr>
          <p:cNvPr id="8" name="Title 7"/>
          <p:cNvSpPr txBox="1">
            <a:spLocks noGrp="1" noChangeArrowheads="1"/>
          </p:cNvSpPr>
          <p:nvPr>
            <p:ph type="title"/>
          </p:nvPr>
        </p:nvSpPr>
        <p:spPr bwMode="auto">
          <a:xfrm>
            <a:off x="383850" y="1681522"/>
            <a:ext cx="4455406" cy="212365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smtClean="0">
                <a:solidFill>
                  <a:schemeClr val="dk1"/>
                </a:solidFill>
                <a:latin typeface="Calibri Light"/>
                <a:ea typeface="+mn-ea"/>
                <a:cs typeface="+mn-cs"/>
              </a:rPr>
              <a:t>LEARNING OUTCOMES</a:t>
            </a:r>
            <a:r>
              <a:rPr lang="en-US" sz="4400" b="1" dirty="0">
                <a:latin typeface="Casper"/>
                <a:ea typeface="Karla" pitchFamily="2" charset="0"/>
                <a:cs typeface="Karla" pitchFamily="2" charset="0"/>
              </a:rPr>
              <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4521" y="511628"/>
            <a:ext cx="5865872"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4356" y="6324603"/>
            <a:ext cx="444384"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9" name="Group 28"/>
          <p:cNvGrpSpPr/>
          <p:nvPr/>
        </p:nvGrpSpPr>
        <p:grpSpPr>
          <a:xfrm>
            <a:off x="11961812" y="5791200"/>
            <a:ext cx="227013" cy="1066800"/>
            <a:chOff x="83821" y="0"/>
            <a:chExt cx="219636" cy="903079"/>
          </a:xfrm>
        </p:grpSpPr>
        <p:sp>
          <p:nvSpPr>
            <p:cNvPr id="11" name="Rectangle 10"/>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Object 13">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494"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800" b="1" dirty="0" smtClean="0"/>
              <a:t>Course Outcome to Program Outcome Relationship</a:t>
            </a:r>
            <a:endParaRPr lang="en-US" sz="38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graphicFrame>
        <p:nvGraphicFramePr>
          <p:cNvPr id="5" name="Table 4"/>
          <p:cNvGraphicFramePr>
            <a:graphicFrameLocks noGrp="1"/>
          </p:cNvGraphicFramePr>
          <p:nvPr/>
        </p:nvGraphicFramePr>
        <p:xfrm>
          <a:off x="352601" y="1750431"/>
          <a:ext cx="10904652" cy="4650372"/>
        </p:xfrm>
        <a:graphic>
          <a:graphicData uri="http://schemas.openxmlformats.org/drawingml/2006/table">
            <a:tbl>
              <a:tblPr/>
              <a:tblGrid>
                <a:gridCol w="753026">
                  <a:extLst>
                    <a:ext uri="{9D8B030D-6E8A-4147-A177-3AD203B41FA5}">
                      <a16:colId xmlns:a16="http://schemas.microsoft.com/office/drawing/2014/main" val="20000"/>
                    </a:ext>
                  </a:extLst>
                </a:gridCol>
                <a:gridCol w="506644">
                  <a:extLst>
                    <a:ext uri="{9D8B030D-6E8A-4147-A177-3AD203B41FA5}">
                      <a16:colId xmlns:a16="http://schemas.microsoft.com/office/drawing/2014/main" val="20001"/>
                    </a:ext>
                  </a:extLst>
                </a:gridCol>
                <a:gridCol w="629387">
                  <a:extLst>
                    <a:ext uri="{9D8B030D-6E8A-4147-A177-3AD203B41FA5}">
                      <a16:colId xmlns:a16="http://schemas.microsoft.com/office/drawing/2014/main" val="20002"/>
                    </a:ext>
                  </a:extLst>
                </a:gridCol>
                <a:gridCol w="629387">
                  <a:extLst>
                    <a:ext uri="{9D8B030D-6E8A-4147-A177-3AD203B41FA5}">
                      <a16:colId xmlns:a16="http://schemas.microsoft.com/office/drawing/2014/main" val="20003"/>
                    </a:ext>
                  </a:extLst>
                </a:gridCol>
                <a:gridCol w="630284">
                  <a:extLst>
                    <a:ext uri="{9D8B030D-6E8A-4147-A177-3AD203B41FA5}">
                      <a16:colId xmlns:a16="http://schemas.microsoft.com/office/drawing/2014/main" val="20004"/>
                    </a:ext>
                  </a:extLst>
                </a:gridCol>
                <a:gridCol w="630284">
                  <a:extLst>
                    <a:ext uri="{9D8B030D-6E8A-4147-A177-3AD203B41FA5}">
                      <a16:colId xmlns:a16="http://schemas.microsoft.com/office/drawing/2014/main" val="20005"/>
                    </a:ext>
                  </a:extLst>
                </a:gridCol>
                <a:gridCol w="631182">
                  <a:extLst>
                    <a:ext uri="{9D8B030D-6E8A-4147-A177-3AD203B41FA5}">
                      <a16:colId xmlns:a16="http://schemas.microsoft.com/office/drawing/2014/main" val="20006"/>
                    </a:ext>
                  </a:extLst>
                </a:gridCol>
                <a:gridCol w="631182">
                  <a:extLst>
                    <a:ext uri="{9D8B030D-6E8A-4147-A177-3AD203B41FA5}">
                      <a16:colId xmlns:a16="http://schemas.microsoft.com/office/drawing/2014/main" val="20007"/>
                    </a:ext>
                  </a:extLst>
                </a:gridCol>
                <a:gridCol w="631182">
                  <a:extLst>
                    <a:ext uri="{9D8B030D-6E8A-4147-A177-3AD203B41FA5}">
                      <a16:colId xmlns:a16="http://schemas.microsoft.com/office/drawing/2014/main" val="20008"/>
                    </a:ext>
                  </a:extLst>
                </a:gridCol>
                <a:gridCol w="631182">
                  <a:extLst>
                    <a:ext uri="{9D8B030D-6E8A-4147-A177-3AD203B41FA5}">
                      <a16:colId xmlns:a16="http://schemas.microsoft.com/office/drawing/2014/main" val="20009"/>
                    </a:ext>
                  </a:extLst>
                </a:gridCol>
                <a:gridCol w="802095">
                  <a:extLst>
                    <a:ext uri="{9D8B030D-6E8A-4147-A177-3AD203B41FA5}">
                      <a16:colId xmlns:a16="http://schemas.microsoft.com/office/drawing/2014/main" val="20010"/>
                    </a:ext>
                  </a:extLst>
                </a:gridCol>
                <a:gridCol w="766717">
                  <a:extLst>
                    <a:ext uri="{9D8B030D-6E8A-4147-A177-3AD203B41FA5}">
                      <a16:colId xmlns:a16="http://schemas.microsoft.com/office/drawing/2014/main" val="20011"/>
                    </a:ext>
                  </a:extLst>
                </a:gridCol>
                <a:gridCol w="758025">
                  <a:extLst>
                    <a:ext uri="{9D8B030D-6E8A-4147-A177-3AD203B41FA5}">
                      <a16:colId xmlns:a16="http://schemas.microsoft.com/office/drawing/2014/main" val="20012"/>
                    </a:ext>
                  </a:extLst>
                </a:gridCol>
                <a:gridCol w="758025">
                  <a:extLst>
                    <a:ext uri="{9D8B030D-6E8A-4147-A177-3AD203B41FA5}">
                      <a16:colId xmlns:a16="http://schemas.microsoft.com/office/drawing/2014/main" val="20013"/>
                    </a:ext>
                  </a:extLst>
                </a:gridCol>
                <a:gridCol w="758025">
                  <a:extLst>
                    <a:ext uri="{9D8B030D-6E8A-4147-A177-3AD203B41FA5}">
                      <a16:colId xmlns:a16="http://schemas.microsoft.com/office/drawing/2014/main" val="20014"/>
                    </a:ext>
                  </a:extLst>
                </a:gridCol>
                <a:gridCol w="758025">
                  <a:extLst>
                    <a:ext uri="{9D8B030D-6E8A-4147-A177-3AD203B41FA5}">
                      <a16:colId xmlns:a16="http://schemas.microsoft.com/office/drawing/2014/main" val="20015"/>
                    </a:ext>
                  </a:extLst>
                </a:gridCol>
              </a:tblGrid>
              <a:tr h="375590">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marL="457200" marR="0" indent="-457200" algn="ctr">
                        <a:lnSpc>
                          <a:spcPct val="107000"/>
                        </a:lnSpc>
                        <a:spcBef>
                          <a:spcPts val="0"/>
                        </a:spcBef>
                        <a:spcAft>
                          <a:spcPts val="0"/>
                        </a:spcAft>
                      </a:pPr>
                      <a:r>
                        <a:rPr lang="en-US" sz="2000" b="1" dirty="0" smtClean="0">
                          <a:solidFill>
                            <a:srgbClr val="000000"/>
                          </a:solidFill>
                          <a:latin typeface="Calibri"/>
                          <a:ea typeface="Calibri"/>
                          <a:cs typeface="Times New Roman"/>
                        </a:rPr>
                        <a:t>     (21ELH-101) </a:t>
                      </a:r>
                      <a:r>
                        <a:rPr lang="en-US" sz="2000" b="1" dirty="0">
                          <a:solidFill>
                            <a:srgbClr val="000000"/>
                          </a:solidFill>
                          <a:latin typeface="Calibri"/>
                          <a:ea typeface="Calibri"/>
                          <a:cs typeface="Times New Roman"/>
                        </a:rPr>
                        <a:t>BEEE</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69971">
                <a:tc>
                  <a:txBody>
                    <a:bodyPr/>
                    <a:lstStyle/>
                    <a:p>
                      <a:pPr marL="457200" marR="0" indent="-457200" algn="r">
                        <a:lnSpc>
                          <a:spcPct val="107000"/>
                        </a:lnSpc>
                        <a:spcBef>
                          <a:spcPts val="0"/>
                        </a:spcBef>
                        <a:spcAft>
                          <a:spcPts val="0"/>
                        </a:spcAft>
                      </a:pPr>
                      <a:r>
                        <a:rPr lang="en-US" sz="2000" b="1" dirty="0" smtClean="0">
                          <a:solidFill>
                            <a:srgbClr val="000000"/>
                          </a:solidFill>
                          <a:latin typeface="Calibri"/>
                          <a:ea typeface="Calibri"/>
                          <a:cs typeface="Times New Roman"/>
                        </a:rPr>
                        <a:t>PO→</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4956">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CO↓</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PO2</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PO3</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PO4</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PO5</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PO6</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PO7</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PO8</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PO9</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PO10</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PO11</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PO12</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PSO1</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PSO2</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PSO3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CO1</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CO2</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CO3</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69971">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CO4</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3</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69971">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CO5</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2</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62" marR="68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6" name="Picture 1" descr="D:\study materal\CU data\BEEE\CU logo.png"/>
          <p:cNvPicPr>
            <a:picLocks noChangeAspect="1" noChangeArrowheads="1"/>
          </p:cNvPicPr>
          <p:nvPr/>
        </p:nvPicPr>
        <p:blipFill>
          <a:blip r:embed="rId2" cstate="print"/>
          <a:srcRect/>
          <a:stretch>
            <a:fillRect/>
          </a:stretch>
        </p:blipFill>
        <p:spPr bwMode="auto">
          <a:xfrm>
            <a:off x="227012" y="0"/>
            <a:ext cx="676275" cy="1038225"/>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982" y="38551"/>
            <a:ext cx="10512862" cy="1325563"/>
          </a:xfrm>
          <a:ln>
            <a:solidFill>
              <a:schemeClr val="tx1"/>
            </a:solidFill>
          </a:ln>
        </p:spPr>
        <p:txBody>
          <a:bodyPr>
            <a:normAutofit/>
          </a:bodyPr>
          <a:lstStyle/>
          <a:p>
            <a:r>
              <a:rPr lang="en-US" b="1" dirty="0" smtClean="0">
                <a:solidFill>
                  <a:schemeClr val="dk1"/>
                </a:solidFill>
                <a:latin typeface="Calibri Light"/>
                <a:ea typeface="+mn-ea"/>
                <a:cs typeface="+mn-cs"/>
              </a:rPr>
              <a:t>ASSESSMENT PATTERN</a:t>
            </a:r>
            <a:endParaRPr lang="en-US" b="1" dirty="0">
              <a:solidFill>
                <a:schemeClr val="dk1"/>
              </a:solidFill>
              <a:latin typeface="Calibri Light"/>
              <a:ea typeface="+mn-ea"/>
              <a:cs typeface="+mn-cs"/>
            </a:endParaRPr>
          </a:p>
        </p:txBody>
      </p:sp>
      <p:sp>
        <p:nvSpPr>
          <p:cNvPr id="3" name="Content Placeholder 2"/>
          <p:cNvSpPr>
            <a:spLocks noGrp="1"/>
          </p:cNvSpPr>
          <p:nvPr>
            <p:ph idx="1"/>
          </p:nvPr>
        </p:nvSpPr>
        <p:spPr>
          <a:xfrm>
            <a:off x="837981" y="1146353"/>
            <a:ext cx="10693518" cy="4940939"/>
          </a:xfrm>
        </p:spPr>
        <p:txBody>
          <a:bodyPr>
            <a:normAutofit/>
          </a:bodyPr>
          <a:lstStyle/>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graphicFrame>
        <p:nvGraphicFramePr>
          <p:cNvPr id="5" name="Table 4"/>
          <p:cNvGraphicFramePr>
            <a:graphicFrameLocks noGrp="1"/>
          </p:cNvGraphicFramePr>
          <p:nvPr/>
        </p:nvGraphicFramePr>
        <p:xfrm>
          <a:off x="770511" y="1968136"/>
          <a:ext cx="10852401" cy="2115978"/>
        </p:xfrm>
        <a:graphic>
          <a:graphicData uri="http://schemas.openxmlformats.org/drawingml/2006/table">
            <a:tbl>
              <a:tblPr firstRow="1" bandRow="1">
                <a:tableStyleId>{073A0DAA-6AF3-43AB-8588-CEC1D06C72B9}</a:tableStyleId>
              </a:tblPr>
              <a:tblGrid>
                <a:gridCol w="1550343">
                  <a:extLst>
                    <a:ext uri="{9D8B030D-6E8A-4147-A177-3AD203B41FA5}">
                      <a16:colId xmlns:a16="http://schemas.microsoft.com/office/drawing/2014/main" val="20000"/>
                    </a:ext>
                  </a:extLst>
                </a:gridCol>
                <a:gridCol w="1550343">
                  <a:extLst>
                    <a:ext uri="{9D8B030D-6E8A-4147-A177-3AD203B41FA5}">
                      <a16:colId xmlns:a16="http://schemas.microsoft.com/office/drawing/2014/main" val="20001"/>
                    </a:ext>
                  </a:extLst>
                </a:gridCol>
                <a:gridCol w="1550343">
                  <a:extLst>
                    <a:ext uri="{9D8B030D-6E8A-4147-A177-3AD203B41FA5}">
                      <a16:colId xmlns:a16="http://schemas.microsoft.com/office/drawing/2014/main" val="20002"/>
                    </a:ext>
                  </a:extLst>
                </a:gridCol>
                <a:gridCol w="1550343">
                  <a:extLst>
                    <a:ext uri="{9D8B030D-6E8A-4147-A177-3AD203B41FA5}">
                      <a16:colId xmlns:a16="http://schemas.microsoft.com/office/drawing/2014/main" val="20003"/>
                    </a:ext>
                  </a:extLst>
                </a:gridCol>
                <a:gridCol w="1550343">
                  <a:extLst>
                    <a:ext uri="{9D8B030D-6E8A-4147-A177-3AD203B41FA5}">
                      <a16:colId xmlns:a16="http://schemas.microsoft.com/office/drawing/2014/main" val="20004"/>
                    </a:ext>
                  </a:extLst>
                </a:gridCol>
                <a:gridCol w="1550343">
                  <a:extLst>
                    <a:ext uri="{9D8B030D-6E8A-4147-A177-3AD203B41FA5}">
                      <a16:colId xmlns:a16="http://schemas.microsoft.com/office/drawing/2014/main" val="20005"/>
                    </a:ext>
                  </a:extLst>
                </a:gridCol>
                <a:gridCol w="1550343">
                  <a:extLst>
                    <a:ext uri="{9D8B030D-6E8A-4147-A177-3AD203B41FA5}">
                      <a16:colId xmlns:a16="http://schemas.microsoft.com/office/drawing/2014/main" val="20006"/>
                    </a:ext>
                  </a:extLst>
                </a:gridCol>
              </a:tblGrid>
              <a:tr h="1493725">
                <a:tc>
                  <a:txBody>
                    <a:bodyPr/>
                    <a:lstStyle/>
                    <a:p>
                      <a:pPr algn="ctr"/>
                      <a:r>
                        <a:rPr lang="en-US" dirty="0" smtClean="0"/>
                        <a:t>     A</a:t>
                      </a:r>
                    </a:p>
                    <a:p>
                      <a:pPr algn="ctr"/>
                      <a:r>
                        <a:rPr lang="en-US" dirty="0" smtClean="0"/>
                        <a:t>Assignment (each assignment)</a:t>
                      </a:r>
                      <a:endParaRPr lang="en-US" dirty="0"/>
                    </a:p>
                  </a:txBody>
                  <a:tcPr marL="91416" marR="91416"/>
                </a:tc>
                <a:tc>
                  <a:txBody>
                    <a:bodyPr/>
                    <a:lstStyle/>
                    <a:p>
                      <a:pPr algn="ctr"/>
                      <a:r>
                        <a:rPr lang="en-US" dirty="0" smtClean="0"/>
                        <a:t>   B</a:t>
                      </a:r>
                    </a:p>
                    <a:p>
                      <a:pPr algn="ctr"/>
                      <a:r>
                        <a:rPr lang="en-US" dirty="0" smtClean="0"/>
                        <a:t>Time Bound Surprise</a:t>
                      </a:r>
                      <a:r>
                        <a:rPr lang="en-US" baseline="0" dirty="0" smtClean="0"/>
                        <a:t> Test (each test)</a:t>
                      </a:r>
                      <a:endParaRPr lang="en-US" dirty="0"/>
                    </a:p>
                  </a:txBody>
                  <a:tcPr marL="91416" marR="91416"/>
                </a:tc>
                <a:tc>
                  <a:txBody>
                    <a:bodyPr/>
                    <a:lstStyle/>
                    <a:p>
                      <a:pPr algn="ctr"/>
                      <a:r>
                        <a:rPr lang="en-US" dirty="0" smtClean="0"/>
                        <a:t>C</a:t>
                      </a:r>
                    </a:p>
                    <a:p>
                      <a:pPr algn="ctr"/>
                      <a:r>
                        <a:rPr lang="en-US" dirty="0" smtClean="0"/>
                        <a:t>Quiz (each quiz)</a:t>
                      </a:r>
                      <a:endParaRPr lang="en-US" dirty="0"/>
                    </a:p>
                  </a:txBody>
                  <a:tcPr marL="91416" marR="91416"/>
                </a:tc>
                <a:tc>
                  <a:txBody>
                    <a:bodyPr/>
                    <a:lstStyle/>
                    <a:p>
                      <a:pPr algn="ctr"/>
                      <a:r>
                        <a:rPr lang="en-US" dirty="0" smtClean="0"/>
                        <a:t>   D</a:t>
                      </a:r>
                    </a:p>
                    <a:p>
                      <a:pPr algn="ctr"/>
                      <a:r>
                        <a:rPr lang="en-US" dirty="0" smtClean="0"/>
                        <a:t>Mid</a:t>
                      </a:r>
                      <a:r>
                        <a:rPr lang="en-US" baseline="0" dirty="0" smtClean="0"/>
                        <a:t> Semester Test(one per test)</a:t>
                      </a:r>
                      <a:endParaRPr lang="en-US" dirty="0"/>
                    </a:p>
                  </a:txBody>
                  <a:tcPr marL="91416" marR="91416"/>
                </a:tc>
                <a:tc>
                  <a:txBody>
                    <a:bodyPr/>
                    <a:lstStyle/>
                    <a:p>
                      <a:pPr algn="ctr"/>
                      <a:r>
                        <a:rPr lang="en-US" dirty="0" smtClean="0"/>
                        <a:t>    E</a:t>
                      </a:r>
                    </a:p>
                    <a:p>
                      <a:pPr algn="ctr"/>
                      <a:r>
                        <a:rPr lang="en-US" dirty="0" smtClean="0"/>
                        <a:t>Homework</a:t>
                      </a:r>
                      <a:endParaRPr lang="en-US" dirty="0"/>
                    </a:p>
                  </a:txBody>
                  <a:tcPr marL="91416" marR="91416"/>
                </a:tc>
                <a:tc>
                  <a:txBody>
                    <a:bodyPr/>
                    <a:lstStyle/>
                    <a:p>
                      <a:pPr algn="ctr"/>
                      <a:r>
                        <a:rPr lang="en-US" dirty="0" smtClean="0"/>
                        <a:t>     F</a:t>
                      </a:r>
                    </a:p>
                    <a:p>
                      <a:pPr algn="ctr"/>
                      <a:r>
                        <a:rPr lang="en-US" dirty="0" smtClean="0"/>
                        <a:t>Discussion Forums</a:t>
                      </a:r>
                      <a:endParaRPr lang="en-US" dirty="0"/>
                    </a:p>
                  </a:txBody>
                  <a:tcPr marL="91416" marR="91416"/>
                </a:tc>
                <a:tc>
                  <a:txBody>
                    <a:bodyPr/>
                    <a:lstStyle/>
                    <a:p>
                      <a:pPr algn="ctr"/>
                      <a:r>
                        <a:rPr lang="en-US" dirty="0" smtClean="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Attendance and  engagement Score on BB</a:t>
                      </a:r>
                    </a:p>
                    <a:p>
                      <a:pPr algn="ctr"/>
                      <a:endParaRPr lang="en-US" dirty="0"/>
                    </a:p>
                  </a:txBody>
                  <a:tcPr marL="91416" marR="91416"/>
                </a:tc>
                <a:extLst>
                  <a:ext uri="{0D108BD9-81ED-4DB2-BD59-A6C34878D82A}">
                    <a16:rowId xmlns:a16="http://schemas.microsoft.com/office/drawing/2014/main" val="10000"/>
                  </a:ext>
                </a:extLst>
              </a:tr>
              <a:tr h="378618">
                <a:tc>
                  <a:txBody>
                    <a:bodyPr/>
                    <a:lstStyle/>
                    <a:p>
                      <a:pPr algn="ctr"/>
                      <a:r>
                        <a:rPr lang="en-US" dirty="0" smtClean="0"/>
                        <a:t>10</a:t>
                      </a:r>
                      <a:endParaRPr lang="en-US" dirty="0"/>
                    </a:p>
                  </a:txBody>
                  <a:tcPr marL="91416" marR="91416"/>
                </a:tc>
                <a:tc>
                  <a:txBody>
                    <a:bodyPr/>
                    <a:lstStyle/>
                    <a:p>
                      <a:pPr algn="ctr"/>
                      <a:r>
                        <a:rPr lang="en-US" dirty="0" smtClean="0"/>
                        <a:t>   12</a:t>
                      </a:r>
                      <a:endParaRPr lang="en-US" dirty="0"/>
                    </a:p>
                  </a:txBody>
                  <a:tcPr marL="91416" marR="91416"/>
                </a:tc>
                <a:tc>
                  <a:txBody>
                    <a:bodyPr/>
                    <a:lstStyle/>
                    <a:p>
                      <a:pPr algn="ctr"/>
                      <a:r>
                        <a:rPr lang="en-US" dirty="0" smtClean="0"/>
                        <a:t>4</a:t>
                      </a:r>
                      <a:endParaRPr lang="en-US" dirty="0"/>
                    </a:p>
                  </a:txBody>
                  <a:tcPr marL="91416" marR="91416"/>
                </a:tc>
                <a:tc>
                  <a:txBody>
                    <a:bodyPr/>
                    <a:lstStyle/>
                    <a:p>
                      <a:pPr algn="ctr"/>
                      <a:r>
                        <a:rPr lang="en-US" dirty="0" smtClean="0"/>
                        <a:t>   20</a:t>
                      </a:r>
                      <a:endParaRPr lang="en-US" dirty="0"/>
                    </a:p>
                  </a:txBody>
                  <a:tcPr marL="91416" marR="91416"/>
                </a:tc>
                <a:tc>
                  <a:txBody>
                    <a:bodyPr/>
                    <a:lstStyle/>
                    <a:p>
                      <a:pPr algn="ctr"/>
                      <a:r>
                        <a:rPr lang="en-US" dirty="0" smtClean="0"/>
                        <a:t>NA</a:t>
                      </a:r>
                      <a:endParaRPr lang="en-US" dirty="0"/>
                    </a:p>
                  </a:txBody>
                  <a:tcPr marL="91416" marR="91416"/>
                </a:tc>
                <a:tc>
                  <a:txBody>
                    <a:bodyPr/>
                    <a:lstStyle/>
                    <a:p>
                      <a:pPr algn="ctr"/>
                      <a:r>
                        <a:rPr lang="en-US" dirty="0" smtClean="0"/>
                        <a:t>    NA</a:t>
                      </a:r>
                      <a:endParaRPr lang="en-US" dirty="0"/>
                    </a:p>
                  </a:txBody>
                  <a:tcPr marL="91416" marR="91416"/>
                </a:tc>
                <a:tc>
                  <a:txBody>
                    <a:bodyPr/>
                    <a:lstStyle/>
                    <a:p>
                      <a:pPr algn="ctr"/>
                      <a:r>
                        <a:rPr lang="en-US" dirty="0" smtClean="0"/>
                        <a:t>    2</a:t>
                      </a:r>
                      <a:endParaRPr lang="en-US" dirty="0"/>
                    </a:p>
                  </a:txBody>
                  <a:tcPr marL="91416" marR="91416"/>
                </a:tc>
                <a:extLst>
                  <a:ext uri="{0D108BD9-81ED-4DB2-BD59-A6C34878D82A}">
                    <a16:rowId xmlns:a16="http://schemas.microsoft.com/office/drawing/2014/main" val="10001"/>
                  </a:ext>
                </a:extLst>
              </a:tr>
            </a:tbl>
          </a:graphicData>
        </a:graphic>
      </p:graphicFrame>
      <p:pic>
        <p:nvPicPr>
          <p:cNvPr id="6" name="Picture 1" descr="D:\study materal\CU data\BEEE\CU logo.png"/>
          <p:cNvPicPr>
            <a:picLocks noChangeAspect="1" noChangeArrowheads="1"/>
          </p:cNvPicPr>
          <p:nvPr/>
        </p:nvPicPr>
        <p:blipFill>
          <a:blip r:embed="rId3" cstate="print"/>
          <a:srcRect/>
          <a:stretch>
            <a:fillRect/>
          </a:stretch>
        </p:blipFill>
        <p:spPr bwMode="auto">
          <a:xfrm>
            <a:off x="0" y="0"/>
            <a:ext cx="676275" cy="1038225"/>
          </a:xfrm>
          <a:prstGeom prst="rect">
            <a:avLst/>
          </a:prstGeom>
          <a:noFill/>
        </p:spPr>
      </p:pic>
      <p:grpSp>
        <p:nvGrpSpPr>
          <p:cNvPr id="7" name="Group 28"/>
          <p:cNvGrpSpPr/>
          <p:nvPr/>
        </p:nvGrpSpPr>
        <p:grpSpPr>
          <a:xfrm>
            <a:off x="11961812" y="5791200"/>
            <a:ext cx="227013" cy="1066800"/>
            <a:chOff x="83821" y="0"/>
            <a:chExt cx="219636" cy="903079"/>
          </a:xfrm>
        </p:grpSpPr>
        <p:sp>
          <p:nvSpPr>
            <p:cNvPr id="8" name="Rectangle 7"/>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8446" name="CorelDRAW" r:id="rId4" imgW="2169000" imgH="2169360" progId="">
                    <p:embed/>
                  </p:oleObj>
                </mc:Choice>
                <mc:Fallback>
                  <p:oleObj name="CorelDRAW" r:id="rId4" imgW="2169000" imgH="2169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269" y="274638"/>
            <a:ext cx="10969943" cy="1143000"/>
          </a:xfrm>
        </p:spPr>
        <p:style>
          <a:lnRef idx="2">
            <a:schemeClr val="dk1"/>
          </a:lnRef>
          <a:fillRef idx="1">
            <a:schemeClr val="lt1"/>
          </a:fillRef>
          <a:effectRef idx="0">
            <a:schemeClr val="dk1"/>
          </a:effectRef>
          <a:fontRef idx="minor">
            <a:schemeClr val="dk1"/>
          </a:fontRef>
        </p:style>
        <p:txBody>
          <a:bodyPr>
            <a:noAutofit/>
          </a:bodyPr>
          <a:lstStyle/>
          <a:p>
            <a:r>
              <a:rPr lang="en-IN" b="1" dirty="0" smtClean="0">
                <a:latin typeface="Calibri Light"/>
              </a:rPr>
              <a:t>REFERENCES FOR FURTHER HIGHER LEARNING</a:t>
            </a:r>
            <a:endParaRPr lang="en-US" b="1" dirty="0">
              <a:latin typeface="Calibri Light"/>
            </a:endParaRPr>
          </a:p>
        </p:txBody>
      </p:sp>
      <p:sp>
        <p:nvSpPr>
          <p:cNvPr id="3" name="Content Placeholder 2"/>
          <p:cNvSpPr>
            <a:spLocks noGrp="1"/>
          </p:cNvSpPr>
          <p:nvPr>
            <p:ph idx="1"/>
          </p:nvPr>
        </p:nvSpPr>
        <p:spPr/>
        <p:txBody>
          <a:bodyPr>
            <a:normAutofit/>
          </a:bodyPr>
          <a:lstStyle/>
          <a:p>
            <a:r>
              <a:rPr lang="en-US" dirty="0" smtClean="0">
                <a:hlinkClick r:id="rId3"/>
              </a:rPr>
              <a:t>https://www.usna.edu/EE/ee301/supplements/Rotating%20DC%20Motors%20Supplement%20I.pdf</a:t>
            </a:r>
            <a:r>
              <a:rPr lang="en-US" dirty="0" smtClean="0"/>
              <a:t>.</a:t>
            </a:r>
          </a:p>
          <a:p>
            <a:r>
              <a:rPr lang="en-US" dirty="0" smtClean="0">
                <a:hlinkClick r:id="rId4"/>
              </a:rPr>
              <a:t>https://www.usna.edu/EE/ee301/supplements/Linear%20Motors%20Supplement.pdf</a:t>
            </a:r>
            <a:r>
              <a:rPr lang="en-US" dirty="0" smtClean="0"/>
              <a:t>.</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dirty="0"/>
          </a:p>
        </p:txBody>
      </p:sp>
      <p:pic>
        <p:nvPicPr>
          <p:cNvPr id="5" name="Picture 1" descr="D:\study materal\CU data\BEEE\CU logo.png"/>
          <p:cNvPicPr>
            <a:picLocks noChangeAspect="1" noChangeArrowheads="1"/>
          </p:cNvPicPr>
          <p:nvPr/>
        </p:nvPicPr>
        <p:blipFill>
          <a:blip r:embed="rId5" cstate="print"/>
          <a:srcRect/>
          <a:stretch>
            <a:fillRect/>
          </a:stretch>
        </p:blipFill>
        <p:spPr bwMode="auto">
          <a:xfrm>
            <a:off x="0" y="0"/>
            <a:ext cx="676275" cy="1038225"/>
          </a:xfrm>
          <a:prstGeom prst="rect">
            <a:avLst/>
          </a:prstGeom>
          <a:noFill/>
        </p:spPr>
      </p:pic>
      <p:grpSp>
        <p:nvGrpSpPr>
          <p:cNvPr id="6" name="Group 28"/>
          <p:cNvGrpSpPr/>
          <p:nvPr/>
        </p:nvGrpSpPr>
        <p:grpSpPr>
          <a:xfrm>
            <a:off x="11961812" y="5791200"/>
            <a:ext cx="227013" cy="1066800"/>
            <a:chOff x="83821" y="0"/>
            <a:chExt cx="219636" cy="903079"/>
          </a:xfrm>
        </p:grpSpPr>
        <p:sp>
          <p:nvSpPr>
            <p:cNvPr id="7" name="Rectangle 6"/>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7422" name="CorelDRAW" r:id="rId6" imgW="2169000" imgH="2169360" progId="">
                    <p:embed/>
                  </p:oleObj>
                </mc:Choice>
                <mc:Fallback>
                  <p:oleObj name="CorelDRAW" r:id="rId6" imgW="2169000" imgH="2169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412" y="228600"/>
            <a:ext cx="10969943" cy="1143000"/>
          </a:xfr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r>
              <a:rPr lang="en-US" b="1" dirty="0" smtClean="0">
                <a:latin typeface="Calibri Light"/>
              </a:rPr>
              <a:t>REFERENCES</a:t>
            </a:r>
            <a:endParaRPr lang="en-US" b="1" dirty="0">
              <a:latin typeface="Calibri Light"/>
            </a:endParaRPr>
          </a:p>
        </p:txBody>
      </p:sp>
      <p:sp>
        <p:nvSpPr>
          <p:cNvPr id="3" name="Content Placeholder 2"/>
          <p:cNvSpPr>
            <a:spLocks noGrp="1"/>
          </p:cNvSpPr>
          <p:nvPr>
            <p:ph idx="1"/>
          </p:nvPr>
        </p:nvSpPr>
        <p:spPr>
          <a:xfrm>
            <a:off x="227012" y="1600201"/>
            <a:ext cx="11734799" cy="4952999"/>
          </a:xfrm>
        </p:spPr>
        <p:txBody>
          <a:bodyPr>
            <a:normAutofit fontScale="55000" lnSpcReduction="20000"/>
          </a:bodyPr>
          <a:lstStyle/>
          <a:p>
            <a:pPr algn="just">
              <a:buNone/>
            </a:pPr>
            <a:r>
              <a:rPr lang="en-US" b="1" dirty="0" smtClean="0"/>
              <a:t>Books:  </a:t>
            </a:r>
            <a:endParaRPr lang="en-US" dirty="0" smtClean="0"/>
          </a:p>
          <a:p>
            <a:pPr algn="just">
              <a:buNone/>
            </a:pPr>
            <a:r>
              <a:rPr lang="en-US" dirty="0" smtClean="0"/>
              <a:t>[1] Basic of Electrical Engineering, T. K. </a:t>
            </a:r>
            <a:r>
              <a:rPr lang="en-US" dirty="0" err="1" smtClean="0"/>
              <a:t>Nagsarkar</a:t>
            </a:r>
            <a:r>
              <a:rPr lang="en-US" dirty="0" smtClean="0"/>
              <a:t> and M. S.Sukhija,2013 ,2</a:t>
            </a:r>
            <a:r>
              <a:rPr lang="en-US" baseline="30000" dirty="0" smtClean="0"/>
              <a:t>nd</a:t>
            </a:r>
            <a:r>
              <a:rPr lang="en-US" dirty="0" smtClean="0"/>
              <a:t> edition </a:t>
            </a:r>
          </a:p>
          <a:p>
            <a:pPr algn="just">
              <a:buNone/>
            </a:pPr>
            <a:r>
              <a:rPr lang="en-US" dirty="0" smtClean="0"/>
              <a:t>[2]Theory and problems of Basic Electrical Engineering, J. </a:t>
            </a:r>
            <a:r>
              <a:rPr lang="en-US" dirty="0" err="1" smtClean="0"/>
              <a:t>Nagrath</a:t>
            </a:r>
            <a:r>
              <a:rPr lang="en-US" dirty="0" smtClean="0"/>
              <a:t> and Kothari, 2012, 2</a:t>
            </a:r>
            <a:r>
              <a:rPr lang="en-US" baseline="30000" dirty="0" smtClean="0"/>
              <a:t>nd</a:t>
            </a:r>
            <a:r>
              <a:rPr lang="en-US" dirty="0" smtClean="0"/>
              <a:t>   edition </a:t>
            </a:r>
          </a:p>
          <a:p>
            <a:pPr algn="just">
              <a:buNone/>
            </a:pPr>
            <a:r>
              <a:rPr lang="en-US" dirty="0" smtClean="0"/>
              <a:t>[3] A Textbook of Electrical Technology, B.L Theraja,2010,Vol 1 </a:t>
            </a:r>
          </a:p>
          <a:p>
            <a:pPr algn="just">
              <a:buNone/>
            </a:pPr>
            <a:r>
              <a:rPr lang="en-US" dirty="0" smtClean="0"/>
              <a:t>[4] Fundamentals of Electrical and Electronics Engineering, </a:t>
            </a:r>
            <a:r>
              <a:rPr lang="en-US" dirty="0" err="1" smtClean="0"/>
              <a:t>Smarjith</a:t>
            </a:r>
            <a:r>
              <a:rPr lang="en-US" dirty="0" smtClean="0"/>
              <a:t> Ghosh,2013,1</a:t>
            </a:r>
            <a:r>
              <a:rPr lang="en-US" baseline="30000" dirty="0" smtClean="0"/>
              <a:t>st</a:t>
            </a:r>
            <a:r>
              <a:rPr lang="en-US" dirty="0" smtClean="0"/>
              <a:t>   edition</a:t>
            </a:r>
          </a:p>
          <a:p>
            <a:pPr algn="just">
              <a:buNone/>
            </a:pPr>
            <a:r>
              <a:rPr lang="en-US" b="1" dirty="0" smtClean="0"/>
              <a:t>E-Books:</a:t>
            </a:r>
            <a:endParaRPr lang="en-US" dirty="0" smtClean="0"/>
          </a:p>
          <a:p>
            <a:pPr algn="just">
              <a:buNone/>
            </a:pPr>
            <a:r>
              <a:rPr lang="en-US" dirty="0" smtClean="0"/>
              <a:t> [1]  </a:t>
            </a:r>
            <a:r>
              <a:rPr lang="en-US" u="sng" dirty="0" smtClean="0">
                <a:hlinkClick r:id="rId3"/>
              </a:rPr>
              <a:t>http://www.freeengineeringbooks.com/Electrical/DC-Motors-Books.php</a:t>
            </a:r>
            <a:endParaRPr lang="en-US" dirty="0" smtClean="0"/>
          </a:p>
          <a:p>
            <a:pPr algn="just">
              <a:buNone/>
            </a:pPr>
            <a:r>
              <a:rPr lang="en-US" dirty="0" smtClean="0"/>
              <a:t> [2] </a:t>
            </a:r>
            <a:r>
              <a:rPr lang="en-US" u="sng" dirty="0" smtClean="0">
                <a:hlinkClick r:id="rId4"/>
              </a:rPr>
              <a:t>http://pemclab.cn.nctu.edu.tw/W3lib/books/ElectroCraft85/ch2.dcmotor.pdf</a:t>
            </a:r>
            <a:endParaRPr lang="en-US" dirty="0" smtClean="0"/>
          </a:p>
          <a:p>
            <a:pPr algn="just">
              <a:buNone/>
            </a:pPr>
            <a:r>
              <a:rPr lang="en-US" b="1" dirty="0" smtClean="0"/>
              <a:t>Websites:</a:t>
            </a:r>
            <a:endParaRPr lang="en-US" dirty="0" smtClean="0"/>
          </a:p>
          <a:p>
            <a:pPr algn="just">
              <a:buNone/>
            </a:pPr>
            <a:r>
              <a:rPr lang="en-US" dirty="0" smtClean="0"/>
              <a:t>[1]  </a:t>
            </a:r>
            <a:r>
              <a:rPr lang="en-US" u="sng" dirty="0" smtClean="0">
                <a:hlinkClick r:id="rId5"/>
              </a:rPr>
              <a:t>https://en.wikipedia.org/wiki/DC_motor</a:t>
            </a:r>
            <a:r>
              <a:rPr lang="en-US" dirty="0" smtClean="0"/>
              <a:t> </a:t>
            </a:r>
          </a:p>
          <a:p>
            <a:pPr algn="just">
              <a:buNone/>
            </a:pPr>
            <a:r>
              <a:rPr lang="en-US" dirty="0" smtClean="0"/>
              <a:t>[2] </a:t>
            </a:r>
            <a:r>
              <a:rPr lang="en-US" u="sng" dirty="0" smtClean="0">
                <a:hlinkClick r:id="rId6"/>
              </a:rPr>
              <a:t>https://www.electrical4u.com/dc-motor-or-direct-current-motor/</a:t>
            </a:r>
            <a:endParaRPr lang="en-US" dirty="0" smtClean="0"/>
          </a:p>
          <a:p>
            <a:pPr algn="just">
              <a:buNone/>
            </a:pPr>
            <a:r>
              <a:rPr lang="en-US" dirty="0" smtClean="0"/>
              <a:t> [3] </a:t>
            </a:r>
            <a:r>
              <a:rPr lang="en-US" u="sng" dirty="0" smtClean="0">
                <a:hlinkClick r:id="rId7"/>
              </a:rPr>
              <a:t>https://nptel.ac.in/content/storage2/courses/108105053/pdf/L-39(TB)(ET)%20((EE)NPTEL).pdf</a:t>
            </a:r>
            <a:r>
              <a:rPr lang="en-US" dirty="0" smtClean="0"/>
              <a:t> </a:t>
            </a:r>
          </a:p>
          <a:p>
            <a:pPr algn="just">
              <a:buNone/>
            </a:pPr>
            <a:r>
              <a:rPr lang="en-US" dirty="0" smtClean="0"/>
              <a:t>[4] </a:t>
            </a:r>
            <a:r>
              <a:rPr lang="en-US" u="sng" dirty="0" smtClean="0">
                <a:hlinkClick r:id="rId8"/>
              </a:rPr>
              <a:t>https://www.slideshare.net/saaz1425/dc-motor-23906628</a:t>
            </a:r>
            <a:endParaRPr lang="en-US" dirty="0" smtClean="0"/>
          </a:p>
          <a:p>
            <a:pPr algn="just">
              <a:buNone/>
            </a:pPr>
            <a:r>
              <a:rPr lang="en-US" b="1" dirty="0" smtClean="0"/>
              <a:t>Videos:   </a:t>
            </a:r>
            <a:endParaRPr lang="en-US" dirty="0" smtClean="0"/>
          </a:p>
          <a:p>
            <a:pPr algn="just">
              <a:buNone/>
            </a:pPr>
            <a:r>
              <a:rPr lang="en-US" dirty="0" smtClean="0"/>
              <a:t>[1] </a:t>
            </a:r>
            <a:r>
              <a:rPr lang="en-US" u="sng" dirty="0" smtClean="0">
                <a:hlinkClick r:id="rId9"/>
              </a:rPr>
              <a:t>https://www.youtube.com/watch?v=6MnmcMYbsfQ</a:t>
            </a:r>
            <a:endParaRPr lang="en-US" dirty="0" smtClean="0"/>
          </a:p>
          <a:p>
            <a:pPr algn="just">
              <a:buNone/>
            </a:pPr>
            <a:r>
              <a:rPr lang="en-US" dirty="0" smtClean="0"/>
              <a:t>[2] </a:t>
            </a:r>
            <a:r>
              <a:rPr lang="en-US" u="sng" dirty="0" smtClean="0">
                <a:hlinkClick r:id="rId10"/>
              </a:rPr>
              <a:t>https://www.youtube.com/watch?v=ASnDSEeWADk</a:t>
            </a:r>
            <a:endParaRPr lang="en-US" dirty="0" smtClean="0"/>
          </a:p>
          <a:p>
            <a:pPr algn="just">
              <a:buNone/>
            </a:pPr>
            <a:r>
              <a:rPr lang="en-US" dirty="0" smtClean="0"/>
              <a:t> [3] </a:t>
            </a:r>
            <a:r>
              <a:rPr lang="en-US" u="sng" dirty="0" smtClean="0">
                <a:hlinkClick r:id="rId11"/>
              </a:rPr>
              <a:t>https://www.youtube.com/watch?v=xsWNGcZ-jds</a:t>
            </a:r>
            <a:endParaRPr lang="en-US" dirty="0" smtClean="0"/>
          </a:p>
          <a:p>
            <a:pPr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dirty="0"/>
          </a:p>
        </p:txBody>
      </p:sp>
      <p:pic>
        <p:nvPicPr>
          <p:cNvPr id="5" name="Picture 1" descr="D:\study materal\CU data\BEEE\CU logo.png"/>
          <p:cNvPicPr>
            <a:picLocks noChangeAspect="1" noChangeArrowheads="1"/>
          </p:cNvPicPr>
          <p:nvPr/>
        </p:nvPicPr>
        <p:blipFill>
          <a:blip r:embed="rId12" cstate="print"/>
          <a:srcRect/>
          <a:stretch>
            <a:fillRect/>
          </a:stretch>
        </p:blipFill>
        <p:spPr bwMode="auto">
          <a:xfrm>
            <a:off x="0" y="0"/>
            <a:ext cx="676275" cy="1038225"/>
          </a:xfrm>
          <a:prstGeom prst="rect">
            <a:avLst/>
          </a:prstGeom>
          <a:noFill/>
        </p:spPr>
      </p:pic>
      <p:grpSp>
        <p:nvGrpSpPr>
          <p:cNvPr id="6" name="Group 28"/>
          <p:cNvGrpSpPr/>
          <p:nvPr/>
        </p:nvGrpSpPr>
        <p:grpSpPr>
          <a:xfrm>
            <a:off x="11961812" y="5791200"/>
            <a:ext cx="227013" cy="1066800"/>
            <a:chOff x="83821" y="0"/>
            <a:chExt cx="219636" cy="903079"/>
          </a:xfrm>
        </p:grpSpPr>
        <p:sp>
          <p:nvSpPr>
            <p:cNvPr id="7" name="Rectangle 6"/>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6398" name="CorelDRAW" r:id="rId13" imgW="2169000" imgH="2169360" progId="">
                    <p:embed/>
                  </p:oleObj>
                </mc:Choice>
                <mc:Fallback>
                  <p:oleObj name="CorelDRAW" r:id="rId13" imgW="2169000" imgH="2169360" progId="">
                    <p:embed/>
                    <p:pic>
                      <p:nvPicPr>
                        <p:cNvPr id="0" name="Picture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88825"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4766" y="0"/>
            <a:ext cx="1828324"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6480" y="0"/>
            <a:ext cx="663799"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235" y="6294598"/>
            <a:ext cx="558200"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425" y="5129690"/>
            <a:ext cx="172786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515" y="2249080"/>
            <a:ext cx="10722355"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0912" y="1214279"/>
            <a:ext cx="2429830"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020" y="1214279"/>
            <a:ext cx="2429830"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3" name="Group 28"/>
          <p:cNvGrpSpPr/>
          <p:nvPr/>
        </p:nvGrpSpPr>
        <p:grpSpPr>
          <a:xfrm>
            <a:off x="237459" y="152400"/>
            <a:ext cx="410456"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76"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3169011" y="4782383"/>
            <a:ext cx="5508239" cy="954107"/>
          </a:xfrm>
          <a:prstGeom prst="rect">
            <a:avLst/>
          </a:prstGeom>
        </p:spPr>
        <p:txBody>
          <a:bodyPr wrap="none">
            <a:spAutoFit/>
          </a:bodyPr>
          <a:lstStyle/>
          <a:p>
            <a:r>
              <a:rPr lang="en-US" sz="2800" dirty="0" smtClean="0">
                <a:latin typeface="Casper" panose="02000506000000020004" pitchFamily="2" charset="0"/>
                <a:ea typeface="Segoe UI" panose="020B0502040204020203" pitchFamily="34" charset="0"/>
                <a:cs typeface="Segoe UI" panose="020B0502040204020203" pitchFamily="34" charset="0"/>
              </a:rPr>
              <a:t>For queries</a:t>
            </a:r>
          </a:p>
          <a:p>
            <a:r>
              <a:rPr lang="en-US" sz="2800" dirty="0" smtClean="0">
                <a:latin typeface="Casper" panose="02000506000000020004" pitchFamily="2" charset="0"/>
                <a:cs typeface="Segoe UI" panose="020B0502040204020203" pitchFamily="34" charset="0"/>
              </a:rPr>
              <a:t>Email: shikha.e12701</a:t>
            </a:r>
            <a:r>
              <a:rPr lang="en-US" sz="2800" dirty="0" smtClean="0">
                <a:latin typeface="Casper" panose="02000506000000020004" pitchFamily="2" charset="0"/>
                <a:cs typeface="Segoe UI" panose="020B0502040204020203" pitchFamily="34" charset="0"/>
                <a:hlinkClick r:id="rId5"/>
              </a:rPr>
              <a:t>@cumail.in</a:t>
            </a:r>
            <a:r>
              <a:rPr lang="en-US" sz="2800" dirty="0" smtClean="0">
                <a:latin typeface="Casper" panose="02000506000000020004" pitchFamily="2" charset="0"/>
                <a:cs typeface="Segoe UI" panose="020B0502040204020203" pitchFamily="34" charset="0"/>
              </a:rPr>
              <a:t> </a:t>
            </a:r>
          </a:p>
        </p:txBody>
      </p:sp>
      <p:grpSp>
        <p:nvGrpSpPr>
          <p:cNvPr id="16" name="Group 28"/>
          <p:cNvGrpSpPr/>
          <p:nvPr/>
        </p:nvGrpSpPr>
        <p:grpSpPr>
          <a:xfrm>
            <a:off x="11961812" y="5791200"/>
            <a:ext cx="227013" cy="1066800"/>
            <a:chOff x="83821" y="0"/>
            <a:chExt cx="219636" cy="903079"/>
          </a:xfrm>
        </p:grpSpPr>
        <p:sp>
          <p:nvSpPr>
            <p:cNvPr id="24" name="Rectangle 23"/>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Object 26">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77" name="CorelDRAW" r:id="rId6" imgW="2169000" imgH="2169360" progId="">
                    <p:embed/>
                  </p:oleObj>
                </mc:Choice>
                <mc:Fallback>
                  <p:oleObj name="CorelDRAW" r:id="rId6" imgW="2169000" imgH="216936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808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1376</Words>
  <Application>Microsoft Office PowerPoint</Application>
  <PresentationFormat>Custom</PresentationFormat>
  <Paragraphs>268</Paragraphs>
  <Slides>26</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9" baseType="lpstr">
      <vt:lpstr>Arial</vt:lpstr>
      <vt:lpstr>Arial Black</vt:lpstr>
      <vt:lpstr>Calibri</vt:lpstr>
      <vt:lpstr>Calibri Light</vt:lpstr>
      <vt:lpstr>Casper</vt:lpstr>
      <vt:lpstr>Karla</vt:lpstr>
      <vt:lpstr>Raavi</vt:lpstr>
      <vt:lpstr>Raleway ExtraBold</vt:lpstr>
      <vt:lpstr>Segoe UI</vt:lpstr>
      <vt:lpstr>Times New Roman</vt:lpstr>
      <vt:lpstr>Wingdings</vt:lpstr>
      <vt:lpstr>Office Theme</vt:lpstr>
      <vt:lpstr>CorelDRAW</vt:lpstr>
      <vt:lpstr>PowerPoint Presentation</vt:lpstr>
      <vt:lpstr>LECTURE  OBJECTIVES</vt:lpstr>
      <vt:lpstr>Course Objectives</vt:lpstr>
      <vt:lpstr>Course Outcomes</vt:lpstr>
      <vt:lpstr>CONTENTS   </vt:lpstr>
      <vt:lpstr>UNIT-2 DC MOTOR</vt:lpstr>
      <vt:lpstr>DC MOTOR</vt:lpstr>
      <vt:lpstr>CONSTRUCTIONAL PARTS OF DC MACHINE</vt:lpstr>
      <vt:lpstr>CONSTRUCTIONAL VIEW OF DC MACHINE </vt:lpstr>
      <vt:lpstr>OVERVIEW OF DC MACHINE</vt:lpstr>
      <vt:lpstr> MAGNETIC FRAME OR YOKE </vt:lpstr>
      <vt:lpstr>POLE CORE &amp; POLE SHOES</vt:lpstr>
      <vt:lpstr>FIELD or EXCITING COILS</vt:lpstr>
      <vt:lpstr>ARMATURE WINDING</vt:lpstr>
      <vt:lpstr> COMMUTATOR  </vt:lpstr>
      <vt:lpstr> BRUSHES </vt:lpstr>
      <vt:lpstr> SHAFT </vt:lpstr>
      <vt:lpstr>WORKING PRINCIPLE OF DC MOTOR </vt:lpstr>
      <vt:lpstr>SUMMARY</vt:lpstr>
      <vt:lpstr>FREQUENTLY ASKED QUESTIONS</vt:lpstr>
      <vt:lpstr>LEARNING OUTCOMES </vt:lpstr>
      <vt:lpstr>Course Outcome to Program Outcome Relationship</vt:lpstr>
      <vt:lpstr>ASSESSMENT PATTERN</vt:lpstr>
      <vt:lpstr>REFERENCES FOR FURTHER HIGHER LEARNING</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Hemupooja</dc:creator>
  <cp:lastModifiedBy>INDIAN</cp:lastModifiedBy>
  <cp:revision>28</cp:revision>
  <dcterms:created xsi:type="dcterms:W3CDTF">2020-07-27T06:30:26Z</dcterms:created>
  <dcterms:modified xsi:type="dcterms:W3CDTF">2023-06-20T04:55:34Z</dcterms:modified>
</cp:coreProperties>
</file>