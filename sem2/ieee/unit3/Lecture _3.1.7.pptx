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49"/>
  </p:notesMasterIdLst>
  <p:handoutMasterIdLst>
    <p:handoutMasterId r:id="rId50"/>
  </p:handoutMasterIdLst>
  <p:sldIdLst>
    <p:sldId id="371" r:id="rId3"/>
    <p:sldId id="404" r:id="rId4"/>
    <p:sldId id="439" r:id="rId5"/>
    <p:sldId id="440" r:id="rId6"/>
    <p:sldId id="390" r:id="rId7"/>
    <p:sldId id="394" r:id="rId8"/>
    <p:sldId id="367" r:id="rId9"/>
    <p:sldId id="327" r:id="rId10"/>
    <p:sldId id="372" r:id="rId11"/>
    <p:sldId id="409" r:id="rId12"/>
    <p:sldId id="396" r:id="rId13"/>
    <p:sldId id="411" r:id="rId14"/>
    <p:sldId id="412" r:id="rId15"/>
    <p:sldId id="410" r:id="rId16"/>
    <p:sldId id="413" r:id="rId17"/>
    <p:sldId id="414" r:id="rId18"/>
    <p:sldId id="373" r:id="rId19"/>
    <p:sldId id="392" r:id="rId20"/>
    <p:sldId id="381" r:id="rId21"/>
    <p:sldId id="415" r:id="rId22"/>
    <p:sldId id="416" r:id="rId23"/>
    <p:sldId id="353" r:id="rId24"/>
    <p:sldId id="417" r:id="rId25"/>
    <p:sldId id="418" r:id="rId26"/>
    <p:sldId id="419" r:id="rId27"/>
    <p:sldId id="420" r:id="rId28"/>
    <p:sldId id="421" r:id="rId29"/>
    <p:sldId id="422" r:id="rId30"/>
    <p:sldId id="423" r:id="rId31"/>
    <p:sldId id="437" r:id="rId32"/>
    <p:sldId id="434" r:id="rId33"/>
    <p:sldId id="435" r:id="rId34"/>
    <p:sldId id="436" r:id="rId35"/>
    <p:sldId id="424" r:id="rId36"/>
    <p:sldId id="425" r:id="rId37"/>
    <p:sldId id="428" r:id="rId38"/>
    <p:sldId id="426" r:id="rId39"/>
    <p:sldId id="427" r:id="rId40"/>
    <p:sldId id="375" r:id="rId41"/>
    <p:sldId id="377" r:id="rId42"/>
    <p:sldId id="405" r:id="rId43"/>
    <p:sldId id="438" r:id="rId44"/>
    <p:sldId id="407" r:id="rId45"/>
    <p:sldId id="403" r:id="rId46"/>
    <p:sldId id="433" r:id="rId47"/>
    <p:sldId id="4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3" d="100"/>
          <a:sy n="73" d="100"/>
        </p:scale>
        <p:origin x="60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6/20/2023</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dirty="0"/>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dirty="0"/>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6/20/2023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18962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dirty="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dirty="0"/>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library.automationdirect.com/basic-electrical-theory/"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university.listenlights.com/2017/08/03/induction-motor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polytechnichub.com/construction-3-phase-induction-moto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olytechnichub.com/construction-3-phase-induction-motor/"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electricaledition.com/2017/06/squirrel-cage-slip-ring-induction-motor-differences.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s://www.electrical4u.com/squirrel-cage-induction-moto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www.elprocus.com/what-is-slip-ring-induction-motor-and-its-workin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kebamerica.com/blog/how-a-3-phase-ac-induction-motor-work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www.elprocus.com/three-phase-ac-induction-motor-control-using-svpw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electricalacademia.com/induction-motor/three-phase-induction-motor-construction/"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hyperlink" Target="https://electrical-engineering-portal.com/construction-of-3-phase-ac-induction-motor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theengineeringprojects.com/2016/10/squirrel-cage-induction-motor.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hyperlink" Target="https://electricallive.com/2015/03/slip-ring-rotor-or-wound-rotor-in-three.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electricaltechnology.org/2014/01/important-terms-related-to-electric-circuits-and-networks.html" TargetMode="External"/><Relationship Id="rId2" Type="http://schemas.openxmlformats.org/officeDocument/2006/relationships/hyperlink" Target="https://www.sciencedirect.com/topics/computer-science/electrical-network"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hyperlink" Target="https://youtu.be/awrUxv7B-a8" TargetMode="External"/><Relationship Id="rId3" Type="http://schemas.openxmlformats.org/officeDocument/2006/relationships/hyperlink" Target="file:///C:\Users\user\Desktop\BLACK%20BOARD%20MATERIAL%20PEE\UNIT-2%20PEE\Lecture%203%20&amp;%204\Elements%20Of%20Electrical%20Engineering%20By%20V.%20U.%20Bakshi%20and%20U.%20A.%20Bakshi.pdf" TargetMode="External"/><Relationship Id="rId7" Type="http://schemas.openxmlformats.org/officeDocument/2006/relationships/hyperlink" Target="https://www.elprocus.com/what-is-slip-ring-induction-motor-and-its-working/" TargetMode="External"/><Relationship Id="rId2" Type="http://schemas.openxmlformats.org/officeDocument/2006/relationships/hyperlink" Target="file:///C:\Users\user\Desktop\BLACK%20BOARD%20MATERIAL%20PEE\UNIT-2%20PEE\Lecture%203%20&amp;%204\doku.pub_basic-electrical-engineering-vkmehta-e-schand.pdf" TargetMode="External"/><Relationship Id="rId1" Type="http://schemas.openxmlformats.org/officeDocument/2006/relationships/slideLayout" Target="../slideLayouts/slideLayout2.xml"/><Relationship Id="rId6" Type="http://schemas.openxmlformats.org/officeDocument/2006/relationships/hyperlink" Target="https://www.elprocus.com/what-is-a-squirrel-cage-induction-motor-and-its-working/" TargetMode="External"/><Relationship Id="rId5" Type="http://schemas.openxmlformats.org/officeDocument/2006/relationships/hyperlink" Target="https://circuitglobe.com/working-principle-of-single-phase-induction-motor.html" TargetMode="External"/><Relationship Id="rId10" Type="http://schemas.openxmlformats.org/officeDocument/2006/relationships/hyperlink" Target="https://youtu.be/cuwSCutTHEI" TargetMode="External"/><Relationship Id="rId4" Type="http://schemas.openxmlformats.org/officeDocument/2006/relationships/hyperlink" Target="https://www.electricalengineeringinfo.com/2017/01/single-phase-induction-motors-working-principle-construction.html" TargetMode="External"/><Relationship Id="rId9" Type="http://schemas.openxmlformats.org/officeDocument/2006/relationships/hyperlink" Target="https://youtu.be/AhxMrUo806Y" TargetMode="Externa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494804" y="4023363"/>
          <a:ext cx="2631143" cy="2507676"/>
        </p:xfrm>
        <a:graphic>
          <a:graphicData uri="http://schemas.openxmlformats.org/presentationml/2006/ole">
            <mc:AlternateContent xmlns:mc="http://schemas.openxmlformats.org/markup-compatibility/2006">
              <mc:Choice xmlns:v="urn:schemas-microsoft-com:vml" Requires="v">
                <p:oleObj spid="_x0000_s128014"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494804" y="4023363"/>
                        <a:ext cx="2631143" cy="2507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p:cNvSpPr txBox="1">
            <a:spLocks noChangeArrowheads="1"/>
          </p:cNvSpPr>
          <p:nvPr/>
        </p:nvSpPr>
        <p:spPr bwMode="auto">
          <a:xfrm>
            <a:off x="1214846" y="1019978"/>
            <a:ext cx="9679577" cy="8057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b="1" dirty="0">
                <a:latin typeface="Arial Black" panose="020B0A04020102020204" pitchFamily="34" charset="0"/>
                <a:ea typeface="Karla" pitchFamily="2" charset="0"/>
                <a:cs typeface="Karla" pitchFamily="2" charset="0"/>
              </a:rPr>
              <a:t>UNIVERSITY INSTITUTE ENGINEERING </a:t>
            </a:r>
          </a:p>
          <a:p>
            <a:pPr algn="ctr" defTabSz="622300">
              <a:lnSpc>
                <a:spcPct val="90000"/>
              </a:lnSpc>
              <a:spcBef>
                <a:spcPct val="0"/>
              </a:spcBef>
              <a:spcAft>
                <a:spcPct val="35000"/>
              </a:spcAft>
            </a:pPr>
            <a:r>
              <a:rPr lang="en-US" sz="2400" b="1" dirty="0">
                <a:latin typeface="Arial Black" panose="020B0A04020102020204" pitchFamily="34" charset="0"/>
                <a:ea typeface="Karla" pitchFamily="2" charset="0"/>
                <a:cs typeface="Karla" pitchFamily="2" charset="0"/>
              </a:rPr>
              <a:t>DEPARTMENT ACADEMIC UNIT-1 </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Engineering) </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NAME: INTRODUCTION TO  ELECTRICAL &amp; ELECTRONICS ENGINEERING</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CODE </a:t>
            </a:r>
            <a:r>
              <a:rPr lang="en-US" sz="2400">
                <a:latin typeface="Times New Roman" panose="02020603050405020304" pitchFamily="18" charset="0"/>
                <a:ea typeface="Calibri" panose="020F0502020204030204" pitchFamily="34" charset="0"/>
                <a:cs typeface="Times New Roman" panose="02020603050405020304" pitchFamily="18" charset="0"/>
              </a:rPr>
              <a:t>: </a:t>
            </a:r>
            <a:r>
              <a:rPr lang="en-US" sz="2400" smtClean="0">
                <a:latin typeface="Times New Roman" panose="02020603050405020304" pitchFamily="18" charset="0"/>
                <a:ea typeface="Calibri" panose="020F0502020204030204" pitchFamily="34" charset="0"/>
                <a:cs typeface="Times New Roman" panose="02020603050405020304" pitchFamily="18" charset="0"/>
              </a:rPr>
              <a:t>23ECH-101</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By</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Unit-3, Chapter-1</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Lecture No.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3.1.7</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itchFamily="18" charset="0"/>
                <a:ea typeface="Calibri" panose="020F0502020204030204" pitchFamily="34" charset="0"/>
                <a:cs typeface="Times New Roman" pitchFamily="18" charset="0"/>
              </a:rPr>
              <a:t>INTRODUCTION TO INDUCTION MOTOR</a:t>
            </a:r>
          </a:p>
          <a:p>
            <a:pPr lvl="0" algn="ctr" defTabSz="622300">
              <a:lnSpc>
                <a:spcPct val="90000"/>
              </a:lnSpc>
              <a:spcBef>
                <a:spcPct val="0"/>
              </a:spcBef>
              <a:spcAft>
                <a:spcPct val="35000"/>
              </a:spcAft>
            </a:pPr>
            <a:endParaRPr lang="en-US" sz="2400" dirty="0" smtClean="0">
              <a:latin typeface="Times New Roman" pitchFamily="18" charset="0"/>
              <a:ea typeface="Calibri" panose="020F0502020204030204" pitchFamily="34" charset="0"/>
              <a:cs typeface="Times New Roman" pitchFamily="18" charset="0"/>
            </a:endParaRPr>
          </a:p>
          <a:p>
            <a:pPr lvl="0" algn="ctr" defTabSz="622300">
              <a:lnSpc>
                <a:spcPct val="90000"/>
              </a:lnSpc>
              <a:spcBef>
                <a:spcPct val="0"/>
              </a:spcBef>
              <a:spcAft>
                <a:spcPct val="35000"/>
              </a:spcAft>
            </a:pPr>
            <a:endParaRPr lang="en-US" sz="2400" dirty="0" smtClean="0">
              <a:latin typeface="Times New Roman" pitchFamily="18" charset="0"/>
              <a:ea typeface="Calibri" panose="020F0502020204030204" pitchFamily="34" charset="0"/>
              <a:cs typeface="Times New Roman" pitchFamily="18" charset="0"/>
            </a:endParaRPr>
          </a:p>
          <a:p>
            <a:pPr lvl="0" algn="ctr" defTabSz="622300">
              <a:lnSpc>
                <a:spcPct val="90000"/>
              </a:lnSpc>
              <a:spcBef>
                <a:spcPct val="0"/>
              </a:spcBef>
              <a:spcAft>
                <a:spcPct val="35000"/>
              </a:spcAft>
            </a:pPr>
            <a:endPar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LECTURE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1091665859"/>
              </p:ext>
            </p:extLst>
          </p:nvPr>
        </p:nvGraphicFramePr>
        <p:xfrm>
          <a:off x="282009" y="2226080"/>
          <a:ext cx="6536802" cy="3968322"/>
        </p:xfrm>
        <a:graphic>
          <a:graphicData uri="http://schemas.openxmlformats.org/drawingml/2006/table">
            <a:tbl>
              <a:tblPr firstRow="1" firstCol="1" bandRow="1"/>
              <a:tblGrid>
                <a:gridCol w="556819">
                  <a:extLst>
                    <a:ext uri="{9D8B030D-6E8A-4147-A177-3AD203B41FA5}">
                      <a16:colId xmlns:a16="http://schemas.microsoft.com/office/drawing/2014/main" val="20000"/>
                    </a:ext>
                  </a:extLst>
                </a:gridCol>
                <a:gridCol w="5979983">
                  <a:extLst>
                    <a:ext uri="{9D8B030D-6E8A-4147-A177-3AD203B41FA5}">
                      <a16:colId xmlns:a16="http://schemas.microsoft.com/office/drawing/2014/main" val="20001"/>
                    </a:ext>
                  </a:extLst>
                </a:gridCol>
              </a:tblGrid>
              <a:tr h="608316">
                <a:tc>
                  <a:txBody>
                    <a:bodyPr/>
                    <a:lstStyle/>
                    <a:p>
                      <a:pPr algn="ctr" fontAlgn="ctr"/>
                      <a:r>
                        <a:rPr lang="en-US" sz="1200" b="1" i="0" u="none" strike="noStrike" dirty="0" smtClean="0">
                          <a:solidFill>
                            <a:srgbClr val="000000"/>
                          </a:solidFill>
                          <a:effectLst/>
                          <a:latin typeface="+mn-lt"/>
                        </a:rPr>
                        <a:t>S. No.</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smtClean="0">
                          <a:solidFill>
                            <a:srgbClr val="000000"/>
                          </a:solidFill>
                          <a:effectLst/>
                          <a:latin typeface="+mn-lt"/>
                        </a:rPr>
                        <a:t>Objectives</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0396">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student</a:t>
                      </a:r>
                      <a:r>
                        <a:rPr lang="en-US" sz="1200" b="0" i="0" kern="1200" baseline="0" dirty="0" smtClean="0">
                          <a:solidFill>
                            <a:schemeClr val="tx1"/>
                          </a:solidFill>
                          <a:latin typeface="+mn-lt"/>
                          <a:ea typeface="+mn-ea"/>
                          <a:cs typeface="+mn-cs"/>
                        </a:rPr>
                        <a:t> aware about the basic  concept of single phase induction motor</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04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construction  and working principle of single phase induction motor</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2472">
                <a:tc>
                  <a:txBody>
                    <a:bodyPr/>
                    <a:lstStyle/>
                    <a:p>
                      <a:pPr algn="ctr" fontAlgn="ctr"/>
                      <a:r>
                        <a:rPr lang="en-US" sz="1200" b="0" i="0" u="none" strike="noStrike" dirty="0" smtClean="0">
                          <a:solidFill>
                            <a:srgbClr val="000000"/>
                          </a:solidFill>
                          <a:effectLst/>
                          <a:latin typeface="+mn-lt"/>
                        </a:rPr>
                        <a:t>3</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provide knowledge about squirrel cage</a:t>
                      </a:r>
                      <a:r>
                        <a:rPr lang="en-US" sz="1200" b="0" i="0" kern="1200" baseline="0" dirty="0" smtClean="0">
                          <a:solidFill>
                            <a:schemeClr val="tx1"/>
                          </a:solidFill>
                          <a:latin typeface="+mn-lt"/>
                          <a:ea typeface="+mn-ea"/>
                          <a:cs typeface="+mn-cs"/>
                        </a:rPr>
                        <a:t> and phase wound rotor with their difference</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9046">
                <a:tc>
                  <a:txBody>
                    <a:bodyPr/>
                    <a:lstStyle/>
                    <a:p>
                      <a:pPr algn="ctr" fontAlgn="ctr"/>
                      <a:r>
                        <a:rPr lang="en-US" sz="1200" b="0" i="0" u="none" strike="noStrike" dirty="0" smtClean="0">
                          <a:solidFill>
                            <a:srgbClr val="000000"/>
                          </a:solidFill>
                          <a:effectLst/>
                          <a:latin typeface="+mn-lt"/>
                        </a:rPr>
                        <a:t>4</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familiar with introduction</a:t>
                      </a:r>
                      <a:r>
                        <a:rPr lang="en-US" sz="1200" b="0" i="0" kern="1200" baseline="0" dirty="0" smtClean="0">
                          <a:solidFill>
                            <a:schemeClr val="tx1"/>
                          </a:solidFill>
                          <a:latin typeface="+mn-lt"/>
                          <a:ea typeface="+mn-ea"/>
                          <a:cs typeface="+mn-cs"/>
                        </a:rPr>
                        <a:t> to three phase induction motor with construction and working  operation</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29046">
                <a:tc>
                  <a:txBody>
                    <a:bodyPr/>
                    <a:lstStyle/>
                    <a:p>
                      <a:pPr algn="ctr" fontAlgn="ctr"/>
                      <a:r>
                        <a:rPr lang="en-US" sz="1200" b="0" i="0" u="none" strike="noStrike" dirty="0" smtClean="0">
                          <a:solidFill>
                            <a:srgbClr val="000000"/>
                          </a:solidFill>
                          <a:effectLst/>
                          <a:latin typeface="+mn-lt"/>
                        </a:rPr>
                        <a:t>5</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200" b="0" i="0" kern="1200" dirty="0" smtClean="0">
                          <a:solidFill>
                            <a:schemeClr val="tx1"/>
                          </a:solidFill>
                          <a:latin typeface="+mn-lt"/>
                          <a:ea typeface="+mn-ea"/>
                          <a:cs typeface="+mn-cs"/>
                        </a:rPr>
                        <a:t>To give brief knowledge about applications of induction motor</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Content Placeholder 6"/>
          <p:cNvSpPr>
            <a:spLocks noGrp="1"/>
          </p:cNvSpPr>
          <p:nvPr>
            <p:ph idx="1"/>
          </p:nvPr>
        </p:nvSpPr>
        <p:spPr>
          <a:xfrm>
            <a:off x="7093130" y="5394959"/>
            <a:ext cx="4428309" cy="609781"/>
          </a:xfrm>
        </p:spPr>
        <p:txBody>
          <a:bodyPr>
            <a:normAutofit/>
          </a:bodyPr>
          <a:lstStyle/>
          <a:p>
            <a:pPr algn="ctr">
              <a:buNone/>
            </a:pPr>
            <a:r>
              <a:rPr lang="en-US" sz="1800" dirty="0" smtClean="0">
                <a:hlinkClick r:id="rId2"/>
              </a:rPr>
              <a:t>https://library.automationdirect.com/basic-electrical-theory/</a:t>
            </a:r>
            <a:endParaRPr lang="en-US" sz="1800" dirty="0">
              <a:solidFill>
                <a:srgbClr val="00B0F0"/>
              </a:solidFill>
            </a:endParaRPr>
          </a:p>
        </p:txBody>
      </p:sp>
      <p:pic>
        <p:nvPicPr>
          <p:cNvPr id="9" name="Picture 1" descr="C:\Users\Administrator\Desktop\circuit.png"/>
          <p:cNvPicPr>
            <a:picLocks noChangeAspect="1" noChangeArrowheads="1"/>
          </p:cNvPicPr>
          <p:nvPr/>
        </p:nvPicPr>
        <p:blipFill>
          <a:blip r:embed="rId3" cstate="print"/>
          <a:srcRect/>
          <a:stretch>
            <a:fillRect/>
          </a:stretch>
        </p:blipFill>
        <p:spPr bwMode="auto">
          <a:xfrm>
            <a:off x="7158446" y="1789611"/>
            <a:ext cx="4522270" cy="33571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p:cNvSpPr>
            <a:spLocks noGrp="1"/>
          </p:cNvSpPr>
          <p:nvPr>
            <p:ph idx="1"/>
          </p:nvPr>
        </p:nvSpPr>
        <p:spPr>
          <a:xfrm>
            <a:off x="7093130" y="5251268"/>
            <a:ext cx="4428309" cy="609781"/>
          </a:xfrm>
        </p:spPr>
        <p:txBody>
          <a:bodyPr>
            <a:normAutofit/>
          </a:bodyPr>
          <a:lstStyle/>
          <a:p>
            <a:pPr algn="ctr">
              <a:buNone/>
            </a:pPr>
            <a:r>
              <a:rPr lang="en-US" sz="1800" dirty="0" smtClean="0">
                <a:hlinkClick r:id="rId2"/>
              </a:rPr>
              <a:t>https://library.automationdirect.com/basic-electrical-theory/</a:t>
            </a:r>
            <a:endParaRPr lang="en-US" sz="1800" dirty="0">
              <a:solidFill>
                <a:srgbClr val="00B0F0"/>
              </a:solidFill>
            </a:endParaRPr>
          </a:p>
        </p:txBody>
      </p:sp>
      <p:pic>
        <p:nvPicPr>
          <p:cNvPr id="9" name="Picture 1" descr="C:\Users\Administrator\Desktop\circuit.png"/>
          <p:cNvPicPr>
            <a:picLocks noChangeAspect="1" noChangeArrowheads="1"/>
          </p:cNvPicPr>
          <p:nvPr/>
        </p:nvPicPr>
        <p:blipFill>
          <a:blip r:embed="rId3" cstate="print"/>
          <a:srcRect/>
          <a:stretch>
            <a:fillRect/>
          </a:stretch>
        </p:blipFill>
        <p:spPr bwMode="auto">
          <a:xfrm>
            <a:off x="7122797" y="1789611"/>
            <a:ext cx="4688545" cy="3304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2107971005"/>
              </p:ext>
            </p:extLst>
          </p:nvPr>
        </p:nvGraphicFramePr>
        <p:xfrm>
          <a:off x="838200" y="2167093"/>
          <a:ext cx="5902234" cy="3360420"/>
        </p:xfrm>
        <a:graphic>
          <a:graphicData uri="http://schemas.openxmlformats.org/drawingml/2006/table">
            <a:tbl>
              <a:tblPr firstRow="1" firstCol="1" bandRow="1"/>
              <a:tblGrid>
                <a:gridCol w="502766">
                  <a:extLst>
                    <a:ext uri="{9D8B030D-6E8A-4147-A177-3AD203B41FA5}">
                      <a16:colId xmlns:a16="http://schemas.microsoft.com/office/drawing/2014/main" val="256987447"/>
                    </a:ext>
                  </a:extLst>
                </a:gridCol>
                <a:gridCol w="5399468">
                  <a:extLst>
                    <a:ext uri="{9D8B030D-6E8A-4147-A177-3AD203B41FA5}">
                      <a16:colId xmlns:a16="http://schemas.microsoft.com/office/drawing/2014/main" val="1846440383"/>
                    </a:ext>
                  </a:extLst>
                </a:gridCol>
              </a:tblGrid>
              <a:tr h="548856">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S. No.</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Objectives</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1396875"/>
                  </a:ext>
                </a:extLst>
              </a:tr>
              <a:tr h="813121">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Understand Electrical &amp; Electronics Engineering Fundamentals</a:t>
                      </a:r>
                      <a:r>
                        <a:rPr lang="en-US"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IN"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6444876"/>
                  </a:ext>
                </a:extLst>
              </a:tr>
              <a:tr h="1626241">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IN"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To prepare students to perform the analysis and design of various Electrical &amp; digital electronic circuits.</a:t>
                      </a: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2362470"/>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Outcomes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609807" y="5329646"/>
            <a:ext cx="4915398" cy="518341"/>
          </a:xfrm>
        </p:spPr>
        <p:txBody>
          <a:bodyPr>
            <a:normAutofit fontScale="92500" lnSpcReduction="20000"/>
          </a:bodyPr>
          <a:lstStyle/>
          <a:p>
            <a:pPr algn="ctr">
              <a:buNone/>
            </a:pPr>
            <a:r>
              <a:rPr lang="en-US" sz="2000" dirty="0" smtClean="0">
                <a:hlinkClick r:id="rId2"/>
              </a:rPr>
              <a:t>https://library.automationdirect.com/basic-electrical-theory/</a:t>
            </a:r>
            <a:endParaRPr lang="en-US" sz="2000" dirty="0">
              <a:solidFill>
                <a:srgbClr val="00B0F0"/>
              </a:solidFill>
            </a:endParaRPr>
          </a:p>
        </p:txBody>
      </p:sp>
      <p:pic>
        <p:nvPicPr>
          <p:cNvPr id="11" name="Picture 1" descr="C:\Users\Administrator\Desktop\circuit.png"/>
          <p:cNvPicPr>
            <a:picLocks noChangeAspect="1" noChangeArrowheads="1"/>
          </p:cNvPicPr>
          <p:nvPr/>
        </p:nvPicPr>
        <p:blipFill>
          <a:blip r:embed="rId3" cstate="print"/>
          <a:srcRect/>
          <a:stretch>
            <a:fillRect/>
          </a:stretch>
        </p:blipFill>
        <p:spPr bwMode="auto">
          <a:xfrm>
            <a:off x="6730911" y="1763486"/>
            <a:ext cx="4688545" cy="3304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aphicFrame>
        <p:nvGraphicFramePr>
          <p:cNvPr id="2" name="Table 1"/>
          <p:cNvGraphicFramePr>
            <a:graphicFrameLocks noGrp="1"/>
          </p:cNvGraphicFramePr>
          <p:nvPr>
            <p:extLst>
              <p:ext uri="{D42A27DB-BD31-4B8C-83A1-F6EECF244321}">
                <p14:modId xmlns:p14="http://schemas.microsoft.com/office/powerpoint/2010/main" val="1762649009"/>
              </p:ext>
            </p:extLst>
          </p:nvPr>
        </p:nvGraphicFramePr>
        <p:xfrm>
          <a:off x="235131" y="1825625"/>
          <a:ext cx="6217921" cy="4462791"/>
        </p:xfrm>
        <a:graphic>
          <a:graphicData uri="http://schemas.openxmlformats.org/drawingml/2006/table">
            <a:tbl>
              <a:tblPr firstRow="1" firstCol="1" bandRow="1"/>
              <a:tblGrid>
                <a:gridCol w="517612">
                  <a:extLst>
                    <a:ext uri="{9D8B030D-6E8A-4147-A177-3AD203B41FA5}">
                      <a16:colId xmlns:a16="http://schemas.microsoft.com/office/drawing/2014/main" val="2312416312"/>
                    </a:ext>
                  </a:extLst>
                </a:gridCol>
                <a:gridCol w="4870166">
                  <a:extLst>
                    <a:ext uri="{9D8B030D-6E8A-4147-A177-3AD203B41FA5}">
                      <a16:colId xmlns:a16="http://schemas.microsoft.com/office/drawing/2014/main" val="3488145407"/>
                    </a:ext>
                  </a:extLst>
                </a:gridCol>
                <a:gridCol w="830143">
                  <a:extLst>
                    <a:ext uri="{9D8B030D-6E8A-4147-A177-3AD203B41FA5}">
                      <a16:colId xmlns:a16="http://schemas.microsoft.com/office/drawing/2014/main" val="294633211"/>
                    </a:ext>
                  </a:extLst>
                </a:gridCol>
              </a:tblGrid>
              <a:tr h="633353">
                <a:tc>
                  <a:txBody>
                    <a:bodyPr/>
                    <a:lstStyle/>
                    <a:p>
                      <a:pPr algn="ctr" fontAlgn="ctr"/>
                      <a:r>
                        <a:rPr lang="en-US" sz="12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mn-lt"/>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7103467"/>
                  </a:ext>
                </a:extLst>
              </a:tr>
              <a:tr h="690834">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CO1</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identify the different types of electrical elements and the basic op-amp circuit elements and to illustrate the various types of motors, transducers. </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chemeClr val="tx1"/>
                          </a:solidFill>
                          <a:effectLst/>
                          <a:latin typeface="Times New Roman" panose="02020603050405020304" pitchFamily="18" charset="0"/>
                          <a:cs typeface="Times New Roman" panose="02020603050405020304" pitchFamily="18" charset="0"/>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2574901"/>
                  </a:ext>
                </a:extLst>
              </a:tr>
              <a:tr h="930293">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CO2</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understand basic principles of transformers, transducers, op-amps, DC and AC motors and to compare the different methods for analysing electrical and magnetic circuits.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161014"/>
                  </a:ext>
                </a:extLst>
              </a:tr>
              <a:tr h="690834">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CO3</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derive the relationships between parameters in electric and magnetic circuits and motors and to determine specifications of op-amps.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2555600"/>
                  </a:ext>
                </a:extLst>
              </a:tr>
              <a:tr h="690834">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CO4</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solve the basic problems related to electric circuits, magnetic circuits and motors and to assess the characteristics of different configurations of op-amps.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0330026"/>
                  </a:ext>
                </a:extLst>
              </a:tr>
              <a:tr h="690834">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CO5</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design the different applications of transducers, motors as well as the op-amps like adders, </a:t>
                      </a:r>
                      <a:r>
                        <a:rPr lang="en-IN" sz="1200" dirty="0" err="1">
                          <a:solidFill>
                            <a:srgbClr val="000000"/>
                          </a:solidFill>
                          <a:effectLst/>
                          <a:latin typeface="Times New Roman" panose="02020603050405020304" pitchFamily="18" charset="0"/>
                          <a:cs typeface="Raavi"/>
                        </a:rPr>
                        <a:t>subtractor</a:t>
                      </a:r>
                      <a:r>
                        <a:rPr lang="en-IN" sz="1200" dirty="0">
                          <a:solidFill>
                            <a:srgbClr val="000000"/>
                          </a:solidFill>
                          <a:effectLst/>
                          <a:latin typeface="Times New Roman" panose="02020603050405020304" pitchFamily="18" charset="0"/>
                          <a:cs typeface="Raavi"/>
                        </a:rPr>
                        <a:t> and comparators.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2635808"/>
                  </a:ext>
                </a:extLst>
              </a:tr>
            </a:tbl>
          </a:graphicData>
        </a:graphic>
      </p:graphicFrame>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sz="4000" b="1" dirty="0" smtClean="0">
                <a:cs typeface="Arial" panose="020B0604020202020204" pitchFamily="34" charset="0"/>
              </a:rPr>
              <a:t>IMPORTANCE OF COURSE[BEEE]</a:t>
            </a:r>
            <a:endParaRPr lang="en-US" sz="4000" b="1" dirty="0"/>
          </a:p>
        </p:txBody>
      </p:sp>
      <p:sp>
        <p:nvSpPr>
          <p:cNvPr id="3" name="Content Placeholder 2"/>
          <p:cNvSpPr>
            <a:spLocks noGrp="1"/>
          </p:cNvSpPr>
          <p:nvPr>
            <p:ph idx="1"/>
          </p:nvPr>
        </p:nvSpPr>
        <p:spPr>
          <a:xfrm>
            <a:off x="838200" y="1825625"/>
            <a:ext cx="6215743" cy="4351338"/>
          </a:xfrm>
        </p:spPr>
        <p:txBody>
          <a:bodyPr>
            <a:normAutofit/>
          </a:bodyPr>
          <a:lstStyle/>
          <a:p>
            <a:pPr marL="342900" lvl="0" indent="-342900" algn="just">
              <a:lnSpc>
                <a:spcPct val="100000"/>
              </a:lnSpc>
              <a:spcBef>
                <a:spcPts val="0"/>
              </a:spcBef>
            </a:pPr>
            <a:r>
              <a:rPr lang="en-IN" dirty="0" smtClean="0">
                <a:solidFill>
                  <a:prstClr val="black"/>
                </a:solidFill>
                <a:cs typeface="Times New Roman" pitchFamily="18" charset="0"/>
              </a:rPr>
              <a:t>Use in communication and satellite navigation system.</a:t>
            </a:r>
          </a:p>
          <a:p>
            <a:pPr marL="342900" lvl="0" indent="-342900" algn="just">
              <a:lnSpc>
                <a:spcPct val="100000"/>
              </a:lnSpc>
              <a:spcBef>
                <a:spcPts val="0"/>
              </a:spcBef>
            </a:pPr>
            <a:r>
              <a:rPr lang="en-IN" dirty="0" smtClean="0">
                <a:solidFill>
                  <a:prstClr val="black"/>
                </a:solidFill>
                <a:cs typeface="Times New Roman" pitchFamily="18" charset="0"/>
              </a:rPr>
              <a:t>Handles in electronics equipment and computers.</a:t>
            </a:r>
          </a:p>
          <a:p>
            <a:pPr marL="342900" lvl="0" indent="-342900" algn="just">
              <a:lnSpc>
                <a:spcPct val="100000"/>
              </a:lnSpc>
              <a:spcBef>
                <a:spcPts val="0"/>
              </a:spcBef>
            </a:pPr>
            <a:r>
              <a:rPr lang="en-IN" dirty="0" smtClean="0">
                <a:solidFill>
                  <a:prstClr val="black"/>
                </a:solidFill>
                <a:cs typeface="Times New Roman" pitchFamily="18" charset="0"/>
              </a:rPr>
              <a:t>Deals with the problem of power transmission and motor control.</a:t>
            </a:r>
          </a:p>
          <a:p>
            <a:pPr marL="342900" lvl="0" indent="-342900" algn="just">
              <a:lnSpc>
                <a:spcPct val="100000"/>
              </a:lnSpc>
              <a:spcBef>
                <a:spcPts val="0"/>
              </a:spcBef>
            </a:pPr>
            <a:r>
              <a:rPr lang="en-IN" dirty="0" smtClean="0">
                <a:solidFill>
                  <a:prstClr val="black"/>
                </a:solidFill>
                <a:cs typeface="Times New Roman" pitchFamily="18" charset="0"/>
              </a:rPr>
              <a:t>Handles with robotics applications.</a:t>
            </a:r>
          </a:p>
          <a:p>
            <a:pPr marL="342900" lvl="0" indent="-342900">
              <a:lnSpc>
                <a:spcPct val="100000"/>
              </a:lnSpc>
              <a:spcBef>
                <a:spcPts val="0"/>
              </a:spcBef>
              <a:buAutoNum type="arabicPeriod"/>
            </a:pPr>
            <a:endParaRPr lang="en-IN" dirty="0" smtClean="0">
              <a:solidFill>
                <a:prstClr val="black"/>
              </a:solidFill>
              <a:latin typeface="Casper"/>
              <a:cs typeface="Times New Roman" pitchFamily="18" charset="0"/>
            </a:endParaRPr>
          </a:p>
          <a:p>
            <a:pPr marL="342900" lvl="0" indent="-342900">
              <a:lnSpc>
                <a:spcPct val="100000"/>
              </a:lnSpc>
              <a:spcBef>
                <a:spcPts val="0"/>
              </a:spcBef>
              <a:buAutoNum type="arabicPeriod"/>
            </a:pPr>
            <a:endParaRPr lang="en-IN" dirty="0" smtClean="0">
              <a:solidFill>
                <a:prstClr val="black"/>
              </a:solidFill>
              <a:latin typeface="Casper"/>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7223760" y="5512526"/>
            <a:ext cx="4127863" cy="5747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00B0F0"/>
                </a:solidFill>
              </a:rPr>
              <a:t>https://images.app.goo.gl/JY2jmAuASfpDUENZ8</a:t>
            </a:r>
            <a:endParaRPr lang="en-US" dirty="0">
              <a:solidFill>
                <a:srgbClr val="00B0F0"/>
              </a:solidFill>
            </a:endParaRPr>
          </a:p>
        </p:txBody>
      </p:sp>
      <p:pic>
        <p:nvPicPr>
          <p:cNvPr id="201730" name="Picture 2" descr="https://encrypted-tbn0.gstatic.com/images?q=tbn:ANd9GcRGXyGs4ZsbVmm6wQW2rx5Jnn_G88CgkS_bz8kFZ54TuS0EHns&amp;s"/>
          <p:cNvPicPr>
            <a:picLocks noChangeAspect="1" noChangeArrowheads="1"/>
          </p:cNvPicPr>
          <p:nvPr/>
        </p:nvPicPr>
        <p:blipFill>
          <a:blip r:embed="rId2" cstate="print"/>
          <a:srcRect/>
          <a:stretch>
            <a:fillRect/>
          </a:stretch>
        </p:blipFill>
        <p:spPr bwMode="auto">
          <a:xfrm>
            <a:off x="7340147" y="1956161"/>
            <a:ext cx="3866848" cy="3360421"/>
          </a:xfrm>
          <a:prstGeom prst="rect">
            <a:avLst/>
          </a:prstGeom>
          <a:noFill/>
        </p:spPr>
      </p:pic>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smtClean="0">
                <a:cs typeface="Arial" panose="020B0604020202020204" pitchFamily="34" charset="0"/>
              </a:rPr>
              <a:t>CONTENTS</a:t>
            </a:r>
            <a:r>
              <a:rPr lang="en-US" dirty="0" smtClean="0">
                <a:latin typeface="+mn-lt"/>
                <a:cs typeface="Arial" panose="020B0604020202020204" pitchFamily="34" charset="0"/>
              </a:rPr>
              <a:t> </a:t>
            </a:r>
            <a:r>
              <a:rPr lang="en-US" dirty="0" smtClean="0">
                <a:latin typeface="+mn-lt"/>
              </a:rPr>
              <a:t> </a:t>
            </a:r>
            <a:r>
              <a:rPr lang="en-US" dirty="0" smtClean="0">
                <a:latin typeface="Casper"/>
              </a:rPr>
              <a:t> </a:t>
            </a:r>
            <a:endParaRPr lang="en-US" dirty="0">
              <a:latin typeface="Casper"/>
            </a:endParaRPr>
          </a:p>
        </p:txBody>
      </p:sp>
      <p:sp>
        <p:nvSpPr>
          <p:cNvPr id="3" name="Content Placeholder 2"/>
          <p:cNvSpPr>
            <a:spLocks noGrp="1"/>
          </p:cNvSpPr>
          <p:nvPr>
            <p:ph idx="1"/>
          </p:nvPr>
        </p:nvSpPr>
        <p:spPr/>
        <p:txBody>
          <a:bodyPr>
            <a:normAutofit/>
          </a:bodyPr>
          <a:lstStyle/>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Introduction to single phase induction motor</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Basic construction of single phase induction motor</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Advantages and disadvantages of squirrel cage and slip ring rotor</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Working principle of single phase induction motor</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Applications of single phase induction motor</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Introduction to three phase induction motor with construction and working principle</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Advantages and disadvantages of three phase induction motor</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Applications of three phase induction motor</a:t>
            </a:r>
            <a:endParaRPr lang="en-IN" dirty="0">
              <a:solidFill>
                <a:prstClr val="black"/>
              </a:solidFill>
              <a:cs typeface="Times New Roman" pitchFamily="18" charset="0"/>
            </a:endParaRPr>
          </a:p>
          <a:p>
            <a:pPr marL="342900" lvl="0" indent="-342900">
              <a:lnSpc>
                <a:spcPct val="100000"/>
              </a:lnSpc>
              <a:spcBef>
                <a:spcPts val="0"/>
              </a:spcBef>
              <a:buNone/>
            </a:pPr>
            <a:endParaRPr lang="en-IN" dirty="0" smtClean="0">
              <a:solidFill>
                <a:prstClr val="black"/>
              </a:solidFill>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a:bodyPr>
          <a:lstStyle/>
          <a:p>
            <a:pPr algn="ctr">
              <a:defRPr/>
            </a:pPr>
            <a:r>
              <a:rPr lang="en-IN" sz="3600" b="1" dirty="0" smtClean="0">
                <a:latin typeface="Casper"/>
              </a:rPr>
              <a:t>   </a:t>
            </a:r>
            <a:r>
              <a:rPr lang="en-IN" b="1" u="sng" dirty="0" smtClean="0">
                <a:latin typeface="+mj-lt"/>
              </a:rPr>
              <a:t>SINGLE PHASE INDUCTION MOTOR</a:t>
            </a:r>
            <a:r>
              <a:rPr lang="en-IN" b="1" dirty="0" smtClean="0">
                <a:latin typeface="+mj-lt"/>
              </a:rPr>
              <a:t/>
            </a:r>
            <a:br>
              <a:rPr lang="en-IN" b="1" dirty="0" smtClean="0">
                <a:latin typeface="+mj-lt"/>
              </a:rPr>
            </a:br>
            <a:endParaRPr lang="en-IN" b="1" u="sng" dirty="0">
              <a:latin typeface="+mj-lt"/>
            </a:endParaRPr>
          </a:p>
        </p:txBody>
      </p:sp>
      <p:sp>
        <p:nvSpPr>
          <p:cNvPr id="3" name="Content Placeholder 2"/>
          <p:cNvSpPr>
            <a:spLocks noGrp="1"/>
          </p:cNvSpPr>
          <p:nvPr>
            <p:ph idx="1"/>
          </p:nvPr>
        </p:nvSpPr>
        <p:spPr/>
        <p:txBody>
          <a:bodyPr>
            <a:normAutofit/>
          </a:bodyPr>
          <a:lstStyle/>
          <a:p>
            <a:pPr marL="342900" indent="-342900" algn="ctr">
              <a:buNone/>
            </a:pPr>
            <a:endParaRPr lang="en-US" sz="3600" b="1" dirty="0" smtClean="0"/>
          </a:p>
          <a:p>
            <a:pPr marL="342900" indent="-342900" algn="ctr">
              <a:buNone/>
            </a:pPr>
            <a:r>
              <a:rPr lang="en-US" b="1" dirty="0" smtClean="0"/>
              <a:t>   </a:t>
            </a:r>
            <a:r>
              <a:rPr lang="en-US" sz="2600" b="1" u="sng" dirty="0" smtClean="0"/>
              <a:t>TOPIC NAME</a:t>
            </a:r>
            <a:r>
              <a:rPr lang="en-US" sz="2400" b="1" dirty="0" smtClean="0"/>
              <a:t>: INTRODUCTION TO SINGLE PHASE INDUCTION MOTOR</a:t>
            </a:r>
            <a:endParaRPr lang="en-IN" sz="2400"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7" name="Rectangle 6"/>
          <p:cNvSpPr/>
          <p:nvPr/>
        </p:nvSpPr>
        <p:spPr>
          <a:xfrm>
            <a:off x="2686934" y="6261853"/>
            <a:ext cx="6343403"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US" dirty="0" smtClean="0">
                <a:hlinkClick r:id="rId2"/>
              </a:rPr>
              <a:t>https://university.listenlights.com/2017/08/03/induction-motors/</a:t>
            </a:r>
            <a:endParaRPr lang="en-US" dirty="0">
              <a:solidFill>
                <a:srgbClr val="00B0F0"/>
              </a:solidFill>
            </a:endParaRPr>
          </a:p>
        </p:txBody>
      </p:sp>
      <p:sp>
        <p:nvSpPr>
          <p:cNvPr id="8" name="TextBox 7"/>
          <p:cNvSpPr txBox="1"/>
          <p:nvPr/>
        </p:nvSpPr>
        <p:spPr>
          <a:xfrm>
            <a:off x="5617029" y="5786846"/>
            <a:ext cx="627095" cy="369332"/>
          </a:xfrm>
          <a:prstGeom prst="rect">
            <a:avLst/>
          </a:prstGeom>
          <a:noFill/>
        </p:spPr>
        <p:txBody>
          <a:bodyPr wrap="none" rtlCol="0">
            <a:spAutoFit/>
          </a:bodyPr>
          <a:lstStyle/>
          <a:p>
            <a:r>
              <a:rPr lang="en-US" dirty="0" smtClean="0"/>
              <a:t>Fig.1</a:t>
            </a:r>
            <a:endParaRPr lang="en-US" dirty="0"/>
          </a:p>
        </p:txBody>
      </p:sp>
      <p:pic>
        <p:nvPicPr>
          <p:cNvPr id="188418" name="Picture 2" descr="Induction motors - Listenlights"/>
          <p:cNvPicPr>
            <a:picLocks noChangeAspect="1" noChangeArrowheads="1"/>
          </p:cNvPicPr>
          <p:nvPr/>
        </p:nvPicPr>
        <p:blipFill>
          <a:blip r:embed="rId3" cstate="print"/>
          <a:srcRect/>
          <a:stretch>
            <a:fillRect/>
          </a:stretch>
        </p:blipFill>
        <p:spPr bwMode="auto">
          <a:xfrm>
            <a:off x="3095896" y="3045188"/>
            <a:ext cx="5486401" cy="27432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normAutofit/>
          </a:bodyPr>
          <a:lstStyle/>
          <a:p>
            <a:pPr algn="ctr">
              <a:defRPr/>
            </a:pPr>
            <a:r>
              <a:rPr lang="en-IN" b="1" dirty="0" smtClean="0">
                <a:latin typeface="+mj-lt"/>
              </a:rPr>
              <a:t>SINGLE PHASE INDUCTION MOTOR</a:t>
            </a:r>
            <a:endParaRPr lang="en-IN" b="1" dirty="0">
              <a:latin typeface="+mj-lt"/>
            </a:endParaRPr>
          </a:p>
        </p:txBody>
      </p:sp>
      <p:sp>
        <p:nvSpPr>
          <p:cNvPr id="3" name="Content Placeholder 2"/>
          <p:cNvSpPr>
            <a:spLocks noGrp="1"/>
          </p:cNvSpPr>
          <p:nvPr>
            <p:ph idx="1"/>
          </p:nvPr>
        </p:nvSpPr>
        <p:spPr>
          <a:xfrm>
            <a:off x="511628" y="1917067"/>
            <a:ext cx="6398623" cy="4351338"/>
          </a:xfrm>
        </p:spPr>
        <p:txBody>
          <a:bodyPr>
            <a:noAutofit/>
          </a:bodyPr>
          <a:lstStyle/>
          <a:p>
            <a:pPr marL="342900" indent="-342900" algn="just"/>
            <a:r>
              <a:rPr lang="en-US" dirty="0" smtClean="0"/>
              <a:t>Single-phase </a:t>
            </a:r>
            <a:r>
              <a:rPr lang="en-US" dirty="0" err="1" smtClean="0"/>
              <a:t>a.c</a:t>
            </a:r>
            <a:r>
              <a:rPr lang="en-US" dirty="0" smtClean="0"/>
              <a:t> supply is commonly used for lighting purpose in shops, offices, houses, schools etc.</a:t>
            </a:r>
          </a:p>
          <a:p>
            <a:pPr marL="342900" indent="-342900" algn="just"/>
            <a:r>
              <a:rPr lang="en-US" dirty="0" smtClean="0"/>
              <a:t>Hence instead of </a:t>
            </a:r>
            <a:r>
              <a:rPr lang="en-US" dirty="0" err="1" smtClean="0"/>
              <a:t>d.c</a:t>
            </a:r>
            <a:r>
              <a:rPr lang="en-US" dirty="0" smtClean="0"/>
              <a:t> motors, the motors which work on single-phase </a:t>
            </a:r>
            <a:r>
              <a:rPr lang="en-US" dirty="0" err="1" smtClean="0"/>
              <a:t>a.c</a:t>
            </a:r>
            <a:r>
              <a:rPr lang="en-US" dirty="0" smtClean="0"/>
              <a:t>. supply are popularly used. These </a:t>
            </a:r>
            <a:r>
              <a:rPr lang="en-US" dirty="0" err="1" smtClean="0"/>
              <a:t>a.c</a:t>
            </a:r>
            <a:r>
              <a:rPr lang="en-US" dirty="0" smtClean="0"/>
              <a:t> motors are called </a:t>
            </a:r>
            <a:r>
              <a:rPr lang="en-US" b="1" dirty="0" smtClean="0"/>
              <a:t>single-phase induction motors</a:t>
            </a:r>
            <a:r>
              <a:rPr lang="en-US" dirty="0" smtClean="0"/>
              <a:t>.</a:t>
            </a:r>
          </a:p>
          <a:p>
            <a:pPr marL="342900" indent="-342900" algn="just"/>
            <a:r>
              <a:rPr lang="en-US" dirty="0" smtClean="0"/>
              <a:t>Used in applications like small toys, small fans, hairdryers etc.</a:t>
            </a:r>
          </a:p>
          <a:p>
            <a:pPr marL="342900" indent="-342900" algn="just"/>
            <a:endParaRPr lang="en-US"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6" name="Rectangle 5"/>
          <p:cNvSpPr/>
          <p:nvPr/>
        </p:nvSpPr>
        <p:spPr>
          <a:xfrm>
            <a:off x="7615645" y="5852160"/>
            <a:ext cx="3984172" cy="5225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hlinkClick r:id="rId2"/>
              </a:rPr>
              <a:t>https://www.polytechnichub.com/construction-3-phase-induction-motor/</a:t>
            </a:r>
            <a:endParaRPr lang="en-US" dirty="0">
              <a:solidFill>
                <a:srgbClr val="00B0F0"/>
              </a:solidFill>
            </a:endParaRPr>
          </a:p>
        </p:txBody>
      </p:sp>
      <p:sp>
        <p:nvSpPr>
          <p:cNvPr id="7" name="TextBox 6"/>
          <p:cNvSpPr txBox="1"/>
          <p:nvPr/>
        </p:nvSpPr>
        <p:spPr>
          <a:xfrm>
            <a:off x="9313817" y="5329646"/>
            <a:ext cx="627095" cy="369332"/>
          </a:xfrm>
          <a:prstGeom prst="rect">
            <a:avLst/>
          </a:prstGeom>
          <a:noFill/>
        </p:spPr>
        <p:txBody>
          <a:bodyPr wrap="none" rtlCol="0">
            <a:spAutoFit/>
          </a:bodyPr>
          <a:lstStyle/>
          <a:p>
            <a:r>
              <a:rPr lang="en-US" dirty="0" smtClean="0"/>
              <a:t>Fig.2</a:t>
            </a:r>
            <a:endParaRPr lang="en-US" dirty="0"/>
          </a:p>
        </p:txBody>
      </p:sp>
      <p:pic>
        <p:nvPicPr>
          <p:cNvPr id="187394" name="Picture 2" descr="Construction of 3-phase induction motor - Polytechnic Hub"/>
          <p:cNvPicPr>
            <a:picLocks noChangeAspect="1" noChangeArrowheads="1"/>
          </p:cNvPicPr>
          <p:nvPr/>
        </p:nvPicPr>
        <p:blipFill>
          <a:blip r:embed="rId3" cstate="print"/>
          <a:srcRect/>
          <a:stretch>
            <a:fillRect/>
          </a:stretch>
        </p:blipFill>
        <p:spPr bwMode="auto">
          <a:xfrm>
            <a:off x="7067007" y="1894114"/>
            <a:ext cx="4859020" cy="34891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286" y="195943"/>
            <a:ext cx="9993085" cy="1097281"/>
          </a:xfrm>
        </p:spPr>
        <p:style>
          <a:lnRef idx="2">
            <a:schemeClr val="dk1"/>
          </a:lnRef>
          <a:fillRef idx="1">
            <a:schemeClr val="lt1"/>
          </a:fillRef>
          <a:effectRef idx="0">
            <a:schemeClr val="dk1"/>
          </a:effectRef>
          <a:fontRef idx="minor">
            <a:schemeClr val="dk1"/>
          </a:fontRef>
        </p:style>
        <p:txBody>
          <a:bodyPr>
            <a:noAutofit/>
          </a:bodyPr>
          <a:lstStyle/>
          <a:p>
            <a:pPr algn="ctr">
              <a:defRPr/>
            </a:pPr>
            <a:r>
              <a:rPr lang="en-IN" b="1" dirty="0" smtClean="0">
                <a:latin typeface="+mj-lt"/>
              </a:rPr>
              <a:t>CONSTRUCTION OF SINGLE PHASE INDUCTION MOTOR</a:t>
            </a:r>
            <a:endParaRPr lang="en-IN" b="1" dirty="0">
              <a:latin typeface="+mj-lt"/>
            </a:endParaRPr>
          </a:p>
        </p:txBody>
      </p:sp>
      <p:sp>
        <p:nvSpPr>
          <p:cNvPr id="3" name="Content Placeholder 2"/>
          <p:cNvSpPr>
            <a:spLocks noGrp="1"/>
          </p:cNvSpPr>
          <p:nvPr>
            <p:ph idx="1"/>
          </p:nvPr>
        </p:nvSpPr>
        <p:spPr>
          <a:xfrm>
            <a:off x="352697" y="1512116"/>
            <a:ext cx="6387738" cy="5045437"/>
          </a:xfrm>
        </p:spPr>
        <p:txBody>
          <a:bodyPr>
            <a:noAutofit/>
          </a:bodyPr>
          <a:lstStyle/>
          <a:p>
            <a:pPr lvl="0" algn="just" fontAlgn="base"/>
            <a:r>
              <a:rPr lang="en-US" b="1" dirty="0" smtClean="0"/>
              <a:t>Single-phase induction motor</a:t>
            </a:r>
            <a:r>
              <a:rPr lang="en-US" dirty="0" smtClean="0"/>
              <a:t> also has two main parts, one rotating and other stationary. </a:t>
            </a:r>
          </a:p>
          <a:p>
            <a:pPr marL="342900" indent="-342900" algn="just"/>
            <a:r>
              <a:rPr lang="en-US" dirty="0" smtClean="0"/>
              <a:t>The stationary part in single-phase induction motors is </a:t>
            </a:r>
            <a:r>
              <a:rPr lang="en-US" b="1" dirty="0" smtClean="0"/>
              <a:t>Stator</a:t>
            </a:r>
            <a:r>
              <a:rPr lang="en-US" dirty="0" smtClean="0"/>
              <a:t> and the rotating part is </a:t>
            </a:r>
            <a:r>
              <a:rPr lang="en-US" b="1" dirty="0" smtClean="0"/>
              <a:t>Rotor</a:t>
            </a:r>
            <a:r>
              <a:rPr lang="en-US" dirty="0" smtClean="0"/>
              <a:t>.</a:t>
            </a:r>
            <a:br>
              <a:rPr lang="en-US" dirty="0" smtClean="0"/>
            </a:br>
            <a:r>
              <a:rPr lang="en-US" dirty="0" smtClean="0"/>
              <a:t>The stator has laminated construction, made up of stampings. </a:t>
            </a:r>
          </a:p>
          <a:p>
            <a:pPr marL="342900" lvl="0" indent="-342900" algn="just"/>
            <a:r>
              <a:rPr lang="en-US" dirty="0" smtClean="0"/>
              <a:t>The number of poles for which stator winding is wound decides the synchronous speed of the motor. </a:t>
            </a:r>
          </a:p>
          <a:p>
            <a:pPr marL="342900" indent="-342900" algn="just"/>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6" name="Rectangle 5"/>
          <p:cNvSpPr/>
          <p:nvPr/>
        </p:nvSpPr>
        <p:spPr>
          <a:xfrm>
            <a:off x="7135209" y="5582586"/>
            <a:ext cx="4571032"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https://www.polytechnichub.com/construction-3-phase-induction-motor/</a:t>
            </a:r>
            <a:endParaRPr lang="en-US" dirty="0">
              <a:solidFill>
                <a:srgbClr val="00B0F0"/>
              </a:solidFill>
            </a:endParaRPr>
          </a:p>
        </p:txBody>
      </p:sp>
      <p:sp>
        <p:nvSpPr>
          <p:cNvPr id="7" name="TextBox 6"/>
          <p:cNvSpPr txBox="1"/>
          <p:nvPr/>
        </p:nvSpPr>
        <p:spPr>
          <a:xfrm>
            <a:off x="9104811" y="5146767"/>
            <a:ext cx="627095" cy="369332"/>
          </a:xfrm>
          <a:prstGeom prst="rect">
            <a:avLst/>
          </a:prstGeom>
          <a:noFill/>
        </p:spPr>
        <p:txBody>
          <a:bodyPr wrap="none" rtlCol="0">
            <a:spAutoFit/>
          </a:bodyPr>
          <a:lstStyle/>
          <a:p>
            <a:r>
              <a:rPr lang="en-US" dirty="0" smtClean="0"/>
              <a:t>Fig.3</a:t>
            </a:r>
            <a:endParaRPr lang="en-US" dirty="0"/>
          </a:p>
        </p:txBody>
      </p:sp>
      <p:pic>
        <p:nvPicPr>
          <p:cNvPr id="186370" name="Picture 2" descr="Stator and rotor"/>
          <p:cNvPicPr>
            <a:picLocks noChangeAspect="1" noChangeArrowheads="1"/>
          </p:cNvPicPr>
          <p:nvPr/>
        </p:nvPicPr>
        <p:blipFill>
          <a:blip r:embed="rId3" cstate="print"/>
          <a:srcRect/>
          <a:stretch>
            <a:fillRect/>
          </a:stretch>
        </p:blipFill>
        <p:spPr bwMode="auto">
          <a:xfrm>
            <a:off x="7248706" y="1724297"/>
            <a:ext cx="4684582" cy="31089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286" y="195943"/>
            <a:ext cx="9993085" cy="1097281"/>
          </a:xfrm>
        </p:spPr>
        <p:style>
          <a:lnRef idx="2">
            <a:schemeClr val="dk1"/>
          </a:lnRef>
          <a:fillRef idx="1">
            <a:schemeClr val="lt1"/>
          </a:fillRef>
          <a:effectRef idx="0">
            <a:schemeClr val="dk1"/>
          </a:effectRef>
          <a:fontRef idx="minor">
            <a:schemeClr val="dk1"/>
          </a:fontRef>
        </p:style>
        <p:txBody>
          <a:bodyPr>
            <a:normAutofit/>
          </a:bodyPr>
          <a:lstStyle/>
          <a:p>
            <a:pPr algn="ctr">
              <a:defRPr/>
            </a:pPr>
            <a:r>
              <a:rPr lang="en-IN" b="1" dirty="0" smtClean="0">
                <a:latin typeface="+mj-lt"/>
              </a:rPr>
              <a:t>TYPES OF ROTOR</a:t>
            </a:r>
            <a:endParaRPr lang="en-IN" b="1" dirty="0">
              <a:latin typeface="+mj-lt"/>
            </a:endParaRPr>
          </a:p>
        </p:txBody>
      </p:sp>
      <p:sp>
        <p:nvSpPr>
          <p:cNvPr id="3" name="Content Placeholder 2"/>
          <p:cNvSpPr>
            <a:spLocks noGrp="1"/>
          </p:cNvSpPr>
          <p:nvPr>
            <p:ph idx="1"/>
          </p:nvPr>
        </p:nvSpPr>
        <p:spPr>
          <a:xfrm>
            <a:off x="352697" y="1512116"/>
            <a:ext cx="6387738" cy="5045437"/>
          </a:xfrm>
        </p:spPr>
        <p:txBody>
          <a:bodyPr>
            <a:noAutofit/>
          </a:bodyPr>
          <a:lstStyle/>
          <a:p>
            <a:pPr lvl="0" algn="just" fontAlgn="base">
              <a:buNone/>
            </a:pPr>
            <a:r>
              <a:rPr lang="en-US" dirty="0" smtClean="0"/>
              <a:t>There are two types of rotor such as:</a:t>
            </a:r>
          </a:p>
          <a:p>
            <a:pPr marL="514350" lvl="0" indent="-514350" algn="just" fontAlgn="base">
              <a:buAutoNum type="arabicPeriod"/>
            </a:pPr>
            <a:r>
              <a:rPr lang="en-US" dirty="0" smtClean="0"/>
              <a:t>Squirrel cage rotor</a:t>
            </a:r>
          </a:p>
          <a:p>
            <a:pPr marL="514350" lvl="0" indent="-514350" algn="just" fontAlgn="base">
              <a:buAutoNum type="arabicPeriod"/>
            </a:pPr>
            <a:r>
              <a:rPr lang="en-US" dirty="0" smtClean="0"/>
              <a:t>Slip ring rotor</a:t>
            </a:r>
          </a:p>
          <a:p>
            <a:pPr lvl="0" algn="just" fontAlgn="base">
              <a:buNone/>
            </a:pPr>
            <a:endParaRPr lang="en-US"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6" name="Rectangle 5"/>
          <p:cNvSpPr/>
          <p:nvPr/>
        </p:nvSpPr>
        <p:spPr>
          <a:xfrm>
            <a:off x="7135209" y="5582586"/>
            <a:ext cx="4571032"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https://www.electricaledition.com/2017/06/squirrel-cage-slip-ring-induction-motor-differences.html</a:t>
            </a:r>
            <a:endParaRPr lang="en-US" dirty="0">
              <a:solidFill>
                <a:srgbClr val="00B0F0"/>
              </a:solidFill>
            </a:endParaRPr>
          </a:p>
        </p:txBody>
      </p:sp>
      <p:sp>
        <p:nvSpPr>
          <p:cNvPr id="7" name="TextBox 6"/>
          <p:cNvSpPr txBox="1"/>
          <p:nvPr/>
        </p:nvSpPr>
        <p:spPr>
          <a:xfrm>
            <a:off x="9104811" y="5146767"/>
            <a:ext cx="627095" cy="369332"/>
          </a:xfrm>
          <a:prstGeom prst="rect">
            <a:avLst/>
          </a:prstGeom>
          <a:noFill/>
        </p:spPr>
        <p:txBody>
          <a:bodyPr wrap="none" rtlCol="0">
            <a:spAutoFit/>
          </a:bodyPr>
          <a:lstStyle/>
          <a:p>
            <a:r>
              <a:rPr lang="en-US" dirty="0" smtClean="0"/>
              <a:t>Fig.5</a:t>
            </a:r>
            <a:endParaRPr lang="en-US" dirty="0"/>
          </a:p>
        </p:txBody>
      </p:sp>
      <p:sp>
        <p:nvSpPr>
          <p:cNvPr id="196612" name="AutoShape 4" descr="Single Phase Induction Motor - The Engineering Project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97634" name="Picture 2"/>
          <p:cNvPicPr>
            <a:picLocks noChangeAspect="1" noChangeArrowheads="1"/>
          </p:cNvPicPr>
          <p:nvPr/>
        </p:nvPicPr>
        <p:blipFill>
          <a:blip r:embed="rId3" cstate="print"/>
          <a:srcRect/>
          <a:stretch>
            <a:fillRect/>
          </a:stretch>
        </p:blipFill>
        <p:spPr bwMode="auto">
          <a:xfrm>
            <a:off x="5917138" y="1686334"/>
            <a:ext cx="6100284" cy="32514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rPr>
              <a:t>SQUIRREL CAGE ROTOR</a:t>
            </a:r>
            <a:endParaRPr lang="en-US" b="1" dirty="0">
              <a:latin typeface="+mj-lt"/>
            </a:endParaRPr>
          </a:p>
        </p:txBody>
      </p:sp>
      <p:sp>
        <p:nvSpPr>
          <p:cNvPr id="3" name="Content Placeholder 2"/>
          <p:cNvSpPr>
            <a:spLocks noGrp="1"/>
          </p:cNvSpPr>
          <p:nvPr>
            <p:ph idx="1"/>
          </p:nvPr>
        </p:nvSpPr>
        <p:spPr>
          <a:xfrm>
            <a:off x="381000" y="1694997"/>
            <a:ext cx="5967549" cy="4351338"/>
          </a:xfrm>
        </p:spPr>
        <p:txBody>
          <a:bodyPr>
            <a:normAutofit lnSpcReduction="10000"/>
          </a:bodyPr>
          <a:lstStyle/>
          <a:p>
            <a:pPr algn="just"/>
            <a:r>
              <a:rPr lang="en-US" dirty="0" smtClean="0"/>
              <a:t>Squirrel cage motor is one of the types of induction motors. In order to generate motion, it hardens electromagnetism.</a:t>
            </a:r>
          </a:p>
          <a:p>
            <a:pPr algn="just"/>
            <a:r>
              <a:rPr lang="en-US" dirty="0" smtClean="0"/>
              <a:t>As the output shaft is connected to the rotor inner component which is looking like a cage. Hence it is called squirrel cage. </a:t>
            </a:r>
          </a:p>
          <a:p>
            <a:pPr algn="just"/>
            <a:r>
              <a:rPr lang="en-US" dirty="0" smtClean="0"/>
              <a:t>In order to avoid hysteresis and eddy currents that are leading to power loss, the rotor is laminated.</a:t>
            </a:r>
          </a:p>
          <a:p>
            <a:pPr algn="just">
              <a:buNone/>
            </a:pPr>
            <a:endParaRPr lang="en-US" sz="2200" dirty="0" smtClean="0"/>
          </a:p>
          <a:p>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7318090" y="5817718"/>
            <a:ext cx="4098848"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https://www.electrical4u.com/squirrel-cage-induction-motor/</a:t>
            </a:r>
            <a:endParaRPr lang="en-US" dirty="0">
              <a:solidFill>
                <a:srgbClr val="00B0F0"/>
              </a:solidFill>
            </a:endParaRPr>
          </a:p>
        </p:txBody>
      </p:sp>
      <p:sp>
        <p:nvSpPr>
          <p:cNvPr id="9" name="TextBox 8"/>
          <p:cNvSpPr txBox="1"/>
          <p:nvPr/>
        </p:nvSpPr>
        <p:spPr>
          <a:xfrm>
            <a:off x="9052560" y="5381896"/>
            <a:ext cx="627095" cy="369332"/>
          </a:xfrm>
          <a:prstGeom prst="rect">
            <a:avLst/>
          </a:prstGeom>
          <a:noFill/>
        </p:spPr>
        <p:txBody>
          <a:bodyPr wrap="none" rtlCol="0">
            <a:spAutoFit/>
          </a:bodyPr>
          <a:lstStyle/>
          <a:p>
            <a:r>
              <a:rPr lang="en-US" dirty="0" smtClean="0"/>
              <a:t>Fig.6</a:t>
            </a:r>
            <a:endParaRPr lang="en-US" dirty="0"/>
          </a:p>
        </p:txBody>
      </p:sp>
      <p:pic>
        <p:nvPicPr>
          <p:cNvPr id="184322" name="Picture 2" descr="Squirrel Cage Induction Motor: Working Principle &amp; Applications"/>
          <p:cNvPicPr>
            <a:picLocks noChangeAspect="1" noChangeArrowheads="1"/>
          </p:cNvPicPr>
          <p:nvPr/>
        </p:nvPicPr>
        <p:blipFill>
          <a:blip r:embed="rId3" cstate="print"/>
          <a:srcRect/>
          <a:stretch>
            <a:fillRect/>
          </a:stretch>
        </p:blipFill>
        <p:spPr bwMode="auto">
          <a:xfrm>
            <a:off x="6484629" y="1705472"/>
            <a:ext cx="5415633" cy="36111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Autofit/>
          </a:bodyPr>
          <a:lstStyle/>
          <a:p>
            <a:pPr algn="ctr"/>
            <a:r>
              <a:rPr lang="en-US" b="1" dirty="0" smtClean="0">
                <a:latin typeface="+mj-lt"/>
              </a:rPr>
              <a:t>ADVANATGES &amp; DISADVANTAGES OF SQUIRREL CAGE ROTOR</a:t>
            </a:r>
            <a:endParaRPr lang="en-US" b="1" dirty="0">
              <a:latin typeface="+mj-lt"/>
            </a:endParaRPr>
          </a:p>
        </p:txBody>
      </p:sp>
      <p:sp>
        <p:nvSpPr>
          <p:cNvPr id="3" name="Content Placeholder 2"/>
          <p:cNvSpPr>
            <a:spLocks noGrp="1"/>
          </p:cNvSpPr>
          <p:nvPr>
            <p:ph idx="1"/>
          </p:nvPr>
        </p:nvSpPr>
        <p:spPr>
          <a:xfrm>
            <a:off x="744582" y="1694997"/>
            <a:ext cx="10620103" cy="4351338"/>
          </a:xfrm>
        </p:spPr>
        <p:txBody>
          <a:bodyPr>
            <a:normAutofit/>
          </a:bodyPr>
          <a:lstStyle/>
          <a:p>
            <a:pPr>
              <a:buNone/>
            </a:pPr>
            <a:r>
              <a:rPr lang="en-US" b="1" dirty="0" smtClean="0"/>
              <a:t>Advantages:</a:t>
            </a:r>
          </a:p>
          <a:p>
            <a:pPr lvl="0" fontAlgn="base"/>
            <a:r>
              <a:rPr lang="en-US" dirty="0" smtClean="0"/>
              <a:t>Simple and rugged construction.</a:t>
            </a:r>
          </a:p>
          <a:p>
            <a:pPr lvl="0" fontAlgn="base"/>
            <a:r>
              <a:rPr lang="en-US" dirty="0" smtClean="0"/>
              <a:t>The low initial as well as maintenance cost.</a:t>
            </a:r>
          </a:p>
          <a:p>
            <a:pPr lvl="0" fontAlgn="base"/>
            <a:r>
              <a:rPr lang="en-US" dirty="0" smtClean="0"/>
              <a:t>Maintains constant speed.</a:t>
            </a:r>
          </a:p>
          <a:p>
            <a:pPr>
              <a:buNone/>
            </a:pPr>
            <a:r>
              <a:rPr lang="en-US" b="1" dirty="0" smtClean="0"/>
              <a:t>Disadvantages:</a:t>
            </a:r>
          </a:p>
          <a:p>
            <a:pPr lvl="0" fontAlgn="base"/>
            <a:r>
              <a:rPr lang="en-US" dirty="0" smtClean="0"/>
              <a:t>High starting current.</a:t>
            </a:r>
          </a:p>
          <a:p>
            <a:pPr lvl="0" fontAlgn="base"/>
            <a:r>
              <a:rPr lang="en-US" dirty="0" smtClean="0"/>
              <a:t>Very sensitive to fluctuations in supply voltage.</a:t>
            </a:r>
          </a:p>
          <a:p>
            <a:pPr lvl="0" fontAlgn="base"/>
            <a:r>
              <a:rPr lang="en-US" dirty="0" smtClean="0"/>
              <a:t>Low power factor at light loads.</a:t>
            </a:r>
          </a:p>
          <a:p>
            <a:pPr>
              <a:buNone/>
            </a:pPr>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rPr>
              <a:t>APPLICATIONS OF SQUIRREL CAGE ROTOR</a:t>
            </a:r>
            <a:endParaRPr lang="en-US" b="1" dirty="0">
              <a:latin typeface="+mj-lt"/>
            </a:endParaRPr>
          </a:p>
        </p:txBody>
      </p:sp>
      <p:sp>
        <p:nvSpPr>
          <p:cNvPr id="3" name="Content Placeholder 2"/>
          <p:cNvSpPr>
            <a:spLocks noGrp="1"/>
          </p:cNvSpPr>
          <p:nvPr>
            <p:ph idx="1"/>
          </p:nvPr>
        </p:nvSpPr>
        <p:spPr>
          <a:xfrm>
            <a:off x="744582" y="1694997"/>
            <a:ext cx="10620103" cy="4351338"/>
          </a:xfrm>
        </p:spPr>
        <p:txBody>
          <a:bodyPr>
            <a:normAutofit/>
          </a:bodyPr>
          <a:lstStyle/>
          <a:p>
            <a:pPr fontAlgn="base">
              <a:buNone/>
            </a:pPr>
            <a:r>
              <a:rPr lang="en-US" dirty="0" smtClean="0"/>
              <a:t>The applications of squirrel cage induction motor include the following.</a:t>
            </a:r>
          </a:p>
          <a:p>
            <a:pPr lvl="0" fontAlgn="base"/>
            <a:r>
              <a:rPr lang="en-US" dirty="0" smtClean="0"/>
              <a:t>Suitable for industrial drives of small power where speed control is not required such as for printing machinery, flour mills, and other shaft drives of small power.</a:t>
            </a:r>
          </a:p>
          <a:p>
            <a:pPr lvl="0" fontAlgn="base"/>
            <a:r>
              <a:rPr lang="en-US" dirty="0" smtClean="0"/>
              <a:t>Centrifugal pumps, fans, blowers, etc</a:t>
            </a:r>
          </a:p>
          <a:p>
            <a:pPr>
              <a:buNone/>
            </a:pPr>
            <a:endParaRPr lang="en-US" b="1"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rPr>
              <a:t>SLIP RING ROTOR</a:t>
            </a:r>
            <a:endParaRPr lang="en-US" b="1" dirty="0">
              <a:latin typeface="+mj-lt"/>
            </a:endParaRPr>
          </a:p>
        </p:txBody>
      </p:sp>
      <p:sp>
        <p:nvSpPr>
          <p:cNvPr id="3" name="Content Placeholder 2"/>
          <p:cNvSpPr>
            <a:spLocks noGrp="1"/>
          </p:cNvSpPr>
          <p:nvPr>
            <p:ph idx="1"/>
          </p:nvPr>
        </p:nvSpPr>
        <p:spPr>
          <a:xfrm>
            <a:off x="381000" y="1694997"/>
            <a:ext cx="5967549" cy="4351338"/>
          </a:xfrm>
        </p:spPr>
        <p:txBody>
          <a:bodyPr>
            <a:normAutofit/>
          </a:bodyPr>
          <a:lstStyle/>
          <a:p>
            <a:pPr lvl="0" algn="just"/>
            <a:r>
              <a:rPr lang="en-US" dirty="0" smtClean="0"/>
              <a:t>A slip ring induction motor is referred to as an asynchronous motor as the speed at which it operates is not equal to the synchronous speed of a rotor. </a:t>
            </a:r>
          </a:p>
          <a:p>
            <a:pPr algn="just"/>
            <a:r>
              <a:rPr lang="en-US" dirty="0" smtClean="0"/>
              <a:t>The rotor of this type of motor is wound type. It comprises of a cylindrical laminated steel core and a semi-closed groove at the outer boundary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Rectangle 7"/>
          <p:cNvSpPr/>
          <p:nvPr/>
        </p:nvSpPr>
        <p:spPr>
          <a:xfrm>
            <a:off x="7318090" y="5817718"/>
            <a:ext cx="4098848"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https://www.elprocus.com/what-is-slip-ring-induction-motor-and-its-working/</a:t>
            </a:r>
            <a:endParaRPr lang="en-US" dirty="0">
              <a:solidFill>
                <a:srgbClr val="00B0F0"/>
              </a:solidFill>
            </a:endParaRPr>
          </a:p>
        </p:txBody>
      </p:sp>
      <p:sp>
        <p:nvSpPr>
          <p:cNvPr id="9" name="TextBox 8"/>
          <p:cNvSpPr txBox="1"/>
          <p:nvPr/>
        </p:nvSpPr>
        <p:spPr>
          <a:xfrm>
            <a:off x="9052560" y="5381896"/>
            <a:ext cx="627095" cy="369332"/>
          </a:xfrm>
          <a:prstGeom prst="rect">
            <a:avLst/>
          </a:prstGeom>
          <a:noFill/>
        </p:spPr>
        <p:txBody>
          <a:bodyPr wrap="none" rtlCol="0">
            <a:spAutoFit/>
          </a:bodyPr>
          <a:lstStyle/>
          <a:p>
            <a:r>
              <a:rPr lang="en-US" dirty="0" smtClean="0"/>
              <a:t>Fig.7</a:t>
            </a:r>
            <a:endParaRPr lang="en-US" dirty="0"/>
          </a:p>
        </p:txBody>
      </p:sp>
      <p:pic>
        <p:nvPicPr>
          <p:cNvPr id="200706" name="Picture 2" descr="Slip Ring Induction Motor - Construction, Working and Its Speed ..."/>
          <p:cNvPicPr>
            <a:picLocks noChangeAspect="1" noChangeArrowheads="1"/>
          </p:cNvPicPr>
          <p:nvPr/>
        </p:nvPicPr>
        <p:blipFill>
          <a:blip r:embed="rId3" cstate="print"/>
          <a:srcRect/>
          <a:stretch>
            <a:fillRect/>
          </a:stretch>
        </p:blipFill>
        <p:spPr bwMode="auto">
          <a:xfrm>
            <a:off x="6635932" y="1855561"/>
            <a:ext cx="5146766" cy="32354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Autofit/>
          </a:bodyPr>
          <a:lstStyle/>
          <a:p>
            <a:pPr algn="ctr"/>
            <a:r>
              <a:rPr lang="en-US" b="1" dirty="0" smtClean="0">
                <a:latin typeface="+mj-lt"/>
              </a:rPr>
              <a:t>ADVANATGES &amp; DISADVANTAGES OF SLIP RING ROTOR</a:t>
            </a:r>
            <a:endParaRPr lang="en-US" b="1" dirty="0">
              <a:latin typeface="+mj-lt"/>
            </a:endParaRPr>
          </a:p>
        </p:txBody>
      </p:sp>
      <p:sp>
        <p:nvSpPr>
          <p:cNvPr id="3" name="Content Placeholder 2"/>
          <p:cNvSpPr>
            <a:spLocks noGrp="1"/>
          </p:cNvSpPr>
          <p:nvPr>
            <p:ph idx="1"/>
          </p:nvPr>
        </p:nvSpPr>
        <p:spPr>
          <a:xfrm>
            <a:off x="744582" y="1694997"/>
            <a:ext cx="10620103" cy="4351338"/>
          </a:xfrm>
        </p:spPr>
        <p:txBody>
          <a:bodyPr>
            <a:normAutofit/>
          </a:bodyPr>
          <a:lstStyle/>
          <a:p>
            <a:pPr>
              <a:buNone/>
            </a:pPr>
            <a:r>
              <a:rPr lang="en-US" b="1" dirty="0" smtClean="0"/>
              <a:t>Advantages:</a:t>
            </a:r>
          </a:p>
          <a:p>
            <a:pPr lvl="0" fontAlgn="base"/>
            <a:r>
              <a:rPr lang="en-US" dirty="0" smtClean="0"/>
              <a:t>High and excellent starting torque to support high inertia loads.</a:t>
            </a:r>
          </a:p>
          <a:p>
            <a:pPr lvl="0" fontAlgn="base"/>
            <a:r>
              <a:rPr lang="en-US" dirty="0" smtClean="0"/>
              <a:t>It has a low starting current due to external resistance.</a:t>
            </a:r>
          </a:p>
          <a:p>
            <a:pPr lvl="0" fontAlgn="base"/>
            <a:r>
              <a:rPr lang="en-US" dirty="0" smtClean="0"/>
              <a:t>Can take full load current that is 6 to 7 times higher.</a:t>
            </a:r>
          </a:p>
          <a:p>
            <a:pPr>
              <a:buNone/>
            </a:pPr>
            <a:r>
              <a:rPr lang="en-US" b="1" dirty="0" smtClean="0"/>
              <a:t>Disadvantages:</a:t>
            </a:r>
          </a:p>
          <a:p>
            <a:pPr lvl="0" fontAlgn="base"/>
            <a:r>
              <a:rPr lang="en-US" dirty="0" smtClean="0"/>
              <a:t>Includes higher maintenance costs due to brushes and slip rings compared to squirrel cage motor.</a:t>
            </a:r>
          </a:p>
          <a:p>
            <a:pPr lvl="0" fontAlgn="base"/>
            <a:r>
              <a:rPr lang="en-US" dirty="0" smtClean="0"/>
              <a:t>Intricate construction.</a:t>
            </a:r>
          </a:p>
          <a:p>
            <a:pPr>
              <a:buNone/>
            </a:pPr>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37104"/>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rPr>
              <a:t>APPLICATIONS OF SLIP RING ROTOR</a:t>
            </a:r>
            <a:endParaRPr lang="en-US" b="1" dirty="0">
              <a:latin typeface="+mj-lt"/>
            </a:endParaRPr>
          </a:p>
        </p:txBody>
      </p:sp>
      <p:sp>
        <p:nvSpPr>
          <p:cNvPr id="3" name="Content Placeholder 2"/>
          <p:cNvSpPr>
            <a:spLocks noGrp="1"/>
          </p:cNvSpPr>
          <p:nvPr>
            <p:ph idx="1"/>
          </p:nvPr>
        </p:nvSpPr>
        <p:spPr>
          <a:xfrm>
            <a:off x="744582" y="1694997"/>
            <a:ext cx="10620103" cy="4351338"/>
          </a:xfrm>
        </p:spPr>
        <p:txBody>
          <a:bodyPr>
            <a:normAutofit/>
          </a:bodyPr>
          <a:lstStyle/>
          <a:p>
            <a:pPr fontAlgn="base">
              <a:buNone/>
            </a:pPr>
            <a:r>
              <a:rPr lang="en-US" dirty="0" smtClean="0"/>
              <a:t>The applications of slip ring induction motor include the following.</a:t>
            </a:r>
          </a:p>
          <a:p>
            <a:pPr lvl="0" fontAlgn="base"/>
            <a:r>
              <a:rPr lang="en-US" dirty="0" smtClean="0"/>
              <a:t>These motors are used where higher torque and low starting current are required.</a:t>
            </a:r>
          </a:p>
          <a:p>
            <a:pPr lvl="0" fontAlgn="base"/>
            <a:r>
              <a:rPr lang="en-US" dirty="0" smtClean="0"/>
              <a:t>Used in applications like elevators, compressors, cranes, conveyors, hoists, and many more.</a:t>
            </a:r>
          </a:p>
          <a:p>
            <a:pPr>
              <a:buNone/>
            </a:pPr>
            <a:endParaRPr lang="en-US" b="1" dirty="0" smtClean="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Title 4"/>
          <p:cNvSpPr>
            <a:spLocks noGrp="1"/>
          </p:cNvSpPr>
          <p:nvPr>
            <p:ph type="title"/>
          </p:nvPr>
        </p:nvSpPr>
        <p:spPr/>
        <p:txBody>
          <a:bodyPr/>
          <a:lstStyle/>
          <a:p>
            <a:endParaRPr lang="en-US"/>
          </a:p>
        </p:txBody>
      </p:sp>
      <p:sp>
        <p:nvSpPr>
          <p:cNvPr id="6" name="Title 1"/>
          <p:cNvSpPr txBox="1">
            <a:spLocks/>
          </p:cNvSpPr>
          <p:nvPr/>
        </p:nvSpPr>
        <p:spPr>
          <a:xfrm>
            <a:off x="838200" y="169816"/>
            <a:ext cx="10515600" cy="121484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dk1"/>
                </a:solidFill>
                <a:effectLst/>
                <a:uLnTx/>
                <a:uFillTx/>
                <a:latin typeface="+mj-lt"/>
                <a:ea typeface="+mn-ea"/>
                <a:cs typeface="+mn-cs"/>
              </a:rPr>
              <a:t>DIFFERENCE</a:t>
            </a:r>
            <a:r>
              <a:rPr kumimoji="0" lang="en-US" sz="4400" b="1" i="0" u="none" strike="noStrike" kern="1200" cap="none" spc="0" normalizeH="0" noProof="0" dirty="0" smtClean="0">
                <a:ln>
                  <a:noFill/>
                </a:ln>
                <a:solidFill>
                  <a:schemeClr val="dk1"/>
                </a:solidFill>
                <a:effectLst/>
                <a:uLnTx/>
                <a:uFillTx/>
                <a:latin typeface="+mj-lt"/>
                <a:ea typeface="+mn-ea"/>
                <a:cs typeface="+mn-cs"/>
              </a:rPr>
              <a:t> BETWEEN SQUIRREL CAGE &amp; SLIP RING INDUCTION MOTOR</a:t>
            </a:r>
            <a:endParaRPr kumimoji="0" lang="en-US" sz="4400" b="1" i="0" u="none" strike="noStrike" kern="1200" cap="none" spc="0" normalizeH="0" baseline="0" noProof="0" dirty="0">
              <a:ln>
                <a:noFill/>
              </a:ln>
              <a:solidFill>
                <a:schemeClr val="dk1"/>
              </a:solidFill>
              <a:effectLst/>
              <a:uLnTx/>
              <a:uFillTx/>
              <a:latin typeface="+mj-lt"/>
              <a:ea typeface="+mn-ea"/>
              <a:cs typeface="+mn-cs"/>
            </a:endParaRPr>
          </a:p>
        </p:txBody>
      </p:sp>
      <p:graphicFrame>
        <p:nvGraphicFramePr>
          <p:cNvPr id="7" name="Table 6"/>
          <p:cNvGraphicFramePr>
            <a:graphicFrameLocks noGrp="1"/>
          </p:cNvGraphicFramePr>
          <p:nvPr/>
        </p:nvGraphicFramePr>
        <p:xfrm>
          <a:off x="809897" y="1593667"/>
          <a:ext cx="10358846" cy="3951788"/>
        </p:xfrm>
        <a:graphic>
          <a:graphicData uri="http://schemas.openxmlformats.org/drawingml/2006/table">
            <a:tbl>
              <a:tblPr/>
              <a:tblGrid>
                <a:gridCol w="2310820">
                  <a:extLst>
                    <a:ext uri="{9D8B030D-6E8A-4147-A177-3AD203B41FA5}">
                      <a16:colId xmlns:a16="http://schemas.microsoft.com/office/drawing/2014/main" val="20000"/>
                    </a:ext>
                  </a:extLst>
                </a:gridCol>
                <a:gridCol w="4522034">
                  <a:extLst>
                    <a:ext uri="{9D8B030D-6E8A-4147-A177-3AD203B41FA5}">
                      <a16:colId xmlns:a16="http://schemas.microsoft.com/office/drawing/2014/main" val="20001"/>
                    </a:ext>
                  </a:extLst>
                </a:gridCol>
                <a:gridCol w="3525992">
                  <a:extLst>
                    <a:ext uri="{9D8B030D-6E8A-4147-A177-3AD203B41FA5}">
                      <a16:colId xmlns:a16="http://schemas.microsoft.com/office/drawing/2014/main" val="20002"/>
                    </a:ext>
                  </a:extLst>
                </a:gridCol>
              </a:tblGrid>
              <a:tr h="509453">
                <a:tc>
                  <a:txBody>
                    <a:bodyPr/>
                    <a:lstStyle/>
                    <a:p>
                      <a:pPr algn="ctr" fontAlgn="ctr"/>
                      <a:r>
                        <a:rPr lang="en-US" sz="2800" b="1" i="0" u="none" strike="noStrike" dirty="0" smtClean="0">
                          <a:solidFill>
                            <a:srgbClr val="000000"/>
                          </a:solidFill>
                          <a:latin typeface="Calibri" pitchFamily="34" charset="0"/>
                          <a:cs typeface="Calibri" pitchFamily="34" charset="0"/>
                        </a:rPr>
                        <a:t>Parameters</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800" b="1" i="0" u="none" strike="noStrike" dirty="0" smtClean="0">
                          <a:solidFill>
                            <a:srgbClr val="000000"/>
                          </a:solidFill>
                          <a:latin typeface="Calibri" pitchFamily="34" charset="0"/>
                          <a:cs typeface="Calibri" pitchFamily="34" charset="0"/>
                        </a:rPr>
                        <a:t>Slip ring</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800" b="1" i="0" u="none" strike="noStrike" dirty="0" smtClean="0">
                          <a:solidFill>
                            <a:srgbClr val="000000"/>
                          </a:solidFill>
                          <a:latin typeface="Calibri" pitchFamily="34" charset="0"/>
                          <a:cs typeface="Calibri" pitchFamily="34" charset="0"/>
                        </a:rPr>
                        <a:t>Squirrel cage</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57646">
                <a:tc>
                  <a:txBody>
                    <a:bodyPr/>
                    <a:lstStyle/>
                    <a:p>
                      <a:pPr algn="ctr" fontAlgn="ctr"/>
                      <a:r>
                        <a:rPr lang="en-US" sz="2800" b="1" i="0" u="none" strike="noStrike" dirty="0" smtClean="0">
                          <a:solidFill>
                            <a:srgbClr val="000000"/>
                          </a:solidFill>
                          <a:latin typeface="Calibri" pitchFamily="34" charset="0"/>
                          <a:cs typeface="Calibri" pitchFamily="34" charset="0"/>
                        </a:rPr>
                        <a:t>Rotor</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It has a rotor of wound type</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Its rotor is of squirrel cage type</a:t>
                      </a:r>
                      <a:r>
                        <a:rPr lang="en-US" sz="2800" b="0" i="0" u="none" strike="noStrike" dirty="0" smtClean="0">
                          <a:solidFill>
                            <a:srgbClr val="000000"/>
                          </a:solidFill>
                          <a:latin typeface="Calibri" pitchFamily="34" charset="0"/>
                          <a:cs typeface="Calibri" pitchFamily="34" charset="0"/>
                        </a:rPr>
                        <a:t>.</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9897">
                <a:tc>
                  <a:txBody>
                    <a:bodyPr/>
                    <a:lstStyle/>
                    <a:p>
                      <a:pPr algn="ctr" fontAlgn="ctr"/>
                      <a:r>
                        <a:rPr lang="en-US" sz="2800" b="1" i="0" u="none" strike="noStrike" dirty="0" smtClean="0">
                          <a:solidFill>
                            <a:srgbClr val="000000"/>
                          </a:solidFill>
                          <a:latin typeface="Calibri" pitchFamily="34" charset="0"/>
                          <a:cs typeface="Calibri" pitchFamily="34" charset="0"/>
                        </a:rPr>
                        <a:t>Rotor slots</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Rotor has cylindrical core has parallel slots, in which each slot has a bar</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Slots are not parallel to each other</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81743">
                <a:tc>
                  <a:txBody>
                    <a:bodyPr/>
                    <a:lstStyle/>
                    <a:p>
                      <a:pPr algn="ctr" fontAlgn="ctr"/>
                      <a:r>
                        <a:rPr lang="en-US" sz="2800" b="1" i="0" u="none" strike="noStrike" dirty="0" smtClean="0">
                          <a:solidFill>
                            <a:srgbClr val="000000"/>
                          </a:solidFill>
                          <a:latin typeface="Calibri" pitchFamily="34" charset="0"/>
                          <a:cs typeface="Calibri" pitchFamily="34" charset="0"/>
                        </a:rPr>
                        <a:t>Construction</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Construction is complicated because of slip rings and brushes</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b="0" i="0" u="none" strike="noStrike" dirty="0" smtClean="0">
                          <a:solidFill>
                            <a:srgbClr val="000000"/>
                          </a:solidFill>
                          <a:latin typeface="Calibri" pitchFamily="34" charset="0"/>
                          <a:cs typeface="Calibri" pitchFamily="34" charset="0"/>
                        </a:rPr>
                        <a:t>Simple construction</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Box 10"/>
          <p:cNvSpPr txBox="1"/>
          <p:nvPr/>
        </p:nvSpPr>
        <p:spPr>
          <a:xfrm>
            <a:off x="3827417" y="6488668"/>
            <a:ext cx="854336" cy="369332"/>
          </a:xfrm>
          <a:prstGeom prst="rect">
            <a:avLst/>
          </a:prstGeom>
          <a:noFill/>
        </p:spPr>
        <p:txBody>
          <a:bodyPr wrap="none" rtlCol="0">
            <a:spAutoFit/>
          </a:bodyPr>
          <a:lstStyle/>
          <a:p>
            <a:r>
              <a:rPr lang="en-US" dirty="0" smtClean="0"/>
              <a:t>Table.1</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Difference Between AC and DC Supply</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Title 1"/>
          <p:cNvSpPr txBox="1">
            <a:spLocks/>
          </p:cNvSpPr>
          <p:nvPr/>
        </p:nvSpPr>
        <p:spPr>
          <a:xfrm>
            <a:off x="838200" y="235131"/>
            <a:ext cx="10515600" cy="114953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dk1"/>
                </a:solidFill>
                <a:effectLst/>
                <a:uLnTx/>
                <a:uFillTx/>
                <a:latin typeface="+mj-lt"/>
                <a:ea typeface="+mn-ea"/>
                <a:cs typeface="+mn-cs"/>
              </a:rPr>
              <a:t>DIFFERENCE</a:t>
            </a:r>
            <a:r>
              <a:rPr kumimoji="0" lang="en-US" sz="4400" b="1" i="0" u="none" strike="noStrike" kern="1200" cap="none" spc="0" normalizeH="0" noProof="0" dirty="0" smtClean="0">
                <a:ln>
                  <a:noFill/>
                </a:ln>
                <a:solidFill>
                  <a:schemeClr val="dk1"/>
                </a:solidFill>
                <a:effectLst/>
                <a:uLnTx/>
                <a:uFillTx/>
                <a:latin typeface="+mj-lt"/>
                <a:ea typeface="+mn-ea"/>
                <a:cs typeface="+mn-cs"/>
              </a:rPr>
              <a:t> BETWEEN SQUIRREL CAGE &amp; SLIP RING ROTOR</a:t>
            </a:r>
            <a:endParaRPr kumimoji="0" lang="en-US" sz="4400" b="1" i="0" u="none" strike="noStrike" kern="1200" cap="none" spc="0" normalizeH="0" baseline="0" noProof="0" dirty="0">
              <a:ln>
                <a:noFill/>
              </a:ln>
              <a:solidFill>
                <a:schemeClr val="dk1"/>
              </a:solidFill>
              <a:effectLst/>
              <a:uLnTx/>
              <a:uFillTx/>
              <a:latin typeface="+mj-lt"/>
              <a:ea typeface="+mn-ea"/>
              <a:cs typeface="+mn-cs"/>
            </a:endParaRPr>
          </a:p>
        </p:txBody>
      </p:sp>
      <p:graphicFrame>
        <p:nvGraphicFramePr>
          <p:cNvPr id="6" name="Table 5"/>
          <p:cNvGraphicFramePr>
            <a:graphicFrameLocks noGrp="1"/>
          </p:cNvGraphicFramePr>
          <p:nvPr/>
        </p:nvGraphicFramePr>
        <p:xfrm>
          <a:off x="888275" y="1567541"/>
          <a:ext cx="10489474" cy="3443315"/>
        </p:xfrm>
        <a:graphic>
          <a:graphicData uri="http://schemas.openxmlformats.org/drawingml/2006/table">
            <a:tbl>
              <a:tblPr/>
              <a:tblGrid>
                <a:gridCol w="2992346">
                  <a:extLst>
                    <a:ext uri="{9D8B030D-6E8A-4147-A177-3AD203B41FA5}">
                      <a16:colId xmlns:a16="http://schemas.microsoft.com/office/drawing/2014/main" val="20000"/>
                    </a:ext>
                  </a:extLst>
                </a:gridCol>
                <a:gridCol w="4113848">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770710">
                <a:tc>
                  <a:txBody>
                    <a:bodyPr/>
                    <a:lstStyle/>
                    <a:p>
                      <a:pPr algn="ctr" fontAlgn="ctr"/>
                      <a:r>
                        <a:rPr lang="en-US" sz="2800" b="1" i="0" u="none" strike="noStrike" dirty="0" smtClean="0">
                          <a:solidFill>
                            <a:srgbClr val="000000"/>
                          </a:solidFill>
                          <a:latin typeface="+mn-lt"/>
                        </a:rPr>
                        <a:t>Parameter</a:t>
                      </a:r>
                      <a:endParaRPr lang="en-US" sz="2800" b="1"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800" b="1" i="0" u="none" strike="noStrike" dirty="0" smtClean="0">
                          <a:solidFill>
                            <a:srgbClr val="000000"/>
                          </a:solidFill>
                          <a:latin typeface="+mn-lt"/>
                        </a:rPr>
                        <a:t>Slip ring </a:t>
                      </a:r>
                      <a:endParaRPr lang="en-US" sz="2800" b="1"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800" b="1" i="0" u="none" strike="noStrike" dirty="0" smtClean="0">
                          <a:solidFill>
                            <a:srgbClr val="000000"/>
                          </a:solidFill>
                          <a:latin typeface="+mn-lt"/>
                        </a:rPr>
                        <a:t>Squirrel cage</a:t>
                      </a:r>
                      <a:endParaRPr lang="en-US" sz="2800" b="1"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319349">
                <a:tc>
                  <a:txBody>
                    <a:bodyPr/>
                    <a:lstStyle/>
                    <a:p>
                      <a:pPr algn="ctr" fontAlgn="ctr"/>
                      <a:r>
                        <a:rPr lang="en-US" sz="2800" b="1" i="0" u="none" strike="noStrike" dirty="0" smtClean="0">
                          <a:solidFill>
                            <a:srgbClr val="000000"/>
                          </a:solidFill>
                          <a:latin typeface="+mn-lt"/>
                        </a:rPr>
                        <a:t>External resistance</a:t>
                      </a:r>
                      <a:endParaRPr lang="en-US" sz="2800" b="1"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External resistance circuit is connected with a motor</a:t>
                      </a:r>
                      <a:endParaRPr lang="en-US" sz="2800" b="0"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No external resistance circuit as bars of the rotor is completely slotted</a:t>
                      </a:r>
                      <a:endParaRPr lang="en-US" sz="2800" b="0"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78100">
                <a:tc>
                  <a:txBody>
                    <a:bodyPr/>
                    <a:lstStyle/>
                    <a:p>
                      <a:pPr algn="ctr" fontAlgn="ctr"/>
                      <a:r>
                        <a:rPr lang="en-US" sz="2800" b="1" i="0" u="none" strike="noStrike" dirty="0" smtClean="0">
                          <a:solidFill>
                            <a:srgbClr val="000000"/>
                          </a:solidFill>
                          <a:latin typeface="+mn-lt"/>
                        </a:rPr>
                        <a:t>Starting torque</a:t>
                      </a:r>
                      <a:endParaRPr lang="en-US" sz="2800" b="1"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b="0" i="0" u="none" strike="noStrike" dirty="0" smtClean="0">
                          <a:solidFill>
                            <a:srgbClr val="000000"/>
                          </a:solidFill>
                          <a:latin typeface="+mn-lt"/>
                        </a:rPr>
                        <a:t>High</a:t>
                      </a:r>
                      <a:endParaRPr lang="en-US" sz="2800" b="0"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b="0" i="0" u="none" strike="noStrike" dirty="0" smtClean="0">
                          <a:solidFill>
                            <a:srgbClr val="000000"/>
                          </a:solidFill>
                          <a:latin typeface="+mn-lt"/>
                        </a:rPr>
                        <a:t>Low</a:t>
                      </a:r>
                      <a:endParaRPr lang="en-US" sz="2800" b="0"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8100">
                <a:tc>
                  <a:txBody>
                    <a:bodyPr/>
                    <a:lstStyle/>
                    <a:p>
                      <a:pPr algn="ctr" fontAlgn="ctr"/>
                      <a:r>
                        <a:rPr lang="en-US" sz="2800" b="1" i="0" u="none" strike="noStrike" dirty="0" smtClean="0">
                          <a:solidFill>
                            <a:srgbClr val="000000"/>
                          </a:solidFill>
                          <a:latin typeface="+mn-lt"/>
                        </a:rPr>
                        <a:t>Efficiency</a:t>
                      </a:r>
                      <a:endParaRPr lang="en-US" sz="2800" b="1"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b="0" i="0" u="none" strike="noStrike" dirty="0" smtClean="0">
                          <a:solidFill>
                            <a:srgbClr val="000000"/>
                          </a:solidFill>
                          <a:latin typeface="+mn-lt"/>
                        </a:rPr>
                        <a:t>Low</a:t>
                      </a:r>
                      <a:endParaRPr lang="en-US" sz="2800" b="0"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b="0" i="0" u="none" strike="noStrike" dirty="0" smtClean="0">
                          <a:solidFill>
                            <a:srgbClr val="000000"/>
                          </a:solidFill>
                          <a:latin typeface="+mn-lt"/>
                        </a:rPr>
                        <a:t>High</a:t>
                      </a:r>
                      <a:endParaRPr lang="en-US" sz="2800" b="0" i="0" u="none" strike="noStrike" dirty="0">
                        <a:solidFill>
                          <a:srgbClr val="000000"/>
                        </a:solidFill>
                        <a:latin typeface="+mn-lt"/>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Box 6"/>
          <p:cNvSpPr txBox="1"/>
          <p:nvPr/>
        </p:nvSpPr>
        <p:spPr>
          <a:xfrm>
            <a:off x="5081452" y="6488668"/>
            <a:ext cx="1526123" cy="369332"/>
          </a:xfrm>
          <a:prstGeom prst="rect">
            <a:avLst/>
          </a:prstGeom>
          <a:noFill/>
        </p:spPr>
        <p:txBody>
          <a:bodyPr wrap="none" rtlCol="0">
            <a:spAutoFit/>
          </a:bodyPr>
          <a:lstStyle/>
          <a:p>
            <a:r>
              <a:rPr lang="en-US" dirty="0" smtClean="0"/>
              <a:t>Contd. Table.1</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6" y="365125"/>
            <a:ext cx="10097589" cy="1325563"/>
          </a:xfrm>
        </p:spPr>
        <p:style>
          <a:lnRef idx="2">
            <a:schemeClr val="dk1"/>
          </a:lnRef>
          <a:fillRef idx="1">
            <a:schemeClr val="lt1"/>
          </a:fillRef>
          <a:effectRef idx="0">
            <a:schemeClr val="dk1"/>
          </a:effectRef>
          <a:fontRef idx="minor">
            <a:schemeClr val="dk1"/>
          </a:fontRef>
        </p:style>
        <p:txBody>
          <a:bodyPr>
            <a:noAutofit/>
          </a:bodyPr>
          <a:lstStyle/>
          <a:p>
            <a:pPr algn="ctr"/>
            <a:r>
              <a:rPr lang="en-US" dirty="0" smtClean="0"/>
              <a:t/>
            </a:r>
            <a:br>
              <a:rPr lang="en-US" dirty="0" smtClean="0"/>
            </a:br>
            <a:r>
              <a:rPr lang="en-US" b="1" dirty="0" smtClean="0">
                <a:latin typeface="+mj-lt"/>
              </a:rPr>
              <a:t>WORKING PRINCIPLE OF SINGLE PHASE INDUCTION MOTOR</a:t>
            </a:r>
            <a:r>
              <a:rPr lang="en-US" dirty="0" smtClean="0"/>
              <a:t/>
            </a:r>
            <a:br>
              <a:rPr lang="en-US" dirty="0" smtClean="0"/>
            </a:br>
            <a:endParaRPr lang="en-US" dirty="0"/>
          </a:p>
        </p:txBody>
      </p:sp>
      <p:sp>
        <p:nvSpPr>
          <p:cNvPr id="3" name="Content Placeholder 2"/>
          <p:cNvSpPr>
            <a:spLocks noGrp="1"/>
          </p:cNvSpPr>
          <p:nvPr>
            <p:ph idx="1"/>
          </p:nvPr>
        </p:nvSpPr>
        <p:spPr>
          <a:xfrm>
            <a:off x="888274" y="1812562"/>
            <a:ext cx="10267406" cy="4614364"/>
          </a:xfrm>
        </p:spPr>
        <p:txBody>
          <a:bodyPr>
            <a:noAutofit/>
          </a:bodyPr>
          <a:lstStyle/>
          <a:p>
            <a:pPr lvl="0" algn="just"/>
            <a:r>
              <a:rPr lang="en-US" dirty="0" smtClean="0"/>
              <a:t>In the </a:t>
            </a:r>
            <a:r>
              <a:rPr lang="en-US" b="1" dirty="0" smtClean="0"/>
              <a:t>single-phase induction motor</a:t>
            </a:r>
            <a:r>
              <a:rPr lang="en-US" dirty="0" smtClean="0"/>
              <a:t>, single-phase </a:t>
            </a:r>
            <a:r>
              <a:rPr lang="en-US" dirty="0" err="1" smtClean="0"/>
              <a:t>a.c</a:t>
            </a:r>
            <a:r>
              <a:rPr lang="en-US" dirty="0" smtClean="0"/>
              <a:t> supply is given to the stator winding. The stator winding carries an alternating current which produces the flux which is also alternating in nature. This flux is called the main flux. </a:t>
            </a:r>
          </a:p>
          <a:p>
            <a:pPr lvl="0" algn="just"/>
            <a:r>
              <a:rPr lang="en-US" dirty="0" smtClean="0"/>
              <a:t>This flux links with the rotor conductors and due to transformer action </a:t>
            </a:r>
            <a:r>
              <a:rPr lang="en-US" dirty="0" err="1" smtClean="0"/>
              <a:t>e.m.f</a:t>
            </a:r>
            <a:r>
              <a:rPr lang="en-US" dirty="0" smtClean="0"/>
              <a:t> gets induced in the rotor.  </a:t>
            </a:r>
          </a:p>
          <a:p>
            <a:pPr algn="just"/>
            <a:r>
              <a:rPr lang="en-US" dirty="0" smtClean="0"/>
              <a:t>The induced </a:t>
            </a:r>
            <a:r>
              <a:rPr lang="en-US" dirty="0" err="1" smtClean="0"/>
              <a:t>emf</a:t>
            </a:r>
            <a:r>
              <a:rPr lang="en-US" dirty="0" smtClean="0"/>
              <a:t> drives current through the rotor as the rotor circuit is the closed circuit.</a:t>
            </a:r>
          </a:p>
          <a:p>
            <a:pPr lvl="0"/>
            <a:endParaRPr lang="en-US" dirty="0" smtClean="0"/>
          </a:p>
          <a:p>
            <a:pPr lvl="0"/>
            <a:endParaRPr lang="en-US" sz="2400" dirty="0" smtClean="0"/>
          </a:p>
          <a:p>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6" y="365125"/>
            <a:ext cx="10097589" cy="1325563"/>
          </a:xfrm>
        </p:spPr>
        <p:style>
          <a:lnRef idx="2">
            <a:schemeClr val="dk1"/>
          </a:lnRef>
          <a:fillRef idx="1">
            <a:schemeClr val="lt1"/>
          </a:fillRef>
          <a:effectRef idx="0">
            <a:schemeClr val="dk1"/>
          </a:effectRef>
          <a:fontRef idx="minor">
            <a:schemeClr val="dk1"/>
          </a:fontRef>
        </p:style>
        <p:txBody>
          <a:bodyPr>
            <a:noAutofit/>
          </a:bodyPr>
          <a:lstStyle/>
          <a:p>
            <a:pPr algn="ctr"/>
            <a:r>
              <a:rPr lang="en-US" dirty="0" smtClean="0"/>
              <a:t/>
            </a:r>
            <a:br>
              <a:rPr lang="en-US" dirty="0" smtClean="0"/>
            </a:br>
            <a:r>
              <a:rPr lang="en-US" b="1" dirty="0" smtClean="0">
                <a:latin typeface="+mj-lt"/>
              </a:rPr>
              <a:t>WORKING PRINCIPLE OF SINGLE PHASE INDUCTION MOTOR</a:t>
            </a:r>
            <a:r>
              <a:rPr lang="en-US" dirty="0" smtClean="0"/>
              <a:t/>
            </a:r>
            <a:br>
              <a:rPr lang="en-US" dirty="0" smtClean="0"/>
            </a:br>
            <a:endParaRPr lang="en-US" dirty="0"/>
          </a:p>
        </p:txBody>
      </p:sp>
      <p:sp>
        <p:nvSpPr>
          <p:cNvPr id="3" name="Content Placeholder 2"/>
          <p:cNvSpPr>
            <a:spLocks noGrp="1"/>
          </p:cNvSpPr>
          <p:nvPr>
            <p:ph idx="1"/>
          </p:nvPr>
        </p:nvSpPr>
        <p:spPr>
          <a:xfrm>
            <a:off x="888274" y="1812562"/>
            <a:ext cx="10267406" cy="4614364"/>
          </a:xfrm>
        </p:spPr>
        <p:txBody>
          <a:bodyPr>
            <a:noAutofit/>
          </a:bodyPr>
          <a:lstStyle/>
          <a:p>
            <a:pPr lvl="0" algn="just"/>
            <a:r>
              <a:rPr lang="en-US" dirty="0" smtClean="0"/>
              <a:t>This rotor current produces another flux called rotor flux required for the motoring action. Thus second flux is produced according to the induction principle due to induced </a:t>
            </a:r>
            <a:r>
              <a:rPr lang="en-US" dirty="0" err="1" smtClean="0"/>
              <a:t>e.m.f</a:t>
            </a:r>
            <a:r>
              <a:rPr lang="en-US" dirty="0" smtClean="0"/>
              <a:t> hence the motor is called </a:t>
            </a:r>
            <a:r>
              <a:rPr lang="en-US" b="1" dirty="0" smtClean="0"/>
              <a:t>induction motor</a:t>
            </a:r>
            <a:r>
              <a:rPr lang="en-US" dirty="0" smtClean="0"/>
              <a:t>. </a:t>
            </a:r>
          </a:p>
          <a:p>
            <a:pPr algn="just"/>
            <a:r>
              <a:rPr lang="en-US" dirty="0" smtClean="0"/>
              <a:t>As against this in </a:t>
            </a:r>
            <a:r>
              <a:rPr lang="en-US" dirty="0" err="1" smtClean="0"/>
              <a:t>d.c</a:t>
            </a:r>
            <a:r>
              <a:rPr lang="en-US" dirty="0" smtClean="0"/>
              <a:t> motor a separate supply is required to the armature to produce armature flux. This is an important difference between </a:t>
            </a:r>
            <a:r>
              <a:rPr lang="en-US" dirty="0" err="1" smtClean="0"/>
              <a:t>d.c</a:t>
            </a:r>
            <a:r>
              <a:rPr lang="en-US" dirty="0" smtClean="0"/>
              <a:t> motor and an induction motor. </a:t>
            </a:r>
          </a:p>
          <a:p>
            <a:pPr lvl="0"/>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6" y="365125"/>
            <a:ext cx="10097589" cy="1325563"/>
          </a:xfrm>
        </p:spPr>
        <p:style>
          <a:lnRef idx="2">
            <a:schemeClr val="dk1"/>
          </a:lnRef>
          <a:fillRef idx="1">
            <a:schemeClr val="lt1"/>
          </a:fillRef>
          <a:effectRef idx="0">
            <a:schemeClr val="dk1"/>
          </a:effectRef>
          <a:fontRef idx="minor">
            <a:schemeClr val="dk1"/>
          </a:fontRef>
        </p:style>
        <p:txBody>
          <a:bodyPr>
            <a:noAutofit/>
          </a:bodyPr>
          <a:lstStyle/>
          <a:p>
            <a:pPr algn="ctr"/>
            <a:r>
              <a:rPr lang="en-US" dirty="0" smtClean="0"/>
              <a:t/>
            </a:r>
            <a:br>
              <a:rPr lang="en-US" dirty="0" smtClean="0"/>
            </a:br>
            <a:r>
              <a:rPr lang="en-US" b="1" dirty="0" smtClean="0">
                <a:latin typeface="+mj-lt"/>
              </a:rPr>
              <a:t>APPLICATIONS OF SINGLE PHASE INDUCTION MOTOR</a:t>
            </a:r>
            <a:r>
              <a:rPr lang="en-US" dirty="0" smtClean="0"/>
              <a:t/>
            </a:r>
            <a:br>
              <a:rPr lang="en-US" dirty="0" smtClean="0"/>
            </a:br>
            <a:endParaRPr lang="en-US" dirty="0"/>
          </a:p>
        </p:txBody>
      </p:sp>
      <p:sp>
        <p:nvSpPr>
          <p:cNvPr id="3" name="Content Placeholder 2"/>
          <p:cNvSpPr>
            <a:spLocks noGrp="1"/>
          </p:cNvSpPr>
          <p:nvPr>
            <p:ph idx="1"/>
          </p:nvPr>
        </p:nvSpPr>
        <p:spPr>
          <a:xfrm>
            <a:off x="888274" y="1812562"/>
            <a:ext cx="10267406" cy="4614364"/>
          </a:xfrm>
        </p:spPr>
        <p:txBody>
          <a:bodyPr>
            <a:noAutofit/>
          </a:bodyPr>
          <a:lstStyle/>
          <a:p>
            <a:pPr lvl="0"/>
            <a:r>
              <a:rPr lang="en-US" dirty="0" smtClean="0"/>
              <a:t>Fans</a:t>
            </a:r>
          </a:p>
          <a:p>
            <a:pPr lvl="0"/>
            <a:r>
              <a:rPr lang="en-US" dirty="0" smtClean="0"/>
              <a:t>Refrigerators</a:t>
            </a:r>
          </a:p>
          <a:p>
            <a:pPr lvl="0"/>
            <a:r>
              <a:rPr lang="en-US" dirty="0" smtClean="0"/>
              <a:t>Air-conditioners</a:t>
            </a:r>
          </a:p>
          <a:p>
            <a:pPr lvl="0"/>
            <a:r>
              <a:rPr lang="en-US" dirty="0" smtClean="0"/>
              <a:t>Vacuum cleaners</a:t>
            </a:r>
          </a:p>
          <a:p>
            <a:pPr lvl="0"/>
            <a:r>
              <a:rPr lang="en-US" dirty="0" smtClean="0"/>
              <a:t>Washing machines</a:t>
            </a:r>
          </a:p>
          <a:p>
            <a:pPr lvl="0"/>
            <a:r>
              <a:rPr lang="en-US" dirty="0" smtClean="0"/>
              <a:t>Centrifugal pumps</a:t>
            </a:r>
          </a:p>
          <a:p>
            <a:pPr lvl="0"/>
            <a:r>
              <a:rPr lang="en-US" dirty="0" smtClean="0"/>
              <a:t>Small farming appliances</a:t>
            </a:r>
          </a:p>
          <a:p>
            <a:pPr lvl="0" algn="just">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INTRODUCTION TO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7" name="Rectangle 6"/>
          <p:cNvSpPr/>
          <p:nvPr/>
        </p:nvSpPr>
        <p:spPr>
          <a:xfrm>
            <a:off x="274321" y="1724296"/>
            <a:ext cx="6779623" cy="4401205"/>
          </a:xfrm>
          <a:prstGeom prst="rect">
            <a:avLst/>
          </a:prstGeom>
        </p:spPr>
        <p:txBody>
          <a:bodyPr wrap="square">
            <a:spAutoFit/>
          </a:bodyPr>
          <a:lstStyle/>
          <a:p>
            <a:pPr lvl="0" algn="just">
              <a:buFont typeface="Arial" pitchFamily="34" charset="0"/>
              <a:buChar char="•"/>
            </a:pPr>
            <a:r>
              <a:rPr lang="en-US" sz="2800" dirty="0" smtClean="0"/>
              <a:t>The three phase induction motor is a preferable type of motor. It is mostly used in industrial drives because it is very reasonable and vigorous, economical and reliable. </a:t>
            </a:r>
          </a:p>
          <a:p>
            <a:pPr lvl="0" algn="just">
              <a:buFont typeface="Arial" pitchFamily="34" charset="0"/>
              <a:buChar char="•"/>
            </a:pPr>
            <a:r>
              <a:rPr lang="en-US" sz="2800" dirty="0" smtClean="0"/>
              <a:t>It is also called asynchronous motor because it does not run at a synchronous speed. </a:t>
            </a:r>
          </a:p>
          <a:p>
            <a:pPr lvl="0" algn="just">
              <a:buFont typeface="Arial" pitchFamily="34" charset="0"/>
              <a:buChar char="•"/>
            </a:pPr>
            <a:r>
              <a:rPr lang="en-US" sz="2800" dirty="0" smtClean="0"/>
              <a:t>The induction motor requires very little maintenance and also it has high overloading capacity.</a:t>
            </a:r>
          </a:p>
          <a:p>
            <a:pPr algn="just"/>
            <a:endParaRPr lang="en-US" sz="2800" dirty="0" smtClean="0">
              <a:latin typeface="Calibri" pitchFamily="34" charset="0"/>
              <a:cs typeface="Calibri" pitchFamily="34" charset="0"/>
            </a:endParaRPr>
          </a:p>
        </p:txBody>
      </p:sp>
      <p:sp>
        <p:nvSpPr>
          <p:cNvPr id="8" name="Rectangle 7"/>
          <p:cNvSpPr/>
          <p:nvPr/>
        </p:nvSpPr>
        <p:spPr>
          <a:xfrm>
            <a:off x="7289074" y="5896095"/>
            <a:ext cx="4149294"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https://www.kebamerica.com/blog/how-a-3-phase-ac-induction-motor-works/</a:t>
            </a:r>
            <a:endParaRPr lang="en-US" dirty="0">
              <a:solidFill>
                <a:srgbClr val="00B0F0"/>
              </a:solidFill>
            </a:endParaRPr>
          </a:p>
        </p:txBody>
      </p:sp>
      <p:sp>
        <p:nvSpPr>
          <p:cNvPr id="9" name="TextBox 8"/>
          <p:cNvSpPr txBox="1"/>
          <p:nvPr/>
        </p:nvSpPr>
        <p:spPr>
          <a:xfrm>
            <a:off x="9026435" y="5434149"/>
            <a:ext cx="679994" cy="369332"/>
          </a:xfrm>
          <a:prstGeom prst="rect">
            <a:avLst/>
          </a:prstGeom>
          <a:noFill/>
        </p:spPr>
        <p:txBody>
          <a:bodyPr wrap="none" rtlCol="0">
            <a:spAutoFit/>
          </a:bodyPr>
          <a:lstStyle/>
          <a:p>
            <a:r>
              <a:rPr lang="en-US" dirty="0" smtClean="0"/>
              <a:t>Fig. 8</a:t>
            </a:r>
            <a:endParaRPr lang="en-US" dirty="0"/>
          </a:p>
        </p:txBody>
      </p:sp>
      <p:pic>
        <p:nvPicPr>
          <p:cNvPr id="175105" name="Picture 1"/>
          <p:cNvPicPr>
            <a:picLocks noChangeAspect="1" noChangeArrowheads="1"/>
          </p:cNvPicPr>
          <p:nvPr/>
        </p:nvPicPr>
        <p:blipFill>
          <a:blip r:embed="rId3" cstate="print"/>
          <a:srcRect/>
          <a:stretch>
            <a:fillRect/>
          </a:stretch>
        </p:blipFill>
        <p:spPr bwMode="auto">
          <a:xfrm>
            <a:off x="7210697" y="1957524"/>
            <a:ext cx="4709025" cy="32806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INTRODUCTION TO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7" name="Rectangle 6"/>
          <p:cNvSpPr/>
          <p:nvPr/>
        </p:nvSpPr>
        <p:spPr>
          <a:xfrm>
            <a:off x="274321" y="1724296"/>
            <a:ext cx="6779623" cy="3108543"/>
          </a:xfrm>
          <a:prstGeom prst="rect">
            <a:avLst/>
          </a:prstGeom>
        </p:spPr>
        <p:txBody>
          <a:bodyPr wrap="square">
            <a:spAutoFit/>
          </a:bodyPr>
          <a:lstStyle/>
          <a:p>
            <a:pPr lvl="0" algn="just">
              <a:buFont typeface="Arial" pitchFamily="34" charset="0"/>
              <a:buChar char="•"/>
            </a:pPr>
            <a:r>
              <a:rPr lang="en-US" sz="2800" dirty="0" smtClean="0"/>
              <a:t>In the case of three phase AC (alternating current) operation, the most widely used motor is a </a:t>
            </a:r>
            <a:r>
              <a:rPr lang="en-US" sz="2800" b="1" dirty="0" smtClean="0"/>
              <a:t>3 phase induction motor</a:t>
            </a:r>
            <a:r>
              <a:rPr lang="en-US" sz="2800" dirty="0" smtClean="0"/>
              <a:t>, as this type of motor does not require an additional starting device. </a:t>
            </a:r>
          </a:p>
          <a:p>
            <a:pPr lvl="0" algn="just">
              <a:buFont typeface="Arial" pitchFamily="34" charset="0"/>
              <a:buChar char="•"/>
            </a:pPr>
            <a:r>
              <a:rPr lang="en-US" sz="2800" dirty="0" smtClean="0"/>
              <a:t>These types of motors are known as self-starting induction motors.</a:t>
            </a:r>
            <a:endParaRPr lang="en-US" sz="2800" dirty="0" smtClean="0">
              <a:latin typeface="Calibri" pitchFamily="34" charset="0"/>
              <a:cs typeface="Calibri" pitchFamily="34" charset="0"/>
            </a:endParaRPr>
          </a:p>
        </p:txBody>
      </p:sp>
      <p:sp>
        <p:nvSpPr>
          <p:cNvPr id="8" name="Rectangle 7"/>
          <p:cNvSpPr/>
          <p:nvPr/>
        </p:nvSpPr>
        <p:spPr>
          <a:xfrm>
            <a:off x="7302137" y="5700153"/>
            <a:ext cx="4149294"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https://www.elprocus.com/three-phase-ac-induction-motor-control-using-svpwm/</a:t>
            </a:r>
            <a:endParaRPr lang="en-US" dirty="0">
              <a:solidFill>
                <a:srgbClr val="00B0F0"/>
              </a:solidFill>
            </a:endParaRPr>
          </a:p>
        </p:txBody>
      </p:sp>
      <p:sp>
        <p:nvSpPr>
          <p:cNvPr id="9" name="TextBox 8"/>
          <p:cNvSpPr txBox="1"/>
          <p:nvPr/>
        </p:nvSpPr>
        <p:spPr>
          <a:xfrm>
            <a:off x="9065623" y="5146767"/>
            <a:ext cx="679994" cy="369332"/>
          </a:xfrm>
          <a:prstGeom prst="rect">
            <a:avLst/>
          </a:prstGeom>
          <a:noFill/>
        </p:spPr>
        <p:txBody>
          <a:bodyPr wrap="none" rtlCol="0">
            <a:spAutoFit/>
          </a:bodyPr>
          <a:lstStyle/>
          <a:p>
            <a:r>
              <a:rPr lang="en-US" dirty="0" smtClean="0"/>
              <a:t>Fig. 9</a:t>
            </a:r>
            <a:endParaRPr lang="en-US" dirty="0"/>
          </a:p>
        </p:txBody>
      </p:sp>
      <p:pic>
        <p:nvPicPr>
          <p:cNvPr id="202754" name="Picture 2" descr="3 Phase AC Induction Motor working and its Controlling using svpwm"/>
          <p:cNvPicPr>
            <a:picLocks noChangeAspect="1" noChangeArrowheads="1"/>
          </p:cNvPicPr>
          <p:nvPr/>
        </p:nvPicPr>
        <p:blipFill>
          <a:blip r:embed="rId3" cstate="print"/>
          <a:srcRect/>
          <a:stretch>
            <a:fillRect/>
          </a:stretch>
        </p:blipFill>
        <p:spPr bwMode="auto">
          <a:xfrm>
            <a:off x="7200808" y="1908848"/>
            <a:ext cx="4673329" cy="30550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CONSTRUCTION OF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7" name="Rectangle 6"/>
          <p:cNvSpPr/>
          <p:nvPr/>
        </p:nvSpPr>
        <p:spPr>
          <a:xfrm>
            <a:off x="274321" y="1724296"/>
            <a:ext cx="6779623" cy="3970318"/>
          </a:xfrm>
          <a:prstGeom prst="rect">
            <a:avLst/>
          </a:prstGeom>
        </p:spPr>
        <p:txBody>
          <a:bodyPr wrap="square">
            <a:spAutoFit/>
          </a:bodyPr>
          <a:lstStyle/>
          <a:p>
            <a:pPr lvl="0" algn="just">
              <a:buFont typeface="Arial" pitchFamily="34" charset="0"/>
              <a:buChar char="•"/>
            </a:pPr>
            <a:r>
              <a:rPr lang="en-US" sz="2800" dirty="0" smtClean="0"/>
              <a:t>A three phase </a:t>
            </a:r>
            <a:r>
              <a:rPr lang="en-US" sz="2800" b="1" dirty="0" smtClean="0"/>
              <a:t>Induction motor</a:t>
            </a:r>
            <a:r>
              <a:rPr lang="en-US" sz="2800" dirty="0" smtClean="0"/>
              <a:t> mainly consists of two parts called as the </a:t>
            </a:r>
            <a:r>
              <a:rPr lang="en-US" sz="2800" b="1" dirty="0" smtClean="0"/>
              <a:t>Stator</a:t>
            </a:r>
            <a:r>
              <a:rPr lang="en-US" sz="2800" dirty="0" smtClean="0"/>
              <a:t> and the</a:t>
            </a:r>
            <a:r>
              <a:rPr lang="en-US" sz="2800" b="1" dirty="0" smtClean="0"/>
              <a:t> Rotor</a:t>
            </a:r>
            <a:r>
              <a:rPr lang="en-US" sz="2800" dirty="0" smtClean="0"/>
              <a:t>. </a:t>
            </a:r>
          </a:p>
          <a:p>
            <a:pPr lvl="0" algn="just">
              <a:buFont typeface="Arial" pitchFamily="34" charset="0"/>
              <a:buChar char="•"/>
            </a:pPr>
            <a:r>
              <a:rPr lang="en-US" sz="2800" dirty="0" smtClean="0"/>
              <a:t>The stator is the stationary part of the induction motor, and the rotor is the rotating part.</a:t>
            </a:r>
          </a:p>
          <a:p>
            <a:pPr lvl="0" algn="just"/>
            <a:r>
              <a:rPr lang="en-US" sz="2800" dirty="0" smtClean="0"/>
              <a:t>There are two types of rotor such as:</a:t>
            </a:r>
          </a:p>
          <a:p>
            <a:pPr marL="514350" lvl="0" indent="-514350" algn="just">
              <a:buAutoNum type="arabicPeriod"/>
            </a:pPr>
            <a:r>
              <a:rPr lang="en-US" sz="2800" dirty="0" smtClean="0"/>
              <a:t>Squirrel cage</a:t>
            </a:r>
          </a:p>
          <a:p>
            <a:pPr marL="514350" lvl="0" indent="-514350" algn="just">
              <a:buAutoNum type="arabicPeriod"/>
            </a:pPr>
            <a:r>
              <a:rPr lang="en-US" sz="2800" dirty="0" smtClean="0"/>
              <a:t>Slip ring</a:t>
            </a:r>
            <a:endParaRPr lang="en-US" sz="2800" dirty="0"/>
          </a:p>
        </p:txBody>
      </p:sp>
      <p:sp>
        <p:nvSpPr>
          <p:cNvPr id="8" name="Rectangle 7"/>
          <p:cNvSpPr/>
          <p:nvPr/>
        </p:nvSpPr>
        <p:spPr>
          <a:xfrm>
            <a:off x="7302137" y="5700153"/>
            <a:ext cx="4149294"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https://electricalacademia.com/induction-motor/three-phase-induction-motor-construction/</a:t>
            </a:r>
            <a:endParaRPr lang="en-US" dirty="0">
              <a:solidFill>
                <a:srgbClr val="00B0F0"/>
              </a:solidFill>
            </a:endParaRPr>
          </a:p>
        </p:txBody>
      </p:sp>
      <p:sp>
        <p:nvSpPr>
          <p:cNvPr id="9" name="TextBox 8"/>
          <p:cNvSpPr txBox="1"/>
          <p:nvPr/>
        </p:nvSpPr>
        <p:spPr>
          <a:xfrm>
            <a:off x="9065623" y="5146767"/>
            <a:ext cx="797013" cy="369332"/>
          </a:xfrm>
          <a:prstGeom prst="rect">
            <a:avLst/>
          </a:prstGeom>
          <a:noFill/>
        </p:spPr>
        <p:txBody>
          <a:bodyPr wrap="none" rtlCol="0">
            <a:spAutoFit/>
          </a:bodyPr>
          <a:lstStyle/>
          <a:p>
            <a:r>
              <a:rPr lang="en-US" dirty="0" smtClean="0"/>
              <a:t>Fig. 10</a:t>
            </a:r>
            <a:endParaRPr lang="en-US" dirty="0"/>
          </a:p>
        </p:txBody>
      </p:sp>
      <p:pic>
        <p:nvPicPr>
          <p:cNvPr id="207878" name="Picture 6" descr="Three Phase Induction Motor Construction | Electrical Academia"/>
          <p:cNvPicPr>
            <a:picLocks noChangeAspect="1" noChangeArrowheads="1"/>
          </p:cNvPicPr>
          <p:nvPr/>
        </p:nvPicPr>
        <p:blipFill>
          <a:blip r:embed="rId3" cstate="print"/>
          <a:srcRect/>
          <a:stretch>
            <a:fillRect/>
          </a:stretch>
        </p:blipFill>
        <p:spPr bwMode="auto">
          <a:xfrm>
            <a:off x="7149530" y="1959428"/>
            <a:ext cx="4751361" cy="29260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STATOR OF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7" name="Rectangle 6"/>
          <p:cNvSpPr/>
          <p:nvPr/>
        </p:nvSpPr>
        <p:spPr>
          <a:xfrm>
            <a:off x="274321" y="1724296"/>
            <a:ext cx="6779623" cy="2677656"/>
          </a:xfrm>
          <a:prstGeom prst="rect">
            <a:avLst/>
          </a:prstGeom>
        </p:spPr>
        <p:txBody>
          <a:bodyPr wrap="square">
            <a:spAutoFit/>
          </a:bodyPr>
          <a:lstStyle/>
          <a:p>
            <a:pPr algn="just">
              <a:buFont typeface="Arial" pitchFamily="34" charset="0"/>
              <a:buChar char="•"/>
            </a:pPr>
            <a:r>
              <a:rPr lang="en-US" sz="2800" dirty="0" smtClean="0"/>
              <a:t>The stator is built up of high-grade alloy steel laminations to reduce eddy current losses. </a:t>
            </a:r>
          </a:p>
          <a:p>
            <a:pPr algn="just">
              <a:buFont typeface="Arial" pitchFamily="34" charset="0"/>
              <a:buChar char="•"/>
            </a:pPr>
            <a:r>
              <a:rPr lang="en-US" sz="2800" dirty="0" smtClean="0"/>
              <a:t>It has three main parts, namely outer frame, the stator core and a stator winding.</a:t>
            </a:r>
          </a:p>
          <a:p>
            <a:pPr lvl="0" algn="just">
              <a:buFont typeface="Arial" pitchFamily="34" charset="0"/>
              <a:buChar char="•"/>
            </a:pPr>
            <a:endParaRPr lang="en-US" sz="2800" dirty="0"/>
          </a:p>
        </p:txBody>
      </p:sp>
      <p:sp>
        <p:nvSpPr>
          <p:cNvPr id="8" name="Rectangle 7"/>
          <p:cNvSpPr/>
          <p:nvPr/>
        </p:nvSpPr>
        <p:spPr>
          <a:xfrm>
            <a:off x="7302137" y="5700153"/>
            <a:ext cx="4149294"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https://electrical-engineering-portal.com/construction-of-3-phase-ac-induction-motors</a:t>
            </a:r>
            <a:endParaRPr lang="en-US" dirty="0">
              <a:solidFill>
                <a:srgbClr val="00B0F0"/>
              </a:solidFill>
            </a:endParaRPr>
          </a:p>
        </p:txBody>
      </p:sp>
      <p:sp>
        <p:nvSpPr>
          <p:cNvPr id="9" name="TextBox 8"/>
          <p:cNvSpPr txBox="1"/>
          <p:nvPr/>
        </p:nvSpPr>
        <p:spPr>
          <a:xfrm>
            <a:off x="9065623" y="5146767"/>
            <a:ext cx="797013" cy="369332"/>
          </a:xfrm>
          <a:prstGeom prst="rect">
            <a:avLst/>
          </a:prstGeom>
          <a:noFill/>
        </p:spPr>
        <p:txBody>
          <a:bodyPr wrap="none" rtlCol="0">
            <a:spAutoFit/>
          </a:bodyPr>
          <a:lstStyle/>
          <a:p>
            <a:r>
              <a:rPr lang="en-US" dirty="0" smtClean="0"/>
              <a:t>Fig. 11</a:t>
            </a:r>
            <a:endParaRPr lang="en-US" dirty="0"/>
          </a:p>
        </p:txBody>
      </p:sp>
      <p:pic>
        <p:nvPicPr>
          <p:cNvPr id="208898" name="Picture 2" descr="Basic construction of 3-phase AC induction motors you should know ..."/>
          <p:cNvPicPr>
            <a:picLocks noChangeAspect="1" noChangeArrowheads="1"/>
          </p:cNvPicPr>
          <p:nvPr/>
        </p:nvPicPr>
        <p:blipFill>
          <a:blip r:embed="rId3" cstate="print"/>
          <a:srcRect/>
          <a:stretch>
            <a:fillRect/>
          </a:stretch>
        </p:blipFill>
        <p:spPr bwMode="auto">
          <a:xfrm>
            <a:off x="7132320" y="1849345"/>
            <a:ext cx="4849580" cy="31516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SQUIRREL CAGE ROTOR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7" name="Rectangle 6"/>
          <p:cNvSpPr/>
          <p:nvPr/>
        </p:nvSpPr>
        <p:spPr>
          <a:xfrm>
            <a:off x="274321" y="1724296"/>
            <a:ext cx="6374673" cy="3108543"/>
          </a:xfrm>
          <a:prstGeom prst="rect">
            <a:avLst/>
          </a:prstGeom>
        </p:spPr>
        <p:txBody>
          <a:bodyPr wrap="square">
            <a:spAutoFit/>
          </a:bodyPr>
          <a:lstStyle/>
          <a:p>
            <a:pPr algn="just">
              <a:buFont typeface="Arial" pitchFamily="34" charset="0"/>
              <a:buChar char="•"/>
            </a:pPr>
            <a:r>
              <a:rPr lang="en-US" sz="2800" dirty="0" smtClean="0"/>
              <a:t>A squirrel cage rotor consists of a laminated cylindrical core. </a:t>
            </a:r>
          </a:p>
          <a:p>
            <a:pPr algn="just">
              <a:buFont typeface="Arial" pitchFamily="34" charset="0"/>
              <a:buChar char="•"/>
            </a:pPr>
            <a:r>
              <a:rPr lang="en-US" sz="2800" dirty="0" smtClean="0"/>
              <a:t>The circular slots at the outer periphery are semi-closed. </a:t>
            </a:r>
          </a:p>
          <a:p>
            <a:pPr algn="just">
              <a:buFont typeface="Arial" pitchFamily="34" charset="0"/>
              <a:buChar char="•"/>
            </a:pPr>
            <a:r>
              <a:rPr lang="en-US" sz="2800" dirty="0" smtClean="0"/>
              <a:t>Each slot contains </a:t>
            </a:r>
            <a:r>
              <a:rPr lang="en-US" sz="2800" dirty="0" err="1" smtClean="0"/>
              <a:t>uninsulated</a:t>
            </a:r>
            <a:r>
              <a:rPr lang="en-US" sz="2800" dirty="0" smtClean="0"/>
              <a:t> bar conductor of </a:t>
            </a:r>
            <a:r>
              <a:rPr lang="en-US" sz="2800" dirty="0" err="1" smtClean="0"/>
              <a:t>aluminium</a:t>
            </a:r>
            <a:r>
              <a:rPr lang="en-US" sz="2800" dirty="0" smtClean="0"/>
              <a:t> or copper.</a:t>
            </a:r>
          </a:p>
          <a:p>
            <a:pPr lvl="0" algn="just">
              <a:buFont typeface="Arial" pitchFamily="34" charset="0"/>
              <a:buChar char="•"/>
            </a:pPr>
            <a:endParaRPr lang="en-US" sz="2800" dirty="0"/>
          </a:p>
        </p:txBody>
      </p:sp>
      <p:sp>
        <p:nvSpPr>
          <p:cNvPr id="8" name="Rectangle 7"/>
          <p:cNvSpPr/>
          <p:nvPr/>
        </p:nvSpPr>
        <p:spPr>
          <a:xfrm>
            <a:off x="7302137" y="5700153"/>
            <a:ext cx="4149294"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https://www.theengineeringprojects.com/2016/10/squirrel-cage-induction-motor.html</a:t>
            </a:r>
            <a:endParaRPr lang="en-US" dirty="0">
              <a:solidFill>
                <a:srgbClr val="00B0F0"/>
              </a:solidFill>
            </a:endParaRPr>
          </a:p>
        </p:txBody>
      </p:sp>
      <p:sp>
        <p:nvSpPr>
          <p:cNvPr id="9" name="TextBox 8"/>
          <p:cNvSpPr txBox="1"/>
          <p:nvPr/>
        </p:nvSpPr>
        <p:spPr>
          <a:xfrm>
            <a:off x="9065623" y="5146767"/>
            <a:ext cx="797013" cy="369332"/>
          </a:xfrm>
          <a:prstGeom prst="rect">
            <a:avLst/>
          </a:prstGeom>
          <a:noFill/>
        </p:spPr>
        <p:txBody>
          <a:bodyPr wrap="none" rtlCol="0">
            <a:spAutoFit/>
          </a:bodyPr>
          <a:lstStyle/>
          <a:p>
            <a:r>
              <a:rPr lang="en-US" dirty="0" smtClean="0"/>
              <a:t>Fig. 12</a:t>
            </a:r>
            <a:endParaRPr lang="en-US" dirty="0"/>
          </a:p>
        </p:txBody>
      </p:sp>
      <p:pic>
        <p:nvPicPr>
          <p:cNvPr id="209922" name="Picture 2"/>
          <p:cNvPicPr>
            <a:picLocks noChangeAspect="1" noChangeArrowheads="1"/>
          </p:cNvPicPr>
          <p:nvPr/>
        </p:nvPicPr>
        <p:blipFill>
          <a:blip r:embed="rId3" cstate="print"/>
          <a:srcRect/>
          <a:stretch>
            <a:fillRect/>
          </a:stretch>
        </p:blipFill>
        <p:spPr bwMode="auto">
          <a:xfrm>
            <a:off x="6918687" y="1946366"/>
            <a:ext cx="5091253" cy="28999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SLIP RING ROTOR OR PHASE WOUND ROTOR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7" name="Rectangle 6"/>
          <p:cNvSpPr/>
          <p:nvPr/>
        </p:nvSpPr>
        <p:spPr>
          <a:xfrm>
            <a:off x="182881" y="1685108"/>
            <a:ext cx="6779623" cy="3970318"/>
          </a:xfrm>
          <a:prstGeom prst="rect">
            <a:avLst/>
          </a:prstGeom>
        </p:spPr>
        <p:txBody>
          <a:bodyPr wrap="square">
            <a:spAutoFit/>
          </a:bodyPr>
          <a:lstStyle/>
          <a:p>
            <a:pPr algn="just">
              <a:buFont typeface="Arial" pitchFamily="34" charset="0"/>
              <a:buChar char="•"/>
            </a:pPr>
            <a:r>
              <a:rPr lang="en-US" sz="2800" dirty="0" smtClean="0"/>
              <a:t>The Phase wound rotor is also called as Slip Ring Rotor. </a:t>
            </a:r>
          </a:p>
          <a:p>
            <a:pPr algn="just">
              <a:buFont typeface="Arial" pitchFamily="34" charset="0"/>
              <a:buChar char="•"/>
            </a:pPr>
            <a:r>
              <a:rPr lang="en-US" sz="2800" dirty="0" smtClean="0"/>
              <a:t>It consists of a cylindrical core which is laminated. </a:t>
            </a:r>
          </a:p>
          <a:p>
            <a:pPr algn="just">
              <a:buFont typeface="Arial" pitchFamily="34" charset="0"/>
              <a:buChar char="•"/>
            </a:pPr>
            <a:r>
              <a:rPr lang="en-US" sz="2800" dirty="0" smtClean="0"/>
              <a:t>The outer periphery of the rotor has a semi-closed slot which carries a 3 phase insulated windings. The rotor windings are connected in star.</a:t>
            </a:r>
          </a:p>
          <a:p>
            <a:pPr lvl="0" algn="just">
              <a:buFont typeface="Arial" pitchFamily="34" charset="0"/>
              <a:buChar char="•"/>
            </a:pPr>
            <a:endParaRPr lang="en-US" sz="2800" dirty="0"/>
          </a:p>
        </p:txBody>
      </p:sp>
      <p:sp>
        <p:nvSpPr>
          <p:cNvPr id="8" name="Rectangle 7"/>
          <p:cNvSpPr/>
          <p:nvPr/>
        </p:nvSpPr>
        <p:spPr>
          <a:xfrm>
            <a:off x="7302137" y="5700153"/>
            <a:ext cx="4149294"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smtClean="0">
                <a:hlinkClick r:id="rId2"/>
              </a:rPr>
              <a:t>https://electricallive.com/2015/03/slip-ring-rotor-or-wound-rotor-in-three.html</a:t>
            </a:r>
            <a:endParaRPr lang="en-US" dirty="0">
              <a:solidFill>
                <a:srgbClr val="00B0F0"/>
              </a:solidFill>
            </a:endParaRPr>
          </a:p>
        </p:txBody>
      </p:sp>
      <p:sp>
        <p:nvSpPr>
          <p:cNvPr id="9" name="TextBox 8"/>
          <p:cNvSpPr txBox="1"/>
          <p:nvPr/>
        </p:nvSpPr>
        <p:spPr>
          <a:xfrm>
            <a:off x="9065623" y="5146767"/>
            <a:ext cx="797013" cy="369332"/>
          </a:xfrm>
          <a:prstGeom prst="rect">
            <a:avLst/>
          </a:prstGeom>
          <a:noFill/>
        </p:spPr>
        <p:txBody>
          <a:bodyPr wrap="none" rtlCol="0">
            <a:spAutoFit/>
          </a:bodyPr>
          <a:lstStyle/>
          <a:p>
            <a:r>
              <a:rPr lang="en-US" dirty="0" smtClean="0"/>
              <a:t>Fig. 13</a:t>
            </a:r>
            <a:endParaRPr lang="en-US" dirty="0"/>
          </a:p>
        </p:txBody>
      </p:sp>
      <p:pic>
        <p:nvPicPr>
          <p:cNvPr id="210947" name="Picture 3" descr="Slip Ring Rotor Or Wound Rotor In Three Phase Induction Motor ..."/>
          <p:cNvPicPr>
            <a:picLocks noChangeAspect="1" noChangeArrowheads="1"/>
          </p:cNvPicPr>
          <p:nvPr/>
        </p:nvPicPr>
        <p:blipFill>
          <a:blip r:embed="rId3" cstate="print"/>
          <a:srcRect/>
          <a:stretch>
            <a:fillRect/>
          </a:stretch>
        </p:blipFill>
        <p:spPr bwMode="auto">
          <a:xfrm>
            <a:off x="7006053" y="1828800"/>
            <a:ext cx="4907273" cy="33702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WORKING OF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
        <p:nvSpPr>
          <p:cNvPr id="7" name="Rectangle 6"/>
          <p:cNvSpPr/>
          <p:nvPr/>
        </p:nvSpPr>
        <p:spPr>
          <a:xfrm>
            <a:off x="809898" y="1685108"/>
            <a:ext cx="10528662" cy="3970318"/>
          </a:xfrm>
          <a:prstGeom prst="rect">
            <a:avLst/>
          </a:prstGeom>
        </p:spPr>
        <p:txBody>
          <a:bodyPr wrap="square">
            <a:spAutoFit/>
          </a:bodyPr>
          <a:lstStyle/>
          <a:p>
            <a:pPr lvl="0" algn="just">
              <a:buFont typeface="Arial" pitchFamily="34" charset="0"/>
              <a:buChar char="•"/>
            </a:pPr>
            <a:r>
              <a:rPr lang="en-US" sz="2800" dirty="0" smtClean="0"/>
              <a:t>When 3 phase supply is given to the motor, the resulting current generates a magnetic flux “Ø”.</a:t>
            </a:r>
          </a:p>
          <a:p>
            <a:pPr lvl="0" algn="just">
              <a:buFont typeface="Arial" pitchFamily="34" charset="0"/>
              <a:buChar char="•"/>
            </a:pPr>
            <a:r>
              <a:rPr lang="en-US" sz="2800" dirty="0" smtClean="0"/>
              <a:t>Due to the switching sequence of 3 phase current in R, Y, and B, the generated flux rotates around the rotor conductor.</a:t>
            </a:r>
          </a:p>
          <a:p>
            <a:pPr lvl="0" algn="just">
              <a:buFont typeface="Arial" pitchFamily="34" charset="0"/>
              <a:buChar char="•"/>
            </a:pPr>
            <a:r>
              <a:rPr lang="en-US" sz="2800" dirty="0" smtClean="0"/>
              <a:t>According to Faraday’s law, which states that –“an </a:t>
            </a:r>
            <a:r>
              <a:rPr lang="en-US" sz="2800" dirty="0" err="1" smtClean="0"/>
              <a:t>emf</a:t>
            </a:r>
            <a:r>
              <a:rPr lang="en-US" sz="2800" dirty="0" smtClean="0"/>
              <a:t> induced in any closed circuit is due to the rate of change of magnetic flux through the circuit”, </a:t>
            </a:r>
            <a:r>
              <a:rPr lang="en-US" sz="2800" dirty="0" err="1" smtClean="0"/>
              <a:t>Emf</a:t>
            </a:r>
            <a:r>
              <a:rPr lang="en-US" sz="2800" dirty="0" smtClean="0"/>
              <a:t> is induced in the copper bar and due to this, current flows in the rotor.</a:t>
            </a:r>
          </a:p>
          <a:p>
            <a:pPr lvl="0" algn="just"/>
            <a:r>
              <a:rPr lang="en-US" sz="2800" dirty="0" smtClean="0"/>
              <a:t> </a:t>
            </a:r>
            <a:endParaRPr lang="en-US" sz="28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WORKING OF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
        <p:nvSpPr>
          <p:cNvPr id="7" name="Rectangle 6"/>
          <p:cNvSpPr/>
          <p:nvPr/>
        </p:nvSpPr>
        <p:spPr>
          <a:xfrm>
            <a:off x="809898" y="1685108"/>
            <a:ext cx="10528662" cy="3539430"/>
          </a:xfrm>
          <a:prstGeom prst="rect">
            <a:avLst/>
          </a:prstGeom>
        </p:spPr>
        <p:txBody>
          <a:bodyPr wrap="square">
            <a:spAutoFit/>
          </a:bodyPr>
          <a:lstStyle/>
          <a:p>
            <a:pPr lvl="0" algn="just">
              <a:buFont typeface="Arial" pitchFamily="34" charset="0"/>
              <a:buChar char="•"/>
            </a:pPr>
            <a:r>
              <a:rPr lang="en-US" sz="2800" dirty="0" smtClean="0"/>
              <a:t>The direction of the rotor can be given by Lenz law which states that – “the direction of induced current will be in the opposite of the motion causing it.”</a:t>
            </a:r>
          </a:p>
          <a:p>
            <a:pPr lvl="0" algn="just">
              <a:buFont typeface="Arial" pitchFamily="34" charset="0"/>
              <a:buChar char="•"/>
            </a:pPr>
            <a:r>
              <a:rPr lang="en-US" sz="2800" dirty="0" smtClean="0"/>
              <a:t>Here the relative velocity between the rotating flux and static rotor conductor is the cause of current generation; hence the rotor will rotate in the same direction to reduce the cause i.e. the relative velocity, thus rotating the rotor of the induction motor.</a:t>
            </a:r>
          </a:p>
          <a:p>
            <a:pPr lvl="0" algn="just"/>
            <a:r>
              <a:rPr lang="en-US" sz="2800" dirty="0" smtClean="0"/>
              <a:t> </a:t>
            </a:r>
            <a:endParaRPr lang="en-US" sz="2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cs typeface="Calibri" pitchFamily="34" charset="0"/>
              </a:rPr>
              <a:t>SPEED OF THREE PHASE INDUCTION MOTOR</a:t>
            </a:r>
            <a:endParaRPr lang="en-US" dirty="0"/>
          </a:p>
        </p:txBody>
      </p:sp>
      <p:sp>
        <p:nvSpPr>
          <p:cNvPr id="3" name="Content Placeholder 2"/>
          <p:cNvSpPr>
            <a:spLocks noGrp="1"/>
          </p:cNvSpPr>
          <p:nvPr>
            <p:ph idx="1"/>
          </p:nvPr>
        </p:nvSpPr>
        <p:spPr/>
        <p:txBody>
          <a:bodyPr/>
          <a:lstStyle/>
          <a:p>
            <a:r>
              <a:rPr lang="en-US" dirty="0" smtClean="0"/>
              <a:t>The speed of three phase induction motor is given by:</a:t>
            </a:r>
          </a:p>
          <a:p>
            <a:pPr algn="ctr">
              <a:buNone/>
            </a:pPr>
            <a:r>
              <a:rPr lang="en-US" dirty="0" smtClean="0"/>
              <a:t>Ns = 120f/P</a:t>
            </a:r>
          </a:p>
          <a:p>
            <a:pPr>
              <a:buNone/>
            </a:pPr>
            <a:endParaRPr lang="en-US" dirty="0" smtClean="0"/>
          </a:p>
          <a:p>
            <a:pPr>
              <a:buNone/>
            </a:pPr>
            <a:r>
              <a:rPr lang="en-US" dirty="0" smtClean="0"/>
              <a:t>Where </a:t>
            </a:r>
          </a:p>
          <a:p>
            <a:pPr>
              <a:buNone/>
            </a:pPr>
            <a:r>
              <a:rPr lang="en-US" dirty="0" smtClean="0"/>
              <a:t>Ns = synchronous speed</a:t>
            </a:r>
          </a:p>
          <a:p>
            <a:pPr>
              <a:buNone/>
            </a:pPr>
            <a:r>
              <a:rPr lang="en-US" dirty="0" smtClean="0"/>
              <a:t>f = supply frequency</a:t>
            </a:r>
          </a:p>
          <a:p>
            <a:pPr>
              <a:buNone/>
            </a:pPr>
            <a:r>
              <a:rPr lang="en-US" dirty="0" smtClean="0"/>
              <a:t>P = number of poles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6" y="365125"/>
            <a:ext cx="10097589" cy="1325563"/>
          </a:xfrm>
        </p:spPr>
        <p:style>
          <a:lnRef idx="2">
            <a:schemeClr val="dk1"/>
          </a:lnRef>
          <a:fillRef idx="1">
            <a:schemeClr val="lt1"/>
          </a:fillRef>
          <a:effectRef idx="0">
            <a:schemeClr val="dk1"/>
          </a:effectRef>
          <a:fontRef idx="minor">
            <a:schemeClr val="dk1"/>
          </a:fontRef>
        </p:style>
        <p:txBody>
          <a:bodyPr>
            <a:noAutofit/>
          </a:bodyPr>
          <a:lstStyle/>
          <a:p>
            <a:pPr algn="ctr"/>
            <a:r>
              <a:rPr lang="en-US" dirty="0" smtClean="0"/>
              <a:t/>
            </a:r>
            <a:br>
              <a:rPr lang="en-US" dirty="0" smtClean="0"/>
            </a:br>
            <a:r>
              <a:rPr lang="en-US" b="1" dirty="0" smtClean="0">
                <a:latin typeface="+mj-lt"/>
              </a:rPr>
              <a:t>SLIP OF SINGLE PHASE INDUCTION MOTOR</a:t>
            </a:r>
            <a:r>
              <a:rPr lang="en-US" dirty="0" smtClean="0"/>
              <a:t/>
            </a:r>
            <a:br>
              <a:rPr lang="en-US" dirty="0" smtClean="0"/>
            </a:br>
            <a:endParaRPr lang="en-US" dirty="0"/>
          </a:p>
        </p:txBody>
      </p:sp>
      <p:sp>
        <p:nvSpPr>
          <p:cNvPr id="3" name="Content Placeholder 2"/>
          <p:cNvSpPr>
            <a:spLocks noGrp="1"/>
          </p:cNvSpPr>
          <p:nvPr>
            <p:ph idx="1"/>
          </p:nvPr>
        </p:nvSpPr>
        <p:spPr>
          <a:xfrm>
            <a:off x="888274" y="1812562"/>
            <a:ext cx="10267406" cy="4614364"/>
          </a:xfrm>
        </p:spPr>
        <p:txBody>
          <a:bodyPr>
            <a:noAutofit/>
          </a:bodyPr>
          <a:lstStyle/>
          <a:p>
            <a:pPr algn="just"/>
            <a:r>
              <a:rPr lang="en-US" dirty="0" smtClean="0"/>
              <a:t>The slip in an induction motor is the difference between the main flux speed and their rotor speed. </a:t>
            </a:r>
          </a:p>
          <a:p>
            <a:pPr algn="just"/>
            <a:r>
              <a:rPr lang="en-US" dirty="0" smtClean="0"/>
              <a:t>The symbol S represents the slip. It is expressed by the percentage of synchronous speed. Mathematically, it is written as</a:t>
            </a:r>
          </a:p>
          <a:p>
            <a:pPr algn="just"/>
            <a:endParaRPr lang="en-US" dirty="0" smtClean="0"/>
          </a:p>
          <a:p>
            <a:pPr algn="just"/>
            <a:endParaRPr lang="en-US" dirty="0" smtClean="0"/>
          </a:p>
          <a:p>
            <a:pPr algn="just"/>
            <a:endParaRPr lang="en-US" dirty="0" smtClean="0"/>
          </a:p>
          <a:p>
            <a:pPr algn="just">
              <a:buNone/>
            </a:pPr>
            <a:r>
              <a:rPr lang="en-US" dirty="0" smtClean="0"/>
              <a:t>Where Ns is synchronous speed and Nr is rotor speed.</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pic>
        <p:nvPicPr>
          <p:cNvPr id="203778" name="Picture 2" descr="equation-slip-in-induction-motor"/>
          <p:cNvPicPr>
            <a:picLocks noChangeAspect="1" noChangeArrowheads="1"/>
          </p:cNvPicPr>
          <p:nvPr/>
        </p:nvPicPr>
        <p:blipFill>
          <a:blip r:embed="rId2" cstate="print"/>
          <a:srcRect/>
          <a:stretch>
            <a:fillRect/>
          </a:stretch>
        </p:blipFill>
        <p:spPr bwMode="auto">
          <a:xfrm>
            <a:off x="4257314" y="3724638"/>
            <a:ext cx="2914196" cy="1330069"/>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6" y="365125"/>
            <a:ext cx="10097589" cy="1325563"/>
          </a:xfrm>
        </p:spPr>
        <p:style>
          <a:lnRef idx="2">
            <a:schemeClr val="dk1"/>
          </a:lnRef>
          <a:fillRef idx="1">
            <a:schemeClr val="lt1"/>
          </a:fillRef>
          <a:effectRef idx="0">
            <a:schemeClr val="dk1"/>
          </a:effectRef>
          <a:fontRef idx="minor">
            <a:schemeClr val="dk1"/>
          </a:fontRef>
        </p:style>
        <p:txBody>
          <a:bodyPr>
            <a:noAutofit/>
          </a:bodyPr>
          <a:lstStyle/>
          <a:p>
            <a:pPr algn="ctr"/>
            <a:r>
              <a:rPr lang="en-US" dirty="0" smtClean="0"/>
              <a:t/>
            </a:r>
            <a:br>
              <a:rPr lang="en-US" dirty="0" smtClean="0"/>
            </a:br>
            <a:r>
              <a:rPr lang="en-US" b="1" dirty="0" smtClean="0">
                <a:latin typeface="+mj-lt"/>
              </a:rPr>
              <a:t>ROTOR SPEED OF SINGLE PHASE INDUCTION MOTOR</a:t>
            </a:r>
            <a:r>
              <a:rPr lang="en-US" dirty="0" smtClean="0"/>
              <a:t/>
            </a:r>
            <a:br>
              <a:rPr lang="en-US" dirty="0" smtClean="0"/>
            </a:br>
            <a:endParaRPr lang="en-US" dirty="0"/>
          </a:p>
        </p:txBody>
      </p:sp>
      <p:sp>
        <p:nvSpPr>
          <p:cNvPr id="3" name="Content Placeholder 2"/>
          <p:cNvSpPr>
            <a:spLocks noGrp="1"/>
          </p:cNvSpPr>
          <p:nvPr>
            <p:ph idx="1"/>
          </p:nvPr>
        </p:nvSpPr>
        <p:spPr>
          <a:xfrm>
            <a:off x="888274" y="1812562"/>
            <a:ext cx="10267406" cy="4614364"/>
          </a:xfrm>
        </p:spPr>
        <p:txBody>
          <a:bodyPr>
            <a:noAutofit/>
          </a:bodyPr>
          <a:lstStyle/>
          <a:p>
            <a:pPr algn="just"/>
            <a:r>
              <a:rPr lang="en-US" dirty="0" smtClean="0"/>
              <a:t>The rotor speed is given by the equation shown below.</a:t>
            </a:r>
          </a:p>
          <a:p>
            <a:pPr algn="just"/>
            <a:endParaRPr lang="en-US" dirty="0" smtClean="0"/>
          </a:p>
          <a:p>
            <a:pPr algn="just"/>
            <a:endParaRPr lang="en-US" dirty="0" smtClean="0"/>
          </a:p>
          <a:p>
            <a:pPr>
              <a:buNone/>
            </a:pPr>
            <a:r>
              <a:rPr lang="en-US" dirty="0" smtClean="0"/>
              <a:t>Alternatively, if</a:t>
            </a:r>
          </a:p>
          <a:p>
            <a:r>
              <a:rPr lang="en-US" dirty="0" smtClean="0"/>
              <a:t>Ns is the synchronous speed in revolution per second</a:t>
            </a:r>
          </a:p>
          <a:p>
            <a:r>
              <a:rPr lang="en-US" dirty="0" smtClean="0"/>
              <a:t>Nr is the actual rotor speed in revolution per second.</a:t>
            </a:r>
          </a:p>
          <a:p>
            <a:r>
              <a:rPr lang="en-US" dirty="0" smtClean="0"/>
              <a:t>S is slip.</a:t>
            </a:r>
          </a:p>
          <a:p>
            <a:pPr algn="just">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pic>
        <p:nvPicPr>
          <p:cNvPr id="206850" name="Picture 2" descr="SLIP-IN-INDUCTION-MOTOR-EQ-3"/>
          <p:cNvPicPr>
            <a:picLocks noChangeAspect="1" noChangeArrowheads="1"/>
          </p:cNvPicPr>
          <p:nvPr/>
        </p:nvPicPr>
        <p:blipFill>
          <a:blip r:embed="rId2" cstate="print"/>
          <a:srcRect/>
          <a:stretch>
            <a:fillRect/>
          </a:stretch>
        </p:blipFill>
        <p:spPr bwMode="auto">
          <a:xfrm>
            <a:off x="4322627" y="2674167"/>
            <a:ext cx="2380372" cy="669925"/>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966" y="365125"/>
            <a:ext cx="10097589" cy="1325563"/>
          </a:xfrm>
        </p:spPr>
        <p:style>
          <a:lnRef idx="2">
            <a:schemeClr val="dk1"/>
          </a:lnRef>
          <a:fillRef idx="1">
            <a:schemeClr val="lt1"/>
          </a:fillRef>
          <a:effectRef idx="0">
            <a:schemeClr val="dk1"/>
          </a:effectRef>
          <a:fontRef idx="minor">
            <a:schemeClr val="dk1"/>
          </a:fontRef>
        </p:style>
        <p:txBody>
          <a:bodyPr>
            <a:noAutofit/>
          </a:bodyPr>
          <a:lstStyle/>
          <a:p>
            <a:pPr algn="ctr"/>
            <a:r>
              <a:rPr lang="en-US" dirty="0" smtClean="0"/>
              <a:t/>
            </a:r>
            <a:br>
              <a:rPr lang="en-US" dirty="0" smtClean="0"/>
            </a:br>
            <a:r>
              <a:rPr lang="en-US" b="1" dirty="0" smtClean="0">
                <a:latin typeface="+mj-lt"/>
              </a:rPr>
              <a:t>FREQUENCY OF ROTOR</a:t>
            </a:r>
            <a:r>
              <a:rPr lang="en-US" dirty="0" smtClean="0"/>
              <a:t/>
            </a:r>
            <a:br>
              <a:rPr lang="en-US" dirty="0" smtClean="0"/>
            </a:br>
            <a:endParaRPr lang="en-US" dirty="0"/>
          </a:p>
        </p:txBody>
      </p:sp>
      <p:sp>
        <p:nvSpPr>
          <p:cNvPr id="3" name="Content Placeholder 2"/>
          <p:cNvSpPr>
            <a:spLocks noGrp="1"/>
          </p:cNvSpPr>
          <p:nvPr>
            <p:ph idx="1"/>
          </p:nvPr>
        </p:nvSpPr>
        <p:spPr>
          <a:xfrm>
            <a:off x="888274" y="1812562"/>
            <a:ext cx="10267406" cy="4614364"/>
          </a:xfrm>
        </p:spPr>
        <p:txBody>
          <a:bodyPr>
            <a:noAutofit/>
          </a:bodyPr>
          <a:lstStyle/>
          <a:p>
            <a:pPr algn="just">
              <a:buNone/>
            </a:pPr>
            <a:r>
              <a:rPr lang="en-US" dirty="0" smtClean="0"/>
              <a:t>The rotor frequency is given by the equation shown below.</a:t>
            </a:r>
          </a:p>
          <a:p>
            <a:pPr algn="ctr">
              <a:buNone/>
            </a:pPr>
            <a:r>
              <a:rPr lang="en-US" dirty="0" err="1" smtClean="0"/>
              <a:t>fr</a:t>
            </a:r>
            <a:r>
              <a:rPr lang="en-US" dirty="0" smtClean="0"/>
              <a:t> = s. </a:t>
            </a:r>
            <a:r>
              <a:rPr lang="en-US" dirty="0" err="1" smtClean="0"/>
              <a:t>fs</a:t>
            </a:r>
            <a:endParaRPr lang="en-US" dirty="0" smtClean="0"/>
          </a:p>
          <a:p>
            <a:pPr algn="just">
              <a:buNone/>
            </a:pPr>
            <a:r>
              <a:rPr lang="en-US" dirty="0" smtClean="0"/>
              <a:t>Where </a:t>
            </a:r>
            <a:r>
              <a:rPr lang="en-US" dirty="0" err="1" smtClean="0"/>
              <a:t>fr</a:t>
            </a:r>
            <a:r>
              <a:rPr lang="en-US" dirty="0" smtClean="0"/>
              <a:t> is rotor frequency</a:t>
            </a:r>
          </a:p>
          <a:p>
            <a:pPr algn="just"/>
            <a:r>
              <a:rPr lang="en-US" dirty="0" smtClean="0"/>
              <a:t>s is slip</a:t>
            </a:r>
          </a:p>
          <a:p>
            <a:pPr algn="just"/>
            <a:r>
              <a:rPr lang="en-US" dirty="0" err="1" smtClean="0"/>
              <a:t>fs</a:t>
            </a:r>
            <a:r>
              <a:rPr lang="en-US" dirty="0" smtClean="0"/>
              <a:t> is supply frequency</a:t>
            </a:r>
          </a:p>
          <a:p>
            <a:pPr algn="just">
              <a:buNone/>
            </a:pPr>
            <a:r>
              <a:rPr lang="en-US" dirty="0" smtClean="0"/>
              <a:t>At standstill condition </a:t>
            </a:r>
          </a:p>
          <a:p>
            <a:pPr algn="just">
              <a:buNone/>
            </a:pPr>
            <a:r>
              <a:rPr lang="en-US" dirty="0" smtClean="0"/>
              <a:t>Slip s = 1, then rotor frequency</a:t>
            </a:r>
          </a:p>
          <a:p>
            <a:pPr algn="ctr">
              <a:buNone/>
            </a:pPr>
            <a:r>
              <a:rPr lang="en-US" dirty="0" err="1" smtClean="0"/>
              <a:t>fr</a:t>
            </a:r>
            <a:r>
              <a:rPr lang="en-US" dirty="0" smtClean="0"/>
              <a:t> = 1. </a:t>
            </a:r>
            <a:r>
              <a:rPr lang="en-US" dirty="0" err="1" smtClean="0"/>
              <a:t>fs</a:t>
            </a:r>
            <a:endParaRPr lang="en-US" dirty="0" smtClean="0"/>
          </a:p>
          <a:p>
            <a:pPr algn="just">
              <a:buNone/>
            </a:pPr>
            <a:endParaRPr lang="en-US" dirty="0" smtClean="0"/>
          </a:p>
          <a:p>
            <a:pPr algn="just"/>
            <a:endParaRPr lang="en-US" dirty="0" smtClean="0"/>
          </a:p>
          <a:p>
            <a:pPr algn="just">
              <a:buNone/>
            </a:pPr>
            <a:endParaRPr lang="en-US" dirty="0" smtClean="0"/>
          </a:p>
          <a:p>
            <a:pPr algn="just"/>
            <a:endParaRPr lang="en-US" dirty="0" smtClean="0"/>
          </a:p>
          <a:p>
            <a:pPr algn="just">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ADVANTAGES OF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sp>
        <p:nvSpPr>
          <p:cNvPr id="7" name="Rectangle 6"/>
          <p:cNvSpPr/>
          <p:nvPr/>
        </p:nvSpPr>
        <p:spPr>
          <a:xfrm>
            <a:off x="809898" y="1685108"/>
            <a:ext cx="10528662" cy="3970318"/>
          </a:xfrm>
          <a:prstGeom prst="rect">
            <a:avLst/>
          </a:prstGeom>
        </p:spPr>
        <p:txBody>
          <a:bodyPr wrap="square">
            <a:spAutoFit/>
          </a:bodyPr>
          <a:lstStyle/>
          <a:p>
            <a:pPr lvl="0" algn="just"/>
            <a:r>
              <a:rPr lang="en-US" sz="2800" b="1" dirty="0" smtClean="0"/>
              <a:t>Advantages:</a:t>
            </a:r>
          </a:p>
          <a:p>
            <a:pPr algn="just">
              <a:buFont typeface="Arial" pitchFamily="34" charset="0"/>
              <a:buChar char="•"/>
            </a:pPr>
            <a:r>
              <a:rPr lang="en-US" sz="2800" dirty="0" smtClean="0"/>
              <a:t>They are robust and simple in construction with very few moving parts</a:t>
            </a:r>
          </a:p>
          <a:p>
            <a:pPr algn="just">
              <a:buFont typeface="Arial" pitchFamily="34" charset="0"/>
              <a:buChar char="•"/>
            </a:pPr>
            <a:r>
              <a:rPr lang="en-US" sz="2800" dirty="0" smtClean="0"/>
              <a:t>They can efficiently operate in a rugged and harsh environment such as in seagoing vessels</a:t>
            </a:r>
          </a:p>
          <a:p>
            <a:pPr algn="just">
              <a:buFont typeface="Arial" pitchFamily="34" charset="0"/>
              <a:buChar char="•"/>
            </a:pPr>
            <a:r>
              <a:rPr lang="en-US" sz="2800" dirty="0" smtClean="0"/>
              <a:t>The maintenance cost of 3 phase induction motor is less and unlike that of DC or </a:t>
            </a:r>
            <a:r>
              <a:rPr lang="en-US" sz="2800" dirty="0" err="1" smtClean="0"/>
              <a:t>synchro</a:t>
            </a:r>
            <a:r>
              <a:rPr lang="en-US" sz="2800" dirty="0" smtClean="0"/>
              <a:t> motor, they do not have parts like brushes, commuters or slip rings etc.</a:t>
            </a:r>
          </a:p>
          <a:p>
            <a:pPr lvl="0" algn="just"/>
            <a:endParaRPr lang="en-US" sz="2800" dirty="0" smtClean="0"/>
          </a:p>
          <a:p>
            <a:pPr lvl="0" algn="just"/>
            <a:r>
              <a:rPr lang="en-US" sz="2800" dirty="0" smtClean="0"/>
              <a:t> </a:t>
            </a:r>
            <a:endParaRPr lang="en-US" sz="28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DISADVANTAGES OF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35</a:t>
            </a:fld>
            <a:endParaRPr lang="en-US"/>
          </a:p>
        </p:txBody>
      </p:sp>
      <p:sp>
        <p:nvSpPr>
          <p:cNvPr id="7" name="Rectangle 6"/>
          <p:cNvSpPr/>
          <p:nvPr/>
        </p:nvSpPr>
        <p:spPr>
          <a:xfrm>
            <a:off x="809898" y="1685108"/>
            <a:ext cx="10528662" cy="3539430"/>
          </a:xfrm>
          <a:prstGeom prst="rect">
            <a:avLst/>
          </a:prstGeom>
        </p:spPr>
        <p:txBody>
          <a:bodyPr wrap="square">
            <a:spAutoFit/>
          </a:bodyPr>
          <a:lstStyle/>
          <a:p>
            <a:pPr lvl="0" algn="just"/>
            <a:r>
              <a:rPr lang="en-US" sz="2800" b="1" dirty="0" smtClean="0"/>
              <a:t>Disadvantages:</a:t>
            </a:r>
          </a:p>
          <a:p>
            <a:pPr lvl="0" algn="just">
              <a:buFont typeface="Arial" pitchFamily="34" charset="0"/>
              <a:buChar char="•"/>
            </a:pPr>
            <a:r>
              <a:rPr lang="en-US" sz="2800" dirty="0" smtClean="0"/>
              <a:t>During starting, it draws high initial starting current when attached to a heavy load.</a:t>
            </a:r>
          </a:p>
          <a:p>
            <a:pPr lvl="0" algn="just">
              <a:buFont typeface="Arial" pitchFamily="34" charset="0"/>
              <a:buChar char="•"/>
            </a:pPr>
            <a:r>
              <a:rPr lang="en-US" sz="2800" dirty="0" smtClean="0"/>
              <a:t>Induction motor operates at lagging power factor which results in increased I2R losses and efficiency reduction, especially at low load.</a:t>
            </a:r>
          </a:p>
          <a:p>
            <a:pPr lvl="0" algn="just">
              <a:buFont typeface="Arial" pitchFamily="34" charset="0"/>
              <a:buChar char="•"/>
            </a:pPr>
            <a:r>
              <a:rPr lang="en-US" sz="2800" dirty="0" smtClean="0"/>
              <a:t>Speed control of 3 phase induction motor is difficult as compared to DC motors.</a:t>
            </a:r>
          </a:p>
          <a:p>
            <a:pPr lvl="0" algn="just"/>
            <a:r>
              <a:rPr lang="en-US" sz="2800" dirty="0" smtClean="0"/>
              <a:t> </a:t>
            </a:r>
            <a:endParaRPr lang="en-US" sz="2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169182"/>
            <a:ext cx="10515600" cy="1325563"/>
          </a:xfrm>
        </p:spPr>
        <p:style>
          <a:lnRef idx="2">
            <a:schemeClr val="dk1"/>
          </a:lnRef>
          <a:fillRef idx="1">
            <a:schemeClr val="lt1"/>
          </a:fillRef>
          <a:effectRef idx="0">
            <a:schemeClr val="dk1"/>
          </a:effectRef>
          <a:fontRef idx="minor">
            <a:schemeClr val="dk1"/>
          </a:fontRef>
        </p:style>
        <p:txBody>
          <a:bodyPr>
            <a:normAutofit/>
          </a:bodyPr>
          <a:lstStyle/>
          <a:p>
            <a:pPr algn="ctr"/>
            <a:r>
              <a:rPr lang="en-US" b="1" dirty="0" smtClean="0">
                <a:latin typeface="+mj-lt"/>
                <a:cs typeface="Calibri" pitchFamily="34" charset="0"/>
              </a:rPr>
              <a:t>APPLICATIONS OF THREE PHASE INDUCTION MOTOR</a:t>
            </a:r>
            <a:endParaRPr lang="en-US" b="1" dirty="0">
              <a:latin typeface="+mj-lt"/>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36</a:t>
            </a:fld>
            <a:endParaRPr lang="en-US"/>
          </a:p>
        </p:txBody>
      </p:sp>
      <p:sp>
        <p:nvSpPr>
          <p:cNvPr id="7" name="Rectangle 6"/>
          <p:cNvSpPr/>
          <p:nvPr/>
        </p:nvSpPr>
        <p:spPr>
          <a:xfrm>
            <a:off x="809898" y="1685108"/>
            <a:ext cx="10528662" cy="2677656"/>
          </a:xfrm>
          <a:prstGeom prst="rect">
            <a:avLst/>
          </a:prstGeom>
        </p:spPr>
        <p:txBody>
          <a:bodyPr wrap="square">
            <a:spAutoFit/>
          </a:bodyPr>
          <a:lstStyle/>
          <a:p>
            <a:pPr lvl="0">
              <a:buFont typeface="Arial" pitchFamily="34" charset="0"/>
              <a:buChar char="•"/>
            </a:pPr>
            <a:r>
              <a:rPr lang="en-US" sz="2800" dirty="0" smtClean="0"/>
              <a:t>Lifts</a:t>
            </a:r>
          </a:p>
          <a:p>
            <a:pPr lvl="0">
              <a:buFont typeface="Arial" pitchFamily="34" charset="0"/>
              <a:buChar char="•"/>
            </a:pPr>
            <a:r>
              <a:rPr lang="en-US" sz="2800" dirty="0" smtClean="0"/>
              <a:t>Cranes</a:t>
            </a:r>
          </a:p>
          <a:p>
            <a:pPr lvl="0">
              <a:buFont typeface="Arial" pitchFamily="34" charset="0"/>
              <a:buChar char="•"/>
            </a:pPr>
            <a:r>
              <a:rPr lang="en-US" sz="2800" dirty="0" smtClean="0"/>
              <a:t>Large capacity exhaust fans</a:t>
            </a:r>
          </a:p>
          <a:p>
            <a:pPr lvl="0">
              <a:buFont typeface="Arial" pitchFamily="34" charset="0"/>
              <a:buChar char="•"/>
            </a:pPr>
            <a:r>
              <a:rPr lang="en-US" sz="2800" dirty="0" smtClean="0"/>
              <a:t>Engine Auxiliary pumps</a:t>
            </a:r>
          </a:p>
          <a:p>
            <a:pPr lvl="0">
              <a:buFont typeface="Arial" pitchFamily="34" charset="0"/>
              <a:buChar char="•"/>
            </a:pPr>
            <a:r>
              <a:rPr lang="en-US" sz="2800" dirty="0" smtClean="0"/>
              <a:t>Engine blower fan motor</a:t>
            </a:r>
          </a:p>
          <a:p>
            <a:pPr lvl="0" algn="just"/>
            <a:r>
              <a:rPr lang="en-US" sz="2800" dirty="0" smtClean="0"/>
              <a:t> </a:t>
            </a:r>
            <a:endParaRPr lang="en-US" sz="28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37</a:t>
            </a:fld>
            <a:endParaRPr lang="en-US"/>
          </a:p>
        </p:txBody>
      </p:sp>
      <p:sp>
        <p:nvSpPr>
          <p:cNvPr id="5" name="Title 4"/>
          <p:cNvSpPr>
            <a:spLocks noGrp="1"/>
          </p:cNvSpPr>
          <p:nvPr>
            <p:ph type="title"/>
          </p:nvPr>
        </p:nvSpPr>
        <p:spPr/>
        <p:txBody>
          <a:bodyPr/>
          <a:lstStyle/>
          <a:p>
            <a:endParaRPr lang="en-US"/>
          </a:p>
        </p:txBody>
      </p:sp>
      <p:sp>
        <p:nvSpPr>
          <p:cNvPr id="6" name="Title 1"/>
          <p:cNvSpPr txBox="1">
            <a:spLocks/>
          </p:cNvSpPr>
          <p:nvPr/>
        </p:nvSpPr>
        <p:spPr>
          <a:xfrm>
            <a:off x="838200" y="169816"/>
            <a:ext cx="10515600" cy="121484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dk1"/>
                </a:solidFill>
                <a:effectLst/>
                <a:uLnTx/>
                <a:uFillTx/>
                <a:latin typeface="+mj-lt"/>
                <a:ea typeface="+mn-ea"/>
                <a:cs typeface="+mn-cs"/>
              </a:rPr>
              <a:t>DIFFERENCE</a:t>
            </a:r>
            <a:r>
              <a:rPr kumimoji="0" lang="en-US" sz="4400" b="1" i="0" u="none" strike="noStrike" kern="1200" cap="none" spc="0" normalizeH="0" noProof="0" dirty="0" smtClean="0">
                <a:ln>
                  <a:noFill/>
                </a:ln>
                <a:solidFill>
                  <a:schemeClr val="dk1"/>
                </a:solidFill>
                <a:effectLst/>
                <a:uLnTx/>
                <a:uFillTx/>
                <a:latin typeface="+mj-lt"/>
                <a:ea typeface="+mn-ea"/>
                <a:cs typeface="+mn-cs"/>
              </a:rPr>
              <a:t> BETWEEN SINGLE PHASE &amp; THREE PHASE INDUCTION MOTOR</a:t>
            </a:r>
            <a:endParaRPr kumimoji="0" lang="en-US" sz="4400" b="1" i="0" u="none" strike="noStrike" kern="1200" cap="none" spc="0" normalizeH="0" baseline="0" noProof="0" dirty="0">
              <a:ln>
                <a:noFill/>
              </a:ln>
              <a:solidFill>
                <a:schemeClr val="dk1"/>
              </a:solidFill>
              <a:effectLst/>
              <a:uLnTx/>
              <a:uFillTx/>
              <a:latin typeface="+mj-lt"/>
              <a:ea typeface="+mn-ea"/>
              <a:cs typeface="+mn-cs"/>
            </a:endParaRPr>
          </a:p>
        </p:txBody>
      </p:sp>
      <p:graphicFrame>
        <p:nvGraphicFramePr>
          <p:cNvPr id="7" name="Table 6"/>
          <p:cNvGraphicFramePr>
            <a:graphicFrameLocks noGrp="1"/>
          </p:cNvGraphicFramePr>
          <p:nvPr/>
        </p:nvGraphicFramePr>
        <p:xfrm>
          <a:off x="809897" y="1593667"/>
          <a:ext cx="10567852" cy="3897358"/>
        </p:xfrm>
        <a:graphic>
          <a:graphicData uri="http://schemas.openxmlformats.org/drawingml/2006/table">
            <a:tbl>
              <a:tblPr/>
              <a:tblGrid>
                <a:gridCol w="2105575">
                  <a:extLst>
                    <a:ext uri="{9D8B030D-6E8A-4147-A177-3AD203B41FA5}">
                      <a16:colId xmlns:a16="http://schemas.microsoft.com/office/drawing/2014/main" val="20000"/>
                    </a:ext>
                  </a:extLst>
                </a:gridCol>
                <a:gridCol w="4304433">
                  <a:extLst>
                    <a:ext uri="{9D8B030D-6E8A-4147-A177-3AD203B41FA5}">
                      <a16:colId xmlns:a16="http://schemas.microsoft.com/office/drawing/2014/main" val="20001"/>
                    </a:ext>
                  </a:extLst>
                </a:gridCol>
                <a:gridCol w="4157844">
                  <a:extLst>
                    <a:ext uri="{9D8B030D-6E8A-4147-A177-3AD203B41FA5}">
                      <a16:colId xmlns:a16="http://schemas.microsoft.com/office/drawing/2014/main" val="20002"/>
                    </a:ext>
                  </a:extLst>
                </a:gridCol>
              </a:tblGrid>
              <a:tr h="509453">
                <a:tc>
                  <a:txBody>
                    <a:bodyPr/>
                    <a:lstStyle/>
                    <a:p>
                      <a:pPr algn="ctr" fontAlgn="ctr"/>
                      <a:r>
                        <a:rPr lang="en-US" sz="2800" b="1" i="0" u="none" strike="noStrike" dirty="0" smtClean="0">
                          <a:solidFill>
                            <a:srgbClr val="000000"/>
                          </a:solidFill>
                          <a:latin typeface="Calibri" pitchFamily="34" charset="0"/>
                          <a:cs typeface="Calibri" pitchFamily="34" charset="0"/>
                        </a:rPr>
                        <a:t>Parameters</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800" b="1" i="0" u="none" strike="noStrike" dirty="0" smtClean="0">
                          <a:solidFill>
                            <a:srgbClr val="000000"/>
                          </a:solidFill>
                          <a:latin typeface="Calibri" pitchFamily="34" charset="0"/>
                          <a:cs typeface="Calibri" pitchFamily="34" charset="0"/>
                        </a:rPr>
                        <a:t>Single</a:t>
                      </a:r>
                      <a:r>
                        <a:rPr lang="en-US" sz="2800" b="1" i="0" u="none" strike="noStrike" baseline="0" dirty="0" smtClean="0">
                          <a:solidFill>
                            <a:srgbClr val="000000"/>
                          </a:solidFill>
                          <a:latin typeface="Calibri" pitchFamily="34" charset="0"/>
                          <a:cs typeface="Calibri" pitchFamily="34" charset="0"/>
                        </a:rPr>
                        <a:t> phase induction motor</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800" b="1" i="0" u="none" strike="noStrike" dirty="0" smtClean="0">
                          <a:solidFill>
                            <a:srgbClr val="000000"/>
                          </a:solidFill>
                          <a:latin typeface="Calibri" pitchFamily="34" charset="0"/>
                          <a:cs typeface="Calibri" pitchFamily="34" charset="0"/>
                        </a:rPr>
                        <a:t>Three</a:t>
                      </a:r>
                      <a:r>
                        <a:rPr lang="en-US" sz="2800" b="1" i="0" u="none" strike="noStrike" baseline="0" dirty="0" smtClean="0">
                          <a:solidFill>
                            <a:srgbClr val="000000"/>
                          </a:solidFill>
                          <a:latin typeface="Calibri" pitchFamily="34" charset="0"/>
                          <a:cs typeface="Calibri" pitchFamily="34" charset="0"/>
                        </a:rPr>
                        <a:t> phase induction motor</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57646">
                <a:tc>
                  <a:txBody>
                    <a:bodyPr/>
                    <a:lstStyle/>
                    <a:p>
                      <a:pPr algn="ctr" fontAlgn="ctr"/>
                      <a:r>
                        <a:rPr lang="en-US" sz="2800" b="1" i="0" u="none" strike="noStrike" dirty="0" smtClean="0">
                          <a:solidFill>
                            <a:srgbClr val="000000"/>
                          </a:solidFill>
                          <a:latin typeface="Calibri" pitchFamily="34" charset="0"/>
                          <a:cs typeface="Calibri" pitchFamily="34" charset="0"/>
                        </a:rPr>
                        <a:t>Supply</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Single Phase induction motor uses single phase supply, for its operation.</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Three Phase induction motor uses three phase supply, for its operation</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9897">
                <a:tc>
                  <a:txBody>
                    <a:bodyPr/>
                    <a:lstStyle/>
                    <a:p>
                      <a:pPr algn="ctr" fontAlgn="ctr"/>
                      <a:r>
                        <a:rPr lang="en-US" sz="2800" b="1" i="0" u="none" strike="noStrike" dirty="0" smtClean="0">
                          <a:solidFill>
                            <a:srgbClr val="000000"/>
                          </a:solidFill>
                          <a:latin typeface="Calibri" pitchFamily="34" charset="0"/>
                          <a:cs typeface="Calibri" pitchFamily="34" charset="0"/>
                        </a:rPr>
                        <a:t>Maintenance</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They are easy to repair and maintain.</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Difficult to repair and maintain.</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81743">
                <a:tc>
                  <a:txBody>
                    <a:bodyPr/>
                    <a:lstStyle/>
                    <a:p>
                      <a:pPr algn="ctr" fontAlgn="ctr"/>
                      <a:r>
                        <a:rPr lang="en-US" sz="2800" b="1" i="0" u="none" strike="noStrike" dirty="0" smtClean="0">
                          <a:solidFill>
                            <a:srgbClr val="000000"/>
                          </a:solidFill>
                          <a:latin typeface="Calibri" pitchFamily="34" charset="0"/>
                          <a:cs typeface="Calibri" pitchFamily="34" charset="0"/>
                        </a:rPr>
                        <a:t>Efficiency</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Efficiency is less</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Efficiency is high</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Box 10"/>
          <p:cNvSpPr txBox="1"/>
          <p:nvPr/>
        </p:nvSpPr>
        <p:spPr>
          <a:xfrm>
            <a:off x="3827417" y="6488668"/>
            <a:ext cx="854336" cy="369332"/>
          </a:xfrm>
          <a:prstGeom prst="rect">
            <a:avLst/>
          </a:prstGeom>
          <a:noFill/>
        </p:spPr>
        <p:txBody>
          <a:bodyPr wrap="none" rtlCol="0">
            <a:spAutoFit/>
          </a:bodyPr>
          <a:lstStyle/>
          <a:p>
            <a:r>
              <a:rPr lang="en-US" dirty="0" smtClean="0"/>
              <a:t>Table.1</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38</a:t>
            </a:fld>
            <a:endParaRPr lang="en-US"/>
          </a:p>
        </p:txBody>
      </p:sp>
      <p:sp>
        <p:nvSpPr>
          <p:cNvPr id="5" name="Title 4"/>
          <p:cNvSpPr>
            <a:spLocks noGrp="1"/>
          </p:cNvSpPr>
          <p:nvPr>
            <p:ph type="title"/>
          </p:nvPr>
        </p:nvSpPr>
        <p:spPr/>
        <p:txBody>
          <a:bodyPr/>
          <a:lstStyle/>
          <a:p>
            <a:endParaRPr lang="en-US"/>
          </a:p>
        </p:txBody>
      </p:sp>
      <p:sp>
        <p:nvSpPr>
          <p:cNvPr id="6" name="Title 1"/>
          <p:cNvSpPr txBox="1">
            <a:spLocks/>
          </p:cNvSpPr>
          <p:nvPr/>
        </p:nvSpPr>
        <p:spPr>
          <a:xfrm>
            <a:off x="838200" y="169816"/>
            <a:ext cx="10515600" cy="121484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dk1"/>
                </a:solidFill>
                <a:effectLst/>
                <a:uLnTx/>
                <a:uFillTx/>
                <a:latin typeface="+mj-lt"/>
                <a:ea typeface="+mn-ea"/>
                <a:cs typeface="+mn-cs"/>
              </a:rPr>
              <a:t>DIFFERENCE</a:t>
            </a:r>
            <a:r>
              <a:rPr kumimoji="0" lang="en-US" sz="4400" b="1" i="0" u="none" strike="noStrike" kern="1200" cap="none" spc="0" normalizeH="0" noProof="0" dirty="0" smtClean="0">
                <a:ln>
                  <a:noFill/>
                </a:ln>
                <a:solidFill>
                  <a:schemeClr val="dk1"/>
                </a:solidFill>
                <a:effectLst/>
                <a:uLnTx/>
                <a:uFillTx/>
                <a:latin typeface="+mj-lt"/>
                <a:ea typeface="+mn-ea"/>
                <a:cs typeface="+mn-cs"/>
              </a:rPr>
              <a:t> BETWEEN SINGLE PHASE &amp; THREE PHASE INDUCTION MOTOR</a:t>
            </a:r>
            <a:endParaRPr kumimoji="0" lang="en-US" sz="4400" b="1" i="0" u="none" strike="noStrike" kern="1200" cap="none" spc="0" normalizeH="0" baseline="0" noProof="0" dirty="0">
              <a:ln>
                <a:noFill/>
              </a:ln>
              <a:solidFill>
                <a:schemeClr val="dk1"/>
              </a:solidFill>
              <a:effectLst/>
              <a:uLnTx/>
              <a:uFillTx/>
              <a:latin typeface="+mj-lt"/>
              <a:ea typeface="+mn-ea"/>
              <a:cs typeface="+mn-cs"/>
            </a:endParaRPr>
          </a:p>
        </p:txBody>
      </p:sp>
      <p:graphicFrame>
        <p:nvGraphicFramePr>
          <p:cNvPr id="7" name="Table 6"/>
          <p:cNvGraphicFramePr>
            <a:graphicFrameLocks noGrp="1"/>
          </p:cNvGraphicFramePr>
          <p:nvPr/>
        </p:nvGraphicFramePr>
        <p:xfrm>
          <a:off x="809897" y="1593667"/>
          <a:ext cx="10567852" cy="4218759"/>
        </p:xfrm>
        <a:graphic>
          <a:graphicData uri="http://schemas.openxmlformats.org/drawingml/2006/table">
            <a:tbl>
              <a:tblPr/>
              <a:tblGrid>
                <a:gridCol w="2105575">
                  <a:extLst>
                    <a:ext uri="{9D8B030D-6E8A-4147-A177-3AD203B41FA5}">
                      <a16:colId xmlns:a16="http://schemas.microsoft.com/office/drawing/2014/main" val="20000"/>
                    </a:ext>
                  </a:extLst>
                </a:gridCol>
                <a:gridCol w="4304433">
                  <a:extLst>
                    <a:ext uri="{9D8B030D-6E8A-4147-A177-3AD203B41FA5}">
                      <a16:colId xmlns:a16="http://schemas.microsoft.com/office/drawing/2014/main" val="20001"/>
                    </a:ext>
                  </a:extLst>
                </a:gridCol>
                <a:gridCol w="4157844">
                  <a:extLst>
                    <a:ext uri="{9D8B030D-6E8A-4147-A177-3AD203B41FA5}">
                      <a16:colId xmlns:a16="http://schemas.microsoft.com/office/drawing/2014/main" val="20002"/>
                    </a:ext>
                  </a:extLst>
                </a:gridCol>
              </a:tblGrid>
              <a:tr h="509453">
                <a:tc>
                  <a:txBody>
                    <a:bodyPr/>
                    <a:lstStyle/>
                    <a:p>
                      <a:pPr algn="ctr" fontAlgn="ctr"/>
                      <a:r>
                        <a:rPr lang="en-US" sz="2800" b="1" i="0" u="none" strike="noStrike" dirty="0" smtClean="0">
                          <a:solidFill>
                            <a:srgbClr val="000000"/>
                          </a:solidFill>
                          <a:latin typeface="Calibri" pitchFamily="34" charset="0"/>
                          <a:cs typeface="Calibri" pitchFamily="34" charset="0"/>
                        </a:rPr>
                        <a:t>Parameters</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800" b="1" i="0" u="none" strike="noStrike" dirty="0" smtClean="0">
                          <a:solidFill>
                            <a:srgbClr val="000000"/>
                          </a:solidFill>
                          <a:latin typeface="Calibri" pitchFamily="34" charset="0"/>
                          <a:cs typeface="Calibri" pitchFamily="34" charset="0"/>
                        </a:rPr>
                        <a:t>Single</a:t>
                      </a:r>
                      <a:r>
                        <a:rPr lang="en-US" sz="2800" b="1" i="0" u="none" strike="noStrike" baseline="0" dirty="0" smtClean="0">
                          <a:solidFill>
                            <a:srgbClr val="000000"/>
                          </a:solidFill>
                          <a:latin typeface="Calibri" pitchFamily="34" charset="0"/>
                          <a:cs typeface="Calibri" pitchFamily="34" charset="0"/>
                        </a:rPr>
                        <a:t> phase induction motor</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2800" b="1" i="0" u="none" strike="noStrike" dirty="0" smtClean="0">
                          <a:solidFill>
                            <a:srgbClr val="000000"/>
                          </a:solidFill>
                          <a:latin typeface="Calibri" pitchFamily="34" charset="0"/>
                          <a:cs typeface="Calibri" pitchFamily="34" charset="0"/>
                        </a:rPr>
                        <a:t>Three</a:t>
                      </a:r>
                      <a:r>
                        <a:rPr lang="en-US" sz="2800" b="1" i="0" u="none" strike="noStrike" baseline="0" dirty="0" smtClean="0">
                          <a:solidFill>
                            <a:srgbClr val="000000"/>
                          </a:solidFill>
                          <a:latin typeface="Calibri" pitchFamily="34" charset="0"/>
                          <a:cs typeface="Calibri" pitchFamily="34" charset="0"/>
                        </a:rPr>
                        <a:t> phase induction motor</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57646">
                <a:tc>
                  <a:txBody>
                    <a:bodyPr/>
                    <a:lstStyle/>
                    <a:p>
                      <a:pPr algn="ctr" fontAlgn="ctr"/>
                      <a:r>
                        <a:rPr lang="en-US" sz="2800" b="1" i="0" u="none" strike="noStrike" dirty="0" smtClean="0">
                          <a:solidFill>
                            <a:srgbClr val="000000"/>
                          </a:solidFill>
                          <a:latin typeface="Calibri" pitchFamily="34" charset="0"/>
                          <a:cs typeface="Calibri" pitchFamily="34" charset="0"/>
                        </a:rPr>
                        <a:t>Power Factor</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Power factor is low</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Power factor is high</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9897">
                <a:tc>
                  <a:txBody>
                    <a:bodyPr/>
                    <a:lstStyle/>
                    <a:p>
                      <a:pPr algn="ctr" fontAlgn="ctr"/>
                      <a:r>
                        <a:rPr lang="en-US" sz="2800" b="1" i="0" u="none" strike="noStrike" dirty="0" smtClean="0">
                          <a:solidFill>
                            <a:srgbClr val="000000"/>
                          </a:solidFill>
                          <a:latin typeface="Calibri" pitchFamily="34" charset="0"/>
                          <a:cs typeface="Calibri" pitchFamily="34" charset="0"/>
                        </a:rPr>
                        <a:t>Applications</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They are mostly used in domestic appliances such as mixer grinder, fans, compressors etc</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kern="1200" dirty="0" smtClean="0">
                          <a:solidFill>
                            <a:schemeClr val="tx1"/>
                          </a:solidFill>
                          <a:latin typeface="+mn-lt"/>
                          <a:ea typeface="+mn-ea"/>
                          <a:cs typeface="+mn-cs"/>
                        </a:rPr>
                        <a:t>Three phase induction motors are mostly used in industries.</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81743">
                <a:tc>
                  <a:txBody>
                    <a:bodyPr/>
                    <a:lstStyle/>
                    <a:p>
                      <a:pPr algn="ctr" fontAlgn="ctr"/>
                      <a:r>
                        <a:rPr lang="en-US" sz="2800" b="1" i="0" u="none" strike="noStrike" dirty="0" smtClean="0">
                          <a:solidFill>
                            <a:srgbClr val="000000"/>
                          </a:solidFill>
                          <a:latin typeface="Calibri" pitchFamily="34" charset="0"/>
                          <a:cs typeface="Calibri" pitchFamily="34" charset="0"/>
                        </a:rPr>
                        <a:t>Cost</a:t>
                      </a:r>
                      <a:endParaRPr lang="en-US" sz="2800" b="1"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b="0" i="0" u="none" strike="noStrike" dirty="0" smtClean="0">
                          <a:solidFill>
                            <a:srgbClr val="000000"/>
                          </a:solidFill>
                          <a:latin typeface="Calibri" pitchFamily="34" charset="0"/>
                          <a:cs typeface="Calibri" pitchFamily="34" charset="0"/>
                        </a:rPr>
                        <a:t>Cheaper</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800" b="0" i="0" u="none" strike="noStrike" dirty="0" smtClean="0">
                          <a:solidFill>
                            <a:srgbClr val="000000"/>
                          </a:solidFill>
                          <a:latin typeface="Calibri" pitchFamily="34" charset="0"/>
                          <a:cs typeface="Calibri" pitchFamily="34" charset="0"/>
                        </a:rPr>
                        <a:t>Quiet expensive</a:t>
                      </a:r>
                      <a:endParaRPr lang="en-US" sz="2800" b="0" i="0" u="none" strike="noStrike" dirty="0">
                        <a:solidFill>
                          <a:srgbClr val="000000"/>
                        </a:solidFill>
                        <a:latin typeface="Calibri" pitchFamily="34" charset="0"/>
                        <a:cs typeface="Calibri"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Box 10"/>
          <p:cNvSpPr txBox="1"/>
          <p:nvPr/>
        </p:nvSpPr>
        <p:spPr>
          <a:xfrm>
            <a:off x="3827417" y="6488668"/>
            <a:ext cx="854336" cy="369332"/>
          </a:xfrm>
          <a:prstGeom prst="rect">
            <a:avLst/>
          </a:prstGeom>
          <a:noFill/>
        </p:spPr>
        <p:txBody>
          <a:bodyPr wrap="none" rtlCol="0">
            <a:spAutoFit/>
          </a:bodyPr>
          <a:lstStyle/>
          <a:p>
            <a:r>
              <a:rPr lang="en-US" dirty="0" smtClean="0"/>
              <a:t>Table.1</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58726"/>
          </a:xfrm>
        </p:spPr>
        <p:style>
          <a:lnRef idx="2">
            <a:schemeClr val="dk1"/>
          </a:lnRef>
          <a:fillRef idx="1">
            <a:schemeClr val="lt1"/>
          </a:fillRef>
          <a:effectRef idx="0">
            <a:schemeClr val="dk1"/>
          </a:effectRef>
          <a:fontRef idx="minor">
            <a:schemeClr val="dk1"/>
          </a:fontRef>
        </p:style>
        <p:txBody>
          <a:bodyPr/>
          <a:lstStyle/>
          <a:p>
            <a:pPr algn="ctr"/>
            <a:r>
              <a:rPr lang="en-US" b="1" dirty="0" smtClean="0">
                <a:latin typeface="+mj-lt"/>
                <a:cs typeface="Calibri" pitchFamily="34" charset="0"/>
              </a:rPr>
              <a:t>SUMMARY</a:t>
            </a:r>
            <a:endParaRPr lang="en-US" b="1" dirty="0">
              <a:latin typeface="+mj-lt"/>
              <a:cs typeface="Calibri" pitchFamily="34" charset="0"/>
            </a:endParaRPr>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smtClean="0"/>
              <a:t>Introduction to single phase induction motor.</a:t>
            </a:r>
          </a:p>
          <a:p>
            <a:pPr>
              <a:buFont typeface="Wingdings" pitchFamily="2" charset="2"/>
              <a:buChar char="ü"/>
            </a:pPr>
            <a:r>
              <a:rPr lang="en-US" dirty="0" smtClean="0"/>
              <a:t>Construction of single phase induction motor.</a:t>
            </a:r>
          </a:p>
          <a:p>
            <a:pPr>
              <a:buFont typeface="Wingdings" pitchFamily="2" charset="2"/>
              <a:buChar char="ü"/>
            </a:pPr>
            <a:r>
              <a:rPr lang="en-US" dirty="0" smtClean="0"/>
              <a:t>Working principle of single phase induction motor.</a:t>
            </a:r>
          </a:p>
          <a:p>
            <a:pPr>
              <a:buFont typeface="Wingdings" pitchFamily="2" charset="2"/>
              <a:buChar char="ü"/>
            </a:pPr>
            <a:r>
              <a:rPr lang="en-US" dirty="0" smtClean="0"/>
              <a:t>Difference between squirrel cage and slip ring rotor.</a:t>
            </a:r>
          </a:p>
          <a:p>
            <a:pPr>
              <a:buFont typeface="Wingdings" pitchFamily="2" charset="2"/>
              <a:buChar char="ü"/>
            </a:pPr>
            <a:r>
              <a:rPr lang="en-US" dirty="0" smtClean="0"/>
              <a:t>Introduction to three phase induction motor.</a:t>
            </a:r>
          </a:p>
          <a:p>
            <a:pPr>
              <a:buFont typeface="Wingdings" pitchFamily="2" charset="2"/>
              <a:buChar char="ü"/>
            </a:pPr>
            <a:r>
              <a:rPr lang="en-US" dirty="0" smtClean="0"/>
              <a:t>Construction and working of three phase induction motor.</a:t>
            </a:r>
          </a:p>
          <a:p>
            <a:pPr>
              <a:buFont typeface="Wingdings" pitchFamily="2" charset="2"/>
              <a:buChar char="ü"/>
            </a:pPr>
            <a:r>
              <a:rPr lang="en-US" dirty="0" smtClean="0"/>
              <a:t>Difference between single phase and three phase induction motor.</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39</a:t>
            </a:fld>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b="1" dirty="0" smtClean="0">
                <a:latin typeface="+mj-lt"/>
              </a:rPr>
              <a:t>FREQUENTLY ASKED QUESTIONS</a:t>
            </a:r>
            <a:endParaRPr lang="en-US" b="1" dirty="0">
              <a:latin typeface="+mj-lt"/>
            </a:endParaRPr>
          </a:p>
        </p:txBody>
      </p:sp>
      <p:sp>
        <p:nvSpPr>
          <p:cNvPr id="3" name="Content Placeholder 2"/>
          <p:cNvSpPr>
            <a:spLocks noGrp="1"/>
          </p:cNvSpPr>
          <p:nvPr>
            <p:ph idx="1"/>
          </p:nvPr>
        </p:nvSpPr>
        <p:spPr>
          <a:xfrm>
            <a:off x="838200" y="1825625"/>
            <a:ext cx="10515600" cy="3451769"/>
          </a:xfrm>
        </p:spPr>
        <p:txBody>
          <a:bodyPr>
            <a:normAutofit/>
          </a:bodyPr>
          <a:lstStyle/>
          <a:p>
            <a:pPr algn="just"/>
            <a:r>
              <a:rPr lang="en-US" dirty="0" smtClean="0"/>
              <a:t>What do you understand by single phase induction motor?</a:t>
            </a:r>
          </a:p>
          <a:p>
            <a:pPr algn="just"/>
            <a:r>
              <a:rPr lang="en-US" dirty="0" smtClean="0"/>
              <a:t>What is the difference between squirrel cage and slip ring rotor?</a:t>
            </a:r>
          </a:p>
          <a:p>
            <a:pPr algn="just"/>
            <a:r>
              <a:rPr lang="en-US" dirty="0" smtClean="0"/>
              <a:t>What is meant by slip in induction motor?</a:t>
            </a:r>
          </a:p>
          <a:p>
            <a:pPr algn="just"/>
            <a:r>
              <a:rPr lang="en-US" dirty="0" smtClean="0"/>
              <a:t>Give the brief description of three phase induction motor.</a:t>
            </a:r>
          </a:p>
          <a:p>
            <a:pPr algn="just"/>
            <a:r>
              <a:rPr lang="en-US" dirty="0" smtClean="0"/>
              <a:t>Differentiate between single phase and three phase induction motor.</a:t>
            </a:r>
          </a:p>
          <a:p>
            <a:pPr algn="just"/>
            <a:endParaRPr lang="en-US" dirty="0" smtClean="0"/>
          </a:p>
          <a:p>
            <a:pPr algn="just">
              <a:buNone/>
            </a:pPr>
            <a:endParaRPr lang="en-US" dirty="0" smtClean="0"/>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40</a:t>
            </a:fld>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buNone/>
            </a:pPr>
            <a:r>
              <a:rPr lang="en-IN" sz="2800" dirty="0" smtClean="0">
                <a:latin typeface="Times New Roman" pitchFamily="18" charset="0"/>
                <a:cs typeface="Times New Roman" pitchFamily="18" charset="0"/>
              </a:rPr>
              <a:t> </a:t>
            </a:r>
            <a:r>
              <a:rPr lang="en-IN" sz="2800" dirty="0" smtClean="0">
                <a:latin typeface="Casper"/>
                <a:cs typeface="Times New Roman" pitchFamily="18" charset="0"/>
              </a:rPr>
              <a:t>To </a:t>
            </a:r>
            <a:r>
              <a:rPr lang="en-IN" sz="2800" dirty="0">
                <a:latin typeface="Casper"/>
                <a:cs typeface="Times New Roman" pitchFamily="18" charset="0"/>
              </a:rPr>
              <a:t>make students </a:t>
            </a:r>
            <a:r>
              <a:rPr lang="en-IN" sz="2800" dirty="0" smtClean="0">
                <a:latin typeface="Casper"/>
                <a:cs typeface="Times New Roman" pitchFamily="18" charset="0"/>
              </a:rPr>
              <a:t>understand</a:t>
            </a:r>
            <a:endParaRPr lang="en-IN" sz="2800" dirty="0">
              <a:latin typeface="Casper"/>
              <a:cs typeface="Times New Roman" pitchFamily="18" charset="0"/>
            </a:endParaRPr>
          </a:p>
          <a:p>
            <a:r>
              <a:rPr lang="en-US" sz="2800" dirty="0">
                <a:latin typeface="Casper"/>
              </a:rPr>
              <a:t> </a:t>
            </a:r>
            <a:r>
              <a:rPr lang="en-US" sz="2800" dirty="0" smtClean="0">
                <a:latin typeface="Casper"/>
              </a:rPr>
              <a:t>Concepts </a:t>
            </a:r>
            <a:r>
              <a:rPr lang="en-US" sz="2800" dirty="0">
                <a:latin typeface="Casper"/>
              </a:rPr>
              <a:t>of </a:t>
            </a:r>
            <a:r>
              <a:rPr lang="en-US" sz="2800" dirty="0" smtClean="0">
                <a:latin typeface="Casper"/>
              </a:rPr>
              <a:t>single phase induction motor</a:t>
            </a:r>
            <a:endParaRPr lang="en-US" sz="2800" dirty="0">
              <a:latin typeface="Casper"/>
            </a:endParaRPr>
          </a:p>
          <a:p>
            <a:endParaRPr lang="en-US" sz="2800" dirty="0">
              <a:latin typeface="Casper"/>
            </a:endParaRPr>
          </a:p>
          <a:p>
            <a:r>
              <a:rPr lang="en-US" sz="2800" dirty="0" smtClean="0">
                <a:latin typeface="Casper"/>
              </a:rPr>
              <a:t>Difference between squirrel cage and slip ring rotor</a:t>
            </a:r>
            <a:endParaRPr lang="en-US" sz="2800" dirty="0">
              <a:latin typeface="Casper"/>
            </a:endParaRPr>
          </a:p>
          <a:p>
            <a:endParaRPr lang="en-US" sz="2800" dirty="0">
              <a:latin typeface="Casper"/>
            </a:endParaRPr>
          </a:p>
          <a:p>
            <a:r>
              <a:rPr lang="en-US" sz="2800" dirty="0" smtClean="0">
                <a:latin typeface="Casper"/>
              </a:rPr>
              <a:t>Fundamentals </a:t>
            </a:r>
            <a:r>
              <a:rPr lang="en-US" sz="2800" dirty="0">
                <a:latin typeface="Casper"/>
              </a:rPr>
              <a:t>of </a:t>
            </a:r>
            <a:r>
              <a:rPr lang="en-US" sz="2800" dirty="0" smtClean="0">
                <a:latin typeface="Casper"/>
              </a:rPr>
              <a:t>three phase induction motor with its construction and working operation</a:t>
            </a:r>
            <a:endParaRPr lang="en-US" sz="2800" dirty="0">
              <a:latin typeface="Casper"/>
            </a:endParaRPr>
          </a:p>
          <a:p>
            <a:endParaRPr lang="en-US" sz="2400" dirty="0">
              <a:latin typeface="Times New Roman" pitchFamily="18" charset="0"/>
              <a:cs typeface="Times New Roman" pitchFamily="18" charset="0"/>
            </a:endParaRPr>
          </a:p>
          <a:p>
            <a:endParaRPr lang="en-US" sz="2400" dirty="0"/>
          </a:p>
          <a:p>
            <a:endParaRPr lang="en-US" sz="2400" dirty="0" smtClean="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41</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ea typeface="Karla" pitchFamily="2" charset="0"/>
                <a:cs typeface="Karla" pitchFamily="2" charset="0"/>
              </a:rPr>
              <a:t>LEARNING OUTCOMES</a:t>
            </a:r>
            <a:r>
              <a:rPr lang="en-US" sz="4400" b="1" dirty="0">
                <a:latin typeface="Casper"/>
                <a:ea typeface="Karla" pitchFamily="2" charset="0"/>
                <a:cs typeface="Karla" pitchFamily="2" charset="0"/>
              </a:rPr>
              <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2" cstate="print"/>
          <a:srcRect/>
          <a:stretch>
            <a:fillRect/>
          </a:stretch>
        </p:blipFill>
        <p:spPr bwMode="auto">
          <a:xfrm>
            <a:off x="304800" y="304801"/>
            <a:ext cx="812800" cy="976065"/>
          </a:xfrm>
          <a:prstGeom prst="rect">
            <a:avLst/>
          </a:prstGeom>
          <a:noFill/>
          <a:ln w="9525">
            <a:noFill/>
            <a:miter lim="800000"/>
            <a:headEnd/>
            <a:tailEnd/>
          </a:ln>
        </p:spPr>
      </p:pic>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Course Outcome to Program Outcome Relationship</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42</a:t>
            </a:fld>
            <a:endParaRPr lang="en-US"/>
          </a:p>
        </p:txBody>
      </p:sp>
      <p:graphicFrame>
        <p:nvGraphicFramePr>
          <p:cNvPr id="5" name="Table 4"/>
          <p:cNvGraphicFramePr>
            <a:graphicFrameLocks noGrp="1"/>
          </p:cNvGraphicFramePr>
          <p:nvPr/>
        </p:nvGraphicFramePr>
        <p:xfrm>
          <a:off x="352693" y="1750431"/>
          <a:ext cx="10907489" cy="4650372"/>
        </p:xfrm>
        <a:graphic>
          <a:graphicData uri="http://schemas.openxmlformats.org/drawingml/2006/table">
            <a:tbl>
              <a:tblPr/>
              <a:tblGrid>
                <a:gridCol w="753222">
                  <a:extLst>
                    <a:ext uri="{9D8B030D-6E8A-4147-A177-3AD203B41FA5}">
                      <a16:colId xmlns:a16="http://schemas.microsoft.com/office/drawing/2014/main" val="20000"/>
                    </a:ext>
                  </a:extLst>
                </a:gridCol>
                <a:gridCol w="506776">
                  <a:extLst>
                    <a:ext uri="{9D8B030D-6E8A-4147-A177-3AD203B41FA5}">
                      <a16:colId xmlns:a16="http://schemas.microsoft.com/office/drawing/2014/main" val="20001"/>
                    </a:ext>
                  </a:extLst>
                </a:gridCol>
                <a:gridCol w="629551">
                  <a:extLst>
                    <a:ext uri="{9D8B030D-6E8A-4147-A177-3AD203B41FA5}">
                      <a16:colId xmlns:a16="http://schemas.microsoft.com/office/drawing/2014/main" val="20002"/>
                    </a:ext>
                  </a:extLst>
                </a:gridCol>
                <a:gridCol w="629551">
                  <a:extLst>
                    <a:ext uri="{9D8B030D-6E8A-4147-A177-3AD203B41FA5}">
                      <a16:colId xmlns:a16="http://schemas.microsoft.com/office/drawing/2014/main" val="20003"/>
                    </a:ext>
                  </a:extLst>
                </a:gridCol>
                <a:gridCol w="630448">
                  <a:extLst>
                    <a:ext uri="{9D8B030D-6E8A-4147-A177-3AD203B41FA5}">
                      <a16:colId xmlns:a16="http://schemas.microsoft.com/office/drawing/2014/main" val="20004"/>
                    </a:ext>
                  </a:extLst>
                </a:gridCol>
                <a:gridCol w="630448">
                  <a:extLst>
                    <a:ext uri="{9D8B030D-6E8A-4147-A177-3AD203B41FA5}">
                      <a16:colId xmlns:a16="http://schemas.microsoft.com/office/drawing/2014/main" val="20005"/>
                    </a:ext>
                  </a:extLst>
                </a:gridCol>
                <a:gridCol w="631346">
                  <a:extLst>
                    <a:ext uri="{9D8B030D-6E8A-4147-A177-3AD203B41FA5}">
                      <a16:colId xmlns:a16="http://schemas.microsoft.com/office/drawing/2014/main" val="20006"/>
                    </a:ext>
                  </a:extLst>
                </a:gridCol>
                <a:gridCol w="631346">
                  <a:extLst>
                    <a:ext uri="{9D8B030D-6E8A-4147-A177-3AD203B41FA5}">
                      <a16:colId xmlns:a16="http://schemas.microsoft.com/office/drawing/2014/main" val="20007"/>
                    </a:ext>
                  </a:extLst>
                </a:gridCol>
                <a:gridCol w="631346">
                  <a:extLst>
                    <a:ext uri="{9D8B030D-6E8A-4147-A177-3AD203B41FA5}">
                      <a16:colId xmlns:a16="http://schemas.microsoft.com/office/drawing/2014/main" val="20008"/>
                    </a:ext>
                  </a:extLst>
                </a:gridCol>
                <a:gridCol w="631346">
                  <a:extLst>
                    <a:ext uri="{9D8B030D-6E8A-4147-A177-3AD203B41FA5}">
                      <a16:colId xmlns:a16="http://schemas.microsoft.com/office/drawing/2014/main" val="20009"/>
                    </a:ext>
                  </a:extLst>
                </a:gridCol>
                <a:gridCol w="802304">
                  <a:extLst>
                    <a:ext uri="{9D8B030D-6E8A-4147-A177-3AD203B41FA5}">
                      <a16:colId xmlns:a16="http://schemas.microsoft.com/office/drawing/2014/main" val="20010"/>
                    </a:ext>
                  </a:extLst>
                </a:gridCol>
                <a:gridCol w="766917">
                  <a:extLst>
                    <a:ext uri="{9D8B030D-6E8A-4147-A177-3AD203B41FA5}">
                      <a16:colId xmlns:a16="http://schemas.microsoft.com/office/drawing/2014/main" val="20011"/>
                    </a:ext>
                  </a:extLst>
                </a:gridCol>
                <a:gridCol w="758222">
                  <a:extLst>
                    <a:ext uri="{9D8B030D-6E8A-4147-A177-3AD203B41FA5}">
                      <a16:colId xmlns:a16="http://schemas.microsoft.com/office/drawing/2014/main" val="20012"/>
                    </a:ext>
                  </a:extLst>
                </a:gridCol>
                <a:gridCol w="758222">
                  <a:extLst>
                    <a:ext uri="{9D8B030D-6E8A-4147-A177-3AD203B41FA5}">
                      <a16:colId xmlns:a16="http://schemas.microsoft.com/office/drawing/2014/main" val="20013"/>
                    </a:ext>
                  </a:extLst>
                </a:gridCol>
                <a:gridCol w="758222">
                  <a:extLst>
                    <a:ext uri="{9D8B030D-6E8A-4147-A177-3AD203B41FA5}">
                      <a16:colId xmlns:a16="http://schemas.microsoft.com/office/drawing/2014/main" val="20014"/>
                    </a:ext>
                  </a:extLst>
                </a:gridCol>
                <a:gridCol w="758222">
                  <a:extLst>
                    <a:ext uri="{9D8B030D-6E8A-4147-A177-3AD203B41FA5}">
                      <a16:colId xmlns:a16="http://schemas.microsoft.com/office/drawing/2014/main" val="20015"/>
                    </a:ext>
                  </a:extLst>
                </a:gridCol>
              </a:tblGrid>
              <a:tr h="375590">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marL="457200" marR="0" indent="-457200" algn="ctr">
                        <a:lnSpc>
                          <a:spcPct val="107000"/>
                        </a:lnSpc>
                        <a:spcBef>
                          <a:spcPts val="0"/>
                        </a:spcBef>
                        <a:spcAft>
                          <a:spcPts val="0"/>
                        </a:spcAft>
                      </a:pPr>
                      <a:r>
                        <a:rPr lang="en-US" sz="2000" b="1" dirty="0" smtClean="0">
                          <a:solidFill>
                            <a:srgbClr val="000000"/>
                          </a:solidFill>
                          <a:latin typeface="Calibri"/>
                          <a:ea typeface="Calibri"/>
                          <a:cs typeface="Times New Roman"/>
                        </a:rPr>
                        <a:t>     (21ELH-101) </a:t>
                      </a:r>
                      <a:r>
                        <a:rPr lang="en-US" sz="2000" b="1" dirty="0">
                          <a:solidFill>
                            <a:srgbClr val="000000"/>
                          </a:solidFill>
                          <a:latin typeface="Calibri"/>
                          <a:ea typeface="Calibri"/>
                          <a:cs typeface="Times New Roman"/>
                        </a:rPr>
                        <a:t>BEEE</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69971">
                <a:tc>
                  <a:txBody>
                    <a:bodyPr/>
                    <a:lstStyle/>
                    <a:p>
                      <a:pPr marL="457200" marR="0" indent="-457200" algn="r">
                        <a:lnSpc>
                          <a:spcPct val="107000"/>
                        </a:lnSpc>
                        <a:spcBef>
                          <a:spcPts val="0"/>
                        </a:spcBef>
                        <a:spcAft>
                          <a:spcPts val="0"/>
                        </a:spcAft>
                      </a:pPr>
                      <a:r>
                        <a:rPr lang="en-US" sz="2000" b="1" dirty="0" smtClean="0">
                          <a:solidFill>
                            <a:srgbClr val="000000"/>
                          </a:solidFill>
                          <a:latin typeface="Calibri"/>
                          <a:ea typeface="Calibri"/>
                          <a:cs typeface="Times New Roman"/>
                        </a:rPr>
                        <a:t>PO→</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dirty="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endParaRPr lang="en-US" sz="2000">
                        <a:latin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54956">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CO↓</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PO4</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PO5</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PO6</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PO7</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PO8</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PO9</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PO10</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PO11</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PO12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smtClean="0">
                          <a:latin typeface="Calibri"/>
                          <a:ea typeface="Calibri"/>
                          <a:cs typeface="Times New Roman"/>
                        </a:rPr>
                        <a:t>PSO1</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smtClean="0">
                          <a:latin typeface="Calibri"/>
                          <a:ea typeface="Calibri"/>
                          <a:cs typeface="Times New Roman"/>
                        </a:rPr>
                        <a:t>PSO2</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r">
                        <a:lnSpc>
                          <a:spcPct val="107000"/>
                        </a:lnSpc>
                        <a:spcBef>
                          <a:spcPts val="0"/>
                        </a:spcBef>
                        <a:spcAft>
                          <a:spcPts val="0"/>
                        </a:spcAft>
                      </a:pPr>
                      <a:r>
                        <a:rPr lang="en-US" sz="2000" b="1" dirty="0" smtClean="0">
                          <a:latin typeface="Calibri"/>
                          <a:ea typeface="Calibri"/>
                          <a:cs typeface="Times New Roman"/>
                        </a:rPr>
                        <a:t>PSO3</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CO1</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CO2</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69971">
                <a:tc>
                  <a:txBody>
                    <a:bodyPr/>
                    <a:lstStyle/>
                    <a:p>
                      <a:pPr marL="457200" marR="0" indent="-457200" algn="r">
                        <a:lnSpc>
                          <a:spcPct val="107000"/>
                        </a:lnSpc>
                        <a:spcBef>
                          <a:spcPts val="0"/>
                        </a:spcBef>
                        <a:spcAft>
                          <a:spcPts val="0"/>
                        </a:spcAft>
                      </a:pPr>
                      <a:r>
                        <a:rPr lang="en-US" sz="2000" b="1">
                          <a:solidFill>
                            <a:srgbClr val="000000"/>
                          </a:solidFill>
                          <a:latin typeface="Calibri"/>
                          <a:ea typeface="Calibri"/>
                          <a:cs typeface="Times New Roman"/>
                        </a:rPr>
                        <a:t>CO3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a:solidFill>
                            <a:srgbClr val="000000"/>
                          </a:solidFill>
                          <a:latin typeface="Calibri"/>
                          <a:ea typeface="Calibri"/>
                          <a:cs typeface="Times New Roman"/>
                        </a:rPr>
                        <a:t>3</a:t>
                      </a: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69971">
                <a:tc>
                  <a:txBody>
                    <a:bodyPr/>
                    <a:lstStyle/>
                    <a:p>
                      <a:pPr marL="457200" marR="0" indent="-457200" algn="r">
                        <a:lnSpc>
                          <a:spcPct val="107000"/>
                        </a:lnSpc>
                        <a:spcBef>
                          <a:spcPts val="0"/>
                        </a:spcBef>
                        <a:spcAft>
                          <a:spcPts val="0"/>
                        </a:spcAft>
                      </a:pPr>
                      <a:r>
                        <a:rPr lang="en-US" sz="2000" b="1" dirty="0">
                          <a:solidFill>
                            <a:srgbClr val="000000"/>
                          </a:solidFill>
                          <a:latin typeface="Calibri"/>
                          <a:ea typeface="Calibri"/>
                          <a:cs typeface="Times New Roman"/>
                        </a:rPr>
                        <a:t>CO4</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3</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a:solidFill>
                            <a:srgbClr val="000000"/>
                          </a:solidFill>
                          <a:latin typeface="Calibri"/>
                          <a:ea typeface="Calibri"/>
                          <a:cs typeface="Times New Roman"/>
                        </a:rPr>
                        <a:t>2</a:t>
                      </a: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69971">
                <a:tc>
                  <a:txBody>
                    <a:bodyPr/>
                    <a:lstStyle/>
                    <a:p>
                      <a:pPr marL="457200" marR="0" indent="-457200" algn="r">
                        <a:lnSpc>
                          <a:spcPct val="107000"/>
                        </a:lnSpc>
                        <a:spcBef>
                          <a:spcPts val="0"/>
                        </a:spcBef>
                        <a:spcAft>
                          <a:spcPts val="0"/>
                        </a:spcAft>
                      </a:pPr>
                      <a:r>
                        <a:rPr lang="en-US" sz="2000" b="1" dirty="0" smtClean="0">
                          <a:latin typeface="Calibri"/>
                          <a:ea typeface="Calibri"/>
                          <a:cs typeface="Times New Roman"/>
                        </a:rPr>
                        <a:t>CO5</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2</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r>
                        <a:rPr lang="en-US" sz="2000" b="1" dirty="0" smtClean="0">
                          <a:latin typeface="Calibri"/>
                          <a:ea typeface="Calibri"/>
                          <a:cs typeface="Times New Roman"/>
                        </a:rPr>
                        <a:t>3</a:t>
                      </a: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indent="-457200" algn="ctr">
                        <a:lnSpc>
                          <a:spcPct val="107000"/>
                        </a:lnSpc>
                        <a:spcBef>
                          <a:spcPts val="0"/>
                        </a:spcBef>
                        <a:spcAft>
                          <a:spcPts val="0"/>
                        </a:spcAft>
                      </a:pPr>
                      <a:endParaRPr lang="en-US" sz="20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550"/>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b="1" dirty="0" smtClean="0">
                <a:latin typeface="+mj-lt"/>
              </a:rPr>
              <a:t>ASSESSMENT PATTERN</a:t>
            </a:r>
            <a:endParaRPr lang="en-US" b="1" dirty="0">
              <a:latin typeface="+mj-lt"/>
            </a:endParaRPr>
          </a:p>
        </p:txBody>
      </p:sp>
      <p:sp>
        <p:nvSpPr>
          <p:cNvPr id="3" name="Content Placeholder 2"/>
          <p:cNvSpPr>
            <a:spLocks noGrp="1"/>
          </p:cNvSpPr>
          <p:nvPr>
            <p:ph idx="1"/>
          </p:nvPr>
        </p:nvSpPr>
        <p:spPr>
          <a:xfrm>
            <a:off x="838199" y="1146352"/>
            <a:ext cx="10696303" cy="4940939"/>
          </a:xfrm>
        </p:spPr>
        <p:txBody>
          <a:bodyPr>
            <a:normAutofit/>
          </a:bodyPr>
          <a:lstStyle/>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43</a:t>
            </a:fld>
            <a:endParaRPr lang="en-US"/>
          </a:p>
        </p:txBody>
      </p:sp>
      <p:graphicFrame>
        <p:nvGraphicFramePr>
          <p:cNvPr id="5" name="Table 4"/>
          <p:cNvGraphicFramePr>
            <a:graphicFrameLocks noGrp="1"/>
          </p:cNvGraphicFramePr>
          <p:nvPr/>
        </p:nvGraphicFramePr>
        <p:xfrm>
          <a:off x="770711" y="1968136"/>
          <a:ext cx="10855229" cy="2115978"/>
        </p:xfrm>
        <a:graphic>
          <a:graphicData uri="http://schemas.openxmlformats.org/drawingml/2006/table">
            <a:tbl>
              <a:tblPr firstRow="1" bandRow="1">
                <a:tableStyleId>{073A0DAA-6AF3-43AB-8588-CEC1D06C72B9}</a:tableStyleId>
              </a:tblPr>
              <a:tblGrid>
                <a:gridCol w="1550747">
                  <a:extLst>
                    <a:ext uri="{9D8B030D-6E8A-4147-A177-3AD203B41FA5}">
                      <a16:colId xmlns:a16="http://schemas.microsoft.com/office/drawing/2014/main" val="20000"/>
                    </a:ext>
                  </a:extLst>
                </a:gridCol>
                <a:gridCol w="1550747">
                  <a:extLst>
                    <a:ext uri="{9D8B030D-6E8A-4147-A177-3AD203B41FA5}">
                      <a16:colId xmlns:a16="http://schemas.microsoft.com/office/drawing/2014/main" val="20001"/>
                    </a:ext>
                  </a:extLst>
                </a:gridCol>
                <a:gridCol w="1550747">
                  <a:extLst>
                    <a:ext uri="{9D8B030D-6E8A-4147-A177-3AD203B41FA5}">
                      <a16:colId xmlns:a16="http://schemas.microsoft.com/office/drawing/2014/main" val="20002"/>
                    </a:ext>
                  </a:extLst>
                </a:gridCol>
                <a:gridCol w="1550747">
                  <a:extLst>
                    <a:ext uri="{9D8B030D-6E8A-4147-A177-3AD203B41FA5}">
                      <a16:colId xmlns:a16="http://schemas.microsoft.com/office/drawing/2014/main" val="20003"/>
                    </a:ext>
                  </a:extLst>
                </a:gridCol>
                <a:gridCol w="1550747">
                  <a:extLst>
                    <a:ext uri="{9D8B030D-6E8A-4147-A177-3AD203B41FA5}">
                      <a16:colId xmlns:a16="http://schemas.microsoft.com/office/drawing/2014/main" val="20004"/>
                    </a:ext>
                  </a:extLst>
                </a:gridCol>
                <a:gridCol w="1550747">
                  <a:extLst>
                    <a:ext uri="{9D8B030D-6E8A-4147-A177-3AD203B41FA5}">
                      <a16:colId xmlns:a16="http://schemas.microsoft.com/office/drawing/2014/main" val="20005"/>
                    </a:ext>
                  </a:extLst>
                </a:gridCol>
                <a:gridCol w="1550747">
                  <a:extLst>
                    <a:ext uri="{9D8B030D-6E8A-4147-A177-3AD203B41FA5}">
                      <a16:colId xmlns:a16="http://schemas.microsoft.com/office/drawing/2014/main" val="20006"/>
                    </a:ext>
                  </a:extLst>
                </a:gridCol>
              </a:tblGrid>
              <a:tr h="1493725">
                <a:tc>
                  <a:txBody>
                    <a:bodyPr/>
                    <a:lstStyle/>
                    <a:p>
                      <a:pPr algn="ctr"/>
                      <a:r>
                        <a:rPr lang="en-US" dirty="0" smtClean="0"/>
                        <a:t>     A</a:t>
                      </a:r>
                    </a:p>
                    <a:p>
                      <a:pPr algn="ctr"/>
                      <a:r>
                        <a:rPr lang="en-US" dirty="0" smtClean="0"/>
                        <a:t>Assignment (each assignment)</a:t>
                      </a:r>
                      <a:endParaRPr lang="en-US" dirty="0"/>
                    </a:p>
                  </a:txBody>
                  <a:tcPr/>
                </a:tc>
                <a:tc>
                  <a:txBody>
                    <a:bodyPr/>
                    <a:lstStyle/>
                    <a:p>
                      <a:pPr algn="ctr"/>
                      <a:r>
                        <a:rPr lang="en-US" dirty="0" smtClean="0"/>
                        <a:t>   B</a:t>
                      </a:r>
                    </a:p>
                    <a:p>
                      <a:pPr algn="ctr"/>
                      <a:r>
                        <a:rPr lang="en-US" dirty="0" smtClean="0"/>
                        <a:t>Time Bound Surprise</a:t>
                      </a:r>
                      <a:r>
                        <a:rPr lang="en-US" baseline="0" dirty="0" smtClean="0"/>
                        <a:t> Test (each test)</a:t>
                      </a:r>
                      <a:endParaRPr lang="en-US" dirty="0"/>
                    </a:p>
                  </a:txBody>
                  <a:tcPr/>
                </a:tc>
                <a:tc>
                  <a:txBody>
                    <a:bodyPr/>
                    <a:lstStyle/>
                    <a:p>
                      <a:pPr algn="ctr"/>
                      <a:r>
                        <a:rPr lang="en-US" dirty="0" smtClean="0"/>
                        <a:t>C</a:t>
                      </a:r>
                    </a:p>
                    <a:p>
                      <a:pPr algn="ctr"/>
                      <a:r>
                        <a:rPr lang="en-US" dirty="0" smtClean="0"/>
                        <a:t>Quiz (each quiz)</a:t>
                      </a:r>
                      <a:endParaRPr lang="en-US" dirty="0"/>
                    </a:p>
                  </a:txBody>
                  <a:tcPr/>
                </a:tc>
                <a:tc>
                  <a:txBody>
                    <a:bodyPr/>
                    <a:lstStyle/>
                    <a:p>
                      <a:pPr algn="ctr"/>
                      <a:r>
                        <a:rPr lang="en-US" dirty="0" smtClean="0"/>
                        <a:t>   D</a:t>
                      </a:r>
                    </a:p>
                    <a:p>
                      <a:pPr algn="ctr"/>
                      <a:r>
                        <a:rPr lang="en-US" dirty="0" smtClean="0"/>
                        <a:t>Mid</a:t>
                      </a:r>
                      <a:r>
                        <a:rPr lang="en-US" baseline="0" dirty="0" smtClean="0"/>
                        <a:t> Semester Test(one per test)</a:t>
                      </a:r>
                      <a:endParaRPr lang="en-US" dirty="0"/>
                    </a:p>
                  </a:txBody>
                  <a:tcPr/>
                </a:tc>
                <a:tc>
                  <a:txBody>
                    <a:bodyPr/>
                    <a:lstStyle/>
                    <a:p>
                      <a:pPr algn="ctr"/>
                      <a:r>
                        <a:rPr lang="en-US" dirty="0" smtClean="0"/>
                        <a:t>    E</a:t>
                      </a:r>
                    </a:p>
                    <a:p>
                      <a:pPr algn="ctr"/>
                      <a:r>
                        <a:rPr lang="en-US" dirty="0" smtClean="0"/>
                        <a:t>Homework</a:t>
                      </a:r>
                      <a:endParaRPr lang="en-US" dirty="0"/>
                    </a:p>
                  </a:txBody>
                  <a:tcPr/>
                </a:tc>
                <a:tc>
                  <a:txBody>
                    <a:bodyPr/>
                    <a:lstStyle/>
                    <a:p>
                      <a:pPr algn="ctr"/>
                      <a:r>
                        <a:rPr lang="en-US" dirty="0" smtClean="0"/>
                        <a:t>     F</a:t>
                      </a:r>
                    </a:p>
                    <a:p>
                      <a:pPr algn="ctr"/>
                      <a:r>
                        <a:rPr lang="en-US" dirty="0" smtClean="0"/>
                        <a:t>Discussion Forums</a:t>
                      </a:r>
                      <a:endParaRPr lang="en-US" dirty="0"/>
                    </a:p>
                  </a:txBody>
                  <a:tcPr/>
                </a:tc>
                <a:tc>
                  <a:txBody>
                    <a:bodyPr/>
                    <a:lstStyle/>
                    <a:p>
                      <a:pPr algn="ctr"/>
                      <a:r>
                        <a:rPr lang="en-US" dirty="0" smtClean="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Attendance and  engagement Score on BB</a:t>
                      </a:r>
                    </a:p>
                    <a:p>
                      <a:pPr algn="ctr"/>
                      <a:endParaRPr lang="en-US" dirty="0"/>
                    </a:p>
                  </a:txBody>
                  <a:tcPr/>
                </a:tc>
                <a:extLst>
                  <a:ext uri="{0D108BD9-81ED-4DB2-BD59-A6C34878D82A}">
                    <a16:rowId xmlns:a16="http://schemas.microsoft.com/office/drawing/2014/main" val="10000"/>
                  </a:ext>
                </a:extLst>
              </a:tr>
              <a:tr h="378618">
                <a:tc>
                  <a:txBody>
                    <a:bodyPr/>
                    <a:lstStyle/>
                    <a:p>
                      <a:pPr algn="ctr"/>
                      <a:r>
                        <a:rPr lang="en-US" dirty="0" smtClean="0"/>
                        <a:t>10</a:t>
                      </a:r>
                      <a:endParaRPr lang="en-US" dirty="0"/>
                    </a:p>
                  </a:txBody>
                  <a:tcPr/>
                </a:tc>
                <a:tc>
                  <a:txBody>
                    <a:bodyPr/>
                    <a:lstStyle/>
                    <a:p>
                      <a:pPr algn="ctr"/>
                      <a:r>
                        <a:rPr lang="en-US" dirty="0" smtClean="0"/>
                        <a:t>   12</a:t>
                      </a:r>
                      <a:endParaRPr lang="en-US" dirty="0"/>
                    </a:p>
                  </a:txBody>
                  <a:tcPr/>
                </a:tc>
                <a:tc>
                  <a:txBody>
                    <a:bodyPr/>
                    <a:lstStyle/>
                    <a:p>
                      <a:pPr algn="ctr"/>
                      <a:r>
                        <a:rPr lang="en-US" dirty="0" smtClean="0"/>
                        <a:t>4</a:t>
                      </a:r>
                      <a:endParaRPr lang="en-US" dirty="0"/>
                    </a:p>
                  </a:txBody>
                  <a:tcPr/>
                </a:tc>
                <a:tc>
                  <a:txBody>
                    <a:bodyPr/>
                    <a:lstStyle/>
                    <a:p>
                      <a:pPr algn="ctr"/>
                      <a:r>
                        <a:rPr lang="en-US" dirty="0" smtClean="0"/>
                        <a:t>   20</a:t>
                      </a:r>
                      <a:endParaRPr lang="en-US" dirty="0"/>
                    </a:p>
                  </a:txBody>
                  <a:tcPr/>
                </a:tc>
                <a:tc>
                  <a:txBody>
                    <a:bodyPr/>
                    <a:lstStyle/>
                    <a:p>
                      <a:pPr algn="ctr"/>
                      <a:r>
                        <a:rPr lang="en-US" dirty="0" smtClean="0"/>
                        <a:t>NA</a:t>
                      </a:r>
                      <a:endParaRPr lang="en-US" dirty="0"/>
                    </a:p>
                  </a:txBody>
                  <a:tcPr/>
                </a:tc>
                <a:tc>
                  <a:txBody>
                    <a:bodyPr/>
                    <a:lstStyle/>
                    <a:p>
                      <a:pPr algn="ctr"/>
                      <a:r>
                        <a:rPr lang="en-US" dirty="0" smtClean="0"/>
                        <a:t>    NA</a:t>
                      </a:r>
                      <a:endParaRPr lang="en-US" dirty="0"/>
                    </a:p>
                  </a:txBody>
                  <a:tcPr/>
                </a:tc>
                <a:tc>
                  <a:txBody>
                    <a:bodyPr/>
                    <a:lstStyle/>
                    <a:p>
                      <a:pPr algn="ctr"/>
                      <a:r>
                        <a:rPr lang="en-US" dirty="0" smtClean="0"/>
                        <a:t>    2</a:t>
                      </a:r>
                      <a:endParaRPr lang="en-US" dirty="0"/>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IN" b="1" dirty="0" smtClean="0">
                <a:latin typeface="+mj-lt"/>
              </a:rPr>
              <a:t>REFERENCES FOR FURTHER HIGHER LEARNING</a:t>
            </a:r>
            <a:endParaRPr lang="en-US" b="1" dirty="0">
              <a:latin typeface="+mj-lt"/>
            </a:endParaRPr>
          </a:p>
        </p:txBody>
      </p:sp>
      <p:sp>
        <p:nvSpPr>
          <p:cNvPr id="3" name="Content Placeholder 2"/>
          <p:cNvSpPr>
            <a:spLocks noGrp="1"/>
          </p:cNvSpPr>
          <p:nvPr>
            <p:ph idx="1"/>
          </p:nvPr>
        </p:nvSpPr>
        <p:spPr/>
        <p:txBody>
          <a:bodyPr>
            <a:normAutofit/>
          </a:bodyPr>
          <a:lstStyle/>
          <a:p>
            <a:r>
              <a:rPr lang="en-IN" dirty="0" smtClean="0">
                <a:hlinkClick r:id="rId2"/>
              </a:rPr>
              <a:t>https://www.sciencedirect.com/topics/computer-science/electrical-network</a:t>
            </a:r>
            <a:endParaRPr lang="en-IN" dirty="0" smtClean="0"/>
          </a:p>
          <a:p>
            <a:r>
              <a:rPr lang="en-IN" dirty="0" smtClean="0">
                <a:hlinkClick r:id="rId3"/>
              </a:rPr>
              <a:t>https://www.electricaltechnology.org/2014/01/important-terms-related-to-electric-circuits-and-networks.html</a:t>
            </a:r>
            <a:endParaRPr lang="en-IN" dirty="0" smtClean="0"/>
          </a:p>
          <a:p>
            <a:pPr>
              <a:buNone/>
            </a:pPr>
            <a:endParaRPr lang="en-US" dirty="0" smtClean="0"/>
          </a:p>
          <a:p>
            <a:pPr lvl="0">
              <a:buNone/>
            </a:pPr>
            <a:endParaRPr lang="en-US" u="sng" dirty="0" smtClean="0"/>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smtClean="0"/>
              <a:t>REFERENCES</a:t>
            </a:r>
            <a:endParaRPr lang="en-US" dirty="0"/>
          </a:p>
        </p:txBody>
      </p:sp>
      <p:sp>
        <p:nvSpPr>
          <p:cNvPr id="3" name="Content Placeholder 2"/>
          <p:cNvSpPr>
            <a:spLocks noGrp="1"/>
          </p:cNvSpPr>
          <p:nvPr>
            <p:ph idx="1"/>
          </p:nvPr>
        </p:nvSpPr>
        <p:spPr>
          <a:xfrm>
            <a:off x="838200" y="1825625"/>
            <a:ext cx="10683240" cy="4679678"/>
          </a:xfrm>
        </p:spPr>
        <p:txBody>
          <a:bodyPr>
            <a:normAutofit fontScale="55000" lnSpcReduction="20000"/>
          </a:bodyPr>
          <a:lstStyle/>
          <a:p>
            <a:r>
              <a:rPr lang="en-US" b="1" dirty="0" smtClean="0"/>
              <a:t>Books:             [1]Basic of Electrical Engineering, T. K. </a:t>
            </a:r>
            <a:r>
              <a:rPr lang="en-US" b="1" dirty="0" err="1" smtClean="0"/>
              <a:t>Nagsarkar</a:t>
            </a:r>
            <a:r>
              <a:rPr lang="en-US" b="1" dirty="0" smtClean="0"/>
              <a:t> and M. S.Sukhija,2013 ,2</a:t>
            </a:r>
            <a:r>
              <a:rPr lang="en-US" b="1" baseline="30000" dirty="0" smtClean="0"/>
              <a:t>nd</a:t>
            </a:r>
            <a:r>
              <a:rPr lang="en-US" b="1" dirty="0" smtClean="0"/>
              <a:t> edition</a:t>
            </a:r>
            <a:endParaRPr lang="en-US" dirty="0" smtClean="0"/>
          </a:p>
          <a:p>
            <a:pPr>
              <a:buNone/>
            </a:pPr>
            <a:r>
              <a:rPr lang="en-US" b="1" dirty="0" smtClean="0"/>
              <a:t>                               [2]Theory and problems of Basic Electrical Engineering, J. </a:t>
            </a:r>
            <a:r>
              <a:rPr lang="en-US" b="1" dirty="0" err="1" smtClean="0"/>
              <a:t>Nagrath</a:t>
            </a:r>
            <a:r>
              <a:rPr lang="en-US" b="1" dirty="0" smtClean="0"/>
              <a:t> and Kothari, 2012, 2</a:t>
            </a:r>
            <a:r>
              <a:rPr lang="en-US" b="1" baseline="30000" dirty="0" smtClean="0"/>
              <a:t>nd</a:t>
            </a:r>
            <a:r>
              <a:rPr lang="en-US" b="1" dirty="0" smtClean="0"/>
              <a:t>   edition</a:t>
            </a:r>
            <a:endParaRPr lang="en-US" dirty="0" smtClean="0"/>
          </a:p>
          <a:p>
            <a:pPr>
              <a:buNone/>
            </a:pPr>
            <a:r>
              <a:rPr lang="en-US" b="1" dirty="0" smtClean="0"/>
              <a:t>                               [3] A Textbook of Electrical Technology, B.L Theraja,2010,Vol 1</a:t>
            </a:r>
            <a:endParaRPr lang="en-US" dirty="0" smtClean="0"/>
          </a:p>
          <a:p>
            <a:pPr>
              <a:buNone/>
            </a:pPr>
            <a:r>
              <a:rPr lang="en-US" b="1" dirty="0" smtClean="0"/>
              <a:t>                               [4] Fundamentals of Electrical and Electronics Engineering, </a:t>
            </a:r>
            <a:r>
              <a:rPr lang="en-US" b="1" dirty="0" err="1" smtClean="0"/>
              <a:t>Smarjith</a:t>
            </a:r>
            <a:r>
              <a:rPr lang="en-US" b="1" dirty="0" smtClean="0"/>
              <a:t> Ghosh,2013,1</a:t>
            </a:r>
            <a:r>
              <a:rPr lang="en-US" b="1" baseline="30000" dirty="0" smtClean="0"/>
              <a:t>st</a:t>
            </a:r>
            <a:r>
              <a:rPr lang="en-US" b="1" dirty="0" smtClean="0"/>
              <a:t>   edition</a:t>
            </a:r>
          </a:p>
          <a:p>
            <a:pPr>
              <a:buNone/>
            </a:pPr>
            <a:endParaRPr lang="en-US" b="1" dirty="0" smtClean="0"/>
          </a:p>
          <a:p>
            <a:r>
              <a:rPr lang="en-US" b="1" dirty="0" smtClean="0"/>
              <a:t>E-Books:          [1]</a:t>
            </a:r>
            <a:r>
              <a:rPr lang="en-US" dirty="0" smtClean="0">
                <a:hlinkClick r:id="rId2"/>
              </a:rPr>
              <a:t> file:///C:/Users/user/Desktop/BLACK%20BOARD%20MATERIAL%20PEE/UNIT-2%20PEE/Lecture%203%20&amp;%204/doku.pub_basic-electrical-engineering-vkmehta-e-schand.pdf</a:t>
            </a:r>
            <a:endParaRPr lang="en-US" dirty="0" smtClean="0"/>
          </a:p>
          <a:p>
            <a:pPr>
              <a:buNone/>
            </a:pPr>
            <a:r>
              <a:rPr lang="en-US" b="1" dirty="0" smtClean="0"/>
              <a:t>                               [2]</a:t>
            </a:r>
            <a:r>
              <a:rPr lang="en-US" dirty="0" smtClean="0"/>
              <a:t> </a:t>
            </a:r>
            <a:r>
              <a:rPr lang="en-US" dirty="0" smtClean="0">
                <a:hlinkClick r:id="rId3"/>
              </a:rPr>
              <a:t>file:///C:/Users/user/Desktop/BLACK%20BOARD%20MATERIAL%20PEE/UNIT-2%20PEE/Lecture%203%20&amp;%204/Elements%20Of%20Electrical%20Engineering%20By%20V.%20U.%20Bakshi%20and%20U.%20A.%20Bakshi.pdf </a:t>
            </a:r>
            <a:endParaRPr lang="en-US" dirty="0" smtClean="0"/>
          </a:p>
          <a:p>
            <a:r>
              <a:rPr lang="en-US" b="1" dirty="0" smtClean="0"/>
              <a:t>Websites</a:t>
            </a:r>
            <a:r>
              <a:rPr lang="en-US" dirty="0" smtClean="0"/>
              <a:t>:        </a:t>
            </a:r>
            <a:r>
              <a:rPr lang="en-US" b="1" dirty="0" smtClean="0"/>
              <a:t>[1] </a:t>
            </a:r>
            <a:r>
              <a:rPr lang="en-US" dirty="0" smtClean="0">
                <a:hlinkClick r:id="rId4"/>
              </a:rPr>
              <a:t>https://www.electricalengineeringinfo.com/2017/01/single-phase-induction-motors-working-principle-construction.html</a:t>
            </a:r>
            <a:endParaRPr lang="en-US" dirty="0" smtClean="0"/>
          </a:p>
          <a:p>
            <a:pPr>
              <a:buNone/>
            </a:pPr>
            <a:r>
              <a:rPr lang="en-US" b="1" dirty="0" smtClean="0"/>
              <a:t>                               [2] </a:t>
            </a:r>
            <a:r>
              <a:rPr lang="en-US" dirty="0" smtClean="0">
                <a:hlinkClick r:id="rId5"/>
              </a:rPr>
              <a:t>https://circuitglobe.com/working-principle-of-single-phase-induction-motor.html</a:t>
            </a:r>
            <a:endParaRPr lang="en-US" dirty="0" smtClean="0"/>
          </a:p>
          <a:p>
            <a:pPr>
              <a:buNone/>
            </a:pPr>
            <a:r>
              <a:rPr lang="en-US" b="1" dirty="0" smtClean="0"/>
              <a:t>                               [3] </a:t>
            </a:r>
            <a:r>
              <a:rPr lang="en-US" dirty="0" smtClean="0">
                <a:hlinkClick r:id="rId6"/>
              </a:rPr>
              <a:t>https://www.elprocus.com/what-is-a-squirrel-cage-induction-motor-and-its-working/</a:t>
            </a:r>
            <a:endParaRPr lang="en-US" dirty="0" smtClean="0"/>
          </a:p>
          <a:p>
            <a:pPr>
              <a:buNone/>
            </a:pPr>
            <a:r>
              <a:rPr lang="en-US" b="1" dirty="0" smtClean="0"/>
              <a:t>                               [4] </a:t>
            </a:r>
            <a:r>
              <a:rPr lang="en-US" dirty="0" smtClean="0">
                <a:hlinkClick r:id="rId7"/>
              </a:rPr>
              <a:t>https://www.elprocus.com/what-is-slip-ring-induction-motor-and-its-working/</a:t>
            </a:r>
            <a:endParaRPr lang="en-US" b="1" dirty="0" smtClean="0"/>
          </a:p>
          <a:p>
            <a:r>
              <a:rPr lang="en-US" b="1" dirty="0" smtClean="0"/>
              <a:t>Videos:            [1] </a:t>
            </a:r>
            <a:r>
              <a:rPr lang="en-US" u="sng" dirty="0" smtClean="0">
                <a:hlinkClick r:id="rId8"/>
              </a:rPr>
              <a:t>https://youtu.be/awrUxv7B-a8</a:t>
            </a:r>
            <a:endParaRPr lang="en-US" dirty="0" smtClean="0"/>
          </a:p>
          <a:p>
            <a:pPr>
              <a:buNone/>
            </a:pPr>
            <a:r>
              <a:rPr lang="en-US" b="1" dirty="0" smtClean="0"/>
              <a:t>                               [2] </a:t>
            </a:r>
            <a:r>
              <a:rPr lang="en-US" u="sng" dirty="0" smtClean="0">
                <a:hlinkClick r:id="rId9"/>
              </a:rPr>
              <a:t>https://youtu.be/AhxMrUo806Y</a:t>
            </a:r>
            <a:endParaRPr lang="en-US" dirty="0" smtClean="0"/>
          </a:p>
          <a:p>
            <a:pPr>
              <a:buNone/>
            </a:pPr>
            <a:r>
              <a:rPr lang="en-US" b="1" dirty="0" smtClean="0"/>
              <a:t>                               [3] </a:t>
            </a:r>
            <a:r>
              <a:rPr lang="en-US" u="sng" dirty="0" smtClean="0">
                <a:hlinkClick r:id="rId10"/>
              </a:rPr>
              <a:t>https://youtu.be/cuwSCutTHEI</a:t>
            </a:r>
            <a:endParaRPr lang="en-US" dirty="0" smtClean="0"/>
          </a:p>
          <a:p>
            <a:pPr>
              <a:buNone/>
            </a:pPr>
            <a:endParaRPr lang="en-US" dirty="0" smtClean="0"/>
          </a:p>
          <a:p>
            <a:pPr>
              <a:buNone/>
            </a:pPr>
            <a:endParaRPr lang="en-US" b="1" dirty="0" smtClean="0"/>
          </a:p>
          <a:p>
            <a:pPr lvl="0">
              <a:buNone/>
            </a:pPr>
            <a:endParaRPr lang="en-US" dirty="0" smtClean="0"/>
          </a:p>
          <a:p>
            <a:pPr>
              <a:buNone/>
            </a:pPr>
            <a:endParaRPr lang="en-US" dirty="0" smtClean="0"/>
          </a:p>
          <a:p>
            <a:pPr lvl="0">
              <a:buNone/>
            </a:pPr>
            <a:endParaRPr lang="en-US" u="sng" dirty="0" smtClean="0"/>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45</a:t>
            </a:fld>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grpSp>
        <p:nvGrpSpPr>
          <p:cNvPr id="3"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158734"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3418030" y="5553090"/>
            <a:ext cx="3308919" cy="707886"/>
          </a:xfrm>
          <a:prstGeom prst="rect">
            <a:avLst/>
          </a:prstGeom>
        </p:spPr>
        <p:txBody>
          <a:bodyPr wrap="none">
            <a:spAutoFit/>
          </a:bodyPr>
          <a:lstStyle/>
          <a:p>
            <a:r>
              <a:rPr lang="en-US" sz="2000" dirty="0" smtClean="0">
                <a:latin typeface="Casper" panose="02000506000000020004" pitchFamily="2" charset="0"/>
                <a:ea typeface="Segoe UI" panose="020B0502040204020203" pitchFamily="34" charset="0"/>
                <a:cs typeface="Segoe UI" panose="020B0502040204020203" pitchFamily="34" charset="0"/>
              </a:rPr>
              <a:t>For queries</a:t>
            </a:r>
          </a:p>
          <a:p>
            <a:r>
              <a:rPr lang="en-US" sz="2000" dirty="0" smtClean="0">
                <a:latin typeface="Casper" panose="02000506000000020004" pitchFamily="2" charset="0"/>
                <a:cs typeface="Segoe UI" panose="020B0502040204020203" pitchFamily="34" charset="0"/>
              </a:rPr>
              <a:t>Email: Shikha.e12701@cumail.in</a:t>
            </a:r>
          </a:p>
        </p:txBody>
      </p:sp>
    </p:spTree>
    <p:extLst>
      <p:ext uri="{BB962C8B-B14F-4D97-AF65-F5344CB8AC3E}">
        <p14:creationId xmlns:p14="http://schemas.microsoft.com/office/powerpoint/2010/main" val="2658080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2602</TotalTime>
  <Words>2335</Words>
  <Application>Microsoft Office PowerPoint</Application>
  <PresentationFormat>Widescreen</PresentationFormat>
  <Paragraphs>471</Paragraphs>
  <Slides>46</Slides>
  <Notes>0</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46</vt:i4>
      </vt:variant>
    </vt:vector>
  </HeadingPairs>
  <TitlesOfParts>
    <vt:vector size="61" baseType="lpstr">
      <vt:lpstr>Arial</vt:lpstr>
      <vt:lpstr>Arial Black</vt:lpstr>
      <vt:lpstr>Arial Unicode MS</vt:lpstr>
      <vt:lpstr>Calibri</vt:lpstr>
      <vt:lpstr>Calibri Light</vt:lpstr>
      <vt:lpstr>Casper</vt:lpstr>
      <vt:lpstr>Karla</vt:lpstr>
      <vt:lpstr>Raavi</vt:lpstr>
      <vt:lpstr>Raleway ExtraBold</vt:lpstr>
      <vt:lpstr>Segoe UI</vt:lpstr>
      <vt:lpstr>Times New Roman</vt:lpstr>
      <vt:lpstr>Wingdings</vt:lpstr>
      <vt:lpstr>1_Office Theme</vt:lpstr>
      <vt:lpstr>Contents Slide Master</vt:lpstr>
      <vt:lpstr>CorelDRAW</vt:lpstr>
      <vt:lpstr>PowerPoint Presentation</vt:lpstr>
      <vt:lpstr>LECTURE OBJECTIVES</vt:lpstr>
      <vt:lpstr>Course Objectives</vt:lpstr>
      <vt:lpstr>Course Outcomes</vt:lpstr>
      <vt:lpstr>IMPORTANCE OF COURSE[BEEE]</vt:lpstr>
      <vt:lpstr>CONTENTS   </vt:lpstr>
      <vt:lpstr>   SINGLE PHASE INDUCTION MOTOR </vt:lpstr>
      <vt:lpstr>SINGLE PHASE INDUCTION MOTOR</vt:lpstr>
      <vt:lpstr>CONSTRUCTION OF SINGLE PHASE INDUCTION MOTOR</vt:lpstr>
      <vt:lpstr>TYPES OF ROTOR</vt:lpstr>
      <vt:lpstr>SQUIRREL CAGE ROTOR</vt:lpstr>
      <vt:lpstr>ADVANATGES &amp; DISADVANTAGES OF SQUIRREL CAGE ROTOR</vt:lpstr>
      <vt:lpstr>APPLICATIONS OF SQUIRREL CAGE ROTOR</vt:lpstr>
      <vt:lpstr>SLIP RING ROTOR</vt:lpstr>
      <vt:lpstr>ADVANATGES &amp; DISADVANTAGES OF SLIP RING ROTOR</vt:lpstr>
      <vt:lpstr>APPLICATIONS OF SLIP RING ROTOR</vt:lpstr>
      <vt:lpstr>PowerPoint Presentation</vt:lpstr>
      <vt:lpstr>Difference Between AC and DC Supply</vt:lpstr>
      <vt:lpstr> WORKING PRINCIPLE OF SINGLE PHASE INDUCTION MOTOR </vt:lpstr>
      <vt:lpstr> WORKING PRINCIPLE OF SINGLE PHASE INDUCTION MOTOR </vt:lpstr>
      <vt:lpstr> APPLICATIONS OF SINGLE PHASE INDUCTION MOTOR </vt:lpstr>
      <vt:lpstr>INTRODUCTION TO THREE PHASE INDUCTION MOTOR</vt:lpstr>
      <vt:lpstr>INTRODUCTION TO THREE PHASE INDUCTION MOTOR</vt:lpstr>
      <vt:lpstr>CONSTRUCTION OF THREE PHASE INDUCTION MOTOR</vt:lpstr>
      <vt:lpstr>STATOR OF THREE PHASE INDUCTION MOTOR</vt:lpstr>
      <vt:lpstr>SQUIRREL CAGE ROTOR</vt:lpstr>
      <vt:lpstr>SLIP RING ROTOR OR PHASE WOUND ROTOR</vt:lpstr>
      <vt:lpstr>WORKING OF THREE PHASE INDUCTION MOTOR</vt:lpstr>
      <vt:lpstr>WORKING OF THREE PHASE INDUCTION MOTOR</vt:lpstr>
      <vt:lpstr>SPEED OF THREE PHASE INDUCTION MOTOR</vt:lpstr>
      <vt:lpstr> SLIP OF SINGLE PHASE INDUCTION MOTOR </vt:lpstr>
      <vt:lpstr> ROTOR SPEED OF SINGLE PHASE INDUCTION MOTOR </vt:lpstr>
      <vt:lpstr> FREQUENCY OF ROTOR </vt:lpstr>
      <vt:lpstr>ADVANTAGES OF THREE PHASE INDUCTION MOTOR</vt:lpstr>
      <vt:lpstr>DISADVANTAGES OF THREE PHASE INDUCTION MOTOR</vt:lpstr>
      <vt:lpstr>APPLICATIONS OF THREE PHASE INDUCTION MOTOR</vt:lpstr>
      <vt:lpstr>PowerPoint Presentation</vt:lpstr>
      <vt:lpstr>PowerPoint Presentation</vt:lpstr>
      <vt:lpstr>SUMMARY</vt:lpstr>
      <vt:lpstr>FREQUENTLY ASKED QUESTIONS</vt:lpstr>
      <vt:lpstr>LEARNING OUTCOMES </vt:lpstr>
      <vt:lpstr>Course Outcome to Program Outcome Relationship</vt:lpstr>
      <vt:lpstr>ASSESSMENT PATTERN</vt:lpstr>
      <vt:lpstr>REFERENCES FOR FURTHER HIGHER LEARNING</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INDIAN</cp:lastModifiedBy>
  <cp:revision>306</cp:revision>
  <dcterms:created xsi:type="dcterms:W3CDTF">2019-01-09T10:33:58Z</dcterms:created>
  <dcterms:modified xsi:type="dcterms:W3CDTF">2023-06-20T05:07:45Z</dcterms:modified>
</cp:coreProperties>
</file>