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3"/>
  </p:notesMasterIdLst>
  <p:handoutMasterIdLst>
    <p:handoutMasterId r:id="rId34"/>
  </p:handoutMasterIdLst>
  <p:sldIdLst>
    <p:sldId id="371" r:id="rId3"/>
    <p:sldId id="404" r:id="rId4"/>
    <p:sldId id="448" r:id="rId5"/>
    <p:sldId id="449" r:id="rId6"/>
    <p:sldId id="390" r:id="rId7"/>
    <p:sldId id="394" r:id="rId8"/>
    <p:sldId id="327" r:id="rId9"/>
    <p:sldId id="434" r:id="rId10"/>
    <p:sldId id="447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14" r:id="rId24"/>
    <p:sldId id="375" r:id="rId25"/>
    <p:sldId id="377" r:id="rId26"/>
    <p:sldId id="405" r:id="rId27"/>
    <p:sldId id="450" r:id="rId28"/>
    <p:sldId id="407" r:id="rId29"/>
    <p:sldId id="403" r:id="rId30"/>
    <p:sldId id="433" r:id="rId31"/>
    <p:sldId id="40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962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ytech-info.com/2014/12/characteristics-of-dc-shunt-motor.html" TargetMode="Externa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mytech-info.com/2014/12/characteristics-of-dc-shunt-moto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://www.mytech-info.com/2014/12/characteristics-of-dc-shunt-moto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www.mytech-info.com/2014/12/characteristic-of-dc-series-moto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www.mytech-info.com/2014/12/characteristic-of-dc-series-moto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www.mytech-info.com/2014/12/characteristic-of-dc-series-moto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hyperlink" Target="https://top-ee.com/dc-compound-motor/" TargetMode="Externa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hyperlink" Target="https://eeebooks4u.wordpress.com/2017/05/23/characteristics-of-dc-motors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technology.org/2014/01/important-terms-related-to-electric-circuits-and-networks.html" TargetMode="External"/><Relationship Id="rId2" Type="http://schemas.openxmlformats.org/officeDocument/2006/relationships/hyperlink" Target="https://www.sciencedirect.com/topics/computer-science/electrical-network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6MnmcMYbsfQ" TargetMode="External"/><Relationship Id="rId3" Type="http://schemas.openxmlformats.org/officeDocument/2006/relationships/hyperlink" Target="file:///C:\Users\user\Desktop\BLACK%20BOARD%20MATERIAL%20PEE\UNIT-2%20PEE\Lecture%203%20&amp;%204\Elements%20Of%20Electrical%20Engineering%20By%20V.%20U.%20Bakshi%20and%20U.%20A.%20Bakshi.pdf" TargetMode="External"/><Relationship Id="rId7" Type="http://schemas.openxmlformats.org/officeDocument/2006/relationships/hyperlink" Target="https://www.slideshare.net/saaz1425/dc-motor-23906628" TargetMode="External"/><Relationship Id="rId2" Type="http://schemas.openxmlformats.org/officeDocument/2006/relationships/hyperlink" Target="file:///C:\Users\user\Desktop\BLACK%20BOARD%20MATERIAL%20PEE\UNIT-2%20PEE\Lecture%203%20&amp;%204\doku.pub_basic-electrical-engineering-vkmehta-e-schan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ptel.ac.in/content/storage2/courses/108105053/pdf/L-39(TB)(ET)%20((EE)NPTEL).pdf" TargetMode="External"/><Relationship Id="rId5" Type="http://schemas.openxmlformats.org/officeDocument/2006/relationships/hyperlink" Target="http://www.mytech-info.com/2014/12/characteristic-of-dc-series-motor.html" TargetMode="External"/><Relationship Id="rId10" Type="http://schemas.openxmlformats.org/officeDocument/2006/relationships/hyperlink" Target="https://youtu.be/SP98tDcH3sE" TargetMode="External"/><Relationship Id="rId4" Type="http://schemas.openxmlformats.org/officeDocument/2006/relationships/hyperlink" Target="https://www.electrical4u.com/dc-motor-or-direct-current-motor/" TargetMode="External"/><Relationship Id="rId9" Type="http://schemas.openxmlformats.org/officeDocument/2006/relationships/hyperlink" Target="https://youtu.be/Fbw1Rcm3E68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hyperlink" Target="mailto:akhilnigam.eee@cumail.in" TargetMode="Externa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4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189797"/>
            <a:ext cx="9832638" cy="736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ENGINEERING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Engineering)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ELECTRICAL &amp; ELECTRONICS ENGINEERING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Unit-3, Chapter-2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3.1.5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CHARACTERISTICS OF DC MOTOR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 smtClean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 smtClean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5859"/>
              </p:ext>
            </p:extLst>
          </p:nvPr>
        </p:nvGraphicFramePr>
        <p:xfrm>
          <a:off x="282009" y="2226080"/>
          <a:ext cx="6536802" cy="3968322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characteristics of DC motor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torque- armature current, speed - armature current and speed-torque characteristics of DC shunt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torque- armature current, speed - armature current and speed-torque characteristics of DC series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torque- armature current, speed - armature current and speed-torque characteristics of DC compound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give brief knowledge about applications of DC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394959"/>
            <a:ext cx="4428309" cy="60978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dirty="0" smtClean="0">
                <a:hlinkClick r:id="rId2"/>
              </a:rPr>
              <a:t>https://library.automationdirect.com/basic-electrical-theory/</a:t>
            </a:r>
            <a:endParaRPr lang="en-US" sz="1800" dirty="0">
              <a:solidFill>
                <a:srgbClr val="00B0F0"/>
              </a:solidFill>
            </a:endParaRPr>
          </a:p>
        </p:txBody>
      </p:sp>
      <p:pic>
        <p:nvPicPr>
          <p:cNvPr id="9" name="Picture 1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58446" y="1789611"/>
            <a:ext cx="4522270" cy="33571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dirty="0" smtClean="0">
                <a:hlinkClick r:id="rId2"/>
              </a:rPr>
              <a:t>https://library.automationdirect.com/basic-electrical-theory/</a:t>
            </a:r>
            <a:endParaRPr lang="en-US" sz="1800" dirty="0">
              <a:solidFill>
                <a:srgbClr val="00B0F0"/>
              </a:solidFill>
            </a:endParaRPr>
          </a:p>
        </p:txBody>
      </p:sp>
      <p:pic>
        <p:nvPicPr>
          <p:cNvPr id="9" name="Picture 1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2797" y="1789611"/>
            <a:ext cx="4688545" cy="3304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73008"/>
              </p:ext>
            </p:extLst>
          </p:nvPr>
        </p:nvGraphicFramePr>
        <p:xfrm>
          <a:off x="169818" y="2325189"/>
          <a:ext cx="5969726" cy="3460463"/>
        </p:xfrm>
        <a:graphic>
          <a:graphicData uri="http://schemas.openxmlformats.org/drawingml/2006/table">
            <a:tbl>
              <a:tblPr firstRow="1" firstCol="1" bandRow="1"/>
              <a:tblGrid>
                <a:gridCol w="508514">
                  <a:extLst>
                    <a:ext uri="{9D8B030D-6E8A-4147-A177-3AD203B41FA5}">
                      <a16:colId xmlns:a16="http://schemas.microsoft.com/office/drawing/2014/main" val="3054864506"/>
                    </a:ext>
                  </a:extLst>
                </a:gridCol>
                <a:gridCol w="5461212">
                  <a:extLst>
                    <a:ext uri="{9D8B030D-6E8A-4147-A177-3AD203B41FA5}">
                      <a16:colId xmlns:a16="http://schemas.microsoft.com/office/drawing/2014/main" val="3741035582"/>
                    </a:ext>
                  </a:extLst>
                </a:gridCol>
              </a:tblGrid>
              <a:tr h="635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600178"/>
                  </a:ext>
                </a:extLst>
              </a:tr>
              <a:tr h="9416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570607"/>
                  </a:ext>
                </a:extLst>
              </a:tr>
              <a:tr h="1883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06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609807" y="5329646"/>
            <a:ext cx="4915398" cy="518341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sz="2000" dirty="0" smtClean="0">
                <a:hlinkClick r:id="rId2"/>
              </a:rPr>
              <a:t>https://library.automationdirect.com/basic-electrical-theory/</a:t>
            </a: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11" name="Picture 1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0911" y="1763486"/>
            <a:ext cx="4688545" cy="3304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1825625"/>
          <a:ext cx="5971310" cy="4399490"/>
        </p:xfrm>
        <a:graphic>
          <a:graphicData uri="http://schemas.openxmlformats.org/drawingml/2006/table">
            <a:tbl>
              <a:tblPr firstRow="1" firstCol="1" bandRow="1"/>
              <a:tblGrid>
                <a:gridCol w="497083">
                  <a:extLst>
                    <a:ext uri="{9D8B030D-6E8A-4147-A177-3AD203B41FA5}">
                      <a16:colId xmlns:a16="http://schemas.microsoft.com/office/drawing/2014/main" val="2680944829"/>
                    </a:ext>
                  </a:extLst>
                </a:gridCol>
                <a:gridCol w="4677009">
                  <a:extLst>
                    <a:ext uri="{9D8B030D-6E8A-4147-A177-3AD203B41FA5}">
                      <a16:colId xmlns:a16="http://schemas.microsoft.com/office/drawing/2014/main" val="1338317805"/>
                    </a:ext>
                  </a:extLst>
                </a:gridCol>
                <a:gridCol w="797218">
                  <a:extLst>
                    <a:ext uri="{9D8B030D-6E8A-4147-A177-3AD203B41FA5}">
                      <a16:colId xmlns:a16="http://schemas.microsoft.com/office/drawing/2014/main" val="957103262"/>
                    </a:ext>
                  </a:extLst>
                </a:gridCol>
              </a:tblGrid>
              <a:tr h="5840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220414"/>
                  </a:ext>
                </a:extLst>
              </a:tr>
              <a:tr h="74688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44367"/>
                  </a:ext>
                </a:extLst>
              </a:tr>
              <a:tr h="85791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856933"/>
                  </a:ext>
                </a:extLst>
              </a:tr>
              <a:tr h="74688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361435"/>
                  </a:ext>
                </a:extLst>
              </a:tr>
              <a:tr h="74688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412061"/>
                  </a:ext>
                </a:extLst>
              </a:tr>
              <a:tr h="63708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75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cs typeface="Arial" panose="020B0604020202020204" pitchFamily="34" charset="0"/>
              </a:rPr>
              <a:t>IMPORTANCE OF COURSE[BEEE]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215743" cy="435133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Use in communication and satellite navigation system.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Handles in electronics equipment and computers.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Deals with the problem of power transmission and motor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Handles with robotics applications.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223760" y="5512526"/>
            <a:ext cx="4127863" cy="574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F0"/>
                </a:solidFill>
              </a:rPr>
              <a:t>https://images.app.goo.gl/JY2jmAuASfpDUENZ8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201730" name="Picture 2" descr="https://encrypted-tbn0.gstatic.com/images?q=tbn:ANd9GcRGXyGs4ZsbVmm6wQW2rx5Jnn_G88CgkS_bz8kFZ54TuS0EHns&amp;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0147" y="1956161"/>
            <a:ext cx="3866848" cy="33604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CONTENTS</a:t>
            </a:r>
            <a:r>
              <a:rPr lang="en-US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+mn-lt"/>
              </a:rPr>
              <a:t> </a:t>
            </a:r>
            <a:r>
              <a:rPr lang="en-US" dirty="0" smtClean="0">
                <a:latin typeface="Casper"/>
              </a:rPr>
              <a:t> </a:t>
            </a:r>
            <a:endParaRPr lang="en-US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Various types of characteristics of DC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shunt motor.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series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compound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Applications of DC motors.</a:t>
            </a:r>
            <a:endParaRPr lang="en-IN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endParaRPr lang="en-IN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endParaRPr lang="en-IN" dirty="0">
              <a:solidFill>
                <a:prstClr val="black"/>
              </a:solidFill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None/>
            </a:pPr>
            <a:endParaRPr lang="en-IN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TYPES OF CHARACTERISTICS OF DC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1917067"/>
            <a:ext cx="10839995" cy="435133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dirty="0" smtClean="0"/>
              <a:t>Three characteristic curves are there for DC Motors given below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 smtClean="0"/>
              <a:t>Torque-armature current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 smtClean="0"/>
              <a:t>Speed- armature current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 smtClean="0"/>
              <a:t>Speed- torque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TORQUE- SPEED EQUATION OF DC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1917067"/>
            <a:ext cx="10839995" cy="435133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dirty="0" smtClean="0"/>
              <a:t>For a </a:t>
            </a:r>
            <a:r>
              <a:rPr lang="en-US" dirty="0" err="1" smtClean="0"/>
              <a:t>d.c</a:t>
            </a:r>
            <a:r>
              <a:rPr lang="en-US" dirty="0" smtClean="0"/>
              <a:t>. motor, Torque is directly proportional to the product of </a:t>
            </a:r>
            <a:r>
              <a:rPr lang="en-US" b="1" dirty="0" smtClean="0"/>
              <a:t>Armature current</a:t>
            </a:r>
            <a:r>
              <a:rPr lang="en-US" dirty="0" smtClean="0"/>
              <a:t> and M</a:t>
            </a:r>
            <a:r>
              <a:rPr lang="en-US" b="1" dirty="0" smtClean="0"/>
              <a:t>ain flux</a:t>
            </a:r>
            <a:r>
              <a:rPr lang="en-US" dirty="0" smtClean="0"/>
              <a:t>.</a:t>
            </a:r>
          </a:p>
          <a:p>
            <a:pPr marL="342900" indent="-342900"/>
            <a:endParaRPr lang="en-US" dirty="0" smtClean="0"/>
          </a:p>
          <a:p>
            <a:pPr marL="342900" indent="-342900"/>
            <a:endParaRPr lang="en-US" dirty="0" smtClean="0"/>
          </a:p>
          <a:p>
            <a:pPr marL="342900" indent="-342900"/>
            <a:endParaRPr lang="en-US" dirty="0" smtClean="0"/>
          </a:p>
          <a:p>
            <a:pPr marL="342900" indent="-342900"/>
            <a:endParaRPr lang="en-US" dirty="0" smtClean="0"/>
          </a:p>
          <a:p>
            <a:pPr marL="342900" indent="-342900" algn="just"/>
            <a:r>
              <a:rPr lang="en-US" dirty="0" smtClean="0"/>
              <a:t>Now  is the flux produced by the field winding and is proportional to the current passing through the field winding.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eqn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10743" y="3021194"/>
            <a:ext cx="2401797" cy="15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41666" name="Picture 2" descr="Difference Between Lap &amp; Wave Winding with Comparison Chart - Circuit Glob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643" y="1645148"/>
            <a:ext cx="5299514" cy="36322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1668" name="AutoShape 4" descr="What is number of parallel paths in DC machin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670" name="AutoShape 6" descr="What is number of parallel paths in DC machin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1672" name="Picture 8" descr="Difference Between Lap &amp; Wave Winding with Comparison Chart - Circuit Glob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43541" y="1658983"/>
            <a:ext cx="5939156" cy="36155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TORQUE- SPEED EQUATION OF DC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1917067"/>
            <a:ext cx="10839995" cy="435133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dirty="0" smtClean="0"/>
              <a:t>For a </a:t>
            </a:r>
            <a:r>
              <a:rPr lang="en-US" dirty="0" err="1" smtClean="0"/>
              <a:t>d.c</a:t>
            </a:r>
            <a:r>
              <a:rPr lang="en-US" dirty="0" smtClean="0"/>
              <a:t>. motor, Torque is directly proportional to the product of armature current and main flux.</a:t>
            </a:r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en-US" dirty="0" smtClean="0"/>
              <a:t>Similarly the back </a:t>
            </a:r>
            <a:r>
              <a:rPr lang="en-US" dirty="0" err="1" smtClean="0"/>
              <a:t>emf</a:t>
            </a:r>
            <a:r>
              <a:rPr lang="en-US" dirty="0" smtClean="0"/>
              <a:t> produced in the armature is given by</a:t>
            </a:r>
          </a:p>
          <a:p>
            <a:pPr marL="342900" indent="-342900"/>
            <a:endParaRPr lang="en-US" dirty="0" smtClean="0"/>
          </a:p>
          <a:p>
            <a:pPr marL="342900" indent="-34290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flux 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00772" y="2952341"/>
            <a:ext cx="1404531" cy="509487"/>
          </a:xfrm>
          <a:prstGeom prst="rect">
            <a:avLst/>
          </a:prstGeom>
        </p:spPr>
      </p:pic>
      <p:pic>
        <p:nvPicPr>
          <p:cNvPr id="9" name="Picture 8" descr="voltag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76057" y="3997643"/>
            <a:ext cx="2926080" cy="24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TORQUE- SPEED EQUATION OF DC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1917067"/>
            <a:ext cx="10839995" cy="4351338"/>
          </a:xfrm>
        </p:spPr>
        <p:txBody>
          <a:bodyPr>
            <a:noAutofit/>
          </a:bodyPr>
          <a:lstStyle/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r>
              <a:rPr lang="en-US" dirty="0" smtClean="0"/>
              <a:t>These relations play an important role in understanding the various characteristics of different types of motors.</a:t>
            </a:r>
          </a:p>
          <a:p>
            <a:pPr marL="342900" indent="-34290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speed eq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47054" y="2052092"/>
            <a:ext cx="2765116" cy="274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TORQUE- ARMATURE CURRENT CHARACTERISTICS OF DC SHUNT 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1917067"/>
            <a:ext cx="5484223" cy="4351338"/>
          </a:xfrm>
        </p:spPr>
        <p:txBody>
          <a:bodyPr>
            <a:noAutofit/>
          </a:bodyPr>
          <a:lstStyle/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/>
            <a:r>
              <a:rPr lang="en-US" dirty="0" smtClean="0"/>
              <a:t>For a constant values of  and supply voltage </a:t>
            </a:r>
            <a:r>
              <a:rPr lang="en-US" b="1" dirty="0" smtClean="0"/>
              <a:t> is also constant and hence flux is also constant.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r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61706" y="2068204"/>
            <a:ext cx="1918408" cy="674995"/>
          </a:xfrm>
          <a:prstGeom prst="rect">
            <a:avLst/>
          </a:prstGeom>
        </p:spPr>
      </p:pic>
      <p:pic>
        <p:nvPicPr>
          <p:cNvPr id="9" name="Picture 8" descr="flux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13228" y="4425314"/>
            <a:ext cx="1949766" cy="16615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9177" y="4754880"/>
            <a:ext cx="51859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Fig.1 torque-armature current curve  for DC shunt motor</a:t>
            </a:r>
            <a:endParaRPr lang="en-US" dirty="0"/>
          </a:p>
        </p:txBody>
      </p:sp>
      <p:pic>
        <p:nvPicPr>
          <p:cNvPr id="13" name="Picture 12" descr="tor ar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53051" y="1946367"/>
            <a:ext cx="5264331" cy="2704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466114" y="5503596"/>
            <a:ext cx="52293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5"/>
              </a:rPr>
              <a:t>http://www.mytech-info.com/2014/12/characteristics-of-dc-shunt-motor.html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SPEED- ARMATURE CURRENT CHARACTERISTICS OF DC SHUNT 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97" y="1969318"/>
            <a:ext cx="5484223" cy="4351338"/>
          </a:xfrm>
        </p:spPr>
        <p:txBody>
          <a:bodyPr>
            <a:noAutofit/>
          </a:bodyPr>
          <a:lstStyle/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r>
              <a:rPr lang="en-US" dirty="0" smtClean="0"/>
              <a:t>So as load increases &gt;&gt; The armature current increases and hence drop  also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79177" y="4754880"/>
            <a:ext cx="51859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Fig.2 speed-armature current curve  for DC shunt motor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6114" y="5503596"/>
            <a:ext cx="52293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http://www.mytech-info.com/2014/12/characteristics-of-dc-shunt-motor.html</a:t>
            </a:r>
            <a:endParaRPr lang="en-US" dirty="0"/>
          </a:p>
        </p:txBody>
      </p:sp>
      <p:pic>
        <p:nvPicPr>
          <p:cNvPr id="15" name="Picture 14" descr="w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87743" y="1975485"/>
            <a:ext cx="2340566" cy="2030628"/>
          </a:xfrm>
          <a:prstGeom prst="rect">
            <a:avLst/>
          </a:prstGeom>
        </p:spPr>
      </p:pic>
      <p:pic>
        <p:nvPicPr>
          <p:cNvPr id="207874" name="Picture 2" descr="Characteristics of DC Shunt Motor - My Tech Inf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7554" y="1961288"/>
            <a:ext cx="5029200" cy="2647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SPEED- TORQUE CHARACTERISTICS OF DC SHUNT 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97" y="1969318"/>
            <a:ext cx="5484223" cy="4351338"/>
          </a:xfrm>
        </p:spPr>
        <p:txBody>
          <a:bodyPr>
            <a:noAutofit/>
          </a:bodyPr>
          <a:lstStyle/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r>
              <a:rPr lang="en-US" dirty="0" smtClean="0"/>
              <a:t>So from these 2 equations, we can conclude that Speed and Torque both has a </a:t>
            </a:r>
            <a:r>
              <a:rPr lang="en-US" b="1" dirty="0" smtClean="0"/>
              <a:t>linear</a:t>
            </a:r>
            <a:r>
              <a:rPr lang="en-US" dirty="0" smtClean="0"/>
              <a:t> </a:t>
            </a:r>
            <a:r>
              <a:rPr lang="en-US" b="1" dirty="0" smtClean="0"/>
              <a:t>relationship.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79177" y="4885509"/>
            <a:ext cx="5185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Fig.3 speed-torque curve  for DC shunt motor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6114" y="5503596"/>
            <a:ext cx="52293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http://www.mytech-info.com/2014/12/characteristics-of-dc-shunt-motor.html</a:t>
            </a:r>
            <a:endParaRPr lang="en-US" dirty="0"/>
          </a:p>
        </p:txBody>
      </p:sp>
      <p:pic>
        <p:nvPicPr>
          <p:cNvPr id="11" name="Picture 10" descr="W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4363" y="1854381"/>
            <a:ext cx="2466975" cy="2705100"/>
          </a:xfrm>
          <a:prstGeom prst="rect">
            <a:avLst/>
          </a:prstGeom>
        </p:spPr>
      </p:pic>
      <p:pic>
        <p:nvPicPr>
          <p:cNvPr id="13" name="Picture 12" descr="w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31430" y="1834106"/>
            <a:ext cx="4924696" cy="2771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TORQUE- ARMATURE CURRENT CHARACTERISTICS OF DC SERIES 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3" y="1930130"/>
            <a:ext cx="5484223" cy="435133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dirty="0" smtClean="0"/>
              <a:t>In the case of a series motor, the series field winding is carrying the entire armature current. So flux produced is proportional to the armature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79177" y="4754880"/>
            <a:ext cx="51859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Fig.4 torque-armature current curve  for DC series motor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6114" y="5503596"/>
            <a:ext cx="522937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http://www.mytech-info.com/2014/12/characteristic-of-dc-series-motor.html</a:t>
            </a:r>
            <a:endParaRPr lang="en-US" dirty="0"/>
          </a:p>
        </p:txBody>
      </p:sp>
      <p:pic>
        <p:nvPicPr>
          <p:cNvPr id="15" name="Picture 14" descr="w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11680" y="4990011"/>
            <a:ext cx="2308185" cy="1245895"/>
          </a:xfrm>
          <a:prstGeom prst="rect">
            <a:avLst/>
          </a:prstGeom>
        </p:spPr>
      </p:pic>
      <p:pic>
        <p:nvPicPr>
          <p:cNvPr id="16" name="Picture 15" descr="r1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47009" y="4262765"/>
            <a:ext cx="1263288" cy="444490"/>
          </a:xfrm>
          <a:prstGeom prst="rect">
            <a:avLst/>
          </a:prstGeom>
        </p:spPr>
      </p:pic>
      <p:pic>
        <p:nvPicPr>
          <p:cNvPr id="17" name="Picture 16" descr="w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48994" y="1904728"/>
            <a:ext cx="4558937" cy="2587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SPEED- ARMATURE CURRENT CHARACTERISTICS OF DC SERIES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97" y="1969318"/>
            <a:ext cx="5484223" cy="4351338"/>
          </a:xfrm>
        </p:spPr>
        <p:txBody>
          <a:bodyPr>
            <a:noAutofit/>
          </a:bodyPr>
          <a:lstStyle/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endParaRPr lang="en-US" dirty="0" smtClean="0"/>
          </a:p>
          <a:p>
            <a:pPr marL="342900" indent="-342900" algn="just"/>
            <a:r>
              <a:rPr lang="en-US" dirty="0" smtClean="0"/>
              <a:t>Hence in the speed equation, </a:t>
            </a:r>
            <a:r>
              <a:rPr lang="en-US" dirty="0" err="1" smtClean="0"/>
              <a:t>E</a:t>
            </a:r>
            <a:r>
              <a:rPr lang="en-US" baseline="-25000" dirty="0" err="1" smtClean="0"/>
              <a:t>b</a:t>
            </a:r>
            <a:r>
              <a:rPr lang="en-US" dirty="0" smtClean="0"/>
              <a:t> ≈ V and can be assumed constant. So speed equation reduces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79177" y="4754880"/>
            <a:ext cx="51859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Fig.5 speed-armature current curve for DC series motor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6114" y="5503596"/>
            <a:ext cx="522937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http://www.mytech-info.com/2014/12/characteristic-of-dc-series-motor.html</a:t>
            </a:r>
            <a:endParaRPr lang="en-US" dirty="0"/>
          </a:p>
        </p:txBody>
      </p:sp>
      <p:pic>
        <p:nvPicPr>
          <p:cNvPr id="11" name="Picture 10" descr="w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7448" y="2152650"/>
            <a:ext cx="3238500" cy="1638300"/>
          </a:xfrm>
          <a:prstGeom prst="rect">
            <a:avLst/>
          </a:prstGeom>
        </p:spPr>
      </p:pic>
      <p:pic>
        <p:nvPicPr>
          <p:cNvPr id="13" name="Picture 12" descr="w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85928" y="2532658"/>
            <a:ext cx="1482906" cy="1177602"/>
          </a:xfrm>
          <a:prstGeom prst="rect">
            <a:avLst/>
          </a:prstGeom>
        </p:spPr>
      </p:pic>
      <p:pic>
        <p:nvPicPr>
          <p:cNvPr id="17" name="Picture 16" descr="w10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121842" y="2050869"/>
            <a:ext cx="4112215" cy="25211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defRPr/>
            </a:pPr>
            <a:r>
              <a:rPr lang="en-IN" b="1" dirty="0" smtClean="0">
                <a:latin typeface="+mj-lt"/>
              </a:rPr>
              <a:t>SPEED- TORQUE CHARACTERISTICS OF DC SERIES  MOTOR</a:t>
            </a:r>
            <a:endParaRPr lang="en-IN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77878"/>
            <a:ext cx="5484223" cy="4351338"/>
          </a:xfrm>
        </p:spPr>
        <p:txBody>
          <a:bodyPr>
            <a:noAutofit/>
          </a:bodyPr>
          <a:lstStyle/>
          <a:p>
            <a:pPr marL="342900" indent="-342900" algn="just">
              <a:buNone/>
            </a:pPr>
            <a:r>
              <a:rPr lang="en-US" dirty="0" smtClean="0"/>
              <a:t>In case of series motors</a:t>
            </a:r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r>
              <a:rPr lang="en-US" dirty="0" smtClean="0"/>
              <a:t>Hence we can write</a:t>
            </a:r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>
              <a:buNone/>
            </a:pPr>
            <a:endParaRPr lang="en-US" dirty="0" smtClean="0"/>
          </a:p>
          <a:p>
            <a:pPr marL="342900" indent="-342900" algn="just"/>
            <a:r>
              <a:rPr lang="en-US" dirty="0" smtClean="0"/>
              <a:t>Thus as torque increases when load increases, the speed decreases. </a:t>
            </a:r>
          </a:p>
          <a:p>
            <a:pPr marL="342900" indent="-34290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5827" name="AutoShape 3" descr="\displaystyle T \propto \phi I_a  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26" name="AutoShape 2" descr="\displaystyle T_a = \phi I_a \biggl ( \frac {PZ}{2\pi A} \biggr )  "/>
          <p:cNvSpPr>
            <a:spLocks noChangeAspect="1" noChangeArrowheads="1"/>
          </p:cNvSpPr>
          <p:nvPr/>
        </p:nvSpPr>
        <p:spPr bwMode="auto">
          <a:xfrm>
            <a:off x="0" y="-1063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79177" y="4885509"/>
            <a:ext cx="5185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Fig.6 speed-torque curve  for DC series motor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6114" y="5503596"/>
            <a:ext cx="522937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http://www.mytech-info.com/2014/12/characteristic-of-dc-series-motor.html</a:t>
            </a:r>
            <a:endParaRPr lang="en-US" dirty="0"/>
          </a:p>
        </p:txBody>
      </p:sp>
      <p:pic>
        <p:nvPicPr>
          <p:cNvPr id="15" name="Picture 14" descr="speed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25205" y="2071415"/>
            <a:ext cx="4056155" cy="25567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 descr="w4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29246" y="2371725"/>
            <a:ext cx="1136468" cy="1064646"/>
          </a:xfrm>
          <a:prstGeom prst="rect">
            <a:avLst/>
          </a:prstGeom>
        </p:spPr>
      </p:pic>
      <p:pic>
        <p:nvPicPr>
          <p:cNvPr id="18" name="Picture 17" descr="t1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51969" y="4033702"/>
            <a:ext cx="10953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8197" y="304801"/>
            <a:ext cx="10497104" cy="7976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12700" algn="ctr">
              <a:lnSpc>
                <a:spcPts val="5485"/>
              </a:lnSpc>
              <a:spcBef>
                <a:spcPct val="0"/>
              </a:spcBef>
            </a:pPr>
            <a:r>
              <a:rPr lang="en-US" sz="4400" b="1" dirty="0" smtClean="0">
                <a:latin typeface="Calibri Light"/>
                <a:ea typeface="+mj-ea"/>
                <a:cs typeface="Times New Roman" pitchFamily="18" charset="0"/>
              </a:rPr>
              <a:t>CHARACTERISTICS OF DC COMPOUND MOTOR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7072" y="1371600"/>
            <a:ext cx="11381875" cy="48736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A  compound  motor  has  both  shunt  and  series   field  winding  .The  shunt  field  winding always  stronger  then  series  field  winding.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sng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Times New Roman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Two  types   of  the   compound  motor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(1)  Cumulative  compound  motor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      (current  direction  is  same   in  series  and 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            shunt)</a:t>
            </a:r>
          </a:p>
          <a:p>
            <a:pPr marL="274320" indent="-274320" algn="just">
              <a:defRPr/>
            </a:pPr>
            <a:r>
              <a:rPr lang="en-US" sz="2800" dirty="0" smtClean="0"/>
              <a:t>(2)  Differentially  compound  motor</a:t>
            </a:r>
          </a:p>
          <a:p>
            <a:pPr algn="just">
              <a:defRPr/>
            </a:pPr>
            <a:r>
              <a:rPr lang="en-US" sz="2800" dirty="0" smtClean="0"/>
              <a:t>           (  current   is  in  opposite  direction  in  </a:t>
            </a:r>
          </a:p>
          <a:p>
            <a:pPr algn="just">
              <a:defRPr/>
            </a:pPr>
            <a:r>
              <a:rPr lang="en-US" sz="2800" dirty="0" smtClean="0"/>
              <a:t>              series  and  shunt  winding)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Times New Roman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3077" y="2286000"/>
            <a:ext cx="4268312" cy="3081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Picture 1" descr="D:\study materal\CU data\BEEE\CU 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1"/>
            <a:ext cx="676451" cy="1038225"/>
          </a:xfrm>
          <a:prstGeom prst="rect">
            <a:avLst/>
          </a:prstGeom>
          <a:noFill/>
        </p:spPr>
      </p:pic>
      <p:sp>
        <p:nvSpPr>
          <p:cNvPr id="7" name="object 4"/>
          <p:cNvSpPr/>
          <p:nvPr/>
        </p:nvSpPr>
        <p:spPr>
          <a:xfrm>
            <a:off x="7086858" y="5486400"/>
            <a:ext cx="4954290" cy="381000"/>
          </a:xfrm>
          <a:custGeom>
            <a:avLst/>
            <a:gdLst/>
            <a:ahLst/>
            <a:cxnLst/>
            <a:rect l="l" t="t" r="r" b="b"/>
            <a:pathLst>
              <a:path w="2209800" h="381000">
                <a:moveTo>
                  <a:pt x="0" y="381000"/>
                </a:moveTo>
                <a:lnTo>
                  <a:pt x="2209799" y="381000"/>
                </a:lnTo>
                <a:lnTo>
                  <a:pt x="2209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Fig:7 DC Compound Motor (Cumulative &amp; Differential Compound)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080463" y="6096000"/>
            <a:ext cx="412226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 smtClean="0">
                <a:hlinkClick r:id="rId5"/>
              </a:rPr>
              <a:t>https://top-ee.com/dc-compound-motor/</a:t>
            </a:r>
            <a:endParaRPr lang="en-US" dirty="0"/>
          </a:p>
        </p:txBody>
      </p:sp>
      <p:grpSp>
        <p:nvGrpSpPr>
          <p:cNvPr id="2" name="Group 28"/>
          <p:cNvGrpSpPr/>
          <p:nvPr/>
        </p:nvGrpSpPr>
        <p:grpSpPr>
          <a:xfrm>
            <a:off x="11964928" y="5791200"/>
            <a:ext cx="227072" cy="10668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982" name="CorelDRAW" r:id="rId6" imgW="2169000" imgH="2169360" progId="">
                    <p:embed/>
                  </p:oleObj>
                </mc:Choice>
                <mc:Fallback>
                  <p:oleObj name="CorelDRAW" r:id="rId6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5731" y="1295400"/>
            <a:ext cx="1082585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  In this series and shunt both characteristics are required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   The load is likely to be removed completely.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  Series winding takes care of the heavy load.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  The shunt winding prevents the motor from running at dangerously high speed.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  These motors have generally employed a flywheel, where sudden and temporary loads are applied like in rolling mills.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9269" y="228601"/>
            <a:ext cx="10823219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latin typeface="Calibri Light"/>
                <a:ea typeface="Times New Roman" pitchFamily="18" charset="0"/>
                <a:cs typeface="Times New Roman" pitchFamily="18" charset="0"/>
              </a:rPr>
              <a:t>CUMULATIVE  COMPOUND  MOTOR</a:t>
            </a:r>
            <a:r>
              <a:rPr lang="en-US" sz="4400" dirty="0" smtClean="0">
                <a:latin typeface="Calibri Light"/>
                <a:cs typeface="Times New Roman" pitchFamily="18" charset="0"/>
              </a:rPr>
              <a:t> </a:t>
            </a:r>
          </a:p>
        </p:txBody>
      </p:sp>
      <p:pic>
        <p:nvPicPr>
          <p:cNvPr id="6" name="Picture 1" descr="D:\study materal\CU data\BEEE\CU 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"/>
            <a:ext cx="676451" cy="1038225"/>
          </a:xfrm>
          <a:prstGeom prst="rect">
            <a:avLst/>
          </a:prstGeom>
          <a:noFill/>
        </p:spPr>
      </p:pic>
      <p:grpSp>
        <p:nvGrpSpPr>
          <p:cNvPr id="2" name="Group 28"/>
          <p:cNvGrpSpPr/>
          <p:nvPr/>
        </p:nvGrpSpPr>
        <p:grpSpPr>
          <a:xfrm>
            <a:off x="11964928" y="5791200"/>
            <a:ext cx="227072" cy="1066800"/>
            <a:chOff x="83821" y="0"/>
            <a:chExt cx="219636" cy="903079"/>
          </a:xfrm>
        </p:grpSpPr>
        <p:sp>
          <p:nvSpPr>
            <p:cNvPr id="9" name="Rectangle 8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06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5731" y="1295400"/>
            <a:ext cx="108258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Series flux opposes shunt flux, the total flux decreases with increase in load. 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Thus the machine runs at a higher speed with increase in the load.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This property is dangerous as on full load, the motor may try to run with dangerously high speed.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cs typeface="Times New Roman" pitchFamily="18" charset="0"/>
              </a:rPr>
              <a:t>So differential compound motor is generally not used in practice. 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9269" y="228601"/>
            <a:ext cx="10823219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latin typeface="Calibri Light"/>
                <a:ea typeface="Times New Roman" pitchFamily="18" charset="0"/>
                <a:cs typeface="Times New Roman" pitchFamily="18" charset="0"/>
              </a:rPr>
              <a:t>DIFFERENTIALLY  COMPOUND  MOTOR</a:t>
            </a:r>
            <a:endParaRPr lang="en-US" sz="4400" dirty="0" smtClean="0">
              <a:latin typeface="Calibri Light"/>
              <a:cs typeface="Times New Roman" pitchFamily="18" charset="0"/>
            </a:endParaRPr>
          </a:p>
        </p:txBody>
      </p:sp>
      <p:pic>
        <p:nvPicPr>
          <p:cNvPr id="6" name="Picture 1" descr="D:\study materal\CU data\BEEE\CU 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"/>
            <a:ext cx="676451" cy="1038225"/>
          </a:xfrm>
          <a:prstGeom prst="rect">
            <a:avLst/>
          </a:prstGeom>
          <a:noFill/>
        </p:spPr>
      </p:pic>
      <p:grpSp>
        <p:nvGrpSpPr>
          <p:cNvPr id="2" name="Group 28"/>
          <p:cNvGrpSpPr/>
          <p:nvPr/>
        </p:nvGrpSpPr>
        <p:grpSpPr>
          <a:xfrm>
            <a:off x="11964928" y="5791200"/>
            <a:ext cx="227072" cy="1066800"/>
            <a:chOff x="83821" y="0"/>
            <a:chExt cx="219636" cy="903079"/>
          </a:xfrm>
        </p:grpSpPr>
        <p:sp>
          <p:nvSpPr>
            <p:cNvPr id="9" name="Rectangle 8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30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050" y="274638"/>
            <a:ext cx="1066935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2700">
              <a:lnSpc>
                <a:spcPts val="5485"/>
              </a:lnSpc>
            </a:pPr>
            <a:r>
              <a:rPr lang="en-US" b="1" dirty="0" smtClean="0">
                <a:latin typeface="Calibri Light"/>
                <a:cs typeface="Times New Roman" pitchFamily="18" charset="0"/>
              </a:rPr>
              <a:t>CHARACTERISTICS OF DC COMPOUND MOTOR</a:t>
            </a:r>
            <a:endParaRPr lang="en-US" b="1" dirty="0">
              <a:latin typeface="Calibri Light"/>
              <a:cs typeface="Times New Roman" pitchFamily="18" charset="0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1065490" y="5181600"/>
            <a:ext cx="2946400" cy="381000"/>
          </a:xfrm>
          <a:custGeom>
            <a:avLst/>
            <a:gdLst/>
            <a:ahLst/>
            <a:cxnLst/>
            <a:rect l="l" t="t" r="r" b="b"/>
            <a:pathLst>
              <a:path w="2209800" h="381000">
                <a:moveTo>
                  <a:pt x="0" y="381000"/>
                </a:moveTo>
                <a:lnTo>
                  <a:pt x="2209799" y="381000"/>
                </a:lnTo>
                <a:lnTo>
                  <a:pt x="2209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Fig:8 T-</a:t>
            </a:r>
            <a:r>
              <a:rPr lang="en-US" dirty="0" err="1" smtClean="0"/>
              <a:t>Ia</a:t>
            </a:r>
            <a:r>
              <a:rPr lang="en-US" dirty="0" smtClean="0"/>
              <a:t> Characteristics</a:t>
            </a:r>
            <a:endParaRPr dirty="0"/>
          </a:p>
        </p:txBody>
      </p:sp>
      <p:sp>
        <p:nvSpPr>
          <p:cNvPr id="7" name="object 4"/>
          <p:cNvSpPr/>
          <p:nvPr/>
        </p:nvSpPr>
        <p:spPr>
          <a:xfrm>
            <a:off x="4495383" y="5181600"/>
            <a:ext cx="2946400" cy="381000"/>
          </a:xfrm>
          <a:custGeom>
            <a:avLst/>
            <a:gdLst/>
            <a:ahLst/>
            <a:cxnLst/>
            <a:rect l="l" t="t" r="r" b="b"/>
            <a:pathLst>
              <a:path w="2209800" h="381000">
                <a:moveTo>
                  <a:pt x="0" y="381000"/>
                </a:moveTo>
                <a:lnTo>
                  <a:pt x="2209799" y="381000"/>
                </a:lnTo>
                <a:lnTo>
                  <a:pt x="2209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Fig: 9 N-</a:t>
            </a:r>
            <a:r>
              <a:rPr lang="en-US" dirty="0" err="1" smtClean="0"/>
              <a:t>Ia</a:t>
            </a:r>
            <a:r>
              <a:rPr lang="en-US" dirty="0" smtClean="0"/>
              <a:t> Characteristics</a:t>
            </a:r>
            <a:endParaRPr dirty="0"/>
          </a:p>
        </p:txBody>
      </p:sp>
      <p:sp>
        <p:nvSpPr>
          <p:cNvPr id="8" name="object 4"/>
          <p:cNvSpPr/>
          <p:nvPr/>
        </p:nvSpPr>
        <p:spPr>
          <a:xfrm>
            <a:off x="8153936" y="5181600"/>
            <a:ext cx="2946400" cy="381000"/>
          </a:xfrm>
          <a:custGeom>
            <a:avLst/>
            <a:gdLst/>
            <a:ahLst/>
            <a:cxnLst/>
            <a:rect l="l" t="t" r="r" b="b"/>
            <a:pathLst>
              <a:path w="2209800" h="381000">
                <a:moveTo>
                  <a:pt x="0" y="381000"/>
                </a:moveTo>
                <a:lnTo>
                  <a:pt x="2209799" y="381000"/>
                </a:lnTo>
                <a:lnTo>
                  <a:pt x="2209799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Fig:10 N-T Characteristics</a:t>
            </a:r>
            <a:endParaRPr dirty="0"/>
          </a:p>
        </p:txBody>
      </p:sp>
      <p:pic>
        <p:nvPicPr>
          <p:cNvPr id="10" name="Picture 1" descr="D:\study materal\CU data\BEEE\CU 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"/>
            <a:ext cx="676451" cy="1038225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2361227" y="6096000"/>
            <a:ext cx="7549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4"/>
              </a:rPr>
              <a:t>https://eeebooks4u.wordpress.com/2017/05/23/characteristics-of-dc-motors/</a:t>
            </a:r>
            <a:endParaRPr lang="en-US" dirty="0"/>
          </a:p>
        </p:txBody>
      </p:sp>
      <p:grpSp>
        <p:nvGrpSpPr>
          <p:cNvPr id="3" name="Group 28"/>
          <p:cNvGrpSpPr/>
          <p:nvPr/>
        </p:nvGrpSpPr>
        <p:grpSpPr>
          <a:xfrm>
            <a:off x="11964928" y="5791200"/>
            <a:ext cx="227072" cy="1066800"/>
            <a:chOff x="83821" y="0"/>
            <a:chExt cx="219636" cy="903079"/>
          </a:xfrm>
        </p:grpSpPr>
        <p:sp>
          <p:nvSpPr>
            <p:cNvPr id="13" name="Rectangle 12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54" name="CorelDRAW" r:id="rId5" imgW="2169000" imgH="2169360" progId="">
                    <p:embed/>
                  </p:oleObj>
                </mc:Choice>
                <mc:Fallback>
                  <p:oleObj name="CorelDRAW" r:id="rId5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1951" y="1828800"/>
            <a:ext cx="10937549" cy="3124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71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+mj-lt"/>
              </a:rPr>
              <a:t>APPLICATIONS OF DC MOTORS</a:t>
            </a:r>
            <a:endParaRPr lang="en-US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2" y="1694997"/>
            <a:ext cx="10620103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Blower</a:t>
            </a:r>
          </a:p>
          <a:p>
            <a:r>
              <a:rPr lang="en-US" dirty="0" smtClean="0"/>
              <a:t>Fans</a:t>
            </a:r>
          </a:p>
          <a:p>
            <a:r>
              <a:rPr lang="en-US" dirty="0" smtClean="0"/>
              <a:t>Lathe machine</a:t>
            </a:r>
          </a:p>
          <a:p>
            <a:r>
              <a:rPr lang="en-US" dirty="0" smtClean="0"/>
              <a:t>Machine tool</a:t>
            </a:r>
          </a:p>
          <a:p>
            <a:r>
              <a:rPr lang="en-US" dirty="0" smtClean="0"/>
              <a:t>Drilling machines </a:t>
            </a:r>
          </a:p>
          <a:p>
            <a:r>
              <a:rPr lang="en-US" dirty="0" smtClean="0"/>
              <a:t>Punches</a:t>
            </a:r>
          </a:p>
          <a:p>
            <a:r>
              <a:rPr lang="en-US" dirty="0" smtClean="0"/>
              <a:t>Elevators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28002" name="AutoShape 2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004" name="AutoShape 4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872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 smtClean="0">
                <a:latin typeface="+mj-lt"/>
                <a:cs typeface="Calibri" pitchFamily="34" charset="0"/>
              </a:rPr>
              <a:t>SUMMARY</a:t>
            </a:r>
            <a:endParaRPr lang="en-US" b="1" dirty="0">
              <a:latin typeface="+mj-lt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603557"/>
            <a:ext cx="10515600" cy="4351338"/>
          </a:xfrm>
        </p:spPr>
        <p:txBody>
          <a:bodyPr/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Types of characteristics of DC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shunt motor.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series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/>
              <a:t>Torque- armature current, speed - armature current and speed-torque characteristics of DC compound motor.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Applications of DC motors.</a:t>
            </a:r>
            <a:endParaRPr lang="en-IN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 smtClean="0">
                <a:latin typeface="+mj-lt"/>
              </a:rPr>
              <a:t>FREQUENTLY ASKED QUESTIONS</a:t>
            </a:r>
            <a:endParaRPr lang="en-US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51769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Give the classification of characteristics of DC motors</a:t>
            </a:r>
          </a:p>
          <a:p>
            <a:pPr algn="just"/>
            <a:r>
              <a:rPr lang="en-US" dirty="0" smtClean="0"/>
              <a:t>Draw the torque speed curve for DC series motor.</a:t>
            </a:r>
          </a:p>
          <a:p>
            <a:pPr algn="just"/>
            <a:r>
              <a:rPr lang="en-US" dirty="0" smtClean="0"/>
              <a:t>Design the torque armature current curve for DC shunt motor.</a:t>
            </a:r>
          </a:p>
          <a:p>
            <a:pPr algn="just"/>
            <a:r>
              <a:rPr lang="en-US" dirty="0" smtClean="0"/>
              <a:t>Write the applications of DC motors.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To </a:t>
            </a:r>
            <a:r>
              <a:rPr lang="en-IN" sz="2800" dirty="0">
                <a:latin typeface="Casper"/>
                <a:cs typeface="Times New Roman" pitchFamily="18" charset="0"/>
              </a:rPr>
              <a:t>make students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understand</a:t>
            </a:r>
            <a:endParaRPr lang="en-IN" sz="2800" dirty="0">
              <a:latin typeface="Casper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Casper"/>
              </a:rPr>
              <a:t> </a:t>
            </a:r>
            <a:r>
              <a:rPr lang="en-US" sz="2800" dirty="0" smtClean="0">
                <a:latin typeface="Casper"/>
              </a:rPr>
              <a:t>Types of characteristics of DC motors</a:t>
            </a:r>
            <a:endParaRPr lang="en-US" sz="2800" dirty="0">
              <a:latin typeface="Casper"/>
            </a:endParaRPr>
          </a:p>
          <a:p>
            <a:pPr algn="just"/>
            <a:endParaRPr lang="en-US" sz="2800" dirty="0">
              <a:latin typeface="Casper"/>
            </a:endParaRPr>
          </a:p>
          <a:p>
            <a:pPr algn="just"/>
            <a:r>
              <a:rPr lang="en-US" sz="2800" dirty="0" smtClean="0">
                <a:latin typeface="Casper"/>
              </a:rPr>
              <a:t>Torque-armature current, speed-armature current and speed-torque curve for DC motors</a:t>
            </a:r>
            <a:endParaRPr lang="en-US" sz="2800" dirty="0">
              <a:latin typeface="Casper"/>
            </a:endParaRPr>
          </a:p>
          <a:p>
            <a:pPr algn="just"/>
            <a:endParaRPr lang="en-US" sz="2800" dirty="0">
              <a:latin typeface="Casper"/>
            </a:endParaRPr>
          </a:p>
          <a:p>
            <a:pPr algn="just"/>
            <a:r>
              <a:rPr lang="en-US" sz="2800" dirty="0" smtClean="0">
                <a:latin typeface="Casper"/>
              </a:rPr>
              <a:t>Applications of DC motors</a:t>
            </a:r>
            <a:endParaRPr lang="en-US" sz="2800" dirty="0">
              <a:latin typeface="Casper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Course Outcome to Program Outcome Relationship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2693" y="1750431"/>
          <a:ext cx="10907489" cy="4650372"/>
        </p:xfrm>
        <a:graphic>
          <a:graphicData uri="http://schemas.openxmlformats.org/drawingml/2006/table">
            <a:tbl>
              <a:tblPr/>
              <a:tblGrid>
                <a:gridCol w="753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23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5590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</a:t>
                      </a:r>
                      <a:r>
                        <a:rPr lang="en-US" sz="2000" b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(21ELH-101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BEEE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956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CO↓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PO5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PO6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PO7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PO8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PO9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PSO1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PSO2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CO4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CO5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 smtClean="0">
                <a:latin typeface="+mj-lt"/>
              </a:rPr>
              <a:t>ASSESSMENT PATTERN</a:t>
            </a:r>
            <a:endParaRPr lang="en-US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 smtClean="0">
                <a:latin typeface="+mj-lt"/>
              </a:rPr>
              <a:t>REFERENCES FOR FURTHER HIGHER LEARNING</a:t>
            </a:r>
            <a:endParaRPr lang="en-US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hlinkClick r:id="rId2"/>
              </a:rPr>
              <a:t>https://www.sciencedirect.com/topics/computer-science/electrical-network</a:t>
            </a:r>
            <a:endParaRPr lang="en-IN" dirty="0" smtClean="0"/>
          </a:p>
          <a:p>
            <a:r>
              <a:rPr lang="en-IN" dirty="0" smtClean="0">
                <a:hlinkClick r:id="rId3"/>
              </a:rPr>
              <a:t>https://www.electricaltechnology.org/2014/01/important-terms-related-to-electric-circuits-and-networks.html</a:t>
            </a:r>
            <a:endParaRPr lang="en-IN" dirty="0" smtClean="0"/>
          </a:p>
          <a:p>
            <a:pPr>
              <a:buNone/>
            </a:pPr>
            <a:endParaRPr lang="en-US" dirty="0" smtClean="0"/>
          </a:p>
          <a:p>
            <a:pPr lvl="0">
              <a:buNone/>
            </a:pPr>
            <a:endParaRPr lang="en-US" u="sng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3240" cy="467967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Books:             [1]Basic of Electrical Engineering, T. K. </a:t>
            </a:r>
            <a:r>
              <a:rPr lang="en-US" b="1" dirty="0" err="1" smtClean="0"/>
              <a:t>Nagsarkar</a:t>
            </a:r>
            <a:r>
              <a:rPr lang="en-US" b="1" dirty="0" smtClean="0"/>
              <a:t> and M. S.Sukhija,2013 ,2</a:t>
            </a:r>
            <a:r>
              <a:rPr lang="en-US" b="1" baseline="30000" dirty="0" smtClean="0"/>
              <a:t>nd</a:t>
            </a:r>
            <a:r>
              <a:rPr lang="en-US" b="1" dirty="0" smtClean="0"/>
              <a:t> edition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[2]Theory and problems of Basic Electrical Engineering, J. </a:t>
            </a:r>
            <a:r>
              <a:rPr lang="en-US" b="1" dirty="0" err="1" smtClean="0"/>
              <a:t>Nagrath</a:t>
            </a:r>
            <a:r>
              <a:rPr lang="en-US" b="1" dirty="0" smtClean="0"/>
              <a:t> and Kothari, 2012, 2</a:t>
            </a:r>
            <a:r>
              <a:rPr lang="en-US" b="1" baseline="30000" dirty="0" smtClean="0"/>
              <a:t>nd</a:t>
            </a:r>
            <a:r>
              <a:rPr lang="en-US" b="1" dirty="0" smtClean="0"/>
              <a:t>   edition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[3] A Textbook of Electrical Technology, B.L Theraja,2010,Vol 1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[4] Fundamentals of Electrical and Electronics Engineering, </a:t>
            </a:r>
            <a:r>
              <a:rPr lang="en-US" b="1" dirty="0" err="1" smtClean="0"/>
              <a:t>Smarjith</a:t>
            </a:r>
            <a:r>
              <a:rPr lang="en-US" b="1" dirty="0" smtClean="0"/>
              <a:t> Ghosh,2013,1</a:t>
            </a:r>
            <a:r>
              <a:rPr lang="en-US" b="1" baseline="30000" dirty="0" smtClean="0"/>
              <a:t>st</a:t>
            </a:r>
            <a:r>
              <a:rPr lang="en-US" b="1" dirty="0" smtClean="0"/>
              <a:t>   edition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b="1" dirty="0" smtClean="0"/>
              <a:t>E-Books:          [1]</a:t>
            </a:r>
            <a:r>
              <a:rPr lang="en-US" dirty="0" smtClean="0">
                <a:hlinkClick r:id="rId2"/>
              </a:rPr>
              <a:t> file:///C:/Users/user/Desktop/BLACK%20BOARD%20MATERIAL%20PEE/UNIT-2%20PEE/Lecture%203%20&amp;%204/doku.pub_basic-electrical-engineering-vkmehta-e-schand.pdf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[2]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file:///C:/Users/user/Desktop/BLACK%20BOARD%20MATERIAL%20PEE/UNIT-2%20PEE/Lecture%203%20&amp;%204/Elements%20Of%20Electrical%20Engineering%20By%20V.%20U.%20Bakshi%20and%20U.%20A.%20Bakshi.pdf </a:t>
            </a:r>
            <a:endParaRPr lang="en-US" dirty="0" smtClean="0"/>
          </a:p>
          <a:p>
            <a:r>
              <a:rPr lang="en-US" b="1" dirty="0" smtClean="0"/>
              <a:t>Websites</a:t>
            </a:r>
            <a:r>
              <a:rPr lang="en-US" dirty="0" smtClean="0"/>
              <a:t>:        </a:t>
            </a:r>
            <a:r>
              <a:rPr lang="en-US" b="1" dirty="0" smtClean="0"/>
              <a:t>[1] </a:t>
            </a:r>
            <a:r>
              <a:rPr lang="en-US" u="sng" dirty="0" smtClean="0">
                <a:hlinkClick r:id="rId4"/>
              </a:rPr>
              <a:t>https://www.electrical4u.com/dc-motor-or-direct-current-motor/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[2] </a:t>
            </a:r>
            <a:r>
              <a:rPr lang="en-US" dirty="0" smtClean="0">
                <a:hlinkClick r:id="rId5"/>
              </a:rPr>
              <a:t>http://www.mytech-info.com/2014/12/characteristic-of-dc-series-motor.html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[3] </a:t>
            </a:r>
            <a:r>
              <a:rPr lang="en-US" u="sng" dirty="0" smtClean="0">
                <a:hlinkClick r:id="rId6"/>
              </a:rPr>
              <a:t>https://nptel.ac.in/content/storage2/courses/108105053/pdf/L-39(TB)(ET)%20((EE)NPTEL).pdf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b="1" dirty="0" smtClean="0"/>
              <a:t>                               [4] </a:t>
            </a:r>
            <a:r>
              <a:rPr lang="en-US" u="sng" dirty="0" smtClean="0">
                <a:hlinkClick r:id="rId7"/>
              </a:rPr>
              <a:t>https://www.slideshare.net/saaz1425/dc-motor-23906628</a:t>
            </a:r>
            <a:endParaRPr lang="en-US" b="1" dirty="0" smtClean="0"/>
          </a:p>
          <a:p>
            <a:r>
              <a:rPr lang="en-US" b="1" dirty="0" smtClean="0"/>
              <a:t>Videos:            [1] </a:t>
            </a:r>
            <a:r>
              <a:rPr lang="en-US" u="sng" dirty="0" smtClean="0">
                <a:hlinkClick r:id="rId8"/>
              </a:rPr>
              <a:t>https://www.youtube.com/watch?v=6MnmcMYbsfQ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                            [2] </a:t>
            </a:r>
            <a:r>
              <a:rPr lang="en-US" u="sng" dirty="0" smtClean="0">
                <a:hlinkClick r:id="rId9"/>
              </a:rPr>
              <a:t>https://youtu.be/Fbw1Rcm3E68</a:t>
            </a:r>
            <a:endParaRPr lang="en-US" u="sng" dirty="0" smtClean="0"/>
          </a:p>
          <a:p>
            <a:pPr>
              <a:buNone/>
            </a:pPr>
            <a:r>
              <a:rPr lang="en-US" dirty="0" smtClean="0"/>
              <a:t>                               </a:t>
            </a:r>
            <a:r>
              <a:rPr lang="en-US" b="1" dirty="0" smtClean="0"/>
              <a:t>[3] </a:t>
            </a:r>
            <a:r>
              <a:rPr lang="en-US" dirty="0" smtClean="0">
                <a:hlinkClick r:id="rId10"/>
              </a:rPr>
              <a:t>https://youtu.be/SP98tDcH3sE</a:t>
            </a:r>
            <a:endParaRPr lang="en-US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 lvl="0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>
              <a:buNone/>
            </a:pPr>
            <a:endParaRPr lang="en-US" u="sng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34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3418030" y="5553090"/>
            <a:ext cx="33265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sz="2000" dirty="0" smtClean="0">
                <a:latin typeface="Casper" panose="02000506000000020004" pitchFamily="2" charset="0"/>
                <a:cs typeface="Segoe UI" panose="020B0502040204020203" pitchFamily="34" charset="0"/>
              </a:rPr>
              <a:t>Email: shikha.e12701</a:t>
            </a:r>
            <a:r>
              <a:rPr lang="en-US" sz="2000" dirty="0" smtClean="0">
                <a:latin typeface="Casper" panose="02000506000000020004" pitchFamily="2" charset="0"/>
                <a:cs typeface="Segoe UI" panose="020B0502040204020203" pitchFamily="34" charset="0"/>
                <a:hlinkClick r:id="rId5"/>
              </a:rPr>
              <a:t>@cumail.in</a:t>
            </a:r>
            <a:r>
              <a:rPr lang="en-US" sz="2000" dirty="0" smtClean="0">
                <a:latin typeface="Casper" panose="02000506000000020004" pitchFamily="2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8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2434</TotalTime>
  <Words>1336</Words>
  <Application>Microsoft Office PowerPoint</Application>
  <PresentationFormat>Widescreen</PresentationFormat>
  <Paragraphs>320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IMPORTANCE OF COURSE[BEEE]</vt:lpstr>
      <vt:lpstr>CONTENTS   </vt:lpstr>
      <vt:lpstr>TYPES OF CHARACTERISTICS OF DC MOTOR</vt:lpstr>
      <vt:lpstr>TORQUE- SPEED EQUATION OF DC MOTOR</vt:lpstr>
      <vt:lpstr>PowerPoint Presentation</vt:lpstr>
      <vt:lpstr>TORQUE- SPEED EQUATION OF DC MOTOR</vt:lpstr>
      <vt:lpstr>TORQUE- SPEED EQUATION OF DC MOTOR</vt:lpstr>
      <vt:lpstr>TORQUE- ARMATURE CURRENT CHARACTERISTICS OF DC SHUNT  MOTOR</vt:lpstr>
      <vt:lpstr>SPEED- ARMATURE CURRENT CHARACTERISTICS OF DC SHUNT  MOTOR</vt:lpstr>
      <vt:lpstr>SPEED- TORQUE CHARACTERISTICS OF DC SHUNT  MOTOR</vt:lpstr>
      <vt:lpstr>TORQUE- ARMATURE CURRENT CHARACTERISTICS OF DC SERIES  MOTOR</vt:lpstr>
      <vt:lpstr>SPEED- ARMATURE CURRENT CHARACTERISTICS OF DC SERIES MOTOR</vt:lpstr>
      <vt:lpstr>SPEED- TORQUE CHARACTERISTICS OF DC SERIES  MOTOR</vt:lpstr>
      <vt:lpstr>PowerPoint Presentation</vt:lpstr>
      <vt:lpstr>PowerPoint Presentation</vt:lpstr>
      <vt:lpstr>PowerPoint Presentation</vt:lpstr>
      <vt:lpstr>CHARACTERISTICS OF DC COMPOUND MOTOR</vt:lpstr>
      <vt:lpstr>APPLICATIONS OF DC MOTORS</vt:lpstr>
      <vt:lpstr>SUMMARY</vt:lpstr>
      <vt:lpstr>FREQUENTLY ASKED QUESTIONS</vt:lpstr>
      <vt:lpstr>LEARNING OUTCOMES </vt:lpstr>
      <vt:lpstr>Course Outcome to Program Outcome Relationship</vt:lpstr>
      <vt:lpstr>ASSESSMENT PATTERN</vt:lpstr>
      <vt:lpstr>REFERENCES FOR FURTHER HIGHER LEARNING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303</cp:revision>
  <dcterms:created xsi:type="dcterms:W3CDTF">2019-01-09T10:33:58Z</dcterms:created>
  <dcterms:modified xsi:type="dcterms:W3CDTF">2023-06-20T04:56:43Z</dcterms:modified>
</cp:coreProperties>
</file>