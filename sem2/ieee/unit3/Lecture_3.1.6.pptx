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0"/>
  </p:notesMasterIdLst>
  <p:handoutMasterIdLst>
    <p:handoutMasterId r:id="rId21"/>
  </p:handoutMasterIdLst>
  <p:sldIdLst>
    <p:sldId id="371" r:id="rId3"/>
    <p:sldId id="457" r:id="rId4"/>
    <p:sldId id="473" r:id="rId5"/>
    <p:sldId id="474" r:id="rId6"/>
    <p:sldId id="472" r:id="rId7"/>
    <p:sldId id="461" r:id="rId8"/>
    <p:sldId id="463" r:id="rId9"/>
    <p:sldId id="462" r:id="rId10"/>
    <p:sldId id="470" r:id="rId11"/>
    <p:sldId id="469" r:id="rId12"/>
    <p:sldId id="468" r:id="rId13"/>
    <p:sldId id="421" r:id="rId14"/>
    <p:sldId id="448" r:id="rId15"/>
    <p:sldId id="475" r:id="rId16"/>
    <p:sldId id="454" r:id="rId17"/>
    <p:sldId id="447" r:id="rId18"/>
    <p:sldId id="43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1474" autoAdjust="0"/>
  </p:normalViewPr>
  <p:slideViewPr>
    <p:cSldViewPr snapToGrid="0">
      <p:cViewPr varScale="1">
        <p:scale>
          <a:sx n="67" d="100"/>
          <a:sy n="67" d="100"/>
        </p:scale>
        <p:origin x="84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6/20/2023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6/20/2023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IN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E7DB5-269C-4E94-BCAC-2C1AAAEE8F92}" type="slidenum">
              <a:rPr lang="en-IN" smtClean="0"/>
              <a:pPr/>
              <a:t>6</a:t>
            </a:fld>
            <a:endParaRPr lang="en-IN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IN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E7DB5-269C-4E94-BCAC-2C1AAAEE8F92}" type="slidenum">
              <a:rPr lang="en-IN" smtClean="0"/>
              <a:pPr/>
              <a:t>7</a:t>
            </a:fld>
            <a:endParaRPr lang="en-I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IN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E7DB5-269C-4E94-BCAC-2C1AAAEE8F92}" type="slidenum">
              <a:rPr lang="en-IN" smtClean="0"/>
              <a:pPr/>
              <a:t>8</a:t>
            </a:fld>
            <a:endParaRPr lang="en-I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IN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E7DB5-269C-4E94-BCAC-2C1AAAEE8F92}" type="slidenum">
              <a:rPr lang="en-IN" smtClean="0"/>
              <a:pPr/>
              <a:t>9</a:t>
            </a:fld>
            <a:endParaRPr lang="en-IN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IN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E7DB5-269C-4E94-BCAC-2C1AAAEE8F92}" type="slidenum">
              <a:rPr lang="en-IN" smtClean="0"/>
              <a:pPr/>
              <a:t>10</a:t>
            </a:fld>
            <a:endParaRPr lang="en-I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IN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D5E7DB5-269C-4E94-BCAC-2C1AAAEE8F92}" type="slidenum">
              <a:rPr lang="en-IN" smtClean="0"/>
              <a:pPr/>
              <a:t>11</a:t>
            </a:fld>
            <a:endParaRPr lang="en-IN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4309FA-8C5F-492B-92B7-A875CE9971B3}" type="slidenum">
              <a:rPr lang="en-US" smtClean="0"/>
              <a:pPr/>
              <a:t>12</a:t>
            </a:fld>
            <a:endParaRPr lang="en-US" smtClean="0"/>
          </a:p>
        </p:txBody>
      </p:sp>
      <p:sp>
        <p:nvSpPr>
          <p:cNvPr id="4198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198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9B3CBD6-2904-4E1F-ABC4-83E7BCE3542E}" type="slidenum">
              <a:rPr lang="en-US" sz="1200">
                <a:latin typeface="Calibri" pitchFamily="34" charset="0"/>
              </a:rPr>
              <a:pPr algn="r"/>
              <a:t>12</a:t>
            </a:fld>
            <a:endParaRPr lang="en-US" sz="1200">
              <a:latin typeface="Calibri" pitchFamily="34" charset="0"/>
            </a:endParaRPr>
          </a:p>
        </p:txBody>
      </p:sp>
      <p:sp>
        <p:nvSpPr>
          <p:cNvPr id="41990" name="Header Placeholder 5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  <p:sp>
        <p:nvSpPr>
          <p:cNvPr id="44036" name="Header Placeholder 3"/>
          <p:cNvSpPr>
            <a:spLocks noGrp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endParaRPr lang="en-US" smtClean="0"/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BA9D40-24D0-4BE2-91D0-988267418653}" type="slidenum">
              <a:rPr lang="en-US" smtClean="0"/>
              <a:pPr/>
              <a:t>16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6/20/2023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ibrary.automationdirect.com/basic-electrical-theory/" TargetMode="Externa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ibrary.automationdirect.com/basic-electrical-theory/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ibrary.automationdirect.com/basic-electrical-theory/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elprocus.com/brushless-dc-motor-advantages-applications-and-control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ptel.ac.in/course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494804" y="4023363"/>
          <a:ext cx="2631143" cy="2507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63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804" y="4023363"/>
                        <a:ext cx="2631143" cy="25076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7026502" y="6211669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145244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76659" y="1240973"/>
            <a:ext cx="9832638" cy="4856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ENGINEERING 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Engineering) 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 ELECTRICAL &amp; ELECTRONICS ENGINEERING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4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4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400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Unit-3, Chapter-1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3.1.6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BLDC MOTOR</a:t>
            </a: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Lecture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721542"/>
              </p:ext>
            </p:extLst>
          </p:nvPr>
        </p:nvGraphicFramePr>
        <p:xfrm>
          <a:off x="282009" y="2226080"/>
          <a:ext cx="6536802" cy="3339276"/>
        </p:xfrm>
        <a:graphic>
          <a:graphicData uri="http://schemas.openxmlformats.org/drawingml/2006/table">
            <a:tbl>
              <a:tblPr firstRow="1" firstCol="1" bandRow="1"/>
              <a:tblGrid>
                <a:gridCol w="556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9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S. No.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Objectives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03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make student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aware about BLDC motor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construction of BLDC motor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247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provide knowledge about working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of BLDC motor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0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i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 aware about</a:t>
                      </a:r>
                      <a:r>
                        <a:rPr lang="en-US" sz="1200" b="0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applications of BLDC motor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 fontScale="85000" lnSpcReduction="20000"/>
          </a:bodyPr>
          <a:lstStyle/>
          <a:p>
            <a:pPr algn="ctr">
              <a:buNone/>
            </a:pPr>
            <a:r>
              <a:rPr lang="en-US" sz="2800" dirty="0">
                <a:hlinkClick r:id="rId2"/>
              </a:rPr>
              <a:t>https://library.automationdirect.com/basic-electrical-theory/</a:t>
            </a:r>
            <a:endParaRPr lang="en-US" sz="2800" dirty="0">
              <a:solidFill>
                <a:srgbClr val="00B0F0"/>
              </a:solidFill>
            </a:endParaRPr>
          </a:p>
        </p:txBody>
      </p:sp>
      <p:pic>
        <p:nvPicPr>
          <p:cNvPr id="9" name="Picture 8" descr="C:\Users\Administrator\Desktop\circui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1750423"/>
            <a:ext cx="3902075" cy="33571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Objectives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7093130" y="5251268"/>
            <a:ext cx="4428309" cy="60978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800" dirty="0" smtClean="0">
                <a:hlinkClick r:id="rId2"/>
              </a:rPr>
              <a:t>https://library.automationdirect.com/basic-electrical-theory/</a:t>
            </a:r>
            <a:endParaRPr lang="en-US" sz="1800" dirty="0">
              <a:solidFill>
                <a:srgbClr val="00B0F0"/>
              </a:solidFill>
            </a:endParaRPr>
          </a:p>
        </p:txBody>
      </p:sp>
      <p:pic>
        <p:nvPicPr>
          <p:cNvPr id="9" name="Picture 1" descr="C:\Users\Administrator\Desktop\circui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22797" y="1789611"/>
            <a:ext cx="4688545" cy="33049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29576"/>
              </p:ext>
            </p:extLst>
          </p:nvPr>
        </p:nvGraphicFramePr>
        <p:xfrm>
          <a:off x="342900" y="2171700"/>
          <a:ext cx="6072189" cy="3613952"/>
        </p:xfrm>
        <a:graphic>
          <a:graphicData uri="http://schemas.openxmlformats.org/drawingml/2006/table">
            <a:tbl>
              <a:tblPr firstRow="1" firstCol="1" bandRow="1"/>
              <a:tblGrid>
                <a:gridCol w="517243">
                  <a:extLst>
                    <a:ext uri="{9D8B030D-6E8A-4147-A177-3AD203B41FA5}">
                      <a16:colId xmlns:a16="http://schemas.microsoft.com/office/drawing/2014/main" val="3054864506"/>
                    </a:ext>
                  </a:extLst>
                </a:gridCol>
                <a:gridCol w="5554946">
                  <a:extLst>
                    <a:ext uri="{9D8B030D-6E8A-4147-A177-3AD203B41FA5}">
                      <a16:colId xmlns:a16="http://schemas.microsoft.com/office/drawing/2014/main" val="3741035582"/>
                    </a:ext>
                  </a:extLst>
                </a:gridCol>
              </a:tblGrid>
              <a:tr h="6637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Objectives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600178"/>
                  </a:ext>
                </a:extLst>
              </a:tr>
              <a:tr h="98338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Understand Electrical &amp; Electronics Engineering Fundamentals</a:t>
                      </a:r>
                      <a:r>
                        <a:rPr lang="en-US" sz="2000" kern="1200" spc="-5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en-IN" sz="2000" kern="1200" spc="-5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1570607"/>
                  </a:ext>
                </a:extLst>
              </a:tr>
              <a:tr h="19667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IN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To prepare students to perform the analysis and design of various Electrical &amp; digital electronic circuits.</a:t>
                      </a:r>
                      <a:endParaRPr lang="en-US" sz="2000" kern="1200" spc="-50" dirty="0" smtClean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50000"/>
                        </a:lnSpc>
                        <a:buSzPts val="1200"/>
                        <a:buFont typeface="Times New Roman" panose="02020603050405020304" pitchFamily="18" charset="0"/>
                        <a:buNone/>
                        <a:tabLst>
                          <a:tab pos="461010" algn="l"/>
                        </a:tabLst>
                      </a:pPr>
                      <a:r>
                        <a:rPr lang="en-US" sz="2000" kern="1200" spc="-5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062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592954" y="605949"/>
            <a:ext cx="4456567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</a:rPr>
              <a:t>Course Outcomes</a:t>
            </a:r>
            <a:endParaRPr lang="en-US" sz="4400" b="1" dirty="0">
              <a:latin typeface="Casper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665859"/>
              </p:ext>
            </p:extLst>
          </p:nvPr>
        </p:nvGraphicFramePr>
        <p:xfrm>
          <a:off x="282010" y="2037805"/>
          <a:ext cx="5870596" cy="4668421"/>
        </p:xfrm>
        <a:graphic>
          <a:graphicData uri="http://schemas.openxmlformats.org/drawingml/2006/table">
            <a:tbl>
              <a:tblPr firstRow="1" firstCol="1" bandRow="1"/>
              <a:tblGrid>
                <a:gridCol w="488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8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7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9721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875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3279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875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875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609807" y="5329646"/>
            <a:ext cx="4915398" cy="518341"/>
          </a:xfrm>
        </p:spPr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sz="2000" dirty="0" smtClean="0">
                <a:hlinkClick r:id="rId2"/>
              </a:rPr>
              <a:t>https://library.automationdirect.com/basic-electrical-theory/</a:t>
            </a:r>
            <a:endParaRPr lang="en-US" sz="2000" dirty="0">
              <a:solidFill>
                <a:srgbClr val="00B0F0"/>
              </a:solidFill>
            </a:endParaRPr>
          </a:p>
        </p:txBody>
      </p:sp>
      <p:pic>
        <p:nvPicPr>
          <p:cNvPr id="11" name="Picture 1" descr="C:\Users\Administrator\Desktop\circui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0911" y="1763486"/>
            <a:ext cx="4688545" cy="33049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1314451"/>
            <a:ext cx="9861731" cy="5257799"/>
          </a:xfrm>
        </p:spPr>
        <p:txBody>
          <a:bodyPr>
            <a:noAutofit/>
          </a:bodyPr>
          <a:lstStyle/>
          <a:p>
            <a:pPr lvl="0" algn="just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v"/>
              <a:defRPr/>
            </a:pPr>
            <a:r>
              <a:rPr lang="en-IN" dirty="0" smtClean="0">
                <a:cs typeface="Times New Roman" pitchFamily="18" charset="0"/>
              </a:rPr>
              <a:t>Introduction of BLDCM</a:t>
            </a:r>
          </a:p>
          <a:p>
            <a:pPr lvl="0" algn="just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v"/>
              <a:defRPr/>
            </a:pPr>
            <a:r>
              <a:rPr lang="en-IN" dirty="0">
                <a:cs typeface="Times New Roman" pitchFamily="18" charset="0"/>
              </a:rPr>
              <a:t>Main parts of brushed </a:t>
            </a:r>
            <a:r>
              <a:rPr lang="en-IN" dirty="0" smtClean="0">
                <a:cs typeface="Times New Roman" pitchFamily="18" charset="0"/>
              </a:rPr>
              <a:t>motor</a:t>
            </a:r>
            <a:endParaRPr lang="en-US" dirty="0" smtClean="0"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v"/>
              <a:defRPr/>
            </a:pPr>
            <a:r>
              <a:rPr lang="en-IN" dirty="0" smtClean="0">
                <a:cs typeface="Times New Roman" pitchFamily="18" charset="0"/>
              </a:rPr>
              <a:t>Classification </a:t>
            </a:r>
            <a:r>
              <a:rPr lang="en-IN" dirty="0">
                <a:cs typeface="Times New Roman" pitchFamily="18" charset="0"/>
              </a:rPr>
              <a:t>brushed </a:t>
            </a:r>
            <a:r>
              <a:rPr lang="en-IN" dirty="0" smtClean="0">
                <a:cs typeface="Times New Roman" pitchFamily="18" charset="0"/>
              </a:rPr>
              <a:t>motor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v"/>
              <a:defRPr/>
            </a:pPr>
            <a:r>
              <a:rPr lang="en-IN" dirty="0">
                <a:cs typeface="Times New Roman" pitchFamily="18" charset="0"/>
              </a:rPr>
              <a:t>Working </a:t>
            </a:r>
            <a:r>
              <a:rPr lang="en-IN" dirty="0" smtClean="0">
                <a:cs typeface="Times New Roman" pitchFamily="18" charset="0"/>
              </a:rPr>
              <a:t>principle of </a:t>
            </a:r>
            <a:r>
              <a:rPr lang="en-IN" dirty="0">
                <a:cs typeface="Times New Roman" pitchFamily="18" charset="0"/>
              </a:rPr>
              <a:t>BLDCM</a:t>
            </a:r>
            <a:endParaRPr lang="en-US" cap="all" dirty="0">
              <a:solidFill>
                <a:schemeClr val="bg1"/>
              </a:solidFill>
              <a:cs typeface="Times New Roman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v"/>
              <a:defRPr/>
            </a:pPr>
            <a:r>
              <a:rPr lang="en-IN" dirty="0" smtClean="0">
                <a:cs typeface="Times New Roman" pitchFamily="18" charset="0"/>
              </a:rPr>
              <a:t>Applications </a:t>
            </a:r>
            <a:r>
              <a:rPr lang="en-IN" dirty="0">
                <a:cs typeface="Times New Roman" pitchFamily="18" charset="0"/>
              </a:rPr>
              <a:t>of BLDCM</a:t>
            </a:r>
            <a:endParaRPr lang="en-US" cap="all" dirty="0">
              <a:solidFill>
                <a:schemeClr val="bg1"/>
              </a:solidFill>
              <a:cs typeface="Times New Roman" pitchFamily="18" charset="0"/>
            </a:endParaRPr>
          </a:p>
          <a:p>
            <a:pPr lvl="0" algn="just">
              <a:lnSpc>
                <a:spcPct val="100000"/>
              </a:lnSpc>
              <a:spcBef>
                <a:spcPct val="0"/>
              </a:spcBef>
              <a:buFont typeface="Wingdings" pitchFamily="2" charset="2"/>
              <a:buChar char="v"/>
              <a:defRPr/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059543" y="244658"/>
            <a:ext cx="9575074" cy="10697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400" b="1" dirty="0" smtClean="0">
                <a:latin typeface="+mj-lt"/>
                <a:cs typeface="Times New Roman" pitchFamily="18" charset="0"/>
              </a:rPr>
              <a:t>C</a:t>
            </a:r>
            <a:r>
              <a:rPr lang="en-US" sz="4400" b="1" noProof="0" dirty="0" smtClean="0">
                <a:latin typeface="+mj-lt"/>
                <a:cs typeface="Times New Roman" pitchFamily="18" charset="0"/>
              </a:rPr>
              <a:t>ONTENTS </a:t>
            </a:r>
            <a:endParaRPr kumimoji="0" lang="en-IN" sz="4400" b="1" i="0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41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4547" y="1411893"/>
            <a:ext cx="6375041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IN" sz="2800" dirty="0"/>
              <a:t>Permanent magnet (PM) brushless DC motors (BLDCM) are generated by virtually inverting the stator and rotor of PM DC motors. </a:t>
            </a:r>
            <a:endParaRPr lang="en-IN" sz="2800" dirty="0" smtClean="0"/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/>
              <a:t>These </a:t>
            </a:r>
            <a:r>
              <a:rPr lang="en-IN" sz="2800" dirty="0"/>
              <a:t>motors are actually fed by rectangular AC waveform. </a:t>
            </a:r>
            <a:endParaRPr lang="en-IN" sz="2800" dirty="0" smtClean="0"/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advantage is the removal of brushes, leading to eliminate many problems associated with brushes. </a:t>
            </a:r>
            <a:endParaRPr lang="en-IN" sz="2800" dirty="0" smtClean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55486" y="278265"/>
            <a:ext cx="9970702" cy="83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IN" sz="4400" b="1" dirty="0" smtClean="0">
                <a:latin typeface="+mj-lt"/>
              </a:rPr>
              <a:t>BRUSHLESS DC  MOTOR</a:t>
            </a:r>
            <a:endParaRPr lang="en-US" sz="4400" b="1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413" name="AutoShape 2" descr="https://learning.oreilly.com/library/view/understanding-dc-circuits/9780750671101/images/B9780080519944500061/f01-11-9780750671101.jp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182274" name="Picture 2" descr="Electrical Brushless DC Motor Introduction, Working and Application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04104" y="1601272"/>
            <a:ext cx="4764155" cy="3493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268237" y="5357611"/>
            <a:ext cx="18046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Fig.2 BLDC motor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006107" y="5898524"/>
            <a:ext cx="471366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hlinkClick r:id="rId4"/>
              </a:rPr>
              <a:t>https://www.elprocus.com/brushless-dc-motor-advantages-applications-and-control/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48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27016" y="1489166"/>
            <a:ext cx="10254343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IN" sz="2800" dirty="0">
                <a:cs typeface="Times New Roman" pitchFamily="18" charset="0"/>
              </a:rPr>
              <a:t>Classical DC motors are no doubt good and simple but inefficient in some ways. </a:t>
            </a:r>
            <a:endParaRPr lang="en-IN" sz="2800" dirty="0" smtClean="0"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Although </a:t>
            </a:r>
            <a:r>
              <a:rPr lang="en-IN" sz="2800" dirty="0">
                <a:cs typeface="Times New Roman" pitchFamily="18" charset="0"/>
              </a:rPr>
              <a:t>dc motors possess good control characteristics and ruggedness, their performance and applications are inhibited due to sparking and commutation problems</a:t>
            </a:r>
            <a:r>
              <a:rPr lang="en-IN" sz="2800" dirty="0" smtClean="0">
                <a:cs typeface="Times New Roman" pitchFamily="18" charset="0"/>
              </a:rPr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 The </a:t>
            </a:r>
            <a:r>
              <a:rPr lang="en-IN" sz="2800" dirty="0">
                <a:cs typeface="Times New Roman" pitchFamily="18" charset="0"/>
              </a:rPr>
              <a:t>Permanent Magnet Brushless DC (PMBLDC) motor is able to overcome the limitations mentioned above and satisfy the requirements of a variable speed drive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dirty="0"/>
          </a:p>
        </p:txBody>
      </p:sp>
      <p:sp>
        <p:nvSpPr>
          <p:cNvPr id="17413" name="AutoShape 2" descr="https://learning.oreilly.com/library/view/understanding-dc-circuits/9780750671101/images/B9780080519944500061/f01-11-9780750671101.jp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255486" y="278265"/>
            <a:ext cx="9970702" cy="83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IN" sz="4400" b="1" dirty="0" smtClean="0">
                <a:latin typeface="+mj-lt"/>
              </a:rPr>
              <a:t>BRUSHLESS DC  MOTOR</a:t>
            </a:r>
            <a:endParaRPr lang="en-US" sz="4400" b="1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48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55486" y="1489166"/>
            <a:ext cx="9625873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ü"/>
            </a:pPr>
            <a:r>
              <a:rPr lang="en-IN" sz="2800" dirty="0" smtClean="0">
                <a:cs typeface="Times New Roman" pitchFamily="18" charset="0"/>
              </a:rPr>
              <a:t>Commutator -Facilitate </a:t>
            </a:r>
            <a:r>
              <a:rPr lang="en-IN" sz="2800" dirty="0">
                <a:cs typeface="Times New Roman" pitchFamily="18" charset="0"/>
              </a:rPr>
              <a:t>collection of current from the armature </a:t>
            </a:r>
            <a:r>
              <a:rPr lang="en-IN" sz="2800" dirty="0" smtClean="0">
                <a:cs typeface="Times New Roman" pitchFamily="18" charset="0"/>
              </a:rPr>
              <a:t>conductors . Facilitate </a:t>
            </a:r>
            <a:r>
              <a:rPr lang="en-IN" sz="2800" dirty="0">
                <a:cs typeface="Times New Roman" pitchFamily="18" charset="0"/>
              </a:rPr>
              <a:t>collection of current from the armature conductors</a:t>
            </a:r>
            <a:r>
              <a:rPr lang="en-IN" sz="2800" dirty="0" smtClean="0"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ü"/>
            </a:pPr>
            <a:r>
              <a:rPr lang="en-IN" sz="2800" dirty="0">
                <a:cs typeface="Times New Roman" pitchFamily="18" charset="0"/>
              </a:rPr>
              <a:t>Brush -</a:t>
            </a:r>
            <a:r>
              <a:rPr lang="en-IN" sz="2800" dirty="0" smtClean="0">
                <a:cs typeface="Times New Roman" pitchFamily="18" charset="0"/>
              </a:rPr>
              <a:t>Collects </a:t>
            </a:r>
            <a:r>
              <a:rPr lang="en-IN" sz="2800" dirty="0">
                <a:cs typeface="Times New Roman" pitchFamily="18" charset="0"/>
              </a:rPr>
              <a:t>current from the </a:t>
            </a:r>
            <a:r>
              <a:rPr lang="en-IN" sz="2800" dirty="0" err="1" smtClean="0">
                <a:cs typeface="Times New Roman" pitchFamily="18" charset="0"/>
              </a:rPr>
              <a:t>commutator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55486" y="293914"/>
            <a:ext cx="9970702" cy="83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400" dirty="0" smtClean="0">
                <a:solidFill>
                  <a:schemeClr val="bg1"/>
                </a:solidFill>
                <a:latin typeface="+mj-lt"/>
                <a:cs typeface="Arial" charset="0"/>
              </a:rPr>
              <a:t> </a:t>
            </a:r>
            <a:r>
              <a:rPr lang="en-IN" sz="4400" b="1" dirty="0" smtClean="0">
                <a:latin typeface="+mj-lt"/>
              </a:rPr>
              <a:t>MAIN PARTS OF BRUSHED MOTOR</a:t>
            </a:r>
            <a:endParaRPr lang="en-US" sz="4400" b="1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413" name="AutoShape 2" descr="https://learning.oreilly.com/library/view/understanding-dc-circuits/9780750671101/images/B9780080519944500061/f01-11-9780750671101.jp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8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27017" y="1489166"/>
            <a:ext cx="6059534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itchFamily="2" charset="2"/>
              <a:buChar char="ü"/>
            </a:pPr>
            <a:r>
              <a:rPr lang="en-IN" sz="2800" dirty="0">
                <a:cs typeface="Times New Roman" pitchFamily="18" charset="0"/>
              </a:rPr>
              <a:t>Has no brushes </a:t>
            </a:r>
            <a:r>
              <a:rPr lang="en-IN" sz="2800" dirty="0" smtClean="0">
                <a:cs typeface="Times New Roman" pitchFamily="18" charset="0"/>
              </a:rPr>
              <a:t>and </a:t>
            </a:r>
            <a:r>
              <a:rPr lang="en-IN" sz="2800" dirty="0" err="1" smtClean="0">
                <a:cs typeface="Times New Roman" pitchFamily="18" charset="0"/>
              </a:rPr>
              <a:t>commutators</a:t>
            </a:r>
            <a:r>
              <a:rPr lang="en-IN" sz="2800" dirty="0">
                <a:cs typeface="Times New Roman" pitchFamily="18" charset="0"/>
              </a:rPr>
              <a:t>.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en-IN" sz="2800" dirty="0" smtClean="0">
                <a:cs typeface="Times New Roman" pitchFamily="18" charset="0"/>
              </a:rPr>
              <a:t>Rotation </a:t>
            </a:r>
            <a:r>
              <a:rPr lang="en-IN" sz="2800" dirty="0">
                <a:cs typeface="Times New Roman" pitchFamily="18" charset="0"/>
              </a:rPr>
              <a:t>of the rotor </a:t>
            </a:r>
            <a:r>
              <a:rPr lang="en-IN" sz="2800" dirty="0" smtClean="0">
                <a:cs typeface="Times New Roman" pitchFamily="18" charset="0"/>
              </a:rPr>
              <a:t>depends on </a:t>
            </a:r>
            <a:r>
              <a:rPr lang="en-IN" sz="2800" dirty="0">
                <a:cs typeface="Times New Roman" pitchFamily="18" charset="0"/>
              </a:rPr>
              <a:t>the accurate position </a:t>
            </a:r>
            <a:r>
              <a:rPr lang="en-IN" sz="2800" dirty="0" smtClean="0">
                <a:cs typeface="Times New Roman" pitchFamily="18" charset="0"/>
              </a:rPr>
              <a:t>with stator</a:t>
            </a:r>
            <a:r>
              <a:rPr lang="en-IN" sz="2800" dirty="0">
                <a:cs typeface="Times New Roman" pitchFamily="18" charset="0"/>
              </a:rPr>
              <a:t>.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en-IN" sz="2800" dirty="0" smtClean="0">
                <a:cs typeface="Times New Roman" pitchFamily="18" charset="0"/>
              </a:rPr>
              <a:t>Detected </a:t>
            </a:r>
            <a:r>
              <a:rPr lang="en-IN" sz="2800" dirty="0">
                <a:cs typeface="Times New Roman" pitchFamily="18" charset="0"/>
              </a:rPr>
              <a:t>by Hall </a:t>
            </a:r>
            <a:r>
              <a:rPr lang="en-IN" sz="2800" dirty="0" smtClean="0">
                <a:cs typeface="Times New Roman" pitchFamily="18" charset="0"/>
              </a:rPr>
              <a:t>Sensor, mounted </a:t>
            </a:r>
            <a:r>
              <a:rPr lang="en-IN" sz="2800" dirty="0">
                <a:cs typeface="Times New Roman" pitchFamily="18" charset="0"/>
              </a:rPr>
              <a:t>on rotor, shifted </a:t>
            </a:r>
            <a:r>
              <a:rPr lang="en-IN" sz="2800" dirty="0" smtClean="0">
                <a:cs typeface="Times New Roman" pitchFamily="18" charset="0"/>
              </a:rPr>
              <a:t>at 60º </a:t>
            </a:r>
            <a:r>
              <a:rPr lang="en-IN" sz="2800" dirty="0">
                <a:cs typeface="Times New Roman" pitchFamily="18" charset="0"/>
              </a:rPr>
              <a:t>or 120º phase shift.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en-IN" sz="2800" dirty="0" smtClean="0">
                <a:cs typeface="Times New Roman" pitchFamily="18" charset="0"/>
              </a:rPr>
              <a:t>Electronic </a:t>
            </a:r>
            <a:r>
              <a:rPr lang="en-IN" sz="2800" dirty="0">
                <a:cs typeface="Times New Roman" pitchFamily="18" charset="0"/>
              </a:rPr>
              <a:t>commutation </a:t>
            </a:r>
            <a:r>
              <a:rPr lang="en-IN" sz="2800" dirty="0" smtClean="0">
                <a:cs typeface="Times New Roman" pitchFamily="18" charset="0"/>
              </a:rPr>
              <a:t>used to </a:t>
            </a:r>
            <a:r>
              <a:rPr lang="en-IN" sz="2800" dirty="0">
                <a:cs typeface="Times New Roman" pitchFamily="18" charset="0"/>
              </a:rPr>
              <a:t>vary the PWM </a:t>
            </a:r>
            <a:r>
              <a:rPr lang="en-IN" sz="2800" dirty="0" smtClean="0">
                <a:cs typeface="Times New Roman" pitchFamily="18" charset="0"/>
              </a:rPr>
              <a:t>duty-cycle for </a:t>
            </a:r>
            <a:r>
              <a:rPr lang="en-IN" sz="2800" dirty="0">
                <a:cs typeface="Times New Roman" pitchFamily="18" charset="0"/>
              </a:rPr>
              <a:t>speed control, </a:t>
            </a:r>
            <a:r>
              <a:rPr lang="en-IN" sz="2800" dirty="0" smtClean="0">
                <a:cs typeface="Times New Roman" pitchFamily="18" charset="0"/>
              </a:rPr>
              <a:t>using software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..</a:t>
            </a:r>
            <a:endParaRPr lang="en-US" sz="28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55486" y="293914"/>
            <a:ext cx="9970702" cy="83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400" cap="all" dirty="0">
                <a:solidFill>
                  <a:schemeClr val="bg1"/>
                </a:solidFill>
                <a:latin typeface="+mj-lt"/>
                <a:cs typeface="Arial" charset="0"/>
              </a:rPr>
              <a:t> </a:t>
            </a:r>
            <a:r>
              <a:rPr lang="en-IN" sz="4400" b="1" dirty="0" smtClean="0">
                <a:latin typeface="+mj-lt"/>
              </a:rPr>
              <a:t>BLDC MOTOR</a:t>
            </a:r>
            <a:endParaRPr lang="en-US" sz="4400" b="1" cap="all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413" name="AutoShape 2" descr="https://learning.oreilly.com/library/view/understanding-dc-circuits/9780750671101/images/B9780080519944500061/f01-11-9780750671101.jp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2567" y="1622738"/>
            <a:ext cx="4841450" cy="34129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6751186" y="5149193"/>
            <a:ext cx="43008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Fig-3(BLDCM)</a:t>
            </a:r>
          </a:p>
          <a:p>
            <a:r>
              <a:rPr lang="en-IN" dirty="0" smtClean="0"/>
              <a:t>https</a:t>
            </a:r>
            <a:r>
              <a:rPr lang="en-IN" dirty="0"/>
              <a:t>://images.app.goo.gl/2nFyQSrPrgkfo7FL8</a:t>
            </a:r>
          </a:p>
        </p:txBody>
      </p:sp>
    </p:spTree>
    <p:extLst>
      <p:ext uri="{BB962C8B-B14F-4D97-AF65-F5344CB8AC3E}">
        <p14:creationId xmlns:p14="http://schemas.microsoft.com/office/powerpoint/2010/main" val="311583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27016" y="1489166"/>
            <a:ext cx="10254343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§"/>
            </a:pPr>
            <a:r>
              <a:rPr lang="en-IN" sz="2800" dirty="0">
                <a:cs typeface="Times New Roman" pitchFamily="18" charset="0"/>
              </a:rPr>
              <a:t>As there is no </a:t>
            </a:r>
            <a:r>
              <a:rPr lang="en-IN" sz="2800" dirty="0" err="1">
                <a:cs typeface="Times New Roman" pitchFamily="18" charset="0"/>
              </a:rPr>
              <a:t>commutator</a:t>
            </a:r>
            <a:r>
              <a:rPr lang="en-IN" sz="2800" dirty="0">
                <a:cs typeface="Times New Roman" pitchFamily="18" charset="0"/>
              </a:rPr>
              <a:t> ,</a:t>
            </a:r>
            <a:r>
              <a:rPr lang="en-IN" sz="2800" dirty="0" smtClean="0">
                <a:cs typeface="Times New Roman" pitchFamily="18" charset="0"/>
              </a:rPr>
              <a:t>the current </a:t>
            </a:r>
            <a:r>
              <a:rPr lang="en-IN" sz="2800" dirty="0">
                <a:cs typeface="Times New Roman" pitchFamily="18" charset="0"/>
              </a:rPr>
              <a:t>direction of the </a:t>
            </a:r>
            <a:r>
              <a:rPr lang="en-IN" sz="2800" dirty="0" smtClean="0">
                <a:cs typeface="Times New Roman" pitchFamily="18" charset="0"/>
              </a:rPr>
              <a:t>conductor on </a:t>
            </a:r>
            <a:r>
              <a:rPr lang="en-IN" sz="2800" dirty="0">
                <a:cs typeface="Times New Roman" pitchFamily="18" charset="0"/>
              </a:rPr>
              <a:t>the stator </a:t>
            </a:r>
            <a:r>
              <a:rPr lang="en-IN" sz="2800" dirty="0" smtClean="0">
                <a:cs typeface="Times New Roman" pitchFamily="18" charset="0"/>
              </a:rPr>
              <a:t>controlled electronically</a:t>
            </a:r>
            <a:r>
              <a:rPr lang="en-IN" sz="2800" dirty="0"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Rotor </a:t>
            </a:r>
            <a:r>
              <a:rPr lang="en-IN" sz="2800" dirty="0">
                <a:cs typeface="Times New Roman" pitchFamily="18" charset="0"/>
              </a:rPr>
              <a:t>consists the </a:t>
            </a:r>
            <a:r>
              <a:rPr lang="en-IN" sz="2800" dirty="0" smtClean="0">
                <a:cs typeface="Times New Roman" pitchFamily="18" charset="0"/>
              </a:rPr>
              <a:t>permanent magnet </a:t>
            </a:r>
            <a:r>
              <a:rPr lang="en-IN" sz="2800" dirty="0">
                <a:cs typeface="Times New Roman" pitchFamily="18" charset="0"/>
              </a:rPr>
              <a:t>where as stator consist </a:t>
            </a:r>
            <a:r>
              <a:rPr lang="en-IN" sz="2800" dirty="0" smtClean="0">
                <a:cs typeface="Times New Roman" pitchFamily="18" charset="0"/>
              </a:rPr>
              <a:t>a no</a:t>
            </a:r>
            <a:r>
              <a:rPr lang="en-IN" sz="2800" dirty="0">
                <a:cs typeface="Times New Roman" pitchFamily="18" charset="0"/>
              </a:rPr>
              <a:t>. of windings. Current </a:t>
            </a:r>
            <a:r>
              <a:rPr lang="en-IN" sz="2800" dirty="0" smtClean="0">
                <a:cs typeface="Times New Roman" pitchFamily="18" charset="0"/>
              </a:rPr>
              <a:t>through winding </a:t>
            </a:r>
            <a:r>
              <a:rPr lang="en-IN" sz="2800" dirty="0">
                <a:cs typeface="Times New Roman" pitchFamily="18" charset="0"/>
              </a:rPr>
              <a:t>produces </a:t>
            </a:r>
            <a:r>
              <a:rPr lang="en-IN" sz="2800" dirty="0" smtClean="0">
                <a:cs typeface="Times New Roman" pitchFamily="18" charset="0"/>
              </a:rPr>
              <a:t>magnetic field </a:t>
            </a:r>
            <a:r>
              <a:rPr lang="en-IN" sz="2800" dirty="0">
                <a:cs typeface="Times New Roman" pitchFamily="18" charset="0"/>
              </a:rPr>
              <a:t>and </a:t>
            </a:r>
            <a:r>
              <a:rPr lang="en-IN" sz="2800" dirty="0" smtClean="0">
                <a:cs typeface="Times New Roman" pitchFamily="18" charset="0"/>
              </a:rPr>
              <a:t>force.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Hall </a:t>
            </a:r>
            <a:r>
              <a:rPr lang="en-IN" sz="2800" dirty="0">
                <a:cs typeface="Times New Roman" pitchFamily="18" charset="0"/>
              </a:rPr>
              <a:t>sensor used to determine </a:t>
            </a:r>
            <a:r>
              <a:rPr lang="en-IN" sz="2800" dirty="0" smtClean="0">
                <a:cs typeface="Times New Roman" pitchFamily="18" charset="0"/>
              </a:rPr>
              <a:t>the position </a:t>
            </a:r>
            <a:r>
              <a:rPr lang="en-IN" sz="2800" dirty="0">
                <a:cs typeface="Times New Roman" pitchFamily="18" charset="0"/>
              </a:rPr>
              <a:t>during </a:t>
            </a:r>
            <a:r>
              <a:rPr lang="en-IN" sz="2800" dirty="0" smtClean="0">
                <a:cs typeface="Times New Roman" pitchFamily="18" charset="0"/>
              </a:rPr>
              <a:t>commutation. Brushless </a:t>
            </a:r>
            <a:r>
              <a:rPr lang="en-IN" sz="2800" dirty="0">
                <a:cs typeface="Times New Roman" pitchFamily="18" charset="0"/>
              </a:rPr>
              <a:t>DC motor requires external commutation circuit to </a:t>
            </a:r>
            <a:r>
              <a:rPr lang="en-IN" sz="2800" dirty="0" smtClean="0">
                <a:cs typeface="Times New Roman" pitchFamily="18" charset="0"/>
              </a:rPr>
              <a:t>rotate rotor. 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Rotor </a:t>
            </a:r>
            <a:r>
              <a:rPr lang="en-IN" sz="2800" dirty="0">
                <a:cs typeface="Times New Roman" pitchFamily="18" charset="0"/>
              </a:rPr>
              <a:t>position is very important.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IN" sz="2800" dirty="0" smtClean="0">
                <a:cs typeface="Times New Roman" pitchFamily="18" charset="0"/>
              </a:rPr>
              <a:t>HALL </a:t>
            </a:r>
            <a:r>
              <a:rPr lang="en-IN" sz="2800" dirty="0">
                <a:cs typeface="Times New Roman" pitchFamily="18" charset="0"/>
              </a:rPr>
              <a:t>SENSOR senses the position of the coil accurately.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55486" y="293914"/>
            <a:ext cx="9970702" cy="83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400" dirty="0" smtClean="0">
                <a:solidFill>
                  <a:schemeClr val="bg1"/>
                </a:solidFill>
                <a:latin typeface="+mj-lt"/>
                <a:cs typeface="Arial" charset="0"/>
              </a:rPr>
              <a:t> </a:t>
            </a:r>
            <a:r>
              <a:rPr lang="en-IN" sz="4400" b="1" dirty="0" smtClean="0">
                <a:latin typeface="+mj-lt"/>
              </a:rPr>
              <a:t>WORKING OF BLDCM</a:t>
            </a:r>
            <a:endParaRPr lang="en-US" sz="4400" b="1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413" name="AutoShape 2" descr="https://learning.oreilly.com/library/view/understanding-dc-circuits/9780750671101/images/B9780080519944500061/f01-11-9780750671101.jp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3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27016" y="1489166"/>
            <a:ext cx="10254343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IN" sz="2800" dirty="0">
                <a:cs typeface="Times New Roman" pitchFamily="18" charset="0"/>
              </a:rPr>
              <a:t>PMBLDC motors are </a:t>
            </a:r>
            <a:r>
              <a:rPr lang="en-IN" sz="2800" dirty="0" smtClean="0">
                <a:cs typeface="Times New Roman" pitchFamily="18" charset="0"/>
              </a:rPr>
              <a:t>increasingly being </a:t>
            </a:r>
            <a:r>
              <a:rPr lang="en-IN" sz="2800" dirty="0">
                <a:cs typeface="Times New Roman" pitchFamily="18" charset="0"/>
              </a:rPr>
              <a:t>used in a wide spectrum </a:t>
            </a:r>
            <a:r>
              <a:rPr lang="en-IN" sz="2800" dirty="0" smtClean="0">
                <a:cs typeface="Times New Roman" pitchFamily="18" charset="0"/>
              </a:rPr>
              <a:t>of applications</a:t>
            </a:r>
            <a:r>
              <a:rPr lang="en-IN" sz="2800" dirty="0">
                <a:cs typeface="Times New Roman" pitchFamily="18" charset="0"/>
              </a:rPr>
              <a:t>:</a:t>
            </a: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domestic equipments</a:t>
            </a:r>
            <a:endParaRPr lang="en-IN" sz="2800" dirty="0"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automobiles information </a:t>
            </a:r>
            <a:r>
              <a:rPr lang="en-IN" sz="2800" dirty="0">
                <a:cs typeface="Times New Roman" pitchFamily="18" charset="0"/>
              </a:rPr>
              <a:t>technology equipment</a:t>
            </a: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industries</a:t>
            </a:r>
            <a:endParaRPr lang="en-IN" sz="2800" dirty="0"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public </a:t>
            </a:r>
            <a:r>
              <a:rPr lang="en-IN" sz="2800" dirty="0">
                <a:cs typeface="Times New Roman" pitchFamily="18" charset="0"/>
              </a:rPr>
              <a:t>life appliances</a:t>
            </a: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transportation</a:t>
            </a:r>
            <a:endParaRPr lang="en-IN" sz="2800" dirty="0"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aerospace</a:t>
            </a:r>
            <a:r>
              <a:rPr lang="en-IN" sz="2800" dirty="0">
                <a:cs typeface="Times New Roman" pitchFamily="18" charset="0"/>
              </a:rPr>
              <a:t>, defence equipments, </a:t>
            </a:r>
            <a:r>
              <a:rPr lang="en-IN" sz="2800" dirty="0" smtClean="0">
                <a:cs typeface="Times New Roman" pitchFamily="18" charset="0"/>
              </a:rPr>
              <a:t>power tools</a:t>
            </a:r>
            <a:r>
              <a:rPr lang="en-IN" sz="2800" dirty="0">
                <a:cs typeface="Times New Roman" pitchFamily="18" charset="0"/>
              </a:rPr>
              <a:t>, toys, vision and </a:t>
            </a:r>
            <a:r>
              <a:rPr lang="en-IN" sz="2800" dirty="0" smtClean="0">
                <a:cs typeface="Times New Roman" pitchFamily="18" charset="0"/>
              </a:rPr>
              <a:t>sound equipments</a:t>
            </a:r>
          </a:p>
          <a:p>
            <a:pPr algn="just">
              <a:buFont typeface="Arial" pitchFamily="34" charset="0"/>
              <a:buChar char="•"/>
            </a:pPr>
            <a:r>
              <a:rPr lang="en-IN" sz="2800" dirty="0" smtClean="0">
                <a:cs typeface="Times New Roman" pitchFamily="18" charset="0"/>
              </a:rPr>
              <a:t>medical </a:t>
            </a:r>
            <a:r>
              <a:rPr lang="en-IN" sz="2800" dirty="0">
                <a:cs typeface="Times New Roman" pitchFamily="18" charset="0"/>
              </a:rPr>
              <a:t>and health care </a:t>
            </a:r>
            <a:r>
              <a:rPr lang="en-IN" sz="2800" dirty="0" smtClean="0">
                <a:cs typeface="Times New Roman" pitchFamily="18" charset="0"/>
              </a:rPr>
              <a:t>equipment ranging </a:t>
            </a:r>
            <a:r>
              <a:rPr lang="en-IN" sz="2800" dirty="0">
                <a:cs typeface="Times New Roman" pitchFamily="18" charset="0"/>
              </a:rPr>
              <a:t>from microwatts to megawatts</a:t>
            </a:r>
            <a:endParaRPr lang="en-US" sz="28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255486" y="293914"/>
            <a:ext cx="9970702" cy="838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4400" dirty="0" smtClean="0">
                <a:solidFill>
                  <a:schemeClr val="bg1"/>
                </a:solidFill>
                <a:latin typeface="+mj-lt"/>
                <a:cs typeface="Arial" charset="0"/>
              </a:rPr>
              <a:t> </a:t>
            </a:r>
            <a:r>
              <a:rPr lang="en-IN" sz="4400" b="1" dirty="0" smtClean="0">
                <a:latin typeface="+mj-lt"/>
              </a:rPr>
              <a:t>APPLICATIONS</a:t>
            </a:r>
            <a:endParaRPr lang="en-US" sz="4400" b="1" dirty="0">
              <a:solidFill>
                <a:schemeClr val="bg1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7413" name="AutoShape 2" descr="https://learning.oreilly.com/library/view/understanding-dc-circuits/9780750671101/images/B9780080519944500061/f01-11-9780750671101.jpg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83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 txBox="1">
            <a:spLocks/>
          </p:cNvSpPr>
          <p:nvPr/>
        </p:nvSpPr>
        <p:spPr bwMode="auto">
          <a:xfrm>
            <a:off x="1971039" y="269240"/>
            <a:ext cx="8331200" cy="8425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0" hangingPunct="0"/>
            <a:r>
              <a:rPr lang="en-US" sz="4400" b="1" dirty="0" smtClean="0">
                <a:latin typeface="+mj-lt"/>
                <a:cs typeface="Times New Roman" pitchFamily="18" charset="0"/>
              </a:rPr>
              <a:t>PRACTICE QUESTIONS</a:t>
            </a:r>
            <a:endParaRPr lang="en-US" sz="4400" b="1" dirty="0">
              <a:latin typeface="+mj-lt"/>
              <a:cs typeface="Times New Roman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08000" y="1676400"/>
            <a:ext cx="10972800" cy="4114800"/>
          </a:xfrm>
          <a:prstGeom prst="rect">
            <a:avLst/>
          </a:prstGeo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cs typeface="Times New Roman" pitchFamily="18" charset="0"/>
              </a:rPr>
              <a:t>Explain the operation of geared motor.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>
                <a:cs typeface="Times New Roman" pitchFamily="18" charset="0"/>
              </a:rPr>
              <a:t>Explain the operation of </a:t>
            </a:r>
            <a:r>
              <a:rPr lang="en-US" sz="2800" dirty="0" smtClean="0">
                <a:cs typeface="Times New Roman" pitchFamily="18" charset="0"/>
              </a:rPr>
              <a:t>brushless motor.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cs typeface="Times New Roman" pitchFamily="18" charset="0"/>
              </a:rPr>
              <a:t>What are the different types of </a:t>
            </a:r>
            <a:r>
              <a:rPr lang="en-US" sz="2800" dirty="0">
                <a:cs typeface="Times New Roman" pitchFamily="18" charset="0"/>
              </a:rPr>
              <a:t> </a:t>
            </a:r>
            <a:r>
              <a:rPr lang="en-US" sz="2800" dirty="0" smtClean="0">
                <a:cs typeface="Times New Roman" pitchFamily="18" charset="0"/>
              </a:rPr>
              <a:t>brushless motor?</a:t>
            </a:r>
            <a:endParaRPr lang="en-IN" sz="2800" dirty="0" smtClean="0">
              <a:cs typeface="Times New Roman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/>
              <a:t> </a:t>
            </a:r>
            <a:endParaRPr lang="en-IN" sz="2800" dirty="0" smtClean="0"/>
          </a:p>
          <a:p>
            <a:endParaRPr lang="en-US" sz="2800" dirty="0"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1" y="1028702"/>
            <a:ext cx="5778500" cy="48736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dirty="0" smtClean="0">
                <a:cs typeface="Times New Roman" pitchFamily="18" charset="0"/>
              </a:rPr>
              <a:t> To </a:t>
            </a:r>
            <a:r>
              <a:rPr lang="en-IN" sz="2800" dirty="0">
                <a:cs typeface="Times New Roman" pitchFamily="18" charset="0"/>
              </a:rPr>
              <a:t>make students </a:t>
            </a:r>
            <a:r>
              <a:rPr lang="en-IN" sz="2800" dirty="0" smtClean="0">
                <a:cs typeface="Times New Roman" pitchFamily="18" charset="0"/>
              </a:rPr>
              <a:t>understand</a:t>
            </a:r>
            <a:endParaRPr lang="en-IN" sz="2800" dirty="0">
              <a:cs typeface="Times New Roman" pitchFamily="18" charset="0"/>
            </a:endParaRPr>
          </a:p>
          <a:p>
            <a:pPr algn="just"/>
            <a:r>
              <a:rPr lang="en-US" sz="2800" dirty="0" smtClean="0"/>
              <a:t> Concept of BLDC motor</a:t>
            </a:r>
          </a:p>
          <a:p>
            <a:pPr algn="just"/>
            <a:r>
              <a:rPr lang="en-US" sz="2800" dirty="0" smtClean="0"/>
              <a:t>Different types of brushless motor</a:t>
            </a:r>
          </a:p>
          <a:p>
            <a:pPr algn="just"/>
            <a:r>
              <a:rPr lang="en-US" sz="2800" dirty="0" smtClean="0"/>
              <a:t>Applications of BLDC motor</a:t>
            </a:r>
          </a:p>
          <a:p>
            <a:pPr algn="just"/>
            <a:endParaRPr lang="en-US" sz="2400" dirty="0">
              <a:cs typeface="Times New Roman" pitchFamily="18" charset="0"/>
            </a:endParaRPr>
          </a:p>
          <a:p>
            <a:pPr algn="just"/>
            <a:endParaRPr lang="en-US" sz="2400" dirty="0"/>
          </a:p>
          <a:p>
            <a:pPr algn="just"/>
            <a:endParaRPr lang="en-US" sz="2400" dirty="0" smtClean="0"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2400" dirty="0"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2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383949" y="1681522"/>
            <a:ext cx="4456567" cy="1920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 smtClean="0">
                <a:latin typeface="Casper"/>
                <a:ea typeface="Karla" pitchFamily="2" charset="0"/>
                <a:cs typeface="Karla" pitchFamily="2" charset="0"/>
              </a:rPr>
              <a:t>LEARNING OUTCOMES</a:t>
            </a:r>
            <a: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  <a:t/>
            </a:r>
            <a:br>
              <a:rPr lang="en-US" sz="4400" b="1" dirty="0">
                <a:latin typeface="Casper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511627"/>
            <a:ext cx="5867400" cy="58369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7" y="6324602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304801"/>
            <a:ext cx="812800" cy="9760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Course Outcome to Program Outcome Relationship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2693" y="1750431"/>
          <a:ext cx="10907489" cy="4650372"/>
        </p:xfrm>
        <a:graphic>
          <a:graphicData uri="http://schemas.openxmlformats.org/drawingml/2006/table">
            <a:tbl>
              <a:tblPr/>
              <a:tblGrid>
                <a:gridCol w="753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7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9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9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04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0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13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230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669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75822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5590"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     (21ELH-101) </a:t>
                      </a: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BEEE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PO→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latin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956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CO↓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PO4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PO5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PO6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PO7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PO8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PO9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PO10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PO11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PO12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PSO1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PSO2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PSO3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CO1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CO2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CO4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9971">
                <a:tc>
                  <a:txBody>
                    <a:bodyPr/>
                    <a:lstStyle/>
                    <a:p>
                      <a:pPr marL="457200" marR="0" indent="-45720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CO5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-45720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0456"/>
            <a:ext cx="10515600" cy="1093657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 smtClean="0">
                <a:latin typeface="+mj-lt"/>
              </a:rPr>
              <a:t>ASSESSMENT PATTERN</a:t>
            </a:r>
            <a:endParaRPr lang="en-US" b="1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146352"/>
            <a:ext cx="10696303" cy="4940939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0711" y="1968136"/>
          <a:ext cx="10855229" cy="21159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50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074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9372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A</a:t>
                      </a:r>
                    </a:p>
                    <a:p>
                      <a:pPr algn="ctr"/>
                      <a:r>
                        <a:rPr lang="en-US" dirty="0" smtClean="0"/>
                        <a:t>Assignment (each assignment)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B</a:t>
                      </a:r>
                    </a:p>
                    <a:p>
                      <a:pPr algn="ctr"/>
                      <a:r>
                        <a:rPr lang="en-US" dirty="0" smtClean="0"/>
                        <a:t>Time Bound Surprise</a:t>
                      </a:r>
                      <a:r>
                        <a:rPr lang="en-US" baseline="0" dirty="0" smtClean="0"/>
                        <a:t> Test (each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</a:p>
                    <a:p>
                      <a:pPr algn="ctr"/>
                      <a:r>
                        <a:rPr lang="en-US" dirty="0" smtClean="0"/>
                        <a:t>Quiz (each quiz)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D</a:t>
                      </a:r>
                    </a:p>
                    <a:p>
                      <a:pPr algn="ctr"/>
                      <a:r>
                        <a:rPr lang="en-US" dirty="0" smtClean="0"/>
                        <a:t>Mid</a:t>
                      </a:r>
                      <a:r>
                        <a:rPr lang="en-US" baseline="0" dirty="0" smtClean="0"/>
                        <a:t> Semester Test(one per test)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E</a:t>
                      </a:r>
                    </a:p>
                    <a:p>
                      <a:pPr algn="ctr"/>
                      <a:r>
                        <a:rPr lang="en-US" dirty="0" smtClean="0"/>
                        <a:t>Homework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F</a:t>
                      </a:r>
                    </a:p>
                    <a:p>
                      <a:pPr algn="ctr"/>
                      <a:r>
                        <a:rPr lang="en-US" dirty="0" smtClean="0"/>
                        <a:t>Discussion Forums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G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Attendance and  engagement Score on BB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NA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Placeholder 2"/>
          <p:cNvSpPr>
            <a:spLocks noGrp="1"/>
          </p:cNvSpPr>
          <p:nvPr>
            <p:ph type="body" sz="half" idx="4294967295"/>
          </p:nvPr>
        </p:nvSpPr>
        <p:spPr>
          <a:xfrm>
            <a:off x="203200" y="1295399"/>
            <a:ext cx="11379200" cy="5144589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Text Books: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Basic Electrical Engineering,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Nagrath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2001, McGraw-Hill Education (India)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PvtLimited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Basic Electrical and Electronics Engineering, Bhattacharya, S.K., 2011, Pearson</a:t>
            </a:r>
          </a:p>
          <a:p>
            <a:pPr>
              <a:buFontTx/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Reference Books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Electric Circuits, Charles K. Alexander &amp; Matthew N. O.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Sadiku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4th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edition,McGraw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-Hill. Publication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Electrical Engineering Fundamentals, Vincent Del Toro, 2nd edition, Prentice Hall of India.</a:t>
            </a:r>
            <a:endParaRPr lang="en-US" sz="1800" dirty="0" smtClean="0">
              <a:latin typeface="Times New Roman" pitchFamily="18" charset="0"/>
              <a:cs typeface="Times New Roman" pitchFamily="18" charset="0"/>
              <a:hlinkClick r:id="rId3"/>
            </a:endParaRPr>
          </a:p>
          <a:p>
            <a:pPr>
              <a:lnSpc>
                <a:spcPct val="90000"/>
              </a:lnSpc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Websites:</a:t>
            </a:r>
          </a:p>
          <a:p>
            <a:r>
              <a:rPr lang="en-IN" sz="2400" dirty="0"/>
              <a:t>http://en.wikipedia.org/wiki/Alternator</a:t>
            </a:r>
          </a:p>
          <a:p>
            <a:r>
              <a:rPr lang="en-IN" sz="2400" dirty="0" smtClean="0"/>
              <a:t>http</a:t>
            </a:r>
            <a:r>
              <a:rPr lang="en-IN" sz="2400" dirty="0"/>
              <a:t>://en.wikipedia.org/wiki/Electric_motor</a:t>
            </a:r>
          </a:p>
          <a:p>
            <a:r>
              <a:rPr lang="en-IN" sz="2400" dirty="0" smtClean="0"/>
              <a:t>http</a:t>
            </a:r>
            <a:r>
              <a:rPr lang="en-IN" sz="2400" dirty="0"/>
              <a:t>://www.basler.com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 smtClean="0"/>
          </a:p>
          <a:p>
            <a:pPr>
              <a:lnSpc>
                <a:spcPct val="90000"/>
              </a:lnSpc>
            </a:pPr>
            <a:endParaRPr lang="en-US" sz="2400" dirty="0" smtClean="0"/>
          </a:p>
          <a:p>
            <a:pPr>
              <a:lnSpc>
                <a:spcPct val="90000"/>
              </a:lnSpc>
            </a:pPr>
            <a:endParaRPr lang="en-US" sz="2400" dirty="0" smtClean="0"/>
          </a:p>
        </p:txBody>
      </p:sp>
      <p:sp>
        <p:nvSpPr>
          <p:cNvPr id="24579" name="Footer Placeholder 6"/>
          <p:cNvSpPr txBox="1">
            <a:spLocks noGrp="1"/>
          </p:cNvSpPr>
          <p:nvPr/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737360" y="330926"/>
            <a:ext cx="8307977" cy="7141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 eaLnBrk="0" hangingPunct="0">
              <a:defRPr/>
            </a:pPr>
            <a:r>
              <a:rPr lang="en-US" sz="4400" b="1" dirty="0" smtClean="0">
                <a:latin typeface="+mj-lt"/>
              </a:rPr>
              <a:t>REFERENCES</a:t>
            </a:r>
            <a:endParaRPr lang="en-IN" sz="4400" b="1" kern="0" dirty="0">
              <a:latin typeface="+mj-lt"/>
              <a:ea typeface="+mj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14005" y="5394447"/>
            <a:ext cx="29244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 smtClean="0">
                <a:latin typeface="Casper" panose="02000506000000020004" pitchFamily="2" charset="0"/>
                <a:cs typeface="Segoe UI" panose="020B0502040204020203" pitchFamily="34" charset="0"/>
              </a:rPr>
              <a:t>Email:shikha.e12701@cumail.in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3014</TotalTime>
  <Words>815</Words>
  <Application>Microsoft Office PowerPoint</Application>
  <PresentationFormat>Widescreen</PresentationFormat>
  <Paragraphs>209</Paragraphs>
  <Slides>17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Arial</vt:lpstr>
      <vt:lpstr>Arial Black</vt:lpstr>
      <vt:lpstr>Arial Unicode MS</vt:lpstr>
      <vt:lpstr>Calibri</vt:lpstr>
      <vt:lpstr>Calibri Light</vt:lpstr>
      <vt:lpstr>Casper</vt:lpstr>
      <vt:lpstr>Karla</vt:lpstr>
      <vt:lpstr>Raavi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Lecture Objectives</vt:lpstr>
      <vt:lpstr>Course Objectives</vt:lpstr>
      <vt:lpstr>Course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OUTCOMES </vt:lpstr>
      <vt:lpstr>Course Outcome to Program Outcome Relationship</vt:lpstr>
      <vt:lpstr>ASSESSMENT PATTERN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396</cp:revision>
  <dcterms:created xsi:type="dcterms:W3CDTF">2019-01-09T10:33:58Z</dcterms:created>
  <dcterms:modified xsi:type="dcterms:W3CDTF">2023-06-20T04:57:16Z</dcterms:modified>
</cp:coreProperties>
</file>