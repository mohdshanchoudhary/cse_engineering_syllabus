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28"/>
  </p:notesMasterIdLst>
  <p:handoutMasterIdLst>
    <p:handoutMasterId r:id="rId29"/>
  </p:handoutMasterIdLst>
  <p:sldIdLst>
    <p:sldId id="349" r:id="rId3"/>
    <p:sldId id="362" r:id="rId4"/>
    <p:sldId id="363" r:id="rId5"/>
    <p:sldId id="364" r:id="rId6"/>
    <p:sldId id="365" r:id="rId7"/>
    <p:sldId id="281" r:id="rId8"/>
    <p:sldId id="361" r:id="rId9"/>
    <p:sldId id="360" r:id="rId10"/>
    <p:sldId id="323" r:id="rId11"/>
    <p:sldId id="325" r:id="rId12"/>
    <p:sldId id="350" r:id="rId13"/>
    <p:sldId id="351" r:id="rId14"/>
    <p:sldId id="352" r:id="rId15"/>
    <p:sldId id="353" r:id="rId16"/>
    <p:sldId id="344" r:id="rId17"/>
    <p:sldId id="345" r:id="rId18"/>
    <p:sldId id="347" r:id="rId19"/>
    <p:sldId id="348" r:id="rId20"/>
    <p:sldId id="318" r:id="rId21"/>
    <p:sldId id="319" r:id="rId22"/>
    <p:sldId id="354" r:id="rId23"/>
    <p:sldId id="358" r:id="rId24"/>
    <p:sldId id="359" r:id="rId25"/>
    <p:sldId id="284" r:id="rId26"/>
    <p:sldId id="27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1" autoAdjust="0"/>
    <p:restoredTop sz="93011" autoAdjust="0"/>
  </p:normalViewPr>
  <p:slideViewPr>
    <p:cSldViewPr snapToGrid="0">
      <p:cViewPr varScale="1">
        <p:scale>
          <a:sx n="68" d="100"/>
          <a:sy n="68" d="100"/>
        </p:scale>
        <p:origin x="79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42" y="504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6/20/2023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6/20/2023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Computer in the diagram is 3</a:t>
            </a:r>
            <a:r>
              <a:rPr lang="en-US" baseline="30000" dirty="0" smtClean="0"/>
              <a:t>rd</a:t>
            </a:r>
            <a:r>
              <a:rPr lang="en-US" dirty="0" smtClean="0"/>
              <a:t> generation</a:t>
            </a:r>
            <a:r>
              <a:rPr lang="en-US" baseline="0" dirty="0" smtClean="0"/>
              <a:t> computer. The period of third generation was from 1965-1971. The computers of third generation used Integrated Circuits (ICs) in place of transistors. A single IC has many transistors, resistors, and capacitors along with the associated circuitry. The main features of third generation are −</a:t>
            </a:r>
          </a:p>
          <a:p>
            <a:r>
              <a:rPr lang="en-US" baseline="0" dirty="0" smtClean="0"/>
              <a:t>IC used</a:t>
            </a:r>
          </a:p>
          <a:p>
            <a:r>
              <a:rPr lang="en-US" baseline="0" dirty="0" smtClean="0"/>
              <a:t>More reliable in comparison to previous two generations</a:t>
            </a:r>
          </a:p>
          <a:p>
            <a:r>
              <a:rPr lang="en-US" baseline="0" dirty="0" smtClean="0"/>
              <a:t>Smaller size</a:t>
            </a:r>
          </a:p>
          <a:p>
            <a:r>
              <a:rPr lang="en-US" baseline="0" dirty="0" smtClean="0"/>
              <a:t>Generated less heat</a:t>
            </a:r>
          </a:p>
          <a:p>
            <a:r>
              <a:rPr lang="en-US" baseline="0" dirty="0" smtClean="0"/>
              <a:t>Faster</a:t>
            </a:r>
          </a:p>
          <a:p>
            <a:r>
              <a:rPr lang="en-US" baseline="0" dirty="0" smtClean="0"/>
              <a:t>Lesser maintenance</a:t>
            </a:r>
          </a:p>
          <a:p>
            <a:r>
              <a:rPr lang="en-US" baseline="0" dirty="0" smtClean="0"/>
              <a:t>Costly</a:t>
            </a:r>
          </a:p>
          <a:p>
            <a:r>
              <a:rPr lang="en-US" baseline="0" dirty="0" smtClean="0"/>
              <a:t>AC required</a:t>
            </a:r>
          </a:p>
          <a:p>
            <a:r>
              <a:rPr lang="en-US" baseline="0" dirty="0" smtClean="0"/>
              <a:t>Consumed lesser electricity</a:t>
            </a:r>
          </a:p>
          <a:p>
            <a:r>
              <a:rPr lang="en-US" baseline="0" dirty="0" smtClean="0"/>
              <a:t>Supported high-level language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0240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6/20/2023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quora.com/What-are-the-differences-between-a-circuit-and-an-electric-circuit" TargetMode="Externa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quora.com/What-are-the-differences-between-a-circuit-and-an-electric-circuit" TargetMode="Externa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in.pinterest.com/pin/240661173823316229/" TargetMode="Externa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javatpoint.com/construction-of-single-phase-transformers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ircuitglobe.com/types-of-losses-in-transformer.html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mag-international.com/catalog/202_powertransformer_corestrayloss/" TargetMode="External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transformer+working+and+construction&amp;source=lnms&amp;tbm=isch&amp;sa=X&amp;ved=2ahUKEwjf7q2zo5XqAhXbb30KHcZ1A-MQ_AUoAnoECBEQBA&amp;biw=1366&amp;bih=608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ectricaleasy.com/2014/04/transformer-losses-and-efficiency.html" TargetMode="External"/><Relationship Id="rId2" Type="http://schemas.openxmlformats.org/officeDocument/2006/relationships/hyperlink" Target="https://circuitglobe.com/types-of-losses-in-transformer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amazon.in/s?k=electrical+transformer+book&amp;crid=1T23UDIK31LYD&amp;sprefix=transformer+books+in+ele,aps,368&amp;ref=nb_sb_ss_i_1_24" TargetMode="External"/><Relationship Id="rId4" Type="http://schemas.openxmlformats.org/officeDocument/2006/relationships/hyperlink" Target="https://www.electronics-tutorials.ws/transformer/transformer-basics.html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494804" y="4023363"/>
          <a:ext cx="2631143" cy="2507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35" name="CorelDRAW" r:id="rId3" imgW="2169000" imgH="2169360" progId="">
                  <p:embed/>
                </p:oleObj>
              </mc:Choice>
              <mc:Fallback>
                <p:oleObj name="CorelDRAW" r:id="rId3" imgW="2169000" imgH="2169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804" y="4023363"/>
                        <a:ext cx="2631143" cy="25076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214846" y="1358536"/>
            <a:ext cx="9832638" cy="481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000" b="1" dirty="0" smtClean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UNIVERSITY INSTITUTE OF ENGINEERING </a:t>
            </a:r>
            <a:endParaRPr lang="en-US" sz="3000" b="1" dirty="0">
              <a:latin typeface="Arial Black" panose="020B0A04020102020204" pitchFamily="34" charset="0"/>
              <a:ea typeface="Karla" pitchFamily="2" charset="0"/>
              <a:cs typeface="Karla" pitchFamily="2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0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 </a:t>
            </a:r>
            <a:r>
              <a:rPr lang="en-US" sz="3000" b="1" dirty="0" smtClean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OF ACADEMIC UNIT-1 </a:t>
            </a:r>
            <a:endParaRPr lang="en-US" sz="3000" b="1" dirty="0">
              <a:latin typeface="Arial Black" panose="020B0A04020102020204" pitchFamily="34" charset="0"/>
              <a:ea typeface="Karla" pitchFamily="2" charset="0"/>
              <a:cs typeface="Karla" pitchFamily="2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of 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Engineering (CSE)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NAME: Introduction to Electrical &amp; Electronics Engineering-IEEE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CODE : 23ECH-101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endParaRPr lang="en-US" sz="24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Dr. Shikha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Unit-3 Chapter-1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TRANSFORMER LOSSES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Lecture No. 3.1.2</a:t>
            </a:r>
            <a:endParaRPr lang="en-US" sz="16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92954" y="605949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 smtClean="0">
                <a:latin typeface="Casper"/>
              </a:rPr>
              <a:t>Lecture Objectives</a:t>
            </a:r>
            <a:endParaRPr lang="en-US" sz="4400" b="1" dirty="0">
              <a:latin typeface="Casper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665859"/>
              </p:ext>
            </p:extLst>
          </p:nvPr>
        </p:nvGraphicFramePr>
        <p:xfrm>
          <a:off x="282009" y="2226080"/>
          <a:ext cx="6536802" cy="3968322"/>
        </p:xfrm>
        <a:graphic>
          <a:graphicData uri="http://schemas.openxmlformats.org/drawingml/2006/table">
            <a:tbl>
              <a:tblPr firstRow="1" firstCol="1" bandRow="1"/>
              <a:tblGrid>
                <a:gridCol w="556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99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83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S. No.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Objectives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3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make student</a:t>
                      </a:r>
                      <a:r>
                        <a:rPr lang="en-US" sz="12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aware about construction of transformer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0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aware about</a:t>
                      </a:r>
                      <a:r>
                        <a:rPr lang="en-US" sz="12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properties of ideal transformer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47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provide knowledge about</a:t>
                      </a:r>
                      <a:r>
                        <a:rPr lang="en-US" sz="12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losses in transformer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0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aware about</a:t>
                      </a:r>
                      <a:r>
                        <a:rPr lang="en-US" sz="12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to remove losses in transformer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90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give knowledge</a:t>
                      </a:r>
                      <a:r>
                        <a:rPr lang="en-US" sz="12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to remove hysteresis losses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7093130" y="5251268"/>
            <a:ext cx="4428309" cy="609781"/>
          </a:xfrm>
        </p:spPr>
        <p:txBody>
          <a:bodyPr>
            <a:normAutofit fontScale="62500" lnSpcReduction="20000"/>
          </a:bodyPr>
          <a:lstStyle/>
          <a:p>
            <a:pPr algn="just">
              <a:buNone/>
            </a:pPr>
            <a:r>
              <a:rPr lang="en-US" sz="2500" dirty="0" smtClean="0">
                <a:hlinkClick r:id="rId2"/>
              </a:rPr>
              <a:t>https://www.quora.com/What-are-the-differences-between-a-circuit-and-an-electric-circuit</a:t>
            </a:r>
            <a:endParaRPr lang="en-US" sz="2500" dirty="0"/>
          </a:p>
        </p:txBody>
      </p:sp>
      <p:pic>
        <p:nvPicPr>
          <p:cNvPr id="24576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77679" y="2246810"/>
            <a:ext cx="4573586" cy="27562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92954" y="605949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 smtClean="0">
                <a:latin typeface="Casper"/>
              </a:rPr>
              <a:t>Course Objectives</a:t>
            </a:r>
            <a:endParaRPr lang="en-US" sz="4400" b="1" dirty="0">
              <a:latin typeface="Casper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7093130" y="5251268"/>
            <a:ext cx="4428309" cy="609781"/>
          </a:xfrm>
        </p:spPr>
        <p:txBody>
          <a:bodyPr>
            <a:normAutofit fontScale="62500" lnSpcReduction="20000"/>
          </a:bodyPr>
          <a:lstStyle/>
          <a:p>
            <a:pPr algn="just">
              <a:buNone/>
            </a:pPr>
            <a:r>
              <a:rPr lang="en-US" sz="2500" dirty="0" smtClean="0">
                <a:hlinkClick r:id="rId2"/>
              </a:rPr>
              <a:t>https://www.quora.com/What-are-the-differences-between-a-circuit-and-an-electric-circuit</a:t>
            </a:r>
            <a:endParaRPr lang="en-US" sz="2500" dirty="0"/>
          </a:p>
        </p:txBody>
      </p:sp>
      <p:pic>
        <p:nvPicPr>
          <p:cNvPr id="24576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77679" y="2246810"/>
            <a:ext cx="4573586" cy="27562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986170"/>
              </p:ext>
            </p:extLst>
          </p:nvPr>
        </p:nvGraphicFramePr>
        <p:xfrm>
          <a:off x="365761" y="2246809"/>
          <a:ext cx="6330462" cy="4077791"/>
        </p:xfrm>
        <a:graphic>
          <a:graphicData uri="http://schemas.openxmlformats.org/drawingml/2006/table">
            <a:tbl>
              <a:tblPr firstRow="1" firstCol="1" bandRow="1"/>
              <a:tblGrid>
                <a:gridCol w="539242">
                  <a:extLst>
                    <a:ext uri="{9D8B030D-6E8A-4147-A177-3AD203B41FA5}">
                      <a16:colId xmlns:a16="http://schemas.microsoft.com/office/drawing/2014/main" val="3561920794"/>
                    </a:ext>
                  </a:extLst>
                </a:gridCol>
                <a:gridCol w="5791220">
                  <a:extLst>
                    <a:ext uri="{9D8B030D-6E8A-4147-A177-3AD203B41FA5}">
                      <a16:colId xmlns:a16="http://schemas.microsoft.com/office/drawing/2014/main" val="2861720555"/>
                    </a:ext>
                  </a:extLst>
                </a:gridCol>
              </a:tblGrid>
              <a:tr h="7489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1468997"/>
                  </a:ext>
                </a:extLst>
              </a:tr>
              <a:tr h="11096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US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Understand Electrical &amp; Electronics Engineering Fundamentals</a:t>
                      </a:r>
                      <a:r>
                        <a:rPr lang="en-US" sz="2000" kern="1200" spc="-5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2000" kern="1200" spc="-5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5819715"/>
                  </a:ext>
                </a:extLst>
              </a:tr>
              <a:tr h="22192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endParaRPr lang="en-US" sz="2000" kern="1200" spc="-5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IN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To prepare students to perform the analysis and design of various Electrical &amp; digital electronic circuits.</a:t>
                      </a:r>
                      <a:endParaRPr lang="en-US" sz="2000" kern="1200" spc="-5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US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07582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92954" y="282385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 smtClean="0">
                <a:latin typeface="Casper"/>
              </a:rPr>
              <a:t>Course Outcomes</a:t>
            </a:r>
            <a:endParaRPr lang="en-US" sz="4400" b="1" dirty="0">
              <a:latin typeface="Casper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6439990" y="5408024"/>
            <a:ext cx="4915398" cy="518341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000" dirty="0" smtClean="0">
                <a:hlinkClick r:id="rId2"/>
              </a:rPr>
              <a:t>https://in.pinterest.com/pin/240661173823316229/</a:t>
            </a:r>
            <a:endParaRPr lang="en-US" sz="2000" dirty="0"/>
          </a:p>
        </p:txBody>
      </p:sp>
      <p:pic>
        <p:nvPicPr>
          <p:cNvPr id="24473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7197" y="1188723"/>
            <a:ext cx="4808897" cy="40233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1368114"/>
              </p:ext>
            </p:extLst>
          </p:nvPr>
        </p:nvGraphicFramePr>
        <p:xfrm>
          <a:off x="196948" y="1609751"/>
          <a:ext cx="5964701" cy="4638416"/>
        </p:xfrm>
        <a:graphic>
          <a:graphicData uri="http://schemas.openxmlformats.org/drawingml/2006/table">
            <a:tbl>
              <a:tblPr firstRow="1" firstCol="1" bandRow="1"/>
              <a:tblGrid>
                <a:gridCol w="496533">
                  <a:extLst>
                    <a:ext uri="{9D8B030D-6E8A-4147-A177-3AD203B41FA5}">
                      <a16:colId xmlns:a16="http://schemas.microsoft.com/office/drawing/2014/main" val="1453794158"/>
                    </a:ext>
                  </a:extLst>
                </a:gridCol>
                <a:gridCol w="4671833">
                  <a:extLst>
                    <a:ext uri="{9D8B030D-6E8A-4147-A177-3AD203B41FA5}">
                      <a16:colId xmlns:a16="http://schemas.microsoft.com/office/drawing/2014/main" val="925715344"/>
                    </a:ext>
                  </a:extLst>
                </a:gridCol>
                <a:gridCol w="796335">
                  <a:extLst>
                    <a:ext uri="{9D8B030D-6E8A-4147-A177-3AD203B41FA5}">
                      <a16:colId xmlns:a16="http://schemas.microsoft.com/office/drawing/2014/main" val="1091669129"/>
                    </a:ext>
                  </a:extLst>
                </a:gridCol>
              </a:tblGrid>
              <a:tr h="6639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 Number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Title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Level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3775276"/>
                  </a:ext>
                </a:extLst>
              </a:tr>
              <a:tr h="724201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identify the different types of electrical elements and the basic op-amp circuit elements and to illustrate the various types of motors, transducers.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Remember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989884"/>
                  </a:ext>
                </a:extLst>
              </a:tr>
              <a:tr h="975226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understand basic principles of transformers, transducers, op-amps, DC and AC motors and to compare the different methods for analysing electrical and magnetic circuits.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9611634"/>
                  </a:ext>
                </a:extLst>
              </a:tr>
              <a:tr h="724201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derive the relationships between parameters in electric and magnetic circuits and motors and to determine specifications of op-amps.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3460988"/>
                  </a:ext>
                </a:extLst>
              </a:tr>
              <a:tr h="724201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solve the basic problems related to electric circuits, magnetic circuits and motors and to assess the characteristics of different configurations of op-amps.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3608736"/>
                  </a:ext>
                </a:extLst>
              </a:tr>
              <a:tr h="724201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CO5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design the different applications of transducers, motors as well as the op-amps like adders, </a:t>
                      </a:r>
                      <a:r>
                        <a:rPr lang="en-IN" sz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subtractor</a:t>
                      </a: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 and comparators.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-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8350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Autofit/>
          </a:bodyPr>
          <a:lstStyle/>
          <a:p>
            <a:pPr algn="ctr"/>
            <a:r>
              <a:rPr lang="en-US" b="1" dirty="0" smtClean="0">
                <a:cs typeface="Arial" panose="020B0604020202020204" pitchFamily="34" charset="0"/>
              </a:rPr>
              <a:t>Importance of Introduction to Electrical &amp; Electronics Engineering</a:t>
            </a:r>
            <a:r>
              <a:rPr lang="en-US" b="1" dirty="0" smtClean="0">
                <a:latin typeface="Casper"/>
                <a:cs typeface="Arial" panose="020B0604020202020204" pitchFamily="34" charset="0"/>
              </a:rPr>
              <a:t> </a:t>
            </a:r>
            <a:r>
              <a:rPr lang="en-US" b="1" dirty="0" smtClean="0">
                <a:latin typeface="Casper"/>
              </a:rPr>
              <a:t>  </a:t>
            </a:r>
            <a:endParaRPr lang="en-US" b="1" dirty="0">
              <a:latin typeface="Casper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Use from home appliances to industrial plants. 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Usage in communication and satellite navigation system.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Handles in electronics equipment and computers.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Deals with the problem of power transmission and motor control.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Control and monitor the medical appliances in hospitals.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High voltage applications with heavy current.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Robotics applications.</a:t>
            </a:r>
          </a:p>
          <a:p>
            <a:pPr marL="342900" lvl="0" indent="-34290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cs typeface="Times New Roman" pitchFamily="18" charset="0"/>
              </a:rPr>
              <a:t>Product designing and development.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AutoNum type="arabicPeriod"/>
            </a:pPr>
            <a:endParaRPr lang="en-IN" dirty="0" smtClean="0">
              <a:solidFill>
                <a:prstClr val="black"/>
              </a:solidFill>
              <a:latin typeface="Casper"/>
              <a:cs typeface="Times New Roman" pitchFamily="18" charset="0"/>
            </a:endParaRP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AutoNum type="arabicPeriod"/>
            </a:pPr>
            <a:endParaRPr lang="en-IN" dirty="0" smtClean="0">
              <a:solidFill>
                <a:prstClr val="black"/>
              </a:solidFill>
              <a:latin typeface="Casper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992307" y="0"/>
            <a:ext cx="9379601" cy="1920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 smtClean="0">
                <a:latin typeface="Casper Bold" panose="02000806040000020004" pitchFamily="2" charset="0"/>
                <a:ea typeface="Karla" pitchFamily="2" charset="0"/>
                <a:cs typeface="Karla" pitchFamily="2" charset="0"/>
              </a:rPr>
              <a:t/>
            </a:r>
            <a:br>
              <a:rPr lang="en-US" sz="4400" b="1" dirty="0" smtClean="0">
                <a:latin typeface="Casper Bold" panose="02000806040000020004" pitchFamily="2" charset="0"/>
                <a:ea typeface="Karla" pitchFamily="2" charset="0"/>
                <a:cs typeface="Karla" pitchFamily="2" charset="0"/>
              </a:rPr>
            </a:br>
            <a:r>
              <a:rPr lang="en-US" sz="4400" b="1" dirty="0" smtClean="0">
                <a:latin typeface="+mj-lt"/>
                <a:ea typeface="Karla" pitchFamily="2" charset="0"/>
                <a:cs typeface="Karla" pitchFamily="2" charset="0"/>
              </a:rPr>
              <a:t>Contents</a:t>
            </a:r>
            <a:r>
              <a:rPr lang="en-US" sz="4400" b="1" dirty="0">
                <a:latin typeface="Karla" pitchFamily="2" charset="0"/>
                <a:ea typeface="Karla" pitchFamily="2" charset="0"/>
                <a:cs typeface="Karla" pitchFamily="2" charset="0"/>
              </a:rPr>
              <a:t/>
            </a:r>
            <a:br>
              <a:rPr lang="en-US" sz="4400" b="1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lang="en-US" sz="4400" dirty="0">
              <a:latin typeface="Raleway ExtraBold" pitchFamily="34" charset="-5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31074" y="1554480"/>
            <a:ext cx="789322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 smtClean="0">
                <a:cs typeface="Times New Roman" pitchFamily="18" charset="0"/>
              </a:rPr>
              <a:t>Construction of transformer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>
                <a:cs typeface="Times New Roman" pitchFamily="18" charset="0"/>
              </a:rPr>
              <a:t>Ideal transformer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>
                <a:cs typeface="Times New Roman" pitchFamily="18" charset="0"/>
              </a:rPr>
              <a:t>Losses in transformer</a:t>
            </a:r>
          </a:p>
          <a:p>
            <a:pPr>
              <a:buFont typeface="Wingdings" pitchFamily="2" charset="2"/>
              <a:buChar char="Ø"/>
            </a:pPr>
            <a:r>
              <a:rPr lang="en-IE" sz="2800" dirty="0" smtClean="0">
                <a:cs typeface="Times New Roman" pitchFamily="18" charset="0"/>
              </a:rPr>
              <a:t>Core losses or Iron losses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Copper loss</a:t>
            </a:r>
          </a:p>
          <a:p>
            <a:pPr>
              <a:buFont typeface="Wingdings" pitchFamily="2" charset="2"/>
              <a:buChar char="Ø"/>
            </a:pPr>
            <a:r>
              <a:rPr lang="en-IN" sz="2800" dirty="0" smtClean="0"/>
              <a:t>Stray losses</a:t>
            </a:r>
          </a:p>
          <a:p>
            <a:pPr>
              <a:buFont typeface="Wingdings" pitchFamily="2" charset="2"/>
              <a:buChar char="Ø"/>
            </a:pPr>
            <a:r>
              <a:rPr lang="en-IN" sz="2800" dirty="0" smtClean="0"/>
              <a:t>Dielectric loss</a:t>
            </a:r>
          </a:p>
          <a:p>
            <a:pPr>
              <a:buFont typeface="Wingdings" pitchFamily="2" charset="2"/>
              <a:buChar char="Ø"/>
            </a:pPr>
            <a:r>
              <a:rPr lang="en-IN" sz="2800" dirty="0" smtClean="0"/>
              <a:t>How to reduced core losses</a:t>
            </a:r>
          </a:p>
          <a:p>
            <a:pPr>
              <a:buFont typeface="Wingdings" pitchFamily="2" charset="2"/>
              <a:buChar char="Ø"/>
            </a:pPr>
            <a:r>
              <a:rPr lang="en-IN" sz="2800" dirty="0" smtClean="0"/>
              <a:t>How to reduced hysteresis losses</a:t>
            </a:r>
            <a:endParaRPr lang="en-US" sz="2800" dirty="0" smtClean="0">
              <a:cs typeface="Times New Roman" pitchFamily="18" charset="0"/>
            </a:endParaRPr>
          </a:p>
          <a:p>
            <a:endParaRPr lang="en-US" sz="2800" dirty="0" smtClean="0"/>
          </a:p>
          <a:p>
            <a:r>
              <a:rPr lang="en-US" sz="2800" dirty="0" smtClean="0"/>
              <a:t> 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49489" y="286104"/>
            <a:ext cx="10515600" cy="1192742"/>
          </a:xfrm>
        </p:spPr>
        <p:txBody>
          <a:bodyPr>
            <a:normAutofit/>
          </a:bodyPr>
          <a:lstStyle/>
          <a:p>
            <a:pPr algn="ctr"/>
            <a:r>
              <a:rPr lang="en-IN" b="1" dirty="0" smtClean="0"/>
              <a:t>Construction of Single Phase Transformers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1045029" y="1447285"/>
            <a:ext cx="10717267" cy="5241381"/>
          </a:xfrm>
        </p:spPr>
        <p:txBody>
          <a:bodyPr>
            <a:noAutofit/>
          </a:bodyPr>
          <a:lstStyle/>
          <a:p>
            <a:pPr algn="just"/>
            <a:r>
              <a:rPr lang="en-IN" dirty="0" smtClean="0">
                <a:cs typeface="Times New Roman" pitchFamily="18" charset="0"/>
              </a:rPr>
              <a:t>A single-Phase transformer consists of primary and secondary winding. The core of the transformer is made of thin sheets (called laminations) of high grade of silicon.</a:t>
            </a:r>
          </a:p>
          <a:p>
            <a:pPr algn="just"/>
            <a:r>
              <a:rPr lang="en-IN" dirty="0" smtClean="0">
                <a:cs typeface="Times New Roman" pitchFamily="18" charset="0"/>
              </a:rPr>
              <a:t>These laminations are provided in the transformer to reduce eddy-current loss, and the silicon steel reduces hysteresis loss. </a:t>
            </a:r>
          </a:p>
          <a:p>
            <a:pPr algn="just"/>
            <a:r>
              <a:rPr lang="en-IN" dirty="0" smtClean="0">
                <a:cs typeface="Times New Roman" pitchFamily="18" charset="0"/>
              </a:rPr>
              <a:t>There are two basic types of transformer constructions:</a:t>
            </a:r>
          </a:p>
          <a:p>
            <a:pPr algn="just"/>
            <a:r>
              <a:rPr lang="en-IN" dirty="0" smtClean="0">
                <a:cs typeface="Times New Roman" pitchFamily="18" charset="0"/>
              </a:rPr>
              <a:t>Core type construction.</a:t>
            </a:r>
          </a:p>
          <a:p>
            <a:pPr algn="just"/>
            <a:r>
              <a:rPr lang="en-IN" dirty="0" smtClean="0">
                <a:cs typeface="Times New Roman" pitchFamily="18" charset="0"/>
              </a:rPr>
              <a:t>Shell type construction</a:t>
            </a:r>
            <a:endParaRPr lang="en-IE" b="1" dirty="0" smtClean="0">
              <a:cs typeface="Times New Roman" pitchFamily="18" charset="0"/>
            </a:endParaRPr>
          </a:p>
          <a:p>
            <a:pPr algn="just"/>
            <a:endParaRPr lang="en-IE" sz="3200" dirty="0">
              <a:latin typeface="AngsanaUPC" pitchFamily="18" charset="-34"/>
              <a:cs typeface="AngsanaUPC" pitchFamily="18" charset="-3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365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49489" y="286104"/>
            <a:ext cx="10515600" cy="1192742"/>
          </a:xfrm>
        </p:spPr>
        <p:txBody>
          <a:bodyPr>
            <a:normAutofit/>
          </a:bodyPr>
          <a:lstStyle/>
          <a:p>
            <a:pPr algn="ctr"/>
            <a:r>
              <a:rPr lang="en-IN" b="1" dirty="0" smtClean="0"/>
              <a:t>Ideal Transformer</a:t>
            </a:r>
            <a:endParaRPr lang="en-IN" b="1" dirty="0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580796" y="1531692"/>
            <a:ext cx="5482380" cy="5080124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IN" dirty="0" smtClean="0">
                <a:cs typeface="Times New Roman" pitchFamily="18" charset="0"/>
              </a:rPr>
              <a:t>An Ideal transformer is an imaginary transformer which has the following properties:</a:t>
            </a:r>
          </a:p>
          <a:p>
            <a:pPr algn="just"/>
            <a:r>
              <a:rPr lang="en-IN" dirty="0" smtClean="0">
                <a:cs typeface="Times New Roman" pitchFamily="18" charset="0"/>
              </a:rPr>
              <a:t>Negligible primary and secondary winding resistances</a:t>
            </a:r>
          </a:p>
          <a:p>
            <a:pPr algn="just"/>
            <a:r>
              <a:rPr lang="en-IN" dirty="0" smtClean="0">
                <a:cs typeface="Times New Roman" pitchFamily="18" charset="0"/>
              </a:rPr>
              <a:t>Infinite permeability (µ)</a:t>
            </a:r>
          </a:p>
          <a:p>
            <a:pPr algn="just"/>
            <a:r>
              <a:rPr lang="en-IN" dirty="0" smtClean="0">
                <a:cs typeface="Times New Roman" pitchFamily="18" charset="0"/>
              </a:rPr>
              <a:t>Zero leakage flux</a:t>
            </a:r>
          </a:p>
          <a:p>
            <a:pPr algn="just"/>
            <a:r>
              <a:rPr lang="en-IN" dirty="0" smtClean="0">
                <a:cs typeface="Times New Roman" pitchFamily="18" charset="0"/>
              </a:rPr>
              <a:t>No losses</a:t>
            </a:r>
          </a:p>
          <a:p>
            <a:pPr algn="just"/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000" dirty="0" smtClean="0">
                <a:latin typeface="Times New Roman" pitchFamily="18" charset="0"/>
                <a:cs typeface="Times New Roman" pitchFamily="18" charset="0"/>
              </a:rPr>
            </a:br>
            <a:endParaRPr lang="en-IE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 descr="construction-of-single-phase-transformers3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684031" y="1452415"/>
            <a:ext cx="5203168" cy="19097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7371470" y="4257819"/>
            <a:ext cx="323557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hlinkClick r:id="rId4"/>
              </a:rPr>
              <a:t>https://www.javatpoint.com/construction-of-single-phase-transformers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7695028" y="3687793"/>
            <a:ext cx="27854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Fig1 Ideal Transformer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1365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Title 9"/>
          <p:cNvSpPr>
            <a:spLocks noGrp="1"/>
          </p:cNvSpPr>
          <p:nvPr>
            <p:ph type="title"/>
          </p:nvPr>
        </p:nvSpPr>
        <p:spPr>
          <a:xfrm>
            <a:off x="849489" y="286104"/>
            <a:ext cx="10515600" cy="1192742"/>
          </a:xfrm>
        </p:spPr>
        <p:txBody>
          <a:bodyPr>
            <a:normAutofit/>
          </a:bodyPr>
          <a:lstStyle/>
          <a:p>
            <a:pPr algn="ctr"/>
            <a:r>
              <a:rPr lang="en-IE" b="1" dirty="0" smtClean="0"/>
              <a:t>Losses in transformer</a:t>
            </a:r>
            <a:endParaRPr lang="en-IE" b="1" dirty="0"/>
          </a:p>
        </p:txBody>
      </p:sp>
      <p:pic>
        <p:nvPicPr>
          <p:cNvPr id="8" name="Content Placeholder 7" descr="types-of-losses-in-transformer-compressor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10153" y="1351503"/>
            <a:ext cx="7897385" cy="34596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3168051" y="6198982"/>
            <a:ext cx="58558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u="sng" dirty="0" smtClean="0">
                <a:hlinkClick r:id="rId3"/>
              </a:rPr>
              <a:t>https://circuitglobe.com/types-of-losses-in-transformer.html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5064369" y="5162844"/>
            <a:ext cx="21101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Table-1 losses in Transformer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6183" y="229659"/>
            <a:ext cx="7321328" cy="954224"/>
          </a:xfrm>
        </p:spPr>
        <p:txBody>
          <a:bodyPr/>
          <a:lstStyle/>
          <a:p>
            <a:pPr algn="ctr" fontAlgn="base"/>
            <a:r>
              <a:rPr lang="en-IE" b="1" dirty="0" smtClean="0">
                <a:cs typeface="Times New Roman" pitchFamily="18" charset="0"/>
              </a:rPr>
              <a:t>Core Losses or Iron Losses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9" y="1188720"/>
            <a:ext cx="10604863" cy="5081451"/>
          </a:xfrm>
        </p:spPr>
        <p:txBody>
          <a:bodyPr>
            <a:normAutofit/>
          </a:bodyPr>
          <a:lstStyle/>
          <a:p>
            <a:pPr algn="just" fontAlgn="base"/>
            <a:r>
              <a:rPr lang="en-IE" b="1" dirty="0" smtClean="0"/>
              <a:t>Iron loss: </a:t>
            </a:r>
            <a:r>
              <a:rPr lang="en-US" dirty="0" smtClean="0"/>
              <a:t>Iron losses are caused by the alternating flux in the core of the transformer as this loss occurs in the core it is also known as </a:t>
            </a:r>
            <a:r>
              <a:rPr lang="en-US" b="1" dirty="0" smtClean="0"/>
              <a:t>Core loss</a:t>
            </a:r>
            <a:r>
              <a:rPr lang="en-US" dirty="0" smtClean="0"/>
              <a:t>. Iron loss is further divided into hysteresis and eddy current loss.</a:t>
            </a:r>
          </a:p>
          <a:p>
            <a:pPr marL="514350" indent="-514350" algn="just" fontAlgn="base">
              <a:buAutoNum type="arabicPeriod"/>
            </a:pPr>
            <a:r>
              <a:rPr lang="en-US" b="1" dirty="0" smtClean="0"/>
              <a:t>Hysteresis Loss: </a:t>
            </a:r>
            <a:r>
              <a:rPr lang="en-US" dirty="0" smtClean="0"/>
              <a:t>The core of the transformer is subjected to an alternating magnetizing force, and for each cycle of </a:t>
            </a:r>
            <a:r>
              <a:rPr lang="en-US" dirty="0" err="1" smtClean="0"/>
              <a:t>emf</a:t>
            </a:r>
            <a:r>
              <a:rPr lang="en-US" dirty="0" smtClean="0"/>
              <a:t>, a hysteresis loop is traced out. Power is dissipated in the form of heat known as hysteresis loss and given by the equation shown below:</a:t>
            </a:r>
          </a:p>
          <a:p>
            <a:pPr marL="514350" indent="-514350" algn="just" fontAlgn="base">
              <a:buNone/>
            </a:pPr>
            <a:endParaRPr lang="en-US" b="1" dirty="0" smtClean="0"/>
          </a:p>
          <a:p>
            <a:pPr algn="just"/>
            <a:endParaRPr lang="en-US" dirty="0" smtClean="0"/>
          </a:p>
          <a:p>
            <a:pPr marL="514350" indent="-514350" algn="just" fontAlgn="base">
              <a:buNone/>
            </a:pPr>
            <a:endParaRPr lang="en-US" b="1" dirty="0" smtClean="0"/>
          </a:p>
          <a:p>
            <a:pPr algn="just" fontAlgn="base"/>
            <a:endParaRPr lang="en-I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48130" name="Picture 2" descr="transformer-losses-eq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17678" y="4488181"/>
            <a:ext cx="3928097" cy="7500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6183" y="229659"/>
            <a:ext cx="7321328" cy="954224"/>
          </a:xfrm>
        </p:spPr>
        <p:txBody>
          <a:bodyPr/>
          <a:lstStyle/>
          <a:p>
            <a:pPr algn="ctr" fontAlgn="base"/>
            <a:r>
              <a:rPr lang="en-IE" b="1" dirty="0" smtClean="0">
                <a:cs typeface="Times New Roman" pitchFamily="18" charset="0"/>
              </a:rPr>
              <a:t>Core Losses or Iron Losses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9" y="1188720"/>
            <a:ext cx="10604863" cy="5081451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 smtClean="0"/>
              <a:t>Where</a:t>
            </a:r>
          </a:p>
          <a:p>
            <a:pPr algn="just"/>
            <a:r>
              <a:rPr lang="en-US" dirty="0" smtClean="0"/>
              <a:t>KȠ is a proportionality constant which depends upon the volume and quality of the material of the core used in the transformer,</a:t>
            </a:r>
          </a:p>
          <a:p>
            <a:pPr algn="just"/>
            <a:r>
              <a:rPr lang="en-US" dirty="0" smtClean="0"/>
              <a:t>f is the supply frequency,</a:t>
            </a:r>
          </a:p>
          <a:p>
            <a:pPr algn="just"/>
            <a:r>
              <a:rPr lang="en-US" dirty="0" err="1" smtClean="0"/>
              <a:t>Bmax</a:t>
            </a:r>
            <a:r>
              <a:rPr lang="en-US" dirty="0" smtClean="0"/>
              <a:t> is the maximum or peak value of the flux density.</a:t>
            </a:r>
          </a:p>
          <a:p>
            <a:pPr algn="just">
              <a:buNone/>
            </a:pPr>
            <a:r>
              <a:rPr lang="en-US" b="1" dirty="0" smtClean="0"/>
              <a:t>2. Eddy Current Loss: </a:t>
            </a:r>
            <a:r>
              <a:rPr lang="en-US" dirty="0" smtClean="0"/>
              <a:t>When the flux links with a closed circuit, an </a:t>
            </a:r>
            <a:r>
              <a:rPr lang="en-US" dirty="0" err="1" smtClean="0"/>
              <a:t>emf</a:t>
            </a:r>
            <a:r>
              <a:rPr lang="en-US" dirty="0" smtClean="0"/>
              <a:t> is induced in the circuit and the current flows, the value of the current depends upon the amount of </a:t>
            </a:r>
            <a:r>
              <a:rPr lang="en-US" dirty="0" err="1" smtClean="0"/>
              <a:t>emf</a:t>
            </a:r>
            <a:r>
              <a:rPr lang="en-US" dirty="0" smtClean="0"/>
              <a:t> around the circuit and the resistance of the circuit.</a:t>
            </a:r>
            <a:endParaRPr lang="en-US" b="1" dirty="0" smtClean="0"/>
          </a:p>
          <a:p>
            <a:pPr algn="just">
              <a:buNone/>
            </a:pPr>
            <a:endParaRPr lang="en-I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6183" y="229659"/>
            <a:ext cx="7321328" cy="954224"/>
          </a:xfrm>
        </p:spPr>
        <p:txBody>
          <a:bodyPr/>
          <a:lstStyle/>
          <a:p>
            <a:pPr algn="ctr" fontAlgn="base"/>
            <a:r>
              <a:rPr lang="en-IE" b="1" dirty="0" smtClean="0">
                <a:cs typeface="Times New Roman" pitchFamily="18" charset="0"/>
              </a:rPr>
              <a:t>Core Losses or Iron Losses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9" y="1188720"/>
            <a:ext cx="10604863" cy="5081451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Since the core is made of conducting material, these EMFs circulate currents within the body of the material. These circulating currents are called </a:t>
            </a:r>
            <a:r>
              <a:rPr lang="en-US" b="1" dirty="0" smtClean="0"/>
              <a:t>Eddy Currents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As these currents are not responsible for doing any useful work, and it produces a loss (I</a:t>
            </a:r>
            <a:r>
              <a:rPr lang="en-US" baseline="30000" dirty="0" smtClean="0"/>
              <a:t>2</a:t>
            </a:r>
            <a:r>
              <a:rPr lang="en-US" dirty="0" smtClean="0"/>
              <a:t>R loss) in the magnetic material known as an </a:t>
            </a:r>
            <a:r>
              <a:rPr lang="en-US" b="1" dirty="0" smtClean="0"/>
              <a:t>Eddy Current Loss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The equation of the eddy current loss is given as:</a:t>
            </a:r>
            <a:endParaRPr lang="en-I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59394" name="Picture 2" descr="eddy-current-eq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26682" y="4703398"/>
            <a:ext cx="4468678" cy="100764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6183" y="229659"/>
            <a:ext cx="7321328" cy="954224"/>
          </a:xfrm>
        </p:spPr>
        <p:txBody>
          <a:bodyPr/>
          <a:lstStyle/>
          <a:p>
            <a:pPr algn="ctr" fontAlgn="base"/>
            <a:r>
              <a:rPr lang="en-IE" b="1" dirty="0" smtClean="0">
                <a:cs typeface="Times New Roman" pitchFamily="18" charset="0"/>
              </a:rPr>
              <a:t>Core Losses or Iron Losses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9" y="1188720"/>
            <a:ext cx="10604863" cy="508145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Where,</a:t>
            </a:r>
          </a:p>
          <a:p>
            <a:pPr algn="just"/>
            <a:r>
              <a:rPr lang="en-US" dirty="0" err="1" smtClean="0"/>
              <a:t>K</a:t>
            </a:r>
            <a:r>
              <a:rPr lang="en-US" baseline="-25000" dirty="0" err="1" smtClean="0"/>
              <a:t>e</a:t>
            </a:r>
            <a:r>
              <a:rPr lang="en-US" baseline="-25000" dirty="0" smtClean="0"/>
              <a:t> </a:t>
            </a:r>
            <a:r>
              <a:rPr lang="en-US" dirty="0" smtClean="0"/>
              <a:t>– coefficient of eddy current. Its value depends upon the nature of magnetic material like volume and resistivity of core material, the thickness of laminations</a:t>
            </a:r>
          </a:p>
          <a:p>
            <a:r>
              <a:rPr lang="en-US" dirty="0" err="1" smtClean="0"/>
              <a:t>B</a:t>
            </a:r>
            <a:r>
              <a:rPr lang="en-US" baseline="-25000" dirty="0" err="1" smtClean="0"/>
              <a:t>m</a:t>
            </a:r>
            <a:r>
              <a:rPr lang="en-US" dirty="0" smtClean="0"/>
              <a:t> – maximum value of flux density in </a:t>
            </a:r>
            <a:r>
              <a:rPr lang="en-US" dirty="0" err="1" smtClean="0"/>
              <a:t>wb</a:t>
            </a:r>
            <a:r>
              <a:rPr lang="en-US" dirty="0" smtClean="0"/>
              <a:t>/m</a:t>
            </a:r>
            <a:r>
              <a:rPr lang="en-US" baseline="30000" dirty="0" smtClean="0"/>
              <a:t>2</a:t>
            </a:r>
            <a:endParaRPr lang="en-US" dirty="0" smtClean="0"/>
          </a:p>
          <a:p>
            <a:r>
              <a:rPr lang="en-US" dirty="0" smtClean="0"/>
              <a:t>T – thickness of lamination in meters</a:t>
            </a:r>
          </a:p>
          <a:p>
            <a:r>
              <a:rPr lang="en-US" dirty="0" smtClean="0"/>
              <a:t>F – frequency of reversal of the magnetic field in Hz</a:t>
            </a:r>
          </a:p>
          <a:p>
            <a:r>
              <a:rPr lang="en-US" dirty="0" smtClean="0"/>
              <a:t>V – the volume of magnetic material in m</a:t>
            </a:r>
            <a:r>
              <a:rPr lang="en-US" baseline="30000" dirty="0" smtClean="0"/>
              <a:t>3</a:t>
            </a:r>
            <a:endParaRPr lang="en-US" dirty="0" smtClean="0"/>
          </a:p>
          <a:p>
            <a:pPr algn="just"/>
            <a:endParaRPr lang="en-I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6183" y="229659"/>
            <a:ext cx="7321328" cy="954224"/>
          </a:xfrm>
        </p:spPr>
        <p:txBody>
          <a:bodyPr/>
          <a:lstStyle/>
          <a:p>
            <a:pPr algn="ctr" fontAlgn="base"/>
            <a:r>
              <a:rPr lang="en-IE" b="1" dirty="0" smtClean="0">
                <a:cs typeface="Times New Roman" pitchFamily="18" charset="0"/>
              </a:rPr>
              <a:t>Copper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199" y="1188720"/>
            <a:ext cx="10604863" cy="5081451"/>
          </a:xfrm>
        </p:spPr>
        <p:txBody>
          <a:bodyPr>
            <a:normAutofit/>
          </a:bodyPr>
          <a:lstStyle/>
          <a:p>
            <a:pPr algn="just"/>
            <a:r>
              <a:rPr lang="en-IE" dirty="0" smtClean="0"/>
              <a:t>T</a:t>
            </a:r>
            <a:r>
              <a:rPr lang="en-US" dirty="0" err="1" smtClean="0"/>
              <a:t>hese</a:t>
            </a:r>
            <a:r>
              <a:rPr lang="en-US" dirty="0" smtClean="0"/>
              <a:t> losses occur due to </a:t>
            </a:r>
            <a:r>
              <a:rPr lang="en-US" dirty="0" err="1" smtClean="0"/>
              <a:t>ohmic</a:t>
            </a:r>
            <a:r>
              <a:rPr lang="en-US" dirty="0" smtClean="0"/>
              <a:t> resistance of the transformer windings. </a:t>
            </a:r>
          </a:p>
          <a:p>
            <a:pPr algn="just"/>
            <a:r>
              <a:rPr lang="en-US" dirty="0" smtClean="0"/>
              <a:t>If I</a:t>
            </a:r>
            <a:r>
              <a:rPr lang="en-US" baseline="-25000" dirty="0" smtClean="0"/>
              <a:t>1 </a:t>
            </a:r>
            <a:r>
              <a:rPr lang="en-US" dirty="0" smtClean="0"/>
              <a:t>and I</a:t>
            </a:r>
            <a:r>
              <a:rPr lang="en-US" baseline="-25000" dirty="0" smtClean="0"/>
              <a:t>2 </a:t>
            </a:r>
            <a:r>
              <a:rPr lang="en-US" dirty="0" smtClean="0"/>
              <a:t>are the primary and the secondary current. R</a:t>
            </a:r>
            <a:r>
              <a:rPr lang="en-US" baseline="-25000" dirty="0" smtClean="0"/>
              <a:t>1</a:t>
            </a:r>
            <a:r>
              <a:rPr lang="en-US" dirty="0" smtClean="0"/>
              <a:t> and R</a:t>
            </a:r>
            <a:r>
              <a:rPr lang="en-US" baseline="-25000" dirty="0" smtClean="0"/>
              <a:t>2</a:t>
            </a:r>
            <a:r>
              <a:rPr lang="en-US" dirty="0" smtClean="0"/>
              <a:t> are the resistance of primary and secondary winding then the copper losses occurring in the primary and secondary winding will be I</a:t>
            </a:r>
            <a:r>
              <a:rPr lang="en-US" baseline="-25000" dirty="0" smtClean="0"/>
              <a:t>1</a:t>
            </a:r>
            <a:r>
              <a:rPr lang="en-US" baseline="30000" dirty="0" smtClean="0"/>
              <a:t>2</a:t>
            </a:r>
            <a:r>
              <a:rPr lang="en-US" dirty="0" smtClean="0"/>
              <a:t>R</a:t>
            </a:r>
            <a:r>
              <a:rPr lang="en-US" baseline="-25000" dirty="0" smtClean="0"/>
              <a:t>1</a:t>
            </a:r>
            <a:r>
              <a:rPr lang="en-US" dirty="0" smtClean="0"/>
              <a:t> and I</a:t>
            </a:r>
            <a:r>
              <a:rPr lang="en-US" baseline="-25000" dirty="0" smtClean="0"/>
              <a:t>2</a:t>
            </a:r>
            <a:r>
              <a:rPr lang="en-US" baseline="30000" dirty="0" smtClean="0"/>
              <a:t>2</a:t>
            </a:r>
            <a:r>
              <a:rPr lang="en-US" dirty="0" smtClean="0"/>
              <a:t>R</a:t>
            </a:r>
            <a:r>
              <a:rPr lang="en-US" baseline="-25000" dirty="0" smtClean="0"/>
              <a:t>2</a:t>
            </a:r>
            <a:r>
              <a:rPr lang="en-US" dirty="0" smtClean="0"/>
              <a:t> respectively.</a:t>
            </a:r>
          </a:p>
          <a:p>
            <a:pPr algn="just"/>
            <a:r>
              <a:rPr lang="en-US" dirty="0" smtClean="0"/>
              <a:t>Therefore, the total copper losses will be</a:t>
            </a:r>
          </a:p>
          <a:p>
            <a:pPr algn="just"/>
            <a:endParaRPr lang="en-I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0418" name="Picture 2" descr="transformer-losses-eq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01448" y="4555672"/>
            <a:ext cx="2796632" cy="85962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smtClean="0"/>
              <a:t>Stray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0259" y="1446802"/>
            <a:ext cx="10108474" cy="1922286"/>
          </a:xfrm>
        </p:spPr>
        <p:txBody>
          <a:bodyPr>
            <a:normAutofit/>
          </a:bodyPr>
          <a:lstStyle/>
          <a:p>
            <a:pPr algn="just"/>
            <a:r>
              <a:rPr lang="en-IN" dirty="0" smtClean="0"/>
              <a:t>The occurrence of these stray losses is due to the presence of leakage field. </a:t>
            </a:r>
          </a:p>
          <a:p>
            <a:pPr algn="just"/>
            <a:r>
              <a:rPr lang="en-IN" dirty="0" smtClean="0"/>
              <a:t>The percentage of these losses are very small as compared to the iron and copper losses so they can be neglected.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6082" name="AutoShape 2" descr="CHAPTER 6: STRAY LOSS TERMINOLOGY FOR THE POWER TRANSFORMER AND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084" name="AutoShape 4" descr="CHAPTER 6: STRAY LOSS TERMINOLOGY FOR THE POWER TRANSFORMER AND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e202-0.g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73602" y="3370217"/>
            <a:ext cx="4180114" cy="25341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Rectangle 8"/>
          <p:cNvSpPr/>
          <p:nvPr/>
        </p:nvSpPr>
        <p:spPr>
          <a:xfrm>
            <a:off x="1458015" y="6488668"/>
            <a:ext cx="95750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>
                <a:hlinkClick r:id="rId3"/>
              </a:rPr>
              <a:t>https://www.jmag-international.com/catalog/202_powertransformer_corestrayloss/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5311806" y="6100511"/>
            <a:ext cx="24254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Fig-2 Stray Losses</a:t>
            </a:r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smtClean="0"/>
              <a:t>Dielectric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3514" y="1603557"/>
            <a:ext cx="9626600" cy="3242764"/>
          </a:xfrm>
        </p:spPr>
        <p:txBody>
          <a:bodyPr>
            <a:normAutofit/>
          </a:bodyPr>
          <a:lstStyle/>
          <a:p>
            <a:pPr algn="just"/>
            <a:r>
              <a:rPr lang="en-IN" dirty="0" smtClean="0"/>
              <a:t>Dielectric loss occurs in the insulating material of the transformer that is in the oil of the transformer, or in the solid insulations. </a:t>
            </a:r>
          </a:p>
          <a:p>
            <a:pPr algn="just"/>
            <a:r>
              <a:rPr lang="en-IN" dirty="0" smtClean="0"/>
              <a:t>When the oil gets deteriorated or the solid insulation gets damaged, or its quality decreases, and because of this, the efficiency of the transformer gets affected.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smtClean="0"/>
              <a:t>How to reduce core losses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9626600" cy="3138261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IN" b="1" dirty="0" smtClean="0"/>
              <a:t>Eddy Current loss</a:t>
            </a:r>
            <a:r>
              <a:rPr lang="en-IN" dirty="0" smtClean="0"/>
              <a:t> can be </a:t>
            </a:r>
            <a:r>
              <a:rPr lang="en-IN" b="1" dirty="0" smtClean="0"/>
              <a:t>reduced</a:t>
            </a:r>
            <a:r>
              <a:rPr lang="en-IN" dirty="0" smtClean="0"/>
              <a:t> by increasing the number of laminations. </a:t>
            </a:r>
          </a:p>
          <a:p>
            <a:pPr algn="just">
              <a:buFont typeface="Wingdings" pitchFamily="2" charset="2"/>
              <a:buChar char="Ø"/>
            </a:pPr>
            <a:r>
              <a:rPr lang="en-IN" dirty="0" smtClean="0"/>
              <a:t>The laminations provide small gaps between the plates. </a:t>
            </a:r>
          </a:p>
          <a:p>
            <a:pPr algn="just">
              <a:buFont typeface="Wingdings" pitchFamily="2" charset="2"/>
              <a:buChar char="Ø"/>
            </a:pPr>
            <a:r>
              <a:rPr lang="en-IN" dirty="0" smtClean="0"/>
              <a:t>As it is easier for magnetic flux to flow through iron than air or oil, stray flux that can cause </a:t>
            </a:r>
            <a:r>
              <a:rPr lang="en-IN" b="1" dirty="0" smtClean="0"/>
              <a:t>core losses</a:t>
            </a:r>
            <a:r>
              <a:rPr lang="en-IN" dirty="0" smtClean="0"/>
              <a:t> is minimized. </a:t>
            </a:r>
            <a:r>
              <a:rPr lang="en-IN" b="1" dirty="0" smtClean="0"/>
              <a:t>Reducing</a:t>
            </a:r>
            <a:r>
              <a:rPr lang="en-IN" dirty="0" smtClean="0"/>
              <a:t> eddy currents.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smtClean="0"/>
              <a:t>How to Reduce Hysteresis Losses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9626600" cy="2485118"/>
          </a:xfrm>
        </p:spPr>
        <p:txBody>
          <a:bodyPr>
            <a:no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IN" b="1" dirty="0" smtClean="0"/>
              <a:t>Hysteresis loss</a:t>
            </a:r>
            <a:r>
              <a:rPr lang="en-IN" dirty="0" smtClean="0"/>
              <a:t> can be </a:t>
            </a:r>
            <a:r>
              <a:rPr lang="en-IN" b="1" dirty="0" smtClean="0"/>
              <a:t>reduce</a:t>
            </a:r>
            <a:r>
              <a:rPr lang="en-IN" dirty="0" smtClean="0"/>
              <a:t> by using material having least </a:t>
            </a:r>
            <a:r>
              <a:rPr lang="en-IN" b="1" dirty="0" smtClean="0"/>
              <a:t>hysteresis</a:t>
            </a:r>
            <a:r>
              <a:rPr lang="en-IN" dirty="0" smtClean="0"/>
              <a:t> loop area. </a:t>
            </a:r>
          </a:p>
          <a:p>
            <a:pPr algn="just">
              <a:buFont typeface="Wingdings" pitchFamily="2" charset="2"/>
              <a:buChar char="Ø"/>
            </a:pPr>
            <a:r>
              <a:rPr lang="en-IN" dirty="0" smtClean="0"/>
              <a:t>Hence silicon steel or high grade steel is used for manufacturing of a transformer core as it is having very less </a:t>
            </a:r>
            <a:r>
              <a:rPr lang="en-IN" b="1" dirty="0" smtClean="0"/>
              <a:t>hysteresis</a:t>
            </a:r>
            <a:r>
              <a:rPr lang="en-IN" dirty="0" smtClean="0"/>
              <a:t> loop area. 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8011" y="428977"/>
            <a:ext cx="10515600" cy="1121483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cs typeface="Arial" panose="020B0604020202020204" pitchFamily="34" charset="0"/>
              </a:rPr>
              <a:t>Frequently Asked Questions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336431"/>
            <a:ext cx="10659036" cy="484053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E" sz="2000" b="1" dirty="0" smtClean="0"/>
              <a:t> </a:t>
            </a:r>
            <a:r>
              <a:rPr lang="en-IE" b="1" dirty="0" smtClean="0"/>
              <a:t>1.) </a:t>
            </a:r>
            <a:r>
              <a:rPr lang="en-IN" b="1" dirty="0" smtClean="0"/>
              <a:t>How to minimize Eddy current loss?</a:t>
            </a:r>
            <a:endParaRPr lang="en-IN" dirty="0" smtClean="0"/>
          </a:p>
          <a:p>
            <a:r>
              <a:rPr lang="en-IN" dirty="0" smtClean="0"/>
              <a:t>By using less thickness of laminations</a:t>
            </a:r>
          </a:p>
          <a:p>
            <a:r>
              <a:rPr lang="en-IN" dirty="0" smtClean="0"/>
              <a:t>By using less value of Magnetic flux density</a:t>
            </a:r>
            <a:endParaRPr lang="en-IE" b="1" dirty="0" smtClean="0"/>
          </a:p>
          <a:p>
            <a:pPr>
              <a:buNone/>
            </a:pPr>
            <a:r>
              <a:rPr lang="en-IE" b="1" dirty="0" smtClean="0"/>
              <a:t>2.) </a:t>
            </a:r>
            <a:r>
              <a:rPr lang="en-IN" b="1" dirty="0" smtClean="0"/>
              <a:t>How to minimize Hysteresis loss?</a:t>
            </a:r>
            <a:endParaRPr lang="en-IN" dirty="0" smtClean="0"/>
          </a:p>
          <a:p>
            <a:r>
              <a:rPr lang="en-IN" dirty="0" smtClean="0"/>
              <a:t>By using good magnetic material.</a:t>
            </a:r>
          </a:p>
          <a:p>
            <a:r>
              <a:rPr lang="en-IN" dirty="0" smtClean="0"/>
              <a:t>By using less value of Magnetic flux density</a:t>
            </a:r>
            <a:endParaRPr lang="en-IE" dirty="0" smtClean="0"/>
          </a:p>
          <a:p>
            <a:pPr>
              <a:buNone/>
            </a:pPr>
            <a:r>
              <a:rPr lang="en-IE" b="1" dirty="0" smtClean="0"/>
              <a:t>3.) </a:t>
            </a:r>
            <a:r>
              <a:rPr lang="en-IN" b="1" dirty="0" smtClean="0"/>
              <a:t>Why transformers are rated in </a:t>
            </a:r>
            <a:r>
              <a:rPr lang="en-IN" b="1" dirty="0" err="1" smtClean="0"/>
              <a:t>kVA</a:t>
            </a:r>
            <a:r>
              <a:rPr lang="en-IN" b="1" dirty="0" smtClean="0"/>
              <a:t> ? </a:t>
            </a:r>
            <a:endParaRPr lang="en-IN" dirty="0" smtClean="0"/>
          </a:p>
          <a:p>
            <a:r>
              <a:rPr lang="en-IN" dirty="0" smtClean="0"/>
              <a:t>A:Copper loss of a transformer depends on current and iron loss on voltage . So rating is in </a:t>
            </a:r>
            <a:r>
              <a:rPr lang="en-IN" dirty="0" err="1" smtClean="0"/>
              <a:t>kVA</a:t>
            </a:r>
            <a:r>
              <a:rPr lang="en-IN" dirty="0" smtClean="0"/>
              <a:t>.</a:t>
            </a:r>
          </a:p>
          <a:p>
            <a:pPr marL="0" indent="0">
              <a:buNone/>
            </a:pPr>
            <a:endParaRPr lang="en-US" sz="20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049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dirty="0" smtClean="0">
                <a:latin typeface="Casper Bold" panose="02000806040000020004" pitchFamily="2" charset="0"/>
                <a:cs typeface="Arial" panose="020B0604020202020204" pitchFamily="34" charset="0"/>
              </a:rPr>
              <a:t>Summary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9086" y="1802673"/>
            <a:ext cx="829491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smtClean="0">
                <a:cs typeface="Aparajita" pitchFamily="34" charset="0"/>
              </a:rPr>
              <a:t>Through this PPT , the students have learned and understood</a:t>
            </a:r>
          </a:p>
          <a:p>
            <a:pPr>
              <a:buFont typeface="Wingdings" pitchFamily="2" charset="2"/>
              <a:buChar char="ü"/>
            </a:pPr>
            <a:r>
              <a:rPr lang="en-IN" sz="2800" dirty="0" smtClean="0">
                <a:cs typeface="Aparajita" pitchFamily="34" charset="0"/>
              </a:rPr>
              <a:t>Terminology of magnetic circuits</a:t>
            </a:r>
          </a:p>
          <a:p>
            <a:pPr>
              <a:buFont typeface="Wingdings" pitchFamily="2" charset="2"/>
              <a:buChar char="ü"/>
            </a:pPr>
            <a:r>
              <a:rPr lang="en-US" sz="2800" dirty="0" smtClean="0">
                <a:cs typeface="Aparajita" pitchFamily="34" charset="0"/>
              </a:rPr>
              <a:t>Ideal Transformer</a:t>
            </a:r>
            <a:endParaRPr lang="en-IN" sz="2800" dirty="0" smtClean="0">
              <a:cs typeface="Aparajita" pitchFamily="34" charset="0"/>
            </a:endParaRPr>
          </a:p>
          <a:p>
            <a:pPr>
              <a:buFont typeface="Wingdings" pitchFamily="2" charset="2"/>
              <a:buChar char="ü"/>
            </a:pPr>
            <a:r>
              <a:rPr lang="en-IN" sz="2800" dirty="0" smtClean="0">
                <a:cs typeface="Aparajita" pitchFamily="34" charset="0"/>
              </a:rPr>
              <a:t>Different types of losses</a:t>
            </a:r>
          </a:p>
          <a:p>
            <a:pPr>
              <a:buFont typeface="Wingdings" pitchFamily="2" charset="2"/>
              <a:buChar char="ü"/>
            </a:pPr>
            <a:r>
              <a:rPr lang="en-IN" sz="2800" dirty="0" smtClean="0">
                <a:cs typeface="Aparajita" pitchFamily="34" charset="0"/>
              </a:rPr>
              <a:t>How to reduce losses </a:t>
            </a:r>
          </a:p>
          <a:p>
            <a:pPr>
              <a:buFont typeface="Wingdings" pitchFamily="2" charset="2"/>
              <a:buChar char="ü"/>
            </a:pPr>
            <a:r>
              <a:rPr lang="en-IN" sz="2800" dirty="0" smtClean="0">
                <a:cs typeface="Aparajita" pitchFamily="34" charset="0"/>
              </a:rPr>
              <a:t>Causes of losses</a:t>
            </a:r>
          </a:p>
        </p:txBody>
      </p:sp>
    </p:spTree>
    <p:extLst>
      <p:ext uri="{BB962C8B-B14F-4D97-AF65-F5344CB8AC3E}">
        <p14:creationId xmlns:p14="http://schemas.microsoft.com/office/powerpoint/2010/main" val="484195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838200" y="566241"/>
            <a:ext cx="105156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 smtClean="0">
                <a:latin typeface="Casper Bold" panose="02000806040000020004" pitchFamily="2" charset="0"/>
                <a:ea typeface="Karla" pitchFamily="2" charset="0"/>
                <a:cs typeface="Karla" pitchFamily="2" charset="0"/>
              </a:rPr>
              <a:t> </a:t>
            </a:r>
            <a:r>
              <a:rPr lang="en-US" sz="4400" b="1" dirty="0" smtClean="0">
                <a:latin typeface="+mj-lt"/>
                <a:ea typeface="Karla" pitchFamily="2" charset="0"/>
                <a:cs typeface="Karla" pitchFamily="2" charset="0"/>
              </a:rPr>
              <a:t>Learning Outcomes</a:t>
            </a:r>
            <a:r>
              <a:rPr lang="en-US" sz="4400" b="1" dirty="0">
                <a:latin typeface="Casper Bold" panose="02000806040000020004" pitchFamily="2" charset="0"/>
                <a:ea typeface="Karla" pitchFamily="2" charset="0"/>
                <a:cs typeface="Karla" pitchFamily="2" charset="0"/>
              </a:rPr>
              <a:t/>
            </a:r>
            <a:br>
              <a:rPr lang="en-US" sz="4400" b="1" dirty="0">
                <a:latin typeface="Casper Bold" panose="02000806040000020004" pitchFamily="2" charset="0"/>
                <a:ea typeface="Karla" pitchFamily="2" charset="0"/>
                <a:cs typeface="Karla" pitchFamily="2" charset="0"/>
              </a:rPr>
            </a:b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199" y="1384663"/>
            <a:ext cx="5882179" cy="470086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To make students understand the 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IN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Construction of transformers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Performance analysis of transformer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Terminology of magnetic circuits.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Concept of self and mutual induction.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</a:pPr>
            <a:r>
              <a:rPr lang="en-IN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Principle of operation of transformers.</a:t>
            </a:r>
          </a:p>
          <a:p>
            <a:pPr algn="just">
              <a:buNone/>
            </a:pPr>
            <a:endParaRPr lang="en-US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94863" y="2166938"/>
            <a:ext cx="4098274" cy="252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5869000" y="4872289"/>
            <a:ext cx="59050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 smtClean="0">
                <a:hlinkClick r:id="rId3"/>
              </a:rPr>
              <a:t>https://www.google.com/search?q=transformer+working+and+construction&amp;source=lnms&amp;tbm=isch&amp;sa=X&amp;ved=2ahUKEwjf7q2zo5XqAhXbb30KHcZ1A-MQ_AUoAnoECBEQBA&amp;biw=1366&amp;bih=608#imgrc=Hz4hgKww9splRM&amp;imgdii=-GHifX4ZDm1raM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Course Outcome to Program Outcome Relationship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22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24747" y="2207630"/>
          <a:ext cx="8242666" cy="3500846"/>
        </p:xfrm>
        <a:graphic>
          <a:graphicData uri="http://schemas.openxmlformats.org/drawingml/2006/table">
            <a:tbl>
              <a:tblPr/>
              <a:tblGrid>
                <a:gridCol w="719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1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19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19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28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28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2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28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6604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3225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239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29823"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     (20ELT-111) 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BEEE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875"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PO→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648"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CO↓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PO2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PO3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PO4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PO5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PO6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PO7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PO8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PO9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PO10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PO11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PO12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875"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CO1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875"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CO2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875"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CO3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875"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CO4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8550"/>
            <a:ext cx="10515600" cy="1325563"/>
          </a:xfrm>
        </p:spPr>
        <p:txBody>
          <a:bodyPr/>
          <a:lstStyle/>
          <a:p>
            <a:pPr algn="ctr"/>
            <a:r>
              <a:rPr lang="en-US" b="1" dirty="0" smtClean="0"/>
              <a:t>Assessment Pattern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146352"/>
            <a:ext cx="10696303" cy="4940939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23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0711" y="1968136"/>
          <a:ext cx="10855229" cy="211597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50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4937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 A</a:t>
                      </a:r>
                    </a:p>
                    <a:p>
                      <a:pPr algn="ctr"/>
                      <a:r>
                        <a:rPr lang="en-US" dirty="0" smtClean="0"/>
                        <a:t>Assignment (each assignment)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B</a:t>
                      </a:r>
                    </a:p>
                    <a:p>
                      <a:pPr algn="ctr"/>
                      <a:r>
                        <a:rPr lang="en-US" dirty="0" smtClean="0"/>
                        <a:t>Time Bound Surprise</a:t>
                      </a:r>
                      <a:r>
                        <a:rPr lang="en-US" baseline="0" dirty="0" smtClean="0"/>
                        <a:t> Test (each test)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</a:p>
                    <a:p>
                      <a:pPr algn="ctr"/>
                      <a:r>
                        <a:rPr lang="en-US" dirty="0" smtClean="0"/>
                        <a:t>Quiz (each quiz)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D</a:t>
                      </a:r>
                    </a:p>
                    <a:p>
                      <a:pPr algn="ctr"/>
                      <a:r>
                        <a:rPr lang="en-US" dirty="0" smtClean="0"/>
                        <a:t>Mid</a:t>
                      </a:r>
                      <a:r>
                        <a:rPr lang="en-US" baseline="0" dirty="0" smtClean="0"/>
                        <a:t> Semester Test(one per test)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E</a:t>
                      </a:r>
                    </a:p>
                    <a:p>
                      <a:pPr algn="ctr"/>
                      <a:r>
                        <a:rPr lang="en-US" dirty="0" smtClean="0"/>
                        <a:t>Homework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 F</a:t>
                      </a:r>
                    </a:p>
                    <a:p>
                      <a:pPr algn="ctr"/>
                      <a:r>
                        <a:rPr lang="en-US" dirty="0" smtClean="0"/>
                        <a:t>Discussion Forums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G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Attendance and  engagement Score on BB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61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074" y="255858"/>
            <a:ext cx="10515600" cy="1279527"/>
          </a:xfrm>
        </p:spPr>
        <p:txBody>
          <a:bodyPr/>
          <a:lstStyle/>
          <a:p>
            <a:pPr algn="ctr"/>
            <a:r>
              <a:rPr lang="en-US" dirty="0" smtClean="0">
                <a:latin typeface="Casper Bold" panose="02000806040000020004" pitchFamily="2" charset="0"/>
                <a:cs typeface="Arial" panose="020B0604020202020204" pitchFamily="34" charset="0"/>
              </a:rPr>
              <a:t>REFERENCES </a:t>
            </a:r>
            <a:r>
              <a:rPr lang="en-US" sz="2800" dirty="0" smtClean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5136" y="1721121"/>
            <a:ext cx="10539549" cy="4723093"/>
          </a:xfrm>
        </p:spPr>
        <p:txBody>
          <a:bodyPr>
            <a:noAutofit/>
          </a:bodyPr>
          <a:lstStyle/>
          <a:p>
            <a:pPr marL="0" indent="0" algn="just">
              <a:buFont typeface="Wingdings" pitchFamily="2" charset="2"/>
              <a:buChar char="§"/>
            </a:pPr>
            <a:r>
              <a:rPr lang="en-US" dirty="0" smtClean="0">
                <a:hlinkClick r:id="rId2"/>
              </a:rPr>
              <a:t>https://circuitglobe.com/types-of-losses-in-transformer.html</a:t>
            </a:r>
            <a:endParaRPr lang="en-US" dirty="0" smtClean="0"/>
          </a:p>
          <a:p>
            <a:pPr marL="0" indent="0" algn="just">
              <a:buFont typeface="Wingdings" pitchFamily="2" charset="2"/>
              <a:buChar char="§"/>
            </a:pPr>
            <a:r>
              <a:rPr lang="en-US" dirty="0" smtClean="0">
                <a:hlinkClick r:id="rId3"/>
              </a:rPr>
              <a:t>https://www.electricaleasy.com/2014/04/transformer-losses-and-efficiency.html</a:t>
            </a:r>
            <a:endParaRPr lang="en-US" dirty="0" smtClean="0"/>
          </a:p>
          <a:p>
            <a:pPr marL="0" indent="0" algn="just">
              <a:buFont typeface="Wingdings" pitchFamily="2" charset="2"/>
              <a:buChar char="§"/>
            </a:pPr>
            <a:r>
              <a:rPr lang="en-US" dirty="0" smtClean="0">
                <a:hlinkClick r:id="rId4"/>
              </a:rPr>
              <a:t>https://www.electronics-tutorials.ws/transformer/transformer-basics.html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>
                <a:latin typeface="Casper" panose="02000506000000020004" pitchFamily="2" charset="0"/>
                <a:cs typeface="Arial" panose="020B0604020202020204" pitchFamily="34" charset="0"/>
              </a:rPr>
              <a:t>Reference books:</a:t>
            </a:r>
          </a:p>
          <a:p>
            <a:pPr marL="0" indent="0" algn="just">
              <a:buFont typeface="Wingdings" pitchFamily="2" charset="2"/>
              <a:buChar char="§"/>
            </a:pPr>
            <a:r>
              <a:rPr lang="en-US" dirty="0" smtClean="0">
                <a:hlinkClick r:id="rId5"/>
              </a:rPr>
              <a:t>https://www.amazon.in/s?k=electrical+transformer+book&amp;crid=1T23UDIK31LYD&amp;sprefix=transformer+books+in+ele%2Caps%2C368&amp;ref=nb_sb_ss_i_1_24</a:t>
            </a: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utoShape 4" descr="Image result for learn 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32" name="CorelDRAW" r:id="rId3" imgW="2169000" imgH="2169360" progId="">
                    <p:embed/>
                  </p:oleObj>
                </mc:Choice>
                <mc:Fallback>
                  <p:oleObj name="CorelDRAW" r:id="rId3" imgW="2169000" imgH="2169360" progId="">
                    <p:embed/>
                    <p:pic>
                      <p:nvPicPr>
                        <p:cNvPr id="0" name="Picture 1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1"/>
          <p:cNvSpPr/>
          <p:nvPr/>
        </p:nvSpPr>
        <p:spPr>
          <a:xfrm>
            <a:off x="4114005" y="5394447"/>
            <a:ext cx="29244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For queries</a:t>
            </a:r>
          </a:p>
          <a:p>
            <a:r>
              <a:rPr lang="en-US" dirty="0" smtClean="0">
                <a:latin typeface="Casper" panose="02000506000000020004" pitchFamily="2" charset="0"/>
                <a:cs typeface="Segoe UI" panose="020B0502040204020203" pitchFamily="34" charset="0"/>
              </a:rPr>
              <a:t>Email:shikha.e12701@cumail.in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3488</TotalTime>
  <Words>1175</Words>
  <Application>Microsoft Office PowerPoint</Application>
  <PresentationFormat>Widescreen</PresentationFormat>
  <Paragraphs>305</Paragraphs>
  <Slides>25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43" baseType="lpstr">
      <vt:lpstr>AngsanaUPC</vt:lpstr>
      <vt:lpstr>Aparajita</vt:lpstr>
      <vt:lpstr>Arial</vt:lpstr>
      <vt:lpstr>Arial Black</vt:lpstr>
      <vt:lpstr>Arial Unicode MS</vt:lpstr>
      <vt:lpstr>Calibri</vt:lpstr>
      <vt:lpstr>Calibri Light</vt:lpstr>
      <vt:lpstr>Casper</vt:lpstr>
      <vt:lpstr>Casper Bold</vt:lpstr>
      <vt:lpstr>Karla</vt:lpstr>
      <vt:lpstr>Raavi</vt:lpstr>
      <vt:lpstr>Raleway ExtraBold</vt:lpstr>
      <vt:lpstr>Segoe UI</vt:lpstr>
      <vt:lpstr>Times New Roman</vt:lpstr>
      <vt:lpstr>Wingdings</vt:lpstr>
      <vt:lpstr>1_Office Theme</vt:lpstr>
      <vt:lpstr>Contents Slide Master</vt:lpstr>
      <vt:lpstr>CorelDRAW</vt:lpstr>
      <vt:lpstr>PowerPoint Presentation</vt:lpstr>
      <vt:lpstr>Lecture Objectives</vt:lpstr>
      <vt:lpstr>Course Objectives</vt:lpstr>
      <vt:lpstr>Course Outcomes</vt:lpstr>
      <vt:lpstr>Importance of Introduction to Electrical &amp; Electronics Engineering   </vt:lpstr>
      <vt:lpstr> Contents </vt:lpstr>
      <vt:lpstr>Construction of Single Phase Transformers</vt:lpstr>
      <vt:lpstr>Ideal Transformer</vt:lpstr>
      <vt:lpstr>Losses in transformer</vt:lpstr>
      <vt:lpstr>Core Losses or Iron Losses</vt:lpstr>
      <vt:lpstr>Core Losses or Iron Losses</vt:lpstr>
      <vt:lpstr>Core Losses or Iron Losses</vt:lpstr>
      <vt:lpstr>Core Losses or Iron Losses</vt:lpstr>
      <vt:lpstr>Copper Loss</vt:lpstr>
      <vt:lpstr>Stray Loss</vt:lpstr>
      <vt:lpstr>Dielectric loss</vt:lpstr>
      <vt:lpstr>How to reduce core losses</vt:lpstr>
      <vt:lpstr>How to Reduce Hysteresis Losses</vt:lpstr>
      <vt:lpstr>Frequently Asked Questions </vt:lpstr>
      <vt:lpstr>Summary</vt:lpstr>
      <vt:lpstr> Learning Outcomes </vt:lpstr>
      <vt:lpstr>Course Outcome to Program Outcome Relationship</vt:lpstr>
      <vt:lpstr>Assessment Pattern</vt:lpstr>
      <vt:lpstr>REFERENCES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INDIAN</cp:lastModifiedBy>
  <cp:revision>328</cp:revision>
  <dcterms:created xsi:type="dcterms:W3CDTF">2019-01-09T10:33:58Z</dcterms:created>
  <dcterms:modified xsi:type="dcterms:W3CDTF">2023-06-20T04:48:09Z</dcterms:modified>
</cp:coreProperties>
</file>