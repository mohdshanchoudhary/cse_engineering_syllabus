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43"/>
  </p:notesMasterIdLst>
  <p:handoutMasterIdLst>
    <p:handoutMasterId r:id="rId44"/>
  </p:handoutMasterIdLst>
  <p:sldIdLst>
    <p:sldId id="371" r:id="rId3"/>
    <p:sldId id="457" r:id="rId4"/>
    <p:sldId id="497" r:id="rId5"/>
    <p:sldId id="498" r:id="rId6"/>
    <p:sldId id="487" r:id="rId7"/>
    <p:sldId id="490" r:id="rId8"/>
    <p:sldId id="491" r:id="rId9"/>
    <p:sldId id="492" r:id="rId10"/>
    <p:sldId id="493" r:id="rId11"/>
    <p:sldId id="494" r:id="rId12"/>
    <p:sldId id="495" r:id="rId13"/>
    <p:sldId id="496" r:id="rId14"/>
    <p:sldId id="327" r:id="rId15"/>
    <p:sldId id="466" r:id="rId16"/>
    <p:sldId id="461" r:id="rId17"/>
    <p:sldId id="470" r:id="rId18"/>
    <p:sldId id="469" r:id="rId19"/>
    <p:sldId id="468" r:id="rId20"/>
    <p:sldId id="472" r:id="rId21"/>
    <p:sldId id="479" r:id="rId22"/>
    <p:sldId id="489" r:id="rId23"/>
    <p:sldId id="488" r:id="rId24"/>
    <p:sldId id="478" r:id="rId25"/>
    <p:sldId id="477" r:id="rId26"/>
    <p:sldId id="476" r:id="rId27"/>
    <p:sldId id="475" r:id="rId28"/>
    <p:sldId id="485" r:id="rId29"/>
    <p:sldId id="484" r:id="rId30"/>
    <p:sldId id="483" r:id="rId31"/>
    <p:sldId id="500" r:id="rId32"/>
    <p:sldId id="501" r:id="rId33"/>
    <p:sldId id="502" r:id="rId34"/>
    <p:sldId id="503" r:id="rId35"/>
    <p:sldId id="504" r:id="rId36"/>
    <p:sldId id="419" r:id="rId37"/>
    <p:sldId id="421" r:id="rId38"/>
    <p:sldId id="448" r:id="rId39"/>
    <p:sldId id="454" r:id="rId40"/>
    <p:sldId id="447" r:id="rId41"/>
    <p:sldId id="439"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3F5B"/>
    <a:srgbClr val="ED8137"/>
    <a:srgbClr val="BC8F00"/>
    <a:srgbClr val="860000"/>
    <a:srgbClr val="00B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5" autoAdjust="0"/>
    <p:restoredTop sz="91398" autoAdjust="0"/>
  </p:normalViewPr>
  <p:slideViewPr>
    <p:cSldViewPr snapToGrid="0">
      <p:cViewPr varScale="1">
        <p:scale>
          <a:sx n="67" d="100"/>
          <a:sy n="67" d="100"/>
        </p:scale>
        <p:origin x="216" y="72"/>
      </p:cViewPr>
      <p:guideLst>
        <p:guide orient="horz" pos="2160"/>
        <p:guide pos="3840"/>
      </p:guideLst>
    </p:cSldViewPr>
  </p:slideViewPr>
  <p:outlineViewPr>
    <p:cViewPr>
      <p:scale>
        <a:sx n="33" d="100"/>
        <a:sy n="33" d="100"/>
      </p:scale>
      <p:origin x="42"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6/20/2023</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dirty="0"/>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6/20/2023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dirty="0"/>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5</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7</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endParaRPr lang="en-IN" smtClean="0"/>
          </a:p>
        </p:txBody>
      </p:sp>
      <p:sp>
        <p:nvSpPr>
          <p:cNvPr id="40964" name="Slide Number Placeholder 3"/>
          <p:cNvSpPr>
            <a:spLocks noGrp="1"/>
          </p:cNvSpPr>
          <p:nvPr>
            <p:ph type="sldNum" sz="quarter" idx="5"/>
          </p:nvPr>
        </p:nvSpPr>
        <p:spPr>
          <a:noFill/>
        </p:spPr>
        <p:txBody>
          <a:bodyPr/>
          <a:lstStyle/>
          <a:p>
            <a:fld id="{3D5E7DB5-269C-4E94-BCAC-2C1AAAEE8F92}" type="slidenum">
              <a:rPr lang="en-IN" smtClean="0"/>
              <a:pPr/>
              <a:t>11</a:t>
            </a:fld>
            <a:endParaRPr lang="en-I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endParaRPr lang="en-IN" smtClean="0"/>
          </a:p>
        </p:txBody>
      </p:sp>
      <p:sp>
        <p:nvSpPr>
          <p:cNvPr id="40964" name="Slide Number Placeholder 3"/>
          <p:cNvSpPr>
            <a:spLocks noGrp="1"/>
          </p:cNvSpPr>
          <p:nvPr>
            <p:ph type="sldNum" sz="quarter" idx="5"/>
          </p:nvPr>
        </p:nvSpPr>
        <p:spPr>
          <a:noFill/>
        </p:spPr>
        <p:txBody>
          <a:bodyPr/>
          <a:lstStyle/>
          <a:p>
            <a:fld id="{3D5E7DB5-269C-4E94-BCAC-2C1AAAEE8F92}" type="slidenum">
              <a:rPr lang="en-IN" smtClean="0"/>
              <a:pPr/>
              <a:t>12</a:t>
            </a:fld>
            <a:endParaRPr lang="en-I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13</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endParaRPr lang="en-IN" smtClean="0"/>
          </a:p>
        </p:txBody>
      </p:sp>
      <p:sp>
        <p:nvSpPr>
          <p:cNvPr id="40964" name="Slide Number Placeholder 3"/>
          <p:cNvSpPr>
            <a:spLocks noGrp="1"/>
          </p:cNvSpPr>
          <p:nvPr>
            <p:ph type="sldNum" sz="quarter" idx="5"/>
          </p:nvPr>
        </p:nvSpPr>
        <p:spPr>
          <a:noFill/>
        </p:spPr>
        <p:txBody>
          <a:bodyPr/>
          <a:lstStyle/>
          <a:p>
            <a:fld id="{3D5E7DB5-269C-4E94-BCAC-2C1AAAEE8F92}" type="slidenum">
              <a:rPr lang="en-IN" smtClean="0"/>
              <a:pPr/>
              <a:t>14</a:t>
            </a:fld>
            <a:endParaRPr lang="en-I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endParaRPr lang="en-IN" smtClean="0"/>
          </a:p>
        </p:txBody>
      </p:sp>
      <p:sp>
        <p:nvSpPr>
          <p:cNvPr id="40964" name="Slide Number Placeholder 3"/>
          <p:cNvSpPr>
            <a:spLocks noGrp="1"/>
          </p:cNvSpPr>
          <p:nvPr>
            <p:ph type="sldNum" sz="quarter" idx="5"/>
          </p:nvPr>
        </p:nvSpPr>
        <p:spPr>
          <a:noFill/>
        </p:spPr>
        <p:txBody>
          <a:bodyPr/>
          <a:lstStyle/>
          <a:p>
            <a:fld id="{3D5E7DB5-269C-4E94-BCAC-2C1AAAEE8F92}" type="slidenum">
              <a:rPr lang="en-IN" smtClean="0"/>
              <a:pPr/>
              <a:t>15</a:t>
            </a:fld>
            <a:endParaRPr lang="en-I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endParaRPr lang="en-IN" smtClean="0"/>
          </a:p>
        </p:txBody>
      </p:sp>
      <p:sp>
        <p:nvSpPr>
          <p:cNvPr id="40964" name="Slide Number Placeholder 3"/>
          <p:cNvSpPr>
            <a:spLocks noGrp="1"/>
          </p:cNvSpPr>
          <p:nvPr>
            <p:ph type="sldNum" sz="quarter" idx="5"/>
          </p:nvPr>
        </p:nvSpPr>
        <p:spPr>
          <a:noFill/>
        </p:spPr>
        <p:txBody>
          <a:bodyPr/>
          <a:lstStyle/>
          <a:p>
            <a:fld id="{3D5E7DB5-269C-4E94-BCAC-2C1AAAEE8F92}" type="slidenum">
              <a:rPr lang="en-IN" smtClean="0"/>
              <a:pPr/>
              <a:t>16</a:t>
            </a:fld>
            <a:endParaRPr lang="en-I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endParaRPr lang="en-IN" smtClean="0"/>
          </a:p>
        </p:txBody>
      </p:sp>
      <p:sp>
        <p:nvSpPr>
          <p:cNvPr id="40964" name="Slide Number Placeholder 3"/>
          <p:cNvSpPr>
            <a:spLocks noGrp="1"/>
          </p:cNvSpPr>
          <p:nvPr>
            <p:ph type="sldNum" sz="quarter" idx="5"/>
          </p:nvPr>
        </p:nvSpPr>
        <p:spPr>
          <a:noFill/>
        </p:spPr>
        <p:txBody>
          <a:bodyPr/>
          <a:lstStyle/>
          <a:p>
            <a:fld id="{3D5E7DB5-269C-4E94-BCAC-2C1AAAEE8F92}" type="slidenum">
              <a:rPr lang="en-IN" smtClean="0"/>
              <a:pPr/>
              <a:t>17</a:t>
            </a:fld>
            <a:endParaRPr lang="en-I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endParaRPr lang="en-IN" smtClean="0"/>
          </a:p>
        </p:txBody>
      </p:sp>
      <p:sp>
        <p:nvSpPr>
          <p:cNvPr id="40964" name="Slide Number Placeholder 3"/>
          <p:cNvSpPr>
            <a:spLocks noGrp="1"/>
          </p:cNvSpPr>
          <p:nvPr>
            <p:ph type="sldNum" sz="quarter" idx="5"/>
          </p:nvPr>
        </p:nvSpPr>
        <p:spPr>
          <a:noFill/>
        </p:spPr>
        <p:txBody>
          <a:bodyPr/>
          <a:lstStyle/>
          <a:p>
            <a:fld id="{3D5E7DB5-269C-4E94-BCAC-2C1AAAEE8F92}" type="slidenum">
              <a:rPr lang="en-IN" smtClean="0"/>
              <a:pPr/>
              <a:t>18</a:t>
            </a:fld>
            <a:endParaRPr lang="en-I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endParaRPr lang="en-IN" smtClean="0"/>
          </a:p>
        </p:txBody>
      </p:sp>
      <p:sp>
        <p:nvSpPr>
          <p:cNvPr id="40964" name="Slide Number Placeholder 3"/>
          <p:cNvSpPr>
            <a:spLocks noGrp="1"/>
          </p:cNvSpPr>
          <p:nvPr>
            <p:ph type="sldNum" sz="quarter" idx="5"/>
          </p:nvPr>
        </p:nvSpPr>
        <p:spPr>
          <a:noFill/>
        </p:spPr>
        <p:txBody>
          <a:bodyPr/>
          <a:lstStyle/>
          <a:p>
            <a:fld id="{3D5E7DB5-269C-4E94-BCAC-2C1AAAEE8F92}" type="slidenum">
              <a:rPr lang="en-IN" smtClean="0"/>
              <a:pPr/>
              <a:t>19</a:t>
            </a:fld>
            <a:endParaRPr lang="en-I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endParaRPr lang="en-IN" smtClean="0"/>
          </a:p>
        </p:txBody>
      </p:sp>
      <p:sp>
        <p:nvSpPr>
          <p:cNvPr id="40964" name="Slide Number Placeholder 3"/>
          <p:cNvSpPr>
            <a:spLocks noGrp="1"/>
          </p:cNvSpPr>
          <p:nvPr>
            <p:ph type="sldNum" sz="quarter" idx="5"/>
          </p:nvPr>
        </p:nvSpPr>
        <p:spPr>
          <a:noFill/>
        </p:spPr>
        <p:txBody>
          <a:bodyPr/>
          <a:lstStyle/>
          <a:p>
            <a:fld id="{3D5E7DB5-269C-4E94-BCAC-2C1AAAEE8F92}" type="slidenum">
              <a:rPr lang="en-IN" smtClean="0"/>
              <a:pPr/>
              <a:t>20</a:t>
            </a:fld>
            <a:endParaRPr lang="en-I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endParaRPr lang="en-IN" smtClean="0"/>
          </a:p>
        </p:txBody>
      </p:sp>
      <p:sp>
        <p:nvSpPr>
          <p:cNvPr id="40964" name="Slide Number Placeholder 3"/>
          <p:cNvSpPr>
            <a:spLocks noGrp="1"/>
          </p:cNvSpPr>
          <p:nvPr>
            <p:ph type="sldNum" sz="quarter" idx="5"/>
          </p:nvPr>
        </p:nvSpPr>
        <p:spPr>
          <a:noFill/>
        </p:spPr>
        <p:txBody>
          <a:bodyPr/>
          <a:lstStyle/>
          <a:p>
            <a:fld id="{3D5E7DB5-269C-4E94-BCAC-2C1AAAEE8F92}" type="slidenum">
              <a:rPr lang="en-IN" smtClean="0"/>
              <a:pPr/>
              <a:t>21</a:t>
            </a:fld>
            <a:endParaRPr lang="en-I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endParaRPr lang="en-IN" smtClean="0"/>
          </a:p>
        </p:txBody>
      </p:sp>
      <p:sp>
        <p:nvSpPr>
          <p:cNvPr id="40964" name="Slide Number Placeholder 3"/>
          <p:cNvSpPr>
            <a:spLocks noGrp="1"/>
          </p:cNvSpPr>
          <p:nvPr>
            <p:ph type="sldNum" sz="quarter" idx="5"/>
          </p:nvPr>
        </p:nvSpPr>
        <p:spPr>
          <a:noFill/>
        </p:spPr>
        <p:txBody>
          <a:bodyPr/>
          <a:lstStyle/>
          <a:p>
            <a:fld id="{3D5E7DB5-269C-4E94-BCAC-2C1AAAEE8F92}" type="slidenum">
              <a:rPr lang="en-IN" smtClean="0"/>
              <a:pPr/>
              <a:t>22</a:t>
            </a:fld>
            <a:endParaRPr lang="en-I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endParaRPr lang="en-IN" smtClean="0"/>
          </a:p>
        </p:txBody>
      </p:sp>
      <p:sp>
        <p:nvSpPr>
          <p:cNvPr id="40964" name="Slide Number Placeholder 3"/>
          <p:cNvSpPr>
            <a:spLocks noGrp="1"/>
          </p:cNvSpPr>
          <p:nvPr>
            <p:ph type="sldNum" sz="quarter" idx="5"/>
          </p:nvPr>
        </p:nvSpPr>
        <p:spPr>
          <a:noFill/>
        </p:spPr>
        <p:txBody>
          <a:bodyPr/>
          <a:lstStyle/>
          <a:p>
            <a:fld id="{3D5E7DB5-269C-4E94-BCAC-2C1AAAEE8F92}" type="slidenum">
              <a:rPr lang="en-IN" smtClean="0"/>
              <a:pPr/>
              <a:t>23</a:t>
            </a:fld>
            <a:endParaRPr lang="en-I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endParaRPr lang="en-IN" smtClean="0"/>
          </a:p>
        </p:txBody>
      </p:sp>
      <p:sp>
        <p:nvSpPr>
          <p:cNvPr id="40964" name="Slide Number Placeholder 3"/>
          <p:cNvSpPr>
            <a:spLocks noGrp="1"/>
          </p:cNvSpPr>
          <p:nvPr>
            <p:ph type="sldNum" sz="quarter" idx="5"/>
          </p:nvPr>
        </p:nvSpPr>
        <p:spPr>
          <a:noFill/>
        </p:spPr>
        <p:txBody>
          <a:bodyPr/>
          <a:lstStyle/>
          <a:p>
            <a:fld id="{3D5E7DB5-269C-4E94-BCAC-2C1AAAEE8F92}" type="slidenum">
              <a:rPr lang="en-IN" smtClean="0"/>
              <a:pPr/>
              <a:t>24</a:t>
            </a:fld>
            <a:endParaRPr lang="en-I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endParaRPr lang="en-IN" smtClean="0"/>
          </a:p>
        </p:txBody>
      </p:sp>
      <p:sp>
        <p:nvSpPr>
          <p:cNvPr id="40964" name="Slide Number Placeholder 3"/>
          <p:cNvSpPr>
            <a:spLocks noGrp="1"/>
          </p:cNvSpPr>
          <p:nvPr>
            <p:ph type="sldNum" sz="quarter" idx="5"/>
          </p:nvPr>
        </p:nvSpPr>
        <p:spPr>
          <a:noFill/>
        </p:spPr>
        <p:txBody>
          <a:bodyPr/>
          <a:lstStyle/>
          <a:p>
            <a:fld id="{3D5E7DB5-269C-4E94-BCAC-2C1AAAEE8F92}" type="slidenum">
              <a:rPr lang="en-IN" smtClean="0"/>
              <a:pPr/>
              <a:t>25</a:t>
            </a:fld>
            <a:endParaRPr lang="en-I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endParaRPr lang="en-IN" dirty="0" smtClean="0"/>
          </a:p>
        </p:txBody>
      </p:sp>
      <p:sp>
        <p:nvSpPr>
          <p:cNvPr id="40964" name="Slide Number Placeholder 3"/>
          <p:cNvSpPr>
            <a:spLocks noGrp="1"/>
          </p:cNvSpPr>
          <p:nvPr>
            <p:ph type="sldNum" sz="quarter" idx="5"/>
          </p:nvPr>
        </p:nvSpPr>
        <p:spPr>
          <a:noFill/>
        </p:spPr>
        <p:txBody>
          <a:bodyPr/>
          <a:lstStyle/>
          <a:p>
            <a:fld id="{3D5E7DB5-269C-4E94-BCAC-2C1AAAEE8F92}" type="slidenum">
              <a:rPr lang="en-IN" smtClean="0"/>
              <a:pPr/>
              <a:t>26</a:t>
            </a:fld>
            <a:endParaRPr lang="en-IN"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endParaRPr lang="en-IN" smtClean="0"/>
          </a:p>
        </p:txBody>
      </p:sp>
      <p:sp>
        <p:nvSpPr>
          <p:cNvPr id="40964" name="Slide Number Placeholder 3"/>
          <p:cNvSpPr>
            <a:spLocks noGrp="1"/>
          </p:cNvSpPr>
          <p:nvPr>
            <p:ph type="sldNum" sz="quarter" idx="5"/>
          </p:nvPr>
        </p:nvSpPr>
        <p:spPr>
          <a:noFill/>
        </p:spPr>
        <p:txBody>
          <a:bodyPr/>
          <a:lstStyle/>
          <a:p>
            <a:fld id="{3D5E7DB5-269C-4E94-BCAC-2C1AAAEE8F92}" type="slidenum">
              <a:rPr lang="en-IN" smtClean="0"/>
              <a:pPr/>
              <a:t>27</a:t>
            </a:fld>
            <a:endParaRPr lang="en-IN"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endParaRPr lang="en-IN" smtClean="0"/>
          </a:p>
        </p:txBody>
      </p:sp>
      <p:sp>
        <p:nvSpPr>
          <p:cNvPr id="40964" name="Slide Number Placeholder 3"/>
          <p:cNvSpPr>
            <a:spLocks noGrp="1"/>
          </p:cNvSpPr>
          <p:nvPr>
            <p:ph type="sldNum" sz="quarter" idx="5"/>
          </p:nvPr>
        </p:nvSpPr>
        <p:spPr>
          <a:noFill/>
        </p:spPr>
        <p:txBody>
          <a:bodyPr/>
          <a:lstStyle/>
          <a:p>
            <a:fld id="{3D5E7DB5-269C-4E94-BCAC-2C1AAAEE8F92}" type="slidenum">
              <a:rPr lang="en-IN" smtClean="0"/>
              <a:pPr/>
              <a:t>28</a:t>
            </a:fld>
            <a:endParaRPr lang="en-IN"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endParaRPr lang="en-IN" smtClean="0"/>
          </a:p>
        </p:txBody>
      </p:sp>
      <p:sp>
        <p:nvSpPr>
          <p:cNvPr id="40964" name="Slide Number Placeholder 3"/>
          <p:cNvSpPr>
            <a:spLocks noGrp="1"/>
          </p:cNvSpPr>
          <p:nvPr>
            <p:ph type="sldNum" sz="quarter" idx="5"/>
          </p:nvPr>
        </p:nvSpPr>
        <p:spPr>
          <a:noFill/>
        </p:spPr>
        <p:txBody>
          <a:bodyPr/>
          <a:lstStyle/>
          <a:p>
            <a:fld id="{3D5E7DB5-269C-4E94-BCAC-2C1AAAEE8F92}" type="slidenum">
              <a:rPr lang="en-IN" smtClean="0"/>
              <a:pPr/>
              <a:t>29</a:t>
            </a:fld>
            <a:endParaRPr lang="en-IN"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30</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31</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C04309FA-8C5F-492B-92B7-A875CE9971B3}" type="slidenum">
              <a:rPr lang="en-US" smtClean="0"/>
              <a:pPr/>
              <a:t>36</a:t>
            </a:fld>
            <a:endParaRPr lang="en-US" smtClean="0"/>
          </a:p>
        </p:txBody>
      </p:sp>
      <p:sp>
        <p:nvSpPr>
          <p:cNvPr id="41987" name="Slide Image Placeholder 1"/>
          <p:cNvSpPr>
            <a:spLocks noGrp="1" noRot="1" noChangeAspect="1" noTextEdit="1"/>
          </p:cNvSpPr>
          <p:nvPr>
            <p:ph type="sldImg"/>
          </p:nvPr>
        </p:nvSpPr>
        <p:spPr>
          <a:ln/>
        </p:spPr>
      </p:sp>
      <p:sp>
        <p:nvSpPr>
          <p:cNvPr id="41988" name="Notes Placeholder 2"/>
          <p:cNvSpPr>
            <a:spLocks noGrp="1"/>
          </p:cNvSpPr>
          <p:nvPr>
            <p:ph type="body" idx="1"/>
          </p:nvPr>
        </p:nvSpPr>
        <p:spPr>
          <a:noFill/>
          <a:ln/>
        </p:spPr>
        <p:txBody>
          <a:bodyPr/>
          <a:lstStyle/>
          <a:p>
            <a:pPr eaLnBrk="1" hangingPunct="1">
              <a:spcBef>
                <a:spcPct val="0"/>
              </a:spcBef>
            </a:pPr>
            <a:endParaRPr lang="en-US" smtClean="0"/>
          </a:p>
        </p:txBody>
      </p:sp>
      <p:sp>
        <p:nvSpPr>
          <p:cNvPr id="41989"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B9B3CBD6-2904-4E1F-ABC4-83E7BCE3542E}" type="slidenum">
              <a:rPr lang="en-US" sz="1200">
                <a:latin typeface="Calibri" pitchFamily="34" charset="0"/>
              </a:rPr>
              <a:pPr algn="r"/>
              <a:t>36</a:t>
            </a:fld>
            <a:endParaRPr lang="en-US" sz="1200">
              <a:latin typeface="Calibri" pitchFamily="34" charset="0"/>
            </a:endParaRPr>
          </a:p>
        </p:txBody>
      </p:sp>
      <p:sp>
        <p:nvSpPr>
          <p:cNvPr id="41990" name="Header Placeholder 5"/>
          <p:cNvSpPr>
            <a:spLocks noGrp="1"/>
          </p:cNvSpPr>
          <p:nvPr>
            <p:ph type="hdr" sz="quarter"/>
          </p:nvPr>
        </p:nvSpPr>
        <p:spPr>
          <a:noFill/>
        </p:spPr>
        <p:txBody>
          <a:bodyPr/>
          <a:lstStyle/>
          <a:p>
            <a:endParaRPr 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p:spPr>
        <p:txBody>
          <a:bodyPr/>
          <a:lstStyle/>
          <a:p>
            <a:endParaRPr lang="en-US" smtClean="0"/>
          </a:p>
        </p:txBody>
      </p:sp>
      <p:sp>
        <p:nvSpPr>
          <p:cNvPr id="44036" name="Header Placeholder 3"/>
          <p:cNvSpPr>
            <a:spLocks noGrp="1"/>
          </p:cNvSpPr>
          <p:nvPr>
            <p:ph type="hdr" sz="quarter"/>
          </p:nvPr>
        </p:nvSpPr>
        <p:spPr>
          <a:noFill/>
        </p:spPr>
        <p:txBody>
          <a:bodyPr/>
          <a:lstStyle/>
          <a:p>
            <a:endParaRPr lang="en-US" smtClean="0"/>
          </a:p>
        </p:txBody>
      </p:sp>
      <p:sp>
        <p:nvSpPr>
          <p:cNvPr id="44037" name="Slide Number Placeholder 4"/>
          <p:cNvSpPr>
            <a:spLocks noGrp="1"/>
          </p:cNvSpPr>
          <p:nvPr>
            <p:ph type="sldNum" sz="quarter" idx="5"/>
          </p:nvPr>
        </p:nvSpPr>
        <p:spPr>
          <a:noFill/>
        </p:spPr>
        <p:txBody>
          <a:bodyPr/>
          <a:lstStyle/>
          <a:p>
            <a:fld id="{07BA9D40-24D0-4BE2-91D0-988267418653}" type="slidenum">
              <a:rPr lang="en-US" smtClean="0"/>
              <a:pPr/>
              <a:t>39</a:t>
            </a:fld>
            <a:endParaRPr 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40</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6/20/2023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Tree>
    <p:extLst>
      <p:ext uri="{BB962C8B-B14F-4D97-AF65-F5344CB8AC3E}">
        <p14:creationId xmlns:p14="http://schemas.microsoft.com/office/powerpoint/2010/main" val="270909644"/>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Tree>
    <p:extLst>
      <p:ext uri="{BB962C8B-B14F-4D97-AF65-F5344CB8AC3E}">
        <p14:creationId xmlns:p14="http://schemas.microsoft.com/office/powerpoint/2010/main" val="3227159557"/>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Tree>
    <p:extLst>
      <p:ext uri="{BB962C8B-B14F-4D97-AF65-F5344CB8AC3E}">
        <p14:creationId xmlns:p14="http://schemas.microsoft.com/office/powerpoint/2010/main" val="3804378142"/>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dirty="0"/>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6.emf"/></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library.automationdirect.com/basic-electrical-theory/" TargetMode="Externa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library.automationdirect.com/basic-electrical-theory/" TargetMode="Externa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library.automationdirect.com/basic-electrical-theory/" TargetMode="Externa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in.pinterest.com/pin/422845852485215270/" TargetMode="External"/><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s://circuitglobe.com/stepper-motor.html"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3.jpeg"/></Relationships>
</file>

<file path=ppt/slides/_rels/slide2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hyperlink" Target="https://www.engineersgarage.com/article_page/stepper-motor-basics-types-and-working/"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hyperlink" Target="https://circuitglobe.com/variable-reluctance-stepper-motor.html"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hyperlink" Target="https://circuitglobe.com/hybrid-stepper-motor.html"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hyperlink" Target="https://www.linearmotiontips.com/what-are-linear-induction-motors/" TargetMode="Externa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hyperlink" Target="http://circuitglobe.com/linear-induction-motor.html" TargetMode="External"/><Relationship Id="rId3" Type="http://schemas.openxmlformats.org/officeDocument/2006/relationships/hyperlink" Target="http://www.nptel.ac.in/courses" TargetMode="External"/><Relationship Id="rId7" Type="http://schemas.openxmlformats.org/officeDocument/2006/relationships/hyperlink" Target="https://www.tsukasa-d.co.jp/en/data_download/english_catalogue.pdf" TargetMode="External"/><Relationship Id="rId12" Type="http://schemas.openxmlformats.org/officeDocument/2006/relationships/hyperlink" Target="http://www.electricaleasy.com/2014/07/characteristics-of-dc-motors.html" TargetMode="External"/><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hyperlink" Target="https://www.engineersgarage.com/insight/how-geared-dc-motor-works" TargetMode="External"/><Relationship Id="rId11" Type="http://schemas.openxmlformats.org/officeDocument/2006/relationships/hyperlink" Target="http://www.engineerlive.com/content/21559" TargetMode="External"/><Relationship Id="rId5" Type="http://schemas.openxmlformats.org/officeDocument/2006/relationships/hyperlink" Target="http://www.electricaltechnology.org/2016/05/bldc-brushless-dc-motor-construction-working-principle.html" TargetMode="External"/><Relationship Id="rId10" Type="http://schemas.openxmlformats.org/officeDocument/2006/relationships/hyperlink" Target="http://www.globalspec.com/learnmore/motion_controls/motors/ac_servo_motors" TargetMode="External"/><Relationship Id="rId4" Type="http://schemas.openxmlformats.org/officeDocument/2006/relationships/hyperlink" Target="http://www.learnengineering.org/2014/10/Brushless-DC-motor.html" TargetMode="External"/><Relationship Id="rId9" Type="http://schemas.openxmlformats.org/officeDocument/2006/relationships/hyperlink" Target="http://www.explainthatstuff.com/linearmotor.html" TargetMode="External"/></Relationships>
</file>

<file path=ppt/slides/_rels/slide40.xml.rels><?xml version="1.0" encoding="UTF-8" standalone="yes"?>
<Relationships xmlns="http://schemas.openxmlformats.org/package/2006/relationships"><Relationship Id="rId3" Type="http://schemas.openxmlformats.org/officeDocument/2006/relationships/hyperlink" Target="mailto:akhilnigam.eee@cumail.in" TargetMode="External"/><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smtClean="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494804" y="4023363"/>
          <a:ext cx="2631143" cy="2507676"/>
        </p:xfrm>
        <a:graphic>
          <a:graphicData uri="http://schemas.openxmlformats.org/presentationml/2006/ole">
            <mc:AlternateContent xmlns:mc="http://schemas.openxmlformats.org/markup-compatibility/2006">
              <mc:Choice xmlns:v="urn:schemas-microsoft-com:vml" Requires="v">
                <p:oleObj spid="_x0000_s128074" name="CorelDRAW" r:id="rId3" imgW="2169000" imgH="2169360" progId="">
                  <p:embed/>
                </p:oleObj>
              </mc:Choice>
              <mc:Fallback>
                <p:oleObj name="CorelDRAW" r:id="rId3" imgW="2169000" imgH="2169360" progId="">
                  <p:embed/>
                  <p:pic>
                    <p:nvPicPr>
                      <p:cNvPr id="0" name="Picture 58"/>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494804" y="4023363"/>
                        <a:ext cx="2631143" cy="25076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smtClean="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 name="Picture 29"/>
          <p:cNvPicPr>
            <a:picLocks noChangeAspect="1"/>
          </p:cNvPicPr>
          <p:nvPr/>
        </p:nvPicPr>
        <p:blipFill>
          <a:blip r:embed="rId5" cstate="print">
            <a:extLst>
              <a:ext uri="{BEBA8EAE-BF5A-486C-A8C5-ECC9F3942E4B}">
                <a14:imgProps xmlns:a14="http://schemas.microsoft.com/office/drawing/2010/main">
                  <a14:imgLayer r:embed="rId6">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p:cNvSpPr txBox="1">
            <a:spLocks noChangeArrowheads="1"/>
          </p:cNvSpPr>
          <p:nvPr/>
        </p:nvSpPr>
        <p:spPr bwMode="auto">
          <a:xfrm>
            <a:off x="7026502" y="6211669"/>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145244"/>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Box 25"/>
          <p:cNvSpPr txBox="1">
            <a:spLocks noChangeArrowheads="1"/>
          </p:cNvSpPr>
          <p:nvPr/>
        </p:nvSpPr>
        <p:spPr bwMode="auto">
          <a:xfrm>
            <a:off x="876659" y="1240972"/>
            <a:ext cx="9832638" cy="4856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622300">
              <a:lnSpc>
                <a:spcPct val="90000"/>
              </a:lnSpc>
              <a:spcBef>
                <a:spcPct val="0"/>
              </a:spcBef>
              <a:spcAft>
                <a:spcPct val="35000"/>
              </a:spcAft>
            </a:pPr>
            <a:r>
              <a:rPr lang="en-US" sz="2400" b="1" dirty="0">
                <a:latin typeface="Arial Black" panose="020B0A04020102020204" pitchFamily="34" charset="0"/>
                <a:ea typeface="Karla" pitchFamily="2" charset="0"/>
                <a:cs typeface="Karla" pitchFamily="2" charset="0"/>
              </a:rPr>
              <a:t>UNIVERSITY INSTITUTE ENGINEERING </a:t>
            </a:r>
          </a:p>
          <a:p>
            <a:pPr algn="ctr" defTabSz="622300">
              <a:lnSpc>
                <a:spcPct val="90000"/>
              </a:lnSpc>
              <a:spcBef>
                <a:spcPct val="0"/>
              </a:spcBef>
              <a:spcAft>
                <a:spcPct val="35000"/>
              </a:spcAft>
            </a:pPr>
            <a:r>
              <a:rPr lang="en-US" sz="2400" b="1" dirty="0">
                <a:latin typeface="Arial Black" panose="020B0A04020102020204" pitchFamily="34" charset="0"/>
                <a:ea typeface="Karla" pitchFamily="2" charset="0"/>
                <a:cs typeface="Karla" pitchFamily="2" charset="0"/>
              </a:rPr>
              <a:t>DEPARTMENT ACADEMIC UNIT-1 </a:t>
            </a:r>
          </a:p>
          <a:p>
            <a:pPr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Engineering) </a:t>
            </a:r>
          </a:p>
          <a:p>
            <a:pPr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SUBJECT NAME: </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INTRODUCTION TO </a:t>
            </a:r>
            <a:r>
              <a:rPr lang="en-US" sz="2400" dirty="0">
                <a:latin typeface="Times New Roman" panose="02020603050405020304" pitchFamily="18" charset="0"/>
                <a:ea typeface="Calibri" panose="020F0502020204030204" pitchFamily="34" charset="0"/>
                <a:cs typeface="Times New Roman" panose="02020603050405020304" pitchFamily="18" charset="0"/>
              </a:rPr>
              <a:t>ELECTRICAL &amp; ELECTRONICS ENGINEERING</a:t>
            </a:r>
          </a:p>
          <a:p>
            <a:pPr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SUBJECT CODE : </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23ECH-101</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By</a:t>
            </a:r>
          </a:p>
          <a:p>
            <a:pPr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Dr. Shikha</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Unit-3, chapter 2</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Lecture No. </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3.1.8</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r>
              <a:rPr lang="en-US" sz="2000" dirty="0" smtClean="0">
                <a:latin typeface="Times New Roman" panose="02020603050405020304" pitchFamily="18" charset="0"/>
                <a:ea typeface="Calibri" panose="020F0502020204030204" pitchFamily="34" charset="0"/>
                <a:cs typeface="Times New Roman" panose="02020603050405020304" pitchFamily="18" charset="0"/>
              </a:rPr>
              <a:t>GEAR MOTOR, SERVO MOTOR, STEPPER MOTOR &amp; LINEAR MOTOR</a:t>
            </a:r>
          </a:p>
        </p:txBody>
      </p:sp>
    </p:spTree>
    <p:extLst>
      <p:ext uri="{BB962C8B-B14F-4D97-AF65-F5344CB8AC3E}">
        <p14:creationId xmlns:p14="http://schemas.microsoft.com/office/powerpoint/2010/main" val="4565021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592954" y="605949"/>
            <a:ext cx="4456567"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smtClean="0">
                <a:latin typeface="Casper"/>
              </a:rPr>
              <a:t>Lecture Objectives</a:t>
            </a:r>
            <a:endParaRPr lang="en-US" sz="4400" b="1" dirty="0">
              <a:latin typeface="Casper"/>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p14="http://schemas.microsoft.com/office/powerpoint/2010/main" val="2068907730"/>
              </p:ext>
            </p:extLst>
          </p:nvPr>
        </p:nvGraphicFramePr>
        <p:xfrm>
          <a:off x="282009" y="2226080"/>
          <a:ext cx="6536802" cy="3968322"/>
        </p:xfrm>
        <a:graphic>
          <a:graphicData uri="http://schemas.openxmlformats.org/drawingml/2006/table">
            <a:tbl>
              <a:tblPr firstRow="1" firstCol="1" bandRow="1"/>
              <a:tblGrid>
                <a:gridCol w="556819">
                  <a:extLst>
                    <a:ext uri="{9D8B030D-6E8A-4147-A177-3AD203B41FA5}">
                      <a16:colId xmlns:a16="http://schemas.microsoft.com/office/drawing/2014/main" val="20000"/>
                    </a:ext>
                  </a:extLst>
                </a:gridCol>
                <a:gridCol w="5979983">
                  <a:extLst>
                    <a:ext uri="{9D8B030D-6E8A-4147-A177-3AD203B41FA5}">
                      <a16:colId xmlns:a16="http://schemas.microsoft.com/office/drawing/2014/main" val="20001"/>
                    </a:ext>
                  </a:extLst>
                </a:gridCol>
              </a:tblGrid>
              <a:tr h="608316">
                <a:tc>
                  <a:txBody>
                    <a:bodyPr/>
                    <a:lstStyle/>
                    <a:p>
                      <a:pPr algn="ctr" fontAlgn="ctr"/>
                      <a:r>
                        <a:rPr lang="en-US" sz="1200" b="1" i="0" u="none" strike="noStrike" dirty="0" smtClean="0">
                          <a:solidFill>
                            <a:srgbClr val="000000"/>
                          </a:solidFill>
                          <a:effectLst/>
                          <a:latin typeface="+mn-lt"/>
                        </a:rPr>
                        <a:t>S. No.</a:t>
                      </a:r>
                      <a:endParaRPr lang="en-US" sz="1200" b="1"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dirty="0" smtClean="0">
                          <a:solidFill>
                            <a:srgbClr val="000000"/>
                          </a:solidFill>
                          <a:effectLst/>
                          <a:latin typeface="+mn-lt"/>
                        </a:rPr>
                        <a:t>Objectives</a:t>
                      </a:r>
                      <a:endParaRPr lang="en-US" sz="1200" b="1"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20396">
                <a:tc>
                  <a:txBody>
                    <a:bodyPr/>
                    <a:lstStyle/>
                    <a:p>
                      <a:pPr algn="ctr" fontAlgn="ctr"/>
                      <a:r>
                        <a:rPr lang="en-US" sz="1200" b="0" i="0" u="none" strike="noStrike" dirty="0" smtClean="0">
                          <a:solidFill>
                            <a:schemeClr val="tx1"/>
                          </a:solidFill>
                          <a:effectLst/>
                          <a:latin typeface="+mn-lt"/>
                        </a:rPr>
                        <a:t>1</a:t>
                      </a:r>
                      <a:endParaRPr lang="en-US" sz="1200" b="0" i="0" u="none" strike="noStrike" dirty="0">
                        <a:solidFill>
                          <a:schemeClr val="tx1"/>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smtClean="0">
                          <a:solidFill>
                            <a:schemeClr val="tx1"/>
                          </a:solidFill>
                          <a:latin typeface="+mn-lt"/>
                          <a:ea typeface="+mn-ea"/>
                          <a:cs typeface="+mn-cs"/>
                        </a:rPr>
                        <a:t>To make student</a:t>
                      </a:r>
                      <a:r>
                        <a:rPr lang="en-US" sz="1200" b="0" i="0" kern="1200" baseline="0" dirty="0" smtClean="0">
                          <a:solidFill>
                            <a:schemeClr val="tx1"/>
                          </a:solidFill>
                          <a:latin typeface="+mn-lt"/>
                          <a:ea typeface="+mn-ea"/>
                          <a:cs typeface="+mn-cs"/>
                        </a:rPr>
                        <a:t> aware about gear motor</a:t>
                      </a:r>
                      <a:endParaRPr lang="en-US" sz="1200" b="0" i="0" u="none" strike="noStrike" dirty="0">
                        <a:solidFill>
                          <a:schemeClr val="tx1"/>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29046">
                <a:tc>
                  <a:txBody>
                    <a:bodyPr/>
                    <a:lstStyle/>
                    <a:p>
                      <a:pPr algn="ctr" fontAlgn="ctr"/>
                      <a:r>
                        <a:rPr lang="en-US" sz="1200" b="0" i="0" u="none" strike="noStrike" dirty="0" smtClean="0">
                          <a:solidFill>
                            <a:srgbClr val="000000"/>
                          </a:solidFill>
                          <a:effectLst/>
                          <a:latin typeface="+mn-lt"/>
                        </a:rPr>
                        <a:t>2</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smtClean="0">
                          <a:solidFill>
                            <a:schemeClr val="tx1"/>
                          </a:solidFill>
                          <a:latin typeface="+mn-lt"/>
                          <a:ea typeface="+mn-ea"/>
                          <a:cs typeface="+mn-cs"/>
                        </a:rPr>
                        <a:t>To aware about</a:t>
                      </a:r>
                      <a:r>
                        <a:rPr lang="en-US" sz="1200" b="0" i="0" kern="1200" baseline="0" dirty="0" smtClean="0">
                          <a:solidFill>
                            <a:schemeClr val="tx1"/>
                          </a:solidFill>
                          <a:latin typeface="+mn-lt"/>
                          <a:ea typeface="+mn-ea"/>
                          <a:cs typeface="+mn-cs"/>
                        </a:rPr>
                        <a:t> need of  servo and stepper motor</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52472">
                <a:tc>
                  <a:txBody>
                    <a:bodyPr/>
                    <a:lstStyle/>
                    <a:p>
                      <a:pPr algn="ctr" fontAlgn="ctr"/>
                      <a:r>
                        <a:rPr lang="en-US" sz="1200" b="0" i="0" u="none" strike="noStrike" dirty="0" smtClean="0">
                          <a:solidFill>
                            <a:srgbClr val="000000"/>
                          </a:solidFill>
                          <a:effectLst/>
                          <a:latin typeface="+mn-lt"/>
                        </a:rPr>
                        <a:t>3</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smtClean="0">
                          <a:solidFill>
                            <a:schemeClr val="tx1"/>
                          </a:solidFill>
                          <a:latin typeface="+mn-lt"/>
                          <a:ea typeface="+mn-ea"/>
                          <a:cs typeface="+mn-cs"/>
                        </a:rPr>
                        <a:t>To provide knowledge about difference  between servo</a:t>
                      </a:r>
                      <a:r>
                        <a:rPr lang="en-US" sz="1200" b="0" i="0" kern="1200" baseline="0" dirty="0" smtClean="0">
                          <a:solidFill>
                            <a:schemeClr val="tx1"/>
                          </a:solidFill>
                          <a:latin typeface="+mn-lt"/>
                          <a:ea typeface="+mn-ea"/>
                          <a:cs typeface="+mn-cs"/>
                        </a:rPr>
                        <a:t> and stepper motor</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29046">
                <a:tc>
                  <a:txBody>
                    <a:bodyPr/>
                    <a:lstStyle/>
                    <a:p>
                      <a:pPr algn="ctr" fontAlgn="ctr"/>
                      <a:r>
                        <a:rPr lang="en-US" sz="1200" b="0" i="0" u="none" strike="noStrike" dirty="0" smtClean="0">
                          <a:solidFill>
                            <a:srgbClr val="000000"/>
                          </a:solidFill>
                          <a:effectLst/>
                          <a:latin typeface="+mn-lt"/>
                        </a:rPr>
                        <a:t>4</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smtClean="0">
                          <a:solidFill>
                            <a:schemeClr val="tx1"/>
                          </a:solidFill>
                          <a:latin typeface="+mn-lt"/>
                          <a:ea typeface="+mn-ea"/>
                          <a:cs typeface="+mn-cs"/>
                        </a:rPr>
                        <a:t>To give</a:t>
                      </a:r>
                      <a:r>
                        <a:rPr lang="en-US" sz="1200" b="0" i="0" kern="1200" baseline="0" dirty="0" smtClean="0">
                          <a:solidFill>
                            <a:schemeClr val="tx1"/>
                          </a:solidFill>
                          <a:latin typeface="+mn-lt"/>
                          <a:ea typeface="+mn-ea"/>
                          <a:cs typeface="+mn-cs"/>
                        </a:rPr>
                        <a:t> various  applications of stepper and servo motor</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29046">
                <a:tc>
                  <a:txBody>
                    <a:bodyPr/>
                    <a:lstStyle/>
                    <a:p>
                      <a:pPr algn="ctr" fontAlgn="ctr"/>
                      <a:r>
                        <a:rPr lang="en-US" sz="1200" b="0" i="0" u="none" strike="noStrike" dirty="0" smtClean="0">
                          <a:solidFill>
                            <a:srgbClr val="000000"/>
                          </a:solidFill>
                          <a:effectLst/>
                          <a:latin typeface="+mn-lt"/>
                        </a:rPr>
                        <a:t>5</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rtl="0"/>
                      <a:r>
                        <a:rPr lang="en-US" sz="1200" b="0" i="0" kern="1200" dirty="0" smtClean="0">
                          <a:solidFill>
                            <a:schemeClr val="tx1"/>
                          </a:solidFill>
                          <a:latin typeface="+mn-lt"/>
                          <a:ea typeface="+mn-ea"/>
                          <a:cs typeface="+mn-cs"/>
                        </a:rPr>
                        <a:t>To aware about linear</a:t>
                      </a:r>
                      <a:r>
                        <a:rPr lang="en-US" sz="1200" b="0" i="0" kern="1200" baseline="0" dirty="0" smtClean="0">
                          <a:solidFill>
                            <a:schemeClr val="tx1"/>
                          </a:solidFill>
                          <a:latin typeface="+mn-lt"/>
                          <a:ea typeface="+mn-ea"/>
                          <a:cs typeface="+mn-cs"/>
                        </a:rPr>
                        <a:t> motor with its construction and working</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Content Placeholder 6"/>
          <p:cNvSpPr>
            <a:spLocks noGrp="1"/>
          </p:cNvSpPr>
          <p:nvPr>
            <p:ph idx="1"/>
          </p:nvPr>
        </p:nvSpPr>
        <p:spPr>
          <a:xfrm>
            <a:off x="7093130" y="5251268"/>
            <a:ext cx="4428309" cy="609781"/>
          </a:xfrm>
        </p:spPr>
        <p:style>
          <a:lnRef idx="2">
            <a:schemeClr val="dk1"/>
          </a:lnRef>
          <a:fillRef idx="1">
            <a:schemeClr val="lt1"/>
          </a:fillRef>
          <a:effectRef idx="0">
            <a:schemeClr val="dk1"/>
          </a:effectRef>
          <a:fontRef idx="minor">
            <a:schemeClr val="dk1"/>
          </a:fontRef>
        </p:style>
        <p:txBody>
          <a:bodyPr>
            <a:normAutofit fontScale="92500" lnSpcReduction="20000"/>
          </a:bodyPr>
          <a:lstStyle/>
          <a:p>
            <a:pPr algn="ctr">
              <a:buNone/>
            </a:pPr>
            <a:r>
              <a:rPr lang="en-US" sz="2100" dirty="0">
                <a:hlinkClick r:id="rId2"/>
              </a:rPr>
              <a:t>https://library.automationdirect.com/basic-electrical-theory</a:t>
            </a:r>
            <a:r>
              <a:rPr lang="en-US" sz="2800" dirty="0">
                <a:hlinkClick r:id="rId2"/>
              </a:rPr>
              <a:t>/</a:t>
            </a:r>
            <a:endParaRPr lang="en-US" sz="2800" dirty="0">
              <a:solidFill>
                <a:srgbClr val="00B0F0"/>
              </a:solidFill>
            </a:endParaRPr>
          </a:p>
        </p:txBody>
      </p:sp>
      <p:pic>
        <p:nvPicPr>
          <p:cNvPr id="9" name="Picture 8" descr="C:\Users\Administrator\Desktop\circuit.png"/>
          <p:cNvPicPr>
            <a:picLocks noChangeAspect="1" noChangeArrowheads="1"/>
          </p:cNvPicPr>
          <p:nvPr/>
        </p:nvPicPr>
        <p:blipFill>
          <a:blip r:embed="rId3" cstate="print"/>
          <a:srcRect/>
          <a:stretch>
            <a:fillRect/>
          </a:stretch>
        </p:blipFill>
        <p:spPr bwMode="auto">
          <a:xfrm>
            <a:off x="7134895" y="1750423"/>
            <a:ext cx="4481849" cy="335715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0180973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8" name="Title 7"/>
          <p:cNvSpPr txBox="1">
            <a:spLocks noGrp="1" noChangeArrowheads="1"/>
          </p:cNvSpPr>
          <p:nvPr>
            <p:ph type="title"/>
          </p:nvPr>
        </p:nvSpPr>
        <p:spPr bwMode="auto">
          <a:xfrm>
            <a:off x="592954" y="605949"/>
            <a:ext cx="4456567"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smtClean="0">
                <a:latin typeface="Casper"/>
              </a:rPr>
              <a:t>Course Objectives</a:t>
            </a:r>
            <a:endParaRPr lang="en-US" sz="4400" b="1" dirty="0">
              <a:latin typeface="Casper"/>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p:cNvSpPr>
            <a:spLocks noGrp="1"/>
          </p:cNvSpPr>
          <p:nvPr>
            <p:ph idx="1"/>
          </p:nvPr>
        </p:nvSpPr>
        <p:spPr>
          <a:xfrm>
            <a:off x="7093130" y="5251268"/>
            <a:ext cx="4428309" cy="609781"/>
          </a:xfrm>
        </p:spPr>
        <p:txBody>
          <a:bodyPr>
            <a:normAutofit/>
          </a:bodyPr>
          <a:lstStyle/>
          <a:p>
            <a:pPr algn="ctr">
              <a:buNone/>
            </a:pPr>
            <a:r>
              <a:rPr lang="en-US" sz="1800" dirty="0" smtClean="0">
                <a:hlinkClick r:id="rId2"/>
              </a:rPr>
              <a:t>https://library.automationdirect.com/basic-electrical-theory/</a:t>
            </a:r>
            <a:endParaRPr lang="en-US" sz="1800" dirty="0">
              <a:solidFill>
                <a:srgbClr val="00B0F0"/>
              </a:solidFill>
            </a:endParaRPr>
          </a:p>
        </p:txBody>
      </p:sp>
      <p:pic>
        <p:nvPicPr>
          <p:cNvPr id="9" name="Picture 1" descr="C:\Users\Administrator\Desktop\circuit.png"/>
          <p:cNvPicPr>
            <a:picLocks noChangeAspect="1" noChangeArrowheads="1"/>
          </p:cNvPicPr>
          <p:nvPr/>
        </p:nvPicPr>
        <p:blipFill>
          <a:blip r:embed="rId3" cstate="print"/>
          <a:srcRect/>
          <a:stretch>
            <a:fillRect/>
          </a:stretch>
        </p:blipFill>
        <p:spPr bwMode="auto">
          <a:xfrm>
            <a:off x="7122797" y="1789611"/>
            <a:ext cx="4688545" cy="330490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aphicFrame>
        <p:nvGraphicFramePr>
          <p:cNvPr id="2" name="Table 1"/>
          <p:cNvGraphicFramePr>
            <a:graphicFrameLocks noGrp="1"/>
          </p:cNvGraphicFramePr>
          <p:nvPr>
            <p:extLst>
              <p:ext uri="{D42A27DB-BD31-4B8C-83A1-F6EECF244321}">
                <p14:modId xmlns:p14="http://schemas.microsoft.com/office/powerpoint/2010/main" val="456083385"/>
              </p:ext>
            </p:extLst>
          </p:nvPr>
        </p:nvGraphicFramePr>
        <p:xfrm>
          <a:off x="838200" y="1825625"/>
          <a:ext cx="5662613" cy="4090911"/>
        </p:xfrm>
        <a:graphic>
          <a:graphicData uri="http://schemas.openxmlformats.org/drawingml/2006/table">
            <a:tbl>
              <a:tblPr firstRow="1" firstCol="1" bandRow="1"/>
              <a:tblGrid>
                <a:gridCol w="482354">
                  <a:extLst>
                    <a:ext uri="{9D8B030D-6E8A-4147-A177-3AD203B41FA5}">
                      <a16:colId xmlns:a16="http://schemas.microsoft.com/office/drawing/2014/main" val="2675601564"/>
                    </a:ext>
                  </a:extLst>
                </a:gridCol>
                <a:gridCol w="5180259">
                  <a:extLst>
                    <a:ext uri="{9D8B030D-6E8A-4147-A177-3AD203B41FA5}">
                      <a16:colId xmlns:a16="http://schemas.microsoft.com/office/drawing/2014/main" val="1648119343"/>
                    </a:ext>
                  </a:extLst>
                </a:gridCol>
              </a:tblGrid>
              <a:tr h="727352">
                <a:tc>
                  <a:txBody>
                    <a:bodyPr/>
                    <a:lstStyle/>
                    <a:p>
                      <a:pPr algn="ctr" fontAlgn="ctr"/>
                      <a:r>
                        <a:rPr lang="en-US" sz="2000" b="1" i="0" u="none" strike="noStrike" dirty="0" smtClean="0">
                          <a:solidFill>
                            <a:srgbClr val="000000"/>
                          </a:solidFill>
                          <a:effectLst/>
                          <a:latin typeface="Times New Roman" panose="02020603050405020304" pitchFamily="18" charset="0"/>
                          <a:cs typeface="Times New Roman" panose="02020603050405020304" pitchFamily="18" charset="0"/>
                        </a:rPr>
                        <a:t>S. No.</a:t>
                      </a:r>
                      <a:endParaRPr lang="en-US"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000" b="1" i="0" u="none" strike="noStrike" dirty="0" smtClean="0">
                          <a:solidFill>
                            <a:srgbClr val="000000"/>
                          </a:solidFill>
                          <a:effectLst/>
                          <a:latin typeface="Times New Roman" panose="02020603050405020304" pitchFamily="18" charset="0"/>
                          <a:cs typeface="Times New Roman" panose="02020603050405020304" pitchFamily="18" charset="0"/>
                        </a:rPr>
                        <a:t>Objectives</a:t>
                      </a:r>
                      <a:endParaRPr lang="en-US"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43746535"/>
                  </a:ext>
                </a:extLst>
              </a:tr>
              <a:tr h="1077559">
                <a:tc>
                  <a:txBody>
                    <a:bodyPr/>
                    <a:lstStyle/>
                    <a:p>
                      <a:pPr algn="ctr" fontAlgn="ctr"/>
                      <a:r>
                        <a:rPr lang="en-US" sz="1200" b="0" i="0" u="none" strike="noStrike" dirty="0" smtClean="0">
                          <a:solidFill>
                            <a:schemeClr val="tx1"/>
                          </a:solidFill>
                          <a:effectLst/>
                          <a:latin typeface="+mn-lt"/>
                        </a:rPr>
                        <a:t>1</a:t>
                      </a:r>
                      <a:endParaRPr lang="en-US" sz="1200" b="0" i="0" u="none" strike="noStrike" dirty="0">
                        <a:solidFill>
                          <a:schemeClr val="tx1"/>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indent="0" algn="l" defTabSz="914400" rtl="0" eaLnBrk="1" latinLnBrk="0" hangingPunct="1">
                        <a:lnSpc>
                          <a:spcPct val="150000"/>
                        </a:lnSpc>
                        <a:buSzPts val="1200"/>
                        <a:buFont typeface="Times New Roman" panose="02020603050405020304" pitchFamily="18" charset="0"/>
                        <a:buNone/>
                        <a:tabLst>
                          <a:tab pos="461010" algn="l"/>
                        </a:tabLst>
                      </a:pPr>
                      <a:r>
                        <a:rPr lang="en-US" sz="20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 Understand Electrical &amp; Electronics Engineering Fundamentals</a:t>
                      </a:r>
                      <a:r>
                        <a:rPr lang="en-US" sz="2000" kern="1200" spc="-5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en-IN" sz="2000" kern="1200" spc="-5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00896076"/>
                  </a:ext>
                </a:extLst>
              </a:tr>
              <a:tr h="2155116">
                <a:tc>
                  <a:txBody>
                    <a:bodyPr/>
                    <a:lstStyle/>
                    <a:p>
                      <a:pPr algn="ctr" fontAlgn="ctr"/>
                      <a:r>
                        <a:rPr lang="en-US" sz="1200" b="0" i="0" u="none" strike="noStrike" dirty="0" smtClean="0">
                          <a:solidFill>
                            <a:srgbClr val="000000"/>
                          </a:solidFill>
                          <a:effectLst/>
                          <a:latin typeface="+mn-lt"/>
                        </a:rPr>
                        <a:t>2</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indent="0" algn="l" defTabSz="914400" rtl="0" eaLnBrk="1" latinLnBrk="0" hangingPunct="1">
                        <a:lnSpc>
                          <a:spcPct val="150000"/>
                        </a:lnSpc>
                        <a:buSzPts val="1200"/>
                        <a:buFont typeface="Times New Roman" panose="02020603050405020304" pitchFamily="18" charset="0"/>
                        <a:buNone/>
                        <a:tabLst>
                          <a:tab pos="461010" algn="l"/>
                        </a:tabLst>
                      </a:pPr>
                      <a:endParaRPr lang="en-US" sz="20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p>
                      <a:pPr marL="0" lvl="0" indent="0" algn="l" defTabSz="914400" rtl="0" eaLnBrk="1" latinLnBrk="0" hangingPunct="1">
                        <a:lnSpc>
                          <a:spcPct val="150000"/>
                        </a:lnSpc>
                        <a:buSzPts val="1200"/>
                        <a:buFont typeface="Times New Roman" panose="02020603050405020304" pitchFamily="18" charset="0"/>
                        <a:buNone/>
                        <a:tabLst>
                          <a:tab pos="461010" algn="l"/>
                        </a:tabLst>
                      </a:pPr>
                      <a:r>
                        <a:rPr lang="en-IN" sz="20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To prepare students to perform the analysis and design of various Electrical &amp; digital electronic circuits.</a:t>
                      </a:r>
                      <a:endParaRPr lang="en-US" sz="20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p>
                      <a:pPr marL="0" lvl="0" indent="0" algn="l" defTabSz="914400" rtl="0" eaLnBrk="1" latinLnBrk="0" hangingPunct="1">
                        <a:lnSpc>
                          <a:spcPct val="150000"/>
                        </a:lnSpc>
                        <a:buSzPts val="1200"/>
                        <a:buFont typeface="Times New Roman" panose="02020603050405020304" pitchFamily="18" charset="0"/>
                        <a:buNone/>
                        <a:tabLst>
                          <a:tab pos="461010" algn="l"/>
                        </a:tabLst>
                      </a:pPr>
                      <a:r>
                        <a:rPr lang="en-US" sz="20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32334619"/>
                  </a:ext>
                </a:extLst>
              </a:tr>
            </a:tbl>
          </a:graphicData>
        </a:graphic>
      </p:graphicFrame>
    </p:spTree>
    <p:extLst>
      <p:ext uri="{BB962C8B-B14F-4D97-AF65-F5344CB8AC3E}">
        <p14:creationId xmlns:p14="http://schemas.microsoft.com/office/powerpoint/2010/main" val="40180973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4</a:t>
            </a:fld>
            <a:endParaRPr lang="en-US" dirty="0"/>
          </a:p>
        </p:txBody>
      </p:sp>
      <p:sp>
        <p:nvSpPr>
          <p:cNvPr id="8" name="Title 7"/>
          <p:cNvSpPr txBox="1">
            <a:spLocks noGrp="1" noChangeArrowheads="1"/>
          </p:cNvSpPr>
          <p:nvPr>
            <p:ph type="title"/>
          </p:nvPr>
        </p:nvSpPr>
        <p:spPr bwMode="auto">
          <a:xfrm>
            <a:off x="592954" y="605949"/>
            <a:ext cx="4456567"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smtClean="0">
                <a:latin typeface="Casper"/>
              </a:rPr>
              <a:t>Course Outcomes</a:t>
            </a:r>
            <a:endParaRPr lang="en-US" sz="4400" b="1" dirty="0">
              <a:latin typeface="Casper"/>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p14="http://schemas.microsoft.com/office/powerpoint/2010/main" val="1091665859"/>
              </p:ext>
            </p:extLst>
          </p:nvPr>
        </p:nvGraphicFramePr>
        <p:xfrm>
          <a:off x="282010" y="2037805"/>
          <a:ext cx="5870596" cy="4668421"/>
        </p:xfrm>
        <a:graphic>
          <a:graphicData uri="http://schemas.openxmlformats.org/drawingml/2006/table">
            <a:tbl>
              <a:tblPr firstRow="1" firstCol="1" bandRow="1"/>
              <a:tblGrid>
                <a:gridCol w="488699">
                  <a:extLst>
                    <a:ext uri="{9D8B030D-6E8A-4147-A177-3AD203B41FA5}">
                      <a16:colId xmlns:a16="http://schemas.microsoft.com/office/drawing/2014/main" val="20000"/>
                    </a:ext>
                  </a:extLst>
                </a:gridCol>
                <a:gridCol w="4598125">
                  <a:extLst>
                    <a:ext uri="{9D8B030D-6E8A-4147-A177-3AD203B41FA5}">
                      <a16:colId xmlns:a16="http://schemas.microsoft.com/office/drawing/2014/main" val="20001"/>
                    </a:ext>
                  </a:extLst>
                </a:gridCol>
                <a:gridCol w="783772">
                  <a:extLst>
                    <a:ext uri="{9D8B030D-6E8A-4147-A177-3AD203B41FA5}">
                      <a16:colId xmlns:a16="http://schemas.microsoft.com/office/drawing/2014/main" val="20002"/>
                    </a:ext>
                  </a:extLst>
                </a:gridCol>
              </a:tblGrid>
              <a:tr h="548641">
                <a:tc>
                  <a:txBody>
                    <a:bodyPr/>
                    <a:lstStyle/>
                    <a:p>
                      <a:pPr algn="ctr" fontAlgn="ctr"/>
                      <a:r>
                        <a:rPr lang="en-US" sz="1200" b="1" i="0" u="none" strike="noStrike" dirty="0">
                          <a:solidFill>
                            <a:srgbClr val="000000"/>
                          </a:solidFill>
                          <a:effectLst/>
                          <a:latin typeface="+mn-lt"/>
                        </a:rPr>
                        <a:t>CO Number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dirty="0">
                          <a:solidFill>
                            <a:srgbClr val="000000"/>
                          </a:solidFill>
                          <a:effectLst/>
                          <a:latin typeface="+mn-lt"/>
                        </a:rPr>
                        <a:t>Title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mn-lt"/>
                        </a:rPr>
                        <a:t>Level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959721">
                <a:tc>
                  <a:txBody>
                    <a:bodyPr/>
                    <a:lstStyle/>
                    <a:p>
                      <a:pPr marL="0" marR="53975" algn="ctr">
                        <a:lnSpc>
                          <a:spcPct val="107000"/>
                        </a:lnSpc>
                        <a:spcBef>
                          <a:spcPts val="0"/>
                        </a:spcBef>
                        <a:spcAft>
                          <a:spcPts val="0"/>
                        </a:spcAft>
                      </a:pPr>
                      <a:r>
                        <a:rPr lang="en-IN" sz="1200" dirty="0">
                          <a:effectLst/>
                          <a:latin typeface="Times New Roman" panose="02020603050405020304" pitchFamily="18" charset="0"/>
                          <a:ea typeface="Times New Roman" panose="02020603050405020304" pitchFamily="18" charset="0"/>
                          <a:cs typeface="Raavi"/>
                        </a:rPr>
                        <a:t>CO1</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1200" dirty="0">
                          <a:solidFill>
                            <a:srgbClr val="000000"/>
                          </a:solidFill>
                          <a:effectLst/>
                          <a:latin typeface="Times New Roman" panose="02020603050405020304" pitchFamily="18" charset="0"/>
                          <a:cs typeface="Raavi"/>
                        </a:rPr>
                        <a:t>To identify the different types of electrical elements and the basic op-amp circuit elements and to illustrate the various types of motors, transducers. </a:t>
                      </a:r>
                      <a:endParaRPr lang="en-US" sz="1600" dirty="0">
                        <a:effectLst/>
                        <a:latin typeface="Calibri" panose="020F0502020204030204" pitchFamily="34" charset="0"/>
                        <a:cs typeface="Raavi"/>
                      </a:endParaRPr>
                    </a:p>
                    <a:p>
                      <a:pPr marL="0" marR="0" algn="just">
                        <a:lnSpc>
                          <a:spcPct val="107000"/>
                        </a:lnSpc>
                        <a:spcBef>
                          <a:spcPts val="0"/>
                        </a:spcBef>
                        <a:spcAft>
                          <a:spcPts val="0"/>
                        </a:spcAft>
                      </a:pPr>
                      <a:r>
                        <a:rPr lang="en-IN" sz="1200" dirty="0">
                          <a:effectLst/>
                          <a:latin typeface="Times New Roman" panose="02020603050405020304" pitchFamily="18" charset="0"/>
                          <a:ea typeface="Times New Roman" panose="02020603050405020304" pitchFamily="18" charset="0"/>
                          <a:cs typeface="Raavi"/>
                        </a:rPr>
                        <a:t> </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400" b="0" i="0" u="none" strike="noStrike" dirty="0">
                          <a:solidFill>
                            <a:schemeClr val="tx1"/>
                          </a:solidFill>
                          <a:effectLst/>
                          <a:latin typeface="Times New Roman" panose="02020603050405020304" pitchFamily="18" charset="0"/>
                          <a:cs typeface="Times New Roman" panose="02020603050405020304" pitchFamily="18" charset="0"/>
                        </a:rPr>
                        <a:t>Remember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35875">
                <a:tc>
                  <a:txBody>
                    <a:bodyPr/>
                    <a:lstStyle/>
                    <a:p>
                      <a:pPr marL="0" marR="53975" algn="ctr">
                        <a:lnSpc>
                          <a:spcPct val="107000"/>
                        </a:lnSpc>
                        <a:spcBef>
                          <a:spcPts val="0"/>
                        </a:spcBef>
                        <a:spcAft>
                          <a:spcPts val="0"/>
                        </a:spcAft>
                      </a:pPr>
                      <a:r>
                        <a:rPr lang="en-IN" sz="1200">
                          <a:effectLst/>
                          <a:latin typeface="Times New Roman" panose="02020603050405020304" pitchFamily="18" charset="0"/>
                          <a:ea typeface="Times New Roman" panose="02020603050405020304" pitchFamily="18" charset="0"/>
                          <a:cs typeface="Raavi"/>
                        </a:rPr>
                        <a:t>CO2</a:t>
                      </a:r>
                      <a:endParaRPr lang="en-US" sz="160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1200" dirty="0">
                          <a:solidFill>
                            <a:srgbClr val="000000"/>
                          </a:solidFill>
                          <a:effectLst/>
                          <a:latin typeface="Times New Roman" panose="02020603050405020304" pitchFamily="18" charset="0"/>
                          <a:cs typeface="Raavi"/>
                        </a:rPr>
                        <a:t>To understand basic principles of transformers, transducers, op-amps, DC and AC motors and to compare the different methods for analysing electrical and magnetic circuits.</a:t>
                      </a:r>
                      <a:endParaRPr lang="en-US" sz="1600" dirty="0">
                        <a:effectLst/>
                        <a:latin typeface="Calibri" panose="020F0502020204030204" pitchFamily="34" charset="0"/>
                        <a:cs typeface="Raavi"/>
                      </a:endParaRPr>
                    </a:p>
                    <a:p>
                      <a:pPr marL="0" marR="0" algn="just">
                        <a:lnSpc>
                          <a:spcPct val="107000"/>
                        </a:lnSpc>
                        <a:spcBef>
                          <a:spcPts val="0"/>
                        </a:spcBef>
                        <a:spcAft>
                          <a:spcPts val="0"/>
                        </a:spcAft>
                      </a:pPr>
                      <a:r>
                        <a:rPr lang="en-IN" sz="1200" dirty="0">
                          <a:solidFill>
                            <a:srgbClr val="000000"/>
                          </a:solidFill>
                          <a:effectLst/>
                          <a:latin typeface="Times New Roman" panose="02020603050405020304" pitchFamily="18" charset="0"/>
                          <a:ea typeface="Times New Roman" panose="02020603050405020304" pitchFamily="18" charset="0"/>
                          <a:cs typeface="Raavi"/>
                        </a:rPr>
                        <a:t> </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Understand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63279">
                <a:tc>
                  <a:txBody>
                    <a:bodyPr/>
                    <a:lstStyle/>
                    <a:p>
                      <a:pPr marL="0" marR="53975" algn="ctr">
                        <a:lnSpc>
                          <a:spcPct val="107000"/>
                        </a:lnSpc>
                        <a:spcBef>
                          <a:spcPts val="0"/>
                        </a:spcBef>
                        <a:spcAft>
                          <a:spcPts val="0"/>
                        </a:spcAft>
                      </a:pPr>
                      <a:r>
                        <a:rPr lang="en-IN" sz="1200">
                          <a:effectLst/>
                          <a:latin typeface="Times New Roman" panose="02020603050405020304" pitchFamily="18" charset="0"/>
                          <a:ea typeface="Times New Roman" panose="02020603050405020304" pitchFamily="18" charset="0"/>
                          <a:cs typeface="Raavi"/>
                        </a:rPr>
                        <a:t>CO3</a:t>
                      </a:r>
                      <a:endParaRPr lang="en-US" sz="160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1200" dirty="0">
                          <a:solidFill>
                            <a:srgbClr val="000000"/>
                          </a:solidFill>
                          <a:effectLst/>
                          <a:latin typeface="Times New Roman" panose="02020603050405020304" pitchFamily="18" charset="0"/>
                          <a:cs typeface="Raavi"/>
                        </a:rPr>
                        <a:t>To derive the relationships between parameters in electric and magnetic circuits and motors and to determine specifications of op-amps.</a:t>
                      </a:r>
                      <a:endParaRPr lang="en-US" sz="1600" dirty="0">
                        <a:effectLst/>
                        <a:latin typeface="Calibri" panose="020F0502020204030204" pitchFamily="34" charset="0"/>
                        <a:cs typeface="Raavi"/>
                      </a:endParaRPr>
                    </a:p>
                    <a:p>
                      <a:pPr marL="0" marR="0" indent="31115" algn="just">
                        <a:lnSpc>
                          <a:spcPct val="107000"/>
                        </a:lnSpc>
                        <a:spcBef>
                          <a:spcPts val="0"/>
                        </a:spcBef>
                        <a:spcAft>
                          <a:spcPts val="0"/>
                        </a:spcAft>
                      </a:pPr>
                      <a:r>
                        <a:rPr lang="en-IN" sz="1200" dirty="0">
                          <a:solidFill>
                            <a:srgbClr val="000000"/>
                          </a:solidFill>
                          <a:effectLst/>
                          <a:latin typeface="Times New Roman" panose="02020603050405020304" pitchFamily="18" charset="0"/>
                          <a:ea typeface="Times New Roman" panose="02020603050405020304" pitchFamily="18" charset="0"/>
                          <a:cs typeface="Raavi"/>
                        </a:rPr>
                        <a:t> </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Analyze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35875">
                <a:tc>
                  <a:txBody>
                    <a:bodyPr/>
                    <a:lstStyle/>
                    <a:p>
                      <a:pPr marL="0" marR="53975" algn="ctr">
                        <a:lnSpc>
                          <a:spcPct val="107000"/>
                        </a:lnSpc>
                        <a:spcBef>
                          <a:spcPts val="0"/>
                        </a:spcBef>
                        <a:spcAft>
                          <a:spcPts val="0"/>
                        </a:spcAft>
                      </a:pPr>
                      <a:r>
                        <a:rPr lang="en-IN" sz="1200">
                          <a:effectLst/>
                          <a:latin typeface="Times New Roman" panose="02020603050405020304" pitchFamily="18" charset="0"/>
                          <a:ea typeface="Times New Roman" panose="02020603050405020304" pitchFamily="18" charset="0"/>
                          <a:cs typeface="Raavi"/>
                        </a:rPr>
                        <a:t>CO4</a:t>
                      </a:r>
                      <a:endParaRPr lang="en-US" sz="160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1200" dirty="0">
                          <a:solidFill>
                            <a:srgbClr val="000000"/>
                          </a:solidFill>
                          <a:effectLst/>
                          <a:latin typeface="Times New Roman" panose="02020603050405020304" pitchFamily="18" charset="0"/>
                          <a:cs typeface="Raavi"/>
                        </a:rPr>
                        <a:t>To solve the basic problems related to electric circuits, magnetic circuits and motors and to assess the characteristics of different configurations of op-amps.</a:t>
                      </a:r>
                      <a:endParaRPr lang="en-US" sz="1600" dirty="0">
                        <a:effectLst/>
                        <a:latin typeface="Calibri" panose="020F0502020204030204" pitchFamily="34" charset="0"/>
                        <a:cs typeface="Raavi"/>
                      </a:endParaRPr>
                    </a:p>
                    <a:p>
                      <a:pPr marL="0" marR="0" algn="just">
                        <a:lnSpc>
                          <a:spcPct val="107000"/>
                        </a:lnSpc>
                        <a:spcBef>
                          <a:spcPts val="0"/>
                        </a:spcBef>
                        <a:spcAft>
                          <a:spcPts val="0"/>
                        </a:spcAft>
                      </a:pPr>
                      <a:r>
                        <a:rPr lang="en-IN" sz="1200" dirty="0">
                          <a:solidFill>
                            <a:srgbClr val="000000"/>
                          </a:solidFill>
                          <a:effectLst/>
                          <a:latin typeface="Times New Roman" panose="02020603050405020304" pitchFamily="18" charset="0"/>
                          <a:ea typeface="Times New Roman" panose="02020603050405020304" pitchFamily="18" charset="0"/>
                          <a:cs typeface="Raavi"/>
                        </a:rPr>
                        <a:t> </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Evaluate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735875">
                <a:tc>
                  <a:txBody>
                    <a:bodyPr/>
                    <a:lstStyle/>
                    <a:p>
                      <a:pPr marL="0" marR="53975" algn="ctr">
                        <a:lnSpc>
                          <a:spcPct val="107000"/>
                        </a:lnSpc>
                        <a:spcBef>
                          <a:spcPts val="0"/>
                        </a:spcBef>
                        <a:spcAft>
                          <a:spcPts val="0"/>
                        </a:spcAft>
                      </a:pPr>
                      <a:r>
                        <a:rPr lang="en-IN" sz="1200" dirty="0">
                          <a:effectLst/>
                          <a:latin typeface="Times New Roman" panose="02020603050405020304" pitchFamily="18" charset="0"/>
                          <a:ea typeface="Times New Roman" panose="02020603050405020304" pitchFamily="18" charset="0"/>
                          <a:cs typeface="Raavi"/>
                        </a:rPr>
                        <a:t>CO5</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1200" dirty="0">
                          <a:solidFill>
                            <a:srgbClr val="000000"/>
                          </a:solidFill>
                          <a:effectLst/>
                          <a:latin typeface="Times New Roman" panose="02020603050405020304" pitchFamily="18" charset="0"/>
                          <a:cs typeface="Raavi"/>
                        </a:rPr>
                        <a:t>To design the different applications of transducers, motors as well as the op-amps like adders, </a:t>
                      </a:r>
                      <a:r>
                        <a:rPr lang="en-IN" sz="1200" dirty="0" err="1">
                          <a:solidFill>
                            <a:srgbClr val="000000"/>
                          </a:solidFill>
                          <a:effectLst/>
                          <a:latin typeface="Times New Roman" panose="02020603050405020304" pitchFamily="18" charset="0"/>
                          <a:cs typeface="Raavi"/>
                        </a:rPr>
                        <a:t>subtractor</a:t>
                      </a:r>
                      <a:r>
                        <a:rPr lang="en-IN" sz="1200" dirty="0">
                          <a:solidFill>
                            <a:srgbClr val="000000"/>
                          </a:solidFill>
                          <a:effectLst/>
                          <a:latin typeface="Times New Roman" panose="02020603050405020304" pitchFamily="18" charset="0"/>
                          <a:cs typeface="Raavi"/>
                        </a:rPr>
                        <a:t> and comparators.</a:t>
                      </a:r>
                      <a:endParaRPr lang="en-US" sz="1600" dirty="0">
                        <a:effectLst/>
                        <a:latin typeface="Calibri" panose="020F0502020204030204" pitchFamily="34" charset="0"/>
                        <a:cs typeface="Raavi"/>
                      </a:endParaRPr>
                    </a:p>
                    <a:p>
                      <a:pPr marL="0" marR="0" indent="-31115" algn="just">
                        <a:lnSpc>
                          <a:spcPct val="107000"/>
                        </a:lnSpc>
                        <a:spcBef>
                          <a:spcPts val="0"/>
                        </a:spcBef>
                        <a:spcAft>
                          <a:spcPts val="0"/>
                        </a:spcAft>
                      </a:pPr>
                      <a:r>
                        <a:rPr lang="en-IN" sz="1200" dirty="0">
                          <a:solidFill>
                            <a:srgbClr val="000000"/>
                          </a:solidFill>
                          <a:effectLst/>
                          <a:latin typeface="Times New Roman" panose="02020603050405020304" pitchFamily="18" charset="0"/>
                          <a:ea typeface="Times New Roman" panose="02020603050405020304" pitchFamily="18" charset="0"/>
                          <a:cs typeface="Raavi"/>
                        </a:rPr>
                        <a:t> </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Create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9" name="Content Placeholder 8"/>
          <p:cNvSpPr>
            <a:spLocks noGrp="1"/>
          </p:cNvSpPr>
          <p:nvPr>
            <p:ph idx="1"/>
          </p:nvPr>
        </p:nvSpPr>
        <p:spPr>
          <a:xfrm>
            <a:off x="6609807" y="5329646"/>
            <a:ext cx="4915398" cy="518341"/>
          </a:xfrm>
        </p:spPr>
        <p:txBody>
          <a:bodyPr>
            <a:normAutofit fontScale="92500" lnSpcReduction="20000"/>
          </a:bodyPr>
          <a:lstStyle/>
          <a:p>
            <a:pPr algn="ctr">
              <a:buNone/>
            </a:pPr>
            <a:r>
              <a:rPr lang="en-US" sz="2000" dirty="0" smtClean="0">
                <a:hlinkClick r:id="rId2"/>
              </a:rPr>
              <a:t>https://library.automationdirect.com/basic-electrical-theory/</a:t>
            </a:r>
            <a:endParaRPr lang="en-US" sz="2000" dirty="0">
              <a:solidFill>
                <a:srgbClr val="00B0F0"/>
              </a:solidFill>
            </a:endParaRPr>
          </a:p>
        </p:txBody>
      </p:sp>
      <p:pic>
        <p:nvPicPr>
          <p:cNvPr id="11" name="Picture 1" descr="C:\Users\Administrator\Desktop\circuit.png"/>
          <p:cNvPicPr>
            <a:picLocks noChangeAspect="1" noChangeArrowheads="1"/>
          </p:cNvPicPr>
          <p:nvPr/>
        </p:nvPicPr>
        <p:blipFill>
          <a:blip r:embed="rId3" cstate="print"/>
          <a:srcRect/>
          <a:stretch>
            <a:fillRect/>
          </a:stretch>
        </p:blipFill>
        <p:spPr bwMode="auto">
          <a:xfrm>
            <a:off x="6730911" y="1763486"/>
            <a:ext cx="4688545" cy="330490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0180973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01521" y="1712890"/>
            <a:ext cx="9733096" cy="4859360"/>
          </a:xfrm>
        </p:spPr>
        <p:txBody>
          <a:bodyPr>
            <a:noAutofit/>
          </a:bodyPr>
          <a:lstStyle/>
          <a:p>
            <a:pPr lvl="0" algn="just">
              <a:lnSpc>
                <a:spcPct val="100000"/>
              </a:lnSpc>
              <a:buFont typeface="Wingdings" pitchFamily="2" charset="2"/>
              <a:buChar char="v"/>
            </a:pPr>
            <a:r>
              <a:rPr lang="en-IN" dirty="0" smtClean="0">
                <a:cs typeface="Times New Roman" pitchFamily="18" charset="0"/>
              </a:rPr>
              <a:t>Introduction to Gear motor with its construction and working.</a:t>
            </a:r>
            <a:endParaRPr lang="en-IN" dirty="0">
              <a:solidFill>
                <a:schemeClr val="dk1"/>
              </a:solidFill>
              <a:cs typeface="Times New Roman" pitchFamily="18" charset="0"/>
            </a:endParaRPr>
          </a:p>
          <a:p>
            <a:pPr lvl="0" algn="just">
              <a:lnSpc>
                <a:spcPct val="100000"/>
              </a:lnSpc>
              <a:buFont typeface="Wingdings" pitchFamily="2" charset="2"/>
              <a:buChar char="v"/>
            </a:pPr>
            <a:r>
              <a:rPr lang="en-US" dirty="0">
                <a:solidFill>
                  <a:schemeClr val="dk1"/>
                </a:solidFill>
                <a:cs typeface="Times New Roman" pitchFamily="18" charset="0"/>
              </a:rPr>
              <a:t> Introduction </a:t>
            </a:r>
            <a:r>
              <a:rPr lang="en-US" dirty="0" smtClean="0">
                <a:solidFill>
                  <a:schemeClr val="dk1"/>
                </a:solidFill>
                <a:cs typeface="Times New Roman" pitchFamily="18" charset="0"/>
              </a:rPr>
              <a:t> of servo motor.</a:t>
            </a:r>
            <a:endParaRPr lang="en-US" dirty="0">
              <a:solidFill>
                <a:schemeClr val="dk1"/>
              </a:solidFill>
              <a:cs typeface="Times New Roman" pitchFamily="18" charset="0"/>
            </a:endParaRPr>
          </a:p>
          <a:p>
            <a:pPr algn="just">
              <a:lnSpc>
                <a:spcPct val="100000"/>
              </a:lnSpc>
              <a:buFont typeface="Wingdings" pitchFamily="2" charset="2"/>
              <a:buChar char="v"/>
            </a:pPr>
            <a:r>
              <a:rPr lang="en-IN" dirty="0" smtClean="0">
                <a:cs typeface="Times New Roman" pitchFamily="18" charset="0"/>
              </a:rPr>
              <a:t>Construction </a:t>
            </a:r>
            <a:r>
              <a:rPr lang="en-IN" dirty="0">
                <a:cs typeface="Times New Roman" pitchFamily="18" charset="0"/>
              </a:rPr>
              <a:t>of </a:t>
            </a:r>
            <a:r>
              <a:rPr lang="en-IN" dirty="0" smtClean="0">
                <a:cs typeface="Times New Roman" pitchFamily="18" charset="0"/>
              </a:rPr>
              <a:t>servo motor.</a:t>
            </a:r>
            <a:r>
              <a:rPr lang="en-US" cap="all" dirty="0" smtClean="0">
                <a:solidFill>
                  <a:schemeClr val="bg1"/>
                </a:solidFill>
                <a:cs typeface="Times New Roman" pitchFamily="18" charset="0"/>
              </a:rPr>
              <a:t> </a:t>
            </a:r>
          </a:p>
          <a:p>
            <a:pPr algn="just">
              <a:lnSpc>
                <a:spcPct val="100000"/>
              </a:lnSpc>
              <a:buFont typeface="Wingdings" pitchFamily="2" charset="2"/>
              <a:buChar char="v"/>
            </a:pPr>
            <a:r>
              <a:rPr lang="en-IN" dirty="0" smtClean="0">
                <a:cs typeface="Times New Roman" pitchFamily="18" charset="0"/>
              </a:rPr>
              <a:t>Working </a:t>
            </a:r>
            <a:r>
              <a:rPr lang="en-IN" dirty="0">
                <a:cs typeface="Times New Roman" pitchFamily="18" charset="0"/>
              </a:rPr>
              <a:t>principle of DC </a:t>
            </a:r>
            <a:r>
              <a:rPr lang="en-IN" dirty="0" smtClean="0">
                <a:cs typeface="Times New Roman" pitchFamily="18" charset="0"/>
              </a:rPr>
              <a:t>servomotor.</a:t>
            </a:r>
          </a:p>
          <a:p>
            <a:pPr algn="just">
              <a:lnSpc>
                <a:spcPct val="100000"/>
              </a:lnSpc>
              <a:buFont typeface="Wingdings" pitchFamily="2" charset="2"/>
              <a:buChar char="v"/>
            </a:pPr>
            <a:r>
              <a:rPr lang="en-IN" dirty="0" smtClean="0">
                <a:cs typeface="Times New Roman" pitchFamily="18" charset="0"/>
              </a:rPr>
              <a:t>Advantages</a:t>
            </a:r>
            <a:r>
              <a:rPr lang="en-US" cap="all" dirty="0" smtClean="0">
                <a:solidFill>
                  <a:schemeClr val="bg1"/>
                </a:solidFill>
                <a:cs typeface="Times New Roman" pitchFamily="18" charset="0"/>
              </a:rPr>
              <a:t> </a:t>
            </a:r>
            <a:r>
              <a:rPr lang="en-IN" dirty="0" smtClean="0">
                <a:cs typeface="Times New Roman" pitchFamily="18" charset="0"/>
              </a:rPr>
              <a:t>disadvantages</a:t>
            </a:r>
            <a:r>
              <a:rPr lang="en-US" cap="all" dirty="0" smtClean="0">
                <a:solidFill>
                  <a:schemeClr val="bg1"/>
                </a:solidFill>
                <a:cs typeface="Times New Roman" pitchFamily="18" charset="0"/>
              </a:rPr>
              <a:t>,</a:t>
            </a:r>
            <a:r>
              <a:rPr lang="en-IN" dirty="0" smtClean="0">
                <a:cs typeface="Times New Roman" pitchFamily="18" charset="0"/>
              </a:rPr>
              <a:t>and applications of servo motor. </a:t>
            </a:r>
          </a:p>
          <a:p>
            <a:pPr algn="just">
              <a:lnSpc>
                <a:spcPct val="100000"/>
              </a:lnSpc>
              <a:buFont typeface="Wingdings" pitchFamily="2" charset="2"/>
              <a:buChar char="v"/>
            </a:pPr>
            <a:r>
              <a:rPr lang="en-IN" dirty="0">
                <a:cs typeface="Times New Roman" pitchFamily="18" charset="0"/>
              </a:rPr>
              <a:t>Stepper Motor </a:t>
            </a:r>
            <a:r>
              <a:rPr lang="en-IN" dirty="0" smtClean="0">
                <a:cs typeface="Times New Roman" pitchFamily="18" charset="0"/>
              </a:rPr>
              <a:t>with its working and types.</a:t>
            </a:r>
            <a:endParaRPr lang="en-IN" dirty="0">
              <a:cs typeface="Times New Roman" pitchFamily="18" charset="0"/>
            </a:endParaRPr>
          </a:p>
          <a:p>
            <a:pPr algn="just">
              <a:lnSpc>
                <a:spcPct val="100000"/>
              </a:lnSpc>
              <a:buFont typeface="Wingdings" pitchFamily="2" charset="2"/>
              <a:buChar char="v"/>
            </a:pPr>
            <a:r>
              <a:rPr lang="en-IN" dirty="0" smtClean="0">
                <a:cs typeface="Times New Roman" pitchFamily="18" charset="0"/>
              </a:rPr>
              <a:t>Advantages ,disadvantages</a:t>
            </a:r>
            <a:r>
              <a:rPr lang="en-US" cap="all" dirty="0" smtClean="0">
                <a:solidFill>
                  <a:schemeClr val="bg1"/>
                </a:solidFill>
                <a:cs typeface="Times New Roman" pitchFamily="18" charset="0"/>
              </a:rPr>
              <a:t> </a:t>
            </a:r>
            <a:r>
              <a:rPr lang="en-IN" dirty="0" smtClean="0">
                <a:cs typeface="Times New Roman" pitchFamily="18" charset="0"/>
              </a:rPr>
              <a:t>and applications of stepper motor. </a:t>
            </a:r>
          </a:p>
          <a:p>
            <a:pPr algn="just">
              <a:lnSpc>
                <a:spcPct val="100000"/>
              </a:lnSpc>
              <a:buFont typeface="Wingdings" pitchFamily="2" charset="2"/>
              <a:buChar char="v"/>
            </a:pPr>
            <a:r>
              <a:rPr lang="en-IN" dirty="0" smtClean="0">
                <a:cs typeface="Times New Roman" pitchFamily="18" charset="0"/>
              </a:rPr>
              <a:t>Linear motor with its construction and working.</a:t>
            </a:r>
            <a:endParaRPr lang="en-US" dirty="0">
              <a:cs typeface="Times New Roman" pitchFamily="18" charset="0"/>
            </a:endParaRPr>
          </a:p>
          <a:p>
            <a:pPr algn="just">
              <a:lnSpc>
                <a:spcPct val="100000"/>
              </a:lnSpc>
              <a:buFont typeface="Wingdings" pitchFamily="2" charset="2"/>
              <a:buChar char="v"/>
            </a:pPr>
            <a:endParaRPr lang="en-IN" dirty="0" smtClean="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7" name="Title 1"/>
          <p:cNvSpPr txBox="1">
            <a:spLocks/>
          </p:cNvSpPr>
          <p:nvPr/>
        </p:nvSpPr>
        <p:spPr>
          <a:xfrm>
            <a:off x="1059543" y="244658"/>
            <a:ext cx="9575074" cy="1069792"/>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p>
            <a:pPr lvl="0" algn="ctr">
              <a:lnSpc>
                <a:spcPct val="90000"/>
              </a:lnSpc>
              <a:spcBef>
                <a:spcPct val="0"/>
              </a:spcBef>
              <a:defRPr/>
            </a:pPr>
            <a:r>
              <a:rPr lang="en-US" sz="4400" b="1" dirty="0" smtClean="0">
                <a:latin typeface="+mj-lt"/>
                <a:cs typeface="Times New Roman" pitchFamily="18" charset="0"/>
              </a:rPr>
              <a:t>CONTENTS</a:t>
            </a:r>
            <a:r>
              <a:rPr lang="en-US" sz="3600" dirty="0" smtClean="0">
                <a:latin typeface="Times New Roman" pitchFamily="18" charset="0"/>
                <a:cs typeface="Times New Roman" pitchFamily="18" charset="0"/>
              </a:rPr>
              <a:t> </a:t>
            </a:r>
            <a:endParaRPr kumimoji="0" lang="en-IN" sz="3600" b="1" i="0"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Tree>
    <p:extLst>
      <p:ext uri="{BB962C8B-B14F-4D97-AF65-F5344CB8AC3E}">
        <p14:creationId xmlns:p14="http://schemas.microsoft.com/office/powerpoint/2010/main" val="20784675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5588" y="1671310"/>
            <a:ext cx="6013545" cy="4783837"/>
          </a:xfrm>
        </p:spPr>
        <p:txBody>
          <a:bodyPr>
            <a:noAutofit/>
          </a:bodyPr>
          <a:lstStyle/>
          <a:p>
            <a:pPr algn="just"/>
            <a:r>
              <a:rPr lang="en-IN" dirty="0">
                <a:cs typeface="Times New Roman" pitchFamily="18" charset="0"/>
              </a:rPr>
              <a:t>Gear motors are complete motive </a:t>
            </a:r>
            <a:r>
              <a:rPr lang="en-IN" dirty="0" smtClean="0">
                <a:cs typeface="Times New Roman" pitchFamily="18" charset="0"/>
              </a:rPr>
              <a:t>force systems </a:t>
            </a:r>
            <a:r>
              <a:rPr lang="en-IN" dirty="0">
                <a:cs typeface="Times New Roman" pitchFamily="18" charset="0"/>
              </a:rPr>
              <a:t>consisting of an electric </a:t>
            </a:r>
            <a:r>
              <a:rPr lang="en-IN" dirty="0" smtClean="0">
                <a:cs typeface="Times New Roman" pitchFamily="18" charset="0"/>
              </a:rPr>
              <a:t>motor and </a:t>
            </a:r>
            <a:r>
              <a:rPr lang="en-IN" dirty="0">
                <a:cs typeface="Times New Roman" pitchFamily="18" charset="0"/>
              </a:rPr>
              <a:t>a reduction gear train </a:t>
            </a:r>
            <a:r>
              <a:rPr lang="en-IN" dirty="0" smtClean="0">
                <a:cs typeface="Times New Roman" pitchFamily="18" charset="0"/>
              </a:rPr>
              <a:t>integrated into </a:t>
            </a:r>
            <a:r>
              <a:rPr lang="en-IN" dirty="0">
                <a:cs typeface="Times New Roman" pitchFamily="18" charset="0"/>
              </a:rPr>
              <a:t>one easy-to-mount and </a:t>
            </a:r>
            <a:r>
              <a:rPr lang="en-IN" dirty="0" smtClean="0">
                <a:cs typeface="Times New Roman" pitchFamily="18" charset="0"/>
              </a:rPr>
              <a:t>–configure package</a:t>
            </a:r>
            <a:r>
              <a:rPr lang="en-IN" dirty="0">
                <a:cs typeface="Times New Roman" pitchFamily="18" charset="0"/>
              </a:rPr>
              <a:t>. </a:t>
            </a:r>
            <a:endParaRPr lang="en-IN" dirty="0" smtClean="0">
              <a:cs typeface="Times New Roman" pitchFamily="18" charset="0"/>
            </a:endParaRPr>
          </a:p>
          <a:p>
            <a:pPr algn="just"/>
            <a:r>
              <a:rPr lang="en-IN" dirty="0" smtClean="0">
                <a:cs typeface="Times New Roman" pitchFamily="18" charset="0"/>
              </a:rPr>
              <a:t>This </a:t>
            </a:r>
            <a:r>
              <a:rPr lang="en-IN" dirty="0">
                <a:cs typeface="Times New Roman" pitchFamily="18" charset="0"/>
              </a:rPr>
              <a:t>greatly reduces </a:t>
            </a:r>
            <a:r>
              <a:rPr lang="en-IN" dirty="0" smtClean="0">
                <a:cs typeface="Times New Roman" pitchFamily="18" charset="0"/>
              </a:rPr>
              <a:t>the complexity </a:t>
            </a:r>
            <a:r>
              <a:rPr lang="en-IN" dirty="0">
                <a:cs typeface="Times New Roman" pitchFamily="18" charset="0"/>
              </a:rPr>
              <a:t>and cost of designing </a:t>
            </a:r>
            <a:r>
              <a:rPr lang="en-IN" dirty="0" smtClean="0">
                <a:cs typeface="Times New Roman" pitchFamily="18" charset="0"/>
              </a:rPr>
              <a:t>and constructing </a:t>
            </a:r>
            <a:r>
              <a:rPr lang="en-IN" dirty="0">
                <a:cs typeface="Times New Roman" pitchFamily="18" charset="0"/>
              </a:rPr>
              <a:t>power tools, </a:t>
            </a:r>
            <a:r>
              <a:rPr lang="en-IN" dirty="0" smtClean="0">
                <a:cs typeface="Times New Roman" pitchFamily="18" charset="0"/>
              </a:rPr>
              <a:t>machines and </a:t>
            </a:r>
            <a:r>
              <a:rPr lang="en-IN" dirty="0">
                <a:cs typeface="Times New Roman" pitchFamily="18" charset="0"/>
              </a:rPr>
              <a:t>appliances calling for high </a:t>
            </a:r>
            <a:r>
              <a:rPr lang="en-IN" dirty="0" smtClean="0">
                <a:cs typeface="Times New Roman" pitchFamily="18" charset="0"/>
              </a:rPr>
              <a:t>torque at </a:t>
            </a:r>
            <a:r>
              <a:rPr lang="en-IN" dirty="0">
                <a:cs typeface="Times New Roman" pitchFamily="18" charset="0"/>
              </a:rPr>
              <a:t>relatively low shaft speed or </a:t>
            </a:r>
            <a:r>
              <a:rPr lang="en-IN" dirty="0" smtClean="0">
                <a:cs typeface="Times New Roman" pitchFamily="18" charset="0"/>
              </a:rPr>
              <a:t>RPM.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
        <p:nvSpPr>
          <p:cNvPr id="6" name="Title 1"/>
          <p:cNvSpPr txBox="1">
            <a:spLocks/>
          </p:cNvSpPr>
          <p:nvPr/>
        </p:nvSpPr>
        <p:spPr>
          <a:xfrm>
            <a:off x="864326" y="313509"/>
            <a:ext cx="10515600" cy="1137104"/>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ctr">
            <a:normAutofit/>
          </a:bodyPr>
          <a:lstStyle/>
          <a:p>
            <a:pPr lvl="0" algn="ctr">
              <a:lnSpc>
                <a:spcPct val="90000"/>
              </a:lnSpc>
              <a:spcBef>
                <a:spcPct val="0"/>
              </a:spcBef>
              <a:defRPr/>
            </a:pPr>
            <a:r>
              <a:rPr lang="en-IN" sz="4400" b="1" dirty="0" smtClean="0">
                <a:latin typeface="+mj-lt"/>
              </a:rPr>
              <a:t>WHAT IS A GEAR MOTOR?</a:t>
            </a:r>
            <a:endParaRPr kumimoji="0" lang="en-US" sz="4400" b="1" i="0" u="none" strike="noStrike" kern="1200" cap="none" spc="0" normalizeH="0" baseline="0" noProof="0" dirty="0">
              <a:ln>
                <a:noFill/>
              </a:ln>
              <a:solidFill>
                <a:schemeClr val="dk1"/>
              </a:solidFill>
              <a:effectLst/>
              <a:uLnTx/>
              <a:uFillTx/>
              <a:latin typeface="+mj-lt"/>
              <a:cs typeface="Times New Roman" pitchFamily="18" charset="0"/>
            </a:endParaRPr>
          </a:p>
        </p:txBody>
      </p:sp>
      <p:sp>
        <p:nvSpPr>
          <p:cNvPr id="2" name="Rectangle 1"/>
          <p:cNvSpPr/>
          <p:nvPr/>
        </p:nvSpPr>
        <p:spPr>
          <a:xfrm>
            <a:off x="8126569" y="5472299"/>
            <a:ext cx="2150772"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IN" dirty="0" smtClean="0"/>
              <a:t>Fig-1-(geared motor)</a:t>
            </a:r>
          </a:p>
        </p:txBody>
      </p:sp>
      <p:pic>
        <p:nvPicPr>
          <p:cNvPr id="196610" name="Picture 2" descr="What Is a Gear Motor? | Gears, Electric motor, Motor"/>
          <p:cNvPicPr>
            <a:picLocks noChangeAspect="1" noChangeArrowheads="1"/>
          </p:cNvPicPr>
          <p:nvPr/>
        </p:nvPicPr>
        <p:blipFill>
          <a:blip r:embed="rId2" cstate="print"/>
          <a:srcRect/>
          <a:stretch>
            <a:fillRect/>
          </a:stretch>
        </p:blipFill>
        <p:spPr bwMode="auto">
          <a:xfrm>
            <a:off x="6607279" y="1803041"/>
            <a:ext cx="5005171" cy="347971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TextBox 7"/>
          <p:cNvSpPr txBox="1"/>
          <p:nvPr/>
        </p:nvSpPr>
        <p:spPr>
          <a:xfrm>
            <a:off x="6503832" y="6001555"/>
            <a:ext cx="5151547"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smtClean="0">
                <a:hlinkClick r:id="rId3"/>
              </a:rPr>
              <a:t>https://in.pinterest.com/pin/422845852485215270/</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5137" y="1254034"/>
            <a:ext cx="10787743" cy="5201849"/>
          </a:xfrm>
        </p:spPr>
        <p:txBody>
          <a:bodyPr>
            <a:normAutofit/>
          </a:bodyPr>
          <a:lstStyle/>
          <a:p>
            <a:r>
              <a:rPr lang="en-IN" dirty="0">
                <a:cs typeface="Times New Roman" pitchFamily="18" charset="0"/>
              </a:rPr>
              <a:t>Most synchronous AC electric motors have </a:t>
            </a:r>
            <a:r>
              <a:rPr lang="en-IN" dirty="0" smtClean="0">
                <a:cs typeface="Times New Roman" pitchFamily="18" charset="0"/>
              </a:rPr>
              <a:t>output ranges </a:t>
            </a:r>
            <a:r>
              <a:rPr lang="en-IN" dirty="0">
                <a:cs typeface="Times New Roman" pitchFamily="18" charset="0"/>
              </a:rPr>
              <a:t>of from 1,200 to 3,600 revolutions per </a:t>
            </a:r>
            <a:r>
              <a:rPr lang="en-IN" dirty="0" smtClean="0">
                <a:cs typeface="Times New Roman" pitchFamily="18" charset="0"/>
              </a:rPr>
              <a:t>minute. They </a:t>
            </a:r>
            <a:r>
              <a:rPr lang="en-IN" dirty="0">
                <a:cs typeface="Times New Roman" pitchFamily="18" charset="0"/>
              </a:rPr>
              <a:t>also have both normal speed and </a:t>
            </a:r>
            <a:r>
              <a:rPr lang="en-IN" dirty="0" smtClean="0">
                <a:cs typeface="Times New Roman" pitchFamily="18" charset="0"/>
              </a:rPr>
              <a:t>stall-speed torque </a:t>
            </a:r>
            <a:r>
              <a:rPr lang="en-IN" dirty="0">
                <a:cs typeface="Times New Roman" pitchFamily="18" charset="0"/>
              </a:rPr>
              <a:t>specifications. </a:t>
            </a:r>
            <a:endParaRPr lang="en-IN" dirty="0" smtClean="0">
              <a:cs typeface="Times New Roman" pitchFamily="18" charset="0"/>
            </a:endParaRPr>
          </a:p>
          <a:p>
            <a:r>
              <a:rPr lang="en-IN" dirty="0" smtClean="0">
                <a:cs typeface="Times New Roman" pitchFamily="18" charset="0"/>
              </a:rPr>
              <a:t>The </a:t>
            </a:r>
            <a:r>
              <a:rPr lang="en-IN" dirty="0">
                <a:cs typeface="Times New Roman" pitchFamily="18" charset="0"/>
              </a:rPr>
              <a:t>reduction gear trains </a:t>
            </a:r>
            <a:r>
              <a:rPr lang="en-IN" dirty="0" smtClean="0">
                <a:cs typeface="Times New Roman" pitchFamily="18" charset="0"/>
              </a:rPr>
              <a:t>used in </a:t>
            </a:r>
            <a:r>
              <a:rPr lang="en-IN" dirty="0">
                <a:cs typeface="Times New Roman" pitchFamily="18" charset="0"/>
              </a:rPr>
              <a:t>gear motors are designed to reduce the </a:t>
            </a:r>
            <a:r>
              <a:rPr lang="en-IN" dirty="0" smtClean="0">
                <a:cs typeface="Times New Roman" pitchFamily="18" charset="0"/>
              </a:rPr>
              <a:t>output speed while </a:t>
            </a:r>
            <a:r>
              <a:rPr lang="en-IN" dirty="0">
                <a:cs typeface="Times New Roman" pitchFamily="18" charset="0"/>
              </a:rPr>
              <a:t>increasing the torque. The increase </a:t>
            </a:r>
            <a:r>
              <a:rPr lang="en-IN" dirty="0" smtClean="0">
                <a:cs typeface="Times New Roman" pitchFamily="18" charset="0"/>
              </a:rPr>
              <a:t>in torque </a:t>
            </a:r>
            <a:r>
              <a:rPr lang="en-IN" dirty="0">
                <a:cs typeface="Times New Roman" pitchFamily="18" charset="0"/>
              </a:rPr>
              <a:t>is inversely proportional to the reduction </a:t>
            </a:r>
            <a:r>
              <a:rPr lang="en-IN" dirty="0" smtClean="0">
                <a:cs typeface="Times New Roman" pitchFamily="18" charset="0"/>
              </a:rPr>
              <a:t>in speed</a:t>
            </a:r>
            <a:r>
              <a:rPr lang="en-IN" dirty="0">
                <a:cs typeface="Times New Roman" pitchFamily="18" charset="0"/>
              </a:rPr>
              <a:t>. Reduction gearing allows small electric </a:t>
            </a:r>
            <a:r>
              <a:rPr lang="en-IN" dirty="0" smtClean="0">
                <a:cs typeface="Times New Roman" pitchFamily="18" charset="0"/>
              </a:rPr>
              <a:t>motors to move </a:t>
            </a:r>
            <a:r>
              <a:rPr lang="en-IN" dirty="0">
                <a:cs typeface="Times New Roman" pitchFamily="18" charset="0"/>
              </a:rPr>
              <a:t>large driven loads, although more </a:t>
            </a:r>
            <a:r>
              <a:rPr lang="en-IN" dirty="0" smtClean="0">
                <a:cs typeface="Times New Roman" pitchFamily="18" charset="0"/>
              </a:rPr>
              <a:t>slowly than </a:t>
            </a:r>
            <a:r>
              <a:rPr lang="en-IN" dirty="0">
                <a:cs typeface="Times New Roman" pitchFamily="18" charset="0"/>
              </a:rPr>
              <a:t>larger electric motors</a:t>
            </a:r>
            <a:r>
              <a:rPr lang="en-IN" dirty="0" smtClean="0">
                <a:cs typeface="Times New Roman" pitchFamily="18" charset="0"/>
              </a:rPr>
              <a:t>.</a:t>
            </a:r>
          </a:p>
          <a:p>
            <a:r>
              <a:rPr lang="en-IN" dirty="0" smtClean="0">
                <a:cs typeface="Times New Roman" pitchFamily="18" charset="0"/>
              </a:rPr>
              <a:t> </a:t>
            </a:r>
            <a:r>
              <a:rPr lang="en-IN" dirty="0">
                <a:cs typeface="Times New Roman" pitchFamily="18" charset="0"/>
              </a:rPr>
              <a:t>Reduction gears consist </a:t>
            </a:r>
            <a:r>
              <a:rPr lang="en-IN" dirty="0" smtClean="0">
                <a:cs typeface="Times New Roman" pitchFamily="18" charset="0"/>
              </a:rPr>
              <a:t>of a </a:t>
            </a:r>
            <a:r>
              <a:rPr lang="en-IN" dirty="0">
                <a:cs typeface="Times New Roman" pitchFamily="18" charset="0"/>
              </a:rPr>
              <a:t>small gear driving a larger gear. There may </a:t>
            </a:r>
            <a:r>
              <a:rPr lang="en-IN" dirty="0" smtClean="0">
                <a:cs typeface="Times New Roman" pitchFamily="18" charset="0"/>
              </a:rPr>
              <a:t>be several </a:t>
            </a:r>
            <a:r>
              <a:rPr lang="en-IN" dirty="0">
                <a:cs typeface="Times New Roman" pitchFamily="18" charset="0"/>
              </a:rPr>
              <a:t>sets of these reduction gear sets in </a:t>
            </a:r>
            <a:r>
              <a:rPr lang="en-IN" dirty="0" smtClean="0">
                <a:cs typeface="Times New Roman" pitchFamily="18" charset="0"/>
              </a:rPr>
              <a:t>a reduction </a:t>
            </a:r>
            <a:r>
              <a:rPr lang="en-IN" dirty="0">
                <a:cs typeface="Times New Roman" pitchFamily="18" charset="0"/>
              </a:rPr>
              <a:t>gear box.</a:t>
            </a:r>
            <a:endParaRPr lang="en-IN" sz="2400" dirty="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
        <p:nvSpPr>
          <p:cNvPr id="6" name="Title 1"/>
          <p:cNvSpPr txBox="1">
            <a:spLocks/>
          </p:cNvSpPr>
          <p:nvPr/>
        </p:nvSpPr>
        <p:spPr>
          <a:xfrm>
            <a:off x="838200" y="247560"/>
            <a:ext cx="10515600" cy="791645"/>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ctr">
            <a:normAutofit/>
          </a:bodyPr>
          <a:lstStyle/>
          <a:p>
            <a:pPr algn="ctr"/>
            <a:r>
              <a:rPr lang="en-IN" sz="4400" b="1" dirty="0" smtClean="0">
                <a:latin typeface="+mj-lt"/>
              </a:rPr>
              <a:t>OPERATING PRINCIPLE OF GEAR MOTOR</a:t>
            </a:r>
            <a:endParaRPr lang="en-IN" sz="4400" dirty="0">
              <a:latin typeface="+mj-lt"/>
              <a:cs typeface="Times New Roman"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pPr algn="ctr"/>
            <a:r>
              <a:rPr lang="en-IN" b="1" dirty="0" smtClean="0">
                <a:latin typeface="+mj-lt"/>
                <a:cs typeface="Times New Roman" pitchFamily="18" charset="0"/>
              </a:rPr>
              <a:t>TYPES OF GEAR MOTORS</a:t>
            </a:r>
            <a:endParaRPr lang="en-IN" b="1" dirty="0">
              <a:latin typeface="+mj-lt"/>
            </a:endParaRPr>
          </a:p>
        </p:txBody>
      </p:sp>
      <p:sp>
        <p:nvSpPr>
          <p:cNvPr id="3" name="Content Placeholder 2"/>
          <p:cNvSpPr>
            <a:spLocks noGrp="1"/>
          </p:cNvSpPr>
          <p:nvPr>
            <p:ph idx="1"/>
          </p:nvPr>
        </p:nvSpPr>
        <p:spPr/>
        <p:txBody>
          <a:bodyPr>
            <a:normAutofit/>
          </a:bodyPr>
          <a:lstStyle/>
          <a:p>
            <a:pPr algn="just"/>
            <a:r>
              <a:rPr lang="en-IN" dirty="0">
                <a:cs typeface="Times New Roman" pitchFamily="18" charset="0"/>
              </a:rPr>
              <a:t>Helical gear motor</a:t>
            </a:r>
          </a:p>
          <a:p>
            <a:pPr algn="just"/>
            <a:r>
              <a:rPr lang="en-IN" dirty="0" smtClean="0">
                <a:cs typeface="Times New Roman" pitchFamily="18" charset="0"/>
              </a:rPr>
              <a:t>Shaft </a:t>
            </a:r>
            <a:r>
              <a:rPr lang="en-IN" dirty="0">
                <a:cs typeface="Times New Roman" pitchFamily="18" charset="0"/>
              </a:rPr>
              <a:t>mounted </a:t>
            </a:r>
            <a:r>
              <a:rPr lang="en-IN" dirty="0" smtClean="0">
                <a:cs typeface="Times New Roman" pitchFamily="18" charset="0"/>
              </a:rPr>
              <a:t>gear motor</a:t>
            </a:r>
            <a:endParaRPr lang="en-IN" dirty="0">
              <a:cs typeface="Times New Roman" pitchFamily="18" charset="0"/>
            </a:endParaRPr>
          </a:p>
          <a:p>
            <a:pPr algn="just"/>
            <a:r>
              <a:rPr lang="en-IN" dirty="0" smtClean="0">
                <a:cs typeface="Times New Roman" pitchFamily="18" charset="0"/>
              </a:rPr>
              <a:t>Bevel-geared </a:t>
            </a:r>
            <a:r>
              <a:rPr lang="en-IN" dirty="0">
                <a:cs typeface="Times New Roman" pitchFamily="18" charset="0"/>
              </a:rPr>
              <a:t>motor</a:t>
            </a:r>
          </a:p>
          <a:p>
            <a:pPr algn="just"/>
            <a:r>
              <a:rPr lang="en-IN" dirty="0" smtClean="0">
                <a:cs typeface="Times New Roman" pitchFamily="18" charset="0"/>
              </a:rPr>
              <a:t>Worm </a:t>
            </a:r>
            <a:r>
              <a:rPr lang="en-IN" dirty="0">
                <a:cs typeface="Times New Roman" pitchFamily="18" charset="0"/>
              </a:rPr>
              <a:t>geared motor.</a:t>
            </a:r>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pPr algn="ctr"/>
            <a:r>
              <a:rPr lang="en-IN" b="1" dirty="0" smtClean="0">
                <a:latin typeface="+mj-lt"/>
                <a:cs typeface="Times New Roman" pitchFamily="18" charset="0"/>
              </a:rPr>
              <a:t>FEATURES OF GEAR MOTORS</a:t>
            </a:r>
            <a:endParaRPr lang="en-IN" b="1" dirty="0">
              <a:latin typeface="+mj-lt"/>
            </a:endParaRPr>
          </a:p>
        </p:txBody>
      </p:sp>
      <p:sp>
        <p:nvSpPr>
          <p:cNvPr id="3" name="Content Placeholder 2"/>
          <p:cNvSpPr>
            <a:spLocks noGrp="1"/>
          </p:cNvSpPr>
          <p:nvPr>
            <p:ph idx="1"/>
          </p:nvPr>
        </p:nvSpPr>
        <p:spPr/>
        <p:txBody>
          <a:bodyPr>
            <a:normAutofit/>
          </a:bodyPr>
          <a:lstStyle/>
          <a:p>
            <a:pPr marL="0" indent="0" algn="just">
              <a:buNone/>
            </a:pPr>
            <a:r>
              <a:rPr lang="en-IN" dirty="0">
                <a:cs typeface="Times New Roman" pitchFamily="18" charset="0"/>
              </a:rPr>
              <a:t>Some of the salient features that geared </a:t>
            </a:r>
            <a:r>
              <a:rPr lang="en-IN" dirty="0" smtClean="0">
                <a:cs typeface="Times New Roman" pitchFamily="18" charset="0"/>
              </a:rPr>
              <a:t>motors possess </a:t>
            </a:r>
            <a:r>
              <a:rPr lang="en-IN" dirty="0">
                <a:cs typeface="Times New Roman" pitchFamily="18" charset="0"/>
              </a:rPr>
              <a:t>are:</a:t>
            </a:r>
          </a:p>
          <a:p>
            <a:pPr algn="just"/>
            <a:r>
              <a:rPr lang="en-IN" dirty="0" smtClean="0">
                <a:cs typeface="Times New Roman" pitchFamily="18" charset="0"/>
              </a:rPr>
              <a:t>Available </a:t>
            </a:r>
            <a:r>
              <a:rPr lang="en-IN" dirty="0">
                <a:cs typeface="Times New Roman" pitchFamily="18" charset="0"/>
              </a:rPr>
              <a:t>in standard gear mechanism</a:t>
            </a:r>
          </a:p>
          <a:p>
            <a:pPr algn="just"/>
            <a:r>
              <a:rPr lang="en-IN" dirty="0" smtClean="0">
                <a:cs typeface="Times New Roman" pitchFamily="18" charset="0"/>
              </a:rPr>
              <a:t>Available </a:t>
            </a:r>
            <a:r>
              <a:rPr lang="en-IN" dirty="0">
                <a:cs typeface="Times New Roman" pitchFamily="18" charset="0"/>
              </a:rPr>
              <a:t>in non lubricated metal bearing </a:t>
            </a:r>
            <a:r>
              <a:rPr lang="en-IN" dirty="0" smtClean="0">
                <a:cs typeface="Times New Roman" pitchFamily="18" charset="0"/>
              </a:rPr>
              <a:t>gear mechanism Also</a:t>
            </a:r>
            <a:r>
              <a:rPr lang="en-IN" dirty="0">
                <a:cs typeface="Times New Roman" pitchFamily="18" charset="0"/>
              </a:rPr>
              <a:t>, available in planetary gear mechanism</a:t>
            </a:r>
          </a:p>
          <a:p>
            <a:pPr algn="just"/>
            <a:r>
              <a:rPr lang="en-IN" dirty="0" smtClean="0">
                <a:cs typeface="Times New Roman" pitchFamily="18" charset="0"/>
              </a:rPr>
              <a:t>Provides </a:t>
            </a:r>
            <a:r>
              <a:rPr lang="en-IN" dirty="0">
                <a:cs typeface="Times New Roman" pitchFamily="18" charset="0"/>
              </a:rPr>
              <a:t>speed reduction by the means of a </a:t>
            </a:r>
            <a:r>
              <a:rPr lang="en-IN" dirty="0" smtClean="0">
                <a:cs typeface="Times New Roman" pitchFamily="18" charset="0"/>
              </a:rPr>
              <a:t>gear box Increases </a:t>
            </a:r>
            <a:r>
              <a:rPr lang="en-IN" dirty="0">
                <a:cs typeface="Times New Roman" pitchFamily="18" charset="0"/>
              </a:rPr>
              <a:t>the torque ratio</a:t>
            </a:r>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pPr algn="ctr"/>
            <a:r>
              <a:rPr lang="en-IN" b="1" dirty="0" smtClean="0">
                <a:latin typeface="+mj-lt"/>
                <a:cs typeface="Times New Roman" pitchFamily="18" charset="0"/>
              </a:rPr>
              <a:t>FEATURES OF GEAR MOTORS</a:t>
            </a:r>
            <a:endParaRPr lang="en-IN" b="1" dirty="0">
              <a:latin typeface="+mj-lt"/>
              <a:cs typeface="Times New Roman" pitchFamily="18" charset="0"/>
            </a:endParaRPr>
          </a:p>
        </p:txBody>
      </p:sp>
      <p:sp>
        <p:nvSpPr>
          <p:cNvPr id="3" name="Content Placeholder 2"/>
          <p:cNvSpPr>
            <a:spLocks noGrp="1"/>
          </p:cNvSpPr>
          <p:nvPr>
            <p:ph idx="1"/>
          </p:nvPr>
        </p:nvSpPr>
        <p:spPr/>
        <p:txBody>
          <a:bodyPr>
            <a:normAutofit/>
          </a:bodyPr>
          <a:lstStyle/>
          <a:p>
            <a:pPr algn="just"/>
            <a:r>
              <a:rPr lang="en-IN" dirty="0">
                <a:cs typeface="Times New Roman" pitchFamily="18" charset="0"/>
              </a:rPr>
              <a:t>Provides protection against overload and </a:t>
            </a:r>
            <a:r>
              <a:rPr lang="en-IN" dirty="0" smtClean="0">
                <a:cs typeface="Times New Roman" pitchFamily="18" charset="0"/>
              </a:rPr>
              <a:t>locked rotor</a:t>
            </a:r>
            <a:endParaRPr lang="en-IN" dirty="0">
              <a:cs typeface="Times New Roman" pitchFamily="18" charset="0"/>
            </a:endParaRPr>
          </a:p>
          <a:p>
            <a:pPr algn="just"/>
            <a:r>
              <a:rPr lang="en-IN" dirty="0" smtClean="0">
                <a:cs typeface="Times New Roman" pitchFamily="18" charset="0"/>
              </a:rPr>
              <a:t>Used </a:t>
            </a:r>
            <a:r>
              <a:rPr lang="en-IN" dirty="0">
                <a:cs typeface="Times New Roman" pitchFamily="18" charset="0"/>
              </a:rPr>
              <a:t>as precautions for instantaneous reversing </a:t>
            </a:r>
            <a:r>
              <a:rPr lang="en-IN" dirty="0" smtClean="0">
                <a:cs typeface="Times New Roman" pitchFamily="18" charset="0"/>
              </a:rPr>
              <a:t>and dynamic </a:t>
            </a:r>
            <a:r>
              <a:rPr lang="en-IN" dirty="0">
                <a:cs typeface="Times New Roman" pitchFamily="18" charset="0"/>
              </a:rPr>
              <a:t>braking</a:t>
            </a:r>
          </a:p>
          <a:p>
            <a:pPr algn="just"/>
            <a:r>
              <a:rPr lang="en-IN" dirty="0" smtClean="0">
                <a:cs typeface="Times New Roman" pitchFamily="18" charset="0"/>
              </a:rPr>
              <a:t>Used </a:t>
            </a:r>
            <a:r>
              <a:rPr lang="en-IN" dirty="0">
                <a:cs typeface="Times New Roman" pitchFamily="18" charset="0"/>
              </a:rPr>
              <a:t>in speed detection and control</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8"/>
          <p:cNvSpPr txBox="1">
            <a:spLocks noChangeArrowheads="1"/>
          </p:cNvSpPr>
          <p:nvPr/>
        </p:nvSpPr>
        <p:spPr bwMode="auto">
          <a:xfrm>
            <a:off x="627016" y="1489166"/>
            <a:ext cx="6716759" cy="3539430"/>
          </a:xfrm>
          <a:prstGeom prst="rect">
            <a:avLst/>
          </a:prstGeom>
          <a:noFill/>
          <a:ln w="9525">
            <a:noFill/>
            <a:miter lim="800000"/>
            <a:headEnd/>
            <a:tailEnd/>
          </a:ln>
        </p:spPr>
        <p:txBody>
          <a:bodyPr wrap="square">
            <a:spAutoFit/>
          </a:bodyPr>
          <a:lstStyle/>
          <a:p>
            <a:r>
              <a:rPr lang="en-IN" sz="2800" dirty="0"/>
              <a:t>The main aim of using gear motors are:</a:t>
            </a:r>
          </a:p>
          <a:p>
            <a:r>
              <a:rPr lang="en-IN" sz="2800" dirty="0"/>
              <a:t>• Everything in one box</a:t>
            </a:r>
          </a:p>
          <a:p>
            <a:r>
              <a:rPr lang="en-IN" sz="2800" dirty="0"/>
              <a:t>• Easy to Control</a:t>
            </a:r>
          </a:p>
          <a:p>
            <a:r>
              <a:rPr lang="en-IN" sz="2800" dirty="0"/>
              <a:t>• Wide range of sizes, speeds </a:t>
            </a:r>
            <a:r>
              <a:rPr lang="en-IN" sz="2800" dirty="0" smtClean="0"/>
              <a:t>and options</a:t>
            </a:r>
            <a:endParaRPr lang="en-IN" sz="2800" dirty="0"/>
          </a:p>
          <a:p>
            <a:r>
              <a:rPr lang="en-IN" sz="2800" dirty="0"/>
              <a:t>• Mounting</a:t>
            </a:r>
          </a:p>
          <a:p>
            <a:r>
              <a:rPr lang="en-IN" sz="2800" dirty="0"/>
              <a:t>• Durability</a:t>
            </a:r>
            <a:endParaRPr lang="en-US" sz="2800" dirty="0"/>
          </a:p>
          <a:p>
            <a:pPr algn="just"/>
            <a:endParaRPr lang="en-US" sz="2800" dirty="0"/>
          </a:p>
          <a:p>
            <a:pPr algn="just"/>
            <a:endParaRPr lang="en-US" sz="2800" dirty="0"/>
          </a:p>
        </p:txBody>
      </p:sp>
      <p:sp>
        <p:nvSpPr>
          <p:cNvPr id="8" name="Title 1"/>
          <p:cNvSpPr txBox="1">
            <a:spLocks/>
          </p:cNvSpPr>
          <p:nvPr/>
        </p:nvSpPr>
        <p:spPr>
          <a:xfrm>
            <a:off x="1255486" y="293914"/>
            <a:ext cx="9970702" cy="838200"/>
          </a:xfrm>
          <a:prstGeom prst="rect">
            <a:avLst/>
          </a:prstGeom>
          <a:solidFill>
            <a:schemeClr val="bg1"/>
          </a:solidFill>
          <a:ln>
            <a:solidFill>
              <a:schemeClr val="tx1"/>
            </a:solidFill>
          </a:ln>
        </p:spPr>
        <p:txBody>
          <a:bodyPr>
            <a:normAutofit/>
          </a:bodyPr>
          <a:lstStyle/>
          <a:p>
            <a:pPr algn="ctr">
              <a:defRPr/>
            </a:pPr>
            <a:r>
              <a:rPr lang="en-US" sz="4400" dirty="0" smtClean="0">
                <a:solidFill>
                  <a:schemeClr val="bg1"/>
                </a:solidFill>
                <a:latin typeface="+mj-lt"/>
                <a:cs typeface="Arial" charset="0"/>
              </a:rPr>
              <a:t> </a:t>
            </a:r>
            <a:r>
              <a:rPr lang="en-IN" sz="4400" b="1" dirty="0" smtClean="0">
                <a:latin typeface="+mj-lt"/>
              </a:rPr>
              <a:t>MAIN AIM OF USING GEAR MOTORS</a:t>
            </a:r>
            <a:endParaRPr lang="en-US" sz="4400" b="1" dirty="0">
              <a:solidFill>
                <a:schemeClr val="bg1"/>
              </a:solidFill>
              <a:latin typeface="+mj-lt"/>
              <a:cs typeface="Times New Roman" pitchFamily="18" charset="0"/>
            </a:endParaRPr>
          </a:p>
        </p:txBody>
      </p:sp>
      <p:sp>
        <p:nvSpPr>
          <p:cNvPr id="17413" name="AutoShape 2" descr="https://learning.oreilly.com/library/view/understanding-dc-circuits/9780750671101/images/B9780080519944500061/f01-11-9780750671101.jpg"/>
          <p:cNvSpPr>
            <a:spLocks noChangeAspect="1" noChangeArrowheads="1"/>
          </p:cNvSpPr>
          <p:nvPr/>
        </p:nvSpPr>
        <p:spPr bwMode="auto">
          <a:xfrm>
            <a:off x="207433" y="-144463"/>
            <a:ext cx="406400" cy="304801"/>
          </a:xfrm>
          <a:prstGeom prst="rect">
            <a:avLst/>
          </a:prstGeom>
          <a:noFill/>
          <a:ln w="9525">
            <a:noFill/>
            <a:miter lim="800000"/>
            <a:headEnd/>
            <a:tailEnd/>
          </a:ln>
        </p:spPr>
        <p:txBody>
          <a:bodyPr/>
          <a:lstStyle/>
          <a:p>
            <a:endParaRPr lang="en-US"/>
          </a:p>
        </p:txBody>
      </p:sp>
    </p:spTree>
    <p:extLst>
      <p:ext uri="{BB962C8B-B14F-4D97-AF65-F5344CB8AC3E}">
        <p14:creationId xmlns:p14="http://schemas.microsoft.com/office/powerpoint/2010/main" val="273448362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1255486" y="293914"/>
            <a:ext cx="9970702" cy="838200"/>
          </a:xfrm>
          <a:prstGeom prst="rect">
            <a:avLst/>
          </a:prstGeom>
          <a:solidFill>
            <a:schemeClr val="bg1"/>
          </a:solidFill>
          <a:ln>
            <a:solidFill>
              <a:schemeClr val="tx1"/>
            </a:solidFill>
          </a:ln>
        </p:spPr>
        <p:txBody>
          <a:bodyPr>
            <a:normAutofit/>
          </a:bodyPr>
          <a:lstStyle/>
          <a:p>
            <a:pPr algn="ctr">
              <a:defRPr/>
            </a:pPr>
            <a:r>
              <a:rPr lang="en-US" sz="4400" dirty="0" smtClean="0">
                <a:solidFill>
                  <a:schemeClr val="bg1"/>
                </a:solidFill>
                <a:latin typeface="+mj-lt"/>
                <a:cs typeface="Arial" charset="0"/>
              </a:rPr>
              <a:t> </a:t>
            </a:r>
            <a:r>
              <a:rPr lang="en-IN" sz="4400" b="1" dirty="0" smtClean="0">
                <a:latin typeface="+mj-lt"/>
              </a:rPr>
              <a:t>APPLICATIONS OF GEAR MOTOR</a:t>
            </a:r>
            <a:endParaRPr lang="en-US" sz="4400" b="1" dirty="0">
              <a:solidFill>
                <a:schemeClr val="bg1"/>
              </a:solidFill>
              <a:latin typeface="+mj-lt"/>
              <a:cs typeface="Times New Roman" pitchFamily="18" charset="0"/>
            </a:endParaRPr>
          </a:p>
        </p:txBody>
      </p:sp>
      <p:sp>
        <p:nvSpPr>
          <p:cNvPr id="17413" name="AutoShape 2" descr="https://learning.oreilly.com/library/view/understanding-dc-circuits/9780750671101/images/B9780080519944500061/f01-11-9780750671101.jpg"/>
          <p:cNvSpPr>
            <a:spLocks noChangeAspect="1" noChangeArrowheads="1"/>
          </p:cNvSpPr>
          <p:nvPr/>
        </p:nvSpPr>
        <p:spPr bwMode="auto">
          <a:xfrm>
            <a:off x="207433" y="-144463"/>
            <a:ext cx="406400" cy="304801"/>
          </a:xfrm>
          <a:prstGeom prst="rect">
            <a:avLst/>
          </a:prstGeom>
          <a:noFill/>
          <a:ln w="9525">
            <a:noFill/>
            <a:miter lim="800000"/>
            <a:headEnd/>
            <a:tailEnd/>
          </a:ln>
        </p:spPr>
        <p:txBody>
          <a:bodyPr/>
          <a:lstStyle/>
          <a:p>
            <a:endParaRPr lang="en-US"/>
          </a:p>
        </p:txBody>
      </p:sp>
      <p:sp>
        <p:nvSpPr>
          <p:cNvPr id="2" name="Rectangle 1"/>
          <p:cNvSpPr/>
          <p:nvPr/>
        </p:nvSpPr>
        <p:spPr>
          <a:xfrm>
            <a:off x="585784" y="1558344"/>
            <a:ext cx="10103077" cy="2677656"/>
          </a:xfrm>
          <a:prstGeom prst="rect">
            <a:avLst/>
          </a:prstGeom>
        </p:spPr>
        <p:txBody>
          <a:bodyPr wrap="square">
            <a:spAutoFit/>
          </a:bodyPr>
          <a:lstStyle/>
          <a:p>
            <a:pPr algn="just">
              <a:buFont typeface="Arial" pitchFamily="34" charset="0"/>
              <a:buChar char="•"/>
            </a:pPr>
            <a:r>
              <a:rPr lang="en-IN" sz="2800" dirty="0" smtClean="0">
                <a:cs typeface="Times New Roman" pitchFamily="18" charset="0"/>
              </a:rPr>
              <a:t>Garage door openers</a:t>
            </a:r>
          </a:p>
          <a:p>
            <a:pPr algn="just">
              <a:buFont typeface="Arial" pitchFamily="34" charset="0"/>
              <a:buChar char="•"/>
            </a:pPr>
            <a:r>
              <a:rPr lang="en-IN" sz="2800" dirty="0" smtClean="0">
                <a:cs typeface="Times New Roman" pitchFamily="18" charset="0"/>
              </a:rPr>
              <a:t>Stair lifts </a:t>
            </a:r>
          </a:p>
          <a:p>
            <a:pPr algn="just">
              <a:buFont typeface="Arial" pitchFamily="34" charset="0"/>
              <a:buChar char="•"/>
            </a:pPr>
            <a:r>
              <a:rPr lang="en-IN" sz="2800" dirty="0" smtClean="0">
                <a:cs typeface="Times New Roman" pitchFamily="18" charset="0"/>
              </a:rPr>
              <a:t>Timer </a:t>
            </a:r>
            <a:r>
              <a:rPr lang="en-IN" sz="2800" dirty="0">
                <a:cs typeface="Times New Roman" pitchFamily="18" charset="0"/>
              </a:rPr>
              <a:t>cycle knobs </a:t>
            </a:r>
            <a:r>
              <a:rPr lang="en-IN" sz="2800" dirty="0" smtClean="0">
                <a:cs typeface="Times New Roman" pitchFamily="18" charset="0"/>
              </a:rPr>
              <a:t>on washing machines </a:t>
            </a:r>
          </a:p>
          <a:p>
            <a:pPr algn="just">
              <a:buFont typeface="Arial" pitchFamily="34" charset="0"/>
              <a:buChar char="•"/>
            </a:pPr>
            <a:r>
              <a:rPr lang="en-IN" sz="2800" dirty="0" smtClean="0">
                <a:cs typeface="Times New Roman" pitchFamily="18" charset="0"/>
              </a:rPr>
              <a:t>Power drills </a:t>
            </a:r>
          </a:p>
          <a:p>
            <a:pPr algn="just">
              <a:buFont typeface="Arial" pitchFamily="34" charset="0"/>
              <a:buChar char="•"/>
            </a:pPr>
            <a:r>
              <a:rPr lang="en-IN" sz="2800" dirty="0" smtClean="0">
                <a:cs typeface="Times New Roman" pitchFamily="18" charset="0"/>
              </a:rPr>
              <a:t>Cake mixers</a:t>
            </a:r>
          </a:p>
          <a:p>
            <a:pPr algn="just">
              <a:buFont typeface="Arial" pitchFamily="34" charset="0"/>
              <a:buChar char="•"/>
            </a:pPr>
            <a:r>
              <a:rPr lang="en-IN" sz="2800" dirty="0" smtClean="0">
                <a:cs typeface="Times New Roman" pitchFamily="18" charset="0"/>
              </a:rPr>
              <a:t>Electromechanical clocks</a:t>
            </a:r>
            <a:endParaRPr lang="en-IN" sz="2400" dirty="0"/>
          </a:p>
        </p:txBody>
      </p:sp>
    </p:spTree>
    <p:extLst>
      <p:ext uri="{BB962C8B-B14F-4D97-AF65-F5344CB8AC3E}">
        <p14:creationId xmlns:p14="http://schemas.microsoft.com/office/powerpoint/2010/main" val="273448362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1971" y="1429555"/>
            <a:ext cx="7276564" cy="5235262"/>
          </a:xfrm>
        </p:spPr>
        <p:txBody>
          <a:bodyPr>
            <a:noAutofit/>
          </a:bodyPr>
          <a:lstStyle/>
          <a:p>
            <a:pPr marL="342900" indent="-342900" algn="just"/>
            <a:r>
              <a:rPr lang="en-IN" dirty="0" smtClean="0">
                <a:cs typeface="Times New Roman" pitchFamily="18" charset="0"/>
              </a:rPr>
              <a:t>In </a:t>
            </a:r>
            <a:r>
              <a:rPr lang="en-IN" dirty="0">
                <a:cs typeface="Times New Roman" pitchFamily="18" charset="0"/>
              </a:rPr>
              <a:t>modern usage the term servo or servo-mechanism is restricted to a feedback control system in which the controlled variable is mechanical position or time derivatives of position such as velocity and acceleration</a:t>
            </a:r>
            <a:r>
              <a:rPr lang="en-IN" dirty="0" smtClean="0">
                <a:cs typeface="Times New Roman" pitchFamily="18" charset="0"/>
              </a:rPr>
              <a:t>.</a:t>
            </a:r>
          </a:p>
          <a:p>
            <a:pPr marL="342900" indent="-342900" algn="just"/>
            <a:r>
              <a:rPr lang="en-IN" dirty="0" smtClean="0">
                <a:cs typeface="Times New Roman" pitchFamily="18" charset="0"/>
              </a:rPr>
              <a:t> </a:t>
            </a:r>
            <a:r>
              <a:rPr lang="en-IN" dirty="0">
                <a:cs typeface="Times New Roman" pitchFamily="18" charset="0"/>
              </a:rPr>
              <a:t>A servo is a device, electrical, mechanical or electro mechanical, that upon receipt of a </a:t>
            </a:r>
            <a:r>
              <a:rPr lang="en-IN" dirty="0" smtClean="0">
                <a:cs typeface="Times New Roman" pitchFamily="18" charset="0"/>
              </a:rPr>
              <a:t>input </a:t>
            </a:r>
            <a:r>
              <a:rPr lang="en-IN" dirty="0">
                <a:cs typeface="Times New Roman" pitchFamily="18" charset="0"/>
              </a:rPr>
              <a:t>will employ feedback for velocity and/or position control, creating a closed loop. </a:t>
            </a:r>
            <a:endParaRPr lang="en-US" dirty="0" smtClean="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
        <p:nvSpPr>
          <p:cNvPr id="6" name="Rectangle 5"/>
          <p:cNvSpPr/>
          <p:nvPr/>
        </p:nvSpPr>
        <p:spPr>
          <a:xfrm>
            <a:off x="7843234" y="5232970"/>
            <a:ext cx="3811736" cy="623239"/>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t>http://eee-resetsg.blogspot.com/2016/01/construction-of-simple-servo-motor.html</a:t>
            </a:r>
            <a:endParaRPr lang="en-US" sz="1400" dirty="0">
              <a:solidFill>
                <a:srgbClr val="00B0F0"/>
              </a:solidFill>
            </a:endParaRPr>
          </a:p>
        </p:txBody>
      </p:sp>
      <p:sp>
        <p:nvSpPr>
          <p:cNvPr id="7" name="Title 1"/>
          <p:cNvSpPr txBox="1">
            <a:spLocks/>
          </p:cNvSpPr>
          <p:nvPr/>
        </p:nvSpPr>
        <p:spPr>
          <a:xfrm>
            <a:off x="1059543" y="244658"/>
            <a:ext cx="9575074" cy="1119686"/>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p>
            <a:pPr lvl="0" algn="ctr">
              <a:lnSpc>
                <a:spcPct val="90000"/>
              </a:lnSpc>
              <a:spcBef>
                <a:spcPct val="0"/>
              </a:spcBef>
              <a:defRPr/>
            </a:pPr>
            <a:r>
              <a:rPr lang="en-IN" sz="4400" b="1" dirty="0" smtClean="0">
                <a:latin typeface="+mj-lt"/>
                <a:cs typeface="Times New Roman" pitchFamily="18" charset="0"/>
              </a:rPr>
              <a:t>WHAT IS THE MEANING OF SERVO?</a:t>
            </a:r>
            <a:endParaRPr kumimoji="0" lang="en-IN" sz="4400" b="1" i="0" strike="noStrike" kern="1200" cap="none" spc="0" normalizeH="0" baseline="0" noProof="0" dirty="0">
              <a:ln>
                <a:noFill/>
              </a:ln>
              <a:solidFill>
                <a:schemeClr val="dk1"/>
              </a:solidFill>
              <a:effectLst/>
              <a:uLnTx/>
              <a:uFillTx/>
              <a:latin typeface="+mj-lt"/>
              <a:cs typeface="Times New Roman" pitchFamily="18" charset="0"/>
            </a:endParaRPr>
          </a:p>
        </p:txBody>
      </p:sp>
      <p:sp>
        <p:nvSpPr>
          <p:cNvPr id="8" name="Rectangle 7"/>
          <p:cNvSpPr/>
          <p:nvPr/>
        </p:nvSpPr>
        <p:spPr>
          <a:xfrm>
            <a:off x="8893868" y="4788239"/>
            <a:ext cx="2362879" cy="369332"/>
          </a:xfrm>
          <a:prstGeom prst="rect">
            <a:avLst/>
          </a:prstGeom>
        </p:spPr>
        <p:txBody>
          <a:bodyPr wrap="square">
            <a:spAutoFit/>
          </a:bodyPr>
          <a:lstStyle/>
          <a:p>
            <a:r>
              <a:rPr lang="en-US" dirty="0" smtClean="0"/>
              <a:t>Fig-1 (Servo Motor)</a:t>
            </a:r>
            <a:endParaRPr lang="en-IN" dirty="0"/>
          </a:p>
        </p:txBody>
      </p:sp>
      <p:pic>
        <p:nvPicPr>
          <p:cNvPr id="205825" name="Picture 1"/>
          <p:cNvPicPr>
            <a:picLocks noChangeAspect="1" noChangeArrowheads="1"/>
          </p:cNvPicPr>
          <p:nvPr/>
        </p:nvPicPr>
        <p:blipFill>
          <a:blip r:embed="rId3" cstate="print"/>
          <a:srcRect/>
          <a:stretch>
            <a:fillRect/>
          </a:stretch>
        </p:blipFill>
        <p:spPr bwMode="auto">
          <a:xfrm>
            <a:off x="7737318" y="1569413"/>
            <a:ext cx="4238625" cy="3079860"/>
          </a:xfrm>
          <a:prstGeom prst="rect">
            <a:avLst/>
          </a:prstGeom>
          <a:noFill/>
          <a:ln w="9525">
            <a:noFill/>
            <a:miter lim="800000"/>
            <a:headEnd/>
            <a:tailEnd/>
          </a:ln>
        </p:spPr>
      </p:pic>
    </p:spTree>
    <p:extLst>
      <p:ext uri="{BB962C8B-B14F-4D97-AF65-F5344CB8AC3E}">
        <p14:creationId xmlns:p14="http://schemas.microsoft.com/office/powerpoint/2010/main" val="60491197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1255486" y="293914"/>
            <a:ext cx="9970702" cy="838200"/>
          </a:xfrm>
          <a:prstGeom prst="rect">
            <a:avLst/>
          </a:prstGeom>
          <a:solidFill>
            <a:schemeClr val="bg1"/>
          </a:solidFill>
          <a:ln>
            <a:solidFill>
              <a:schemeClr val="tx1"/>
            </a:solidFill>
          </a:ln>
        </p:spPr>
        <p:txBody>
          <a:bodyPr>
            <a:normAutofit/>
          </a:bodyPr>
          <a:lstStyle/>
          <a:p>
            <a:pPr algn="ctr">
              <a:defRPr/>
            </a:pPr>
            <a:r>
              <a:rPr lang="en-US" sz="4400" dirty="0" smtClean="0">
                <a:solidFill>
                  <a:schemeClr val="bg1"/>
                </a:solidFill>
                <a:latin typeface="+mj-lt"/>
                <a:cs typeface="Arial" charset="0"/>
              </a:rPr>
              <a:t> </a:t>
            </a:r>
            <a:r>
              <a:rPr lang="en-IN" sz="4400" b="1" dirty="0" smtClean="0">
                <a:latin typeface="+mj-lt"/>
              </a:rPr>
              <a:t>CONSTRUCTION OF SERVO MOTOR</a:t>
            </a:r>
          </a:p>
          <a:p>
            <a:pPr algn="ctr">
              <a:defRPr/>
            </a:pPr>
            <a:endParaRPr lang="en-US" sz="4400" b="1" dirty="0">
              <a:solidFill>
                <a:schemeClr val="bg1"/>
              </a:solidFill>
              <a:latin typeface="+mj-lt"/>
              <a:cs typeface="Times New Roman" pitchFamily="18" charset="0"/>
            </a:endParaRPr>
          </a:p>
        </p:txBody>
      </p:sp>
      <p:sp>
        <p:nvSpPr>
          <p:cNvPr id="17413" name="AutoShape 2" descr="https://learning.oreilly.com/library/view/understanding-dc-circuits/9780750671101/images/B9780080519944500061/f01-11-9780750671101.jpg"/>
          <p:cNvSpPr>
            <a:spLocks noChangeAspect="1" noChangeArrowheads="1"/>
          </p:cNvSpPr>
          <p:nvPr/>
        </p:nvSpPr>
        <p:spPr bwMode="auto">
          <a:xfrm>
            <a:off x="207433" y="-144463"/>
            <a:ext cx="406400" cy="304801"/>
          </a:xfrm>
          <a:prstGeom prst="rect">
            <a:avLst/>
          </a:prstGeom>
          <a:noFill/>
          <a:ln w="9525">
            <a:noFill/>
            <a:miter lim="800000"/>
            <a:headEnd/>
            <a:tailEnd/>
          </a:ln>
        </p:spPr>
        <p:txBody>
          <a:bodyPr/>
          <a:lstStyle/>
          <a:p>
            <a:endParaRPr lang="en-US"/>
          </a:p>
        </p:txBody>
      </p:sp>
      <p:sp>
        <p:nvSpPr>
          <p:cNvPr id="2" name="Rectangle 1"/>
          <p:cNvSpPr/>
          <p:nvPr/>
        </p:nvSpPr>
        <p:spPr>
          <a:xfrm>
            <a:off x="3966693" y="5521067"/>
            <a:ext cx="3828648"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IN" dirty="0" smtClean="0"/>
              <a:t>Fig-2(construction of servo motor)</a:t>
            </a:r>
          </a:p>
        </p:txBody>
      </p:sp>
      <p:sp>
        <p:nvSpPr>
          <p:cNvPr id="9" name="TextBox 8"/>
          <p:cNvSpPr txBox="1"/>
          <p:nvPr/>
        </p:nvSpPr>
        <p:spPr>
          <a:xfrm>
            <a:off x="3206839" y="6001555"/>
            <a:ext cx="5254580"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smtClean="0"/>
              <a:t>https://electricalbaba.com/basics-of-servomechanism-and-servo-motor/</a:t>
            </a:r>
            <a:endParaRPr lang="en-US" dirty="0"/>
          </a:p>
        </p:txBody>
      </p:sp>
      <p:pic>
        <p:nvPicPr>
          <p:cNvPr id="159748" name="Picture 4" descr="Basics of Servomechanism and Servo Motor | Electrical Concepts"/>
          <p:cNvPicPr>
            <a:picLocks noChangeAspect="1" noChangeArrowheads="1"/>
          </p:cNvPicPr>
          <p:nvPr/>
        </p:nvPicPr>
        <p:blipFill>
          <a:blip r:embed="rId3" cstate="print"/>
          <a:srcRect/>
          <a:stretch>
            <a:fillRect/>
          </a:stretch>
        </p:blipFill>
        <p:spPr bwMode="auto">
          <a:xfrm>
            <a:off x="2202287" y="1363124"/>
            <a:ext cx="7237927" cy="389022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73448362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8"/>
          <p:cNvSpPr txBox="1">
            <a:spLocks noChangeArrowheads="1"/>
          </p:cNvSpPr>
          <p:nvPr/>
        </p:nvSpPr>
        <p:spPr bwMode="auto">
          <a:xfrm>
            <a:off x="833078" y="1038406"/>
            <a:ext cx="10925332" cy="5324535"/>
          </a:xfrm>
          <a:prstGeom prst="rect">
            <a:avLst/>
          </a:prstGeom>
          <a:noFill/>
          <a:ln w="9525">
            <a:noFill/>
            <a:miter lim="800000"/>
            <a:headEnd/>
            <a:tailEnd/>
          </a:ln>
        </p:spPr>
        <p:txBody>
          <a:bodyPr wrap="square">
            <a:spAutoFit/>
          </a:bodyPr>
          <a:lstStyle/>
          <a:p>
            <a:pPr algn="just"/>
            <a:r>
              <a:rPr lang="en-IN" sz="2000" dirty="0" smtClean="0">
                <a:cs typeface="Times New Roman" pitchFamily="18" charset="0"/>
              </a:rPr>
              <a:t>It is having three major parts:</a:t>
            </a:r>
          </a:p>
          <a:p>
            <a:pPr marL="514350" indent="-514350" algn="just">
              <a:buAutoNum type="arabicPeriod"/>
            </a:pPr>
            <a:r>
              <a:rPr lang="en-IN" sz="2000" dirty="0" smtClean="0">
                <a:cs typeface="Times New Roman" pitchFamily="18" charset="0"/>
              </a:rPr>
              <a:t>Controlled device</a:t>
            </a:r>
            <a:endParaRPr lang="en-US" sz="2000" dirty="0" smtClean="0">
              <a:cs typeface="Times New Roman" pitchFamily="18" charset="0"/>
            </a:endParaRPr>
          </a:p>
          <a:p>
            <a:pPr marL="514350" indent="-514350" algn="just">
              <a:buAutoNum type="arabicPeriod"/>
            </a:pPr>
            <a:r>
              <a:rPr lang="en-US" sz="2000" dirty="0" smtClean="0">
                <a:cs typeface="Times New Roman" pitchFamily="18" charset="0"/>
              </a:rPr>
              <a:t>Feedback system</a:t>
            </a:r>
          </a:p>
          <a:p>
            <a:pPr marL="514350" indent="-514350" algn="just">
              <a:buAutoNum type="arabicPeriod"/>
            </a:pPr>
            <a:r>
              <a:rPr lang="en-US" sz="2000" dirty="0" smtClean="0">
                <a:cs typeface="Times New Roman" pitchFamily="18" charset="0"/>
              </a:rPr>
              <a:t>Output sensor</a:t>
            </a:r>
          </a:p>
          <a:p>
            <a:pPr marL="514350" indent="-514350" algn="just">
              <a:buFont typeface="Wingdings" pitchFamily="2" charset="2"/>
              <a:buChar char="Ø"/>
            </a:pPr>
            <a:r>
              <a:rPr lang="en-US" sz="2000" dirty="0" smtClean="0"/>
              <a:t>The servo motor works on the phenomenon of the automatic closed-loop system. The controller is required for this closed-loop system. </a:t>
            </a:r>
          </a:p>
          <a:p>
            <a:pPr marL="514350" indent="-514350" algn="just">
              <a:buFont typeface="Wingdings" pitchFamily="2" charset="2"/>
              <a:buChar char="Ø"/>
            </a:pPr>
            <a:r>
              <a:rPr lang="en-US" sz="2000" dirty="0" smtClean="0"/>
              <a:t>This controller is composed of a comparator and a feedback path. It has one output and two inputs.</a:t>
            </a:r>
          </a:p>
          <a:p>
            <a:pPr marL="514350" indent="-514350" algn="just">
              <a:buFont typeface="Wingdings" pitchFamily="2" charset="2"/>
              <a:buChar char="Ø"/>
            </a:pPr>
            <a:r>
              <a:rPr lang="en-US" sz="2000" dirty="0" smtClean="0"/>
              <a:t>In this, for producing an output signal, the comparator is used to compare the required reference signal and this output signal is sensed by the sensor. The input signal for the motor is termed as a feedback signal.</a:t>
            </a:r>
          </a:p>
          <a:p>
            <a:pPr marL="514350" indent="-514350" algn="just">
              <a:buFont typeface="Wingdings" pitchFamily="2" charset="2"/>
              <a:buChar char="Ø"/>
            </a:pPr>
            <a:r>
              <a:rPr lang="en-US" sz="2000" dirty="0" smtClean="0"/>
              <a:t>On the basis of the feedback signal, the motor starts working. Comparator signal is called a logic signal of the motor.</a:t>
            </a:r>
          </a:p>
          <a:p>
            <a:pPr marL="514350" indent="-514350" algn="just">
              <a:buFont typeface="Wingdings" pitchFamily="2" charset="2"/>
              <a:buChar char="Ø"/>
            </a:pPr>
            <a:r>
              <a:rPr lang="en-US" sz="2000" dirty="0" smtClean="0"/>
              <a:t>The motor would be ON for the desired time when the logical difference is higher and the motor would be OFF for the desired time when the logical difference is lower.</a:t>
            </a:r>
          </a:p>
          <a:p>
            <a:pPr marL="514350" indent="-514350" algn="just">
              <a:buFont typeface="Wingdings" pitchFamily="2" charset="2"/>
              <a:buChar char="Ø"/>
            </a:pPr>
            <a:r>
              <a:rPr lang="en-US" sz="2000" dirty="0" smtClean="0"/>
              <a:t>Basically, a comparator is used to decide that motor would be ON or OFF. Proper functioning of the motor can be done with the help of a good controller.</a:t>
            </a:r>
            <a:endParaRPr lang="en-IN" sz="2000" dirty="0" smtClean="0">
              <a:latin typeface="Times New Roman" pitchFamily="18" charset="0"/>
              <a:cs typeface="Times New Roman" pitchFamily="18" charset="0"/>
            </a:endParaRPr>
          </a:p>
        </p:txBody>
      </p:sp>
      <p:sp>
        <p:nvSpPr>
          <p:cNvPr id="8" name="Title 1"/>
          <p:cNvSpPr txBox="1">
            <a:spLocks/>
          </p:cNvSpPr>
          <p:nvPr/>
        </p:nvSpPr>
        <p:spPr>
          <a:xfrm>
            <a:off x="1242607" y="190883"/>
            <a:ext cx="9970702" cy="633365"/>
          </a:xfrm>
          <a:prstGeom prst="rect">
            <a:avLst/>
          </a:prstGeom>
          <a:solidFill>
            <a:schemeClr val="bg1"/>
          </a:solidFill>
          <a:ln>
            <a:solidFill>
              <a:schemeClr val="tx1"/>
            </a:solidFill>
          </a:ln>
        </p:spPr>
        <p:txBody>
          <a:bodyPr>
            <a:normAutofit fontScale="92500" lnSpcReduction="20000"/>
          </a:bodyPr>
          <a:lstStyle/>
          <a:p>
            <a:pPr algn="ctr">
              <a:defRPr/>
            </a:pPr>
            <a:r>
              <a:rPr lang="en-US" sz="4400" cap="all" dirty="0">
                <a:solidFill>
                  <a:schemeClr val="bg1"/>
                </a:solidFill>
                <a:latin typeface="+mj-lt"/>
                <a:cs typeface="Arial" charset="0"/>
              </a:rPr>
              <a:t> </a:t>
            </a:r>
            <a:r>
              <a:rPr lang="en-IN" sz="4000" b="1" dirty="0">
                <a:latin typeface="+mj-lt"/>
              </a:rPr>
              <a:t>Working principle of </a:t>
            </a:r>
            <a:r>
              <a:rPr lang="en-IN" sz="4000" b="1" dirty="0" smtClean="0">
                <a:latin typeface="+mj-lt"/>
              </a:rPr>
              <a:t>Servomotor</a:t>
            </a:r>
            <a:endParaRPr lang="en-US" sz="4000" b="1" cap="all" dirty="0">
              <a:solidFill>
                <a:schemeClr val="bg1"/>
              </a:solidFill>
              <a:latin typeface="+mj-lt"/>
              <a:cs typeface="Times New Roman" pitchFamily="18" charset="0"/>
            </a:endParaRPr>
          </a:p>
        </p:txBody>
      </p:sp>
      <p:sp>
        <p:nvSpPr>
          <p:cNvPr id="17413" name="AutoShape 2" descr="https://learning.oreilly.com/library/view/understanding-dc-circuits/9780750671101/images/B9780080519944500061/f01-11-9780750671101.jpg"/>
          <p:cNvSpPr>
            <a:spLocks noChangeAspect="1" noChangeArrowheads="1"/>
          </p:cNvSpPr>
          <p:nvPr/>
        </p:nvSpPr>
        <p:spPr bwMode="auto">
          <a:xfrm>
            <a:off x="207433" y="-144463"/>
            <a:ext cx="406400" cy="304801"/>
          </a:xfrm>
          <a:prstGeom prst="rect">
            <a:avLst/>
          </a:prstGeom>
          <a:noFill/>
          <a:ln w="9525">
            <a:noFill/>
            <a:miter lim="800000"/>
            <a:headEnd/>
            <a:tailEnd/>
          </a:ln>
        </p:spPr>
        <p:txBody>
          <a:bodyPr/>
          <a:lstStyle/>
          <a:p>
            <a:endParaRPr lang="en-US"/>
          </a:p>
        </p:txBody>
      </p:sp>
    </p:spTree>
    <p:extLst>
      <p:ext uri="{BB962C8B-B14F-4D97-AF65-F5344CB8AC3E}">
        <p14:creationId xmlns:p14="http://schemas.microsoft.com/office/powerpoint/2010/main" val="273448362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8"/>
          <p:cNvSpPr txBox="1">
            <a:spLocks noChangeArrowheads="1"/>
          </p:cNvSpPr>
          <p:nvPr/>
        </p:nvSpPr>
        <p:spPr bwMode="auto">
          <a:xfrm>
            <a:off x="627016" y="1489166"/>
            <a:ext cx="10254343" cy="3539430"/>
          </a:xfrm>
          <a:prstGeom prst="rect">
            <a:avLst/>
          </a:prstGeom>
          <a:noFill/>
          <a:ln w="9525">
            <a:noFill/>
            <a:miter lim="800000"/>
            <a:headEnd/>
            <a:tailEnd/>
          </a:ln>
        </p:spPr>
        <p:txBody>
          <a:bodyPr wrap="square">
            <a:spAutoFit/>
          </a:bodyPr>
          <a:lstStyle/>
          <a:p>
            <a:pPr marL="342900" indent="-342900" algn="just">
              <a:buFont typeface="Wingdings" pitchFamily="2" charset="2"/>
              <a:buChar char="ü"/>
            </a:pPr>
            <a:r>
              <a:rPr lang="en-IN" sz="2800" dirty="0">
                <a:cs typeface="Times New Roman" pitchFamily="18" charset="0"/>
              </a:rPr>
              <a:t>High output power relative to motor size and weight.</a:t>
            </a:r>
          </a:p>
          <a:p>
            <a:pPr marL="342900" indent="-342900" algn="just">
              <a:buFont typeface="Wingdings" pitchFamily="2" charset="2"/>
              <a:buChar char="ü"/>
            </a:pPr>
            <a:r>
              <a:rPr lang="en-IN" sz="2800" dirty="0">
                <a:cs typeface="Times New Roman" pitchFamily="18" charset="0"/>
              </a:rPr>
              <a:t>Encoder determines accuracy and resolution.</a:t>
            </a:r>
          </a:p>
          <a:p>
            <a:pPr marL="342900" indent="-342900" algn="just">
              <a:buFont typeface="Wingdings" pitchFamily="2" charset="2"/>
              <a:buChar char="ü"/>
            </a:pPr>
            <a:r>
              <a:rPr lang="en-IN" sz="2800" dirty="0">
                <a:cs typeface="Times New Roman" pitchFamily="18" charset="0"/>
              </a:rPr>
              <a:t>High efficiency. It can approach 90% at light loads.</a:t>
            </a:r>
          </a:p>
          <a:p>
            <a:pPr marL="342900" indent="-342900" algn="just">
              <a:buFont typeface="Wingdings" pitchFamily="2" charset="2"/>
              <a:buChar char="ü"/>
            </a:pPr>
            <a:r>
              <a:rPr lang="en-IN" sz="2800" dirty="0">
                <a:cs typeface="Times New Roman" pitchFamily="18" charset="0"/>
              </a:rPr>
              <a:t>High torque to inertia ratio. It can rapidly </a:t>
            </a:r>
            <a:r>
              <a:rPr lang="en-IN" sz="2800" dirty="0" smtClean="0">
                <a:cs typeface="Times New Roman" pitchFamily="18" charset="0"/>
              </a:rPr>
              <a:t>accelerate loads</a:t>
            </a:r>
            <a:r>
              <a:rPr lang="en-IN" sz="2800" dirty="0">
                <a:cs typeface="Times New Roman" pitchFamily="18" charset="0"/>
              </a:rPr>
              <a:t>.</a:t>
            </a:r>
          </a:p>
          <a:p>
            <a:pPr marL="342900" indent="-342900" algn="just">
              <a:buFont typeface="Wingdings" pitchFamily="2" charset="2"/>
              <a:buChar char="ü"/>
            </a:pPr>
            <a:r>
              <a:rPr lang="en-IN" sz="2800" dirty="0">
                <a:cs typeface="Times New Roman" pitchFamily="18" charset="0"/>
              </a:rPr>
              <a:t>Has "reserve" power. 2-3 times continuous power </a:t>
            </a:r>
            <a:r>
              <a:rPr lang="en-IN" sz="2800" dirty="0" smtClean="0">
                <a:cs typeface="Times New Roman" pitchFamily="18" charset="0"/>
              </a:rPr>
              <a:t>for short </a:t>
            </a:r>
            <a:r>
              <a:rPr lang="en-IN" sz="2800" dirty="0">
                <a:cs typeface="Times New Roman" pitchFamily="18" charset="0"/>
              </a:rPr>
              <a:t>periods.</a:t>
            </a:r>
          </a:p>
          <a:p>
            <a:pPr marL="342900" indent="-342900" algn="just">
              <a:buFont typeface="Wingdings" pitchFamily="2" charset="2"/>
              <a:buChar char="ü"/>
            </a:pPr>
            <a:r>
              <a:rPr lang="en-IN" sz="2800" dirty="0">
                <a:cs typeface="Times New Roman" pitchFamily="18" charset="0"/>
              </a:rPr>
              <a:t>Has "reserve" torque. 5-10 times rated torque </a:t>
            </a:r>
            <a:r>
              <a:rPr lang="en-IN" sz="2800" dirty="0" smtClean="0">
                <a:cs typeface="Times New Roman" pitchFamily="18" charset="0"/>
              </a:rPr>
              <a:t>for short </a:t>
            </a:r>
            <a:r>
              <a:rPr lang="en-IN" sz="2800" dirty="0">
                <a:cs typeface="Times New Roman" pitchFamily="18" charset="0"/>
              </a:rPr>
              <a:t>periods.</a:t>
            </a:r>
          </a:p>
          <a:p>
            <a:pPr marL="342900" indent="-342900" algn="just">
              <a:buFont typeface="Wingdings" pitchFamily="2" charset="2"/>
              <a:buChar char="ü"/>
            </a:pPr>
            <a:r>
              <a:rPr lang="en-IN" sz="2800" dirty="0">
                <a:cs typeface="Times New Roman" pitchFamily="18" charset="0"/>
              </a:rPr>
              <a:t>Motor stays cool. Current draw proportional to load</a:t>
            </a:r>
            <a:r>
              <a:rPr lang="en-IN" sz="2800" dirty="0" smtClean="0">
                <a:cs typeface="Times New Roman" pitchFamily="18" charset="0"/>
              </a:rPr>
              <a:t>.</a:t>
            </a:r>
            <a:endParaRPr lang="en-IN" sz="2800" dirty="0">
              <a:cs typeface="Times New Roman" pitchFamily="18" charset="0"/>
            </a:endParaRPr>
          </a:p>
        </p:txBody>
      </p:sp>
      <p:sp>
        <p:nvSpPr>
          <p:cNvPr id="8" name="Title 1"/>
          <p:cNvSpPr txBox="1">
            <a:spLocks/>
          </p:cNvSpPr>
          <p:nvPr/>
        </p:nvSpPr>
        <p:spPr>
          <a:xfrm>
            <a:off x="1255486" y="293914"/>
            <a:ext cx="9970702" cy="838200"/>
          </a:xfrm>
          <a:prstGeom prst="rect">
            <a:avLst/>
          </a:prstGeom>
          <a:solidFill>
            <a:schemeClr val="bg1"/>
          </a:solidFill>
          <a:ln>
            <a:solidFill>
              <a:schemeClr val="tx1"/>
            </a:solidFill>
          </a:ln>
        </p:spPr>
        <p:txBody>
          <a:bodyPr>
            <a:normAutofit/>
          </a:bodyPr>
          <a:lstStyle/>
          <a:p>
            <a:pPr algn="ctr">
              <a:defRPr/>
            </a:pPr>
            <a:r>
              <a:rPr lang="en-US" sz="4400" dirty="0" smtClean="0">
                <a:solidFill>
                  <a:schemeClr val="bg1"/>
                </a:solidFill>
                <a:latin typeface="+mj-lt"/>
                <a:cs typeface="Arial" charset="0"/>
              </a:rPr>
              <a:t> </a:t>
            </a:r>
            <a:r>
              <a:rPr lang="en-IN" sz="4400" b="1" dirty="0" smtClean="0">
                <a:latin typeface="+mj-lt"/>
              </a:rPr>
              <a:t>ADVANTAGES</a:t>
            </a:r>
            <a:endParaRPr lang="en-US" sz="4400" b="1" dirty="0">
              <a:solidFill>
                <a:schemeClr val="bg1"/>
              </a:solidFill>
              <a:latin typeface="+mj-lt"/>
              <a:cs typeface="Times New Roman" pitchFamily="18" charset="0"/>
            </a:endParaRPr>
          </a:p>
        </p:txBody>
      </p:sp>
      <p:sp>
        <p:nvSpPr>
          <p:cNvPr id="17413" name="AutoShape 2" descr="https://learning.oreilly.com/library/view/understanding-dc-circuits/9780750671101/images/B9780080519944500061/f01-11-9780750671101.jpg"/>
          <p:cNvSpPr>
            <a:spLocks noChangeAspect="1" noChangeArrowheads="1"/>
          </p:cNvSpPr>
          <p:nvPr/>
        </p:nvSpPr>
        <p:spPr bwMode="auto">
          <a:xfrm>
            <a:off x="207433" y="-144463"/>
            <a:ext cx="406400" cy="304801"/>
          </a:xfrm>
          <a:prstGeom prst="rect">
            <a:avLst/>
          </a:prstGeom>
          <a:noFill/>
          <a:ln w="9525">
            <a:noFill/>
            <a:miter lim="800000"/>
            <a:headEnd/>
            <a:tailEnd/>
          </a:ln>
        </p:spPr>
        <p:txBody>
          <a:bodyPr/>
          <a:lstStyle/>
          <a:p>
            <a:endParaRPr lang="en-US"/>
          </a:p>
        </p:txBody>
      </p:sp>
    </p:spTree>
    <p:extLst>
      <p:ext uri="{BB962C8B-B14F-4D97-AF65-F5344CB8AC3E}">
        <p14:creationId xmlns:p14="http://schemas.microsoft.com/office/powerpoint/2010/main" val="311583178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8"/>
          <p:cNvSpPr txBox="1">
            <a:spLocks noChangeArrowheads="1"/>
          </p:cNvSpPr>
          <p:nvPr/>
        </p:nvSpPr>
        <p:spPr bwMode="auto">
          <a:xfrm>
            <a:off x="627016" y="1489166"/>
            <a:ext cx="10254343" cy="4832092"/>
          </a:xfrm>
          <a:prstGeom prst="rect">
            <a:avLst/>
          </a:prstGeom>
          <a:noFill/>
          <a:ln w="9525">
            <a:noFill/>
            <a:miter lim="800000"/>
            <a:headEnd/>
            <a:tailEnd/>
          </a:ln>
        </p:spPr>
        <p:txBody>
          <a:bodyPr wrap="square">
            <a:spAutoFit/>
          </a:bodyPr>
          <a:lstStyle/>
          <a:p>
            <a:pPr marL="342900" indent="-342900" algn="just">
              <a:buFont typeface="Wingdings" pitchFamily="2" charset="2"/>
              <a:buChar char="ü"/>
            </a:pPr>
            <a:r>
              <a:rPr lang="en-IN" sz="2800" dirty="0">
                <a:cs typeface="Times New Roman" pitchFamily="18" charset="0"/>
              </a:rPr>
              <a:t>Requires "tuning" to stabilize feedback loop.</a:t>
            </a:r>
          </a:p>
          <a:p>
            <a:pPr marL="342900" indent="-342900" algn="just">
              <a:buFont typeface="Wingdings" pitchFamily="2" charset="2"/>
              <a:buChar char="ü"/>
            </a:pPr>
            <a:r>
              <a:rPr lang="en-IN" sz="2800" dirty="0">
                <a:cs typeface="Times New Roman" pitchFamily="18" charset="0"/>
              </a:rPr>
              <a:t>Motor "runs away" when something breaks. Safety </a:t>
            </a:r>
            <a:r>
              <a:rPr lang="en-IN" sz="2800" dirty="0" smtClean="0">
                <a:cs typeface="Times New Roman" pitchFamily="18" charset="0"/>
              </a:rPr>
              <a:t>circuits are </a:t>
            </a:r>
            <a:r>
              <a:rPr lang="en-IN" sz="2800" dirty="0">
                <a:cs typeface="Times New Roman" pitchFamily="18" charset="0"/>
              </a:rPr>
              <a:t>required.</a:t>
            </a:r>
          </a:p>
          <a:p>
            <a:pPr marL="342900" indent="-342900" algn="just">
              <a:buFont typeface="Wingdings" pitchFamily="2" charset="2"/>
              <a:buChar char="ü"/>
            </a:pPr>
            <a:r>
              <a:rPr lang="en-IN" sz="2800" dirty="0" smtClean="0">
                <a:cs typeface="Times New Roman" pitchFamily="18" charset="0"/>
              </a:rPr>
              <a:t>Brush </a:t>
            </a:r>
            <a:r>
              <a:rPr lang="en-IN" sz="2800" dirty="0">
                <a:cs typeface="Times New Roman" pitchFamily="18" charset="0"/>
              </a:rPr>
              <a:t>wear out limits life to 2,000 hrs. Service is </a:t>
            </a:r>
            <a:r>
              <a:rPr lang="en-IN" sz="2800" dirty="0" smtClean="0">
                <a:cs typeface="Times New Roman" pitchFamily="18" charset="0"/>
              </a:rPr>
              <a:t>then required</a:t>
            </a:r>
            <a:r>
              <a:rPr lang="en-IN" sz="2800" dirty="0">
                <a:cs typeface="Times New Roman" pitchFamily="18" charset="0"/>
              </a:rPr>
              <a:t>.</a:t>
            </a:r>
          </a:p>
          <a:p>
            <a:pPr marL="342900" indent="-342900" algn="just">
              <a:buFont typeface="Wingdings" pitchFamily="2" charset="2"/>
              <a:buChar char="ü"/>
            </a:pPr>
            <a:r>
              <a:rPr lang="en-IN" sz="2800" dirty="0">
                <a:cs typeface="Times New Roman" pitchFamily="18" charset="0"/>
              </a:rPr>
              <a:t>Peak torque is limited to a 1% duty cycle.</a:t>
            </a:r>
          </a:p>
          <a:p>
            <a:pPr marL="342900" indent="-342900" algn="just">
              <a:buFont typeface="Wingdings" pitchFamily="2" charset="2"/>
              <a:buChar char="ü"/>
            </a:pPr>
            <a:r>
              <a:rPr lang="en-IN" sz="2800" dirty="0">
                <a:cs typeface="Times New Roman" pitchFamily="18" charset="0"/>
              </a:rPr>
              <a:t>Motor can be damaged by sustained overload.</a:t>
            </a:r>
          </a:p>
          <a:p>
            <a:pPr marL="342900" indent="-342900" algn="just">
              <a:buFont typeface="Wingdings" pitchFamily="2" charset="2"/>
              <a:buChar char="ü"/>
            </a:pPr>
            <a:r>
              <a:rPr lang="en-IN" sz="2800" dirty="0">
                <a:cs typeface="Times New Roman" pitchFamily="18" charset="0"/>
              </a:rPr>
              <a:t>Bewildering choice of motors, encoders, and servo-drives.</a:t>
            </a:r>
          </a:p>
          <a:p>
            <a:pPr marL="342900" indent="-342900" algn="just">
              <a:buFont typeface="Wingdings" pitchFamily="2" charset="2"/>
              <a:buChar char="ü"/>
            </a:pPr>
            <a:r>
              <a:rPr lang="en-IN" sz="2800" dirty="0">
                <a:cs typeface="Times New Roman" pitchFamily="18" charset="0"/>
              </a:rPr>
              <a:t>Power supply current 10 times average to use peak torque.</a:t>
            </a:r>
          </a:p>
          <a:p>
            <a:pPr marL="342900" indent="-342900" algn="just">
              <a:buFont typeface="Wingdings" pitchFamily="2" charset="2"/>
              <a:buChar char="ü"/>
            </a:pPr>
            <a:r>
              <a:rPr lang="en-IN" sz="2800" dirty="0">
                <a:cs typeface="Times New Roman" pitchFamily="18" charset="0"/>
              </a:rPr>
              <a:t>Motor develops peak power at higher speeds. </a:t>
            </a:r>
            <a:r>
              <a:rPr lang="en-IN" sz="2800" dirty="0" smtClean="0">
                <a:cs typeface="Times New Roman" pitchFamily="18" charset="0"/>
              </a:rPr>
              <a:t>Gearing often </a:t>
            </a:r>
            <a:r>
              <a:rPr lang="en-IN" sz="2800" dirty="0">
                <a:cs typeface="Times New Roman" pitchFamily="18" charset="0"/>
              </a:rPr>
              <a:t>required.</a:t>
            </a:r>
          </a:p>
          <a:p>
            <a:pPr marL="342900" indent="-342900" algn="just">
              <a:buFont typeface="Wingdings" pitchFamily="2" charset="2"/>
              <a:buChar char="ü"/>
            </a:pPr>
            <a:r>
              <a:rPr lang="en-IN" sz="2800" dirty="0">
                <a:cs typeface="Times New Roman" pitchFamily="18" charset="0"/>
              </a:rPr>
              <a:t>Poor motor cooling. Ventilated motors are </a:t>
            </a:r>
            <a:r>
              <a:rPr lang="en-IN" sz="2800" dirty="0" smtClean="0">
                <a:cs typeface="Times New Roman" pitchFamily="18" charset="0"/>
              </a:rPr>
              <a:t>easily contaminated</a:t>
            </a:r>
            <a:r>
              <a:rPr lang="en-IN" sz="2400" dirty="0">
                <a:latin typeface="Times New Roman" pitchFamily="18" charset="0"/>
                <a:cs typeface="Times New Roman" pitchFamily="18" charset="0"/>
              </a:rPr>
              <a:t>.</a:t>
            </a:r>
            <a:endParaRPr lang="en-US" sz="2800" dirty="0"/>
          </a:p>
        </p:txBody>
      </p:sp>
      <p:sp>
        <p:nvSpPr>
          <p:cNvPr id="8" name="Title 1"/>
          <p:cNvSpPr txBox="1">
            <a:spLocks/>
          </p:cNvSpPr>
          <p:nvPr/>
        </p:nvSpPr>
        <p:spPr>
          <a:xfrm>
            <a:off x="1255486" y="293914"/>
            <a:ext cx="9970702" cy="838200"/>
          </a:xfrm>
          <a:prstGeom prst="rect">
            <a:avLst/>
          </a:prstGeom>
          <a:solidFill>
            <a:schemeClr val="bg1"/>
          </a:solidFill>
          <a:ln>
            <a:solidFill>
              <a:schemeClr val="tx1"/>
            </a:solidFill>
          </a:ln>
        </p:spPr>
        <p:txBody>
          <a:bodyPr>
            <a:normAutofit/>
          </a:bodyPr>
          <a:lstStyle/>
          <a:p>
            <a:pPr algn="ctr">
              <a:defRPr/>
            </a:pPr>
            <a:r>
              <a:rPr lang="en-US" sz="4400" dirty="0" smtClean="0">
                <a:solidFill>
                  <a:schemeClr val="bg1"/>
                </a:solidFill>
                <a:latin typeface="+mj-lt"/>
                <a:cs typeface="Arial" charset="0"/>
              </a:rPr>
              <a:t> </a:t>
            </a:r>
            <a:r>
              <a:rPr lang="en-IN" sz="4400" b="1" dirty="0" smtClean="0">
                <a:latin typeface="+mj-lt"/>
              </a:rPr>
              <a:t>DISADVANTAGES</a:t>
            </a:r>
            <a:endParaRPr lang="en-US" sz="4400" b="1" dirty="0">
              <a:solidFill>
                <a:schemeClr val="bg1"/>
              </a:solidFill>
              <a:latin typeface="+mj-lt"/>
              <a:cs typeface="Times New Roman" pitchFamily="18" charset="0"/>
            </a:endParaRPr>
          </a:p>
        </p:txBody>
      </p:sp>
      <p:sp>
        <p:nvSpPr>
          <p:cNvPr id="17413" name="AutoShape 2" descr="https://learning.oreilly.com/library/view/understanding-dc-circuits/9780750671101/images/B9780080519944500061/f01-11-9780750671101.jpg"/>
          <p:cNvSpPr>
            <a:spLocks noChangeAspect="1" noChangeArrowheads="1"/>
          </p:cNvSpPr>
          <p:nvPr/>
        </p:nvSpPr>
        <p:spPr bwMode="auto">
          <a:xfrm>
            <a:off x="207433" y="-144463"/>
            <a:ext cx="406400" cy="304801"/>
          </a:xfrm>
          <a:prstGeom prst="rect">
            <a:avLst/>
          </a:prstGeom>
          <a:noFill/>
          <a:ln w="9525">
            <a:noFill/>
            <a:miter lim="800000"/>
            <a:headEnd/>
            <a:tailEnd/>
          </a:ln>
        </p:spPr>
        <p:txBody>
          <a:bodyPr/>
          <a:lstStyle/>
          <a:p>
            <a:endParaRPr lang="en-US"/>
          </a:p>
        </p:txBody>
      </p:sp>
    </p:spTree>
    <p:extLst>
      <p:ext uri="{BB962C8B-B14F-4D97-AF65-F5344CB8AC3E}">
        <p14:creationId xmlns:p14="http://schemas.microsoft.com/office/powerpoint/2010/main" val="311583178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8"/>
          <p:cNvSpPr txBox="1">
            <a:spLocks noChangeArrowheads="1"/>
          </p:cNvSpPr>
          <p:nvPr/>
        </p:nvSpPr>
        <p:spPr bwMode="auto">
          <a:xfrm>
            <a:off x="627016" y="1489166"/>
            <a:ext cx="10254343" cy="4401205"/>
          </a:xfrm>
          <a:prstGeom prst="rect">
            <a:avLst/>
          </a:prstGeom>
          <a:noFill/>
          <a:ln w="9525">
            <a:noFill/>
            <a:miter lim="800000"/>
            <a:headEnd/>
            <a:tailEnd/>
          </a:ln>
        </p:spPr>
        <p:txBody>
          <a:bodyPr wrap="square">
            <a:spAutoFit/>
          </a:bodyPr>
          <a:lstStyle/>
          <a:p>
            <a:pPr algn="just">
              <a:buFont typeface="Wingdings" pitchFamily="2" charset="2"/>
              <a:buChar char="q"/>
            </a:pPr>
            <a:r>
              <a:rPr lang="en-US" sz="2800" dirty="0" smtClean="0"/>
              <a:t>They play an important role in robotics information of robot because of their smooth switching on or off and accurate positioning.</a:t>
            </a:r>
          </a:p>
          <a:p>
            <a:pPr algn="just">
              <a:buFont typeface="Wingdings" pitchFamily="2" charset="2"/>
              <a:buChar char="q"/>
            </a:pPr>
            <a:r>
              <a:rPr lang="en-US" sz="2800" dirty="0" smtClean="0"/>
              <a:t>They are used in hydraulic systems to maintain hydraulic fluid in the aerospace industry.</a:t>
            </a:r>
          </a:p>
          <a:p>
            <a:pPr algn="just">
              <a:buFont typeface="Wingdings" pitchFamily="2" charset="2"/>
              <a:buChar char="q"/>
            </a:pPr>
            <a:r>
              <a:rPr lang="en-US" sz="2800" dirty="0" smtClean="0"/>
              <a:t>In radio controlled toys these are also used.</a:t>
            </a:r>
          </a:p>
          <a:p>
            <a:pPr algn="just">
              <a:buFont typeface="Wingdings" pitchFamily="2" charset="2"/>
              <a:buChar char="q"/>
            </a:pPr>
            <a:r>
              <a:rPr lang="en-US" sz="2800" dirty="0" smtClean="0"/>
              <a:t>They are used to extend or replay the disc trays in electronic devices such as DVDs or Blue-ray Disc players.</a:t>
            </a:r>
          </a:p>
          <a:p>
            <a:pPr algn="just">
              <a:buFont typeface="Wingdings" pitchFamily="2" charset="2"/>
              <a:buChar char="q"/>
            </a:pPr>
            <a:r>
              <a:rPr lang="en-US" sz="2800" dirty="0" smtClean="0"/>
              <a:t>They are used to maintain the speed of vehicles in the automobile industries.</a:t>
            </a:r>
          </a:p>
          <a:p>
            <a:pPr marL="457200" indent="-457200" algn="just">
              <a:buFont typeface="Wingdings" pitchFamily="2" charset="2"/>
              <a:buChar char="§"/>
            </a:pPr>
            <a:endParaRPr lang="en-IN" sz="2800" dirty="0">
              <a:cs typeface="Times New Roman" pitchFamily="18" charset="0"/>
            </a:endParaRPr>
          </a:p>
        </p:txBody>
      </p:sp>
      <p:sp>
        <p:nvSpPr>
          <p:cNvPr id="8" name="Title 1"/>
          <p:cNvSpPr txBox="1">
            <a:spLocks/>
          </p:cNvSpPr>
          <p:nvPr/>
        </p:nvSpPr>
        <p:spPr>
          <a:xfrm>
            <a:off x="1255486" y="293914"/>
            <a:ext cx="9970702" cy="838200"/>
          </a:xfrm>
          <a:prstGeom prst="rect">
            <a:avLst/>
          </a:prstGeom>
          <a:solidFill>
            <a:schemeClr val="bg1"/>
          </a:solidFill>
          <a:ln>
            <a:solidFill>
              <a:schemeClr val="tx1"/>
            </a:solidFill>
          </a:ln>
        </p:spPr>
        <p:txBody>
          <a:bodyPr>
            <a:normAutofit/>
          </a:bodyPr>
          <a:lstStyle/>
          <a:p>
            <a:pPr algn="ctr">
              <a:defRPr/>
            </a:pPr>
            <a:r>
              <a:rPr lang="en-US" sz="4400" dirty="0" smtClean="0">
                <a:solidFill>
                  <a:schemeClr val="bg1"/>
                </a:solidFill>
                <a:latin typeface="+mj-lt"/>
                <a:cs typeface="Arial" charset="0"/>
              </a:rPr>
              <a:t> </a:t>
            </a:r>
            <a:r>
              <a:rPr lang="en-IN" sz="4400" b="1" dirty="0" smtClean="0">
                <a:latin typeface="+mj-lt"/>
              </a:rPr>
              <a:t>APPLICATIONS</a:t>
            </a:r>
            <a:endParaRPr lang="en-US" sz="4400" b="1" dirty="0">
              <a:solidFill>
                <a:schemeClr val="bg1"/>
              </a:solidFill>
              <a:latin typeface="+mj-lt"/>
              <a:cs typeface="Times New Roman" pitchFamily="18" charset="0"/>
            </a:endParaRPr>
          </a:p>
        </p:txBody>
      </p:sp>
      <p:sp>
        <p:nvSpPr>
          <p:cNvPr id="17413" name="AutoShape 2" descr="https://learning.oreilly.com/library/view/understanding-dc-circuits/9780750671101/images/B9780080519944500061/f01-11-9780750671101.jpg"/>
          <p:cNvSpPr>
            <a:spLocks noChangeAspect="1" noChangeArrowheads="1"/>
          </p:cNvSpPr>
          <p:nvPr/>
        </p:nvSpPr>
        <p:spPr bwMode="auto">
          <a:xfrm>
            <a:off x="207433" y="-144463"/>
            <a:ext cx="406400" cy="304801"/>
          </a:xfrm>
          <a:prstGeom prst="rect">
            <a:avLst/>
          </a:prstGeom>
          <a:noFill/>
          <a:ln w="9525">
            <a:noFill/>
            <a:miter lim="800000"/>
            <a:headEnd/>
            <a:tailEnd/>
          </a:ln>
        </p:spPr>
        <p:txBody>
          <a:bodyPr/>
          <a:lstStyle/>
          <a:p>
            <a:endParaRPr lang="en-US"/>
          </a:p>
        </p:txBody>
      </p:sp>
    </p:spTree>
    <p:extLst>
      <p:ext uri="{BB962C8B-B14F-4D97-AF65-F5344CB8AC3E}">
        <p14:creationId xmlns:p14="http://schemas.microsoft.com/office/powerpoint/2010/main" val="311583178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8"/>
          <p:cNvSpPr txBox="1">
            <a:spLocks noChangeArrowheads="1"/>
          </p:cNvSpPr>
          <p:nvPr/>
        </p:nvSpPr>
        <p:spPr bwMode="auto">
          <a:xfrm>
            <a:off x="1255486" y="1489166"/>
            <a:ext cx="9625873" cy="3539430"/>
          </a:xfrm>
          <a:prstGeom prst="rect">
            <a:avLst/>
          </a:prstGeom>
          <a:noFill/>
          <a:ln w="9525">
            <a:noFill/>
            <a:miter lim="800000"/>
            <a:headEnd/>
            <a:tailEnd/>
          </a:ln>
        </p:spPr>
        <p:txBody>
          <a:bodyPr wrap="square">
            <a:spAutoFit/>
          </a:bodyPr>
          <a:lstStyle/>
          <a:p>
            <a:pPr marL="457200" indent="-457200" algn="just">
              <a:buFont typeface="Wingdings" pitchFamily="2" charset="2"/>
              <a:buChar char="§"/>
            </a:pPr>
            <a:r>
              <a:rPr lang="en-IN" sz="2800" dirty="0" smtClean="0">
                <a:cs typeface="Times New Roman" pitchFamily="18" charset="0"/>
              </a:rPr>
              <a:t>A </a:t>
            </a:r>
            <a:r>
              <a:rPr lang="en-IN" sz="2800" dirty="0">
                <a:cs typeface="Times New Roman" pitchFamily="18" charset="0"/>
              </a:rPr>
              <a:t>stepper motor is an electromechanical device which converts </a:t>
            </a:r>
            <a:r>
              <a:rPr lang="en-IN" sz="2800" dirty="0" smtClean="0">
                <a:cs typeface="Times New Roman" pitchFamily="18" charset="0"/>
              </a:rPr>
              <a:t>train of  </a:t>
            </a:r>
            <a:r>
              <a:rPr lang="en-IN" sz="2800" dirty="0">
                <a:cs typeface="Times New Roman" pitchFamily="18" charset="0"/>
              </a:rPr>
              <a:t>pulses into discrete mechanical movements. </a:t>
            </a:r>
            <a:endParaRPr lang="en-IN" sz="2800" dirty="0" smtClean="0">
              <a:cs typeface="Times New Roman" pitchFamily="18" charset="0"/>
            </a:endParaRPr>
          </a:p>
          <a:p>
            <a:pPr marL="457200" indent="-457200" algn="just">
              <a:buFont typeface="Wingdings" pitchFamily="2" charset="2"/>
              <a:buChar char="§"/>
            </a:pPr>
            <a:r>
              <a:rPr lang="en-IN" sz="2800" dirty="0" smtClean="0">
                <a:cs typeface="Times New Roman" pitchFamily="18" charset="0"/>
              </a:rPr>
              <a:t>The shaft of motor rotates through a fixed angle for each discrete pulse. This rotation can be linear or angular.</a:t>
            </a:r>
          </a:p>
          <a:p>
            <a:pPr marL="457200" indent="-457200" algn="just">
              <a:buFont typeface="Wingdings" pitchFamily="2" charset="2"/>
              <a:buChar char="§"/>
            </a:pPr>
            <a:r>
              <a:rPr lang="en-IN" sz="2800" dirty="0" smtClean="0">
                <a:cs typeface="Times New Roman" pitchFamily="18" charset="0"/>
              </a:rPr>
              <a:t>When a train of pulses is applied, it gets turned through a certain angle.</a:t>
            </a:r>
          </a:p>
          <a:p>
            <a:pPr marL="457200" indent="-457200" algn="just">
              <a:buFont typeface="Wingdings" pitchFamily="2" charset="2"/>
              <a:buChar char="§"/>
            </a:pPr>
            <a:r>
              <a:rPr lang="en-IN" sz="2800" dirty="0" smtClean="0">
                <a:cs typeface="Times New Roman" pitchFamily="18" charset="0"/>
              </a:rPr>
              <a:t>The angle through which the stepper motor shaft turns for each pulse is referred as step angle.</a:t>
            </a:r>
            <a:endParaRPr lang="en-US" sz="2800" dirty="0">
              <a:cs typeface="Times New Roman" pitchFamily="18" charset="0"/>
            </a:endParaRPr>
          </a:p>
        </p:txBody>
      </p:sp>
      <p:sp>
        <p:nvSpPr>
          <p:cNvPr id="8" name="Title 1"/>
          <p:cNvSpPr txBox="1">
            <a:spLocks/>
          </p:cNvSpPr>
          <p:nvPr/>
        </p:nvSpPr>
        <p:spPr>
          <a:xfrm>
            <a:off x="1255486" y="293914"/>
            <a:ext cx="9970702" cy="838200"/>
          </a:xfrm>
          <a:prstGeom prst="rect">
            <a:avLst/>
          </a:prstGeom>
          <a:solidFill>
            <a:schemeClr val="bg1"/>
          </a:solidFill>
          <a:ln>
            <a:solidFill>
              <a:schemeClr val="tx1"/>
            </a:solidFill>
          </a:ln>
        </p:spPr>
        <p:txBody>
          <a:bodyPr>
            <a:normAutofit/>
          </a:bodyPr>
          <a:lstStyle/>
          <a:p>
            <a:pPr algn="ctr">
              <a:defRPr/>
            </a:pPr>
            <a:r>
              <a:rPr lang="en-IN" sz="4400" b="1" dirty="0" smtClean="0">
                <a:latin typeface="+mj-lt"/>
                <a:cs typeface="Times New Roman" pitchFamily="18" charset="0"/>
              </a:rPr>
              <a:t>STEPPER MOTOR </a:t>
            </a:r>
            <a:endParaRPr lang="en-US" sz="4400" b="1" dirty="0">
              <a:solidFill>
                <a:schemeClr val="bg1"/>
              </a:solidFill>
              <a:latin typeface="+mj-lt"/>
              <a:cs typeface="Times New Roman" pitchFamily="18" charset="0"/>
            </a:endParaRPr>
          </a:p>
        </p:txBody>
      </p:sp>
      <p:sp>
        <p:nvSpPr>
          <p:cNvPr id="17413" name="AutoShape 2" descr="https://learning.oreilly.com/library/view/understanding-dc-circuits/9780750671101/images/B9780080519944500061/f01-11-9780750671101.jpg"/>
          <p:cNvSpPr>
            <a:spLocks noChangeAspect="1" noChangeArrowheads="1"/>
          </p:cNvSpPr>
          <p:nvPr/>
        </p:nvSpPr>
        <p:spPr bwMode="auto">
          <a:xfrm>
            <a:off x="207433" y="-144463"/>
            <a:ext cx="406400" cy="304801"/>
          </a:xfrm>
          <a:prstGeom prst="rect">
            <a:avLst/>
          </a:prstGeom>
          <a:noFill/>
          <a:ln w="9525">
            <a:noFill/>
            <a:miter lim="800000"/>
            <a:headEnd/>
            <a:tailEnd/>
          </a:ln>
        </p:spPr>
        <p:txBody>
          <a:bodyPr/>
          <a:lstStyle/>
          <a:p>
            <a:endParaRPr lang="en-US"/>
          </a:p>
        </p:txBody>
      </p:sp>
    </p:spTree>
    <p:extLst>
      <p:ext uri="{BB962C8B-B14F-4D97-AF65-F5344CB8AC3E}">
        <p14:creationId xmlns:p14="http://schemas.microsoft.com/office/powerpoint/2010/main" val="18734766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1255486" y="293914"/>
            <a:ext cx="9970702" cy="838200"/>
          </a:xfrm>
          <a:prstGeom prst="rect">
            <a:avLst/>
          </a:prstGeom>
          <a:solidFill>
            <a:schemeClr val="bg1"/>
          </a:solidFill>
          <a:ln>
            <a:solidFill>
              <a:schemeClr val="tx1"/>
            </a:solidFill>
          </a:ln>
        </p:spPr>
        <p:txBody>
          <a:bodyPr>
            <a:normAutofit/>
          </a:bodyPr>
          <a:lstStyle/>
          <a:p>
            <a:pPr algn="ctr">
              <a:defRPr/>
            </a:pPr>
            <a:r>
              <a:rPr lang="en-US" sz="4400" dirty="0" smtClean="0">
                <a:solidFill>
                  <a:schemeClr val="bg1"/>
                </a:solidFill>
                <a:latin typeface="+mj-lt"/>
                <a:cs typeface="Arial" charset="0"/>
              </a:rPr>
              <a:t> </a:t>
            </a:r>
            <a:r>
              <a:rPr lang="en-IN" sz="4400" b="1" dirty="0" smtClean="0">
                <a:latin typeface="+mj-lt"/>
                <a:cs typeface="Times New Roman" pitchFamily="18" charset="0"/>
              </a:rPr>
              <a:t>WORKING OF STEPPER MOTOR</a:t>
            </a:r>
            <a:endParaRPr lang="en-US" sz="4400" b="1" dirty="0">
              <a:solidFill>
                <a:schemeClr val="bg1"/>
              </a:solidFill>
              <a:latin typeface="+mj-lt"/>
              <a:cs typeface="Times New Roman" pitchFamily="18" charset="0"/>
            </a:endParaRPr>
          </a:p>
        </p:txBody>
      </p:sp>
      <p:sp>
        <p:nvSpPr>
          <p:cNvPr id="17413" name="AutoShape 2" descr="https://learning.oreilly.com/library/view/understanding-dc-circuits/9780750671101/images/B9780080519944500061/f01-11-9780750671101.jpg"/>
          <p:cNvSpPr>
            <a:spLocks noChangeAspect="1" noChangeArrowheads="1"/>
          </p:cNvSpPr>
          <p:nvPr/>
        </p:nvSpPr>
        <p:spPr bwMode="auto">
          <a:xfrm>
            <a:off x="207433" y="-144463"/>
            <a:ext cx="406400" cy="304801"/>
          </a:xfrm>
          <a:prstGeom prst="rect">
            <a:avLst/>
          </a:prstGeom>
          <a:noFill/>
          <a:ln w="9525">
            <a:noFill/>
            <a:miter lim="800000"/>
            <a:headEnd/>
            <a:tailEnd/>
          </a:ln>
        </p:spPr>
        <p:txBody>
          <a:bodyPr/>
          <a:lstStyle/>
          <a:p>
            <a:endParaRPr lang="en-US"/>
          </a:p>
        </p:txBody>
      </p:sp>
      <p:sp>
        <p:nvSpPr>
          <p:cNvPr id="2" name="Rectangle 1"/>
          <p:cNvSpPr/>
          <p:nvPr/>
        </p:nvSpPr>
        <p:spPr>
          <a:xfrm>
            <a:off x="4301543" y="5731098"/>
            <a:ext cx="3854405" cy="92333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IN" dirty="0" smtClean="0"/>
              <a:t>Fig-3(stepper motor)</a:t>
            </a:r>
          </a:p>
          <a:p>
            <a:r>
              <a:rPr lang="en-IN" dirty="0" smtClean="0"/>
              <a:t>https</a:t>
            </a:r>
            <a:r>
              <a:rPr lang="en-IN" dirty="0"/>
              <a:t>://images.app.goo.gl/PsZMXpQW5ZgWaqZi6</a:t>
            </a:r>
          </a:p>
        </p:txBody>
      </p:sp>
      <p:pic>
        <p:nvPicPr>
          <p:cNvPr id="192514" name="Picture 2" descr="Stepper Motor Basics &amp; Working Principle | ATO.com"/>
          <p:cNvPicPr>
            <a:picLocks noChangeAspect="1" noChangeArrowheads="1"/>
          </p:cNvPicPr>
          <p:nvPr/>
        </p:nvPicPr>
        <p:blipFill>
          <a:blip r:embed="rId3" cstate="print"/>
          <a:srcRect/>
          <a:stretch>
            <a:fillRect/>
          </a:stretch>
        </p:blipFill>
        <p:spPr bwMode="auto">
          <a:xfrm>
            <a:off x="2331076" y="1349486"/>
            <a:ext cx="7263685" cy="412432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8734766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8"/>
          <p:cNvSpPr txBox="1">
            <a:spLocks noChangeArrowheads="1"/>
          </p:cNvSpPr>
          <p:nvPr/>
        </p:nvSpPr>
        <p:spPr bwMode="auto">
          <a:xfrm>
            <a:off x="627016" y="1489166"/>
            <a:ext cx="10254343" cy="4832092"/>
          </a:xfrm>
          <a:prstGeom prst="rect">
            <a:avLst/>
          </a:prstGeom>
          <a:noFill/>
          <a:ln w="9525">
            <a:noFill/>
            <a:miter lim="800000"/>
            <a:headEnd/>
            <a:tailEnd/>
          </a:ln>
        </p:spPr>
        <p:txBody>
          <a:bodyPr wrap="square">
            <a:spAutoFit/>
          </a:bodyPr>
          <a:lstStyle/>
          <a:p>
            <a:pPr marL="457200" indent="-457200" algn="just">
              <a:buFont typeface="Wingdings" pitchFamily="2" charset="2"/>
              <a:buChar char="§"/>
            </a:pPr>
            <a:r>
              <a:rPr lang="en-IN" sz="2800" dirty="0">
                <a:cs typeface="Times New Roman" pitchFamily="18" charset="0"/>
              </a:rPr>
              <a:t>Each of those slight rotations is called a step, with an integer number </a:t>
            </a:r>
            <a:r>
              <a:rPr lang="en-IN" sz="2800" dirty="0" smtClean="0">
                <a:cs typeface="Times New Roman" pitchFamily="18" charset="0"/>
              </a:rPr>
              <a:t>of steps </a:t>
            </a:r>
            <a:r>
              <a:rPr lang="en-IN" sz="2800" dirty="0">
                <a:cs typeface="Times New Roman" pitchFamily="18" charset="0"/>
              </a:rPr>
              <a:t>making a full rotation.</a:t>
            </a:r>
          </a:p>
          <a:p>
            <a:pPr marL="457200" indent="-457200" algn="just">
              <a:buFont typeface="Wingdings" pitchFamily="2" charset="2"/>
              <a:buChar char="§"/>
            </a:pPr>
            <a:r>
              <a:rPr lang="en-IN" sz="2800" dirty="0" smtClean="0">
                <a:cs typeface="Times New Roman" pitchFamily="18" charset="0"/>
              </a:rPr>
              <a:t>In </a:t>
            </a:r>
            <a:r>
              <a:rPr lang="en-IN" sz="2800" dirty="0">
                <a:cs typeface="Times New Roman" pitchFamily="18" charset="0"/>
              </a:rPr>
              <a:t>that way, the motor can be turned by a precise.</a:t>
            </a:r>
          </a:p>
          <a:p>
            <a:pPr marL="457200" indent="-457200" algn="just">
              <a:buFont typeface="Wingdings" pitchFamily="2" charset="2"/>
              <a:buChar char="§"/>
            </a:pPr>
            <a:r>
              <a:rPr lang="en-IN" sz="2800" dirty="0" smtClean="0">
                <a:cs typeface="Times New Roman" pitchFamily="18" charset="0"/>
              </a:rPr>
              <a:t>Stepper </a:t>
            </a:r>
            <a:r>
              <a:rPr lang="en-IN" sz="2800" dirty="0">
                <a:cs typeface="Times New Roman" pitchFamily="18" charset="0"/>
              </a:rPr>
              <a:t>motor doesn’t rotate continuously, they rotate in steps.</a:t>
            </a:r>
          </a:p>
          <a:p>
            <a:pPr marL="457200" indent="-457200" algn="just">
              <a:buFont typeface="Wingdings" pitchFamily="2" charset="2"/>
              <a:buChar char="§"/>
            </a:pPr>
            <a:r>
              <a:rPr lang="en-IN" sz="2800" dirty="0" smtClean="0">
                <a:cs typeface="Times New Roman" pitchFamily="18" charset="0"/>
              </a:rPr>
              <a:t>There </a:t>
            </a:r>
            <a:r>
              <a:rPr lang="en-IN" sz="2800" dirty="0">
                <a:cs typeface="Times New Roman" pitchFamily="18" charset="0"/>
              </a:rPr>
              <a:t>are 4 coils with </a:t>
            </a:r>
            <a:r>
              <a:rPr lang="en-IN" sz="2800" dirty="0" smtClean="0">
                <a:cs typeface="Times New Roman" pitchFamily="18" charset="0"/>
              </a:rPr>
              <a:t>90 deg </a:t>
            </a:r>
            <a:r>
              <a:rPr lang="en-IN" sz="2800" dirty="0">
                <a:cs typeface="Times New Roman" pitchFamily="18" charset="0"/>
              </a:rPr>
              <a:t>angle between each other fixed on the stator.</a:t>
            </a:r>
          </a:p>
          <a:p>
            <a:pPr marL="457200" indent="-457200" algn="just">
              <a:buFont typeface="Wingdings" pitchFamily="2" charset="2"/>
              <a:buChar char="§"/>
            </a:pPr>
            <a:r>
              <a:rPr lang="en-IN" sz="2800" dirty="0" smtClean="0">
                <a:cs typeface="Times New Roman" pitchFamily="18" charset="0"/>
              </a:rPr>
              <a:t>The </a:t>
            </a:r>
            <a:r>
              <a:rPr lang="en-IN" sz="2800" dirty="0">
                <a:cs typeface="Times New Roman" pitchFamily="18" charset="0"/>
              </a:rPr>
              <a:t>stepper motor connections are determined by the way the coils </a:t>
            </a:r>
            <a:r>
              <a:rPr lang="en-IN" sz="2800" dirty="0" smtClean="0">
                <a:cs typeface="Times New Roman" pitchFamily="18" charset="0"/>
              </a:rPr>
              <a:t>are interconnected.</a:t>
            </a:r>
          </a:p>
          <a:p>
            <a:pPr marL="457200" indent="-457200" algn="just">
              <a:buFont typeface="Wingdings" pitchFamily="2" charset="2"/>
              <a:buChar char="§"/>
            </a:pPr>
            <a:r>
              <a:rPr lang="en-IN" sz="2800" dirty="0">
                <a:cs typeface="Times New Roman" pitchFamily="18" charset="0"/>
              </a:rPr>
              <a:t>In stepper motor, the coils are not connected together.</a:t>
            </a:r>
          </a:p>
          <a:p>
            <a:pPr marL="457200" indent="-457200" algn="just">
              <a:buFont typeface="Wingdings" pitchFamily="2" charset="2"/>
              <a:buChar char="§"/>
            </a:pPr>
            <a:r>
              <a:rPr lang="en-IN" sz="2800" dirty="0" smtClean="0">
                <a:cs typeface="Times New Roman" pitchFamily="18" charset="0"/>
              </a:rPr>
              <a:t>The </a:t>
            </a:r>
            <a:r>
              <a:rPr lang="en-IN" sz="2800" dirty="0">
                <a:cs typeface="Times New Roman" pitchFamily="18" charset="0"/>
              </a:rPr>
              <a:t>motor has </a:t>
            </a:r>
            <a:r>
              <a:rPr lang="en-IN" sz="2800" dirty="0" smtClean="0">
                <a:cs typeface="Times New Roman" pitchFamily="18" charset="0"/>
              </a:rPr>
              <a:t>90deg </a:t>
            </a:r>
            <a:r>
              <a:rPr lang="en-IN" sz="2800" dirty="0">
                <a:cs typeface="Times New Roman" pitchFamily="18" charset="0"/>
              </a:rPr>
              <a:t>rotation step with the coils being energized in </a:t>
            </a:r>
            <a:r>
              <a:rPr lang="en-IN" sz="2800" dirty="0" smtClean="0">
                <a:cs typeface="Times New Roman" pitchFamily="18" charset="0"/>
              </a:rPr>
              <a:t>a cyclic </a:t>
            </a:r>
            <a:r>
              <a:rPr lang="en-IN" sz="2800" dirty="0">
                <a:cs typeface="Times New Roman" pitchFamily="18" charset="0"/>
              </a:rPr>
              <a:t>order</a:t>
            </a:r>
            <a:r>
              <a:rPr lang="en-IN" sz="2800" dirty="0" smtClean="0">
                <a:cs typeface="Times New Roman" pitchFamily="18" charset="0"/>
              </a:rPr>
              <a:t>.</a:t>
            </a:r>
          </a:p>
        </p:txBody>
      </p:sp>
      <p:sp>
        <p:nvSpPr>
          <p:cNvPr id="8" name="Title 1"/>
          <p:cNvSpPr txBox="1">
            <a:spLocks/>
          </p:cNvSpPr>
          <p:nvPr/>
        </p:nvSpPr>
        <p:spPr>
          <a:xfrm>
            <a:off x="1255486" y="293914"/>
            <a:ext cx="9970702" cy="838200"/>
          </a:xfrm>
          <a:prstGeom prst="rect">
            <a:avLst/>
          </a:prstGeom>
          <a:solidFill>
            <a:schemeClr val="bg1"/>
          </a:solidFill>
          <a:ln>
            <a:solidFill>
              <a:schemeClr val="tx1"/>
            </a:solidFill>
          </a:ln>
        </p:spPr>
        <p:txBody>
          <a:bodyPr>
            <a:normAutofit/>
          </a:bodyPr>
          <a:lstStyle/>
          <a:p>
            <a:pPr algn="ctr">
              <a:defRPr/>
            </a:pPr>
            <a:r>
              <a:rPr lang="en-US" sz="4400" dirty="0" smtClean="0">
                <a:solidFill>
                  <a:schemeClr val="bg1"/>
                </a:solidFill>
                <a:latin typeface="+mj-lt"/>
                <a:cs typeface="Arial" charset="0"/>
              </a:rPr>
              <a:t> </a:t>
            </a:r>
            <a:r>
              <a:rPr lang="en-IN" sz="4400" b="1" dirty="0" smtClean="0">
                <a:latin typeface="+mj-lt"/>
              </a:rPr>
              <a:t>OPERATION OF STEPPER MOTOR</a:t>
            </a:r>
            <a:endParaRPr lang="en-US" sz="4400" b="1" dirty="0">
              <a:solidFill>
                <a:schemeClr val="bg1"/>
              </a:solidFill>
              <a:latin typeface="+mj-lt"/>
              <a:cs typeface="Times New Roman" pitchFamily="18" charset="0"/>
            </a:endParaRPr>
          </a:p>
        </p:txBody>
      </p:sp>
      <p:sp>
        <p:nvSpPr>
          <p:cNvPr id="17413" name="AutoShape 2" descr="https://learning.oreilly.com/library/view/understanding-dc-circuits/9780750671101/images/B9780080519944500061/f01-11-9780750671101.jpg"/>
          <p:cNvSpPr>
            <a:spLocks noChangeAspect="1" noChangeArrowheads="1"/>
          </p:cNvSpPr>
          <p:nvPr/>
        </p:nvSpPr>
        <p:spPr bwMode="auto">
          <a:xfrm>
            <a:off x="207433" y="-144463"/>
            <a:ext cx="406400" cy="304801"/>
          </a:xfrm>
          <a:prstGeom prst="rect">
            <a:avLst/>
          </a:prstGeom>
          <a:noFill/>
          <a:ln w="9525">
            <a:noFill/>
            <a:miter lim="800000"/>
            <a:headEnd/>
            <a:tailEnd/>
          </a:ln>
        </p:spPr>
        <p:txBody>
          <a:bodyPr/>
          <a:lstStyle/>
          <a:p>
            <a:endParaRPr lang="en-US"/>
          </a:p>
        </p:txBody>
      </p:sp>
    </p:spTree>
    <p:extLst>
      <p:ext uri="{BB962C8B-B14F-4D97-AF65-F5344CB8AC3E}">
        <p14:creationId xmlns:p14="http://schemas.microsoft.com/office/powerpoint/2010/main" val="18734766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1255486" y="293914"/>
            <a:ext cx="9970702" cy="838200"/>
          </a:xfrm>
          <a:prstGeom prst="rect">
            <a:avLst/>
          </a:prstGeom>
          <a:solidFill>
            <a:schemeClr val="bg1"/>
          </a:solidFill>
          <a:ln>
            <a:solidFill>
              <a:schemeClr val="tx1"/>
            </a:solidFill>
          </a:ln>
        </p:spPr>
        <p:txBody>
          <a:bodyPr>
            <a:normAutofit/>
          </a:bodyPr>
          <a:lstStyle/>
          <a:p>
            <a:pPr algn="ctr">
              <a:defRPr/>
            </a:pPr>
            <a:r>
              <a:rPr lang="en-US" sz="4400" dirty="0" smtClean="0">
                <a:solidFill>
                  <a:schemeClr val="bg1"/>
                </a:solidFill>
                <a:latin typeface="+mj-lt"/>
                <a:cs typeface="Arial" charset="0"/>
              </a:rPr>
              <a:t> </a:t>
            </a:r>
            <a:r>
              <a:rPr lang="en-IN" sz="4400" b="1" dirty="0" smtClean="0">
                <a:latin typeface="+mj-lt"/>
                <a:cs typeface="Times New Roman" pitchFamily="18" charset="0"/>
              </a:rPr>
              <a:t>WORKING OF STEPPER MOTOR</a:t>
            </a:r>
            <a:endParaRPr lang="en-US" sz="4400" b="1" dirty="0">
              <a:solidFill>
                <a:schemeClr val="bg1"/>
              </a:solidFill>
              <a:latin typeface="+mj-lt"/>
              <a:cs typeface="Times New Roman" pitchFamily="18" charset="0"/>
            </a:endParaRPr>
          </a:p>
        </p:txBody>
      </p:sp>
      <p:sp>
        <p:nvSpPr>
          <p:cNvPr id="17413" name="AutoShape 2" descr="https://learning.oreilly.com/library/view/understanding-dc-circuits/9780750671101/images/B9780080519944500061/f01-11-9780750671101.jpg"/>
          <p:cNvSpPr>
            <a:spLocks noChangeAspect="1" noChangeArrowheads="1"/>
          </p:cNvSpPr>
          <p:nvPr/>
        </p:nvSpPr>
        <p:spPr bwMode="auto">
          <a:xfrm>
            <a:off x="207433" y="-144463"/>
            <a:ext cx="406400" cy="304801"/>
          </a:xfrm>
          <a:prstGeom prst="rect">
            <a:avLst/>
          </a:prstGeom>
          <a:noFill/>
          <a:ln w="9525">
            <a:noFill/>
            <a:miter lim="800000"/>
            <a:headEnd/>
            <a:tailEnd/>
          </a:ln>
        </p:spPr>
        <p:txBody>
          <a:bodyPr/>
          <a:lstStyle/>
          <a:p>
            <a:endParaRPr lang="en-US"/>
          </a:p>
        </p:txBody>
      </p:sp>
      <p:sp>
        <p:nvSpPr>
          <p:cNvPr id="6" name="TextBox 5"/>
          <p:cNvSpPr txBox="1"/>
          <p:nvPr/>
        </p:nvSpPr>
        <p:spPr>
          <a:xfrm>
            <a:off x="978794" y="1468191"/>
            <a:ext cx="10444767" cy="4893647"/>
          </a:xfrm>
          <a:prstGeom prst="rect">
            <a:avLst/>
          </a:prstGeom>
          <a:noFill/>
        </p:spPr>
        <p:txBody>
          <a:bodyPr wrap="square" rtlCol="0">
            <a:spAutoFit/>
          </a:bodyPr>
          <a:lstStyle/>
          <a:p>
            <a:pPr algn="just">
              <a:buFont typeface="Wingdings" pitchFamily="2" charset="2"/>
              <a:buChar char="Ø"/>
            </a:pPr>
            <a:r>
              <a:rPr lang="en-US" sz="2400" dirty="0" smtClean="0"/>
              <a:t>The stepper motor rotor is a permanent magnet, when the current flows through the stator winding, the stator winding to produce a vector magnetic field.</a:t>
            </a:r>
          </a:p>
          <a:p>
            <a:pPr algn="just">
              <a:buFont typeface="Wingdings" pitchFamily="2" charset="2"/>
              <a:buChar char="Ø"/>
            </a:pPr>
            <a:r>
              <a:rPr lang="en-US" sz="2400" dirty="0" smtClean="0"/>
              <a:t>The magnetic field drives the rotor to rotate by an angle so that the pair of magnetic fields of the rotor and the magnetic field direction of the stator are consistent. </a:t>
            </a:r>
          </a:p>
          <a:p>
            <a:pPr algn="just">
              <a:buFont typeface="Wingdings" pitchFamily="2" charset="2"/>
              <a:buChar char="Ø"/>
            </a:pPr>
            <a:r>
              <a:rPr lang="en-US" sz="2400" dirty="0" smtClean="0"/>
              <a:t>When the stator's vector magnetic field is rotated by an angle, the rotor also rotates with the magnetic field at an angle.</a:t>
            </a:r>
          </a:p>
          <a:p>
            <a:pPr algn="just">
              <a:buFont typeface="Wingdings" pitchFamily="2" charset="2"/>
              <a:buChar char="Ø"/>
            </a:pPr>
            <a:r>
              <a:rPr lang="en-US" sz="2400" dirty="0" smtClean="0"/>
              <a:t>Each time an electrical pulse is input, the motor rotates one degree further. The angular displacement it outputs is proportional to the number of pulses input and the speed is proportional to the pulse frequency. </a:t>
            </a:r>
          </a:p>
          <a:p>
            <a:pPr algn="just">
              <a:buFont typeface="Wingdings" pitchFamily="2" charset="2"/>
              <a:buChar char="Ø"/>
            </a:pPr>
            <a:r>
              <a:rPr lang="en-US" sz="2400" dirty="0" smtClean="0"/>
              <a:t>it can control the rotation of the stepping motor by controlling the number of pulses, the frequency and the electrical sequence of each phase winding of the motor.</a:t>
            </a:r>
            <a:endParaRPr lang="en-US" sz="2400" dirty="0"/>
          </a:p>
        </p:txBody>
      </p:sp>
    </p:spTree>
    <p:extLst>
      <p:ext uri="{BB962C8B-B14F-4D97-AF65-F5344CB8AC3E}">
        <p14:creationId xmlns:p14="http://schemas.microsoft.com/office/powerpoint/2010/main" val="18734766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1255486" y="293914"/>
            <a:ext cx="9970702" cy="838200"/>
          </a:xfrm>
          <a:prstGeom prst="rect">
            <a:avLst/>
          </a:prstGeom>
          <a:solidFill>
            <a:schemeClr val="bg1"/>
          </a:solidFill>
          <a:ln>
            <a:solidFill>
              <a:schemeClr val="tx1"/>
            </a:solidFill>
          </a:ln>
        </p:spPr>
        <p:txBody>
          <a:bodyPr>
            <a:normAutofit/>
          </a:bodyPr>
          <a:lstStyle/>
          <a:p>
            <a:pPr algn="ctr">
              <a:defRPr/>
            </a:pPr>
            <a:r>
              <a:rPr lang="en-IN" sz="4400" b="1" dirty="0" smtClean="0">
                <a:latin typeface="+mj-lt"/>
                <a:cs typeface="Times New Roman" pitchFamily="18" charset="0"/>
              </a:rPr>
              <a:t>TYPES OF STEPPER MOTOR</a:t>
            </a:r>
            <a:endParaRPr lang="en-US" sz="4400" b="1" dirty="0">
              <a:solidFill>
                <a:schemeClr val="bg1"/>
              </a:solidFill>
              <a:latin typeface="+mj-lt"/>
              <a:cs typeface="Times New Roman" pitchFamily="18" charset="0"/>
            </a:endParaRPr>
          </a:p>
        </p:txBody>
      </p:sp>
      <p:sp>
        <p:nvSpPr>
          <p:cNvPr id="17413" name="AutoShape 2" descr="https://learning.oreilly.com/library/view/understanding-dc-circuits/9780750671101/images/B9780080519944500061/f01-11-9780750671101.jpg"/>
          <p:cNvSpPr>
            <a:spLocks noChangeAspect="1" noChangeArrowheads="1"/>
          </p:cNvSpPr>
          <p:nvPr/>
        </p:nvSpPr>
        <p:spPr bwMode="auto">
          <a:xfrm>
            <a:off x="207433" y="-144463"/>
            <a:ext cx="406400" cy="304801"/>
          </a:xfrm>
          <a:prstGeom prst="rect">
            <a:avLst/>
          </a:prstGeom>
          <a:noFill/>
          <a:ln w="9525">
            <a:noFill/>
            <a:miter lim="800000"/>
            <a:headEnd/>
            <a:tailEnd/>
          </a:ln>
        </p:spPr>
        <p:txBody>
          <a:bodyPr/>
          <a:lstStyle/>
          <a:p>
            <a:endParaRPr lang="en-US"/>
          </a:p>
        </p:txBody>
      </p:sp>
      <p:sp>
        <p:nvSpPr>
          <p:cNvPr id="2" name="Rectangle 1"/>
          <p:cNvSpPr/>
          <p:nvPr/>
        </p:nvSpPr>
        <p:spPr>
          <a:xfrm>
            <a:off x="4321668" y="5606559"/>
            <a:ext cx="4770816"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IN" dirty="0" smtClean="0"/>
              <a:t>Fig-4(types of stepper motor)</a:t>
            </a:r>
            <a:endParaRPr lang="en-IN" dirty="0"/>
          </a:p>
          <a:p>
            <a:r>
              <a:rPr lang="en-US" dirty="0" smtClean="0">
                <a:hlinkClick r:id="rId3"/>
              </a:rPr>
              <a:t>https://circuitglobe.com/stepper-motor.html</a:t>
            </a:r>
            <a:endParaRPr lang="en-IN" dirty="0" smtClean="0"/>
          </a:p>
        </p:txBody>
      </p:sp>
      <p:pic>
        <p:nvPicPr>
          <p:cNvPr id="6" name="Picture 5" descr="types of step motor.jpg"/>
          <p:cNvPicPr>
            <a:picLocks noChangeAspect="1"/>
          </p:cNvPicPr>
          <p:nvPr/>
        </p:nvPicPr>
        <p:blipFill>
          <a:blip r:embed="rId4" cstate="print"/>
          <a:stretch>
            <a:fillRect/>
          </a:stretch>
        </p:blipFill>
        <p:spPr>
          <a:xfrm>
            <a:off x="2443096" y="1546606"/>
            <a:ext cx="7963034" cy="369599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8734766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8"/>
          <p:cNvSpPr txBox="1">
            <a:spLocks noChangeArrowheads="1"/>
          </p:cNvSpPr>
          <p:nvPr/>
        </p:nvSpPr>
        <p:spPr bwMode="auto">
          <a:xfrm>
            <a:off x="382319" y="1617955"/>
            <a:ext cx="5863936" cy="4524315"/>
          </a:xfrm>
          <a:prstGeom prst="rect">
            <a:avLst/>
          </a:prstGeom>
          <a:noFill/>
          <a:ln w="9525">
            <a:noFill/>
            <a:miter lim="800000"/>
            <a:headEnd/>
            <a:tailEnd/>
          </a:ln>
        </p:spPr>
        <p:txBody>
          <a:bodyPr wrap="square">
            <a:spAutoFit/>
          </a:bodyPr>
          <a:lstStyle/>
          <a:p>
            <a:pPr algn="just">
              <a:buFont typeface="Wingdings" pitchFamily="2" charset="2"/>
              <a:buChar char="Ø"/>
            </a:pPr>
            <a:r>
              <a:rPr lang="en-IN" sz="2400" dirty="0">
                <a:cs typeface="Times New Roman" pitchFamily="18" charset="0"/>
              </a:rPr>
              <a:t>Permanent magnet motors use a permanent magnet (</a:t>
            </a:r>
            <a:r>
              <a:rPr lang="en-IN" sz="2400" dirty="0" smtClean="0">
                <a:cs typeface="Times New Roman" pitchFamily="18" charset="0"/>
              </a:rPr>
              <a:t>PM) in </a:t>
            </a:r>
            <a:r>
              <a:rPr lang="en-IN" sz="2400" dirty="0">
                <a:cs typeface="Times New Roman" pitchFamily="18" charset="0"/>
              </a:rPr>
              <a:t>the rotor.</a:t>
            </a:r>
          </a:p>
          <a:p>
            <a:pPr algn="just">
              <a:buFont typeface="Wingdings" pitchFamily="2" charset="2"/>
              <a:buChar char="Ø"/>
            </a:pPr>
            <a:r>
              <a:rPr lang="en-IN" sz="2400" dirty="0" smtClean="0">
                <a:cs typeface="Times New Roman" pitchFamily="18" charset="0"/>
              </a:rPr>
              <a:t>It </a:t>
            </a:r>
            <a:r>
              <a:rPr lang="en-IN" sz="2400" dirty="0">
                <a:cs typeface="Times New Roman" pitchFamily="18" charset="0"/>
              </a:rPr>
              <a:t>operate on the attraction or repulsion between the </a:t>
            </a:r>
            <a:r>
              <a:rPr lang="en-IN" sz="2400" dirty="0" smtClean="0">
                <a:cs typeface="Times New Roman" pitchFamily="18" charset="0"/>
              </a:rPr>
              <a:t>rotor PM </a:t>
            </a:r>
            <a:r>
              <a:rPr lang="en-IN" sz="2400" dirty="0">
                <a:cs typeface="Times New Roman" pitchFamily="18" charset="0"/>
              </a:rPr>
              <a:t>and the stator electromagnets</a:t>
            </a:r>
            <a:r>
              <a:rPr lang="en-IN" sz="2400" dirty="0" smtClean="0">
                <a:cs typeface="Times New Roman" pitchFamily="18" charset="0"/>
              </a:rPr>
              <a:t>.</a:t>
            </a:r>
          </a:p>
          <a:p>
            <a:pPr algn="just">
              <a:buFont typeface="Wingdings" pitchFamily="2" charset="2"/>
              <a:buChar char="Ø"/>
            </a:pPr>
            <a:r>
              <a:rPr lang="en-IN" sz="2400" dirty="0" smtClean="0">
                <a:cs typeface="Times New Roman" pitchFamily="18" charset="0"/>
              </a:rPr>
              <a:t>When the stator windings are excited with DC supply, it produces magnetic flux and establishes north poles and south poles.</a:t>
            </a:r>
          </a:p>
          <a:p>
            <a:pPr algn="just">
              <a:buFont typeface="Wingdings" pitchFamily="2" charset="2"/>
              <a:buChar char="Ø"/>
            </a:pPr>
            <a:r>
              <a:rPr lang="en-IN" sz="2400" dirty="0" smtClean="0">
                <a:cs typeface="Times New Roman" pitchFamily="18" charset="0"/>
              </a:rPr>
              <a:t>Due to force of attraction and repulsion between PM rotor poles and stator poles, the rotor starts moving </a:t>
            </a:r>
            <a:r>
              <a:rPr lang="en-IN" sz="2400" dirty="0" err="1" smtClean="0">
                <a:cs typeface="Times New Roman" pitchFamily="18" charset="0"/>
              </a:rPr>
              <a:t>upto</a:t>
            </a:r>
            <a:r>
              <a:rPr lang="en-IN" sz="2400" dirty="0" smtClean="0">
                <a:cs typeface="Times New Roman" pitchFamily="18" charset="0"/>
              </a:rPr>
              <a:t> the position for which pulses are given to the stator.</a:t>
            </a:r>
            <a:endParaRPr lang="en-US" sz="2400" dirty="0"/>
          </a:p>
        </p:txBody>
      </p:sp>
      <p:sp>
        <p:nvSpPr>
          <p:cNvPr id="8" name="Title 1"/>
          <p:cNvSpPr txBox="1">
            <a:spLocks/>
          </p:cNvSpPr>
          <p:nvPr/>
        </p:nvSpPr>
        <p:spPr>
          <a:xfrm>
            <a:off x="1255486" y="293914"/>
            <a:ext cx="9970702" cy="838200"/>
          </a:xfrm>
          <a:prstGeom prst="rect">
            <a:avLst/>
          </a:prstGeom>
          <a:solidFill>
            <a:schemeClr val="bg1"/>
          </a:solidFill>
          <a:ln>
            <a:solidFill>
              <a:schemeClr val="tx1"/>
            </a:solidFill>
          </a:ln>
        </p:spPr>
        <p:txBody>
          <a:bodyPr>
            <a:normAutofit/>
          </a:bodyPr>
          <a:lstStyle/>
          <a:p>
            <a:pPr algn="ctr">
              <a:defRPr/>
            </a:pPr>
            <a:r>
              <a:rPr lang="en-US" sz="4400" dirty="0" smtClean="0">
                <a:solidFill>
                  <a:schemeClr val="bg1"/>
                </a:solidFill>
                <a:latin typeface="+mj-lt"/>
                <a:cs typeface="Arial" charset="0"/>
              </a:rPr>
              <a:t> </a:t>
            </a:r>
            <a:r>
              <a:rPr lang="en-IN" sz="4400" b="1" dirty="0" smtClean="0">
                <a:latin typeface="+mj-lt"/>
                <a:cs typeface="Times New Roman" pitchFamily="18" charset="0"/>
              </a:rPr>
              <a:t>PERMANENT MAGNET STEPPER MOTOR</a:t>
            </a:r>
            <a:endParaRPr lang="en-US" sz="4400" b="1" dirty="0">
              <a:solidFill>
                <a:schemeClr val="bg1"/>
              </a:solidFill>
              <a:latin typeface="+mj-lt"/>
              <a:cs typeface="Times New Roman" pitchFamily="18" charset="0"/>
            </a:endParaRPr>
          </a:p>
        </p:txBody>
      </p:sp>
      <p:sp>
        <p:nvSpPr>
          <p:cNvPr id="17413" name="AutoShape 2" descr="https://learning.oreilly.com/library/view/understanding-dc-circuits/9780750671101/images/B9780080519944500061/f01-11-9780750671101.jpg"/>
          <p:cNvSpPr>
            <a:spLocks noChangeAspect="1" noChangeArrowheads="1"/>
          </p:cNvSpPr>
          <p:nvPr/>
        </p:nvSpPr>
        <p:spPr bwMode="auto">
          <a:xfrm>
            <a:off x="207433" y="-144463"/>
            <a:ext cx="406400" cy="304801"/>
          </a:xfrm>
          <a:prstGeom prst="rect">
            <a:avLst/>
          </a:prstGeom>
          <a:noFill/>
          <a:ln w="9525">
            <a:noFill/>
            <a:miter lim="800000"/>
            <a:headEnd/>
            <a:tailEnd/>
          </a:ln>
        </p:spPr>
        <p:txBody>
          <a:bodyPr/>
          <a:lstStyle/>
          <a:p>
            <a:endParaRPr lang="en-US"/>
          </a:p>
        </p:txBody>
      </p:sp>
      <p:pic>
        <p:nvPicPr>
          <p:cNvPr id="5" name="Picture 4" descr="pm motor.jpg"/>
          <p:cNvPicPr>
            <a:picLocks noChangeAspect="1"/>
          </p:cNvPicPr>
          <p:nvPr/>
        </p:nvPicPr>
        <p:blipFill>
          <a:blip r:embed="rId3" cstate="print"/>
          <a:stretch>
            <a:fillRect/>
          </a:stretch>
        </p:blipFill>
        <p:spPr>
          <a:xfrm>
            <a:off x="6542468" y="1524603"/>
            <a:ext cx="5409125" cy="345952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p:cNvSpPr txBox="1"/>
          <p:nvPr/>
        </p:nvSpPr>
        <p:spPr>
          <a:xfrm>
            <a:off x="7237927" y="5241702"/>
            <a:ext cx="3893182"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smtClean="0"/>
              <a:t>Fig.5 Permanent magnet stepper motor</a:t>
            </a:r>
            <a:endParaRPr lang="en-US" dirty="0"/>
          </a:p>
        </p:txBody>
      </p:sp>
      <p:sp>
        <p:nvSpPr>
          <p:cNvPr id="7" name="TextBox 6"/>
          <p:cNvSpPr txBox="1"/>
          <p:nvPr/>
        </p:nvSpPr>
        <p:spPr>
          <a:xfrm>
            <a:off x="6233376" y="5834129"/>
            <a:ext cx="5370490"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smtClean="0">
                <a:hlinkClick r:id="rId4"/>
              </a:rPr>
              <a:t>https://www.engineersgarage.com/article_page/stepper-motor-basics-types-and-working/</a:t>
            </a:r>
            <a:endParaRPr lang="en-US" dirty="0"/>
          </a:p>
        </p:txBody>
      </p:sp>
    </p:spTree>
    <p:extLst>
      <p:ext uri="{BB962C8B-B14F-4D97-AF65-F5344CB8AC3E}">
        <p14:creationId xmlns:p14="http://schemas.microsoft.com/office/powerpoint/2010/main" val="18734766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8"/>
          <p:cNvSpPr txBox="1">
            <a:spLocks noChangeArrowheads="1"/>
          </p:cNvSpPr>
          <p:nvPr/>
        </p:nvSpPr>
        <p:spPr bwMode="auto">
          <a:xfrm>
            <a:off x="163378" y="1630834"/>
            <a:ext cx="6507880" cy="4401205"/>
          </a:xfrm>
          <a:prstGeom prst="rect">
            <a:avLst/>
          </a:prstGeom>
          <a:noFill/>
          <a:ln w="9525">
            <a:noFill/>
            <a:miter lim="800000"/>
            <a:headEnd/>
            <a:tailEnd/>
          </a:ln>
        </p:spPr>
        <p:txBody>
          <a:bodyPr wrap="square">
            <a:spAutoFit/>
          </a:bodyPr>
          <a:lstStyle/>
          <a:p>
            <a:pPr algn="just">
              <a:buFont typeface="Arial" pitchFamily="34" charset="0"/>
              <a:buChar char="•"/>
            </a:pPr>
            <a:r>
              <a:rPr lang="en-IN" sz="2800" dirty="0">
                <a:cs typeface="Times New Roman" pitchFamily="18" charset="0"/>
              </a:rPr>
              <a:t>Variable reluctance (VR) motors have a plain iron rotor </a:t>
            </a:r>
            <a:r>
              <a:rPr lang="en-IN" sz="2800" dirty="0" smtClean="0">
                <a:cs typeface="Times New Roman" pitchFamily="18" charset="0"/>
              </a:rPr>
              <a:t>and operate </a:t>
            </a:r>
            <a:r>
              <a:rPr lang="en-IN" sz="2800" dirty="0">
                <a:cs typeface="Times New Roman" pitchFamily="18" charset="0"/>
              </a:rPr>
              <a:t>based on the principle that minimum </a:t>
            </a:r>
            <a:r>
              <a:rPr lang="en-IN" sz="2800" dirty="0" smtClean="0">
                <a:cs typeface="Times New Roman" pitchFamily="18" charset="0"/>
              </a:rPr>
              <a:t>reluctance occurs </a:t>
            </a:r>
            <a:r>
              <a:rPr lang="en-IN" sz="2800" dirty="0">
                <a:cs typeface="Times New Roman" pitchFamily="18" charset="0"/>
              </a:rPr>
              <a:t>with minimum gap, hence the rotor points </a:t>
            </a:r>
            <a:r>
              <a:rPr lang="en-IN" sz="2800" dirty="0" smtClean="0">
                <a:cs typeface="Times New Roman" pitchFamily="18" charset="0"/>
              </a:rPr>
              <a:t>are attracted </a:t>
            </a:r>
            <a:r>
              <a:rPr lang="en-IN" sz="2800" dirty="0">
                <a:cs typeface="Times New Roman" pitchFamily="18" charset="0"/>
              </a:rPr>
              <a:t>toward the stator magnet poles</a:t>
            </a:r>
            <a:r>
              <a:rPr lang="en-IN" sz="2800" dirty="0" smtClean="0">
                <a:cs typeface="Times New Roman" pitchFamily="18" charset="0"/>
              </a:rPr>
              <a:t>.</a:t>
            </a:r>
          </a:p>
          <a:p>
            <a:pPr algn="just">
              <a:buFont typeface="Arial" pitchFamily="34" charset="0"/>
              <a:buChar char="•"/>
            </a:pPr>
            <a:r>
              <a:rPr lang="en-US" sz="2800" dirty="0" smtClean="0"/>
              <a:t>All the stator poles are aligned in a Multi-Stack motor. But the rotor poles are displaced by 1/m of the pole pitch angle from each other. </a:t>
            </a:r>
            <a:endParaRPr lang="en-US" sz="2800" dirty="0"/>
          </a:p>
        </p:txBody>
      </p:sp>
      <p:sp>
        <p:nvSpPr>
          <p:cNvPr id="8" name="Title 1"/>
          <p:cNvSpPr txBox="1">
            <a:spLocks/>
          </p:cNvSpPr>
          <p:nvPr/>
        </p:nvSpPr>
        <p:spPr>
          <a:xfrm>
            <a:off x="1255486" y="293914"/>
            <a:ext cx="9970702" cy="838200"/>
          </a:xfrm>
          <a:prstGeom prst="rect">
            <a:avLst/>
          </a:prstGeom>
          <a:solidFill>
            <a:schemeClr val="bg1"/>
          </a:solidFill>
          <a:ln>
            <a:solidFill>
              <a:schemeClr val="tx1"/>
            </a:solidFill>
          </a:ln>
        </p:spPr>
        <p:txBody>
          <a:bodyPr>
            <a:normAutofit/>
          </a:bodyPr>
          <a:lstStyle/>
          <a:p>
            <a:pPr algn="ctr">
              <a:defRPr/>
            </a:pPr>
            <a:r>
              <a:rPr lang="en-US" sz="4400" dirty="0" smtClean="0">
                <a:solidFill>
                  <a:schemeClr val="bg1"/>
                </a:solidFill>
                <a:latin typeface="+mj-lt"/>
                <a:cs typeface="Arial" charset="0"/>
              </a:rPr>
              <a:t> </a:t>
            </a:r>
            <a:r>
              <a:rPr lang="en-IN" sz="4400" b="1" dirty="0" smtClean="0">
                <a:latin typeface="+mj-lt"/>
                <a:cs typeface="Times New Roman" pitchFamily="18" charset="0"/>
              </a:rPr>
              <a:t>VARIABLE RELUCTANCE STEPPER MOTOR</a:t>
            </a:r>
            <a:endParaRPr lang="en-US" sz="4400" b="1" dirty="0">
              <a:solidFill>
                <a:schemeClr val="bg1"/>
              </a:solidFill>
              <a:latin typeface="+mj-lt"/>
              <a:cs typeface="Times New Roman" pitchFamily="18" charset="0"/>
            </a:endParaRPr>
          </a:p>
        </p:txBody>
      </p:sp>
      <p:sp>
        <p:nvSpPr>
          <p:cNvPr id="17413" name="AutoShape 2" descr="https://learning.oreilly.com/library/view/understanding-dc-circuits/9780750671101/images/B9780080519944500061/f01-11-9780750671101.jpg"/>
          <p:cNvSpPr>
            <a:spLocks noChangeAspect="1" noChangeArrowheads="1"/>
          </p:cNvSpPr>
          <p:nvPr/>
        </p:nvSpPr>
        <p:spPr bwMode="auto">
          <a:xfrm>
            <a:off x="207433" y="-144463"/>
            <a:ext cx="406400" cy="304801"/>
          </a:xfrm>
          <a:prstGeom prst="rect">
            <a:avLst/>
          </a:prstGeom>
          <a:noFill/>
          <a:ln w="9525">
            <a:noFill/>
            <a:miter lim="800000"/>
            <a:headEnd/>
            <a:tailEnd/>
          </a:ln>
        </p:spPr>
        <p:txBody>
          <a:bodyPr/>
          <a:lstStyle/>
          <a:p>
            <a:endParaRPr lang="en-US"/>
          </a:p>
        </p:txBody>
      </p:sp>
      <p:pic>
        <p:nvPicPr>
          <p:cNvPr id="185346" name="Picture 2" descr="Variable Reluctance Stepper Motor – its Working - Circuit Globe"/>
          <p:cNvPicPr>
            <a:picLocks noChangeAspect="1" noChangeArrowheads="1"/>
          </p:cNvPicPr>
          <p:nvPr/>
        </p:nvPicPr>
        <p:blipFill>
          <a:blip r:embed="rId3" cstate="print"/>
          <a:srcRect/>
          <a:stretch>
            <a:fillRect/>
          </a:stretch>
        </p:blipFill>
        <p:spPr bwMode="auto">
          <a:xfrm>
            <a:off x="6838682" y="1751526"/>
            <a:ext cx="5048517" cy="346749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p:cNvSpPr txBox="1"/>
          <p:nvPr/>
        </p:nvSpPr>
        <p:spPr>
          <a:xfrm>
            <a:off x="7972023" y="5357611"/>
            <a:ext cx="2830134"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smtClean="0"/>
              <a:t>Fig.6 variable stepper motor</a:t>
            </a:r>
            <a:endParaRPr lang="en-US" dirty="0"/>
          </a:p>
        </p:txBody>
      </p:sp>
      <p:sp>
        <p:nvSpPr>
          <p:cNvPr id="7" name="TextBox 6"/>
          <p:cNvSpPr txBox="1"/>
          <p:nvPr/>
        </p:nvSpPr>
        <p:spPr>
          <a:xfrm>
            <a:off x="7212169" y="5898524"/>
            <a:ext cx="4146997"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smtClean="0">
                <a:hlinkClick r:id="rId4"/>
              </a:rPr>
              <a:t>https://circuitglobe.com/variable-reluctance-stepper-motor.html</a:t>
            </a:r>
            <a:endParaRPr lang="en-US" dirty="0"/>
          </a:p>
        </p:txBody>
      </p:sp>
    </p:spTree>
    <p:extLst>
      <p:ext uri="{BB962C8B-B14F-4D97-AF65-F5344CB8AC3E}">
        <p14:creationId xmlns:p14="http://schemas.microsoft.com/office/powerpoint/2010/main" val="18734766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8"/>
          <p:cNvSpPr txBox="1">
            <a:spLocks noChangeArrowheads="1"/>
          </p:cNvSpPr>
          <p:nvPr/>
        </p:nvSpPr>
        <p:spPr bwMode="auto">
          <a:xfrm>
            <a:off x="279288" y="1514924"/>
            <a:ext cx="5825298" cy="4832092"/>
          </a:xfrm>
          <a:prstGeom prst="rect">
            <a:avLst/>
          </a:prstGeom>
          <a:noFill/>
          <a:ln w="9525">
            <a:noFill/>
            <a:miter lim="800000"/>
            <a:headEnd/>
            <a:tailEnd/>
          </a:ln>
        </p:spPr>
        <p:txBody>
          <a:bodyPr wrap="square">
            <a:spAutoFit/>
          </a:bodyPr>
          <a:lstStyle/>
          <a:p>
            <a:pPr algn="just">
              <a:buFont typeface="Arial" pitchFamily="34" charset="0"/>
              <a:buChar char="•"/>
            </a:pPr>
            <a:r>
              <a:rPr lang="en-IN" sz="2800" dirty="0">
                <a:cs typeface="Times New Roman" pitchFamily="18" charset="0"/>
              </a:rPr>
              <a:t>Hybrid stepper motors are named because they use </a:t>
            </a:r>
            <a:r>
              <a:rPr lang="en-IN" sz="2800" dirty="0" smtClean="0">
                <a:cs typeface="Times New Roman" pitchFamily="18" charset="0"/>
              </a:rPr>
              <a:t>a combination </a:t>
            </a:r>
            <a:r>
              <a:rPr lang="en-IN" sz="2800" dirty="0">
                <a:cs typeface="Times New Roman" pitchFamily="18" charset="0"/>
              </a:rPr>
              <a:t>of permanent magnet (PM) and </a:t>
            </a:r>
            <a:r>
              <a:rPr lang="en-IN" sz="2800" dirty="0" smtClean="0">
                <a:cs typeface="Times New Roman" pitchFamily="18" charset="0"/>
              </a:rPr>
              <a:t>variable reluctance </a:t>
            </a:r>
            <a:r>
              <a:rPr lang="en-IN" sz="2800" dirty="0">
                <a:cs typeface="Times New Roman" pitchFamily="18" charset="0"/>
              </a:rPr>
              <a:t>(VR) techniques to achieve maximum </a:t>
            </a:r>
            <a:r>
              <a:rPr lang="en-IN" sz="2800" dirty="0" smtClean="0">
                <a:cs typeface="Times New Roman" pitchFamily="18" charset="0"/>
              </a:rPr>
              <a:t>power in </a:t>
            </a:r>
            <a:r>
              <a:rPr lang="en-IN" sz="2800" dirty="0">
                <a:cs typeface="Times New Roman" pitchFamily="18" charset="0"/>
              </a:rPr>
              <a:t>a small package size</a:t>
            </a:r>
            <a:r>
              <a:rPr lang="en-IN" sz="2800" dirty="0" smtClean="0">
                <a:latin typeface="Times New Roman" pitchFamily="18" charset="0"/>
                <a:cs typeface="Times New Roman" pitchFamily="18" charset="0"/>
              </a:rPr>
              <a:t>.</a:t>
            </a:r>
          </a:p>
          <a:p>
            <a:pPr algn="just">
              <a:buFont typeface="Arial" pitchFamily="34" charset="0"/>
              <a:buChar char="•"/>
            </a:pPr>
            <a:r>
              <a:rPr lang="en-US" sz="2800" dirty="0" smtClean="0"/>
              <a:t>The</a:t>
            </a:r>
            <a:r>
              <a:rPr lang="en-US" sz="2800" b="1" dirty="0" smtClean="0"/>
              <a:t> Hybrid Stepper Motor</a:t>
            </a:r>
            <a:r>
              <a:rPr lang="en-US" sz="2800" dirty="0" smtClean="0"/>
              <a:t> is a combination of the features of the variable reluctance motor and permanent magnet stepper motor.</a:t>
            </a:r>
            <a:endParaRPr lang="en-US" sz="2800" dirty="0"/>
          </a:p>
        </p:txBody>
      </p:sp>
      <p:sp>
        <p:nvSpPr>
          <p:cNvPr id="8" name="Title 1"/>
          <p:cNvSpPr txBox="1">
            <a:spLocks/>
          </p:cNvSpPr>
          <p:nvPr/>
        </p:nvSpPr>
        <p:spPr>
          <a:xfrm>
            <a:off x="1255486" y="293914"/>
            <a:ext cx="9970702" cy="838200"/>
          </a:xfrm>
          <a:prstGeom prst="rect">
            <a:avLst/>
          </a:prstGeom>
          <a:solidFill>
            <a:schemeClr val="bg1"/>
          </a:solidFill>
          <a:ln>
            <a:solidFill>
              <a:schemeClr val="tx1"/>
            </a:solidFill>
          </a:ln>
        </p:spPr>
        <p:txBody>
          <a:bodyPr>
            <a:normAutofit/>
          </a:bodyPr>
          <a:lstStyle/>
          <a:p>
            <a:pPr algn="ctr">
              <a:defRPr/>
            </a:pPr>
            <a:r>
              <a:rPr lang="en-US" sz="4400" dirty="0" smtClean="0">
                <a:solidFill>
                  <a:schemeClr val="bg1"/>
                </a:solidFill>
                <a:latin typeface="+mj-lt"/>
                <a:cs typeface="Arial" charset="0"/>
              </a:rPr>
              <a:t> </a:t>
            </a:r>
            <a:r>
              <a:rPr lang="en-IN" sz="4400" b="1" dirty="0" smtClean="0">
                <a:latin typeface="+mj-lt"/>
                <a:cs typeface="Times New Roman" pitchFamily="18" charset="0"/>
              </a:rPr>
              <a:t>HYBRID STEPPER MOTOR</a:t>
            </a:r>
            <a:endParaRPr lang="en-US" sz="4400" b="1" dirty="0">
              <a:solidFill>
                <a:schemeClr val="bg1"/>
              </a:solidFill>
              <a:latin typeface="+mj-lt"/>
              <a:cs typeface="Times New Roman" pitchFamily="18" charset="0"/>
            </a:endParaRPr>
          </a:p>
        </p:txBody>
      </p:sp>
      <p:sp>
        <p:nvSpPr>
          <p:cNvPr id="17413" name="AutoShape 2" descr="https://learning.oreilly.com/library/view/understanding-dc-circuits/9780750671101/images/B9780080519944500061/f01-11-9780750671101.jpg"/>
          <p:cNvSpPr>
            <a:spLocks noChangeAspect="1" noChangeArrowheads="1"/>
          </p:cNvSpPr>
          <p:nvPr/>
        </p:nvSpPr>
        <p:spPr bwMode="auto">
          <a:xfrm>
            <a:off x="207433" y="-144463"/>
            <a:ext cx="406400" cy="304801"/>
          </a:xfrm>
          <a:prstGeom prst="rect">
            <a:avLst/>
          </a:prstGeom>
          <a:noFill/>
          <a:ln w="9525">
            <a:noFill/>
            <a:miter lim="800000"/>
            <a:headEnd/>
            <a:tailEnd/>
          </a:ln>
        </p:spPr>
        <p:txBody>
          <a:bodyPr/>
          <a:lstStyle/>
          <a:p>
            <a:endParaRPr lang="en-US"/>
          </a:p>
        </p:txBody>
      </p:sp>
      <p:pic>
        <p:nvPicPr>
          <p:cNvPr id="183298" name="Picture 2" descr="Hybrid Stepper Motor - its Working Advantages ..."/>
          <p:cNvPicPr>
            <a:picLocks noChangeAspect="1" noChangeArrowheads="1"/>
          </p:cNvPicPr>
          <p:nvPr/>
        </p:nvPicPr>
        <p:blipFill>
          <a:blip r:embed="rId3" cstate="print"/>
          <a:srcRect/>
          <a:stretch>
            <a:fillRect/>
          </a:stretch>
        </p:blipFill>
        <p:spPr bwMode="auto">
          <a:xfrm>
            <a:off x="6775316" y="1445764"/>
            <a:ext cx="4610100" cy="360045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p:cNvSpPr txBox="1"/>
          <p:nvPr/>
        </p:nvSpPr>
        <p:spPr>
          <a:xfrm>
            <a:off x="7534141" y="5318974"/>
            <a:ext cx="2683363"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smtClean="0"/>
              <a:t>Fig.7 hybrid stepper motor</a:t>
            </a:r>
            <a:endParaRPr lang="en-US" dirty="0"/>
          </a:p>
        </p:txBody>
      </p:sp>
      <p:sp>
        <p:nvSpPr>
          <p:cNvPr id="9" name="TextBox 8"/>
          <p:cNvSpPr txBox="1"/>
          <p:nvPr/>
        </p:nvSpPr>
        <p:spPr>
          <a:xfrm>
            <a:off x="6375042" y="5808372"/>
            <a:ext cx="5057731"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smtClean="0">
                <a:hlinkClick r:id="rId4"/>
              </a:rPr>
              <a:t>https://circuitglobe.com/hybrid-stepper-motor.html</a:t>
            </a:r>
            <a:endParaRPr lang="en-US" dirty="0"/>
          </a:p>
        </p:txBody>
      </p:sp>
    </p:spTree>
    <p:extLst>
      <p:ext uri="{BB962C8B-B14F-4D97-AF65-F5344CB8AC3E}">
        <p14:creationId xmlns:p14="http://schemas.microsoft.com/office/powerpoint/2010/main" val="18734766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8"/>
          <p:cNvSpPr txBox="1">
            <a:spLocks noChangeArrowheads="1"/>
          </p:cNvSpPr>
          <p:nvPr/>
        </p:nvSpPr>
        <p:spPr bwMode="auto">
          <a:xfrm>
            <a:off x="627016" y="1489166"/>
            <a:ext cx="10254343" cy="4832092"/>
          </a:xfrm>
          <a:prstGeom prst="rect">
            <a:avLst/>
          </a:prstGeom>
          <a:noFill/>
          <a:ln w="9525">
            <a:noFill/>
            <a:miter lim="800000"/>
            <a:headEnd/>
            <a:tailEnd/>
          </a:ln>
        </p:spPr>
        <p:txBody>
          <a:bodyPr wrap="square">
            <a:spAutoFit/>
          </a:bodyPr>
          <a:lstStyle/>
          <a:p>
            <a:pPr marL="342900" indent="-342900" algn="just">
              <a:buFont typeface="Wingdings" pitchFamily="2" charset="2"/>
              <a:buChar char="ü"/>
            </a:pPr>
            <a:r>
              <a:rPr lang="en-IN" sz="2800" dirty="0">
                <a:cs typeface="Times New Roman" pitchFamily="18" charset="0"/>
              </a:rPr>
              <a:t>The rotation angle of the motor is proportional to the input pulse.</a:t>
            </a:r>
          </a:p>
          <a:p>
            <a:pPr marL="342900" indent="-342900" algn="just">
              <a:buFont typeface="Wingdings" pitchFamily="2" charset="2"/>
              <a:buChar char="ü"/>
            </a:pPr>
            <a:r>
              <a:rPr lang="en-IN" sz="2800" dirty="0" smtClean="0">
                <a:cs typeface="Times New Roman" pitchFamily="18" charset="0"/>
              </a:rPr>
              <a:t>The </a:t>
            </a:r>
            <a:r>
              <a:rPr lang="en-IN" sz="2800" dirty="0">
                <a:cs typeface="Times New Roman" pitchFamily="18" charset="0"/>
              </a:rPr>
              <a:t>motor has full torque at </a:t>
            </a:r>
            <a:r>
              <a:rPr lang="en-IN" sz="2800" dirty="0" smtClean="0">
                <a:cs typeface="Times New Roman" pitchFamily="18" charset="0"/>
              </a:rPr>
              <a:t>standstill. </a:t>
            </a:r>
          </a:p>
          <a:p>
            <a:pPr marL="342900" indent="-342900" algn="just">
              <a:buFont typeface="Wingdings" pitchFamily="2" charset="2"/>
              <a:buChar char="ü"/>
            </a:pPr>
            <a:r>
              <a:rPr lang="en-IN" sz="2800" dirty="0" smtClean="0">
                <a:cs typeface="Times New Roman" pitchFamily="18" charset="0"/>
              </a:rPr>
              <a:t>Excellent </a:t>
            </a:r>
            <a:r>
              <a:rPr lang="en-IN" sz="2800" dirty="0">
                <a:cs typeface="Times New Roman" pitchFamily="18" charset="0"/>
              </a:rPr>
              <a:t>response to starting, stopping and reversing</a:t>
            </a:r>
            <a:r>
              <a:rPr lang="en-IN" sz="2800" dirty="0" smtClean="0">
                <a:cs typeface="Times New Roman" pitchFamily="18" charset="0"/>
              </a:rPr>
              <a:t>.</a:t>
            </a:r>
          </a:p>
          <a:p>
            <a:pPr marL="342900" indent="-342900" algn="just">
              <a:buFont typeface="Wingdings" pitchFamily="2" charset="2"/>
              <a:buChar char="ü"/>
            </a:pPr>
            <a:r>
              <a:rPr lang="en-IN" sz="2800" dirty="0">
                <a:cs typeface="Times New Roman" pitchFamily="18" charset="0"/>
              </a:rPr>
              <a:t>Very reliable since there are no contact brushes in the motor. </a:t>
            </a:r>
            <a:r>
              <a:rPr lang="en-IN" sz="2800" dirty="0" smtClean="0">
                <a:cs typeface="Times New Roman" pitchFamily="18" charset="0"/>
              </a:rPr>
              <a:t>Therefore the </a:t>
            </a:r>
            <a:r>
              <a:rPr lang="en-IN" sz="2800" dirty="0">
                <a:cs typeface="Times New Roman" pitchFamily="18" charset="0"/>
              </a:rPr>
              <a:t>life of the motor is simply dependant on the life of the bearing</a:t>
            </a:r>
            <a:r>
              <a:rPr lang="en-IN" sz="2800" dirty="0" smtClean="0">
                <a:cs typeface="Times New Roman" pitchFamily="18" charset="0"/>
              </a:rPr>
              <a:t>.</a:t>
            </a:r>
          </a:p>
          <a:p>
            <a:pPr marL="342900" indent="-342900" algn="just">
              <a:buFont typeface="Wingdings" pitchFamily="2" charset="2"/>
              <a:buChar char="ü"/>
            </a:pPr>
            <a:r>
              <a:rPr lang="en-IN" sz="2800" dirty="0" smtClean="0">
                <a:cs typeface="Times New Roman" pitchFamily="18" charset="0"/>
              </a:rPr>
              <a:t>The </a:t>
            </a:r>
            <a:r>
              <a:rPr lang="en-IN" sz="2800" dirty="0">
                <a:cs typeface="Times New Roman" pitchFamily="18" charset="0"/>
              </a:rPr>
              <a:t>motors response to digital input pulses provides open-loop </a:t>
            </a:r>
            <a:r>
              <a:rPr lang="en-IN" sz="2800" dirty="0" smtClean="0">
                <a:cs typeface="Times New Roman" pitchFamily="18" charset="0"/>
              </a:rPr>
              <a:t>control, making </a:t>
            </a:r>
            <a:r>
              <a:rPr lang="en-IN" sz="2800" dirty="0">
                <a:cs typeface="Times New Roman" pitchFamily="18" charset="0"/>
              </a:rPr>
              <a:t>the motor simpler and less costly to control</a:t>
            </a:r>
            <a:r>
              <a:rPr lang="en-IN" sz="2800" dirty="0" smtClean="0">
                <a:cs typeface="Times New Roman" pitchFamily="18" charset="0"/>
              </a:rPr>
              <a:t>.</a:t>
            </a:r>
          </a:p>
          <a:p>
            <a:pPr marL="342900" indent="-342900" algn="just">
              <a:buFont typeface="Wingdings" pitchFamily="2" charset="2"/>
              <a:buChar char="ü"/>
            </a:pPr>
            <a:r>
              <a:rPr lang="en-IN" sz="2800" dirty="0" smtClean="0">
                <a:cs typeface="Times New Roman" pitchFamily="18" charset="0"/>
              </a:rPr>
              <a:t> </a:t>
            </a:r>
            <a:r>
              <a:rPr lang="en-IN" sz="2800" dirty="0">
                <a:cs typeface="Times New Roman" pitchFamily="18" charset="0"/>
              </a:rPr>
              <a:t>It is possible to achieve very low speed synchronous rotation with a </a:t>
            </a:r>
            <a:r>
              <a:rPr lang="en-IN" sz="2800" dirty="0" smtClean="0">
                <a:cs typeface="Times New Roman" pitchFamily="18" charset="0"/>
              </a:rPr>
              <a:t>load that </a:t>
            </a:r>
            <a:r>
              <a:rPr lang="en-IN" sz="2800" dirty="0">
                <a:cs typeface="Times New Roman" pitchFamily="18" charset="0"/>
              </a:rPr>
              <a:t>is directly coupled to the shaft.</a:t>
            </a:r>
          </a:p>
          <a:p>
            <a:pPr marL="342900" indent="-342900" algn="just">
              <a:buFont typeface="Wingdings" pitchFamily="2" charset="2"/>
              <a:buChar char="ü"/>
            </a:pPr>
            <a:endParaRPr lang="en-US" sz="2800" dirty="0">
              <a:cs typeface="Times New Roman" pitchFamily="18" charset="0"/>
            </a:endParaRPr>
          </a:p>
        </p:txBody>
      </p:sp>
      <p:sp>
        <p:nvSpPr>
          <p:cNvPr id="8" name="Title 1"/>
          <p:cNvSpPr txBox="1">
            <a:spLocks/>
          </p:cNvSpPr>
          <p:nvPr/>
        </p:nvSpPr>
        <p:spPr>
          <a:xfrm>
            <a:off x="1255486" y="293914"/>
            <a:ext cx="9970702" cy="838200"/>
          </a:xfrm>
          <a:prstGeom prst="rect">
            <a:avLst/>
          </a:prstGeom>
          <a:solidFill>
            <a:schemeClr val="bg1"/>
          </a:solidFill>
          <a:ln>
            <a:solidFill>
              <a:schemeClr val="tx1"/>
            </a:solidFill>
          </a:ln>
        </p:spPr>
        <p:txBody>
          <a:bodyPr>
            <a:normAutofit/>
          </a:bodyPr>
          <a:lstStyle/>
          <a:p>
            <a:pPr algn="ctr">
              <a:defRPr/>
            </a:pPr>
            <a:r>
              <a:rPr lang="en-US" sz="4400" dirty="0" smtClean="0">
                <a:solidFill>
                  <a:schemeClr val="bg1"/>
                </a:solidFill>
                <a:latin typeface="+mj-lt"/>
                <a:cs typeface="Arial" charset="0"/>
              </a:rPr>
              <a:t> </a:t>
            </a:r>
            <a:r>
              <a:rPr lang="en-IN" sz="4400" b="1" dirty="0" smtClean="0">
                <a:latin typeface="+mj-lt"/>
              </a:rPr>
              <a:t>STEPPER MOTOR ADVANTAGES</a:t>
            </a:r>
            <a:endParaRPr lang="en-US" sz="4400" b="1" dirty="0">
              <a:solidFill>
                <a:schemeClr val="bg1"/>
              </a:solidFill>
              <a:latin typeface="+mj-lt"/>
              <a:cs typeface="Times New Roman" pitchFamily="18" charset="0"/>
            </a:endParaRPr>
          </a:p>
        </p:txBody>
      </p:sp>
      <p:sp>
        <p:nvSpPr>
          <p:cNvPr id="17413" name="AutoShape 2" descr="https://learning.oreilly.com/library/view/understanding-dc-circuits/9780750671101/images/B9780080519944500061/f01-11-9780750671101.jpg"/>
          <p:cNvSpPr>
            <a:spLocks noChangeAspect="1" noChangeArrowheads="1"/>
          </p:cNvSpPr>
          <p:nvPr/>
        </p:nvSpPr>
        <p:spPr bwMode="auto">
          <a:xfrm>
            <a:off x="207433" y="-144463"/>
            <a:ext cx="406400" cy="304801"/>
          </a:xfrm>
          <a:prstGeom prst="rect">
            <a:avLst/>
          </a:prstGeom>
          <a:noFill/>
          <a:ln w="9525">
            <a:noFill/>
            <a:miter lim="800000"/>
            <a:headEnd/>
            <a:tailEnd/>
          </a:ln>
        </p:spPr>
        <p:txBody>
          <a:bodyPr/>
          <a:lstStyle/>
          <a:p>
            <a:endParaRPr lang="en-US"/>
          </a:p>
        </p:txBody>
      </p:sp>
    </p:spTree>
    <p:extLst>
      <p:ext uri="{BB962C8B-B14F-4D97-AF65-F5344CB8AC3E}">
        <p14:creationId xmlns:p14="http://schemas.microsoft.com/office/powerpoint/2010/main" val="23446011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8"/>
          <p:cNvSpPr txBox="1">
            <a:spLocks noChangeArrowheads="1"/>
          </p:cNvSpPr>
          <p:nvPr/>
        </p:nvSpPr>
        <p:spPr bwMode="auto">
          <a:xfrm>
            <a:off x="627016" y="1489166"/>
            <a:ext cx="10254343" cy="954107"/>
          </a:xfrm>
          <a:prstGeom prst="rect">
            <a:avLst/>
          </a:prstGeom>
          <a:noFill/>
          <a:ln w="9525">
            <a:noFill/>
            <a:miter lim="800000"/>
            <a:headEnd/>
            <a:tailEnd/>
          </a:ln>
        </p:spPr>
        <p:txBody>
          <a:bodyPr wrap="square">
            <a:spAutoFit/>
          </a:bodyPr>
          <a:lstStyle/>
          <a:p>
            <a:pPr marL="342900" indent="-342900" algn="just">
              <a:buFont typeface="Wingdings" pitchFamily="2" charset="2"/>
              <a:buChar char="ü"/>
            </a:pPr>
            <a:r>
              <a:rPr lang="en-IN" sz="2800" dirty="0">
                <a:cs typeface="Times New Roman" pitchFamily="18" charset="0"/>
              </a:rPr>
              <a:t>Resonances can occur if not properly controlled.</a:t>
            </a:r>
          </a:p>
          <a:p>
            <a:pPr marL="342900" indent="-342900" algn="just">
              <a:buFont typeface="Wingdings" pitchFamily="2" charset="2"/>
              <a:buChar char="ü"/>
            </a:pPr>
            <a:r>
              <a:rPr lang="en-IN" sz="2800" dirty="0" smtClean="0">
                <a:cs typeface="Times New Roman" pitchFamily="18" charset="0"/>
              </a:rPr>
              <a:t>Not </a:t>
            </a:r>
            <a:r>
              <a:rPr lang="en-IN" sz="2800" dirty="0">
                <a:cs typeface="Times New Roman" pitchFamily="18" charset="0"/>
              </a:rPr>
              <a:t>easy to operate at extremely high speeds</a:t>
            </a:r>
            <a:endParaRPr lang="en-US" sz="2800" dirty="0">
              <a:cs typeface="Times New Roman" pitchFamily="18" charset="0"/>
            </a:endParaRPr>
          </a:p>
        </p:txBody>
      </p:sp>
      <p:sp>
        <p:nvSpPr>
          <p:cNvPr id="8" name="Title 1"/>
          <p:cNvSpPr txBox="1">
            <a:spLocks/>
          </p:cNvSpPr>
          <p:nvPr/>
        </p:nvSpPr>
        <p:spPr>
          <a:xfrm>
            <a:off x="1255486" y="293914"/>
            <a:ext cx="9970702" cy="838200"/>
          </a:xfrm>
          <a:prstGeom prst="rect">
            <a:avLst/>
          </a:prstGeom>
          <a:solidFill>
            <a:schemeClr val="bg1"/>
          </a:solidFill>
          <a:ln>
            <a:solidFill>
              <a:schemeClr val="tx1"/>
            </a:solidFill>
          </a:ln>
        </p:spPr>
        <p:txBody>
          <a:bodyPr>
            <a:normAutofit/>
          </a:bodyPr>
          <a:lstStyle/>
          <a:p>
            <a:pPr algn="ctr">
              <a:defRPr/>
            </a:pPr>
            <a:r>
              <a:rPr lang="en-US" sz="4400" dirty="0" smtClean="0">
                <a:solidFill>
                  <a:schemeClr val="bg1"/>
                </a:solidFill>
                <a:latin typeface="+mj-lt"/>
                <a:cs typeface="Arial" charset="0"/>
              </a:rPr>
              <a:t> </a:t>
            </a:r>
            <a:r>
              <a:rPr lang="en-IN" sz="4400" b="1" dirty="0" smtClean="0">
                <a:latin typeface="+mj-lt"/>
              </a:rPr>
              <a:t>STEPPER MOTOR DISADVANTAGES</a:t>
            </a:r>
            <a:endParaRPr lang="en-US" sz="4400" b="1" dirty="0">
              <a:solidFill>
                <a:schemeClr val="bg1"/>
              </a:solidFill>
              <a:latin typeface="+mj-lt"/>
              <a:cs typeface="Times New Roman" pitchFamily="18" charset="0"/>
            </a:endParaRPr>
          </a:p>
        </p:txBody>
      </p:sp>
      <p:sp>
        <p:nvSpPr>
          <p:cNvPr id="17413" name="AutoShape 2" descr="https://learning.oreilly.com/library/view/understanding-dc-circuits/9780750671101/images/B9780080519944500061/f01-11-9780750671101.jpg"/>
          <p:cNvSpPr>
            <a:spLocks noChangeAspect="1" noChangeArrowheads="1"/>
          </p:cNvSpPr>
          <p:nvPr/>
        </p:nvSpPr>
        <p:spPr bwMode="auto">
          <a:xfrm>
            <a:off x="207433" y="-144463"/>
            <a:ext cx="406400" cy="304801"/>
          </a:xfrm>
          <a:prstGeom prst="rect">
            <a:avLst/>
          </a:prstGeom>
          <a:noFill/>
          <a:ln w="9525">
            <a:noFill/>
            <a:miter lim="800000"/>
            <a:headEnd/>
            <a:tailEnd/>
          </a:ln>
        </p:spPr>
        <p:txBody>
          <a:bodyPr/>
          <a:lstStyle/>
          <a:p>
            <a:endParaRPr lang="en-US"/>
          </a:p>
        </p:txBody>
      </p:sp>
    </p:spTree>
    <p:extLst>
      <p:ext uri="{BB962C8B-B14F-4D97-AF65-F5344CB8AC3E}">
        <p14:creationId xmlns:p14="http://schemas.microsoft.com/office/powerpoint/2010/main" val="23446011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8"/>
          <p:cNvSpPr txBox="1">
            <a:spLocks noChangeArrowheads="1"/>
          </p:cNvSpPr>
          <p:nvPr/>
        </p:nvSpPr>
        <p:spPr bwMode="auto">
          <a:xfrm>
            <a:off x="627016" y="1489166"/>
            <a:ext cx="10254343" cy="3539430"/>
          </a:xfrm>
          <a:prstGeom prst="rect">
            <a:avLst/>
          </a:prstGeom>
          <a:noFill/>
          <a:ln w="9525">
            <a:noFill/>
            <a:miter lim="800000"/>
            <a:headEnd/>
            <a:tailEnd/>
          </a:ln>
        </p:spPr>
        <p:txBody>
          <a:bodyPr wrap="square">
            <a:spAutoFit/>
          </a:bodyPr>
          <a:lstStyle/>
          <a:p>
            <a:pPr marL="457200" indent="-457200" algn="just">
              <a:buFont typeface="Wingdings" pitchFamily="2" charset="2"/>
              <a:buChar char="§"/>
            </a:pPr>
            <a:r>
              <a:rPr lang="en-IN" sz="2800" dirty="0">
                <a:cs typeface="Times New Roman" pitchFamily="18" charset="0"/>
              </a:rPr>
              <a:t>Industrial Machines – Stepper motors are used in automotive </a:t>
            </a:r>
            <a:r>
              <a:rPr lang="en-IN" sz="2800" dirty="0" smtClean="0">
                <a:cs typeface="Times New Roman" pitchFamily="18" charset="0"/>
              </a:rPr>
              <a:t>gauges and </a:t>
            </a:r>
            <a:r>
              <a:rPr lang="en-IN" sz="2800" dirty="0">
                <a:cs typeface="Times New Roman" pitchFamily="18" charset="0"/>
              </a:rPr>
              <a:t>machine tooling automated production equipment's.</a:t>
            </a:r>
          </a:p>
          <a:p>
            <a:pPr marL="457200" indent="-457200" algn="just">
              <a:buFont typeface="Wingdings" pitchFamily="2" charset="2"/>
              <a:buChar char="§"/>
            </a:pPr>
            <a:r>
              <a:rPr lang="en-IN" sz="2800" dirty="0" smtClean="0">
                <a:cs typeface="Times New Roman" pitchFamily="18" charset="0"/>
              </a:rPr>
              <a:t>Security </a:t>
            </a:r>
            <a:r>
              <a:rPr lang="en-IN" sz="2800" dirty="0">
                <a:cs typeface="Times New Roman" pitchFamily="18" charset="0"/>
              </a:rPr>
              <a:t>– new surveillance products for the security industry</a:t>
            </a:r>
            <a:r>
              <a:rPr lang="en-IN" sz="2800" dirty="0" smtClean="0">
                <a:cs typeface="Times New Roman" pitchFamily="18" charset="0"/>
              </a:rPr>
              <a:t>.</a:t>
            </a:r>
          </a:p>
          <a:p>
            <a:pPr marL="457200" indent="-457200" algn="just">
              <a:buFont typeface="Wingdings" pitchFamily="2" charset="2"/>
              <a:buChar char="§"/>
            </a:pPr>
            <a:r>
              <a:rPr lang="en-IN" sz="2800" dirty="0" smtClean="0">
                <a:cs typeface="Times New Roman" pitchFamily="18" charset="0"/>
              </a:rPr>
              <a:t>Medical </a:t>
            </a:r>
            <a:r>
              <a:rPr lang="en-IN" sz="2800" dirty="0">
                <a:cs typeface="Times New Roman" pitchFamily="18" charset="0"/>
              </a:rPr>
              <a:t>– Stepper motors are used inside medical scanners, </a:t>
            </a:r>
            <a:r>
              <a:rPr lang="en-IN" sz="2800" dirty="0" smtClean="0">
                <a:cs typeface="Times New Roman" pitchFamily="18" charset="0"/>
              </a:rPr>
              <a:t>samplers, and </a:t>
            </a:r>
            <a:r>
              <a:rPr lang="en-IN" sz="2800" dirty="0">
                <a:cs typeface="Times New Roman" pitchFamily="18" charset="0"/>
              </a:rPr>
              <a:t>also found inside digital dental photography, fluid </a:t>
            </a:r>
            <a:r>
              <a:rPr lang="en-IN" sz="2800" dirty="0" smtClean="0">
                <a:cs typeface="Times New Roman" pitchFamily="18" charset="0"/>
              </a:rPr>
              <a:t>pumps, respirators </a:t>
            </a:r>
            <a:r>
              <a:rPr lang="en-IN" sz="2800" dirty="0">
                <a:cs typeface="Times New Roman" pitchFamily="18" charset="0"/>
              </a:rPr>
              <a:t>and blood analysis machinery</a:t>
            </a:r>
            <a:r>
              <a:rPr lang="en-IN" sz="2800" dirty="0" smtClean="0">
                <a:cs typeface="Times New Roman" pitchFamily="18" charset="0"/>
              </a:rPr>
              <a:t>.</a:t>
            </a:r>
          </a:p>
          <a:p>
            <a:pPr marL="457200" indent="-457200" algn="just">
              <a:buFont typeface="Wingdings" pitchFamily="2" charset="2"/>
              <a:buChar char="§"/>
            </a:pPr>
            <a:r>
              <a:rPr lang="en-IN" sz="2800" dirty="0" smtClean="0">
                <a:cs typeface="Times New Roman" pitchFamily="18" charset="0"/>
              </a:rPr>
              <a:t>Consumer </a:t>
            </a:r>
            <a:r>
              <a:rPr lang="en-IN" sz="2800" dirty="0">
                <a:cs typeface="Times New Roman" pitchFamily="18" charset="0"/>
              </a:rPr>
              <a:t>Electronics – Stepper motors in cameras for </a:t>
            </a:r>
            <a:r>
              <a:rPr lang="en-IN" sz="2800" dirty="0" smtClean="0">
                <a:cs typeface="Times New Roman" pitchFamily="18" charset="0"/>
              </a:rPr>
              <a:t>automatic digital </a:t>
            </a:r>
            <a:r>
              <a:rPr lang="en-IN" sz="2800" dirty="0">
                <a:cs typeface="Times New Roman" pitchFamily="18" charset="0"/>
              </a:rPr>
              <a:t>camera focus and zoom functions</a:t>
            </a:r>
            <a:r>
              <a:rPr lang="en-IN" sz="2800" dirty="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sp>
        <p:nvSpPr>
          <p:cNvPr id="8" name="Title 1"/>
          <p:cNvSpPr txBox="1">
            <a:spLocks/>
          </p:cNvSpPr>
          <p:nvPr/>
        </p:nvSpPr>
        <p:spPr>
          <a:xfrm>
            <a:off x="1255486" y="293914"/>
            <a:ext cx="9970702" cy="838200"/>
          </a:xfrm>
          <a:prstGeom prst="rect">
            <a:avLst/>
          </a:prstGeom>
          <a:solidFill>
            <a:schemeClr val="bg1"/>
          </a:solidFill>
          <a:ln>
            <a:solidFill>
              <a:schemeClr val="tx1"/>
            </a:solidFill>
          </a:ln>
        </p:spPr>
        <p:txBody>
          <a:bodyPr>
            <a:normAutofit/>
          </a:bodyPr>
          <a:lstStyle/>
          <a:p>
            <a:pPr algn="ctr">
              <a:defRPr/>
            </a:pPr>
            <a:r>
              <a:rPr lang="en-US" sz="4400" dirty="0" smtClean="0">
                <a:solidFill>
                  <a:schemeClr val="bg1"/>
                </a:solidFill>
                <a:latin typeface="+mj-lt"/>
                <a:cs typeface="Arial" charset="0"/>
              </a:rPr>
              <a:t> </a:t>
            </a:r>
            <a:r>
              <a:rPr lang="en-IN" sz="4400" b="1" dirty="0" smtClean="0">
                <a:latin typeface="+mj-lt"/>
              </a:rPr>
              <a:t>STEPPER MOTOR APPLICATIONS</a:t>
            </a:r>
            <a:endParaRPr lang="en-US" sz="4400" b="1" dirty="0">
              <a:solidFill>
                <a:schemeClr val="bg1"/>
              </a:solidFill>
              <a:latin typeface="+mj-lt"/>
              <a:cs typeface="Times New Roman" pitchFamily="18" charset="0"/>
            </a:endParaRPr>
          </a:p>
        </p:txBody>
      </p:sp>
      <p:sp>
        <p:nvSpPr>
          <p:cNvPr id="17413" name="AutoShape 2" descr="https://learning.oreilly.com/library/view/understanding-dc-circuits/9780750671101/images/B9780080519944500061/f01-11-9780750671101.jpg"/>
          <p:cNvSpPr>
            <a:spLocks noChangeAspect="1" noChangeArrowheads="1"/>
          </p:cNvSpPr>
          <p:nvPr/>
        </p:nvSpPr>
        <p:spPr bwMode="auto">
          <a:xfrm>
            <a:off x="207433" y="-144463"/>
            <a:ext cx="406400" cy="304801"/>
          </a:xfrm>
          <a:prstGeom prst="rect">
            <a:avLst/>
          </a:prstGeom>
          <a:noFill/>
          <a:ln w="9525">
            <a:noFill/>
            <a:miter lim="800000"/>
            <a:headEnd/>
            <a:tailEnd/>
          </a:ln>
        </p:spPr>
        <p:txBody>
          <a:bodyPr/>
          <a:lstStyle/>
          <a:p>
            <a:endParaRPr lang="en-US"/>
          </a:p>
        </p:txBody>
      </p:sp>
    </p:spTree>
    <p:extLst>
      <p:ext uri="{BB962C8B-B14F-4D97-AF65-F5344CB8AC3E}">
        <p14:creationId xmlns:p14="http://schemas.microsoft.com/office/powerpoint/2010/main" val="23446011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700" y="1733080"/>
            <a:ext cx="6503677" cy="4351338"/>
          </a:xfrm>
        </p:spPr>
        <p:txBody>
          <a:bodyPr>
            <a:noAutofit/>
          </a:bodyPr>
          <a:lstStyle/>
          <a:p>
            <a:pPr marL="342900" indent="-342900" algn="just"/>
            <a:r>
              <a:rPr lang="en-IN" dirty="0"/>
              <a:t>A Linear Induction Motor (or </a:t>
            </a:r>
            <a:r>
              <a:rPr lang="en-IN" b="1" dirty="0"/>
              <a:t>LIM</a:t>
            </a:r>
            <a:r>
              <a:rPr lang="en-IN" dirty="0"/>
              <a:t>) is a special type of induction motor used to achieve rectilinear motion rather than rotational motion as in the case of conventional motors</a:t>
            </a:r>
            <a:r>
              <a:rPr lang="en-IN" dirty="0" smtClean="0"/>
              <a:t>.</a:t>
            </a:r>
          </a:p>
          <a:p>
            <a:pPr marL="342900" indent="-342900" algn="just"/>
            <a:r>
              <a:rPr lang="en-IN" dirty="0" smtClean="0"/>
              <a:t> </a:t>
            </a:r>
            <a:r>
              <a:rPr lang="en-IN" dirty="0"/>
              <a:t>Linear induction motors are quite an engineering marvel, to convert a general motor for a special purpose with more or less similar working principle, thus enhancing its versatility of operation. </a:t>
            </a:r>
            <a:endParaRPr lang="en-IN" dirty="0" smtClean="0"/>
          </a:p>
        </p:txBody>
      </p:sp>
      <p:sp>
        <p:nvSpPr>
          <p:cNvPr id="4" name="Slide Number Placeholder 3"/>
          <p:cNvSpPr>
            <a:spLocks noGrp="1"/>
          </p:cNvSpPr>
          <p:nvPr>
            <p:ph type="sldNum" sz="quarter" idx="12"/>
          </p:nvPr>
        </p:nvSpPr>
        <p:spPr/>
        <p:txBody>
          <a:bodyPr/>
          <a:lstStyle/>
          <a:p>
            <a:fld id="{BDCDBBEF-AA6C-4BA6-85B2-A17D7F280E38}" type="slidenum">
              <a:rPr lang="en-US" smtClean="0"/>
              <a:pPr/>
              <a:t>30</a:t>
            </a:fld>
            <a:endParaRPr lang="en-US"/>
          </a:p>
        </p:txBody>
      </p:sp>
      <p:sp>
        <p:nvSpPr>
          <p:cNvPr id="7" name="Title 1"/>
          <p:cNvSpPr txBox="1">
            <a:spLocks/>
          </p:cNvSpPr>
          <p:nvPr/>
        </p:nvSpPr>
        <p:spPr>
          <a:xfrm>
            <a:off x="1059543" y="244658"/>
            <a:ext cx="9575074" cy="1119686"/>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p>
            <a:pPr algn="ctr"/>
            <a:r>
              <a:rPr lang="en-IN" sz="4400" b="1" dirty="0" smtClean="0"/>
              <a:t> </a:t>
            </a:r>
            <a:r>
              <a:rPr lang="en-IN" sz="4400" b="1" dirty="0" smtClean="0">
                <a:latin typeface="+mj-lt"/>
              </a:rPr>
              <a:t>LINEAR INDUCTION MOTOR</a:t>
            </a:r>
            <a:endParaRPr lang="en-IN" sz="4400" b="1" dirty="0">
              <a:latin typeface="+mj-lt"/>
            </a:endParaRPr>
          </a:p>
        </p:txBody>
      </p:sp>
      <p:pic>
        <p:nvPicPr>
          <p:cNvPr id="181250" name="Picture 2" descr="What are linear induction motors?"/>
          <p:cNvPicPr>
            <a:picLocks noChangeAspect="1" noChangeArrowheads="1"/>
          </p:cNvPicPr>
          <p:nvPr/>
        </p:nvPicPr>
        <p:blipFill>
          <a:blip r:embed="rId3" cstate="print"/>
          <a:srcRect/>
          <a:stretch>
            <a:fillRect/>
          </a:stretch>
        </p:blipFill>
        <p:spPr bwMode="auto">
          <a:xfrm>
            <a:off x="6864439" y="2009104"/>
            <a:ext cx="5082862" cy="294711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p:cNvSpPr txBox="1"/>
          <p:nvPr/>
        </p:nvSpPr>
        <p:spPr>
          <a:xfrm>
            <a:off x="7984902" y="5203064"/>
            <a:ext cx="2792111" cy="369332"/>
          </a:xfrm>
          <a:prstGeom prst="rect">
            <a:avLst/>
          </a:prstGeom>
          <a:noFill/>
        </p:spPr>
        <p:txBody>
          <a:bodyPr wrap="none" rtlCol="0">
            <a:spAutoFit/>
          </a:bodyPr>
          <a:lstStyle/>
          <a:p>
            <a:r>
              <a:rPr lang="en-US" dirty="0" smtClean="0"/>
              <a:t>Fig.1 linear induction motor</a:t>
            </a:r>
            <a:endParaRPr lang="en-US" dirty="0"/>
          </a:p>
        </p:txBody>
      </p:sp>
      <p:sp>
        <p:nvSpPr>
          <p:cNvPr id="8" name="TextBox 7"/>
          <p:cNvSpPr txBox="1"/>
          <p:nvPr/>
        </p:nvSpPr>
        <p:spPr>
          <a:xfrm>
            <a:off x="7018986" y="5666704"/>
            <a:ext cx="4610636"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smtClean="0">
                <a:hlinkClick r:id="rId4"/>
              </a:rPr>
              <a:t>https://www.linearmotiontips.com/what-are-linear-induction-motors/</a:t>
            </a:r>
            <a:endParaRPr lang="en-US" dirty="0"/>
          </a:p>
        </p:txBody>
      </p:sp>
    </p:spTree>
    <p:extLst>
      <p:ext uri="{BB962C8B-B14F-4D97-AF65-F5344CB8AC3E}">
        <p14:creationId xmlns:p14="http://schemas.microsoft.com/office/powerpoint/2010/main" val="60491197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4552" y="365126"/>
            <a:ext cx="10715223" cy="928098"/>
          </a:xfrm>
        </p:spPr>
        <p:style>
          <a:lnRef idx="2">
            <a:schemeClr val="dk1"/>
          </a:lnRef>
          <a:fillRef idx="1">
            <a:schemeClr val="lt1"/>
          </a:fillRef>
          <a:effectRef idx="0">
            <a:schemeClr val="dk1"/>
          </a:effectRef>
          <a:fontRef idx="minor">
            <a:schemeClr val="dk1"/>
          </a:fontRef>
        </p:style>
        <p:txBody>
          <a:bodyPr>
            <a:normAutofit/>
          </a:bodyPr>
          <a:lstStyle/>
          <a:p>
            <a:r>
              <a:rPr lang="en-IN" b="1" dirty="0" smtClean="0">
                <a:latin typeface="+mj-lt"/>
              </a:rPr>
              <a:t>CONSTRUCTION OF LINEAR INDUCTION MOTOR</a:t>
            </a:r>
            <a:endParaRPr lang="en-IN" b="1" dirty="0">
              <a:latin typeface="+mj-lt"/>
            </a:endParaRPr>
          </a:p>
        </p:txBody>
      </p:sp>
      <p:sp>
        <p:nvSpPr>
          <p:cNvPr id="3" name="Content Placeholder 2"/>
          <p:cNvSpPr>
            <a:spLocks noGrp="1"/>
          </p:cNvSpPr>
          <p:nvPr>
            <p:ph idx="1"/>
          </p:nvPr>
        </p:nvSpPr>
        <p:spPr>
          <a:xfrm>
            <a:off x="772886" y="1512117"/>
            <a:ext cx="11051965" cy="4373528"/>
          </a:xfrm>
        </p:spPr>
        <p:txBody>
          <a:bodyPr>
            <a:noAutofit/>
          </a:bodyPr>
          <a:lstStyle/>
          <a:p>
            <a:pPr marL="342900" indent="-342900" algn="just"/>
            <a:r>
              <a:rPr lang="en-IN" dirty="0"/>
              <a:t>The basic design and construction of a linear induction motor is similar to a three phase induction motor, although it does not look like a conventional induction motor. If we cut the stator of a </a:t>
            </a:r>
            <a:r>
              <a:rPr lang="en-IN" dirty="0" err="1"/>
              <a:t>polyphase</a:t>
            </a:r>
            <a:r>
              <a:rPr lang="en-IN" dirty="0"/>
              <a:t> induction motor and lay on a flat surface, it forms the primary of the linear induction motor system. </a:t>
            </a:r>
            <a:endParaRPr lang="en-IN" dirty="0" smtClean="0"/>
          </a:p>
          <a:p>
            <a:pPr marL="342900" indent="-342900" algn="just"/>
            <a:r>
              <a:rPr lang="en-IN" dirty="0" smtClean="0"/>
              <a:t>Similarly</a:t>
            </a:r>
            <a:r>
              <a:rPr lang="en-IN" dirty="0"/>
              <a:t>, after cutting the rotor of the induction motor and making it flat, we get the secondary of the system</a:t>
            </a:r>
            <a:r>
              <a:rPr lang="en-IN" dirty="0" smtClean="0"/>
              <a:t>.</a:t>
            </a:r>
            <a:endParaRPr lang="en-IN" dirty="0">
              <a:cs typeface="Times New Roman" pitchFamily="18" charset="0"/>
            </a:endParaRPr>
          </a:p>
          <a:p>
            <a:pPr marL="342900" indent="-342900" algn="just"/>
            <a:r>
              <a:rPr lang="en-IN" dirty="0"/>
              <a:t>There is another variant of LIM also being used for increasing efficiency known as the </a:t>
            </a:r>
            <a:r>
              <a:rPr lang="en-IN" b="1" dirty="0"/>
              <a:t>Double Sided Linear Induction Motor</a:t>
            </a:r>
            <a:r>
              <a:rPr lang="en-IN" dirty="0"/>
              <a:t> or </a:t>
            </a:r>
            <a:r>
              <a:rPr lang="en-IN" b="1" dirty="0"/>
              <a:t>DLIM</a:t>
            </a:r>
            <a:r>
              <a:rPr lang="en-IN" dirty="0"/>
              <a:t>, as shown in the figure below. It has primary on either side of the secondary, for more effective utilization of the flux from both sides.</a:t>
            </a:r>
            <a:endParaRPr lang="en-IN" dirty="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31</a:t>
            </a:fld>
            <a:endParaRPr lang="en-US"/>
          </a:p>
        </p:txBody>
      </p:sp>
    </p:spTree>
    <p:extLst>
      <p:ext uri="{BB962C8B-B14F-4D97-AF65-F5344CB8AC3E}">
        <p14:creationId xmlns:p14="http://schemas.microsoft.com/office/powerpoint/2010/main" val="60491197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37104"/>
          </a:xfrm>
        </p:spPr>
        <p:style>
          <a:lnRef idx="2">
            <a:schemeClr val="dk1"/>
          </a:lnRef>
          <a:fillRef idx="1">
            <a:schemeClr val="lt1"/>
          </a:fillRef>
          <a:effectRef idx="0">
            <a:schemeClr val="dk1"/>
          </a:effectRef>
          <a:fontRef idx="minor">
            <a:schemeClr val="dk1"/>
          </a:fontRef>
        </p:style>
        <p:txBody>
          <a:bodyPr>
            <a:normAutofit fontScale="90000"/>
          </a:bodyPr>
          <a:lstStyle/>
          <a:p>
            <a:pPr algn="ctr"/>
            <a:r>
              <a:rPr lang="en-IN" b="1" dirty="0" smtClean="0">
                <a:latin typeface="+mj-lt"/>
              </a:rPr>
              <a:t>WORKING PRINCIPLE OF LINEAR INDUCTION MOTOR</a:t>
            </a:r>
            <a:endParaRPr lang="en-IN" b="1" dirty="0">
              <a:latin typeface="+mj-lt"/>
            </a:endParaRPr>
          </a:p>
        </p:txBody>
      </p:sp>
      <p:sp>
        <p:nvSpPr>
          <p:cNvPr id="3" name="Content Placeholder 2"/>
          <p:cNvSpPr>
            <a:spLocks noGrp="1"/>
          </p:cNvSpPr>
          <p:nvPr>
            <p:ph idx="1"/>
          </p:nvPr>
        </p:nvSpPr>
        <p:spPr>
          <a:xfrm>
            <a:off x="838199" y="1590493"/>
            <a:ext cx="10598239" cy="5145157"/>
          </a:xfrm>
        </p:spPr>
        <p:txBody>
          <a:bodyPr>
            <a:noAutofit/>
          </a:bodyPr>
          <a:lstStyle/>
          <a:p>
            <a:pPr algn="just"/>
            <a:r>
              <a:rPr lang="en-IN" dirty="0"/>
              <a:t>When the primary of a LIM gets excited by a balanced three-phase power supply, a flux starts traveling along the entire length of the primary. </a:t>
            </a:r>
            <a:endParaRPr lang="en-IN" dirty="0" smtClean="0"/>
          </a:p>
          <a:p>
            <a:pPr algn="just"/>
            <a:r>
              <a:rPr lang="en-IN" dirty="0" smtClean="0"/>
              <a:t>This </a:t>
            </a:r>
            <a:r>
              <a:rPr lang="en-IN" dirty="0"/>
              <a:t>linearly traveling magnetic field is equivalent to the </a:t>
            </a:r>
            <a:r>
              <a:rPr lang="en-IN" dirty="0" smtClean="0"/>
              <a:t>rotating magnetic field in </a:t>
            </a:r>
            <a:r>
              <a:rPr lang="en-IN" dirty="0"/>
              <a:t>the stator of a </a:t>
            </a:r>
            <a:r>
              <a:rPr lang="en-IN" dirty="0" smtClean="0"/>
              <a:t>three phase induction motor or </a:t>
            </a:r>
            <a:r>
              <a:rPr lang="en-IN" dirty="0"/>
              <a:t>a synchronous motor. </a:t>
            </a:r>
            <a:r>
              <a:rPr lang="en-IN" dirty="0" smtClean="0"/>
              <a:t>Electric current gets </a:t>
            </a:r>
            <a:r>
              <a:rPr lang="en-IN" dirty="0"/>
              <a:t>induced in the conductors of the secondary due to the relative motion between the traveling flux and the conductors. </a:t>
            </a:r>
            <a:endParaRPr lang="en-IN" dirty="0" smtClean="0"/>
          </a:p>
          <a:p>
            <a:pPr algn="just"/>
            <a:r>
              <a:rPr lang="en-IN" dirty="0" smtClean="0"/>
              <a:t>Then </a:t>
            </a:r>
            <a:r>
              <a:rPr lang="en-IN" dirty="0"/>
              <a:t>the induced current interacts with the traveling flux wave to produce linear force or thrust</a:t>
            </a:r>
            <a:r>
              <a:rPr lang="en-IN" dirty="0" smtClean="0"/>
              <a:t>.</a:t>
            </a:r>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32</a:t>
            </a:fld>
            <a:endParaRPr lang="en-US"/>
          </a:p>
        </p:txBody>
      </p:sp>
      <p:sp>
        <p:nvSpPr>
          <p:cNvPr id="128002" name="AutoShape 2" descr="Is the symbol of resistance and resistor the same? - Quor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8004" name="AutoShape 4" descr="Is the symbol of resistance and resistor the same? - Quor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37104"/>
          </a:xfrm>
        </p:spPr>
        <p:style>
          <a:lnRef idx="2">
            <a:schemeClr val="dk1"/>
          </a:lnRef>
          <a:fillRef idx="1">
            <a:schemeClr val="lt1"/>
          </a:fillRef>
          <a:effectRef idx="0">
            <a:schemeClr val="dk1"/>
          </a:effectRef>
          <a:fontRef idx="minor">
            <a:schemeClr val="dk1"/>
          </a:fontRef>
        </p:style>
        <p:txBody>
          <a:bodyPr>
            <a:normAutofit fontScale="90000"/>
          </a:bodyPr>
          <a:lstStyle/>
          <a:p>
            <a:pPr algn="ctr"/>
            <a:r>
              <a:rPr lang="en-IN" b="1" dirty="0" smtClean="0">
                <a:latin typeface="+mj-lt"/>
              </a:rPr>
              <a:t>WORKING PRINCIPLE OF LINEAR INDUCTION MOTOR</a:t>
            </a:r>
            <a:endParaRPr lang="en-IN" b="1" dirty="0">
              <a:latin typeface="+mj-lt"/>
            </a:endParaRPr>
          </a:p>
        </p:txBody>
      </p:sp>
      <p:sp>
        <p:nvSpPr>
          <p:cNvPr id="3" name="Content Placeholder 2"/>
          <p:cNvSpPr>
            <a:spLocks noGrp="1"/>
          </p:cNvSpPr>
          <p:nvPr>
            <p:ph idx="1"/>
          </p:nvPr>
        </p:nvSpPr>
        <p:spPr>
          <a:xfrm>
            <a:off x="838200" y="1590493"/>
            <a:ext cx="10515600" cy="5145157"/>
          </a:xfrm>
        </p:spPr>
        <p:txBody>
          <a:bodyPr>
            <a:noAutofit/>
          </a:bodyPr>
          <a:lstStyle/>
          <a:p>
            <a:pPr algn="just"/>
            <a:r>
              <a:rPr lang="en-IN" dirty="0" smtClean="0"/>
              <a:t>If the primary is fixed and the secondary is free to move, the force will pull the secondary in the direction of the force and will result in the required rectilinear motion. </a:t>
            </a:r>
          </a:p>
          <a:p>
            <a:pPr algn="just"/>
            <a:r>
              <a:rPr lang="en-IN" dirty="0" smtClean="0"/>
              <a:t>When we give supply to the system the developed field will result in a linear travelling field, the velocity of which is given by the equation,</a:t>
            </a:r>
          </a:p>
          <a:p>
            <a:pPr algn="just"/>
            <a:r>
              <a:rPr lang="en-IN" dirty="0" smtClean="0"/>
              <a:t>Where </a:t>
            </a:r>
            <a:r>
              <a:rPr lang="en-IN" dirty="0" err="1" smtClean="0"/>
              <a:t>f</a:t>
            </a:r>
            <a:r>
              <a:rPr lang="en-IN" baseline="-25000" dirty="0" err="1" smtClean="0"/>
              <a:t>s</a:t>
            </a:r>
            <a:r>
              <a:rPr lang="en-IN" dirty="0" smtClean="0"/>
              <a:t> is the supply frequency in Hz, V</a:t>
            </a:r>
            <a:r>
              <a:rPr lang="en-IN" baseline="-25000" dirty="0" smtClean="0"/>
              <a:t>s</a:t>
            </a:r>
            <a:r>
              <a:rPr lang="en-IN" dirty="0" smtClean="0"/>
              <a:t> is the velocity of the linear </a:t>
            </a:r>
            <a:r>
              <a:rPr lang="en-IN" dirty="0" err="1" smtClean="0"/>
              <a:t>traveling</a:t>
            </a:r>
            <a:r>
              <a:rPr lang="en-IN" dirty="0" smtClean="0"/>
              <a:t> field in meter per second, and t is the linear pole pitch i.e. pole to pole linear distance in meter.</a:t>
            </a:r>
          </a:p>
          <a:p>
            <a:pPr algn="just"/>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33</a:t>
            </a:fld>
            <a:endParaRPr lang="en-US"/>
          </a:p>
        </p:txBody>
      </p:sp>
      <p:sp>
        <p:nvSpPr>
          <p:cNvPr id="128002" name="AutoShape 2" descr="Is the symbol of resistance and resistor the same? - Quor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8004" name="AutoShape 4" descr="Is the symbol of resistance and resistor the same? - Quor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7"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72743" y="5168213"/>
            <a:ext cx="3190942" cy="807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5137" y="1619794"/>
            <a:ext cx="10696303" cy="4783837"/>
          </a:xfrm>
        </p:spPr>
        <p:txBody>
          <a:bodyPr>
            <a:noAutofit/>
          </a:bodyPr>
          <a:lstStyle/>
          <a:p>
            <a:r>
              <a:rPr lang="en-IN" dirty="0" smtClean="0"/>
              <a:t>Automatic </a:t>
            </a:r>
            <a:r>
              <a:rPr lang="en-IN" dirty="0"/>
              <a:t>sliding doors in electric trains.</a:t>
            </a:r>
          </a:p>
          <a:p>
            <a:r>
              <a:rPr lang="en-IN" dirty="0"/>
              <a:t>Mechanical handling equipment, such as propulsion of a train of tubs along a certain route.</a:t>
            </a:r>
          </a:p>
          <a:p>
            <a:r>
              <a:rPr lang="en-IN" dirty="0"/>
              <a:t>Metallic conveyor belts.</a:t>
            </a:r>
          </a:p>
          <a:p>
            <a:r>
              <a:rPr lang="en-IN" dirty="0"/>
              <a:t>Pumping of liquid metal, material handling in cranes, etc</a:t>
            </a:r>
            <a:r>
              <a:rPr lang="en-IN" dirty="0" smtClean="0"/>
              <a:t>.</a:t>
            </a:r>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34</a:t>
            </a:fld>
            <a:endParaRPr lang="en-US"/>
          </a:p>
        </p:txBody>
      </p:sp>
      <p:sp>
        <p:nvSpPr>
          <p:cNvPr id="6" name="Title 1"/>
          <p:cNvSpPr txBox="1">
            <a:spLocks/>
          </p:cNvSpPr>
          <p:nvPr/>
        </p:nvSpPr>
        <p:spPr>
          <a:xfrm>
            <a:off x="864326" y="313509"/>
            <a:ext cx="10515600" cy="1137104"/>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ctr">
            <a:normAutofit/>
          </a:bodyPr>
          <a:lstStyle/>
          <a:p>
            <a:pPr algn="ctr"/>
            <a:r>
              <a:rPr lang="en-IN" sz="4400" b="1" dirty="0" smtClean="0">
                <a:latin typeface="+mj-lt"/>
              </a:rPr>
              <a:t>APPLICATION OF LINEAR INDUCTION MOTOR</a:t>
            </a:r>
            <a:endParaRPr lang="en-IN" sz="4400" b="1" dirty="0">
              <a:latin typeface="+mj-lt"/>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
          <p:cNvSpPr>
            <a:spLocks noGrp="1" noChangeArrowheads="1"/>
          </p:cNvSpPr>
          <p:nvPr>
            <p:ph type="body" idx="1"/>
          </p:nvPr>
        </p:nvSpPr>
        <p:spPr>
          <a:xfrm>
            <a:off x="609600" y="1134737"/>
            <a:ext cx="10972800" cy="4961263"/>
          </a:xfrm>
        </p:spPr>
        <p:txBody>
          <a:bodyPr/>
          <a:lstStyle/>
          <a:p>
            <a:pPr eaLnBrk="1" hangingPunct="1">
              <a:lnSpc>
                <a:spcPct val="80000"/>
              </a:lnSpc>
              <a:buFontTx/>
              <a:buNone/>
            </a:pPr>
            <a:r>
              <a:rPr lang="en-US" sz="2400" dirty="0" smtClean="0"/>
              <a:t> </a:t>
            </a:r>
          </a:p>
        </p:txBody>
      </p:sp>
      <p:sp>
        <p:nvSpPr>
          <p:cNvPr id="7" name="Title 1"/>
          <p:cNvSpPr txBox="1">
            <a:spLocks/>
          </p:cNvSpPr>
          <p:nvPr/>
        </p:nvSpPr>
        <p:spPr>
          <a:xfrm>
            <a:off x="1257300" y="195943"/>
            <a:ext cx="9586913" cy="849086"/>
          </a:xfrm>
          <a:prstGeom prst="rect">
            <a:avLst/>
          </a:prstGeom>
          <a:solidFill>
            <a:schemeClr val="bg1"/>
          </a:solidFill>
          <a:ln>
            <a:solidFill>
              <a:schemeClr val="tx1"/>
            </a:solidFill>
          </a:ln>
        </p:spPr>
        <p:txBody>
          <a:bodyPr/>
          <a:lstStyle/>
          <a:p>
            <a:pPr algn="ctr" eaLnBrk="0" hangingPunct="0">
              <a:defRPr/>
            </a:pPr>
            <a:r>
              <a:rPr lang="en-US" sz="4400" b="1" dirty="0" smtClean="0">
                <a:latin typeface="+mj-lt"/>
                <a:cs typeface="Times New Roman" pitchFamily="18" charset="0"/>
              </a:rPr>
              <a:t>FREQUENTLY ASKED QUESTIONS</a:t>
            </a:r>
          </a:p>
          <a:p>
            <a:pPr algn="ctr" eaLnBrk="0" hangingPunct="0">
              <a:defRPr/>
            </a:pPr>
            <a:endParaRPr lang="en-IN" sz="4400" b="1" kern="0" dirty="0">
              <a:solidFill>
                <a:schemeClr val="bg1"/>
              </a:solidFill>
              <a:latin typeface="+mj-lt"/>
              <a:ea typeface="+mj-ea"/>
            </a:endParaRPr>
          </a:p>
        </p:txBody>
      </p:sp>
      <p:sp>
        <p:nvSpPr>
          <p:cNvPr id="2055" name="Text Box 7"/>
          <p:cNvSpPr txBox="1">
            <a:spLocks noChangeArrowheads="1"/>
          </p:cNvSpPr>
          <p:nvPr/>
        </p:nvSpPr>
        <p:spPr bwMode="auto">
          <a:xfrm>
            <a:off x="459317" y="1371601"/>
            <a:ext cx="11427883" cy="3539430"/>
          </a:xfrm>
          <a:prstGeom prst="rect">
            <a:avLst/>
          </a:prstGeom>
          <a:noFill/>
          <a:ln w="9525">
            <a:noFill/>
            <a:miter lim="800000"/>
            <a:headEnd/>
            <a:tailEnd/>
          </a:ln>
        </p:spPr>
        <p:txBody>
          <a:bodyPr>
            <a:spAutoFit/>
          </a:bodyPr>
          <a:lstStyle/>
          <a:p>
            <a:pPr marL="514350" indent="-514350">
              <a:buFont typeface="+mj-lt"/>
              <a:buAutoNum type="arabicPeriod"/>
            </a:pPr>
            <a:r>
              <a:rPr lang="en-US" sz="2800" dirty="0" smtClean="0">
                <a:cs typeface="Times New Roman" pitchFamily="18" charset="0"/>
              </a:rPr>
              <a:t>Why servo motor is used for feedback system?</a:t>
            </a:r>
          </a:p>
          <a:p>
            <a:pPr marL="514350" indent="-514350">
              <a:buFont typeface="+mj-lt"/>
              <a:buAutoNum type="arabicPeriod"/>
            </a:pPr>
            <a:r>
              <a:rPr lang="en-US" sz="2800" dirty="0" smtClean="0">
                <a:cs typeface="Times New Roman" pitchFamily="18" charset="0"/>
              </a:rPr>
              <a:t>What are the different types of dc servo motor?</a:t>
            </a:r>
          </a:p>
          <a:p>
            <a:pPr marL="514350" indent="-514350">
              <a:buFont typeface="+mj-lt"/>
              <a:buAutoNum type="arabicPeriod"/>
            </a:pPr>
            <a:r>
              <a:rPr lang="en-US" sz="2800" dirty="0">
                <a:cs typeface="Times New Roman" pitchFamily="18" charset="0"/>
              </a:rPr>
              <a:t>Discuss applications of </a:t>
            </a:r>
            <a:r>
              <a:rPr lang="en-US" sz="2800" dirty="0" smtClean="0">
                <a:cs typeface="Times New Roman" pitchFamily="18" charset="0"/>
              </a:rPr>
              <a:t>servo motor.</a:t>
            </a:r>
          </a:p>
          <a:p>
            <a:pPr marL="514350" indent="-514350">
              <a:buFont typeface="+mj-lt"/>
              <a:buAutoNum type="arabicPeriod"/>
            </a:pPr>
            <a:r>
              <a:rPr lang="en-US" sz="2800" dirty="0" smtClean="0">
                <a:cs typeface="Times New Roman" pitchFamily="18" charset="0"/>
              </a:rPr>
              <a:t>What are the difference between variable and hybrid type stepper motor?</a:t>
            </a:r>
          </a:p>
          <a:p>
            <a:pPr marL="514350" indent="-514350">
              <a:buFont typeface="+mj-lt"/>
              <a:buAutoNum type="arabicPeriod"/>
            </a:pPr>
            <a:r>
              <a:rPr lang="en-US" sz="2800" dirty="0" smtClean="0">
                <a:cs typeface="Times New Roman" pitchFamily="18" charset="0"/>
              </a:rPr>
              <a:t>Discuss applications of stepper motor.</a:t>
            </a:r>
          </a:p>
          <a:p>
            <a:pPr marL="514350" indent="-514350"/>
            <a:endParaRPr lang="en-US" sz="2800" dirty="0" smtClean="0">
              <a:cs typeface="Times New Roman" pitchFamily="18" charset="0"/>
            </a:endParaRPr>
          </a:p>
          <a:p>
            <a:endParaRPr lang="en-US" sz="2800" dirty="0" smtClean="0">
              <a:cs typeface="Times New Roman" pitchFamily="18" charset="0"/>
            </a:endParaRPr>
          </a:p>
          <a:p>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txBox="1">
            <a:spLocks/>
          </p:cNvSpPr>
          <p:nvPr/>
        </p:nvSpPr>
        <p:spPr bwMode="auto">
          <a:xfrm>
            <a:off x="1971039" y="269240"/>
            <a:ext cx="8331200" cy="842554"/>
          </a:xfrm>
          <a:prstGeom prst="rect">
            <a:avLst/>
          </a:prstGeom>
          <a:solidFill>
            <a:schemeClr val="bg1"/>
          </a:solidFill>
          <a:ln w="9525">
            <a:solidFill>
              <a:schemeClr val="tx1"/>
            </a:solidFill>
            <a:miter lim="800000"/>
            <a:headEnd/>
            <a:tailEnd/>
          </a:ln>
        </p:spPr>
        <p:txBody>
          <a:bodyPr/>
          <a:lstStyle/>
          <a:p>
            <a:pPr algn="ctr" eaLnBrk="0" hangingPunct="0"/>
            <a:r>
              <a:rPr lang="en-US" sz="4400" b="1" dirty="0" smtClean="0">
                <a:latin typeface="+mj-lt"/>
                <a:cs typeface="Times New Roman" pitchFamily="18" charset="0"/>
              </a:rPr>
              <a:t>PRACTICE QUESTIONS</a:t>
            </a:r>
            <a:endParaRPr lang="en-US" sz="4400" b="1" dirty="0">
              <a:latin typeface="+mj-lt"/>
              <a:cs typeface="Times New Roman" pitchFamily="18" charset="0"/>
            </a:endParaRPr>
          </a:p>
        </p:txBody>
      </p:sp>
      <p:sp>
        <p:nvSpPr>
          <p:cNvPr id="9" name="Content Placeholder 2"/>
          <p:cNvSpPr txBox="1">
            <a:spLocks/>
          </p:cNvSpPr>
          <p:nvPr/>
        </p:nvSpPr>
        <p:spPr>
          <a:xfrm>
            <a:off x="508000" y="1676400"/>
            <a:ext cx="10972800" cy="4114800"/>
          </a:xfrm>
          <a:prstGeom prst="rect">
            <a:avLst/>
          </a:prstGeom>
        </p:spPr>
        <p:txBody>
          <a:bodyPr/>
          <a:lstStyle/>
          <a:p>
            <a:pPr marL="514350" indent="-514350" algn="just">
              <a:buFont typeface="+mj-lt"/>
              <a:buAutoNum type="arabicPeriod"/>
            </a:pPr>
            <a:r>
              <a:rPr lang="en-US" sz="2800" dirty="0" smtClean="0">
                <a:latin typeface="Times New Roman" pitchFamily="18" charset="0"/>
                <a:cs typeface="Times New Roman" pitchFamily="18" charset="0"/>
              </a:rPr>
              <a:t>Explain the operation of servo motor.</a:t>
            </a:r>
          </a:p>
          <a:p>
            <a:pPr marL="514350" indent="-514350" algn="just">
              <a:buFont typeface="+mj-lt"/>
              <a:buAutoNum type="arabicPeriod"/>
            </a:pPr>
            <a:r>
              <a:rPr lang="en-US" sz="2800" dirty="0">
                <a:latin typeface="Times New Roman" pitchFamily="18" charset="0"/>
                <a:cs typeface="Times New Roman" pitchFamily="18" charset="0"/>
              </a:rPr>
              <a:t>Explain the operation of </a:t>
            </a:r>
            <a:r>
              <a:rPr lang="en-US" sz="2800" dirty="0" smtClean="0">
                <a:latin typeface="Times New Roman" pitchFamily="18" charset="0"/>
                <a:cs typeface="Times New Roman" pitchFamily="18" charset="0"/>
              </a:rPr>
              <a:t>stepper motor.</a:t>
            </a:r>
          </a:p>
          <a:p>
            <a:pPr marL="514350" indent="-514350" algn="just">
              <a:buFont typeface="+mj-lt"/>
              <a:buAutoNum type="arabicPeriod"/>
            </a:pPr>
            <a:r>
              <a:rPr lang="en-US" sz="2800" dirty="0" smtClean="0">
                <a:latin typeface="Times New Roman" pitchFamily="18" charset="0"/>
                <a:cs typeface="Times New Roman" pitchFamily="18" charset="0"/>
              </a:rPr>
              <a:t>What are the different types of servo motor?</a:t>
            </a:r>
            <a:endParaRPr lang="en-IN" sz="2800" dirty="0" smtClean="0">
              <a:latin typeface="Times New Roman" pitchFamily="18" charset="0"/>
              <a:cs typeface="Times New Roman" pitchFamily="18" charset="0"/>
            </a:endParaRPr>
          </a:p>
          <a:p>
            <a:pPr marL="514350" indent="-514350" algn="just">
              <a:buFont typeface="+mj-lt"/>
              <a:buAutoNum type="arabicPeriod"/>
            </a:pPr>
            <a:endParaRPr lang="en-IN" sz="2800" dirty="0" smtClean="0">
              <a:latin typeface="Times New Roman" pitchFamily="18" charset="0"/>
              <a:cs typeface="Times New Roman" pitchFamily="18" charset="0"/>
            </a:endParaRPr>
          </a:p>
          <a:p>
            <a:r>
              <a:rPr lang="en-US" sz="2800" dirty="0" smtClean="0"/>
              <a:t> </a:t>
            </a:r>
            <a:endParaRPr lang="en-IN" sz="2800" dirty="0" smtClean="0"/>
          </a:p>
          <a:p>
            <a:endParaRPr lang="en-US" sz="2800" dirty="0">
              <a:latin typeface="+mn-lt"/>
              <a:cs typeface="+mn-cs"/>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1" y="1028702"/>
            <a:ext cx="5778500" cy="4873625"/>
          </a:xfrm>
        </p:spPr>
        <p:txBody>
          <a:bodyPr>
            <a:normAutofit/>
          </a:bodyPr>
          <a:lstStyle/>
          <a:p>
            <a:pPr marL="0" indent="0" algn="just">
              <a:buNone/>
            </a:pPr>
            <a:r>
              <a:rPr lang="en-IN" sz="2800" dirty="0" smtClean="0">
                <a:cs typeface="Times New Roman" pitchFamily="18" charset="0"/>
              </a:rPr>
              <a:t> To </a:t>
            </a:r>
            <a:r>
              <a:rPr lang="en-IN" sz="2800" dirty="0">
                <a:cs typeface="Times New Roman" pitchFamily="18" charset="0"/>
              </a:rPr>
              <a:t>make students </a:t>
            </a:r>
            <a:r>
              <a:rPr lang="en-IN" sz="2800" dirty="0" smtClean="0">
                <a:cs typeface="Times New Roman" pitchFamily="18" charset="0"/>
              </a:rPr>
              <a:t>understand</a:t>
            </a:r>
            <a:endParaRPr lang="en-IN" sz="2800" dirty="0">
              <a:cs typeface="Times New Roman" pitchFamily="18" charset="0"/>
            </a:endParaRPr>
          </a:p>
          <a:p>
            <a:pPr algn="just"/>
            <a:r>
              <a:rPr lang="en-US" sz="2800" dirty="0" smtClean="0"/>
              <a:t>Concept of gear motor </a:t>
            </a:r>
          </a:p>
          <a:p>
            <a:pPr algn="just"/>
            <a:r>
              <a:rPr lang="en-US" sz="2800" dirty="0" smtClean="0"/>
              <a:t>operation of servo motor</a:t>
            </a:r>
          </a:p>
          <a:p>
            <a:pPr algn="just"/>
            <a:r>
              <a:rPr lang="en-US" sz="2800" dirty="0" smtClean="0"/>
              <a:t>Different types of servo motor</a:t>
            </a:r>
          </a:p>
          <a:p>
            <a:pPr algn="just"/>
            <a:r>
              <a:rPr lang="en-US" sz="2800" dirty="0" smtClean="0"/>
              <a:t>Working of stepper motor</a:t>
            </a:r>
          </a:p>
          <a:p>
            <a:pPr algn="just"/>
            <a:r>
              <a:rPr lang="en-US" sz="2800" dirty="0" smtClean="0"/>
              <a:t>Concept of linear motor</a:t>
            </a:r>
          </a:p>
          <a:p>
            <a:pPr algn="just"/>
            <a:endParaRPr lang="en-US" sz="2400" dirty="0">
              <a:cs typeface="Times New Roman" pitchFamily="18" charset="0"/>
            </a:endParaRPr>
          </a:p>
          <a:p>
            <a:pPr algn="just"/>
            <a:endParaRPr lang="en-US" sz="2400" dirty="0"/>
          </a:p>
          <a:p>
            <a:pPr algn="just"/>
            <a:endParaRPr lang="en-US" sz="2400" dirty="0" smtClean="0">
              <a:cs typeface="Arial" panose="020B0604020202020204" pitchFamily="34" charset="0"/>
            </a:endParaRPr>
          </a:p>
          <a:p>
            <a:pPr marL="0" indent="0" algn="just">
              <a:buNone/>
            </a:pPr>
            <a:endParaRPr lang="en-US" sz="2400" dirty="0">
              <a:cs typeface="Arial" panose="020B0604020202020204" pitchFamily="34" charset="0"/>
            </a:endParaRPr>
          </a:p>
        </p:txBody>
      </p:sp>
      <p:sp>
        <p:nvSpPr>
          <p:cNvPr id="5" name="Slide Number Placeholder 4"/>
          <p:cNvSpPr>
            <a:spLocks noGrp="1"/>
          </p:cNvSpPr>
          <p:nvPr>
            <p:ph type="sldNum" sz="quarter" idx="12"/>
          </p:nvPr>
        </p:nvSpPr>
        <p:spPr>
          <a:xfrm>
            <a:off x="8839200" y="6356352"/>
            <a:ext cx="2743200" cy="365125"/>
          </a:xfrm>
        </p:spPr>
        <p:txBody>
          <a:bodyPr/>
          <a:lstStyle/>
          <a:p>
            <a:fld id="{BDCDBBEF-AA6C-4BA6-85B2-A17D7F280E38}" type="slidenum">
              <a:rPr lang="en-US" smtClean="0"/>
              <a:pPr/>
              <a:t>37</a:t>
            </a:fld>
            <a:endParaRPr lang="en-US" dirty="0"/>
          </a:p>
        </p:txBody>
      </p:sp>
      <p:sp>
        <p:nvSpPr>
          <p:cNvPr id="8" name="Title 7"/>
          <p:cNvSpPr txBox="1">
            <a:spLocks noGrp="1" noChangeArrowheads="1"/>
          </p:cNvSpPr>
          <p:nvPr>
            <p:ph type="title"/>
          </p:nvPr>
        </p:nvSpPr>
        <p:spPr bwMode="auto">
          <a:xfrm>
            <a:off x="383949" y="1681522"/>
            <a:ext cx="4456567" cy="192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smtClean="0">
                <a:latin typeface="Casper"/>
                <a:ea typeface="Karla" pitchFamily="2" charset="0"/>
                <a:cs typeface="Karla" pitchFamily="2" charset="0"/>
              </a:rPr>
              <a:t>LEARNING OUTCOMES</a:t>
            </a:r>
            <a:r>
              <a:rPr lang="en-US" sz="4400" b="1" dirty="0">
                <a:latin typeface="Casper"/>
                <a:ea typeface="Karla" pitchFamily="2" charset="0"/>
                <a:cs typeface="Karla" pitchFamily="2" charset="0"/>
              </a:rPr>
              <a:t/>
            </a:r>
            <a:br>
              <a:rPr lang="en-US" sz="4400" b="1" dirty="0">
                <a:latin typeface="Casper"/>
                <a:ea typeface="Karla" pitchFamily="2" charset="0"/>
                <a:cs typeface="Karla" pitchFamily="2" charset="0"/>
              </a:rPr>
            </a:br>
            <a:endParaRPr lang="en-US" sz="4400" dirty="0">
              <a:latin typeface="Casper"/>
            </a:endParaRPr>
          </a:p>
        </p:txBody>
      </p:sp>
      <p:sp>
        <p:nvSpPr>
          <p:cNvPr id="2" name="Rectangle 1"/>
          <p:cNvSpPr/>
          <p:nvPr/>
        </p:nvSpPr>
        <p:spPr>
          <a:xfrm>
            <a:off x="5295900" y="511627"/>
            <a:ext cx="5867400" cy="583692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7" y="6324602"/>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5"/>
          <p:cNvPicPr>
            <a:picLocks noChangeAspect="1" noChangeArrowheads="1"/>
          </p:cNvPicPr>
          <p:nvPr/>
        </p:nvPicPr>
        <p:blipFill>
          <a:blip r:embed="rId2" cstate="print"/>
          <a:srcRect/>
          <a:stretch>
            <a:fillRect/>
          </a:stretch>
        </p:blipFill>
        <p:spPr bwMode="auto">
          <a:xfrm>
            <a:off x="304800" y="304801"/>
            <a:ext cx="812800" cy="976065"/>
          </a:xfrm>
          <a:prstGeom prst="rect">
            <a:avLst/>
          </a:prstGeom>
          <a:noFill/>
          <a:ln w="9525">
            <a:noFill/>
            <a:miter lim="800000"/>
            <a:headEnd/>
            <a:tailEnd/>
          </a:ln>
        </p:spPr>
      </p:pic>
    </p:spTree>
    <p:extLst>
      <p:ext uri="{BB962C8B-B14F-4D97-AF65-F5344CB8AC3E}">
        <p14:creationId xmlns:p14="http://schemas.microsoft.com/office/powerpoint/2010/main" val="69380159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8550"/>
            <a:ext cx="10515600" cy="1325563"/>
          </a:xfrm>
        </p:spPr>
        <p:txBody>
          <a:bodyPr/>
          <a:lstStyle/>
          <a:p>
            <a:pPr algn="ctr"/>
            <a:r>
              <a:rPr lang="en-US" b="1" dirty="0" smtClean="0"/>
              <a:t>ASSESSMENT PATTERN</a:t>
            </a:r>
            <a:endParaRPr lang="en-US" b="1" dirty="0"/>
          </a:p>
        </p:txBody>
      </p:sp>
      <p:sp>
        <p:nvSpPr>
          <p:cNvPr id="3" name="Content Placeholder 2"/>
          <p:cNvSpPr>
            <a:spLocks noGrp="1"/>
          </p:cNvSpPr>
          <p:nvPr>
            <p:ph idx="1"/>
          </p:nvPr>
        </p:nvSpPr>
        <p:spPr>
          <a:xfrm>
            <a:off x="838199" y="1146352"/>
            <a:ext cx="10696303" cy="4940939"/>
          </a:xfrm>
        </p:spPr>
        <p:txBody>
          <a:bodyPr>
            <a:normAutofit/>
          </a:bodyPr>
          <a:lstStyle/>
          <a:p>
            <a:pPr marL="514350" indent="-514350">
              <a:buNone/>
            </a:pPr>
            <a:endParaRPr lang="en-US" dirty="0" smtClean="0"/>
          </a:p>
          <a:p>
            <a:pPr marL="514350" indent="-514350">
              <a:buNone/>
            </a:pPr>
            <a:endParaRPr lang="en-US" dirty="0" smtClean="0"/>
          </a:p>
          <a:p>
            <a:pPr marL="514350" indent="-514350">
              <a:buNone/>
            </a:pPr>
            <a:endParaRPr lang="en-US" dirty="0" smtClean="0"/>
          </a:p>
          <a:p>
            <a:pPr marL="514350" indent="-514350">
              <a:buNone/>
            </a:pPr>
            <a:endParaRPr lang="en-US" dirty="0" smtClean="0"/>
          </a:p>
          <a:p>
            <a:pPr marL="514350" indent="-514350">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38</a:t>
            </a:fld>
            <a:endParaRPr lang="en-US"/>
          </a:p>
        </p:txBody>
      </p:sp>
      <p:graphicFrame>
        <p:nvGraphicFramePr>
          <p:cNvPr id="5" name="Table 4"/>
          <p:cNvGraphicFramePr>
            <a:graphicFrameLocks noGrp="1"/>
          </p:cNvGraphicFramePr>
          <p:nvPr/>
        </p:nvGraphicFramePr>
        <p:xfrm>
          <a:off x="770711" y="1968136"/>
          <a:ext cx="10855229" cy="2115978"/>
        </p:xfrm>
        <a:graphic>
          <a:graphicData uri="http://schemas.openxmlformats.org/drawingml/2006/table">
            <a:tbl>
              <a:tblPr firstRow="1" bandRow="1">
                <a:tableStyleId>{073A0DAA-6AF3-43AB-8588-CEC1D06C72B9}</a:tableStyleId>
              </a:tblPr>
              <a:tblGrid>
                <a:gridCol w="1550747">
                  <a:extLst>
                    <a:ext uri="{9D8B030D-6E8A-4147-A177-3AD203B41FA5}">
                      <a16:colId xmlns:a16="http://schemas.microsoft.com/office/drawing/2014/main" val="20000"/>
                    </a:ext>
                  </a:extLst>
                </a:gridCol>
                <a:gridCol w="1550747">
                  <a:extLst>
                    <a:ext uri="{9D8B030D-6E8A-4147-A177-3AD203B41FA5}">
                      <a16:colId xmlns:a16="http://schemas.microsoft.com/office/drawing/2014/main" val="20001"/>
                    </a:ext>
                  </a:extLst>
                </a:gridCol>
                <a:gridCol w="1550747">
                  <a:extLst>
                    <a:ext uri="{9D8B030D-6E8A-4147-A177-3AD203B41FA5}">
                      <a16:colId xmlns:a16="http://schemas.microsoft.com/office/drawing/2014/main" val="20002"/>
                    </a:ext>
                  </a:extLst>
                </a:gridCol>
                <a:gridCol w="1550747">
                  <a:extLst>
                    <a:ext uri="{9D8B030D-6E8A-4147-A177-3AD203B41FA5}">
                      <a16:colId xmlns:a16="http://schemas.microsoft.com/office/drawing/2014/main" val="20003"/>
                    </a:ext>
                  </a:extLst>
                </a:gridCol>
                <a:gridCol w="1550747">
                  <a:extLst>
                    <a:ext uri="{9D8B030D-6E8A-4147-A177-3AD203B41FA5}">
                      <a16:colId xmlns:a16="http://schemas.microsoft.com/office/drawing/2014/main" val="20004"/>
                    </a:ext>
                  </a:extLst>
                </a:gridCol>
                <a:gridCol w="1550747">
                  <a:extLst>
                    <a:ext uri="{9D8B030D-6E8A-4147-A177-3AD203B41FA5}">
                      <a16:colId xmlns:a16="http://schemas.microsoft.com/office/drawing/2014/main" val="20005"/>
                    </a:ext>
                  </a:extLst>
                </a:gridCol>
                <a:gridCol w="1550747">
                  <a:extLst>
                    <a:ext uri="{9D8B030D-6E8A-4147-A177-3AD203B41FA5}">
                      <a16:colId xmlns:a16="http://schemas.microsoft.com/office/drawing/2014/main" val="20006"/>
                    </a:ext>
                  </a:extLst>
                </a:gridCol>
              </a:tblGrid>
              <a:tr h="1493725">
                <a:tc>
                  <a:txBody>
                    <a:bodyPr/>
                    <a:lstStyle/>
                    <a:p>
                      <a:pPr algn="ctr"/>
                      <a:r>
                        <a:rPr lang="en-US" dirty="0" smtClean="0"/>
                        <a:t>     A</a:t>
                      </a:r>
                    </a:p>
                    <a:p>
                      <a:pPr algn="ctr"/>
                      <a:r>
                        <a:rPr lang="en-US" dirty="0" smtClean="0"/>
                        <a:t>Assignment (each assignment)</a:t>
                      </a:r>
                      <a:endParaRPr lang="en-US" dirty="0"/>
                    </a:p>
                  </a:txBody>
                  <a:tcPr/>
                </a:tc>
                <a:tc>
                  <a:txBody>
                    <a:bodyPr/>
                    <a:lstStyle/>
                    <a:p>
                      <a:pPr algn="ctr"/>
                      <a:r>
                        <a:rPr lang="en-US" dirty="0" smtClean="0"/>
                        <a:t>   B</a:t>
                      </a:r>
                    </a:p>
                    <a:p>
                      <a:pPr algn="ctr"/>
                      <a:r>
                        <a:rPr lang="en-US" dirty="0" smtClean="0"/>
                        <a:t>Time Bound Surprise</a:t>
                      </a:r>
                      <a:r>
                        <a:rPr lang="en-US" baseline="0" dirty="0" smtClean="0"/>
                        <a:t> Test (each test)</a:t>
                      </a:r>
                      <a:endParaRPr lang="en-US" dirty="0"/>
                    </a:p>
                  </a:txBody>
                  <a:tcPr/>
                </a:tc>
                <a:tc>
                  <a:txBody>
                    <a:bodyPr/>
                    <a:lstStyle/>
                    <a:p>
                      <a:pPr algn="ctr"/>
                      <a:r>
                        <a:rPr lang="en-US" dirty="0" smtClean="0"/>
                        <a:t>C</a:t>
                      </a:r>
                    </a:p>
                    <a:p>
                      <a:pPr algn="ctr"/>
                      <a:r>
                        <a:rPr lang="en-US" dirty="0" smtClean="0"/>
                        <a:t>Quiz (each quiz)</a:t>
                      </a:r>
                      <a:endParaRPr lang="en-US" dirty="0"/>
                    </a:p>
                  </a:txBody>
                  <a:tcPr/>
                </a:tc>
                <a:tc>
                  <a:txBody>
                    <a:bodyPr/>
                    <a:lstStyle/>
                    <a:p>
                      <a:pPr algn="ctr"/>
                      <a:r>
                        <a:rPr lang="en-US" dirty="0" smtClean="0"/>
                        <a:t>   D</a:t>
                      </a:r>
                    </a:p>
                    <a:p>
                      <a:pPr algn="ctr"/>
                      <a:r>
                        <a:rPr lang="en-US" dirty="0" smtClean="0"/>
                        <a:t>Mid</a:t>
                      </a:r>
                      <a:r>
                        <a:rPr lang="en-US" baseline="0" dirty="0" smtClean="0"/>
                        <a:t> Semester Test(one per test)</a:t>
                      </a:r>
                      <a:endParaRPr lang="en-US" dirty="0"/>
                    </a:p>
                  </a:txBody>
                  <a:tcPr/>
                </a:tc>
                <a:tc>
                  <a:txBody>
                    <a:bodyPr/>
                    <a:lstStyle/>
                    <a:p>
                      <a:pPr algn="ctr"/>
                      <a:r>
                        <a:rPr lang="en-US" dirty="0" smtClean="0"/>
                        <a:t>    E</a:t>
                      </a:r>
                    </a:p>
                    <a:p>
                      <a:pPr algn="ctr"/>
                      <a:r>
                        <a:rPr lang="en-US" dirty="0" smtClean="0"/>
                        <a:t>Homework</a:t>
                      </a:r>
                      <a:endParaRPr lang="en-US" dirty="0"/>
                    </a:p>
                  </a:txBody>
                  <a:tcPr/>
                </a:tc>
                <a:tc>
                  <a:txBody>
                    <a:bodyPr/>
                    <a:lstStyle/>
                    <a:p>
                      <a:pPr algn="ctr"/>
                      <a:r>
                        <a:rPr lang="en-US" dirty="0" smtClean="0"/>
                        <a:t>     F</a:t>
                      </a:r>
                    </a:p>
                    <a:p>
                      <a:pPr algn="ctr"/>
                      <a:r>
                        <a:rPr lang="en-US" dirty="0" smtClean="0"/>
                        <a:t>Discussion Forums</a:t>
                      </a:r>
                      <a:endParaRPr lang="en-US" dirty="0"/>
                    </a:p>
                  </a:txBody>
                  <a:tcPr/>
                </a:tc>
                <a:tc>
                  <a:txBody>
                    <a:bodyPr/>
                    <a:lstStyle/>
                    <a:p>
                      <a:pPr algn="ctr"/>
                      <a:r>
                        <a:rPr lang="en-US" dirty="0" smtClean="0"/>
                        <a:t>    G</a:t>
                      </a:r>
                    </a:p>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Attendance and  engagement Score on BB</a:t>
                      </a:r>
                    </a:p>
                    <a:p>
                      <a:pPr algn="ctr"/>
                      <a:endParaRPr lang="en-US" dirty="0"/>
                    </a:p>
                  </a:txBody>
                  <a:tcPr/>
                </a:tc>
                <a:extLst>
                  <a:ext uri="{0D108BD9-81ED-4DB2-BD59-A6C34878D82A}">
                    <a16:rowId xmlns:a16="http://schemas.microsoft.com/office/drawing/2014/main" val="10000"/>
                  </a:ext>
                </a:extLst>
              </a:tr>
              <a:tr h="378618">
                <a:tc>
                  <a:txBody>
                    <a:bodyPr/>
                    <a:lstStyle/>
                    <a:p>
                      <a:pPr algn="ctr"/>
                      <a:r>
                        <a:rPr lang="en-US" dirty="0" smtClean="0"/>
                        <a:t>10</a:t>
                      </a:r>
                      <a:endParaRPr lang="en-US" dirty="0"/>
                    </a:p>
                  </a:txBody>
                  <a:tcPr/>
                </a:tc>
                <a:tc>
                  <a:txBody>
                    <a:bodyPr/>
                    <a:lstStyle/>
                    <a:p>
                      <a:pPr algn="ctr"/>
                      <a:r>
                        <a:rPr lang="en-US" dirty="0" smtClean="0"/>
                        <a:t>   12</a:t>
                      </a:r>
                      <a:endParaRPr lang="en-US" dirty="0"/>
                    </a:p>
                  </a:txBody>
                  <a:tcPr/>
                </a:tc>
                <a:tc>
                  <a:txBody>
                    <a:bodyPr/>
                    <a:lstStyle/>
                    <a:p>
                      <a:pPr algn="ctr"/>
                      <a:r>
                        <a:rPr lang="en-US" dirty="0" smtClean="0"/>
                        <a:t>4</a:t>
                      </a:r>
                      <a:endParaRPr lang="en-US" dirty="0"/>
                    </a:p>
                  </a:txBody>
                  <a:tcPr/>
                </a:tc>
                <a:tc>
                  <a:txBody>
                    <a:bodyPr/>
                    <a:lstStyle/>
                    <a:p>
                      <a:pPr algn="ctr"/>
                      <a:r>
                        <a:rPr lang="en-US" dirty="0" smtClean="0"/>
                        <a:t>   20</a:t>
                      </a:r>
                      <a:endParaRPr lang="en-US" dirty="0"/>
                    </a:p>
                  </a:txBody>
                  <a:tcPr/>
                </a:tc>
                <a:tc>
                  <a:txBody>
                    <a:bodyPr/>
                    <a:lstStyle/>
                    <a:p>
                      <a:pPr algn="ctr"/>
                      <a:r>
                        <a:rPr lang="en-US" dirty="0" smtClean="0"/>
                        <a:t>NA</a:t>
                      </a:r>
                      <a:endParaRPr lang="en-US" dirty="0"/>
                    </a:p>
                  </a:txBody>
                  <a:tcPr/>
                </a:tc>
                <a:tc>
                  <a:txBody>
                    <a:bodyPr/>
                    <a:lstStyle/>
                    <a:p>
                      <a:pPr algn="ctr"/>
                      <a:r>
                        <a:rPr lang="en-US" dirty="0" smtClean="0"/>
                        <a:t>    NA</a:t>
                      </a:r>
                      <a:endParaRPr lang="en-US" dirty="0"/>
                    </a:p>
                  </a:txBody>
                  <a:tcPr/>
                </a:tc>
                <a:tc>
                  <a:txBody>
                    <a:bodyPr/>
                    <a:lstStyle/>
                    <a:p>
                      <a:pPr algn="ctr"/>
                      <a:r>
                        <a:rPr lang="en-US" dirty="0" smtClean="0"/>
                        <a:t>    2</a:t>
                      </a:r>
                      <a:endParaRPr lang="en-US" dirty="0"/>
                    </a:p>
                  </a:txBody>
                  <a:tcPr/>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Placeholder 2"/>
          <p:cNvSpPr>
            <a:spLocks noGrp="1"/>
          </p:cNvSpPr>
          <p:nvPr>
            <p:ph type="body" sz="half" idx="4294967295"/>
          </p:nvPr>
        </p:nvSpPr>
        <p:spPr>
          <a:xfrm>
            <a:off x="203200" y="1295399"/>
            <a:ext cx="11379200" cy="5144589"/>
          </a:xfrm>
        </p:spPr>
        <p:txBody>
          <a:bodyPr>
            <a:normAutofit fontScale="70000" lnSpcReduction="20000"/>
          </a:bodyPr>
          <a:lstStyle/>
          <a:p>
            <a:pPr>
              <a:buFontTx/>
              <a:buNone/>
            </a:pPr>
            <a:r>
              <a:rPr lang="en-US" sz="2400" b="1" dirty="0" smtClean="0">
                <a:latin typeface="Times New Roman" pitchFamily="18" charset="0"/>
                <a:cs typeface="Times New Roman" pitchFamily="18" charset="0"/>
              </a:rPr>
              <a:t>Text Books:</a:t>
            </a:r>
            <a:r>
              <a:rPr lang="en-US" sz="2400" dirty="0" smtClean="0">
                <a:latin typeface="Times New Roman" pitchFamily="18" charset="0"/>
                <a:cs typeface="Times New Roman" pitchFamily="18" charset="0"/>
              </a:rPr>
              <a:t> </a:t>
            </a:r>
          </a:p>
          <a:p>
            <a:r>
              <a:rPr lang="en-US" sz="2400" dirty="0" smtClean="0">
                <a:latin typeface="Times New Roman" pitchFamily="18" charset="0"/>
                <a:cs typeface="Times New Roman" pitchFamily="18" charset="0"/>
              </a:rPr>
              <a:t>Basic Electrical Engineering, </a:t>
            </a:r>
            <a:r>
              <a:rPr lang="en-US" sz="2400" dirty="0" err="1" smtClean="0">
                <a:latin typeface="Times New Roman" pitchFamily="18" charset="0"/>
                <a:cs typeface="Times New Roman" pitchFamily="18" charset="0"/>
              </a:rPr>
              <a:t>Nagrath</a:t>
            </a:r>
            <a:r>
              <a:rPr lang="en-US" sz="2400" dirty="0" smtClean="0">
                <a:latin typeface="Times New Roman" pitchFamily="18" charset="0"/>
                <a:cs typeface="Times New Roman" pitchFamily="18" charset="0"/>
              </a:rPr>
              <a:t>, 2001, McGraw-Hill Education (India) </a:t>
            </a:r>
            <a:r>
              <a:rPr lang="en-US" sz="2400" dirty="0" err="1" smtClean="0">
                <a:latin typeface="Times New Roman" pitchFamily="18" charset="0"/>
                <a:cs typeface="Times New Roman" pitchFamily="18" charset="0"/>
              </a:rPr>
              <a:t>PvtLimited</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Basic Electrical and Electronics Engineering, Bhattacharya, S.K., 2011, Pearson</a:t>
            </a:r>
          </a:p>
          <a:p>
            <a:pPr>
              <a:buFontTx/>
              <a:buNone/>
            </a:pPr>
            <a:r>
              <a:rPr lang="en-US" sz="2400" b="1" dirty="0" smtClean="0">
                <a:latin typeface="Times New Roman" pitchFamily="18" charset="0"/>
                <a:cs typeface="Times New Roman" pitchFamily="18" charset="0"/>
              </a:rPr>
              <a:t>Reference Books</a:t>
            </a:r>
            <a:r>
              <a:rPr lang="en-US" sz="2400" dirty="0" smtClean="0">
                <a:latin typeface="Times New Roman" pitchFamily="18" charset="0"/>
                <a:cs typeface="Times New Roman" pitchFamily="18" charset="0"/>
              </a:rPr>
              <a:t>:</a:t>
            </a:r>
          </a:p>
          <a:p>
            <a:r>
              <a:rPr lang="en-US" sz="2400" dirty="0" smtClean="0">
                <a:latin typeface="Times New Roman" pitchFamily="18" charset="0"/>
                <a:cs typeface="Times New Roman" pitchFamily="18" charset="0"/>
              </a:rPr>
              <a:t>Electric Circuits, Charles K. Alexander &amp; Matthew N. O. </a:t>
            </a:r>
            <a:r>
              <a:rPr lang="en-US" sz="2400" dirty="0" err="1" smtClean="0">
                <a:latin typeface="Times New Roman" pitchFamily="18" charset="0"/>
                <a:cs typeface="Times New Roman" pitchFamily="18" charset="0"/>
              </a:rPr>
              <a:t>Sadiku</a:t>
            </a:r>
            <a:r>
              <a:rPr lang="en-US" sz="2400" dirty="0" smtClean="0">
                <a:latin typeface="Times New Roman" pitchFamily="18" charset="0"/>
                <a:cs typeface="Times New Roman" pitchFamily="18" charset="0"/>
              </a:rPr>
              <a:t>, 4th </a:t>
            </a:r>
            <a:r>
              <a:rPr lang="en-US" sz="2400" dirty="0" err="1" smtClean="0">
                <a:latin typeface="Times New Roman" pitchFamily="18" charset="0"/>
                <a:cs typeface="Times New Roman" pitchFamily="18" charset="0"/>
              </a:rPr>
              <a:t>edition,McGraw</a:t>
            </a:r>
            <a:r>
              <a:rPr lang="en-US" sz="2400" dirty="0" smtClean="0">
                <a:latin typeface="Times New Roman" pitchFamily="18" charset="0"/>
                <a:cs typeface="Times New Roman" pitchFamily="18" charset="0"/>
              </a:rPr>
              <a:t>-Hill. Publication</a:t>
            </a:r>
          </a:p>
          <a:p>
            <a:r>
              <a:rPr lang="en-US" sz="2400" dirty="0" smtClean="0">
                <a:latin typeface="Times New Roman" pitchFamily="18" charset="0"/>
                <a:cs typeface="Times New Roman" pitchFamily="18" charset="0"/>
              </a:rPr>
              <a:t>Electrical Engineering Fundamentals, Vincent Del Toro, 2nd edition, Prentice Hall of India.</a:t>
            </a:r>
            <a:endParaRPr lang="en-US" sz="1800" dirty="0" smtClean="0">
              <a:latin typeface="Times New Roman" pitchFamily="18" charset="0"/>
              <a:cs typeface="Times New Roman" pitchFamily="18" charset="0"/>
              <a:hlinkClick r:id="rId3"/>
            </a:endParaRPr>
          </a:p>
          <a:p>
            <a:pPr>
              <a:lnSpc>
                <a:spcPct val="90000"/>
              </a:lnSpc>
              <a:buNone/>
            </a:pPr>
            <a:r>
              <a:rPr lang="en-US" sz="2400" b="1" dirty="0" smtClean="0">
                <a:latin typeface="Times New Roman" pitchFamily="18" charset="0"/>
                <a:cs typeface="Times New Roman" pitchFamily="18" charset="0"/>
              </a:rPr>
              <a:t>Websites:</a:t>
            </a:r>
          </a:p>
          <a:p>
            <a:r>
              <a:rPr lang="en-US" sz="2400" u="sng" dirty="0">
                <a:hlinkClick r:id="rId4"/>
              </a:rPr>
              <a:t>http://www.learnengineering.org/2014/10/Brushless-DC-motor.html</a:t>
            </a:r>
            <a:endParaRPr lang="en-US" sz="2400" dirty="0"/>
          </a:p>
          <a:p>
            <a:r>
              <a:rPr lang="en-US" sz="2400" u="sng" dirty="0">
                <a:hlinkClick r:id="rId5"/>
              </a:rPr>
              <a:t>http://www.electricaltechnology.org/2016/05/bldc-brushless-dc-motor-construction-working-principle.html</a:t>
            </a:r>
            <a:endParaRPr lang="en-US" sz="2400" u="sng" dirty="0"/>
          </a:p>
          <a:p>
            <a:r>
              <a:rPr lang="en-US" sz="2400" u="sng" dirty="0">
                <a:hlinkClick r:id="rId6"/>
              </a:rPr>
              <a:t>https://www.engineersgarage.com/insight/how-geared-dc-motor-works</a:t>
            </a:r>
            <a:endParaRPr lang="en-US" sz="2400" dirty="0"/>
          </a:p>
          <a:p>
            <a:r>
              <a:rPr lang="en-US" sz="2400" u="sng" dirty="0">
                <a:hlinkClick r:id="rId7"/>
              </a:rPr>
              <a:t>https://www.tsukasa-d.co.jp/en/data_download/english_catalogue.pdf</a:t>
            </a:r>
            <a:endParaRPr lang="en-US" sz="2400" u="sng" dirty="0"/>
          </a:p>
          <a:p>
            <a:r>
              <a:rPr lang="en-US" sz="2400" dirty="0"/>
              <a:t> </a:t>
            </a:r>
            <a:r>
              <a:rPr lang="en-US" sz="2400" u="sng" dirty="0">
                <a:hlinkClick r:id="rId8"/>
              </a:rPr>
              <a:t>http://circuitglobe.com/linear-induction-motor.html</a:t>
            </a:r>
            <a:endParaRPr lang="en-US" sz="2400" dirty="0"/>
          </a:p>
          <a:p>
            <a:r>
              <a:rPr lang="en-US" sz="2400" u="sng" dirty="0">
                <a:hlinkClick r:id="rId9"/>
              </a:rPr>
              <a:t>http://www.explainthatstuff.com/linearmotor.html</a:t>
            </a:r>
            <a:endParaRPr lang="en-US" sz="2400" dirty="0"/>
          </a:p>
          <a:p>
            <a:r>
              <a:rPr lang="en-US" sz="2400" u="sng" dirty="0">
                <a:hlinkClick r:id="rId10"/>
              </a:rPr>
              <a:t>http://www.globalspec.com/learnmore/motion_controls/motors/ac_servo_motors</a:t>
            </a:r>
            <a:endParaRPr lang="en-US" sz="2400" dirty="0"/>
          </a:p>
          <a:p>
            <a:r>
              <a:rPr lang="en-US" sz="2400" u="sng" dirty="0">
                <a:hlinkClick r:id="rId11"/>
              </a:rPr>
              <a:t>http://www.engineerlive.com/content/21559</a:t>
            </a:r>
            <a:endParaRPr lang="en-US" sz="2400" u="sng" dirty="0"/>
          </a:p>
          <a:p>
            <a:r>
              <a:rPr lang="en-US" sz="2400" u="sng" dirty="0">
                <a:hlinkClick r:id="rId12"/>
              </a:rPr>
              <a:t>http://www.electricaleasy.com/2014/07/characteristics-of-dc-motors.html</a:t>
            </a:r>
            <a:endParaRPr lang="en-US" sz="2400" dirty="0"/>
          </a:p>
          <a:p>
            <a:pPr>
              <a:lnSpc>
                <a:spcPct val="90000"/>
              </a:lnSpc>
              <a:buNone/>
            </a:pPr>
            <a:endParaRPr lang="en-US" sz="2400" dirty="0" smtClean="0">
              <a:solidFill>
                <a:srgbClr val="00B0F0"/>
              </a:solidFill>
              <a:latin typeface="Times New Roman" pitchFamily="18" charset="0"/>
              <a:cs typeface="Times New Roman" pitchFamily="18" charset="0"/>
            </a:endParaRPr>
          </a:p>
          <a:p>
            <a:pPr>
              <a:lnSpc>
                <a:spcPct val="90000"/>
              </a:lnSpc>
              <a:buFontTx/>
              <a:buNone/>
            </a:pPr>
            <a:endParaRPr lang="en-US" sz="2400" dirty="0" smtClean="0"/>
          </a:p>
          <a:p>
            <a:pPr>
              <a:lnSpc>
                <a:spcPct val="90000"/>
              </a:lnSpc>
            </a:pPr>
            <a:endParaRPr lang="en-US" sz="2400" dirty="0" smtClean="0"/>
          </a:p>
          <a:p>
            <a:pPr>
              <a:lnSpc>
                <a:spcPct val="90000"/>
              </a:lnSpc>
            </a:pPr>
            <a:endParaRPr lang="en-US" sz="2400" dirty="0" smtClean="0"/>
          </a:p>
        </p:txBody>
      </p:sp>
      <p:sp>
        <p:nvSpPr>
          <p:cNvPr id="24579" name="Footer Placeholder 6"/>
          <p:cNvSpPr txBox="1">
            <a:spLocks noGrp="1"/>
          </p:cNvSpPr>
          <p:nvPr/>
        </p:nvSpPr>
        <p:spPr bwMode="auto">
          <a:xfrm>
            <a:off x="4165600" y="6245225"/>
            <a:ext cx="3860800" cy="476250"/>
          </a:xfrm>
          <a:prstGeom prst="rect">
            <a:avLst/>
          </a:prstGeom>
          <a:noFill/>
          <a:ln w="9525">
            <a:noFill/>
            <a:miter lim="800000"/>
            <a:headEnd/>
            <a:tailEnd/>
          </a:ln>
        </p:spPr>
        <p:txBody>
          <a:bodyPr/>
          <a:lstStyle/>
          <a:p>
            <a:pPr algn="ctr"/>
            <a:endParaRPr lang="en-US" sz="1400"/>
          </a:p>
        </p:txBody>
      </p:sp>
      <p:sp>
        <p:nvSpPr>
          <p:cNvPr id="8" name="Title 1"/>
          <p:cNvSpPr txBox="1">
            <a:spLocks/>
          </p:cNvSpPr>
          <p:nvPr/>
        </p:nvSpPr>
        <p:spPr>
          <a:xfrm>
            <a:off x="1262130" y="330926"/>
            <a:ext cx="10200067" cy="714102"/>
          </a:xfrm>
          <a:prstGeom prst="rect">
            <a:avLst/>
          </a:prstGeom>
          <a:solidFill>
            <a:schemeClr val="bg1"/>
          </a:solidFill>
          <a:ln>
            <a:solidFill>
              <a:schemeClr val="tx1"/>
            </a:solidFill>
          </a:ln>
        </p:spPr>
        <p:txBody>
          <a:bodyPr>
            <a:noAutofit/>
          </a:bodyPr>
          <a:lstStyle/>
          <a:p>
            <a:pPr algn="ctr" eaLnBrk="0" hangingPunct="0">
              <a:defRPr/>
            </a:pPr>
            <a:r>
              <a:rPr lang="en-US" sz="4400" b="1" dirty="0" smtClean="0">
                <a:latin typeface="+mj-lt"/>
              </a:rPr>
              <a:t>REFERENCES</a:t>
            </a:r>
            <a:endParaRPr lang="en-IN" sz="4400" b="1" kern="0" dirty="0">
              <a:latin typeface="+mj-lt"/>
              <a:ea typeface="+mj-ea"/>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 name="Rectangle 1"/>
          <p:cNvSpPr/>
          <p:nvPr/>
        </p:nvSpPr>
        <p:spPr>
          <a:xfrm>
            <a:off x="4114005" y="5394447"/>
            <a:ext cx="3011017" cy="646331"/>
          </a:xfrm>
          <a:prstGeom prst="rect">
            <a:avLst/>
          </a:prstGeom>
        </p:spPr>
        <p:txBody>
          <a:bodyPr wrap="none">
            <a:spAutoFit/>
          </a:bodyPr>
          <a:lstStyle/>
          <a:p>
            <a:r>
              <a:rPr lang="en-US" dirty="0">
                <a:latin typeface="Casper" panose="02000506000000020004" pitchFamily="2" charset="0"/>
                <a:ea typeface="Segoe UI" panose="020B0502040204020203" pitchFamily="34" charset="0"/>
                <a:cs typeface="Segoe UI" panose="020B0502040204020203" pitchFamily="34" charset="0"/>
              </a:rPr>
              <a:t>For queries</a:t>
            </a:r>
          </a:p>
          <a:p>
            <a:r>
              <a:rPr lang="en-US" dirty="0">
                <a:latin typeface="Casper" panose="02000506000000020004" pitchFamily="2" charset="0"/>
                <a:cs typeface="Segoe UI" panose="020B0502040204020203" pitchFamily="34" charset="0"/>
              </a:rPr>
              <a:t>Email: </a:t>
            </a:r>
            <a:r>
              <a:rPr lang="en-US" dirty="0" smtClean="0">
                <a:latin typeface="Casper" panose="02000506000000020004" pitchFamily="2" charset="0"/>
                <a:cs typeface="Segoe UI" panose="020B0502040204020203" pitchFamily="34" charset="0"/>
              </a:rPr>
              <a:t>shikha.e12701</a:t>
            </a:r>
            <a:r>
              <a:rPr lang="en-US" dirty="0" smtClean="0">
                <a:latin typeface="Casper" panose="02000506000000020004" pitchFamily="2" charset="0"/>
                <a:cs typeface="Segoe UI" panose="020B0502040204020203" pitchFamily="34" charset="0"/>
                <a:hlinkClick r:id="rId3"/>
              </a:rPr>
              <a:t>@cumail.in</a:t>
            </a:r>
            <a:r>
              <a:rPr lang="en-US" dirty="0" smtClean="0">
                <a:latin typeface="Casper" panose="02000506000000020004" pitchFamily="2" charset="0"/>
                <a:cs typeface="Segoe UI" panose="020B0502040204020203" pitchFamily="34" charset="0"/>
              </a:rPr>
              <a:t> </a:t>
            </a:r>
            <a:endParaRPr lang="en-US" dirty="0"/>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3395</TotalTime>
  <Words>2607</Words>
  <Application>Microsoft Office PowerPoint</Application>
  <PresentationFormat>Widescreen</PresentationFormat>
  <Paragraphs>343</Paragraphs>
  <Slides>40</Slides>
  <Notes>26</Notes>
  <HiddenSlides>0</HiddenSlides>
  <MMClips>0</MMClips>
  <ScaleCrop>false</ScaleCrop>
  <HeadingPairs>
    <vt:vector size="8" baseType="variant">
      <vt:variant>
        <vt:lpstr>Fonts Used</vt:lpstr>
      </vt:variant>
      <vt:variant>
        <vt:i4>11</vt:i4>
      </vt:variant>
      <vt:variant>
        <vt:lpstr>Theme</vt:lpstr>
      </vt:variant>
      <vt:variant>
        <vt:i4>2</vt:i4>
      </vt:variant>
      <vt:variant>
        <vt:lpstr>Embedded OLE Servers</vt:lpstr>
      </vt:variant>
      <vt:variant>
        <vt:i4>1</vt:i4>
      </vt:variant>
      <vt:variant>
        <vt:lpstr>Slide Titles</vt:lpstr>
      </vt:variant>
      <vt:variant>
        <vt:i4>40</vt:i4>
      </vt:variant>
    </vt:vector>
  </HeadingPairs>
  <TitlesOfParts>
    <vt:vector size="54" baseType="lpstr">
      <vt:lpstr>Arial</vt:lpstr>
      <vt:lpstr>Arial Black</vt:lpstr>
      <vt:lpstr>Arial Unicode MS</vt:lpstr>
      <vt:lpstr>Calibri</vt:lpstr>
      <vt:lpstr>Calibri Light</vt:lpstr>
      <vt:lpstr>Casper</vt:lpstr>
      <vt:lpstr>Karla</vt:lpstr>
      <vt:lpstr>Raavi</vt:lpstr>
      <vt:lpstr>Segoe UI</vt:lpstr>
      <vt:lpstr>Times New Roman</vt:lpstr>
      <vt:lpstr>Wingdings</vt:lpstr>
      <vt:lpstr>1_Office Theme</vt:lpstr>
      <vt:lpstr>Contents Slide Master</vt:lpstr>
      <vt:lpstr>CorelDRAW</vt:lpstr>
      <vt:lpstr>PowerPoint Presentation</vt:lpstr>
      <vt:lpstr>Lecture Objectives</vt:lpstr>
      <vt:lpstr>Course Objectives</vt:lpstr>
      <vt:lpstr>Course Outcomes</vt:lpstr>
      <vt:lpstr>PowerPoint Presentation</vt:lpstr>
      <vt:lpstr>PowerPoint Presentation</vt:lpstr>
      <vt:lpstr>PowerPoint Presentation</vt:lpstr>
      <vt:lpstr>TYPES OF GEAR MOTORS</vt:lpstr>
      <vt:lpstr>FEATURES OF GEAR MOTORS</vt:lpstr>
      <vt:lpstr>FEATURES OF GEAR MOTORS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CONSTRUCTION OF LINEAR INDUCTION MOTOR</vt:lpstr>
      <vt:lpstr>WORKING PRINCIPLE OF LINEAR INDUCTION MOTOR</vt:lpstr>
      <vt:lpstr>WORKING PRINCIPLE OF LINEAR INDUCTION MOTOR</vt:lpstr>
      <vt:lpstr>PowerPoint Presentation</vt:lpstr>
      <vt:lpstr>PowerPoint Presentation</vt:lpstr>
      <vt:lpstr>PowerPoint Presentation</vt:lpstr>
      <vt:lpstr>LEARNING OUTCOMES </vt:lpstr>
      <vt:lpstr>ASSESSMENT PATTERN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INDIAN</cp:lastModifiedBy>
  <cp:revision>409</cp:revision>
  <dcterms:created xsi:type="dcterms:W3CDTF">2019-01-09T10:33:58Z</dcterms:created>
  <dcterms:modified xsi:type="dcterms:W3CDTF">2023-06-20T05:00:30Z</dcterms:modified>
</cp:coreProperties>
</file>