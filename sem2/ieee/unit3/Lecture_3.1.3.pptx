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wav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7"/>
  </p:notesMasterIdLst>
  <p:handoutMasterIdLst>
    <p:handoutMasterId r:id="rId28"/>
  </p:handoutMasterIdLst>
  <p:sldIdLst>
    <p:sldId id="343" r:id="rId3"/>
    <p:sldId id="358" r:id="rId4"/>
    <p:sldId id="359" r:id="rId5"/>
    <p:sldId id="360" r:id="rId6"/>
    <p:sldId id="361" r:id="rId7"/>
    <p:sldId id="342" r:id="rId8"/>
    <p:sldId id="355" r:id="rId9"/>
    <p:sldId id="356" r:id="rId10"/>
    <p:sldId id="337" r:id="rId11"/>
    <p:sldId id="344" r:id="rId12"/>
    <p:sldId id="338" r:id="rId13"/>
    <p:sldId id="345" r:id="rId14"/>
    <p:sldId id="346" r:id="rId15"/>
    <p:sldId id="341" r:id="rId16"/>
    <p:sldId id="357" r:id="rId17"/>
    <p:sldId id="340" r:id="rId18"/>
    <p:sldId id="348" r:id="rId19"/>
    <p:sldId id="318" r:id="rId20"/>
    <p:sldId id="347" r:id="rId21"/>
    <p:sldId id="319" r:id="rId22"/>
    <p:sldId id="349" r:id="rId23"/>
    <p:sldId id="354" r:id="rId24"/>
    <p:sldId id="284" r:id="rId25"/>
    <p:sldId id="27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5" autoAdjust="0"/>
    <p:restoredTop sz="87993" autoAdjust="0"/>
  </p:normalViewPr>
  <p:slideViewPr>
    <p:cSldViewPr snapToGrid="0">
      <p:cViewPr varScale="1">
        <p:scale>
          <a:sx n="73" d="100"/>
          <a:sy n="73" d="100"/>
        </p:scale>
        <p:origin x="60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024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Computer in the diagram is 3</a:t>
            </a:r>
            <a:r>
              <a:rPr lang="en-US" baseline="30000" dirty="0" smtClean="0"/>
              <a:t>rd</a:t>
            </a:r>
            <a:r>
              <a:rPr lang="en-US" dirty="0" smtClean="0"/>
              <a:t> generation</a:t>
            </a:r>
            <a:r>
              <a:rPr lang="en-US" baseline="0" dirty="0" smtClean="0"/>
              <a:t> computer. The period of third generation was from 1965-1971. The computers of third generation used Integrated Circuits (ICs) in place of transistors. A single IC has many transistors, resistors, and capacitors along with the associated circuitry. The main features of third generation are −</a:t>
            </a:r>
          </a:p>
          <a:p>
            <a:r>
              <a:rPr lang="en-US" baseline="0" dirty="0" smtClean="0"/>
              <a:t>IC used</a:t>
            </a:r>
          </a:p>
          <a:p>
            <a:r>
              <a:rPr lang="en-US" baseline="0" dirty="0" smtClean="0"/>
              <a:t>More reliable in comparison to previous two generations</a:t>
            </a:r>
          </a:p>
          <a:p>
            <a:r>
              <a:rPr lang="en-US" baseline="0" dirty="0" smtClean="0"/>
              <a:t>Smaller size</a:t>
            </a:r>
          </a:p>
          <a:p>
            <a:r>
              <a:rPr lang="en-US" baseline="0" dirty="0" smtClean="0"/>
              <a:t>Generated less heat</a:t>
            </a:r>
          </a:p>
          <a:p>
            <a:r>
              <a:rPr lang="en-US" baseline="0" dirty="0" smtClean="0"/>
              <a:t>Faster</a:t>
            </a:r>
          </a:p>
          <a:p>
            <a:r>
              <a:rPr lang="en-US" baseline="0" dirty="0" smtClean="0"/>
              <a:t>Lesser maintenance</a:t>
            </a:r>
          </a:p>
          <a:p>
            <a:r>
              <a:rPr lang="en-US" baseline="0" dirty="0" smtClean="0"/>
              <a:t>Costly</a:t>
            </a:r>
          </a:p>
          <a:p>
            <a:r>
              <a:rPr lang="en-US" baseline="0" dirty="0" smtClean="0"/>
              <a:t>AC required</a:t>
            </a:r>
          </a:p>
          <a:p>
            <a:r>
              <a:rPr lang="en-US" baseline="0" dirty="0" smtClean="0"/>
              <a:t>Consumed lesser electricity</a:t>
            </a:r>
          </a:p>
          <a:p>
            <a:r>
              <a:rPr lang="en-US" baseline="0" dirty="0" smtClean="0"/>
              <a:t>Supported high-level language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024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6/20/2023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quora.com/What-are-the-differences-between-a-circuit-and-an-electric-circuit" TargetMode="Externa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quora.com/What-are-the-differences-between-a-circuit-and-an-electric-circuit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in.pinterest.com/pin/240661173823316229/" TargetMode="Externa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ircuitglobe.com/wp-content/uploads/2015/09/TRANSFORMER-EFFICIENCY-EQ3-compressor.jpg" TargetMode="Externa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Relationship Id="rId5" Type="http://schemas.openxmlformats.org/officeDocument/2006/relationships/image" Target="../media/image13.jpe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ircuitglobe.com/wp-content/uploads/2015/09/TRANSFORMER-EFFICIENCY-EQ5-compressor.jpg" TargetMode="External"/><Relationship Id="rId7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Relationship Id="rId6" Type="http://schemas.openxmlformats.org/officeDocument/2006/relationships/image" Target="../media/image14.jpeg"/><Relationship Id="rId5" Type="http://schemas.openxmlformats.org/officeDocument/2006/relationships/image" Target="../media/image10.png"/><Relationship Id="rId4" Type="http://schemas.openxmlformats.org/officeDocument/2006/relationships/hyperlink" Target="https://circuitglobe.com/wp-content/uploads/2015/09/TRANSFORMER-EFFICIENCY-EQ3-compressor.jpg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ircuitglobe.com/wp-content/uploads/2015/09/TRANSFORMER-EFFICIENCY-EQ5-compressor.jpg" TargetMode="Externa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Relationship Id="rId6" Type="http://schemas.openxmlformats.org/officeDocument/2006/relationships/image" Target="../media/image16.jpeg"/><Relationship Id="rId5" Type="http://schemas.openxmlformats.org/officeDocument/2006/relationships/image" Target="../media/image10.png"/><Relationship Id="rId4" Type="http://schemas.openxmlformats.org/officeDocument/2006/relationships/hyperlink" Target="https://circuitglobe.com/wp-content/uploads/2015/09/TRANSFORMER-EFFICIENCY-EQ3-compressor.jpg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transformer+working+and+construction&amp;source=lnms&amp;tbm=isch&amp;sa=X&amp;ved=2ahUKEwjf7q2zo5XqAhXbb30KHcZ1A-MQ_AUoAnoECBEQBA&amp;biw=1366&amp;bih=608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rgottenbooks.com/en/books/TheMagneticCircuit_10037141" TargetMode="External"/><Relationship Id="rId2" Type="http://schemas.openxmlformats.org/officeDocument/2006/relationships/hyperlink" Target="https://iopscience.iop.org/book/978-0-7503-2084-9/chapter/bk978-0-7503-2084-9ch1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hyperlink" Target="https://www.sciencedirect.com/topics/engineering/magnetic-circuits" TargetMode="External"/><Relationship Id="rId4" Type="http://schemas.openxmlformats.org/officeDocument/2006/relationships/hyperlink" Target="https://cnx.org/contents/FOAgj46E@1.1:CF55C3SF@1/chapter-1-Magnetic-Circuits-and-Magnetic-Materials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494804" y="4023363"/>
          <a:ext cx="2631143" cy="2507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0"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804" y="4023363"/>
                        <a:ext cx="2631143" cy="25076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214846" y="1371599"/>
            <a:ext cx="9832638" cy="481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000" b="1" dirty="0" smtClean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ENGINEERING </a:t>
            </a:r>
            <a:endParaRPr lang="en-US" sz="3000" b="1" dirty="0">
              <a:latin typeface="Arial Black" panose="020B0A04020102020204" pitchFamily="34" charset="0"/>
              <a:ea typeface="Karla" pitchFamily="2" charset="0"/>
              <a:cs typeface="Karla" pitchFamily="2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</a:t>
            </a:r>
            <a:r>
              <a:rPr lang="en-US" sz="3000" b="1" dirty="0" smtClean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OF ACADEMIC UNIT-1 </a:t>
            </a:r>
            <a:endParaRPr lang="en-US" sz="3000" b="1" dirty="0">
              <a:latin typeface="Arial Black" panose="020B0A04020102020204" pitchFamily="34" charset="0"/>
              <a:ea typeface="Karla" pitchFamily="2" charset="0"/>
              <a:cs typeface="Karla" pitchFamily="2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 (CSE)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Introduction to Electrical &amp; Electronics Engineering-IEEE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 : 23ECH-101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endParaRPr lang="en-US" sz="24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 Shikha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Unit-3 Chapter-1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EFFICIENCY &amp; VOLTAGE REGULATION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 No.3.1.3</a:t>
            </a:r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"/>
              </a:rPr>
              <a:t>Lecture Objectives</a:t>
            </a:r>
            <a:endParaRPr lang="en-US" sz="4400" b="1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665859"/>
              </p:ext>
            </p:extLst>
          </p:nvPr>
        </p:nvGraphicFramePr>
        <p:xfrm>
          <a:off x="282009" y="2226080"/>
          <a:ext cx="6536802" cy="3968322"/>
        </p:xfrm>
        <a:graphic>
          <a:graphicData uri="http://schemas.openxmlformats.org/drawingml/2006/table">
            <a:tbl>
              <a:tblPr firstRow="1" firstCol="1" bandRow="1"/>
              <a:tblGrid>
                <a:gridCol w="556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9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83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S. No.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Objectives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make student</a:t>
                      </a:r>
                      <a:r>
                        <a:rPr lang="en-US" sz="12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aware about losses in transformer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0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aware about</a:t>
                      </a:r>
                      <a:r>
                        <a:rPr lang="en-US" sz="12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efficiency of transformer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4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provide knowledge about voltage regulation of transformer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0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aware about</a:t>
                      </a:r>
                      <a:r>
                        <a:rPr lang="en-US" sz="12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all day efficiency of transformer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90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give applications</a:t>
                      </a:r>
                      <a:r>
                        <a:rPr lang="en-US" sz="12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of transformer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093130" y="5251268"/>
            <a:ext cx="4428309" cy="609781"/>
          </a:xfrm>
        </p:spPr>
        <p:txBody>
          <a:bodyPr>
            <a:normAutofit fontScale="62500" lnSpcReduction="20000"/>
          </a:bodyPr>
          <a:lstStyle/>
          <a:p>
            <a:pPr algn="just">
              <a:buNone/>
            </a:pPr>
            <a:r>
              <a:rPr lang="en-US" sz="2500" dirty="0" smtClean="0">
                <a:hlinkClick r:id="rId2"/>
              </a:rPr>
              <a:t>https://www.quora.com/What-are-the-differences-between-a-circuit-and-an-electric-circuit</a:t>
            </a:r>
            <a:endParaRPr lang="en-US" sz="2500" dirty="0"/>
          </a:p>
        </p:txBody>
      </p:sp>
      <p:pic>
        <p:nvPicPr>
          <p:cNvPr id="24576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77679" y="2246810"/>
            <a:ext cx="4573586" cy="27562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"/>
              </a:rPr>
              <a:t>Course Objectives</a:t>
            </a:r>
            <a:endParaRPr lang="en-US" sz="4400" b="1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093130" y="5251268"/>
            <a:ext cx="4428309" cy="609781"/>
          </a:xfrm>
        </p:spPr>
        <p:txBody>
          <a:bodyPr>
            <a:normAutofit fontScale="62500" lnSpcReduction="20000"/>
          </a:bodyPr>
          <a:lstStyle/>
          <a:p>
            <a:pPr algn="just">
              <a:buNone/>
            </a:pPr>
            <a:r>
              <a:rPr lang="en-US" sz="2500" dirty="0" smtClean="0">
                <a:hlinkClick r:id="rId2"/>
              </a:rPr>
              <a:t>https://www.quora.com/What-are-the-differences-between-a-circuit-and-an-electric-circuit</a:t>
            </a:r>
            <a:endParaRPr lang="en-US" sz="2500" dirty="0"/>
          </a:p>
        </p:txBody>
      </p:sp>
      <p:pic>
        <p:nvPicPr>
          <p:cNvPr id="24576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77679" y="2246810"/>
            <a:ext cx="4573586" cy="27562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00764"/>
              </p:ext>
            </p:extLst>
          </p:nvPr>
        </p:nvGraphicFramePr>
        <p:xfrm>
          <a:off x="209006" y="2129245"/>
          <a:ext cx="6322423" cy="3866605"/>
        </p:xfrm>
        <a:graphic>
          <a:graphicData uri="http://schemas.openxmlformats.org/drawingml/2006/table">
            <a:tbl>
              <a:tblPr firstRow="1" firstCol="1" bandRow="1"/>
              <a:tblGrid>
                <a:gridCol w="538558">
                  <a:extLst>
                    <a:ext uri="{9D8B030D-6E8A-4147-A177-3AD203B41FA5}">
                      <a16:colId xmlns:a16="http://schemas.microsoft.com/office/drawing/2014/main" val="368306319"/>
                    </a:ext>
                  </a:extLst>
                </a:gridCol>
                <a:gridCol w="5783865">
                  <a:extLst>
                    <a:ext uri="{9D8B030D-6E8A-4147-A177-3AD203B41FA5}">
                      <a16:colId xmlns:a16="http://schemas.microsoft.com/office/drawing/2014/main" val="385950952"/>
                    </a:ext>
                  </a:extLst>
                </a:gridCol>
              </a:tblGrid>
              <a:tr h="7101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2253650"/>
                  </a:ext>
                </a:extLst>
              </a:tr>
              <a:tr h="10521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Understand Electrical &amp; Electronics Engineering Fundamentals</a:t>
                      </a:r>
                      <a:r>
                        <a:rPr lang="en-US" sz="2000" kern="1200" spc="-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2000" kern="1200" spc="-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525586"/>
                  </a:ext>
                </a:extLst>
              </a:tr>
              <a:tr h="21042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endParaRPr lang="en-US" sz="20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IN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 prepare students to perform the analysis and design of various Electrical &amp; digital electronic circuits.</a:t>
                      </a:r>
                      <a:endParaRPr lang="en-US" sz="20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267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"/>
              </a:rPr>
              <a:t>Course Outcomes</a:t>
            </a:r>
            <a:endParaRPr lang="en-US" sz="4400" b="1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439990" y="5408024"/>
            <a:ext cx="4915398" cy="518341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000" dirty="0" smtClean="0">
                <a:hlinkClick r:id="rId2"/>
              </a:rPr>
              <a:t>https://in.pinterest.com/pin/240661173823316229/</a:t>
            </a:r>
            <a:endParaRPr lang="en-US" sz="2000" dirty="0"/>
          </a:p>
        </p:txBody>
      </p:sp>
      <p:pic>
        <p:nvPicPr>
          <p:cNvPr id="24473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7197" y="1188723"/>
            <a:ext cx="4808897" cy="40233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789878"/>
              </p:ext>
            </p:extLst>
          </p:nvPr>
        </p:nvGraphicFramePr>
        <p:xfrm>
          <a:off x="130630" y="1825625"/>
          <a:ext cx="6074228" cy="4715267"/>
        </p:xfrm>
        <a:graphic>
          <a:graphicData uri="http://schemas.openxmlformats.org/drawingml/2006/table">
            <a:tbl>
              <a:tblPr firstRow="1" firstCol="1" bandRow="1"/>
              <a:tblGrid>
                <a:gridCol w="505650">
                  <a:extLst>
                    <a:ext uri="{9D8B030D-6E8A-4147-A177-3AD203B41FA5}">
                      <a16:colId xmlns:a16="http://schemas.microsoft.com/office/drawing/2014/main" val="1482078636"/>
                    </a:ext>
                  </a:extLst>
                </a:gridCol>
                <a:gridCol w="4757620">
                  <a:extLst>
                    <a:ext uri="{9D8B030D-6E8A-4147-A177-3AD203B41FA5}">
                      <a16:colId xmlns:a16="http://schemas.microsoft.com/office/drawing/2014/main" val="1254081592"/>
                    </a:ext>
                  </a:extLst>
                </a:gridCol>
                <a:gridCol w="810958">
                  <a:extLst>
                    <a:ext uri="{9D8B030D-6E8A-4147-A177-3AD203B41FA5}">
                      <a16:colId xmlns:a16="http://schemas.microsoft.com/office/drawing/2014/main" val="1547056752"/>
                    </a:ext>
                  </a:extLst>
                </a:gridCol>
              </a:tblGrid>
              <a:tr h="6773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 Number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Title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Level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1478768"/>
                  </a:ext>
                </a:extLst>
              </a:tr>
              <a:tr h="738802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identify the different types of electrical elements and the basic op-amp circuit elements and to illustrate the various types of motors, transducers.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2530054"/>
                  </a:ext>
                </a:extLst>
              </a:tr>
              <a:tr h="994888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understand basic principles of transformers, transducers, op-amps, DC and AC motors and to compare the different methods for analysing electrical and magnetic circuits.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557520"/>
                  </a:ext>
                </a:extLst>
              </a:tr>
              <a:tr h="738802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derive the relationships between parameters in electric and magnetic circuits and motors and to determine specifications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829137"/>
                  </a:ext>
                </a:extLst>
              </a:tr>
              <a:tr h="738802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solve the basic problems related to electric circuits, magnetic circuits and motors and to assess the characteristics of different configurations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7691235"/>
                  </a:ext>
                </a:extLst>
              </a:tr>
              <a:tr h="738802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CO5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design the different applications of transducers, motors as well as the op-amps like adders, </a:t>
                      </a:r>
                      <a:r>
                        <a:rPr lang="en-IN" sz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subtractor</a:t>
                      </a: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 and comparators.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-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21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US" b="1" dirty="0" smtClean="0">
                <a:cs typeface="Arial" panose="020B0604020202020204" pitchFamily="34" charset="0"/>
              </a:rPr>
              <a:t>Importance of Basic Electrical &amp; Electronics Engineering</a:t>
            </a:r>
            <a:r>
              <a:rPr lang="en-US" b="1" dirty="0" smtClean="0">
                <a:latin typeface="Casper"/>
                <a:cs typeface="Arial" panose="020B0604020202020204" pitchFamily="34" charset="0"/>
              </a:rPr>
              <a:t> </a:t>
            </a:r>
            <a:r>
              <a:rPr lang="en-US" b="1" dirty="0" smtClean="0">
                <a:latin typeface="Casper"/>
              </a:rPr>
              <a:t>  </a:t>
            </a:r>
            <a:endParaRPr lang="en-US" b="1" dirty="0">
              <a:latin typeface="Casp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Use from home appliances to industrial plants. 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Usage in communication and satellite navigation system.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Handles in electronics equipment and computers.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Deals with the problem of power transmission and motor control.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Control and monitor the medical appliances in hospitals.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High voltage applications with heavy current.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Robotics applications.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Product designing and development.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AutoNum type="arabicPeriod"/>
            </a:pPr>
            <a:endParaRPr lang="en-IN" dirty="0" smtClean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AutoNum type="arabicPeriod"/>
            </a:pPr>
            <a:endParaRPr lang="en-IN" dirty="0" smtClean="0">
              <a:solidFill>
                <a:prstClr val="black"/>
              </a:solidFill>
              <a:latin typeface="Casper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554011" y="0"/>
            <a:ext cx="9614732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 Bold" panose="02000806040000020004" pitchFamily="2" charset="0"/>
                <a:ea typeface="Karla" pitchFamily="2" charset="0"/>
                <a:cs typeface="Karla" pitchFamily="2" charset="0"/>
              </a:rPr>
              <a:t/>
            </a:r>
            <a:br>
              <a:rPr lang="en-US" sz="4400" b="1" dirty="0" smtClean="0">
                <a:latin typeface="Casper Bold" panose="02000806040000020004" pitchFamily="2" charset="0"/>
                <a:ea typeface="Karla" pitchFamily="2" charset="0"/>
                <a:cs typeface="Karla" pitchFamily="2" charset="0"/>
              </a:rPr>
            </a:br>
            <a:r>
              <a:rPr lang="en-US" sz="4400" b="1" dirty="0" smtClean="0">
                <a:latin typeface="+mj-lt"/>
                <a:ea typeface="Karla" pitchFamily="2" charset="0"/>
                <a:cs typeface="Karla" pitchFamily="2" charset="0"/>
              </a:rPr>
              <a:t>Contents</a:t>
            </a:r>
            <a:r>
              <a:rPr lang="en-US" sz="4400" b="1" dirty="0">
                <a:latin typeface="Karla" pitchFamily="2" charset="0"/>
                <a:ea typeface="Karla" pitchFamily="2" charset="0"/>
                <a:cs typeface="Karla" pitchFamily="2" charset="0"/>
              </a:rPr>
              <a:t/>
            </a:r>
            <a:br>
              <a:rPr lang="en-US" sz="4400" b="1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4400" dirty="0">
              <a:latin typeface="Raleway ExtraBold" pitchFamily="34" charset="-5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93813" y="1404578"/>
            <a:ext cx="789322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2800" dirty="0" smtClean="0">
                <a:cs typeface="Times New Roman" pitchFamily="18" charset="0"/>
              </a:rPr>
              <a:t>Various types of losses </a:t>
            </a:r>
          </a:p>
          <a:p>
            <a:pPr>
              <a:buFont typeface="Wingdings" pitchFamily="2" charset="2"/>
              <a:buChar char="Ø"/>
            </a:pPr>
            <a:r>
              <a:rPr lang="en-IN" sz="2800" dirty="0" smtClean="0">
                <a:cs typeface="Times New Roman" pitchFamily="18" charset="0"/>
              </a:rPr>
              <a:t>Why is a transformer rated in KVA but not in KW?</a:t>
            </a:r>
          </a:p>
          <a:p>
            <a:pPr>
              <a:buFont typeface="Wingdings" pitchFamily="2" charset="2"/>
              <a:buChar char="Ø"/>
            </a:pPr>
            <a:r>
              <a:rPr lang="en-IN" sz="2800" dirty="0" smtClean="0">
                <a:cs typeface="Times New Roman" pitchFamily="18" charset="0"/>
              </a:rPr>
              <a:t> Transformer Efficiency </a:t>
            </a:r>
          </a:p>
          <a:p>
            <a:pPr>
              <a:buFont typeface="Wingdings" pitchFamily="2" charset="2"/>
              <a:buChar char="Ø"/>
            </a:pPr>
            <a:r>
              <a:rPr lang="en-IN" sz="2800" dirty="0" smtClean="0">
                <a:cs typeface="Times New Roman" pitchFamily="18" charset="0"/>
              </a:rPr>
              <a:t>Condition for maximum efficiency of transformer</a:t>
            </a:r>
          </a:p>
          <a:p>
            <a:pPr>
              <a:buFont typeface="Wingdings" pitchFamily="2" charset="2"/>
              <a:buChar char="Ø"/>
            </a:pPr>
            <a:r>
              <a:rPr lang="en-IN" sz="2800" dirty="0" smtClean="0">
                <a:cs typeface="Times New Roman" pitchFamily="18" charset="0"/>
              </a:rPr>
              <a:t>All Day Efficiency of a Transformer</a:t>
            </a:r>
          </a:p>
          <a:p>
            <a:pPr>
              <a:buFont typeface="Wingdings" pitchFamily="2" charset="2"/>
              <a:buChar char="Ø"/>
            </a:pPr>
            <a:r>
              <a:rPr lang="en-IN" sz="2800" dirty="0" smtClean="0">
                <a:cs typeface="Times New Roman" pitchFamily="18" charset="0"/>
              </a:rPr>
              <a:t>Voltage Regulation </a:t>
            </a:r>
          </a:p>
          <a:p>
            <a:pPr>
              <a:buFont typeface="Wingdings" pitchFamily="2" charset="2"/>
              <a:buChar char="Ø"/>
            </a:pPr>
            <a:r>
              <a:rPr lang="en-IN" sz="2800" dirty="0" smtClean="0">
                <a:cs typeface="Times New Roman" pitchFamily="18" charset="0"/>
              </a:rPr>
              <a:t>Expression of Voltage Regulation of Transformer</a:t>
            </a:r>
          </a:p>
          <a:p>
            <a:pPr>
              <a:buFont typeface="Wingdings" pitchFamily="2" charset="2"/>
              <a:buChar char="Ø"/>
            </a:pPr>
            <a:r>
              <a:rPr lang="en-IN" sz="2800" dirty="0" smtClean="0">
                <a:cs typeface="Times New Roman" pitchFamily="18" charset="0"/>
              </a:rPr>
              <a:t>Applications of transformer</a:t>
            </a:r>
          </a:p>
          <a:p>
            <a:pPr>
              <a:buFont typeface="Wingdings" pitchFamily="2" charset="2"/>
              <a:buChar char="Ø"/>
            </a:pPr>
            <a:r>
              <a:rPr lang="en-IN" sz="2800" dirty="0" smtClean="0">
                <a:cs typeface="Times New Roman" pitchFamily="18" charset="0"/>
              </a:rPr>
              <a:t>Frequently asked questions</a:t>
            </a:r>
          </a:p>
          <a:p>
            <a:pPr>
              <a:buFont typeface="Wingdings" pitchFamily="2" charset="2"/>
              <a:buChar char="Ø"/>
            </a:pPr>
            <a:r>
              <a:rPr lang="en-IN" sz="2800" dirty="0" smtClean="0">
                <a:cs typeface="Times New Roman" pitchFamily="18" charset="0"/>
              </a:rPr>
              <a:t>Summary</a:t>
            </a:r>
            <a:r>
              <a:rPr lang="en-US" sz="2800" dirty="0" smtClean="0">
                <a:cs typeface="Times New Roman" pitchFamily="18" charset="0"/>
              </a:rPr>
              <a:t>  </a:t>
            </a:r>
            <a:endParaRPr lang="en-IN" sz="2800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136000" y="235714"/>
            <a:ext cx="9614732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IN" sz="4400" b="1" dirty="0" smtClean="0">
                <a:latin typeface="+mj-lt"/>
                <a:cs typeface="Times New Roman" pitchFamily="18" charset="0"/>
              </a:rPr>
              <a:t>Various Types of Losses </a:t>
            </a:r>
            <a:endParaRPr lang="en-US" sz="4400" dirty="0">
              <a:latin typeface="+mj-l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91885" y="1508867"/>
            <a:ext cx="789322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IN" sz="2800" dirty="0" smtClean="0">
                <a:cs typeface="Times New Roman" pitchFamily="18" charset="0"/>
              </a:rPr>
              <a:t>Iron Losses</a:t>
            </a:r>
          </a:p>
          <a:p>
            <a:pPr>
              <a:buFont typeface="Wingdings" pitchFamily="2" charset="2"/>
              <a:buChar char="§"/>
            </a:pPr>
            <a:r>
              <a:rPr lang="en-IN" sz="2800" dirty="0" smtClean="0">
                <a:cs typeface="Times New Roman" pitchFamily="18" charset="0"/>
              </a:rPr>
              <a:t>Hysteresis Loss</a:t>
            </a:r>
          </a:p>
          <a:p>
            <a:pPr>
              <a:buFont typeface="Wingdings" pitchFamily="2" charset="2"/>
              <a:buChar char="§"/>
            </a:pPr>
            <a:r>
              <a:rPr lang="en-IN" sz="2800" dirty="0" smtClean="0">
                <a:cs typeface="Times New Roman" pitchFamily="18" charset="0"/>
              </a:rPr>
              <a:t>Eddy Current Loss</a:t>
            </a:r>
          </a:p>
          <a:p>
            <a:pPr>
              <a:buFont typeface="Wingdings" pitchFamily="2" charset="2"/>
              <a:buChar char="§"/>
            </a:pPr>
            <a:r>
              <a:rPr lang="en-IN" sz="2800" dirty="0" smtClean="0">
                <a:cs typeface="Times New Roman" pitchFamily="18" charset="0"/>
              </a:rPr>
              <a:t>Copper Loss Or </a:t>
            </a:r>
            <a:r>
              <a:rPr lang="en-IN" sz="2800" dirty="0" err="1" smtClean="0">
                <a:cs typeface="Times New Roman" pitchFamily="18" charset="0"/>
              </a:rPr>
              <a:t>Ohmic</a:t>
            </a:r>
            <a:r>
              <a:rPr lang="en-IN" sz="2800" dirty="0" smtClean="0">
                <a:cs typeface="Times New Roman" pitchFamily="18" charset="0"/>
              </a:rPr>
              <a:t> Loss</a:t>
            </a:r>
          </a:p>
          <a:p>
            <a:pPr>
              <a:buFont typeface="Wingdings" pitchFamily="2" charset="2"/>
              <a:buChar char="§"/>
            </a:pPr>
            <a:r>
              <a:rPr lang="en-IN" sz="2800" dirty="0" smtClean="0">
                <a:cs typeface="Times New Roman" pitchFamily="18" charset="0"/>
              </a:rPr>
              <a:t>Stray Loss</a:t>
            </a:r>
          </a:p>
          <a:p>
            <a:pPr>
              <a:buFont typeface="Wingdings" pitchFamily="2" charset="2"/>
              <a:buChar char="§"/>
            </a:pPr>
            <a:r>
              <a:rPr lang="en-IN" sz="2800" dirty="0" smtClean="0">
                <a:cs typeface="Times New Roman" pitchFamily="18" charset="0"/>
              </a:rPr>
              <a:t>Dielectric Loss</a:t>
            </a:r>
            <a:endParaRPr lang="en-US" sz="2800" dirty="0" smtClean="0"/>
          </a:p>
          <a:p>
            <a:r>
              <a:rPr lang="en-US" sz="2800" dirty="0" smtClean="0"/>
              <a:t> 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14794"/>
            <a:ext cx="10552737" cy="854440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 smtClean="0"/>
              <a:t>Rating of Transformer</a:t>
            </a:r>
            <a:endParaRPr lang="en-IN" sz="4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514007"/>
            <a:ext cx="10282914" cy="4354981"/>
          </a:xfrm>
        </p:spPr>
        <p:txBody>
          <a:bodyPr>
            <a:normAutofit/>
          </a:bodyPr>
          <a:lstStyle/>
          <a:p>
            <a:pPr algn="just" fontAlgn="base">
              <a:buFont typeface="Wingdings" pitchFamily="2" charset="2"/>
              <a:buChar char="q"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KVA stands for kilo-volt-ampere, which basically is the unit of electric power. While calculating 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kVA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of any piece of equipment the power factor is not taken into account.</a:t>
            </a:r>
          </a:p>
          <a:p>
            <a:pPr algn="just" fontAlgn="base">
              <a:buFont typeface="Wingdings" pitchFamily="2" charset="2"/>
              <a:buChar char="q"/>
            </a:pP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(i.e.) Power in </a:t>
            </a:r>
            <a:r>
              <a:rPr lang="en-IN" sz="2000" b="1" dirty="0" err="1" smtClean="0">
                <a:latin typeface="Times New Roman" pitchFamily="18" charset="0"/>
                <a:cs typeface="Times New Roman" pitchFamily="18" charset="0"/>
              </a:rPr>
              <a:t>kVA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 = Voltage x Current.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buFont typeface="Wingdings" pitchFamily="2" charset="2"/>
              <a:buChar char="q"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This means 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kVA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is the unit of measurement for that equipment in which the output power is independent of power factor. </a:t>
            </a:r>
          </a:p>
          <a:p>
            <a:pPr algn="just" fontAlgn="base">
              <a:buFont typeface="Wingdings" pitchFamily="2" charset="2"/>
              <a:buChar char="q"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For example Rating of Alternators, Transformers, and UPS etc.</a:t>
            </a:r>
          </a:p>
          <a:p>
            <a:pPr algn="just" fontAlgn="base">
              <a:buFont typeface="Wingdings" pitchFamily="2" charset="2"/>
              <a:buChar char="q"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Iron loss and copper loss occurring in the transformer are also independent of the power factor.</a:t>
            </a:r>
          </a:p>
          <a:p>
            <a:pPr algn="just" fontAlgn="base">
              <a:buFont typeface="Wingdings" pitchFamily="2" charset="2"/>
              <a:buChar char="q"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Moreover, the output power factor of the transformer purely depends on the connected load. The transformer does not alter the power factor of its output power.</a:t>
            </a:r>
          </a:p>
          <a:p>
            <a:pPr algn="just"/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25137" y="579304"/>
            <a:ext cx="105156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IN" b="1" dirty="0" smtClean="0">
                <a:latin typeface="+mj-lt"/>
              </a:rPr>
              <a:t>Transformer Efficiency </a:t>
            </a:r>
            <a:r>
              <a:rPr lang="en-US" sz="4400" b="1" dirty="0">
                <a:latin typeface="+mj-lt"/>
                <a:ea typeface="Karla" pitchFamily="2" charset="0"/>
                <a:cs typeface="Karla" pitchFamily="2" charset="0"/>
              </a:rPr>
              <a:t/>
            </a:r>
            <a:br>
              <a:rPr lang="en-US" sz="4400" b="1" dirty="0">
                <a:latin typeface="+mj-lt"/>
                <a:ea typeface="Karla" pitchFamily="2" charset="0"/>
                <a:cs typeface="Karla" pitchFamily="2" charset="0"/>
              </a:rPr>
            </a:br>
            <a:endParaRPr lang="en-US" sz="1600" b="1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387" y="1280160"/>
            <a:ext cx="10742663" cy="5107577"/>
          </a:xfrm>
        </p:spPr>
        <p:txBody>
          <a:bodyPr>
            <a:normAutofit/>
          </a:bodyPr>
          <a:lstStyle/>
          <a:p>
            <a:pPr algn="just"/>
            <a:r>
              <a:rPr lang="en-IN" dirty="0" smtClean="0"/>
              <a:t>The </a:t>
            </a:r>
            <a:r>
              <a:rPr lang="en-IN" b="1" dirty="0" smtClean="0"/>
              <a:t>Efficiency</a:t>
            </a:r>
            <a:r>
              <a:rPr lang="en-IN" dirty="0" smtClean="0"/>
              <a:t> of the transformer is defined as the ratio of useful output power to the input power. </a:t>
            </a:r>
          </a:p>
          <a:p>
            <a:pPr algn="just"/>
            <a:r>
              <a:rPr lang="en-IN" dirty="0" smtClean="0"/>
              <a:t>The input and output power are measured in the same unit. Its unit is either in Watts (W) or KW. </a:t>
            </a:r>
            <a:r>
              <a:rPr lang="en-IN" b="1" dirty="0" smtClean="0"/>
              <a:t>Transformer efficiency</a:t>
            </a:r>
            <a:r>
              <a:rPr lang="en-IN" dirty="0" smtClean="0"/>
              <a:t> is denoted by </a:t>
            </a:r>
            <a:r>
              <a:rPr lang="en-IN" b="1" dirty="0" smtClean="0"/>
              <a:t>Ƞ</a:t>
            </a:r>
            <a:r>
              <a:rPr lang="en-IN" dirty="0" smtClean="0"/>
              <a:t>.</a:t>
            </a:r>
          </a:p>
          <a:p>
            <a:endParaRPr lang="en-IN" dirty="0" smtClean="0"/>
          </a:p>
          <a:p>
            <a:pPr marL="0" indent="0" algn="just">
              <a:buNone/>
            </a:pPr>
            <a:endParaRPr lang="en-US" dirty="0" smtClean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~PP528.WAV">
            <a:hlinkClick r:id="" action="ppaction://media"/>
          </p:cNvPr>
          <p:cNvPicPr>
            <a:picLocks noRot="1" noChangeAspect="1"/>
          </p:cNvPicPr>
          <p:nvPr>
            <a:wavAudioFile r:embed="rId1" name="~PP528.WAV"/>
          </p:nvPr>
        </p:nvPicPr>
        <p:blipFill>
          <a:blip r:embed="rId3" cstate="print"/>
          <a:stretch>
            <a:fillRect/>
          </a:stretch>
        </p:blipFill>
        <p:spPr>
          <a:xfrm>
            <a:off x="11680825" y="6346825"/>
            <a:ext cx="304800" cy="304800"/>
          </a:xfrm>
          <a:prstGeom prst="rect">
            <a:avLst/>
          </a:prstGeom>
        </p:spPr>
      </p:pic>
      <p:pic>
        <p:nvPicPr>
          <p:cNvPr id="7" name="Picture 6" descr="TRANSFORMER-EFFICIENCY-EQ1-compressor.jp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86891" y="3435532"/>
            <a:ext cx="6557555" cy="31742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25137" y="579304"/>
            <a:ext cx="105156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IN" b="1" dirty="0" smtClean="0">
                <a:latin typeface="+mj-lt"/>
              </a:rPr>
              <a:t>Transformer Efficiency </a:t>
            </a:r>
            <a:r>
              <a:rPr lang="en-US" sz="4400" b="1" dirty="0">
                <a:latin typeface="+mj-lt"/>
                <a:ea typeface="Karla" pitchFamily="2" charset="0"/>
                <a:cs typeface="Karla" pitchFamily="2" charset="0"/>
              </a:rPr>
              <a:t/>
            </a:r>
            <a:br>
              <a:rPr lang="en-US" sz="4400" b="1" dirty="0">
                <a:latin typeface="+mj-lt"/>
                <a:ea typeface="Karla" pitchFamily="2" charset="0"/>
                <a:cs typeface="Karla" pitchFamily="2" charset="0"/>
              </a:rPr>
            </a:br>
            <a:endParaRPr lang="en-US" sz="1600" b="1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387" y="1280160"/>
            <a:ext cx="10742663" cy="510757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Where,</a:t>
            </a:r>
          </a:p>
          <a:p>
            <a:r>
              <a:rPr lang="en-US" dirty="0" smtClean="0"/>
              <a:t>V</a:t>
            </a:r>
            <a:r>
              <a:rPr lang="en-US" baseline="-25000" dirty="0" smtClean="0"/>
              <a:t>2</a:t>
            </a:r>
            <a:r>
              <a:rPr lang="en-US" dirty="0" smtClean="0"/>
              <a:t> – Secondary terminal voltage</a:t>
            </a:r>
          </a:p>
          <a:p>
            <a:r>
              <a:rPr lang="en-US" dirty="0" smtClean="0"/>
              <a:t>I</a:t>
            </a:r>
            <a:r>
              <a:rPr lang="en-US" baseline="-25000" dirty="0" smtClean="0"/>
              <a:t>2</a:t>
            </a:r>
            <a:r>
              <a:rPr lang="en-US" dirty="0" smtClean="0"/>
              <a:t> – Full load secondary current</a:t>
            </a:r>
          </a:p>
          <a:p>
            <a:r>
              <a:rPr lang="en-US" dirty="0" smtClean="0"/>
              <a:t>Cosϕ</a:t>
            </a:r>
            <a:r>
              <a:rPr lang="en-US" baseline="-25000" dirty="0" smtClean="0"/>
              <a:t>2</a:t>
            </a:r>
            <a:r>
              <a:rPr lang="en-US" dirty="0" smtClean="0"/>
              <a:t> – power factor of the load</a:t>
            </a:r>
          </a:p>
          <a:p>
            <a:r>
              <a:rPr lang="en-US" dirty="0" smtClean="0"/>
              <a:t>P</a:t>
            </a:r>
            <a:r>
              <a:rPr lang="en-US" baseline="-25000" dirty="0" smtClean="0"/>
              <a:t>i</a:t>
            </a:r>
            <a:r>
              <a:rPr lang="en-US" dirty="0" smtClean="0"/>
              <a:t> – Iron losses = hysteresis losses + eddy current losses</a:t>
            </a:r>
          </a:p>
          <a:p>
            <a:r>
              <a:rPr lang="en-US" dirty="0" smtClean="0"/>
              <a:t>P</a:t>
            </a:r>
            <a:r>
              <a:rPr lang="en-US" baseline="-25000" dirty="0" smtClean="0"/>
              <a:t>c</a:t>
            </a:r>
            <a:r>
              <a:rPr lang="en-US" dirty="0" smtClean="0"/>
              <a:t> – Full load copper losses = I</a:t>
            </a:r>
            <a:r>
              <a:rPr lang="en-US" baseline="-25000" dirty="0" smtClean="0"/>
              <a:t>2</a:t>
            </a:r>
            <a:r>
              <a:rPr lang="en-US" baseline="30000" dirty="0" smtClean="0"/>
              <a:t>2</a:t>
            </a:r>
            <a:r>
              <a:rPr lang="en-US" dirty="0" smtClean="0"/>
              <a:t>R</a:t>
            </a:r>
            <a:r>
              <a:rPr lang="en-US" baseline="-25000" dirty="0" smtClean="0"/>
              <a:t>es</a:t>
            </a:r>
            <a:endParaRPr lang="en-US" dirty="0" smtClean="0"/>
          </a:p>
          <a:p>
            <a:r>
              <a:rPr lang="en-US" dirty="0" smtClean="0"/>
              <a:t>Consider, the x is the fraction of the full load. The efficiency of the transformer regarding x is expressed as</a:t>
            </a:r>
          </a:p>
          <a:p>
            <a:endParaRPr lang="en-IN" dirty="0" smtClean="0"/>
          </a:p>
          <a:p>
            <a:pPr marL="0" indent="0" algn="just">
              <a:buNone/>
            </a:pPr>
            <a:endParaRPr lang="en-US" dirty="0" smtClean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~PP528.WAV">
            <a:hlinkClick r:id="" action="ppaction://media"/>
          </p:cNvPr>
          <p:cNvPicPr>
            <a:picLocks noRot="1" noChangeAspect="1"/>
          </p:cNvPicPr>
          <p:nvPr>
            <a:wavAudioFile r:embed="rId1" name="~PP528.WAV"/>
          </p:nvPr>
        </p:nvPicPr>
        <p:blipFill>
          <a:blip r:embed="rId3" cstate="print"/>
          <a:stretch>
            <a:fillRect/>
          </a:stretch>
        </p:blipFill>
        <p:spPr>
          <a:xfrm>
            <a:off x="11680825" y="6346825"/>
            <a:ext cx="304800" cy="304800"/>
          </a:xfrm>
          <a:prstGeom prst="rect">
            <a:avLst/>
          </a:prstGeom>
        </p:spPr>
      </p:pic>
      <p:pic>
        <p:nvPicPr>
          <p:cNvPr id="9" name="Picture 4" descr="TRANSFORMER-EFFICIENCY-EQ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50287" y="5199017"/>
            <a:ext cx="6387388" cy="13832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25137" y="95928"/>
            <a:ext cx="10515600" cy="153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IN" b="1" dirty="0" smtClean="0">
                <a:latin typeface="+mj-lt"/>
              </a:rPr>
              <a:t>Condition for maximum efficiency of transformer? </a:t>
            </a:r>
            <a:r>
              <a:rPr lang="en-US" sz="4400" b="1" dirty="0">
                <a:latin typeface="+mj-lt"/>
                <a:ea typeface="Karla" pitchFamily="2" charset="0"/>
                <a:cs typeface="Karla" pitchFamily="2" charset="0"/>
              </a:rPr>
              <a:t/>
            </a:r>
            <a:br>
              <a:rPr lang="en-US" sz="4400" b="1" dirty="0">
                <a:latin typeface="+mj-lt"/>
                <a:ea typeface="Karla" pitchFamily="2" charset="0"/>
                <a:cs typeface="Karla" pitchFamily="2" charset="0"/>
              </a:rPr>
            </a:br>
            <a:endParaRPr lang="en-US" sz="160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387" y="1280160"/>
            <a:ext cx="11265179" cy="5107577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The efficiency of the transformer along with the load and the power factor is expressed by the given relation:</a:t>
            </a:r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The value of the terminal voltage V</a:t>
            </a:r>
            <a:r>
              <a:rPr lang="en-US" baseline="-25000" dirty="0" smtClean="0"/>
              <a:t>2 </a:t>
            </a:r>
            <a:r>
              <a:rPr lang="en-US" dirty="0" smtClean="0"/>
              <a:t>is approximately constant. Thus, for a given power factor the Transformer efficiency depends upon the load current I</a:t>
            </a:r>
            <a:r>
              <a:rPr lang="en-US" baseline="-25000" dirty="0" smtClean="0"/>
              <a:t>2</a:t>
            </a:r>
            <a:r>
              <a:rPr lang="en-US" dirty="0" smtClean="0"/>
              <a:t>. </a:t>
            </a:r>
          </a:p>
          <a:p>
            <a:pPr algn="just"/>
            <a:r>
              <a:rPr lang="en-US" dirty="0" smtClean="0"/>
              <a:t>In equation (1), the numerator is constant and the transformer efficiency will be maximum if the denominator with respect to the variable I</a:t>
            </a:r>
            <a:r>
              <a:rPr lang="en-US" baseline="-25000" dirty="0" smtClean="0"/>
              <a:t>2</a:t>
            </a:r>
            <a:r>
              <a:rPr lang="en-US" dirty="0" smtClean="0"/>
              <a:t> is equated to zero.</a:t>
            </a:r>
            <a:r>
              <a:rPr lang="en-US" dirty="0" smtClean="0">
                <a:hlinkClick r:id="rId3"/>
              </a:rPr>
              <a:t/>
            </a:r>
            <a:br>
              <a:rPr lang="en-US" dirty="0" smtClean="0">
                <a:hlinkClick r:id="rId3"/>
              </a:rPr>
            </a:br>
            <a:endParaRPr lang="en-US" dirty="0" smtClean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>
              <a:buNone/>
            </a:pPr>
            <a:endParaRPr lang="en-IN" dirty="0" smtClean="0"/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~PP528.WAV">
            <a:hlinkClick r:id="" action="ppaction://media"/>
          </p:cNvPr>
          <p:cNvPicPr>
            <a:picLocks noRot="1" noChangeAspect="1"/>
          </p:cNvPicPr>
          <p:nvPr>
            <a:wavAudioFile r:embed="rId1" name="~PP528.WAV"/>
          </p:nvPr>
        </p:nvPicPr>
        <p:blipFill>
          <a:blip r:embed="rId4" cstate="print"/>
          <a:stretch>
            <a:fillRect/>
          </a:stretch>
        </p:blipFill>
        <p:spPr>
          <a:xfrm>
            <a:off x="11680825" y="6346825"/>
            <a:ext cx="304800" cy="304800"/>
          </a:xfrm>
          <a:prstGeom prst="rect">
            <a:avLst/>
          </a:prstGeom>
        </p:spPr>
      </p:pic>
      <p:pic>
        <p:nvPicPr>
          <p:cNvPr id="47106" name="Picture 2" descr="TRANSFORMER-EFFICIENCY-EQ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38409" y="2143260"/>
            <a:ext cx="6648450" cy="11430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25137" y="95928"/>
            <a:ext cx="10515600" cy="153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IN" b="1" dirty="0" smtClean="0">
                <a:latin typeface="+mj-lt"/>
              </a:rPr>
              <a:t>Condition for maximum efficiency of transformer? </a:t>
            </a:r>
            <a:r>
              <a:rPr lang="en-US" sz="4400" b="1" dirty="0">
                <a:latin typeface="+mj-lt"/>
                <a:ea typeface="Karla" pitchFamily="2" charset="0"/>
                <a:cs typeface="Karla" pitchFamily="2" charset="0"/>
              </a:rPr>
              <a:t/>
            </a:r>
            <a:br>
              <a:rPr lang="en-US" sz="4400" b="1" dirty="0">
                <a:latin typeface="+mj-lt"/>
                <a:ea typeface="Karla" pitchFamily="2" charset="0"/>
                <a:cs typeface="Karla" pitchFamily="2" charset="0"/>
              </a:rPr>
            </a:br>
            <a:endParaRPr lang="en-US" sz="160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387" y="1280160"/>
            <a:ext cx="11265179" cy="5107577"/>
          </a:xfrm>
        </p:spPr>
        <p:txBody>
          <a:bodyPr>
            <a:normAutofit fontScale="85000" lnSpcReduction="20000"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i.e</a:t>
            </a:r>
            <a:r>
              <a:rPr lang="en-US" dirty="0" smtClean="0"/>
              <a:t> Copper losses = Iron losses</a:t>
            </a:r>
          </a:p>
          <a:p>
            <a:r>
              <a:rPr lang="en-US" dirty="0" smtClean="0"/>
              <a:t>Thus, the transformer will give the maximum efficiency when their copper loss is equal to the iron loss.</a:t>
            </a:r>
          </a:p>
          <a:p>
            <a:pPr>
              <a:buNone/>
            </a:pPr>
            <a:r>
              <a:rPr lang="en-US" dirty="0" smtClean="0">
                <a:hlinkClick r:id="rId3"/>
              </a:rPr>
              <a:t/>
            </a:r>
            <a:br>
              <a:rPr lang="en-US" dirty="0" smtClean="0">
                <a:hlinkClick r:id="rId3"/>
              </a:rPr>
            </a:br>
            <a:endParaRPr lang="en-US" dirty="0" smtClean="0"/>
          </a:p>
          <a:p>
            <a:pPr algn="just"/>
            <a:endParaRPr lang="en-US" dirty="0" smtClean="0"/>
          </a:p>
          <a:p>
            <a:pPr algn="just">
              <a:buNone/>
            </a:pPr>
            <a:r>
              <a:rPr lang="en-US" dirty="0" smtClean="0">
                <a:hlinkClick r:id="rId4"/>
              </a:rPr>
              <a:t/>
            </a:r>
            <a:br>
              <a:rPr lang="en-US" dirty="0" smtClean="0">
                <a:hlinkClick r:id="rId4"/>
              </a:rPr>
            </a:br>
            <a:endParaRPr lang="en-US" dirty="0" smtClean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>
              <a:buNone/>
            </a:pPr>
            <a:endParaRPr lang="en-IN" dirty="0" smtClean="0"/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~PP528.WAV">
            <a:hlinkClick r:id="" action="ppaction://media"/>
          </p:cNvPr>
          <p:cNvPicPr>
            <a:picLocks noRot="1" noChangeAspect="1"/>
          </p:cNvPicPr>
          <p:nvPr>
            <a:wavAudioFile r:embed="rId1" name="~PP528.WAV"/>
          </p:nvPr>
        </p:nvPicPr>
        <p:blipFill>
          <a:blip r:embed="rId5" cstate="print"/>
          <a:stretch>
            <a:fillRect/>
          </a:stretch>
        </p:blipFill>
        <p:spPr>
          <a:xfrm>
            <a:off x="11680825" y="6346825"/>
            <a:ext cx="304800" cy="304800"/>
          </a:xfrm>
          <a:prstGeom prst="rect">
            <a:avLst/>
          </a:prstGeom>
        </p:spPr>
      </p:pic>
      <p:pic>
        <p:nvPicPr>
          <p:cNvPr id="56322" name="Picture 2" descr="TRANSFORMER-EFFICIENCY-EQ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441575" y="1494291"/>
            <a:ext cx="6550042" cy="1993492"/>
          </a:xfrm>
          <a:prstGeom prst="rect">
            <a:avLst/>
          </a:prstGeom>
          <a:noFill/>
        </p:spPr>
      </p:pic>
      <p:pic>
        <p:nvPicPr>
          <p:cNvPr id="56324" name="Picture 4" descr="TRANSFORMER-EFFICIENCY-EQ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964089" y="4842284"/>
            <a:ext cx="5429268" cy="12972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25137" y="95928"/>
            <a:ext cx="10515600" cy="153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IN" b="1" dirty="0" smtClean="0">
                <a:latin typeface="+mj-lt"/>
              </a:rPr>
              <a:t>Condition for maximum efficiency of transformer? </a:t>
            </a:r>
            <a:r>
              <a:rPr lang="en-US" sz="4400" b="1" dirty="0">
                <a:latin typeface="+mj-lt"/>
                <a:ea typeface="Karla" pitchFamily="2" charset="0"/>
                <a:cs typeface="Karla" pitchFamily="2" charset="0"/>
              </a:rPr>
              <a:t/>
            </a:r>
            <a:br>
              <a:rPr lang="en-US" sz="4400" b="1" dirty="0">
                <a:latin typeface="+mj-lt"/>
                <a:ea typeface="Karla" pitchFamily="2" charset="0"/>
                <a:cs typeface="Karla" pitchFamily="2" charset="0"/>
              </a:rPr>
            </a:br>
            <a:endParaRPr lang="en-US" sz="160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98" y="1502230"/>
            <a:ext cx="11448059" cy="5408023"/>
          </a:xfrm>
        </p:spPr>
        <p:txBody>
          <a:bodyPr>
            <a:normAutofit fontScale="47500" lnSpcReduction="20000"/>
          </a:bodyPr>
          <a:lstStyle/>
          <a:p>
            <a:r>
              <a:rPr lang="en-US" sz="5900" dirty="0" smtClean="0"/>
              <a:t>From equation (2) the value of output current I</a:t>
            </a:r>
            <a:r>
              <a:rPr lang="en-US" sz="5900" baseline="-25000" dirty="0" smtClean="0"/>
              <a:t>2</a:t>
            </a:r>
            <a:r>
              <a:rPr lang="en-US" sz="5900" dirty="0" smtClean="0"/>
              <a:t> at which the transformer efficiency will be maximum is given as</a:t>
            </a:r>
          </a:p>
          <a:p>
            <a:endParaRPr lang="en-US" sz="5900" dirty="0" smtClean="0"/>
          </a:p>
          <a:p>
            <a:endParaRPr lang="en-US" sz="5900" dirty="0" smtClean="0"/>
          </a:p>
          <a:p>
            <a:endParaRPr lang="en-US" sz="5900" dirty="0" smtClean="0"/>
          </a:p>
          <a:p>
            <a:r>
              <a:rPr lang="en-US" sz="5900" dirty="0" smtClean="0"/>
              <a:t>If x is the fraction of full load KVA at which the efficiency of the transformer is maximum then,</a:t>
            </a:r>
          </a:p>
          <a:p>
            <a:r>
              <a:rPr lang="en-US" sz="5900" dirty="0" smtClean="0"/>
              <a:t>Copper losses = x</a:t>
            </a:r>
            <a:r>
              <a:rPr lang="en-US" sz="5900" baseline="30000" dirty="0" smtClean="0"/>
              <a:t>2</a:t>
            </a:r>
            <a:r>
              <a:rPr lang="en-US" sz="5900" dirty="0" smtClean="0"/>
              <a:t>P</a:t>
            </a:r>
            <a:r>
              <a:rPr lang="en-US" sz="5900" baseline="-25000" dirty="0" smtClean="0"/>
              <a:t>c </a:t>
            </a:r>
            <a:r>
              <a:rPr lang="en-US" sz="5900" dirty="0" smtClean="0"/>
              <a:t>(where P</a:t>
            </a:r>
            <a:r>
              <a:rPr lang="en-US" sz="5900" baseline="-25000" dirty="0" smtClean="0"/>
              <a:t>c</a:t>
            </a:r>
            <a:r>
              <a:rPr lang="en-US" sz="5900" dirty="0" smtClean="0"/>
              <a:t> is the full load copper losses)</a:t>
            </a:r>
          </a:p>
          <a:p>
            <a:pPr>
              <a:buNone/>
            </a:pPr>
            <a:r>
              <a:rPr lang="en-US" sz="5900" dirty="0" smtClean="0"/>
              <a:t>						Iron losses = P</a:t>
            </a:r>
            <a:r>
              <a:rPr lang="en-US" sz="5900" baseline="-25000" dirty="0" smtClean="0"/>
              <a:t>i</a:t>
            </a:r>
            <a:endParaRPr lang="en-US" sz="5900" dirty="0" smtClean="0"/>
          </a:p>
          <a:p>
            <a:r>
              <a:rPr lang="en-US" sz="5900" dirty="0" smtClean="0"/>
              <a:t>So iron loss must be equal to copper loss.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dirty="0" smtClean="0">
                <a:hlinkClick r:id="rId3"/>
              </a:rPr>
              <a:t/>
            </a:r>
            <a:br>
              <a:rPr lang="en-US" dirty="0" smtClean="0">
                <a:hlinkClick r:id="rId3"/>
              </a:rPr>
            </a:br>
            <a:endParaRPr lang="en-US" dirty="0" smtClean="0"/>
          </a:p>
          <a:p>
            <a:pPr algn="just"/>
            <a:endParaRPr lang="en-US" dirty="0" smtClean="0"/>
          </a:p>
          <a:p>
            <a:pPr algn="just">
              <a:buNone/>
            </a:pPr>
            <a:r>
              <a:rPr lang="en-US" dirty="0" smtClean="0">
                <a:hlinkClick r:id="rId4"/>
              </a:rPr>
              <a:t/>
            </a:r>
            <a:br>
              <a:rPr lang="en-US" dirty="0" smtClean="0">
                <a:hlinkClick r:id="rId4"/>
              </a:rPr>
            </a:br>
            <a:endParaRPr lang="en-US" dirty="0" smtClean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>
              <a:buNone/>
            </a:pPr>
            <a:endParaRPr lang="en-IN" dirty="0" smtClean="0"/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~PP528.WAV">
            <a:hlinkClick r:id="" action="ppaction://media"/>
          </p:cNvPr>
          <p:cNvPicPr>
            <a:picLocks noRot="1" noChangeAspect="1"/>
          </p:cNvPicPr>
          <p:nvPr>
            <a:wavAudioFile r:embed="rId1" name="~PP528.WAV"/>
          </p:nvPr>
        </p:nvPicPr>
        <p:blipFill>
          <a:blip r:embed="rId5" cstate="print"/>
          <a:stretch>
            <a:fillRect/>
          </a:stretch>
        </p:blipFill>
        <p:spPr>
          <a:xfrm>
            <a:off x="11680825" y="6346825"/>
            <a:ext cx="304800" cy="304800"/>
          </a:xfrm>
          <a:prstGeom prst="rect">
            <a:avLst/>
          </a:prstGeom>
        </p:spPr>
      </p:pic>
      <p:pic>
        <p:nvPicPr>
          <p:cNvPr id="57346" name="Picture 2" descr="TRANSFORMER-EFFICIENCY-EQ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36137" y="2155371"/>
            <a:ext cx="2065109" cy="10379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25137" y="579304"/>
            <a:ext cx="105156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IN" b="1" dirty="0" smtClean="0">
                <a:latin typeface="+mj-lt"/>
              </a:rPr>
              <a:t>Voltage Regulation </a:t>
            </a:r>
            <a:r>
              <a:rPr lang="en-US" sz="4400" b="1" dirty="0">
                <a:latin typeface="+mj-lt"/>
                <a:ea typeface="Karla" pitchFamily="2" charset="0"/>
                <a:cs typeface="Karla" pitchFamily="2" charset="0"/>
              </a:rPr>
              <a:t/>
            </a:r>
            <a:br>
              <a:rPr lang="en-US" sz="4400" b="1" dirty="0">
                <a:latin typeface="+mj-lt"/>
                <a:ea typeface="Karla" pitchFamily="2" charset="0"/>
                <a:cs typeface="Karla" pitchFamily="2" charset="0"/>
              </a:rPr>
            </a:br>
            <a:endParaRPr lang="en-US" sz="160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387" y="1280160"/>
            <a:ext cx="10742663" cy="5107577"/>
          </a:xfrm>
        </p:spPr>
        <p:txBody>
          <a:bodyPr>
            <a:normAutofit/>
          </a:bodyPr>
          <a:lstStyle/>
          <a:p>
            <a:pPr>
              <a:buNone/>
            </a:pPr>
            <a:endParaRPr lang="en-IN" b="1" dirty="0" smtClean="0"/>
          </a:p>
          <a:p>
            <a:pPr algn="just"/>
            <a:r>
              <a:rPr lang="en-IN" dirty="0" smtClean="0"/>
              <a:t>Voltage regulation is a measure of change in the voltage magnitude between the sending and receiving end of a component. </a:t>
            </a:r>
          </a:p>
          <a:p>
            <a:pPr algn="just"/>
            <a:r>
              <a:rPr lang="en-IN" dirty="0" smtClean="0"/>
              <a:t>It is commonly used in power engineering to describe the percentage voltage difference between no load and full load voltages distribution lines, transmission lines and transformers.</a:t>
            </a:r>
          </a:p>
          <a:p>
            <a:pPr marL="0" indent="0" algn="just">
              <a:buNone/>
            </a:pPr>
            <a:endParaRPr lang="en-US" dirty="0" smtClean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~PP528.WAV">
            <a:hlinkClick r:id="" action="ppaction://media"/>
          </p:cNvPr>
          <p:cNvPicPr>
            <a:picLocks noRot="1" noChangeAspect="1"/>
          </p:cNvPicPr>
          <p:nvPr>
            <a:wavAudioFile r:embed="rId1" name="~PP528.WAV"/>
          </p:nvPr>
        </p:nvPicPr>
        <p:blipFill>
          <a:blip r:embed="rId3" cstate="print"/>
          <a:stretch>
            <a:fillRect/>
          </a:stretch>
        </p:blipFill>
        <p:spPr>
          <a:xfrm>
            <a:off x="11680825" y="63468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>
                <a:cs typeface="Times New Roman" pitchFamily="18" charset="0"/>
              </a:rPr>
              <a:t>All Day Efficiency of a Transformer</a:t>
            </a: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6577" y="1472928"/>
            <a:ext cx="10539549" cy="4351338"/>
          </a:xfrm>
        </p:spPr>
        <p:txBody>
          <a:bodyPr/>
          <a:lstStyle/>
          <a:p>
            <a:pPr algn="just"/>
            <a:r>
              <a:rPr lang="en-IN" b="1" dirty="0" smtClean="0"/>
              <a:t>Definition:</a:t>
            </a:r>
            <a:r>
              <a:rPr lang="en-IN" dirty="0" smtClean="0"/>
              <a:t> All day efficiency means the power consumed by the transformer throughout the day. </a:t>
            </a:r>
          </a:p>
          <a:p>
            <a:pPr algn="just"/>
            <a:r>
              <a:rPr lang="en-IN" dirty="0" smtClean="0"/>
              <a:t>It is defined as the </a:t>
            </a:r>
            <a:r>
              <a:rPr lang="en-IN" b="1" dirty="0" smtClean="0"/>
              <a:t>ratio of output power to the input power</a:t>
            </a:r>
            <a:r>
              <a:rPr lang="en-IN" dirty="0" smtClean="0"/>
              <a:t> in kWh or </a:t>
            </a:r>
            <a:r>
              <a:rPr lang="en-IN" dirty="0" err="1" smtClean="0"/>
              <a:t>wh</a:t>
            </a:r>
            <a:r>
              <a:rPr lang="en-IN" dirty="0" smtClean="0"/>
              <a:t> of the transformer over 24 hours.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5" name="Picture 4" descr="ALL-DAY-EFFICIENCY-EQ1-compressor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66146" y="3401056"/>
            <a:ext cx="4437089" cy="18699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25137" y="274606"/>
            <a:ext cx="10515600" cy="153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IN" b="1" dirty="0" smtClean="0">
                <a:latin typeface="+mj-lt"/>
              </a:rPr>
              <a:t>Expression of Voltage Regulation of Transformer </a:t>
            </a:r>
            <a:r>
              <a:rPr lang="en-US" sz="4400" b="1" dirty="0">
                <a:latin typeface="Casper Bold" panose="02000806040000020004" pitchFamily="2" charset="0"/>
                <a:ea typeface="Karla" pitchFamily="2" charset="0"/>
                <a:cs typeface="Karla" pitchFamily="2" charset="0"/>
              </a:rPr>
              <a:t/>
            </a:r>
            <a:br>
              <a:rPr lang="en-US" sz="4400" b="1" dirty="0">
                <a:latin typeface="Casper Bold" panose="02000806040000020004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9141" y="1672047"/>
            <a:ext cx="11095362" cy="5107577"/>
          </a:xfrm>
        </p:spPr>
        <p:txBody>
          <a:bodyPr>
            <a:noAutofit/>
          </a:bodyPr>
          <a:lstStyle/>
          <a:p>
            <a:r>
              <a:rPr lang="en-IN" dirty="0" smtClean="0"/>
              <a:t>The equation for the </a:t>
            </a:r>
            <a:r>
              <a:rPr lang="en-IN" b="1" dirty="0" smtClean="0"/>
              <a:t>voltage regulation of transformer</a:t>
            </a:r>
            <a:r>
              <a:rPr lang="en-IN" dirty="0" smtClean="0"/>
              <a:t>, represented in percentage, is</a:t>
            </a:r>
          </a:p>
          <a:p>
            <a:pPr>
              <a:buNone/>
            </a:pPr>
            <a:r>
              <a:rPr lang="en-IN" dirty="0" smtClean="0"/>
              <a:t>	    Voltage Regulation= change in output voltage/No-load output voltage</a:t>
            </a:r>
          </a:p>
          <a:p>
            <a:pPr>
              <a:buNone/>
            </a:pPr>
            <a:r>
              <a:rPr lang="en-IN" dirty="0" smtClean="0"/>
              <a:t>		Voltage Regulation= V(no load)-V(full load)/V(no load)</a:t>
            </a:r>
          </a:p>
          <a:p>
            <a:pPr>
              <a:buNone/>
            </a:pPr>
            <a:r>
              <a:rPr lang="en-IN" dirty="0" smtClean="0"/>
              <a:t>In percentage we can write:</a:t>
            </a:r>
          </a:p>
          <a:p>
            <a:pPr>
              <a:buNone/>
            </a:pPr>
            <a:r>
              <a:rPr lang="en-IN" dirty="0" smtClean="0"/>
              <a:t>			Voltage Regulation= V(no load)-V(full load)/V(no load) X 100</a:t>
            </a:r>
          </a:p>
          <a:p>
            <a:pPr algn="just"/>
            <a:r>
              <a:rPr lang="en-IN" dirty="0" smtClean="0"/>
              <a:t>So when the secondary winding of transformer is connected with the load its output voltage can be changed and it can be expressed in terms of ratio or percentage.</a:t>
            </a:r>
          </a:p>
          <a:p>
            <a:pPr>
              <a:buNone/>
            </a:pPr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pPr>
              <a:buNone/>
            </a:pPr>
            <a:r>
              <a:rPr lang="en-IN" dirty="0" smtClean="0"/>
              <a:t/>
            </a:r>
            <a:br>
              <a:rPr lang="en-IN" dirty="0" smtClean="0"/>
            </a:br>
            <a:endParaRPr lang="en-IN" dirty="0" smtClean="0"/>
          </a:p>
          <a:p>
            <a:pPr marL="0" indent="0" algn="just">
              <a:buNone/>
            </a:pPr>
            <a:endParaRPr lang="en-US" dirty="0" smtClean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6" name="~PP528.WAV">
            <a:hlinkClick r:id="" action="ppaction://media"/>
          </p:cNvPr>
          <p:cNvPicPr>
            <a:picLocks noRot="1" noChangeAspect="1"/>
          </p:cNvPicPr>
          <p:nvPr>
            <a:wavAudioFile r:embed="rId1" name="~PP528.WAV"/>
          </p:nvPr>
        </p:nvPicPr>
        <p:blipFill>
          <a:blip r:embed="rId3" cstate="print"/>
          <a:stretch>
            <a:fillRect/>
          </a:stretch>
        </p:blipFill>
        <p:spPr>
          <a:xfrm>
            <a:off x="11680825" y="63468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Applications of Transformer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q"/>
            </a:pPr>
            <a:r>
              <a:rPr lang="en-US" dirty="0" smtClean="0"/>
              <a:t>It can rise or lower the level of level of Voltage or Current ( when voltage increases, current decreases and vice versa because  </a:t>
            </a:r>
            <a:r>
              <a:rPr lang="en-US" b="1" dirty="0" smtClean="0"/>
              <a:t>P =V x I</a:t>
            </a:r>
            <a:r>
              <a:rPr lang="en-US" dirty="0" smtClean="0"/>
              <a:t>, and Power is same )  in an AC Circuit.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 smtClean="0"/>
              <a:t>It can increase or decrease the value of capacitor, an inductor or resistance in an AC circuit. It can thus act as an impedance transferring device.  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 smtClean="0"/>
              <a:t>It can be used to prevent DC from passing from one circuit to the other. 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 smtClean="0"/>
              <a:t>it can isolate two circuits electrically.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8011" y="428977"/>
            <a:ext cx="10515600" cy="1121483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cs typeface="Arial" panose="020B0604020202020204" pitchFamily="34" charset="0"/>
              </a:rPr>
              <a:t>Frequently Asked Questions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71600"/>
            <a:ext cx="10659036" cy="4805363"/>
          </a:xfrm>
        </p:spPr>
        <p:txBody>
          <a:bodyPr>
            <a:normAutofit/>
          </a:bodyPr>
          <a:lstStyle/>
          <a:p>
            <a:pPr fontAlgn="base">
              <a:buNone/>
            </a:pPr>
            <a:r>
              <a:rPr lang="en-IE" b="1" dirty="0" smtClean="0"/>
              <a:t> 1.)  What is the condition for maximum efficiency of transformer</a:t>
            </a:r>
            <a:endParaRPr lang="en-IE" dirty="0" smtClean="0"/>
          </a:p>
          <a:p>
            <a:pPr fontAlgn="base">
              <a:buNone/>
            </a:pPr>
            <a:r>
              <a:rPr lang="en-IE" dirty="0" smtClean="0"/>
              <a:t>Answer:- iron losses =cu losses</a:t>
            </a:r>
          </a:p>
          <a:p>
            <a:pPr fontAlgn="base">
              <a:buNone/>
            </a:pPr>
            <a:endParaRPr lang="en-IE" b="1" dirty="0" smtClean="0"/>
          </a:p>
          <a:p>
            <a:pPr fontAlgn="base">
              <a:buNone/>
            </a:pPr>
            <a:r>
              <a:rPr lang="en-IE" b="1" dirty="0" smtClean="0"/>
              <a:t>2.) Define voltage regulation?</a:t>
            </a:r>
            <a:endParaRPr lang="en-IE" dirty="0" smtClean="0"/>
          </a:p>
          <a:p>
            <a:pPr algn="just" fontAlgn="base">
              <a:buNone/>
            </a:pPr>
            <a:r>
              <a:rPr lang="en-IE" dirty="0" smtClean="0"/>
              <a:t>Answer:- </a:t>
            </a:r>
            <a:r>
              <a:rPr lang="en-IN" dirty="0" smtClean="0"/>
              <a:t>Voltage regulation is a measure of change in the voltage magnitude between the sending and receiving end of a component. </a:t>
            </a:r>
            <a:endParaRPr lang="en-IE" dirty="0" smtClean="0"/>
          </a:p>
          <a:p>
            <a:pPr marL="0" indent="0">
              <a:buNone/>
            </a:pPr>
            <a:endParaRPr lang="en-US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199" y="1803400"/>
            <a:ext cx="10753165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049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194" y="0"/>
            <a:ext cx="10515600" cy="1121483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cs typeface="Arial" panose="020B0604020202020204" pitchFamily="34" charset="0"/>
              </a:rPr>
              <a:t>Frequently Asked Questions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45474"/>
            <a:ext cx="10659036" cy="4831489"/>
          </a:xfrm>
        </p:spPr>
        <p:txBody>
          <a:bodyPr>
            <a:normAutofit/>
          </a:bodyPr>
          <a:lstStyle/>
          <a:p>
            <a:pPr fontAlgn="base">
              <a:buNone/>
            </a:pPr>
            <a:r>
              <a:rPr lang="en-IE" b="1" dirty="0" smtClean="0"/>
              <a:t> 3.)  Why the transformer rating is in </a:t>
            </a:r>
            <a:r>
              <a:rPr lang="en-IE" b="1" dirty="0" err="1" smtClean="0"/>
              <a:t>kVA</a:t>
            </a:r>
            <a:r>
              <a:rPr lang="en-IE" b="1" dirty="0" smtClean="0"/>
              <a:t>?</a:t>
            </a:r>
            <a:endParaRPr lang="en-IE" dirty="0" smtClean="0"/>
          </a:p>
          <a:p>
            <a:pPr fontAlgn="base">
              <a:buNone/>
            </a:pPr>
            <a:r>
              <a:rPr lang="en-IE" dirty="0" smtClean="0"/>
              <a:t>Answer:- KVA because iron loss is in voltage form and copper loss is in current form hence the rating of transformer rating is in </a:t>
            </a:r>
            <a:r>
              <a:rPr lang="en-IE" dirty="0" err="1" smtClean="0"/>
              <a:t>kVA</a:t>
            </a:r>
            <a:r>
              <a:rPr lang="en-IE" dirty="0" smtClean="0"/>
              <a:t>.</a:t>
            </a:r>
          </a:p>
          <a:p>
            <a:pPr fontAlgn="base">
              <a:buNone/>
            </a:pPr>
            <a:endParaRPr lang="en-IE" b="1" dirty="0" smtClean="0"/>
          </a:p>
          <a:p>
            <a:pPr fontAlgn="base">
              <a:buNone/>
            </a:pPr>
            <a:r>
              <a:rPr lang="en-IE" b="1" dirty="0" smtClean="0"/>
              <a:t>4.) What are the applications of transformer?</a:t>
            </a:r>
            <a:endParaRPr lang="en-IE" dirty="0" smtClean="0"/>
          </a:p>
          <a:p>
            <a:pPr algn="just" fontAlgn="base">
              <a:buNone/>
            </a:pPr>
            <a:r>
              <a:rPr lang="en-IE" dirty="0" smtClean="0"/>
              <a:t>Answer:- </a:t>
            </a:r>
            <a:r>
              <a:rPr lang="en-US" dirty="0" smtClean="0"/>
              <a:t>Transformer performs functions such as:</a:t>
            </a:r>
          </a:p>
          <a:p>
            <a:pPr marL="457200" indent="-457200" algn="just" fontAlgn="base">
              <a:buAutoNum type="alphaLcParenR"/>
            </a:pPr>
            <a:r>
              <a:rPr lang="en-US" dirty="0" smtClean="0"/>
              <a:t>Increase or decrease the value of voltage</a:t>
            </a:r>
          </a:p>
          <a:p>
            <a:pPr marL="457200" indent="-457200" algn="just" fontAlgn="base">
              <a:buAutoNum type="alphaLcParenR"/>
            </a:pPr>
            <a:r>
              <a:rPr lang="en-US" dirty="0" smtClean="0"/>
              <a:t>Used to prevent DC passing from one circuit to the other.</a:t>
            </a:r>
            <a:endParaRPr lang="en-IE" dirty="0" smtClean="0"/>
          </a:p>
          <a:p>
            <a:pPr marL="0" indent="0">
              <a:buNone/>
            </a:pPr>
            <a:endParaRPr lang="en-US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199" y="1803400"/>
            <a:ext cx="10753165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049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 smtClean="0">
                <a:cs typeface="Arial" panose="020B0604020202020204" pitchFamily="34" charset="0"/>
              </a:rPr>
              <a:t>Summary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199" y="1803400"/>
            <a:ext cx="10515601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9086" y="1802674"/>
            <a:ext cx="1048947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>
                <a:cs typeface="Aparajita" pitchFamily="34" charset="0"/>
              </a:rPr>
              <a:t>Through this PPT , the students have learned and understood</a:t>
            </a:r>
          </a:p>
          <a:p>
            <a:pPr>
              <a:buFont typeface="Wingdings" pitchFamily="2" charset="2"/>
              <a:buChar char="ü"/>
            </a:pPr>
            <a:r>
              <a:rPr lang="en-IN" sz="2800" dirty="0" smtClean="0">
                <a:cs typeface="Aparajita" pitchFamily="34" charset="0"/>
              </a:rPr>
              <a:t>Efficiency of transformer</a:t>
            </a:r>
          </a:p>
          <a:p>
            <a:pPr>
              <a:buFont typeface="Wingdings" pitchFamily="2" charset="2"/>
              <a:buChar char="ü"/>
            </a:pPr>
            <a:r>
              <a:rPr lang="en-IN" sz="2800" dirty="0" smtClean="0">
                <a:cs typeface="Aparajita" pitchFamily="34" charset="0"/>
              </a:rPr>
              <a:t>Condition for maximum efficiency</a:t>
            </a:r>
          </a:p>
          <a:p>
            <a:pPr>
              <a:buFont typeface="Wingdings" pitchFamily="2" charset="2"/>
              <a:buChar char="ü"/>
            </a:pPr>
            <a:r>
              <a:rPr lang="en-IN" sz="2800" dirty="0" smtClean="0">
                <a:cs typeface="Aparajita" pitchFamily="34" charset="0"/>
              </a:rPr>
              <a:t>Voltage regulation of transformer</a:t>
            </a:r>
          </a:p>
          <a:p>
            <a:pPr>
              <a:buFont typeface="Wingdings" pitchFamily="2" charset="2"/>
              <a:buChar char="ü"/>
            </a:pPr>
            <a:r>
              <a:rPr lang="en-IN" sz="2800" dirty="0" smtClean="0">
                <a:cs typeface="Aparajita" pitchFamily="34" charset="0"/>
              </a:rPr>
              <a:t>Expression for voltage regulation of transformer</a:t>
            </a:r>
          </a:p>
          <a:p>
            <a:pPr>
              <a:buFont typeface="Wingdings" pitchFamily="2" charset="2"/>
              <a:buChar char="ü"/>
            </a:pPr>
            <a:r>
              <a:rPr lang="en-IN" sz="2800" dirty="0" smtClean="0">
                <a:cs typeface="Aparajita" pitchFamily="34" charset="0"/>
              </a:rPr>
              <a:t>Applications of transformer</a:t>
            </a:r>
          </a:p>
        </p:txBody>
      </p:sp>
    </p:spTree>
    <p:extLst>
      <p:ext uri="{BB962C8B-B14F-4D97-AF65-F5344CB8AC3E}">
        <p14:creationId xmlns:p14="http://schemas.microsoft.com/office/powerpoint/2010/main" val="484195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38200" y="566241"/>
            <a:ext cx="105156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 Bold" panose="02000806040000020004" pitchFamily="2" charset="0"/>
                <a:ea typeface="Karla" pitchFamily="2" charset="0"/>
                <a:cs typeface="Karla" pitchFamily="2" charset="0"/>
              </a:rPr>
              <a:t> </a:t>
            </a:r>
            <a:r>
              <a:rPr lang="en-US" sz="4400" b="1" dirty="0" smtClean="0">
                <a:latin typeface="+mj-lt"/>
                <a:ea typeface="Karla" pitchFamily="2" charset="0"/>
                <a:cs typeface="Karla" pitchFamily="2" charset="0"/>
              </a:rPr>
              <a:t>Learning Outcomes</a:t>
            </a:r>
            <a:r>
              <a:rPr lang="en-US" sz="4400" b="1" dirty="0">
                <a:latin typeface="Casper Bold" panose="02000806040000020004" pitchFamily="2" charset="0"/>
                <a:ea typeface="Karla" pitchFamily="2" charset="0"/>
                <a:cs typeface="Karla" pitchFamily="2" charset="0"/>
              </a:rPr>
              <a:t/>
            </a:r>
            <a:br>
              <a:rPr lang="en-US" sz="4400" b="1" dirty="0">
                <a:latin typeface="Casper Bold" panose="02000806040000020004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99" y="1384663"/>
            <a:ext cx="5882179" cy="470086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To make students understand the 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IN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Concept of transformer efficiency.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</a:pPr>
            <a:r>
              <a:rPr lang="en-US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Condition for maximum efficiency.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Voltage regulation of transformer.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Expression for voltage regulation.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Applications of transformer.</a:t>
            </a:r>
          </a:p>
          <a:p>
            <a:pPr algn="just">
              <a:buNone/>
            </a:pPr>
            <a:endParaRPr lang="en-US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94863" y="2166938"/>
            <a:ext cx="4098274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5869000" y="4872289"/>
            <a:ext cx="59050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 smtClean="0">
                <a:hlinkClick r:id="rId3"/>
              </a:rPr>
              <a:t>https://www.google.com/search?q=transformer+working+and+construction&amp;source=lnms&amp;tbm=isch&amp;sa=X&amp;ved=2ahUKEwjf7q2zo5XqAhXbb30KHcZ1A-MQ_AUoAnoECBEQBA&amp;biw=1366&amp;bih=608#imgrc=Hz4hgKww9splRM&amp;imgdii=-GHifX4ZDm1raM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8550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Assessment Pattern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46352"/>
            <a:ext cx="10696303" cy="4940939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0711" y="1968136"/>
          <a:ext cx="10855229" cy="211597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50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937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 A</a:t>
                      </a:r>
                    </a:p>
                    <a:p>
                      <a:pPr algn="ctr"/>
                      <a:r>
                        <a:rPr lang="en-US" dirty="0" smtClean="0"/>
                        <a:t>Assignment (each assignment)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B</a:t>
                      </a:r>
                    </a:p>
                    <a:p>
                      <a:pPr algn="ctr"/>
                      <a:r>
                        <a:rPr lang="en-US" dirty="0" smtClean="0"/>
                        <a:t>Time Bound Surprise</a:t>
                      </a:r>
                      <a:r>
                        <a:rPr lang="en-US" baseline="0" dirty="0" smtClean="0"/>
                        <a:t> Test (each test)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</a:p>
                    <a:p>
                      <a:pPr algn="ctr"/>
                      <a:r>
                        <a:rPr lang="en-US" dirty="0" smtClean="0"/>
                        <a:t>Quiz (each quiz)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D</a:t>
                      </a:r>
                    </a:p>
                    <a:p>
                      <a:pPr algn="ctr"/>
                      <a:r>
                        <a:rPr lang="en-US" dirty="0" smtClean="0"/>
                        <a:t>Mid</a:t>
                      </a:r>
                      <a:r>
                        <a:rPr lang="en-US" baseline="0" dirty="0" smtClean="0"/>
                        <a:t> Semester Test(one per test)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E</a:t>
                      </a:r>
                    </a:p>
                    <a:p>
                      <a:pPr algn="ctr"/>
                      <a:r>
                        <a:rPr lang="en-US" dirty="0" smtClean="0"/>
                        <a:t>Homework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 F</a:t>
                      </a:r>
                    </a:p>
                    <a:p>
                      <a:pPr algn="ctr"/>
                      <a:r>
                        <a:rPr lang="en-US" dirty="0" smtClean="0"/>
                        <a:t>Discussion Forums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G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Attendance and  engagement Score on BB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61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dirty="0" smtClean="0">
                <a:latin typeface="Casper Bold" panose="02000806040000020004" pitchFamily="2" charset="0"/>
                <a:cs typeface="Arial" panose="020B0604020202020204" pitchFamily="34" charset="0"/>
              </a:rPr>
              <a:t>REFERENCES </a:t>
            </a:r>
            <a:r>
              <a:rPr lang="en-US" sz="2800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6907306" cy="472309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endParaRPr lang="en-US" sz="1600" dirty="0" smtClean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 algn="just">
              <a:buFont typeface="Wingdings" pitchFamily="2" charset="2"/>
              <a:buChar char="§"/>
            </a:pPr>
            <a:r>
              <a:rPr lang="en-IN" dirty="0" smtClean="0"/>
              <a:t>https://circuitglobe.com/what-is-transformer-efficiency.html</a:t>
            </a:r>
            <a:endParaRPr lang="en-US" dirty="0" smtClean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 algn="just">
              <a:buFont typeface="Wingdings" pitchFamily="2" charset="2"/>
              <a:buChar char="§"/>
            </a:pPr>
            <a:r>
              <a:rPr lang="en-IE" dirty="0" smtClean="0">
                <a:hlinkClick r:id="rId2"/>
              </a:rPr>
              <a:t>https://iopscience.iop.org/book/978-0-7503-2084-9/chapter/bk978-0-7503-2084-9ch1</a:t>
            </a:r>
            <a:endParaRPr lang="en-IE" dirty="0" smtClean="0"/>
          </a:p>
          <a:p>
            <a:pPr marL="0" indent="0" algn="just">
              <a:buFont typeface="Wingdings" pitchFamily="2" charset="2"/>
              <a:buChar char="§"/>
            </a:pPr>
            <a:r>
              <a:rPr lang="en-IE" dirty="0" smtClean="0">
                <a:hlinkClick r:id="rId3"/>
              </a:rPr>
              <a:t>https://www.forgottenbooks.com/en/books/TheMagneticCircuit_10037141</a:t>
            </a:r>
            <a:endParaRPr lang="en-IE" dirty="0" smtClean="0"/>
          </a:p>
          <a:p>
            <a:pPr marL="0" indent="0" algn="just">
              <a:buFont typeface="Wingdings" pitchFamily="2" charset="2"/>
              <a:buChar char="§"/>
            </a:pPr>
            <a:r>
              <a:rPr lang="en-IE" dirty="0" smtClean="0">
                <a:hlinkClick r:id="rId4"/>
              </a:rPr>
              <a:t>https://cnx.org/contents/FOAgj46E@1.1:CF55C3SF@1/chapter-1-Magnetic-Circuits-and-Magnetic-Materials</a:t>
            </a:r>
            <a:endParaRPr lang="en-IE" dirty="0" smtClean="0"/>
          </a:p>
          <a:p>
            <a:pPr marL="0" indent="0" algn="just">
              <a:buFont typeface="Wingdings" pitchFamily="2" charset="2"/>
              <a:buChar char="§"/>
            </a:pPr>
            <a:r>
              <a:rPr lang="en-IE" dirty="0" smtClean="0">
                <a:hlinkClick r:id="rId5"/>
              </a:rPr>
              <a:t>https://www.sciencedirect.com/topics/engineering/magnetic-circuits</a:t>
            </a:r>
            <a:endParaRPr lang="en-US" dirty="0" smtClean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199" y="1803399"/>
            <a:ext cx="6907307" cy="474531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utoShape 4" descr="Image result for learn 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486" name="Picture 6" descr="Related imag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212" y="2158674"/>
            <a:ext cx="3603624" cy="3914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29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Picture 1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7"/>
            <a:ext cx="29244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For queries</a:t>
            </a:r>
          </a:p>
          <a:p>
            <a:r>
              <a:rPr lang="en-US" dirty="0" smtClean="0">
                <a:latin typeface="Casper" panose="02000506000000020004" pitchFamily="2" charset="0"/>
                <a:cs typeface="Segoe UI" panose="020B0502040204020203" pitchFamily="34" charset="0"/>
              </a:rPr>
              <a:t>Email:shikha.e12701@cumail.in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3351</TotalTime>
  <Words>1095</Words>
  <Application>Microsoft Office PowerPoint</Application>
  <PresentationFormat>Widescreen</PresentationFormat>
  <Paragraphs>263</Paragraphs>
  <Slides>24</Slides>
  <Notes>2</Notes>
  <HiddenSlides>0</HiddenSlides>
  <MMClips>7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41" baseType="lpstr">
      <vt:lpstr>Aparajita</vt:lpstr>
      <vt:lpstr>Arial</vt:lpstr>
      <vt:lpstr>Arial Black</vt:lpstr>
      <vt:lpstr>Arial Unicode MS</vt:lpstr>
      <vt:lpstr>Calibri</vt:lpstr>
      <vt:lpstr>Calibri Light</vt:lpstr>
      <vt:lpstr>Casper</vt:lpstr>
      <vt:lpstr>Casper Bold</vt:lpstr>
      <vt:lpstr>Karla</vt:lpstr>
      <vt:lpstr>Raavi</vt:lpstr>
      <vt:lpstr>Raleway ExtraBold</vt:lpstr>
      <vt:lpstr>Segoe UI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Lecture Objectives</vt:lpstr>
      <vt:lpstr>Course Objectives</vt:lpstr>
      <vt:lpstr>Course Outcomes</vt:lpstr>
      <vt:lpstr>Importance of Basic Electrical &amp; Electronics Engineering   </vt:lpstr>
      <vt:lpstr> Contents </vt:lpstr>
      <vt:lpstr>Various Types of Losses </vt:lpstr>
      <vt:lpstr>Rating of Transformer</vt:lpstr>
      <vt:lpstr>Transformer Efficiency  </vt:lpstr>
      <vt:lpstr>Transformer Efficiency  </vt:lpstr>
      <vt:lpstr>Condition for maximum efficiency of transformer?  </vt:lpstr>
      <vt:lpstr>Condition for maximum efficiency of transformer?  </vt:lpstr>
      <vt:lpstr>Condition for maximum efficiency of transformer?  </vt:lpstr>
      <vt:lpstr>Voltage Regulation  </vt:lpstr>
      <vt:lpstr>All Day Efficiency of a Transformer </vt:lpstr>
      <vt:lpstr>Expression of Voltage Regulation of Transformer  </vt:lpstr>
      <vt:lpstr>Applications of Transformer</vt:lpstr>
      <vt:lpstr>Frequently Asked Questions </vt:lpstr>
      <vt:lpstr>Frequently Asked Questions </vt:lpstr>
      <vt:lpstr>Summary</vt:lpstr>
      <vt:lpstr> Learning Outcomes </vt:lpstr>
      <vt:lpstr>Assessment Pattern</vt:lpstr>
      <vt:lpstr>REFERENCES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INDIAN</cp:lastModifiedBy>
  <cp:revision>305</cp:revision>
  <dcterms:created xsi:type="dcterms:W3CDTF">2019-01-09T10:33:58Z</dcterms:created>
  <dcterms:modified xsi:type="dcterms:W3CDTF">2023-06-20T04:53:14Z</dcterms:modified>
</cp:coreProperties>
</file>