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 id="2147483702" r:id="rId3"/>
  </p:sldMasterIdLst>
  <p:notesMasterIdLst>
    <p:notesMasterId r:id="rId31"/>
  </p:notesMasterIdLst>
  <p:handoutMasterIdLst>
    <p:handoutMasterId r:id="rId32"/>
  </p:handoutMasterIdLst>
  <p:sldIdLst>
    <p:sldId id="277" r:id="rId4"/>
    <p:sldId id="350" r:id="rId5"/>
    <p:sldId id="351" r:id="rId6"/>
    <p:sldId id="281" r:id="rId7"/>
    <p:sldId id="334" r:id="rId8"/>
    <p:sldId id="336" r:id="rId9"/>
    <p:sldId id="337" r:id="rId10"/>
    <p:sldId id="338" r:id="rId11"/>
    <p:sldId id="339" r:id="rId12"/>
    <p:sldId id="328" r:id="rId13"/>
    <p:sldId id="340" r:id="rId14"/>
    <p:sldId id="341" r:id="rId15"/>
    <p:sldId id="329" r:id="rId16"/>
    <p:sldId id="342" r:id="rId17"/>
    <p:sldId id="343" r:id="rId18"/>
    <p:sldId id="333" r:id="rId19"/>
    <p:sldId id="344" r:id="rId20"/>
    <p:sldId id="345" r:id="rId21"/>
    <p:sldId id="331" r:id="rId22"/>
    <p:sldId id="332" r:id="rId23"/>
    <p:sldId id="346" r:id="rId24"/>
    <p:sldId id="347" r:id="rId25"/>
    <p:sldId id="348" r:id="rId26"/>
    <p:sldId id="349" r:id="rId27"/>
    <p:sldId id="283" r:id="rId28"/>
    <p:sldId id="304" r:id="rId29"/>
    <p:sldId id="27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73" d="100"/>
          <a:sy n="73" d="100"/>
        </p:scale>
        <p:origin x="600"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6/19/2023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6/19/2023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535491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153728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080341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7637504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513781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233687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033392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765492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751688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935611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252598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1" y="1905000"/>
            <a:ext cx="12211051"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ru-RU" sz="135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Прямоугольник 8"/>
          <p:cNvSpPr/>
          <p:nvPr userDrawn="1"/>
        </p:nvSpPr>
        <p:spPr>
          <a:xfrm>
            <a:off x="-19051" y="0"/>
            <a:ext cx="12211051"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ru-RU" sz="135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Прямоугольник 3"/>
          <p:cNvSpPr/>
          <p:nvPr userDrawn="1"/>
        </p:nvSpPr>
        <p:spPr>
          <a:xfrm>
            <a:off x="1085851"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ru-RU" sz="135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Рисунок 7"/>
          <p:cNvSpPr>
            <a:spLocks noGrp="1"/>
          </p:cNvSpPr>
          <p:nvPr>
            <p:ph type="pic" sz="quarter" idx="10"/>
          </p:nvPr>
        </p:nvSpPr>
        <p:spPr>
          <a:xfrm>
            <a:off x="1847851"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27668957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FC9A48AB-23F1-45F1-98E5-D2CDC7A5261D}"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90970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image" Target="../media/image1.png"/><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0291857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slide" Target="slide9.xml"/><Relationship Id="rId7" Type="http://schemas.openxmlformats.org/officeDocument/2006/relationships/slide" Target="slide11.xml"/><Relationship Id="rId2" Type="http://schemas.openxmlformats.org/officeDocument/2006/relationships/slide" Target="slide13.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slide" Target="slide16.xml"/><Relationship Id="rId4" Type="http://schemas.openxmlformats.org/officeDocument/2006/relationships/slide" Target="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6.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ni.com/example/14493/en/" TargetMode="External"/><Relationship Id="rId7" Type="http://schemas.openxmlformats.org/officeDocument/2006/relationships/hyperlink" Target="https://www.tutorialspoint.com/computer_logical_organization/complement_arithmetic.htm" TargetMode="External"/><Relationship Id="rId2" Type="http://schemas.openxmlformats.org/officeDocument/2006/relationships/hyperlink" Target="http://www.geeksforgeeks.org/digital-electronics-logic-design-tutorials/" TargetMode="External"/><Relationship Id="rId1" Type="http://schemas.openxmlformats.org/officeDocument/2006/relationships/slideLayout" Target="../slideLayouts/slideLayout2.xml"/><Relationship Id="rId6" Type="http://schemas.openxmlformats.org/officeDocument/2006/relationships/hyperlink" Target="https://www.tutorialspoint.com/digital_electronics/index.asp" TargetMode="External"/><Relationship Id="rId5" Type="http://schemas.openxmlformats.org/officeDocument/2006/relationships/hyperlink" Target="https://www.allaboutcircuits.com/textbook/digital/" TargetMode="External"/><Relationship Id="rId4" Type="http://schemas.openxmlformats.org/officeDocument/2006/relationships/hyperlink" Target="http://195.134.76.37/applets/AppletGates/Appl_Gates2.html" TargetMode="Externa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3.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8245" name="CorelDRAW" r:id="rId3" imgW="2169000" imgH="2169360" progId="">
                  <p:embed/>
                </p:oleObj>
              </mc:Choice>
              <mc:Fallback>
                <p:oleObj name="CorelDRAW" r:id="rId3" imgW="2169000" imgH="2169360" progId="">
                  <p:embed/>
                  <p:pic>
                    <p:nvPicPr>
                      <p:cNvPr id="0" name="Picture 39"/>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96388" y="6014156"/>
            <a:ext cx="37918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eaLnBrk="1" hangingPunct="1"/>
            <a:r>
              <a:rPr lang="en-US" sz="2400" dirty="0" smtClean="0">
                <a:latin typeface="Times New Roman" pitchFamily="18" charset="0"/>
                <a:cs typeface="Times New Roman" pitchFamily="18" charset="0"/>
              </a:rPr>
              <a:t>Semi Conductors Memories</a:t>
            </a:r>
            <a:endParaRPr lang="en-US" sz="2400" dirty="0">
              <a:latin typeface="Times New Roman" pitchFamily="18" charset="0"/>
              <a:cs typeface="Times New Roman" pitchFamily="18" charset="0"/>
            </a:endParaRPr>
          </a:p>
        </p:txBody>
      </p:sp>
      <p:sp>
        <p:nvSpPr>
          <p:cNvPr id="26" name="TextBox 25"/>
          <p:cNvSpPr txBox="1">
            <a:spLocks noChangeArrowheads="1"/>
          </p:cNvSpPr>
          <p:nvPr/>
        </p:nvSpPr>
        <p:spPr bwMode="auto">
          <a:xfrm>
            <a:off x="2127857" y="1658983"/>
            <a:ext cx="9063318" cy="6032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000" b="1" dirty="0" smtClean="0">
                <a:latin typeface="Arial Black" panose="020B0A04020102020204" pitchFamily="34" charset="0"/>
                <a:ea typeface="Karla" pitchFamily="2" charset="0"/>
                <a:cs typeface="Karla" pitchFamily="2" charset="0"/>
              </a:rPr>
              <a:t> </a:t>
            </a:r>
            <a:r>
              <a:rPr lang="en-US" sz="2000" b="1" dirty="0">
                <a:latin typeface="Arial Black" panose="020B0A04020102020204" pitchFamily="34" charset="0"/>
                <a:ea typeface="Karla" pitchFamily="2" charset="0"/>
                <a:cs typeface="Karla" pitchFamily="2" charset="0"/>
              </a:rPr>
              <a:t>INSTITUTE UIE </a:t>
            </a:r>
          </a:p>
          <a:p>
            <a:pPr lvl="0" algn="ctr" defTabSz="622300">
              <a:lnSpc>
                <a:spcPct val="90000"/>
              </a:lnSpc>
              <a:spcBef>
                <a:spcPct val="0"/>
              </a:spcBef>
              <a:spcAft>
                <a:spcPct val="35000"/>
              </a:spcAft>
            </a:pPr>
            <a:r>
              <a:rPr lang="en-US" sz="2000" b="1" dirty="0">
                <a:latin typeface="Arial Black" panose="020B0A04020102020204" pitchFamily="34" charset="0"/>
                <a:ea typeface="Karla" pitchFamily="2" charset="0"/>
                <a:cs typeface="Karla" pitchFamily="2" charset="0"/>
              </a:rPr>
              <a:t>DEPARTMENT ACADEMIC UNIT-1 </a:t>
            </a:r>
          </a:p>
          <a:p>
            <a:pPr lvl="0" algn="ctr" defTabSz="622300">
              <a:lnSpc>
                <a:spcPct val="90000"/>
              </a:lnSpc>
              <a:spcBef>
                <a:spcPct val="0"/>
              </a:spcBef>
              <a:spcAft>
                <a:spcPct val="350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Subject Name Introduction Electrical &amp; Electronics Engineering </a:t>
            </a:r>
          </a:p>
          <a:p>
            <a:pPr lvl="0" algn="ctr" defTabSz="622300">
              <a:lnSpc>
                <a:spcPct val="90000"/>
              </a:lnSpc>
              <a:spcBef>
                <a:spcPct val="0"/>
              </a:spcBef>
              <a:spcAft>
                <a:spcPct val="350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Subject Code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23ECH-101</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Prepared </a:t>
            </a:r>
            <a:r>
              <a:rPr lang="en-US" sz="2000" dirty="0">
                <a:latin typeface="Times New Roman" panose="02020603050405020304" pitchFamily="18" charset="0"/>
                <a:ea typeface="Calibri" panose="020F0502020204030204" pitchFamily="34" charset="0"/>
                <a:cs typeface="Times New Roman" panose="02020603050405020304" pitchFamily="18" charset="0"/>
              </a:rPr>
              <a:t>By</a:t>
            </a:r>
          </a:p>
          <a:p>
            <a:pPr lvl="0" algn="ctr" defTabSz="622300">
              <a:lnSpc>
                <a:spcPct val="90000"/>
              </a:lnSpc>
              <a:spcBef>
                <a:spcPct val="0"/>
              </a:spcBef>
              <a:spcAft>
                <a:spcPct val="350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Dr. Shikha</a:t>
            </a:r>
          </a:p>
          <a:p>
            <a:pPr lvl="0" algn="ctr" defTabSz="622300">
              <a:lnSpc>
                <a:spcPct val="90000"/>
              </a:lnSpc>
              <a:spcBef>
                <a:spcPct val="0"/>
              </a:spcBef>
              <a:spcAft>
                <a:spcPct val="350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Unit-2 </a:t>
            </a:r>
            <a:r>
              <a:rPr lang="en-US" sz="2000" dirty="0" smtClean="0">
                <a:latin typeface="Times New Roman" panose="02020603050405020304" pitchFamily="18" charset="0"/>
                <a:ea typeface="Calibri" panose="020F0502020204030204" pitchFamily="34" charset="0"/>
                <a:cs typeface="Times New Roman" panose="02020603050405020304" pitchFamily="18" charset="0"/>
              </a:rPr>
              <a:t>Chapter-2</a:t>
            </a:r>
          </a:p>
          <a:p>
            <a:pPr lvl="0" algn="ctr" defTabSz="622300">
              <a:lnSpc>
                <a:spcPct val="90000"/>
              </a:lnSpc>
              <a:spcBef>
                <a:spcPct val="0"/>
              </a:spcBef>
              <a:spcAft>
                <a:spcPct val="35000"/>
              </a:spcAft>
            </a:pPr>
            <a:r>
              <a:rPr lang="en-US" sz="2000" b="1" dirty="0" smtClean="0">
                <a:latin typeface="Times New Roman" panose="02020603050405020304" pitchFamily="18" charset="0"/>
                <a:cs typeface="Times New Roman" panose="02020603050405020304" pitchFamily="18" charset="0"/>
              </a:rPr>
              <a:t>Semiconductor Memory</a:t>
            </a:r>
            <a:endParaRPr lang="en-IN" sz="2000" b="1" dirty="0"/>
          </a:p>
          <a:p>
            <a:pPr lvl="0" algn="ctr" defTabSz="622300">
              <a:lnSpc>
                <a:spcPct val="90000"/>
              </a:lnSpc>
              <a:spcBef>
                <a:spcPct val="0"/>
              </a:spcBef>
              <a:spcAft>
                <a:spcPct val="350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Lecture No. </a:t>
            </a:r>
            <a:r>
              <a:rPr lang="en-US" sz="2000" b="1" dirty="0">
                <a:solidFill>
                  <a:prstClr val="black">
                    <a:lumMod val="85000"/>
                    <a:lumOff val="15000"/>
                  </a:prstClr>
                </a:solidFill>
                <a:latin typeface="Times New Roman" panose="02020603050405020304" pitchFamily="18" charset="0"/>
                <a:cs typeface="Times New Roman" panose="02020603050405020304" pitchFamily="18" charset="0"/>
              </a:rPr>
              <a:t> </a:t>
            </a:r>
            <a:r>
              <a:rPr lang="en-US" sz="2000" b="1" smtClean="0">
                <a:solidFill>
                  <a:prstClr val="black">
                    <a:lumMod val="85000"/>
                    <a:lumOff val="15000"/>
                  </a:prstClr>
                </a:solidFill>
                <a:latin typeface="Times New Roman" panose="02020603050405020304" pitchFamily="18" charset="0"/>
                <a:cs typeface="Times New Roman" panose="02020603050405020304" pitchFamily="18" charset="0"/>
              </a:rPr>
              <a:t>2.1.10</a:t>
            </a:r>
            <a:endParaRPr lang="en-US" sz="2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153400" y="5624513"/>
            <a:ext cx="2057400" cy="273844"/>
          </a:xfrm>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9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Title 7"/>
          <p:cNvSpPr txBox="1">
            <a:spLocks noGrp="1" noChangeArrowheads="1"/>
          </p:cNvSpPr>
          <p:nvPr>
            <p:ph type="title"/>
          </p:nvPr>
        </p:nvSpPr>
        <p:spPr bwMode="auto">
          <a:xfrm>
            <a:off x="2608865" y="1046791"/>
            <a:ext cx="3342425" cy="100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3300" b="1" dirty="0">
                <a:latin typeface="Casper"/>
              </a:rPr>
              <a:t>Course Objectives</a:t>
            </a:r>
          </a:p>
        </p:txBody>
      </p:sp>
      <p:sp>
        <p:nvSpPr>
          <p:cNvPr id="10" name="Oval 9"/>
          <p:cNvSpPr/>
          <p:nvPr/>
        </p:nvSpPr>
        <p:spPr>
          <a:xfrm>
            <a:off x="9936958" y="5600701"/>
            <a:ext cx="333375" cy="31670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11" name="Picture 2" descr="https://executivefunctioningsuccess.com/wp-content/uploads/2010/06/analog-vs-digital.png">
            <a:extLst>
              <a:ext uri="{FF2B5EF4-FFF2-40B4-BE49-F238E27FC236}">
                <a16:creationId xmlns:a16="http://schemas.microsoft.com/office/drawing/2014/main" id="{2CED8DF6-0B67-41AC-8AA1-CCD94D5EEC94}"/>
              </a:ext>
            </a:extLst>
          </p:cNvPr>
          <p:cNvPicPr>
            <a:picLocks noChangeAspect="1" noChangeArrowheads="1"/>
          </p:cNvPicPr>
          <p:nvPr/>
        </p:nvPicPr>
        <p:blipFill>
          <a:blip r:embed="rId2" cstate="print"/>
          <a:srcRect/>
          <a:stretch>
            <a:fillRect/>
          </a:stretch>
        </p:blipFill>
        <p:spPr bwMode="auto">
          <a:xfrm>
            <a:off x="6920756" y="2053219"/>
            <a:ext cx="3349576" cy="2035139"/>
          </a:xfrm>
          <a:prstGeom prst="rect">
            <a:avLst/>
          </a:prstGeom>
          <a:noFill/>
        </p:spPr>
      </p:pic>
      <p:graphicFrame>
        <p:nvGraphicFramePr>
          <p:cNvPr id="2" name="Table 1"/>
          <p:cNvGraphicFramePr>
            <a:graphicFrameLocks noGrp="1"/>
          </p:cNvGraphicFramePr>
          <p:nvPr/>
        </p:nvGraphicFramePr>
        <p:xfrm>
          <a:off x="1700350" y="2434591"/>
          <a:ext cx="4878977" cy="2792185"/>
        </p:xfrm>
        <a:graphic>
          <a:graphicData uri="http://schemas.openxmlformats.org/drawingml/2006/table">
            <a:tbl>
              <a:tblPr firstRow="1" firstCol="1" bandRow="1"/>
              <a:tblGrid>
                <a:gridCol w="415602">
                  <a:extLst>
                    <a:ext uri="{9D8B030D-6E8A-4147-A177-3AD203B41FA5}">
                      <a16:colId xmlns:a16="http://schemas.microsoft.com/office/drawing/2014/main" val="4074303963"/>
                    </a:ext>
                  </a:extLst>
                </a:gridCol>
                <a:gridCol w="4463375">
                  <a:extLst>
                    <a:ext uri="{9D8B030D-6E8A-4147-A177-3AD203B41FA5}">
                      <a16:colId xmlns:a16="http://schemas.microsoft.com/office/drawing/2014/main" val="805906204"/>
                    </a:ext>
                  </a:extLst>
                </a:gridCol>
              </a:tblGrid>
              <a:tr h="512850">
                <a:tc>
                  <a:txBody>
                    <a:bodyPr/>
                    <a:lstStyle/>
                    <a:p>
                      <a:pPr algn="ctr" fontAlgn="ctr"/>
                      <a:r>
                        <a:rPr lang="en-US" sz="1500" b="1" i="0" u="none" strike="noStrike" dirty="0" smtClean="0">
                          <a:solidFill>
                            <a:srgbClr val="000000"/>
                          </a:solidFill>
                          <a:effectLst/>
                          <a:latin typeface="Times New Roman" panose="02020603050405020304" pitchFamily="18" charset="0"/>
                          <a:cs typeface="Times New Roman" panose="02020603050405020304" pitchFamily="18" charset="0"/>
                        </a:rPr>
                        <a:t>S. No.</a:t>
                      </a:r>
                      <a:endParaRPr lang="en-US" sz="15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500" b="1" i="0" u="none" strike="noStrike" dirty="0" smtClean="0">
                          <a:solidFill>
                            <a:srgbClr val="000000"/>
                          </a:solidFill>
                          <a:effectLst/>
                          <a:latin typeface="Times New Roman" panose="02020603050405020304" pitchFamily="18" charset="0"/>
                          <a:cs typeface="Times New Roman" panose="02020603050405020304" pitchFamily="18" charset="0"/>
                        </a:rPr>
                        <a:t>Objectives</a:t>
                      </a:r>
                      <a:endParaRPr lang="en-US" sz="15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5892665"/>
                  </a:ext>
                </a:extLst>
              </a:tr>
              <a:tr h="759779">
                <a:tc>
                  <a:txBody>
                    <a:bodyPr/>
                    <a:lstStyle/>
                    <a:p>
                      <a:pPr algn="ctr" fontAlgn="ctr"/>
                      <a:r>
                        <a:rPr lang="en-US" sz="900" b="0" i="0" u="none" strike="noStrike" dirty="0" smtClean="0">
                          <a:solidFill>
                            <a:schemeClr val="tx1"/>
                          </a:solidFill>
                          <a:effectLst/>
                          <a:latin typeface="+mn-lt"/>
                        </a:rPr>
                        <a:t>1</a:t>
                      </a:r>
                      <a:endParaRPr lang="en-US" sz="900" b="0" i="0" u="none" strike="noStrike" dirty="0">
                        <a:solidFill>
                          <a:schemeClr val="tx1"/>
                        </a:solidFill>
                        <a:effectLst/>
                        <a:latin typeface="+mn-lt"/>
                      </a:endParaRP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15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Understand Electrical &amp; Electronics Engineering Fundamentals</a:t>
                      </a:r>
                      <a:r>
                        <a:rPr lang="en-US" sz="15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IN" sz="15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197693"/>
                  </a:ext>
                </a:extLst>
              </a:tr>
              <a:tr h="1519556">
                <a:tc>
                  <a:txBody>
                    <a:bodyPr/>
                    <a:lstStyle/>
                    <a:p>
                      <a:pPr algn="ctr" fontAlgn="ctr"/>
                      <a:r>
                        <a:rPr lang="en-US" sz="900" b="0" i="0" u="none" strike="noStrike" dirty="0" smtClean="0">
                          <a:solidFill>
                            <a:srgbClr val="000000"/>
                          </a:solidFill>
                          <a:effectLst/>
                          <a:latin typeface="+mn-lt"/>
                        </a:rPr>
                        <a:t>2</a:t>
                      </a:r>
                      <a:endParaRPr lang="en-US" sz="900" b="0" i="0" u="none" strike="noStrike" dirty="0">
                        <a:solidFill>
                          <a:srgbClr val="000000"/>
                        </a:solidFill>
                        <a:effectLst/>
                        <a:latin typeface="+mn-lt"/>
                      </a:endParaRP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endParaRPr lang="en-US" sz="15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IN" sz="15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To prepare students to perform the analysis and design of various Electrical &amp; digital electronic circuits.</a:t>
                      </a:r>
                      <a:endParaRPr lang="en-US" sz="15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15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8706567"/>
                  </a:ext>
                </a:extLst>
              </a:tr>
            </a:tbl>
          </a:graphicData>
        </a:graphic>
      </p:graphicFrame>
    </p:spTree>
    <p:extLst>
      <p:ext uri="{BB962C8B-B14F-4D97-AF65-F5344CB8AC3E}">
        <p14:creationId xmlns:p14="http://schemas.microsoft.com/office/powerpoint/2010/main" val="6131977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Title 7"/>
          <p:cNvSpPr txBox="1">
            <a:spLocks noGrp="1" noChangeArrowheads="1"/>
          </p:cNvSpPr>
          <p:nvPr>
            <p:ph type="title"/>
          </p:nvPr>
        </p:nvSpPr>
        <p:spPr bwMode="auto">
          <a:xfrm>
            <a:off x="462325" y="1756035"/>
            <a:ext cx="5141641"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a:ea typeface="Karla" pitchFamily="2" charset="0"/>
                <a:cs typeface="Times New Roman" pitchFamily="18" charset="0"/>
              </a:rPr>
              <a:t/>
            </a:r>
            <a:br>
              <a:rPr lang="en-US" sz="4400" b="1" dirty="0">
                <a:latin typeface="Casper Bold"/>
                <a:ea typeface="Karla" pitchFamily="2" charset="0"/>
                <a:cs typeface="Times New Roman" pitchFamily="18" charset="0"/>
              </a:rPr>
            </a:br>
            <a:endParaRPr lang="en-US" sz="4400" b="1" dirty="0">
              <a:latin typeface="Casper Bold"/>
              <a:cs typeface="Times New Roman" pitchFamily="18" charset="0"/>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 name="Straight Arrow Connector 13"/>
          <p:cNvCxnSpPr/>
          <p:nvPr/>
        </p:nvCxnSpPr>
        <p:spPr>
          <a:xfrm flipV="1">
            <a:off x="5629324" y="4676503"/>
            <a:ext cx="1202551" cy="4614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8127543" y="5465025"/>
            <a:ext cx="2835071" cy="369332"/>
          </a:xfrm>
          <a:prstGeom prst="rect">
            <a:avLst/>
          </a:prstGeom>
        </p:spPr>
        <p:txBody>
          <a:bodyPr wrap="none">
            <a:spAutoFit/>
          </a:bodyPr>
          <a:lstStyle/>
          <a:p>
            <a:pPr lvl="0">
              <a:defRPr/>
            </a:pPr>
            <a:r>
              <a:rPr lang="en-US" b="1" dirty="0">
                <a:latin typeface="Times New Roman" pitchFamily="18" charset="0"/>
                <a:ea typeface="Karla" pitchFamily="2" charset="0"/>
                <a:cs typeface="Times New Roman" pitchFamily="18" charset="0"/>
              </a:rPr>
              <a:t>Semi Conductor Memories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Rectangle 2"/>
          <p:cNvSpPr/>
          <p:nvPr/>
        </p:nvSpPr>
        <p:spPr>
          <a:xfrm>
            <a:off x="1801537" y="1036710"/>
            <a:ext cx="4197559" cy="76944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Calibri"/>
                <a:ea typeface="+mn-ea"/>
                <a:cs typeface="+mn-cs"/>
              </a:rPr>
              <a:t>Course Outcome </a:t>
            </a:r>
          </a:p>
        </p:txBody>
      </p:sp>
      <p:graphicFrame>
        <p:nvGraphicFramePr>
          <p:cNvPr id="4" name="Table 3"/>
          <p:cNvGraphicFramePr>
            <a:graphicFrameLocks noGrp="1"/>
          </p:cNvGraphicFramePr>
          <p:nvPr/>
        </p:nvGraphicFramePr>
        <p:xfrm>
          <a:off x="838200" y="1825625"/>
          <a:ext cx="5716112" cy="4379234"/>
        </p:xfrm>
        <a:graphic>
          <a:graphicData uri="http://schemas.openxmlformats.org/drawingml/2006/table">
            <a:tbl>
              <a:tblPr firstRow="1" firstCol="1" bandRow="1"/>
              <a:tblGrid>
                <a:gridCol w="475839">
                  <a:extLst>
                    <a:ext uri="{9D8B030D-6E8A-4147-A177-3AD203B41FA5}">
                      <a16:colId xmlns:a16="http://schemas.microsoft.com/office/drawing/2014/main" val="4121044399"/>
                    </a:ext>
                  </a:extLst>
                </a:gridCol>
                <a:gridCol w="4477126">
                  <a:extLst>
                    <a:ext uri="{9D8B030D-6E8A-4147-A177-3AD203B41FA5}">
                      <a16:colId xmlns:a16="http://schemas.microsoft.com/office/drawing/2014/main" val="2729533820"/>
                    </a:ext>
                  </a:extLst>
                </a:gridCol>
                <a:gridCol w="763147">
                  <a:extLst>
                    <a:ext uri="{9D8B030D-6E8A-4147-A177-3AD203B41FA5}">
                      <a16:colId xmlns:a16="http://schemas.microsoft.com/office/drawing/2014/main" val="3842764005"/>
                    </a:ext>
                  </a:extLst>
                </a:gridCol>
              </a:tblGrid>
              <a:tr h="472093">
                <a:tc>
                  <a:txBody>
                    <a:bodyPr/>
                    <a:lstStyle/>
                    <a:p>
                      <a:pPr algn="ctr" fontAlgn="ctr"/>
                      <a:r>
                        <a:rPr lang="en-US" sz="900" b="1" i="0" u="none" strike="noStrike" dirty="0">
                          <a:solidFill>
                            <a:srgbClr val="000000"/>
                          </a:solidFill>
                          <a:effectLst/>
                          <a:latin typeface="+mn-lt"/>
                        </a:rPr>
                        <a:t>CO Number</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dirty="0">
                          <a:solidFill>
                            <a:srgbClr val="000000"/>
                          </a:solidFill>
                          <a:effectLst/>
                          <a:latin typeface="+mn-lt"/>
                        </a:rPr>
                        <a:t>Title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a:solidFill>
                            <a:srgbClr val="000000"/>
                          </a:solidFill>
                          <a:effectLst/>
                          <a:latin typeface="+mn-lt"/>
                        </a:rPr>
                        <a:t>Level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50366342"/>
                  </a:ext>
                </a:extLst>
              </a:tr>
              <a:tr h="730768">
                <a:tc>
                  <a:txBody>
                    <a:bodyPr/>
                    <a:lstStyle/>
                    <a:p>
                      <a:pPr marL="0" marR="53975" algn="ctr">
                        <a:lnSpc>
                          <a:spcPct val="107000"/>
                        </a:lnSpc>
                        <a:spcBef>
                          <a:spcPts val="0"/>
                        </a:spcBef>
                        <a:spcAft>
                          <a:spcPts val="0"/>
                        </a:spcAft>
                      </a:pPr>
                      <a:r>
                        <a:rPr lang="en-IN" sz="900" dirty="0">
                          <a:effectLst/>
                          <a:latin typeface="Times New Roman" panose="02020603050405020304" pitchFamily="18" charset="0"/>
                          <a:ea typeface="Times New Roman" panose="02020603050405020304" pitchFamily="18" charset="0"/>
                          <a:cs typeface="Raavi"/>
                        </a:rPr>
                        <a:t>CO1</a:t>
                      </a:r>
                      <a:endParaRPr lang="en-US" sz="1200" dirty="0">
                        <a:effectLst/>
                        <a:latin typeface="Calibri" panose="020F0502020204030204" pitchFamily="34" charset="0"/>
                        <a:ea typeface="Calibri" panose="020F0502020204030204" pitchFamily="34" charset="0"/>
                        <a:cs typeface="Raavi"/>
                      </a:endParaRPr>
                    </a:p>
                  </a:txBody>
                  <a:tcPr marL="51435" marR="5143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900" dirty="0">
                          <a:solidFill>
                            <a:srgbClr val="000000"/>
                          </a:solidFill>
                          <a:effectLst/>
                          <a:latin typeface="Times New Roman" panose="02020603050405020304" pitchFamily="18" charset="0"/>
                          <a:cs typeface="Raavi"/>
                        </a:rPr>
                        <a:t>To identify the different types of electrical elements and the basic op-amp circuit elements and to illustrate the various types of motors, transducers. </a:t>
                      </a:r>
                      <a:endParaRPr lang="en-US" sz="1200" dirty="0">
                        <a:effectLst/>
                        <a:latin typeface="Calibri" panose="020F0502020204030204" pitchFamily="34" charset="0"/>
                        <a:cs typeface="Raavi"/>
                      </a:endParaRPr>
                    </a:p>
                    <a:p>
                      <a:pPr marL="0" marR="0" algn="just">
                        <a:lnSpc>
                          <a:spcPct val="107000"/>
                        </a:lnSpc>
                        <a:spcBef>
                          <a:spcPts val="0"/>
                        </a:spcBef>
                        <a:spcAft>
                          <a:spcPts val="0"/>
                        </a:spcAft>
                      </a:pPr>
                      <a:r>
                        <a:rPr lang="en-IN" sz="900" dirty="0">
                          <a:effectLst/>
                          <a:latin typeface="Times New Roman" panose="02020603050405020304" pitchFamily="18" charset="0"/>
                          <a:ea typeface="Times New Roman" panose="02020603050405020304" pitchFamily="18" charset="0"/>
                          <a:cs typeface="Raavi"/>
                        </a:rPr>
                        <a:t> </a:t>
                      </a:r>
                      <a:endParaRPr lang="en-US" sz="1200" dirty="0">
                        <a:effectLst/>
                        <a:latin typeface="Calibri" panose="020F0502020204030204" pitchFamily="34" charset="0"/>
                        <a:ea typeface="Calibri" panose="020F0502020204030204" pitchFamily="34" charset="0"/>
                        <a:cs typeface="Raavi"/>
                      </a:endParaRPr>
                    </a:p>
                  </a:txBody>
                  <a:tcPr marL="51435" marR="5143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100" b="0" i="0" u="none" strike="noStrike" dirty="0">
                          <a:solidFill>
                            <a:schemeClr val="tx1"/>
                          </a:solidFill>
                          <a:effectLst/>
                          <a:latin typeface="Times New Roman" panose="02020603050405020304" pitchFamily="18" charset="0"/>
                          <a:cs typeface="Times New Roman" panose="02020603050405020304" pitchFamily="18" charset="0"/>
                        </a:rPr>
                        <a:t>Remember</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9409901"/>
                  </a:ext>
                </a:extLst>
              </a:tr>
              <a:tr h="984069">
                <a:tc>
                  <a:txBody>
                    <a:bodyPr/>
                    <a:lstStyle/>
                    <a:p>
                      <a:pPr marL="0" marR="53975" algn="ctr">
                        <a:lnSpc>
                          <a:spcPct val="107000"/>
                        </a:lnSpc>
                        <a:spcBef>
                          <a:spcPts val="0"/>
                        </a:spcBef>
                        <a:spcAft>
                          <a:spcPts val="0"/>
                        </a:spcAft>
                      </a:pPr>
                      <a:r>
                        <a:rPr lang="en-IN" sz="900">
                          <a:effectLst/>
                          <a:latin typeface="Times New Roman" panose="02020603050405020304" pitchFamily="18" charset="0"/>
                          <a:ea typeface="Times New Roman" panose="02020603050405020304" pitchFamily="18" charset="0"/>
                          <a:cs typeface="Raavi"/>
                        </a:rPr>
                        <a:t>CO2</a:t>
                      </a:r>
                      <a:endParaRPr lang="en-US" sz="1200">
                        <a:effectLst/>
                        <a:latin typeface="Calibri" panose="020F0502020204030204" pitchFamily="34" charset="0"/>
                        <a:ea typeface="Calibri" panose="020F0502020204030204" pitchFamily="34" charset="0"/>
                        <a:cs typeface="Raavi"/>
                      </a:endParaRPr>
                    </a:p>
                  </a:txBody>
                  <a:tcPr marL="51435" marR="5143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900" dirty="0">
                          <a:solidFill>
                            <a:srgbClr val="000000"/>
                          </a:solidFill>
                          <a:effectLst/>
                          <a:latin typeface="Times New Roman" panose="02020603050405020304" pitchFamily="18" charset="0"/>
                          <a:cs typeface="Raavi"/>
                        </a:rPr>
                        <a:t>To understand basic principles of transformers, transducers, op-amps, DC and AC motors and to compare the different methods for analysing electrical and magnetic circuits.</a:t>
                      </a:r>
                      <a:endParaRPr lang="en-US" sz="1200" dirty="0">
                        <a:effectLst/>
                        <a:latin typeface="Calibri" panose="020F0502020204030204" pitchFamily="34" charset="0"/>
                        <a:cs typeface="Raavi"/>
                      </a:endParaRPr>
                    </a:p>
                    <a:p>
                      <a:pPr marL="0" marR="0" algn="just">
                        <a:lnSpc>
                          <a:spcPct val="107000"/>
                        </a:lnSpc>
                        <a:spcBef>
                          <a:spcPts val="0"/>
                        </a:spcBef>
                        <a:spcAft>
                          <a:spcPts val="0"/>
                        </a:spcAft>
                      </a:pPr>
                      <a:r>
                        <a:rPr lang="en-IN" sz="900" dirty="0">
                          <a:solidFill>
                            <a:srgbClr val="000000"/>
                          </a:solidFill>
                          <a:effectLst/>
                          <a:latin typeface="Times New Roman" panose="02020603050405020304" pitchFamily="18" charset="0"/>
                          <a:ea typeface="Times New Roman" panose="02020603050405020304" pitchFamily="18" charset="0"/>
                          <a:cs typeface="Raavi"/>
                        </a:rPr>
                        <a:t> </a:t>
                      </a:r>
                      <a:endParaRPr lang="en-US" sz="1200" dirty="0">
                        <a:effectLst/>
                        <a:latin typeface="Calibri" panose="020F0502020204030204" pitchFamily="34" charset="0"/>
                        <a:ea typeface="Calibri" panose="020F0502020204030204" pitchFamily="34" charset="0"/>
                        <a:cs typeface="Raavi"/>
                      </a:endParaRPr>
                    </a:p>
                  </a:txBody>
                  <a:tcPr marL="51435" marR="5143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Understand </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3195693"/>
                  </a:ext>
                </a:extLst>
              </a:tr>
              <a:tr h="730768">
                <a:tc>
                  <a:txBody>
                    <a:bodyPr/>
                    <a:lstStyle/>
                    <a:p>
                      <a:pPr marL="0" marR="53975" algn="ctr">
                        <a:lnSpc>
                          <a:spcPct val="107000"/>
                        </a:lnSpc>
                        <a:spcBef>
                          <a:spcPts val="0"/>
                        </a:spcBef>
                        <a:spcAft>
                          <a:spcPts val="0"/>
                        </a:spcAft>
                      </a:pPr>
                      <a:r>
                        <a:rPr lang="en-IN" sz="900">
                          <a:effectLst/>
                          <a:latin typeface="Times New Roman" panose="02020603050405020304" pitchFamily="18" charset="0"/>
                          <a:ea typeface="Times New Roman" panose="02020603050405020304" pitchFamily="18" charset="0"/>
                          <a:cs typeface="Raavi"/>
                        </a:rPr>
                        <a:t>CO3</a:t>
                      </a:r>
                      <a:endParaRPr lang="en-US" sz="1200">
                        <a:effectLst/>
                        <a:latin typeface="Calibri" panose="020F0502020204030204" pitchFamily="34" charset="0"/>
                        <a:ea typeface="Calibri" panose="020F0502020204030204" pitchFamily="34" charset="0"/>
                        <a:cs typeface="Raavi"/>
                      </a:endParaRPr>
                    </a:p>
                  </a:txBody>
                  <a:tcPr marL="51435" marR="5143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900" dirty="0">
                          <a:solidFill>
                            <a:srgbClr val="000000"/>
                          </a:solidFill>
                          <a:effectLst/>
                          <a:latin typeface="Times New Roman" panose="02020603050405020304" pitchFamily="18" charset="0"/>
                          <a:cs typeface="Raavi"/>
                        </a:rPr>
                        <a:t>To derive the relationships between parameters in electric and magnetic circuits and motors and to determine specifications of op-amps.</a:t>
                      </a:r>
                      <a:endParaRPr lang="en-US" sz="12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900" dirty="0">
                          <a:solidFill>
                            <a:srgbClr val="000000"/>
                          </a:solidFill>
                          <a:effectLst/>
                          <a:latin typeface="Times New Roman" panose="02020603050405020304" pitchFamily="18" charset="0"/>
                          <a:ea typeface="Times New Roman" panose="02020603050405020304" pitchFamily="18" charset="0"/>
                          <a:cs typeface="Raavi"/>
                        </a:rPr>
                        <a:t> </a:t>
                      </a:r>
                      <a:endParaRPr lang="en-US" sz="1200" dirty="0">
                        <a:effectLst/>
                        <a:latin typeface="Calibri" panose="020F0502020204030204" pitchFamily="34" charset="0"/>
                        <a:ea typeface="Calibri" panose="020F0502020204030204" pitchFamily="34" charset="0"/>
                        <a:cs typeface="Raavi"/>
                      </a:endParaRPr>
                    </a:p>
                  </a:txBody>
                  <a:tcPr marL="51435" marR="5143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Analyze</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4279591"/>
                  </a:ext>
                </a:extLst>
              </a:tr>
              <a:tr h="730768">
                <a:tc>
                  <a:txBody>
                    <a:bodyPr/>
                    <a:lstStyle/>
                    <a:p>
                      <a:pPr marL="0" marR="53975" algn="ctr">
                        <a:lnSpc>
                          <a:spcPct val="107000"/>
                        </a:lnSpc>
                        <a:spcBef>
                          <a:spcPts val="0"/>
                        </a:spcBef>
                        <a:spcAft>
                          <a:spcPts val="0"/>
                        </a:spcAft>
                      </a:pPr>
                      <a:r>
                        <a:rPr lang="en-IN" sz="900">
                          <a:effectLst/>
                          <a:latin typeface="Times New Roman" panose="02020603050405020304" pitchFamily="18" charset="0"/>
                          <a:ea typeface="Times New Roman" panose="02020603050405020304" pitchFamily="18" charset="0"/>
                          <a:cs typeface="Raavi"/>
                        </a:rPr>
                        <a:t>CO4</a:t>
                      </a:r>
                      <a:endParaRPr lang="en-US" sz="1200">
                        <a:effectLst/>
                        <a:latin typeface="Calibri" panose="020F0502020204030204" pitchFamily="34" charset="0"/>
                        <a:ea typeface="Calibri" panose="020F0502020204030204" pitchFamily="34" charset="0"/>
                        <a:cs typeface="Raavi"/>
                      </a:endParaRPr>
                    </a:p>
                  </a:txBody>
                  <a:tcPr marL="51435" marR="5143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900" dirty="0">
                          <a:solidFill>
                            <a:srgbClr val="000000"/>
                          </a:solidFill>
                          <a:effectLst/>
                          <a:latin typeface="Times New Roman" panose="02020603050405020304" pitchFamily="18" charset="0"/>
                          <a:cs typeface="Raavi"/>
                        </a:rPr>
                        <a:t>To solve the basic problems related to electric circuits, magnetic circuits and motors and to assess the characteristics of different configurations of op-amps.</a:t>
                      </a:r>
                      <a:endParaRPr lang="en-US" sz="1200" dirty="0">
                        <a:effectLst/>
                        <a:latin typeface="Calibri" panose="020F0502020204030204" pitchFamily="34" charset="0"/>
                        <a:cs typeface="Raavi"/>
                      </a:endParaRPr>
                    </a:p>
                    <a:p>
                      <a:pPr marL="0" marR="0" algn="just">
                        <a:lnSpc>
                          <a:spcPct val="107000"/>
                        </a:lnSpc>
                        <a:spcBef>
                          <a:spcPts val="0"/>
                        </a:spcBef>
                        <a:spcAft>
                          <a:spcPts val="0"/>
                        </a:spcAft>
                      </a:pPr>
                      <a:r>
                        <a:rPr lang="en-IN" sz="900" dirty="0">
                          <a:solidFill>
                            <a:srgbClr val="000000"/>
                          </a:solidFill>
                          <a:effectLst/>
                          <a:latin typeface="Times New Roman" panose="02020603050405020304" pitchFamily="18" charset="0"/>
                          <a:ea typeface="Times New Roman" panose="02020603050405020304" pitchFamily="18" charset="0"/>
                          <a:cs typeface="Raavi"/>
                        </a:rPr>
                        <a:t> </a:t>
                      </a:r>
                      <a:endParaRPr lang="en-US" sz="1200" dirty="0">
                        <a:effectLst/>
                        <a:latin typeface="Calibri" panose="020F0502020204030204" pitchFamily="34" charset="0"/>
                        <a:ea typeface="Calibri" panose="020F0502020204030204" pitchFamily="34" charset="0"/>
                        <a:cs typeface="Raavi"/>
                      </a:endParaRPr>
                    </a:p>
                  </a:txBody>
                  <a:tcPr marL="51435" marR="5143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Evaluate</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1319730"/>
                  </a:ext>
                </a:extLst>
              </a:tr>
              <a:tr h="730768">
                <a:tc>
                  <a:txBody>
                    <a:bodyPr/>
                    <a:lstStyle/>
                    <a:p>
                      <a:pPr marL="0" marR="53975" algn="ctr">
                        <a:lnSpc>
                          <a:spcPct val="107000"/>
                        </a:lnSpc>
                        <a:spcBef>
                          <a:spcPts val="0"/>
                        </a:spcBef>
                        <a:spcAft>
                          <a:spcPts val="0"/>
                        </a:spcAft>
                      </a:pPr>
                      <a:r>
                        <a:rPr lang="en-IN" sz="900" dirty="0">
                          <a:effectLst/>
                          <a:latin typeface="Times New Roman" panose="02020603050405020304" pitchFamily="18" charset="0"/>
                          <a:ea typeface="Times New Roman" panose="02020603050405020304" pitchFamily="18" charset="0"/>
                          <a:cs typeface="Raavi"/>
                        </a:rPr>
                        <a:t>CO5</a:t>
                      </a:r>
                      <a:endParaRPr lang="en-US" sz="1200" dirty="0">
                        <a:effectLst/>
                        <a:latin typeface="Calibri" panose="020F0502020204030204" pitchFamily="34" charset="0"/>
                        <a:ea typeface="Calibri" panose="020F0502020204030204" pitchFamily="34" charset="0"/>
                        <a:cs typeface="Raavi"/>
                      </a:endParaRPr>
                    </a:p>
                  </a:txBody>
                  <a:tcPr marL="51435" marR="5143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900" dirty="0">
                          <a:solidFill>
                            <a:srgbClr val="000000"/>
                          </a:solidFill>
                          <a:effectLst/>
                          <a:latin typeface="Times New Roman" panose="02020603050405020304" pitchFamily="18" charset="0"/>
                          <a:cs typeface="Raavi"/>
                        </a:rPr>
                        <a:t>To design the different applications of transducers, motors as well as the op-amps like adders, </a:t>
                      </a:r>
                      <a:r>
                        <a:rPr lang="en-IN" sz="900" dirty="0" err="1">
                          <a:solidFill>
                            <a:srgbClr val="000000"/>
                          </a:solidFill>
                          <a:effectLst/>
                          <a:latin typeface="Times New Roman" panose="02020603050405020304" pitchFamily="18" charset="0"/>
                          <a:cs typeface="Raavi"/>
                        </a:rPr>
                        <a:t>subtractor</a:t>
                      </a:r>
                      <a:r>
                        <a:rPr lang="en-IN" sz="900" dirty="0">
                          <a:solidFill>
                            <a:srgbClr val="000000"/>
                          </a:solidFill>
                          <a:effectLst/>
                          <a:latin typeface="Times New Roman" panose="02020603050405020304" pitchFamily="18" charset="0"/>
                          <a:cs typeface="Raavi"/>
                        </a:rPr>
                        <a:t> and comparators.</a:t>
                      </a:r>
                      <a:endParaRPr lang="en-US" sz="12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900" dirty="0">
                          <a:solidFill>
                            <a:srgbClr val="000000"/>
                          </a:solidFill>
                          <a:effectLst/>
                          <a:latin typeface="Times New Roman" panose="02020603050405020304" pitchFamily="18" charset="0"/>
                          <a:ea typeface="Times New Roman" panose="02020603050405020304" pitchFamily="18" charset="0"/>
                          <a:cs typeface="Raavi"/>
                        </a:rPr>
                        <a:t> </a:t>
                      </a:r>
                      <a:endParaRPr lang="en-US" sz="1200" dirty="0">
                        <a:effectLst/>
                        <a:latin typeface="Calibri" panose="020F0502020204030204" pitchFamily="34" charset="0"/>
                        <a:ea typeface="Calibri" panose="020F0502020204030204" pitchFamily="34" charset="0"/>
                        <a:cs typeface="Raavi"/>
                      </a:endParaRPr>
                    </a:p>
                  </a:txBody>
                  <a:tcPr marL="51435" marR="51435"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100" b="0" i="0" u="none" strike="noStrike" dirty="0">
                          <a:solidFill>
                            <a:srgbClr val="000000"/>
                          </a:solidFill>
                          <a:effectLst/>
                          <a:latin typeface="Times New Roman" panose="02020603050405020304" pitchFamily="18" charset="0"/>
                          <a:cs typeface="Times New Roman" panose="02020603050405020304" pitchFamily="18" charset="0"/>
                        </a:rPr>
                        <a:t>Create</a:t>
                      </a:r>
                    </a:p>
                  </a:txBody>
                  <a:tcPr marL="5715" marR="5715" marT="571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8006047"/>
                  </a:ext>
                </a:extLst>
              </a:tr>
            </a:tbl>
          </a:graphicData>
        </a:graphic>
      </p:graphicFrame>
      <p:pic>
        <p:nvPicPr>
          <p:cNvPr id="11" name="Picture 2"/>
          <p:cNvPicPr>
            <a:picLocks noChangeAspect="1" noChangeArrowheads="1"/>
          </p:cNvPicPr>
          <p:nvPr/>
        </p:nvPicPr>
        <p:blipFill>
          <a:blip r:embed="rId2"/>
          <a:srcRect/>
          <a:stretch>
            <a:fillRect/>
          </a:stretch>
        </p:blipFill>
        <p:spPr bwMode="auto">
          <a:xfrm>
            <a:off x="7106194" y="1266281"/>
            <a:ext cx="3829459" cy="3871652"/>
          </a:xfrm>
          <a:prstGeom prst="rect">
            <a:avLst/>
          </a:prstGeom>
          <a:noFill/>
          <a:ln w="9525">
            <a:noFill/>
            <a:miter lim="800000"/>
            <a:headEnd/>
            <a:tailEnd/>
          </a:ln>
          <a:effectLst/>
        </p:spPr>
      </p:pic>
    </p:spTree>
    <p:extLst>
      <p:ext uri="{BB962C8B-B14F-4D97-AF65-F5344CB8AC3E}">
        <p14:creationId xmlns:p14="http://schemas.microsoft.com/office/powerpoint/2010/main" val="27771668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313509" y="1436914"/>
            <a:ext cx="5185954"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Times New Roman" pitchFamily="18" charset="0"/>
                <a:ea typeface="Karla" pitchFamily="2" charset="0"/>
                <a:cs typeface="Times New Roman" pitchFamily="18" charset="0"/>
              </a:rPr>
              <a:t>Semi Conductor Memories</a:t>
            </a:r>
            <a:r>
              <a:rPr lang="en-US" sz="4400" b="1" dirty="0">
                <a:latin typeface="Times New Roman" pitchFamily="18" charset="0"/>
                <a:ea typeface="Karla" pitchFamily="2" charset="0"/>
                <a:cs typeface="Times New Roman" pitchFamily="18" charset="0"/>
              </a:rPr>
              <a:t/>
            </a:r>
            <a:br>
              <a:rPr lang="en-US" sz="4400" b="1" dirty="0">
                <a:latin typeface="Times New Roman" pitchFamily="18" charset="0"/>
                <a:ea typeface="Karla" pitchFamily="2" charset="0"/>
                <a:cs typeface="Times New Roman" pitchFamily="18" charset="0"/>
              </a:rPr>
            </a:br>
            <a:endParaRPr lang="en-US" sz="4400" dirty="0">
              <a:latin typeface="Times New Roman" pitchFamily="18" charset="0"/>
              <a:cs typeface="Times New Roman" pitchFamily="18" charset="0"/>
            </a:endParaRPr>
          </a:p>
        </p:txBody>
      </p:sp>
      <p:sp>
        <p:nvSpPr>
          <p:cNvPr id="9" name="Rectangle 8"/>
          <p:cNvSpPr/>
          <p:nvPr/>
        </p:nvSpPr>
        <p:spPr>
          <a:xfrm>
            <a:off x="449262" y="383540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44434" y="3857179"/>
            <a:ext cx="6096000" cy="738664"/>
          </a:xfrm>
          <a:prstGeom prst="rect">
            <a:avLst/>
          </a:prstGeom>
        </p:spPr>
        <p:txBody>
          <a:bodyPr>
            <a:spAutoFit/>
          </a:bodyPr>
          <a:lstStyle/>
          <a:p>
            <a:pPr marL="742950" lvl="1" indent="-285750">
              <a:lnSpc>
                <a:spcPct val="150000"/>
              </a:lnSpc>
              <a:buFont typeface="Wingdings" pitchFamily="2" charset="2"/>
              <a:buChar char="v"/>
            </a:pPr>
            <a:r>
              <a:rPr lang="en-US" sz="1400" dirty="0" smtClean="0">
                <a:latin typeface="Times New Roman" pitchFamily="18" charset="0"/>
                <a:cs typeface="Times New Roman" pitchFamily="18" charset="0"/>
              </a:rPr>
              <a:t>Classification</a:t>
            </a:r>
          </a:p>
          <a:p>
            <a:pPr marL="742950" lvl="1" indent="-285750">
              <a:lnSpc>
                <a:spcPct val="150000"/>
              </a:lnSpc>
              <a:buFont typeface="Wingdings" pitchFamily="2" charset="2"/>
              <a:buChar char="v"/>
            </a:pPr>
            <a:r>
              <a:rPr lang="en-US" sz="1400" dirty="0" smtClean="0">
                <a:latin typeface="Times New Roman" pitchFamily="18" charset="0"/>
                <a:cs typeface="Times New Roman" pitchFamily="18" charset="0"/>
              </a:rPr>
              <a:t>Applications</a:t>
            </a:r>
          </a:p>
        </p:txBody>
      </p:sp>
      <p:pic>
        <p:nvPicPr>
          <p:cNvPr id="50178" name="Picture 2"/>
          <p:cNvPicPr>
            <a:picLocks noChangeAspect="1" noChangeArrowheads="1"/>
          </p:cNvPicPr>
          <p:nvPr/>
        </p:nvPicPr>
        <p:blipFill>
          <a:blip r:embed="rId2"/>
          <a:srcRect/>
          <a:stretch>
            <a:fillRect/>
          </a:stretch>
        </p:blipFill>
        <p:spPr bwMode="auto">
          <a:xfrm>
            <a:off x="5114926" y="958624"/>
            <a:ext cx="6628584" cy="4057513"/>
          </a:xfrm>
          <a:prstGeom prst="rect">
            <a:avLst/>
          </a:prstGeom>
          <a:noFill/>
          <a:ln w="9525">
            <a:noFill/>
            <a:miter lim="800000"/>
            <a:headEnd/>
            <a:tailEnd/>
          </a:ln>
          <a:effectLst/>
        </p:spPr>
      </p:pic>
    </p:spTree>
    <p:extLst>
      <p:ext uri="{BB962C8B-B14F-4D97-AF65-F5344CB8AC3E}">
        <p14:creationId xmlns:p14="http://schemas.microsoft.com/office/powerpoint/2010/main" val="6938015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67294" y="215900"/>
            <a:ext cx="3858260" cy="817880"/>
          </a:xfrm>
          <a:prstGeom prst="rect">
            <a:avLst/>
          </a:prstGeom>
        </p:spPr>
        <p:txBody>
          <a:bodyPr vert="horz" wrap="square" lIns="0" tIns="12700" rIns="0" bIns="0" rtlCol="0">
            <a:spAutoFit/>
          </a:bodyPr>
          <a:lstStyle/>
          <a:p>
            <a:pPr marL="1270" algn="ctr">
              <a:lnSpc>
                <a:spcPct val="100000"/>
              </a:lnSpc>
              <a:spcBef>
                <a:spcPts val="100"/>
              </a:spcBef>
            </a:pPr>
            <a:r>
              <a:rPr sz="4000" spc="-5" dirty="0"/>
              <a:t>Memory</a:t>
            </a:r>
            <a:endParaRPr sz="4000"/>
          </a:p>
          <a:p>
            <a:pPr algn="ctr">
              <a:lnSpc>
                <a:spcPct val="100000"/>
              </a:lnSpc>
            </a:pPr>
            <a:r>
              <a:rPr sz="1200" i="1" u="sng" spc="-5" dirty="0">
                <a:uFill>
                  <a:solidFill>
                    <a:srgbClr val="000000"/>
                  </a:solidFill>
                </a:uFill>
                <a:latin typeface="Arial"/>
                <a:cs typeface="Arial"/>
              </a:rPr>
              <a:t>semiconductor-based integrated</a:t>
            </a:r>
            <a:r>
              <a:rPr sz="1200" i="1" u="sng" spc="20" dirty="0">
                <a:uFill>
                  <a:solidFill>
                    <a:srgbClr val="000000"/>
                  </a:solidFill>
                </a:uFill>
                <a:latin typeface="Arial"/>
                <a:cs typeface="Arial"/>
              </a:rPr>
              <a:t> </a:t>
            </a:r>
            <a:r>
              <a:rPr sz="1200" i="1" u="sng" dirty="0">
                <a:uFill>
                  <a:solidFill>
                    <a:srgbClr val="000000"/>
                  </a:solidFill>
                </a:uFill>
                <a:latin typeface="Arial"/>
                <a:cs typeface="Arial"/>
              </a:rPr>
              <a:t>circuit</a:t>
            </a:r>
            <a:endParaRPr sz="1200">
              <a:latin typeface="Arial"/>
              <a:cs typeface="Arial"/>
            </a:endParaRPr>
          </a:p>
        </p:txBody>
      </p:sp>
      <p:sp>
        <p:nvSpPr>
          <p:cNvPr id="3" name="object 3"/>
          <p:cNvSpPr txBox="1"/>
          <p:nvPr/>
        </p:nvSpPr>
        <p:spPr>
          <a:xfrm>
            <a:off x="5386494" y="142112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4" name="object 4"/>
          <p:cNvSpPr txBox="1"/>
          <p:nvPr/>
        </p:nvSpPr>
        <p:spPr>
          <a:xfrm>
            <a:off x="5843693" y="1432559"/>
            <a:ext cx="5303520" cy="463550"/>
          </a:xfrm>
          <a:prstGeom prst="rect">
            <a:avLst/>
          </a:prstGeom>
        </p:spPr>
        <p:txBody>
          <a:bodyPr vert="horz" wrap="square" lIns="0" tIns="12700" rIns="0" bIns="0" rtlCol="0">
            <a:spAutoFit/>
          </a:bodyPr>
          <a:lstStyle/>
          <a:p>
            <a:pPr marL="12700">
              <a:lnSpc>
                <a:spcPts val="1725"/>
              </a:lnSpc>
              <a:spcBef>
                <a:spcPts val="100"/>
              </a:spcBef>
            </a:pPr>
            <a:r>
              <a:rPr sz="1600" dirty="0">
                <a:latin typeface="Arial"/>
                <a:cs typeface="Arial"/>
              </a:rPr>
              <a:t>All </a:t>
            </a:r>
            <a:r>
              <a:rPr sz="1600" spc="-5" dirty="0">
                <a:latin typeface="Arial"/>
                <a:cs typeface="Arial"/>
              </a:rPr>
              <a:t>actual computing starts with </a:t>
            </a:r>
            <a:r>
              <a:rPr sz="1600" dirty="0">
                <a:latin typeface="Arial"/>
                <a:cs typeface="Arial"/>
              </a:rPr>
              <a:t>the </a:t>
            </a:r>
            <a:r>
              <a:rPr sz="1600" spc="-5" dirty="0">
                <a:latin typeface="Arial"/>
                <a:cs typeface="Arial"/>
              </a:rPr>
              <a:t>the</a:t>
            </a:r>
            <a:r>
              <a:rPr sz="1600" spc="-15" dirty="0">
                <a:latin typeface="Arial"/>
                <a:cs typeface="Arial"/>
              </a:rPr>
              <a:t> </a:t>
            </a:r>
            <a:r>
              <a:rPr sz="1600" b="1" spc="-5" dirty="0">
                <a:latin typeface="Arial"/>
                <a:cs typeface="Arial"/>
              </a:rPr>
              <a:t>CPU</a:t>
            </a:r>
            <a:endParaRPr sz="1600">
              <a:latin typeface="Arial"/>
              <a:cs typeface="Arial"/>
            </a:endParaRPr>
          </a:p>
          <a:p>
            <a:pPr marL="12700">
              <a:lnSpc>
                <a:spcPts val="1725"/>
              </a:lnSpc>
            </a:pPr>
            <a:r>
              <a:rPr sz="1600" spc="-5" dirty="0">
                <a:latin typeface="Arial"/>
                <a:cs typeface="Arial"/>
              </a:rPr>
              <a:t>(Central Processing</a:t>
            </a:r>
            <a:r>
              <a:rPr sz="1600" dirty="0">
                <a:latin typeface="Arial"/>
                <a:cs typeface="Arial"/>
              </a:rPr>
              <a:t> </a:t>
            </a:r>
            <a:r>
              <a:rPr sz="1600" spc="-5" dirty="0">
                <a:latin typeface="Arial"/>
                <a:cs typeface="Arial"/>
              </a:rPr>
              <a:t>Unit).</a:t>
            </a:r>
            <a:endParaRPr sz="1600">
              <a:latin typeface="Arial"/>
              <a:cs typeface="Arial"/>
            </a:endParaRPr>
          </a:p>
        </p:txBody>
      </p:sp>
      <p:sp>
        <p:nvSpPr>
          <p:cNvPr id="5" name="object 5"/>
          <p:cNvSpPr txBox="1"/>
          <p:nvPr/>
        </p:nvSpPr>
        <p:spPr>
          <a:xfrm>
            <a:off x="5386494" y="210565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6" name="object 6"/>
          <p:cNvSpPr txBox="1"/>
          <p:nvPr/>
        </p:nvSpPr>
        <p:spPr>
          <a:xfrm>
            <a:off x="5843694" y="2117090"/>
            <a:ext cx="5792893" cy="653127"/>
          </a:xfrm>
          <a:prstGeom prst="rect">
            <a:avLst/>
          </a:prstGeom>
        </p:spPr>
        <p:txBody>
          <a:bodyPr vert="horz" wrap="square" lIns="0" tIns="61594" rIns="0" bIns="0" rtlCol="0">
            <a:spAutoFit/>
          </a:bodyPr>
          <a:lstStyle/>
          <a:p>
            <a:pPr marL="12700" marR="5080">
              <a:lnSpc>
                <a:spcPct val="79900"/>
              </a:lnSpc>
              <a:spcBef>
                <a:spcPts val="484"/>
              </a:spcBef>
            </a:pPr>
            <a:r>
              <a:rPr sz="1600" spc="-5" dirty="0">
                <a:latin typeface="Arial"/>
                <a:cs typeface="Arial"/>
              </a:rPr>
              <a:t>The </a:t>
            </a:r>
            <a:r>
              <a:rPr sz="1600" b="1" spc="-5" dirty="0">
                <a:latin typeface="Arial"/>
                <a:cs typeface="Arial"/>
              </a:rPr>
              <a:t>chipset </a:t>
            </a:r>
            <a:r>
              <a:rPr sz="1600" spc="-5" dirty="0">
                <a:latin typeface="Arial"/>
                <a:cs typeface="Arial"/>
              </a:rPr>
              <a:t>supports the CPU and contains  several </a:t>
            </a:r>
            <a:r>
              <a:rPr sz="1600" b="1" spc="-5" dirty="0">
                <a:latin typeface="Arial"/>
                <a:cs typeface="Arial"/>
              </a:rPr>
              <a:t>controllers </a:t>
            </a:r>
            <a:r>
              <a:rPr sz="1600" spc="-5" dirty="0">
                <a:latin typeface="Arial"/>
                <a:cs typeface="Arial"/>
              </a:rPr>
              <a:t>that control how information  travels between the CPU and other components  </a:t>
            </a:r>
            <a:r>
              <a:rPr sz="1600" dirty="0">
                <a:latin typeface="Arial"/>
                <a:cs typeface="Arial"/>
              </a:rPr>
              <a:t>in </a:t>
            </a:r>
            <a:r>
              <a:rPr sz="1600" spc="-5" dirty="0">
                <a:latin typeface="Arial"/>
                <a:cs typeface="Arial"/>
              </a:rPr>
              <a:t>the</a:t>
            </a:r>
            <a:r>
              <a:rPr sz="1600" spc="-10" dirty="0">
                <a:latin typeface="Arial"/>
                <a:cs typeface="Arial"/>
              </a:rPr>
              <a:t> PC.</a:t>
            </a:r>
            <a:endParaRPr sz="1600" dirty="0">
              <a:latin typeface="Arial"/>
              <a:cs typeface="Arial"/>
            </a:endParaRPr>
          </a:p>
        </p:txBody>
      </p:sp>
      <p:sp>
        <p:nvSpPr>
          <p:cNvPr id="7" name="object 7"/>
          <p:cNvSpPr txBox="1"/>
          <p:nvPr/>
        </p:nvSpPr>
        <p:spPr>
          <a:xfrm>
            <a:off x="5386494" y="317880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8" name="object 8"/>
          <p:cNvSpPr txBox="1"/>
          <p:nvPr/>
        </p:nvSpPr>
        <p:spPr>
          <a:xfrm>
            <a:off x="5843693" y="3191509"/>
            <a:ext cx="5444067" cy="657860"/>
          </a:xfrm>
          <a:prstGeom prst="rect">
            <a:avLst/>
          </a:prstGeom>
        </p:spPr>
        <p:txBody>
          <a:bodyPr vert="horz" wrap="square" lIns="0" tIns="62229" rIns="0" bIns="0" rtlCol="0">
            <a:spAutoFit/>
          </a:bodyPr>
          <a:lstStyle/>
          <a:p>
            <a:pPr marL="12700" marR="5080" algn="just">
              <a:lnSpc>
                <a:spcPct val="79700"/>
              </a:lnSpc>
              <a:spcBef>
                <a:spcPts val="489"/>
              </a:spcBef>
            </a:pPr>
            <a:r>
              <a:rPr sz="1600" spc="-5" dirty="0">
                <a:latin typeface="Arial"/>
                <a:cs typeface="Arial"/>
              </a:rPr>
              <a:t>The </a:t>
            </a:r>
            <a:r>
              <a:rPr sz="1600" b="1" spc="-10" dirty="0">
                <a:latin typeface="Arial"/>
                <a:cs typeface="Arial"/>
              </a:rPr>
              <a:t>memory </a:t>
            </a:r>
            <a:r>
              <a:rPr sz="1600" b="1" spc="-5" dirty="0">
                <a:latin typeface="Arial"/>
                <a:cs typeface="Arial"/>
              </a:rPr>
              <a:t>controller </a:t>
            </a:r>
            <a:r>
              <a:rPr sz="1600" dirty="0">
                <a:latin typeface="Arial"/>
                <a:cs typeface="Arial"/>
              </a:rPr>
              <a:t>is </a:t>
            </a:r>
            <a:r>
              <a:rPr sz="1600" spc="-5" dirty="0">
                <a:latin typeface="Arial"/>
                <a:cs typeface="Arial"/>
              </a:rPr>
              <a:t>part of the chipset  and establishes the information flow </a:t>
            </a:r>
            <a:r>
              <a:rPr sz="1600" spc="-10" dirty="0">
                <a:latin typeface="Arial"/>
                <a:cs typeface="Arial"/>
              </a:rPr>
              <a:t>between  </a:t>
            </a:r>
            <a:r>
              <a:rPr sz="1600" spc="-5" dirty="0">
                <a:latin typeface="Arial"/>
                <a:cs typeface="Arial"/>
              </a:rPr>
              <a:t>memory and the</a:t>
            </a:r>
            <a:r>
              <a:rPr sz="1600" spc="-10" dirty="0">
                <a:latin typeface="Arial"/>
                <a:cs typeface="Arial"/>
              </a:rPr>
              <a:t> </a:t>
            </a:r>
            <a:r>
              <a:rPr sz="1600" spc="-5" dirty="0">
                <a:latin typeface="Arial"/>
                <a:cs typeface="Arial"/>
              </a:rPr>
              <a:t>CPU.</a:t>
            </a:r>
            <a:endParaRPr sz="1600" dirty="0">
              <a:latin typeface="Arial"/>
              <a:cs typeface="Arial"/>
            </a:endParaRPr>
          </a:p>
        </p:txBody>
      </p:sp>
      <p:sp>
        <p:nvSpPr>
          <p:cNvPr id="9" name="object 9"/>
          <p:cNvSpPr txBox="1"/>
          <p:nvPr/>
        </p:nvSpPr>
        <p:spPr>
          <a:xfrm>
            <a:off x="5386494" y="405892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10" name="object 10"/>
          <p:cNvSpPr txBox="1"/>
          <p:nvPr/>
        </p:nvSpPr>
        <p:spPr>
          <a:xfrm>
            <a:off x="5843694" y="4070350"/>
            <a:ext cx="5793740" cy="850745"/>
          </a:xfrm>
          <a:prstGeom prst="rect">
            <a:avLst/>
          </a:prstGeom>
        </p:spPr>
        <p:txBody>
          <a:bodyPr vert="horz" wrap="square" lIns="0" tIns="62229" rIns="0" bIns="0" rtlCol="0">
            <a:spAutoFit/>
          </a:bodyPr>
          <a:lstStyle/>
          <a:p>
            <a:pPr marL="12700" marR="5080">
              <a:lnSpc>
                <a:spcPct val="79700"/>
              </a:lnSpc>
              <a:spcBef>
                <a:spcPts val="489"/>
              </a:spcBef>
            </a:pPr>
            <a:r>
              <a:rPr sz="1600" dirty="0">
                <a:latin typeface="Arial"/>
                <a:cs typeface="Arial"/>
              </a:rPr>
              <a:t>A </a:t>
            </a:r>
            <a:r>
              <a:rPr sz="1600" b="1" spc="-10" dirty="0">
                <a:latin typeface="Arial"/>
                <a:cs typeface="Arial"/>
              </a:rPr>
              <a:t>bus </a:t>
            </a:r>
            <a:r>
              <a:rPr sz="1600" dirty="0">
                <a:latin typeface="Arial"/>
                <a:cs typeface="Arial"/>
              </a:rPr>
              <a:t>is a </a:t>
            </a:r>
            <a:r>
              <a:rPr sz="1600" spc="-5" dirty="0">
                <a:latin typeface="Arial"/>
                <a:cs typeface="Arial"/>
              </a:rPr>
              <a:t>data path that </a:t>
            </a:r>
            <a:r>
              <a:rPr sz="1600" dirty="0">
                <a:latin typeface="Arial"/>
                <a:cs typeface="Arial"/>
              </a:rPr>
              <a:t>consists </a:t>
            </a:r>
            <a:r>
              <a:rPr sz="1600" spc="-5" dirty="0">
                <a:latin typeface="Arial"/>
                <a:cs typeface="Arial"/>
              </a:rPr>
              <a:t>of parallel  wires and connects </a:t>
            </a:r>
            <a:r>
              <a:rPr sz="1600" dirty="0">
                <a:latin typeface="Arial"/>
                <a:cs typeface="Arial"/>
              </a:rPr>
              <a:t>the </a:t>
            </a:r>
            <a:r>
              <a:rPr sz="1600" spc="-5" dirty="0">
                <a:latin typeface="Arial"/>
                <a:cs typeface="Arial"/>
              </a:rPr>
              <a:t>CPU, memory and other  devices. The bus architecture determines how  much and how fast data </a:t>
            </a:r>
            <a:r>
              <a:rPr sz="1600" dirty="0">
                <a:latin typeface="Arial"/>
                <a:cs typeface="Arial"/>
              </a:rPr>
              <a:t>can </a:t>
            </a:r>
            <a:r>
              <a:rPr sz="1600" spc="-5" dirty="0">
                <a:latin typeface="Arial"/>
                <a:cs typeface="Arial"/>
              </a:rPr>
              <a:t>move around the  </a:t>
            </a:r>
            <a:r>
              <a:rPr sz="1600" b="1" spc="-10" dirty="0">
                <a:latin typeface="Arial"/>
                <a:cs typeface="Arial"/>
              </a:rPr>
              <a:t>motherboard</a:t>
            </a:r>
            <a:r>
              <a:rPr sz="1600" spc="-10" dirty="0">
                <a:latin typeface="Arial"/>
                <a:cs typeface="Arial"/>
              </a:rPr>
              <a:t>.</a:t>
            </a:r>
            <a:endParaRPr sz="1600" dirty="0">
              <a:latin typeface="Arial"/>
              <a:cs typeface="Arial"/>
            </a:endParaRPr>
          </a:p>
        </p:txBody>
      </p:sp>
      <p:sp>
        <p:nvSpPr>
          <p:cNvPr id="11" name="object 11"/>
          <p:cNvSpPr/>
          <p:nvPr/>
        </p:nvSpPr>
        <p:spPr>
          <a:xfrm>
            <a:off x="688726" y="1529298"/>
            <a:ext cx="4354981" cy="3667379"/>
          </a:xfrm>
          <a:prstGeom prst="rect">
            <a:avLst/>
          </a:prstGeom>
          <a:blipFill>
            <a:blip r:embed="rId2" cstate="print"/>
            <a:stretch>
              <a:fillRect/>
            </a:stretch>
          </a:blipFill>
        </p:spPr>
        <p:txBody>
          <a:bodyPr wrap="square" lIns="0" tIns="0" rIns="0" bIns="0" rtlCol="0"/>
          <a:lstStyle/>
          <a:p>
            <a:endParaRPr/>
          </a:p>
        </p:txBody>
      </p:sp>
      <p:sp>
        <p:nvSpPr>
          <p:cNvPr id="12" name="object 12"/>
          <p:cNvSpPr txBox="1"/>
          <p:nvPr/>
        </p:nvSpPr>
        <p:spPr>
          <a:xfrm>
            <a:off x="609601" y="553592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13" name="object 13"/>
          <p:cNvSpPr txBox="1"/>
          <p:nvPr/>
        </p:nvSpPr>
        <p:spPr>
          <a:xfrm>
            <a:off x="1066801" y="5547359"/>
            <a:ext cx="10413153" cy="657860"/>
          </a:xfrm>
          <a:prstGeom prst="rect">
            <a:avLst/>
          </a:prstGeom>
        </p:spPr>
        <p:txBody>
          <a:bodyPr vert="horz" wrap="square" lIns="0" tIns="62229" rIns="0" bIns="0" rtlCol="0">
            <a:spAutoFit/>
          </a:bodyPr>
          <a:lstStyle/>
          <a:p>
            <a:pPr marL="12700" marR="5080">
              <a:lnSpc>
                <a:spcPct val="79700"/>
              </a:lnSpc>
              <a:spcBef>
                <a:spcPts val="489"/>
              </a:spcBef>
            </a:pPr>
            <a:r>
              <a:rPr sz="1600" spc="-5" dirty="0">
                <a:latin typeface="Arial"/>
                <a:cs typeface="Arial"/>
              </a:rPr>
              <a:t>The </a:t>
            </a:r>
            <a:r>
              <a:rPr sz="1600" b="1" spc="-10" dirty="0">
                <a:latin typeface="Arial"/>
                <a:cs typeface="Arial"/>
              </a:rPr>
              <a:t>memory bus </a:t>
            </a:r>
            <a:r>
              <a:rPr sz="1600" spc="-5" dirty="0">
                <a:latin typeface="Arial"/>
                <a:cs typeface="Arial"/>
              </a:rPr>
              <a:t>goes from the memory controller to the computer's memory sockets.  Newer </a:t>
            </a:r>
            <a:r>
              <a:rPr sz="1600" dirty="0">
                <a:latin typeface="Arial"/>
                <a:cs typeface="Arial"/>
              </a:rPr>
              <a:t>systems </a:t>
            </a:r>
            <a:r>
              <a:rPr sz="1600" spc="-5" dirty="0">
                <a:latin typeface="Arial"/>
                <a:cs typeface="Arial"/>
              </a:rPr>
              <a:t>have </a:t>
            </a:r>
            <a:r>
              <a:rPr sz="1600" dirty="0">
                <a:latin typeface="Arial"/>
                <a:cs typeface="Arial"/>
              </a:rPr>
              <a:t>a </a:t>
            </a:r>
            <a:r>
              <a:rPr sz="1600" b="1" spc="-10" dirty="0">
                <a:latin typeface="Arial"/>
                <a:cs typeface="Arial"/>
              </a:rPr>
              <a:t>frontside bus </a:t>
            </a:r>
            <a:r>
              <a:rPr sz="1600" spc="-5" dirty="0">
                <a:latin typeface="Arial"/>
                <a:cs typeface="Arial"/>
              </a:rPr>
              <a:t>(FSB) from the CPU to main </a:t>
            </a:r>
            <a:r>
              <a:rPr sz="1600" spc="-10" dirty="0">
                <a:latin typeface="Arial"/>
                <a:cs typeface="Arial"/>
              </a:rPr>
              <a:t>memory </a:t>
            </a:r>
            <a:r>
              <a:rPr sz="1600" spc="-5" dirty="0">
                <a:latin typeface="Arial"/>
                <a:cs typeface="Arial"/>
              </a:rPr>
              <a:t>and </a:t>
            </a:r>
            <a:r>
              <a:rPr sz="1600" dirty="0">
                <a:latin typeface="Arial"/>
                <a:cs typeface="Arial"/>
              </a:rPr>
              <a:t>a  </a:t>
            </a:r>
            <a:r>
              <a:rPr sz="1600" b="1" spc="-5" dirty="0">
                <a:latin typeface="Arial"/>
                <a:cs typeface="Arial"/>
              </a:rPr>
              <a:t>backside </a:t>
            </a:r>
            <a:r>
              <a:rPr sz="1600" b="1" spc="-10" dirty="0">
                <a:latin typeface="Arial"/>
                <a:cs typeface="Arial"/>
              </a:rPr>
              <a:t>bus </a:t>
            </a:r>
            <a:r>
              <a:rPr sz="1600" spc="-5" dirty="0">
                <a:latin typeface="Arial"/>
                <a:cs typeface="Arial"/>
              </a:rPr>
              <a:t>(BSB) from the memory controller </a:t>
            </a:r>
            <a:r>
              <a:rPr sz="1600" dirty="0">
                <a:latin typeface="Arial"/>
                <a:cs typeface="Arial"/>
              </a:rPr>
              <a:t>to </a:t>
            </a:r>
            <a:r>
              <a:rPr sz="1600" spc="-5" dirty="0">
                <a:latin typeface="Arial"/>
                <a:cs typeface="Arial"/>
              </a:rPr>
              <a:t>L2 cache.</a:t>
            </a:r>
            <a:endParaRPr sz="1600">
              <a:latin typeface="Arial"/>
              <a:cs typeface="Aria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19387" y="149605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3" name="object 3"/>
          <p:cNvSpPr txBox="1"/>
          <p:nvPr/>
        </p:nvSpPr>
        <p:spPr>
          <a:xfrm>
            <a:off x="1476585" y="1507490"/>
            <a:ext cx="315976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You turn the computer</a:t>
            </a:r>
            <a:r>
              <a:rPr sz="1600" spc="-55" dirty="0">
                <a:latin typeface="Arial"/>
                <a:cs typeface="Arial"/>
              </a:rPr>
              <a:t> </a:t>
            </a:r>
            <a:r>
              <a:rPr sz="1600" spc="-10" dirty="0">
                <a:latin typeface="Arial"/>
                <a:cs typeface="Arial"/>
              </a:rPr>
              <a:t>on.</a:t>
            </a:r>
            <a:endParaRPr sz="1600">
              <a:latin typeface="Arial"/>
              <a:cs typeface="Arial"/>
            </a:endParaRPr>
          </a:p>
        </p:txBody>
      </p:sp>
      <p:sp>
        <p:nvSpPr>
          <p:cNvPr id="4" name="object 4"/>
          <p:cNvSpPr txBox="1"/>
          <p:nvPr/>
        </p:nvSpPr>
        <p:spPr>
          <a:xfrm>
            <a:off x="1019387" y="198627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5" name="object 5"/>
          <p:cNvSpPr txBox="1"/>
          <p:nvPr/>
        </p:nvSpPr>
        <p:spPr>
          <a:xfrm>
            <a:off x="1476585" y="1997709"/>
            <a:ext cx="9575800" cy="850104"/>
          </a:xfrm>
          <a:prstGeom prst="rect">
            <a:avLst/>
          </a:prstGeom>
        </p:spPr>
        <p:txBody>
          <a:bodyPr vert="horz" wrap="square" lIns="0" tIns="61594" rIns="0" bIns="0" rtlCol="0">
            <a:spAutoFit/>
          </a:bodyPr>
          <a:lstStyle/>
          <a:p>
            <a:pPr marL="12700" marR="5080" algn="just">
              <a:lnSpc>
                <a:spcPct val="79800"/>
              </a:lnSpc>
              <a:spcBef>
                <a:spcPts val="484"/>
              </a:spcBef>
            </a:pPr>
            <a:r>
              <a:rPr sz="1600" spc="-5" dirty="0">
                <a:latin typeface="Arial"/>
                <a:cs typeface="Arial"/>
              </a:rPr>
              <a:t>The computer loads data from read-only memory (</a:t>
            </a:r>
            <a:r>
              <a:rPr sz="1600" b="1" spc="-5" dirty="0">
                <a:latin typeface="Arial"/>
                <a:cs typeface="Arial"/>
              </a:rPr>
              <a:t>ROM</a:t>
            </a:r>
            <a:r>
              <a:rPr sz="1600" spc="-5" dirty="0">
                <a:latin typeface="Arial"/>
                <a:cs typeface="Arial"/>
              </a:rPr>
              <a:t>) and performs </a:t>
            </a:r>
            <a:r>
              <a:rPr sz="1600" dirty="0">
                <a:latin typeface="Arial"/>
                <a:cs typeface="Arial"/>
              </a:rPr>
              <a:t>a </a:t>
            </a:r>
            <a:r>
              <a:rPr sz="1600" b="1" spc="-10" dirty="0">
                <a:latin typeface="Arial"/>
                <a:cs typeface="Arial"/>
              </a:rPr>
              <a:t>power-  </a:t>
            </a:r>
            <a:r>
              <a:rPr sz="1600" b="1" spc="-5" dirty="0">
                <a:latin typeface="Arial"/>
                <a:cs typeface="Arial"/>
              </a:rPr>
              <a:t>on self-test</a:t>
            </a:r>
            <a:r>
              <a:rPr sz="1600" spc="-5" dirty="0">
                <a:latin typeface="Arial"/>
                <a:cs typeface="Arial"/>
              </a:rPr>
              <a:t> (</a:t>
            </a:r>
            <a:r>
              <a:rPr sz="1600" b="1" spc="-5" dirty="0">
                <a:latin typeface="Arial"/>
                <a:cs typeface="Arial"/>
              </a:rPr>
              <a:t>POST</a:t>
            </a:r>
            <a:r>
              <a:rPr sz="1600" spc="-5" dirty="0">
                <a:latin typeface="Arial"/>
                <a:cs typeface="Arial"/>
              </a:rPr>
              <a:t>) to make sure all </a:t>
            </a:r>
            <a:r>
              <a:rPr sz="1600" dirty="0">
                <a:latin typeface="Arial"/>
                <a:cs typeface="Arial"/>
              </a:rPr>
              <a:t>the </a:t>
            </a:r>
            <a:r>
              <a:rPr sz="1600" spc="-5" dirty="0">
                <a:latin typeface="Arial"/>
                <a:cs typeface="Arial"/>
              </a:rPr>
              <a:t>major components are functioning  properly. </a:t>
            </a:r>
            <a:r>
              <a:rPr sz="1600" dirty="0">
                <a:latin typeface="Arial"/>
                <a:cs typeface="Arial"/>
              </a:rPr>
              <a:t>As </a:t>
            </a:r>
            <a:r>
              <a:rPr sz="1600" spc="-5" dirty="0">
                <a:latin typeface="Arial"/>
                <a:cs typeface="Arial"/>
              </a:rPr>
              <a:t>part of this test, the memory controller checks all of </a:t>
            </a:r>
            <a:r>
              <a:rPr sz="1600" dirty="0">
                <a:latin typeface="Arial"/>
                <a:cs typeface="Arial"/>
              </a:rPr>
              <a:t>the </a:t>
            </a:r>
            <a:r>
              <a:rPr sz="1600" spc="-5" dirty="0">
                <a:latin typeface="Arial"/>
                <a:cs typeface="Arial"/>
              </a:rPr>
              <a:t>memory  addresses with </a:t>
            </a:r>
            <a:r>
              <a:rPr sz="1600" dirty="0">
                <a:latin typeface="Arial"/>
                <a:cs typeface="Arial"/>
              </a:rPr>
              <a:t>a </a:t>
            </a:r>
            <a:r>
              <a:rPr sz="1600" spc="-5" dirty="0">
                <a:latin typeface="Arial"/>
                <a:cs typeface="Arial"/>
              </a:rPr>
              <a:t>quick read/write operation to ensure that there </a:t>
            </a:r>
            <a:r>
              <a:rPr sz="1600" spc="-10" dirty="0">
                <a:latin typeface="Arial"/>
                <a:cs typeface="Arial"/>
              </a:rPr>
              <a:t>are </a:t>
            </a:r>
            <a:r>
              <a:rPr sz="1600" spc="-5" dirty="0">
                <a:latin typeface="Arial"/>
                <a:cs typeface="Arial"/>
              </a:rPr>
              <a:t>no errors </a:t>
            </a:r>
            <a:r>
              <a:rPr sz="1600" dirty="0">
                <a:latin typeface="Arial"/>
                <a:cs typeface="Arial"/>
              </a:rPr>
              <a:t>in  </a:t>
            </a:r>
            <a:r>
              <a:rPr sz="1600" spc="-5" dirty="0">
                <a:latin typeface="Arial"/>
                <a:cs typeface="Arial"/>
              </a:rPr>
              <a:t>the memory chips. Read/write means that data </a:t>
            </a:r>
            <a:r>
              <a:rPr sz="1600" dirty="0">
                <a:latin typeface="Arial"/>
                <a:cs typeface="Arial"/>
              </a:rPr>
              <a:t>is </a:t>
            </a:r>
            <a:r>
              <a:rPr sz="1600" spc="-5" dirty="0">
                <a:latin typeface="Arial"/>
                <a:cs typeface="Arial"/>
              </a:rPr>
              <a:t>written to </a:t>
            </a:r>
            <a:r>
              <a:rPr sz="1600" dirty="0">
                <a:latin typeface="Arial"/>
                <a:cs typeface="Arial"/>
              </a:rPr>
              <a:t>a </a:t>
            </a:r>
            <a:r>
              <a:rPr sz="1600" spc="-5" dirty="0">
                <a:latin typeface="Arial"/>
                <a:cs typeface="Arial"/>
              </a:rPr>
              <a:t>bit and then read  from that</a:t>
            </a:r>
            <a:r>
              <a:rPr sz="1600" dirty="0">
                <a:latin typeface="Arial"/>
                <a:cs typeface="Arial"/>
              </a:rPr>
              <a:t> </a:t>
            </a:r>
            <a:r>
              <a:rPr sz="1600" spc="-5" dirty="0">
                <a:latin typeface="Arial"/>
                <a:cs typeface="Arial"/>
              </a:rPr>
              <a:t>bit.</a:t>
            </a:r>
            <a:endParaRPr sz="1600" dirty="0">
              <a:latin typeface="Arial"/>
              <a:cs typeface="Arial"/>
            </a:endParaRPr>
          </a:p>
        </p:txBody>
      </p:sp>
      <p:sp>
        <p:nvSpPr>
          <p:cNvPr id="6" name="object 6"/>
          <p:cNvSpPr txBox="1"/>
          <p:nvPr/>
        </p:nvSpPr>
        <p:spPr>
          <a:xfrm>
            <a:off x="1019387" y="344805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7" name="object 7"/>
          <p:cNvSpPr txBox="1"/>
          <p:nvPr/>
        </p:nvSpPr>
        <p:spPr>
          <a:xfrm>
            <a:off x="1476586" y="3460751"/>
            <a:ext cx="9582573" cy="653768"/>
          </a:xfrm>
          <a:prstGeom prst="rect">
            <a:avLst/>
          </a:prstGeom>
        </p:spPr>
        <p:txBody>
          <a:bodyPr vert="horz" wrap="square" lIns="0" tIns="62229" rIns="0" bIns="0" rtlCol="0">
            <a:spAutoFit/>
          </a:bodyPr>
          <a:lstStyle/>
          <a:p>
            <a:pPr marL="12700" marR="5080" algn="just">
              <a:lnSpc>
                <a:spcPct val="79700"/>
              </a:lnSpc>
              <a:spcBef>
                <a:spcPts val="489"/>
              </a:spcBef>
            </a:pPr>
            <a:r>
              <a:rPr sz="1600" spc="-5" dirty="0">
                <a:latin typeface="Arial"/>
                <a:cs typeface="Arial"/>
              </a:rPr>
              <a:t>The computer loads </a:t>
            </a:r>
            <a:r>
              <a:rPr sz="1600" b="1" spc="-5" dirty="0">
                <a:latin typeface="Arial"/>
                <a:cs typeface="Arial"/>
              </a:rPr>
              <a:t>the basic input/output system </a:t>
            </a:r>
            <a:r>
              <a:rPr sz="1600" spc="-5" dirty="0">
                <a:latin typeface="Arial"/>
                <a:cs typeface="Arial"/>
              </a:rPr>
              <a:t>(</a:t>
            </a:r>
            <a:r>
              <a:rPr sz="1600" b="1" spc="-5" dirty="0">
                <a:latin typeface="Arial"/>
                <a:cs typeface="Arial"/>
              </a:rPr>
              <a:t>BIOS</a:t>
            </a:r>
            <a:r>
              <a:rPr sz="1600" spc="-5" dirty="0">
                <a:latin typeface="Arial"/>
                <a:cs typeface="Arial"/>
              </a:rPr>
              <a:t>) from ROM. The BIOS  provides the </a:t>
            </a:r>
            <a:r>
              <a:rPr sz="1600" dirty="0">
                <a:latin typeface="Arial"/>
                <a:cs typeface="Arial"/>
              </a:rPr>
              <a:t>most </a:t>
            </a:r>
            <a:r>
              <a:rPr sz="1600" spc="-5" dirty="0">
                <a:latin typeface="Arial"/>
                <a:cs typeface="Arial"/>
              </a:rPr>
              <a:t>basic information about storage devices, boot sequence,  security, Plug and Play (auto device recognition) capability and </a:t>
            </a:r>
            <a:r>
              <a:rPr sz="1600" dirty="0">
                <a:latin typeface="Arial"/>
                <a:cs typeface="Arial"/>
              </a:rPr>
              <a:t>a </a:t>
            </a:r>
            <a:r>
              <a:rPr sz="1600" spc="-5" dirty="0">
                <a:latin typeface="Arial"/>
                <a:cs typeface="Arial"/>
              </a:rPr>
              <a:t>few other  items.</a:t>
            </a:r>
            <a:endParaRPr sz="1600" dirty="0">
              <a:latin typeface="Arial"/>
              <a:cs typeface="Arial"/>
            </a:endParaRPr>
          </a:p>
        </p:txBody>
      </p:sp>
      <p:sp>
        <p:nvSpPr>
          <p:cNvPr id="8" name="object 8"/>
          <p:cNvSpPr txBox="1"/>
          <p:nvPr/>
        </p:nvSpPr>
        <p:spPr>
          <a:xfrm>
            <a:off x="1019387" y="4533900"/>
            <a:ext cx="9941560" cy="850745"/>
          </a:xfrm>
          <a:prstGeom prst="rect">
            <a:avLst/>
          </a:prstGeom>
        </p:spPr>
        <p:txBody>
          <a:bodyPr vert="horz" wrap="square" lIns="0" tIns="62229" rIns="0" bIns="0" rtlCol="0">
            <a:spAutoFit/>
          </a:bodyPr>
          <a:lstStyle/>
          <a:p>
            <a:pPr marL="355600" marR="5080" indent="-342900" algn="just">
              <a:lnSpc>
                <a:spcPct val="79700"/>
              </a:lnSpc>
              <a:spcBef>
                <a:spcPts val="489"/>
              </a:spcBef>
              <a:buChar char="•"/>
              <a:tabLst>
                <a:tab pos="354965" algn="l"/>
                <a:tab pos="355600" algn="l"/>
              </a:tabLst>
            </a:pPr>
            <a:r>
              <a:rPr sz="1600" spc="-5" dirty="0">
                <a:latin typeface="Arial"/>
                <a:cs typeface="Arial"/>
              </a:rPr>
              <a:t>The computer loads the operating </a:t>
            </a:r>
            <a:r>
              <a:rPr sz="1600" dirty="0">
                <a:latin typeface="Arial"/>
                <a:cs typeface="Arial"/>
              </a:rPr>
              <a:t>system </a:t>
            </a:r>
            <a:r>
              <a:rPr sz="1600" spc="-5" dirty="0">
                <a:latin typeface="Arial"/>
                <a:cs typeface="Arial"/>
              </a:rPr>
              <a:t>(</a:t>
            </a:r>
            <a:r>
              <a:rPr sz="1600" b="1" spc="-5" dirty="0">
                <a:latin typeface="Arial"/>
                <a:cs typeface="Arial"/>
              </a:rPr>
              <a:t>OS</a:t>
            </a:r>
            <a:r>
              <a:rPr sz="1600" spc="-5" dirty="0">
                <a:latin typeface="Arial"/>
                <a:cs typeface="Arial"/>
              </a:rPr>
              <a:t>) from the </a:t>
            </a:r>
            <a:r>
              <a:rPr sz="1600" spc="-10" dirty="0">
                <a:latin typeface="Arial"/>
                <a:cs typeface="Arial"/>
              </a:rPr>
              <a:t>hard </a:t>
            </a:r>
            <a:r>
              <a:rPr sz="1600" spc="-5" dirty="0">
                <a:latin typeface="Arial"/>
                <a:cs typeface="Arial"/>
              </a:rPr>
              <a:t>drive into the  </a:t>
            </a:r>
            <a:r>
              <a:rPr sz="1600" dirty="0">
                <a:latin typeface="Arial"/>
                <a:cs typeface="Arial"/>
              </a:rPr>
              <a:t>system's </a:t>
            </a:r>
            <a:r>
              <a:rPr sz="1600" spc="-5" dirty="0">
                <a:latin typeface="Arial"/>
                <a:cs typeface="Arial"/>
              </a:rPr>
              <a:t>RAM. Generally, the critical parts of the operating system are  maintained </a:t>
            </a:r>
            <a:r>
              <a:rPr sz="1600" dirty="0">
                <a:latin typeface="Arial"/>
                <a:cs typeface="Arial"/>
              </a:rPr>
              <a:t>in </a:t>
            </a:r>
            <a:r>
              <a:rPr sz="1600" spc="-5" dirty="0">
                <a:latin typeface="Arial"/>
                <a:cs typeface="Arial"/>
              </a:rPr>
              <a:t>RAM as long as </a:t>
            </a:r>
            <a:r>
              <a:rPr sz="1600" dirty="0">
                <a:latin typeface="Arial"/>
                <a:cs typeface="Arial"/>
              </a:rPr>
              <a:t>the </a:t>
            </a:r>
            <a:r>
              <a:rPr sz="1600" spc="-5" dirty="0">
                <a:latin typeface="Arial"/>
                <a:cs typeface="Arial"/>
              </a:rPr>
              <a:t>computer </a:t>
            </a:r>
            <a:r>
              <a:rPr sz="1600" dirty="0">
                <a:latin typeface="Arial"/>
                <a:cs typeface="Arial"/>
              </a:rPr>
              <a:t>is </a:t>
            </a:r>
            <a:r>
              <a:rPr sz="1600" spc="-5" dirty="0">
                <a:latin typeface="Arial"/>
                <a:cs typeface="Arial"/>
              </a:rPr>
              <a:t>on. This allows the CPU to have  immediate access to </a:t>
            </a:r>
            <a:r>
              <a:rPr sz="1600" dirty="0">
                <a:latin typeface="Arial"/>
                <a:cs typeface="Arial"/>
              </a:rPr>
              <a:t>the </a:t>
            </a:r>
            <a:r>
              <a:rPr sz="1600" spc="-5" dirty="0">
                <a:latin typeface="Arial"/>
                <a:cs typeface="Arial"/>
              </a:rPr>
              <a:t>operating </a:t>
            </a:r>
            <a:r>
              <a:rPr sz="1600" dirty="0">
                <a:latin typeface="Arial"/>
                <a:cs typeface="Arial"/>
              </a:rPr>
              <a:t>system, </a:t>
            </a:r>
            <a:r>
              <a:rPr sz="1600" spc="-5" dirty="0">
                <a:latin typeface="Arial"/>
                <a:cs typeface="Arial"/>
              </a:rPr>
              <a:t>which enhances the </a:t>
            </a:r>
            <a:r>
              <a:rPr sz="1600" spc="-10" dirty="0">
                <a:latin typeface="Arial"/>
                <a:cs typeface="Arial"/>
              </a:rPr>
              <a:t>performance  </a:t>
            </a:r>
            <a:r>
              <a:rPr sz="1600" spc="-5" dirty="0">
                <a:latin typeface="Arial"/>
                <a:cs typeface="Arial"/>
              </a:rPr>
              <a:t>and functionality of the overall</a:t>
            </a:r>
            <a:r>
              <a:rPr sz="1600" spc="10" dirty="0">
                <a:latin typeface="Arial"/>
                <a:cs typeface="Arial"/>
              </a:rPr>
              <a:t> </a:t>
            </a:r>
            <a:r>
              <a:rPr sz="1600" dirty="0">
                <a:latin typeface="Arial"/>
                <a:cs typeface="Arial"/>
              </a:rPr>
              <a:t>system.</a:t>
            </a:r>
          </a:p>
        </p:txBody>
      </p:sp>
      <p:sp>
        <p:nvSpPr>
          <p:cNvPr id="9" name="object 9"/>
          <p:cNvSpPr txBox="1">
            <a:spLocks noGrp="1"/>
          </p:cNvSpPr>
          <p:nvPr>
            <p:ph type="title"/>
          </p:nvPr>
        </p:nvSpPr>
        <p:spPr>
          <a:xfrm>
            <a:off x="2086185" y="337820"/>
            <a:ext cx="8168640" cy="513080"/>
          </a:xfrm>
          <a:prstGeom prst="rect">
            <a:avLst/>
          </a:prstGeom>
        </p:spPr>
        <p:txBody>
          <a:bodyPr vert="horz" wrap="square" lIns="0" tIns="12700" rIns="0" bIns="0" rtlCol="0">
            <a:spAutoFit/>
          </a:bodyPr>
          <a:lstStyle/>
          <a:p>
            <a:pPr marL="12700">
              <a:lnSpc>
                <a:spcPct val="100000"/>
              </a:lnSpc>
              <a:spcBef>
                <a:spcPts val="100"/>
              </a:spcBef>
            </a:pPr>
            <a:r>
              <a:rPr sz="3200" spc="-5" dirty="0"/>
              <a:t>Role of </a:t>
            </a:r>
            <a:r>
              <a:rPr sz="3200" dirty="0"/>
              <a:t>Memory </a:t>
            </a:r>
            <a:r>
              <a:rPr sz="3200" spc="-5" dirty="0"/>
              <a:t>during</a:t>
            </a:r>
            <a:r>
              <a:rPr sz="3200" spc="-25" dirty="0"/>
              <a:t> </a:t>
            </a:r>
            <a:r>
              <a:rPr sz="3200" spc="-5" dirty="0"/>
              <a:t>Boot-up</a:t>
            </a:r>
            <a:endParaRPr sz="32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4587" y="207899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3" name="object 3"/>
          <p:cNvSpPr txBox="1"/>
          <p:nvPr/>
        </p:nvSpPr>
        <p:spPr>
          <a:xfrm>
            <a:off x="1171786" y="2090420"/>
            <a:ext cx="10250593" cy="505267"/>
          </a:xfrm>
          <a:prstGeom prst="rect">
            <a:avLst/>
          </a:prstGeom>
        </p:spPr>
        <p:txBody>
          <a:bodyPr vert="horz" wrap="square" lIns="0" tIns="12700" rIns="0" bIns="0" rtlCol="0">
            <a:spAutoFit/>
          </a:bodyPr>
          <a:lstStyle/>
          <a:p>
            <a:pPr marL="12700" marR="5080">
              <a:lnSpc>
                <a:spcPct val="100000"/>
              </a:lnSpc>
              <a:spcBef>
                <a:spcPts val="100"/>
              </a:spcBef>
            </a:pPr>
            <a:r>
              <a:rPr sz="1600" spc="-5" dirty="0">
                <a:latin typeface="Arial"/>
                <a:cs typeface="Arial"/>
              </a:rPr>
              <a:t>When </a:t>
            </a:r>
            <a:r>
              <a:rPr sz="1600" dirty="0">
                <a:latin typeface="Arial"/>
                <a:cs typeface="Arial"/>
              </a:rPr>
              <a:t>you </a:t>
            </a:r>
            <a:r>
              <a:rPr sz="1600" spc="-5" dirty="0">
                <a:latin typeface="Arial"/>
                <a:cs typeface="Arial"/>
              </a:rPr>
              <a:t>open an application, </a:t>
            </a:r>
            <a:r>
              <a:rPr sz="1600" dirty="0">
                <a:latin typeface="Arial"/>
                <a:cs typeface="Arial"/>
              </a:rPr>
              <a:t>it is </a:t>
            </a:r>
            <a:r>
              <a:rPr sz="1600" spc="-5" dirty="0">
                <a:latin typeface="Arial"/>
                <a:cs typeface="Arial"/>
              </a:rPr>
              <a:t>loaded into RAM. To conserve RAM usage, many  applications load only </a:t>
            </a:r>
            <a:r>
              <a:rPr sz="1600" dirty="0">
                <a:latin typeface="Arial"/>
                <a:cs typeface="Arial"/>
              </a:rPr>
              <a:t>the </a:t>
            </a:r>
            <a:r>
              <a:rPr sz="1600" spc="-5" dirty="0">
                <a:latin typeface="Arial"/>
                <a:cs typeface="Arial"/>
              </a:rPr>
              <a:t>essential parts of the program initially and then load other  pieces as</a:t>
            </a:r>
            <a:r>
              <a:rPr sz="1600" spc="5" dirty="0">
                <a:latin typeface="Arial"/>
                <a:cs typeface="Arial"/>
              </a:rPr>
              <a:t> </a:t>
            </a:r>
            <a:r>
              <a:rPr sz="1600" spc="-10" dirty="0">
                <a:latin typeface="Arial"/>
                <a:cs typeface="Arial"/>
              </a:rPr>
              <a:t>needed.</a:t>
            </a:r>
            <a:endParaRPr sz="1600">
              <a:latin typeface="Arial"/>
              <a:cs typeface="Arial"/>
            </a:endParaRPr>
          </a:p>
        </p:txBody>
      </p:sp>
      <p:sp>
        <p:nvSpPr>
          <p:cNvPr id="4" name="object 4"/>
          <p:cNvSpPr txBox="1"/>
          <p:nvPr/>
        </p:nvSpPr>
        <p:spPr>
          <a:xfrm>
            <a:off x="714587" y="315340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5" name="object 5"/>
          <p:cNvSpPr txBox="1"/>
          <p:nvPr/>
        </p:nvSpPr>
        <p:spPr>
          <a:xfrm>
            <a:off x="1171785" y="3164840"/>
            <a:ext cx="10177779" cy="259045"/>
          </a:xfrm>
          <a:prstGeom prst="rect">
            <a:avLst/>
          </a:prstGeom>
        </p:spPr>
        <p:txBody>
          <a:bodyPr vert="horz" wrap="square" lIns="0" tIns="12700" rIns="0" bIns="0" rtlCol="0">
            <a:spAutoFit/>
          </a:bodyPr>
          <a:lstStyle/>
          <a:p>
            <a:pPr marL="12700" marR="5080">
              <a:lnSpc>
                <a:spcPct val="100000"/>
              </a:lnSpc>
              <a:spcBef>
                <a:spcPts val="100"/>
              </a:spcBef>
            </a:pPr>
            <a:r>
              <a:rPr sz="1600" spc="-5" dirty="0">
                <a:latin typeface="Arial"/>
                <a:cs typeface="Arial"/>
              </a:rPr>
              <a:t>After an application </a:t>
            </a:r>
            <a:r>
              <a:rPr sz="1600" dirty="0">
                <a:latin typeface="Arial"/>
                <a:cs typeface="Arial"/>
              </a:rPr>
              <a:t>is </a:t>
            </a:r>
            <a:r>
              <a:rPr sz="1600" spc="-5" dirty="0">
                <a:latin typeface="Arial"/>
                <a:cs typeface="Arial"/>
              </a:rPr>
              <a:t>loaded, any files that are opened </a:t>
            </a:r>
            <a:r>
              <a:rPr sz="1600" dirty="0">
                <a:latin typeface="Arial"/>
                <a:cs typeface="Arial"/>
              </a:rPr>
              <a:t>for </a:t>
            </a:r>
            <a:r>
              <a:rPr sz="1600" spc="-5" dirty="0">
                <a:latin typeface="Arial"/>
                <a:cs typeface="Arial"/>
              </a:rPr>
              <a:t>use </a:t>
            </a:r>
            <a:r>
              <a:rPr sz="1600" dirty="0">
                <a:latin typeface="Arial"/>
                <a:cs typeface="Arial"/>
              </a:rPr>
              <a:t>in </a:t>
            </a:r>
            <a:r>
              <a:rPr sz="1600" spc="-5" dirty="0">
                <a:latin typeface="Arial"/>
                <a:cs typeface="Arial"/>
              </a:rPr>
              <a:t>that application are  loaded into RAM.</a:t>
            </a:r>
            <a:endParaRPr sz="1600" dirty="0">
              <a:latin typeface="Arial"/>
              <a:cs typeface="Arial"/>
            </a:endParaRPr>
          </a:p>
        </p:txBody>
      </p:sp>
      <p:sp>
        <p:nvSpPr>
          <p:cNvPr id="6" name="object 6"/>
          <p:cNvSpPr txBox="1"/>
          <p:nvPr/>
        </p:nvSpPr>
        <p:spPr>
          <a:xfrm>
            <a:off x="714587" y="398525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7" name="object 7"/>
          <p:cNvSpPr txBox="1"/>
          <p:nvPr/>
        </p:nvSpPr>
        <p:spPr>
          <a:xfrm>
            <a:off x="1171786" y="3996690"/>
            <a:ext cx="9595273" cy="513080"/>
          </a:xfrm>
          <a:prstGeom prst="rect">
            <a:avLst/>
          </a:prstGeom>
        </p:spPr>
        <p:txBody>
          <a:bodyPr vert="horz" wrap="square" lIns="0" tIns="12700" rIns="0" bIns="0" rtlCol="0">
            <a:spAutoFit/>
          </a:bodyPr>
          <a:lstStyle/>
          <a:p>
            <a:pPr marL="12700" marR="5080">
              <a:lnSpc>
                <a:spcPct val="100000"/>
              </a:lnSpc>
              <a:spcBef>
                <a:spcPts val="100"/>
              </a:spcBef>
            </a:pPr>
            <a:r>
              <a:rPr sz="1600" spc="-5" dirty="0">
                <a:latin typeface="Arial"/>
                <a:cs typeface="Arial"/>
              </a:rPr>
              <a:t>When </a:t>
            </a:r>
            <a:r>
              <a:rPr sz="1600" dirty="0">
                <a:latin typeface="Arial"/>
                <a:cs typeface="Arial"/>
              </a:rPr>
              <a:t>you </a:t>
            </a:r>
            <a:r>
              <a:rPr sz="1600" spc="-5" dirty="0">
                <a:latin typeface="Arial"/>
                <a:cs typeface="Arial"/>
              </a:rPr>
              <a:t>save </a:t>
            </a:r>
            <a:r>
              <a:rPr sz="1600" dirty="0">
                <a:latin typeface="Arial"/>
                <a:cs typeface="Arial"/>
              </a:rPr>
              <a:t>a file </a:t>
            </a:r>
            <a:r>
              <a:rPr sz="1600" spc="-5" dirty="0">
                <a:latin typeface="Arial"/>
                <a:cs typeface="Arial"/>
              </a:rPr>
              <a:t>and close </a:t>
            </a:r>
            <a:r>
              <a:rPr sz="1600" dirty="0">
                <a:latin typeface="Arial"/>
                <a:cs typeface="Arial"/>
              </a:rPr>
              <a:t>the </a:t>
            </a:r>
            <a:r>
              <a:rPr sz="1600" spc="-5" dirty="0">
                <a:latin typeface="Arial"/>
                <a:cs typeface="Arial"/>
              </a:rPr>
              <a:t>application, the file </a:t>
            </a:r>
            <a:r>
              <a:rPr sz="1600" dirty="0">
                <a:latin typeface="Arial"/>
                <a:cs typeface="Arial"/>
              </a:rPr>
              <a:t>is </a:t>
            </a:r>
            <a:r>
              <a:rPr sz="1600" spc="-5" dirty="0">
                <a:latin typeface="Arial"/>
                <a:cs typeface="Arial"/>
              </a:rPr>
              <a:t>written to the specified  storage device, and then </a:t>
            </a:r>
            <a:r>
              <a:rPr sz="1600" dirty="0">
                <a:latin typeface="Arial"/>
                <a:cs typeface="Arial"/>
              </a:rPr>
              <a:t>it </a:t>
            </a:r>
            <a:r>
              <a:rPr sz="1600" spc="-5" dirty="0">
                <a:latin typeface="Arial"/>
                <a:cs typeface="Arial"/>
              </a:rPr>
              <a:t>and the application are purged from</a:t>
            </a:r>
            <a:r>
              <a:rPr sz="1600" dirty="0">
                <a:latin typeface="Arial"/>
                <a:cs typeface="Arial"/>
              </a:rPr>
              <a:t> </a:t>
            </a:r>
            <a:r>
              <a:rPr sz="1600" spc="-5" dirty="0">
                <a:latin typeface="Arial"/>
                <a:cs typeface="Arial"/>
              </a:rPr>
              <a:t>RAM.</a:t>
            </a:r>
            <a:endParaRPr sz="1600">
              <a:latin typeface="Arial"/>
              <a:cs typeface="Arial"/>
            </a:endParaRPr>
          </a:p>
        </p:txBody>
      </p:sp>
      <p:sp>
        <p:nvSpPr>
          <p:cNvPr id="8" name="object 8"/>
          <p:cNvSpPr txBox="1">
            <a:spLocks noGrp="1"/>
          </p:cNvSpPr>
          <p:nvPr>
            <p:ph type="title"/>
          </p:nvPr>
        </p:nvSpPr>
        <p:spPr>
          <a:xfrm>
            <a:off x="1490134" y="444500"/>
            <a:ext cx="9160933" cy="513080"/>
          </a:xfrm>
          <a:prstGeom prst="rect">
            <a:avLst/>
          </a:prstGeom>
        </p:spPr>
        <p:txBody>
          <a:bodyPr vert="horz" wrap="square" lIns="0" tIns="12700" rIns="0" bIns="0" rtlCol="0">
            <a:spAutoFit/>
          </a:bodyPr>
          <a:lstStyle/>
          <a:p>
            <a:pPr marL="12700">
              <a:lnSpc>
                <a:spcPct val="100000"/>
              </a:lnSpc>
              <a:spcBef>
                <a:spcPts val="100"/>
              </a:spcBef>
            </a:pPr>
            <a:r>
              <a:rPr sz="3200" spc="-5" dirty="0"/>
              <a:t>Role of </a:t>
            </a:r>
            <a:r>
              <a:rPr sz="3200" dirty="0"/>
              <a:t>Memory </a:t>
            </a:r>
            <a:r>
              <a:rPr sz="3200" spc="-5" dirty="0"/>
              <a:t>during </a:t>
            </a:r>
            <a:r>
              <a:rPr sz="3200" spc="-5" dirty="0" smtClean="0"/>
              <a:t>Boot-up</a:t>
            </a:r>
            <a:endParaRPr sz="16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65125"/>
            <a:ext cx="10515600" cy="751488"/>
          </a:xfrm>
          <a:prstGeom prst="rect">
            <a:avLst/>
          </a:prstGeom>
        </p:spPr>
        <p:txBody>
          <a:bodyPr vert="horz" wrap="square" lIns="0" tIns="12700" rIns="0" bIns="0" rtlCol="0">
            <a:spAutoFit/>
          </a:bodyPr>
          <a:lstStyle/>
          <a:p>
            <a:pPr algn="ctr">
              <a:lnSpc>
                <a:spcPct val="100000"/>
              </a:lnSpc>
              <a:spcBef>
                <a:spcPts val="100"/>
              </a:spcBef>
            </a:pPr>
            <a:r>
              <a:rPr sz="3200" dirty="0"/>
              <a:t>Memory</a:t>
            </a:r>
            <a:endParaRPr sz="3200"/>
          </a:p>
          <a:p>
            <a:pPr algn="ctr">
              <a:lnSpc>
                <a:spcPct val="100000"/>
              </a:lnSpc>
            </a:pPr>
            <a:r>
              <a:rPr sz="1600" b="0" i="1" u="sng" spc="-5" dirty="0">
                <a:uFill>
                  <a:solidFill>
                    <a:srgbClr val="000000"/>
                  </a:solidFill>
                </a:uFill>
                <a:latin typeface="Arial"/>
                <a:cs typeface="Arial"/>
              </a:rPr>
              <a:t>semiconductor-based integrated circuit</a:t>
            </a:r>
            <a:endParaRPr sz="1600">
              <a:latin typeface="Arial"/>
              <a:cs typeface="Arial"/>
            </a:endParaRPr>
          </a:p>
        </p:txBody>
      </p:sp>
      <p:sp>
        <p:nvSpPr>
          <p:cNvPr id="3" name="object 3"/>
          <p:cNvSpPr/>
          <p:nvPr/>
        </p:nvSpPr>
        <p:spPr>
          <a:xfrm>
            <a:off x="508000" y="1600200"/>
            <a:ext cx="5889413" cy="43434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502400" y="1600200"/>
            <a:ext cx="5384800" cy="434467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57506" y="402590"/>
            <a:ext cx="4677833" cy="513080"/>
          </a:xfrm>
          <a:prstGeom prst="rect">
            <a:avLst/>
          </a:prstGeom>
        </p:spPr>
        <p:txBody>
          <a:bodyPr vert="horz" wrap="square" lIns="0" tIns="12700" rIns="0" bIns="0" rtlCol="0">
            <a:spAutoFit/>
          </a:bodyPr>
          <a:lstStyle/>
          <a:p>
            <a:pPr marL="12700">
              <a:lnSpc>
                <a:spcPct val="100000"/>
              </a:lnSpc>
              <a:spcBef>
                <a:spcPts val="100"/>
              </a:spcBef>
            </a:pPr>
            <a:r>
              <a:rPr sz="3200" dirty="0"/>
              <a:t>Memory</a:t>
            </a:r>
            <a:r>
              <a:rPr sz="3200" spc="-90" dirty="0"/>
              <a:t> </a:t>
            </a:r>
            <a:r>
              <a:rPr sz="3200" dirty="0"/>
              <a:t>Structure</a:t>
            </a:r>
            <a:endParaRPr sz="3200"/>
          </a:p>
        </p:txBody>
      </p:sp>
      <p:grpSp>
        <p:nvGrpSpPr>
          <p:cNvPr id="3" name="object 3"/>
          <p:cNvGrpSpPr/>
          <p:nvPr/>
        </p:nvGrpSpPr>
        <p:grpSpPr>
          <a:xfrm>
            <a:off x="179070" y="1519237"/>
            <a:ext cx="8621607" cy="4927600"/>
            <a:chOff x="134302" y="1519237"/>
            <a:chExt cx="6466205" cy="4927600"/>
          </a:xfrm>
        </p:grpSpPr>
        <p:sp>
          <p:nvSpPr>
            <p:cNvPr id="4" name="object 4"/>
            <p:cNvSpPr/>
            <p:nvPr/>
          </p:nvSpPr>
          <p:spPr>
            <a:xfrm>
              <a:off x="148589" y="1880870"/>
              <a:ext cx="5895340" cy="4551680"/>
            </a:xfrm>
            <a:custGeom>
              <a:avLst/>
              <a:gdLst/>
              <a:ahLst/>
              <a:cxnLst/>
              <a:rect l="l" t="t" r="r" b="b"/>
              <a:pathLst>
                <a:path w="5895340" h="4551680">
                  <a:moveTo>
                    <a:pt x="1784350" y="4551680"/>
                  </a:moveTo>
                  <a:lnTo>
                    <a:pt x="1397000" y="4551680"/>
                  </a:lnTo>
                  <a:lnTo>
                    <a:pt x="1397000" y="624839"/>
                  </a:lnTo>
                </a:path>
                <a:path w="5895340" h="4551680">
                  <a:moveTo>
                    <a:pt x="4499610" y="232409"/>
                  </a:moveTo>
                  <a:lnTo>
                    <a:pt x="4499610" y="0"/>
                  </a:lnTo>
                  <a:lnTo>
                    <a:pt x="5895340" y="0"/>
                  </a:lnTo>
                  <a:lnTo>
                    <a:pt x="5895340" y="855979"/>
                  </a:lnTo>
                  <a:lnTo>
                    <a:pt x="2946400" y="855979"/>
                  </a:lnTo>
                  <a:lnTo>
                    <a:pt x="2946400" y="35559"/>
                  </a:lnTo>
                </a:path>
                <a:path w="5895340" h="4551680">
                  <a:moveTo>
                    <a:pt x="1397000" y="232409"/>
                  </a:moveTo>
                  <a:lnTo>
                    <a:pt x="1397000" y="0"/>
                  </a:lnTo>
                  <a:lnTo>
                    <a:pt x="0" y="0"/>
                  </a:lnTo>
                  <a:lnTo>
                    <a:pt x="0" y="855979"/>
                  </a:lnTo>
                  <a:lnTo>
                    <a:pt x="2946400" y="855979"/>
                  </a:lnTo>
                  <a:lnTo>
                    <a:pt x="2946400" y="35559"/>
                  </a:lnTo>
                </a:path>
                <a:path w="5895340" h="4551680">
                  <a:moveTo>
                    <a:pt x="4888230" y="1017269"/>
                  </a:moveTo>
                  <a:lnTo>
                    <a:pt x="4499610" y="1017269"/>
                  </a:lnTo>
                  <a:lnTo>
                    <a:pt x="4499610" y="624839"/>
                  </a:lnTo>
                </a:path>
                <a:path w="5895340" h="4551680">
                  <a:moveTo>
                    <a:pt x="3335020" y="3962400"/>
                  </a:moveTo>
                  <a:lnTo>
                    <a:pt x="2947670" y="3962400"/>
                  </a:lnTo>
                  <a:lnTo>
                    <a:pt x="2947670" y="2981960"/>
                  </a:lnTo>
                </a:path>
                <a:path w="5895340" h="4551680">
                  <a:moveTo>
                    <a:pt x="3335020" y="3374390"/>
                  </a:moveTo>
                  <a:lnTo>
                    <a:pt x="2947670" y="3374390"/>
                  </a:lnTo>
                  <a:lnTo>
                    <a:pt x="2947670" y="2981960"/>
                  </a:lnTo>
                </a:path>
                <a:path w="5895340" h="4551680">
                  <a:moveTo>
                    <a:pt x="3335020" y="2197099"/>
                  </a:moveTo>
                  <a:lnTo>
                    <a:pt x="2947670" y="2197099"/>
                  </a:lnTo>
                  <a:lnTo>
                    <a:pt x="2947670" y="1215389"/>
                  </a:lnTo>
                </a:path>
                <a:path w="5895340" h="4551680">
                  <a:moveTo>
                    <a:pt x="3335020" y="1607819"/>
                  </a:moveTo>
                  <a:lnTo>
                    <a:pt x="2947670" y="1607819"/>
                  </a:lnTo>
                  <a:lnTo>
                    <a:pt x="2947670" y="1215389"/>
                  </a:lnTo>
                </a:path>
                <a:path w="5895340" h="4551680">
                  <a:moveTo>
                    <a:pt x="1784350" y="2786379"/>
                  </a:moveTo>
                  <a:lnTo>
                    <a:pt x="1397000" y="2786379"/>
                  </a:lnTo>
                  <a:lnTo>
                    <a:pt x="1397000" y="624839"/>
                  </a:lnTo>
                </a:path>
                <a:path w="5895340" h="4551680">
                  <a:moveTo>
                    <a:pt x="1784350" y="1018539"/>
                  </a:moveTo>
                  <a:lnTo>
                    <a:pt x="1397000" y="1018539"/>
                  </a:lnTo>
                  <a:lnTo>
                    <a:pt x="1397000" y="624839"/>
                  </a:lnTo>
                </a:path>
              </a:pathLst>
            </a:custGeom>
            <a:ln w="28393">
              <a:solidFill>
                <a:srgbClr val="000000"/>
              </a:solidFill>
            </a:ln>
          </p:spPr>
          <p:txBody>
            <a:bodyPr wrap="square" lIns="0" tIns="0" rIns="0" bIns="0" rtlCol="0"/>
            <a:lstStyle/>
            <a:p>
              <a:endParaRPr/>
            </a:p>
          </p:txBody>
        </p:sp>
        <p:sp>
          <p:nvSpPr>
            <p:cNvPr id="5" name="object 5"/>
            <p:cNvSpPr/>
            <p:nvPr/>
          </p:nvSpPr>
          <p:spPr>
            <a:xfrm>
              <a:off x="1930400" y="1524000"/>
              <a:ext cx="2329180" cy="392430"/>
            </a:xfrm>
            <a:custGeom>
              <a:avLst/>
              <a:gdLst/>
              <a:ahLst/>
              <a:cxnLst/>
              <a:rect l="l" t="t" r="r" b="b"/>
              <a:pathLst>
                <a:path w="2329179" h="392430">
                  <a:moveTo>
                    <a:pt x="2264410" y="0"/>
                  </a:moveTo>
                  <a:lnTo>
                    <a:pt x="66039" y="0"/>
                  </a:lnTo>
                  <a:lnTo>
                    <a:pt x="41790" y="5476"/>
                  </a:lnTo>
                  <a:lnTo>
                    <a:pt x="20637" y="20002"/>
                  </a:lnTo>
                  <a:lnTo>
                    <a:pt x="5675" y="40719"/>
                  </a:lnTo>
                  <a:lnTo>
                    <a:pt x="0" y="64770"/>
                  </a:lnTo>
                  <a:lnTo>
                    <a:pt x="0" y="327660"/>
                  </a:lnTo>
                  <a:lnTo>
                    <a:pt x="5675" y="351174"/>
                  </a:lnTo>
                  <a:lnTo>
                    <a:pt x="20637" y="371951"/>
                  </a:lnTo>
                  <a:lnTo>
                    <a:pt x="41790" y="386774"/>
                  </a:lnTo>
                  <a:lnTo>
                    <a:pt x="66039" y="392429"/>
                  </a:lnTo>
                  <a:lnTo>
                    <a:pt x="2264410" y="392429"/>
                  </a:lnTo>
                  <a:lnTo>
                    <a:pt x="2287924" y="386774"/>
                  </a:lnTo>
                  <a:lnTo>
                    <a:pt x="2308701" y="371951"/>
                  </a:lnTo>
                  <a:lnTo>
                    <a:pt x="2323524" y="351174"/>
                  </a:lnTo>
                  <a:lnTo>
                    <a:pt x="2329179" y="327660"/>
                  </a:lnTo>
                  <a:lnTo>
                    <a:pt x="2329179" y="64770"/>
                  </a:lnTo>
                  <a:lnTo>
                    <a:pt x="2323524" y="40719"/>
                  </a:lnTo>
                  <a:lnTo>
                    <a:pt x="2308701" y="20002"/>
                  </a:lnTo>
                  <a:lnTo>
                    <a:pt x="2287924" y="5476"/>
                  </a:lnTo>
                  <a:lnTo>
                    <a:pt x="2264410" y="0"/>
                  </a:lnTo>
                  <a:close/>
                </a:path>
              </a:pathLst>
            </a:custGeom>
            <a:solidFill>
              <a:srgbClr val="BADFE2"/>
            </a:solidFill>
          </p:spPr>
          <p:txBody>
            <a:bodyPr wrap="square" lIns="0" tIns="0" rIns="0" bIns="0" rtlCol="0"/>
            <a:lstStyle/>
            <a:p>
              <a:endParaRPr/>
            </a:p>
          </p:txBody>
        </p:sp>
        <p:sp>
          <p:nvSpPr>
            <p:cNvPr id="6" name="object 6"/>
            <p:cNvSpPr/>
            <p:nvPr/>
          </p:nvSpPr>
          <p:spPr>
            <a:xfrm>
              <a:off x="1930400" y="1524000"/>
              <a:ext cx="2329180" cy="392430"/>
            </a:xfrm>
            <a:custGeom>
              <a:avLst/>
              <a:gdLst/>
              <a:ahLst/>
              <a:cxnLst/>
              <a:rect l="l" t="t" r="r" b="b"/>
              <a:pathLst>
                <a:path w="2329179" h="392430">
                  <a:moveTo>
                    <a:pt x="66039" y="0"/>
                  </a:moveTo>
                  <a:lnTo>
                    <a:pt x="41790" y="5476"/>
                  </a:lnTo>
                  <a:lnTo>
                    <a:pt x="20637" y="20002"/>
                  </a:lnTo>
                  <a:lnTo>
                    <a:pt x="5675" y="40719"/>
                  </a:lnTo>
                  <a:lnTo>
                    <a:pt x="0" y="64770"/>
                  </a:lnTo>
                  <a:lnTo>
                    <a:pt x="0" y="327660"/>
                  </a:lnTo>
                  <a:lnTo>
                    <a:pt x="5675" y="351174"/>
                  </a:lnTo>
                  <a:lnTo>
                    <a:pt x="20637" y="371951"/>
                  </a:lnTo>
                  <a:lnTo>
                    <a:pt x="41790" y="386774"/>
                  </a:lnTo>
                  <a:lnTo>
                    <a:pt x="66039" y="392429"/>
                  </a:lnTo>
                  <a:lnTo>
                    <a:pt x="2264410" y="392429"/>
                  </a:lnTo>
                  <a:lnTo>
                    <a:pt x="2287924" y="386774"/>
                  </a:lnTo>
                  <a:lnTo>
                    <a:pt x="2308701" y="371951"/>
                  </a:lnTo>
                  <a:lnTo>
                    <a:pt x="2323524" y="351174"/>
                  </a:lnTo>
                  <a:lnTo>
                    <a:pt x="2329179" y="327660"/>
                  </a:lnTo>
                  <a:lnTo>
                    <a:pt x="2329179" y="64770"/>
                  </a:lnTo>
                  <a:lnTo>
                    <a:pt x="2323524" y="40719"/>
                  </a:lnTo>
                  <a:lnTo>
                    <a:pt x="2308701" y="20002"/>
                  </a:lnTo>
                  <a:lnTo>
                    <a:pt x="2287924" y="5476"/>
                  </a:lnTo>
                  <a:lnTo>
                    <a:pt x="2264410" y="0"/>
                  </a:lnTo>
                  <a:lnTo>
                    <a:pt x="66039" y="0"/>
                  </a:lnTo>
                  <a:close/>
                </a:path>
              </a:pathLst>
            </a:custGeom>
            <a:ln w="9344">
              <a:solidFill>
                <a:srgbClr val="000000"/>
              </a:solidFill>
            </a:ln>
          </p:spPr>
          <p:txBody>
            <a:bodyPr wrap="square" lIns="0" tIns="0" rIns="0" bIns="0" rtlCol="0"/>
            <a:lstStyle/>
            <a:p>
              <a:endParaRPr/>
            </a:p>
          </p:txBody>
        </p:sp>
        <p:sp>
          <p:nvSpPr>
            <p:cNvPr id="7" name="object 7"/>
            <p:cNvSpPr/>
            <p:nvPr/>
          </p:nvSpPr>
          <p:spPr>
            <a:xfrm>
              <a:off x="6198869" y="3094989"/>
              <a:ext cx="387350" cy="982980"/>
            </a:xfrm>
            <a:custGeom>
              <a:avLst/>
              <a:gdLst/>
              <a:ahLst/>
              <a:cxnLst/>
              <a:rect l="l" t="t" r="r" b="b"/>
              <a:pathLst>
                <a:path w="387350" h="982979">
                  <a:moveTo>
                    <a:pt x="387350" y="982980"/>
                  </a:moveTo>
                  <a:lnTo>
                    <a:pt x="0" y="982980"/>
                  </a:lnTo>
                  <a:lnTo>
                    <a:pt x="0" y="0"/>
                  </a:lnTo>
                </a:path>
                <a:path w="387350" h="982979">
                  <a:moveTo>
                    <a:pt x="387350" y="393700"/>
                  </a:moveTo>
                  <a:lnTo>
                    <a:pt x="0" y="393700"/>
                  </a:lnTo>
                  <a:lnTo>
                    <a:pt x="0" y="0"/>
                  </a:lnTo>
                </a:path>
              </a:pathLst>
            </a:custGeom>
            <a:ln w="28393">
              <a:solidFill>
                <a:srgbClr val="000000"/>
              </a:solidFill>
            </a:ln>
          </p:spPr>
          <p:txBody>
            <a:bodyPr wrap="square" lIns="0" tIns="0" rIns="0" bIns="0" rtlCol="0"/>
            <a:lstStyle/>
            <a:p>
              <a:endParaRPr/>
            </a:p>
          </p:txBody>
        </p:sp>
      </p:grpSp>
      <p:sp>
        <p:nvSpPr>
          <p:cNvPr id="8" name="object 8"/>
          <p:cNvSpPr txBox="1"/>
          <p:nvPr/>
        </p:nvSpPr>
        <p:spPr>
          <a:xfrm>
            <a:off x="3804919" y="1630679"/>
            <a:ext cx="641773" cy="166712"/>
          </a:xfrm>
          <a:prstGeom prst="rect">
            <a:avLst/>
          </a:prstGeom>
        </p:spPr>
        <p:txBody>
          <a:bodyPr vert="horz" wrap="square" lIns="0" tIns="12700" rIns="0" bIns="0" rtlCol="0">
            <a:spAutoFit/>
          </a:bodyPr>
          <a:lstStyle/>
          <a:p>
            <a:pPr marL="12700">
              <a:lnSpc>
                <a:spcPct val="100000"/>
              </a:lnSpc>
              <a:spcBef>
                <a:spcPts val="100"/>
              </a:spcBef>
            </a:pPr>
            <a:r>
              <a:rPr sz="1000" spc="-10" dirty="0">
                <a:latin typeface="Arial"/>
                <a:cs typeface="Arial"/>
              </a:rPr>
              <a:t>Memory</a:t>
            </a:r>
            <a:endParaRPr sz="1000">
              <a:latin typeface="Arial"/>
              <a:cs typeface="Arial"/>
            </a:endParaRPr>
          </a:p>
        </p:txBody>
      </p:sp>
      <p:grpSp>
        <p:nvGrpSpPr>
          <p:cNvPr id="9" name="object 9"/>
          <p:cNvGrpSpPr/>
          <p:nvPr/>
        </p:nvGrpSpPr>
        <p:grpSpPr>
          <a:xfrm>
            <a:off x="501650" y="2108518"/>
            <a:ext cx="3118273" cy="401955"/>
            <a:chOff x="376237" y="2108517"/>
            <a:chExt cx="2338705" cy="401955"/>
          </a:xfrm>
        </p:grpSpPr>
        <p:sp>
          <p:nvSpPr>
            <p:cNvPr id="10" name="object 10"/>
            <p:cNvSpPr/>
            <p:nvPr/>
          </p:nvSpPr>
          <p:spPr>
            <a:xfrm>
              <a:off x="381000" y="2113279"/>
              <a:ext cx="2329180" cy="392430"/>
            </a:xfrm>
            <a:custGeom>
              <a:avLst/>
              <a:gdLst/>
              <a:ahLst/>
              <a:cxnLst/>
              <a:rect l="l" t="t" r="r" b="b"/>
              <a:pathLst>
                <a:path w="2329180" h="392430">
                  <a:moveTo>
                    <a:pt x="2263140" y="0"/>
                  </a:moveTo>
                  <a:lnTo>
                    <a:pt x="64770" y="0"/>
                  </a:lnTo>
                  <a:lnTo>
                    <a:pt x="40719" y="5476"/>
                  </a:lnTo>
                  <a:lnTo>
                    <a:pt x="20002" y="20002"/>
                  </a:lnTo>
                  <a:lnTo>
                    <a:pt x="5476" y="40719"/>
                  </a:lnTo>
                  <a:lnTo>
                    <a:pt x="0" y="64770"/>
                  </a:lnTo>
                  <a:lnTo>
                    <a:pt x="0" y="327660"/>
                  </a:lnTo>
                  <a:lnTo>
                    <a:pt x="5476" y="351174"/>
                  </a:lnTo>
                  <a:lnTo>
                    <a:pt x="20002" y="371951"/>
                  </a:lnTo>
                  <a:lnTo>
                    <a:pt x="40719" y="386774"/>
                  </a:lnTo>
                  <a:lnTo>
                    <a:pt x="64770" y="392430"/>
                  </a:lnTo>
                  <a:lnTo>
                    <a:pt x="2263140" y="392430"/>
                  </a:lnTo>
                  <a:lnTo>
                    <a:pt x="2287389" y="386774"/>
                  </a:lnTo>
                  <a:lnTo>
                    <a:pt x="2308542" y="371951"/>
                  </a:lnTo>
                  <a:lnTo>
                    <a:pt x="2323504" y="351174"/>
                  </a:lnTo>
                  <a:lnTo>
                    <a:pt x="2329180" y="327660"/>
                  </a:lnTo>
                  <a:lnTo>
                    <a:pt x="2329180" y="64770"/>
                  </a:lnTo>
                  <a:lnTo>
                    <a:pt x="2323504" y="40719"/>
                  </a:lnTo>
                  <a:lnTo>
                    <a:pt x="2308542" y="20002"/>
                  </a:lnTo>
                  <a:lnTo>
                    <a:pt x="2287389" y="5476"/>
                  </a:lnTo>
                  <a:lnTo>
                    <a:pt x="2263140" y="0"/>
                  </a:lnTo>
                  <a:close/>
                </a:path>
              </a:pathLst>
            </a:custGeom>
            <a:solidFill>
              <a:srgbClr val="FF7B7F"/>
            </a:solidFill>
          </p:spPr>
          <p:txBody>
            <a:bodyPr wrap="square" lIns="0" tIns="0" rIns="0" bIns="0" rtlCol="0"/>
            <a:lstStyle/>
            <a:p>
              <a:endParaRPr/>
            </a:p>
          </p:txBody>
        </p:sp>
        <p:sp>
          <p:nvSpPr>
            <p:cNvPr id="11" name="object 11"/>
            <p:cNvSpPr/>
            <p:nvPr/>
          </p:nvSpPr>
          <p:spPr>
            <a:xfrm>
              <a:off x="381000" y="2113279"/>
              <a:ext cx="2329180" cy="392430"/>
            </a:xfrm>
            <a:custGeom>
              <a:avLst/>
              <a:gdLst/>
              <a:ahLst/>
              <a:cxnLst/>
              <a:rect l="l" t="t" r="r" b="b"/>
              <a:pathLst>
                <a:path w="2329180" h="392430">
                  <a:moveTo>
                    <a:pt x="64770" y="0"/>
                  </a:moveTo>
                  <a:lnTo>
                    <a:pt x="40719" y="5476"/>
                  </a:lnTo>
                  <a:lnTo>
                    <a:pt x="20002" y="20002"/>
                  </a:lnTo>
                  <a:lnTo>
                    <a:pt x="5476" y="40719"/>
                  </a:lnTo>
                  <a:lnTo>
                    <a:pt x="0" y="64770"/>
                  </a:lnTo>
                  <a:lnTo>
                    <a:pt x="0" y="327660"/>
                  </a:lnTo>
                  <a:lnTo>
                    <a:pt x="5476" y="351174"/>
                  </a:lnTo>
                  <a:lnTo>
                    <a:pt x="20002" y="371951"/>
                  </a:lnTo>
                  <a:lnTo>
                    <a:pt x="40719" y="386774"/>
                  </a:lnTo>
                  <a:lnTo>
                    <a:pt x="64770" y="392430"/>
                  </a:lnTo>
                  <a:lnTo>
                    <a:pt x="2263140" y="392430"/>
                  </a:lnTo>
                  <a:lnTo>
                    <a:pt x="2287389" y="386774"/>
                  </a:lnTo>
                  <a:lnTo>
                    <a:pt x="2308542" y="371951"/>
                  </a:lnTo>
                  <a:lnTo>
                    <a:pt x="2323504" y="351174"/>
                  </a:lnTo>
                  <a:lnTo>
                    <a:pt x="2329180" y="327660"/>
                  </a:lnTo>
                  <a:lnTo>
                    <a:pt x="2329180" y="64770"/>
                  </a:lnTo>
                  <a:lnTo>
                    <a:pt x="2323504" y="40719"/>
                  </a:lnTo>
                  <a:lnTo>
                    <a:pt x="2308542" y="20002"/>
                  </a:lnTo>
                  <a:lnTo>
                    <a:pt x="2287389" y="5476"/>
                  </a:lnTo>
                  <a:lnTo>
                    <a:pt x="2263140" y="0"/>
                  </a:lnTo>
                  <a:lnTo>
                    <a:pt x="64770" y="0"/>
                  </a:lnTo>
                  <a:close/>
                </a:path>
              </a:pathLst>
            </a:custGeom>
            <a:ln w="9344">
              <a:solidFill>
                <a:srgbClr val="000000"/>
              </a:solidFill>
            </a:ln>
          </p:spPr>
          <p:txBody>
            <a:bodyPr wrap="square" lIns="0" tIns="0" rIns="0" bIns="0" rtlCol="0"/>
            <a:lstStyle/>
            <a:p>
              <a:endParaRPr/>
            </a:p>
          </p:txBody>
        </p:sp>
      </p:grpSp>
      <p:sp>
        <p:nvSpPr>
          <p:cNvPr id="12" name="object 12"/>
          <p:cNvSpPr txBox="1"/>
          <p:nvPr/>
        </p:nvSpPr>
        <p:spPr>
          <a:xfrm>
            <a:off x="1591733" y="2219959"/>
            <a:ext cx="939800" cy="166712"/>
          </a:xfrm>
          <a:prstGeom prst="rect">
            <a:avLst/>
          </a:prstGeom>
        </p:spPr>
        <p:txBody>
          <a:bodyPr vert="horz" wrap="square" lIns="0" tIns="12700" rIns="0" bIns="0" rtlCol="0">
            <a:spAutoFit/>
          </a:bodyPr>
          <a:lstStyle/>
          <a:p>
            <a:pPr marL="12700">
              <a:lnSpc>
                <a:spcPct val="100000"/>
              </a:lnSpc>
              <a:spcBef>
                <a:spcPts val="100"/>
              </a:spcBef>
            </a:pPr>
            <a:r>
              <a:rPr sz="1000" spc="-5" dirty="0">
                <a:latin typeface="Arial"/>
                <a:cs typeface="Arial"/>
                <a:hlinkClick r:id="rId2" action="ppaction://hlinksldjump"/>
              </a:rPr>
              <a:t>Non</a:t>
            </a:r>
            <a:r>
              <a:rPr sz="1000" spc="-60" dirty="0">
                <a:latin typeface="Arial"/>
                <a:cs typeface="Arial"/>
                <a:hlinkClick r:id="rId2" action="ppaction://hlinksldjump"/>
              </a:rPr>
              <a:t> </a:t>
            </a:r>
            <a:r>
              <a:rPr sz="1000" spc="-10" dirty="0">
                <a:latin typeface="Arial"/>
                <a:cs typeface="Arial"/>
                <a:hlinkClick r:id="rId2" action="ppaction://hlinksldjump"/>
              </a:rPr>
              <a:t>Volatile</a:t>
            </a:r>
            <a:endParaRPr sz="1000">
              <a:latin typeface="Arial"/>
              <a:cs typeface="Arial"/>
            </a:endParaRPr>
          </a:p>
        </p:txBody>
      </p:sp>
      <p:grpSp>
        <p:nvGrpSpPr>
          <p:cNvPr id="13" name="object 13"/>
          <p:cNvGrpSpPr/>
          <p:nvPr/>
        </p:nvGrpSpPr>
        <p:grpSpPr>
          <a:xfrm>
            <a:off x="4638464" y="2108518"/>
            <a:ext cx="3118273" cy="401955"/>
            <a:chOff x="3478847" y="2108517"/>
            <a:chExt cx="2338705" cy="401955"/>
          </a:xfrm>
        </p:grpSpPr>
        <p:sp>
          <p:nvSpPr>
            <p:cNvPr id="14" name="object 14"/>
            <p:cNvSpPr/>
            <p:nvPr/>
          </p:nvSpPr>
          <p:spPr>
            <a:xfrm>
              <a:off x="3483609" y="2113279"/>
              <a:ext cx="2329180" cy="392430"/>
            </a:xfrm>
            <a:custGeom>
              <a:avLst/>
              <a:gdLst/>
              <a:ahLst/>
              <a:cxnLst/>
              <a:rect l="l" t="t" r="r" b="b"/>
              <a:pathLst>
                <a:path w="2329179" h="392430">
                  <a:moveTo>
                    <a:pt x="2263140" y="0"/>
                  </a:moveTo>
                  <a:lnTo>
                    <a:pt x="64769" y="0"/>
                  </a:lnTo>
                  <a:lnTo>
                    <a:pt x="41255" y="5476"/>
                  </a:lnTo>
                  <a:lnTo>
                    <a:pt x="20478" y="20002"/>
                  </a:lnTo>
                  <a:lnTo>
                    <a:pt x="5655" y="40719"/>
                  </a:lnTo>
                  <a:lnTo>
                    <a:pt x="0" y="64770"/>
                  </a:lnTo>
                  <a:lnTo>
                    <a:pt x="0" y="327660"/>
                  </a:lnTo>
                  <a:lnTo>
                    <a:pt x="5655" y="351174"/>
                  </a:lnTo>
                  <a:lnTo>
                    <a:pt x="20478" y="371951"/>
                  </a:lnTo>
                  <a:lnTo>
                    <a:pt x="41255" y="386774"/>
                  </a:lnTo>
                  <a:lnTo>
                    <a:pt x="64769" y="392430"/>
                  </a:lnTo>
                  <a:lnTo>
                    <a:pt x="2263140" y="392430"/>
                  </a:lnTo>
                  <a:lnTo>
                    <a:pt x="2287389" y="386774"/>
                  </a:lnTo>
                  <a:lnTo>
                    <a:pt x="2308542" y="371951"/>
                  </a:lnTo>
                  <a:lnTo>
                    <a:pt x="2323504" y="351174"/>
                  </a:lnTo>
                  <a:lnTo>
                    <a:pt x="2329179" y="327660"/>
                  </a:lnTo>
                  <a:lnTo>
                    <a:pt x="2329179" y="64770"/>
                  </a:lnTo>
                  <a:lnTo>
                    <a:pt x="2323504" y="40719"/>
                  </a:lnTo>
                  <a:lnTo>
                    <a:pt x="2308542" y="20002"/>
                  </a:lnTo>
                  <a:lnTo>
                    <a:pt x="2287389" y="5476"/>
                  </a:lnTo>
                  <a:lnTo>
                    <a:pt x="2263140" y="0"/>
                  </a:lnTo>
                  <a:close/>
                </a:path>
              </a:pathLst>
            </a:custGeom>
            <a:solidFill>
              <a:srgbClr val="009898"/>
            </a:solidFill>
          </p:spPr>
          <p:txBody>
            <a:bodyPr wrap="square" lIns="0" tIns="0" rIns="0" bIns="0" rtlCol="0"/>
            <a:lstStyle/>
            <a:p>
              <a:endParaRPr/>
            </a:p>
          </p:txBody>
        </p:sp>
        <p:sp>
          <p:nvSpPr>
            <p:cNvPr id="15" name="object 15"/>
            <p:cNvSpPr/>
            <p:nvPr/>
          </p:nvSpPr>
          <p:spPr>
            <a:xfrm>
              <a:off x="3483609" y="2113279"/>
              <a:ext cx="2329180" cy="392430"/>
            </a:xfrm>
            <a:custGeom>
              <a:avLst/>
              <a:gdLst/>
              <a:ahLst/>
              <a:cxnLst/>
              <a:rect l="l" t="t" r="r" b="b"/>
              <a:pathLst>
                <a:path w="2329179" h="392430">
                  <a:moveTo>
                    <a:pt x="64769" y="0"/>
                  </a:moveTo>
                  <a:lnTo>
                    <a:pt x="41255" y="5476"/>
                  </a:lnTo>
                  <a:lnTo>
                    <a:pt x="20478" y="20002"/>
                  </a:lnTo>
                  <a:lnTo>
                    <a:pt x="5655" y="40719"/>
                  </a:lnTo>
                  <a:lnTo>
                    <a:pt x="0" y="64770"/>
                  </a:lnTo>
                  <a:lnTo>
                    <a:pt x="0" y="327660"/>
                  </a:lnTo>
                  <a:lnTo>
                    <a:pt x="5655" y="351174"/>
                  </a:lnTo>
                  <a:lnTo>
                    <a:pt x="20478" y="371951"/>
                  </a:lnTo>
                  <a:lnTo>
                    <a:pt x="41255" y="386774"/>
                  </a:lnTo>
                  <a:lnTo>
                    <a:pt x="64769" y="392430"/>
                  </a:lnTo>
                  <a:lnTo>
                    <a:pt x="2263140" y="392430"/>
                  </a:lnTo>
                  <a:lnTo>
                    <a:pt x="2287389" y="386774"/>
                  </a:lnTo>
                  <a:lnTo>
                    <a:pt x="2308542" y="371951"/>
                  </a:lnTo>
                  <a:lnTo>
                    <a:pt x="2323504" y="351174"/>
                  </a:lnTo>
                  <a:lnTo>
                    <a:pt x="2329179" y="327660"/>
                  </a:lnTo>
                  <a:lnTo>
                    <a:pt x="2329179" y="64770"/>
                  </a:lnTo>
                  <a:lnTo>
                    <a:pt x="2323504" y="40719"/>
                  </a:lnTo>
                  <a:lnTo>
                    <a:pt x="2308542" y="20002"/>
                  </a:lnTo>
                  <a:lnTo>
                    <a:pt x="2287389" y="5476"/>
                  </a:lnTo>
                  <a:lnTo>
                    <a:pt x="2263140" y="0"/>
                  </a:lnTo>
                  <a:lnTo>
                    <a:pt x="64769" y="0"/>
                  </a:lnTo>
                  <a:close/>
                </a:path>
              </a:pathLst>
            </a:custGeom>
            <a:ln w="9344">
              <a:solidFill>
                <a:srgbClr val="000000"/>
              </a:solidFill>
            </a:ln>
          </p:spPr>
          <p:txBody>
            <a:bodyPr wrap="square" lIns="0" tIns="0" rIns="0" bIns="0" rtlCol="0"/>
            <a:lstStyle/>
            <a:p>
              <a:endParaRPr/>
            </a:p>
          </p:txBody>
        </p:sp>
      </p:grpSp>
      <p:sp>
        <p:nvSpPr>
          <p:cNvPr id="16" name="object 16"/>
          <p:cNvSpPr txBox="1"/>
          <p:nvPr/>
        </p:nvSpPr>
        <p:spPr>
          <a:xfrm>
            <a:off x="5906345" y="2219959"/>
            <a:ext cx="584200" cy="166712"/>
          </a:xfrm>
          <a:prstGeom prst="rect">
            <a:avLst/>
          </a:prstGeom>
        </p:spPr>
        <p:txBody>
          <a:bodyPr vert="horz" wrap="square" lIns="0" tIns="12700" rIns="0" bIns="0" rtlCol="0">
            <a:spAutoFit/>
          </a:bodyPr>
          <a:lstStyle/>
          <a:p>
            <a:pPr marL="12700">
              <a:lnSpc>
                <a:spcPct val="100000"/>
              </a:lnSpc>
              <a:spcBef>
                <a:spcPts val="100"/>
              </a:spcBef>
            </a:pPr>
            <a:r>
              <a:rPr sz="1000" spc="-10" dirty="0">
                <a:latin typeface="Arial"/>
                <a:cs typeface="Arial"/>
                <a:hlinkClick r:id="rId3" action="ppaction://hlinksldjump"/>
              </a:rPr>
              <a:t>Volatile</a:t>
            </a:r>
            <a:endParaRPr sz="1000">
              <a:latin typeface="Arial"/>
              <a:cs typeface="Arial"/>
            </a:endParaRPr>
          </a:p>
        </p:txBody>
      </p:sp>
      <p:grpSp>
        <p:nvGrpSpPr>
          <p:cNvPr id="17" name="object 17"/>
          <p:cNvGrpSpPr/>
          <p:nvPr/>
        </p:nvGrpSpPr>
        <p:grpSpPr>
          <a:xfrm>
            <a:off x="2570903" y="6230938"/>
            <a:ext cx="3116580" cy="403225"/>
            <a:chOff x="1928177" y="6230937"/>
            <a:chExt cx="2337435" cy="403225"/>
          </a:xfrm>
        </p:grpSpPr>
        <p:sp>
          <p:nvSpPr>
            <p:cNvPr id="18" name="object 18"/>
            <p:cNvSpPr/>
            <p:nvPr/>
          </p:nvSpPr>
          <p:spPr>
            <a:xfrm>
              <a:off x="1932939" y="6235700"/>
              <a:ext cx="2327910" cy="393700"/>
            </a:xfrm>
            <a:custGeom>
              <a:avLst/>
              <a:gdLst/>
              <a:ahLst/>
              <a:cxnLst/>
              <a:rect l="l" t="t" r="r" b="b"/>
              <a:pathLst>
                <a:path w="2327910" h="393700">
                  <a:moveTo>
                    <a:pt x="2261870" y="0"/>
                  </a:moveTo>
                  <a:lnTo>
                    <a:pt x="66040" y="0"/>
                  </a:lnTo>
                  <a:lnTo>
                    <a:pt x="41790" y="5675"/>
                  </a:lnTo>
                  <a:lnTo>
                    <a:pt x="20637" y="20637"/>
                  </a:lnTo>
                  <a:lnTo>
                    <a:pt x="5675" y="41790"/>
                  </a:lnTo>
                  <a:lnTo>
                    <a:pt x="0" y="66040"/>
                  </a:lnTo>
                  <a:lnTo>
                    <a:pt x="0" y="327660"/>
                  </a:lnTo>
                  <a:lnTo>
                    <a:pt x="5675" y="351909"/>
                  </a:lnTo>
                  <a:lnTo>
                    <a:pt x="20637" y="373062"/>
                  </a:lnTo>
                  <a:lnTo>
                    <a:pt x="41790" y="388024"/>
                  </a:lnTo>
                  <a:lnTo>
                    <a:pt x="66040" y="393700"/>
                  </a:lnTo>
                  <a:lnTo>
                    <a:pt x="2261870" y="393700"/>
                  </a:lnTo>
                  <a:lnTo>
                    <a:pt x="2286119" y="388024"/>
                  </a:lnTo>
                  <a:lnTo>
                    <a:pt x="2307272" y="373062"/>
                  </a:lnTo>
                  <a:lnTo>
                    <a:pt x="2322234" y="351909"/>
                  </a:lnTo>
                  <a:lnTo>
                    <a:pt x="2327910" y="327660"/>
                  </a:lnTo>
                  <a:lnTo>
                    <a:pt x="2327910" y="66040"/>
                  </a:lnTo>
                  <a:lnTo>
                    <a:pt x="2322234" y="41790"/>
                  </a:lnTo>
                  <a:lnTo>
                    <a:pt x="2307272" y="20637"/>
                  </a:lnTo>
                  <a:lnTo>
                    <a:pt x="2286119" y="5675"/>
                  </a:lnTo>
                  <a:lnTo>
                    <a:pt x="2261870" y="0"/>
                  </a:lnTo>
                  <a:close/>
                </a:path>
              </a:pathLst>
            </a:custGeom>
            <a:solidFill>
              <a:srgbClr val="FF7B7F"/>
            </a:solidFill>
          </p:spPr>
          <p:txBody>
            <a:bodyPr wrap="square" lIns="0" tIns="0" rIns="0" bIns="0" rtlCol="0"/>
            <a:lstStyle/>
            <a:p>
              <a:endParaRPr/>
            </a:p>
          </p:txBody>
        </p:sp>
        <p:sp>
          <p:nvSpPr>
            <p:cNvPr id="19" name="object 19"/>
            <p:cNvSpPr/>
            <p:nvPr/>
          </p:nvSpPr>
          <p:spPr>
            <a:xfrm>
              <a:off x="1932939" y="6235700"/>
              <a:ext cx="2327910" cy="393700"/>
            </a:xfrm>
            <a:custGeom>
              <a:avLst/>
              <a:gdLst/>
              <a:ahLst/>
              <a:cxnLst/>
              <a:rect l="l" t="t" r="r" b="b"/>
              <a:pathLst>
                <a:path w="2327910" h="393700">
                  <a:moveTo>
                    <a:pt x="66040" y="0"/>
                  </a:moveTo>
                  <a:lnTo>
                    <a:pt x="41790" y="5675"/>
                  </a:lnTo>
                  <a:lnTo>
                    <a:pt x="20637" y="20637"/>
                  </a:lnTo>
                  <a:lnTo>
                    <a:pt x="5675" y="41790"/>
                  </a:lnTo>
                  <a:lnTo>
                    <a:pt x="0" y="66040"/>
                  </a:lnTo>
                  <a:lnTo>
                    <a:pt x="0" y="327660"/>
                  </a:lnTo>
                  <a:lnTo>
                    <a:pt x="5675" y="351909"/>
                  </a:lnTo>
                  <a:lnTo>
                    <a:pt x="20637" y="373062"/>
                  </a:lnTo>
                  <a:lnTo>
                    <a:pt x="41790" y="388024"/>
                  </a:lnTo>
                  <a:lnTo>
                    <a:pt x="66040" y="393700"/>
                  </a:lnTo>
                  <a:lnTo>
                    <a:pt x="2261870" y="393700"/>
                  </a:lnTo>
                  <a:lnTo>
                    <a:pt x="2286119" y="388024"/>
                  </a:lnTo>
                  <a:lnTo>
                    <a:pt x="2307272" y="373062"/>
                  </a:lnTo>
                  <a:lnTo>
                    <a:pt x="2322234" y="351909"/>
                  </a:lnTo>
                  <a:lnTo>
                    <a:pt x="2327910" y="327660"/>
                  </a:lnTo>
                  <a:lnTo>
                    <a:pt x="2327910" y="66040"/>
                  </a:lnTo>
                  <a:lnTo>
                    <a:pt x="2322234" y="41790"/>
                  </a:lnTo>
                  <a:lnTo>
                    <a:pt x="2307272" y="20637"/>
                  </a:lnTo>
                  <a:lnTo>
                    <a:pt x="2286119" y="5675"/>
                  </a:lnTo>
                  <a:lnTo>
                    <a:pt x="2261870" y="0"/>
                  </a:lnTo>
                  <a:lnTo>
                    <a:pt x="66040" y="0"/>
                  </a:lnTo>
                  <a:close/>
                </a:path>
              </a:pathLst>
            </a:custGeom>
            <a:ln w="9344">
              <a:solidFill>
                <a:srgbClr val="000000"/>
              </a:solidFill>
            </a:ln>
          </p:spPr>
          <p:txBody>
            <a:bodyPr wrap="square" lIns="0" tIns="0" rIns="0" bIns="0" rtlCol="0"/>
            <a:lstStyle/>
            <a:p>
              <a:endParaRPr/>
            </a:p>
          </p:txBody>
        </p:sp>
      </p:grpSp>
      <p:sp>
        <p:nvSpPr>
          <p:cNvPr id="20" name="object 20"/>
          <p:cNvSpPr txBox="1"/>
          <p:nvPr/>
        </p:nvSpPr>
        <p:spPr>
          <a:xfrm>
            <a:off x="2619586" y="6282690"/>
            <a:ext cx="3020060" cy="299720"/>
          </a:xfrm>
          <a:prstGeom prst="rect">
            <a:avLst/>
          </a:prstGeom>
        </p:spPr>
        <p:txBody>
          <a:bodyPr vert="horz" wrap="square" lIns="0" tIns="12700" rIns="0" bIns="0" rtlCol="0">
            <a:spAutoFit/>
          </a:bodyPr>
          <a:lstStyle/>
          <a:p>
            <a:pPr marL="220979" marR="5080" indent="-208279">
              <a:lnSpc>
                <a:spcPct val="100000"/>
              </a:lnSpc>
              <a:spcBef>
                <a:spcPts val="100"/>
              </a:spcBef>
            </a:pPr>
            <a:r>
              <a:rPr sz="900" spc="-5" dirty="0">
                <a:latin typeface="Arial"/>
                <a:cs typeface="Arial"/>
              </a:rPr>
              <a:t>Hard-Disk, CD, DVD, Floppy </a:t>
            </a:r>
            <a:r>
              <a:rPr sz="900" dirty="0">
                <a:latin typeface="Arial"/>
                <a:cs typeface="Arial"/>
              </a:rPr>
              <a:t>Disk, </a:t>
            </a:r>
            <a:r>
              <a:rPr sz="900" spc="-5" dirty="0">
                <a:latin typeface="Arial"/>
                <a:cs typeface="Arial"/>
              </a:rPr>
              <a:t>Magnetic  </a:t>
            </a:r>
            <a:r>
              <a:rPr sz="900" dirty="0">
                <a:latin typeface="Arial"/>
                <a:cs typeface="Arial"/>
              </a:rPr>
              <a:t>Tape, </a:t>
            </a:r>
            <a:r>
              <a:rPr sz="900" spc="-5" dirty="0">
                <a:latin typeface="Arial"/>
                <a:cs typeface="Arial"/>
              </a:rPr>
              <a:t>USB </a:t>
            </a:r>
            <a:r>
              <a:rPr sz="900" dirty="0">
                <a:latin typeface="Arial"/>
                <a:cs typeface="Arial"/>
              </a:rPr>
              <a:t>Flash </a:t>
            </a:r>
            <a:r>
              <a:rPr sz="900" spc="-5" dirty="0">
                <a:latin typeface="Arial"/>
                <a:cs typeface="Arial"/>
              </a:rPr>
              <a:t>memory, </a:t>
            </a:r>
            <a:r>
              <a:rPr sz="900" dirty="0">
                <a:latin typeface="Arial"/>
                <a:cs typeface="Arial"/>
              </a:rPr>
              <a:t>SD</a:t>
            </a:r>
            <a:r>
              <a:rPr sz="900" spc="-20" dirty="0">
                <a:latin typeface="Arial"/>
                <a:cs typeface="Arial"/>
              </a:rPr>
              <a:t> </a:t>
            </a:r>
            <a:r>
              <a:rPr sz="900" spc="-5" dirty="0">
                <a:latin typeface="Arial"/>
                <a:cs typeface="Arial"/>
              </a:rPr>
              <a:t>Card</a:t>
            </a:r>
            <a:endParaRPr sz="900">
              <a:latin typeface="Arial"/>
              <a:cs typeface="Arial"/>
            </a:endParaRPr>
          </a:p>
        </p:txBody>
      </p:sp>
      <p:grpSp>
        <p:nvGrpSpPr>
          <p:cNvPr id="21" name="object 21"/>
          <p:cNvGrpSpPr/>
          <p:nvPr/>
        </p:nvGrpSpPr>
        <p:grpSpPr>
          <a:xfrm>
            <a:off x="2570903" y="2697798"/>
            <a:ext cx="3116580" cy="403225"/>
            <a:chOff x="1928177" y="2697797"/>
            <a:chExt cx="2337435" cy="403225"/>
          </a:xfrm>
        </p:grpSpPr>
        <p:sp>
          <p:nvSpPr>
            <p:cNvPr id="22" name="object 22"/>
            <p:cNvSpPr/>
            <p:nvPr/>
          </p:nvSpPr>
          <p:spPr>
            <a:xfrm>
              <a:off x="1932939" y="2702560"/>
              <a:ext cx="2327910" cy="393700"/>
            </a:xfrm>
            <a:custGeom>
              <a:avLst/>
              <a:gdLst/>
              <a:ahLst/>
              <a:cxnLst/>
              <a:rect l="l" t="t" r="r" b="b"/>
              <a:pathLst>
                <a:path w="2327910" h="393700">
                  <a:moveTo>
                    <a:pt x="2261870" y="0"/>
                  </a:moveTo>
                  <a:lnTo>
                    <a:pt x="66040" y="0"/>
                  </a:lnTo>
                  <a:lnTo>
                    <a:pt x="41790" y="5675"/>
                  </a:lnTo>
                  <a:lnTo>
                    <a:pt x="20637" y="20637"/>
                  </a:lnTo>
                  <a:lnTo>
                    <a:pt x="5675" y="41790"/>
                  </a:lnTo>
                  <a:lnTo>
                    <a:pt x="0" y="66039"/>
                  </a:lnTo>
                  <a:lnTo>
                    <a:pt x="0" y="327660"/>
                  </a:lnTo>
                  <a:lnTo>
                    <a:pt x="5675" y="351909"/>
                  </a:lnTo>
                  <a:lnTo>
                    <a:pt x="20637" y="373062"/>
                  </a:lnTo>
                  <a:lnTo>
                    <a:pt x="41790" y="388024"/>
                  </a:lnTo>
                  <a:lnTo>
                    <a:pt x="66040" y="393700"/>
                  </a:lnTo>
                  <a:lnTo>
                    <a:pt x="2261870" y="393700"/>
                  </a:lnTo>
                  <a:lnTo>
                    <a:pt x="2286119" y="388024"/>
                  </a:lnTo>
                  <a:lnTo>
                    <a:pt x="2307272" y="373062"/>
                  </a:lnTo>
                  <a:lnTo>
                    <a:pt x="2322234" y="351909"/>
                  </a:lnTo>
                  <a:lnTo>
                    <a:pt x="2327910" y="327660"/>
                  </a:lnTo>
                  <a:lnTo>
                    <a:pt x="2327910" y="66039"/>
                  </a:lnTo>
                  <a:lnTo>
                    <a:pt x="2322234" y="41790"/>
                  </a:lnTo>
                  <a:lnTo>
                    <a:pt x="2307272" y="20637"/>
                  </a:lnTo>
                  <a:lnTo>
                    <a:pt x="2286119" y="5675"/>
                  </a:lnTo>
                  <a:lnTo>
                    <a:pt x="2261870" y="0"/>
                  </a:lnTo>
                  <a:close/>
                </a:path>
              </a:pathLst>
            </a:custGeom>
            <a:solidFill>
              <a:srgbClr val="FF7B7F"/>
            </a:solidFill>
          </p:spPr>
          <p:txBody>
            <a:bodyPr wrap="square" lIns="0" tIns="0" rIns="0" bIns="0" rtlCol="0"/>
            <a:lstStyle/>
            <a:p>
              <a:endParaRPr/>
            </a:p>
          </p:txBody>
        </p:sp>
        <p:sp>
          <p:nvSpPr>
            <p:cNvPr id="23" name="object 23"/>
            <p:cNvSpPr/>
            <p:nvPr/>
          </p:nvSpPr>
          <p:spPr>
            <a:xfrm>
              <a:off x="1932939" y="2702560"/>
              <a:ext cx="2327910" cy="393700"/>
            </a:xfrm>
            <a:custGeom>
              <a:avLst/>
              <a:gdLst/>
              <a:ahLst/>
              <a:cxnLst/>
              <a:rect l="l" t="t" r="r" b="b"/>
              <a:pathLst>
                <a:path w="2327910" h="393700">
                  <a:moveTo>
                    <a:pt x="66040" y="0"/>
                  </a:moveTo>
                  <a:lnTo>
                    <a:pt x="41790" y="5675"/>
                  </a:lnTo>
                  <a:lnTo>
                    <a:pt x="20637" y="20637"/>
                  </a:lnTo>
                  <a:lnTo>
                    <a:pt x="5675" y="41790"/>
                  </a:lnTo>
                  <a:lnTo>
                    <a:pt x="0" y="66039"/>
                  </a:lnTo>
                  <a:lnTo>
                    <a:pt x="0" y="327660"/>
                  </a:lnTo>
                  <a:lnTo>
                    <a:pt x="5675" y="351909"/>
                  </a:lnTo>
                  <a:lnTo>
                    <a:pt x="20637" y="373062"/>
                  </a:lnTo>
                  <a:lnTo>
                    <a:pt x="41790" y="388024"/>
                  </a:lnTo>
                  <a:lnTo>
                    <a:pt x="66040" y="393700"/>
                  </a:lnTo>
                  <a:lnTo>
                    <a:pt x="2261870" y="393700"/>
                  </a:lnTo>
                  <a:lnTo>
                    <a:pt x="2286119" y="388024"/>
                  </a:lnTo>
                  <a:lnTo>
                    <a:pt x="2307272" y="373062"/>
                  </a:lnTo>
                  <a:lnTo>
                    <a:pt x="2322234" y="351909"/>
                  </a:lnTo>
                  <a:lnTo>
                    <a:pt x="2327910" y="327660"/>
                  </a:lnTo>
                  <a:lnTo>
                    <a:pt x="2327910" y="66039"/>
                  </a:lnTo>
                  <a:lnTo>
                    <a:pt x="2322234" y="41790"/>
                  </a:lnTo>
                  <a:lnTo>
                    <a:pt x="2307272" y="20637"/>
                  </a:lnTo>
                  <a:lnTo>
                    <a:pt x="2286119" y="5675"/>
                  </a:lnTo>
                  <a:lnTo>
                    <a:pt x="2261870" y="0"/>
                  </a:lnTo>
                  <a:lnTo>
                    <a:pt x="66040" y="0"/>
                  </a:lnTo>
                  <a:close/>
                </a:path>
              </a:pathLst>
            </a:custGeom>
            <a:ln w="9344">
              <a:solidFill>
                <a:srgbClr val="000000"/>
              </a:solidFill>
            </a:ln>
          </p:spPr>
          <p:txBody>
            <a:bodyPr wrap="square" lIns="0" tIns="0" rIns="0" bIns="0" rtlCol="0"/>
            <a:lstStyle/>
            <a:p>
              <a:endParaRPr/>
            </a:p>
          </p:txBody>
        </p:sp>
      </p:grpSp>
      <p:sp>
        <p:nvSpPr>
          <p:cNvPr id="24" name="object 24"/>
          <p:cNvSpPr txBox="1"/>
          <p:nvPr/>
        </p:nvSpPr>
        <p:spPr>
          <a:xfrm>
            <a:off x="3916681" y="2810509"/>
            <a:ext cx="429260" cy="166712"/>
          </a:xfrm>
          <a:prstGeom prst="rect">
            <a:avLst/>
          </a:prstGeom>
        </p:spPr>
        <p:txBody>
          <a:bodyPr vert="horz" wrap="square" lIns="0" tIns="12700" rIns="0" bIns="0" rtlCol="0">
            <a:spAutoFit/>
          </a:bodyPr>
          <a:lstStyle/>
          <a:p>
            <a:pPr marL="12700">
              <a:lnSpc>
                <a:spcPct val="100000"/>
              </a:lnSpc>
              <a:spcBef>
                <a:spcPts val="100"/>
              </a:spcBef>
            </a:pPr>
            <a:r>
              <a:rPr sz="1000" spc="-5" dirty="0">
                <a:latin typeface="Arial"/>
                <a:cs typeface="Arial"/>
                <a:hlinkClick r:id="rId4" action="ppaction://hlinksldjump"/>
              </a:rPr>
              <a:t>R</a:t>
            </a:r>
            <a:r>
              <a:rPr sz="1000" dirty="0">
                <a:latin typeface="Arial"/>
                <a:cs typeface="Arial"/>
                <a:hlinkClick r:id="rId4" action="ppaction://hlinksldjump"/>
              </a:rPr>
              <a:t>OM</a:t>
            </a:r>
            <a:endParaRPr sz="1000">
              <a:latin typeface="Arial"/>
              <a:cs typeface="Arial"/>
            </a:endParaRPr>
          </a:p>
        </p:txBody>
      </p:sp>
      <p:grpSp>
        <p:nvGrpSpPr>
          <p:cNvPr id="25" name="object 25"/>
          <p:cNvGrpSpPr/>
          <p:nvPr/>
        </p:nvGrpSpPr>
        <p:grpSpPr>
          <a:xfrm>
            <a:off x="2570903" y="4465638"/>
            <a:ext cx="3116580" cy="401955"/>
            <a:chOff x="1928177" y="4465637"/>
            <a:chExt cx="2337435" cy="401955"/>
          </a:xfrm>
        </p:grpSpPr>
        <p:sp>
          <p:nvSpPr>
            <p:cNvPr id="26" name="object 26"/>
            <p:cNvSpPr/>
            <p:nvPr/>
          </p:nvSpPr>
          <p:spPr>
            <a:xfrm>
              <a:off x="1932939" y="4470400"/>
              <a:ext cx="2327910" cy="392430"/>
            </a:xfrm>
            <a:custGeom>
              <a:avLst/>
              <a:gdLst/>
              <a:ahLst/>
              <a:cxnLst/>
              <a:rect l="l" t="t" r="r" b="b"/>
              <a:pathLst>
                <a:path w="2327910" h="392429">
                  <a:moveTo>
                    <a:pt x="2261870" y="0"/>
                  </a:moveTo>
                  <a:lnTo>
                    <a:pt x="66040" y="0"/>
                  </a:lnTo>
                  <a:lnTo>
                    <a:pt x="41790" y="5655"/>
                  </a:lnTo>
                  <a:lnTo>
                    <a:pt x="20637" y="20478"/>
                  </a:lnTo>
                  <a:lnTo>
                    <a:pt x="5675" y="41255"/>
                  </a:lnTo>
                  <a:lnTo>
                    <a:pt x="0" y="64769"/>
                  </a:lnTo>
                  <a:lnTo>
                    <a:pt x="0" y="327660"/>
                  </a:lnTo>
                  <a:lnTo>
                    <a:pt x="5675" y="351710"/>
                  </a:lnTo>
                  <a:lnTo>
                    <a:pt x="20637" y="372427"/>
                  </a:lnTo>
                  <a:lnTo>
                    <a:pt x="41790" y="386953"/>
                  </a:lnTo>
                  <a:lnTo>
                    <a:pt x="66040" y="392430"/>
                  </a:lnTo>
                  <a:lnTo>
                    <a:pt x="2261870" y="392430"/>
                  </a:lnTo>
                  <a:lnTo>
                    <a:pt x="2286119" y="386953"/>
                  </a:lnTo>
                  <a:lnTo>
                    <a:pt x="2307272" y="372427"/>
                  </a:lnTo>
                  <a:lnTo>
                    <a:pt x="2322234" y="351710"/>
                  </a:lnTo>
                  <a:lnTo>
                    <a:pt x="2327910" y="327660"/>
                  </a:lnTo>
                  <a:lnTo>
                    <a:pt x="2327910" y="64769"/>
                  </a:lnTo>
                  <a:lnTo>
                    <a:pt x="2322234" y="41255"/>
                  </a:lnTo>
                  <a:lnTo>
                    <a:pt x="2307272" y="20478"/>
                  </a:lnTo>
                  <a:lnTo>
                    <a:pt x="2286119" y="5655"/>
                  </a:lnTo>
                  <a:lnTo>
                    <a:pt x="2261870" y="0"/>
                  </a:lnTo>
                  <a:close/>
                </a:path>
              </a:pathLst>
            </a:custGeom>
            <a:solidFill>
              <a:srgbClr val="FF7B7F"/>
            </a:solidFill>
          </p:spPr>
          <p:txBody>
            <a:bodyPr wrap="square" lIns="0" tIns="0" rIns="0" bIns="0" rtlCol="0"/>
            <a:lstStyle/>
            <a:p>
              <a:endParaRPr/>
            </a:p>
          </p:txBody>
        </p:sp>
        <p:sp>
          <p:nvSpPr>
            <p:cNvPr id="27" name="object 27"/>
            <p:cNvSpPr/>
            <p:nvPr/>
          </p:nvSpPr>
          <p:spPr>
            <a:xfrm>
              <a:off x="1932939" y="4470400"/>
              <a:ext cx="2327910" cy="392430"/>
            </a:xfrm>
            <a:custGeom>
              <a:avLst/>
              <a:gdLst/>
              <a:ahLst/>
              <a:cxnLst/>
              <a:rect l="l" t="t" r="r" b="b"/>
              <a:pathLst>
                <a:path w="2327910" h="392429">
                  <a:moveTo>
                    <a:pt x="66040" y="0"/>
                  </a:moveTo>
                  <a:lnTo>
                    <a:pt x="41790" y="5655"/>
                  </a:lnTo>
                  <a:lnTo>
                    <a:pt x="20637" y="20478"/>
                  </a:lnTo>
                  <a:lnTo>
                    <a:pt x="5675" y="41255"/>
                  </a:lnTo>
                  <a:lnTo>
                    <a:pt x="0" y="64769"/>
                  </a:lnTo>
                  <a:lnTo>
                    <a:pt x="0" y="327660"/>
                  </a:lnTo>
                  <a:lnTo>
                    <a:pt x="5675" y="351710"/>
                  </a:lnTo>
                  <a:lnTo>
                    <a:pt x="20637" y="372427"/>
                  </a:lnTo>
                  <a:lnTo>
                    <a:pt x="41790" y="386953"/>
                  </a:lnTo>
                  <a:lnTo>
                    <a:pt x="66040" y="392430"/>
                  </a:lnTo>
                  <a:lnTo>
                    <a:pt x="2261870" y="392430"/>
                  </a:lnTo>
                  <a:lnTo>
                    <a:pt x="2286119" y="386953"/>
                  </a:lnTo>
                  <a:lnTo>
                    <a:pt x="2307272" y="372427"/>
                  </a:lnTo>
                  <a:lnTo>
                    <a:pt x="2322234" y="351710"/>
                  </a:lnTo>
                  <a:lnTo>
                    <a:pt x="2327910" y="327660"/>
                  </a:lnTo>
                  <a:lnTo>
                    <a:pt x="2327910" y="64769"/>
                  </a:lnTo>
                  <a:lnTo>
                    <a:pt x="2322234" y="41255"/>
                  </a:lnTo>
                  <a:lnTo>
                    <a:pt x="2307272" y="20478"/>
                  </a:lnTo>
                  <a:lnTo>
                    <a:pt x="2286119" y="5655"/>
                  </a:lnTo>
                  <a:lnTo>
                    <a:pt x="2261870" y="0"/>
                  </a:lnTo>
                  <a:lnTo>
                    <a:pt x="66040" y="0"/>
                  </a:lnTo>
                  <a:close/>
                </a:path>
              </a:pathLst>
            </a:custGeom>
            <a:ln w="9344">
              <a:solidFill>
                <a:srgbClr val="000000"/>
              </a:solidFill>
            </a:ln>
          </p:spPr>
          <p:txBody>
            <a:bodyPr wrap="square" lIns="0" tIns="0" rIns="0" bIns="0" rtlCol="0"/>
            <a:lstStyle/>
            <a:p>
              <a:endParaRPr/>
            </a:p>
          </p:txBody>
        </p:sp>
      </p:grpSp>
      <p:sp>
        <p:nvSpPr>
          <p:cNvPr id="28" name="object 28"/>
          <p:cNvSpPr txBox="1"/>
          <p:nvPr/>
        </p:nvSpPr>
        <p:spPr>
          <a:xfrm>
            <a:off x="3842172" y="4577079"/>
            <a:ext cx="576579" cy="166712"/>
          </a:xfrm>
          <a:prstGeom prst="rect">
            <a:avLst/>
          </a:prstGeom>
        </p:spPr>
        <p:txBody>
          <a:bodyPr vert="horz" wrap="square" lIns="0" tIns="12700" rIns="0" bIns="0" rtlCol="0">
            <a:spAutoFit/>
          </a:bodyPr>
          <a:lstStyle/>
          <a:p>
            <a:pPr marL="12700">
              <a:lnSpc>
                <a:spcPct val="100000"/>
              </a:lnSpc>
              <a:spcBef>
                <a:spcPts val="100"/>
              </a:spcBef>
            </a:pPr>
            <a:r>
              <a:rPr sz="1000" spc="-5" dirty="0">
                <a:latin typeface="Arial"/>
                <a:cs typeface="Arial"/>
                <a:hlinkClick r:id="" action="ppaction://noaction"/>
              </a:rPr>
              <a:t>F</a:t>
            </a:r>
            <a:r>
              <a:rPr sz="1000" spc="-10" dirty="0">
                <a:latin typeface="Arial"/>
                <a:cs typeface="Arial"/>
                <a:hlinkClick r:id="" action="ppaction://noaction"/>
              </a:rPr>
              <a:t>LAS</a:t>
            </a:r>
            <a:r>
              <a:rPr sz="1000" dirty="0">
                <a:latin typeface="Arial"/>
                <a:cs typeface="Arial"/>
                <a:hlinkClick r:id="" action="ppaction://noaction"/>
              </a:rPr>
              <a:t>H</a:t>
            </a:r>
            <a:endParaRPr sz="1000">
              <a:latin typeface="Arial"/>
              <a:cs typeface="Arial"/>
            </a:endParaRPr>
          </a:p>
        </p:txBody>
      </p:sp>
      <p:grpSp>
        <p:nvGrpSpPr>
          <p:cNvPr id="29" name="object 29"/>
          <p:cNvGrpSpPr/>
          <p:nvPr/>
        </p:nvGrpSpPr>
        <p:grpSpPr>
          <a:xfrm>
            <a:off x="4638463" y="3287077"/>
            <a:ext cx="3114887" cy="403225"/>
            <a:chOff x="3478847" y="3287077"/>
            <a:chExt cx="2336165" cy="403225"/>
          </a:xfrm>
        </p:grpSpPr>
        <p:sp>
          <p:nvSpPr>
            <p:cNvPr id="30" name="object 30"/>
            <p:cNvSpPr/>
            <p:nvPr/>
          </p:nvSpPr>
          <p:spPr>
            <a:xfrm>
              <a:off x="3483609" y="3291840"/>
              <a:ext cx="2326640" cy="393700"/>
            </a:xfrm>
            <a:custGeom>
              <a:avLst/>
              <a:gdLst/>
              <a:ahLst/>
              <a:cxnLst/>
              <a:rect l="l" t="t" r="r" b="b"/>
              <a:pathLst>
                <a:path w="2326640" h="393700">
                  <a:moveTo>
                    <a:pt x="2260600" y="0"/>
                  </a:moveTo>
                  <a:lnTo>
                    <a:pt x="64769" y="0"/>
                  </a:lnTo>
                  <a:lnTo>
                    <a:pt x="41255" y="5675"/>
                  </a:lnTo>
                  <a:lnTo>
                    <a:pt x="20478" y="20637"/>
                  </a:lnTo>
                  <a:lnTo>
                    <a:pt x="5655" y="41790"/>
                  </a:lnTo>
                  <a:lnTo>
                    <a:pt x="0" y="66039"/>
                  </a:lnTo>
                  <a:lnTo>
                    <a:pt x="0" y="327660"/>
                  </a:lnTo>
                  <a:lnTo>
                    <a:pt x="5655" y="351909"/>
                  </a:lnTo>
                  <a:lnTo>
                    <a:pt x="20478" y="373062"/>
                  </a:lnTo>
                  <a:lnTo>
                    <a:pt x="41255" y="388024"/>
                  </a:lnTo>
                  <a:lnTo>
                    <a:pt x="64769" y="393700"/>
                  </a:lnTo>
                  <a:lnTo>
                    <a:pt x="2260600" y="393700"/>
                  </a:lnTo>
                  <a:lnTo>
                    <a:pt x="2284849" y="388024"/>
                  </a:lnTo>
                  <a:lnTo>
                    <a:pt x="2306002" y="373062"/>
                  </a:lnTo>
                  <a:lnTo>
                    <a:pt x="2320964" y="351909"/>
                  </a:lnTo>
                  <a:lnTo>
                    <a:pt x="2326640" y="327660"/>
                  </a:lnTo>
                  <a:lnTo>
                    <a:pt x="2326640" y="66039"/>
                  </a:lnTo>
                  <a:lnTo>
                    <a:pt x="2320964" y="41790"/>
                  </a:lnTo>
                  <a:lnTo>
                    <a:pt x="2306002" y="20637"/>
                  </a:lnTo>
                  <a:lnTo>
                    <a:pt x="2284849" y="5675"/>
                  </a:lnTo>
                  <a:lnTo>
                    <a:pt x="2260600" y="0"/>
                  </a:lnTo>
                  <a:close/>
                </a:path>
              </a:pathLst>
            </a:custGeom>
            <a:solidFill>
              <a:srgbClr val="FF98CC"/>
            </a:solidFill>
          </p:spPr>
          <p:txBody>
            <a:bodyPr wrap="square" lIns="0" tIns="0" rIns="0" bIns="0" rtlCol="0"/>
            <a:lstStyle/>
            <a:p>
              <a:endParaRPr/>
            </a:p>
          </p:txBody>
        </p:sp>
        <p:sp>
          <p:nvSpPr>
            <p:cNvPr id="31" name="object 31"/>
            <p:cNvSpPr/>
            <p:nvPr/>
          </p:nvSpPr>
          <p:spPr>
            <a:xfrm>
              <a:off x="3483609" y="3291840"/>
              <a:ext cx="2326640" cy="393700"/>
            </a:xfrm>
            <a:custGeom>
              <a:avLst/>
              <a:gdLst/>
              <a:ahLst/>
              <a:cxnLst/>
              <a:rect l="l" t="t" r="r" b="b"/>
              <a:pathLst>
                <a:path w="2326640" h="393700">
                  <a:moveTo>
                    <a:pt x="64769" y="0"/>
                  </a:moveTo>
                  <a:lnTo>
                    <a:pt x="41255" y="5675"/>
                  </a:lnTo>
                  <a:lnTo>
                    <a:pt x="20478" y="20637"/>
                  </a:lnTo>
                  <a:lnTo>
                    <a:pt x="5655" y="41790"/>
                  </a:lnTo>
                  <a:lnTo>
                    <a:pt x="0" y="66039"/>
                  </a:lnTo>
                  <a:lnTo>
                    <a:pt x="0" y="327660"/>
                  </a:lnTo>
                  <a:lnTo>
                    <a:pt x="5655" y="351909"/>
                  </a:lnTo>
                  <a:lnTo>
                    <a:pt x="20478" y="373062"/>
                  </a:lnTo>
                  <a:lnTo>
                    <a:pt x="41255" y="388024"/>
                  </a:lnTo>
                  <a:lnTo>
                    <a:pt x="64769" y="393700"/>
                  </a:lnTo>
                  <a:lnTo>
                    <a:pt x="2260600" y="393700"/>
                  </a:lnTo>
                  <a:lnTo>
                    <a:pt x="2284849" y="388024"/>
                  </a:lnTo>
                  <a:lnTo>
                    <a:pt x="2306002" y="373062"/>
                  </a:lnTo>
                  <a:lnTo>
                    <a:pt x="2320964" y="351909"/>
                  </a:lnTo>
                  <a:lnTo>
                    <a:pt x="2326640" y="327660"/>
                  </a:lnTo>
                  <a:lnTo>
                    <a:pt x="2326640" y="66039"/>
                  </a:lnTo>
                  <a:lnTo>
                    <a:pt x="2320964" y="41790"/>
                  </a:lnTo>
                  <a:lnTo>
                    <a:pt x="2306002" y="20637"/>
                  </a:lnTo>
                  <a:lnTo>
                    <a:pt x="2284849" y="5675"/>
                  </a:lnTo>
                  <a:lnTo>
                    <a:pt x="2260600" y="0"/>
                  </a:lnTo>
                  <a:lnTo>
                    <a:pt x="64769" y="0"/>
                  </a:lnTo>
                  <a:close/>
                </a:path>
              </a:pathLst>
            </a:custGeom>
            <a:ln w="9344">
              <a:solidFill>
                <a:srgbClr val="000000"/>
              </a:solidFill>
            </a:ln>
          </p:spPr>
          <p:txBody>
            <a:bodyPr wrap="square" lIns="0" tIns="0" rIns="0" bIns="0" rtlCol="0"/>
            <a:lstStyle/>
            <a:p>
              <a:endParaRPr/>
            </a:p>
          </p:txBody>
        </p:sp>
      </p:grpSp>
      <p:sp>
        <p:nvSpPr>
          <p:cNvPr id="32" name="object 32"/>
          <p:cNvSpPr txBox="1"/>
          <p:nvPr/>
        </p:nvSpPr>
        <p:spPr>
          <a:xfrm>
            <a:off x="5926667" y="3399790"/>
            <a:ext cx="541020" cy="166712"/>
          </a:xfrm>
          <a:prstGeom prst="rect">
            <a:avLst/>
          </a:prstGeom>
        </p:spPr>
        <p:txBody>
          <a:bodyPr vert="horz" wrap="square" lIns="0" tIns="12700" rIns="0" bIns="0" rtlCol="0">
            <a:spAutoFit/>
          </a:bodyPr>
          <a:lstStyle/>
          <a:p>
            <a:pPr marL="12700">
              <a:lnSpc>
                <a:spcPct val="100000"/>
              </a:lnSpc>
              <a:spcBef>
                <a:spcPts val="100"/>
              </a:spcBef>
            </a:pPr>
            <a:r>
              <a:rPr sz="1000" spc="-10" dirty="0">
                <a:latin typeface="Arial"/>
                <a:cs typeface="Arial"/>
              </a:rPr>
              <a:t>P</a:t>
            </a:r>
            <a:r>
              <a:rPr sz="1000" spc="-5" dirty="0">
                <a:latin typeface="Arial"/>
                <a:cs typeface="Arial"/>
              </a:rPr>
              <a:t>R</a:t>
            </a:r>
            <a:r>
              <a:rPr sz="1000" dirty="0">
                <a:latin typeface="Arial"/>
                <a:cs typeface="Arial"/>
              </a:rPr>
              <a:t>OM</a:t>
            </a:r>
            <a:endParaRPr sz="1000">
              <a:latin typeface="Arial"/>
              <a:cs typeface="Arial"/>
            </a:endParaRPr>
          </a:p>
        </p:txBody>
      </p:sp>
      <p:grpSp>
        <p:nvGrpSpPr>
          <p:cNvPr id="33" name="object 33"/>
          <p:cNvGrpSpPr/>
          <p:nvPr/>
        </p:nvGrpSpPr>
        <p:grpSpPr>
          <a:xfrm>
            <a:off x="4638463" y="3877628"/>
            <a:ext cx="3114887" cy="400685"/>
            <a:chOff x="3478847" y="3877627"/>
            <a:chExt cx="2336165" cy="400685"/>
          </a:xfrm>
        </p:grpSpPr>
        <p:sp>
          <p:nvSpPr>
            <p:cNvPr id="34" name="object 34"/>
            <p:cNvSpPr/>
            <p:nvPr/>
          </p:nvSpPr>
          <p:spPr>
            <a:xfrm>
              <a:off x="3483609" y="3882390"/>
              <a:ext cx="2326640" cy="391160"/>
            </a:xfrm>
            <a:custGeom>
              <a:avLst/>
              <a:gdLst/>
              <a:ahLst/>
              <a:cxnLst/>
              <a:rect l="l" t="t" r="r" b="b"/>
              <a:pathLst>
                <a:path w="2326640" h="391160">
                  <a:moveTo>
                    <a:pt x="2260600" y="0"/>
                  </a:moveTo>
                  <a:lnTo>
                    <a:pt x="64769" y="0"/>
                  </a:lnTo>
                  <a:lnTo>
                    <a:pt x="40719" y="5476"/>
                  </a:lnTo>
                  <a:lnTo>
                    <a:pt x="20002" y="20002"/>
                  </a:lnTo>
                  <a:lnTo>
                    <a:pt x="5476" y="40719"/>
                  </a:lnTo>
                  <a:lnTo>
                    <a:pt x="0" y="64770"/>
                  </a:lnTo>
                  <a:lnTo>
                    <a:pt x="0" y="326390"/>
                  </a:lnTo>
                  <a:lnTo>
                    <a:pt x="5476" y="349904"/>
                  </a:lnTo>
                  <a:lnTo>
                    <a:pt x="20002" y="370681"/>
                  </a:lnTo>
                  <a:lnTo>
                    <a:pt x="40719" y="385504"/>
                  </a:lnTo>
                  <a:lnTo>
                    <a:pt x="64769" y="391160"/>
                  </a:lnTo>
                  <a:lnTo>
                    <a:pt x="2260600" y="391160"/>
                  </a:lnTo>
                  <a:lnTo>
                    <a:pt x="2284849" y="385504"/>
                  </a:lnTo>
                  <a:lnTo>
                    <a:pt x="2306002" y="370681"/>
                  </a:lnTo>
                  <a:lnTo>
                    <a:pt x="2320964" y="349904"/>
                  </a:lnTo>
                  <a:lnTo>
                    <a:pt x="2326640" y="326390"/>
                  </a:lnTo>
                  <a:lnTo>
                    <a:pt x="2326640" y="64770"/>
                  </a:lnTo>
                  <a:lnTo>
                    <a:pt x="2320964" y="40719"/>
                  </a:lnTo>
                  <a:lnTo>
                    <a:pt x="2306002" y="20002"/>
                  </a:lnTo>
                  <a:lnTo>
                    <a:pt x="2284849" y="5476"/>
                  </a:lnTo>
                  <a:lnTo>
                    <a:pt x="2260600" y="0"/>
                  </a:lnTo>
                  <a:close/>
                </a:path>
              </a:pathLst>
            </a:custGeom>
            <a:solidFill>
              <a:srgbClr val="FF98CC"/>
            </a:solidFill>
          </p:spPr>
          <p:txBody>
            <a:bodyPr wrap="square" lIns="0" tIns="0" rIns="0" bIns="0" rtlCol="0"/>
            <a:lstStyle/>
            <a:p>
              <a:endParaRPr/>
            </a:p>
          </p:txBody>
        </p:sp>
        <p:sp>
          <p:nvSpPr>
            <p:cNvPr id="35" name="object 35"/>
            <p:cNvSpPr/>
            <p:nvPr/>
          </p:nvSpPr>
          <p:spPr>
            <a:xfrm>
              <a:off x="3483609" y="3882390"/>
              <a:ext cx="2326640" cy="391160"/>
            </a:xfrm>
            <a:custGeom>
              <a:avLst/>
              <a:gdLst/>
              <a:ahLst/>
              <a:cxnLst/>
              <a:rect l="l" t="t" r="r" b="b"/>
              <a:pathLst>
                <a:path w="2326640" h="391160">
                  <a:moveTo>
                    <a:pt x="64769" y="0"/>
                  </a:moveTo>
                  <a:lnTo>
                    <a:pt x="40719" y="5476"/>
                  </a:lnTo>
                  <a:lnTo>
                    <a:pt x="20002" y="20002"/>
                  </a:lnTo>
                  <a:lnTo>
                    <a:pt x="5476" y="40719"/>
                  </a:lnTo>
                  <a:lnTo>
                    <a:pt x="0" y="64770"/>
                  </a:lnTo>
                  <a:lnTo>
                    <a:pt x="0" y="326390"/>
                  </a:lnTo>
                  <a:lnTo>
                    <a:pt x="5476" y="349904"/>
                  </a:lnTo>
                  <a:lnTo>
                    <a:pt x="20002" y="370681"/>
                  </a:lnTo>
                  <a:lnTo>
                    <a:pt x="40719" y="385504"/>
                  </a:lnTo>
                  <a:lnTo>
                    <a:pt x="64769" y="391160"/>
                  </a:lnTo>
                  <a:lnTo>
                    <a:pt x="2260600" y="391160"/>
                  </a:lnTo>
                  <a:lnTo>
                    <a:pt x="2284849" y="385504"/>
                  </a:lnTo>
                  <a:lnTo>
                    <a:pt x="2306002" y="370681"/>
                  </a:lnTo>
                  <a:lnTo>
                    <a:pt x="2320964" y="349904"/>
                  </a:lnTo>
                  <a:lnTo>
                    <a:pt x="2326640" y="326390"/>
                  </a:lnTo>
                  <a:lnTo>
                    <a:pt x="2326640" y="64770"/>
                  </a:lnTo>
                  <a:lnTo>
                    <a:pt x="2320964" y="40719"/>
                  </a:lnTo>
                  <a:lnTo>
                    <a:pt x="2306002" y="20002"/>
                  </a:lnTo>
                  <a:lnTo>
                    <a:pt x="2284849" y="5476"/>
                  </a:lnTo>
                  <a:lnTo>
                    <a:pt x="2260600" y="0"/>
                  </a:lnTo>
                  <a:lnTo>
                    <a:pt x="64769" y="0"/>
                  </a:lnTo>
                  <a:close/>
                </a:path>
              </a:pathLst>
            </a:custGeom>
            <a:ln w="9344">
              <a:solidFill>
                <a:srgbClr val="000000"/>
              </a:solidFill>
            </a:ln>
          </p:spPr>
          <p:txBody>
            <a:bodyPr wrap="square" lIns="0" tIns="0" rIns="0" bIns="0" rtlCol="0"/>
            <a:lstStyle/>
            <a:p>
              <a:endParaRPr/>
            </a:p>
          </p:txBody>
        </p:sp>
      </p:grpSp>
      <p:sp>
        <p:nvSpPr>
          <p:cNvPr id="36" name="object 36"/>
          <p:cNvSpPr txBox="1"/>
          <p:nvPr/>
        </p:nvSpPr>
        <p:spPr>
          <a:xfrm>
            <a:off x="5814906" y="3912870"/>
            <a:ext cx="764540" cy="330200"/>
          </a:xfrm>
          <a:prstGeom prst="rect">
            <a:avLst/>
          </a:prstGeom>
        </p:spPr>
        <p:txBody>
          <a:bodyPr vert="horz" wrap="square" lIns="0" tIns="12700" rIns="0" bIns="0" rtlCol="0">
            <a:spAutoFit/>
          </a:bodyPr>
          <a:lstStyle/>
          <a:p>
            <a:pPr marL="53340">
              <a:lnSpc>
                <a:spcPct val="100000"/>
              </a:lnSpc>
              <a:spcBef>
                <a:spcPts val="100"/>
              </a:spcBef>
            </a:pPr>
            <a:r>
              <a:rPr sz="1000" spc="-5" dirty="0">
                <a:latin typeface="Arial"/>
                <a:cs typeface="Arial"/>
                <a:hlinkClick r:id="rId5" action="ppaction://hlinksldjump"/>
              </a:rPr>
              <a:t>EPROM</a:t>
            </a:r>
            <a:endParaRPr sz="1000">
              <a:latin typeface="Arial"/>
              <a:cs typeface="Arial"/>
            </a:endParaRPr>
          </a:p>
          <a:p>
            <a:pPr marL="12700">
              <a:lnSpc>
                <a:spcPct val="100000"/>
              </a:lnSpc>
            </a:pPr>
            <a:r>
              <a:rPr sz="1000" b="1" spc="-10" dirty="0">
                <a:solidFill>
                  <a:srgbClr val="CC6600"/>
                </a:solidFill>
                <a:latin typeface="Arial"/>
                <a:cs typeface="Arial"/>
                <a:hlinkClick r:id="rId5" action="ppaction://hlinksldjump"/>
              </a:rPr>
              <a:t>EEPROM</a:t>
            </a:r>
            <a:endParaRPr sz="1000">
              <a:latin typeface="Arial"/>
              <a:cs typeface="Arial"/>
            </a:endParaRPr>
          </a:p>
        </p:txBody>
      </p:sp>
      <p:grpSp>
        <p:nvGrpSpPr>
          <p:cNvPr id="37" name="object 37"/>
          <p:cNvGrpSpPr/>
          <p:nvPr/>
        </p:nvGrpSpPr>
        <p:grpSpPr>
          <a:xfrm>
            <a:off x="4638463" y="5054918"/>
            <a:ext cx="3114887" cy="401955"/>
            <a:chOff x="3478847" y="5054917"/>
            <a:chExt cx="2336165" cy="401955"/>
          </a:xfrm>
        </p:grpSpPr>
        <p:sp>
          <p:nvSpPr>
            <p:cNvPr id="38" name="object 38"/>
            <p:cNvSpPr/>
            <p:nvPr/>
          </p:nvSpPr>
          <p:spPr>
            <a:xfrm>
              <a:off x="3483609" y="5059679"/>
              <a:ext cx="2326640" cy="392430"/>
            </a:xfrm>
            <a:custGeom>
              <a:avLst/>
              <a:gdLst/>
              <a:ahLst/>
              <a:cxnLst/>
              <a:rect l="l" t="t" r="r" b="b"/>
              <a:pathLst>
                <a:path w="2326640" h="392429">
                  <a:moveTo>
                    <a:pt x="2260600" y="0"/>
                  </a:moveTo>
                  <a:lnTo>
                    <a:pt x="64769" y="0"/>
                  </a:lnTo>
                  <a:lnTo>
                    <a:pt x="40719" y="5655"/>
                  </a:lnTo>
                  <a:lnTo>
                    <a:pt x="20002" y="20478"/>
                  </a:lnTo>
                  <a:lnTo>
                    <a:pt x="5476" y="41255"/>
                  </a:lnTo>
                  <a:lnTo>
                    <a:pt x="0" y="64770"/>
                  </a:lnTo>
                  <a:lnTo>
                    <a:pt x="0" y="326390"/>
                  </a:lnTo>
                  <a:lnTo>
                    <a:pt x="5476" y="350639"/>
                  </a:lnTo>
                  <a:lnTo>
                    <a:pt x="20002" y="371792"/>
                  </a:lnTo>
                  <a:lnTo>
                    <a:pt x="40719" y="386754"/>
                  </a:lnTo>
                  <a:lnTo>
                    <a:pt x="64769" y="392430"/>
                  </a:lnTo>
                  <a:lnTo>
                    <a:pt x="2260600" y="392430"/>
                  </a:lnTo>
                  <a:lnTo>
                    <a:pt x="2284849" y="386754"/>
                  </a:lnTo>
                  <a:lnTo>
                    <a:pt x="2306002" y="371792"/>
                  </a:lnTo>
                  <a:lnTo>
                    <a:pt x="2320964" y="350639"/>
                  </a:lnTo>
                  <a:lnTo>
                    <a:pt x="2326640" y="326390"/>
                  </a:lnTo>
                  <a:lnTo>
                    <a:pt x="2326640" y="64770"/>
                  </a:lnTo>
                  <a:lnTo>
                    <a:pt x="2320964" y="41255"/>
                  </a:lnTo>
                  <a:lnTo>
                    <a:pt x="2306002" y="20478"/>
                  </a:lnTo>
                  <a:lnTo>
                    <a:pt x="2284849" y="5655"/>
                  </a:lnTo>
                  <a:lnTo>
                    <a:pt x="2260600" y="0"/>
                  </a:lnTo>
                  <a:close/>
                </a:path>
              </a:pathLst>
            </a:custGeom>
            <a:solidFill>
              <a:srgbClr val="FF9866"/>
            </a:solidFill>
          </p:spPr>
          <p:txBody>
            <a:bodyPr wrap="square" lIns="0" tIns="0" rIns="0" bIns="0" rtlCol="0"/>
            <a:lstStyle/>
            <a:p>
              <a:endParaRPr/>
            </a:p>
          </p:txBody>
        </p:sp>
        <p:sp>
          <p:nvSpPr>
            <p:cNvPr id="39" name="object 39"/>
            <p:cNvSpPr/>
            <p:nvPr/>
          </p:nvSpPr>
          <p:spPr>
            <a:xfrm>
              <a:off x="3483609" y="5059679"/>
              <a:ext cx="2326640" cy="392430"/>
            </a:xfrm>
            <a:custGeom>
              <a:avLst/>
              <a:gdLst/>
              <a:ahLst/>
              <a:cxnLst/>
              <a:rect l="l" t="t" r="r" b="b"/>
              <a:pathLst>
                <a:path w="2326640" h="392429">
                  <a:moveTo>
                    <a:pt x="64769" y="0"/>
                  </a:moveTo>
                  <a:lnTo>
                    <a:pt x="40719" y="5655"/>
                  </a:lnTo>
                  <a:lnTo>
                    <a:pt x="20002" y="20478"/>
                  </a:lnTo>
                  <a:lnTo>
                    <a:pt x="5476" y="41255"/>
                  </a:lnTo>
                  <a:lnTo>
                    <a:pt x="0" y="64770"/>
                  </a:lnTo>
                  <a:lnTo>
                    <a:pt x="0" y="326390"/>
                  </a:lnTo>
                  <a:lnTo>
                    <a:pt x="5476" y="350639"/>
                  </a:lnTo>
                  <a:lnTo>
                    <a:pt x="20002" y="371792"/>
                  </a:lnTo>
                  <a:lnTo>
                    <a:pt x="40719" y="386754"/>
                  </a:lnTo>
                  <a:lnTo>
                    <a:pt x="64769" y="392430"/>
                  </a:lnTo>
                  <a:lnTo>
                    <a:pt x="2260600" y="392430"/>
                  </a:lnTo>
                  <a:lnTo>
                    <a:pt x="2284849" y="386754"/>
                  </a:lnTo>
                  <a:lnTo>
                    <a:pt x="2306002" y="371792"/>
                  </a:lnTo>
                  <a:lnTo>
                    <a:pt x="2320964" y="350639"/>
                  </a:lnTo>
                  <a:lnTo>
                    <a:pt x="2326640" y="326390"/>
                  </a:lnTo>
                  <a:lnTo>
                    <a:pt x="2326640" y="64770"/>
                  </a:lnTo>
                  <a:lnTo>
                    <a:pt x="2320964" y="41255"/>
                  </a:lnTo>
                  <a:lnTo>
                    <a:pt x="2306002" y="20478"/>
                  </a:lnTo>
                  <a:lnTo>
                    <a:pt x="2284849" y="5655"/>
                  </a:lnTo>
                  <a:lnTo>
                    <a:pt x="2260600" y="0"/>
                  </a:lnTo>
                  <a:lnTo>
                    <a:pt x="64769" y="0"/>
                  </a:lnTo>
                  <a:close/>
                </a:path>
              </a:pathLst>
            </a:custGeom>
            <a:ln w="9344">
              <a:solidFill>
                <a:srgbClr val="000000"/>
              </a:solidFill>
            </a:ln>
          </p:spPr>
          <p:txBody>
            <a:bodyPr wrap="square" lIns="0" tIns="0" rIns="0" bIns="0" rtlCol="0"/>
            <a:lstStyle/>
            <a:p>
              <a:endParaRPr/>
            </a:p>
          </p:txBody>
        </p:sp>
      </p:grpSp>
      <p:sp>
        <p:nvSpPr>
          <p:cNvPr id="40" name="object 40"/>
          <p:cNvSpPr txBox="1"/>
          <p:nvPr/>
        </p:nvSpPr>
        <p:spPr>
          <a:xfrm>
            <a:off x="5991013" y="5166359"/>
            <a:ext cx="410633" cy="166712"/>
          </a:xfrm>
          <a:prstGeom prst="rect">
            <a:avLst/>
          </a:prstGeom>
        </p:spPr>
        <p:txBody>
          <a:bodyPr vert="horz" wrap="square" lIns="0" tIns="12700" rIns="0" bIns="0" rtlCol="0">
            <a:spAutoFit/>
          </a:bodyPr>
          <a:lstStyle/>
          <a:p>
            <a:pPr marL="12700">
              <a:lnSpc>
                <a:spcPct val="100000"/>
              </a:lnSpc>
              <a:spcBef>
                <a:spcPts val="100"/>
              </a:spcBef>
            </a:pPr>
            <a:r>
              <a:rPr sz="1000" spc="-5" dirty="0">
                <a:latin typeface="Arial"/>
                <a:cs typeface="Arial"/>
              </a:rPr>
              <a:t>N</a:t>
            </a:r>
            <a:r>
              <a:rPr sz="1000" dirty="0">
                <a:latin typeface="Arial"/>
                <a:cs typeface="Arial"/>
              </a:rPr>
              <a:t>OR</a:t>
            </a:r>
            <a:endParaRPr sz="1000">
              <a:latin typeface="Arial"/>
              <a:cs typeface="Arial"/>
            </a:endParaRPr>
          </a:p>
        </p:txBody>
      </p:sp>
      <p:grpSp>
        <p:nvGrpSpPr>
          <p:cNvPr id="41" name="object 41"/>
          <p:cNvGrpSpPr/>
          <p:nvPr/>
        </p:nvGrpSpPr>
        <p:grpSpPr>
          <a:xfrm>
            <a:off x="4638463" y="5642928"/>
            <a:ext cx="3114887" cy="400685"/>
            <a:chOff x="3478847" y="5642927"/>
            <a:chExt cx="2336165" cy="400685"/>
          </a:xfrm>
        </p:grpSpPr>
        <p:sp>
          <p:nvSpPr>
            <p:cNvPr id="42" name="object 42"/>
            <p:cNvSpPr/>
            <p:nvPr/>
          </p:nvSpPr>
          <p:spPr>
            <a:xfrm>
              <a:off x="3483609" y="5647690"/>
              <a:ext cx="2326640" cy="391160"/>
            </a:xfrm>
            <a:custGeom>
              <a:avLst/>
              <a:gdLst/>
              <a:ahLst/>
              <a:cxnLst/>
              <a:rect l="l" t="t" r="r" b="b"/>
              <a:pathLst>
                <a:path w="2326640" h="391160">
                  <a:moveTo>
                    <a:pt x="2260600" y="0"/>
                  </a:moveTo>
                  <a:lnTo>
                    <a:pt x="64769" y="0"/>
                  </a:lnTo>
                  <a:lnTo>
                    <a:pt x="40719" y="5655"/>
                  </a:lnTo>
                  <a:lnTo>
                    <a:pt x="20002" y="20478"/>
                  </a:lnTo>
                  <a:lnTo>
                    <a:pt x="5476" y="41255"/>
                  </a:lnTo>
                  <a:lnTo>
                    <a:pt x="0" y="64770"/>
                  </a:lnTo>
                  <a:lnTo>
                    <a:pt x="0" y="326390"/>
                  </a:lnTo>
                  <a:lnTo>
                    <a:pt x="5476" y="350440"/>
                  </a:lnTo>
                  <a:lnTo>
                    <a:pt x="20002" y="371157"/>
                  </a:lnTo>
                  <a:lnTo>
                    <a:pt x="40719" y="385683"/>
                  </a:lnTo>
                  <a:lnTo>
                    <a:pt x="64769" y="391160"/>
                  </a:lnTo>
                  <a:lnTo>
                    <a:pt x="2260600" y="391160"/>
                  </a:lnTo>
                  <a:lnTo>
                    <a:pt x="2284849" y="385683"/>
                  </a:lnTo>
                  <a:lnTo>
                    <a:pt x="2306002" y="371157"/>
                  </a:lnTo>
                  <a:lnTo>
                    <a:pt x="2320964" y="350440"/>
                  </a:lnTo>
                  <a:lnTo>
                    <a:pt x="2326640" y="326390"/>
                  </a:lnTo>
                  <a:lnTo>
                    <a:pt x="2326640" y="64770"/>
                  </a:lnTo>
                  <a:lnTo>
                    <a:pt x="2320964" y="41255"/>
                  </a:lnTo>
                  <a:lnTo>
                    <a:pt x="2306002" y="20478"/>
                  </a:lnTo>
                  <a:lnTo>
                    <a:pt x="2284849" y="5655"/>
                  </a:lnTo>
                  <a:lnTo>
                    <a:pt x="2260600" y="0"/>
                  </a:lnTo>
                  <a:close/>
                </a:path>
              </a:pathLst>
            </a:custGeom>
            <a:solidFill>
              <a:srgbClr val="FF9866"/>
            </a:solidFill>
          </p:spPr>
          <p:txBody>
            <a:bodyPr wrap="square" lIns="0" tIns="0" rIns="0" bIns="0" rtlCol="0"/>
            <a:lstStyle/>
            <a:p>
              <a:endParaRPr/>
            </a:p>
          </p:txBody>
        </p:sp>
        <p:sp>
          <p:nvSpPr>
            <p:cNvPr id="43" name="object 43"/>
            <p:cNvSpPr/>
            <p:nvPr/>
          </p:nvSpPr>
          <p:spPr>
            <a:xfrm>
              <a:off x="3483609" y="5647690"/>
              <a:ext cx="2326640" cy="391160"/>
            </a:xfrm>
            <a:custGeom>
              <a:avLst/>
              <a:gdLst/>
              <a:ahLst/>
              <a:cxnLst/>
              <a:rect l="l" t="t" r="r" b="b"/>
              <a:pathLst>
                <a:path w="2326640" h="391160">
                  <a:moveTo>
                    <a:pt x="64769" y="0"/>
                  </a:moveTo>
                  <a:lnTo>
                    <a:pt x="40719" y="5655"/>
                  </a:lnTo>
                  <a:lnTo>
                    <a:pt x="20002" y="20478"/>
                  </a:lnTo>
                  <a:lnTo>
                    <a:pt x="5476" y="41255"/>
                  </a:lnTo>
                  <a:lnTo>
                    <a:pt x="0" y="64770"/>
                  </a:lnTo>
                  <a:lnTo>
                    <a:pt x="0" y="326390"/>
                  </a:lnTo>
                  <a:lnTo>
                    <a:pt x="5476" y="350440"/>
                  </a:lnTo>
                  <a:lnTo>
                    <a:pt x="20002" y="371157"/>
                  </a:lnTo>
                  <a:lnTo>
                    <a:pt x="40719" y="385683"/>
                  </a:lnTo>
                  <a:lnTo>
                    <a:pt x="64769" y="391160"/>
                  </a:lnTo>
                  <a:lnTo>
                    <a:pt x="2260600" y="391160"/>
                  </a:lnTo>
                  <a:lnTo>
                    <a:pt x="2284849" y="385683"/>
                  </a:lnTo>
                  <a:lnTo>
                    <a:pt x="2306002" y="371157"/>
                  </a:lnTo>
                  <a:lnTo>
                    <a:pt x="2320964" y="350440"/>
                  </a:lnTo>
                  <a:lnTo>
                    <a:pt x="2326640" y="326390"/>
                  </a:lnTo>
                  <a:lnTo>
                    <a:pt x="2326640" y="64770"/>
                  </a:lnTo>
                  <a:lnTo>
                    <a:pt x="2320964" y="41255"/>
                  </a:lnTo>
                  <a:lnTo>
                    <a:pt x="2306002" y="20478"/>
                  </a:lnTo>
                  <a:lnTo>
                    <a:pt x="2284849" y="5655"/>
                  </a:lnTo>
                  <a:lnTo>
                    <a:pt x="2260600" y="0"/>
                  </a:lnTo>
                  <a:lnTo>
                    <a:pt x="64769" y="0"/>
                  </a:lnTo>
                  <a:close/>
                </a:path>
              </a:pathLst>
            </a:custGeom>
            <a:ln w="9344">
              <a:solidFill>
                <a:srgbClr val="000000"/>
              </a:solidFill>
            </a:ln>
          </p:spPr>
          <p:txBody>
            <a:bodyPr wrap="square" lIns="0" tIns="0" rIns="0" bIns="0" rtlCol="0"/>
            <a:lstStyle/>
            <a:p>
              <a:endParaRPr/>
            </a:p>
          </p:txBody>
        </p:sp>
      </p:grpSp>
      <p:sp>
        <p:nvSpPr>
          <p:cNvPr id="44" name="object 44"/>
          <p:cNvSpPr txBox="1"/>
          <p:nvPr/>
        </p:nvSpPr>
        <p:spPr>
          <a:xfrm>
            <a:off x="5940213" y="5754370"/>
            <a:ext cx="512233" cy="166712"/>
          </a:xfrm>
          <a:prstGeom prst="rect">
            <a:avLst/>
          </a:prstGeom>
        </p:spPr>
        <p:txBody>
          <a:bodyPr vert="horz" wrap="square" lIns="0" tIns="12700" rIns="0" bIns="0" rtlCol="0">
            <a:spAutoFit/>
          </a:bodyPr>
          <a:lstStyle/>
          <a:p>
            <a:pPr marL="12700">
              <a:lnSpc>
                <a:spcPct val="100000"/>
              </a:lnSpc>
              <a:spcBef>
                <a:spcPts val="100"/>
              </a:spcBef>
            </a:pPr>
            <a:r>
              <a:rPr sz="1000" spc="-5" dirty="0">
                <a:latin typeface="Arial"/>
                <a:cs typeface="Arial"/>
              </a:rPr>
              <a:t>N</a:t>
            </a:r>
            <a:r>
              <a:rPr sz="1000" spc="-10" dirty="0">
                <a:latin typeface="Arial"/>
                <a:cs typeface="Arial"/>
              </a:rPr>
              <a:t>A</a:t>
            </a:r>
            <a:r>
              <a:rPr sz="1000" spc="-5" dirty="0">
                <a:latin typeface="Arial"/>
                <a:cs typeface="Arial"/>
              </a:rPr>
              <a:t>N</a:t>
            </a:r>
            <a:r>
              <a:rPr sz="1000" dirty="0">
                <a:latin typeface="Arial"/>
                <a:cs typeface="Arial"/>
              </a:rPr>
              <a:t>D</a:t>
            </a:r>
            <a:endParaRPr sz="1000">
              <a:latin typeface="Arial"/>
              <a:cs typeface="Arial"/>
            </a:endParaRPr>
          </a:p>
        </p:txBody>
      </p:sp>
      <p:grpSp>
        <p:nvGrpSpPr>
          <p:cNvPr id="45" name="object 45"/>
          <p:cNvGrpSpPr/>
          <p:nvPr/>
        </p:nvGrpSpPr>
        <p:grpSpPr>
          <a:xfrm>
            <a:off x="6707716" y="2697798"/>
            <a:ext cx="3114887" cy="401955"/>
            <a:chOff x="5030787" y="2697797"/>
            <a:chExt cx="2336165" cy="401955"/>
          </a:xfrm>
        </p:grpSpPr>
        <p:sp>
          <p:nvSpPr>
            <p:cNvPr id="46" name="object 46"/>
            <p:cNvSpPr/>
            <p:nvPr/>
          </p:nvSpPr>
          <p:spPr>
            <a:xfrm>
              <a:off x="5035550" y="2702560"/>
              <a:ext cx="2326640" cy="392430"/>
            </a:xfrm>
            <a:custGeom>
              <a:avLst/>
              <a:gdLst/>
              <a:ahLst/>
              <a:cxnLst/>
              <a:rect l="l" t="t" r="r" b="b"/>
              <a:pathLst>
                <a:path w="2326640" h="392430">
                  <a:moveTo>
                    <a:pt x="2261870" y="0"/>
                  </a:moveTo>
                  <a:lnTo>
                    <a:pt x="66039" y="0"/>
                  </a:lnTo>
                  <a:lnTo>
                    <a:pt x="41790" y="5675"/>
                  </a:lnTo>
                  <a:lnTo>
                    <a:pt x="20637" y="20637"/>
                  </a:lnTo>
                  <a:lnTo>
                    <a:pt x="5675" y="41790"/>
                  </a:lnTo>
                  <a:lnTo>
                    <a:pt x="0" y="66039"/>
                  </a:lnTo>
                  <a:lnTo>
                    <a:pt x="0" y="326389"/>
                  </a:lnTo>
                  <a:lnTo>
                    <a:pt x="5675" y="350639"/>
                  </a:lnTo>
                  <a:lnTo>
                    <a:pt x="20637" y="371792"/>
                  </a:lnTo>
                  <a:lnTo>
                    <a:pt x="41790" y="386754"/>
                  </a:lnTo>
                  <a:lnTo>
                    <a:pt x="66039" y="392429"/>
                  </a:lnTo>
                  <a:lnTo>
                    <a:pt x="2261870" y="392429"/>
                  </a:lnTo>
                  <a:lnTo>
                    <a:pt x="2285384" y="386754"/>
                  </a:lnTo>
                  <a:lnTo>
                    <a:pt x="2306161" y="371792"/>
                  </a:lnTo>
                  <a:lnTo>
                    <a:pt x="2320984" y="350639"/>
                  </a:lnTo>
                  <a:lnTo>
                    <a:pt x="2326640" y="326389"/>
                  </a:lnTo>
                  <a:lnTo>
                    <a:pt x="2326640" y="66039"/>
                  </a:lnTo>
                  <a:lnTo>
                    <a:pt x="2320984" y="41790"/>
                  </a:lnTo>
                  <a:lnTo>
                    <a:pt x="2306161" y="20637"/>
                  </a:lnTo>
                  <a:lnTo>
                    <a:pt x="2285384" y="5675"/>
                  </a:lnTo>
                  <a:lnTo>
                    <a:pt x="2261870" y="0"/>
                  </a:lnTo>
                  <a:close/>
                </a:path>
              </a:pathLst>
            </a:custGeom>
            <a:solidFill>
              <a:srgbClr val="009898"/>
            </a:solidFill>
          </p:spPr>
          <p:txBody>
            <a:bodyPr wrap="square" lIns="0" tIns="0" rIns="0" bIns="0" rtlCol="0"/>
            <a:lstStyle/>
            <a:p>
              <a:endParaRPr/>
            </a:p>
          </p:txBody>
        </p:sp>
        <p:sp>
          <p:nvSpPr>
            <p:cNvPr id="47" name="object 47"/>
            <p:cNvSpPr/>
            <p:nvPr/>
          </p:nvSpPr>
          <p:spPr>
            <a:xfrm>
              <a:off x="5035550" y="2702560"/>
              <a:ext cx="2326640" cy="392430"/>
            </a:xfrm>
            <a:custGeom>
              <a:avLst/>
              <a:gdLst/>
              <a:ahLst/>
              <a:cxnLst/>
              <a:rect l="l" t="t" r="r" b="b"/>
              <a:pathLst>
                <a:path w="2326640" h="392430">
                  <a:moveTo>
                    <a:pt x="66039" y="0"/>
                  </a:moveTo>
                  <a:lnTo>
                    <a:pt x="41790" y="5675"/>
                  </a:lnTo>
                  <a:lnTo>
                    <a:pt x="20637" y="20637"/>
                  </a:lnTo>
                  <a:lnTo>
                    <a:pt x="5675" y="41790"/>
                  </a:lnTo>
                  <a:lnTo>
                    <a:pt x="0" y="66039"/>
                  </a:lnTo>
                  <a:lnTo>
                    <a:pt x="0" y="326389"/>
                  </a:lnTo>
                  <a:lnTo>
                    <a:pt x="5675" y="350639"/>
                  </a:lnTo>
                  <a:lnTo>
                    <a:pt x="20637" y="371792"/>
                  </a:lnTo>
                  <a:lnTo>
                    <a:pt x="41790" y="386754"/>
                  </a:lnTo>
                  <a:lnTo>
                    <a:pt x="66039" y="392429"/>
                  </a:lnTo>
                  <a:lnTo>
                    <a:pt x="2261870" y="392429"/>
                  </a:lnTo>
                  <a:lnTo>
                    <a:pt x="2285384" y="386754"/>
                  </a:lnTo>
                  <a:lnTo>
                    <a:pt x="2306161" y="371792"/>
                  </a:lnTo>
                  <a:lnTo>
                    <a:pt x="2320984" y="350639"/>
                  </a:lnTo>
                  <a:lnTo>
                    <a:pt x="2326640" y="326389"/>
                  </a:lnTo>
                  <a:lnTo>
                    <a:pt x="2326640" y="66039"/>
                  </a:lnTo>
                  <a:lnTo>
                    <a:pt x="2320984" y="41790"/>
                  </a:lnTo>
                  <a:lnTo>
                    <a:pt x="2306161" y="20637"/>
                  </a:lnTo>
                  <a:lnTo>
                    <a:pt x="2285384" y="5675"/>
                  </a:lnTo>
                  <a:lnTo>
                    <a:pt x="2261870" y="0"/>
                  </a:lnTo>
                  <a:lnTo>
                    <a:pt x="66039" y="0"/>
                  </a:lnTo>
                  <a:close/>
                </a:path>
              </a:pathLst>
            </a:custGeom>
            <a:ln w="9344">
              <a:solidFill>
                <a:srgbClr val="000000"/>
              </a:solidFill>
            </a:ln>
          </p:spPr>
          <p:txBody>
            <a:bodyPr wrap="square" lIns="0" tIns="0" rIns="0" bIns="0" rtlCol="0"/>
            <a:lstStyle/>
            <a:p>
              <a:endParaRPr/>
            </a:p>
          </p:txBody>
        </p:sp>
      </p:grpSp>
      <p:sp>
        <p:nvSpPr>
          <p:cNvPr id="48" name="object 48"/>
          <p:cNvSpPr txBox="1"/>
          <p:nvPr/>
        </p:nvSpPr>
        <p:spPr>
          <a:xfrm>
            <a:off x="8060267" y="2810509"/>
            <a:ext cx="408940" cy="166712"/>
          </a:xfrm>
          <a:prstGeom prst="rect">
            <a:avLst/>
          </a:prstGeom>
        </p:spPr>
        <p:txBody>
          <a:bodyPr vert="horz" wrap="square" lIns="0" tIns="12700" rIns="0" bIns="0" rtlCol="0">
            <a:spAutoFit/>
          </a:bodyPr>
          <a:lstStyle/>
          <a:p>
            <a:pPr marL="12700">
              <a:lnSpc>
                <a:spcPct val="100000"/>
              </a:lnSpc>
              <a:spcBef>
                <a:spcPts val="100"/>
              </a:spcBef>
            </a:pPr>
            <a:r>
              <a:rPr sz="1000" spc="-5" dirty="0">
                <a:latin typeface="Arial"/>
                <a:cs typeface="Arial"/>
                <a:hlinkClick r:id="rId6" action="ppaction://hlinksldjump"/>
              </a:rPr>
              <a:t>R</a:t>
            </a:r>
            <a:r>
              <a:rPr sz="1000" spc="-10" dirty="0">
                <a:latin typeface="Arial"/>
                <a:cs typeface="Arial"/>
                <a:hlinkClick r:id="rId6" action="ppaction://hlinksldjump"/>
              </a:rPr>
              <a:t>A</a:t>
            </a:r>
            <a:r>
              <a:rPr sz="1000" dirty="0">
                <a:latin typeface="Arial"/>
                <a:cs typeface="Arial"/>
                <a:hlinkClick r:id="rId6" action="ppaction://hlinksldjump"/>
              </a:rPr>
              <a:t>M</a:t>
            </a:r>
            <a:endParaRPr sz="1000">
              <a:latin typeface="Arial"/>
              <a:cs typeface="Arial"/>
            </a:endParaRPr>
          </a:p>
        </p:txBody>
      </p:sp>
      <p:grpSp>
        <p:nvGrpSpPr>
          <p:cNvPr id="49" name="object 49"/>
          <p:cNvGrpSpPr/>
          <p:nvPr/>
        </p:nvGrpSpPr>
        <p:grpSpPr>
          <a:xfrm>
            <a:off x="8773584" y="3288347"/>
            <a:ext cx="3118273" cy="400685"/>
            <a:chOff x="6580187" y="3288347"/>
            <a:chExt cx="2338705" cy="400685"/>
          </a:xfrm>
        </p:grpSpPr>
        <p:sp>
          <p:nvSpPr>
            <p:cNvPr id="50" name="object 50"/>
            <p:cNvSpPr/>
            <p:nvPr/>
          </p:nvSpPr>
          <p:spPr>
            <a:xfrm>
              <a:off x="6584950" y="3293109"/>
              <a:ext cx="2329180" cy="391160"/>
            </a:xfrm>
            <a:custGeom>
              <a:avLst/>
              <a:gdLst/>
              <a:ahLst/>
              <a:cxnLst/>
              <a:rect l="l" t="t" r="r" b="b"/>
              <a:pathLst>
                <a:path w="2329179" h="391160">
                  <a:moveTo>
                    <a:pt x="2264409" y="0"/>
                  </a:moveTo>
                  <a:lnTo>
                    <a:pt x="66040" y="0"/>
                  </a:lnTo>
                  <a:lnTo>
                    <a:pt x="41790" y="5476"/>
                  </a:lnTo>
                  <a:lnTo>
                    <a:pt x="20637" y="20002"/>
                  </a:lnTo>
                  <a:lnTo>
                    <a:pt x="5675" y="40719"/>
                  </a:lnTo>
                  <a:lnTo>
                    <a:pt x="0" y="64769"/>
                  </a:lnTo>
                  <a:lnTo>
                    <a:pt x="0" y="326389"/>
                  </a:lnTo>
                  <a:lnTo>
                    <a:pt x="5675" y="349904"/>
                  </a:lnTo>
                  <a:lnTo>
                    <a:pt x="20637" y="370681"/>
                  </a:lnTo>
                  <a:lnTo>
                    <a:pt x="41790" y="385504"/>
                  </a:lnTo>
                  <a:lnTo>
                    <a:pt x="66040" y="391159"/>
                  </a:lnTo>
                  <a:lnTo>
                    <a:pt x="2264409" y="391159"/>
                  </a:lnTo>
                  <a:lnTo>
                    <a:pt x="2288460" y="385504"/>
                  </a:lnTo>
                  <a:lnTo>
                    <a:pt x="2309177" y="370681"/>
                  </a:lnTo>
                  <a:lnTo>
                    <a:pt x="2323703" y="349904"/>
                  </a:lnTo>
                  <a:lnTo>
                    <a:pt x="2329179" y="326389"/>
                  </a:lnTo>
                  <a:lnTo>
                    <a:pt x="2329179" y="64769"/>
                  </a:lnTo>
                  <a:lnTo>
                    <a:pt x="2323703" y="40719"/>
                  </a:lnTo>
                  <a:lnTo>
                    <a:pt x="2309177" y="20002"/>
                  </a:lnTo>
                  <a:lnTo>
                    <a:pt x="2288460" y="5476"/>
                  </a:lnTo>
                  <a:lnTo>
                    <a:pt x="2264409" y="0"/>
                  </a:lnTo>
                  <a:close/>
                </a:path>
              </a:pathLst>
            </a:custGeom>
            <a:solidFill>
              <a:srgbClr val="00CCFF"/>
            </a:solidFill>
          </p:spPr>
          <p:txBody>
            <a:bodyPr wrap="square" lIns="0" tIns="0" rIns="0" bIns="0" rtlCol="0"/>
            <a:lstStyle/>
            <a:p>
              <a:endParaRPr/>
            </a:p>
          </p:txBody>
        </p:sp>
        <p:sp>
          <p:nvSpPr>
            <p:cNvPr id="51" name="object 51"/>
            <p:cNvSpPr/>
            <p:nvPr/>
          </p:nvSpPr>
          <p:spPr>
            <a:xfrm>
              <a:off x="6584950" y="3293109"/>
              <a:ext cx="2329180" cy="391160"/>
            </a:xfrm>
            <a:custGeom>
              <a:avLst/>
              <a:gdLst/>
              <a:ahLst/>
              <a:cxnLst/>
              <a:rect l="l" t="t" r="r" b="b"/>
              <a:pathLst>
                <a:path w="2329179" h="391160">
                  <a:moveTo>
                    <a:pt x="66040" y="0"/>
                  </a:moveTo>
                  <a:lnTo>
                    <a:pt x="41790" y="5476"/>
                  </a:lnTo>
                  <a:lnTo>
                    <a:pt x="20637" y="20002"/>
                  </a:lnTo>
                  <a:lnTo>
                    <a:pt x="5675" y="40719"/>
                  </a:lnTo>
                  <a:lnTo>
                    <a:pt x="0" y="64769"/>
                  </a:lnTo>
                  <a:lnTo>
                    <a:pt x="0" y="326389"/>
                  </a:lnTo>
                  <a:lnTo>
                    <a:pt x="5675" y="349904"/>
                  </a:lnTo>
                  <a:lnTo>
                    <a:pt x="20637" y="370681"/>
                  </a:lnTo>
                  <a:lnTo>
                    <a:pt x="41790" y="385504"/>
                  </a:lnTo>
                  <a:lnTo>
                    <a:pt x="66040" y="391159"/>
                  </a:lnTo>
                  <a:lnTo>
                    <a:pt x="2264409" y="391159"/>
                  </a:lnTo>
                  <a:lnTo>
                    <a:pt x="2288460" y="385504"/>
                  </a:lnTo>
                  <a:lnTo>
                    <a:pt x="2309177" y="370681"/>
                  </a:lnTo>
                  <a:lnTo>
                    <a:pt x="2323703" y="349904"/>
                  </a:lnTo>
                  <a:lnTo>
                    <a:pt x="2329179" y="326389"/>
                  </a:lnTo>
                  <a:lnTo>
                    <a:pt x="2329179" y="64769"/>
                  </a:lnTo>
                  <a:lnTo>
                    <a:pt x="2323703" y="40719"/>
                  </a:lnTo>
                  <a:lnTo>
                    <a:pt x="2309177" y="20002"/>
                  </a:lnTo>
                  <a:lnTo>
                    <a:pt x="2288460" y="5476"/>
                  </a:lnTo>
                  <a:lnTo>
                    <a:pt x="2264409" y="0"/>
                  </a:lnTo>
                  <a:lnTo>
                    <a:pt x="66040" y="0"/>
                  </a:lnTo>
                  <a:close/>
                </a:path>
              </a:pathLst>
            </a:custGeom>
            <a:ln w="9344">
              <a:solidFill>
                <a:srgbClr val="000000"/>
              </a:solidFill>
            </a:ln>
          </p:spPr>
          <p:txBody>
            <a:bodyPr wrap="square" lIns="0" tIns="0" rIns="0" bIns="0" rtlCol="0"/>
            <a:lstStyle/>
            <a:p>
              <a:endParaRPr/>
            </a:p>
          </p:txBody>
        </p:sp>
      </p:grpSp>
      <p:sp>
        <p:nvSpPr>
          <p:cNvPr id="52" name="object 52"/>
          <p:cNvSpPr txBox="1"/>
          <p:nvPr/>
        </p:nvSpPr>
        <p:spPr>
          <a:xfrm>
            <a:off x="10105812" y="3399790"/>
            <a:ext cx="453813" cy="166712"/>
          </a:xfrm>
          <a:prstGeom prst="rect">
            <a:avLst/>
          </a:prstGeom>
        </p:spPr>
        <p:txBody>
          <a:bodyPr vert="horz" wrap="square" lIns="0" tIns="12700" rIns="0" bIns="0" rtlCol="0">
            <a:spAutoFit/>
          </a:bodyPr>
          <a:lstStyle/>
          <a:p>
            <a:pPr marL="12700">
              <a:lnSpc>
                <a:spcPct val="100000"/>
              </a:lnSpc>
              <a:spcBef>
                <a:spcPts val="100"/>
              </a:spcBef>
            </a:pPr>
            <a:r>
              <a:rPr sz="1000" spc="-10" dirty="0">
                <a:latin typeface="Arial"/>
                <a:cs typeface="Arial"/>
                <a:hlinkClick r:id="rId7" action="ppaction://hlinksldjump"/>
              </a:rPr>
              <a:t>Static</a:t>
            </a:r>
            <a:endParaRPr sz="1000">
              <a:latin typeface="Arial"/>
              <a:cs typeface="Arial"/>
            </a:endParaRPr>
          </a:p>
        </p:txBody>
      </p:sp>
      <p:grpSp>
        <p:nvGrpSpPr>
          <p:cNvPr id="53" name="object 53"/>
          <p:cNvGrpSpPr/>
          <p:nvPr/>
        </p:nvGrpSpPr>
        <p:grpSpPr>
          <a:xfrm>
            <a:off x="8775397" y="3877718"/>
            <a:ext cx="3114887" cy="400685"/>
            <a:chOff x="6581547" y="3877717"/>
            <a:chExt cx="2336165" cy="400685"/>
          </a:xfrm>
        </p:grpSpPr>
        <p:sp>
          <p:nvSpPr>
            <p:cNvPr id="54" name="object 54"/>
            <p:cNvSpPr/>
            <p:nvPr/>
          </p:nvSpPr>
          <p:spPr>
            <a:xfrm>
              <a:off x="6586220" y="3882389"/>
              <a:ext cx="2326640" cy="391160"/>
            </a:xfrm>
            <a:custGeom>
              <a:avLst/>
              <a:gdLst/>
              <a:ahLst/>
              <a:cxnLst/>
              <a:rect l="l" t="t" r="r" b="b"/>
              <a:pathLst>
                <a:path w="2326640" h="391160">
                  <a:moveTo>
                    <a:pt x="2260600" y="0"/>
                  </a:moveTo>
                  <a:lnTo>
                    <a:pt x="64770" y="0"/>
                  </a:lnTo>
                  <a:lnTo>
                    <a:pt x="40719" y="5476"/>
                  </a:lnTo>
                  <a:lnTo>
                    <a:pt x="20002" y="20002"/>
                  </a:lnTo>
                  <a:lnTo>
                    <a:pt x="5476" y="40719"/>
                  </a:lnTo>
                  <a:lnTo>
                    <a:pt x="0" y="64770"/>
                  </a:lnTo>
                  <a:lnTo>
                    <a:pt x="0" y="326390"/>
                  </a:lnTo>
                  <a:lnTo>
                    <a:pt x="5476" y="349904"/>
                  </a:lnTo>
                  <a:lnTo>
                    <a:pt x="20002" y="370681"/>
                  </a:lnTo>
                  <a:lnTo>
                    <a:pt x="40719" y="385504"/>
                  </a:lnTo>
                  <a:lnTo>
                    <a:pt x="64770" y="391160"/>
                  </a:lnTo>
                  <a:lnTo>
                    <a:pt x="2260600" y="391160"/>
                  </a:lnTo>
                  <a:lnTo>
                    <a:pt x="2284849" y="385504"/>
                  </a:lnTo>
                  <a:lnTo>
                    <a:pt x="2306002" y="370681"/>
                  </a:lnTo>
                  <a:lnTo>
                    <a:pt x="2320964" y="349904"/>
                  </a:lnTo>
                  <a:lnTo>
                    <a:pt x="2326639" y="326390"/>
                  </a:lnTo>
                  <a:lnTo>
                    <a:pt x="2326639" y="64770"/>
                  </a:lnTo>
                  <a:lnTo>
                    <a:pt x="2320964" y="40719"/>
                  </a:lnTo>
                  <a:lnTo>
                    <a:pt x="2306002" y="20002"/>
                  </a:lnTo>
                  <a:lnTo>
                    <a:pt x="2284849" y="5476"/>
                  </a:lnTo>
                  <a:lnTo>
                    <a:pt x="2260600" y="0"/>
                  </a:lnTo>
                  <a:close/>
                </a:path>
              </a:pathLst>
            </a:custGeom>
            <a:solidFill>
              <a:srgbClr val="00CCFF"/>
            </a:solidFill>
          </p:spPr>
          <p:txBody>
            <a:bodyPr wrap="square" lIns="0" tIns="0" rIns="0" bIns="0" rtlCol="0"/>
            <a:lstStyle/>
            <a:p>
              <a:endParaRPr/>
            </a:p>
          </p:txBody>
        </p:sp>
        <p:sp>
          <p:nvSpPr>
            <p:cNvPr id="55" name="object 55"/>
            <p:cNvSpPr/>
            <p:nvPr/>
          </p:nvSpPr>
          <p:spPr>
            <a:xfrm>
              <a:off x="6586220" y="3882389"/>
              <a:ext cx="2326640" cy="391160"/>
            </a:xfrm>
            <a:custGeom>
              <a:avLst/>
              <a:gdLst/>
              <a:ahLst/>
              <a:cxnLst/>
              <a:rect l="l" t="t" r="r" b="b"/>
              <a:pathLst>
                <a:path w="2326640" h="391160">
                  <a:moveTo>
                    <a:pt x="64770" y="0"/>
                  </a:moveTo>
                  <a:lnTo>
                    <a:pt x="40719" y="5476"/>
                  </a:lnTo>
                  <a:lnTo>
                    <a:pt x="20002" y="20002"/>
                  </a:lnTo>
                  <a:lnTo>
                    <a:pt x="5476" y="40719"/>
                  </a:lnTo>
                  <a:lnTo>
                    <a:pt x="0" y="64770"/>
                  </a:lnTo>
                  <a:lnTo>
                    <a:pt x="0" y="326390"/>
                  </a:lnTo>
                  <a:lnTo>
                    <a:pt x="5476" y="349904"/>
                  </a:lnTo>
                  <a:lnTo>
                    <a:pt x="20002" y="370681"/>
                  </a:lnTo>
                  <a:lnTo>
                    <a:pt x="40719" y="385504"/>
                  </a:lnTo>
                  <a:lnTo>
                    <a:pt x="64770" y="391160"/>
                  </a:lnTo>
                  <a:lnTo>
                    <a:pt x="2260600" y="391160"/>
                  </a:lnTo>
                  <a:lnTo>
                    <a:pt x="2284849" y="385504"/>
                  </a:lnTo>
                  <a:lnTo>
                    <a:pt x="2306002" y="370681"/>
                  </a:lnTo>
                  <a:lnTo>
                    <a:pt x="2320964" y="349904"/>
                  </a:lnTo>
                  <a:lnTo>
                    <a:pt x="2326639" y="326390"/>
                  </a:lnTo>
                  <a:lnTo>
                    <a:pt x="2326639" y="64770"/>
                  </a:lnTo>
                  <a:lnTo>
                    <a:pt x="2320964" y="40719"/>
                  </a:lnTo>
                  <a:lnTo>
                    <a:pt x="2306002" y="20002"/>
                  </a:lnTo>
                  <a:lnTo>
                    <a:pt x="2284849" y="5476"/>
                  </a:lnTo>
                  <a:lnTo>
                    <a:pt x="2260600" y="0"/>
                  </a:lnTo>
                  <a:lnTo>
                    <a:pt x="64770" y="0"/>
                  </a:lnTo>
                  <a:close/>
                </a:path>
              </a:pathLst>
            </a:custGeom>
            <a:ln w="9344">
              <a:solidFill>
                <a:srgbClr val="000000"/>
              </a:solidFill>
            </a:ln>
          </p:spPr>
          <p:txBody>
            <a:bodyPr wrap="square" lIns="0" tIns="0" rIns="0" bIns="0" rtlCol="0"/>
            <a:lstStyle/>
            <a:p>
              <a:endParaRPr/>
            </a:p>
          </p:txBody>
        </p:sp>
      </p:grpSp>
      <p:sp>
        <p:nvSpPr>
          <p:cNvPr id="56" name="object 56"/>
          <p:cNvSpPr txBox="1"/>
          <p:nvPr/>
        </p:nvSpPr>
        <p:spPr>
          <a:xfrm>
            <a:off x="9987279" y="3989070"/>
            <a:ext cx="690879" cy="166712"/>
          </a:xfrm>
          <a:prstGeom prst="rect">
            <a:avLst/>
          </a:prstGeom>
        </p:spPr>
        <p:txBody>
          <a:bodyPr vert="horz" wrap="square" lIns="0" tIns="12700" rIns="0" bIns="0" rtlCol="0">
            <a:spAutoFit/>
          </a:bodyPr>
          <a:lstStyle/>
          <a:p>
            <a:pPr marL="12700">
              <a:lnSpc>
                <a:spcPct val="100000"/>
              </a:lnSpc>
              <a:spcBef>
                <a:spcPts val="100"/>
              </a:spcBef>
            </a:pPr>
            <a:r>
              <a:rPr sz="1000" spc="-5" dirty="0">
                <a:latin typeface="Arial"/>
                <a:cs typeface="Arial"/>
                <a:hlinkClick r:id="rId8" action="ppaction://hlinksldjump"/>
              </a:rPr>
              <a:t>D</a:t>
            </a:r>
            <a:r>
              <a:rPr sz="1000" spc="10" dirty="0">
                <a:latin typeface="Arial"/>
                <a:cs typeface="Arial"/>
                <a:hlinkClick r:id="rId8" action="ppaction://hlinksldjump"/>
              </a:rPr>
              <a:t>y</a:t>
            </a:r>
            <a:r>
              <a:rPr sz="1000" spc="-10" dirty="0">
                <a:latin typeface="Arial"/>
                <a:cs typeface="Arial"/>
                <a:hlinkClick r:id="rId8" action="ppaction://hlinksldjump"/>
              </a:rPr>
              <a:t>na</a:t>
            </a:r>
            <a:r>
              <a:rPr sz="1000" spc="-5" dirty="0">
                <a:latin typeface="Arial"/>
                <a:cs typeface="Arial"/>
                <a:hlinkClick r:id="rId8" action="ppaction://hlinksldjump"/>
              </a:rPr>
              <a:t>mi</a:t>
            </a:r>
            <a:r>
              <a:rPr sz="1000" dirty="0">
                <a:latin typeface="Arial"/>
                <a:cs typeface="Arial"/>
                <a:hlinkClick r:id="rId8" action="ppaction://hlinksldjump"/>
              </a:rPr>
              <a:t>c</a:t>
            </a:r>
            <a:endParaRPr sz="1000">
              <a:latin typeface="Arial"/>
              <a:cs typeface="Aria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1023237" y="418012"/>
            <a:ext cx="10145529" cy="773536"/>
          </a:xfrm>
        </p:spPr>
        <p:txBody>
          <a:bodyPr>
            <a:noAutofit/>
          </a:bodyPr>
          <a:lstStyle/>
          <a:p>
            <a:pPr>
              <a:buNone/>
            </a:pPr>
            <a:r>
              <a:rPr lang="en-US" sz="4400" dirty="0" smtClean="0">
                <a:latin typeface="Times New Roman" pitchFamily="18" charset="0"/>
                <a:cs typeface="Times New Roman" pitchFamily="18" charset="0"/>
              </a:rPr>
              <a:t>Semi Conductor </a:t>
            </a:r>
            <a:r>
              <a:rPr lang="en-US" sz="4400" dirty="0">
                <a:latin typeface="Times New Roman" pitchFamily="18" charset="0"/>
                <a:cs typeface="Times New Roman" pitchFamily="18" charset="0"/>
              </a:rPr>
              <a:t>Memories </a:t>
            </a:r>
          </a:p>
        </p:txBody>
      </p:sp>
      <p:sp>
        <p:nvSpPr>
          <p:cNvPr id="8" name="Title 7"/>
          <p:cNvSpPr>
            <a:spLocks noGrp="1"/>
          </p:cNvSpPr>
          <p:nvPr>
            <p:ph type="title"/>
          </p:nvPr>
        </p:nvSpPr>
        <p:spPr>
          <a:xfrm>
            <a:off x="554183" y="1411942"/>
            <a:ext cx="11083636" cy="2000548"/>
          </a:xfrm>
        </p:spPr>
        <p:txBody>
          <a:bodyPr>
            <a:normAutofit/>
          </a:bodyPr>
          <a:lstStyle/>
          <a:p>
            <a:pPr algn="ctr"/>
            <a:r>
              <a:rPr lang="en-US" sz="1600" b="0" dirty="0">
                <a:solidFill>
                  <a:schemeClr val="tx1"/>
                </a:solidFill>
                <a:latin typeface="Times New Roman" pitchFamily="18" charset="0"/>
                <a:cs typeface="Times New Roman" pitchFamily="18" charset="0"/>
              </a:rPr>
              <a:t>Computer memory is the storage space in computer where data is to be processed and instructions required for processing are stored.</a:t>
            </a:r>
            <a:br>
              <a:rPr lang="en-US" sz="1600" b="0" dirty="0">
                <a:solidFill>
                  <a:schemeClr val="tx1"/>
                </a:solidFill>
                <a:latin typeface="Times New Roman" pitchFamily="18" charset="0"/>
                <a:cs typeface="Times New Roman" pitchFamily="18" charset="0"/>
              </a:rPr>
            </a:br>
            <a:r>
              <a:rPr lang="en-US" sz="1600" b="0" dirty="0">
                <a:solidFill>
                  <a:schemeClr val="tx1"/>
                </a:solidFill>
                <a:latin typeface="Times New Roman" pitchFamily="18" charset="0"/>
                <a:cs typeface="Times New Roman" pitchFamily="18" charset="0"/>
              </a:rPr>
              <a:t/>
            </a:r>
            <a:br>
              <a:rPr lang="en-US" sz="1600" b="0" dirty="0">
                <a:solidFill>
                  <a:schemeClr val="tx1"/>
                </a:solidFill>
                <a:latin typeface="Times New Roman" pitchFamily="18" charset="0"/>
                <a:cs typeface="Times New Roman" pitchFamily="18" charset="0"/>
              </a:rPr>
            </a:br>
            <a:r>
              <a:rPr lang="en-US" sz="1600" b="0" dirty="0">
                <a:solidFill>
                  <a:schemeClr val="tx1"/>
                </a:solidFill>
                <a:latin typeface="Times New Roman" pitchFamily="18" charset="0"/>
                <a:cs typeface="Times New Roman" pitchFamily="18" charset="0"/>
              </a:rPr>
              <a:t> Computer has 64k words, then this memory unit has 64 * 1024 = 65536 memory location. The address of these locations varies from 0 to 65535.</a:t>
            </a:r>
            <a:br>
              <a:rPr lang="en-US" sz="1600" b="0" dirty="0">
                <a:solidFill>
                  <a:schemeClr val="tx1"/>
                </a:solidFill>
                <a:latin typeface="Times New Roman" pitchFamily="18" charset="0"/>
                <a:cs typeface="Times New Roman" pitchFamily="18" charset="0"/>
              </a:rPr>
            </a:br>
            <a:r>
              <a:rPr lang="en-US" sz="1600" dirty="0">
                <a:solidFill>
                  <a:schemeClr val="tx1"/>
                </a:solidFill>
                <a:latin typeface="Times New Roman" pitchFamily="18" charset="0"/>
                <a:cs typeface="Times New Roman" pitchFamily="18" charset="0"/>
              </a:rPr>
              <a:t/>
            </a:r>
            <a:br>
              <a:rPr lang="en-US" sz="1600" dirty="0">
                <a:solidFill>
                  <a:schemeClr val="tx1"/>
                </a:solidFill>
                <a:latin typeface="Times New Roman" pitchFamily="18" charset="0"/>
                <a:cs typeface="Times New Roman" pitchFamily="18" charset="0"/>
              </a:rPr>
            </a:br>
            <a:r>
              <a:rPr lang="en-US" sz="1600" dirty="0">
                <a:solidFill>
                  <a:schemeClr val="tx1"/>
                </a:solidFill>
                <a:latin typeface="Times New Roman" pitchFamily="18" charset="0"/>
                <a:cs typeface="Times New Roman" pitchFamily="18" charset="0"/>
              </a:rPr>
              <a:t> S/C Memories</a:t>
            </a:r>
          </a:p>
        </p:txBody>
      </p:sp>
      <p:cxnSp>
        <p:nvCxnSpPr>
          <p:cNvPr id="13" name="Straight Connector 12"/>
          <p:cNvCxnSpPr/>
          <p:nvPr/>
        </p:nvCxnSpPr>
        <p:spPr>
          <a:xfrm rot="5400000">
            <a:off x="5824373" y="3528892"/>
            <a:ext cx="336176" cy="19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2493819" y="3697942"/>
            <a:ext cx="3602181" cy="1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003637" y="3697942"/>
            <a:ext cx="3140364" cy="1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2325732" y="3865767"/>
            <a:ext cx="336176" cy="1925"/>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124366" y="4235825"/>
            <a:ext cx="620951" cy="359850"/>
          </a:xfrm>
          <a:prstGeom prst="rect">
            <a:avLst/>
          </a:prstGeom>
          <a:noFill/>
        </p:spPr>
        <p:txBody>
          <a:bodyPr wrap="none" lIns="82048" tIns="41025" rIns="82048" bIns="41025" rtlCol="0">
            <a:spAutoFit/>
          </a:bodyPr>
          <a:lstStyle/>
          <a:p>
            <a:pPr defTabSz="820487"/>
            <a:r>
              <a:rPr lang="en-US" dirty="0" smtClean="0">
                <a:solidFill>
                  <a:prstClr val="black"/>
                </a:solidFill>
              </a:rPr>
              <a:t>RAM</a:t>
            </a:r>
            <a:endParaRPr lang="en-US" dirty="0">
              <a:solidFill>
                <a:prstClr val="black"/>
              </a:solidFill>
            </a:endParaRPr>
          </a:p>
        </p:txBody>
      </p:sp>
      <p:cxnSp>
        <p:nvCxnSpPr>
          <p:cNvPr id="23" name="Straight Connector 22"/>
          <p:cNvCxnSpPr/>
          <p:nvPr/>
        </p:nvCxnSpPr>
        <p:spPr>
          <a:xfrm rot="5400000">
            <a:off x="5768315" y="3933003"/>
            <a:ext cx="470647" cy="1925"/>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634184" y="4303060"/>
            <a:ext cx="637944" cy="359850"/>
          </a:xfrm>
          <a:prstGeom prst="rect">
            <a:avLst/>
          </a:prstGeom>
          <a:noFill/>
        </p:spPr>
        <p:txBody>
          <a:bodyPr wrap="none" lIns="82048" tIns="41025" rIns="82048" bIns="41025" rtlCol="0">
            <a:spAutoFit/>
          </a:bodyPr>
          <a:lstStyle/>
          <a:p>
            <a:pPr defTabSz="820487"/>
            <a:r>
              <a:rPr lang="en-US" dirty="0" smtClean="0">
                <a:solidFill>
                  <a:prstClr val="black"/>
                </a:solidFill>
              </a:rPr>
              <a:t>ROM</a:t>
            </a:r>
            <a:endParaRPr lang="en-US" dirty="0">
              <a:solidFill>
                <a:prstClr val="black"/>
              </a:solidFill>
            </a:endParaRPr>
          </a:p>
        </p:txBody>
      </p:sp>
      <p:cxnSp>
        <p:nvCxnSpPr>
          <p:cNvPr id="27" name="Straight Connector 26"/>
          <p:cNvCxnSpPr/>
          <p:nvPr/>
        </p:nvCxnSpPr>
        <p:spPr>
          <a:xfrm rot="5400000">
            <a:off x="8942294" y="3899386"/>
            <a:ext cx="403412" cy="1925"/>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866912" y="4168589"/>
            <a:ext cx="699499" cy="359850"/>
          </a:xfrm>
          <a:prstGeom prst="rect">
            <a:avLst/>
          </a:prstGeom>
          <a:noFill/>
        </p:spPr>
        <p:txBody>
          <a:bodyPr wrap="none" lIns="82048" tIns="41025" rIns="82048" bIns="41025" rtlCol="0">
            <a:spAutoFit/>
          </a:bodyPr>
          <a:lstStyle/>
          <a:p>
            <a:pPr defTabSz="820487"/>
            <a:r>
              <a:rPr lang="en-US" dirty="0" smtClean="0">
                <a:solidFill>
                  <a:prstClr val="black"/>
                </a:solidFill>
              </a:rPr>
              <a:t>Flash </a:t>
            </a:r>
            <a:endParaRPr lang="en-US" dirty="0">
              <a:solidFill>
                <a:prstClr val="black"/>
              </a:solidFill>
            </a:endParaRPr>
          </a:p>
        </p:txBody>
      </p:sp>
      <p:cxnSp>
        <p:nvCxnSpPr>
          <p:cNvPr id="30" name="Straight Connector 29"/>
          <p:cNvCxnSpPr>
            <a:stCxn id="21" idx="2"/>
          </p:cNvCxnSpPr>
          <p:nvPr/>
        </p:nvCxnSpPr>
        <p:spPr>
          <a:xfrm rot="5400000">
            <a:off x="2018425" y="4424524"/>
            <a:ext cx="245266" cy="587569"/>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21" idx="2"/>
          </p:cNvCxnSpPr>
          <p:nvPr/>
        </p:nvCxnSpPr>
        <p:spPr>
          <a:xfrm rot="16200000" flipH="1">
            <a:off x="2664970" y="4365546"/>
            <a:ext cx="245266" cy="705523"/>
          </a:xfrm>
          <a:prstGeom prst="line">
            <a:avLst/>
          </a:prstGeom>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200728" y="4908178"/>
            <a:ext cx="726750" cy="359850"/>
          </a:xfrm>
          <a:prstGeom prst="rect">
            <a:avLst/>
          </a:prstGeom>
          <a:noFill/>
        </p:spPr>
        <p:txBody>
          <a:bodyPr wrap="none" lIns="82048" tIns="41025" rIns="82048" bIns="41025" rtlCol="0">
            <a:spAutoFit/>
          </a:bodyPr>
          <a:lstStyle/>
          <a:p>
            <a:pPr defTabSz="820487"/>
            <a:r>
              <a:rPr lang="en-US" dirty="0" smtClean="0">
                <a:solidFill>
                  <a:prstClr val="black"/>
                </a:solidFill>
              </a:rPr>
              <a:t>SRAM</a:t>
            </a:r>
            <a:endParaRPr lang="en-US" dirty="0">
              <a:solidFill>
                <a:prstClr val="black"/>
              </a:solidFill>
            </a:endParaRPr>
          </a:p>
        </p:txBody>
      </p:sp>
      <p:sp>
        <p:nvSpPr>
          <p:cNvPr id="35" name="TextBox 34"/>
          <p:cNvSpPr txBox="1"/>
          <p:nvPr/>
        </p:nvSpPr>
        <p:spPr>
          <a:xfrm>
            <a:off x="2863273" y="4908178"/>
            <a:ext cx="763619" cy="359850"/>
          </a:xfrm>
          <a:prstGeom prst="rect">
            <a:avLst/>
          </a:prstGeom>
          <a:noFill/>
        </p:spPr>
        <p:txBody>
          <a:bodyPr wrap="none" lIns="82048" tIns="41025" rIns="82048" bIns="41025" rtlCol="0">
            <a:spAutoFit/>
          </a:bodyPr>
          <a:lstStyle/>
          <a:p>
            <a:pPr defTabSz="820487"/>
            <a:r>
              <a:rPr lang="en-US" dirty="0" smtClean="0">
                <a:solidFill>
                  <a:prstClr val="black"/>
                </a:solidFill>
              </a:rPr>
              <a:t>DRAM</a:t>
            </a:r>
            <a:endParaRPr lang="en-US" dirty="0">
              <a:solidFill>
                <a:prstClr val="black"/>
              </a:solidFill>
            </a:endParaRPr>
          </a:p>
        </p:txBody>
      </p:sp>
      <p:cxnSp>
        <p:nvCxnSpPr>
          <p:cNvPr id="41" name="Straight Connector 40"/>
          <p:cNvCxnSpPr/>
          <p:nvPr/>
        </p:nvCxnSpPr>
        <p:spPr>
          <a:xfrm rot="10800000" flipV="1">
            <a:off x="5264728" y="4639236"/>
            <a:ext cx="554181" cy="336176"/>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4618184" y="5042648"/>
            <a:ext cx="756566" cy="359850"/>
          </a:xfrm>
          <a:prstGeom prst="rect">
            <a:avLst/>
          </a:prstGeom>
          <a:noFill/>
        </p:spPr>
        <p:txBody>
          <a:bodyPr wrap="none" lIns="82048" tIns="41025" rIns="82048" bIns="41025" rtlCol="0">
            <a:spAutoFit/>
          </a:bodyPr>
          <a:lstStyle/>
          <a:p>
            <a:pPr defTabSz="820487"/>
            <a:r>
              <a:rPr lang="en-US" dirty="0" smtClean="0">
                <a:solidFill>
                  <a:prstClr val="black"/>
                </a:solidFill>
              </a:rPr>
              <a:t>PROM</a:t>
            </a:r>
            <a:endParaRPr lang="en-US" dirty="0">
              <a:solidFill>
                <a:prstClr val="black"/>
              </a:solidFill>
            </a:endParaRPr>
          </a:p>
        </p:txBody>
      </p:sp>
      <p:cxnSp>
        <p:nvCxnSpPr>
          <p:cNvPr id="44" name="Straight Connector 43"/>
          <p:cNvCxnSpPr/>
          <p:nvPr/>
        </p:nvCxnSpPr>
        <p:spPr>
          <a:xfrm rot="5400000">
            <a:off x="5986658" y="4840680"/>
            <a:ext cx="403412" cy="1925"/>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5726547" y="5109883"/>
            <a:ext cx="868776" cy="359850"/>
          </a:xfrm>
          <a:prstGeom prst="rect">
            <a:avLst/>
          </a:prstGeom>
          <a:noFill/>
        </p:spPr>
        <p:txBody>
          <a:bodyPr wrap="none" lIns="82048" tIns="41025" rIns="82048" bIns="41025" rtlCol="0">
            <a:spAutoFit/>
          </a:bodyPr>
          <a:lstStyle/>
          <a:p>
            <a:pPr defTabSz="820487"/>
            <a:r>
              <a:rPr lang="en-US" dirty="0" smtClean="0">
                <a:solidFill>
                  <a:prstClr val="black"/>
                </a:solidFill>
              </a:rPr>
              <a:t>EPROM</a:t>
            </a:r>
            <a:endParaRPr lang="en-US" dirty="0">
              <a:solidFill>
                <a:prstClr val="black"/>
              </a:solidFill>
            </a:endParaRPr>
          </a:p>
        </p:txBody>
      </p:sp>
      <p:cxnSp>
        <p:nvCxnSpPr>
          <p:cNvPr id="47" name="Straight Connector 46"/>
          <p:cNvCxnSpPr/>
          <p:nvPr/>
        </p:nvCxnSpPr>
        <p:spPr>
          <a:xfrm>
            <a:off x="6373091" y="4639236"/>
            <a:ext cx="738909" cy="268941"/>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6927275" y="4975413"/>
            <a:ext cx="980986" cy="359850"/>
          </a:xfrm>
          <a:prstGeom prst="rect">
            <a:avLst/>
          </a:prstGeom>
          <a:noFill/>
        </p:spPr>
        <p:txBody>
          <a:bodyPr wrap="none" lIns="82048" tIns="41025" rIns="82048" bIns="41025" rtlCol="0">
            <a:spAutoFit/>
          </a:bodyPr>
          <a:lstStyle/>
          <a:p>
            <a:pPr defTabSz="820487"/>
            <a:r>
              <a:rPr lang="en-US" dirty="0" smtClean="0">
                <a:solidFill>
                  <a:prstClr val="black"/>
                </a:solidFill>
              </a:rPr>
              <a:t>EEPROM</a:t>
            </a:r>
            <a:endParaRPr lang="en-US" dirty="0">
              <a:solidFill>
                <a:prstClr val="black"/>
              </a:solidFill>
            </a:endParaRPr>
          </a:p>
        </p:txBody>
      </p:sp>
      <p:cxnSp>
        <p:nvCxnSpPr>
          <p:cNvPr id="50" name="Straight Connector 49"/>
          <p:cNvCxnSpPr/>
          <p:nvPr/>
        </p:nvCxnSpPr>
        <p:spPr>
          <a:xfrm rot="10800000" flipV="1">
            <a:off x="4618181" y="4572000"/>
            <a:ext cx="1016000" cy="336176"/>
          </a:xfrm>
          <a:prstGeom prst="line">
            <a:avLst/>
          </a:prstGeom>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879273" y="4908176"/>
            <a:ext cx="1293091" cy="359850"/>
          </a:xfrm>
          <a:prstGeom prst="rect">
            <a:avLst/>
          </a:prstGeom>
          <a:noFill/>
        </p:spPr>
        <p:txBody>
          <a:bodyPr wrap="square" lIns="82048" tIns="41025" rIns="82048" bIns="41025" rtlCol="0">
            <a:spAutoFit/>
          </a:bodyPr>
          <a:lstStyle/>
          <a:p>
            <a:pPr defTabSz="820487"/>
            <a:r>
              <a:rPr lang="en-US" dirty="0" smtClean="0">
                <a:solidFill>
                  <a:prstClr val="black"/>
                </a:solidFill>
              </a:rPr>
              <a:t>MASK</a:t>
            </a:r>
            <a:endParaRPr lang="en-US" dirty="0">
              <a:solidFill>
                <a:prstClr val="black"/>
              </a:solidFill>
            </a:endParaRPr>
          </a:p>
        </p:txBody>
      </p:sp>
      <p:cxnSp>
        <p:nvCxnSpPr>
          <p:cNvPr id="53" name="Straight Connector 52"/>
          <p:cNvCxnSpPr>
            <a:stCxn id="24" idx="3"/>
          </p:cNvCxnSpPr>
          <p:nvPr/>
        </p:nvCxnSpPr>
        <p:spPr>
          <a:xfrm>
            <a:off x="6272128" y="4482985"/>
            <a:ext cx="1394056" cy="156250"/>
          </a:xfrm>
          <a:prstGeom prst="line">
            <a:avLst/>
          </a:prstGeom>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7666185" y="4572001"/>
            <a:ext cx="1253497" cy="359850"/>
          </a:xfrm>
          <a:prstGeom prst="rect">
            <a:avLst/>
          </a:prstGeom>
          <a:noFill/>
        </p:spPr>
        <p:txBody>
          <a:bodyPr wrap="none" lIns="82048" tIns="41025" rIns="82048" bIns="41025" rtlCol="0">
            <a:spAutoFit/>
          </a:bodyPr>
          <a:lstStyle/>
          <a:p>
            <a:pPr defTabSz="820487"/>
            <a:r>
              <a:rPr lang="en-US" dirty="0" smtClean="0">
                <a:solidFill>
                  <a:prstClr val="black"/>
                </a:solidFill>
              </a:rPr>
              <a:t>UV  EPROM</a:t>
            </a:r>
            <a:endParaRPr lang="en-US" dirty="0">
              <a:solidFill>
                <a:prstClr val="black"/>
              </a:solidFill>
            </a:endParaRPr>
          </a:p>
        </p:txBody>
      </p:sp>
    </p:spTree>
    <p:extLst>
      <p:ext uri="{BB962C8B-B14F-4D97-AF65-F5344CB8AC3E}">
        <p14:creationId xmlns:p14="http://schemas.microsoft.com/office/powerpoint/2010/main" val="40533027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900" y="467359"/>
            <a:ext cx="5913967" cy="756920"/>
          </a:xfrm>
          <a:prstGeom prst="rect">
            <a:avLst/>
          </a:prstGeom>
        </p:spPr>
        <p:txBody>
          <a:bodyPr vert="horz" wrap="square" lIns="0" tIns="12700" rIns="0" bIns="0" rtlCol="0">
            <a:spAutoFit/>
          </a:bodyPr>
          <a:lstStyle/>
          <a:p>
            <a:pPr marL="12700">
              <a:lnSpc>
                <a:spcPct val="100000"/>
              </a:lnSpc>
              <a:spcBef>
                <a:spcPts val="100"/>
              </a:spcBef>
            </a:pPr>
            <a:r>
              <a:rPr sz="3200" spc="-5" dirty="0"/>
              <a:t>Volatile </a:t>
            </a:r>
            <a:r>
              <a:rPr sz="3200" dirty="0"/>
              <a:t>memory</a:t>
            </a:r>
            <a:endParaRPr sz="3200"/>
          </a:p>
          <a:p>
            <a:pPr marL="12700">
              <a:lnSpc>
                <a:spcPct val="100000"/>
              </a:lnSpc>
            </a:pPr>
            <a:r>
              <a:rPr sz="1600" b="0" u="sng" spc="-5" dirty="0">
                <a:uFill>
                  <a:solidFill>
                    <a:srgbClr val="000000"/>
                  </a:solidFill>
                </a:uFill>
                <a:latin typeface="Arial"/>
                <a:cs typeface="Arial"/>
              </a:rPr>
              <a:t>requires power </a:t>
            </a:r>
            <a:r>
              <a:rPr sz="1600" b="0" u="sng" dirty="0">
                <a:uFill>
                  <a:solidFill>
                    <a:srgbClr val="000000"/>
                  </a:solidFill>
                </a:uFill>
                <a:latin typeface="Arial"/>
                <a:cs typeface="Arial"/>
              </a:rPr>
              <a:t>to </a:t>
            </a:r>
            <a:r>
              <a:rPr sz="1600" b="0" u="sng" spc="-5" dirty="0">
                <a:uFill>
                  <a:solidFill>
                    <a:srgbClr val="000000"/>
                  </a:solidFill>
                </a:uFill>
                <a:latin typeface="Arial"/>
                <a:cs typeface="Arial"/>
              </a:rPr>
              <a:t>maintain the stored</a:t>
            </a:r>
            <a:r>
              <a:rPr sz="1600" b="0" u="sng" spc="-55" dirty="0">
                <a:uFill>
                  <a:solidFill>
                    <a:srgbClr val="000000"/>
                  </a:solidFill>
                </a:uFill>
                <a:latin typeface="Arial"/>
                <a:cs typeface="Arial"/>
              </a:rPr>
              <a:t> </a:t>
            </a:r>
            <a:r>
              <a:rPr sz="1600" b="0" u="sng" spc="-5" dirty="0">
                <a:uFill>
                  <a:solidFill>
                    <a:srgbClr val="000000"/>
                  </a:solidFill>
                </a:uFill>
                <a:latin typeface="Arial"/>
                <a:cs typeface="Arial"/>
              </a:rPr>
              <a:t>information</a:t>
            </a:r>
            <a:endParaRPr sz="1600">
              <a:latin typeface="Arial"/>
              <a:cs typeface="Arial"/>
            </a:endParaRPr>
          </a:p>
        </p:txBody>
      </p:sp>
      <p:sp>
        <p:nvSpPr>
          <p:cNvPr id="3" name="object 3"/>
          <p:cNvSpPr txBox="1"/>
          <p:nvPr/>
        </p:nvSpPr>
        <p:spPr>
          <a:xfrm>
            <a:off x="1932093" y="2646679"/>
            <a:ext cx="153247"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a:cs typeface="Arial"/>
              </a:rPr>
              <a:t>•</a:t>
            </a:r>
            <a:endParaRPr sz="2000">
              <a:latin typeface="Arial"/>
              <a:cs typeface="Arial"/>
            </a:endParaRPr>
          </a:p>
        </p:txBody>
      </p:sp>
      <p:sp>
        <p:nvSpPr>
          <p:cNvPr id="4" name="object 4"/>
          <p:cNvSpPr txBox="1"/>
          <p:nvPr/>
        </p:nvSpPr>
        <p:spPr>
          <a:xfrm>
            <a:off x="2389294" y="2660650"/>
            <a:ext cx="572770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DRAM, </a:t>
            </a:r>
            <a:r>
              <a:rPr sz="2000" b="1" spc="-5" dirty="0">
                <a:latin typeface="Arial"/>
                <a:cs typeface="Arial"/>
              </a:rPr>
              <a:t>e.g. </a:t>
            </a:r>
            <a:r>
              <a:rPr sz="2000" b="1" spc="5" dirty="0">
                <a:latin typeface="Arial"/>
                <a:cs typeface="Arial"/>
              </a:rPr>
              <a:t>DDR </a:t>
            </a:r>
            <a:r>
              <a:rPr sz="2000" b="1" dirty="0">
                <a:latin typeface="Arial"/>
                <a:cs typeface="Arial"/>
              </a:rPr>
              <a:t>SDRAM</a:t>
            </a:r>
            <a:r>
              <a:rPr sz="2000" b="1" spc="-35" dirty="0">
                <a:latin typeface="Arial"/>
                <a:cs typeface="Arial"/>
              </a:rPr>
              <a:t> </a:t>
            </a:r>
            <a:r>
              <a:rPr sz="2000" b="1" spc="-5" dirty="0">
                <a:latin typeface="Arial"/>
                <a:cs typeface="Arial"/>
              </a:rPr>
              <a:t>(Dynamic)</a:t>
            </a:r>
            <a:endParaRPr sz="2000">
              <a:latin typeface="Arial"/>
              <a:cs typeface="Arial"/>
            </a:endParaRPr>
          </a:p>
        </p:txBody>
      </p:sp>
      <p:sp>
        <p:nvSpPr>
          <p:cNvPr id="5" name="object 5"/>
          <p:cNvSpPr txBox="1"/>
          <p:nvPr/>
        </p:nvSpPr>
        <p:spPr>
          <a:xfrm>
            <a:off x="1932093" y="3751579"/>
            <a:ext cx="153247"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Arial"/>
                <a:cs typeface="Arial"/>
              </a:rPr>
              <a:t>•</a:t>
            </a:r>
            <a:endParaRPr sz="2000">
              <a:latin typeface="Arial"/>
              <a:cs typeface="Arial"/>
            </a:endParaRPr>
          </a:p>
        </p:txBody>
      </p:sp>
      <p:sp>
        <p:nvSpPr>
          <p:cNvPr id="6" name="object 6"/>
          <p:cNvSpPr txBox="1"/>
          <p:nvPr/>
        </p:nvSpPr>
        <p:spPr>
          <a:xfrm>
            <a:off x="2389294" y="3765550"/>
            <a:ext cx="5013113"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SRAM (Cache </a:t>
            </a:r>
            <a:r>
              <a:rPr sz="2000" b="1" spc="-5" dirty="0">
                <a:latin typeface="Arial"/>
                <a:cs typeface="Arial"/>
              </a:rPr>
              <a:t>Memory)</a:t>
            </a:r>
            <a:r>
              <a:rPr sz="2000" b="1" spc="-20" dirty="0">
                <a:latin typeface="Arial"/>
                <a:cs typeface="Arial"/>
              </a:rPr>
              <a:t> </a:t>
            </a:r>
            <a:r>
              <a:rPr sz="2000" b="1" spc="-5" dirty="0">
                <a:latin typeface="Arial"/>
                <a:cs typeface="Arial"/>
              </a:rPr>
              <a:t>(Static)</a:t>
            </a:r>
            <a:endParaRPr sz="2000">
              <a:latin typeface="Arial"/>
              <a:cs typeface="Aria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2892" y="467359"/>
            <a:ext cx="3058160" cy="756920"/>
          </a:xfrm>
          <a:prstGeom prst="rect">
            <a:avLst/>
          </a:prstGeom>
        </p:spPr>
        <p:txBody>
          <a:bodyPr vert="horz" wrap="square" lIns="0" tIns="12700" rIns="0" bIns="0" rtlCol="0">
            <a:spAutoFit/>
          </a:bodyPr>
          <a:lstStyle/>
          <a:p>
            <a:pPr marL="12700">
              <a:lnSpc>
                <a:spcPct val="100000"/>
              </a:lnSpc>
              <a:spcBef>
                <a:spcPts val="100"/>
              </a:spcBef>
            </a:pPr>
            <a:r>
              <a:rPr sz="3200" dirty="0"/>
              <a:t>RAM</a:t>
            </a:r>
            <a:endParaRPr sz="3200"/>
          </a:p>
          <a:p>
            <a:pPr marL="12700">
              <a:lnSpc>
                <a:spcPct val="100000"/>
              </a:lnSpc>
            </a:pPr>
            <a:r>
              <a:rPr sz="1600" b="0" i="1" u="sng" spc="-10" dirty="0">
                <a:uFill>
                  <a:solidFill>
                    <a:srgbClr val="000000"/>
                  </a:solidFill>
                </a:uFill>
                <a:latin typeface="Arial"/>
                <a:cs typeface="Arial"/>
              </a:rPr>
              <a:t>Random </a:t>
            </a:r>
            <a:r>
              <a:rPr sz="1600" b="0" i="1" u="sng" dirty="0">
                <a:uFill>
                  <a:solidFill>
                    <a:srgbClr val="000000"/>
                  </a:solidFill>
                </a:uFill>
                <a:latin typeface="Arial"/>
                <a:cs typeface="Arial"/>
              </a:rPr>
              <a:t>Access</a:t>
            </a:r>
            <a:r>
              <a:rPr sz="1600" b="0" i="1" u="sng" spc="-50" dirty="0">
                <a:uFill>
                  <a:solidFill>
                    <a:srgbClr val="000000"/>
                  </a:solidFill>
                </a:uFill>
                <a:latin typeface="Arial"/>
                <a:cs typeface="Arial"/>
              </a:rPr>
              <a:t> </a:t>
            </a:r>
            <a:r>
              <a:rPr sz="1600" b="0" i="1" u="sng" spc="-5" dirty="0">
                <a:uFill>
                  <a:solidFill>
                    <a:srgbClr val="000000"/>
                  </a:solidFill>
                </a:uFill>
                <a:latin typeface="Arial"/>
                <a:cs typeface="Arial"/>
              </a:rPr>
              <a:t>Memory</a:t>
            </a:r>
            <a:endParaRPr sz="1600">
              <a:latin typeface="Arial"/>
              <a:cs typeface="Arial"/>
            </a:endParaRPr>
          </a:p>
        </p:txBody>
      </p:sp>
      <p:sp>
        <p:nvSpPr>
          <p:cNvPr id="3" name="object 3"/>
          <p:cNvSpPr txBox="1"/>
          <p:nvPr/>
        </p:nvSpPr>
        <p:spPr>
          <a:xfrm>
            <a:off x="712893" y="1606551"/>
            <a:ext cx="9515687" cy="3039165"/>
          </a:xfrm>
          <a:prstGeom prst="rect">
            <a:avLst/>
          </a:prstGeom>
        </p:spPr>
        <p:txBody>
          <a:bodyPr vert="horz" wrap="square" lIns="0" tIns="40005" rIns="0" bIns="0" rtlCol="0">
            <a:spAutoFit/>
          </a:bodyPr>
          <a:lstStyle/>
          <a:p>
            <a:pPr marL="354965" marR="156210" indent="-342900" algn="just">
              <a:lnSpc>
                <a:spcPct val="90000"/>
              </a:lnSpc>
              <a:spcBef>
                <a:spcPts val="315"/>
              </a:spcBef>
              <a:buChar char="•"/>
              <a:tabLst>
                <a:tab pos="354965" algn="l"/>
                <a:tab pos="355600" algn="l"/>
              </a:tabLst>
            </a:pPr>
            <a:r>
              <a:rPr sz="1800" dirty="0">
                <a:latin typeface="Arial"/>
                <a:cs typeface="Arial"/>
              </a:rPr>
              <a:t>It </a:t>
            </a:r>
            <a:r>
              <a:rPr sz="1800" spc="-5" dirty="0">
                <a:latin typeface="Arial"/>
                <a:cs typeface="Arial"/>
              </a:rPr>
              <a:t>takes the form of integrated circuits that allow the stored data </a:t>
            </a:r>
            <a:r>
              <a:rPr sz="1800" dirty="0">
                <a:latin typeface="Arial"/>
                <a:cs typeface="Arial"/>
              </a:rPr>
              <a:t>to  </a:t>
            </a:r>
            <a:r>
              <a:rPr sz="1800" spc="-10" dirty="0">
                <a:latin typeface="Arial"/>
                <a:cs typeface="Arial"/>
              </a:rPr>
              <a:t>be </a:t>
            </a:r>
            <a:r>
              <a:rPr sz="1800" spc="-5" dirty="0">
                <a:latin typeface="Arial"/>
                <a:cs typeface="Arial"/>
              </a:rPr>
              <a:t>accessed in </a:t>
            </a:r>
            <a:r>
              <a:rPr sz="1800" spc="-10" dirty="0">
                <a:latin typeface="Arial"/>
                <a:cs typeface="Arial"/>
              </a:rPr>
              <a:t>any order, </a:t>
            </a:r>
            <a:r>
              <a:rPr sz="1800" spc="-5" dirty="0">
                <a:latin typeface="Arial"/>
                <a:cs typeface="Arial"/>
              </a:rPr>
              <a:t>i.e. at </a:t>
            </a:r>
            <a:r>
              <a:rPr sz="1800" i="1" spc="-10" dirty="0">
                <a:latin typeface="Arial"/>
                <a:cs typeface="Arial"/>
              </a:rPr>
              <a:t>random. Regardless </a:t>
            </a:r>
            <a:r>
              <a:rPr sz="1800" i="1" spc="-5" dirty="0">
                <a:latin typeface="Arial"/>
                <a:cs typeface="Arial"/>
              </a:rPr>
              <a:t>of the  memory location that </a:t>
            </a:r>
            <a:r>
              <a:rPr sz="1800" i="1" spc="-10" dirty="0">
                <a:latin typeface="Arial"/>
                <a:cs typeface="Arial"/>
              </a:rPr>
              <a:t>was </a:t>
            </a:r>
            <a:r>
              <a:rPr sz="1800" i="1" spc="-5" dirty="0">
                <a:latin typeface="Arial"/>
                <a:cs typeface="Arial"/>
              </a:rPr>
              <a:t>last</a:t>
            </a:r>
            <a:r>
              <a:rPr sz="1800" i="1" spc="30" dirty="0">
                <a:latin typeface="Arial"/>
                <a:cs typeface="Arial"/>
              </a:rPr>
              <a:t> </a:t>
            </a:r>
            <a:r>
              <a:rPr sz="1800" i="1" spc="-5" dirty="0">
                <a:latin typeface="Arial"/>
                <a:cs typeface="Arial"/>
              </a:rPr>
              <a:t>accessed.</a:t>
            </a:r>
            <a:endParaRPr sz="1800" dirty="0">
              <a:latin typeface="Arial"/>
              <a:cs typeface="Arial"/>
            </a:endParaRPr>
          </a:p>
          <a:p>
            <a:pPr algn="just">
              <a:lnSpc>
                <a:spcPct val="100000"/>
              </a:lnSpc>
              <a:spcBef>
                <a:spcPts val="50"/>
              </a:spcBef>
              <a:buFont typeface="Arial"/>
              <a:buChar char="•"/>
            </a:pPr>
            <a:endParaRPr sz="2450" dirty="0">
              <a:latin typeface="Arial"/>
              <a:cs typeface="Arial"/>
            </a:endParaRPr>
          </a:p>
          <a:p>
            <a:pPr marL="354965" marR="5080" indent="-342900" algn="just">
              <a:lnSpc>
                <a:spcPts val="1939"/>
              </a:lnSpc>
              <a:buChar char="•"/>
              <a:tabLst>
                <a:tab pos="354965" algn="l"/>
                <a:tab pos="355600" algn="l"/>
              </a:tabLst>
            </a:pPr>
            <a:r>
              <a:rPr sz="1800" spc="-5" dirty="0">
                <a:latin typeface="Arial"/>
                <a:cs typeface="Arial"/>
              </a:rPr>
              <a:t>RAM </a:t>
            </a:r>
            <a:r>
              <a:rPr sz="1800" spc="-10" dirty="0">
                <a:latin typeface="Arial"/>
                <a:cs typeface="Arial"/>
              </a:rPr>
              <a:t>generally </a:t>
            </a:r>
            <a:r>
              <a:rPr sz="1800" spc="-5" dirty="0">
                <a:latin typeface="Arial"/>
                <a:cs typeface="Arial"/>
              </a:rPr>
              <a:t>store </a:t>
            </a:r>
            <a:r>
              <a:rPr sz="1800" dirty="0">
                <a:latin typeface="Arial"/>
                <a:cs typeface="Arial"/>
              </a:rPr>
              <a:t>a </a:t>
            </a:r>
            <a:r>
              <a:rPr sz="1800" spc="-5" dirty="0">
                <a:latin typeface="Arial"/>
                <a:cs typeface="Arial"/>
              </a:rPr>
              <a:t>bit of data in either the state </a:t>
            </a:r>
            <a:r>
              <a:rPr sz="1800" spc="-10" dirty="0">
                <a:latin typeface="Arial"/>
                <a:cs typeface="Arial"/>
              </a:rPr>
              <a:t>of </a:t>
            </a:r>
            <a:r>
              <a:rPr sz="1800" dirty="0">
                <a:latin typeface="Arial"/>
                <a:cs typeface="Arial"/>
              </a:rPr>
              <a:t>a </a:t>
            </a:r>
            <a:r>
              <a:rPr sz="1800" spc="-5" dirty="0">
                <a:latin typeface="Arial"/>
                <a:cs typeface="Arial"/>
              </a:rPr>
              <a:t>flip-flop, as  in </a:t>
            </a:r>
            <a:r>
              <a:rPr sz="1800" b="1" spc="-5" dirty="0">
                <a:latin typeface="Arial"/>
                <a:cs typeface="Arial"/>
              </a:rPr>
              <a:t>SRAM </a:t>
            </a:r>
            <a:r>
              <a:rPr sz="1800" spc="-5" dirty="0">
                <a:latin typeface="Arial"/>
                <a:cs typeface="Arial"/>
              </a:rPr>
              <a:t>(static RAM), </a:t>
            </a:r>
            <a:r>
              <a:rPr sz="1800" spc="-10" dirty="0">
                <a:latin typeface="Arial"/>
                <a:cs typeface="Arial"/>
              </a:rPr>
              <a:t>or as </a:t>
            </a:r>
            <a:r>
              <a:rPr sz="1800" dirty="0">
                <a:latin typeface="Arial"/>
                <a:cs typeface="Arial"/>
              </a:rPr>
              <a:t>a </a:t>
            </a:r>
            <a:r>
              <a:rPr sz="1800" spc="-5" dirty="0">
                <a:latin typeface="Arial"/>
                <a:cs typeface="Arial"/>
              </a:rPr>
              <a:t>charge in </a:t>
            </a:r>
            <a:r>
              <a:rPr sz="1800" dirty="0">
                <a:latin typeface="Arial"/>
                <a:cs typeface="Arial"/>
              </a:rPr>
              <a:t>a </a:t>
            </a:r>
            <a:r>
              <a:rPr sz="1800" spc="-5" dirty="0">
                <a:latin typeface="Arial"/>
                <a:cs typeface="Arial"/>
              </a:rPr>
              <a:t>capacitor </a:t>
            </a:r>
            <a:r>
              <a:rPr sz="1800" dirty="0">
                <a:latin typeface="Arial"/>
                <a:cs typeface="Arial"/>
              </a:rPr>
              <a:t>(or </a:t>
            </a:r>
            <a:r>
              <a:rPr sz="1800" spc="-5" dirty="0">
                <a:latin typeface="Arial"/>
                <a:cs typeface="Arial"/>
              </a:rPr>
              <a:t>transistor  gate), </a:t>
            </a:r>
            <a:r>
              <a:rPr sz="1800" spc="-10" dirty="0">
                <a:latin typeface="Arial"/>
                <a:cs typeface="Arial"/>
              </a:rPr>
              <a:t>as </a:t>
            </a:r>
            <a:r>
              <a:rPr sz="1800" spc="-5" dirty="0">
                <a:latin typeface="Arial"/>
                <a:cs typeface="Arial"/>
              </a:rPr>
              <a:t>in </a:t>
            </a:r>
            <a:r>
              <a:rPr sz="1800" b="1" spc="-5" dirty="0">
                <a:latin typeface="Arial"/>
                <a:cs typeface="Arial"/>
              </a:rPr>
              <a:t>DRAM </a:t>
            </a:r>
            <a:r>
              <a:rPr sz="1800" spc="-5" dirty="0">
                <a:latin typeface="Arial"/>
                <a:cs typeface="Arial"/>
              </a:rPr>
              <a:t>(dynamic RAM), </a:t>
            </a:r>
            <a:r>
              <a:rPr sz="1800" b="1" spc="-5" dirty="0">
                <a:latin typeface="Arial"/>
                <a:cs typeface="Arial"/>
              </a:rPr>
              <a:t>EPROM</a:t>
            </a:r>
            <a:r>
              <a:rPr sz="1800" spc="-5" dirty="0">
                <a:latin typeface="Arial"/>
                <a:cs typeface="Arial"/>
              </a:rPr>
              <a:t>, </a:t>
            </a:r>
            <a:r>
              <a:rPr sz="1800" b="1" spc="-5" dirty="0">
                <a:latin typeface="Arial"/>
                <a:cs typeface="Arial"/>
              </a:rPr>
              <a:t>EEPROM </a:t>
            </a:r>
            <a:r>
              <a:rPr sz="1800" spc="-10" dirty="0">
                <a:latin typeface="Arial"/>
                <a:cs typeface="Arial"/>
              </a:rPr>
              <a:t>and</a:t>
            </a:r>
            <a:r>
              <a:rPr sz="1800" spc="75" dirty="0">
                <a:latin typeface="Arial"/>
                <a:cs typeface="Arial"/>
              </a:rPr>
              <a:t> </a:t>
            </a:r>
            <a:r>
              <a:rPr sz="1800" b="1" spc="-5" dirty="0">
                <a:latin typeface="Arial"/>
                <a:cs typeface="Arial"/>
              </a:rPr>
              <a:t>Flash</a:t>
            </a:r>
            <a:r>
              <a:rPr sz="1800" spc="-5" dirty="0">
                <a:latin typeface="Arial"/>
                <a:cs typeface="Arial"/>
              </a:rPr>
              <a:t>.</a:t>
            </a:r>
            <a:endParaRPr sz="1800" dirty="0">
              <a:latin typeface="Arial"/>
              <a:cs typeface="Arial"/>
            </a:endParaRPr>
          </a:p>
          <a:p>
            <a:pPr algn="just">
              <a:lnSpc>
                <a:spcPct val="100000"/>
              </a:lnSpc>
              <a:spcBef>
                <a:spcPts val="50"/>
              </a:spcBef>
              <a:buFont typeface="Arial"/>
              <a:buChar char="•"/>
            </a:pPr>
            <a:endParaRPr sz="2400" dirty="0">
              <a:latin typeface="Arial"/>
              <a:cs typeface="Arial"/>
            </a:endParaRPr>
          </a:p>
          <a:p>
            <a:pPr marL="354965" marR="58419" indent="-342900" algn="just">
              <a:lnSpc>
                <a:spcPct val="89900"/>
              </a:lnSpc>
              <a:buChar char="•"/>
              <a:tabLst>
                <a:tab pos="354965" algn="l"/>
                <a:tab pos="355600" algn="l"/>
              </a:tabLst>
            </a:pPr>
            <a:r>
              <a:rPr sz="1800" spc="-5" dirty="0">
                <a:latin typeface="Arial"/>
                <a:cs typeface="Arial"/>
              </a:rPr>
              <a:t>Some types have circuitry </a:t>
            </a:r>
            <a:r>
              <a:rPr sz="1800" dirty="0">
                <a:latin typeface="Arial"/>
                <a:cs typeface="Arial"/>
              </a:rPr>
              <a:t>to </a:t>
            </a:r>
            <a:r>
              <a:rPr sz="1800" spc="-5" dirty="0">
                <a:latin typeface="Arial"/>
                <a:cs typeface="Arial"/>
              </a:rPr>
              <a:t>detect </a:t>
            </a:r>
            <a:r>
              <a:rPr sz="1800" spc="-10" dirty="0">
                <a:latin typeface="Arial"/>
                <a:cs typeface="Arial"/>
              </a:rPr>
              <a:t>and/or </a:t>
            </a:r>
            <a:r>
              <a:rPr sz="1800" spc="-5" dirty="0">
                <a:latin typeface="Arial"/>
                <a:cs typeface="Arial"/>
              </a:rPr>
              <a:t>correct </a:t>
            </a:r>
            <a:r>
              <a:rPr sz="1800" spc="-10" dirty="0">
                <a:latin typeface="Arial"/>
                <a:cs typeface="Arial"/>
              </a:rPr>
              <a:t>random </a:t>
            </a:r>
            <a:r>
              <a:rPr sz="1800" spc="-5" dirty="0">
                <a:latin typeface="Arial"/>
                <a:cs typeface="Arial"/>
              </a:rPr>
              <a:t>faults  </a:t>
            </a:r>
            <a:r>
              <a:rPr sz="1800" spc="-10" dirty="0">
                <a:latin typeface="Arial"/>
                <a:cs typeface="Arial"/>
              </a:rPr>
              <a:t>called </a:t>
            </a:r>
            <a:r>
              <a:rPr sz="1800" i="1" spc="-5" dirty="0">
                <a:latin typeface="Arial"/>
                <a:cs typeface="Arial"/>
              </a:rPr>
              <a:t>memory errors </a:t>
            </a:r>
            <a:r>
              <a:rPr sz="1800" spc="-5" dirty="0">
                <a:latin typeface="Arial"/>
                <a:cs typeface="Arial"/>
              </a:rPr>
              <a:t>in the stored data, </a:t>
            </a:r>
            <a:r>
              <a:rPr sz="1800" spc="-10" dirty="0">
                <a:latin typeface="Arial"/>
                <a:cs typeface="Arial"/>
              </a:rPr>
              <a:t>using </a:t>
            </a:r>
            <a:r>
              <a:rPr sz="1800" spc="-5" dirty="0">
                <a:latin typeface="Arial"/>
                <a:cs typeface="Arial"/>
              </a:rPr>
              <a:t>parity bits </a:t>
            </a:r>
            <a:r>
              <a:rPr sz="1800" spc="-10" dirty="0">
                <a:latin typeface="Arial"/>
                <a:cs typeface="Arial"/>
              </a:rPr>
              <a:t>or </a:t>
            </a:r>
            <a:r>
              <a:rPr sz="1800" spc="-5" dirty="0">
                <a:latin typeface="Arial"/>
                <a:cs typeface="Arial"/>
              </a:rPr>
              <a:t>error  correction codes. RAM of the </a:t>
            </a:r>
            <a:r>
              <a:rPr sz="1800" i="1" spc="-10" dirty="0">
                <a:latin typeface="Arial"/>
                <a:cs typeface="Arial"/>
              </a:rPr>
              <a:t>read-only </a:t>
            </a:r>
            <a:r>
              <a:rPr sz="1800" spc="-5" dirty="0">
                <a:latin typeface="Arial"/>
                <a:cs typeface="Arial"/>
              </a:rPr>
              <a:t>type, </a:t>
            </a:r>
            <a:r>
              <a:rPr sz="1800" b="1" spc="-5" dirty="0">
                <a:latin typeface="Arial"/>
                <a:cs typeface="Arial"/>
              </a:rPr>
              <a:t>ROM</a:t>
            </a:r>
            <a:r>
              <a:rPr sz="1800" spc="-5" dirty="0">
                <a:latin typeface="Arial"/>
                <a:cs typeface="Arial"/>
              </a:rPr>
              <a:t>, instead uses </a:t>
            </a:r>
            <a:r>
              <a:rPr sz="1800" dirty="0">
                <a:latin typeface="Arial"/>
                <a:cs typeface="Arial"/>
              </a:rPr>
              <a:t>a  </a:t>
            </a:r>
            <a:r>
              <a:rPr sz="1800" spc="-5" dirty="0">
                <a:latin typeface="Arial"/>
                <a:cs typeface="Arial"/>
              </a:rPr>
              <a:t>metal </a:t>
            </a:r>
            <a:r>
              <a:rPr sz="1800" dirty="0">
                <a:latin typeface="Arial"/>
                <a:cs typeface="Arial"/>
              </a:rPr>
              <a:t>mask to </a:t>
            </a:r>
            <a:r>
              <a:rPr sz="1800" spc="-10" dirty="0">
                <a:latin typeface="Arial"/>
                <a:cs typeface="Arial"/>
              </a:rPr>
              <a:t>permanently enable/disable selected </a:t>
            </a:r>
            <a:r>
              <a:rPr sz="1800" spc="-5" dirty="0">
                <a:latin typeface="Arial"/>
                <a:cs typeface="Arial"/>
              </a:rPr>
              <a:t>transistors,  </a:t>
            </a:r>
            <a:r>
              <a:rPr sz="1800" spc="-10" dirty="0">
                <a:latin typeface="Arial"/>
                <a:cs typeface="Arial"/>
              </a:rPr>
              <a:t>instead </a:t>
            </a:r>
            <a:r>
              <a:rPr sz="1800" spc="-5" dirty="0">
                <a:latin typeface="Arial"/>
                <a:cs typeface="Arial"/>
              </a:rPr>
              <a:t>of storing </a:t>
            </a:r>
            <a:r>
              <a:rPr sz="1800" dirty="0">
                <a:latin typeface="Arial"/>
                <a:cs typeface="Arial"/>
              </a:rPr>
              <a:t>a </a:t>
            </a:r>
            <a:r>
              <a:rPr sz="1800" spc="-5" dirty="0">
                <a:latin typeface="Arial"/>
                <a:cs typeface="Arial"/>
              </a:rPr>
              <a:t>charge in</a:t>
            </a:r>
            <a:r>
              <a:rPr sz="1800" spc="10" dirty="0">
                <a:latin typeface="Arial"/>
                <a:cs typeface="Arial"/>
              </a:rPr>
              <a:t> </a:t>
            </a:r>
            <a:r>
              <a:rPr sz="1800" spc="-5" dirty="0">
                <a:latin typeface="Arial"/>
                <a:cs typeface="Arial"/>
              </a:rPr>
              <a:t>them.</a:t>
            </a:r>
            <a:endParaRPr sz="1800" dirty="0">
              <a:latin typeface="Arial"/>
              <a:cs typeface="Aria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itchFamily="18" charset="0"/>
                <a:cs typeface="Times New Roman" pitchFamily="18" charset="0"/>
              </a:rPr>
              <a:t>RAM (Random Access Memory)</a:t>
            </a:r>
            <a:endParaRPr lang="en-US" dirty="0"/>
          </a:p>
        </p:txBody>
      </p:sp>
      <p:sp>
        <p:nvSpPr>
          <p:cNvPr id="3" name="Content Placeholder 2"/>
          <p:cNvSpPr>
            <a:spLocks noGrp="1"/>
          </p:cNvSpPr>
          <p:nvPr>
            <p:ph idx="1"/>
          </p:nvPr>
        </p:nvSpPr>
        <p:spPr>
          <a:xfrm>
            <a:off x="838200" y="1528354"/>
            <a:ext cx="10515600" cy="4976949"/>
          </a:xfrm>
        </p:spPr>
        <p:txBody>
          <a:bodyPr>
            <a:normAutofit/>
          </a:bodyPr>
          <a:lstStyle/>
          <a:p>
            <a:pPr defTabSz="820487">
              <a:spcBef>
                <a:spcPct val="50000"/>
              </a:spcBef>
              <a:buNone/>
            </a:pPr>
            <a:r>
              <a:rPr lang="en-US" sz="1600" dirty="0" smtClean="0">
                <a:solidFill>
                  <a:prstClr val="black"/>
                </a:solidFill>
                <a:latin typeface="Times New Roman" pitchFamily="18" charset="0"/>
                <a:cs typeface="Times New Roman" pitchFamily="18" charset="0"/>
              </a:rPr>
              <a:t>RAM is for temporary data storage. It is read/write memory and can store data only when power is applied, hence it is volatile. </a:t>
            </a:r>
          </a:p>
          <a:p>
            <a:pPr defTabSz="820487">
              <a:spcBef>
                <a:spcPct val="50000"/>
              </a:spcBef>
              <a:buNone/>
            </a:pPr>
            <a:r>
              <a:rPr lang="en-US" sz="1600" dirty="0" smtClean="0">
                <a:solidFill>
                  <a:prstClr val="black"/>
                </a:solidFill>
                <a:latin typeface="Times New Roman" pitchFamily="18" charset="0"/>
                <a:cs typeface="Times New Roman" pitchFamily="18" charset="0"/>
              </a:rPr>
              <a:t>Two categories are static RAM (SRAM) and dynamic RAM (DRAM).</a:t>
            </a:r>
          </a:p>
          <a:p>
            <a:pPr algn="just" defTabSz="820487">
              <a:spcBef>
                <a:spcPct val="50000"/>
              </a:spcBef>
              <a:buNone/>
            </a:pPr>
            <a:r>
              <a:rPr lang="en-US" sz="1600" dirty="0" smtClean="0">
                <a:solidFill>
                  <a:prstClr val="black"/>
                </a:solidFill>
                <a:latin typeface="Times New Roman" pitchFamily="18" charset="0"/>
                <a:cs typeface="Times New Roman" pitchFamily="18" charset="0"/>
              </a:rPr>
              <a:t>     </a:t>
            </a:r>
            <a:r>
              <a:rPr lang="en-US" sz="1600" dirty="0" smtClean="0">
                <a:latin typeface="Times New Roman" pitchFamily="18" charset="0"/>
                <a:cs typeface="Times New Roman" pitchFamily="18" charset="0"/>
              </a:rPr>
              <a:t>SRAM or Static Random Access Memory is a form of semiconductor memory widely used in electronics, microprocessor and general computing applications. This form of semiconductor memory gains its name from the fact that data is held in there in a static fashion, and does not need to be dynamically updated as in the case of DRAM memory. While the data in the SRAM memory does not need to be refreshed dynamically, it is still volatile, meaning that when the power is removed from the memory device, the data is not held, and will disappear. </a:t>
            </a:r>
            <a:r>
              <a:rPr lang="en-US" sz="1600" dirty="0" smtClean="0">
                <a:solidFill>
                  <a:prstClr val="black"/>
                </a:solidFill>
                <a:latin typeface="Times New Roman" pitchFamily="18" charset="0"/>
                <a:cs typeface="Times New Roman" pitchFamily="18" charset="0"/>
              </a:rPr>
              <a:t>SRAM uses semiconductor latch memory cells. The cells are organized into an array of rows and columns. SRAM is faster than DRAM but is more complex, takes up more space, and is more expensive. </a:t>
            </a:r>
          </a:p>
          <a:p>
            <a:pPr defTabSz="820487">
              <a:spcBef>
                <a:spcPct val="50000"/>
              </a:spcBef>
              <a:buNone/>
            </a:pPr>
            <a:endParaRPr lang="en-US" sz="1600" dirty="0" smtClean="0">
              <a:solidFill>
                <a:prstClr val="black"/>
              </a:solidFill>
              <a:latin typeface="Times New Roman" pitchFamily="18" charset="0"/>
              <a:cs typeface="Times New Roman" pitchFamily="18" charset="0"/>
            </a:endParaRPr>
          </a:p>
          <a:p>
            <a:pPr algn="just" fontAlgn="base"/>
            <a:r>
              <a:rPr lang="en-US" sz="1600" dirty="0" smtClean="0">
                <a:latin typeface="Times New Roman" pitchFamily="18" charset="0"/>
                <a:cs typeface="Times New Roman" pitchFamily="18" charset="0"/>
              </a:rPr>
              <a:t>It stores each bit of data on a small capacitor within the memory cell. The capacitor can be either charged or discharged and this provides the two states, "1" or "0" for the cell. Since the charge within the capacitor leaks, it is necessary to refresh each memory cell periodically. This refresh requirement gives rise to the term dynamic - static memories do not have a need to be refreshed. The advantage of a DRAM is the simplicity of the cell - it only requires a single transistor compared to around six in a typical static RAM, SRAM memory cell. In view of its simplicity, the costs of DRAM are much lower than those for SRAM, and they are able to provide much higher levels of memory density. However the DRAM has disadvantages as well, and as a result, most computers use both DRAM technology and SRAM, but in different </a:t>
            </a:r>
            <a:r>
              <a:rPr lang="en-US" sz="1600" dirty="0" err="1" smtClean="0">
                <a:latin typeface="Times New Roman" pitchFamily="18" charset="0"/>
                <a:cs typeface="Times New Roman" pitchFamily="18" charset="0"/>
              </a:rPr>
              <a:t>areas.In</a:t>
            </a:r>
            <a:r>
              <a:rPr lang="en-US" sz="1600" dirty="0" smtClean="0">
                <a:latin typeface="Times New Roman" pitchFamily="18" charset="0"/>
                <a:cs typeface="Times New Roman" pitchFamily="18" charset="0"/>
              </a:rPr>
              <a:t> view of the fact that power is required for the DRAM to maintain its data, it is what is termed a volatile memory. Memory technologies such as Flash are non-volatile and retain data even when the power is removed</a:t>
            </a:r>
          </a:p>
          <a:p>
            <a:pPr>
              <a:buNone/>
            </a:pPr>
            <a:endParaRPr lang="en-US" sz="1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2892" y="467359"/>
            <a:ext cx="3811693" cy="756920"/>
          </a:xfrm>
          <a:prstGeom prst="rect">
            <a:avLst/>
          </a:prstGeom>
        </p:spPr>
        <p:txBody>
          <a:bodyPr vert="horz" wrap="square" lIns="0" tIns="12700" rIns="0" bIns="0" rtlCol="0">
            <a:spAutoFit/>
          </a:bodyPr>
          <a:lstStyle/>
          <a:p>
            <a:pPr marL="12700">
              <a:lnSpc>
                <a:spcPct val="100000"/>
              </a:lnSpc>
              <a:spcBef>
                <a:spcPts val="100"/>
              </a:spcBef>
            </a:pPr>
            <a:r>
              <a:rPr sz="3200" dirty="0"/>
              <a:t>SRAM</a:t>
            </a:r>
            <a:endParaRPr sz="3200"/>
          </a:p>
          <a:p>
            <a:pPr marL="12700">
              <a:lnSpc>
                <a:spcPct val="100000"/>
              </a:lnSpc>
            </a:pPr>
            <a:r>
              <a:rPr sz="1600" b="0" i="1" u="sng" spc="-5" dirty="0">
                <a:uFill>
                  <a:solidFill>
                    <a:srgbClr val="000000"/>
                  </a:solidFill>
                </a:uFill>
                <a:latin typeface="Arial"/>
                <a:cs typeface="Arial"/>
              </a:rPr>
              <a:t>Static </a:t>
            </a:r>
            <a:r>
              <a:rPr sz="1600" b="0" i="1" u="sng" spc="-10" dirty="0">
                <a:uFill>
                  <a:solidFill>
                    <a:srgbClr val="000000"/>
                  </a:solidFill>
                </a:uFill>
                <a:latin typeface="Arial"/>
                <a:cs typeface="Arial"/>
              </a:rPr>
              <a:t>Random </a:t>
            </a:r>
            <a:r>
              <a:rPr sz="1600" b="0" i="1" u="sng" spc="-5" dirty="0">
                <a:uFill>
                  <a:solidFill>
                    <a:srgbClr val="000000"/>
                  </a:solidFill>
                </a:uFill>
                <a:latin typeface="Arial"/>
                <a:cs typeface="Arial"/>
              </a:rPr>
              <a:t>Access</a:t>
            </a:r>
            <a:r>
              <a:rPr sz="1600" b="0" i="1" u="sng" spc="10" dirty="0">
                <a:uFill>
                  <a:solidFill>
                    <a:srgbClr val="000000"/>
                  </a:solidFill>
                </a:uFill>
                <a:latin typeface="Arial"/>
                <a:cs typeface="Arial"/>
              </a:rPr>
              <a:t> </a:t>
            </a:r>
            <a:r>
              <a:rPr sz="1600" b="0" i="1" u="sng" spc="-10" dirty="0">
                <a:uFill>
                  <a:solidFill>
                    <a:srgbClr val="000000"/>
                  </a:solidFill>
                </a:uFill>
                <a:latin typeface="Arial"/>
                <a:cs typeface="Arial"/>
              </a:rPr>
              <a:t>Memory</a:t>
            </a:r>
            <a:endParaRPr sz="1600">
              <a:latin typeface="Arial"/>
              <a:cs typeface="Arial"/>
            </a:endParaRPr>
          </a:p>
        </p:txBody>
      </p:sp>
      <p:sp>
        <p:nvSpPr>
          <p:cNvPr id="3" name="object 3"/>
          <p:cNvSpPr txBox="1"/>
          <p:nvPr/>
        </p:nvSpPr>
        <p:spPr>
          <a:xfrm>
            <a:off x="712892" y="1579880"/>
            <a:ext cx="10737427" cy="3101747"/>
          </a:xfrm>
          <a:prstGeom prst="rect">
            <a:avLst/>
          </a:prstGeom>
        </p:spPr>
        <p:txBody>
          <a:bodyPr vert="horz" wrap="square" lIns="0" tIns="67945" rIns="0" bIns="0" rtlCol="0">
            <a:spAutoFit/>
          </a:bodyPr>
          <a:lstStyle/>
          <a:p>
            <a:pPr marL="354965" marR="5080" indent="-342900" algn="just">
              <a:lnSpc>
                <a:spcPct val="79900"/>
              </a:lnSpc>
              <a:spcBef>
                <a:spcPts val="535"/>
              </a:spcBef>
              <a:buChar char="•"/>
              <a:tabLst>
                <a:tab pos="354965" algn="l"/>
                <a:tab pos="355600" algn="l"/>
              </a:tabLst>
            </a:pPr>
            <a:r>
              <a:rPr sz="1800" spc="-5" dirty="0">
                <a:latin typeface="Arial"/>
                <a:cs typeface="Arial"/>
              </a:rPr>
              <a:t>Static </a:t>
            </a:r>
            <a:r>
              <a:rPr sz="1800" spc="-10" dirty="0">
                <a:latin typeface="Arial"/>
                <a:cs typeface="Arial"/>
              </a:rPr>
              <a:t>Random </a:t>
            </a:r>
            <a:r>
              <a:rPr sz="1800" spc="-5" dirty="0">
                <a:latin typeface="Arial"/>
                <a:cs typeface="Arial"/>
              </a:rPr>
              <a:t>Access Memory </a:t>
            </a:r>
            <a:r>
              <a:rPr sz="1800" spc="-10" dirty="0">
                <a:latin typeface="Arial"/>
                <a:cs typeface="Arial"/>
              </a:rPr>
              <a:t>uses multiple </a:t>
            </a:r>
            <a:r>
              <a:rPr sz="1800" spc="-5" dirty="0">
                <a:latin typeface="Arial"/>
                <a:cs typeface="Arial"/>
              </a:rPr>
              <a:t>transistors, </a:t>
            </a:r>
            <a:r>
              <a:rPr sz="1800" spc="-10" dirty="0">
                <a:latin typeface="Arial"/>
                <a:cs typeface="Arial"/>
              </a:rPr>
              <a:t>typically </a:t>
            </a:r>
            <a:r>
              <a:rPr sz="1800" spc="-5" dirty="0">
                <a:latin typeface="Arial"/>
                <a:cs typeface="Arial"/>
              </a:rPr>
              <a:t>four </a:t>
            </a:r>
            <a:r>
              <a:rPr sz="1800" dirty="0">
                <a:latin typeface="Arial"/>
                <a:cs typeface="Arial"/>
              </a:rPr>
              <a:t>to  </a:t>
            </a:r>
            <a:r>
              <a:rPr sz="1800" spc="-5" dirty="0">
                <a:latin typeface="Arial"/>
                <a:cs typeface="Arial"/>
              </a:rPr>
              <a:t>six, for </a:t>
            </a:r>
            <a:r>
              <a:rPr sz="1800" spc="-10" dirty="0">
                <a:latin typeface="Arial"/>
                <a:cs typeface="Arial"/>
              </a:rPr>
              <a:t>each </a:t>
            </a:r>
            <a:r>
              <a:rPr sz="1800" spc="-5" dirty="0">
                <a:latin typeface="Arial"/>
                <a:cs typeface="Arial"/>
              </a:rPr>
              <a:t>memory </a:t>
            </a:r>
            <a:r>
              <a:rPr sz="1800" dirty="0">
                <a:latin typeface="Arial"/>
                <a:cs typeface="Arial"/>
              </a:rPr>
              <a:t>cell </a:t>
            </a:r>
            <a:r>
              <a:rPr sz="1800" spc="-5" dirty="0">
                <a:latin typeface="Arial"/>
                <a:cs typeface="Arial"/>
              </a:rPr>
              <a:t>but doesn't have </a:t>
            </a:r>
            <a:r>
              <a:rPr sz="1800" dirty="0">
                <a:latin typeface="Arial"/>
                <a:cs typeface="Arial"/>
              </a:rPr>
              <a:t>a </a:t>
            </a:r>
            <a:r>
              <a:rPr sz="1800" spc="-5" dirty="0">
                <a:latin typeface="Arial"/>
                <a:cs typeface="Arial"/>
              </a:rPr>
              <a:t>capacitor in each cell. </a:t>
            </a:r>
            <a:r>
              <a:rPr sz="1800" dirty="0">
                <a:latin typeface="Arial"/>
                <a:cs typeface="Arial"/>
              </a:rPr>
              <a:t>It </a:t>
            </a:r>
            <a:r>
              <a:rPr sz="1800" spc="-5" dirty="0">
                <a:latin typeface="Arial"/>
                <a:cs typeface="Arial"/>
              </a:rPr>
              <a:t>is </a:t>
            </a:r>
            <a:r>
              <a:rPr sz="1800" spc="-10" dirty="0">
                <a:latin typeface="Arial"/>
                <a:cs typeface="Arial"/>
              </a:rPr>
              <a:t>used  </a:t>
            </a:r>
            <a:r>
              <a:rPr sz="1800" spc="-5" dirty="0">
                <a:latin typeface="Arial"/>
                <a:cs typeface="Arial"/>
              </a:rPr>
              <a:t>primarily for</a:t>
            </a:r>
            <a:r>
              <a:rPr sz="1800" spc="-10" dirty="0">
                <a:latin typeface="Arial"/>
                <a:cs typeface="Arial"/>
              </a:rPr>
              <a:t> </a:t>
            </a:r>
            <a:r>
              <a:rPr sz="1800" spc="-5" dirty="0">
                <a:latin typeface="Arial"/>
                <a:cs typeface="Arial"/>
              </a:rPr>
              <a:t>cache.</a:t>
            </a:r>
            <a:endParaRPr sz="1800" dirty="0">
              <a:latin typeface="Arial"/>
              <a:cs typeface="Arial"/>
            </a:endParaRPr>
          </a:p>
          <a:p>
            <a:pPr algn="just">
              <a:lnSpc>
                <a:spcPct val="100000"/>
              </a:lnSpc>
              <a:spcBef>
                <a:spcPts val="35"/>
              </a:spcBef>
              <a:buFont typeface="Arial"/>
              <a:buChar char="•"/>
            </a:pPr>
            <a:endParaRPr sz="2250" dirty="0">
              <a:latin typeface="Arial"/>
              <a:cs typeface="Arial"/>
            </a:endParaRPr>
          </a:p>
          <a:p>
            <a:pPr marL="354965" marR="290195" indent="-342900" algn="just">
              <a:lnSpc>
                <a:spcPct val="79900"/>
              </a:lnSpc>
              <a:buFont typeface="Arial"/>
              <a:buChar char="•"/>
              <a:tabLst>
                <a:tab pos="354965" algn="l"/>
                <a:tab pos="355600" algn="l"/>
              </a:tabLst>
            </a:pPr>
            <a:r>
              <a:rPr sz="1800" i="1" spc="-5" dirty="0">
                <a:latin typeface="Arial"/>
                <a:cs typeface="Arial"/>
              </a:rPr>
              <a:t>Static </a:t>
            </a:r>
            <a:r>
              <a:rPr sz="1800" spc="-10" dirty="0">
                <a:latin typeface="Arial"/>
                <a:cs typeface="Arial"/>
              </a:rPr>
              <a:t>indicates </a:t>
            </a:r>
            <a:r>
              <a:rPr sz="1800" spc="-5" dirty="0">
                <a:latin typeface="Arial"/>
                <a:cs typeface="Arial"/>
              </a:rPr>
              <a:t>that it, </a:t>
            </a:r>
            <a:r>
              <a:rPr sz="1800" spc="-10" dirty="0">
                <a:latin typeface="Arial"/>
                <a:cs typeface="Arial"/>
              </a:rPr>
              <a:t>unlike </a:t>
            </a:r>
            <a:r>
              <a:rPr sz="1800" i="1" spc="-10" dirty="0">
                <a:latin typeface="Arial"/>
                <a:cs typeface="Arial"/>
              </a:rPr>
              <a:t>dynamic </a:t>
            </a:r>
            <a:r>
              <a:rPr sz="1800" spc="-5" dirty="0">
                <a:latin typeface="Arial"/>
                <a:cs typeface="Arial"/>
              </a:rPr>
              <a:t>RAM (DRAM), </a:t>
            </a:r>
            <a:r>
              <a:rPr sz="1800" spc="-10" dirty="0">
                <a:latin typeface="Arial"/>
                <a:cs typeface="Arial"/>
              </a:rPr>
              <a:t>does not need </a:t>
            </a:r>
            <a:r>
              <a:rPr sz="1800" dirty="0">
                <a:latin typeface="Arial"/>
                <a:cs typeface="Arial"/>
              </a:rPr>
              <a:t>to </a:t>
            </a:r>
            <a:r>
              <a:rPr sz="1800" spc="-5" dirty="0">
                <a:latin typeface="Arial"/>
                <a:cs typeface="Arial"/>
              </a:rPr>
              <a:t>be  </a:t>
            </a:r>
            <a:r>
              <a:rPr sz="1800" spc="-10" dirty="0">
                <a:latin typeface="Arial"/>
                <a:cs typeface="Arial"/>
              </a:rPr>
              <a:t>periodically </a:t>
            </a:r>
            <a:r>
              <a:rPr sz="1800" spc="-5" dirty="0">
                <a:latin typeface="Arial"/>
                <a:cs typeface="Arial"/>
              </a:rPr>
              <a:t>refreshed, </a:t>
            </a:r>
            <a:r>
              <a:rPr sz="1800" spc="-10" dirty="0">
                <a:latin typeface="Arial"/>
                <a:cs typeface="Arial"/>
              </a:rPr>
              <a:t>as </a:t>
            </a:r>
            <a:r>
              <a:rPr sz="1800" spc="-5" dirty="0">
                <a:latin typeface="Arial"/>
                <a:cs typeface="Arial"/>
              </a:rPr>
              <a:t>SRAM uses bi-stable latching circuitry </a:t>
            </a:r>
            <a:r>
              <a:rPr sz="1800" dirty="0">
                <a:latin typeface="Arial"/>
                <a:cs typeface="Arial"/>
              </a:rPr>
              <a:t>to </a:t>
            </a:r>
            <a:r>
              <a:rPr sz="1800" spc="-5" dirty="0">
                <a:latin typeface="Arial"/>
                <a:cs typeface="Arial"/>
              </a:rPr>
              <a:t>store  </a:t>
            </a:r>
            <a:r>
              <a:rPr sz="1800" spc="-10" dirty="0">
                <a:latin typeface="Arial"/>
                <a:cs typeface="Arial"/>
              </a:rPr>
              <a:t>each </a:t>
            </a:r>
            <a:r>
              <a:rPr sz="1800" spc="-5" dirty="0">
                <a:latin typeface="Arial"/>
                <a:cs typeface="Arial"/>
              </a:rPr>
              <a:t>bit.</a:t>
            </a:r>
            <a:endParaRPr sz="1800" dirty="0">
              <a:latin typeface="Arial"/>
              <a:cs typeface="Arial"/>
            </a:endParaRPr>
          </a:p>
          <a:p>
            <a:pPr algn="just">
              <a:lnSpc>
                <a:spcPct val="100000"/>
              </a:lnSpc>
              <a:spcBef>
                <a:spcPts val="35"/>
              </a:spcBef>
              <a:buFont typeface="Arial"/>
              <a:buChar char="•"/>
            </a:pPr>
            <a:endParaRPr sz="2250" dirty="0">
              <a:latin typeface="Arial"/>
              <a:cs typeface="Arial"/>
            </a:endParaRPr>
          </a:p>
          <a:p>
            <a:pPr marL="354965" marR="210185" indent="-342900" algn="just">
              <a:lnSpc>
                <a:spcPct val="79900"/>
              </a:lnSpc>
              <a:buChar char="•"/>
              <a:tabLst>
                <a:tab pos="354965" algn="l"/>
                <a:tab pos="355600" algn="l"/>
              </a:tabLst>
            </a:pPr>
            <a:r>
              <a:rPr sz="1800" dirty="0">
                <a:latin typeface="Arial"/>
                <a:cs typeface="Arial"/>
              </a:rPr>
              <a:t>An </a:t>
            </a:r>
            <a:r>
              <a:rPr sz="1800" spc="-5" dirty="0">
                <a:latin typeface="Arial"/>
                <a:cs typeface="Arial"/>
              </a:rPr>
              <a:t>SRAM cell </a:t>
            </a:r>
            <a:r>
              <a:rPr sz="1800" spc="-10" dirty="0">
                <a:latin typeface="Arial"/>
                <a:cs typeface="Arial"/>
              </a:rPr>
              <a:t>has </a:t>
            </a:r>
            <a:r>
              <a:rPr sz="1800" spc="-5" dirty="0">
                <a:latin typeface="Arial"/>
                <a:cs typeface="Arial"/>
              </a:rPr>
              <a:t>three different states it can be in: </a:t>
            </a:r>
            <a:r>
              <a:rPr sz="1800" i="1" u="sng" spc="-5" dirty="0">
                <a:uFill>
                  <a:solidFill>
                    <a:srgbClr val="000000"/>
                  </a:solidFill>
                </a:uFill>
                <a:latin typeface="Arial"/>
                <a:cs typeface="Arial"/>
              </a:rPr>
              <a:t>standby</a:t>
            </a:r>
            <a:r>
              <a:rPr sz="1800" i="1" spc="-5" dirty="0">
                <a:latin typeface="Arial"/>
                <a:cs typeface="Arial"/>
              </a:rPr>
              <a:t> </a:t>
            </a:r>
            <a:r>
              <a:rPr sz="1800" spc="-10" dirty="0">
                <a:latin typeface="Arial"/>
                <a:cs typeface="Arial"/>
              </a:rPr>
              <a:t>where </a:t>
            </a:r>
            <a:r>
              <a:rPr sz="1800" spc="-5" dirty="0">
                <a:latin typeface="Arial"/>
                <a:cs typeface="Arial"/>
              </a:rPr>
              <a:t>the  circuit is </a:t>
            </a:r>
            <a:r>
              <a:rPr sz="1800" spc="-10" dirty="0">
                <a:latin typeface="Arial"/>
                <a:cs typeface="Arial"/>
              </a:rPr>
              <a:t>idle, </a:t>
            </a:r>
            <a:r>
              <a:rPr sz="1800" i="1" u="sng" spc="-10" dirty="0">
                <a:uFill>
                  <a:solidFill>
                    <a:srgbClr val="000000"/>
                  </a:solidFill>
                </a:uFill>
                <a:latin typeface="Arial"/>
                <a:cs typeface="Arial"/>
              </a:rPr>
              <a:t>reading</a:t>
            </a:r>
            <a:r>
              <a:rPr sz="1800" i="1" spc="-10" dirty="0">
                <a:latin typeface="Arial"/>
                <a:cs typeface="Arial"/>
              </a:rPr>
              <a:t> </a:t>
            </a:r>
            <a:r>
              <a:rPr sz="1800" spc="-10" dirty="0">
                <a:latin typeface="Arial"/>
                <a:cs typeface="Arial"/>
              </a:rPr>
              <a:t>when </a:t>
            </a:r>
            <a:r>
              <a:rPr sz="1800" spc="-5" dirty="0">
                <a:latin typeface="Arial"/>
                <a:cs typeface="Arial"/>
              </a:rPr>
              <a:t>the data </a:t>
            </a:r>
            <a:r>
              <a:rPr sz="1800" spc="-10" dirty="0">
                <a:latin typeface="Arial"/>
                <a:cs typeface="Arial"/>
              </a:rPr>
              <a:t>has been </a:t>
            </a:r>
            <a:r>
              <a:rPr sz="1800" spc="-5" dirty="0">
                <a:latin typeface="Arial"/>
                <a:cs typeface="Arial"/>
              </a:rPr>
              <a:t>requested </a:t>
            </a:r>
            <a:r>
              <a:rPr sz="1800" spc="-10" dirty="0">
                <a:latin typeface="Arial"/>
                <a:cs typeface="Arial"/>
              </a:rPr>
              <a:t>and </a:t>
            </a:r>
            <a:r>
              <a:rPr sz="1800" i="1" u="sng" spc="-5" dirty="0">
                <a:uFill>
                  <a:solidFill>
                    <a:srgbClr val="000000"/>
                  </a:solidFill>
                </a:uFill>
                <a:latin typeface="Arial"/>
                <a:cs typeface="Arial"/>
              </a:rPr>
              <a:t>writing</a:t>
            </a:r>
            <a:r>
              <a:rPr sz="1800" i="1" spc="-5" dirty="0">
                <a:latin typeface="Arial"/>
                <a:cs typeface="Arial"/>
              </a:rPr>
              <a:t> </a:t>
            </a:r>
            <a:r>
              <a:rPr sz="1800" spc="-10" dirty="0">
                <a:latin typeface="Arial"/>
                <a:cs typeface="Arial"/>
              </a:rPr>
              <a:t>when  updating </a:t>
            </a:r>
            <a:r>
              <a:rPr sz="1800" spc="-5" dirty="0">
                <a:latin typeface="Arial"/>
                <a:cs typeface="Arial"/>
              </a:rPr>
              <a:t>the contents.</a:t>
            </a:r>
            <a:endParaRPr sz="1800" dirty="0">
              <a:latin typeface="Arial"/>
              <a:cs typeface="Arial"/>
            </a:endParaRPr>
          </a:p>
          <a:p>
            <a:pPr algn="just">
              <a:lnSpc>
                <a:spcPct val="100000"/>
              </a:lnSpc>
              <a:spcBef>
                <a:spcPts val="35"/>
              </a:spcBef>
              <a:buFont typeface="Arial"/>
              <a:buChar char="•"/>
            </a:pPr>
            <a:endParaRPr sz="2250" dirty="0">
              <a:latin typeface="Arial"/>
              <a:cs typeface="Arial"/>
            </a:endParaRPr>
          </a:p>
          <a:p>
            <a:pPr marL="354965" marR="173990" indent="-342900" algn="just">
              <a:lnSpc>
                <a:spcPct val="79900"/>
              </a:lnSpc>
              <a:spcBef>
                <a:spcPts val="5"/>
              </a:spcBef>
              <a:buFont typeface="Arial"/>
              <a:buChar char="•"/>
              <a:tabLst>
                <a:tab pos="354965" algn="l"/>
                <a:tab pos="355600" algn="l"/>
              </a:tabLst>
            </a:pPr>
            <a:r>
              <a:rPr sz="1800" b="1" spc="-5" dirty="0">
                <a:latin typeface="Arial"/>
                <a:cs typeface="Arial"/>
              </a:rPr>
              <a:t>Cache memory </a:t>
            </a:r>
            <a:r>
              <a:rPr sz="1800" spc="-5" dirty="0">
                <a:latin typeface="Arial"/>
                <a:cs typeface="Arial"/>
              </a:rPr>
              <a:t>is </a:t>
            </a:r>
            <a:r>
              <a:rPr sz="1800" dirty="0">
                <a:latin typeface="Arial"/>
                <a:cs typeface="Arial"/>
              </a:rPr>
              <a:t>a </a:t>
            </a:r>
            <a:r>
              <a:rPr sz="1800" spc="-10" dirty="0">
                <a:latin typeface="Arial"/>
                <a:cs typeface="Arial"/>
              </a:rPr>
              <a:t>relatively </a:t>
            </a:r>
            <a:r>
              <a:rPr sz="1800" spc="-5" dirty="0">
                <a:latin typeface="Arial"/>
                <a:cs typeface="Arial"/>
              </a:rPr>
              <a:t>small </a:t>
            </a:r>
            <a:r>
              <a:rPr sz="1800" spc="-10" dirty="0">
                <a:latin typeface="Arial"/>
                <a:cs typeface="Arial"/>
              </a:rPr>
              <a:t>amount (normally </a:t>
            </a:r>
            <a:r>
              <a:rPr sz="1800" spc="-5" dirty="0">
                <a:latin typeface="Arial"/>
                <a:cs typeface="Arial"/>
              </a:rPr>
              <a:t>less than </a:t>
            </a:r>
            <a:r>
              <a:rPr sz="1800" dirty="0">
                <a:latin typeface="Arial"/>
                <a:cs typeface="Arial"/>
              </a:rPr>
              <a:t>1 MB) </a:t>
            </a:r>
            <a:r>
              <a:rPr sz="1800" spc="-5" dirty="0">
                <a:latin typeface="Arial"/>
                <a:cs typeface="Arial"/>
              </a:rPr>
              <a:t>of  </a:t>
            </a:r>
            <a:r>
              <a:rPr sz="1800" spc="-10" dirty="0">
                <a:latin typeface="Arial"/>
                <a:cs typeface="Arial"/>
              </a:rPr>
              <a:t>high speed </a:t>
            </a:r>
            <a:r>
              <a:rPr sz="1800" spc="-5" dirty="0">
                <a:latin typeface="Arial"/>
                <a:cs typeface="Arial"/>
              </a:rPr>
              <a:t>memory </a:t>
            </a:r>
            <a:r>
              <a:rPr sz="1800" spc="-10" dirty="0">
                <a:latin typeface="Arial"/>
                <a:cs typeface="Arial"/>
              </a:rPr>
              <a:t>and </a:t>
            </a:r>
            <a:r>
              <a:rPr sz="1800" spc="-5" dirty="0">
                <a:latin typeface="Arial"/>
                <a:cs typeface="Arial"/>
              </a:rPr>
              <a:t>resides very close </a:t>
            </a:r>
            <a:r>
              <a:rPr sz="1800" dirty="0">
                <a:latin typeface="Arial"/>
                <a:cs typeface="Arial"/>
              </a:rPr>
              <a:t>to </a:t>
            </a:r>
            <a:r>
              <a:rPr sz="1800" spc="-5" dirty="0">
                <a:latin typeface="Arial"/>
                <a:cs typeface="Arial"/>
              </a:rPr>
              <a:t>the CPU. </a:t>
            </a:r>
            <a:r>
              <a:rPr sz="1800" dirty="0">
                <a:latin typeface="Arial"/>
                <a:cs typeface="Arial"/>
              </a:rPr>
              <a:t>It </a:t>
            </a:r>
            <a:r>
              <a:rPr sz="1800" spc="-5" dirty="0">
                <a:latin typeface="Arial"/>
                <a:cs typeface="Arial"/>
              </a:rPr>
              <a:t>is </a:t>
            </a:r>
            <a:r>
              <a:rPr sz="1800" spc="-10" dirty="0">
                <a:latin typeface="Arial"/>
                <a:cs typeface="Arial"/>
              </a:rPr>
              <a:t>designed </a:t>
            </a:r>
            <a:r>
              <a:rPr sz="1800" dirty="0">
                <a:latin typeface="Arial"/>
                <a:cs typeface="Arial"/>
              </a:rPr>
              <a:t>to  </a:t>
            </a:r>
            <a:r>
              <a:rPr sz="1800" spc="-10" dirty="0">
                <a:latin typeface="Arial"/>
                <a:cs typeface="Arial"/>
              </a:rPr>
              <a:t>supply </a:t>
            </a:r>
            <a:r>
              <a:rPr sz="1800" spc="-5" dirty="0">
                <a:latin typeface="Arial"/>
                <a:cs typeface="Arial"/>
              </a:rPr>
              <a:t>the CPU with the most frequently requested </a:t>
            </a:r>
            <a:r>
              <a:rPr sz="1800" spc="-10" dirty="0">
                <a:latin typeface="Arial"/>
                <a:cs typeface="Arial"/>
              </a:rPr>
              <a:t>data. </a:t>
            </a:r>
            <a:r>
              <a:rPr sz="1800" dirty="0">
                <a:latin typeface="Arial"/>
                <a:cs typeface="Arial"/>
              </a:rPr>
              <a:t>It </a:t>
            </a:r>
            <a:r>
              <a:rPr sz="1800" spc="-5" dirty="0">
                <a:latin typeface="Arial"/>
                <a:cs typeface="Arial"/>
              </a:rPr>
              <a:t>takes </a:t>
            </a:r>
            <a:r>
              <a:rPr sz="1800" dirty="0">
                <a:latin typeface="Arial"/>
                <a:cs typeface="Arial"/>
              </a:rPr>
              <a:t>a </a:t>
            </a:r>
            <a:r>
              <a:rPr sz="1800" spc="-5" dirty="0">
                <a:latin typeface="Arial"/>
                <a:cs typeface="Arial"/>
              </a:rPr>
              <a:t>fraction  </a:t>
            </a:r>
            <a:r>
              <a:rPr sz="1800" spc="-10" dirty="0">
                <a:latin typeface="Arial"/>
                <a:cs typeface="Arial"/>
              </a:rPr>
              <a:t>of </a:t>
            </a:r>
            <a:r>
              <a:rPr sz="1800" spc="-5" dirty="0">
                <a:latin typeface="Arial"/>
                <a:cs typeface="Arial"/>
              </a:rPr>
              <a:t>the time, </a:t>
            </a:r>
            <a:r>
              <a:rPr sz="1800" spc="-10" dirty="0">
                <a:latin typeface="Arial"/>
                <a:cs typeface="Arial"/>
              </a:rPr>
              <a:t>compared </a:t>
            </a:r>
            <a:r>
              <a:rPr sz="1800" dirty="0">
                <a:latin typeface="Arial"/>
                <a:cs typeface="Arial"/>
              </a:rPr>
              <a:t>to </a:t>
            </a:r>
            <a:r>
              <a:rPr sz="1800" spc="-5" dirty="0">
                <a:latin typeface="Arial"/>
                <a:cs typeface="Arial"/>
              </a:rPr>
              <a:t>normal memory, </a:t>
            </a:r>
            <a:r>
              <a:rPr sz="1800" dirty="0">
                <a:latin typeface="Arial"/>
                <a:cs typeface="Arial"/>
              </a:rPr>
              <a:t>to </a:t>
            </a:r>
            <a:r>
              <a:rPr sz="1800" spc="-5" dirty="0">
                <a:latin typeface="Arial"/>
                <a:cs typeface="Arial"/>
              </a:rPr>
              <a:t>access cache</a:t>
            </a:r>
            <a:r>
              <a:rPr sz="1800" spc="30" dirty="0">
                <a:latin typeface="Arial"/>
                <a:cs typeface="Arial"/>
              </a:rPr>
              <a:t> </a:t>
            </a:r>
            <a:r>
              <a:rPr sz="1800" dirty="0">
                <a:latin typeface="Arial"/>
                <a:cs typeface="Arial"/>
              </a:rPr>
              <a:t>memory.</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2892" y="467359"/>
            <a:ext cx="4189307" cy="756920"/>
          </a:xfrm>
          <a:prstGeom prst="rect">
            <a:avLst/>
          </a:prstGeom>
        </p:spPr>
        <p:txBody>
          <a:bodyPr vert="horz" wrap="square" lIns="0" tIns="12700" rIns="0" bIns="0" rtlCol="0">
            <a:spAutoFit/>
          </a:bodyPr>
          <a:lstStyle/>
          <a:p>
            <a:pPr marL="12700">
              <a:lnSpc>
                <a:spcPct val="100000"/>
              </a:lnSpc>
              <a:spcBef>
                <a:spcPts val="100"/>
              </a:spcBef>
            </a:pPr>
            <a:r>
              <a:rPr sz="3200" dirty="0"/>
              <a:t>DRAM</a:t>
            </a:r>
            <a:endParaRPr sz="3200"/>
          </a:p>
          <a:p>
            <a:pPr marL="12700">
              <a:lnSpc>
                <a:spcPct val="100000"/>
              </a:lnSpc>
            </a:pPr>
            <a:r>
              <a:rPr sz="1600" b="0" i="1" u="sng" spc="-5" dirty="0">
                <a:uFill>
                  <a:solidFill>
                    <a:srgbClr val="000000"/>
                  </a:solidFill>
                </a:uFill>
                <a:latin typeface="Arial"/>
                <a:cs typeface="Arial"/>
              </a:rPr>
              <a:t>Dynamic </a:t>
            </a:r>
            <a:r>
              <a:rPr sz="1600" b="0" i="1" u="sng" spc="-10" dirty="0">
                <a:uFill>
                  <a:solidFill>
                    <a:srgbClr val="000000"/>
                  </a:solidFill>
                </a:uFill>
                <a:latin typeface="Arial"/>
                <a:cs typeface="Arial"/>
              </a:rPr>
              <a:t>Random </a:t>
            </a:r>
            <a:r>
              <a:rPr sz="1600" b="0" i="1" u="sng" dirty="0">
                <a:uFill>
                  <a:solidFill>
                    <a:srgbClr val="000000"/>
                  </a:solidFill>
                </a:uFill>
                <a:latin typeface="Arial"/>
                <a:cs typeface="Arial"/>
              </a:rPr>
              <a:t>Access</a:t>
            </a:r>
            <a:r>
              <a:rPr sz="1600" b="0" i="1" u="sng" spc="-20" dirty="0">
                <a:uFill>
                  <a:solidFill>
                    <a:srgbClr val="000000"/>
                  </a:solidFill>
                </a:uFill>
                <a:latin typeface="Arial"/>
                <a:cs typeface="Arial"/>
              </a:rPr>
              <a:t> </a:t>
            </a:r>
            <a:r>
              <a:rPr sz="1600" b="0" i="1" u="sng" spc="-5" dirty="0">
                <a:uFill>
                  <a:solidFill>
                    <a:srgbClr val="000000"/>
                  </a:solidFill>
                </a:uFill>
                <a:latin typeface="Arial"/>
                <a:cs typeface="Arial"/>
              </a:rPr>
              <a:t>Memory</a:t>
            </a:r>
            <a:endParaRPr sz="1600">
              <a:latin typeface="Arial"/>
              <a:cs typeface="Arial"/>
            </a:endParaRPr>
          </a:p>
        </p:txBody>
      </p:sp>
      <p:sp>
        <p:nvSpPr>
          <p:cNvPr id="3" name="object 3"/>
          <p:cNvSpPr txBox="1"/>
          <p:nvPr/>
        </p:nvSpPr>
        <p:spPr>
          <a:xfrm>
            <a:off x="1017692" y="1813559"/>
            <a:ext cx="10618893" cy="3235629"/>
          </a:xfrm>
          <a:prstGeom prst="rect">
            <a:avLst/>
          </a:prstGeom>
        </p:spPr>
        <p:txBody>
          <a:bodyPr vert="horz" wrap="square" lIns="0" tIns="12700" rIns="0" bIns="0" rtlCol="0">
            <a:spAutoFit/>
          </a:bodyPr>
          <a:lstStyle/>
          <a:p>
            <a:pPr marL="12700" algn="just">
              <a:lnSpc>
                <a:spcPct val="100000"/>
              </a:lnSpc>
              <a:spcBef>
                <a:spcPts val="100"/>
              </a:spcBef>
            </a:pPr>
            <a:r>
              <a:rPr sz="1600" b="1" spc="-5" dirty="0">
                <a:latin typeface="Arial"/>
                <a:cs typeface="Arial"/>
              </a:rPr>
              <a:t>DRAM</a:t>
            </a:r>
            <a:r>
              <a:rPr sz="1600" spc="-5" dirty="0">
                <a:latin typeface="Arial"/>
                <a:cs typeface="Arial"/>
              </a:rPr>
              <a:t>:</a:t>
            </a:r>
            <a:endParaRPr sz="1600" dirty="0">
              <a:latin typeface="Arial"/>
              <a:cs typeface="Arial"/>
            </a:endParaRPr>
          </a:p>
          <a:p>
            <a:pPr marL="354965" marR="456565" algn="just">
              <a:lnSpc>
                <a:spcPts val="1540"/>
              </a:lnSpc>
              <a:spcBef>
                <a:spcPts val="375"/>
              </a:spcBef>
            </a:pPr>
            <a:r>
              <a:rPr sz="1600" spc="-5" dirty="0">
                <a:latin typeface="Arial"/>
                <a:cs typeface="Arial"/>
              </a:rPr>
              <a:t>Dynamic random access memory has memory </a:t>
            </a:r>
            <a:r>
              <a:rPr sz="1600" dirty="0">
                <a:latin typeface="Arial"/>
                <a:cs typeface="Arial"/>
              </a:rPr>
              <a:t>cells </a:t>
            </a:r>
            <a:r>
              <a:rPr sz="1600" spc="-5" dirty="0">
                <a:latin typeface="Arial"/>
                <a:cs typeface="Arial"/>
              </a:rPr>
              <a:t>with </a:t>
            </a:r>
            <a:r>
              <a:rPr sz="1600" dirty="0">
                <a:latin typeface="Arial"/>
                <a:cs typeface="Arial"/>
              </a:rPr>
              <a:t>a </a:t>
            </a:r>
            <a:r>
              <a:rPr sz="1600" spc="-5" dirty="0">
                <a:latin typeface="Arial"/>
                <a:cs typeface="Arial"/>
              </a:rPr>
              <a:t>paired transistor and  capacitor requiring constant</a:t>
            </a:r>
            <a:r>
              <a:rPr sz="1600" spc="-10" dirty="0">
                <a:latin typeface="Arial"/>
                <a:cs typeface="Arial"/>
              </a:rPr>
              <a:t> </a:t>
            </a:r>
            <a:r>
              <a:rPr sz="1600" spc="-5" dirty="0">
                <a:latin typeface="Arial"/>
                <a:cs typeface="Arial"/>
              </a:rPr>
              <a:t>refreshing.</a:t>
            </a:r>
            <a:endParaRPr sz="1600" dirty="0">
              <a:latin typeface="Arial"/>
              <a:cs typeface="Arial"/>
            </a:endParaRPr>
          </a:p>
          <a:p>
            <a:pPr marL="12700" marR="6276340" algn="just">
              <a:lnSpc>
                <a:spcPct val="200999"/>
              </a:lnSpc>
              <a:spcBef>
                <a:spcPts val="484"/>
              </a:spcBef>
            </a:pPr>
            <a:r>
              <a:rPr sz="1600" b="1" spc="-5" dirty="0">
                <a:latin typeface="Arial"/>
                <a:cs typeface="Arial"/>
              </a:rPr>
              <a:t>TYPES </a:t>
            </a:r>
            <a:r>
              <a:rPr sz="1600" b="1" spc="-10" dirty="0">
                <a:latin typeface="Arial"/>
                <a:cs typeface="Arial"/>
              </a:rPr>
              <a:t>OF</a:t>
            </a:r>
            <a:r>
              <a:rPr sz="1600" b="1" spc="-75" dirty="0">
                <a:latin typeface="Arial"/>
                <a:cs typeface="Arial"/>
              </a:rPr>
              <a:t> </a:t>
            </a:r>
            <a:r>
              <a:rPr sz="1600" b="1" spc="-10" dirty="0">
                <a:latin typeface="Arial"/>
                <a:cs typeface="Arial"/>
              </a:rPr>
              <a:t>DRAM  </a:t>
            </a:r>
            <a:r>
              <a:rPr sz="1600" b="1" spc="-5" dirty="0">
                <a:latin typeface="Arial"/>
                <a:cs typeface="Arial"/>
              </a:rPr>
              <a:t>SDRAM</a:t>
            </a:r>
            <a:r>
              <a:rPr sz="1600" spc="-5" dirty="0">
                <a:latin typeface="Arial"/>
                <a:cs typeface="Arial"/>
              </a:rPr>
              <a:t>:</a:t>
            </a:r>
            <a:endParaRPr sz="1600" dirty="0">
              <a:latin typeface="Arial"/>
              <a:cs typeface="Arial"/>
            </a:endParaRPr>
          </a:p>
          <a:p>
            <a:pPr marL="354965" marR="5080" algn="just">
              <a:lnSpc>
                <a:spcPct val="79800"/>
              </a:lnSpc>
              <a:spcBef>
                <a:spcPts val="395"/>
              </a:spcBef>
            </a:pPr>
            <a:r>
              <a:rPr sz="1600" b="1" spc="-5" dirty="0">
                <a:latin typeface="Arial"/>
                <a:cs typeface="Arial"/>
              </a:rPr>
              <a:t>Synchronous </a:t>
            </a:r>
            <a:r>
              <a:rPr sz="1600" b="1" spc="-10" dirty="0">
                <a:latin typeface="Arial"/>
                <a:cs typeface="Arial"/>
              </a:rPr>
              <a:t>dynamic </a:t>
            </a:r>
            <a:r>
              <a:rPr sz="1600" b="1" spc="-5" dirty="0">
                <a:latin typeface="Arial"/>
                <a:cs typeface="Arial"/>
              </a:rPr>
              <a:t>random access memory </a:t>
            </a:r>
            <a:r>
              <a:rPr sz="1600" spc="-5" dirty="0">
                <a:latin typeface="Arial"/>
                <a:cs typeface="Arial"/>
              </a:rPr>
              <a:t>takes advantage of </a:t>
            </a:r>
            <a:r>
              <a:rPr sz="1600" dirty="0">
                <a:latin typeface="Arial"/>
                <a:cs typeface="Arial"/>
              </a:rPr>
              <a:t>the </a:t>
            </a:r>
            <a:r>
              <a:rPr sz="1600" spc="-5" dirty="0">
                <a:latin typeface="Arial"/>
                <a:cs typeface="Arial"/>
              </a:rPr>
              <a:t>burst  mode </a:t>
            </a:r>
            <a:r>
              <a:rPr sz="1600" dirty="0">
                <a:latin typeface="Arial"/>
                <a:cs typeface="Arial"/>
              </a:rPr>
              <a:t>concept </a:t>
            </a:r>
            <a:r>
              <a:rPr sz="1600" spc="-5" dirty="0">
                <a:latin typeface="Arial"/>
                <a:cs typeface="Arial"/>
              </a:rPr>
              <a:t>to greatly improve performance. It does this by staying on the row  containing the requested bit and moving rapidly through the columns, reading each  bit as </a:t>
            </a:r>
            <a:r>
              <a:rPr sz="1600" dirty="0">
                <a:latin typeface="Arial"/>
                <a:cs typeface="Arial"/>
              </a:rPr>
              <a:t>it </a:t>
            </a:r>
            <a:r>
              <a:rPr sz="1600" spc="-5" dirty="0">
                <a:latin typeface="Arial"/>
                <a:cs typeface="Arial"/>
              </a:rPr>
              <a:t>goes. The idea </a:t>
            </a:r>
            <a:r>
              <a:rPr sz="1600" dirty="0">
                <a:latin typeface="Arial"/>
                <a:cs typeface="Arial"/>
              </a:rPr>
              <a:t>is </a:t>
            </a:r>
            <a:r>
              <a:rPr sz="1600" spc="-5" dirty="0">
                <a:latin typeface="Arial"/>
                <a:cs typeface="Arial"/>
              </a:rPr>
              <a:t>that most of the </a:t>
            </a:r>
            <a:r>
              <a:rPr sz="1600" dirty="0">
                <a:latin typeface="Arial"/>
                <a:cs typeface="Arial"/>
              </a:rPr>
              <a:t>time </a:t>
            </a:r>
            <a:r>
              <a:rPr sz="1600" spc="-5" dirty="0">
                <a:latin typeface="Arial"/>
                <a:cs typeface="Arial"/>
              </a:rPr>
              <a:t>the data </a:t>
            </a:r>
            <a:r>
              <a:rPr sz="1600" spc="-10" dirty="0">
                <a:latin typeface="Arial"/>
                <a:cs typeface="Arial"/>
              </a:rPr>
              <a:t>needed </a:t>
            </a:r>
            <a:r>
              <a:rPr sz="1600" spc="-5" dirty="0">
                <a:latin typeface="Arial"/>
                <a:cs typeface="Arial"/>
              </a:rPr>
              <a:t>by </a:t>
            </a:r>
            <a:r>
              <a:rPr sz="1600" dirty="0">
                <a:latin typeface="Arial"/>
                <a:cs typeface="Arial"/>
              </a:rPr>
              <a:t>the </a:t>
            </a:r>
            <a:r>
              <a:rPr sz="1600" spc="-5" dirty="0">
                <a:latin typeface="Arial"/>
                <a:cs typeface="Arial"/>
              </a:rPr>
              <a:t>CPU will be </a:t>
            </a:r>
            <a:r>
              <a:rPr sz="1600" dirty="0">
                <a:latin typeface="Arial"/>
                <a:cs typeface="Arial"/>
              </a:rPr>
              <a:t>in  </a:t>
            </a:r>
            <a:r>
              <a:rPr sz="1600" spc="-5" dirty="0">
                <a:latin typeface="Arial"/>
                <a:cs typeface="Arial"/>
              </a:rPr>
              <a:t>sequence. SDRAM </a:t>
            </a:r>
            <a:r>
              <a:rPr sz="1600" dirty="0">
                <a:latin typeface="Arial"/>
                <a:cs typeface="Arial"/>
              </a:rPr>
              <a:t>is </a:t>
            </a:r>
            <a:r>
              <a:rPr sz="1600" spc="-5" dirty="0">
                <a:latin typeface="Arial"/>
                <a:cs typeface="Arial"/>
              </a:rPr>
              <a:t>about five percent faster than EDO RAM and </a:t>
            </a:r>
            <a:r>
              <a:rPr sz="1600" dirty="0">
                <a:latin typeface="Arial"/>
                <a:cs typeface="Arial"/>
              </a:rPr>
              <a:t>is </a:t>
            </a:r>
            <a:r>
              <a:rPr sz="1600" spc="-5" dirty="0">
                <a:latin typeface="Arial"/>
                <a:cs typeface="Arial"/>
              </a:rPr>
              <a:t>the most  common form </a:t>
            </a:r>
            <a:r>
              <a:rPr sz="1600" dirty="0">
                <a:latin typeface="Arial"/>
                <a:cs typeface="Arial"/>
              </a:rPr>
              <a:t>in </a:t>
            </a:r>
            <a:r>
              <a:rPr sz="1600" spc="-5" dirty="0">
                <a:latin typeface="Arial"/>
                <a:cs typeface="Arial"/>
              </a:rPr>
              <a:t>desktops today. Maximum transfer rate to L2 </a:t>
            </a:r>
            <a:r>
              <a:rPr sz="1600" dirty="0">
                <a:latin typeface="Arial"/>
                <a:cs typeface="Arial"/>
              </a:rPr>
              <a:t>cache is  </a:t>
            </a:r>
            <a:r>
              <a:rPr sz="1600" spc="-5" dirty="0">
                <a:latin typeface="Arial"/>
                <a:cs typeface="Arial"/>
              </a:rPr>
              <a:t>approximately 528</a:t>
            </a:r>
            <a:r>
              <a:rPr sz="1600" dirty="0">
                <a:latin typeface="Arial"/>
                <a:cs typeface="Arial"/>
              </a:rPr>
              <a:t> </a:t>
            </a:r>
            <a:r>
              <a:rPr sz="1600" spc="-5" dirty="0">
                <a:latin typeface="Arial"/>
                <a:cs typeface="Arial"/>
              </a:rPr>
              <a:t>Mbps.</a:t>
            </a:r>
            <a:endParaRPr sz="1600" dirty="0">
              <a:latin typeface="Arial"/>
              <a:cs typeface="Arial"/>
            </a:endParaRPr>
          </a:p>
          <a:p>
            <a:pPr algn="just">
              <a:lnSpc>
                <a:spcPct val="100000"/>
              </a:lnSpc>
              <a:spcBef>
                <a:spcPts val="45"/>
              </a:spcBef>
            </a:pPr>
            <a:endParaRPr sz="1650" dirty="0">
              <a:latin typeface="Arial"/>
              <a:cs typeface="Arial"/>
            </a:endParaRPr>
          </a:p>
          <a:p>
            <a:pPr marL="12700" algn="just">
              <a:lnSpc>
                <a:spcPct val="100000"/>
              </a:lnSpc>
            </a:pPr>
            <a:r>
              <a:rPr sz="1600" b="1" spc="-10" dirty="0">
                <a:latin typeface="Arial"/>
                <a:cs typeface="Arial"/>
              </a:rPr>
              <a:t>DDR</a:t>
            </a:r>
            <a:r>
              <a:rPr sz="1600" b="1" spc="-5" dirty="0">
                <a:latin typeface="Arial"/>
                <a:cs typeface="Arial"/>
              </a:rPr>
              <a:t> SDRAM</a:t>
            </a:r>
            <a:r>
              <a:rPr sz="1600" spc="-5" dirty="0">
                <a:latin typeface="Arial"/>
                <a:cs typeface="Arial"/>
              </a:rPr>
              <a:t>:</a:t>
            </a:r>
            <a:endParaRPr sz="1600" dirty="0">
              <a:latin typeface="Arial"/>
              <a:cs typeface="Arial"/>
            </a:endParaRPr>
          </a:p>
          <a:p>
            <a:pPr marL="354965" marR="21590" algn="just">
              <a:lnSpc>
                <a:spcPct val="79700"/>
              </a:lnSpc>
              <a:spcBef>
                <a:spcPts val="400"/>
              </a:spcBef>
            </a:pPr>
            <a:r>
              <a:rPr sz="1600" b="1" spc="-10" dirty="0">
                <a:latin typeface="Arial"/>
                <a:cs typeface="Arial"/>
              </a:rPr>
              <a:t>Double </a:t>
            </a:r>
            <a:r>
              <a:rPr sz="1600" b="1" spc="-5" dirty="0">
                <a:latin typeface="Arial"/>
                <a:cs typeface="Arial"/>
              </a:rPr>
              <a:t>data rate </a:t>
            </a:r>
            <a:r>
              <a:rPr sz="1600" b="1" spc="-10" dirty="0">
                <a:latin typeface="Arial"/>
                <a:cs typeface="Arial"/>
              </a:rPr>
              <a:t>synchronous dynamic RAM </a:t>
            </a:r>
            <a:r>
              <a:rPr sz="1600" dirty="0">
                <a:latin typeface="Arial"/>
                <a:cs typeface="Arial"/>
              </a:rPr>
              <a:t>is </a:t>
            </a:r>
            <a:r>
              <a:rPr sz="1600" spc="-5" dirty="0">
                <a:latin typeface="Arial"/>
                <a:cs typeface="Arial"/>
              </a:rPr>
              <a:t>just </a:t>
            </a:r>
            <a:r>
              <a:rPr sz="1600" dirty="0">
                <a:latin typeface="Arial"/>
                <a:cs typeface="Arial"/>
              </a:rPr>
              <a:t>like </a:t>
            </a:r>
            <a:r>
              <a:rPr sz="1600" spc="-5" dirty="0">
                <a:latin typeface="Arial"/>
                <a:cs typeface="Arial"/>
              </a:rPr>
              <a:t>SDRAM except that </a:t>
            </a:r>
            <a:r>
              <a:rPr sz="1600" dirty="0">
                <a:latin typeface="Arial"/>
                <a:cs typeface="Arial"/>
              </a:rPr>
              <a:t>is  </a:t>
            </a:r>
            <a:r>
              <a:rPr sz="1600" spc="-5" dirty="0">
                <a:latin typeface="Arial"/>
                <a:cs typeface="Arial"/>
              </a:rPr>
              <a:t>has higher bandwidth, meaning greater speed. Maximum transfer rate to L2 </a:t>
            </a:r>
            <a:r>
              <a:rPr sz="1600" dirty="0">
                <a:latin typeface="Arial"/>
                <a:cs typeface="Arial"/>
              </a:rPr>
              <a:t>cache is  </a:t>
            </a:r>
            <a:r>
              <a:rPr sz="1600" spc="-5" dirty="0">
                <a:latin typeface="Arial"/>
                <a:cs typeface="Arial"/>
              </a:rPr>
              <a:t>approximately 1,064 MBps (for </a:t>
            </a:r>
            <a:r>
              <a:rPr sz="1600" spc="-10" dirty="0">
                <a:latin typeface="Arial"/>
                <a:cs typeface="Arial"/>
              </a:rPr>
              <a:t>DDR </a:t>
            </a:r>
            <a:r>
              <a:rPr sz="1600" spc="-5" dirty="0">
                <a:latin typeface="Arial"/>
                <a:cs typeface="Arial"/>
              </a:rPr>
              <a:t>SDRAM 133</a:t>
            </a:r>
            <a:r>
              <a:rPr sz="1600" spc="10" dirty="0">
                <a:latin typeface="Arial"/>
                <a:cs typeface="Arial"/>
              </a:rPr>
              <a:t> </a:t>
            </a:r>
            <a:r>
              <a:rPr sz="1600" spc="-5" dirty="0">
                <a:latin typeface="Arial"/>
                <a:cs typeface="Arial"/>
              </a:rPr>
              <a:t>MHZ).</a:t>
            </a:r>
            <a:endParaRPr sz="1600" dirty="0">
              <a:latin typeface="Arial"/>
              <a:cs typeface="Aria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pic>
        <p:nvPicPr>
          <p:cNvPr id="57346" name="Picture 2"/>
          <p:cNvPicPr>
            <a:picLocks noGrp="1" noChangeAspect="1" noChangeArrowheads="1"/>
          </p:cNvPicPr>
          <p:nvPr>
            <p:ph idx="1"/>
          </p:nvPr>
        </p:nvPicPr>
        <p:blipFill>
          <a:blip r:embed="rId2"/>
          <a:srcRect/>
          <a:stretch>
            <a:fillRect/>
          </a:stretch>
        </p:blipFill>
        <p:spPr bwMode="auto">
          <a:xfrm>
            <a:off x="2834641" y="2063931"/>
            <a:ext cx="5895022" cy="390579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65125"/>
            <a:ext cx="10515600" cy="751488"/>
          </a:xfrm>
          <a:prstGeom prst="rect">
            <a:avLst/>
          </a:prstGeom>
        </p:spPr>
        <p:txBody>
          <a:bodyPr vert="horz" wrap="square" lIns="0" tIns="12700" rIns="0" bIns="0" rtlCol="0">
            <a:spAutoFit/>
          </a:bodyPr>
          <a:lstStyle/>
          <a:p>
            <a:pPr algn="ctr">
              <a:lnSpc>
                <a:spcPct val="100000"/>
              </a:lnSpc>
              <a:spcBef>
                <a:spcPts val="100"/>
              </a:spcBef>
            </a:pPr>
            <a:r>
              <a:rPr sz="3200" spc="-5" dirty="0"/>
              <a:t>Non-volatile</a:t>
            </a:r>
            <a:endParaRPr sz="3200"/>
          </a:p>
          <a:p>
            <a:pPr algn="ctr">
              <a:lnSpc>
                <a:spcPct val="100000"/>
              </a:lnSpc>
            </a:pPr>
            <a:r>
              <a:rPr sz="1600" b="0" u="sng" spc="-5" dirty="0">
                <a:uFill>
                  <a:solidFill>
                    <a:srgbClr val="000000"/>
                  </a:solidFill>
                </a:uFill>
                <a:latin typeface="Arial"/>
                <a:cs typeface="Arial"/>
              </a:rPr>
              <a:t>Retains the stored information even when not</a:t>
            </a:r>
            <a:r>
              <a:rPr sz="1600" b="0" u="sng" spc="-50" dirty="0">
                <a:uFill>
                  <a:solidFill>
                    <a:srgbClr val="000000"/>
                  </a:solidFill>
                </a:uFill>
                <a:latin typeface="Arial"/>
                <a:cs typeface="Arial"/>
              </a:rPr>
              <a:t> </a:t>
            </a:r>
            <a:r>
              <a:rPr sz="1600" b="0" u="sng" spc="-5" dirty="0">
                <a:uFill>
                  <a:solidFill>
                    <a:srgbClr val="000000"/>
                  </a:solidFill>
                </a:uFill>
                <a:latin typeface="Arial"/>
                <a:cs typeface="Arial"/>
              </a:rPr>
              <a:t>powered</a:t>
            </a:r>
            <a:endParaRPr sz="1600">
              <a:latin typeface="Arial"/>
              <a:cs typeface="Arial"/>
            </a:endParaRPr>
          </a:p>
        </p:txBody>
      </p:sp>
      <p:sp>
        <p:nvSpPr>
          <p:cNvPr id="3" name="object 3"/>
          <p:cNvSpPr txBox="1"/>
          <p:nvPr/>
        </p:nvSpPr>
        <p:spPr>
          <a:xfrm>
            <a:off x="2743201" y="218185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4" name="object 4"/>
          <p:cNvSpPr txBox="1"/>
          <p:nvPr/>
        </p:nvSpPr>
        <p:spPr>
          <a:xfrm>
            <a:off x="3200400" y="2193290"/>
            <a:ext cx="2934547" cy="26924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Electrically</a:t>
            </a:r>
            <a:r>
              <a:rPr sz="1600" b="1" spc="-40" dirty="0">
                <a:latin typeface="Arial"/>
                <a:cs typeface="Arial"/>
              </a:rPr>
              <a:t> </a:t>
            </a:r>
            <a:r>
              <a:rPr sz="1600" b="1" spc="-10" dirty="0">
                <a:latin typeface="Arial"/>
                <a:cs typeface="Arial"/>
              </a:rPr>
              <a:t>Addressed</a:t>
            </a:r>
            <a:endParaRPr sz="1600">
              <a:latin typeface="Arial"/>
              <a:cs typeface="Arial"/>
            </a:endParaRPr>
          </a:p>
        </p:txBody>
      </p:sp>
      <p:sp>
        <p:nvSpPr>
          <p:cNvPr id="5" name="object 5"/>
          <p:cNvSpPr txBox="1"/>
          <p:nvPr/>
        </p:nvSpPr>
        <p:spPr>
          <a:xfrm>
            <a:off x="3962401" y="365252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6" name="object 6"/>
          <p:cNvSpPr txBox="1"/>
          <p:nvPr/>
        </p:nvSpPr>
        <p:spPr>
          <a:xfrm>
            <a:off x="3962400" y="2438400"/>
            <a:ext cx="4275667" cy="1494790"/>
          </a:xfrm>
          <a:prstGeom prst="rect">
            <a:avLst/>
          </a:prstGeom>
        </p:spPr>
        <p:txBody>
          <a:bodyPr vert="horz" wrap="square" lIns="0" tIns="12700" rIns="0" bIns="0" rtlCol="0">
            <a:spAutoFit/>
          </a:bodyPr>
          <a:lstStyle/>
          <a:p>
            <a:pPr marL="241300" indent="-228600">
              <a:lnSpc>
                <a:spcPct val="100000"/>
              </a:lnSpc>
              <a:spcBef>
                <a:spcPts val="100"/>
              </a:spcBef>
              <a:buFont typeface="Arial"/>
              <a:buChar char="•"/>
              <a:tabLst>
                <a:tab pos="240665" algn="l"/>
                <a:tab pos="241300" algn="l"/>
              </a:tabLst>
            </a:pPr>
            <a:r>
              <a:rPr sz="1600" b="1" spc="-5" dirty="0">
                <a:latin typeface="Arial"/>
                <a:cs typeface="Arial"/>
              </a:rPr>
              <a:t>ROM</a:t>
            </a:r>
            <a:endParaRPr sz="1600">
              <a:latin typeface="Arial"/>
              <a:cs typeface="Arial"/>
            </a:endParaRPr>
          </a:p>
          <a:p>
            <a:pPr marL="698500" lvl="1" indent="-228600">
              <a:lnSpc>
                <a:spcPct val="100000"/>
              </a:lnSpc>
              <a:spcBef>
                <a:spcPts val="10"/>
              </a:spcBef>
              <a:buFont typeface="Arial"/>
              <a:buChar char="–"/>
              <a:tabLst>
                <a:tab pos="698500" algn="l"/>
              </a:tabLst>
            </a:pPr>
            <a:r>
              <a:rPr sz="1600" b="1" spc="-10" dirty="0">
                <a:latin typeface="Arial"/>
                <a:cs typeface="Arial"/>
              </a:rPr>
              <a:t>PROM</a:t>
            </a:r>
            <a:endParaRPr sz="1600">
              <a:latin typeface="Arial"/>
              <a:cs typeface="Arial"/>
            </a:endParaRPr>
          </a:p>
          <a:p>
            <a:pPr marL="698500" lvl="1" indent="-228600">
              <a:lnSpc>
                <a:spcPct val="100000"/>
              </a:lnSpc>
              <a:spcBef>
                <a:spcPts val="10"/>
              </a:spcBef>
              <a:buFont typeface="Arial"/>
              <a:buChar char="–"/>
              <a:tabLst>
                <a:tab pos="698500" algn="l"/>
              </a:tabLst>
            </a:pPr>
            <a:r>
              <a:rPr sz="1600" b="1" spc="-5" dirty="0">
                <a:latin typeface="Arial"/>
                <a:cs typeface="Arial"/>
              </a:rPr>
              <a:t>EAROM</a:t>
            </a:r>
            <a:endParaRPr sz="1600">
              <a:latin typeface="Arial"/>
              <a:cs typeface="Arial"/>
            </a:endParaRPr>
          </a:p>
          <a:p>
            <a:pPr marL="698500" lvl="1" indent="-228600">
              <a:lnSpc>
                <a:spcPct val="100000"/>
              </a:lnSpc>
              <a:spcBef>
                <a:spcPts val="10"/>
              </a:spcBef>
              <a:buFont typeface="Arial"/>
              <a:buChar char="–"/>
              <a:tabLst>
                <a:tab pos="698500" algn="l"/>
              </a:tabLst>
            </a:pPr>
            <a:r>
              <a:rPr sz="1600" b="1" spc="-5" dirty="0">
                <a:latin typeface="Arial"/>
                <a:cs typeface="Arial"/>
              </a:rPr>
              <a:t>EPROM</a:t>
            </a:r>
            <a:endParaRPr sz="1600">
              <a:latin typeface="Arial"/>
              <a:cs typeface="Arial"/>
            </a:endParaRPr>
          </a:p>
          <a:p>
            <a:pPr marL="698500" lvl="1" indent="-228600">
              <a:lnSpc>
                <a:spcPct val="100000"/>
              </a:lnSpc>
              <a:spcBef>
                <a:spcPts val="10"/>
              </a:spcBef>
              <a:buFont typeface="Arial"/>
              <a:buChar char="–"/>
              <a:tabLst>
                <a:tab pos="698500" algn="l"/>
              </a:tabLst>
            </a:pPr>
            <a:r>
              <a:rPr sz="1600" b="1" spc="-5" dirty="0">
                <a:latin typeface="Arial"/>
                <a:cs typeface="Arial"/>
              </a:rPr>
              <a:t>EEPROM</a:t>
            </a:r>
            <a:endParaRPr sz="1600">
              <a:latin typeface="Arial"/>
              <a:cs typeface="Arial"/>
            </a:endParaRPr>
          </a:p>
          <a:p>
            <a:pPr marL="241300">
              <a:lnSpc>
                <a:spcPct val="100000"/>
              </a:lnSpc>
              <a:spcBef>
                <a:spcPts val="10"/>
              </a:spcBef>
            </a:pPr>
            <a:r>
              <a:rPr sz="1600" spc="-5" dirty="0">
                <a:latin typeface="Arial"/>
                <a:cs typeface="Arial"/>
              </a:rPr>
              <a:t>Flash </a:t>
            </a:r>
            <a:r>
              <a:rPr sz="1600" spc="-10" dirty="0">
                <a:latin typeface="Arial"/>
                <a:cs typeface="Arial"/>
              </a:rPr>
              <a:t>memory </a:t>
            </a:r>
            <a:r>
              <a:rPr sz="1600" spc="-5" dirty="0">
                <a:latin typeface="Arial"/>
                <a:cs typeface="Arial"/>
              </a:rPr>
              <a:t>(NOR and</a:t>
            </a:r>
            <a:r>
              <a:rPr sz="1600" spc="-45" dirty="0">
                <a:latin typeface="Arial"/>
                <a:cs typeface="Arial"/>
              </a:rPr>
              <a:t> </a:t>
            </a:r>
            <a:r>
              <a:rPr sz="1600" spc="-5" dirty="0">
                <a:latin typeface="Arial"/>
                <a:cs typeface="Arial"/>
              </a:rPr>
              <a:t>NAND)</a:t>
            </a:r>
            <a:endParaRPr sz="1600">
              <a:latin typeface="Arial"/>
              <a:cs typeface="Arial"/>
            </a:endParaRPr>
          </a:p>
        </p:txBody>
      </p:sp>
      <p:sp>
        <p:nvSpPr>
          <p:cNvPr id="7" name="object 7"/>
          <p:cNvSpPr txBox="1"/>
          <p:nvPr/>
        </p:nvSpPr>
        <p:spPr>
          <a:xfrm>
            <a:off x="2743201" y="438785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8" name="object 8"/>
          <p:cNvSpPr txBox="1"/>
          <p:nvPr/>
        </p:nvSpPr>
        <p:spPr>
          <a:xfrm>
            <a:off x="3200401" y="4400550"/>
            <a:ext cx="4225713" cy="26924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Mechanically </a:t>
            </a:r>
            <a:r>
              <a:rPr sz="1600" b="1" spc="-10" dirty="0">
                <a:latin typeface="Arial"/>
                <a:cs typeface="Arial"/>
              </a:rPr>
              <a:t>Addressed</a:t>
            </a:r>
            <a:r>
              <a:rPr sz="1600" b="1" spc="-50" dirty="0">
                <a:latin typeface="Arial"/>
                <a:cs typeface="Arial"/>
              </a:rPr>
              <a:t> </a:t>
            </a:r>
            <a:r>
              <a:rPr sz="1600" b="1" spc="-5" dirty="0">
                <a:latin typeface="Arial"/>
                <a:cs typeface="Arial"/>
              </a:rPr>
              <a:t>System</a:t>
            </a:r>
            <a:endParaRPr sz="1600">
              <a:latin typeface="Arial"/>
              <a:cs typeface="Arial"/>
            </a:endParaRPr>
          </a:p>
        </p:txBody>
      </p:sp>
      <p:sp>
        <p:nvSpPr>
          <p:cNvPr id="9" name="object 9"/>
          <p:cNvSpPr txBox="1"/>
          <p:nvPr/>
        </p:nvSpPr>
        <p:spPr>
          <a:xfrm>
            <a:off x="3962401" y="4632960"/>
            <a:ext cx="129540" cy="1004569"/>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a:p>
            <a:pPr marL="12700">
              <a:lnSpc>
                <a:spcPct val="100000"/>
              </a:lnSpc>
              <a:spcBef>
                <a:spcPts val="10"/>
              </a:spcBef>
            </a:pPr>
            <a:r>
              <a:rPr sz="1600" dirty="0">
                <a:latin typeface="Arial"/>
                <a:cs typeface="Arial"/>
              </a:rPr>
              <a:t>•</a:t>
            </a:r>
            <a:endParaRPr sz="1600">
              <a:latin typeface="Arial"/>
              <a:cs typeface="Arial"/>
            </a:endParaRPr>
          </a:p>
          <a:p>
            <a:pPr marL="12700">
              <a:lnSpc>
                <a:spcPct val="100000"/>
              </a:lnSpc>
              <a:spcBef>
                <a:spcPts val="10"/>
              </a:spcBef>
            </a:pPr>
            <a:r>
              <a:rPr sz="1600" dirty="0">
                <a:latin typeface="Arial"/>
                <a:cs typeface="Arial"/>
              </a:rPr>
              <a:t>•</a:t>
            </a:r>
            <a:endParaRPr sz="1600">
              <a:latin typeface="Arial"/>
              <a:cs typeface="Arial"/>
            </a:endParaRPr>
          </a:p>
          <a:p>
            <a:pPr marL="12700">
              <a:lnSpc>
                <a:spcPct val="100000"/>
              </a:lnSpc>
              <a:spcBef>
                <a:spcPts val="10"/>
              </a:spcBef>
            </a:pPr>
            <a:r>
              <a:rPr sz="1600" dirty="0">
                <a:latin typeface="Arial"/>
                <a:cs typeface="Arial"/>
              </a:rPr>
              <a:t>•</a:t>
            </a:r>
            <a:endParaRPr sz="1600">
              <a:latin typeface="Arial"/>
              <a:cs typeface="Arial"/>
            </a:endParaRPr>
          </a:p>
        </p:txBody>
      </p:sp>
      <p:sp>
        <p:nvSpPr>
          <p:cNvPr id="10" name="object 10"/>
          <p:cNvSpPr txBox="1"/>
          <p:nvPr/>
        </p:nvSpPr>
        <p:spPr>
          <a:xfrm>
            <a:off x="4267200" y="4645660"/>
            <a:ext cx="3406987" cy="750205"/>
          </a:xfrm>
          <a:prstGeom prst="rect">
            <a:avLst/>
          </a:prstGeom>
        </p:spPr>
        <p:txBody>
          <a:bodyPr vert="horz" wrap="square" lIns="0" tIns="11430" rIns="0" bIns="0" rtlCol="0">
            <a:spAutoFit/>
          </a:bodyPr>
          <a:lstStyle/>
          <a:p>
            <a:pPr marL="12700" marR="1677035">
              <a:lnSpc>
                <a:spcPct val="100499"/>
              </a:lnSpc>
              <a:spcBef>
                <a:spcPts val="90"/>
              </a:spcBef>
            </a:pPr>
            <a:r>
              <a:rPr sz="1600" spc="-10" dirty="0">
                <a:latin typeface="Arial"/>
                <a:cs typeface="Arial"/>
              </a:rPr>
              <a:t>Tape  </a:t>
            </a:r>
            <a:r>
              <a:rPr sz="1600" spc="-5" dirty="0">
                <a:latin typeface="Arial"/>
                <a:cs typeface="Arial"/>
              </a:rPr>
              <a:t>Hard</a:t>
            </a:r>
            <a:r>
              <a:rPr sz="1600" spc="-85" dirty="0">
                <a:latin typeface="Arial"/>
                <a:cs typeface="Arial"/>
              </a:rPr>
              <a:t> </a:t>
            </a:r>
            <a:r>
              <a:rPr sz="1600" spc="-5" dirty="0">
                <a:latin typeface="Arial"/>
                <a:cs typeface="Arial"/>
              </a:rPr>
              <a:t>disk</a:t>
            </a:r>
            <a:endParaRPr sz="1600">
              <a:latin typeface="Arial"/>
              <a:cs typeface="Arial"/>
            </a:endParaRPr>
          </a:p>
          <a:p>
            <a:pPr marL="12700" marR="5080">
              <a:lnSpc>
                <a:spcPct val="100000"/>
              </a:lnSpc>
              <a:spcBef>
                <a:spcPts val="10"/>
              </a:spcBef>
            </a:pPr>
            <a:r>
              <a:rPr sz="1600" spc="-5" dirty="0">
                <a:latin typeface="Arial"/>
                <a:cs typeface="Arial"/>
              </a:rPr>
              <a:t>Optical disk (CD, DVD)  Magnetic Disk (Floppy</a:t>
            </a:r>
            <a:r>
              <a:rPr sz="1600" spc="-30" dirty="0">
                <a:latin typeface="Arial"/>
                <a:cs typeface="Arial"/>
              </a:rPr>
              <a:t> </a:t>
            </a:r>
            <a:r>
              <a:rPr sz="1600" spc="-5" dirty="0">
                <a:latin typeface="Arial"/>
                <a:cs typeface="Arial"/>
              </a:rPr>
              <a:t>Disk)</a:t>
            </a:r>
            <a:endParaRPr sz="1600">
              <a:latin typeface="Arial"/>
              <a:cs typeface="Aria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2892" y="436879"/>
            <a:ext cx="2319867" cy="936154"/>
          </a:xfrm>
          <a:prstGeom prst="rect">
            <a:avLst/>
          </a:prstGeom>
        </p:spPr>
        <p:txBody>
          <a:bodyPr vert="horz" wrap="square" lIns="0" tIns="12700" rIns="0" bIns="0" rtlCol="0">
            <a:spAutoFit/>
          </a:bodyPr>
          <a:lstStyle/>
          <a:p>
            <a:pPr marL="12700">
              <a:lnSpc>
                <a:spcPct val="100000"/>
              </a:lnSpc>
              <a:spcBef>
                <a:spcPts val="100"/>
              </a:spcBef>
            </a:pPr>
            <a:r>
              <a:rPr spc="-5" dirty="0"/>
              <a:t>ROM</a:t>
            </a:r>
          </a:p>
          <a:p>
            <a:pPr marL="12700">
              <a:lnSpc>
                <a:spcPct val="100000"/>
              </a:lnSpc>
            </a:pPr>
            <a:r>
              <a:rPr sz="1600" b="0" i="1" u="sng" spc="-5" dirty="0">
                <a:uFill>
                  <a:solidFill>
                    <a:srgbClr val="000000"/>
                  </a:solidFill>
                </a:uFill>
                <a:latin typeface="Arial"/>
                <a:cs typeface="Arial"/>
              </a:rPr>
              <a:t>Read-only</a:t>
            </a:r>
            <a:r>
              <a:rPr sz="1600" b="0" i="1" u="sng" spc="-70" dirty="0">
                <a:uFill>
                  <a:solidFill>
                    <a:srgbClr val="000000"/>
                  </a:solidFill>
                </a:uFill>
                <a:latin typeface="Arial"/>
                <a:cs typeface="Arial"/>
              </a:rPr>
              <a:t> </a:t>
            </a:r>
            <a:r>
              <a:rPr sz="1600" b="0" i="1" u="sng" spc="-5" dirty="0">
                <a:uFill>
                  <a:solidFill>
                    <a:srgbClr val="000000"/>
                  </a:solidFill>
                </a:uFill>
                <a:latin typeface="Arial"/>
                <a:cs typeface="Arial"/>
              </a:rPr>
              <a:t>memory</a:t>
            </a:r>
            <a:endParaRPr sz="1600">
              <a:latin typeface="Arial"/>
              <a:cs typeface="Arial"/>
            </a:endParaRPr>
          </a:p>
        </p:txBody>
      </p:sp>
      <p:sp>
        <p:nvSpPr>
          <p:cNvPr id="3" name="object 3"/>
          <p:cNvSpPr txBox="1"/>
          <p:nvPr/>
        </p:nvSpPr>
        <p:spPr>
          <a:xfrm>
            <a:off x="5996094" y="186944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4" name="object 4"/>
          <p:cNvSpPr txBox="1"/>
          <p:nvPr/>
        </p:nvSpPr>
        <p:spPr>
          <a:xfrm>
            <a:off x="6453294" y="1880870"/>
            <a:ext cx="4409439" cy="1367426"/>
          </a:xfrm>
          <a:prstGeom prst="rect">
            <a:avLst/>
          </a:prstGeom>
        </p:spPr>
        <p:txBody>
          <a:bodyPr vert="horz" wrap="square" lIns="0" tIns="37465" rIns="0" bIns="0" rtlCol="0">
            <a:spAutoFit/>
          </a:bodyPr>
          <a:lstStyle/>
          <a:p>
            <a:pPr marL="12700" marR="5080" algn="just">
              <a:lnSpc>
                <a:spcPct val="89800"/>
              </a:lnSpc>
              <a:spcBef>
                <a:spcPts val="295"/>
              </a:spcBef>
            </a:pPr>
            <a:r>
              <a:rPr sz="1600" spc="-5" dirty="0">
                <a:latin typeface="Arial"/>
                <a:cs typeface="Arial"/>
              </a:rPr>
              <a:t>Stored-program computer requires  some </a:t>
            </a:r>
            <a:r>
              <a:rPr sz="1600" spc="-10" dirty="0">
                <a:latin typeface="Arial"/>
                <a:cs typeface="Arial"/>
              </a:rPr>
              <a:t>form </a:t>
            </a:r>
            <a:r>
              <a:rPr sz="1600" spc="-5" dirty="0">
                <a:latin typeface="Arial"/>
                <a:cs typeface="Arial"/>
              </a:rPr>
              <a:t>of non-volatile storage to  store the initial program that runs  when the computer </a:t>
            </a:r>
            <a:r>
              <a:rPr sz="1600" dirty="0">
                <a:latin typeface="Arial"/>
                <a:cs typeface="Arial"/>
              </a:rPr>
              <a:t>is </a:t>
            </a:r>
            <a:r>
              <a:rPr sz="1600" spc="-5" dirty="0">
                <a:latin typeface="Arial"/>
                <a:cs typeface="Arial"/>
              </a:rPr>
              <a:t>powered on or  otherwise begins execution (a  process known as bootstrapping,  often abbreviated to "booting" or  "booting</a:t>
            </a:r>
            <a:r>
              <a:rPr sz="1600" spc="-10" dirty="0">
                <a:latin typeface="Arial"/>
                <a:cs typeface="Arial"/>
              </a:rPr>
              <a:t> </a:t>
            </a:r>
            <a:r>
              <a:rPr sz="1600" spc="-5" dirty="0">
                <a:latin typeface="Arial"/>
                <a:cs typeface="Arial"/>
              </a:rPr>
              <a:t>up")</a:t>
            </a:r>
            <a:endParaRPr sz="1600" dirty="0">
              <a:latin typeface="Arial"/>
              <a:cs typeface="Arial"/>
            </a:endParaRPr>
          </a:p>
        </p:txBody>
      </p:sp>
      <p:sp>
        <p:nvSpPr>
          <p:cNvPr id="5" name="object 5"/>
          <p:cNvSpPr txBox="1"/>
          <p:nvPr/>
        </p:nvSpPr>
        <p:spPr>
          <a:xfrm>
            <a:off x="5996094" y="394080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6" name="object 6"/>
          <p:cNvSpPr txBox="1"/>
          <p:nvPr/>
        </p:nvSpPr>
        <p:spPr>
          <a:xfrm>
            <a:off x="6453294" y="3953509"/>
            <a:ext cx="4380653" cy="1145826"/>
          </a:xfrm>
          <a:prstGeom prst="rect">
            <a:avLst/>
          </a:prstGeom>
        </p:spPr>
        <p:txBody>
          <a:bodyPr vert="horz" wrap="square" lIns="0" tIns="37465" rIns="0" bIns="0" rtlCol="0">
            <a:spAutoFit/>
          </a:bodyPr>
          <a:lstStyle/>
          <a:p>
            <a:pPr marL="12700" marR="5080" algn="just">
              <a:lnSpc>
                <a:spcPct val="89800"/>
              </a:lnSpc>
              <a:spcBef>
                <a:spcPts val="295"/>
              </a:spcBef>
            </a:pPr>
            <a:r>
              <a:rPr sz="1600" b="1" spc="-10" dirty="0">
                <a:latin typeface="Arial"/>
                <a:cs typeface="Arial"/>
              </a:rPr>
              <a:t>Read-only </a:t>
            </a:r>
            <a:r>
              <a:rPr sz="1600" b="1" spc="-5" dirty="0">
                <a:latin typeface="Arial"/>
                <a:cs typeface="Arial"/>
              </a:rPr>
              <a:t>memory </a:t>
            </a:r>
            <a:r>
              <a:rPr sz="1600" spc="-10" dirty="0">
                <a:latin typeface="Arial"/>
                <a:cs typeface="Arial"/>
              </a:rPr>
              <a:t>(ROM), </a:t>
            </a:r>
            <a:r>
              <a:rPr sz="1600" spc="-5" dirty="0">
                <a:latin typeface="Arial"/>
                <a:cs typeface="Arial"/>
              </a:rPr>
              <a:t>also  known as </a:t>
            </a:r>
            <a:r>
              <a:rPr sz="1600" b="1" spc="-5" dirty="0">
                <a:latin typeface="Arial"/>
                <a:cs typeface="Arial"/>
              </a:rPr>
              <a:t>firmware</a:t>
            </a:r>
            <a:r>
              <a:rPr sz="1600" spc="-5" dirty="0">
                <a:latin typeface="Arial"/>
                <a:cs typeface="Arial"/>
              </a:rPr>
              <a:t>, </a:t>
            </a:r>
            <a:r>
              <a:rPr sz="1600" dirty="0">
                <a:latin typeface="Arial"/>
                <a:cs typeface="Arial"/>
              </a:rPr>
              <a:t>is </a:t>
            </a:r>
            <a:r>
              <a:rPr sz="1600" spc="-5" dirty="0">
                <a:latin typeface="Arial"/>
                <a:cs typeface="Arial"/>
              </a:rPr>
              <a:t>an integrated  circuit programmed with </a:t>
            </a:r>
            <a:r>
              <a:rPr sz="1600" dirty="0">
                <a:latin typeface="Arial"/>
                <a:cs typeface="Arial"/>
              </a:rPr>
              <a:t>specific  </a:t>
            </a:r>
            <a:r>
              <a:rPr sz="1600" spc="-5" dirty="0">
                <a:latin typeface="Arial"/>
                <a:cs typeface="Arial"/>
              </a:rPr>
              <a:t>data when </a:t>
            </a:r>
            <a:r>
              <a:rPr sz="1600" dirty="0">
                <a:latin typeface="Arial"/>
                <a:cs typeface="Arial"/>
              </a:rPr>
              <a:t>it is </a:t>
            </a:r>
            <a:r>
              <a:rPr sz="1600" spc="-5" dirty="0">
                <a:latin typeface="Arial"/>
                <a:cs typeface="Arial"/>
              </a:rPr>
              <a:t>manufactured. ROM  chips are used not only </a:t>
            </a:r>
            <a:r>
              <a:rPr sz="1600" dirty="0">
                <a:latin typeface="Arial"/>
                <a:cs typeface="Arial"/>
              </a:rPr>
              <a:t>in  </a:t>
            </a:r>
            <a:r>
              <a:rPr sz="1600" spc="-5" dirty="0">
                <a:latin typeface="Arial"/>
                <a:cs typeface="Arial"/>
              </a:rPr>
              <a:t>computers, but </a:t>
            </a:r>
            <a:r>
              <a:rPr sz="1600" dirty="0">
                <a:latin typeface="Arial"/>
                <a:cs typeface="Arial"/>
              </a:rPr>
              <a:t>in </a:t>
            </a:r>
            <a:r>
              <a:rPr sz="1600" spc="-5" dirty="0">
                <a:latin typeface="Arial"/>
                <a:cs typeface="Arial"/>
              </a:rPr>
              <a:t>most other  electronic items as</a:t>
            </a:r>
            <a:r>
              <a:rPr sz="1600" spc="5" dirty="0">
                <a:latin typeface="Arial"/>
                <a:cs typeface="Arial"/>
              </a:rPr>
              <a:t> </a:t>
            </a:r>
            <a:r>
              <a:rPr sz="1600" spc="-5" dirty="0">
                <a:latin typeface="Arial"/>
                <a:cs typeface="Arial"/>
              </a:rPr>
              <a:t>well.</a:t>
            </a:r>
            <a:endParaRPr sz="1600" dirty="0">
              <a:latin typeface="Arial"/>
              <a:cs typeface="Arial"/>
            </a:endParaRPr>
          </a:p>
        </p:txBody>
      </p:sp>
      <p:sp>
        <p:nvSpPr>
          <p:cNvPr id="7" name="object 7"/>
          <p:cNvSpPr/>
          <p:nvPr/>
        </p:nvSpPr>
        <p:spPr>
          <a:xfrm>
            <a:off x="799796" y="2307997"/>
            <a:ext cx="5004405" cy="280715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108366" y="548640"/>
            <a:ext cx="9784388" cy="844613"/>
          </a:xfrm>
        </p:spPr>
        <p:txBody>
          <a:bodyPr>
            <a:noAutofit/>
          </a:bodyPr>
          <a:lstStyle/>
          <a:p>
            <a:pPr algn="ctr"/>
            <a:r>
              <a:rPr lang="en-US" dirty="0">
                <a:solidFill>
                  <a:schemeClr val="tx1"/>
                </a:solidFill>
                <a:latin typeface="Times New Roman" pitchFamily="18" charset="0"/>
                <a:cs typeface="Times New Roman" pitchFamily="18" charset="0"/>
              </a:rPr>
              <a:t>ROM (Read Only Memory)</a:t>
            </a:r>
          </a:p>
        </p:txBody>
      </p:sp>
      <p:sp>
        <p:nvSpPr>
          <p:cNvPr id="8" name="Text Box 4"/>
          <p:cNvSpPr txBox="1">
            <a:spLocks noChangeArrowheads="1"/>
          </p:cNvSpPr>
          <p:nvPr/>
        </p:nvSpPr>
        <p:spPr bwMode="auto">
          <a:xfrm>
            <a:off x="1016000" y="1479176"/>
            <a:ext cx="9882909" cy="1929511"/>
          </a:xfrm>
          <a:prstGeom prst="rect">
            <a:avLst/>
          </a:prstGeom>
          <a:noFill/>
          <a:ln w="9525">
            <a:noFill/>
            <a:miter lim="800000"/>
            <a:headEnd/>
            <a:tailEnd/>
          </a:ln>
        </p:spPr>
        <p:txBody>
          <a:bodyPr wrap="square" lIns="82048" tIns="41025" rIns="82048" bIns="41025">
            <a:spAutoFit/>
          </a:bodyPr>
          <a:lstStyle/>
          <a:p>
            <a:pPr fontAlgn="base"/>
            <a:r>
              <a:rPr lang="en-US" sz="1600" dirty="0" smtClean="0">
                <a:latin typeface="Times New Roman" pitchFamily="18" charset="0"/>
                <a:cs typeface="Times New Roman" pitchFamily="18" charset="0"/>
              </a:rPr>
              <a:t>Stores crucial information essential to operate the system, like the program essential to boot the computer.</a:t>
            </a:r>
          </a:p>
          <a:p>
            <a:pPr fontAlgn="base"/>
            <a:r>
              <a:rPr lang="en-US" sz="1600" dirty="0" smtClean="0">
                <a:latin typeface="Times New Roman" pitchFamily="18" charset="0"/>
                <a:cs typeface="Times New Roman" pitchFamily="18" charset="0"/>
              </a:rPr>
              <a:t>It is not volatile.</a:t>
            </a:r>
          </a:p>
          <a:p>
            <a:pPr fontAlgn="base"/>
            <a:r>
              <a:rPr lang="en-US" sz="1600" dirty="0" smtClean="0">
                <a:latin typeface="Times New Roman" pitchFamily="18" charset="0"/>
                <a:cs typeface="Times New Roman" pitchFamily="18" charset="0"/>
              </a:rPr>
              <a:t>Always retains its data.</a:t>
            </a:r>
          </a:p>
          <a:p>
            <a:pPr fontAlgn="base"/>
            <a:r>
              <a:rPr lang="en-US" sz="1600" dirty="0" smtClean="0">
                <a:latin typeface="Times New Roman" pitchFamily="18" charset="0"/>
                <a:cs typeface="Times New Roman" pitchFamily="18" charset="0"/>
              </a:rPr>
              <a:t>Used in embedded systems or where the programming needs no change.</a:t>
            </a:r>
          </a:p>
          <a:p>
            <a:pPr fontAlgn="base"/>
            <a:r>
              <a:rPr lang="en-US" sz="1600" dirty="0" smtClean="0">
                <a:latin typeface="Times New Roman" pitchFamily="18" charset="0"/>
                <a:cs typeface="Times New Roman" pitchFamily="18" charset="0"/>
              </a:rPr>
              <a:t>Used in calculators and peripheral devices.</a:t>
            </a:r>
          </a:p>
          <a:p>
            <a:pPr fontAlgn="base"/>
            <a:r>
              <a:rPr lang="en-US" sz="1600" dirty="0" smtClean="0">
                <a:latin typeface="Times New Roman" pitchFamily="18" charset="0"/>
                <a:cs typeface="Times New Roman" pitchFamily="18" charset="0"/>
              </a:rPr>
              <a:t>ROM is further classified into 4 types- ROM, PROM, EPROM, and EEPROM.</a:t>
            </a:r>
          </a:p>
          <a:p>
            <a:pPr algn="just" defTabSz="820487">
              <a:spcBef>
                <a:spcPct val="50000"/>
              </a:spcBef>
            </a:pPr>
            <a:endParaRPr lang="en-US" sz="1600" dirty="0" smtClean="0">
              <a:solidFill>
                <a:prstClr val="black"/>
              </a:solidFill>
              <a:latin typeface="Times New Roman" pitchFamily="18" charset="0"/>
              <a:cs typeface="Times New Roman" pitchFamily="18" charset="0"/>
            </a:endParaRPr>
          </a:p>
        </p:txBody>
      </p:sp>
      <p:graphicFrame>
        <p:nvGraphicFramePr>
          <p:cNvPr id="133122" name="Object 17"/>
          <p:cNvGraphicFramePr>
            <a:graphicFrameLocks noChangeAspect="1"/>
          </p:cNvGraphicFramePr>
          <p:nvPr/>
        </p:nvGraphicFramePr>
        <p:xfrm>
          <a:off x="2480757" y="4111344"/>
          <a:ext cx="5695757" cy="1578629"/>
        </p:xfrm>
        <a:graphic>
          <a:graphicData uri="http://schemas.openxmlformats.org/presentationml/2006/ole">
            <mc:AlternateContent xmlns:mc="http://schemas.openxmlformats.org/markup-compatibility/2006">
              <mc:Choice xmlns:v="urn:schemas-microsoft-com:vml" Requires="v">
                <p:oleObj spid="_x0000_s56336" name="CorelDRAW" r:id="rId3" imgW="4389840" imgH="1649520" progId="">
                  <p:embed/>
                </p:oleObj>
              </mc:Choice>
              <mc:Fallback>
                <p:oleObj name="CorelDRAW" r:id="rId3" imgW="4389840" imgH="164952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0757" y="4111344"/>
                        <a:ext cx="5695757" cy="1578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12332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Text Box 6"/>
          <p:cNvSpPr txBox="1">
            <a:spLocks noGrp="1" noChangeArrowheads="1"/>
          </p:cNvSpPr>
          <p:nvPr>
            <p:ph idx="1"/>
          </p:nvPr>
        </p:nvSpPr>
        <p:spPr bwMode="auto">
          <a:xfrm>
            <a:off x="838200" y="1825625"/>
            <a:ext cx="10515600" cy="2249847"/>
          </a:xfrm>
          <a:prstGeom prst="rect">
            <a:avLst/>
          </a:prstGeom>
          <a:noFill/>
          <a:ln w="9525">
            <a:noFill/>
            <a:miter lim="800000"/>
            <a:headEnd/>
            <a:tailEnd/>
          </a:ln>
        </p:spPr>
        <p:txBody>
          <a:bodyPr wrap="square">
            <a:spAutoFit/>
          </a:bodyPr>
          <a:lstStyle/>
          <a:p>
            <a:pPr fontAlgn="base"/>
            <a:r>
              <a:rPr lang="en-US" sz="1600" b="0" dirty="0" smtClean="0">
                <a:solidFill>
                  <a:schemeClr val="tx1"/>
                </a:solidFill>
                <a:latin typeface="Times New Roman" pitchFamily="18" charset="0"/>
                <a:cs typeface="Times New Roman" pitchFamily="18" charset="0"/>
              </a:rPr>
              <a:t>   </a:t>
            </a:r>
            <a:r>
              <a:rPr lang="en-US" sz="1600" b="1" dirty="0" smtClean="0">
                <a:latin typeface="Times New Roman" pitchFamily="18" charset="0"/>
                <a:cs typeface="Times New Roman" pitchFamily="18" charset="0"/>
              </a:rPr>
              <a:t>PROM (Programmable read-only memory)</a:t>
            </a:r>
            <a:r>
              <a:rPr lang="en-US" sz="1600" dirty="0" smtClean="0">
                <a:latin typeface="Times New Roman" pitchFamily="18" charset="0"/>
                <a:cs typeface="Times New Roman" pitchFamily="18" charset="0"/>
              </a:rPr>
              <a:t> – It can be programmed by user. Once programmed, the data and instructions in it cannot be changed.</a:t>
            </a:r>
          </a:p>
          <a:p>
            <a:pPr fontAlgn="base"/>
            <a:r>
              <a:rPr lang="en-US" sz="1600" b="1" dirty="0" smtClean="0">
                <a:latin typeface="Times New Roman" pitchFamily="18" charset="0"/>
                <a:cs typeface="Times New Roman" pitchFamily="18" charset="0"/>
              </a:rPr>
              <a:t>EPROM (Erasable Programmable read only memory)</a:t>
            </a:r>
            <a:r>
              <a:rPr lang="en-US" sz="1600" dirty="0" smtClean="0">
                <a:latin typeface="Times New Roman" pitchFamily="18" charset="0"/>
                <a:cs typeface="Times New Roman" pitchFamily="18" charset="0"/>
              </a:rPr>
              <a:t> – It can be reprogrammed. To erase data from it, expose it to ultra violet light. To reprogram it, erase all the previous data.</a:t>
            </a:r>
          </a:p>
          <a:p>
            <a:pPr fontAlgn="base"/>
            <a:r>
              <a:rPr lang="en-US" sz="1600" b="1" dirty="0" smtClean="0">
                <a:latin typeface="Times New Roman" pitchFamily="18" charset="0"/>
                <a:cs typeface="Times New Roman" pitchFamily="18" charset="0"/>
              </a:rPr>
              <a:t>EEPROM (Electrically erasable programmable read only memory)</a:t>
            </a:r>
            <a:r>
              <a:rPr lang="en-US" sz="1600" dirty="0" smtClean="0">
                <a:latin typeface="Times New Roman" pitchFamily="18" charset="0"/>
                <a:cs typeface="Times New Roman" pitchFamily="18" charset="0"/>
              </a:rPr>
              <a:t> – The data can be erased by applying electric field, no need of ultra violet light. We can erase only portions of the chip.</a:t>
            </a:r>
          </a:p>
          <a:p>
            <a:pPr>
              <a:buNone/>
            </a:pP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endParaRPr lang="en-US" sz="1600" b="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2893" y="467359"/>
            <a:ext cx="4212167" cy="756920"/>
          </a:xfrm>
          <a:prstGeom prst="rect">
            <a:avLst/>
          </a:prstGeom>
        </p:spPr>
        <p:txBody>
          <a:bodyPr vert="horz" wrap="square" lIns="0" tIns="12700" rIns="0" bIns="0" rtlCol="0">
            <a:spAutoFit/>
          </a:bodyPr>
          <a:lstStyle/>
          <a:p>
            <a:pPr marL="12700">
              <a:lnSpc>
                <a:spcPct val="100000"/>
              </a:lnSpc>
              <a:spcBef>
                <a:spcPts val="100"/>
              </a:spcBef>
            </a:pPr>
            <a:r>
              <a:rPr sz="3200" dirty="0"/>
              <a:t>PROM</a:t>
            </a:r>
            <a:endParaRPr sz="3200"/>
          </a:p>
          <a:p>
            <a:pPr marL="12700">
              <a:lnSpc>
                <a:spcPct val="100000"/>
              </a:lnSpc>
            </a:pPr>
            <a:r>
              <a:rPr sz="1600" b="0" u="sng" spc="-5" dirty="0">
                <a:uFill>
                  <a:solidFill>
                    <a:srgbClr val="000000"/>
                  </a:solidFill>
                </a:uFill>
                <a:latin typeface="Arial"/>
                <a:cs typeface="Arial"/>
              </a:rPr>
              <a:t>Programmable Read Only</a:t>
            </a:r>
            <a:r>
              <a:rPr sz="1600" b="0" u="sng" spc="-75" dirty="0">
                <a:uFill>
                  <a:solidFill>
                    <a:srgbClr val="000000"/>
                  </a:solidFill>
                </a:uFill>
                <a:latin typeface="Arial"/>
                <a:cs typeface="Arial"/>
              </a:rPr>
              <a:t> </a:t>
            </a:r>
            <a:r>
              <a:rPr sz="1600" b="0" u="sng" spc="-5" dirty="0">
                <a:uFill>
                  <a:solidFill>
                    <a:srgbClr val="000000"/>
                  </a:solidFill>
                </a:uFill>
                <a:latin typeface="Arial"/>
                <a:cs typeface="Arial"/>
              </a:rPr>
              <a:t>Memory</a:t>
            </a:r>
            <a:endParaRPr sz="1600">
              <a:latin typeface="Arial"/>
              <a:cs typeface="Arial"/>
            </a:endParaRPr>
          </a:p>
        </p:txBody>
      </p:sp>
      <p:sp>
        <p:nvSpPr>
          <p:cNvPr id="3" name="object 3"/>
          <p:cNvSpPr txBox="1"/>
          <p:nvPr/>
        </p:nvSpPr>
        <p:spPr>
          <a:xfrm>
            <a:off x="712893" y="180212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4" name="object 4"/>
          <p:cNvSpPr txBox="1"/>
          <p:nvPr/>
        </p:nvSpPr>
        <p:spPr>
          <a:xfrm>
            <a:off x="1170093" y="1813559"/>
            <a:ext cx="10259060" cy="850104"/>
          </a:xfrm>
          <a:prstGeom prst="rect">
            <a:avLst/>
          </a:prstGeom>
        </p:spPr>
        <p:txBody>
          <a:bodyPr vert="horz" wrap="square" lIns="0" tIns="61594" rIns="0" bIns="0" rtlCol="0">
            <a:spAutoFit/>
          </a:bodyPr>
          <a:lstStyle/>
          <a:p>
            <a:pPr marL="12700" marR="5080" algn="just">
              <a:lnSpc>
                <a:spcPct val="79800"/>
              </a:lnSpc>
              <a:spcBef>
                <a:spcPts val="484"/>
              </a:spcBef>
            </a:pPr>
            <a:r>
              <a:rPr sz="1600" b="1" spc="-5" dirty="0">
                <a:latin typeface="Arial"/>
                <a:cs typeface="Arial"/>
              </a:rPr>
              <a:t>Programmable read-only memory </a:t>
            </a:r>
            <a:r>
              <a:rPr sz="1600" spc="-5" dirty="0">
                <a:latin typeface="Arial"/>
                <a:cs typeface="Arial"/>
              </a:rPr>
              <a:t>(</a:t>
            </a:r>
            <a:r>
              <a:rPr sz="1600" b="1" spc="-5" dirty="0">
                <a:latin typeface="Arial"/>
                <a:cs typeface="Arial"/>
              </a:rPr>
              <a:t>PROM</a:t>
            </a:r>
            <a:r>
              <a:rPr sz="1600" spc="-5" dirty="0">
                <a:latin typeface="Arial"/>
                <a:cs typeface="Arial"/>
              </a:rPr>
              <a:t>) or </a:t>
            </a:r>
            <a:r>
              <a:rPr sz="1600" b="1" spc="-5" dirty="0">
                <a:latin typeface="Arial"/>
                <a:cs typeface="Arial"/>
              </a:rPr>
              <a:t>field programmable read-only  </a:t>
            </a:r>
            <a:r>
              <a:rPr sz="1600" b="1" spc="-10" dirty="0">
                <a:latin typeface="Arial"/>
                <a:cs typeface="Arial"/>
              </a:rPr>
              <a:t>memory </a:t>
            </a:r>
            <a:r>
              <a:rPr sz="1600" spc="-10" dirty="0">
                <a:latin typeface="Arial"/>
                <a:cs typeface="Arial"/>
              </a:rPr>
              <a:t>(</a:t>
            </a:r>
            <a:r>
              <a:rPr sz="1600" b="1" spc="-10" dirty="0">
                <a:latin typeface="Arial"/>
                <a:cs typeface="Arial"/>
              </a:rPr>
              <a:t>FPROM</a:t>
            </a:r>
            <a:r>
              <a:rPr sz="1600" spc="-10" dirty="0">
                <a:latin typeface="Arial"/>
                <a:cs typeface="Arial"/>
              </a:rPr>
              <a:t>) </a:t>
            </a:r>
            <a:r>
              <a:rPr sz="1600" dirty="0">
                <a:latin typeface="Arial"/>
                <a:cs typeface="Arial"/>
              </a:rPr>
              <a:t>is a </a:t>
            </a:r>
            <a:r>
              <a:rPr sz="1600" spc="-5" dirty="0">
                <a:latin typeface="Arial"/>
                <a:cs typeface="Arial"/>
              </a:rPr>
              <a:t>form of digital memory </a:t>
            </a:r>
            <a:r>
              <a:rPr sz="1600" spc="-10" dirty="0">
                <a:latin typeface="Arial"/>
                <a:cs typeface="Arial"/>
              </a:rPr>
              <a:t>where </a:t>
            </a:r>
            <a:r>
              <a:rPr sz="1600" dirty="0">
                <a:latin typeface="Arial"/>
                <a:cs typeface="Arial"/>
              </a:rPr>
              <a:t>the </a:t>
            </a:r>
            <a:r>
              <a:rPr sz="1600" spc="-5" dirty="0">
                <a:latin typeface="Arial"/>
                <a:cs typeface="Arial"/>
              </a:rPr>
              <a:t>setting of each bit </a:t>
            </a:r>
            <a:r>
              <a:rPr sz="1600" dirty="0">
                <a:latin typeface="Arial"/>
                <a:cs typeface="Arial"/>
              </a:rPr>
              <a:t>is </a:t>
            </a:r>
            <a:r>
              <a:rPr sz="1600" spc="-5" dirty="0">
                <a:latin typeface="Arial"/>
                <a:cs typeface="Arial"/>
              </a:rPr>
              <a:t>locked  by </a:t>
            </a:r>
            <a:r>
              <a:rPr sz="1600" dirty="0">
                <a:latin typeface="Arial"/>
                <a:cs typeface="Arial"/>
              </a:rPr>
              <a:t>a </a:t>
            </a:r>
            <a:r>
              <a:rPr sz="1600" spc="-5" dirty="0">
                <a:latin typeface="Arial"/>
                <a:cs typeface="Arial"/>
              </a:rPr>
              <a:t>fuse or antifuse. </a:t>
            </a:r>
            <a:r>
              <a:rPr sz="1600" dirty="0">
                <a:latin typeface="Arial"/>
                <a:cs typeface="Arial"/>
              </a:rPr>
              <a:t>Such </a:t>
            </a:r>
            <a:r>
              <a:rPr sz="1600" spc="-5" dirty="0">
                <a:latin typeface="Arial"/>
                <a:cs typeface="Arial"/>
              </a:rPr>
              <a:t>PROMs are used </a:t>
            </a:r>
            <a:r>
              <a:rPr sz="1600" dirty="0">
                <a:latin typeface="Arial"/>
                <a:cs typeface="Arial"/>
              </a:rPr>
              <a:t>to </a:t>
            </a:r>
            <a:r>
              <a:rPr sz="1600" spc="-5" dirty="0">
                <a:latin typeface="Arial"/>
                <a:cs typeface="Arial"/>
              </a:rPr>
              <a:t>store </a:t>
            </a:r>
            <a:r>
              <a:rPr sz="1600" spc="-10" dirty="0">
                <a:latin typeface="Arial"/>
                <a:cs typeface="Arial"/>
              </a:rPr>
              <a:t>programs </a:t>
            </a:r>
            <a:r>
              <a:rPr sz="1600" spc="-5" dirty="0">
                <a:latin typeface="Arial"/>
                <a:cs typeface="Arial"/>
              </a:rPr>
              <a:t>permanently. The </a:t>
            </a:r>
            <a:r>
              <a:rPr sz="1600" dirty="0">
                <a:latin typeface="Arial"/>
                <a:cs typeface="Arial"/>
              </a:rPr>
              <a:t>key  </a:t>
            </a:r>
            <a:r>
              <a:rPr sz="1600" spc="-5" dirty="0">
                <a:latin typeface="Arial"/>
                <a:cs typeface="Arial"/>
              </a:rPr>
              <a:t>difference from </a:t>
            </a:r>
            <a:r>
              <a:rPr sz="1600" dirty="0">
                <a:latin typeface="Arial"/>
                <a:cs typeface="Arial"/>
              </a:rPr>
              <a:t>a </a:t>
            </a:r>
            <a:r>
              <a:rPr sz="1600" spc="-5" dirty="0">
                <a:latin typeface="Arial"/>
                <a:cs typeface="Arial"/>
              </a:rPr>
              <a:t>strict ROM </a:t>
            </a:r>
            <a:r>
              <a:rPr sz="1600" dirty="0">
                <a:latin typeface="Arial"/>
                <a:cs typeface="Arial"/>
              </a:rPr>
              <a:t>is </a:t>
            </a:r>
            <a:r>
              <a:rPr sz="1600" spc="-5" dirty="0">
                <a:latin typeface="Arial"/>
                <a:cs typeface="Arial"/>
              </a:rPr>
              <a:t>that the programming </a:t>
            </a:r>
            <a:r>
              <a:rPr sz="1600" dirty="0">
                <a:latin typeface="Arial"/>
                <a:cs typeface="Arial"/>
              </a:rPr>
              <a:t>is </a:t>
            </a:r>
            <a:r>
              <a:rPr sz="1600" spc="-5" dirty="0">
                <a:latin typeface="Arial"/>
                <a:cs typeface="Arial"/>
              </a:rPr>
              <a:t>applied after the device </a:t>
            </a:r>
            <a:r>
              <a:rPr sz="1600" dirty="0">
                <a:latin typeface="Arial"/>
                <a:cs typeface="Arial"/>
              </a:rPr>
              <a:t>is  </a:t>
            </a:r>
            <a:r>
              <a:rPr sz="1600" spc="-5" dirty="0">
                <a:latin typeface="Arial"/>
                <a:cs typeface="Arial"/>
              </a:rPr>
              <a:t>constructed.</a:t>
            </a:r>
            <a:endParaRPr sz="1600" dirty="0">
              <a:latin typeface="Arial"/>
              <a:cs typeface="Arial"/>
            </a:endParaRPr>
          </a:p>
        </p:txBody>
      </p:sp>
      <p:sp>
        <p:nvSpPr>
          <p:cNvPr id="5" name="object 5"/>
          <p:cNvSpPr txBox="1"/>
          <p:nvPr/>
        </p:nvSpPr>
        <p:spPr>
          <a:xfrm>
            <a:off x="712893" y="306959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6" name="object 6"/>
          <p:cNvSpPr txBox="1"/>
          <p:nvPr/>
        </p:nvSpPr>
        <p:spPr>
          <a:xfrm>
            <a:off x="1170092" y="3082291"/>
            <a:ext cx="10280227" cy="653768"/>
          </a:xfrm>
          <a:prstGeom prst="rect">
            <a:avLst/>
          </a:prstGeom>
        </p:spPr>
        <p:txBody>
          <a:bodyPr vert="horz" wrap="square" lIns="0" tIns="62229" rIns="0" bIns="0" rtlCol="0">
            <a:spAutoFit/>
          </a:bodyPr>
          <a:lstStyle/>
          <a:p>
            <a:pPr marL="12700" marR="5080" algn="just">
              <a:lnSpc>
                <a:spcPct val="79700"/>
              </a:lnSpc>
              <a:spcBef>
                <a:spcPts val="489"/>
              </a:spcBef>
            </a:pPr>
            <a:r>
              <a:rPr sz="1600" spc="-5" dirty="0">
                <a:latin typeface="Arial"/>
                <a:cs typeface="Arial"/>
              </a:rPr>
              <a:t>Creating </a:t>
            </a:r>
            <a:r>
              <a:rPr sz="1600" spc="-10" dirty="0">
                <a:latin typeface="Arial"/>
                <a:cs typeface="Arial"/>
              </a:rPr>
              <a:t>ROM </a:t>
            </a:r>
            <a:r>
              <a:rPr sz="1600" spc="-5" dirty="0">
                <a:latin typeface="Arial"/>
                <a:cs typeface="Arial"/>
              </a:rPr>
              <a:t>chips totally from scratch </a:t>
            </a:r>
            <a:r>
              <a:rPr sz="1600" dirty="0">
                <a:latin typeface="Arial"/>
                <a:cs typeface="Arial"/>
              </a:rPr>
              <a:t>is </a:t>
            </a:r>
            <a:r>
              <a:rPr sz="1600" spc="-5" dirty="0">
                <a:latin typeface="Arial"/>
                <a:cs typeface="Arial"/>
              </a:rPr>
              <a:t>time-consuming and very expensive </a:t>
            </a:r>
            <a:r>
              <a:rPr sz="1600" dirty="0">
                <a:latin typeface="Arial"/>
                <a:cs typeface="Arial"/>
              </a:rPr>
              <a:t>in  </a:t>
            </a:r>
            <a:r>
              <a:rPr sz="1600" spc="-5" dirty="0">
                <a:latin typeface="Arial"/>
                <a:cs typeface="Arial"/>
              </a:rPr>
              <a:t>small quantities. </a:t>
            </a:r>
            <a:r>
              <a:rPr sz="1600" spc="-10" dirty="0">
                <a:latin typeface="Arial"/>
                <a:cs typeface="Arial"/>
              </a:rPr>
              <a:t>For </a:t>
            </a:r>
            <a:r>
              <a:rPr sz="1600" spc="-5" dirty="0">
                <a:latin typeface="Arial"/>
                <a:cs typeface="Arial"/>
              </a:rPr>
              <a:t>this reason, mainly, developers created </a:t>
            </a:r>
            <a:r>
              <a:rPr sz="1600" dirty="0">
                <a:latin typeface="Arial"/>
                <a:cs typeface="Arial"/>
              </a:rPr>
              <a:t>a </a:t>
            </a:r>
            <a:r>
              <a:rPr sz="1600" spc="-5" dirty="0">
                <a:latin typeface="Arial"/>
                <a:cs typeface="Arial"/>
              </a:rPr>
              <a:t>type of </a:t>
            </a:r>
            <a:r>
              <a:rPr sz="1600" spc="-10" dirty="0">
                <a:latin typeface="Arial"/>
                <a:cs typeface="Arial"/>
              </a:rPr>
              <a:t>ROM </a:t>
            </a:r>
            <a:r>
              <a:rPr sz="1600" spc="-5" dirty="0">
                <a:latin typeface="Arial"/>
                <a:cs typeface="Arial"/>
              </a:rPr>
              <a:t>known as  </a:t>
            </a:r>
            <a:r>
              <a:rPr sz="1600" b="1" spc="-10" dirty="0">
                <a:latin typeface="Arial"/>
                <a:cs typeface="Arial"/>
              </a:rPr>
              <a:t>programmable read-only memory </a:t>
            </a:r>
            <a:r>
              <a:rPr sz="1600" spc="-10" dirty="0">
                <a:latin typeface="Arial"/>
                <a:cs typeface="Arial"/>
              </a:rPr>
              <a:t>(PROM). </a:t>
            </a:r>
            <a:r>
              <a:rPr sz="1600" spc="-5" dirty="0">
                <a:latin typeface="Arial"/>
                <a:cs typeface="Arial"/>
              </a:rPr>
              <a:t>Blank </a:t>
            </a:r>
            <a:r>
              <a:rPr sz="1600" spc="-10" dirty="0">
                <a:latin typeface="Arial"/>
                <a:cs typeface="Arial"/>
              </a:rPr>
              <a:t>PROM </a:t>
            </a:r>
            <a:r>
              <a:rPr sz="1600" spc="-5" dirty="0">
                <a:latin typeface="Arial"/>
                <a:cs typeface="Arial"/>
              </a:rPr>
              <a:t>chips </a:t>
            </a:r>
            <a:r>
              <a:rPr sz="1600" dirty="0">
                <a:latin typeface="Arial"/>
                <a:cs typeface="Arial"/>
              </a:rPr>
              <a:t>can </a:t>
            </a:r>
            <a:r>
              <a:rPr sz="1600" spc="-5" dirty="0">
                <a:latin typeface="Arial"/>
                <a:cs typeface="Arial"/>
              </a:rPr>
              <a:t>be bought  inexpensively and coded by anyone with </a:t>
            </a:r>
            <a:r>
              <a:rPr sz="1600" dirty="0">
                <a:latin typeface="Arial"/>
                <a:cs typeface="Arial"/>
              </a:rPr>
              <a:t>a </a:t>
            </a:r>
            <a:r>
              <a:rPr sz="1600" spc="-5" dirty="0">
                <a:latin typeface="Arial"/>
                <a:cs typeface="Arial"/>
              </a:rPr>
              <a:t>special tool called </a:t>
            </a:r>
            <a:r>
              <a:rPr sz="1600" dirty="0">
                <a:latin typeface="Arial"/>
                <a:cs typeface="Arial"/>
              </a:rPr>
              <a:t>a</a:t>
            </a:r>
            <a:r>
              <a:rPr sz="1600" spc="50" dirty="0">
                <a:latin typeface="Arial"/>
                <a:cs typeface="Arial"/>
              </a:rPr>
              <a:t> </a:t>
            </a:r>
            <a:r>
              <a:rPr sz="1600" b="1" spc="-5" dirty="0">
                <a:latin typeface="Arial"/>
                <a:cs typeface="Arial"/>
              </a:rPr>
              <a:t>programmer</a:t>
            </a:r>
            <a:r>
              <a:rPr sz="1600" spc="-5" dirty="0">
                <a:latin typeface="Arial"/>
                <a:cs typeface="Arial"/>
              </a:rPr>
              <a:t>.</a:t>
            </a:r>
            <a:endParaRPr sz="1600" dirty="0">
              <a:latin typeface="Arial"/>
              <a:cs typeface="Arial"/>
            </a:endParaRPr>
          </a:p>
        </p:txBody>
      </p:sp>
      <p:sp>
        <p:nvSpPr>
          <p:cNvPr id="7" name="object 7"/>
          <p:cNvSpPr/>
          <p:nvPr/>
        </p:nvSpPr>
        <p:spPr>
          <a:xfrm>
            <a:off x="8229600" y="4418329"/>
            <a:ext cx="3556000" cy="1502410"/>
          </a:xfrm>
          <a:prstGeom prst="rect">
            <a:avLst/>
          </a:prstGeom>
          <a:blipFill>
            <a:blip r:embed="rId2" cstate="print"/>
            <a:stretch>
              <a:fillRect/>
            </a:stretch>
          </a:blipFill>
        </p:spPr>
        <p:txBody>
          <a:bodyPr wrap="square" lIns="0" tIns="0" rIns="0" bIns="0" rtlCol="0"/>
          <a:lstStyle/>
          <a:p>
            <a:endParaRPr/>
          </a:p>
        </p:txBody>
      </p:sp>
      <p:sp>
        <p:nvSpPr>
          <p:cNvPr id="8" name="object 8"/>
          <p:cNvSpPr txBox="1"/>
          <p:nvPr/>
        </p:nvSpPr>
        <p:spPr>
          <a:xfrm>
            <a:off x="712893" y="424052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9" name="object 9"/>
          <p:cNvSpPr txBox="1"/>
          <p:nvPr/>
        </p:nvSpPr>
        <p:spPr>
          <a:xfrm>
            <a:off x="1170093" y="4251959"/>
            <a:ext cx="1563793" cy="269240"/>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Arial"/>
                <a:cs typeface="Arial"/>
              </a:rPr>
              <a:t>Advantages</a:t>
            </a:r>
            <a:endParaRPr sz="1600">
              <a:latin typeface="Arial"/>
              <a:cs typeface="Arial"/>
            </a:endParaRPr>
          </a:p>
        </p:txBody>
      </p:sp>
      <p:sp>
        <p:nvSpPr>
          <p:cNvPr id="10" name="object 10"/>
          <p:cNvSpPr txBox="1"/>
          <p:nvPr/>
        </p:nvSpPr>
        <p:spPr>
          <a:xfrm>
            <a:off x="1932093" y="4485641"/>
            <a:ext cx="129540" cy="1004569"/>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a:p>
            <a:pPr marL="12700">
              <a:lnSpc>
                <a:spcPct val="100000"/>
              </a:lnSpc>
              <a:spcBef>
                <a:spcPts val="10"/>
              </a:spcBef>
            </a:pPr>
            <a:r>
              <a:rPr sz="1600" dirty="0">
                <a:latin typeface="Arial"/>
                <a:cs typeface="Arial"/>
              </a:rPr>
              <a:t>•</a:t>
            </a:r>
            <a:endParaRPr sz="1600">
              <a:latin typeface="Arial"/>
              <a:cs typeface="Arial"/>
            </a:endParaRPr>
          </a:p>
          <a:p>
            <a:pPr marL="12700">
              <a:lnSpc>
                <a:spcPct val="100000"/>
              </a:lnSpc>
              <a:spcBef>
                <a:spcPts val="10"/>
              </a:spcBef>
            </a:pPr>
            <a:r>
              <a:rPr sz="1600" dirty="0">
                <a:latin typeface="Arial"/>
                <a:cs typeface="Arial"/>
              </a:rPr>
              <a:t>•</a:t>
            </a:r>
            <a:endParaRPr sz="1600">
              <a:latin typeface="Arial"/>
              <a:cs typeface="Arial"/>
            </a:endParaRPr>
          </a:p>
          <a:p>
            <a:pPr marL="12700">
              <a:lnSpc>
                <a:spcPct val="100000"/>
              </a:lnSpc>
              <a:spcBef>
                <a:spcPts val="10"/>
              </a:spcBef>
            </a:pPr>
            <a:r>
              <a:rPr sz="1600" dirty="0">
                <a:latin typeface="Arial"/>
                <a:cs typeface="Arial"/>
              </a:rPr>
              <a:t>•</a:t>
            </a:r>
            <a:endParaRPr sz="1600">
              <a:latin typeface="Arial"/>
              <a:cs typeface="Arial"/>
            </a:endParaRPr>
          </a:p>
        </p:txBody>
      </p:sp>
      <p:sp>
        <p:nvSpPr>
          <p:cNvPr id="11" name="object 11"/>
          <p:cNvSpPr txBox="1"/>
          <p:nvPr/>
        </p:nvSpPr>
        <p:spPr>
          <a:xfrm>
            <a:off x="2236894" y="4497070"/>
            <a:ext cx="4940300" cy="1445260"/>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Reliability</a:t>
            </a:r>
            <a:endParaRPr sz="1600">
              <a:latin typeface="Arial"/>
              <a:cs typeface="Arial"/>
            </a:endParaRPr>
          </a:p>
          <a:p>
            <a:pPr marL="12700" marR="1473835">
              <a:lnSpc>
                <a:spcPct val="100499"/>
              </a:lnSpc>
            </a:pPr>
            <a:r>
              <a:rPr sz="1600" spc="-5" dirty="0">
                <a:latin typeface="Arial"/>
                <a:cs typeface="Arial"/>
              </a:rPr>
              <a:t>Stores data</a:t>
            </a:r>
            <a:r>
              <a:rPr sz="1600" spc="-65" dirty="0">
                <a:latin typeface="Arial"/>
                <a:cs typeface="Arial"/>
              </a:rPr>
              <a:t> </a:t>
            </a:r>
            <a:r>
              <a:rPr sz="1600" spc="-5" dirty="0">
                <a:latin typeface="Arial"/>
                <a:cs typeface="Arial"/>
              </a:rPr>
              <a:t>permanently  Moderate</a:t>
            </a:r>
            <a:r>
              <a:rPr sz="1600" spc="-10" dirty="0">
                <a:latin typeface="Arial"/>
                <a:cs typeface="Arial"/>
              </a:rPr>
              <a:t> </a:t>
            </a:r>
            <a:r>
              <a:rPr sz="1600" spc="-5" dirty="0">
                <a:latin typeface="Arial"/>
                <a:cs typeface="Arial"/>
              </a:rPr>
              <a:t>price</a:t>
            </a:r>
            <a:endParaRPr sz="1600">
              <a:latin typeface="Arial"/>
              <a:cs typeface="Arial"/>
            </a:endParaRPr>
          </a:p>
          <a:p>
            <a:pPr marL="12700" marR="5080">
              <a:lnSpc>
                <a:spcPct val="79700"/>
              </a:lnSpc>
              <a:spcBef>
                <a:spcPts val="409"/>
              </a:spcBef>
            </a:pPr>
            <a:r>
              <a:rPr sz="1600" spc="-5" dirty="0">
                <a:latin typeface="Arial"/>
                <a:cs typeface="Arial"/>
              </a:rPr>
              <a:t>Built using integrated circuits, rather than  discrete</a:t>
            </a:r>
            <a:r>
              <a:rPr sz="1600" spc="-10" dirty="0">
                <a:latin typeface="Arial"/>
                <a:cs typeface="Arial"/>
              </a:rPr>
              <a:t> </a:t>
            </a:r>
            <a:r>
              <a:rPr sz="1600" spc="-5" dirty="0">
                <a:latin typeface="Arial"/>
                <a:cs typeface="Arial"/>
              </a:rPr>
              <a:t>components.</a:t>
            </a:r>
            <a:endParaRPr sz="1600">
              <a:latin typeface="Arial"/>
              <a:cs typeface="Arial"/>
            </a:endParaRPr>
          </a:p>
          <a:p>
            <a:pPr marL="12700">
              <a:lnSpc>
                <a:spcPct val="100000"/>
              </a:lnSpc>
              <a:spcBef>
                <a:spcPts val="10"/>
              </a:spcBef>
            </a:pPr>
            <a:r>
              <a:rPr sz="1600" spc="-5" dirty="0">
                <a:latin typeface="Arial"/>
                <a:cs typeface="Arial"/>
              </a:rPr>
              <a:t>Fast: speed </a:t>
            </a:r>
            <a:r>
              <a:rPr sz="1600" dirty="0">
                <a:latin typeface="Arial"/>
                <a:cs typeface="Arial"/>
              </a:rPr>
              <a:t>is </a:t>
            </a:r>
            <a:r>
              <a:rPr sz="1600" spc="-5" dirty="0">
                <a:latin typeface="Arial"/>
                <a:cs typeface="Arial"/>
              </a:rPr>
              <a:t>between 35ns and</a:t>
            </a:r>
            <a:r>
              <a:rPr sz="1600" spc="-35" dirty="0">
                <a:latin typeface="Arial"/>
                <a:cs typeface="Arial"/>
              </a:rPr>
              <a:t> </a:t>
            </a:r>
            <a:r>
              <a:rPr sz="1600" spc="-5" dirty="0">
                <a:latin typeface="Arial"/>
                <a:cs typeface="Arial"/>
              </a:rPr>
              <a:t>60ns.</a:t>
            </a:r>
            <a:endParaRPr sz="1600">
              <a:latin typeface="Arial"/>
              <a:cs typeface="Arial"/>
            </a:endParaRPr>
          </a:p>
        </p:txBody>
      </p:sp>
      <p:sp>
        <p:nvSpPr>
          <p:cNvPr id="12" name="object 12"/>
          <p:cNvSpPr txBox="1"/>
          <p:nvPr/>
        </p:nvSpPr>
        <p:spPr>
          <a:xfrm>
            <a:off x="1932093" y="566039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2893" y="436879"/>
            <a:ext cx="5356860" cy="936154"/>
          </a:xfrm>
          <a:prstGeom prst="rect">
            <a:avLst/>
          </a:prstGeom>
        </p:spPr>
        <p:txBody>
          <a:bodyPr vert="horz" wrap="square" lIns="0" tIns="12700" rIns="0" bIns="0" rtlCol="0">
            <a:spAutoFit/>
          </a:bodyPr>
          <a:lstStyle/>
          <a:p>
            <a:pPr marL="12700">
              <a:lnSpc>
                <a:spcPct val="100000"/>
              </a:lnSpc>
              <a:spcBef>
                <a:spcPts val="100"/>
              </a:spcBef>
            </a:pPr>
            <a:r>
              <a:rPr spc="-5" dirty="0"/>
              <a:t>EPROM</a:t>
            </a:r>
          </a:p>
          <a:p>
            <a:pPr marL="12700">
              <a:lnSpc>
                <a:spcPct val="100000"/>
              </a:lnSpc>
            </a:pPr>
            <a:r>
              <a:rPr sz="1600" b="0" u="sng" spc="-5" dirty="0">
                <a:uFill>
                  <a:solidFill>
                    <a:srgbClr val="000000"/>
                  </a:solidFill>
                </a:uFill>
                <a:latin typeface="Arial"/>
                <a:cs typeface="Arial"/>
              </a:rPr>
              <a:t>Erasable Programmable </a:t>
            </a:r>
            <a:r>
              <a:rPr sz="1600" b="0" u="sng" spc="-10" dirty="0">
                <a:uFill>
                  <a:solidFill>
                    <a:srgbClr val="000000"/>
                  </a:solidFill>
                </a:uFill>
                <a:latin typeface="Arial"/>
                <a:cs typeface="Arial"/>
              </a:rPr>
              <a:t>Read </a:t>
            </a:r>
            <a:r>
              <a:rPr sz="1600" b="0" u="sng" spc="-5" dirty="0">
                <a:uFill>
                  <a:solidFill>
                    <a:srgbClr val="000000"/>
                  </a:solidFill>
                </a:uFill>
                <a:latin typeface="Arial"/>
                <a:cs typeface="Arial"/>
              </a:rPr>
              <a:t>Only</a:t>
            </a:r>
            <a:r>
              <a:rPr sz="1600" b="0" u="sng" spc="-35" dirty="0">
                <a:uFill>
                  <a:solidFill>
                    <a:srgbClr val="000000"/>
                  </a:solidFill>
                </a:uFill>
                <a:latin typeface="Arial"/>
                <a:cs typeface="Arial"/>
              </a:rPr>
              <a:t> </a:t>
            </a:r>
            <a:r>
              <a:rPr sz="1600" b="0" u="sng" spc="-5" dirty="0">
                <a:uFill>
                  <a:solidFill>
                    <a:srgbClr val="000000"/>
                  </a:solidFill>
                </a:uFill>
                <a:latin typeface="Arial"/>
                <a:cs typeface="Arial"/>
              </a:rPr>
              <a:t>Memory</a:t>
            </a:r>
            <a:endParaRPr sz="1600">
              <a:latin typeface="Arial"/>
              <a:cs typeface="Arial"/>
            </a:endParaRPr>
          </a:p>
        </p:txBody>
      </p:sp>
      <p:sp>
        <p:nvSpPr>
          <p:cNvPr id="3" name="object 3"/>
          <p:cNvSpPr txBox="1"/>
          <p:nvPr/>
        </p:nvSpPr>
        <p:spPr>
          <a:xfrm>
            <a:off x="1220893" y="2106929"/>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4" name="object 4"/>
          <p:cNvSpPr txBox="1"/>
          <p:nvPr/>
        </p:nvSpPr>
        <p:spPr>
          <a:xfrm>
            <a:off x="1678093" y="2118360"/>
            <a:ext cx="8948420" cy="653768"/>
          </a:xfrm>
          <a:prstGeom prst="rect">
            <a:avLst/>
          </a:prstGeom>
        </p:spPr>
        <p:txBody>
          <a:bodyPr vert="horz" wrap="square" lIns="0" tIns="62229" rIns="0" bIns="0" rtlCol="0">
            <a:spAutoFit/>
          </a:bodyPr>
          <a:lstStyle/>
          <a:p>
            <a:pPr marL="12700" marR="5080">
              <a:lnSpc>
                <a:spcPct val="79700"/>
              </a:lnSpc>
              <a:spcBef>
                <a:spcPts val="489"/>
              </a:spcBef>
            </a:pPr>
            <a:r>
              <a:rPr sz="1600" spc="-5" dirty="0">
                <a:latin typeface="Arial"/>
                <a:cs typeface="Arial"/>
              </a:rPr>
              <a:t>It </a:t>
            </a:r>
            <a:r>
              <a:rPr sz="1600" dirty="0">
                <a:latin typeface="Arial"/>
                <a:cs typeface="Arial"/>
              </a:rPr>
              <a:t>is </a:t>
            </a:r>
            <a:r>
              <a:rPr sz="1600" spc="-5" dirty="0">
                <a:latin typeface="Arial"/>
                <a:cs typeface="Arial"/>
              </a:rPr>
              <a:t>an </a:t>
            </a:r>
            <a:r>
              <a:rPr sz="1600" spc="-10" dirty="0">
                <a:latin typeface="Arial"/>
                <a:cs typeface="Arial"/>
              </a:rPr>
              <a:t>array </a:t>
            </a:r>
            <a:r>
              <a:rPr sz="1600" spc="-5" dirty="0">
                <a:latin typeface="Arial"/>
                <a:cs typeface="Arial"/>
              </a:rPr>
              <a:t>of floating-gate transistors individually programmed by an  electronic device that supplies higher voltages than those normally used </a:t>
            </a:r>
            <a:r>
              <a:rPr sz="1600" dirty="0">
                <a:latin typeface="Arial"/>
                <a:cs typeface="Arial"/>
              </a:rPr>
              <a:t>in  </a:t>
            </a:r>
            <a:r>
              <a:rPr sz="1600" spc="-5" dirty="0">
                <a:latin typeface="Arial"/>
                <a:cs typeface="Arial"/>
              </a:rPr>
              <a:t>electronic circuits. Once </a:t>
            </a:r>
            <a:r>
              <a:rPr sz="1600" spc="-10" dirty="0">
                <a:latin typeface="Arial"/>
                <a:cs typeface="Arial"/>
              </a:rPr>
              <a:t>programmed, </a:t>
            </a:r>
            <a:r>
              <a:rPr sz="1600" spc="-5" dirty="0">
                <a:latin typeface="Arial"/>
                <a:cs typeface="Arial"/>
              </a:rPr>
              <a:t>an EPROM can be erased only by  exposing </a:t>
            </a:r>
            <a:r>
              <a:rPr sz="1600" dirty="0">
                <a:latin typeface="Arial"/>
                <a:cs typeface="Arial"/>
              </a:rPr>
              <a:t>it </a:t>
            </a:r>
            <a:r>
              <a:rPr sz="1600" spc="-5" dirty="0">
                <a:latin typeface="Arial"/>
                <a:cs typeface="Arial"/>
              </a:rPr>
              <a:t>to strong </a:t>
            </a:r>
            <a:r>
              <a:rPr sz="1600" b="1" spc="-5" dirty="0">
                <a:latin typeface="Arial"/>
                <a:cs typeface="Arial"/>
              </a:rPr>
              <a:t>ultraviolet</a:t>
            </a:r>
            <a:r>
              <a:rPr sz="1600" b="1" dirty="0">
                <a:latin typeface="Arial"/>
                <a:cs typeface="Arial"/>
              </a:rPr>
              <a:t> </a:t>
            </a:r>
            <a:r>
              <a:rPr sz="1600" b="1" spc="-5" dirty="0">
                <a:latin typeface="Arial"/>
                <a:cs typeface="Arial"/>
              </a:rPr>
              <a:t>light</a:t>
            </a:r>
            <a:r>
              <a:rPr sz="1600" spc="-5" dirty="0">
                <a:latin typeface="Arial"/>
                <a:cs typeface="Arial"/>
              </a:rPr>
              <a:t>.</a:t>
            </a:r>
            <a:endParaRPr sz="1600" dirty="0">
              <a:latin typeface="Arial"/>
              <a:cs typeface="Arial"/>
            </a:endParaRPr>
          </a:p>
        </p:txBody>
      </p:sp>
      <p:sp>
        <p:nvSpPr>
          <p:cNvPr id="5" name="object 5"/>
          <p:cNvSpPr txBox="1"/>
          <p:nvPr/>
        </p:nvSpPr>
        <p:spPr>
          <a:xfrm>
            <a:off x="1220892" y="3149600"/>
            <a:ext cx="9542779" cy="1047081"/>
          </a:xfrm>
          <a:prstGeom prst="rect">
            <a:avLst/>
          </a:prstGeom>
        </p:spPr>
        <p:txBody>
          <a:bodyPr vert="horz" wrap="square" lIns="0" tIns="61594" rIns="0" bIns="0" rtlCol="0">
            <a:spAutoFit/>
          </a:bodyPr>
          <a:lstStyle/>
          <a:p>
            <a:pPr marL="355600" marR="5080" indent="-342900" algn="just">
              <a:lnSpc>
                <a:spcPct val="79800"/>
              </a:lnSpc>
              <a:spcBef>
                <a:spcPts val="484"/>
              </a:spcBef>
              <a:buChar char="•"/>
              <a:tabLst>
                <a:tab pos="354965" algn="l"/>
                <a:tab pos="355600" algn="l"/>
              </a:tabLst>
            </a:pPr>
            <a:r>
              <a:rPr sz="1600" spc="-5" dirty="0">
                <a:latin typeface="Arial"/>
                <a:cs typeface="Arial"/>
              </a:rPr>
              <a:t>Working with ROMs and </a:t>
            </a:r>
            <a:r>
              <a:rPr sz="1600" spc="-10" dirty="0">
                <a:latin typeface="Arial"/>
                <a:cs typeface="Arial"/>
              </a:rPr>
              <a:t>PROMs </a:t>
            </a:r>
            <a:r>
              <a:rPr sz="1600" spc="-5" dirty="0">
                <a:latin typeface="Arial"/>
                <a:cs typeface="Arial"/>
              </a:rPr>
              <a:t>can be </a:t>
            </a:r>
            <a:r>
              <a:rPr sz="1600" dirty="0">
                <a:latin typeface="Arial"/>
                <a:cs typeface="Arial"/>
              </a:rPr>
              <a:t>a </a:t>
            </a:r>
            <a:r>
              <a:rPr sz="1600" spc="-5" dirty="0">
                <a:latin typeface="Arial"/>
                <a:cs typeface="Arial"/>
              </a:rPr>
              <a:t>wasteful business. </a:t>
            </a:r>
            <a:r>
              <a:rPr sz="1600" dirty="0">
                <a:latin typeface="Arial"/>
                <a:cs typeface="Arial"/>
              </a:rPr>
              <a:t>Even </a:t>
            </a:r>
            <a:r>
              <a:rPr sz="1600" spc="-5" dirty="0">
                <a:latin typeface="Arial"/>
                <a:cs typeface="Arial"/>
              </a:rPr>
              <a:t>though  they </a:t>
            </a:r>
            <a:r>
              <a:rPr sz="1600" spc="-10" dirty="0">
                <a:latin typeface="Arial"/>
                <a:cs typeface="Arial"/>
              </a:rPr>
              <a:t>are </a:t>
            </a:r>
            <a:r>
              <a:rPr sz="1600" spc="-5" dirty="0">
                <a:latin typeface="Arial"/>
                <a:cs typeface="Arial"/>
              </a:rPr>
              <a:t>inexpensive per chip, the </a:t>
            </a:r>
            <a:r>
              <a:rPr sz="1600" dirty="0">
                <a:latin typeface="Arial"/>
                <a:cs typeface="Arial"/>
              </a:rPr>
              <a:t>cost </a:t>
            </a:r>
            <a:r>
              <a:rPr sz="1600" spc="-5" dirty="0">
                <a:latin typeface="Arial"/>
                <a:cs typeface="Arial"/>
              </a:rPr>
              <a:t>can add up over time. </a:t>
            </a:r>
            <a:r>
              <a:rPr sz="1600" b="1" spc="-5" dirty="0">
                <a:latin typeface="Arial"/>
                <a:cs typeface="Arial"/>
              </a:rPr>
              <a:t>Erasable  </a:t>
            </a:r>
            <a:r>
              <a:rPr sz="1600" b="1" spc="-10" dirty="0">
                <a:latin typeface="Arial"/>
                <a:cs typeface="Arial"/>
              </a:rPr>
              <a:t>programmable </a:t>
            </a:r>
            <a:r>
              <a:rPr sz="1600" b="1" spc="-5" dirty="0">
                <a:latin typeface="Arial"/>
                <a:cs typeface="Arial"/>
              </a:rPr>
              <a:t>read-only memory </a:t>
            </a:r>
            <a:r>
              <a:rPr sz="1600" spc="-5" dirty="0">
                <a:latin typeface="Arial"/>
                <a:cs typeface="Arial"/>
              </a:rPr>
              <a:t>(EPROM) addresses this issue.  EPROM chips </a:t>
            </a:r>
            <a:r>
              <a:rPr sz="1600" dirty="0">
                <a:latin typeface="Arial"/>
                <a:cs typeface="Arial"/>
              </a:rPr>
              <a:t>can </a:t>
            </a:r>
            <a:r>
              <a:rPr sz="1600" spc="-5" dirty="0">
                <a:latin typeface="Arial"/>
                <a:cs typeface="Arial"/>
              </a:rPr>
              <a:t>be rewritten many times. Erasing an EPROM </a:t>
            </a:r>
            <a:r>
              <a:rPr sz="1600" spc="-10" dirty="0">
                <a:latin typeface="Arial"/>
                <a:cs typeface="Arial"/>
              </a:rPr>
              <a:t>requires </a:t>
            </a:r>
            <a:r>
              <a:rPr sz="1600" dirty="0">
                <a:latin typeface="Arial"/>
                <a:cs typeface="Arial"/>
              </a:rPr>
              <a:t>a  </a:t>
            </a:r>
            <a:r>
              <a:rPr sz="1600" spc="-5" dirty="0">
                <a:latin typeface="Arial"/>
                <a:cs typeface="Arial"/>
              </a:rPr>
              <a:t>special tool that emits </a:t>
            </a:r>
            <a:r>
              <a:rPr sz="1600" dirty="0">
                <a:latin typeface="Arial"/>
                <a:cs typeface="Arial"/>
              </a:rPr>
              <a:t>a </a:t>
            </a:r>
            <a:r>
              <a:rPr sz="1600" spc="-5" dirty="0">
                <a:latin typeface="Arial"/>
                <a:cs typeface="Arial"/>
              </a:rPr>
              <a:t>certain frequency of ultraviolet (UV) light. EPROM's  are configured using an EPROM programmer that provides voltage at  </a:t>
            </a:r>
            <a:r>
              <a:rPr sz="1600" dirty="0">
                <a:latin typeface="Arial"/>
                <a:cs typeface="Arial"/>
              </a:rPr>
              <a:t>specified </a:t>
            </a:r>
            <a:r>
              <a:rPr sz="1600" spc="-5" dirty="0">
                <a:latin typeface="Arial"/>
                <a:cs typeface="Arial"/>
              </a:rPr>
              <a:t>levels depending on </a:t>
            </a:r>
            <a:r>
              <a:rPr sz="1600" dirty="0">
                <a:latin typeface="Arial"/>
                <a:cs typeface="Arial"/>
              </a:rPr>
              <a:t>the </a:t>
            </a:r>
            <a:r>
              <a:rPr sz="1600" spc="-5" dirty="0">
                <a:latin typeface="Arial"/>
                <a:cs typeface="Arial"/>
              </a:rPr>
              <a:t>type of EPROM</a:t>
            </a:r>
            <a:r>
              <a:rPr sz="1600" spc="-20" dirty="0">
                <a:latin typeface="Arial"/>
                <a:cs typeface="Arial"/>
              </a:rPr>
              <a:t> </a:t>
            </a:r>
            <a:r>
              <a:rPr sz="1600" spc="-5" dirty="0">
                <a:latin typeface="Arial"/>
                <a:cs typeface="Arial"/>
              </a:rPr>
              <a:t>used.</a:t>
            </a:r>
            <a:endParaRPr sz="1600" dirty="0">
              <a:latin typeface="Arial"/>
              <a:cs typeface="Arial"/>
            </a:endParaRPr>
          </a:p>
        </p:txBody>
      </p:sp>
      <p:sp>
        <p:nvSpPr>
          <p:cNvPr id="6" name="object 6"/>
          <p:cNvSpPr txBox="1"/>
          <p:nvPr/>
        </p:nvSpPr>
        <p:spPr>
          <a:xfrm>
            <a:off x="1220893" y="475234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7" name="object 7"/>
          <p:cNvSpPr txBox="1"/>
          <p:nvPr/>
        </p:nvSpPr>
        <p:spPr>
          <a:xfrm>
            <a:off x="1678092" y="4765040"/>
            <a:ext cx="9142307" cy="456791"/>
          </a:xfrm>
          <a:prstGeom prst="rect">
            <a:avLst/>
          </a:prstGeom>
        </p:spPr>
        <p:txBody>
          <a:bodyPr vert="horz" wrap="square" lIns="0" tIns="62229" rIns="0" bIns="0" rtlCol="0">
            <a:spAutoFit/>
          </a:bodyPr>
          <a:lstStyle/>
          <a:p>
            <a:pPr marL="12700" marR="5080">
              <a:lnSpc>
                <a:spcPct val="79700"/>
              </a:lnSpc>
              <a:spcBef>
                <a:spcPts val="489"/>
              </a:spcBef>
            </a:pPr>
            <a:r>
              <a:rPr sz="1600" spc="-5" dirty="0">
                <a:latin typeface="Arial"/>
                <a:cs typeface="Arial"/>
              </a:rPr>
              <a:t>EPROM's are easily recognizable by the transparent fused quartz window </a:t>
            </a:r>
            <a:r>
              <a:rPr sz="1600" dirty="0">
                <a:latin typeface="Arial"/>
                <a:cs typeface="Arial"/>
              </a:rPr>
              <a:t>in  </a:t>
            </a:r>
            <a:r>
              <a:rPr sz="1600" spc="-5" dirty="0">
                <a:latin typeface="Arial"/>
                <a:cs typeface="Arial"/>
              </a:rPr>
              <a:t>the </a:t>
            </a:r>
            <a:r>
              <a:rPr sz="1600" dirty="0">
                <a:latin typeface="Arial"/>
                <a:cs typeface="Arial"/>
              </a:rPr>
              <a:t>top </a:t>
            </a:r>
            <a:r>
              <a:rPr sz="1600" spc="-5" dirty="0">
                <a:latin typeface="Arial"/>
                <a:cs typeface="Arial"/>
              </a:rPr>
              <a:t>of </a:t>
            </a:r>
            <a:r>
              <a:rPr sz="1600" dirty="0">
                <a:latin typeface="Arial"/>
                <a:cs typeface="Arial"/>
              </a:rPr>
              <a:t>the </a:t>
            </a:r>
            <a:r>
              <a:rPr sz="1600" spc="-5" dirty="0">
                <a:latin typeface="Arial"/>
                <a:cs typeface="Arial"/>
              </a:rPr>
              <a:t>package, through which the silicon </a:t>
            </a:r>
            <a:r>
              <a:rPr sz="1600" dirty="0">
                <a:latin typeface="Arial"/>
                <a:cs typeface="Arial"/>
              </a:rPr>
              <a:t>chip </a:t>
            </a:r>
            <a:r>
              <a:rPr sz="1600" spc="-5" dirty="0">
                <a:latin typeface="Arial"/>
                <a:cs typeface="Arial"/>
              </a:rPr>
              <a:t>can be seen, and  which permits UV light during</a:t>
            </a:r>
            <a:r>
              <a:rPr sz="1600" spc="5" dirty="0">
                <a:latin typeface="Arial"/>
                <a:cs typeface="Arial"/>
              </a:rPr>
              <a:t> </a:t>
            </a:r>
            <a:r>
              <a:rPr sz="1600" spc="-5" dirty="0">
                <a:latin typeface="Arial"/>
                <a:cs typeface="Arial"/>
              </a:rPr>
              <a:t>erasing.</a:t>
            </a:r>
            <a:endParaRPr sz="1600">
              <a:latin typeface="Arial"/>
              <a:cs typeface="Aria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2893" y="436879"/>
            <a:ext cx="6730153" cy="936154"/>
          </a:xfrm>
          <a:prstGeom prst="rect">
            <a:avLst/>
          </a:prstGeom>
        </p:spPr>
        <p:txBody>
          <a:bodyPr vert="horz" wrap="square" lIns="0" tIns="12700" rIns="0" bIns="0" rtlCol="0">
            <a:spAutoFit/>
          </a:bodyPr>
          <a:lstStyle/>
          <a:p>
            <a:pPr marL="12700">
              <a:lnSpc>
                <a:spcPct val="100000"/>
              </a:lnSpc>
              <a:spcBef>
                <a:spcPts val="100"/>
              </a:spcBef>
            </a:pPr>
            <a:r>
              <a:rPr spc="-5" dirty="0"/>
              <a:t>EEPROM</a:t>
            </a:r>
          </a:p>
          <a:p>
            <a:pPr marL="12700">
              <a:lnSpc>
                <a:spcPct val="100000"/>
              </a:lnSpc>
            </a:pPr>
            <a:r>
              <a:rPr sz="1600" b="0" u="sng" spc="-5" dirty="0">
                <a:uFill>
                  <a:solidFill>
                    <a:srgbClr val="000000"/>
                  </a:solidFill>
                </a:uFill>
                <a:latin typeface="Arial"/>
                <a:cs typeface="Arial"/>
              </a:rPr>
              <a:t>Electrically Erasable Programmable </a:t>
            </a:r>
            <a:r>
              <a:rPr sz="1600" b="0" u="sng" spc="-10" dirty="0">
                <a:uFill>
                  <a:solidFill>
                    <a:srgbClr val="000000"/>
                  </a:solidFill>
                </a:uFill>
                <a:latin typeface="Arial"/>
                <a:cs typeface="Arial"/>
              </a:rPr>
              <a:t>Read </a:t>
            </a:r>
            <a:r>
              <a:rPr sz="1600" b="0" u="sng" spc="-5" dirty="0">
                <a:uFill>
                  <a:solidFill>
                    <a:srgbClr val="000000"/>
                  </a:solidFill>
                </a:uFill>
                <a:latin typeface="Arial"/>
                <a:cs typeface="Arial"/>
              </a:rPr>
              <a:t>Only</a:t>
            </a:r>
            <a:r>
              <a:rPr sz="1600" b="0" u="sng" spc="20" dirty="0">
                <a:uFill>
                  <a:solidFill>
                    <a:srgbClr val="000000"/>
                  </a:solidFill>
                </a:uFill>
                <a:latin typeface="Arial"/>
                <a:cs typeface="Arial"/>
              </a:rPr>
              <a:t> </a:t>
            </a:r>
            <a:r>
              <a:rPr sz="1600" b="0" u="sng" spc="-5" dirty="0">
                <a:uFill>
                  <a:solidFill>
                    <a:srgbClr val="000000"/>
                  </a:solidFill>
                </a:uFill>
                <a:latin typeface="Arial"/>
                <a:cs typeface="Arial"/>
              </a:rPr>
              <a:t>Memory</a:t>
            </a:r>
            <a:endParaRPr sz="1600">
              <a:latin typeface="Arial"/>
              <a:cs typeface="Arial"/>
            </a:endParaRPr>
          </a:p>
        </p:txBody>
      </p:sp>
      <p:sp>
        <p:nvSpPr>
          <p:cNvPr id="3" name="object 3"/>
          <p:cNvSpPr txBox="1"/>
          <p:nvPr/>
        </p:nvSpPr>
        <p:spPr>
          <a:xfrm>
            <a:off x="712893" y="181610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4" name="object 4"/>
          <p:cNvSpPr txBox="1">
            <a:spLocks noGrp="1"/>
          </p:cNvSpPr>
          <p:nvPr>
            <p:ph type="body" idx="1"/>
          </p:nvPr>
        </p:nvSpPr>
        <p:spPr>
          <a:xfrm>
            <a:off x="838200" y="1825625"/>
            <a:ext cx="10515600" cy="6183744"/>
          </a:xfrm>
          <a:prstGeom prst="rect">
            <a:avLst/>
          </a:prstGeom>
        </p:spPr>
        <p:txBody>
          <a:bodyPr vert="horz" wrap="square" lIns="0" tIns="12700" rIns="0" bIns="0" rtlCol="0">
            <a:spAutoFit/>
          </a:bodyPr>
          <a:lstStyle/>
          <a:p>
            <a:pPr marL="12700" marR="5080">
              <a:lnSpc>
                <a:spcPct val="100000"/>
              </a:lnSpc>
              <a:spcBef>
                <a:spcPts val="100"/>
              </a:spcBef>
            </a:pPr>
            <a:r>
              <a:rPr spc="-10" dirty="0"/>
              <a:t>Though </a:t>
            </a:r>
            <a:r>
              <a:rPr spc="-5" dirty="0"/>
              <a:t>EPROMs are </a:t>
            </a:r>
            <a:r>
              <a:rPr dirty="0"/>
              <a:t>a </a:t>
            </a:r>
            <a:r>
              <a:rPr spc="-5" dirty="0"/>
              <a:t>big step up from PROMs </a:t>
            </a:r>
            <a:r>
              <a:rPr dirty="0"/>
              <a:t>in </a:t>
            </a:r>
            <a:r>
              <a:rPr spc="-5" dirty="0"/>
              <a:t>terms of reusability, they </a:t>
            </a:r>
            <a:r>
              <a:rPr dirty="0"/>
              <a:t>still  </a:t>
            </a:r>
            <a:r>
              <a:rPr spc="-5" dirty="0"/>
              <a:t>require dedicated equipment and </a:t>
            </a:r>
            <a:r>
              <a:rPr dirty="0"/>
              <a:t>a </a:t>
            </a:r>
            <a:r>
              <a:rPr spc="-5" dirty="0"/>
              <a:t>labor-intensive process </a:t>
            </a:r>
            <a:r>
              <a:rPr dirty="0"/>
              <a:t>to </a:t>
            </a:r>
            <a:r>
              <a:rPr spc="-5" dirty="0"/>
              <a:t>remove and reinstall  them each time </a:t>
            </a:r>
            <a:r>
              <a:rPr dirty="0"/>
              <a:t>a </a:t>
            </a:r>
            <a:r>
              <a:rPr spc="-5" dirty="0"/>
              <a:t>change </a:t>
            </a:r>
            <a:r>
              <a:rPr dirty="0"/>
              <a:t>is </a:t>
            </a:r>
            <a:r>
              <a:rPr spc="-5" dirty="0"/>
              <a:t>necessary. </a:t>
            </a:r>
            <a:r>
              <a:rPr dirty="0"/>
              <a:t>Also, </a:t>
            </a:r>
            <a:r>
              <a:rPr spc="-5" dirty="0"/>
              <a:t>changes cannot be made incrementally  to an EPROM; the whole </a:t>
            </a:r>
            <a:r>
              <a:rPr dirty="0"/>
              <a:t>chip must </a:t>
            </a:r>
            <a:r>
              <a:rPr spc="-5" dirty="0"/>
              <a:t>be erased. </a:t>
            </a:r>
            <a:r>
              <a:rPr b="1" spc="-5" dirty="0">
                <a:latin typeface="Arial"/>
                <a:cs typeface="Arial"/>
              </a:rPr>
              <a:t>Electrically erasable </a:t>
            </a:r>
            <a:r>
              <a:rPr b="1" spc="-10" dirty="0">
                <a:latin typeface="Arial"/>
                <a:cs typeface="Arial"/>
              </a:rPr>
              <a:t>programmable  read-only memory </a:t>
            </a:r>
            <a:r>
              <a:rPr spc="-5" dirty="0"/>
              <a:t>(EEPROM) chips remove the biggest drawbacks of EPROMs. In  EEPROMs:</a:t>
            </a:r>
          </a:p>
          <a:p>
            <a:pPr marL="12700">
              <a:lnSpc>
                <a:spcPct val="100000"/>
              </a:lnSpc>
              <a:spcBef>
                <a:spcPts val="970"/>
              </a:spcBef>
            </a:pPr>
            <a:r>
              <a:rPr spc="-5" dirty="0"/>
              <a:t>The </a:t>
            </a:r>
            <a:r>
              <a:rPr dirty="0"/>
              <a:t>chip </a:t>
            </a:r>
            <a:r>
              <a:rPr spc="-5" dirty="0"/>
              <a:t>does not have to removed to be rewritten.</a:t>
            </a:r>
          </a:p>
          <a:p>
            <a:pPr marL="12700" marR="8890">
              <a:lnSpc>
                <a:spcPts val="1910"/>
              </a:lnSpc>
              <a:spcBef>
                <a:spcPts val="1070"/>
              </a:spcBef>
            </a:pPr>
            <a:r>
              <a:rPr spc="-5" dirty="0"/>
              <a:t>The entire </a:t>
            </a:r>
            <a:r>
              <a:rPr dirty="0"/>
              <a:t>chip </a:t>
            </a:r>
            <a:r>
              <a:rPr spc="-5" dirty="0"/>
              <a:t>does not have </a:t>
            </a:r>
            <a:r>
              <a:rPr dirty="0"/>
              <a:t>to </a:t>
            </a:r>
            <a:r>
              <a:rPr spc="-5" dirty="0"/>
              <a:t>be completely erased to </a:t>
            </a:r>
            <a:r>
              <a:rPr dirty="0"/>
              <a:t>change a </a:t>
            </a:r>
            <a:r>
              <a:rPr spc="-5" dirty="0"/>
              <a:t>specific portion of  it.</a:t>
            </a:r>
          </a:p>
          <a:p>
            <a:pPr marL="12700">
              <a:lnSpc>
                <a:spcPct val="100000"/>
              </a:lnSpc>
              <a:spcBef>
                <a:spcPts val="940"/>
              </a:spcBef>
            </a:pPr>
            <a:r>
              <a:rPr spc="-5" dirty="0"/>
              <a:t>Changing the contents does not require additional dedicated</a:t>
            </a:r>
            <a:r>
              <a:rPr spc="10" dirty="0"/>
              <a:t> </a:t>
            </a:r>
            <a:r>
              <a:rPr spc="-5" dirty="0"/>
              <a:t>equipment.</a:t>
            </a:r>
          </a:p>
          <a:p>
            <a:pPr marL="12700" marR="87630">
              <a:lnSpc>
                <a:spcPct val="100000"/>
              </a:lnSpc>
              <a:spcBef>
                <a:spcPts val="990"/>
              </a:spcBef>
            </a:pPr>
            <a:r>
              <a:rPr spc="-5" dirty="0"/>
              <a:t>here are different types of electrical interfaces </a:t>
            </a:r>
            <a:r>
              <a:rPr dirty="0"/>
              <a:t>to </a:t>
            </a:r>
            <a:r>
              <a:rPr spc="-5" dirty="0"/>
              <a:t>EEPROM devices. Main categories  of these interface </a:t>
            </a:r>
            <a:r>
              <a:rPr dirty="0"/>
              <a:t>types </a:t>
            </a:r>
            <a:r>
              <a:rPr spc="-5" dirty="0"/>
              <a:t>are</a:t>
            </a:r>
            <a:r>
              <a:rPr spc="5" dirty="0"/>
              <a:t> </a:t>
            </a:r>
            <a:r>
              <a:rPr dirty="0"/>
              <a:t>:</a:t>
            </a:r>
          </a:p>
        </p:txBody>
      </p:sp>
      <p:sp>
        <p:nvSpPr>
          <p:cNvPr id="5" name="object 5"/>
          <p:cNvSpPr txBox="1"/>
          <p:nvPr/>
        </p:nvSpPr>
        <p:spPr>
          <a:xfrm>
            <a:off x="712893" y="3277870"/>
            <a:ext cx="129540" cy="764540"/>
          </a:xfrm>
          <a:prstGeom prst="rect">
            <a:avLst/>
          </a:prstGeom>
        </p:spPr>
        <p:txBody>
          <a:bodyPr vert="horz" wrap="square" lIns="0" tIns="138430" rIns="0" bIns="0" rtlCol="0">
            <a:spAutoFit/>
          </a:bodyPr>
          <a:lstStyle/>
          <a:p>
            <a:pPr marL="12700">
              <a:lnSpc>
                <a:spcPct val="100000"/>
              </a:lnSpc>
              <a:spcBef>
                <a:spcPts val="1090"/>
              </a:spcBef>
            </a:pPr>
            <a:r>
              <a:rPr sz="1600" dirty="0">
                <a:latin typeface="Arial"/>
                <a:cs typeface="Arial"/>
              </a:rPr>
              <a:t>•</a:t>
            </a:r>
            <a:endParaRPr sz="1600">
              <a:latin typeface="Arial"/>
              <a:cs typeface="Arial"/>
            </a:endParaRPr>
          </a:p>
          <a:p>
            <a:pPr marL="12700">
              <a:lnSpc>
                <a:spcPct val="100000"/>
              </a:lnSpc>
              <a:spcBef>
                <a:spcPts val="990"/>
              </a:spcBef>
            </a:pPr>
            <a:r>
              <a:rPr sz="1600" dirty="0">
                <a:latin typeface="Arial"/>
                <a:cs typeface="Arial"/>
              </a:rPr>
              <a:t>•</a:t>
            </a:r>
            <a:endParaRPr sz="1600">
              <a:latin typeface="Arial"/>
              <a:cs typeface="Arial"/>
            </a:endParaRPr>
          </a:p>
        </p:txBody>
      </p:sp>
      <p:sp>
        <p:nvSpPr>
          <p:cNvPr id="6" name="object 6"/>
          <p:cNvSpPr txBox="1"/>
          <p:nvPr/>
        </p:nvSpPr>
        <p:spPr>
          <a:xfrm>
            <a:off x="712893" y="4259579"/>
            <a:ext cx="129540" cy="767080"/>
          </a:xfrm>
          <a:prstGeom prst="rect">
            <a:avLst/>
          </a:prstGeom>
        </p:spPr>
        <p:txBody>
          <a:bodyPr vert="horz" wrap="square" lIns="0" tIns="139700" rIns="0" bIns="0" rtlCol="0">
            <a:spAutoFit/>
          </a:bodyPr>
          <a:lstStyle/>
          <a:p>
            <a:pPr marL="12700">
              <a:lnSpc>
                <a:spcPct val="100000"/>
              </a:lnSpc>
              <a:spcBef>
                <a:spcPts val="1100"/>
              </a:spcBef>
            </a:pPr>
            <a:r>
              <a:rPr sz="1600" dirty="0">
                <a:latin typeface="Arial"/>
                <a:cs typeface="Arial"/>
              </a:rPr>
              <a:t>•</a:t>
            </a:r>
            <a:endParaRPr sz="1600">
              <a:latin typeface="Arial"/>
              <a:cs typeface="Arial"/>
            </a:endParaRPr>
          </a:p>
          <a:p>
            <a:pPr marL="12700">
              <a:lnSpc>
                <a:spcPct val="100000"/>
              </a:lnSpc>
              <a:spcBef>
                <a:spcPts val="1000"/>
              </a:spcBef>
            </a:pPr>
            <a:r>
              <a:rPr sz="1600" dirty="0">
                <a:latin typeface="Arial"/>
                <a:cs typeface="Arial"/>
              </a:rPr>
              <a:t>•</a:t>
            </a:r>
            <a:endParaRPr sz="1600">
              <a:latin typeface="Arial"/>
              <a:cs typeface="Arial"/>
            </a:endParaRPr>
          </a:p>
        </p:txBody>
      </p:sp>
      <p:sp>
        <p:nvSpPr>
          <p:cNvPr id="7" name="object 7"/>
          <p:cNvSpPr txBox="1"/>
          <p:nvPr/>
        </p:nvSpPr>
        <p:spPr>
          <a:xfrm>
            <a:off x="1932093" y="5245100"/>
            <a:ext cx="129540" cy="764540"/>
          </a:xfrm>
          <a:prstGeom prst="rect">
            <a:avLst/>
          </a:prstGeom>
        </p:spPr>
        <p:txBody>
          <a:bodyPr vert="horz" wrap="square" lIns="0" tIns="138430" rIns="0" bIns="0" rtlCol="0">
            <a:spAutoFit/>
          </a:bodyPr>
          <a:lstStyle/>
          <a:p>
            <a:pPr marL="12700">
              <a:lnSpc>
                <a:spcPct val="100000"/>
              </a:lnSpc>
              <a:spcBef>
                <a:spcPts val="1090"/>
              </a:spcBef>
            </a:pPr>
            <a:r>
              <a:rPr sz="1600" dirty="0">
                <a:latin typeface="Arial"/>
                <a:cs typeface="Arial"/>
              </a:rPr>
              <a:t>•</a:t>
            </a:r>
            <a:endParaRPr sz="1600">
              <a:latin typeface="Arial"/>
              <a:cs typeface="Arial"/>
            </a:endParaRPr>
          </a:p>
          <a:p>
            <a:pPr marL="12700">
              <a:lnSpc>
                <a:spcPct val="100000"/>
              </a:lnSpc>
              <a:spcBef>
                <a:spcPts val="990"/>
              </a:spcBef>
            </a:pPr>
            <a:r>
              <a:rPr sz="1600" dirty="0">
                <a:latin typeface="Arial"/>
                <a:cs typeface="Arial"/>
              </a:rPr>
              <a:t>•</a:t>
            </a:r>
            <a:endParaRPr sz="1600">
              <a:latin typeface="Arial"/>
              <a:cs typeface="Arial"/>
            </a:endParaRPr>
          </a:p>
        </p:txBody>
      </p:sp>
      <p:sp>
        <p:nvSpPr>
          <p:cNvPr id="8" name="object 8"/>
          <p:cNvSpPr txBox="1"/>
          <p:nvPr/>
        </p:nvSpPr>
        <p:spPr>
          <a:xfrm>
            <a:off x="10046080" y="5833330"/>
            <a:ext cx="1449493" cy="767080"/>
          </a:xfrm>
          <a:prstGeom prst="rect">
            <a:avLst/>
          </a:prstGeom>
        </p:spPr>
        <p:txBody>
          <a:bodyPr vert="horz" wrap="square" lIns="0" tIns="12700" rIns="0" bIns="0" rtlCol="0">
            <a:spAutoFit/>
          </a:bodyPr>
          <a:lstStyle/>
          <a:p>
            <a:pPr marL="12700" marR="5080">
              <a:lnSpc>
                <a:spcPct val="152100"/>
              </a:lnSpc>
              <a:spcBef>
                <a:spcPts val="100"/>
              </a:spcBef>
            </a:pPr>
            <a:r>
              <a:rPr sz="1600" spc="-5" dirty="0">
                <a:latin typeface="Arial"/>
                <a:cs typeface="Arial"/>
              </a:rPr>
              <a:t>Serial bus  Parallel</a:t>
            </a:r>
            <a:r>
              <a:rPr sz="1600" spc="-80" dirty="0">
                <a:latin typeface="Arial"/>
                <a:cs typeface="Arial"/>
              </a:rPr>
              <a:t> </a:t>
            </a:r>
            <a:r>
              <a:rPr sz="1600" spc="-5" dirty="0">
                <a:latin typeface="Arial"/>
                <a:cs typeface="Arial"/>
              </a:rPr>
              <a:t>bus</a:t>
            </a:r>
            <a:endParaRPr sz="1600">
              <a:latin typeface="Arial"/>
              <a:cs typeface="Arial"/>
            </a:endParaRPr>
          </a:p>
        </p:txBody>
      </p:sp>
      <p:sp>
        <p:nvSpPr>
          <p:cNvPr id="9" name="object 9"/>
          <p:cNvSpPr txBox="1"/>
          <p:nvPr/>
        </p:nvSpPr>
        <p:spPr>
          <a:xfrm>
            <a:off x="712893" y="6111240"/>
            <a:ext cx="12954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10" name="object 10"/>
          <p:cNvSpPr txBox="1"/>
          <p:nvPr/>
        </p:nvSpPr>
        <p:spPr>
          <a:xfrm>
            <a:off x="1653569" y="5901953"/>
            <a:ext cx="7571740" cy="269240"/>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How </a:t>
            </a:r>
            <a:r>
              <a:rPr sz="1600" dirty="0">
                <a:latin typeface="Arial"/>
                <a:cs typeface="Arial"/>
              </a:rPr>
              <a:t>the </a:t>
            </a:r>
            <a:r>
              <a:rPr sz="1600" spc="-5" dirty="0">
                <a:latin typeface="Arial"/>
                <a:cs typeface="Arial"/>
              </a:rPr>
              <a:t>device </a:t>
            </a:r>
            <a:r>
              <a:rPr sz="1600" dirty="0">
                <a:latin typeface="Arial"/>
                <a:cs typeface="Arial"/>
              </a:rPr>
              <a:t>is </a:t>
            </a:r>
            <a:r>
              <a:rPr sz="1600" spc="-5" dirty="0">
                <a:latin typeface="Arial"/>
                <a:cs typeface="Arial"/>
              </a:rPr>
              <a:t>operated </a:t>
            </a:r>
            <a:r>
              <a:rPr sz="1600" spc="-10" dirty="0">
                <a:latin typeface="Arial"/>
                <a:cs typeface="Arial"/>
              </a:rPr>
              <a:t>depends </a:t>
            </a:r>
            <a:r>
              <a:rPr sz="1600" spc="-5" dirty="0">
                <a:latin typeface="Arial"/>
                <a:cs typeface="Arial"/>
              </a:rPr>
              <a:t>on the electrical</a:t>
            </a:r>
            <a:r>
              <a:rPr sz="1600" spc="25" dirty="0">
                <a:latin typeface="Arial"/>
                <a:cs typeface="Arial"/>
              </a:rPr>
              <a:t> </a:t>
            </a:r>
            <a:r>
              <a:rPr sz="1600" spc="-5" dirty="0">
                <a:latin typeface="Arial"/>
                <a:cs typeface="Arial"/>
              </a:rPr>
              <a:t>interface.</a:t>
            </a:r>
            <a:endParaRPr sz="1600">
              <a:latin typeface="Arial"/>
              <a:cs typeface="Aria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893733" y="2068829"/>
            <a:ext cx="2777067" cy="2081530"/>
            <a:chOff x="3670300" y="2068829"/>
            <a:chExt cx="2082800" cy="2081530"/>
          </a:xfrm>
        </p:grpSpPr>
        <p:sp>
          <p:nvSpPr>
            <p:cNvPr id="3" name="object 3"/>
            <p:cNvSpPr/>
            <p:nvPr/>
          </p:nvSpPr>
          <p:spPr>
            <a:xfrm>
              <a:off x="3672840" y="2071369"/>
              <a:ext cx="2077720" cy="2076450"/>
            </a:xfrm>
            <a:custGeom>
              <a:avLst/>
              <a:gdLst/>
              <a:ahLst/>
              <a:cxnLst/>
              <a:rect l="l" t="t" r="r" b="b"/>
              <a:pathLst>
                <a:path w="2077720" h="2076450">
                  <a:moveTo>
                    <a:pt x="1038860" y="0"/>
                  </a:moveTo>
                  <a:lnTo>
                    <a:pt x="933450" y="5079"/>
                  </a:lnTo>
                  <a:lnTo>
                    <a:pt x="829310" y="20319"/>
                  </a:lnTo>
                  <a:lnTo>
                    <a:pt x="730250" y="46989"/>
                  </a:lnTo>
                  <a:lnTo>
                    <a:pt x="635000" y="81279"/>
                  </a:lnTo>
                  <a:lnTo>
                    <a:pt x="544830" y="124459"/>
                  </a:lnTo>
                  <a:lnTo>
                    <a:pt x="458470" y="177800"/>
                  </a:lnTo>
                  <a:lnTo>
                    <a:pt x="378460" y="237489"/>
                  </a:lnTo>
                  <a:lnTo>
                    <a:pt x="304800" y="303529"/>
                  </a:lnTo>
                  <a:lnTo>
                    <a:pt x="237489" y="377189"/>
                  </a:lnTo>
                  <a:lnTo>
                    <a:pt x="177800" y="457200"/>
                  </a:lnTo>
                  <a:lnTo>
                    <a:pt x="125730" y="543559"/>
                  </a:lnTo>
                  <a:lnTo>
                    <a:pt x="82550" y="633729"/>
                  </a:lnTo>
                  <a:lnTo>
                    <a:pt x="46989" y="728979"/>
                  </a:lnTo>
                  <a:lnTo>
                    <a:pt x="21589" y="829309"/>
                  </a:lnTo>
                  <a:lnTo>
                    <a:pt x="6350" y="932179"/>
                  </a:lnTo>
                  <a:lnTo>
                    <a:pt x="0" y="1038859"/>
                  </a:lnTo>
                  <a:lnTo>
                    <a:pt x="6350" y="1144269"/>
                  </a:lnTo>
                  <a:lnTo>
                    <a:pt x="21589" y="1247139"/>
                  </a:lnTo>
                  <a:lnTo>
                    <a:pt x="46989" y="1347469"/>
                  </a:lnTo>
                  <a:lnTo>
                    <a:pt x="82550" y="1442719"/>
                  </a:lnTo>
                  <a:lnTo>
                    <a:pt x="125730" y="1532889"/>
                  </a:lnTo>
                  <a:lnTo>
                    <a:pt x="177800" y="1619249"/>
                  </a:lnTo>
                  <a:lnTo>
                    <a:pt x="237489" y="1699259"/>
                  </a:lnTo>
                  <a:lnTo>
                    <a:pt x="304800" y="1772919"/>
                  </a:lnTo>
                  <a:lnTo>
                    <a:pt x="378460" y="1840229"/>
                  </a:lnTo>
                  <a:lnTo>
                    <a:pt x="458470" y="1899919"/>
                  </a:lnTo>
                  <a:lnTo>
                    <a:pt x="544830" y="1950719"/>
                  </a:lnTo>
                  <a:lnTo>
                    <a:pt x="635000" y="1995169"/>
                  </a:lnTo>
                  <a:lnTo>
                    <a:pt x="730250" y="2029459"/>
                  </a:lnTo>
                  <a:lnTo>
                    <a:pt x="830580" y="2054859"/>
                  </a:lnTo>
                  <a:lnTo>
                    <a:pt x="933450" y="2071369"/>
                  </a:lnTo>
                  <a:lnTo>
                    <a:pt x="1038860" y="2076449"/>
                  </a:lnTo>
                  <a:lnTo>
                    <a:pt x="1145539" y="2071369"/>
                  </a:lnTo>
                  <a:lnTo>
                    <a:pt x="1248410" y="2054859"/>
                  </a:lnTo>
                  <a:lnTo>
                    <a:pt x="1347470" y="2029459"/>
                  </a:lnTo>
                  <a:lnTo>
                    <a:pt x="1443989" y="1995169"/>
                  </a:lnTo>
                  <a:lnTo>
                    <a:pt x="1534160" y="1950719"/>
                  </a:lnTo>
                  <a:lnTo>
                    <a:pt x="1619250" y="1899919"/>
                  </a:lnTo>
                  <a:lnTo>
                    <a:pt x="1699260" y="1840229"/>
                  </a:lnTo>
                  <a:lnTo>
                    <a:pt x="1772920" y="1772919"/>
                  </a:lnTo>
                  <a:lnTo>
                    <a:pt x="1840230" y="1699259"/>
                  </a:lnTo>
                  <a:lnTo>
                    <a:pt x="1899920" y="1619249"/>
                  </a:lnTo>
                  <a:lnTo>
                    <a:pt x="1951989" y="1532889"/>
                  </a:lnTo>
                  <a:lnTo>
                    <a:pt x="1995170" y="1442719"/>
                  </a:lnTo>
                  <a:lnTo>
                    <a:pt x="2030730" y="1347469"/>
                  </a:lnTo>
                  <a:lnTo>
                    <a:pt x="2056130" y="1248409"/>
                  </a:lnTo>
                  <a:lnTo>
                    <a:pt x="2072639" y="1144269"/>
                  </a:lnTo>
                  <a:lnTo>
                    <a:pt x="2077720" y="1038859"/>
                  </a:lnTo>
                  <a:lnTo>
                    <a:pt x="2072639" y="932179"/>
                  </a:lnTo>
                  <a:lnTo>
                    <a:pt x="2056130" y="829309"/>
                  </a:lnTo>
                  <a:lnTo>
                    <a:pt x="2030730" y="728979"/>
                  </a:lnTo>
                  <a:lnTo>
                    <a:pt x="1996439" y="633729"/>
                  </a:lnTo>
                  <a:lnTo>
                    <a:pt x="1951989" y="543559"/>
                  </a:lnTo>
                  <a:lnTo>
                    <a:pt x="1899920" y="457200"/>
                  </a:lnTo>
                  <a:lnTo>
                    <a:pt x="1840230" y="377189"/>
                  </a:lnTo>
                  <a:lnTo>
                    <a:pt x="1774189" y="303529"/>
                  </a:lnTo>
                  <a:lnTo>
                    <a:pt x="1699260" y="237489"/>
                  </a:lnTo>
                  <a:lnTo>
                    <a:pt x="1619250" y="177800"/>
                  </a:lnTo>
                  <a:lnTo>
                    <a:pt x="1534160" y="124459"/>
                  </a:lnTo>
                  <a:lnTo>
                    <a:pt x="1443989" y="81279"/>
                  </a:lnTo>
                  <a:lnTo>
                    <a:pt x="1347470" y="46989"/>
                  </a:lnTo>
                  <a:lnTo>
                    <a:pt x="1248410" y="20319"/>
                  </a:lnTo>
                  <a:lnTo>
                    <a:pt x="1145539" y="5079"/>
                  </a:lnTo>
                  <a:lnTo>
                    <a:pt x="1038860" y="0"/>
                  </a:lnTo>
                  <a:close/>
                </a:path>
              </a:pathLst>
            </a:custGeom>
            <a:solidFill>
              <a:srgbClr val="333398">
                <a:alpha val="50000"/>
              </a:srgbClr>
            </a:solidFill>
          </p:spPr>
          <p:txBody>
            <a:bodyPr wrap="square" lIns="0" tIns="0" rIns="0" bIns="0" rtlCol="0"/>
            <a:lstStyle/>
            <a:p>
              <a:endParaRPr/>
            </a:p>
          </p:txBody>
        </p:sp>
        <p:sp>
          <p:nvSpPr>
            <p:cNvPr id="4" name="object 4"/>
            <p:cNvSpPr/>
            <p:nvPr/>
          </p:nvSpPr>
          <p:spPr>
            <a:xfrm>
              <a:off x="3672840" y="2071369"/>
              <a:ext cx="2077720" cy="2076450"/>
            </a:xfrm>
            <a:custGeom>
              <a:avLst/>
              <a:gdLst/>
              <a:ahLst/>
              <a:cxnLst/>
              <a:rect l="l" t="t" r="r" b="b"/>
              <a:pathLst>
                <a:path w="2077720" h="2076450">
                  <a:moveTo>
                    <a:pt x="1038860" y="2076449"/>
                  </a:moveTo>
                  <a:lnTo>
                    <a:pt x="991283" y="2075381"/>
                  </a:lnTo>
                  <a:lnTo>
                    <a:pt x="944258" y="2072207"/>
                  </a:lnTo>
                  <a:lnTo>
                    <a:pt x="897831" y="2066972"/>
                  </a:lnTo>
                  <a:lnTo>
                    <a:pt x="852046" y="2059723"/>
                  </a:lnTo>
                  <a:lnTo>
                    <a:pt x="806949" y="2050506"/>
                  </a:lnTo>
                  <a:lnTo>
                    <a:pt x="762587" y="2039367"/>
                  </a:lnTo>
                  <a:lnTo>
                    <a:pt x="719005" y="2026350"/>
                  </a:lnTo>
                  <a:lnTo>
                    <a:pt x="676249" y="2011504"/>
                  </a:lnTo>
                  <a:lnTo>
                    <a:pt x="634364" y="1994872"/>
                  </a:lnTo>
                  <a:lnTo>
                    <a:pt x="593397" y="1976501"/>
                  </a:lnTo>
                  <a:lnTo>
                    <a:pt x="553392" y="1956438"/>
                  </a:lnTo>
                  <a:lnTo>
                    <a:pt x="514397" y="1934727"/>
                  </a:lnTo>
                  <a:lnTo>
                    <a:pt x="476455" y="1911415"/>
                  </a:lnTo>
                  <a:lnTo>
                    <a:pt x="439614" y="1886548"/>
                  </a:lnTo>
                  <a:lnTo>
                    <a:pt x="403918" y="1860171"/>
                  </a:lnTo>
                  <a:lnTo>
                    <a:pt x="369414" y="1832331"/>
                  </a:lnTo>
                  <a:lnTo>
                    <a:pt x="336148" y="1803073"/>
                  </a:lnTo>
                  <a:lnTo>
                    <a:pt x="304165" y="1772443"/>
                  </a:lnTo>
                  <a:lnTo>
                    <a:pt x="273510" y="1740488"/>
                  </a:lnTo>
                  <a:lnTo>
                    <a:pt x="244230" y="1707252"/>
                  </a:lnTo>
                  <a:lnTo>
                    <a:pt x="216370" y="1672783"/>
                  </a:lnTo>
                  <a:lnTo>
                    <a:pt x="189976" y="1637125"/>
                  </a:lnTo>
                  <a:lnTo>
                    <a:pt x="165094" y="1600325"/>
                  </a:lnTo>
                  <a:lnTo>
                    <a:pt x="141769" y="1562429"/>
                  </a:lnTo>
                  <a:lnTo>
                    <a:pt x="120048" y="1523482"/>
                  </a:lnTo>
                  <a:lnTo>
                    <a:pt x="99975" y="1483530"/>
                  </a:lnTo>
                  <a:lnTo>
                    <a:pt x="81597" y="1442620"/>
                  </a:lnTo>
                  <a:lnTo>
                    <a:pt x="64959" y="1400797"/>
                  </a:lnTo>
                  <a:lnTo>
                    <a:pt x="50108" y="1358107"/>
                  </a:lnTo>
                  <a:lnTo>
                    <a:pt x="37088" y="1314596"/>
                  </a:lnTo>
                  <a:lnTo>
                    <a:pt x="25946" y="1270310"/>
                  </a:lnTo>
                  <a:lnTo>
                    <a:pt x="16727" y="1225295"/>
                  </a:lnTo>
                  <a:lnTo>
                    <a:pt x="9477" y="1179597"/>
                  </a:lnTo>
                  <a:lnTo>
                    <a:pt x="4242" y="1133260"/>
                  </a:lnTo>
                  <a:lnTo>
                    <a:pt x="1068" y="1086333"/>
                  </a:lnTo>
                  <a:lnTo>
                    <a:pt x="0" y="1038859"/>
                  </a:lnTo>
                  <a:lnTo>
                    <a:pt x="1068" y="991283"/>
                  </a:lnTo>
                  <a:lnTo>
                    <a:pt x="4242" y="944258"/>
                  </a:lnTo>
                  <a:lnTo>
                    <a:pt x="9477" y="897831"/>
                  </a:lnTo>
                  <a:lnTo>
                    <a:pt x="16727" y="852046"/>
                  </a:lnTo>
                  <a:lnTo>
                    <a:pt x="25946" y="806949"/>
                  </a:lnTo>
                  <a:lnTo>
                    <a:pt x="37088" y="762587"/>
                  </a:lnTo>
                  <a:lnTo>
                    <a:pt x="50108" y="719005"/>
                  </a:lnTo>
                  <a:lnTo>
                    <a:pt x="64959" y="676249"/>
                  </a:lnTo>
                  <a:lnTo>
                    <a:pt x="81597" y="634364"/>
                  </a:lnTo>
                  <a:lnTo>
                    <a:pt x="99975" y="593397"/>
                  </a:lnTo>
                  <a:lnTo>
                    <a:pt x="120048" y="553392"/>
                  </a:lnTo>
                  <a:lnTo>
                    <a:pt x="141769" y="514397"/>
                  </a:lnTo>
                  <a:lnTo>
                    <a:pt x="165094" y="476455"/>
                  </a:lnTo>
                  <a:lnTo>
                    <a:pt x="189976" y="439614"/>
                  </a:lnTo>
                  <a:lnTo>
                    <a:pt x="216370" y="403918"/>
                  </a:lnTo>
                  <a:lnTo>
                    <a:pt x="244230" y="369414"/>
                  </a:lnTo>
                  <a:lnTo>
                    <a:pt x="273510" y="336148"/>
                  </a:lnTo>
                  <a:lnTo>
                    <a:pt x="304165" y="304165"/>
                  </a:lnTo>
                  <a:lnTo>
                    <a:pt x="336148" y="273510"/>
                  </a:lnTo>
                  <a:lnTo>
                    <a:pt x="369414" y="244230"/>
                  </a:lnTo>
                  <a:lnTo>
                    <a:pt x="403918" y="216370"/>
                  </a:lnTo>
                  <a:lnTo>
                    <a:pt x="439614" y="189976"/>
                  </a:lnTo>
                  <a:lnTo>
                    <a:pt x="476455" y="165094"/>
                  </a:lnTo>
                  <a:lnTo>
                    <a:pt x="514397" y="141769"/>
                  </a:lnTo>
                  <a:lnTo>
                    <a:pt x="553392" y="120048"/>
                  </a:lnTo>
                  <a:lnTo>
                    <a:pt x="593397" y="99975"/>
                  </a:lnTo>
                  <a:lnTo>
                    <a:pt x="634364" y="81597"/>
                  </a:lnTo>
                  <a:lnTo>
                    <a:pt x="676249" y="64959"/>
                  </a:lnTo>
                  <a:lnTo>
                    <a:pt x="719005" y="50108"/>
                  </a:lnTo>
                  <a:lnTo>
                    <a:pt x="762587" y="37088"/>
                  </a:lnTo>
                  <a:lnTo>
                    <a:pt x="806949" y="25946"/>
                  </a:lnTo>
                  <a:lnTo>
                    <a:pt x="852046" y="16727"/>
                  </a:lnTo>
                  <a:lnTo>
                    <a:pt x="897831" y="9477"/>
                  </a:lnTo>
                  <a:lnTo>
                    <a:pt x="944258" y="4242"/>
                  </a:lnTo>
                  <a:lnTo>
                    <a:pt x="991283" y="1068"/>
                  </a:lnTo>
                  <a:lnTo>
                    <a:pt x="1038860" y="0"/>
                  </a:lnTo>
                  <a:lnTo>
                    <a:pt x="1086436" y="1068"/>
                  </a:lnTo>
                  <a:lnTo>
                    <a:pt x="1133461" y="4242"/>
                  </a:lnTo>
                  <a:lnTo>
                    <a:pt x="1179888" y="9477"/>
                  </a:lnTo>
                  <a:lnTo>
                    <a:pt x="1225673" y="16727"/>
                  </a:lnTo>
                  <a:lnTo>
                    <a:pt x="1270770" y="25946"/>
                  </a:lnTo>
                  <a:lnTo>
                    <a:pt x="1315132" y="37088"/>
                  </a:lnTo>
                  <a:lnTo>
                    <a:pt x="1358714" y="50108"/>
                  </a:lnTo>
                  <a:lnTo>
                    <a:pt x="1401470" y="64959"/>
                  </a:lnTo>
                  <a:lnTo>
                    <a:pt x="1443355" y="81597"/>
                  </a:lnTo>
                  <a:lnTo>
                    <a:pt x="1484322" y="99975"/>
                  </a:lnTo>
                  <a:lnTo>
                    <a:pt x="1524327" y="120048"/>
                  </a:lnTo>
                  <a:lnTo>
                    <a:pt x="1563322" y="141769"/>
                  </a:lnTo>
                  <a:lnTo>
                    <a:pt x="1601264" y="165094"/>
                  </a:lnTo>
                  <a:lnTo>
                    <a:pt x="1638105" y="189976"/>
                  </a:lnTo>
                  <a:lnTo>
                    <a:pt x="1673801" y="216370"/>
                  </a:lnTo>
                  <a:lnTo>
                    <a:pt x="1708305" y="244230"/>
                  </a:lnTo>
                  <a:lnTo>
                    <a:pt x="1741571" y="273510"/>
                  </a:lnTo>
                  <a:lnTo>
                    <a:pt x="1773554" y="304164"/>
                  </a:lnTo>
                  <a:lnTo>
                    <a:pt x="1804209" y="336148"/>
                  </a:lnTo>
                  <a:lnTo>
                    <a:pt x="1833489" y="369414"/>
                  </a:lnTo>
                  <a:lnTo>
                    <a:pt x="1861349" y="403918"/>
                  </a:lnTo>
                  <a:lnTo>
                    <a:pt x="1887743" y="439614"/>
                  </a:lnTo>
                  <a:lnTo>
                    <a:pt x="1912625" y="476455"/>
                  </a:lnTo>
                  <a:lnTo>
                    <a:pt x="1935950" y="514397"/>
                  </a:lnTo>
                  <a:lnTo>
                    <a:pt x="1957671" y="553392"/>
                  </a:lnTo>
                  <a:lnTo>
                    <a:pt x="1977744" y="593397"/>
                  </a:lnTo>
                  <a:lnTo>
                    <a:pt x="1996122" y="634364"/>
                  </a:lnTo>
                  <a:lnTo>
                    <a:pt x="2012760" y="676249"/>
                  </a:lnTo>
                  <a:lnTo>
                    <a:pt x="2027611" y="719005"/>
                  </a:lnTo>
                  <a:lnTo>
                    <a:pt x="2040631" y="762587"/>
                  </a:lnTo>
                  <a:lnTo>
                    <a:pt x="2051773" y="806949"/>
                  </a:lnTo>
                  <a:lnTo>
                    <a:pt x="2060992" y="852046"/>
                  </a:lnTo>
                  <a:lnTo>
                    <a:pt x="2068242" y="897831"/>
                  </a:lnTo>
                  <a:lnTo>
                    <a:pt x="2073477" y="944258"/>
                  </a:lnTo>
                  <a:lnTo>
                    <a:pt x="2076651" y="991283"/>
                  </a:lnTo>
                  <a:lnTo>
                    <a:pt x="2077720" y="1038859"/>
                  </a:lnTo>
                  <a:lnTo>
                    <a:pt x="2076651" y="1086333"/>
                  </a:lnTo>
                  <a:lnTo>
                    <a:pt x="2073477" y="1133260"/>
                  </a:lnTo>
                  <a:lnTo>
                    <a:pt x="2068242" y="1179597"/>
                  </a:lnTo>
                  <a:lnTo>
                    <a:pt x="2060992" y="1225295"/>
                  </a:lnTo>
                  <a:lnTo>
                    <a:pt x="2051773" y="1270310"/>
                  </a:lnTo>
                  <a:lnTo>
                    <a:pt x="2040631" y="1314596"/>
                  </a:lnTo>
                  <a:lnTo>
                    <a:pt x="2027611" y="1358107"/>
                  </a:lnTo>
                  <a:lnTo>
                    <a:pt x="2012760" y="1400797"/>
                  </a:lnTo>
                  <a:lnTo>
                    <a:pt x="1996122" y="1442620"/>
                  </a:lnTo>
                  <a:lnTo>
                    <a:pt x="1977744" y="1483530"/>
                  </a:lnTo>
                  <a:lnTo>
                    <a:pt x="1957671" y="1523482"/>
                  </a:lnTo>
                  <a:lnTo>
                    <a:pt x="1935950" y="1562429"/>
                  </a:lnTo>
                  <a:lnTo>
                    <a:pt x="1912625" y="1600325"/>
                  </a:lnTo>
                  <a:lnTo>
                    <a:pt x="1887743" y="1637125"/>
                  </a:lnTo>
                  <a:lnTo>
                    <a:pt x="1861349" y="1672783"/>
                  </a:lnTo>
                  <a:lnTo>
                    <a:pt x="1833489" y="1707252"/>
                  </a:lnTo>
                  <a:lnTo>
                    <a:pt x="1804209" y="1740488"/>
                  </a:lnTo>
                  <a:lnTo>
                    <a:pt x="1773554" y="1772443"/>
                  </a:lnTo>
                  <a:lnTo>
                    <a:pt x="1741571" y="1803073"/>
                  </a:lnTo>
                  <a:lnTo>
                    <a:pt x="1708305" y="1832331"/>
                  </a:lnTo>
                  <a:lnTo>
                    <a:pt x="1673801" y="1860171"/>
                  </a:lnTo>
                  <a:lnTo>
                    <a:pt x="1638105" y="1886548"/>
                  </a:lnTo>
                  <a:lnTo>
                    <a:pt x="1601264" y="1911415"/>
                  </a:lnTo>
                  <a:lnTo>
                    <a:pt x="1563322" y="1934727"/>
                  </a:lnTo>
                  <a:lnTo>
                    <a:pt x="1524327" y="1956438"/>
                  </a:lnTo>
                  <a:lnTo>
                    <a:pt x="1484322" y="1976501"/>
                  </a:lnTo>
                  <a:lnTo>
                    <a:pt x="1443355" y="1994872"/>
                  </a:lnTo>
                  <a:lnTo>
                    <a:pt x="1401470" y="2011504"/>
                  </a:lnTo>
                  <a:lnTo>
                    <a:pt x="1358714" y="2026350"/>
                  </a:lnTo>
                  <a:lnTo>
                    <a:pt x="1315132" y="2039367"/>
                  </a:lnTo>
                  <a:lnTo>
                    <a:pt x="1270770" y="2050506"/>
                  </a:lnTo>
                  <a:lnTo>
                    <a:pt x="1225673" y="2059723"/>
                  </a:lnTo>
                  <a:lnTo>
                    <a:pt x="1179888" y="2066972"/>
                  </a:lnTo>
                  <a:lnTo>
                    <a:pt x="1133461" y="2072207"/>
                  </a:lnTo>
                  <a:lnTo>
                    <a:pt x="1086436" y="2075381"/>
                  </a:lnTo>
                  <a:lnTo>
                    <a:pt x="1038860" y="2076449"/>
                  </a:lnTo>
                  <a:close/>
                </a:path>
              </a:pathLst>
            </a:custGeom>
            <a:ln w="4672">
              <a:solidFill>
                <a:srgbClr val="333398"/>
              </a:solidFill>
            </a:ln>
          </p:spPr>
          <p:txBody>
            <a:bodyPr wrap="square" lIns="0" tIns="0" rIns="0" bIns="0" rtlCol="0"/>
            <a:lstStyle/>
            <a:p>
              <a:endParaRPr/>
            </a:p>
          </p:txBody>
        </p:sp>
      </p:grpSp>
      <p:sp>
        <p:nvSpPr>
          <p:cNvPr id="5" name="object 5"/>
          <p:cNvSpPr txBox="1"/>
          <p:nvPr/>
        </p:nvSpPr>
        <p:spPr>
          <a:xfrm>
            <a:off x="4880187" y="1136650"/>
            <a:ext cx="2174240" cy="938530"/>
          </a:xfrm>
          <a:prstGeom prst="rect">
            <a:avLst/>
          </a:prstGeom>
        </p:spPr>
        <p:txBody>
          <a:bodyPr vert="horz" wrap="square" lIns="0" tIns="12700" rIns="0" bIns="0" rtlCol="0">
            <a:spAutoFit/>
          </a:bodyPr>
          <a:lstStyle/>
          <a:p>
            <a:pPr marL="407670">
              <a:lnSpc>
                <a:spcPct val="100000"/>
              </a:lnSpc>
              <a:spcBef>
                <a:spcPts val="100"/>
              </a:spcBef>
            </a:pPr>
            <a:r>
              <a:rPr sz="1600" b="1" spc="-5" dirty="0">
                <a:latin typeface="Arial"/>
                <a:cs typeface="Arial"/>
              </a:rPr>
              <a:t>EEPROM</a:t>
            </a:r>
            <a:endParaRPr sz="1600">
              <a:latin typeface="Arial"/>
              <a:cs typeface="Arial"/>
            </a:endParaRPr>
          </a:p>
          <a:p>
            <a:pPr marL="62230" indent="-50165">
              <a:lnSpc>
                <a:spcPct val="100000"/>
              </a:lnSpc>
              <a:buSzPct val="90909"/>
              <a:buChar char="•"/>
              <a:tabLst>
                <a:tab pos="62865" algn="l"/>
              </a:tabLst>
            </a:pPr>
            <a:r>
              <a:rPr sz="1100" spc="-5" dirty="0">
                <a:latin typeface="Arial"/>
                <a:cs typeface="Arial"/>
              </a:rPr>
              <a:t>Electrically byte-erasable</a:t>
            </a:r>
            <a:endParaRPr sz="1100">
              <a:latin typeface="Arial"/>
              <a:cs typeface="Arial"/>
            </a:endParaRPr>
          </a:p>
          <a:p>
            <a:pPr marL="62230" indent="-50165">
              <a:lnSpc>
                <a:spcPts val="1315"/>
              </a:lnSpc>
              <a:buSzPct val="90909"/>
              <a:buChar char="•"/>
              <a:tabLst>
                <a:tab pos="62865" algn="l"/>
              </a:tabLst>
            </a:pPr>
            <a:r>
              <a:rPr sz="1100" spc="-5" dirty="0">
                <a:latin typeface="Arial"/>
                <a:cs typeface="Arial"/>
              </a:rPr>
              <a:t>Lower</a:t>
            </a:r>
            <a:r>
              <a:rPr sz="1100" dirty="0">
                <a:latin typeface="Arial"/>
                <a:cs typeface="Arial"/>
              </a:rPr>
              <a:t> </a:t>
            </a:r>
            <a:r>
              <a:rPr sz="1100" spc="-5" dirty="0">
                <a:latin typeface="Arial"/>
                <a:cs typeface="Arial"/>
              </a:rPr>
              <a:t>reliability</a:t>
            </a:r>
            <a:endParaRPr sz="1100">
              <a:latin typeface="Arial"/>
              <a:cs typeface="Arial"/>
            </a:endParaRPr>
          </a:p>
          <a:p>
            <a:pPr marL="62230" indent="-50165">
              <a:lnSpc>
                <a:spcPts val="1315"/>
              </a:lnSpc>
              <a:buSzPct val="90909"/>
              <a:buChar char="•"/>
              <a:tabLst>
                <a:tab pos="62865" algn="l"/>
              </a:tabLst>
            </a:pPr>
            <a:r>
              <a:rPr sz="1100" spc="-5" dirty="0">
                <a:latin typeface="Arial"/>
                <a:cs typeface="Arial"/>
              </a:rPr>
              <a:t>Higher</a:t>
            </a:r>
            <a:r>
              <a:rPr sz="1100" dirty="0">
                <a:latin typeface="Arial"/>
                <a:cs typeface="Arial"/>
              </a:rPr>
              <a:t> cost</a:t>
            </a:r>
            <a:endParaRPr sz="1100">
              <a:latin typeface="Arial"/>
              <a:cs typeface="Arial"/>
            </a:endParaRPr>
          </a:p>
          <a:p>
            <a:pPr marL="62230" indent="-50165">
              <a:lnSpc>
                <a:spcPct val="100000"/>
              </a:lnSpc>
              <a:buSzPct val="90909"/>
              <a:buChar char="•"/>
              <a:tabLst>
                <a:tab pos="62865" algn="l"/>
              </a:tabLst>
            </a:pPr>
            <a:r>
              <a:rPr sz="1100" spc="-5" dirty="0">
                <a:latin typeface="Arial"/>
                <a:cs typeface="Arial"/>
              </a:rPr>
              <a:t>Lower</a:t>
            </a:r>
            <a:r>
              <a:rPr sz="1100" dirty="0">
                <a:latin typeface="Arial"/>
                <a:cs typeface="Arial"/>
              </a:rPr>
              <a:t> </a:t>
            </a:r>
            <a:r>
              <a:rPr sz="1100" spc="-5" dirty="0">
                <a:latin typeface="Arial"/>
                <a:cs typeface="Arial"/>
              </a:rPr>
              <a:t>density</a:t>
            </a:r>
            <a:endParaRPr sz="1100">
              <a:latin typeface="Arial"/>
              <a:cs typeface="Arial"/>
            </a:endParaRPr>
          </a:p>
        </p:txBody>
      </p:sp>
      <p:grpSp>
        <p:nvGrpSpPr>
          <p:cNvPr id="6" name="object 6"/>
          <p:cNvGrpSpPr/>
          <p:nvPr/>
        </p:nvGrpSpPr>
        <p:grpSpPr>
          <a:xfrm>
            <a:off x="5804746" y="3253740"/>
            <a:ext cx="2775373" cy="2081530"/>
            <a:chOff x="4353559" y="3253740"/>
            <a:chExt cx="2081530" cy="2081530"/>
          </a:xfrm>
        </p:grpSpPr>
        <p:sp>
          <p:nvSpPr>
            <p:cNvPr id="7" name="object 7"/>
            <p:cNvSpPr/>
            <p:nvPr/>
          </p:nvSpPr>
          <p:spPr>
            <a:xfrm>
              <a:off x="4356099" y="3256280"/>
              <a:ext cx="2076450" cy="2076450"/>
            </a:xfrm>
            <a:custGeom>
              <a:avLst/>
              <a:gdLst/>
              <a:ahLst/>
              <a:cxnLst/>
              <a:rect l="l" t="t" r="r" b="b"/>
              <a:pathLst>
                <a:path w="2076450" h="2076450">
                  <a:moveTo>
                    <a:pt x="1037589" y="0"/>
                  </a:moveTo>
                  <a:lnTo>
                    <a:pt x="932179" y="5080"/>
                  </a:lnTo>
                  <a:lnTo>
                    <a:pt x="828039" y="20320"/>
                  </a:lnTo>
                  <a:lnTo>
                    <a:pt x="728979" y="46990"/>
                  </a:lnTo>
                  <a:lnTo>
                    <a:pt x="633729" y="81280"/>
                  </a:lnTo>
                  <a:lnTo>
                    <a:pt x="543560" y="124460"/>
                  </a:lnTo>
                  <a:lnTo>
                    <a:pt x="457200" y="176530"/>
                  </a:lnTo>
                  <a:lnTo>
                    <a:pt x="377189" y="236220"/>
                  </a:lnTo>
                  <a:lnTo>
                    <a:pt x="303529" y="303530"/>
                  </a:lnTo>
                  <a:lnTo>
                    <a:pt x="236220" y="377190"/>
                  </a:lnTo>
                  <a:lnTo>
                    <a:pt x="176529" y="457200"/>
                  </a:lnTo>
                  <a:lnTo>
                    <a:pt x="124460" y="542290"/>
                  </a:lnTo>
                  <a:lnTo>
                    <a:pt x="81279" y="633730"/>
                  </a:lnTo>
                  <a:lnTo>
                    <a:pt x="45720" y="728980"/>
                  </a:lnTo>
                  <a:lnTo>
                    <a:pt x="20320" y="828040"/>
                  </a:lnTo>
                  <a:lnTo>
                    <a:pt x="5079" y="932180"/>
                  </a:lnTo>
                  <a:lnTo>
                    <a:pt x="0" y="1037590"/>
                  </a:lnTo>
                  <a:lnTo>
                    <a:pt x="5079" y="1144270"/>
                  </a:lnTo>
                  <a:lnTo>
                    <a:pt x="20320" y="1247140"/>
                  </a:lnTo>
                  <a:lnTo>
                    <a:pt x="45720" y="1346200"/>
                  </a:lnTo>
                  <a:lnTo>
                    <a:pt x="81279" y="1441450"/>
                  </a:lnTo>
                  <a:lnTo>
                    <a:pt x="124460" y="1532890"/>
                  </a:lnTo>
                  <a:lnTo>
                    <a:pt x="176529" y="1617980"/>
                  </a:lnTo>
                  <a:lnTo>
                    <a:pt x="236220" y="1697990"/>
                  </a:lnTo>
                  <a:lnTo>
                    <a:pt x="303529" y="1771650"/>
                  </a:lnTo>
                  <a:lnTo>
                    <a:pt x="377189" y="1838960"/>
                  </a:lnTo>
                  <a:lnTo>
                    <a:pt x="457200" y="1898650"/>
                  </a:lnTo>
                  <a:lnTo>
                    <a:pt x="543560" y="1950720"/>
                  </a:lnTo>
                  <a:lnTo>
                    <a:pt x="633729" y="1993900"/>
                  </a:lnTo>
                  <a:lnTo>
                    <a:pt x="728979" y="2029460"/>
                  </a:lnTo>
                  <a:lnTo>
                    <a:pt x="829310" y="2054860"/>
                  </a:lnTo>
                  <a:lnTo>
                    <a:pt x="932179" y="2070100"/>
                  </a:lnTo>
                  <a:lnTo>
                    <a:pt x="1037589" y="2076450"/>
                  </a:lnTo>
                  <a:lnTo>
                    <a:pt x="1144270" y="2070100"/>
                  </a:lnTo>
                  <a:lnTo>
                    <a:pt x="1247139" y="2054860"/>
                  </a:lnTo>
                  <a:lnTo>
                    <a:pt x="1347470" y="2029460"/>
                  </a:lnTo>
                  <a:lnTo>
                    <a:pt x="1442720" y="1993900"/>
                  </a:lnTo>
                  <a:lnTo>
                    <a:pt x="1532889" y="1950720"/>
                  </a:lnTo>
                  <a:lnTo>
                    <a:pt x="1619250" y="1898650"/>
                  </a:lnTo>
                  <a:lnTo>
                    <a:pt x="1699260" y="1838960"/>
                  </a:lnTo>
                  <a:lnTo>
                    <a:pt x="1771650" y="1771650"/>
                  </a:lnTo>
                  <a:lnTo>
                    <a:pt x="1838960" y="1697990"/>
                  </a:lnTo>
                  <a:lnTo>
                    <a:pt x="1898650" y="1617980"/>
                  </a:lnTo>
                  <a:lnTo>
                    <a:pt x="1950720" y="1532890"/>
                  </a:lnTo>
                  <a:lnTo>
                    <a:pt x="1995170" y="1441450"/>
                  </a:lnTo>
                  <a:lnTo>
                    <a:pt x="2029460" y="1346200"/>
                  </a:lnTo>
                  <a:lnTo>
                    <a:pt x="2054860" y="1247140"/>
                  </a:lnTo>
                  <a:lnTo>
                    <a:pt x="2071370" y="1144270"/>
                  </a:lnTo>
                  <a:lnTo>
                    <a:pt x="2076450" y="1037590"/>
                  </a:lnTo>
                  <a:lnTo>
                    <a:pt x="2071370" y="932180"/>
                  </a:lnTo>
                  <a:lnTo>
                    <a:pt x="2054860" y="828040"/>
                  </a:lnTo>
                  <a:lnTo>
                    <a:pt x="2029460" y="728980"/>
                  </a:lnTo>
                  <a:lnTo>
                    <a:pt x="1995170" y="633730"/>
                  </a:lnTo>
                  <a:lnTo>
                    <a:pt x="1950720" y="542290"/>
                  </a:lnTo>
                  <a:lnTo>
                    <a:pt x="1898650" y="457200"/>
                  </a:lnTo>
                  <a:lnTo>
                    <a:pt x="1838960" y="377190"/>
                  </a:lnTo>
                  <a:lnTo>
                    <a:pt x="1772920" y="303530"/>
                  </a:lnTo>
                  <a:lnTo>
                    <a:pt x="1699260" y="236220"/>
                  </a:lnTo>
                  <a:lnTo>
                    <a:pt x="1619250" y="176530"/>
                  </a:lnTo>
                  <a:lnTo>
                    <a:pt x="1532889" y="124460"/>
                  </a:lnTo>
                  <a:lnTo>
                    <a:pt x="1442720" y="81280"/>
                  </a:lnTo>
                  <a:lnTo>
                    <a:pt x="1347470" y="46990"/>
                  </a:lnTo>
                  <a:lnTo>
                    <a:pt x="1247139" y="20320"/>
                  </a:lnTo>
                  <a:lnTo>
                    <a:pt x="1144270" y="5080"/>
                  </a:lnTo>
                  <a:lnTo>
                    <a:pt x="1037589" y="0"/>
                  </a:lnTo>
                  <a:close/>
                </a:path>
              </a:pathLst>
            </a:custGeom>
            <a:solidFill>
              <a:srgbClr val="009898">
                <a:alpha val="50000"/>
              </a:srgbClr>
            </a:solidFill>
          </p:spPr>
          <p:txBody>
            <a:bodyPr wrap="square" lIns="0" tIns="0" rIns="0" bIns="0" rtlCol="0"/>
            <a:lstStyle/>
            <a:p>
              <a:endParaRPr/>
            </a:p>
          </p:txBody>
        </p:sp>
        <p:sp>
          <p:nvSpPr>
            <p:cNvPr id="8" name="object 8"/>
            <p:cNvSpPr/>
            <p:nvPr/>
          </p:nvSpPr>
          <p:spPr>
            <a:xfrm>
              <a:off x="4356099" y="3256280"/>
              <a:ext cx="2076450" cy="2076450"/>
            </a:xfrm>
            <a:custGeom>
              <a:avLst/>
              <a:gdLst/>
              <a:ahLst/>
              <a:cxnLst/>
              <a:rect l="l" t="t" r="r" b="b"/>
              <a:pathLst>
                <a:path w="2076450" h="2076450">
                  <a:moveTo>
                    <a:pt x="1037589" y="2076450"/>
                  </a:moveTo>
                  <a:lnTo>
                    <a:pt x="990116" y="2075381"/>
                  </a:lnTo>
                  <a:lnTo>
                    <a:pt x="943189" y="2072207"/>
                  </a:lnTo>
                  <a:lnTo>
                    <a:pt x="896852" y="2066972"/>
                  </a:lnTo>
                  <a:lnTo>
                    <a:pt x="851154" y="2059722"/>
                  </a:lnTo>
                  <a:lnTo>
                    <a:pt x="806139" y="2050503"/>
                  </a:lnTo>
                  <a:lnTo>
                    <a:pt x="761853" y="2039361"/>
                  </a:lnTo>
                  <a:lnTo>
                    <a:pt x="718342" y="2026341"/>
                  </a:lnTo>
                  <a:lnTo>
                    <a:pt x="675652" y="2011490"/>
                  </a:lnTo>
                  <a:lnTo>
                    <a:pt x="633829" y="1994852"/>
                  </a:lnTo>
                  <a:lnTo>
                    <a:pt x="592919" y="1976474"/>
                  </a:lnTo>
                  <a:lnTo>
                    <a:pt x="552967" y="1956401"/>
                  </a:lnTo>
                  <a:lnTo>
                    <a:pt x="514020" y="1934680"/>
                  </a:lnTo>
                  <a:lnTo>
                    <a:pt x="476124" y="1911355"/>
                  </a:lnTo>
                  <a:lnTo>
                    <a:pt x="439324" y="1886473"/>
                  </a:lnTo>
                  <a:lnTo>
                    <a:pt x="403666" y="1860079"/>
                  </a:lnTo>
                  <a:lnTo>
                    <a:pt x="369197" y="1832219"/>
                  </a:lnTo>
                  <a:lnTo>
                    <a:pt x="335961" y="1802939"/>
                  </a:lnTo>
                  <a:lnTo>
                    <a:pt x="304006" y="1772285"/>
                  </a:lnTo>
                  <a:lnTo>
                    <a:pt x="273376" y="1740301"/>
                  </a:lnTo>
                  <a:lnTo>
                    <a:pt x="244118" y="1707035"/>
                  </a:lnTo>
                  <a:lnTo>
                    <a:pt x="216278" y="1672531"/>
                  </a:lnTo>
                  <a:lnTo>
                    <a:pt x="189901" y="1636835"/>
                  </a:lnTo>
                  <a:lnTo>
                    <a:pt x="165034" y="1599994"/>
                  </a:lnTo>
                  <a:lnTo>
                    <a:pt x="141722" y="1562052"/>
                  </a:lnTo>
                  <a:lnTo>
                    <a:pt x="120011" y="1523057"/>
                  </a:lnTo>
                  <a:lnTo>
                    <a:pt x="99948" y="1483052"/>
                  </a:lnTo>
                  <a:lnTo>
                    <a:pt x="81577" y="1442085"/>
                  </a:lnTo>
                  <a:lnTo>
                    <a:pt x="64945" y="1400200"/>
                  </a:lnTo>
                  <a:lnTo>
                    <a:pt x="50099" y="1357444"/>
                  </a:lnTo>
                  <a:lnTo>
                    <a:pt x="37082" y="1313862"/>
                  </a:lnTo>
                  <a:lnTo>
                    <a:pt x="25943" y="1269500"/>
                  </a:lnTo>
                  <a:lnTo>
                    <a:pt x="16726" y="1224403"/>
                  </a:lnTo>
                  <a:lnTo>
                    <a:pt x="9477" y="1178618"/>
                  </a:lnTo>
                  <a:lnTo>
                    <a:pt x="4242" y="1132191"/>
                  </a:lnTo>
                  <a:lnTo>
                    <a:pt x="1068" y="1085166"/>
                  </a:lnTo>
                  <a:lnTo>
                    <a:pt x="0" y="1037590"/>
                  </a:lnTo>
                  <a:lnTo>
                    <a:pt x="1130" y="988768"/>
                  </a:lnTo>
                  <a:lnTo>
                    <a:pt x="4486" y="940524"/>
                  </a:lnTo>
                  <a:lnTo>
                    <a:pt x="10020" y="892910"/>
                  </a:lnTo>
                  <a:lnTo>
                    <a:pt x="17680" y="845974"/>
                  </a:lnTo>
                  <a:lnTo>
                    <a:pt x="27417" y="799766"/>
                  </a:lnTo>
                  <a:lnTo>
                    <a:pt x="39182" y="754337"/>
                  </a:lnTo>
                  <a:lnTo>
                    <a:pt x="52923" y="709736"/>
                  </a:lnTo>
                  <a:lnTo>
                    <a:pt x="68591" y="666014"/>
                  </a:lnTo>
                  <a:lnTo>
                    <a:pt x="86137" y="623220"/>
                  </a:lnTo>
                  <a:lnTo>
                    <a:pt x="105509" y="581404"/>
                  </a:lnTo>
                  <a:lnTo>
                    <a:pt x="126659" y="540616"/>
                  </a:lnTo>
                  <a:lnTo>
                    <a:pt x="149537" y="500907"/>
                  </a:lnTo>
                  <a:lnTo>
                    <a:pt x="174091" y="462325"/>
                  </a:lnTo>
                  <a:lnTo>
                    <a:pt x="200273" y="424921"/>
                  </a:lnTo>
                  <a:lnTo>
                    <a:pt x="228033" y="388745"/>
                  </a:lnTo>
                  <a:lnTo>
                    <a:pt x="257320" y="353847"/>
                  </a:lnTo>
                  <a:lnTo>
                    <a:pt x="288085" y="320277"/>
                  </a:lnTo>
                  <a:lnTo>
                    <a:pt x="320277" y="288085"/>
                  </a:lnTo>
                  <a:lnTo>
                    <a:pt x="353847" y="257320"/>
                  </a:lnTo>
                  <a:lnTo>
                    <a:pt x="388745" y="228033"/>
                  </a:lnTo>
                  <a:lnTo>
                    <a:pt x="424921" y="200273"/>
                  </a:lnTo>
                  <a:lnTo>
                    <a:pt x="462325" y="174091"/>
                  </a:lnTo>
                  <a:lnTo>
                    <a:pt x="500907" y="149537"/>
                  </a:lnTo>
                  <a:lnTo>
                    <a:pt x="540616" y="126659"/>
                  </a:lnTo>
                  <a:lnTo>
                    <a:pt x="581404" y="105509"/>
                  </a:lnTo>
                  <a:lnTo>
                    <a:pt x="623220" y="86137"/>
                  </a:lnTo>
                  <a:lnTo>
                    <a:pt x="666014" y="68591"/>
                  </a:lnTo>
                  <a:lnTo>
                    <a:pt x="709736" y="52923"/>
                  </a:lnTo>
                  <a:lnTo>
                    <a:pt x="754337" y="39182"/>
                  </a:lnTo>
                  <a:lnTo>
                    <a:pt x="799766" y="27417"/>
                  </a:lnTo>
                  <a:lnTo>
                    <a:pt x="845974" y="17680"/>
                  </a:lnTo>
                  <a:lnTo>
                    <a:pt x="892910" y="10020"/>
                  </a:lnTo>
                  <a:lnTo>
                    <a:pt x="940524" y="4486"/>
                  </a:lnTo>
                  <a:lnTo>
                    <a:pt x="988768" y="1130"/>
                  </a:lnTo>
                  <a:lnTo>
                    <a:pt x="1037589" y="0"/>
                  </a:lnTo>
                  <a:lnTo>
                    <a:pt x="1085166" y="1068"/>
                  </a:lnTo>
                  <a:lnTo>
                    <a:pt x="1132191" y="4242"/>
                  </a:lnTo>
                  <a:lnTo>
                    <a:pt x="1178618" y="9477"/>
                  </a:lnTo>
                  <a:lnTo>
                    <a:pt x="1224403" y="16726"/>
                  </a:lnTo>
                  <a:lnTo>
                    <a:pt x="1269500" y="25943"/>
                  </a:lnTo>
                  <a:lnTo>
                    <a:pt x="1313862" y="37082"/>
                  </a:lnTo>
                  <a:lnTo>
                    <a:pt x="1357444" y="50099"/>
                  </a:lnTo>
                  <a:lnTo>
                    <a:pt x="1400200" y="64945"/>
                  </a:lnTo>
                  <a:lnTo>
                    <a:pt x="1442085" y="81577"/>
                  </a:lnTo>
                  <a:lnTo>
                    <a:pt x="1483052" y="99948"/>
                  </a:lnTo>
                  <a:lnTo>
                    <a:pt x="1523057" y="120011"/>
                  </a:lnTo>
                  <a:lnTo>
                    <a:pt x="1562052" y="141722"/>
                  </a:lnTo>
                  <a:lnTo>
                    <a:pt x="1599994" y="165034"/>
                  </a:lnTo>
                  <a:lnTo>
                    <a:pt x="1636835" y="189901"/>
                  </a:lnTo>
                  <a:lnTo>
                    <a:pt x="1672531" y="216278"/>
                  </a:lnTo>
                  <a:lnTo>
                    <a:pt x="1707035" y="244118"/>
                  </a:lnTo>
                  <a:lnTo>
                    <a:pt x="1740301" y="273376"/>
                  </a:lnTo>
                  <a:lnTo>
                    <a:pt x="1772285" y="304006"/>
                  </a:lnTo>
                  <a:lnTo>
                    <a:pt x="1802939" y="335961"/>
                  </a:lnTo>
                  <a:lnTo>
                    <a:pt x="1832219" y="369197"/>
                  </a:lnTo>
                  <a:lnTo>
                    <a:pt x="1860079" y="403666"/>
                  </a:lnTo>
                  <a:lnTo>
                    <a:pt x="1886473" y="439324"/>
                  </a:lnTo>
                  <a:lnTo>
                    <a:pt x="1911355" y="476124"/>
                  </a:lnTo>
                  <a:lnTo>
                    <a:pt x="1934680" y="514020"/>
                  </a:lnTo>
                  <a:lnTo>
                    <a:pt x="1956401" y="552967"/>
                  </a:lnTo>
                  <a:lnTo>
                    <a:pt x="1976474" y="592919"/>
                  </a:lnTo>
                  <a:lnTo>
                    <a:pt x="1994852" y="633829"/>
                  </a:lnTo>
                  <a:lnTo>
                    <a:pt x="2011490" y="675652"/>
                  </a:lnTo>
                  <a:lnTo>
                    <a:pt x="2026341" y="718342"/>
                  </a:lnTo>
                  <a:lnTo>
                    <a:pt x="2039361" y="761853"/>
                  </a:lnTo>
                  <a:lnTo>
                    <a:pt x="2050503" y="806139"/>
                  </a:lnTo>
                  <a:lnTo>
                    <a:pt x="2059722" y="851154"/>
                  </a:lnTo>
                  <a:lnTo>
                    <a:pt x="2066972" y="896852"/>
                  </a:lnTo>
                  <a:lnTo>
                    <a:pt x="2072207" y="943189"/>
                  </a:lnTo>
                  <a:lnTo>
                    <a:pt x="2075381" y="990116"/>
                  </a:lnTo>
                  <a:lnTo>
                    <a:pt x="2076450" y="1037590"/>
                  </a:lnTo>
                  <a:lnTo>
                    <a:pt x="2075381" y="1085166"/>
                  </a:lnTo>
                  <a:lnTo>
                    <a:pt x="2072207" y="1132191"/>
                  </a:lnTo>
                  <a:lnTo>
                    <a:pt x="2066972" y="1178618"/>
                  </a:lnTo>
                  <a:lnTo>
                    <a:pt x="2059722" y="1224403"/>
                  </a:lnTo>
                  <a:lnTo>
                    <a:pt x="2050503" y="1269500"/>
                  </a:lnTo>
                  <a:lnTo>
                    <a:pt x="2039361" y="1313862"/>
                  </a:lnTo>
                  <a:lnTo>
                    <a:pt x="2026341" y="1357444"/>
                  </a:lnTo>
                  <a:lnTo>
                    <a:pt x="2011490" y="1400200"/>
                  </a:lnTo>
                  <a:lnTo>
                    <a:pt x="1994852" y="1442085"/>
                  </a:lnTo>
                  <a:lnTo>
                    <a:pt x="1976474" y="1483052"/>
                  </a:lnTo>
                  <a:lnTo>
                    <a:pt x="1956401" y="1523057"/>
                  </a:lnTo>
                  <a:lnTo>
                    <a:pt x="1934680" y="1562052"/>
                  </a:lnTo>
                  <a:lnTo>
                    <a:pt x="1911355" y="1599994"/>
                  </a:lnTo>
                  <a:lnTo>
                    <a:pt x="1886473" y="1636835"/>
                  </a:lnTo>
                  <a:lnTo>
                    <a:pt x="1860079" y="1672531"/>
                  </a:lnTo>
                  <a:lnTo>
                    <a:pt x="1832219" y="1707035"/>
                  </a:lnTo>
                  <a:lnTo>
                    <a:pt x="1802939" y="1740301"/>
                  </a:lnTo>
                  <a:lnTo>
                    <a:pt x="1772284" y="1772285"/>
                  </a:lnTo>
                  <a:lnTo>
                    <a:pt x="1740301" y="1802939"/>
                  </a:lnTo>
                  <a:lnTo>
                    <a:pt x="1707035" y="1832219"/>
                  </a:lnTo>
                  <a:lnTo>
                    <a:pt x="1672531" y="1860079"/>
                  </a:lnTo>
                  <a:lnTo>
                    <a:pt x="1636835" y="1886473"/>
                  </a:lnTo>
                  <a:lnTo>
                    <a:pt x="1599994" y="1911355"/>
                  </a:lnTo>
                  <a:lnTo>
                    <a:pt x="1562052" y="1934680"/>
                  </a:lnTo>
                  <a:lnTo>
                    <a:pt x="1523057" y="1956401"/>
                  </a:lnTo>
                  <a:lnTo>
                    <a:pt x="1483052" y="1976474"/>
                  </a:lnTo>
                  <a:lnTo>
                    <a:pt x="1442085" y="1994852"/>
                  </a:lnTo>
                  <a:lnTo>
                    <a:pt x="1400200" y="2011490"/>
                  </a:lnTo>
                  <a:lnTo>
                    <a:pt x="1357444" y="2026341"/>
                  </a:lnTo>
                  <a:lnTo>
                    <a:pt x="1313862" y="2039361"/>
                  </a:lnTo>
                  <a:lnTo>
                    <a:pt x="1269500" y="2050503"/>
                  </a:lnTo>
                  <a:lnTo>
                    <a:pt x="1224403" y="2059722"/>
                  </a:lnTo>
                  <a:lnTo>
                    <a:pt x="1178618" y="2066972"/>
                  </a:lnTo>
                  <a:lnTo>
                    <a:pt x="1132191" y="2072207"/>
                  </a:lnTo>
                  <a:lnTo>
                    <a:pt x="1085166" y="2075381"/>
                  </a:lnTo>
                  <a:lnTo>
                    <a:pt x="1037589" y="2076450"/>
                  </a:lnTo>
                  <a:close/>
                </a:path>
              </a:pathLst>
            </a:custGeom>
            <a:ln w="4672">
              <a:solidFill>
                <a:srgbClr val="009898"/>
              </a:solidFill>
            </a:ln>
          </p:spPr>
          <p:txBody>
            <a:bodyPr wrap="square" lIns="0" tIns="0" rIns="0" bIns="0" rtlCol="0"/>
            <a:lstStyle/>
            <a:p>
              <a:endParaRPr/>
            </a:p>
          </p:txBody>
        </p:sp>
      </p:grpSp>
      <p:sp>
        <p:nvSpPr>
          <p:cNvPr id="9" name="object 9"/>
          <p:cNvSpPr txBox="1"/>
          <p:nvPr/>
        </p:nvSpPr>
        <p:spPr>
          <a:xfrm>
            <a:off x="8527627" y="4705350"/>
            <a:ext cx="2977727" cy="93853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ROM</a:t>
            </a:r>
            <a:endParaRPr sz="1600">
              <a:latin typeface="Arial"/>
              <a:cs typeface="Arial"/>
            </a:endParaRPr>
          </a:p>
          <a:p>
            <a:pPr marL="62230" indent="-50165">
              <a:lnSpc>
                <a:spcPct val="100000"/>
              </a:lnSpc>
              <a:buSzPct val="90909"/>
              <a:buChar char="•"/>
              <a:tabLst>
                <a:tab pos="62865" algn="l"/>
              </a:tabLst>
            </a:pPr>
            <a:r>
              <a:rPr sz="1100" spc="-5" dirty="0">
                <a:latin typeface="Arial"/>
                <a:cs typeface="Arial"/>
              </a:rPr>
              <a:t>High</a:t>
            </a:r>
            <a:r>
              <a:rPr sz="1100" spc="5" dirty="0">
                <a:latin typeface="Arial"/>
                <a:cs typeface="Arial"/>
              </a:rPr>
              <a:t> </a:t>
            </a:r>
            <a:r>
              <a:rPr sz="1100" spc="-5" dirty="0">
                <a:latin typeface="Arial"/>
                <a:cs typeface="Arial"/>
              </a:rPr>
              <a:t>density</a:t>
            </a:r>
            <a:endParaRPr sz="1100">
              <a:latin typeface="Arial"/>
              <a:cs typeface="Arial"/>
            </a:endParaRPr>
          </a:p>
          <a:p>
            <a:pPr marL="62230" indent="-50165">
              <a:lnSpc>
                <a:spcPts val="1315"/>
              </a:lnSpc>
              <a:buSzPct val="90909"/>
              <a:buChar char="•"/>
              <a:tabLst>
                <a:tab pos="62865" algn="l"/>
              </a:tabLst>
            </a:pPr>
            <a:r>
              <a:rPr sz="1100" spc="-5" dirty="0">
                <a:latin typeface="Arial"/>
                <a:cs typeface="Arial"/>
              </a:rPr>
              <a:t>Reliable</a:t>
            </a:r>
            <a:endParaRPr sz="1100">
              <a:latin typeface="Arial"/>
              <a:cs typeface="Arial"/>
            </a:endParaRPr>
          </a:p>
          <a:p>
            <a:pPr marL="62230" indent="-50165">
              <a:lnSpc>
                <a:spcPts val="1315"/>
              </a:lnSpc>
              <a:buSzPct val="90909"/>
              <a:buChar char="•"/>
              <a:tabLst>
                <a:tab pos="62865" algn="l"/>
              </a:tabLst>
            </a:pPr>
            <a:r>
              <a:rPr sz="1100" spc="-5" dirty="0">
                <a:latin typeface="Arial"/>
                <a:cs typeface="Arial"/>
              </a:rPr>
              <a:t>Low</a:t>
            </a:r>
            <a:r>
              <a:rPr sz="1100" dirty="0">
                <a:latin typeface="Arial"/>
                <a:cs typeface="Arial"/>
              </a:rPr>
              <a:t> </a:t>
            </a:r>
            <a:r>
              <a:rPr sz="1100" spc="-5" dirty="0">
                <a:latin typeface="Arial"/>
                <a:cs typeface="Arial"/>
              </a:rPr>
              <a:t>cost</a:t>
            </a:r>
            <a:endParaRPr sz="1100">
              <a:latin typeface="Arial"/>
              <a:cs typeface="Arial"/>
            </a:endParaRPr>
          </a:p>
          <a:p>
            <a:pPr marL="62230" indent="-50165">
              <a:lnSpc>
                <a:spcPct val="100000"/>
              </a:lnSpc>
              <a:buSzPct val="90909"/>
              <a:buChar char="•"/>
              <a:tabLst>
                <a:tab pos="62865" algn="l"/>
              </a:tabLst>
            </a:pPr>
            <a:r>
              <a:rPr sz="1100" spc="-5" dirty="0">
                <a:latin typeface="Arial"/>
                <a:cs typeface="Arial"/>
              </a:rPr>
              <a:t>Suitable </a:t>
            </a:r>
            <a:r>
              <a:rPr sz="1100" dirty="0">
                <a:latin typeface="Arial"/>
                <a:cs typeface="Arial"/>
              </a:rPr>
              <a:t>for stable </a:t>
            </a:r>
            <a:r>
              <a:rPr sz="1100" spc="-5" dirty="0">
                <a:latin typeface="Arial"/>
                <a:cs typeface="Arial"/>
              </a:rPr>
              <a:t>code</a:t>
            </a:r>
            <a:r>
              <a:rPr sz="1100" spc="-15" dirty="0">
                <a:latin typeface="Arial"/>
                <a:cs typeface="Arial"/>
              </a:rPr>
              <a:t> </a:t>
            </a:r>
            <a:r>
              <a:rPr sz="1100" spc="-5" dirty="0">
                <a:latin typeface="Arial"/>
                <a:cs typeface="Arial"/>
              </a:rPr>
              <a:t>production</a:t>
            </a:r>
            <a:endParaRPr sz="1100">
              <a:latin typeface="Arial"/>
              <a:cs typeface="Arial"/>
            </a:endParaRPr>
          </a:p>
        </p:txBody>
      </p:sp>
      <p:grpSp>
        <p:nvGrpSpPr>
          <p:cNvPr id="10" name="object 10"/>
          <p:cNvGrpSpPr/>
          <p:nvPr/>
        </p:nvGrpSpPr>
        <p:grpSpPr>
          <a:xfrm>
            <a:off x="3982991" y="3251403"/>
            <a:ext cx="2775373" cy="2081530"/>
            <a:chOff x="2987243" y="3251403"/>
            <a:chExt cx="2081530" cy="2081530"/>
          </a:xfrm>
        </p:grpSpPr>
        <p:sp>
          <p:nvSpPr>
            <p:cNvPr id="11" name="object 11"/>
            <p:cNvSpPr/>
            <p:nvPr/>
          </p:nvSpPr>
          <p:spPr>
            <a:xfrm>
              <a:off x="2989579" y="3253740"/>
              <a:ext cx="2076450" cy="2076450"/>
            </a:xfrm>
            <a:custGeom>
              <a:avLst/>
              <a:gdLst/>
              <a:ahLst/>
              <a:cxnLst/>
              <a:rect l="l" t="t" r="r" b="b"/>
              <a:pathLst>
                <a:path w="2076450" h="2076450">
                  <a:moveTo>
                    <a:pt x="1038859" y="0"/>
                  </a:moveTo>
                  <a:lnTo>
                    <a:pt x="932180" y="5080"/>
                  </a:lnTo>
                  <a:lnTo>
                    <a:pt x="829309" y="21589"/>
                  </a:lnTo>
                  <a:lnTo>
                    <a:pt x="728980" y="46989"/>
                  </a:lnTo>
                  <a:lnTo>
                    <a:pt x="633730" y="82550"/>
                  </a:lnTo>
                  <a:lnTo>
                    <a:pt x="543559" y="125730"/>
                  </a:lnTo>
                  <a:lnTo>
                    <a:pt x="457199" y="177800"/>
                  </a:lnTo>
                  <a:lnTo>
                    <a:pt x="378459" y="237489"/>
                  </a:lnTo>
                  <a:lnTo>
                    <a:pt x="304799" y="304800"/>
                  </a:lnTo>
                  <a:lnTo>
                    <a:pt x="237489" y="378460"/>
                  </a:lnTo>
                  <a:lnTo>
                    <a:pt x="177800" y="458470"/>
                  </a:lnTo>
                  <a:lnTo>
                    <a:pt x="125730" y="543560"/>
                  </a:lnTo>
                  <a:lnTo>
                    <a:pt x="82550" y="633730"/>
                  </a:lnTo>
                  <a:lnTo>
                    <a:pt x="46989" y="730250"/>
                  </a:lnTo>
                  <a:lnTo>
                    <a:pt x="21589" y="829310"/>
                  </a:lnTo>
                  <a:lnTo>
                    <a:pt x="5080" y="932180"/>
                  </a:lnTo>
                  <a:lnTo>
                    <a:pt x="0" y="1038860"/>
                  </a:lnTo>
                  <a:lnTo>
                    <a:pt x="5080" y="1144270"/>
                  </a:lnTo>
                  <a:lnTo>
                    <a:pt x="21589" y="1247140"/>
                  </a:lnTo>
                  <a:lnTo>
                    <a:pt x="46989" y="1347470"/>
                  </a:lnTo>
                  <a:lnTo>
                    <a:pt x="82550" y="1442720"/>
                  </a:lnTo>
                  <a:lnTo>
                    <a:pt x="125730" y="1534160"/>
                  </a:lnTo>
                  <a:lnTo>
                    <a:pt x="177800" y="1619250"/>
                  </a:lnTo>
                  <a:lnTo>
                    <a:pt x="237489" y="1699260"/>
                  </a:lnTo>
                  <a:lnTo>
                    <a:pt x="304799" y="1772920"/>
                  </a:lnTo>
                  <a:lnTo>
                    <a:pt x="378459" y="1840230"/>
                  </a:lnTo>
                  <a:lnTo>
                    <a:pt x="458469" y="1899920"/>
                  </a:lnTo>
                  <a:lnTo>
                    <a:pt x="543559" y="1951990"/>
                  </a:lnTo>
                  <a:lnTo>
                    <a:pt x="634999" y="1995170"/>
                  </a:lnTo>
                  <a:lnTo>
                    <a:pt x="730249" y="2029460"/>
                  </a:lnTo>
                  <a:lnTo>
                    <a:pt x="829309" y="2056130"/>
                  </a:lnTo>
                  <a:lnTo>
                    <a:pt x="932180" y="2071370"/>
                  </a:lnTo>
                  <a:lnTo>
                    <a:pt x="1038859" y="2076450"/>
                  </a:lnTo>
                  <a:lnTo>
                    <a:pt x="1144270" y="2071370"/>
                  </a:lnTo>
                  <a:lnTo>
                    <a:pt x="1247140" y="2056130"/>
                  </a:lnTo>
                  <a:lnTo>
                    <a:pt x="1347470" y="2029460"/>
                  </a:lnTo>
                  <a:lnTo>
                    <a:pt x="1442720" y="1995170"/>
                  </a:lnTo>
                  <a:lnTo>
                    <a:pt x="1532890" y="1951990"/>
                  </a:lnTo>
                  <a:lnTo>
                    <a:pt x="1619249" y="1899920"/>
                  </a:lnTo>
                  <a:lnTo>
                    <a:pt x="1699259" y="1840230"/>
                  </a:lnTo>
                  <a:lnTo>
                    <a:pt x="1772920" y="1772920"/>
                  </a:lnTo>
                  <a:lnTo>
                    <a:pt x="1838959" y="1699260"/>
                  </a:lnTo>
                  <a:lnTo>
                    <a:pt x="1898649" y="1619250"/>
                  </a:lnTo>
                  <a:lnTo>
                    <a:pt x="1950720" y="1534160"/>
                  </a:lnTo>
                  <a:lnTo>
                    <a:pt x="1995170" y="1442720"/>
                  </a:lnTo>
                  <a:lnTo>
                    <a:pt x="2029459" y="1347470"/>
                  </a:lnTo>
                  <a:lnTo>
                    <a:pt x="2054859" y="1247140"/>
                  </a:lnTo>
                  <a:lnTo>
                    <a:pt x="2071370" y="1144270"/>
                  </a:lnTo>
                  <a:lnTo>
                    <a:pt x="2076449" y="1038860"/>
                  </a:lnTo>
                  <a:lnTo>
                    <a:pt x="2071370" y="932180"/>
                  </a:lnTo>
                  <a:lnTo>
                    <a:pt x="2054859" y="829310"/>
                  </a:lnTo>
                  <a:lnTo>
                    <a:pt x="2029459" y="730250"/>
                  </a:lnTo>
                  <a:lnTo>
                    <a:pt x="1995170" y="633730"/>
                  </a:lnTo>
                  <a:lnTo>
                    <a:pt x="1950720" y="543560"/>
                  </a:lnTo>
                  <a:lnTo>
                    <a:pt x="1898649" y="458470"/>
                  </a:lnTo>
                  <a:lnTo>
                    <a:pt x="1838959" y="378460"/>
                  </a:lnTo>
                  <a:lnTo>
                    <a:pt x="1772920" y="304800"/>
                  </a:lnTo>
                  <a:lnTo>
                    <a:pt x="1699259" y="237489"/>
                  </a:lnTo>
                  <a:lnTo>
                    <a:pt x="1619249" y="177800"/>
                  </a:lnTo>
                  <a:lnTo>
                    <a:pt x="1532890" y="125730"/>
                  </a:lnTo>
                  <a:lnTo>
                    <a:pt x="1442720" y="82550"/>
                  </a:lnTo>
                  <a:lnTo>
                    <a:pt x="1347470" y="46989"/>
                  </a:lnTo>
                  <a:lnTo>
                    <a:pt x="1247140" y="21589"/>
                  </a:lnTo>
                  <a:lnTo>
                    <a:pt x="1144270" y="5080"/>
                  </a:lnTo>
                  <a:lnTo>
                    <a:pt x="1038859" y="0"/>
                  </a:lnTo>
                  <a:close/>
                </a:path>
              </a:pathLst>
            </a:custGeom>
            <a:solidFill>
              <a:srgbClr val="98CC00">
                <a:alpha val="50000"/>
              </a:srgbClr>
            </a:solidFill>
          </p:spPr>
          <p:txBody>
            <a:bodyPr wrap="square" lIns="0" tIns="0" rIns="0" bIns="0" rtlCol="0"/>
            <a:lstStyle/>
            <a:p>
              <a:endParaRPr/>
            </a:p>
          </p:txBody>
        </p:sp>
        <p:sp>
          <p:nvSpPr>
            <p:cNvPr id="12" name="object 12"/>
            <p:cNvSpPr/>
            <p:nvPr/>
          </p:nvSpPr>
          <p:spPr>
            <a:xfrm>
              <a:off x="2989579" y="3253740"/>
              <a:ext cx="2076450" cy="2076450"/>
            </a:xfrm>
            <a:custGeom>
              <a:avLst/>
              <a:gdLst/>
              <a:ahLst/>
              <a:cxnLst/>
              <a:rect l="l" t="t" r="r" b="b"/>
              <a:pathLst>
                <a:path w="2076450" h="2076450">
                  <a:moveTo>
                    <a:pt x="1038859" y="2076450"/>
                  </a:moveTo>
                  <a:lnTo>
                    <a:pt x="991283" y="2075381"/>
                  </a:lnTo>
                  <a:lnTo>
                    <a:pt x="944258" y="2072207"/>
                  </a:lnTo>
                  <a:lnTo>
                    <a:pt x="897831" y="2066972"/>
                  </a:lnTo>
                  <a:lnTo>
                    <a:pt x="852046" y="2059723"/>
                  </a:lnTo>
                  <a:lnTo>
                    <a:pt x="806949" y="2050506"/>
                  </a:lnTo>
                  <a:lnTo>
                    <a:pt x="762587" y="2039367"/>
                  </a:lnTo>
                  <a:lnTo>
                    <a:pt x="719005" y="2026350"/>
                  </a:lnTo>
                  <a:lnTo>
                    <a:pt x="676249" y="2011504"/>
                  </a:lnTo>
                  <a:lnTo>
                    <a:pt x="634364" y="1994872"/>
                  </a:lnTo>
                  <a:lnTo>
                    <a:pt x="593397" y="1976501"/>
                  </a:lnTo>
                  <a:lnTo>
                    <a:pt x="553392" y="1956438"/>
                  </a:lnTo>
                  <a:lnTo>
                    <a:pt x="514397" y="1934727"/>
                  </a:lnTo>
                  <a:lnTo>
                    <a:pt x="476455" y="1911415"/>
                  </a:lnTo>
                  <a:lnTo>
                    <a:pt x="439614" y="1886548"/>
                  </a:lnTo>
                  <a:lnTo>
                    <a:pt x="403918" y="1860171"/>
                  </a:lnTo>
                  <a:lnTo>
                    <a:pt x="369414" y="1832331"/>
                  </a:lnTo>
                  <a:lnTo>
                    <a:pt x="336148" y="1803073"/>
                  </a:lnTo>
                  <a:lnTo>
                    <a:pt x="304165" y="1772443"/>
                  </a:lnTo>
                  <a:lnTo>
                    <a:pt x="273510" y="1740488"/>
                  </a:lnTo>
                  <a:lnTo>
                    <a:pt x="244230" y="1707252"/>
                  </a:lnTo>
                  <a:lnTo>
                    <a:pt x="216370" y="1672783"/>
                  </a:lnTo>
                  <a:lnTo>
                    <a:pt x="189976" y="1637125"/>
                  </a:lnTo>
                  <a:lnTo>
                    <a:pt x="165094" y="1600325"/>
                  </a:lnTo>
                  <a:lnTo>
                    <a:pt x="141769" y="1562429"/>
                  </a:lnTo>
                  <a:lnTo>
                    <a:pt x="120048" y="1523482"/>
                  </a:lnTo>
                  <a:lnTo>
                    <a:pt x="99975" y="1483530"/>
                  </a:lnTo>
                  <a:lnTo>
                    <a:pt x="81597" y="1442620"/>
                  </a:lnTo>
                  <a:lnTo>
                    <a:pt x="64959" y="1400797"/>
                  </a:lnTo>
                  <a:lnTo>
                    <a:pt x="50108" y="1358107"/>
                  </a:lnTo>
                  <a:lnTo>
                    <a:pt x="37088" y="1314596"/>
                  </a:lnTo>
                  <a:lnTo>
                    <a:pt x="25946" y="1270310"/>
                  </a:lnTo>
                  <a:lnTo>
                    <a:pt x="16727" y="1225295"/>
                  </a:lnTo>
                  <a:lnTo>
                    <a:pt x="9477" y="1179597"/>
                  </a:lnTo>
                  <a:lnTo>
                    <a:pt x="4242" y="1133260"/>
                  </a:lnTo>
                  <a:lnTo>
                    <a:pt x="1068" y="1086333"/>
                  </a:lnTo>
                  <a:lnTo>
                    <a:pt x="0" y="1038860"/>
                  </a:lnTo>
                  <a:lnTo>
                    <a:pt x="1068" y="991283"/>
                  </a:lnTo>
                  <a:lnTo>
                    <a:pt x="4242" y="944258"/>
                  </a:lnTo>
                  <a:lnTo>
                    <a:pt x="9477" y="897831"/>
                  </a:lnTo>
                  <a:lnTo>
                    <a:pt x="16727" y="852046"/>
                  </a:lnTo>
                  <a:lnTo>
                    <a:pt x="25946" y="806949"/>
                  </a:lnTo>
                  <a:lnTo>
                    <a:pt x="37088" y="762587"/>
                  </a:lnTo>
                  <a:lnTo>
                    <a:pt x="50108" y="719005"/>
                  </a:lnTo>
                  <a:lnTo>
                    <a:pt x="64959" y="676249"/>
                  </a:lnTo>
                  <a:lnTo>
                    <a:pt x="81597" y="634364"/>
                  </a:lnTo>
                  <a:lnTo>
                    <a:pt x="99975" y="593397"/>
                  </a:lnTo>
                  <a:lnTo>
                    <a:pt x="120048" y="553392"/>
                  </a:lnTo>
                  <a:lnTo>
                    <a:pt x="141769" y="514397"/>
                  </a:lnTo>
                  <a:lnTo>
                    <a:pt x="165094" y="476455"/>
                  </a:lnTo>
                  <a:lnTo>
                    <a:pt x="189976" y="439614"/>
                  </a:lnTo>
                  <a:lnTo>
                    <a:pt x="216370" y="403918"/>
                  </a:lnTo>
                  <a:lnTo>
                    <a:pt x="244230" y="369414"/>
                  </a:lnTo>
                  <a:lnTo>
                    <a:pt x="273510" y="336148"/>
                  </a:lnTo>
                  <a:lnTo>
                    <a:pt x="304165" y="304164"/>
                  </a:lnTo>
                  <a:lnTo>
                    <a:pt x="336148" y="273510"/>
                  </a:lnTo>
                  <a:lnTo>
                    <a:pt x="369414" y="244230"/>
                  </a:lnTo>
                  <a:lnTo>
                    <a:pt x="403918" y="216370"/>
                  </a:lnTo>
                  <a:lnTo>
                    <a:pt x="439614" y="189976"/>
                  </a:lnTo>
                  <a:lnTo>
                    <a:pt x="476455" y="165094"/>
                  </a:lnTo>
                  <a:lnTo>
                    <a:pt x="514397" y="141769"/>
                  </a:lnTo>
                  <a:lnTo>
                    <a:pt x="553392" y="120048"/>
                  </a:lnTo>
                  <a:lnTo>
                    <a:pt x="593397" y="99975"/>
                  </a:lnTo>
                  <a:lnTo>
                    <a:pt x="634364" y="81597"/>
                  </a:lnTo>
                  <a:lnTo>
                    <a:pt x="676249" y="64959"/>
                  </a:lnTo>
                  <a:lnTo>
                    <a:pt x="719005" y="50108"/>
                  </a:lnTo>
                  <a:lnTo>
                    <a:pt x="762587" y="37088"/>
                  </a:lnTo>
                  <a:lnTo>
                    <a:pt x="806949" y="25946"/>
                  </a:lnTo>
                  <a:lnTo>
                    <a:pt x="852046" y="16727"/>
                  </a:lnTo>
                  <a:lnTo>
                    <a:pt x="897831" y="9477"/>
                  </a:lnTo>
                  <a:lnTo>
                    <a:pt x="944258" y="4242"/>
                  </a:lnTo>
                  <a:lnTo>
                    <a:pt x="991283" y="1068"/>
                  </a:lnTo>
                  <a:lnTo>
                    <a:pt x="1038859" y="0"/>
                  </a:lnTo>
                  <a:lnTo>
                    <a:pt x="1086333" y="1068"/>
                  </a:lnTo>
                  <a:lnTo>
                    <a:pt x="1133260" y="4242"/>
                  </a:lnTo>
                  <a:lnTo>
                    <a:pt x="1179597" y="9477"/>
                  </a:lnTo>
                  <a:lnTo>
                    <a:pt x="1225295" y="16727"/>
                  </a:lnTo>
                  <a:lnTo>
                    <a:pt x="1270310" y="25946"/>
                  </a:lnTo>
                  <a:lnTo>
                    <a:pt x="1314596" y="37088"/>
                  </a:lnTo>
                  <a:lnTo>
                    <a:pt x="1358107" y="50108"/>
                  </a:lnTo>
                  <a:lnTo>
                    <a:pt x="1400797" y="64959"/>
                  </a:lnTo>
                  <a:lnTo>
                    <a:pt x="1442620" y="81597"/>
                  </a:lnTo>
                  <a:lnTo>
                    <a:pt x="1483530" y="99975"/>
                  </a:lnTo>
                  <a:lnTo>
                    <a:pt x="1523482" y="120048"/>
                  </a:lnTo>
                  <a:lnTo>
                    <a:pt x="1562429" y="141769"/>
                  </a:lnTo>
                  <a:lnTo>
                    <a:pt x="1600325" y="165094"/>
                  </a:lnTo>
                  <a:lnTo>
                    <a:pt x="1637125" y="189976"/>
                  </a:lnTo>
                  <a:lnTo>
                    <a:pt x="1672783" y="216370"/>
                  </a:lnTo>
                  <a:lnTo>
                    <a:pt x="1707252" y="244230"/>
                  </a:lnTo>
                  <a:lnTo>
                    <a:pt x="1740488" y="273510"/>
                  </a:lnTo>
                  <a:lnTo>
                    <a:pt x="1772443" y="304165"/>
                  </a:lnTo>
                  <a:lnTo>
                    <a:pt x="1803073" y="336148"/>
                  </a:lnTo>
                  <a:lnTo>
                    <a:pt x="1832331" y="369414"/>
                  </a:lnTo>
                  <a:lnTo>
                    <a:pt x="1860171" y="403918"/>
                  </a:lnTo>
                  <a:lnTo>
                    <a:pt x="1886548" y="439614"/>
                  </a:lnTo>
                  <a:lnTo>
                    <a:pt x="1911415" y="476455"/>
                  </a:lnTo>
                  <a:lnTo>
                    <a:pt x="1934727" y="514397"/>
                  </a:lnTo>
                  <a:lnTo>
                    <a:pt x="1956438" y="553392"/>
                  </a:lnTo>
                  <a:lnTo>
                    <a:pt x="1976501" y="593397"/>
                  </a:lnTo>
                  <a:lnTo>
                    <a:pt x="1994872" y="634365"/>
                  </a:lnTo>
                  <a:lnTo>
                    <a:pt x="2011504" y="676249"/>
                  </a:lnTo>
                  <a:lnTo>
                    <a:pt x="2026350" y="719005"/>
                  </a:lnTo>
                  <a:lnTo>
                    <a:pt x="2039367" y="762587"/>
                  </a:lnTo>
                  <a:lnTo>
                    <a:pt x="2050506" y="806949"/>
                  </a:lnTo>
                  <a:lnTo>
                    <a:pt x="2059723" y="852046"/>
                  </a:lnTo>
                  <a:lnTo>
                    <a:pt x="2066972" y="897831"/>
                  </a:lnTo>
                  <a:lnTo>
                    <a:pt x="2072207" y="944258"/>
                  </a:lnTo>
                  <a:lnTo>
                    <a:pt x="2075381" y="991283"/>
                  </a:lnTo>
                  <a:lnTo>
                    <a:pt x="2076449" y="1038860"/>
                  </a:lnTo>
                  <a:lnTo>
                    <a:pt x="2075319" y="1087681"/>
                  </a:lnTo>
                  <a:lnTo>
                    <a:pt x="2071963" y="1135925"/>
                  </a:lnTo>
                  <a:lnTo>
                    <a:pt x="2066429" y="1183539"/>
                  </a:lnTo>
                  <a:lnTo>
                    <a:pt x="2058769" y="1230475"/>
                  </a:lnTo>
                  <a:lnTo>
                    <a:pt x="2049032" y="1276683"/>
                  </a:lnTo>
                  <a:lnTo>
                    <a:pt x="2037267" y="1322112"/>
                  </a:lnTo>
                  <a:lnTo>
                    <a:pt x="2023526" y="1366713"/>
                  </a:lnTo>
                  <a:lnTo>
                    <a:pt x="2007858" y="1410435"/>
                  </a:lnTo>
                  <a:lnTo>
                    <a:pt x="1990312" y="1453229"/>
                  </a:lnTo>
                  <a:lnTo>
                    <a:pt x="1970940" y="1495045"/>
                  </a:lnTo>
                  <a:lnTo>
                    <a:pt x="1949790" y="1535833"/>
                  </a:lnTo>
                  <a:lnTo>
                    <a:pt x="1926912" y="1575542"/>
                  </a:lnTo>
                  <a:lnTo>
                    <a:pt x="1902358" y="1614124"/>
                  </a:lnTo>
                  <a:lnTo>
                    <a:pt x="1876176" y="1651528"/>
                  </a:lnTo>
                  <a:lnTo>
                    <a:pt x="1848416" y="1687704"/>
                  </a:lnTo>
                  <a:lnTo>
                    <a:pt x="1819129" y="1722602"/>
                  </a:lnTo>
                  <a:lnTo>
                    <a:pt x="1788364" y="1756172"/>
                  </a:lnTo>
                  <a:lnTo>
                    <a:pt x="1756172" y="1788364"/>
                  </a:lnTo>
                  <a:lnTo>
                    <a:pt x="1722602" y="1819129"/>
                  </a:lnTo>
                  <a:lnTo>
                    <a:pt x="1687704" y="1848416"/>
                  </a:lnTo>
                  <a:lnTo>
                    <a:pt x="1651528" y="1876176"/>
                  </a:lnTo>
                  <a:lnTo>
                    <a:pt x="1614124" y="1902358"/>
                  </a:lnTo>
                  <a:lnTo>
                    <a:pt x="1575542" y="1926912"/>
                  </a:lnTo>
                  <a:lnTo>
                    <a:pt x="1535833" y="1949790"/>
                  </a:lnTo>
                  <a:lnTo>
                    <a:pt x="1495045" y="1970940"/>
                  </a:lnTo>
                  <a:lnTo>
                    <a:pt x="1453229" y="1990312"/>
                  </a:lnTo>
                  <a:lnTo>
                    <a:pt x="1410435" y="2007858"/>
                  </a:lnTo>
                  <a:lnTo>
                    <a:pt x="1366713" y="2023526"/>
                  </a:lnTo>
                  <a:lnTo>
                    <a:pt x="1322112" y="2037267"/>
                  </a:lnTo>
                  <a:lnTo>
                    <a:pt x="1276683" y="2049032"/>
                  </a:lnTo>
                  <a:lnTo>
                    <a:pt x="1230475" y="2058769"/>
                  </a:lnTo>
                  <a:lnTo>
                    <a:pt x="1183539" y="2066429"/>
                  </a:lnTo>
                  <a:lnTo>
                    <a:pt x="1135925" y="2071963"/>
                  </a:lnTo>
                  <a:lnTo>
                    <a:pt x="1087681" y="2075319"/>
                  </a:lnTo>
                  <a:lnTo>
                    <a:pt x="1038859" y="2076450"/>
                  </a:lnTo>
                  <a:close/>
                </a:path>
              </a:pathLst>
            </a:custGeom>
            <a:ln w="4672">
              <a:solidFill>
                <a:srgbClr val="98CC00"/>
              </a:solidFill>
            </a:ln>
          </p:spPr>
          <p:txBody>
            <a:bodyPr wrap="square" lIns="0" tIns="0" rIns="0" bIns="0" rtlCol="0"/>
            <a:lstStyle/>
            <a:p>
              <a:endParaRPr/>
            </a:p>
          </p:txBody>
        </p:sp>
      </p:grpSp>
      <p:sp>
        <p:nvSpPr>
          <p:cNvPr id="13" name="object 13"/>
          <p:cNvSpPr txBox="1"/>
          <p:nvPr/>
        </p:nvSpPr>
        <p:spPr>
          <a:xfrm>
            <a:off x="1149774" y="4674870"/>
            <a:ext cx="1225973" cy="999490"/>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DRAM</a:t>
            </a:r>
            <a:endParaRPr sz="1600">
              <a:latin typeface="Arial"/>
              <a:cs typeface="Arial"/>
            </a:endParaRPr>
          </a:p>
          <a:p>
            <a:pPr marL="66675" indent="-54610">
              <a:lnSpc>
                <a:spcPts val="1435"/>
              </a:lnSpc>
              <a:buSzPct val="91666"/>
              <a:buChar char="•"/>
              <a:tabLst>
                <a:tab pos="67310" algn="l"/>
              </a:tabLst>
            </a:pPr>
            <a:r>
              <a:rPr sz="1200" spc="-5" dirty="0">
                <a:latin typeface="Arial"/>
                <a:cs typeface="Arial"/>
              </a:rPr>
              <a:t>High</a:t>
            </a:r>
            <a:r>
              <a:rPr sz="1200" spc="-40" dirty="0">
                <a:latin typeface="Arial"/>
                <a:cs typeface="Arial"/>
              </a:rPr>
              <a:t> </a:t>
            </a:r>
            <a:r>
              <a:rPr sz="1200" spc="-5" dirty="0">
                <a:latin typeface="Arial"/>
                <a:cs typeface="Arial"/>
              </a:rPr>
              <a:t>density</a:t>
            </a:r>
            <a:endParaRPr sz="1200">
              <a:latin typeface="Arial"/>
              <a:cs typeface="Arial"/>
            </a:endParaRPr>
          </a:p>
          <a:p>
            <a:pPr marL="66675" indent="-54610">
              <a:lnSpc>
                <a:spcPts val="1435"/>
              </a:lnSpc>
              <a:buSzPct val="91666"/>
              <a:buChar char="•"/>
              <a:tabLst>
                <a:tab pos="67310" algn="l"/>
              </a:tabLst>
            </a:pPr>
            <a:r>
              <a:rPr sz="1200" dirty="0">
                <a:latin typeface="Arial"/>
                <a:cs typeface="Arial"/>
              </a:rPr>
              <a:t>Low</a:t>
            </a:r>
            <a:r>
              <a:rPr sz="1200" spc="-15" dirty="0">
                <a:latin typeface="Arial"/>
                <a:cs typeface="Arial"/>
              </a:rPr>
              <a:t> </a:t>
            </a:r>
            <a:r>
              <a:rPr sz="1200" dirty="0">
                <a:latin typeface="Arial"/>
                <a:cs typeface="Arial"/>
              </a:rPr>
              <a:t>cost</a:t>
            </a:r>
            <a:endParaRPr sz="1200">
              <a:latin typeface="Arial"/>
              <a:cs typeface="Arial"/>
            </a:endParaRPr>
          </a:p>
          <a:p>
            <a:pPr marL="66675" indent="-54610">
              <a:lnSpc>
                <a:spcPct val="100000"/>
              </a:lnSpc>
              <a:buSzPct val="91666"/>
              <a:buChar char="•"/>
              <a:tabLst>
                <a:tab pos="67310" algn="l"/>
              </a:tabLst>
            </a:pPr>
            <a:r>
              <a:rPr sz="1200" spc="-5" dirty="0">
                <a:latin typeface="Arial"/>
                <a:cs typeface="Arial"/>
              </a:rPr>
              <a:t>High</a:t>
            </a:r>
            <a:r>
              <a:rPr sz="1200" spc="-85" dirty="0">
                <a:latin typeface="Arial"/>
                <a:cs typeface="Arial"/>
              </a:rPr>
              <a:t> </a:t>
            </a:r>
            <a:r>
              <a:rPr sz="1200" dirty="0">
                <a:latin typeface="Arial"/>
                <a:cs typeface="Arial"/>
              </a:rPr>
              <a:t>speed</a:t>
            </a:r>
            <a:endParaRPr sz="1200">
              <a:latin typeface="Arial"/>
              <a:cs typeface="Arial"/>
            </a:endParaRPr>
          </a:p>
          <a:p>
            <a:pPr marL="66675" indent="-54610">
              <a:lnSpc>
                <a:spcPct val="100000"/>
              </a:lnSpc>
              <a:buSzPct val="91666"/>
              <a:buChar char="•"/>
              <a:tabLst>
                <a:tab pos="67310" algn="l"/>
              </a:tabLst>
            </a:pPr>
            <a:r>
              <a:rPr sz="1200" spc="-5" dirty="0">
                <a:latin typeface="Arial"/>
                <a:cs typeface="Arial"/>
              </a:rPr>
              <a:t>High</a:t>
            </a:r>
            <a:r>
              <a:rPr sz="1200" spc="-85" dirty="0">
                <a:latin typeface="Arial"/>
                <a:cs typeface="Arial"/>
              </a:rPr>
              <a:t> </a:t>
            </a:r>
            <a:r>
              <a:rPr sz="1200" dirty="0">
                <a:latin typeface="Arial"/>
                <a:cs typeface="Arial"/>
              </a:rPr>
              <a:t>power</a:t>
            </a:r>
            <a:endParaRPr sz="1200">
              <a:latin typeface="Arial"/>
              <a:cs typeface="Arial"/>
            </a:endParaRPr>
          </a:p>
        </p:txBody>
      </p:sp>
      <p:sp>
        <p:nvSpPr>
          <p:cNvPr id="14" name="object 14"/>
          <p:cNvSpPr txBox="1"/>
          <p:nvPr/>
        </p:nvSpPr>
        <p:spPr>
          <a:xfrm>
            <a:off x="7924801" y="2645409"/>
            <a:ext cx="1684020" cy="633730"/>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Arial"/>
                <a:cs typeface="Arial"/>
              </a:rPr>
              <a:t>FLASH</a:t>
            </a:r>
            <a:endParaRPr sz="1600">
              <a:latin typeface="Arial"/>
              <a:cs typeface="Arial"/>
            </a:endParaRPr>
          </a:p>
          <a:p>
            <a:pPr marL="12700" marR="5080">
              <a:lnSpc>
                <a:spcPts val="1430"/>
              </a:lnSpc>
              <a:spcBef>
                <a:spcPts val="55"/>
              </a:spcBef>
            </a:pPr>
            <a:r>
              <a:rPr sz="1200" b="1" spc="-5" dirty="0">
                <a:latin typeface="Arial"/>
                <a:cs typeface="Arial"/>
              </a:rPr>
              <a:t>Full-Feature  Memory</a:t>
            </a:r>
            <a:r>
              <a:rPr sz="1200" b="1" spc="-45" dirty="0">
                <a:latin typeface="Arial"/>
                <a:cs typeface="Arial"/>
              </a:rPr>
              <a:t> </a:t>
            </a:r>
            <a:r>
              <a:rPr sz="1200" b="1" spc="-5" dirty="0">
                <a:latin typeface="Arial"/>
                <a:cs typeface="Arial"/>
              </a:rPr>
              <a:t>Solution</a:t>
            </a:r>
            <a:endParaRPr sz="1200">
              <a:latin typeface="Arial"/>
              <a:cs typeface="Arial"/>
            </a:endParaRPr>
          </a:p>
        </p:txBody>
      </p:sp>
      <p:sp>
        <p:nvSpPr>
          <p:cNvPr id="15" name="object 15"/>
          <p:cNvSpPr txBox="1"/>
          <p:nvPr/>
        </p:nvSpPr>
        <p:spPr>
          <a:xfrm>
            <a:off x="6427894" y="5669279"/>
            <a:ext cx="2256367" cy="999490"/>
          </a:xfrm>
          <a:prstGeom prst="rect">
            <a:avLst/>
          </a:prstGeom>
        </p:spPr>
        <p:txBody>
          <a:bodyPr vert="horz" wrap="square" lIns="0" tIns="12700" rIns="0" bIns="0" rtlCol="0">
            <a:spAutoFit/>
          </a:bodyPr>
          <a:lstStyle/>
          <a:p>
            <a:pPr marL="12700">
              <a:lnSpc>
                <a:spcPts val="1914"/>
              </a:lnSpc>
              <a:spcBef>
                <a:spcPts val="100"/>
              </a:spcBef>
            </a:pPr>
            <a:r>
              <a:rPr sz="1600" b="1" spc="-5" dirty="0">
                <a:latin typeface="Arial"/>
                <a:cs typeface="Arial"/>
              </a:rPr>
              <a:t>Flash</a:t>
            </a:r>
            <a:r>
              <a:rPr sz="1600" b="1" spc="-20" dirty="0">
                <a:latin typeface="Arial"/>
                <a:cs typeface="Arial"/>
              </a:rPr>
              <a:t> </a:t>
            </a:r>
            <a:r>
              <a:rPr sz="1600" b="1" spc="-5" dirty="0">
                <a:latin typeface="Arial"/>
                <a:cs typeface="Arial"/>
              </a:rPr>
              <a:t>Memory</a:t>
            </a:r>
            <a:endParaRPr sz="1600">
              <a:latin typeface="Arial"/>
              <a:cs typeface="Arial"/>
            </a:endParaRPr>
          </a:p>
          <a:p>
            <a:pPr marL="66675" indent="-54610">
              <a:lnSpc>
                <a:spcPts val="1435"/>
              </a:lnSpc>
              <a:buSzPct val="91666"/>
              <a:buChar char="•"/>
              <a:tabLst>
                <a:tab pos="67310" algn="l"/>
              </a:tabLst>
            </a:pPr>
            <a:r>
              <a:rPr sz="1200" spc="-5" dirty="0">
                <a:latin typeface="Arial"/>
                <a:cs typeface="Arial"/>
              </a:rPr>
              <a:t>Low-cost, </a:t>
            </a:r>
            <a:r>
              <a:rPr sz="1200" dirty="0">
                <a:latin typeface="Arial"/>
                <a:cs typeface="Arial"/>
              </a:rPr>
              <a:t>high</a:t>
            </a:r>
            <a:r>
              <a:rPr sz="1200" spc="-5" dirty="0">
                <a:latin typeface="Arial"/>
                <a:cs typeface="Arial"/>
              </a:rPr>
              <a:t> density</a:t>
            </a:r>
            <a:endParaRPr sz="1200">
              <a:latin typeface="Arial"/>
              <a:cs typeface="Arial"/>
            </a:endParaRPr>
          </a:p>
          <a:p>
            <a:pPr marL="66675" indent="-54610">
              <a:lnSpc>
                <a:spcPct val="100000"/>
              </a:lnSpc>
              <a:buSzPct val="91666"/>
              <a:buChar char="•"/>
              <a:tabLst>
                <a:tab pos="67310" algn="l"/>
              </a:tabLst>
            </a:pPr>
            <a:r>
              <a:rPr sz="1200" spc="-5" dirty="0">
                <a:latin typeface="Arial"/>
                <a:cs typeface="Arial"/>
              </a:rPr>
              <a:t>High </a:t>
            </a:r>
            <a:r>
              <a:rPr sz="1200" dirty="0">
                <a:latin typeface="Arial"/>
                <a:cs typeface="Arial"/>
              </a:rPr>
              <a:t>speed</a:t>
            </a:r>
            <a:r>
              <a:rPr sz="1200" spc="-20" dirty="0">
                <a:latin typeface="Arial"/>
                <a:cs typeface="Arial"/>
              </a:rPr>
              <a:t> </a:t>
            </a:r>
            <a:r>
              <a:rPr sz="1200" spc="-5" dirty="0">
                <a:latin typeface="Arial"/>
                <a:cs typeface="Arial"/>
              </a:rPr>
              <a:t>architecture</a:t>
            </a:r>
            <a:endParaRPr sz="1200">
              <a:latin typeface="Arial"/>
              <a:cs typeface="Arial"/>
            </a:endParaRPr>
          </a:p>
          <a:p>
            <a:pPr marL="66675" indent="-54610">
              <a:lnSpc>
                <a:spcPct val="100000"/>
              </a:lnSpc>
              <a:buSzPct val="91666"/>
              <a:buChar char="•"/>
              <a:tabLst>
                <a:tab pos="67310" algn="l"/>
              </a:tabLst>
            </a:pPr>
            <a:r>
              <a:rPr sz="1200" dirty="0">
                <a:latin typeface="Arial"/>
                <a:cs typeface="Arial"/>
              </a:rPr>
              <a:t>Lower</a:t>
            </a:r>
            <a:r>
              <a:rPr sz="1200" spc="-15" dirty="0">
                <a:latin typeface="Arial"/>
                <a:cs typeface="Arial"/>
              </a:rPr>
              <a:t> </a:t>
            </a:r>
            <a:r>
              <a:rPr sz="1200" dirty="0">
                <a:latin typeface="Arial"/>
                <a:cs typeface="Arial"/>
              </a:rPr>
              <a:t>power</a:t>
            </a:r>
            <a:endParaRPr sz="1200">
              <a:latin typeface="Arial"/>
              <a:cs typeface="Arial"/>
            </a:endParaRPr>
          </a:p>
          <a:p>
            <a:pPr marL="66675" indent="-54610">
              <a:lnSpc>
                <a:spcPct val="100000"/>
              </a:lnSpc>
              <a:buSzPct val="91666"/>
              <a:buChar char="•"/>
              <a:tabLst>
                <a:tab pos="67310" algn="l"/>
              </a:tabLst>
            </a:pPr>
            <a:r>
              <a:rPr sz="1200" spc="-5" dirty="0">
                <a:latin typeface="Arial"/>
                <a:cs typeface="Arial"/>
              </a:rPr>
              <a:t>High</a:t>
            </a:r>
            <a:r>
              <a:rPr sz="1200" dirty="0">
                <a:latin typeface="Arial"/>
                <a:cs typeface="Arial"/>
              </a:rPr>
              <a:t> </a:t>
            </a:r>
            <a:r>
              <a:rPr sz="1200" spc="-5" dirty="0">
                <a:latin typeface="Arial"/>
                <a:cs typeface="Arial"/>
              </a:rPr>
              <a:t>reliability</a:t>
            </a:r>
            <a:endParaRPr sz="1200">
              <a:latin typeface="Arial"/>
              <a:cs typeface="Arial"/>
            </a:endParaRPr>
          </a:p>
        </p:txBody>
      </p:sp>
      <p:sp>
        <p:nvSpPr>
          <p:cNvPr id="16" name="object 16"/>
          <p:cNvSpPr txBox="1"/>
          <p:nvPr/>
        </p:nvSpPr>
        <p:spPr>
          <a:xfrm>
            <a:off x="4572001" y="4404360"/>
            <a:ext cx="642620" cy="197490"/>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Arial"/>
                <a:cs typeface="Arial"/>
              </a:rPr>
              <a:t>D</a:t>
            </a:r>
            <a:r>
              <a:rPr sz="1200" b="1" dirty="0">
                <a:latin typeface="Arial"/>
                <a:cs typeface="Arial"/>
              </a:rPr>
              <a:t>R</a:t>
            </a:r>
            <a:r>
              <a:rPr sz="1200" b="1" spc="-10" dirty="0">
                <a:latin typeface="Arial"/>
                <a:cs typeface="Arial"/>
              </a:rPr>
              <a:t>A</a:t>
            </a:r>
            <a:r>
              <a:rPr sz="1200" b="1" dirty="0">
                <a:latin typeface="Arial"/>
                <a:cs typeface="Arial"/>
              </a:rPr>
              <a:t>M</a:t>
            </a:r>
            <a:endParaRPr sz="1200">
              <a:latin typeface="Arial"/>
              <a:cs typeface="Arial"/>
            </a:endParaRPr>
          </a:p>
        </p:txBody>
      </p:sp>
      <p:sp>
        <p:nvSpPr>
          <p:cNvPr id="17" name="object 17"/>
          <p:cNvSpPr txBox="1"/>
          <p:nvPr/>
        </p:nvSpPr>
        <p:spPr>
          <a:xfrm>
            <a:off x="5791201" y="2405379"/>
            <a:ext cx="916940" cy="579120"/>
          </a:xfrm>
          <a:prstGeom prst="rect">
            <a:avLst/>
          </a:prstGeom>
        </p:spPr>
        <p:txBody>
          <a:bodyPr vert="horz" wrap="square" lIns="0" tIns="12700" rIns="0" bIns="0" rtlCol="0">
            <a:spAutoFit/>
          </a:bodyPr>
          <a:lstStyle/>
          <a:p>
            <a:pPr marL="12700" marR="5080" indent="50800">
              <a:lnSpc>
                <a:spcPct val="151400"/>
              </a:lnSpc>
              <a:spcBef>
                <a:spcPts val="100"/>
              </a:spcBef>
            </a:pPr>
            <a:r>
              <a:rPr sz="1200" b="1" dirty="0">
                <a:latin typeface="Arial"/>
                <a:cs typeface="Arial"/>
              </a:rPr>
              <a:t>EPROM  EE</a:t>
            </a:r>
            <a:r>
              <a:rPr sz="1200" b="1" spc="5" dirty="0">
                <a:latin typeface="Arial"/>
                <a:cs typeface="Arial"/>
              </a:rPr>
              <a:t>P</a:t>
            </a:r>
            <a:r>
              <a:rPr sz="1200" b="1" spc="-10" dirty="0">
                <a:latin typeface="Arial"/>
                <a:cs typeface="Arial"/>
              </a:rPr>
              <a:t>R</a:t>
            </a:r>
            <a:r>
              <a:rPr sz="1200" b="1" spc="5" dirty="0">
                <a:latin typeface="Arial"/>
                <a:cs typeface="Arial"/>
              </a:rPr>
              <a:t>O</a:t>
            </a:r>
            <a:r>
              <a:rPr sz="1200" b="1" dirty="0">
                <a:latin typeface="Arial"/>
                <a:cs typeface="Arial"/>
              </a:rPr>
              <a:t>M</a:t>
            </a:r>
            <a:endParaRPr sz="1200">
              <a:latin typeface="Arial"/>
              <a:cs typeface="Arial"/>
            </a:endParaRPr>
          </a:p>
        </p:txBody>
      </p:sp>
      <p:sp>
        <p:nvSpPr>
          <p:cNvPr id="18" name="object 18"/>
          <p:cNvSpPr txBox="1"/>
          <p:nvPr/>
        </p:nvSpPr>
        <p:spPr>
          <a:xfrm>
            <a:off x="6553200" y="3489959"/>
            <a:ext cx="814493" cy="135935"/>
          </a:xfrm>
          <a:prstGeom prst="rect">
            <a:avLst/>
          </a:prstGeom>
        </p:spPr>
        <p:txBody>
          <a:bodyPr vert="horz" wrap="square" lIns="0" tIns="12700" rIns="0" bIns="0" rtlCol="0">
            <a:spAutoFit/>
          </a:bodyPr>
          <a:lstStyle/>
          <a:p>
            <a:pPr marL="12700">
              <a:lnSpc>
                <a:spcPct val="100000"/>
              </a:lnSpc>
              <a:spcBef>
                <a:spcPts val="100"/>
              </a:spcBef>
            </a:pPr>
            <a:r>
              <a:rPr sz="800" b="1" dirty="0">
                <a:latin typeface="Arial"/>
                <a:cs typeface="Arial"/>
              </a:rPr>
              <a:t>Non-</a:t>
            </a:r>
            <a:r>
              <a:rPr sz="800" b="1" spc="-5" dirty="0">
                <a:latin typeface="Arial"/>
                <a:cs typeface="Arial"/>
              </a:rPr>
              <a:t>v</a:t>
            </a:r>
            <a:r>
              <a:rPr sz="800" b="1" dirty="0">
                <a:latin typeface="Arial"/>
                <a:cs typeface="Arial"/>
              </a:rPr>
              <a:t>o</a:t>
            </a:r>
            <a:r>
              <a:rPr sz="800" b="1" spc="5" dirty="0">
                <a:latin typeface="Arial"/>
                <a:cs typeface="Arial"/>
              </a:rPr>
              <a:t>la</a:t>
            </a:r>
            <a:r>
              <a:rPr sz="800" b="1" spc="-10" dirty="0">
                <a:latin typeface="Arial"/>
                <a:cs typeface="Arial"/>
              </a:rPr>
              <a:t>t</a:t>
            </a:r>
            <a:r>
              <a:rPr sz="800" b="1" spc="5" dirty="0">
                <a:latin typeface="Arial"/>
                <a:cs typeface="Arial"/>
              </a:rPr>
              <a:t>il</a:t>
            </a:r>
            <a:r>
              <a:rPr sz="800" b="1" dirty="0">
                <a:latin typeface="Arial"/>
                <a:cs typeface="Arial"/>
              </a:rPr>
              <a:t>e</a:t>
            </a:r>
            <a:endParaRPr sz="800">
              <a:latin typeface="Arial"/>
              <a:cs typeface="Arial"/>
            </a:endParaRPr>
          </a:p>
        </p:txBody>
      </p:sp>
      <p:sp>
        <p:nvSpPr>
          <p:cNvPr id="19" name="object 19"/>
          <p:cNvSpPr txBox="1"/>
          <p:nvPr/>
        </p:nvSpPr>
        <p:spPr>
          <a:xfrm>
            <a:off x="5975772" y="3870959"/>
            <a:ext cx="1847427" cy="513080"/>
          </a:xfrm>
          <a:prstGeom prst="rect">
            <a:avLst/>
          </a:prstGeom>
        </p:spPr>
        <p:txBody>
          <a:bodyPr vert="horz" wrap="square" lIns="0" tIns="12700" rIns="0" bIns="0" rtlCol="0">
            <a:spAutoFit/>
          </a:bodyPr>
          <a:lstStyle/>
          <a:p>
            <a:pPr marL="12700">
              <a:lnSpc>
                <a:spcPct val="100000"/>
              </a:lnSpc>
              <a:spcBef>
                <a:spcPts val="100"/>
              </a:spcBef>
            </a:pPr>
            <a:r>
              <a:rPr sz="900" b="1" dirty="0">
                <a:latin typeface="Arial"/>
                <a:cs typeface="Arial"/>
              </a:rPr>
              <a:t>FLASH</a:t>
            </a:r>
            <a:endParaRPr sz="900">
              <a:latin typeface="Arial"/>
              <a:cs typeface="Arial"/>
            </a:endParaRPr>
          </a:p>
          <a:p>
            <a:pPr>
              <a:lnSpc>
                <a:spcPct val="100000"/>
              </a:lnSpc>
              <a:spcBef>
                <a:spcPts val="55"/>
              </a:spcBef>
            </a:pPr>
            <a:endParaRPr sz="1100">
              <a:latin typeface="Arial"/>
              <a:cs typeface="Arial"/>
            </a:endParaRPr>
          </a:p>
          <a:p>
            <a:pPr marR="5080" algn="r">
              <a:lnSpc>
                <a:spcPct val="100000"/>
              </a:lnSpc>
            </a:pPr>
            <a:r>
              <a:rPr sz="1200" b="1" dirty="0">
                <a:latin typeface="Arial"/>
                <a:cs typeface="Arial"/>
              </a:rPr>
              <a:t>R</a:t>
            </a:r>
            <a:r>
              <a:rPr sz="1200" b="1" spc="-5" dirty="0">
                <a:latin typeface="Arial"/>
                <a:cs typeface="Arial"/>
              </a:rPr>
              <a:t>O</a:t>
            </a:r>
            <a:r>
              <a:rPr sz="1200" b="1" dirty="0">
                <a:latin typeface="Arial"/>
                <a:cs typeface="Arial"/>
              </a:rPr>
              <a:t>M</a:t>
            </a:r>
            <a:endParaRPr sz="1200">
              <a:latin typeface="Arial"/>
              <a:cs typeface="Arial"/>
            </a:endParaRPr>
          </a:p>
        </p:txBody>
      </p:sp>
      <p:sp>
        <p:nvSpPr>
          <p:cNvPr id="20" name="object 20"/>
          <p:cNvSpPr txBox="1"/>
          <p:nvPr/>
        </p:nvSpPr>
        <p:spPr>
          <a:xfrm>
            <a:off x="5154505" y="3489959"/>
            <a:ext cx="767080" cy="135935"/>
          </a:xfrm>
          <a:prstGeom prst="rect">
            <a:avLst/>
          </a:prstGeom>
        </p:spPr>
        <p:txBody>
          <a:bodyPr vert="horz" wrap="square" lIns="0" tIns="12700" rIns="0" bIns="0" rtlCol="0">
            <a:spAutoFit/>
          </a:bodyPr>
          <a:lstStyle/>
          <a:p>
            <a:pPr marL="12700">
              <a:lnSpc>
                <a:spcPct val="100000"/>
              </a:lnSpc>
              <a:spcBef>
                <a:spcPts val="100"/>
              </a:spcBef>
            </a:pPr>
            <a:r>
              <a:rPr sz="800" b="1" dirty="0">
                <a:latin typeface="Arial"/>
                <a:cs typeface="Arial"/>
              </a:rPr>
              <a:t>Upd</a:t>
            </a:r>
            <a:r>
              <a:rPr sz="800" b="1" spc="-5" dirty="0">
                <a:latin typeface="Arial"/>
                <a:cs typeface="Arial"/>
              </a:rPr>
              <a:t>a</a:t>
            </a:r>
            <a:r>
              <a:rPr sz="800" b="1" dirty="0">
                <a:latin typeface="Arial"/>
                <a:cs typeface="Arial"/>
              </a:rPr>
              <a:t>t</a:t>
            </a:r>
            <a:r>
              <a:rPr sz="800" b="1" spc="-5" dirty="0">
                <a:latin typeface="Arial"/>
                <a:cs typeface="Arial"/>
              </a:rPr>
              <a:t>e</a:t>
            </a:r>
            <a:r>
              <a:rPr sz="800" b="1" spc="5" dirty="0">
                <a:latin typeface="Arial"/>
                <a:cs typeface="Arial"/>
              </a:rPr>
              <a:t>a</a:t>
            </a:r>
            <a:r>
              <a:rPr sz="800" b="1" dirty="0">
                <a:latin typeface="Arial"/>
                <a:cs typeface="Arial"/>
              </a:rPr>
              <a:t>b</a:t>
            </a:r>
            <a:r>
              <a:rPr sz="800" b="1" spc="5" dirty="0">
                <a:latin typeface="Arial"/>
                <a:cs typeface="Arial"/>
              </a:rPr>
              <a:t>l</a:t>
            </a:r>
            <a:r>
              <a:rPr sz="800" b="1" dirty="0">
                <a:latin typeface="Arial"/>
                <a:cs typeface="Arial"/>
              </a:rPr>
              <a:t>e</a:t>
            </a:r>
            <a:endParaRPr sz="800">
              <a:latin typeface="Arial"/>
              <a:cs typeface="Arial"/>
            </a:endParaRPr>
          </a:p>
        </p:txBody>
      </p:sp>
      <p:sp>
        <p:nvSpPr>
          <p:cNvPr id="21" name="object 21"/>
          <p:cNvSpPr txBox="1"/>
          <p:nvPr/>
        </p:nvSpPr>
        <p:spPr>
          <a:xfrm>
            <a:off x="5814906" y="4328159"/>
            <a:ext cx="865293" cy="135935"/>
          </a:xfrm>
          <a:prstGeom prst="rect">
            <a:avLst/>
          </a:prstGeom>
        </p:spPr>
        <p:txBody>
          <a:bodyPr vert="horz" wrap="square" lIns="0" tIns="12700" rIns="0" bIns="0" rtlCol="0">
            <a:spAutoFit/>
          </a:bodyPr>
          <a:lstStyle/>
          <a:p>
            <a:pPr marL="12700">
              <a:lnSpc>
                <a:spcPct val="100000"/>
              </a:lnSpc>
              <a:spcBef>
                <a:spcPts val="100"/>
              </a:spcBef>
            </a:pPr>
            <a:r>
              <a:rPr sz="800" b="1" spc="-5" dirty="0">
                <a:latin typeface="Arial"/>
                <a:cs typeface="Arial"/>
              </a:rPr>
              <a:t>High</a:t>
            </a:r>
            <a:r>
              <a:rPr sz="800" b="1" spc="-35" dirty="0">
                <a:latin typeface="Arial"/>
                <a:cs typeface="Arial"/>
              </a:rPr>
              <a:t> </a:t>
            </a:r>
            <a:r>
              <a:rPr sz="800" b="1" spc="-5" dirty="0">
                <a:latin typeface="Arial"/>
                <a:cs typeface="Arial"/>
              </a:rPr>
              <a:t>Density</a:t>
            </a:r>
            <a:endParaRPr sz="800">
              <a:latin typeface="Arial"/>
              <a:cs typeface="Arial"/>
            </a:endParaRPr>
          </a:p>
        </p:txBody>
      </p:sp>
      <p:sp>
        <p:nvSpPr>
          <p:cNvPr id="22" name="object 22"/>
          <p:cNvSpPr txBox="1">
            <a:spLocks noGrp="1"/>
          </p:cNvSpPr>
          <p:nvPr>
            <p:ph type="title"/>
          </p:nvPr>
        </p:nvSpPr>
        <p:spPr>
          <a:xfrm>
            <a:off x="712893" y="367029"/>
            <a:ext cx="2962487" cy="513080"/>
          </a:xfrm>
          <a:prstGeom prst="rect">
            <a:avLst/>
          </a:prstGeom>
        </p:spPr>
        <p:txBody>
          <a:bodyPr vert="horz" wrap="square" lIns="0" tIns="12700" rIns="0" bIns="0" rtlCol="0">
            <a:spAutoFit/>
          </a:bodyPr>
          <a:lstStyle/>
          <a:p>
            <a:pPr marL="12700">
              <a:lnSpc>
                <a:spcPct val="100000"/>
              </a:lnSpc>
              <a:spcBef>
                <a:spcPts val="100"/>
              </a:spcBef>
            </a:pPr>
            <a:r>
              <a:rPr sz="3200" b="0" u="heavy" spc="-5" dirty="0">
                <a:uFill>
                  <a:solidFill>
                    <a:srgbClr val="000000"/>
                  </a:solidFill>
                </a:uFill>
                <a:latin typeface="Arial"/>
                <a:cs typeface="Arial"/>
              </a:rPr>
              <a:t>C</a:t>
            </a:r>
            <a:r>
              <a:rPr sz="3200" b="0" u="heavy" spc="5" dirty="0">
                <a:uFill>
                  <a:solidFill>
                    <a:srgbClr val="000000"/>
                  </a:solidFill>
                </a:uFill>
                <a:latin typeface="Arial"/>
                <a:cs typeface="Arial"/>
              </a:rPr>
              <a:t>o</a:t>
            </a:r>
            <a:r>
              <a:rPr sz="3200" b="0" u="heavy" dirty="0">
                <a:uFill>
                  <a:solidFill>
                    <a:srgbClr val="000000"/>
                  </a:solidFill>
                </a:uFill>
                <a:latin typeface="Arial"/>
                <a:cs typeface="Arial"/>
              </a:rPr>
              <a:t>m</a:t>
            </a:r>
            <a:r>
              <a:rPr sz="3200" b="0" u="heavy" spc="-5" dirty="0">
                <a:uFill>
                  <a:solidFill>
                    <a:srgbClr val="000000"/>
                  </a:solidFill>
                </a:uFill>
                <a:latin typeface="Arial"/>
                <a:cs typeface="Arial"/>
              </a:rPr>
              <a:t>p</a:t>
            </a:r>
            <a:r>
              <a:rPr sz="3200" b="0" u="heavy" spc="5" dirty="0">
                <a:uFill>
                  <a:solidFill>
                    <a:srgbClr val="000000"/>
                  </a:solidFill>
                </a:uFill>
                <a:latin typeface="Arial"/>
                <a:cs typeface="Arial"/>
              </a:rPr>
              <a:t>a</a:t>
            </a:r>
            <a:r>
              <a:rPr sz="3200" b="0" u="heavy" dirty="0">
                <a:uFill>
                  <a:solidFill>
                    <a:srgbClr val="000000"/>
                  </a:solidFill>
                </a:uFill>
                <a:latin typeface="Arial"/>
                <a:cs typeface="Arial"/>
              </a:rPr>
              <a:t>r</a:t>
            </a:r>
            <a:r>
              <a:rPr sz="3200" b="0" u="heavy" spc="-5" dirty="0">
                <a:uFill>
                  <a:solidFill>
                    <a:srgbClr val="000000"/>
                  </a:solidFill>
                </a:uFill>
                <a:latin typeface="Arial"/>
                <a:cs typeface="Arial"/>
              </a:rPr>
              <a:t>i</a:t>
            </a:r>
            <a:r>
              <a:rPr sz="3200" b="0" u="heavy" spc="5" dirty="0">
                <a:uFill>
                  <a:solidFill>
                    <a:srgbClr val="000000"/>
                  </a:solidFill>
                </a:uFill>
                <a:latin typeface="Arial"/>
                <a:cs typeface="Arial"/>
              </a:rPr>
              <a:t>so</a:t>
            </a:r>
            <a:r>
              <a:rPr sz="3200" b="0" u="heavy" dirty="0">
                <a:uFill>
                  <a:solidFill>
                    <a:srgbClr val="000000"/>
                  </a:solidFill>
                </a:uFill>
                <a:latin typeface="Arial"/>
                <a:cs typeface="Arial"/>
              </a:rPr>
              <a:t>n</a:t>
            </a:r>
            <a:endParaRPr sz="3200">
              <a:latin typeface="Arial"/>
              <a:cs typeface="Aria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smtClean="0">
                <a:latin typeface="Times New Roman" pitchFamily="18" charset="0"/>
                <a:cs typeface="Times New Roman" pitchFamily="18" charset="0"/>
              </a:rPr>
              <a:t>APPLICATIONS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defTabSz="820487">
              <a:spcBef>
                <a:spcPct val="50000"/>
              </a:spcBef>
              <a:buNone/>
            </a:pPr>
            <a:r>
              <a:rPr lang="en-GB" sz="1600" dirty="0" smtClean="0">
                <a:solidFill>
                  <a:prstClr val="black"/>
                </a:solidFill>
                <a:latin typeface="Times New Roman" pitchFamily="18" charset="0"/>
                <a:cs typeface="Times New Roman" pitchFamily="18" charset="0"/>
              </a:rPr>
              <a:t>Computers </a:t>
            </a:r>
          </a:p>
          <a:p>
            <a:pPr defTabSz="820487">
              <a:spcBef>
                <a:spcPct val="50000"/>
              </a:spcBef>
              <a:buNone/>
            </a:pPr>
            <a:r>
              <a:rPr lang="en-GB" sz="1600" dirty="0" smtClean="0">
                <a:solidFill>
                  <a:prstClr val="black"/>
                </a:solidFill>
                <a:latin typeface="Times New Roman" pitchFamily="18" charset="0"/>
                <a:cs typeface="Times New Roman" pitchFamily="18" charset="0"/>
              </a:rPr>
              <a:t>Calculators</a:t>
            </a:r>
          </a:p>
          <a:p>
            <a:pPr defTabSz="820487">
              <a:spcBef>
                <a:spcPct val="50000"/>
              </a:spcBef>
              <a:buNone/>
            </a:pPr>
            <a:r>
              <a:rPr lang="en-GB" sz="1600" dirty="0" smtClean="0">
                <a:solidFill>
                  <a:prstClr val="black"/>
                </a:solidFill>
                <a:latin typeface="Times New Roman" pitchFamily="18" charset="0"/>
                <a:cs typeface="Times New Roman" pitchFamily="18" charset="0"/>
              </a:rPr>
              <a:t> ATM </a:t>
            </a:r>
          </a:p>
          <a:p>
            <a:pPr defTabSz="820487">
              <a:spcBef>
                <a:spcPct val="50000"/>
              </a:spcBef>
              <a:buNone/>
            </a:pPr>
            <a:r>
              <a:rPr lang="en-GB" sz="1600" dirty="0" smtClean="0">
                <a:solidFill>
                  <a:prstClr val="black"/>
                </a:solidFill>
                <a:latin typeface="Times New Roman" pitchFamily="18" charset="0"/>
                <a:cs typeface="Times New Roman" pitchFamily="18" charset="0"/>
              </a:rPr>
              <a:t>Mobile Phone</a:t>
            </a:r>
          </a:p>
          <a:p>
            <a:pPr defTabSz="820487">
              <a:spcBef>
                <a:spcPct val="50000"/>
              </a:spcBef>
              <a:buNone/>
            </a:pPr>
            <a:r>
              <a:rPr lang="en-GB" sz="1600" dirty="0" smtClean="0">
                <a:solidFill>
                  <a:prstClr val="black"/>
                </a:solidFill>
                <a:latin typeface="Times New Roman" pitchFamily="18" charset="0"/>
                <a:cs typeface="Times New Roman" pitchFamily="18" charset="0"/>
              </a:rPr>
              <a:t>Integrated Circuits and so on......</a:t>
            </a:r>
          </a:p>
          <a:p>
            <a:pPr>
              <a:lnSpc>
                <a:spcPct val="150000"/>
              </a:lnSpc>
              <a:buNone/>
            </a:pPr>
            <a:endParaRPr lang="en-US" sz="1600" dirty="0" smtClean="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Tree>
    <p:extLst>
      <p:ext uri="{BB962C8B-B14F-4D97-AF65-F5344CB8AC3E}">
        <p14:creationId xmlns:p14="http://schemas.microsoft.com/office/powerpoint/2010/main" val="14959711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smtClean="0">
                <a:latin typeface="Times New Roman" pitchFamily="18" charset="0"/>
                <a:cs typeface="Times New Roman" pitchFamily="18" charset="0"/>
              </a:rPr>
              <a:t>REFERENCES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
        <p:nvSpPr>
          <p:cNvPr id="9" name="Rectangle 2"/>
          <p:cNvSpPr>
            <a:spLocks noGrp="1" noChangeArrowheads="1"/>
          </p:cNvSpPr>
          <p:nvPr>
            <p:ph idx="1"/>
          </p:nvPr>
        </p:nvSpPr>
        <p:spPr bwMode="auto">
          <a:xfrm>
            <a:off x="838200" y="1825625"/>
            <a:ext cx="10515600" cy="3103165"/>
          </a:xfrm>
          <a:prstGeom prst="rect">
            <a:avLst/>
          </a:prstGeom>
          <a:noFill/>
          <a:ln w="9525">
            <a:noFill/>
            <a:miter lim="800000"/>
            <a:headEnd/>
            <a:tailEnd/>
          </a:ln>
        </p:spPr>
        <p:txBody>
          <a:bodyPr lIns="82048" tIns="41025" rIns="82048" bIns="41025">
            <a:spAutoFit/>
          </a:bodyPr>
          <a:lstStyle/>
          <a:p>
            <a:pPr defTabSz="820487">
              <a:buFontTx/>
              <a:buChar char="•"/>
            </a:pPr>
            <a:r>
              <a:rPr lang="en-US" sz="1600" dirty="0" smtClean="0">
                <a:latin typeface="Times New Roman" pitchFamily="18" charset="0"/>
                <a:ea typeface="Calibri" pitchFamily="34" charset="0"/>
                <a:cs typeface="Times New Roman" pitchFamily="18" charset="0"/>
              </a:rPr>
              <a:t>Floyd &amp; Jain, Digital Fundamentals, Pearson. </a:t>
            </a:r>
          </a:p>
          <a:p>
            <a:pPr defTabSz="820487">
              <a:buFontTx/>
              <a:buChar char="•"/>
            </a:pPr>
            <a:r>
              <a:rPr lang="en-US" sz="1600" dirty="0" err="1" smtClean="0">
                <a:latin typeface="Times New Roman" pitchFamily="18" charset="0"/>
                <a:ea typeface="Calibri" pitchFamily="34" charset="0"/>
                <a:cs typeface="Times New Roman" pitchFamily="18" charset="0"/>
              </a:rPr>
              <a:t>Mano,Morris</a:t>
            </a:r>
            <a:r>
              <a:rPr lang="en-US" sz="1600" dirty="0" smtClean="0">
                <a:latin typeface="Times New Roman" pitchFamily="18" charset="0"/>
                <a:ea typeface="Calibri" pitchFamily="34" charset="0"/>
                <a:cs typeface="Times New Roman" pitchFamily="18" charset="0"/>
              </a:rPr>
              <a:t>, Digital Design, Prentice Hall of India.</a:t>
            </a:r>
            <a:endParaRPr lang="en-US" sz="1600" dirty="0" smtClean="0">
              <a:latin typeface="Times New Roman" pitchFamily="18" charset="0"/>
              <a:cs typeface="Times New Roman" pitchFamily="18" charset="0"/>
            </a:endParaRPr>
          </a:p>
          <a:p>
            <a:pPr defTabSz="820487">
              <a:buFontTx/>
              <a:buChar char="•"/>
            </a:pPr>
            <a:r>
              <a:rPr lang="en-US" sz="1600" dirty="0" smtClean="0">
                <a:latin typeface="Times New Roman" pitchFamily="18" charset="0"/>
                <a:ea typeface="Calibri" pitchFamily="34" charset="0"/>
                <a:cs typeface="Times New Roman" pitchFamily="18" charset="0"/>
              </a:rPr>
              <a:t>Fletcher,  An </a:t>
            </a:r>
            <a:r>
              <a:rPr lang="en-US" sz="1600" dirty="0" err="1" smtClean="0">
                <a:latin typeface="Times New Roman" pitchFamily="18" charset="0"/>
                <a:ea typeface="Calibri" pitchFamily="34" charset="0"/>
                <a:cs typeface="Times New Roman" pitchFamily="18" charset="0"/>
              </a:rPr>
              <a:t>Engg</a:t>
            </a:r>
            <a:r>
              <a:rPr lang="en-US" sz="1600" dirty="0" smtClean="0">
                <a:latin typeface="Times New Roman" pitchFamily="18" charset="0"/>
                <a:ea typeface="Calibri" pitchFamily="34" charset="0"/>
                <a:cs typeface="Times New Roman" pitchFamily="18" charset="0"/>
              </a:rPr>
              <a:t>. Approach to digital design, Prentice Hall of India.</a:t>
            </a:r>
          </a:p>
          <a:p>
            <a:pPr defTabSz="820487">
              <a:buFontTx/>
              <a:buChar char="•"/>
            </a:pPr>
            <a:r>
              <a:rPr lang="en-US" sz="1600" b="1" dirty="0" smtClean="0">
                <a:cs typeface="Times New Roman" pitchFamily="18" charset="0"/>
                <a:hlinkClick r:id="rId2"/>
              </a:rPr>
              <a:t>http</a:t>
            </a:r>
            <a:r>
              <a:rPr lang="en-US" sz="1600" b="1" dirty="0">
                <a:cs typeface="Times New Roman" pitchFamily="18" charset="0"/>
                <a:hlinkClick r:id="rId2"/>
              </a:rPr>
              <a:t>://www.geeksforgeeks.org/digital-electronics-logic-design-tutorials/</a:t>
            </a:r>
            <a:endParaRPr lang="en-US" sz="1600" dirty="0"/>
          </a:p>
          <a:p>
            <a:pPr defTabSz="820487">
              <a:buFontTx/>
              <a:buChar char="•"/>
            </a:pPr>
            <a:r>
              <a:rPr lang="en-US" sz="1600" b="1" dirty="0">
                <a:cs typeface="Times New Roman" pitchFamily="18" charset="0"/>
                <a:hlinkClick r:id="rId3"/>
              </a:rPr>
              <a:t>http://www.ni.com/example/14493/en/</a:t>
            </a:r>
            <a:endParaRPr lang="en-US" sz="1600" dirty="0"/>
          </a:p>
          <a:p>
            <a:pPr defTabSz="820487">
              <a:buFontTx/>
              <a:buChar char="•"/>
            </a:pPr>
            <a:r>
              <a:rPr lang="en-US" sz="1600" b="1" dirty="0">
                <a:cs typeface="Times New Roman" pitchFamily="18" charset="0"/>
                <a:hlinkClick r:id="rId4"/>
              </a:rPr>
              <a:t>http://195.134.76.37/applets/AppletGates/Appl_Gates2.html</a:t>
            </a:r>
            <a:endParaRPr lang="en-US" sz="1600" dirty="0"/>
          </a:p>
          <a:p>
            <a:pPr defTabSz="820487">
              <a:buFontTx/>
              <a:buChar char="•"/>
            </a:pPr>
            <a:r>
              <a:rPr lang="en-US" sz="1600" b="1" dirty="0">
                <a:cs typeface="Times New Roman" pitchFamily="18" charset="0"/>
                <a:hlinkClick r:id="rId5"/>
              </a:rPr>
              <a:t>https://www.allaboutcircuits.com/textbook/digital/</a:t>
            </a:r>
            <a:endParaRPr lang="en-US" sz="1600" dirty="0"/>
          </a:p>
          <a:p>
            <a:pPr defTabSz="820487">
              <a:buFontTx/>
              <a:buChar char="•"/>
            </a:pPr>
            <a:r>
              <a:rPr lang="en-US" sz="1600" b="1" dirty="0">
                <a:cs typeface="Times New Roman" pitchFamily="18" charset="0"/>
                <a:hlinkClick r:id="rId6"/>
              </a:rPr>
              <a:t>https://</a:t>
            </a:r>
            <a:r>
              <a:rPr lang="en-US" sz="1600" b="1" dirty="0" smtClean="0">
                <a:cs typeface="Times New Roman" pitchFamily="18" charset="0"/>
                <a:hlinkClick r:id="rId6"/>
              </a:rPr>
              <a:t>www.tutorialspoint.com/digital_electronics/index.asp</a:t>
            </a:r>
            <a:endParaRPr lang="en-US" sz="1600" b="1" dirty="0" smtClean="0">
              <a:cs typeface="Times New Roman" pitchFamily="18" charset="0"/>
            </a:endParaRPr>
          </a:p>
          <a:p>
            <a:pPr defTabSz="820487">
              <a:buFontTx/>
              <a:buChar char="•"/>
            </a:pPr>
            <a:r>
              <a:rPr lang="en-GB" sz="1600" dirty="0">
                <a:latin typeface="Times New Roman" pitchFamily="18" charset="0"/>
                <a:cs typeface="Times New Roman" pitchFamily="18" charset="0"/>
                <a:hlinkClick r:id="rId7"/>
              </a:rPr>
              <a:t>https://www.tutorialspoint.com/computer_logical_organization/complement_arithmetic.htm</a:t>
            </a:r>
            <a:endParaRPr lang="en-US" sz="1600" dirty="0"/>
          </a:p>
        </p:txBody>
      </p:sp>
    </p:spTree>
    <p:extLst>
      <p:ext uri="{BB962C8B-B14F-4D97-AF65-F5344CB8AC3E}">
        <p14:creationId xmlns:p14="http://schemas.microsoft.com/office/powerpoint/2010/main" val="33619184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9248" name="CorelDRAW" r:id="rId3" imgW="2169000" imgH="2169360" progId="">
                    <p:embed/>
                  </p:oleObj>
                </mc:Choice>
                <mc:Fallback>
                  <p:oleObj name="CorelDRAW" r:id="rId3" imgW="2169000" imgH="2169360" progId="">
                    <p:embed/>
                    <p:pic>
                      <p:nvPicPr>
                        <p:cNvPr id="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1527</TotalTime>
  <Words>2444</Words>
  <Application>Microsoft Office PowerPoint</Application>
  <PresentationFormat>Widescreen</PresentationFormat>
  <Paragraphs>282</Paragraphs>
  <Slides>27</Slides>
  <Notes>0</Notes>
  <HiddenSlides>0</HiddenSlides>
  <MMClips>0</MMClips>
  <ScaleCrop>false</ScaleCrop>
  <HeadingPairs>
    <vt:vector size="8" baseType="variant">
      <vt:variant>
        <vt:lpstr>Fonts Used</vt:lpstr>
      </vt:variant>
      <vt:variant>
        <vt:i4>14</vt:i4>
      </vt:variant>
      <vt:variant>
        <vt:lpstr>Theme</vt:lpstr>
      </vt:variant>
      <vt:variant>
        <vt:i4>3</vt:i4>
      </vt:variant>
      <vt:variant>
        <vt:lpstr>Embedded OLE Servers</vt:lpstr>
      </vt:variant>
      <vt:variant>
        <vt:i4>1</vt:i4>
      </vt:variant>
      <vt:variant>
        <vt:lpstr>Slide Titles</vt:lpstr>
      </vt:variant>
      <vt:variant>
        <vt:i4>27</vt:i4>
      </vt:variant>
    </vt:vector>
  </HeadingPairs>
  <TitlesOfParts>
    <vt:vector size="45" baseType="lpstr">
      <vt:lpstr>Arial</vt:lpstr>
      <vt:lpstr>Arial Black</vt:lpstr>
      <vt:lpstr>Arial Unicode MS</vt:lpstr>
      <vt:lpstr>Calibri</vt:lpstr>
      <vt:lpstr>Calibri Light</vt:lpstr>
      <vt:lpstr>Casper</vt:lpstr>
      <vt:lpstr>Casper Bold</vt:lpstr>
      <vt:lpstr>Karla</vt:lpstr>
      <vt:lpstr>King</vt:lpstr>
      <vt:lpstr>Raavi</vt:lpstr>
      <vt:lpstr>Raleway ExtraBold</vt:lpstr>
      <vt:lpstr>Segoe UI</vt:lpstr>
      <vt:lpstr>Times New Roman</vt:lpstr>
      <vt:lpstr>Wingdings</vt:lpstr>
      <vt:lpstr>1_Office Theme</vt:lpstr>
      <vt:lpstr>Contents Slide Master</vt:lpstr>
      <vt:lpstr>2_Office Theme</vt:lpstr>
      <vt:lpstr>CorelDRAW</vt:lpstr>
      <vt:lpstr>PowerPoint Presentation</vt:lpstr>
      <vt:lpstr>Course Objectives</vt:lpstr>
      <vt:lpstr> </vt:lpstr>
      <vt:lpstr>Semi Conductor Memories </vt:lpstr>
      <vt:lpstr>Memory semiconductor-based integrated circuit</vt:lpstr>
      <vt:lpstr>Role of Memory during Boot-up</vt:lpstr>
      <vt:lpstr>Role of Memory during Boot-up</vt:lpstr>
      <vt:lpstr>Memory semiconductor-based integrated circuit</vt:lpstr>
      <vt:lpstr>Memory Structure</vt:lpstr>
      <vt:lpstr>Computer memory is the storage space in computer where data is to be processed and instructions required for processing are stored.   Computer has 64k words, then this memory unit has 64 * 1024 = 65536 memory location. The address of these locations varies from 0 to 65535.   S/C Memories</vt:lpstr>
      <vt:lpstr>Volatile memory requires power to maintain the stored information</vt:lpstr>
      <vt:lpstr>RAM Random Access Memory</vt:lpstr>
      <vt:lpstr>RAM (Random Access Memory)</vt:lpstr>
      <vt:lpstr>SRAM Static Random Access Memory</vt:lpstr>
      <vt:lpstr>DRAM Dynamic Random Access Memory</vt:lpstr>
      <vt:lpstr>Difference </vt:lpstr>
      <vt:lpstr>Non-volatile Retains the stored information even when not powered</vt:lpstr>
      <vt:lpstr>ROM Read-only memory</vt:lpstr>
      <vt:lpstr>ROM (Read Only Memory)</vt:lpstr>
      <vt:lpstr>PowerPoint Presentation</vt:lpstr>
      <vt:lpstr>PROM Programmable Read Only Memory</vt:lpstr>
      <vt:lpstr>EPROM Erasable Programmable Read Only Memory</vt:lpstr>
      <vt:lpstr>EEPROM Electrically Erasable Programmable Read Only Memory</vt:lpstr>
      <vt:lpstr>Comparison</vt:lpstr>
      <vt:lpstr>APPLICATIONS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INDIAN</cp:lastModifiedBy>
  <cp:revision>147</cp:revision>
  <dcterms:created xsi:type="dcterms:W3CDTF">2019-01-09T10:33:58Z</dcterms:created>
  <dcterms:modified xsi:type="dcterms:W3CDTF">2023-06-19T05:08:31Z</dcterms:modified>
</cp:coreProperties>
</file>