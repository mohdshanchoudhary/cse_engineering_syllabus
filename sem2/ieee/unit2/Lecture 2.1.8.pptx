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  <p:sldMasterId id="2147483702" r:id="rId3"/>
  </p:sldMasterIdLst>
  <p:notesMasterIdLst>
    <p:notesMasterId r:id="rId23"/>
  </p:notesMasterIdLst>
  <p:handoutMasterIdLst>
    <p:handoutMasterId r:id="rId24"/>
  </p:handoutMasterIdLst>
  <p:sldIdLst>
    <p:sldId id="315" r:id="rId4"/>
    <p:sldId id="353" r:id="rId5"/>
    <p:sldId id="354" r:id="rId6"/>
    <p:sldId id="355" r:id="rId7"/>
    <p:sldId id="317" r:id="rId8"/>
    <p:sldId id="344" r:id="rId9"/>
    <p:sldId id="337" r:id="rId10"/>
    <p:sldId id="352" r:id="rId11"/>
    <p:sldId id="345" r:id="rId12"/>
    <p:sldId id="346" r:id="rId13"/>
    <p:sldId id="347" r:id="rId14"/>
    <p:sldId id="348" r:id="rId15"/>
    <p:sldId id="339" r:id="rId16"/>
    <p:sldId id="349" r:id="rId17"/>
    <p:sldId id="350" r:id="rId18"/>
    <p:sldId id="351" r:id="rId19"/>
    <p:sldId id="342" r:id="rId20"/>
    <p:sldId id="343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6/19/2023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0457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4601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3794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50938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0766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3761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3699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192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38817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8638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5197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1" y="0"/>
            <a:ext cx="12211051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1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723384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9A48AB-23F1-45F1-98E5-D2CDC7A5261D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02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43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lectrical4u.com/master-slave-flip-flop/" TargetMode="External"/><Relationship Id="rId13" Type="http://schemas.openxmlformats.org/officeDocument/2006/relationships/hyperlink" Target="https://www.electronics-tutorial.net/sequential-logic-circuits/toggle-flip-flop/" TargetMode="External"/><Relationship Id="rId3" Type="http://schemas.openxmlformats.org/officeDocument/2006/relationships/hyperlink" Target="https://www.electronics-tutorials.ws/sequential/seq_1.html" TargetMode="External"/><Relationship Id="rId7" Type="http://schemas.openxmlformats.org/officeDocument/2006/relationships/hyperlink" Target="https://www.electronicshub.org/jk-flipflop/" TargetMode="External"/><Relationship Id="rId12" Type="http://schemas.openxmlformats.org/officeDocument/2006/relationships/hyperlink" Target="https://www.electronicshub.org/t-flip-flop/" TargetMode="External"/><Relationship Id="rId2" Type="http://schemas.openxmlformats.org/officeDocument/2006/relationships/hyperlink" Target="https://www.google.com/search?q=flip+flops+in+digital+electronics&amp;source=lnms&amp;tbm=isch&amp;sa=X&amp;ved=0ahUKEwjv46Hyu__iAhWMuY8KHVMCAxoQ_AUIESgC&amp;biw=1366&amp;bih=65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llaboutcircuits.com/textbook/digital/chpt-10/s-r-latch/" TargetMode="External"/><Relationship Id="rId11" Type="http://schemas.openxmlformats.org/officeDocument/2006/relationships/hyperlink" Target="http://hades.mech.northwestern.edu/index.php/Flip-Flops_and_Latches" TargetMode="External"/><Relationship Id="rId5" Type="http://schemas.openxmlformats.org/officeDocument/2006/relationships/hyperlink" Target="https://www.electronicshub.org/flip-flops/" TargetMode="External"/><Relationship Id="rId15" Type="http://schemas.openxmlformats.org/officeDocument/2006/relationships/hyperlink" Target="https://www.quora.com/What-is-the-function-of-flip-flops" TargetMode="External"/><Relationship Id="rId10" Type="http://schemas.openxmlformats.org/officeDocument/2006/relationships/hyperlink" Target="https://www.electricaltechnology.org/2019/09/digital-flip-flop-and-latches-symbols.html" TargetMode="External"/><Relationship Id="rId4" Type="http://schemas.openxmlformats.org/officeDocument/2006/relationships/hyperlink" Target="https://www.geeksforgeeks.org/introduction-of-sequential-circuits/" TargetMode="External"/><Relationship Id="rId9" Type="http://schemas.openxmlformats.org/officeDocument/2006/relationships/hyperlink" Target="https://www.gatevidyalay.com/flip-flops-in-electronics/" TargetMode="External"/><Relationship Id="rId14" Type="http://schemas.openxmlformats.org/officeDocument/2006/relationships/hyperlink" Target="https://www.electronicshub.org/flip-flop-applications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7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44229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J-K &amp; T Flip Flop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82714" y="1703603"/>
            <a:ext cx="9063318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Unit-2 Chapter-2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and Sequential Circuits</a:t>
            </a:r>
            <a:r>
              <a:rPr lang="en-IN" sz="2000" b="1" dirty="0"/>
              <a:t>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2.1.8</a:t>
            </a:r>
            <a:endParaRPr 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53400" y="5624513"/>
            <a:ext cx="2057400" cy="273844"/>
          </a:xfrm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968717" y="1288630"/>
            <a:ext cx="334242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>
                <a:latin typeface="Casper"/>
              </a:rPr>
              <a:t>Lecture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9936958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/>
          </p:nvPr>
        </p:nvGraphicFramePr>
        <p:xfrm>
          <a:off x="1968715" y="2519630"/>
          <a:ext cx="4767364" cy="1557253"/>
        </p:xfrm>
        <a:graphic>
          <a:graphicData uri="http://schemas.openxmlformats.org/drawingml/2006/table">
            <a:tbl>
              <a:tblPr firstRow="1" firstCol="1" bandRow="1"/>
              <a:tblGrid>
                <a:gridCol w="40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1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0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the derivation of logic 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the design of Sequential Circuits.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implementation of 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Sequential Circuits.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101252"/>
                  </a:ext>
                </a:extLst>
              </a:tr>
              <a:tr h="3869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learn about design of </a:t>
                      </a:r>
                      <a:r>
                        <a:rPr lang="en-US" sz="9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different</a:t>
                      </a:r>
                      <a:r>
                        <a:rPr lang="en-US" sz="9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design of Sequential Circuits.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D3E7CA57-4866-463C-94EE-F4DCD8953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0756" y="2053219"/>
            <a:ext cx="3349576" cy="20351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7113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53400" y="5624513"/>
            <a:ext cx="2057400" cy="273844"/>
          </a:xfrm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608865" y="1046791"/>
            <a:ext cx="3342425" cy="100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300" b="1" dirty="0">
                <a:latin typeface="Casper"/>
              </a:rPr>
              <a:t>Course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9936958" y="5600701"/>
            <a:ext cx="333375" cy="31670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2" descr="https://executivefunctioningsuccess.com/wp-content/uploads/2010/06/analog-vs-digital.png">
            <a:extLst>
              <a:ext uri="{FF2B5EF4-FFF2-40B4-BE49-F238E27FC236}">
                <a16:creationId xmlns:a16="http://schemas.microsoft.com/office/drawing/2014/main" id="{2CED8DF6-0B67-41AC-8AA1-CCD94D5EE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0756" y="2053219"/>
            <a:ext cx="3349576" cy="2035139"/>
          </a:xfrm>
          <a:prstGeom prst="rect">
            <a:avLst/>
          </a:prstGeom>
          <a:noFill/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00350" y="2434591"/>
          <a:ext cx="4878977" cy="2792185"/>
        </p:xfrm>
        <a:graphic>
          <a:graphicData uri="http://schemas.openxmlformats.org/drawingml/2006/table">
            <a:tbl>
              <a:tblPr firstRow="1" firstCol="1" bandRow="1"/>
              <a:tblGrid>
                <a:gridCol w="415602">
                  <a:extLst>
                    <a:ext uri="{9D8B030D-6E8A-4147-A177-3AD203B41FA5}">
                      <a16:colId xmlns:a16="http://schemas.microsoft.com/office/drawing/2014/main" val="4074303963"/>
                    </a:ext>
                  </a:extLst>
                </a:gridCol>
                <a:gridCol w="4463375">
                  <a:extLst>
                    <a:ext uri="{9D8B030D-6E8A-4147-A177-3AD203B41FA5}">
                      <a16:colId xmlns:a16="http://schemas.microsoft.com/office/drawing/2014/main" val="805906204"/>
                    </a:ext>
                  </a:extLst>
                </a:gridCol>
              </a:tblGrid>
              <a:tr h="512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892665"/>
                  </a:ext>
                </a:extLst>
              </a:tr>
              <a:tr h="759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15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15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7693"/>
                  </a:ext>
                </a:extLst>
              </a:tr>
              <a:tr h="15195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15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15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15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0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06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62325" y="1756035"/>
            <a:ext cx="5141641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  <a:t/>
            </a:r>
            <a:br>
              <a:rPr lang="en-US" sz="4400" b="1" dirty="0">
                <a:latin typeface="Casper Bold"/>
                <a:ea typeface="Karla" pitchFamily="2" charset="0"/>
                <a:cs typeface="Times New Roman" pitchFamily="18" charset="0"/>
              </a:rPr>
            </a:br>
            <a:endParaRPr lang="en-US" sz="4400" b="1" dirty="0">
              <a:latin typeface="Casper Bold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629324" y="4676503"/>
            <a:ext cx="1202551" cy="461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49442" y="1162594"/>
            <a:ext cx="4689564" cy="399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/>
          <p:cNvSpPr/>
          <p:nvPr/>
        </p:nvSpPr>
        <p:spPr>
          <a:xfrm>
            <a:off x="8127543" y="5465025"/>
            <a:ext cx="2886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 Bold"/>
                <a:ea typeface="Karla" pitchFamily="2" charset="0"/>
                <a:cs typeface="Times New Roman" pitchFamily="18" charset="0"/>
              </a:rPr>
              <a:t>SEQUENTIAL CIRCUITS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1537" y="1036710"/>
            <a:ext cx="41975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Course Outcome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1825625"/>
          <a:ext cx="5716112" cy="4379234"/>
        </p:xfrm>
        <a:graphic>
          <a:graphicData uri="http://schemas.openxmlformats.org/drawingml/2006/table">
            <a:tbl>
              <a:tblPr firstRow="1" firstCol="1" bandRow="1"/>
              <a:tblGrid>
                <a:gridCol w="475839">
                  <a:extLst>
                    <a:ext uri="{9D8B030D-6E8A-4147-A177-3AD203B41FA5}">
                      <a16:colId xmlns:a16="http://schemas.microsoft.com/office/drawing/2014/main" val="4121044399"/>
                    </a:ext>
                  </a:extLst>
                </a:gridCol>
                <a:gridCol w="4477126">
                  <a:extLst>
                    <a:ext uri="{9D8B030D-6E8A-4147-A177-3AD203B41FA5}">
                      <a16:colId xmlns:a16="http://schemas.microsoft.com/office/drawing/2014/main" val="2729533820"/>
                    </a:ext>
                  </a:extLst>
                </a:gridCol>
                <a:gridCol w="763147">
                  <a:extLst>
                    <a:ext uri="{9D8B030D-6E8A-4147-A177-3AD203B41FA5}">
                      <a16:colId xmlns:a16="http://schemas.microsoft.com/office/drawing/2014/main" val="3842764005"/>
                    </a:ext>
                  </a:extLst>
                </a:gridCol>
              </a:tblGrid>
              <a:tr h="4720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366342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409901"/>
                  </a:ext>
                </a:extLst>
              </a:tr>
              <a:tr h="984069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195693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279591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319730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9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5715" marR="5715" marT="571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06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04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26572" y="1214846"/>
            <a:ext cx="518595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  <a:t>SEQUENTIAL CIRCUITS</a:t>
            </a:r>
            <a:br>
              <a:rPr lang="en-US" sz="4400" b="1" dirty="0" smtClean="0">
                <a:latin typeface="Casper Bold"/>
                <a:ea typeface="Karla" pitchFamily="2" charset="0"/>
                <a:cs typeface="Times New Roman" pitchFamily="18" charset="0"/>
              </a:rPr>
            </a:br>
            <a:endParaRPr lang="en-US" sz="4400" dirty="0">
              <a:latin typeface="Casper Bold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3148" y="3631716"/>
            <a:ext cx="4322762" cy="25209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5778" y="3946683"/>
            <a:ext cx="436315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 smtClean="0">
                <a:latin typeface="Casper"/>
                <a:cs typeface="Times New Roman" pitchFamily="18" charset="0"/>
              </a:rPr>
              <a:t>JK Flip Flop in detail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800" dirty="0" smtClean="0">
                <a:latin typeface="Casper"/>
                <a:cs typeface="Times New Roman" pitchFamily="18" charset="0"/>
              </a:rPr>
              <a:t>T Flip Flop in detail </a:t>
            </a:r>
          </a:p>
        </p:txBody>
      </p:sp>
      <p:pic>
        <p:nvPicPr>
          <p:cNvPr id="53250" name="Picture 2" descr="sequential logic represen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368" y="782988"/>
            <a:ext cx="5820274" cy="274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sper Bold"/>
              </a:rPr>
              <a:t>JK FLIP FLOP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 basic S-R </a:t>
            </a:r>
            <a:r>
              <a:rPr lang="en-US" dirty="0" smtClean="0"/>
              <a:t>flip-flop suffers </a:t>
            </a:r>
            <a:r>
              <a:rPr lang="en-US" dirty="0"/>
              <a:t>from two basic switching problems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 smtClean="0"/>
              <a:t>S</a:t>
            </a:r>
            <a:r>
              <a:rPr lang="en-US" dirty="0"/>
              <a:t> = R = </a:t>
            </a:r>
            <a:r>
              <a:rPr lang="en-US" dirty="0" smtClean="0"/>
              <a:t>0, </a:t>
            </a:r>
            <a:r>
              <a:rPr lang="en-US" dirty="0"/>
              <a:t>must always be </a:t>
            </a:r>
            <a:r>
              <a:rPr lang="en-US" dirty="0" smtClean="0"/>
              <a:t>avoided. </a:t>
            </a:r>
            <a:endParaRPr lang="en-US" dirty="0"/>
          </a:p>
          <a:p>
            <a:pPr lvl="1" algn="just"/>
            <a:r>
              <a:rPr lang="en-US" dirty="0" smtClean="0"/>
              <a:t>If </a:t>
            </a:r>
            <a:r>
              <a:rPr lang="en-US" dirty="0"/>
              <a:t>Set or Reset change state while the enable (EN) input is high the correct latching action may not </a:t>
            </a:r>
            <a:r>
              <a:rPr lang="en-US" dirty="0" smtClean="0"/>
              <a:t>occur. </a:t>
            </a:r>
            <a:endParaRPr lang="en-US" dirty="0"/>
          </a:p>
          <a:p>
            <a:pPr algn="just"/>
            <a:r>
              <a:rPr lang="en-US" dirty="0" smtClean="0"/>
              <a:t>To overcome </a:t>
            </a:r>
            <a:r>
              <a:rPr lang="en-US" dirty="0"/>
              <a:t>these two fundamental design problems with the SR flip-flop design, the </a:t>
            </a:r>
            <a:r>
              <a:rPr lang="en-US" b="1" dirty="0"/>
              <a:t>JK flip Flop</a:t>
            </a:r>
            <a:r>
              <a:rPr lang="en-US" dirty="0"/>
              <a:t> was developed.</a:t>
            </a:r>
          </a:p>
          <a:p>
            <a:pPr algn="just"/>
            <a:r>
              <a:rPr lang="en-US" dirty="0"/>
              <a:t>The difference this time is that the “JK flip flop” has </a:t>
            </a:r>
            <a:r>
              <a:rPr lang="en-US" b="1" dirty="0"/>
              <a:t>no invalid or forbidden input states </a:t>
            </a:r>
            <a:r>
              <a:rPr lang="en-US" dirty="0"/>
              <a:t>of the SR </a:t>
            </a:r>
            <a:r>
              <a:rPr lang="en-US" dirty="0" smtClean="0"/>
              <a:t>Latch. </a:t>
            </a:r>
          </a:p>
          <a:p>
            <a:pPr algn="just"/>
            <a:r>
              <a:rPr lang="en-US" dirty="0"/>
              <a:t>The </a:t>
            </a:r>
            <a:r>
              <a:rPr lang="en-US" b="1" dirty="0"/>
              <a:t>JK flip flop</a:t>
            </a:r>
            <a:r>
              <a:rPr lang="en-US" dirty="0"/>
              <a:t> is basically a gated SR flip-flop with the addition of a clock input circuitry that prevents the illegal or invalid output </a:t>
            </a:r>
            <a:r>
              <a:rPr lang="en-US" dirty="0" smtClean="0"/>
              <a:t>condition.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09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JK FLIP FLOP WORKING </a:t>
            </a:r>
            <a:endParaRPr lang="en-IN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3490" name="Picture 2" descr="jk flip flop symb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312" y="1744133"/>
            <a:ext cx="9289498" cy="379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259580" y="5788759"/>
            <a:ext cx="5528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sper"/>
              </a:rPr>
              <a:t>Figure 1 JK Flip Flop Logic Diagram </a:t>
            </a:r>
            <a:endParaRPr lang="en-US" sz="20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424519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133" y="352425"/>
            <a:ext cx="7874000" cy="5776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347885" y="6305510"/>
            <a:ext cx="4336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2 JK Flip Flop Truth Table</a:t>
            </a:r>
            <a:endParaRPr lang="en-US" sz="1600" dirty="0">
              <a:latin typeface="Casp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5" descr="jk ms ti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71" y="1730291"/>
            <a:ext cx="9732396" cy="338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044159" y="5808190"/>
            <a:ext cx="463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 3 JK Flip Flop Switching Diagram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43103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per Bold"/>
              </a:rPr>
              <a:t>NAND GATE JK FLIP FLOP</a:t>
            </a:r>
            <a:endParaRPr lang="en-IN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3250" name="Picture 2" descr="JK Flip-Flop Circuit Diagram, Truth Table and Working Explain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54" y="1725172"/>
            <a:ext cx="6415487" cy="3659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Picture 4" descr="How to design a JK flip-flop using NOR gates that are activated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8197" y="1126947"/>
            <a:ext cx="4517737" cy="412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726147" y="5542901"/>
            <a:ext cx="463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 4 JK Flip Flop NAND gate Diagram </a:t>
            </a:r>
            <a:endParaRPr lang="en-US" sz="1600" dirty="0">
              <a:latin typeface="Casp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55976" y="5542901"/>
            <a:ext cx="4636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5 </a:t>
            </a:r>
            <a:r>
              <a:rPr lang="en-US" sz="1600" dirty="0">
                <a:latin typeface="Casper"/>
              </a:rPr>
              <a:t>JK Flip Flop NAND gate </a:t>
            </a:r>
            <a:r>
              <a:rPr lang="en-US" sz="1600" dirty="0" smtClean="0">
                <a:latin typeface="Casper"/>
              </a:rPr>
              <a:t>Truth Table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402987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per Bold"/>
              </a:rPr>
              <a:t>ADVANTAGES AND DISADVANTAGES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Advantages</a:t>
            </a:r>
          </a:p>
          <a:p>
            <a:pPr lvl="1"/>
            <a:r>
              <a:rPr lang="en-US" dirty="0" smtClean="0"/>
              <a:t>There is no invalid </a:t>
            </a:r>
            <a:r>
              <a:rPr lang="en-US" dirty="0"/>
              <a:t>states and the JK flip-flop can operate as a set/reset flip-flop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When </a:t>
            </a:r>
            <a:r>
              <a:rPr lang="en-US" dirty="0"/>
              <a:t>the two inputs are tied together, the JK flip-flop can act as a T flip-flop that is widely used in binary counters</a:t>
            </a:r>
            <a:r>
              <a:rPr lang="en-US" dirty="0" smtClean="0"/>
              <a:t>.</a:t>
            </a:r>
            <a:r>
              <a:rPr lang="en-US" dirty="0"/>
              <a:t> </a:t>
            </a:r>
          </a:p>
          <a:p>
            <a:r>
              <a:rPr lang="en-US" b="1" dirty="0" smtClean="0"/>
              <a:t>Disadvantages</a:t>
            </a:r>
            <a:endParaRPr lang="en-US" b="1" dirty="0"/>
          </a:p>
          <a:p>
            <a:pPr lvl="1"/>
            <a:r>
              <a:rPr lang="en-US" dirty="0" smtClean="0"/>
              <a:t>When </a:t>
            </a:r>
            <a:r>
              <a:rPr lang="en-US" dirty="0"/>
              <a:t>both the inputs and clock pulse signal are at level 1 after the output is complemented once, output transmission will start getting repeated and continuous. This results in a </a:t>
            </a:r>
            <a:r>
              <a:rPr lang="en-US" i="1" u="sng" dirty="0"/>
              <a:t>raised condition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5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sper Bold"/>
              </a:rPr>
              <a:t>T FLIP FLOP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 flip – flop is also known as “Toggle Flip – flop”.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avoid the occurrence of intermediate state in SR flip – flop, we should provide only one input to the flip – flop called Trigger input or Toggle input (T). </a:t>
            </a:r>
            <a:endParaRPr lang="en-US" dirty="0" smtClean="0"/>
          </a:p>
          <a:p>
            <a:r>
              <a:rPr lang="en-US" dirty="0" smtClean="0"/>
              <a:t>Then </a:t>
            </a:r>
            <a:r>
              <a:rPr lang="en-US" dirty="0"/>
              <a:t>the flip – flop acts as a Toggle switch. </a:t>
            </a:r>
            <a:endParaRPr lang="en-US" dirty="0" smtClean="0"/>
          </a:p>
          <a:p>
            <a:r>
              <a:rPr lang="en-US" dirty="0" smtClean="0"/>
              <a:t>Toggling </a:t>
            </a:r>
            <a:r>
              <a:rPr lang="en-US" dirty="0"/>
              <a:t>means ‘Changing the next state output to complement of the present state output’.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9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T FLIP FLOP WORKING </a:t>
            </a:r>
            <a:endParaRPr lang="en-IN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8610" name="Picture 2" descr="Circuit diagram of T flip - flop using SR lat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67" y="2117550"/>
            <a:ext cx="6374249" cy="339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612" name="Picture 4" descr="tf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476" y="1975556"/>
            <a:ext cx="5857524" cy="353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40776" y="5873928"/>
            <a:ext cx="5308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6 T Flip Flop Logic Diagram</a:t>
            </a:r>
            <a:endParaRPr lang="en-US" sz="1600" dirty="0">
              <a:latin typeface="Casp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34476" y="5858023"/>
            <a:ext cx="50937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 7 T Flip Flop Truth Table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64113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8" descr="T_FF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56"/>
          <a:stretch/>
        </p:blipFill>
        <p:spPr bwMode="auto">
          <a:xfrm>
            <a:off x="1790698" y="1891805"/>
            <a:ext cx="8763651" cy="310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85631" y="5369096"/>
            <a:ext cx="5308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asper"/>
              </a:rPr>
              <a:t>Figure 8 T Flip Flop Logic Diagram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346885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per Bold"/>
              </a:rPr>
              <a:t>ADVANTAGES AND DISADVANTAGES 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Advantages</a:t>
            </a:r>
          </a:p>
          <a:p>
            <a:pPr lvl="1" fontAlgn="base"/>
            <a:r>
              <a:rPr lang="en-US" dirty="0" smtClean="0"/>
              <a:t>These </a:t>
            </a:r>
            <a:r>
              <a:rPr lang="en-US" dirty="0"/>
              <a:t>Flip-Flops has a toggle input and a clock. When a clock is triggered it inverts the value of Flip-Flops.</a:t>
            </a:r>
          </a:p>
          <a:p>
            <a:pPr lvl="1" fontAlgn="base"/>
            <a:r>
              <a:rPr lang="en-US" dirty="0"/>
              <a:t>They are good for counters.</a:t>
            </a:r>
          </a:p>
          <a:p>
            <a:pPr fontAlgn="base"/>
            <a:r>
              <a:rPr lang="en-US" b="1" dirty="0" smtClean="0"/>
              <a:t>Disadvantages</a:t>
            </a:r>
            <a:endParaRPr lang="en-US" b="1" dirty="0"/>
          </a:p>
          <a:p>
            <a:pPr lvl="1" fontAlgn="base"/>
            <a:r>
              <a:rPr lang="en-US" dirty="0"/>
              <a:t>The state of Flip-Flop is known only when the previous state is known.</a:t>
            </a:r>
          </a:p>
          <a:p>
            <a:pPr lvl="1" fontAlgn="base"/>
            <a:r>
              <a:rPr lang="en-US" dirty="0"/>
              <a:t>They are not available as IC’s, hence they are constructed using JK Flip-Flop, D Flip-Flop </a:t>
            </a:r>
            <a:r>
              <a:rPr lang="en-US" dirty="0" smtClean="0"/>
              <a:t>etc. </a:t>
            </a:r>
            <a:endParaRPr lang="en-US" dirty="0"/>
          </a:p>
          <a:p>
            <a:pPr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5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ASSESSMENT PATTERN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</a:t>
            </a:r>
            <a:r>
              <a:rPr lang="en-US" dirty="0" smtClean="0"/>
              <a:t>JK flip-flop.</a:t>
            </a:r>
          </a:p>
          <a:p>
            <a:r>
              <a:rPr lang="en-US" dirty="0"/>
              <a:t>Explain </a:t>
            </a:r>
            <a:r>
              <a:rPr lang="en-US" dirty="0" smtClean="0"/>
              <a:t>NAND gate JK </a:t>
            </a:r>
            <a:r>
              <a:rPr lang="en-US" dirty="0"/>
              <a:t>flip-flop</a:t>
            </a:r>
            <a:r>
              <a:rPr lang="en-US" dirty="0" smtClean="0"/>
              <a:t>.</a:t>
            </a:r>
          </a:p>
          <a:p>
            <a:r>
              <a:rPr lang="en-US" dirty="0"/>
              <a:t>For the clocked </a:t>
            </a:r>
            <a:r>
              <a:rPr lang="en-US" dirty="0" smtClean="0"/>
              <a:t>JK </a:t>
            </a:r>
            <a:r>
              <a:rPr lang="en-US" dirty="0"/>
              <a:t>flip-flop </a:t>
            </a:r>
            <a:r>
              <a:rPr lang="en-US" dirty="0" smtClean="0"/>
              <a:t>write </a:t>
            </a:r>
            <a:r>
              <a:rPr lang="en-US" dirty="0"/>
              <a:t>the state table, draw the state diagram and the state equation</a:t>
            </a:r>
            <a:r>
              <a:rPr lang="en-US" dirty="0" smtClean="0"/>
              <a:t>.</a:t>
            </a:r>
          </a:p>
          <a:p>
            <a:r>
              <a:rPr lang="en-US" dirty="0"/>
              <a:t>For the clocked </a:t>
            </a:r>
            <a:r>
              <a:rPr lang="en-US" dirty="0" smtClean="0"/>
              <a:t>T </a:t>
            </a:r>
            <a:r>
              <a:rPr lang="en-US" dirty="0"/>
              <a:t>flip-flop writ the state table, draw the state diagram and the state equation. </a:t>
            </a:r>
            <a:endParaRPr lang="en-US" dirty="0" smtClean="0"/>
          </a:p>
          <a:p>
            <a:r>
              <a:rPr lang="en-US" dirty="0"/>
              <a:t>Explain triggering of flip-flops with </a:t>
            </a:r>
            <a:r>
              <a:rPr lang="en-US" dirty="0" smtClean="0"/>
              <a:t>waveform.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2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APPLICATIONS 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Registers</a:t>
            </a:r>
          </a:p>
          <a:p>
            <a:r>
              <a:rPr lang="en-IN" dirty="0"/>
              <a:t>RAM (Random Access Memory)</a:t>
            </a:r>
          </a:p>
          <a:p>
            <a:r>
              <a:rPr lang="en-US" dirty="0"/>
              <a:t>Counters</a:t>
            </a:r>
          </a:p>
          <a:p>
            <a:r>
              <a:rPr lang="en-US" dirty="0" smtClean="0"/>
              <a:t>Frequency </a:t>
            </a:r>
            <a:r>
              <a:rPr lang="en-US" dirty="0"/>
              <a:t>Divider circuits</a:t>
            </a:r>
          </a:p>
          <a:p>
            <a:r>
              <a:rPr lang="en-US" dirty="0"/>
              <a:t>Data </a:t>
            </a:r>
            <a:r>
              <a:rPr lang="en-US" dirty="0" smtClean="0"/>
              <a:t>transfer [13] </a:t>
            </a:r>
          </a:p>
          <a:p>
            <a:r>
              <a:rPr lang="en-US" dirty="0"/>
              <a:t>Static RAM</a:t>
            </a:r>
          </a:p>
          <a:p>
            <a:r>
              <a:rPr lang="en-US" dirty="0"/>
              <a:t>Microprocessor registers &amp; latches</a:t>
            </a:r>
          </a:p>
          <a:p>
            <a:r>
              <a:rPr lang="en-US" dirty="0"/>
              <a:t>Shift registers</a:t>
            </a:r>
          </a:p>
          <a:p>
            <a:r>
              <a:rPr lang="en-US" dirty="0"/>
              <a:t>Counters</a:t>
            </a:r>
          </a:p>
          <a:p>
            <a:r>
              <a:rPr lang="en-US" dirty="0" smtClean="0"/>
              <a:t>Switch </a:t>
            </a:r>
            <a:r>
              <a:rPr lang="en-US" dirty="0" err="1"/>
              <a:t>debouncing</a:t>
            </a:r>
            <a:endParaRPr lang="en-US" dirty="0"/>
          </a:p>
          <a:p>
            <a:r>
              <a:rPr lang="en-US" dirty="0"/>
              <a:t>Oscillators</a:t>
            </a:r>
          </a:p>
          <a:p>
            <a:r>
              <a:rPr lang="en-US" dirty="0"/>
              <a:t>Signal conditioning and </a:t>
            </a:r>
            <a:r>
              <a:rPr lang="en-US" dirty="0" smtClean="0"/>
              <a:t>synchronization 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Casper Bold"/>
              </a:rPr>
              <a:t>REFERENCES</a:t>
            </a:r>
            <a:endParaRPr lang="en-IN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6419"/>
          </a:xfrm>
        </p:spPr>
        <p:txBody>
          <a:bodyPr>
            <a:normAutofit fontScale="47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u="sng" dirty="0">
                <a:hlinkClick r:id="rId2"/>
              </a:rPr>
              <a:t>https://www.google.com/search?q=flip+flops+in+digital+electronics&amp;source=lnms&amp;tbm=isch&amp;sa=X&amp;ved=0ahUKEwjv46Hyu__iAhWMuY8KHVMCAxoQ_AUIESgC&amp;biw=1366&amp;bih=657#imgrc=Jr0JsbzuxbBXUM: 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3"/>
              </a:rPr>
              <a:t>https://www.electronics-tutorials.ws/sequential/seq_1.html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4"/>
              </a:rPr>
              <a:t>https://www.geeksforgeeks.org/introduction-of-sequential-circuits/#:~:text=Combinational%20circuit%20produces%20an%20output,capable%20of%20storing%20binary%20information.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5"/>
              </a:rPr>
              <a:t>https://www.electronicshub.org/flip-flops/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6"/>
              </a:rPr>
              <a:t>https://www.allaboutcircuits.com/textbook/digital/chpt-10/s-r-latch/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7"/>
              </a:rPr>
              <a:t>https://www.electronicshub.org/jk-flipflop/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8"/>
              </a:rPr>
              <a:t>https://www.electrical4u.com/master-slave-flip-flop/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9"/>
              </a:rPr>
              <a:t>https://www.gatevidyalay.com/flip-flops-in-electronics/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0"/>
              </a:rPr>
              <a:t>https://www.electricaltechnology.org/2019/09/digital-flip-flop-and-latches-symbols.html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1"/>
              </a:rPr>
              <a:t>http://hades.mech.northwestern.edu/index.php/Flip-Flops_and_Latches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2"/>
              </a:rPr>
              <a:t>https://www.electronicshub.org/t-flip-flop/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3"/>
              </a:rPr>
              <a:t>https://www.electronics-tutorial.net/sequential-logic-circuits/toggle-flip-flop/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4"/>
              </a:rPr>
              <a:t>https://www.electronicshub.org/flip-flop-applications/</a:t>
            </a:r>
            <a:endParaRPr lang="en-IN" dirty="0"/>
          </a:p>
          <a:p>
            <a:pPr marL="514350" lvl="0" indent="-514350">
              <a:buFont typeface="+mj-lt"/>
              <a:buAutoNum type="arabicPeriod"/>
            </a:pPr>
            <a:r>
              <a:rPr lang="en-IN" u="sng" dirty="0">
                <a:hlinkClick r:id="rId15"/>
              </a:rPr>
              <a:t>https://</a:t>
            </a:r>
            <a:r>
              <a:rPr lang="en-IN" u="sng" dirty="0" smtClean="0">
                <a:hlinkClick r:id="rId15"/>
              </a:rPr>
              <a:t>www.quora.com/What-is-the-function-of-flip-flops</a:t>
            </a:r>
            <a:endParaRPr lang="en-IN" u="sng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>
                <a:latin typeface="Casper"/>
                <a:ea typeface="Calibri" pitchFamily="34" charset="0"/>
                <a:cs typeface="Times New Roman" pitchFamily="18" charset="0"/>
              </a:rPr>
              <a:t>Floyd </a:t>
            </a:r>
            <a:r>
              <a:rPr lang="en-US" dirty="0">
                <a:latin typeface="Casper"/>
                <a:ea typeface="Calibri" pitchFamily="34" charset="0"/>
                <a:cs typeface="Times New Roman" pitchFamily="18" charset="0"/>
              </a:rPr>
              <a:t>&amp; Jain, Digital Fundamentals, Pearson. </a:t>
            </a:r>
            <a:endParaRPr lang="en-US" dirty="0" smtClean="0">
              <a:latin typeface="Casper"/>
              <a:ea typeface="Calibri" pitchFamily="34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 err="1" smtClean="0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dirty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</a:t>
            </a:r>
            <a:r>
              <a:rPr lang="en-US" dirty="0" smtClean="0">
                <a:latin typeface="Casper"/>
                <a:ea typeface="Calibri" pitchFamily="34" charset="0"/>
                <a:cs typeface="Times New Roman" pitchFamily="18" charset="0"/>
              </a:rPr>
              <a:t>India.</a:t>
            </a:r>
            <a:endParaRPr lang="en-US" dirty="0" smtClean="0">
              <a:latin typeface="Casper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>
                <a:latin typeface="Casper"/>
                <a:ea typeface="Calibri" pitchFamily="34" charset="0"/>
                <a:cs typeface="Times New Roman" pitchFamily="18" charset="0"/>
              </a:rPr>
              <a:t>Fletcher</a:t>
            </a:r>
            <a:r>
              <a:rPr lang="en-US" dirty="0">
                <a:latin typeface="Casper"/>
                <a:ea typeface="Calibri" pitchFamily="34" charset="0"/>
                <a:cs typeface="Times New Roman" pitchFamily="18" charset="0"/>
              </a:rPr>
              <a:t>,  An </a:t>
            </a:r>
            <a:r>
              <a:rPr lang="en-US" dirty="0" err="1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dirty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</a:t>
            </a:r>
            <a:r>
              <a:rPr lang="en-US" dirty="0" smtClean="0">
                <a:latin typeface="Casper"/>
                <a:ea typeface="Calibri" pitchFamily="34" charset="0"/>
                <a:cs typeface="Times New Roman" pitchFamily="18" charset="0"/>
              </a:rPr>
              <a:t>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35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1605</TotalTime>
  <Words>784</Words>
  <Application>Microsoft Office PowerPoint</Application>
  <PresentationFormat>Widescreen</PresentationFormat>
  <Paragraphs>156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2_Office Theme</vt:lpstr>
      <vt:lpstr>CorelDRAW</vt:lpstr>
      <vt:lpstr>PowerPoint Presentation</vt:lpstr>
      <vt:lpstr>Lecture Objectives</vt:lpstr>
      <vt:lpstr>Course Objectives</vt:lpstr>
      <vt:lpstr> </vt:lpstr>
      <vt:lpstr>SEQUENTIAL CIRCUITS </vt:lpstr>
      <vt:lpstr>JK FLIP FLOP </vt:lpstr>
      <vt:lpstr>JK FLIP FLOP WORKING </vt:lpstr>
      <vt:lpstr>PowerPoint Presentation</vt:lpstr>
      <vt:lpstr>Cont…</vt:lpstr>
      <vt:lpstr>NAND GATE JK FLIP FLOP</vt:lpstr>
      <vt:lpstr>ADVANTAGES AND DISADVANTAGES</vt:lpstr>
      <vt:lpstr>T FLIP FLOP </vt:lpstr>
      <vt:lpstr>T FLIP FLOP WORKING </vt:lpstr>
      <vt:lpstr>Cont…</vt:lpstr>
      <vt:lpstr>ADVANTAGES AND DISADVANTAGES </vt:lpstr>
      <vt:lpstr>ASSESSMENT PATTERN</vt:lpstr>
      <vt:lpstr>APPLICATIONS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214</cp:revision>
  <dcterms:created xsi:type="dcterms:W3CDTF">2019-01-09T10:33:58Z</dcterms:created>
  <dcterms:modified xsi:type="dcterms:W3CDTF">2023-06-19T05:06:16Z</dcterms:modified>
</cp:coreProperties>
</file>