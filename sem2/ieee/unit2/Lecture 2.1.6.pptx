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  <p:sldMasterId id="2147483702" r:id="rId3"/>
  </p:sldMasterIdLst>
  <p:notesMasterIdLst>
    <p:notesMasterId r:id="rId25"/>
  </p:notesMasterIdLst>
  <p:handoutMasterIdLst>
    <p:handoutMasterId r:id="rId26"/>
  </p:handoutMasterIdLst>
  <p:sldIdLst>
    <p:sldId id="327" r:id="rId4"/>
    <p:sldId id="338" r:id="rId5"/>
    <p:sldId id="339" r:id="rId6"/>
    <p:sldId id="329" r:id="rId7"/>
    <p:sldId id="281" r:id="rId8"/>
    <p:sldId id="305" r:id="rId9"/>
    <p:sldId id="318" r:id="rId10"/>
    <p:sldId id="316" r:id="rId11"/>
    <p:sldId id="317" r:id="rId12"/>
    <p:sldId id="337" r:id="rId13"/>
    <p:sldId id="320" r:id="rId14"/>
    <p:sldId id="330" r:id="rId15"/>
    <p:sldId id="282" r:id="rId16"/>
    <p:sldId id="331" r:id="rId17"/>
    <p:sldId id="332" r:id="rId18"/>
    <p:sldId id="333" r:id="rId19"/>
    <p:sldId id="335" r:id="rId20"/>
    <p:sldId id="336" r:id="rId21"/>
    <p:sldId id="283" r:id="rId22"/>
    <p:sldId id="304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59" autoAdjust="0"/>
    <p:restoredTop sz="94660"/>
  </p:normalViewPr>
  <p:slideViewPr>
    <p:cSldViewPr snapToGrid="0">
      <p:cViewPr varScale="1">
        <p:scale>
          <a:sx n="73" d="100"/>
          <a:sy n="73" d="100"/>
        </p:scale>
        <p:origin x="46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3501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4841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1808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0139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1641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7613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6206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995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2938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6554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318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1" y="0"/>
            <a:ext cx="12211051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1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684949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70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190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gnitude-comparator-in-digital-logic/" TargetMode="External"/><Relationship Id="rId2" Type="http://schemas.openxmlformats.org/officeDocument/2006/relationships/hyperlink" Target="https://www.electronics-tutorials.ws/combination/comb_8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lectrical4u.com/digital-comparator/" TargetMode="External"/><Relationship Id="rId5" Type="http://schemas.openxmlformats.org/officeDocument/2006/relationships/hyperlink" Target="https://www.elprocus.com/digital-comparator-and-magnitude-comparator/" TargetMode="External"/><Relationship Id="rId4" Type="http://schemas.openxmlformats.org/officeDocument/2006/relationships/hyperlink" Target="https://learnabout-electronics.org/Digital/dig43.php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4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3853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Magnitude Comparator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11276" y="1746465"/>
            <a:ext cx="9063318" cy="603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Unit-2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and Sequential Circuits</a:t>
            </a:r>
            <a:r>
              <a:rPr lang="en-IN" sz="2000" b="1" dirty="0" smtClean="0"/>
              <a:t>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No. </a:t>
            </a:r>
            <a:r>
              <a:rPr 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2.1.6</a:t>
            </a:r>
            <a:endParaRPr 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92591" y="4146449"/>
            <a:ext cx="4736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Black" pitchFamily="34" charset="0"/>
              </a:rPr>
              <a:t>	</a:t>
            </a:r>
          </a:p>
          <a:p>
            <a:endParaRPr lang="en-US" sz="2000" dirty="0">
              <a:latin typeface="Arial Black" pitchFamily="34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53400" y="5624513"/>
            <a:ext cx="2057400" cy="273844"/>
          </a:xfrm>
        </p:spPr>
        <p:txBody>
          <a:bodyPr/>
          <a:lstStyle/>
          <a:p>
            <a:pPr defTabSz="685800"/>
            <a:fld id="{BDCDBBEF-AA6C-4BA6-85B2-A17D7F280E3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/>
              <a:t>2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68717" y="1288630"/>
            <a:ext cx="334242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9936958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07999"/>
              </p:ext>
            </p:extLst>
          </p:nvPr>
        </p:nvGraphicFramePr>
        <p:xfrm>
          <a:off x="1968715" y="2519630"/>
          <a:ext cx="4767364" cy="1557253"/>
        </p:xfrm>
        <a:graphic>
          <a:graphicData uri="http://schemas.openxmlformats.org/drawingml/2006/table">
            <a:tbl>
              <a:tblPr firstRow="1" firstCol="1" bandRow="1"/>
              <a:tblGrid>
                <a:gridCol w="40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the derivation of logic 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the design of magnitude Comparator.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implementation of 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Magnitude </a:t>
                      </a:r>
                      <a:r>
                        <a:rPr lang="en-US" sz="9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Comaparator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circuit.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3869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learn about design of </a:t>
                      </a:r>
                      <a:r>
                        <a:rPr lang="en-US" sz="9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design of Magnitude </a:t>
                      </a:r>
                      <a:r>
                        <a:rPr lang="en-US" sz="9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Comaparator</a:t>
                      </a:r>
                      <a:r>
                        <a:rPr lang="en-US" sz="9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D3E7CA57-4866-463C-94EE-F4DCD8953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0756" y="2053219"/>
            <a:ext cx="3349576" cy="20351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467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53400" y="5624513"/>
            <a:ext cx="2057400" cy="273844"/>
          </a:xfrm>
        </p:spPr>
        <p:txBody>
          <a:bodyPr/>
          <a:lstStyle/>
          <a:p>
            <a:pPr defTabSz="685800"/>
            <a:fld id="{BDCDBBEF-AA6C-4BA6-85B2-A17D7F280E3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/>
              <a:t>3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608865" y="1046791"/>
            <a:ext cx="334242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9936958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2CED8DF6-0B67-41AC-8AA1-CCD94D5EE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0756" y="2053219"/>
            <a:ext cx="3349576" cy="2035139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00350" y="2434591"/>
          <a:ext cx="4878977" cy="2792185"/>
        </p:xfrm>
        <a:graphic>
          <a:graphicData uri="http://schemas.openxmlformats.org/drawingml/2006/table">
            <a:tbl>
              <a:tblPr firstRow="1" firstCol="1" bandRow="1"/>
              <a:tblGrid>
                <a:gridCol w="415602">
                  <a:extLst>
                    <a:ext uri="{9D8B030D-6E8A-4147-A177-3AD203B41FA5}">
                      <a16:colId xmlns:a16="http://schemas.microsoft.com/office/drawing/2014/main" val="4074303963"/>
                    </a:ext>
                  </a:extLst>
                </a:gridCol>
                <a:gridCol w="4463375">
                  <a:extLst>
                    <a:ext uri="{9D8B030D-6E8A-4147-A177-3AD203B41FA5}">
                      <a16:colId xmlns:a16="http://schemas.microsoft.com/office/drawing/2014/main" val="805906204"/>
                    </a:ext>
                  </a:extLst>
                </a:gridCol>
              </a:tblGrid>
              <a:tr h="512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892665"/>
                  </a:ext>
                </a:extLst>
              </a:tr>
              <a:tr h="759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15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5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7693"/>
                  </a:ext>
                </a:extLst>
              </a:tr>
              <a:tr h="15195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15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15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0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07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62325" y="1146637"/>
            <a:ext cx="6160148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just"/>
            <a: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  <a:t>Magnitude</a:t>
            </a:r>
            <a:b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</a:br>
            <a: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  <a:t>Comparator</a:t>
            </a:r>
            <a: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  <a:t/>
            </a:r>
            <a:b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</a:br>
            <a:endParaRPr lang="en-US" sz="4400" b="1" dirty="0">
              <a:latin typeface="Casper Bold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33828" y="2454289"/>
            <a:ext cx="26125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3131" y="5094514"/>
            <a:ext cx="432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            Figure 1.1 Practical application of comparators [1]</a:t>
            </a:r>
            <a:endParaRPr lang="en-US" sz="1600" dirty="0">
              <a:latin typeface="Casper"/>
            </a:endParaRPr>
          </a:p>
        </p:txBody>
      </p:sp>
      <p:pic>
        <p:nvPicPr>
          <p:cNvPr id="111618" name="Picture 2" descr="Voltage Comparator | Analog Integrated Circuits | Electronics Textboo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91745" y="1343891"/>
            <a:ext cx="4724399" cy="3366654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675384"/>
              </p:ext>
            </p:extLst>
          </p:nvPr>
        </p:nvGraphicFramePr>
        <p:xfrm>
          <a:off x="333827" y="3067164"/>
          <a:ext cx="6053910" cy="3289185"/>
        </p:xfrm>
        <a:graphic>
          <a:graphicData uri="http://schemas.openxmlformats.org/drawingml/2006/table">
            <a:tbl>
              <a:tblPr firstRow="1" firstCol="1" bandRow="1"/>
              <a:tblGrid>
                <a:gridCol w="503960">
                  <a:extLst>
                    <a:ext uri="{9D8B030D-6E8A-4147-A177-3AD203B41FA5}">
                      <a16:colId xmlns:a16="http://schemas.microsoft.com/office/drawing/2014/main" val="2519586114"/>
                    </a:ext>
                  </a:extLst>
                </a:gridCol>
                <a:gridCol w="4741704">
                  <a:extLst>
                    <a:ext uri="{9D8B030D-6E8A-4147-A177-3AD203B41FA5}">
                      <a16:colId xmlns:a16="http://schemas.microsoft.com/office/drawing/2014/main" val="2264797959"/>
                    </a:ext>
                  </a:extLst>
                </a:gridCol>
                <a:gridCol w="808246">
                  <a:extLst>
                    <a:ext uri="{9D8B030D-6E8A-4147-A177-3AD203B41FA5}">
                      <a16:colId xmlns:a16="http://schemas.microsoft.com/office/drawing/2014/main" val="2262568827"/>
                    </a:ext>
                  </a:extLst>
                </a:gridCol>
              </a:tblGrid>
              <a:tr h="3545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582177"/>
                  </a:ext>
                </a:extLst>
              </a:tr>
              <a:tr h="548870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654429"/>
                  </a:ext>
                </a:extLst>
              </a:tr>
              <a:tr h="7391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827238"/>
                  </a:ext>
                </a:extLst>
              </a:tr>
              <a:tr h="548870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442274"/>
                  </a:ext>
                </a:extLst>
              </a:tr>
              <a:tr h="548870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161393"/>
                  </a:ext>
                </a:extLst>
              </a:tr>
              <a:tr h="548870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9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448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61258" y="1319348"/>
            <a:ext cx="518595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  <a:t>Magnitude</a:t>
            </a:r>
            <a:b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</a:br>
            <a: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  <a:t>Comparator</a:t>
            </a:r>
            <a: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  <a:t/>
            </a:r>
            <a:b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</a:br>
            <a:endParaRPr lang="en-US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9262" y="3835400"/>
            <a:ext cx="4322762" cy="2520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4434" y="385717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latin typeface="Casper"/>
                <a:cs typeface="Times New Roman" pitchFamily="18" charset="0"/>
              </a:rPr>
              <a:t>Definition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latin typeface="Casper"/>
                <a:cs typeface="Times New Roman" pitchFamily="18" charset="0"/>
              </a:rPr>
              <a:t>Classification of comparators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1610" y="4937760"/>
            <a:ext cx="4180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        Figure 1  Magnitude Comparator</a:t>
            </a:r>
            <a:endParaRPr lang="en-US" sz="1600" dirty="0">
              <a:latin typeface="Casper"/>
            </a:endParaRPr>
          </a:p>
        </p:txBody>
      </p:sp>
      <p:pic>
        <p:nvPicPr>
          <p:cNvPr id="110594" name="Picture 2" descr="Binary Comparator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3709" y="1524000"/>
            <a:ext cx="4724400" cy="30618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23638" y="1546412"/>
            <a:ext cx="10064556" cy="122205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3237" y="287383"/>
            <a:ext cx="10145529" cy="82389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GB" sz="4400" dirty="0" smtClean="0">
                <a:latin typeface="Casper Bold"/>
                <a:cs typeface="Times New Roman" pitchFamily="18" charset="0"/>
              </a:rPr>
              <a:t>Magnitude Comparator </a:t>
            </a:r>
            <a:endParaRPr lang="en-GB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3771" y="1039091"/>
            <a:ext cx="10842172" cy="4268621"/>
          </a:xfrm>
          <a:prstGeom prst="rect">
            <a:avLst/>
          </a:prstGeom>
        </p:spPr>
        <p:txBody>
          <a:bodyPr wrap="square" lIns="82058" tIns="41029" rIns="82058" bIns="41029">
            <a:spAutoFit/>
          </a:bodyPr>
          <a:lstStyle/>
          <a:p>
            <a:r>
              <a:rPr lang="en-IN" sz="1600" dirty="0" smtClean="0">
                <a:latin typeface="Casper"/>
              </a:rPr>
              <a:t>  It is a combinational logic circuit.</a:t>
            </a:r>
          </a:p>
          <a:p>
            <a:endParaRPr lang="en-IN" sz="1600" dirty="0" smtClean="0">
              <a:latin typeface="Casper"/>
            </a:endParaRPr>
          </a:p>
          <a:p>
            <a:r>
              <a:rPr lang="en-IN" sz="1600" dirty="0" smtClean="0">
                <a:latin typeface="Casper"/>
              </a:rPr>
              <a:t>  Magnitude Comparator is used to compare the value of two binary digits.</a:t>
            </a:r>
          </a:p>
          <a:p>
            <a:endParaRPr lang="en-IN" sz="1600" dirty="0" smtClean="0">
              <a:latin typeface="Casper"/>
            </a:endParaRPr>
          </a:p>
          <a:p>
            <a:r>
              <a:rPr lang="en-IN" sz="1600" dirty="0" smtClean="0">
                <a:latin typeface="Casper"/>
              </a:rPr>
              <a:t>  There are two types of digital comparator (</a:t>
            </a:r>
            <a:r>
              <a:rPr lang="en-IN" sz="1600" dirty="0" err="1" smtClean="0">
                <a:latin typeface="Casper"/>
              </a:rPr>
              <a:t>i</a:t>
            </a:r>
            <a:r>
              <a:rPr lang="en-IN" sz="1600" dirty="0" smtClean="0">
                <a:latin typeface="Casper"/>
              </a:rPr>
              <a:t>) Identity Comparator (ii) Magnitude Comparator.</a:t>
            </a:r>
          </a:p>
          <a:p>
            <a:endParaRPr lang="en-IN" sz="1600" b="1" dirty="0" smtClean="0">
              <a:latin typeface="Casper"/>
            </a:endParaRPr>
          </a:p>
          <a:p>
            <a:r>
              <a:rPr lang="en-IN" sz="1600" b="1" dirty="0" smtClean="0">
                <a:latin typeface="Casper"/>
              </a:rPr>
              <a:t>  IDENTITY COMPARATOR </a:t>
            </a:r>
            <a:r>
              <a:rPr lang="en-IN" sz="1600" dirty="0" smtClean="0">
                <a:latin typeface="Casper"/>
              </a:rPr>
              <a:t>: This comparator has only one output terminal for when A=B, either A=B=1 (High) or A=B=0 (Low) .</a:t>
            </a:r>
          </a:p>
          <a:p>
            <a:r>
              <a:rPr lang="en-IN" sz="1600" b="1" dirty="0" smtClean="0">
                <a:latin typeface="Casper"/>
              </a:rPr>
              <a:t>  MAGNITUDE COMPARATOR </a:t>
            </a:r>
            <a:r>
              <a:rPr lang="en-IN" sz="1600" dirty="0" smtClean="0">
                <a:latin typeface="Casper"/>
              </a:rPr>
              <a:t>: This Comparator has three output terminals namely A&gt;B, A=B, A&lt;B. Depending on the result of comparison, one of these output will be high.</a:t>
            </a:r>
          </a:p>
          <a:p>
            <a:endParaRPr lang="en-IN" sz="1600" dirty="0" smtClean="0">
              <a:latin typeface="Casper"/>
            </a:endParaRPr>
          </a:p>
          <a:p>
            <a:r>
              <a:rPr lang="en-US" sz="1600" dirty="0" smtClean="0">
                <a:latin typeface="Casper"/>
              </a:rPr>
              <a:t>   In comparator corresponding to n-bit we have 2n number of Inputs .</a:t>
            </a:r>
            <a:endParaRPr lang="en-IN" sz="1600" dirty="0" smtClean="0">
              <a:latin typeface="Casper"/>
            </a:endParaRPr>
          </a:p>
          <a:p>
            <a:endParaRPr lang="en-US" sz="1600" dirty="0" smtClean="0">
              <a:latin typeface="Casper"/>
            </a:endParaRPr>
          </a:p>
          <a:p>
            <a:endParaRPr lang="en-IN" sz="1600" dirty="0" smtClean="0">
              <a:latin typeface="Casper"/>
            </a:endParaRPr>
          </a:p>
          <a:p>
            <a:endParaRPr lang="en-US" sz="1600" dirty="0" smtClean="0">
              <a:latin typeface="Casper"/>
              <a:cs typeface="Times New Roman" pitchFamily="18" charset="0"/>
            </a:endParaRPr>
          </a:p>
          <a:p>
            <a:endParaRPr lang="en-US" sz="1600" dirty="0" smtClean="0">
              <a:solidFill>
                <a:srgbClr val="FF0000"/>
              </a:solidFill>
              <a:latin typeface="Casper"/>
              <a:cs typeface="Times New Roman" pitchFamily="18" charset="0"/>
            </a:endParaRPr>
          </a:p>
          <a:p>
            <a:endParaRPr lang="en-US" sz="1600" dirty="0" smtClean="0">
              <a:solidFill>
                <a:srgbClr val="FF0000"/>
              </a:solidFill>
              <a:latin typeface="Casper"/>
              <a:cs typeface="Times New Roman" pitchFamily="18" charset="0"/>
            </a:endParaRPr>
          </a:p>
          <a:p>
            <a:endParaRPr lang="en-US" sz="1600" dirty="0" smtClean="0">
              <a:solidFill>
                <a:srgbClr val="FF0000"/>
              </a:solidFill>
              <a:latin typeface="Casper"/>
              <a:cs typeface="Times New Roman" pitchFamily="18" charset="0"/>
            </a:endParaRPr>
          </a:p>
          <a:p>
            <a:r>
              <a:rPr lang="en-US" sz="1600" dirty="0" smtClean="0">
                <a:latin typeface="Casper"/>
                <a:cs typeface="Times New Roman" pitchFamily="18" charset="0"/>
              </a:rPr>
              <a:t>.</a:t>
            </a:r>
            <a:endParaRPr lang="en-GB" sz="1600" dirty="0">
              <a:solidFill>
                <a:srgbClr val="FF0000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2" name="AutoShape 2" descr="Block Diagram of Full Adder"/>
          <p:cNvSpPr>
            <a:spLocks noChangeAspect="1" noChangeArrowheads="1"/>
          </p:cNvSpPr>
          <p:nvPr/>
        </p:nvSpPr>
        <p:spPr bwMode="auto">
          <a:xfrm>
            <a:off x="76970" y="-120463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AutoShape 2" descr="Full Substractor Truth Table"/>
          <p:cNvSpPr>
            <a:spLocks noChangeAspect="1" noChangeArrowheads="1"/>
          </p:cNvSpPr>
          <p:nvPr/>
        </p:nvSpPr>
        <p:spPr bwMode="auto">
          <a:xfrm>
            <a:off x="261698" y="14008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Block Diagram of 1:2 Demultiplexer"/>
          <p:cNvSpPr>
            <a:spLocks noChangeAspect="1" noChangeArrowheads="1"/>
          </p:cNvSpPr>
          <p:nvPr/>
        </p:nvSpPr>
        <p:spPr bwMode="auto">
          <a:xfrm>
            <a:off x="446425" y="148479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AutoShape 4" descr="Block Diagram of 1:2 Demultiplexer"/>
          <p:cNvSpPr>
            <a:spLocks noChangeAspect="1" noChangeArrowheads="1"/>
          </p:cNvSpPr>
          <p:nvPr/>
        </p:nvSpPr>
        <p:spPr bwMode="auto">
          <a:xfrm>
            <a:off x="631153" y="282950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AutoShape 6" descr="Block Diagram of 1:2 Demultiplexer"/>
          <p:cNvSpPr>
            <a:spLocks noChangeAspect="1" noChangeArrowheads="1"/>
          </p:cNvSpPr>
          <p:nvPr/>
        </p:nvSpPr>
        <p:spPr bwMode="auto">
          <a:xfrm>
            <a:off x="815879" y="417420"/>
            <a:ext cx="369455" cy="26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AutoShape 2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188577" y="-127467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utoShape 4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373303" y="7004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AutoShape 6" descr="https://cdncontribute.geeksforgeeks.org/wp-content/uploads/Digitallogic.png"/>
          <p:cNvSpPr>
            <a:spLocks noChangeAspect="1" noChangeArrowheads="1"/>
          </p:cNvSpPr>
          <p:nvPr/>
        </p:nvSpPr>
        <p:spPr bwMode="auto">
          <a:xfrm>
            <a:off x="558031" y="141474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AutoShape 8" descr="https://cdncontribute.geeksforgeeks.org/wp-content/uploads/Digitallogic1.png"/>
          <p:cNvSpPr>
            <a:spLocks noChangeAspect="1" noChangeArrowheads="1"/>
          </p:cNvSpPr>
          <p:nvPr/>
        </p:nvSpPr>
        <p:spPr bwMode="auto">
          <a:xfrm>
            <a:off x="742758" y="275945"/>
            <a:ext cx="369455" cy="2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95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2691" y="3532909"/>
            <a:ext cx="5414097" cy="217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15"/>
          <p:cNvSpPr/>
          <p:nvPr/>
        </p:nvSpPr>
        <p:spPr>
          <a:xfrm>
            <a:off x="3510455" y="5783933"/>
            <a:ext cx="5780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Figure 2 Block Diagram of n-bit Magnitude Comparator </a:t>
            </a:r>
          </a:p>
        </p:txBody>
      </p:sp>
    </p:spTree>
    <p:extLst>
      <p:ext uri="{BB962C8B-B14F-4D97-AF65-F5344CB8AC3E}">
        <p14:creationId xmlns:p14="http://schemas.microsoft.com/office/powerpoint/2010/main" val="299063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2" y="332509"/>
            <a:ext cx="10515600" cy="775854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  <a:cs typeface="Times New Roman" pitchFamily="18" charset="0"/>
              </a:rPr>
              <a:t>Classification of Comparators</a:t>
            </a:r>
            <a:endParaRPr lang="en-US" dirty="0">
              <a:latin typeface="Casper Bold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383" y="1263921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Casper"/>
                <a:cs typeface="Times New Roman" pitchFamily="18" charset="0"/>
              </a:rPr>
              <a:t>1-bit Comparator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Casper"/>
                <a:cs typeface="Times New Roman" pitchFamily="18" charset="0"/>
              </a:rPr>
              <a:t>2-bit Comparator</a:t>
            </a:r>
            <a:br>
              <a:rPr lang="en-US" sz="1600" dirty="0" smtClean="0">
                <a:latin typeface="Casper"/>
                <a:cs typeface="Times New Roman" pitchFamily="18" charset="0"/>
              </a:rPr>
            </a:b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06286" y="5086197"/>
            <a:ext cx="4167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asper"/>
              </a:rPr>
              <a:t>       Fig 3 1-bit Comparator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1029" y="5107968"/>
            <a:ext cx="4167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asper"/>
              </a:rPr>
              <a:t>     Fig 4: 2-bit Comparator </a:t>
            </a:r>
          </a:p>
        </p:txBody>
      </p:sp>
      <p:pic>
        <p:nvPicPr>
          <p:cNvPr id="108550" name="Picture 6" descr="Digital Comparator and Magnitude Comparat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76109" y="2036618"/>
            <a:ext cx="4655127" cy="2978728"/>
          </a:xfrm>
          <a:prstGeom prst="rect">
            <a:avLst/>
          </a:prstGeom>
          <a:noFill/>
        </p:spPr>
      </p:pic>
      <p:pic>
        <p:nvPicPr>
          <p:cNvPr id="12" name="Picture 2" descr="Binary Comparator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490" y="2327563"/>
            <a:ext cx="4114801" cy="28263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23" y="182246"/>
            <a:ext cx="11075126" cy="1045664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sper Bold"/>
              </a:rPr>
              <a:t>           1-Bit Magnitude Comparator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97527" y="1468581"/>
            <a:ext cx="92964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•</a:t>
            </a:r>
            <a:r>
              <a:rPr lang="en-IN" sz="1600" dirty="0" smtClean="0">
                <a:latin typeface="Casper"/>
              </a:rPr>
              <a:t>This magnitude comparator has two inputs A and B and three outputs A&lt;B, A=B and A&gt;B.</a:t>
            </a:r>
          </a:p>
          <a:p>
            <a:endParaRPr lang="en-IN" sz="1600" dirty="0" smtClean="0">
              <a:latin typeface="Casper"/>
            </a:endParaRPr>
          </a:p>
          <a:p>
            <a:r>
              <a:rPr lang="en-IN" sz="1600" dirty="0" smtClean="0">
                <a:latin typeface="Casper"/>
              </a:rPr>
              <a:t>•This magnitude comparator compares the two numbers of single bits. </a:t>
            </a:r>
          </a:p>
          <a:p>
            <a:endParaRPr lang="en-IN" sz="1600" dirty="0" smtClean="0">
              <a:latin typeface="Casper"/>
            </a:endParaRPr>
          </a:p>
          <a:p>
            <a:endParaRPr lang="en-IN" sz="1600" dirty="0" smtClean="0">
              <a:latin typeface="Casper"/>
            </a:endParaRPr>
          </a:p>
        </p:txBody>
      </p:sp>
      <p:pic>
        <p:nvPicPr>
          <p:cNvPr id="1075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13709" y="2488192"/>
            <a:ext cx="6816436" cy="2859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79273" y="5472545"/>
            <a:ext cx="4980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>
                <a:latin typeface="Casper"/>
              </a:rPr>
              <a:t>       Fig 5 Truth Table of 1-Bit Comparator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4" y="346363"/>
            <a:ext cx="10515600" cy="858981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1-Bit Magnitude Comparator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6497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98073" y="1537856"/>
            <a:ext cx="8285018" cy="3574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484572" y="5282404"/>
            <a:ext cx="45122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          </a:t>
            </a:r>
          </a:p>
          <a:p>
            <a:r>
              <a:rPr lang="en-IN" dirty="0" smtClean="0">
                <a:latin typeface="Casper"/>
              </a:rPr>
              <a:t>        Fig 6 K-Maps for all three outputs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324" y="228052"/>
            <a:ext cx="10515600" cy="4351338"/>
          </a:xfrm>
        </p:spPr>
        <p:txBody>
          <a:bodyPr/>
          <a:lstStyle/>
          <a:p>
            <a:r>
              <a:rPr lang="en-US" dirty="0" smtClean="0"/>
              <a:t>A&gt;B: AB‘                         A&lt;B: A'B               A=B: A'B' + AB</a:t>
            </a:r>
          </a:p>
          <a:p>
            <a:pPr>
              <a:buNone/>
            </a:pPr>
            <a:r>
              <a:rPr lang="en-US" dirty="0" smtClean="0"/>
              <a:t>From the above expressions we can derive the following formula: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 descr="https://media.geeksforgeeks.org/wp-content/uploads/Digitallogic2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3833" y="1206062"/>
            <a:ext cx="352425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62" name="Picture 2" descr="https://media.geeksforgeeks.org/wp-content/uploads/Digitallogic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99934" y="4167515"/>
            <a:ext cx="5800725" cy="23336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67717" y="4088580"/>
            <a:ext cx="4870641" cy="2366122"/>
          </a:xfrm>
          <a:custGeom>
            <a:avLst/>
            <a:gdLst/>
            <a:ahLst/>
            <a:cxnLst/>
            <a:rect l="l" t="t" r="r" b="b"/>
            <a:pathLst>
              <a:path w="4018279" h="2681604">
                <a:moveTo>
                  <a:pt x="4017835" y="11178"/>
                </a:moveTo>
                <a:lnTo>
                  <a:pt x="4017835" y="0"/>
                </a:lnTo>
                <a:lnTo>
                  <a:pt x="2095" y="2677667"/>
                </a:lnTo>
                <a:lnTo>
                  <a:pt x="571" y="2679191"/>
                </a:lnTo>
                <a:lnTo>
                  <a:pt x="0" y="2681477"/>
                </a:lnTo>
                <a:lnTo>
                  <a:pt x="14284" y="2681477"/>
                </a:lnTo>
                <a:lnTo>
                  <a:pt x="4017835" y="1117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91721" y="401781"/>
            <a:ext cx="10111708" cy="747749"/>
          </a:xfrm>
        </p:spPr>
        <p:txBody>
          <a:bodyPr>
            <a:noAutofit/>
          </a:bodyPr>
          <a:lstStyle/>
          <a:p>
            <a:pPr algn="ctr"/>
            <a:r>
              <a:rPr lang="en-US" dirty="0" smtClean="0">
                <a:latin typeface="Casper Bold"/>
              </a:rPr>
              <a:t>1-Bit Magnitude Comparator</a:t>
            </a:r>
            <a:endParaRPr lang="en-US" dirty="0">
              <a:solidFill>
                <a:schemeClr val="tx1"/>
              </a:solidFill>
              <a:latin typeface="Casper Bold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821" y="1344707"/>
            <a:ext cx="11083636" cy="369312"/>
          </a:xfrm>
          <a:prstGeom prst="rect">
            <a:avLst/>
          </a:prstGeom>
          <a:noFill/>
        </p:spPr>
        <p:txBody>
          <a:bodyPr wrap="square" lIns="91418" tIns="45710" rIns="91418" bIns="45710" rtlCol="0">
            <a:spAutoFit/>
          </a:bodyPr>
          <a:lstStyle/>
          <a:p>
            <a:pPr marL="342819" indent="-342819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87" name="Slide Number Placeholder 18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62263" y="1454726"/>
            <a:ext cx="6544973" cy="376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4456464" y="5419994"/>
            <a:ext cx="3920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Fig 7 Realization of 1-bit Comparator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1" y="304800"/>
            <a:ext cx="10515600" cy="883920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1-Bit Magnitude Comparator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4449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61854" y="1427019"/>
            <a:ext cx="5583382" cy="3948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426373" y="5403271"/>
            <a:ext cx="54969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       Fig 8: </a:t>
            </a:r>
            <a:r>
              <a:rPr lang="en-IN" sz="1600" dirty="0" smtClean="0">
                <a:latin typeface="Casper"/>
              </a:rPr>
              <a:t>Realization of by Using AND, EX-NOR gates </a:t>
            </a:r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1" y="318655"/>
            <a:ext cx="10515600" cy="105294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2-Bit Magnitude Comparator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600" dirty="0" smtClean="0">
                <a:latin typeface="Casper"/>
              </a:rPr>
              <a:t>     A comparator which is used to compare two binary numbers each of two bits is called a 2-bit magnitude comparator.</a:t>
            </a:r>
          </a:p>
          <a:p>
            <a:pPr>
              <a:buNone/>
            </a:pPr>
            <a:r>
              <a:rPr lang="en-IN" sz="1600" dirty="0" smtClean="0">
                <a:latin typeface="Casper"/>
              </a:rPr>
              <a:t>     It has four inputs and three outputs.</a:t>
            </a:r>
          </a:p>
          <a:p>
            <a:pPr>
              <a:buNone/>
            </a:pPr>
            <a:r>
              <a:rPr lang="en-IN" sz="1600" dirty="0" smtClean="0">
                <a:latin typeface="Casper"/>
              </a:rPr>
              <a:t>     Inputs are A0,A1,B0 and B1 and Outputs are Y1,Y2 and Y3.</a:t>
            </a:r>
          </a:p>
          <a:p>
            <a:pPr>
              <a:buNone/>
            </a:pPr>
            <a:endParaRPr lang="en-IN" sz="1600" dirty="0" smtClean="0">
              <a:latin typeface="Casper"/>
            </a:endParaRPr>
          </a:p>
          <a:p>
            <a:pPr>
              <a:lnSpc>
                <a:spcPct val="200000"/>
              </a:lnSpc>
              <a:buNone/>
            </a:pPr>
            <a:endParaRPr lang="en-US" sz="1600" dirty="0">
              <a:latin typeface="Casper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8327" y="2867892"/>
            <a:ext cx="5070764" cy="202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3321269" y="5001490"/>
            <a:ext cx="51992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           Fig 9: Block diagram of 2-bit Comparator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1" y="415636"/>
            <a:ext cx="10515600" cy="886692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2-Bit Magnitude Comparator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06982" y="6137563"/>
            <a:ext cx="5100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           Fig 10: Truth table of 2-bit Comparator </a:t>
            </a:r>
            <a:endParaRPr lang="en-IN" dirty="0"/>
          </a:p>
        </p:txBody>
      </p:sp>
      <p:pic>
        <p:nvPicPr>
          <p:cNvPr id="1126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54726" y="1399309"/>
            <a:ext cx="9116291" cy="457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1" y="360218"/>
            <a:ext cx="10515600" cy="10837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2-Bit Magnitude Comparator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06982" y="4585855"/>
            <a:ext cx="540518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           </a:t>
            </a:r>
          </a:p>
          <a:p>
            <a:endParaRPr lang="en-IN" dirty="0" smtClean="0">
              <a:latin typeface="Casper"/>
            </a:endParaRPr>
          </a:p>
          <a:p>
            <a:endParaRPr lang="en-IN" dirty="0" smtClean="0">
              <a:latin typeface="Casper"/>
            </a:endParaRPr>
          </a:p>
          <a:p>
            <a:endParaRPr lang="en-IN" dirty="0" smtClean="0">
              <a:latin typeface="Casper"/>
            </a:endParaRPr>
          </a:p>
          <a:p>
            <a:r>
              <a:rPr lang="en-IN" dirty="0" smtClean="0">
                <a:latin typeface="Casper"/>
              </a:rPr>
              <a:t>               </a:t>
            </a:r>
          </a:p>
          <a:p>
            <a:r>
              <a:rPr lang="en-IN" dirty="0" smtClean="0">
                <a:latin typeface="Casper"/>
              </a:rPr>
              <a:t>               Fig 11: K-Maps of 2-bit Comparator </a:t>
            </a:r>
            <a:endParaRPr lang="en-IN" dirty="0"/>
          </a:p>
        </p:txBody>
      </p:sp>
      <p:pic>
        <p:nvPicPr>
          <p:cNvPr id="1136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87236" y="1579563"/>
            <a:ext cx="8437419" cy="419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1" y="318655"/>
            <a:ext cx="10515600" cy="105294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2-Bit Magnitude Comparator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06982" y="5001490"/>
            <a:ext cx="55313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               Fig 12: K -Map of 2-bit Comparator </a:t>
            </a:r>
            <a:endParaRPr lang="en-IN" dirty="0"/>
          </a:p>
        </p:txBody>
      </p:sp>
      <p:pic>
        <p:nvPicPr>
          <p:cNvPr id="1157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15637" y="1759526"/>
            <a:ext cx="4973782" cy="31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57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1967344"/>
            <a:ext cx="5763491" cy="2663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1" y="318655"/>
            <a:ext cx="10515600" cy="105294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 2-Bit Magnitude Comparator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06983" y="5001490"/>
            <a:ext cx="55733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         </a:t>
            </a:r>
          </a:p>
          <a:p>
            <a:endParaRPr lang="en-IN" dirty="0" smtClean="0">
              <a:latin typeface="Casper"/>
            </a:endParaRPr>
          </a:p>
          <a:p>
            <a:endParaRPr lang="en-IN" dirty="0" smtClean="0">
              <a:latin typeface="Casper"/>
            </a:endParaRPr>
          </a:p>
          <a:p>
            <a:r>
              <a:rPr lang="en-IN" dirty="0" smtClean="0">
                <a:latin typeface="Casper"/>
              </a:rPr>
              <a:t>           Fig 13 Realization of 2-bit Comparator </a:t>
            </a:r>
            <a:endParaRPr lang="en-IN" dirty="0"/>
          </a:p>
        </p:txBody>
      </p:sp>
      <p:pic>
        <p:nvPicPr>
          <p:cNvPr id="1167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66109" y="1440872"/>
            <a:ext cx="7813963" cy="437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1" y="318655"/>
            <a:ext cx="10515600" cy="1052946"/>
          </a:xfrm>
        </p:spPr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  Assessment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06983" y="5001490"/>
            <a:ext cx="46135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asper"/>
              </a:rPr>
              <a:t>         </a:t>
            </a:r>
          </a:p>
          <a:p>
            <a:endParaRPr lang="en-IN" dirty="0" smtClean="0">
              <a:latin typeface="Casper"/>
            </a:endParaRPr>
          </a:p>
          <a:p>
            <a:endParaRPr lang="en-IN" dirty="0" smtClean="0">
              <a:latin typeface="Casper"/>
            </a:endParaRPr>
          </a:p>
          <a:p>
            <a:r>
              <a:rPr lang="en-IN" dirty="0" smtClean="0">
                <a:latin typeface="Casper"/>
              </a:rPr>
              <a:t>        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634837"/>
            <a:ext cx="10515600" cy="43503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 smtClean="0">
                <a:latin typeface="Casper"/>
              </a:rPr>
              <a:t>1. Design 1-Bit Magnitude Comparator ?</a:t>
            </a:r>
          </a:p>
          <a:p>
            <a:pPr>
              <a:buNone/>
            </a:pPr>
            <a:r>
              <a:rPr lang="en-US" sz="1600" dirty="0" smtClean="0">
                <a:latin typeface="Casper"/>
              </a:rPr>
              <a:t>2. Design 2-Bit Magnitude Comparator ? </a:t>
            </a:r>
            <a:endParaRPr lang="en-IN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5" y="164419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1600" dirty="0" smtClean="0">
                <a:latin typeface="Casper"/>
              </a:rPr>
              <a:t>     1) These are used in the computers and microprocessor devices to select a specific input/output device for the storage. </a:t>
            </a:r>
          </a:p>
          <a:p>
            <a:pPr>
              <a:buNone/>
            </a:pPr>
            <a:r>
              <a:rPr lang="en-IN" sz="1600" dirty="0" smtClean="0">
                <a:latin typeface="Casper"/>
              </a:rPr>
              <a:t>     2) These are used in control applications in which the binary numbers representing physical variables such as temperature, position, etc. are compared with a reference value. </a:t>
            </a:r>
          </a:p>
          <a:p>
            <a:pPr>
              <a:buNone/>
            </a:pPr>
            <a:r>
              <a:rPr lang="en-IN" sz="1600" dirty="0" smtClean="0">
                <a:latin typeface="Casper"/>
              </a:rPr>
              <a:t>     3) Process controllers (ON/OFF, self-tune, and manual tune).</a:t>
            </a:r>
          </a:p>
          <a:p>
            <a:pPr>
              <a:buNone/>
            </a:pPr>
            <a:r>
              <a:rPr lang="en-IN" sz="1600" dirty="0" smtClean="0">
                <a:latin typeface="Casper"/>
              </a:rPr>
              <a:t>     4) Servo-motor control ( Electrical plus).</a:t>
            </a: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2" y="164418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25137" y="1290048"/>
            <a:ext cx="10515600" cy="3437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048" tIns="41025" rIns="82048" bIns="41025">
            <a:spAutoFit/>
          </a:bodyPr>
          <a:lstStyle/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 err="1" smtClean="0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 smtClean="0">
              <a:latin typeface="Casper"/>
              <a:cs typeface="Times New Roman" pitchFamily="18" charset="0"/>
            </a:endParaRP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Fletcher, An </a:t>
            </a:r>
            <a:r>
              <a:rPr lang="en-US" sz="1600" dirty="0" err="1" smtClean="0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IN" sz="1600" dirty="0" smtClean="0">
                <a:latin typeface="Casper"/>
                <a:hlinkClick r:id="rId2"/>
              </a:rPr>
              <a:t>https://www.electronics-tutorials.ws/combination/comb_8.html</a:t>
            </a:r>
            <a:r>
              <a:rPr lang="en-IN" sz="1600" dirty="0" smtClean="0">
                <a:latin typeface="Casper"/>
              </a:rPr>
              <a:t>.</a:t>
            </a: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IN" sz="1600" dirty="0" smtClean="0">
                <a:latin typeface="Casper"/>
                <a:hlinkClick r:id="rId3"/>
              </a:rPr>
              <a:t>https://www.geeksforgeeks.org/magnitude-comparator-in-digital-logic/</a:t>
            </a:r>
            <a:r>
              <a:rPr lang="en-IN" sz="1600" dirty="0" smtClean="0">
                <a:latin typeface="Casper"/>
              </a:rPr>
              <a:t>.</a:t>
            </a: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IN" sz="1600" dirty="0" smtClean="0">
                <a:latin typeface="Casper"/>
                <a:hlinkClick r:id="rId4"/>
              </a:rPr>
              <a:t>https://learnabout-electronics.org/Digital/dig43.php</a:t>
            </a:r>
            <a:r>
              <a:rPr lang="en-IN" sz="1600" dirty="0" smtClean="0">
                <a:latin typeface="Casper"/>
              </a:rPr>
              <a:t>.</a:t>
            </a: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IN" sz="1600" dirty="0" smtClean="0">
                <a:latin typeface="Casper"/>
                <a:hlinkClick r:id="rId5"/>
              </a:rPr>
              <a:t>https://www.elprocus.com/digital-comparator-and-magnitude-comparator/</a:t>
            </a:r>
            <a:r>
              <a:rPr lang="en-IN" sz="1600" dirty="0" smtClean="0">
                <a:latin typeface="Casper"/>
              </a:rPr>
              <a:t>.</a:t>
            </a: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IN" sz="1600" dirty="0" smtClean="0">
                <a:latin typeface="Casper"/>
                <a:hlinkClick r:id="rId6"/>
              </a:rPr>
              <a:t>https://www.electrical4u.com/digital-comparator/</a:t>
            </a:r>
            <a:r>
              <a:rPr lang="en-IN" sz="1600" dirty="0" smtClean="0">
                <a:latin typeface="Casper"/>
              </a:rPr>
              <a:t>.</a:t>
            </a:r>
            <a:endParaRPr lang="en-US" sz="1600" dirty="0" smtClean="0">
              <a:latin typeface="Casper"/>
              <a:ea typeface="Calibri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4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1247</TotalTime>
  <Words>793</Words>
  <Application>Microsoft Office PowerPoint</Application>
  <PresentationFormat>Widescreen</PresentationFormat>
  <Paragraphs>168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9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2_Office Theme</vt:lpstr>
      <vt:lpstr>CorelDRAW</vt:lpstr>
      <vt:lpstr>PowerPoint Presentation</vt:lpstr>
      <vt:lpstr>Lecture Objectives</vt:lpstr>
      <vt:lpstr>Course Objectives</vt:lpstr>
      <vt:lpstr>Magnitude Comparator </vt:lpstr>
      <vt:lpstr>Magnitude Comparator </vt:lpstr>
      <vt:lpstr>  </vt:lpstr>
      <vt:lpstr>Classification of Comparators</vt:lpstr>
      <vt:lpstr>           1-Bit Magnitude Comparator</vt:lpstr>
      <vt:lpstr> 1-Bit Magnitude Comparator</vt:lpstr>
      <vt:lpstr>PowerPoint Presentation</vt:lpstr>
      <vt:lpstr>1-Bit Magnitude Comparator</vt:lpstr>
      <vt:lpstr>1-Bit Magnitude Comparator</vt:lpstr>
      <vt:lpstr>2-Bit Magnitude Comparator</vt:lpstr>
      <vt:lpstr>2-Bit Magnitude Comparator</vt:lpstr>
      <vt:lpstr>2-Bit Magnitude Comparator</vt:lpstr>
      <vt:lpstr>2-Bit Magnitude Comparator</vt:lpstr>
      <vt:lpstr>   2-Bit Magnitude Comparator</vt:lpstr>
      <vt:lpstr>  Assessment Pattern</vt:lpstr>
      <vt:lpstr>APPLICATIONS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159</cp:revision>
  <dcterms:created xsi:type="dcterms:W3CDTF">2019-01-09T10:33:58Z</dcterms:created>
  <dcterms:modified xsi:type="dcterms:W3CDTF">2023-06-19T04:59:38Z</dcterms:modified>
</cp:coreProperties>
</file>