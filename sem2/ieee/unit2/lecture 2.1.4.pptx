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7"/>
  </p:notesMasterIdLst>
  <p:handoutMasterIdLst>
    <p:handoutMasterId r:id="rId28"/>
  </p:handoutMasterIdLst>
  <p:sldIdLst>
    <p:sldId id="327" r:id="rId3"/>
    <p:sldId id="348" r:id="rId4"/>
    <p:sldId id="349" r:id="rId5"/>
    <p:sldId id="329" r:id="rId6"/>
    <p:sldId id="332" r:id="rId7"/>
    <p:sldId id="334" r:id="rId8"/>
    <p:sldId id="337" r:id="rId9"/>
    <p:sldId id="343" r:id="rId10"/>
    <p:sldId id="344" r:id="rId11"/>
    <p:sldId id="345" r:id="rId12"/>
    <p:sldId id="336" r:id="rId13"/>
    <p:sldId id="333" r:id="rId14"/>
    <p:sldId id="335" r:id="rId15"/>
    <p:sldId id="338" r:id="rId16"/>
    <p:sldId id="339" r:id="rId17"/>
    <p:sldId id="342" r:id="rId18"/>
    <p:sldId id="340" r:id="rId19"/>
    <p:sldId id="346" r:id="rId20"/>
    <p:sldId id="347" r:id="rId21"/>
    <p:sldId id="282" r:id="rId22"/>
    <p:sldId id="283" r:id="rId23"/>
    <p:sldId id="304" r:id="rId24"/>
    <p:sldId id="341" r:id="rId25"/>
    <p:sldId id="27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ED8137"/>
    <a:srgbClr val="BC8F00"/>
    <a:srgbClr val="86000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660"/>
  </p:normalViewPr>
  <p:slideViewPr>
    <p:cSldViewPr snapToGrid="0">
      <p:cViewPr varScale="1">
        <p:scale>
          <a:sx n="73" d="100"/>
          <a:sy n="73" d="100"/>
        </p:scale>
        <p:origin x="384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i&amp;url=https://learn.circuitverse.org/docs/MSI/mux.html&amp;psig=AOvVaw1iWcVSERqtD9-mFibmInEQ&amp;ust=1595882330875000&amp;source=images&amp;cd=vfe&amp;ved=0CAIQjRxqFwoTCOiboojj6-oCFQAAAAAdAAAAABAJ" TargetMode="External"/><Relationship Id="rId2" Type="http://schemas.openxmlformats.org/officeDocument/2006/relationships/hyperlink" Target="https://www.tutorialspoint.com/computer_logical_organization/sequential_circuits.ht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oogle.com/url?sa=i&amp;url=https://simple.wikipedia.org/wiki/Multiplexer&amp;psig=AOvVaw2pebfxXNZxynKOvbTXhLiM&amp;ust=1595884278300000&amp;source=images&amp;cd=vfe&amp;ved=0CAIQjRxqFwoTCLD8mbzq6-oCFQAAAAAdAAAAABAE" TargetMode="External"/><Relationship Id="rId4" Type="http://schemas.openxmlformats.org/officeDocument/2006/relationships/hyperlink" Target="https://www.google.com/search?q=combinational+circuits+in+digital+electronics&amp;source=lnms&amp;tbm=isch&amp;sa=X&amp;ved=0ahUKEwj526-wnv3iAhWSXCsKHf77AtQQ_AUIESgC&amp;biw=1366&amp;bih=657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url?sa=i&amp;url=http://www.vlsi-expert.com/2013/12/digital-basic-15-multiplexer-mux.html&amp;psig=AOvVaw3xN1zjAPc331kKANSJ_As5&amp;ust=1595886452950000&amp;source=images&amp;cd=vfe&amp;ved=0CAIQjRxqFwoTCOCG_Ljy6-oCFQAAAAAdAAAAABAD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0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8685551" y="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640080" y="6014156"/>
            <a:ext cx="38535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eaLnBrk="1" hangingPunct="1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MULTIPLEXER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982714" y="1703603"/>
            <a:ext cx="9063318" cy="5416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UIE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ACADEMIC UNIT-1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Introduction Electrical &amp; Electronics Engineering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23ECH-101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Shikha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Unit-2 Chapter-2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Multiplexer</a:t>
            </a:r>
            <a:r>
              <a:rPr lang="en-IN" sz="2000" b="1" dirty="0" smtClean="0"/>
              <a:t> </a:t>
            </a:r>
            <a:endParaRPr lang="en-IN" sz="2000" b="1" dirty="0"/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No. </a:t>
            </a:r>
            <a:r>
              <a:rPr lang="en-US" sz="2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2.1.4</a:t>
            </a:r>
            <a:endParaRPr lang="en-US" sz="2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Lecture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294883"/>
              </p:ext>
            </p:extLst>
          </p:nvPr>
        </p:nvGraphicFramePr>
        <p:xfrm>
          <a:off x="592954" y="2216506"/>
          <a:ext cx="6356486" cy="2076338"/>
        </p:xfrm>
        <a:graphic>
          <a:graphicData uri="http://schemas.openxmlformats.org/drawingml/2006/table">
            <a:tbl>
              <a:tblPr firstRow="1" firstCol="1" bandRow="1"/>
              <a:tblGrid>
                <a:gridCol w="541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5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3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S. No.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4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make student</a:t>
                      </a:r>
                      <a:r>
                        <a:rPr lang="en-US" sz="1200" b="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aware about the derivation of logic 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 the design of Multiplexer.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4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aware about</a:t>
                      </a:r>
                      <a:r>
                        <a:rPr lang="en-US" sz="1200" b="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implementation of 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Multiplexer </a:t>
                      </a:r>
                      <a:r>
                        <a:rPr lang="en-US" sz="1200" b="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circuit.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101252"/>
                  </a:ext>
                </a:extLst>
              </a:tr>
              <a:tr h="5159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learn about design of </a:t>
                      </a:r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different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design of </a:t>
                      </a:r>
                      <a:r>
                        <a:rPr lang="en-US" sz="1200" b="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muktiplexer</a:t>
                      </a:r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Picture 2" descr="https://executivefunctioningsuccess.com/wp-content/uploads/2010/06/analog-vs-digital.png">
            <a:extLst>
              <a:ext uri="{FF2B5EF4-FFF2-40B4-BE49-F238E27FC236}">
                <a16:creationId xmlns:a16="http://schemas.microsoft.com/office/drawing/2014/main" id="{D3E7CA57-4866-463C-94EE-F4DCD8953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95674" y="1594624"/>
            <a:ext cx="4466101" cy="27135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35651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446484" y="283496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Course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2" descr="https://executivefunctioningsuccess.com/wp-content/uploads/2010/06/analog-vs-digital.png">
            <a:extLst>
              <a:ext uri="{FF2B5EF4-FFF2-40B4-BE49-F238E27FC236}">
                <a16:creationId xmlns:a16="http://schemas.microsoft.com/office/drawing/2014/main" id="{2CED8DF6-0B67-41AC-8AA1-CCD94D5EE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95674" y="1594624"/>
            <a:ext cx="4466101" cy="2713518"/>
          </a:xfrm>
          <a:prstGeom prst="rect">
            <a:avLst/>
          </a:prstGeom>
          <a:noFill/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35131" y="2103120"/>
          <a:ext cx="6505303" cy="3722913"/>
        </p:xfrm>
        <a:graphic>
          <a:graphicData uri="http://schemas.openxmlformats.org/drawingml/2006/table">
            <a:tbl>
              <a:tblPr firstRow="1" firstCol="1" bandRow="1"/>
              <a:tblGrid>
                <a:gridCol w="554136">
                  <a:extLst>
                    <a:ext uri="{9D8B030D-6E8A-4147-A177-3AD203B41FA5}">
                      <a16:colId xmlns:a16="http://schemas.microsoft.com/office/drawing/2014/main" val="4074303963"/>
                    </a:ext>
                  </a:extLst>
                </a:gridCol>
                <a:gridCol w="5951167">
                  <a:extLst>
                    <a:ext uri="{9D8B030D-6E8A-4147-A177-3AD203B41FA5}">
                      <a16:colId xmlns:a16="http://schemas.microsoft.com/office/drawing/2014/main" val="805906204"/>
                    </a:ext>
                  </a:extLst>
                </a:gridCol>
              </a:tblGrid>
              <a:tr h="683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892665"/>
                  </a:ext>
                </a:extLst>
              </a:tr>
              <a:tr h="1013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Understand Electrical &amp; Electronics Engineering Fundamentals</a:t>
                      </a:r>
                      <a:r>
                        <a:rPr lang="en-US" sz="2000" kern="120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2000" kern="1200" spc="-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7693"/>
                  </a:ext>
                </a:extLst>
              </a:tr>
              <a:tr h="20260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IN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 prepare students to perform the analysis and design of various Electrical &amp; digital electronic circuits.</a:t>
                      </a: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706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6419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188720" y="388991"/>
            <a:ext cx="5055326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/>
              <a:t>Course Outcome </a:t>
            </a:r>
            <a:br>
              <a:rPr lang="en-US" sz="4400" b="1" dirty="0"/>
            </a:br>
            <a:endParaRPr lang="en-US" sz="4400" b="1" dirty="0">
              <a:latin typeface="Casper Bold"/>
              <a:cs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658" name="Picture 2" descr="Multiplexer And Demultiplexer Trainer, डिजिटल ट्रेनर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463" y="790302"/>
            <a:ext cx="3325100" cy="2500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198504"/>
              </p:ext>
            </p:extLst>
          </p:nvPr>
        </p:nvGraphicFramePr>
        <p:xfrm>
          <a:off x="757645" y="1700122"/>
          <a:ext cx="6844938" cy="4256542"/>
        </p:xfrm>
        <a:graphic>
          <a:graphicData uri="http://schemas.openxmlformats.org/drawingml/2006/table">
            <a:tbl>
              <a:tblPr firstRow="1" firstCol="1" bandRow="1"/>
              <a:tblGrid>
                <a:gridCol w="569808">
                  <a:extLst>
                    <a:ext uri="{9D8B030D-6E8A-4147-A177-3AD203B41FA5}">
                      <a16:colId xmlns:a16="http://schemas.microsoft.com/office/drawing/2014/main" val="3269582616"/>
                    </a:ext>
                  </a:extLst>
                </a:gridCol>
                <a:gridCol w="5361275">
                  <a:extLst>
                    <a:ext uri="{9D8B030D-6E8A-4147-A177-3AD203B41FA5}">
                      <a16:colId xmlns:a16="http://schemas.microsoft.com/office/drawing/2014/main" val="310181496"/>
                    </a:ext>
                  </a:extLst>
                </a:gridCol>
                <a:gridCol w="913855">
                  <a:extLst>
                    <a:ext uri="{9D8B030D-6E8A-4147-A177-3AD203B41FA5}">
                      <a16:colId xmlns:a16="http://schemas.microsoft.com/office/drawing/2014/main" val="2242646727"/>
                    </a:ext>
                  </a:extLst>
                </a:gridCol>
              </a:tblGrid>
              <a:tr h="4588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 Number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Title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Level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2222519"/>
                  </a:ext>
                </a:extLst>
              </a:tr>
              <a:tr h="710294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identify the different types of electrical elements and the basic op-amp circuit elements and to illustrate the various types of motors, transducers.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841131"/>
                  </a:ext>
                </a:extLst>
              </a:tr>
              <a:tr h="956500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understand basic principles of transformers, transducers, op-amps, DC and AC motors and to compare the different methods for analysing electrical and magnetic circuits.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915359"/>
                  </a:ext>
                </a:extLst>
              </a:tr>
              <a:tr h="710294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derive the relationships between parameters in electric and magnetic circuits and motors and to determine specifications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977130"/>
                  </a:ext>
                </a:extLst>
              </a:tr>
              <a:tr h="710294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solve the basic problems related to electric circuits, magnetic circuits and motors and to assess the characteristics of different configurations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1315325"/>
                  </a:ext>
                </a:extLst>
              </a:tr>
              <a:tr h="710294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design the different applications of transducers, motors as well as the op-amps like adders, </a:t>
                      </a:r>
                      <a:r>
                        <a:rPr lang="en-IN" sz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subtractor</a:t>
                      </a: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 and comparators.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-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615232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8581188" y="3845226"/>
            <a:ext cx="21434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sper Bold"/>
                <a:ea typeface="Karla" pitchFamily="2" charset="0"/>
                <a:cs typeface="Times New Roman" pitchFamily="18" charset="0"/>
              </a:rPr>
              <a:t>MULTIPLEXER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23637" y="1546412"/>
            <a:ext cx="10064556" cy="122205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000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000" b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6691" y="453572"/>
            <a:ext cx="10145530" cy="95452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GB" sz="4400" dirty="0" smtClean="0">
                <a:latin typeface="Casper Bold"/>
                <a:cs typeface="Times New Roman" pitchFamily="18" charset="0"/>
              </a:rPr>
              <a:t>MULTIPLEXER</a:t>
            </a:r>
            <a:endParaRPr lang="en-GB" sz="4400" dirty="0">
              <a:latin typeface="Casper Bold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86691" y="1408100"/>
            <a:ext cx="986443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smtClean="0">
                <a:solidFill>
                  <a:prstClr val="black"/>
                </a:solidFill>
                <a:latin typeface="Casper"/>
                <a:cs typeface="Times New Roman" pitchFamily="18" charset="0"/>
              </a:rPr>
              <a:t>Multiplexer (MUX) means many to one .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600" dirty="0" smtClean="0">
                <a:solidFill>
                  <a:prstClr val="black"/>
                </a:solidFill>
                <a:latin typeface="Casper"/>
                <a:cs typeface="Times New Roman" pitchFamily="18" charset="0"/>
              </a:rPr>
              <a:t>  n input lines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600" dirty="0" smtClean="0">
                <a:solidFill>
                  <a:prstClr val="black"/>
                </a:solidFill>
                <a:latin typeface="Casper"/>
                <a:cs typeface="Times New Roman" pitchFamily="18" charset="0"/>
              </a:rPr>
              <a:t>One output lines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600" dirty="0" smtClean="0">
                <a:solidFill>
                  <a:prstClr val="black"/>
                </a:solidFill>
                <a:latin typeface="Casper"/>
                <a:cs typeface="Times New Roman" pitchFamily="18" charset="0"/>
              </a:rPr>
              <a:t> m select lines  </a:t>
            </a:r>
          </a:p>
          <a:p>
            <a:pPr algn="just">
              <a:lnSpc>
                <a:spcPct val="150000"/>
              </a:lnSpc>
            </a:pPr>
            <a:r>
              <a:rPr lang="en-US" sz="1600" dirty="0" smtClean="0">
                <a:solidFill>
                  <a:prstClr val="black"/>
                </a:solidFill>
                <a:latin typeface="Casper"/>
                <a:cs typeface="Times New Roman" pitchFamily="18" charset="0"/>
              </a:rPr>
              <a:t> 		</a:t>
            </a:r>
            <a:r>
              <a:rPr lang="en-US" sz="1600" u="sng" dirty="0" smtClean="0">
                <a:solidFill>
                  <a:prstClr val="black"/>
                </a:solidFill>
                <a:latin typeface="Casper"/>
                <a:cs typeface="Times New Roman" pitchFamily="18" charset="0"/>
              </a:rPr>
              <a:t>N= 2</a:t>
            </a:r>
            <a:r>
              <a:rPr lang="en-US" sz="1600" u="sng" baseline="30000" dirty="0" smtClean="0">
                <a:solidFill>
                  <a:prstClr val="black"/>
                </a:solidFill>
                <a:latin typeface="Casper"/>
                <a:cs typeface="Times New Roman" pitchFamily="18" charset="0"/>
              </a:rPr>
              <a:t>m</a:t>
            </a:r>
            <a:r>
              <a:rPr lang="en-US" sz="1600" u="sng" dirty="0" smtClean="0">
                <a:solidFill>
                  <a:prstClr val="black"/>
                </a:solidFill>
                <a:latin typeface="Casper"/>
                <a:cs typeface="Times New Roman" pitchFamily="18" charset="0"/>
              </a:rPr>
              <a:t>   </a:t>
            </a:r>
          </a:p>
          <a:p>
            <a:pPr algn="just">
              <a:lnSpc>
                <a:spcPct val="150000"/>
              </a:lnSpc>
            </a:pPr>
            <a:endParaRPr lang="en-US" sz="1600" dirty="0" smtClean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 smtClean="0">
                <a:solidFill>
                  <a:prstClr val="black"/>
                </a:solidFill>
                <a:latin typeface="Casper"/>
                <a:cs typeface="Times New Roman" pitchFamily="18" charset="0"/>
              </a:rPr>
              <a:t>Different types of MUXS: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fr-FR" sz="1600" dirty="0" smtClean="0">
                <a:latin typeface="Casper"/>
                <a:cs typeface="Times New Roman" pitchFamily="18" charset="0"/>
              </a:rPr>
              <a:t>2 : 1 multiplexer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fr-FR" sz="1600" dirty="0" smtClean="0">
                <a:latin typeface="Casper"/>
                <a:cs typeface="Times New Roman" pitchFamily="18" charset="0"/>
              </a:rPr>
              <a:t>4 : 1 multiplexer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fr-FR" sz="1600" dirty="0" smtClean="0">
                <a:latin typeface="Casper"/>
                <a:cs typeface="Times New Roman" pitchFamily="18" charset="0"/>
              </a:rPr>
              <a:t>16 : 1 multiplexer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fr-FR" sz="1600" dirty="0" smtClean="0">
                <a:latin typeface="Casper"/>
                <a:cs typeface="Times New Roman" pitchFamily="18" charset="0"/>
              </a:rPr>
              <a:t>32 : 1 multiplexer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600" dirty="0" smtClean="0">
                <a:solidFill>
                  <a:prstClr val="black"/>
                </a:solidFill>
                <a:latin typeface="Casper"/>
                <a:cs typeface="Times New Roman" pitchFamily="18" charset="0"/>
              </a:rPr>
              <a:t>   64:1 MUX</a:t>
            </a:r>
            <a:endParaRPr lang="en-GB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</p:txBody>
      </p:sp>
      <p:sp>
        <p:nvSpPr>
          <p:cNvPr id="2" name="AutoShape 2" descr="Block Diagram of Full Adder"/>
          <p:cNvSpPr>
            <a:spLocks noChangeAspect="1" noChangeArrowheads="1"/>
          </p:cNvSpPr>
          <p:nvPr/>
        </p:nvSpPr>
        <p:spPr bwMode="auto">
          <a:xfrm>
            <a:off x="76969" y="-120463"/>
            <a:ext cx="369455" cy="26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</a:endParaRPr>
          </a:p>
        </p:txBody>
      </p:sp>
      <p:sp>
        <p:nvSpPr>
          <p:cNvPr id="8" name="AutoShape 2" descr="Full Substractor Truth Table"/>
          <p:cNvSpPr>
            <a:spLocks noChangeAspect="1" noChangeArrowheads="1"/>
          </p:cNvSpPr>
          <p:nvPr/>
        </p:nvSpPr>
        <p:spPr bwMode="auto">
          <a:xfrm>
            <a:off x="261697" y="14007"/>
            <a:ext cx="369455" cy="26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</a:endParaRPr>
          </a:p>
        </p:txBody>
      </p:sp>
      <p:pic>
        <p:nvPicPr>
          <p:cNvPr id="71682" name="Picture 2" descr="Multiplexers - CircuitVer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938" y="1408100"/>
            <a:ext cx="4618430" cy="432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552100" y="5936122"/>
            <a:ext cx="3641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asper"/>
              </a:rPr>
              <a:t>Figure 1 General diagram of MUX </a:t>
            </a:r>
            <a:endParaRPr lang="en-US" sz="16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2606030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970" y="480887"/>
            <a:ext cx="10515600" cy="823596"/>
          </a:xfrm>
        </p:spPr>
        <p:txBody>
          <a:bodyPr/>
          <a:lstStyle/>
          <a:p>
            <a:pPr algn="ctr"/>
            <a:r>
              <a:rPr lang="en-US" dirty="0" smtClean="0">
                <a:latin typeface="Casper Bold"/>
              </a:rPr>
              <a:t>   2:1 MUX</a:t>
            </a:r>
            <a:endParaRPr lang="en-US" dirty="0">
              <a:latin typeface="Casper 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94071" y="5461082"/>
            <a:ext cx="38535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asper"/>
              </a:rPr>
              <a:t>Figure 2 Block diagram of 2:1 MUX </a:t>
            </a:r>
            <a:endParaRPr lang="en-US" sz="1600" dirty="0">
              <a:latin typeface="Casp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3319" y="1304483"/>
            <a:ext cx="101629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Casper"/>
              </a:rPr>
              <a:t>There are 2 input lines I</a:t>
            </a:r>
            <a:r>
              <a:rPr lang="en-US" sz="1600" baseline="-25000" dirty="0" smtClean="0">
                <a:latin typeface="Casper"/>
              </a:rPr>
              <a:t>0,</a:t>
            </a:r>
            <a:r>
              <a:rPr lang="en-US" sz="1600" dirty="0" smtClean="0">
                <a:latin typeface="Casper"/>
              </a:rPr>
              <a:t> I</a:t>
            </a:r>
            <a:r>
              <a:rPr lang="en-US" sz="1600" baseline="-25000" dirty="0" smtClean="0">
                <a:latin typeface="Casper"/>
              </a:rPr>
              <a:t>1</a:t>
            </a:r>
            <a:r>
              <a:rPr lang="en-US" sz="1600" baseline="-25000" dirty="0">
                <a:latin typeface="Casper"/>
              </a:rPr>
              <a:t>.</a:t>
            </a:r>
            <a:endParaRPr lang="en-US" sz="1600" baseline="-25000" dirty="0" smtClean="0">
              <a:latin typeface="Casper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Casper"/>
              </a:rPr>
              <a:t>There is one select lines S</a:t>
            </a:r>
            <a:r>
              <a:rPr lang="en-US" sz="1600" baseline="-25000" dirty="0">
                <a:latin typeface="Casper"/>
              </a:rPr>
              <a:t>.</a:t>
            </a:r>
            <a:r>
              <a:rPr lang="en-US" sz="1600" dirty="0" smtClean="0">
                <a:latin typeface="Casper"/>
              </a:rPr>
              <a:t> </a:t>
            </a:r>
            <a:endParaRPr lang="en-US" sz="1600" baseline="-25000" dirty="0" smtClean="0">
              <a:latin typeface="Casper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Casper"/>
              </a:rPr>
              <a:t>One output line.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006255" cy="318780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70658" name="Picture 2" descr="Multiplexer - Simple English Wikipedia, the free encyclo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802" y="2820122"/>
            <a:ext cx="5838578" cy="2319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5170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970" y="480887"/>
            <a:ext cx="10515600" cy="823596"/>
          </a:xfrm>
        </p:spPr>
        <p:txBody>
          <a:bodyPr/>
          <a:lstStyle/>
          <a:p>
            <a:pPr algn="ctr"/>
            <a:r>
              <a:rPr lang="en-US" dirty="0" smtClean="0">
                <a:latin typeface="Casper Bold"/>
              </a:rPr>
              <a:t>   2:1 MUX</a:t>
            </a:r>
            <a:endParaRPr lang="en-US" dirty="0">
              <a:latin typeface="Casper 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380080" y="5461082"/>
            <a:ext cx="38535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asper"/>
              </a:rPr>
              <a:t>Figure  3 Logic diagram of 2:1 MUX </a:t>
            </a:r>
            <a:endParaRPr lang="en-US" sz="1600" dirty="0">
              <a:latin typeface="Casp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3319" y="1304483"/>
            <a:ext cx="10162903" cy="1893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zh-TW" sz="1600" dirty="0">
                <a:latin typeface="Casper"/>
              </a:rPr>
              <a:t>S = 0, Y = I</a:t>
            </a:r>
            <a:r>
              <a:rPr lang="en-US" altLang="zh-TW" sz="1600" baseline="-22000" dirty="0">
                <a:latin typeface="Casper"/>
              </a:rPr>
              <a:t>0</a:t>
            </a:r>
            <a:r>
              <a:rPr lang="en-US" altLang="zh-TW" sz="1600" dirty="0">
                <a:latin typeface="Casper"/>
              </a:rPr>
              <a:t>		</a:t>
            </a:r>
            <a:endParaRPr lang="en-US" altLang="zh-TW" sz="1600" dirty="0" smtClean="0">
              <a:latin typeface="Casper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zh-TW" sz="1600" dirty="0" smtClean="0">
                <a:latin typeface="Casper"/>
              </a:rPr>
              <a:t>S </a:t>
            </a:r>
            <a:r>
              <a:rPr lang="en-US" altLang="zh-TW" sz="1600" dirty="0">
                <a:latin typeface="Casper"/>
              </a:rPr>
              <a:t>= 1, Y = I</a:t>
            </a:r>
            <a:r>
              <a:rPr lang="en-US" altLang="zh-TW" sz="1600" baseline="-22000" dirty="0">
                <a:latin typeface="Casper"/>
              </a:rPr>
              <a:t>1</a:t>
            </a:r>
            <a:r>
              <a:rPr lang="en-US" altLang="zh-TW" sz="1600" dirty="0">
                <a:latin typeface="Casper"/>
              </a:rPr>
              <a:t>	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zh-TW" sz="1600" dirty="0" smtClean="0">
                <a:latin typeface="Casper"/>
              </a:rPr>
              <a:t>Boolean Expression the 2:1 MUX is</a:t>
            </a:r>
          </a:p>
          <a:p>
            <a:pPr>
              <a:lnSpc>
                <a:spcPct val="150000"/>
              </a:lnSpc>
            </a:pPr>
            <a:r>
              <a:rPr lang="en-US" altLang="zh-TW" sz="1600" dirty="0">
                <a:latin typeface="Casper"/>
              </a:rPr>
              <a:t>	</a:t>
            </a:r>
            <a:r>
              <a:rPr lang="en-US" altLang="zh-TW" sz="1600" dirty="0" smtClean="0">
                <a:latin typeface="Casper"/>
              </a:rPr>
              <a:t>Y </a:t>
            </a:r>
            <a:r>
              <a:rPr lang="en-US" altLang="zh-TW" sz="1600" dirty="0">
                <a:latin typeface="Casper"/>
              </a:rPr>
              <a:t>= S’I</a:t>
            </a:r>
            <a:r>
              <a:rPr lang="en-US" altLang="zh-TW" sz="1600" baseline="-22000" dirty="0">
                <a:latin typeface="Casper"/>
              </a:rPr>
              <a:t>0</a:t>
            </a:r>
            <a:r>
              <a:rPr lang="en-US" altLang="zh-TW" sz="1600" dirty="0">
                <a:latin typeface="Casper"/>
              </a:rPr>
              <a:t> + SI</a:t>
            </a:r>
            <a:r>
              <a:rPr lang="en-US" altLang="zh-TW" sz="1600" baseline="-22000" dirty="0">
                <a:latin typeface="Casper"/>
              </a:rPr>
              <a:t>1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TW" sz="1600" dirty="0">
                <a:latin typeface="Casper"/>
              </a:rPr>
              <a:t>			</a:t>
            </a:r>
            <a:endParaRPr lang="en-US" sz="1600" dirty="0" smtClean="0">
              <a:latin typeface="Casp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V="1">
            <a:off x="838200" y="6176962"/>
            <a:ext cx="10515600" cy="30266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929009"/>
              </p:ext>
            </p:extLst>
          </p:nvPr>
        </p:nvGraphicFramePr>
        <p:xfrm>
          <a:off x="1923393" y="3881045"/>
          <a:ext cx="2207172" cy="1837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3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24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S</a:t>
                      </a:r>
                      <a:endParaRPr lang="en-US" sz="1600" baseline="-250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Output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4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I</a:t>
                      </a:r>
                      <a:r>
                        <a:rPr lang="en-US" sz="1600" baseline="-25000" dirty="0" smtClean="0">
                          <a:latin typeface="Casper"/>
                        </a:rPr>
                        <a:t>0</a:t>
                      </a:r>
                      <a:endParaRPr lang="en-US" sz="1600" baseline="-25000" dirty="0">
                        <a:latin typeface="Casp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4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1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Casper"/>
                        </a:rPr>
                        <a:t>I</a:t>
                      </a:r>
                      <a:r>
                        <a:rPr lang="en-US" sz="1600" baseline="-25000" dirty="0" smtClean="0">
                          <a:latin typeface="Casper"/>
                        </a:rPr>
                        <a:t>1</a:t>
                      </a:r>
                    </a:p>
                    <a:p>
                      <a:pPr algn="ctr"/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355368" y="3497632"/>
            <a:ext cx="1696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 </a:t>
            </a:r>
            <a:r>
              <a:rPr lang="en-US" altLang="zh-TW" sz="1600" dirty="0">
                <a:latin typeface="Casper"/>
              </a:rPr>
              <a:t>Truth Table</a:t>
            </a:r>
            <a:endParaRPr lang="en-US" sz="1600" dirty="0">
              <a:latin typeface="Casper"/>
            </a:endParaRPr>
          </a:p>
        </p:txBody>
      </p:sp>
      <p:pic>
        <p:nvPicPr>
          <p:cNvPr id="71682" name="Picture 2" descr="Design a circuit using only 2 to 1 multiplexers that implements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748" y="2251152"/>
            <a:ext cx="5527895" cy="2929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3293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669" y="239001"/>
            <a:ext cx="10515600" cy="1325563"/>
          </a:xfrm>
        </p:spPr>
        <p:txBody>
          <a:bodyPr/>
          <a:lstStyle/>
          <a:p>
            <a:r>
              <a:rPr lang="en-IN" b="1" dirty="0" smtClean="0"/>
              <a:t> Implementation of NOT gate using 2 : 1 </a:t>
            </a:r>
            <a:r>
              <a:rPr lang="en-IN" b="1" dirty="0" err="1" smtClean="0"/>
              <a:t>Mux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1240"/>
            <a:ext cx="10515600" cy="2601311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IN" dirty="0" smtClean="0"/>
              <a:t>Multiplexer can act as universal combinational circuit. All the standard logic gates can be implemented with multiplexers.</a:t>
            </a:r>
          </a:p>
          <a:p>
            <a:pPr fontAlgn="base"/>
            <a:r>
              <a:rPr lang="en-IN" dirty="0" smtClean="0"/>
              <a:t>We can analyze it</a:t>
            </a:r>
            <a:br>
              <a:rPr lang="en-IN" dirty="0" smtClean="0"/>
            </a:br>
            <a:r>
              <a:rPr lang="en-IN" dirty="0" smtClean="0"/>
              <a:t>Y = x’.1 + x.0 = x’</a:t>
            </a:r>
            <a:br>
              <a:rPr lang="en-IN" dirty="0" smtClean="0"/>
            </a:br>
            <a:r>
              <a:rPr lang="en-IN" dirty="0" smtClean="0"/>
              <a:t>It is NOT Gate using 2:1 MUX.</a:t>
            </a:r>
            <a:br>
              <a:rPr lang="en-IN" dirty="0" smtClean="0"/>
            </a:br>
            <a:r>
              <a:rPr lang="en-IN" dirty="0" smtClean="0"/>
              <a:t>The implementation of NOT gate is done using “n” selection lines. It cannot be implemented using “n-1” selection lines. Only NOT gate cannot be implemented using “n-1” selection lines.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 descr="https://media.geeksforgeeks.org/wp-content/uploads/4-35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3873882"/>
            <a:ext cx="10646321" cy="2716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001703" cy="738461"/>
          </a:xfrm>
        </p:spPr>
        <p:txBody>
          <a:bodyPr/>
          <a:lstStyle/>
          <a:p>
            <a:r>
              <a:rPr lang="en-IN" b="1" dirty="0" smtClean="0"/>
              <a:t>Implementation of AND gate using 2 : 1 </a:t>
            </a:r>
            <a:r>
              <a:rPr lang="en-IN" b="1" dirty="0" err="1" smtClean="0"/>
              <a:t>Mux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Content Placeholder 4" descr="https://media.geeksforgeeks.org/wp-content/uploads/5-26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372" y="1576552"/>
            <a:ext cx="11256580" cy="4840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670628" cy="596572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Implementation of OR gate using 2 : 1 </a:t>
            </a:r>
            <a:r>
              <a:rPr lang="en-IN" b="1" dirty="0" err="1" smtClean="0"/>
              <a:t>Mux</a:t>
            </a:r>
            <a:r>
              <a:rPr lang="en-IN" b="1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Content Placeholder 4" descr="https://media.geeksforgeeks.org/wp-content/uploads/6-21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40" y="1261241"/>
            <a:ext cx="11209284" cy="5312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970" y="480887"/>
            <a:ext cx="10515600" cy="823596"/>
          </a:xfrm>
        </p:spPr>
        <p:txBody>
          <a:bodyPr/>
          <a:lstStyle/>
          <a:p>
            <a:pPr algn="ctr"/>
            <a:r>
              <a:rPr lang="en-US" dirty="0" smtClean="0">
                <a:latin typeface="Casper Bold"/>
              </a:rPr>
              <a:t>   4:1 MUX</a:t>
            </a:r>
            <a:endParaRPr lang="en-US" dirty="0">
              <a:latin typeface="Casper 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52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13879" y="2648608"/>
            <a:ext cx="5185983" cy="277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4846320" y="5630359"/>
            <a:ext cx="38535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asper"/>
              </a:rPr>
              <a:t>Figure 4 Block diagram of 4:1 MUX </a:t>
            </a:r>
            <a:endParaRPr lang="en-US" sz="1600" dirty="0">
              <a:latin typeface="Casp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3319" y="1304483"/>
            <a:ext cx="10162903" cy="1155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Casper"/>
              </a:rPr>
              <a:t>There are 4 input lines I</a:t>
            </a:r>
            <a:r>
              <a:rPr lang="en-US" sz="1600" baseline="-25000" dirty="0" smtClean="0">
                <a:latin typeface="Casper"/>
              </a:rPr>
              <a:t>0,</a:t>
            </a:r>
            <a:r>
              <a:rPr lang="en-US" sz="1600" dirty="0" smtClean="0">
                <a:latin typeface="Casper"/>
              </a:rPr>
              <a:t> I</a:t>
            </a:r>
            <a:r>
              <a:rPr lang="en-US" sz="1600" baseline="-25000" dirty="0" smtClean="0">
                <a:latin typeface="Casper"/>
              </a:rPr>
              <a:t>1,</a:t>
            </a:r>
            <a:r>
              <a:rPr lang="en-US" sz="1600" dirty="0" smtClean="0">
                <a:latin typeface="Casper"/>
              </a:rPr>
              <a:t> I</a:t>
            </a:r>
            <a:r>
              <a:rPr lang="en-US" sz="1600" baseline="-25000" dirty="0" smtClean="0">
                <a:latin typeface="Casper"/>
              </a:rPr>
              <a:t>2,</a:t>
            </a:r>
            <a:r>
              <a:rPr lang="en-US" sz="1600" dirty="0" smtClean="0">
                <a:latin typeface="Casper"/>
              </a:rPr>
              <a:t> I</a:t>
            </a:r>
            <a:r>
              <a:rPr lang="en-US" sz="1600" baseline="-25000" dirty="0" smtClean="0">
                <a:latin typeface="Casper"/>
              </a:rPr>
              <a:t>3.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Casper"/>
              </a:rPr>
              <a:t>There are two select lines S</a:t>
            </a:r>
            <a:r>
              <a:rPr lang="en-US" sz="1600" baseline="-25000" dirty="0" smtClean="0">
                <a:latin typeface="Casper"/>
              </a:rPr>
              <a:t>0</a:t>
            </a:r>
            <a:r>
              <a:rPr lang="en-US" sz="1600" dirty="0" smtClean="0">
                <a:latin typeface="Casper"/>
              </a:rPr>
              <a:t> , S</a:t>
            </a:r>
            <a:r>
              <a:rPr lang="en-US" sz="1600" baseline="-25000" dirty="0" smtClean="0">
                <a:latin typeface="Casper"/>
              </a:rPr>
              <a:t>1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Casper"/>
              </a:rPr>
              <a:t>One output line. </a:t>
            </a:r>
          </a:p>
        </p:txBody>
      </p:sp>
    </p:spTree>
    <p:extLst>
      <p:ext uri="{BB962C8B-B14F-4D97-AF65-F5344CB8AC3E}">
        <p14:creationId xmlns:p14="http://schemas.microsoft.com/office/powerpoint/2010/main" val="56015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8367" y="512418"/>
            <a:ext cx="10515600" cy="823596"/>
          </a:xfrm>
        </p:spPr>
        <p:txBody>
          <a:bodyPr/>
          <a:lstStyle/>
          <a:p>
            <a:pPr algn="ctr"/>
            <a:r>
              <a:rPr lang="en-US" dirty="0" smtClean="0">
                <a:latin typeface="Casper Bold"/>
              </a:rPr>
              <a:t>   4:1 MUX</a:t>
            </a:r>
            <a:endParaRPr lang="en-US" dirty="0">
              <a:latin typeface="Casper 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257247"/>
              </p:ext>
            </p:extLst>
          </p:nvPr>
        </p:nvGraphicFramePr>
        <p:xfrm>
          <a:off x="4635063" y="2550112"/>
          <a:ext cx="3310758" cy="3062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3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3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4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S</a:t>
                      </a:r>
                      <a:r>
                        <a:rPr lang="en-US" sz="1600" baseline="-25000" dirty="0" smtClean="0">
                          <a:latin typeface="Casper"/>
                        </a:rPr>
                        <a:t>1</a:t>
                      </a:r>
                      <a:endParaRPr lang="en-US" sz="1600" baseline="-250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S</a:t>
                      </a:r>
                      <a:r>
                        <a:rPr lang="en-US" sz="1600" baseline="-25000" dirty="0" smtClean="0">
                          <a:latin typeface="Casper"/>
                        </a:rPr>
                        <a:t>0</a:t>
                      </a:r>
                      <a:endParaRPr lang="en-US" sz="1600" baseline="-250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Output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4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I</a:t>
                      </a:r>
                      <a:r>
                        <a:rPr lang="en-US" sz="1600" baseline="-25000" dirty="0" smtClean="0">
                          <a:latin typeface="Casper"/>
                        </a:rPr>
                        <a:t>0</a:t>
                      </a:r>
                      <a:endParaRPr lang="en-US" sz="1600" baseline="-25000" dirty="0">
                        <a:latin typeface="Casp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4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1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Casper"/>
                        </a:rPr>
                        <a:t>I</a:t>
                      </a:r>
                      <a:r>
                        <a:rPr lang="en-US" sz="1600" baseline="-25000" dirty="0" smtClean="0">
                          <a:latin typeface="Casper"/>
                        </a:rPr>
                        <a:t>1</a:t>
                      </a:r>
                    </a:p>
                    <a:p>
                      <a:pPr algn="ctr"/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4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1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Casper"/>
                        </a:rPr>
                        <a:t>I</a:t>
                      </a:r>
                      <a:r>
                        <a:rPr lang="en-US" sz="1600" baseline="-25000" dirty="0" smtClean="0">
                          <a:latin typeface="Casper"/>
                        </a:rPr>
                        <a:t>2</a:t>
                      </a:r>
                    </a:p>
                    <a:p>
                      <a:pPr algn="ctr"/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4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1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1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Casper"/>
                        </a:rPr>
                        <a:t>I</a:t>
                      </a:r>
                      <a:r>
                        <a:rPr lang="en-US" sz="1600" baseline="-25000" dirty="0" smtClean="0">
                          <a:latin typeface="Casper"/>
                        </a:rPr>
                        <a:t>3</a:t>
                      </a:r>
                    </a:p>
                    <a:p>
                      <a:pPr algn="ctr"/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209377" y="1897419"/>
            <a:ext cx="3130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asper"/>
              </a:rPr>
              <a:t> Truth table of 4:1 MUX</a:t>
            </a:r>
            <a:endParaRPr lang="en-US" sz="1600" dirty="0">
              <a:latin typeface="Casp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003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760" y="169182"/>
            <a:ext cx="10515600" cy="823596"/>
          </a:xfrm>
        </p:spPr>
        <p:txBody>
          <a:bodyPr/>
          <a:lstStyle/>
          <a:p>
            <a:pPr algn="ctr"/>
            <a:r>
              <a:rPr lang="en-US" dirty="0" smtClean="0">
                <a:latin typeface="Casper Bold"/>
              </a:rPr>
              <a:t>   4:1 MUX</a:t>
            </a:r>
            <a:endParaRPr lang="en-US" dirty="0">
              <a:latin typeface="Casper 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4119" y="1450427"/>
            <a:ext cx="6863384" cy="43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4567645" y="5876759"/>
            <a:ext cx="41322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asper"/>
              </a:rPr>
              <a:t>Figure 6 Logic  diagram of 4:1 MUX </a:t>
            </a:r>
            <a:endParaRPr lang="en-US" sz="1600" dirty="0">
              <a:latin typeface="Casp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109841" cy="381843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63281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760" y="169182"/>
            <a:ext cx="10515600" cy="823596"/>
          </a:xfrm>
        </p:spPr>
        <p:txBody>
          <a:bodyPr/>
          <a:lstStyle/>
          <a:p>
            <a:pPr algn="ctr"/>
            <a:r>
              <a:rPr lang="en-US" dirty="0" smtClean="0">
                <a:latin typeface="Casper Bold"/>
              </a:rPr>
              <a:t>   4:1 MUX using 2:1 MUX</a:t>
            </a:r>
            <a:endParaRPr lang="en-US" dirty="0">
              <a:latin typeface="Casper 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575412" y="5705241"/>
            <a:ext cx="5884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asper"/>
              </a:rPr>
              <a:t>Figure 7 Logic  diagram of 4:1 MUX using 2:1 MUX </a:t>
            </a:r>
            <a:endParaRPr lang="en-US" sz="1600" dirty="0">
              <a:latin typeface="Casp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V="1">
            <a:off x="838200" y="1779906"/>
            <a:ext cx="10515600" cy="4571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2708" name="Picture 4" descr="DIGITAL BASIC - 1.5 : Multiplexer (MUX) |VLSI Concep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242" y="1560785"/>
            <a:ext cx="6139063" cy="3970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02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760" y="169182"/>
            <a:ext cx="10515600" cy="823596"/>
          </a:xfrm>
        </p:spPr>
        <p:txBody>
          <a:bodyPr/>
          <a:lstStyle/>
          <a:p>
            <a:pPr algn="ctr"/>
            <a:r>
              <a:rPr lang="en-US" dirty="0" smtClean="0">
                <a:latin typeface="Casper Bold"/>
              </a:rPr>
              <a:t>   8:1 MUX using 2:1 and 4:1 MUX</a:t>
            </a:r>
            <a:endParaRPr lang="en-US" dirty="0">
              <a:latin typeface="Casper 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575412" y="6033631"/>
            <a:ext cx="5884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asper"/>
              </a:rPr>
              <a:t>Figure 8 Logic  diagram of 8:1 MUX </a:t>
            </a:r>
            <a:endParaRPr lang="en-US" sz="1600" dirty="0">
              <a:latin typeface="Casp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V="1">
            <a:off x="838200" y="1779906"/>
            <a:ext cx="10515600" cy="4571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3730" name="Picture 2" descr="Digital Circuits - Multiplexers - Tutorialspoi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679" y="1354556"/>
            <a:ext cx="5472714" cy="4524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26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15714" name="AutoShape 2" descr="How do implement an 8:1 line multiplexer using two 4:1 line multiplexers? -  Quor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5716" name="Picture 4" descr="Multiplexer in digital electronics - Electronics fu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6361" y="312627"/>
            <a:ext cx="7806012" cy="602472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760" y="279540"/>
            <a:ext cx="10515600" cy="823596"/>
          </a:xfrm>
        </p:spPr>
        <p:txBody>
          <a:bodyPr/>
          <a:lstStyle/>
          <a:p>
            <a:pPr algn="ctr"/>
            <a:r>
              <a:rPr lang="en-US" dirty="0" smtClean="0">
                <a:latin typeface="Casper Bold"/>
              </a:rPr>
              <a:t>   8:1 MUX using only 2:1 MUX</a:t>
            </a:r>
            <a:endParaRPr lang="en-US" dirty="0">
              <a:latin typeface="Casper 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575412" y="6033631"/>
            <a:ext cx="5884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asper"/>
              </a:rPr>
              <a:t>Figure 9 Logic  diagram of 8:1 MUX </a:t>
            </a:r>
            <a:endParaRPr lang="en-US" sz="1600" dirty="0">
              <a:latin typeface="Casp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V="1">
            <a:off x="838200" y="1779906"/>
            <a:ext cx="10515600" cy="4571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4754" name="Picture 2" descr="Solved: Build A 8-1 Multiplexer Using 2-1 Multiplexers. Al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664" y="1451850"/>
            <a:ext cx="6419641" cy="4446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6071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Questions: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Implement the following expression using MUX</a:t>
            </a:r>
          </a:p>
          <a:p>
            <a:pPr marL="514350" indent="-514350">
              <a:buAutoNum type="arabicPeriod"/>
            </a:pPr>
            <a:r>
              <a:rPr lang="en-US" dirty="0" smtClean="0"/>
              <a:t>Y(</a:t>
            </a:r>
            <a:r>
              <a:rPr lang="en-US" dirty="0" err="1" smtClean="0"/>
              <a:t>a,b,c</a:t>
            </a:r>
            <a:r>
              <a:rPr lang="en-US" dirty="0" smtClean="0"/>
              <a:t>)=∑m(0,1,6,7)</a:t>
            </a:r>
          </a:p>
          <a:p>
            <a:pPr marL="514350" indent="-514350">
              <a:buAutoNum type="arabicPeriod"/>
            </a:pPr>
            <a:r>
              <a:rPr lang="en-US" dirty="0" smtClean="0"/>
              <a:t>Y=A’BC’+AB’C’D+A’B’D+A’CD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16738" name="Picture 2" descr="Block diagram of 16:1 MUX using four 4:1 MUX only - Electrical Engineering  Stack Exchan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1650717" cy="68580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2422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Casper Bold" panose="02000806040000020004" pitchFamily="2" charset="0"/>
                <a:cs typeface="Arial" panose="020B0604020202020204" pitchFamily="34" charset="0"/>
              </a:rPr>
              <a:t>Assessment </a:t>
            </a:r>
            <a:r>
              <a:rPr lang="en-US" dirty="0" smtClean="0">
                <a:latin typeface="Casper Bold" panose="02000806040000020004" pitchFamily="2" charset="0"/>
                <a:cs typeface="Arial" panose="020B0604020202020204" pitchFamily="34" charset="0"/>
              </a:rPr>
              <a:t>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endParaRPr lang="en-US" sz="1600" dirty="0">
              <a:latin typeface="Casper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 smtClean="0">
                <a:latin typeface="Casper"/>
              </a:rPr>
              <a:t>Design </a:t>
            </a:r>
            <a:r>
              <a:rPr lang="en-US" sz="1600" dirty="0">
                <a:latin typeface="Casper"/>
              </a:rPr>
              <a:t>a </a:t>
            </a:r>
            <a:r>
              <a:rPr lang="en-US" sz="1600" dirty="0" smtClean="0">
                <a:latin typeface="Casper"/>
              </a:rPr>
              <a:t>8:1 multiplexer.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 smtClean="0">
                <a:latin typeface="Casper"/>
              </a:rPr>
              <a:t>Design </a:t>
            </a:r>
            <a:r>
              <a:rPr lang="en-US" sz="1600" dirty="0">
                <a:latin typeface="Casper"/>
              </a:rPr>
              <a:t>an 8:1 mux using  2:1 </a:t>
            </a:r>
            <a:r>
              <a:rPr lang="en-US" sz="1600" dirty="0" smtClean="0">
                <a:latin typeface="Casper"/>
              </a:rPr>
              <a:t>mux.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 smtClean="0">
                <a:latin typeface="Casper"/>
              </a:rPr>
              <a:t>Design </a:t>
            </a:r>
            <a:r>
              <a:rPr lang="en-US" sz="1600" dirty="0">
                <a:latin typeface="Casper"/>
              </a:rPr>
              <a:t>an </a:t>
            </a:r>
            <a:r>
              <a:rPr lang="en-US" sz="1600" dirty="0" smtClean="0">
                <a:latin typeface="Casper"/>
              </a:rPr>
              <a:t>16:1 </a:t>
            </a:r>
            <a:r>
              <a:rPr lang="en-US" sz="1600" dirty="0">
                <a:latin typeface="Casper"/>
              </a:rPr>
              <a:t>mux using  </a:t>
            </a:r>
            <a:r>
              <a:rPr lang="en-US" sz="1600" dirty="0" smtClean="0">
                <a:latin typeface="Casper"/>
              </a:rPr>
              <a:t>4:1 mux  only.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 smtClean="0">
                <a:latin typeface="Casper"/>
              </a:rPr>
              <a:t>Design </a:t>
            </a:r>
            <a:r>
              <a:rPr lang="en-US" sz="1600" dirty="0">
                <a:latin typeface="Casper"/>
              </a:rPr>
              <a:t>an </a:t>
            </a:r>
            <a:r>
              <a:rPr lang="en-US" sz="1600" dirty="0" smtClean="0">
                <a:latin typeface="Casper"/>
              </a:rPr>
              <a:t>16:1 </a:t>
            </a:r>
            <a:r>
              <a:rPr lang="en-US" sz="1600" dirty="0">
                <a:latin typeface="Casper"/>
              </a:rPr>
              <a:t>mux using  </a:t>
            </a:r>
            <a:r>
              <a:rPr lang="en-US" sz="1600" dirty="0" smtClean="0">
                <a:latin typeface="Casper"/>
              </a:rPr>
              <a:t>lower order </a:t>
            </a:r>
            <a:r>
              <a:rPr lang="en-US" sz="1600" dirty="0">
                <a:latin typeface="Casper"/>
              </a:rPr>
              <a:t>mux.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AutoNum type="arabicPeriod"/>
            </a:pPr>
            <a:endParaRPr lang="en-US" sz="1600" dirty="0">
              <a:latin typeface="Casper"/>
            </a:endParaRPr>
          </a:p>
          <a:p>
            <a:pPr>
              <a:lnSpc>
                <a:spcPct val="200000"/>
              </a:lnSpc>
              <a:buNone/>
            </a:pPr>
            <a:endParaRPr lang="en-US" sz="1600" dirty="0">
              <a:latin typeface="Casper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2033749"/>
            <a:ext cx="10515600" cy="412268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075" y="164419"/>
            <a:ext cx="10515600" cy="1279527"/>
          </a:xfrm>
        </p:spPr>
        <p:txBody>
          <a:bodyPr/>
          <a:lstStyle/>
          <a:p>
            <a:pPr algn="ctr"/>
            <a:r>
              <a:rPr lang="en-US" dirty="0" smtClean="0">
                <a:latin typeface="Casper Bold" panose="02000806040000020004" pitchFamily="2" charset="0"/>
                <a:cs typeface="Arial" panose="020B0604020202020204" pitchFamily="34" charset="0"/>
              </a:rPr>
              <a:t>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 smtClean="0">
                <a:latin typeface="Casper"/>
                <a:cs typeface="Times New Roman" pitchFamily="18" charset="0"/>
              </a:rPr>
              <a:t>Used in Transmission o </a:t>
            </a:r>
            <a:r>
              <a:rPr lang="en-US" sz="1600" dirty="0" err="1" smtClean="0">
                <a:latin typeface="Casper"/>
                <a:cs typeface="Times New Roman" pitchFamily="18" charset="0"/>
              </a:rPr>
              <a:t>fDATA</a:t>
            </a:r>
            <a:r>
              <a:rPr lang="en-US" sz="1600" dirty="0" smtClean="0">
                <a:latin typeface="Casper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Casper"/>
                <a:cs typeface="Times New Roman" pitchFamily="18" charset="0"/>
              </a:rPr>
              <a:t>In selection of MEMORY in computers.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Casper"/>
                <a:cs typeface="Times New Roman" pitchFamily="18" charset="0"/>
              </a:rPr>
              <a:t>As a switch</a:t>
            </a:r>
          </a:p>
          <a:p>
            <a:pPr marL="0" indent="0">
              <a:buNone/>
            </a:pPr>
            <a:endParaRPr lang="en-US" sz="1600" dirty="0">
              <a:latin typeface="Casper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012" y="164418"/>
            <a:ext cx="10515600" cy="1279527"/>
          </a:xfrm>
        </p:spPr>
        <p:txBody>
          <a:bodyPr/>
          <a:lstStyle/>
          <a:p>
            <a:pPr algn="ctr"/>
            <a:r>
              <a:rPr lang="en-US" dirty="0" smtClean="0">
                <a:latin typeface="Casper Bold" panose="02000806040000020004" pitchFamily="2" charset="0"/>
                <a:cs typeface="Arial" panose="020B0604020202020204" pitchFamily="34" charset="0"/>
              </a:rPr>
              <a:t>REFERENCES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9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25137" y="1290048"/>
            <a:ext cx="10515600" cy="5397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048" tIns="41025" rIns="82048" bIns="41025">
            <a:spAutoFit/>
          </a:bodyPr>
          <a:lstStyle/>
          <a:p>
            <a:pPr marL="342900" indent="-342900" defTabSz="820487">
              <a:lnSpc>
                <a:spcPct val="150000"/>
              </a:lnSpc>
            </a:pPr>
            <a:r>
              <a:rPr lang="en-US" sz="1600" dirty="0">
                <a:hlinkClick r:id="rId2"/>
              </a:rPr>
              <a:t>https://</a:t>
            </a:r>
            <a:r>
              <a:rPr lang="en-US" sz="1600" dirty="0" smtClean="0">
                <a:hlinkClick r:id="rId2"/>
              </a:rPr>
              <a:t>www.google.com/url?sa=i&amp;url=https%3A%2F%2Fwww.indiamart.com%2Fproddetail%2Fmultiplexer-and-demultiplexer-trainer-9336916362.html&amp;psig=AOvVaw3rvmgb8TYvQK2MTxMP2mes&amp;ust=1595882004114000&amp;source=images&amp;cd=vfe&amp;ved=0CAIQjRxqFwoTCKDo-fbh6-oCFQAAAAAdAAAAABAD</a:t>
            </a:r>
          </a:p>
          <a:p>
            <a:pPr marL="342900" indent="-342900" defTabSz="820487">
              <a:lnSpc>
                <a:spcPct val="150000"/>
              </a:lnSpc>
            </a:pPr>
            <a:r>
              <a:rPr lang="en-US" sz="1600" dirty="0">
                <a:hlinkClick r:id="rId3"/>
              </a:rPr>
              <a:t>https://</a:t>
            </a:r>
            <a:r>
              <a:rPr lang="en-US" sz="1600" dirty="0" smtClean="0">
                <a:hlinkClick r:id="rId3"/>
              </a:rPr>
              <a:t>www.google.com/url?sa=i&amp;url=https%3A%2F%2Flearn.circuitverse.org%2Fdocs%2FMSI%2Fmux.html&amp;psig=AOvVaw1iWcVSERqtD9-mFibmInEQ&amp;ust=1595882330875000&amp;source=images&amp;cd=vfe&amp;ved=0CAIQjRxqFwoTCOiboojj6-oCFQAAAAAdAAAAABAJ</a:t>
            </a:r>
            <a:endParaRPr lang="en-US" sz="1600" dirty="0" smtClean="0"/>
          </a:p>
          <a:p>
            <a:pPr marL="342900" indent="-342900" defTabSz="820487">
              <a:lnSpc>
                <a:spcPct val="150000"/>
              </a:lnSpc>
            </a:pPr>
            <a:r>
              <a:rPr lang="en-US" sz="1600" dirty="0" smtClean="0">
                <a:latin typeface="Casper"/>
                <a:hlinkClick r:id="rId4"/>
              </a:rPr>
              <a:t>https</a:t>
            </a:r>
            <a:r>
              <a:rPr lang="en-US" sz="1600" dirty="0">
                <a:latin typeface="Casper"/>
                <a:hlinkClick r:id="rId4"/>
              </a:rPr>
              <a:t>://</a:t>
            </a:r>
            <a:r>
              <a:rPr lang="en-US" sz="1600" dirty="0" smtClean="0">
                <a:latin typeface="Casper"/>
                <a:hlinkClick r:id="rId4"/>
              </a:rPr>
              <a:t>www.google.com/search?q=combinational+circuits+in+digital+electronics&amp;source=lnms&amp;tbm=isch&amp;sa=X&amp;ved=0ahUKEwj526-wnv3iAhWSXCsKHf77AtQQ_AUIESgC&amp;biw=1366&amp;bih=657#imgrc=v4c5n7-dy4fzAM</a:t>
            </a:r>
            <a:endParaRPr lang="en-US" sz="1600" dirty="0" smtClean="0">
              <a:latin typeface="Casper"/>
            </a:endParaRPr>
          </a:p>
          <a:p>
            <a:pPr marL="342900" indent="-342900" defTabSz="820487">
              <a:lnSpc>
                <a:spcPct val="150000"/>
              </a:lnSpc>
            </a:pPr>
            <a:r>
              <a:rPr lang="en-US" sz="1600" dirty="0" smtClean="0">
                <a:latin typeface="Casper"/>
                <a:hlinkClick r:id="rId5"/>
              </a:rPr>
              <a:t>https</a:t>
            </a:r>
            <a:r>
              <a:rPr lang="en-US" sz="1600" dirty="0">
                <a:latin typeface="Casper"/>
                <a:hlinkClick r:id="rId5"/>
              </a:rPr>
              <a:t>://</a:t>
            </a:r>
            <a:r>
              <a:rPr lang="en-US" sz="1600" dirty="0" smtClean="0">
                <a:latin typeface="Casper"/>
                <a:hlinkClick r:id="rId5"/>
              </a:rPr>
              <a:t>www.google.com/url?sa=i&amp;url=https%3A%2F%2Fsimple.wikipedia.org%2Fwiki%2FMultiplexer&amp;psig=AOvVaw2pebfxXNZxynKOvbTXhLiM&amp;ust=1595884278300000&amp;source=images&amp;cd=vfe&amp;ved=0CAIQjRxqFwoTCLD8mbzq6-oCFQAAAAAdAAAAABAE</a:t>
            </a:r>
            <a:endParaRPr lang="en-US" sz="1600" dirty="0" smtClean="0">
              <a:latin typeface="Casper"/>
            </a:endParaRPr>
          </a:p>
          <a:p>
            <a:pPr marL="0" indent="0" defTabSz="820487">
              <a:lnSpc>
                <a:spcPct val="150000"/>
              </a:lnSpc>
              <a:buNone/>
            </a:pPr>
            <a:endParaRPr lang="en-US" sz="1600" dirty="0" smtClean="0">
              <a:latin typeface="Casper"/>
              <a:ea typeface="Calibri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012" y="164418"/>
            <a:ext cx="10515600" cy="1279527"/>
          </a:xfrm>
        </p:spPr>
        <p:txBody>
          <a:bodyPr/>
          <a:lstStyle/>
          <a:p>
            <a:pPr algn="ctr"/>
            <a:r>
              <a:rPr lang="en-US" dirty="0" smtClean="0">
                <a:latin typeface="Casper Bold" panose="02000806040000020004" pitchFamily="2" charset="0"/>
                <a:cs typeface="Arial" panose="020B0604020202020204" pitchFamily="34" charset="0"/>
              </a:rPr>
              <a:t>REFERENCES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9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25137" y="1290048"/>
            <a:ext cx="10515600" cy="255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048" tIns="41025" rIns="82048" bIns="41025">
            <a:spAutoFit/>
          </a:bodyPr>
          <a:lstStyle/>
          <a:p>
            <a:pPr marL="342900" indent="-342900" defTabSz="820487">
              <a:lnSpc>
                <a:spcPct val="150000"/>
              </a:lnSpc>
            </a:pPr>
            <a:r>
              <a:rPr lang="en-US" sz="1600" dirty="0" smtClean="0">
                <a:latin typeface="Casper"/>
                <a:hlinkClick r:id="rId2"/>
              </a:rPr>
              <a:t>https</a:t>
            </a:r>
            <a:r>
              <a:rPr lang="en-US" sz="1600" dirty="0">
                <a:latin typeface="Casper"/>
                <a:hlinkClick r:id="rId2"/>
              </a:rPr>
              <a:t>://</a:t>
            </a:r>
            <a:r>
              <a:rPr lang="en-US" sz="1600" dirty="0" smtClean="0">
                <a:latin typeface="Casper"/>
                <a:hlinkClick r:id="rId2"/>
              </a:rPr>
              <a:t>www.google.com/url?sa=i&amp;url=http%3A%2F%2Fwww.vlsi-expert.com%2F2013%2F12%2Fdigital-basic-15-multiplexer-mux.html&amp;psig=AOvVaw3xN1zjAPc331kKANSJ_As5&amp;ust=1595886452950000&amp;source=images&amp;cd=vfe&amp;ved=0CAIQjRxqFwoTCOCG_Ljy6-oCFQAAAAAdAAAAABAD</a:t>
            </a:r>
            <a:endParaRPr lang="en-US" sz="1600" dirty="0">
              <a:latin typeface="Casper"/>
            </a:endParaRPr>
          </a:p>
          <a:p>
            <a:pPr marL="342900" indent="-342900" defTabSz="820487">
              <a:lnSpc>
                <a:spcPct val="150000"/>
              </a:lnSpc>
            </a:pPr>
            <a:r>
              <a:rPr lang="en-US" sz="1600" dirty="0" err="1" smtClean="0">
                <a:latin typeface="Casper"/>
                <a:ea typeface="Calibri" pitchFamily="34" charset="0"/>
                <a:cs typeface="Times New Roman" pitchFamily="18" charset="0"/>
              </a:rPr>
              <a:t>Mano,Morris</a:t>
            </a:r>
            <a:r>
              <a:rPr lang="en-US" sz="1600" dirty="0" smtClean="0">
                <a:latin typeface="Casper"/>
                <a:ea typeface="Calibri" pitchFamily="34" charset="0"/>
                <a:cs typeface="Times New Roman" pitchFamily="18" charset="0"/>
              </a:rPr>
              <a:t>, Digital Design, Prentice Hall of India.</a:t>
            </a:r>
            <a:endParaRPr lang="en-US" sz="1600" dirty="0" smtClean="0">
              <a:latin typeface="Casper"/>
              <a:cs typeface="Times New Roman" pitchFamily="18" charset="0"/>
            </a:endParaRPr>
          </a:p>
          <a:p>
            <a:pPr marL="342900" indent="-342900" defTabSz="820487">
              <a:lnSpc>
                <a:spcPct val="150000"/>
              </a:lnSpc>
            </a:pPr>
            <a:r>
              <a:rPr lang="en-US" sz="1600" dirty="0" smtClean="0">
                <a:latin typeface="Casper"/>
                <a:ea typeface="Calibri" pitchFamily="34" charset="0"/>
                <a:cs typeface="Times New Roman" pitchFamily="18" charset="0"/>
              </a:rPr>
              <a:t>Fletcher,  An </a:t>
            </a:r>
            <a:r>
              <a:rPr lang="en-US" sz="1600" dirty="0" err="1" smtClean="0">
                <a:latin typeface="Casper"/>
                <a:ea typeface="Calibri" pitchFamily="34" charset="0"/>
                <a:cs typeface="Times New Roman" pitchFamily="18" charset="0"/>
              </a:rPr>
              <a:t>Engg</a:t>
            </a:r>
            <a:r>
              <a:rPr lang="en-US" sz="1600" dirty="0" smtClean="0">
                <a:latin typeface="Casper"/>
                <a:ea typeface="Calibri" pitchFamily="34" charset="0"/>
                <a:cs typeface="Times New Roman" pitchFamily="18" charset="0"/>
              </a:rPr>
              <a:t>. Approach to digital design, Prentice Hall of India.</a:t>
            </a:r>
          </a:p>
        </p:txBody>
      </p:sp>
    </p:spTree>
    <p:extLst>
      <p:ext uri="{BB962C8B-B14F-4D97-AF65-F5344CB8AC3E}">
        <p14:creationId xmlns:p14="http://schemas.microsoft.com/office/powerpoint/2010/main" val="3683974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60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1599</TotalTime>
  <Words>638</Words>
  <Application>Microsoft Office PowerPoint</Application>
  <PresentationFormat>Widescreen</PresentationFormat>
  <Paragraphs>180</Paragraphs>
  <Slides>24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42" baseType="lpstr">
      <vt:lpstr>Arial</vt:lpstr>
      <vt:lpstr>Arial Black</vt:lpstr>
      <vt:lpstr>Arial Unicode MS</vt:lpstr>
      <vt:lpstr>Calibri</vt:lpstr>
      <vt:lpstr>Calibri Light</vt:lpstr>
      <vt:lpstr>Casper</vt:lpstr>
      <vt:lpstr>Casper Bold</vt:lpstr>
      <vt:lpstr>Karla</vt:lpstr>
      <vt:lpstr>King</vt:lpstr>
      <vt:lpstr>新細明體</vt:lpstr>
      <vt:lpstr>Raavi</vt:lpstr>
      <vt:lpstr>Raleway ExtraBold</vt:lpstr>
      <vt:lpstr>Segoe UI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Lecture Objectives</vt:lpstr>
      <vt:lpstr>Course Objectives</vt:lpstr>
      <vt:lpstr>Course Outcome  </vt:lpstr>
      <vt:lpstr>  </vt:lpstr>
      <vt:lpstr>   2:1 MUX</vt:lpstr>
      <vt:lpstr>   2:1 MUX</vt:lpstr>
      <vt:lpstr> Implementation of NOT gate using 2 : 1 Mux</vt:lpstr>
      <vt:lpstr>Implementation of AND gate using 2 : 1 Mux</vt:lpstr>
      <vt:lpstr>Implementation of OR gate using 2 : 1 Mux </vt:lpstr>
      <vt:lpstr>   4:1 MUX</vt:lpstr>
      <vt:lpstr>   4:1 MUX</vt:lpstr>
      <vt:lpstr>   4:1 MUX</vt:lpstr>
      <vt:lpstr>   4:1 MUX using 2:1 MUX</vt:lpstr>
      <vt:lpstr>   8:1 MUX using 2:1 and 4:1 MUX</vt:lpstr>
      <vt:lpstr>PowerPoint Presentation</vt:lpstr>
      <vt:lpstr>   8:1 MUX using only 2:1 MUX</vt:lpstr>
      <vt:lpstr>Questions:</vt:lpstr>
      <vt:lpstr>PowerPoint Presentation</vt:lpstr>
      <vt:lpstr>Assessment Pattern</vt:lpstr>
      <vt:lpstr>APPLICATIONS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INDIAN</cp:lastModifiedBy>
  <cp:revision>168</cp:revision>
  <dcterms:created xsi:type="dcterms:W3CDTF">2019-01-09T10:33:58Z</dcterms:created>
  <dcterms:modified xsi:type="dcterms:W3CDTF">2023-06-19T04:56:27Z</dcterms:modified>
</cp:coreProperties>
</file>