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394" r:id="rId3"/>
    <p:sldId id="388" r:id="rId4"/>
    <p:sldId id="387" r:id="rId5"/>
    <p:sldId id="370" r:id="rId6"/>
    <p:sldId id="326" r:id="rId7"/>
    <p:sldId id="391" r:id="rId8"/>
    <p:sldId id="392" r:id="rId9"/>
    <p:sldId id="393" r:id="rId10"/>
    <p:sldId id="341" r:id="rId11"/>
    <p:sldId id="336" r:id="rId12"/>
    <p:sldId id="395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78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82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ni.com/example/14493/en/" TargetMode="External"/><Relationship Id="rId3" Type="http://schemas.openxmlformats.org/officeDocument/2006/relationships/hyperlink" Target="https://www.google.com/search?q=number+system+in+digital+electronics&amp;source=lnms&amp;tbm=isch&amp;sa=X&amp;ved=0ahUKEwjOsbqmnvPiAhXPZCsKHXrSBJYQ_AUIESgC&amp;biw=1366&amp;bih=657" TargetMode="External"/><Relationship Id="rId7" Type="http://schemas.openxmlformats.org/officeDocument/2006/relationships/hyperlink" Target="http://www.geeksforgeeks.org/digital-electronics-logic-design-tutorial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binary+to+grey+conversion&amp;source=lnms&amp;tbm=isch&amp;sa=X&amp;ved=0ahUKEwjD6vrQi-PiAhVMSX0KHftLDngQ_AUIECgB&amp;biw=1366&amp;bih=657" TargetMode="External"/><Relationship Id="rId5" Type="http://schemas.openxmlformats.org/officeDocument/2006/relationships/hyperlink" Target="http://www.cse.yorku.ca/~mack/1011/01.NumberSystems.ppt" TargetMode="External"/><Relationship Id="rId10" Type="http://schemas.openxmlformats.org/officeDocument/2006/relationships/hyperlink" Target="https://www.tutorialspoint.com/computer_logical_organization/complement_arithmetic.htm" TargetMode="External"/><Relationship Id="rId4" Type="http://schemas.openxmlformats.org/officeDocument/2006/relationships/hyperlink" Target="https://www.google.com/search?q=decimal+to+binary&amp;source=lnms&amp;tbm=isch&amp;sa=X&amp;ved=0ahUKEwi6nMvW5uHiAhVBXSsKHUgGC60Q_AUIECgB&amp;biw=1517&amp;bih=730" TargetMode="External"/><Relationship Id="rId9" Type="http://schemas.openxmlformats.org/officeDocument/2006/relationships/hyperlink" Target="https://www.tutorialspoint.com/digital_electronics/index.asp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xecutivefunctioningsuccess.com/wp-content/uploads/2010/06/analog-vs-digital.png%20%5b1" TargetMode="External"/><Relationship Id="rId3" Type="http://schemas.openxmlformats.org/officeDocument/2006/relationships/hyperlink" Target="https://www.youtube.com/watch?v=2xXErGeeb_Q" TargetMode="External"/><Relationship Id="rId7" Type="http://schemas.openxmlformats.org/officeDocument/2006/relationships/hyperlink" Target="https://nptel.ac.in/courses/117/106/117106086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nptel.ac.in/courses/108/105/108105132/" TargetMode="External"/><Relationship Id="rId5" Type="http://schemas.openxmlformats.org/officeDocument/2006/relationships/hyperlink" Target="https://www.electronicsforu.com/resources/15-free-electronics-ebooks" TargetMode="External"/><Relationship Id="rId4" Type="http://schemas.openxmlformats.org/officeDocument/2006/relationships/hyperlink" Target="https://www.youtube.com/watch?v=M0mx8S05v60&amp;list=PLBlnK6fEyqRjMH3mWf6kwqiTbT798eAOm" TargetMode="External"/><Relationship Id="rId9" Type="http://schemas.openxmlformats.org/officeDocument/2006/relationships/hyperlink" Target="http://www.technologyuk.net/telecommunications/telecom-principles/images/digital_signal02.gi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3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8" y="5901987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8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2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2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3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6" y="2025527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8" y="5334001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2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2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2" y="6014158"/>
            <a:ext cx="385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SUBTRACTOR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15471" y="1287968"/>
            <a:ext cx="9063319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/>
              <a:t>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54401" y="4495800"/>
            <a:ext cx="6807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Black" pitchFamily="34" charset="0"/>
              </a:rPr>
              <a:t>	</a:t>
            </a:r>
          </a:p>
          <a:p>
            <a:endParaRPr lang="en-US" sz="2000" dirty="0">
              <a:latin typeface="Arial Black" pitchFamily="34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615158"/>
              </p:ext>
            </p:extLst>
          </p:nvPr>
        </p:nvGraphicFramePr>
        <p:xfrm>
          <a:off x="592954" y="2216506"/>
          <a:ext cx="6356486" cy="2076338"/>
        </p:xfrm>
        <a:graphic>
          <a:graphicData uri="http://schemas.openxmlformats.org/drawingml/2006/table">
            <a:tbl>
              <a:tblPr firstRow="1" firstCol="1" bandRow="1"/>
              <a:tblGrid>
                <a:gridCol w="541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for half and full subtractor circuit.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subtractor circuit.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515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full subtractor using half subtractors.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674" y="1594624"/>
            <a:ext cx="4466101" cy="2713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551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446484" y="283496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674" y="1594624"/>
            <a:ext cx="4466101" cy="2713518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00051"/>
              </p:ext>
            </p:extLst>
          </p:nvPr>
        </p:nvGraphicFramePr>
        <p:xfrm>
          <a:off x="235131" y="2103120"/>
          <a:ext cx="6505303" cy="3722913"/>
        </p:xfrm>
        <a:graphic>
          <a:graphicData uri="http://schemas.openxmlformats.org/drawingml/2006/table">
            <a:tbl>
              <a:tblPr firstRow="1" firstCol="1" bandRow="1"/>
              <a:tblGrid>
                <a:gridCol w="554136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5951167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683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1013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2026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81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75206CE-3DC6-4440-A41C-781AF601D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674" y="1594624"/>
            <a:ext cx="4466101" cy="2713518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323996"/>
              </p:ext>
            </p:extLst>
          </p:nvPr>
        </p:nvGraphicFramePr>
        <p:xfrm>
          <a:off x="209007" y="1825626"/>
          <a:ext cx="6957423" cy="4627426"/>
        </p:xfrm>
        <a:graphic>
          <a:graphicData uri="http://schemas.openxmlformats.org/drawingml/2006/table">
            <a:tbl>
              <a:tblPr firstRow="1" firstCol="1" bandRow="1"/>
              <a:tblGrid>
                <a:gridCol w="579172">
                  <a:extLst>
                    <a:ext uri="{9D8B030D-6E8A-4147-A177-3AD203B41FA5}">
                      <a16:colId xmlns:a16="http://schemas.microsoft.com/office/drawing/2014/main" val="4016844585"/>
                    </a:ext>
                  </a:extLst>
                </a:gridCol>
                <a:gridCol w="5449379">
                  <a:extLst>
                    <a:ext uri="{9D8B030D-6E8A-4147-A177-3AD203B41FA5}">
                      <a16:colId xmlns:a16="http://schemas.microsoft.com/office/drawing/2014/main" val="2681786948"/>
                    </a:ext>
                  </a:extLst>
                </a:gridCol>
                <a:gridCol w="928872">
                  <a:extLst>
                    <a:ext uri="{9D8B030D-6E8A-4147-A177-3AD203B41FA5}">
                      <a16:colId xmlns:a16="http://schemas.microsoft.com/office/drawing/2014/main" val="1450041489"/>
                    </a:ext>
                  </a:extLst>
                </a:gridCol>
              </a:tblGrid>
              <a:tr h="67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320563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710381"/>
                  </a:ext>
                </a:extLst>
              </a:tr>
              <a:tr h="99488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943914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959946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045163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152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13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926" y="179612"/>
            <a:ext cx="8408715" cy="79030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sper Bold"/>
              </a:rPr>
              <a:t>H</a:t>
            </a:r>
            <a:r>
              <a:rPr lang="en-IN" sz="4400" b="1" dirty="0" err="1">
                <a:latin typeface="Casper Bold"/>
              </a:rPr>
              <a:t>alf</a:t>
            </a:r>
            <a:r>
              <a:rPr lang="en-IN" sz="4400" b="1" dirty="0">
                <a:latin typeface="Casper Bold"/>
              </a:rPr>
              <a:t>-Subtractor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9159" y="859971"/>
            <a:ext cx="11099663" cy="542326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one bit half subtractor follow the given logic table.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6110C0-0D5E-405F-8073-58B91E2E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59" y="1625769"/>
            <a:ext cx="5142811" cy="2981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D10B3A-D697-4C15-82FE-CF651A5B5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245" y="1596866"/>
            <a:ext cx="5624301" cy="3634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926" y="179612"/>
            <a:ext cx="8408715" cy="79030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sper Bold"/>
              </a:rPr>
              <a:t>Full</a:t>
            </a:r>
            <a:r>
              <a:rPr lang="en-IN" sz="4400" b="1" dirty="0">
                <a:latin typeface="Casper Bold"/>
              </a:rPr>
              <a:t>-Subtractor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9159" y="859971"/>
            <a:ext cx="11099663" cy="542326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one bit Full subtractor follow the given logic table.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B460D-3DF6-4E2D-8335-82D569EE8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59" y="1395278"/>
            <a:ext cx="4952672" cy="3404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C98408-DDF9-48C7-BA81-2FC13ACA3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136" y="1117611"/>
            <a:ext cx="3926927" cy="25607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FC2824-1330-436F-9FF8-704336457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142" y="3971847"/>
            <a:ext cx="3438914" cy="245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6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926" y="179612"/>
            <a:ext cx="8408715" cy="79030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sper Bold"/>
              </a:rPr>
              <a:t>Full</a:t>
            </a:r>
            <a:r>
              <a:rPr lang="en-IN" sz="4400" b="1" dirty="0">
                <a:latin typeface="Casper Bold"/>
              </a:rPr>
              <a:t>-Subtractor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9159" y="859971"/>
            <a:ext cx="11099663" cy="542326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EBBDF6-89D4-41FA-9923-37DACE80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68" y="1261242"/>
            <a:ext cx="7944208" cy="48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6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3ABBF8-5B97-4FEA-AF3B-445E6E89A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62" y="574764"/>
            <a:ext cx="8905875" cy="563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9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191"/>
            <a:ext cx="10515600" cy="989468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273275"/>
            <a:ext cx="10515600" cy="77175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67228" y="1248229"/>
            <a:ext cx="10515600" cy="5388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2048" tIns="41025" rIns="82048" bIns="41025">
            <a:spAutoFit/>
          </a:bodyPr>
          <a:lstStyle/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3"/>
              </a:rPr>
              <a:t>https://www.google.com/search?q=number+system+in+digital+electronics&amp;source=lnms&amp;tbm=isch&amp;sa=X&amp;ved=0ahUKEwjOsbqmnvPiAhXPZCsKHXrSBJYQ_AUIESgC&amp;biw=1366&amp;bih=657#imgrc=DBR-RpBVZAmHDM:</a:t>
            </a:r>
            <a:endParaRPr lang="en-US" sz="1600" dirty="0">
              <a:latin typeface="Casper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4"/>
              </a:rPr>
              <a:t>https://www.google.com/search?q=decimal+to+binary&amp;source=lnms&amp;tbm=isch&amp;sa=X&amp;ved=0ahUKEwi6nMvW5uHiAhVBXSsKHUgGC60Q_AUIECgB&amp;biw=1517&amp;bih=730#imgrc=cl-xz1ixddfv9M 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u="sng" dirty="0">
                <a:latin typeface="Casper"/>
                <a:hlinkClick r:id="rId5"/>
              </a:rPr>
              <a:t>www.cse.yorku.ca/~mack/1011/01.NumberSystems.ppt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cs typeface="Times New Roman" pitchFamily="18" charset="0"/>
                <a:hlinkClick r:id="rId6"/>
              </a:rPr>
              <a:t>https://www.google.com/search?q=binary+to+grey+conversion&amp;source=lnms&amp;tbm=isch&amp;sa=X&amp;ved=0ahUKEwjD6vrQi-PiAhVMSX0KHftLDngQ_AUIECgB&amp;biw=1366&amp;bih=657#imgrc=bkt5qsZlpTZ1sM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7"/>
              </a:rPr>
              <a:t>http://www.geeksforgeeks.org/digital-electronics-logic-design-tutorials/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6"/>
              </a:rPr>
              <a:t>https://www.google.com/search?q=binary+to+grey+conversion&amp;source=lnms&amp;tbm=isch&amp;sa=X&amp;ved=0ahUKEwjD6vrQi-PiAhVMSX0KHftLDngQ_AUIECgB&amp;biw=1366&amp;bih=657#imgrc=bkt5qsZlpTZ1sM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8"/>
              </a:rPr>
              <a:t>http://www.ni.com/example/14493/en/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9"/>
              </a:rPr>
              <a:t>https://www.tutorialspoint.com/digital_electronics/index.asp</a:t>
            </a:r>
            <a:endParaRPr lang="en-US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GB" sz="1600" dirty="0">
                <a:solidFill>
                  <a:schemeClr val="tx2"/>
                </a:solidFill>
                <a:latin typeface="Casper"/>
                <a:cs typeface="Times New Roman" pitchFamily="18" charset="0"/>
                <a:hlinkClick r:id="rId10"/>
              </a:rPr>
              <a:t>https://www.tutorialspoint.com/computer_logical_organization/complement_arithmetic.htm</a:t>
            </a:r>
            <a:endParaRPr lang="en-GB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Floyd &amp; Jain, Digital Fundamentals, Pearson. 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Mano, Morris, Digital Design, Prentice Hall of India.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Enggineering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  Approach to digital design, Prentice Hall of India.</a:t>
            </a:r>
          </a:p>
          <a:p>
            <a:pPr marL="342900" indent="-342900" defTabSz="820487">
              <a:buFont typeface="+mj-lt"/>
              <a:buAutoNum type="arabicPeriod"/>
            </a:pPr>
            <a:endParaRPr lang="en-GB" sz="1600" dirty="0">
              <a:solidFill>
                <a:schemeClr val="tx2"/>
              </a:solidFill>
              <a:latin typeface="Casper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995" y="274319"/>
            <a:ext cx="3588520" cy="816429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Casper"/>
              </a:rPr>
              <a:t>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0263" y="1678577"/>
            <a:ext cx="10672354" cy="381158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b="1" u="sng" dirty="0">
                <a:latin typeface="Casper"/>
                <a:cs typeface="Times New Roman" pitchFamily="18" charset="0"/>
              </a:rPr>
              <a:t>Video link for Digital Electronics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>
                <a:latin typeface="Casper"/>
                <a:hlinkClick r:id="rId3"/>
              </a:rPr>
              <a:t>https://www.youtube.com/watch?v=2xXErGeeb_Q</a:t>
            </a:r>
            <a:endParaRPr lang="en-IN" dirty="0">
              <a:latin typeface="Casper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dirty="0">
                <a:latin typeface="Casper"/>
                <a:hlinkClick r:id="rId4"/>
              </a:rPr>
              <a:t>https://www.youtube.com/watch?v=M0mx8S05v60&amp;list=PLBlnK6fEyqRjMH3mWf6kwqiTbT798eAOm</a:t>
            </a:r>
            <a:endParaRPr lang="en-IN" dirty="0">
              <a:latin typeface="Casper"/>
            </a:endParaRPr>
          </a:p>
          <a:p>
            <a:pPr algn="just">
              <a:buFont typeface="Wingdings" pitchFamily="2" charset="2"/>
              <a:buChar char="Ø"/>
            </a:pPr>
            <a:endParaRPr lang="en-IN" b="1" u="sng" dirty="0">
              <a:latin typeface="Casper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b="1" u="sng" dirty="0">
                <a:latin typeface="Casper"/>
              </a:rPr>
              <a:t>E Book for Digital Electronics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>
                <a:latin typeface="Casper"/>
                <a:hlinkClick r:id="rId5"/>
              </a:rPr>
              <a:t>https://www.electronicsforu.com/resources/15-free-electronics-ebooks</a:t>
            </a:r>
            <a:endParaRPr lang="en-IN" b="1" u="sng" dirty="0">
              <a:latin typeface="Casper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b="1" u="sng" dirty="0">
                <a:latin typeface="Casper"/>
              </a:rPr>
              <a:t>Other important link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u="sng" dirty="0">
                <a:solidFill>
                  <a:srgbClr val="FF0000"/>
                </a:solidFill>
                <a:latin typeface="Casper"/>
              </a:rPr>
              <a:t>NPTEL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>
                <a:latin typeface="Casper"/>
                <a:hlinkClick r:id="rId6"/>
              </a:rPr>
              <a:t>https://nptel.ac.in/courses/108/105/108105132/</a:t>
            </a:r>
            <a:endParaRPr lang="en-IN" dirty="0">
              <a:latin typeface="Casper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dirty="0">
                <a:latin typeface="Casper"/>
                <a:hlinkClick r:id="rId7"/>
              </a:rPr>
              <a:t>https://nptel.ac.in/courses/117/106/117106086/</a:t>
            </a:r>
            <a:endParaRPr lang="en-IN" dirty="0">
              <a:latin typeface="Casper"/>
            </a:endParaRPr>
          </a:p>
          <a:p>
            <a:pPr algn="just"/>
            <a:r>
              <a:rPr lang="en-IN" dirty="0">
                <a:latin typeface="Casper"/>
                <a:hlinkClick r:id="rId8"/>
              </a:rPr>
              <a:t>https://executivefunctioningsuccess.com/wp-content/uploads/2010/06/analog-vs-digital.png </a:t>
            </a:r>
            <a:r>
              <a:rPr lang="en-IN" b="1" dirty="0">
                <a:latin typeface="Casper"/>
                <a:hlinkClick r:id="rId8"/>
              </a:rPr>
              <a:t>[</a:t>
            </a:r>
            <a:r>
              <a:rPr lang="en-IN" dirty="0">
                <a:latin typeface="Casper"/>
                <a:hlinkClick r:id="rId8"/>
              </a:rPr>
              <a:t>1</a:t>
            </a:r>
            <a:r>
              <a:rPr lang="en-IN" dirty="0">
                <a:latin typeface="Casper"/>
              </a:rPr>
              <a:t>]</a:t>
            </a:r>
          </a:p>
          <a:p>
            <a:pPr algn="just"/>
            <a:r>
              <a:rPr lang="en-IN" dirty="0">
                <a:latin typeface="Casper"/>
                <a:hlinkClick r:id="rId9"/>
              </a:rPr>
              <a:t>http://www.technologyuk.net/telecommunications/telecom-principles/images/digital_signal02.gif</a:t>
            </a:r>
            <a:r>
              <a:rPr lang="en-IN" dirty="0">
                <a:latin typeface="Casper"/>
              </a:rPr>
              <a:t>[2]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1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AD9C34C-1BD0-4DE9-999B-851BC859311E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}\uFFFD\u0012{A13A6382-F403-4EAF-B9BB-200E2A5D89C3}&quot;,&quot;C:\\Users\\Navdeep Kaur\\Desktop\\daqc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. 1 &amp; 2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1243</TotalTime>
  <Words>407</Words>
  <Application>Microsoft Office PowerPoint</Application>
  <PresentationFormat>Widescreen</PresentationFormat>
  <Paragraphs>107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8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Half-Subtractor</vt:lpstr>
      <vt:lpstr>Full-Subtractor</vt:lpstr>
      <vt:lpstr>Full-Subtractor</vt:lpstr>
      <vt:lpstr>PowerPoint Presentation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Lect. 1 &amp; 2</dc:title>
  <dc:creator>Branding</dc:creator>
  <cp:lastModifiedBy>INDIAN</cp:lastModifiedBy>
  <cp:revision>188</cp:revision>
  <dcterms:created xsi:type="dcterms:W3CDTF">2019-01-09T10:33:58Z</dcterms:created>
  <dcterms:modified xsi:type="dcterms:W3CDTF">2023-06-19T04:26:20Z</dcterms:modified>
</cp:coreProperties>
</file>