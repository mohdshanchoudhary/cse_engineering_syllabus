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  <p:sldMasterId id="2147483702" r:id="rId3"/>
  </p:sldMasterIdLst>
  <p:notesMasterIdLst>
    <p:notesMasterId r:id="rId32"/>
  </p:notesMasterIdLst>
  <p:handoutMasterIdLst>
    <p:handoutMasterId r:id="rId33"/>
  </p:handoutMasterIdLst>
  <p:sldIdLst>
    <p:sldId id="315" r:id="rId4"/>
    <p:sldId id="355" r:id="rId5"/>
    <p:sldId id="356" r:id="rId6"/>
    <p:sldId id="316" r:id="rId7"/>
    <p:sldId id="317" r:id="rId8"/>
    <p:sldId id="323" r:id="rId9"/>
    <p:sldId id="324" r:id="rId10"/>
    <p:sldId id="325" r:id="rId11"/>
    <p:sldId id="326" r:id="rId12"/>
    <p:sldId id="327" r:id="rId13"/>
    <p:sldId id="344" r:id="rId14"/>
    <p:sldId id="330" r:id="rId15"/>
    <p:sldId id="331" r:id="rId16"/>
    <p:sldId id="350" r:id="rId17"/>
    <p:sldId id="351" r:id="rId18"/>
    <p:sldId id="352" r:id="rId19"/>
    <p:sldId id="345" r:id="rId20"/>
    <p:sldId id="353" r:id="rId21"/>
    <p:sldId id="332" r:id="rId22"/>
    <p:sldId id="346" r:id="rId23"/>
    <p:sldId id="347" r:id="rId24"/>
    <p:sldId id="336" r:id="rId25"/>
    <p:sldId id="354" r:id="rId26"/>
    <p:sldId id="348" r:id="rId27"/>
    <p:sldId id="342" r:id="rId28"/>
    <p:sldId id="349" r:id="rId29"/>
    <p:sldId id="343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6/19/2023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7819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332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629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2080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752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2574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642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869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2355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424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6067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1" y="0"/>
            <a:ext cx="12211051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1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04626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0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96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ctrical4u.com/master-slave-flip-flop/" TargetMode="External"/><Relationship Id="rId13" Type="http://schemas.openxmlformats.org/officeDocument/2006/relationships/hyperlink" Target="https://www.electronics-tutorial.net/sequential-logic-circuits/toggle-flip-flop/" TargetMode="External"/><Relationship Id="rId3" Type="http://schemas.openxmlformats.org/officeDocument/2006/relationships/hyperlink" Target="https://www.electronics-tutorials.ws/sequential/seq_1.html" TargetMode="External"/><Relationship Id="rId7" Type="http://schemas.openxmlformats.org/officeDocument/2006/relationships/hyperlink" Target="https://www.electronicshub.org/jk-flipflop/" TargetMode="External"/><Relationship Id="rId12" Type="http://schemas.openxmlformats.org/officeDocument/2006/relationships/hyperlink" Target="https://www.electronicshub.org/t-flip-flop/" TargetMode="External"/><Relationship Id="rId2" Type="http://schemas.openxmlformats.org/officeDocument/2006/relationships/hyperlink" Target="https://www.google.com/search?q=flip+flops+in+digital+electronics&amp;source=lnms&amp;tbm=isch&amp;sa=X&amp;ved=0ahUKEwjv46Hyu__iAhWMuY8KHVMCAxoQ_AUIESgC&amp;biw=1366&amp;bih=65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laboutcircuits.com/textbook/digital/chpt-10/s-r-latch/" TargetMode="External"/><Relationship Id="rId11" Type="http://schemas.openxmlformats.org/officeDocument/2006/relationships/hyperlink" Target="http://hades.mech.northwestern.edu/index.php/Flip-Flops_and_Latches" TargetMode="External"/><Relationship Id="rId5" Type="http://schemas.openxmlformats.org/officeDocument/2006/relationships/hyperlink" Target="https://www.electronicshub.org/flip-flops/" TargetMode="External"/><Relationship Id="rId15" Type="http://schemas.openxmlformats.org/officeDocument/2006/relationships/hyperlink" Target="https://www.quora.com/What-is-the-function-of-flip-flops" TargetMode="External"/><Relationship Id="rId10" Type="http://schemas.openxmlformats.org/officeDocument/2006/relationships/hyperlink" Target="https://www.electricaltechnology.org/2019/09/digital-flip-flop-and-latches-symbols.html" TargetMode="External"/><Relationship Id="rId4" Type="http://schemas.openxmlformats.org/officeDocument/2006/relationships/hyperlink" Target="https://www.geeksforgeeks.org/introduction-of-sequential-circuits/" TargetMode="External"/><Relationship Id="rId9" Type="http://schemas.openxmlformats.org/officeDocument/2006/relationships/hyperlink" Target="https://www.gatevidyalay.com/flip-flops-in-electronics/" TargetMode="External"/><Relationship Id="rId14" Type="http://schemas.openxmlformats.org/officeDocument/2006/relationships/hyperlink" Target="https://www.electronicshub.org/flip-flop-applications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8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55845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FLIP  FLOPS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31072" y="1575818"/>
            <a:ext cx="10871200" cy="4161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Chapter-2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/>
              <a:t>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2.1.7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2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717" y="1288630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508483"/>
              </p:ext>
            </p:extLst>
          </p:nvPr>
        </p:nvGraphicFramePr>
        <p:xfrm>
          <a:off x="1968715" y="2519630"/>
          <a:ext cx="4767364" cy="1557253"/>
        </p:xfrm>
        <a:graphic>
          <a:graphicData uri="http://schemas.openxmlformats.org/drawingml/2006/table">
            <a:tbl>
              <a:tblPr firstRow="1" firstCol="1" bandRow="1"/>
              <a:tblGrid>
                <a:gridCol w="40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the design of Sequential Circuits.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Sequential Circuits.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3869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design of Sequential Circuits.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133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3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08865" y="1046791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00350" y="2434591"/>
          <a:ext cx="4878977" cy="2792185"/>
        </p:xfrm>
        <a:graphic>
          <a:graphicData uri="http://schemas.openxmlformats.org/drawingml/2006/table">
            <a:tbl>
              <a:tblPr firstRow="1" firstCol="1" bandRow="1"/>
              <a:tblGrid>
                <a:gridCol w="415602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4463375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512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759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15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5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1519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8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62325" y="1756035"/>
            <a:ext cx="5141641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/>
            </a:r>
            <a:b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629324" y="4676503"/>
            <a:ext cx="1202551" cy="461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49442" y="1162594"/>
            <a:ext cx="4689564" cy="399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>
            <a:off x="8127543" y="5465025"/>
            <a:ext cx="2886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sper Bold"/>
                <a:ea typeface="Karla" pitchFamily="2" charset="0"/>
                <a:cs typeface="Times New Roman" pitchFamily="18" charset="0"/>
              </a:rPr>
              <a:t>SEQUENTIAL CIRCUITS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801537" y="1036710"/>
            <a:ext cx="41975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Course Outcome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237866"/>
              </p:ext>
            </p:extLst>
          </p:nvPr>
        </p:nvGraphicFramePr>
        <p:xfrm>
          <a:off x="838200" y="1825625"/>
          <a:ext cx="5716112" cy="4379234"/>
        </p:xfrm>
        <a:graphic>
          <a:graphicData uri="http://schemas.openxmlformats.org/drawingml/2006/table">
            <a:tbl>
              <a:tblPr firstRow="1" firstCol="1" bandRow="1"/>
              <a:tblGrid>
                <a:gridCol w="475839">
                  <a:extLst>
                    <a:ext uri="{9D8B030D-6E8A-4147-A177-3AD203B41FA5}">
                      <a16:colId xmlns:a16="http://schemas.microsoft.com/office/drawing/2014/main" val="4121044399"/>
                    </a:ext>
                  </a:extLst>
                </a:gridCol>
                <a:gridCol w="4477126">
                  <a:extLst>
                    <a:ext uri="{9D8B030D-6E8A-4147-A177-3AD203B41FA5}">
                      <a16:colId xmlns:a16="http://schemas.microsoft.com/office/drawing/2014/main" val="2729533820"/>
                    </a:ext>
                  </a:extLst>
                </a:gridCol>
                <a:gridCol w="763147">
                  <a:extLst>
                    <a:ext uri="{9D8B030D-6E8A-4147-A177-3AD203B41FA5}">
                      <a16:colId xmlns:a16="http://schemas.microsoft.com/office/drawing/2014/main" val="3842764005"/>
                    </a:ext>
                  </a:extLst>
                </a:gridCol>
              </a:tblGrid>
              <a:tr h="4720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366342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409901"/>
                  </a:ext>
                </a:extLst>
              </a:tr>
              <a:tr h="984069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195693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79591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319730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0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26572" y="1214846"/>
            <a:ext cx="518595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SEQUENTIAL CIRCUITS</a:t>
            </a:r>
            <a:b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3948" y="3665583"/>
            <a:ext cx="4322762" cy="252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8044" y="3726550"/>
            <a:ext cx="45486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Introduction to Sequential Circuit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1600" dirty="0">
                <a:latin typeface="Casper"/>
              </a:rPr>
              <a:t>Difference </a:t>
            </a:r>
            <a:r>
              <a:rPr lang="en-IN" sz="1600" dirty="0" smtClean="0">
                <a:latin typeface="Casper"/>
              </a:rPr>
              <a:t>between </a:t>
            </a:r>
            <a:r>
              <a:rPr lang="en-IN" sz="1600" dirty="0">
                <a:latin typeface="Casper"/>
              </a:rPr>
              <a:t>L</a:t>
            </a:r>
            <a:r>
              <a:rPr lang="en-IN" sz="1600" dirty="0" smtClean="0">
                <a:latin typeface="Casper"/>
              </a:rPr>
              <a:t>atch </a:t>
            </a:r>
            <a:r>
              <a:rPr lang="en-IN" sz="1600" dirty="0">
                <a:latin typeface="Casper"/>
              </a:rPr>
              <a:t>&amp; </a:t>
            </a:r>
            <a:r>
              <a:rPr lang="en-IN" sz="1600" dirty="0" smtClean="0">
                <a:latin typeface="Casper"/>
              </a:rPr>
              <a:t>Flip Flop  </a:t>
            </a:r>
            <a:endParaRPr lang="en-IN" sz="1600" dirty="0">
              <a:latin typeface="Casper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IN" sz="1600" dirty="0">
                <a:latin typeface="Casper"/>
              </a:rPr>
              <a:t>T</a:t>
            </a:r>
            <a:r>
              <a:rPr lang="en-IN" sz="1600" dirty="0" smtClean="0">
                <a:latin typeface="Casper"/>
              </a:rPr>
              <a:t>ypes </a:t>
            </a:r>
            <a:r>
              <a:rPr lang="en-IN" sz="1600" dirty="0">
                <a:latin typeface="Casper"/>
              </a:rPr>
              <a:t>of Flip </a:t>
            </a:r>
            <a:r>
              <a:rPr lang="en-IN" sz="1600" dirty="0" smtClean="0">
                <a:latin typeface="Casper"/>
              </a:rPr>
              <a:t>Flops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latin typeface="Casper"/>
                <a:cs typeface="Times New Roman" pitchFamily="18" charset="0"/>
              </a:rPr>
              <a:t>SR Flip Flop in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0407" y="5044359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2: Sequential circuit </a:t>
            </a:r>
            <a:endParaRPr lang="en-US" sz="1600" dirty="0">
              <a:latin typeface="Casper"/>
            </a:endParaRPr>
          </a:p>
        </p:txBody>
      </p:sp>
      <p:pic>
        <p:nvPicPr>
          <p:cNvPr id="53250" name="Picture 2" descr="sequential logic repres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502" y="1951388"/>
            <a:ext cx="5820274" cy="27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latin typeface="Casper Bold"/>
              </a:rPr>
              <a:t>INTRODUCTION TO SEQUENTIAL CIRCUIT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69089" cy="4351338"/>
          </a:xfrm>
        </p:spPr>
        <p:txBody>
          <a:bodyPr/>
          <a:lstStyle/>
          <a:p>
            <a:pPr algn="just"/>
            <a:r>
              <a:rPr lang="en-US" b="1" dirty="0"/>
              <a:t>Sequential circuit</a:t>
            </a:r>
            <a:r>
              <a:rPr lang="en-US" dirty="0"/>
              <a:t> </a:t>
            </a:r>
            <a:r>
              <a:rPr lang="en-US" dirty="0" smtClean="0"/>
              <a:t>provides </a:t>
            </a:r>
            <a:r>
              <a:rPr lang="en-US" dirty="0"/>
              <a:t>an output based on </a:t>
            </a:r>
            <a:r>
              <a:rPr lang="en-US" b="1" dirty="0"/>
              <a:t>current input and </a:t>
            </a:r>
            <a:r>
              <a:rPr lang="en-US" b="1" dirty="0" smtClean="0"/>
              <a:t>past </a:t>
            </a:r>
            <a:r>
              <a:rPr lang="en-US" b="1" dirty="0"/>
              <a:t>input </a:t>
            </a:r>
            <a:r>
              <a:rPr lang="en-US" b="1" dirty="0" smtClean="0"/>
              <a:t>variables</a:t>
            </a:r>
            <a:r>
              <a:rPr lang="en-US" dirty="0"/>
              <a:t> </a:t>
            </a:r>
            <a:r>
              <a:rPr lang="en-US" dirty="0" smtClean="0"/>
              <a:t>[3]. </a:t>
            </a:r>
          </a:p>
          <a:p>
            <a:pPr algn="just"/>
            <a:r>
              <a:rPr lang="en-US" dirty="0"/>
              <a:t>S</a:t>
            </a:r>
            <a:r>
              <a:rPr lang="en-US" dirty="0" smtClean="0"/>
              <a:t>equential </a:t>
            </a:r>
            <a:r>
              <a:rPr lang="en-US" dirty="0"/>
              <a:t>circuits </a:t>
            </a:r>
            <a:r>
              <a:rPr lang="en-US" dirty="0" smtClean="0"/>
              <a:t>consists of memory </a:t>
            </a:r>
            <a:r>
              <a:rPr lang="en-US" dirty="0"/>
              <a:t>elements </a:t>
            </a:r>
            <a:r>
              <a:rPr lang="en-US" dirty="0" smtClean="0"/>
              <a:t>to store binary information.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4274" name="Picture 2" descr="https://media.geeksforgeeks.org/wp-content/uploads/1111-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7"/>
          <a:stretch/>
        </p:blipFill>
        <p:spPr bwMode="auto">
          <a:xfrm>
            <a:off x="6657974" y="1838148"/>
            <a:ext cx="5272400" cy="298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80407" y="5044359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3 Basic of the Sequential circuit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27840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CLASSIFICATION OF SEQUENTIAL CIRCUITS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91667" cy="4351338"/>
          </a:xfrm>
        </p:spPr>
        <p:txBody>
          <a:bodyPr/>
          <a:lstStyle/>
          <a:p>
            <a:r>
              <a:rPr lang="en-US" dirty="0"/>
              <a:t>Event Driven </a:t>
            </a:r>
            <a:endParaRPr lang="en-US" dirty="0" smtClean="0"/>
          </a:p>
          <a:p>
            <a:r>
              <a:rPr lang="en-US" dirty="0" smtClean="0"/>
              <a:t>Clock </a:t>
            </a:r>
            <a:r>
              <a:rPr lang="en-US" dirty="0"/>
              <a:t>Driven </a:t>
            </a:r>
            <a:endParaRPr lang="en-US" dirty="0" smtClean="0"/>
          </a:p>
          <a:p>
            <a:r>
              <a:rPr lang="en-US" dirty="0" smtClean="0"/>
              <a:t>Pulse Driven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5298" name="Picture 2" descr="sequential logic dev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131" y="1892122"/>
            <a:ext cx="4847466" cy="30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83607" y="5382913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3 Classification of Sequential circuit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40176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SEQUENTIAL FEEDBACK LOOP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40064"/>
          </a:xfrm>
        </p:spPr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retain their current state, sequential circuits rely on </a:t>
            </a:r>
            <a:r>
              <a:rPr lang="en-US" dirty="0" smtClean="0"/>
              <a:t>feedback.</a:t>
            </a:r>
          </a:p>
          <a:p>
            <a:r>
              <a:rPr lang="en-US" dirty="0" smtClean="0"/>
              <a:t>In feedback a </a:t>
            </a:r>
            <a:r>
              <a:rPr lang="en-US" dirty="0"/>
              <a:t>fraction of the output is fed back to the </a:t>
            </a:r>
            <a:r>
              <a:rPr lang="en-US" dirty="0" smtClean="0"/>
              <a:t>input.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6324" name="Picture 4" descr="sequential feedback lo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952" y="3631318"/>
            <a:ext cx="6888209" cy="200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82451" y="5675300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4 Feedback in Sequential circuit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96591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LATCH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Latches</a:t>
            </a:r>
            <a:r>
              <a:rPr lang="en-US" dirty="0"/>
              <a:t> are basic storage elements </a:t>
            </a:r>
            <a:r>
              <a:rPr lang="en-US" dirty="0" smtClean="0"/>
              <a:t>which operate </a:t>
            </a:r>
            <a:r>
              <a:rPr lang="en-US" dirty="0"/>
              <a:t>with signal </a:t>
            </a:r>
            <a:r>
              <a:rPr lang="en-US" dirty="0" smtClean="0"/>
              <a:t>levels. </a:t>
            </a:r>
          </a:p>
          <a:p>
            <a:r>
              <a:rPr lang="en-US" b="1" dirty="0" smtClean="0"/>
              <a:t>Latches</a:t>
            </a:r>
            <a:r>
              <a:rPr lang="en-US" dirty="0"/>
              <a:t> controlled by a clock transition </a:t>
            </a:r>
            <a:r>
              <a:rPr lang="en-US" dirty="0" smtClean="0"/>
              <a:t>are known as flip-flops. </a:t>
            </a:r>
          </a:p>
          <a:p>
            <a:r>
              <a:rPr lang="en-US" dirty="0" smtClean="0"/>
              <a:t>These are </a:t>
            </a:r>
            <a:r>
              <a:rPr lang="en-US" dirty="0"/>
              <a:t>level-sensitive </a:t>
            </a:r>
            <a:r>
              <a:rPr lang="en-US" dirty="0" smtClean="0"/>
              <a:t>devices. </a:t>
            </a:r>
          </a:p>
          <a:p>
            <a:r>
              <a:rPr lang="en-US" b="1" dirty="0" smtClean="0"/>
              <a:t>Latches</a:t>
            </a:r>
            <a:r>
              <a:rPr lang="en-US" dirty="0"/>
              <a:t> are </a:t>
            </a:r>
            <a:r>
              <a:rPr lang="en-US" dirty="0" smtClean="0"/>
              <a:t>used </a:t>
            </a:r>
            <a:r>
              <a:rPr lang="en-US" dirty="0"/>
              <a:t>for the design of the asynchronous </a:t>
            </a:r>
            <a:r>
              <a:rPr lang="en-US" b="1" dirty="0"/>
              <a:t>sequential </a:t>
            </a:r>
            <a:r>
              <a:rPr lang="en-US" b="1" dirty="0" smtClean="0"/>
              <a:t>circuit</a:t>
            </a:r>
            <a:r>
              <a:rPr lang="en-US" dirty="0" smtClean="0"/>
              <a:t>. </a:t>
            </a:r>
            <a:endParaRPr lang="en-US" dirty="0"/>
          </a:p>
          <a:p>
            <a:r>
              <a:rPr lang="en-US" b="1" dirty="0" smtClean="0"/>
              <a:t>Flip Flop </a:t>
            </a:r>
            <a:r>
              <a:rPr lang="en-US" dirty="0" smtClean="0"/>
              <a:t>are made from Latches.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3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WORKING OF LATCH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2627489" cy="4351338"/>
          </a:xfrm>
        </p:spPr>
        <p:txBody>
          <a:bodyPr/>
          <a:lstStyle/>
          <a:p>
            <a:r>
              <a:rPr lang="en-IN" dirty="0" smtClean="0"/>
              <a:t>SR Latch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9394" name="Picture 2" descr="https://sub.allaboutcircuits.com/images/0417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753" y="1800577"/>
            <a:ext cx="7077903" cy="256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77562" y="4532169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5: SR Latch </a:t>
            </a:r>
            <a:endParaRPr lang="en-US" sz="1600" dirty="0">
              <a:latin typeface="Casper"/>
            </a:endParaRPr>
          </a:p>
        </p:txBody>
      </p:sp>
      <p:pic>
        <p:nvPicPr>
          <p:cNvPr id="59396" name="Picture 4" descr="https://sub.allaboutcircuits.com/images/041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656" y="2165526"/>
            <a:ext cx="18383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81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sper Bold"/>
              </a:rPr>
              <a:t>DIFFERENCE BETWEEN LATCH AND FLIP FLOP 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564616"/>
              </p:ext>
            </p:extLst>
          </p:nvPr>
        </p:nvGraphicFramePr>
        <p:xfrm>
          <a:off x="838200" y="1825625"/>
          <a:ext cx="10515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Latch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Flip Flop 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It does</a:t>
                      </a:r>
                      <a:r>
                        <a:rPr lang="en-US" sz="3200" baseline="0" dirty="0" smtClean="0"/>
                        <a:t> not require clock signal.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It requires clock</a:t>
                      </a:r>
                      <a:r>
                        <a:rPr lang="en-US" sz="3200" baseline="0" dirty="0" smtClean="0"/>
                        <a:t> signal. 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It is level sensitive device.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It is</a:t>
                      </a:r>
                      <a:r>
                        <a:rPr lang="en-US" sz="3200" baseline="0" dirty="0" smtClean="0"/>
                        <a:t> edge sensitive. 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Power requirement</a:t>
                      </a:r>
                      <a:r>
                        <a:rPr lang="en-US" sz="3200" baseline="0" dirty="0" smtClean="0"/>
                        <a:t> is less.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Power requirement</a:t>
                      </a:r>
                      <a:r>
                        <a:rPr lang="en-US" sz="3200" baseline="0" dirty="0" smtClean="0"/>
                        <a:t> is more.</a:t>
                      </a:r>
                      <a:endParaRPr lang="en-IN" sz="32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Fast operation.</a:t>
                      </a:r>
                      <a:r>
                        <a:rPr lang="en-US" sz="3200" baseline="0" dirty="0" smtClean="0"/>
                        <a:t> 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Slow operation. 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4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FLIP FLOP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Flip-flop</a:t>
            </a:r>
            <a:r>
              <a:rPr lang="en-US" dirty="0"/>
              <a:t> is a basic digital memory circuit, which stores one bit of information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Flip </a:t>
            </a:r>
            <a:r>
              <a:rPr lang="en-US" b="1" dirty="0"/>
              <a:t>flops </a:t>
            </a:r>
            <a:r>
              <a:rPr lang="en-US" dirty="0"/>
              <a:t>are the fundamental blocks of most sequential circuits.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known as a </a:t>
            </a:r>
            <a:r>
              <a:rPr lang="en-US" b="1" dirty="0" err="1"/>
              <a:t>bistable</a:t>
            </a:r>
            <a:r>
              <a:rPr lang="en-US" b="1" dirty="0"/>
              <a:t> </a:t>
            </a:r>
            <a:r>
              <a:rPr lang="en-US" b="1" dirty="0" err="1"/>
              <a:t>multivibrator</a:t>
            </a:r>
            <a:r>
              <a:rPr lang="en-US" b="1" dirty="0"/>
              <a:t> </a:t>
            </a:r>
            <a:r>
              <a:rPr lang="en-US" dirty="0"/>
              <a:t>or a binary or one-bit memory. </a:t>
            </a:r>
            <a:endParaRPr lang="en-US" dirty="0" smtClean="0"/>
          </a:p>
          <a:p>
            <a:pPr algn="just"/>
            <a:r>
              <a:rPr lang="en-US" b="1" dirty="0" smtClean="0"/>
              <a:t>Flip-flops</a:t>
            </a:r>
            <a:r>
              <a:rPr lang="en-US" dirty="0" smtClean="0"/>
              <a:t> </a:t>
            </a:r>
            <a:r>
              <a:rPr lang="en-US" dirty="0"/>
              <a:t>are used as memory elements in sequential </a:t>
            </a:r>
            <a:r>
              <a:rPr lang="en-US" dirty="0" smtClean="0"/>
              <a:t>circuit. </a:t>
            </a:r>
          </a:p>
          <a:p>
            <a:pPr algn="just"/>
            <a:r>
              <a:rPr lang="en-US" dirty="0"/>
              <a:t>C</a:t>
            </a:r>
            <a:r>
              <a:rPr lang="en-US" dirty="0" smtClean="0"/>
              <a:t>locked </a:t>
            </a:r>
            <a:r>
              <a:rPr lang="en-US" dirty="0"/>
              <a:t>flip flops serve as memory elements in synchronous sequential c</a:t>
            </a:r>
            <a:r>
              <a:rPr lang="en-US" dirty="0" smtClean="0"/>
              <a:t>ircuits.</a:t>
            </a:r>
          </a:p>
          <a:p>
            <a:pPr algn="just" fontAlgn="base"/>
            <a:r>
              <a:rPr lang="en-US" dirty="0" err="1"/>
              <a:t>U</a:t>
            </a:r>
            <a:r>
              <a:rPr lang="en-US" dirty="0" err="1" smtClean="0"/>
              <a:t>nclocked</a:t>
            </a:r>
            <a:r>
              <a:rPr lang="en-US" dirty="0" smtClean="0"/>
              <a:t> </a:t>
            </a:r>
            <a:r>
              <a:rPr lang="en-US" dirty="0"/>
              <a:t>flip-flops (i.e., latches) serve as memory elements in asynchronous sequential circuits.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7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TYPES OF FLIP FLOPS 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6562" name="Picture 2" descr="https://www.gatevidyalay.com/wp-content/uploads/2018/06/Types-of-Flip-Flops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192" y="1515003"/>
            <a:ext cx="6619407" cy="415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98061" y="5943599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6: </a:t>
            </a:r>
            <a:r>
              <a:rPr lang="en-US" sz="1600" dirty="0">
                <a:latin typeface="Casper"/>
              </a:rPr>
              <a:t>T</a:t>
            </a:r>
            <a:r>
              <a:rPr lang="en-US" sz="1600" dirty="0" smtClean="0">
                <a:latin typeface="Casper"/>
              </a:rPr>
              <a:t>ypes of Flip Flops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0529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per"/>
              </a:rPr>
              <a:t>Symbols of Flip Flops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2" descr="https://www.electricaltechnology.org/wp-content/uploads/2019/08/Flip-Flop-Latches-Symbols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" t="12698" r="111" b="-1309"/>
          <a:stretch/>
        </p:blipFill>
        <p:spPr bwMode="auto">
          <a:xfrm>
            <a:off x="1066800" y="1405467"/>
            <a:ext cx="10964850" cy="479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65795" y="6227641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7 Symbols of Flip Flops </a:t>
            </a:r>
            <a:endParaRPr lang="en-US" sz="1600" dirty="0">
              <a:latin typeface="Casp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1-bit Memory Cell Using NAND Gate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7975600" y="1825625"/>
          <a:ext cx="38608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as previous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Same as previous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4450" name="AutoShape 2" descr="Building Memory With Logic Gates. How Does A Computer Remember? | by Zaid  Humayun | The Startup | Medi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452" name="Picture 4" descr="The R-S Latc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3575" y="1497012"/>
            <a:ext cx="6583892" cy="497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1-bit Memory Cell Using NOR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Content Placeholder 6"/>
          <p:cNvGraphicFramePr>
            <a:graphicFrameLocks/>
          </p:cNvGraphicFramePr>
          <p:nvPr/>
        </p:nvGraphicFramePr>
        <p:xfrm>
          <a:off x="6519332" y="2553758"/>
          <a:ext cx="4910670" cy="2246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4242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as previous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Same as previous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sper Bold"/>
              </a:rPr>
              <a:t>SR FLIP FLOP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also known as SR Latch. </a:t>
            </a:r>
          </a:p>
          <a:p>
            <a:r>
              <a:rPr lang="en-US" dirty="0" smtClean="0"/>
              <a:t>It is a sequential circuit. </a:t>
            </a:r>
          </a:p>
          <a:p>
            <a:r>
              <a:rPr lang="en-IN" dirty="0"/>
              <a:t> </a:t>
            </a:r>
            <a:r>
              <a:rPr lang="en-IN" dirty="0" smtClean="0"/>
              <a:t>It is one-bit </a:t>
            </a:r>
            <a:r>
              <a:rPr lang="en-IN" dirty="0"/>
              <a:t>memory </a:t>
            </a:r>
            <a:r>
              <a:rPr lang="en-IN" dirty="0" err="1" smtClean="0"/>
              <a:t>bistable</a:t>
            </a:r>
            <a:r>
              <a:rPr lang="en-IN" dirty="0" smtClean="0"/>
              <a:t> device.</a:t>
            </a:r>
          </a:p>
          <a:p>
            <a:r>
              <a:rPr lang="en-US" dirty="0" smtClean="0"/>
              <a:t>It has two outputs: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SET” the device </a:t>
            </a:r>
            <a:r>
              <a:rPr lang="en-US" dirty="0" smtClean="0"/>
              <a:t>(output </a:t>
            </a:r>
            <a:r>
              <a:rPr lang="en-US" dirty="0"/>
              <a:t>= “1</a:t>
            </a:r>
            <a:r>
              <a:rPr lang="en-US" dirty="0" smtClean="0"/>
              <a:t>”).</a:t>
            </a:r>
          </a:p>
          <a:p>
            <a:pPr lvl="1"/>
            <a:r>
              <a:rPr lang="en-US" dirty="0"/>
              <a:t> “RESET” the device </a:t>
            </a:r>
            <a:r>
              <a:rPr lang="en-US" dirty="0" smtClean="0"/>
              <a:t>(output </a:t>
            </a:r>
            <a:r>
              <a:rPr lang="en-US" dirty="0"/>
              <a:t>= “0</a:t>
            </a:r>
            <a:r>
              <a:rPr lang="en-US" dirty="0" smtClean="0"/>
              <a:t>”).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3250" name="Picture 2" descr="What is RS Flip Flop? NAND and NOR gate RS Flip Flop &amp; Truth Tabl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5087" y="1636359"/>
            <a:ext cx="49530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77646" y="4463534"/>
            <a:ext cx="4265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/>
              </a:rPr>
              <a:t>Figure </a:t>
            </a:r>
            <a:r>
              <a:rPr lang="en-US" dirty="0" smtClean="0">
                <a:latin typeface="Casper"/>
              </a:rPr>
              <a:t> 8 </a:t>
            </a:r>
            <a:r>
              <a:rPr lang="en-US" dirty="0">
                <a:latin typeface="Casper"/>
              </a:rPr>
              <a:t>SR Flip Flop </a:t>
            </a:r>
            <a:r>
              <a:rPr lang="en-US" dirty="0" smtClean="0">
                <a:latin typeface="Casper"/>
              </a:rPr>
              <a:t>Symbol </a:t>
            </a:r>
            <a:r>
              <a:rPr lang="en-US" dirty="0">
                <a:latin typeface="Casper"/>
              </a:rPr>
              <a:t>Diagram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559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7522" name="Picture 2" descr="WORKING OF CLOCKED SR FLIP FLOP - YouTub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934" y="0"/>
            <a:ext cx="11565467" cy="68429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SR FLIP FLOP WORKING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1442" name="Picture 2" descr="sr flip flo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9"/>
          <a:stretch/>
        </p:blipFill>
        <p:spPr bwMode="auto">
          <a:xfrm>
            <a:off x="521404" y="2337863"/>
            <a:ext cx="4812328" cy="391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545" y="2146065"/>
            <a:ext cx="6373163" cy="388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59133" y="6267097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9 SR Flip Flop Logic Diagram </a:t>
            </a:r>
            <a:endParaRPr lang="en-US" sz="1600" dirty="0">
              <a:latin typeface="Casp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3822" y="6233230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10:  SR Flip Flop Truth Table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1709083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5" descr="sr flip flop switching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08902"/>
            <a:ext cx="9753600" cy="423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04533" y="5887268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sper"/>
              </a:rPr>
              <a:t>Figure 11: SR Flip Flop Switching Diagram </a:t>
            </a:r>
            <a:endParaRPr lang="en-US" sz="24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1925201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sper Bold"/>
              </a:rPr>
              <a:t>NAND </a:t>
            </a:r>
            <a:r>
              <a:rPr lang="en-IN" dirty="0" smtClean="0">
                <a:latin typeface="Casper Bold"/>
              </a:rPr>
              <a:t>GATE </a:t>
            </a:r>
            <a:r>
              <a:rPr lang="en-IN" dirty="0">
                <a:latin typeface="Casper Bold"/>
              </a:rPr>
              <a:t>SR FLIP FLOP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2" descr="nand sr flip 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130" y="2285999"/>
            <a:ext cx="9374372" cy="298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777064" y="5701799"/>
            <a:ext cx="4336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sper"/>
              </a:rPr>
              <a:t>Figure 12 NAND Gate SR Flip Flop </a:t>
            </a:r>
            <a:endParaRPr lang="en-US" sz="20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4241067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NOR GATE SR </a:t>
            </a:r>
            <a:r>
              <a:rPr lang="en-IN" dirty="0">
                <a:latin typeface="Casper Bold"/>
              </a:rPr>
              <a:t>FLIP </a:t>
            </a:r>
            <a:r>
              <a:rPr lang="en-IN" dirty="0" smtClean="0">
                <a:latin typeface="Casper Bold"/>
              </a:rPr>
              <a:t>FLOP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2468" name="Picture 4" descr="nor gate sr flip 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3" y="2274535"/>
            <a:ext cx="8819333" cy="302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183467" y="5527731"/>
            <a:ext cx="492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sper"/>
              </a:rPr>
              <a:t>Figure 13 NOR Gate SR Flip Flop </a:t>
            </a:r>
            <a:endParaRPr lang="en-US" sz="24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1918121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7522" name="Picture 2" descr="What is the purpose of clear and preset inputs in flip flops? - Quor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37066"/>
            <a:ext cx="6476998" cy="4318000"/>
          </a:xfrm>
          <a:prstGeom prst="rect">
            <a:avLst/>
          </a:prstGeom>
          <a:noFill/>
        </p:spPr>
      </p:pic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44801" y="3863113"/>
            <a:ext cx="9347200" cy="2994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per Bold"/>
              </a:rPr>
              <a:t>ADVANTAGES AND DISADVANTAGES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Advantages</a:t>
            </a:r>
          </a:p>
          <a:p>
            <a:pPr lvl="1"/>
            <a:r>
              <a:rPr lang="en-US" dirty="0" smtClean="0"/>
              <a:t>Useful </a:t>
            </a:r>
            <a:r>
              <a:rPr lang="en-US" dirty="0"/>
              <a:t>in building synchronously clocked </a:t>
            </a:r>
            <a:r>
              <a:rPr lang="en-US" dirty="0" smtClean="0"/>
              <a:t>logic. </a:t>
            </a:r>
          </a:p>
          <a:p>
            <a:r>
              <a:rPr lang="en-US" b="1" dirty="0" smtClean="0"/>
              <a:t>Disadvantages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SR Flip flop is not edge </a:t>
            </a:r>
            <a:r>
              <a:rPr lang="en-US" dirty="0" err="1"/>
              <a:t>triggerable</a:t>
            </a:r>
            <a:r>
              <a:rPr lang="en-US" dirty="0"/>
              <a:t>. Most Flip Flop circuits require edge </a:t>
            </a:r>
            <a:r>
              <a:rPr lang="en-US" dirty="0" smtClean="0"/>
              <a:t>triggering.</a:t>
            </a:r>
          </a:p>
          <a:p>
            <a:pPr lvl="1"/>
            <a:r>
              <a:rPr lang="en-US" dirty="0" smtClean="0"/>
              <a:t>There </a:t>
            </a:r>
            <a:r>
              <a:rPr lang="en-US" dirty="0"/>
              <a:t>is a more complex Flip Flop </a:t>
            </a:r>
            <a:r>
              <a:rPr lang="en-US" dirty="0" smtClean="0"/>
              <a:t>designed.</a:t>
            </a:r>
          </a:p>
          <a:p>
            <a:pPr lvl="1"/>
            <a:r>
              <a:rPr lang="en-US" dirty="0" smtClean="0"/>
              <a:t>by </a:t>
            </a:r>
            <a:r>
              <a:rPr lang="en-US" dirty="0"/>
              <a:t>Jack King that is </a:t>
            </a:r>
            <a:r>
              <a:rPr lang="en-US" dirty="0" smtClean="0"/>
              <a:t>very</a:t>
            </a:r>
            <a:endParaRPr lang="en-US" dirty="0"/>
          </a:p>
          <a:p>
            <a:pPr marL="342900" lvl="1" indent="-342900" algn="just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The limits of the SR Flip Flop are overcome by cascading a second stage in the circuit which is arranged with a clock /clock line to cause an edge triggering option. The most basic version is called a D Flip Flop wherein D stands for Data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40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APPLICATIONS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Registers</a:t>
            </a:r>
          </a:p>
          <a:p>
            <a:r>
              <a:rPr lang="en-IN" dirty="0"/>
              <a:t>RAM (Random Access Memory)</a:t>
            </a:r>
          </a:p>
          <a:p>
            <a:r>
              <a:rPr lang="en-US" dirty="0"/>
              <a:t>Counters</a:t>
            </a:r>
          </a:p>
          <a:p>
            <a:r>
              <a:rPr lang="en-US" dirty="0" smtClean="0"/>
              <a:t>Frequency </a:t>
            </a:r>
            <a:r>
              <a:rPr lang="en-US" dirty="0"/>
              <a:t>Divider circuits</a:t>
            </a:r>
          </a:p>
          <a:p>
            <a:r>
              <a:rPr lang="en-US" dirty="0"/>
              <a:t>Data </a:t>
            </a:r>
            <a:r>
              <a:rPr lang="en-US" dirty="0" smtClean="0"/>
              <a:t>transfer </a:t>
            </a:r>
          </a:p>
          <a:p>
            <a:r>
              <a:rPr lang="en-US" dirty="0"/>
              <a:t>Static RAM</a:t>
            </a:r>
          </a:p>
          <a:p>
            <a:r>
              <a:rPr lang="en-US" dirty="0"/>
              <a:t>Microprocessor registers &amp; latches</a:t>
            </a:r>
          </a:p>
          <a:p>
            <a:r>
              <a:rPr lang="en-US" dirty="0"/>
              <a:t>Shift registers</a:t>
            </a:r>
          </a:p>
          <a:p>
            <a:r>
              <a:rPr lang="en-US" dirty="0"/>
              <a:t>Counters</a:t>
            </a:r>
          </a:p>
          <a:p>
            <a:r>
              <a:rPr lang="en-US" dirty="0" smtClean="0"/>
              <a:t>Switch </a:t>
            </a:r>
            <a:r>
              <a:rPr lang="en-US" dirty="0" err="1"/>
              <a:t>debouncing</a:t>
            </a:r>
            <a:endParaRPr lang="en-US" dirty="0"/>
          </a:p>
          <a:p>
            <a:r>
              <a:rPr lang="en-US" dirty="0"/>
              <a:t>Oscillators</a:t>
            </a:r>
          </a:p>
          <a:p>
            <a:r>
              <a:rPr lang="en-US" dirty="0"/>
              <a:t>Signal conditioning and </a:t>
            </a:r>
            <a:r>
              <a:rPr lang="en-US" dirty="0" smtClean="0"/>
              <a:t>synchronization 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1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ASSESSMENT PATTERN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</a:t>
            </a:r>
            <a:r>
              <a:rPr lang="en-US" dirty="0" smtClean="0"/>
              <a:t>SR flip-flop.</a:t>
            </a:r>
          </a:p>
          <a:p>
            <a:r>
              <a:rPr lang="en-US" dirty="0"/>
              <a:t>Explain </a:t>
            </a:r>
            <a:r>
              <a:rPr lang="en-US" dirty="0" smtClean="0"/>
              <a:t>NAND gate S-R </a:t>
            </a:r>
            <a:r>
              <a:rPr lang="en-US" dirty="0"/>
              <a:t>flip-flop</a:t>
            </a:r>
            <a:r>
              <a:rPr lang="en-US" dirty="0" smtClean="0"/>
              <a:t>.</a:t>
            </a:r>
          </a:p>
          <a:p>
            <a:r>
              <a:rPr lang="en-US" dirty="0"/>
              <a:t>For the clocked </a:t>
            </a:r>
            <a:r>
              <a:rPr lang="en-US" dirty="0" smtClean="0"/>
              <a:t>SR </a:t>
            </a:r>
            <a:r>
              <a:rPr lang="en-US" dirty="0"/>
              <a:t>flip-flop writ the state table, draw the state diagram and the state equation</a:t>
            </a:r>
            <a:r>
              <a:rPr lang="en-US" dirty="0" smtClean="0"/>
              <a:t>.</a:t>
            </a:r>
          </a:p>
          <a:p>
            <a:r>
              <a:rPr lang="en-US" dirty="0"/>
              <a:t>For the clocked </a:t>
            </a:r>
            <a:r>
              <a:rPr lang="en-US" dirty="0" smtClean="0"/>
              <a:t>SR </a:t>
            </a:r>
            <a:r>
              <a:rPr lang="en-US" dirty="0"/>
              <a:t>flip-flop writ the state table, draw the state diagram and the state equation. </a:t>
            </a:r>
            <a:endParaRPr lang="en-US" dirty="0" smtClean="0"/>
          </a:p>
          <a:p>
            <a:r>
              <a:rPr lang="en-US" dirty="0"/>
              <a:t>Explain triggering of flip-flops with </a:t>
            </a:r>
            <a:r>
              <a:rPr lang="en-US" dirty="0" smtClean="0"/>
              <a:t>waveform.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57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REFERENCES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6419"/>
          </a:xfrm>
        </p:spPr>
        <p:txBody>
          <a:bodyPr>
            <a:normAutofit fontScale="4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hlinkClick r:id="rId2"/>
              </a:rPr>
              <a:t>https://www.google.com/search?q=flip+flops+in+digital+electronics&amp;source=lnms&amp;tbm=isch&amp;sa=X&amp;ved=0ahUKEwjv46Hyu__iAhWMuY8KHVMCAxoQ_AUIESgC&amp;biw=1366&amp;bih=657#imgrc=Jr0JsbzuxbBXUM: 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3"/>
              </a:rPr>
              <a:t>https://www.electronics-tutorials.ws/sequential/seq_1.html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4"/>
              </a:rPr>
              <a:t>https://www.geeksforgeeks.org/introduction-of-sequential-circuits/#:~:text=Combinational%20circuit%20produces%20an%20output,capable%20of%20storing%20binary%20information.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5"/>
              </a:rPr>
              <a:t>https://www.electronicshub.org/flip-flops/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6"/>
              </a:rPr>
              <a:t>https://www.allaboutcircuits.com/textbook/digital/chpt-10/s-r-latch/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7"/>
              </a:rPr>
              <a:t>https://www.electronicshub.org/jk-flipflop/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8"/>
              </a:rPr>
              <a:t>https://www.electrical4u.com/master-slave-flip-flop/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9"/>
              </a:rPr>
              <a:t>https://www.gatevidyalay.com/flip-flops-in-electronics/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0"/>
              </a:rPr>
              <a:t>https://www.electricaltechnology.org/2019/09/digital-flip-flop-and-latches-symbols.html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1"/>
              </a:rPr>
              <a:t>http://hades.mech.northwestern.edu/index.php/Flip-Flops_and_Latches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2"/>
              </a:rPr>
              <a:t>https://www.electronicshub.org/t-flip-flop/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3"/>
              </a:rPr>
              <a:t>https://www.electronics-tutorial.net/sequential-logic-circuits/toggle-flip-flop/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4"/>
              </a:rPr>
              <a:t>https://www.electronicshub.org/flip-flop-applications/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5"/>
              </a:rPr>
              <a:t>https://</a:t>
            </a:r>
            <a:r>
              <a:rPr lang="en-IN" u="sng" dirty="0" smtClean="0">
                <a:hlinkClick r:id="rId15"/>
              </a:rPr>
              <a:t>www.quora.com/What-is-the-function-of-flip-flops</a:t>
            </a:r>
            <a:endParaRPr lang="en-IN" u="sn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Floyd 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&amp; Jain, Digital Fundamentals, Pearson. </a:t>
            </a:r>
            <a:endParaRPr lang="en-US" dirty="0" smtClean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</a:t>
            </a: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India.</a:t>
            </a:r>
            <a:endParaRPr lang="en-US" dirty="0" smtClean="0">
              <a:latin typeface="Casper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Fletcher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,  An </a:t>
            </a:r>
            <a:r>
              <a:rPr lang="en-US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</a:t>
            </a: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6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6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1302</TotalTime>
  <Words>946</Words>
  <Application>Microsoft Office PowerPoint</Application>
  <PresentationFormat>Widescreen</PresentationFormat>
  <Paragraphs>243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6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2_Office Theme</vt:lpstr>
      <vt:lpstr>CorelDRAW</vt:lpstr>
      <vt:lpstr>PowerPoint Presentation</vt:lpstr>
      <vt:lpstr>Lecture Objectives</vt:lpstr>
      <vt:lpstr>Course Objectives</vt:lpstr>
      <vt:lpstr> </vt:lpstr>
      <vt:lpstr>SEQUENTIAL CIRCUITS </vt:lpstr>
      <vt:lpstr>INTRODUCTION TO SEQUENTIAL CIRCUIT </vt:lpstr>
      <vt:lpstr>CLASSIFICATION OF SEQUENTIAL CIRCUITS </vt:lpstr>
      <vt:lpstr>SEQUENTIAL FEEDBACK LOOP</vt:lpstr>
      <vt:lpstr>LATCH </vt:lpstr>
      <vt:lpstr>WORKING OF LATCH</vt:lpstr>
      <vt:lpstr>DIFFERENCE BETWEEN LATCH AND FLIP FLOP </vt:lpstr>
      <vt:lpstr>FLIP FLOP </vt:lpstr>
      <vt:lpstr>TYPES OF FLIP FLOPS </vt:lpstr>
      <vt:lpstr>Symbols of Flip Flops</vt:lpstr>
      <vt:lpstr>1-bit Memory Cell Using NAND Gate</vt:lpstr>
      <vt:lpstr>1-bit Memory Cell Using NOR Gate</vt:lpstr>
      <vt:lpstr>SR FLIP FLOP</vt:lpstr>
      <vt:lpstr>PowerPoint Presentation</vt:lpstr>
      <vt:lpstr>SR FLIP FLOP WORKING</vt:lpstr>
      <vt:lpstr>Cont…</vt:lpstr>
      <vt:lpstr>NAND GATE SR FLIP FLOP</vt:lpstr>
      <vt:lpstr>NOR GATE SR FLIP FLOP</vt:lpstr>
      <vt:lpstr>PowerPoint Presentation</vt:lpstr>
      <vt:lpstr>ADVANTAGES AND DISADVANTAGES</vt:lpstr>
      <vt:lpstr>APPLICATIONS </vt:lpstr>
      <vt:lpstr>ASSESSMENT PATTERN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207</cp:revision>
  <dcterms:created xsi:type="dcterms:W3CDTF">2019-01-09T10:33:58Z</dcterms:created>
  <dcterms:modified xsi:type="dcterms:W3CDTF">2023-06-19T05:03:20Z</dcterms:modified>
</cp:coreProperties>
</file>