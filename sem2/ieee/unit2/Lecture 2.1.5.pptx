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  <p:sldMasterId id="2147483704" r:id="rId2"/>
    <p:sldMasterId id="2147483719" r:id="rId3"/>
  </p:sldMasterIdLst>
  <p:notesMasterIdLst>
    <p:notesMasterId r:id="rId39"/>
  </p:notesMasterIdLst>
  <p:sldIdLst>
    <p:sldId id="294" r:id="rId4"/>
    <p:sldId id="299" r:id="rId5"/>
    <p:sldId id="300" r:id="rId6"/>
    <p:sldId id="301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96" r:id="rId15"/>
    <p:sldId id="297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9" r:id="rId32"/>
    <p:sldId id="290" r:id="rId33"/>
    <p:sldId id="291" r:id="rId34"/>
    <p:sldId id="292" r:id="rId35"/>
    <p:sldId id="298" r:id="rId36"/>
    <p:sldId id="269" r:id="rId37"/>
    <p:sldId id="295" r:id="rId3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283" autoAdjust="0"/>
  </p:normalViewPr>
  <p:slideViewPr>
    <p:cSldViewPr>
      <p:cViewPr varScale="1">
        <p:scale>
          <a:sx n="73" d="100"/>
          <a:sy n="73" d="100"/>
        </p:scale>
        <p:origin x="129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BE27C-5AF0-4720-A03C-EE0F8F6E7A6D}" type="datetimeFigureOut">
              <a:rPr lang="en-US" smtClean="0"/>
              <a:pPr/>
              <a:t>6/19/2023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A9E4F-3949-4217-BD36-48F46EA6DD6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30759-33F5-48D4-B433-22BB42476537}" type="datetime1">
              <a:rPr lang="en-US" smtClean="0"/>
              <a:pPr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69AF4-EB10-446F-BFF5-296D73007258}" type="datetime1">
              <a:rPr lang="en-US" smtClean="0"/>
              <a:pPr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D8EAD-9352-4EFD-BC30-692DEFC8A035}" type="datetime1">
              <a:rPr lang="en-US" smtClean="0"/>
              <a:pPr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01C2A-BA61-4EC0-BB74-854FADEC4682}" type="datetime1">
              <a:rPr lang="en-US" smtClean="0"/>
              <a:pPr/>
              <a:t>6/19/2023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9B86-45E8-4E82-9716-697D449669D3}" type="datetime1">
              <a:rPr lang="en-US" smtClean="0"/>
              <a:pPr/>
              <a:t>6/19/2023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592B2-8CC5-41C2-B227-7A87FA4BA0F8}" type="datetime1">
              <a:rPr lang="en-US" smtClean="0"/>
              <a:pPr/>
              <a:t>6/19/2023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3C1C9-3BA4-4329-A370-85BD7A17DBB1}" type="datetime1">
              <a:rPr lang="en-US" smtClean="0"/>
              <a:pPr/>
              <a:t>6/19/2023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BB54D-9104-483B-829B-4CAA48ADA46F}" type="datetime1">
              <a:rPr lang="en-US" smtClean="0"/>
              <a:pPr/>
              <a:t>6/19/2023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430C9-9B65-4E6E-B145-9D0B981A968C}" type="datetime1">
              <a:rPr lang="en-US" smtClean="0"/>
              <a:pPr/>
              <a:t>6/19/2023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CF70-97CB-40D2-91C9-9FC1E73863BE}" type="datetime1">
              <a:rPr lang="en-US" smtClean="0"/>
              <a:pPr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F089B-08A8-4A21-85E1-599497406807}" type="datetime1">
              <a:rPr lang="en-US" smtClean="0"/>
              <a:pPr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4288" y="1905000"/>
            <a:ext cx="9158288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4288" y="0"/>
            <a:ext cx="9158288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814388" y="1009650"/>
            <a:ext cx="7515225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385888" y="2819400"/>
            <a:ext cx="6372225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A45C3-7ACC-4882-8A3A-23B0295B73FE}" type="datetime1">
              <a:rPr lang="en-US" smtClean="0"/>
              <a:pPr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43"/>
            <a:ext cx="9144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8"/>
            <a:ext cx="9144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3028030" y="6"/>
            <a:ext cx="3096344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13"/>
            <a:ext cx="9144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43"/>
            <a:ext cx="9144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8"/>
            <a:ext cx="9144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3028030" y="6"/>
            <a:ext cx="3096344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13"/>
            <a:ext cx="9144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051721" y="164643"/>
            <a:ext cx="7092280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051721" y="932728"/>
            <a:ext cx="7092280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1907704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81"/>
            <a:ext cx="9144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6"/>
            <a:ext cx="9144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6"/>
            <a:ext cx="9144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187545" y="4677514"/>
            <a:ext cx="288032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3347785" y="4677514"/>
            <a:ext cx="288032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5508025" y="4677514"/>
            <a:ext cx="288032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7668262" y="4677514"/>
            <a:ext cx="288032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3028030" y="6"/>
            <a:ext cx="3096344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13"/>
            <a:ext cx="9144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11560" y="2517005"/>
            <a:ext cx="144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71799" y="2517005"/>
            <a:ext cx="144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932038" y="2517005"/>
            <a:ext cx="144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7092277" y="2517005"/>
            <a:ext cx="144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923928" y="2276877"/>
            <a:ext cx="4283968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27584" y="1412776"/>
            <a:ext cx="342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" y="990600"/>
            <a:ext cx="2915816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3059832" y="4"/>
            <a:ext cx="6084168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" y="1013496"/>
            <a:ext cx="2915816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6228184" y="0"/>
            <a:ext cx="2915816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54"/>
            <a:ext cx="4572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81"/>
            <a:ext cx="9144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6"/>
            <a:ext cx="9144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46270" y="4101331"/>
            <a:ext cx="18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6897730" y="1700808"/>
            <a:ext cx="18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46270" y="1700808"/>
            <a:ext cx="18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897730" y="4101331"/>
            <a:ext cx="18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2339754" y="4101331"/>
            <a:ext cx="4464497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339754" y="1700808"/>
            <a:ext cx="4464497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2239" y="480060"/>
            <a:ext cx="3168352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844605" y="480061"/>
            <a:ext cx="4752528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844605" y="2948948"/>
            <a:ext cx="1476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5482869" y="2948948"/>
            <a:ext cx="1476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7121133" y="2948948"/>
            <a:ext cx="1476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81"/>
            <a:ext cx="9144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6"/>
            <a:ext cx="9144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075" y="2276878"/>
            <a:ext cx="5428593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279407" y="2485912"/>
            <a:ext cx="3624668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3028030" y="6"/>
            <a:ext cx="3096344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13"/>
            <a:ext cx="9144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81"/>
            <a:ext cx="9144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6"/>
            <a:ext cx="9144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00" y="1815750"/>
            <a:ext cx="2520280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21" y="1815750"/>
            <a:ext cx="2520280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939" y="1815750"/>
            <a:ext cx="2520280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82426" y="1957962"/>
            <a:ext cx="2305398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404671" y="1957962"/>
            <a:ext cx="2305398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126916" y="1957962"/>
            <a:ext cx="2305398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3028030" y="6"/>
            <a:ext cx="3096344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13"/>
            <a:ext cx="9144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43"/>
            <a:ext cx="9144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2" name="Group 4"/>
          <p:cNvGrpSpPr/>
          <p:nvPr userDrawn="1"/>
        </p:nvGrpSpPr>
        <p:grpSpPr>
          <a:xfrm>
            <a:off x="354010" y="1508788"/>
            <a:ext cx="2849840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6902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1741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4056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1398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7059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7577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8253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3485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8788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2075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2685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4288" y="1905000"/>
            <a:ext cx="9158288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4288" y="0"/>
            <a:ext cx="9158288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814388" y="1009650"/>
            <a:ext cx="7515225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385888" y="2819400"/>
            <a:ext cx="6372225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463955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278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29FE4-7549-4B7A-B61F-B9CA6B3E6E10}" type="datetime1">
              <a:rPr lang="en-US" smtClean="0"/>
              <a:pPr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</p:sldLayoutIdLst>
  <p:hf sldNum="0"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/>
            <a:fld id="{BDCDBBEF-AA6C-4BA6-85B2-A17D7F280E3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440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combinational+circuits+in+digital+electronics&amp;source=lnms&amp;tbm=isch&amp;sa=X&amp;ved=0ahUKEwj526-wnv3iAhWSXCsKHf77AtQQ_AUIESgC&amp;biw=1366&amp;bih=657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combinational+circuits+in+digital+electronics&amp;source=lnms&amp;tbm=isch&amp;sa=X&amp;ved=0ahUKEwj526-wnv3iAhWSXCsKHf77AtQQ_AUIESgC&amp;biw=1366&amp;bih=657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9.png"/><Relationship Id="rId5" Type="http://schemas.openxmlformats.org/officeDocument/2006/relationships/image" Target="../media/image22.png"/><Relationship Id="rId10" Type="http://schemas.openxmlformats.org/officeDocument/2006/relationships/image" Target="../media/image28.png"/><Relationship Id="rId4" Type="http://schemas.openxmlformats.org/officeDocument/2006/relationships/image" Target="../media/image21.png"/><Relationship Id="rId9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1.png"/><Relationship Id="rId7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1.png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1.png"/><Relationship Id="rId7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5105400"/>
            <a:ext cx="9147315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26648" y="5901986"/>
            <a:ext cx="3428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65087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939880"/>
            <a:ext cx="968829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57591" y="3121721"/>
          <a:ext cx="2477292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91" y="3121721"/>
                        <a:ext cx="2477292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6514163" y="0"/>
            <a:ext cx="385992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593056" y="2025526"/>
            <a:ext cx="5122069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" y="24501"/>
            <a:ext cx="2894815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7372348" y="5334000"/>
            <a:ext cx="1774967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5161019" y="6019561"/>
            <a:ext cx="369645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164336" y="6043646"/>
            <a:ext cx="3428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304800" y="6019800"/>
            <a:ext cx="4191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hangingPunct="1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De-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Mux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, Encoder &amp; Decoder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28600" y="1746465"/>
            <a:ext cx="8762999" cy="603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UIE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ACADEMIC UNIT-1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Introduction Electrical &amp; Electronics Engineering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23ECH-101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Shikha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Unit-2 Chapter-2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DeMultiplexer</a:t>
            </a:r>
            <a:endParaRPr lang="en-IN" sz="2000" b="1" dirty="0"/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No. </a:t>
            </a:r>
            <a:r>
              <a:rPr lang="en-US" sz="2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2.1.5</a:t>
            </a:r>
            <a:endParaRPr lang="en-US" sz="2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44443" y="4146449"/>
            <a:ext cx="3552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 Black" pitchFamily="34" charset="0"/>
              </a:rPr>
              <a:t>	</a:t>
            </a:r>
          </a:p>
          <a:p>
            <a:endParaRPr lang="en-US" sz="2000" dirty="0">
              <a:latin typeface="Arial Black" pitchFamily="34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29400" y="5624513"/>
            <a:ext cx="2057400" cy="273844"/>
          </a:xfrm>
        </p:spPr>
        <p:txBody>
          <a:bodyPr/>
          <a:lstStyle/>
          <a:p>
            <a:pPr defTabSz="685800"/>
            <a:fld id="{BDCDBBEF-AA6C-4BA6-85B2-A17D7F280E3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685800"/>
              <a:t>2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44716" y="1288629"/>
            <a:ext cx="3342425" cy="100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300" b="1" dirty="0">
                <a:latin typeface="Casper"/>
              </a:rPr>
              <a:t>Lecture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8412957" y="5600701"/>
            <a:ext cx="333375" cy="3167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768525"/>
              </p:ext>
            </p:extLst>
          </p:nvPr>
        </p:nvGraphicFramePr>
        <p:xfrm>
          <a:off x="444715" y="2519629"/>
          <a:ext cx="4767364" cy="1557253"/>
        </p:xfrm>
        <a:graphic>
          <a:graphicData uri="http://schemas.openxmlformats.org/drawingml/2006/table">
            <a:tbl>
              <a:tblPr firstRow="1" firstCol="1" bandRow="1"/>
              <a:tblGrid>
                <a:gridCol w="406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1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0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S. No.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1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make student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aware about the derivation of logic </a:t>
                      </a:r>
                      <a:r>
                        <a:rPr lang="en-US" sz="9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 the design of </a:t>
                      </a:r>
                      <a:r>
                        <a:rPr lang="en-US" sz="900" b="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Demultiplexer</a:t>
                      </a:r>
                      <a:r>
                        <a:rPr lang="en-US" sz="9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aware about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implementation of </a:t>
                      </a:r>
                      <a:r>
                        <a:rPr lang="en-US" sz="900" b="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Demultiplexer</a:t>
                      </a:r>
                      <a:r>
                        <a:rPr lang="en-US" sz="9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circuit.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101252"/>
                  </a:ext>
                </a:extLst>
              </a:tr>
              <a:tr h="3869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learn about design of </a:t>
                      </a:r>
                      <a:r>
                        <a:rPr lang="en-US" sz="9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different</a:t>
                      </a:r>
                      <a:r>
                        <a:rPr lang="en-US" sz="9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design of </a:t>
                      </a:r>
                      <a:r>
                        <a:rPr lang="en-US" sz="900" b="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Demuktiplexer</a:t>
                      </a:r>
                      <a:r>
                        <a:rPr lang="en-US" sz="9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Picture 2" descr="https://executivefunctioningsuccess.com/wp-content/uploads/2010/06/analog-vs-digital.png">
            <a:extLst>
              <a:ext uri="{FF2B5EF4-FFF2-40B4-BE49-F238E27FC236}">
                <a16:creationId xmlns:a16="http://schemas.microsoft.com/office/drawing/2014/main" id="{D3E7CA57-4866-463C-94EE-F4DCD8953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6756" y="2053218"/>
            <a:ext cx="3349576" cy="20351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01897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29400" y="5624513"/>
            <a:ext cx="2057400" cy="273844"/>
          </a:xfrm>
        </p:spPr>
        <p:txBody>
          <a:bodyPr/>
          <a:lstStyle/>
          <a:p>
            <a:pPr defTabSz="685800"/>
            <a:fld id="{BDCDBBEF-AA6C-4BA6-85B2-A17D7F280E3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685800"/>
              <a:t>3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084864" y="1046790"/>
            <a:ext cx="3342425" cy="100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300" b="1" dirty="0">
                <a:latin typeface="Casper"/>
              </a:rPr>
              <a:t>Course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8412957" y="5600701"/>
            <a:ext cx="333375" cy="3167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1" name="Picture 2" descr="https://executivefunctioningsuccess.com/wp-content/uploads/2010/06/analog-vs-digital.png">
            <a:extLst>
              <a:ext uri="{FF2B5EF4-FFF2-40B4-BE49-F238E27FC236}">
                <a16:creationId xmlns:a16="http://schemas.microsoft.com/office/drawing/2014/main" id="{2CED8DF6-0B67-41AC-8AA1-CCD94D5EE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6756" y="2053218"/>
            <a:ext cx="3349576" cy="2035139"/>
          </a:xfrm>
          <a:prstGeom prst="rect">
            <a:avLst/>
          </a:prstGeom>
          <a:noFill/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76349" y="2434590"/>
          <a:ext cx="4878977" cy="2792185"/>
        </p:xfrm>
        <a:graphic>
          <a:graphicData uri="http://schemas.openxmlformats.org/drawingml/2006/table">
            <a:tbl>
              <a:tblPr firstRow="1" firstCol="1" bandRow="1"/>
              <a:tblGrid>
                <a:gridCol w="415602">
                  <a:extLst>
                    <a:ext uri="{9D8B030D-6E8A-4147-A177-3AD203B41FA5}">
                      <a16:colId xmlns:a16="http://schemas.microsoft.com/office/drawing/2014/main" val="4074303963"/>
                    </a:ext>
                  </a:extLst>
                </a:gridCol>
                <a:gridCol w="4463375">
                  <a:extLst>
                    <a:ext uri="{9D8B030D-6E8A-4147-A177-3AD203B41FA5}">
                      <a16:colId xmlns:a16="http://schemas.microsoft.com/office/drawing/2014/main" val="805906204"/>
                    </a:ext>
                  </a:extLst>
                </a:gridCol>
              </a:tblGrid>
              <a:tr h="5128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892665"/>
                  </a:ext>
                </a:extLst>
              </a:tr>
              <a:tr h="759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15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Understand Electrical &amp; Electronics Engineering Fundamentals</a:t>
                      </a:r>
                      <a:r>
                        <a:rPr lang="en-US" sz="1500" kern="120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500" kern="1200" spc="-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7693"/>
                  </a:ext>
                </a:extLst>
              </a:tr>
              <a:tr h="15195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endParaRPr lang="en-US" sz="15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IN" sz="15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prepare students to perform the analysis and design of various Electrical &amp; digital electronic circuits.</a:t>
                      </a:r>
                      <a:endParaRPr lang="en-US" sz="15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15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706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558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29400" y="5624513"/>
            <a:ext cx="2057400" cy="273844"/>
          </a:xfrm>
        </p:spPr>
        <p:txBody>
          <a:bodyPr/>
          <a:lstStyle/>
          <a:p>
            <a:pPr defTabSz="685800"/>
            <a:fld id="{BDCDBBEF-AA6C-4BA6-85B2-A17D7F280E38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685800"/>
              <a:t>4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91540" y="1125911"/>
            <a:ext cx="3791495" cy="100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300" b="1" dirty="0"/>
              <a:t>Course Outcome </a:t>
            </a:r>
            <a:br>
              <a:rPr lang="en-US" sz="3300" b="1" dirty="0"/>
            </a:br>
            <a:endParaRPr lang="en-US" sz="3300" b="1" dirty="0">
              <a:latin typeface="Casper Bold"/>
              <a:cs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412957" y="5600701"/>
            <a:ext cx="333375" cy="3167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70658" name="Picture 2" descr="Multiplexer And Demultiplexer Trainer, डिजिटल ट्रेनर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597" y="1449977"/>
            <a:ext cx="2493825" cy="1875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68234" y="2132341"/>
          <a:ext cx="5133703" cy="3192409"/>
        </p:xfrm>
        <a:graphic>
          <a:graphicData uri="http://schemas.openxmlformats.org/drawingml/2006/table">
            <a:tbl>
              <a:tblPr firstRow="1" firstCol="1" bandRow="1"/>
              <a:tblGrid>
                <a:gridCol w="427356">
                  <a:extLst>
                    <a:ext uri="{9D8B030D-6E8A-4147-A177-3AD203B41FA5}">
                      <a16:colId xmlns:a16="http://schemas.microsoft.com/office/drawing/2014/main" val="3269582616"/>
                    </a:ext>
                  </a:extLst>
                </a:gridCol>
                <a:gridCol w="4020956">
                  <a:extLst>
                    <a:ext uri="{9D8B030D-6E8A-4147-A177-3AD203B41FA5}">
                      <a16:colId xmlns:a16="http://schemas.microsoft.com/office/drawing/2014/main" val="310181496"/>
                    </a:ext>
                  </a:extLst>
                </a:gridCol>
                <a:gridCol w="685391">
                  <a:extLst>
                    <a:ext uri="{9D8B030D-6E8A-4147-A177-3AD203B41FA5}">
                      <a16:colId xmlns:a16="http://schemas.microsoft.com/office/drawing/2014/main" val="2242646727"/>
                    </a:ext>
                  </a:extLst>
                </a:gridCol>
              </a:tblGrid>
              <a:tr h="34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Title 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Level 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2222519"/>
                  </a:ext>
                </a:extLst>
              </a:tr>
              <a:tr h="532721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CO1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identify the different types of electrical elements and the basic op-amp circuit elements and to illustrate the various types of motors, transducers. 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841131"/>
                  </a:ext>
                </a:extLst>
              </a:tr>
              <a:tr h="717375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understand basic principles of transformers, transducers, op-amps, DC and AC motors and to compare the different methods for analysing electrical and magnetic circuits.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915359"/>
                  </a:ext>
                </a:extLst>
              </a:tr>
              <a:tr h="532721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CO3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derive the relationships between parameters in electric and magnetic circuits and motors and to determine specifications of op-amps.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977130"/>
                  </a:ext>
                </a:extLst>
              </a:tr>
              <a:tr h="532721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solve the basic problems related to electric circuits, magnetic circuits and motors and to assess the characteristics of different configurations of op-amps.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1315325"/>
                  </a:ext>
                </a:extLst>
              </a:tr>
              <a:tr h="532721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CO5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design the different applications of transducers, motors as well as the op-amps like adders, </a:t>
                      </a:r>
                      <a:r>
                        <a:rPr lang="en-IN" sz="9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subtractor</a:t>
                      </a: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 and comparators.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-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15232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6435891" y="3741169"/>
            <a:ext cx="1607564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en-US" sz="1350" b="1" dirty="0" err="1" smtClean="0">
                <a:solidFill>
                  <a:prstClr val="black"/>
                </a:solidFill>
                <a:latin typeface="Casper Bold"/>
                <a:ea typeface="Karla" pitchFamily="2" charset="0"/>
                <a:cs typeface="Times New Roman" pitchFamily="18" charset="0"/>
              </a:rPr>
              <a:t>DeMULTIPLEXER</a:t>
            </a: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3235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19200" y="533400"/>
            <a:ext cx="3733800" cy="27212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latin typeface="Casper"/>
              </a:rPr>
              <a:t/>
            </a:r>
            <a:br>
              <a:rPr lang="en-US" b="1" dirty="0">
                <a:latin typeface="Casper"/>
              </a:rPr>
            </a:br>
            <a:r>
              <a:rPr lang="en-US" dirty="0">
                <a:cs typeface="Arial" panose="020B0604020202020204" pitchFamily="34" charset="0"/>
              </a:rPr>
              <a:t>Contents</a:t>
            </a:r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/>
            </a:r>
            <a:b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</a:br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/>
            </a:r>
            <a:b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</a:br>
            <a:endParaRPr lang="en-US" dirty="0">
              <a:latin typeface="Casper Bold" panose="02000806040000020004" pitchFamily="2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2209800"/>
            <a:ext cx="5752465" cy="2063129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90384"/>
              <a:buFont typeface="Arial" panose="020B0604020202020204" pitchFamily="34" charset="0"/>
              <a:buChar char="•"/>
              <a:tabLst>
                <a:tab pos="293370" algn="l"/>
              </a:tabLst>
            </a:pPr>
            <a:r>
              <a:rPr lang="en-US" sz="1600" dirty="0">
                <a:latin typeface="Casper"/>
              </a:rPr>
              <a:t>What is </a:t>
            </a:r>
            <a:r>
              <a:rPr lang="en-US" sz="1600" dirty="0" err="1">
                <a:latin typeface="Casper"/>
              </a:rPr>
              <a:t>Demultiplexer</a:t>
            </a:r>
            <a:r>
              <a:rPr lang="en-US" sz="1600" dirty="0">
                <a:latin typeface="Casper"/>
              </a:rPr>
              <a:t>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90384"/>
              <a:buFont typeface="Arial" panose="020B0604020202020204" pitchFamily="34" charset="0"/>
              <a:buChar char="•"/>
              <a:tabLst>
                <a:tab pos="293370" algn="l"/>
              </a:tabLst>
            </a:pPr>
            <a:r>
              <a:rPr lang="en-US" sz="1600" dirty="0" err="1">
                <a:latin typeface="Casper"/>
              </a:rPr>
              <a:t>Demux</a:t>
            </a:r>
            <a:r>
              <a:rPr lang="en-US" sz="1600" dirty="0">
                <a:latin typeface="Casper"/>
              </a:rPr>
              <a:t> Types.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90384"/>
              <a:buFont typeface="Arial" panose="020B0604020202020204" pitchFamily="34" charset="0"/>
              <a:buChar char="•"/>
              <a:tabLst>
                <a:tab pos="293370" algn="l"/>
              </a:tabLst>
            </a:pPr>
            <a:r>
              <a:rPr lang="en-US" sz="1600" dirty="0">
                <a:latin typeface="Casper"/>
              </a:rPr>
              <a:t>1-to-2 Line </a:t>
            </a:r>
            <a:r>
              <a:rPr lang="en-US" sz="1600" dirty="0" err="1">
                <a:latin typeface="Casper"/>
              </a:rPr>
              <a:t>Demultiplexer</a:t>
            </a:r>
            <a:r>
              <a:rPr lang="en-US" sz="1600" dirty="0">
                <a:latin typeface="Casper"/>
              </a:rPr>
              <a:t>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90384"/>
              <a:buFont typeface="Arial" panose="020B0604020202020204" pitchFamily="34" charset="0"/>
              <a:buChar char="•"/>
              <a:tabLst>
                <a:tab pos="293370" algn="l"/>
              </a:tabLst>
            </a:pPr>
            <a:r>
              <a:rPr lang="en-US" sz="1600" dirty="0">
                <a:latin typeface="Casper"/>
              </a:rPr>
              <a:t>1-to-4 Line </a:t>
            </a:r>
            <a:r>
              <a:rPr lang="en-US" sz="1600" dirty="0" err="1">
                <a:latin typeface="Casper"/>
              </a:rPr>
              <a:t>Demultiplexer</a:t>
            </a:r>
            <a:r>
              <a:rPr lang="en-US" sz="1600" dirty="0">
                <a:latin typeface="Casper"/>
              </a:rPr>
              <a:t>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90384"/>
              <a:buFont typeface="Arial" panose="020B0604020202020204" pitchFamily="34" charset="0"/>
              <a:buChar char="•"/>
              <a:tabLst>
                <a:tab pos="293370" algn="l"/>
              </a:tabLst>
            </a:pPr>
            <a:r>
              <a:rPr lang="en-US" sz="1600" dirty="0">
                <a:latin typeface="Casper"/>
              </a:rPr>
              <a:t>1-to-8 Line </a:t>
            </a:r>
            <a:r>
              <a:rPr lang="en-US" sz="1600" dirty="0" err="1">
                <a:latin typeface="Casper"/>
              </a:rPr>
              <a:t>Demultiplexer</a:t>
            </a:r>
            <a:r>
              <a:rPr lang="en-US" sz="1600" dirty="0">
                <a:latin typeface="Casper"/>
              </a:rPr>
              <a:t>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90384"/>
              <a:buFont typeface="Arial" panose="020B0604020202020204" pitchFamily="34" charset="0"/>
              <a:buChar char="•"/>
              <a:tabLst>
                <a:tab pos="293370" algn="l"/>
              </a:tabLst>
            </a:pPr>
            <a:r>
              <a:rPr lang="en-US" sz="1600" dirty="0">
                <a:latin typeface="Casper"/>
              </a:rPr>
              <a:t>1-to-8 Line </a:t>
            </a:r>
            <a:r>
              <a:rPr lang="en-US" sz="1600" dirty="0" err="1">
                <a:latin typeface="Casper"/>
              </a:rPr>
              <a:t>Demultiplexer</a:t>
            </a:r>
            <a:r>
              <a:rPr lang="en-US" sz="1600" dirty="0">
                <a:latin typeface="Casper"/>
              </a:rPr>
              <a:t> Truth Table.</a:t>
            </a:r>
            <a:endParaRPr lang="en-US" sz="1600" dirty="0">
              <a:latin typeface="Casper"/>
              <a:hlinkClick r:id="rId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62000" y="784606"/>
            <a:ext cx="6705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What is De-Multiplexer?</a:t>
            </a:r>
            <a:endParaRPr lang="en-US" dirty="0">
              <a:hlinkClick r:id="rId2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idx="1"/>
          </p:nvPr>
        </p:nvSpPr>
        <p:spPr>
          <a:xfrm>
            <a:off x="685800" y="1828800"/>
            <a:ext cx="7886700" cy="5187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1600" dirty="0"/>
              <a:t>A DEMUX is a digital switch with a single input (source)  and a multiple outputs (destinations).The select lines determine which output the input is  connected to.</a:t>
            </a:r>
            <a:endParaRPr lang="en-US" sz="1600" dirty="0">
              <a:hlinkClick r:id="rId2"/>
            </a:endParaRPr>
          </a:p>
        </p:txBody>
      </p:sp>
      <p:sp>
        <p:nvSpPr>
          <p:cNvPr id="4" name="object 7"/>
          <p:cNvSpPr txBox="1">
            <a:spLocks/>
          </p:cNvSpPr>
          <p:nvPr/>
        </p:nvSpPr>
        <p:spPr>
          <a:xfrm>
            <a:off x="533400" y="2667000"/>
            <a:ext cx="6219952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0" lvl="0" indent="0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sperBOLD"/>
                <a:ea typeface="+mj-ea"/>
                <a:cs typeface="Calibri"/>
              </a:rPr>
              <a:t>DEMUX</a:t>
            </a:r>
            <a:r>
              <a:rPr kumimoji="0" lang="en-US" sz="3200" b="1" i="0" u="none" strike="noStrike" kern="1200" cap="none" spc="-9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sperBOLD"/>
                <a:ea typeface="+mj-ea"/>
                <a:cs typeface="Calibri"/>
              </a:rPr>
              <a:t> </a:t>
            </a:r>
            <a:r>
              <a:rPr kumimoji="0" lang="en-US" sz="3200" b="0" i="0" u="none" strike="noStrike" kern="1200" cap="none" spc="-5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sperBOLD"/>
                <a:ea typeface="+mj-ea"/>
                <a:cs typeface="Calibri"/>
              </a:rPr>
              <a:t>TYPES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sperBOLD"/>
              <a:ea typeface="+mj-ea"/>
              <a:cs typeface="Calibri"/>
            </a:endParaRPr>
          </a:p>
        </p:txBody>
      </p:sp>
      <p:sp>
        <p:nvSpPr>
          <p:cNvPr id="5" name="object 8"/>
          <p:cNvSpPr txBox="1"/>
          <p:nvPr/>
        </p:nvSpPr>
        <p:spPr>
          <a:xfrm>
            <a:off x="609600" y="3581400"/>
            <a:ext cx="4964430" cy="1460656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78460" indent="-366395">
              <a:lnSpc>
                <a:spcPct val="100000"/>
              </a:lnSpc>
              <a:spcBef>
                <a:spcPts val="1010"/>
              </a:spcBef>
              <a:buClr>
                <a:schemeClr val="tx1"/>
              </a:buClr>
              <a:buSzPct val="81578"/>
              <a:buFont typeface="Wingdings" pitchFamily="2" charset="2"/>
              <a:buChar char="§"/>
              <a:tabLst>
                <a:tab pos="379095" algn="l"/>
              </a:tabLst>
            </a:pPr>
            <a:r>
              <a:rPr sz="1600" spc="-15" dirty="0">
                <a:cs typeface="Constantia"/>
              </a:rPr>
              <a:t>1-to-2 </a:t>
            </a:r>
            <a:r>
              <a:rPr sz="1600" dirty="0">
                <a:cs typeface="Constantia"/>
              </a:rPr>
              <a:t>(1 select</a:t>
            </a:r>
            <a:r>
              <a:rPr sz="1600" spc="-235" dirty="0">
                <a:cs typeface="Constantia"/>
              </a:rPr>
              <a:t> </a:t>
            </a:r>
            <a:r>
              <a:rPr sz="1600" dirty="0">
                <a:cs typeface="Constantia"/>
              </a:rPr>
              <a:t>line)</a:t>
            </a:r>
            <a:endParaRPr sz="1600">
              <a:cs typeface="Constantia"/>
            </a:endParaRPr>
          </a:p>
          <a:p>
            <a:pPr marL="378460" indent="-366395">
              <a:lnSpc>
                <a:spcPct val="100000"/>
              </a:lnSpc>
              <a:spcBef>
                <a:spcPts val="910"/>
              </a:spcBef>
              <a:buClr>
                <a:schemeClr val="tx1"/>
              </a:buClr>
              <a:buSzPct val="81578"/>
              <a:buFont typeface="Wingdings" pitchFamily="2" charset="2"/>
              <a:buChar char="§"/>
              <a:tabLst>
                <a:tab pos="379095" algn="l"/>
              </a:tabLst>
            </a:pPr>
            <a:r>
              <a:rPr sz="1600" spc="-10" dirty="0">
                <a:cs typeface="Constantia"/>
              </a:rPr>
              <a:t>1-to-4 </a:t>
            </a:r>
            <a:r>
              <a:rPr sz="1600" dirty="0">
                <a:cs typeface="Constantia"/>
              </a:rPr>
              <a:t>(2 select</a:t>
            </a:r>
            <a:r>
              <a:rPr sz="1600" spc="-300" dirty="0">
                <a:cs typeface="Constantia"/>
              </a:rPr>
              <a:t> </a:t>
            </a:r>
            <a:r>
              <a:rPr sz="1600" dirty="0">
                <a:cs typeface="Constantia"/>
              </a:rPr>
              <a:t>lines)</a:t>
            </a:r>
            <a:endParaRPr sz="1600">
              <a:cs typeface="Constantia"/>
            </a:endParaRPr>
          </a:p>
          <a:p>
            <a:pPr marL="378460" indent="-366395">
              <a:lnSpc>
                <a:spcPct val="100000"/>
              </a:lnSpc>
              <a:spcBef>
                <a:spcPts val="915"/>
              </a:spcBef>
              <a:buClr>
                <a:schemeClr val="tx1"/>
              </a:buClr>
              <a:buSzPct val="81578"/>
              <a:buFont typeface="Wingdings" pitchFamily="2" charset="2"/>
              <a:buChar char="§"/>
              <a:tabLst>
                <a:tab pos="379095" algn="l"/>
              </a:tabLst>
            </a:pPr>
            <a:r>
              <a:rPr sz="1600" spc="-10" dirty="0">
                <a:cs typeface="Constantia"/>
              </a:rPr>
              <a:t>1-to-8 </a:t>
            </a:r>
            <a:r>
              <a:rPr sz="1600" dirty="0">
                <a:cs typeface="Constantia"/>
              </a:rPr>
              <a:t>(3 select</a:t>
            </a:r>
            <a:r>
              <a:rPr sz="1600" spc="-280" dirty="0">
                <a:cs typeface="Constantia"/>
              </a:rPr>
              <a:t> </a:t>
            </a:r>
            <a:r>
              <a:rPr sz="1600" dirty="0">
                <a:cs typeface="Constantia"/>
              </a:rPr>
              <a:t>lines)</a:t>
            </a:r>
            <a:endParaRPr sz="1600">
              <a:cs typeface="Constantia"/>
            </a:endParaRPr>
          </a:p>
          <a:p>
            <a:pPr marL="344488" indent="-331788">
              <a:lnSpc>
                <a:spcPct val="100000"/>
              </a:lnSpc>
              <a:spcBef>
                <a:spcPts val="915"/>
              </a:spcBef>
              <a:buClr>
                <a:schemeClr val="tx1"/>
              </a:buClr>
              <a:buSzPct val="81578"/>
              <a:buFont typeface="Arial" pitchFamily="34" charset="0"/>
              <a:buChar char="•"/>
              <a:tabLst>
                <a:tab pos="344488" algn="l"/>
              </a:tabLst>
            </a:pPr>
            <a:r>
              <a:rPr lang="en-US" sz="1600" spc="-10" dirty="0">
                <a:cs typeface="Constantia"/>
              </a:rPr>
              <a:t> </a:t>
            </a:r>
            <a:r>
              <a:rPr sz="1600" spc="-10">
                <a:cs typeface="Constantia"/>
              </a:rPr>
              <a:t>1-to-16 </a:t>
            </a:r>
            <a:r>
              <a:rPr sz="1600" dirty="0">
                <a:cs typeface="Constantia"/>
              </a:rPr>
              <a:t>(4 select</a:t>
            </a:r>
            <a:r>
              <a:rPr sz="1600" spc="-285" dirty="0">
                <a:cs typeface="Constantia"/>
              </a:rPr>
              <a:t> </a:t>
            </a:r>
            <a:r>
              <a:rPr sz="1600" dirty="0">
                <a:cs typeface="Constantia"/>
              </a:rPr>
              <a:t>lines</a:t>
            </a:r>
            <a:r>
              <a:rPr sz="1600" dirty="0">
                <a:solidFill>
                  <a:srgbClr val="004E6C"/>
                </a:solidFill>
                <a:cs typeface="Constantia"/>
              </a:rPr>
              <a:t>)</a:t>
            </a:r>
            <a:endParaRPr sz="1600">
              <a:cs typeface="Constant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8122920" cy="136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  <a:tabLst>
                <a:tab pos="5208270" algn="l"/>
              </a:tabLst>
            </a:pPr>
            <a:r>
              <a:rPr spc="-5" dirty="0">
                <a:latin typeface="Casper"/>
                <a:cs typeface="Calibri"/>
              </a:rPr>
              <a:t>Functional </a:t>
            </a:r>
            <a:r>
              <a:rPr spc="-20" dirty="0">
                <a:latin typeface="Casper"/>
                <a:cs typeface="Calibri"/>
              </a:rPr>
              <a:t>Diagram</a:t>
            </a:r>
            <a:r>
              <a:rPr spc="15" dirty="0">
                <a:latin typeface="Casper"/>
                <a:cs typeface="Calibri"/>
              </a:rPr>
              <a:t> </a:t>
            </a:r>
            <a:r>
              <a:rPr spc="-5">
                <a:latin typeface="Casper"/>
                <a:cs typeface="Calibri"/>
              </a:rPr>
              <a:t>Of</a:t>
            </a:r>
            <a:r>
              <a:rPr spc="5">
                <a:latin typeface="Casper"/>
                <a:cs typeface="Calibri"/>
              </a:rPr>
              <a:t> </a:t>
            </a:r>
            <a:r>
              <a:rPr spc="-5">
                <a:latin typeface="Casper"/>
                <a:cs typeface="Calibri"/>
              </a:rPr>
              <a:t>a</a:t>
            </a:r>
            <a:r>
              <a:rPr lang="en-US" spc="-5" dirty="0">
                <a:latin typeface="Casper"/>
                <a:cs typeface="Calibri"/>
              </a:rPr>
              <a:t> </a:t>
            </a:r>
            <a:r>
              <a:rPr spc="-20">
                <a:latin typeface="Casper"/>
                <a:cs typeface="Calibri"/>
              </a:rPr>
              <a:t>Demultiplexer</a:t>
            </a:r>
            <a:endParaRPr>
              <a:latin typeface="Casper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76400" y="1371600"/>
            <a:ext cx="5242559" cy="4480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33600" y="6096000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1: </a:t>
            </a:r>
            <a:r>
              <a:rPr lang="en-US" spc="-5" dirty="0">
                <a:cs typeface="Calibri"/>
              </a:rPr>
              <a:t>Functional </a:t>
            </a:r>
            <a:r>
              <a:rPr lang="en-US" spc="-20" dirty="0">
                <a:cs typeface="Calibri"/>
              </a:rPr>
              <a:t>Diagram</a:t>
            </a:r>
            <a:r>
              <a:rPr lang="en-US" spc="15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Of</a:t>
            </a:r>
            <a:r>
              <a:rPr lang="en-US" spc="5" dirty="0">
                <a:cs typeface="Calibri"/>
              </a:rPr>
              <a:t> </a:t>
            </a:r>
            <a:r>
              <a:rPr lang="en-US" spc="-5" dirty="0">
                <a:cs typeface="Calibri"/>
              </a:rPr>
              <a:t>a </a:t>
            </a:r>
            <a:r>
              <a:rPr lang="en-US" spc="-20" dirty="0">
                <a:cs typeface="Calibri"/>
              </a:rPr>
              <a:t>De-multiplexer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50432"/>
            <a:ext cx="8305800" cy="1588897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30"/>
              </a:spcBef>
            </a:pPr>
            <a:r>
              <a:rPr spc="-20" dirty="0">
                <a:latin typeface="+mn-lt"/>
                <a:cs typeface="Calibri"/>
              </a:rPr>
              <a:t>Demultiplexer</a:t>
            </a:r>
            <a:endParaRPr>
              <a:latin typeface="+mn-lt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930"/>
              </a:spcBef>
            </a:pPr>
            <a:r>
              <a:rPr spc="-20">
                <a:latin typeface="+mn-lt"/>
                <a:cs typeface="Calibri"/>
              </a:rPr>
              <a:t>1 to 2 line </a:t>
            </a:r>
            <a:r>
              <a:rPr lang="en-US" spc="-20" dirty="0">
                <a:latin typeface="+mn-lt"/>
                <a:cs typeface="Calibri"/>
              </a:rPr>
              <a:t>D</a:t>
            </a:r>
            <a:r>
              <a:rPr spc="-20">
                <a:latin typeface="+mn-lt"/>
                <a:cs typeface="Calibri"/>
              </a:rPr>
              <a:t>e</a:t>
            </a:r>
            <a:r>
              <a:rPr lang="en-US" spc="-20" dirty="0">
                <a:latin typeface="+mn-lt"/>
                <a:cs typeface="Calibri"/>
              </a:rPr>
              <a:t>-M</a:t>
            </a:r>
            <a:r>
              <a:rPr spc="-20">
                <a:latin typeface="+mn-lt"/>
                <a:cs typeface="Calibri"/>
              </a:rPr>
              <a:t>ultiplexer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" y="1600200"/>
            <a:ext cx="4114800" cy="2438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57800" y="1981200"/>
            <a:ext cx="3563111" cy="36286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4267200"/>
            <a:ext cx="4343400" cy="21153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33600" y="6400800"/>
            <a:ext cx="44236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 2 1 to 2 line </a:t>
            </a:r>
            <a:r>
              <a:rPr lang="en-US" spc="-20" dirty="0">
                <a:cs typeface="Calibri"/>
              </a:rPr>
              <a:t>De-multiplexer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392938"/>
            <a:ext cx="71628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30"/>
              </a:spcBef>
            </a:pPr>
            <a:r>
              <a:rPr spc="-20" dirty="0">
                <a:latin typeface="+mn-lt"/>
                <a:cs typeface="Calibri"/>
              </a:rPr>
              <a:t>1- to- 4 line demultiplexer</a:t>
            </a:r>
            <a:endParaRPr spc="-20">
              <a:latin typeface="+mn-lt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1143000"/>
            <a:ext cx="3352800" cy="213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14800" y="1219200"/>
            <a:ext cx="4495800" cy="2209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0" y="3810000"/>
            <a:ext cx="7239000" cy="28285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438400" y="6400800"/>
            <a:ext cx="411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 3:  1 to 4 line </a:t>
            </a:r>
            <a:r>
              <a:rPr lang="en-US" spc="-20" dirty="0">
                <a:cs typeface="Calibri"/>
              </a:rPr>
              <a:t>De-multiplexer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90600" y="408178"/>
            <a:ext cx="60960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+mn-lt"/>
                <a:cs typeface="Calibri"/>
              </a:rPr>
              <a:t>1 : 8</a:t>
            </a:r>
            <a:r>
              <a:rPr spc="-90" dirty="0">
                <a:latin typeface="+mn-lt"/>
                <a:cs typeface="Calibri"/>
              </a:rPr>
              <a:t> </a:t>
            </a:r>
            <a:r>
              <a:rPr spc="-20" dirty="0">
                <a:latin typeface="+mn-lt"/>
                <a:cs typeface="Calibri"/>
              </a:rPr>
              <a:t>Demultiplexer</a:t>
            </a:r>
            <a:endParaRPr>
              <a:latin typeface="+mn-lt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7200" y="1371600"/>
            <a:ext cx="7848600" cy="5257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0" y="6019801"/>
            <a:ext cx="457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Fig 4:  1 to 4 line </a:t>
            </a:r>
            <a:r>
              <a:rPr lang="en-US" spc="-20" dirty="0">
                <a:cs typeface="Calibri"/>
              </a:rPr>
              <a:t>De-multiplexer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381000"/>
            <a:ext cx="86995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cs typeface="Calibri"/>
              </a:rPr>
              <a:t>1 : 8 Demultiplexer (Truth Table)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752600"/>
            <a:ext cx="8077200" cy="480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19400" y="6488668"/>
            <a:ext cx="3535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Fig 5:  1 to 4 line </a:t>
            </a:r>
            <a:r>
              <a:rPr lang="en-US" spc="-20" dirty="0">
                <a:cs typeface="Calibri"/>
              </a:rPr>
              <a:t>De-multiplexer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De–</a:t>
            </a:r>
            <a:r>
              <a:rPr lang="en-US" dirty="0" err="1" smtClean="0"/>
              <a:t>Mux</a:t>
            </a:r>
            <a:r>
              <a:rPr lang="en-US" dirty="0" smtClean="0"/>
              <a:t> Tree</a:t>
            </a:r>
            <a:endParaRPr lang="en-US" dirty="0"/>
          </a:p>
        </p:txBody>
      </p:sp>
      <p:pic>
        <p:nvPicPr>
          <p:cNvPr id="66562" name="Picture 2" descr="Digital Circuits - De-Multiplexer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1219200"/>
            <a:ext cx="5715000" cy="5638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7586" name="Picture 2" descr="Demultiplexer (Demux) - Types, Cascading, Applications and Advantag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620" y="152400"/>
            <a:ext cx="8755980" cy="6248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0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 </a:t>
            </a:r>
            <a:r>
              <a:rPr lang="en-US" dirty="0">
                <a:latin typeface="+mn-lt"/>
                <a:ea typeface="+mn-ea"/>
                <a:cs typeface="+mn-cs"/>
              </a:rPr>
              <a:t>ENCODER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295400"/>
            <a:ext cx="8496935" cy="211852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latin typeface="Casper"/>
                <a:cs typeface="Times New Roman"/>
              </a:rPr>
              <a:t>An Encoder is </a:t>
            </a:r>
            <a:r>
              <a:rPr sz="1600">
                <a:latin typeface="Casper"/>
                <a:cs typeface="Times New Roman"/>
              </a:rPr>
              <a:t>a </a:t>
            </a:r>
            <a:r>
              <a:rPr sz="1600" spc="-5">
                <a:latin typeface="Casper"/>
                <a:cs typeface="Times New Roman"/>
              </a:rPr>
              <a:t>combinational </a:t>
            </a:r>
            <a:r>
              <a:rPr sz="1600" dirty="0">
                <a:latin typeface="Casper"/>
                <a:cs typeface="Times New Roman"/>
              </a:rPr>
              <a:t>logic</a:t>
            </a:r>
            <a:r>
              <a:rPr sz="1600" spc="-125" dirty="0">
                <a:latin typeface="Casper"/>
                <a:cs typeface="Times New Roman"/>
              </a:rPr>
              <a:t> </a:t>
            </a:r>
            <a:r>
              <a:rPr sz="1600" spc="-5" dirty="0">
                <a:latin typeface="Casper"/>
                <a:cs typeface="Times New Roman"/>
              </a:rPr>
              <a:t>circuit.</a:t>
            </a:r>
            <a:endParaRPr sz="1600">
              <a:latin typeface="Casper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latin typeface="Casper"/>
                <a:cs typeface="Times New Roman"/>
              </a:rPr>
              <a:t>It performs the inverse operation of</a:t>
            </a:r>
            <a:r>
              <a:rPr sz="1600" spc="-170" dirty="0">
                <a:latin typeface="Casper"/>
                <a:cs typeface="Times New Roman"/>
              </a:rPr>
              <a:t> </a:t>
            </a:r>
            <a:r>
              <a:rPr sz="1600" spc="-15" dirty="0">
                <a:latin typeface="Casper"/>
                <a:cs typeface="Times New Roman"/>
              </a:rPr>
              <a:t>Decoder.</a:t>
            </a:r>
            <a:endParaRPr sz="1600">
              <a:latin typeface="Casper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latin typeface="Casper"/>
                <a:cs typeface="Times New Roman"/>
              </a:rPr>
              <a:t>The opposite process of decoding is </a:t>
            </a:r>
            <a:r>
              <a:rPr sz="1600" spc="5" dirty="0">
                <a:latin typeface="Casper"/>
                <a:cs typeface="Times New Roman"/>
              </a:rPr>
              <a:t>known </a:t>
            </a:r>
            <a:r>
              <a:rPr sz="1600" dirty="0">
                <a:latin typeface="Casper"/>
                <a:cs typeface="Times New Roman"/>
              </a:rPr>
              <a:t>as</a:t>
            </a:r>
            <a:r>
              <a:rPr sz="1600" spc="-210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Encoding.</a:t>
            </a:r>
            <a:endParaRPr sz="1600">
              <a:latin typeface="Casper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latin typeface="Casper"/>
                <a:cs typeface="Times New Roman"/>
              </a:rPr>
              <a:t>An Encoder converts an </a:t>
            </a:r>
            <a:r>
              <a:rPr sz="1600" spc="-5" dirty="0">
                <a:latin typeface="Casper"/>
                <a:cs typeface="Times New Roman"/>
              </a:rPr>
              <a:t>active </a:t>
            </a:r>
            <a:r>
              <a:rPr sz="1600" dirty="0">
                <a:latin typeface="Casper"/>
                <a:cs typeface="Times New Roman"/>
              </a:rPr>
              <a:t>input signal into a coded output</a:t>
            </a:r>
            <a:r>
              <a:rPr sz="1600" spc="-240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signal.</a:t>
            </a:r>
            <a:endParaRPr sz="1600">
              <a:latin typeface="Casper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latin typeface="Casper"/>
                <a:cs typeface="Times New Roman"/>
              </a:rPr>
              <a:t>Block</a:t>
            </a:r>
            <a:r>
              <a:rPr sz="1600" spc="-15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diagram</a:t>
            </a:r>
            <a:r>
              <a:rPr sz="1600" spc="-40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of</a:t>
            </a:r>
            <a:r>
              <a:rPr sz="1600" spc="-5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Encoder</a:t>
            </a:r>
            <a:r>
              <a:rPr sz="1600" spc="-25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is</a:t>
            </a:r>
            <a:r>
              <a:rPr sz="1600" spc="-5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shown</a:t>
            </a:r>
            <a:r>
              <a:rPr sz="1600" spc="-25" dirty="0">
                <a:latin typeface="Casper"/>
                <a:cs typeface="Times New Roman"/>
              </a:rPr>
              <a:t> </a:t>
            </a:r>
            <a:r>
              <a:rPr sz="1600">
                <a:latin typeface="Casper"/>
                <a:cs typeface="Times New Roman"/>
              </a:rPr>
              <a:t>in </a:t>
            </a:r>
            <a:r>
              <a:rPr sz="1600" spc="-5">
                <a:latin typeface="Casper"/>
                <a:cs typeface="Times New Roman"/>
              </a:rPr>
              <a:t>Fig.1</a:t>
            </a:r>
            <a:r>
              <a:rPr lang="en-US" sz="1600" spc="-5" dirty="0">
                <a:latin typeface="Casper"/>
                <a:cs typeface="Times New Roman"/>
              </a:rPr>
              <a:t>.1</a:t>
            </a:r>
            <a:r>
              <a:rPr sz="1600" spc="-5">
                <a:latin typeface="Casper"/>
                <a:cs typeface="Times New Roman"/>
              </a:rPr>
              <a:t>.</a:t>
            </a:r>
            <a:r>
              <a:rPr sz="1600" spc="-25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It</a:t>
            </a:r>
            <a:r>
              <a:rPr sz="1600" spc="-20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has ‘M’</a:t>
            </a:r>
            <a:r>
              <a:rPr sz="1600" spc="-160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inputs</a:t>
            </a:r>
            <a:r>
              <a:rPr sz="1600" spc="-50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and</a:t>
            </a:r>
            <a:r>
              <a:rPr sz="1600" spc="5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‘N’</a:t>
            </a:r>
            <a:r>
              <a:rPr sz="1600" spc="-170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outputs.</a:t>
            </a:r>
            <a:endParaRPr sz="1600">
              <a:latin typeface="Casper"/>
              <a:cs typeface="Times New Roman"/>
            </a:endParaRPr>
          </a:p>
          <a:p>
            <a:pPr marL="355600" marR="147955" indent="-342900" algn="just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spc="-5" dirty="0">
                <a:latin typeface="Casper"/>
                <a:cs typeface="Times New Roman"/>
              </a:rPr>
              <a:t>An </a:t>
            </a:r>
            <a:r>
              <a:rPr sz="1600" dirty="0">
                <a:latin typeface="Casper"/>
                <a:cs typeface="Times New Roman"/>
              </a:rPr>
              <a:t>Encoder has ‘M’ input </a:t>
            </a:r>
            <a:r>
              <a:rPr sz="1600" spc="-5" dirty="0">
                <a:latin typeface="Casper"/>
                <a:cs typeface="Times New Roman"/>
              </a:rPr>
              <a:t>lines, </a:t>
            </a:r>
            <a:r>
              <a:rPr sz="1600" dirty="0">
                <a:latin typeface="Casper"/>
                <a:cs typeface="Times New Roman"/>
              </a:rPr>
              <a:t>only </a:t>
            </a:r>
            <a:r>
              <a:rPr sz="1600" spc="5" dirty="0">
                <a:latin typeface="Casper"/>
                <a:cs typeface="Times New Roman"/>
              </a:rPr>
              <a:t>one </a:t>
            </a:r>
            <a:r>
              <a:rPr sz="1600" dirty="0">
                <a:latin typeface="Casper"/>
                <a:cs typeface="Times New Roman"/>
              </a:rPr>
              <a:t>of which is </a:t>
            </a:r>
            <a:r>
              <a:rPr sz="1600" spc="-5" dirty="0">
                <a:latin typeface="Casper"/>
                <a:cs typeface="Times New Roman"/>
              </a:rPr>
              <a:t>activated </a:t>
            </a:r>
            <a:r>
              <a:rPr sz="1600" dirty="0">
                <a:latin typeface="Casper"/>
                <a:cs typeface="Times New Roman"/>
              </a:rPr>
              <a:t>at a given</a:t>
            </a:r>
            <a:r>
              <a:rPr sz="1600" spc="-325" dirty="0">
                <a:latin typeface="Casper"/>
                <a:cs typeface="Times New Roman"/>
              </a:rPr>
              <a:t> </a:t>
            </a:r>
            <a:r>
              <a:rPr sz="1600" spc="-10" dirty="0">
                <a:latin typeface="Casper"/>
                <a:cs typeface="Times New Roman"/>
              </a:rPr>
              <a:t>time,  </a:t>
            </a:r>
            <a:r>
              <a:rPr sz="1600" dirty="0">
                <a:latin typeface="Casper"/>
                <a:cs typeface="Times New Roman"/>
              </a:rPr>
              <a:t>and produces an N-bit output code, depending on which input is</a:t>
            </a:r>
            <a:r>
              <a:rPr sz="1600" spc="-240" dirty="0">
                <a:latin typeface="Casper"/>
                <a:cs typeface="Times New Roman"/>
              </a:rPr>
              <a:t> </a:t>
            </a:r>
            <a:r>
              <a:rPr sz="1600" spc="-5" dirty="0">
                <a:latin typeface="Casper"/>
                <a:cs typeface="Times New Roman"/>
              </a:rPr>
              <a:t>activated.</a:t>
            </a:r>
            <a:endParaRPr sz="1600">
              <a:latin typeface="Casper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43429" y="37719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38100" y="0"/>
                </a:moveTo>
                <a:lnTo>
                  <a:pt x="23252" y="2986"/>
                </a:lnTo>
                <a:lnTo>
                  <a:pt x="11144" y="11128"/>
                </a:lnTo>
                <a:lnTo>
                  <a:pt x="2988" y="23199"/>
                </a:lnTo>
                <a:lnTo>
                  <a:pt x="0" y="37973"/>
                </a:lnTo>
                <a:lnTo>
                  <a:pt x="2915" y="52839"/>
                </a:lnTo>
                <a:lnTo>
                  <a:pt x="11033" y="64992"/>
                </a:lnTo>
                <a:lnTo>
                  <a:pt x="23127" y="73191"/>
                </a:lnTo>
                <a:lnTo>
                  <a:pt x="37972" y="76200"/>
                </a:lnTo>
                <a:lnTo>
                  <a:pt x="52822" y="73213"/>
                </a:lnTo>
                <a:lnTo>
                  <a:pt x="64944" y="65071"/>
                </a:lnTo>
                <a:lnTo>
                  <a:pt x="73138" y="53000"/>
                </a:lnTo>
                <a:lnTo>
                  <a:pt x="73579" y="50871"/>
                </a:lnTo>
                <a:lnTo>
                  <a:pt x="30987" y="50800"/>
                </a:lnTo>
                <a:lnTo>
                  <a:pt x="25272" y="45085"/>
                </a:lnTo>
                <a:lnTo>
                  <a:pt x="25397" y="38226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1" y="25400"/>
                </a:lnTo>
                <a:lnTo>
                  <a:pt x="73211" y="23360"/>
                </a:lnTo>
                <a:lnTo>
                  <a:pt x="65055" y="11207"/>
                </a:lnTo>
                <a:lnTo>
                  <a:pt x="52947" y="3008"/>
                </a:lnTo>
                <a:lnTo>
                  <a:pt x="38100" y="0"/>
                </a:lnTo>
                <a:close/>
              </a:path>
              <a:path w="812800" h="76200">
                <a:moveTo>
                  <a:pt x="73635" y="25471"/>
                </a:moveTo>
                <a:lnTo>
                  <a:pt x="76200" y="38226"/>
                </a:lnTo>
                <a:lnTo>
                  <a:pt x="73579" y="50871"/>
                </a:lnTo>
                <a:lnTo>
                  <a:pt x="799972" y="52324"/>
                </a:lnTo>
                <a:lnTo>
                  <a:pt x="807084" y="52450"/>
                </a:lnTo>
                <a:lnTo>
                  <a:pt x="812672" y="46736"/>
                </a:lnTo>
                <a:lnTo>
                  <a:pt x="812799" y="32638"/>
                </a:lnTo>
                <a:lnTo>
                  <a:pt x="807084" y="27050"/>
                </a:lnTo>
                <a:lnTo>
                  <a:pt x="800099" y="26924"/>
                </a:lnTo>
                <a:lnTo>
                  <a:pt x="73635" y="25471"/>
                </a:lnTo>
                <a:close/>
              </a:path>
              <a:path w="812800" h="76200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397" y="38226"/>
                </a:lnTo>
                <a:lnTo>
                  <a:pt x="25272" y="45085"/>
                </a:lnTo>
                <a:lnTo>
                  <a:pt x="30987" y="50800"/>
                </a:lnTo>
                <a:lnTo>
                  <a:pt x="73579" y="50871"/>
                </a:lnTo>
                <a:lnTo>
                  <a:pt x="76200" y="38226"/>
                </a:lnTo>
                <a:lnTo>
                  <a:pt x="73635" y="25471"/>
                </a:lnTo>
                <a:lnTo>
                  <a:pt x="38100" y="25400"/>
                </a:lnTo>
                <a:close/>
              </a:path>
              <a:path w="812800" h="76200">
                <a:moveTo>
                  <a:pt x="73621" y="25400"/>
                </a:moveTo>
                <a:lnTo>
                  <a:pt x="38100" y="25400"/>
                </a:lnTo>
                <a:lnTo>
                  <a:pt x="73635" y="25471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52700" y="4075048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38226" y="0"/>
                </a:moveTo>
                <a:lnTo>
                  <a:pt x="23360" y="2988"/>
                </a:lnTo>
                <a:lnTo>
                  <a:pt x="11207" y="11144"/>
                </a:lnTo>
                <a:lnTo>
                  <a:pt x="3008" y="23252"/>
                </a:lnTo>
                <a:lnTo>
                  <a:pt x="0" y="38100"/>
                </a:lnTo>
                <a:lnTo>
                  <a:pt x="2986" y="52947"/>
                </a:lnTo>
                <a:lnTo>
                  <a:pt x="11128" y="65055"/>
                </a:lnTo>
                <a:lnTo>
                  <a:pt x="23199" y="73211"/>
                </a:lnTo>
                <a:lnTo>
                  <a:pt x="37973" y="76200"/>
                </a:lnTo>
                <a:lnTo>
                  <a:pt x="52839" y="73284"/>
                </a:lnTo>
                <a:lnTo>
                  <a:pt x="64992" y="65166"/>
                </a:lnTo>
                <a:lnTo>
                  <a:pt x="73191" y="53072"/>
                </a:lnTo>
                <a:lnTo>
                  <a:pt x="73636" y="50876"/>
                </a:lnTo>
                <a:lnTo>
                  <a:pt x="31114" y="50800"/>
                </a:lnTo>
                <a:lnTo>
                  <a:pt x="25400" y="45084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0" y="25400"/>
                </a:lnTo>
                <a:lnTo>
                  <a:pt x="73213" y="23377"/>
                </a:lnTo>
                <a:lnTo>
                  <a:pt x="65071" y="11255"/>
                </a:lnTo>
                <a:lnTo>
                  <a:pt x="53000" y="3061"/>
                </a:lnTo>
                <a:lnTo>
                  <a:pt x="38226" y="0"/>
                </a:lnTo>
                <a:close/>
              </a:path>
              <a:path w="812800" h="76200">
                <a:moveTo>
                  <a:pt x="73635" y="25476"/>
                </a:moveTo>
                <a:lnTo>
                  <a:pt x="76200" y="38226"/>
                </a:lnTo>
                <a:lnTo>
                  <a:pt x="73636" y="50876"/>
                </a:lnTo>
                <a:lnTo>
                  <a:pt x="800100" y="52450"/>
                </a:lnTo>
                <a:lnTo>
                  <a:pt x="807085" y="52450"/>
                </a:lnTo>
                <a:lnTo>
                  <a:pt x="812800" y="46736"/>
                </a:lnTo>
                <a:lnTo>
                  <a:pt x="812800" y="32765"/>
                </a:lnTo>
                <a:lnTo>
                  <a:pt x="807085" y="27050"/>
                </a:lnTo>
                <a:lnTo>
                  <a:pt x="800100" y="27050"/>
                </a:lnTo>
                <a:lnTo>
                  <a:pt x="73635" y="25476"/>
                </a:lnTo>
                <a:close/>
              </a:path>
              <a:path w="812800" h="76200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400" y="45084"/>
                </a:lnTo>
                <a:lnTo>
                  <a:pt x="31114" y="50800"/>
                </a:lnTo>
                <a:lnTo>
                  <a:pt x="73636" y="50876"/>
                </a:lnTo>
                <a:lnTo>
                  <a:pt x="76200" y="38226"/>
                </a:lnTo>
                <a:lnTo>
                  <a:pt x="73635" y="25476"/>
                </a:lnTo>
                <a:lnTo>
                  <a:pt x="38100" y="25400"/>
                </a:lnTo>
                <a:close/>
              </a:path>
              <a:path w="812800" h="76200">
                <a:moveTo>
                  <a:pt x="73620" y="25400"/>
                </a:moveTo>
                <a:lnTo>
                  <a:pt x="38100" y="25400"/>
                </a:lnTo>
                <a:lnTo>
                  <a:pt x="73635" y="2547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52700" y="4379848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38226" y="0"/>
                </a:moveTo>
                <a:lnTo>
                  <a:pt x="23360" y="2988"/>
                </a:lnTo>
                <a:lnTo>
                  <a:pt x="11207" y="11144"/>
                </a:lnTo>
                <a:lnTo>
                  <a:pt x="3008" y="23252"/>
                </a:lnTo>
                <a:lnTo>
                  <a:pt x="0" y="38100"/>
                </a:lnTo>
                <a:lnTo>
                  <a:pt x="2986" y="52947"/>
                </a:lnTo>
                <a:lnTo>
                  <a:pt x="11128" y="65055"/>
                </a:lnTo>
                <a:lnTo>
                  <a:pt x="23199" y="73211"/>
                </a:lnTo>
                <a:lnTo>
                  <a:pt x="37973" y="76200"/>
                </a:lnTo>
                <a:lnTo>
                  <a:pt x="52839" y="73284"/>
                </a:lnTo>
                <a:lnTo>
                  <a:pt x="64992" y="65166"/>
                </a:lnTo>
                <a:lnTo>
                  <a:pt x="73191" y="53072"/>
                </a:lnTo>
                <a:lnTo>
                  <a:pt x="73636" y="50876"/>
                </a:lnTo>
                <a:lnTo>
                  <a:pt x="31114" y="50800"/>
                </a:lnTo>
                <a:lnTo>
                  <a:pt x="25400" y="45212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0" y="25400"/>
                </a:lnTo>
                <a:lnTo>
                  <a:pt x="73213" y="23377"/>
                </a:lnTo>
                <a:lnTo>
                  <a:pt x="65071" y="11255"/>
                </a:lnTo>
                <a:lnTo>
                  <a:pt x="53000" y="3061"/>
                </a:lnTo>
                <a:lnTo>
                  <a:pt x="38226" y="0"/>
                </a:lnTo>
                <a:close/>
              </a:path>
              <a:path w="812800" h="76200">
                <a:moveTo>
                  <a:pt x="73635" y="25476"/>
                </a:moveTo>
                <a:lnTo>
                  <a:pt x="76200" y="38226"/>
                </a:lnTo>
                <a:lnTo>
                  <a:pt x="73636" y="50876"/>
                </a:lnTo>
                <a:lnTo>
                  <a:pt x="800100" y="52450"/>
                </a:lnTo>
                <a:lnTo>
                  <a:pt x="807085" y="52450"/>
                </a:lnTo>
                <a:lnTo>
                  <a:pt x="812800" y="46736"/>
                </a:lnTo>
                <a:lnTo>
                  <a:pt x="812800" y="32765"/>
                </a:lnTo>
                <a:lnTo>
                  <a:pt x="807085" y="27050"/>
                </a:lnTo>
                <a:lnTo>
                  <a:pt x="800100" y="27050"/>
                </a:lnTo>
                <a:lnTo>
                  <a:pt x="73635" y="25476"/>
                </a:lnTo>
                <a:close/>
              </a:path>
              <a:path w="812800" h="76200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400" y="45212"/>
                </a:lnTo>
                <a:lnTo>
                  <a:pt x="31114" y="50800"/>
                </a:lnTo>
                <a:lnTo>
                  <a:pt x="73636" y="50876"/>
                </a:lnTo>
                <a:lnTo>
                  <a:pt x="76200" y="38226"/>
                </a:lnTo>
                <a:lnTo>
                  <a:pt x="73635" y="25476"/>
                </a:lnTo>
                <a:lnTo>
                  <a:pt x="38100" y="25400"/>
                </a:lnTo>
                <a:close/>
              </a:path>
              <a:path w="812800" h="76200">
                <a:moveTo>
                  <a:pt x="73620" y="25400"/>
                </a:moveTo>
                <a:lnTo>
                  <a:pt x="38100" y="25400"/>
                </a:lnTo>
                <a:lnTo>
                  <a:pt x="73635" y="2547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52700" y="5522848"/>
            <a:ext cx="812800" cy="76835"/>
          </a:xfrm>
          <a:custGeom>
            <a:avLst/>
            <a:gdLst/>
            <a:ahLst/>
            <a:cxnLst/>
            <a:rect l="l" t="t" r="r" b="b"/>
            <a:pathLst>
              <a:path w="812800" h="76835">
                <a:moveTo>
                  <a:pt x="38226" y="0"/>
                </a:moveTo>
                <a:lnTo>
                  <a:pt x="23360" y="2988"/>
                </a:lnTo>
                <a:lnTo>
                  <a:pt x="11207" y="11144"/>
                </a:lnTo>
                <a:lnTo>
                  <a:pt x="3008" y="23252"/>
                </a:lnTo>
                <a:lnTo>
                  <a:pt x="0" y="38100"/>
                </a:lnTo>
                <a:lnTo>
                  <a:pt x="2986" y="52949"/>
                </a:lnTo>
                <a:lnTo>
                  <a:pt x="11128" y="65068"/>
                </a:lnTo>
                <a:lnTo>
                  <a:pt x="23199" y="73243"/>
                </a:lnTo>
                <a:lnTo>
                  <a:pt x="37973" y="76263"/>
                </a:lnTo>
                <a:lnTo>
                  <a:pt x="52839" y="73301"/>
                </a:lnTo>
                <a:lnTo>
                  <a:pt x="64992" y="65165"/>
                </a:lnTo>
                <a:lnTo>
                  <a:pt x="73191" y="53069"/>
                </a:lnTo>
                <a:lnTo>
                  <a:pt x="73636" y="50876"/>
                </a:lnTo>
                <a:lnTo>
                  <a:pt x="31114" y="50800"/>
                </a:lnTo>
                <a:lnTo>
                  <a:pt x="25400" y="45212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0" y="25400"/>
                </a:lnTo>
                <a:lnTo>
                  <a:pt x="73213" y="23377"/>
                </a:lnTo>
                <a:lnTo>
                  <a:pt x="65071" y="11255"/>
                </a:lnTo>
                <a:lnTo>
                  <a:pt x="53000" y="3061"/>
                </a:lnTo>
                <a:lnTo>
                  <a:pt x="38226" y="0"/>
                </a:lnTo>
                <a:close/>
              </a:path>
              <a:path w="812800" h="76835">
                <a:moveTo>
                  <a:pt x="73635" y="25476"/>
                </a:moveTo>
                <a:lnTo>
                  <a:pt x="76200" y="38226"/>
                </a:lnTo>
                <a:lnTo>
                  <a:pt x="73636" y="50876"/>
                </a:lnTo>
                <a:lnTo>
                  <a:pt x="800100" y="52450"/>
                </a:lnTo>
                <a:lnTo>
                  <a:pt x="807085" y="52450"/>
                </a:lnTo>
                <a:lnTo>
                  <a:pt x="812800" y="46735"/>
                </a:lnTo>
                <a:lnTo>
                  <a:pt x="812800" y="32765"/>
                </a:lnTo>
                <a:lnTo>
                  <a:pt x="807085" y="27050"/>
                </a:lnTo>
                <a:lnTo>
                  <a:pt x="800100" y="27050"/>
                </a:lnTo>
                <a:lnTo>
                  <a:pt x="73635" y="25476"/>
                </a:lnTo>
                <a:close/>
              </a:path>
              <a:path w="812800" h="76835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400" y="45212"/>
                </a:lnTo>
                <a:lnTo>
                  <a:pt x="31114" y="50800"/>
                </a:lnTo>
                <a:lnTo>
                  <a:pt x="73636" y="50876"/>
                </a:lnTo>
                <a:lnTo>
                  <a:pt x="76200" y="38226"/>
                </a:lnTo>
                <a:lnTo>
                  <a:pt x="73635" y="25476"/>
                </a:lnTo>
                <a:lnTo>
                  <a:pt x="38100" y="25400"/>
                </a:lnTo>
                <a:close/>
              </a:path>
              <a:path w="812800" h="76835">
                <a:moveTo>
                  <a:pt x="73620" y="25400"/>
                </a:moveTo>
                <a:lnTo>
                  <a:pt x="38100" y="25400"/>
                </a:lnTo>
                <a:lnTo>
                  <a:pt x="73635" y="2547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48661" y="3752469"/>
            <a:ext cx="91439" cy="91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8854" y="4075938"/>
            <a:ext cx="91439" cy="91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68854" y="4371340"/>
            <a:ext cx="91439" cy="914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45054" y="5523738"/>
            <a:ext cx="91439" cy="91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05050" y="3629278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5" h="183514">
                <a:moveTo>
                  <a:pt x="99704" y="49530"/>
                </a:moveTo>
                <a:lnTo>
                  <a:pt x="23494" y="49530"/>
                </a:lnTo>
                <a:lnTo>
                  <a:pt x="255650" y="183515"/>
                </a:lnTo>
                <a:lnTo>
                  <a:pt x="274700" y="150622"/>
                </a:lnTo>
                <a:lnTo>
                  <a:pt x="99704" y="49530"/>
                </a:lnTo>
                <a:close/>
              </a:path>
              <a:path w="274955" h="183514">
                <a:moveTo>
                  <a:pt x="52069" y="0"/>
                </a:moveTo>
                <a:lnTo>
                  <a:pt x="0" y="13970"/>
                </a:lnTo>
                <a:lnTo>
                  <a:pt x="13969" y="66040"/>
                </a:lnTo>
                <a:lnTo>
                  <a:pt x="23494" y="49530"/>
                </a:lnTo>
                <a:lnTo>
                  <a:pt x="99704" y="49530"/>
                </a:lnTo>
                <a:lnTo>
                  <a:pt x="42544" y="16510"/>
                </a:lnTo>
                <a:lnTo>
                  <a:pt x="5206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25242" y="3942715"/>
            <a:ext cx="274955" cy="184150"/>
          </a:xfrm>
          <a:custGeom>
            <a:avLst/>
            <a:gdLst/>
            <a:ahLst/>
            <a:cxnLst/>
            <a:rect l="l" t="t" r="r" b="b"/>
            <a:pathLst>
              <a:path w="274955" h="184150">
                <a:moveTo>
                  <a:pt x="99704" y="49530"/>
                </a:moveTo>
                <a:lnTo>
                  <a:pt x="23494" y="49530"/>
                </a:lnTo>
                <a:lnTo>
                  <a:pt x="255650" y="183642"/>
                </a:lnTo>
                <a:lnTo>
                  <a:pt x="274700" y="150622"/>
                </a:lnTo>
                <a:lnTo>
                  <a:pt x="99704" y="49530"/>
                </a:lnTo>
                <a:close/>
              </a:path>
              <a:path w="274955" h="184150">
                <a:moveTo>
                  <a:pt x="52069" y="0"/>
                </a:moveTo>
                <a:lnTo>
                  <a:pt x="0" y="13970"/>
                </a:lnTo>
                <a:lnTo>
                  <a:pt x="13969" y="66040"/>
                </a:lnTo>
                <a:lnTo>
                  <a:pt x="23494" y="49530"/>
                </a:lnTo>
                <a:lnTo>
                  <a:pt x="99704" y="49530"/>
                </a:lnTo>
                <a:lnTo>
                  <a:pt x="42544" y="16510"/>
                </a:lnTo>
                <a:lnTo>
                  <a:pt x="5206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23719" y="4247388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5" h="183514">
                <a:moveTo>
                  <a:pt x="99758" y="49530"/>
                </a:moveTo>
                <a:lnTo>
                  <a:pt x="23494" y="49530"/>
                </a:lnTo>
                <a:lnTo>
                  <a:pt x="255650" y="183514"/>
                </a:lnTo>
                <a:lnTo>
                  <a:pt x="274700" y="150494"/>
                </a:lnTo>
                <a:lnTo>
                  <a:pt x="99758" y="49530"/>
                </a:lnTo>
                <a:close/>
              </a:path>
              <a:path w="274955" h="183514">
                <a:moveTo>
                  <a:pt x="52069" y="0"/>
                </a:moveTo>
                <a:lnTo>
                  <a:pt x="0" y="13969"/>
                </a:lnTo>
                <a:lnTo>
                  <a:pt x="13969" y="66039"/>
                </a:lnTo>
                <a:lnTo>
                  <a:pt x="23494" y="49530"/>
                </a:lnTo>
                <a:lnTo>
                  <a:pt x="99758" y="49530"/>
                </a:lnTo>
                <a:lnTo>
                  <a:pt x="42544" y="16510"/>
                </a:lnTo>
                <a:lnTo>
                  <a:pt x="5206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34641" y="5388864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5" h="183514">
                <a:moveTo>
                  <a:pt x="99411" y="49403"/>
                </a:moveTo>
                <a:lnTo>
                  <a:pt x="23367" y="49403"/>
                </a:lnTo>
                <a:lnTo>
                  <a:pt x="255523" y="183515"/>
                </a:lnTo>
                <a:lnTo>
                  <a:pt x="274573" y="150495"/>
                </a:lnTo>
                <a:lnTo>
                  <a:pt x="99411" y="49403"/>
                </a:lnTo>
                <a:close/>
              </a:path>
              <a:path w="274955" h="183514">
                <a:moveTo>
                  <a:pt x="51942" y="0"/>
                </a:moveTo>
                <a:lnTo>
                  <a:pt x="0" y="13843"/>
                </a:lnTo>
                <a:lnTo>
                  <a:pt x="13842" y="65913"/>
                </a:lnTo>
                <a:lnTo>
                  <a:pt x="23367" y="49403"/>
                </a:lnTo>
                <a:lnTo>
                  <a:pt x="99411" y="49403"/>
                </a:lnTo>
                <a:lnTo>
                  <a:pt x="42417" y="16510"/>
                </a:lnTo>
                <a:lnTo>
                  <a:pt x="5194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16500" y="3773423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39140" y="50728"/>
                </a:moveTo>
                <a:lnTo>
                  <a:pt x="739586" y="52947"/>
                </a:lnTo>
                <a:lnTo>
                  <a:pt x="747728" y="65055"/>
                </a:lnTo>
                <a:lnTo>
                  <a:pt x="759799" y="73211"/>
                </a:lnTo>
                <a:lnTo>
                  <a:pt x="774573" y="76200"/>
                </a:lnTo>
                <a:lnTo>
                  <a:pt x="789439" y="73284"/>
                </a:lnTo>
                <a:lnTo>
                  <a:pt x="801592" y="65166"/>
                </a:lnTo>
                <a:lnTo>
                  <a:pt x="809791" y="53072"/>
                </a:lnTo>
                <a:lnTo>
                  <a:pt x="810226" y="50926"/>
                </a:lnTo>
                <a:lnTo>
                  <a:pt x="781685" y="50926"/>
                </a:lnTo>
                <a:lnTo>
                  <a:pt x="774700" y="50800"/>
                </a:lnTo>
                <a:lnTo>
                  <a:pt x="739140" y="50728"/>
                </a:lnTo>
                <a:close/>
              </a:path>
              <a:path w="812800" h="76200">
                <a:moveTo>
                  <a:pt x="739187" y="25328"/>
                </a:moveTo>
                <a:lnTo>
                  <a:pt x="736600" y="38100"/>
                </a:lnTo>
                <a:lnTo>
                  <a:pt x="739140" y="50728"/>
                </a:lnTo>
                <a:lnTo>
                  <a:pt x="774700" y="50800"/>
                </a:lnTo>
                <a:lnTo>
                  <a:pt x="781685" y="50926"/>
                </a:lnTo>
                <a:lnTo>
                  <a:pt x="787400" y="45212"/>
                </a:lnTo>
                <a:lnTo>
                  <a:pt x="787400" y="31114"/>
                </a:lnTo>
                <a:lnTo>
                  <a:pt x="781685" y="25526"/>
                </a:lnTo>
                <a:lnTo>
                  <a:pt x="774700" y="25400"/>
                </a:lnTo>
                <a:lnTo>
                  <a:pt x="739187" y="25328"/>
                </a:lnTo>
                <a:close/>
              </a:path>
              <a:path w="812800" h="76200">
                <a:moveTo>
                  <a:pt x="774826" y="0"/>
                </a:moveTo>
                <a:lnTo>
                  <a:pt x="759960" y="2988"/>
                </a:lnTo>
                <a:lnTo>
                  <a:pt x="747807" y="11144"/>
                </a:lnTo>
                <a:lnTo>
                  <a:pt x="739608" y="23252"/>
                </a:lnTo>
                <a:lnTo>
                  <a:pt x="739187" y="25328"/>
                </a:lnTo>
                <a:lnTo>
                  <a:pt x="774700" y="25400"/>
                </a:lnTo>
                <a:lnTo>
                  <a:pt x="781685" y="25526"/>
                </a:lnTo>
                <a:lnTo>
                  <a:pt x="787400" y="31114"/>
                </a:lnTo>
                <a:lnTo>
                  <a:pt x="787400" y="45212"/>
                </a:lnTo>
                <a:lnTo>
                  <a:pt x="781685" y="50926"/>
                </a:lnTo>
                <a:lnTo>
                  <a:pt x="810226" y="50926"/>
                </a:lnTo>
                <a:lnTo>
                  <a:pt x="812800" y="38226"/>
                </a:lnTo>
                <a:lnTo>
                  <a:pt x="809813" y="23377"/>
                </a:lnTo>
                <a:lnTo>
                  <a:pt x="801671" y="11255"/>
                </a:lnTo>
                <a:lnTo>
                  <a:pt x="789600" y="3061"/>
                </a:lnTo>
                <a:lnTo>
                  <a:pt x="774826" y="0"/>
                </a:lnTo>
                <a:close/>
              </a:path>
              <a:path w="812800" h="76200">
                <a:moveTo>
                  <a:pt x="12700" y="23875"/>
                </a:moveTo>
                <a:lnTo>
                  <a:pt x="5714" y="23875"/>
                </a:lnTo>
                <a:lnTo>
                  <a:pt x="0" y="29590"/>
                </a:lnTo>
                <a:lnTo>
                  <a:pt x="0" y="43561"/>
                </a:lnTo>
                <a:lnTo>
                  <a:pt x="5714" y="49275"/>
                </a:lnTo>
                <a:lnTo>
                  <a:pt x="739140" y="50728"/>
                </a:lnTo>
                <a:lnTo>
                  <a:pt x="736600" y="38100"/>
                </a:lnTo>
                <a:lnTo>
                  <a:pt x="739187" y="25328"/>
                </a:lnTo>
                <a:lnTo>
                  <a:pt x="12700" y="2387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16500" y="40767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74826" y="0"/>
                </a:moveTo>
                <a:lnTo>
                  <a:pt x="759960" y="2986"/>
                </a:lnTo>
                <a:lnTo>
                  <a:pt x="747807" y="11128"/>
                </a:lnTo>
                <a:lnTo>
                  <a:pt x="739608" y="23199"/>
                </a:lnTo>
                <a:lnTo>
                  <a:pt x="739175" y="25323"/>
                </a:lnTo>
                <a:lnTo>
                  <a:pt x="774700" y="25400"/>
                </a:lnTo>
                <a:lnTo>
                  <a:pt x="781685" y="25400"/>
                </a:lnTo>
                <a:lnTo>
                  <a:pt x="787400" y="31114"/>
                </a:lnTo>
                <a:lnTo>
                  <a:pt x="787400" y="45085"/>
                </a:lnTo>
                <a:lnTo>
                  <a:pt x="781685" y="50800"/>
                </a:lnTo>
                <a:lnTo>
                  <a:pt x="739176" y="50800"/>
                </a:lnTo>
                <a:lnTo>
                  <a:pt x="739586" y="52839"/>
                </a:lnTo>
                <a:lnTo>
                  <a:pt x="747728" y="64992"/>
                </a:lnTo>
                <a:lnTo>
                  <a:pt x="759799" y="73191"/>
                </a:lnTo>
                <a:lnTo>
                  <a:pt x="774573" y="76200"/>
                </a:lnTo>
                <a:lnTo>
                  <a:pt x="789439" y="73213"/>
                </a:lnTo>
                <a:lnTo>
                  <a:pt x="801592" y="65071"/>
                </a:lnTo>
                <a:lnTo>
                  <a:pt x="809791" y="53000"/>
                </a:lnTo>
                <a:lnTo>
                  <a:pt x="810239" y="50800"/>
                </a:lnTo>
                <a:lnTo>
                  <a:pt x="774700" y="50800"/>
                </a:lnTo>
                <a:lnTo>
                  <a:pt x="810255" y="50722"/>
                </a:lnTo>
                <a:lnTo>
                  <a:pt x="812800" y="38226"/>
                </a:lnTo>
                <a:lnTo>
                  <a:pt x="809813" y="23360"/>
                </a:lnTo>
                <a:lnTo>
                  <a:pt x="801671" y="11207"/>
                </a:lnTo>
                <a:lnTo>
                  <a:pt x="789600" y="3008"/>
                </a:lnTo>
                <a:lnTo>
                  <a:pt x="774826" y="0"/>
                </a:lnTo>
                <a:close/>
              </a:path>
              <a:path w="812800" h="76200">
                <a:moveTo>
                  <a:pt x="739175" y="25323"/>
                </a:moveTo>
                <a:lnTo>
                  <a:pt x="736600" y="37973"/>
                </a:lnTo>
                <a:lnTo>
                  <a:pt x="739161" y="50722"/>
                </a:lnTo>
                <a:lnTo>
                  <a:pt x="774700" y="50800"/>
                </a:lnTo>
                <a:lnTo>
                  <a:pt x="781685" y="50800"/>
                </a:lnTo>
                <a:lnTo>
                  <a:pt x="787400" y="45085"/>
                </a:lnTo>
                <a:lnTo>
                  <a:pt x="787400" y="31114"/>
                </a:lnTo>
                <a:lnTo>
                  <a:pt x="781685" y="25400"/>
                </a:lnTo>
                <a:lnTo>
                  <a:pt x="739175" y="25323"/>
                </a:lnTo>
                <a:close/>
              </a:path>
              <a:path w="812800" h="76200">
                <a:moveTo>
                  <a:pt x="12700" y="23749"/>
                </a:moveTo>
                <a:lnTo>
                  <a:pt x="5714" y="23749"/>
                </a:lnTo>
                <a:lnTo>
                  <a:pt x="0" y="29463"/>
                </a:lnTo>
                <a:lnTo>
                  <a:pt x="0" y="43433"/>
                </a:lnTo>
                <a:lnTo>
                  <a:pt x="5714" y="49149"/>
                </a:lnTo>
                <a:lnTo>
                  <a:pt x="739161" y="50722"/>
                </a:lnTo>
                <a:lnTo>
                  <a:pt x="736600" y="37973"/>
                </a:lnTo>
                <a:lnTo>
                  <a:pt x="739175" y="25323"/>
                </a:lnTo>
                <a:lnTo>
                  <a:pt x="12700" y="23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16500" y="43815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74826" y="0"/>
                </a:moveTo>
                <a:lnTo>
                  <a:pt x="759960" y="2986"/>
                </a:lnTo>
                <a:lnTo>
                  <a:pt x="747807" y="11128"/>
                </a:lnTo>
                <a:lnTo>
                  <a:pt x="739608" y="23199"/>
                </a:lnTo>
                <a:lnTo>
                  <a:pt x="739175" y="25323"/>
                </a:lnTo>
                <a:lnTo>
                  <a:pt x="774700" y="25400"/>
                </a:lnTo>
                <a:lnTo>
                  <a:pt x="781685" y="25400"/>
                </a:lnTo>
                <a:lnTo>
                  <a:pt x="787400" y="31114"/>
                </a:lnTo>
                <a:lnTo>
                  <a:pt x="787400" y="45085"/>
                </a:lnTo>
                <a:lnTo>
                  <a:pt x="781685" y="50800"/>
                </a:lnTo>
                <a:lnTo>
                  <a:pt x="739176" y="50800"/>
                </a:lnTo>
                <a:lnTo>
                  <a:pt x="739586" y="52839"/>
                </a:lnTo>
                <a:lnTo>
                  <a:pt x="747728" y="64992"/>
                </a:lnTo>
                <a:lnTo>
                  <a:pt x="759799" y="73191"/>
                </a:lnTo>
                <a:lnTo>
                  <a:pt x="774573" y="76200"/>
                </a:lnTo>
                <a:lnTo>
                  <a:pt x="789439" y="73213"/>
                </a:lnTo>
                <a:lnTo>
                  <a:pt x="801592" y="65071"/>
                </a:lnTo>
                <a:lnTo>
                  <a:pt x="809791" y="53000"/>
                </a:lnTo>
                <a:lnTo>
                  <a:pt x="810239" y="50800"/>
                </a:lnTo>
                <a:lnTo>
                  <a:pt x="774700" y="50800"/>
                </a:lnTo>
                <a:lnTo>
                  <a:pt x="810255" y="50722"/>
                </a:lnTo>
                <a:lnTo>
                  <a:pt x="812800" y="38226"/>
                </a:lnTo>
                <a:lnTo>
                  <a:pt x="809813" y="23360"/>
                </a:lnTo>
                <a:lnTo>
                  <a:pt x="801671" y="11207"/>
                </a:lnTo>
                <a:lnTo>
                  <a:pt x="789600" y="3008"/>
                </a:lnTo>
                <a:lnTo>
                  <a:pt x="774826" y="0"/>
                </a:lnTo>
                <a:close/>
              </a:path>
              <a:path w="812800" h="76200">
                <a:moveTo>
                  <a:pt x="739175" y="25323"/>
                </a:moveTo>
                <a:lnTo>
                  <a:pt x="736600" y="37973"/>
                </a:lnTo>
                <a:lnTo>
                  <a:pt x="739161" y="50722"/>
                </a:lnTo>
                <a:lnTo>
                  <a:pt x="774700" y="50800"/>
                </a:lnTo>
                <a:lnTo>
                  <a:pt x="781685" y="50800"/>
                </a:lnTo>
                <a:lnTo>
                  <a:pt x="787400" y="45085"/>
                </a:lnTo>
                <a:lnTo>
                  <a:pt x="787400" y="31114"/>
                </a:lnTo>
                <a:lnTo>
                  <a:pt x="781685" y="25400"/>
                </a:lnTo>
                <a:lnTo>
                  <a:pt x="739175" y="25323"/>
                </a:lnTo>
                <a:close/>
              </a:path>
              <a:path w="812800" h="76200">
                <a:moveTo>
                  <a:pt x="12700" y="23749"/>
                </a:moveTo>
                <a:lnTo>
                  <a:pt x="5714" y="23749"/>
                </a:lnTo>
                <a:lnTo>
                  <a:pt x="0" y="29463"/>
                </a:lnTo>
                <a:lnTo>
                  <a:pt x="0" y="43433"/>
                </a:lnTo>
                <a:lnTo>
                  <a:pt x="5714" y="49149"/>
                </a:lnTo>
                <a:lnTo>
                  <a:pt x="739161" y="50722"/>
                </a:lnTo>
                <a:lnTo>
                  <a:pt x="736600" y="37973"/>
                </a:lnTo>
                <a:lnTo>
                  <a:pt x="739175" y="25323"/>
                </a:lnTo>
                <a:lnTo>
                  <a:pt x="12700" y="23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16500" y="55245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74826" y="0"/>
                </a:moveTo>
                <a:lnTo>
                  <a:pt x="759960" y="2986"/>
                </a:lnTo>
                <a:lnTo>
                  <a:pt x="747807" y="11128"/>
                </a:lnTo>
                <a:lnTo>
                  <a:pt x="739608" y="23199"/>
                </a:lnTo>
                <a:lnTo>
                  <a:pt x="739175" y="25323"/>
                </a:lnTo>
                <a:lnTo>
                  <a:pt x="774700" y="25400"/>
                </a:lnTo>
                <a:lnTo>
                  <a:pt x="781685" y="25400"/>
                </a:lnTo>
                <a:lnTo>
                  <a:pt x="787400" y="31115"/>
                </a:lnTo>
                <a:lnTo>
                  <a:pt x="787400" y="45084"/>
                </a:lnTo>
                <a:lnTo>
                  <a:pt x="781685" y="50800"/>
                </a:lnTo>
                <a:lnTo>
                  <a:pt x="739177" y="50800"/>
                </a:lnTo>
                <a:lnTo>
                  <a:pt x="739586" y="52832"/>
                </a:lnTo>
                <a:lnTo>
                  <a:pt x="747728" y="64973"/>
                </a:lnTo>
                <a:lnTo>
                  <a:pt x="759799" y="73170"/>
                </a:lnTo>
                <a:lnTo>
                  <a:pt x="774573" y="76200"/>
                </a:lnTo>
                <a:lnTo>
                  <a:pt x="789439" y="73229"/>
                </a:lnTo>
                <a:lnTo>
                  <a:pt x="801592" y="65085"/>
                </a:lnTo>
                <a:lnTo>
                  <a:pt x="809791" y="53006"/>
                </a:lnTo>
                <a:lnTo>
                  <a:pt x="810240" y="50800"/>
                </a:lnTo>
                <a:lnTo>
                  <a:pt x="774700" y="50800"/>
                </a:lnTo>
                <a:lnTo>
                  <a:pt x="810256" y="50723"/>
                </a:lnTo>
                <a:lnTo>
                  <a:pt x="812800" y="38227"/>
                </a:lnTo>
                <a:lnTo>
                  <a:pt x="809813" y="23360"/>
                </a:lnTo>
                <a:lnTo>
                  <a:pt x="801671" y="11207"/>
                </a:lnTo>
                <a:lnTo>
                  <a:pt x="789600" y="3008"/>
                </a:lnTo>
                <a:lnTo>
                  <a:pt x="774826" y="0"/>
                </a:lnTo>
                <a:close/>
              </a:path>
              <a:path w="812800" h="76200">
                <a:moveTo>
                  <a:pt x="739175" y="25323"/>
                </a:moveTo>
                <a:lnTo>
                  <a:pt x="736600" y="37972"/>
                </a:lnTo>
                <a:lnTo>
                  <a:pt x="739162" y="50723"/>
                </a:lnTo>
                <a:lnTo>
                  <a:pt x="774700" y="50800"/>
                </a:lnTo>
                <a:lnTo>
                  <a:pt x="781685" y="50800"/>
                </a:lnTo>
                <a:lnTo>
                  <a:pt x="787400" y="45084"/>
                </a:lnTo>
                <a:lnTo>
                  <a:pt x="787400" y="31115"/>
                </a:lnTo>
                <a:lnTo>
                  <a:pt x="781685" y="25400"/>
                </a:lnTo>
                <a:lnTo>
                  <a:pt x="739175" y="25323"/>
                </a:lnTo>
                <a:close/>
              </a:path>
              <a:path w="812800" h="76200">
                <a:moveTo>
                  <a:pt x="12700" y="23749"/>
                </a:moveTo>
                <a:lnTo>
                  <a:pt x="5714" y="23749"/>
                </a:lnTo>
                <a:lnTo>
                  <a:pt x="0" y="29463"/>
                </a:lnTo>
                <a:lnTo>
                  <a:pt x="0" y="43434"/>
                </a:lnTo>
                <a:lnTo>
                  <a:pt x="5714" y="49149"/>
                </a:lnTo>
                <a:lnTo>
                  <a:pt x="739162" y="50723"/>
                </a:lnTo>
                <a:lnTo>
                  <a:pt x="736600" y="37972"/>
                </a:lnTo>
                <a:lnTo>
                  <a:pt x="739175" y="25323"/>
                </a:lnTo>
                <a:lnTo>
                  <a:pt x="12700" y="23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604763" y="4493514"/>
            <a:ext cx="307975" cy="99441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290"/>
              </a:lnSpc>
            </a:pPr>
            <a:r>
              <a:rPr sz="2000" dirty="0">
                <a:latin typeface="Times New Roman"/>
                <a:cs typeface="Times New Roman"/>
              </a:rPr>
              <a:t>- - - - - -</a:t>
            </a:r>
            <a:r>
              <a:rPr sz="2000" spc="-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56321" y="4499228"/>
            <a:ext cx="307340" cy="99441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Times New Roman"/>
                <a:cs typeface="Times New Roman"/>
              </a:rPr>
              <a:t>- - - - - -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94842" y="4616129"/>
            <a:ext cx="307340" cy="4216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Times New Roman"/>
                <a:cs typeface="Times New Roman"/>
              </a:rPr>
              <a:t>‘M’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94842" y="3871100"/>
            <a:ext cx="307340" cy="6648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spc="5" dirty="0">
                <a:latin typeface="Times New Roman"/>
                <a:cs typeface="Times New Roman"/>
              </a:rPr>
              <a:t>Inpu</a:t>
            </a:r>
            <a:r>
              <a:rPr sz="2000" dirty="0">
                <a:latin typeface="Times New Roman"/>
                <a:cs typeface="Times New Roman"/>
              </a:rPr>
              <a:t>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39154" y="3887611"/>
            <a:ext cx="307340" cy="12928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dirty="0">
                <a:latin typeface="Times New Roman"/>
                <a:cs typeface="Times New Roman"/>
              </a:rPr>
              <a:t>‘N’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Outputs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24600" y="3572128"/>
            <a:ext cx="381000" cy="2258060"/>
          </a:xfrm>
          <a:custGeom>
            <a:avLst/>
            <a:gdLst/>
            <a:ahLst/>
            <a:cxnLst/>
            <a:rect l="l" t="t" r="r" b="b"/>
            <a:pathLst>
              <a:path w="381000" h="2258060">
                <a:moveTo>
                  <a:pt x="0" y="0"/>
                </a:moveTo>
                <a:lnTo>
                  <a:pt x="74128" y="2478"/>
                </a:lnTo>
                <a:lnTo>
                  <a:pt x="134683" y="9255"/>
                </a:lnTo>
                <a:lnTo>
                  <a:pt x="175521" y="19341"/>
                </a:lnTo>
                <a:lnTo>
                  <a:pt x="190500" y="31750"/>
                </a:lnTo>
                <a:lnTo>
                  <a:pt x="190500" y="1097153"/>
                </a:lnTo>
                <a:lnTo>
                  <a:pt x="205478" y="1109507"/>
                </a:lnTo>
                <a:lnTo>
                  <a:pt x="246316" y="1119600"/>
                </a:lnTo>
                <a:lnTo>
                  <a:pt x="306871" y="1126406"/>
                </a:lnTo>
                <a:lnTo>
                  <a:pt x="381000" y="1128903"/>
                </a:lnTo>
                <a:lnTo>
                  <a:pt x="306871" y="1131399"/>
                </a:lnTo>
                <a:lnTo>
                  <a:pt x="246316" y="1138205"/>
                </a:lnTo>
                <a:lnTo>
                  <a:pt x="205478" y="1148298"/>
                </a:lnTo>
                <a:lnTo>
                  <a:pt x="190500" y="1160653"/>
                </a:lnTo>
                <a:lnTo>
                  <a:pt x="190500" y="2226195"/>
                </a:lnTo>
                <a:lnTo>
                  <a:pt x="175521" y="2238555"/>
                </a:lnTo>
                <a:lnTo>
                  <a:pt x="134683" y="2248647"/>
                </a:lnTo>
                <a:lnTo>
                  <a:pt x="74128" y="2255451"/>
                </a:lnTo>
                <a:lnTo>
                  <a:pt x="0" y="225794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362071" y="3581400"/>
            <a:ext cx="1676400" cy="2209800"/>
          </a:xfrm>
          <a:prstGeom prst="rect">
            <a:avLst/>
          </a:prstGeom>
          <a:solidFill>
            <a:srgbClr val="FCEADA"/>
          </a:solidFill>
          <a:ln w="158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00">
              <a:latin typeface="Times New Roman"/>
              <a:cs typeface="Times New Roman"/>
            </a:endParaRPr>
          </a:p>
          <a:p>
            <a:pPr marL="38735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Encoder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85900" y="3529863"/>
            <a:ext cx="737235" cy="1000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2755" marR="61594" indent="-19050" algn="r">
              <a:lnSpc>
                <a:spcPct val="137000"/>
              </a:lnSpc>
              <a:spcBef>
                <a:spcPts val="100"/>
              </a:spcBef>
            </a:pPr>
            <a:r>
              <a:rPr sz="1600" spc="-10" dirty="0">
                <a:latin typeface="Times New Roman"/>
                <a:cs typeface="Times New Roman"/>
              </a:rPr>
              <a:t>A</a:t>
            </a:r>
            <a:r>
              <a:rPr sz="1575" spc="7" baseline="-21164" dirty="0">
                <a:latin typeface="Times New Roman"/>
                <a:cs typeface="Times New Roman"/>
              </a:rPr>
              <a:t>0  </a:t>
            </a:r>
            <a:r>
              <a:rPr sz="1600" spc="-10" dirty="0">
                <a:latin typeface="Times New Roman"/>
                <a:cs typeface="Times New Roman"/>
              </a:rPr>
              <a:t>A</a:t>
            </a:r>
            <a:r>
              <a:rPr sz="1575" spc="7" baseline="-21164" dirty="0">
                <a:latin typeface="Times New Roman"/>
                <a:cs typeface="Times New Roman"/>
              </a:rPr>
              <a:t>1</a:t>
            </a:r>
            <a:endParaRPr sz="1575" baseline="-21164">
              <a:latin typeface="Times New Roman"/>
              <a:cs typeface="Times New Roman"/>
            </a:endParaRPr>
          </a:p>
          <a:p>
            <a:pPr marR="43180" algn="r">
              <a:lnSpc>
                <a:spcPct val="100000"/>
              </a:lnSpc>
              <a:spcBef>
                <a:spcPts val="490"/>
              </a:spcBef>
              <a:tabLst>
                <a:tab pos="187325" algn="l"/>
                <a:tab pos="433070" algn="l"/>
              </a:tabLst>
            </a:pPr>
            <a:r>
              <a:rPr sz="16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600" spc="-5" dirty="0">
                <a:latin typeface="Times New Roman"/>
                <a:cs typeface="Times New Roman"/>
              </a:rPr>
              <a:t>	A</a:t>
            </a:r>
            <a:r>
              <a:rPr sz="1575" spc="7" baseline="-21164" dirty="0">
                <a:latin typeface="Times New Roman"/>
                <a:cs typeface="Times New Roman"/>
              </a:rPr>
              <a:t>2</a:t>
            </a:r>
            <a:endParaRPr sz="1575" baseline="-21164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82394" y="5453278"/>
            <a:ext cx="4552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baseline="13888" dirty="0">
                <a:latin typeface="Times New Roman"/>
                <a:cs typeface="Times New Roman"/>
              </a:rPr>
              <a:t>A</a:t>
            </a:r>
            <a:r>
              <a:rPr sz="1050" dirty="0">
                <a:latin typeface="Times New Roman"/>
                <a:cs typeface="Times New Roman"/>
              </a:rPr>
              <a:t>M-1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45428" y="3616731"/>
            <a:ext cx="283210" cy="947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3020">
              <a:lnSpc>
                <a:spcPct val="1195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B</a:t>
            </a:r>
            <a:r>
              <a:rPr sz="1575" spc="7" baseline="-21164" dirty="0">
                <a:latin typeface="Times New Roman"/>
                <a:cs typeface="Times New Roman"/>
              </a:rPr>
              <a:t>0  </a:t>
            </a:r>
            <a:r>
              <a:rPr sz="1600" spc="-5" dirty="0">
                <a:latin typeface="Times New Roman"/>
                <a:cs typeface="Times New Roman"/>
              </a:rPr>
              <a:t>B</a:t>
            </a:r>
            <a:r>
              <a:rPr sz="1575" spc="7" baseline="-21164" dirty="0">
                <a:latin typeface="Times New Roman"/>
                <a:cs typeface="Times New Roman"/>
              </a:rPr>
              <a:t>1</a:t>
            </a:r>
            <a:endParaRPr sz="1575" baseline="-21164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  <a:spcBef>
                <a:spcPts val="745"/>
              </a:spcBef>
            </a:pPr>
            <a:r>
              <a:rPr sz="1600" dirty="0">
                <a:latin typeface="Times New Roman"/>
                <a:cs typeface="Times New Roman"/>
              </a:rPr>
              <a:t>B</a:t>
            </a:r>
            <a:r>
              <a:rPr sz="1575" baseline="-21164" dirty="0">
                <a:latin typeface="Times New Roman"/>
                <a:cs typeface="Times New Roman"/>
              </a:rPr>
              <a:t>2</a:t>
            </a:r>
            <a:endParaRPr sz="1575" baseline="-21164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48477" y="5471871"/>
            <a:ext cx="4216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baseline="13888" dirty="0">
                <a:latin typeface="Times New Roman"/>
                <a:cs typeface="Times New Roman"/>
              </a:rPr>
              <a:t>B</a:t>
            </a:r>
            <a:r>
              <a:rPr sz="1050" dirty="0">
                <a:latin typeface="Times New Roman"/>
                <a:cs typeface="Times New Roman"/>
              </a:rPr>
              <a:t>N-1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71800" y="6096000"/>
            <a:ext cx="30480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sper"/>
                <a:cs typeface="Times New Roman"/>
              </a:rPr>
              <a:t>Fig</a:t>
            </a:r>
            <a:r>
              <a:rPr sz="1600">
                <a:latin typeface="Casper"/>
                <a:cs typeface="Times New Roman"/>
              </a:rPr>
              <a:t>.</a:t>
            </a:r>
            <a:r>
              <a:rPr sz="1600" spc="-105">
                <a:latin typeface="Casper"/>
                <a:cs typeface="Times New Roman"/>
              </a:rPr>
              <a:t> </a:t>
            </a:r>
            <a:r>
              <a:rPr lang="en-US" sz="1600" spc="-105" dirty="0">
                <a:latin typeface="Casper"/>
                <a:cs typeface="Times New Roman"/>
              </a:rPr>
              <a:t>6</a:t>
            </a:r>
            <a:r>
              <a:rPr lang="en-US" sz="1600" dirty="0">
                <a:latin typeface="Casper"/>
                <a:cs typeface="Times New Roman"/>
              </a:rPr>
              <a:t>: - </a:t>
            </a:r>
            <a:r>
              <a:rPr lang="en-US" sz="1600" dirty="0">
                <a:latin typeface="Casper"/>
              </a:rPr>
              <a:t>ENCODER DIAGRAM</a:t>
            </a:r>
            <a:r>
              <a:rPr lang="en-US" sz="1600" dirty="0"/>
              <a:t> </a:t>
            </a:r>
            <a:endParaRPr sz="1600">
              <a:latin typeface="Casper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599" y="1295400"/>
            <a:ext cx="8093709" cy="35105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52425" indent="-342900"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spc="-5" dirty="0">
                <a:latin typeface="Casper"/>
                <a:cs typeface="Times New Roman"/>
              </a:rPr>
              <a:t>Encoders are used to translate the rotary </a:t>
            </a:r>
            <a:r>
              <a:rPr sz="1600" dirty="0">
                <a:latin typeface="Casper"/>
                <a:cs typeface="Times New Roman"/>
              </a:rPr>
              <a:t>or </a:t>
            </a:r>
            <a:r>
              <a:rPr sz="1600" spc="-5" dirty="0">
                <a:latin typeface="Casper"/>
                <a:cs typeface="Times New Roman"/>
              </a:rPr>
              <a:t>linear motion into a digital  signal.</a:t>
            </a:r>
            <a:endParaRPr sz="1600">
              <a:latin typeface="Casper"/>
              <a:cs typeface="Times New Roman"/>
            </a:endParaRPr>
          </a:p>
          <a:p>
            <a:pPr marL="355600" marR="33020" indent="-342900">
              <a:spcBef>
                <a:spcPts val="530"/>
              </a:spcBef>
              <a:buFont typeface="Arial"/>
              <a:buChar char="•"/>
              <a:tabLst>
                <a:tab pos="354965" algn="l"/>
                <a:tab pos="355600" algn="l"/>
                <a:tab pos="4051935" algn="l"/>
              </a:tabLst>
            </a:pPr>
            <a:r>
              <a:rPr sz="1600" spc="-5" dirty="0">
                <a:latin typeface="Casper"/>
                <a:cs typeface="Times New Roman"/>
              </a:rPr>
              <a:t>The </a:t>
            </a:r>
            <a:r>
              <a:rPr sz="1600" spc="-10" dirty="0">
                <a:latin typeface="Casper"/>
                <a:cs typeface="Times New Roman"/>
              </a:rPr>
              <a:t>difference </a:t>
            </a:r>
            <a:r>
              <a:rPr sz="1600" spc="-5" dirty="0">
                <a:latin typeface="Casper"/>
                <a:cs typeface="Times New Roman"/>
              </a:rPr>
              <a:t>between Decoder and Encoder is that Decoder has Binary  Code as an </a:t>
            </a:r>
            <a:r>
              <a:rPr sz="1600" dirty="0">
                <a:latin typeface="Casper"/>
                <a:cs typeface="Times New Roman"/>
              </a:rPr>
              <a:t>input</a:t>
            </a:r>
            <a:r>
              <a:rPr sz="1600" spc="10" dirty="0">
                <a:latin typeface="Casper"/>
                <a:cs typeface="Times New Roman"/>
              </a:rPr>
              <a:t> </a:t>
            </a:r>
            <a:r>
              <a:rPr sz="1600" spc="-5">
                <a:latin typeface="Casper"/>
                <a:cs typeface="Times New Roman"/>
              </a:rPr>
              <a:t>while</a:t>
            </a:r>
            <a:r>
              <a:rPr sz="1600" spc="10">
                <a:latin typeface="Casper"/>
                <a:cs typeface="Times New Roman"/>
              </a:rPr>
              <a:t> </a:t>
            </a:r>
            <a:r>
              <a:rPr sz="1600" spc="-5">
                <a:latin typeface="Casper"/>
                <a:cs typeface="Times New Roman"/>
              </a:rPr>
              <a:t>Encoder</a:t>
            </a:r>
            <a:r>
              <a:rPr lang="en-US" sz="1600" spc="-5" dirty="0">
                <a:latin typeface="Casper"/>
                <a:cs typeface="Times New Roman"/>
              </a:rPr>
              <a:t> </a:t>
            </a:r>
            <a:r>
              <a:rPr sz="1600" spc="-5">
                <a:latin typeface="Casper"/>
                <a:cs typeface="Times New Roman"/>
              </a:rPr>
              <a:t>has </a:t>
            </a:r>
            <a:r>
              <a:rPr sz="1600" spc="-5" dirty="0">
                <a:latin typeface="Casper"/>
                <a:cs typeface="Times New Roman"/>
              </a:rPr>
              <a:t>Binary Code as an</a:t>
            </a:r>
            <a:r>
              <a:rPr sz="1600" spc="-15" dirty="0">
                <a:latin typeface="Casper"/>
                <a:cs typeface="Times New Roman"/>
              </a:rPr>
              <a:t> </a:t>
            </a:r>
            <a:r>
              <a:rPr sz="1600" spc="-5" dirty="0">
                <a:latin typeface="Casper"/>
                <a:cs typeface="Times New Roman"/>
              </a:rPr>
              <a:t>output.</a:t>
            </a:r>
            <a:endParaRPr sz="1600">
              <a:latin typeface="Casper"/>
              <a:cs typeface="Times New Roman"/>
            </a:endParaRPr>
          </a:p>
          <a:p>
            <a:pPr marL="355600" marR="5080" indent="-342900">
              <a:spcBef>
                <a:spcPts val="5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spc="-5" dirty="0">
                <a:latin typeface="Casper"/>
                <a:cs typeface="Times New Roman"/>
              </a:rPr>
              <a:t>Encoder is an Electronics device that converts the analog signal to digital  signal such as BCD</a:t>
            </a:r>
            <a:r>
              <a:rPr sz="1600" spc="-35" dirty="0">
                <a:latin typeface="Casper"/>
                <a:cs typeface="Times New Roman"/>
              </a:rPr>
              <a:t> </a:t>
            </a:r>
            <a:r>
              <a:rPr sz="1600" spc="-5">
                <a:latin typeface="Casper"/>
                <a:cs typeface="Times New Roman"/>
              </a:rPr>
              <a:t>Code.</a:t>
            </a:r>
            <a:endParaRPr lang="en-US" sz="1600" spc="-5" dirty="0">
              <a:latin typeface="Casper"/>
              <a:cs typeface="Times New Roman"/>
            </a:endParaRPr>
          </a:p>
          <a:p>
            <a:pPr marL="355600" marR="5080" indent="-342900">
              <a:spcBef>
                <a:spcPts val="525"/>
              </a:spcBef>
              <a:tabLst>
                <a:tab pos="354965" algn="l"/>
                <a:tab pos="355600" algn="l"/>
              </a:tabLst>
            </a:pPr>
            <a:endParaRPr sz="2200">
              <a:latin typeface="Times New Roman"/>
              <a:cs typeface="Times New Roman"/>
            </a:endParaRPr>
          </a:p>
          <a:p>
            <a:pPr marL="355600" indent="-342900">
              <a:spcBef>
                <a:spcPts val="535"/>
              </a:spcBef>
              <a:tabLst>
                <a:tab pos="354965" algn="l"/>
                <a:tab pos="355600" algn="l"/>
              </a:tabLst>
            </a:pPr>
            <a:r>
              <a:rPr lang="en-US" sz="4400" dirty="0"/>
              <a:t>Types of Encoders</a:t>
            </a:r>
          </a:p>
          <a:p>
            <a:pPr marL="527685" indent="-515620">
              <a:spcBef>
                <a:spcPts val="525"/>
              </a:spcBef>
              <a:buAutoNum type="romanLcPeriod"/>
              <a:tabLst>
                <a:tab pos="527685" algn="l"/>
                <a:tab pos="528320" algn="l"/>
              </a:tabLst>
            </a:pPr>
            <a:r>
              <a:rPr sz="1600" spc="-5">
                <a:latin typeface="Casper"/>
                <a:cs typeface="Times New Roman"/>
              </a:rPr>
              <a:t>Priority</a:t>
            </a:r>
            <a:r>
              <a:rPr sz="1600" spc="-10">
                <a:latin typeface="Casper"/>
                <a:cs typeface="Times New Roman"/>
              </a:rPr>
              <a:t> </a:t>
            </a:r>
            <a:r>
              <a:rPr sz="1600" spc="-5" dirty="0">
                <a:latin typeface="Casper"/>
                <a:cs typeface="Times New Roman"/>
              </a:rPr>
              <a:t>Encoder</a:t>
            </a:r>
            <a:endParaRPr sz="1600">
              <a:latin typeface="Casper"/>
              <a:cs typeface="Times New Roman"/>
            </a:endParaRPr>
          </a:p>
          <a:p>
            <a:pPr marL="527685" indent="-515620">
              <a:spcBef>
                <a:spcPts val="530"/>
              </a:spcBef>
              <a:buAutoNum type="romanLcPeriod"/>
              <a:tabLst>
                <a:tab pos="527685" algn="l"/>
                <a:tab pos="528320" algn="l"/>
              </a:tabLst>
            </a:pPr>
            <a:r>
              <a:rPr sz="1600" spc="-10" dirty="0">
                <a:latin typeface="Casper"/>
                <a:cs typeface="Times New Roman"/>
              </a:rPr>
              <a:t>Decimal </a:t>
            </a:r>
            <a:r>
              <a:rPr sz="1600" spc="-5" dirty="0">
                <a:latin typeface="Casper"/>
                <a:cs typeface="Times New Roman"/>
              </a:rPr>
              <a:t>to BCD</a:t>
            </a:r>
            <a:r>
              <a:rPr sz="1600" spc="15" dirty="0">
                <a:latin typeface="Casper"/>
                <a:cs typeface="Times New Roman"/>
              </a:rPr>
              <a:t> </a:t>
            </a:r>
            <a:r>
              <a:rPr sz="1600" spc="-5" dirty="0">
                <a:latin typeface="Casper"/>
                <a:cs typeface="Times New Roman"/>
              </a:rPr>
              <a:t>Encoder</a:t>
            </a:r>
            <a:endParaRPr sz="1600">
              <a:latin typeface="Casper"/>
              <a:cs typeface="Times New Roman"/>
            </a:endParaRPr>
          </a:p>
          <a:p>
            <a:pPr marL="527685" indent="-515620">
              <a:spcBef>
                <a:spcPts val="530"/>
              </a:spcBef>
              <a:buAutoNum type="romanLcPeriod"/>
              <a:tabLst>
                <a:tab pos="527685" algn="l"/>
                <a:tab pos="528320" algn="l"/>
              </a:tabLst>
            </a:pPr>
            <a:r>
              <a:rPr sz="1600" spc="-5" dirty="0">
                <a:latin typeface="Casper"/>
                <a:cs typeface="Times New Roman"/>
              </a:rPr>
              <a:t>Octal to Binary</a:t>
            </a:r>
            <a:r>
              <a:rPr sz="1600" dirty="0">
                <a:latin typeface="Casper"/>
                <a:cs typeface="Times New Roman"/>
              </a:rPr>
              <a:t> </a:t>
            </a:r>
            <a:r>
              <a:rPr sz="1600" spc="-5" dirty="0">
                <a:latin typeface="Casper"/>
                <a:cs typeface="Times New Roman"/>
              </a:rPr>
              <a:t>Encoder</a:t>
            </a:r>
            <a:endParaRPr sz="1600">
              <a:latin typeface="Casper"/>
              <a:cs typeface="Times New Roman"/>
            </a:endParaRPr>
          </a:p>
          <a:p>
            <a:pPr marL="527685" indent="-515620">
              <a:spcBef>
                <a:spcPts val="525"/>
              </a:spcBef>
              <a:buAutoNum type="romanLcPeriod"/>
              <a:tabLst>
                <a:tab pos="527685" algn="l"/>
                <a:tab pos="528320" algn="l"/>
              </a:tabLst>
            </a:pPr>
            <a:r>
              <a:rPr sz="1600" spc="-5" dirty="0">
                <a:latin typeface="Casper"/>
                <a:cs typeface="Times New Roman"/>
              </a:rPr>
              <a:t>Hexadecimal to Binary</a:t>
            </a:r>
            <a:r>
              <a:rPr sz="1600" spc="15" dirty="0">
                <a:latin typeface="Casper"/>
                <a:cs typeface="Times New Roman"/>
              </a:rPr>
              <a:t> </a:t>
            </a:r>
            <a:r>
              <a:rPr sz="1600" spc="-5" dirty="0">
                <a:latin typeface="Casper"/>
                <a:cs typeface="Times New Roman"/>
              </a:rPr>
              <a:t>Encoder</a:t>
            </a:r>
            <a:endParaRPr sz="1600">
              <a:latin typeface="Casper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228600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5"/>
              </a:spcBef>
              <a:tabLst>
                <a:tab pos="354965" algn="l"/>
                <a:tab pos="355600" algn="l"/>
              </a:tabLst>
            </a:pPr>
            <a:r>
              <a:rPr lang="en-US" dirty="0">
                <a:latin typeface="+mn-lt"/>
                <a:ea typeface="+mn-ea"/>
                <a:cs typeface="+mn-cs"/>
              </a:rPr>
              <a:t>ENCODER</a:t>
            </a:r>
          </a:p>
        </p:txBody>
      </p:sp>
      <p:sp>
        <p:nvSpPr>
          <p:cNvPr id="3" name="object 3"/>
          <p:cNvSpPr/>
          <p:nvPr/>
        </p:nvSpPr>
        <p:spPr>
          <a:xfrm>
            <a:off x="3351276" y="3255264"/>
            <a:ext cx="1696211" cy="22311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43429" y="37719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38100" y="0"/>
                </a:moveTo>
                <a:lnTo>
                  <a:pt x="23252" y="2986"/>
                </a:lnTo>
                <a:lnTo>
                  <a:pt x="11144" y="11128"/>
                </a:lnTo>
                <a:lnTo>
                  <a:pt x="2988" y="23199"/>
                </a:lnTo>
                <a:lnTo>
                  <a:pt x="0" y="37973"/>
                </a:lnTo>
                <a:lnTo>
                  <a:pt x="2915" y="52839"/>
                </a:lnTo>
                <a:lnTo>
                  <a:pt x="11033" y="64992"/>
                </a:lnTo>
                <a:lnTo>
                  <a:pt x="23127" y="73191"/>
                </a:lnTo>
                <a:lnTo>
                  <a:pt x="37972" y="76200"/>
                </a:lnTo>
                <a:lnTo>
                  <a:pt x="52822" y="73213"/>
                </a:lnTo>
                <a:lnTo>
                  <a:pt x="64944" y="65071"/>
                </a:lnTo>
                <a:lnTo>
                  <a:pt x="73138" y="53000"/>
                </a:lnTo>
                <a:lnTo>
                  <a:pt x="73579" y="50871"/>
                </a:lnTo>
                <a:lnTo>
                  <a:pt x="30987" y="50800"/>
                </a:lnTo>
                <a:lnTo>
                  <a:pt x="25272" y="45085"/>
                </a:lnTo>
                <a:lnTo>
                  <a:pt x="25397" y="38226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1" y="25400"/>
                </a:lnTo>
                <a:lnTo>
                  <a:pt x="73211" y="23360"/>
                </a:lnTo>
                <a:lnTo>
                  <a:pt x="65055" y="11207"/>
                </a:lnTo>
                <a:lnTo>
                  <a:pt x="52947" y="3008"/>
                </a:lnTo>
                <a:lnTo>
                  <a:pt x="38100" y="0"/>
                </a:lnTo>
                <a:close/>
              </a:path>
              <a:path w="812800" h="76200">
                <a:moveTo>
                  <a:pt x="73635" y="25471"/>
                </a:moveTo>
                <a:lnTo>
                  <a:pt x="76200" y="38226"/>
                </a:lnTo>
                <a:lnTo>
                  <a:pt x="73579" y="50871"/>
                </a:lnTo>
                <a:lnTo>
                  <a:pt x="799972" y="52324"/>
                </a:lnTo>
                <a:lnTo>
                  <a:pt x="807084" y="52450"/>
                </a:lnTo>
                <a:lnTo>
                  <a:pt x="812672" y="46736"/>
                </a:lnTo>
                <a:lnTo>
                  <a:pt x="812799" y="32638"/>
                </a:lnTo>
                <a:lnTo>
                  <a:pt x="807084" y="27050"/>
                </a:lnTo>
                <a:lnTo>
                  <a:pt x="800099" y="26924"/>
                </a:lnTo>
                <a:lnTo>
                  <a:pt x="73635" y="25471"/>
                </a:lnTo>
                <a:close/>
              </a:path>
              <a:path w="812800" h="76200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397" y="38226"/>
                </a:lnTo>
                <a:lnTo>
                  <a:pt x="25272" y="45085"/>
                </a:lnTo>
                <a:lnTo>
                  <a:pt x="30987" y="50800"/>
                </a:lnTo>
                <a:lnTo>
                  <a:pt x="73579" y="50871"/>
                </a:lnTo>
                <a:lnTo>
                  <a:pt x="76200" y="38226"/>
                </a:lnTo>
                <a:lnTo>
                  <a:pt x="73635" y="25471"/>
                </a:lnTo>
                <a:lnTo>
                  <a:pt x="38100" y="25400"/>
                </a:lnTo>
                <a:close/>
              </a:path>
              <a:path w="812800" h="76200">
                <a:moveTo>
                  <a:pt x="73621" y="25400"/>
                </a:moveTo>
                <a:lnTo>
                  <a:pt x="38100" y="25400"/>
                </a:lnTo>
                <a:lnTo>
                  <a:pt x="73635" y="25471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52700" y="4075048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38226" y="0"/>
                </a:moveTo>
                <a:lnTo>
                  <a:pt x="23360" y="2988"/>
                </a:lnTo>
                <a:lnTo>
                  <a:pt x="11207" y="11144"/>
                </a:lnTo>
                <a:lnTo>
                  <a:pt x="3008" y="23252"/>
                </a:lnTo>
                <a:lnTo>
                  <a:pt x="0" y="38100"/>
                </a:lnTo>
                <a:lnTo>
                  <a:pt x="2986" y="52947"/>
                </a:lnTo>
                <a:lnTo>
                  <a:pt x="11128" y="65055"/>
                </a:lnTo>
                <a:lnTo>
                  <a:pt x="23199" y="73211"/>
                </a:lnTo>
                <a:lnTo>
                  <a:pt x="37973" y="76200"/>
                </a:lnTo>
                <a:lnTo>
                  <a:pt x="52839" y="73284"/>
                </a:lnTo>
                <a:lnTo>
                  <a:pt x="64992" y="65166"/>
                </a:lnTo>
                <a:lnTo>
                  <a:pt x="73191" y="53072"/>
                </a:lnTo>
                <a:lnTo>
                  <a:pt x="73636" y="50876"/>
                </a:lnTo>
                <a:lnTo>
                  <a:pt x="31114" y="50800"/>
                </a:lnTo>
                <a:lnTo>
                  <a:pt x="25400" y="45084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0" y="25400"/>
                </a:lnTo>
                <a:lnTo>
                  <a:pt x="73213" y="23377"/>
                </a:lnTo>
                <a:lnTo>
                  <a:pt x="65071" y="11255"/>
                </a:lnTo>
                <a:lnTo>
                  <a:pt x="53000" y="3061"/>
                </a:lnTo>
                <a:lnTo>
                  <a:pt x="38226" y="0"/>
                </a:lnTo>
                <a:close/>
              </a:path>
              <a:path w="812800" h="76200">
                <a:moveTo>
                  <a:pt x="73635" y="25476"/>
                </a:moveTo>
                <a:lnTo>
                  <a:pt x="76200" y="38226"/>
                </a:lnTo>
                <a:lnTo>
                  <a:pt x="73636" y="50876"/>
                </a:lnTo>
                <a:lnTo>
                  <a:pt x="800100" y="52450"/>
                </a:lnTo>
                <a:lnTo>
                  <a:pt x="807085" y="52450"/>
                </a:lnTo>
                <a:lnTo>
                  <a:pt x="812800" y="46736"/>
                </a:lnTo>
                <a:lnTo>
                  <a:pt x="812800" y="32765"/>
                </a:lnTo>
                <a:lnTo>
                  <a:pt x="807085" y="27050"/>
                </a:lnTo>
                <a:lnTo>
                  <a:pt x="800100" y="27050"/>
                </a:lnTo>
                <a:lnTo>
                  <a:pt x="73635" y="25476"/>
                </a:lnTo>
                <a:close/>
              </a:path>
              <a:path w="812800" h="76200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400" y="45084"/>
                </a:lnTo>
                <a:lnTo>
                  <a:pt x="31114" y="50800"/>
                </a:lnTo>
                <a:lnTo>
                  <a:pt x="73636" y="50876"/>
                </a:lnTo>
                <a:lnTo>
                  <a:pt x="76200" y="38226"/>
                </a:lnTo>
                <a:lnTo>
                  <a:pt x="73635" y="25476"/>
                </a:lnTo>
                <a:lnTo>
                  <a:pt x="38100" y="25400"/>
                </a:lnTo>
                <a:close/>
              </a:path>
              <a:path w="812800" h="76200">
                <a:moveTo>
                  <a:pt x="73620" y="25400"/>
                </a:moveTo>
                <a:lnTo>
                  <a:pt x="38100" y="25400"/>
                </a:lnTo>
                <a:lnTo>
                  <a:pt x="73635" y="2547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52700" y="4379848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38226" y="0"/>
                </a:moveTo>
                <a:lnTo>
                  <a:pt x="23360" y="2988"/>
                </a:lnTo>
                <a:lnTo>
                  <a:pt x="11207" y="11144"/>
                </a:lnTo>
                <a:lnTo>
                  <a:pt x="3008" y="23252"/>
                </a:lnTo>
                <a:lnTo>
                  <a:pt x="0" y="38100"/>
                </a:lnTo>
                <a:lnTo>
                  <a:pt x="2986" y="52947"/>
                </a:lnTo>
                <a:lnTo>
                  <a:pt x="11128" y="65055"/>
                </a:lnTo>
                <a:lnTo>
                  <a:pt x="23199" y="73211"/>
                </a:lnTo>
                <a:lnTo>
                  <a:pt x="37973" y="76200"/>
                </a:lnTo>
                <a:lnTo>
                  <a:pt x="52839" y="73284"/>
                </a:lnTo>
                <a:lnTo>
                  <a:pt x="64992" y="65166"/>
                </a:lnTo>
                <a:lnTo>
                  <a:pt x="73191" y="53072"/>
                </a:lnTo>
                <a:lnTo>
                  <a:pt x="73636" y="50876"/>
                </a:lnTo>
                <a:lnTo>
                  <a:pt x="31114" y="50800"/>
                </a:lnTo>
                <a:lnTo>
                  <a:pt x="25400" y="45212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0" y="25400"/>
                </a:lnTo>
                <a:lnTo>
                  <a:pt x="73213" y="23377"/>
                </a:lnTo>
                <a:lnTo>
                  <a:pt x="65071" y="11255"/>
                </a:lnTo>
                <a:lnTo>
                  <a:pt x="53000" y="3061"/>
                </a:lnTo>
                <a:lnTo>
                  <a:pt x="38226" y="0"/>
                </a:lnTo>
                <a:close/>
              </a:path>
              <a:path w="812800" h="76200">
                <a:moveTo>
                  <a:pt x="73635" y="25476"/>
                </a:moveTo>
                <a:lnTo>
                  <a:pt x="76200" y="38226"/>
                </a:lnTo>
                <a:lnTo>
                  <a:pt x="73636" y="50876"/>
                </a:lnTo>
                <a:lnTo>
                  <a:pt x="800100" y="52450"/>
                </a:lnTo>
                <a:lnTo>
                  <a:pt x="807085" y="52450"/>
                </a:lnTo>
                <a:lnTo>
                  <a:pt x="812800" y="46736"/>
                </a:lnTo>
                <a:lnTo>
                  <a:pt x="812800" y="32765"/>
                </a:lnTo>
                <a:lnTo>
                  <a:pt x="807085" y="27050"/>
                </a:lnTo>
                <a:lnTo>
                  <a:pt x="800100" y="27050"/>
                </a:lnTo>
                <a:lnTo>
                  <a:pt x="73635" y="25476"/>
                </a:lnTo>
                <a:close/>
              </a:path>
              <a:path w="812800" h="76200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400" y="45212"/>
                </a:lnTo>
                <a:lnTo>
                  <a:pt x="31114" y="50800"/>
                </a:lnTo>
                <a:lnTo>
                  <a:pt x="73636" y="50876"/>
                </a:lnTo>
                <a:lnTo>
                  <a:pt x="76200" y="38226"/>
                </a:lnTo>
                <a:lnTo>
                  <a:pt x="73635" y="25476"/>
                </a:lnTo>
                <a:lnTo>
                  <a:pt x="38100" y="25400"/>
                </a:lnTo>
                <a:close/>
              </a:path>
              <a:path w="812800" h="76200">
                <a:moveTo>
                  <a:pt x="73620" y="25400"/>
                </a:moveTo>
                <a:lnTo>
                  <a:pt x="38100" y="25400"/>
                </a:lnTo>
                <a:lnTo>
                  <a:pt x="73635" y="2547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52700" y="46863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38226" y="0"/>
                </a:moveTo>
                <a:lnTo>
                  <a:pt x="23360" y="2986"/>
                </a:lnTo>
                <a:lnTo>
                  <a:pt x="11207" y="11128"/>
                </a:lnTo>
                <a:lnTo>
                  <a:pt x="3008" y="23199"/>
                </a:lnTo>
                <a:lnTo>
                  <a:pt x="0" y="37973"/>
                </a:lnTo>
                <a:lnTo>
                  <a:pt x="2986" y="52839"/>
                </a:lnTo>
                <a:lnTo>
                  <a:pt x="11128" y="64992"/>
                </a:lnTo>
                <a:lnTo>
                  <a:pt x="23199" y="73191"/>
                </a:lnTo>
                <a:lnTo>
                  <a:pt x="37973" y="76200"/>
                </a:lnTo>
                <a:lnTo>
                  <a:pt x="52839" y="73213"/>
                </a:lnTo>
                <a:lnTo>
                  <a:pt x="64992" y="65071"/>
                </a:lnTo>
                <a:lnTo>
                  <a:pt x="73191" y="53000"/>
                </a:lnTo>
                <a:lnTo>
                  <a:pt x="73625" y="50871"/>
                </a:lnTo>
                <a:lnTo>
                  <a:pt x="31114" y="50800"/>
                </a:lnTo>
                <a:lnTo>
                  <a:pt x="25400" y="45085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3" y="25400"/>
                </a:lnTo>
                <a:lnTo>
                  <a:pt x="73213" y="23360"/>
                </a:lnTo>
                <a:lnTo>
                  <a:pt x="65071" y="11207"/>
                </a:lnTo>
                <a:lnTo>
                  <a:pt x="53000" y="3008"/>
                </a:lnTo>
                <a:lnTo>
                  <a:pt x="38226" y="0"/>
                </a:lnTo>
                <a:close/>
              </a:path>
              <a:path w="812800" h="76200">
                <a:moveTo>
                  <a:pt x="73637" y="25471"/>
                </a:moveTo>
                <a:lnTo>
                  <a:pt x="76200" y="38226"/>
                </a:lnTo>
                <a:lnTo>
                  <a:pt x="73625" y="50871"/>
                </a:lnTo>
                <a:lnTo>
                  <a:pt x="800100" y="52324"/>
                </a:lnTo>
                <a:lnTo>
                  <a:pt x="807085" y="52450"/>
                </a:lnTo>
                <a:lnTo>
                  <a:pt x="812800" y="46736"/>
                </a:lnTo>
                <a:lnTo>
                  <a:pt x="812800" y="32638"/>
                </a:lnTo>
                <a:lnTo>
                  <a:pt x="807085" y="27050"/>
                </a:lnTo>
                <a:lnTo>
                  <a:pt x="800100" y="26924"/>
                </a:lnTo>
                <a:lnTo>
                  <a:pt x="73637" y="25471"/>
                </a:lnTo>
                <a:close/>
              </a:path>
              <a:path w="812800" h="76200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400" y="45085"/>
                </a:lnTo>
                <a:lnTo>
                  <a:pt x="31114" y="50800"/>
                </a:lnTo>
                <a:lnTo>
                  <a:pt x="73625" y="50871"/>
                </a:lnTo>
                <a:lnTo>
                  <a:pt x="76200" y="38226"/>
                </a:lnTo>
                <a:lnTo>
                  <a:pt x="73637" y="25471"/>
                </a:lnTo>
                <a:lnTo>
                  <a:pt x="38100" y="25400"/>
                </a:lnTo>
                <a:close/>
              </a:path>
              <a:path w="812800" h="76200">
                <a:moveTo>
                  <a:pt x="73623" y="25400"/>
                </a:moveTo>
                <a:lnTo>
                  <a:pt x="38100" y="25400"/>
                </a:lnTo>
                <a:lnTo>
                  <a:pt x="73637" y="25471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48661" y="3752469"/>
            <a:ext cx="91439" cy="914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8854" y="4075938"/>
            <a:ext cx="91439" cy="914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68854" y="4371340"/>
            <a:ext cx="91439" cy="914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98445" y="4709159"/>
            <a:ext cx="91440" cy="914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05050" y="3629278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5" h="183514">
                <a:moveTo>
                  <a:pt x="99704" y="49530"/>
                </a:moveTo>
                <a:lnTo>
                  <a:pt x="23494" y="49530"/>
                </a:lnTo>
                <a:lnTo>
                  <a:pt x="255650" y="183515"/>
                </a:lnTo>
                <a:lnTo>
                  <a:pt x="274700" y="150622"/>
                </a:lnTo>
                <a:lnTo>
                  <a:pt x="99704" y="49530"/>
                </a:lnTo>
                <a:close/>
              </a:path>
              <a:path w="274955" h="183514">
                <a:moveTo>
                  <a:pt x="52069" y="0"/>
                </a:moveTo>
                <a:lnTo>
                  <a:pt x="0" y="13970"/>
                </a:lnTo>
                <a:lnTo>
                  <a:pt x="13969" y="66040"/>
                </a:lnTo>
                <a:lnTo>
                  <a:pt x="23494" y="49530"/>
                </a:lnTo>
                <a:lnTo>
                  <a:pt x="99704" y="49530"/>
                </a:lnTo>
                <a:lnTo>
                  <a:pt x="42544" y="16510"/>
                </a:lnTo>
                <a:lnTo>
                  <a:pt x="5206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25242" y="3942715"/>
            <a:ext cx="274955" cy="184150"/>
          </a:xfrm>
          <a:custGeom>
            <a:avLst/>
            <a:gdLst/>
            <a:ahLst/>
            <a:cxnLst/>
            <a:rect l="l" t="t" r="r" b="b"/>
            <a:pathLst>
              <a:path w="274955" h="184150">
                <a:moveTo>
                  <a:pt x="99704" y="49530"/>
                </a:moveTo>
                <a:lnTo>
                  <a:pt x="23494" y="49530"/>
                </a:lnTo>
                <a:lnTo>
                  <a:pt x="255650" y="183642"/>
                </a:lnTo>
                <a:lnTo>
                  <a:pt x="274700" y="150622"/>
                </a:lnTo>
                <a:lnTo>
                  <a:pt x="99704" y="49530"/>
                </a:lnTo>
                <a:close/>
              </a:path>
              <a:path w="274955" h="184150">
                <a:moveTo>
                  <a:pt x="52069" y="0"/>
                </a:moveTo>
                <a:lnTo>
                  <a:pt x="0" y="13970"/>
                </a:lnTo>
                <a:lnTo>
                  <a:pt x="13969" y="66040"/>
                </a:lnTo>
                <a:lnTo>
                  <a:pt x="23494" y="49530"/>
                </a:lnTo>
                <a:lnTo>
                  <a:pt x="99704" y="49530"/>
                </a:lnTo>
                <a:lnTo>
                  <a:pt x="42544" y="16510"/>
                </a:lnTo>
                <a:lnTo>
                  <a:pt x="5206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23719" y="4247388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5" h="183514">
                <a:moveTo>
                  <a:pt x="99758" y="49530"/>
                </a:moveTo>
                <a:lnTo>
                  <a:pt x="23494" y="49530"/>
                </a:lnTo>
                <a:lnTo>
                  <a:pt x="255650" y="183514"/>
                </a:lnTo>
                <a:lnTo>
                  <a:pt x="274700" y="150494"/>
                </a:lnTo>
                <a:lnTo>
                  <a:pt x="99758" y="49530"/>
                </a:lnTo>
                <a:close/>
              </a:path>
              <a:path w="274955" h="183514">
                <a:moveTo>
                  <a:pt x="52069" y="0"/>
                </a:moveTo>
                <a:lnTo>
                  <a:pt x="0" y="13969"/>
                </a:lnTo>
                <a:lnTo>
                  <a:pt x="13969" y="66039"/>
                </a:lnTo>
                <a:lnTo>
                  <a:pt x="23494" y="49530"/>
                </a:lnTo>
                <a:lnTo>
                  <a:pt x="99758" y="49530"/>
                </a:lnTo>
                <a:lnTo>
                  <a:pt x="42544" y="16510"/>
                </a:lnTo>
                <a:lnTo>
                  <a:pt x="5206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34641" y="4563109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5" h="183514">
                <a:moveTo>
                  <a:pt x="99577" y="49402"/>
                </a:moveTo>
                <a:lnTo>
                  <a:pt x="23367" y="49402"/>
                </a:lnTo>
                <a:lnTo>
                  <a:pt x="255523" y="183514"/>
                </a:lnTo>
                <a:lnTo>
                  <a:pt x="274573" y="150494"/>
                </a:lnTo>
                <a:lnTo>
                  <a:pt x="99577" y="49402"/>
                </a:lnTo>
                <a:close/>
              </a:path>
              <a:path w="274955" h="183514">
                <a:moveTo>
                  <a:pt x="51942" y="0"/>
                </a:moveTo>
                <a:lnTo>
                  <a:pt x="0" y="13842"/>
                </a:lnTo>
                <a:lnTo>
                  <a:pt x="13842" y="65912"/>
                </a:lnTo>
                <a:lnTo>
                  <a:pt x="23367" y="49402"/>
                </a:lnTo>
                <a:lnTo>
                  <a:pt x="99577" y="49402"/>
                </a:lnTo>
                <a:lnTo>
                  <a:pt x="42417" y="16382"/>
                </a:lnTo>
                <a:lnTo>
                  <a:pt x="5194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00" y="4113148"/>
            <a:ext cx="762000" cy="1905"/>
          </a:xfrm>
          <a:custGeom>
            <a:avLst/>
            <a:gdLst/>
            <a:ahLst/>
            <a:cxnLst/>
            <a:rect l="l" t="t" r="r" b="b"/>
            <a:pathLst>
              <a:path w="762000" h="1904">
                <a:moveTo>
                  <a:pt x="762000" y="1650"/>
                </a:moveTo>
                <a:lnTo>
                  <a:pt x="0" y="0"/>
                </a:lnTo>
              </a:path>
            </a:pathLst>
          </a:custGeom>
          <a:ln w="25399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29200" y="4613909"/>
            <a:ext cx="762000" cy="1905"/>
          </a:xfrm>
          <a:custGeom>
            <a:avLst/>
            <a:gdLst/>
            <a:ahLst/>
            <a:cxnLst/>
            <a:rect l="l" t="t" r="r" b="b"/>
            <a:pathLst>
              <a:path w="762000" h="1904">
                <a:moveTo>
                  <a:pt x="762000" y="1650"/>
                </a:moveTo>
                <a:lnTo>
                  <a:pt x="0" y="0"/>
                </a:lnTo>
              </a:path>
            </a:pathLst>
          </a:custGeom>
          <a:ln w="25399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813175" y="4139565"/>
            <a:ext cx="8750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Enc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der  4 x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69864" y="3268979"/>
            <a:ext cx="1709928" cy="22448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214617" y="4139565"/>
            <a:ext cx="8883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 marR="5080" indent="-6286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Dec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der  2 x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454900" y="3849623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39140" y="50728"/>
                </a:moveTo>
                <a:lnTo>
                  <a:pt x="739586" y="52947"/>
                </a:lnTo>
                <a:lnTo>
                  <a:pt x="747728" y="65055"/>
                </a:lnTo>
                <a:lnTo>
                  <a:pt x="759799" y="73211"/>
                </a:lnTo>
                <a:lnTo>
                  <a:pt x="774573" y="76200"/>
                </a:lnTo>
                <a:lnTo>
                  <a:pt x="789439" y="73284"/>
                </a:lnTo>
                <a:lnTo>
                  <a:pt x="801592" y="65166"/>
                </a:lnTo>
                <a:lnTo>
                  <a:pt x="809791" y="53072"/>
                </a:lnTo>
                <a:lnTo>
                  <a:pt x="810226" y="50926"/>
                </a:lnTo>
                <a:lnTo>
                  <a:pt x="781684" y="50926"/>
                </a:lnTo>
                <a:lnTo>
                  <a:pt x="774700" y="50800"/>
                </a:lnTo>
                <a:lnTo>
                  <a:pt x="739140" y="50728"/>
                </a:lnTo>
                <a:close/>
              </a:path>
              <a:path w="812800" h="76200">
                <a:moveTo>
                  <a:pt x="739187" y="25328"/>
                </a:moveTo>
                <a:lnTo>
                  <a:pt x="736600" y="38100"/>
                </a:lnTo>
                <a:lnTo>
                  <a:pt x="739140" y="50728"/>
                </a:lnTo>
                <a:lnTo>
                  <a:pt x="774700" y="50800"/>
                </a:lnTo>
                <a:lnTo>
                  <a:pt x="781684" y="50926"/>
                </a:lnTo>
                <a:lnTo>
                  <a:pt x="787400" y="45212"/>
                </a:lnTo>
                <a:lnTo>
                  <a:pt x="787400" y="31114"/>
                </a:lnTo>
                <a:lnTo>
                  <a:pt x="781684" y="25526"/>
                </a:lnTo>
                <a:lnTo>
                  <a:pt x="774700" y="25400"/>
                </a:lnTo>
                <a:lnTo>
                  <a:pt x="739187" y="25328"/>
                </a:lnTo>
                <a:close/>
              </a:path>
              <a:path w="812800" h="76200">
                <a:moveTo>
                  <a:pt x="774826" y="0"/>
                </a:moveTo>
                <a:lnTo>
                  <a:pt x="759960" y="2988"/>
                </a:lnTo>
                <a:lnTo>
                  <a:pt x="747807" y="11144"/>
                </a:lnTo>
                <a:lnTo>
                  <a:pt x="739608" y="23252"/>
                </a:lnTo>
                <a:lnTo>
                  <a:pt x="739187" y="25328"/>
                </a:lnTo>
                <a:lnTo>
                  <a:pt x="774700" y="25400"/>
                </a:lnTo>
                <a:lnTo>
                  <a:pt x="781684" y="25526"/>
                </a:lnTo>
                <a:lnTo>
                  <a:pt x="787400" y="31114"/>
                </a:lnTo>
                <a:lnTo>
                  <a:pt x="787400" y="45212"/>
                </a:lnTo>
                <a:lnTo>
                  <a:pt x="781684" y="50926"/>
                </a:lnTo>
                <a:lnTo>
                  <a:pt x="810226" y="50926"/>
                </a:lnTo>
                <a:lnTo>
                  <a:pt x="812800" y="38226"/>
                </a:lnTo>
                <a:lnTo>
                  <a:pt x="809813" y="23377"/>
                </a:lnTo>
                <a:lnTo>
                  <a:pt x="801671" y="11255"/>
                </a:lnTo>
                <a:lnTo>
                  <a:pt x="789600" y="3061"/>
                </a:lnTo>
                <a:lnTo>
                  <a:pt x="774826" y="0"/>
                </a:lnTo>
                <a:close/>
              </a:path>
              <a:path w="812800" h="76200">
                <a:moveTo>
                  <a:pt x="12700" y="23875"/>
                </a:moveTo>
                <a:lnTo>
                  <a:pt x="5715" y="23875"/>
                </a:lnTo>
                <a:lnTo>
                  <a:pt x="0" y="29590"/>
                </a:lnTo>
                <a:lnTo>
                  <a:pt x="0" y="43561"/>
                </a:lnTo>
                <a:lnTo>
                  <a:pt x="5715" y="49275"/>
                </a:lnTo>
                <a:lnTo>
                  <a:pt x="739140" y="50728"/>
                </a:lnTo>
                <a:lnTo>
                  <a:pt x="736600" y="38100"/>
                </a:lnTo>
                <a:lnTo>
                  <a:pt x="739187" y="25328"/>
                </a:lnTo>
                <a:lnTo>
                  <a:pt x="12700" y="2387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454900" y="42291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74826" y="0"/>
                </a:moveTo>
                <a:lnTo>
                  <a:pt x="759960" y="2986"/>
                </a:lnTo>
                <a:lnTo>
                  <a:pt x="747807" y="11128"/>
                </a:lnTo>
                <a:lnTo>
                  <a:pt x="739608" y="23199"/>
                </a:lnTo>
                <a:lnTo>
                  <a:pt x="739175" y="25323"/>
                </a:lnTo>
                <a:lnTo>
                  <a:pt x="774700" y="25400"/>
                </a:lnTo>
                <a:lnTo>
                  <a:pt x="781684" y="25400"/>
                </a:lnTo>
                <a:lnTo>
                  <a:pt x="787400" y="31114"/>
                </a:lnTo>
                <a:lnTo>
                  <a:pt x="787400" y="45085"/>
                </a:lnTo>
                <a:lnTo>
                  <a:pt x="781684" y="50800"/>
                </a:lnTo>
                <a:lnTo>
                  <a:pt x="739176" y="50800"/>
                </a:lnTo>
                <a:lnTo>
                  <a:pt x="739586" y="52839"/>
                </a:lnTo>
                <a:lnTo>
                  <a:pt x="747728" y="64992"/>
                </a:lnTo>
                <a:lnTo>
                  <a:pt x="759799" y="73191"/>
                </a:lnTo>
                <a:lnTo>
                  <a:pt x="774573" y="76200"/>
                </a:lnTo>
                <a:lnTo>
                  <a:pt x="789439" y="73213"/>
                </a:lnTo>
                <a:lnTo>
                  <a:pt x="801592" y="65071"/>
                </a:lnTo>
                <a:lnTo>
                  <a:pt x="809791" y="53000"/>
                </a:lnTo>
                <a:lnTo>
                  <a:pt x="810239" y="50800"/>
                </a:lnTo>
                <a:lnTo>
                  <a:pt x="774700" y="50800"/>
                </a:lnTo>
                <a:lnTo>
                  <a:pt x="810255" y="50722"/>
                </a:lnTo>
                <a:lnTo>
                  <a:pt x="812800" y="38226"/>
                </a:lnTo>
                <a:lnTo>
                  <a:pt x="809813" y="23360"/>
                </a:lnTo>
                <a:lnTo>
                  <a:pt x="801671" y="11207"/>
                </a:lnTo>
                <a:lnTo>
                  <a:pt x="789600" y="3008"/>
                </a:lnTo>
                <a:lnTo>
                  <a:pt x="774826" y="0"/>
                </a:lnTo>
                <a:close/>
              </a:path>
              <a:path w="812800" h="76200">
                <a:moveTo>
                  <a:pt x="739175" y="25323"/>
                </a:moveTo>
                <a:lnTo>
                  <a:pt x="736600" y="37973"/>
                </a:lnTo>
                <a:lnTo>
                  <a:pt x="739161" y="50722"/>
                </a:lnTo>
                <a:lnTo>
                  <a:pt x="774700" y="50800"/>
                </a:lnTo>
                <a:lnTo>
                  <a:pt x="781684" y="50800"/>
                </a:lnTo>
                <a:lnTo>
                  <a:pt x="787400" y="45085"/>
                </a:lnTo>
                <a:lnTo>
                  <a:pt x="787400" y="31114"/>
                </a:lnTo>
                <a:lnTo>
                  <a:pt x="781684" y="25400"/>
                </a:lnTo>
                <a:lnTo>
                  <a:pt x="739175" y="25323"/>
                </a:lnTo>
                <a:close/>
              </a:path>
              <a:path w="812800" h="76200">
                <a:moveTo>
                  <a:pt x="12700" y="23749"/>
                </a:moveTo>
                <a:lnTo>
                  <a:pt x="5715" y="23749"/>
                </a:lnTo>
                <a:lnTo>
                  <a:pt x="0" y="29463"/>
                </a:lnTo>
                <a:lnTo>
                  <a:pt x="0" y="43561"/>
                </a:lnTo>
                <a:lnTo>
                  <a:pt x="5715" y="49149"/>
                </a:lnTo>
                <a:lnTo>
                  <a:pt x="739161" y="50722"/>
                </a:lnTo>
                <a:lnTo>
                  <a:pt x="736600" y="37973"/>
                </a:lnTo>
                <a:lnTo>
                  <a:pt x="739175" y="25323"/>
                </a:lnTo>
                <a:lnTo>
                  <a:pt x="12700" y="23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454900" y="46101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74826" y="0"/>
                </a:moveTo>
                <a:lnTo>
                  <a:pt x="759960" y="2986"/>
                </a:lnTo>
                <a:lnTo>
                  <a:pt x="747807" y="11128"/>
                </a:lnTo>
                <a:lnTo>
                  <a:pt x="739608" y="23199"/>
                </a:lnTo>
                <a:lnTo>
                  <a:pt x="739175" y="25323"/>
                </a:lnTo>
                <a:lnTo>
                  <a:pt x="774700" y="25400"/>
                </a:lnTo>
                <a:lnTo>
                  <a:pt x="781684" y="25400"/>
                </a:lnTo>
                <a:lnTo>
                  <a:pt x="787400" y="31114"/>
                </a:lnTo>
                <a:lnTo>
                  <a:pt x="787400" y="45085"/>
                </a:lnTo>
                <a:lnTo>
                  <a:pt x="781684" y="50800"/>
                </a:lnTo>
                <a:lnTo>
                  <a:pt x="739176" y="50800"/>
                </a:lnTo>
                <a:lnTo>
                  <a:pt x="739586" y="52839"/>
                </a:lnTo>
                <a:lnTo>
                  <a:pt x="747728" y="64992"/>
                </a:lnTo>
                <a:lnTo>
                  <a:pt x="759799" y="73191"/>
                </a:lnTo>
                <a:lnTo>
                  <a:pt x="774573" y="76200"/>
                </a:lnTo>
                <a:lnTo>
                  <a:pt x="789439" y="73213"/>
                </a:lnTo>
                <a:lnTo>
                  <a:pt x="801592" y="65071"/>
                </a:lnTo>
                <a:lnTo>
                  <a:pt x="809791" y="53000"/>
                </a:lnTo>
                <a:lnTo>
                  <a:pt x="810239" y="50800"/>
                </a:lnTo>
                <a:lnTo>
                  <a:pt x="774700" y="50800"/>
                </a:lnTo>
                <a:lnTo>
                  <a:pt x="810255" y="50722"/>
                </a:lnTo>
                <a:lnTo>
                  <a:pt x="812800" y="38226"/>
                </a:lnTo>
                <a:lnTo>
                  <a:pt x="809813" y="23360"/>
                </a:lnTo>
                <a:lnTo>
                  <a:pt x="801671" y="11207"/>
                </a:lnTo>
                <a:lnTo>
                  <a:pt x="789600" y="3008"/>
                </a:lnTo>
                <a:lnTo>
                  <a:pt x="774826" y="0"/>
                </a:lnTo>
                <a:close/>
              </a:path>
              <a:path w="812800" h="76200">
                <a:moveTo>
                  <a:pt x="739175" y="25323"/>
                </a:moveTo>
                <a:lnTo>
                  <a:pt x="736600" y="37973"/>
                </a:lnTo>
                <a:lnTo>
                  <a:pt x="739161" y="50722"/>
                </a:lnTo>
                <a:lnTo>
                  <a:pt x="774700" y="50800"/>
                </a:lnTo>
                <a:lnTo>
                  <a:pt x="781684" y="50800"/>
                </a:lnTo>
                <a:lnTo>
                  <a:pt x="787400" y="45085"/>
                </a:lnTo>
                <a:lnTo>
                  <a:pt x="787400" y="31114"/>
                </a:lnTo>
                <a:lnTo>
                  <a:pt x="781684" y="25400"/>
                </a:lnTo>
                <a:lnTo>
                  <a:pt x="739175" y="25323"/>
                </a:lnTo>
                <a:close/>
              </a:path>
              <a:path w="812800" h="76200">
                <a:moveTo>
                  <a:pt x="12700" y="23749"/>
                </a:moveTo>
                <a:lnTo>
                  <a:pt x="5715" y="23749"/>
                </a:lnTo>
                <a:lnTo>
                  <a:pt x="0" y="29463"/>
                </a:lnTo>
                <a:lnTo>
                  <a:pt x="0" y="43433"/>
                </a:lnTo>
                <a:lnTo>
                  <a:pt x="5715" y="49149"/>
                </a:lnTo>
                <a:lnTo>
                  <a:pt x="739161" y="50722"/>
                </a:lnTo>
                <a:lnTo>
                  <a:pt x="736600" y="37973"/>
                </a:lnTo>
                <a:lnTo>
                  <a:pt x="739175" y="25323"/>
                </a:lnTo>
                <a:lnTo>
                  <a:pt x="12700" y="23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454900" y="49911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74826" y="0"/>
                </a:moveTo>
                <a:lnTo>
                  <a:pt x="759960" y="2986"/>
                </a:lnTo>
                <a:lnTo>
                  <a:pt x="747807" y="11128"/>
                </a:lnTo>
                <a:lnTo>
                  <a:pt x="739608" y="23199"/>
                </a:lnTo>
                <a:lnTo>
                  <a:pt x="739175" y="25323"/>
                </a:lnTo>
                <a:lnTo>
                  <a:pt x="774700" y="25400"/>
                </a:lnTo>
                <a:lnTo>
                  <a:pt x="781684" y="25400"/>
                </a:lnTo>
                <a:lnTo>
                  <a:pt x="787400" y="31114"/>
                </a:lnTo>
                <a:lnTo>
                  <a:pt x="787400" y="45085"/>
                </a:lnTo>
                <a:lnTo>
                  <a:pt x="781684" y="50800"/>
                </a:lnTo>
                <a:lnTo>
                  <a:pt x="739176" y="50800"/>
                </a:lnTo>
                <a:lnTo>
                  <a:pt x="739586" y="52839"/>
                </a:lnTo>
                <a:lnTo>
                  <a:pt x="747728" y="64992"/>
                </a:lnTo>
                <a:lnTo>
                  <a:pt x="759799" y="73191"/>
                </a:lnTo>
                <a:lnTo>
                  <a:pt x="774573" y="76200"/>
                </a:lnTo>
                <a:lnTo>
                  <a:pt x="789439" y="73213"/>
                </a:lnTo>
                <a:lnTo>
                  <a:pt x="801592" y="65071"/>
                </a:lnTo>
                <a:lnTo>
                  <a:pt x="809791" y="53000"/>
                </a:lnTo>
                <a:lnTo>
                  <a:pt x="810239" y="50800"/>
                </a:lnTo>
                <a:lnTo>
                  <a:pt x="774700" y="50800"/>
                </a:lnTo>
                <a:lnTo>
                  <a:pt x="810255" y="50722"/>
                </a:lnTo>
                <a:lnTo>
                  <a:pt x="812800" y="38226"/>
                </a:lnTo>
                <a:lnTo>
                  <a:pt x="809813" y="23360"/>
                </a:lnTo>
                <a:lnTo>
                  <a:pt x="801671" y="11207"/>
                </a:lnTo>
                <a:lnTo>
                  <a:pt x="789600" y="3008"/>
                </a:lnTo>
                <a:lnTo>
                  <a:pt x="774826" y="0"/>
                </a:lnTo>
                <a:close/>
              </a:path>
              <a:path w="812800" h="76200">
                <a:moveTo>
                  <a:pt x="739175" y="25323"/>
                </a:moveTo>
                <a:lnTo>
                  <a:pt x="736600" y="37973"/>
                </a:lnTo>
                <a:lnTo>
                  <a:pt x="739161" y="50722"/>
                </a:lnTo>
                <a:lnTo>
                  <a:pt x="774700" y="50800"/>
                </a:lnTo>
                <a:lnTo>
                  <a:pt x="781684" y="50800"/>
                </a:lnTo>
                <a:lnTo>
                  <a:pt x="787400" y="45085"/>
                </a:lnTo>
                <a:lnTo>
                  <a:pt x="787400" y="31114"/>
                </a:lnTo>
                <a:lnTo>
                  <a:pt x="781684" y="25400"/>
                </a:lnTo>
                <a:lnTo>
                  <a:pt x="739175" y="25323"/>
                </a:lnTo>
                <a:close/>
              </a:path>
              <a:path w="812800" h="76200">
                <a:moveTo>
                  <a:pt x="12700" y="23749"/>
                </a:moveTo>
                <a:lnTo>
                  <a:pt x="5715" y="23749"/>
                </a:lnTo>
                <a:lnTo>
                  <a:pt x="0" y="29463"/>
                </a:lnTo>
                <a:lnTo>
                  <a:pt x="0" y="43433"/>
                </a:lnTo>
                <a:lnTo>
                  <a:pt x="5715" y="49149"/>
                </a:lnTo>
                <a:lnTo>
                  <a:pt x="739161" y="50722"/>
                </a:lnTo>
                <a:lnTo>
                  <a:pt x="736600" y="37973"/>
                </a:lnTo>
                <a:lnTo>
                  <a:pt x="739175" y="25323"/>
                </a:lnTo>
                <a:lnTo>
                  <a:pt x="12700" y="23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796794" y="3370097"/>
            <a:ext cx="290830" cy="130937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 marR="30480" algn="just">
              <a:lnSpc>
                <a:spcPct val="134300"/>
              </a:lnSpc>
              <a:spcBef>
                <a:spcPts val="265"/>
              </a:spcBef>
            </a:pP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575" spc="7" baseline="-21164" dirty="0">
                <a:latin typeface="Times New Roman"/>
                <a:cs typeface="Times New Roman"/>
              </a:rPr>
              <a:t>0 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575" spc="7" baseline="-21164" dirty="0">
                <a:latin typeface="Times New Roman"/>
                <a:cs typeface="Times New Roman"/>
              </a:rPr>
              <a:t>1 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575" spc="7" baseline="-21164" dirty="0">
                <a:latin typeface="Times New Roman"/>
                <a:cs typeface="Times New Roman"/>
              </a:rPr>
              <a:t>2</a:t>
            </a:r>
            <a:endParaRPr sz="1575" baseline="-21164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575" baseline="-21164" dirty="0">
                <a:latin typeface="Times New Roman"/>
                <a:cs typeface="Times New Roman"/>
              </a:rPr>
              <a:t>3</a:t>
            </a:r>
            <a:endParaRPr sz="1575" baseline="-21164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9600" y="1828800"/>
            <a:ext cx="187452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127127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asper"/>
                <a:cs typeface="Times New Roman"/>
              </a:rPr>
              <a:t>M=4  M=2</a:t>
            </a:r>
            <a:r>
              <a:rPr sz="1600" spc="-7" baseline="25462" dirty="0">
                <a:latin typeface="Casper"/>
                <a:cs typeface="Times New Roman"/>
              </a:rPr>
              <a:t>2  </a:t>
            </a:r>
            <a:r>
              <a:rPr sz="1600" spc="-5" dirty="0">
                <a:latin typeface="Casper"/>
                <a:cs typeface="Times New Roman"/>
              </a:rPr>
              <a:t>M=2</a:t>
            </a:r>
            <a:r>
              <a:rPr sz="1600" spc="-7" baseline="25462" dirty="0">
                <a:latin typeface="Casper"/>
                <a:cs typeface="Times New Roman"/>
              </a:rPr>
              <a:t>N</a:t>
            </a:r>
            <a:endParaRPr sz="1600" baseline="25462">
              <a:latin typeface="Casper"/>
              <a:cs typeface="Times New Roman"/>
            </a:endParaRPr>
          </a:p>
          <a:p>
            <a:pPr marL="38100" marR="30480">
              <a:lnSpc>
                <a:spcPct val="100000"/>
              </a:lnSpc>
            </a:pPr>
            <a:r>
              <a:rPr sz="1600" dirty="0">
                <a:latin typeface="Casper"/>
                <a:cs typeface="Times New Roman"/>
              </a:rPr>
              <a:t>‘M’ is the input</a:t>
            </a:r>
            <a:r>
              <a:rPr sz="1600" spc="-254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and  ‘N’ is the</a:t>
            </a:r>
            <a:r>
              <a:rPr sz="1600" spc="-190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output</a:t>
            </a:r>
            <a:endParaRPr sz="1600">
              <a:latin typeface="Casper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433689" y="3837940"/>
            <a:ext cx="91439" cy="9144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446007" y="4209669"/>
            <a:ext cx="91440" cy="914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448929" y="5004689"/>
            <a:ext cx="91440" cy="9144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458454" y="4605020"/>
            <a:ext cx="91440" cy="9144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212708" y="3734434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4" h="183514">
                <a:moveTo>
                  <a:pt x="222631" y="0"/>
                </a:moveTo>
                <a:lnTo>
                  <a:pt x="232156" y="16509"/>
                </a:lnTo>
                <a:lnTo>
                  <a:pt x="0" y="150494"/>
                </a:lnTo>
                <a:lnTo>
                  <a:pt x="19050" y="183514"/>
                </a:lnTo>
                <a:lnTo>
                  <a:pt x="251206" y="49402"/>
                </a:lnTo>
                <a:lnTo>
                  <a:pt x="265160" y="49402"/>
                </a:lnTo>
                <a:lnTo>
                  <a:pt x="274700" y="13842"/>
                </a:lnTo>
                <a:lnTo>
                  <a:pt x="222631" y="0"/>
                </a:lnTo>
                <a:close/>
              </a:path>
              <a:path w="274954" h="183514">
                <a:moveTo>
                  <a:pt x="265160" y="49402"/>
                </a:moveTo>
                <a:lnTo>
                  <a:pt x="251206" y="49402"/>
                </a:lnTo>
                <a:lnTo>
                  <a:pt x="260731" y="65912"/>
                </a:lnTo>
                <a:lnTo>
                  <a:pt x="265160" y="494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239125" y="4095115"/>
            <a:ext cx="274955" cy="184150"/>
          </a:xfrm>
          <a:custGeom>
            <a:avLst/>
            <a:gdLst/>
            <a:ahLst/>
            <a:cxnLst/>
            <a:rect l="l" t="t" r="r" b="b"/>
            <a:pathLst>
              <a:path w="274954" h="184150">
                <a:moveTo>
                  <a:pt x="222630" y="0"/>
                </a:moveTo>
                <a:lnTo>
                  <a:pt x="232155" y="16510"/>
                </a:lnTo>
                <a:lnTo>
                  <a:pt x="0" y="150622"/>
                </a:lnTo>
                <a:lnTo>
                  <a:pt x="19050" y="183642"/>
                </a:lnTo>
                <a:lnTo>
                  <a:pt x="251205" y="49530"/>
                </a:lnTo>
                <a:lnTo>
                  <a:pt x="265160" y="49530"/>
                </a:lnTo>
                <a:lnTo>
                  <a:pt x="274700" y="13970"/>
                </a:lnTo>
                <a:lnTo>
                  <a:pt x="222630" y="0"/>
                </a:lnTo>
                <a:close/>
              </a:path>
              <a:path w="274954" h="184150">
                <a:moveTo>
                  <a:pt x="265160" y="49530"/>
                </a:moveTo>
                <a:lnTo>
                  <a:pt x="251205" y="49530"/>
                </a:lnTo>
                <a:lnTo>
                  <a:pt x="260730" y="66040"/>
                </a:lnTo>
                <a:lnTo>
                  <a:pt x="265160" y="4953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239125" y="4868036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4" h="183514">
                <a:moveTo>
                  <a:pt x="222630" y="0"/>
                </a:moveTo>
                <a:lnTo>
                  <a:pt x="232155" y="16510"/>
                </a:lnTo>
                <a:lnTo>
                  <a:pt x="0" y="150494"/>
                </a:lnTo>
                <a:lnTo>
                  <a:pt x="19050" y="183514"/>
                </a:lnTo>
                <a:lnTo>
                  <a:pt x="251205" y="49530"/>
                </a:lnTo>
                <a:lnTo>
                  <a:pt x="265160" y="49530"/>
                </a:lnTo>
                <a:lnTo>
                  <a:pt x="274700" y="13969"/>
                </a:lnTo>
                <a:lnTo>
                  <a:pt x="222630" y="0"/>
                </a:lnTo>
                <a:close/>
              </a:path>
              <a:path w="274954" h="183514">
                <a:moveTo>
                  <a:pt x="265160" y="49530"/>
                </a:moveTo>
                <a:lnTo>
                  <a:pt x="251205" y="49530"/>
                </a:lnTo>
                <a:lnTo>
                  <a:pt x="260730" y="66039"/>
                </a:lnTo>
                <a:lnTo>
                  <a:pt x="265160" y="4953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239125" y="4475988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4" h="183514">
                <a:moveTo>
                  <a:pt x="222630" y="0"/>
                </a:moveTo>
                <a:lnTo>
                  <a:pt x="232155" y="16510"/>
                </a:lnTo>
                <a:lnTo>
                  <a:pt x="0" y="150494"/>
                </a:lnTo>
                <a:lnTo>
                  <a:pt x="19050" y="183514"/>
                </a:lnTo>
                <a:lnTo>
                  <a:pt x="251205" y="49530"/>
                </a:lnTo>
                <a:lnTo>
                  <a:pt x="265160" y="49530"/>
                </a:lnTo>
                <a:lnTo>
                  <a:pt x="274700" y="13969"/>
                </a:lnTo>
                <a:lnTo>
                  <a:pt x="222630" y="0"/>
                </a:lnTo>
                <a:close/>
              </a:path>
              <a:path w="274954" h="183514">
                <a:moveTo>
                  <a:pt x="265160" y="49530"/>
                </a:moveTo>
                <a:lnTo>
                  <a:pt x="251205" y="49530"/>
                </a:lnTo>
                <a:lnTo>
                  <a:pt x="260730" y="66039"/>
                </a:lnTo>
                <a:lnTo>
                  <a:pt x="265160" y="4953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674609" y="3590290"/>
            <a:ext cx="2800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B</a:t>
            </a:r>
            <a:r>
              <a:rPr sz="1575" baseline="-21164" dirty="0">
                <a:latin typeface="Times New Roman"/>
                <a:cs typeface="Times New Roman"/>
              </a:rPr>
              <a:t>0</a:t>
            </a:r>
            <a:endParaRPr sz="1575" baseline="-21164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267200" y="5867400"/>
            <a:ext cx="243840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1600" dirty="0">
                <a:latin typeface="Casper"/>
                <a:cs typeface="Times New Roman"/>
              </a:rPr>
              <a:t>Fig</a:t>
            </a:r>
            <a:r>
              <a:rPr sz="1600">
                <a:latin typeface="Casper"/>
                <a:cs typeface="Times New Roman"/>
              </a:rPr>
              <a:t>.</a:t>
            </a:r>
            <a:r>
              <a:rPr sz="1600" spc="-100">
                <a:latin typeface="Casper"/>
                <a:cs typeface="Times New Roman"/>
              </a:rPr>
              <a:t> </a:t>
            </a:r>
            <a:r>
              <a:rPr lang="en-US" sz="1600" spc="-100" dirty="0">
                <a:latin typeface="Casper"/>
                <a:cs typeface="Times New Roman"/>
              </a:rPr>
              <a:t>7: </a:t>
            </a:r>
            <a:r>
              <a:rPr lang="en-US" sz="1600" dirty="0">
                <a:latin typeface="Casper"/>
              </a:rPr>
              <a:t>ENCODER DIAGRAM</a:t>
            </a:r>
            <a:r>
              <a:rPr lang="en-US" sz="1600" dirty="0"/>
              <a:t> </a:t>
            </a:r>
            <a:endParaRPr sz="1600">
              <a:latin typeface="Casper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20076" y="3992117"/>
            <a:ext cx="160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B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855711" y="4107941"/>
            <a:ext cx="9334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705597" y="4236745"/>
            <a:ext cx="290830" cy="75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 marR="30480" indent="-11430">
              <a:lnSpc>
                <a:spcPct val="1486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B</a:t>
            </a:r>
            <a:r>
              <a:rPr sz="1575" spc="7" baseline="-21164" dirty="0">
                <a:latin typeface="Times New Roman"/>
                <a:cs typeface="Times New Roman"/>
              </a:rPr>
              <a:t>2  </a:t>
            </a:r>
            <a:r>
              <a:rPr sz="1600" spc="-5" dirty="0">
                <a:latin typeface="Times New Roman"/>
                <a:cs typeface="Times New Roman"/>
              </a:rPr>
              <a:t>B</a:t>
            </a:r>
            <a:r>
              <a:rPr sz="1575" spc="7" baseline="-21164" dirty="0">
                <a:latin typeface="Times New Roman"/>
                <a:cs typeface="Times New Roman"/>
              </a:rPr>
              <a:t>3</a:t>
            </a:r>
            <a:endParaRPr sz="1575" baseline="-21164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228600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5"/>
              </a:spcBef>
              <a:tabLst>
                <a:tab pos="354965" algn="l"/>
                <a:tab pos="355600" algn="l"/>
              </a:tabLst>
            </a:pPr>
            <a:r>
              <a:rPr lang="en-US" dirty="0">
                <a:latin typeface="+mn-lt"/>
                <a:ea typeface="+mn-ea"/>
                <a:cs typeface="+mn-cs"/>
              </a:rPr>
              <a:t>ENCODER</a:t>
            </a:r>
          </a:p>
        </p:txBody>
      </p:sp>
      <p:sp>
        <p:nvSpPr>
          <p:cNvPr id="3" name="object 3"/>
          <p:cNvSpPr/>
          <p:nvPr/>
        </p:nvSpPr>
        <p:spPr>
          <a:xfrm>
            <a:off x="3351276" y="3255264"/>
            <a:ext cx="1696211" cy="2231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43429" y="37719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38100" y="0"/>
                </a:moveTo>
                <a:lnTo>
                  <a:pt x="23252" y="2986"/>
                </a:lnTo>
                <a:lnTo>
                  <a:pt x="11144" y="11128"/>
                </a:lnTo>
                <a:lnTo>
                  <a:pt x="2988" y="23199"/>
                </a:lnTo>
                <a:lnTo>
                  <a:pt x="0" y="37973"/>
                </a:lnTo>
                <a:lnTo>
                  <a:pt x="2915" y="52839"/>
                </a:lnTo>
                <a:lnTo>
                  <a:pt x="11033" y="64992"/>
                </a:lnTo>
                <a:lnTo>
                  <a:pt x="23127" y="73191"/>
                </a:lnTo>
                <a:lnTo>
                  <a:pt x="37972" y="76200"/>
                </a:lnTo>
                <a:lnTo>
                  <a:pt x="52822" y="73213"/>
                </a:lnTo>
                <a:lnTo>
                  <a:pt x="64944" y="65071"/>
                </a:lnTo>
                <a:lnTo>
                  <a:pt x="73138" y="53000"/>
                </a:lnTo>
                <a:lnTo>
                  <a:pt x="73579" y="50871"/>
                </a:lnTo>
                <a:lnTo>
                  <a:pt x="30987" y="50800"/>
                </a:lnTo>
                <a:lnTo>
                  <a:pt x="25272" y="45085"/>
                </a:lnTo>
                <a:lnTo>
                  <a:pt x="25397" y="38226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1" y="25400"/>
                </a:lnTo>
                <a:lnTo>
                  <a:pt x="73211" y="23360"/>
                </a:lnTo>
                <a:lnTo>
                  <a:pt x="65055" y="11207"/>
                </a:lnTo>
                <a:lnTo>
                  <a:pt x="52947" y="3008"/>
                </a:lnTo>
                <a:lnTo>
                  <a:pt x="38100" y="0"/>
                </a:lnTo>
                <a:close/>
              </a:path>
              <a:path w="812800" h="76200">
                <a:moveTo>
                  <a:pt x="73635" y="25471"/>
                </a:moveTo>
                <a:lnTo>
                  <a:pt x="76200" y="38226"/>
                </a:lnTo>
                <a:lnTo>
                  <a:pt x="73579" y="50871"/>
                </a:lnTo>
                <a:lnTo>
                  <a:pt x="799972" y="52324"/>
                </a:lnTo>
                <a:lnTo>
                  <a:pt x="807084" y="52450"/>
                </a:lnTo>
                <a:lnTo>
                  <a:pt x="812672" y="46736"/>
                </a:lnTo>
                <a:lnTo>
                  <a:pt x="812799" y="32638"/>
                </a:lnTo>
                <a:lnTo>
                  <a:pt x="807084" y="27050"/>
                </a:lnTo>
                <a:lnTo>
                  <a:pt x="800099" y="26924"/>
                </a:lnTo>
                <a:lnTo>
                  <a:pt x="73635" y="25471"/>
                </a:lnTo>
                <a:close/>
              </a:path>
              <a:path w="812800" h="76200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397" y="38226"/>
                </a:lnTo>
                <a:lnTo>
                  <a:pt x="25272" y="45085"/>
                </a:lnTo>
                <a:lnTo>
                  <a:pt x="30987" y="50800"/>
                </a:lnTo>
                <a:lnTo>
                  <a:pt x="73579" y="50871"/>
                </a:lnTo>
                <a:lnTo>
                  <a:pt x="76200" y="38226"/>
                </a:lnTo>
                <a:lnTo>
                  <a:pt x="73635" y="25471"/>
                </a:lnTo>
                <a:lnTo>
                  <a:pt x="38100" y="25400"/>
                </a:lnTo>
                <a:close/>
              </a:path>
              <a:path w="812800" h="76200">
                <a:moveTo>
                  <a:pt x="73621" y="25400"/>
                </a:moveTo>
                <a:lnTo>
                  <a:pt x="38100" y="25400"/>
                </a:lnTo>
                <a:lnTo>
                  <a:pt x="73635" y="25471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52700" y="4075048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38226" y="0"/>
                </a:moveTo>
                <a:lnTo>
                  <a:pt x="23360" y="2988"/>
                </a:lnTo>
                <a:lnTo>
                  <a:pt x="11207" y="11144"/>
                </a:lnTo>
                <a:lnTo>
                  <a:pt x="3008" y="23252"/>
                </a:lnTo>
                <a:lnTo>
                  <a:pt x="0" y="38100"/>
                </a:lnTo>
                <a:lnTo>
                  <a:pt x="2986" y="52947"/>
                </a:lnTo>
                <a:lnTo>
                  <a:pt x="11128" y="65055"/>
                </a:lnTo>
                <a:lnTo>
                  <a:pt x="23199" y="73211"/>
                </a:lnTo>
                <a:lnTo>
                  <a:pt x="37973" y="76200"/>
                </a:lnTo>
                <a:lnTo>
                  <a:pt x="52839" y="73284"/>
                </a:lnTo>
                <a:lnTo>
                  <a:pt x="64992" y="65166"/>
                </a:lnTo>
                <a:lnTo>
                  <a:pt x="73191" y="53072"/>
                </a:lnTo>
                <a:lnTo>
                  <a:pt x="73636" y="50876"/>
                </a:lnTo>
                <a:lnTo>
                  <a:pt x="31114" y="50800"/>
                </a:lnTo>
                <a:lnTo>
                  <a:pt x="25400" y="45084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0" y="25400"/>
                </a:lnTo>
                <a:lnTo>
                  <a:pt x="73213" y="23377"/>
                </a:lnTo>
                <a:lnTo>
                  <a:pt x="65071" y="11255"/>
                </a:lnTo>
                <a:lnTo>
                  <a:pt x="53000" y="3061"/>
                </a:lnTo>
                <a:lnTo>
                  <a:pt x="38226" y="0"/>
                </a:lnTo>
                <a:close/>
              </a:path>
              <a:path w="812800" h="76200">
                <a:moveTo>
                  <a:pt x="73635" y="25476"/>
                </a:moveTo>
                <a:lnTo>
                  <a:pt x="76200" y="38226"/>
                </a:lnTo>
                <a:lnTo>
                  <a:pt x="73636" y="50876"/>
                </a:lnTo>
                <a:lnTo>
                  <a:pt x="800100" y="52450"/>
                </a:lnTo>
                <a:lnTo>
                  <a:pt x="807085" y="52450"/>
                </a:lnTo>
                <a:lnTo>
                  <a:pt x="812800" y="46736"/>
                </a:lnTo>
                <a:lnTo>
                  <a:pt x="812800" y="32765"/>
                </a:lnTo>
                <a:lnTo>
                  <a:pt x="807085" y="27050"/>
                </a:lnTo>
                <a:lnTo>
                  <a:pt x="800100" y="27050"/>
                </a:lnTo>
                <a:lnTo>
                  <a:pt x="73635" y="25476"/>
                </a:lnTo>
                <a:close/>
              </a:path>
              <a:path w="812800" h="76200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400" y="45084"/>
                </a:lnTo>
                <a:lnTo>
                  <a:pt x="31114" y="50800"/>
                </a:lnTo>
                <a:lnTo>
                  <a:pt x="73636" y="50876"/>
                </a:lnTo>
                <a:lnTo>
                  <a:pt x="76200" y="38226"/>
                </a:lnTo>
                <a:lnTo>
                  <a:pt x="73635" y="25476"/>
                </a:lnTo>
                <a:lnTo>
                  <a:pt x="38100" y="25400"/>
                </a:lnTo>
                <a:close/>
              </a:path>
              <a:path w="812800" h="76200">
                <a:moveTo>
                  <a:pt x="73620" y="25400"/>
                </a:moveTo>
                <a:lnTo>
                  <a:pt x="38100" y="25400"/>
                </a:lnTo>
                <a:lnTo>
                  <a:pt x="73635" y="2547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52700" y="4379848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38226" y="0"/>
                </a:moveTo>
                <a:lnTo>
                  <a:pt x="23360" y="2988"/>
                </a:lnTo>
                <a:lnTo>
                  <a:pt x="11207" y="11144"/>
                </a:lnTo>
                <a:lnTo>
                  <a:pt x="3008" y="23252"/>
                </a:lnTo>
                <a:lnTo>
                  <a:pt x="0" y="38100"/>
                </a:lnTo>
                <a:lnTo>
                  <a:pt x="2986" y="52947"/>
                </a:lnTo>
                <a:lnTo>
                  <a:pt x="11128" y="65055"/>
                </a:lnTo>
                <a:lnTo>
                  <a:pt x="23199" y="73211"/>
                </a:lnTo>
                <a:lnTo>
                  <a:pt x="37973" y="76200"/>
                </a:lnTo>
                <a:lnTo>
                  <a:pt x="52839" y="73284"/>
                </a:lnTo>
                <a:lnTo>
                  <a:pt x="64992" y="65166"/>
                </a:lnTo>
                <a:lnTo>
                  <a:pt x="73191" y="53072"/>
                </a:lnTo>
                <a:lnTo>
                  <a:pt x="73636" y="50876"/>
                </a:lnTo>
                <a:lnTo>
                  <a:pt x="31114" y="50800"/>
                </a:lnTo>
                <a:lnTo>
                  <a:pt x="25400" y="45212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0" y="25400"/>
                </a:lnTo>
                <a:lnTo>
                  <a:pt x="73213" y="23377"/>
                </a:lnTo>
                <a:lnTo>
                  <a:pt x="65071" y="11255"/>
                </a:lnTo>
                <a:lnTo>
                  <a:pt x="53000" y="3061"/>
                </a:lnTo>
                <a:lnTo>
                  <a:pt x="38226" y="0"/>
                </a:lnTo>
                <a:close/>
              </a:path>
              <a:path w="812800" h="76200">
                <a:moveTo>
                  <a:pt x="73635" y="25476"/>
                </a:moveTo>
                <a:lnTo>
                  <a:pt x="76200" y="38226"/>
                </a:lnTo>
                <a:lnTo>
                  <a:pt x="73636" y="50876"/>
                </a:lnTo>
                <a:lnTo>
                  <a:pt x="800100" y="52450"/>
                </a:lnTo>
                <a:lnTo>
                  <a:pt x="807085" y="52450"/>
                </a:lnTo>
                <a:lnTo>
                  <a:pt x="812800" y="46736"/>
                </a:lnTo>
                <a:lnTo>
                  <a:pt x="812800" y="32765"/>
                </a:lnTo>
                <a:lnTo>
                  <a:pt x="807085" y="27050"/>
                </a:lnTo>
                <a:lnTo>
                  <a:pt x="800100" y="27050"/>
                </a:lnTo>
                <a:lnTo>
                  <a:pt x="73635" y="25476"/>
                </a:lnTo>
                <a:close/>
              </a:path>
              <a:path w="812800" h="76200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400" y="45212"/>
                </a:lnTo>
                <a:lnTo>
                  <a:pt x="31114" y="50800"/>
                </a:lnTo>
                <a:lnTo>
                  <a:pt x="73636" y="50876"/>
                </a:lnTo>
                <a:lnTo>
                  <a:pt x="76200" y="38226"/>
                </a:lnTo>
                <a:lnTo>
                  <a:pt x="73635" y="25476"/>
                </a:lnTo>
                <a:lnTo>
                  <a:pt x="38100" y="25400"/>
                </a:lnTo>
                <a:close/>
              </a:path>
              <a:path w="812800" h="76200">
                <a:moveTo>
                  <a:pt x="73620" y="25400"/>
                </a:moveTo>
                <a:lnTo>
                  <a:pt x="38100" y="25400"/>
                </a:lnTo>
                <a:lnTo>
                  <a:pt x="73635" y="2547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52700" y="46863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38226" y="0"/>
                </a:moveTo>
                <a:lnTo>
                  <a:pt x="23360" y="2986"/>
                </a:lnTo>
                <a:lnTo>
                  <a:pt x="11207" y="11128"/>
                </a:lnTo>
                <a:lnTo>
                  <a:pt x="3008" y="23199"/>
                </a:lnTo>
                <a:lnTo>
                  <a:pt x="0" y="37973"/>
                </a:lnTo>
                <a:lnTo>
                  <a:pt x="2986" y="52839"/>
                </a:lnTo>
                <a:lnTo>
                  <a:pt x="11128" y="64992"/>
                </a:lnTo>
                <a:lnTo>
                  <a:pt x="23199" y="73191"/>
                </a:lnTo>
                <a:lnTo>
                  <a:pt x="37973" y="76200"/>
                </a:lnTo>
                <a:lnTo>
                  <a:pt x="52839" y="73213"/>
                </a:lnTo>
                <a:lnTo>
                  <a:pt x="64992" y="65071"/>
                </a:lnTo>
                <a:lnTo>
                  <a:pt x="73191" y="53000"/>
                </a:lnTo>
                <a:lnTo>
                  <a:pt x="73625" y="50871"/>
                </a:lnTo>
                <a:lnTo>
                  <a:pt x="31114" y="50800"/>
                </a:lnTo>
                <a:lnTo>
                  <a:pt x="25400" y="45085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3" y="25400"/>
                </a:lnTo>
                <a:lnTo>
                  <a:pt x="73213" y="23360"/>
                </a:lnTo>
                <a:lnTo>
                  <a:pt x="65071" y="11207"/>
                </a:lnTo>
                <a:lnTo>
                  <a:pt x="53000" y="3008"/>
                </a:lnTo>
                <a:lnTo>
                  <a:pt x="38226" y="0"/>
                </a:lnTo>
                <a:close/>
              </a:path>
              <a:path w="812800" h="76200">
                <a:moveTo>
                  <a:pt x="73637" y="25471"/>
                </a:moveTo>
                <a:lnTo>
                  <a:pt x="76200" y="38226"/>
                </a:lnTo>
                <a:lnTo>
                  <a:pt x="73625" y="50871"/>
                </a:lnTo>
                <a:lnTo>
                  <a:pt x="800100" y="52324"/>
                </a:lnTo>
                <a:lnTo>
                  <a:pt x="807085" y="52450"/>
                </a:lnTo>
                <a:lnTo>
                  <a:pt x="812800" y="46736"/>
                </a:lnTo>
                <a:lnTo>
                  <a:pt x="812800" y="32638"/>
                </a:lnTo>
                <a:lnTo>
                  <a:pt x="807085" y="27050"/>
                </a:lnTo>
                <a:lnTo>
                  <a:pt x="800100" y="26924"/>
                </a:lnTo>
                <a:lnTo>
                  <a:pt x="73637" y="25471"/>
                </a:lnTo>
                <a:close/>
              </a:path>
              <a:path w="812800" h="76200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400" y="45085"/>
                </a:lnTo>
                <a:lnTo>
                  <a:pt x="31114" y="50800"/>
                </a:lnTo>
                <a:lnTo>
                  <a:pt x="73625" y="50871"/>
                </a:lnTo>
                <a:lnTo>
                  <a:pt x="76200" y="38226"/>
                </a:lnTo>
                <a:lnTo>
                  <a:pt x="73637" y="25471"/>
                </a:lnTo>
                <a:lnTo>
                  <a:pt x="38100" y="25400"/>
                </a:lnTo>
                <a:close/>
              </a:path>
              <a:path w="812800" h="76200">
                <a:moveTo>
                  <a:pt x="73623" y="25400"/>
                </a:moveTo>
                <a:lnTo>
                  <a:pt x="38100" y="25400"/>
                </a:lnTo>
                <a:lnTo>
                  <a:pt x="73637" y="25471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48661" y="3752469"/>
            <a:ext cx="91439" cy="91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8854" y="4075938"/>
            <a:ext cx="91439" cy="914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68854" y="4371340"/>
            <a:ext cx="91439" cy="914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98445" y="4709159"/>
            <a:ext cx="91440" cy="91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05050" y="3629278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5" h="183514">
                <a:moveTo>
                  <a:pt x="99704" y="49530"/>
                </a:moveTo>
                <a:lnTo>
                  <a:pt x="23494" y="49530"/>
                </a:lnTo>
                <a:lnTo>
                  <a:pt x="255650" y="183515"/>
                </a:lnTo>
                <a:lnTo>
                  <a:pt x="274700" y="150622"/>
                </a:lnTo>
                <a:lnTo>
                  <a:pt x="99704" y="49530"/>
                </a:lnTo>
                <a:close/>
              </a:path>
              <a:path w="274955" h="183514">
                <a:moveTo>
                  <a:pt x="52069" y="0"/>
                </a:moveTo>
                <a:lnTo>
                  <a:pt x="0" y="13970"/>
                </a:lnTo>
                <a:lnTo>
                  <a:pt x="13969" y="66040"/>
                </a:lnTo>
                <a:lnTo>
                  <a:pt x="23494" y="49530"/>
                </a:lnTo>
                <a:lnTo>
                  <a:pt x="99704" y="49530"/>
                </a:lnTo>
                <a:lnTo>
                  <a:pt x="42544" y="16510"/>
                </a:lnTo>
                <a:lnTo>
                  <a:pt x="5206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25242" y="3942715"/>
            <a:ext cx="274955" cy="184150"/>
          </a:xfrm>
          <a:custGeom>
            <a:avLst/>
            <a:gdLst/>
            <a:ahLst/>
            <a:cxnLst/>
            <a:rect l="l" t="t" r="r" b="b"/>
            <a:pathLst>
              <a:path w="274955" h="184150">
                <a:moveTo>
                  <a:pt x="99704" y="49530"/>
                </a:moveTo>
                <a:lnTo>
                  <a:pt x="23494" y="49530"/>
                </a:lnTo>
                <a:lnTo>
                  <a:pt x="255650" y="183642"/>
                </a:lnTo>
                <a:lnTo>
                  <a:pt x="274700" y="150622"/>
                </a:lnTo>
                <a:lnTo>
                  <a:pt x="99704" y="49530"/>
                </a:lnTo>
                <a:close/>
              </a:path>
              <a:path w="274955" h="184150">
                <a:moveTo>
                  <a:pt x="52069" y="0"/>
                </a:moveTo>
                <a:lnTo>
                  <a:pt x="0" y="13970"/>
                </a:lnTo>
                <a:lnTo>
                  <a:pt x="13969" y="66040"/>
                </a:lnTo>
                <a:lnTo>
                  <a:pt x="23494" y="49530"/>
                </a:lnTo>
                <a:lnTo>
                  <a:pt x="99704" y="49530"/>
                </a:lnTo>
                <a:lnTo>
                  <a:pt x="42544" y="16510"/>
                </a:lnTo>
                <a:lnTo>
                  <a:pt x="5206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03145" y="4346447"/>
            <a:ext cx="306705" cy="76200"/>
          </a:xfrm>
          <a:custGeom>
            <a:avLst/>
            <a:gdLst/>
            <a:ahLst/>
            <a:cxnLst/>
            <a:rect l="l" t="t" r="r" b="b"/>
            <a:pathLst>
              <a:path w="306705" h="76200">
                <a:moveTo>
                  <a:pt x="38100" y="0"/>
                </a:moveTo>
                <a:lnTo>
                  <a:pt x="0" y="38100"/>
                </a:lnTo>
                <a:lnTo>
                  <a:pt x="38100" y="76200"/>
                </a:lnTo>
                <a:lnTo>
                  <a:pt x="38100" y="57150"/>
                </a:lnTo>
                <a:lnTo>
                  <a:pt x="306197" y="57150"/>
                </a:lnTo>
                <a:lnTo>
                  <a:pt x="306197" y="19050"/>
                </a:lnTo>
                <a:lnTo>
                  <a:pt x="38100" y="19050"/>
                </a:lnTo>
                <a:lnTo>
                  <a:pt x="38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34641" y="4563109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5" h="183514">
                <a:moveTo>
                  <a:pt x="99577" y="49402"/>
                </a:moveTo>
                <a:lnTo>
                  <a:pt x="23367" y="49402"/>
                </a:lnTo>
                <a:lnTo>
                  <a:pt x="255523" y="183514"/>
                </a:lnTo>
                <a:lnTo>
                  <a:pt x="274573" y="150494"/>
                </a:lnTo>
                <a:lnTo>
                  <a:pt x="99577" y="49402"/>
                </a:lnTo>
                <a:close/>
              </a:path>
              <a:path w="274955" h="183514">
                <a:moveTo>
                  <a:pt x="51942" y="0"/>
                </a:moveTo>
                <a:lnTo>
                  <a:pt x="0" y="13842"/>
                </a:lnTo>
                <a:lnTo>
                  <a:pt x="13842" y="65912"/>
                </a:lnTo>
                <a:lnTo>
                  <a:pt x="23367" y="49402"/>
                </a:lnTo>
                <a:lnTo>
                  <a:pt x="99577" y="49402"/>
                </a:lnTo>
                <a:lnTo>
                  <a:pt x="42417" y="16382"/>
                </a:lnTo>
                <a:lnTo>
                  <a:pt x="5194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00" y="4113148"/>
            <a:ext cx="762000" cy="1905"/>
          </a:xfrm>
          <a:custGeom>
            <a:avLst/>
            <a:gdLst/>
            <a:ahLst/>
            <a:cxnLst/>
            <a:rect l="l" t="t" r="r" b="b"/>
            <a:pathLst>
              <a:path w="762000" h="1904">
                <a:moveTo>
                  <a:pt x="762000" y="1650"/>
                </a:moveTo>
                <a:lnTo>
                  <a:pt x="0" y="0"/>
                </a:lnTo>
              </a:path>
            </a:pathLst>
          </a:custGeom>
          <a:ln w="25399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29200" y="4613909"/>
            <a:ext cx="762000" cy="1905"/>
          </a:xfrm>
          <a:custGeom>
            <a:avLst/>
            <a:gdLst/>
            <a:ahLst/>
            <a:cxnLst/>
            <a:rect l="l" t="t" r="r" b="b"/>
            <a:pathLst>
              <a:path w="762000" h="1904">
                <a:moveTo>
                  <a:pt x="762000" y="1650"/>
                </a:moveTo>
                <a:lnTo>
                  <a:pt x="0" y="0"/>
                </a:lnTo>
              </a:path>
            </a:pathLst>
          </a:custGeom>
          <a:ln w="25399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813175" y="4139565"/>
            <a:ext cx="8750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Enc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der  4 x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69864" y="3268979"/>
            <a:ext cx="1709928" cy="22448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214617" y="4139565"/>
            <a:ext cx="8883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 marR="5080" indent="-6286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Dec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der  2 x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454900" y="3849623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39140" y="50728"/>
                </a:moveTo>
                <a:lnTo>
                  <a:pt x="739586" y="52947"/>
                </a:lnTo>
                <a:lnTo>
                  <a:pt x="747728" y="65055"/>
                </a:lnTo>
                <a:lnTo>
                  <a:pt x="759799" y="73211"/>
                </a:lnTo>
                <a:lnTo>
                  <a:pt x="774573" y="76200"/>
                </a:lnTo>
                <a:lnTo>
                  <a:pt x="789439" y="73284"/>
                </a:lnTo>
                <a:lnTo>
                  <a:pt x="801592" y="65166"/>
                </a:lnTo>
                <a:lnTo>
                  <a:pt x="809791" y="53072"/>
                </a:lnTo>
                <a:lnTo>
                  <a:pt x="810226" y="50926"/>
                </a:lnTo>
                <a:lnTo>
                  <a:pt x="781684" y="50926"/>
                </a:lnTo>
                <a:lnTo>
                  <a:pt x="774700" y="50800"/>
                </a:lnTo>
                <a:lnTo>
                  <a:pt x="739140" y="50728"/>
                </a:lnTo>
                <a:close/>
              </a:path>
              <a:path w="812800" h="76200">
                <a:moveTo>
                  <a:pt x="739187" y="25328"/>
                </a:moveTo>
                <a:lnTo>
                  <a:pt x="736600" y="38100"/>
                </a:lnTo>
                <a:lnTo>
                  <a:pt x="739140" y="50728"/>
                </a:lnTo>
                <a:lnTo>
                  <a:pt x="774700" y="50800"/>
                </a:lnTo>
                <a:lnTo>
                  <a:pt x="781684" y="50926"/>
                </a:lnTo>
                <a:lnTo>
                  <a:pt x="787400" y="45212"/>
                </a:lnTo>
                <a:lnTo>
                  <a:pt x="787400" y="31114"/>
                </a:lnTo>
                <a:lnTo>
                  <a:pt x="781684" y="25526"/>
                </a:lnTo>
                <a:lnTo>
                  <a:pt x="774700" y="25400"/>
                </a:lnTo>
                <a:lnTo>
                  <a:pt x="739187" y="25328"/>
                </a:lnTo>
                <a:close/>
              </a:path>
              <a:path w="812800" h="76200">
                <a:moveTo>
                  <a:pt x="774826" y="0"/>
                </a:moveTo>
                <a:lnTo>
                  <a:pt x="759960" y="2988"/>
                </a:lnTo>
                <a:lnTo>
                  <a:pt x="747807" y="11144"/>
                </a:lnTo>
                <a:lnTo>
                  <a:pt x="739608" y="23252"/>
                </a:lnTo>
                <a:lnTo>
                  <a:pt x="739187" y="25328"/>
                </a:lnTo>
                <a:lnTo>
                  <a:pt x="774700" y="25400"/>
                </a:lnTo>
                <a:lnTo>
                  <a:pt x="781684" y="25526"/>
                </a:lnTo>
                <a:lnTo>
                  <a:pt x="787400" y="31114"/>
                </a:lnTo>
                <a:lnTo>
                  <a:pt x="787400" y="45212"/>
                </a:lnTo>
                <a:lnTo>
                  <a:pt x="781684" y="50926"/>
                </a:lnTo>
                <a:lnTo>
                  <a:pt x="810226" y="50926"/>
                </a:lnTo>
                <a:lnTo>
                  <a:pt x="812800" y="38226"/>
                </a:lnTo>
                <a:lnTo>
                  <a:pt x="809813" y="23377"/>
                </a:lnTo>
                <a:lnTo>
                  <a:pt x="801671" y="11255"/>
                </a:lnTo>
                <a:lnTo>
                  <a:pt x="789600" y="3061"/>
                </a:lnTo>
                <a:lnTo>
                  <a:pt x="774826" y="0"/>
                </a:lnTo>
                <a:close/>
              </a:path>
              <a:path w="812800" h="76200">
                <a:moveTo>
                  <a:pt x="12700" y="23875"/>
                </a:moveTo>
                <a:lnTo>
                  <a:pt x="5715" y="23875"/>
                </a:lnTo>
                <a:lnTo>
                  <a:pt x="0" y="29590"/>
                </a:lnTo>
                <a:lnTo>
                  <a:pt x="0" y="43561"/>
                </a:lnTo>
                <a:lnTo>
                  <a:pt x="5715" y="49275"/>
                </a:lnTo>
                <a:lnTo>
                  <a:pt x="739140" y="50728"/>
                </a:lnTo>
                <a:lnTo>
                  <a:pt x="736600" y="38100"/>
                </a:lnTo>
                <a:lnTo>
                  <a:pt x="739187" y="25328"/>
                </a:lnTo>
                <a:lnTo>
                  <a:pt x="12700" y="2387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454900" y="42291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74826" y="0"/>
                </a:moveTo>
                <a:lnTo>
                  <a:pt x="759960" y="2986"/>
                </a:lnTo>
                <a:lnTo>
                  <a:pt x="747807" y="11128"/>
                </a:lnTo>
                <a:lnTo>
                  <a:pt x="739608" y="23199"/>
                </a:lnTo>
                <a:lnTo>
                  <a:pt x="739175" y="25323"/>
                </a:lnTo>
                <a:lnTo>
                  <a:pt x="774700" y="25400"/>
                </a:lnTo>
                <a:lnTo>
                  <a:pt x="781684" y="25400"/>
                </a:lnTo>
                <a:lnTo>
                  <a:pt x="787400" y="31114"/>
                </a:lnTo>
                <a:lnTo>
                  <a:pt x="787400" y="45085"/>
                </a:lnTo>
                <a:lnTo>
                  <a:pt x="781684" y="50800"/>
                </a:lnTo>
                <a:lnTo>
                  <a:pt x="739176" y="50800"/>
                </a:lnTo>
                <a:lnTo>
                  <a:pt x="739586" y="52839"/>
                </a:lnTo>
                <a:lnTo>
                  <a:pt x="747728" y="64992"/>
                </a:lnTo>
                <a:lnTo>
                  <a:pt x="759799" y="73191"/>
                </a:lnTo>
                <a:lnTo>
                  <a:pt x="774573" y="76200"/>
                </a:lnTo>
                <a:lnTo>
                  <a:pt x="789439" y="73213"/>
                </a:lnTo>
                <a:lnTo>
                  <a:pt x="801592" y="65071"/>
                </a:lnTo>
                <a:lnTo>
                  <a:pt x="809791" y="53000"/>
                </a:lnTo>
                <a:lnTo>
                  <a:pt x="810239" y="50800"/>
                </a:lnTo>
                <a:lnTo>
                  <a:pt x="774700" y="50800"/>
                </a:lnTo>
                <a:lnTo>
                  <a:pt x="810255" y="50722"/>
                </a:lnTo>
                <a:lnTo>
                  <a:pt x="812800" y="38226"/>
                </a:lnTo>
                <a:lnTo>
                  <a:pt x="809813" y="23360"/>
                </a:lnTo>
                <a:lnTo>
                  <a:pt x="801671" y="11207"/>
                </a:lnTo>
                <a:lnTo>
                  <a:pt x="789600" y="3008"/>
                </a:lnTo>
                <a:lnTo>
                  <a:pt x="774826" y="0"/>
                </a:lnTo>
                <a:close/>
              </a:path>
              <a:path w="812800" h="76200">
                <a:moveTo>
                  <a:pt x="739175" y="25323"/>
                </a:moveTo>
                <a:lnTo>
                  <a:pt x="736600" y="37973"/>
                </a:lnTo>
                <a:lnTo>
                  <a:pt x="739161" y="50722"/>
                </a:lnTo>
                <a:lnTo>
                  <a:pt x="774700" y="50800"/>
                </a:lnTo>
                <a:lnTo>
                  <a:pt x="781684" y="50800"/>
                </a:lnTo>
                <a:lnTo>
                  <a:pt x="787400" y="45085"/>
                </a:lnTo>
                <a:lnTo>
                  <a:pt x="787400" y="31114"/>
                </a:lnTo>
                <a:lnTo>
                  <a:pt x="781684" y="25400"/>
                </a:lnTo>
                <a:lnTo>
                  <a:pt x="739175" y="25323"/>
                </a:lnTo>
                <a:close/>
              </a:path>
              <a:path w="812800" h="76200">
                <a:moveTo>
                  <a:pt x="12700" y="23749"/>
                </a:moveTo>
                <a:lnTo>
                  <a:pt x="5715" y="23749"/>
                </a:lnTo>
                <a:lnTo>
                  <a:pt x="0" y="29463"/>
                </a:lnTo>
                <a:lnTo>
                  <a:pt x="0" y="43561"/>
                </a:lnTo>
                <a:lnTo>
                  <a:pt x="5715" y="49149"/>
                </a:lnTo>
                <a:lnTo>
                  <a:pt x="739161" y="50722"/>
                </a:lnTo>
                <a:lnTo>
                  <a:pt x="736600" y="37973"/>
                </a:lnTo>
                <a:lnTo>
                  <a:pt x="739175" y="25323"/>
                </a:lnTo>
                <a:lnTo>
                  <a:pt x="12700" y="23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454900" y="46101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74826" y="0"/>
                </a:moveTo>
                <a:lnTo>
                  <a:pt x="759960" y="2986"/>
                </a:lnTo>
                <a:lnTo>
                  <a:pt x="747807" y="11128"/>
                </a:lnTo>
                <a:lnTo>
                  <a:pt x="739608" y="23199"/>
                </a:lnTo>
                <a:lnTo>
                  <a:pt x="739175" y="25323"/>
                </a:lnTo>
                <a:lnTo>
                  <a:pt x="774700" y="25400"/>
                </a:lnTo>
                <a:lnTo>
                  <a:pt x="781684" y="25400"/>
                </a:lnTo>
                <a:lnTo>
                  <a:pt x="787400" y="31114"/>
                </a:lnTo>
                <a:lnTo>
                  <a:pt x="787400" y="45085"/>
                </a:lnTo>
                <a:lnTo>
                  <a:pt x="781684" y="50800"/>
                </a:lnTo>
                <a:lnTo>
                  <a:pt x="739176" y="50800"/>
                </a:lnTo>
                <a:lnTo>
                  <a:pt x="739586" y="52839"/>
                </a:lnTo>
                <a:lnTo>
                  <a:pt x="747728" y="64992"/>
                </a:lnTo>
                <a:lnTo>
                  <a:pt x="759799" y="73191"/>
                </a:lnTo>
                <a:lnTo>
                  <a:pt x="774573" y="76200"/>
                </a:lnTo>
                <a:lnTo>
                  <a:pt x="789439" y="73213"/>
                </a:lnTo>
                <a:lnTo>
                  <a:pt x="801592" y="65071"/>
                </a:lnTo>
                <a:lnTo>
                  <a:pt x="809791" y="53000"/>
                </a:lnTo>
                <a:lnTo>
                  <a:pt x="810239" y="50800"/>
                </a:lnTo>
                <a:lnTo>
                  <a:pt x="774700" y="50800"/>
                </a:lnTo>
                <a:lnTo>
                  <a:pt x="810255" y="50722"/>
                </a:lnTo>
                <a:lnTo>
                  <a:pt x="812800" y="38226"/>
                </a:lnTo>
                <a:lnTo>
                  <a:pt x="809813" y="23360"/>
                </a:lnTo>
                <a:lnTo>
                  <a:pt x="801671" y="11207"/>
                </a:lnTo>
                <a:lnTo>
                  <a:pt x="789600" y="3008"/>
                </a:lnTo>
                <a:lnTo>
                  <a:pt x="774826" y="0"/>
                </a:lnTo>
                <a:close/>
              </a:path>
              <a:path w="812800" h="76200">
                <a:moveTo>
                  <a:pt x="739175" y="25323"/>
                </a:moveTo>
                <a:lnTo>
                  <a:pt x="736600" y="37973"/>
                </a:lnTo>
                <a:lnTo>
                  <a:pt x="739161" y="50722"/>
                </a:lnTo>
                <a:lnTo>
                  <a:pt x="774700" y="50800"/>
                </a:lnTo>
                <a:lnTo>
                  <a:pt x="781684" y="50800"/>
                </a:lnTo>
                <a:lnTo>
                  <a:pt x="787400" y="45085"/>
                </a:lnTo>
                <a:lnTo>
                  <a:pt x="787400" y="31114"/>
                </a:lnTo>
                <a:lnTo>
                  <a:pt x="781684" y="25400"/>
                </a:lnTo>
                <a:lnTo>
                  <a:pt x="739175" y="25323"/>
                </a:lnTo>
                <a:close/>
              </a:path>
              <a:path w="812800" h="76200">
                <a:moveTo>
                  <a:pt x="12700" y="23749"/>
                </a:moveTo>
                <a:lnTo>
                  <a:pt x="5715" y="23749"/>
                </a:lnTo>
                <a:lnTo>
                  <a:pt x="0" y="29463"/>
                </a:lnTo>
                <a:lnTo>
                  <a:pt x="0" y="43433"/>
                </a:lnTo>
                <a:lnTo>
                  <a:pt x="5715" y="49149"/>
                </a:lnTo>
                <a:lnTo>
                  <a:pt x="739161" y="50722"/>
                </a:lnTo>
                <a:lnTo>
                  <a:pt x="736600" y="37973"/>
                </a:lnTo>
                <a:lnTo>
                  <a:pt x="739175" y="25323"/>
                </a:lnTo>
                <a:lnTo>
                  <a:pt x="12700" y="23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454900" y="49911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74826" y="0"/>
                </a:moveTo>
                <a:lnTo>
                  <a:pt x="759960" y="2986"/>
                </a:lnTo>
                <a:lnTo>
                  <a:pt x="747807" y="11128"/>
                </a:lnTo>
                <a:lnTo>
                  <a:pt x="739608" y="23199"/>
                </a:lnTo>
                <a:lnTo>
                  <a:pt x="739175" y="25323"/>
                </a:lnTo>
                <a:lnTo>
                  <a:pt x="774700" y="25400"/>
                </a:lnTo>
                <a:lnTo>
                  <a:pt x="781684" y="25400"/>
                </a:lnTo>
                <a:lnTo>
                  <a:pt x="787400" y="31114"/>
                </a:lnTo>
                <a:lnTo>
                  <a:pt x="787400" y="45085"/>
                </a:lnTo>
                <a:lnTo>
                  <a:pt x="781684" y="50800"/>
                </a:lnTo>
                <a:lnTo>
                  <a:pt x="739176" y="50800"/>
                </a:lnTo>
                <a:lnTo>
                  <a:pt x="739586" y="52839"/>
                </a:lnTo>
                <a:lnTo>
                  <a:pt x="747728" y="64992"/>
                </a:lnTo>
                <a:lnTo>
                  <a:pt x="759799" y="73191"/>
                </a:lnTo>
                <a:lnTo>
                  <a:pt x="774573" y="76200"/>
                </a:lnTo>
                <a:lnTo>
                  <a:pt x="789439" y="73213"/>
                </a:lnTo>
                <a:lnTo>
                  <a:pt x="801592" y="65071"/>
                </a:lnTo>
                <a:lnTo>
                  <a:pt x="809791" y="53000"/>
                </a:lnTo>
                <a:lnTo>
                  <a:pt x="810239" y="50800"/>
                </a:lnTo>
                <a:lnTo>
                  <a:pt x="774700" y="50800"/>
                </a:lnTo>
                <a:lnTo>
                  <a:pt x="810255" y="50722"/>
                </a:lnTo>
                <a:lnTo>
                  <a:pt x="812800" y="38226"/>
                </a:lnTo>
                <a:lnTo>
                  <a:pt x="809813" y="23360"/>
                </a:lnTo>
                <a:lnTo>
                  <a:pt x="801671" y="11207"/>
                </a:lnTo>
                <a:lnTo>
                  <a:pt x="789600" y="3008"/>
                </a:lnTo>
                <a:lnTo>
                  <a:pt x="774826" y="0"/>
                </a:lnTo>
                <a:close/>
              </a:path>
              <a:path w="812800" h="76200">
                <a:moveTo>
                  <a:pt x="739175" y="25323"/>
                </a:moveTo>
                <a:lnTo>
                  <a:pt x="736600" y="37973"/>
                </a:lnTo>
                <a:lnTo>
                  <a:pt x="739161" y="50722"/>
                </a:lnTo>
                <a:lnTo>
                  <a:pt x="774700" y="50800"/>
                </a:lnTo>
                <a:lnTo>
                  <a:pt x="781684" y="50800"/>
                </a:lnTo>
                <a:lnTo>
                  <a:pt x="787400" y="45085"/>
                </a:lnTo>
                <a:lnTo>
                  <a:pt x="787400" y="31114"/>
                </a:lnTo>
                <a:lnTo>
                  <a:pt x="781684" y="25400"/>
                </a:lnTo>
                <a:lnTo>
                  <a:pt x="739175" y="25323"/>
                </a:lnTo>
                <a:close/>
              </a:path>
              <a:path w="812800" h="76200">
                <a:moveTo>
                  <a:pt x="12700" y="23749"/>
                </a:moveTo>
                <a:lnTo>
                  <a:pt x="5715" y="23749"/>
                </a:lnTo>
                <a:lnTo>
                  <a:pt x="0" y="29463"/>
                </a:lnTo>
                <a:lnTo>
                  <a:pt x="0" y="43433"/>
                </a:lnTo>
                <a:lnTo>
                  <a:pt x="5715" y="49149"/>
                </a:lnTo>
                <a:lnTo>
                  <a:pt x="739161" y="50722"/>
                </a:lnTo>
                <a:lnTo>
                  <a:pt x="736600" y="37973"/>
                </a:lnTo>
                <a:lnTo>
                  <a:pt x="739175" y="25323"/>
                </a:lnTo>
                <a:lnTo>
                  <a:pt x="12700" y="23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882394" y="3529863"/>
            <a:ext cx="328295" cy="130492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56515" marR="30480" indent="-19050" algn="just">
              <a:lnSpc>
                <a:spcPct val="129200"/>
              </a:lnSpc>
              <a:spcBef>
                <a:spcPts val="250"/>
              </a:spcBef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575" baseline="-21164" dirty="0">
                <a:latin typeface="Times New Roman"/>
                <a:cs typeface="Times New Roman"/>
              </a:rPr>
              <a:t>0 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575" baseline="-21164" dirty="0">
                <a:latin typeface="Times New Roman"/>
                <a:cs typeface="Times New Roman"/>
              </a:rPr>
              <a:t>1 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575" baseline="-21164" dirty="0">
                <a:latin typeface="Times New Roman"/>
                <a:cs typeface="Times New Roman"/>
              </a:rPr>
              <a:t>2 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575" baseline="-21164" dirty="0">
                <a:latin typeface="Times New Roman"/>
                <a:cs typeface="Times New Roman"/>
              </a:rPr>
              <a:t>3</a:t>
            </a:r>
            <a:endParaRPr sz="1575" baseline="-21164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9600" y="1676400"/>
            <a:ext cx="187452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127127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asper"/>
                <a:cs typeface="Times New Roman"/>
              </a:rPr>
              <a:t>M=4  M=2</a:t>
            </a:r>
            <a:r>
              <a:rPr sz="1600" spc="-7" baseline="25462" dirty="0">
                <a:latin typeface="Casper"/>
                <a:cs typeface="Times New Roman"/>
              </a:rPr>
              <a:t>2  </a:t>
            </a:r>
            <a:r>
              <a:rPr sz="1600" spc="-5" dirty="0">
                <a:latin typeface="Casper"/>
                <a:cs typeface="Times New Roman"/>
              </a:rPr>
              <a:t>M=2</a:t>
            </a:r>
            <a:r>
              <a:rPr sz="1600" spc="-7" baseline="25462" dirty="0">
                <a:latin typeface="Casper"/>
                <a:cs typeface="Times New Roman"/>
              </a:rPr>
              <a:t>N</a:t>
            </a:r>
            <a:endParaRPr sz="1600" baseline="25462">
              <a:latin typeface="Casper"/>
              <a:cs typeface="Times New Roman"/>
            </a:endParaRPr>
          </a:p>
          <a:p>
            <a:pPr marL="38100" marR="30480">
              <a:lnSpc>
                <a:spcPct val="100000"/>
              </a:lnSpc>
            </a:pPr>
            <a:r>
              <a:rPr sz="1600" dirty="0">
                <a:latin typeface="Casper"/>
                <a:cs typeface="Times New Roman"/>
              </a:rPr>
              <a:t>‘M’ is the input</a:t>
            </a:r>
            <a:r>
              <a:rPr sz="1600" spc="-254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and  ‘N’ is the</a:t>
            </a:r>
            <a:r>
              <a:rPr sz="1600" spc="-190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output</a:t>
            </a:r>
            <a:endParaRPr sz="1600">
              <a:latin typeface="Casper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45994" y="3449218"/>
            <a:ext cx="248920" cy="128143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600" dirty="0">
                <a:latin typeface="Times New Roman"/>
                <a:cs typeface="Times New Roman"/>
              </a:rPr>
              <a:t>00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dirty="0">
                <a:latin typeface="Times New Roman"/>
                <a:cs typeface="Times New Roman"/>
              </a:rPr>
              <a:t>01</a:t>
            </a:r>
            <a:endParaRPr sz="16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495"/>
              </a:spcBef>
            </a:pPr>
            <a:r>
              <a:rPr sz="1600" dirty="0">
                <a:latin typeface="Times New Roman"/>
                <a:cs typeface="Times New Roman"/>
              </a:rPr>
              <a:t>10</a:t>
            </a:r>
            <a:endParaRPr sz="1600">
              <a:latin typeface="Times New Roman"/>
              <a:cs typeface="Times New Roman"/>
            </a:endParaRPr>
          </a:p>
          <a:p>
            <a:pPr marL="46990">
              <a:lnSpc>
                <a:spcPct val="100000"/>
              </a:lnSpc>
              <a:spcBef>
                <a:spcPts val="550"/>
              </a:spcBef>
            </a:pPr>
            <a:r>
              <a:rPr sz="1600" spc="-60" dirty="0">
                <a:latin typeface="Times New Roman"/>
                <a:cs typeface="Times New Roman"/>
              </a:rPr>
              <a:t>11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442959" y="4982845"/>
            <a:ext cx="91440" cy="914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427084" y="4605020"/>
            <a:ext cx="91440" cy="914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417814" y="3852290"/>
            <a:ext cx="91439" cy="914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419338" y="4233290"/>
            <a:ext cx="91439" cy="91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212708" y="3725036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4" h="183514">
                <a:moveTo>
                  <a:pt x="222631" y="0"/>
                </a:moveTo>
                <a:lnTo>
                  <a:pt x="232156" y="16510"/>
                </a:lnTo>
                <a:lnTo>
                  <a:pt x="0" y="150494"/>
                </a:lnTo>
                <a:lnTo>
                  <a:pt x="19050" y="183514"/>
                </a:lnTo>
                <a:lnTo>
                  <a:pt x="251206" y="49530"/>
                </a:lnTo>
                <a:lnTo>
                  <a:pt x="265160" y="49530"/>
                </a:lnTo>
                <a:lnTo>
                  <a:pt x="274700" y="13969"/>
                </a:lnTo>
                <a:lnTo>
                  <a:pt x="222631" y="0"/>
                </a:lnTo>
                <a:close/>
              </a:path>
              <a:path w="274954" h="183514">
                <a:moveTo>
                  <a:pt x="265160" y="49530"/>
                </a:moveTo>
                <a:lnTo>
                  <a:pt x="251206" y="49530"/>
                </a:lnTo>
                <a:lnTo>
                  <a:pt x="260731" y="66039"/>
                </a:lnTo>
                <a:lnTo>
                  <a:pt x="265160" y="4953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220456" y="4085844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4" h="183514">
                <a:moveTo>
                  <a:pt x="222630" y="0"/>
                </a:moveTo>
                <a:lnTo>
                  <a:pt x="232155" y="16509"/>
                </a:lnTo>
                <a:lnTo>
                  <a:pt x="0" y="150494"/>
                </a:lnTo>
                <a:lnTo>
                  <a:pt x="19050" y="183514"/>
                </a:lnTo>
                <a:lnTo>
                  <a:pt x="251205" y="49529"/>
                </a:lnTo>
                <a:lnTo>
                  <a:pt x="265160" y="49529"/>
                </a:lnTo>
                <a:lnTo>
                  <a:pt x="274700" y="13969"/>
                </a:lnTo>
                <a:lnTo>
                  <a:pt x="222630" y="0"/>
                </a:lnTo>
                <a:close/>
              </a:path>
              <a:path w="274954" h="183514">
                <a:moveTo>
                  <a:pt x="265160" y="49529"/>
                </a:moveTo>
                <a:lnTo>
                  <a:pt x="251205" y="49529"/>
                </a:lnTo>
                <a:lnTo>
                  <a:pt x="260730" y="66039"/>
                </a:lnTo>
                <a:lnTo>
                  <a:pt x="265160" y="495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220456" y="4874133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4" h="183514">
                <a:moveTo>
                  <a:pt x="222630" y="0"/>
                </a:moveTo>
                <a:lnTo>
                  <a:pt x="232155" y="16510"/>
                </a:lnTo>
                <a:lnTo>
                  <a:pt x="0" y="150495"/>
                </a:lnTo>
                <a:lnTo>
                  <a:pt x="19050" y="183515"/>
                </a:lnTo>
                <a:lnTo>
                  <a:pt x="251205" y="49403"/>
                </a:lnTo>
                <a:lnTo>
                  <a:pt x="265160" y="49403"/>
                </a:lnTo>
                <a:lnTo>
                  <a:pt x="274700" y="13843"/>
                </a:lnTo>
                <a:lnTo>
                  <a:pt x="222630" y="0"/>
                </a:lnTo>
                <a:close/>
              </a:path>
              <a:path w="274954" h="183514">
                <a:moveTo>
                  <a:pt x="265160" y="49403"/>
                </a:moveTo>
                <a:lnTo>
                  <a:pt x="251205" y="49403"/>
                </a:lnTo>
                <a:lnTo>
                  <a:pt x="260730" y="65913"/>
                </a:lnTo>
                <a:lnTo>
                  <a:pt x="265160" y="494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220456" y="4474590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4" h="183514">
                <a:moveTo>
                  <a:pt x="222630" y="0"/>
                </a:moveTo>
                <a:lnTo>
                  <a:pt x="232155" y="16509"/>
                </a:lnTo>
                <a:lnTo>
                  <a:pt x="0" y="150494"/>
                </a:lnTo>
                <a:lnTo>
                  <a:pt x="19050" y="183514"/>
                </a:lnTo>
                <a:lnTo>
                  <a:pt x="251205" y="49529"/>
                </a:lnTo>
                <a:lnTo>
                  <a:pt x="265160" y="49529"/>
                </a:lnTo>
                <a:lnTo>
                  <a:pt x="274700" y="13969"/>
                </a:lnTo>
                <a:lnTo>
                  <a:pt x="222630" y="0"/>
                </a:lnTo>
                <a:close/>
              </a:path>
              <a:path w="274954" h="183514">
                <a:moveTo>
                  <a:pt x="265160" y="49529"/>
                </a:moveTo>
                <a:lnTo>
                  <a:pt x="251205" y="49529"/>
                </a:lnTo>
                <a:lnTo>
                  <a:pt x="260730" y="66039"/>
                </a:lnTo>
                <a:lnTo>
                  <a:pt x="265160" y="495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657600" y="5867400"/>
            <a:ext cx="358140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lang="pt-BR" sz="1600" dirty="0">
                <a:latin typeface="Casper"/>
                <a:cs typeface="Times New Roman"/>
              </a:rPr>
              <a:t>Fig.</a:t>
            </a:r>
            <a:r>
              <a:rPr lang="pt-BR" sz="1600" spc="-100" dirty="0">
                <a:latin typeface="Casper"/>
                <a:cs typeface="Times New Roman"/>
              </a:rPr>
              <a:t> 8 </a:t>
            </a:r>
            <a:r>
              <a:rPr lang="pt-BR" sz="1600" dirty="0">
                <a:latin typeface="Casper"/>
              </a:rPr>
              <a:t>ENCODER DIAGRAM</a:t>
            </a:r>
            <a:endParaRPr lang="pt-BR" sz="1600" dirty="0">
              <a:latin typeface="Casper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228600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asperBOLD"/>
              </a:rPr>
              <a:t>ENC</a:t>
            </a:r>
            <a:r>
              <a:rPr spc="-15" dirty="0">
                <a:latin typeface="CasperBOLD"/>
              </a:rPr>
              <a:t>O</a:t>
            </a:r>
            <a:r>
              <a:rPr spc="-5" dirty="0">
                <a:latin typeface="CasperBOLD"/>
              </a:rPr>
              <a:t>DER</a:t>
            </a:r>
          </a:p>
        </p:txBody>
      </p:sp>
      <p:sp>
        <p:nvSpPr>
          <p:cNvPr id="3" name="object 3"/>
          <p:cNvSpPr/>
          <p:nvPr/>
        </p:nvSpPr>
        <p:spPr>
          <a:xfrm>
            <a:off x="3351276" y="3255264"/>
            <a:ext cx="1696211" cy="2231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43429" y="37719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38100" y="0"/>
                </a:moveTo>
                <a:lnTo>
                  <a:pt x="23252" y="2986"/>
                </a:lnTo>
                <a:lnTo>
                  <a:pt x="11144" y="11128"/>
                </a:lnTo>
                <a:lnTo>
                  <a:pt x="2988" y="23199"/>
                </a:lnTo>
                <a:lnTo>
                  <a:pt x="0" y="37973"/>
                </a:lnTo>
                <a:lnTo>
                  <a:pt x="2915" y="52839"/>
                </a:lnTo>
                <a:lnTo>
                  <a:pt x="11033" y="64992"/>
                </a:lnTo>
                <a:lnTo>
                  <a:pt x="23127" y="73191"/>
                </a:lnTo>
                <a:lnTo>
                  <a:pt x="37972" y="76200"/>
                </a:lnTo>
                <a:lnTo>
                  <a:pt x="52822" y="73213"/>
                </a:lnTo>
                <a:lnTo>
                  <a:pt x="64944" y="65071"/>
                </a:lnTo>
                <a:lnTo>
                  <a:pt x="73138" y="53000"/>
                </a:lnTo>
                <a:lnTo>
                  <a:pt x="73579" y="50871"/>
                </a:lnTo>
                <a:lnTo>
                  <a:pt x="30987" y="50800"/>
                </a:lnTo>
                <a:lnTo>
                  <a:pt x="25272" y="45085"/>
                </a:lnTo>
                <a:lnTo>
                  <a:pt x="25397" y="38226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1" y="25400"/>
                </a:lnTo>
                <a:lnTo>
                  <a:pt x="73211" y="23360"/>
                </a:lnTo>
                <a:lnTo>
                  <a:pt x="65055" y="11207"/>
                </a:lnTo>
                <a:lnTo>
                  <a:pt x="52947" y="3008"/>
                </a:lnTo>
                <a:lnTo>
                  <a:pt x="38100" y="0"/>
                </a:lnTo>
                <a:close/>
              </a:path>
              <a:path w="812800" h="76200">
                <a:moveTo>
                  <a:pt x="73635" y="25471"/>
                </a:moveTo>
                <a:lnTo>
                  <a:pt x="76200" y="38226"/>
                </a:lnTo>
                <a:lnTo>
                  <a:pt x="73579" y="50871"/>
                </a:lnTo>
                <a:lnTo>
                  <a:pt x="799972" y="52324"/>
                </a:lnTo>
                <a:lnTo>
                  <a:pt x="807084" y="52450"/>
                </a:lnTo>
                <a:lnTo>
                  <a:pt x="812672" y="46736"/>
                </a:lnTo>
                <a:lnTo>
                  <a:pt x="812799" y="32638"/>
                </a:lnTo>
                <a:lnTo>
                  <a:pt x="807084" y="27050"/>
                </a:lnTo>
                <a:lnTo>
                  <a:pt x="800099" y="26924"/>
                </a:lnTo>
                <a:lnTo>
                  <a:pt x="73635" y="25471"/>
                </a:lnTo>
                <a:close/>
              </a:path>
              <a:path w="812800" h="76200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397" y="38226"/>
                </a:lnTo>
                <a:lnTo>
                  <a:pt x="25272" y="45085"/>
                </a:lnTo>
                <a:lnTo>
                  <a:pt x="30987" y="50800"/>
                </a:lnTo>
                <a:lnTo>
                  <a:pt x="73579" y="50871"/>
                </a:lnTo>
                <a:lnTo>
                  <a:pt x="76200" y="38226"/>
                </a:lnTo>
                <a:lnTo>
                  <a:pt x="73635" y="25471"/>
                </a:lnTo>
                <a:lnTo>
                  <a:pt x="38100" y="25400"/>
                </a:lnTo>
                <a:close/>
              </a:path>
              <a:path w="812800" h="76200">
                <a:moveTo>
                  <a:pt x="73621" y="25400"/>
                </a:moveTo>
                <a:lnTo>
                  <a:pt x="38100" y="25400"/>
                </a:lnTo>
                <a:lnTo>
                  <a:pt x="73635" y="25471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52700" y="4075048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38226" y="0"/>
                </a:moveTo>
                <a:lnTo>
                  <a:pt x="23360" y="2988"/>
                </a:lnTo>
                <a:lnTo>
                  <a:pt x="11207" y="11144"/>
                </a:lnTo>
                <a:lnTo>
                  <a:pt x="3008" y="23252"/>
                </a:lnTo>
                <a:lnTo>
                  <a:pt x="0" y="38100"/>
                </a:lnTo>
                <a:lnTo>
                  <a:pt x="2986" y="52947"/>
                </a:lnTo>
                <a:lnTo>
                  <a:pt x="11128" y="65055"/>
                </a:lnTo>
                <a:lnTo>
                  <a:pt x="23199" y="73211"/>
                </a:lnTo>
                <a:lnTo>
                  <a:pt x="37973" y="76200"/>
                </a:lnTo>
                <a:lnTo>
                  <a:pt x="52839" y="73284"/>
                </a:lnTo>
                <a:lnTo>
                  <a:pt x="64992" y="65166"/>
                </a:lnTo>
                <a:lnTo>
                  <a:pt x="73191" y="53072"/>
                </a:lnTo>
                <a:lnTo>
                  <a:pt x="73636" y="50876"/>
                </a:lnTo>
                <a:lnTo>
                  <a:pt x="31114" y="50800"/>
                </a:lnTo>
                <a:lnTo>
                  <a:pt x="25400" y="45084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0" y="25400"/>
                </a:lnTo>
                <a:lnTo>
                  <a:pt x="73213" y="23377"/>
                </a:lnTo>
                <a:lnTo>
                  <a:pt x="65071" y="11255"/>
                </a:lnTo>
                <a:lnTo>
                  <a:pt x="53000" y="3061"/>
                </a:lnTo>
                <a:lnTo>
                  <a:pt x="38226" y="0"/>
                </a:lnTo>
                <a:close/>
              </a:path>
              <a:path w="812800" h="76200">
                <a:moveTo>
                  <a:pt x="73635" y="25476"/>
                </a:moveTo>
                <a:lnTo>
                  <a:pt x="76200" y="38226"/>
                </a:lnTo>
                <a:lnTo>
                  <a:pt x="73636" y="50876"/>
                </a:lnTo>
                <a:lnTo>
                  <a:pt x="800100" y="52450"/>
                </a:lnTo>
                <a:lnTo>
                  <a:pt x="807085" y="52450"/>
                </a:lnTo>
                <a:lnTo>
                  <a:pt x="812800" y="46736"/>
                </a:lnTo>
                <a:lnTo>
                  <a:pt x="812800" y="32765"/>
                </a:lnTo>
                <a:lnTo>
                  <a:pt x="807085" y="27050"/>
                </a:lnTo>
                <a:lnTo>
                  <a:pt x="800100" y="27050"/>
                </a:lnTo>
                <a:lnTo>
                  <a:pt x="73635" y="25476"/>
                </a:lnTo>
                <a:close/>
              </a:path>
              <a:path w="812800" h="76200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400" y="45084"/>
                </a:lnTo>
                <a:lnTo>
                  <a:pt x="31114" y="50800"/>
                </a:lnTo>
                <a:lnTo>
                  <a:pt x="73636" y="50876"/>
                </a:lnTo>
                <a:lnTo>
                  <a:pt x="76200" y="38226"/>
                </a:lnTo>
                <a:lnTo>
                  <a:pt x="73635" y="25476"/>
                </a:lnTo>
                <a:lnTo>
                  <a:pt x="38100" y="25400"/>
                </a:lnTo>
                <a:close/>
              </a:path>
              <a:path w="812800" h="76200">
                <a:moveTo>
                  <a:pt x="73620" y="25400"/>
                </a:moveTo>
                <a:lnTo>
                  <a:pt x="38100" y="25400"/>
                </a:lnTo>
                <a:lnTo>
                  <a:pt x="73635" y="2547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52700" y="4379848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38226" y="0"/>
                </a:moveTo>
                <a:lnTo>
                  <a:pt x="23360" y="2988"/>
                </a:lnTo>
                <a:lnTo>
                  <a:pt x="11207" y="11144"/>
                </a:lnTo>
                <a:lnTo>
                  <a:pt x="3008" y="23252"/>
                </a:lnTo>
                <a:lnTo>
                  <a:pt x="0" y="38100"/>
                </a:lnTo>
                <a:lnTo>
                  <a:pt x="2986" y="52947"/>
                </a:lnTo>
                <a:lnTo>
                  <a:pt x="11128" y="65055"/>
                </a:lnTo>
                <a:lnTo>
                  <a:pt x="23199" y="73211"/>
                </a:lnTo>
                <a:lnTo>
                  <a:pt x="37973" y="76200"/>
                </a:lnTo>
                <a:lnTo>
                  <a:pt x="52839" y="73284"/>
                </a:lnTo>
                <a:lnTo>
                  <a:pt x="64992" y="65166"/>
                </a:lnTo>
                <a:lnTo>
                  <a:pt x="73191" y="53072"/>
                </a:lnTo>
                <a:lnTo>
                  <a:pt x="73636" y="50876"/>
                </a:lnTo>
                <a:lnTo>
                  <a:pt x="31114" y="50800"/>
                </a:lnTo>
                <a:lnTo>
                  <a:pt x="25400" y="45212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0" y="25400"/>
                </a:lnTo>
                <a:lnTo>
                  <a:pt x="73213" y="23377"/>
                </a:lnTo>
                <a:lnTo>
                  <a:pt x="65071" y="11255"/>
                </a:lnTo>
                <a:lnTo>
                  <a:pt x="53000" y="3061"/>
                </a:lnTo>
                <a:lnTo>
                  <a:pt x="38226" y="0"/>
                </a:lnTo>
                <a:close/>
              </a:path>
              <a:path w="812800" h="76200">
                <a:moveTo>
                  <a:pt x="73635" y="25476"/>
                </a:moveTo>
                <a:lnTo>
                  <a:pt x="76200" y="38226"/>
                </a:lnTo>
                <a:lnTo>
                  <a:pt x="73636" y="50876"/>
                </a:lnTo>
                <a:lnTo>
                  <a:pt x="800100" y="52450"/>
                </a:lnTo>
                <a:lnTo>
                  <a:pt x="807085" y="52450"/>
                </a:lnTo>
                <a:lnTo>
                  <a:pt x="812800" y="46736"/>
                </a:lnTo>
                <a:lnTo>
                  <a:pt x="812800" y="32765"/>
                </a:lnTo>
                <a:lnTo>
                  <a:pt x="807085" y="27050"/>
                </a:lnTo>
                <a:lnTo>
                  <a:pt x="800100" y="27050"/>
                </a:lnTo>
                <a:lnTo>
                  <a:pt x="73635" y="25476"/>
                </a:lnTo>
                <a:close/>
              </a:path>
              <a:path w="812800" h="76200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400" y="45212"/>
                </a:lnTo>
                <a:lnTo>
                  <a:pt x="31114" y="50800"/>
                </a:lnTo>
                <a:lnTo>
                  <a:pt x="73636" y="50876"/>
                </a:lnTo>
                <a:lnTo>
                  <a:pt x="76200" y="38226"/>
                </a:lnTo>
                <a:lnTo>
                  <a:pt x="73635" y="25476"/>
                </a:lnTo>
                <a:lnTo>
                  <a:pt x="38100" y="25400"/>
                </a:lnTo>
                <a:close/>
              </a:path>
              <a:path w="812800" h="76200">
                <a:moveTo>
                  <a:pt x="73620" y="25400"/>
                </a:moveTo>
                <a:lnTo>
                  <a:pt x="38100" y="25400"/>
                </a:lnTo>
                <a:lnTo>
                  <a:pt x="73635" y="2547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52700" y="46863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38226" y="0"/>
                </a:moveTo>
                <a:lnTo>
                  <a:pt x="23360" y="2986"/>
                </a:lnTo>
                <a:lnTo>
                  <a:pt x="11207" y="11128"/>
                </a:lnTo>
                <a:lnTo>
                  <a:pt x="3008" y="23199"/>
                </a:lnTo>
                <a:lnTo>
                  <a:pt x="0" y="37973"/>
                </a:lnTo>
                <a:lnTo>
                  <a:pt x="2986" y="52839"/>
                </a:lnTo>
                <a:lnTo>
                  <a:pt x="11128" y="64992"/>
                </a:lnTo>
                <a:lnTo>
                  <a:pt x="23199" y="73191"/>
                </a:lnTo>
                <a:lnTo>
                  <a:pt x="37973" y="76200"/>
                </a:lnTo>
                <a:lnTo>
                  <a:pt x="52839" y="73213"/>
                </a:lnTo>
                <a:lnTo>
                  <a:pt x="64992" y="65071"/>
                </a:lnTo>
                <a:lnTo>
                  <a:pt x="73191" y="53000"/>
                </a:lnTo>
                <a:lnTo>
                  <a:pt x="73625" y="50871"/>
                </a:lnTo>
                <a:lnTo>
                  <a:pt x="31114" y="50800"/>
                </a:lnTo>
                <a:lnTo>
                  <a:pt x="25400" y="45085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3" y="25400"/>
                </a:lnTo>
                <a:lnTo>
                  <a:pt x="73213" y="23360"/>
                </a:lnTo>
                <a:lnTo>
                  <a:pt x="65071" y="11207"/>
                </a:lnTo>
                <a:lnTo>
                  <a:pt x="53000" y="3008"/>
                </a:lnTo>
                <a:lnTo>
                  <a:pt x="38226" y="0"/>
                </a:lnTo>
                <a:close/>
              </a:path>
              <a:path w="812800" h="76200">
                <a:moveTo>
                  <a:pt x="73637" y="25471"/>
                </a:moveTo>
                <a:lnTo>
                  <a:pt x="76200" y="38226"/>
                </a:lnTo>
                <a:lnTo>
                  <a:pt x="73625" y="50871"/>
                </a:lnTo>
                <a:lnTo>
                  <a:pt x="800100" y="52324"/>
                </a:lnTo>
                <a:lnTo>
                  <a:pt x="807085" y="52450"/>
                </a:lnTo>
                <a:lnTo>
                  <a:pt x="812800" y="46736"/>
                </a:lnTo>
                <a:lnTo>
                  <a:pt x="812800" y="32638"/>
                </a:lnTo>
                <a:lnTo>
                  <a:pt x="807085" y="27050"/>
                </a:lnTo>
                <a:lnTo>
                  <a:pt x="800100" y="26924"/>
                </a:lnTo>
                <a:lnTo>
                  <a:pt x="73637" y="25471"/>
                </a:lnTo>
                <a:close/>
              </a:path>
              <a:path w="812800" h="76200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400" y="45085"/>
                </a:lnTo>
                <a:lnTo>
                  <a:pt x="31114" y="50800"/>
                </a:lnTo>
                <a:lnTo>
                  <a:pt x="73625" y="50871"/>
                </a:lnTo>
                <a:lnTo>
                  <a:pt x="76200" y="38226"/>
                </a:lnTo>
                <a:lnTo>
                  <a:pt x="73637" y="25471"/>
                </a:lnTo>
                <a:lnTo>
                  <a:pt x="38100" y="25400"/>
                </a:lnTo>
                <a:close/>
              </a:path>
              <a:path w="812800" h="76200">
                <a:moveTo>
                  <a:pt x="73623" y="25400"/>
                </a:moveTo>
                <a:lnTo>
                  <a:pt x="38100" y="25400"/>
                </a:lnTo>
                <a:lnTo>
                  <a:pt x="73637" y="25471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48661" y="3752469"/>
            <a:ext cx="91439" cy="91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8854" y="4075938"/>
            <a:ext cx="91439" cy="914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68854" y="4371340"/>
            <a:ext cx="91439" cy="914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98445" y="4709159"/>
            <a:ext cx="91440" cy="91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05050" y="3629278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5" h="183514">
                <a:moveTo>
                  <a:pt x="99704" y="49530"/>
                </a:moveTo>
                <a:lnTo>
                  <a:pt x="23494" y="49530"/>
                </a:lnTo>
                <a:lnTo>
                  <a:pt x="255650" y="183515"/>
                </a:lnTo>
                <a:lnTo>
                  <a:pt x="274700" y="150622"/>
                </a:lnTo>
                <a:lnTo>
                  <a:pt x="99704" y="49530"/>
                </a:lnTo>
                <a:close/>
              </a:path>
              <a:path w="274955" h="183514">
                <a:moveTo>
                  <a:pt x="52069" y="0"/>
                </a:moveTo>
                <a:lnTo>
                  <a:pt x="0" y="13970"/>
                </a:lnTo>
                <a:lnTo>
                  <a:pt x="13969" y="66040"/>
                </a:lnTo>
                <a:lnTo>
                  <a:pt x="23494" y="49530"/>
                </a:lnTo>
                <a:lnTo>
                  <a:pt x="99704" y="49530"/>
                </a:lnTo>
                <a:lnTo>
                  <a:pt x="42544" y="16510"/>
                </a:lnTo>
                <a:lnTo>
                  <a:pt x="5206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25242" y="3942715"/>
            <a:ext cx="274955" cy="184150"/>
          </a:xfrm>
          <a:custGeom>
            <a:avLst/>
            <a:gdLst/>
            <a:ahLst/>
            <a:cxnLst/>
            <a:rect l="l" t="t" r="r" b="b"/>
            <a:pathLst>
              <a:path w="274955" h="184150">
                <a:moveTo>
                  <a:pt x="99704" y="49530"/>
                </a:moveTo>
                <a:lnTo>
                  <a:pt x="23494" y="49530"/>
                </a:lnTo>
                <a:lnTo>
                  <a:pt x="255650" y="183642"/>
                </a:lnTo>
                <a:lnTo>
                  <a:pt x="274700" y="150622"/>
                </a:lnTo>
                <a:lnTo>
                  <a:pt x="99704" y="49530"/>
                </a:lnTo>
                <a:close/>
              </a:path>
              <a:path w="274955" h="184150">
                <a:moveTo>
                  <a:pt x="52069" y="0"/>
                </a:moveTo>
                <a:lnTo>
                  <a:pt x="0" y="13970"/>
                </a:lnTo>
                <a:lnTo>
                  <a:pt x="13969" y="66040"/>
                </a:lnTo>
                <a:lnTo>
                  <a:pt x="23494" y="49530"/>
                </a:lnTo>
                <a:lnTo>
                  <a:pt x="99704" y="49530"/>
                </a:lnTo>
                <a:lnTo>
                  <a:pt x="42544" y="16510"/>
                </a:lnTo>
                <a:lnTo>
                  <a:pt x="5206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03145" y="4346447"/>
            <a:ext cx="306705" cy="76200"/>
          </a:xfrm>
          <a:custGeom>
            <a:avLst/>
            <a:gdLst/>
            <a:ahLst/>
            <a:cxnLst/>
            <a:rect l="l" t="t" r="r" b="b"/>
            <a:pathLst>
              <a:path w="306705" h="76200">
                <a:moveTo>
                  <a:pt x="38100" y="0"/>
                </a:moveTo>
                <a:lnTo>
                  <a:pt x="0" y="38100"/>
                </a:lnTo>
                <a:lnTo>
                  <a:pt x="38100" y="76200"/>
                </a:lnTo>
                <a:lnTo>
                  <a:pt x="38100" y="57150"/>
                </a:lnTo>
                <a:lnTo>
                  <a:pt x="306197" y="57150"/>
                </a:lnTo>
                <a:lnTo>
                  <a:pt x="306197" y="19050"/>
                </a:lnTo>
                <a:lnTo>
                  <a:pt x="38100" y="19050"/>
                </a:lnTo>
                <a:lnTo>
                  <a:pt x="38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34641" y="4563109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5" h="183514">
                <a:moveTo>
                  <a:pt x="99577" y="49402"/>
                </a:moveTo>
                <a:lnTo>
                  <a:pt x="23367" y="49402"/>
                </a:lnTo>
                <a:lnTo>
                  <a:pt x="255523" y="183514"/>
                </a:lnTo>
                <a:lnTo>
                  <a:pt x="274573" y="150494"/>
                </a:lnTo>
                <a:lnTo>
                  <a:pt x="99577" y="49402"/>
                </a:lnTo>
                <a:close/>
              </a:path>
              <a:path w="274955" h="183514">
                <a:moveTo>
                  <a:pt x="51942" y="0"/>
                </a:moveTo>
                <a:lnTo>
                  <a:pt x="0" y="13842"/>
                </a:lnTo>
                <a:lnTo>
                  <a:pt x="13842" y="65912"/>
                </a:lnTo>
                <a:lnTo>
                  <a:pt x="23367" y="49402"/>
                </a:lnTo>
                <a:lnTo>
                  <a:pt x="99577" y="49402"/>
                </a:lnTo>
                <a:lnTo>
                  <a:pt x="42417" y="16382"/>
                </a:lnTo>
                <a:lnTo>
                  <a:pt x="5194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00" y="4113148"/>
            <a:ext cx="762000" cy="1905"/>
          </a:xfrm>
          <a:custGeom>
            <a:avLst/>
            <a:gdLst/>
            <a:ahLst/>
            <a:cxnLst/>
            <a:rect l="l" t="t" r="r" b="b"/>
            <a:pathLst>
              <a:path w="762000" h="1904">
                <a:moveTo>
                  <a:pt x="762000" y="1650"/>
                </a:moveTo>
                <a:lnTo>
                  <a:pt x="0" y="0"/>
                </a:lnTo>
              </a:path>
            </a:pathLst>
          </a:custGeom>
          <a:ln w="25399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29200" y="4613909"/>
            <a:ext cx="762000" cy="1905"/>
          </a:xfrm>
          <a:custGeom>
            <a:avLst/>
            <a:gdLst/>
            <a:ahLst/>
            <a:cxnLst/>
            <a:rect l="l" t="t" r="r" b="b"/>
            <a:pathLst>
              <a:path w="762000" h="1904">
                <a:moveTo>
                  <a:pt x="762000" y="1650"/>
                </a:moveTo>
                <a:lnTo>
                  <a:pt x="0" y="0"/>
                </a:lnTo>
              </a:path>
            </a:pathLst>
          </a:custGeom>
          <a:ln w="25399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813175" y="4139565"/>
            <a:ext cx="8750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Enc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der  4 x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82394" y="3529863"/>
            <a:ext cx="290830" cy="694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 marR="30480" indent="-19050">
              <a:lnSpc>
                <a:spcPct val="137000"/>
              </a:lnSpc>
              <a:spcBef>
                <a:spcPts val="100"/>
              </a:spcBef>
            </a:pPr>
            <a:r>
              <a:rPr sz="1600" spc="-10" dirty="0">
                <a:latin typeface="Times New Roman"/>
                <a:cs typeface="Times New Roman"/>
              </a:rPr>
              <a:t>A</a:t>
            </a:r>
            <a:r>
              <a:rPr sz="1575" spc="7" baseline="-21164" dirty="0">
                <a:latin typeface="Times New Roman"/>
                <a:cs typeface="Times New Roman"/>
              </a:rPr>
              <a:t>0 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72767" y="4070730"/>
            <a:ext cx="9334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769864" y="3268979"/>
            <a:ext cx="1709928" cy="22448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214617" y="4139565"/>
            <a:ext cx="8883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 marR="5080" indent="-6286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Dec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der  2 x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454900" y="3849623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39140" y="50728"/>
                </a:moveTo>
                <a:lnTo>
                  <a:pt x="739586" y="52947"/>
                </a:lnTo>
                <a:lnTo>
                  <a:pt x="747728" y="65055"/>
                </a:lnTo>
                <a:lnTo>
                  <a:pt x="759799" y="73211"/>
                </a:lnTo>
                <a:lnTo>
                  <a:pt x="774573" y="76200"/>
                </a:lnTo>
                <a:lnTo>
                  <a:pt x="789439" y="73284"/>
                </a:lnTo>
                <a:lnTo>
                  <a:pt x="801592" y="65166"/>
                </a:lnTo>
                <a:lnTo>
                  <a:pt x="809791" y="53072"/>
                </a:lnTo>
                <a:lnTo>
                  <a:pt x="810226" y="50926"/>
                </a:lnTo>
                <a:lnTo>
                  <a:pt x="781684" y="50926"/>
                </a:lnTo>
                <a:lnTo>
                  <a:pt x="774700" y="50800"/>
                </a:lnTo>
                <a:lnTo>
                  <a:pt x="739140" y="50728"/>
                </a:lnTo>
                <a:close/>
              </a:path>
              <a:path w="812800" h="76200">
                <a:moveTo>
                  <a:pt x="739187" y="25328"/>
                </a:moveTo>
                <a:lnTo>
                  <a:pt x="736600" y="38100"/>
                </a:lnTo>
                <a:lnTo>
                  <a:pt x="739140" y="50728"/>
                </a:lnTo>
                <a:lnTo>
                  <a:pt x="774700" y="50800"/>
                </a:lnTo>
                <a:lnTo>
                  <a:pt x="781684" y="50926"/>
                </a:lnTo>
                <a:lnTo>
                  <a:pt x="787400" y="45212"/>
                </a:lnTo>
                <a:lnTo>
                  <a:pt x="787400" y="31114"/>
                </a:lnTo>
                <a:lnTo>
                  <a:pt x="781684" y="25526"/>
                </a:lnTo>
                <a:lnTo>
                  <a:pt x="774700" y="25400"/>
                </a:lnTo>
                <a:lnTo>
                  <a:pt x="739187" y="25328"/>
                </a:lnTo>
                <a:close/>
              </a:path>
              <a:path w="812800" h="76200">
                <a:moveTo>
                  <a:pt x="774826" y="0"/>
                </a:moveTo>
                <a:lnTo>
                  <a:pt x="759960" y="2988"/>
                </a:lnTo>
                <a:lnTo>
                  <a:pt x="747807" y="11144"/>
                </a:lnTo>
                <a:lnTo>
                  <a:pt x="739608" y="23252"/>
                </a:lnTo>
                <a:lnTo>
                  <a:pt x="739187" y="25328"/>
                </a:lnTo>
                <a:lnTo>
                  <a:pt x="774700" y="25400"/>
                </a:lnTo>
                <a:lnTo>
                  <a:pt x="781684" y="25526"/>
                </a:lnTo>
                <a:lnTo>
                  <a:pt x="787400" y="31114"/>
                </a:lnTo>
                <a:lnTo>
                  <a:pt x="787400" y="45212"/>
                </a:lnTo>
                <a:lnTo>
                  <a:pt x="781684" y="50926"/>
                </a:lnTo>
                <a:lnTo>
                  <a:pt x="810226" y="50926"/>
                </a:lnTo>
                <a:lnTo>
                  <a:pt x="812800" y="38226"/>
                </a:lnTo>
                <a:lnTo>
                  <a:pt x="809813" y="23377"/>
                </a:lnTo>
                <a:lnTo>
                  <a:pt x="801671" y="11255"/>
                </a:lnTo>
                <a:lnTo>
                  <a:pt x="789600" y="3061"/>
                </a:lnTo>
                <a:lnTo>
                  <a:pt x="774826" y="0"/>
                </a:lnTo>
                <a:close/>
              </a:path>
              <a:path w="812800" h="76200">
                <a:moveTo>
                  <a:pt x="12700" y="23875"/>
                </a:moveTo>
                <a:lnTo>
                  <a:pt x="5715" y="23875"/>
                </a:lnTo>
                <a:lnTo>
                  <a:pt x="0" y="29590"/>
                </a:lnTo>
                <a:lnTo>
                  <a:pt x="0" y="43561"/>
                </a:lnTo>
                <a:lnTo>
                  <a:pt x="5715" y="49275"/>
                </a:lnTo>
                <a:lnTo>
                  <a:pt x="739140" y="50728"/>
                </a:lnTo>
                <a:lnTo>
                  <a:pt x="736600" y="38100"/>
                </a:lnTo>
                <a:lnTo>
                  <a:pt x="739187" y="25328"/>
                </a:lnTo>
                <a:lnTo>
                  <a:pt x="12700" y="2387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454900" y="42291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74826" y="0"/>
                </a:moveTo>
                <a:lnTo>
                  <a:pt x="759960" y="2986"/>
                </a:lnTo>
                <a:lnTo>
                  <a:pt x="747807" y="11128"/>
                </a:lnTo>
                <a:lnTo>
                  <a:pt x="739608" y="23199"/>
                </a:lnTo>
                <a:lnTo>
                  <a:pt x="739175" y="25323"/>
                </a:lnTo>
                <a:lnTo>
                  <a:pt x="774700" y="25400"/>
                </a:lnTo>
                <a:lnTo>
                  <a:pt x="781684" y="25400"/>
                </a:lnTo>
                <a:lnTo>
                  <a:pt x="787400" y="31114"/>
                </a:lnTo>
                <a:lnTo>
                  <a:pt x="787400" y="45085"/>
                </a:lnTo>
                <a:lnTo>
                  <a:pt x="781684" y="50800"/>
                </a:lnTo>
                <a:lnTo>
                  <a:pt x="739176" y="50800"/>
                </a:lnTo>
                <a:lnTo>
                  <a:pt x="739586" y="52839"/>
                </a:lnTo>
                <a:lnTo>
                  <a:pt x="747728" y="64992"/>
                </a:lnTo>
                <a:lnTo>
                  <a:pt x="759799" y="73191"/>
                </a:lnTo>
                <a:lnTo>
                  <a:pt x="774573" y="76200"/>
                </a:lnTo>
                <a:lnTo>
                  <a:pt x="789439" y="73213"/>
                </a:lnTo>
                <a:lnTo>
                  <a:pt x="801592" y="65071"/>
                </a:lnTo>
                <a:lnTo>
                  <a:pt x="809791" y="53000"/>
                </a:lnTo>
                <a:lnTo>
                  <a:pt x="810239" y="50800"/>
                </a:lnTo>
                <a:lnTo>
                  <a:pt x="774700" y="50800"/>
                </a:lnTo>
                <a:lnTo>
                  <a:pt x="810255" y="50722"/>
                </a:lnTo>
                <a:lnTo>
                  <a:pt x="812800" y="38226"/>
                </a:lnTo>
                <a:lnTo>
                  <a:pt x="809813" y="23360"/>
                </a:lnTo>
                <a:lnTo>
                  <a:pt x="801671" y="11207"/>
                </a:lnTo>
                <a:lnTo>
                  <a:pt x="789600" y="3008"/>
                </a:lnTo>
                <a:lnTo>
                  <a:pt x="774826" y="0"/>
                </a:lnTo>
                <a:close/>
              </a:path>
              <a:path w="812800" h="76200">
                <a:moveTo>
                  <a:pt x="739175" y="25323"/>
                </a:moveTo>
                <a:lnTo>
                  <a:pt x="736600" y="37973"/>
                </a:lnTo>
                <a:lnTo>
                  <a:pt x="739161" y="50722"/>
                </a:lnTo>
                <a:lnTo>
                  <a:pt x="774700" y="50800"/>
                </a:lnTo>
                <a:lnTo>
                  <a:pt x="781684" y="50800"/>
                </a:lnTo>
                <a:lnTo>
                  <a:pt x="787400" y="45085"/>
                </a:lnTo>
                <a:lnTo>
                  <a:pt x="787400" y="31114"/>
                </a:lnTo>
                <a:lnTo>
                  <a:pt x="781684" y="25400"/>
                </a:lnTo>
                <a:lnTo>
                  <a:pt x="739175" y="25323"/>
                </a:lnTo>
                <a:close/>
              </a:path>
              <a:path w="812800" h="76200">
                <a:moveTo>
                  <a:pt x="12700" y="23749"/>
                </a:moveTo>
                <a:lnTo>
                  <a:pt x="5715" y="23749"/>
                </a:lnTo>
                <a:lnTo>
                  <a:pt x="0" y="29463"/>
                </a:lnTo>
                <a:lnTo>
                  <a:pt x="0" y="43561"/>
                </a:lnTo>
                <a:lnTo>
                  <a:pt x="5715" y="49149"/>
                </a:lnTo>
                <a:lnTo>
                  <a:pt x="739161" y="50722"/>
                </a:lnTo>
                <a:lnTo>
                  <a:pt x="736600" y="37973"/>
                </a:lnTo>
                <a:lnTo>
                  <a:pt x="739175" y="25323"/>
                </a:lnTo>
                <a:lnTo>
                  <a:pt x="12700" y="23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454900" y="46101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74826" y="0"/>
                </a:moveTo>
                <a:lnTo>
                  <a:pt x="759960" y="2986"/>
                </a:lnTo>
                <a:lnTo>
                  <a:pt x="747807" y="11128"/>
                </a:lnTo>
                <a:lnTo>
                  <a:pt x="739608" y="23199"/>
                </a:lnTo>
                <a:lnTo>
                  <a:pt x="739175" y="25323"/>
                </a:lnTo>
                <a:lnTo>
                  <a:pt x="774700" y="25400"/>
                </a:lnTo>
                <a:lnTo>
                  <a:pt x="781684" y="25400"/>
                </a:lnTo>
                <a:lnTo>
                  <a:pt x="787400" y="31114"/>
                </a:lnTo>
                <a:lnTo>
                  <a:pt x="787400" y="45085"/>
                </a:lnTo>
                <a:lnTo>
                  <a:pt x="781684" y="50800"/>
                </a:lnTo>
                <a:lnTo>
                  <a:pt x="739176" y="50800"/>
                </a:lnTo>
                <a:lnTo>
                  <a:pt x="739586" y="52839"/>
                </a:lnTo>
                <a:lnTo>
                  <a:pt x="747728" y="64992"/>
                </a:lnTo>
                <a:lnTo>
                  <a:pt x="759799" y="73191"/>
                </a:lnTo>
                <a:lnTo>
                  <a:pt x="774573" y="76200"/>
                </a:lnTo>
                <a:lnTo>
                  <a:pt x="789439" y="73213"/>
                </a:lnTo>
                <a:lnTo>
                  <a:pt x="801592" y="65071"/>
                </a:lnTo>
                <a:lnTo>
                  <a:pt x="809791" y="53000"/>
                </a:lnTo>
                <a:lnTo>
                  <a:pt x="810239" y="50800"/>
                </a:lnTo>
                <a:lnTo>
                  <a:pt x="774700" y="50800"/>
                </a:lnTo>
                <a:lnTo>
                  <a:pt x="810255" y="50722"/>
                </a:lnTo>
                <a:lnTo>
                  <a:pt x="812800" y="38226"/>
                </a:lnTo>
                <a:lnTo>
                  <a:pt x="809813" y="23360"/>
                </a:lnTo>
                <a:lnTo>
                  <a:pt x="801671" y="11207"/>
                </a:lnTo>
                <a:lnTo>
                  <a:pt x="789600" y="3008"/>
                </a:lnTo>
                <a:lnTo>
                  <a:pt x="774826" y="0"/>
                </a:lnTo>
                <a:close/>
              </a:path>
              <a:path w="812800" h="76200">
                <a:moveTo>
                  <a:pt x="739175" y="25323"/>
                </a:moveTo>
                <a:lnTo>
                  <a:pt x="736600" y="37973"/>
                </a:lnTo>
                <a:lnTo>
                  <a:pt x="739161" y="50722"/>
                </a:lnTo>
                <a:lnTo>
                  <a:pt x="774700" y="50800"/>
                </a:lnTo>
                <a:lnTo>
                  <a:pt x="781684" y="50800"/>
                </a:lnTo>
                <a:lnTo>
                  <a:pt x="787400" y="45085"/>
                </a:lnTo>
                <a:lnTo>
                  <a:pt x="787400" y="31114"/>
                </a:lnTo>
                <a:lnTo>
                  <a:pt x="781684" y="25400"/>
                </a:lnTo>
                <a:lnTo>
                  <a:pt x="739175" y="25323"/>
                </a:lnTo>
                <a:close/>
              </a:path>
              <a:path w="812800" h="76200">
                <a:moveTo>
                  <a:pt x="12700" y="23749"/>
                </a:moveTo>
                <a:lnTo>
                  <a:pt x="5715" y="23749"/>
                </a:lnTo>
                <a:lnTo>
                  <a:pt x="0" y="29463"/>
                </a:lnTo>
                <a:lnTo>
                  <a:pt x="0" y="43433"/>
                </a:lnTo>
                <a:lnTo>
                  <a:pt x="5715" y="49149"/>
                </a:lnTo>
                <a:lnTo>
                  <a:pt x="739161" y="50722"/>
                </a:lnTo>
                <a:lnTo>
                  <a:pt x="736600" y="37973"/>
                </a:lnTo>
                <a:lnTo>
                  <a:pt x="739175" y="25323"/>
                </a:lnTo>
                <a:lnTo>
                  <a:pt x="12700" y="23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454900" y="49911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74826" y="0"/>
                </a:moveTo>
                <a:lnTo>
                  <a:pt x="759960" y="2986"/>
                </a:lnTo>
                <a:lnTo>
                  <a:pt x="747807" y="11128"/>
                </a:lnTo>
                <a:lnTo>
                  <a:pt x="739608" y="23199"/>
                </a:lnTo>
                <a:lnTo>
                  <a:pt x="739175" y="25323"/>
                </a:lnTo>
                <a:lnTo>
                  <a:pt x="774700" y="25400"/>
                </a:lnTo>
                <a:lnTo>
                  <a:pt x="781684" y="25400"/>
                </a:lnTo>
                <a:lnTo>
                  <a:pt x="787400" y="31114"/>
                </a:lnTo>
                <a:lnTo>
                  <a:pt x="787400" y="45085"/>
                </a:lnTo>
                <a:lnTo>
                  <a:pt x="781684" y="50800"/>
                </a:lnTo>
                <a:lnTo>
                  <a:pt x="739176" y="50800"/>
                </a:lnTo>
                <a:lnTo>
                  <a:pt x="739586" y="52839"/>
                </a:lnTo>
                <a:lnTo>
                  <a:pt x="747728" y="64992"/>
                </a:lnTo>
                <a:lnTo>
                  <a:pt x="759799" y="73191"/>
                </a:lnTo>
                <a:lnTo>
                  <a:pt x="774573" y="76200"/>
                </a:lnTo>
                <a:lnTo>
                  <a:pt x="789439" y="73213"/>
                </a:lnTo>
                <a:lnTo>
                  <a:pt x="801592" y="65071"/>
                </a:lnTo>
                <a:lnTo>
                  <a:pt x="809791" y="53000"/>
                </a:lnTo>
                <a:lnTo>
                  <a:pt x="810239" y="50800"/>
                </a:lnTo>
                <a:lnTo>
                  <a:pt x="774700" y="50800"/>
                </a:lnTo>
                <a:lnTo>
                  <a:pt x="810255" y="50722"/>
                </a:lnTo>
                <a:lnTo>
                  <a:pt x="812800" y="38226"/>
                </a:lnTo>
                <a:lnTo>
                  <a:pt x="809813" y="23360"/>
                </a:lnTo>
                <a:lnTo>
                  <a:pt x="801671" y="11207"/>
                </a:lnTo>
                <a:lnTo>
                  <a:pt x="789600" y="3008"/>
                </a:lnTo>
                <a:lnTo>
                  <a:pt x="774826" y="0"/>
                </a:lnTo>
                <a:close/>
              </a:path>
              <a:path w="812800" h="76200">
                <a:moveTo>
                  <a:pt x="739175" y="25323"/>
                </a:moveTo>
                <a:lnTo>
                  <a:pt x="736600" y="37973"/>
                </a:lnTo>
                <a:lnTo>
                  <a:pt x="739161" y="50722"/>
                </a:lnTo>
                <a:lnTo>
                  <a:pt x="774700" y="50800"/>
                </a:lnTo>
                <a:lnTo>
                  <a:pt x="781684" y="50800"/>
                </a:lnTo>
                <a:lnTo>
                  <a:pt x="787400" y="45085"/>
                </a:lnTo>
                <a:lnTo>
                  <a:pt x="787400" y="31114"/>
                </a:lnTo>
                <a:lnTo>
                  <a:pt x="781684" y="25400"/>
                </a:lnTo>
                <a:lnTo>
                  <a:pt x="739175" y="25323"/>
                </a:lnTo>
                <a:close/>
              </a:path>
              <a:path w="812800" h="76200">
                <a:moveTo>
                  <a:pt x="12700" y="23749"/>
                </a:moveTo>
                <a:lnTo>
                  <a:pt x="5715" y="23749"/>
                </a:lnTo>
                <a:lnTo>
                  <a:pt x="0" y="29463"/>
                </a:lnTo>
                <a:lnTo>
                  <a:pt x="0" y="43433"/>
                </a:lnTo>
                <a:lnTo>
                  <a:pt x="5715" y="49149"/>
                </a:lnTo>
                <a:lnTo>
                  <a:pt x="739161" y="50722"/>
                </a:lnTo>
                <a:lnTo>
                  <a:pt x="736600" y="37973"/>
                </a:lnTo>
                <a:lnTo>
                  <a:pt x="739175" y="25323"/>
                </a:lnTo>
                <a:lnTo>
                  <a:pt x="12700" y="23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910460" y="4199661"/>
            <a:ext cx="3003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8890">
              <a:lnSpc>
                <a:spcPct val="1250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575" spc="7" baseline="-21164" dirty="0">
                <a:latin typeface="Times New Roman"/>
                <a:cs typeface="Times New Roman"/>
              </a:rPr>
              <a:t>2  </a:t>
            </a:r>
            <a:r>
              <a:rPr sz="1600" spc="-10" dirty="0">
                <a:latin typeface="Times New Roman"/>
                <a:cs typeface="Times New Roman"/>
              </a:rPr>
              <a:t>A</a:t>
            </a:r>
            <a:r>
              <a:rPr sz="1575" spc="7" baseline="-21164" dirty="0">
                <a:latin typeface="Times New Roman"/>
                <a:cs typeface="Times New Roman"/>
              </a:rPr>
              <a:t>3</a:t>
            </a:r>
            <a:endParaRPr sz="1575" baseline="-21164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5800" y="1524000"/>
            <a:ext cx="187452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127127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asper"/>
                <a:cs typeface="Times New Roman"/>
              </a:rPr>
              <a:t>M=4  M=2</a:t>
            </a:r>
            <a:r>
              <a:rPr sz="1600" spc="-7" baseline="25462" dirty="0">
                <a:latin typeface="Casper"/>
                <a:cs typeface="Times New Roman"/>
              </a:rPr>
              <a:t>2  </a:t>
            </a:r>
            <a:r>
              <a:rPr sz="1600" spc="-5" dirty="0">
                <a:latin typeface="Casper"/>
                <a:cs typeface="Times New Roman"/>
              </a:rPr>
              <a:t>M=2</a:t>
            </a:r>
            <a:r>
              <a:rPr sz="1600" spc="-7" baseline="25462" dirty="0">
                <a:latin typeface="Casper"/>
                <a:cs typeface="Times New Roman"/>
              </a:rPr>
              <a:t>N</a:t>
            </a:r>
            <a:endParaRPr sz="1600" baseline="25462">
              <a:latin typeface="Casper"/>
              <a:cs typeface="Times New Roman"/>
            </a:endParaRPr>
          </a:p>
          <a:p>
            <a:pPr marL="38100" marR="30480">
              <a:lnSpc>
                <a:spcPct val="100000"/>
              </a:lnSpc>
            </a:pPr>
            <a:r>
              <a:rPr sz="1600" dirty="0">
                <a:latin typeface="Casper"/>
                <a:cs typeface="Times New Roman"/>
              </a:rPr>
              <a:t>‘M’ is the input</a:t>
            </a:r>
            <a:r>
              <a:rPr sz="1600" spc="-254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and  ‘N’ is the</a:t>
            </a:r>
            <a:r>
              <a:rPr sz="1600" spc="-190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output</a:t>
            </a:r>
            <a:endParaRPr sz="1600">
              <a:latin typeface="Casper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45994" y="3449218"/>
            <a:ext cx="248920" cy="128143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600" dirty="0">
                <a:latin typeface="Times New Roman"/>
                <a:cs typeface="Times New Roman"/>
              </a:rPr>
              <a:t>00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dirty="0">
                <a:latin typeface="Times New Roman"/>
                <a:cs typeface="Times New Roman"/>
              </a:rPr>
              <a:t>01</a:t>
            </a:r>
            <a:endParaRPr sz="16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495"/>
              </a:spcBef>
            </a:pPr>
            <a:r>
              <a:rPr sz="1600" dirty="0">
                <a:latin typeface="Times New Roman"/>
                <a:cs typeface="Times New Roman"/>
              </a:rPr>
              <a:t>10</a:t>
            </a:r>
            <a:endParaRPr sz="1600">
              <a:latin typeface="Times New Roman"/>
              <a:cs typeface="Times New Roman"/>
            </a:endParaRPr>
          </a:p>
          <a:p>
            <a:pPr marL="46990">
              <a:lnSpc>
                <a:spcPct val="100000"/>
              </a:lnSpc>
              <a:spcBef>
                <a:spcPts val="550"/>
              </a:spcBef>
            </a:pPr>
            <a:r>
              <a:rPr sz="1600" spc="-60" dirty="0">
                <a:latin typeface="Times New Roman"/>
                <a:cs typeface="Times New Roman"/>
              </a:rPr>
              <a:t>11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61228" y="3804030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282946" y="4298696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408416" y="4605020"/>
            <a:ext cx="91439" cy="914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442959" y="4982845"/>
            <a:ext cx="91440" cy="914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419338" y="4233290"/>
            <a:ext cx="91439" cy="91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417814" y="3852290"/>
            <a:ext cx="91439" cy="914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212708" y="3725036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4" h="183514">
                <a:moveTo>
                  <a:pt x="222631" y="0"/>
                </a:moveTo>
                <a:lnTo>
                  <a:pt x="232156" y="16510"/>
                </a:lnTo>
                <a:lnTo>
                  <a:pt x="0" y="150494"/>
                </a:lnTo>
                <a:lnTo>
                  <a:pt x="19050" y="183514"/>
                </a:lnTo>
                <a:lnTo>
                  <a:pt x="251206" y="49530"/>
                </a:lnTo>
                <a:lnTo>
                  <a:pt x="265160" y="49530"/>
                </a:lnTo>
                <a:lnTo>
                  <a:pt x="274700" y="13969"/>
                </a:lnTo>
                <a:lnTo>
                  <a:pt x="222631" y="0"/>
                </a:lnTo>
                <a:close/>
              </a:path>
              <a:path w="274954" h="183514">
                <a:moveTo>
                  <a:pt x="265160" y="49530"/>
                </a:moveTo>
                <a:lnTo>
                  <a:pt x="251206" y="49530"/>
                </a:lnTo>
                <a:lnTo>
                  <a:pt x="260731" y="66039"/>
                </a:lnTo>
                <a:lnTo>
                  <a:pt x="265160" y="4953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220456" y="4085844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4" h="183514">
                <a:moveTo>
                  <a:pt x="222630" y="0"/>
                </a:moveTo>
                <a:lnTo>
                  <a:pt x="232155" y="16509"/>
                </a:lnTo>
                <a:lnTo>
                  <a:pt x="0" y="150494"/>
                </a:lnTo>
                <a:lnTo>
                  <a:pt x="19050" y="183514"/>
                </a:lnTo>
                <a:lnTo>
                  <a:pt x="251205" y="49529"/>
                </a:lnTo>
                <a:lnTo>
                  <a:pt x="265160" y="49529"/>
                </a:lnTo>
                <a:lnTo>
                  <a:pt x="274700" y="13969"/>
                </a:lnTo>
                <a:lnTo>
                  <a:pt x="222630" y="0"/>
                </a:lnTo>
                <a:close/>
              </a:path>
              <a:path w="274954" h="183514">
                <a:moveTo>
                  <a:pt x="265160" y="49529"/>
                </a:moveTo>
                <a:lnTo>
                  <a:pt x="251205" y="49529"/>
                </a:lnTo>
                <a:lnTo>
                  <a:pt x="260730" y="66039"/>
                </a:lnTo>
                <a:lnTo>
                  <a:pt x="265160" y="495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220456" y="4874133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4" h="183514">
                <a:moveTo>
                  <a:pt x="222630" y="0"/>
                </a:moveTo>
                <a:lnTo>
                  <a:pt x="232155" y="16510"/>
                </a:lnTo>
                <a:lnTo>
                  <a:pt x="0" y="150495"/>
                </a:lnTo>
                <a:lnTo>
                  <a:pt x="19050" y="183515"/>
                </a:lnTo>
                <a:lnTo>
                  <a:pt x="251205" y="49403"/>
                </a:lnTo>
                <a:lnTo>
                  <a:pt x="265160" y="49403"/>
                </a:lnTo>
                <a:lnTo>
                  <a:pt x="274700" y="13843"/>
                </a:lnTo>
                <a:lnTo>
                  <a:pt x="222630" y="0"/>
                </a:lnTo>
                <a:close/>
              </a:path>
              <a:path w="274954" h="183514">
                <a:moveTo>
                  <a:pt x="265160" y="49403"/>
                </a:moveTo>
                <a:lnTo>
                  <a:pt x="251205" y="49403"/>
                </a:lnTo>
                <a:lnTo>
                  <a:pt x="260730" y="65913"/>
                </a:lnTo>
                <a:lnTo>
                  <a:pt x="265160" y="494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239125" y="4477765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4" h="183514">
                <a:moveTo>
                  <a:pt x="222630" y="0"/>
                </a:moveTo>
                <a:lnTo>
                  <a:pt x="232155" y="16509"/>
                </a:lnTo>
                <a:lnTo>
                  <a:pt x="0" y="150494"/>
                </a:lnTo>
                <a:lnTo>
                  <a:pt x="19050" y="183514"/>
                </a:lnTo>
                <a:lnTo>
                  <a:pt x="251205" y="49402"/>
                </a:lnTo>
                <a:lnTo>
                  <a:pt x="265160" y="49402"/>
                </a:lnTo>
                <a:lnTo>
                  <a:pt x="274700" y="13842"/>
                </a:lnTo>
                <a:lnTo>
                  <a:pt x="222630" y="0"/>
                </a:lnTo>
                <a:close/>
              </a:path>
              <a:path w="274954" h="183514">
                <a:moveTo>
                  <a:pt x="265160" y="49402"/>
                </a:moveTo>
                <a:lnTo>
                  <a:pt x="251205" y="49402"/>
                </a:lnTo>
                <a:lnTo>
                  <a:pt x="260730" y="65912"/>
                </a:lnTo>
                <a:lnTo>
                  <a:pt x="265160" y="494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886200" y="6019800"/>
            <a:ext cx="373380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lang="pt-BR" sz="2000" dirty="0">
                <a:latin typeface="Casper"/>
                <a:cs typeface="Times New Roman"/>
              </a:rPr>
              <a:t>Fig. 9</a:t>
            </a:r>
            <a:r>
              <a:rPr lang="pt-BR" sz="2000" spc="-100" dirty="0">
                <a:latin typeface="Casper"/>
                <a:cs typeface="Times New Roman"/>
              </a:rPr>
              <a:t>: </a:t>
            </a:r>
            <a:r>
              <a:rPr lang="pt-BR" sz="2000" dirty="0">
                <a:latin typeface="Casper"/>
              </a:rPr>
              <a:t>ENCODER DIAGRAM </a:t>
            </a:r>
            <a:endParaRPr lang="pt-BR" sz="2000" dirty="0">
              <a:latin typeface="Casper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228600"/>
            <a:ext cx="78867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ENC</a:t>
            </a:r>
            <a:r>
              <a:rPr spc="-15" dirty="0"/>
              <a:t>O</a:t>
            </a:r>
            <a:r>
              <a:rPr spc="-5" dirty="0"/>
              <a:t>DER</a:t>
            </a:r>
          </a:p>
        </p:txBody>
      </p:sp>
      <p:sp>
        <p:nvSpPr>
          <p:cNvPr id="3" name="object 3"/>
          <p:cNvSpPr/>
          <p:nvPr/>
        </p:nvSpPr>
        <p:spPr>
          <a:xfrm>
            <a:off x="3351276" y="3255264"/>
            <a:ext cx="1696211" cy="2231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43429" y="37719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38100" y="0"/>
                </a:moveTo>
                <a:lnTo>
                  <a:pt x="23252" y="2986"/>
                </a:lnTo>
                <a:lnTo>
                  <a:pt x="11144" y="11128"/>
                </a:lnTo>
                <a:lnTo>
                  <a:pt x="2988" y="23199"/>
                </a:lnTo>
                <a:lnTo>
                  <a:pt x="0" y="37973"/>
                </a:lnTo>
                <a:lnTo>
                  <a:pt x="2915" y="52839"/>
                </a:lnTo>
                <a:lnTo>
                  <a:pt x="11033" y="64992"/>
                </a:lnTo>
                <a:lnTo>
                  <a:pt x="23127" y="73191"/>
                </a:lnTo>
                <a:lnTo>
                  <a:pt x="37972" y="76200"/>
                </a:lnTo>
                <a:lnTo>
                  <a:pt x="52822" y="73213"/>
                </a:lnTo>
                <a:lnTo>
                  <a:pt x="64944" y="65071"/>
                </a:lnTo>
                <a:lnTo>
                  <a:pt x="73138" y="53000"/>
                </a:lnTo>
                <a:lnTo>
                  <a:pt x="73579" y="50871"/>
                </a:lnTo>
                <a:lnTo>
                  <a:pt x="30987" y="50800"/>
                </a:lnTo>
                <a:lnTo>
                  <a:pt x="25272" y="45085"/>
                </a:lnTo>
                <a:lnTo>
                  <a:pt x="25397" y="38226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1" y="25400"/>
                </a:lnTo>
                <a:lnTo>
                  <a:pt x="73211" y="23360"/>
                </a:lnTo>
                <a:lnTo>
                  <a:pt x="65055" y="11207"/>
                </a:lnTo>
                <a:lnTo>
                  <a:pt x="52947" y="3008"/>
                </a:lnTo>
                <a:lnTo>
                  <a:pt x="38100" y="0"/>
                </a:lnTo>
                <a:close/>
              </a:path>
              <a:path w="812800" h="76200">
                <a:moveTo>
                  <a:pt x="73635" y="25471"/>
                </a:moveTo>
                <a:lnTo>
                  <a:pt x="76200" y="38226"/>
                </a:lnTo>
                <a:lnTo>
                  <a:pt x="73579" y="50871"/>
                </a:lnTo>
                <a:lnTo>
                  <a:pt x="799972" y="52324"/>
                </a:lnTo>
                <a:lnTo>
                  <a:pt x="807084" y="52450"/>
                </a:lnTo>
                <a:lnTo>
                  <a:pt x="812672" y="46736"/>
                </a:lnTo>
                <a:lnTo>
                  <a:pt x="812799" y="32638"/>
                </a:lnTo>
                <a:lnTo>
                  <a:pt x="807084" y="27050"/>
                </a:lnTo>
                <a:lnTo>
                  <a:pt x="800099" y="26924"/>
                </a:lnTo>
                <a:lnTo>
                  <a:pt x="73635" y="25471"/>
                </a:lnTo>
                <a:close/>
              </a:path>
              <a:path w="812800" h="76200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397" y="38226"/>
                </a:lnTo>
                <a:lnTo>
                  <a:pt x="25272" y="45085"/>
                </a:lnTo>
                <a:lnTo>
                  <a:pt x="30987" y="50800"/>
                </a:lnTo>
                <a:lnTo>
                  <a:pt x="73579" y="50871"/>
                </a:lnTo>
                <a:lnTo>
                  <a:pt x="76200" y="38226"/>
                </a:lnTo>
                <a:lnTo>
                  <a:pt x="73635" y="25471"/>
                </a:lnTo>
                <a:lnTo>
                  <a:pt x="38100" y="25400"/>
                </a:lnTo>
                <a:close/>
              </a:path>
              <a:path w="812800" h="76200">
                <a:moveTo>
                  <a:pt x="73621" y="25400"/>
                </a:moveTo>
                <a:lnTo>
                  <a:pt x="38100" y="25400"/>
                </a:lnTo>
                <a:lnTo>
                  <a:pt x="73635" y="25471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52700" y="4075048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38226" y="0"/>
                </a:moveTo>
                <a:lnTo>
                  <a:pt x="23360" y="2988"/>
                </a:lnTo>
                <a:lnTo>
                  <a:pt x="11207" y="11144"/>
                </a:lnTo>
                <a:lnTo>
                  <a:pt x="3008" y="23252"/>
                </a:lnTo>
                <a:lnTo>
                  <a:pt x="0" y="38100"/>
                </a:lnTo>
                <a:lnTo>
                  <a:pt x="2986" y="52947"/>
                </a:lnTo>
                <a:lnTo>
                  <a:pt x="11128" y="65055"/>
                </a:lnTo>
                <a:lnTo>
                  <a:pt x="23199" y="73211"/>
                </a:lnTo>
                <a:lnTo>
                  <a:pt x="37973" y="76200"/>
                </a:lnTo>
                <a:lnTo>
                  <a:pt x="52839" y="73284"/>
                </a:lnTo>
                <a:lnTo>
                  <a:pt x="64992" y="65166"/>
                </a:lnTo>
                <a:lnTo>
                  <a:pt x="73191" y="53072"/>
                </a:lnTo>
                <a:lnTo>
                  <a:pt x="73636" y="50876"/>
                </a:lnTo>
                <a:lnTo>
                  <a:pt x="31114" y="50800"/>
                </a:lnTo>
                <a:lnTo>
                  <a:pt x="25400" y="45084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0" y="25400"/>
                </a:lnTo>
                <a:lnTo>
                  <a:pt x="73213" y="23377"/>
                </a:lnTo>
                <a:lnTo>
                  <a:pt x="65071" y="11255"/>
                </a:lnTo>
                <a:lnTo>
                  <a:pt x="53000" y="3061"/>
                </a:lnTo>
                <a:lnTo>
                  <a:pt x="38226" y="0"/>
                </a:lnTo>
                <a:close/>
              </a:path>
              <a:path w="812800" h="76200">
                <a:moveTo>
                  <a:pt x="73635" y="25476"/>
                </a:moveTo>
                <a:lnTo>
                  <a:pt x="76200" y="38226"/>
                </a:lnTo>
                <a:lnTo>
                  <a:pt x="73636" y="50876"/>
                </a:lnTo>
                <a:lnTo>
                  <a:pt x="800100" y="52450"/>
                </a:lnTo>
                <a:lnTo>
                  <a:pt x="807085" y="52450"/>
                </a:lnTo>
                <a:lnTo>
                  <a:pt x="812800" y="46736"/>
                </a:lnTo>
                <a:lnTo>
                  <a:pt x="812800" y="32765"/>
                </a:lnTo>
                <a:lnTo>
                  <a:pt x="807085" y="27050"/>
                </a:lnTo>
                <a:lnTo>
                  <a:pt x="800100" y="27050"/>
                </a:lnTo>
                <a:lnTo>
                  <a:pt x="73635" y="25476"/>
                </a:lnTo>
                <a:close/>
              </a:path>
              <a:path w="812800" h="76200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400" y="45084"/>
                </a:lnTo>
                <a:lnTo>
                  <a:pt x="31114" y="50800"/>
                </a:lnTo>
                <a:lnTo>
                  <a:pt x="73636" y="50876"/>
                </a:lnTo>
                <a:lnTo>
                  <a:pt x="76200" y="38226"/>
                </a:lnTo>
                <a:lnTo>
                  <a:pt x="73635" y="25476"/>
                </a:lnTo>
                <a:lnTo>
                  <a:pt x="38100" y="25400"/>
                </a:lnTo>
                <a:close/>
              </a:path>
              <a:path w="812800" h="76200">
                <a:moveTo>
                  <a:pt x="73620" y="25400"/>
                </a:moveTo>
                <a:lnTo>
                  <a:pt x="38100" y="25400"/>
                </a:lnTo>
                <a:lnTo>
                  <a:pt x="73635" y="2547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52700" y="4379848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38226" y="0"/>
                </a:moveTo>
                <a:lnTo>
                  <a:pt x="23360" y="2988"/>
                </a:lnTo>
                <a:lnTo>
                  <a:pt x="11207" y="11144"/>
                </a:lnTo>
                <a:lnTo>
                  <a:pt x="3008" y="23252"/>
                </a:lnTo>
                <a:lnTo>
                  <a:pt x="0" y="38100"/>
                </a:lnTo>
                <a:lnTo>
                  <a:pt x="2986" y="52947"/>
                </a:lnTo>
                <a:lnTo>
                  <a:pt x="11128" y="65055"/>
                </a:lnTo>
                <a:lnTo>
                  <a:pt x="23199" y="73211"/>
                </a:lnTo>
                <a:lnTo>
                  <a:pt x="37973" y="76200"/>
                </a:lnTo>
                <a:lnTo>
                  <a:pt x="52839" y="73284"/>
                </a:lnTo>
                <a:lnTo>
                  <a:pt x="64992" y="65166"/>
                </a:lnTo>
                <a:lnTo>
                  <a:pt x="73191" y="53072"/>
                </a:lnTo>
                <a:lnTo>
                  <a:pt x="73636" y="50876"/>
                </a:lnTo>
                <a:lnTo>
                  <a:pt x="31114" y="50800"/>
                </a:lnTo>
                <a:lnTo>
                  <a:pt x="25400" y="45212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0" y="25400"/>
                </a:lnTo>
                <a:lnTo>
                  <a:pt x="73213" y="23377"/>
                </a:lnTo>
                <a:lnTo>
                  <a:pt x="65071" y="11255"/>
                </a:lnTo>
                <a:lnTo>
                  <a:pt x="53000" y="3061"/>
                </a:lnTo>
                <a:lnTo>
                  <a:pt x="38226" y="0"/>
                </a:lnTo>
                <a:close/>
              </a:path>
              <a:path w="812800" h="76200">
                <a:moveTo>
                  <a:pt x="73635" y="25476"/>
                </a:moveTo>
                <a:lnTo>
                  <a:pt x="76200" y="38226"/>
                </a:lnTo>
                <a:lnTo>
                  <a:pt x="73636" y="50876"/>
                </a:lnTo>
                <a:lnTo>
                  <a:pt x="800100" y="52450"/>
                </a:lnTo>
                <a:lnTo>
                  <a:pt x="807085" y="52450"/>
                </a:lnTo>
                <a:lnTo>
                  <a:pt x="812800" y="46736"/>
                </a:lnTo>
                <a:lnTo>
                  <a:pt x="812800" y="32765"/>
                </a:lnTo>
                <a:lnTo>
                  <a:pt x="807085" y="27050"/>
                </a:lnTo>
                <a:lnTo>
                  <a:pt x="800100" y="27050"/>
                </a:lnTo>
                <a:lnTo>
                  <a:pt x="73635" y="25476"/>
                </a:lnTo>
                <a:close/>
              </a:path>
              <a:path w="812800" h="76200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400" y="45212"/>
                </a:lnTo>
                <a:lnTo>
                  <a:pt x="31114" y="50800"/>
                </a:lnTo>
                <a:lnTo>
                  <a:pt x="73636" y="50876"/>
                </a:lnTo>
                <a:lnTo>
                  <a:pt x="76200" y="38226"/>
                </a:lnTo>
                <a:lnTo>
                  <a:pt x="73635" y="25476"/>
                </a:lnTo>
                <a:lnTo>
                  <a:pt x="38100" y="25400"/>
                </a:lnTo>
                <a:close/>
              </a:path>
              <a:path w="812800" h="76200">
                <a:moveTo>
                  <a:pt x="73620" y="25400"/>
                </a:moveTo>
                <a:lnTo>
                  <a:pt x="38100" y="25400"/>
                </a:lnTo>
                <a:lnTo>
                  <a:pt x="73635" y="2547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52700" y="46863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38226" y="0"/>
                </a:moveTo>
                <a:lnTo>
                  <a:pt x="23360" y="2986"/>
                </a:lnTo>
                <a:lnTo>
                  <a:pt x="11207" y="11128"/>
                </a:lnTo>
                <a:lnTo>
                  <a:pt x="3008" y="23199"/>
                </a:lnTo>
                <a:lnTo>
                  <a:pt x="0" y="37973"/>
                </a:lnTo>
                <a:lnTo>
                  <a:pt x="2986" y="52839"/>
                </a:lnTo>
                <a:lnTo>
                  <a:pt x="11128" y="64992"/>
                </a:lnTo>
                <a:lnTo>
                  <a:pt x="23199" y="73191"/>
                </a:lnTo>
                <a:lnTo>
                  <a:pt x="37973" y="76200"/>
                </a:lnTo>
                <a:lnTo>
                  <a:pt x="52839" y="73213"/>
                </a:lnTo>
                <a:lnTo>
                  <a:pt x="64992" y="65071"/>
                </a:lnTo>
                <a:lnTo>
                  <a:pt x="73191" y="53000"/>
                </a:lnTo>
                <a:lnTo>
                  <a:pt x="73625" y="50871"/>
                </a:lnTo>
                <a:lnTo>
                  <a:pt x="31114" y="50800"/>
                </a:lnTo>
                <a:lnTo>
                  <a:pt x="25400" y="45085"/>
                </a:lnTo>
                <a:lnTo>
                  <a:pt x="25400" y="31114"/>
                </a:lnTo>
                <a:lnTo>
                  <a:pt x="31114" y="25400"/>
                </a:lnTo>
                <a:lnTo>
                  <a:pt x="73623" y="25400"/>
                </a:lnTo>
                <a:lnTo>
                  <a:pt x="73213" y="23360"/>
                </a:lnTo>
                <a:lnTo>
                  <a:pt x="65071" y="11207"/>
                </a:lnTo>
                <a:lnTo>
                  <a:pt x="53000" y="3008"/>
                </a:lnTo>
                <a:lnTo>
                  <a:pt x="38226" y="0"/>
                </a:lnTo>
                <a:close/>
              </a:path>
              <a:path w="812800" h="76200">
                <a:moveTo>
                  <a:pt x="73637" y="25471"/>
                </a:moveTo>
                <a:lnTo>
                  <a:pt x="76200" y="38226"/>
                </a:lnTo>
                <a:lnTo>
                  <a:pt x="73625" y="50871"/>
                </a:lnTo>
                <a:lnTo>
                  <a:pt x="800100" y="52324"/>
                </a:lnTo>
                <a:lnTo>
                  <a:pt x="807085" y="52450"/>
                </a:lnTo>
                <a:lnTo>
                  <a:pt x="812800" y="46736"/>
                </a:lnTo>
                <a:lnTo>
                  <a:pt x="812800" y="32638"/>
                </a:lnTo>
                <a:lnTo>
                  <a:pt x="807085" y="27050"/>
                </a:lnTo>
                <a:lnTo>
                  <a:pt x="800100" y="26924"/>
                </a:lnTo>
                <a:lnTo>
                  <a:pt x="73637" y="25471"/>
                </a:lnTo>
                <a:close/>
              </a:path>
              <a:path w="812800" h="76200">
                <a:moveTo>
                  <a:pt x="38100" y="25400"/>
                </a:moveTo>
                <a:lnTo>
                  <a:pt x="31114" y="25400"/>
                </a:lnTo>
                <a:lnTo>
                  <a:pt x="25400" y="31114"/>
                </a:lnTo>
                <a:lnTo>
                  <a:pt x="25400" y="45085"/>
                </a:lnTo>
                <a:lnTo>
                  <a:pt x="31114" y="50800"/>
                </a:lnTo>
                <a:lnTo>
                  <a:pt x="73625" y="50871"/>
                </a:lnTo>
                <a:lnTo>
                  <a:pt x="76200" y="38226"/>
                </a:lnTo>
                <a:lnTo>
                  <a:pt x="73637" y="25471"/>
                </a:lnTo>
                <a:lnTo>
                  <a:pt x="38100" y="25400"/>
                </a:lnTo>
                <a:close/>
              </a:path>
              <a:path w="812800" h="76200">
                <a:moveTo>
                  <a:pt x="73623" y="25400"/>
                </a:moveTo>
                <a:lnTo>
                  <a:pt x="38100" y="25400"/>
                </a:lnTo>
                <a:lnTo>
                  <a:pt x="73637" y="25471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48661" y="3752469"/>
            <a:ext cx="91439" cy="91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68854" y="4075938"/>
            <a:ext cx="91439" cy="914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68854" y="4371340"/>
            <a:ext cx="91439" cy="914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98445" y="4709159"/>
            <a:ext cx="91440" cy="91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05050" y="3629278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5" h="183514">
                <a:moveTo>
                  <a:pt x="99704" y="49530"/>
                </a:moveTo>
                <a:lnTo>
                  <a:pt x="23494" y="49530"/>
                </a:lnTo>
                <a:lnTo>
                  <a:pt x="255650" y="183515"/>
                </a:lnTo>
                <a:lnTo>
                  <a:pt x="274700" y="150622"/>
                </a:lnTo>
                <a:lnTo>
                  <a:pt x="99704" y="49530"/>
                </a:lnTo>
                <a:close/>
              </a:path>
              <a:path w="274955" h="183514">
                <a:moveTo>
                  <a:pt x="52069" y="0"/>
                </a:moveTo>
                <a:lnTo>
                  <a:pt x="0" y="13970"/>
                </a:lnTo>
                <a:lnTo>
                  <a:pt x="13969" y="66040"/>
                </a:lnTo>
                <a:lnTo>
                  <a:pt x="23494" y="49530"/>
                </a:lnTo>
                <a:lnTo>
                  <a:pt x="99704" y="49530"/>
                </a:lnTo>
                <a:lnTo>
                  <a:pt x="42544" y="16510"/>
                </a:lnTo>
                <a:lnTo>
                  <a:pt x="5206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25242" y="3942715"/>
            <a:ext cx="274955" cy="184150"/>
          </a:xfrm>
          <a:custGeom>
            <a:avLst/>
            <a:gdLst/>
            <a:ahLst/>
            <a:cxnLst/>
            <a:rect l="l" t="t" r="r" b="b"/>
            <a:pathLst>
              <a:path w="274955" h="184150">
                <a:moveTo>
                  <a:pt x="99704" y="49530"/>
                </a:moveTo>
                <a:lnTo>
                  <a:pt x="23494" y="49530"/>
                </a:lnTo>
                <a:lnTo>
                  <a:pt x="255650" y="183642"/>
                </a:lnTo>
                <a:lnTo>
                  <a:pt x="274700" y="150622"/>
                </a:lnTo>
                <a:lnTo>
                  <a:pt x="99704" y="49530"/>
                </a:lnTo>
                <a:close/>
              </a:path>
              <a:path w="274955" h="184150">
                <a:moveTo>
                  <a:pt x="52069" y="0"/>
                </a:moveTo>
                <a:lnTo>
                  <a:pt x="0" y="13970"/>
                </a:lnTo>
                <a:lnTo>
                  <a:pt x="13969" y="66040"/>
                </a:lnTo>
                <a:lnTo>
                  <a:pt x="23494" y="49530"/>
                </a:lnTo>
                <a:lnTo>
                  <a:pt x="99704" y="49530"/>
                </a:lnTo>
                <a:lnTo>
                  <a:pt x="42544" y="16510"/>
                </a:lnTo>
                <a:lnTo>
                  <a:pt x="5206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03145" y="4346447"/>
            <a:ext cx="306705" cy="76200"/>
          </a:xfrm>
          <a:custGeom>
            <a:avLst/>
            <a:gdLst/>
            <a:ahLst/>
            <a:cxnLst/>
            <a:rect l="l" t="t" r="r" b="b"/>
            <a:pathLst>
              <a:path w="306705" h="76200">
                <a:moveTo>
                  <a:pt x="38100" y="0"/>
                </a:moveTo>
                <a:lnTo>
                  <a:pt x="0" y="38100"/>
                </a:lnTo>
                <a:lnTo>
                  <a:pt x="38100" y="76200"/>
                </a:lnTo>
                <a:lnTo>
                  <a:pt x="38100" y="57150"/>
                </a:lnTo>
                <a:lnTo>
                  <a:pt x="306197" y="57150"/>
                </a:lnTo>
                <a:lnTo>
                  <a:pt x="306197" y="19050"/>
                </a:lnTo>
                <a:lnTo>
                  <a:pt x="38100" y="19050"/>
                </a:lnTo>
                <a:lnTo>
                  <a:pt x="381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34641" y="4563109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5" h="183514">
                <a:moveTo>
                  <a:pt x="99577" y="49402"/>
                </a:moveTo>
                <a:lnTo>
                  <a:pt x="23367" y="49402"/>
                </a:lnTo>
                <a:lnTo>
                  <a:pt x="255523" y="183514"/>
                </a:lnTo>
                <a:lnTo>
                  <a:pt x="274573" y="150494"/>
                </a:lnTo>
                <a:lnTo>
                  <a:pt x="99577" y="49402"/>
                </a:lnTo>
                <a:close/>
              </a:path>
              <a:path w="274955" h="183514">
                <a:moveTo>
                  <a:pt x="51942" y="0"/>
                </a:moveTo>
                <a:lnTo>
                  <a:pt x="0" y="13842"/>
                </a:lnTo>
                <a:lnTo>
                  <a:pt x="13842" y="65912"/>
                </a:lnTo>
                <a:lnTo>
                  <a:pt x="23367" y="49402"/>
                </a:lnTo>
                <a:lnTo>
                  <a:pt x="99577" y="49402"/>
                </a:lnTo>
                <a:lnTo>
                  <a:pt x="42417" y="16382"/>
                </a:lnTo>
                <a:lnTo>
                  <a:pt x="5194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29200" y="4113148"/>
            <a:ext cx="762000" cy="1905"/>
          </a:xfrm>
          <a:custGeom>
            <a:avLst/>
            <a:gdLst/>
            <a:ahLst/>
            <a:cxnLst/>
            <a:rect l="l" t="t" r="r" b="b"/>
            <a:pathLst>
              <a:path w="762000" h="1904">
                <a:moveTo>
                  <a:pt x="762000" y="1650"/>
                </a:moveTo>
                <a:lnTo>
                  <a:pt x="0" y="0"/>
                </a:lnTo>
              </a:path>
            </a:pathLst>
          </a:custGeom>
          <a:ln w="25399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29200" y="4613909"/>
            <a:ext cx="762000" cy="1905"/>
          </a:xfrm>
          <a:custGeom>
            <a:avLst/>
            <a:gdLst/>
            <a:ahLst/>
            <a:cxnLst/>
            <a:rect l="l" t="t" r="r" b="b"/>
            <a:pathLst>
              <a:path w="762000" h="1904">
                <a:moveTo>
                  <a:pt x="762000" y="1650"/>
                </a:moveTo>
                <a:lnTo>
                  <a:pt x="0" y="0"/>
                </a:lnTo>
              </a:path>
            </a:pathLst>
          </a:custGeom>
          <a:ln w="25399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813175" y="4139565"/>
            <a:ext cx="8750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Enc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der  4 x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82394" y="3529863"/>
            <a:ext cx="290830" cy="694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 marR="30480" indent="-19050">
              <a:lnSpc>
                <a:spcPct val="137000"/>
              </a:lnSpc>
              <a:spcBef>
                <a:spcPts val="100"/>
              </a:spcBef>
            </a:pPr>
            <a:r>
              <a:rPr sz="1600" spc="-10" dirty="0">
                <a:latin typeface="Times New Roman"/>
                <a:cs typeface="Times New Roman"/>
              </a:rPr>
              <a:t>A</a:t>
            </a:r>
            <a:r>
              <a:rPr sz="1575" spc="7" baseline="-21164" dirty="0">
                <a:latin typeface="Times New Roman"/>
                <a:cs typeface="Times New Roman"/>
              </a:rPr>
              <a:t>0  </a:t>
            </a:r>
            <a:r>
              <a:rPr sz="1600" spc="-5" dirty="0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72767" y="4070730"/>
            <a:ext cx="9334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769864" y="3268979"/>
            <a:ext cx="1709928" cy="22448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214617" y="4139565"/>
            <a:ext cx="8883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 marR="5080" indent="-6286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Dec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der  2 x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454900" y="3849623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39140" y="50728"/>
                </a:moveTo>
                <a:lnTo>
                  <a:pt x="739586" y="52947"/>
                </a:lnTo>
                <a:lnTo>
                  <a:pt x="747728" y="65055"/>
                </a:lnTo>
                <a:lnTo>
                  <a:pt x="759799" y="73211"/>
                </a:lnTo>
                <a:lnTo>
                  <a:pt x="774573" y="76200"/>
                </a:lnTo>
                <a:lnTo>
                  <a:pt x="789439" y="73284"/>
                </a:lnTo>
                <a:lnTo>
                  <a:pt x="801592" y="65166"/>
                </a:lnTo>
                <a:lnTo>
                  <a:pt x="809791" y="53072"/>
                </a:lnTo>
                <a:lnTo>
                  <a:pt x="810226" y="50926"/>
                </a:lnTo>
                <a:lnTo>
                  <a:pt x="781684" y="50926"/>
                </a:lnTo>
                <a:lnTo>
                  <a:pt x="774700" y="50800"/>
                </a:lnTo>
                <a:lnTo>
                  <a:pt x="739140" y="50728"/>
                </a:lnTo>
                <a:close/>
              </a:path>
              <a:path w="812800" h="76200">
                <a:moveTo>
                  <a:pt x="739187" y="25328"/>
                </a:moveTo>
                <a:lnTo>
                  <a:pt x="736600" y="38100"/>
                </a:lnTo>
                <a:lnTo>
                  <a:pt x="739140" y="50728"/>
                </a:lnTo>
                <a:lnTo>
                  <a:pt x="774700" y="50800"/>
                </a:lnTo>
                <a:lnTo>
                  <a:pt x="781684" y="50926"/>
                </a:lnTo>
                <a:lnTo>
                  <a:pt x="787400" y="45212"/>
                </a:lnTo>
                <a:lnTo>
                  <a:pt x="787400" y="31114"/>
                </a:lnTo>
                <a:lnTo>
                  <a:pt x="781684" y="25526"/>
                </a:lnTo>
                <a:lnTo>
                  <a:pt x="774700" y="25400"/>
                </a:lnTo>
                <a:lnTo>
                  <a:pt x="739187" y="25328"/>
                </a:lnTo>
                <a:close/>
              </a:path>
              <a:path w="812800" h="76200">
                <a:moveTo>
                  <a:pt x="774826" y="0"/>
                </a:moveTo>
                <a:lnTo>
                  <a:pt x="759960" y="2988"/>
                </a:lnTo>
                <a:lnTo>
                  <a:pt x="747807" y="11144"/>
                </a:lnTo>
                <a:lnTo>
                  <a:pt x="739608" y="23252"/>
                </a:lnTo>
                <a:lnTo>
                  <a:pt x="739187" y="25328"/>
                </a:lnTo>
                <a:lnTo>
                  <a:pt x="774700" y="25400"/>
                </a:lnTo>
                <a:lnTo>
                  <a:pt x="781684" y="25526"/>
                </a:lnTo>
                <a:lnTo>
                  <a:pt x="787400" y="31114"/>
                </a:lnTo>
                <a:lnTo>
                  <a:pt x="787400" y="45212"/>
                </a:lnTo>
                <a:lnTo>
                  <a:pt x="781684" y="50926"/>
                </a:lnTo>
                <a:lnTo>
                  <a:pt x="810226" y="50926"/>
                </a:lnTo>
                <a:lnTo>
                  <a:pt x="812800" y="38226"/>
                </a:lnTo>
                <a:lnTo>
                  <a:pt x="809813" y="23377"/>
                </a:lnTo>
                <a:lnTo>
                  <a:pt x="801671" y="11255"/>
                </a:lnTo>
                <a:lnTo>
                  <a:pt x="789600" y="3061"/>
                </a:lnTo>
                <a:lnTo>
                  <a:pt x="774826" y="0"/>
                </a:lnTo>
                <a:close/>
              </a:path>
              <a:path w="812800" h="76200">
                <a:moveTo>
                  <a:pt x="12700" y="23875"/>
                </a:moveTo>
                <a:lnTo>
                  <a:pt x="5715" y="23875"/>
                </a:lnTo>
                <a:lnTo>
                  <a:pt x="0" y="29590"/>
                </a:lnTo>
                <a:lnTo>
                  <a:pt x="0" y="43561"/>
                </a:lnTo>
                <a:lnTo>
                  <a:pt x="5715" y="49275"/>
                </a:lnTo>
                <a:lnTo>
                  <a:pt x="739140" y="50728"/>
                </a:lnTo>
                <a:lnTo>
                  <a:pt x="736600" y="38100"/>
                </a:lnTo>
                <a:lnTo>
                  <a:pt x="739187" y="25328"/>
                </a:lnTo>
                <a:lnTo>
                  <a:pt x="12700" y="2387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454900" y="42291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74826" y="0"/>
                </a:moveTo>
                <a:lnTo>
                  <a:pt x="759960" y="2986"/>
                </a:lnTo>
                <a:lnTo>
                  <a:pt x="747807" y="11128"/>
                </a:lnTo>
                <a:lnTo>
                  <a:pt x="739608" y="23199"/>
                </a:lnTo>
                <a:lnTo>
                  <a:pt x="739175" y="25323"/>
                </a:lnTo>
                <a:lnTo>
                  <a:pt x="774700" y="25400"/>
                </a:lnTo>
                <a:lnTo>
                  <a:pt x="781684" y="25400"/>
                </a:lnTo>
                <a:lnTo>
                  <a:pt x="787400" y="31114"/>
                </a:lnTo>
                <a:lnTo>
                  <a:pt x="787400" y="45085"/>
                </a:lnTo>
                <a:lnTo>
                  <a:pt x="781684" y="50800"/>
                </a:lnTo>
                <a:lnTo>
                  <a:pt x="739176" y="50800"/>
                </a:lnTo>
                <a:lnTo>
                  <a:pt x="739586" y="52839"/>
                </a:lnTo>
                <a:lnTo>
                  <a:pt x="747728" y="64992"/>
                </a:lnTo>
                <a:lnTo>
                  <a:pt x="759799" y="73191"/>
                </a:lnTo>
                <a:lnTo>
                  <a:pt x="774573" y="76200"/>
                </a:lnTo>
                <a:lnTo>
                  <a:pt x="789439" y="73213"/>
                </a:lnTo>
                <a:lnTo>
                  <a:pt x="801592" y="65071"/>
                </a:lnTo>
                <a:lnTo>
                  <a:pt x="809791" y="53000"/>
                </a:lnTo>
                <a:lnTo>
                  <a:pt x="810239" y="50800"/>
                </a:lnTo>
                <a:lnTo>
                  <a:pt x="774700" y="50800"/>
                </a:lnTo>
                <a:lnTo>
                  <a:pt x="810255" y="50722"/>
                </a:lnTo>
                <a:lnTo>
                  <a:pt x="812800" y="38226"/>
                </a:lnTo>
                <a:lnTo>
                  <a:pt x="809813" y="23360"/>
                </a:lnTo>
                <a:lnTo>
                  <a:pt x="801671" y="11207"/>
                </a:lnTo>
                <a:lnTo>
                  <a:pt x="789600" y="3008"/>
                </a:lnTo>
                <a:lnTo>
                  <a:pt x="774826" y="0"/>
                </a:lnTo>
                <a:close/>
              </a:path>
              <a:path w="812800" h="76200">
                <a:moveTo>
                  <a:pt x="739175" y="25323"/>
                </a:moveTo>
                <a:lnTo>
                  <a:pt x="736600" y="37973"/>
                </a:lnTo>
                <a:lnTo>
                  <a:pt x="739161" y="50722"/>
                </a:lnTo>
                <a:lnTo>
                  <a:pt x="774700" y="50800"/>
                </a:lnTo>
                <a:lnTo>
                  <a:pt x="781684" y="50800"/>
                </a:lnTo>
                <a:lnTo>
                  <a:pt x="787400" y="45085"/>
                </a:lnTo>
                <a:lnTo>
                  <a:pt x="787400" y="31114"/>
                </a:lnTo>
                <a:lnTo>
                  <a:pt x="781684" y="25400"/>
                </a:lnTo>
                <a:lnTo>
                  <a:pt x="739175" y="25323"/>
                </a:lnTo>
                <a:close/>
              </a:path>
              <a:path w="812800" h="76200">
                <a:moveTo>
                  <a:pt x="12700" y="23749"/>
                </a:moveTo>
                <a:lnTo>
                  <a:pt x="5715" y="23749"/>
                </a:lnTo>
                <a:lnTo>
                  <a:pt x="0" y="29463"/>
                </a:lnTo>
                <a:lnTo>
                  <a:pt x="0" y="43561"/>
                </a:lnTo>
                <a:lnTo>
                  <a:pt x="5715" y="49149"/>
                </a:lnTo>
                <a:lnTo>
                  <a:pt x="739161" y="50722"/>
                </a:lnTo>
                <a:lnTo>
                  <a:pt x="736600" y="37973"/>
                </a:lnTo>
                <a:lnTo>
                  <a:pt x="739175" y="25323"/>
                </a:lnTo>
                <a:lnTo>
                  <a:pt x="12700" y="23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454900" y="46101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74826" y="0"/>
                </a:moveTo>
                <a:lnTo>
                  <a:pt x="759960" y="2986"/>
                </a:lnTo>
                <a:lnTo>
                  <a:pt x="747807" y="11128"/>
                </a:lnTo>
                <a:lnTo>
                  <a:pt x="739608" y="23199"/>
                </a:lnTo>
                <a:lnTo>
                  <a:pt x="739175" y="25323"/>
                </a:lnTo>
                <a:lnTo>
                  <a:pt x="774700" y="25400"/>
                </a:lnTo>
                <a:lnTo>
                  <a:pt x="781684" y="25400"/>
                </a:lnTo>
                <a:lnTo>
                  <a:pt x="787400" y="31114"/>
                </a:lnTo>
                <a:lnTo>
                  <a:pt x="787400" y="45085"/>
                </a:lnTo>
                <a:lnTo>
                  <a:pt x="781684" y="50800"/>
                </a:lnTo>
                <a:lnTo>
                  <a:pt x="739176" y="50800"/>
                </a:lnTo>
                <a:lnTo>
                  <a:pt x="739586" y="52839"/>
                </a:lnTo>
                <a:lnTo>
                  <a:pt x="747728" y="64992"/>
                </a:lnTo>
                <a:lnTo>
                  <a:pt x="759799" y="73191"/>
                </a:lnTo>
                <a:lnTo>
                  <a:pt x="774573" y="76200"/>
                </a:lnTo>
                <a:lnTo>
                  <a:pt x="789439" y="73213"/>
                </a:lnTo>
                <a:lnTo>
                  <a:pt x="801592" y="65071"/>
                </a:lnTo>
                <a:lnTo>
                  <a:pt x="809791" y="53000"/>
                </a:lnTo>
                <a:lnTo>
                  <a:pt x="810239" y="50800"/>
                </a:lnTo>
                <a:lnTo>
                  <a:pt x="774700" y="50800"/>
                </a:lnTo>
                <a:lnTo>
                  <a:pt x="810255" y="50722"/>
                </a:lnTo>
                <a:lnTo>
                  <a:pt x="812800" y="38226"/>
                </a:lnTo>
                <a:lnTo>
                  <a:pt x="809813" y="23360"/>
                </a:lnTo>
                <a:lnTo>
                  <a:pt x="801671" y="11207"/>
                </a:lnTo>
                <a:lnTo>
                  <a:pt x="789600" y="3008"/>
                </a:lnTo>
                <a:lnTo>
                  <a:pt x="774826" y="0"/>
                </a:lnTo>
                <a:close/>
              </a:path>
              <a:path w="812800" h="76200">
                <a:moveTo>
                  <a:pt x="739175" y="25323"/>
                </a:moveTo>
                <a:lnTo>
                  <a:pt x="736600" y="37973"/>
                </a:lnTo>
                <a:lnTo>
                  <a:pt x="739161" y="50722"/>
                </a:lnTo>
                <a:lnTo>
                  <a:pt x="774700" y="50800"/>
                </a:lnTo>
                <a:lnTo>
                  <a:pt x="781684" y="50800"/>
                </a:lnTo>
                <a:lnTo>
                  <a:pt x="787400" y="45085"/>
                </a:lnTo>
                <a:lnTo>
                  <a:pt x="787400" y="31114"/>
                </a:lnTo>
                <a:lnTo>
                  <a:pt x="781684" y="25400"/>
                </a:lnTo>
                <a:lnTo>
                  <a:pt x="739175" y="25323"/>
                </a:lnTo>
                <a:close/>
              </a:path>
              <a:path w="812800" h="76200">
                <a:moveTo>
                  <a:pt x="12700" y="23749"/>
                </a:moveTo>
                <a:lnTo>
                  <a:pt x="5715" y="23749"/>
                </a:lnTo>
                <a:lnTo>
                  <a:pt x="0" y="29463"/>
                </a:lnTo>
                <a:lnTo>
                  <a:pt x="0" y="43433"/>
                </a:lnTo>
                <a:lnTo>
                  <a:pt x="5715" y="49149"/>
                </a:lnTo>
                <a:lnTo>
                  <a:pt x="739161" y="50722"/>
                </a:lnTo>
                <a:lnTo>
                  <a:pt x="736600" y="37973"/>
                </a:lnTo>
                <a:lnTo>
                  <a:pt x="739175" y="25323"/>
                </a:lnTo>
                <a:lnTo>
                  <a:pt x="12700" y="23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454900" y="4991100"/>
            <a:ext cx="812800" cy="76200"/>
          </a:xfrm>
          <a:custGeom>
            <a:avLst/>
            <a:gdLst/>
            <a:ahLst/>
            <a:cxnLst/>
            <a:rect l="l" t="t" r="r" b="b"/>
            <a:pathLst>
              <a:path w="812800" h="76200">
                <a:moveTo>
                  <a:pt x="774826" y="0"/>
                </a:moveTo>
                <a:lnTo>
                  <a:pt x="759960" y="2986"/>
                </a:lnTo>
                <a:lnTo>
                  <a:pt x="747807" y="11128"/>
                </a:lnTo>
                <a:lnTo>
                  <a:pt x="739608" y="23199"/>
                </a:lnTo>
                <a:lnTo>
                  <a:pt x="739175" y="25323"/>
                </a:lnTo>
                <a:lnTo>
                  <a:pt x="774700" y="25400"/>
                </a:lnTo>
                <a:lnTo>
                  <a:pt x="781684" y="25400"/>
                </a:lnTo>
                <a:lnTo>
                  <a:pt x="787400" y="31114"/>
                </a:lnTo>
                <a:lnTo>
                  <a:pt x="787400" y="45085"/>
                </a:lnTo>
                <a:lnTo>
                  <a:pt x="781684" y="50800"/>
                </a:lnTo>
                <a:lnTo>
                  <a:pt x="739176" y="50800"/>
                </a:lnTo>
                <a:lnTo>
                  <a:pt x="739586" y="52839"/>
                </a:lnTo>
                <a:lnTo>
                  <a:pt x="747728" y="64992"/>
                </a:lnTo>
                <a:lnTo>
                  <a:pt x="759799" y="73191"/>
                </a:lnTo>
                <a:lnTo>
                  <a:pt x="774573" y="76200"/>
                </a:lnTo>
                <a:lnTo>
                  <a:pt x="789439" y="73213"/>
                </a:lnTo>
                <a:lnTo>
                  <a:pt x="801592" y="65071"/>
                </a:lnTo>
                <a:lnTo>
                  <a:pt x="809791" y="53000"/>
                </a:lnTo>
                <a:lnTo>
                  <a:pt x="810239" y="50800"/>
                </a:lnTo>
                <a:lnTo>
                  <a:pt x="774700" y="50800"/>
                </a:lnTo>
                <a:lnTo>
                  <a:pt x="810255" y="50722"/>
                </a:lnTo>
                <a:lnTo>
                  <a:pt x="812800" y="38226"/>
                </a:lnTo>
                <a:lnTo>
                  <a:pt x="809813" y="23360"/>
                </a:lnTo>
                <a:lnTo>
                  <a:pt x="801671" y="11207"/>
                </a:lnTo>
                <a:lnTo>
                  <a:pt x="789600" y="3008"/>
                </a:lnTo>
                <a:lnTo>
                  <a:pt x="774826" y="0"/>
                </a:lnTo>
                <a:close/>
              </a:path>
              <a:path w="812800" h="76200">
                <a:moveTo>
                  <a:pt x="739175" y="25323"/>
                </a:moveTo>
                <a:lnTo>
                  <a:pt x="736600" y="37973"/>
                </a:lnTo>
                <a:lnTo>
                  <a:pt x="739161" y="50722"/>
                </a:lnTo>
                <a:lnTo>
                  <a:pt x="774700" y="50800"/>
                </a:lnTo>
                <a:lnTo>
                  <a:pt x="781684" y="50800"/>
                </a:lnTo>
                <a:lnTo>
                  <a:pt x="787400" y="45085"/>
                </a:lnTo>
                <a:lnTo>
                  <a:pt x="787400" y="31114"/>
                </a:lnTo>
                <a:lnTo>
                  <a:pt x="781684" y="25400"/>
                </a:lnTo>
                <a:lnTo>
                  <a:pt x="739175" y="25323"/>
                </a:lnTo>
                <a:close/>
              </a:path>
              <a:path w="812800" h="76200">
                <a:moveTo>
                  <a:pt x="12700" y="23749"/>
                </a:moveTo>
                <a:lnTo>
                  <a:pt x="5715" y="23749"/>
                </a:lnTo>
                <a:lnTo>
                  <a:pt x="0" y="29463"/>
                </a:lnTo>
                <a:lnTo>
                  <a:pt x="0" y="43433"/>
                </a:lnTo>
                <a:lnTo>
                  <a:pt x="5715" y="49149"/>
                </a:lnTo>
                <a:lnTo>
                  <a:pt x="739161" y="50722"/>
                </a:lnTo>
                <a:lnTo>
                  <a:pt x="736600" y="37973"/>
                </a:lnTo>
                <a:lnTo>
                  <a:pt x="739175" y="25323"/>
                </a:lnTo>
                <a:lnTo>
                  <a:pt x="12700" y="237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910460" y="4199661"/>
            <a:ext cx="3003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8890">
              <a:lnSpc>
                <a:spcPct val="125000"/>
              </a:lnSpc>
              <a:spcBef>
                <a:spcPts val="100"/>
              </a:spcBef>
            </a:pPr>
            <a:r>
              <a:rPr sz="1600" spc="-5" dirty="0">
                <a:latin typeface="Times New Roman"/>
                <a:cs typeface="Times New Roman"/>
              </a:rPr>
              <a:t>A</a:t>
            </a:r>
            <a:r>
              <a:rPr sz="1575" spc="7" baseline="-21164" dirty="0">
                <a:latin typeface="Times New Roman"/>
                <a:cs typeface="Times New Roman"/>
              </a:rPr>
              <a:t>2  </a:t>
            </a:r>
            <a:r>
              <a:rPr sz="1600" spc="-10" dirty="0">
                <a:latin typeface="Times New Roman"/>
                <a:cs typeface="Times New Roman"/>
              </a:rPr>
              <a:t>A</a:t>
            </a:r>
            <a:r>
              <a:rPr sz="1575" spc="7" baseline="-21164" dirty="0">
                <a:latin typeface="Times New Roman"/>
                <a:cs typeface="Times New Roman"/>
              </a:rPr>
              <a:t>3</a:t>
            </a:r>
            <a:endParaRPr sz="1575" baseline="-21164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5800" y="1600200"/>
            <a:ext cx="187452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127127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M=4  M=2</a:t>
            </a:r>
            <a:r>
              <a:rPr sz="1800" spc="-7" baseline="25462" dirty="0">
                <a:latin typeface="Times New Roman"/>
                <a:cs typeface="Times New Roman"/>
              </a:rPr>
              <a:t>2  </a:t>
            </a:r>
            <a:r>
              <a:rPr sz="1800" spc="-5" dirty="0">
                <a:latin typeface="Times New Roman"/>
                <a:cs typeface="Times New Roman"/>
              </a:rPr>
              <a:t>M=2</a:t>
            </a:r>
            <a:r>
              <a:rPr sz="1800" spc="-7" baseline="25462" dirty="0">
                <a:latin typeface="Times New Roman"/>
                <a:cs typeface="Times New Roman"/>
              </a:rPr>
              <a:t>N</a:t>
            </a:r>
            <a:endParaRPr sz="1800" baseline="25462">
              <a:latin typeface="Times New Roman"/>
              <a:cs typeface="Times New Roman"/>
            </a:endParaRPr>
          </a:p>
          <a:p>
            <a:pPr marL="38100" marR="304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‘M’ is the input</a:t>
            </a:r>
            <a:r>
              <a:rPr sz="1800" spc="-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 ‘N’ is the</a:t>
            </a:r>
            <a:r>
              <a:rPr sz="1800" spc="-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output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45994" y="3449218"/>
            <a:ext cx="248920" cy="128143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600" dirty="0">
                <a:latin typeface="Times New Roman"/>
                <a:cs typeface="Times New Roman"/>
              </a:rPr>
              <a:t>00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00" dirty="0">
                <a:latin typeface="Times New Roman"/>
                <a:cs typeface="Times New Roman"/>
              </a:rPr>
              <a:t>01</a:t>
            </a:r>
            <a:endParaRPr sz="16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495"/>
              </a:spcBef>
            </a:pPr>
            <a:r>
              <a:rPr sz="1600" dirty="0">
                <a:latin typeface="Times New Roman"/>
                <a:cs typeface="Times New Roman"/>
              </a:rPr>
              <a:t>10</a:t>
            </a:r>
            <a:endParaRPr sz="1600">
              <a:latin typeface="Times New Roman"/>
              <a:cs typeface="Times New Roman"/>
            </a:endParaRPr>
          </a:p>
          <a:p>
            <a:pPr marL="46990">
              <a:lnSpc>
                <a:spcPct val="100000"/>
              </a:lnSpc>
              <a:spcBef>
                <a:spcPts val="550"/>
              </a:spcBef>
            </a:pPr>
            <a:r>
              <a:rPr sz="1600" spc="-60" dirty="0">
                <a:latin typeface="Times New Roman"/>
                <a:cs typeface="Times New Roman"/>
              </a:rPr>
              <a:t>11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61228" y="3804030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282946" y="4298696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427084" y="4605020"/>
            <a:ext cx="91440" cy="914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442959" y="4982845"/>
            <a:ext cx="91440" cy="914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419338" y="4233290"/>
            <a:ext cx="91439" cy="91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417814" y="3852290"/>
            <a:ext cx="91439" cy="914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212708" y="3725036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4" h="183514">
                <a:moveTo>
                  <a:pt x="222631" y="0"/>
                </a:moveTo>
                <a:lnTo>
                  <a:pt x="232156" y="16510"/>
                </a:lnTo>
                <a:lnTo>
                  <a:pt x="0" y="150494"/>
                </a:lnTo>
                <a:lnTo>
                  <a:pt x="19050" y="183514"/>
                </a:lnTo>
                <a:lnTo>
                  <a:pt x="251206" y="49530"/>
                </a:lnTo>
                <a:lnTo>
                  <a:pt x="265160" y="49530"/>
                </a:lnTo>
                <a:lnTo>
                  <a:pt x="274700" y="13969"/>
                </a:lnTo>
                <a:lnTo>
                  <a:pt x="222631" y="0"/>
                </a:lnTo>
                <a:close/>
              </a:path>
              <a:path w="274954" h="183514">
                <a:moveTo>
                  <a:pt x="265160" y="49530"/>
                </a:moveTo>
                <a:lnTo>
                  <a:pt x="251206" y="49530"/>
                </a:lnTo>
                <a:lnTo>
                  <a:pt x="260731" y="66039"/>
                </a:lnTo>
                <a:lnTo>
                  <a:pt x="265160" y="4953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220456" y="4085844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4" h="183514">
                <a:moveTo>
                  <a:pt x="222630" y="0"/>
                </a:moveTo>
                <a:lnTo>
                  <a:pt x="232155" y="16509"/>
                </a:lnTo>
                <a:lnTo>
                  <a:pt x="0" y="150494"/>
                </a:lnTo>
                <a:lnTo>
                  <a:pt x="19050" y="183514"/>
                </a:lnTo>
                <a:lnTo>
                  <a:pt x="251205" y="49529"/>
                </a:lnTo>
                <a:lnTo>
                  <a:pt x="265160" y="49529"/>
                </a:lnTo>
                <a:lnTo>
                  <a:pt x="274700" y="13969"/>
                </a:lnTo>
                <a:lnTo>
                  <a:pt x="222630" y="0"/>
                </a:lnTo>
                <a:close/>
              </a:path>
              <a:path w="274954" h="183514">
                <a:moveTo>
                  <a:pt x="265160" y="49529"/>
                </a:moveTo>
                <a:lnTo>
                  <a:pt x="251205" y="49529"/>
                </a:lnTo>
                <a:lnTo>
                  <a:pt x="260730" y="66039"/>
                </a:lnTo>
                <a:lnTo>
                  <a:pt x="265160" y="495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220456" y="4874133"/>
            <a:ext cx="274955" cy="183515"/>
          </a:xfrm>
          <a:custGeom>
            <a:avLst/>
            <a:gdLst/>
            <a:ahLst/>
            <a:cxnLst/>
            <a:rect l="l" t="t" r="r" b="b"/>
            <a:pathLst>
              <a:path w="274954" h="183514">
                <a:moveTo>
                  <a:pt x="222630" y="0"/>
                </a:moveTo>
                <a:lnTo>
                  <a:pt x="232155" y="16510"/>
                </a:lnTo>
                <a:lnTo>
                  <a:pt x="0" y="150495"/>
                </a:lnTo>
                <a:lnTo>
                  <a:pt x="19050" y="183515"/>
                </a:lnTo>
                <a:lnTo>
                  <a:pt x="251205" y="49403"/>
                </a:lnTo>
                <a:lnTo>
                  <a:pt x="265160" y="49403"/>
                </a:lnTo>
                <a:lnTo>
                  <a:pt x="274700" y="13843"/>
                </a:lnTo>
                <a:lnTo>
                  <a:pt x="222630" y="0"/>
                </a:lnTo>
                <a:close/>
              </a:path>
              <a:path w="274954" h="183514">
                <a:moveTo>
                  <a:pt x="265160" y="49403"/>
                </a:moveTo>
                <a:lnTo>
                  <a:pt x="251205" y="49403"/>
                </a:lnTo>
                <a:lnTo>
                  <a:pt x="260730" y="65913"/>
                </a:lnTo>
                <a:lnTo>
                  <a:pt x="265160" y="494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218805" y="4603241"/>
            <a:ext cx="306705" cy="76200"/>
          </a:xfrm>
          <a:custGeom>
            <a:avLst/>
            <a:gdLst/>
            <a:ahLst/>
            <a:cxnLst/>
            <a:rect l="l" t="t" r="r" b="b"/>
            <a:pathLst>
              <a:path w="306704" h="76200">
                <a:moveTo>
                  <a:pt x="268097" y="0"/>
                </a:moveTo>
                <a:lnTo>
                  <a:pt x="268097" y="19049"/>
                </a:lnTo>
                <a:lnTo>
                  <a:pt x="0" y="19049"/>
                </a:lnTo>
                <a:lnTo>
                  <a:pt x="0" y="57149"/>
                </a:lnTo>
                <a:lnTo>
                  <a:pt x="268097" y="57149"/>
                </a:lnTo>
                <a:lnTo>
                  <a:pt x="268097" y="76199"/>
                </a:lnTo>
                <a:lnTo>
                  <a:pt x="306197" y="38099"/>
                </a:lnTo>
                <a:lnTo>
                  <a:pt x="26809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700009" y="4355972"/>
            <a:ext cx="229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10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191000" y="6019800"/>
            <a:ext cx="381000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lang="pt-BR" sz="2000" dirty="0">
                <a:latin typeface="Casper"/>
                <a:cs typeface="Times New Roman"/>
              </a:rPr>
              <a:t>Fig.</a:t>
            </a:r>
            <a:r>
              <a:rPr lang="pt-BR" sz="2000" spc="-100" dirty="0">
                <a:latin typeface="Casper"/>
                <a:cs typeface="Times New Roman"/>
              </a:rPr>
              <a:t> 10: </a:t>
            </a:r>
            <a:r>
              <a:rPr lang="pt-BR" sz="2000" dirty="0">
                <a:latin typeface="Casper"/>
              </a:rPr>
              <a:t>ENCODER DIAGRAM  </a:t>
            </a:r>
            <a:endParaRPr lang="pt-BR" sz="2000" dirty="0">
              <a:latin typeface="Casper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04800"/>
            <a:ext cx="57912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>
                <a:latin typeface="CasperBOLD"/>
              </a:rPr>
              <a:t>PRIORITY</a:t>
            </a:r>
            <a:r>
              <a:rPr b="1" spc="-185">
                <a:latin typeface="CasperBOLD"/>
              </a:rPr>
              <a:t> </a:t>
            </a:r>
            <a:r>
              <a:rPr b="1">
                <a:latin typeface="CasperBOLD"/>
              </a:rPr>
              <a:t>ENCODER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914399"/>
            <a:ext cx="8229600" cy="95539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spc="-5" dirty="0">
                <a:latin typeface="Casper"/>
                <a:cs typeface="Times New Roman"/>
              </a:rPr>
              <a:t>As the </a:t>
            </a:r>
            <a:r>
              <a:rPr sz="1600" spc="-10" dirty="0">
                <a:latin typeface="Casper"/>
                <a:cs typeface="Times New Roman"/>
              </a:rPr>
              <a:t>name </a:t>
            </a:r>
            <a:r>
              <a:rPr sz="1600" dirty="0">
                <a:latin typeface="Casper"/>
                <a:cs typeface="Times New Roman"/>
              </a:rPr>
              <a:t>indicates, the priority </a:t>
            </a:r>
            <a:r>
              <a:rPr sz="1600" spc="-5" dirty="0">
                <a:latin typeface="Casper"/>
                <a:cs typeface="Times New Roman"/>
              </a:rPr>
              <a:t>is </a:t>
            </a:r>
            <a:r>
              <a:rPr sz="1600" dirty="0">
                <a:latin typeface="Casper"/>
                <a:cs typeface="Times New Roman"/>
              </a:rPr>
              <a:t>given to inputs</a:t>
            </a:r>
            <a:r>
              <a:rPr sz="1600" spc="-55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line.</a:t>
            </a:r>
            <a:endParaRPr sz="1600">
              <a:latin typeface="Casper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spc="-5" dirty="0">
                <a:latin typeface="Casper"/>
                <a:cs typeface="Times New Roman"/>
              </a:rPr>
              <a:t>If two </a:t>
            </a:r>
            <a:r>
              <a:rPr sz="1600" dirty="0">
                <a:latin typeface="Casper"/>
                <a:cs typeface="Times New Roman"/>
              </a:rPr>
              <a:t>or </a:t>
            </a:r>
            <a:r>
              <a:rPr sz="1600" spc="-10" dirty="0">
                <a:latin typeface="Casper"/>
                <a:cs typeface="Times New Roman"/>
              </a:rPr>
              <a:t>more </a:t>
            </a:r>
            <a:r>
              <a:rPr sz="1600" spc="-5" dirty="0">
                <a:latin typeface="Casper"/>
                <a:cs typeface="Times New Roman"/>
              </a:rPr>
              <a:t>input lines are high at </a:t>
            </a:r>
            <a:r>
              <a:rPr sz="1600" dirty="0">
                <a:latin typeface="Casper"/>
                <a:cs typeface="Times New Roman"/>
              </a:rPr>
              <a:t>the </a:t>
            </a:r>
            <a:r>
              <a:rPr sz="1600" spc="-10" dirty="0">
                <a:latin typeface="Casper"/>
                <a:cs typeface="Times New Roman"/>
              </a:rPr>
              <a:t>same time </a:t>
            </a:r>
            <a:r>
              <a:rPr sz="1600" spc="-5" dirty="0">
                <a:latin typeface="Casper"/>
                <a:cs typeface="Times New Roman"/>
              </a:rPr>
              <a:t>i.e 1 at </a:t>
            </a:r>
            <a:r>
              <a:rPr sz="1600" dirty="0">
                <a:latin typeface="Casper"/>
                <a:cs typeface="Times New Roman"/>
              </a:rPr>
              <a:t>the </a:t>
            </a:r>
            <a:r>
              <a:rPr sz="1600" spc="-10" dirty="0">
                <a:latin typeface="Casper"/>
                <a:cs typeface="Times New Roman"/>
              </a:rPr>
              <a:t>same </a:t>
            </a:r>
            <a:r>
              <a:rPr sz="1600" spc="-5" dirty="0">
                <a:latin typeface="Casper"/>
                <a:cs typeface="Times New Roman"/>
              </a:rPr>
              <a:t>time,  then the input line with high priority shall be</a:t>
            </a:r>
            <a:r>
              <a:rPr sz="1600" spc="15" dirty="0">
                <a:latin typeface="Casper"/>
                <a:cs typeface="Times New Roman"/>
              </a:rPr>
              <a:t> </a:t>
            </a:r>
            <a:r>
              <a:rPr sz="1600" spc="-5" dirty="0">
                <a:latin typeface="Casper"/>
                <a:cs typeface="Times New Roman"/>
              </a:rPr>
              <a:t>considered.</a:t>
            </a:r>
            <a:endParaRPr sz="1600">
              <a:latin typeface="Casper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spc="-5" dirty="0">
                <a:latin typeface="Casper"/>
                <a:cs typeface="Times New Roman"/>
              </a:rPr>
              <a:t>Block diagram and </a:t>
            </a:r>
            <a:r>
              <a:rPr sz="1600" spc="-20" dirty="0">
                <a:latin typeface="Casper"/>
                <a:cs typeface="Times New Roman"/>
              </a:rPr>
              <a:t>Truth </a:t>
            </a:r>
            <a:r>
              <a:rPr sz="1600" spc="-5" dirty="0">
                <a:latin typeface="Casper"/>
                <a:cs typeface="Times New Roman"/>
              </a:rPr>
              <a:t>table of Priority Encoder are shown </a:t>
            </a:r>
            <a:r>
              <a:rPr sz="1600" spc="-5">
                <a:latin typeface="Casper"/>
                <a:cs typeface="Times New Roman"/>
              </a:rPr>
              <a:t>in</a:t>
            </a:r>
            <a:r>
              <a:rPr sz="1600" spc="75">
                <a:latin typeface="Casper"/>
                <a:cs typeface="Times New Roman"/>
              </a:rPr>
              <a:t> </a:t>
            </a:r>
            <a:r>
              <a:rPr sz="1600" spc="-5">
                <a:latin typeface="Casper"/>
                <a:cs typeface="Times New Roman"/>
              </a:rPr>
              <a:t>fig.</a:t>
            </a:r>
            <a:r>
              <a:rPr lang="en-US" sz="1600" spc="-5" dirty="0">
                <a:latin typeface="Casper"/>
                <a:cs typeface="Times New Roman"/>
              </a:rPr>
              <a:t> 1.6.</a:t>
            </a:r>
            <a:endParaRPr sz="1600">
              <a:latin typeface="Casper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7883" y="2958083"/>
            <a:ext cx="1394460" cy="2231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1208" y="3214116"/>
            <a:ext cx="859536" cy="1783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1208" y="3721608"/>
            <a:ext cx="859536" cy="1737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1208" y="4265676"/>
            <a:ext cx="859536" cy="1737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1208" y="4786884"/>
            <a:ext cx="859536" cy="1737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29483" y="3369564"/>
            <a:ext cx="859536" cy="1737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29483" y="4613147"/>
            <a:ext cx="859536" cy="17830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0540" y="2933191"/>
            <a:ext cx="3175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D</a:t>
            </a:r>
            <a:r>
              <a:rPr sz="1800" spc="-7" baseline="-20833" dirty="0">
                <a:latin typeface="Times New Roman"/>
                <a:cs typeface="Times New Roman"/>
              </a:rPr>
              <a:t>3</a:t>
            </a:r>
            <a:endParaRPr sz="1800" baseline="-20833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440"/>
              </a:spcBef>
            </a:pPr>
            <a:r>
              <a:rPr sz="1800" spc="-5" dirty="0">
                <a:latin typeface="Times New Roman"/>
                <a:cs typeface="Times New Roman"/>
              </a:rPr>
              <a:t>D</a:t>
            </a:r>
            <a:r>
              <a:rPr sz="1800" spc="-7" baseline="-20833" dirty="0">
                <a:latin typeface="Times New Roman"/>
                <a:cs typeface="Times New Roman"/>
              </a:rPr>
              <a:t>2</a:t>
            </a:r>
            <a:endParaRPr sz="1800" baseline="-2083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0540" y="3998721"/>
            <a:ext cx="329565" cy="835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D</a:t>
            </a:r>
            <a:r>
              <a:rPr sz="1800" spc="-7" baseline="-20833" dirty="0">
                <a:latin typeface="Times New Roman"/>
                <a:cs typeface="Times New Roman"/>
              </a:rPr>
              <a:t>1</a:t>
            </a:r>
            <a:endParaRPr sz="1800" baseline="-20833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2050"/>
              </a:spcBef>
            </a:pPr>
            <a:r>
              <a:rPr sz="1800" spc="-5" dirty="0">
                <a:latin typeface="Times New Roman"/>
                <a:cs typeface="Times New Roman"/>
              </a:rPr>
              <a:t>D</a:t>
            </a:r>
            <a:r>
              <a:rPr sz="1800" spc="-7" baseline="-20833" dirty="0">
                <a:latin typeface="Times New Roman"/>
                <a:cs typeface="Times New Roman"/>
              </a:rPr>
              <a:t>0</a:t>
            </a:r>
            <a:endParaRPr sz="1800" baseline="-2083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25775" y="3097783"/>
            <a:ext cx="2908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Y</a:t>
            </a:r>
            <a:r>
              <a:rPr sz="1575" baseline="-21164" dirty="0">
                <a:latin typeface="Times New Roman"/>
                <a:cs typeface="Times New Roman"/>
              </a:rPr>
              <a:t>1</a:t>
            </a:r>
            <a:endParaRPr sz="1575" baseline="-21164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47364" y="4337430"/>
            <a:ext cx="2908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Y</a:t>
            </a:r>
            <a:r>
              <a:rPr sz="1575" baseline="-21164" dirty="0">
                <a:latin typeface="Times New Roman"/>
                <a:cs typeface="Times New Roman"/>
              </a:rPr>
              <a:t>0</a:t>
            </a:r>
            <a:endParaRPr sz="1575" baseline="-21164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0739" y="2237054"/>
            <a:ext cx="13284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AFEF"/>
                </a:solidFill>
                <a:latin typeface="Times New Roman"/>
                <a:cs typeface="Times New Roman"/>
              </a:rPr>
              <a:t>Highest</a:t>
            </a:r>
            <a:r>
              <a:rPr sz="1600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00AFEF"/>
                </a:solidFill>
                <a:latin typeface="Times New Roman"/>
                <a:cs typeface="Times New Roman"/>
              </a:rPr>
              <a:t>Priority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00AFEF"/>
                </a:solidFill>
                <a:latin typeface="Times New Roman"/>
                <a:cs typeface="Times New Roman"/>
              </a:rPr>
              <a:t>Input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35533" y="2753995"/>
            <a:ext cx="309880" cy="234950"/>
          </a:xfrm>
          <a:custGeom>
            <a:avLst/>
            <a:gdLst/>
            <a:ahLst/>
            <a:cxnLst/>
            <a:rect l="l" t="t" r="r" b="b"/>
            <a:pathLst>
              <a:path w="309880" h="234950">
                <a:moveTo>
                  <a:pt x="45935" y="135127"/>
                </a:moveTo>
                <a:lnTo>
                  <a:pt x="41275" y="137032"/>
                </a:lnTo>
                <a:lnTo>
                  <a:pt x="0" y="234950"/>
                </a:lnTo>
                <a:lnTo>
                  <a:pt x="27484" y="231775"/>
                </a:lnTo>
                <a:lnTo>
                  <a:pt x="17360" y="231775"/>
                </a:lnTo>
                <a:lnTo>
                  <a:pt x="7835" y="219075"/>
                </a:lnTo>
                <a:lnTo>
                  <a:pt x="31371" y="201430"/>
                </a:lnTo>
                <a:lnTo>
                  <a:pt x="55905" y="143255"/>
                </a:lnTo>
                <a:lnTo>
                  <a:pt x="54013" y="138556"/>
                </a:lnTo>
                <a:lnTo>
                  <a:pt x="49974" y="136905"/>
                </a:lnTo>
                <a:lnTo>
                  <a:pt x="45935" y="135127"/>
                </a:lnTo>
                <a:close/>
              </a:path>
              <a:path w="309880" h="234950">
                <a:moveTo>
                  <a:pt x="31371" y="201430"/>
                </a:moveTo>
                <a:lnTo>
                  <a:pt x="7835" y="219075"/>
                </a:lnTo>
                <a:lnTo>
                  <a:pt x="17360" y="231775"/>
                </a:lnTo>
                <a:lnTo>
                  <a:pt x="21596" y="228600"/>
                </a:lnTo>
                <a:lnTo>
                  <a:pt x="19913" y="228600"/>
                </a:lnTo>
                <a:lnTo>
                  <a:pt x="11684" y="217550"/>
                </a:lnTo>
                <a:lnTo>
                  <a:pt x="25236" y="215979"/>
                </a:lnTo>
                <a:lnTo>
                  <a:pt x="31371" y="201430"/>
                </a:lnTo>
                <a:close/>
              </a:path>
              <a:path w="309880" h="234950">
                <a:moveTo>
                  <a:pt x="103670" y="206882"/>
                </a:moveTo>
                <a:lnTo>
                  <a:pt x="40845" y="214168"/>
                </a:lnTo>
                <a:lnTo>
                  <a:pt x="17360" y="231775"/>
                </a:lnTo>
                <a:lnTo>
                  <a:pt x="27484" y="231775"/>
                </a:lnTo>
                <a:lnTo>
                  <a:pt x="105498" y="222757"/>
                </a:lnTo>
                <a:lnTo>
                  <a:pt x="108623" y="218820"/>
                </a:lnTo>
                <a:lnTo>
                  <a:pt x="107607" y="210057"/>
                </a:lnTo>
                <a:lnTo>
                  <a:pt x="103670" y="206882"/>
                </a:lnTo>
                <a:close/>
              </a:path>
              <a:path w="309880" h="234950">
                <a:moveTo>
                  <a:pt x="25236" y="215979"/>
                </a:moveTo>
                <a:lnTo>
                  <a:pt x="11684" y="217550"/>
                </a:lnTo>
                <a:lnTo>
                  <a:pt x="19913" y="228600"/>
                </a:lnTo>
                <a:lnTo>
                  <a:pt x="25236" y="215979"/>
                </a:lnTo>
                <a:close/>
              </a:path>
              <a:path w="309880" h="234950">
                <a:moveTo>
                  <a:pt x="40845" y="214168"/>
                </a:moveTo>
                <a:lnTo>
                  <a:pt x="25236" y="215979"/>
                </a:lnTo>
                <a:lnTo>
                  <a:pt x="19913" y="228600"/>
                </a:lnTo>
                <a:lnTo>
                  <a:pt x="21596" y="228600"/>
                </a:lnTo>
                <a:lnTo>
                  <a:pt x="40845" y="214168"/>
                </a:lnTo>
                <a:close/>
              </a:path>
              <a:path w="309880" h="234950">
                <a:moveTo>
                  <a:pt x="300062" y="0"/>
                </a:moveTo>
                <a:lnTo>
                  <a:pt x="31371" y="201430"/>
                </a:lnTo>
                <a:lnTo>
                  <a:pt x="25236" y="215979"/>
                </a:lnTo>
                <a:lnTo>
                  <a:pt x="40845" y="214168"/>
                </a:lnTo>
                <a:lnTo>
                  <a:pt x="309587" y="12700"/>
                </a:lnTo>
                <a:lnTo>
                  <a:pt x="30006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9574" y="4963795"/>
            <a:ext cx="386715" cy="386715"/>
          </a:xfrm>
          <a:custGeom>
            <a:avLst/>
            <a:gdLst/>
            <a:ahLst/>
            <a:cxnLst/>
            <a:rect l="l" t="t" r="r" b="b"/>
            <a:pathLst>
              <a:path w="386715" h="386714">
                <a:moveTo>
                  <a:pt x="22289" y="22373"/>
                </a:moveTo>
                <a:lnTo>
                  <a:pt x="26273" y="37516"/>
                </a:lnTo>
                <a:lnTo>
                  <a:pt x="375412" y="386714"/>
                </a:lnTo>
                <a:lnTo>
                  <a:pt x="386638" y="375411"/>
                </a:lnTo>
                <a:lnTo>
                  <a:pt x="37534" y="26367"/>
                </a:lnTo>
                <a:lnTo>
                  <a:pt x="22289" y="22373"/>
                </a:lnTo>
                <a:close/>
              </a:path>
              <a:path w="386715" h="386714">
                <a:moveTo>
                  <a:pt x="0" y="0"/>
                </a:moveTo>
                <a:lnTo>
                  <a:pt x="25941" y="98678"/>
                </a:lnTo>
                <a:lnTo>
                  <a:pt x="27025" y="102742"/>
                </a:lnTo>
                <a:lnTo>
                  <a:pt x="31369" y="105282"/>
                </a:lnTo>
                <a:lnTo>
                  <a:pt x="35610" y="104139"/>
                </a:lnTo>
                <a:lnTo>
                  <a:pt x="39852" y="103123"/>
                </a:lnTo>
                <a:lnTo>
                  <a:pt x="42379" y="98678"/>
                </a:lnTo>
                <a:lnTo>
                  <a:pt x="41262" y="94487"/>
                </a:lnTo>
                <a:lnTo>
                  <a:pt x="26273" y="37516"/>
                </a:lnTo>
                <a:lnTo>
                  <a:pt x="5524" y="16763"/>
                </a:lnTo>
                <a:lnTo>
                  <a:pt x="16751" y="5587"/>
                </a:lnTo>
                <a:lnTo>
                  <a:pt x="21136" y="5587"/>
                </a:lnTo>
                <a:lnTo>
                  <a:pt x="0" y="0"/>
                </a:lnTo>
                <a:close/>
              </a:path>
              <a:path w="386715" h="386714">
                <a:moveTo>
                  <a:pt x="21136" y="5587"/>
                </a:moveTo>
                <a:lnTo>
                  <a:pt x="16751" y="5587"/>
                </a:lnTo>
                <a:lnTo>
                  <a:pt x="37534" y="26367"/>
                </a:lnTo>
                <a:lnTo>
                  <a:pt x="98666" y="42417"/>
                </a:lnTo>
                <a:lnTo>
                  <a:pt x="103009" y="39877"/>
                </a:lnTo>
                <a:lnTo>
                  <a:pt x="104127" y="35686"/>
                </a:lnTo>
                <a:lnTo>
                  <a:pt x="105244" y="31368"/>
                </a:lnTo>
                <a:lnTo>
                  <a:pt x="102704" y="27050"/>
                </a:lnTo>
                <a:lnTo>
                  <a:pt x="98475" y="26034"/>
                </a:lnTo>
                <a:lnTo>
                  <a:pt x="21136" y="5587"/>
                </a:lnTo>
                <a:close/>
              </a:path>
              <a:path w="386715" h="386714">
                <a:moveTo>
                  <a:pt x="16751" y="5587"/>
                </a:moveTo>
                <a:lnTo>
                  <a:pt x="5524" y="16763"/>
                </a:lnTo>
                <a:lnTo>
                  <a:pt x="26273" y="37516"/>
                </a:lnTo>
                <a:lnTo>
                  <a:pt x="22289" y="22373"/>
                </a:lnTo>
                <a:lnTo>
                  <a:pt x="9118" y="18922"/>
                </a:lnTo>
                <a:lnTo>
                  <a:pt x="18808" y="9143"/>
                </a:lnTo>
                <a:lnTo>
                  <a:pt x="20307" y="9143"/>
                </a:lnTo>
                <a:lnTo>
                  <a:pt x="16751" y="5587"/>
                </a:lnTo>
                <a:close/>
              </a:path>
              <a:path w="386715" h="386714">
                <a:moveTo>
                  <a:pt x="20307" y="9143"/>
                </a:moveTo>
                <a:lnTo>
                  <a:pt x="18808" y="9143"/>
                </a:lnTo>
                <a:lnTo>
                  <a:pt x="22289" y="22373"/>
                </a:lnTo>
                <a:lnTo>
                  <a:pt x="37534" y="26367"/>
                </a:lnTo>
                <a:lnTo>
                  <a:pt x="20307" y="9143"/>
                </a:lnTo>
                <a:close/>
              </a:path>
              <a:path w="386715" h="386714">
                <a:moveTo>
                  <a:pt x="18808" y="9143"/>
                </a:moveTo>
                <a:lnTo>
                  <a:pt x="9118" y="18922"/>
                </a:lnTo>
                <a:lnTo>
                  <a:pt x="22289" y="22373"/>
                </a:lnTo>
                <a:lnTo>
                  <a:pt x="18808" y="914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679194" y="3747642"/>
            <a:ext cx="7023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F5F"/>
                </a:solidFill>
                <a:latin typeface="Times New Roman"/>
                <a:cs typeface="Times New Roman"/>
              </a:rPr>
              <a:t>Priority  Enc</a:t>
            </a:r>
            <a:r>
              <a:rPr sz="1600" dirty="0">
                <a:solidFill>
                  <a:srgbClr val="001F5F"/>
                </a:solidFill>
                <a:latin typeface="Times New Roman"/>
                <a:cs typeface="Times New Roman"/>
              </a:rPr>
              <a:t>o</a:t>
            </a:r>
            <a:r>
              <a:rPr sz="1600" spc="-5" dirty="0">
                <a:solidFill>
                  <a:srgbClr val="001F5F"/>
                </a:solidFill>
                <a:latin typeface="Times New Roman"/>
                <a:cs typeface="Times New Roman"/>
              </a:rPr>
              <a:t>der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413250" y="3041650"/>
          <a:ext cx="4266562" cy="25603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4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73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 gridSpan="4">
                  <a:txBody>
                    <a:bodyPr/>
                    <a:lstStyle/>
                    <a:p>
                      <a:pPr marL="6896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INPUTS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1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OUTPUTS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1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V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 marR="269875" algn="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1D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R="28765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R="28892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R="28892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R="28892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x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R="287655" algn="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4498975" y="2464434"/>
            <a:ext cx="1621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TRUTH</a:t>
            </a:r>
            <a:r>
              <a:rPr sz="1800" u="sng" spc="-10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TABLE: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1400" y="5791200"/>
            <a:ext cx="426720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  </a:t>
            </a:r>
            <a:r>
              <a:rPr lang="pt-BR" sz="1600" dirty="0">
                <a:latin typeface="Casper"/>
                <a:cs typeface="Times New Roman"/>
              </a:rPr>
              <a:t>Fig.</a:t>
            </a:r>
            <a:r>
              <a:rPr lang="pt-BR" sz="1600" spc="-100" dirty="0">
                <a:latin typeface="Casper"/>
                <a:cs typeface="Times New Roman"/>
              </a:rPr>
              <a:t> 1 1 : </a:t>
            </a:r>
            <a:r>
              <a:rPr lang="pt-BR" sz="1600" dirty="0">
                <a:latin typeface="Casper"/>
              </a:rPr>
              <a:t>ENCODER DIAGRAM </a:t>
            </a:r>
            <a:endParaRPr lang="pt-BR" sz="1600" dirty="0">
              <a:latin typeface="Casper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0739" y="5285689"/>
            <a:ext cx="2572385" cy="1046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93900" algn="l"/>
              </a:tabLst>
            </a:pPr>
            <a:r>
              <a:rPr sz="1600" spc="-5" dirty="0">
                <a:solidFill>
                  <a:srgbClr val="00AFEF"/>
                </a:solidFill>
                <a:latin typeface="Times New Roman"/>
                <a:cs typeface="Times New Roman"/>
              </a:rPr>
              <a:t>Lowest P</a:t>
            </a:r>
            <a:r>
              <a:rPr sz="1600" spc="-15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1600" spc="-5" dirty="0">
                <a:solidFill>
                  <a:srgbClr val="00AFEF"/>
                </a:solidFill>
                <a:latin typeface="Times New Roman"/>
                <a:cs typeface="Times New Roman"/>
              </a:rPr>
              <a:t>iority</a:t>
            </a:r>
            <a:r>
              <a:rPr sz="1600" dirty="0">
                <a:solidFill>
                  <a:srgbClr val="00AFEF"/>
                </a:solidFill>
                <a:latin typeface="Times New Roman"/>
                <a:cs typeface="Times New Roman"/>
              </a:rPr>
              <a:t>	</a:t>
            </a:r>
            <a:r>
              <a:rPr sz="1600" spc="-5" dirty="0">
                <a:solidFill>
                  <a:srgbClr val="00AFEF"/>
                </a:solidFill>
                <a:latin typeface="Times New Roman"/>
                <a:cs typeface="Times New Roman"/>
              </a:rPr>
              <a:t>Outp</a:t>
            </a:r>
            <a:r>
              <a:rPr sz="1600" dirty="0">
                <a:solidFill>
                  <a:srgbClr val="00AFEF"/>
                </a:solidFill>
                <a:latin typeface="Times New Roman"/>
                <a:cs typeface="Times New Roman"/>
              </a:rPr>
              <a:t>u</a:t>
            </a:r>
            <a:r>
              <a:rPr sz="1600" spc="-5" dirty="0">
                <a:solidFill>
                  <a:srgbClr val="00AFEF"/>
                </a:solidFill>
                <a:latin typeface="Times New Roman"/>
                <a:cs typeface="Times New Roman"/>
              </a:rPr>
              <a:t>t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00AFEF"/>
                </a:solidFill>
                <a:latin typeface="Times New Roman"/>
                <a:cs typeface="Times New Roman"/>
              </a:rPr>
              <a:t>Input</a:t>
            </a:r>
            <a:endParaRPr sz="1600">
              <a:latin typeface="Times New Roman"/>
              <a:cs typeface="Times New Roman"/>
            </a:endParaRPr>
          </a:p>
          <a:p>
            <a:pPr marL="12700" marR="401955">
              <a:lnSpc>
                <a:spcPct val="100000"/>
              </a:lnSpc>
              <a:spcBef>
                <a:spcPts val="360"/>
              </a:spcBef>
            </a:pPr>
            <a:r>
              <a:rPr sz="1600" i="1" spc="-5" dirty="0">
                <a:solidFill>
                  <a:srgbClr val="E36C09"/>
                </a:solidFill>
                <a:latin typeface="Times New Roman"/>
                <a:cs typeface="Times New Roman"/>
              </a:rPr>
              <a:t>Block Diagram of Priority  Encoder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10200" y="2886329"/>
            <a:ext cx="762000" cy="628650"/>
          </a:xfrm>
          <a:custGeom>
            <a:avLst/>
            <a:gdLst/>
            <a:ahLst/>
            <a:cxnLst/>
            <a:rect l="l" t="t" r="r" b="b"/>
            <a:pathLst>
              <a:path w="762000" h="628650">
                <a:moveTo>
                  <a:pt x="0" y="628650"/>
                </a:moveTo>
                <a:lnTo>
                  <a:pt x="762000" y="628650"/>
                </a:lnTo>
                <a:lnTo>
                  <a:pt x="762000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72200" y="2886329"/>
            <a:ext cx="762000" cy="628650"/>
          </a:xfrm>
          <a:custGeom>
            <a:avLst/>
            <a:gdLst/>
            <a:ahLst/>
            <a:cxnLst/>
            <a:rect l="l" t="t" r="r" b="b"/>
            <a:pathLst>
              <a:path w="762000" h="628650">
                <a:moveTo>
                  <a:pt x="0" y="628650"/>
                </a:moveTo>
                <a:lnTo>
                  <a:pt x="762000" y="628650"/>
                </a:lnTo>
                <a:lnTo>
                  <a:pt x="762000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934200" y="2886329"/>
            <a:ext cx="762000" cy="628650"/>
          </a:xfrm>
          <a:custGeom>
            <a:avLst/>
            <a:gdLst/>
            <a:ahLst/>
            <a:cxnLst/>
            <a:rect l="l" t="t" r="r" b="b"/>
            <a:pathLst>
              <a:path w="762000" h="628650">
                <a:moveTo>
                  <a:pt x="0" y="628650"/>
                </a:moveTo>
                <a:lnTo>
                  <a:pt x="762000" y="628650"/>
                </a:lnTo>
                <a:lnTo>
                  <a:pt x="762000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96200" y="2886329"/>
            <a:ext cx="762000" cy="628650"/>
          </a:xfrm>
          <a:custGeom>
            <a:avLst/>
            <a:gdLst/>
            <a:ahLst/>
            <a:cxnLst/>
            <a:rect l="l" t="t" r="r" b="b"/>
            <a:pathLst>
              <a:path w="762000" h="628650">
                <a:moveTo>
                  <a:pt x="0" y="628650"/>
                </a:moveTo>
                <a:lnTo>
                  <a:pt x="762000" y="628650"/>
                </a:lnTo>
                <a:lnTo>
                  <a:pt x="762000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10200" y="3514978"/>
            <a:ext cx="762000" cy="628650"/>
          </a:xfrm>
          <a:custGeom>
            <a:avLst/>
            <a:gdLst/>
            <a:ahLst/>
            <a:cxnLst/>
            <a:rect l="l" t="t" r="r" b="b"/>
            <a:pathLst>
              <a:path w="762000" h="628650">
                <a:moveTo>
                  <a:pt x="0" y="628650"/>
                </a:moveTo>
                <a:lnTo>
                  <a:pt x="762000" y="628650"/>
                </a:lnTo>
                <a:lnTo>
                  <a:pt x="762000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72200" y="3514978"/>
            <a:ext cx="762000" cy="628650"/>
          </a:xfrm>
          <a:custGeom>
            <a:avLst/>
            <a:gdLst/>
            <a:ahLst/>
            <a:cxnLst/>
            <a:rect l="l" t="t" r="r" b="b"/>
            <a:pathLst>
              <a:path w="762000" h="628650">
                <a:moveTo>
                  <a:pt x="0" y="628650"/>
                </a:moveTo>
                <a:lnTo>
                  <a:pt x="762000" y="628650"/>
                </a:lnTo>
                <a:lnTo>
                  <a:pt x="762000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34200" y="3514978"/>
            <a:ext cx="762000" cy="628650"/>
          </a:xfrm>
          <a:custGeom>
            <a:avLst/>
            <a:gdLst/>
            <a:ahLst/>
            <a:cxnLst/>
            <a:rect l="l" t="t" r="r" b="b"/>
            <a:pathLst>
              <a:path w="762000" h="628650">
                <a:moveTo>
                  <a:pt x="0" y="628650"/>
                </a:moveTo>
                <a:lnTo>
                  <a:pt x="762000" y="628650"/>
                </a:lnTo>
                <a:lnTo>
                  <a:pt x="762000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96200" y="3514978"/>
            <a:ext cx="762000" cy="628650"/>
          </a:xfrm>
          <a:custGeom>
            <a:avLst/>
            <a:gdLst/>
            <a:ahLst/>
            <a:cxnLst/>
            <a:rect l="l" t="t" r="r" b="b"/>
            <a:pathLst>
              <a:path w="762000" h="628650">
                <a:moveTo>
                  <a:pt x="0" y="628650"/>
                </a:moveTo>
                <a:lnTo>
                  <a:pt x="762000" y="628650"/>
                </a:lnTo>
                <a:lnTo>
                  <a:pt x="762000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10200" y="4143628"/>
            <a:ext cx="762000" cy="628650"/>
          </a:xfrm>
          <a:custGeom>
            <a:avLst/>
            <a:gdLst/>
            <a:ahLst/>
            <a:cxnLst/>
            <a:rect l="l" t="t" r="r" b="b"/>
            <a:pathLst>
              <a:path w="762000" h="628650">
                <a:moveTo>
                  <a:pt x="0" y="628650"/>
                </a:moveTo>
                <a:lnTo>
                  <a:pt x="762000" y="628650"/>
                </a:lnTo>
                <a:lnTo>
                  <a:pt x="762000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172200" y="4143628"/>
            <a:ext cx="762000" cy="628650"/>
          </a:xfrm>
          <a:custGeom>
            <a:avLst/>
            <a:gdLst/>
            <a:ahLst/>
            <a:cxnLst/>
            <a:rect l="l" t="t" r="r" b="b"/>
            <a:pathLst>
              <a:path w="762000" h="628650">
                <a:moveTo>
                  <a:pt x="0" y="628650"/>
                </a:moveTo>
                <a:lnTo>
                  <a:pt x="762000" y="628650"/>
                </a:lnTo>
                <a:lnTo>
                  <a:pt x="762000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934200" y="4143628"/>
            <a:ext cx="762000" cy="628650"/>
          </a:xfrm>
          <a:custGeom>
            <a:avLst/>
            <a:gdLst/>
            <a:ahLst/>
            <a:cxnLst/>
            <a:rect l="l" t="t" r="r" b="b"/>
            <a:pathLst>
              <a:path w="762000" h="628650">
                <a:moveTo>
                  <a:pt x="0" y="628650"/>
                </a:moveTo>
                <a:lnTo>
                  <a:pt x="762000" y="628650"/>
                </a:lnTo>
                <a:lnTo>
                  <a:pt x="762000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696200" y="4143628"/>
            <a:ext cx="762000" cy="628650"/>
          </a:xfrm>
          <a:custGeom>
            <a:avLst/>
            <a:gdLst/>
            <a:ahLst/>
            <a:cxnLst/>
            <a:rect l="l" t="t" r="r" b="b"/>
            <a:pathLst>
              <a:path w="762000" h="628650">
                <a:moveTo>
                  <a:pt x="0" y="628650"/>
                </a:moveTo>
                <a:lnTo>
                  <a:pt x="762000" y="628650"/>
                </a:lnTo>
                <a:lnTo>
                  <a:pt x="762000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10200" y="4772278"/>
            <a:ext cx="762000" cy="628650"/>
          </a:xfrm>
          <a:custGeom>
            <a:avLst/>
            <a:gdLst/>
            <a:ahLst/>
            <a:cxnLst/>
            <a:rect l="l" t="t" r="r" b="b"/>
            <a:pathLst>
              <a:path w="762000" h="628650">
                <a:moveTo>
                  <a:pt x="0" y="628650"/>
                </a:moveTo>
                <a:lnTo>
                  <a:pt x="762000" y="628650"/>
                </a:lnTo>
                <a:lnTo>
                  <a:pt x="762000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72200" y="4772278"/>
            <a:ext cx="762000" cy="628650"/>
          </a:xfrm>
          <a:custGeom>
            <a:avLst/>
            <a:gdLst/>
            <a:ahLst/>
            <a:cxnLst/>
            <a:rect l="l" t="t" r="r" b="b"/>
            <a:pathLst>
              <a:path w="762000" h="628650">
                <a:moveTo>
                  <a:pt x="0" y="628650"/>
                </a:moveTo>
                <a:lnTo>
                  <a:pt x="762000" y="628650"/>
                </a:lnTo>
                <a:lnTo>
                  <a:pt x="762000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34200" y="4772278"/>
            <a:ext cx="762000" cy="628650"/>
          </a:xfrm>
          <a:custGeom>
            <a:avLst/>
            <a:gdLst/>
            <a:ahLst/>
            <a:cxnLst/>
            <a:rect l="l" t="t" r="r" b="b"/>
            <a:pathLst>
              <a:path w="762000" h="628650">
                <a:moveTo>
                  <a:pt x="0" y="628650"/>
                </a:moveTo>
                <a:lnTo>
                  <a:pt x="762000" y="628650"/>
                </a:lnTo>
                <a:lnTo>
                  <a:pt x="762000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696200" y="4772278"/>
            <a:ext cx="762000" cy="628650"/>
          </a:xfrm>
          <a:custGeom>
            <a:avLst/>
            <a:gdLst/>
            <a:ahLst/>
            <a:cxnLst/>
            <a:rect l="l" t="t" r="r" b="b"/>
            <a:pathLst>
              <a:path w="762000" h="628650">
                <a:moveTo>
                  <a:pt x="0" y="628650"/>
                </a:moveTo>
                <a:lnTo>
                  <a:pt x="762000" y="628650"/>
                </a:lnTo>
                <a:lnTo>
                  <a:pt x="762000" y="0"/>
                </a:lnTo>
                <a:lnTo>
                  <a:pt x="0" y="0"/>
                </a:lnTo>
                <a:lnTo>
                  <a:pt x="0" y="62865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72200" y="2879979"/>
            <a:ext cx="0" cy="2527300"/>
          </a:xfrm>
          <a:custGeom>
            <a:avLst/>
            <a:gdLst/>
            <a:ahLst/>
            <a:cxnLst/>
            <a:rect l="l" t="t" r="r" b="b"/>
            <a:pathLst>
              <a:path h="2527300">
                <a:moveTo>
                  <a:pt x="0" y="0"/>
                </a:moveTo>
                <a:lnTo>
                  <a:pt x="0" y="25273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34200" y="2879979"/>
            <a:ext cx="0" cy="2527300"/>
          </a:xfrm>
          <a:custGeom>
            <a:avLst/>
            <a:gdLst/>
            <a:ahLst/>
            <a:cxnLst/>
            <a:rect l="l" t="t" r="r" b="b"/>
            <a:pathLst>
              <a:path h="2527300">
                <a:moveTo>
                  <a:pt x="0" y="0"/>
                </a:moveTo>
                <a:lnTo>
                  <a:pt x="0" y="25273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696200" y="2879979"/>
            <a:ext cx="0" cy="2527300"/>
          </a:xfrm>
          <a:custGeom>
            <a:avLst/>
            <a:gdLst/>
            <a:ahLst/>
            <a:cxnLst/>
            <a:rect l="l" t="t" r="r" b="b"/>
            <a:pathLst>
              <a:path h="2527300">
                <a:moveTo>
                  <a:pt x="0" y="0"/>
                </a:moveTo>
                <a:lnTo>
                  <a:pt x="0" y="25273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403850" y="3514978"/>
            <a:ext cx="3060700" cy="0"/>
          </a:xfrm>
          <a:custGeom>
            <a:avLst/>
            <a:gdLst/>
            <a:ahLst/>
            <a:cxnLst/>
            <a:rect l="l" t="t" r="r" b="b"/>
            <a:pathLst>
              <a:path w="3060700">
                <a:moveTo>
                  <a:pt x="0" y="0"/>
                </a:moveTo>
                <a:lnTo>
                  <a:pt x="306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403850" y="4143628"/>
            <a:ext cx="3060700" cy="0"/>
          </a:xfrm>
          <a:custGeom>
            <a:avLst/>
            <a:gdLst/>
            <a:ahLst/>
            <a:cxnLst/>
            <a:rect l="l" t="t" r="r" b="b"/>
            <a:pathLst>
              <a:path w="3060700">
                <a:moveTo>
                  <a:pt x="0" y="0"/>
                </a:moveTo>
                <a:lnTo>
                  <a:pt x="306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03850" y="4772278"/>
            <a:ext cx="3060700" cy="0"/>
          </a:xfrm>
          <a:custGeom>
            <a:avLst/>
            <a:gdLst/>
            <a:ahLst/>
            <a:cxnLst/>
            <a:rect l="l" t="t" r="r" b="b"/>
            <a:pathLst>
              <a:path w="3060700">
                <a:moveTo>
                  <a:pt x="0" y="0"/>
                </a:moveTo>
                <a:lnTo>
                  <a:pt x="306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410200" y="2879979"/>
            <a:ext cx="0" cy="2527300"/>
          </a:xfrm>
          <a:custGeom>
            <a:avLst/>
            <a:gdLst/>
            <a:ahLst/>
            <a:cxnLst/>
            <a:rect l="l" t="t" r="r" b="b"/>
            <a:pathLst>
              <a:path h="2527300">
                <a:moveTo>
                  <a:pt x="0" y="0"/>
                </a:moveTo>
                <a:lnTo>
                  <a:pt x="0" y="25273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458200" y="2879979"/>
            <a:ext cx="0" cy="2527300"/>
          </a:xfrm>
          <a:custGeom>
            <a:avLst/>
            <a:gdLst/>
            <a:ahLst/>
            <a:cxnLst/>
            <a:rect l="l" t="t" r="r" b="b"/>
            <a:pathLst>
              <a:path h="2527300">
                <a:moveTo>
                  <a:pt x="0" y="0"/>
                </a:moveTo>
                <a:lnTo>
                  <a:pt x="0" y="25273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403850" y="2886329"/>
            <a:ext cx="3060700" cy="0"/>
          </a:xfrm>
          <a:custGeom>
            <a:avLst/>
            <a:gdLst/>
            <a:ahLst/>
            <a:cxnLst/>
            <a:rect l="l" t="t" r="r" b="b"/>
            <a:pathLst>
              <a:path w="3060700">
                <a:moveTo>
                  <a:pt x="0" y="0"/>
                </a:moveTo>
                <a:lnTo>
                  <a:pt x="306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403850" y="5400928"/>
            <a:ext cx="3060700" cy="0"/>
          </a:xfrm>
          <a:custGeom>
            <a:avLst/>
            <a:gdLst/>
            <a:ahLst/>
            <a:cxnLst/>
            <a:rect l="l" t="t" r="r" b="b"/>
            <a:pathLst>
              <a:path w="3060700">
                <a:moveTo>
                  <a:pt x="0" y="0"/>
                </a:moveTo>
                <a:lnTo>
                  <a:pt x="306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72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600" y="609600"/>
                </a:moveTo>
                <a:lnTo>
                  <a:pt x="0" y="0"/>
                </a:lnTo>
              </a:path>
            </a:pathLst>
          </a:custGeom>
          <a:ln w="1524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772659" y="2422779"/>
            <a:ext cx="640080" cy="457200"/>
          </a:xfrm>
          <a:custGeom>
            <a:avLst/>
            <a:gdLst/>
            <a:ahLst/>
            <a:cxnLst/>
            <a:rect l="l" t="t" r="r" b="b"/>
            <a:pathLst>
              <a:path w="640079" h="457200">
                <a:moveTo>
                  <a:pt x="640079" y="457200"/>
                </a:moveTo>
                <a:lnTo>
                  <a:pt x="0" y="0"/>
                </a:lnTo>
              </a:path>
            </a:pathLst>
          </a:custGeom>
          <a:ln w="1524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40512" y="2588768"/>
            <a:ext cx="6153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10" dirty="0">
                <a:latin typeface="Times New Roman"/>
                <a:cs typeface="Times New Roman"/>
              </a:rPr>
              <a:t>D</a:t>
            </a:r>
            <a:r>
              <a:rPr sz="1950" spc="15" baseline="-21367" dirty="0">
                <a:latin typeface="Times New Roman"/>
                <a:cs typeface="Times New Roman"/>
              </a:rPr>
              <a:t>3</a:t>
            </a:r>
            <a:r>
              <a:rPr sz="2000" spc="10" dirty="0">
                <a:latin typeface="Times New Roman"/>
                <a:cs typeface="Times New Roman"/>
              </a:rPr>
              <a:t>D</a:t>
            </a:r>
            <a:r>
              <a:rPr sz="1950" spc="15" baseline="-21367" dirty="0">
                <a:latin typeface="Times New Roman"/>
                <a:cs typeface="Times New Roman"/>
              </a:rPr>
              <a:t>2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73575" y="2519933"/>
            <a:ext cx="6153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10" dirty="0">
                <a:latin typeface="Times New Roman"/>
                <a:cs typeface="Times New Roman"/>
              </a:rPr>
              <a:t>D</a:t>
            </a:r>
            <a:r>
              <a:rPr sz="1950" spc="15" baseline="-21367" dirty="0">
                <a:latin typeface="Times New Roman"/>
                <a:cs typeface="Times New Roman"/>
              </a:rPr>
              <a:t>3</a:t>
            </a:r>
            <a:r>
              <a:rPr sz="2000" spc="10" dirty="0">
                <a:latin typeface="Times New Roman"/>
                <a:cs typeface="Times New Roman"/>
              </a:rPr>
              <a:t>D</a:t>
            </a:r>
            <a:r>
              <a:rPr sz="1950" spc="15" baseline="-21367" dirty="0">
                <a:latin typeface="Times New Roman"/>
                <a:cs typeface="Times New Roman"/>
              </a:rPr>
              <a:t>2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07228" y="2271522"/>
            <a:ext cx="6153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10" dirty="0">
                <a:latin typeface="Times New Roman"/>
                <a:cs typeface="Times New Roman"/>
              </a:rPr>
              <a:t>D</a:t>
            </a:r>
            <a:r>
              <a:rPr sz="1950" spc="15" baseline="-21367" dirty="0">
                <a:latin typeface="Times New Roman"/>
                <a:cs typeface="Times New Roman"/>
              </a:rPr>
              <a:t>1</a:t>
            </a:r>
            <a:r>
              <a:rPr sz="2000" spc="10" dirty="0">
                <a:latin typeface="Times New Roman"/>
                <a:cs typeface="Times New Roman"/>
              </a:rPr>
              <a:t>D</a:t>
            </a:r>
            <a:r>
              <a:rPr sz="1950" spc="15" baseline="-21367" dirty="0">
                <a:latin typeface="Times New Roman"/>
                <a:cs typeface="Times New Roman"/>
              </a:rPr>
              <a:t>0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1040" y="2234006"/>
            <a:ext cx="3263265" cy="60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</a:pPr>
            <a:r>
              <a:rPr sz="2000" spc="10" dirty="0">
                <a:latin typeface="Times New Roman"/>
                <a:cs typeface="Times New Roman"/>
              </a:rPr>
              <a:t>D</a:t>
            </a:r>
            <a:r>
              <a:rPr sz="1950" spc="15" baseline="-21367" dirty="0">
                <a:latin typeface="Times New Roman"/>
                <a:cs typeface="Times New Roman"/>
              </a:rPr>
              <a:t>1</a:t>
            </a:r>
            <a:r>
              <a:rPr sz="2000" spc="10" dirty="0">
                <a:latin typeface="Times New Roman"/>
                <a:cs typeface="Times New Roman"/>
              </a:rPr>
              <a:t>D</a:t>
            </a:r>
            <a:r>
              <a:rPr sz="1950" spc="15" baseline="-21367" dirty="0">
                <a:latin typeface="Times New Roman"/>
                <a:cs typeface="Times New Roman"/>
              </a:rPr>
              <a:t>0</a:t>
            </a:r>
            <a:endParaRPr sz="1950" baseline="-21367">
              <a:latin typeface="Times New Roman"/>
              <a:cs typeface="Times New Roman"/>
            </a:endParaRPr>
          </a:p>
          <a:p>
            <a:pPr marL="609600">
              <a:lnSpc>
                <a:spcPct val="100000"/>
              </a:lnSpc>
              <a:spcBef>
                <a:spcPts val="10"/>
              </a:spcBef>
              <a:tabLst>
                <a:tab pos="1463040" algn="l"/>
                <a:tab pos="2263140" algn="l"/>
                <a:tab pos="2995295" algn="l"/>
              </a:tabLst>
            </a:pPr>
            <a:r>
              <a:rPr sz="1800" dirty="0">
                <a:latin typeface="Times New Roman"/>
                <a:cs typeface="Times New Roman"/>
              </a:rPr>
              <a:t>00	01	</a:t>
            </a:r>
            <a:r>
              <a:rPr sz="1800" spc="-40" dirty="0">
                <a:latin typeface="Times New Roman"/>
                <a:cs typeface="Times New Roman"/>
              </a:rPr>
              <a:t>11	</a:t>
            </a:r>
            <a:r>
              <a:rPr sz="1800" dirty="0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66028" y="2552776"/>
            <a:ext cx="26441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7410" algn="l"/>
                <a:tab pos="1668780" algn="l"/>
                <a:tab pos="2402205" algn="l"/>
              </a:tabLst>
            </a:pPr>
            <a:r>
              <a:rPr sz="1800" dirty="0">
                <a:latin typeface="Times New Roman"/>
                <a:cs typeface="Times New Roman"/>
              </a:rPr>
              <a:t>00	01	</a:t>
            </a:r>
            <a:r>
              <a:rPr sz="1800" spc="-75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1	</a:t>
            </a:r>
            <a:r>
              <a:rPr sz="1800" spc="-10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1913" y="3064586"/>
            <a:ext cx="254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00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00506" y="3684523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01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3003" y="4305045"/>
            <a:ext cx="236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latin typeface="Times New Roman"/>
                <a:cs typeface="Times New Roman"/>
              </a:rPr>
              <a:t>11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81913" y="4903089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124450" y="4915661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135117" y="4308094"/>
            <a:ext cx="236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latin typeface="Times New Roman"/>
                <a:cs typeface="Times New Roman"/>
              </a:rPr>
              <a:t>11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36641" y="3725036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01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125973" y="3067939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00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109968" y="2362961"/>
            <a:ext cx="107314" cy="990600"/>
          </a:xfrm>
          <a:custGeom>
            <a:avLst/>
            <a:gdLst/>
            <a:ahLst/>
            <a:cxnLst/>
            <a:rect l="l" t="t" r="r" b="b"/>
            <a:pathLst>
              <a:path w="107315" h="990600">
                <a:moveTo>
                  <a:pt x="60071" y="927100"/>
                </a:moveTo>
                <a:lnTo>
                  <a:pt x="44196" y="927100"/>
                </a:lnTo>
                <a:lnTo>
                  <a:pt x="44068" y="990600"/>
                </a:lnTo>
                <a:lnTo>
                  <a:pt x="59943" y="990600"/>
                </a:lnTo>
                <a:lnTo>
                  <a:pt x="60071" y="927100"/>
                </a:lnTo>
                <a:close/>
              </a:path>
              <a:path w="107315" h="990600">
                <a:moveTo>
                  <a:pt x="60198" y="815975"/>
                </a:moveTo>
                <a:lnTo>
                  <a:pt x="44323" y="815975"/>
                </a:lnTo>
                <a:lnTo>
                  <a:pt x="44323" y="879475"/>
                </a:lnTo>
                <a:lnTo>
                  <a:pt x="60198" y="879475"/>
                </a:lnTo>
                <a:lnTo>
                  <a:pt x="60198" y="815975"/>
                </a:lnTo>
                <a:close/>
              </a:path>
              <a:path w="107315" h="990600">
                <a:moveTo>
                  <a:pt x="60451" y="704850"/>
                </a:moveTo>
                <a:lnTo>
                  <a:pt x="44576" y="704850"/>
                </a:lnTo>
                <a:lnTo>
                  <a:pt x="44450" y="768350"/>
                </a:lnTo>
                <a:lnTo>
                  <a:pt x="60325" y="768350"/>
                </a:lnTo>
                <a:lnTo>
                  <a:pt x="60451" y="704850"/>
                </a:lnTo>
                <a:close/>
              </a:path>
              <a:path w="107315" h="990600">
                <a:moveTo>
                  <a:pt x="60578" y="593725"/>
                </a:moveTo>
                <a:lnTo>
                  <a:pt x="44703" y="593725"/>
                </a:lnTo>
                <a:lnTo>
                  <a:pt x="44576" y="657225"/>
                </a:lnTo>
                <a:lnTo>
                  <a:pt x="60451" y="657225"/>
                </a:lnTo>
                <a:lnTo>
                  <a:pt x="60578" y="593725"/>
                </a:lnTo>
                <a:close/>
              </a:path>
              <a:path w="107315" h="990600">
                <a:moveTo>
                  <a:pt x="60832" y="482600"/>
                </a:moveTo>
                <a:lnTo>
                  <a:pt x="44957" y="482600"/>
                </a:lnTo>
                <a:lnTo>
                  <a:pt x="44830" y="546100"/>
                </a:lnTo>
                <a:lnTo>
                  <a:pt x="60705" y="546100"/>
                </a:lnTo>
                <a:lnTo>
                  <a:pt x="60832" y="482600"/>
                </a:lnTo>
                <a:close/>
              </a:path>
              <a:path w="107315" h="990600">
                <a:moveTo>
                  <a:pt x="60959" y="371475"/>
                </a:moveTo>
                <a:lnTo>
                  <a:pt x="45084" y="371475"/>
                </a:lnTo>
                <a:lnTo>
                  <a:pt x="44957" y="434975"/>
                </a:lnTo>
                <a:lnTo>
                  <a:pt x="60832" y="434975"/>
                </a:lnTo>
                <a:lnTo>
                  <a:pt x="60959" y="371475"/>
                </a:lnTo>
                <a:close/>
              </a:path>
              <a:path w="107315" h="990600">
                <a:moveTo>
                  <a:pt x="61086" y="260350"/>
                </a:moveTo>
                <a:lnTo>
                  <a:pt x="45211" y="260350"/>
                </a:lnTo>
                <a:lnTo>
                  <a:pt x="45211" y="323850"/>
                </a:lnTo>
                <a:lnTo>
                  <a:pt x="61086" y="323850"/>
                </a:lnTo>
                <a:lnTo>
                  <a:pt x="61086" y="260350"/>
                </a:lnTo>
                <a:close/>
              </a:path>
              <a:path w="107315" h="990600">
                <a:moveTo>
                  <a:pt x="61340" y="149225"/>
                </a:moveTo>
                <a:lnTo>
                  <a:pt x="45465" y="149225"/>
                </a:lnTo>
                <a:lnTo>
                  <a:pt x="45338" y="212725"/>
                </a:lnTo>
                <a:lnTo>
                  <a:pt x="61213" y="212725"/>
                </a:lnTo>
                <a:lnTo>
                  <a:pt x="61340" y="149225"/>
                </a:lnTo>
                <a:close/>
              </a:path>
              <a:path w="107315" h="990600">
                <a:moveTo>
                  <a:pt x="57429" y="38100"/>
                </a:moveTo>
                <a:lnTo>
                  <a:pt x="49735" y="38100"/>
                </a:lnTo>
                <a:lnTo>
                  <a:pt x="45578" y="45193"/>
                </a:lnTo>
                <a:lnTo>
                  <a:pt x="45465" y="101600"/>
                </a:lnTo>
                <a:lnTo>
                  <a:pt x="61340" y="101600"/>
                </a:lnTo>
                <a:lnTo>
                  <a:pt x="61454" y="45030"/>
                </a:lnTo>
                <a:lnTo>
                  <a:pt x="57429" y="38100"/>
                </a:lnTo>
                <a:close/>
              </a:path>
              <a:path w="107315" h="990600">
                <a:moveTo>
                  <a:pt x="75750" y="38100"/>
                </a:moveTo>
                <a:lnTo>
                  <a:pt x="61467" y="38100"/>
                </a:lnTo>
                <a:lnTo>
                  <a:pt x="61548" y="45193"/>
                </a:lnTo>
                <a:lnTo>
                  <a:pt x="91418" y="96647"/>
                </a:lnTo>
                <a:lnTo>
                  <a:pt x="93217" y="99822"/>
                </a:lnTo>
                <a:lnTo>
                  <a:pt x="98171" y="101091"/>
                </a:lnTo>
                <a:lnTo>
                  <a:pt x="101853" y="98933"/>
                </a:lnTo>
                <a:lnTo>
                  <a:pt x="105663" y="96647"/>
                </a:lnTo>
                <a:lnTo>
                  <a:pt x="106933" y="91821"/>
                </a:lnTo>
                <a:lnTo>
                  <a:pt x="104701" y="87884"/>
                </a:lnTo>
                <a:lnTo>
                  <a:pt x="75750" y="38100"/>
                </a:lnTo>
                <a:close/>
              </a:path>
              <a:path w="107315" h="990600">
                <a:moveTo>
                  <a:pt x="53593" y="0"/>
                </a:moveTo>
                <a:lnTo>
                  <a:pt x="2087" y="88011"/>
                </a:lnTo>
                <a:lnTo>
                  <a:pt x="0" y="91693"/>
                </a:lnTo>
                <a:lnTo>
                  <a:pt x="1270" y="96520"/>
                </a:lnTo>
                <a:lnTo>
                  <a:pt x="4952" y="98678"/>
                </a:lnTo>
                <a:lnTo>
                  <a:pt x="8762" y="100964"/>
                </a:lnTo>
                <a:lnTo>
                  <a:pt x="13715" y="99695"/>
                </a:lnTo>
                <a:lnTo>
                  <a:pt x="15875" y="95885"/>
                </a:lnTo>
                <a:lnTo>
                  <a:pt x="45578" y="45193"/>
                </a:lnTo>
                <a:lnTo>
                  <a:pt x="45592" y="38100"/>
                </a:lnTo>
                <a:lnTo>
                  <a:pt x="49735" y="38100"/>
                </a:lnTo>
                <a:lnTo>
                  <a:pt x="53600" y="31505"/>
                </a:lnTo>
                <a:lnTo>
                  <a:pt x="46735" y="19685"/>
                </a:lnTo>
                <a:lnTo>
                  <a:pt x="65041" y="19685"/>
                </a:lnTo>
                <a:lnTo>
                  <a:pt x="53593" y="0"/>
                </a:lnTo>
                <a:close/>
              </a:path>
              <a:path w="107315" h="990600">
                <a:moveTo>
                  <a:pt x="49735" y="38100"/>
                </a:moveTo>
                <a:lnTo>
                  <a:pt x="45592" y="38100"/>
                </a:lnTo>
                <a:lnTo>
                  <a:pt x="45578" y="45193"/>
                </a:lnTo>
                <a:lnTo>
                  <a:pt x="49735" y="38100"/>
                </a:lnTo>
                <a:close/>
              </a:path>
              <a:path w="107315" h="990600">
                <a:moveTo>
                  <a:pt x="65041" y="19685"/>
                </a:moveTo>
                <a:lnTo>
                  <a:pt x="46735" y="19685"/>
                </a:lnTo>
                <a:lnTo>
                  <a:pt x="60451" y="19812"/>
                </a:lnTo>
                <a:lnTo>
                  <a:pt x="53600" y="31505"/>
                </a:lnTo>
                <a:lnTo>
                  <a:pt x="61454" y="45030"/>
                </a:lnTo>
                <a:lnTo>
                  <a:pt x="61467" y="38100"/>
                </a:lnTo>
                <a:lnTo>
                  <a:pt x="75750" y="38100"/>
                </a:lnTo>
                <a:lnTo>
                  <a:pt x="65041" y="19685"/>
                </a:lnTo>
                <a:close/>
              </a:path>
              <a:path w="107315" h="990600">
                <a:moveTo>
                  <a:pt x="46735" y="19685"/>
                </a:moveTo>
                <a:lnTo>
                  <a:pt x="53600" y="31505"/>
                </a:lnTo>
                <a:lnTo>
                  <a:pt x="60451" y="19812"/>
                </a:lnTo>
                <a:lnTo>
                  <a:pt x="46735" y="19685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5410200" y="2886329"/>
          <a:ext cx="2821305" cy="24476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53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72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2365"/>
                        </a:lnSpc>
                        <a:spcBef>
                          <a:spcPts val="121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ts val="2365"/>
                        </a:lnSpc>
                        <a:spcBef>
                          <a:spcPts val="121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ts val="2365"/>
                        </a:lnSpc>
                        <a:spcBef>
                          <a:spcPts val="121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>
                    <a:lnB w="19050">
                      <a:solidFill>
                        <a:srgbClr val="00AF5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365"/>
                        </a:lnSpc>
                        <a:spcBef>
                          <a:spcPts val="121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>
                    <a:lnB w="19050">
                      <a:solidFill>
                        <a:srgbClr val="00AF5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3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AF5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AF5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9539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9539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9539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9539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5" name="object 45"/>
          <p:cNvSpPr/>
          <p:nvPr/>
        </p:nvSpPr>
        <p:spPr>
          <a:xfrm>
            <a:off x="8176768" y="2362961"/>
            <a:ext cx="107314" cy="990600"/>
          </a:xfrm>
          <a:custGeom>
            <a:avLst/>
            <a:gdLst/>
            <a:ahLst/>
            <a:cxnLst/>
            <a:rect l="l" t="t" r="r" b="b"/>
            <a:pathLst>
              <a:path w="107315" h="990600">
                <a:moveTo>
                  <a:pt x="60071" y="927100"/>
                </a:moveTo>
                <a:lnTo>
                  <a:pt x="44196" y="927100"/>
                </a:lnTo>
                <a:lnTo>
                  <a:pt x="44068" y="990600"/>
                </a:lnTo>
                <a:lnTo>
                  <a:pt x="59943" y="990600"/>
                </a:lnTo>
                <a:lnTo>
                  <a:pt x="60071" y="927100"/>
                </a:lnTo>
                <a:close/>
              </a:path>
              <a:path w="107315" h="990600">
                <a:moveTo>
                  <a:pt x="60198" y="815975"/>
                </a:moveTo>
                <a:lnTo>
                  <a:pt x="44323" y="815975"/>
                </a:lnTo>
                <a:lnTo>
                  <a:pt x="44323" y="879475"/>
                </a:lnTo>
                <a:lnTo>
                  <a:pt x="60198" y="879475"/>
                </a:lnTo>
                <a:lnTo>
                  <a:pt x="60198" y="815975"/>
                </a:lnTo>
                <a:close/>
              </a:path>
              <a:path w="107315" h="990600">
                <a:moveTo>
                  <a:pt x="60451" y="704850"/>
                </a:moveTo>
                <a:lnTo>
                  <a:pt x="44576" y="704850"/>
                </a:lnTo>
                <a:lnTo>
                  <a:pt x="44450" y="768350"/>
                </a:lnTo>
                <a:lnTo>
                  <a:pt x="60325" y="768350"/>
                </a:lnTo>
                <a:lnTo>
                  <a:pt x="60451" y="704850"/>
                </a:lnTo>
                <a:close/>
              </a:path>
              <a:path w="107315" h="990600">
                <a:moveTo>
                  <a:pt x="60578" y="593725"/>
                </a:moveTo>
                <a:lnTo>
                  <a:pt x="44703" y="593725"/>
                </a:lnTo>
                <a:lnTo>
                  <a:pt x="44576" y="657225"/>
                </a:lnTo>
                <a:lnTo>
                  <a:pt x="60451" y="657225"/>
                </a:lnTo>
                <a:lnTo>
                  <a:pt x="60578" y="593725"/>
                </a:lnTo>
                <a:close/>
              </a:path>
              <a:path w="107315" h="990600">
                <a:moveTo>
                  <a:pt x="60832" y="482600"/>
                </a:moveTo>
                <a:lnTo>
                  <a:pt x="44957" y="482600"/>
                </a:lnTo>
                <a:lnTo>
                  <a:pt x="44830" y="546100"/>
                </a:lnTo>
                <a:lnTo>
                  <a:pt x="60705" y="546100"/>
                </a:lnTo>
                <a:lnTo>
                  <a:pt x="60832" y="482600"/>
                </a:lnTo>
                <a:close/>
              </a:path>
              <a:path w="107315" h="990600">
                <a:moveTo>
                  <a:pt x="60959" y="371475"/>
                </a:moveTo>
                <a:lnTo>
                  <a:pt x="45084" y="371475"/>
                </a:lnTo>
                <a:lnTo>
                  <a:pt x="44957" y="434975"/>
                </a:lnTo>
                <a:lnTo>
                  <a:pt x="60832" y="434975"/>
                </a:lnTo>
                <a:lnTo>
                  <a:pt x="60959" y="371475"/>
                </a:lnTo>
                <a:close/>
              </a:path>
              <a:path w="107315" h="990600">
                <a:moveTo>
                  <a:pt x="61086" y="260350"/>
                </a:moveTo>
                <a:lnTo>
                  <a:pt x="45211" y="260350"/>
                </a:lnTo>
                <a:lnTo>
                  <a:pt x="45211" y="323850"/>
                </a:lnTo>
                <a:lnTo>
                  <a:pt x="61086" y="323850"/>
                </a:lnTo>
                <a:lnTo>
                  <a:pt x="61086" y="260350"/>
                </a:lnTo>
                <a:close/>
              </a:path>
              <a:path w="107315" h="990600">
                <a:moveTo>
                  <a:pt x="61340" y="149225"/>
                </a:moveTo>
                <a:lnTo>
                  <a:pt x="45465" y="149225"/>
                </a:lnTo>
                <a:lnTo>
                  <a:pt x="45338" y="212725"/>
                </a:lnTo>
                <a:lnTo>
                  <a:pt x="61213" y="212725"/>
                </a:lnTo>
                <a:lnTo>
                  <a:pt x="61340" y="149225"/>
                </a:lnTo>
                <a:close/>
              </a:path>
              <a:path w="107315" h="990600">
                <a:moveTo>
                  <a:pt x="57429" y="38100"/>
                </a:moveTo>
                <a:lnTo>
                  <a:pt x="49735" y="38100"/>
                </a:lnTo>
                <a:lnTo>
                  <a:pt x="45578" y="45193"/>
                </a:lnTo>
                <a:lnTo>
                  <a:pt x="45465" y="101600"/>
                </a:lnTo>
                <a:lnTo>
                  <a:pt x="61340" y="101600"/>
                </a:lnTo>
                <a:lnTo>
                  <a:pt x="61454" y="45030"/>
                </a:lnTo>
                <a:lnTo>
                  <a:pt x="57429" y="38100"/>
                </a:lnTo>
                <a:close/>
              </a:path>
              <a:path w="107315" h="990600">
                <a:moveTo>
                  <a:pt x="75750" y="38100"/>
                </a:moveTo>
                <a:lnTo>
                  <a:pt x="61467" y="38100"/>
                </a:lnTo>
                <a:lnTo>
                  <a:pt x="61548" y="45193"/>
                </a:lnTo>
                <a:lnTo>
                  <a:pt x="91418" y="96647"/>
                </a:lnTo>
                <a:lnTo>
                  <a:pt x="93217" y="99822"/>
                </a:lnTo>
                <a:lnTo>
                  <a:pt x="98171" y="101091"/>
                </a:lnTo>
                <a:lnTo>
                  <a:pt x="101853" y="98933"/>
                </a:lnTo>
                <a:lnTo>
                  <a:pt x="105663" y="96647"/>
                </a:lnTo>
                <a:lnTo>
                  <a:pt x="106933" y="91821"/>
                </a:lnTo>
                <a:lnTo>
                  <a:pt x="104701" y="87884"/>
                </a:lnTo>
                <a:lnTo>
                  <a:pt x="75750" y="38100"/>
                </a:lnTo>
                <a:close/>
              </a:path>
              <a:path w="107315" h="990600">
                <a:moveTo>
                  <a:pt x="53593" y="0"/>
                </a:moveTo>
                <a:lnTo>
                  <a:pt x="2087" y="88011"/>
                </a:lnTo>
                <a:lnTo>
                  <a:pt x="0" y="91693"/>
                </a:lnTo>
                <a:lnTo>
                  <a:pt x="1270" y="96520"/>
                </a:lnTo>
                <a:lnTo>
                  <a:pt x="4952" y="98678"/>
                </a:lnTo>
                <a:lnTo>
                  <a:pt x="8762" y="100964"/>
                </a:lnTo>
                <a:lnTo>
                  <a:pt x="13715" y="99695"/>
                </a:lnTo>
                <a:lnTo>
                  <a:pt x="15875" y="95885"/>
                </a:lnTo>
                <a:lnTo>
                  <a:pt x="45578" y="45193"/>
                </a:lnTo>
                <a:lnTo>
                  <a:pt x="45592" y="38100"/>
                </a:lnTo>
                <a:lnTo>
                  <a:pt x="49735" y="38100"/>
                </a:lnTo>
                <a:lnTo>
                  <a:pt x="53600" y="31505"/>
                </a:lnTo>
                <a:lnTo>
                  <a:pt x="46735" y="19685"/>
                </a:lnTo>
                <a:lnTo>
                  <a:pt x="65041" y="19685"/>
                </a:lnTo>
                <a:lnTo>
                  <a:pt x="53593" y="0"/>
                </a:lnTo>
                <a:close/>
              </a:path>
              <a:path w="107315" h="990600">
                <a:moveTo>
                  <a:pt x="49735" y="38100"/>
                </a:moveTo>
                <a:lnTo>
                  <a:pt x="45592" y="38100"/>
                </a:lnTo>
                <a:lnTo>
                  <a:pt x="45578" y="45193"/>
                </a:lnTo>
                <a:lnTo>
                  <a:pt x="49735" y="38100"/>
                </a:lnTo>
                <a:close/>
              </a:path>
              <a:path w="107315" h="990600">
                <a:moveTo>
                  <a:pt x="65041" y="19685"/>
                </a:moveTo>
                <a:lnTo>
                  <a:pt x="46735" y="19685"/>
                </a:lnTo>
                <a:lnTo>
                  <a:pt x="60451" y="19812"/>
                </a:lnTo>
                <a:lnTo>
                  <a:pt x="53600" y="31505"/>
                </a:lnTo>
                <a:lnTo>
                  <a:pt x="61454" y="45030"/>
                </a:lnTo>
                <a:lnTo>
                  <a:pt x="61467" y="38100"/>
                </a:lnTo>
                <a:lnTo>
                  <a:pt x="75750" y="38100"/>
                </a:lnTo>
                <a:lnTo>
                  <a:pt x="65041" y="19685"/>
                </a:lnTo>
                <a:close/>
              </a:path>
              <a:path w="107315" h="990600">
                <a:moveTo>
                  <a:pt x="46735" y="19685"/>
                </a:moveTo>
                <a:lnTo>
                  <a:pt x="53600" y="31505"/>
                </a:lnTo>
                <a:lnTo>
                  <a:pt x="60451" y="19812"/>
                </a:lnTo>
                <a:lnTo>
                  <a:pt x="46735" y="19685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240523" y="4875148"/>
            <a:ext cx="1066800" cy="1905"/>
          </a:xfrm>
          <a:custGeom>
            <a:avLst/>
            <a:gdLst/>
            <a:ahLst/>
            <a:cxnLst/>
            <a:rect l="l" t="t" r="r" b="b"/>
            <a:pathLst>
              <a:path w="1066800" h="1904">
                <a:moveTo>
                  <a:pt x="0" y="0"/>
                </a:moveTo>
                <a:lnTo>
                  <a:pt x="1066800" y="1650"/>
                </a:lnTo>
              </a:path>
            </a:pathLst>
          </a:custGeom>
          <a:ln w="15875">
            <a:solidFill>
              <a:srgbClr val="00AF5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251570" y="4877561"/>
            <a:ext cx="107314" cy="991235"/>
          </a:xfrm>
          <a:custGeom>
            <a:avLst/>
            <a:gdLst/>
            <a:ahLst/>
            <a:cxnLst/>
            <a:rect l="l" t="t" r="r" b="b"/>
            <a:pathLst>
              <a:path w="107315" h="991235">
                <a:moveTo>
                  <a:pt x="62992" y="0"/>
                </a:moveTo>
                <a:lnTo>
                  <a:pt x="47117" y="0"/>
                </a:lnTo>
                <a:lnTo>
                  <a:pt x="46989" y="63500"/>
                </a:lnTo>
                <a:lnTo>
                  <a:pt x="62864" y="63500"/>
                </a:lnTo>
                <a:lnTo>
                  <a:pt x="62992" y="0"/>
                </a:lnTo>
                <a:close/>
              </a:path>
              <a:path w="107315" h="991235">
                <a:moveTo>
                  <a:pt x="62737" y="111125"/>
                </a:moveTo>
                <a:lnTo>
                  <a:pt x="46862" y="111125"/>
                </a:lnTo>
                <a:lnTo>
                  <a:pt x="46862" y="174625"/>
                </a:lnTo>
                <a:lnTo>
                  <a:pt x="62737" y="174625"/>
                </a:lnTo>
                <a:lnTo>
                  <a:pt x="62737" y="111125"/>
                </a:lnTo>
                <a:close/>
              </a:path>
              <a:path w="107315" h="991235">
                <a:moveTo>
                  <a:pt x="62610" y="222250"/>
                </a:moveTo>
                <a:lnTo>
                  <a:pt x="46735" y="222250"/>
                </a:lnTo>
                <a:lnTo>
                  <a:pt x="46608" y="285750"/>
                </a:lnTo>
                <a:lnTo>
                  <a:pt x="62483" y="285750"/>
                </a:lnTo>
                <a:lnTo>
                  <a:pt x="62610" y="222250"/>
                </a:lnTo>
                <a:close/>
              </a:path>
              <a:path w="107315" h="991235">
                <a:moveTo>
                  <a:pt x="62483" y="333375"/>
                </a:moveTo>
                <a:lnTo>
                  <a:pt x="46608" y="333375"/>
                </a:lnTo>
                <a:lnTo>
                  <a:pt x="46481" y="396875"/>
                </a:lnTo>
                <a:lnTo>
                  <a:pt x="62356" y="396875"/>
                </a:lnTo>
                <a:lnTo>
                  <a:pt x="62483" y="333375"/>
                </a:lnTo>
                <a:close/>
              </a:path>
              <a:path w="107315" h="991235">
                <a:moveTo>
                  <a:pt x="62229" y="444500"/>
                </a:moveTo>
                <a:lnTo>
                  <a:pt x="46354" y="444500"/>
                </a:lnTo>
                <a:lnTo>
                  <a:pt x="46227" y="508000"/>
                </a:lnTo>
                <a:lnTo>
                  <a:pt x="62102" y="508000"/>
                </a:lnTo>
                <a:lnTo>
                  <a:pt x="62229" y="444500"/>
                </a:lnTo>
                <a:close/>
              </a:path>
              <a:path w="107315" h="991235">
                <a:moveTo>
                  <a:pt x="62102" y="555625"/>
                </a:moveTo>
                <a:lnTo>
                  <a:pt x="46227" y="555625"/>
                </a:lnTo>
                <a:lnTo>
                  <a:pt x="46100" y="619125"/>
                </a:lnTo>
                <a:lnTo>
                  <a:pt x="61975" y="619125"/>
                </a:lnTo>
                <a:lnTo>
                  <a:pt x="62102" y="555625"/>
                </a:lnTo>
                <a:close/>
              </a:path>
              <a:path w="107315" h="991235">
                <a:moveTo>
                  <a:pt x="61849" y="666750"/>
                </a:moveTo>
                <a:lnTo>
                  <a:pt x="45974" y="666750"/>
                </a:lnTo>
                <a:lnTo>
                  <a:pt x="45847" y="730262"/>
                </a:lnTo>
                <a:lnTo>
                  <a:pt x="61722" y="730288"/>
                </a:lnTo>
                <a:lnTo>
                  <a:pt x="61849" y="666750"/>
                </a:lnTo>
                <a:close/>
              </a:path>
              <a:path w="107315" h="991235">
                <a:moveTo>
                  <a:pt x="45847" y="777887"/>
                </a:moveTo>
                <a:lnTo>
                  <a:pt x="45720" y="841387"/>
                </a:lnTo>
                <a:lnTo>
                  <a:pt x="61595" y="841413"/>
                </a:lnTo>
                <a:lnTo>
                  <a:pt x="61722" y="777913"/>
                </a:lnTo>
                <a:lnTo>
                  <a:pt x="45847" y="777887"/>
                </a:lnTo>
                <a:close/>
              </a:path>
              <a:path w="107315" h="991235">
                <a:moveTo>
                  <a:pt x="8889" y="889571"/>
                </a:moveTo>
                <a:lnTo>
                  <a:pt x="5079" y="891781"/>
                </a:lnTo>
                <a:lnTo>
                  <a:pt x="1397" y="893978"/>
                </a:lnTo>
                <a:lnTo>
                  <a:pt x="0" y="898842"/>
                </a:lnTo>
                <a:lnTo>
                  <a:pt x="2381" y="902792"/>
                </a:lnTo>
                <a:lnTo>
                  <a:pt x="53467" y="990663"/>
                </a:lnTo>
                <a:lnTo>
                  <a:pt x="65019" y="970927"/>
                </a:lnTo>
                <a:lnTo>
                  <a:pt x="46608" y="970902"/>
                </a:lnTo>
                <a:lnTo>
                  <a:pt x="53486" y="959158"/>
                </a:lnTo>
                <a:lnTo>
                  <a:pt x="49628" y="952519"/>
                </a:lnTo>
                <a:lnTo>
                  <a:pt x="45593" y="952512"/>
                </a:lnTo>
                <a:lnTo>
                  <a:pt x="45565" y="945527"/>
                </a:lnTo>
                <a:lnTo>
                  <a:pt x="15618" y="893978"/>
                </a:lnTo>
                <a:lnTo>
                  <a:pt x="13843" y="890866"/>
                </a:lnTo>
                <a:lnTo>
                  <a:pt x="8889" y="889571"/>
                </a:lnTo>
                <a:close/>
              </a:path>
              <a:path w="107315" h="991235">
                <a:moveTo>
                  <a:pt x="53486" y="959158"/>
                </a:moveTo>
                <a:lnTo>
                  <a:pt x="46608" y="970902"/>
                </a:lnTo>
                <a:lnTo>
                  <a:pt x="60325" y="970927"/>
                </a:lnTo>
                <a:lnTo>
                  <a:pt x="53486" y="959158"/>
                </a:lnTo>
                <a:close/>
              </a:path>
              <a:path w="107315" h="991235">
                <a:moveTo>
                  <a:pt x="98298" y="889723"/>
                </a:moveTo>
                <a:lnTo>
                  <a:pt x="93345" y="890993"/>
                </a:lnTo>
                <a:lnTo>
                  <a:pt x="91185" y="894778"/>
                </a:lnTo>
                <a:lnTo>
                  <a:pt x="61468" y="945527"/>
                </a:lnTo>
                <a:lnTo>
                  <a:pt x="61468" y="952538"/>
                </a:lnTo>
                <a:lnTo>
                  <a:pt x="57362" y="952538"/>
                </a:lnTo>
                <a:lnTo>
                  <a:pt x="53486" y="959158"/>
                </a:lnTo>
                <a:lnTo>
                  <a:pt x="60325" y="970927"/>
                </a:lnTo>
                <a:lnTo>
                  <a:pt x="65019" y="970927"/>
                </a:lnTo>
                <a:lnTo>
                  <a:pt x="75783" y="952538"/>
                </a:lnTo>
                <a:lnTo>
                  <a:pt x="61468" y="952538"/>
                </a:lnTo>
                <a:lnTo>
                  <a:pt x="75787" y="952531"/>
                </a:lnTo>
                <a:lnTo>
                  <a:pt x="104996" y="902627"/>
                </a:lnTo>
                <a:lnTo>
                  <a:pt x="107060" y="899007"/>
                </a:lnTo>
                <a:lnTo>
                  <a:pt x="105790" y="894143"/>
                </a:lnTo>
                <a:lnTo>
                  <a:pt x="101980" y="891933"/>
                </a:lnTo>
                <a:lnTo>
                  <a:pt x="98298" y="889723"/>
                </a:lnTo>
                <a:close/>
              </a:path>
              <a:path w="107315" h="991235">
                <a:moveTo>
                  <a:pt x="61468" y="945527"/>
                </a:moveTo>
                <a:lnTo>
                  <a:pt x="57366" y="952531"/>
                </a:lnTo>
                <a:lnTo>
                  <a:pt x="61468" y="952538"/>
                </a:lnTo>
                <a:lnTo>
                  <a:pt x="61468" y="945527"/>
                </a:lnTo>
                <a:close/>
              </a:path>
              <a:path w="107315" h="991235">
                <a:moveTo>
                  <a:pt x="45593" y="889012"/>
                </a:moveTo>
                <a:lnTo>
                  <a:pt x="45593" y="945575"/>
                </a:lnTo>
                <a:lnTo>
                  <a:pt x="49628" y="952519"/>
                </a:lnTo>
                <a:lnTo>
                  <a:pt x="57366" y="952531"/>
                </a:lnTo>
                <a:lnTo>
                  <a:pt x="61440" y="945575"/>
                </a:lnTo>
                <a:lnTo>
                  <a:pt x="61468" y="889038"/>
                </a:lnTo>
                <a:lnTo>
                  <a:pt x="45593" y="889012"/>
                </a:lnTo>
                <a:close/>
              </a:path>
              <a:path w="107315" h="991235">
                <a:moveTo>
                  <a:pt x="45593" y="945575"/>
                </a:moveTo>
                <a:lnTo>
                  <a:pt x="45593" y="952512"/>
                </a:lnTo>
                <a:lnTo>
                  <a:pt x="49628" y="952519"/>
                </a:lnTo>
                <a:lnTo>
                  <a:pt x="45593" y="945575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156068" y="4862067"/>
            <a:ext cx="107314" cy="990600"/>
          </a:xfrm>
          <a:custGeom>
            <a:avLst/>
            <a:gdLst/>
            <a:ahLst/>
            <a:cxnLst/>
            <a:rect l="l" t="t" r="r" b="b"/>
            <a:pathLst>
              <a:path w="107315" h="990600">
                <a:moveTo>
                  <a:pt x="62864" y="0"/>
                </a:moveTo>
                <a:lnTo>
                  <a:pt x="46989" y="0"/>
                </a:lnTo>
                <a:lnTo>
                  <a:pt x="46989" y="63499"/>
                </a:lnTo>
                <a:lnTo>
                  <a:pt x="62864" y="63499"/>
                </a:lnTo>
                <a:lnTo>
                  <a:pt x="62864" y="0"/>
                </a:lnTo>
                <a:close/>
              </a:path>
              <a:path w="107315" h="990600">
                <a:moveTo>
                  <a:pt x="62737" y="111124"/>
                </a:moveTo>
                <a:lnTo>
                  <a:pt x="46862" y="111124"/>
                </a:lnTo>
                <a:lnTo>
                  <a:pt x="46735" y="174624"/>
                </a:lnTo>
                <a:lnTo>
                  <a:pt x="62610" y="174624"/>
                </a:lnTo>
                <a:lnTo>
                  <a:pt x="62737" y="111124"/>
                </a:lnTo>
                <a:close/>
              </a:path>
              <a:path w="107315" h="990600">
                <a:moveTo>
                  <a:pt x="62610" y="222249"/>
                </a:moveTo>
                <a:lnTo>
                  <a:pt x="46735" y="222249"/>
                </a:lnTo>
                <a:lnTo>
                  <a:pt x="46608" y="285749"/>
                </a:lnTo>
                <a:lnTo>
                  <a:pt x="62483" y="285749"/>
                </a:lnTo>
                <a:lnTo>
                  <a:pt x="62610" y="222249"/>
                </a:lnTo>
                <a:close/>
              </a:path>
              <a:path w="107315" h="990600">
                <a:moveTo>
                  <a:pt x="62356" y="333374"/>
                </a:moveTo>
                <a:lnTo>
                  <a:pt x="46481" y="333374"/>
                </a:lnTo>
                <a:lnTo>
                  <a:pt x="46354" y="396874"/>
                </a:lnTo>
                <a:lnTo>
                  <a:pt x="62229" y="396874"/>
                </a:lnTo>
                <a:lnTo>
                  <a:pt x="62356" y="333374"/>
                </a:lnTo>
                <a:close/>
              </a:path>
              <a:path w="107315" h="990600">
                <a:moveTo>
                  <a:pt x="62229" y="444499"/>
                </a:moveTo>
                <a:lnTo>
                  <a:pt x="46354" y="444499"/>
                </a:lnTo>
                <a:lnTo>
                  <a:pt x="46227" y="507999"/>
                </a:lnTo>
                <a:lnTo>
                  <a:pt x="62102" y="507999"/>
                </a:lnTo>
                <a:lnTo>
                  <a:pt x="62229" y="444499"/>
                </a:lnTo>
                <a:close/>
              </a:path>
              <a:path w="107315" h="990600">
                <a:moveTo>
                  <a:pt x="61975" y="555624"/>
                </a:moveTo>
                <a:lnTo>
                  <a:pt x="46100" y="555624"/>
                </a:lnTo>
                <a:lnTo>
                  <a:pt x="46100" y="619124"/>
                </a:lnTo>
                <a:lnTo>
                  <a:pt x="61975" y="619124"/>
                </a:lnTo>
                <a:lnTo>
                  <a:pt x="61975" y="555624"/>
                </a:lnTo>
                <a:close/>
              </a:path>
              <a:path w="107315" h="990600">
                <a:moveTo>
                  <a:pt x="61849" y="666749"/>
                </a:moveTo>
                <a:lnTo>
                  <a:pt x="45974" y="666749"/>
                </a:lnTo>
                <a:lnTo>
                  <a:pt x="45847" y="730199"/>
                </a:lnTo>
                <a:lnTo>
                  <a:pt x="61722" y="730224"/>
                </a:lnTo>
                <a:lnTo>
                  <a:pt x="61849" y="666749"/>
                </a:lnTo>
                <a:close/>
              </a:path>
              <a:path w="107315" h="990600">
                <a:moveTo>
                  <a:pt x="45847" y="777824"/>
                </a:moveTo>
                <a:lnTo>
                  <a:pt x="45720" y="841324"/>
                </a:lnTo>
                <a:lnTo>
                  <a:pt x="61595" y="841349"/>
                </a:lnTo>
                <a:lnTo>
                  <a:pt x="61722" y="777849"/>
                </a:lnTo>
                <a:lnTo>
                  <a:pt x="45847" y="777824"/>
                </a:lnTo>
                <a:close/>
              </a:path>
              <a:path w="107315" h="990600">
                <a:moveTo>
                  <a:pt x="8889" y="889507"/>
                </a:moveTo>
                <a:lnTo>
                  <a:pt x="1270" y="893914"/>
                </a:lnTo>
                <a:lnTo>
                  <a:pt x="0" y="898778"/>
                </a:lnTo>
                <a:lnTo>
                  <a:pt x="2254" y="902728"/>
                </a:lnTo>
                <a:lnTo>
                  <a:pt x="53339" y="990599"/>
                </a:lnTo>
                <a:lnTo>
                  <a:pt x="64892" y="970864"/>
                </a:lnTo>
                <a:lnTo>
                  <a:pt x="46608" y="970838"/>
                </a:lnTo>
                <a:lnTo>
                  <a:pt x="53486" y="959094"/>
                </a:lnTo>
                <a:lnTo>
                  <a:pt x="49628" y="952455"/>
                </a:lnTo>
                <a:lnTo>
                  <a:pt x="45465" y="952449"/>
                </a:lnTo>
                <a:lnTo>
                  <a:pt x="45480" y="945317"/>
                </a:lnTo>
                <a:lnTo>
                  <a:pt x="15595" y="893914"/>
                </a:lnTo>
                <a:lnTo>
                  <a:pt x="13715" y="890803"/>
                </a:lnTo>
                <a:lnTo>
                  <a:pt x="8889" y="889507"/>
                </a:lnTo>
                <a:close/>
              </a:path>
              <a:path w="107315" h="990600">
                <a:moveTo>
                  <a:pt x="53486" y="959094"/>
                </a:moveTo>
                <a:lnTo>
                  <a:pt x="46608" y="970838"/>
                </a:lnTo>
                <a:lnTo>
                  <a:pt x="60325" y="970864"/>
                </a:lnTo>
                <a:lnTo>
                  <a:pt x="53486" y="959094"/>
                </a:lnTo>
                <a:close/>
              </a:path>
              <a:path w="107315" h="990600">
                <a:moveTo>
                  <a:pt x="98171" y="889660"/>
                </a:moveTo>
                <a:lnTo>
                  <a:pt x="93345" y="890930"/>
                </a:lnTo>
                <a:lnTo>
                  <a:pt x="91185" y="894714"/>
                </a:lnTo>
                <a:lnTo>
                  <a:pt x="61354" y="945657"/>
                </a:lnTo>
                <a:lnTo>
                  <a:pt x="61340" y="952474"/>
                </a:lnTo>
                <a:lnTo>
                  <a:pt x="57362" y="952474"/>
                </a:lnTo>
                <a:lnTo>
                  <a:pt x="53486" y="959094"/>
                </a:lnTo>
                <a:lnTo>
                  <a:pt x="60325" y="970864"/>
                </a:lnTo>
                <a:lnTo>
                  <a:pt x="64892" y="970864"/>
                </a:lnTo>
                <a:lnTo>
                  <a:pt x="75656" y="952474"/>
                </a:lnTo>
                <a:lnTo>
                  <a:pt x="61340" y="952474"/>
                </a:lnTo>
                <a:lnTo>
                  <a:pt x="75660" y="952468"/>
                </a:lnTo>
                <a:lnTo>
                  <a:pt x="104874" y="902563"/>
                </a:lnTo>
                <a:lnTo>
                  <a:pt x="107060" y="898944"/>
                </a:lnTo>
                <a:lnTo>
                  <a:pt x="105790" y="894079"/>
                </a:lnTo>
                <a:lnTo>
                  <a:pt x="98171" y="889660"/>
                </a:lnTo>
                <a:close/>
              </a:path>
              <a:path w="107315" h="990600">
                <a:moveTo>
                  <a:pt x="61354" y="945657"/>
                </a:moveTo>
                <a:lnTo>
                  <a:pt x="57366" y="952468"/>
                </a:lnTo>
                <a:lnTo>
                  <a:pt x="61340" y="952474"/>
                </a:lnTo>
                <a:lnTo>
                  <a:pt x="61354" y="945657"/>
                </a:lnTo>
                <a:close/>
              </a:path>
              <a:path w="107315" h="990600">
                <a:moveTo>
                  <a:pt x="45592" y="888949"/>
                </a:moveTo>
                <a:lnTo>
                  <a:pt x="45480" y="945317"/>
                </a:lnTo>
                <a:lnTo>
                  <a:pt x="49628" y="952455"/>
                </a:lnTo>
                <a:lnTo>
                  <a:pt x="57366" y="952468"/>
                </a:lnTo>
                <a:lnTo>
                  <a:pt x="61354" y="945657"/>
                </a:lnTo>
                <a:lnTo>
                  <a:pt x="61467" y="888974"/>
                </a:lnTo>
                <a:lnTo>
                  <a:pt x="45592" y="888949"/>
                </a:lnTo>
                <a:close/>
              </a:path>
              <a:path w="107315" h="990600">
                <a:moveTo>
                  <a:pt x="45480" y="945317"/>
                </a:moveTo>
                <a:lnTo>
                  <a:pt x="45465" y="952449"/>
                </a:lnTo>
                <a:lnTo>
                  <a:pt x="49628" y="952455"/>
                </a:lnTo>
                <a:lnTo>
                  <a:pt x="45480" y="945317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285274" y="5648692"/>
            <a:ext cx="289560" cy="0"/>
          </a:xfrm>
          <a:custGeom>
            <a:avLst/>
            <a:gdLst/>
            <a:ahLst/>
            <a:cxnLst/>
            <a:rect l="l" t="t" r="r" b="b"/>
            <a:pathLst>
              <a:path w="289559">
                <a:moveTo>
                  <a:pt x="0" y="0"/>
                </a:moveTo>
                <a:lnTo>
                  <a:pt x="289319" y="0"/>
                </a:lnTo>
              </a:path>
            </a:pathLst>
          </a:custGeom>
          <a:ln w="105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0" name="object 50"/>
          <p:cNvGraphicFramePr>
            <a:graphicFrameLocks noGrp="1"/>
          </p:cNvGraphicFramePr>
          <p:nvPr/>
        </p:nvGraphicFramePr>
        <p:xfrm>
          <a:off x="1060450" y="2881502"/>
          <a:ext cx="3048000" cy="25145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865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53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9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C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C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C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C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7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C00000"/>
                      </a:solidFill>
                      <a:prstDash val="soli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240029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0" marB="0">
                    <a:lnL w="1905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R="233679" algn="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C00000"/>
                      </a:solidFill>
                      <a:prstDash val="solid"/>
                    </a:lnR>
                    <a:lnT w="1905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1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240029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54305" marB="0">
                    <a:lnL w="1905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C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C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C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R="233679" algn="r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C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414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1" name="object 51"/>
          <p:cNvSpPr txBox="1"/>
          <p:nvPr/>
        </p:nvSpPr>
        <p:spPr>
          <a:xfrm>
            <a:off x="6469279" y="5791457"/>
            <a:ext cx="440690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49250" algn="l"/>
              </a:tabLst>
            </a:pPr>
            <a:r>
              <a:rPr sz="1200" spc="15" dirty="0">
                <a:latin typeface="Times New Roman"/>
                <a:cs typeface="Times New Roman"/>
              </a:rPr>
              <a:t>2	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921334" y="5791457"/>
            <a:ext cx="104139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15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77562" y="5791457"/>
            <a:ext cx="104139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15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207927" y="5618432"/>
            <a:ext cx="1634489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35280" algn="l"/>
                <a:tab pos="874394" algn="l"/>
                <a:tab pos="1426845" algn="l"/>
              </a:tabLst>
            </a:pPr>
            <a:r>
              <a:rPr sz="2050" spc="45" dirty="0">
                <a:latin typeface="Times New Roman"/>
                <a:cs typeface="Times New Roman"/>
              </a:rPr>
              <a:t>Y	</a:t>
            </a:r>
            <a:r>
              <a:rPr sz="2050" spc="35" dirty="0">
                <a:latin typeface="Symbol"/>
                <a:cs typeface="Symbol"/>
              </a:rPr>
              <a:t></a:t>
            </a:r>
            <a:r>
              <a:rPr sz="2050" spc="-145" dirty="0">
                <a:latin typeface="Times New Roman"/>
                <a:cs typeface="Times New Roman"/>
              </a:rPr>
              <a:t> </a:t>
            </a:r>
            <a:r>
              <a:rPr sz="2050" spc="45" dirty="0">
                <a:latin typeface="Times New Roman"/>
                <a:cs typeface="Times New Roman"/>
              </a:rPr>
              <a:t>D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35" dirty="0">
                <a:latin typeface="Symbol"/>
                <a:cs typeface="Symbol"/>
              </a:rPr>
              <a:t></a:t>
            </a:r>
            <a:r>
              <a:rPr sz="2050" spc="-114" dirty="0">
                <a:latin typeface="Times New Roman"/>
                <a:cs typeface="Times New Roman"/>
              </a:rPr>
              <a:t> </a:t>
            </a:r>
            <a:r>
              <a:rPr sz="2050" spc="45" dirty="0">
                <a:latin typeface="Times New Roman"/>
                <a:cs typeface="Times New Roman"/>
              </a:rPr>
              <a:t>D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45" dirty="0">
                <a:latin typeface="Times New Roman"/>
                <a:cs typeface="Times New Roman"/>
              </a:rPr>
              <a:t>D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295400" y="4267200"/>
            <a:ext cx="2590800" cy="1066800"/>
          </a:xfrm>
          <a:custGeom>
            <a:avLst/>
            <a:gdLst/>
            <a:ahLst/>
            <a:cxnLst/>
            <a:rect l="l" t="t" r="r" b="b"/>
            <a:pathLst>
              <a:path w="2590800" h="1066800">
                <a:moveTo>
                  <a:pt x="0" y="177800"/>
                </a:moveTo>
                <a:lnTo>
                  <a:pt x="6352" y="130542"/>
                </a:lnTo>
                <a:lnTo>
                  <a:pt x="24280" y="88072"/>
                </a:lnTo>
                <a:lnTo>
                  <a:pt x="52085" y="52085"/>
                </a:lnTo>
                <a:lnTo>
                  <a:pt x="88072" y="24280"/>
                </a:lnTo>
                <a:lnTo>
                  <a:pt x="130542" y="6352"/>
                </a:lnTo>
                <a:lnTo>
                  <a:pt x="177800" y="0"/>
                </a:lnTo>
                <a:lnTo>
                  <a:pt x="2413000" y="0"/>
                </a:lnTo>
                <a:lnTo>
                  <a:pt x="2460257" y="6352"/>
                </a:lnTo>
                <a:lnTo>
                  <a:pt x="2502727" y="24280"/>
                </a:lnTo>
                <a:lnTo>
                  <a:pt x="2538714" y="52085"/>
                </a:lnTo>
                <a:lnTo>
                  <a:pt x="2566519" y="88072"/>
                </a:lnTo>
                <a:lnTo>
                  <a:pt x="2584447" y="130542"/>
                </a:lnTo>
                <a:lnTo>
                  <a:pt x="2590800" y="177800"/>
                </a:lnTo>
                <a:lnTo>
                  <a:pt x="2590800" y="889000"/>
                </a:lnTo>
                <a:lnTo>
                  <a:pt x="2584447" y="936257"/>
                </a:lnTo>
                <a:lnTo>
                  <a:pt x="2566519" y="978727"/>
                </a:lnTo>
                <a:lnTo>
                  <a:pt x="2538714" y="1014714"/>
                </a:lnTo>
                <a:lnTo>
                  <a:pt x="2502727" y="1042519"/>
                </a:lnTo>
                <a:lnTo>
                  <a:pt x="2460257" y="1060447"/>
                </a:lnTo>
                <a:lnTo>
                  <a:pt x="2413000" y="1066800"/>
                </a:lnTo>
                <a:lnTo>
                  <a:pt x="177800" y="1066800"/>
                </a:lnTo>
                <a:lnTo>
                  <a:pt x="130542" y="1060447"/>
                </a:lnTo>
                <a:lnTo>
                  <a:pt x="88072" y="1042519"/>
                </a:lnTo>
                <a:lnTo>
                  <a:pt x="52085" y="1014714"/>
                </a:lnTo>
                <a:lnTo>
                  <a:pt x="24280" y="978727"/>
                </a:lnTo>
                <a:lnTo>
                  <a:pt x="6352" y="936257"/>
                </a:lnTo>
                <a:lnTo>
                  <a:pt x="0" y="889000"/>
                </a:lnTo>
                <a:lnTo>
                  <a:pt x="0" y="177800"/>
                </a:lnTo>
                <a:close/>
              </a:path>
            </a:pathLst>
          </a:custGeom>
          <a:ln w="15875">
            <a:solidFill>
              <a:srgbClr val="00AF5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1888158" y="5473714"/>
            <a:ext cx="14020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2000" spc="-110" dirty="0">
                <a:latin typeface="Times New Roman"/>
                <a:cs typeface="Times New Roman"/>
              </a:rPr>
              <a:t>Y</a:t>
            </a:r>
            <a:r>
              <a:rPr sz="1725" spc="-165" baseline="-24154" dirty="0">
                <a:latin typeface="Times New Roman"/>
                <a:cs typeface="Times New Roman"/>
              </a:rPr>
              <a:t>1</a:t>
            </a:r>
            <a:r>
              <a:rPr sz="1725" spc="97" baseline="-24154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Symbol"/>
                <a:cs typeface="Symbol"/>
              </a:rPr>
              <a:t>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D</a:t>
            </a:r>
            <a:r>
              <a:rPr sz="1725" spc="97" baseline="-24154" dirty="0">
                <a:latin typeface="Times New Roman"/>
                <a:cs typeface="Times New Roman"/>
              </a:rPr>
              <a:t>2 </a:t>
            </a:r>
            <a:r>
              <a:rPr sz="2000" spc="40" dirty="0">
                <a:latin typeface="Symbol"/>
                <a:cs typeface="Symbol"/>
              </a:rPr>
              <a:t>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45" dirty="0">
                <a:latin typeface="Times New Roman"/>
                <a:cs typeface="Times New Roman"/>
              </a:rPr>
              <a:t>D</a:t>
            </a:r>
            <a:r>
              <a:rPr sz="1725" spc="67" baseline="-24154" dirty="0">
                <a:latin typeface="Times New Roman"/>
                <a:cs typeface="Times New Roman"/>
              </a:rPr>
              <a:t>3</a:t>
            </a:r>
            <a:endParaRPr sz="1725" baseline="-24154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85799" y="101724"/>
            <a:ext cx="8131809" cy="193322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1600" dirty="0">
                <a:latin typeface="Casper"/>
                <a:cs typeface="Times New Roman"/>
              </a:rPr>
              <a:t>There are four inputs D</a:t>
            </a:r>
            <a:r>
              <a:rPr sz="1600" baseline="-20833" dirty="0">
                <a:latin typeface="Casper"/>
                <a:cs typeface="Times New Roman"/>
              </a:rPr>
              <a:t>0</a:t>
            </a:r>
            <a:r>
              <a:rPr sz="1600" dirty="0">
                <a:latin typeface="Casper"/>
                <a:cs typeface="Times New Roman"/>
              </a:rPr>
              <a:t>, </a:t>
            </a:r>
            <a:r>
              <a:rPr sz="1600" spc="-5" dirty="0">
                <a:latin typeface="Casper"/>
                <a:cs typeface="Times New Roman"/>
              </a:rPr>
              <a:t>D</a:t>
            </a:r>
            <a:r>
              <a:rPr sz="1600" spc="-7" baseline="-20833" dirty="0">
                <a:latin typeface="Casper"/>
                <a:cs typeface="Times New Roman"/>
              </a:rPr>
              <a:t>1</a:t>
            </a:r>
            <a:r>
              <a:rPr sz="1600" spc="-5" dirty="0">
                <a:latin typeface="Casper"/>
                <a:cs typeface="Times New Roman"/>
              </a:rPr>
              <a:t>,D</a:t>
            </a:r>
            <a:r>
              <a:rPr sz="1600" spc="-7" baseline="-20833" dirty="0">
                <a:latin typeface="Casper"/>
                <a:cs typeface="Times New Roman"/>
              </a:rPr>
              <a:t>2</a:t>
            </a:r>
            <a:r>
              <a:rPr sz="1600" spc="-5" dirty="0">
                <a:latin typeface="Casper"/>
                <a:cs typeface="Times New Roman"/>
              </a:rPr>
              <a:t>, D</a:t>
            </a:r>
            <a:r>
              <a:rPr sz="1600" spc="-7" baseline="-20833" dirty="0">
                <a:latin typeface="Casper"/>
                <a:cs typeface="Times New Roman"/>
              </a:rPr>
              <a:t>3 </a:t>
            </a:r>
            <a:r>
              <a:rPr sz="1600" dirty="0">
                <a:latin typeface="Casper"/>
                <a:cs typeface="Times New Roman"/>
              </a:rPr>
              <a:t>and two outputs Y</a:t>
            </a:r>
            <a:r>
              <a:rPr sz="1600" baseline="-20833" dirty="0">
                <a:latin typeface="Casper"/>
                <a:cs typeface="Times New Roman"/>
              </a:rPr>
              <a:t>1 </a:t>
            </a:r>
            <a:r>
              <a:rPr sz="1600" dirty="0">
                <a:latin typeface="Casper"/>
                <a:cs typeface="Times New Roman"/>
              </a:rPr>
              <a:t>and</a:t>
            </a:r>
            <a:r>
              <a:rPr sz="1600" spc="-254" dirty="0">
                <a:latin typeface="Casper"/>
                <a:cs typeface="Times New Roman"/>
              </a:rPr>
              <a:t> </a:t>
            </a:r>
            <a:r>
              <a:rPr sz="1600" spc="-5" dirty="0">
                <a:latin typeface="Casper"/>
                <a:cs typeface="Times New Roman"/>
              </a:rPr>
              <a:t>Y</a:t>
            </a:r>
            <a:r>
              <a:rPr sz="1600" spc="-7" baseline="-20833" dirty="0">
                <a:latin typeface="Casper"/>
                <a:cs typeface="Times New Roman"/>
              </a:rPr>
              <a:t>2.</a:t>
            </a:r>
            <a:endParaRPr sz="1600" baseline="-20833">
              <a:latin typeface="Casper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80365" algn="l"/>
                <a:tab pos="381000" algn="l"/>
                <a:tab pos="828675" algn="l"/>
              </a:tabLst>
            </a:pPr>
            <a:r>
              <a:rPr sz="1600" spc="-5" dirty="0">
                <a:latin typeface="Casper"/>
                <a:cs typeface="Times New Roman"/>
              </a:rPr>
              <a:t>D</a:t>
            </a:r>
            <a:r>
              <a:rPr sz="1600" spc="-7" baseline="-20833" dirty="0">
                <a:latin typeface="Casper"/>
                <a:cs typeface="Times New Roman"/>
              </a:rPr>
              <a:t>3	</a:t>
            </a:r>
            <a:r>
              <a:rPr sz="1600" dirty="0">
                <a:latin typeface="Casper"/>
                <a:cs typeface="Times New Roman"/>
              </a:rPr>
              <a:t>has highest priority and </a:t>
            </a:r>
            <a:r>
              <a:rPr sz="1600" spc="5" dirty="0">
                <a:latin typeface="Casper"/>
                <a:cs typeface="Times New Roman"/>
              </a:rPr>
              <a:t>D</a:t>
            </a:r>
            <a:r>
              <a:rPr sz="1600" spc="7" baseline="-20833" dirty="0">
                <a:latin typeface="Casper"/>
                <a:cs typeface="Times New Roman"/>
              </a:rPr>
              <a:t>0 </a:t>
            </a:r>
            <a:r>
              <a:rPr sz="1600" dirty="0">
                <a:latin typeface="Casper"/>
                <a:cs typeface="Times New Roman"/>
              </a:rPr>
              <a:t>is at lowest</a:t>
            </a:r>
            <a:r>
              <a:rPr sz="1600" spc="-325" dirty="0">
                <a:latin typeface="Casper"/>
                <a:cs typeface="Times New Roman"/>
              </a:rPr>
              <a:t> </a:t>
            </a:r>
            <a:r>
              <a:rPr sz="1600" spc="-20" dirty="0">
                <a:latin typeface="Casper"/>
                <a:cs typeface="Times New Roman"/>
              </a:rPr>
              <a:t>priority.</a:t>
            </a:r>
            <a:endParaRPr sz="1600">
              <a:latin typeface="Casper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1600" dirty="0">
                <a:latin typeface="Casper"/>
                <a:cs typeface="Times New Roman"/>
              </a:rPr>
              <a:t>If </a:t>
            </a:r>
            <a:r>
              <a:rPr sz="1600" spc="-5" dirty="0">
                <a:latin typeface="Casper"/>
                <a:cs typeface="Times New Roman"/>
              </a:rPr>
              <a:t>D</a:t>
            </a:r>
            <a:r>
              <a:rPr sz="1600" spc="-7" baseline="-20833" dirty="0">
                <a:latin typeface="Casper"/>
                <a:cs typeface="Times New Roman"/>
              </a:rPr>
              <a:t>3</a:t>
            </a:r>
            <a:r>
              <a:rPr sz="1600" spc="-5" dirty="0">
                <a:latin typeface="Casper"/>
                <a:cs typeface="Times New Roman"/>
              </a:rPr>
              <a:t>=1 </a:t>
            </a:r>
            <a:r>
              <a:rPr sz="1600" dirty="0">
                <a:latin typeface="Casper"/>
                <a:cs typeface="Times New Roman"/>
              </a:rPr>
              <a:t>irrespective of other inputs then output</a:t>
            </a:r>
            <a:r>
              <a:rPr sz="1600" spc="-220" dirty="0">
                <a:latin typeface="Casper"/>
                <a:cs typeface="Times New Roman"/>
              </a:rPr>
              <a:t> </a:t>
            </a:r>
            <a:r>
              <a:rPr sz="1600" spc="-10" dirty="0">
                <a:latin typeface="Casper"/>
                <a:cs typeface="Times New Roman"/>
              </a:rPr>
              <a:t>Y</a:t>
            </a:r>
            <a:r>
              <a:rPr sz="1600" spc="-15" baseline="-20833" dirty="0">
                <a:latin typeface="Casper"/>
                <a:cs typeface="Times New Roman"/>
              </a:rPr>
              <a:t>1</a:t>
            </a:r>
            <a:r>
              <a:rPr sz="1600" spc="-10" dirty="0">
                <a:latin typeface="Casper"/>
                <a:cs typeface="Times New Roman"/>
              </a:rPr>
              <a:t>Y</a:t>
            </a:r>
            <a:r>
              <a:rPr sz="1600" spc="-15" baseline="-20833" dirty="0">
                <a:latin typeface="Casper"/>
                <a:cs typeface="Times New Roman"/>
              </a:rPr>
              <a:t>0</a:t>
            </a:r>
            <a:r>
              <a:rPr sz="1600" spc="-10" dirty="0">
                <a:latin typeface="Casper"/>
                <a:cs typeface="Times New Roman"/>
              </a:rPr>
              <a:t>=11.</a:t>
            </a:r>
            <a:endParaRPr sz="1600">
              <a:latin typeface="Casper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1600" spc="-5" dirty="0">
                <a:latin typeface="Casper"/>
                <a:cs typeface="Times New Roman"/>
              </a:rPr>
              <a:t>D</a:t>
            </a:r>
            <a:r>
              <a:rPr sz="1600" spc="-7" baseline="-20833" dirty="0">
                <a:latin typeface="Casper"/>
                <a:cs typeface="Times New Roman"/>
              </a:rPr>
              <a:t>3 </a:t>
            </a:r>
            <a:r>
              <a:rPr sz="1600" dirty="0">
                <a:latin typeface="Casper"/>
                <a:cs typeface="Times New Roman"/>
              </a:rPr>
              <a:t>is at highest priority </a:t>
            </a:r>
            <a:r>
              <a:rPr sz="1600" spc="-5" dirty="0">
                <a:latin typeface="Casper"/>
                <a:cs typeface="Times New Roman"/>
              </a:rPr>
              <a:t>so </a:t>
            </a:r>
            <a:r>
              <a:rPr sz="1600" dirty="0">
                <a:latin typeface="Casper"/>
                <a:cs typeface="Times New Roman"/>
              </a:rPr>
              <a:t>other inputs are considered as </a:t>
            </a:r>
            <a:r>
              <a:rPr sz="1600" spc="-10">
                <a:latin typeface="Casper"/>
                <a:cs typeface="Times New Roman"/>
              </a:rPr>
              <a:t>don’t</a:t>
            </a:r>
            <a:r>
              <a:rPr sz="1600" spc="-400">
                <a:latin typeface="Casper"/>
                <a:cs typeface="Times New Roman"/>
              </a:rPr>
              <a:t> </a:t>
            </a:r>
            <a:r>
              <a:rPr sz="1600">
                <a:latin typeface="Casper"/>
                <a:cs typeface="Times New Roman"/>
              </a:rPr>
              <a:t>care.</a:t>
            </a:r>
            <a:endParaRPr lang="en-US" sz="1600" dirty="0">
              <a:latin typeface="Casper"/>
              <a:cs typeface="Times New Roman"/>
            </a:endParaRPr>
          </a:p>
          <a:p>
            <a:pPr marL="381000" indent="-342900" algn="ctr">
              <a:lnSpc>
                <a:spcPct val="100000"/>
              </a:lnSpc>
              <a:spcBef>
                <a:spcPts val="575"/>
              </a:spcBef>
              <a:tabLst>
                <a:tab pos="380365" algn="l"/>
                <a:tab pos="381000" algn="l"/>
              </a:tabLst>
            </a:pPr>
            <a:r>
              <a:rPr sz="3600" spc="-10">
                <a:latin typeface="CasperBOLD"/>
                <a:cs typeface="Times New Roman"/>
              </a:rPr>
              <a:t>K-map </a:t>
            </a:r>
            <a:r>
              <a:rPr sz="3600">
                <a:latin typeface="CasperBOLD"/>
                <a:cs typeface="Times New Roman"/>
              </a:rPr>
              <a:t>for </a:t>
            </a:r>
            <a:r>
              <a:rPr sz="3600" spc="-5">
                <a:latin typeface="CasperBOLD"/>
                <a:cs typeface="Times New Roman"/>
              </a:rPr>
              <a:t>Y</a:t>
            </a:r>
            <a:r>
              <a:rPr sz="3600" spc="-7" baseline="-20833">
                <a:latin typeface="CasperBOLD"/>
                <a:cs typeface="Times New Roman"/>
              </a:rPr>
              <a:t>1 </a:t>
            </a:r>
            <a:r>
              <a:rPr sz="3600">
                <a:latin typeface="CasperBOLD"/>
                <a:cs typeface="Times New Roman"/>
              </a:rPr>
              <a:t>and</a:t>
            </a:r>
            <a:r>
              <a:rPr sz="3600" spc="-355">
                <a:latin typeface="CasperBOLD"/>
                <a:cs typeface="Times New Roman"/>
              </a:rPr>
              <a:t> </a:t>
            </a:r>
            <a:r>
              <a:rPr sz="3600" spc="-5">
                <a:latin typeface="CasperBOLD"/>
                <a:cs typeface="Times New Roman"/>
              </a:rPr>
              <a:t>Y</a:t>
            </a:r>
            <a:r>
              <a:rPr sz="3600" spc="-7" baseline="-20833">
                <a:latin typeface="CasperBOLD"/>
                <a:cs typeface="Times New Roman"/>
              </a:rPr>
              <a:t>0</a:t>
            </a:r>
            <a:endParaRPr sz="3600" baseline="-20833">
              <a:latin typeface="CasperBOLD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429000" y="6248400"/>
            <a:ext cx="327342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600" dirty="0">
                <a:latin typeface="Casper"/>
                <a:cs typeface="Times New Roman"/>
              </a:rPr>
              <a:t>Fig.</a:t>
            </a:r>
            <a:r>
              <a:rPr lang="pt-BR" sz="1600" spc="-100" dirty="0">
                <a:latin typeface="Casper"/>
                <a:cs typeface="Times New Roman"/>
              </a:rPr>
              <a:t> 12 : </a:t>
            </a:r>
            <a:r>
              <a:rPr lang="pt-BR" sz="1600" dirty="0">
                <a:latin typeface="Casper"/>
              </a:rPr>
              <a:t>ENCODER DIAGRAM 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250953"/>
            <a:ext cx="8458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CasperBOLD"/>
                <a:cs typeface="Times New Roman" pitchFamily="18" charset="0"/>
              </a:rPr>
              <a:t>LOGIC DIAGRAM OF PRIORITY</a:t>
            </a:r>
            <a:r>
              <a:rPr sz="3200" spc="-45" dirty="0">
                <a:latin typeface="CasperBOLD"/>
                <a:cs typeface="Times New Roman" pitchFamily="18" charset="0"/>
              </a:rPr>
              <a:t> </a:t>
            </a:r>
            <a:r>
              <a:rPr sz="3200" spc="-5" dirty="0">
                <a:latin typeface="CasperBOLD"/>
                <a:cs typeface="Times New Roman" pitchFamily="18" charset="0"/>
              </a:rPr>
              <a:t>ENCODER:</a:t>
            </a:r>
          </a:p>
        </p:txBody>
      </p:sp>
      <p:sp>
        <p:nvSpPr>
          <p:cNvPr id="3" name="object 3"/>
          <p:cNvSpPr/>
          <p:nvPr/>
        </p:nvSpPr>
        <p:spPr>
          <a:xfrm>
            <a:off x="1333823" y="1076692"/>
            <a:ext cx="289560" cy="0"/>
          </a:xfrm>
          <a:custGeom>
            <a:avLst/>
            <a:gdLst/>
            <a:ahLst/>
            <a:cxnLst/>
            <a:rect l="l" t="t" r="r" b="b"/>
            <a:pathLst>
              <a:path w="289559">
                <a:moveTo>
                  <a:pt x="0" y="0"/>
                </a:moveTo>
                <a:lnTo>
                  <a:pt x="289319" y="0"/>
                </a:lnTo>
              </a:path>
            </a:pathLst>
          </a:custGeom>
          <a:ln w="105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37432" y="2216023"/>
            <a:ext cx="0" cy="229870"/>
          </a:xfrm>
          <a:custGeom>
            <a:avLst/>
            <a:gdLst/>
            <a:ahLst/>
            <a:cxnLst/>
            <a:rect l="l" t="t" r="r" b="b"/>
            <a:pathLst>
              <a:path h="229869">
                <a:moveTo>
                  <a:pt x="0" y="0"/>
                </a:moveTo>
                <a:lnTo>
                  <a:pt x="0" y="229362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38575" y="2845816"/>
            <a:ext cx="635" cy="3108960"/>
          </a:xfrm>
          <a:custGeom>
            <a:avLst/>
            <a:gdLst/>
            <a:ahLst/>
            <a:cxnLst/>
            <a:rect l="l" t="t" r="r" b="b"/>
            <a:pathLst>
              <a:path w="635" h="3108960">
                <a:moveTo>
                  <a:pt x="0" y="0"/>
                </a:moveTo>
                <a:lnTo>
                  <a:pt x="508" y="3108934"/>
                </a:lnTo>
              </a:path>
            </a:pathLst>
          </a:custGeom>
          <a:ln w="15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1427" y="2797746"/>
            <a:ext cx="75311" cy="82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48328" y="2440432"/>
            <a:ext cx="381000" cy="358775"/>
          </a:xfrm>
          <a:custGeom>
            <a:avLst/>
            <a:gdLst/>
            <a:ahLst/>
            <a:cxnLst/>
            <a:rect l="l" t="t" r="r" b="b"/>
            <a:pathLst>
              <a:path w="381000" h="358775">
                <a:moveTo>
                  <a:pt x="381000" y="0"/>
                </a:moveTo>
                <a:lnTo>
                  <a:pt x="0" y="0"/>
                </a:lnTo>
                <a:lnTo>
                  <a:pt x="190500" y="358647"/>
                </a:lnTo>
                <a:lnTo>
                  <a:pt x="381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48328" y="2440432"/>
            <a:ext cx="381000" cy="358775"/>
          </a:xfrm>
          <a:custGeom>
            <a:avLst/>
            <a:gdLst/>
            <a:ahLst/>
            <a:cxnLst/>
            <a:rect l="l" t="t" r="r" b="b"/>
            <a:pathLst>
              <a:path w="381000" h="358775">
                <a:moveTo>
                  <a:pt x="381000" y="0"/>
                </a:moveTo>
                <a:lnTo>
                  <a:pt x="190500" y="358647"/>
                </a:lnTo>
                <a:lnTo>
                  <a:pt x="0" y="0"/>
                </a:lnTo>
                <a:lnTo>
                  <a:pt x="381000" y="0"/>
                </a:lnTo>
                <a:close/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18638" y="1905761"/>
            <a:ext cx="1905" cy="4039235"/>
          </a:xfrm>
          <a:custGeom>
            <a:avLst/>
            <a:gdLst/>
            <a:ahLst/>
            <a:cxnLst/>
            <a:rect l="l" t="t" r="r" b="b"/>
            <a:pathLst>
              <a:path w="1905" h="4039235">
                <a:moveTo>
                  <a:pt x="1524" y="0"/>
                </a:moveTo>
                <a:lnTo>
                  <a:pt x="0" y="4038625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81400" y="1927605"/>
            <a:ext cx="1905" cy="4038600"/>
          </a:xfrm>
          <a:custGeom>
            <a:avLst/>
            <a:gdLst/>
            <a:ahLst/>
            <a:cxnLst/>
            <a:rect l="l" t="t" r="r" b="b"/>
            <a:pathLst>
              <a:path w="1904" h="4038600">
                <a:moveTo>
                  <a:pt x="1650" y="0"/>
                </a:moveTo>
                <a:lnTo>
                  <a:pt x="0" y="4038549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75148" y="1953260"/>
            <a:ext cx="1905" cy="4038600"/>
          </a:xfrm>
          <a:custGeom>
            <a:avLst/>
            <a:gdLst/>
            <a:ahLst/>
            <a:cxnLst/>
            <a:rect l="l" t="t" r="r" b="b"/>
            <a:pathLst>
              <a:path w="1904" h="4038600">
                <a:moveTo>
                  <a:pt x="1650" y="0"/>
                </a:moveTo>
                <a:lnTo>
                  <a:pt x="0" y="4038549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89548" y="1977644"/>
            <a:ext cx="1905" cy="4039235"/>
          </a:xfrm>
          <a:custGeom>
            <a:avLst/>
            <a:gdLst/>
            <a:ahLst/>
            <a:cxnLst/>
            <a:rect l="l" t="t" r="r" b="b"/>
            <a:pathLst>
              <a:path w="1904" h="4039235">
                <a:moveTo>
                  <a:pt x="1650" y="0"/>
                </a:moveTo>
                <a:lnTo>
                  <a:pt x="0" y="4038625"/>
                </a:lnTo>
              </a:path>
            </a:pathLst>
          </a:custGeom>
          <a:ln w="15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80765" y="2216911"/>
            <a:ext cx="256540" cy="1905"/>
          </a:xfrm>
          <a:custGeom>
            <a:avLst/>
            <a:gdLst/>
            <a:ahLst/>
            <a:cxnLst/>
            <a:rect l="l" t="t" r="r" b="b"/>
            <a:pathLst>
              <a:path w="256539" h="1905">
                <a:moveTo>
                  <a:pt x="256032" y="1524"/>
                </a:moveTo>
                <a:lnTo>
                  <a:pt x="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85800" y="605831"/>
            <a:ext cx="7010399" cy="126555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25"/>
              </a:spcBef>
            </a:pPr>
            <a:r>
              <a:rPr sz="2000" spc="-110" dirty="0">
                <a:latin typeface="Times New Roman"/>
                <a:cs typeface="Times New Roman"/>
              </a:rPr>
              <a:t>Y</a:t>
            </a:r>
            <a:r>
              <a:rPr sz="1725" spc="-165" baseline="-24154" dirty="0">
                <a:latin typeface="Times New Roman"/>
                <a:cs typeface="Times New Roman"/>
              </a:rPr>
              <a:t>1</a:t>
            </a:r>
            <a:r>
              <a:rPr sz="1725" spc="97" baseline="-24154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Symbol"/>
                <a:cs typeface="Symbol"/>
              </a:rPr>
              <a:t>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D</a:t>
            </a:r>
            <a:r>
              <a:rPr sz="1725" spc="97" baseline="-24154" dirty="0">
                <a:latin typeface="Times New Roman"/>
                <a:cs typeface="Times New Roman"/>
              </a:rPr>
              <a:t>2 </a:t>
            </a:r>
            <a:r>
              <a:rPr sz="2000" spc="40" dirty="0">
                <a:latin typeface="Symbol"/>
                <a:cs typeface="Symbol"/>
              </a:rPr>
              <a:t>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45" dirty="0">
                <a:latin typeface="Times New Roman"/>
                <a:cs typeface="Times New Roman"/>
              </a:rPr>
              <a:t>D</a:t>
            </a:r>
            <a:r>
              <a:rPr sz="1725" spc="67" baseline="-24154" dirty="0">
                <a:latin typeface="Times New Roman"/>
                <a:cs typeface="Times New Roman"/>
              </a:rPr>
              <a:t>3</a:t>
            </a:r>
            <a:endParaRPr sz="1725" baseline="-24154">
              <a:latin typeface="Times New Roman"/>
              <a:cs typeface="Times New Roman"/>
            </a:endParaRPr>
          </a:p>
          <a:p>
            <a:pPr marL="27305">
              <a:lnSpc>
                <a:spcPct val="100000"/>
              </a:lnSpc>
              <a:spcBef>
                <a:spcPts val="535"/>
              </a:spcBef>
            </a:pPr>
            <a:r>
              <a:rPr sz="2050" spc="-65" dirty="0">
                <a:latin typeface="Times New Roman"/>
                <a:cs typeface="Times New Roman"/>
              </a:rPr>
              <a:t>Y</a:t>
            </a:r>
            <a:r>
              <a:rPr sz="1800" spc="-97" baseline="-23148" dirty="0">
                <a:latin typeface="Times New Roman"/>
                <a:cs typeface="Times New Roman"/>
              </a:rPr>
              <a:t>0 </a:t>
            </a:r>
            <a:r>
              <a:rPr sz="2050" spc="35">
                <a:latin typeface="Symbol"/>
                <a:cs typeface="Symbol"/>
              </a:rPr>
              <a:t></a:t>
            </a:r>
            <a:r>
              <a:rPr sz="2050" spc="35">
                <a:latin typeface="Times New Roman"/>
                <a:cs typeface="Times New Roman"/>
              </a:rPr>
              <a:t> </a:t>
            </a:r>
            <a:r>
              <a:rPr lang="en-US" sz="2050" spc="35" dirty="0">
                <a:latin typeface="Times New Roman"/>
                <a:cs typeface="Times New Roman"/>
              </a:rPr>
              <a:t> </a:t>
            </a:r>
            <a:r>
              <a:rPr sz="2050" spc="35">
                <a:latin typeface="Times New Roman"/>
                <a:cs typeface="Times New Roman"/>
              </a:rPr>
              <a:t> </a:t>
            </a:r>
            <a:r>
              <a:rPr sz="2050" spc="55">
                <a:latin typeface="Times New Roman"/>
                <a:cs typeface="Times New Roman"/>
              </a:rPr>
              <a:t>D</a:t>
            </a:r>
            <a:r>
              <a:rPr sz="1800" spc="82" baseline="-23148">
                <a:latin typeface="Times New Roman"/>
                <a:cs typeface="Times New Roman"/>
              </a:rPr>
              <a:t>2</a:t>
            </a:r>
            <a:r>
              <a:rPr sz="1800" spc="-82" baseline="-23148">
                <a:latin typeface="Times New Roman"/>
                <a:cs typeface="Times New Roman"/>
              </a:rPr>
              <a:t> </a:t>
            </a:r>
            <a:r>
              <a:rPr sz="2050" spc="-10">
                <a:latin typeface="Times New Roman"/>
                <a:cs typeface="Times New Roman"/>
              </a:rPr>
              <a:t>D</a:t>
            </a:r>
            <a:r>
              <a:rPr sz="1800" spc="-15" baseline="-23148">
                <a:latin typeface="Times New Roman"/>
                <a:cs typeface="Times New Roman"/>
              </a:rPr>
              <a:t>1</a:t>
            </a:r>
            <a:r>
              <a:rPr lang="en-US" sz="1800" spc="-15" baseline="-23148" dirty="0">
                <a:latin typeface="Times New Roman"/>
                <a:cs typeface="Times New Roman"/>
              </a:rPr>
              <a:t>  </a:t>
            </a:r>
            <a:r>
              <a:rPr lang="en-US" sz="1800" spc="-15" dirty="0">
                <a:latin typeface="Times New Roman"/>
                <a:cs typeface="Times New Roman"/>
              </a:rPr>
              <a:t>+</a:t>
            </a:r>
            <a:r>
              <a:rPr lang="en-US" sz="1800" spc="-15" baseline="-23148" dirty="0">
                <a:latin typeface="Times New Roman"/>
                <a:cs typeface="Times New Roman"/>
              </a:rPr>
              <a:t> </a:t>
            </a:r>
            <a:r>
              <a:rPr lang="en-US" sz="1800" spc="-15" dirty="0">
                <a:latin typeface="Times New Roman"/>
                <a:cs typeface="Times New Roman"/>
              </a:rPr>
              <a:t> D</a:t>
            </a:r>
            <a:r>
              <a:rPr lang="en-US" sz="1800" spc="-15" baseline="-25000" dirty="0">
                <a:latin typeface="Times New Roman"/>
                <a:cs typeface="Times New Roman"/>
              </a:rPr>
              <a:t>3</a:t>
            </a:r>
            <a:endParaRPr sz="1800" baseline="-25000">
              <a:latin typeface="Times New Roman"/>
              <a:cs typeface="Times New Roman"/>
            </a:endParaRPr>
          </a:p>
          <a:p>
            <a:pPr marL="2116138">
              <a:lnSpc>
                <a:spcPct val="100000"/>
              </a:lnSpc>
              <a:spcBef>
                <a:spcPts val="1440"/>
              </a:spcBef>
              <a:tabLst>
                <a:tab pos="3202940" algn="l"/>
                <a:tab pos="4518025" algn="l"/>
                <a:tab pos="5440680" algn="l"/>
              </a:tabLst>
            </a:pPr>
            <a:r>
              <a:rPr sz="3000" spc="15" baseline="-4166">
                <a:latin typeface="Times New Roman"/>
                <a:cs typeface="Times New Roman"/>
              </a:rPr>
              <a:t>D</a:t>
            </a:r>
            <a:r>
              <a:rPr sz="1950" spc="15" baseline="-27777">
                <a:latin typeface="Times New Roman"/>
                <a:cs typeface="Times New Roman"/>
              </a:rPr>
              <a:t>3</a:t>
            </a:r>
            <a:r>
              <a:rPr lang="en-US" sz="1950" spc="15" dirty="0">
                <a:latin typeface="Times New Roman"/>
                <a:cs typeface="Times New Roman"/>
              </a:rPr>
              <a:t>       </a:t>
            </a:r>
            <a:r>
              <a:rPr sz="3000" spc="15" baseline="-1388">
                <a:latin typeface="Times New Roman"/>
                <a:cs typeface="Times New Roman"/>
              </a:rPr>
              <a:t>D</a:t>
            </a:r>
            <a:r>
              <a:rPr sz="1950" spc="15" baseline="-23504">
                <a:latin typeface="Times New Roman"/>
                <a:cs typeface="Times New Roman"/>
              </a:rPr>
              <a:t>2	</a:t>
            </a:r>
            <a:r>
              <a:rPr lang="en-US" sz="1950" spc="15" baseline="-23504" dirty="0">
                <a:latin typeface="Times New Roman"/>
                <a:cs typeface="Times New Roman"/>
              </a:rPr>
              <a:t>                     </a:t>
            </a:r>
            <a:r>
              <a:rPr sz="3000" spc="15" baseline="1388">
                <a:latin typeface="Times New Roman"/>
                <a:cs typeface="Times New Roman"/>
              </a:rPr>
              <a:t>D</a:t>
            </a:r>
            <a:r>
              <a:rPr sz="1950" spc="15" baseline="-19230">
                <a:latin typeface="Times New Roman"/>
                <a:cs typeface="Times New Roman"/>
              </a:rPr>
              <a:t>1	</a:t>
            </a:r>
            <a:r>
              <a:rPr lang="en-US" sz="1950" spc="15" baseline="-19230" dirty="0">
                <a:latin typeface="Times New Roman"/>
                <a:cs typeface="Times New Roman"/>
              </a:rPr>
              <a:t>            </a:t>
            </a:r>
            <a:r>
              <a:rPr sz="2000" spc="10">
                <a:latin typeface="Times New Roman"/>
                <a:cs typeface="Times New Roman"/>
              </a:rPr>
              <a:t>D</a:t>
            </a:r>
            <a:r>
              <a:rPr sz="1950" spc="15" baseline="-21367">
                <a:latin typeface="Times New Roman"/>
                <a:cs typeface="Times New Roman"/>
              </a:rPr>
              <a:t>0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43300" y="3356355"/>
            <a:ext cx="2745105" cy="76200"/>
          </a:xfrm>
          <a:custGeom>
            <a:avLst/>
            <a:gdLst/>
            <a:ahLst/>
            <a:cxnLst/>
            <a:rect l="l" t="t" r="r" b="b"/>
            <a:pathLst>
              <a:path w="2745104" h="76200">
                <a:moveTo>
                  <a:pt x="38100" y="0"/>
                </a:moveTo>
                <a:lnTo>
                  <a:pt x="23252" y="3006"/>
                </a:lnTo>
                <a:lnTo>
                  <a:pt x="11144" y="11191"/>
                </a:lnTo>
                <a:lnTo>
                  <a:pt x="2988" y="23306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589" y="46101"/>
                </a:lnTo>
                <a:lnTo>
                  <a:pt x="38100" y="46101"/>
                </a:lnTo>
                <a:lnTo>
                  <a:pt x="38100" y="30226"/>
                </a:lnTo>
                <a:lnTo>
                  <a:pt x="74609" y="30226"/>
                </a:lnTo>
                <a:lnTo>
                  <a:pt x="73211" y="23306"/>
                </a:lnTo>
                <a:lnTo>
                  <a:pt x="65055" y="11191"/>
                </a:lnTo>
                <a:lnTo>
                  <a:pt x="52947" y="3006"/>
                </a:lnTo>
                <a:lnTo>
                  <a:pt x="38100" y="0"/>
                </a:lnTo>
                <a:close/>
              </a:path>
              <a:path w="2745104" h="76200">
                <a:moveTo>
                  <a:pt x="74609" y="30226"/>
                </a:moveTo>
                <a:lnTo>
                  <a:pt x="38100" y="30226"/>
                </a:lnTo>
                <a:lnTo>
                  <a:pt x="38100" y="46101"/>
                </a:lnTo>
                <a:lnTo>
                  <a:pt x="74589" y="46101"/>
                </a:lnTo>
                <a:lnTo>
                  <a:pt x="76200" y="38100"/>
                </a:lnTo>
                <a:lnTo>
                  <a:pt x="74609" y="30226"/>
                </a:lnTo>
                <a:close/>
              </a:path>
              <a:path w="2745104" h="76200">
                <a:moveTo>
                  <a:pt x="2744724" y="30226"/>
                </a:moveTo>
                <a:lnTo>
                  <a:pt x="74609" y="30226"/>
                </a:lnTo>
                <a:lnTo>
                  <a:pt x="76200" y="38100"/>
                </a:lnTo>
                <a:lnTo>
                  <a:pt x="74589" y="46101"/>
                </a:lnTo>
                <a:lnTo>
                  <a:pt x="2744724" y="46101"/>
                </a:lnTo>
                <a:lnTo>
                  <a:pt x="2744724" y="30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81300" y="3127248"/>
            <a:ext cx="3512820" cy="76200"/>
          </a:xfrm>
          <a:custGeom>
            <a:avLst/>
            <a:gdLst/>
            <a:ahLst/>
            <a:cxnLst/>
            <a:rect l="l" t="t" r="r" b="b"/>
            <a:pathLst>
              <a:path w="351282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589" y="46100"/>
                </a:lnTo>
                <a:lnTo>
                  <a:pt x="38100" y="46100"/>
                </a:lnTo>
                <a:lnTo>
                  <a:pt x="38100" y="30225"/>
                </a:lnTo>
                <a:lnTo>
                  <a:pt x="74615" y="30225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512820" h="76200">
                <a:moveTo>
                  <a:pt x="74615" y="30225"/>
                </a:moveTo>
                <a:lnTo>
                  <a:pt x="38100" y="30225"/>
                </a:lnTo>
                <a:lnTo>
                  <a:pt x="38100" y="46100"/>
                </a:lnTo>
                <a:lnTo>
                  <a:pt x="74589" y="46100"/>
                </a:lnTo>
                <a:lnTo>
                  <a:pt x="76200" y="38100"/>
                </a:lnTo>
                <a:lnTo>
                  <a:pt x="74615" y="30225"/>
                </a:lnTo>
                <a:close/>
              </a:path>
              <a:path w="3512820" h="76200">
                <a:moveTo>
                  <a:pt x="3512820" y="30225"/>
                </a:moveTo>
                <a:lnTo>
                  <a:pt x="74615" y="30225"/>
                </a:lnTo>
                <a:lnTo>
                  <a:pt x="76200" y="38100"/>
                </a:lnTo>
                <a:lnTo>
                  <a:pt x="74589" y="46100"/>
                </a:lnTo>
                <a:lnTo>
                  <a:pt x="3512820" y="46100"/>
                </a:lnTo>
                <a:lnTo>
                  <a:pt x="3512820" y="302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910705" y="3278504"/>
            <a:ext cx="1188720" cy="635"/>
          </a:xfrm>
          <a:custGeom>
            <a:avLst/>
            <a:gdLst/>
            <a:ahLst/>
            <a:cxnLst/>
            <a:rect l="l" t="t" r="r" b="b"/>
            <a:pathLst>
              <a:path w="1188720" h="635">
                <a:moveTo>
                  <a:pt x="0" y="508"/>
                </a:moveTo>
                <a:lnTo>
                  <a:pt x="118872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35700" y="3048889"/>
            <a:ext cx="673100" cy="456565"/>
          </a:xfrm>
          <a:custGeom>
            <a:avLst/>
            <a:gdLst/>
            <a:ahLst/>
            <a:cxnLst/>
            <a:rect l="l" t="t" r="r" b="b"/>
            <a:pathLst>
              <a:path w="673100" h="456564">
                <a:moveTo>
                  <a:pt x="0" y="0"/>
                </a:moveTo>
                <a:lnTo>
                  <a:pt x="0" y="456311"/>
                </a:lnTo>
                <a:lnTo>
                  <a:pt x="324103" y="454278"/>
                </a:lnTo>
                <a:lnTo>
                  <a:pt x="375365" y="446820"/>
                </a:lnTo>
                <a:lnTo>
                  <a:pt x="428296" y="430915"/>
                </a:lnTo>
                <a:lnTo>
                  <a:pt x="480840" y="408267"/>
                </a:lnTo>
                <a:lnTo>
                  <a:pt x="530942" y="380579"/>
                </a:lnTo>
                <a:lnTo>
                  <a:pt x="576544" y="349557"/>
                </a:lnTo>
                <a:lnTo>
                  <a:pt x="615592" y="316902"/>
                </a:lnTo>
                <a:lnTo>
                  <a:pt x="646029" y="284320"/>
                </a:lnTo>
                <a:lnTo>
                  <a:pt x="672846" y="226187"/>
                </a:lnTo>
                <a:lnTo>
                  <a:pt x="665590" y="198930"/>
                </a:lnTo>
                <a:lnTo>
                  <a:pt x="614181" y="136111"/>
                </a:lnTo>
                <a:lnTo>
                  <a:pt x="574454" y="103956"/>
                </a:lnTo>
                <a:lnTo>
                  <a:pt x="528329" y="73579"/>
                </a:lnTo>
                <a:lnTo>
                  <a:pt x="478018" y="46684"/>
                </a:lnTo>
                <a:lnTo>
                  <a:pt x="425735" y="24975"/>
                </a:lnTo>
                <a:lnTo>
                  <a:pt x="373693" y="10158"/>
                </a:lnTo>
                <a:lnTo>
                  <a:pt x="324103" y="393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235700" y="3048889"/>
            <a:ext cx="673100" cy="456565"/>
          </a:xfrm>
          <a:custGeom>
            <a:avLst/>
            <a:gdLst/>
            <a:ahLst/>
            <a:cxnLst/>
            <a:rect l="l" t="t" r="r" b="b"/>
            <a:pathLst>
              <a:path w="673100" h="456564">
                <a:moveTo>
                  <a:pt x="0" y="0"/>
                </a:moveTo>
                <a:lnTo>
                  <a:pt x="324103" y="3937"/>
                </a:lnTo>
                <a:lnTo>
                  <a:pt x="373693" y="10158"/>
                </a:lnTo>
                <a:lnTo>
                  <a:pt x="425735" y="24975"/>
                </a:lnTo>
                <a:lnTo>
                  <a:pt x="478018" y="46684"/>
                </a:lnTo>
                <a:lnTo>
                  <a:pt x="528329" y="73579"/>
                </a:lnTo>
                <a:lnTo>
                  <a:pt x="574454" y="103956"/>
                </a:lnTo>
                <a:lnTo>
                  <a:pt x="614181" y="136111"/>
                </a:lnTo>
                <a:lnTo>
                  <a:pt x="645297" y="168337"/>
                </a:lnTo>
                <a:lnTo>
                  <a:pt x="672846" y="226187"/>
                </a:lnTo>
                <a:lnTo>
                  <a:pt x="665799" y="253513"/>
                </a:lnTo>
                <a:lnTo>
                  <a:pt x="615592" y="316902"/>
                </a:lnTo>
                <a:lnTo>
                  <a:pt x="576544" y="349557"/>
                </a:lnTo>
                <a:lnTo>
                  <a:pt x="530942" y="380579"/>
                </a:lnTo>
                <a:lnTo>
                  <a:pt x="480840" y="408267"/>
                </a:lnTo>
                <a:lnTo>
                  <a:pt x="428296" y="430915"/>
                </a:lnTo>
                <a:lnTo>
                  <a:pt x="375365" y="446820"/>
                </a:lnTo>
                <a:lnTo>
                  <a:pt x="324103" y="454278"/>
                </a:lnTo>
                <a:lnTo>
                  <a:pt x="0" y="456311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30873" y="3048889"/>
            <a:ext cx="71755" cy="456565"/>
          </a:xfrm>
          <a:custGeom>
            <a:avLst/>
            <a:gdLst/>
            <a:ahLst/>
            <a:cxnLst/>
            <a:rect l="l" t="t" r="r" b="b"/>
            <a:pathLst>
              <a:path w="71754" h="456564">
                <a:moveTo>
                  <a:pt x="0" y="456311"/>
                </a:moveTo>
                <a:lnTo>
                  <a:pt x="45787" y="398602"/>
                </a:lnTo>
                <a:lnTo>
                  <a:pt x="60130" y="342605"/>
                </a:lnTo>
                <a:lnTo>
                  <a:pt x="68750" y="282859"/>
                </a:lnTo>
                <a:lnTo>
                  <a:pt x="71627" y="230124"/>
                </a:lnTo>
                <a:lnTo>
                  <a:pt x="69638" y="186663"/>
                </a:lnTo>
                <a:lnTo>
                  <a:pt x="63669" y="136651"/>
                </a:lnTo>
                <a:lnTo>
                  <a:pt x="53721" y="86534"/>
                </a:lnTo>
                <a:lnTo>
                  <a:pt x="39793" y="42756"/>
                </a:lnTo>
                <a:lnTo>
                  <a:pt x="21886" y="11763"/>
                </a:lnTo>
                <a:lnTo>
                  <a:pt x="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065009" y="2936239"/>
            <a:ext cx="3454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10" dirty="0">
                <a:latin typeface="Times New Roman"/>
                <a:cs typeface="Times New Roman"/>
              </a:rPr>
              <a:t>Y</a:t>
            </a:r>
            <a:r>
              <a:rPr sz="1950" spc="15" baseline="-21367" dirty="0">
                <a:latin typeface="Times New Roman"/>
                <a:cs typeface="Times New Roman"/>
              </a:rPr>
              <a:t>1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22316" y="4402201"/>
            <a:ext cx="1363980" cy="76200"/>
          </a:xfrm>
          <a:custGeom>
            <a:avLst/>
            <a:gdLst/>
            <a:ahLst/>
            <a:cxnLst/>
            <a:rect l="l" t="t" r="r" b="b"/>
            <a:pathLst>
              <a:path w="1363979" h="76200">
                <a:moveTo>
                  <a:pt x="38100" y="0"/>
                </a:moveTo>
                <a:lnTo>
                  <a:pt x="23306" y="3006"/>
                </a:lnTo>
                <a:lnTo>
                  <a:pt x="11191" y="11191"/>
                </a:lnTo>
                <a:lnTo>
                  <a:pt x="3006" y="23306"/>
                </a:lnTo>
                <a:lnTo>
                  <a:pt x="0" y="38100"/>
                </a:lnTo>
                <a:lnTo>
                  <a:pt x="3006" y="52947"/>
                </a:lnTo>
                <a:lnTo>
                  <a:pt x="11191" y="65055"/>
                </a:lnTo>
                <a:lnTo>
                  <a:pt x="23306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589" y="46100"/>
                </a:lnTo>
                <a:lnTo>
                  <a:pt x="38100" y="46100"/>
                </a:lnTo>
                <a:lnTo>
                  <a:pt x="38100" y="30225"/>
                </a:lnTo>
                <a:lnTo>
                  <a:pt x="74609" y="30225"/>
                </a:lnTo>
                <a:lnTo>
                  <a:pt x="73211" y="23306"/>
                </a:lnTo>
                <a:lnTo>
                  <a:pt x="65055" y="11191"/>
                </a:lnTo>
                <a:lnTo>
                  <a:pt x="52947" y="3006"/>
                </a:lnTo>
                <a:lnTo>
                  <a:pt x="38100" y="0"/>
                </a:lnTo>
                <a:close/>
              </a:path>
              <a:path w="1363979" h="76200">
                <a:moveTo>
                  <a:pt x="74609" y="30225"/>
                </a:moveTo>
                <a:lnTo>
                  <a:pt x="38100" y="30225"/>
                </a:lnTo>
                <a:lnTo>
                  <a:pt x="38100" y="46100"/>
                </a:lnTo>
                <a:lnTo>
                  <a:pt x="74589" y="46100"/>
                </a:lnTo>
                <a:lnTo>
                  <a:pt x="76200" y="38100"/>
                </a:lnTo>
                <a:lnTo>
                  <a:pt x="74609" y="30225"/>
                </a:lnTo>
                <a:close/>
              </a:path>
              <a:path w="1363979" h="76200">
                <a:moveTo>
                  <a:pt x="1363980" y="30225"/>
                </a:moveTo>
                <a:lnTo>
                  <a:pt x="74609" y="30225"/>
                </a:lnTo>
                <a:lnTo>
                  <a:pt x="76200" y="38100"/>
                </a:lnTo>
                <a:lnTo>
                  <a:pt x="74589" y="46100"/>
                </a:lnTo>
                <a:lnTo>
                  <a:pt x="1363980" y="46100"/>
                </a:lnTo>
                <a:lnTo>
                  <a:pt x="1363980" y="302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96410" y="4150995"/>
            <a:ext cx="2369820" cy="76200"/>
          </a:xfrm>
          <a:custGeom>
            <a:avLst/>
            <a:gdLst/>
            <a:ahLst/>
            <a:cxnLst/>
            <a:rect l="l" t="t" r="r" b="b"/>
            <a:pathLst>
              <a:path w="236982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099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199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615" y="45973"/>
                </a:lnTo>
                <a:lnTo>
                  <a:pt x="38100" y="45973"/>
                </a:lnTo>
                <a:lnTo>
                  <a:pt x="38100" y="30098"/>
                </a:lnTo>
                <a:lnTo>
                  <a:pt x="74589" y="30098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2369820" h="76200">
                <a:moveTo>
                  <a:pt x="74589" y="30098"/>
                </a:moveTo>
                <a:lnTo>
                  <a:pt x="38100" y="30098"/>
                </a:lnTo>
                <a:lnTo>
                  <a:pt x="38100" y="45973"/>
                </a:lnTo>
                <a:lnTo>
                  <a:pt x="74615" y="45973"/>
                </a:lnTo>
                <a:lnTo>
                  <a:pt x="76200" y="38099"/>
                </a:lnTo>
                <a:lnTo>
                  <a:pt x="74589" y="30098"/>
                </a:lnTo>
                <a:close/>
              </a:path>
              <a:path w="2369820" h="76200">
                <a:moveTo>
                  <a:pt x="2369819" y="30098"/>
                </a:moveTo>
                <a:lnTo>
                  <a:pt x="74589" y="30098"/>
                </a:lnTo>
                <a:lnTo>
                  <a:pt x="76200" y="38099"/>
                </a:lnTo>
                <a:lnTo>
                  <a:pt x="74615" y="45973"/>
                </a:lnTo>
                <a:lnTo>
                  <a:pt x="2369819" y="45973"/>
                </a:lnTo>
                <a:lnTo>
                  <a:pt x="2369819" y="300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853808" y="4316221"/>
            <a:ext cx="199390" cy="0"/>
          </a:xfrm>
          <a:custGeom>
            <a:avLst/>
            <a:gdLst/>
            <a:ahLst/>
            <a:cxnLst/>
            <a:rect l="l" t="t" r="r" b="b"/>
            <a:pathLst>
              <a:path w="199390">
                <a:moveTo>
                  <a:pt x="0" y="0"/>
                </a:moveTo>
                <a:lnTo>
                  <a:pt x="199263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76898" y="4059428"/>
            <a:ext cx="668020" cy="513080"/>
          </a:xfrm>
          <a:custGeom>
            <a:avLst/>
            <a:gdLst/>
            <a:ahLst/>
            <a:cxnLst/>
            <a:rect l="l" t="t" r="r" b="b"/>
            <a:pathLst>
              <a:path w="668020" h="513079">
                <a:moveTo>
                  <a:pt x="334009" y="0"/>
                </a:moveTo>
                <a:lnTo>
                  <a:pt x="0" y="0"/>
                </a:lnTo>
                <a:lnTo>
                  <a:pt x="0" y="512572"/>
                </a:lnTo>
                <a:lnTo>
                  <a:pt x="334009" y="512572"/>
                </a:lnTo>
                <a:lnTo>
                  <a:pt x="388172" y="509219"/>
                </a:lnTo>
                <a:lnTo>
                  <a:pt x="439558" y="499512"/>
                </a:lnTo>
                <a:lnTo>
                  <a:pt x="487478" y="483977"/>
                </a:lnTo>
                <a:lnTo>
                  <a:pt x="531244" y="463141"/>
                </a:lnTo>
                <a:lnTo>
                  <a:pt x="570166" y="437530"/>
                </a:lnTo>
                <a:lnTo>
                  <a:pt x="603556" y="407672"/>
                </a:lnTo>
                <a:lnTo>
                  <a:pt x="630726" y="374091"/>
                </a:lnTo>
                <a:lnTo>
                  <a:pt x="650985" y="337316"/>
                </a:lnTo>
                <a:lnTo>
                  <a:pt x="663646" y="297872"/>
                </a:lnTo>
                <a:lnTo>
                  <a:pt x="668020" y="256286"/>
                </a:lnTo>
                <a:lnTo>
                  <a:pt x="663646" y="214730"/>
                </a:lnTo>
                <a:lnTo>
                  <a:pt x="650985" y="175304"/>
                </a:lnTo>
                <a:lnTo>
                  <a:pt x="630726" y="138536"/>
                </a:lnTo>
                <a:lnTo>
                  <a:pt x="603556" y="104954"/>
                </a:lnTo>
                <a:lnTo>
                  <a:pt x="570166" y="75088"/>
                </a:lnTo>
                <a:lnTo>
                  <a:pt x="531244" y="49467"/>
                </a:lnTo>
                <a:lnTo>
                  <a:pt x="487478" y="28618"/>
                </a:lnTo>
                <a:lnTo>
                  <a:pt x="439558" y="13071"/>
                </a:lnTo>
                <a:lnTo>
                  <a:pt x="388172" y="3356"/>
                </a:lnTo>
                <a:lnTo>
                  <a:pt x="334009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76898" y="4059428"/>
            <a:ext cx="668020" cy="513080"/>
          </a:xfrm>
          <a:custGeom>
            <a:avLst/>
            <a:gdLst/>
            <a:ahLst/>
            <a:cxnLst/>
            <a:rect l="l" t="t" r="r" b="b"/>
            <a:pathLst>
              <a:path w="668020" h="513079">
                <a:moveTo>
                  <a:pt x="0" y="0"/>
                </a:moveTo>
                <a:lnTo>
                  <a:pt x="334009" y="0"/>
                </a:lnTo>
                <a:lnTo>
                  <a:pt x="388172" y="3356"/>
                </a:lnTo>
                <a:lnTo>
                  <a:pt x="439558" y="13071"/>
                </a:lnTo>
                <a:lnTo>
                  <a:pt x="487478" y="28618"/>
                </a:lnTo>
                <a:lnTo>
                  <a:pt x="531244" y="49467"/>
                </a:lnTo>
                <a:lnTo>
                  <a:pt x="570166" y="75088"/>
                </a:lnTo>
                <a:lnTo>
                  <a:pt x="603556" y="104954"/>
                </a:lnTo>
                <a:lnTo>
                  <a:pt x="630726" y="138536"/>
                </a:lnTo>
                <a:lnTo>
                  <a:pt x="650985" y="175304"/>
                </a:lnTo>
                <a:lnTo>
                  <a:pt x="663646" y="214730"/>
                </a:lnTo>
                <a:lnTo>
                  <a:pt x="668020" y="256286"/>
                </a:lnTo>
                <a:lnTo>
                  <a:pt x="663646" y="297872"/>
                </a:lnTo>
                <a:lnTo>
                  <a:pt x="650985" y="337316"/>
                </a:lnTo>
                <a:lnTo>
                  <a:pt x="630726" y="374091"/>
                </a:lnTo>
                <a:lnTo>
                  <a:pt x="603556" y="407672"/>
                </a:lnTo>
                <a:lnTo>
                  <a:pt x="570166" y="437530"/>
                </a:lnTo>
                <a:lnTo>
                  <a:pt x="531244" y="463141"/>
                </a:lnTo>
                <a:lnTo>
                  <a:pt x="487478" y="483977"/>
                </a:lnTo>
                <a:lnTo>
                  <a:pt x="439558" y="499512"/>
                </a:lnTo>
                <a:lnTo>
                  <a:pt x="388172" y="509219"/>
                </a:lnTo>
                <a:lnTo>
                  <a:pt x="334009" y="512572"/>
                </a:lnTo>
                <a:lnTo>
                  <a:pt x="0" y="512572"/>
                </a:lnTo>
                <a:lnTo>
                  <a:pt x="0" y="0"/>
                </a:lnTo>
                <a:close/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773172" y="4997830"/>
            <a:ext cx="4564380" cy="76200"/>
          </a:xfrm>
          <a:custGeom>
            <a:avLst/>
            <a:gdLst/>
            <a:ahLst/>
            <a:cxnLst/>
            <a:rect l="l" t="t" r="r" b="b"/>
            <a:pathLst>
              <a:path w="456438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893"/>
                </a:lnTo>
                <a:lnTo>
                  <a:pt x="11144" y="65008"/>
                </a:lnTo>
                <a:lnTo>
                  <a:pt x="23252" y="73193"/>
                </a:lnTo>
                <a:lnTo>
                  <a:pt x="38100" y="76200"/>
                </a:lnTo>
                <a:lnTo>
                  <a:pt x="52893" y="73193"/>
                </a:lnTo>
                <a:lnTo>
                  <a:pt x="65008" y="65008"/>
                </a:lnTo>
                <a:lnTo>
                  <a:pt x="73193" y="52893"/>
                </a:lnTo>
                <a:lnTo>
                  <a:pt x="74599" y="45974"/>
                </a:lnTo>
                <a:lnTo>
                  <a:pt x="38100" y="45974"/>
                </a:lnTo>
                <a:lnTo>
                  <a:pt x="38100" y="30099"/>
                </a:lnTo>
                <a:lnTo>
                  <a:pt x="74579" y="30099"/>
                </a:lnTo>
                <a:lnTo>
                  <a:pt x="73193" y="23252"/>
                </a:lnTo>
                <a:lnTo>
                  <a:pt x="65008" y="11144"/>
                </a:lnTo>
                <a:lnTo>
                  <a:pt x="52893" y="2988"/>
                </a:lnTo>
                <a:lnTo>
                  <a:pt x="38100" y="0"/>
                </a:lnTo>
                <a:close/>
              </a:path>
              <a:path w="4564380" h="76200">
                <a:moveTo>
                  <a:pt x="74579" y="30099"/>
                </a:moveTo>
                <a:lnTo>
                  <a:pt x="38100" y="30099"/>
                </a:lnTo>
                <a:lnTo>
                  <a:pt x="38100" y="45974"/>
                </a:lnTo>
                <a:lnTo>
                  <a:pt x="74599" y="45974"/>
                </a:lnTo>
                <a:lnTo>
                  <a:pt x="76200" y="38100"/>
                </a:lnTo>
                <a:lnTo>
                  <a:pt x="74579" y="30099"/>
                </a:lnTo>
                <a:close/>
              </a:path>
              <a:path w="4564380" h="76200">
                <a:moveTo>
                  <a:pt x="4564380" y="30099"/>
                </a:moveTo>
                <a:lnTo>
                  <a:pt x="74579" y="30099"/>
                </a:lnTo>
                <a:lnTo>
                  <a:pt x="76200" y="38100"/>
                </a:lnTo>
                <a:lnTo>
                  <a:pt x="74599" y="45974"/>
                </a:lnTo>
                <a:lnTo>
                  <a:pt x="4564380" y="45974"/>
                </a:lnTo>
                <a:lnTo>
                  <a:pt x="4564380" y="30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037578" y="4768088"/>
            <a:ext cx="297180" cy="0"/>
          </a:xfrm>
          <a:custGeom>
            <a:avLst/>
            <a:gdLst/>
            <a:ahLst/>
            <a:cxnLst/>
            <a:rect l="l" t="t" r="r" b="b"/>
            <a:pathLst>
              <a:path w="297179">
                <a:moveTo>
                  <a:pt x="0" y="0"/>
                </a:moveTo>
                <a:lnTo>
                  <a:pt x="296672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991982" y="4900295"/>
            <a:ext cx="640080" cy="635"/>
          </a:xfrm>
          <a:custGeom>
            <a:avLst/>
            <a:gdLst/>
            <a:ahLst/>
            <a:cxnLst/>
            <a:rect l="l" t="t" r="r" b="b"/>
            <a:pathLst>
              <a:path w="640079" h="635">
                <a:moveTo>
                  <a:pt x="0" y="634"/>
                </a:moveTo>
                <a:lnTo>
                  <a:pt x="64008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268082" y="4631944"/>
            <a:ext cx="721995" cy="533400"/>
          </a:xfrm>
          <a:custGeom>
            <a:avLst/>
            <a:gdLst/>
            <a:ahLst/>
            <a:cxnLst/>
            <a:rect l="l" t="t" r="r" b="b"/>
            <a:pathLst>
              <a:path w="721995" h="533400">
                <a:moveTo>
                  <a:pt x="126" y="0"/>
                </a:moveTo>
                <a:lnTo>
                  <a:pt x="0" y="533272"/>
                </a:lnTo>
                <a:lnTo>
                  <a:pt x="347599" y="530986"/>
                </a:lnTo>
                <a:lnTo>
                  <a:pt x="396956" y="523605"/>
                </a:lnTo>
                <a:lnTo>
                  <a:pt x="447944" y="508066"/>
                </a:lnTo>
                <a:lnTo>
                  <a:pt x="498955" y="485821"/>
                </a:lnTo>
                <a:lnTo>
                  <a:pt x="548380" y="458322"/>
                </a:lnTo>
                <a:lnTo>
                  <a:pt x="594614" y="427021"/>
                </a:lnTo>
                <a:lnTo>
                  <a:pt x="636046" y="393369"/>
                </a:lnTo>
                <a:lnTo>
                  <a:pt x="671070" y="358818"/>
                </a:lnTo>
                <a:lnTo>
                  <a:pt x="698078" y="324820"/>
                </a:lnTo>
                <a:lnTo>
                  <a:pt x="721614" y="264286"/>
                </a:lnTo>
                <a:lnTo>
                  <a:pt x="715276" y="235847"/>
                </a:lnTo>
                <a:lnTo>
                  <a:pt x="669774" y="170435"/>
                </a:lnTo>
                <a:lnTo>
                  <a:pt x="634071" y="136372"/>
                </a:lnTo>
                <a:lnTo>
                  <a:pt x="592042" y="103346"/>
                </a:lnTo>
                <a:lnTo>
                  <a:pt x="545418" y="72811"/>
                </a:lnTo>
                <a:lnTo>
                  <a:pt x="495930" y="46224"/>
                </a:lnTo>
                <a:lnTo>
                  <a:pt x="445310" y="25039"/>
                </a:lnTo>
                <a:lnTo>
                  <a:pt x="395289" y="10712"/>
                </a:lnTo>
                <a:lnTo>
                  <a:pt x="347599" y="4698"/>
                </a:lnTo>
                <a:lnTo>
                  <a:pt x="1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268082" y="4631944"/>
            <a:ext cx="721995" cy="533400"/>
          </a:xfrm>
          <a:custGeom>
            <a:avLst/>
            <a:gdLst/>
            <a:ahLst/>
            <a:cxnLst/>
            <a:rect l="l" t="t" r="r" b="b"/>
            <a:pathLst>
              <a:path w="721995" h="533400">
                <a:moveTo>
                  <a:pt x="126" y="0"/>
                </a:moveTo>
                <a:lnTo>
                  <a:pt x="347599" y="4698"/>
                </a:lnTo>
                <a:lnTo>
                  <a:pt x="395289" y="10712"/>
                </a:lnTo>
                <a:lnTo>
                  <a:pt x="445310" y="25039"/>
                </a:lnTo>
                <a:lnTo>
                  <a:pt x="495930" y="46224"/>
                </a:lnTo>
                <a:lnTo>
                  <a:pt x="545418" y="72811"/>
                </a:lnTo>
                <a:lnTo>
                  <a:pt x="592042" y="103346"/>
                </a:lnTo>
                <a:lnTo>
                  <a:pt x="634071" y="136372"/>
                </a:lnTo>
                <a:lnTo>
                  <a:pt x="669774" y="170435"/>
                </a:lnTo>
                <a:lnTo>
                  <a:pt x="697419" y="204078"/>
                </a:lnTo>
                <a:lnTo>
                  <a:pt x="721614" y="264286"/>
                </a:lnTo>
                <a:lnTo>
                  <a:pt x="715462" y="292825"/>
                </a:lnTo>
                <a:lnTo>
                  <a:pt x="671070" y="358818"/>
                </a:lnTo>
                <a:lnTo>
                  <a:pt x="636046" y="393369"/>
                </a:lnTo>
                <a:lnTo>
                  <a:pt x="594614" y="427021"/>
                </a:lnTo>
                <a:lnTo>
                  <a:pt x="548380" y="458322"/>
                </a:lnTo>
                <a:lnTo>
                  <a:pt x="498955" y="485821"/>
                </a:lnTo>
                <a:lnTo>
                  <a:pt x="447944" y="508066"/>
                </a:lnTo>
                <a:lnTo>
                  <a:pt x="396956" y="523605"/>
                </a:lnTo>
                <a:lnTo>
                  <a:pt x="347599" y="530986"/>
                </a:lnTo>
                <a:lnTo>
                  <a:pt x="0" y="533272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262876" y="4631816"/>
            <a:ext cx="76835" cy="533400"/>
          </a:xfrm>
          <a:custGeom>
            <a:avLst/>
            <a:gdLst/>
            <a:ahLst/>
            <a:cxnLst/>
            <a:rect l="l" t="t" r="r" b="b"/>
            <a:pathLst>
              <a:path w="76834" h="533400">
                <a:moveTo>
                  <a:pt x="0" y="533399"/>
                </a:moveTo>
                <a:lnTo>
                  <a:pt x="42667" y="484636"/>
                </a:lnTo>
                <a:lnTo>
                  <a:pt x="57610" y="434593"/>
                </a:lnTo>
                <a:lnTo>
                  <a:pt x="68288" y="377142"/>
                </a:lnTo>
                <a:lnTo>
                  <a:pt x="74697" y="319557"/>
                </a:lnTo>
                <a:lnTo>
                  <a:pt x="76834" y="269112"/>
                </a:lnTo>
                <a:lnTo>
                  <a:pt x="74707" y="218310"/>
                </a:lnTo>
                <a:lnTo>
                  <a:pt x="68321" y="159831"/>
                </a:lnTo>
                <a:lnTo>
                  <a:pt x="57673" y="101218"/>
                </a:lnTo>
                <a:lnTo>
                  <a:pt x="42761" y="50014"/>
                </a:lnTo>
                <a:lnTo>
                  <a:pt x="23580" y="13760"/>
                </a:lnTo>
                <a:lnTo>
                  <a:pt x="126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042277" y="4311522"/>
            <a:ext cx="1905" cy="457200"/>
          </a:xfrm>
          <a:custGeom>
            <a:avLst/>
            <a:gdLst/>
            <a:ahLst/>
            <a:cxnLst/>
            <a:rect l="l" t="t" r="r" b="b"/>
            <a:pathLst>
              <a:path w="1904" h="457200">
                <a:moveTo>
                  <a:pt x="1524" y="0"/>
                </a:moveTo>
                <a:lnTo>
                  <a:pt x="0" y="45720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055609" y="4504182"/>
            <a:ext cx="3454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latin typeface="Times New Roman"/>
                <a:cs typeface="Times New Roman"/>
              </a:rPr>
              <a:t>Y</a:t>
            </a:r>
            <a:r>
              <a:rPr sz="1950" spc="15" baseline="-21367" dirty="0">
                <a:latin typeface="Times New Roman"/>
                <a:cs typeface="Times New Roman"/>
              </a:rPr>
              <a:t>0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52800" y="6248400"/>
            <a:ext cx="35814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600" dirty="0">
                <a:latin typeface="Casper"/>
                <a:cs typeface="Times New Roman"/>
              </a:rPr>
              <a:t>Fig.</a:t>
            </a:r>
            <a:r>
              <a:rPr lang="pt-BR" sz="1600" spc="-100" dirty="0">
                <a:latin typeface="Casper"/>
                <a:cs typeface="Times New Roman"/>
              </a:rPr>
              <a:t> 13 : </a:t>
            </a:r>
            <a:r>
              <a:rPr lang="pt-BR" sz="1600" dirty="0">
                <a:latin typeface="Casper"/>
              </a:rPr>
              <a:t>ENCODER DIAGRAM 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174752"/>
            <a:ext cx="81534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asperBOLD"/>
                <a:cs typeface="Times New Roman" pitchFamily="18" charset="0"/>
              </a:rPr>
              <a:t>DECIMAL </a:t>
            </a:r>
            <a:r>
              <a:rPr spc="-30" dirty="0">
                <a:latin typeface="CasperBOLD"/>
                <a:cs typeface="Times New Roman" pitchFamily="18" charset="0"/>
              </a:rPr>
              <a:t>TO </a:t>
            </a:r>
            <a:r>
              <a:rPr spc="-5" dirty="0">
                <a:latin typeface="CasperBOLD"/>
                <a:cs typeface="Times New Roman" pitchFamily="18" charset="0"/>
              </a:rPr>
              <a:t>BCD</a:t>
            </a:r>
            <a:r>
              <a:rPr spc="-155" dirty="0">
                <a:latin typeface="CasperBOLD"/>
                <a:cs typeface="Times New Roman" pitchFamily="18" charset="0"/>
              </a:rPr>
              <a:t> </a:t>
            </a:r>
            <a:r>
              <a:rPr spc="-5" dirty="0">
                <a:latin typeface="CasperBOLD"/>
                <a:cs typeface="Times New Roman" pitchFamily="18" charset="0"/>
              </a:rPr>
              <a:t>ENCODER</a:t>
            </a:r>
            <a:r>
              <a:rPr spc="-5" dirty="0">
                <a:latin typeface="CasperBOLD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219200"/>
            <a:ext cx="87630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latin typeface="Casper"/>
                <a:cs typeface="Times New Roman"/>
              </a:rPr>
              <a:t>It has ten inputs corresponding to ten </a:t>
            </a:r>
            <a:r>
              <a:rPr sz="1600" spc="-5" dirty="0">
                <a:latin typeface="Casper"/>
                <a:cs typeface="Times New Roman"/>
              </a:rPr>
              <a:t>decimal </a:t>
            </a:r>
            <a:r>
              <a:rPr sz="1600" dirty="0">
                <a:latin typeface="Casper"/>
                <a:cs typeface="Times New Roman"/>
              </a:rPr>
              <a:t>digits (from 0 to</a:t>
            </a:r>
            <a:r>
              <a:rPr sz="1600" spc="-180" dirty="0">
                <a:latin typeface="Casper"/>
                <a:cs typeface="Times New Roman"/>
              </a:rPr>
              <a:t> </a:t>
            </a:r>
            <a:r>
              <a:rPr sz="1600">
                <a:latin typeface="Casper"/>
                <a:cs typeface="Times New Roman"/>
              </a:rPr>
              <a:t>9)</a:t>
            </a:r>
            <a:r>
              <a:rPr lang="en-US" sz="1600" dirty="0">
                <a:latin typeface="Casper"/>
                <a:cs typeface="Times New Roman"/>
              </a:rPr>
              <a:t> </a:t>
            </a:r>
            <a:r>
              <a:rPr sz="1600">
                <a:latin typeface="Casper"/>
                <a:cs typeface="Times New Roman"/>
              </a:rPr>
              <a:t>and </a:t>
            </a:r>
            <a:r>
              <a:rPr sz="1600" dirty="0">
                <a:latin typeface="Casper"/>
                <a:cs typeface="Times New Roman"/>
              </a:rPr>
              <a:t>four </a:t>
            </a:r>
            <a:r>
              <a:rPr sz="1600" spc="-5" dirty="0">
                <a:latin typeface="Casper"/>
                <a:cs typeface="Times New Roman"/>
              </a:rPr>
              <a:t>outputs (A,B,C,D) </a:t>
            </a:r>
            <a:r>
              <a:rPr sz="1600" dirty="0">
                <a:latin typeface="Casper"/>
                <a:cs typeface="Times New Roman"/>
              </a:rPr>
              <a:t>representing the</a:t>
            </a:r>
            <a:r>
              <a:rPr sz="1600" spc="-65" dirty="0">
                <a:latin typeface="Casper"/>
                <a:cs typeface="Times New Roman"/>
              </a:rPr>
              <a:t> </a:t>
            </a:r>
            <a:r>
              <a:rPr sz="1600" spc="-5">
                <a:latin typeface="Casper"/>
                <a:cs typeface="Times New Roman"/>
              </a:rPr>
              <a:t>BCD.</a:t>
            </a:r>
            <a:endParaRPr sz="1600">
              <a:latin typeface="Casper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27732" y="2199132"/>
            <a:ext cx="2304287" cy="36758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0200" y="2462529"/>
            <a:ext cx="838200" cy="107314"/>
          </a:xfrm>
          <a:custGeom>
            <a:avLst/>
            <a:gdLst/>
            <a:ahLst/>
            <a:cxnLst/>
            <a:rect l="l" t="t" r="r" b="b"/>
            <a:pathLst>
              <a:path w="838200" h="107314">
                <a:moveTo>
                  <a:pt x="746632" y="0"/>
                </a:moveTo>
                <a:lnTo>
                  <a:pt x="741680" y="1270"/>
                </a:lnTo>
                <a:lnTo>
                  <a:pt x="739520" y="5080"/>
                </a:lnTo>
                <a:lnTo>
                  <a:pt x="737362" y="8762"/>
                </a:lnTo>
                <a:lnTo>
                  <a:pt x="738632" y="13716"/>
                </a:lnTo>
                <a:lnTo>
                  <a:pt x="793234" y="45661"/>
                </a:lnTo>
                <a:lnTo>
                  <a:pt x="822451" y="45720"/>
                </a:lnTo>
                <a:lnTo>
                  <a:pt x="822451" y="61595"/>
                </a:lnTo>
                <a:lnTo>
                  <a:pt x="792926" y="61595"/>
                </a:lnTo>
                <a:lnTo>
                  <a:pt x="742188" y="91059"/>
                </a:lnTo>
                <a:lnTo>
                  <a:pt x="738377" y="93218"/>
                </a:lnTo>
                <a:lnTo>
                  <a:pt x="737107" y="98171"/>
                </a:lnTo>
                <a:lnTo>
                  <a:pt x="739394" y="101981"/>
                </a:lnTo>
                <a:lnTo>
                  <a:pt x="741552" y="105664"/>
                </a:lnTo>
                <a:lnTo>
                  <a:pt x="746379" y="106934"/>
                </a:lnTo>
                <a:lnTo>
                  <a:pt x="750188" y="104775"/>
                </a:lnTo>
                <a:lnTo>
                  <a:pt x="824441" y="61595"/>
                </a:lnTo>
                <a:lnTo>
                  <a:pt x="822451" y="61595"/>
                </a:lnTo>
                <a:lnTo>
                  <a:pt x="824543" y="61535"/>
                </a:lnTo>
                <a:lnTo>
                  <a:pt x="838200" y="53594"/>
                </a:lnTo>
                <a:lnTo>
                  <a:pt x="750443" y="2159"/>
                </a:lnTo>
                <a:lnTo>
                  <a:pt x="746632" y="0"/>
                </a:lnTo>
                <a:close/>
              </a:path>
              <a:path w="838200" h="107314">
                <a:moveTo>
                  <a:pt x="806749" y="53568"/>
                </a:moveTo>
                <a:lnTo>
                  <a:pt x="793028" y="61535"/>
                </a:lnTo>
                <a:lnTo>
                  <a:pt x="822451" y="61595"/>
                </a:lnTo>
                <a:lnTo>
                  <a:pt x="822451" y="60452"/>
                </a:lnTo>
                <a:lnTo>
                  <a:pt x="818514" y="60452"/>
                </a:lnTo>
                <a:lnTo>
                  <a:pt x="806749" y="53568"/>
                </a:lnTo>
                <a:close/>
              </a:path>
              <a:path w="838200" h="107314">
                <a:moveTo>
                  <a:pt x="0" y="44069"/>
                </a:moveTo>
                <a:lnTo>
                  <a:pt x="0" y="59944"/>
                </a:lnTo>
                <a:lnTo>
                  <a:pt x="793028" y="61535"/>
                </a:lnTo>
                <a:lnTo>
                  <a:pt x="806749" y="53568"/>
                </a:lnTo>
                <a:lnTo>
                  <a:pt x="793234" y="45661"/>
                </a:lnTo>
                <a:lnTo>
                  <a:pt x="0" y="44069"/>
                </a:lnTo>
                <a:close/>
              </a:path>
              <a:path w="838200" h="107314">
                <a:moveTo>
                  <a:pt x="818514" y="46736"/>
                </a:moveTo>
                <a:lnTo>
                  <a:pt x="806749" y="53568"/>
                </a:lnTo>
                <a:lnTo>
                  <a:pt x="818514" y="60452"/>
                </a:lnTo>
                <a:lnTo>
                  <a:pt x="818514" y="46736"/>
                </a:lnTo>
                <a:close/>
              </a:path>
              <a:path w="838200" h="107314">
                <a:moveTo>
                  <a:pt x="822451" y="46736"/>
                </a:moveTo>
                <a:lnTo>
                  <a:pt x="818514" y="46736"/>
                </a:lnTo>
                <a:lnTo>
                  <a:pt x="818514" y="60452"/>
                </a:lnTo>
                <a:lnTo>
                  <a:pt x="822451" y="60452"/>
                </a:lnTo>
                <a:lnTo>
                  <a:pt x="822451" y="46736"/>
                </a:lnTo>
                <a:close/>
              </a:path>
              <a:path w="838200" h="107314">
                <a:moveTo>
                  <a:pt x="793234" y="45661"/>
                </a:moveTo>
                <a:lnTo>
                  <a:pt x="806749" y="53568"/>
                </a:lnTo>
                <a:lnTo>
                  <a:pt x="818514" y="46736"/>
                </a:lnTo>
                <a:lnTo>
                  <a:pt x="822451" y="46736"/>
                </a:lnTo>
                <a:lnTo>
                  <a:pt x="822451" y="45720"/>
                </a:lnTo>
                <a:lnTo>
                  <a:pt x="793234" y="456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8200" y="2918079"/>
            <a:ext cx="838200" cy="107314"/>
          </a:xfrm>
          <a:custGeom>
            <a:avLst/>
            <a:gdLst/>
            <a:ahLst/>
            <a:cxnLst/>
            <a:rect l="l" t="t" r="r" b="b"/>
            <a:pathLst>
              <a:path w="838200" h="107314">
                <a:moveTo>
                  <a:pt x="746632" y="0"/>
                </a:moveTo>
                <a:lnTo>
                  <a:pt x="741807" y="1270"/>
                </a:lnTo>
                <a:lnTo>
                  <a:pt x="739521" y="5080"/>
                </a:lnTo>
                <a:lnTo>
                  <a:pt x="737362" y="8890"/>
                </a:lnTo>
                <a:lnTo>
                  <a:pt x="738632" y="13716"/>
                </a:lnTo>
                <a:lnTo>
                  <a:pt x="742442" y="16001"/>
                </a:lnTo>
                <a:lnTo>
                  <a:pt x="793064" y="45665"/>
                </a:lnTo>
                <a:lnTo>
                  <a:pt x="822579" y="45720"/>
                </a:lnTo>
                <a:lnTo>
                  <a:pt x="822451" y="61595"/>
                </a:lnTo>
                <a:lnTo>
                  <a:pt x="793145" y="61595"/>
                </a:lnTo>
                <a:lnTo>
                  <a:pt x="738505" y="93345"/>
                </a:lnTo>
                <a:lnTo>
                  <a:pt x="737107" y="98171"/>
                </a:lnTo>
                <a:lnTo>
                  <a:pt x="739394" y="101981"/>
                </a:lnTo>
                <a:lnTo>
                  <a:pt x="741553" y="105791"/>
                </a:lnTo>
                <a:lnTo>
                  <a:pt x="746379" y="107061"/>
                </a:lnTo>
                <a:lnTo>
                  <a:pt x="750188" y="104901"/>
                </a:lnTo>
                <a:lnTo>
                  <a:pt x="824659" y="61595"/>
                </a:lnTo>
                <a:lnTo>
                  <a:pt x="822451" y="61595"/>
                </a:lnTo>
                <a:lnTo>
                  <a:pt x="824752" y="61540"/>
                </a:lnTo>
                <a:lnTo>
                  <a:pt x="838200" y="53721"/>
                </a:lnTo>
                <a:lnTo>
                  <a:pt x="750443" y="2286"/>
                </a:lnTo>
                <a:lnTo>
                  <a:pt x="746632" y="0"/>
                </a:lnTo>
                <a:close/>
              </a:path>
              <a:path w="838200" h="107314">
                <a:moveTo>
                  <a:pt x="806758" y="53689"/>
                </a:moveTo>
                <a:lnTo>
                  <a:pt x="793238" y="61540"/>
                </a:lnTo>
                <a:lnTo>
                  <a:pt x="822451" y="61595"/>
                </a:lnTo>
                <a:lnTo>
                  <a:pt x="822460" y="60579"/>
                </a:lnTo>
                <a:lnTo>
                  <a:pt x="818515" y="60579"/>
                </a:lnTo>
                <a:lnTo>
                  <a:pt x="806758" y="53689"/>
                </a:lnTo>
                <a:close/>
              </a:path>
              <a:path w="838200" h="107314">
                <a:moveTo>
                  <a:pt x="0" y="44196"/>
                </a:moveTo>
                <a:lnTo>
                  <a:pt x="0" y="60071"/>
                </a:lnTo>
                <a:lnTo>
                  <a:pt x="793238" y="61540"/>
                </a:lnTo>
                <a:lnTo>
                  <a:pt x="806758" y="53689"/>
                </a:lnTo>
                <a:lnTo>
                  <a:pt x="793064" y="45665"/>
                </a:lnTo>
                <a:lnTo>
                  <a:pt x="0" y="44196"/>
                </a:lnTo>
                <a:close/>
              </a:path>
              <a:path w="838200" h="107314">
                <a:moveTo>
                  <a:pt x="818515" y="46862"/>
                </a:moveTo>
                <a:lnTo>
                  <a:pt x="806758" y="53689"/>
                </a:lnTo>
                <a:lnTo>
                  <a:pt x="818515" y="60579"/>
                </a:lnTo>
                <a:lnTo>
                  <a:pt x="818515" y="46862"/>
                </a:lnTo>
                <a:close/>
              </a:path>
              <a:path w="838200" h="107314">
                <a:moveTo>
                  <a:pt x="822569" y="46862"/>
                </a:moveTo>
                <a:lnTo>
                  <a:pt x="818515" y="46862"/>
                </a:lnTo>
                <a:lnTo>
                  <a:pt x="818515" y="60579"/>
                </a:lnTo>
                <a:lnTo>
                  <a:pt x="822460" y="60579"/>
                </a:lnTo>
                <a:lnTo>
                  <a:pt x="822569" y="46862"/>
                </a:lnTo>
                <a:close/>
              </a:path>
              <a:path w="838200" h="107314">
                <a:moveTo>
                  <a:pt x="793064" y="45665"/>
                </a:moveTo>
                <a:lnTo>
                  <a:pt x="806758" y="53689"/>
                </a:lnTo>
                <a:lnTo>
                  <a:pt x="818515" y="46862"/>
                </a:lnTo>
                <a:lnTo>
                  <a:pt x="822569" y="46862"/>
                </a:lnTo>
                <a:lnTo>
                  <a:pt x="822579" y="45720"/>
                </a:lnTo>
                <a:lnTo>
                  <a:pt x="793064" y="456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0200" y="3376929"/>
            <a:ext cx="838200" cy="107314"/>
          </a:xfrm>
          <a:custGeom>
            <a:avLst/>
            <a:gdLst/>
            <a:ahLst/>
            <a:cxnLst/>
            <a:rect l="l" t="t" r="r" b="b"/>
            <a:pathLst>
              <a:path w="838200" h="107314">
                <a:moveTo>
                  <a:pt x="746632" y="0"/>
                </a:moveTo>
                <a:lnTo>
                  <a:pt x="741680" y="1270"/>
                </a:lnTo>
                <a:lnTo>
                  <a:pt x="739520" y="5080"/>
                </a:lnTo>
                <a:lnTo>
                  <a:pt x="737362" y="8762"/>
                </a:lnTo>
                <a:lnTo>
                  <a:pt x="738632" y="13716"/>
                </a:lnTo>
                <a:lnTo>
                  <a:pt x="793234" y="45661"/>
                </a:lnTo>
                <a:lnTo>
                  <a:pt x="822451" y="45720"/>
                </a:lnTo>
                <a:lnTo>
                  <a:pt x="822451" y="61595"/>
                </a:lnTo>
                <a:lnTo>
                  <a:pt x="792926" y="61595"/>
                </a:lnTo>
                <a:lnTo>
                  <a:pt x="742188" y="91059"/>
                </a:lnTo>
                <a:lnTo>
                  <a:pt x="738377" y="93218"/>
                </a:lnTo>
                <a:lnTo>
                  <a:pt x="737107" y="98171"/>
                </a:lnTo>
                <a:lnTo>
                  <a:pt x="739394" y="101854"/>
                </a:lnTo>
                <a:lnTo>
                  <a:pt x="741552" y="105664"/>
                </a:lnTo>
                <a:lnTo>
                  <a:pt x="746379" y="106934"/>
                </a:lnTo>
                <a:lnTo>
                  <a:pt x="750188" y="104775"/>
                </a:lnTo>
                <a:lnTo>
                  <a:pt x="824441" y="61595"/>
                </a:lnTo>
                <a:lnTo>
                  <a:pt x="822451" y="61595"/>
                </a:lnTo>
                <a:lnTo>
                  <a:pt x="824543" y="61535"/>
                </a:lnTo>
                <a:lnTo>
                  <a:pt x="838200" y="53594"/>
                </a:lnTo>
                <a:lnTo>
                  <a:pt x="750443" y="2159"/>
                </a:lnTo>
                <a:lnTo>
                  <a:pt x="746632" y="0"/>
                </a:lnTo>
                <a:close/>
              </a:path>
              <a:path w="838200" h="107314">
                <a:moveTo>
                  <a:pt x="806749" y="53568"/>
                </a:moveTo>
                <a:lnTo>
                  <a:pt x="793028" y="61535"/>
                </a:lnTo>
                <a:lnTo>
                  <a:pt x="822451" y="61595"/>
                </a:lnTo>
                <a:lnTo>
                  <a:pt x="822451" y="60452"/>
                </a:lnTo>
                <a:lnTo>
                  <a:pt x="818514" y="60452"/>
                </a:lnTo>
                <a:lnTo>
                  <a:pt x="806749" y="53568"/>
                </a:lnTo>
                <a:close/>
              </a:path>
              <a:path w="838200" h="107314">
                <a:moveTo>
                  <a:pt x="0" y="44069"/>
                </a:moveTo>
                <a:lnTo>
                  <a:pt x="0" y="59944"/>
                </a:lnTo>
                <a:lnTo>
                  <a:pt x="793028" y="61535"/>
                </a:lnTo>
                <a:lnTo>
                  <a:pt x="806749" y="53568"/>
                </a:lnTo>
                <a:lnTo>
                  <a:pt x="793234" y="45661"/>
                </a:lnTo>
                <a:lnTo>
                  <a:pt x="0" y="44069"/>
                </a:lnTo>
                <a:close/>
              </a:path>
              <a:path w="838200" h="107314">
                <a:moveTo>
                  <a:pt x="818514" y="46736"/>
                </a:moveTo>
                <a:lnTo>
                  <a:pt x="806749" y="53568"/>
                </a:lnTo>
                <a:lnTo>
                  <a:pt x="818514" y="60452"/>
                </a:lnTo>
                <a:lnTo>
                  <a:pt x="818514" y="46736"/>
                </a:lnTo>
                <a:close/>
              </a:path>
              <a:path w="838200" h="107314">
                <a:moveTo>
                  <a:pt x="822451" y="46736"/>
                </a:moveTo>
                <a:lnTo>
                  <a:pt x="818514" y="46736"/>
                </a:lnTo>
                <a:lnTo>
                  <a:pt x="818514" y="60452"/>
                </a:lnTo>
                <a:lnTo>
                  <a:pt x="822451" y="60452"/>
                </a:lnTo>
                <a:lnTo>
                  <a:pt x="822451" y="46736"/>
                </a:lnTo>
                <a:close/>
              </a:path>
              <a:path w="838200" h="107314">
                <a:moveTo>
                  <a:pt x="793234" y="45661"/>
                </a:moveTo>
                <a:lnTo>
                  <a:pt x="806749" y="53568"/>
                </a:lnTo>
                <a:lnTo>
                  <a:pt x="818514" y="46736"/>
                </a:lnTo>
                <a:lnTo>
                  <a:pt x="822451" y="46736"/>
                </a:lnTo>
                <a:lnTo>
                  <a:pt x="822451" y="45720"/>
                </a:lnTo>
                <a:lnTo>
                  <a:pt x="793234" y="456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8963" y="5356478"/>
            <a:ext cx="838835" cy="107314"/>
          </a:xfrm>
          <a:custGeom>
            <a:avLst/>
            <a:gdLst/>
            <a:ahLst/>
            <a:cxnLst/>
            <a:rect l="l" t="t" r="r" b="b"/>
            <a:pathLst>
              <a:path w="838835" h="107314">
                <a:moveTo>
                  <a:pt x="746632" y="0"/>
                </a:moveTo>
                <a:lnTo>
                  <a:pt x="741807" y="1270"/>
                </a:lnTo>
                <a:lnTo>
                  <a:pt x="739520" y="5080"/>
                </a:lnTo>
                <a:lnTo>
                  <a:pt x="737362" y="8890"/>
                </a:lnTo>
                <a:lnTo>
                  <a:pt x="738632" y="13716"/>
                </a:lnTo>
                <a:lnTo>
                  <a:pt x="742442" y="16002"/>
                </a:lnTo>
                <a:lnTo>
                  <a:pt x="793063" y="45665"/>
                </a:lnTo>
                <a:lnTo>
                  <a:pt x="822579" y="45720"/>
                </a:lnTo>
                <a:lnTo>
                  <a:pt x="822579" y="61595"/>
                </a:lnTo>
                <a:lnTo>
                  <a:pt x="793187" y="61595"/>
                </a:lnTo>
                <a:lnTo>
                  <a:pt x="742314" y="91186"/>
                </a:lnTo>
                <a:lnTo>
                  <a:pt x="738505" y="93345"/>
                </a:lnTo>
                <a:lnTo>
                  <a:pt x="737235" y="98171"/>
                </a:lnTo>
                <a:lnTo>
                  <a:pt x="741553" y="105791"/>
                </a:lnTo>
                <a:lnTo>
                  <a:pt x="746506" y="107061"/>
                </a:lnTo>
                <a:lnTo>
                  <a:pt x="824767" y="61595"/>
                </a:lnTo>
                <a:lnTo>
                  <a:pt x="822579" y="61595"/>
                </a:lnTo>
                <a:lnTo>
                  <a:pt x="824860" y="61540"/>
                </a:lnTo>
                <a:lnTo>
                  <a:pt x="838326" y="53721"/>
                </a:lnTo>
                <a:lnTo>
                  <a:pt x="750443" y="2286"/>
                </a:lnTo>
                <a:lnTo>
                  <a:pt x="746632" y="0"/>
                </a:lnTo>
                <a:close/>
              </a:path>
              <a:path w="838835" h="107314">
                <a:moveTo>
                  <a:pt x="806768" y="53695"/>
                </a:moveTo>
                <a:lnTo>
                  <a:pt x="793281" y="61540"/>
                </a:lnTo>
                <a:lnTo>
                  <a:pt x="822579" y="61595"/>
                </a:lnTo>
                <a:lnTo>
                  <a:pt x="822579" y="60579"/>
                </a:lnTo>
                <a:lnTo>
                  <a:pt x="818514" y="60579"/>
                </a:lnTo>
                <a:lnTo>
                  <a:pt x="806768" y="53695"/>
                </a:lnTo>
                <a:close/>
              </a:path>
              <a:path w="838835" h="107314">
                <a:moveTo>
                  <a:pt x="127" y="44196"/>
                </a:moveTo>
                <a:lnTo>
                  <a:pt x="0" y="60071"/>
                </a:lnTo>
                <a:lnTo>
                  <a:pt x="793281" y="61540"/>
                </a:lnTo>
                <a:lnTo>
                  <a:pt x="806768" y="53695"/>
                </a:lnTo>
                <a:lnTo>
                  <a:pt x="793063" y="45665"/>
                </a:lnTo>
                <a:lnTo>
                  <a:pt x="127" y="44196"/>
                </a:lnTo>
                <a:close/>
              </a:path>
              <a:path w="838835" h="107314">
                <a:moveTo>
                  <a:pt x="818514" y="46863"/>
                </a:moveTo>
                <a:lnTo>
                  <a:pt x="806768" y="53695"/>
                </a:lnTo>
                <a:lnTo>
                  <a:pt x="818514" y="60579"/>
                </a:lnTo>
                <a:lnTo>
                  <a:pt x="818514" y="46863"/>
                </a:lnTo>
                <a:close/>
              </a:path>
              <a:path w="838835" h="107314">
                <a:moveTo>
                  <a:pt x="822579" y="46863"/>
                </a:moveTo>
                <a:lnTo>
                  <a:pt x="818514" y="46863"/>
                </a:lnTo>
                <a:lnTo>
                  <a:pt x="818514" y="60579"/>
                </a:lnTo>
                <a:lnTo>
                  <a:pt x="822579" y="60579"/>
                </a:lnTo>
                <a:lnTo>
                  <a:pt x="822579" y="46863"/>
                </a:lnTo>
                <a:close/>
              </a:path>
              <a:path w="838835" h="107314">
                <a:moveTo>
                  <a:pt x="793063" y="45665"/>
                </a:moveTo>
                <a:lnTo>
                  <a:pt x="806768" y="53695"/>
                </a:lnTo>
                <a:lnTo>
                  <a:pt x="818514" y="46863"/>
                </a:lnTo>
                <a:lnTo>
                  <a:pt x="822579" y="46863"/>
                </a:lnTo>
                <a:lnTo>
                  <a:pt x="822579" y="45720"/>
                </a:lnTo>
                <a:lnTo>
                  <a:pt x="793063" y="456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40967" y="3690620"/>
            <a:ext cx="254000" cy="149225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- - - - - - - -</a:t>
            </a:r>
            <a:r>
              <a:rPr sz="1800" spc="3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24400" y="2614929"/>
            <a:ext cx="838200" cy="107314"/>
          </a:xfrm>
          <a:custGeom>
            <a:avLst/>
            <a:gdLst/>
            <a:ahLst/>
            <a:cxnLst/>
            <a:rect l="l" t="t" r="r" b="b"/>
            <a:pathLst>
              <a:path w="838200" h="107314">
                <a:moveTo>
                  <a:pt x="746633" y="0"/>
                </a:moveTo>
                <a:lnTo>
                  <a:pt x="741679" y="1270"/>
                </a:lnTo>
                <a:lnTo>
                  <a:pt x="739521" y="5080"/>
                </a:lnTo>
                <a:lnTo>
                  <a:pt x="737362" y="8762"/>
                </a:lnTo>
                <a:lnTo>
                  <a:pt x="738632" y="13716"/>
                </a:lnTo>
                <a:lnTo>
                  <a:pt x="793234" y="45661"/>
                </a:lnTo>
                <a:lnTo>
                  <a:pt x="822451" y="45720"/>
                </a:lnTo>
                <a:lnTo>
                  <a:pt x="822451" y="61595"/>
                </a:lnTo>
                <a:lnTo>
                  <a:pt x="792926" y="61595"/>
                </a:lnTo>
                <a:lnTo>
                  <a:pt x="742188" y="91059"/>
                </a:lnTo>
                <a:lnTo>
                  <a:pt x="738377" y="93218"/>
                </a:lnTo>
                <a:lnTo>
                  <a:pt x="737108" y="98171"/>
                </a:lnTo>
                <a:lnTo>
                  <a:pt x="739394" y="101981"/>
                </a:lnTo>
                <a:lnTo>
                  <a:pt x="741552" y="105664"/>
                </a:lnTo>
                <a:lnTo>
                  <a:pt x="746378" y="106934"/>
                </a:lnTo>
                <a:lnTo>
                  <a:pt x="750188" y="104775"/>
                </a:lnTo>
                <a:lnTo>
                  <a:pt x="824441" y="61595"/>
                </a:lnTo>
                <a:lnTo>
                  <a:pt x="822451" y="61595"/>
                </a:lnTo>
                <a:lnTo>
                  <a:pt x="824543" y="61535"/>
                </a:lnTo>
                <a:lnTo>
                  <a:pt x="838200" y="53594"/>
                </a:lnTo>
                <a:lnTo>
                  <a:pt x="746633" y="0"/>
                </a:lnTo>
                <a:close/>
              </a:path>
              <a:path w="838200" h="107314">
                <a:moveTo>
                  <a:pt x="806749" y="53568"/>
                </a:moveTo>
                <a:lnTo>
                  <a:pt x="793028" y="61535"/>
                </a:lnTo>
                <a:lnTo>
                  <a:pt x="822451" y="61595"/>
                </a:lnTo>
                <a:lnTo>
                  <a:pt x="822451" y="60452"/>
                </a:lnTo>
                <a:lnTo>
                  <a:pt x="818514" y="60452"/>
                </a:lnTo>
                <a:lnTo>
                  <a:pt x="806749" y="53568"/>
                </a:lnTo>
                <a:close/>
              </a:path>
              <a:path w="838200" h="107314">
                <a:moveTo>
                  <a:pt x="0" y="44069"/>
                </a:moveTo>
                <a:lnTo>
                  <a:pt x="0" y="59944"/>
                </a:lnTo>
                <a:lnTo>
                  <a:pt x="793028" y="61535"/>
                </a:lnTo>
                <a:lnTo>
                  <a:pt x="806749" y="53568"/>
                </a:lnTo>
                <a:lnTo>
                  <a:pt x="793234" y="45661"/>
                </a:lnTo>
                <a:lnTo>
                  <a:pt x="0" y="44069"/>
                </a:lnTo>
                <a:close/>
              </a:path>
              <a:path w="838200" h="107314">
                <a:moveTo>
                  <a:pt x="818514" y="46736"/>
                </a:moveTo>
                <a:lnTo>
                  <a:pt x="806749" y="53568"/>
                </a:lnTo>
                <a:lnTo>
                  <a:pt x="818514" y="60452"/>
                </a:lnTo>
                <a:lnTo>
                  <a:pt x="818514" y="46736"/>
                </a:lnTo>
                <a:close/>
              </a:path>
              <a:path w="838200" h="107314">
                <a:moveTo>
                  <a:pt x="822451" y="46736"/>
                </a:moveTo>
                <a:lnTo>
                  <a:pt x="818514" y="46736"/>
                </a:lnTo>
                <a:lnTo>
                  <a:pt x="818514" y="60452"/>
                </a:lnTo>
                <a:lnTo>
                  <a:pt x="822451" y="60452"/>
                </a:lnTo>
                <a:lnTo>
                  <a:pt x="822451" y="46736"/>
                </a:lnTo>
                <a:close/>
              </a:path>
              <a:path w="838200" h="107314">
                <a:moveTo>
                  <a:pt x="793234" y="45661"/>
                </a:moveTo>
                <a:lnTo>
                  <a:pt x="806749" y="53568"/>
                </a:lnTo>
                <a:lnTo>
                  <a:pt x="818514" y="46736"/>
                </a:lnTo>
                <a:lnTo>
                  <a:pt x="822451" y="46736"/>
                </a:lnTo>
                <a:lnTo>
                  <a:pt x="822451" y="45720"/>
                </a:lnTo>
                <a:lnTo>
                  <a:pt x="793234" y="456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24400" y="3461130"/>
            <a:ext cx="838200" cy="107314"/>
          </a:xfrm>
          <a:custGeom>
            <a:avLst/>
            <a:gdLst/>
            <a:ahLst/>
            <a:cxnLst/>
            <a:rect l="l" t="t" r="r" b="b"/>
            <a:pathLst>
              <a:path w="838200" h="107314">
                <a:moveTo>
                  <a:pt x="746633" y="0"/>
                </a:moveTo>
                <a:lnTo>
                  <a:pt x="741679" y="1270"/>
                </a:lnTo>
                <a:lnTo>
                  <a:pt x="737362" y="8890"/>
                </a:lnTo>
                <a:lnTo>
                  <a:pt x="738632" y="13716"/>
                </a:lnTo>
                <a:lnTo>
                  <a:pt x="793241" y="45665"/>
                </a:lnTo>
                <a:lnTo>
                  <a:pt x="822451" y="45720"/>
                </a:lnTo>
                <a:lnTo>
                  <a:pt x="822451" y="61595"/>
                </a:lnTo>
                <a:lnTo>
                  <a:pt x="792926" y="61595"/>
                </a:lnTo>
                <a:lnTo>
                  <a:pt x="742188" y="91059"/>
                </a:lnTo>
                <a:lnTo>
                  <a:pt x="738377" y="93345"/>
                </a:lnTo>
                <a:lnTo>
                  <a:pt x="737108" y="98171"/>
                </a:lnTo>
                <a:lnTo>
                  <a:pt x="739394" y="101981"/>
                </a:lnTo>
                <a:lnTo>
                  <a:pt x="741552" y="105791"/>
                </a:lnTo>
                <a:lnTo>
                  <a:pt x="746378" y="107061"/>
                </a:lnTo>
                <a:lnTo>
                  <a:pt x="750188" y="104775"/>
                </a:lnTo>
                <a:lnTo>
                  <a:pt x="824626" y="61595"/>
                </a:lnTo>
                <a:lnTo>
                  <a:pt x="822451" y="61595"/>
                </a:lnTo>
                <a:lnTo>
                  <a:pt x="824720" y="61540"/>
                </a:lnTo>
                <a:lnTo>
                  <a:pt x="838200" y="53721"/>
                </a:lnTo>
                <a:lnTo>
                  <a:pt x="746633" y="0"/>
                </a:lnTo>
                <a:close/>
              </a:path>
              <a:path w="838200" h="107314">
                <a:moveTo>
                  <a:pt x="806749" y="53568"/>
                </a:moveTo>
                <a:lnTo>
                  <a:pt x="793020" y="61540"/>
                </a:lnTo>
                <a:lnTo>
                  <a:pt x="822451" y="61595"/>
                </a:lnTo>
                <a:lnTo>
                  <a:pt x="822451" y="60452"/>
                </a:lnTo>
                <a:lnTo>
                  <a:pt x="818514" y="60452"/>
                </a:lnTo>
                <a:lnTo>
                  <a:pt x="806749" y="53568"/>
                </a:lnTo>
                <a:close/>
              </a:path>
              <a:path w="838200" h="107314">
                <a:moveTo>
                  <a:pt x="0" y="44196"/>
                </a:moveTo>
                <a:lnTo>
                  <a:pt x="0" y="60071"/>
                </a:lnTo>
                <a:lnTo>
                  <a:pt x="793020" y="61540"/>
                </a:lnTo>
                <a:lnTo>
                  <a:pt x="806749" y="53568"/>
                </a:lnTo>
                <a:lnTo>
                  <a:pt x="793241" y="45665"/>
                </a:lnTo>
                <a:lnTo>
                  <a:pt x="0" y="44196"/>
                </a:lnTo>
                <a:close/>
              </a:path>
              <a:path w="838200" h="107314">
                <a:moveTo>
                  <a:pt x="818514" y="46736"/>
                </a:moveTo>
                <a:lnTo>
                  <a:pt x="806749" y="53568"/>
                </a:lnTo>
                <a:lnTo>
                  <a:pt x="818514" y="60452"/>
                </a:lnTo>
                <a:lnTo>
                  <a:pt x="818514" y="46736"/>
                </a:lnTo>
                <a:close/>
              </a:path>
              <a:path w="838200" h="107314">
                <a:moveTo>
                  <a:pt x="822451" y="46736"/>
                </a:moveTo>
                <a:lnTo>
                  <a:pt x="818514" y="46736"/>
                </a:lnTo>
                <a:lnTo>
                  <a:pt x="818514" y="60452"/>
                </a:lnTo>
                <a:lnTo>
                  <a:pt x="822451" y="60452"/>
                </a:lnTo>
                <a:lnTo>
                  <a:pt x="822451" y="46736"/>
                </a:lnTo>
                <a:close/>
              </a:path>
              <a:path w="838200" h="107314">
                <a:moveTo>
                  <a:pt x="793241" y="45665"/>
                </a:moveTo>
                <a:lnTo>
                  <a:pt x="806749" y="53568"/>
                </a:lnTo>
                <a:lnTo>
                  <a:pt x="818514" y="46736"/>
                </a:lnTo>
                <a:lnTo>
                  <a:pt x="822451" y="46736"/>
                </a:lnTo>
                <a:lnTo>
                  <a:pt x="822451" y="45720"/>
                </a:lnTo>
                <a:lnTo>
                  <a:pt x="793241" y="456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24400" y="4356227"/>
            <a:ext cx="838200" cy="107314"/>
          </a:xfrm>
          <a:custGeom>
            <a:avLst/>
            <a:gdLst/>
            <a:ahLst/>
            <a:cxnLst/>
            <a:rect l="l" t="t" r="r" b="b"/>
            <a:pathLst>
              <a:path w="838200" h="107314">
                <a:moveTo>
                  <a:pt x="746633" y="0"/>
                </a:moveTo>
                <a:lnTo>
                  <a:pt x="741679" y="1270"/>
                </a:lnTo>
                <a:lnTo>
                  <a:pt x="737362" y="8890"/>
                </a:lnTo>
                <a:lnTo>
                  <a:pt x="738632" y="13716"/>
                </a:lnTo>
                <a:lnTo>
                  <a:pt x="742314" y="16002"/>
                </a:lnTo>
                <a:lnTo>
                  <a:pt x="793021" y="45665"/>
                </a:lnTo>
                <a:lnTo>
                  <a:pt x="822451" y="45720"/>
                </a:lnTo>
                <a:lnTo>
                  <a:pt x="822451" y="61595"/>
                </a:lnTo>
                <a:lnTo>
                  <a:pt x="793145" y="61595"/>
                </a:lnTo>
                <a:lnTo>
                  <a:pt x="742188" y="91186"/>
                </a:lnTo>
                <a:lnTo>
                  <a:pt x="738377" y="93345"/>
                </a:lnTo>
                <a:lnTo>
                  <a:pt x="737108" y="98171"/>
                </a:lnTo>
                <a:lnTo>
                  <a:pt x="739394" y="101981"/>
                </a:lnTo>
                <a:lnTo>
                  <a:pt x="741552" y="105791"/>
                </a:lnTo>
                <a:lnTo>
                  <a:pt x="746378" y="107061"/>
                </a:lnTo>
                <a:lnTo>
                  <a:pt x="750188" y="104902"/>
                </a:lnTo>
                <a:lnTo>
                  <a:pt x="824659" y="61595"/>
                </a:lnTo>
                <a:lnTo>
                  <a:pt x="822451" y="61595"/>
                </a:lnTo>
                <a:lnTo>
                  <a:pt x="824752" y="61540"/>
                </a:lnTo>
                <a:lnTo>
                  <a:pt x="838200" y="53721"/>
                </a:lnTo>
                <a:lnTo>
                  <a:pt x="750315" y="2286"/>
                </a:lnTo>
                <a:lnTo>
                  <a:pt x="746633" y="0"/>
                </a:lnTo>
                <a:close/>
              </a:path>
              <a:path w="838200" h="107314">
                <a:moveTo>
                  <a:pt x="806748" y="53695"/>
                </a:moveTo>
                <a:lnTo>
                  <a:pt x="793238" y="61540"/>
                </a:lnTo>
                <a:lnTo>
                  <a:pt x="822451" y="61595"/>
                </a:lnTo>
                <a:lnTo>
                  <a:pt x="822451" y="60579"/>
                </a:lnTo>
                <a:lnTo>
                  <a:pt x="818514" y="60579"/>
                </a:lnTo>
                <a:lnTo>
                  <a:pt x="806748" y="53695"/>
                </a:lnTo>
                <a:close/>
              </a:path>
              <a:path w="838200" h="107314">
                <a:moveTo>
                  <a:pt x="0" y="44196"/>
                </a:moveTo>
                <a:lnTo>
                  <a:pt x="0" y="60071"/>
                </a:lnTo>
                <a:lnTo>
                  <a:pt x="793238" y="61540"/>
                </a:lnTo>
                <a:lnTo>
                  <a:pt x="806748" y="53695"/>
                </a:lnTo>
                <a:lnTo>
                  <a:pt x="793021" y="45665"/>
                </a:lnTo>
                <a:lnTo>
                  <a:pt x="0" y="44196"/>
                </a:lnTo>
                <a:close/>
              </a:path>
              <a:path w="838200" h="107314">
                <a:moveTo>
                  <a:pt x="818514" y="46862"/>
                </a:moveTo>
                <a:lnTo>
                  <a:pt x="806748" y="53695"/>
                </a:lnTo>
                <a:lnTo>
                  <a:pt x="818514" y="60579"/>
                </a:lnTo>
                <a:lnTo>
                  <a:pt x="818514" y="46862"/>
                </a:lnTo>
                <a:close/>
              </a:path>
              <a:path w="838200" h="107314">
                <a:moveTo>
                  <a:pt x="822451" y="46862"/>
                </a:moveTo>
                <a:lnTo>
                  <a:pt x="818514" y="46862"/>
                </a:lnTo>
                <a:lnTo>
                  <a:pt x="818514" y="60579"/>
                </a:lnTo>
                <a:lnTo>
                  <a:pt x="822451" y="60579"/>
                </a:lnTo>
                <a:lnTo>
                  <a:pt x="822451" y="46862"/>
                </a:lnTo>
                <a:close/>
              </a:path>
              <a:path w="838200" h="107314">
                <a:moveTo>
                  <a:pt x="793021" y="45665"/>
                </a:moveTo>
                <a:lnTo>
                  <a:pt x="806748" y="53695"/>
                </a:lnTo>
                <a:lnTo>
                  <a:pt x="818514" y="46862"/>
                </a:lnTo>
                <a:lnTo>
                  <a:pt x="822451" y="46862"/>
                </a:lnTo>
                <a:lnTo>
                  <a:pt x="822451" y="45720"/>
                </a:lnTo>
                <a:lnTo>
                  <a:pt x="793021" y="456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24400" y="5280278"/>
            <a:ext cx="838200" cy="107314"/>
          </a:xfrm>
          <a:custGeom>
            <a:avLst/>
            <a:gdLst/>
            <a:ahLst/>
            <a:cxnLst/>
            <a:rect l="l" t="t" r="r" b="b"/>
            <a:pathLst>
              <a:path w="838200" h="107314">
                <a:moveTo>
                  <a:pt x="746633" y="0"/>
                </a:moveTo>
                <a:lnTo>
                  <a:pt x="741679" y="1270"/>
                </a:lnTo>
                <a:lnTo>
                  <a:pt x="737362" y="8890"/>
                </a:lnTo>
                <a:lnTo>
                  <a:pt x="738632" y="13716"/>
                </a:lnTo>
                <a:lnTo>
                  <a:pt x="742314" y="16002"/>
                </a:lnTo>
                <a:lnTo>
                  <a:pt x="793021" y="45665"/>
                </a:lnTo>
                <a:lnTo>
                  <a:pt x="822451" y="45720"/>
                </a:lnTo>
                <a:lnTo>
                  <a:pt x="822451" y="61595"/>
                </a:lnTo>
                <a:lnTo>
                  <a:pt x="793145" y="61595"/>
                </a:lnTo>
                <a:lnTo>
                  <a:pt x="742188" y="91186"/>
                </a:lnTo>
                <a:lnTo>
                  <a:pt x="738377" y="93345"/>
                </a:lnTo>
                <a:lnTo>
                  <a:pt x="737108" y="98171"/>
                </a:lnTo>
                <a:lnTo>
                  <a:pt x="739394" y="101981"/>
                </a:lnTo>
                <a:lnTo>
                  <a:pt x="741552" y="105791"/>
                </a:lnTo>
                <a:lnTo>
                  <a:pt x="746378" y="107061"/>
                </a:lnTo>
                <a:lnTo>
                  <a:pt x="750188" y="104902"/>
                </a:lnTo>
                <a:lnTo>
                  <a:pt x="824659" y="61595"/>
                </a:lnTo>
                <a:lnTo>
                  <a:pt x="822451" y="61595"/>
                </a:lnTo>
                <a:lnTo>
                  <a:pt x="824752" y="61540"/>
                </a:lnTo>
                <a:lnTo>
                  <a:pt x="838200" y="53721"/>
                </a:lnTo>
                <a:lnTo>
                  <a:pt x="750315" y="2286"/>
                </a:lnTo>
                <a:lnTo>
                  <a:pt x="746633" y="0"/>
                </a:lnTo>
                <a:close/>
              </a:path>
              <a:path w="838200" h="107314">
                <a:moveTo>
                  <a:pt x="806748" y="53695"/>
                </a:moveTo>
                <a:lnTo>
                  <a:pt x="793238" y="61540"/>
                </a:lnTo>
                <a:lnTo>
                  <a:pt x="822451" y="61595"/>
                </a:lnTo>
                <a:lnTo>
                  <a:pt x="822451" y="60579"/>
                </a:lnTo>
                <a:lnTo>
                  <a:pt x="818514" y="60579"/>
                </a:lnTo>
                <a:lnTo>
                  <a:pt x="806748" y="53695"/>
                </a:lnTo>
                <a:close/>
              </a:path>
              <a:path w="838200" h="107314">
                <a:moveTo>
                  <a:pt x="0" y="44196"/>
                </a:moveTo>
                <a:lnTo>
                  <a:pt x="0" y="60071"/>
                </a:lnTo>
                <a:lnTo>
                  <a:pt x="793238" y="61540"/>
                </a:lnTo>
                <a:lnTo>
                  <a:pt x="806748" y="53695"/>
                </a:lnTo>
                <a:lnTo>
                  <a:pt x="793021" y="45665"/>
                </a:lnTo>
                <a:lnTo>
                  <a:pt x="0" y="44196"/>
                </a:lnTo>
                <a:close/>
              </a:path>
              <a:path w="838200" h="107314">
                <a:moveTo>
                  <a:pt x="818514" y="46863"/>
                </a:moveTo>
                <a:lnTo>
                  <a:pt x="806748" y="53695"/>
                </a:lnTo>
                <a:lnTo>
                  <a:pt x="818514" y="60579"/>
                </a:lnTo>
                <a:lnTo>
                  <a:pt x="818514" y="46863"/>
                </a:lnTo>
                <a:close/>
              </a:path>
              <a:path w="838200" h="107314">
                <a:moveTo>
                  <a:pt x="822451" y="46863"/>
                </a:moveTo>
                <a:lnTo>
                  <a:pt x="818514" y="46863"/>
                </a:lnTo>
                <a:lnTo>
                  <a:pt x="818514" y="60579"/>
                </a:lnTo>
                <a:lnTo>
                  <a:pt x="822451" y="60579"/>
                </a:lnTo>
                <a:lnTo>
                  <a:pt x="822451" y="46863"/>
                </a:lnTo>
                <a:close/>
              </a:path>
              <a:path w="838200" h="107314">
                <a:moveTo>
                  <a:pt x="793021" y="45665"/>
                </a:moveTo>
                <a:lnTo>
                  <a:pt x="806748" y="53695"/>
                </a:lnTo>
                <a:lnTo>
                  <a:pt x="818514" y="46863"/>
                </a:lnTo>
                <a:lnTo>
                  <a:pt x="822451" y="46863"/>
                </a:lnTo>
                <a:lnTo>
                  <a:pt x="822451" y="45720"/>
                </a:lnTo>
                <a:lnTo>
                  <a:pt x="793021" y="456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65630" y="2214981"/>
            <a:ext cx="180975" cy="136017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905"/>
              </a:spcBef>
            </a:pPr>
            <a:r>
              <a:rPr sz="200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  <a:spcBef>
                <a:spcPts val="1505"/>
              </a:spcBef>
            </a:pPr>
            <a:r>
              <a:rPr sz="200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42228" y="2490977"/>
            <a:ext cx="2095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23686" y="3330066"/>
            <a:ext cx="1955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74975" y="3682060"/>
            <a:ext cx="2871470" cy="9029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ENCODER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41340" y="5158485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69644" y="5093121"/>
            <a:ext cx="918210" cy="88265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R="108585" algn="ctr">
              <a:lnSpc>
                <a:spcPct val="100000"/>
              </a:lnSpc>
              <a:spcBef>
                <a:spcPts val="1075"/>
              </a:spcBef>
            </a:pPr>
            <a:r>
              <a:rPr sz="2000" dirty="0">
                <a:latin typeface="Times New Roman"/>
                <a:cs typeface="Times New Roman"/>
              </a:rPr>
              <a:t>9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000" spc="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PUTS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85028" y="5691327"/>
            <a:ext cx="11728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000" spc="5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TPUTS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00400" y="6172200"/>
            <a:ext cx="42672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000" dirty="0">
                <a:latin typeface="Casper"/>
                <a:cs typeface="Times New Roman"/>
              </a:rPr>
              <a:t>Fig.</a:t>
            </a:r>
            <a:r>
              <a:rPr lang="pt-BR" sz="2000" spc="-100" dirty="0">
                <a:latin typeface="Casper"/>
                <a:cs typeface="Times New Roman"/>
              </a:rPr>
              <a:t> 14 : </a:t>
            </a:r>
            <a:r>
              <a:rPr lang="pt-BR" sz="2000" dirty="0">
                <a:latin typeface="Casper"/>
              </a:rPr>
              <a:t>ENCODER DIAGRAM 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228600"/>
            <a:ext cx="43434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20">
                <a:latin typeface="CasperBOLD"/>
              </a:rPr>
              <a:t>Truth</a:t>
            </a:r>
            <a:r>
              <a:rPr u="none" spc="-95">
                <a:latin typeface="CasperBOLD"/>
              </a:rPr>
              <a:t> </a:t>
            </a:r>
            <a:r>
              <a:rPr lang="en-US" spc="-95" dirty="0">
                <a:latin typeface="CasperBOLD"/>
              </a:rPr>
              <a:t>T</a:t>
            </a:r>
            <a:r>
              <a:rPr u="none">
                <a:latin typeface="CasperBOLD"/>
              </a:rPr>
              <a:t>able</a:t>
            </a:r>
            <a:endParaRPr u="none" dirty="0">
              <a:latin typeface="CasperBOLD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4650" y="1219198"/>
          <a:ext cx="8303252" cy="510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0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0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30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30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30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308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30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309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9309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25450">
                <a:tc gridSpan="10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INPUTS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430"/>
                        </a:spcBef>
                        <a:tabLst>
                          <a:tab pos="970280" algn="l"/>
                        </a:tabLst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BCD	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OUTPUTS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6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9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B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C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962400" y="6477001"/>
            <a:ext cx="30480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600" dirty="0">
                <a:latin typeface="Casper"/>
                <a:cs typeface="Times New Roman"/>
              </a:rPr>
              <a:t>Fig.</a:t>
            </a:r>
            <a:r>
              <a:rPr lang="pt-BR" sz="1600" spc="-100" dirty="0">
                <a:latin typeface="Casper"/>
                <a:cs typeface="Times New Roman"/>
              </a:rPr>
              <a:t> 15 : </a:t>
            </a:r>
            <a:r>
              <a:rPr lang="pt-BR" sz="1600" dirty="0">
                <a:latin typeface="Casper"/>
              </a:rPr>
              <a:t>ENCODER DIAGRAM </a:t>
            </a:r>
            <a:endParaRPr sz="1600" b="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74752"/>
            <a:ext cx="8625205" cy="2170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latin typeface="Casper"/>
                <a:cs typeface="Times New Roman"/>
              </a:rPr>
              <a:t>From </a:t>
            </a:r>
            <a:r>
              <a:rPr sz="1600" spc="-20" dirty="0">
                <a:latin typeface="Casper"/>
                <a:cs typeface="Times New Roman"/>
              </a:rPr>
              <a:t>Truth </a:t>
            </a:r>
            <a:r>
              <a:rPr sz="1600" spc="-35" dirty="0">
                <a:latin typeface="Casper"/>
                <a:cs typeface="Times New Roman"/>
              </a:rPr>
              <a:t>Table </a:t>
            </a:r>
            <a:r>
              <a:rPr sz="1600" dirty="0">
                <a:latin typeface="Casper"/>
                <a:cs typeface="Times New Roman"/>
              </a:rPr>
              <a:t>it </a:t>
            </a:r>
            <a:r>
              <a:rPr sz="1600" spc="-5" dirty="0">
                <a:latin typeface="Casper"/>
                <a:cs typeface="Times New Roman"/>
              </a:rPr>
              <a:t>is </a:t>
            </a:r>
            <a:r>
              <a:rPr sz="1600" dirty="0">
                <a:latin typeface="Casper"/>
                <a:cs typeface="Times New Roman"/>
              </a:rPr>
              <a:t>clear that the output </a:t>
            </a:r>
            <a:r>
              <a:rPr sz="1600" spc="-5" dirty="0">
                <a:latin typeface="Casper"/>
                <a:cs typeface="Times New Roman"/>
              </a:rPr>
              <a:t>A</a:t>
            </a:r>
            <a:r>
              <a:rPr sz="1600" spc="-459" dirty="0">
                <a:latin typeface="Casper"/>
                <a:cs typeface="Times New Roman"/>
              </a:rPr>
              <a:t> </a:t>
            </a:r>
            <a:r>
              <a:rPr sz="1600" spc="-5" dirty="0">
                <a:latin typeface="Casper"/>
                <a:cs typeface="Times New Roman"/>
              </a:rPr>
              <a:t>is HIGH </a:t>
            </a:r>
            <a:r>
              <a:rPr sz="1600" dirty="0">
                <a:latin typeface="Casper"/>
                <a:cs typeface="Times New Roman"/>
              </a:rPr>
              <a:t>when input </a:t>
            </a:r>
            <a:r>
              <a:rPr sz="1600" spc="-5" dirty="0">
                <a:latin typeface="Casper"/>
                <a:cs typeface="Times New Roman"/>
              </a:rPr>
              <a:t>is  </a:t>
            </a:r>
            <a:r>
              <a:rPr sz="1600" dirty="0">
                <a:latin typeface="Casper"/>
                <a:cs typeface="Times New Roman"/>
              </a:rPr>
              <a:t>8 OR 9 is</a:t>
            </a:r>
            <a:r>
              <a:rPr sz="1600" spc="-35" dirty="0">
                <a:latin typeface="Casper"/>
                <a:cs typeface="Times New Roman"/>
              </a:rPr>
              <a:t> </a:t>
            </a:r>
            <a:r>
              <a:rPr sz="1600" spc="-5" dirty="0">
                <a:latin typeface="Casper"/>
                <a:cs typeface="Times New Roman"/>
              </a:rPr>
              <a:t>HIGH</a:t>
            </a:r>
            <a:endParaRPr sz="1600">
              <a:latin typeface="Casper"/>
              <a:cs typeface="Times New Roman"/>
            </a:endParaRPr>
          </a:p>
          <a:p>
            <a:pPr marL="309880">
              <a:lnSpc>
                <a:spcPct val="100000"/>
              </a:lnSpc>
              <a:spcBef>
                <a:spcPts val="575"/>
              </a:spcBef>
            </a:pPr>
            <a:r>
              <a:rPr sz="1600" dirty="0">
                <a:latin typeface="Casper"/>
                <a:cs typeface="Times New Roman"/>
              </a:rPr>
              <a:t>Therefore</a:t>
            </a:r>
            <a:r>
              <a:rPr sz="1600" spc="-150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A=8+9</a:t>
            </a:r>
            <a:endParaRPr sz="1600">
              <a:latin typeface="Casper"/>
              <a:cs typeface="Times New Roman"/>
            </a:endParaRPr>
          </a:p>
          <a:p>
            <a:pPr marL="354965" marR="1269365" indent="-354965">
              <a:lnSpc>
                <a:spcPct val="12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latin typeface="Casper"/>
                <a:cs typeface="Times New Roman"/>
              </a:rPr>
              <a:t>The output B </a:t>
            </a:r>
            <a:r>
              <a:rPr sz="1600" spc="-5" dirty="0">
                <a:latin typeface="Casper"/>
                <a:cs typeface="Times New Roman"/>
              </a:rPr>
              <a:t>is HIGH </a:t>
            </a:r>
            <a:r>
              <a:rPr sz="1600" dirty="0">
                <a:latin typeface="Casper"/>
                <a:cs typeface="Times New Roman"/>
              </a:rPr>
              <a:t>when 4 </a:t>
            </a:r>
            <a:r>
              <a:rPr sz="1600" spc="-10" dirty="0">
                <a:latin typeface="Casper"/>
                <a:cs typeface="Times New Roman"/>
              </a:rPr>
              <a:t>OR </a:t>
            </a:r>
            <a:r>
              <a:rPr sz="1600" dirty="0">
                <a:latin typeface="Casper"/>
                <a:cs typeface="Times New Roman"/>
              </a:rPr>
              <a:t>5 </a:t>
            </a:r>
            <a:r>
              <a:rPr sz="1600" spc="-5" dirty="0">
                <a:latin typeface="Casper"/>
                <a:cs typeface="Times New Roman"/>
              </a:rPr>
              <a:t>OR </a:t>
            </a:r>
            <a:r>
              <a:rPr sz="1600" dirty="0">
                <a:latin typeface="Casper"/>
                <a:cs typeface="Times New Roman"/>
              </a:rPr>
              <a:t>6 </a:t>
            </a:r>
            <a:r>
              <a:rPr sz="1600" spc="-5" dirty="0">
                <a:latin typeface="Casper"/>
                <a:cs typeface="Times New Roman"/>
              </a:rPr>
              <a:t>OR </a:t>
            </a:r>
            <a:r>
              <a:rPr sz="1600" dirty="0">
                <a:latin typeface="Casper"/>
                <a:cs typeface="Times New Roman"/>
              </a:rPr>
              <a:t>7 </a:t>
            </a:r>
            <a:r>
              <a:rPr sz="1600" spc="-5" dirty="0">
                <a:latin typeface="Casper"/>
                <a:cs typeface="Times New Roman"/>
              </a:rPr>
              <a:t>is HIGH  </a:t>
            </a:r>
            <a:r>
              <a:rPr sz="1600" dirty="0">
                <a:latin typeface="Casper"/>
                <a:cs typeface="Times New Roman"/>
              </a:rPr>
              <a:t>Therefore</a:t>
            </a:r>
            <a:r>
              <a:rPr sz="1600" spc="-20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B=4+5+6+7</a:t>
            </a:r>
            <a:endParaRPr sz="1600">
              <a:latin typeface="Casper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latin typeface="Casper"/>
                <a:cs typeface="Times New Roman"/>
              </a:rPr>
              <a:t>The output C is </a:t>
            </a:r>
            <a:r>
              <a:rPr sz="1600" spc="-5" dirty="0">
                <a:latin typeface="Casper"/>
                <a:cs typeface="Times New Roman"/>
              </a:rPr>
              <a:t>HIGH when </a:t>
            </a:r>
            <a:r>
              <a:rPr sz="1600" dirty="0">
                <a:latin typeface="Casper"/>
                <a:cs typeface="Times New Roman"/>
              </a:rPr>
              <a:t>2 </a:t>
            </a:r>
            <a:r>
              <a:rPr sz="1600" spc="-5" dirty="0">
                <a:latin typeface="Casper"/>
                <a:cs typeface="Times New Roman"/>
              </a:rPr>
              <a:t>OR </a:t>
            </a:r>
            <a:r>
              <a:rPr sz="1600" dirty="0">
                <a:latin typeface="Casper"/>
                <a:cs typeface="Times New Roman"/>
              </a:rPr>
              <a:t>3 OR 6 </a:t>
            </a:r>
            <a:r>
              <a:rPr sz="1600" spc="-5" dirty="0">
                <a:latin typeface="Casper"/>
                <a:cs typeface="Times New Roman"/>
              </a:rPr>
              <a:t>OR </a:t>
            </a:r>
            <a:r>
              <a:rPr sz="1600" dirty="0">
                <a:latin typeface="Casper"/>
                <a:cs typeface="Times New Roman"/>
              </a:rPr>
              <a:t>7 is</a:t>
            </a:r>
            <a:r>
              <a:rPr sz="1600" spc="-25" dirty="0">
                <a:latin typeface="Casper"/>
                <a:cs typeface="Times New Roman"/>
              </a:rPr>
              <a:t> </a:t>
            </a:r>
            <a:r>
              <a:rPr sz="1600" spc="-5" dirty="0">
                <a:latin typeface="Casper"/>
                <a:cs typeface="Times New Roman"/>
              </a:rPr>
              <a:t>HIGH</a:t>
            </a:r>
            <a:endParaRPr sz="1600">
              <a:latin typeface="Casper"/>
              <a:cs typeface="Times New Roman"/>
            </a:endParaRPr>
          </a:p>
          <a:p>
            <a:pPr marL="386080">
              <a:lnSpc>
                <a:spcPct val="100000"/>
              </a:lnSpc>
              <a:spcBef>
                <a:spcPts val="575"/>
              </a:spcBef>
            </a:pPr>
            <a:r>
              <a:rPr sz="1600" dirty="0">
                <a:latin typeface="Casper"/>
                <a:cs typeface="Times New Roman"/>
              </a:rPr>
              <a:t>Therefore</a:t>
            </a:r>
            <a:r>
              <a:rPr sz="1600" spc="-20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C=2+3+6+7</a:t>
            </a:r>
            <a:endParaRPr sz="1600">
              <a:latin typeface="Casper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spc="-5" dirty="0">
                <a:latin typeface="Casper"/>
                <a:cs typeface="Times New Roman"/>
              </a:rPr>
              <a:t>Similarly</a:t>
            </a:r>
            <a:r>
              <a:rPr sz="1600" spc="-40" dirty="0">
                <a:latin typeface="Casper"/>
                <a:cs typeface="Times New Roman"/>
              </a:rPr>
              <a:t> </a:t>
            </a:r>
            <a:r>
              <a:rPr sz="1600" dirty="0">
                <a:latin typeface="Casper"/>
                <a:cs typeface="Times New Roman"/>
              </a:rPr>
              <a:t>D=1+3+5+7+9</a:t>
            </a:r>
            <a:endParaRPr sz="1600">
              <a:latin typeface="Casper"/>
              <a:cs typeface="Times New Roman"/>
            </a:endParaRPr>
          </a:p>
          <a:p>
            <a:pPr marL="391795">
              <a:lnSpc>
                <a:spcPct val="100000"/>
              </a:lnSpc>
              <a:spcBef>
                <a:spcPts val="580"/>
              </a:spcBef>
            </a:pPr>
            <a:r>
              <a:rPr sz="1600" dirty="0">
                <a:latin typeface="Casper"/>
                <a:cs typeface="Times New Roman"/>
              </a:rPr>
              <a:t>Logic Diagram is </a:t>
            </a:r>
            <a:r>
              <a:rPr sz="1600" spc="-5" dirty="0">
                <a:latin typeface="Casper"/>
                <a:cs typeface="Times New Roman"/>
              </a:rPr>
              <a:t>shown </a:t>
            </a:r>
            <a:r>
              <a:rPr sz="1600">
                <a:latin typeface="Casper"/>
                <a:cs typeface="Times New Roman"/>
              </a:rPr>
              <a:t>in</a:t>
            </a:r>
            <a:r>
              <a:rPr sz="1600" spc="-50">
                <a:latin typeface="Casper"/>
                <a:cs typeface="Times New Roman"/>
              </a:rPr>
              <a:t> </a:t>
            </a:r>
            <a:r>
              <a:rPr sz="1600" spc="-5">
                <a:latin typeface="Casper"/>
                <a:cs typeface="Times New Roman"/>
              </a:rPr>
              <a:t>fig.</a:t>
            </a:r>
            <a:r>
              <a:rPr lang="en-US" sz="1600" spc="-5" dirty="0">
                <a:latin typeface="Casper"/>
                <a:cs typeface="Times New Roman"/>
              </a:rPr>
              <a:t> 1.11</a:t>
            </a:r>
            <a:endParaRPr sz="1600">
              <a:latin typeface="Casper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304800"/>
            <a:ext cx="7924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u="none" dirty="0">
                <a:latin typeface="CasperBOLD"/>
              </a:rPr>
              <a:t>DECIMAL </a:t>
            </a:r>
            <a:r>
              <a:rPr b="1" u="none" spc="-20" dirty="0">
                <a:latin typeface="CasperBOLD"/>
              </a:rPr>
              <a:t>TO </a:t>
            </a:r>
            <a:r>
              <a:rPr b="1" u="none" spc="-5" dirty="0">
                <a:latin typeface="CasperBOLD"/>
              </a:rPr>
              <a:t>BCD</a:t>
            </a:r>
            <a:r>
              <a:rPr b="1" u="none" spc="-135" dirty="0">
                <a:latin typeface="CasperBOLD"/>
              </a:rPr>
              <a:t> </a:t>
            </a:r>
            <a:r>
              <a:rPr b="1" u="none" dirty="0">
                <a:latin typeface="CasperBOLD"/>
              </a:rPr>
              <a:t>ENCODER</a:t>
            </a:r>
            <a:endParaRPr b="1">
              <a:latin typeface="CasperBOL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0887" y="877061"/>
            <a:ext cx="76200" cy="3238500"/>
          </a:xfrm>
          <a:custGeom>
            <a:avLst/>
            <a:gdLst/>
            <a:ahLst/>
            <a:cxnLst/>
            <a:rect l="l" t="t" r="r" b="b"/>
            <a:pathLst>
              <a:path w="76200" h="3238500">
                <a:moveTo>
                  <a:pt x="30144" y="74599"/>
                </a:moveTo>
                <a:lnTo>
                  <a:pt x="28575" y="3238500"/>
                </a:lnTo>
                <a:lnTo>
                  <a:pt x="44450" y="3238500"/>
                </a:lnTo>
                <a:lnTo>
                  <a:pt x="46018" y="76200"/>
                </a:lnTo>
                <a:lnTo>
                  <a:pt x="38087" y="76200"/>
                </a:lnTo>
                <a:lnTo>
                  <a:pt x="30144" y="74599"/>
                </a:lnTo>
                <a:close/>
              </a:path>
              <a:path w="76200" h="3238500">
                <a:moveTo>
                  <a:pt x="46037" y="38100"/>
                </a:moveTo>
                <a:lnTo>
                  <a:pt x="30162" y="38100"/>
                </a:lnTo>
                <a:lnTo>
                  <a:pt x="30157" y="74601"/>
                </a:lnTo>
                <a:lnTo>
                  <a:pt x="38087" y="76200"/>
                </a:lnTo>
                <a:lnTo>
                  <a:pt x="46019" y="74601"/>
                </a:lnTo>
                <a:lnTo>
                  <a:pt x="46037" y="38100"/>
                </a:lnTo>
                <a:close/>
              </a:path>
              <a:path w="76200" h="3238500">
                <a:moveTo>
                  <a:pt x="46019" y="74601"/>
                </a:moveTo>
                <a:lnTo>
                  <a:pt x="38087" y="76200"/>
                </a:lnTo>
                <a:lnTo>
                  <a:pt x="46018" y="76200"/>
                </a:lnTo>
                <a:lnTo>
                  <a:pt x="46019" y="74601"/>
                </a:lnTo>
                <a:close/>
              </a:path>
              <a:path w="76200" h="3238500">
                <a:moveTo>
                  <a:pt x="76200" y="38100"/>
                </a:moveTo>
                <a:lnTo>
                  <a:pt x="46037" y="38100"/>
                </a:lnTo>
                <a:lnTo>
                  <a:pt x="46019" y="74601"/>
                </a:lnTo>
                <a:lnTo>
                  <a:pt x="52920" y="73211"/>
                </a:lnTo>
                <a:lnTo>
                  <a:pt x="65035" y="65055"/>
                </a:lnTo>
                <a:lnTo>
                  <a:pt x="73204" y="52947"/>
                </a:lnTo>
                <a:lnTo>
                  <a:pt x="76200" y="38100"/>
                </a:lnTo>
                <a:close/>
              </a:path>
              <a:path w="76200" h="3238500">
                <a:moveTo>
                  <a:pt x="38125" y="0"/>
                </a:moveTo>
                <a:lnTo>
                  <a:pt x="23265" y="3006"/>
                </a:lnTo>
                <a:lnTo>
                  <a:pt x="11176" y="11144"/>
                </a:lnTo>
                <a:lnTo>
                  <a:pt x="3003" y="23252"/>
                </a:lnTo>
                <a:lnTo>
                  <a:pt x="0" y="38100"/>
                </a:lnTo>
                <a:lnTo>
                  <a:pt x="2991" y="52947"/>
                </a:lnTo>
                <a:lnTo>
                  <a:pt x="11152" y="65055"/>
                </a:lnTo>
                <a:lnTo>
                  <a:pt x="23258" y="73211"/>
                </a:lnTo>
                <a:lnTo>
                  <a:pt x="30144" y="74599"/>
                </a:lnTo>
                <a:lnTo>
                  <a:pt x="30162" y="38100"/>
                </a:lnTo>
                <a:lnTo>
                  <a:pt x="76200" y="38100"/>
                </a:lnTo>
                <a:lnTo>
                  <a:pt x="73215" y="23306"/>
                </a:lnTo>
                <a:lnTo>
                  <a:pt x="65058" y="11191"/>
                </a:lnTo>
                <a:lnTo>
                  <a:pt x="52954" y="3006"/>
                </a:lnTo>
                <a:lnTo>
                  <a:pt x="381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8174" y="2782823"/>
            <a:ext cx="495934" cy="76200"/>
          </a:xfrm>
          <a:custGeom>
            <a:avLst/>
            <a:gdLst/>
            <a:ahLst/>
            <a:cxnLst/>
            <a:rect l="l" t="t" r="r" b="b"/>
            <a:pathLst>
              <a:path w="495934" h="76200">
                <a:moveTo>
                  <a:pt x="457352" y="0"/>
                </a:moveTo>
                <a:lnTo>
                  <a:pt x="442496" y="2986"/>
                </a:lnTo>
                <a:lnTo>
                  <a:pt x="430361" y="11128"/>
                </a:lnTo>
                <a:lnTo>
                  <a:pt x="422165" y="23199"/>
                </a:lnTo>
                <a:lnTo>
                  <a:pt x="420746" y="30094"/>
                </a:lnTo>
                <a:lnTo>
                  <a:pt x="457225" y="30225"/>
                </a:lnTo>
                <a:lnTo>
                  <a:pt x="457225" y="46100"/>
                </a:lnTo>
                <a:lnTo>
                  <a:pt x="420730" y="46100"/>
                </a:lnTo>
                <a:lnTo>
                  <a:pt x="422061" y="52839"/>
                </a:lnTo>
                <a:lnTo>
                  <a:pt x="430177" y="64992"/>
                </a:lnTo>
                <a:lnTo>
                  <a:pt x="442260" y="73191"/>
                </a:lnTo>
                <a:lnTo>
                  <a:pt x="457098" y="76200"/>
                </a:lnTo>
                <a:lnTo>
                  <a:pt x="471947" y="73286"/>
                </a:lnTo>
                <a:lnTo>
                  <a:pt x="484070" y="65182"/>
                </a:lnTo>
                <a:lnTo>
                  <a:pt x="492263" y="53125"/>
                </a:lnTo>
                <a:lnTo>
                  <a:pt x="493719" y="46100"/>
                </a:lnTo>
                <a:lnTo>
                  <a:pt x="457225" y="46100"/>
                </a:lnTo>
                <a:lnTo>
                  <a:pt x="493746" y="45969"/>
                </a:lnTo>
                <a:lnTo>
                  <a:pt x="495325" y="38353"/>
                </a:lnTo>
                <a:lnTo>
                  <a:pt x="492410" y="23485"/>
                </a:lnTo>
                <a:lnTo>
                  <a:pt x="484292" y="11318"/>
                </a:lnTo>
                <a:lnTo>
                  <a:pt x="472197" y="3081"/>
                </a:lnTo>
                <a:lnTo>
                  <a:pt x="457352" y="0"/>
                </a:lnTo>
                <a:close/>
              </a:path>
              <a:path w="495934" h="76200">
                <a:moveTo>
                  <a:pt x="420746" y="30094"/>
                </a:moveTo>
                <a:lnTo>
                  <a:pt x="419125" y="37973"/>
                </a:lnTo>
                <a:lnTo>
                  <a:pt x="420704" y="45969"/>
                </a:lnTo>
                <a:lnTo>
                  <a:pt x="457225" y="46100"/>
                </a:lnTo>
                <a:lnTo>
                  <a:pt x="457225" y="30225"/>
                </a:lnTo>
                <a:lnTo>
                  <a:pt x="420746" y="30094"/>
                </a:lnTo>
                <a:close/>
              </a:path>
              <a:path w="495934" h="76200">
                <a:moveTo>
                  <a:pt x="50" y="28575"/>
                </a:moveTo>
                <a:lnTo>
                  <a:pt x="0" y="44450"/>
                </a:lnTo>
                <a:lnTo>
                  <a:pt x="420704" y="45969"/>
                </a:lnTo>
                <a:lnTo>
                  <a:pt x="419125" y="37973"/>
                </a:lnTo>
                <a:lnTo>
                  <a:pt x="420746" y="30094"/>
                </a:lnTo>
                <a:lnTo>
                  <a:pt x="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8174" y="2478023"/>
            <a:ext cx="495934" cy="76200"/>
          </a:xfrm>
          <a:custGeom>
            <a:avLst/>
            <a:gdLst/>
            <a:ahLst/>
            <a:cxnLst/>
            <a:rect l="l" t="t" r="r" b="b"/>
            <a:pathLst>
              <a:path w="495934" h="76200">
                <a:moveTo>
                  <a:pt x="457352" y="0"/>
                </a:moveTo>
                <a:lnTo>
                  <a:pt x="442496" y="2986"/>
                </a:lnTo>
                <a:lnTo>
                  <a:pt x="430361" y="11128"/>
                </a:lnTo>
                <a:lnTo>
                  <a:pt x="422165" y="23199"/>
                </a:lnTo>
                <a:lnTo>
                  <a:pt x="420746" y="30094"/>
                </a:lnTo>
                <a:lnTo>
                  <a:pt x="457225" y="30225"/>
                </a:lnTo>
                <a:lnTo>
                  <a:pt x="457225" y="46100"/>
                </a:lnTo>
                <a:lnTo>
                  <a:pt x="420730" y="46100"/>
                </a:lnTo>
                <a:lnTo>
                  <a:pt x="422061" y="52839"/>
                </a:lnTo>
                <a:lnTo>
                  <a:pt x="430177" y="64992"/>
                </a:lnTo>
                <a:lnTo>
                  <a:pt x="442260" y="73191"/>
                </a:lnTo>
                <a:lnTo>
                  <a:pt x="457098" y="76200"/>
                </a:lnTo>
                <a:lnTo>
                  <a:pt x="471947" y="73286"/>
                </a:lnTo>
                <a:lnTo>
                  <a:pt x="484070" y="65182"/>
                </a:lnTo>
                <a:lnTo>
                  <a:pt x="492263" y="53125"/>
                </a:lnTo>
                <a:lnTo>
                  <a:pt x="493719" y="46100"/>
                </a:lnTo>
                <a:lnTo>
                  <a:pt x="457225" y="46100"/>
                </a:lnTo>
                <a:lnTo>
                  <a:pt x="493746" y="45969"/>
                </a:lnTo>
                <a:lnTo>
                  <a:pt x="495325" y="38353"/>
                </a:lnTo>
                <a:lnTo>
                  <a:pt x="492410" y="23485"/>
                </a:lnTo>
                <a:lnTo>
                  <a:pt x="484292" y="11318"/>
                </a:lnTo>
                <a:lnTo>
                  <a:pt x="472197" y="3081"/>
                </a:lnTo>
                <a:lnTo>
                  <a:pt x="457352" y="0"/>
                </a:lnTo>
                <a:close/>
              </a:path>
              <a:path w="495934" h="76200">
                <a:moveTo>
                  <a:pt x="420746" y="30094"/>
                </a:moveTo>
                <a:lnTo>
                  <a:pt x="419125" y="37973"/>
                </a:lnTo>
                <a:lnTo>
                  <a:pt x="420704" y="45969"/>
                </a:lnTo>
                <a:lnTo>
                  <a:pt x="457225" y="46100"/>
                </a:lnTo>
                <a:lnTo>
                  <a:pt x="457225" y="30225"/>
                </a:lnTo>
                <a:lnTo>
                  <a:pt x="420746" y="30094"/>
                </a:lnTo>
                <a:close/>
              </a:path>
              <a:path w="495934" h="76200">
                <a:moveTo>
                  <a:pt x="50" y="28575"/>
                </a:moveTo>
                <a:lnTo>
                  <a:pt x="0" y="44450"/>
                </a:lnTo>
                <a:lnTo>
                  <a:pt x="420704" y="45969"/>
                </a:lnTo>
                <a:lnTo>
                  <a:pt x="419125" y="37973"/>
                </a:lnTo>
                <a:lnTo>
                  <a:pt x="420746" y="30094"/>
                </a:lnTo>
                <a:lnTo>
                  <a:pt x="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8174" y="2171700"/>
            <a:ext cx="495934" cy="76200"/>
          </a:xfrm>
          <a:custGeom>
            <a:avLst/>
            <a:gdLst/>
            <a:ahLst/>
            <a:cxnLst/>
            <a:rect l="l" t="t" r="r" b="b"/>
            <a:pathLst>
              <a:path w="495934" h="76200">
                <a:moveTo>
                  <a:pt x="457352" y="0"/>
                </a:moveTo>
                <a:lnTo>
                  <a:pt x="442496" y="2915"/>
                </a:lnTo>
                <a:lnTo>
                  <a:pt x="430361" y="11033"/>
                </a:lnTo>
                <a:lnTo>
                  <a:pt x="422165" y="23127"/>
                </a:lnTo>
                <a:lnTo>
                  <a:pt x="420762" y="29977"/>
                </a:lnTo>
                <a:lnTo>
                  <a:pt x="457225" y="30099"/>
                </a:lnTo>
                <a:lnTo>
                  <a:pt x="457225" y="45974"/>
                </a:lnTo>
                <a:lnTo>
                  <a:pt x="420707" y="45974"/>
                </a:lnTo>
                <a:lnTo>
                  <a:pt x="422061" y="52822"/>
                </a:lnTo>
                <a:lnTo>
                  <a:pt x="430177" y="64944"/>
                </a:lnTo>
                <a:lnTo>
                  <a:pt x="442260" y="73138"/>
                </a:lnTo>
                <a:lnTo>
                  <a:pt x="457098" y="76200"/>
                </a:lnTo>
                <a:lnTo>
                  <a:pt x="471947" y="73284"/>
                </a:lnTo>
                <a:lnTo>
                  <a:pt x="484070" y="65166"/>
                </a:lnTo>
                <a:lnTo>
                  <a:pt x="492263" y="53072"/>
                </a:lnTo>
                <a:lnTo>
                  <a:pt x="493727" y="45974"/>
                </a:lnTo>
                <a:lnTo>
                  <a:pt x="457225" y="45974"/>
                </a:lnTo>
                <a:lnTo>
                  <a:pt x="493752" y="45852"/>
                </a:lnTo>
                <a:lnTo>
                  <a:pt x="495325" y="38226"/>
                </a:lnTo>
                <a:lnTo>
                  <a:pt x="492410" y="23377"/>
                </a:lnTo>
                <a:lnTo>
                  <a:pt x="484292" y="11255"/>
                </a:lnTo>
                <a:lnTo>
                  <a:pt x="472197" y="3061"/>
                </a:lnTo>
                <a:lnTo>
                  <a:pt x="457352" y="0"/>
                </a:lnTo>
                <a:close/>
              </a:path>
              <a:path w="495934" h="76200">
                <a:moveTo>
                  <a:pt x="420762" y="29977"/>
                </a:moveTo>
                <a:lnTo>
                  <a:pt x="419125" y="37973"/>
                </a:lnTo>
                <a:lnTo>
                  <a:pt x="420683" y="45852"/>
                </a:lnTo>
                <a:lnTo>
                  <a:pt x="457225" y="45974"/>
                </a:lnTo>
                <a:lnTo>
                  <a:pt x="457225" y="30099"/>
                </a:lnTo>
                <a:lnTo>
                  <a:pt x="420762" y="29977"/>
                </a:lnTo>
                <a:close/>
              </a:path>
              <a:path w="495934" h="76200">
                <a:moveTo>
                  <a:pt x="50" y="28575"/>
                </a:moveTo>
                <a:lnTo>
                  <a:pt x="0" y="44450"/>
                </a:lnTo>
                <a:lnTo>
                  <a:pt x="420683" y="45852"/>
                </a:lnTo>
                <a:lnTo>
                  <a:pt x="419125" y="37973"/>
                </a:lnTo>
                <a:lnTo>
                  <a:pt x="420762" y="29977"/>
                </a:lnTo>
                <a:lnTo>
                  <a:pt x="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8174" y="1866900"/>
            <a:ext cx="495934" cy="76200"/>
          </a:xfrm>
          <a:custGeom>
            <a:avLst/>
            <a:gdLst/>
            <a:ahLst/>
            <a:cxnLst/>
            <a:rect l="l" t="t" r="r" b="b"/>
            <a:pathLst>
              <a:path w="495934" h="76200">
                <a:moveTo>
                  <a:pt x="457352" y="0"/>
                </a:moveTo>
                <a:lnTo>
                  <a:pt x="442496" y="2915"/>
                </a:lnTo>
                <a:lnTo>
                  <a:pt x="430361" y="11033"/>
                </a:lnTo>
                <a:lnTo>
                  <a:pt x="422165" y="23127"/>
                </a:lnTo>
                <a:lnTo>
                  <a:pt x="420762" y="29977"/>
                </a:lnTo>
                <a:lnTo>
                  <a:pt x="457225" y="30099"/>
                </a:lnTo>
                <a:lnTo>
                  <a:pt x="457225" y="45974"/>
                </a:lnTo>
                <a:lnTo>
                  <a:pt x="420707" y="45974"/>
                </a:lnTo>
                <a:lnTo>
                  <a:pt x="422061" y="52822"/>
                </a:lnTo>
                <a:lnTo>
                  <a:pt x="430177" y="64944"/>
                </a:lnTo>
                <a:lnTo>
                  <a:pt x="442260" y="73138"/>
                </a:lnTo>
                <a:lnTo>
                  <a:pt x="457098" y="76200"/>
                </a:lnTo>
                <a:lnTo>
                  <a:pt x="471947" y="73284"/>
                </a:lnTo>
                <a:lnTo>
                  <a:pt x="484070" y="65166"/>
                </a:lnTo>
                <a:lnTo>
                  <a:pt x="492263" y="53072"/>
                </a:lnTo>
                <a:lnTo>
                  <a:pt x="493727" y="45974"/>
                </a:lnTo>
                <a:lnTo>
                  <a:pt x="457225" y="45974"/>
                </a:lnTo>
                <a:lnTo>
                  <a:pt x="493752" y="45852"/>
                </a:lnTo>
                <a:lnTo>
                  <a:pt x="495325" y="38226"/>
                </a:lnTo>
                <a:lnTo>
                  <a:pt x="492410" y="23377"/>
                </a:lnTo>
                <a:lnTo>
                  <a:pt x="484292" y="11255"/>
                </a:lnTo>
                <a:lnTo>
                  <a:pt x="472197" y="3061"/>
                </a:lnTo>
                <a:lnTo>
                  <a:pt x="457352" y="0"/>
                </a:lnTo>
                <a:close/>
              </a:path>
              <a:path w="495934" h="76200">
                <a:moveTo>
                  <a:pt x="420762" y="29977"/>
                </a:moveTo>
                <a:lnTo>
                  <a:pt x="419125" y="37973"/>
                </a:lnTo>
                <a:lnTo>
                  <a:pt x="420683" y="45852"/>
                </a:lnTo>
                <a:lnTo>
                  <a:pt x="457225" y="45974"/>
                </a:lnTo>
                <a:lnTo>
                  <a:pt x="457225" y="30099"/>
                </a:lnTo>
                <a:lnTo>
                  <a:pt x="420762" y="29977"/>
                </a:lnTo>
                <a:close/>
              </a:path>
              <a:path w="495934" h="76200">
                <a:moveTo>
                  <a:pt x="50" y="28575"/>
                </a:moveTo>
                <a:lnTo>
                  <a:pt x="0" y="44450"/>
                </a:lnTo>
                <a:lnTo>
                  <a:pt x="420683" y="45852"/>
                </a:lnTo>
                <a:lnTo>
                  <a:pt x="419125" y="37973"/>
                </a:lnTo>
                <a:lnTo>
                  <a:pt x="420762" y="29977"/>
                </a:lnTo>
                <a:lnTo>
                  <a:pt x="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8174" y="1563624"/>
            <a:ext cx="495934" cy="76200"/>
          </a:xfrm>
          <a:custGeom>
            <a:avLst/>
            <a:gdLst/>
            <a:ahLst/>
            <a:cxnLst/>
            <a:rect l="l" t="t" r="r" b="b"/>
            <a:pathLst>
              <a:path w="495934" h="76200">
                <a:moveTo>
                  <a:pt x="457352" y="0"/>
                </a:moveTo>
                <a:lnTo>
                  <a:pt x="442496" y="2986"/>
                </a:lnTo>
                <a:lnTo>
                  <a:pt x="430361" y="11128"/>
                </a:lnTo>
                <a:lnTo>
                  <a:pt x="422165" y="23199"/>
                </a:lnTo>
                <a:lnTo>
                  <a:pt x="420746" y="30094"/>
                </a:lnTo>
                <a:lnTo>
                  <a:pt x="457225" y="30225"/>
                </a:lnTo>
                <a:lnTo>
                  <a:pt x="457225" y="46100"/>
                </a:lnTo>
                <a:lnTo>
                  <a:pt x="420730" y="46100"/>
                </a:lnTo>
                <a:lnTo>
                  <a:pt x="422061" y="52839"/>
                </a:lnTo>
                <a:lnTo>
                  <a:pt x="430177" y="64992"/>
                </a:lnTo>
                <a:lnTo>
                  <a:pt x="442260" y="73191"/>
                </a:lnTo>
                <a:lnTo>
                  <a:pt x="457098" y="76200"/>
                </a:lnTo>
                <a:lnTo>
                  <a:pt x="471947" y="73286"/>
                </a:lnTo>
                <a:lnTo>
                  <a:pt x="484070" y="65182"/>
                </a:lnTo>
                <a:lnTo>
                  <a:pt x="492263" y="53125"/>
                </a:lnTo>
                <a:lnTo>
                  <a:pt x="493719" y="46100"/>
                </a:lnTo>
                <a:lnTo>
                  <a:pt x="457225" y="46100"/>
                </a:lnTo>
                <a:lnTo>
                  <a:pt x="493746" y="45969"/>
                </a:lnTo>
                <a:lnTo>
                  <a:pt x="495325" y="38353"/>
                </a:lnTo>
                <a:lnTo>
                  <a:pt x="492410" y="23485"/>
                </a:lnTo>
                <a:lnTo>
                  <a:pt x="484292" y="11318"/>
                </a:lnTo>
                <a:lnTo>
                  <a:pt x="472197" y="3081"/>
                </a:lnTo>
                <a:lnTo>
                  <a:pt x="457352" y="0"/>
                </a:lnTo>
                <a:close/>
              </a:path>
              <a:path w="495934" h="76200">
                <a:moveTo>
                  <a:pt x="420746" y="30094"/>
                </a:moveTo>
                <a:lnTo>
                  <a:pt x="419125" y="37973"/>
                </a:lnTo>
                <a:lnTo>
                  <a:pt x="420704" y="45969"/>
                </a:lnTo>
                <a:lnTo>
                  <a:pt x="457225" y="46100"/>
                </a:lnTo>
                <a:lnTo>
                  <a:pt x="457225" y="30225"/>
                </a:lnTo>
                <a:lnTo>
                  <a:pt x="420746" y="30094"/>
                </a:lnTo>
                <a:close/>
              </a:path>
              <a:path w="495934" h="76200">
                <a:moveTo>
                  <a:pt x="50" y="28575"/>
                </a:moveTo>
                <a:lnTo>
                  <a:pt x="0" y="44450"/>
                </a:lnTo>
                <a:lnTo>
                  <a:pt x="420704" y="45969"/>
                </a:lnTo>
                <a:lnTo>
                  <a:pt x="419125" y="37973"/>
                </a:lnTo>
                <a:lnTo>
                  <a:pt x="420746" y="30094"/>
                </a:lnTo>
                <a:lnTo>
                  <a:pt x="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8174" y="1258824"/>
            <a:ext cx="495934" cy="76200"/>
          </a:xfrm>
          <a:custGeom>
            <a:avLst/>
            <a:gdLst/>
            <a:ahLst/>
            <a:cxnLst/>
            <a:rect l="l" t="t" r="r" b="b"/>
            <a:pathLst>
              <a:path w="495934" h="76200">
                <a:moveTo>
                  <a:pt x="457352" y="0"/>
                </a:moveTo>
                <a:lnTo>
                  <a:pt x="442496" y="2986"/>
                </a:lnTo>
                <a:lnTo>
                  <a:pt x="430361" y="11128"/>
                </a:lnTo>
                <a:lnTo>
                  <a:pt x="422165" y="23199"/>
                </a:lnTo>
                <a:lnTo>
                  <a:pt x="420746" y="30094"/>
                </a:lnTo>
                <a:lnTo>
                  <a:pt x="457225" y="30225"/>
                </a:lnTo>
                <a:lnTo>
                  <a:pt x="457225" y="46100"/>
                </a:lnTo>
                <a:lnTo>
                  <a:pt x="420730" y="46100"/>
                </a:lnTo>
                <a:lnTo>
                  <a:pt x="422061" y="52839"/>
                </a:lnTo>
                <a:lnTo>
                  <a:pt x="430177" y="64992"/>
                </a:lnTo>
                <a:lnTo>
                  <a:pt x="442260" y="73191"/>
                </a:lnTo>
                <a:lnTo>
                  <a:pt x="457098" y="76200"/>
                </a:lnTo>
                <a:lnTo>
                  <a:pt x="471947" y="73286"/>
                </a:lnTo>
                <a:lnTo>
                  <a:pt x="484070" y="65182"/>
                </a:lnTo>
                <a:lnTo>
                  <a:pt x="492263" y="53125"/>
                </a:lnTo>
                <a:lnTo>
                  <a:pt x="493719" y="46100"/>
                </a:lnTo>
                <a:lnTo>
                  <a:pt x="457225" y="46100"/>
                </a:lnTo>
                <a:lnTo>
                  <a:pt x="493746" y="45969"/>
                </a:lnTo>
                <a:lnTo>
                  <a:pt x="495325" y="38353"/>
                </a:lnTo>
                <a:lnTo>
                  <a:pt x="492410" y="23485"/>
                </a:lnTo>
                <a:lnTo>
                  <a:pt x="484292" y="11318"/>
                </a:lnTo>
                <a:lnTo>
                  <a:pt x="472197" y="3081"/>
                </a:lnTo>
                <a:lnTo>
                  <a:pt x="457352" y="0"/>
                </a:lnTo>
                <a:close/>
              </a:path>
              <a:path w="495934" h="76200">
                <a:moveTo>
                  <a:pt x="420746" y="30094"/>
                </a:moveTo>
                <a:lnTo>
                  <a:pt x="419125" y="37973"/>
                </a:lnTo>
                <a:lnTo>
                  <a:pt x="420704" y="45969"/>
                </a:lnTo>
                <a:lnTo>
                  <a:pt x="457225" y="46100"/>
                </a:lnTo>
                <a:lnTo>
                  <a:pt x="457225" y="30225"/>
                </a:lnTo>
                <a:lnTo>
                  <a:pt x="420746" y="30094"/>
                </a:lnTo>
                <a:close/>
              </a:path>
              <a:path w="495934" h="76200">
                <a:moveTo>
                  <a:pt x="50" y="28575"/>
                </a:moveTo>
                <a:lnTo>
                  <a:pt x="0" y="44450"/>
                </a:lnTo>
                <a:lnTo>
                  <a:pt x="420704" y="45969"/>
                </a:lnTo>
                <a:lnTo>
                  <a:pt x="419125" y="37973"/>
                </a:lnTo>
                <a:lnTo>
                  <a:pt x="420746" y="30094"/>
                </a:lnTo>
                <a:lnTo>
                  <a:pt x="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8174" y="3392423"/>
            <a:ext cx="495934" cy="76200"/>
          </a:xfrm>
          <a:custGeom>
            <a:avLst/>
            <a:gdLst/>
            <a:ahLst/>
            <a:cxnLst/>
            <a:rect l="l" t="t" r="r" b="b"/>
            <a:pathLst>
              <a:path w="495934" h="76200">
                <a:moveTo>
                  <a:pt x="457352" y="0"/>
                </a:moveTo>
                <a:lnTo>
                  <a:pt x="442496" y="2986"/>
                </a:lnTo>
                <a:lnTo>
                  <a:pt x="430361" y="11128"/>
                </a:lnTo>
                <a:lnTo>
                  <a:pt x="422165" y="23199"/>
                </a:lnTo>
                <a:lnTo>
                  <a:pt x="420746" y="30094"/>
                </a:lnTo>
                <a:lnTo>
                  <a:pt x="457225" y="30225"/>
                </a:lnTo>
                <a:lnTo>
                  <a:pt x="457225" y="46100"/>
                </a:lnTo>
                <a:lnTo>
                  <a:pt x="420730" y="46100"/>
                </a:lnTo>
                <a:lnTo>
                  <a:pt x="422061" y="52839"/>
                </a:lnTo>
                <a:lnTo>
                  <a:pt x="430177" y="64992"/>
                </a:lnTo>
                <a:lnTo>
                  <a:pt x="442260" y="73191"/>
                </a:lnTo>
                <a:lnTo>
                  <a:pt x="457098" y="76200"/>
                </a:lnTo>
                <a:lnTo>
                  <a:pt x="471947" y="73286"/>
                </a:lnTo>
                <a:lnTo>
                  <a:pt x="484070" y="65182"/>
                </a:lnTo>
                <a:lnTo>
                  <a:pt x="492263" y="53125"/>
                </a:lnTo>
                <a:lnTo>
                  <a:pt x="493719" y="46100"/>
                </a:lnTo>
                <a:lnTo>
                  <a:pt x="457225" y="46100"/>
                </a:lnTo>
                <a:lnTo>
                  <a:pt x="493746" y="45969"/>
                </a:lnTo>
                <a:lnTo>
                  <a:pt x="495325" y="38353"/>
                </a:lnTo>
                <a:lnTo>
                  <a:pt x="492410" y="23485"/>
                </a:lnTo>
                <a:lnTo>
                  <a:pt x="484292" y="11318"/>
                </a:lnTo>
                <a:lnTo>
                  <a:pt x="472197" y="3081"/>
                </a:lnTo>
                <a:lnTo>
                  <a:pt x="457352" y="0"/>
                </a:lnTo>
                <a:close/>
              </a:path>
              <a:path w="495934" h="76200">
                <a:moveTo>
                  <a:pt x="420746" y="30094"/>
                </a:moveTo>
                <a:lnTo>
                  <a:pt x="419125" y="37973"/>
                </a:lnTo>
                <a:lnTo>
                  <a:pt x="420704" y="45969"/>
                </a:lnTo>
                <a:lnTo>
                  <a:pt x="457225" y="46100"/>
                </a:lnTo>
                <a:lnTo>
                  <a:pt x="457225" y="30225"/>
                </a:lnTo>
                <a:lnTo>
                  <a:pt x="420746" y="30094"/>
                </a:lnTo>
                <a:close/>
              </a:path>
              <a:path w="495934" h="76200">
                <a:moveTo>
                  <a:pt x="50" y="28575"/>
                </a:moveTo>
                <a:lnTo>
                  <a:pt x="0" y="44450"/>
                </a:lnTo>
                <a:lnTo>
                  <a:pt x="420704" y="45969"/>
                </a:lnTo>
                <a:lnTo>
                  <a:pt x="419125" y="37973"/>
                </a:lnTo>
                <a:lnTo>
                  <a:pt x="420746" y="30094"/>
                </a:lnTo>
                <a:lnTo>
                  <a:pt x="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38174" y="3087623"/>
            <a:ext cx="495934" cy="76200"/>
          </a:xfrm>
          <a:custGeom>
            <a:avLst/>
            <a:gdLst/>
            <a:ahLst/>
            <a:cxnLst/>
            <a:rect l="l" t="t" r="r" b="b"/>
            <a:pathLst>
              <a:path w="495934" h="76200">
                <a:moveTo>
                  <a:pt x="457352" y="0"/>
                </a:moveTo>
                <a:lnTo>
                  <a:pt x="442496" y="2986"/>
                </a:lnTo>
                <a:lnTo>
                  <a:pt x="430361" y="11128"/>
                </a:lnTo>
                <a:lnTo>
                  <a:pt x="422165" y="23199"/>
                </a:lnTo>
                <a:lnTo>
                  <a:pt x="420746" y="30094"/>
                </a:lnTo>
                <a:lnTo>
                  <a:pt x="457225" y="30225"/>
                </a:lnTo>
                <a:lnTo>
                  <a:pt x="457225" y="46100"/>
                </a:lnTo>
                <a:lnTo>
                  <a:pt x="420730" y="46100"/>
                </a:lnTo>
                <a:lnTo>
                  <a:pt x="422061" y="52839"/>
                </a:lnTo>
                <a:lnTo>
                  <a:pt x="430177" y="64992"/>
                </a:lnTo>
                <a:lnTo>
                  <a:pt x="442260" y="73191"/>
                </a:lnTo>
                <a:lnTo>
                  <a:pt x="457098" y="76200"/>
                </a:lnTo>
                <a:lnTo>
                  <a:pt x="471947" y="73286"/>
                </a:lnTo>
                <a:lnTo>
                  <a:pt x="484070" y="65182"/>
                </a:lnTo>
                <a:lnTo>
                  <a:pt x="492263" y="53125"/>
                </a:lnTo>
                <a:lnTo>
                  <a:pt x="493719" y="46100"/>
                </a:lnTo>
                <a:lnTo>
                  <a:pt x="457225" y="46100"/>
                </a:lnTo>
                <a:lnTo>
                  <a:pt x="493746" y="45969"/>
                </a:lnTo>
                <a:lnTo>
                  <a:pt x="495325" y="38353"/>
                </a:lnTo>
                <a:lnTo>
                  <a:pt x="492410" y="23485"/>
                </a:lnTo>
                <a:lnTo>
                  <a:pt x="484292" y="11318"/>
                </a:lnTo>
                <a:lnTo>
                  <a:pt x="472197" y="3081"/>
                </a:lnTo>
                <a:lnTo>
                  <a:pt x="457352" y="0"/>
                </a:lnTo>
                <a:close/>
              </a:path>
              <a:path w="495934" h="76200">
                <a:moveTo>
                  <a:pt x="420746" y="30094"/>
                </a:moveTo>
                <a:lnTo>
                  <a:pt x="419125" y="37973"/>
                </a:lnTo>
                <a:lnTo>
                  <a:pt x="420704" y="45969"/>
                </a:lnTo>
                <a:lnTo>
                  <a:pt x="457225" y="46100"/>
                </a:lnTo>
                <a:lnTo>
                  <a:pt x="457225" y="30225"/>
                </a:lnTo>
                <a:lnTo>
                  <a:pt x="420746" y="30094"/>
                </a:lnTo>
                <a:close/>
              </a:path>
              <a:path w="495934" h="76200">
                <a:moveTo>
                  <a:pt x="50" y="28575"/>
                </a:moveTo>
                <a:lnTo>
                  <a:pt x="0" y="44450"/>
                </a:lnTo>
                <a:lnTo>
                  <a:pt x="420704" y="45969"/>
                </a:lnTo>
                <a:lnTo>
                  <a:pt x="419125" y="37973"/>
                </a:lnTo>
                <a:lnTo>
                  <a:pt x="420746" y="30094"/>
                </a:lnTo>
                <a:lnTo>
                  <a:pt x="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8174" y="3705352"/>
            <a:ext cx="495934" cy="76200"/>
          </a:xfrm>
          <a:custGeom>
            <a:avLst/>
            <a:gdLst/>
            <a:ahLst/>
            <a:cxnLst/>
            <a:rect l="l" t="t" r="r" b="b"/>
            <a:pathLst>
              <a:path w="495934" h="76200">
                <a:moveTo>
                  <a:pt x="457352" y="0"/>
                </a:moveTo>
                <a:lnTo>
                  <a:pt x="442496" y="2915"/>
                </a:lnTo>
                <a:lnTo>
                  <a:pt x="430361" y="11033"/>
                </a:lnTo>
                <a:lnTo>
                  <a:pt x="422165" y="23127"/>
                </a:lnTo>
                <a:lnTo>
                  <a:pt x="420762" y="29977"/>
                </a:lnTo>
                <a:lnTo>
                  <a:pt x="457225" y="30099"/>
                </a:lnTo>
                <a:lnTo>
                  <a:pt x="457225" y="45974"/>
                </a:lnTo>
                <a:lnTo>
                  <a:pt x="420713" y="45974"/>
                </a:lnTo>
                <a:lnTo>
                  <a:pt x="422061" y="52768"/>
                </a:lnTo>
                <a:lnTo>
                  <a:pt x="430177" y="64896"/>
                </a:lnTo>
                <a:lnTo>
                  <a:pt x="442260" y="73120"/>
                </a:lnTo>
                <a:lnTo>
                  <a:pt x="457098" y="76200"/>
                </a:lnTo>
                <a:lnTo>
                  <a:pt x="471947" y="73231"/>
                </a:lnTo>
                <a:lnTo>
                  <a:pt x="484070" y="65119"/>
                </a:lnTo>
                <a:lnTo>
                  <a:pt x="492263" y="53054"/>
                </a:lnTo>
                <a:lnTo>
                  <a:pt x="493725" y="45974"/>
                </a:lnTo>
                <a:lnTo>
                  <a:pt x="457225" y="45974"/>
                </a:lnTo>
                <a:lnTo>
                  <a:pt x="493750" y="45852"/>
                </a:lnTo>
                <a:lnTo>
                  <a:pt x="495325" y="38227"/>
                </a:lnTo>
                <a:lnTo>
                  <a:pt x="492410" y="23360"/>
                </a:lnTo>
                <a:lnTo>
                  <a:pt x="484292" y="11207"/>
                </a:lnTo>
                <a:lnTo>
                  <a:pt x="472197" y="3008"/>
                </a:lnTo>
                <a:lnTo>
                  <a:pt x="457352" y="0"/>
                </a:lnTo>
                <a:close/>
              </a:path>
              <a:path w="495934" h="76200">
                <a:moveTo>
                  <a:pt x="420762" y="29977"/>
                </a:moveTo>
                <a:lnTo>
                  <a:pt x="419125" y="37973"/>
                </a:lnTo>
                <a:lnTo>
                  <a:pt x="420689" y="45852"/>
                </a:lnTo>
                <a:lnTo>
                  <a:pt x="457225" y="45974"/>
                </a:lnTo>
                <a:lnTo>
                  <a:pt x="457225" y="30099"/>
                </a:lnTo>
                <a:lnTo>
                  <a:pt x="420762" y="29977"/>
                </a:lnTo>
                <a:close/>
              </a:path>
              <a:path w="495934" h="76200">
                <a:moveTo>
                  <a:pt x="50" y="28575"/>
                </a:moveTo>
                <a:lnTo>
                  <a:pt x="0" y="44450"/>
                </a:lnTo>
                <a:lnTo>
                  <a:pt x="420689" y="45852"/>
                </a:lnTo>
                <a:lnTo>
                  <a:pt x="419125" y="37973"/>
                </a:lnTo>
                <a:lnTo>
                  <a:pt x="420762" y="29977"/>
                </a:lnTo>
                <a:lnTo>
                  <a:pt x="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62100" y="1257300"/>
            <a:ext cx="6896100" cy="76200"/>
          </a:xfrm>
          <a:custGeom>
            <a:avLst/>
            <a:gdLst/>
            <a:ahLst/>
            <a:cxnLst/>
            <a:rect l="l" t="t" r="r" b="b"/>
            <a:pathLst>
              <a:path w="68961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613" y="45982"/>
                </a:lnTo>
                <a:lnTo>
                  <a:pt x="38100" y="45974"/>
                </a:lnTo>
                <a:lnTo>
                  <a:pt x="38100" y="30099"/>
                </a:lnTo>
                <a:lnTo>
                  <a:pt x="74589" y="30099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6896100" h="76200">
                <a:moveTo>
                  <a:pt x="74591" y="30107"/>
                </a:moveTo>
                <a:lnTo>
                  <a:pt x="76200" y="38100"/>
                </a:lnTo>
                <a:lnTo>
                  <a:pt x="74613" y="45982"/>
                </a:lnTo>
                <a:lnTo>
                  <a:pt x="6896100" y="47625"/>
                </a:lnTo>
                <a:lnTo>
                  <a:pt x="6896100" y="31750"/>
                </a:lnTo>
                <a:lnTo>
                  <a:pt x="74591" y="30107"/>
                </a:lnTo>
                <a:close/>
              </a:path>
              <a:path w="6896100" h="76200">
                <a:moveTo>
                  <a:pt x="38100" y="30099"/>
                </a:moveTo>
                <a:lnTo>
                  <a:pt x="38100" y="45974"/>
                </a:lnTo>
                <a:lnTo>
                  <a:pt x="74615" y="45974"/>
                </a:lnTo>
                <a:lnTo>
                  <a:pt x="76200" y="38100"/>
                </a:lnTo>
                <a:lnTo>
                  <a:pt x="74591" y="30107"/>
                </a:lnTo>
                <a:lnTo>
                  <a:pt x="38100" y="30099"/>
                </a:lnTo>
                <a:close/>
              </a:path>
              <a:path w="6896100" h="76200">
                <a:moveTo>
                  <a:pt x="74589" y="30099"/>
                </a:moveTo>
                <a:lnTo>
                  <a:pt x="38100" y="30099"/>
                </a:lnTo>
                <a:lnTo>
                  <a:pt x="74591" y="301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71752" y="1571752"/>
            <a:ext cx="6896100" cy="76200"/>
          </a:xfrm>
          <a:custGeom>
            <a:avLst/>
            <a:gdLst/>
            <a:ahLst/>
            <a:cxnLst/>
            <a:rect l="l" t="t" r="r" b="b"/>
            <a:pathLst>
              <a:path w="68961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893"/>
                </a:lnTo>
                <a:lnTo>
                  <a:pt x="11144" y="65008"/>
                </a:lnTo>
                <a:lnTo>
                  <a:pt x="23252" y="73193"/>
                </a:lnTo>
                <a:lnTo>
                  <a:pt x="38100" y="76200"/>
                </a:lnTo>
                <a:lnTo>
                  <a:pt x="52920" y="73193"/>
                </a:lnTo>
                <a:lnTo>
                  <a:pt x="65008" y="65055"/>
                </a:lnTo>
                <a:lnTo>
                  <a:pt x="73193" y="52947"/>
                </a:lnTo>
                <a:lnTo>
                  <a:pt x="74603" y="45982"/>
                </a:lnTo>
                <a:lnTo>
                  <a:pt x="38100" y="45974"/>
                </a:lnTo>
                <a:lnTo>
                  <a:pt x="38100" y="30099"/>
                </a:lnTo>
                <a:lnTo>
                  <a:pt x="74589" y="30099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6896100" h="76200">
                <a:moveTo>
                  <a:pt x="74591" y="30107"/>
                </a:moveTo>
                <a:lnTo>
                  <a:pt x="76199" y="38100"/>
                </a:lnTo>
                <a:lnTo>
                  <a:pt x="74603" y="45982"/>
                </a:lnTo>
                <a:lnTo>
                  <a:pt x="6896100" y="47625"/>
                </a:lnTo>
                <a:lnTo>
                  <a:pt x="6896100" y="31750"/>
                </a:lnTo>
                <a:lnTo>
                  <a:pt x="74591" y="30107"/>
                </a:lnTo>
                <a:close/>
              </a:path>
              <a:path w="6896100" h="76200">
                <a:moveTo>
                  <a:pt x="38100" y="30099"/>
                </a:moveTo>
                <a:lnTo>
                  <a:pt x="38100" y="45974"/>
                </a:lnTo>
                <a:lnTo>
                  <a:pt x="74605" y="45974"/>
                </a:lnTo>
                <a:lnTo>
                  <a:pt x="76199" y="38100"/>
                </a:lnTo>
                <a:lnTo>
                  <a:pt x="74591" y="30107"/>
                </a:lnTo>
                <a:lnTo>
                  <a:pt x="38100" y="30099"/>
                </a:lnTo>
                <a:close/>
              </a:path>
              <a:path w="6896100" h="76200">
                <a:moveTo>
                  <a:pt x="74589" y="30099"/>
                </a:moveTo>
                <a:lnTo>
                  <a:pt x="38100" y="30099"/>
                </a:lnTo>
                <a:lnTo>
                  <a:pt x="74591" y="301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79906" y="1181480"/>
            <a:ext cx="534035" cy="1905"/>
          </a:xfrm>
          <a:custGeom>
            <a:avLst/>
            <a:gdLst/>
            <a:ahLst/>
            <a:cxnLst/>
            <a:rect l="l" t="t" r="r" b="b"/>
            <a:pathLst>
              <a:path w="534035" h="1905">
                <a:moveTo>
                  <a:pt x="0" y="0"/>
                </a:moveTo>
                <a:lnTo>
                  <a:pt x="533450" y="1651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47038" y="953642"/>
            <a:ext cx="1905" cy="228600"/>
          </a:xfrm>
          <a:custGeom>
            <a:avLst/>
            <a:gdLst/>
            <a:ahLst/>
            <a:cxnLst/>
            <a:rect l="l" t="t" r="r" b="b"/>
            <a:pathLst>
              <a:path w="1905" h="228600">
                <a:moveTo>
                  <a:pt x="0" y="228600"/>
                </a:moveTo>
                <a:lnTo>
                  <a:pt x="152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99946" y="1513586"/>
            <a:ext cx="533400" cy="1905"/>
          </a:xfrm>
          <a:custGeom>
            <a:avLst/>
            <a:gdLst/>
            <a:ahLst/>
            <a:cxnLst/>
            <a:rect l="l" t="t" r="r" b="b"/>
            <a:pathLst>
              <a:path w="533400" h="1905">
                <a:moveTo>
                  <a:pt x="0" y="0"/>
                </a:moveTo>
                <a:lnTo>
                  <a:pt x="533349" y="165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67103" y="1285747"/>
            <a:ext cx="1905" cy="228600"/>
          </a:xfrm>
          <a:custGeom>
            <a:avLst/>
            <a:gdLst/>
            <a:ahLst/>
            <a:cxnLst/>
            <a:rect l="l" t="t" r="r" b="b"/>
            <a:pathLst>
              <a:path w="1905" h="228600">
                <a:moveTo>
                  <a:pt x="0" y="228600"/>
                </a:moveTo>
                <a:lnTo>
                  <a:pt x="152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64513" y="1865248"/>
            <a:ext cx="6896100" cy="76200"/>
          </a:xfrm>
          <a:custGeom>
            <a:avLst/>
            <a:gdLst/>
            <a:ahLst/>
            <a:cxnLst/>
            <a:rect l="l" t="t" r="r" b="b"/>
            <a:pathLst>
              <a:path w="6896100" h="76200">
                <a:moveTo>
                  <a:pt x="38100" y="0"/>
                </a:moveTo>
                <a:lnTo>
                  <a:pt x="23252" y="3006"/>
                </a:lnTo>
                <a:lnTo>
                  <a:pt x="11144" y="11191"/>
                </a:lnTo>
                <a:lnTo>
                  <a:pt x="2988" y="23306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67"/>
                </a:lnTo>
                <a:lnTo>
                  <a:pt x="65055" y="65119"/>
                </a:lnTo>
                <a:lnTo>
                  <a:pt x="73211" y="53018"/>
                </a:lnTo>
                <a:lnTo>
                  <a:pt x="74607" y="46109"/>
                </a:lnTo>
                <a:lnTo>
                  <a:pt x="38100" y="46100"/>
                </a:lnTo>
                <a:lnTo>
                  <a:pt x="38100" y="30225"/>
                </a:lnTo>
                <a:lnTo>
                  <a:pt x="74589" y="30225"/>
                </a:lnTo>
                <a:lnTo>
                  <a:pt x="73211" y="23377"/>
                </a:lnTo>
                <a:lnTo>
                  <a:pt x="65055" y="11255"/>
                </a:lnTo>
                <a:lnTo>
                  <a:pt x="52947" y="3061"/>
                </a:lnTo>
                <a:lnTo>
                  <a:pt x="38100" y="0"/>
                </a:lnTo>
                <a:close/>
              </a:path>
              <a:path w="6896100" h="76200">
                <a:moveTo>
                  <a:pt x="74591" y="30234"/>
                </a:moveTo>
                <a:lnTo>
                  <a:pt x="76200" y="38226"/>
                </a:lnTo>
                <a:lnTo>
                  <a:pt x="74607" y="46109"/>
                </a:lnTo>
                <a:lnTo>
                  <a:pt x="6896100" y="47625"/>
                </a:lnTo>
                <a:lnTo>
                  <a:pt x="6896100" y="31750"/>
                </a:lnTo>
                <a:lnTo>
                  <a:pt x="74591" y="30234"/>
                </a:lnTo>
                <a:close/>
              </a:path>
              <a:path w="6896100" h="76200">
                <a:moveTo>
                  <a:pt x="38100" y="30225"/>
                </a:moveTo>
                <a:lnTo>
                  <a:pt x="38100" y="46100"/>
                </a:lnTo>
                <a:lnTo>
                  <a:pt x="74609" y="46100"/>
                </a:lnTo>
                <a:lnTo>
                  <a:pt x="76200" y="38226"/>
                </a:lnTo>
                <a:lnTo>
                  <a:pt x="74591" y="30234"/>
                </a:lnTo>
                <a:lnTo>
                  <a:pt x="38100" y="30225"/>
                </a:lnTo>
                <a:close/>
              </a:path>
              <a:path w="6896100" h="76200">
                <a:moveTo>
                  <a:pt x="74589" y="30225"/>
                </a:moveTo>
                <a:lnTo>
                  <a:pt x="38100" y="30225"/>
                </a:lnTo>
                <a:lnTo>
                  <a:pt x="74591" y="302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74164" y="2179701"/>
            <a:ext cx="6896100" cy="76200"/>
          </a:xfrm>
          <a:custGeom>
            <a:avLst/>
            <a:gdLst/>
            <a:ahLst/>
            <a:cxnLst/>
            <a:rect l="l" t="t" r="r" b="b"/>
            <a:pathLst>
              <a:path w="6896100" h="76200">
                <a:moveTo>
                  <a:pt x="38100" y="0"/>
                </a:moveTo>
                <a:lnTo>
                  <a:pt x="23252" y="3006"/>
                </a:lnTo>
                <a:lnTo>
                  <a:pt x="11144" y="11191"/>
                </a:lnTo>
                <a:lnTo>
                  <a:pt x="2988" y="23306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893" y="73211"/>
                </a:lnTo>
                <a:lnTo>
                  <a:pt x="65008" y="65055"/>
                </a:lnTo>
                <a:lnTo>
                  <a:pt x="73193" y="52947"/>
                </a:lnTo>
                <a:lnTo>
                  <a:pt x="74578" y="46109"/>
                </a:lnTo>
                <a:lnTo>
                  <a:pt x="38100" y="46100"/>
                </a:lnTo>
                <a:lnTo>
                  <a:pt x="38100" y="30225"/>
                </a:lnTo>
                <a:lnTo>
                  <a:pt x="74599" y="30225"/>
                </a:lnTo>
                <a:lnTo>
                  <a:pt x="73193" y="23306"/>
                </a:lnTo>
                <a:lnTo>
                  <a:pt x="65008" y="11191"/>
                </a:lnTo>
                <a:lnTo>
                  <a:pt x="52893" y="3006"/>
                </a:lnTo>
                <a:lnTo>
                  <a:pt x="38100" y="0"/>
                </a:lnTo>
                <a:close/>
              </a:path>
              <a:path w="6896100" h="76200">
                <a:moveTo>
                  <a:pt x="74601" y="30234"/>
                </a:moveTo>
                <a:lnTo>
                  <a:pt x="76199" y="38100"/>
                </a:lnTo>
                <a:lnTo>
                  <a:pt x="74578" y="46109"/>
                </a:lnTo>
                <a:lnTo>
                  <a:pt x="6896100" y="47625"/>
                </a:lnTo>
                <a:lnTo>
                  <a:pt x="6896100" y="31750"/>
                </a:lnTo>
                <a:lnTo>
                  <a:pt x="74601" y="30234"/>
                </a:lnTo>
                <a:close/>
              </a:path>
              <a:path w="6896100" h="76200">
                <a:moveTo>
                  <a:pt x="38100" y="30225"/>
                </a:moveTo>
                <a:lnTo>
                  <a:pt x="38100" y="46100"/>
                </a:lnTo>
                <a:lnTo>
                  <a:pt x="74579" y="46100"/>
                </a:lnTo>
                <a:lnTo>
                  <a:pt x="76199" y="38100"/>
                </a:lnTo>
                <a:lnTo>
                  <a:pt x="74601" y="30234"/>
                </a:lnTo>
                <a:lnTo>
                  <a:pt x="38100" y="30225"/>
                </a:lnTo>
                <a:close/>
              </a:path>
              <a:path w="6896100" h="76200">
                <a:moveTo>
                  <a:pt x="74599" y="30225"/>
                </a:moveTo>
                <a:lnTo>
                  <a:pt x="38100" y="30225"/>
                </a:lnTo>
                <a:lnTo>
                  <a:pt x="74601" y="302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82293" y="1789557"/>
            <a:ext cx="533400" cy="1905"/>
          </a:xfrm>
          <a:custGeom>
            <a:avLst/>
            <a:gdLst/>
            <a:ahLst/>
            <a:cxnLst/>
            <a:rect l="l" t="t" r="r" b="b"/>
            <a:pathLst>
              <a:path w="533400" h="1905">
                <a:moveTo>
                  <a:pt x="0" y="0"/>
                </a:moveTo>
                <a:lnTo>
                  <a:pt x="533349" y="1523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49450" y="1561719"/>
            <a:ext cx="1905" cy="228600"/>
          </a:xfrm>
          <a:custGeom>
            <a:avLst/>
            <a:gdLst/>
            <a:ahLst/>
            <a:cxnLst/>
            <a:rect l="l" t="t" r="r" b="b"/>
            <a:pathLst>
              <a:path w="1905" h="228600">
                <a:moveTo>
                  <a:pt x="0" y="228600"/>
                </a:moveTo>
                <a:lnTo>
                  <a:pt x="152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02347" y="2121661"/>
            <a:ext cx="533400" cy="1905"/>
          </a:xfrm>
          <a:custGeom>
            <a:avLst/>
            <a:gdLst/>
            <a:ahLst/>
            <a:cxnLst/>
            <a:rect l="l" t="t" r="r" b="b"/>
            <a:pathLst>
              <a:path w="533400" h="1905">
                <a:moveTo>
                  <a:pt x="0" y="0"/>
                </a:moveTo>
                <a:lnTo>
                  <a:pt x="533361" y="1524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469516" y="1893823"/>
            <a:ext cx="1905" cy="228600"/>
          </a:xfrm>
          <a:custGeom>
            <a:avLst/>
            <a:gdLst/>
            <a:ahLst/>
            <a:cxnLst/>
            <a:rect l="l" t="t" r="r" b="b"/>
            <a:pathLst>
              <a:path w="1905" h="228600">
                <a:moveTo>
                  <a:pt x="0" y="228600"/>
                </a:moveTo>
                <a:lnTo>
                  <a:pt x="152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52447" y="2484501"/>
            <a:ext cx="6896100" cy="76200"/>
          </a:xfrm>
          <a:custGeom>
            <a:avLst/>
            <a:gdLst/>
            <a:ahLst/>
            <a:cxnLst/>
            <a:rect l="l" t="t" r="r" b="b"/>
            <a:pathLst>
              <a:path w="6896100" h="76200">
                <a:moveTo>
                  <a:pt x="38100" y="0"/>
                </a:moveTo>
                <a:lnTo>
                  <a:pt x="23279" y="3006"/>
                </a:lnTo>
                <a:lnTo>
                  <a:pt x="11191" y="11144"/>
                </a:lnTo>
                <a:lnTo>
                  <a:pt x="3006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587" y="46109"/>
                </a:lnTo>
                <a:lnTo>
                  <a:pt x="38100" y="46100"/>
                </a:lnTo>
                <a:lnTo>
                  <a:pt x="38100" y="30225"/>
                </a:lnTo>
                <a:lnTo>
                  <a:pt x="74609" y="30225"/>
                </a:lnTo>
                <a:lnTo>
                  <a:pt x="73211" y="23306"/>
                </a:lnTo>
                <a:lnTo>
                  <a:pt x="65055" y="11191"/>
                </a:lnTo>
                <a:lnTo>
                  <a:pt x="52947" y="3006"/>
                </a:lnTo>
                <a:lnTo>
                  <a:pt x="38100" y="0"/>
                </a:lnTo>
                <a:close/>
              </a:path>
              <a:path w="6896100" h="76200">
                <a:moveTo>
                  <a:pt x="74610" y="30234"/>
                </a:moveTo>
                <a:lnTo>
                  <a:pt x="76200" y="38100"/>
                </a:lnTo>
                <a:lnTo>
                  <a:pt x="74587" y="46109"/>
                </a:lnTo>
                <a:lnTo>
                  <a:pt x="6896100" y="47625"/>
                </a:lnTo>
                <a:lnTo>
                  <a:pt x="6896100" y="31750"/>
                </a:lnTo>
                <a:lnTo>
                  <a:pt x="74610" y="30234"/>
                </a:lnTo>
                <a:close/>
              </a:path>
              <a:path w="6896100" h="76200">
                <a:moveTo>
                  <a:pt x="38100" y="30225"/>
                </a:moveTo>
                <a:lnTo>
                  <a:pt x="38100" y="46100"/>
                </a:lnTo>
                <a:lnTo>
                  <a:pt x="74589" y="46100"/>
                </a:lnTo>
                <a:lnTo>
                  <a:pt x="76200" y="38100"/>
                </a:lnTo>
                <a:lnTo>
                  <a:pt x="74610" y="30234"/>
                </a:lnTo>
                <a:lnTo>
                  <a:pt x="38100" y="30225"/>
                </a:lnTo>
                <a:close/>
              </a:path>
              <a:path w="6896100" h="76200">
                <a:moveTo>
                  <a:pt x="74609" y="30225"/>
                </a:moveTo>
                <a:lnTo>
                  <a:pt x="38100" y="30225"/>
                </a:lnTo>
                <a:lnTo>
                  <a:pt x="74610" y="302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62100" y="2798952"/>
            <a:ext cx="6896100" cy="76200"/>
          </a:xfrm>
          <a:custGeom>
            <a:avLst/>
            <a:gdLst/>
            <a:ahLst/>
            <a:cxnLst/>
            <a:rect l="l" t="t" r="r" b="b"/>
            <a:pathLst>
              <a:path w="68961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587" y="46109"/>
                </a:lnTo>
                <a:lnTo>
                  <a:pt x="38100" y="46100"/>
                </a:lnTo>
                <a:lnTo>
                  <a:pt x="38100" y="30225"/>
                </a:lnTo>
                <a:lnTo>
                  <a:pt x="74615" y="30225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6896100" h="76200">
                <a:moveTo>
                  <a:pt x="74616" y="30234"/>
                </a:moveTo>
                <a:lnTo>
                  <a:pt x="76200" y="38100"/>
                </a:lnTo>
                <a:lnTo>
                  <a:pt x="74587" y="46109"/>
                </a:lnTo>
                <a:lnTo>
                  <a:pt x="6896100" y="47625"/>
                </a:lnTo>
                <a:lnTo>
                  <a:pt x="6896100" y="31750"/>
                </a:lnTo>
                <a:lnTo>
                  <a:pt x="74616" y="30234"/>
                </a:lnTo>
                <a:close/>
              </a:path>
              <a:path w="6896100" h="76200">
                <a:moveTo>
                  <a:pt x="38100" y="30225"/>
                </a:moveTo>
                <a:lnTo>
                  <a:pt x="38100" y="46100"/>
                </a:lnTo>
                <a:lnTo>
                  <a:pt x="74589" y="46100"/>
                </a:lnTo>
                <a:lnTo>
                  <a:pt x="76200" y="38100"/>
                </a:lnTo>
                <a:lnTo>
                  <a:pt x="74616" y="30234"/>
                </a:lnTo>
                <a:lnTo>
                  <a:pt x="38100" y="30225"/>
                </a:lnTo>
                <a:close/>
              </a:path>
              <a:path w="6896100" h="76200">
                <a:moveTo>
                  <a:pt x="74615" y="30225"/>
                </a:moveTo>
                <a:lnTo>
                  <a:pt x="38100" y="30225"/>
                </a:lnTo>
                <a:lnTo>
                  <a:pt x="74616" y="302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70279" y="2408682"/>
            <a:ext cx="534035" cy="1905"/>
          </a:xfrm>
          <a:custGeom>
            <a:avLst/>
            <a:gdLst/>
            <a:ahLst/>
            <a:cxnLst/>
            <a:rect l="l" t="t" r="r" b="b"/>
            <a:pathLst>
              <a:path w="534035" h="1905">
                <a:moveTo>
                  <a:pt x="0" y="0"/>
                </a:moveTo>
                <a:lnTo>
                  <a:pt x="533425" y="165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437386" y="2180970"/>
            <a:ext cx="1905" cy="228600"/>
          </a:xfrm>
          <a:custGeom>
            <a:avLst/>
            <a:gdLst/>
            <a:ahLst/>
            <a:cxnLst/>
            <a:rect l="l" t="t" r="r" b="b"/>
            <a:pathLst>
              <a:path w="1905" h="228600">
                <a:moveTo>
                  <a:pt x="0" y="228600"/>
                </a:moveTo>
                <a:lnTo>
                  <a:pt x="1523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544447" y="3083686"/>
            <a:ext cx="6896100" cy="76200"/>
          </a:xfrm>
          <a:custGeom>
            <a:avLst/>
            <a:gdLst/>
            <a:ahLst/>
            <a:cxnLst/>
            <a:rect l="l" t="t" r="r" b="b"/>
            <a:pathLst>
              <a:path w="6896100" h="76200">
                <a:moveTo>
                  <a:pt x="38100" y="0"/>
                </a:moveTo>
                <a:lnTo>
                  <a:pt x="23226" y="3006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587" y="46109"/>
                </a:lnTo>
                <a:lnTo>
                  <a:pt x="38100" y="46100"/>
                </a:lnTo>
                <a:lnTo>
                  <a:pt x="38100" y="30225"/>
                </a:lnTo>
                <a:lnTo>
                  <a:pt x="74609" y="30225"/>
                </a:lnTo>
                <a:lnTo>
                  <a:pt x="73211" y="23306"/>
                </a:lnTo>
                <a:lnTo>
                  <a:pt x="65055" y="11191"/>
                </a:lnTo>
                <a:lnTo>
                  <a:pt x="52947" y="3006"/>
                </a:lnTo>
                <a:lnTo>
                  <a:pt x="38100" y="0"/>
                </a:lnTo>
                <a:close/>
              </a:path>
              <a:path w="6896100" h="76200">
                <a:moveTo>
                  <a:pt x="74610" y="30234"/>
                </a:moveTo>
                <a:lnTo>
                  <a:pt x="76200" y="38100"/>
                </a:lnTo>
                <a:lnTo>
                  <a:pt x="74587" y="46109"/>
                </a:lnTo>
                <a:lnTo>
                  <a:pt x="6896100" y="47625"/>
                </a:lnTo>
                <a:lnTo>
                  <a:pt x="6896100" y="31750"/>
                </a:lnTo>
                <a:lnTo>
                  <a:pt x="74610" y="30234"/>
                </a:lnTo>
                <a:close/>
              </a:path>
              <a:path w="6896100" h="76200">
                <a:moveTo>
                  <a:pt x="38100" y="30225"/>
                </a:moveTo>
                <a:lnTo>
                  <a:pt x="38100" y="46100"/>
                </a:lnTo>
                <a:lnTo>
                  <a:pt x="74589" y="46100"/>
                </a:lnTo>
                <a:lnTo>
                  <a:pt x="76200" y="38100"/>
                </a:lnTo>
                <a:lnTo>
                  <a:pt x="74610" y="30234"/>
                </a:lnTo>
                <a:lnTo>
                  <a:pt x="38100" y="30225"/>
                </a:lnTo>
                <a:close/>
              </a:path>
              <a:path w="6896100" h="76200">
                <a:moveTo>
                  <a:pt x="74609" y="30225"/>
                </a:moveTo>
                <a:lnTo>
                  <a:pt x="38100" y="30225"/>
                </a:lnTo>
                <a:lnTo>
                  <a:pt x="74610" y="302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554099" y="3398139"/>
            <a:ext cx="6896100" cy="76200"/>
          </a:xfrm>
          <a:custGeom>
            <a:avLst/>
            <a:gdLst/>
            <a:ahLst/>
            <a:cxnLst/>
            <a:rect l="l" t="t" r="r" b="b"/>
            <a:pathLst>
              <a:path w="68961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893" y="73211"/>
                </a:lnTo>
                <a:lnTo>
                  <a:pt x="65008" y="65055"/>
                </a:lnTo>
                <a:lnTo>
                  <a:pt x="73193" y="52947"/>
                </a:lnTo>
                <a:lnTo>
                  <a:pt x="74603" y="45982"/>
                </a:lnTo>
                <a:lnTo>
                  <a:pt x="38100" y="45974"/>
                </a:lnTo>
                <a:lnTo>
                  <a:pt x="38100" y="30099"/>
                </a:lnTo>
                <a:lnTo>
                  <a:pt x="74589" y="30099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6896100" h="76200">
                <a:moveTo>
                  <a:pt x="74591" y="30107"/>
                </a:moveTo>
                <a:lnTo>
                  <a:pt x="76200" y="38100"/>
                </a:lnTo>
                <a:lnTo>
                  <a:pt x="74603" y="45982"/>
                </a:lnTo>
                <a:lnTo>
                  <a:pt x="6896100" y="47625"/>
                </a:lnTo>
                <a:lnTo>
                  <a:pt x="6896100" y="31750"/>
                </a:lnTo>
                <a:lnTo>
                  <a:pt x="74591" y="30107"/>
                </a:lnTo>
                <a:close/>
              </a:path>
              <a:path w="6896100" h="76200">
                <a:moveTo>
                  <a:pt x="38100" y="30099"/>
                </a:moveTo>
                <a:lnTo>
                  <a:pt x="38100" y="45974"/>
                </a:lnTo>
                <a:lnTo>
                  <a:pt x="74605" y="45974"/>
                </a:lnTo>
                <a:lnTo>
                  <a:pt x="76200" y="38100"/>
                </a:lnTo>
                <a:lnTo>
                  <a:pt x="74591" y="30107"/>
                </a:lnTo>
                <a:lnTo>
                  <a:pt x="38100" y="30099"/>
                </a:lnTo>
                <a:close/>
              </a:path>
              <a:path w="6896100" h="76200">
                <a:moveTo>
                  <a:pt x="74589" y="30099"/>
                </a:moveTo>
                <a:lnTo>
                  <a:pt x="38100" y="30099"/>
                </a:lnTo>
                <a:lnTo>
                  <a:pt x="74591" y="301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1145552" y="2505011"/>
          <a:ext cx="576580" cy="503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" name="object 32"/>
          <p:cNvSpPr/>
          <p:nvPr/>
        </p:nvSpPr>
        <p:spPr>
          <a:xfrm>
            <a:off x="1182293" y="3339972"/>
            <a:ext cx="533400" cy="1905"/>
          </a:xfrm>
          <a:custGeom>
            <a:avLst/>
            <a:gdLst/>
            <a:ahLst/>
            <a:cxnLst/>
            <a:rect l="l" t="t" r="r" b="b"/>
            <a:pathLst>
              <a:path w="533400" h="1904">
                <a:moveTo>
                  <a:pt x="0" y="0"/>
                </a:moveTo>
                <a:lnTo>
                  <a:pt x="533349" y="165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449450" y="3112135"/>
            <a:ext cx="1905" cy="228600"/>
          </a:xfrm>
          <a:custGeom>
            <a:avLst/>
            <a:gdLst/>
            <a:ahLst/>
            <a:cxnLst/>
            <a:rect l="l" t="t" r="r" b="b"/>
            <a:pathLst>
              <a:path w="1905" h="228600">
                <a:moveTo>
                  <a:pt x="0" y="228600"/>
                </a:moveTo>
                <a:lnTo>
                  <a:pt x="1524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573275" y="3740658"/>
            <a:ext cx="6896100" cy="76200"/>
          </a:xfrm>
          <a:custGeom>
            <a:avLst/>
            <a:gdLst/>
            <a:ahLst/>
            <a:cxnLst/>
            <a:rect l="l" t="t" r="r" b="b"/>
            <a:pathLst>
              <a:path w="6896100" h="76200">
                <a:moveTo>
                  <a:pt x="38100" y="0"/>
                </a:moveTo>
                <a:lnTo>
                  <a:pt x="23306" y="2988"/>
                </a:lnTo>
                <a:lnTo>
                  <a:pt x="11191" y="11144"/>
                </a:lnTo>
                <a:lnTo>
                  <a:pt x="3006" y="23252"/>
                </a:lnTo>
                <a:lnTo>
                  <a:pt x="0" y="38100"/>
                </a:lnTo>
                <a:lnTo>
                  <a:pt x="3006" y="52893"/>
                </a:lnTo>
                <a:lnTo>
                  <a:pt x="11191" y="65008"/>
                </a:lnTo>
                <a:lnTo>
                  <a:pt x="23306" y="73193"/>
                </a:lnTo>
                <a:lnTo>
                  <a:pt x="38100" y="76200"/>
                </a:lnTo>
                <a:lnTo>
                  <a:pt x="52973" y="73193"/>
                </a:lnTo>
                <a:lnTo>
                  <a:pt x="65055" y="65055"/>
                </a:lnTo>
                <a:lnTo>
                  <a:pt x="73211" y="52947"/>
                </a:lnTo>
                <a:lnTo>
                  <a:pt x="74613" y="45982"/>
                </a:lnTo>
                <a:lnTo>
                  <a:pt x="38100" y="45974"/>
                </a:lnTo>
                <a:lnTo>
                  <a:pt x="38100" y="30099"/>
                </a:lnTo>
                <a:lnTo>
                  <a:pt x="74589" y="30099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6896100" h="76200">
                <a:moveTo>
                  <a:pt x="74591" y="30107"/>
                </a:moveTo>
                <a:lnTo>
                  <a:pt x="76200" y="38100"/>
                </a:lnTo>
                <a:lnTo>
                  <a:pt x="74613" y="45982"/>
                </a:lnTo>
                <a:lnTo>
                  <a:pt x="6896100" y="47625"/>
                </a:lnTo>
                <a:lnTo>
                  <a:pt x="6896100" y="31750"/>
                </a:lnTo>
                <a:lnTo>
                  <a:pt x="74591" y="30107"/>
                </a:lnTo>
                <a:close/>
              </a:path>
              <a:path w="6896100" h="76200">
                <a:moveTo>
                  <a:pt x="38100" y="30099"/>
                </a:moveTo>
                <a:lnTo>
                  <a:pt x="38100" y="45974"/>
                </a:lnTo>
                <a:lnTo>
                  <a:pt x="74615" y="45974"/>
                </a:lnTo>
                <a:lnTo>
                  <a:pt x="76200" y="38100"/>
                </a:lnTo>
                <a:lnTo>
                  <a:pt x="74591" y="30107"/>
                </a:lnTo>
                <a:lnTo>
                  <a:pt x="38100" y="30099"/>
                </a:lnTo>
                <a:close/>
              </a:path>
              <a:path w="6896100" h="76200">
                <a:moveTo>
                  <a:pt x="74589" y="30099"/>
                </a:moveTo>
                <a:lnTo>
                  <a:pt x="38100" y="30099"/>
                </a:lnTo>
                <a:lnTo>
                  <a:pt x="74591" y="301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191120" y="3655186"/>
            <a:ext cx="534035" cy="1905"/>
          </a:xfrm>
          <a:custGeom>
            <a:avLst/>
            <a:gdLst/>
            <a:ahLst/>
            <a:cxnLst/>
            <a:rect l="l" t="t" r="r" b="b"/>
            <a:pathLst>
              <a:path w="534035" h="1904">
                <a:moveTo>
                  <a:pt x="0" y="0"/>
                </a:moveTo>
                <a:lnTo>
                  <a:pt x="533412" y="1650"/>
                </a:lnTo>
              </a:path>
            </a:pathLst>
          </a:custGeom>
          <a:ln w="15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58213" y="3427348"/>
            <a:ext cx="1905" cy="228600"/>
          </a:xfrm>
          <a:custGeom>
            <a:avLst/>
            <a:gdLst/>
            <a:ahLst/>
            <a:cxnLst/>
            <a:rect l="l" t="t" r="r" b="b"/>
            <a:pathLst>
              <a:path w="1905" h="228600">
                <a:moveTo>
                  <a:pt x="0" y="228600"/>
                </a:moveTo>
                <a:lnTo>
                  <a:pt x="1651" y="0"/>
                </a:lnTo>
              </a:path>
            </a:pathLst>
          </a:custGeom>
          <a:ln w="15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386457" y="4075938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0099" y="74579"/>
                </a:moveTo>
                <a:lnTo>
                  <a:pt x="30099" y="723900"/>
                </a:lnTo>
                <a:lnTo>
                  <a:pt x="45974" y="723900"/>
                </a:lnTo>
                <a:lnTo>
                  <a:pt x="45974" y="76200"/>
                </a:lnTo>
                <a:lnTo>
                  <a:pt x="38100" y="76200"/>
                </a:lnTo>
                <a:lnTo>
                  <a:pt x="30099" y="74579"/>
                </a:lnTo>
                <a:close/>
              </a:path>
              <a:path w="76200" h="723900">
                <a:moveTo>
                  <a:pt x="45974" y="38100"/>
                </a:moveTo>
                <a:lnTo>
                  <a:pt x="30099" y="38100"/>
                </a:lnTo>
                <a:lnTo>
                  <a:pt x="30225" y="74605"/>
                </a:lnTo>
                <a:lnTo>
                  <a:pt x="38100" y="76200"/>
                </a:lnTo>
                <a:lnTo>
                  <a:pt x="45974" y="74605"/>
                </a:lnTo>
                <a:lnTo>
                  <a:pt x="45974" y="38100"/>
                </a:lnTo>
                <a:close/>
              </a:path>
              <a:path w="76200" h="723900">
                <a:moveTo>
                  <a:pt x="45974" y="74605"/>
                </a:moveTo>
                <a:lnTo>
                  <a:pt x="38100" y="76200"/>
                </a:lnTo>
                <a:lnTo>
                  <a:pt x="45974" y="76200"/>
                </a:lnTo>
                <a:lnTo>
                  <a:pt x="45974" y="74605"/>
                </a:lnTo>
                <a:close/>
              </a:path>
              <a:path w="76200" h="723900">
                <a:moveTo>
                  <a:pt x="76200" y="38100"/>
                </a:moveTo>
                <a:lnTo>
                  <a:pt x="45974" y="38100"/>
                </a:lnTo>
                <a:lnTo>
                  <a:pt x="45974" y="74605"/>
                </a:lnTo>
                <a:lnTo>
                  <a:pt x="52947" y="73193"/>
                </a:lnTo>
                <a:lnTo>
                  <a:pt x="65055" y="65008"/>
                </a:lnTo>
                <a:lnTo>
                  <a:pt x="73211" y="52893"/>
                </a:lnTo>
                <a:lnTo>
                  <a:pt x="76200" y="38100"/>
                </a:lnTo>
                <a:close/>
              </a:path>
              <a:path w="76200" h="7239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893"/>
                </a:lnTo>
                <a:lnTo>
                  <a:pt x="11144" y="65008"/>
                </a:lnTo>
                <a:lnTo>
                  <a:pt x="23252" y="73193"/>
                </a:lnTo>
                <a:lnTo>
                  <a:pt x="30099" y="74579"/>
                </a:lnTo>
                <a:lnTo>
                  <a:pt x="30099" y="38100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673223" y="3733419"/>
            <a:ext cx="76200" cy="1089660"/>
          </a:xfrm>
          <a:custGeom>
            <a:avLst/>
            <a:gdLst/>
            <a:ahLst/>
            <a:cxnLst/>
            <a:rect l="l" t="t" r="r" b="b"/>
            <a:pathLst>
              <a:path w="76200" h="1089660">
                <a:moveTo>
                  <a:pt x="30225" y="74609"/>
                </a:moveTo>
                <a:lnTo>
                  <a:pt x="30225" y="1089659"/>
                </a:lnTo>
                <a:lnTo>
                  <a:pt x="46100" y="1089659"/>
                </a:lnTo>
                <a:lnTo>
                  <a:pt x="46100" y="76199"/>
                </a:lnTo>
                <a:lnTo>
                  <a:pt x="38100" y="76199"/>
                </a:lnTo>
                <a:lnTo>
                  <a:pt x="30225" y="74609"/>
                </a:lnTo>
                <a:close/>
              </a:path>
              <a:path w="76200" h="1089660">
                <a:moveTo>
                  <a:pt x="46100" y="38099"/>
                </a:moveTo>
                <a:lnTo>
                  <a:pt x="30225" y="38099"/>
                </a:lnTo>
                <a:lnTo>
                  <a:pt x="30225" y="74609"/>
                </a:lnTo>
                <a:lnTo>
                  <a:pt x="38100" y="76199"/>
                </a:lnTo>
                <a:lnTo>
                  <a:pt x="46002" y="74609"/>
                </a:lnTo>
                <a:lnTo>
                  <a:pt x="46100" y="38099"/>
                </a:lnTo>
                <a:close/>
              </a:path>
              <a:path w="76200" h="1089660">
                <a:moveTo>
                  <a:pt x="46100" y="74589"/>
                </a:moveTo>
                <a:lnTo>
                  <a:pt x="38100" y="76199"/>
                </a:lnTo>
                <a:lnTo>
                  <a:pt x="46100" y="76199"/>
                </a:lnTo>
                <a:lnTo>
                  <a:pt x="46100" y="74589"/>
                </a:lnTo>
                <a:close/>
              </a:path>
              <a:path w="76200" h="1089660">
                <a:moveTo>
                  <a:pt x="38100" y="0"/>
                </a:moveTo>
                <a:lnTo>
                  <a:pt x="23306" y="2988"/>
                </a:lnTo>
                <a:lnTo>
                  <a:pt x="11191" y="11144"/>
                </a:lnTo>
                <a:lnTo>
                  <a:pt x="3006" y="23252"/>
                </a:lnTo>
                <a:lnTo>
                  <a:pt x="0" y="38099"/>
                </a:lnTo>
                <a:lnTo>
                  <a:pt x="3006" y="52947"/>
                </a:lnTo>
                <a:lnTo>
                  <a:pt x="11191" y="65055"/>
                </a:lnTo>
                <a:lnTo>
                  <a:pt x="23306" y="73211"/>
                </a:lnTo>
                <a:lnTo>
                  <a:pt x="30225" y="74609"/>
                </a:lnTo>
                <a:lnTo>
                  <a:pt x="30225" y="38099"/>
                </a:lnTo>
                <a:lnTo>
                  <a:pt x="76200" y="38099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76200" h="1089660">
                <a:moveTo>
                  <a:pt x="76200" y="38099"/>
                </a:moveTo>
                <a:lnTo>
                  <a:pt x="46100" y="38099"/>
                </a:lnTo>
                <a:lnTo>
                  <a:pt x="46100" y="74589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531745" y="5513832"/>
            <a:ext cx="76200" cy="239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286000" y="4741671"/>
            <a:ext cx="571500" cy="770255"/>
          </a:xfrm>
          <a:custGeom>
            <a:avLst/>
            <a:gdLst/>
            <a:ahLst/>
            <a:cxnLst/>
            <a:rect l="l" t="t" r="r" b="b"/>
            <a:pathLst>
              <a:path w="571500" h="770254">
                <a:moveTo>
                  <a:pt x="571245" y="0"/>
                </a:moveTo>
                <a:lnTo>
                  <a:pt x="0" y="0"/>
                </a:lnTo>
                <a:lnTo>
                  <a:pt x="2539" y="370713"/>
                </a:lnTo>
                <a:lnTo>
                  <a:pt x="9332" y="418507"/>
                </a:lnTo>
                <a:lnTo>
                  <a:pt x="23459" y="467861"/>
                </a:lnTo>
                <a:lnTo>
                  <a:pt x="43753" y="517485"/>
                </a:lnTo>
                <a:lnTo>
                  <a:pt x="69046" y="566094"/>
                </a:lnTo>
                <a:lnTo>
                  <a:pt x="98172" y="612399"/>
                </a:lnTo>
                <a:lnTo>
                  <a:pt x="129963" y="655113"/>
                </a:lnTo>
                <a:lnTo>
                  <a:pt x="163251" y="692947"/>
                </a:lnTo>
                <a:lnTo>
                  <a:pt x="196870" y="724616"/>
                </a:lnTo>
                <a:lnTo>
                  <a:pt x="229652" y="748830"/>
                </a:lnTo>
                <a:lnTo>
                  <a:pt x="288036" y="769746"/>
                </a:lnTo>
                <a:lnTo>
                  <a:pt x="315581" y="764137"/>
                </a:lnTo>
                <a:lnTo>
                  <a:pt x="378660" y="723420"/>
                </a:lnTo>
                <a:lnTo>
                  <a:pt x="411856" y="691088"/>
                </a:lnTo>
                <a:lnTo>
                  <a:pt x="444600" y="652622"/>
                </a:lnTo>
                <a:lnTo>
                  <a:pt x="475725" y="609410"/>
                </a:lnTo>
                <a:lnTo>
                  <a:pt x="504060" y="562840"/>
                </a:lnTo>
                <a:lnTo>
                  <a:pt x="528440" y="514298"/>
                </a:lnTo>
                <a:lnTo>
                  <a:pt x="547697" y="465171"/>
                </a:lnTo>
                <a:lnTo>
                  <a:pt x="560661" y="416847"/>
                </a:lnTo>
                <a:lnTo>
                  <a:pt x="566166" y="370713"/>
                </a:lnTo>
                <a:lnTo>
                  <a:pt x="57124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286000" y="4741671"/>
            <a:ext cx="571500" cy="770255"/>
          </a:xfrm>
          <a:custGeom>
            <a:avLst/>
            <a:gdLst/>
            <a:ahLst/>
            <a:cxnLst/>
            <a:rect l="l" t="t" r="r" b="b"/>
            <a:pathLst>
              <a:path w="571500" h="770254">
                <a:moveTo>
                  <a:pt x="571245" y="0"/>
                </a:moveTo>
                <a:lnTo>
                  <a:pt x="566166" y="370713"/>
                </a:lnTo>
                <a:lnTo>
                  <a:pt x="560661" y="416847"/>
                </a:lnTo>
                <a:lnTo>
                  <a:pt x="547697" y="465171"/>
                </a:lnTo>
                <a:lnTo>
                  <a:pt x="528440" y="514298"/>
                </a:lnTo>
                <a:lnTo>
                  <a:pt x="504060" y="562840"/>
                </a:lnTo>
                <a:lnTo>
                  <a:pt x="475725" y="609410"/>
                </a:lnTo>
                <a:lnTo>
                  <a:pt x="444600" y="652622"/>
                </a:lnTo>
                <a:lnTo>
                  <a:pt x="411856" y="691088"/>
                </a:lnTo>
                <a:lnTo>
                  <a:pt x="378660" y="723420"/>
                </a:lnTo>
                <a:lnTo>
                  <a:pt x="346179" y="748232"/>
                </a:lnTo>
                <a:lnTo>
                  <a:pt x="288036" y="769746"/>
                </a:lnTo>
                <a:lnTo>
                  <a:pt x="260430" y="764303"/>
                </a:lnTo>
                <a:lnTo>
                  <a:pt x="196870" y="724616"/>
                </a:lnTo>
                <a:lnTo>
                  <a:pt x="163251" y="692947"/>
                </a:lnTo>
                <a:lnTo>
                  <a:pt x="129963" y="655113"/>
                </a:lnTo>
                <a:lnTo>
                  <a:pt x="98172" y="612399"/>
                </a:lnTo>
                <a:lnTo>
                  <a:pt x="69046" y="566094"/>
                </a:lnTo>
                <a:lnTo>
                  <a:pt x="43753" y="517485"/>
                </a:lnTo>
                <a:lnTo>
                  <a:pt x="23459" y="467861"/>
                </a:lnTo>
                <a:lnTo>
                  <a:pt x="9332" y="418507"/>
                </a:lnTo>
                <a:lnTo>
                  <a:pt x="2539" y="370713"/>
                </a:lnTo>
                <a:lnTo>
                  <a:pt x="0" y="0"/>
                </a:lnTo>
              </a:path>
            </a:pathLst>
          </a:custGeom>
          <a:ln w="15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286000" y="4736084"/>
            <a:ext cx="571500" cy="82550"/>
          </a:xfrm>
          <a:custGeom>
            <a:avLst/>
            <a:gdLst/>
            <a:ahLst/>
            <a:cxnLst/>
            <a:rect l="l" t="t" r="r" b="b"/>
            <a:pathLst>
              <a:path w="571500" h="82550">
                <a:moveTo>
                  <a:pt x="0" y="0"/>
                </a:moveTo>
                <a:lnTo>
                  <a:pt x="39459" y="40146"/>
                </a:lnTo>
                <a:lnTo>
                  <a:pt x="81426" y="55217"/>
                </a:lnTo>
                <a:lnTo>
                  <a:pt x="131677" y="66946"/>
                </a:lnTo>
                <a:lnTo>
                  <a:pt x="185307" y="75329"/>
                </a:lnTo>
                <a:lnTo>
                  <a:pt x="237410" y="80363"/>
                </a:lnTo>
                <a:lnTo>
                  <a:pt x="283082" y="82042"/>
                </a:lnTo>
                <a:lnTo>
                  <a:pt x="328996" y="80370"/>
                </a:lnTo>
                <a:lnTo>
                  <a:pt x="381810" y="75355"/>
                </a:lnTo>
                <a:lnTo>
                  <a:pt x="436434" y="66996"/>
                </a:lnTo>
                <a:lnTo>
                  <a:pt x="487780" y="55294"/>
                </a:lnTo>
                <a:lnTo>
                  <a:pt x="530757" y="40248"/>
                </a:lnTo>
                <a:lnTo>
                  <a:pt x="560275" y="21859"/>
                </a:lnTo>
                <a:lnTo>
                  <a:pt x="571245" y="127"/>
                </a:lnTo>
              </a:path>
            </a:pathLst>
          </a:custGeom>
          <a:ln w="15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619500" y="3399663"/>
            <a:ext cx="76200" cy="1363980"/>
          </a:xfrm>
          <a:custGeom>
            <a:avLst/>
            <a:gdLst/>
            <a:ahLst/>
            <a:cxnLst/>
            <a:rect l="l" t="t" r="r" b="b"/>
            <a:pathLst>
              <a:path w="76200" h="1363979">
                <a:moveTo>
                  <a:pt x="30102" y="74590"/>
                </a:moveTo>
                <a:lnTo>
                  <a:pt x="30225" y="1363980"/>
                </a:lnTo>
                <a:lnTo>
                  <a:pt x="46100" y="1363980"/>
                </a:lnTo>
                <a:lnTo>
                  <a:pt x="45977" y="76200"/>
                </a:lnTo>
                <a:lnTo>
                  <a:pt x="38100" y="76200"/>
                </a:lnTo>
                <a:lnTo>
                  <a:pt x="30102" y="74590"/>
                </a:lnTo>
                <a:close/>
              </a:path>
              <a:path w="76200" h="1363979">
                <a:moveTo>
                  <a:pt x="45974" y="38100"/>
                </a:moveTo>
                <a:lnTo>
                  <a:pt x="30099" y="38100"/>
                </a:lnTo>
                <a:lnTo>
                  <a:pt x="30222" y="74614"/>
                </a:lnTo>
                <a:lnTo>
                  <a:pt x="38100" y="76200"/>
                </a:lnTo>
                <a:lnTo>
                  <a:pt x="45977" y="74614"/>
                </a:lnTo>
                <a:lnTo>
                  <a:pt x="45974" y="38100"/>
                </a:lnTo>
                <a:close/>
              </a:path>
              <a:path w="76200" h="1363979">
                <a:moveTo>
                  <a:pt x="45977" y="74614"/>
                </a:moveTo>
                <a:lnTo>
                  <a:pt x="38100" y="76200"/>
                </a:lnTo>
                <a:lnTo>
                  <a:pt x="45977" y="76200"/>
                </a:lnTo>
                <a:lnTo>
                  <a:pt x="45977" y="74614"/>
                </a:lnTo>
                <a:close/>
              </a:path>
              <a:path w="76200" h="1363979">
                <a:moveTo>
                  <a:pt x="76200" y="38100"/>
                </a:moveTo>
                <a:lnTo>
                  <a:pt x="45974" y="38100"/>
                </a:lnTo>
                <a:lnTo>
                  <a:pt x="45977" y="74614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close/>
              </a:path>
              <a:path w="76200" h="1363979">
                <a:moveTo>
                  <a:pt x="38100" y="0"/>
                </a:moveTo>
                <a:lnTo>
                  <a:pt x="23252" y="3006"/>
                </a:lnTo>
                <a:lnTo>
                  <a:pt x="11144" y="11191"/>
                </a:lnTo>
                <a:lnTo>
                  <a:pt x="2988" y="23306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0102" y="74590"/>
                </a:lnTo>
                <a:lnTo>
                  <a:pt x="30099" y="38100"/>
                </a:lnTo>
                <a:lnTo>
                  <a:pt x="76200" y="38100"/>
                </a:lnTo>
                <a:lnTo>
                  <a:pt x="73211" y="23306"/>
                </a:lnTo>
                <a:lnTo>
                  <a:pt x="65055" y="11191"/>
                </a:lnTo>
                <a:lnTo>
                  <a:pt x="52947" y="3006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968622" y="2494914"/>
            <a:ext cx="76200" cy="2287905"/>
          </a:xfrm>
          <a:custGeom>
            <a:avLst/>
            <a:gdLst/>
            <a:ahLst/>
            <a:cxnLst/>
            <a:rect l="l" t="t" r="r" b="b"/>
            <a:pathLst>
              <a:path w="76200" h="2287904">
                <a:moveTo>
                  <a:pt x="30225" y="74609"/>
                </a:moveTo>
                <a:lnTo>
                  <a:pt x="30225" y="2287524"/>
                </a:lnTo>
                <a:lnTo>
                  <a:pt x="46100" y="2287524"/>
                </a:lnTo>
                <a:lnTo>
                  <a:pt x="46100" y="76200"/>
                </a:lnTo>
                <a:lnTo>
                  <a:pt x="38100" y="76200"/>
                </a:lnTo>
                <a:lnTo>
                  <a:pt x="30225" y="74609"/>
                </a:lnTo>
                <a:close/>
              </a:path>
              <a:path w="76200" h="2287904">
                <a:moveTo>
                  <a:pt x="46100" y="38100"/>
                </a:moveTo>
                <a:lnTo>
                  <a:pt x="30225" y="38100"/>
                </a:lnTo>
                <a:lnTo>
                  <a:pt x="30225" y="74609"/>
                </a:lnTo>
                <a:lnTo>
                  <a:pt x="38100" y="76200"/>
                </a:lnTo>
                <a:lnTo>
                  <a:pt x="46002" y="74609"/>
                </a:lnTo>
                <a:lnTo>
                  <a:pt x="46100" y="38100"/>
                </a:lnTo>
                <a:close/>
              </a:path>
              <a:path w="76200" h="2287904">
                <a:moveTo>
                  <a:pt x="46100" y="74589"/>
                </a:moveTo>
                <a:lnTo>
                  <a:pt x="38100" y="76200"/>
                </a:lnTo>
                <a:lnTo>
                  <a:pt x="46100" y="76200"/>
                </a:lnTo>
                <a:lnTo>
                  <a:pt x="46100" y="74589"/>
                </a:lnTo>
                <a:close/>
              </a:path>
              <a:path w="76200" h="2287904">
                <a:moveTo>
                  <a:pt x="38100" y="0"/>
                </a:moveTo>
                <a:lnTo>
                  <a:pt x="23306" y="3006"/>
                </a:lnTo>
                <a:lnTo>
                  <a:pt x="11191" y="11191"/>
                </a:lnTo>
                <a:lnTo>
                  <a:pt x="3006" y="23306"/>
                </a:lnTo>
                <a:lnTo>
                  <a:pt x="0" y="38100"/>
                </a:lnTo>
                <a:lnTo>
                  <a:pt x="3006" y="52947"/>
                </a:lnTo>
                <a:lnTo>
                  <a:pt x="11191" y="65055"/>
                </a:lnTo>
                <a:lnTo>
                  <a:pt x="23306" y="73211"/>
                </a:lnTo>
                <a:lnTo>
                  <a:pt x="30225" y="74609"/>
                </a:lnTo>
                <a:lnTo>
                  <a:pt x="30225" y="38100"/>
                </a:lnTo>
                <a:lnTo>
                  <a:pt x="76200" y="38100"/>
                </a:lnTo>
                <a:lnTo>
                  <a:pt x="73211" y="23306"/>
                </a:lnTo>
                <a:lnTo>
                  <a:pt x="65055" y="11191"/>
                </a:lnTo>
                <a:lnTo>
                  <a:pt x="52947" y="3006"/>
                </a:lnTo>
                <a:lnTo>
                  <a:pt x="38100" y="0"/>
                </a:lnTo>
                <a:close/>
              </a:path>
              <a:path w="76200" h="2287904">
                <a:moveTo>
                  <a:pt x="76200" y="38100"/>
                </a:moveTo>
                <a:lnTo>
                  <a:pt x="46100" y="38100"/>
                </a:lnTo>
                <a:lnTo>
                  <a:pt x="46100" y="74589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827017" y="5494528"/>
            <a:ext cx="76200" cy="2393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581400" y="4722367"/>
            <a:ext cx="571500" cy="770255"/>
          </a:xfrm>
          <a:custGeom>
            <a:avLst/>
            <a:gdLst/>
            <a:ahLst/>
            <a:cxnLst/>
            <a:rect l="l" t="t" r="r" b="b"/>
            <a:pathLst>
              <a:path w="571500" h="770254">
                <a:moveTo>
                  <a:pt x="0" y="0"/>
                </a:moveTo>
                <a:lnTo>
                  <a:pt x="2539" y="370839"/>
                </a:lnTo>
                <a:lnTo>
                  <a:pt x="9332" y="418602"/>
                </a:lnTo>
                <a:lnTo>
                  <a:pt x="23459" y="467930"/>
                </a:lnTo>
                <a:lnTo>
                  <a:pt x="43753" y="517534"/>
                </a:lnTo>
                <a:lnTo>
                  <a:pt x="69046" y="566127"/>
                </a:lnTo>
                <a:lnTo>
                  <a:pt x="98172" y="612420"/>
                </a:lnTo>
                <a:lnTo>
                  <a:pt x="129963" y="655124"/>
                </a:lnTo>
                <a:lnTo>
                  <a:pt x="163251" y="692953"/>
                </a:lnTo>
                <a:lnTo>
                  <a:pt x="196870" y="724618"/>
                </a:lnTo>
                <a:lnTo>
                  <a:pt x="229652" y="748831"/>
                </a:lnTo>
                <a:lnTo>
                  <a:pt x="288036" y="769746"/>
                </a:lnTo>
                <a:lnTo>
                  <a:pt x="315581" y="764137"/>
                </a:lnTo>
                <a:lnTo>
                  <a:pt x="378660" y="723423"/>
                </a:lnTo>
                <a:lnTo>
                  <a:pt x="411856" y="691094"/>
                </a:lnTo>
                <a:lnTo>
                  <a:pt x="444600" y="652634"/>
                </a:lnTo>
                <a:lnTo>
                  <a:pt x="475725" y="609431"/>
                </a:lnTo>
                <a:lnTo>
                  <a:pt x="504060" y="562873"/>
                </a:lnTo>
                <a:lnTo>
                  <a:pt x="528440" y="514347"/>
                </a:lnTo>
                <a:lnTo>
                  <a:pt x="547697" y="465240"/>
                </a:lnTo>
                <a:lnTo>
                  <a:pt x="560661" y="416942"/>
                </a:lnTo>
                <a:lnTo>
                  <a:pt x="566165" y="370839"/>
                </a:lnTo>
                <a:lnTo>
                  <a:pt x="571246" y="126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581400" y="4722367"/>
            <a:ext cx="571500" cy="770255"/>
          </a:xfrm>
          <a:custGeom>
            <a:avLst/>
            <a:gdLst/>
            <a:ahLst/>
            <a:cxnLst/>
            <a:rect l="l" t="t" r="r" b="b"/>
            <a:pathLst>
              <a:path w="571500" h="770254">
                <a:moveTo>
                  <a:pt x="571246" y="126"/>
                </a:moveTo>
                <a:lnTo>
                  <a:pt x="566165" y="370839"/>
                </a:lnTo>
                <a:lnTo>
                  <a:pt x="560661" y="416942"/>
                </a:lnTo>
                <a:lnTo>
                  <a:pt x="547697" y="465240"/>
                </a:lnTo>
                <a:lnTo>
                  <a:pt x="528440" y="514347"/>
                </a:lnTo>
                <a:lnTo>
                  <a:pt x="504060" y="562873"/>
                </a:lnTo>
                <a:lnTo>
                  <a:pt x="475725" y="609431"/>
                </a:lnTo>
                <a:lnTo>
                  <a:pt x="444600" y="652634"/>
                </a:lnTo>
                <a:lnTo>
                  <a:pt x="411856" y="691094"/>
                </a:lnTo>
                <a:lnTo>
                  <a:pt x="378660" y="723423"/>
                </a:lnTo>
                <a:lnTo>
                  <a:pt x="346179" y="748233"/>
                </a:lnTo>
                <a:lnTo>
                  <a:pt x="288036" y="769746"/>
                </a:lnTo>
                <a:lnTo>
                  <a:pt x="260430" y="764303"/>
                </a:lnTo>
                <a:lnTo>
                  <a:pt x="196870" y="724618"/>
                </a:lnTo>
                <a:lnTo>
                  <a:pt x="163251" y="692953"/>
                </a:lnTo>
                <a:lnTo>
                  <a:pt x="129963" y="655124"/>
                </a:lnTo>
                <a:lnTo>
                  <a:pt x="98172" y="612420"/>
                </a:lnTo>
                <a:lnTo>
                  <a:pt x="69046" y="566127"/>
                </a:lnTo>
                <a:lnTo>
                  <a:pt x="43753" y="517534"/>
                </a:lnTo>
                <a:lnTo>
                  <a:pt x="23459" y="467930"/>
                </a:lnTo>
                <a:lnTo>
                  <a:pt x="9332" y="418602"/>
                </a:lnTo>
                <a:lnTo>
                  <a:pt x="2539" y="370839"/>
                </a:lnTo>
                <a:lnTo>
                  <a:pt x="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581400" y="4716907"/>
            <a:ext cx="571500" cy="81915"/>
          </a:xfrm>
          <a:custGeom>
            <a:avLst/>
            <a:gdLst/>
            <a:ahLst/>
            <a:cxnLst/>
            <a:rect l="l" t="t" r="r" b="b"/>
            <a:pathLst>
              <a:path w="571500" h="81914">
                <a:moveTo>
                  <a:pt x="0" y="0"/>
                </a:moveTo>
                <a:lnTo>
                  <a:pt x="39459" y="40066"/>
                </a:lnTo>
                <a:lnTo>
                  <a:pt x="81426" y="55113"/>
                </a:lnTo>
                <a:lnTo>
                  <a:pt x="131677" y="66829"/>
                </a:lnTo>
                <a:lnTo>
                  <a:pt x="185307" y="75205"/>
                </a:lnTo>
                <a:lnTo>
                  <a:pt x="237410" y="80236"/>
                </a:lnTo>
                <a:lnTo>
                  <a:pt x="283083" y="81915"/>
                </a:lnTo>
                <a:lnTo>
                  <a:pt x="328996" y="80243"/>
                </a:lnTo>
                <a:lnTo>
                  <a:pt x="381810" y="75228"/>
                </a:lnTo>
                <a:lnTo>
                  <a:pt x="436434" y="66869"/>
                </a:lnTo>
                <a:lnTo>
                  <a:pt x="487780" y="55167"/>
                </a:lnTo>
                <a:lnTo>
                  <a:pt x="530757" y="40121"/>
                </a:lnTo>
                <a:lnTo>
                  <a:pt x="560275" y="21732"/>
                </a:lnTo>
                <a:lnTo>
                  <a:pt x="571246" y="0"/>
                </a:lnTo>
              </a:path>
            </a:pathLst>
          </a:custGeom>
          <a:ln w="15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824729" y="3390900"/>
            <a:ext cx="76200" cy="1373505"/>
          </a:xfrm>
          <a:custGeom>
            <a:avLst/>
            <a:gdLst/>
            <a:ahLst/>
            <a:cxnLst/>
            <a:rect l="l" t="t" r="r" b="b"/>
            <a:pathLst>
              <a:path w="76200" h="1373504">
                <a:moveTo>
                  <a:pt x="30225" y="74615"/>
                </a:moveTo>
                <a:lnTo>
                  <a:pt x="30225" y="1373124"/>
                </a:lnTo>
                <a:lnTo>
                  <a:pt x="46100" y="1373124"/>
                </a:lnTo>
                <a:lnTo>
                  <a:pt x="46100" y="76200"/>
                </a:lnTo>
                <a:lnTo>
                  <a:pt x="38100" y="76200"/>
                </a:lnTo>
                <a:lnTo>
                  <a:pt x="30225" y="74615"/>
                </a:lnTo>
                <a:close/>
              </a:path>
              <a:path w="76200" h="1373504">
                <a:moveTo>
                  <a:pt x="46100" y="38100"/>
                </a:moveTo>
                <a:lnTo>
                  <a:pt x="30225" y="38100"/>
                </a:lnTo>
                <a:lnTo>
                  <a:pt x="30225" y="74615"/>
                </a:lnTo>
                <a:lnTo>
                  <a:pt x="38100" y="76200"/>
                </a:lnTo>
                <a:lnTo>
                  <a:pt x="45974" y="74615"/>
                </a:lnTo>
                <a:lnTo>
                  <a:pt x="46100" y="38100"/>
                </a:lnTo>
                <a:close/>
              </a:path>
              <a:path w="76200" h="1373504">
                <a:moveTo>
                  <a:pt x="46100" y="74589"/>
                </a:moveTo>
                <a:lnTo>
                  <a:pt x="38100" y="76200"/>
                </a:lnTo>
                <a:lnTo>
                  <a:pt x="46100" y="76200"/>
                </a:lnTo>
                <a:lnTo>
                  <a:pt x="46100" y="74589"/>
                </a:lnTo>
                <a:close/>
              </a:path>
              <a:path w="76200" h="1373504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0225" y="74615"/>
                </a:lnTo>
                <a:lnTo>
                  <a:pt x="30225" y="38100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76200" h="1373504">
                <a:moveTo>
                  <a:pt x="76200" y="38100"/>
                </a:moveTo>
                <a:lnTo>
                  <a:pt x="46100" y="38100"/>
                </a:lnTo>
                <a:lnTo>
                  <a:pt x="46100" y="74589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169280" y="1866900"/>
            <a:ext cx="76200" cy="2900680"/>
          </a:xfrm>
          <a:custGeom>
            <a:avLst/>
            <a:gdLst/>
            <a:ahLst/>
            <a:cxnLst/>
            <a:rect l="l" t="t" r="r" b="b"/>
            <a:pathLst>
              <a:path w="76200" h="2900679">
                <a:moveTo>
                  <a:pt x="30226" y="74609"/>
                </a:moveTo>
                <a:lnTo>
                  <a:pt x="30226" y="2900172"/>
                </a:lnTo>
                <a:lnTo>
                  <a:pt x="46101" y="2900172"/>
                </a:lnTo>
                <a:lnTo>
                  <a:pt x="46101" y="76200"/>
                </a:lnTo>
                <a:lnTo>
                  <a:pt x="38100" y="76200"/>
                </a:lnTo>
                <a:lnTo>
                  <a:pt x="30226" y="74609"/>
                </a:lnTo>
                <a:close/>
              </a:path>
              <a:path w="76200" h="2900679">
                <a:moveTo>
                  <a:pt x="46101" y="38100"/>
                </a:moveTo>
                <a:lnTo>
                  <a:pt x="30226" y="38100"/>
                </a:lnTo>
                <a:lnTo>
                  <a:pt x="30226" y="74609"/>
                </a:lnTo>
                <a:lnTo>
                  <a:pt x="38100" y="76200"/>
                </a:lnTo>
                <a:lnTo>
                  <a:pt x="46002" y="74609"/>
                </a:lnTo>
                <a:lnTo>
                  <a:pt x="46101" y="38100"/>
                </a:lnTo>
                <a:close/>
              </a:path>
              <a:path w="76200" h="2900679">
                <a:moveTo>
                  <a:pt x="46101" y="74589"/>
                </a:moveTo>
                <a:lnTo>
                  <a:pt x="38100" y="76200"/>
                </a:lnTo>
                <a:lnTo>
                  <a:pt x="46101" y="76200"/>
                </a:lnTo>
                <a:lnTo>
                  <a:pt x="46101" y="74589"/>
                </a:lnTo>
                <a:close/>
              </a:path>
              <a:path w="76200" h="2900679">
                <a:moveTo>
                  <a:pt x="38100" y="0"/>
                </a:moveTo>
                <a:lnTo>
                  <a:pt x="23306" y="2988"/>
                </a:lnTo>
                <a:lnTo>
                  <a:pt x="11191" y="11144"/>
                </a:lnTo>
                <a:lnTo>
                  <a:pt x="3006" y="23252"/>
                </a:lnTo>
                <a:lnTo>
                  <a:pt x="0" y="38100"/>
                </a:lnTo>
                <a:lnTo>
                  <a:pt x="3006" y="52947"/>
                </a:lnTo>
                <a:lnTo>
                  <a:pt x="11191" y="65055"/>
                </a:lnTo>
                <a:lnTo>
                  <a:pt x="23306" y="73211"/>
                </a:lnTo>
                <a:lnTo>
                  <a:pt x="30226" y="74609"/>
                </a:lnTo>
                <a:lnTo>
                  <a:pt x="30226" y="38100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76200" h="2900679">
                <a:moveTo>
                  <a:pt x="76200" y="38100"/>
                </a:moveTo>
                <a:lnTo>
                  <a:pt x="46101" y="38100"/>
                </a:lnTo>
                <a:lnTo>
                  <a:pt x="46101" y="74589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169405" y="4076700"/>
            <a:ext cx="76200" cy="632460"/>
          </a:xfrm>
          <a:custGeom>
            <a:avLst/>
            <a:gdLst/>
            <a:ahLst/>
            <a:cxnLst/>
            <a:rect l="l" t="t" r="r" b="b"/>
            <a:pathLst>
              <a:path w="76200" h="632460">
                <a:moveTo>
                  <a:pt x="30099" y="74589"/>
                </a:moveTo>
                <a:lnTo>
                  <a:pt x="30099" y="632460"/>
                </a:lnTo>
                <a:lnTo>
                  <a:pt x="45974" y="632460"/>
                </a:lnTo>
                <a:lnTo>
                  <a:pt x="45974" y="76200"/>
                </a:lnTo>
                <a:lnTo>
                  <a:pt x="38100" y="76200"/>
                </a:lnTo>
                <a:lnTo>
                  <a:pt x="30099" y="74589"/>
                </a:lnTo>
                <a:close/>
              </a:path>
              <a:path w="76200" h="632460">
                <a:moveTo>
                  <a:pt x="45974" y="38100"/>
                </a:moveTo>
                <a:lnTo>
                  <a:pt x="30099" y="38100"/>
                </a:lnTo>
                <a:lnTo>
                  <a:pt x="30225" y="74615"/>
                </a:lnTo>
                <a:lnTo>
                  <a:pt x="38100" y="76200"/>
                </a:lnTo>
                <a:lnTo>
                  <a:pt x="45974" y="74615"/>
                </a:lnTo>
                <a:lnTo>
                  <a:pt x="45974" y="38100"/>
                </a:lnTo>
                <a:close/>
              </a:path>
              <a:path w="76200" h="632460">
                <a:moveTo>
                  <a:pt x="45974" y="74615"/>
                </a:moveTo>
                <a:lnTo>
                  <a:pt x="38100" y="76200"/>
                </a:lnTo>
                <a:lnTo>
                  <a:pt x="45974" y="76200"/>
                </a:lnTo>
                <a:lnTo>
                  <a:pt x="45974" y="74615"/>
                </a:lnTo>
                <a:close/>
              </a:path>
              <a:path w="76200" h="632460">
                <a:moveTo>
                  <a:pt x="76200" y="38100"/>
                </a:moveTo>
                <a:lnTo>
                  <a:pt x="45974" y="38100"/>
                </a:lnTo>
                <a:lnTo>
                  <a:pt x="45974" y="74615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close/>
              </a:path>
              <a:path w="76200" h="63246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0099" y="74589"/>
                </a:lnTo>
                <a:lnTo>
                  <a:pt x="30099" y="38100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595491" y="1562100"/>
            <a:ext cx="76200" cy="3175000"/>
          </a:xfrm>
          <a:custGeom>
            <a:avLst/>
            <a:gdLst/>
            <a:ahLst/>
            <a:cxnLst/>
            <a:rect l="l" t="t" r="r" b="b"/>
            <a:pathLst>
              <a:path w="76200" h="3175000">
                <a:moveTo>
                  <a:pt x="30099" y="74589"/>
                </a:moveTo>
                <a:lnTo>
                  <a:pt x="30099" y="3174492"/>
                </a:lnTo>
                <a:lnTo>
                  <a:pt x="45974" y="3174492"/>
                </a:lnTo>
                <a:lnTo>
                  <a:pt x="45974" y="76200"/>
                </a:lnTo>
                <a:lnTo>
                  <a:pt x="38100" y="76200"/>
                </a:lnTo>
                <a:lnTo>
                  <a:pt x="30099" y="74589"/>
                </a:lnTo>
                <a:close/>
              </a:path>
              <a:path w="76200" h="3175000">
                <a:moveTo>
                  <a:pt x="45974" y="38100"/>
                </a:moveTo>
                <a:lnTo>
                  <a:pt x="30099" y="38100"/>
                </a:lnTo>
                <a:lnTo>
                  <a:pt x="30197" y="74609"/>
                </a:lnTo>
                <a:lnTo>
                  <a:pt x="38100" y="76200"/>
                </a:lnTo>
                <a:lnTo>
                  <a:pt x="45974" y="74609"/>
                </a:lnTo>
                <a:lnTo>
                  <a:pt x="45974" y="38100"/>
                </a:lnTo>
                <a:close/>
              </a:path>
              <a:path w="76200" h="3175000">
                <a:moveTo>
                  <a:pt x="45974" y="74609"/>
                </a:moveTo>
                <a:lnTo>
                  <a:pt x="38100" y="76200"/>
                </a:lnTo>
                <a:lnTo>
                  <a:pt x="45974" y="76200"/>
                </a:lnTo>
                <a:lnTo>
                  <a:pt x="45974" y="74609"/>
                </a:lnTo>
                <a:close/>
              </a:path>
              <a:path w="76200" h="3175000">
                <a:moveTo>
                  <a:pt x="76200" y="38100"/>
                </a:moveTo>
                <a:lnTo>
                  <a:pt x="45974" y="38100"/>
                </a:lnTo>
                <a:lnTo>
                  <a:pt x="45974" y="74609"/>
                </a:lnTo>
                <a:lnTo>
                  <a:pt x="52893" y="73211"/>
                </a:lnTo>
                <a:lnTo>
                  <a:pt x="65008" y="65055"/>
                </a:lnTo>
                <a:lnTo>
                  <a:pt x="73193" y="52947"/>
                </a:lnTo>
                <a:lnTo>
                  <a:pt x="76200" y="38100"/>
                </a:lnTo>
                <a:close/>
              </a:path>
              <a:path w="76200" h="31750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0099" y="74589"/>
                </a:lnTo>
                <a:lnTo>
                  <a:pt x="30099" y="38100"/>
                </a:lnTo>
                <a:lnTo>
                  <a:pt x="76200" y="38100"/>
                </a:lnTo>
                <a:lnTo>
                  <a:pt x="73193" y="23252"/>
                </a:lnTo>
                <a:lnTo>
                  <a:pt x="65008" y="11144"/>
                </a:lnTo>
                <a:lnTo>
                  <a:pt x="52893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386448" y="5456046"/>
            <a:ext cx="76200" cy="2393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140830" y="4683886"/>
            <a:ext cx="571500" cy="770255"/>
          </a:xfrm>
          <a:custGeom>
            <a:avLst/>
            <a:gdLst/>
            <a:ahLst/>
            <a:cxnLst/>
            <a:rect l="l" t="t" r="r" b="b"/>
            <a:pathLst>
              <a:path w="571500" h="770254">
                <a:moveTo>
                  <a:pt x="0" y="0"/>
                </a:moveTo>
                <a:lnTo>
                  <a:pt x="2540" y="370839"/>
                </a:lnTo>
                <a:lnTo>
                  <a:pt x="9332" y="418602"/>
                </a:lnTo>
                <a:lnTo>
                  <a:pt x="23459" y="467930"/>
                </a:lnTo>
                <a:lnTo>
                  <a:pt x="43753" y="517534"/>
                </a:lnTo>
                <a:lnTo>
                  <a:pt x="69046" y="566127"/>
                </a:lnTo>
                <a:lnTo>
                  <a:pt x="98172" y="612420"/>
                </a:lnTo>
                <a:lnTo>
                  <a:pt x="129963" y="655124"/>
                </a:lnTo>
                <a:lnTo>
                  <a:pt x="163251" y="692953"/>
                </a:lnTo>
                <a:lnTo>
                  <a:pt x="196870" y="724618"/>
                </a:lnTo>
                <a:lnTo>
                  <a:pt x="229652" y="748831"/>
                </a:lnTo>
                <a:lnTo>
                  <a:pt x="288036" y="769747"/>
                </a:lnTo>
                <a:lnTo>
                  <a:pt x="315581" y="764137"/>
                </a:lnTo>
                <a:lnTo>
                  <a:pt x="378660" y="723423"/>
                </a:lnTo>
                <a:lnTo>
                  <a:pt x="411856" y="691094"/>
                </a:lnTo>
                <a:lnTo>
                  <a:pt x="444600" y="652634"/>
                </a:lnTo>
                <a:lnTo>
                  <a:pt x="475725" y="609431"/>
                </a:lnTo>
                <a:lnTo>
                  <a:pt x="504060" y="562873"/>
                </a:lnTo>
                <a:lnTo>
                  <a:pt x="528440" y="514347"/>
                </a:lnTo>
                <a:lnTo>
                  <a:pt x="547697" y="465240"/>
                </a:lnTo>
                <a:lnTo>
                  <a:pt x="560661" y="416942"/>
                </a:lnTo>
                <a:lnTo>
                  <a:pt x="566166" y="370839"/>
                </a:lnTo>
                <a:lnTo>
                  <a:pt x="571119" y="126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140830" y="4683886"/>
            <a:ext cx="571500" cy="770255"/>
          </a:xfrm>
          <a:custGeom>
            <a:avLst/>
            <a:gdLst/>
            <a:ahLst/>
            <a:cxnLst/>
            <a:rect l="l" t="t" r="r" b="b"/>
            <a:pathLst>
              <a:path w="571500" h="770254">
                <a:moveTo>
                  <a:pt x="571119" y="126"/>
                </a:moveTo>
                <a:lnTo>
                  <a:pt x="566166" y="370839"/>
                </a:lnTo>
                <a:lnTo>
                  <a:pt x="560661" y="416942"/>
                </a:lnTo>
                <a:lnTo>
                  <a:pt x="547697" y="465240"/>
                </a:lnTo>
                <a:lnTo>
                  <a:pt x="528440" y="514347"/>
                </a:lnTo>
                <a:lnTo>
                  <a:pt x="504060" y="562873"/>
                </a:lnTo>
                <a:lnTo>
                  <a:pt x="475725" y="609431"/>
                </a:lnTo>
                <a:lnTo>
                  <a:pt x="444600" y="652634"/>
                </a:lnTo>
                <a:lnTo>
                  <a:pt x="411856" y="691094"/>
                </a:lnTo>
                <a:lnTo>
                  <a:pt x="378660" y="723423"/>
                </a:lnTo>
                <a:lnTo>
                  <a:pt x="346179" y="748233"/>
                </a:lnTo>
                <a:lnTo>
                  <a:pt x="288036" y="769747"/>
                </a:lnTo>
                <a:lnTo>
                  <a:pt x="260430" y="764303"/>
                </a:lnTo>
                <a:lnTo>
                  <a:pt x="196870" y="724618"/>
                </a:lnTo>
                <a:lnTo>
                  <a:pt x="163251" y="692953"/>
                </a:lnTo>
                <a:lnTo>
                  <a:pt x="129963" y="655124"/>
                </a:lnTo>
                <a:lnTo>
                  <a:pt x="98172" y="612420"/>
                </a:lnTo>
                <a:lnTo>
                  <a:pt x="69046" y="566127"/>
                </a:lnTo>
                <a:lnTo>
                  <a:pt x="43753" y="517534"/>
                </a:lnTo>
                <a:lnTo>
                  <a:pt x="23459" y="467930"/>
                </a:lnTo>
                <a:lnTo>
                  <a:pt x="9332" y="418602"/>
                </a:lnTo>
                <a:lnTo>
                  <a:pt x="2540" y="370839"/>
                </a:lnTo>
                <a:lnTo>
                  <a:pt x="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140830" y="4678298"/>
            <a:ext cx="571500" cy="82550"/>
          </a:xfrm>
          <a:custGeom>
            <a:avLst/>
            <a:gdLst/>
            <a:ahLst/>
            <a:cxnLst/>
            <a:rect l="l" t="t" r="r" b="b"/>
            <a:pathLst>
              <a:path w="571500" h="82550">
                <a:moveTo>
                  <a:pt x="0" y="0"/>
                </a:moveTo>
                <a:lnTo>
                  <a:pt x="39459" y="40146"/>
                </a:lnTo>
                <a:lnTo>
                  <a:pt x="81426" y="55217"/>
                </a:lnTo>
                <a:lnTo>
                  <a:pt x="131677" y="66946"/>
                </a:lnTo>
                <a:lnTo>
                  <a:pt x="185307" y="75329"/>
                </a:lnTo>
                <a:lnTo>
                  <a:pt x="237410" y="80363"/>
                </a:lnTo>
                <a:lnTo>
                  <a:pt x="283083" y="82042"/>
                </a:lnTo>
                <a:lnTo>
                  <a:pt x="328996" y="80370"/>
                </a:lnTo>
                <a:lnTo>
                  <a:pt x="381810" y="75355"/>
                </a:lnTo>
                <a:lnTo>
                  <a:pt x="436434" y="66996"/>
                </a:lnTo>
                <a:lnTo>
                  <a:pt x="487780" y="55294"/>
                </a:lnTo>
                <a:lnTo>
                  <a:pt x="530757" y="40248"/>
                </a:lnTo>
                <a:lnTo>
                  <a:pt x="560275" y="21859"/>
                </a:lnTo>
                <a:lnTo>
                  <a:pt x="571246" y="126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600580" y="4075048"/>
            <a:ext cx="6896100" cy="76200"/>
          </a:xfrm>
          <a:custGeom>
            <a:avLst/>
            <a:gdLst/>
            <a:ahLst/>
            <a:cxnLst/>
            <a:rect l="l" t="t" r="r" b="b"/>
            <a:pathLst>
              <a:path w="6896100" h="76200">
                <a:moveTo>
                  <a:pt x="38100" y="0"/>
                </a:moveTo>
                <a:lnTo>
                  <a:pt x="23306" y="3006"/>
                </a:lnTo>
                <a:lnTo>
                  <a:pt x="11191" y="11191"/>
                </a:lnTo>
                <a:lnTo>
                  <a:pt x="3006" y="23306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67"/>
                </a:lnTo>
                <a:lnTo>
                  <a:pt x="65055" y="65119"/>
                </a:lnTo>
                <a:lnTo>
                  <a:pt x="73211" y="53018"/>
                </a:lnTo>
                <a:lnTo>
                  <a:pt x="74607" y="46109"/>
                </a:lnTo>
                <a:lnTo>
                  <a:pt x="38100" y="46100"/>
                </a:lnTo>
                <a:lnTo>
                  <a:pt x="38100" y="30225"/>
                </a:lnTo>
                <a:lnTo>
                  <a:pt x="74589" y="30225"/>
                </a:lnTo>
                <a:lnTo>
                  <a:pt x="73211" y="23377"/>
                </a:lnTo>
                <a:lnTo>
                  <a:pt x="65055" y="11255"/>
                </a:lnTo>
                <a:lnTo>
                  <a:pt x="52947" y="3061"/>
                </a:lnTo>
                <a:lnTo>
                  <a:pt x="38100" y="0"/>
                </a:lnTo>
                <a:close/>
              </a:path>
              <a:path w="6896100" h="76200">
                <a:moveTo>
                  <a:pt x="74591" y="30234"/>
                </a:moveTo>
                <a:lnTo>
                  <a:pt x="76200" y="38226"/>
                </a:lnTo>
                <a:lnTo>
                  <a:pt x="74607" y="46109"/>
                </a:lnTo>
                <a:lnTo>
                  <a:pt x="6896100" y="47625"/>
                </a:lnTo>
                <a:lnTo>
                  <a:pt x="6896100" y="31750"/>
                </a:lnTo>
                <a:lnTo>
                  <a:pt x="74591" y="30234"/>
                </a:lnTo>
                <a:close/>
              </a:path>
              <a:path w="6896100" h="76200">
                <a:moveTo>
                  <a:pt x="38100" y="30225"/>
                </a:moveTo>
                <a:lnTo>
                  <a:pt x="38100" y="46100"/>
                </a:lnTo>
                <a:lnTo>
                  <a:pt x="74609" y="46100"/>
                </a:lnTo>
                <a:lnTo>
                  <a:pt x="76200" y="38226"/>
                </a:lnTo>
                <a:lnTo>
                  <a:pt x="74591" y="30234"/>
                </a:lnTo>
                <a:lnTo>
                  <a:pt x="38100" y="30225"/>
                </a:lnTo>
                <a:close/>
              </a:path>
              <a:path w="6896100" h="76200">
                <a:moveTo>
                  <a:pt x="74589" y="30225"/>
                </a:moveTo>
                <a:lnTo>
                  <a:pt x="38100" y="30225"/>
                </a:lnTo>
                <a:lnTo>
                  <a:pt x="74591" y="302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38174" y="4077461"/>
            <a:ext cx="495934" cy="76200"/>
          </a:xfrm>
          <a:custGeom>
            <a:avLst/>
            <a:gdLst/>
            <a:ahLst/>
            <a:cxnLst/>
            <a:rect l="l" t="t" r="r" b="b"/>
            <a:pathLst>
              <a:path w="495934" h="76200">
                <a:moveTo>
                  <a:pt x="457352" y="0"/>
                </a:moveTo>
                <a:lnTo>
                  <a:pt x="442496" y="2986"/>
                </a:lnTo>
                <a:lnTo>
                  <a:pt x="430361" y="11128"/>
                </a:lnTo>
                <a:lnTo>
                  <a:pt x="422165" y="23199"/>
                </a:lnTo>
                <a:lnTo>
                  <a:pt x="420746" y="30094"/>
                </a:lnTo>
                <a:lnTo>
                  <a:pt x="457225" y="30225"/>
                </a:lnTo>
                <a:lnTo>
                  <a:pt x="457225" y="46100"/>
                </a:lnTo>
                <a:lnTo>
                  <a:pt x="420730" y="46100"/>
                </a:lnTo>
                <a:lnTo>
                  <a:pt x="422061" y="52839"/>
                </a:lnTo>
                <a:lnTo>
                  <a:pt x="430177" y="64992"/>
                </a:lnTo>
                <a:lnTo>
                  <a:pt x="442260" y="73191"/>
                </a:lnTo>
                <a:lnTo>
                  <a:pt x="457098" y="76200"/>
                </a:lnTo>
                <a:lnTo>
                  <a:pt x="471947" y="73284"/>
                </a:lnTo>
                <a:lnTo>
                  <a:pt x="484070" y="65166"/>
                </a:lnTo>
                <a:lnTo>
                  <a:pt x="492263" y="53072"/>
                </a:lnTo>
                <a:lnTo>
                  <a:pt x="493701" y="46100"/>
                </a:lnTo>
                <a:lnTo>
                  <a:pt x="457225" y="46100"/>
                </a:lnTo>
                <a:lnTo>
                  <a:pt x="493728" y="45969"/>
                </a:lnTo>
                <a:lnTo>
                  <a:pt x="495325" y="38226"/>
                </a:lnTo>
                <a:lnTo>
                  <a:pt x="492410" y="23431"/>
                </a:lnTo>
                <a:lnTo>
                  <a:pt x="484292" y="11303"/>
                </a:lnTo>
                <a:lnTo>
                  <a:pt x="472197" y="3079"/>
                </a:lnTo>
                <a:lnTo>
                  <a:pt x="457352" y="0"/>
                </a:lnTo>
                <a:close/>
              </a:path>
              <a:path w="495934" h="76200">
                <a:moveTo>
                  <a:pt x="420746" y="30094"/>
                </a:moveTo>
                <a:lnTo>
                  <a:pt x="419125" y="37973"/>
                </a:lnTo>
                <a:lnTo>
                  <a:pt x="420704" y="45969"/>
                </a:lnTo>
                <a:lnTo>
                  <a:pt x="457225" y="46100"/>
                </a:lnTo>
                <a:lnTo>
                  <a:pt x="457225" y="30225"/>
                </a:lnTo>
                <a:lnTo>
                  <a:pt x="420746" y="30094"/>
                </a:lnTo>
                <a:close/>
              </a:path>
              <a:path w="495934" h="76200">
                <a:moveTo>
                  <a:pt x="50" y="28575"/>
                </a:moveTo>
                <a:lnTo>
                  <a:pt x="0" y="44450"/>
                </a:lnTo>
                <a:lnTo>
                  <a:pt x="420704" y="45969"/>
                </a:lnTo>
                <a:lnTo>
                  <a:pt x="419125" y="37973"/>
                </a:lnTo>
                <a:lnTo>
                  <a:pt x="420746" y="30094"/>
                </a:lnTo>
                <a:lnTo>
                  <a:pt x="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219200" y="4028185"/>
            <a:ext cx="533400" cy="1905"/>
          </a:xfrm>
          <a:custGeom>
            <a:avLst/>
            <a:gdLst/>
            <a:ahLst/>
            <a:cxnLst/>
            <a:rect l="l" t="t" r="r" b="b"/>
            <a:pathLst>
              <a:path w="533400" h="1904">
                <a:moveTo>
                  <a:pt x="0" y="0"/>
                </a:moveTo>
                <a:lnTo>
                  <a:pt x="533400" y="1650"/>
                </a:lnTo>
              </a:path>
            </a:pathLst>
          </a:custGeom>
          <a:ln w="15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486280" y="3800347"/>
            <a:ext cx="1905" cy="228600"/>
          </a:xfrm>
          <a:custGeom>
            <a:avLst/>
            <a:gdLst/>
            <a:ahLst/>
            <a:cxnLst/>
            <a:rect l="l" t="t" r="r" b="b"/>
            <a:pathLst>
              <a:path w="1905" h="228600">
                <a:moveTo>
                  <a:pt x="0" y="228600"/>
                </a:moveTo>
                <a:lnTo>
                  <a:pt x="1650" y="0"/>
                </a:lnTo>
              </a:path>
            </a:pathLst>
          </a:custGeom>
          <a:ln w="15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848100" y="2781300"/>
            <a:ext cx="76200" cy="2018030"/>
          </a:xfrm>
          <a:custGeom>
            <a:avLst/>
            <a:gdLst/>
            <a:ahLst/>
            <a:cxnLst/>
            <a:rect l="l" t="t" r="r" b="b"/>
            <a:pathLst>
              <a:path w="76200" h="2018029">
                <a:moveTo>
                  <a:pt x="30099" y="74589"/>
                </a:moveTo>
                <a:lnTo>
                  <a:pt x="30099" y="2017522"/>
                </a:lnTo>
                <a:lnTo>
                  <a:pt x="45974" y="2017522"/>
                </a:lnTo>
                <a:lnTo>
                  <a:pt x="45974" y="76200"/>
                </a:lnTo>
                <a:lnTo>
                  <a:pt x="38100" y="76200"/>
                </a:lnTo>
                <a:lnTo>
                  <a:pt x="30099" y="74589"/>
                </a:lnTo>
                <a:close/>
              </a:path>
              <a:path w="76200" h="2018029">
                <a:moveTo>
                  <a:pt x="45974" y="38100"/>
                </a:moveTo>
                <a:lnTo>
                  <a:pt x="30099" y="38100"/>
                </a:lnTo>
                <a:lnTo>
                  <a:pt x="30225" y="74615"/>
                </a:lnTo>
                <a:lnTo>
                  <a:pt x="38100" y="76200"/>
                </a:lnTo>
                <a:lnTo>
                  <a:pt x="45974" y="74615"/>
                </a:lnTo>
                <a:lnTo>
                  <a:pt x="45974" y="38100"/>
                </a:lnTo>
                <a:close/>
              </a:path>
              <a:path w="76200" h="2018029">
                <a:moveTo>
                  <a:pt x="45974" y="74615"/>
                </a:moveTo>
                <a:lnTo>
                  <a:pt x="38100" y="76200"/>
                </a:lnTo>
                <a:lnTo>
                  <a:pt x="45974" y="76200"/>
                </a:lnTo>
                <a:lnTo>
                  <a:pt x="45974" y="74615"/>
                </a:lnTo>
                <a:close/>
              </a:path>
              <a:path w="76200" h="2018029">
                <a:moveTo>
                  <a:pt x="76200" y="38100"/>
                </a:moveTo>
                <a:lnTo>
                  <a:pt x="45974" y="38100"/>
                </a:lnTo>
                <a:lnTo>
                  <a:pt x="45974" y="74615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close/>
              </a:path>
              <a:path w="76200" h="2018029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0099" y="74589"/>
                </a:lnTo>
                <a:lnTo>
                  <a:pt x="30099" y="38100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726179" y="3086861"/>
            <a:ext cx="76200" cy="1714500"/>
          </a:xfrm>
          <a:custGeom>
            <a:avLst/>
            <a:gdLst/>
            <a:ahLst/>
            <a:cxnLst/>
            <a:rect l="l" t="t" r="r" b="b"/>
            <a:pathLst>
              <a:path w="76200" h="1714500">
                <a:moveTo>
                  <a:pt x="30065" y="74582"/>
                </a:moveTo>
                <a:lnTo>
                  <a:pt x="28575" y="1714500"/>
                </a:lnTo>
                <a:lnTo>
                  <a:pt x="44450" y="1714500"/>
                </a:lnTo>
                <a:lnTo>
                  <a:pt x="45939" y="76200"/>
                </a:lnTo>
                <a:lnTo>
                  <a:pt x="38100" y="76200"/>
                </a:lnTo>
                <a:lnTo>
                  <a:pt x="30065" y="74582"/>
                </a:lnTo>
                <a:close/>
              </a:path>
              <a:path w="76200" h="1714500">
                <a:moveTo>
                  <a:pt x="45974" y="38100"/>
                </a:moveTo>
                <a:lnTo>
                  <a:pt x="30099" y="38100"/>
                </a:lnTo>
                <a:lnTo>
                  <a:pt x="30065" y="74582"/>
                </a:lnTo>
                <a:lnTo>
                  <a:pt x="38100" y="76200"/>
                </a:lnTo>
                <a:lnTo>
                  <a:pt x="45940" y="74617"/>
                </a:lnTo>
                <a:lnTo>
                  <a:pt x="45974" y="38100"/>
                </a:lnTo>
                <a:close/>
              </a:path>
              <a:path w="76200" h="1714500">
                <a:moveTo>
                  <a:pt x="45940" y="74617"/>
                </a:moveTo>
                <a:lnTo>
                  <a:pt x="38100" y="76200"/>
                </a:lnTo>
                <a:lnTo>
                  <a:pt x="45939" y="76200"/>
                </a:lnTo>
                <a:lnTo>
                  <a:pt x="45940" y="74617"/>
                </a:lnTo>
                <a:close/>
              </a:path>
              <a:path w="76200" h="1714500">
                <a:moveTo>
                  <a:pt x="76174" y="38100"/>
                </a:moveTo>
                <a:lnTo>
                  <a:pt x="45974" y="38100"/>
                </a:lnTo>
                <a:lnTo>
                  <a:pt x="45940" y="74617"/>
                </a:lnTo>
                <a:lnTo>
                  <a:pt x="52896" y="73211"/>
                </a:lnTo>
                <a:lnTo>
                  <a:pt x="65018" y="65055"/>
                </a:lnTo>
                <a:lnTo>
                  <a:pt x="73193" y="53000"/>
                </a:lnTo>
                <a:lnTo>
                  <a:pt x="76200" y="38226"/>
                </a:lnTo>
                <a:close/>
              </a:path>
              <a:path w="76200" h="17145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67" y="65071"/>
                </a:lnTo>
                <a:lnTo>
                  <a:pt x="23262" y="73213"/>
                </a:lnTo>
                <a:lnTo>
                  <a:pt x="30065" y="74582"/>
                </a:lnTo>
                <a:lnTo>
                  <a:pt x="30099" y="38100"/>
                </a:lnTo>
                <a:lnTo>
                  <a:pt x="76174" y="38100"/>
                </a:lnTo>
                <a:lnTo>
                  <a:pt x="73211" y="23360"/>
                </a:lnTo>
                <a:lnTo>
                  <a:pt x="65055" y="11207"/>
                </a:lnTo>
                <a:lnTo>
                  <a:pt x="52947" y="3008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934203" y="3086100"/>
            <a:ext cx="76200" cy="1694814"/>
          </a:xfrm>
          <a:custGeom>
            <a:avLst/>
            <a:gdLst/>
            <a:ahLst/>
            <a:cxnLst/>
            <a:rect l="l" t="t" r="r" b="b"/>
            <a:pathLst>
              <a:path w="76200" h="1694814">
                <a:moveTo>
                  <a:pt x="30099" y="74589"/>
                </a:moveTo>
                <a:lnTo>
                  <a:pt x="30099" y="1694307"/>
                </a:lnTo>
                <a:lnTo>
                  <a:pt x="45974" y="1694307"/>
                </a:lnTo>
                <a:lnTo>
                  <a:pt x="45974" y="76200"/>
                </a:lnTo>
                <a:lnTo>
                  <a:pt x="38100" y="76200"/>
                </a:lnTo>
                <a:lnTo>
                  <a:pt x="30099" y="74589"/>
                </a:lnTo>
                <a:close/>
              </a:path>
              <a:path w="76200" h="1694814">
                <a:moveTo>
                  <a:pt x="45974" y="38100"/>
                </a:moveTo>
                <a:lnTo>
                  <a:pt x="30099" y="38100"/>
                </a:lnTo>
                <a:lnTo>
                  <a:pt x="30197" y="74609"/>
                </a:lnTo>
                <a:lnTo>
                  <a:pt x="38100" y="76200"/>
                </a:lnTo>
                <a:lnTo>
                  <a:pt x="45974" y="74609"/>
                </a:lnTo>
                <a:lnTo>
                  <a:pt x="45974" y="38100"/>
                </a:lnTo>
                <a:close/>
              </a:path>
              <a:path w="76200" h="1694814">
                <a:moveTo>
                  <a:pt x="45974" y="74609"/>
                </a:moveTo>
                <a:lnTo>
                  <a:pt x="38100" y="76200"/>
                </a:lnTo>
                <a:lnTo>
                  <a:pt x="45974" y="76200"/>
                </a:lnTo>
                <a:lnTo>
                  <a:pt x="45974" y="74609"/>
                </a:lnTo>
                <a:close/>
              </a:path>
              <a:path w="76200" h="1694814">
                <a:moveTo>
                  <a:pt x="76200" y="38100"/>
                </a:moveTo>
                <a:lnTo>
                  <a:pt x="45974" y="38100"/>
                </a:lnTo>
                <a:lnTo>
                  <a:pt x="45974" y="74609"/>
                </a:lnTo>
                <a:lnTo>
                  <a:pt x="52893" y="73211"/>
                </a:lnTo>
                <a:lnTo>
                  <a:pt x="65008" y="65055"/>
                </a:lnTo>
                <a:lnTo>
                  <a:pt x="73193" y="52947"/>
                </a:lnTo>
                <a:lnTo>
                  <a:pt x="76200" y="38100"/>
                </a:lnTo>
                <a:close/>
              </a:path>
              <a:path w="76200" h="1694814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0099" y="74589"/>
                </a:lnTo>
                <a:lnTo>
                  <a:pt x="30099" y="38100"/>
                </a:lnTo>
                <a:lnTo>
                  <a:pt x="76200" y="38100"/>
                </a:lnTo>
                <a:lnTo>
                  <a:pt x="73193" y="23252"/>
                </a:lnTo>
                <a:lnTo>
                  <a:pt x="65008" y="11144"/>
                </a:lnTo>
                <a:lnTo>
                  <a:pt x="52893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067300" y="2171700"/>
            <a:ext cx="76200" cy="2609215"/>
          </a:xfrm>
          <a:custGeom>
            <a:avLst/>
            <a:gdLst/>
            <a:ahLst/>
            <a:cxnLst/>
            <a:rect l="l" t="t" r="r" b="b"/>
            <a:pathLst>
              <a:path w="76200" h="2609215">
                <a:moveTo>
                  <a:pt x="30099" y="74589"/>
                </a:moveTo>
                <a:lnTo>
                  <a:pt x="30099" y="2608707"/>
                </a:lnTo>
                <a:lnTo>
                  <a:pt x="45974" y="2608707"/>
                </a:lnTo>
                <a:lnTo>
                  <a:pt x="45974" y="76200"/>
                </a:lnTo>
                <a:lnTo>
                  <a:pt x="38100" y="76200"/>
                </a:lnTo>
                <a:lnTo>
                  <a:pt x="30099" y="74589"/>
                </a:lnTo>
                <a:close/>
              </a:path>
              <a:path w="76200" h="2609215">
                <a:moveTo>
                  <a:pt x="45974" y="38100"/>
                </a:moveTo>
                <a:lnTo>
                  <a:pt x="30099" y="38100"/>
                </a:lnTo>
                <a:lnTo>
                  <a:pt x="30225" y="74615"/>
                </a:lnTo>
                <a:lnTo>
                  <a:pt x="38100" y="76200"/>
                </a:lnTo>
                <a:lnTo>
                  <a:pt x="45974" y="74615"/>
                </a:lnTo>
                <a:lnTo>
                  <a:pt x="45974" y="38100"/>
                </a:lnTo>
                <a:close/>
              </a:path>
              <a:path w="76200" h="2609215">
                <a:moveTo>
                  <a:pt x="45974" y="74615"/>
                </a:moveTo>
                <a:lnTo>
                  <a:pt x="38100" y="76200"/>
                </a:lnTo>
                <a:lnTo>
                  <a:pt x="45974" y="76200"/>
                </a:lnTo>
                <a:lnTo>
                  <a:pt x="45974" y="74615"/>
                </a:lnTo>
                <a:close/>
              </a:path>
              <a:path w="76200" h="2609215">
                <a:moveTo>
                  <a:pt x="76200" y="38100"/>
                </a:moveTo>
                <a:lnTo>
                  <a:pt x="45974" y="38100"/>
                </a:lnTo>
                <a:lnTo>
                  <a:pt x="45974" y="74615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close/>
              </a:path>
              <a:path w="76200" h="2609215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0099" y="74589"/>
                </a:lnTo>
                <a:lnTo>
                  <a:pt x="30099" y="38100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487033" y="2171700"/>
            <a:ext cx="76200" cy="2588895"/>
          </a:xfrm>
          <a:custGeom>
            <a:avLst/>
            <a:gdLst/>
            <a:ahLst/>
            <a:cxnLst/>
            <a:rect l="l" t="t" r="r" b="b"/>
            <a:pathLst>
              <a:path w="76200" h="2588895">
                <a:moveTo>
                  <a:pt x="30098" y="74589"/>
                </a:moveTo>
                <a:lnTo>
                  <a:pt x="30098" y="2588641"/>
                </a:lnTo>
                <a:lnTo>
                  <a:pt x="45973" y="2588641"/>
                </a:lnTo>
                <a:lnTo>
                  <a:pt x="45973" y="76200"/>
                </a:lnTo>
                <a:lnTo>
                  <a:pt x="38099" y="76200"/>
                </a:lnTo>
                <a:lnTo>
                  <a:pt x="30098" y="74589"/>
                </a:lnTo>
                <a:close/>
              </a:path>
              <a:path w="76200" h="2588895">
                <a:moveTo>
                  <a:pt x="45973" y="38100"/>
                </a:moveTo>
                <a:lnTo>
                  <a:pt x="30098" y="38100"/>
                </a:lnTo>
                <a:lnTo>
                  <a:pt x="30098" y="74589"/>
                </a:lnTo>
                <a:lnTo>
                  <a:pt x="38099" y="76200"/>
                </a:lnTo>
                <a:lnTo>
                  <a:pt x="45973" y="74615"/>
                </a:lnTo>
                <a:lnTo>
                  <a:pt x="45973" y="38100"/>
                </a:lnTo>
                <a:close/>
              </a:path>
              <a:path w="76200" h="2588895">
                <a:moveTo>
                  <a:pt x="45973" y="74615"/>
                </a:moveTo>
                <a:lnTo>
                  <a:pt x="38099" y="76200"/>
                </a:lnTo>
                <a:lnTo>
                  <a:pt x="45973" y="76200"/>
                </a:lnTo>
                <a:lnTo>
                  <a:pt x="45973" y="74615"/>
                </a:lnTo>
                <a:close/>
              </a:path>
              <a:path w="76200" h="2588895">
                <a:moveTo>
                  <a:pt x="76199" y="38100"/>
                </a:moveTo>
                <a:lnTo>
                  <a:pt x="45973" y="38100"/>
                </a:lnTo>
                <a:lnTo>
                  <a:pt x="45973" y="74615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199" y="38100"/>
                </a:lnTo>
                <a:close/>
              </a:path>
              <a:path w="76200" h="2588895">
                <a:moveTo>
                  <a:pt x="38099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0098" y="74589"/>
                </a:lnTo>
                <a:lnTo>
                  <a:pt x="30098" y="38100"/>
                </a:lnTo>
                <a:lnTo>
                  <a:pt x="76199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372352" y="2790951"/>
            <a:ext cx="76200" cy="1979295"/>
          </a:xfrm>
          <a:custGeom>
            <a:avLst/>
            <a:gdLst/>
            <a:ahLst/>
            <a:cxnLst/>
            <a:rect l="l" t="t" r="r" b="b"/>
            <a:pathLst>
              <a:path w="76200" h="1979295">
                <a:moveTo>
                  <a:pt x="30099" y="74579"/>
                </a:moveTo>
                <a:lnTo>
                  <a:pt x="30099" y="1979041"/>
                </a:lnTo>
                <a:lnTo>
                  <a:pt x="45974" y="1979041"/>
                </a:lnTo>
                <a:lnTo>
                  <a:pt x="45974" y="76200"/>
                </a:lnTo>
                <a:lnTo>
                  <a:pt x="38100" y="76200"/>
                </a:lnTo>
                <a:lnTo>
                  <a:pt x="30099" y="74579"/>
                </a:lnTo>
                <a:close/>
              </a:path>
              <a:path w="76200" h="1979295">
                <a:moveTo>
                  <a:pt x="45974" y="38100"/>
                </a:moveTo>
                <a:lnTo>
                  <a:pt x="30099" y="38100"/>
                </a:lnTo>
                <a:lnTo>
                  <a:pt x="30197" y="74599"/>
                </a:lnTo>
                <a:lnTo>
                  <a:pt x="38100" y="76200"/>
                </a:lnTo>
                <a:lnTo>
                  <a:pt x="45974" y="74599"/>
                </a:lnTo>
                <a:lnTo>
                  <a:pt x="45974" y="38100"/>
                </a:lnTo>
                <a:close/>
              </a:path>
              <a:path w="76200" h="1979295">
                <a:moveTo>
                  <a:pt x="45974" y="74599"/>
                </a:moveTo>
                <a:lnTo>
                  <a:pt x="38100" y="76200"/>
                </a:lnTo>
                <a:lnTo>
                  <a:pt x="45974" y="76200"/>
                </a:lnTo>
                <a:lnTo>
                  <a:pt x="45974" y="74599"/>
                </a:lnTo>
                <a:close/>
              </a:path>
              <a:path w="76200" h="1979295">
                <a:moveTo>
                  <a:pt x="76200" y="38100"/>
                </a:moveTo>
                <a:lnTo>
                  <a:pt x="45974" y="38100"/>
                </a:lnTo>
                <a:lnTo>
                  <a:pt x="45974" y="74599"/>
                </a:lnTo>
                <a:lnTo>
                  <a:pt x="52893" y="73193"/>
                </a:lnTo>
                <a:lnTo>
                  <a:pt x="65008" y="65008"/>
                </a:lnTo>
                <a:lnTo>
                  <a:pt x="73193" y="52893"/>
                </a:lnTo>
                <a:lnTo>
                  <a:pt x="76200" y="38100"/>
                </a:lnTo>
                <a:close/>
              </a:path>
              <a:path w="76200" h="1979295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893"/>
                </a:lnTo>
                <a:lnTo>
                  <a:pt x="11144" y="65008"/>
                </a:lnTo>
                <a:lnTo>
                  <a:pt x="23252" y="73193"/>
                </a:lnTo>
                <a:lnTo>
                  <a:pt x="30099" y="74579"/>
                </a:lnTo>
                <a:lnTo>
                  <a:pt x="30099" y="38100"/>
                </a:lnTo>
                <a:lnTo>
                  <a:pt x="76200" y="38100"/>
                </a:lnTo>
                <a:lnTo>
                  <a:pt x="73193" y="23252"/>
                </a:lnTo>
                <a:lnTo>
                  <a:pt x="65008" y="11144"/>
                </a:lnTo>
                <a:lnTo>
                  <a:pt x="52893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268084" y="3389248"/>
            <a:ext cx="76200" cy="1363980"/>
          </a:xfrm>
          <a:custGeom>
            <a:avLst/>
            <a:gdLst/>
            <a:ahLst/>
            <a:cxnLst/>
            <a:rect l="l" t="t" r="r" b="b"/>
            <a:pathLst>
              <a:path w="76200" h="1363979">
                <a:moveTo>
                  <a:pt x="30099" y="74589"/>
                </a:moveTo>
                <a:lnTo>
                  <a:pt x="30099" y="1363980"/>
                </a:lnTo>
                <a:lnTo>
                  <a:pt x="45974" y="1363980"/>
                </a:lnTo>
                <a:lnTo>
                  <a:pt x="45974" y="76200"/>
                </a:lnTo>
                <a:lnTo>
                  <a:pt x="38100" y="76200"/>
                </a:lnTo>
                <a:lnTo>
                  <a:pt x="30099" y="74589"/>
                </a:lnTo>
                <a:close/>
              </a:path>
              <a:path w="76200" h="1363979">
                <a:moveTo>
                  <a:pt x="45974" y="38100"/>
                </a:moveTo>
                <a:lnTo>
                  <a:pt x="30099" y="38100"/>
                </a:lnTo>
                <a:lnTo>
                  <a:pt x="30197" y="74609"/>
                </a:lnTo>
                <a:lnTo>
                  <a:pt x="38100" y="76200"/>
                </a:lnTo>
                <a:lnTo>
                  <a:pt x="45974" y="74609"/>
                </a:lnTo>
                <a:lnTo>
                  <a:pt x="45974" y="38100"/>
                </a:lnTo>
                <a:close/>
              </a:path>
              <a:path w="76200" h="1363979">
                <a:moveTo>
                  <a:pt x="45974" y="74609"/>
                </a:moveTo>
                <a:lnTo>
                  <a:pt x="38100" y="76200"/>
                </a:lnTo>
                <a:lnTo>
                  <a:pt x="45974" y="76200"/>
                </a:lnTo>
                <a:lnTo>
                  <a:pt x="45974" y="74609"/>
                </a:lnTo>
                <a:close/>
              </a:path>
              <a:path w="76200" h="1363979">
                <a:moveTo>
                  <a:pt x="76200" y="38100"/>
                </a:moveTo>
                <a:lnTo>
                  <a:pt x="45974" y="38100"/>
                </a:lnTo>
                <a:lnTo>
                  <a:pt x="45974" y="74609"/>
                </a:lnTo>
                <a:lnTo>
                  <a:pt x="52893" y="73211"/>
                </a:lnTo>
                <a:lnTo>
                  <a:pt x="65008" y="65055"/>
                </a:lnTo>
                <a:lnTo>
                  <a:pt x="73193" y="52947"/>
                </a:lnTo>
                <a:lnTo>
                  <a:pt x="76200" y="38100"/>
                </a:lnTo>
                <a:close/>
              </a:path>
              <a:path w="76200" h="1363979">
                <a:moveTo>
                  <a:pt x="38100" y="0"/>
                </a:moveTo>
                <a:lnTo>
                  <a:pt x="23252" y="3006"/>
                </a:lnTo>
                <a:lnTo>
                  <a:pt x="11144" y="11191"/>
                </a:lnTo>
                <a:lnTo>
                  <a:pt x="2988" y="23306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0099" y="74589"/>
                </a:lnTo>
                <a:lnTo>
                  <a:pt x="30099" y="38100"/>
                </a:lnTo>
                <a:lnTo>
                  <a:pt x="76200" y="38100"/>
                </a:lnTo>
                <a:lnTo>
                  <a:pt x="73193" y="23306"/>
                </a:lnTo>
                <a:lnTo>
                  <a:pt x="65008" y="11191"/>
                </a:lnTo>
                <a:lnTo>
                  <a:pt x="52893" y="3006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2441194" y="5816295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816300" y="5816295"/>
            <a:ext cx="195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002053" y="5816295"/>
            <a:ext cx="195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379705" y="5816295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35940" y="418675"/>
            <a:ext cx="614680" cy="3672204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2000" dirty="0">
                <a:solidFill>
                  <a:srgbClr val="00AF50"/>
                </a:solidFill>
                <a:latin typeface="Times New Roman"/>
                <a:cs typeface="Times New Roman"/>
              </a:rPr>
              <a:t>+5V</a:t>
            </a:r>
            <a:endParaRPr sz="2000">
              <a:latin typeface="Times New Roman"/>
              <a:cs typeface="Times New Roman"/>
            </a:endParaRPr>
          </a:p>
          <a:p>
            <a:pPr marR="98425" algn="r">
              <a:lnSpc>
                <a:spcPct val="100000"/>
              </a:lnSpc>
              <a:spcBef>
                <a:spcPts val="980"/>
              </a:spcBef>
            </a:pP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R="80010" algn="r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R="59690" algn="r">
              <a:lnSpc>
                <a:spcPct val="100000"/>
              </a:lnSpc>
              <a:spcBef>
                <a:spcPts val="335"/>
              </a:spcBef>
            </a:pPr>
            <a:r>
              <a:rPr sz="180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R="51435" algn="r">
              <a:lnSpc>
                <a:spcPct val="100000"/>
              </a:lnSpc>
              <a:spcBef>
                <a:spcPts val="165"/>
              </a:spcBef>
            </a:pPr>
            <a:r>
              <a:rPr sz="180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  <a:p>
            <a:pPr marR="50800" algn="r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  <a:p>
            <a:pPr marR="51435" algn="r">
              <a:lnSpc>
                <a:spcPct val="100000"/>
              </a:lnSpc>
              <a:spcBef>
                <a:spcPts val="470"/>
              </a:spcBef>
            </a:pPr>
            <a:r>
              <a:rPr sz="1800" dirty="0"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  <a:p>
            <a:pPr marR="70485" algn="r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imes New Roman"/>
                <a:cs typeface="Times New Roman"/>
              </a:rPr>
              <a:t>6</a:t>
            </a:r>
            <a:endParaRPr sz="1800">
              <a:latin typeface="Times New Roman"/>
              <a:cs typeface="Times New Roman"/>
            </a:endParaRPr>
          </a:p>
          <a:p>
            <a:pPr marR="43180" algn="r">
              <a:lnSpc>
                <a:spcPct val="100000"/>
              </a:lnSpc>
              <a:spcBef>
                <a:spcPts val="85"/>
              </a:spcBef>
            </a:pPr>
            <a:r>
              <a:rPr sz="1800" dirty="0">
                <a:latin typeface="Times New Roman"/>
                <a:cs typeface="Times New Roman"/>
              </a:rPr>
              <a:t>7</a:t>
            </a:r>
            <a:endParaRPr sz="1800">
              <a:latin typeface="Times New Roman"/>
              <a:cs typeface="Times New Roman"/>
            </a:endParaRPr>
          </a:p>
          <a:p>
            <a:pPr marR="41910" algn="r">
              <a:lnSpc>
                <a:spcPct val="100000"/>
              </a:lnSpc>
              <a:spcBef>
                <a:spcPts val="545"/>
              </a:spcBef>
            </a:pPr>
            <a:r>
              <a:rPr sz="1800" dirty="0">
                <a:latin typeface="Times New Roman"/>
                <a:cs typeface="Times New Roman"/>
              </a:rPr>
              <a:t>8</a:t>
            </a:r>
            <a:endParaRPr sz="18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465"/>
              </a:spcBef>
            </a:pPr>
            <a:r>
              <a:rPr sz="1800" dirty="0">
                <a:latin typeface="Times New Roman"/>
                <a:cs typeface="Times New Roman"/>
              </a:rPr>
              <a:t>9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733800" y="6324600"/>
            <a:ext cx="38862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000" dirty="0">
                <a:latin typeface="Casper"/>
                <a:cs typeface="Times New Roman"/>
              </a:rPr>
              <a:t>Fig.</a:t>
            </a:r>
            <a:r>
              <a:rPr lang="pt-BR" sz="2000" spc="-100" dirty="0">
                <a:latin typeface="Casper"/>
                <a:cs typeface="Times New Roman"/>
              </a:rPr>
              <a:t> 16: </a:t>
            </a:r>
            <a:r>
              <a:rPr lang="pt-BR" sz="2000" dirty="0">
                <a:latin typeface="Casper"/>
              </a:rPr>
              <a:t>ENCODER DIAGRAM</a:t>
            </a:r>
            <a:endParaRPr lang="pt-BR" sz="2000" b="1" dirty="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4972684" y="5452617"/>
            <a:ext cx="76200" cy="2330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753355" y="4704334"/>
            <a:ext cx="533400" cy="746125"/>
          </a:xfrm>
          <a:custGeom>
            <a:avLst/>
            <a:gdLst/>
            <a:ahLst/>
            <a:cxnLst/>
            <a:rect l="l" t="t" r="r" b="b"/>
            <a:pathLst>
              <a:path w="533400" h="746125">
                <a:moveTo>
                  <a:pt x="0" y="0"/>
                </a:moveTo>
                <a:lnTo>
                  <a:pt x="2286" y="359156"/>
                </a:lnTo>
                <a:lnTo>
                  <a:pt x="9667" y="410192"/>
                </a:lnTo>
                <a:lnTo>
                  <a:pt x="25206" y="462905"/>
                </a:lnTo>
                <a:lnTo>
                  <a:pt x="47451" y="515636"/>
                </a:lnTo>
                <a:lnTo>
                  <a:pt x="74950" y="566722"/>
                </a:lnTo>
                <a:lnTo>
                  <a:pt x="106251" y="614505"/>
                </a:lnTo>
                <a:lnTo>
                  <a:pt x="139903" y="657323"/>
                </a:lnTo>
                <a:lnTo>
                  <a:pt x="174454" y="693516"/>
                </a:lnTo>
                <a:lnTo>
                  <a:pt x="208452" y="721425"/>
                </a:lnTo>
                <a:lnTo>
                  <a:pt x="268986" y="745744"/>
                </a:lnTo>
                <a:lnTo>
                  <a:pt x="297456" y="739195"/>
                </a:lnTo>
                <a:lnTo>
                  <a:pt x="362897" y="692172"/>
                </a:lnTo>
                <a:lnTo>
                  <a:pt x="396963" y="655275"/>
                </a:lnTo>
                <a:lnTo>
                  <a:pt x="429990" y="611838"/>
                </a:lnTo>
                <a:lnTo>
                  <a:pt x="460525" y="563650"/>
                </a:lnTo>
                <a:lnTo>
                  <a:pt x="487116" y="512499"/>
                </a:lnTo>
                <a:lnTo>
                  <a:pt x="508310" y="460174"/>
                </a:lnTo>
                <a:lnTo>
                  <a:pt x="522656" y="408464"/>
                </a:lnTo>
                <a:lnTo>
                  <a:pt x="528701" y="359156"/>
                </a:lnTo>
                <a:lnTo>
                  <a:pt x="533400" y="12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753355" y="4704334"/>
            <a:ext cx="533400" cy="746125"/>
          </a:xfrm>
          <a:custGeom>
            <a:avLst/>
            <a:gdLst/>
            <a:ahLst/>
            <a:cxnLst/>
            <a:rect l="l" t="t" r="r" b="b"/>
            <a:pathLst>
              <a:path w="533400" h="746125">
                <a:moveTo>
                  <a:pt x="533400" y="127"/>
                </a:moveTo>
                <a:lnTo>
                  <a:pt x="528701" y="359156"/>
                </a:lnTo>
                <a:lnTo>
                  <a:pt x="522656" y="408464"/>
                </a:lnTo>
                <a:lnTo>
                  <a:pt x="508310" y="460174"/>
                </a:lnTo>
                <a:lnTo>
                  <a:pt x="487116" y="512499"/>
                </a:lnTo>
                <a:lnTo>
                  <a:pt x="460525" y="563650"/>
                </a:lnTo>
                <a:lnTo>
                  <a:pt x="429990" y="611838"/>
                </a:lnTo>
                <a:lnTo>
                  <a:pt x="396963" y="655275"/>
                </a:lnTo>
                <a:lnTo>
                  <a:pt x="362897" y="692172"/>
                </a:lnTo>
                <a:lnTo>
                  <a:pt x="329243" y="720742"/>
                </a:lnTo>
                <a:lnTo>
                  <a:pt x="268986" y="745744"/>
                </a:lnTo>
                <a:lnTo>
                  <a:pt x="240447" y="739387"/>
                </a:lnTo>
                <a:lnTo>
                  <a:pt x="174454" y="693516"/>
                </a:lnTo>
                <a:lnTo>
                  <a:pt x="139903" y="657323"/>
                </a:lnTo>
                <a:lnTo>
                  <a:pt x="106251" y="614505"/>
                </a:lnTo>
                <a:lnTo>
                  <a:pt x="74950" y="566722"/>
                </a:lnTo>
                <a:lnTo>
                  <a:pt x="47451" y="515636"/>
                </a:lnTo>
                <a:lnTo>
                  <a:pt x="25206" y="462905"/>
                </a:lnTo>
                <a:lnTo>
                  <a:pt x="9667" y="410192"/>
                </a:lnTo>
                <a:lnTo>
                  <a:pt x="2286" y="359156"/>
                </a:lnTo>
                <a:lnTo>
                  <a:pt x="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753228" y="4701159"/>
            <a:ext cx="533400" cy="79375"/>
          </a:xfrm>
          <a:custGeom>
            <a:avLst/>
            <a:gdLst/>
            <a:ahLst/>
            <a:cxnLst/>
            <a:rect l="l" t="t" r="r" b="b"/>
            <a:pathLst>
              <a:path w="533400" h="79375">
                <a:moveTo>
                  <a:pt x="0" y="0"/>
                </a:moveTo>
                <a:lnTo>
                  <a:pt x="48796" y="44059"/>
                </a:lnTo>
                <a:lnTo>
                  <a:pt x="98869" y="59499"/>
                </a:lnTo>
                <a:lnTo>
                  <a:pt x="156351" y="70536"/>
                </a:lnTo>
                <a:lnTo>
                  <a:pt x="213959" y="77164"/>
                </a:lnTo>
                <a:lnTo>
                  <a:pt x="264413" y="79375"/>
                </a:lnTo>
                <a:lnTo>
                  <a:pt x="315206" y="77173"/>
                </a:lnTo>
                <a:lnTo>
                  <a:pt x="373662" y="70564"/>
                </a:lnTo>
                <a:lnTo>
                  <a:pt x="432244" y="59547"/>
                </a:lnTo>
                <a:lnTo>
                  <a:pt x="483418" y="44116"/>
                </a:lnTo>
                <a:lnTo>
                  <a:pt x="519648" y="24268"/>
                </a:lnTo>
                <a:lnTo>
                  <a:pt x="53340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74752"/>
            <a:ext cx="85344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>
                <a:latin typeface="CasperBOLD"/>
                <a:cs typeface="Times New Roman" pitchFamily="18" charset="0"/>
              </a:rPr>
              <a:t>OCTAL </a:t>
            </a:r>
            <a:r>
              <a:rPr spc="-30" dirty="0">
                <a:latin typeface="CasperBOLD"/>
                <a:cs typeface="Times New Roman" pitchFamily="18" charset="0"/>
              </a:rPr>
              <a:t>TO </a:t>
            </a:r>
            <a:r>
              <a:rPr spc="-30">
                <a:latin typeface="CasperBOLD"/>
                <a:cs typeface="Times New Roman" pitchFamily="18" charset="0"/>
              </a:rPr>
              <a:t>BINARY</a:t>
            </a:r>
            <a:r>
              <a:rPr spc="-165">
                <a:latin typeface="CasperBOLD"/>
                <a:cs typeface="Times New Roman" pitchFamily="18" charset="0"/>
              </a:rPr>
              <a:t> </a:t>
            </a:r>
            <a:r>
              <a:rPr spc="-5">
                <a:latin typeface="CasperBOLD"/>
                <a:cs typeface="Times New Roman" pitchFamily="18" charset="0"/>
              </a:rPr>
              <a:t>ENCODER</a:t>
            </a:r>
            <a:endParaRPr spc="-5" dirty="0">
              <a:latin typeface="CasperBOLD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43800" y="2133600"/>
            <a:ext cx="107886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sper"/>
                <a:cs typeface="Times New Roman"/>
              </a:rPr>
              <a:t>gener</a:t>
            </a:r>
            <a:r>
              <a:rPr sz="1600" spc="-15" dirty="0">
                <a:latin typeface="Casper"/>
                <a:cs typeface="Times New Roman"/>
              </a:rPr>
              <a:t>a</a:t>
            </a:r>
            <a:r>
              <a:rPr sz="1600" spc="-5" dirty="0">
                <a:latin typeface="Casper"/>
                <a:cs typeface="Times New Roman"/>
              </a:rPr>
              <a:t>t</a:t>
            </a:r>
            <a:r>
              <a:rPr sz="1600" dirty="0">
                <a:latin typeface="Casper"/>
                <a:cs typeface="Times New Roman"/>
              </a:rPr>
              <a:t>e</a:t>
            </a:r>
            <a:r>
              <a:rPr sz="1600" spc="-5" dirty="0">
                <a:latin typeface="Casper"/>
                <a:cs typeface="Times New Roman"/>
              </a:rPr>
              <a:t>s</a:t>
            </a:r>
            <a:endParaRPr sz="1600">
              <a:latin typeface="Casper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1143000"/>
            <a:ext cx="8684260" cy="1517082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spc="-5" dirty="0">
                <a:latin typeface="Casper"/>
                <a:cs typeface="Times New Roman"/>
              </a:rPr>
              <a:t>Block Diagram of Octal to Binary Encoder is </a:t>
            </a:r>
            <a:r>
              <a:rPr sz="1600" spc="-5">
                <a:latin typeface="Casper"/>
                <a:cs typeface="Times New Roman"/>
              </a:rPr>
              <a:t>shown </a:t>
            </a:r>
            <a:r>
              <a:rPr lang="en-US" sz="1600" spc="-5" dirty="0" smtClean="0">
                <a:latin typeface="Casper"/>
                <a:cs typeface="Times New Roman"/>
              </a:rPr>
              <a:t>below.</a:t>
            </a:r>
          </a:p>
          <a:p>
            <a:pPr marL="355600" indent="-3429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spc="-5" smtClean="0">
                <a:latin typeface="Casper"/>
                <a:cs typeface="Times New Roman"/>
              </a:rPr>
              <a:t>It </a:t>
            </a:r>
            <a:r>
              <a:rPr sz="1600" spc="-5" dirty="0">
                <a:latin typeface="Casper"/>
                <a:cs typeface="Times New Roman"/>
              </a:rPr>
              <a:t>has eight inputs and three</a:t>
            </a:r>
            <a:r>
              <a:rPr sz="1600" spc="15" dirty="0">
                <a:latin typeface="Casper"/>
                <a:cs typeface="Times New Roman"/>
              </a:rPr>
              <a:t> </a:t>
            </a:r>
            <a:r>
              <a:rPr sz="1600" spc="-5" dirty="0">
                <a:latin typeface="Casper"/>
                <a:cs typeface="Times New Roman"/>
              </a:rPr>
              <a:t>outputs.</a:t>
            </a:r>
            <a:endParaRPr sz="1600">
              <a:latin typeface="Casper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spc="-5" dirty="0">
                <a:latin typeface="Casper"/>
                <a:cs typeface="Times New Roman"/>
              </a:rPr>
              <a:t>Only </a:t>
            </a:r>
            <a:r>
              <a:rPr sz="1600" dirty="0">
                <a:latin typeface="Casper"/>
                <a:cs typeface="Times New Roman"/>
              </a:rPr>
              <a:t>one </a:t>
            </a:r>
            <a:r>
              <a:rPr sz="1600" spc="-5" dirty="0">
                <a:latin typeface="Casper"/>
                <a:cs typeface="Times New Roman"/>
              </a:rPr>
              <a:t>input has </a:t>
            </a:r>
            <a:r>
              <a:rPr sz="1600" dirty="0">
                <a:latin typeface="Casper"/>
                <a:cs typeface="Times New Roman"/>
              </a:rPr>
              <a:t>one </a:t>
            </a:r>
            <a:r>
              <a:rPr sz="1600" spc="-5" dirty="0">
                <a:latin typeface="Casper"/>
                <a:cs typeface="Times New Roman"/>
              </a:rPr>
              <a:t>value at any given</a:t>
            </a:r>
            <a:r>
              <a:rPr sz="1600" dirty="0">
                <a:latin typeface="Casper"/>
                <a:cs typeface="Times New Roman"/>
              </a:rPr>
              <a:t> </a:t>
            </a:r>
            <a:r>
              <a:rPr sz="1600" spc="-10" dirty="0">
                <a:latin typeface="Casper"/>
                <a:cs typeface="Times New Roman"/>
              </a:rPr>
              <a:t>time.</a:t>
            </a:r>
            <a:endParaRPr sz="1600">
              <a:latin typeface="Casper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  <a:tab pos="355600" algn="l"/>
                <a:tab pos="1122045" algn="l"/>
                <a:tab pos="1905635" algn="l"/>
                <a:tab pos="3463290" algn="l"/>
                <a:tab pos="3890010" algn="l"/>
                <a:tab pos="4609465" algn="l"/>
                <a:tab pos="5359400" algn="l"/>
                <a:tab pos="6082030" algn="l"/>
                <a:tab pos="6691630" algn="l"/>
              </a:tabLst>
            </a:pPr>
            <a:r>
              <a:rPr sz="1600" dirty="0">
                <a:latin typeface="Casper"/>
                <a:cs typeface="Times New Roman"/>
              </a:rPr>
              <a:t>Each	input	corresponds	to	each	octal	digit	and	output</a:t>
            </a:r>
            <a:endParaRPr sz="1600">
              <a:latin typeface="Casper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1600" dirty="0">
                <a:latin typeface="Casper"/>
                <a:cs typeface="Times New Roman"/>
              </a:rPr>
              <a:t>corresponding Binary Code.</a:t>
            </a:r>
            <a:endParaRPr sz="1600">
              <a:latin typeface="Casper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42132" y="3264408"/>
            <a:ext cx="1769363" cy="2761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67000" y="3529203"/>
            <a:ext cx="685800" cy="107314"/>
          </a:xfrm>
          <a:custGeom>
            <a:avLst/>
            <a:gdLst/>
            <a:ahLst/>
            <a:cxnLst/>
            <a:rect l="l" t="t" r="r" b="b"/>
            <a:pathLst>
              <a:path w="685800" h="107314">
                <a:moveTo>
                  <a:pt x="594233" y="0"/>
                </a:moveTo>
                <a:lnTo>
                  <a:pt x="589407" y="1270"/>
                </a:lnTo>
                <a:lnTo>
                  <a:pt x="587121" y="5080"/>
                </a:lnTo>
                <a:lnTo>
                  <a:pt x="584962" y="8889"/>
                </a:lnTo>
                <a:lnTo>
                  <a:pt x="586232" y="13716"/>
                </a:lnTo>
                <a:lnTo>
                  <a:pt x="589914" y="16001"/>
                </a:lnTo>
                <a:lnTo>
                  <a:pt x="640808" y="45774"/>
                </a:lnTo>
                <a:lnTo>
                  <a:pt x="670051" y="45847"/>
                </a:lnTo>
                <a:lnTo>
                  <a:pt x="670051" y="61722"/>
                </a:lnTo>
                <a:lnTo>
                  <a:pt x="640526" y="61722"/>
                </a:lnTo>
                <a:lnTo>
                  <a:pt x="589788" y="91186"/>
                </a:lnTo>
                <a:lnTo>
                  <a:pt x="585977" y="93345"/>
                </a:lnTo>
                <a:lnTo>
                  <a:pt x="584708" y="98171"/>
                </a:lnTo>
                <a:lnTo>
                  <a:pt x="586866" y="101981"/>
                </a:lnTo>
                <a:lnTo>
                  <a:pt x="589152" y="105791"/>
                </a:lnTo>
                <a:lnTo>
                  <a:pt x="593978" y="107061"/>
                </a:lnTo>
                <a:lnTo>
                  <a:pt x="597788" y="104902"/>
                </a:lnTo>
                <a:lnTo>
                  <a:pt x="672041" y="61722"/>
                </a:lnTo>
                <a:lnTo>
                  <a:pt x="670051" y="61722"/>
                </a:lnTo>
                <a:lnTo>
                  <a:pt x="672166" y="61649"/>
                </a:lnTo>
                <a:lnTo>
                  <a:pt x="685800" y="53721"/>
                </a:lnTo>
                <a:lnTo>
                  <a:pt x="598042" y="2286"/>
                </a:lnTo>
                <a:lnTo>
                  <a:pt x="594233" y="0"/>
                </a:lnTo>
                <a:close/>
              </a:path>
              <a:path w="685800" h="107314">
                <a:moveTo>
                  <a:pt x="654348" y="53695"/>
                </a:moveTo>
                <a:lnTo>
                  <a:pt x="640651" y="61649"/>
                </a:lnTo>
                <a:lnTo>
                  <a:pt x="670051" y="61722"/>
                </a:lnTo>
                <a:lnTo>
                  <a:pt x="670051" y="60579"/>
                </a:lnTo>
                <a:lnTo>
                  <a:pt x="666114" y="60579"/>
                </a:lnTo>
                <a:lnTo>
                  <a:pt x="654348" y="53695"/>
                </a:lnTo>
                <a:close/>
              </a:path>
              <a:path w="685800" h="107314">
                <a:moveTo>
                  <a:pt x="0" y="44196"/>
                </a:moveTo>
                <a:lnTo>
                  <a:pt x="0" y="60071"/>
                </a:lnTo>
                <a:lnTo>
                  <a:pt x="640651" y="61649"/>
                </a:lnTo>
                <a:lnTo>
                  <a:pt x="654348" y="53695"/>
                </a:lnTo>
                <a:lnTo>
                  <a:pt x="640808" y="45774"/>
                </a:lnTo>
                <a:lnTo>
                  <a:pt x="0" y="44196"/>
                </a:lnTo>
                <a:close/>
              </a:path>
              <a:path w="685800" h="107314">
                <a:moveTo>
                  <a:pt x="666114" y="46862"/>
                </a:moveTo>
                <a:lnTo>
                  <a:pt x="654348" y="53695"/>
                </a:lnTo>
                <a:lnTo>
                  <a:pt x="666114" y="60579"/>
                </a:lnTo>
                <a:lnTo>
                  <a:pt x="666114" y="46862"/>
                </a:lnTo>
                <a:close/>
              </a:path>
              <a:path w="685800" h="107314">
                <a:moveTo>
                  <a:pt x="670051" y="46862"/>
                </a:moveTo>
                <a:lnTo>
                  <a:pt x="666114" y="46862"/>
                </a:lnTo>
                <a:lnTo>
                  <a:pt x="666114" y="60579"/>
                </a:lnTo>
                <a:lnTo>
                  <a:pt x="670051" y="60579"/>
                </a:lnTo>
                <a:lnTo>
                  <a:pt x="670051" y="46862"/>
                </a:lnTo>
                <a:close/>
              </a:path>
              <a:path w="685800" h="107314">
                <a:moveTo>
                  <a:pt x="640808" y="45774"/>
                </a:moveTo>
                <a:lnTo>
                  <a:pt x="654348" y="53695"/>
                </a:lnTo>
                <a:lnTo>
                  <a:pt x="666114" y="46862"/>
                </a:lnTo>
                <a:lnTo>
                  <a:pt x="670051" y="46862"/>
                </a:lnTo>
                <a:lnTo>
                  <a:pt x="670051" y="45847"/>
                </a:lnTo>
                <a:lnTo>
                  <a:pt x="640808" y="457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67000" y="3832478"/>
            <a:ext cx="685800" cy="107314"/>
          </a:xfrm>
          <a:custGeom>
            <a:avLst/>
            <a:gdLst/>
            <a:ahLst/>
            <a:cxnLst/>
            <a:rect l="l" t="t" r="r" b="b"/>
            <a:pathLst>
              <a:path w="685800" h="107314">
                <a:moveTo>
                  <a:pt x="594233" y="0"/>
                </a:moveTo>
                <a:lnTo>
                  <a:pt x="589407" y="1270"/>
                </a:lnTo>
                <a:lnTo>
                  <a:pt x="587121" y="5080"/>
                </a:lnTo>
                <a:lnTo>
                  <a:pt x="584962" y="8763"/>
                </a:lnTo>
                <a:lnTo>
                  <a:pt x="586232" y="13716"/>
                </a:lnTo>
                <a:lnTo>
                  <a:pt x="640672" y="45653"/>
                </a:lnTo>
                <a:lnTo>
                  <a:pt x="670051" y="45720"/>
                </a:lnTo>
                <a:lnTo>
                  <a:pt x="670051" y="61595"/>
                </a:lnTo>
                <a:lnTo>
                  <a:pt x="640672" y="61595"/>
                </a:lnTo>
                <a:lnTo>
                  <a:pt x="589788" y="91059"/>
                </a:lnTo>
                <a:lnTo>
                  <a:pt x="585977" y="93345"/>
                </a:lnTo>
                <a:lnTo>
                  <a:pt x="584708" y="98171"/>
                </a:lnTo>
                <a:lnTo>
                  <a:pt x="586866" y="101981"/>
                </a:lnTo>
                <a:lnTo>
                  <a:pt x="589152" y="105791"/>
                </a:lnTo>
                <a:lnTo>
                  <a:pt x="593978" y="107061"/>
                </a:lnTo>
                <a:lnTo>
                  <a:pt x="597788" y="104775"/>
                </a:lnTo>
                <a:lnTo>
                  <a:pt x="672226" y="61595"/>
                </a:lnTo>
                <a:lnTo>
                  <a:pt x="670051" y="61595"/>
                </a:lnTo>
                <a:lnTo>
                  <a:pt x="672340" y="61528"/>
                </a:lnTo>
                <a:lnTo>
                  <a:pt x="685800" y="53721"/>
                </a:lnTo>
                <a:lnTo>
                  <a:pt x="598042" y="2159"/>
                </a:lnTo>
                <a:lnTo>
                  <a:pt x="594233" y="0"/>
                </a:lnTo>
                <a:close/>
              </a:path>
              <a:path w="685800" h="107314">
                <a:moveTo>
                  <a:pt x="654348" y="53676"/>
                </a:moveTo>
                <a:lnTo>
                  <a:pt x="640787" y="61528"/>
                </a:lnTo>
                <a:lnTo>
                  <a:pt x="670051" y="61595"/>
                </a:lnTo>
                <a:lnTo>
                  <a:pt x="670051" y="60579"/>
                </a:lnTo>
                <a:lnTo>
                  <a:pt x="666114" y="60579"/>
                </a:lnTo>
                <a:lnTo>
                  <a:pt x="654348" y="53676"/>
                </a:lnTo>
                <a:close/>
              </a:path>
              <a:path w="685800" h="107314">
                <a:moveTo>
                  <a:pt x="0" y="44196"/>
                </a:moveTo>
                <a:lnTo>
                  <a:pt x="0" y="60071"/>
                </a:lnTo>
                <a:lnTo>
                  <a:pt x="640787" y="61528"/>
                </a:lnTo>
                <a:lnTo>
                  <a:pt x="654348" y="53676"/>
                </a:lnTo>
                <a:lnTo>
                  <a:pt x="640672" y="45653"/>
                </a:lnTo>
                <a:lnTo>
                  <a:pt x="0" y="44196"/>
                </a:lnTo>
                <a:close/>
              </a:path>
              <a:path w="685800" h="107314">
                <a:moveTo>
                  <a:pt x="666114" y="46863"/>
                </a:moveTo>
                <a:lnTo>
                  <a:pt x="654348" y="53676"/>
                </a:lnTo>
                <a:lnTo>
                  <a:pt x="666114" y="60579"/>
                </a:lnTo>
                <a:lnTo>
                  <a:pt x="666114" y="46863"/>
                </a:lnTo>
                <a:close/>
              </a:path>
              <a:path w="685800" h="107314">
                <a:moveTo>
                  <a:pt x="670051" y="46863"/>
                </a:moveTo>
                <a:lnTo>
                  <a:pt x="666114" y="46863"/>
                </a:lnTo>
                <a:lnTo>
                  <a:pt x="666114" y="60579"/>
                </a:lnTo>
                <a:lnTo>
                  <a:pt x="670051" y="60579"/>
                </a:lnTo>
                <a:lnTo>
                  <a:pt x="670051" y="46863"/>
                </a:lnTo>
                <a:close/>
              </a:path>
              <a:path w="685800" h="107314">
                <a:moveTo>
                  <a:pt x="640672" y="45653"/>
                </a:moveTo>
                <a:lnTo>
                  <a:pt x="654348" y="53676"/>
                </a:lnTo>
                <a:lnTo>
                  <a:pt x="666114" y="46863"/>
                </a:lnTo>
                <a:lnTo>
                  <a:pt x="670051" y="46863"/>
                </a:lnTo>
                <a:lnTo>
                  <a:pt x="670051" y="45720"/>
                </a:lnTo>
                <a:lnTo>
                  <a:pt x="640672" y="456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57348" y="4117975"/>
            <a:ext cx="685800" cy="107314"/>
          </a:xfrm>
          <a:custGeom>
            <a:avLst/>
            <a:gdLst/>
            <a:ahLst/>
            <a:cxnLst/>
            <a:rect l="l" t="t" r="r" b="b"/>
            <a:pathLst>
              <a:path w="685800" h="107314">
                <a:moveTo>
                  <a:pt x="594232" y="0"/>
                </a:moveTo>
                <a:lnTo>
                  <a:pt x="589407" y="1269"/>
                </a:lnTo>
                <a:lnTo>
                  <a:pt x="587120" y="5080"/>
                </a:lnTo>
                <a:lnTo>
                  <a:pt x="584962" y="8889"/>
                </a:lnTo>
                <a:lnTo>
                  <a:pt x="586232" y="13716"/>
                </a:lnTo>
                <a:lnTo>
                  <a:pt x="590041" y="16001"/>
                </a:lnTo>
                <a:lnTo>
                  <a:pt x="640850" y="45774"/>
                </a:lnTo>
                <a:lnTo>
                  <a:pt x="670178" y="45847"/>
                </a:lnTo>
                <a:lnTo>
                  <a:pt x="670051" y="61722"/>
                </a:lnTo>
                <a:lnTo>
                  <a:pt x="640526" y="61722"/>
                </a:lnTo>
                <a:lnTo>
                  <a:pt x="589788" y="91186"/>
                </a:lnTo>
                <a:lnTo>
                  <a:pt x="585977" y="93344"/>
                </a:lnTo>
                <a:lnTo>
                  <a:pt x="584707" y="98170"/>
                </a:lnTo>
                <a:lnTo>
                  <a:pt x="586994" y="101981"/>
                </a:lnTo>
                <a:lnTo>
                  <a:pt x="589152" y="105791"/>
                </a:lnTo>
                <a:lnTo>
                  <a:pt x="593978" y="107061"/>
                </a:lnTo>
                <a:lnTo>
                  <a:pt x="597788" y="104901"/>
                </a:lnTo>
                <a:lnTo>
                  <a:pt x="672041" y="61722"/>
                </a:lnTo>
                <a:lnTo>
                  <a:pt x="670051" y="61722"/>
                </a:lnTo>
                <a:lnTo>
                  <a:pt x="672166" y="61649"/>
                </a:lnTo>
                <a:lnTo>
                  <a:pt x="685800" y="53720"/>
                </a:lnTo>
                <a:lnTo>
                  <a:pt x="598042" y="2286"/>
                </a:lnTo>
                <a:lnTo>
                  <a:pt x="594232" y="0"/>
                </a:lnTo>
                <a:close/>
              </a:path>
              <a:path w="685800" h="107314">
                <a:moveTo>
                  <a:pt x="654358" y="53689"/>
                </a:moveTo>
                <a:lnTo>
                  <a:pt x="640651" y="61649"/>
                </a:lnTo>
                <a:lnTo>
                  <a:pt x="670051" y="61722"/>
                </a:lnTo>
                <a:lnTo>
                  <a:pt x="670061" y="60579"/>
                </a:lnTo>
                <a:lnTo>
                  <a:pt x="666114" y="60579"/>
                </a:lnTo>
                <a:lnTo>
                  <a:pt x="654358" y="53689"/>
                </a:lnTo>
                <a:close/>
              </a:path>
              <a:path w="685800" h="107314">
                <a:moveTo>
                  <a:pt x="0" y="44195"/>
                </a:moveTo>
                <a:lnTo>
                  <a:pt x="0" y="60070"/>
                </a:lnTo>
                <a:lnTo>
                  <a:pt x="640651" y="61649"/>
                </a:lnTo>
                <a:lnTo>
                  <a:pt x="654358" y="53689"/>
                </a:lnTo>
                <a:lnTo>
                  <a:pt x="640850" y="45774"/>
                </a:lnTo>
                <a:lnTo>
                  <a:pt x="0" y="44195"/>
                </a:lnTo>
                <a:close/>
              </a:path>
              <a:path w="685800" h="107314">
                <a:moveTo>
                  <a:pt x="666114" y="46862"/>
                </a:moveTo>
                <a:lnTo>
                  <a:pt x="654358" y="53689"/>
                </a:lnTo>
                <a:lnTo>
                  <a:pt x="666114" y="60579"/>
                </a:lnTo>
                <a:lnTo>
                  <a:pt x="666114" y="46862"/>
                </a:lnTo>
                <a:close/>
              </a:path>
              <a:path w="685800" h="107314">
                <a:moveTo>
                  <a:pt x="670170" y="46862"/>
                </a:moveTo>
                <a:lnTo>
                  <a:pt x="666114" y="46862"/>
                </a:lnTo>
                <a:lnTo>
                  <a:pt x="666114" y="60579"/>
                </a:lnTo>
                <a:lnTo>
                  <a:pt x="670061" y="60579"/>
                </a:lnTo>
                <a:lnTo>
                  <a:pt x="670170" y="46862"/>
                </a:lnTo>
                <a:close/>
              </a:path>
              <a:path w="685800" h="107314">
                <a:moveTo>
                  <a:pt x="640850" y="45774"/>
                </a:moveTo>
                <a:lnTo>
                  <a:pt x="654358" y="53689"/>
                </a:lnTo>
                <a:lnTo>
                  <a:pt x="666114" y="46862"/>
                </a:lnTo>
                <a:lnTo>
                  <a:pt x="670170" y="46862"/>
                </a:lnTo>
                <a:lnTo>
                  <a:pt x="670178" y="45847"/>
                </a:lnTo>
                <a:lnTo>
                  <a:pt x="640850" y="457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67000" y="4442078"/>
            <a:ext cx="685800" cy="107314"/>
          </a:xfrm>
          <a:custGeom>
            <a:avLst/>
            <a:gdLst/>
            <a:ahLst/>
            <a:cxnLst/>
            <a:rect l="l" t="t" r="r" b="b"/>
            <a:pathLst>
              <a:path w="685800" h="107314">
                <a:moveTo>
                  <a:pt x="594233" y="0"/>
                </a:moveTo>
                <a:lnTo>
                  <a:pt x="589407" y="1270"/>
                </a:lnTo>
                <a:lnTo>
                  <a:pt x="587121" y="5080"/>
                </a:lnTo>
                <a:lnTo>
                  <a:pt x="584962" y="8763"/>
                </a:lnTo>
                <a:lnTo>
                  <a:pt x="586232" y="13716"/>
                </a:lnTo>
                <a:lnTo>
                  <a:pt x="640672" y="45653"/>
                </a:lnTo>
                <a:lnTo>
                  <a:pt x="670051" y="45720"/>
                </a:lnTo>
                <a:lnTo>
                  <a:pt x="670051" y="61595"/>
                </a:lnTo>
                <a:lnTo>
                  <a:pt x="640672" y="61595"/>
                </a:lnTo>
                <a:lnTo>
                  <a:pt x="589788" y="91059"/>
                </a:lnTo>
                <a:lnTo>
                  <a:pt x="585977" y="93345"/>
                </a:lnTo>
                <a:lnTo>
                  <a:pt x="584708" y="98171"/>
                </a:lnTo>
                <a:lnTo>
                  <a:pt x="586866" y="101981"/>
                </a:lnTo>
                <a:lnTo>
                  <a:pt x="589152" y="105791"/>
                </a:lnTo>
                <a:lnTo>
                  <a:pt x="593978" y="107061"/>
                </a:lnTo>
                <a:lnTo>
                  <a:pt x="597788" y="104775"/>
                </a:lnTo>
                <a:lnTo>
                  <a:pt x="672226" y="61595"/>
                </a:lnTo>
                <a:lnTo>
                  <a:pt x="670051" y="61595"/>
                </a:lnTo>
                <a:lnTo>
                  <a:pt x="672340" y="61528"/>
                </a:lnTo>
                <a:lnTo>
                  <a:pt x="685800" y="53721"/>
                </a:lnTo>
                <a:lnTo>
                  <a:pt x="598042" y="2159"/>
                </a:lnTo>
                <a:lnTo>
                  <a:pt x="594233" y="0"/>
                </a:lnTo>
                <a:close/>
              </a:path>
              <a:path w="685800" h="107314">
                <a:moveTo>
                  <a:pt x="654348" y="53676"/>
                </a:moveTo>
                <a:lnTo>
                  <a:pt x="640787" y="61528"/>
                </a:lnTo>
                <a:lnTo>
                  <a:pt x="670051" y="61595"/>
                </a:lnTo>
                <a:lnTo>
                  <a:pt x="670051" y="60579"/>
                </a:lnTo>
                <a:lnTo>
                  <a:pt x="666114" y="60579"/>
                </a:lnTo>
                <a:lnTo>
                  <a:pt x="654348" y="53676"/>
                </a:lnTo>
                <a:close/>
              </a:path>
              <a:path w="685800" h="107314">
                <a:moveTo>
                  <a:pt x="0" y="44196"/>
                </a:moveTo>
                <a:lnTo>
                  <a:pt x="0" y="60071"/>
                </a:lnTo>
                <a:lnTo>
                  <a:pt x="640787" y="61528"/>
                </a:lnTo>
                <a:lnTo>
                  <a:pt x="654348" y="53676"/>
                </a:lnTo>
                <a:lnTo>
                  <a:pt x="640672" y="45653"/>
                </a:lnTo>
                <a:lnTo>
                  <a:pt x="0" y="44196"/>
                </a:lnTo>
                <a:close/>
              </a:path>
              <a:path w="685800" h="107314">
                <a:moveTo>
                  <a:pt x="666114" y="46863"/>
                </a:moveTo>
                <a:lnTo>
                  <a:pt x="654348" y="53676"/>
                </a:lnTo>
                <a:lnTo>
                  <a:pt x="666114" y="60579"/>
                </a:lnTo>
                <a:lnTo>
                  <a:pt x="666114" y="46863"/>
                </a:lnTo>
                <a:close/>
              </a:path>
              <a:path w="685800" h="107314">
                <a:moveTo>
                  <a:pt x="670051" y="46863"/>
                </a:moveTo>
                <a:lnTo>
                  <a:pt x="666114" y="46863"/>
                </a:lnTo>
                <a:lnTo>
                  <a:pt x="666114" y="60579"/>
                </a:lnTo>
                <a:lnTo>
                  <a:pt x="670051" y="60579"/>
                </a:lnTo>
                <a:lnTo>
                  <a:pt x="670051" y="46863"/>
                </a:lnTo>
                <a:close/>
              </a:path>
              <a:path w="685800" h="107314">
                <a:moveTo>
                  <a:pt x="640672" y="45653"/>
                </a:moveTo>
                <a:lnTo>
                  <a:pt x="654348" y="53676"/>
                </a:lnTo>
                <a:lnTo>
                  <a:pt x="666114" y="46863"/>
                </a:lnTo>
                <a:lnTo>
                  <a:pt x="670051" y="46863"/>
                </a:lnTo>
                <a:lnTo>
                  <a:pt x="670051" y="45720"/>
                </a:lnTo>
                <a:lnTo>
                  <a:pt x="640672" y="456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76651" y="4748403"/>
            <a:ext cx="685800" cy="107314"/>
          </a:xfrm>
          <a:custGeom>
            <a:avLst/>
            <a:gdLst/>
            <a:ahLst/>
            <a:cxnLst/>
            <a:rect l="l" t="t" r="r" b="b"/>
            <a:pathLst>
              <a:path w="685800" h="107314">
                <a:moveTo>
                  <a:pt x="594233" y="0"/>
                </a:moveTo>
                <a:lnTo>
                  <a:pt x="589280" y="1270"/>
                </a:lnTo>
                <a:lnTo>
                  <a:pt x="587121" y="5080"/>
                </a:lnTo>
                <a:lnTo>
                  <a:pt x="584835" y="8890"/>
                </a:lnTo>
                <a:lnTo>
                  <a:pt x="586105" y="13716"/>
                </a:lnTo>
                <a:lnTo>
                  <a:pt x="589914" y="16002"/>
                </a:lnTo>
                <a:lnTo>
                  <a:pt x="640723" y="45774"/>
                </a:lnTo>
                <a:lnTo>
                  <a:pt x="670051" y="45847"/>
                </a:lnTo>
                <a:lnTo>
                  <a:pt x="670051" y="61722"/>
                </a:lnTo>
                <a:lnTo>
                  <a:pt x="640526" y="61722"/>
                </a:lnTo>
                <a:lnTo>
                  <a:pt x="589788" y="91186"/>
                </a:lnTo>
                <a:lnTo>
                  <a:pt x="585977" y="93345"/>
                </a:lnTo>
                <a:lnTo>
                  <a:pt x="584708" y="98171"/>
                </a:lnTo>
                <a:lnTo>
                  <a:pt x="589026" y="105791"/>
                </a:lnTo>
                <a:lnTo>
                  <a:pt x="593978" y="107061"/>
                </a:lnTo>
                <a:lnTo>
                  <a:pt x="597788" y="104902"/>
                </a:lnTo>
                <a:lnTo>
                  <a:pt x="672041" y="61722"/>
                </a:lnTo>
                <a:lnTo>
                  <a:pt x="670051" y="61722"/>
                </a:lnTo>
                <a:lnTo>
                  <a:pt x="672166" y="61649"/>
                </a:lnTo>
                <a:lnTo>
                  <a:pt x="685800" y="53721"/>
                </a:lnTo>
                <a:lnTo>
                  <a:pt x="597915" y="2286"/>
                </a:lnTo>
                <a:lnTo>
                  <a:pt x="594233" y="0"/>
                </a:lnTo>
                <a:close/>
              </a:path>
              <a:path w="685800" h="107314">
                <a:moveTo>
                  <a:pt x="654294" y="53727"/>
                </a:moveTo>
                <a:lnTo>
                  <a:pt x="640651" y="61649"/>
                </a:lnTo>
                <a:lnTo>
                  <a:pt x="670051" y="61722"/>
                </a:lnTo>
                <a:lnTo>
                  <a:pt x="670051" y="60579"/>
                </a:lnTo>
                <a:lnTo>
                  <a:pt x="665988" y="60579"/>
                </a:lnTo>
                <a:lnTo>
                  <a:pt x="654294" y="53727"/>
                </a:lnTo>
                <a:close/>
              </a:path>
              <a:path w="685800" h="107314">
                <a:moveTo>
                  <a:pt x="0" y="44196"/>
                </a:moveTo>
                <a:lnTo>
                  <a:pt x="0" y="60071"/>
                </a:lnTo>
                <a:lnTo>
                  <a:pt x="640651" y="61649"/>
                </a:lnTo>
                <a:lnTo>
                  <a:pt x="654294" y="53727"/>
                </a:lnTo>
                <a:lnTo>
                  <a:pt x="640723" y="45774"/>
                </a:lnTo>
                <a:lnTo>
                  <a:pt x="0" y="44196"/>
                </a:lnTo>
                <a:close/>
              </a:path>
              <a:path w="685800" h="107314">
                <a:moveTo>
                  <a:pt x="666114" y="46863"/>
                </a:moveTo>
                <a:lnTo>
                  <a:pt x="654294" y="53727"/>
                </a:lnTo>
                <a:lnTo>
                  <a:pt x="665988" y="60579"/>
                </a:lnTo>
                <a:lnTo>
                  <a:pt x="666114" y="46863"/>
                </a:lnTo>
                <a:close/>
              </a:path>
              <a:path w="685800" h="107314">
                <a:moveTo>
                  <a:pt x="670051" y="46863"/>
                </a:moveTo>
                <a:lnTo>
                  <a:pt x="666114" y="46863"/>
                </a:lnTo>
                <a:lnTo>
                  <a:pt x="665988" y="60579"/>
                </a:lnTo>
                <a:lnTo>
                  <a:pt x="670051" y="60579"/>
                </a:lnTo>
                <a:lnTo>
                  <a:pt x="670051" y="46863"/>
                </a:lnTo>
                <a:close/>
              </a:path>
              <a:path w="685800" h="107314">
                <a:moveTo>
                  <a:pt x="640723" y="45774"/>
                </a:moveTo>
                <a:lnTo>
                  <a:pt x="654305" y="53721"/>
                </a:lnTo>
                <a:lnTo>
                  <a:pt x="666114" y="46863"/>
                </a:lnTo>
                <a:lnTo>
                  <a:pt x="670051" y="46863"/>
                </a:lnTo>
                <a:lnTo>
                  <a:pt x="670051" y="45847"/>
                </a:lnTo>
                <a:lnTo>
                  <a:pt x="640723" y="457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76651" y="5051678"/>
            <a:ext cx="685800" cy="107314"/>
          </a:xfrm>
          <a:custGeom>
            <a:avLst/>
            <a:gdLst/>
            <a:ahLst/>
            <a:cxnLst/>
            <a:rect l="l" t="t" r="r" b="b"/>
            <a:pathLst>
              <a:path w="685800" h="107314">
                <a:moveTo>
                  <a:pt x="594233" y="0"/>
                </a:moveTo>
                <a:lnTo>
                  <a:pt x="589280" y="1270"/>
                </a:lnTo>
                <a:lnTo>
                  <a:pt x="587121" y="5080"/>
                </a:lnTo>
                <a:lnTo>
                  <a:pt x="584835" y="8763"/>
                </a:lnTo>
                <a:lnTo>
                  <a:pt x="586105" y="13716"/>
                </a:lnTo>
                <a:lnTo>
                  <a:pt x="589914" y="15875"/>
                </a:lnTo>
                <a:lnTo>
                  <a:pt x="640588" y="45652"/>
                </a:lnTo>
                <a:lnTo>
                  <a:pt x="670051" y="45720"/>
                </a:lnTo>
                <a:lnTo>
                  <a:pt x="670051" y="61595"/>
                </a:lnTo>
                <a:lnTo>
                  <a:pt x="640672" y="61595"/>
                </a:lnTo>
                <a:lnTo>
                  <a:pt x="589788" y="91059"/>
                </a:lnTo>
                <a:lnTo>
                  <a:pt x="585977" y="93345"/>
                </a:lnTo>
                <a:lnTo>
                  <a:pt x="584708" y="98171"/>
                </a:lnTo>
                <a:lnTo>
                  <a:pt x="589026" y="105791"/>
                </a:lnTo>
                <a:lnTo>
                  <a:pt x="593978" y="107061"/>
                </a:lnTo>
                <a:lnTo>
                  <a:pt x="597788" y="104775"/>
                </a:lnTo>
                <a:lnTo>
                  <a:pt x="672226" y="61595"/>
                </a:lnTo>
                <a:lnTo>
                  <a:pt x="670051" y="61595"/>
                </a:lnTo>
                <a:lnTo>
                  <a:pt x="672340" y="61528"/>
                </a:lnTo>
                <a:lnTo>
                  <a:pt x="685800" y="53721"/>
                </a:lnTo>
                <a:lnTo>
                  <a:pt x="594233" y="0"/>
                </a:lnTo>
                <a:close/>
              </a:path>
              <a:path w="685800" h="107314">
                <a:moveTo>
                  <a:pt x="654294" y="53707"/>
                </a:moveTo>
                <a:lnTo>
                  <a:pt x="640787" y="61528"/>
                </a:lnTo>
                <a:lnTo>
                  <a:pt x="670051" y="61595"/>
                </a:lnTo>
                <a:lnTo>
                  <a:pt x="670051" y="60579"/>
                </a:lnTo>
                <a:lnTo>
                  <a:pt x="665988" y="60579"/>
                </a:lnTo>
                <a:lnTo>
                  <a:pt x="654294" y="53707"/>
                </a:lnTo>
                <a:close/>
              </a:path>
              <a:path w="685800" h="107314">
                <a:moveTo>
                  <a:pt x="0" y="44196"/>
                </a:moveTo>
                <a:lnTo>
                  <a:pt x="0" y="60071"/>
                </a:lnTo>
                <a:lnTo>
                  <a:pt x="640787" y="61528"/>
                </a:lnTo>
                <a:lnTo>
                  <a:pt x="654294" y="53707"/>
                </a:lnTo>
                <a:lnTo>
                  <a:pt x="640588" y="45652"/>
                </a:lnTo>
                <a:lnTo>
                  <a:pt x="0" y="44196"/>
                </a:lnTo>
                <a:close/>
              </a:path>
              <a:path w="685800" h="107314">
                <a:moveTo>
                  <a:pt x="666114" y="46863"/>
                </a:moveTo>
                <a:lnTo>
                  <a:pt x="654294" y="53707"/>
                </a:lnTo>
                <a:lnTo>
                  <a:pt x="665988" y="60579"/>
                </a:lnTo>
                <a:lnTo>
                  <a:pt x="666114" y="46863"/>
                </a:lnTo>
                <a:close/>
              </a:path>
              <a:path w="685800" h="107314">
                <a:moveTo>
                  <a:pt x="670051" y="46863"/>
                </a:moveTo>
                <a:lnTo>
                  <a:pt x="666114" y="46863"/>
                </a:lnTo>
                <a:lnTo>
                  <a:pt x="665988" y="60579"/>
                </a:lnTo>
                <a:lnTo>
                  <a:pt x="670051" y="60579"/>
                </a:lnTo>
                <a:lnTo>
                  <a:pt x="670051" y="46863"/>
                </a:lnTo>
                <a:close/>
              </a:path>
              <a:path w="685800" h="107314">
                <a:moveTo>
                  <a:pt x="640588" y="45652"/>
                </a:moveTo>
                <a:lnTo>
                  <a:pt x="654294" y="53707"/>
                </a:lnTo>
                <a:lnTo>
                  <a:pt x="666114" y="46863"/>
                </a:lnTo>
                <a:lnTo>
                  <a:pt x="670051" y="46863"/>
                </a:lnTo>
                <a:lnTo>
                  <a:pt x="670051" y="45720"/>
                </a:lnTo>
                <a:lnTo>
                  <a:pt x="640588" y="45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67000" y="5337175"/>
            <a:ext cx="685800" cy="107314"/>
          </a:xfrm>
          <a:custGeom>
            <a:avLst/>
            <a:gdLst/>
            <a:ahLst/>
            <a:cxnLst/>
            <a:rect l="l" t="t" r="r" b="b"/>
            <a:pathLst>
              <a:path w="685800" h="107314">
                <a:moveTo>
                  <a:pt x="594233" y="0"/>
                </a:moveTo>
                <a:lnTo>
                  <a:pt x="589407" y="1269"/>
                </a:lnTo>
                <a:lnTo>
                  <a:pt x="587121" y="5080"/>
                </a:lnTo>
                <a:lnTo>
                  <a:pt x="584962" y="8890"/>
                </a:lnTo>
                <a:lnTo>
                  <a:pt x="586232" y="13715"/>
                </a:lnTo>
                <a:lnTo>
                  <a:pt x="589914" y="16002"/>
                </a:lnTo>
                <a:lnTo>
                  <a:pt x="640808" y="45774"/>
                </a:lnTo>
                <a:lnTo>
                  <a:pt x="670051" y="45846"/>
                </a:lnTo>
                <a:lnTo>
                  <a:pt x="670051" y="61721"/>
                </a:lnTo>
                <a:lnTo>
                  <a:pt x="640526" y="61721"/>
                </a:lnTo>
                <a:lnTo>
                  <a:pt x="589788" y="91186"/>
                </a:lnTo>
                <a:lnTo>
                  <a:pt x="585977" y="93344"/>
                </a:lnTo>
                <a:lnTo>
                  <a:pt x="584708" y="98171"/>
                </a:lnTo>
                <a:lnTo>
                  <a:pt x="586866" y="101981"/>
                </a:lnTo>
                <a:lnTo>
                  <a:pt x="589152" y="105790"/>
                </a:lnTo>
                <a:lnTo>
                  <a:pt x="593978" y="107061"/>
                </a:lnTo>
                <a:lnTo>
                  <a:pt x="597788" y="104902"/>
                </a:lnTo>
                <a:lnTo>
                  <a:pt x="672041" y="61721"/>
                </a:lnTo>
                <a:lnTo>
                  <a:pt x="670051" y="61721"/>
                </a:lnTo>
                <a:lnTo>
                  <a:pt x="672166" y="61649"/>
                </a:lnTo>
                <a:lnTo>
                  <a:pt x="685800" y="53721"/>
                </a:lnTo>
                <a:lnTo>
                  <a:pt x="598042" y="2286"/>
                </a:lnTo>
                <a:lnTo>
                  <a:pt x="594233" y="0"/>
                </a:lnTo>
                <a:close/>
              </a:path>
              <a:path w="685800" h="107314">
                <a:moveTo>
                  <a:pt x="654348" y="53695"/>
                </a:moveTo>
                <a:lnTo>
                  <a:pt x="640651" y="61649"/>
                </a:lnTo>
                <a:lnTo>
                  <a:pt x="670051" y="61721"/>
                </a:lnTo>
                <a:lnTo>
                  <a:pt x="670051" y="60578"/>
                </a:lnTo>
                <a:lnTo>
                  <a:pt x="666114" y="60578"/>
                </a:lnTo>
                <a:lnTo>
                  <a:pt x="654348" y="53695"/>
                </a:lnTo>
                <a:close/>
              </a:path>
              <a:path w="685800" h="107314">
                <a:moveTo>
                  <a:pt x="0" y="44196"/>
                </a:moveTo>
                <a:lnTo>
                  <a:pt x="0" y="60071"/>
                </a:lnTo>
                <a:lnTo>
                  <a:pt x="640651" y="61649"/>
                </a:lnTo>
                <a:lnTo>
                  <a:pt x="654348" y="53695"/>
                </a:lnTo>
                <a:lnTo>
                  <a:pt x="640808" y="45774"/>
                </a:lnTo>
                <a:lnTo>
                  <a:pt x="0" y="44196"/>
                </a:lnTo>
                <a:close/>
              </a:path>
              <a:path w="685800" h="107314">
                <a:moveTo>
                  <a:pt x="666114" y="46862"/>
                </a:moveTo>
                <a:lnTo>
                  <a:pt x="654348" y="53695"/>
                </a:lnTo>
                <a:lnTo>
                  <a:pt x="666114" y="60578"/>
                </a:lnTo>
                <a:lnTo>
                  <a:pt x="666114" y="46862"/>
                </a:lnTo>
                <a:close/>
              </a:path>
              <a:path w="685800" h="107314">
                <a:moveTo>
                  <a:pt x="670051" y="46862"/>
                </a:moveTo>
                <a:lnTo>
                  <a:pt x="666114" y="46862"/>
                </a:lnTo>
                <a:lnTo>
                  <a:pt x="666114" y="60578"/>
                </a:lnTo>
                <a:lnTo>
                  <a:pt x="670051" y="60578"/>
                </a:lnTo>
                <a:lnTo>
                  <a:pt x="670051" y="46862"/>
                </a:lnTo>
                <a:close/>
              </a:path>
              <a:path w="685800" h="107314">
                <a:moveTo>
                  <a:pt x="640808" y="45774"/>
                </a:moveTo>
                <a:lnTo>
                  <a:pt x="654348" y="53695"/>
                </a:lnTo>
                <a:lnTo>
                  <a:pt x="666114" y="46862"/>
                </a:lnTo>
                <a:lnTo>
                  <a:pt x="670051" y="46862"/>
                </a:lnTo>
                <a:lnTo>
                  <a:pt x="670051" y="45846"/>
                </a:lnTo>
                <a:lnTo>
                  <a:pt x="640808" y="457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76651" y="5661266"/>
            <a:ext cx="685800" cy="107314"/>
          </a:xfrm>
          <a:custGeom>
            <a:avLst/>
            <a:gdLst/>
            <a:ahLst/>
            <a:cxnLst/>
            <a:rect l="l" t="t" r="r" b="b"/>
            <a:pathLst>
              <a:path w="685800" h="107314">
                <a:moveTo>
                  <a:pt x="594233" y="0"/>
                </a:moveTo>
                <a:lnTo>
                  <a:pt x="589280" y="1269"/>
                </a:lnTo>
                <a:lnTo>
                  <a:pt x="587121" y="5054"/>
                </a:lnTo>
                <a:lnTo>
                  <a:pt x="584835" y="8839"/>
                </a:lnTo>
                <a:lnTo>
                  <a:pt x="586105" y="13703"/>
                </a:lnTo>
                <a:lnTo>
                  <a:pt x="640673" y="45690"/>
                </a:lnTo>
                <a:lnTo>
                  <a:pt x="670051" y="45758"/>
                </a:lnTo>
                <a:lnTo>
                  <a:pt x="670051" y="61633"/>
                </a:lnTo>
                <a:lnTo>
                  <a:pt x="640585" y="61633"/>
                </a:lnTo>
                <a:lnTo>
                  <a:pt x="585977" y="93306"/>
                </a:lnTo>
                <a:lnTo>
                  <a:pt x="584708" y="98158"/>
                </a:lnTo>
                <a:lnTo>
                  <a:pt x="589026" y="105740"/>
                </a:lnTo>
                <a:lnTo>
                  <a:pt x="593978" y="107035"/>
                </a:lnTo>
                <a:lnTo>
                  <a:pt x="672192" y="61633"/>
                </a:lnTo>
                <a:lnTo>
                  <a:pt x="670051" y="61633"/>
                </a:lnTo>
                <a:lnTo>
                  <a:pt x="672308" y="61565"/>
                </a:lnTo>
                <a:lnTo>
                  <a:pt x="685800" y="53733"/>
                </a:lnTo>
                <a:lnTo>
                  <a:pt x="597915" y="2222"/>
                </a:lnTo>
                <a:lnTo>
                  <a:pt x="594233" y="0"/>
                </a:lnTo>
                <a:close/>
              </a:path>
              <a:path w="685800" h="107314">
                <a:moveTo>
                  <a:pt x="654294" y="53681"/>
                </a:moveTo>
                <a:lnTo>
                  <a:pt x="640702" y="61565"/>
                </a:lnTo>
                <a:lnTo>
                  <a:pt x="670051" y="61633"/>
                </a:lnTo>
                <a:lnTo>
                  <a:pt x="670051" y="60540"/>
                </a:lnTo>
                <a:lnTo>
                  <a:pt x="665988" y="60540"/>
                </a:lnTo>
                <a:lnTo>
                  <a:pt x="654294" y="53681"/>
                </a:lnTo>
                <a:close/>
              </a:path>
              <a:path w="685800" h="107314">
                <a:moveTo>
                  <a:pt x="0" y="44208"/>
                </a:moveTo>
                <a:lnTo>
                  <a:pt x="0" y="60083"/>
                </a:lnTo>
                <a:lnTo>
                  <a:pt x="640702" y="61565"/>
                </a:lnTo>
                <a:lnTo>
                  <a:pt x="654294" y="53681"/>
                </a:lnTo>
                <a:lnTo>
                  <a:pt x="640673" y="45690"/>
                </a:lnTo>
                <a:lnTo>
                  <a:pt x="0" y="44208"/>
                </a:lnTo>
                <a:close/>
              </a:path>
              <a:path w="685800" h="107314">
                <a:moveTo>
                  <a:pt x="666114" y="46824"/>
                </a:moveTo>
                <a:lnTo>
                  <a:pt x="654294" y="53681"/>
                </a:lnTo>
                <a:lnTo>
                  <a:pt x="665988" y="60540"/>
                </a:lnTo>
                <a:lnTo>
                  <a:pt x="666114" y="46824"/>
                </a:lnTo>
                <a:close/>
              </a:path>
              <a:path w="685800" h="107314">
                <a:moveTo>
                  <a:pt x="670051" y="46824"/>
                </a:moveTo>
                <a:lnTo>
                  <a:pt x="666114" y="46824"/>
                </a:lnTo>
                <a:lnTo>
                  <a:pt x="665988" y="60540"/>
                </a:lnTo>
                <a:lnTo>
                  <a:pt x="670051" y="60540"/>
                </a:lnTo>
                <a:lnTo>
                  <a:pt x="670051" y="46824"/>
                </a:lnTo>
                <a:close/>
              </a:path>
              <a:path w="685800" h="107314">
                <a:moveTo>
                  <a:pt x="640673" y="45690"/>
                </a:moveTo>
                <a:lnTo>
                  <a:pt x="654294" y="53681"/>
                </a:lnTo>
                <a:lnTo>
                  <a:pt x="666114" y="46824"/>
                </a:lnTo>
                <a:lnTo>
                  <a:pt x="670051" y="46824"/>
                </a:lnTo>
                <a:lnTo>
                  <a:pt x="670051" y="45758"/>
                </a:lnTo>
                <a:lnTo>
                  <a:pt x="640673" y="456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7339" y="3386201"/>
            <a:ext cx="329565" cy="24574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 marR="30480" indent="1270" algn="just">
              <a:lnSpc>
                <a:spcPct val="110700"/>
              </a:lnSpc>
              <a:spcBef>
                <a:spcPts val="114"/>
              </a:spcBef>
            </a:pPr>
            <a:r>
              <a:rPr sz="1800" spc="-10" dirty="0">
                <a:latin typeface="Times New Roman"/>
                <a:cs typeface="Times New Roman"/>
              </a:rPr>
              <a:t>D</a:t>
            </a:r>
            <a:r>
              <a:rPr sz="1800" baseline="-20833" dirty="0">
                <a:latin typeface="Times New Roman"/>
                <a:cs typeface="Times New Roman"/>
              </a:rPr>
              <a:t>0  </a:t>
            </a:r>
            <a:r>
              <a:rPr sz="1800" spc="-10" dirty="0">
                <a:latin typeface="Times New Roman"/>
                <a:cs typeface="Times New Roman"/>
              </a:rPr>
              <a:t>D</a:t>
            </a:r>
            <a:r>
              <a:rPr sz="1800" baseline="-20833" dirty="0">
                <a:latin typeface="Times New Roman"/>
                <a:cs typeface="Times New Roman"/>
              </a:rPr>
              <a:t>1  </a:t>
            </a:r>
            <a:r>
              <a:rPr sz="1800" spc="-10" dirty="0">
                <a:latin typeface="Times New Roman"/>
                <a:cs typeface="Times New Roman"/>
              </a:rPr>
              <a:t>D</a:t>
            </a:r>
            <a:r>
              <a:rPr sz="1800" baseline="-20833" dirty="0">
                <a:latin typeface="Times New Roman"/>
                <a:cs typeface="Times New Roman"/>
              </a:rPr>
              <a:t>2  </a:t>
            </a:r>
            <a:r>
              <a:rPr sz="1800" spc="-10" dirty="0">
                <a:latin typeface="Times New Roman"/>
                <a:cs typeface="Times New Roman"/>
              </a:rPr>
              <a:t>D</a:t>
            </a:r>
            <a:r>
              <a:rPr sz="1800" baseline="-20833" dirty="0">
                <a:latin typeface="Times New Roman"/>
                <a:cs typeface="Times New Roman"/>
              </a:rPr>
              <a:t>3  </a:t>
            </a:r>
            <a:r>
              <a:rPr sz="1800" spc="-10" dirty="0">
                <a:latin typeface="Times New Roman"/>
                <a:cs typeface="Times New Roman"/>
              </a:rPr>
              <a:t>D</a:t>
            </a:r>
            <a:r>
              <a:rPr sz="1800" baseline="-20833" dirty="0">
                <a:latin typeface="Times New Roman"/>
                <a:cs typeface="Times New Roman"/>
              </a:rPr>
              <a:t>4  </a:t>
            </a:r>
            <a:r>
              <a:rPr sz="1800" spc="-10" dirty="0">
                <a:latin typeface="Times New Roman"/>
                <a:cs typeface="Times New Roman"/>
              </a:rPr>
              <a:t>D</a:t>
            </a:r>
            <a:r>
              <a:rPr sz="1800" baseline="-20833" dirty="0">
                <a:latin typeface="Times New Roman"/>
                <a:cs typeface="Times New Roman"/>
              </a:rPr>
              <a:t>5  </a:t>
            </a:r>
            <a:r>
              <a:rPr sz="1800" spc="-10" dirty="0">
                <a:latin typeface="Times New Roman"/>
                <a:cs typeface="Times New Roman"/>
              </a:rPr>
              <a:t>D</a:t>
            </a:r>
            <a:r>
              <a:rPr sz="1800" baseline="-20833" dirty="0">
                <a:latin typeface="Times New Roman"/>
                <a:cs typeface="Times New Roman"/>
              </a:rPr>
              <a:t>6  </a:t>
            </a:r>
            <a:r>
              <a:rPr sz="1800" spc="-10" dirty="0">
                <a:latin typeface="Times New Roman"/>
                <a:cs typeface="Times New Roman"/>
              </a:rPr>
              <a:t>D</a:t>
            </a:r>
            <a:r>
              <a:rPr sz="1800" baseline="-20833" dirty="0">
                <a:latin typeface="Times New Roman"/>
                <a:cs typeface="Times New Roman"/>
              </a:rPr>
              <a:t>7</a:t>
            </a:r>
            <a:endParaRPr sz="1800" baseline="-2083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105400" y="3757803"/>
            <a:ext cx="609600" cy="107314"/>
          </a:xfrm>
          <a:custGeom>
            <a:avLst/>
            <a:gdLst/>
            <a:ahLst/>
            <a:cxnLst/>
            <a:rect l="l" t="t" r="r" b="b"/>
            <a:pathLst>
              <a:path w="609600" h="107314">
                <a:moveTo>
                  <a:pt x="564467" y="61640"/>
                </a:moveTo>
                <a:lnTo>
                  <a:pt x="513588" y="91186"/>
                </a:lnTo>
                <a:lnTo>
                  <a:pt x="509777" y="93345"/>
                </a:lnTo>
                <a:lnTo>
                  <a:pt x="508508" y="98171"/>
                </a:lnTo>
                <a:lnTo>
                  <a:pt x="510666" y="101981"/>
                </a:lnTo>
                <a:lnTo>
                  <a:pt x="512952" y="105791"/>
                </a:lnTo>
                <a:lnTo>
                  <a:pt x="517778" y="107061"/>
                </a:lnTo>
                <a:lnTo>
                  <a:pt x="521588" y="104902"/>
                </a:lnTo>
                <a:lnTo>
                  <a:pt x="595841" y="61722"/>
                </a:lnTo>
                <a:lnTo>
                  <a:pt x="564467" y="61640"/>
                </a:lnTo>
                <a:close/>
              </a:path>
              <a:path w="609600" h="107314">
                <a:moveTo>
                  <a:pt x="578158" y="53689"/>
                </a:moveTo>
                <a:lnTo>
                  <a:pt x="564467" y="61640"/>
                </a:lnTo>
                <a:lnTo>
                  <a:pt x="593851" y="61722"/>
                </a:lnTo>
                <a:lnTo>
                  <a:pt x="593851" y="60579"/>
                </a:lnTo>
                <a:lnTo>
                  <a:pt x="589914" y="60579"/>
                </a:lnTo>
                <a:lnTo>
                  <a:pt x="578158" y="53689"/>
                </a:lnTo>
                <a:close/>
              </a:path>
              <a:path w="609600" h="107314">
                <a:moveTo>
                  <a:pt x="518033" y="0"/>
                </a:moveTo>
                <a:lnTo>
                  <a:pt x="513207" y="1270"/>
                </a:lnTo>
                <a:lnTo>
                  <a:pt x="510921" y="5080"/>
                </a:lnTo>
                <a:lnTo>
                  <a:pt x="508762" y="8890"/>
                </a:lnTo>
                <a:lnTo>
                  <a:pt x="510032" y="13716"/>
                </a:lnTo>
                <a:lnTo>
                  <a:pt x="513841" y="16002"/>
                </a:lnTo>
                <a:lnTo>
                  <a:pt x="564635" y="45765"/>
                </a:lnTo>
                <a:lnTo>
                  <a:pt x="593851" y="45847"/>
                </a:lnTo>
                <a:lnTo>
                  <a:pt x="593851" y="61722"/>
                </a:lnTo>
                <a:lnTo>
                  <a:pt x="595841" y="61722"/>
                </a:lnTo>
                <a:lnTo>
                  <a:pt x="609600" y="53721"/>
                </a:lnTo>
                <a:lnTo>
                  <a:pt x="521842" y="2286"/>
                </a:lnTo>
                <a:lnTo>
                  <a:pt x="518033" y="0"/>
                </a:lnTo>
                <a:close/>
              </a:path>
              <a:path w="609600" h="107314">
                <a:moveTo>
                  <a:pt x="0" y="44196"/>
                </a:moveTo>
                <a:lnTo>
                  <a:pt x="0" y="60071"/>
                </a:lnTo>
                <a:lnTo>
                  <a:pt x="564467" y="61640"/>
                </a:lnTo>
                <a:lnTo>
                  <a:pt x="578158" y="53689"/>
                </a:lnTo>
                <a:lnTo>
                  <a:pt x="564635" y="45765"/>
                </a:lnTo>
                <a:lnTo>
                  <a:pt x="0" y="44196"/>
                </a:lnTo>
                <a:close/>
              </a:path>
              <a:path w="609600" h="107314">
                <a:moveTo>
                  <a:pt x="589914" y="46863"/>
                </a:moveTo>
                <a:lnTo>
                  <a:pt x="578158" y="53689"/>
                </a:lnTo>
                <a:lnTo>
                  <a:pt x="589914" y="60579"/>
                </a:lnTo>
                <a:lnTo>
                  <a:pt x="589914" y="46863"/>
                </a:lnTo>
                <a:close/>
              </a:path>
              <a:path w="609600" h="107314">
                <a:moveTo>
                  <a:pt x="593851" y="46863"/>
                </a:moveTo>
                <a:lnTo>
                  <a:pt x="589914" y="46863"/>
                </a:lnTo>
                <a:lnTo>
                  <a:pt x="589914" y="60579"/>
                </a:lnTo>
                <a:lnTo>
                  <a:pt x="593851" y="60579"/>
                </a:lnTo>
                <a:lnTo>
                  <a:pt x="593851" y="46863"/>
                </a:lnTo>
                <a:close/>
              </a:path>
              <a:path w="609600" h="107314">
                <a:moveTo>
                  <a:pt x="564635" y="45765"/>
                </a:moveTo>
                <a:lnTo>
                  <a:pt x="578158" y="53689"/>
                </a:lnTo>
                <a:lnTo>
                  <a:pt x="589914" y="46863"/>
                </a:lnTo>
                <a:lnTo>
                  <a:pt x="593851" y="46863"/>
                </a:lnTo>
                <a:lnTo>
                  <a:pt x="593851" y="45847"/>
                </a:lnTo>
                <a:lnTo>
                  <a:pt x="564635" y="45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05400" y="5432678"/>
            <a:ext cx="609600" cy="107314"/>
          </a:xfrm>
          <a:custGeom>
            <a:avLst/>
            <a:gdLst/>
            <a:ahLst/>
            <a:cxnLst/>
            <a:rect l="l" t="t" r="r" b="b"/>
            <a:pathLst>
              <a:path w="609600" h="107314">
                <a:moveTo>
                  <a:pt x="564602" y="61519"/>
                </a:moveTo>
                <a:lnTo>
                  <a:pt x="513588" y="91059"/>
                </a:lnTo>
                <a:lnTo>
                  <a:pt x="509777" y="93218"/>
                </a:lnTo>
                <a:lnTo>
                  <a:pt x="508508" y="98171"/>
                </a:lnTo>
                <a:lnTo>
                  <a:pt x="510666" y="101854"/>
                </a:lnTo>
                <a:lnTo>
                  <a:pt x="512952" y="105664"/>
                </a:lnTo>
                <a:lnTo>
                  <a:pt x="517778" y="106934"/>
                </a:lnTo>
                <a:lnTo>
                  <a:pt x="521588" y="104775"/>
                </a:lnTo>
                <a:lnTo>
                  <a:pt x="596026" y="61595"/>
                </a:lnTo>
                <a:lnTo>
                  <a:pt x="564602" y="61519"/>
                </a:lnTo>
                <a:close/>
              </a:path>
              <a:path w="609600" h="107314">
                <a:moveTo>
                  <a:pt x="578158" y="53670"/>
                </a:moveTo>
                <a:lnTo>
                  <a:pt x="564602" y="61519"/>
                </a:lnTo>
                <a:lnTo>
                  <a:pt x="593851" y="61595"/>
                </a:lnTo>
                <a:lnTo>
                  <a:pt x="593851" y="60579"/>
                </a:lnTo>
                <a:lnTo>
                  <a:pt x="589914" y="60579"/>
                </a:lnTo>
                <a:lnTo>
                  <a:pt x="578158" y="53670"/>
                </a:lnTo>
                <a:close/>
              </a:path>
              <a:path w="609600" h="107314">
                <a:moveTo>
                  <a:pt x="518033" y="0"/>
                </a:moveTo>
                <a:lnTo>
                  <a:pt x="513207" y="1270"/>
                </a:lnTo>
                <a:lnTo>
                  <a:pt x="510921" y="4953"/>
                </a:lnTo>
                <a:lnTo>
                  <a:pt x="508762" y="8763"/>
                </a:lnTo>
                <a:lnTo>
                  <a:pt x="510032" y="13716"/>
                </a:lnTo>
                <a:lnTo>
                  <a:pt x="513841" y="15875"/>
                </a:lnTo>
                <a:lnTo>
                  <a:pt x="564501" y="45644"/>
                </a:lnTo>
                <a:lnTo>
                  <a:pt x="593851" y="45720"/>
                </a:lnTo>
                <a:lnTo>
                  <a:pt x="593851" y="61595"/>
                </a:lnTo>
                <a:lnTo>
                  <a:pt x="596026" y="61595"/>
                </a:lnTo>
                <a:lnTo>
                  <a:pt x="609600" y="53721"/>
                </a:lnTo>
                <a:lnTo>
                  <a:pt x="521842" y="2159"/>
                </a:lnTo>
                <a:lnTo>
                  <a:pt x="518033" y="0"/>
                </a:lnTo>
                <a:close/>
              </a:path>
              <a:path w="609600" h="107314">
                <a:moveTo>
                  <a:pt x="0" y="44196"/>
                </a:moveTo>
                <a:lnTo>
                  <a:pt x="0" y="60071"/>
                </a:lnTo>
                <a:lnTo>
                  <a:pt x="564602" y="61519"/>
                </a:lnTo>
                <a:lnTo>
                  <a:pt x="578158" y="53670"/>
                </a:lnTo>
                <a:lnTo>
                  <a:pt x="564501" y="45644"/>
                </a:lnTo>
                <a:lnTo>
                  <a:pt x="0" y="44196"/>
                </a:lnTo>
                <a:close/>
              </a:path>
              <a:path w="609600" h="107314">
                <a:moveTo>
                  <a:pt x="589914" y="46863"/>
                </a:moveTo>
                <a:lnTo>
                  <a:pt x="578158" y="53670"/>
                </a:lnTo>
                <a:lnTo>
                  <a:pt x="589914" y="60579"/>
                </a:lnTo>
                <a:lnTo>
                  <a:pt x="589914" y="46863"/>
                </a:lnTo>
                <a:close/>
              </a:path>
              <a:path w="609600" h="107314">
                <a:moveTo>
                  <a:pt x="593851" y="46863"/>
                </a:moveTo>
                <a:lnTo>
                  <a:pt x="589914" y="46863"/>
                </a:lnTo>
                <a:lnTo>
                  <a:pt x="589914" y="60579"/>
                </a:lnTo>
                <a:lnTo>
                  <a:pt x="593851" y="60579"/>
                </a:lnTo>
                <a:lnTo>
                  <a:pt x="593851" y="46863"/>
                </a:lnTo>
                <a:close/>
              </a:path>
              <a:path w="609600" h="107314">
                <a:moveTo>
                  <a:pt x="564501" y="45644"/>
                </a:moveTo>
                <a:lnTo>
                  <a:pt x="578158" y="53670"/>
                </a:lnTo>
                <a:lnTo>
                  <a:pt x="589914" y="46863"/>
                </a:lnTo>
                <a:lnTo>
                  <a:pt x="593851" y="46863"/>
                </a:lnTo>
                <a:lnTo>
                  <a:pt x="593851" y="45720"/>
                </a:lnTo>
                <a:lnTo>
                  <a:pt x="564501" y="456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105400" y="4596003"/>
            <a:ext cx="609600" cy="107314"/>
          </a:xfrm>
          <a:custGeom>
            <a:avLst/>
            <a:gdLst/>
            <a:ahLst/>
            <a:cxnLst/>
            <a:rect l="l" t="t" r="r" b="b"/>
            <a:pathLst>
              <a:path w="609600" h="107314">
                <a:moveTo>
                  <a:pt x="564467" y="61640"/>
                </a:moveTo>
                <a:lnTo>
                  <a:pt x="513588" y="91186"/>
                </a:lnTo>
                <a:lnTo>
                  <a:pt x="509777" y="93345"/>
                </a:lnTo>
                <a:lnTo>
                  <a:pt x="508508" y="98171"/>
                </a:lnTo>
                <a:lnTo>
                  <a:pt x="510666" y="101981"/>
                </a:lnTo>
                <a:lnTo>
                  <a:pt x="512952" y="105791"/>
                </a:lnTo>
                <a:lnTo>
                  <a:pt x="517778" y="107061"/>
                </a:lnTo>
                <a:lnTo>
                  <a:pt x="521588" y="104902"/>
                </a:lnTo>
                <a:lnTo>
                  <a:pt x="595841" y="61722"/>
                </a:lnTo>
                <a:lnTo>
                  <a:pt x="564467" y="61640"/>
                </a:lnTo>
                <a:close/>
              </a:path>
              <a:path w="609600" h="107314">
                <a:moveTo>
                  <a:pt x="578158" y="53689"/>
                </a:moveTo>
                <a:lnTo>
                  <a:pt x="564467" y="61640"/>
                </a:lnTo>
                <a:lnTo>
                  <a:pt x="593851" y="61722"/>
                </a:lnTo>
                <a:lnTo>
                  <a:pt x="593851" y="60579"/>
                </a:lnTo>
                <a:lnTo>
                  <a:pt x="589914" y="60579"/>
                </a:lnTo>
                <a:lnTo>
                  <a:pt x="578158" y="53689"/>
                </a:lnTo>
                <a:close/>
              </a:path>
              <a:path w="609600" h="107314">
                <a:moveTo>
                  <a:pt x="518033" y="0"/>
                </a:moveTo>
                <a:lnTo>
                  <a:pt x="513207" y="1270"/>
                </a:lnTo>
                <a:lnTo>
                  <a:pt x="510921" y="5080"/>
                </a:lnTo>
                <a:lnTo>
                  <a:pt x="508762" y="8890"/>
                </a:lnTo>
                <a:lnTo>
                  <a:pt x="510032" y="13716"/>
                </a:lnTo>
                <a:lnTo>
                  <a:pt x="513841" y="16002"/>
                </a:lnTo>
                <a:lnTo>
                  <a:pt x="564635" y="45765"/>
                </a:lnTo>
                <a:lnTo>
                  <a:pt x="593851" y="45847"/>
                </a:lnTo>
                <a:lnTo>
                  <a:pt x="593851" y="61722"/>
                </a:lnTo>
                <a:lnTo>
                  <a:pt x="595841" y="61722"/>
                </a:lnTo>
                <a:lnTo>
                  <a:pt x="609600" y="53721"/>
                </a:lnTo>
                <a:lnTo>
                  <a:pt x="521842" y="2286"/>
                </a:lnTo>
                <a:lnTo>
                  <a:pt x="518033" y="0"/>
                </a:lnTo>
                <a:close/>
              </a:path>
              <a:path w="609600" h="107314">
                <a:moveTo>
                  <a:pt x="0" y="44196"/>
                </a:moveTo>
                <a:lnTo>
                  <a:pt x="0" y="60071"/>
                </a:lnTo>
                <a:lnTo>
                  <a:pt x="564467" y="61640"/>
                </a:lnTo>
                <a:lnTo>
                  <a:pt x="578158" y="53689"/>
                </a:lnTo>
                <a:lnTo>
                  <a:pt x="564635" y="45765"/>
                </a:lnTo>
                <a:lnTo>
                  <a:pt x="0" y="44196"/>
                </a:lnTo>
                <a:close/>
              </a:path>
              <a:path w="609600" h="107314">
                <a:moveTo>
                  <a:pt x="589914" y="46863"/>
                </a:moveTo>
                <a:lnTo>
                  <a:pt x="578158" y="53689"/>
                </a:lnTo>
                <a:lnTo>
                  <a:pt x="589914" y="60579"/>
                </a:lnTo>
                <a:lnTo>
                  <a:pt x="589914" y="46863"/>
                </a:lnTo>
                <a:close/>
              </a:path>
              <a:path w="609600" h="107314">
                <a:moveTo>
                  <a:pt x="593851" y="46863"/>
                </a:moveTo>
                <a:lnTo>
                  <a:pt x="589914" y="46863"/>
                </a:lnTo>
                <a:lnTo>
                  <a:pt x="589914" y="60579"/>
                </a:lnTo>
                <a:lnTo>
                  <a:pt x="593851" y="60579"/>
                </a:lnTo>
                <a:lnTo>
                  <a:pt x="593851" y="46863"/>
                </a:lnTo>
                <a:close/>
              </a:path>
              <a:path w="609600" h="107314">
                <a:moveTo>
                  <a:pt x="564635" y="45765"/>
                </a:moveTo>
                <a:lnTo>
                  <a:pt x="578158" y="53689"/>
                </a:lnTo>
                <a:lnTo>
                  <a:pt x="589914" y="46863"/>
                </a:lnTo>
                <a:lnTo>
                  <a:pt x="593851" y="46863"/>
                </a:lnTo>
                <a:lnTo>
                  <a:pt x="593851" y="45847"/>
                </a:lnTo>
                <a:lnTo>
                  <a:pt x="564635" y="45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765672" y="3615054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548ED4"/>
                </a:solidFill>
                <a:latin typeface="Times New Roman"/>
                <a:cs typeface="Times New Roman"/>
              </a:rPr>
              <a:t>X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27953" y="4434966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548ED4"/>
                </a:solidFill>
                <a:latin typeface="Times New Roman"/>
                <a:cs typeface="Times New Roman"/>
              </a:rPr>
              <a:t>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65038" y="5331053"/>
            <a:ext cx="1809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548ED4"/>
                </a:solidFill>
                <a:latin typeface="Times New Roman"/>
                <a:cs typeface="Times New Roman"/>
              </a:rPr>
              <a:t>Z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83994" y="5892495"/>
            <a:ext cx="7766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974707"/>
                </a:solidFill>
                <a:latin typeface="Times New Roman"/>
                <a:cs typeface="Times New Roman"/>
              </a:rPr>
              <a:t>I</a:t>
            </a:r>
            <a:r>
              <a:rPr sz="2000" spc="5" dirty="0">
                <a:solidFill>
                  <a:srgbClr val="974707"/>
                </a:solidFill>
                <a:latin typeface="Times New Roman"/>
                <a:cs typeface="Times New Roman"/>
              </a:rPr>
              <a:t>N</a:t>
            </a:r>
            <a:r>
              <a:rPr sz="2000" dirty="0">
                <a:solidFill>
                  <a:srgbClr val="974707"/>
                </a:solidFill>
                <a:latin typeface="Times New Roman"/>
                <a:cs typeface="Times New Roman"/>
              </a:rPr>
              <a:t>PUT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66028" y="5873292"/>
            <a:ext cx="10312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974707"/>
                </a:solidFill>
                <a:latin typeface="Times New Roman"/>
                <a:cs typeface="Times New Roman"/>
              </a:rPr>
              <a:t>O</a:t>
            </a:r>
            <a:r>
              <a:rPr sz="2000" spc="5" dirty="0">
                <a:solidFill>
                  <a:srgbClr val="974707"/>
                </a:solidFill>
                <a:latin typeface="Times New Roman"/>
                <a:cs typeface="Times New Roman"/>
              </a:rPr>
              <a:t>U</a:t>
            </a:r>
            <a:r>
              <a:rPr sz="2000" dirty="0">
                <a:solidFill>
                  <a:srgbClr val="974707"/>
                </a:solidFill>
                <a:latin typeface="Times New Roman"/>
                <a:cs typeface="Times New Roman"/>
              </a:rPr>
              <a:t>TPUT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13175" y="4445889"/>
            <a:ext cx="1104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ENCO</a:t>
            </a:r>
            <a:r>
              <a:rPr sz="1800" spc="-1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19400" y="6324600"/>
            <a:ext cx="5181600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000" dirty="0">
                <a:solidFill>
                  <a:srgbClr val="FF0000"/>
                </a:solidFill>
                <a:latin typeface="Times New Roman"/>
                <a:cs typeface="Times New Roman"/>
              </a:rPr>
              <a:t>               </a:t>
            </a:r>
            <a:r>
              <a:rPr lang="pt-BR" sz="2000" dirty="0">
                <a:latin typeface="Casper"/>
                <a:cs typeface="Times New Roman"/>
              </a:rPr>
              <a:t>Fig.</a:t>
            </a:r>
            <a:r>
              <a:rPr lang="pt-BR" sz="2000" spc="-100" dirty="0">
                <a:latin typeface="Casper"/>
                <a:cs typeface="Times New Roman"/>
              </a:rPr>
              <a:t> 17: </a:t>
            </a:r>
            <a:r>
              <a:rPr lang="pt-BR" sz="2000" dirty="0">
                <a:latin typeface="Casper"/>
              </a:rPr>
              <a:t>ENCODER DIAGRAM </a:t>
            </a:r>
            <a:endParaRPr lang="pt-BR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b="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53340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>
                <a:latin typeface="CasperBOLD"/>
              </a:rPr>
              <a:t>TRUTH</a:t>
            </a:r>
            <a:r>
              <a:rPr spc="-100">
                <a:latin typeface="CasperBOLD"/>
              </a:rPr>
              <a:t> </a:t>
            </a:r>
            <a:r>
              <a:rPr spc="-35">
                <a:latin typeface="CasperBOLD"/>
              </a:rPr>
              <a:t>TABLE</a:t>
            </a:r>
            <a:endParaRPr>
              <a:latin typeface="CasperBOLD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1850" y="831850"/>
          <a:ext cx="7774298" cy="54101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6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6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6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67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67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67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67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67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67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41020">
                <a:tc gridSpan="8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INPUT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9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5689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OUTPUT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D9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spc="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950" spc="15" baseline="-21367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95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spc="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950" spc="15" baseline="-21367" dirty="0">
                          <a:latin typeface="Times New Roman"/>
                          <a:cs typeface="Times New Roman"/>
                        </a:rPr>
                        <a:t>1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959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spc="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950" spc="15" baseline="-21367" dirty="0">
                          <a:latin typeface="Times New Roman"/>
                          <a:cs typeface="Times New Roman"/>
                        </a:rPr>
                        <a:t>2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95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spc="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950" spc="15" baseline="-21367" dirty="0">
                          <a:latin typeface="Times New Roman"/>
                          <a:cs typeface="Times New Roman"/>
                        </a:rPr>
                        <a:t>3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959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spc="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950" spc="15" baseline="-21367" dirty="0">
                          <a:latin typeface="Times New Roman"/>
                          <a:cs typeface="Times New Roman"/>
                        </a:rPr>
                        <a:t>4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959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spc="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950" spc="15" baseline="-21367" dirty="0">
                          <a:latin typeface="Times New Roman"/>
                          <a:cs typeface="Times New Roman"/>
                        </a:rPr>
                        <a:t>5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959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spc="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950" spc="15" baseline="-21367" dirty="0">
                          <a:latin typeface="Times New Roman"/>
                          <a:cs typeface="Times New Roman"/>
                        </a:rPr>
                        <a:t>6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959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spc="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950" spc="15" baseline="-21367" dirty="0">
                          <a:latin typeface="Times New Roman"/>
                          <a:cs typeface="Times New Roman"/>
                        </a:rPr>
                        <a:t>7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959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9593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9593"/>
                    </a:solidFill>
                  </a:tcPr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Z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9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10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10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10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 rot="5400000" flipH="1">
            <a:off x="4867041" y="4987155"/>
            <a:ext cx="553998" cy="2964396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600" dirty="0">
                <a:latin typeface="Casper"/>
                <a:cs typeface="Times New Roman"/>
              </a:rPr>
              <a:t>Fig.</a:t>
            </a:r>
            <a:r>
              <a:rPr lang="pt-BR" sz="1600" spc="-100" dirty="0">
                <a:latin typeface="Casper"/>
                <a:cs typeface="Times New Roman"/>
              </a:rPr>
              <a:t> 18 : </a:t>
            </a:r>
            <a:r>
              <a:rPr lang="pt-BR" sz="1600" dirty="0">
                <a:latin typeface="Casper"/>
              </a:rPr>
              <a:t>ENCODER DIAGRAM </a:t>
            </a:r>
            <a:endParaRPr lang="pt-BR" sz="1600" b="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125538"/>
            <a:ext cx="2667000" cy="1211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9055" marR="43180" algn="just">
              <a:lnSpc>
                <a:spcPct val="129500"/>
              </a:lnSpc>
              <a:spcBef>
                <a:spcPts val="90"/>
              </a:spcBef>
            </a:pPr>
            <a:r>
              <a:rPr sz="2000" u="none" spc="40">
                <a:solidFill>
                  <a:srgbClr val="000000"/>
                </a:solidFill>
              </a:rPr>
              <a:t>X</a:t>
            </a:r>
            <a:r>
              <a:rPr lang="en-US" sz="2000" u="none" spc="40" dirty="0">
                <a:solidFill>
                  <a:srgbClr val="000000"/>
                </a:solidFill>
              </a:rPr>
              <a:t> </a:t>
            </a:r>
            <a:r>
              <a:rPr sz="2000" u="none" spc="3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sz="2000" u="none" spc="30">
                <a:solidFill>
                  <a:srgbClr val="000000"/>
                </a:solidFill>
              </a:rPr>
              <a:t> </a:t>
            </a:r>
            <a:r>
              <a:rPr sz="2000" u="none" spc="75" dirty="0">
                <a:solidFill>
                  <a:srgbClr val="000000"/>
                </a:solidFill>
              </a:rPr>
              <a:t>D</a:t>
            </a:r>
            <a:r>
              <a:rPr sz="1725" u="none" spc="112" baseline="-24154" dirty="0">
                <a:solidFill>
                  <a:srgbClr val="000000"/>
                </a:solidFill>
              </a:rPr>
              <a:t>4 </a:t>
            </a:r>
            <a:r>
              <a:rPr sz="2000" u="none" spc="30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000" u="none" spc="30" dirty="0">
                <a:solidFill>
                  <a:srgbClr val="000000"/>
                </a:solidFill>
              </a:rPr>
              <a:t> </a:t>
            </a:r>
            <a:r>
              <a:rPr sz="2000" u="none" spc="55" dirty="0">
                <a:solidFill>
                  <a:srgbClr val="000000"/>
                </a:solidFill>
              </a:rPr>
              <a:t>D</a:t>
            </a:r>
            <a:r>
              <a:rPr sz="1725" u="none" spc="82" baseline="-24154" dirty="0">
                <a:solidFill>
                  <a:srgbClr val="000000"/>
                </a:solidFill>
              </a:rPr>
              <a:t>5 </a:t>
            </a:r>
            <a:r>
              <a:rPr sz="2000" u="none" spc="30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000" u="none" spc="30" dirty="0">
                <a:solidFill>
                  <a:srgbClr val="000000"/>
                </a:solidFill>
              </a:rPr>
              <a:t> </a:t>
            </a:r>
            <a:r>
              <a:rPr sz="2000" u="none" spc="65" dirty="0">
                <a:solidFill>
                  <a:srgbClr val="000000"/>
                </a:solidFill>
              </a:rPr>
              <a:t>D</a:t>
            </a:r>
            <a:r>
              <a:rPr sz="1725" u="none" spc="97" baseline="-24154" dirty="0">
                <a:solidFill>
                  <a:srgbClr val="000000"/>
                </a:solidFill>
              </a:rPr>
              <a:t>6 </a:t>
            </a:r>
            <a:r>
              <a:rPr sz="2000" u="none" spc="30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000" u="none" spc="30" dirty="0">
                <a:solidFill>
                  <a:srgbClr val="000000"/>
                </a:solidFill>
              </a:rPr>
              <a:t> </a:t>
            </a:r>
            <a:r>
              <a:rPr sz="2000" u="none" spc="65">
                <a:solidFill>
                  <a:srgbClr val="000000"/>
                </a:solidFill>
              </a:rPr>
              <a:t>D</a:t>
            </a:r>
            <a:r>
              <a:rPr sz="1725" u="none" spc="97" baseline="-24154">
                <a:solidFill>
                  <a:srgbClr val="000000"/>
                </a:solidFill>
              </a:rPr>
              <a:t>7  </a:t>
            </a:r>
            <a:r>
              <a:rPr lang="en-US" sz="1725" u="none" spc="97" baseline="-24154" dirty="0">
                <a:solidFill>
                  <a:srgbClr val="000000"/>
                </a:solidFill>
              </a:rPr>
              <a:t/>
            </a:r>
            <a:br>
              <a:rPr lang="en-US" sz="1725" u="none" spc="97" baseline="-24154" dirty="0">
                <a:solidFill>
                  <a:srgbClr val="000000"/>
                </a:solidFill>
              </a:rPr>
            </a:br>
            <a:r>
              <a:rPr sz="2000" u="none" spc="40">
                <a:solidFill>
                  <a:srgbClr val="000000"/>
                </a:solidFill>
              </a:rPr>
              <a:t>Y </a:t>
            </a:r>
            <a:r>
              <a:rPr sz="2000" u="none" spc="30" dirty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sz="2000" u="none" spc="30" dirty="0">
                <a:solidFill>
                  <a:srgbClr val="000000"/>
                </a:solidFill>
              </a:rPr>
              <a:t> </a:t>
            </a:r>
            <a:r>
              <a:rPr sz="2000" u="none" spc="75" dirty="0">
                <a:solidFill>
                  <a:srgbClr val="000000"/>
                </a:solidFill>
              </a:rPr>
              <a:t>D</a:t>
            </a:r>
            <a:r>
              <a:rPr sz="1725" u="none" spc="112" baseline="-24154" dirty="0">
                <a:solidFill>
                  <a:srgbClr val="000000"/>
                </a:solidFill>
              </a:rPr>
              <a:t>2 </a:t>
            </a:r>
            <a:r>
              <a:rPr sz="2000" u="none" spc="30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000" u="none" spc="30" dirty="0">
                <a:solidFill>
                  <a:srgbClr val="000000"/>
                </a:solidFill>
              </a:rPr>
              <a:t> </a:t>
            </a:r>
            <a:r>
              <a:rPr sz="2000" u="none" spc="55" dirty="0">
                <a:solidFill>
                  <a:srgbClr val="000000"/>
                </a:solidFill>
              </a:rPr>
              <a:t>D</a:t>
            </a:r>
            <a:r>
              <a:rPr sz="1725" u="none" spc="82" baseline="-24154" dirty="0">
                <a:solidFill>
                  <a:srgbClr val="000000"/>
                </a:solidFill>
              </a:rPr>
              <a:t>3 </a:t>
            </a:r>
            <a:r>
              <a:rPr sz="2000" u="none" spc="30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000" u="none" spc="30" dirty="0">
                <a:solidFill>
                  <a:srgbClr val="000000"/>
                </a:solidFill>
              </a:rPr>
              <a:t> </a:t>
            </a:r>
            <a:r>
              <a:rPr sz="2000" u="none" spc="65" dirty="0">
                <a:solidFill>
                  <a:srgbClr val="000000"/>
                </a:solidFill>
              </a:rPr>
              <a:t>D</a:t>
            </a:r>
            <a:r>
              <a:rPr sz="1725" u="none" spc="97" baseline="-24154" dirty="0">
                <a:solidFill>
                  <a:srgbClr val="000000"/>
                </a:solidFill>
              </a:rPr>
              <a:t>6 </a:t>
            </a:r>
            <a:r>
              <a:rPr sz="2000" u="none" spc="30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000" u="none" spc="30" dirty="0">
                <a:solidFill>
                  <a:srgbClr val="000000"/>
                </a:solidFill>
              </a:rPr>
              <a:t> </a:t>
            </a:r>
            <a:r>
              <a:rPr sz="2000" u="none" spc="65">
                <a:solidFill>
                  <a:srgbClr val="000000"/>
                </a:solidFill>
              </a:rPr>
              <a:t>D</a:t>
            </a:r>
            <a:r>
              <a:rPr sz="1725" u="none" spc="97" baseline="-24154">
                <a:solidFill>
                  <a:srgbClr val="000000"/>
                </a:solidFill>
              </a:rPr>
              <a:t>7  </a:t>
            </a:r>
            <a:r>
              <a:rPr lang="en-US" sz="1725" u="none" spc="97" baseline="-24154" dirty="0">
                <a:solidFill>
                  <a:srgbClr val="000000"/>
                </a:solidFill>
              </a:rPr>
              <a:t/>
            </a:r>
            <a:br>
              <a:rPr lang="en-US" sz="1725" u="none" spc="97" baseline="-24154" dirty="0">
                <a:solidFill>
                  <a:srgbClr val="000000"/>
                </a:solidFill>
              </a:rPr>
            </a:br>
            <a:r>
              <a:rPr sz="2000" i="1" u="none" spc="30">
                <a:solidFill>
                  <a:srgbClr val="000000"/>
                </a:solidFill>
                <a:latin typeface="Times New Roman"/>
                <a:cs typeface="Times New Roman"/>
              </a:rPr>
              <a:t>Z </a:t>
            </a:r>
            <a:r>
              <a:rPr lang="en-US" sz="2000" i="1" u="none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u="none" spc="3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sz="2000" u="none" spc="30">
                <a:solidFill>
                  <a:srgbClr val="000000"/>
                </a:solidFill>
              </a:rPr>
              <a:t> </a:t>
            </a:r>
            <a:r>
              <a:rPr sz="2000" u="none" spc="10" dirty="0">
                <a:solidFill>
                  <a:srgbClr val="000000"/>
                </a:solidFill>
              </a:rPr>
              <a:t>D</a:t>
            </a:r>
            <a:r>
              <a:rPr sz="1725" u="none" spc="15" baseline="-24154" dirty="0">
                <a:solidFill>
                  <a:srgbClr val="000000"/>
                </a:solidFill>
              </a:rPr>
              <a:t>1 </a:t>
            </a:r>
            <a:r>
              <a:rPr sz="2000" u="none" spc="30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000" u="none" spc="30" dirty="0">
                <a:solidFill>
                  <a:srgbClr val="000000"/>
                </a:solidFill>
              </a:rPr>
              <a:t> </a:t>
            </a:r>
            <a:r>
              <a:rPr sz="2000" u="none" spc="55" dirty="0">
                <a:solidFill>
                  <a:srgbClr val="000000"/>
                </a:solidFill>
              </a:rPr>
              <a:t>D</a:t>
            </a:r>
            <a:r>
              <a:rPr sz="1725" u="none" spc="82" baseline="-24154" dirty="0">
                <a:solidFill>
                  <a:srgbClr val="000000"/>
                </a:solidFill>
              </a:rPr>
              <a:t>3 </a:t>
            </a:r>
            <a:r>
              <a:rPr sz="2000" u="none" spc="30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000" u="none" spc="30" dirty="0">
                <a:solidFill>
                  <a:srgbClr val="000000"/>
                </a:solidFill>
              </a:rPr>
              <a:t> </a:t>
            </a:r>
            <a:r>
              <a:rPr sz="2000" u="none" spc="55" dirty="0">
                <a:solidFill>
                  <a:srgbClr val="000000"/>
                </a:solidFill>
              </a:rPr>
              <a:t>D</a:t>
            </a:r>
            <a:r>
              <a:rPr sz="1725" u="none" spc="82" baseline="-24154" dirty="0">
                <a:solidFill>
                  <a:srgbClr val="000000"/>
                </a:solidFill>
              </a:rPr>
              <a:t>5 </a:t>
            </a:r>
            <a:r>
              <a:rPr sz="2000" u="none" spc="30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000" u="none" spc="-170" dirty="0">
                <a:solidFill>
                  <a:srgbClr val="000000"/>
                </a:solidFill>
              </a:rPr>
              <a:t> </a:t>
            </a:r>
            <a:r>
              <a:rPr sz="2000" u="none" spc="65" dirty="0">
                <a:solidFill>
                  <a:srgbClr val="000000"/>
                </a:solidFill>
              </a:rPr>
              <a:t>D</a:t>
            </a:r>
            <a:r>
              <a:rPr sz="1725" u="none" spc="97" baseline="-24154" dirty="0">
                <a:solidFill>
                  <a:srgbClr val="000000"/>
                </a:solidFill>
              </a:rPr>
              <a:t>7</a:t>
            </a:r>
            <a:endParaRPr sz="1725" baseline="-24154">
              <a:latin typeface="Symbol"/>
              <a:cs typeface="Symbo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26809" y="3202813"/>
            <a:ext cx="1371600" cy="1270"/>
          </a:xfrm>
          <a:custGeom>
            <a:avLst/>
            <a:gdLst/>
            <a:ahLst/>
            <a:cxnLst/>
            <a:rect l="l" t="t" r="r" b="b"/>
            <a:pathLst>
              <a:path w="1371600" h="1269">
                <a:moveTo>
                  <a:pt x="0" y="1015"/>
                </a:moveTo>
                <a:lnTo>
                  <a:pt x="1371599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70500" y="2819400"/>
            <a:ext cx="953769" cy="762000"/>
          </a:xfrm>
          <a:custGeom>
            <a:avLst/>
            <a:gdLst/>
            <a:ahLst/>
            <a:cxnLst/>
            <a:rect l="l" t="t" r="r" b="b"/>
            <a:pathLst>
              <a:path w="953770" h="762000">
                <a:moveTo>
                  <a:pt x="126" y="0"/>
                </a:moveTo>
                <a:lnTo>
                  <a:pt x="0" y="762000"/>
                </a:lnTo>
                <a:lnTo>
                  <a:pt x="459232" y="758698"/>
                </a:lnTo>
                <a:lnTo>
                  <a:pt x="505505" y="752438"/>
                </a:lnTo>
                <a:lnTo>
                  <a:pt x="553185" y="739932"/>
                </a:lnTo>
                <a:lnTo>
                  <a:pt x="601499" y="721935"/>
                </a:lnTo>
                <a:lnTo>
                  <a:pt x="649672" y="699204"/>
                </a:lnTo>
                <a:lnTo>
                  <a:pt x="696930" y="672493"/>
                </a:lnTo>
                <a:lnTo>
                  <a:pt x="742499" y="642558"/>
                </a:lnTo>
                <a:lnTo>
                  <a:pt x="785606" y="610155"/>
                </a:lnTo>
                <a:lnTo>
                  <a:pt x="825476" y="576040"/>
                </a:lnTo>
                <a:lnTo>
                  <a:pt x="861335" y="540967"/>
                </a:lnTo>
                <a:lnTo>
                  <a:pt x="892411" y="505694"/>
                </a:lnTo>
                <a:lnTo>
                  <a:pt x="917928" y="470974"/>
                </a:lnTo>
                <a:lnTo>
                  <a:pt x="937112" y="437564"/>
                </a:lnTo>
                <a:lnTo>
                  <a:pt x="953388" y="377698"/>
                </a:lnTo>
                <a:lnTo>
                  <a:pt x="949062" y="349225"/>
                </a:lnTo>
                <a:lnTo>
                  <a:pt x="916952" y="284877"/>
                </a:lnTo>
                <a:lnTo>
                  <a:pt x="890833" y="250513"/>
                </a:lnTo>
                <a:lnTo>
                  <a:pt x="859117" y="215697"/>
                </a:lnTo>
                <a:lnTo>
                  <a:pt x="822637" y="181185"/>
                </a:lnTo>
                <a:lnTo>
                  <a:pt x="782224" y="147732"/>
                </a:lnTo>
                <a:lnTo>
                  <a:pt x="738713" y="116095"/>
                </a:lnTo>
                <a:lnTo>
                  <a:pt x="692937" y="87030"/>
                </a:lnTo>
                <a:lnTo>
                  <a:pt x="645728" y="61292"/>
                </a:lnTo>
                <a:lnTo>
                  <a:pt x="597920" y="39637"/>
                </a:lnTo>
                <a:lnTo>
                  <a:pt x="550346" y="22821"/>
                </a:lnTo>
                <a:lnTo>
                  <a:pt x="503839" y="11600"/>
                </a:lnTo>
                <a:lnTo>
                  <a:pt x="459232" y="6730"/>
                </a:lnTo>
                <a:lnTo>
                  <a:pt x="1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70500" y="2819400"/>
            <a:ext cx="953769" cy="762000"/>
          </a:xfrm>
          <a:custGeom>
            <a:avLst/>
            <a:gdLst/>
            <a:ahLst/>
            <a:cxnLst/>
            <a:rect l="l" t="t" r="r" b="b"/>
            <a:pathLst>
              <a:path w="953770" h="762000">
                <a:moveTo>
                  <a:pt x="126" y="0"/>
                </a:moveTo>
                <a:lnTo>
                  <a:pt x="459232" y="6730"/>
                </a:lnTo>
                <a:lnTo>
                  <a:pt x="503839" y="11600"/>
                </a:lnTo>
                <a:lnTo>
                  <a:pt x="550346" y="22821"/>
                </a:lnTo>
                <a:lnTo>
                  <a:pt x="597920" y="39637"/>
                </a:lnTo>
                <a:lnTo>
                  <a:pt x="645728" y="61292"/>
                </a:lnTo>
                <a:lnTo>
                  <a:pt x="692937" y="87030"/>
                </a:lnTo>
                <a:lnTo>
                  <a:pt x="738713" y="116095"/>
                </a:lnTo>
                <a:lnTo>
                  <a:pt x="782224" y="147732"/>
                </a:lnTo>
                <a:lnTo>
                  <a:pt x="822637" y="181185"/>
                </a:lnTo>
                <a:lnTo>
                  <a:pt x="859117" y="215697"/>
                </a:lnTo>
                <a:lnTo>
                  <a:pt x="890833" y="250513"/>
                </a:lnTo>
                <a:lnTo>
                  <a:pt x="916952" y="284877"/>
                </a:lnTo>
                <a:lnTo>
                  <a:pt x="936639" y="318033"/>
                </a:lnTo>
                <a:lnTo>
                  <a:pt x="953388" y="377698"/>
                </a:lnTo>
                <a:lnTo>
                  <a:pt x="949190" y="406220"/>
                </a:lnTo>
                <a:lnTo>
                  <a:pt x="917928" y="470974"/>
                </a:lnTo>
                <a:lnTo>
                  <a:pt x="892411" y="505694"/>
                </a:lnTo>
                <a:lnTo>
                  <a:pt x="861335" y="540967"/>
                </a:lnTo>
                <a:lnTo>
                  <a:pt x="825476" y="576040"/>
                </a:lnTo>
                <a:lnTo>
                  <a:pt x="785606" y="610155"/>
                </a:lnTo>
                <a:lnTo>
                  <a:pt x="742499" y="642558"/>
                </a:lnTo>
                <a:lnTo>
                  <a:pt x="696930" y="672493"/>
                </a:lnTo>
                <a:lnTo>
                  <a:pt x="649672" y="699204"/>
                </a:lnTo>
                <a:lnTo>
                  <a:pt x="601499" y="721935"/>
                </a:lnTo>
                <a:lnTo>
                  <a:pt x="553185" y="739932"/>
                </a:lnTo>
                <a:lnTo>
                  <a:pt x="505505" y="752438"/>
                </a:lnTo>
                <a:lnTo>
                  <a:pt x="459232" y="758698"/>
                </a:lnTo>
                <a:lnTo>
                  <a:pt x="0" y="76200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63641" y="2819400"/>
            <a:ext cx="101600" cy="762000"/>
          </a:xfrm>
          <a:custGeom>
            <a:avLst/>
            <a:gdLst/>
            <a:ahLst/>
            <a:cxnLst/>
            <a:rect l="l" t="t" r="r" b="b"/>
            <a:pathLst>
              <a:path w="101600" h="762000">
                <a:moveTo>
                  <a:pt x="0" y="762000"/>
                </a:moveTo>
                <a:lnTo>
                  <a:pt x="40069" y="728982"/>
                </a:lnTo>
                <a:lnTo>
                  <a:pt x="56369" y="692328"/>
                </a:lnTo>
                <a:lnTo>
                  <a:pt x="70172" y="646348"/>
                </a:lnTo>
                <a:lnTo>
                  <a:pt x="81475" y="594121"/>
                </a:lnTo>
                <a:lnTo>
                  <a:pt x="90273" y="538724"/>
                </a:lnTo>
                <a:lnTo>
                  <a:pt x="96563" y="483236"/>
                </a:lnTo>
                <a:lnTo>
                  <a:pt x="100340" y="430736"/>
                </a:lnTo>
                <a:lnTo>
                  <a:pt x="101600" y="384301"/>
                </a:lnTo>
                <a:lnTo>
                  <a:pt x="100344" y="337707"/>
                </a:lnTo>
                <a:lnTo>
                  <a:pt x="96579" y="284636"/>
                </a:lnTo>
                <a:lnTo>
                  <a:pt x="90306" y="228280"/>
                </a:lnTo>
                <a:lnTo>
                  <a:pt x="81528" y="171833"/>
                </a:lnTo>
                <a:lnTo>
                  <a:pt x="70246" y="118488"/>
                </a:lnTo>
                <a:lnTo>
                  <a:pt x="56463" y="71439"/>
                </a:lnTo>
                <a:lnTo>
                  <a:pt x="40180" y="33879"/>
                </a:lnTo>
                <a:lnTo>
                  <a:pt x="21401" y="9002"/>
                </a:lnTo>
                <a:lnTo>
                  <a:pt x="127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9546" y="2268347"/>
            <a:ext cx="0" cy="3810000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85163" y="2286000"/>
            <a:ext cx="0" cy="3810000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94763" y="2303652"/>
            <a:ext cx="0" cy="3810000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828163" y="2306066"/>
            <a:ext cx="0" cy="3810000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0"/>
                </a:moveTo>
                <a:lnTo>
                  <a:pt x="0" y="3809987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52800" y="2306066"/>
            <a:ext cx="0" cy="3810000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0"/>
                </a:moveTo>
                <a:lnTo>
                  <a:pt x="0" y="3809987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95852" y="2314067"/>
            <a:ext cx="0" cy="3810635"/>
          </a:xfrm>
          <a:custGeom>
            <a:avLst/>
            <a:gdLst/>
            <a:ahLst/>
            <a:cxnLst/>
            <a:rect l="l" t="t" r="r" b="b"/>
            <a:pathLst>
              <a:path h="3810635">
                <a:moveTo>
                  <a:pt x="0" y="0"/>
                </a:moveTo>
                <a:lnTo>
                  <a:pt x="0" y="3810012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5800" y="2322067"/>
            <a:ext cx="0" cy="3810635"/>
          </a:xfrm>
          <a:custGeom>
            <a:avLst/>
            <a:gdLst/>
            <a:ahLst/>
            <a:cxnLst/>
            <a:rect l="l" t="t" r="r" b="b"/>
            <a:pathLst>
              <a:path h="3810635">
                <a:moveTo>
                  <a:pt x="0" y="0"/>
                </a:moveTo>
                <a:lnTo>
                  <a:pt x="0" y="3810025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17599" y="2286000"/>
            <a:ext cx="0" cy="3810000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32710" y="1900555"/>
            <a:ext cx="904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583565" algn="l"/>
              </a:tabLst>
            </a:pPr>
            <a:r>
              <a:rPr sz="2000" spc="10" dirty="0">
                <a:solidFill>
                  <a:srgbClr val="943735"/>
                </a:solidFill>
                <a:latin typeface="Times New Roman"/>
                <a:cs typeface="Times New Roman"/>
              </a:rPr>
              <a:t>D</a:t>
            </a:r>
            <a:r>
              <a:rPr sz="1950" spc="15" baseline="-21367" dirty="0">
                <a:solidFill>
                  <a:srgbClr val="943735"/>
                </a:solidFill>
                <a:latin typeface="Times New Roman"/>
                <a:cs typeface="Times New Roman"/>
              </a:rPr>
              <a:t>4	</a:t>
            </a:r>
            <a:r>
              <a:rPr sz="2000" spc="10" dirty="0">
                <a:solidFill>
                  <a:srgbClr val="943735"/>
                </a:solidFill>
                <a:latin typeface="Times New Roman"/>
                <a:cs typeface="Times New Roman"/>
              </a:rPr>
              <a:t>D</a:t>
            </a:r>
            <a:r>
              <a:rPr sz="1950" spc="15" baseline="-21367" dirty="0">
                <a:solidFill>
                  <a:srgbClr val="943735"/>
                </a:solidFill>
                <a:latin typeface="Times New Roman"/>
                <a:cs typeface="Times New Roman"/>
              </a:rPr>
              <a:t>5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30752" y="1917903"/>
            <a:ext cx="3454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10" dirty="0">
                <a:solidFill>
                  <a:srgbClr val="943735"/>
                </a:solidFill>
                <a:latin typeface="Times New Roman"/>
                <a:cs typeface="Times New Roman"/>
              </a:rPr>
              <a:t>D</a:t>
            </a:r>
            <a:r>
              <a:rPr sz="1950" spc="15" baseline="-21367" dirty="0">
                <a:solidFill>
                  <a:srgbClr val="943735"/>
                </a:solidFill>
                <a:latin typeface="Times New Roman"/>
                <a:cs typeface="Times New Roman"/>
              </a:rPr>
              <a:t>6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40352" y="1955038"/>
            <a:ext cx="3454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10" dirty="0">
                <a:solidFill>
                  <a:srgbClr val="943735"/>
                </a:solidFill>
                <a:latin typeface="Times New Roman"/>
                <a:cs typeface="Times New Roman"/>
              </a:rPr>
              <a:t>D</a:t>
            </a:r>
            <a:r>
              <a:rPr sz="1950" spc="15" baseline="-21367" dirty="0">
                <a:solidFill>
                  <a:srgbClr val="943735"/>
                </a:solidFill>
                <a:latin typeface="Times New Roman"/>
                <a:cs typeface="Times New Roman"/>
              </a:rPr>
              <a:t>7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781300" y="2933700"/>
            <a:ext cx="2552700" cy="76200"/>
          </a:xfrm>
          <a:custGeom>
            <a:avLst/>
            <a:gdLst/>
            <a:ahLst/>
            <a:cxnLst/>
            <a:rect l="l" t="t" r="r" b="b"/>
            <a:pathLst>
              <a:path w="25527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893"/>
                </a:lnTo>
                <a:lnTo>
                  <a:pt x="11144" y="65008"/>
                </a:lnTo>
                <a:lnTo>
                  <a:pt x="23252" y="73193"/>
                </a:lnTo>
                <a:lnTo>
                  <a:pt x="38100" y="76200"/>
                </a:lnTo>
                <a:lnTo>
                  <a:pt x="52920" y="73193"/>
                </a:lnTo>
                <a:lnTo>
                  <a:pt x="65008" y="65055"/>
                </a:lnTo>
                <a:lnTo>
                  <a:pt x="73193" y="52947"/>
                </a:lnTo>
                <a:lnTo>
                  <a:pt x="74600" y="45997"/>
                </a:lnTo>
                <a:lnTo>
                  <a:pt x="38100" y="45974"/>
                </a:lnTo>
                <a:lnTo>
                  <a:pt x="38100" y="30099"/>
                </a:lnTo>
                <a:lnTo>
                  <a:pt x="74589" y="30099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2552700" h="76200">
                <a:moveTo>
                  <a:pt x="74594" y="30122"/>
                </a:moveTo>
                <a:lnTo>
                  <a:pt x="76200" y="38100"/>
                </a:lnTo>
                <a:lnTo>
                  <a:pt x="74600" y="45997"/>
                </a:lnTo>
                <a:lnTo>
                  <a:pt x="2552700" y="47625"/>
                </a:lnTo>
                <a:lnTo>
                  <a:pt x="2552700" y="31750"/>
                </a:lnTo>
                <a:lnTo>
                  <a:pt x="74594" y="30122"/>
                </a:lnTo>
                <a:close/>
              </a:path>
              <a:path w="2552700" h="76200">
                <a:moveTo>
                  <a:pt x="38100" y="30099"/>
                </a:moveTo>
                <a:lnTo>
                  <a:pt x="38100" y="45974"/>
                </a:lnTo>
                <a:lnTo>
                  <a:pt x="74600" y="45997"/>
                </a:lnTo>
                <a:lnTo>
                  <a:pt x="76200" y="38100"/>
                </a:lnTo>
                <a:lnTo>
                  <a:pt x="74594" y="30122"/>
                </a:lnTo>
                <a:lnTo>
                  <a:pt x="38100" y="30099"/>
                </a:lnTo>
                <a:close/>
              </a:path>
              <a:path w="2552700" h="76200">
                <a:moveTo>
                  <a:pt x="74589" y="30099"/>
                </a:moveTo>
                <a:lnTo>
                  <a:pt x="38100" y="30099"/>
                </a:lnTo>
                <a:lnTo>
                  <a:pt x="74594" y="301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14700" y="3086100"/>
            <a:ext cx="2049780" cy="76200"/>
          </a:xfrm>
          <a:custGeom>
            <a:avLst/>
            <a:gdLst/>
            <a:ahLst/>
            <a:cxnLst/>
            <a:rect l="l" t="t" r="r" b="b"/>
            <a:pathLst>
              <a:path w="2049779" h="76200">
                <a:moveTo>
                  <a:pt x="38100" y="0"/>
                </a:moveTo>
                <a:lnTo>
                  <a:pt x="23279" y="3006"/>
                </a:lnTo>
                <a:lnTo>
                  <a:pt x="11191" y="11144"/>
                </a:lnTo>
                <a:lnTo>
                  <a:pt x="3006" y="23252"/>
                </a:lnTo>
                <a:lnTo>
                  <a:pt x="0" y="38100"/>
                </a:lnTo>
                <a:lnTo>
                  <a:pt x="2988" y="52893"/>
                </a:lnTo>
                <a:lnTo>
                  <a:pt x="11144" y="65008"/>
                </a:lnTo>
                <a:lnTo>
                  <a:pt x="23252" y="73193"/>
                </a:lnTo>
                <a:lnTo>
                  <a:pt x="38100" y="76200"/>
                </a:lnTo>
                <a:lnTo>
                  <a:pt x="52920" y="73193"/>
                </a:lnTo>
                <a:lnTo>
                  <a:pt x="65008" y="65055"/>
                </a:lnTo>
                <a:lnTo>
                  <a:pt x="73193" y="52947"/>
                </a:lnTo>
                <a:lnTo>
                  <a:pt x="74599" y="46003"/>
                </a:lnTo>
                <a:lnTo>
                  <a:pt x="38100" y="45974"/>
                </a:lnTo>
                <a:lnTo>
                  <a:pt x="38100" y="30099"/>
                </a:lnTo>
                <a:lnTo>
                  <a:pt x="74583" y="30099"/>
                </a:lnTo>
                <a:lnTo>
                  <a:pt x="73211" y="23306"/>
                </a:lnTo>
                <a:lnTo>
                  <a:pt x="65055" y="11191"/>
                </a:lnTo>
                <a:lnTo>
                  <a:pt x="52947" y="3006"/>
                </a:lnTo>
                <a:lnTo>
                  <a:pt x="38100" y="0"/>
                </a:lnTo>
                <a:close/>
              </a:path>
              <a:path w="2049779" h="76200">
                <a:moveTo>
                  <a:pt x="74589" y="30128"/>
                </a:moveTo>
                <a:lnTo>
                  <a:pt x="76200" y="38100"/>
                </a:lnTo>
                <a:lnTo>
                  <a:pt x="74599" y="46003"/>
                </a:lnTo>
                <a:lnTo>
                  <a:pt x="2049779" y="47625"/>
                </a:lnTo>
                <a:lnTo>
                  <a:pt x="2049779" y="31750"/>
                </a:lnTo>
                <a:lnTo>
                  <a:pt x="74589" y="30128"/>
                </a:lnTo>
                <a:close/>
              </a:path>
              <a:path w="2049779" h="76200">
                <a:moveTo>
                  <a:pt x="38100" y="30099"/>
                </a:moveTo>
                <a:lnTo>
                  <a:pt x="38100" y="45974"/>
                </a:lnTo>
                <a:lnTo>
                  <a:pt x="74599" y="46003"/>
                </a:lnTo>
                <a:lnTo>
                  <a:pt x="76200" y="38100"/>
                </a:lnTo>
                <a:lnTo>
                  <a:pt x="74589" y="30128"/>
                </a:lnTo>
                <a:lnTo>
                  <a:pt x="38100" y="30099"/>
                </a:lnTo>
                <a:close/>
              </a:path>
              <a:path w="2049779" h="76200">
                <a:moveTo>
                  <a:pt x="74583" y="30099"/>
                </a:moveTo>
                <a:lnTo>
                  <a:pt x="38100" y="30099"/>
                </a:lnTo>
                <a:lnTo>
                  <a:pt x="74589" y="301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48100" y="3238500"/>
            <a:ext cx="1501140" cy="76200"/>
          </a:xfrm>
          <a:custGeom>
            <a:avLst/>
            <a:gdLst/>
            <a:ahLst/>
            <a:cxnLst/>
            <a:rect l="l" t="t" r="r" b="b"/>
            <a:pathLst>
              <a:path w="1501139" h="76200">
                <a:moveTo>
                  <a:pt x="38100" y="0"/>
                </a:moveTo>
                <a:lnTo>
                  <a:pt x="23279" y="3006"/>
                </a:lnTo>
                <a:lnTo>
                  <a:pt x="11191" y="11144"/>
                </a:lnTo>
                <a:lnTo>
                  <a:pt x="3006" y="23252"/>
                </a:lnTo>
                <a:lnTo>
                  <a:pt x="0" y="38100"/>
                </a:lnTo>
                <a:lnTo>
                  <a:pt x="2988" y="52893"/>
                </a:lnTo>
                <a:lnTo>
                  <a:pt x="11144" y="65008"/>
                </a:lnTo>
                <a:lnTo>
                  <a:pt x="23252" y="73193"/>
                </a:lnTo>
                <a:lnTo>
                  <a:pt x="38100" y="76200"/>
                </a:lnTo>
                <a:lnTo>
                  <a:pt x="52920" y="73193"/>
                </a:lnTo>
                <a:lnTo>
                  <a:pt x="65008" y="65055"/>
                </a:lnTo>
                <a:lnTo>
                  <a:pt x="73193" y="52947"/>
                </a:lnTo>
                <a:lnTo>
                  <a:pt x="74597" y="46015"/>
                </a:lnTo>
                <a:lnTo>
                  <a:pt x="38100" y="45974"/>
                </a:lnTo>
                <a:lnTo>
                  <a:pt x="38100" y="30099"/>
                </a:lnTo>
                <a:lnTo>
                  <a:pt x="74583" y="30099"/>
                </a:lnTo>
                <a:lnTo>
                  <a:pt x="73211" y="23306"/>
                </a:lnTo>
                <a:lnTo>
                  <a:pt x="65055" y="11191"/>
                </a:lnTo>
                <a:lnTo>
                  <a:pt x="52947" y="3006"/>
                </a:lnTo>
                <a:lnTo>
                  <a:pt x="38100" y="0"/>
                </a:lnTo>
                <a:close/>
              </a:path>
              <a:path w="1501139" h="76200">
                <a:moveTo>
                  <a:pt x="74592" y="30140"/>
                </a:moveTo>
                <a:lnTo>
                  <a:pt x="76200" y="38100"/>
                </a:lnTo>
                <a:lnTo>
                  <a:pt x="74597" y="46015"/>
                </a:lnTo>
                <a:lnTo>
                  <a:pt x="1501139" y="47625"/>
                </a:lnTo>
                <a:lnTo>
                  <a:pt x="1501139" y="31750"/>
                </a:lnTo>
                <a:lnTo>
                  <a:pt x="74592" y="30140"/>
                </a:lnTo>
                <a:close/>
              </a:path>
              <a:path w="1501139" h="76200">
                <a:moveTo>
                  <a:pt x="38100" y="30099"/>
                </a:moveTo>
                <a:lnTo>
                  <a:pt x="38100" y="45974"/>
                </a:lnTo>
                <a:lnTo>
                  <a:pt x="74597" y="46015"/>
                </a:lnTo>
                <a:lnTo>
                  <a:pt x="76200" y="38100"/>
                </a:lnTo>
                <a:lnTo>
                  <a:pt x="74592" y="30140"/>
                </a:lnTo>
                <a:lnTo>
                  <a:pt x="38100" y="30099"/>
                </a:lnTo>
                <a:close/>
              </a:path>
              <a:path w="1501139" h="76200">
                <a:moveTo>
                  <a:pt x="74583" y="30099"/>
                </a:moveTo>
                <a:lnTo>
                  <a:pt x="38100" y="30099"/>
                </a:lnTo>
                <a:lnTo>
                  <a:pt x="74592" y="301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457700" y="3390900"/>
            <a:ext cx="876300" cy="76200"/>
          </a:xfrm>
          <a:custGeom>
            <a:avLst/>
            <a:gdLst/>
            <a:ahLst/>
            <a:cxnLst/>
            <a:rect l="l" t="t" r="r" b="b"/>
            <a:pathLst>
              <a:path w="876300" h="76200">
                <a:moveTo>
                  <a:pt x="38226" y="0"/>
                </a:moveTo>
                <a:lnTo>
                  <a:pt x="23360" y="2986"/>
                </a:lnTo>
                <a:lnTo>
                  <a:pt x="11207" y="11128"/>
                </a:lnTo>
                <a:lnTo>
                  <a:pt x="3008" y="23199"/>
                </a:lnTo>
                <a:lnTo>
                  <a:pt x="0" y="37973"/>
                </a:lnTo>
                <a:lnTo>
                  <a:pt x="2986" y="52839"/>
                </a:lnTo>
                <a:lnTo>
                  <a:pt x="11128" y="64992"/>
                </a:lnTo>
                <a:lnTo>
                  <a:pt x="23199" y="73191"/>
                </a:lnTo>
                <a:lnTo>
                  <a:pt x="37973" y="76200"/>
                </a:lnTo>
                <a:lnTo>
                  <a:pt x="52839" y="73213"/>
                </a:lnTo>
                <a:lnTo>
                  <a:pt x="64992" y="65071"/>
                </a:lnTo>
                <a:lnTo>
                  <a:pt x="73191" y="53000"/>
                </a:lnTo>
                <a:lnTo>
                  <a:pt x="74607" y="46045"/>
                </a:lnTo>
                <a:lnTo>
                  <a:pt x="38100" y="45974"/>
                </a:lnTo>
                <a:lnTo>
                  <a:pt x="38100" y="30099"/>
                </a:lnTo>
                <a:lnTo>
                  <a:pt x="74567" y="30099"/>
                </a:lnTo>
                <a:lnTo>
                  <a:pt x="73213" y="23360"/>
                </a:lnTo>
                <a:lnTo>
                  <a:pt x="65071" y="11207"/>
                </a:lnTo>
                <a:lnTo>
                  <a:pt x="53000" y="3008"/>
                </a:lnTo>
                <a:lnTo>
                  <a:pt x="38226" y="0"/>
                </a:lnTo>
                <a:close/>
              </a:path>
              <a:path w="876300" h="76200">
                <a:moveTo>
                  <a:pt x="74581" y="30170"/>
                </a:moveTo>
                <a:lnTo>
                  <a:pt x="76200" y="38226"/>
                </a:lnTo>
                <a:lnTo>
                  <a:pt x="74607" y="46045"/>
                </a:lnTo>
                <a:lnTo>
                  <a:pt x="876300" y="47625"/>
                </a:lnTo>
                <a:lnTo>
                  <a:pt x="876300" y="31750"/>
                </a:lnTo>
                <a:lnTo>
                  <a:pt x="74581" y="30170"/>
                </a:lnTo>
                <a:close/>
              </a:path>
              <a:path w="876300" h="76200">
                <a:moveTo>
                  <a:pt x="38100" y="30099"/>
                </a:moveTo>
                <a:lnTo>
                  <a:pt x="38100" y="45974"/>
                </a:lnTo>
                <a:lnTo>
                  <a:pt x="74607" y="46045"/>
                </a:lnTo>
                <a:lnTo>
                  <a:pt x="76200" y="38226"/>
                </a:lnTo>
                <a:lnTo>
                  <a:pt x="74581" y="30170"/>
                </a:lnTo>
                <a:lnTo>
                  <a:pt x="38100" y="30099"/>
                </a:lnTo>
                <a:close/>
              </a:path>
              <a:path w="876300" h="76200">
                <a:moveTo>
                  <a:pt x="74567" y="30099"/>
                </a:moveTo>
                <a:lnTo>
                  <a:pt x="38100" y="30099"/>
                </a:lnTo>
                <a:lnTo>
                  <a:pt x="74581" y="301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30620" y="4117213"/>
            <a:ext cx="1371600" cy="1270"/>
          </a:xfrm>
          <a:custGeom>
            <a:avLst/>
            <a:gdLst/>
            <a:ahLst/>
            <a:cxnLst/>
            <a:rect l="l" t="t" r="r" b="b"/>
            <a:pathLst>
              <a:path w="1371600" h="1270">
                <a:moveTo>
                  <a:pt x="0" y="1016"/>
                </a:moveTo>
                <a:lnTo>
                  <a:pt x="137160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74309" y="3733800"/>
            <a:ext cx="953769" cy="762000"/>
          </a:xfrm>
          <a:custGeom>
            <a:avLst/>
            <a:gdLst/>
            <a:ahLst/>
            <a:cxnLst/>
            <a:rect l="l" t="t" r="r" b="b"/>
            <a:pathLst>
              <a:path w="953770" h="762000">
                <a:moveTo>
                  <a:pt x="126" y="0"/>
                </a:moveTo>
                <a:lnTo>
                  <a:pt x="0" y="762000"/>
                </a:lnTo>
                <a:lnTo>
                  <a:pt x="459231" y="758698"/>
                </a:lnTo>
                <a:lnTo>
                  <a:pt x="505505" y="752438"/>
                </a:lnTo>
                <a:lnTo>
                  <a:pt x="553185" y="739932"/>
                </a:lnTo>
                <a:lnTo>
                  <a:pt x="601499" y="721935"/>
                </a:lnTo>
                <a:lnTo>
                  <a:pt x="649672" y="699204"/>
                </a:lnTo>
                <a:lnTo>
                  <a:pt x="696930" y="672493"/>
                </a:lnTo>
                <a:lnTo>
                  <a:pt x="742499" y="642558"/>
                </a:lnTo>
                <a:lnTo>
                  <a:pt x="785606" y="610155"/>
                </a:lnTo>
                <a:lnTo>
                  <a:pt x="825476" y="576040"/>
                </a:lnTo>
                <a:lnTo>
                  <a:pt x="861335" y="540967"/>
                </a:lnTo>
                <a:lnTo>
                  <a:pt x="892411" y="505694"/>
                </a:lnTo>
                <a:lnTo>
                  <a:pt x="917928" y="470974"/>
                </a:lnTo>
                <a:lnTo>
                  <a:pt x="937112" y="437564"/>
                </a:lnTo>
                <a:lnTo>
                  <a:pt x="953388" y="377698"/>
                </a:lnTo>
                <a:lnTo>
                  <a:pt x="949062" y="349225"/>
                </a:lnTo>
                <a:lnTo>
                  <a:pt x="916952" y="284877"/>
                </a:lnTo>
                <a:lnTo>
                  <a:pt x="890833" y="250513"/>
                </a:lnTo>
                <a:lnTo>
                  <a:pt x="859117" y="215697"/>
                </a:lnTo>
                <a:lnTo>
                  <a:pt x="822637" y="181185"/>
                </a:lnTo>
                <a:lnTo>
                  <a:pt x="782224" y="147732"/>
                </a:lnTo>
                <a:lnTo>
                  <a:pt x="738713" y="116095"/>
                </a:lnTo>
                <a:lnTo>
                  <a:pt x="692937" y="87030"/>
                </a:lnTo>
                <a:lnTo>
                  <a:pt x="645728" y="61292"/>
                </a:lnTo>
                <a:lnTo>
                  <a:pt x="597920" y="39637"/>
                </a:lnTo>
                <a:lnTo>
                  <a:pt x="550346" y="22821"/>
                </a:lnTo>
                <a:lnTo>
                  <a:pt x="503839" y="11600"/>
                </a:lnTo>
                <a:lnTo>
                  <a:pt x="459231" y="6731"/>
                </a:lnTo>
                <a:lnTo>
                  <a:pt x="1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74309" y="3733800"/>
            <a:ext cx="953769" cy="762000"/>
          </a:xfrm>
          <a:custGeom>
            <a:avLst/>
            <a:gdLst/>
            <a:ahLst/>
            <a:cxnLst/>
            <a:rect l="l" t="t" r="r" b="b"/>
            <a:pathLst>
              <a:path w="953770" h="762000">
                <a:moveTo>
                  <a:pt x="126" y="0"/>
                </a:moveTo>
                <a:lnTo>
                  <a:pt x="459231" y="6731"/>
                </a:lnTo>
                <a:lnTo>
                  <a:pt x="503839" y="11600"/>
                </a:lnTo>
                <a:lnTo>
                  <a:pt x="550346" y="22821"/>
                </a:lnTo>
                <a:lnTo>
                  <a:pt x="597920" y="39637"/>
                </a:lnTo>
                <a:lnTo>
                  <a:pt x="645728" y="61292"/>
                </a:lnTo>
                <a:lnTo>
                  <a:pt x="692937" y="87030"/>
                </a:lnTo>
                <a:lnTo>
                  <a:pt x="738713" y="116095"/>
                </a:lnTo>
                <a:lnTo>
                  <a:pt x="782224" y="147732"/>
                </a:lnTo>
                <a:lnTo>
                  <a:pt x="822637" y="181185"/>
                </a:lnTo>
                <a:lnTo>
                  <a:pt x="859117" y="215697"/>
                </a:lnTo>
                <a:lnTo>
                  <a:pt x="890833" y="250513"/>
                </a:lnTo>
                <a:lnTo>
                  <a:pt x="916952" y="284877"/>
                </a:lnTo>
                <a:lnTo>
                  <a:pt x="936639" y="318033"/>
                </a:lnTo>
                <a:lnTo>
                  <a:pt x="953388" y="377698"/>
                </a:lnTo>
                <a:lnTo>
                  <a:pt x="949190" y="406220"/>
                </a:lnTo>
                <a:lnTo>
                  <a:pt x="917928" y="470974"/>
                </a:lnTo>
                <a:lnTo>
                  <a:pt x="892411" y="505694"/>
                </a:lnTo>
                <a:lnTo>
                  <a:pt x="861335" y="540967"/>
                </a:lnTo>
                <a:lnTo>
                  <a:pt x="825476" y="576040"/>
                </a:lnTo>
                <a:lnTo>
                  <a:pt x="785606" y="610155"/>
                </a:lnTo>
                <a:lnTo>
                  <a:pt x="742499" y="642558"/>
                </a:lnTo>
                <a:lnTo>
                  <a:pt x="696930" y="672493"/>
                </a:lnTo>
                <a:lnTo>
                  <a:pt x="649672" y="699204"/>
                </a:lnTo>
                <a:lnTo>
                  <a:pt x="601499" y="721935"/>
                </a:lnTo>
                <a:lnTo>
                  <a:pt x="553185" y="739932"/>
                </a:lnTo>
                <a:lnTo>
                  <a:pt x="505505" y="752438"/>
                </a:lnTo>
                <a:lnTo>
                  <a:pt x="459231" y="758698"/>
                </a:lnTo>
                <a:lnTo>
                  <a:pt x="0" y="76200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267452" y="3733800"/>
            <a:ext cx="101600" cy="762000"/>
          </a:xfrm>
          <a:custGeom>
            <a:avLst/>
            <a:gdLst/>
            <a:ahLst/>
            <a:cxnLst/>
            <a:rect l="l" t="t" r="r" b="b"/>
            <a:pathLst>
              <a:path w="101600" h="762000">
                <a:moveTo>
                  <a:pt x="0" y="762000"/>
                </a:moveTo>
                <a:lnTo>
                  <a:pt x="40053" y="728982"/>
                </a:lnTo>
                <a:lnTo>
                  <a:pt x="56336" y="692328"/>
                </a:lnTo>
                <a:lnTo>
                  <a:pt x="70119" y="646348"/>
                </a:lnTo>
                <a:lnTo>
                  <a:pt x="81401" y="594121"/>
                </a:lnTo>
                <a:lnTo>
                  <a:pt x="90179" y="538724"/>
                </a:lnTo>
                <a:lnTo>
                  <a:pt x="96452" y="483236"/>
                </a:lnTo>
                <a:lnTo>
                  <a:pt x="100217" y="430736"/>
                </a:lnTo>
                <a:lnTo>
                  <a:pt x="101473" y="384301"/>
                </a:lnTo>
                <a:lnTo>
                  <a:pt x="100221" y="337707"/>
                </a:lnTo>
                <a:lnTo>
                  <a:pt x="96468" y="284636"/>
                </a:lnTo>
                <a:lnTo>
                  <a:pt x="90212" y="228280"/>
                </a:lnTo>
                <a:lnTo>
                  <a:pt x="81454" y="171833"/>
                </a:lnTo>
                <a:lnTo>
                  <a:pt x="70193" y="118488"/>
                </a:lnTo>
                <a:lnTo>
                  <a:pt x="56430" y="71439"/>
                </a:lnTo>
                <a:lnTo>
                  <a:pt x="40164" y="33879"/>
                </a:lnTo>
                <a:lnTo>
                  <a:pt x="21397" y="9002"/>
                </a:lnTo>
                <a:lnTo>
                  <a:pt x="126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220967" y="5041265"/>
            <a:ext cx="1371600" cy="1270"/>
          </a:xfrm>
          <a:custGeom>
            <a:avLst/>
            <a:gdLst/>
            <a:ahLst/>
            <a:cxnLst/>
            <a:rect l="l" t="t" r="r" b="b"/>
            <a:pathLst>
              <a:path w="1371600" h="1270">
                <a:moveTo>
                  <a:pt x="0" y="889"/>
                </a:moveTo>
                <a:lnTo>
                  <a:pt x="1371600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64658" y="4657852"/>
            <a:ext cx="953769" cy="762000"/>
          </a:xfrm>
          <a:custGeom>
            <a:avLst/>
            <a:gdLst/>
            <a:ahLst/>
            <a:cxnLst/>
            <a:rect l="l" t="t" r="r" b="b"/>
            <a:pathLst>
              <a:path w="953770" h="762000">
                <a:moveTo>
                  <a:pt x="126" y="0"/>
                </a:moveTo>
                <a:lnTo>
                  <a:pt x="0" y="762000"/>
                </a:lnTo>
                <a:lnTo>
                  <a:pt x="459231" y="758571"/>
                </a:lnTo>
                <a:lnTo>
                  <a:pt x="505505" y="752336"/>
                </a:lnTo>
                <a:lnTo>
                  <a:pt x="553185" y="739852"/>
                </a:lnTo>
                <a:lnTo>
                  <a:pt x="601499" y="721874"/>
                </a:lnTo>
                <a:lnTo>
                  <a:pt x="649672" y="699157"/>
                </a:lnTo>
                <a:lnTo>
                  <a:pt x="696930" y="672459"/>
                </a:lnTo>
                <a:lnTo>
                  <a:pt x="742499" y="642534"/>
                </a:lnTo>
                <a:lnTo>
                  <a:pt x="785606" y="610139"/>
                </a:lnTo>
                <a:lnTo>
                  <a:pt x="825476" y="576030"/>
                </a:lnTo>
                <a:lnTo>
                  <a:pt x="861335" y="540961"/>
                </a:lnTo>
                <a:lnTo>
                  <a:pt x="892411" y="505691"/>
                </a:lnTo>
                <a:lnTo>
                  <a:pt x="917928" y="470973"/>
                </a:lnTo>
                <a:lnTo>
                  <a:pt x="937112" y="437564"/>
                </a:lnTo>
                <a:lnTo>
                  <a:pt x="953388" y="377698"/>
                </a:lnTo>
                <a:lnTo>
                  <a:pt x="949062" y="349225"/>
                </a:lnTo>
                <a:lnTo>
                  <a:pt x="916952" y="284877"/>
                </a:lnTo>
                <a:lnTo>
                  <a:pt x="890833" y="250513"/>
                </a:lnTo>
                <a:lnTo>
                  <a:pt x="859117" y="215697"/>
                </a:lnTo>
                <a:lnTo>
                  <a:pt x="822637" y="181185"/>
                </a:lnTo>
                <a:lnTo>
                  <a:pt x="782224" y="147732"/>
                </a:lnTo>
                <a:lnTo>
                  <a:pt x="738713" y="116095"/>
                </a:lnTo>
                <a:lnTo>
                  <a:pt x="692937" y="87030"/>
                </a:lnTo>
                <a:lnTo>
                  <a:pt x="645728" y="61292"/>
                </a:lnTo>
                <a:lnTo>
                  <a:pt x="597920" y="39637"/>
                </a:lnTo>
                <a:lnTo>
                  <a:pt x="550346" y="22821"/>
                </a:lnTo>
                <a:lnTo>
                  <a:pt x="503839" y="11600"/>
                </a:lnTo>
                <a:lnTo>
                  <a:pt x="459231" y="6731"/>
                </a:lnTo>
                <a:lnTo>
                  <a:pt x="1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64658" y="4657852"/>
            <a:ext cx="953769" cy="762000"/>
          </a:xfrm>
          <a:custGeom>
            <a:avLst/>
            <a:gdLst/>
            <a:ahLst/>
            <a:cxnLst/>
            <a:rect l="l" t="t" r="r" b="b"/>
            <a:pathLst>
              <a:path w="953770" h="762000">
                <a:moveTo>
                  <a:pt x="126" y="0"/>
                </a:moveTo>
                <a:lnTo>
                  <a:pt x="459231" y="6731"/>
                </a:lnTo>
                <a:lnTo>
                  <a:pt x="503839" y="11600"/>
                </a:lnTo>
                <a:lnTo>
                  <a:pt x="550346" y="22821"/>
                </a:lnTo>
                <a:lnTo>
                  <a:pt x="597920" y="39637"/>
                </a:lnTo>
                <a:lnTo>
                  <a:pt x="645728" y="61292"/>
                </a:lnTo>
                <a:lnTo>
                  <a:pt x="692937" y="87030"/>
                </a:lnTo>
                <a:lnTo>
                  <a:pt x="738713" y="116095"/>
                </a:lnTo>
                <a:lnTo>
                  <a:pt x="782224" y="147732"/>
                </a:lnTo>
                <a:lnTo>
                  <a:pt x="822637" y="181185"/>
                </a:lnTo>
                <a:lnTo>
                  <a:pt x="859117" y="215697"/>
                </a:lnTo>
                <a:lnTo>
                  <a:pt x="890833" y="250513"/>
                </a:lnTo>
                <a:lnTo>
                  <a:pt x="916952" y="284877"/>
                </a:lnTo>
                <a:lnTo>
                  <a:pt x="936639" y="318033"/>
                </a:lnTo>
                <a:lnTo>
                  <a:pt x="953388" y="377698"/>
                </a:lnTo>
                <a:lnTo>
                  <a:pt x="949190" y="406220"/>
                </a:lnTo>
                <a:lnTo>
                  <a:pt x="917928" y="470973"/>
                </a:lnTo>
                <a:lnTo>
                  <a:pt x="892411" y="505691"/>
                </a:lnTo>
                <a:lnTo>
                  <a:pt x="861335" y="540961"/>
                </a:lnTo>
                <a:lnTo>
                  <a:pt x="825476" y="576030"/>
                </a:lnTo>
                <a:lnTo>
                  <a:pt x="785606" y="610139"/>
                </a:lnTo>
                <a:lnTo>
                  <a:pt x="742499" y="642534"/>
                </a:lnTo>
                <a:lnTo>
                  <a:pt x="696930" y="672459"/>
                </a:lnTo>
                <a:lnTo>
                  <a:pt x="649672" y="699157"/>
                </a:lnTo>
                <a:lnTo>
                  <a:pt x="601499" y="721874"/>
                </a:lnTo>
                <a:lnTo>
                  <a:pt x="553185" y="739852"/>
                </a:lnTo>
                <a:lnTo>
                  <a:pt x="505505" y="752336"/>
                </a:lnTo>
                <a:lnTo>
                  <a:pt x="459231" y="758571"/>
                </a:lnTo>
                <a:lnTo>
                  <a:pt x="0" y="76200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257800" y="4657852"/>
            <a:ext cx="101600" cy="762000"/>
          </a:xfrm>
          <a:custGeom>
            <a:avLst/>
            <a:gdLst/>
            <a:ahLst/>
            <a:cxnLst/>
            <a:rect l="l" t="t" r="r" b="b"/>
            <a:pathLst>
              <a:path w="101600" h="762000">
                <a:moveTo>
                  <a:pt x="0" y="762000"/>
                </a:moveTo>
                <a:lnTo>
                  <a:pt x="40053" y="728968"/>
                </a:lnTo>
                <a:lnTo>
                  <a:pt x="56336" y="692300"/>
                </a:lnTo>
                <a:lnTo>
                  <a:pt x="70119" y="646307"/>
                </a:lnTo>
                <a:lnTo>
                  <a:pt x="81401" y="594069"/>
                </a:lnTo>
                <a:lnTo>
                  <a:pt x="90179" y="538668"/>
                </a:lnTo>
                <a:lnTo>
                  <a:pt x="96452" y="483185"/>
                </a:lnTo>
                <a:lnTo>
                  <a:pt x="100217" y="430703"/>
                </a:lnTo>
                <a:lnTo>
                  <a:pt x="101473" y="384302"/>
                </a:lnTo>
                <a:lnTo>
                  <a:pt x="100221" y="337707"/>
                </a:lnTo>
                <a:lnTo>
                  <a:pt x="96468" y="284636"/>
                </a:lnTo>
                <a:lnTo>
                  <a:pt x="90212" y="228280"/>
                </a:lnTo>
                <a:lnTo>
                  <a:pt x="81454" y="171833"/>
                </a:lnTo>
                <a:lnTo>
                  <a:pt x="70193" y="118488"/>
                </a:lnTo>
                <a:lnTo>
                  <a:pt x="56430" y="71439"/>
                </a:lnTo>
                <a:lnTo>
                  <a:pt x="40164" y="33879"/>
                </a:lnTo>
                <a:lnTo>
                  <a:pt x="21397" y="9002"/>
                </a:lnTo>
                <a:lnTo>
                  <a:pt x="126" y="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457700" y="4303648"/>
            <a:ext cx="876300" cy="76200"/>
          </a:xfrm>
          <a:custGeom>
            <a:avLst/>
            <a:gdLst/>
            <a:ahLst/>
            <a:cxnLst/>
            <a:rect l="l" t="t" r="r" b="b"/>
            <a:pathLst>
              <a:path w="876300" h="76200">
                <a:moveTo>
                  <a:pt x="38226" y="0"/>
                </a:moveTo>
                <a:lnTo>
                  <a:pt x="23360" y="2988"/>
                </a:lnTo>
                <a:lnTo>
                  <a:pt x="11207" y="11144"/>
                </a:lnTo>
                <a:lnTo>
                  <a:pt x="3008" y="23252"/>
                </a:lnTo>
                <a:lnTo>
                  <a:pt x="0" y="38100"/>
                </a:lnTo>
                <a:lnTo>
                  <a:pt x="2986" y="52947"/>
                </a:lnTo>
                <a:lnTo>
                  <a:pt x="11128" y="65055"/>
                </a:lnTo>
                <a:lnTo>
                  <a:pt x="23199" y="73211"/>
                </a:lnTo>
                <a:lnTo>
                  <a:pt x="37973" y="76200"/>
                </a:lnTo>
                <a:lnTo>
                  <a:pt x="52839" y="73284"/>
                </a:lnTo>
                <a:lnTo>
                  <a:pt x="64992" y="65166"/>
                </a:lnTo>
                <a:lnTo>
                  <a:pt x="73191" y="53072"/>
                </a:lnTo>
                <a:lnTo>
                  <a:pt x="74590" y="46167"/>
                </a:lnTo>
                <a:lnTo>
                  <a:pt x="38100" y="46100"/>
                </a:lnTo>
                <a:lnTo>
                  <a:pt x="38100" y="30225"/>
                </a:lnTo>
                <a:lnTo>
                  <a:pt x="74590" y="30225"/>
                </a:lnTo>
                <a:lnTo>
                  <a:pt x="73213" y="23377"/>
                </a:lnTo>
                <a:lnTo>
                  <a:pt x="65071" y="11255"/>
                </a:lnTo>
                <a:lnTo>
                  <a:pt x="53000" y="3061"/>
                </a:lnTo>
                <a:lnTo>
                  <a:pt x="38226" y="0"/>
                </a:lnTo>
                <a:close/>
              </a:path>
              <a:path w="876300" h="76200">
                <a:moveTo>
                  <a:pt x="74604" y="30292"/>
                </a:moveTo>
                <a:lnTo>
                  <a:pt x="76200" y="38226"/>
                </a:lnTo>
                <a:lnTo>
                  <a:pt x="74590" y="46167"/>
                </a:lnTo>
                <a:lnTo>
                  <a:pt x="876300" y="47625"/>
                </a:lnTo>
                <a:lnTo>
                  <a:pt x="876300" y="31750"/>
                </a:lnTo>
                <a:lnTo>
                  <a:pt x="74604" y="30292"/>
                </a:lnTo>
                <a:close/>
              </a:path>
              <a:path w="876300" h="76200">
                <a:moveTo>
                  <a:pt x="38100" y="30225"/>
                </a:moveTo>
                <a:lnTo>
                  <a:pt x="38100" y="46100"/>
                </a:lnTo>
                <a:lnTo>
                  <a:pt x="74590" y="46167"/>
                </a:lnTo>
                <a:lnTo>
                  <a:pt x="76200" y="38226"/>
                </a:lnTo>
                <a:lnTo>
                  <a:pt x="74604" y="30292"/>
                </a:lnTo>
                <a:lnTo>
                  <a:pt x="38100" y="30225"/>
                </a:lnTo>
                <a:close/>
              </a:path>
              <a:path w="876300" h="76200">
                <a:moveTo>
                  <a:pt x="74590" y="30225"/>
                </a:moveTo>
                <a:lnTo>
                  <a:pt x="38100" y="30225"/>
                </a:lnTo>
                <a:lnTo>
                  <a:pt x="74604" y="302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457700" y="5218048"/>
            <a:ext cx="876300" cy="76200"/>
          </a:xfrm>
          <a:custGeom>
            <a:avLst/>
            <a:gdLst/>
            <a:ahLst/>
            <a:cxnLst/>
            <a:rect l="l" t="t" r="r" b="b"/>
            <a:pathLst>
              <a:path w="876300" h="76200">
                <a:moveTo>
                  <a:pt x="38226" y="0"/>
                </a:moveTo>
                <a:lnTo>
                  <a:pt x="23360" y="2988"/>
                </a:lnTo>
                <a:lnTo>
                  <a:pt x="11207" y="11144"/>
                </a:lnTo>
                <a:lnTo>
                  <a:pt x="3008" y="23252"/>
                </a:lnTo>
                <a:lnTo>
                  <a:pt x="0" y="38100"/>
                </a:lnTo>
                <a:lnTo>
                  <a:pt x="2986" y="52947"/>
                </a:lnTo>
                <a:lnTo>
                  <a:pt x="11128" y="65055"/>
                </a:lnTo>
                <a:lnTo>
                  <a:pt x="23199" y="73211"/>
                </a:lnTo>
                <a:lnTo>
                  <a:pt x="37973" y="76200"/>
                </a:lnTo>
                <a:lnTo>
                  <a:pt x="52839" y="73284"/>
                </a:lnTo>
                <a:lnTo>
                  <a:pt x="64992" y="65166"/>
                </a:lnTo>
                <a:lnTo>
                  <a:pt x="73191" y="53072"/>
                </a:lnTo>
                <a:lnTo>
                  <a:pt x="74590" y="46167"/>
                </a:lnTo>
                <a:lnTo>
                  <a:pt x="38100" y="46100"/>
                </a:lnTo>
                <a:lnTo>
                  <a:pt x="38100" y="30225"/>
                </a:lnTo>
                <a:lnTo>
                  <a:pt x="74590" y="30225"/>
                </a:lnTo>
                <a:lnTo>
                  <a:pt x="73213" y="23377"/>
                </a:lnTo>
                <a:lnTo>
                  <a:pt x="65071" y="11255"/>
                </a:lnTo>
                <a:lnTo>
                  <a:pt x="53000" y="3061"/>
                </a:lnTo>
                <a:lnTo>
                  <a:pt x="38226" y="0"/>
                </a:lnTo>
                <a:close/>
              </a:path>
              <a:path w="876300" h="76200">
                <a:moveTo>
                  <a:pt x="74604" y="30292"/>
                </a:moveTo>
                <a:lnTo>
                  <a:pt x="76200" y="38226"/>
                </a:lnTo>
                <a:lnTo>
                  <a:pt x="74590" y="46167"/>
                </a:lnTo>
                <a:lnTo>
                  <a:pt x="876300" y="47625"/>
                </a:lnTo>
                <a:lnTo>
                  <a:pt x="876300" y="31750"/>
                </a:lnTo>
                <a:lnTo>
                  <a:pt x="74604" y="30292"/>
                </a:lnTo>
                <a:close/>
              </a:path>
              <a:path w="876300" h="76200">
                <a:moveTo>
                  <a:pt x="38100" y="30225"/>
                </a:moveTo>
                <a:lnTo>
                  <a:pt x="38100" y="46100"/>
                </a:lnTo>
                <a:lnTo>
                  <a:pt x="74590" y="46167"/>
                </a:lnTo>
                <a:lnTo>
                  <a:pt x="76200" y="38226"/>
                </a:lnTo>
                <a:lnTo>
                  <a:pt x="74604" y="30292"/>
                </a:lnTo>
                <a:lnTo>
                  <a:pt x="38100" y="30225"/>
                </a:lnTo>
                <a:close/>
              </a:path>
              <a:path w="876300" h="76200">
                <a:moveTo>
                  <a:pt x="74590" y="30225"/>
                </a:moveTo>
                <a:lnTo>
                  <a:pt x="38100" y="30225"/>
                </a:lnTo>
                <a:lnTo>
                  <a:pt x="74604" y="302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848100" y="4151248"/>
            <a:ext cx="1501140" cy="76200"/>
          </a:xfrm>
          <a:custGeom>
            <a:avLst/>
            <a:gdLst/>
            <a:ahLst/>
            <a:cxnLst/>
            <a:rect l="l" t="t" r="r" b="b"/>
            <a:pathLst>
              <a:path w="1501139" h="76200">
                <a:moveTo>
                  <a:pt x="38100" y="0"/>
                </a:moveTo>
                <a:lnTo>
                  <a:pt x="23306" y="2988"/>
                </a:lnTo>
                <a:lnTo>
                  <a:pt x="11191" y="11144"/>
                </a:lnTo>
                <a:lnTo>
                  <a:pt x="3006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893" y="73267"/>
                </a:lnTo>
                <a:lnTo>
                  <a:pt x="65008" y="65119"/>
                </a:lnTo>
                <a:lnTo>
                  <a:pt x="73193" y="53018"/>
                </a:lnTo>
                <a:lnTo>
                  <a:pt x="74591" y="46139"/>
                </a:lnTo>
                <a:lnTo>
                  <a:pt x="38100" y="46100"/>
                </a:lnTo>
                <a:lnTo>
                  <a:pt x="38100" y="30225"/>
                </a:lnTo>
                <a:lnTo>
                  <a:pt x="74589" y="30225"/>
                </a:lnTo>
                <a:lnTo>
                  <a:pt x="73211" y="23377"/>
                </a:lnTo>
                <a:lnTo>
                  <a:pt x="65055" y="11255"/>
                </a:lnTo>
                <a:lnTo>
                  <a:pt x="52947" y="3061"/>
                </a:lnTo>
                <a:lnTo>
                  <a:pt x="38100" y="0"/>
                </a:lnTo>
                <a:close/>
              </a:path>
              <a:path w="1501139" h="76200">
                <a:moveTo>
                  <a:pt x="74597" y="30264"/>
                </a:moveTo>
                <a:lnTo>
                  <a:pt x="76200" y="38226"/>
                </a:lnTo>
                <a:lnTo>
                  <a:pt x="74591" y="46139"/>
                </a:lnTo>
                <a:lnTo>
                  <a:pt x="1501139" y="47625"/>
                </a:lnTo>
                <a:lnTo>
                  <a:pt x="1501139" y="31750"/>
                </a:lnTo>
                <a:lnTo>
                  <a:pt x="74597" y="30264"/>
                </a:lnTo>
                <a:close/>
              </a:path>
              <a:path w="1501139" h="76200">
                <a:moveTo>
                  <a:pt x="38100" y="30225"/>
                </a:moveTo>
                <a:lnTo>
                  <a:pt x="38100" y="46100"/>
                </a:lnTo>
                <a:lnTo>
                  <a:pt x="74591" y="46139"/>
                </a:lnTo>
                <a:lnTo>
                  <a:pt x="76200" y="38226"/>
                </a:lnTo>
                <a:lnTo>
                  <a:pt x="74597" y="30264"/>
                </a:lnTo>
                <a:lnTo>
                  <a:pt x="38100" y="30225"/>
                </a:lnTo>
                <a:close/>
              </a:path>
              <a:path w="1501139" h="76200">
                <a:moveTo>
                  <a:pt x="74589" y="30225"/>
                </a:moveTo>
                <a:lnTo>
                  <a:pt x="38100" y="30225"/>
                </a:lnTo>
                <a:lnTo>
                  <a:pt x="74597" y="302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247900" y="4000500"/>
            <a:ext cx="3121025" cy="76200"/>
          </a:xfrm>
          <a:custGeom>
            <a:avLst/>
            <a:gdLst/>
            <a:ahLst/>
            <a:cxnLst/>
            <a:rect l="l" t="t" r="r" b="b"/>
            <a:pathLst>
              <a:path w="3121025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615" y="45974"/>
                </a:lnTo>
                <a:lnTo>
                  <a:pt x="38100" y="45974"/>
                </a:lnTo>
                <a:lnTo>
                  <a:pt x="38100" y="30099"/>
                </a:lnTo>
                <a:lnTo>
                  <a:pt x="74589" y="30099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121025" h="76200">
                <a:moveTo>
                  <a:pt x="74589" y="30099"/>
                </a:moveTo>
                <a:lnTo>
                  <a:pt x="38100" y="30099"/>
                </a:lnTo>
                <a:lnTo>
                  <a:pt x="38100" y="45974"/>
                </a:lnTo>
                <a:lnTo>
                  <a:pt x="74615" y="45974"/>
                </a:lnTo>
                <a:lnTo>
                  <a:pt x="76200" y="38100"/>
                </a:lnTo>
                <a:lnTo>
                  <a:pt x="74589" y="30099"/>
                </a:lnTo>
                <a:close/>
              </a:path>
              <a:path w="3121025" h="76200">
                <a:moveTo>
                  <a:pt x="3121025" y="30099"/>
                </a:moveTo>
                <a:lnTo>
                  <a:pt x="74589" y="30099"/>
                </a:lnTo>
                <a:lnTo>
                  <a:pt x="76200" y="38100"/>
                </a:lnTo>
                <a:lnTo>
                  <a:pt x="74615" y="45974"/>
                </a:lnTo>
                <a:lnTo>
                  <a:pt x="3121025" y="45974"/>
                </a:lnTo>
                <a:lnTo>
                  <a:pt x="3121025" y="30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647951" y="3829684"/>
            <a:ext cx="3695700" cy="76200"/>
          </a:xfrm>
          <a:custGeom>
            <a:avLst/>
            <a:gdLst/>
            <a:ahLst/>
            <a:cxnLst/>
            <a:rect l="l" t="t" r="r" b="b"/>
            <a:pathLst>
              <a:path w="36957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893"/>
                </a:lnTo>
                <a:lnTo>
                  <a:pt x="11144" y="65008"/>
                </a:lnTo>
                <a:lnTo>
                  <a:pt x="23252" y="73193"/>
                </a:lnTo>
                <a:lnTo>
                  <a:pt x="38100" y="76200"/>
                </a:lnTo>
                <a:lnTo>
                  <a:pt x="52893" y="73193"/>
                </a:lnTo>
                <a:lnTo>
                  <a:pt x="65008" y="65008"/>
                </a:lnTo>
                <a:lnTo>
                  <a:pt x="73193" y="52893"/>
                </a:lnTo>
                <a:lnTo>
                  <a:pt x="74599" y="45973"/>
                </a:lnTo>
                <a:lnTo>
                  <a:pt x="38100" y="45973"/>
                </a:lnTo>
                <a:lnTo>
                  <a:pt x="38100" y="30098"/>
                </a:lnTo>
                <a:lnTo>
                  <a:pt x="74579" y="30098"/>
                </a:lnTo>
                <a:lnTo>
                  <a:pt x="73193" y="23252"/>
                </a:lnTo>
                <a:lnTo>
                  <a:pt x="65008" y="11144"/>
                </a:lnTo>
                <a:lnTo>
                  <a:pt x="52893" y="2988"/>
                </a:lnTo>
                <a:lnTo>
                  <a:pt x="38100" y="0"/>
                </a:lnTo>
                <a:close/>
              </a:path>
              <a:path w="3695700" h="76200">
                <a:moveTo>
                  <a:pt x="74579" y="30098"/>
                </a:moveTo>
                <a:lnTo>
                  <a:pt x="38100" y="30098"/>
                </a:lnTo>
                <a:lnTo>
                  <a:pt x="38100" y="45973"/>
                </a:lnTo>
                <a:lnTo>
                  <a:pt x="74599" y="45973"/>
                </a:lnTo>
                <a:lnTo>
                  <a:pt x="76200" y="38100"/>
                </a:lnTo>
                <a:lnTo>
                  <a:pt x="74579" y="30098"/>
                </a:lnTo>
                <a:close/>
              </a:path>
              <a:path w="3695700" h="76200">
                <a:moveTo>
                  <a:pt x="3695700" y="30098"/>
                </a:moveTo>
                <a:lnTo>
                  <a:pt x="74579" y="30098"/>
                </a:lnTo>
                <a:lnTo>
                  <a:pt x="76200" y="38100"/>
                </a:lnTo>
                <a:lnTo>
                  <a:pt x="74599" y="45973"/>
                </a:lnTo>
                <a:lnTo>
                  <a:pt x="3695700" y="45973"/>
                </a:lnTo>
                <a:lnTo>
                  <a:pt x="3695700" y="300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247900" y="4914900"/>
            <a:ext cx="3121025" cy="76200"/>
          </a:xfrm>
          <a:custGeom>
            <a:avLst/>
            <a:gdLst/>
            <a:ahLst/>
            <a:cxnLst/>
            <a:rect l="l" t="t" r="r" b="b"/>
            <a:pathLst>
              <a:path w="3121025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615" y="45974"/>
                </a:lnTo>
                <a:lnTo>
                  <a:pt x="38100" y="45974"/>
                </a:lnTo>
                <a:lnTo>
                  <a:pt x="38100" y="30099"/>
                </a:lnTo>
                <a:lnTo>
                  <a:pt x="74589" y="30099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121025" h="76200">
                <a:moveTo>
                  <a:pt x="74589" y="30099"/>
                </a:moveTo>
                <a:lnTo>
                  <a:pt x="38100" y="30099"/>
                </a:lnTo>
                <a:lnTo>
                  <a:pt x="38100" y="45974"/>
                </a:lnTo>
                <a:lnTo>
                  <a:pt x="74615" y="45974"/>
                </a:lnTo>
                <a:lnTo>
                  <a:pt x="76200" y="38100"/>
                </a:lnTo>
                <a:lnTo>
                  <a:pt x="74589" y="30099"/>
                </a:lnTo>
                <a:close/>
              </a:path>
              <a:path w="3121025" h="76200">
                <a:moveTo>
                  <a:pt x="3121025" y="30099"/>
                </a:moveTo>
                <a:lnTo>
                  <a:pt x="74589" y="30099"/>
                </a:lnTo>
                <a:lnTo>
                  <a:pt x="76200" y="38100"/>
                </a:lnTo>
                <a:lnTo>
                  <a:pt x="74615" y="45974"/>
                </a:lnTo>
                <a:lnTo>
                  <a:pt x="3121025" y="45974"/>
                </a:lnTo>
                <a:lnTo>
                  <a:pt x="3121025" y="30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314700" y="5067300"/>
            <a:ext cx="2059305" cy="76200"/>
          </a:xfrm>
          <a:custGeom>
            <a:avLst/>
            <a:gdLst/>
            <a:ahLst/>
            <a:cxnLst/>
            <a:rect l="l" t="t" r="r" b="b"/>
            <a:pathLst>
              <a:path w="2059304" h="76200">
                <a:moveTo>
                  <a:pt x="38100" y="0"/>
                </a:moveTo>
                <a:lnTo>
                  <a:pt x="23279" y="3006"/>
                </a:lnTo>
                <a:lnTo>
                  <a:pt x="11191" y="11144"/>
                </a:lnTo>
                <a:lnTo>
                  <a:pt x="3006" y="23252"/>
                </a:lnTo>
                <a:lnTo>
                  <a:pt x="0" y="38100"/>
                </a:lnTo>
                <a:lnTo>
                  <a:pt x="2988" y="52893"/>
                </a:lnTo>
                <a:lnTo>
                  <a:pt x="11144" y="65008"/>
                </a:lnTo>
                <a:lnTo>
                  <a:pt x="23252" y="73193"/>
                </a:lnTo>
                <a:lnTo>
                  <a:pt x="38100" y="76200"/>
                </a:lnTo>
                <a:lnTo>
                  <a:pt x="52920" y="73193"/>
                </a:lnTo>
                <a:lnTo>
                  <a:pt x="65008" y="65055"/>
                </a:lnTo>
                <a:lnTo>
                  <a:pt x="73193" y="52947"/>
                </a:lnTo>
                <a:lnTo>
                  <a:pt x="74599" y="46003"/>
                </a:lnTo>
                <a:lnTo>
                  <a:pt x="38100" y="45974"/>
                </a:lnTo>
                <a:lnTo>
                  <a:pt x="38100" y="30099"/>
                </a:lnTo>
                <a:lnTo>
                  <a:pt x="74583" y="30099"/>
                </a:lnTo>
                <a:lnTo>
                  <a:pt x="73211" y="23306"/>
                </a:lnTo>
                <a:lnTo>
                  <a:pt x="65055" y="11191"/>
                </a:lnTo>
                <a:lnTo>
                  <a:pt x="52947" y="3006"/>
                </a:lnTo>
                <a:lnTo>
                  <a:pt x="38100" y="0"/>
                </a:lnTo>
                <a:close/>
              </a:path>
              <a:path w="2059304" h="76200">
                <a:moveTo>
                  <a:pt x="74589" y="30128"/>
                </a:moveTo>
                <a:lnTo>
                  <a:pt x="76200" y="38100"/>
                </a:lnTo>
                <a:lnTo>
                  <a:pt x="74599" y="46003"/>
                </a:lnTo>
                <a:lnTo>
                  <a:pt x="2058924" y="47625"/>
                </a:lnTo>
                <a:lnTo>
                  <a:pt x="2058924" y="31750"/>
                </a:lnTo>
                <a:lnTo>
                  <a:pt x="74589" y="30128"/>
                </a:lnTo>
                <a:close/>
              </a:path>
              <a:path w="2059304" h="76200">
                <a:moveTo>
                  <a:pt x="38100" y="30099"/>
                </a:moveTo>
                <a:lnTo>
                  <a:pt x="38100" y="45974"/>
                </a:lnTo>
                <a:lnTo>
                  <a:pt x="74599" y="46003"/>
                </a:lnTo>
                <a:lnTo>
                  <a:pt x="76200" y="38100"/>
                </a:lnTo>
                <a:lnTo>
                  <a:pt x="74589" y="30128"/>
                </a:lnTo>
                <a:lnTo>
                  <a:pt x="38100" y="30099"/>
                </a:lnTo>
                <a:close/>
              </a:path>
              <a:path w="2059304" h="76200">
                <a:moveTo>
                  <a:pt x="74583" y="30099"/>
                </a:moveTo>
                <a:lnTo>
                  <a:pt x="38100" y="30099"/>
                </a:lnTo>
                <a:lnTo>
                  <a:pt x="74589" y="301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181100" y="4762500"/>
            <a:ext cx="4152900" cy="76200"/>
          </a:xfrm>
          <a:custGeom>
            <a:avLst/>
            <a:gdLst/>
            <a:ahLst/>
            <a:cxnLst/>
            <a:rect l="l" t="t" r="r" b="b"/>
            <a:pathLst>
              <a:path w="4152900" h="76200">
                <a:moveTo>
                  <a:pt x="38100" y="0"/>
                </a:moveTo>
                <a:lnTo>
                  <a:pt x="23268" y="2988"/>
                </a:lnTo>
                <a:lnTo>
                  <a:pt x="11158" y="11144"/>
                </a:lnTo>
                <a:lnTo>
                  <a:pt x="2993" y="23252"/>
                </a:lnTo>
                <a:lnTo>
                  <a:pt x="0" y="38100"/>
                </a:lnTo>
                <a:lnTo>
                  <a:pt x="2993" y="52947"/>
                </a:lnTo>
                <a:lnTo>
                  <a:pt x="11158" y="65055"/>
                </a:lnTo>
                <a:lnTo>
                  <a:pt x="23268" y="73211"/>
                </a:lnTo>
                <a:lnTo>
                  <a:pt x="38100" y="76200"/>
                </a:lnTo>
                <a:lnTo>
                  <a:pt x="52931" y="73211"/>
                </a:lnTo>
                <a:lnTo>
                  <a:pt x="65041" y="65055"/>
                </a:lnTo>
                <a:lnTo>
                  <a:pt x="73206" y="52947"/>
                </a:lnTo>
                <a:lnTo>
                  <a:pt x="74612" y="45974"/>
                </a:lnTo>
                <a:lnTo>
                  <a:pt x="38100" y="45974"/>
                </a:lnTo>
                <a:lnTo>
                  <a:pt x="38100" y="30099"/>
                </a:lnTo>
                <a:lnTo>
                  <a:pt x="74586" y="30099"/>
                </a:lnTo>
                <a:lnTo>
                  <a:pt x="73206" y="23252"/>
                </a:lnTo>
                <a:lnTo>
                  <a:pt x="65041" y="11144"/>
                </a:lnTo>
                <a:lnTo>
                  <a:pt x="52931" y="2988"/>
                </a:lnTo>
                <a:lnTo>
                  <a:pt x="38100" y="0"/>
                </a:lnTo>
                <a:close/>
              </a:path>
              <a:path w="4152900" h="76200">
                <a:moveTo>
                  <a:pt x="74586" y="30099"/>
                </a:moveTo>
                <a:lnTo>
                  <a:pt x="38100" y="30099"/>
                </a:lnTo>
                <a:lnTo>
                  <a:pt x="38100" y="45974"/>
                </a:lnTo>
                <a:lnTo>
                  <a:pt x="74612" y="45974"/>
                </a:lnTo>
                <a:lnTo>
                  <a:pt x="76200" y="38100"/>
                </a:lnTo>
                <a:lnTo>
                  <a:pt x="74586" y="30099"/>
                </a:lnTo>
                <a:close/>
              </a:path>
              <a:path w="4152900" h="76200">
                <a:moveTo>
                  <a:pt x="4152900" y="30099"/>
                </a:moveTo>
                <a:lnTo>
                  <a:pt x="74586" y="30099"/>
                </a:lnTo>
                <a:lnTo>
                  <a:pt x="76200" y="38100"/>
                </a:lnTo>
                <a:lnTo>
                  <a:pt x="74612" y="45974"/>
                </a:lnTo>
                <a:lnTo>
                  <a:pt x="4152900" y="45974"/>
                </a:lnTo>
                <a:lnTo>
                  <a:pt x="4152900" y="30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326011" y="2730514"/>
            <a:ext cx="23749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latin typeface="Times New Roman"/>
                <a:cs typeface="Times New Roman"/>
              </a:rPr>
              <a:t>X </a:t>
            </a:r>
            <a:r>
              <a:rPr sz="2000" spc="45" dirty="0">
                <a:latin typeface="Symbol"/>
                <a:cs typeface="Symbol"/>
              </a:rPr>
              <a:t>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D</a:t>
            </a:r>
            <a:r>
              <a:rPr sz="1725" spc="97" baseline="-24154" dirty="0">
                <a:latin typeface="Times New Roman"/>
                <a:cs typeface="Times New Roman"/>
              </a:rPr>
              <a:t>4 </a:t>
            </a:r>
            <a:r>
              <a:rPr sz="2000" spc="45" dirty="0">
                <a:latin typeface="Symbol"/>
                <a:cs typeface="Symbol"/>
              </a:rPr>
              <a:t>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D</a:t>
            </a:r>
            <a:r>
              <a:rPr sz="1725" spc="75" baseline="-24154" dirty="0">
                <a:latin typeface="Times New Roman"/>
                <a:cs typeface="Times New Roman"/>
              </a:rPr>
              <a:t>5 </a:t>
            </a:r>
            <a:r>
              <a:rPr sz="2000" spc="45" dirty="0">
                <a:latin typeface="Symbol"/>
                <a:cs typeface="Symbol"/>
              </a:rPr>
              <a:t>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Times New Roman"/>
                <a:cs typeface="Times New Roman"/>
              </a:rPr>
              <a:t>D</a:t>
            </a:r>
            <a:r>
              <a:rPr sz="1725" spc="82" baseline="-24154" dirty="0">
                <a:latin typeface="Times New Roman"/>
                <a:cs typeface="Times New Roman"/>
              </a:rPr>
              <a:t>6 </a:t>
            </a:r>
            <a:r>
              <a:rPr sz="2000" spc="45" dirty="0">
                <a:latin typeface="Symbol"/>
                <a:cs typeface="Symbol"/>
              </a:rPr>
              <a:t></a:t>
            </a:r>
            <a:r>
              <a:rPr sz="2000" spc="-375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Times New Roman"/>
                <a:cs typeface="Times New Roman"/>
              </a:rPr>
              <a:t>D</a:t>
            </a:r>
            <a:r>
              <a:rPr sz="1725" spc="82" baseline="-24154" dirty="0">
                <a:latin typeface="Times New Roman"/>
                <a:cs typeface="Times New Roman"/>
              </a:rPr>
              <a:t>7</a:t>
            </a:r>
            <a:endParaRPr sz="1725" baseline="-24154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90959" y="3721114"/>
            <a:ext cx="2435860" cy="23051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latin typeface="Times New Roman"/>
                <a:cs typeface="Times New Roman"/>
              </a:rPr>
              <a:t>Y </a:t>
            </a:r>
            <a:r>
              <a:rPr sz="2000" spc="45" dirty="0">
                <a:latin typeface="Symbol"/>
                <a:cs typeface="Symbol"/>
              </a:rPr>
              <a:t>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D</a:t>
            </a:r>
            <a:r>
              <a:rPr sz="1725" spc="97" baseline="-24154" dirty="0">
                <a:latin typeface="Times New Roman"/>
                <a:cs typeface="Times New Roman"/>
              </a:rPr>
              <a:t>2 </a:t>
            </a:r>
            <a:r>
              <a:rPr sz="2000" spc="45" dirty="0">
                <a:latin typeface="Symbol"/>
                <a:cs typeface="Symbol"/>
              </a:rPr>
              <a:t>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D</a:t>
            </a:r>
            <a:r>
              <a:rPr sz="1725" spc="75" baseline="-24154" dirty="0">
                <a:latin typeface="Times New Roman"/>
                <a:cs typeface="Times New Roman"/>
              </a:rPr>
              <a:t>3 </a:t>
            </a:r>
            <a:r>
              <a:rPr sz="2000" spc="45" dirty="0">
                <a:latin typeface="Symbol"/>
                <a:cs typeface="Symbol"/>
              </a:rPr>
              <a:t>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Times New Roman"/>
                <a:cs typeface="Times New Roman"/>
              </a:rPr>
              <a:t>D</a:t>
            </a:r>
            <a:r>
              <a:rPr sz="1725" spc="82" baseline="-24154" dirty="0">
                <a:latin typeface="Times New Roman"/>
                <a:cs typeface="Times New Roman"/>
              </a:rPr>
              <a:t>6 </a:t>
            </a:r>
            <a:r>
              <a:rPr sz="2000" spc="45" dirty="0">
                <a:latin typeface="Symbol"/>
                <a:cs typeface="Symbol"/>
              </a:rPr>
              <a:t></a:t>
            </a:r>
            <a:r>
              <a:rPr sz="2000" spc="-405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Times New Roman"/>
                <a:cs typeface="Times New Roman"/>
              </a:rPr>
              <a:t>D</a:t>
            </a:r>
            <a:r>
              <a:rPr sz="1725" spc="82" baseline="-24154" dirty="0">
                <a:latin typeface="Times New Roman"/>
                <a:cs typeface="Times New Roman"/>
              </a:rPr>
              <a:t>7</a:t>
            </a:r>
            <a:endParaRPr sz="1725" baseline="-24154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L="126364">
              <a:lnSpc>
                <a:spcPct val="100000"/>
              </a:lnSpc>
              <a:spcBef>
                <a:spcPts val="1695"/>
              </a:spcBef>
            </a:pPr>
            <a:r>
              <a:rPr sz="2000" i="1" spc="50" dirty="0">
                <a:latin typeface="Times New Roman"/>
                <a:cs typeface="Times New Roman"/>
              </a:rPr>
              <a:t>Z </a:t>
            </a:r>
            <a:r>
              <a:rPr sz="2000" spc="50" dirty="0">
                <a:latin typeface="Symbol"/>
                <a:cs typeface="Symbol"/>
              </a:rPr>
              <a:t>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1725" baseline="-24154" dirty="0">
                <a:latin typeface="Times New Roman"/>
                <a:cs typeface="Times New Roman"/>
              </a:rPr>
              <a:t>1 </a:t>
            </a:r>
            <a:r>
              <a:rPr sz="2000" spc="50" dirty="0">
                <a:latin typeface="Symbol"/>
                <a:cs typeface="Symbol"/>
              </a:rPr>
              <a:t></a:t>
            </a:r>
            <a:r>
              <a:rPr sz="2000" spc="50" dirty="0">
                <a:latin typeface="Times New Roman"/>
                <a:cs typeface="Times New Roman"/>
              </a:rPr>
              <a:t> D</a:t>
            </a:r>
            <a:r>
              <a:rPr sz="1725" spc="75" baseline="-24154" dirty="0">
                <a:latin typeface="Times New Roman"/>
                <a:cs typeface="Times New Roman"/>
              </a:rPr>
              <a:t>3 </a:t>
            </a:r>
            <a:r>
              <a:rPr sz="2000" spc="50" dirty="0">
                <a:latin typeface="Symbol"/>
                <a:cs typeface="Symbol"/>
              </a:rPr>
              <a:t></a:t>
            </a:r>
            <a:r>
              <a:rPr sz="2000" spc="50" dirty="0">
                <a:latin typeface="Times New Roman"/>
                <a:cs typeface="Times New Roman"/>
              </a:rPr>
              <a:t> D</a:t>
            </a:r>
            <a:r>
              <a:rPr sz="1725" spc="75" baseline="-24154" dirty="0">
                <a:latin typeface="Times New Roman"/>
                <a:cs typeface="Times New Roman"/>
              </a:rPr>
              <a:t>5 </a:t>
            </a:r>
            <a:r>
              <a:rPr sz="2000" spc="50" dirty="0">
                <a:latin typeface="Symbol"/>
                <a:cs typeface="Symbol"/>
              </a:rPr>
              <a:t></a:t>
            </a:r>
            <a:r>
              <a:rPr sz="2000" spc="-260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Times New Roman"/>
                <a:cs typeface="Times New Roman"/>
              </a:rPr>
              <a:t>D</a:t>
            </a:r>
            <a:r>
              <a:rPr sz="1725" spc="82" baseline="-24154" dirty="0">
                <a:latin typeface="Times New Roman"/>
                <a:cs typeface="Times New Roman"/>
              </a:rPr>
              <a:t>7</a:t>
            </a:r>
            <a:endParaRPr sz="1725" baseline="-24154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000" dirty="0">
                <a:latin typeface="Casper"/>
                <a:cs typeface="Times New Roman"/>
              </a:rPr>
              <a:t>Fig.</a:t>
            </a:r>
            <a:r>
              <a:rPr lang="pt-BR" sz="2000" spc="-100" dirty="0">
                <a:latin typeface="Casper"/>
                <a:cs typeface="Times New Roman"/>
              </a:rPr>
              <a:t> 19: </a:t>
            </a:r>
            <a:r>
              <a:rPr lang="pt-BR" sz="2000" dirty="0">
                <a:latin typeface="Casper"/>
              </a:rPr>
              <a:t>ENCODER DIAGRAM </a:t>
            </a:r>
            <a:endParaRPr lang="pt-BR" sz="2000" b="1" dirty="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34340" y="1348714"/>
            <a:ext cx="2994660" cy="8935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925" marR="30480" indent="-124460">
              <a:lnSpc>
                <a:spcPct val="140600"/>
              </a:lnSpc>
              <a:spcBef>
                <a:spcPts val="100"/>
              </a:spcBef>
              <a:tabLst>
                <a:tab pos="619125" algn="l"/>
                <a:tab pos="1076960" algn="l"/>
                <a:tab pos="1686560" algn="l"/>
              </a:tabLst>
            </a:pPr>
            <a:r>
              <a:rPr sz="2000" b="1"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LOGIC</a:t>
            </a:r>
            <a:r>
              <a:rPr sz="2000" b="1" spc="-75"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>
                <a:uFill>
                  <a:solidFill>
                    <a:srgbClr val="00AF50"/>
                  </a:solidFill>
                </a:uFill>
                <a:latin typeface="Times New Roman"/>
                <a:cs typeface="Times New Roman"/>
              </a:rPr>
              <a:t>DIAGRAM </a:t>
            </a:r>
            <a:r>
              <a:rPr sz="2000" b="1">
                <a:latin typeface="Times New Roman"/>
                <a:cs typeface="Times New Roman"/>
              </a:rPr>
              <a:t> </a:t>
            </a:r>
            <a:endParaRPr lang="en-US" sz="2000" b="1" dirty="0">
              <a:latin typeface="Times New Roman"/>
              <a:cs typeface="Times New Roman"/>
            </a:endParaRPr>
          </a:p>
          <a:p>
            <a:pPr marL="161925" marR="30480" indent="-124460">
              <a:lnSpc>
                <a:spcPct val="140600"/>
              </a:lnSpc>
              <a:spcBef>
                <a:spcPts val="100"/>
              </a:spcBef>
              <a:tabLst>
                <a:tab pos="619125" algn="l"/>
                <a:tab pos="1076960" algn="l"/>
                <a:tab pos="1686560" algn="l"/>
              </a:tabLst>
            </a:pPr>
            <a:r>
              <a:rPr lang="en-US" sz="2000" spc="10" dirty="0">
                <a:solidFill>
                  <a:srgbClr val="943735"/>
                </a:solidFill>
                <a:latin typeface="Times New Roman"/>
                <a:cs typeface="Times New Roman"/>
              </a:rPr>
              <a:t>  </a:t>
            </a:r>
            <a:r>
              <a:rPr sz="2000" spc="10">
                <a:solidFill>
                  <a:srgbClr val="943735"/>
                </a:solidFill>
                <a:latin typeface="Times New Roman"/>
                <a:cs typeface="Times New Roman"/>
              </a:rPr>
              <a:t>D</a:t>
            </a:r>
            <a:r>
              <a:rPr sz="1950" spc="15" baseline="-21367">
                <a:solidFill>
                  <a:srgbClr val="943735"/>
                </a:solidFill>
                <a:latin typeface="Times New Roman"/>
                <a:cs typeface="Times New Roman"/>
              </a:rPr>
              <a:t>0</a:t>
            </a:r>
            <a:r>
              <a:rPr sz="1950" spc="15" baseline="-21367" dirty="0">
                <a:solidFill>
                  <a:srgbClr val="943735"/>
                </a:solidFill>
                <a:latin typeface="Times New Roman"/>
                <a:cs typeface="Times New Roman"/>
              </a:rPr>
              <a:t>	</a:t>
            </a:r>
            <a:r>
              <a:rPr sz="2000" spc="10" dirty="0">
                <a:solidFill>
                  <a:srgbClr val="943735"/>
                </a:solidFill>
                <a:latin typeface="Times New Roman"/>
                <a:cs typeface="Times New Roman"/>
              </a:rPr>
              <a:t>D</a:t>
            </a:r>
            <a:r>
              <a:rPr sz="1950" spc="15" baseline="-21367" dirty="0">
                <a:solidFill>
                  <a:srgbClr val="943735"/>
                </a:solidFill>
                <a:latin typeface="Times New Roman"/>
                <a:cs typeface="Times New Roman"/>
              </a:rPr>
              <a:t>1	</a:t>
            </a:r>
            <a:r>
              <a:rPr sz="2000" spc="10" dirty="0">
                <a:solidFill>
                  <a:srgbClr val="943735"/>
                </a:solidFill>
                <a:latin typeface="Times New Roman"/>
                <a:cs typeface="Times New Roman"/>
              </a:rPr>
              <a:t>D</a:t>
            </a:r>
            <a:r>
              <a:rPr sz="1950" spc="15" baseline="-21367" dirty="0">
                <a:solidFill>
                  <a:srgbClr val="943735"/>
                </a:solidFill>
                <a:latin typeface="Times New Roman"/>
                <a:cs typeface="Times New Roman"/>
              </a:rPr>
              <a:t>2	</a:t>
            </a:r>
            <a:r>
              <a:rPr sz="2000" spc="10" dirty="0">
                <a:solidFill>
                  <a:srgbClr val="943735"/>
                </a:solidFill>
                <a:latin typeface="Times New Roman"/>
                <a:cs typeface="Times New Roman"/>
              </a:rPr>
              <a:t>D</a:t>
            </a:r>
            <a:r>
              <a:rPr sz="1950" spc="15" baseline="-21367" dirty="0">
                <a:solidFill>
                  <a:srgbClr val="943735"/>
                </a:solidFill>
                <a:latin typeface="Times New Roman"/>
                <a:cs typeface="Times New Roman"/>
              </a:rPr>
              <a:t>3</a:t>
            </a:r>
            <a:endParaRPr sz="1950" baseline="-21367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1873D-04CD-4821-AE7F-8AA81ED84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7874"/>
          </a:xfrm>
        </p:spPr>
        <p:txBody>
          <a:bodyPr/>
          <a:lstStyle/>
          <a:p>
            <a:pPr algn="ctr"/>
            <a:r>
              <a:rPr lang="en-US" dirty="0"/>
              <a:t>Decoder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BFA8D4-8EF1-4B89-BAA8-495B9B2E7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524000"/>
            <a:ext cx="3200400" cy="414752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67F094-B2AF-4E23-9B6C-9F46D3319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295400"/>
            <a:ext cx="4433365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5786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1CD217-8A45-409F-9682-8D7370AD3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838200"/>
            <a:ext cx="5105400" cy="33180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FEC533-1C52-4777-A4AC-558FD10CF42E}"/>
              </a:ext>
            </a:extLst>
          </p:cNvPr>
          <p:cNvSpPr txBox="1"/>
          <p:nvPr/>
        </p:nvSpPr>
        <p:spPr>
          <a:xfrm>
            <a:off x="1905000" y="228600"/>
            <a:ext cx="563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2-to-4 Decoder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2700CB-C716-4A24-93A9-DC82376A8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3429000"/>
            <a:ext cx="3143250" cy="294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020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D6FF7E-D2FB-4F05-8C46-654DAC4C7F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304800"/>
            <a:ext cx="7674610" cy="6248400"/>
          </a:xfrm>
        </p:spPr>
      </p:pic>
    </p:spTree>
    <p:extLst>
      <p:ext uri="{BB962C8B-B14F-4D97-AF65-F5344CB8AC3E}">
        <p14:creationId xmlns:p14="http://schemas.microsoft.com/office/powerpoint/2010/main" val="26076770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1. Implement the following function using 3:8 decoder.</a:t>
            </a:r>
          </a:p>
          <a:p>
            <a:r>
              <a:rPr lang="en-US" dirty="0" smtClean="0"/>
              <a:t>Y0(A,B,C)=(0,1,2,4)</a:t>
            </a:r>
          </a:p>
          <a:p>
            <a:r>
              <a:rPr lang="en-US" dirty="0" smtClean="0"/>
              <a:t>Y1(A,B,C)=(1,3,5,7)</a:t>
            </a:r>
          </a:p>
          <a:p>
            <a:r>
              <a:rPr lang="en-US" dirty="0" smtClean="0"/>
              <a:t>Y2(A,B,C)=(4,5,6,7)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2. Design a full adder using 3 to 8 line decoder.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056" y="177482"/>
            <a:ext cx="7886700" cy="854485"/>
          </a:xfrm>
        </p:spPr>
        <p:txBody>
          <a:bodyPr/>
          <a:lstStyle/>
          <a:p>
            <a:pPr algn="ctr"/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>REFERENCES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79665" y="1185544"/>
            <a:ext cx="7886700" cy="4304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2048" tIns="41025" rIns="82048" bIns="41025">
            <a:spAutoFit/>
          </a:bodyPr>
          <a:lstStyle/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</a:rPr>
              <a:t>https://www.google.com/search?q=combinational+circuits+in+digital+electronics&amp;source=lnms&amp;tbm=isch&amp;sa=X&amp;ved=0ahUKEwj526-wnv3iAhWSXCsKHf77AtQQ_AUIESgC&amp;biw=1366&amp;bih=657#imgrc=v4c5n7-dy4fzAM:</a:t>
            </a: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</a:rPr>
              <a:t>https://www.tutorialspoint.com/computer_logical_organization/combinational_circuits.htm</a:t>
            </a: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</a:rPr>
              <a:t>https://www.google.com/search?biw=1366&amp;bih=657&amp;tbm=isch&amp;sa=1&amp;ei=eE8PXd3VHMn9vAS13YHoBA&amp;q=multiplexer+circuit&amp;oq=multiplexer+&amp;gs_l=img.1.2.0i67j0l9.4913.5532..8609...0.0..0.400.1145.0j1j2j0j1......0....1..gws-wiz-img.......0i8i30j0i24.xyEOkXeoseI#imgrc=4KXE27M1oFg2EM:</a:t>
            </a: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</a:rPr>
              <a:t>https://www.google.com/search?biw=1366&amp;bih=657&amp;tbm=isch&amp;sa=1&amp;ei=iVMPXbH8KpWSwgPKnKBA&amp;q=decoder+2%3A4&amp;oq=decoder+2%3A4&amp;gs_l=img.3...584113.590073..591350...0.0..0.1147.6168.2-3j0j1j3j1j2......0....1..gws-wiz-img.....0..0i67j0j0i30j0i5i30j0i8i30.SPtmY9c721k#imgrc=</a:t>
            </a:r>
            <a:r>
              <a:rPr lang="en-US" sz="1600" dirty="0" err="1">
                <a:latin typeface="Casper"/>
              </a:rPr>
              <a:t>tVdWQmsIYObp</a:t>
            </a:r>
            <a:r>
              <a:rPr lang="en-US" sz="1600" dirty="0">
                <a:latin typeface="Casper"/>
              </a:rPr>
              <a:t>-M:</a:t>
            </a: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</a:rPr>
              <a:t>https://www.google.com/search?biw=1366&amp;bih=657&amp;tbm=isch&amp;sa=1&amp;ei=e1oPXdL_HM2lwgPUqoTQAg&amp;q=octal+encoder&amp;oq=+octal+encoder&amp;gs_l=img.1.4.0i7i30l4j0i24.1789.4192..7678...0.0..0.321.1624.0j1j5j1......0....1..gws-wiz-img.......0i67j0.VPdFtgfemxA#imgrc=IlDJe3yY21xN7M:</a:t>
            </a: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Floyd &amp; Jain, Digital Fundamentals, Pearson. </a:t>
            </a: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 err="1">
                <a:latin typeface="Casper"/>
                <a:ea typeface="Calibri" pitchFamily="34" charset="0"/>
                <a:cs typeface="Times New Roman" pitchFamily="18" charset="0"/>
              </a:rPr>
              <a:t>Mano,Morris</a:t>
            </a: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, Digital Design, Prentice Hall of India.</a:t>
            </a:r>
            <a:endParaRPr lang="en-US" sz="1600" dirty="0">
              <a:latin typeface="Casper"/>
              <a:cs typeface="Times New Roman" pitchFamily="18" charset="0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Fletcher,  An </a:t>
            </a:r>
            <a:r>
              <a:rPr lang="en-US" sz="1600" dirty="0" err="1">
                <a:latin typeface="Casper"/>
                <a:ea typeface="Calibri" pitchFamily="34" charset="0"/>
                <a:cs typeface="Times New Roman" pitchFamily="18" charset="0"/>
              </a:rPr>
              <a:t>Engg</a:t>
            </a: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. Approach to digital design, Prentice Hall of India.</a:t>
            </a:r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9144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7010400" y="0"/>
            <a:ext cx="13716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7626846" y="0"/>
            <a:ext cx="497979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550070" y="6294598"/>
            <a:ext cx="418759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292895" y="5129690"/>
            <a:ext cx="1296233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114427" y="2249080"/>
            <a:ext cx="8043861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1981200" y="1214279"/>
            <a:ext cx="1822847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174081" y="1214279"/>
            <a:ext cx="1822847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" name="Group 28"/>
          <p:cNvGrpSpPr/>
          <p:nvPr/>
        </p:nvGrpSpPr>
        <p:grpSpPr>
          <a:xfrm>
            <a:off x="178141" y="152400"/>
            <a:ext cx="307922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0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sper"/>
        <a:ea typeface=""/>
        <a:cs typeface=""/>
      </a:majorFont>
      <a:minorFont>
        <a:latin typeface="Casp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 Unit 3-1</Template>
  <TotalTime>359</TotalTime>
  <Words>1698</Words>
  <Application>Microsoft Office PowerPoint</Application>
  <PresentationFormat>On-screen Show (4:3)</PresentationFormat>
  <Paragraphs>651</Paragraphs>
  <Slides>35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56" baseType="lpstr">
      <vt:lpstr>Arial</vt:lpstr>
      <vt:lpstr>Arial Black</vt:lpstr>
      <vt:lpstr>Arial Unicode MS</vt:lpstr>
      <vt:lpstr>Calibri</vt:lpstr>
      <vt:lpstr>Calibri Light</vt:lpstr>
      <vt:lpstr>Casper</vt:lpstr>
      <vt:lpstr>Casper Bold</vt:lpstr>
      <vt:lpstr>CasperBOLD</vt:lpstr>
      <vt:lpstr>Constantia</vt:lpstr>
      <vt:lpstr>Karla</vt:lpstr>
      <vt:lpstr>King</vt:lpstr>
      <vt:lpstr>Raavi</vt:lpstr>
      <vt:lpstr>Raleway ExtraBold</vt:lpstr>
      <vt:lpstr>Segoe UI</vt:lpstr>
      <vt:lpstr>Symbol</vt:lpstr>
      <vt:lpstr>Times New Roman</vt:lpstr>
      <vt:lpstr>Wingdings</vt:lpstr>
      <vt:lpstr>1_Office Theme</vt:lpstr>
      <vt:lpstr>Contents Slide Master</vt:lpstr>
      <vt:lpstr>2_Office Theme</vt:lpstr>
      <vt:lpstr>CorelDRAW</vt:lpstr>
      <vt:lpstr>PowerPoint Presentation</vt:lpstr>
      <vt:lpstr>Lecture Objectives</vt:lpstr>
      <vt:lpstr>Course Objectives</vt:lpstr>
      <vt:lpstr>Course Outcome  </vt:lpstr>
      <vt:lpstr> Contents  </vt:lpstr>
      <vt:lpstr>What is De-Multiplexer?</vt:lpstr>
      <vt:lpstr>Functional Diagram Of a Demultiplexer</vt:lpstr>
      <vt:lpstr>Demultiplexer 1 to 2 line De-Multiplexer</vt:lpstr>
      <vt:lpstr>1- to- 4 line demultiplexer</vt:lpstr>
      <vt:lpstr>1 : 8 Demultiplexer</vt:lpstr>
      <vt:lpstr>1 : 8 Demultiplexer (Truth Table)</vt:lpstr>
      <vt:lpstr>De–Mux Tree</vt:lpstr>
      <vt:lpstr>PowerPoint Presentation</vt:lpstr>
      <vt:lpstr> ENCODER</vt:lpstr>
      <vt:lpstr>PowerPoint Presentation</vt:lpstr>
      <vt:lpstr>ENCODER</vt:lpstr>
      <vt:lpstr>ENCODER</vt:lpstr>
      <vt:lpstr>ENCODER</vt:lpstr>
      <vt:lpstr>ENCODER</vt:lpstr>
      <vt:lpstr>PRIORITY ENCODER</vt:lpstr>
      <vt:lpstr>PowerPoint Presentation</vt:lpstr>
      <vt:lpstr>LOGIC DIAGRAM OF PRIORITY ENCODER:</vt:lpstr>
      <vt:lpstr>DECIMAL TO BCD ENCODER:</vt:lpstr>
      <vt:lpstr>Truth Table</vt:lpstr>
      <vt:lpstr>PowerPoint Presentation</vt:lpstr>
      <vt:lpstr>DECIMAL TO BCD ENCODER</vt:lpstr>
      <vt:lpstr>OCTAL TO BINARY ENCODER</vt:lpstr>
      <vt:lpstr>TRUTH TABLE</vt:lpstr>
      <vt:lpstr>X  D4  D5  D6  D7   Y  D2  D3  D6  D7   Z   D1  D3  D5  D7</vt:lpstr>
      <vt:lpstr>Decoder</vt:lpstr>
      <vt:lpstr>PowerPoint Presentation</vt:lpstr>
      <vt:lpstr>PowerPoint Presentation</vt:lpstr>
      <vt:lpstr>Questions: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Demultiplexer</dc:title>
  <dc:creator>Varun</dc:creator>
  <cp:lastModifiedBy>INDIAN</cp:lastModifiedBy>
  <cp:revision>65</cp:revision>
  <dcterms:created xsi:type="dcterms:W3CDTF">2020-07-26T07:46:31Z</dcterms:created>
  <dcterms:modified xsi:type="dcterms:W3CDTF">2023-06-19T04:57:59Z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2016-08-01T00:00:00Z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2020-07-26T00:00:00Z</vt:filetime>
  </property>
</Properties>
</file>