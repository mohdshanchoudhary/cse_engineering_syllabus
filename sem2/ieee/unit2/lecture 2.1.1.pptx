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7"/>
  </p:notesMasterIdLst>
  <p:handoutMasterIdLst>
    <p:handoutMasterId r:id="rId18"/>
  </p:handoutMasterIdLst>
  <p:sldIdLst>
    <p:sldId id="327" r:id="rId3"/>
    <p:sldId id="329" r:id="rId4"/>
    <p:sldId id="305" r:id="rId5"/>
    <p:sldId id="339" r:id="rId6"/>
    <p:sldId id="340" r:id="rId7"/>
    <p:sldId id="332" r:id="rId8"/>
    <p:sldId id="341" r:id="rId9"/>
    <p:sldId id="318" r:id="rId10"/>
    <p:sldId id="337" r:id="rId11"/>
    <p:sldId id="338" r:id="rId12"/>
    <p:sldId id="282" r:id="rId13"/>
    <p:sldId id="283" r:id="rId14"/>
    <p:sldId id="304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ED8137"/>
    <a:srgbClr val="BC8F00"/>
    <a:srgbClr val="86000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660"/>
  </p:normalViewPr>
  <p:slideViewPr>
    <p:cSldViewPr snapToGrid="0">
      <p:cViewPr varScale="1">
        <p:scale>
          <a:sx n="73" d="100"/>
          <a:sy n="73" d="100"/>
        </p:scale>
        <p:origin x="384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2A4D53-8233-45FF-B221-89C4DE34AB1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3AC9D9-65FD-4E7E-97E0-1DF3E490119C}">
      <dgm:prSet phldrT="[Text]" custT="1"/>
      <dgm:spPr/>
      <dgm:t>
        <a:bodyPr/>
        <a:lstStyle/>
        <a:p>
          <a:r>
            <a:rPr lang="en-US" sz="1600" dirty="0" smtClean="0">
              <a:latin typeface="Casper"/>
            </a:rPr>
            <a:t>BINARY ADDER</a:t>
          </a:r>
          <a:endParaRPr lang="en-US" sz="1600" dirty="0">
            <a:latin typeface="Casper"/>
          </a:endParaRPr>
        </a:p>
      </dgm:t>
    </dgm:pt>
    <dgm:pt modelId="{E047C531-97EE-4D3B-BAE6-B9A9F2C54FE5}" type="parTrans" cxnId="{B8C737EE-2509-4DDE-BF68-30160A3CF6C9}">
      <dgm:prSet/>
      <dgm:spPr/>
      <dgm:t>
        <a:bodyPr/>
        <a:lstStyle/>
        <a:p>
          <a:endParaRPr lang="en-US"/>
        </a:p>
      </dgm:t>
    </dgm:pt>
    <dgm:pt modelId="{29A5188A-7812-4F4F-8427-EC121CC070C4}" type="sibTrans" cxnId="{B8C737EE-2509-4DDE-BF68-30160A3CF6C9}">
      <dgm:prSet/>
      <dgm:spPr/>
      <dgm:t>
        <a:bodyPr/>
        <a:lstStyle/>
        <a:p>
          <a:endParaRPr lang="en-US"/>
        </a:p>
      </dgm:t>
    </dgm:pt>
    <dgm:pt modelId="{30F3348A-9900-4B00-9BF6-3DD476558CF6}">
      <dgm:prSet phldrT="[Text]" custT="1"/>
      <dgm:spPr/>
      <dgm:t>
        <a:bodyPr/>
        <a:lstStyle/>
        <a:p>
          <a:r>
            <a:rPr lang="en-US" sz="1600" dirty="0" smtClean="0">
              <a:latin typeface="Casper"/>
            </a:rPr>
            <a:t>HALF ADDER</a:t>
          </a:r>
          <a:endParaRPr lang="en-US" sz="1600" dirty="0">
            <a:latin typeface="Casper"/>
          </a:endParaRPr>
        </a:p>
      </dgm:t>
    </dgm:pt>
    <dgm:pt modelId="{8909D552-ADAB-4ABC-AB39-E8ECAE1A43C9}" type="parTrans" cxnId="{665FD832-889A-4CA6-96EB-8EEC24F0AE6C}">
      <dgm:prSet/>
      <dgm:spPr/>
      <dgm:t>
        <a:bodyPr/>
        <a:lstStyle/>
        <a:p>
          <a:endParaRPr lang="en-US"/>
        </a:p>
      </dgm:t>
    </dgm:pt>
    <dgm:pt modelId="{9B119B7C-25A3-4813-907C-6EAED0CB8AA6}" type="sibTrans" cxnId="{665FD832-889A-4CA6-96EB-8EEC24F0AE6C}">
      <dgm:prSet/>
      <dgm:spPr/>
      <dgm:t>
        <a:bodyPr/>
        <a:lstStyle/>
        <a:p>
          <a:endParaRPr lang="en-US"/>
        </a:p>
      </dgm:t>
    </dgm:pt>
    <dgm:pt modelId="{EE0887AB-AB39-4B82-B1AE-E93664005436}">
      <dgm:prSet phldrT="[Text]" custT="1"/>
      <dgm:spPr/>
      <dgm:t>
        <a:bodyPr/>
        <a:lstStyle/>
        <a:p>
          <a:r>
            <a:rPr lang="en-US" sz="1600" dirty="0" smtClean="0">
              <a:latin typeface="Casper"/>
            </a:rPr>
            <a:t>FULL ADDER</a:t>
          </a:r>
          <a:endParaRPr lang="en-US" sz="1600" dirty="0">
            <a:latin typeface="Casper"/>
          </a:endParaRPr>
        </a:p>
      </dgm:t>
    </dgm:pt>
    <dgm:pt modelId="{AA1A91A3-7323-4499-86B7-23600699B668}" type="parTrans" cxnId="{35BFB5A0-B248-4FFD-A3CB-4D64344B39AC}">
      <dgm:prSet/>
      <dgm:spPr/>
      <dgm:t>
        <a:bodyPr/>
        <a:lstStyle/>
        <a:p>
          <a:endParaRPr lang="en-US"/>
        </a:p>
      </dgm:t>
    </dgm:pt>
    <dgm:pt modelId="{CE893643-161F-4048-8A2A-1FB5DB5D0DE5}" type="sibTrans" cxnId="{35BFB5A0-B248-4FFD-A3CB-4D64344B39AC}">
      <dgm:prSet/>
      <dgm:spPr/>
      <dgm:t>
        <a:bodyPr/>
        <a:lstStyle/>
        <a:p>
          <a:endParaRPr lang="en-US"/>
        </a:p>
      </dgm:t>
    </dgm:pt>
    <dgm:pt modelId="{37B8C539-A822-4A3B-8136-0ED08649A40F}">
      <dgm:prSet phldrT="[Text]" custT="1"/>
      <dgm:spPr/>
      <dgm:t>
        <a:bodyPr/>
        <a:lstStyle/>
        <a:p>
          <a:r>
            <a:rPr lang="en-US" sz="1600" dirty="0" smtClean="0">
              <a:latin typeface="Casper"/>
            </a:rPr>
            <a:t>PARALLEL ADDER</a:t>
          </a:r>
          <a:endParaRPr lang="en-US" sz="1600" dirty="0">
            <a:latin typeface="Casper"/>
          </a:endParaRPr>
        </a:p>
      </dgm:t>
    </dgm:pt>
    <dgm:pt modelId="{70D38BED-C75B-4C9E-B4BE-73B79D732572}" type="parTrans" cxnId="{171A8727-76D6-463A-A4FD-74103A9F90D6}">
      <dgm:prSet/>
      <dgm:spPr/>
      <dgm:t>
        <a:bodyPr/>
        <a:lstStyle/>
        <a:p>
          <a:endParaRPr lang="en-US"/>
        </a:p>
      </dgm:t>
    </dgm:pt>
    <dgm:pt modelId="{5B644ACF-D810-46A6-A494-D95432ECF45E}" type="sibTrans" cxnId="{171A8727-76D6-463A-A4FD-74103A9F90D6}">
      <dgm:prSet/>
      <dgm:spPr/>
      <dgm:t>
        <a:bodyPr/>
        <a:lstStyle/>
        <a:p>
          <a:endParaRPr lang="en-US"/>
        </a:p>
      </dgm:t>
    </dgm:pt>
    <dgm:pt modelId="{987BAABD-5BEF-43BA-89AE-FC70537E092B}">
      <dgm:prSet custT="1"/>
      <dgm:spPr/>
      <dgm:t>
        <a:bodyPr/>
        <a:lstStyle/>
        <a:p>
          <a:r>
            <a:rPr lang="en-US" sz="1600" dirty="0" smtClean="0">
              <a:latin typeface="Casper"/>
            </a:rPr>
            <a:t>RIPPLE CARRY</a:t>
          </a:r>
          <a:endParaRPr lang="en-US" sz="1600" dirty="0">
            <a:latin typeface="Casper"/>
          </a:endParaRPr>
        </a:p>
      </dgm:t>
    </dgm:pt>
    <dgm:pt modelId="{65E9958A-C21E-4FEE-BA12-9CFCA042D616}" type="parTrans" cxnId="{C2ABBA7E-D2CB-4788-92E5-2DF7223F385E}">
      <dgm:prSet/>
      <dgm:spPr/>
      <dgm:t>
        <a:bodyPr/>
        <a:lstStyle/>
        <a:p>
          <a:endParaRPr lang="en-US"/>
        </a:p>
      </dgm:t>
    </dgm:pt>
    <dgm:pt modelId="{9F8DBED8-2F8E-49CC-ABE8-F5F5D90B86B0}" type="sibTrans" cxnId="{C2ABBA7E-D2CB-4788-92E5-2DF7223F385E}">
      <dgm:prSet/>
      <dgm:spPr/>
      <dgm:t>
        <a:bodyPr/>
        <a:lstStyle/>
        <a:p>
          <a:endParaRPr lang="en-US"/>
        </a:p>
      </dgm:t>
    </dgm:pt>
    <dgm:pt modelId="{F2439808-A7FE-41F6-B620-7FA675BE145D}">
      <dgm:prSet custT="1"/>
      <dgm:spPr/>
      <dgm:t>
        <a:bodyPr/>
        <a:lstStyle/>
        <a:p>
          <a:r>
            <a:rPr lang="en-US" sz="1600" dirty="0" smtClean="0">
              <a:latin typeface="Casper"/>
            </a:rPr>
            <a:t>LOOK AHEAD CARRY</a:t>
          </a:r>
          <a:endParaRPr lang="en-US" sz="1600" dirty="0">
            <a:latin typeface="Casper"/>
          </a:endParaRPr>
        </a:p>
      </dgm:t>
    </dgm:pt>
    <dgm:pt modelId="{7E752F4D-7088-49F9-BBB2-37F5BE111B91}" type="parTrans" cxnId="{FF55F28A-67A6-4DA2-A071-A3121DDD490B}">
      <dgm:prSet/>
      <dgm:spPr/>
      <dgm:t>
        <a:bodyPr/>
        <a:lstStyle/>
        <a:p>
          <a:endParaRPr lang="en-US"/>
        </a:p>
      </dgm:t>
    </dgm:pt>
    <dgm:pt modelId="{E82C33B2-9665-4699-8AB2-0EBA5037EA7D}" type="sibTrans" cxnId="{FF55F28A-67A6-4DA2-A071-A3121DDD490B}">
      <dgm:prSet/>
      <dgm:spPr/>
      <dgm:t>
        <a:bodyPr/>
        <a:lstStyle/>
        <a:p>
          <a:endParaRPr lang="en-US"/>
        </a:p>
      </dgm:t>
    </dgm:pt>
    <dgm:pt modelId="{9D25FE98-53B6-4618-91F0-1423741A212A}">
      <dgm:prSet custT="1"/>
      <dgm:spPr/>
      <dgm:t>
        <a:bodyPr/>
        <a:lstStyle/>
        <a:p>
          <a:r>
            <a:rPr lang="en-US" sz="1600" dirty="0" smtClean="0">
              <a:latin typeface="Casper"/>
            </a:rPr>
            <a:t>CARRY SAVE</a:t>
          </a:r>
          <a:endParaRPr lang="en-US" sz="1600" dirty="0">
            <a:latin typeface="Casper"/>
          </a:endParaRPr>
        </a:p>
      </dgm:t>
    </dgm:pt>
    <dgm:pt modelId="{4A854BAF-CFAA-4429-9B45-F1C3AE38DF0F}" type="parTrans" cxnId="{37050DC4-EE7B-475B-BAFA-F48348112F7F}">
      <dgm:prSet/>
      <dgm:spPr/>
      <dgm:t>
        <a:bodyPr/>
        <a:lstStyle/>
        <a:p>
          <a:endParaRPr lang="en-US"/>
        </a:p>
      </dgm:t>
    </dgm:pt>
    <dgm:pt modelId="{85B8AA10-D006-4A85-82F9-B8C1055BA977}" type="sibTrans" cxnId="{37050DC4-EE7B-475B-BAFA-F48348112F7F}">
      <dgm:prSet/>
      <dgm:spPr/>
      <dgm:t>
        <a:bodyPr/>
        <a:lstStyle/>
        <a:p>
          <a:endParaRPr lang="en-US"/>
        </a:p>
      </dgm:t>
    </dgm:pt>
    <dgm:pt modelId="{271DCB72-6C54-49C0-91FA-DFA7E2A2D506}" type="pres">
      <dgm:prSet presAssocID="{9C2A4D53-8233-45FF-B221-89C4DE34AB1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2A9AC20-47AB-4878-A190-AAFD638218CC}" type="pres">
      <dgm:prSet presAssocID="{0D3AC9D9-65FD-4E7E-97E0-1DF3E490119C}" presName="hierRoot1" presStyleCnt="0"/>
      <dgm:spPr/>
    </dgm:pt>
    <dgm:pt modelId="{C6B175E5-7CDF-4177-B463-432479D7CD0A}" type="pres">
      <dgm:prSet presAssocID="{0D3AC9D9-65FD-4E7E-97E0-1DF3E490119C}" presName="composite" presStyleCnt="0"/>
      <dgm:spPr/>
    </dgm:pt>
    <dgm:pt modelId="{3B06B417-96E0-43AE-94CE-6C95D23A7C88}" type="pres">
      <dgm:prSet presAssocID="{0D3AC9D9-65FD-4E7E-97E0-1DF3E490119C}" presName="background" presStyleLbl="node0" presStyleIdx="0" presStyleCnt="1"/>
      <dgm:spPr/>
    </dgm:pt>
    <dgm:pt modelId="{CEBA44F1-6994-48D4-A032-4F700E9C7790}" type="pres">
      <dgm:prSet presAssocID="{0D3AC9D9-65FD-4E7E-97E0-1DF3E490119C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C5773C7-454B-4D8C-9EF9-ABC2ED2704C5}" type="pres">
      <dgm:prSet presAssocID="{0D3AC9D9-65FD-4E7E-97E0-1DF3E490119C}" presName="hierChild2" presStyleCnt="0"/>
      <dgm:spPr/>
    </dgm:pt>
    <dgm:pt modelId="{9BB9CB6D-7E66-485A-9756-BADADAC81DEF}" type="pres">
      <dgm:prSet presAssocID="{8909D552-ADAB-4ABC-AB39-E8ECAE1A43C9}" presName="Name10" presStyleLbl="parChTrans1D2" presStyleIdx="0" presStyleCnt="3"/>
      <dgm:spPr/>
      <dgm:t>
        <a:bodyPr/>
        <a:lstStyle/>
        <a:p>
          <a:endParaRPr lang="en-US"/>
        </a:p>
      </dgm:t>
    </dgm:pt>
    <dgm:pt modelId="{F2239340-C7C6-488A-AF47-DE636CBBD0F5}" type="pres">
      <dgm:prSet presAssocID="{30F3348A-9900-4B00-9BF6-3DD476558CF6}" presName="hierRoot2" presStyleCnt="0"/>
      <dgm:spPr/>
    </dgm:pt>
    <dgm:pt modelId="{92F308A6-48C3-4C88-93BF-43A4B2501003}" type="pres">
      <dgm:prSet presAssocID="{30F3348A-9900-4B00-9BF6-3DD476558CF6}" presName="composite2" presStyleCnt="0"/>
      <dgm:spPr/>
    </dgm:pt>
    <dgm:pt modelId="{6AFDD081-9D1C-482A-B6BD-4ECBB2E9C5FD}" type="pres">
      <dgm:prSet presAssocID="{30F3348A-9900-4B00-9BF6-3DD476558CF6}" presName="background2" presStyleLbl="node2" presStyleIdx="0" presStyleCnt="3"/>
      <dgm:spPr/>
    </dgm:pt>
    <dgm:pt modelId="{423BBA7F-EA32-47C3-96F0-ED2A2BA33A92}" type="pres">
      <dgm:prSet presAssocID="{30F3348A-9900-4B00-9BF6-3DD476558CF6}" presName="text2" presStyleLbl="fgAcc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F1C721E-6B28-45F9-9286-BEAA4417C8B3}" type="pres">
      <dgm:prSet presAssocID="{30F3348A-9900-4B00-9BF6-3DD476558CF6}" presName="hierChild3" presStyleCnt="0"/>
      <dgm:spPr/>
    </dgm:pt>
    <dgm:pt modelId="{FEC1C1D2-5D09-49C5-B888-D62E3A5116FB}" type="pres">
      <dgm:prSet presAssocID="{AA1A91A3-7323-4499-86B7-23600699B668}" presName="Name10" presStyleLbl="parChTrans1D2" presStyleIdx="1" presStyleCnt="3"/>
      <dgm:spPr/>
      <dgm:t>
        <a:bodyPr/>
        <a:lstStyle/>
        <a:p>
          <a:endParaRPr lang="en-US"/>
        </a:p>
      </dgm:t>
    </dgm:pt>
    <dgm:pt modelId="{627DB776-232A-4253-838D-139BAFB42976}" type="pres">
      <dgm:prSet presAssocID="{EE0887AB-AB39-4B82-B1AE-E93664005436}" presName="hierRoot2" presStyleCnt="0"/>
      <dgm:spPr/>
    </dgm:pt>
    <dgm:pt modelId="{2A6EFB3B-1A93-4B76-BC8D-DA2DF5FAA903}" type="pres">
      <dgm:prSet presAssocID="{EE0887AB-AB39-4B82-B1AE-E93664005436}" presName="composite2" presStyleCnt="0"/>
      <dgm:spPr/>
    </dgm:pt>
    <dgm:pt modelId="{25826208-00C0-4999-BA98-59D6975EB9A4}" type="pres">
      <dgm:prSet presAssocID="{EE0887AB-AB39-4B82-B1AE-E93664005436}" presName="background2" presStyleLbl="node2" presStyleIdx="1" presStyleCnt="3"/>
      <dgm:spPr/>
    </dgm:pt>
    <dgm:pt modelId="{EEBA017D-6500-477A-A716-6CFBCBB5CDB5}" type="pres">
      <dgm:prSet presAssocID="{EE0887AB-AB39-4B82-B1AE-E93664005436}" presName="text2" presStyleLbl="fgAcc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DEC14F0-06EA-4DC8-80A4-3F337140F4B4}" type="pres">
      <dgm:prSet presAssocID="{EE0887AB-AB39-4B82-B1AE-E93664005436}" presName="hierChild3" presStyleCnt="0"/>
      <dgm:spPr/>
    </dgm:pt>
    <dgm:pt modelId="{3DC3FEDB-68E1-4885-863F-2C463D239C2C}" type="pres">
      <dgm:prSet presAssocID="{70D38BED-C75B-4C9E-B4BE-73B79D732572}" presName="Name10" presStyleLbl="parChTrans1D2" presStyleIdx="2" presStyleCnt="3"/>
      <dgm:spPr/>
      <dgm:t>
        <a:bodyPr/>
        <a:lstStyle/>
        <a:p>
          <a:endParaRPr lang="en-US"/>
        </a:p>
      </dgm:t>
    </dgm:pt>
    <dgm:pt modelId="{2A81A03F-7273-48F7-AAEB-67205865CDBD}" type="pres">
      <dgm:prSet presAssocID="{37B8C539-A822-4A3B-8136-0ED08649A40F}" presName="hierRoot2" presStyleCnt="0"/>
      <dgm:spPr/>
    </dgm:pt>
    <dgm:pt modelId="{9D784C2C-EBEA-4E72-AFF7-A6DD4251E65F}" type="pres">
      <dgm:prSet presAssocID="{37B8C539-A822-4A3B-8136-0ED08649A40F}" presName="composite2" presStyleCnt="0"/>
      <dgm:spPr/>
    </dgm:pt>
    <dgm:pt modelId="{355963DA-A437-4C9C-A22A-9DDBF47522B0}" type="pres">
      <dgm:prSet presAssocID="{37B8C539-A822-4A3B-8136-0ED08649A40F}" presName="background2" presStyleLbl="node2" presStyleIdx="2" presStyleCnt="3"/>
      <dgm:spPr/>
    </dgm:pt>
    <dgm:pt modelId="{1B295660-3CCA-477B-9B4C-08A60EB04A1D}" type="pres">
      <dgm:prSet presAssocID="{37B8C539-A822-4A3B-8136-0ED08649A40F}" presName="text2" presStyleLbl="fgAcc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F918389-7CAA-4CA9-96AE-BFE741731EF1}" type="pres">
      <dgm:prSet presAssocID="{37B8C539-A822-4A3B-8136-0ED08649A40F}" presName="hierChild3" presStyleCnt="0"/>
      <dgm:spPr/>
    </dgm:pt>
    <dgm:pt modelId="{1574CCA4-1C88-460D-96E4-68EED1AA2283}" type="pres">
      <dgm:prSet presAssocID="{65E9958A-C21E-4FEE-BA12-9CFCA042D616}" presName="Name17" presStyleLbl="parChTrans1D3" presStyleIdx="0" presStyleCnt="3"/>
      <dgm:spPr/>
      <dgm:t>
        <a:bodyPr/>
        <a:lstStyle/>
        <a:p>
          <a:endParaRPr lang="en-US"/>
        </a:p>
      </dgm:t>
    </dgm:pt>
    <dgm:pt modelId="{D6FE401B-3137-4058-BF57-E74A0BBA2727}" type="pres">
      <dgm:prSet presAssocID="{987BAABD-5BEF-43BA-89AE-FC70537E092B}" presName="hierRoot3" presStyleCnt="0"/>
      <dgm:spPr/>
    </dgm:pt>
    <dgm:pt modelId="{1C14E1B9-9356-4729-8DFC-EF8BB138BBF0}" type="pres">
      <dgm:prSet presAssocID="{987BAABD-5BEF-43BA-89AE-FC70537E092B}" presName="composite3" presStyleCnt="0"/>
      <dgm:spPr/>
    </dgm:pt>
    <dgm:pt modelId="{5A04D40D-D7BA-4ED9-8EDB-88FE3DD8FED9}" type="pres">
      <dgm:prSet presAssocID="{987BAABD-5BEF-43BA-89AE-FC70537E092B}" presName="background3" presStyleLbl="node3" presStyleIdx="0" presStyleCnt="3"/>
      <dgm:spPr/>
    </dgm:pt>
    <dgm:pt modelId="{D64D54C0-830B-4331-81DD-4D3CF2093117}" type="pres">
      <dgm:prSet presAssocID="{987BAABD-5BEF-43BA-89AE-FC70537E092B}" presName="text3" presStyleLbl="fgAcc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5064308-0854-453E-A021-0FFD3791DBC2}" type="pres">
      <dgm:prSet presAssocID="{987BAABD-5BEF-43BA-89AE-FC70537E092B}" presName="hierChild4" presStyleCnt="0"/>
      <dgm:spPr/>
    </dgm:pt>
    <dgm:pt modelId="{8F4B1FB0-4D72-4472-8406-93363B079C10}" type="pres">
      <dgm:prSet presAssocID="{7E752F4D-7088-49F9-BBB2-37F5BE111B91}" presName="Name17" presStyleLbl="parChTrans1D3" presStyleIdx="1" presStyleCnt="3"/>
      <dgm:spPr/>
      <dgm:t>
        <a:bodyPr/>
        <a:lstStyle/>
        <a:p>
          <a:endParaRPr lang="en-US"/>
        </a:p>
      </dgm:t>
    </dgm:pt>
    <dgm:pt modelId="{85513EED-51E7-4F4C-B056-FEF82D7EC1A3}" type="pres">
      <dgm:prSet presAssocID="{F2439808-A7FE-41F6-B620-7FA675BE145D}" presName="hierRoot3" presStyleCnt="0"/>
      <dgm:spPr/>
    </dgm:pt>
    <dgm:pt modelId="{1561B463-F2C8-453B-8D0C-13E1D76E8106}" type="pres">
      <dgm:prSet presAssocID="{F2439808-A7FE-41F6-B620-7FA675BE145D}" presName="composite3" presStyleCnt="0"/>
      <dgm:spPr/>
    </dgm:pt>
    <dgm:pt modelId="{36CD4FC6-BCFB-45E7-A7BE-BB5901F92DD2}" type="pres">
      <dgm:prSet presAssocID="{F2439808-A7FE-41F6-B620-7FA675BE145D}" presName="background3" presStyleLbl="node3" presStyleIdx="1" presStyleCnt="3"/>
      <dgm:spPr/>
    </dgm:pt>
    <dgm:pt modelId="{9FEF3ED7-8032-4393-AEA5-38F0859FA23D}" type="pres">
      <dgm:prSet presAssocID="{F2439808-A7FE-41F6-B620-7FA675BE145D}" presName="text3" presStyleLbl="fgAcc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B0414DB-6083-45FF-BCF6-27ABBDA84691}" type="pres">
      <dgm:prSet presAssocID="{F2439808-A7FE-41F6-B620-7FA675BE145D}" presName="hierChild4" presStyleCnt="0"/>
      <dgm:spPr/>
    </dgm:pt>
    <dgm:pt modelId="{6FCF2880-3868-4ADB-A5CF-7DEC631999C3}" type="pres">
      <dgm:prSet presAssocID="{4A854BAF-CFAA-4429-9B45-F1C3AE38DF0F}" presName="Name17" presStyleLbl="parChTrans1D3" presStyleIdx="2" presStyleCnt="3"/>
      <dgm:spPr/>
      <dgm:t>
        <a:bodyPr/>
        <a:lstStyle/>
        <a:p>
          <a:endParaRPr lang="en-US"/>
        </a:p>
      </dgm:t>
    </dgm:pt>
    <dgm:pt modelId="{473ED02D-3743-4BBE-80C1-7637EE5CC4E9}" type="pres">
      <dgm:prSet presAssocID="{9D25FE98-53B6-4618-91F0-1423741A212A}" presName="hierRoot3" presStyleCnt="0"/>
      <dgm:spPr/>
    </dgm:pt>
    <dgm:pt modelId="{AAD50E79-E65A-46FF-A742-5548AEBED2AE}" type="pres">
      <dgm:prSet presAssocID="{9D25FE98-53B6-4618-91F0-1423741A212A}" presName="composite3" presStyleCnt="0"/>
      <dgm:spPr/>
    </dgm:pt>
    <dgm:pt modelId="{F6772AED-AA5E-4735-8C16-243F890EC696}" type="pres">
      <dgm:prSet presAssocID="{9D25FE98-53B6-4618-91F0-1423741A212A}" presName="background3" presStyleLbl="node3" presStyleIdx="2" presStyleCnt="3"/>
      <dgm:spPr/>
    </dgm:pt>
    <dgm:pt modelId="{B3EDBA0B-9E43-4D9F-8C94-7983AA22FDB2}" type="pres">
      <dgm:prSet presAssocID="{9D25FE98-53B6-4618-91F0-1423741A212A}" presName="text3" presStyleLbl="fgAcc3" presStyleIdx="2" presStyleCnt="3" custLinFactNeighborX="100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8307BF2-00AB-4217-A117-ACF301062BCC}" type="pres">
      <dgm:prSet presAssocID="{9D25FE98-53B6-4618-91F0-1423741A212A}" presName="hierChild4" presStyleCnt="0"/>
      <dgm:spPr/>
    </dgm:pt>
  </dgm:ptLst>
  <dgm:cxnLst>
    <dgm:cxn modelId="{C77895DF-14DF-42F7-BB54-9052068A2C26}" type="presOf" srcId="{8909D552-ADAB-4ABC-AB39-E8ECAE1A43C9}" destId="{9BB9CB6D-7E66-485A-9756-BADADAC81DEF}" srcOrd="0" destOrd="0" presId="urn:microsoft.com/office/officeart/2005/8/layout/hierarchy1"/>
    <dgm:cxn modelId="{2540E1C9-5D63-4594-8E6F-8733807444B0}" type="presOf" srcId="{37B8C539-A822-4A3B-8136-0ED08649A40F}" destId="{1B295660-3CCA-477B-9B4C-08A60EB04A1D}" srcOrd="0" destOrd="0" presId="urn:microsoft.com/office/officeart/2005/8/layout/hierarchy1"/>
    <dgm:cxn modelId="{D51E2D27-5C7C-4AB2-B5B3-2337931DBA89}" type="presOf" srcId="{0D3AC9D9-65FD-4E7E-97E0-1DF3E490119C}" destId="{CEBA44F1-6994-48D4-A032-4F700E9C7790}" srcOrd="0" destOrd="0" presId="urn:microsoft.com/office/officeart/2005/8/layout/hierarchy1"/>
    <dgm:cxn modelId="{C2ABBA7E-D2CB-4788-92E5-2DF7223F385E}" srcId="{37B8C539-A822-4A3B-8136-0ED08649A40F}" destId="{987BAABD-5BEF-43BA-89AE-FC70537E092B}" srcOrd="0" destOrd="0" parTransId="{65E9958A-C21E-4FEE-BA12-9CFCA042D616}" sibTransId="{9F8DBED8-2F8E-49CC-ABE8-F5F5D90B86B0}"/>
    <dgm:cxn modelId="{171A8727-76D6-463A-A4FD-74103A9F90D6}" srcId="{0D3AC9D9-65FD-4E7E-97E0-1DF3E490119C}" destId="{37B8C539-A822-4A3B-8136-0ED08649A40F}" srcOrd="2" destOrd="0" parTransId="{70D38BED-C75B-4C9E-B4BE-73B79D732572}" sibTransId="{5B644ACF-D810-46A6-A494-D95432ECF45E}"/>
    <dgm:cxn modelId="{C8C49987-E864-401C-9EFF-20572D33F9D1}" type="presOf" srcId="{F2439808-A7FE-41F6-B620-7FA675BE145D}" destId="{9FEF3ED7-8032-4393-AEA5-38F0859FA23D}" srcOrd="0" destOrd="0" presId="urn:microsoft.com/office/officeart/2005/8/layout/hierarchy1"/>
    <dgm:cxn modelId="{35BFB5A0-B248-4FFD-A3CB-4D64344B39AC}" srcId="{0D3AC9D9-65FD-4E7E-97E0-1DF3E490119C}" destId="{EE0887AB-AB39-4B82-B1AE-E93664005436}" srcOrd="1" destOrd="0" parTransId="{AA1A91A3-7323-4499-86B7-23600699B668}" sibTransId="{CE893643-161F-4048-8A2A-1FB5DB5D0DE5}"/>
    <dgm:cxn modelId="{C885AD26-9336-4587-9766-0508E9CDF80F}" type="presOf" srcId="{30F3348A-9900-4B00-9BF6-3DD476558CF6}" destId="{423BBA7F-EA32-47C3-96F0-ED2A2BA33A92}" srcOrd="0" destOrd="0" presId="urn:microsoft.com/office/officeart/2005/8/layout/hierarchy1"/>
    <dgm:cxn modelId="{834EA625-B3AC-4109-8D6F-67920A262761}" type="presOf" srcId="{EE0887AB-AB39-4B82-B1AE-E93664005436}" destId="{EEBA017D-6500-477A-A716-6CFBCBB5CDB5}" srcOrd="0" destOrd="0" presId="urn:microsoft.com/office/officeart/2005/8/layout/hierarchy1"/>
    <dgm:cxn modelId="{288B270F-572A-4018-83DF-35C61F6A0FB7}" type="presOf" srcId="{70D38BED-C75B-4C9E-B4BE-73B79D732572}" destId="{3DC3FEDB-68E1-4885-863F-2C463D239C2C}" srcOrd="0" destOrd="0" presId="urn:microsoft.com/office/officeart/2005/8/layout/hierarchy1"/>
    <dgm:cxn modelId="{B8C737EE-2509-4DDE-BF68-30160A3CF6C9}" srcId="{9C2A4D53-8233-45FF-B221-89C4DE34AB1C}" destId="{0D3AC9D9-65FD-4E7E-97E0-1DF3E490119C}" srcOrd="0" destOrd="0" parTransId="{E047C531-97EE-4D3B-BAE6-B9A9F2C54FE5}" sibTransId="{29A5188A-7812-4F4F-8427-EC121CC070C4}"/>
    <dgm:cxn modelId="{FF55F28A-67A6-4DA2-A071-A3121DDD490B}" srcId="{37B8C539-A822-4A3B-8136-0ED08649A40F}" destId="{F2439808-A7FE-41F6-B620-7FA675BE145D}" srcOrd="1" destOrd="0" parTransId="{7E752F4D-7088-49F9-BBB2-37F5BE111B91}" sibTransId="{E82C33B2-9665-4699-8AB2-0EBA5037EA7D}"/>
    <dgm:cxn modelId="{C0F2B7FC-7BC7-4017-9BF2-F74D3324B227}" type="presOf" srcId="{9D25FE98-53B6-4618-91F0-1423741A212A}" destId="{B3EDBA0B-9E43-4D9F-8C94-7983AA22FDB2}" srcOrd="0" destOrd="0" presId="urn:microsoft.com/office/officeart/2005/8/layout/hierarchy1"/>
    <dgm:cxn modelId="{A1169699-DB57-48C0-8085-855B9C275CBB}" type="presOf" srcId="{4A854BAF-CFAA-4429-9B45-F1C3AE38DF0F}" destId="{6FCF2880-3868-4ADB-A5CF-7DEC631999C3}" srcOrd="0" destOrd="0" presId="urn:microsoft.com/office/officeart/2005/8/layout/hierarchy1"/>
    <dgm:cxn modelId="{B244AC91-01F8-4812-80DD-4CE3010FF2A1}" type="presOf" srcId="{9C2A4D53-8233-45FF-B221-89C4DE34AB1C}" destId="{271DCB72-6C54-49C0-91FA-DFA7E2A2D506}" srcOrd="0" destOrd="0" presId="urn:microsoft.com/office/officeart/2005/8/layout/hierarchy1"/>
    <dgm:cxn modelId="{BC766F7D-C994-4F77-BC26-1DD851F5549A}" type="presOf" srcId="{987BAABD-5BEF-43BA-89AE-FC70537E092B}" destId="{D64D54C0-830B-4331-81DD-4D3CF2093117}" srcOrd="0" destOrd="0" presId="urn:microsoft.com/office/officeart/2005/8/layout/hierarchy1"/>
    <dgm:cxn modelId="{048B2FD9-6971-46C4-BFC7-EC544948E5D2}" type="presOf" srcId="{7E752F4D-7088-49F9-BBB2-37F5BE111B91}" destId="{8F4B1FB0-4D72-4472-8406-93363B079C10}" srcOrd="0" destOrd="0" presId="urn:microsoft.com/office/officeart/2005/8/layout/hierarchy1"/>
    <dgm:cxn modelId="{BAE800CF-C714-4C5A-88B3-3C26566E458C}" type="presOf" srcId="{65E9958A-C21E-4FEE-BA12-9CFCA042D616}" destId="{1574CCA4-1C88-460D-96E4-68EED1AA2283}" srcOrd="0" destOrd="0" presId="urn:microsoft.com/office/officeart/2005/8/layout/hierarchy1"/>
    <dgm:cxn modelId="{98DE81D4-2EC8-4452-85B3-AF88CB69986C}" type="presOf" srcId="{AA1A91A3-7323-4499-86B7-23600699B668}" destId="{FEC1C1D2-5D09-49C5-B888-D62E3A5116FB}" srcOrd="0" destOrd="0" presId="urn:microsoft.com/office/officeart/2005/8/layout/hierarchy1"/>
    <dgm:cxn modelId="{37050DC4-EE7B-475B-BAFA-F48348112F7F}" srcId="{37B8C539-A822-4A3B-8136-0ED08649A40F}" destId="{9D25FE98-53B6-4618-91F0-1423741A212A}" srcOrd="2" destOrd="0" parTransId="{4A854BAF-CFAA-4429-9B45-F1C3AE38DF0F}" sibTransId="{85B8AA10-D006-4A85-82F9-B8C1055BA977}"/>
    <dgm:cxn modelId="{665FD832-889A-4CA6-96EB-8EEC24F0AE6C}" srcId="{0D3AC9D9-65FD-4E7E-97E0-1DF3E490119C}" destId="{30F3348A-9900-4B00-9BF6-3DD476558CF6}" srcOrd="0" destOrd="0" parTransId="{8909D552-ADAB-4ABC-AB39-E8ECAE1A43C9}" sibTransId="{9B119B7C-25A3-4813-907C-6EAED0CB8AA6}"/>
    <dgm:cxn modelId="{96B6DB5F-D51C-43C7-BFAB-4045A448BD7C}" type="presParOf" srcId="{271DCB72-6C54-49C0-91FA-DFA7E2A2D506}" destId="{42A9AC20-47AB-4878-A190-AAFD638218CC}" srcOrd="0" destOrd="0" presId="urn:microsoft.com/office/officeart/2005/8/layout/hierarchy1"/>
    <dgm:cxn modelId="{F8210695-5FF1-40F9-873B-36A88A0C26FA}" type="presParOf" srcId="{42A9AC20-47AB-4878-A190-AAFD638218CC}" destId="{C6B175E5-7CDF-4177-B463-432479D7CD0A}" srcOrd="0" destOrd="0" presId="urn:microsoft.com/office/officeart/2005/8/layout/hierarchy1"/>
    <dgm:cxn modelId="{8FB4D3C6-6A20-4418-9B4A-09EEE15047E0}" type="presParOf" srcId="{C6B175E5-7CDF-4177-B463-432479D7CD0A}" destId="{3B06B417-96E0-43AE-94CE-6C95D23A7C88}" srcOrd="0" destOrd="0" presId="urn:microsoft.com/office/officeart/2005/8/layout/hierarchy1"/>
    <dgm:cxn modelId="{06E3A07D-F34C-43C1-8C07-72C86A946199}" type="presParOf" srcId="{C6B175E5-7CDF-4177-B463-432479D7CD0A}" destId="{CEBA44F1-6994-48D4-A032-4F700E9C7790}" srcOrd="1" destOrd="0" presId="urn:microsoft.com/office/officeart/2005/8/layout/hierarchy1"/>
    <dgm:cxn modelId="{B1D82F61-E5D5-4D5E-B721-FAEE446DB036}" type="presParOf" srcId="{42A9AC20-47AB-4878-A190-AAFD638218CC}" destId="{4C5773C7-454B-4D8C-9EF9-ABC2ED2704C5}" srcOrd="1" destOrd="0" presId="urn:microsoft.com/office/officeart/2005/8/layout/hierarchy1"/>
    <dgm:cxn modelId="{594512C4-7684-4621-BD82-DF1E8DFE7186}" type="presParOf" srcId="{4C5773C7-454B-4D8C-9EF9-ABC2ED2704C5}" destId="{9BB9CB6D-7E66-485A-9756-BADADAC81DEF}" srcOrd="0" destOrd="0" presId="urn:microsoft.com/office/officeart/2005/8/layout/hierarchy1"/>
    <dgm:cxn modelId="{09A01031-C940-4F1C-9F64-1064DE7A48ED}" type="presParOf" srcId="{4C5773C7-454B-4D8C-9EF9-ABC2ED2704C5}" destId="{F2239340-C7C6-488A-AF47-DE636CBBD0F5}" srcOrd="1" destOrd="0" presId="urn:microsoft.com/office/officeart/2005/8/layout/hierarchy1"/>
    <dgm:cxn modelId="{BF2B6593-C643-4F5B-B5D6-92D7FE1339F9}" type="presParOf" srcId="{F2239340-C7C6-488A-AF47-DE636CBBD0F5}" destId="{92F308A6-48C3-4C88-93BF-43A4B2501003}" srcOrd="0" destOrd="0" presId="urn:microsoft.com/office/officeart/2005/8/layout/hierarchy1"/>
    <dgm:cxn modelId="{3A1F3A96-EB88-4F44-82E9-DEB0DB2738A0}" type="presParOf" srcId="{92F308A6-48C3-4C88-93BF-43A4B2501003}" destId="{6AFDD081-9D1C-482A-B6BD-4ECBB2E9C5FD}" srcOrd="0" destOrd="0" presId="urn:microsoft.com/office/officeart/2005/8/layout/hierarchy1"/>
    <dgm:cxn modelId="{C6518484-CDD0-45FD-98A6-20D18134B1C7}" type="presParOf" srcId="{92F308A6-48C3-4C88-93BF-43A4B2501003}" destId="{423BBA7F-EA32-47C3-96F0-ED2A2BA33A92}" srcOrd="1" destOrd="0" presId="urn:microsoft.com/office/officeart/2005/8/layout/hierarchy1"/>
    <dgm:cxn modelId="{01DC4E52-B16C-4990-B54C-D51C43FF56F9}" type="presParOf" srcId="{F2239340-C7C6-488A-AF47-DE636CBBD0F5}" destId="{FF1C721E-6B28-45F9-9286-BEAA4417C8B3}" srcOrd="1" destOrd="0" presId="urn:microsoft.com/office/officeart/2005/8/layout/hierarchy1"/>
    <dgm:cxn modelId="{1D52B6BF-269A-4D2C-AD48-82294D4A2FD9}" type="presParOf" srcId="{4C5773C7-454B-4D8C-9EF9-ABC2ED2704C5}" destId="{FEC1C1D2-5D09-49C5-B888-D62E3A5116FB}" srcOrd="2" destOrd="0" presId="urn:microsoft.com/office/officeart/2005/8/layout/hierarchy1"/>
    <dgm:cxn modelId="{5478CB68-4319-4A4D-A2F9-1AD75A89E1AB}" type="presParOf" srcId="{4C5773C7-454B-4D8C-9EF9-ABC2ED2704C5}" destId="{627DB776-232A-4253-838D-139BAFB42976}" srcOrd="3" destOrd="0" presId="urn:microsoft.com/office/officeart/2005/8/layout/hierarchy1"/>
    <dgm:cxn modelId="{FF3EB141-F06A-4534-8D97-55C583FC4848}" type="presParOf" srcId="{627DB776-232A-4253-838D-139BAFB42976}" destId="{2A6EFB3B-1A93-4B76-BC8D-DA2DF5FAA903}" srcOrd="0" destOrd="0" presId="urn:microsoft.com/office/officeart/2005/8/layout/hierarchy1"/>
    <dgm:cxn modelId="{6804144B-86F4-4773-9C30-B5B68385F9F7}" type="presParOf" srcId="{2A6EFB3B-1A93-4B76-BC8D-DA2DF5FAA903}" destId="{25826208-00C0-4999-BA98-59D6975EB9A4}" srcOrd="0" destOrd="0" presId="urn:microsoft.com/office/officeart/2005/8/layout/hierarchy1"/>
    <dgm:cxn modelId="{6AC8D297-A078-4E4D-B37C-D3A69BEC92CE}" type="presParOf" srcId="{2A6EFB3B-1A93-4B76-BC8D-DA2DF5FAA903}" destId="{EEBA017D-6500-477A-A716-6CFBCBB5CDB5}" srcOrd="1" destOrd="0" presId="urn:microsoft.com/office/officeart/2005/8/layout/hierarchy1"/>
    <dgm:cxn modelId="{7E37FC2B-E65B-42A6-A987-B3D1624F8250}" type="presParOf" srcId="{627DB776-232A-4253-838D-139BAFB42976}" destId="{9DEC14F0-06EA-4DC8-80A4-3F337140F4B4}" srcOrd="1" destOrd="0" presId="urn:microsoft.com/office/officeart/2005/8/layout/hierarchy1"/>
    <dgm:cxn modelId="{F41FE1B5-6688-43B9-8B4F-425E1C292EDC}" type="presParOf" srcId="{4C5773C7-454B-4D8C-9EF9-ABC2ED2704C5}" destId="{3DC3FEDB-68E1-4885-863F-2C463D239C2C}" srcOrd="4" destOrd="0" presId="urn:microsoft.com/office/officeart/2005/8/layout/hierarchy1"/>
    <dgm:cxn modelId="{7D1128ED-CB9F-497D-8419-86B87FB8939D}" type="presParOf" srcId="{4C5773C7-454B-4D8C-9EF9-ABC2ED2704C5}" destId="{2A81A03F-7273-48F7-AAEB-67205865CDBD}" srcOrd="5" destOrd="0" presId="urn:microsoft.com/office/officeart/2005/8/layout/hierarchy1"/>
    <dgm:cxn modelId="{80E40CD3-7474-483A-A871-6B9CDD1BF890}" type="presParOf" srcId="{2A81A03F-7273-48F7-AAEB-67205865CDBD}" destId="{9D784C2C-EBEA-4E72-AFF7-A6DD4251E65F}" srcOrd="0" destOrd="0" presId="urn:microsoft.com/office/officeart/2005/8/layout/hierarchy1"/>
    <dgm:cxn modelId="{A9A26FE6-F185-43E9-B792-396A9D2A565D}" type="presParOf" srcId="{9D784C2C-EBEA-4E72-AFF7-A6DD4251E65F}" destId="{355963DA-A437-4C9C-A22A-9DDBF47522B0}" srcOrd="0" destOrd="0" presId="urn:microsoft.com/office/officeart/2005/8/layout/hierarchy1"/>
    <dgm:cxn modelId="{405E63D3-A320-4813-ABAB-EC4174727E55}" type="presParOf" srcId="{9D784C2C-EBEA-4E72-AFF7-A6DD4251E65F}" destId="{1B295660-3CCA-477B-9B4C-08A60EB04A1D}" srcOrd="1" destOrd="0" presId="urn:microsoft.com/office/officeart/2005/8/layout/hierarchy1"/>
    <dgm:cxn modelId="{BCC1CBD2-2F53-4E9B-AF07-D86316B4FCD5}" type="presParOf" srcId="{2A81A03F-7273-48F7-AAEB-67205865CDBD}" destId="{CF918389-7CAA-4CA9-96AE-BFE741731EF1}" srcOrd="1" destOrd="0" presId="urn:microsoft.com/office/officeart/2005/8/layout/hierarchy1"/>
    <dgm:cxn modelId="{62F2EC43-4B59-40D9-9696-F9B2B6452EE6}" type="presParOf" srcId="{CF918389-7CAA-4CA9-96AE-BFE741731EF1}" destId="{1574CCA4-1C88-460D-96E4-68EED1AA2283}" srcOrd="0" destOrd="0" presId="urn:microsoft.com/office/officeart/2005/8/layout/hierarchy1"/>
    <dgm:cxn modelId="{E16ABC8F-2F7C-4408-BB3E-77D938C0BD0C}" type="presParOf" srcId="{CF918389-7CAA-4CA9-96AE-BFE741731EF1}" destId="{D6FE401B-3137-4058-BF57-E74A0BBA2727}" srcOrd="1" destOrd="0" presId="urn:microsoft.com/office/officeart/2005/8/layout/hierarchy1"/>
    <dgm:cxn modelId="{98306438-AE74-438B-89F4-CB9B1CF2F1C8}" type="presParOf" srcId="{D6FE401B-3137-4058-BF57-E74A0BBA2727}" destId="{1C14E1B9-9356-4729-8DFC-EF8BB138BBF0}" srcOrd="0" destOrd="0" presId="urn:microsoft.com/office/officeart/2005/8/layout/hierarchy1"/>
    <dgm:cxn modelId="{4CDFE0B2-0AA4-4F3C-9C65-368A8503EF5C}" type="presParOf" srcId="{1C14E1B9-9356-4729-8DFC-EF8BB138BBF0}" destId="{5A04D40D-D7BA-4ED9-8EDB-88FE3DD8FED9}" srcOrd="0" destOrd="0" presId="urn:microsoft.com/office/officeart/2005/8/layout/hierarchy1"/>
    <dgm:cxn modelId="{6F5F5697-561B-4389-BD6E-C68E08B47CAC}" type="presParOf" srcId="{1C14E1B9-9356-4729-8DFC-EF8BB138BBF0}" destId="{D64D54C0-830B-4331-81DD-4D3CF2093117}" srcOrd="1" destOrd="0" presId="urn:microsoft.com/office/officeart/2005/8/layout/hierarchy1"/>
    <dgm:cxn modelId="{356C570E-FC88-4B8E-BF53-25C7009634CE}" type="presParOf" srcId="{D6FE401B-3137-4058-BF57-E74A0BBA2727}" destId="{45064308-0854-453E-A021-0FFD3791DBC2}" srcOrd="1" destOrd="0" presId="urn:microsoft.com/office/officeart/2005/8/layout/hierarchy1"/>
    <dgm:cxn modelId="{67473005-C316-4944-A0C1-4AB4331A11CF}" type="presParOf" srcId="{CF918389-7CAA-4CA9-96AE-BFE741731EF1}" destId="{8F4B1FB0-4D72-4472-8406-93363B079C10}" srcOrd="2" destOrd="0" presId="urn:microsoft.com/office/officeart/2005/8/layout/hierarchy1"/>
    <dgm:cxn modelId="{0A44A0CB-5132-4A00-A5D1-A1B4A652892F}" type="presParOf" srcId="{CF918389-7CAA-4CA9-96AE-BFE741731EF1}" destId="{85513EED-51E7-4F4C-B056-FEF82D7EC1A3}" srcOrd="3" destOrd="0" presId="urn:microsoft.com/office/officeart/2005/8/layout/hierarchy1"/>
    <dgm:cxn modelId="{3CEC100C-2E01-4FEA-AF92-D54B9B96BCB3}" type="presParOf" srcId="{85513EED-51E7-4F4C-B056-FEF82D7EC1A3}" destId="{1561B463-F2C8-453B-8D0C-13E1D76E8106}" srcOrd="0" destOrd="0" presId="urn:microsoft.com/office/officeart/2005/8/layout/hierarchy1"/>
    <dgm:cxn modelId="{EEE2D7A1-005C-46F3-A2A8-03559A7AA2CE}" type="presParOf" srcId="{1561B463-F2C8-453B-8D0C-13E1D76E8106}" destId="{36CD4FC6-BCFB-45E7-A7BE-BB5901F92DD2}" srcOrd="0" destOrd="0" presId="urn:microsoft.com/office/officeart/2005/8/layout/hierarchy1"/>
    <dgm:cxn modelId="{6CB68359-6DDA-4E08-ABD2-104734CB7E45}" type="presParOf" srcId="{1561B463-F2C8-453B-8D0C-13E1D76E8106}" destId="{9FEF3ED7-8032-4393-AEA5-38F0859FA23D}" srcOrd="1" destOrd="0" presId="urn:microsoft.com/office/officeart/2005/8/layout/hierarchy1"/>
    <dgm:cxn modelId="{9DE60150-A919-433B-AA9B-019322C6ADE1}" type="presParOf" srcId="{85513EED-51E7-4F4C-B056-FEF82D7EC1A3}" destId="{8B0414DB-6083-45FF-BCF6-27ABBDA84691}" srcOrd="1" destOrd="0" presId="urn:microsoft.com/office/officeart/2005/8/layout/hierarchy1"/>
    <dgm:cxn modelId="{77325E66-5D8B-477C-9D38-72CAF3590A74}" type="presParOf" srcId="{CF918389-7CAA-4CA9-96AE-BFE741731EF1}" destId="{6FCF2880-3868-4ADB-A5CF-7DEC631999C3}" srcOrd="4" destOrd="0" presId="urn:microsoft.com/office/officeart/2005/8/layout/hierarchy1"/>
    <dgm:cxn modelId="{7745EFB3-B850-4EAF-9F82-93CDF45B1123}" type="presParOf" srcId="{CF918389-7CAA-4CA9-96AE-BFE741731EF1}" destId="{473ED02D-3743-4BBE-80C1-7637EE5CC4E9}" srcOrd="5" destOrd="0" presId="urn:microsoft.com/office/officeart/2005/8/layout/hierarchy1"/>
    <dgm:cxn modelId="{8E057478-43A9-449B-AB06-44F56E42392D}" type="presParOf" srcId="{473ED02D-3743-4BBE-80C1-7637EE5CC4E9}" destId="{AAD50E79-E65A-46FF-A742-5548AEBED2AE}" srcOrd="0" destOrd="0" presId="urn:microsoft.com/office/officeart/2005/8/layout/hierarchy1"/>
    <dgm:cxn modelId="{4643FEC7-03C4-44F9-87D7-022B7AA1594F}" type="presParOf" srcId="{AAD50E79-E65A-46FF-A742-5548AEBED2AE}" destId="{F6772AED-AA5E-4735-8C16-243F890EC696}" srcOrd="0" destOrd="0" presId="urn:microsoft.com/office/officeart/2005/8/layout/hierarchy1"/>
    <dgm:cxn modelId="{007AD486-EB82-4A9F-9ED6-6E1C3D6019A6}" type="presParOf" srcId="{AAD50E79-E65A-46FF-A742-5548AEBED2AE}" destId="{B3EDBA0B-9E43-4D9F-8C94-7983AA22FDB2}" srcOrd="1" destOrd="0" presId="urn:microsoft.com/office/officeart/2005/8/layout/hierarchy1"/>
    <dgm:cxn modelId="{F76AC237-A82F-4853-9377-2E8CDAFCB22E}" type="presParOf" srcId="{473ED02D-3743-4BBE-80C1-7637EE5CC4E9}" destId="{28307BF2-00AB-4217-A117-ACF301062BC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CF2880-3868-4ADB-A5CF-7DEC631999C3}">
      <dsp:nvSpPr>
        <dsp:cNvPr id="0" name=""/>
        <dsp:cNvSpPr/>
      </dsp:nvSpPr>
      <dsp:spPr>
        <a:xfrm>
          <a:off x="4625364" y="2641360"/>
          <a:ext cx="1919049" cy="4566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191"/>
              </a:lnTo>
              <a:lnTo>
                <a:pt x="1919049" y="311191"/>
              </a:lnTo>
              <a:lnTo>
                <a:pt x="1919049" y="4566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4B1FB0-4D72-4472-8406-93363B079C10}">
      <dsp:nvSpPr>
        <dsp:cNvPr id="0" name=""/>
        <dsp:cNvSpPr/>
      </dsp:nvSpPr>
      <dsp:spPr>
        <a:xfrm>
          <a:off x="4579644" y="2641360"/>
          <a:ext cx="91440" cy="45664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566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74CCA4-1C88-460D-96E4-68EED1AA2283}">
      <dsp:nvSpPr>
        <dsp:cNvPr id="0" name=""/>
        <dsp:cNvSpPr/>
      </dsp:nvSpPr>
      <dsp:spPr>
        <a:xfrm>
          <a:off x="2706314" y="2641360"/>
          <a:ext cx="1919049" cy="456646"/>
        </a:xfrm>
        <a:custGeom>
          <a:avLst/>
          <a:gdLst/>
          <a:ahLst/>
          <a:cxnLst/>
          <a:rect l="0" t="0" r="0" b="0"/>
          <a:pathLst>
            <a:path>
              <a:moveTo>
                <a:pt x="1919049" y="0"/>
              </a:moveTo>
              <a:lnTo>
                <a:pt x="1919049" y="311191"/>
              </a:lnTo>
              <a:lnTo>
                <a:pt x="0" y="311191"/>
              </a:lnTo>
              <a:lnTo>
                <a:pt x="0" y="4566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C3FEDB-68E1-4885-863F-2C463D239C2C}">
      <dsp:nvSpPr>
        <dsp:cNvPr id="0" name=""/>
        <dsp:cNvSpPr/>
      </dsp:nvSpPr>
      <dsp:spPr>
        <a:xfrm>
          <a:off x="2706314" y="1187680"/>
          <a:ext cx="1919049" cy="4566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191"/>
              </a:lnTo>
              <a:lnTo>
                <a:pt x="1919049" y="311191"/>
              </a:lnTo>
              <a:lnTo>
                <a:pt x="1919049" y="4566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C1C1D2-5D09-49C5-B888-D62E3A5116FB}">
      <dsp:nvSpPr>
        <dsp:cNvPr id="0" name=""/>
        <dsp:cNvSpPr/>
      </dsp:nvSpPr>
      <dsp:spPr>
        <a:xfrm>
          <a:off x="2660594" y="1187680"/>
          <a:ext cx="91440" cy="45664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566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B9CB6D-7E66-485A-9756-BADADAC81DEF}">
      <dsp:nvSpPr>
        <dsp:cNvPr id="0" name=""/>
        <dsp:cNvSpPr/>
      </dsp:nvSpPr>
      <dsp:spPr>
        <a:xfrm>
          <a:off x="787264" y="1187680"/>
          <a:ext cx="1919049" cy="456646"/>
        </a:xfrm>
        <a:custGeom>
          <a:avLst/>
          <a:gdLst/>
          <a:ahLst/>
          <a:cxnLst/>
          <a:rect l="0" t="0" r="0" b="0"/>
          <a:pathLst>
            <a:path>
              <a:moveTo>
                <a:pt x="1919049" y="0"/>
              </a:moveTo>
              <a:lnTo>
                <a:pt x="1919049" y="311191"/>
              </a:lnTo>
              <a:lnTo>
                <a:pt x="0" y="311191"/>
              </a:lnTo>
              <a:lnTo>
                <a:pt x="0" y="4566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06B417-96E0-43AE-94CE-6C95D23A7C88}">
      <dsp:nvSpPr>
        <dsp:cNvPr id="0" name=""/>
        <dsp:cNvSpPr/>
      </dsp:nvSpPr>
      <dsp:spPr>
        <a:xfrm>
          <a:off x="1921248" y="190646"/>
          <a:ext cx="1570131" cy="997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BA44F1-6994-48D4-A032-4F700E9C7790}">
      <dsp:nvSpPr>
        <dsp:cNvPr id="0" name=""/>
        <dsp:cNvSpPr/>
      </dsp:nvSpPr>
      <dsp:spPr>
        <a:xfrm>
          <a:off x="2095707" y="356382"/>
          <a:ext cx="1570131" cy="997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Casper"/>
            </a:rPr>
            <a:t>BINARY ADDER</a:t>
          </a:r>
          <a:endParaRPr lang="en-US" sz="1600" kern="1200" dirty="0">
            <a:latin typeface="Casper"/>
          </a:endParaRPr>
        </a:p>
      </dsp:txBody>
      <dsp:txXfrm>
        <a:off x="2124909" y="385584"/>
        <a:ext cx="1511727" cy="938629"/>
      </dsp:txXfrm>
    </dsp:sp>
    <dsp:sp modelId="{6AFDD081-9D1C-482A-B6BD-4ECBB2E9C5FD}">
      <dsp:nvSpPr>
        <dsp:cNvPr id="0" name=""/>
        <dsp:cNvSpPr/>
      </dsp:nvSpPr>
      <dsp:spPr>
        <a:xfrm>
          <a:off x="2199" y="1644326"/>
          <a:ext cx="1570131" cy="997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3BBA7F-EA32-47C3-96F0-ED2A2BA33A92}">
      <dsp:nvSpPr>
        <dsp:cNvPr id="0" name=""/>
        <dsp:cNvSpPr/>
      </dsp:nvSpPr>
      <dsp:spPr>
        <a:xfrm>
          <a:off x="176658" y="1810062"/>
          <a:ext cx="1570131" cy="997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Casper"/>
            </a:rPr>
            <a:t>HALF ADDER</a:t>
          </a:r>
          <a:endParaRPr lang="en-US" sz="1600" kern="1200" dirty="0">
            <a:latin typeface="Casper"/>
          </a:endParaRPr>
        </a:p>
      </dsp:txBody>
      <dsp:txXfrm>
        <a:off x="205860" y="1839264"/>
        <a:ext cx="1511727" cy="938629"/>
      </dsp:txXfrm>
    </dsp:sp>
    <dsp:sp modelId="{25826208-00C0-4999-BA98-59D6975EB9A4}">
      <dsp:nvSpPr>
        <dsp:cNvPr id="0" name=""/>
        <dsp:cNvSpPr/>
      </dsp:nvSpPr>
      <dsp:spPr>
        <a:xfrm>
          <a:off x="1921248" y="1644326"/>
          <a:ext cx="1570131" cy="997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BA017D-6500-477A-A716-6CFBCBB5CDB5}">
      <dsp:nvSpPr>
        <dsp:cNvPr id="0" name=""/>
        <dsp:cNvSpPr/>
      </dsp:nvSpPr>
      <dsp:spPr>
        <a:xfrm>
          <a:off x="2095707" y="1810062"/>
          <a:ext cx="1570131" cy="997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Casper"/>
            </a:rPr>
            <a:t>FULL ADDER</a:t>
          </a:r>
          <a:endParaRPr lang="en-US" sz="1600" kern="1200" dirty="0">
            <a:latin typeface="Casper"/>
          </a:endParaRPr>
        </a:p>
      </dsp:txBody>
      <dsp:txXfrm>
        <a:off x="2124909" y="1839264"/>
        <a:ext cx="1511727" cy="938629"/>
      </dsp:txXfrm>
    </dsp:sp>
    <dsp:sp modelId="{355963DA-A437-4C9C-A22A-9DDBF47522B0}">
      <dsp:nvSpPr>
        <dsp:cNvPr id="0" name=""/>
        <dsp:cNvSpPr/>
      </dsp:nvSpPr>
      <dsp:spPr>
        <a:xfrm>
          <a:off x="3840298" y="1644326"/>
          <a:ext cx="1570131" cy="997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295660-3CCA-477B-9B4C-08A60EB04A1D}">
      <dsp:nvSpPr>
        <dsp:cNvPr id="0" name=""/>
        <dsp:cNvSpPr/>
      </dsp:nvSpPr>
      <dsp:spPr>
        <a:xfrm>
          <a:off x="4014757" y="1810062"/>
          <a:ext cx="1570131" cy="997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Casper"/>
            </a:rPr>
            <a:t>PARALLEL ADDER</a:t>
          </a:r>
          <a:endParaRPr lang="en-US" sz="1600" kern="1200" dirty="0">
            <a:latin typeface="Casper"/>
          </a:endParaRPr>
        </a:p>
      </dsp:txBody>
      <dsp:txXfrm>
        <a:off x="4043959" y="1839264"/>
        <a:ext cx="1511727" cy="938629"/>
      </dsp:txXfrm>
    </dsp:sp>
    <dsp:sp modelId="{5A04D40D-D7BA-4ED9-8EDB-88FE3DD8FED9}">
      <dsp:nvSpPr>
        <dsp:cNvPr id="0" name=""/>
        <dsp:cNvSpPr/>
      </dsp:nvSpPr>
      <dsp:spPr>
        <a:xfrm>
          <a:off x="1921248" y="3098006"/>
          <a:ext cx="1570131" cy="997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4D54C0-830B-4331-81DD-4D3CF2093117}">
      <dsp:nvSpPr>
        <dsp:cNvPr id="0" name=""/>
        <dsp:cNvSpPr/>
      </dsp:nvSpPr>
      <dsp:spPr>
        <a:xfrm>
          <a:off x="2095707" y="3263742"/>
          <a:ext cx="1570131" cy="997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Casper"/>
            </a:rPr>
            <a:t>RIPPLE CARRY</a:t>
          </a:r>
          <a:endParaRPr lang="en-US" sz="1600" kern="1200" dirty="0">
            <a:latin typeface="Casper"/>
          </a:endParaRPr>
        </a:p>
      </dsp:txBody>
      <dsp:txXfrm>
        <a:off x="2124909" y="3292944"/>
        <a:ext cx="1511727" cy="938629"/>
      </dsp:txXfrm>
    </dsp:sp>
    <dsp:sp modelId="{36CD4FC6-BCFB-45E7-A7BE-BB5901F92DD2}">
      <dsp:nvSpPr>
        <dsp:cNvPr id="0" name=""/>
        <dsp:cNvSpPr/>
      </dsp:nvSpPr>
      <dsp:spPr>
        <a:xfrm>
          <a:off x="3840298" y="3098006"/>
          <a:ext cx="1570131" cy="997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EF3ED7-8032-4393-AEA5-38F0859FA23D}">
      <dsp:nvSpPr>
        <dsp:cNvPr id="0" name=""/>
        <dsp:cNvSpPr/>
      </dsp:nvSpPr>
      <dsp:spPr>
        <a:xfrm>
          <a:off x="4014757" y="3263742"/>
          <a:ext cx="1570131" cy="997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Casper"/>
            </a:rPr>
            <a:t>LOOK AHEAD CARRY</a:t>
          </a:r>
          <a:endParaRPr lang="en-US" sz="1600" kern="1200" dirty="0">
            <a:latin typeface="Casper"/>
          </a:endParaRPr>
        </a:p>
      </dsp:txBody>
      <dsp:txXfrm>
        <a:off x="4043959" y="3292944"/>
        <a:ext cx="1511727" cy="938629"/>
      </dsp:txXfrm>
    </dsp:sp>
    <dsp:sp modelId="{F6772AED-AA5E-4735-8C16-243F890EC696}">
      <dsp:nvSpPr>
        <dsp:cNvPr id="0" name=""/>
        <dsp:cNvSpPr/>
      </dsp:nvSpPr>
      <dsp:spPr>
        <a:xfrm>
          <a:off x="5759348" y="3098006"/>
          <a:ext cx="1570131" cy="997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DBA0B-9E43-4D9F-8C94-7983AA22FDB2}">
      <dsp:nvSpPr>
        <dsp:cNvPr id="0" name=""/>
        <dsp:cNvSpPr/>
      </dsp:nvSpPr>
      <dsp:spPr>
        <a:xfrm>
          <a:off x="5933807" y="3263742"/>
          <a:ext cx="1570131" cy="997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Casper"/>
            </a:rPr>
            <a:t>CARRY SAVE</a:t>
          </a:r>
          <a:endParaRPr lang="en-US" sz="1600" kern="1200" dirty="0">
            <a:latin typeface="Casper"/>
          </a:endParaRPr>
        </a:p>
      </dsp:txBody>
      <dsp:txXfrm>
        <a:off x="5963009" y="3292944"/>
        <a:ext cx="1511727" cy="9386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computer_logical_organization/sequential_circuits.htm" TargetMode="External"/><Relationship Id="rId2" Type="http://schemas.openxmlformats.org/officeDocument/2006/relationships/hyperlink" Target="https://ethz.ch/content/dam/ethz/special-interest/infk/inst-infsec/system-security-group-dam/education/Digitaltechnik_17/0a_CombinationalCircuits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url?sa=i&amp;url=https://www.electronicshub.org/sequential-circuits-basics/&amp;psig=AOvVaw2X9fQUT0TGHCoXGGqT1yoD&amp;ust=1595874213198000&amp;source=images&amp;cd=vfe&amp;ved=0CAIQjRxqFwoTCNi0l_nE6-oCFQAAAAAdAAAAABAQ" TargetMode="External"/><Relationship Id="rId5" Type="http://schemas.openxmlformats.org/officeDocument/2006/relationships/hyperlink" Target="https://www.tutorialspoint.com/computer_logical_organization/combinational_circuits.htm" TargetMode="External"/><Relationship Id="rId4" Type="http://schemas.openxmlformats.org/officeDocument/2006/relationships/hyperlink" Target="https://www.google.com/search?q=combinational+circuits+in+digital+electronics&amp;source=lnms&amp;tbm=isch&amp;sa=X&amp;ved=0ahUKEwj526-wnv3iAhWSXCsKHf77AtQQ_AUIESgC&amp;biw=1366&amp;bih=657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3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8685551" y="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640080" y="6014156"/>
            <a:ext cx="44048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hangingPunct="1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COMBINATIONAL CIRCUIT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982714" y="1703603"/>
            <a:ext cx="9063318" cy="4185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UIE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ACADEMIC UNIT-1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Introduction Electrical &amp; Electronics Engineering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 </a:t>
            </a:r>
            <a:r>
              <a:rPr lang="en-US" sz="200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23EC-101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By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Shikha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Unit-2 Chapter-1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Combinational and Sequential Circuits</a:t>
            </a:r>
            <a:r>
              <a:rPr lang="en-IN" sz="2000" b="1" dirty="0" smtClean="0"/>
              <a:t> </a:t>
            </a:r>
            <a:endParaRPr lang="en-IN" sz="2000" b="1" dirty="0"/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No. </a:t>
            </a:r>
            <a:r>
              <a:rPr lang="en-US" sz="20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2.1.1</a:t>
            </a:r>
            <a:endParaRPr lang="en-US" sz="2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005840" y="444906"/>
            <a:ext cx="4598126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/>
              <a:t>Course Outcome </a:t>
            </a:r>
            <a:br>
              <a:rPr lang="en-US" sz="4400" b="1" dirty="0"/>
            </a:br>
            <a:endParaRPr lang="en-US" sz="4400" b="1" dirty="0">
              <a:latin typeface="Casper Bold"/>
              <a:cs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7093131" y="4574236"/>
            <a:ext cx="43238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asper"/>
              </a:rPr>
              <a:t>Figure 1.1 Practical application of Combinational circuit [1]</a:t>
            </a:r>
          </a:p>
          <a:p>
            <a:endParaRPr lang="en-US" sz="1600" dirty="0">
              <a:latin typeface="Casper"/>
            </a:endParaRPr>
          </a:p>
          <a:p>
            <a:r>
              <a:rPr lang="en-US" sz="1600" b="1" dirty="0">
                <a:latin typeface="Casper Bold"/>
                <a:ea typeface="Karla" pitchFamily="2" charset="0"/>
                <a:cs typeface="Times New Roman" pitchFamily="18" charset="0"/>
              </a:rPr>
              <a:t>COMBINATIONAL CIRCUITS</a:t>
            </a:r>
            <a:endParaRPr lang="en-US" sz="1600" dirty="0">
              <a:latin typeface="Casper"/>
            </a:endParaRPr>
          </a:p>
        </p:txBody>
      </p:sp>
      <p:pic>
        <p:nvPicPr>
          <p:cNvPr id="2" name="Picture 2" descr="Combinational Circui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622" y="1804365"/>
            <a:ext cx="3891435" cy="2501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205602"/>
              </p:ext>
            </p:extLst>
          </p:nvPr>
        </p:nvGraphicFramePr>
        <p:xfrm>
          <a:off x="333827" y="1423854"/>
          <a:ext cx="6328230" cy="4781005"/>
        </p:xfrm>
        <a:graphic>
          <a:graphicData uri="http://schemas.openxmlformats.org/drawingml/2006/table">
            <a:tbl>
              <a:tblPr firstRow="1" firstCol="1" bandRow="1"/>
              <a:tblGrid>
                <a:gridCol w="526795">
                  <a:extLst>
                    <a:ext uri="{9D8B030D-6E8A-4147-A177-3AD203B41FA5}">
                      <a16:colId xmlns:a16="http://schemas.microsoft.com/office/drawing/2014/main" val="1557515459"/>
                    </a:ext>
                  </a:extLst>
                </a:gridCol>
                <a:gridCol w="4956565">
                  <a:extLst>
                    <a:ext uri="{9D8B030D-6E8A-4147-A177-3AD203B41FA5}">
                      <a16:colId xmlns:a16="http://schemas.microsoft.com/office/drawing/2014/main" val="2118941133"/>
                    </a:ext>
                  </a:extLst>
                </a:gridCol>
                <a:gridCol w="844870">
                  <a:extLst>
                    <a:ext uri="{9D8B030D-6E8A-4147-A177-3AD203B41FA5}">
                      <a16:colId xmlns:a16="http://schemas.microsoft.com/office/drawing/2014/main" val="3074296322"/>
                    </a:ext>
                  </a:extLst>
                </a:gridCol>
              </a:tblGrid>
              <a:tr h="6998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 Number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Title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Level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969912"/>
                  </a:ext>
                </a:extLst>
              </a:tr>
              <a:tr h="76332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identify the different types of electrical elements and the basic op-amp circuit elements and to illustrate the various types of motors, transducers.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203796"/>
                  </a:ext>
                </a:extLst>
              </a:tr>
              <a:tr h="1027907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understand basic principles of transformers, transducers, op-amps, DC and AC motors and to compare the different methods for analysing electrical and magnetic circuits.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639898"/>
                  </a:ext>
                </a:extLst>
              </a:tr>
              <a:tr h="76332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derive the relationships between parameters in electric and magnetic circuits and motors and to determine specifications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7758206"/>
                  </a:ext>
                </a:extLst>
              </a:tr>
              <a:tr h="76332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solve the basic problems related to electric circuits, magnetic circuits and motors and to assess the characteristics of different configurations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803218"/>
                  </a:ext>
                </a:extLst>
              </a:tr>
              <a:tr h="76332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design the different applications of transducers, motors as well as the op-amps like adders, </a:t>
                      </a:r>
                      <a:r>
                        <a:rPr lang="en-IN" sz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subtractor</a:t>
                      </a: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 and comparators.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-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816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23638" y="1546412"/>
            <a:ext cx="10064556" cy="122205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0608" y="425351"/>
            <a:ext cx="10145529" cy="82389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4400" dirty="0">
                <a:latin typeface="Casper"/>
                <a:cs typeface="Times New Roman" pitchFamily="18" charset="0"/>
              </a:rPr>
              <a:t>COMBINATIONAL CIRCUITS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dirty="0">
                <a:latin typeface="Times New Roman" pitchFamily="18" charset="0"/>
                <a:cs typeface="Times New Roman" pitchFamily="18" charset="0"/>
              </a:rPr>
            </a:br>
            <a:endParaRPr lang="en-GB" sz="4400" dirty="0">
              <a:latin typeface="Casper Bold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83771" y="1427363"/>
            <a:ext cx="10842172" cy="1560187"/>
          </a:xfrm>
          <a:prstGeom prst="rect">
            <a:avLst/>
          </a:prstGeom>
        </p:spPr>
        <p:txBody>
          <a:bodyPr wrap="square" lIns="82058" tIns="41029" rIns="82058" bIns="41029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Casper"/>
              </a:rPr>
              <a:t>Combinational circuit </a:t>
            </a:r>
            <a:r>
              <a:rPr lang="en-US" sz="1600" dirty="0" smtClean="0">
                <a:latin typeface="Casper"/>
              </a:rPr>
              <a:t>is defined as </a:t>
            </a:r>
            <a:r>
              <a:rPr lang="en-US" sz="1600" dirty="0">
                <a:latin typeface="Casper"/>
              </a:rPr>
              <a:t>a circuit in which </a:t>
            </a:r>
            <a:r>
              <a:rPr lang="en-US" sz="1600" dirty="0" smtClean="0">
                <a:latin typeface="Casper"/>
              </a:rPr>
              <a:t>different </a:t>
            </a:r>
            <a:r>
              <a:rPr lang="en-US" sz="1600" dirty="0">
                <a:latin typeface="Casper"/>
              </a:rPr>
              <a:t>gates </a:t>
            </a:r>
            <a:r>
              <a:rPr lang="en-US" sz="1600" dirty="0" smtClean="0">
                <a:latin typeface="Casper"/>
              </a:rPr>
              <a:t>are combined to obtain a meaningful output.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sper"/>
              </a:rPr>
              <a:t>The output </a:t>
            </a:r>
            <a:r>
              <a:rPr lang="en-US" sz="1600" dirty="0">
                <a:latin typeface="Casper"/>
              </a:rPr>
              <a:t>of combinational circuit at any </a:t>
            </a:r>
            <a:r>
              <a:rPr lang="en-US" sz="1600" dirty="0" smtClean="0">
                <a:latin typeface="Casper"/>
              </a:rPr>
              <a:t>time instant depends </a:t>
            </a:r>
            <a:r>
              <a:rPr lang="en-US" sz="1600" dirty="0">
                <a:latin typeface="Casper"/>
              </a:rPr>
              <a:t>only on the </a:t>
            </a:r>
            <a:r>
              <a:rPr lang="en-US" sz="1600" dirty="0" smtClean="0">
                <a:latin typeface="Casper"/>
              </a:rPr>
              <a:t>present input level.</a:t>
            </a:r>
            <a:endParaRPr lang="en-US" sz="1600" dirty="0">
              <a:latin typeface="Casper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sper"/>
              </a:rPr>
              <a:t>It does </a:t>
            </a:r>
            <a:r>
              <a:rPr lang="en-US" sz="1600" dirty="0">
                <a:latin typeface="Casper"/>
              </a:rPr>
              <a:t>not </a:t>
            </a:r>
            <a:r>
              <a:rPr lang="en-US" sz="1600" dirty="0" smtClean="0">
                <a:latin typeface="Casper"/>
              </a:rPr>
              <a:t>require a </a:t>
            </a:r>
            <a:r>
              <a:rPr lang="en-US" sz="1600" dirty="0">
                <a:latin typeface="Casper"/>
              </a:rPr>
              <a:t>memory. </a:t>
            </a:r>
            <a:r>
              <a:rPr lang="en-US" sz="1600" dirty="0" smtClean="0">
                <a:latin typeface="Casper"/>
              </a:rPr>
              <a:t>Thus, previous input state does not affect </a:t>
            </a:r>
            <a:r>
              <a:rPr lang="en-US" sz="1600" dirty="0">
                <a:latin typeface="Casper"/>
              </a:rPr>
              <a:t>the present </a:t>
            </a:r>
            <a:r>
              <a:rPr lang="en-US" sz="1600" dirty="0" smtClean="0">
                <a:latin typeface="Casper"/>
              </a:rPr>
              <a:t>output state </a:t>
            </a:r>
            <a:r>
              <a:rPr lang="en-US" sz="1600" dirty="0">
                <a:latin typeface="Casper"/>
              </a:rPr>
              <a:t>of the circuit.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sper"/>
              </a:rPr>
              <a:t>Such circuits </a:t>
            </a:r>
            <a:r>
              <a:rPr lang="en-US" sz="1600" dirty="0">
                <a:latin typeface="Casper"/>
              </a:rPr>
              <a:t>can have </a:t>
            </a:r>
            <a:r>
              <a:rPr lang="en-US" sz="1600" dirty="0" smtClean="0">
                <a:latin typeface="Casper"/>
              </a:rPr>
              <a:t>multiple number </a:t>
            </a:r>
            <a:r>
              <a:rPr lang="en-US" sz="1600" dirty="0">
                <a:latin typeface="Casper"/>
              </a:rPr>
              <a:t>of inputs </a:t>
            </a:r>
            <a:r>
              <a:rPr lang="en-US" sz="1600" dirty="0" smtClean="0">
                <a:latin typeface="Casper"/>
              </a:rPr>
              <a:t>and outputs.</a:t>
            </a:r>
          </a:p>
        </p:txBody>
      </p:sp>
      <p:sp>
        <p:nvSpPr>
          <p:cNvPr id="2" name="AutoShape 2" descr="Block Diagram of Full Adder"/>
          <p:cNvSpPr>
            <a:spLocks noChangeAspect="1" noChangeArrowheads="1"/>
          </p:cNvSpPr>
          <p:nvPr/>
        </p:nvSpPr>
        <p:spPr bwMode="auto">
          <a:xfrm>
            <a:off x="76970" y="-120463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AutoShape 2" descr="Full Substractor Truth Table"/>
          <p:cNvSpPr>
            <a:spLocks noChangeAspect="1" noChangeArrowheads="1"/>
          </p:cNvSpPr>
          <p:nvPr/>
        </p:nvSpPr>
        <p:spPr bwMode="auto">
          <a:xfrm>
            <a:off x="261698" y="14008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Block Diagram of 1:2 Demultiplexer"/>
          <p:cNvSpPr>
            <a:spLocks noChangeAspect="1" noChangeArrowheads="1"/>
          </p:cNvSpPr>
          <p:nvPr/>
        </p:nvSpPr>
        <p:spPr bwMode="auto">
          <a:xfrm>
            <a:off x="446425" y="148479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AutoShape 4" descr="Block Diagram of 1:2 Demultiplexer"/>
          <p:cNvSpPr>
            <a:spLocks noChangeAspect="1" noChangeArrowheads="1"/>
          </p:cNvSpPr>
          <p:nvPr/>
        </p:nvSpPr>
        <p:spPr bwMode="auto">
          <a:xfrm>
            <a:off x="631153" y="282950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AutoShape 6" descr="Block Diagram of 1:2 Demultiplexer"/>
          <p:cNvSpPr>
            <a:spLocks noChangeAspect="1" noChangeArrowheads="1"/>
          </p:cNvSpPr>
          <p:nvPr/>
        </p:nvSpPr>
        <p:spPr bwMode="auto">
          <a:xfrm>
            <a:off x="815879" y="417420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AutoShape 2" descr="https://cdncontribute.geeksforgeeks.org/wp-content/uploads/Digitallogic.png"/>
          <p:cNvSpPr>
            <a:spLocks noChangeAspect="1" noChangeArrowheads="1"/>
          </p:cNvSpPr>
          <p:nvPr/>
        </p:nvSpPr>
        <p:spPr bwMode="auto">
          <a:xfrm>
            <a:off x="188577" y="-127467"/>
            <a:ext cx="369455" cy="26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AutoShape 4" descr="https://cdncontribute.geeksforgeeks.org/wp-content/uploads/Digitallogic.png"/>
          <p:cNvSpPr>
            <a:spLocks noChangeAspect="1" noChangeArrowheads="1"/>
          </p:cNvSpPr>
          <p:nvPr/>
        </p:nvSpPr>
        <p:spPr bwMode="auto">
          <a:xfrm>
            <a:off x="373303" y="7004"/>
            <a:ext cx="369455" cy="26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AutoShape 6" descr="https://cdncontribute.geeksforgeeks.org/wp-content/uploads/Digitallogic.png"/>
          <p:cNvSpPr>
            <a:spLocks noChangeAspect="1" noChangeArrowheads="1"/>
          </p:cNvSpPr>
          <p:nvPr/>
        </p:nvSpPr>
        <p:spPr bwMode="auto">
          <a:xfrm>
            <a:off x="558031" y="141474"/>
            <a:ext cx="369455" cy="26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AutoShape 8" descr="https://cdncontribute.geeksforgeeks.org/wp-content/uploads/Digitallogic1.png"/>
          <p:cNvSpPr>
            <a:spLocks noChangeAspect="1" noChangeArrowheads="1"/>
          </p:cNvSpPr>
          <p:nvPr/>
        </p:nvSpPr>
        <p:spPr bwMode="auto">
          <a:xfrm>
            <a:off x="742758" y="275945"/>
            <a:ext cx="369455" cy="26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3398596" y="5441961"/>
            <a:ext cx="3581401" cy="407057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Casper"/>
              </a:rPr>
              <a:t>Figure </a:t>
            </a:r>
            <a:r>
              <a:rPr lang="en-US" sz="1600" dirty="0" smtClean="0">
                <a:solidFill>
                  <a:schemeClr val="tx1"/>
                </a:solidFill>
                <a:latin typeface="Casper"/>
              </a:rPr>
              <a:t>1 Combinational </a:t>
            </a:r>
            <a:r>
              <a:rPr lang="en-US" sz="1600" dirty="0">
                <a:solidFill>
                  <a:schemeClr val="tx1"/>
                </a:solidFill>
                <a:latin typeface="Casper"/>
              </a:rPr>
              <a:t>circuit </a:t>
            </a: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940" y="3400910"/>
            <a:ext cx="4419600" cy="171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0635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43335" y="1063421"/>
            <a:ext cx="5185954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 Bold"/>
                <a:ea typeface="Karla" pitchFamily="2" charset="0"/>
                <a:cs typeface="Times New Roman" pitchFamily="18" charset="0"/>
              </a:rPr>
              <a:t>SEQUENTIAL CIRCUITS</a:t>
            </a:r>
            <a:endParaRPr lang="en-US" sz="4400" dirty="0">
              <a:latin typeface="Casper Bold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74931" y="2814501"/>
            <a:ext cx="4322762" cy="32578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06462" y="3039524"/>
            <a:ext cx="42597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sper"/>
              </a:rPr>
              <a:t>Sequential </a:t>
            </a:r>
            <a:r>
              <a:rPr lang="en-US" sz="1600" dirty="0">
                <a:latin typeface="Casper"/>
              </a:rPr>
              <a:t>circuit </a:t>
            </a:r>
            <a:r>
              <a:rPr lang="en-US" sz="1600" dirty="0" smtClean="0">
                <a:latin typeface="Casper"/>
              </a:rPr>
              <a:t>is a circuit which consists </a:t>
            </a:r>
            <a:r>
              <a:rPr lang="en-US" sz="1600" dirty="0">
                <a:latin typeface="Casper"/>
              </a:rPr>
              <a:t>of </a:t>
            </a:r>
            <a:r>
              <a:rPr lang="en-US" sz="1600" dirty="0" smtClean="0">
                <a:latin typeface="Casper"/>
              </a:rPr>
              <a:t>Input, Combinational circuit, Memory element and Output.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sper"/>
              </a:rPr>
              <a:t>It has a memory, thus the </a:t>
            </a:r>
            <a:r>
              <a:rPr lang="en-US" sz="1600" dirty="0">
                <a:latin typeface="Casper"/>
              </a:rPr>
              <a:t>output can vary based on </a:t>
            </a:r>
            <a:r>
              <a:rPr lang="en-US" sz="1600" dirty="0" smtClean="0">
                <a:latin typeface="Casper"/>
              </a:rPr>
              <a:t>previous inputs as well.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sper"/>
              </a:rPr>
              <a:t>Hence, sequential circuit </a:t>
            </a:r>
            <a:r>
              <a:rPr lang="en-US" sz="1600" dirty="0">
                <a:latin typeface="Casper"/>
              </a:rPr>
              <a:t>uses previous </a:t>
            </a:r>
            <a:r>
              <a:rPr lang="en-US" sz="1600" dirty="0" smtClean="0">
                <a:latin typeface="Casper"/>
              </a:rPr>
              <a:t>input, clock, a </a:t>
            </a:r>
            <a:r>
              <a:rPr lang="en-US" sz="1600" dirty="0">
                <a:latin typeface="Casper"/>
              </a:rPr>
              <a:t>memory </a:t>
            </a:r>
            <a:r>
              <a:rPr lang="en-US" sz="1600" dirty="0" smtClean="0">
                <a:latin typeface="Casper"/>
              </a:rPr>
              <a:t>element</a:t>
            </a:r>
            <a:r>
              <a:rPr lang="en-US" sz="1600" dirty="0">
                <a:latin typeface="Casper"/>
              </a:rPr>
              <a:t> </a:t>
            </a:r>
            <a:r>
              <a:rPr lang="en-US" sz="1600" dirty="0" smtClean="0">
                <a:latin typeface="Casper"/>
              </a:rPr>
              <a:t>and </a:t>
            </a:r>
            <a:r>
              <a:rPr lang="en-US" sz="1600" dirty="0">
                <a:latin typeface="Casper"/>
              </a:rPr>
              <a:t>output</a:t>
            </a:r>
            <a:endParaRPr lang="en-US" sz="1600" dirty="0" smtClean="0">
              <a:latin typeface="Casp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9358" y="5584146"/>
            <a:ext cx="41801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sper"/>
              </a:rPr>
              <a:t>Figure 2  Sequential circuit </a:t>
            </a:r>
            <a:endParaRPr lang="en-US" sz="1600" dirty="0">
              <a:latin typeface="Casper"/>
            </a:endParaRPr>
          </a:p>
        </p:txBody>
      </p:sp>
      <p:pic>
        <p:nvPicPr>
          <p:cNvPr id="71682" name="Picture 2" descr="Sequential Circuits - Tutorialspoi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015" y="2232659"/>
            <a:ext cx="48768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579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23638" y="1546412"/>
            <a:ext cx="10064556" cy="122205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0608" y="480484"/>
            <a:ext cx="10145529" cy="82389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4400" dirty="0" smtClean="0">
                <a:latin typeface="Casper"/>
                <a:cs typeface="Times New Roman" pitchFamily="18" charset="0"/>
              </a:rPr>
              <a:t>SEQUENTIAL </a:t>
            </a:r>
            <a:r>
              <a:rPr lang="en-US" sz="4400" dirty="0">
                <a:latin typeface="Casper"/>
                <a:cs typeface="Times New Roman" pitchFamily="18" charset="0"/>
              </a:rPr>
              <a:t>CIRCUITS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dirty="0">
                <a:latin typeface="Times New Roman" pitchFamily="18" charset="0"/>
                <a:cs typeface="Times New Roman" pitchFamily="18" charset="0"/>
              </a:rPr>
            </a:br>
            <a:endParaRPr lang="en-GB" sz="4400" dirty="0">
              <a:latin typeface="Casper Bold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58754" y="1821501"/>
            <a:ext cx="3922694" cy="1929519"/>
          </a:xfrm>
          <a:prstGeom prst="rect">
            <a:avLst/>
          </a:prstGeom>
        </p:spPr>
        <p:txBody>
          <a:bodyPr wrap="square" lIns="82058" tIns="41029" rIns="82058" bIns="41029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sper"/>
                <a:cs typeface="Times New Roman" pitchFamily="18" charset="0"/>
              </a:rPr>
              <a:t>Examples are as follows: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Casper"/>
                <a:cs typeface="Times New Roman" pitchFamily="18" charset="0"/>
              </a:rPr>
              <a:t> </a:t>
            </a:r>
            <a:r>
              <a:rPr lang="en-US" sz="1600" dirty="0">
                <a:latin typeface="Casper"/>
                <a:cs typeface="Times New Roman" pitchFamily="18" charset="0"/>
              </a:rPr>
              <a:t>Flip </a:t>
            </a:r>
            <a:r>
              <a:rPr lang="en-US" sz="1600" dirty="0" smtClean="0">
                <a:latin typeface="Casper"/>
                <a:cs typeface="Times New Roman" pitchFamily="18" charset="0"/>
              </a:rPr>
              <a:t>flops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Casper"/>
                <a:cs typeface="Times New Roman" pitchFamily="18" charset="0"/>
              </a:rPr>
              <a:t>Latch</a:t>
            </a:r>
            <a:endParaRPr lang="en-US" sz="1600" dirty="0">
              <a:latin typeface="Casper"/>
              <a:cs typeface="Times New Roman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Casper"/>
                <a:cs typeface="Times New Roman" pitchFamily="18" charset="0"/>
              </a:rPr>
              <a:t>Registers 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Casper"/>
                <a:cs typeface="Times New Roman" pitchFamily="18" charset="0"/>
              </a:rPr>
              <a:t>Counters </a:t>
            </a:r>
            <a:endParaRPr lang="en-GB" sz="1600" dirty="0">
              <a:latin typeface="Casper"/>
              <a:cs typeface="Times New Roman" pitchFamily="18" charset="0"/>
            </a:endParaRPr>
          </a:p>
        </p:txBody>
      </p:sp>
      <p:sp>
        <p:nvSpPr>
          <p:cNvPr id="2" name="AutoShape 2" descr="Block Diagram of Full Adder"/>
          <p:cNvSpPr>
            <a:spLocks noChangeAspect="1" noChangeArrowheads="1"/>
          </p:cNvSpPr>
          <p:nvPr/>
        </p:nvSpPr>
        <p:spPr bwMode="auto">
          <a:xfrm>
            <a:off x="76970" y="-120463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AutoShape 2" descr="Full Substractor Truth Table"/>
          <p:cNvSpPr>
            <a:spLocks noChangeAspect="1" noChangeArrowheads="1"/>
          </p:cNvSpPr>
          <p:nvPr/>
        </p:nvSpPr>
        <p:spPr bwMode="auto">
          <a:xfrm>
            <a:off x="261698" y="14008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Block Diagram of 1:2 Demultiplexer"/>
          <p:cNvSpPr>
            <a:spLocks noChangeAspect="1" noChangeArrowheads="1"/>
          </p:cNvSpPr>
          <p:nvPr/>
        </p:nvSpPr>
        <p:spPr bwMode="auto">
          <a:xfrm>
            <a:off x="446425" y="148479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AutoShape 4" descr="Block Diagram of 1:2 Demultiplexer"/>
          <p:cNvSpPr>
            <a:spLocks noChangeAspect="1" noChangeArrowheads="1"/>
          </p:cNvSpPr>
          <p:nvPr/>
        </p:nvSpPr>
        <p:spPr bwMode="auto">
          <a:xfrm>
            <a:off x="631153" y="282950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AutoShape 6" descr="Block Diagram of 1:2 Demultiplexer"/>
          <p:cNvSpPr>
            <a:spLocks noChangeAspect="1" noChangeArrowheads="1"/>
          </p:cNvSpPr>
          <p:nvPr/>
        </p:nvSpPr>
        <p:spPr bwMode="auto">
          <a:xfrm>
            <a:off x="815879" y="417420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AutoShape 2" descr="https://cdncontribute.geeksforgeeks.org/wp-content/uploads/Digitallogic.png"/>
          <p:cNvSpPr>
            <a:spLocks noChangeAspect="1" noChangeArrowheads="1"/>
          </p:cNvSpPr>
          <p:nvPr/>
        </p:nvSpPr>
        <p:spPr bwMode="auto">
          <a:xfrm>
            <a:off x="188577" y="-127467"/>
            <a:ext cx="369455" cy="26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AutoShape 4" descr="https://cdncontribute.geeksforgeeks.org/wp-content/uploads/Digitallogic.png"/>
          <p:cNvSpPr>
            <a:spLocks noChangeAspect="1" noChangeArrowheads="1"/>
          </p:cNvSpPr>
          <p:nvPr/>
        </p:nvSpPr>
        <p:spPr bwMode="auto">
          <a:xfrm>
            <a:off x="373303" y="7004"/>
            <a:ext cx="369455" cy="26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AutoShape 6" descr="https://cdncontribute.geeksforgeeks.org/wp-content/uploads/Digitallogic.png"/>
          <p:cNvSpPr>
            <a:spLocks noChangeAspect="1" noChangeArrowheads="1"/>
          </p:cNvSpPr>
          <p:nvPr/>
        </p:nvSpPr>
        <p:spPr bwMode="auto">
          <a:xfrm>
            <a:off x="558031" y="141474"/>
            <a:ext cx="369455" cy="26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AutoShape 8" descr="https://cdncontribute.geeksforgeeks.org/wp-content/uploads/Digitallogic1.png"/>
          <p:cNvSpPr>
            <a:spLocks noChangeAspect="1" noChangeArrowheads="1"/>
          </p:cNvSpPr>
          <p:nvPr/>
        </p:nvSpPr>
        <p:spPr bwMode="auto">
          <a:xfrm>
            <a:off x="742758" y="275945"/>
            <a:ext cx="369455" cy="26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6923501" y="5205467"/>
            <a:ext cx="3581401" cy="407057"/>
          </a:xfrm>
        </p:spPr>
        <p:txBody>
          <a:bodyPr/>
          <a:lstStyle/>
          <a:p>
            <a:r>
              <a:rPr lang="en-US" sz="1600" dirty="0" smtClean="0">
                <a:solidFill>
                  <a:schemeClr val="tx1"/>
                </a:solidFill>
                <a:latin typeface="Casper"/>
              </a:rPr>
              <a:t> </a:t>
            </a:r>
            <a:endParaRPr lang="en-US" sz="1600" dirty="0">
              <a:solidFill>
                <a:schemeClr val="tx1"/>
              </a:solidFill>
              <a:latin typeface="Casp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73766" y="5312979"/>
            <a:ext cx="3641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asper"/>
              </a:rPr>
              <a:t>Figure 3: Types of Sequential Circuit </a:t>
            </a:r>
            <a:endParaRPr lang="en-US" sz="1600" dirty="0">
              <a:latin typeface="Casper"/>
            </a:endParaRPr>
          </a:p>
        </p:txBody>
      </p:sp>
      <p:pic>
        <p:nvPicPr>
          <p:cNvPr id="74754" name="Picture 2" descr="Sequential Circuits Basi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1448" y="2350598"/>
            <a:ext cx="5977212" cy="251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8885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23638" y="1546412"/>
            <a:ext cx="10064556" cy="122205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0608" y="417420"/>
            <a:ext cx="10145529" cy="82389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4400" dirty="0">
                <a:latin typeface="Casper"/>
                <a:cs typeface="Times New Roman" pitchFamily="18" charset="0"/>
              </a:rPr>
              <a:t>COMBINATIONAL CIRCUITS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dirty="0">
                <a:latin typeface="Times New Roman" pitchFamily="18" charset="0"/>
                <a:cs typeface="Times New Roman" pitchFamily="18" charset="0"/>
              </a:rPr>
            </a:br>
            <a:endParaRPr lang="en-GB" sz="4400" dirty="0">
              <a:latin typeface="Casper Bold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83771" y="1537722"/>
            <a:ext cx="10842172" cy="3406846"/>
          </a:xfrm>
          <a:prstGeom prst="rect">
            <a:avLst/>
          </a:prstGeom>
        </p:spPr>
        <p:txBody>
          <a:bodyPr wrap="square" lIns="82058" tIns="41029" rIns="82058" bIns="41029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0000"/>
                </a:solidFill>
                <a:latin typeface="Casper"/>
                <a:cs typeface="Times New Roman" pitchFamily="18" charset="0"/>
              </a:rPr>
              <a:t>The following are examples of combinational circuit:             </a:t>
            </a:r>
          </a:p>
          <a:p>
            <a:pPr marL="1657350" lvl="3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Casper"/>
                <a:cs typeface="Times New Roman" pitchFamily="18" charset="0"/>
              </a:rPr>
              <a:t>Half adder</a:t>
            </a:r>
          </a:p>
          <a:p>
            <a:pPr marL="1657350" lvl="3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Casper"/>
                <a:cs typeface="Times New Roman" pitchFamily="18" charset="0"/>
              </a:rPr>
              <a:t>Full adder</a:t>
            </a:r>
          </a:p>
          <a:p>
            <a:pPr marL="1657350" lvl="3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Casper"/>
                <a:cs typeface="Times New Roman" pitchFamily="18" charset="0"/>
              </a:rPr>
              <a:t>Half </a:t>
            </a:r>
            <a:r>
              <a:rPr lang="en-US" sz="1600" dirty="0" err="1">
                <a:solidFill>
                  <a:srgbClr val="000000"/>
                </a:solidFill>
                <a:latin typeface="Casper"/>
                <a:cs typeface="Times New Roman" pitchFamily="18" charset="0"/>
              </a:rPr>
              <a:t>subtractor</a:t>
            </a:r>
            <a:r>
              <a:rPr lang="en-US" sz="1600" dirty="0">
                <a:solidFill>
                  <a:srgbClr val="000000"/>
                </a:solidFill>
                <a:latin typeface="Casper"/>
                <a:cs typeface="Times New Roman" pitchFamily="18" charset="0"/>
              </a:rPr>
              <a:t> </a:t>
            </a:r>
          </a:p>
          <a:p>
            <a:pPr marL="1657350" lvl="3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Casper"/>
                <a:cs typeface="Times New Roman" pitchFamily="18" charset="0"/>
              </a:rPr>
              <a:t>Full </a:t>
            </a:r>
            <a:r>
              <a:rPr lang="en-US" sz="1600" dirty="0" err="1">
                <a:solidFill>
                  <a:srgbClr val="000000"/>
                </a:solidFill>
                <a:latin typeface="Casper"/>
                <a:cs typeface="Times New Roman" pitchFamily="18" charset="0"/>
              </a:rPr>
              <a:t>subtractor</a:t>
            </a:r>
            <a:endParaRPr lang="en-US" sz="1600" dirty="0">
              <a:solidFill>
                <a:srgbClr val="000000"/>
              </a:solidFill>
              <a:latin typeface="Casper"/>
              <a:cs typeface="Times New Roman" pitchFamily="18" charset="0"/>
            </a:endParaRPr>
          </a:p>
          <a:p>
            <a:pPr marL="1657350" lvl="3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Casper"/>
                <a:cs typeface="Times New Roman" pitchFamily="18" charset="0"/>
              </a:rPr>
              <a:t>Encoder</a:t>
            </a:r>
          </a:p>
          <a:p>
            <a:pPr marL="1657350" lvl="3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Casper"/>
                <a:cs typeface="Times New Roman" pitchFamily="18" charset="0"/>
              </a:rPr>
              <a:t>Decoder </a:t>
            </a:r>
          </a:p>
          <a:p>
            <a:pPr marL="1657350" lvl="3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Casper"/>
                <a:cs typeface="Times New Roman" pitchFamily="18" charset="0"/>
              </a:rPr>
              <a:t>Multiplexer </a:t>
            </a:r>
          </a:p>
          <a:p>
            <a:pPr marL="1657350" lvl="3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solidFill>
                  <a:srgbClr val="000000"/>
                </a:solidFill>
                <a:latin typeface="Casper"/>
                <a:cs typeface="Times New Roman" pitchFamily="18" charset="0"/>
              </a:rPr>
              <a:t>De-multiplexer </a:t>
            </a:r>
            <a:r>
              <a:rPr lang="en-US" sz="1600" dirty="0">
                <a:solidFill>
                  <a:srgbClr val="000000"/>
                </a:solidFill>
                <a:latin typeface="Casper"/>
                <a:cs typeface="Times New Roman" pitchFamily="18" charset="0"/>
              </a:rPr>
              <a:t>etc. </a:t>
            </a:r>
          </a:p>
        </p:txBody>
      </p:sp>
      <p:sp>
        <p:nvSpPr>
          <p:cNvPr id="2" name="AutoShape 2" descr="Block Diagram of Full Adder"/>
          <p:cNvSpPr>
            <a:spLocks noChangeAspect="1" noChangeArrowheads="1"/>
          </p:cNvSpPr>
          <p:nvPr/>
        </p:nvSpPr>
        <p:spPr bwMode="auto">
          <a:xfrm>
            <a:off x="76970" y="-120463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AutoShape 2" descr="Full Substractor Truth Table"/>
          <p:cNvSpPr>
            <a:spLocks noChangeAspect="1" noChangeArrowheads="1"/>
          </p:cNvSpPr>
          <p:nvPr/>
        </p:nvSpPr>
        <p:spPr bwMode="auto">
          <a:xfrm>
            <a:off x="261698" y="14008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Block Diagram of 1:2 Demultiplexer"/>
          <p:cNvSpPr>
            <a:spLocks noChangeAspect="1" noChangeArrowheads="1"/>
          </p:cNvSpPr>
          <p:nvPr/>
        </p:nvSpPr>
        <p:spPr bwMode="auto">
          <a:xfrm>
            <a:off x="446425" y="148479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AutoShape 4" descr="Block Diagram of 1:2 Demultiplexer"/>
          <p:cNvSpPr>
            <a:spLocks noChangeAspect="1" noChangeArrowheads="1"/>
          </p:cNvSpPr>
          <p:nvPr/>
        </p:nvSpPr>
        <p:spPr bwMode="auto">
          <a:xfrm>
            <a:off x="631153" y="282950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AutoShape 6" descr="Block Diagram of 1:2 Demultiplexer"/>
          <p:cNvSpPr>
            <a:spLocks noChangeAspect="1" noChangeArrowheads="1"/>
          </p:cNvSpPr>
          <p:nvPr/>
        </p:nvSpPr>
        <p:spPr bwMode="auto">
          <a:xfrm>
            <a:off x="815879" y="417420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AutoShape 2" descr="https://cdncontribute.geeksforgeeks.org/wp-content/uploads/Digitallogic.png"/>
          <p:cNvSpPr>
            <a:spLocks noChangeAspect="1" noChangeArrowheads="1"/>
          </p:cNvSpPr>
          <p:nvPr/>
        </p:nvSpPr>
        <p:spPr bwMode="auto">
          <a:xfrm>
            <a:off x="188577" y="-127467"/>
            <a:ext cx="369455" cy="26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AutoShape 4" descr="https://cdncontribute.geeksforgeeks.org/wp-content/uploads/Digitallogic.png"/>
          <p:cNvSpPr>
            <a:spLocks noChangeAspect="1" noChangeArrowheads="1"/>
          </p:cNvSpPr>
          <p:nvPr/>
        </p:nvSpPr>
        <p:spPr bwMode="auto">
          <a:xfrm>
            <a:off x="373303" y="7004"/>
            <a:ext cx="369455" cy="26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AutoShape 6" descr="https://cdncontribute.geeksforgeeks.org/wp-content/uploads/Digitallogic.png"/>
          <p:cNvSpPr>
            <a:spLocks noChangeAspect="1" noChangeArrowheads="1"/>
          </p:cNvSpPr>
          <p:nvPr/>
        </p:nvSpPr>
        <p:spPr bwMode="auto">
          <a:xfrm>
            <a:off x="558031" y="141474"/>
            <a:ext cx="369455" cy="26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AutoShape 8" descr="https://cdncontribute.geeksforgeeks.org/wp-content/uploads/Digitallogic1.png"/>
          <p:cNvSpPr>
            <a:spLocks noChangeAspect="1" noChangeArrowheads="1"/>
          </p:cNvSpPr>
          <p:nvPr/>
        </p:nvSpPr>
        <p:spPr bwMode="auto">
          <a:xfrm>
            <a:off x="742758" y="275945"/>
            <a:ext cx="369455" cy="26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6923501" y="5205467"/>
            <a:ext cx="3581401" cy="407057"/>
          </a:xfrm>
        </p:spPr>
        <p:txBody>
          <a:bodyPr/>
          <a:lstStyle/>
          <a:p>
            <a:r>
              <a:rPr lang="en-US" sz="1600" dirty="0" smtClean="0">
                <a:solidFill>
                  <a:schemeClr val="tx1"/>
                </a:solidFill>
                <a:latin typeface="Casper"/>
              </a:rPr>
              <a:t> </a:t>
            </a:r>
            <a:endParaRPr lang="en-US" sz="1600" dirty="0">
              <a:solidFill>
                <a:schemeClr val="tx1"/>
              </a:solidFill>
              <a:latin typeface="Casper"/>
            </a:endParaRPr>
          </a:p>
        </p:txBody>
      </p:sp>
      <p:pic>
        <p:nvPicPr>
          <p:cNvPr id="70658" name="Picture 2" descr="Combinational Logic Circuits using Logic G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422" y="1752437"/>
            <a:ext cx="4306067" cy="3330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6950662" y="5341148"/>
            <a:ext cx="395012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Figure </a:t>
            </a:r>
            <a:r>
              <a:rPr lang="en-US" sz="1600" dirty="0" smtClean="0">
                <a:latin typeface="Casper"/>
              </a:rPr>
              <a:t>4 Types of Combinational Circuits </a:t>
            </a:r>
            <a:endParaRPr lang="en-US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344261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Casper Bold"/>
              </a:rPr>
              <a:t>TYPES OF ADDERS</a:t>
            </a:r>
            <a:endParaRPr lang="en-US" dirty="0">
              <a:latin typeface="Casper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464374616"/>
              </p:ext>
            </p:extLst>
          </p:nvPr>
        </p:nvGraphicFramePr>
        <p:xfrm>
          <a:off x="2757214" y="1702676"/>
          <a:ext cx="7506138" cy="44514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/>
          <p:cNvSpPr/>
          <p:nvPr/>
        </p:nvSpPr>
        <p:spPr>
          <a:xfrm>
            <a:off x="5169158" y="6176721"/>
            <a:ext cx="254268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Figure </a:t>
            </a:r>
            <a:r>
              <a:rPr lang="en-US" sz="1600" dirty="0" smtClean="0">
                <a:latin typeface="Casper"/>
              </a:rPr>
              <a:t>5 Types of  Adders </a:t>
            </a:r>
            <a:endParaRPr lang="en-US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3845511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012" y="329090"/>
            <a:ext cx="10515600" cy="810532"/>
          </a:xfrm>
        </p:spPr>
        <p:txBody>
          <a:bodyPr/>
          <a:lstStyle/>
          <a:p>
            <a:pPr algn="ctr"/>
            <a:r>
              <a:rPr lang="en-US" dirty="0">
                <a:latin typeface="Casper Bold"/>
                <a:cs typeface="Times New Roman" pitchFamily="18" charset="0"/>
              </a:rPr>
              <a:t>HALF 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148" y="1500405"/>
            <a:ext cx="10515600" cy="7383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600" dirty="0">
                <a:latin typeface="Casper"/>
                <a:cs typeface="Times New Roman" pitchFamily="18" charset="0"/>
              </a:rPr>
              <a:t>Half adder is a combinational logic circuit which add two input binary bits and will result sum and carry as output variables.</a:t>
            </a:r>
            <a:endParaRPr lang="en-GB" sz="1600" dirty="0">
              <a:latin typeface="Casper"/>
              <a:cs typeface="Times New Roman" pitchFamily="18" charset="0"/>
            </a:endParaRPr>
          </a:p>
          <a:p>
            <a:pPr marL="0" indent="0">
              <a:buNone/>
            </a:pPr>
            <a:endParaRPr lang="en-US" sz="1600" dirty="0">
              <a:latin typeface="Casper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178515" y="5106704"/>
            <a:ext cx="41670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sper"/>
              </a:rPr>
              <a:t>Figure </a:t>
            </a:r>
            <a:r>
              <a:rPr lang="en-US" sz="1600" dirty="0" smtClean="0">
                <a:latin typeface="Casper"/>
              </a:rPr>
              <a:t>6 </a:t>
            </a:r>
            <a:r>
              <a:rPr lang="en-US" sz="1600" dirty="0">
                <a:latin typeface="Casper"/>
              </a:rPr>
              <a:t>Block diagram of </a:t>
            </a:r>
            <a:r>
              <a:rPr lang="en-US" sz="1600" dirty="0" smtClean="0">
                <a:latin typeface="Casper"/>
              </a:rPr>
              <a:t>Half Adder </a:t>
            </a:r>
            <a:endParaRPr lang="en-US" sz="1600" dirty="0">
              <a:latin typeface="Casper"/>
            </a:endParaRPr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63688" y="2535514"/>
            <a:ext cx="5813607" cy="2201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232" y="376387"/>
            <a:ext cx="10515600" cy="810532"/>
          </a:xfrm>
        </p:spPr>
        <p:txBody>
          <a:bodyPr/>
          <a:lstStyle/>
          <a:p>
            <a:pPr algn="ctr"/>
            <a:r>
              <a:rPr lang="en-US" dirty="0">
                <a:latin typeface="Casper Bold"/>
                <a:cs typeface="Times New Roman" pitchFamily="18" charset="0"/>
              </a:rPr>
              <a:t>HALF 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383" y="1263922"/>
            <a:ext cx="10515600" cy="738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smtClean="0">
                <a:latin typeface="Casper"/>
                <a:cs typeface="Times New Roman" pitchFamily="18" charset="0"/>
              </a:rPr>
              <a:t> </a:t>
            </a:r>
            <a:endParaRPr lang="en-US" sz="1600" dirty="0">
              <a:latin typeface="Casper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752192" y="5321079"/>
            <a:ext cx="49346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TW" sz="2400" dirty="0" smtClean="0">
                <a:latin typeface="Casper"/>
              </a:rPr>
              <a:t>Boolean Expression</a:t>
            </a:r>
          </a:p>
          <a:p>
            <a:pPr>
              <a:buFont typeface="Wingdings" pitchFamily="2" charset="2"/>
              <a:buNone/>
            </a:pPr>
            <a:r>
              <a:rPr lang="en-US" altLang="zh-TW" sz="2400" dirty="0" smtClean="0">
                <a:latin typeface="Casper"/>
              </a:rPr>
              <a:t>S </a:t>
            </a:r>
            <a:r>
              <a:rPr lang="en-US" altLang="zh-TW" sz="2400" dirty="0">
                <a:latin typeface="Casper"/>
              </a:rPr>
              <a:t>= </a:t>
            </a:r>
            <a:r>
              <a:rPr lang="en-US" altLang="zh-TW" sz="2400" dirty="0" smtClean="0">
                <a:latin typeface="Casper"/>
              </a:rPr>
              <a:t>A’B </a:t>
            </a:r>
            <a:r>
              <a:rPr lang="en-US" altLang="zh-TW" sz="2400" dirty="0">
                <a:latin typeface="Casper"/>
              </a:rPr>
              <a:t>+ </a:t>
            </a:r>
            <a:r>
              <a:rPr lang="en-US" altLang="zh-TW" sz="2400" dirty="0" smtClean="0">
                <a:latin typeface="Casper"/>
              </a:rPr>
              <a:t>AB’</a:t>
            </a:r>
          </a:p>
          <a:p>
            <a:pPr>
              <a:buFont typeface="Wingdings" pitchFamily="2" charset="2"/>
              <a:buNone/>
            </a:pPr>
            <a:r>
              <a:rPr lang="en-US" altLang="zh-TW" sz="2400" dirty="0" smtClean="0">
                <a:latin typeface="Casper"/>
              </a:rPr>
              <a:t>S= A</a:t>
            </a:r>
            <a:r>
              <a:rPr lang="en-US" sz="2400" dirty="0" smtClean="0">
                <a:latin typeface="Casper"/>
              </a:rPr>
              <a:t>⊕B         </a:t>
            </a:r>
            <a:r>
              <a:rPr lang="en-US" altLang="zh-TW" sz="2400" dirty="0" smtClean="0">
                <a:latin typeface="Casper"/>
              </a:rPr>
              <a:t>C=A.B</a:t>
            </a:r>
            <a:endParaRPr lang="en-US" altLang="zh-TW" sz="2400" dirty="0">
              <a:latin typeface="Casper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257987" y="1498671"/>
            <a:ext cx="167809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Casper"/>
              </a:rPr>
              <a:t>TRUTH TABLE</a:t>
            </a:r>
            <a:endParaRPr lang="en-US" sz="1600" dirty="0">
              <a:latin typeface="Casper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686234"/>
              </p:ext>
            </p:extLst>
          </p:nvPr>
        </p:nvGraphicFramePr>
        <p:xfrm>
          <a:off x="3884602" y="2021459"/>
          <a:ext cx="3912292" cy="2551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80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31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sper"/>
                        </a:rPr>
                        <a:t>A</a:t>
                      </a:r>
                      <a:endParaRPr lang="en-US" sz="1600" b="1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sper"/>
                        </a:rPr>
                        <a:t>B</a:t>
                      </a:r>
                      <a:endParaRPr lang="en-US" sz="1600" b="1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sper"/>
                        </a:rPr>
                        <a:t>S</a:t>
                      </a:r>
                      <a:endParaRPr lang="en-US" sz="1600" b="1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sper"/>
                        </a:rPr>
                        <a:t>C</a:t>
                      </a:r>
                      <a:endParaRPr lang="en-US" sz="1600" b="1" dirty="0">
                        <a:latin typeface="Casp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31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31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1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1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31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1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1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31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1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1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1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815908" y="4822925"/>
            <a:ext cx="41670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sper"/>
              </a:rPr>
              <a:t>Figure </a:t>
            </a:r>
            <a:r>
              <a:rPr lang="en-US" sz="1600" dirty="0" smtClean="0">
                <a:latin typeface="Casper"/>
              </a:rPr>
              <a:t>7 </a:t>
            </a:r>
            <a:r>
              <a:rPr lang="en-US" sz="1600" dirty="0">
                <a:latin typeface="Casper"/>
              </a:rPr>
              <a:t>Block diagram of </a:t>
            </a:r>
            <a:r>
              <a:rPr lang="en-US" sz="1600" dirty="0" smtClean="0">
                <a:latin typeface="Casper"/>
              </a:rPr>
              <a:t>Half Adder </a:t>
            </a:r>
            <a:endParaRPr lang="en-US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2589941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485" y="407917"/>
            <a:ext cx="10515600" cy="810532"/>
          </a:xfrm>
        </p:spPr>
        <p:txBody>
          <a:bodyPr/>
          <a:lstStyle/>
          <a:p>
            <a:pPr algn="ctr"/>
            <a:r>
              <a:rPr lang="en-US" dirty="0">
                <a:latin typeface="Casper Bold"/>
                <a:cs typeface="Times New Roman" pitchFamily="18" charset="0"/>
              </a:rPr>
              <a:t>HALF 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383" y="1263922"/>
            <a:ext cx="10515600" cy="738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smtClean="0">
                <a:latin typeface="Casper"/>
                <a:cs typeface="Times New Roman" pitchFamily="18" charset="0"/>
              </a:rPr>
              <a:t> </a:t>
            </a:r>
            <a:endParaRPr lang="en-US" sz="1600" dirty="0">
              <a:latin typeface="Casper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347026" y="5241941"/>
            <a:ext cx="41670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sper"/>
              </a:rPr>
              <a:t>Figure </a:t>
            </a:r>
            <a:r>
              <a:rPr lang="en-US" sz="1600" dirty="0" smtClean="0">
                <a:latin typeface="Casper"/>
              </a:rPr>
              <a:t>8  Logic </a:t>
            </a:r>
            <a:r>
              <a:rPr lang="en-US" sz="1600" dirty="0">
                <a:latin typeface="Casper"/>
              </a:rPr>
              <a:t>diagram of </a:t>
            </a:r>
            <a:r>
              <a:rPr lang="en-US" sz="1600" dirty="0" smtClean="0">
                <a:latin typeface="Casper"/>
              </a:rPr>
              <a:t>Half Adder</a:t>
            </a:r>
            <a:endParaRPr lang="en-US" sz="1600" dirty="0">
              <a:latin typeface="Casper"/>
            </a:endParaRPr>
          </a:p>
        </p:txBody>
      </p:sp>
      <p:pic>
        <p:nvPicPr>
          <p:cNvPr id="10" name="Picture 6" descr="Half Adder Circuit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566" y="1990509"/>
            <a:ext cx="4383438" cy="3082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426150" y="1374430"/>
            <a:ext cx="51165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sper"/>
              </a:rPr>
              <a:t>Realization of the Boolean Expression</a:t>
            </a:r>
            <a:endParaRPr lang="en-US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3156904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2422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  <a:t>Assessment </a:t>
            </a:r>
            <a:r>
              <a:rPr lang="en-US" dirty="0" smtClean="0">
                <a:latin typeface="Casper Bold" panose="02000806040000020004" pitchFamily="2" charset="0"/>
                <a:cs typeface="Arial" panose="020B0604020202020204" pitchFamily="34" charset="0"/>
              </a:rPr>
              <a:t>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600" dirty="0">
                <a:latin typeface="Casper"/>
              </a:rPr>
              <a:t>Differentiate between combinational and sequential circuits with example </a:t>
            </a:r>
            <a:endParaRPr lang="en-US" sz="1600" dirty="0" smtClean="0">
              <a:latin typeface="Casper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600" dirty="0" smtClean="0">
                <a:latin typeface="Casper"/>
              </a:rPr>
              <a:t>Derive the Boolean expression for Half adder</a:t>
            </a:r>
            <a:endParaRPr lang="en-US" sz="1600" dirty="0">
              <a:latin typeface="Casper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600" dirty="0" smtClean="0">
                <a:latin typeface="Casper"/>
              </a:rPr>
              <a:t>Realize half </a:t>
            </a:r>
            <a:r>
              <a:rPr lang="en-US" sz="1600" dirty="0">
                <a:latin typeface="Casper"/>
              </a:rPr>
              <a:t>adder using </a:t>
            </a:r>
            <a:r>
              <a:rPr lang="en-US" sz="1600" dirty="0" smtClean="0">
                <a:latin typeface="Casper"/>
              </a:rPr>
              <a:t>BASIC gates</a:t>
            </a:r>
            <a:endParaRPr lang="en-US" sz="1600" dirty="0">
              <a:latin typeface="Casper"/>
            </a:endParaRPr>
          </a:p>
          <a:p>
            <a:pPr>
              <a:lnSpc>
                <a:spcPct val="200000"/>
              </a:lnSpc>
              <a:buNone/>
            </a:pPr>
            <a:endParaRPr lang="en-US" sz="1600" dirty="0">
              <a:latin typeface="Casper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075" y="385136"/>
            <a:ext cx="10515600" cy="1279527"/>
          </a:xfrm>
        </p:spPr>
        <p:txBody>
          <a:bodyPr/>
          <a:lstStyle/>
          <a:p>
            <a:pPr algn="ctr"/>
            <a:r>
              <a:rPr lang="en-US" dirty="0" smtClean="0">
                <a:latin typeface="Casper Bold" panose="02000806040000020004" pitchFamily="2" charset="0"/>
                <a:cs typeface="Arial" panose="020B0604020202020204" pitchFamily="34" charset="0"/>
              </a:rPr>
              <a:t>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3965" y="1999046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 smtClean="0">
                <a:latin typeface="Casper"/>
                <a:cs typeface="Times New Roman" pitchFamily="18" charset="0"/>
              </a:rPr>
              <a:t>Calculators.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sper"/>
              </a:rPr>
              <a:t>To perform additions on binary </a:t>
            </a:r>
            <a:r>
              <a:rPr lang="en-US" sz="1600" dirty="0" smtClean="0">
                <a:latin typeface="Casper"/>
              </a:rPr>
              <a:t>bits, </a:t>
            </a:r>
            <a:r>
              <a:rPr lang="en-US" sz="1600" dirty="0">
                <a:latin typeface="Casper"/>
              </a:rPr>
              <a:t>the Arithmetic and Logic Unit present in the computer prefers this adder </a:t>
            </a:r>
            <a:r>
              <a:rPr lang="en-US" sz="1600" dirty="0" smtClean="0">
                <a:latin typeface="Casper"/>
              </a:rPr>
              <a:t> circuit.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Casper"/>
                <a:cs typeface="Times New Roman" pitchFamily="18" charset="0"/>
              </a:rPr>
              <a:t>In design of Full Adder.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Casper"/>
              </a:rPr>
              <a:t>To </a:t>
            </a:r>
            <a:r>
              <a:rPr lang="en-US" sz="1600" dirty="0">
                <a:latin typeface="Casper"/>
              </a:rPr>
              <a:t>calculate the addresses and tables these circuits are preferred</a:t>
            </a:r>
            <a:r>
              <a:rPr lang="en-US" sz="1600" dirty="0" smtClean="0">
                <a:latin typeface="Casper"/>
              </a:rPr>
              <a:t>.</a:t>
            </a:r>
          </a:p>
          <a:p>
            <a:pPr marL="0" indent="0">
              <a:buNone/>
            </a:pPr>
            <a:endParaRPr lang="en-US" sz="1600" dirty="0">
              <a:latin typeface="Casper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012" y="164418"/>
            <a:ext cx="10515600" cy="1279527"/>
          </a:xfrm>
        </p:spPr>
        <p:txBody>
          <a:bodyPr/>
          <a:lstStyle/>
          <a:p>
            <a:pPr algn="ctr"/>
            <a:r>
              <a:rPr lang="en-US" dirty="0" smtClean="0">
                <a:latin typeface="Casper Bold" panose="02000806040000020004" pitchFamily="2" charset="0"/>
                <a:cs typeface="Arial" panose="020B0604020202020204" pitchFamily="34" charset="0"/>
              </a:rPr>
              <a:t>REFERENCES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9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25137" y="1290048"/>
            <a:ext cx="10515600" cy="4767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048" tIns="41025" rIns="82048" bIns="41025">
            <a:spAutoFit/>
          </a:bodyPr>
          <a:lstStyle/>
          <a:p>
            <a:pPr marL="342900" indent="-342900" defTabSz="820487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hlinkClick r:id=""/>
              </a:rPr>
              <a:t>https://</a:t>
            </a:r>
            <a:r>
              <a:rPr lang="en-US" sz="1600" dirty="0" smtClean="0">
                <a:hlinkClick r:id="rId2"/>
              </a:rPr>
              <a:t>ethz.ch/content/dam/ethz/special-interest/infk/inst-infsec/system-security-group-dam/education/Digitaltechnik_17/0a_CombinationalCircuits.pdf</a:t>
            </a:r>
            <a:endParaRPr lang="en-US" sz="1600" dirty="0" smtClean="0"/>
          </a:p>
          <a:p>
            <a:pPr marL="342900" indent="-342900" defTabSz="820487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hlinkClick r:id="rId3"/>
              </a:rPr>
              <a:t>https://www.tutorialspoint.com/computer_logical_organization/sequential_circuits.htm</a:t>
            </a:r>
            <a:endParaRPr lang="en-US" sz="1600" dirty="0" smtClean="0"/>
          </a:p>
          <a:p>
            <a:pPr marL="342900" indent="-342900" defTabSz="820487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sper"/>
                <a:hlinkClick r:id="rId4"/>
              </a:rPr>
              <a:t>https://www.google.com/search?q=combinational+circuits+in+digital+electronics&amp;source=lnms&amp;tbm=isch&amp;sa=X&amp;ved=0ahUKEwj526-wnv3iAhWSXCsKHf77AtQQ_AUIESgC&amp;biw=1366&amp;bih=657#imgrc=v4c5n7-dy4fzAM </a:t>
            </a:r>
            <a:endParaRPr lang="en-US" sz="1600" dirty="0" smtClean="0">
              <a:latin typeface="Casper"/>
            </a:endParaRP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  <a:hlinkClick r:id="rId5"/>
              </a:rPr>
              <a:t>https://www.tutorialspoint.com/computer_logical_organization/combinational_circuits.htm</a:t>
            </a:r>
            <a:endParaRPr lang="en-US" sz="1600" dirty="0">
              <a:latin typeface="Casper"/>
            </a:endParaRPr>
          </a:p>
          <a:p>
            <a:pPr marL="342900" indent="-342900" defTabSz="820487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  <a:hlinkClick r:id="rId6"/>
              </a:rPr>
              <a:t>https://</a:t>
            </a:r>
            <a:r>
              <a:rPr lang="en-US" sz="1600" dirty="0" smtClean="0">
                <a:latin typeface="Casper"/>
                <a:ea typeface="Calibri" pitchFamily="34" charset="0"/>
                <a:cs typeface="Times New Roman" pitchFamily="18" charset="0"/>
                <a:hlinkClick r:id="rId6"/>
              </a:rPr>
              <a:t>www.google.com/url?sa=i&amp;url=https%3A%2F%2Fwww.electronicshub.org%2Fsequential-circuits-basics%2F&amp;psig=AOvVaw2X9fQUT0TGHCoXGGqT1yoD&amp;ust=1595874213198000&amp;source=images&amp;cd=vfe&amp;ved=0CAIQjRxqFwoTCNi0l_nE6-oCFQAAAAAdAAAAABAQ</a:t>
            </a:r>
            <a:endParaRPr lang="en-US" sz="1600" dirty="0">
              <a:latin typeface="Casper"/>
              <a:ea typeface="Calibri" pitchFamily="34" charset="0"/>
              <a:cs typeface="Times New Roman" pitchFamily="18" charset="0"/>
            </a:endParaRPr>
          </a:p>
          <a:p>
            <a:pPr marL="342900" indent="-342900" defTabSz="820487">
              <a:lnSpc>
                <a:spcPct val="150000"/>
              </a:lnSpc>
              <a:buFont typeface="+mj-lt"/>
              <a:buAutoNum type="arabicPeriod"/>
            </a:pPr>
            <a:r>
              <a:rPr lang="en-US" sz="1600" dirty="0" err="1" smtClean="0">
                <a:latin typeface="Casper"/>
                <a:ea typeface="Calibri" pitchFamily="34" charset="0"/>
                <a:cs typeface="Times New Roman" pitchFamily="18" charset="0"/>
              </a:rPr>
              <a:t>Mano,Morris</a:t>
            </a:r>
            <a:r>
              <a:rPr lang="en-US" sz="1600" dirty="0" smtClean="0">
                <a:latin typeface="Casper"/>
                <a:ea typeface="Calibri" pitchFamily="34" charset="0"/>
                <a:cs typeface="Times New Roman" pitchFamily="18" charset="0"/>
              </a:rPr>
              <a:t>, Digital Design, Prentice Hall of India.</a:t>
            </a:r>
            <a:endParaRPr lang="en-US" sz="1600" dirty="0" smtClean="0">
              <a:latin typeface="Casper"/>
              <a:cs typeface="Times New Roman" pitchFamily="18" charset="0"/>
            </a:endParaRPr>
          </a:p>
          <a:p>
            <a:pPr marL="342900" indent="-342900" defTabSz="820487">
              <a:lnSpc>
                <a:spcPct val="150000"/>
              </a:lnSpc>
              <a:buFont typeface="+mj-lt"/>
              <a:buAutoNum type="arabicPeriod"/>
            </a:pPr>
            <a:r>
              <a:rPr lang="en-US" sz="1600" dirty="0" smtClean="0">
                <a:latin typeface="Casper"/>
                <a:ea typeface="Calibri" pitchFamily="34" charset="0"/>
                <a:cs typeface="Times New Roman" pitchFamily="18" charset="0"/>
              </a:rPr>
              <a:t>Fletcher,  An </a:t>
            </a:r>
            <a:r>
              <a:rPr lang="en-US" sz="1600" dirty="0" err="1" smtClean="0">
                <a:latin typeface="Casper"/>
                <a:ea typeface="Calibri" pitchFamily="34" charset="0"/>
                <a:cs typeface="Times New Roman" pitchFamily="18" charset="0"/>
              </a:rPr>
              <a:t>Engg</a:t>
            </a:r>
            <a:r>
              <a:rPr lang="en-US" sz="1600" dirty="0" smtClean="0">
                <a:latin typeface="Casper"/>
                <a:ea typeface="Calibri" pitchFamily="34" charset="0"/>
                <a:cs typeface="Times New Roman" pitchFamily="18" charset="0"/>
              </a:rPr>
              <a:t>. Approach to digital design, Prentice Hall of India.</a:t>
            </a:r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3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1675</TotalTime>
  <Words>564</Words>
  <Application>Microsoft Office PowerPoint</Application>
  <PresentationFormat>Widescreen</PresentationFormat>
  <Paragraphs>146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32" baseType="lpstr">
      <vt:lpstr>Arial</vt:lpstr>
      <vt:lpstr>Arial Black</vt:lpstr>
      <vt:lpstr>Arial Unicode MS</vt:lpstr>
      <vt:lpstr>Calibri</vt:lpstr>
      <vt:lpstr>Calibri Light</vt:lpstr>
      <vt:lpstr>Casper</vt:lpstr>
      <vt:lpstr>Casper Bold</vt:lpstr>
      <vt:lpstr>Karla</vt:lpstr>
      <vt:lpstr>King</vt:lpstr>
      <vt:lpstr>新細明體</vt:lpstr>
      <vt:lpstr>Raavi</vt:lpstr>
      <vt:lpstr>Raleway ExtraBold</vt:lpstr>
      <vt:lpstr>Segoe UI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Course Outcome  </vt:lpstr>
      <vt:lpstr>  </vt:lpstr>
      <vt:lpstr>SEQUENTIAL CIRCUITS</vt:lpstr>
      <vt:lpstr>  </vt:lpstr>
      <vt:lpstr>  </vt:lpstr>
      <vt:lpstr>TYPES OF ADDERS</vt:lpstr>
      <vt:lpstr>HALF  ADDER</vt:lpstr>
      <vt:lpstr>HALF  ADDER</vt:lpstr>
      <vt:lpstr>HALF  ADDER</vt:lpstr>
      <vt:lpstr>Assessment Pattern</vt:lpstr>
      <vt:lpstr>APPLICATIONS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INDIAN</cp:lastModifiedBy>
  <cp:revision>154</cp:revision>
  <dcterms:created xsi:type="dcterms:W3CDTF">2019-01-09T10:33:58Z</dcterms:created>
  <dcterms:modified xsi:type="dcterms:W3CDTF">2023-06-19T04:25:36Z</dcterms:modified>
</cp:coreProperties>
</file>