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2"/>
  </p:notesMasterIdLst>
  <p:handoutMasterIdLst>
    <p:handoutMasterId r:id="rId33"/>
  </p:handoutMasterIdLst>
  <p:sldIdLst>
    <p:sldId id="385" r:id="rId3"/>
    <p:sldId id="407" r:id="rId4"/>
    <p:sldId id="408" r:id="rId5"/>
    <p:sldId id="409" r:id="rId6"/>
    <p:sldId id="410" r:id="rId7"/>
    <p:sldId id="326" r:id="rId8"/>
    <p:sldId id="387" r:id="rId9"/>
    <p:sldId id="388" r:id="rId10"/>
    <p:sldId id="394" r:id="rId11"/>
    <p:sldId id="389" r:id="rId12"/>
    <p:sldId id="395" r:id="rId13"/>
    <p:sldId id="396" r:id="rId14"/>
    <p:sldId id="390" r:id="rId15"/>
    <p:sldId id="397" r:id="rId16"/>
    <p:sldId id="391" r:id="rId17"/>
    <p:sldId id="398" r:id="rId18"/>
    <p:sldId id="392" r:id="rId19"/>
    <p:sldId id="399" r:id="rId20"/>
    <p:sldId id="400" r:id="rId21"/>
    <p:sldId id="393" r:id="rId22"/>
    <p:sldId id="401" r:id="rId23"/>
    <p:sldId id="402" r:id="rId24"/>
    <p:sldId id="375" r:id="rId25"/>
    <p:sldId id="377" r:id="rId26"/>
    <p:sldId id="386" r:id="rId27"/>
    <p:sldId id="384" r:id="rId28"/>
    <p:sldId id="406" r:id="rId29"/>
    <p:sldId id="368" r:id="rId30"/>
    <p:sldId id="40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6/22/2023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n.pinterest.com/pin/240661173823316229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itchingworlds.net/experimentation/measuring-textile-capacitors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4u.com/electrical-dc-series-and-parallel-circuit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current-division-and-voltage-division-rule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current-division-and-voltage-division-rule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mit.edu/courses/electrical-engineering-and-computer-science/6-071j-introduction-to-electronics-signals-and-measurement-spring-2006/lecture-notes/capactr_inductr.pdf" TargetMode="External"/><Relationship Id="rId2" Type="http://schemas.openxmlformats.org/officeDocument/2006/relationships/hyperlink" Target="https://www.electronics-tutorials.ws/dccircuits/dcp_4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ircuitglobe.com/current-division-and-voltage-division-rule.html" TargetMode="External"/><Relationship Id="rId5" Type="http://schemas.openxmlformats.org/officeDocument/2006/relationships/hyperlink" Target="http://physics.bu.edu/py106/notes/Circuits.html" TargetMode="External"/><Relationship Id="rId4" Type="http://schemas.openxmlformats.org/officeDocument/2006/relationships/hyperlink" Target="https://www.electronics-tutorials.ws/resistor/res_5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2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04" y="4023363"/>
                        <a:ext cx="2631143" cy="2507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01783" y="1176735"/>
            <a:ext cx="9823268" cy="5378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UNIT-1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23ECH_101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Unit-1 Chapter-1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Series &amp; Parallel Combination of resistance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Voltage Division &amp; Current Division Rule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2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1.1.3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Lecture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441140"/>
              </p:ext>
            </p:extLst>
          </p:nvPr>
        </p:nvGraphicFramePr>
        <p:xfrm>
          <a:off x="300446" y="2076993"/>
          <a:ext cx="6309360" cy="4127863"/>
        </p:xfrm>
        <a:graphic>
          <a:graphicData uri="http://schemas.openxmlformats.org/drawingml/2006/table">
            <a:tbl>
              <a:tblPr firstRow="1" firstCol="1" bandRow="1"/>
              <a:tblGrid>
                <a:gridCol w="537445">
                  <a:extLst>
                    <a:ext uri="{9D8B030D-6E8A-4147-A177-3AD203B41FA5}">
                      <a16:colId xmlns:a16="http://schemas.microsoft.com/office/drawing/2014/main" val="2255556165"/>
                    </a:ext>
                  </a:extLst>
                </a:gridCol>
                <a:gridCol w="5771915">
                  <a:extLst>
                    <a:ext uri="{9D8B030D-6E8A-4147-A177-3AD203B41FA5}">
                      <a16:colId xmlns:a16="http://schemas.microsoft.com/office/drawing/2014/main" val="88097346"/>
                    </a:ext>
                  </a:extLst>
                </a:gridCol>
              </a:tblGrid>
              <a:tr h="7581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266971"/>
                  </a:ext>
                </a:extLst>
              </a:tr>
              <a:tr h="11232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139143"/>
                  </a:ext>
                </a:extLst>
              </a:tr>
              <a:tr h="22464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420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877498"/>
              </p:ext>
            </p:extLst>
          </p:nvPr>
        </p:nvGraphicFramePr>
        <p:xfrm>
          <a:off x="378824" y="2246809"/>
          <a:ext cx="6309359" cy="3931921"/>
        </p:xfrm>
        <a:graphic>
          <a:graphicData uri="http://schemas.openxmlformats.org/drawingml/2006/table">
            <a:tbl>
              <a:tblPr firstRow="1" firstCol="1" bandRow="1"/>
              <a:tblGrid>
                <a:gridCol w="560909">
                  <a:extLst>
                    <a:ext uri="{9D8B030D-6E8A-4147-A177-3AD203B41FA5}">
                      <a16:colId xmlns:a16="http://schemas.microsoft.com/office/drawing/2014/main" val="11522375"/>
                    </a:ext>
                  </a:extLst>
                </a:gridCol>
                <a:gridCol w="5748450">
                  <a:extLst>
                    <a:ext uri="{9D8B030D-6E8A-4147-A177-3AD203B41FA5}">
                      <a16:colId xmlns:a16="http://schemas.microsoft.com/office/drawing/2014/main" val="287020330"/>
                    </a:ext>
                  </a:extLst>
                </a:gridCol>
              </a:tblGrid>
              <a:tr h="7221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821438"/>
                  </a:ext>
                </a:extLst>
              </a:tr>
              <a:tr h="10699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433664"/>
                  </a:ext>
                </a:extLst>
              </a:tr>
              <a:tr h="21398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42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Outcomes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439990" y="5408024"/>
            <a:ext cx="4915398" cy="51834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dirty="0" smtClean="0">
                <a:hlinkClick r:id="rId2"/>
              </a:rPr>
              <a:t>https://in.pinterest.com/pin/240661173823316229/</a:t>
            </a:r>
            <a:endParaRPr lang="en-US" sz="2000" dirty="0"/>
          </a:p>
        </p:txBody>
      </p:sp>
      <p:pic>
        <p:nvPicPr>
          <p:cNvPr id="2447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7197" y="1188723"/>
            <a:ext cx="4808897" cy="4023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66036"/>
              </p:ext>
            </p:extLst>
          </p:nvPr>
        </p:nvGraphicFramePr>
        <p:xfrm>
          <a:off x="274320" y="2076993"/>
          <a:ext cx="5904410" cy="4340133"/>
        </p:xfrm>
        <a:graphic>
          <a:graphicData uri="http://schemas.openxmlformats.org/drawingml/2006/table">
            <a:tbl>
              <a:tblPr firstRow="1" firstCol="1" bandRow="1"/>
              <a:tblGrid>
                <a:gridCol w="491513">
                  <a:extLst>
                    <a:ext uri="{9D8B030D-6E8A-4147-A177-3AD203B41FA5}">
                      <a16:colId xmlns:a16="http://schemas.microsoft.com/office/drawing/2014/main" val="1083200061"/>
                    </a:ext>
                  </a:extLst>
                </a:gridCol>
                <a:gridCol w="4624610">
                  <a:extLst>
                    <a:ext uri="{9D8B030D-6E8A-4147-A177-3AD203B41FA5}">
                      <a16:colId xmlns:a16="http://schemas.microsoft.com/office/drawing/2014/main" val="188660364"/>
                    </a:ext>
                  </a:extLst>
                </a:gridCol>
                <a:gridCol w="788287">
                  <a:extLst>
                    <a:ext uri="{9D8B030D-6E8A-4147-A177-3AD203B41FA5}">
                      <a16:colId xmlns:a16="http://schemas.microsoft.com/office/drawing/2014/main" val="577486383"/>
                    </a:ext>
                  </a:extLst>
                </a:gridCol>
              </a:tblGrid>
              <a:tr h="5678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531806"/>
                  </a:ext>
                </a:extLst>
              </a:tr>
              <a:tr h="765864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683987"/>
                  </a:ext>
                </a:extLst>
              </a:tr>
              <a:tr h="84373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775647"/>
                  </a:ext>
                </a:extLst>
              </a:tr>
              <a:tr h="62907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475979"/>
                  </a:ext>
                </a:extLst>
              </a:tr>
              <a:tr h="84373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16993"/>
                  </a:ext>
                </a:extLst>
              </a:tr>
              <a:tr h="62907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624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Importance of Introduction to Electrical &amp; Electronics Engineering </a:t>
            </a:r>
            <a:r>
              <a:rPr lang="en-US" b="1" dirty="0" smtClean="0">
                <a:latin typeface="Casper"/>
              </a:rPr>
              <a:t>  </a:t>
            </a:r>
            <a:endParaRPr lang="en-US" b="1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Use from home appliances to industrial plants. 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Usage in communication and satellite navigation system.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Handles in electronics equipment and computers.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Deals with the problem of power transmission and motor control.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Control and monitor the medical appliances in hospitals.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High voltage applications with heavy current.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Robotics applications.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Product designing and development.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Content</a:t>
            </a:r>
            <a:r>
              <a:rPr lang="en-US" b="1" dirty="0" smtClean="0">
                <a:latin typeface="Casper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Casper"/>
              </a:rPr>
              <a:t>  </a:t>
            </a:r>
            <a:endParaRPr lang="en-US" b="1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resistance.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inductance.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capacitance.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Series connection of resistance.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Parallel connection of resistance.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Voltage division rule.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Current division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resistance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For resistance we know in a circuit when we have voltage source and current flowing in the circuit then </a:t>
            </a:r>
          </a:p>
          <a:p>
            <a:pPr algn="just"/>
            <a:r>
              <a:rPr lang="en-US" dirty="0" smtClean="0"/>
              <a:t>From ohm’s law:</a:t>
            </a:r>
          </a:p>
          <a:p>
            <a:pPr>
              <a:buNone/>
            </a:pPr>
            <a:r>
              <a:rPr lang="en-US" dirty="0" smtClean="0"/>
              <a:t>     					V= IR</a:t>
            </a:r>
          </a:p>
          <a:p>
            <a:pPr>
              <a:buNone/>
            </a:pPr>
            <a:r>
              <a:rPr lang="en-US" dirty="0" smtClean="0"/>
              <a:t>Similarly we will get current as:</a:t>
            </a:r>
          </a:p>
          <a:p>
            <a:pPr>
              <a:buNone/>
            </a:pPr>
            <a:r>
              <a:rPr lang="en-US" dirty="0" smtClean="0"/>
              <a:t>						I = V/R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inductance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inductor is a coil which stores energy in the magnetic field Consider a wire of length l forming a loop of area A as shown on Figure. </a:t>
            </a:r>
          </a:p>
          <a:p>
            <a:pPr algn="just"/>
            <a:r>
              <a:rPr lang="en-US" dirty="0" smtClean="0"/>
              <a:t>A current </a:t>
            </a:r>
            <a:r>
              <a:rPr lang="en-US" dirty="0" err="1" smtClean="0"/>
              <a:t>i</a:t>
            </a:r>
            <a:r>
              <a:rPr lang="en-US" dirty="0" smtClean="0"/>
              <a:t>(t) is flowing through the wire as indicated. This current generates a magnetic field B which is equal to </a:t>
            </a:r>
          </a:p>
          <a:p>
            <a:pPr algn="just">
              <a:buNone/>
            </a:pPr>
            <a:r>
              <a:rPr lang="en-US" dirty="0" smtClean="0"/>
              <a:t>						B = µ </a:t>
            </a:r>
            <a:r>
              <a:rPr lang="en-US" dirty="0" err="1" smtClean="0"/>
              <a:t>i</a:t>
            </a:r>
            <a:r>
              <a:rPr lang="en-US" dirty="0" smtClean="0"/>
              <a:t>(t)</a:t>
            </a:r>
          </a:p>
          <a:p>
            <a:pPr algn="just">
              <a:buNone/>
            </a:pPr>
            <a:r>
              <a:rPr lang="en-US" dirty="0" smtClean="0"/>
              <a:t>Where µ is the magnetic permeability of the material enclosed by the wire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inductance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magnetic flux, Φ, through the loop of area A is</a:t>
            </a:r>
          </a:p>
          <a:p>
            <a:pPr algn="just">
              <a:buNone/>
            </a:pPr>
            <a:r>
              <a:rPr lang="en-US" dirty="0" smtClean="0"/>
              <a:t> 					Φ = B.A</a:t>
            </a:r>
          </a:p>
          <a:p>
            <a:pPr algn="just">
              <a:buNone/>
            </a:pPr>
            <a:r>
              <a:rPr lang="en-US" dirty="0" smtClean="0"/>
              <a:t>Where we have defined L= Aµ/l</a:t>
            </a:r>
          </a:p>
          <a:p>
            <a:pPr algn="just">
              <a:buNone/>
            </a:pPr>
            <a:r>
              <a:rPr lang="en-US" dirty="0" smtClean="0"/>
              <a:t>By using </a:t>
            </a:r>
            <a:r>
              <a:rPr lang="en-US" dirty="0" err="1" smtClean="0"/>
              <a:t>maxwell</a:t>
            </a:r>
            <a:r>
              <a:rPr lang="en-US" dirty="0" smtClean="0"/>
              <a:t> equation we will solve it and get</a:t>
            </a:r>
          </a:p>
          <a:p>
            <a:pPr algn="just">
              <a:buNone/>
            </a:pPr>
            <a:r>
              <a:rPr lang="en-US" dirty="0" smtClean="0"/>
              <a:t>  					V = </a:t>
            </a:r>
            <a:r>
              <a:rPr lang="en-US" dirty="0" err="1" smtClean="0"/>
              <a:t>Ldi</a:t>
            </a:r>
            <a:r>
              <a:rPr lang="en-US" dirty="0" smtClean="0"/>
              <a:t>/</a:t>
            </a:r>
            <a:r>
              <a:rPr lang="en-US" dirty="0" err="1" smtClean="0"/>
              <a:t>dt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After doing integration we will get current</a:t>
            </a:r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7955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86535" y="4848191"/>
            <a:ext cx="2575968" cy="1186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capacitance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 both digital and analog electronic circuits a capacitor is a fundamental element. </a:t>
            </a:r>
          </a:p>
          <a:p>
            <a:pPr algn="just"/>
            <a:r>
              <a:rPr lang="en-US" dirty="0" smtClean="0"/>
              <a:t>It enables the filtering of signals and it provides a fundamental memory element. </a:t>
            </a:r>
          </a:p>
          <a:p>
            <a:pPr algn="just"/>
            <a:r>
              <a:rPr lang="en-US" dirty="0" smtClean="0"/>
              <a:t>The capacitor is an element that stores energy in an electric field.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84674" name="Picture 2" descr="Measuring Textile Capacitors | stitching world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697" y="4219304"/>
            <a:ext cx="2432867" cy="14749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2063932" y="6217920"/>
            <a:ext cx="7728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https://www.stitchingworlds.net/experimentation/measuring-textile-capacitors/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277394" y="5904412"/>
            <a:ext cx="1792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Fig.1 </a:t>
            </a:r>
            <a:r>
              <a:rPr lang="en-US" dirty="0" err="1" smtClean="0"/>
              <a:t>capactiance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capacitance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When a voltage v is applied across the plates, a charge +q accumulates on one plate and a charge –q on the other.</a:t>
            </a:r>
          </a:p>
          <a:p>
            <a:pPr algn="just"/>
            <a:r>
              <a:rPr lang="en-US" dirty="0" smtClean="0"/>
              <a:t>If the plates have an area A and are separated by a distance d, the electric field generated across the plates is</a:t>
            </a:r>
          </a:p>
          <a:p>
            <a:pPr algn="just">
              <a:buNone/>
            </a:pPr>
            <a:r>
              <a:rPr lang="en-US" dirty="0" smtClean="0"/>
              <a:t>						E =q/ €A</a:t>
            </a:r>
          </a:p>
          <a:p>
            <a:pPr algn="just">
              <a:buNone/>
            </a:pPr>
            <a:r>
              <a:rPr lang="en-US" dirty="0" smtClean="0"/>
              <a:t> € is permittivity of material.</a:t>
            </a:r>
          </a:p>
          <a:p>
            <a:pPr algn="just">
              <a:buNone/>
            </a:pPr>
            <a:r>
              <a:rPr lang="en-US" dirty="0" smtClean="0"/>
              <a:t>and the voltage across the capacitor plates is </a:t>
            </a:r>
          </a:p>
          <a:p>
            <a:pPr algn="ctr">
              <a:buNone/>
            </a:pPr>
            <a:r>
              <a:rPr lang="en-US" dirty="0" smtClean="0"/>
              <a:t>V =Ed</a:t>
            </a:r>
          </a:p>
          <a:p>
            <a:pPr algn="ctr">
              <a:buNone/>
            </a:pPr>
            <a:r>
              <a:rPr lang="en-US" dirty="0" smtClean="0"/>
              <a:t>    V= </a:t>
            </a:r>
            <a:r>
              <a:rPr lang="en-US" dirty="0" err="1" smtClean="0"/>
              <a:t>qd</a:t>
            </a:r>
            <a:r>
              <a:rPr lang="en-US" dirty="0" smtClean="0"/>
              <a:t> / €A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solidFill>
                  <a:prstClr val="black"/>
                </a:solidFill>
                <a:cs typeface="Times New Roman" pitchFamily="18" charset="0"/>
              </a:rPr>
              <a:t>Voltage current relation for capacitance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So current is in a capacitor will be</a:t>
            </a:r>
          </a:p>
          <a:p>
            <a:pPr algn="ctr">
              <a:buNone/>
            </a:pPr>
            <a:r>
              <a:rPr lang="en-US" dirty="0" smtClean="0"/>
              <a:t>I =</a:t>
            </a:r>
            <a:r>
              <a:rPr lang="en-US" dirty="0" err="1" smtClean="0"/>
              <a:t>dq</a:t>
            </a:r>
            <a:r>
              <a:rPr lang="en-US" dirty="0" smtClean="0"/>
              <a:t>/</a:t>
            </a:r>
            <a:r>
              <a:rPr lang="en-US" dirty="0" err="1" smtClean="0"/>
              <a:t>dt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   I =C </a:t>
            </a:r>
            <a:r>
              <a:rPr lang="en-US" dirty="0" err="1" smtClean="0"/>
              <a:t>dv</a:t>
            </a:r>
            <a:r>
              <a:rPr lang="en-US" dirty="0" smtClean="0"/>
              <a:t>/</a:t>
            </a:r>
            <a:r>
              <a:rPr lang="en-US" dirty="0" err="1" smtClean="0"/>
              <a:t>dt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Hence these are the voltage current relation for resistance, inductance and capacitance.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Series connection of resistance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series circuit is a circuit in which resistors are arranged in a chain, so the current has only one path to take. </a:t>
            </a:r>
          </a:p>
          <a:p>
            <a:pPr algn="just"/>
            <a:r>
              <a:rPr lang="en-US" dirty="0" smtClean="0"/>
              <a:t>The current is the same through each resistor. </a:t>
            </a:r>
          </a:p>
          <a:p>
            <a:pPr algn="just"/>
            <a:r>
              <a:rPr lang="en-US" dirty="0" smtClean="0"/>
              <a:t>The total resistance of the circuit is found by simply adding up the resistance values of the individual resistors:</a:t>
            </a:r>
          </a:p>
          <a:p>
            <a:pPr algn="just"/>
            <a:r>
              <a:rPr lang="en-US" dirty="0" smtClean="0"/>
              <a:t>So equivalent resistance of resistors in series : R = R</a:t>
            </a:r>
            <a:r>
              <a:rPr lang="en-US" baseline="-25000" dirty="0" smtClean="0"/>
              <a:t>1</a:t>
            </a:r>
            <a:r>
              <a:rPr lang="en-US" dirty="0" smtClean="0"/>
              <a:t> + R</a:t>
            </a:r>
            <a:r>
              <a:rPr lang="en-US" baseline="-25000" dirty="0" smtClean="0"/>
              <a:t>2</a:t>
            </a:r>
            <a:r>
              <a:rPr lang="en-US" dirty="0" smtClean="0"/>
              <a:t> + R</a:t>
            </a:r>
            <a:r>
              <a:rPr lang="en-US" baseline="-25000" dirty="0" smtClean="0"/>
              <a:t>3</a:t>
            </a:r>
            <a:r>
              <a:rPr lang="en-US" dirty="0" smtClean="0"/>
              <a:t> + ...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Series connection of resistance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Hence if there are three resistance are connected in series with voltage V then we will get equivalent resistance as shown in figure below: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80578" name="Picture 2" descr="Electrical DC Series and Parallel Circuit | Electrical4U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0113" y="3065418"/>
            <a:ext cx="4088675" cy="22609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2586445" y="6230984"/>
            <a:ext cx="6762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/>
              </a:rPr>
              <a:t>https://www.electrical4u.com/electrical-dc-series-and-parallel-circuit/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19748" y="5669280"/>
            <a:ext cx="3580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Fig.2 Series connection of resistance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Parallel connection of resistance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A parallel circuit is a circuit in which the resistors are arranged with their heads connected together, and their tails connected together.</a:t>
            </a:r>
          </a:p>
          <a:p>
            <a:pPr algn="just"/>
            <a:r>
              <a:rPr lang="en-US" dirty="0" smtClean="0"/>
              <a:t>The current in a parallel circuit breaks up, with some flowing along each parallel branch and re-combining when the branches meet again. </a:t>
            </a:r>
          </a:p>
          <a:p>
            <a:pPr algn="just"/>
            <a:r>
              <a:rPr lang="en-US" dirty="0" smtClean="0"/>
              <a:t>The voltage across each resistor in parallel is the same.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6928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Parallel connection of resistance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512113"/>
            <a:ext cx="5810794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total resistance of a set of resistors in parallel is found by adding up the reciprocals of the resistance values, and then taking the reciprocal of the total:</a:t>
            </a:r>
          </a:p>
          <a:p>
            <a:pPr algn="just"/>
            <a:r>
              <a:rPr lang="en-US" dirty="0" smtClean="0"/>
              <a:t>So equivalent resistance of resistors in parallel: </a:t>
            </a:r>
          </a:p>
          <a:p>
            <a:pPr algn="just">
              <a:buNone/>
            </a:pPr>
            <a:r>
              <a:rPr lang="en-US" dirty="0" smtClean="0"/>
              <a:t>	</a:t>
            </a:r>
            <a:r>
              <a:rPr lang="en-US" b="1" dirty="0" smtClean="0"/>
              <a:t>    1 / R = 1 / R</a:t>
            </a:r>
            <a:r>
              <a:rPr lang="en-US" b="1" baseline="-25000" dirty="0" smtClean="0"/>
              <a:t>1</a:t>
            </a:r>
            <a:r>
              <a:rPr lang="en-US" b="1" dirty="0" smtClean="0"/>
              <a:t> + 1 / R</a:t>
            </a:r>
            <a:r>
              <a:rPr lang="en-US" b="1" baseline="-25000" dirty="0" smtClean="0"/>
              <a:t>2</a:t>
            </a:r>
            <a:r>
              <a:rPr lang="en-US" b="1" dirty="0" smtClean="0"/>
              <a:t> + 1 / R</a:t>
            </a:r>
            <a:r>
              <a:rPr lang="en-US" b="1" baseline="-25000" dirty="0" smtClean="0"/>
              <a:t>3</a:t>
            </a:r>
            <a:r>
              <a:rPr lang="en-US" b="1" dirty="0" smtClean="0"/>
              <a:t> 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78530" name="Picture 2" descr="electrical parallel dc circuit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531670"/>
            <a:ext cx="4245428" cy="31803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165669" y="5473338"/>
            <a:ext cx="5499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electrical4u.com/electrical-dc-series-and-parallel-circuit/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210697" y="5003074"/>
            <a:ext cx="370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Fig.3 Parallel connection of resistance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Voltage Division Rule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189" y="1694997"/>
            <a:ext cx="6176554" cy="4351338"/>
          </a:xfrm>
        </p:spPr>
        <p:txBody>
          <a:bodyPr/>
          <a:lstStyle/>
          <a:p>
            <a:pPr algn="just"/>
            <a:r>
              <a:rPr lang="en-US" dirty="0" smtClean="0"/>
              <a:t>The voltage division rule can be understood by considering a series circuit shown below. </a:t>
            </a:r>
          </a:p>
          <a:p>
            <a:pPr algn="just"/>
            <a:r>
              <a:rPr lang="en-US" dirty="0" smtClean="0"/>
              <a:t>In a series circuit, voltage is divided, whereas the current remains the same.</a:t>
            </a:r>
          </a:p>
          <a:p>
            <a:pPr algn="just"/>
            <a:r>
              <a:rPr lang="en-US" dirty="0" smtClean="0"/>
              <a:t>There are two resistance such as r1 and r2 connected across dc supply voltage.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83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32889" y="1733279"/>
            <a:ext cx="4057650" cy="2686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688184" y="5394960"/>
            <a:ext cx="5105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https://circuitglobe.com/current-division-and-voltage-division-rule.html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981406" y="4728755"/>
            <a:ext cx="257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Fig.4 Voltage division rule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Voltage Division Rule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 us consider a voltage source E with the resistance r</a:t>
            </a:r>
            <a:r>
              <a:rPr lang="en-US" baseline="-25000" dirty="0" smtClean="0"/>
              <a:t>1 </a:t>
            </a:r>
            <a:r>
              <a:rPr lang="en-US" dirty="0" smtClean="0"/>
              <a:t>and r</a:t>
            </a:r>
            <a:r>
              <a:rPr lang="en-US" baseline="-25000" dirty="0" smtClean="0"/>
              <a:t>2</a:t>
            </a:r>
            <a:r>
              <a:rPr lang="en-US" dirty="0" smtClean="0"/>
              <a:t> connected in series across it.</a:t>
            </a:r>
          </a:p>
          <a:p>
            <a:pPr>
              <a:buNone/>
            </a:pPr>
            <a:r>
              <a:rPr lang="en-US" dirty="0" smtClean="0"/>
              <a:t>As we know,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err="1" smtClean="0"/>
              <a:t>i</a:t>
            </a:r>
            <a:r>
              <a:rPr lang="en-US" dirty="0" smtClean="0"/>
              <a:t> = V/R or we can say I = E/R</a:t>
            </a:r>
          </a:p>
          <a:p>
            <a:r>
              <a:rPr lang="en-US" dirty="0" smtClean="0"/>
              <a:t>Therefore, the current (</a:t>
            </a:r>
            <a:r>
              <a:rPr lang="en-US" dirty="0" err="1" smtClean="0"/>
              <a:t>i</a:t>
            </a:r>
            <a:r>
              <a:rPr lang="en-US" dirty="0" smtClean="0"/>
              <a:t>) in the loop ABCD will be: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84674" name="Picture 2" descr="CURRENT-DIVISION-EQ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4581" y="4389119"/>
            <a:ext cx="3119990" cy="16657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Voltage Division Rule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By putting the value of I from equation (8) in equation (9) the voltage across the resistance r</a:t>
            </a:r>
            <a:r>
              <a:rPr lang="en-US" baseline="-25000" dirty="0" smtClean="0"/>
              <a:t>1 </a:t>
            </a:r>
            <a:r>
              <a:rPr lang="en-US" dirty="0" smtClean="0"/>
              <a:t>and r</a:t>
            </a:r>
            <a:r>
              <a:rPr lang="en-US" baseline="-25000" dirty="0" smtClean="0"/>
              <a:t>2</a:t>
            </a:r>
            <a:r>
              <a:rPr lang="en-US" dirty="0" smtClean="0"/>
              <a:t> respectively are given by the equation shown below as: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93890" name="Picture 2" descr="CURRENT-DIVISION-EQ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4717" y="3758838"/>
            <a:ext cx="5308745" cy="12442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Current Division Rule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45480" cy="4351338"/>
          </a:xfrm>
        </p:spPr>
        <p:txBody>
          <a:bodyPr/>
          <a:lstStyle/>
          <a:p>
            <a:pPr algn="just"/>
            <a:r>
              <a:rPr lang="en-US" dirty="0" smtClean="0"/>
              <a:t>A parallel circuit acts as a current divider as the current divides in all the branches in a parallel circuit, and the voltage remains the same across them.</a:t>
            </a:r>
          </a:p>
          <a:p>
            <a:pPr algn="just"/>
            <a:r>
              <a:rPr lang="en-US" dirty="0" smtClean="0"/>
              <a:t>There are two resistance R</a:t>
            </a:r>
            <a:r>
              <a:rPr lang="en-US" sz="2400" dirty="0" smtClean="0"/>
              <a:t>1</a:t>
            </a:r>
            <a:r>
              <a:rPr lang="en-US" dirty="0" smtClean="0"/>
              <a:t> and R</a:t>
            </a:r>
            <a:r>
              <a:rPr lang="en-US" sz="2400" dirty="0" smtClean="0"/>
              <a:t>2</a:t>
            </a:r>
            <a:r>
              <a:rPr lang="en-US" dirty="0" smtClean="0"/>
              <a:t> are connected in parallel. 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877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37268" y="1751388"/>
            <a:ext cx="3330621" cy="3076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675121" y="5577843"/>
            <a:ext cx="5105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https://circuitglobe.com/current-division-and-voltage-division-rule.html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929155" y="5081451"/>
            <a:ext cx="258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Fig.5 Current division rule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Current Division Rule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current I has been divided into I</a:t>
            </a:r>
            <a:r>
              <a:rPr lang="en-US" baseline="-25000" dirty="0" smtClean="0"/>
              <a:t>1 </a:t>
            </a:r>
            <a:r>
              <a:rPr lang="en-US" dirty="0" smtClean="0"/>
              <a:t>and I</a:t>
            </a:r>
            <a:r>
              <a:rPr lang="en-US" baseline="-25000" dirty="0" smtClean="0"/>
              <a:t>2</a:t>
            </a:r>
            <a:r>
              <a:rPr lang="en-US" dirty="0" smtClean="0"/>
              <a:t> into two parallel branches with the resistance R</a:t>
            </a:r>
            <a:r>
              <a:rPr lang="en-US" baseline="-25000" dirty="0" smtClean="0"/>
              <a:t>1 </a:t>
            </a:r>
            <a:r>
              <a:rPr lang="en-US" dirty="0" smtClean="0"/>
              <a:t>and R</a:t>
            </a:r>
            <a:r>
              <a:rPr lang="en-US" baseline="-25000" dirty="0" smtClean="0"/>
              <a:t>2</a:t>
            </a:r>
            <a:r>
              <a:rPr lang="en-US" dirty="0" smtClean="0"/>
              <a:t> and V is the voltage drop across the resistance R</a:t>
            </a:r>
            <a:r>
              <a:rPr lang="en-US" baseline="-25000" dirty="0" smtClean="0"/>
              <a:t>1</a:t>
            </a:r>
            <a:r>
              <a:rPr lang="en-US" dirty="0" smtClean="0"/>
              <a:t> and R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Then the equation of the current is written as: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96962" name="Picture 2" descr="CURRENT-DIVISION-EQ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3539" y="3889465"/>
            <a:ext cx="4179511" cy="12311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Current Division Rule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011" y="1485991"/>
            <a:ext cx="10515600" cy="4351338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Let the total resistance of the circuit be R and is given by the equation shown below: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Now, putting the value of R from the equation (2) in the equation (3) we will get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297986" name="Picture 2" descr="CURRENT-DIVISION-EQ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40192" y="2299833"/>
            <a:ext cx="3080413" cy="796063"/>
          </a:xfrm>
          <a:prstGeom prst="rect">
            <a:avLst/>
          </a:prstGeom>
          <a:noFill/>
        </p:spPr>
      </p:pic>
      <p:pic>
        <p:nvPicPr>
          <p:cNvPr id="297988" name="Picture 4" descr="CURRENT-DIVISION-EQ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3357" y="4633911"/>
            <a:ext cx="5136355" cy="11790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603557"/>
            <a:ext cx="10515600" cy="4351338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Build up relation of voltage and current for resistance.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Build up relation of voltage and current for inductance.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Build up relation of voltage and current for capacitance.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Series connection of resistance.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Parallel connection of resistance.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Voltage division rule.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Current division rule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Frequently Asked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US" dirty="0" smtClean="0"/>
              <a:t>What is the difference between voltage division and current division rule?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What is meant by series combination of resistance?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What is meant by parallel combination of resistance?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Give the relationship of voltage and current fro resistance.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 smtClean="0"/>
              <a:t>Build up the relationship of voltage and current for capacitance.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Practice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If we have three resistance of 10ohm, 5 ohm and 20ohm so what will be the equivalent resistance if they are connected in parallel? </a:t>
            </a:r>
          </a:p>
          <a:p>
            <a:pPr algn="just"/>
            <a:r>
              <a:rPr lang="en-US" dirty="0" smtClean="0"/>
              <a:t>In a series circuit if two resistances of 20ohm and 50ohm are connected across 50V dc supply so what will be the voltage across each resistance?</a:t>
            </a:r>
          </a:p>
          <a:p>
            <a:pPr algn="just"/>
            <a:r>
              <a:rPr lang="en-US" dirty="0" smtClean="0"/>
              <a:t>A current source of 10A is applied in a circuit which carries two resistances of 40ohm and 80ohm so how can we measure current in both the resistance?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1" y="1028702"/>
            <a:ext cx="5778500" cy="48736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Casper"/>
                <a:cs typeface="Times New Roman" pitchFamily="18" charset="0"/>
              </a:rPr>
              <a:t>To </a:t>
            </a:r>
            <a:r>
              <a:rPr lang="en-IN" sz="2800" dirty="0">
                <a:latin typeface="Casper"/>
                <a:cs typeface="Times New Roman" pitchFamily="18" charset="0"/>
              </a:rPr>
              <a:t>make students </a:t>
            </a:r>
            <a:r>
              <a:rPr lang="en-IN" sz="2800" dirty="0" smtClean="0">
                <a:latin typeface="Casper"/>
                <a:cs typeface="Times New Roman" pitchFamily="18" charset="0"/>
              </a:rPr>
              <a:t>understand</a:t>
            </a:r>
            <a:endParaRPr lang="en-IN" sz="2800" dirty="0">
              <a:latin typeface="Casper"/>
              <a:cs typeface="Times New Roman" pitchFamily="18" charset="0"/>
            </a:endParaRPr>
          </a:p>
          <a:p>
            <a:r>
              <a:rPr lang="en-US" sz="2800" dirty="0">
                <a:latin typeface="Casper"/>
              </a:rPr>
              <a:t> </a:t>
            </a:r>
            <a:r>
              <a:rPr lang="en-US" sz="2800" dirty="0" smtClean="0">
                <a:latin typeface="Casper"/>
              </a:rPr>
              <a:t>Concepts </a:t>
            </a:r>
            <a:r>
              <a:rPr lang="en-US" sz="2800" dirty="0">
                <a:latin typeface="Casper"/>
              </a:rPr>
              <a:t>of </a:t>
            </a:r>
            <a:r>
              <a:rPr lang="en-US" sz="2800" dirty="0" smtClean="0">
                <a:latin typeface="Casper"/>
              </a:rPr>
              <a:t>voltage current relation for resistance, inductance and capacitance.</a:t>
            </a:r>
            <a:endParaRPr lang="en-US" sz="2800" dirty="0">
              <a:latin typeface="Casper"/>
            </a:endParaRPr>
          </a:p>
          <a:p>
            <a:endParaRPr lang="en-US" sz="2800" dirty="0">
              <a:latin typeface="Casper"/>
            </a:endParaRPr>
          </a:p>
          <a:p>
            <a:r>
              <a:rPr lang="en-US" sz="2800" dirty="0" smtClean="0">
                <a:latin typeface="Casper"/>
              </a:rPr>
              <a:t>Fundamentals of series and parallel combination of resistance.</a:t>
            </a:r>
            <a:endParaRPr lang="en-US" sz="2800" dirty="0">
              <a:latin typeface="Casper"/>
            </a:endParaRPr>
          </a:p>
          <a:p>
            <a:endParaRPr lang="en-US" sz="2800" dirty="0">
              <a:latin typeface="Casper"/>
            </a:endParaRPr>
          </a:p>
          <a:p>
            <a:r>
              <a:rPr lang="en-US" sz="2800" dirty="0" smtClean="0">
                <a:latin typeface="Casper"/>
              </a:rPr>
              <a:t>Concepts </a:t>
            </a:r>
            <a:r>
              <a:rPr lang="en-US" sz="2800" dirty="0">
                <a:latin typeface="Casper"/>
              </a:rPr>
              <a:t>of </a:t>
            </a:r>
            <a:r>
              <a:rPr lang="en-US" sz="2800" dirty="0" smtClean="0">
                <a:latin typeface="Casper"/>
              </a:rPr>
              <a:t>voltage division and current division rule.</a:t>
            </a:r>
            <a:endParaRPr lang="en-US" sz="2800" dirty="0">
              <a:latin typeface="Casper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  <a:p>
            <a:endParaRPr lang="en-US" sz="2400" dirty="0" smtClean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2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3949" y="1681522"/>
            <a:ext cx="4456567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  <a:ea typeface="Karla" pitchFamily="2" charset="0"/>
                <a:cs typeface="Karla" pitchFamily="2" charset="0"/>
              </a:rPr>
              <a:t>LEARNING OUTCOMES</a:t>
            </a:r>
            <a: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511627"/>
            <a:ext cx="5867400" cy="5836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7" y="6324602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1"/>
            <a:ext cx="812800" cy="9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5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Assessment Pattern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6352"/>
            <a:ext cx="10696303" cy="4940939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0711" y="1968136"/>
          <a:ext cx="10855229" cy="2115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937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A</a:t>
                      </a:r>
                    </a:p>
                    <a:p>
                      <a:pPr algn="ctr"/>
                      <a:r>
                        <a:rPr lang="en-US" dirty="0" smtClean="0"/>
                        <a:t>Assignment (each assignment)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B</a:t>
                      </a:r>
                    </a:p>
                    <a:p>
                      <a:pPr algn="ctr"/>
                      <a:r>
                        <a:rPr lang="en-US" dirty="0" smtClean="0"/>
                        <a:t>Time Bound Surprise</a:t>
                      </a:r>
                      <a:r>
                        <a:rPr lang="en-US" baseline="0" dirty="0" smtClean="0"/>
                        <a:t> Test (each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</a:p>
                    <a:p>
                      <a:pPr algn="ctr"/>
                      <a:r>
                        <a:rPr lang="en-US" dirty="0" smtClean="0"/>
                        <a:t>Quiz (each quiz)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D</a:t>
                      </a:r>
                    </a:p>
                    <a:p>
                      <a:pPr algn="ctr"/>
                      <a:r>
                        <a:rPr lang="en-US" dirty="0" smtClean="0"/>
                        <a:t>Mid</a:t>
                      </a:r>
                      <a:r>
                        <a:rPr lang="en-US" baseline="0" dirty="0" smtClean="0"/>
                        <a:t> Semester Test(one per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E</a:t>
                      </a:r>
                    </a:p>
                    <a:p>
                      <a:pPr algn="ctr"/>
                      <a:r>
                        <a:rPr lang="en-US" dirty="0" smtClean="0"/>
                        <a:t>Homework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F</a:t>
                      </a:r>
                    </a:p>
                    <a:p>
                      <a:pPr algn="ctr"/>
                      <a:r>
                        <a:rPr lang="en-US" dirty="0" smtClean="0"/>
                        <a:t>Discussion Forums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Attendance and  engagement Score on BB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References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948" y="1603556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600" b="1" dirty="0" smtClean="0"/>
              <a:t>Textbooks of Basic Electrical &amp; Electronics Engineering:</a:t>
            </a:r>
            <a:endParaRPr lang="en-US" sz="2600" dirty="0" smtClean="0"/>
          </a:p>
          <a:p>
            <a:pPr>
              <a:buFont typeface="Wingdings" pitchFamily="2" charset="2"/>
              <a:buChar char="Ø"/>
            </a:pPr>
            <a:r>
              <a:rPr lang="en-US" sz="2600" dirty="0" smtClean="0"/>
              <a:t>Fundamentals of Electrical Circuits by Charles k.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/>
              <a:t>Electrical Technology by </a:t>
            </a:r>
            <a:r>
              <a:rPr lang="en-US" sz="2600" dirty="0" err="1" smtClean="0"/>
              <a:t>Surinder</a:t>
            </a:r>
            <a:r>
              <a:rPr lang="en-US" sz="2600" dirty="0" smtClean="0"/>
              <a:t> Pal Bali, Pearson Publications. </a:t>
            </a:r>
          </a:p>
          <a:p>
            <a:pPr>
              <a:buNone/>
            </a:pPr>
            <a:r>
              <a:rPr lang="en-US" sz="3000" b="1" dirty="0" smtClean="0"/>
              <a:t>Websites:</a:t>
            </a:r>
            <a:endParaRPr lang="en-US" sz="3000" b="1" u="sng" dirty="0" smtClean="0">
              <a:hlinkClick r:id="rId2"/>
            </a:endParaRPr>
          </a:p>
          <a:p>
            <a:pPr>
              <a:buFont typeface="Wingdings" pitchFamily="2" charset="2"/>
              <a:buChar char="Ø"/>
            </a:pPr>
            <a:r>
              <a:rPr lang="en-US" sz="2500" dirty="0" smtClean="0">
                <a:hlinkClick r:id="rId3"/>
              </a:rPr>
              <a:t>https://ocw.mit.edu/courses/electrical-engineering-and-computer-science/6-071j-introduction-to-electronics-signals-and-measurement-spring-2006/lecture-notes/capactr_inductr.pdf</a:t>
            </a:r>
            <a:endParaRPr lang="en-US" sz="2500" dirty="0" smtClean="0"/>
          </a:p>
          <a:p>
            <a:pPr>
              <a:buFont typeface="Wingdings" pitchFamily="2" charset="2"/>
              <a:buChar char="Ø"/>
            </a:pPr>
            <a:r>
              <a:rPr lang="en-US" sz="2500" dirty="0" smtClean="0">
                <a:hlinkClick r:id="rId4"/>
              </a:rPr>
              <a:t>https://www.electronics-tutorials.ws/resistor/res_5.html</a:t>
            </a:r>
            <a:endParaRPr lang="en-US" sz="25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hlinkClick r:id="rId5"/>
              </a:rPr>
              <a:t>http://physics.bu.edu/py106/notes/Circuits.html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hlinkClick r:id="rId6"/>
              </a:rPr>
              <a:t>https://circuitglobe.com/current-division-and-voltage-division-rule.html</a:t>
            </a:r>
            <a:endParaRPr lang="en-US" sz="2500" dirty="0" smtClean="0"/>
          </a:p>
          <a:p>
            <a:pPr>
              <a:buFont typeface="Wingdings" pitchFamily="2" charset="2"/>
              <a:buChar char="Ø"/>
            </a:pPr>
            <a:endParaRPr lang="en-US" sz="2500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9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7" y="6294599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7" y="5129691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3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601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5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1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204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9"/>
            <a:ext cx="28648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b="1" dirty="0" smtClean="0">
                <a:cs typeface="Segoe UI" panose="020B0502040204020203" pitchFamily="34" charset="0"/>
              </a:rPr>
              <a:t>Email: </a:t>
            </a:r>
            <a:r>
              <a:rPr lang="en-US" b="1" dirty="0" smtClean="0"/>
              <a:t>neeru.cse@cumail.in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1798</TotalTime>
  <Words>1343</Words>
  <Application>Microsoft Office PowerPoint</Application>
  <PresentationFormat>Widescreen</PresentationFormat>
  <Paragraphs>249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Arial</vt:lpstr>
      <vt:lpstr>Arial Black</vt:lpstr>
      <vt:lpstr>Arial Unicode MS</vt:lpstr>
      <vt:lpstr>Calibri</vt:lpstr>
      <vt:lpstr>Calibri Light</vt:lpstr>
      <vt:lpstr>Casper</vt:lpstr>
      <vt:lpstr>Karla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Importance of Introduction to Electrical &amp; Electronics Engineering   </vt:lpstr>
      <vt:lpstr>Content   </vt:lpstr>
      <vt:lpstr>Voltage current relation for resistance</vt:lpstr>
      <vt:lpstr>Voltage current relation for inductance</vt:lpstr>
      <vt:lpstr>Voltage current relation for inductance</vt:lpstr>
      <vt:lpstr>Voltage current relation for capacitance</vt:lpstr>
      <vt:lpstr>Voltage current relation for capacitance</vt:lpstr>
      <vt:lpstr>Voltage current relation for capacitance</vt:lpstr>
      <vt:lpstr>Series connection of resistance</vt:lpstr>
      <vt:lpstr>Series connection of resistance</vt:lpstr>
      <vt:lpstr>Parallel connection of resistance</vt:lpstr>
      <vt:lpstr>Parallel connection of resistance</vt:lpstr>
      <vt:lpstr>Voltage Division Rule</vt:lpstr>
      <vt:lpstr>Voltage Division Rule</vt:lpstr>
      <vt:lpstr>Voltage Division Rule</vt:lpstr>
      <vt:lpstr>Current Division Rule</vt:lpstr>
      <vt:lpstr>Current Division Rule</vt:lpstr>
      <vt:lpstr>Current Division Rule</vt:lpstr>
      <vt:lpstr>Summary</vt:lpstr>
      <vt:lpstr>Frequently Asked Questions</vt:lpstr>
      <vt:lpstr>Practice Questions</vt:lpstr>
      <vt:lpstr>LEARNING OUTCOMES </vt:lpstr>
      <vt:lpstr>Assessment Pattern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203</cp:revision>
  <dcterms:created xsi:type="dcterms:W3CDTF">2019-01-09T10:33:58Z</dcterms:created>
  <dcterms:modified xsi:type="dcterms:W3CDTF">2023-06-22T08:10:21Z</dcterms:modified>
</cp:coreProperties>
</file>