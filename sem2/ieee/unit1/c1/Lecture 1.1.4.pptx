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9"/>
  </p:notesMasterIdLst>
  <p:sldIdLst>
    <p:sldId id="386" r:id="rId3"/>
    <p:sldId id="400" r:id="rId4"/>
    <p:sldId id="401" r:id="rId5"/>
    <p:sldId id="402" r:id="rId6"/>
    <p:sldId id="389" r:id="rId7"/>
    <p:sldId id="281" r:id="rId8"/>
    <p:sldId id="383" r:id="rId9"/>
    <p:sldId id="384" r:id="rId10"/>
    <p:sldId id="392" r:id="rId11"/>
    <p:sldId id="393" r:id="rId12"/>
    <p:sldId id="366" r:id="rId13"/>
    <p:sldId id="369" r:id="rId14"/>
    <p:sldId id="370" r:id="rId15"/>
    <p:sldId id="372" r:id="rId16"/>
    <p:sldId id="373" r:id="rId17"/>
    <p:sldId id="364" r:id="rId18"/>
    <p:sldId id="375" r:id="rId19"/>
    <p:sldId id="394" r:id="rId20"/>
    <p:sldId id="390" r:id="rId21"/>
    <p:sldId id="403" r:id="rId22"/>
    <p:sldId id="378" r:id="rId23"/>
    <p:sldId id="395" r:id="rId24"/>
    <p:sldId id="396" r:id="rId25"/>
    <p:sldId id="397" r:id="rId26"/>
    <p:sldId id="399" r:id="rId27"/>
    <p:sldId id="33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rsha sandhu" initials="vs" lastIdx="8" clrIdx="0">
    <p:extLst>
      <p:ext uri="{19B8F6BF-5375-455C-9EA6-DF929625EA0E}">
        <p15:presenceInfo xmlns:p15="http://schemas.microsoft.com/office/powerpoint/2012/main" userId="9683cf085cdb1a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2" autoAdjust="0"/>
    <p:restoredTop sz="96057" autoAdjust="0"/>
  </p:normalViewPr>
  <p:slideViewPr>
    <p:cSldViewPr snapToGrid="0">
      <p:cViewPr varScale="1">
        <p:scale>
          <a:sx n="69" d="100"/>
          <a:sy n="69" d="100"/>
        </p:scale>
        <p:origin x="846" y="7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7D0A8-36BF-4229-A711-E0B862E22A66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9C648-44DB-4C60-B1DF-42A02E5B93B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919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13AB8-81E4-453F-ACC3-B5918E47C527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68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C775A-3F74-4F60-A5D1-3B439A17A366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5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2131-5BA3-48A9-9A01-C3C69F30B4ED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088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83B9-2C97-4195-AFDF-051669252A55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4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BC874-CEB7-41B2-965E-8624DD849024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678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ADA5-683A-4AE0-AC24-6B4F4C8135EC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40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75B5-3690-4EDD-B63F-5BF47D3618BF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55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C2888-5B9B-424A-B271-199A7CA47580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05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44F2-0A93-4E5D-A36C-D731CC0DA3F0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15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B2A8-446D-4C3A-A8D2-67EE087D46ED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97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0A4-80F0-4287-891B-BF956EA62212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093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05292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254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4392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619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127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3901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3256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31000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1694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4650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87264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35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9470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81393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20465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7855-7E87-4B11-BBE3-2599F030E103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279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71A4C-895C-4C7D-BCF0-CC6A45C8F28D}" type="datetime1">
              <a:rPr lang="en-IN" smtClean="0"/>
              <a:pPr/>
              <a:t>20-06-2023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A15EE-0A3C-40D5-AF2A-141D30A2BC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27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9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22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in.pinterest.com/pin/240661173823316229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hyperlink" Target="https://www.electrical4u.net/electrical-basic/alternating-currents-important-terms-conditions-definition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hyperlink" Target="https://www.electronics-tutorials.ws/accircuits/sinusoidal-waveform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hyperlink" Target="https://www.electronics-tutorials.ws/accircuits/sinusoidal-waveform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hyperlink" Target="https://www.quora.com/What-are-the-differences-between-average-RMS-and-peak-voltage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hyperlink" Target="https://circuitglobe.com/what-is-peak-value-average-value-and-rms-value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wp-content/uploads/2015/10/PEAK-VALUE-EQ1-compressor.jpg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technology.org/2019/05/rms-value-average-value-peak-value-instantiations-value-form-factor-peak-factor.html" TargetMode="External"/><Relationship Id="rId2" Type="http://schemas.openxmlformats.org/officeDocument/2006/relationships/hyperlink" Target="https://circuitglobe.com/what-is-peak-value-average-value-and-rms-value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494804" y="4023363"/>
          <a:ext cx="2631143" cy="2507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3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04" y="4023363"/>
                        <a:ext cx="2631143" cy="25076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14846" y="1281237"/>
            <a:ext cx="9832638" cy="710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UNIT-1 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to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23ECH_101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Unit-1 Chapter-1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AC Sinusoidal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1.1.4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Lecture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028445"/>
              </p:ext>
            </p:extLst>
          </p:nvPr>
        </p:nvGraphicFramePr>
        <p:xfrm>
          <a:off x="387927" y="2369126"/>
          <a:ext cx="6414655" cy="3726873"/>
        </p:xfrm>
        <a:graphic>
          <a:graphicData uri="http://schemas.openxmlformats.org/drawingml/2006/table">
            <a:tbl>
              <a:tblPr firstRow="1" firstCol="1" bandRow="1"/>
              <a:tblGrid>
                <a:gridCol w="546414">
                  <a:extLst>
                    <a:ext uri="{9D8B030D-6E8A-4147-A177-3AD203B41FA5}">
                      <a16:colId xmlns:a16="http://schemas.microsoft.com/office/drawing/2014/main" val="3373744783"/>
                    </a:ext>
                  </a:extLst>
                </a:gridCol>
                <a:gridCol w="5868241">
                  <a:extLst>
                    <a:ext uri="{9D8B030D-6E8A-4147-A177-3AD203B41FA5}">
                      <a16:colId xmlns:a16="http://schemas.microsoft.com/office/drawing/2014/main" val="3841669333"/>
                    </a:ext>
                  </a:extLst>
                </a:gridCol>
              </a:tblGrid>
              <a:tr h="6845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64361"/>
                  </a:ext>
                </a:extLst>
              </a:tr>
              <a:tr h="1014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861463"/>
                  </a:ext>
                </a:extLst>
              </a:tr>
              <a:tr h="20282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093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74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022753"/>
              </p:ext>
            </p:extLst>
          </p:nvPr>
        </p:nvGraphicFramePr>
        <p:xfrm>
          <a:off x="387928" y="1917077"/>
          <a:ext cx="6497782" cy="4407524"/>
        </p:xfrm>
        <a:graphic>
          <a:graphicData uri="http://schemas.openxmlformats.org/drawingml/2006/table">
            <a:tbl>
              <a:tblPr firstRow="1" firstCol="1" bandRow="1"/>
              <a:tblGrid>
                <a:gridCol w="540909">
                  <a:extLst>
                    <a:ext uri="{9D8B030D-6E8A-4147-A177-3AD203B41FA5}">
                      <a16:colId xmlns:a16="http://schemas.microsoft.com/office/drawing/2014/main" val="1905167580"/>
                    </a:ext>
                  </a:extLst>
                </a:gridCol>
                <a:gridCol w="5089367">
                  <a:extLst>
                    <a:ext uri="{9D8B030D-6E8A-4147-A177-3AD203B41FA5}">
                      <a16:colId xmlns:a16="http://schemas.microsoft.com/office/drawing/2014/main" val="1805723563"/>
                    </a:ext>
                  </a:extLst>
                </a:gridCol>
                <a:gridCol w="867506">
                  <a:extLst>
                    <a:ext uri="{9D8B030D-6E8A-4147-A177-3AD203B41FA5}">
                      <a16:colId xmlns:a16="http://schemas.microsoft.com/office/drawing/2014/main" val="1585842568"/>
                    </a:ext>
                  </a:extLst>
                </a:gridCol>
              </a:tblGrid>
              <a:tr h="6435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062939"/>
                  </a:ext>
                </a:extLst>
              </a:tr>
              <a:tr h="867975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5561"/>
                  </a:ext>
                </a:extLst>
              </a:tr>
              <a:tr h="874584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810466"/>
                  </a:ext>
                </a:extLst>
              </a:tr>
              <a:tr h="690313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960848"/>
                  </a:ext>
                </a:extLst>
              </a:tr>
              <a:tr h="66552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983243"/>
                  </a:ext>
                </a:extLst>
              </a:tr>
              <a:tr h="66552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072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01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Outcomes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738026"/>
              </p:ext>
            </p:extLst>
          </p:nvPr>
        </p:nvGraphicFramePr>
        <p:xfrm>
          <a:off x="282010" y="2495719"/>
          <a:ext cx="5870596" cy="3339276"/>
        </p:xfrm>
        <a:graphic>
          <a:graphicData uri="http://schemas.openxmlformats.org/drawingml/2006/table">
            <a:tbl>
              <a:tblPr firstRow="1" firstCol="1" bandRow="1"/>
              <a:tblGrid>
                <a:gridCol w="48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Students will be able to establish  the equations that characterize the performance of an electric circuit as well as solving both single phase and three-phase AC circuits in sinusoidal steady state.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Students will be made aware about the electrical safety and implementation of electric wiring.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Introducing students to the areas of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basic concepts of rotating electrical machines with their applications, transducers and batteries.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Students will be able to comprehend interfacing of analog to digital and digital to analog converter with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the help of operational amplifier.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439990" y="5408024"/>
            <a:ext cx="4915398" cy="51834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dirty="0" smtClean="0">
                <a:hlinkClick r:id="rId2"/>
              </a:rPr>
              <a:t>https://in.pinterest.com/pin/240661173823316229/</a:t>
            </a:r>
            <a:endParaRPr lang="en-US" sz="2000" dirty="0"/>
          </a:p>
        </p:txBody>
      </p:sp>
      <p:pic>
        <p:nvPicPr>
          <p:cNvPr id="2447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7197" y="2511187"/>
            <a:ext cx="4948191" cy="27008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362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Content</a:t>
            </a:r>
            <a:r>
              <a:rPr lang="en-US" b="1" dirty="0" smtClean="0">
                <a:latin typeface="Casper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Casper"/>
              </a:rPr>
              <a:t>  </a:t>
            </a:r>
            <a:endParaRPr lang="en-US" b="1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Introduction to alternating quantity?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Generation of ac sinusoidal.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Average value of alternating quantity.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RMS value of alternating quantity.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Difference average value and </a:t>
            </a:r>
            <a:r>
              <a:rPr lang="en-IN" dirty="0" err="1" smtClean="0">
                <a:solidFill>
                  <a:prstClr val="black"/>
                </a:solidFill>
                <a:cs typeface="Times New Roman" pitchFamily="18" charset="0"/>
              </a:rPr>
              <a:t>rms</a:t>
            </a: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 value.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Concept of peak factor.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Concept of form factor.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Applications of alternating supply.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59380-2599-47D6-84E6-1897505A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87468" y="270940"/>
            <a:ext cx="104312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Introduction to Alternating Quantity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2013" y="1473954"/>
            <a:ext cx="69330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2800" b="1" dirty="0" smtClean="0"/>
              <a:t>Alternating quantity is the quantity whose magnitude changes with respect to time.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 smtClean="0"/>
              <a:t>An alternating current is produced by an electric generator. An electric generator consists of a magnet and a loop of wire which rotates in the magnetic field of the magnet.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800" dirty="0" smtClean="0"/>
              <a:t>The voltage which changes polarity at regular interval of time is known as the </a:t>
            </a:r>
            <a:r>
              <a:rPr lang="en-US" sz="2800" b="1" dirty="0" smtClean="0"/>
              <a:t>alternating</a:t>
            </a:r>
            <a:r>
              <a:rPr lang="en-US" sz="2800" dirty="0" smtClean="0"/>
              <a:t> voltage. 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-353961" y="59141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8610" name="Picture 2" descr="Alternating Current's Important Terms and Condition's Definition ...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98071" y="1659536"/>
            <a:ext cx="4129822" cy="32172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6524054" y="5295336"/>
            <a:ext cx="5667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4"/>
              </a:rPr>
              <a:t>https://www.electrical4u.net/electrical-basic/alternating-currents-important-terms-conditions-definition/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8914" y="4954132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1 Sinusoidal Signal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536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5"/>
    </mc:Choice>
    <mc:Fallback xmlns="">
      <p:transition spd="slow" advTm="89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59380-2599-47D6-84E6-1897505A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2" y="379847"/>
            <a:ext cx="105765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Generation of AC Sinusoidal Signal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353961" y="59141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77421" y="1310187"/>
            <a:ext cx="723682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For generation of ac sinusoidal we need a conductor which is placed between two magnets.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After placing conductor when alternating poles are generated in magnets.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Initially conductor is on zero state position so there will be no generation of ac sinusoidal.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Now conductor rotates with 45degree angle so it cuts the flux.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After cutting flux an emf will be generated and conductor starts rotating.</a:t>
            </a:r>
            <a:endParaRPr lang="en-US" sz="2800" dirty="0"/>
          </a:p>
        </p:txBody>
      </p:sp>
      <p:pic>
        <p:nvPicPr>
          <p:cNvPr id="67601" name="Picture 17" descr="Sinusoidal Waveform or Sine Wave in an AC Circui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18829" y="1446662"/>
            <a:ext cx="3987929" cy="338538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7618829" y="5227097"/>
            <a:ext cx="3963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hlinkClick r:id="rId4"/>
              </a:rPr>
              <a:t>https://www.electronics-tutorials.ws/accircuits/sinusoidal-waveform.html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615452" y="4885892"/>
            <a:ext cx="3587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2 Generation of Sinusoidal Signal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491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5"/>
    </mc:Choice>
    <mc:Fallback xmlns="">
      <p:transition spd="slow" advTm="89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59380-2599-47D6-84E6-1897505A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2" y="379847"/>
            <a:ext cx="105765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Generation of AC Sinusoidal Signal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353961" y="59141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3082" y="1323832"/>
            <a:ext cx="623702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Casper"/>
              </a:rPr>
              <a:t>Again it moves with 90 degree, so at that condition there will be maximum flux cutting action so maximum emf will be induced.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Casper"/>
              </a:rPr>
              <a:t>It continues again and further it reaches at point 0 then emf will be zero.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Casper"/>
              </a:rPr>
              <a:t>Now it moves in negative direction with 45 degree angle and emf will be induced so it will give negative value.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Casper"/>
              </a:rPr>
              <a:t>Hence it continues and ac sinusoidal signal will be generated.</a:t>
            </a:r>
          </a:p>
          <a:p>
            <a:pPr algn="just">
              <a:buFont typeface="Arial" pitchFamily="34" charset="0"/>
              <a:buChar char="•"/>
            </a:pPr>
            <a:endParaRPr lang="en-US" sz="2800" dirty="0"/>
          </a:p>
        </p:txBody>
      </p:sp>
      <p:pic>
        <p:nvPicPr>
          <p:cNvPr id="92162" name="Picture 2" descr="Sinusoidal Waveform or Sine Wave in an AC Circui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69535" y="1509044"/>
            <a:ext cx="4467556" cy="1881067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6689024" y="4599299"/>
            <a:ext cx="5337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hlinkClick r:id="rId4"/>
              </a:rPr>
              <a:t>https://www.electronics-tutorials.ws/accircuits/sinusoidal-waveform.html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28335" y="3889613"/>
            <a:ext cx="4990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 3 Generation of Sinusoidal signal(With different positions of conductor)  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608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5"/>
    </mc:Choice>
    <mc:Fallback xmlns="">
      <p:transition spd="slow" advTm="89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59380-2599-47D6-84E6-1897505A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2" y="379847"/>
            <a:ext cx="105765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Derivation of AC Sinusoidal Signal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353961" y="59141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3081" y="1323832"/>
            <a:ext cx="110546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>
                <a:latin typeface="Casper"/>
              </a:rPr>
              <a:t>Now the component of flux cutting alone the plane of the coil does not induce any flux in the coil. Only perpendicular component will be considered mathematically.    </a:t>
            </a:r>
          </a:p>
          <a:p>
            <a:pPr algn="just">
              <a:buFont typeface="Arial" pitchFamily="34" charset="0"/>
              <a:buChar char="•"/>
            </a:pPr>
            <a:endParaRPr lang="en-US" sz="2800" dirty="0"/>
          </a:p>
        </p:txBody>
      </p:sp>
      <p:pic>
        <p:nvPicPr>
          <p:cNvPr id="1433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19992" y="2743556"/>
            <a:ext cx="6151304" cy="3750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608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5"/>
    </mc:Choice>
    <mc:Fallback xmlns="">
      <p:transition spd="slow" advTm="89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59380-2599-47D6-84E6-1897505A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2" y="379847"/>
            <a:ext cx="105765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Derivation of AC Sinusoidal Signal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353961" y="59141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3081" y="1569491"/>
            <a:ext cx="1105468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Casper"/>
              </a:rPr>
              <a:t>Hence induced emf we can write</a:t>
            </a:r>
          </a:p>
          <a:p>
            <a:pPr algn="just"/>
            <a:r>
              <a:rPr lang="en-US" sz="2800" dirty="0" smtClean="0">
                <a:latin typeface="Casper"/>
              </a:rPr>
              <a:t>			</a:t>
            </a:r>
            <a:r>
              <a:rPr lang="en-US" sz="2800" b="1" dirty="0" smtClean="0">
                <a:latin typeface="Casper"/>
              </a:rPr>
              <a:t>	E =E</a:t>
            </a:r>
            <a:r>
              <a:rPr lang="en-US" sz="2800" b="1" baseline="-25000" dirty="0" smtClean="0">
                <a:latin typeface="Casper"/>
              </a:rPr>
              <a:t>m</a:t>
            </a:r>
            <a:r>
              <a:rPr lang="en-US" sz="2800" b="1" dirty="0" smtClean="0">
                <a:latin typeface="Casper"/>
              </a:rPr>
              <a:t> sin</a:t>
            </a:r>
            <a:r>
              <a:rPr lang="el-GR" sz="2800" b="1" dirty="0" smtClean="0">
                <a:latin typeface="Calibri"/>
                <a:cs typeface="Calibri"/>
              </a:rPr>
              <a:t>ω</a:t>
            </a:r>
            <a:r>
              <a:rPr lang="en-US" sz="2800" b="1" dirty="0" smtClean="0">
                <a:latin typeface="Calibri"/>
                <a:cs typeface="Calibri"/>
              </a:rPr>
              <a:t>t</a:t>
            </a:r>
          </a:p>
          <a:p>
            <a:pPr algn="just"/>
            <a:r>
              <a:rPr lang="en-US" sz="2800" dirty="0" smtClean="0">
                <a:latin typeface="Calibri"/>
                <a:cs typeface="Calibri"/>
              </a:rPr>
              <a:t>Where Em is maximum value of emf.</a:t>
            </a:r>
          </a:p>
          <a:p>
            <a:pPr algn="just"/>
            <a:r>
              <a:rPr lang="en-US" sz="2800" dirty="0" smtClean="0">
                <a:latin typeface="Calibri"/>
                <a:cs typeface="Calibri"/>
              </a:rPr>
              <a:t>Similarly for current we can write </a:t>
            </a:r>
          </a:p>
          <a:p>
            <a:pPr algn="just"/>
            <a:r>
              <a:rPr lang="en-US" sz="2800" dirty="0" smtClean="0">
                <a:latin typeface="Calibri"/>
                <a:cs typeface="Calibri"/>
              </a:rPr>
              <a:t>			</a:t>
            </a:r>
            <a:r>
              <a:rPr lang="en-US" sz="2800" b="1" dirty="0" smtClean="0">
                <a:latin typeface="Calibri"/>
                <a:cs typeface="Calibri"/>
              </a:rPr>
              <a:t>	I =I</a:t>
            </a:r>
            <a:r>
              <a:rPr lang="en-US" sz="2800" b="1" baseline="-25000" dirty="0" smtClean="0">
                <a:latin typeface="Calibri"/>
                <a:cs typeface="Calibri"/>
              </a:rPr>
              <a:t>m</a:t>
            </a:r>
            <a:r>
              <a:rPr lang="en-US" sz="2800" b="1" dirty="0" smtClean="0">
                <a:latin typeface="Calibri"/>
                <a:cs typeface="Calibri"/>
              </a:rPr>
              <a:t> </a:t>
            </a:r>
            <a:r>
              <a:rPr lang="en-US" sz="2800" b="1" dirty="0" smtClean="0">
                <a:latin typeface="Casper"/>
              </a:rPr>
              <a:t>sin</a:t>
            </a:r>
            <a:r>
              <a:rPr lang="el-GR" sz="2800" b="1" dirty="0" smtClean="0">
                <a:cs typeface="Calibri"/>
              </a:rPr>
              <a:t>ω</a:t>
            </a:r>
            <a:r>
              <a:rPr lang="en-US" sz="2800" b="1" dirty="0" smtClean="0">
                <a:cs typeface="Calibri"/>
              </a:rPr>
              <a:t>t</a:t>
            </a:r>
          </a:p>
          <a:p>
            <a:pPr algn="just"/>
            <a:r>
              <a:rPr lang="en-US" sz="2800" dirty="0" smtClean="0">
                <a:latin typeface="Casper"/>
                <a:cs typeface="Calibri"/>
              </a:rPr>
              <a:t>Where Im is maximum value of current.</a:t>
            </a:r>
          </a:p>
          <a:p>
            <a:pPr algn="just"/>
            <a:r>
              <a:rPr lang="en-US" sz="2800" dirty="0" smtClean="0">
                <a:latin typeface="Casper"/>
                <a:cs typeface="Calibri"/>
              </a:rPr>
              <a:t>These </a:t>
            </a:r>
            <a:r>
              <a:rPr lang="en-US" sz="2800" dirty="0" err="1" smtClean="0">
                <a:latin typeface="Casper"/>
                <a:cs typeface="Calibri"/>
              </a:rPr>
              <a:t>areb</a:t>
            </a:r>
            <a:r>
              <a:rPr lang="en-US" sz="2800" dirty="0" smtClean="0">
                <a:latin typeface="Casper"/>
                <a:cs typeface="Calibri"/>
              </a:rPr>
              <a:t> the relevant expression for ac sinusoidal signal.</a:t>
            </a:r>
            <a:endParaRPr lang="en-US" sz="2800" dirty="0" smtClean="0">
              <a:latin typeface="Casper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6081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5"/>
    </mc:Choice>
    <mc:Fallback xmlns="">
      <p:transition spd="slow" advTm="89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2" y="379847"/>
            <a:ext cx="105765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Peak Value of Alternating Quantity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4814" y="1634621"/>
            <a:ext cx="55857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The maximum value attained by an alternating quantity during one cycle is called its </a:t>
            </a:r>
            <a:r>
              <a:rPr lang="en-US" sz="2800" b="1" dirty="0" smtClean="0"/>
              <a:t>Peak value.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It is also known as the maximum value or amplitude or crest value.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The sinusoidal alternating quantity obtains its peak value at 90 degrees as shown in the figure 4.</a:t>
            </a:r>
            <a:endParaRPr lang="en-US" sz="2800" dirty="0"/>
          </a:p>
        </p:txBody>
      </p:sp>
      <p:pic>
        <p:nvPicPr>
          <p:cNvPr id="901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95603" y="1838615"/>
            <a:ext cx="4036254" cy="34157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878471" y="5691118"/>
            <a:ext cx="4088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4"/>
              </a:rPr>
              <a:t>https://www.quora.com/What-are-the-differences-between-average-RMS-and-peak-voltages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64822" y="5322628"/>
            <a:ext cx="3547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4 Peak Value of Sinusoidal Signal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1"/>
    </mc:Choice>
    <mc:Fallback xmlns="">
      <p:transition spd="slow" advTm="14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1005582" y="379848"/>
            <a:ext cx="105765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Average Value of Alternating Quantity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7393" y="1402610"/>
            <a:ext cx="66366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The average of all the instantaneous values of an alternating voltage and currents over one complete cycle is called </a:t>
            </a:r>
            <a:r>
              <a:rPr lang="en-US" sz="2800" b="1" dirty="0" smtClean="0"/>
              <a:t>Average Value.</a:t>
            </a:r>
            <a:endParaRPr lang="en-US" sz="28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If we consider symmetrical waves like sinusoidal current or voltage waveform, the positive half cycle will be exactly equal to the negative half cycle. 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Therefore, the average value over a complete cycle will be </a:t>
            </a:r>
            <a:r>
              <a:rPr lang="en-US" sz="2800" b="1" dirty="0" smtClean="0"/>
              <a:t>zero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890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0061" y="1405718"/>
            <a:ext cx="4019467" cy="36906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7356143" y="5636528"/>
            <a:ext cx="4012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4"/>
              </a:rPr>
              <a:t>https://circuitglobe.com/what-is-peak-value-average-value-and-rms-value.html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369797" y="5186148"/>
            <a:ext cx="4052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5 Average Value of Sinusoidal Signal 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75"/>
    </mc:Choice>
    <mc:Fallback xmlns="">
      <p:transition spd="slow" advTm="34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982640" y="341194"/>
            <a:ext cx="103586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Average Value of Alternating Quantity ??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1445" y="1433015"/>
            <a:ext cx="105087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smtClean="0"/>
              <a:t>Divide the positive half cycle into (</a:t>
            </a:r>
            <a:r>
              <a:rPr lang="en-US" sz="2800" i="1" dirty="0" smtClean="0"/>
              <a:t>n</a:t>
            </a:r>
            <a:r>
              <a:rPr lang="en-US" sz="2800" dirty="0" smtClean="0"/>
              <a:t>) number of equal parts as shown in the above figure</a:t>
            </a:r>
          </a:p>
          <a:p>
            <a:pPr algn="just"/>
            <a:r>
              <a:rPr lang="en-US" sz="2800" dirty="0" smtClean="0"/>
              <a:t>Let i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 i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i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…….. i</a:t>
            </a:r>
            <a:r>
              <a:rPr lang="en-US" sz="2800" baseline="-25000" dirty="0" smtClean="0"/>
              <a:t>n </a:t>
            </a:r>
            <a:r>
              <a:rPr lang="en-US" sz="2800" dirty="0" smtClean="0"/>
              <a:t>be the mid ordinates</a:t>
            </a:r>
          </a:p>
          <a:p>
            <a:pPr algn="just"/>
            <a:r>
              <a:rPr lang="en-US" sz="2800" dirty="0" smtClean="0"/>
              <a:t>The Average value of current </a:t>
            </a:r>
            <a:r>
              <a:rPr lang="en-US" sz="2800" dirty="0" err="1" smtClean="0"/>
              <a:t>I</a:t>
            </a:r>
            <a:r>
              <a:rPr lang="en-US" sz="2800" baseline="-25000" dirty="0" err="1" smtClean="0"/>
              <a:t>av</a:t>
            </a:r>
            <a:r>
              <a:rPr lang="en-US" sz="2800" dirty="0" smtClean="0"/>
              <a:t> = mean of the mid ordinates</a:t>
            </a:r>
          </a:p>
          <a:p>
            <a:pPr algn="just"/>
            <a:r>
              <a:rPr lang="en-US" sz="2800" dirty="0" smtClean="0">
                <a:hlinkClick r:id="rId3"/>
              </a:rPr>
              <a:t/>
            </a:r>
            <a:br>
              <a:rPr lang="en-US" sz="2800" dirty="0" smtClean="0">
                <a:hlinkClick r:id="rId3"/>
              </a:rPr>
            </a:br>
            <a:endParaRPr lang="en-US" sz="2800" dirty="0"/>
          </a:p>
        </p:txBody>
      </p:sp>
      <p:pic>
        <p:nvPicPr>
          <p:cNvPr id="88066" name="Picture 2" descr="PEAK-VALUE-EQ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62548" y="3693947"/>
            <a:ext cx="6060815" cy="1055474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2"/>
    </mc:Choice>
    <mc:Fallback xmlns="">
      <p:transition spd="slow" advTm="712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982640" y="341194"/>
            <a:ext cx="103586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Average Value of Alternating Quantity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020" y="1388962"/>
            <a:ext cx="881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23581" y="1392073"/>
            <a:ext cx="90621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The average value of a sinusoid signal is the integral of the sine wave over one full cycle.  This is always equal to zero.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The average value of a sinusoid signal the over half cycle can be calculated as follows:</a:t>
            </a:r>
          </a:p>
          <a:p>
            <a:pPr algn="just">
              <a:buFont typeface="Arial" pitchFamily="34" charset="0"/>
              <a:buChar char="•"/>
            </a:pPr>
            <a:endParaRPr lang="en-US" sz="2800" dirty="0" smtClean="0"/>
          </a:p>
        </p:txBody>
      </p:sp>
      <p:pic>
        <p:nvPicPr>
          <p:cNvPr id="13824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8535" y="3606635"/>
            <a:ext cx="5194964" cy="2830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0"/>
    </mc:Choice>
    <mc:Fallback xmlns="">
      <p:transition spd="slow" advTm="9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982640" y="341194"/>
            <a:ext cx="103586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RMS Value of Alternating Quantity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88020" y="1388962"/>
            <a:ext cx="881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54841" y="1164134"/>
            <a:ext cx="588218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The RMS value is defined as the square root of mean of square of instantaneous values. It is also known as effective value of the signal.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It is the steady state current which when flows through a known resistance produces the same amount of heat as produced by alternating current flowing through the same resistor for same period of time.</a:t>
            </a:r>
          </a:p>
          <a:p>
            <a:pPr algn="just"/>
            <a:endParaRPr lang="en-US" sz="2800" dirty="0" smtClean="0"/>
          </a:p>
        </p:txBody>
      </p:sp>
      <p:pic>
        <p:nvPicPr>
          <p:cNvPr id="13721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108" y="1455406"/>
            <a:ext cx="48768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0"/>
    </mc:Choice>
    <mc:Fallback xmlns="">
      <p:transition spd="slow" advTm="1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5EF6D70-D4D1-4ADE-AFFF-2133A26C9554}"/>
              </a:ext>
            </a:extLst>
          </p:cNvPr>
          <p:cNvSpPr/>
          <p:nvPr/>
        </p:nvSpPr>
        <p:spPr>
          <a:xfrm>
            <a:off x="873457" y="221818"/>
            <a:ext cx="113185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Difference Between RMS Value &amp; Average   Value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00753" y="1528549"/>
          <a:ext cx="10153934" cy="4421875"/>
        </p:xfrm>
        <a:graphic>
          <a:graphicData uri="http://schemas.openxmlformats.org/drawingml/2006/table">
            <a:tbl>
              <a:tblPr/>
              <a:tblGrid>
                <a:gridCol w="4041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012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Waveform Type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Formula for RMS Voltage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Formula for </a:t>
                      </a:r>
                      <a:r>
                        <a:rPr lang="en-US" sz="2800" b="1" dirty="0" err="1">
                          <a:solidFill>
                            <a:srgbClr val="FFFFFF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Avg</a:t>
                      </a: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 Voltage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Sine Wave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RMS</a:t>
                      </a: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 = </a:t>
                      </a:r>
                      <a:r>
                        <a:rPr lang="en-US" sz="2800" b="1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lang="en-US" sz="2800" b="1" dirty="0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√2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Avg</a:t>
                      </a: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 = 0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Full rectified wave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RMS</a:t>
                      </a: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 = </a:t>
                      </a:r>
                      <a:r>
                        <a:rPr lang="en-US" sz="2800" b="1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lang="en-US" sz="2800" b="1" dirty="0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√2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Avg</a:t>
                      </a: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 = 0.637 </a:t>
                      </a:r>
                      <a:r>
                        <a:rPr lang="en-US" sz="2800" b="1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2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Half rectified wave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RMS</a:t>
                      </a: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 = </a:t>
                      </a:r>
                      <a:r>
                        <a:rPr lang="en-US" sz="2800" b="1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</a:t>
                      </a:r>
                      <a:r>
                        <a:rPr lang="en-US" sz="2800" b="1" dirty="0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/2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Avg</a:t>
                      </a:r>
                      <a:r>
                        <a:rPr lang="en-US" sz="2800" b="1" dirty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 = 0.318 </a:t>
                      </a:r>
                      <a:r>
                        <a:rPr lang="en-US" sz="2800" b="1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V</a:t>
                      </a:r>
                      <a:r>
                        <a:rPr lang="en-US" sz="2800" b="1" baseline="-25000" dirty="0" err="1" smtClean="0">
                          <a:solidFill>
                            <a:srgbClr val="2C2F34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m</a:t>
                      </a:r>
                      <a:endParaRPr lang="en-US" sz="28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074452" y="6127845"/>
            <a:ext cx="8152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Table 1.1 Comparison between RMS value and Average Value of different waveforms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8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6"/>
    </mc:Choice>
    <mc:Fallback xmlns="">
      <p:transition spd="slow" advTm="376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982640" y="341194"/>
            <a:ext cx="103586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Form Factor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8336" y="1378424"/>
            <a:ext cx="63227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The ratio of the root mean square value to the average value of an alternating quantity (current or voltage) is called </a:t>
            </a:r>
            <a:r>
              <a:rPr lang="en-US" sz="2800" b="1" dirty="0" smtClean="0"/>
              <a:t>Form Factor. 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The average of all the instantaneous values of current and voltage over one complete cycle is known as the </a:t>
            </a:r>
            <a:r>
              <a:rPr lang="en-US" sz="2800" b="1" dirty="0" smtClean="0"/>
              <a:t>average value</a:t>
            </a:r>
            <a:r>
              <a:rPr lang="en-US" sz="2800" dirty="0" smtClean="0"/>
              <a:t> of the alternating quantities. </a:t>
            </a:r>
            <a:endParaRPr lang="en-US" sz="2800" dirty="0"/>
          </a:p>
        </p:txBody>
      </p:sp>
      <p:pic>
        <p:nvPicPr>
          <p:cNvPr id="79874" name="Picture 2" descr="form-factor-eq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66058" y="1941984"/>
            <a:ext cx="3922339" cy="883101"/>
          </a:xfrm>
          <a:prstGeom prst="rect">
            <a:avLst/>
          </a:prstGeom>
          <a:noFill/>
        </p:spPr>
      </p:pic>
      <p:pic>
        <p:nvPicPr>
          <p:cNvPr id="79876" name="Picture 4" descr="form-factor-eq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8513" y="3697381"/>
            <a:ext cx="5038725" cy="1257301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2"/>
    </mc:Choice>
    <mc:Fallback xmlns="">
      <p:transition spd="slow" advTm="9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982640" y="341194"/>
            <a:ext cx="103586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Peak Factor 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8336" y="1378424"/>
            <a:ext cx="63227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b="1" dirty="0" smtClean="0"/>
              <a:t>Peak Factor </a:t>
            </a:r>
            <a:r>
              <a:rPr lang="en-US" sz="2800" dirty="0" smtClean="0"/>
              <a:t>is defined as the ratio of maximum value to the R.M.S value of an alternating quantity.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The alternating quantities can be voltage or current. 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The maximum value is the</a:t>
            </a:r>
            <a:r>
              <a:rPr lang="en-US" sz="2800" b="1" dirty="0" smtClean="0"/>
              <a:t> peak value</a:t>
            </a:r>
            <a:r>
              <a:rPr lang="en-US" sz="2800" dirty="0" smtClean="0"/>
              <a:t> or the </a:t>
            </a:r>
            <a:r>
              <a:rPr lang="en-US" sz="2800" b="1" dirty="0" smtClean="0"/>
              <a:t>crest value</a:t>
            </a:r>
            <a:r>
              <a:rPr lang="en-US" sz="2800" dirty="0" smtClean="0"/>
              <a:t> or the amplitude of the voltage or current.</a:t>
            </a:r>
            <a:endParaRPr lang="en-US" sz="2800" dirty="0"/>
          </a:p>
        </p:txBody>
      </p:sp>
      <p:pic>
        <p:nvPicPr>
          <p:cNvPr id="101378" name="Picture 2" descr="peak-factor-eq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6184" y="2301898"/>
            <a:ext cx="3286125" cy="790576"/>
          </a:xfrm>
          <a:prstGeom prst="rect">
            <a:avLst/>
          </a:prstGeom>
          <a:noFill/>
        </p:spPr>
      </p:pic>
      <p:pic>
        <p:nvPicPr>
          <p:cNvPr id="101380" name="Picture 4" descr="peak-factor-eq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61342" y="3798035"/>
            <a:ext cx="4772025" cy="1019176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2"/>
    </mc:Choice>
    <mc:Fallback xmlns="">
      <p:transition spd="slow" advTm="9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982640" y="341194"/>
            <a:ext cx="103586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spc="-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Times New Roman" pitchFamily="18" charset="0"/>
              </a:rPr>
              <a:t>Applications of Alternating Supply</a:t>
            </a:r>
            <a:endParaRPr lang="en-IN" sz="44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020" y="1388961"/>
            <a:ext cx="881990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/>
              <a:t>Uses for transformers.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Uses for generator.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Uses for home appliances.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Uses for power distribution system.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Uses for electric motors.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3"/>
    </mc:Choice>
    <mc:Fallback xmlns="">
      <p:transition spd="slow" advTm="8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alternating quantity.</a:t>
            </a:r>
          </a:p>
          <a:p>
            <a:r>
              <a:rPr lang="en-US" dirty="0" smtClean="0"/>
              <a:t>Generation of ac sinusoidal signal.</a:t>
            </a:r>
          </a:p>
          <a:p>
            <a:r>
              <a:rPr lang="en-US" dirty="0" smtClean="0"/>
              <a:t>RMS and average value of quantity.</a:t>
            </a:r>
          </a:p>
          <a:p>
            <a:r>
              <a:rPr lang="en-US" dirty="0" smtClean="0"/>
              <a:t>Concept of peak factor.</a:t>
            </a:r>
          </a:p>
          <a:p>
            <a:r>
              <a:rPr lang="en-US" dirty="0" smtClean="0"/>
              <a:t>Concept of form factor.</a:t>
            </a:r>
          </a:p>
          <a:p>
            <a:r>
              <a:rPr lang="en-US" dirty="0" smtClean="0"/>
              <a:t>Applications of alternating quantity.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+mn-lt"/>
              </a:rPr>
              <a:t>Practice Questions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552" y="1498078"/>
            <a:ext cx="10515600" cy="4351338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dirty="0" smtClean="0"/>
              <a:t>Section-A</a:t>
            </a:r>
          </a:p>
          <a:p>
            <a:pPr algn="just">
              <a:buNone/>
            </a:pPr>
            <a:r>
              <a:rPr lang="en-US" sz="2400" dirty="0" smtClean="0"/>
              <a:t>All questions are compulsory, Each question carry 2 marks</a:t>
            </a:r>
          </a:p>
          <a:p>
            <a:pPr algn="just">
              <a:buNone/>
            </a:pPr>
            <a:r>
              <a:rPr lang="en-US" sz="2400" dirty="0" smtClean="0"/>
              <a:t>1(a).Define RMS value of signal with example.</a:t>
            </a:r>
          </a:p>
          <a:p>
            <a:pPr algn="just">
              <a:buNone/>
            </a:pPr>
            <a:r>
              <a:rPr lang="en-US" sz="2400" dirty="0" smtClean="0"/>
              <a:t>  (b).Define Peak Factor with example.</a:t>
            </a:r>
          </a:p>
          <a:p>
            <a:pPr algn="ctr">
              <a:buNone/>
            </a:pPr>
            <a:r>
              <a:rPr lang="en-US" dirty="0" smtClean="0"/>
              <a:t>Section-B</a:t>
            </a:r>
          </a:p>
          <a:p>
            <a:pPr algn="just">
              <a:buNone/>
            </a:pPr>
            <a:r>
              <a:rPr lang="en-US" sz="2400" dirty="0" smtClean="0"/>
              <a:t>Each question carry 10 marks.</a:t>
            </a:r>
          </a:p>
          <a:p>
            <a:pPr algn="just">
              <a:buNone/>
            </a:pPr>
            <a:r>
              <a:rPr lang="en-US" sz="2400" dirty="0" smtClean="0"/>
              <a:t>2(a).Derive the expression for RMS and Average value of half wave rectifier   waveform.     </a:t>
            </a:r>
          </a:p>
          <a:p>
            <a:pPr algn="just">
              <a:buNone/>
            </a:pPr>
            <a:r>
              <a:rPr lang="en-US" sz="2400" dirty="0" smtClean="0"/>
              <a:t>  (b).Differentiate Peak Factor and Form Factor with an example.</a:t>
            </a:r>
          </a:p>
          <a:p>
            <a:pPr algn="just">
              <a:buNone/>
            </a:pPr>
            <a:r>
              <a:rPr lang="en-US" sz="2400" dirty="0" smtClean="0"/>
              <a:t>3. How to generate a sinusoidal signal ?                          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"/>
    </mc:Choice>
    <mc:Fallback xmlns="">
      <p:transition spd="slow" advTm="382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1" y="1028702"/>
            <a:ext cx="5778499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 smtClean="0">
                <a:cs typeface="Times New Roman" pitchFamily="18" charset="0"/>
              </a:rPr>
              <a:t>Students would be able to understand</a:t>
            </a:r>
            <a:endParaRPr lang="en-IN" sz="2800" dirty="0">
              <a:cs typeface="Times New Roman" pitchFamily="18" charset="0"/>
            </a:endParaRPr>
          </a:p>
          <a:p>
            <a:r>
              <a:rPr lang="en-US" sz="2800" dirty="0" smtClean="0"/>
              <a:t>Concept </a:t>
            </a:r>
            <a:r>
              <a:rPr lang="en-US" sz="2800" dirty="0"/>
              <a:t>of </a:t>
            </a:r>
            <a:r>
              <a:rPr lang="en-US" sz="2800" dirty="0" smtClean="0"/>
              <a:t>ac sinusoidal generation.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 smtClean="0"/>
              <a:t>Fundamentals of form factor and peak factor.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 smtClean="0"/>
              <a:t>Concepts of average value and rms value of ac sinusoidal.</a:t>
            </a:r>
            <a:endParaRPr lang="en-US" sz="2800" dirty="0"/>
          </a:p>
          <a:p>
            <a:endParaRPr lang="en-US" sz="2800" dirty="0">
              <a:cs typeface="Times New Roman" pitchFamily="18" charset="0"/>
            </a:endParaRPr>
          </a:p>
          <a:p>
            <a:endParaRPr lang="en-US" sz="2800" dirty="0"/>
          </a:p>
          <a:p>
            <a:endParaRPr lang="en-US" sz="2800" dirty="0" smtClean="0"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2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3949" y="1681522"/>
            <a:ext cx="4456567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  <a:ea typeface="Karla" pitchFamily="2" charset="0"/>
                <a:cs typeface="Karla" pitchFamily="2" charset="0"/>
              </a:rPr>
              <a:t>LEARNING OUTCOMES</a:t>
            </a:r>
            <a: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511627"/>
            <a:ext cx="5867400" cy="5836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7" y="6324602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1"/>
            <a:ext cx="812800" cy="97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Course Outcome to Program Outcome Relationship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24747" y="2207630"/>
          <a:ext cx="8242666" cy="3500846"/>
        </p:xfrm>
        <a:graphic>
          <a:graphicData uri="http://schemas.openxmlformats.org/drawingml/2006/table">
            <a:tbl>
              <a:tblPr/>
              <a:tblGrid>
                <a:gridCol w="71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9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60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22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3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29823"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(20ELT-111)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BEEE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PO→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648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CO↓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PO4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PO5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PO6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PO7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PO8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PO9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CO4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5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Assessment Pattern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46352"/>
            <a:ext cx="10696303" cy="4940939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0711" y="1968136"/>
          <a:ext cx="10855229" cy="21159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937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A</a:t>
                      </a:r>
                    </a:p>
                    <a:p>
                      <a:pPr algn="ctr"/>
                      <a:r>
                        <a:rPr lang="en-US" dirty="0" smtClean="0"/>
                        <a:t>Assignment (each assignment)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B</a:t>
                      </a:r>
                    </a:p>
                    <a:p>
                      <a:pPr algn="ctr"/>
                      <a:r>
                        <a:rPr lang="en-US" dirty="0" smtClean="0"/>
                        <a:t>Time Bound Surprise</a:t>
                      </a:r>
                      <a:r>
                        <a:rPr lang="en-US" baseline="0" dirty="0" smtClean="0"/>
                        <a:t> Test (each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</a:p>
                    <a:p>
                      <a:pPr algn="ctr"/>
                      <a:r>
                        <a:rPr lang="en-US" dirty="0" smtClean="0"/>
                        <a:t>Quiz (each quiz)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D</a:t>
                      </a:r>
                    </a:p>
                    <a:p>
                      <a:pPr algn="ctr"/>
                      <a:r>
                        <a:rPr lang="en-US" dirty="0" smtClean="0"/>
                        <a:t>Mid</a:t>
                      </a:r>
                      <a:r>
                        <a:rPr lang="en-US" baseline="0" dirty="0" smtClean="0"/>
                        <a:t> Semester Test(one per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E</a:t>
                      </a:r>
                    </a:p>
                    <a:p>
                      <a:pPr algn="ctr"/>
                      <a:r>
                        <a:rPr lang="en-US" dirty="0" smtClean="0"/>
                        <a:t>Homework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F</a:t>
                      </a:r>
                    </a:p>
                    <a:p>
                      <a:pPr algn="ctr"/>
                      <a:r>
                        <a:rPr lang="en-US" dirty="0" smtClean="0"/>
                        <a:t>Discussion Forums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Attendance and  engagement Score on BB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A15EE-0A3C-40D5-AF2A-141D30A2BC71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518616" y="1374122"/>
            <a:ext cx="10331354" cy="5215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Books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Bhattacharya,S.K (2011).Basic Electrical  and Electronics Engineering. Pearson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u="sng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Nagrath</a:t>
            </a:r>
            <a:r>
              <a:rPr lang="en-US" sz="28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(2001</a:t>
            </a:r>
            <a:r>
              <a:rPr lang="en-US" sz="28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).Basic Electrical </a:t>
            </a:r>
            <a:r>
              <a:rPr lang="en-US" sz="2800" u="sng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Engineering. McGraw-Hill </a:t>
            </a:r>
            <a:r>
              <a:rPr lang="en-US" sz="2800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Education(India) Pvt. Ltd.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u="sng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Weblinks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circuitglobe.com/what-is-peak-value-average-value-and-rms-value.html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dirty="0">
                <a:hlinkClick r:id="rId3"/>
              </a:rPr>
              <a:t>https://</a:t>
            </a:r>
            <a:r>
              <a:rPr lang="en-US" sz="2800" dirty="0" smtClean="0">
                <a:hlinkClick r:id="rId3"/>
              </a:rPr>
              <a:t>www.electricaltechnology.org/2019/05/rms-value-average-value-peak-value-instantiations-value-form-factor-peak-factor.html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77316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"/>
    </mc:Choice>
    <mc:Fallback xmlns="">
      <p:transition spd="slow" advTm="318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612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5734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</a:t>
            </a:r>
            <a:r>
              <a:rPr lang="en-US">
                <a:latin typeface="Casper" panose="02000506000000020004" pitchFamily="2" charset="0"/>
                <a:cs typeface="Segoe UI" panose="020B0502040204020203" pitchFamily="34" charset="0"/>
              </a:rPr>
              <a:t>: </a:t>
            </a:r>
            <a:r>
              <a:rPr lang="en-US" smtClean="0">
                <a:latin typeface="Casper" panose="02000506000000020004" pitchFamily="2" charset="0"/>
                <a:cs typeface="Segoe UI" panose="020B0502040204020203" pitchFamily="34" charset="0"/>
              </a:rPr>
              <a:t>Shikha.e12701@cumail.in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"/>
    </mc:Choice>
    <mc:Fallback xmlns="">
      <p:transition spd="slow" advTm="34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1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1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|0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1|0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1|0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|0.2"/>
</p:tagLst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A9A8516-9EAC-49C5-A758-47C938E4E810}" vid="{5DBAC271-29B9-4910-AA8E-68B6400F28BB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9490</TotalTime>
  <Words>1327</Words>
  <Application>Microsoft Office PowerPoint</Application>
  <PresentationFormat>Widescreen</PresentationFormat>
  <Paragraphs>311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Arial</vt:lpstr>
      <vt:lpstr>Arial Black</vt:lpstr>
      <vt:lpstr>Arial Unicode MS</vt:lpstr>
      <vt:lpstr>Calibri</vt:lpstr>
      <vt:lpstr>Calibri Light</vt:lpstr>
      <vt:lpstr>Casper</vt:lpstr>
      <vt:lpstr>Karla</vt:lpstr>
      <vt:lpstr>Raavi</vt:lpstr>
      <vt:lpstr>Raleway ExtraBold</vt:lpstr>
      <vt:lpstr>Segoe UI</vt:lpstr>
      <vt:lpstr>Times New Roman</vt:lpstr>
      <vt:lpstr>Wingdings</vt:lpstr>
      <vt:lpstr>Theme1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Content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Practice Questions</vt:lpstr>
      <vt:lpstr>LEARNING OUTCOMES </vt:lpstr>
      <vt:lpstr>Course Outcome to Program Outcome Relationship</vt:lpstr>
      <vt:lpstr>Assessment Pattern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vishalsharma21287@outlook.com</dc:creator>
  <cp:lastModifiedBy>INDIAN</cp:lastModifiedBy>
  <cp:revision>321</cp:revision>
  <dcterms:created xsi:type="dcterms:W3CDTF">2019-05-13T15:39:39Z</dcterms:created>
  <dcterms:modified xsi:type="dcterms:W3CDTF">2023-06-20T09:22:16Z</dcterms:modified>
</cp:coreProperties>
</file>