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7"/>
  </p:notesMasterIdLst>
  <p:handoutMasterIdLst>
    <p:handoutMasterId r:id="rId38"/>
  </p:handoutMasterIdLst>
  <p:sldIdLst>
    <p:sldId id="387" r:id="rId3"/>
    <p:sldId id="401" r:id="rId4"/>
    <p:sldId id="391" r:id="rId5"/>
    <p:sldId id="392" r:id="rId6"/>
    <p:sldId id="402" r:id="rId7"/>
    <p:sldId id="326" r:id="rId8"/>
    <p:sldId id="327" r:id="rId9"/>
    <p:sldId id="380" r:id="rId10"/>
    <p:sldId id="368" r:id="rId11"/>
    <p:sldId id="369" r:id="rId12"/>
    <p:sldId id="370" r:id="rId13"/>
    <p:sldId id="371" r:id="rId14"/>
    <p:sldId id="372" r:id="rId15"/>
    <p:sldId id="373" r:id="rId16"/>
    <p:sldId id="375" r:id="rId17"/>
    <p:sldId id="376" r:id="rId18"/>
    <p:sldId id="388" r:id="rId19"/>
    <p:sldId id="377" r:id="rId20"/>
    <p:sldId id="378" r:id="rId21"/>
    <p:sldId id="379" r:id="rId22"/>
    <p:sldId id="382" r:id="rId23"/>
    <p:sldId id="383" r:id="rId24"/>
    <p:sldId id="384" r:id="rId25"/>
    <p:sldId id="385" r:id="rId26"/>
    <p:sldId id="403" r:id="rId27"/>
    <p:sldId id="399" r:id="rId28"/>
    <p:sldId id="389" r:id="rId29"/>
    <p:sldId id="393" r:id="rId30"/>
    <p:sldId id="397" r:id="rId31"/>
    <p:sldId id="394" r:id="rId32"/>
    <p:sldId id="396" r:id="rId33"/>
    <p:sldId id="400" r:id="rId34"/>
    <p:sldId id="386" r:id="rId35"/>
    <p:sldId id="39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103" autoAdjust="0"/>
    <p:restoredTop sz="94660" autoAdjust="0"/>
  </p:normalViewPr>
  <p:slideViewPr>
    <p:cSldViewPr snapToGrid="0">
      <p:cViewPr varScale="1">
        <p:scale>
          <a:sx n="73" d="100"/>
          <a:sy n="73" d="100"/>
        </p:scale>
        <p:origin x="576" y="7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6/20/2023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6/20/2023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6/20/2023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quora.com/What-are-the-differences-between-a-circuit-and-an-electric-circuit" TargetMode="Externa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quora.com/What-are-the-differences-between-a-circuit-and-an-electric-circuit" TargetMode="Externa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in.pinterest.com/pin/240661173823316229/" TargetMode="Externa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circuitglobe.com/what-is-kirchhoffs-current-law-and-kirchhoffs-voltage-law.html" TargetMode="Externa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circuitglobe.com/what-is-kirchhoffs-current-law-and-kirchhoffs-voltage-law.html" TargetMode="Externa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circuitglobe.com/what-is-kirchhoffs-current-law-and-kirchhoffs-voltage-law.html" TargetMode="Externa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circuitglobe.com/what-is-kirchhoffs-current-law-and-kirchhoffs-voltage-law.html" TargetMode="External"/><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study.com/academy/lesson/kirchhoffs-law-definition-application.html" TargetMode="External"/><Relationship Id="rId2" Type="http://schemas.openxmlformats.org/officeDocument/2006/relationships/hyperlink" Target="https://circuitglobe.com/what-is-kirchhoffs-current-law-and-kirchhoffs-voltage-law.html" TargetMode="External"/><Relationship Id="rId1" Type="http://schemas.openxmlformats.org/officeDocument/2006/relationships/slideLayout" Target="../slideLayouts/slideLayout2.xml"/><Relationship Id="rId5" Type="http://schemas.openxmlformats.org/officeDocument/2006/relationships/hyperlink" Target="https://www.khanacademy.org/science/physics/circuits-topic/circuits-resistance/a/ee-kirchhoffs-laws" TargetMode="External"/><Relationship Id="rId4" Type="http://schemas.openxmlformats.org/officeDocument/2006/relationships/hyperlink" Target="https://www.student-circuit.com/learning/year2/electronic-circuits/kirchhoffs-law-application-circuits-analysis/" TargetMode="Externa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494804" y="4023363"/>
          <a:ext cx="2631143" cy="2507676"/>
        </p:xfrm>
        <a:graphic>
          <a:graphicData uri="http://schemas.openxmlformats.org/presentationml/2006/ole">
            <mc:AlternateContent xmlns:mc="http://schemas.openxmlformats.org/markup-compatibility/2006">
              <mc:Choice xmlns:v="urn:schemas-microsoft-com:vml" Requires="v">
                <p:oleObj spid="_x0000_s129036" name="CorelDRAW" r:id="rId3" imgW="2169000" imgH="2169360" progId="">
                  <p:embed/>
                </p:oleObj>
              </mc:Choice>
              <mc:Fallback>
                <p:oleObj name="CorelDRAW" r:id="rId3" imgW="2169000" imgH="2169360" progId="">
                  <p:embed/>
                  <p:pic>
                    <p:nvPicPr>
                      <p:cNvPr id="0" name="Picture 2"/>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494804" y="4023363"/>
                        <a:ext cx="2631143" cy="25076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5" cstate="print">
            <a:extLst>
              <a:ext uri="{BEBA8EAE-BF5A-486C-A8C5-ECC9F3942E4B}">
                <a14:imgProps xmlns:a14="http://schemas.microsoft.com/office/drawing/2010/main">
                  <a14:imgLayer r:embed="rId6">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1410788" y="1646700"/>
            <a:ext cx="9235441" cy="5416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UIE </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UNIT-1 </a:t>
            </a:r>
          </a:p>
          <a:p>
            <a:pPr lvl="0"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Subject Name Introduction Electrical &amp; Electronics Engineering </a:t>
            </a:r>
          </a:p>
          <a:p>
            <a:pPr lvl="0"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Subject Code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23ECH-101</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Prepared By</a:t>
            </a:r>
          </a:p>
          <a:p>
            <a:pPr lvl="0"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Dr. Shikha</a:t>
            </a:r>
          </a:p>
          <a:p>
            <a:pPr lvl="0"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Unit-1 Chapter-1</a:t>
            </a:r>
          </a:p>
          <a:p>
            <a:pPr lvl="0" algn="ctr" defTabSz="622300">
              <a:lnSpc>
                <a:spcPct val="90000"/>
              </a:lnSpc>
              <a:spcBef>
                <a:spcPct val="0"/>
              </a:spcBef>
              <a:spcAft>
                <a:spcPct val="35000"/>
              </a:spcAft>
            </a:pPr>
            <a:r>
              <a:rPr lang="en-IN" sz="2400" b="1" dirty="0"/>
              <a:t>Basics of Electrical &amp; Electronics Circuit</a:t>
            </a:r>
          </a:p>
          <a:p>
            <a:pPr lvl="0"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Lecture No.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1.1.2</a:t>
            </a:r>
            <a:r>
              <a:rPr lang="en-US" sz="2400" b="1" dirty="0" smtClean="0">
                <a:solidFill>
                  <a:prstClr val="black">
                    <a:lumMod val="85000"/>
                    <a:lumOff val="15000"/>
                  </a:prstClr>
                </a:solidFill>
                <a:latin typeface="Times New Roman" panose="02020603050405020304" pitchFamily="18" charset="0"/>
                <a:cs typeface="Times New Roman" panose="02020603050405020304" pitchFamily="18" charset="0"/>
              </a:rPr>
              <a:t>	</a:t>
            </a:r>
            <a:r>
              <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rPr>
              <a:t>				</a:t>
            </a: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smtClean="0">
                <a:latin typeface="Casper"/>
              </a:rPr>
              <a:t>Lecture Objectives</a:t>
            </a:r>
            <a:endParaRPr lang="en-US" sz="4400" b="1" dirty="0">
              <a:latin typeface="Casper"/>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p14="http://schemas.microsoft.com/office/powerpoint/2010/main" val="1091665859"/>
              </p:ext>
            </p:extLst>
          </p:nvPr>
        </p:nvGraphicFramePr>
        <p:xfrm>
          <a:off x="282009" y="2226080"/>
          <a:ext cx="6536802" cy="3968322"/>
        </p:xfrm>
        <a:graphic>
          <a:graphicData uri="http://schemas.openxmlformats.org/drawingml/2006/table">
            <a:tbl>
              <a:tblPr firstRow="1" firstCol="1" bandRow="1"/>
              <a:tblGrid>
                <a:gridCol w="556819">
                  <a:extLst>
                    <a:ext uri="{9D8B030D-6E8A-4147-A177-3AD203B41FA5}">
                      <a16:colId xmlns:a16="http://schemas.microsoft.com/office/drawing/2014/main" val="20000"/>
                    </a:ext>
                  </a:extLst>
                </a:gridCol>
                <a:gridCol w="5979983">
                  <a:extLst>
                    <a:ext uri="{9D8B030D-6E8A-4147-A177-3AD203B41FA5}">
                      <a16:colId xmlns:a16="http://schemas.microsoft.com/office/drawing/2014/main" val="20001"/>
                    </a:ext>
                  </a:extLst>
                </a:gridCol>
              </a:tblGrid>
              <a:tr h="608316">
                <a:tc>
                  <a:txBody>
                    <a:bodyPr/>
                    <a:lstStyle/>
                    <a:p>
                      <a:pPr algn="ctr" fontAlgn="ctr"/>
                      <a:r>
                        <a:rPr lang="en-US" sz="1200" b="1" i="0" u="none" strike="noStrike" dirty="0" smtClean="0">
                          <a:solidFill>
                            <a:srgbClr val="000000"/>
                          </a:solidFill>
                          <a:effectLst/>
                          <a:latin typeface="+mn-lt"/>
                        </a:rPr>
                        <a:t>S. No.</a:t>
                      </a:r>
                      <a:endParaRPr lang="en-US" sz="1200" b="1"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dirty="0" smtClean="0">
                          <a:solidFill>
                            <a:srgbClr val="000000"/>
                          </a:solidFill>
                          <a:effectLst/>
                          <a:latin typeface="+mn-lt"/>
                        </a:rPr>
                        <a:t>Objectives</a:t>
                      </a:r>
                      <a:endParaRPr lang="en-US" sz="1200" b="1"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20396">
                <a:tc>
                  <a:txBody>
                    <a:bodyPr/>
                    <a:lstStyle/>
                    <a:p>
                      <a:pPr algn="ctr" fontAlgn="ctr"/>
                      <a:r>
                        <a:rPr lang="en-US" sz="1200" b="0" i="0" u="none" strike="noStrike" dirty="0" smtClean="0">
                          <a:solidFill>
                            <a:schemeClr val="tx1"/>
                          </a:solidFill>
                          <a:effectLst/>
                          <a:latin typeface="+mn-lt"/>
                        </a:rPr>
                        <a:t>1</a:t>
                      </a:r>
                      <a:endParaRPr lang="en-US" sz="1200" b="0" i="0" u="none" strike="noStrike" dirty="0">
                        <a:solidFill>
                          <a:schemeClr val="tx1"/>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smtClean="0">
                          <a:solidFill>
                            <a:schemeClr val="tx1"/>
                          </a:solidFill>
                          <a:latin typeface="+mn-lt"/>
                          <a:ea typeface="+mn-ea"/>
                          <a:cs typeface="+mn-cs"/>
                        </a:rPr>
                        <a:t>To make student</a:t>
                      </a:r>
                      <a:r>
                        <a:rPr lang="en-US" sz="1200" b="0" i="0" kern="1200" baseline="0" dirty="0" smtClean="0">
                          <a:solidFill>
                            <a:schemeClr val="tx1"/>
                          </a:solidFill>
                          <a:latin typeface="+mn-lt"/>
                          <a:ea typeface="+mn-ea"/>
                          <a:cs typeface="+mn-cs"/>
                        </a:rPr>
                        <a:t> aware about introduction to </a:t>
                      </a:r>
                      <a:r>
                        <a:rPr lang="en-US" sz="1200" b="0" i="0" kern="1200" baseline="0" dirty="0" err="1" smtClean="0">
                          <a:solidFill>
                            <a:schemeClr val="tx1"/>
                          </a:solidFill>
                          <a:latin typeface="+mn-lt"/>
                          <a:ea typeface="+mn-ea"/>
                          <a:cs typeface="+mn-cs"/>
                        </a:rPr>
                        <a:t>kirchhoff’s</a:t>
                      </a:r>
                      <a:r>
                        <a:rPr lang="en-US" sz="1200" b="0" i="0" kern="1200" baseline="0" dirty="0" smtClean="0">
                          <a:solidFill>
                            <a:schemeClr val="tx1"/>
                          </a:solidFill>
                          <a:latin typeface="+mn-lt"/>
                          <a:ea typeface="+mn-ea"/>
                          <a:cs typeface="+mn-cs"/>
                        </a:rPr>
                        <a:t> law.</a:t>
                      </a:r>
                      <a:endParaRPr lang="en-US" sz="1200" b="0" i="0" u="none" strike="noStrike" dirty="0">
                        <a:solidFill>
                          <a:schemeClr val="tx1"/>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29046">
                <a:tc>
                  <a:txBody>
                    <a:bodyPr/>
                    <a:lstStyle/>
                    <a:p>
                      <a:pPr algn="ctr" fontAlgn="ctr"/>
                      <a:r>
                        <a:rPr lang="en-US" sz="1200" b="0" i="0" u="none" strike="noStrike" dirty="0" smtClean="0">
                          <a:solidFill>
                            <a:srgbClr val="000000"/>
                          </a:solidFill>
                          <a:effectLst/>
                          <a:latin typeface="+mn-lt"/>
                        </a:rPr>
                        <a:t>2</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smtClean="0">
                          <a:solidFill>
                            <a:schemeClr val="tx1"/>
                          </a:solidFill>
                          <a:latin typeface="+mn-lt"/>
                          <a:ea typeface="+mn-ea"/>
                          <a:cs typeface="+mn-cs"/>
                        </a:rPr>
                        <a:t>To aware about</a:t>
                      </a:r>
                      <a:r>
                        <a:rPr lang="en-US" sz="1200" b="0" i="0" kern="1200" baseline="0" dirty="0" smtClean="0">
                          <a:solidFill>
                            <a:schemeClr val="tx1"/>
                          </a:solidFill>
                          <a:latin typeface="+mn-lt"/>
                          <a:ea typeface="+mn-ea"/>
                          <a:cs typeface="+mn-cs"/>
                        </a:rPr>
                        <a:t> different terms used in </a:t>
                      </a:r>
                      <a:r>
                        <a:rPr lang="en-US" sz="1200" b="0" i="0" kern="1200" baseline="0" dirty="0" err="1" smtClean="0">
                          <a:solidFill>
                            <a:schemeClr val="tx1"/>
                          </a:solidFill>
                          <a:latin typeface="+mn-lt"/>
                          <a:ea typeface="+mn-ea"/>
                          <a:cs typeface="+mn-cs"/>
                        </a:rPr>
                        <a:t>kirchhoff’s</a:t>
                      </a:r>
                      <a:r>
                        <a:rPr lang="en-US" sz="1200" b="0" i="0" kern="1200" baseline="0" dirty="0" smtClean="0">
                          <a:solidFill>
                            <a:schemeClr val="tx1"/>
                          </a:solidFill>
                          <a:latin typeface="+mn-lt"/>
                          <a:ea typeface="+mn-ea"/>
                          <a:cs typeface="+mn-cs"/>
                        </a:rPr>
                        <a:t> law</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52472">
                <a:tc>
                  <a:txBody>
                    <a:bodyPr/>
                    <a:lstStyle/>
                    <a:p>
                      <a:pPr algn="ctr" fontAlgn="ctr"/>
                      <a:r>
                        <a:rPr lang="en-US" sz="1200" b="0" i="0" u="none" strike="noStrike" dirty="0" smtClean="0">
                          <a:solidFill>
                            <a:srgbClr val="000000"/>
                          </a:solidFill>
                          <a:effectLst/>
                          <a:latin typeface="+mn-lt"/>
                        </a:rPr>
                        <a:t>3</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smtClean="0">
                          <a:solidFill>
                            <a:schemeClr val="tx1"/>
                          </a:solidFill>
                          <a:latin typeface="+mn-lt"/>
                          <a:ea typeface="+mn-ea"/>
                          <a:cs typeface="+mn-cs"/>
                        </a:rPr>
                        <a:t>To provide knowledge </a:t>
                      </a:r>
                      <a:r>
                        <a:rPr lang="en-US" sz="1200" b="0" i="0" kern="1200" dirty="0" err="1" smtClean="0">
                          <a:solidFill>
                            <a:schemeClr val="tx1"/>
                          </a:solidFill>
                          <a:latin typeface="+mn-lt"/>
                          <a:ea typeface="+mn-ea"/>
                          <a:cs typeface="+mn-cs"/>
                        </a:rPr>
                        <a:t>kirchhoff’s</a:t>
                      </a:r>
                      <a:r>
                        <a:rPr lang="en-US" sz="1200" b="0" i="0" kern="1200" dirty="0" smtClean="0">
                          <a:solidFill>
                            <a:schemeClr val="tx1"/>
                          </a:solidFill>
                          <a:latin typeface="+mn-lt"/>
                          <a:ea typeface="+mn-ea"/>
                          <a:cs typeface="+mn-cs"/>
                        </a:rPr>
                        <a:t> </a:t>
                      </a:r>
                      <a:r>
                        <a:rPr lang="en-US" sz="1200" b="0" i="0" kern="1200" baseline="0" dirty="0" smtClean="0">
                          <a:solidFill>
                            <a:schemeClr val="tx1"/>
                          </a:solidFill>
                          <a:latin typeface="+mn-lt"/>
                          <a:ea typeface="+mn-ea"/>
                          <a:cs typeface="+mn-cs"/>
                        </a:rPr>
                        <a:t> current law with examples.</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29046">
                <a:tc>
                  <a:txBody>
                    <a:bodyPr/>
                    <a:lstStyle/>
                    <a:p>
                      <a:pPr algn="ctr" fontAlgn="ctr"/>
                      <a:r>
                        <a:rPr lang="en-US" sz="1200" b="0" i="0" u="none" strike="noStrike" dirty="0" smtClean="0">
                          <a:solidFill>
                            <a:srgbClr val="000000"/>
                          </a:solidFill>
                          <a:effectLst/>
                          <a:latin typeface="+mn-lt"/>
                        </a:rPr>
                        <a:t>4</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smtClean="0">
                          <a:solidFill>
                            <a:schemeClr val="tx1"/>
                          </a:solidFill>
                          <a:latin typeface="+mn-lt"/>
                          <a:ea typeface="+mn-ea"/>
                          <a:cs typeface="+mn-cs"/>
                        </a:rPr>
                        <a:t>To provide knowledge </a:t>
                      </a:r>
                      <a:r>
                        <a:rPr lang="en-US" sz="1200" b="0" i="0" kern="1200" dirty="0" err="1" smtClean="0">
                          <a:solidFill>
                            <a:schemeClr val="tx1"/>
                          </a:solidFill>
                          <a:latin typeface="+mn-lt"/>
                          <a:ea typeface="+mn-ea"/>
                          <a:cs typeface="+mn-cs"/>
                        </a:rPr>
                        <a:t>kirchhoff’s</a:t>
                      </a:r>
                      <a:r>
                        <a:rPr lang="en-US" sz="1200" b="0" i="0" kern="1200" dirty="0" smtClean="0">
                          <a:solidFill>
                            <a:schemeClr val="tx1"/>
                          </a:solidFill>
                          <a:latin typeface="+mn-lt"/>
                          <a:ea typeface="+mn-ea"/>
                          <a:cs typeface="+mn-cs"/>
                        </a:rPr>
                        <a:t> </a:t>
                      </a:r>
                      <a:r>
                        <a:rPr lang="en-US" sz="1200" b="0" i="0" kern="1200" baseline="0" dirty="0" smtClean="0">
                          <a:solidFill>
                            <a:schemeClr val="tx1"/>
                          </a:solidFill>
                          <a:latin typeface="+mn-lt"/>
                          <a:ea typeface="+mn-ea"/>
                          <a:cs typeface="+mn-cs"/>
                        </a:rPr>
                        <a:t>  voltage law with examples.</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29046">
                <a:tc>
                  <a:txBody>
                    <a:bodyPr/>
                    <a:lstStyle/>
                    <a:p>
                      <a:pPr algn="ctr" fontAlgn="ctr"/>
                      <a:r>
                        <a:rPr lang="en-US" sz="1200" b="0" i="0" u="none" strike="noStrike" dirty="0" smtClean="0">
                          <a:solidFill>
                            <a:srgbClr val="000000"/>
                          </a:solidFill>
                          <a:effectLst/>
                          <a:latin typeface="+mn-lt"/>
                        </a:rPr>
                        <a:t>5</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rtl="0"/>
                      <a:r>
                        <a:rPr lang="en-US" sz="1200" b="0" i="0" kern="1200" dirty="0" smtClean="0">
                          <a:solidFill>
                            <a:schemeClr val="tx1"/>
                          </a:solidFill>
                          <a:latin typeface="+mn-lt"/>
                          <a:ea typeface="+mn-ea"/>
                          <a:cs typeface="+mn-cs"/>
                        </a:rPr>
                        <a:t>To give applications of </a:t>
                      </a:r>
                      <a:r>
                        <a:rPr lang="en-US" sz="1200" b="0" i="0" kern="1200" dirty="0" err="1" smtClean="0">
                          <a:solidFill>
                            <a:schemeClr val="tx1"/>
                          </a:solidFill>
                          <a:latin typeface="+mn-lt"/>
                          <a:ea typeface="+mn-ea"/>
                          <a:cs typeface="+mn-cs"/>
                        </a:rPr>
                        <a:t>kirchhoff’s</a:t>
                      </a:r>
                      <a:r>
                        <a:rPr lang="en-US" sz="1200" b="0" i="0" kern="1200" baseline="0" dirty="0" smtClean="0">
                          <a:solidFill>
                            <a:schemeClr val="tx1"/>
                          </a:solidFill>
                          <a:latin typeface="+mn-lt"/>
                          <a:ea typeface="+mn-ea"/>
                          <a:cs typeface="+mn-cs"/>
                        </a:rPr>
                        <a:t> law.</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Content Placeholder 6"/>
          <p:cNvSpPr>
            <a:spLocks noGrp="1"/>
          </p:cNvSpPr>
          <p:nvPr>
            <p:ph idx="1"/>
          </p:nvPr>
        </p:nvSpPr>
        <p:spPr>
          <a:xfrm>
            <a:off x="7093130" y="5251268"/>
            <a:ext cx="4428309" cy="609781"/>
          </a:xfrm>
        </p:spPr>
        <p:txBody>
          <a:bodyPr>
            <a:normAutofit fontScale="62500" lnSpcReduction="20000"/>
          </a:bodyPr>
          <a:lstStyle/>
          <a:p>
            <a:pPr algn="just">
              <a:buNone/>
            </a:pPr>
            <a:r>
              <a:rPr lang="en-US" sz="2500" dirty="0" smtClean="0">
                <a:hlinkClick r:id="rId2"/>
              </a:rPr>
              <a:t>https://www.quora.com/What-are-the-differences-between-a-circuit-and-an-electric-circuit</a:t>
            </a:r>
            <a:endParaRPr lang="en-US" sz="2500" dirty="0"/>
          </a:p>
        </p:txBody>
      </p:sp>
      <p:pic>
        <p:nvPicPr>
          <p:cNvPr id="245761" name="Picture 1"/>
          <p:cNvPicPr>
            <a:picLocks noChangeAspect="1" noChangeArrowheads="1"/>
          </p:cNvPicPr>
          <p:nvPr/>
        </p:nvPicPr>
        <p:blipFill>
          <a:blip r:embed="rId3" cstate="print"/>
          <a:srcRect/>
          <a:stretch>
            <a:fillRect/>
          </a:stretch>
        </p:blipFill>
        <p:spPr bwMode="auto">
          <a:xfrm>
            <a:off x="7177679" y="2246810"/>
            <a:ext cx="4573586" cy="27562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180973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smtClean="0">
                <a:latin typeface="Casper"/>
              </a:rPr>
              <a:t>Course Objectives</a:t>
            </a:r>
            <a:endParaRPr lang="en-US" sz="4400" b="1" dirty="0">
              <a:latin typeface="Casper"/>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p:cNvSpPr>
            <a:spLocks noGrp="1"/>
          </p:cNvSpPr>
          <p:nvPr>
            <p:ph idx="1"/>
          </p:nvPr>
        </p:nvSpPr>
        <p:spPr>
          <a:xfrm>
            <a:off x="7093130" y="5251268"/>
            <a:ext cx="4428309" cy="609781"/>
          </a:xfrm>
        </p:spPr>
        <p:txBody>
          <a:bodyPr>
            <a:normAutofit fontScale="62500" lnSpcReduction="20000"/>
          </a:bodyPr>
          <a:lstStyle/>
          <a:p>
            <a:pPr algn="just">
              <a:buNone/>
            </a:pPr>
            <a:r>
              <a:rPr lang="en-US" sz="2500" dirty="0" smtClean="0">
                <a:hlinkClick r:id="rId2"/>
              </a:rPr>
              <a:t>https://www.quora.com/What-are-the-differences-between-a-circuit-and-an-electric-circuit</a:t>
            </a:r>
            <a:endParaRPr lang="en-US" sz="2500" dirty="0"/>
          </a:p>
        </p:txBody>
      </p:sp>
      <p:pic>
        <p:nvPicPr>
          <p:cNvPr id="245761" name="Picture 1"/>
          <p:cNvPicPr>
            <a:picLocks noChangeAspect="1" noChangeArrowheads="1"/>
          </p:cNvPicPr>
          <p:nvPr/>
        </p:nvPicPr>
        <p:blipFill>
          <a:blip r:embed="rId3" cstate="print"/>
          <a:srcRect/>
          <a:stretch>
            <a:fillRect/>
          </a:stretch>
        </p:blipFill>
        <p:spPr bwMode="auto">
          <a:xfrm>
            <a:off x="7177679" y="2246810"/>
            <a:ext cx="4573586" cy="27562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aphicFrame>
        <p:nvGraphicFramePr>
          <p:cNvPr id="2" name="Table 1"/>
          <p:cNvGraphicFramePr>
            <a:graphicFrameLocks noGrp="1"/>
          </p:cNvGraphicFramePr>
          <p:nvPr>
            <p:extLst>
              <p:ext uri="{D42A27DB-BD31-4B8C-83A1-F6EECF244321}">
                <p14:modId xmlns:p14="http://schemas.microsoft.com/office/powerpoint/2010/main" val="3055513784"/>
              </p:ext>
            </p:extLst>
          </p:nvPr>
        </p:nvGraphicFramePr>
        <p:xfrm>
          <a:off x="339634" y="2246810"/>
          <a:ext cx="6466117" cy="4077789"/>
        </p:xfrm>
        <a:graphic>
          <a:graphicData uri="http://schemas.openxmlformats.org/drawingml/2006/table">
            <a:tbl>
              <a:tblPr firstRow="1" firstCol="1" bandRow="1"/>
              <a:tblGrid>
                <a:gridCol w="574845">
                  <a:extLst>
                    <a:ext uri="{9D8B030D-6E8A-4147-A177-3AD203B41FA5}">
                      <a16:colId xmlns:a16="http://schemas.microsoft.com/office/drawing/2014/main" val="3080897661"/>
                    </a:ext>
                  </a:extLst>
                </a:gridCol>
                <a:gridCol w="5891272">
                  <a:extLst>
                    <a:ext uri="{9D8B030D-6E8A-4147-A177-3AD203B41FA5}">
                      <a16:colId xmlns:a16="http://schemas.microsoft.com/office/drawing/2014/main" val="1984539727"/>
                    </a:ext>
                  </a:extLst>
                </a:gridCol>
              </a:tblGrid>
              <a:tr h="748981">
                <a:tc>
                  <a:txBody>
                    <a:bodyPr/>
                    <a:lstStyle/>
                    <a:p>
                      <a:pPr algn="ctr" fontAlgn="ctr"/>
                      <a:r>
                        <a:rPr lang="en-US" sz="2000" b="1" i="0" u="none" strike="noStrike" dirty="0" smtClean="0">
                          <a:solidFill>
                            <a:srgbClr val="000000"/>
                          </a:solidFill>
                          <a:effectLst/>
                          <a:latin typeface="Times New Roman" panose="02020603050405020304" pitchFamily="18" charset="0"/>
                          <a:cs typeface="Times New Roman" panose="02020603050405020304" pitchFamily="18" charset="0"/>
                        </a:rPr>
                        <a:t>S. No.</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000" b="1" i="0" u="none" strike="noStrike" dirty="0" smtClean="0">
                          <a:solidFill>
                            <a:srgbClr val="000000"/>
                          </a:solidFill>
                          <a:effectLst/>
                          <a:latin typeface="Times New Roman" panose="02020603050405020304" pitchFamily="18" charset="0"/>
                          <a:cs typeface="Times New Roman" panose="02020603050405020304" pitchFamily="18" charset="0"/>
                        </a:rPr>
                        <a:t>Objectives</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8009442"/>
                  </a:ext>
                </a:extLst>
              </a:tr>
              <a:tr h="1109603">
                <a:tc>
                  <a:txBody>
                    <a:bodyPr/>
                    <a:lstStyle/>
                    <a:p>
                      <a:pPr algn="ctr" fontAlgn="ctr"/>
                      <a:r>
                        <a:rPr lang="en-US" sz="1200" b="0" i="0" u="none" strike="noStrike" dirty="0" smtClean="0">
                          <a:solidFill>
                            <a:schemeClr val="tx1"/>
                          </a:solidFill>
                          <a:effectLst/>
                          <a:latin typeface="+mn-lt"/>
                        </a:rPr>
                        <a:t>1</a:t>
                      </a:r>
                      <a:endParaRPr lang="en-US" sz="1200" b="0" i="0" u="none" strike="noStrike" dirty="0">
                        <a:solidFill>
                          <a:schemeClr val="tx1"/>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indent="0" algn="l" defTabSz="914400" rtl="0" eaLnBrk="1" latinLnBrk="0" hangingPunct="1">
                        <a:lnSpc>
                          <a:spcPct val="150000"/>
                        </a:lnSpc>
                        <a:buSzPts val="1200"/>
                        <a:buFont typeface="Times New Roman" panose="02020603050405020304" pitchFamily="18" charset="0"/>
                        <a:buNone/>
                        <a:tabLst>
                          <a:tab pos="461010" algn="l"/>
                        </a:tabLst>
                      </a:pPr>
                      <a:r>
                        <a:rPr lang="en-US"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Understand Electrical &amp; Electronics Engineering Fundamentals</a:t>
                      </a:r>
                      <a:r>
                        <a:rPr lang="en-US" sz="2000" kern="1200" spc="-5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IN" sz="2000" kern="1200" spc="-5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13447269"/>
                  </a:ext>
                </a:extLst>
              </a:tr>
              <a:tr h="2219205">
                <a:tc>
                  <a:txBody>
                    <a:bodyPr/>
                    <a:lstStyle/>
                    <a:p>
                      <a:pPr algn="ctr" fontAlgn="ctr"/>
                      <a:r>
                        <a:rPr lang="en-US" sz="1200" b="0" i="0" u="none" strike="noStrike" dirty="0" smtClean="0">
                          <a:solidFill>
                            <a:srgbClr val="000000"/>
                          </a:solidFill>
                          <a:effectLst/>
                          <a:latin typeface="+mn-lt"/>
                        </a:rPr>
                        <a:t>2</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indent="0" algn="l" defTabSz="914400" rtl="0" eaLnBrk="1" latinLnBrk="0" hangingPunct="1">
                        <a:lnSpc>
                          <a:spcPct val="150000"/>
                        </a:lnSpc>
                        <a:buSzPts val="1200"/>
                        <a:buFont typeface="Times New Roman" panose="02020603050405020304" pitchFamily="18" charset="0"/>
                        <a:buNone/>
                        <a:tabLst>
                          <a:tab pos="461010" algn="l"/>
                        </a:tabLst>
                      </a:pPr>
                      <a:endParaRPr lang="en-US"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p>
                      <a:pPr marL="0" lvl="0" indent="0" algn="l" defTabSz="914400" rtl="0" eaLnBrk="1" latinLnBrk="0" hangingPunct="1">
                        <a:lnSpc>
                          <a:spcPct val="150000"/>
                        </a:lnSpc>
                        <a:buSzPts val="1200"/>
                        <a:buFont typeface="Times New Roman" panose="02020603050405020304" pitchFamily="18" charset="0"/>
                        <a:buNone/>
                        <a:tabLst>
                          <a:tab pos="461010" algn="l"/>
                        </a:tabLst>
                      </a:pPr>
                      <a:r>
                        <a:rPr lang="en-IN"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To prepare students to perform the analysis and design of various Electrical &amp; digital electronic circuits.</a:t>
                      </a:r>
                      <a:endParaRPr lang="en-US"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p>
                      <a:pPr marL="0" lvl="0" indent="0" algn="l" defTabSz="914400" rtl="0" eaLnBrk="1" latinLnBrk="0" hangingPunct="1">
                        <a:lnSpc>
                          <a:spcPct val="150000"/>
                        </a:lnSpc>
                        <a:buSzPts val="1200"/>
                        <a:buFont typeface="Times New Roman" panose="02020603050405020304" pitchFamily="18" charset="0"/>
                        <a:buNone/>
                        <a:tabLst>
                          <a:tab pos="461010" algn="l"/>
                        </a:tabLst>
                      </a:pPr>
                      <a:r>
                        <a:rPr lang="en-US"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2510273"/>
                  </a:ext>
                </a:extLst>
              </a:tr>
            </a:tbl>
          </a:graphicData>
        </a:graphic>
      </p:graphicFrame>
    </p:spTree>
    <p:extLst>
      <p:ext uri="{BB962C8B-B14F-4D97-AF65-F5344CB8AC3E}">
        <p14:creationId xmlns:p14="http://schemas.microsoft.com/office/powerpoint/2010/main" val="40180973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4</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smtClean="0">
                <a:latin typeface="Casper"/>
              </a:rPr>
              <a:t>Course Outcomes</a:t>
            </a:r>
            <a:endParaRPr lang="en-US" sz="4400" b="1" dirty="0">
              <a:latin typeface="Casper"/>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p:cNvSpPr>
            <a:spLocks noGrp="1"/>
          </p:cNvSpPr>
          <p:nvPr>
            <p:ph idx="1"/>
          </p:nvPr>
        </p:nvSpPr>
        <p:spPr>
          <a:xfrm>
            <a:off x="6439990" y="5408024"/>
            <a:ext cx="4915398" cy="518341"/>
          </a:xfrm>
        </p:spPr>
        <p:txBody>
          <a:bodyPr>
            <a:normAutofit fontScale="92500" lnSpcReduction="20000"/>
          </a:bodyPr>
          <a:lstStyle/>
          <a:p>
            <a:pPr>
              <a:buNone/>
            </a:pPr>
            <a:r>
              <a:rPr lang="en-US" sz="2000" dirty="0" smtClean="0">
                <a:hlinkClick r:id="rId2"/>
              </a:rPr>
              <a:t>https://in.pinterest.com/pin/240661173823316229/</a:t>
            </a:r>
            <a:endParaRPr lang="en-US" sz="2000" dirty="0"/>
          </a:p>
        </p:txBody>
      </p:sp>
      <p:pic>
        <p:nvPicPr>
          <p:cNvPr id="244737" name="Picture 1"/>
          <p:cNvPicPr>
            <a:picLocks noChangeAspect="1" noChangeArrowheads="1"/>
          </p:cNvPicPr>
          <p:nvPr/>
        </p:nvPicPr>
        <p:blipFill>
          <a:blip r:embed="rId3" cstate="print"/>
          <a:srcRect/>
          <a:stretch>
            <a:fillRect/>
          </a:stretch>
        </p:blipFill>
        <p:spPr bwMode="auto">
          <a:xfrm>
            <a:off x="6407197" y="1188723"/>
            <a:ext cx="4808897" cy="40233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aphicFrame>
        <p:nvGraphicFramePr>
          <p:cNvPr id="2" name="Table 1"/>
          <p:cNvGraphicFramePr>
            <a:graphicFrameLocks noGrp="1"/>
          </p:cNvGraphicFramePr>
          <p:nvPr>
            <p:extLst>
              <p:ext uri="{D42A27DB-BD31-4B8C-83A1-F6EECF244321}">
                <p14:modId xmlns:p14="http://schemas.microsoft.com/office/powerpoint/2010/main" val="3926669230"/>
              </p:ext>
            </p:extLst>
          </p:nvPr>
        </p:nvGraphicFramePr>
        <p:xfrm>
          <a:off x="222068" y="1825626"/>
          <a:ext cx="6008914" cy="4154327"/>
        </p:xfrm>
        <a:graphic>
          <a:graphicData uri="http://schemas.openxmlformats.org/drawingml/2006/table">
            <a:tbl>
              <a:tblPr firstRow="1" firstCol="1" bandRow="1"/>
              <a:tblGrid>
                <a:gridCol w="488238">
                  <a:extLst>
                    <a:ext uri="{9D8B030D-6E8A-4147-A177-3AD203B41FA5}">
                      <a16:colId xmlns:a16="http://schemas.microsoft.com/office/drawing/2014/main" val="2042859055"/>
                    </a:ext>
                  </a:extLst>
                </a:gridCol>
                <a:gridCol w="4716693">
                  <a:extLst>
                    <a:ext uri="{9D8B030D-6E8A-4147-A177-3AD203B41FA5}">
                      <a16:colId xmlns:a16="http://schemas.microsoft.com/office/drawing/2014/main" val="1284875083"/>
                    </a:ext>
                  </a:extLst>
                </a:gridCol>
                <a:gridCol w="803983">
                  <a:extLst>
                    <a:ext uri="{9D8B030D-6E8A-4147-A177-3AD203B41FA5}">
                      <a16:colId xmlns:a16="http://schemas.microsoft.com/office/drawing/2014/main" val="3876467562"/>
                    </a:ext>
                  </a:extLst>
                </a:gridCol>
              </a:tblGrid>
              <a:tr h="556379">
                <a:tc>
                  <a:txBody>
                    <a:bodyPr/>
                    <a:lstStyle/>
                    <a:p>
                      <a:pPr algn="ctr" fontAlgn="ctr"/>
                      <a:r>
                        <a:rPr lang="en-US" sz="1200" b="1" i="0" u="none" strike="noStrike" dirty="0">
                          <a:solidFill>
                            <a:srgbClr val="000000"/>
                          </a:solidFill>
                          <a:effectLst/>
                          <a:latin typeface="+mn-lt"/>
                        </a:rPr>
                        <a:t>CO Number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dirty="0">
                          <a:solidFill>
                            <a:srgbClr val="000000"/>
                          </a:solidFill>
                          <a:effectLst/>
                          <a:latin typeface="+mn-lt"/>
                        </a:rPr>
                        <a:t>Title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mn-lt"/>
                        </a:rPr>
                        <a:t>Level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5563576"/>
                  </a:ext>
                </a:extLst>
              </a:tr>
              <a:tr h="750352">
                <a:tc>
                  <a:txBody>
                    <a:bodyPr/>
                    <a:lstStyle/>
                    <a:p>
                      <a:pPr marL="0" marR="53975" algn="ctr">
                        <a:lnSpc>
                          <a:spcPct val="107000"/>
                        </a:lnSpc>
                        <a:spcBef>
                          <a:spcPts val="0"/>
                        </a:spcBef>
                        <a:spcAft>
                          <a:spcPts val="0"/>
                        </a:spcAft>
                      </a:pPr>
                      <a:r>
                        <a:rPr lang="en-IN" sz="1200" dirty="0">
                          <a:effectLst/>
                          <a:latin typeface="Times New Roman" panose="02020603050405020304" pitchFamily="18" charset="0"/>
                          <a:ea typeface="Times New Roman" panose="02020603050405020304" pitchFamily="18" charset="0"/>
                          <a:cs typeface="Raavi"/>
                        </a:rPr>
                        <a:t>CO1</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identify the different types of electrical elements and the basic op-amp circuit elements and to illustrate the various types of motors, transducers. </a:t>
                      </a:r>
                      <a:endParaRPr lang="en-US" sz="1600" dirty="0">
                        <a:effectLst/>
                        <a:latin typeface="Calibri" panose="020F0502020204030204" pitchFamily="34" charset="0"/>
                        <a:cs typeface="Raavi"/>
                      </a:endParaRPr>
                    </a:p>
                    <a:p>
                      <a:pPr marL="0" marR="0" algn="just">
                        <a:lnSpc>
                          <a:spcPct val="107000"/>
                        </a:lnSpc>
                        <a:spcBef>
                          <a:spcPts val="0"/>
                        </a:spcBef>
                        <a:spcAft>
                          <a:spcPts val="0"/>
                        </a:spcAft>
                      </a:pPr>
                      <a:r>
                        <a:rPr lang="en-IN" sz="1200" dirty="0">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chemeClr val="tx1"/>
                          </a:solidFill>
                          <a:effectLst/>
                          <a:latin typeface="Times New Roman" panose="02020603050405020304" pitchFamily="18" charset="0"/>
                          <a:cs typeface="Times New Roman" panose="02020603050405020304" pitchFamily="18" charset="0"/>
                        </a:rPr>
                        <a:t>Remember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3910071"/>
                  </a:ext>
                </a:extLst>
              </a:tr>
              <a:tr h="800283">
                <a:tc>
                  <a:txBody>
                    <a:bodyPr/>
                    <a:lstStyle/>
                    <a:p>
                      <a:pPr marL="0" marR="53975" algn="ctr">
                        <a:lnSpc>
                          <a:spcPct val="107000"/>
                        </a:lnSpc>
                        <a:spcBef>
                          <a:spcPts val="0"/>
                        </a:spcBef>
                        <a:spcAft>
                          <a:spcPts val="0"/>
                        </a:spcAft>
                      </a:pPr>
                      <a:r>
                        <a:rPr lang="en-IN" sz="1200">
                          <a:effectLst/>
                          <a:latin typeface="Times New Roman" panose="02020603050405020304" pitchFamily="18" charset="0"/>
                          <a:ea typeface="Times New Roman" panose="02020603050405020304" pitchFamily="18" charset="0"/>
                          <a:cs typeface="Raavi"/>
                        </a:rPr>
                        <a:t>CO2</a:t>
                      </a:r>
                      <a:endParaRPr lang="en-US" sz="160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understand basic principles of transformers, transducers, op-amps, DC and AC motors and to compare the different methods for analysing electrical and magnetic circuits.</a:t>
                      </a:r>
                      <a:endParaRPr lang="en-US" sz="1600" dirty="0">
                        <a:effectLst/>
                        <a:latin typeface="Calibri" panose="020F0502020204030204" pitchFamily="34" charset="0"/>
                        <a:cs typeface="Raavi"/>
                      </a:endParaRPr>
                    </a:p>
                    <a:p>
                      <a:pPr marL="0" marR="0" algn="just">
                        <a:lnSpc>
                          <a:spcPct val="107000"/>
                        </a:lnSpc>
                        <a:spcBef>
                          <a:spcPts val="0"/>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Understand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24806456"/>
                  </a:ext>
                </a:extLst>
              </a:tr>
              <a:tr h="596765">
                <a:tc>
                  <a:txBody>
                    <a:bodyPr/>
                    <a:lstStyle/>
                    <a:p>
                      <a:pPr marL="0" marR="53975" algn="ctr">
                        <a:lnSpc>
                          <a:spcPct val="107000"/>
                        </a:lnSpc>
                        <a:spcBef>
                          <a:spcPts val="0"/>
                        </a:spcBef>
                        <a:spcAft>
                          <a:spcPts val="0"/>
                        </a:spcAft>
                      </a:pPr>
                      <a:r>
                        <a:rPr lang="en-IN" sz="1200">
                          <a:effectLst/>
                          <a:latin typeface="Times New Roman" panose="02020603050405020304" pitchFamily="18" charset="0"/>
                          <a:ea typeface="Times New Roman" panose="02020603050405020304" pitchFamily="18" charset="0"/>
                          <a:cs typeface="Raavi"/>
                        </a:rPr>
                        <a:t>CO3</a:t>
                      </a:r>
                      <a:endParaRPr lang="en-US" sz="160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derive the relationships between parameters in electric and magnetic circuits and motors and to determine specifications of op-amps.</a:t>
                      </a:r>
                      <a:endParaRPr lang="en-US" sz="1600" dirty="0">
                        <a:effectLst/>
                        <a:latin typeface="Calibri" panose="020F0502020204030204" pitchFamily="34" charset="0"/>
                        <a:cs typeface="Raavi"/>
                      </a:endParaRPr>
                    </a:p>
                    <a:p>
                      <a:pPr marL="0" marR="0" indent="31115" algn="just">
                        <a:lnSpc>
                          <a:spcPct val="107000"/>
                        </a:lnSpc>
                        <a:spcBef>
                          <a:spcPts val="0"/>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Analyze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78624853"/>
                  </a:ext>
                </a:extLst>
              </a:tr>
              <a:tr h="800283">
                <a:tc>
                  <a:txBody>
                    <a:bodyPr/>
                    <a:lstStyle/>
                    <a:p>
                      <a:pPr marL="0" marR="53975" algn="ctr">
                        <a:lnSpc>
                          <a:spcPct val="107000"/>
                        </a:lnSpc>
                        <a:spcBef>
                          <a:spcPts val="0"/>
                        </a:spcBef>
                        <a:spcAft>
                          <a:spcPts val="0"/>
                        </a:spcAft>
                      </a:pPr>
                      <a:r>
                        <a:rPr lang="en-IN" sz="1200">
                          <a:effectLst/>
                          <a:latin typeface="Times New Roman" panose="02020603050405020304" pitchFamily="18" charset="0"/>
                          <a:ea typeface="Times New Roman" panose="02020603050405020304" pitchFamily="18" charset="0"/>
                          <a:cs typeface="Raavi"/>
                        </a:rPr>
                        <a:t>CO4</a:t>
                      </a:r>
                      <a:endParaRPr lang="en-US" sz="160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solve the basic problems related to electric circuits, magnetic circuits and motors and to assess the characteristics of different configurations of op-amps.</a:t>
                      </a:r>
                      <a:endParaRPr lang="en-US" sz="1600" dirty="0">
                        <a:effectLst/>
                        <a:latin typeface="Calibri" panose="020F0502020204030204" pitchFamily="34" charset="0"/>
                        <a:cs typeface="Raavi"/>
                      </a:endParaRPr>
                    </a:p>
                    <a:p>
                      <a:pPr marL="0" marR="0" algn="just">
                        <a:lnSpc>
                          <a:spcPct val="107000"/>
                        </a:lnSpc>
                        <a:spcBef>
                          <a:spcPts val="0"/>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Evaluate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2590825"/>
                  </a:ext>
                </a:extLst>
              </a:tr>
              <a:tr h="596677">
                <a:tc>
                  <a:txBody>
                    <a:bodyPr/>
                    <a:lstStyle/>
                    <a:p>
                      <a:pPr marL="0" marR="53975" algn="ctr">
                        <a:lnSpc>
                          <a:spcPct val="107000"/>
                        </a:lnSpc>
                        <a:spcBef>
                          <a:spcPts val="0"/>
                        </a:spcBef>
                        <a:spcAft>
                          <a:spcPts val="0"/>
                        </a:spcAft>
                      </a:pPr>
                      <a:r>
                        <a:rPr lang="en-IN" sz="1200" dirty="0">
                          <a:effectLst/>
                          <a:latin typeface="Times New Roman" panose="02020603050405020304" pitchFamily="18" charset="0"/>
                          <a:ea typeface="Times New Roman" panose="02020603050405020304" pitchFamily="18" charset="0"/>
                          <a:cs typeface="Raavi"/>
                        </a:rPr>
                        <a:t>CO5</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design the different applications of transducers, motors as well as the op-amps like adders, </a:t>
                      </a:r>
                      <a:r>
                        <a:rPr lang="en-IN" sz="1200" dirty="0" err="1">
                          <a:solidFill>
                            <a:srgbClr val="000000"/>
                          </a:solidFill>
                          <a:effectLst/>
                          <a:latin typeface="Times New Roman" panose="02020603050405020304" pitchFamily="18" charset="0"/>
                          <a:cs typeface="Raavi"/>
                        </a:rPr>
                        <a:t>subtractor</a:t>
                      </a:r>
                      <a:r>
                        <a:rPr lang="en-IN" sz="1200" dirty="0">
                          <a:solidFill>
                            <a:srgbClr val="000000"/>
                          </a:solidFill>
                          <a:effectLst/>
                          <a:latin typeface="Times New Roman" panose="02020603050405020304" pitchFamily="18" charset="0"/>
                          <a:cs typeface="Raavi"/>
                        </a:rPr>
                        <a:t> and comparators.</a:t>
                      </a:r>
                      <a:endParaRPr lang="en-US" sz="1600" dirty="0">
                        <a:effectLst/>
                        <a:latin typeface="Calibri" panose="020F0502020204030204" pitchFamily="34" charset="0"/>
                        <a:cs typeface="Raavi"/>
                      </a:endParaRPr>
                    </a:p>
                    <a:p>
                      <a:pPr marL="0" marR="0" indent="-31115" algn="just">
                        <a:lnSpc>
                          <a:spcPct val="107000"/>
                        </a:lnSpc>
                        <a:spcBef>
                          <a:spcPts val="0"/>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Create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97900002"/>
                  </a:ext>
                </a:extLst>
              </a:tr>
            </a:tbl>
          </a:graphicData>
        </a:graphic>
      </p:graphicFrame>
    </p:spTree>
    <p:extLst>
      <p:ext uri="{BB962C8B-B14F-4D97-AF65-F5344CB8AC3E}">
        <p14:creationId xmlns:p14="http://schemas.microsoft.com/office/powerpoint/2010/main" val="40180973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Autofit/>
          </a:bodyPr>
          <a:lstStyle/>
          <a:p>
            <a:pPr algn="ctr"/>
            <a:r>
              <a:rPr lang="en-US" b="1" dirty="0" smtClean="0">
                <a:cs typeface="Arial" panose="020B0604020202020204" pitchFamily="34" charset="0"/>
              </a:rPr>
              <a:t>Importance of Basic Electrical &amp; Electronics Engineering</a:t>
            </a:r>
            <a:r>
              <a:rPr lang="en-US" b="1" dirty="0" smtClean="0">
                <a:latin typeface="Casper"/>
                <a:cs typeface="Arial" panose="020B0604020202020204" pitchFamily="34" charset="0"/>
              </a:rPr>
              <a:t> </a:t>
            </a:r>
            <a:r>
              <a:rPr lang="en-US" b="1" dirty="0" smtClean="0">
                <a:latin typeface="Casper"/>
              </a:rPr>
              <a:t>  </a:t>
            </a:r>
            <a:endParaRPr lang="en-US" b="1" dirty="0">
              <a:latin typeface="Casper"/>
            </a:endParaRPr>
          </a:p>
        </p:txBody>
      </p:sp>
      <p:sp>
        <p:nvSpPr>
          <p:cNvPr id="3" name="Content Placeholder 2"/>
          <p:cNvSpPr>
            <a:spLocks noGrp="1"/>
          </p:cNvSpPr>
          <p:nvPr>
            <p:ph idx="1"/>
          </p:nvPr>
        </p:nvSpPr>
        <p:spPr/>
        <p:txBody>
          <a:bodyPr>
            <a:normAutofit/>
          </a:bodyPr>
          <a:lstStyle/>
          <a:p>
            <a:pPr marL="342900" lvl="0" indent="-342900" algn="just">
              <a:lnSpc>
                <a:spcPct val="100000"/>
              </a:lnSpc>
              <a:spcBef>
                <a:spcPts val="0"/>
              </a:spcBef>
            </a:pPr>
            <a:r>
              <a:rPr lang="en-IN" dirty="0" smtClean="0">
                <a:solidFill>
                  <a:prstClr val="black"/>
                </a:solidFill>
                <a:cs typeface="Times New Roman" pitchFamily="18" charset="0"/>
              </a:rPr>
              <a:t>Use from home appliances to industrial plants. </a:t>
            </a:r>
          </a:p>
          <a:p>
            <a:pPr marL="342900" lvl="0" indent="-342900" algn="just">
              <a:lnSpc>
                <a:spcPct val="100000"/>
              </a:lnSpc>
              <a:spcBef>
                <a:spcPts val="0"/>
              </a:spcBef>
            </a:pPr>
            <a:r>
              <a:rPr lang="en-IN" dirty="0" smtClean="0">
                <a:solidFill>
                  <a:prstClr val="black"/>
                </a:solidFill>
                <a:cs typeface="Times New Roman" pitchFamily="18" charset="0"/>
              </a:rPr>
              <a:t>Usage in communication and satellite navigation system.</a:t>
            </a:r>
          </a:p>
          <a:p>
            <a:pPr marL="342900" lvl="0" indent="-342900" algn="just">
              <a:lnSpc>
                <a:spcPct val="100000"/>
              </a:lnSpc>
              <a:spcBef>
                <a:spcPts val="0"/>
              </a:spcBef>
            </a:pPr>
            <a:r>
              <a:rPr lang="en-IN" dirty="0" smtClean="0">
                <a:solidFill>
                  <a:prstClr val="black"/>
                </a:solidFill>
                <a:cs typeface="Times New Roman" pitchFamily="18" charset="0"/>
              </a:rPr>
              <a:t>Handles in electronics equipment and computers.</a:t>
            </a:r>
          </a:p>
          <a:p>
            <a:pPr marL="342900" lvl="0" indent="-342900" algn="just">
              <a:lnSpc>
                <a:spcPct val="100000"/>
              </a:lnSpc>
              <a:spcBef>
                <a:spcPts val="0"/>
              </a:spcBef>
            </a:pPr>
            <a:r>
              <a:rPr lang="en-IN" dirty="0" smtClean="0">
                <a:solidFill>
                  <a:prstClr val="black"/>
                </a:solidFill>
                <a:cs typeface="Times New Roman" pitchFamily="18" charset="0"/>
              </a:rPr>
              <a:t>Deals with the problem of power transmission and motor control.</a:t>
            </a:r>
          </a:p>
          <a:p>
            <a:pPr marL="342900" lvl="0" indent="-342900" algn="just">
              <a:lnSpc>
                <a:spcPct val="100000"/>
              </a:lnSpc>
              <a:spcBef>
                <a:spcPts val="0"/>
              </a:spcBef>
            </a:pPr>
            <a:r>
              <a:rPr lang="en-IN" dirty="0" smtClean="0">
                <a:solidFill>
                  <a:prstClr val="black"/>
                </a:solidFill>
                <a:cs typeface="Times New Roman" pitchFamily="18" charset="0"/>
              </a:rPr>
              <a:t>Control and monitor the medical appliances in hospitals.</a:t>
            </a:r>
          </a:p>
          <a:p>
            <a:pPr marL="342900" lvl="0" indent="-342900" algn="just">
              <a:lnSpc>
                <a:spcPct val="100000"/>
              </a:lnSpc>
              <a:spcBef>
                <a:spcPts val="0"/>
              </a:spcBef>
            </a:pPr>
            <a:r>
              <a:rPr lang="en-IN" dirty="0" smtClean="0">
                <a:solidFill>
                  <a:prstClr val="black"/>
                </a:solidFill>
                <a:cs typeface="Times New Roman" pitchFamily="18" charset="0"/>
              </a:rPr>
              <a:t>High voltage applications with heavy current.</a:t>
            </a:r>
          </a:p>
          <a:p>
            <a:pPr marL="342900" lvl="0" indent="-342900" algn="just">
              <a:lnSpc>
                <a:spcPct val="100000"/>
              </a:lnSpc>
              <a:spcBef>
                <a:spcPts val="0"/>
              </a:spcBef>
            </a:pPr>
            <a:r>
              <a:rPr lang="en-IN" dirty="0" smtClean="0">
                <a:solidFill>
                  <a:prstClr val="black"/>
                </a:solidFill>
                <a:cs typeface="Times New Roman" pitchFamily="18" charset="0"/>
              </a:rPr>
              <a:t>Robotics applications.</a:t>
            </a:r>
          </a:p>
          <a:p>
            <a:pPr marL="342900" lvl="0" indent="-342900" algn="just">
              <a:lnSpc>
                <a:spcPct val="100000"/>
              </a:lnSpc>
              <a:spcBef>
                <a:spcPts val="0"/>
              </a:spcBef>
            </a:pPr>
            <a:r>
              <a:rPr lang="en-IN" dirty="0" smtClean="0">
                <a:solidFill>
                  <a:prstClr val="black"/>
                </a:solidFill>
                <a:cs typeface="Times New Roman" pitchFamily="18" charset="0"/>
              </a:rPr>
              <a:t>Product designing and development.</a:t>
            </a:r>
          </a:p>
          <a:p>
            <a:pPr marL="342900" lvl="0" indent="-342900">
              <a:lnSpc>
                <a:spcPct val="100000"/>
              </a:lnSpc>
              <a:spcBef>
                <a:spcPts val="0"/>
              </a:spcBef>
              <a:buAutoNum type="arabicPeriod"/>
            </a:pPr>
            <a:endParaRPr lang="en-IN" dirty="0" smtClean="0">
              <a:solidFill>
                <a:prstClr val="black"/>
              </a:solidFill>
              <a:latin typeface="Casper"/>
              <a:cs typeface="Times New Roman" pitchFamily="18" charset="0"/>
            </a:endParaRPr>
          </a:p>
          <a:p>
            <a:pPr marL="342900" lvl="0" indent="-342900">
              <a:lnSpc>
                <a:spcPct val="100000"/>
              </a:lnSpc>
              <a:spcBef>
                <a:spcPts val="0"/>
              </a:spcBef>
              <a:buAutoNum type="arabicPeriod"/>
            </a:pPr>
            <a:endParaRPr lang="en-IN" dirty="0" smtClean="0">
              <a:solidFill>
                <a:prstClr val="black"/>
              </a:solidFill>
              <a:latin typeface="Casper"/>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b="1" dirty="0" smtClean="0">
                <a:cs typeface="Arial" panose="020B0604020202020204" pitchFamily="34" charset="0"/>
              </a:rPr>
              <a:t>Content </a:t>
            </a:r>
            <a:r>
              <a:rPr lang="en-US" b="1" dirty="0" smtClean="0"/>
              <a:t> </a:t>
            </a:r>
            <a:r>
              <a:rPr lang="en-US" dirty="0" smtClean="0">
                <a:latin typeface="Casper"/>
              </a:rPr>
              <a:t> </a:t>
            </a:r>
            <a:endParaRPr lang="en-US" dirty="0">
              <a:latin typeface="Casper"/>
            </a:endParaRPr>
          </a:p>
        </p:txBody>
      </p:sp>
      <p:sp>
        <p:nvSpPr>
          <p:cNvPr id="3" name="Content Placeholder 2"/>
          <p:cNvSpPr>
            <a:spLocks noGrp="1"/>
          </p:cNvSpPr>
          <p:nvPr>
            <p:ph idx="1"/>
          </p:nvPr>
        </p:nvSpPr>
        <p:spPr/>
        <p:txBody>
          <a:bodyPr>
            <a:normAutofit/>
          </a:bodyPr>
          <a:lstStyle/>
          <a:p>
            <a:pPr marL="342900" lvl="0" indent="-342900">
              <a:lnSpc>
                <a:spcPct val="100000"/>
              </a:lnSpc>
              <a:spcBef>
                <a:spcPts val="0"/>
              </a:spcBef>
              <a:buAutoNum type="arabicPeriod"/>
            </a:pPr>
            <a:r>
              <a:rPr lang="en-IN" dirty="0" smtClean="0">
                <a:solidFill>
                  <a:prstClr val="black"/>
                </a:solidFill>
                <a:cs typeface="Times New Roman" pitchFamily="18" charset="0"/>
              </a:rPr>
              <a:t>Introduction to Kirchhoff’s law</a:t>
            </a:r>
          </a:p>
          <a:p>
            <a:pPr marL="342900" lvl="0" indent="-342900">
              <a:lnSpc>
                <a:spcPct val="100000"/>
              </a:lnSpc>
              <a:spcBef>
                <a:spcPts val="0"/>
              </a:spcBef>
              <a:buAutoNum type="arabicPeriod"/>
            </a:pPr>
            <a:r>
              <a:rPr lang="en-IN" dirty="0" smtClean="0">
                <a:solidFill>
                  <a:prstClr val="black"/>
                </a:solidFill>
                <a:cs typeface="Times New Roman" pitchFamily="18" charset="0"/>
              </a:rPr>
              <a:t>Different terms used in Kirchhoff’s law</a:t>
            </a:r>
          </a:p>
          <a:p>
            <a:pPr marL="342900" lvl="0" indent="-342900">
              <a:lnSpc>
                <a:spcPct val="100000"/>
              </a:lnSpc>
              <a:spcBef>
                <a:spcPts val="0"/>
              </a:spcBef>
              <a:buAutoNum type="arabicPeriod"/>
            </a:pPr>
            <a:r>
              <a:rPr lang="en-IN" dirty="0" smtClean="0">
                <a:solidFill>
                  <a:prstClr val="black"/>
                </a:solidFill>
                <a:cs typeface="Times New Roman" pitchFamily="18" charset="0"/>
              </a:rPr>
              <a:t>Kirchhoff’s current law</a:t>
            </a:r>
          </a:p>
          <a:p>
            <a:pPr marL="342900" lvl="0" indent="-342900">
              <a:lnSpc>
                <a:spcPct val="100000"/>
              </a:lnSpc>
              <a:spcBef>
                <a:spcPts val="0"/>
              </a:spcBef>
              <a:buAutoNum type="arabicPeriod"/>
            </a:pPr>
            <a:r>
              <a:rPr lang="en-IN" dirty="0" smtClean="0">
                <a:solidFill>
                  <a:prstClr val="black"/>
                </a:solidFill>
                <a:cs typeface="Times New Roman" pitchFamily="18" charset="0"/>
              </a:rPr>
              <a:t>Example based on KCL</a:t>
            </a:r>
          </a:p>
          <a:p>
            <a:pPr marL="342900" indent="-342900">
              <a:lnSpc>
                <a:spcPct val="100000"/>
              </a:lnSpc>
              <a:spcBef>
                <a:spcPts val="0"/>
              </a:spcBef>
              <a:buFont typeface="Arial" panose="020B0604020202020204" pitchFamily="34" charset="0"/>
              <a:buAutoNum type="arabicPeriod"/>
            </a:pPr>
            <a:r>
              <a:rPr lang="en-IN" dirty="0" smtClean="0">
                <a:solidFill>
                  <a:prstClr val="black"/>
                </a:solidFill>
                <a:cs typeface="Times New Roman" pitchFamily="18" charset="0"/>
              </a:rPr>
              <a:t>Kirchhoff’s voltage law</a:t>
            </a:r>
          </a:p>
          <a:p>
            <a:pPr marL="342900" lvl="0" indent="-342900">
              <a:lnSpc>
                <a:spcPct val="100000"/>
              </a:lnSpc>
              <a:spcBef>
                <a:spcPts val="0"/>
              </a:spcBef>
              <a:buFont typeface="Arial" panose="020B0604020202020204" pitchFamily="34" charset="0"/>
              <a:buAutoNum type="arabicPeriod"/>
            </a:pPr>
            <a:r>
              <a:rPr lang="en-IN" dirty="0" smtClean="0">
                <a:solidFill>
                  <a:prstClr val="black"/>
                </a:solidFill>
                <a:cs typeface="Times New Roman" pitchFamily="18" charset="0"/>
              </a:rPr>
              <a:t>Example based on KVL</a:t>
            </a:r>
          </a:p>
          <a:p>
            <a:pPr marL="342900" lvl="0" indent="-342900">
              <a:lnSpc>
                <a:spcPct val="100000"/>
              </a:lnSpc>
              <a:spcBef>
                <a:spcPts val="0"/>
              </a:spcBef>
              <a:buFont typeface="Arial" panose="020B0604020202020204" pitchFamily="34" charset="0"/>
              <a:buAutoNum type="arabicPeriod"/>
            </a:pPr>
            <a:r>
              <a:rPr lang="en-IN" dirty="0" smtClean="0">
                <a:solidFill>
                  <a:prstClr val="black"/>
                </a:solidFill>
                <a:cs typeface="Times New Roman" pitchFamily="18" charset="0"/>
              </a:rPr>
              <a:t>Difference between KVL &amp; KCL</a:t>
            </a:r>
          </a:p>
          <a:p>
            <a:pPr marL="342900" indent="-342900">
              <a:lnSpc>
                <a:spcPct val="100000"/>
              </a:lnSpc>
              <a:spcBef>
                <a:spcPts val="0"/>
              </a:spcBef>
              <a:buFont typeface="Arial" panose="020B0604020202020204" pitchFamily="34" charset="0"/>
              <a:buAutoNum type="arabicPeriod"/>
            </a:pPr>
            <a:r>
              <a:rPr lang="en-IN" dirty="0" smtClean="0">
                <a:solidFill>
                  <a:prstClr val="black"/>
                </a:solidFill>
                <a:cs typeface="Times New Roman" pitchFamily="18" charset="0"/>
              </a:rPr>
              <a:t>Applications of Kirchhoff’s Laws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IN" b="1" dirty="0" smtClean="0"/>
              <a:t>Kirchhoff’ Laws</a:t>
            </a:r>
            <a:endParaRPr lang="en-IN" b="1" dirty="0"/>
          </a:p>
        </p:txBody>
      </p:sp>
      <p:sp>
        <p:nvSpPr>
          <p:cNvPr id="3" name="Content Placeholder 2"/>
          <p:cNvSpPr>
            <a:spLocks noGrp="1"/>
          </p:cNvSpPr>
          <p:nvPr>
            <p:ph idx="1"/>
          </p:nvPr>
        </p:nvSpPr>
        <p:spPr>
          <a:xfrm>
            <a:off x="838200" y="1577431"/>
            <a:ext cx="10515600" cy="4351338"/>
          </a:xfrm>
        </p:spPr>
        <p:txBody>
          <a:bodyPr>
            <a:normAutofit/>
          </a:bodyPr>
          <a:lstStyle/>
          <a:p>
            <a:pPr marL="342900" indent="-342900" algn="just"/>
            <a:r>
              <a:rPr lang="en-US" dirty="0" smtClean="0"/>
              <a:t>In 1845, a German physicist, Gustav Kirchhoff developed a pair of laws that deal with the conservation of current and energy within electrical circuits. </a:t>
            </a:r>
          </a:p>
          <a:p>
            <a:pPr marL="342900" indent="-342900" algn="just"/>
            <a:r>
              <a:rPr lang="en-US" dirty="0" smtClean="0"/>
              <a:t>These two laws are commonly known as Kirchhoff’s Voltage Law and Kirchhoff’s Current Law.</a:t>
            </a:r>
          </a:p>
          <a:p>
            <a:pPr marL="342900" indent="-342900" algn="just"/>
            <a:r>
              <a:rPr lang="en-US" dirty="0" smtClean="0"/>
              <a:t>These laws help in calculating the electrical resistance of a complex network or impedance in case of AC and the current flow in different streams of the network. </a:t>
            </a:r>
            <a:endParaRPr lang="en-IN" dirty="0">
              <a:latin typeface="Casper"/>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Tree>
    <p:extLst>
      <p:ext uri="{BB962C8B-B14F-4D97-AF65-F5344CB8AC3E}">
        <p14:creationId xmlns:p14="http://schemas.microsoft.com/office/powerpoint/2010/main" val="6049119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IN" b="1" dirty="0" smtClean="0"/>
              <a:t>Terms Used in Kirchhoff’ Laws</a:t>
            </a:r>
            <a:endParaRPr lang="en-IN" b="1" dirty="0"/>
          </a:p>
        </p:txBody>
      </p:sp>
      <p:sp>
        <p:nvSpPr>
          <p:cNvPr id="3" name="Content Placeholder 2"/>
          <p:cNvSpPr>
            <a:spLocks noGrp="1"/>
          </p:cNvSpPr>
          <p:nvPr>
            <p:ph idx="1"/>
          </p:nvPr>
        </p:nvSpPr>
        <p:spPr>
          <a:xfrm>
            <a:off x="838200" y="1708061"/>
            <a:ext cx="10515600" cy="4351338"/>
          </a:xfrm>
        </p:spPr>
        <p:txBody>
          <a:bodyPr>
            <a:normAutofit/>
          </a:bodyPr>
          <a:lstStyle/>
          <a:p>
            <a:r>
              <a:rPr lang="en-US" b="1" dirty="0" smtClean="0"/>
              <a:t>Node: </a:t>
            </a:r>
            <a:r>
              <a:rPr lang="en-US" dirty="0" smtClean="0"/>
              <a:t>A node is a point in the network or circuit where two or more circuit elements are joined.</a:t>
            </a:r>
          </a:p>
          <a:p>
            <a:r>
              <a:rPr lang="en-US" b="1" dirty="0" smtClean="0"/>
              <a:t>Junction: </a:t>
            </a:r>
            <a:r>
              <a:rPr lang="en-US" dirty="0" smtClean="0"/>
              <a:t> junction is a point in the network where three or more circuit elements are joined. It is a point where the current is divided.</a:t>
            </a:r>
          </a:p>
          <a:p>
            <a:r>
              <a:rPr lang="en-US" b="1" dirty="0" smtClean="0"/>
              <a:t>Branch: </a:t>
            </a:r>
            <a:r>
              <a:rPr lang="en-US" dirty="0" smtClean="0"/>
              <a:t>The part of a network, which lies between the two junction points is called a Branch.</a:t>
            </a:r>
          </a:p>
          <a:p>
            <a:r>
              <a:rPr lang="en-US" b="1" dirty="0" smtClean="0"/>
              <a:t>Loop: </a:t>
            </a:r>
            <a:r>
              <a:rPr lang="en-US" dirty="0" smtClean="0"/>
              <a:t>A closed path of a network is called a loop.</a:t>
            </a:r>
          </a:p>
          <a:p>
            <a:r>
              <a:rPr lang="en-US" b="1" dirty="0" smtClean="0"/>
              <a:t>Mesh: </a:t>
            </a:r>
            <a:r>
              <a:rPr lang="en-US" dirty="0" smtClean="0"/>
              <a:t>The most elementary form of a loop which cannot be further divided is called a mesh.</a:t>
            </a:r>
          </a:p>
          <a:p>
            <a:endParaRPr lang="en-US" sz="24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Tree>
    <p:extLst>
      <p:ext uri="{BB962C8B-B14F-4D97-AF65-F5344CB8AC3E}">
        <p14:creationId xmlns:p14="http://schemas.microsoft.com/office/powerpoint/2010/main" val="60491197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IN" b="1" dirty="0" smtClean="0"/>
              <a:t>Kirchhoff’ Current Law</a:t>
            </a:r>
            <a:endParaRPr lang="en-IN" b="1" dirty="0"/>
          </a:p>
        </p:txBody>
      </p:sp>
      <p:sp>
        <p:nvSpPr>
          <p:cNvPr id="3" name="Content Placeholder 2"/>
          <p:cNvSpPr>
            <a:spLocks noGrp="1"/>
          </p:cNvSpPr>
          <p:nvPr>
            <p:ph idx="1"/>
          </p:nvPr>
        </p:nvSpPr>
        <p:spPr/>
        <p:txBody>
          <a:bodyPr>
            <a:normAutofit/>
          </a:bodyPr>
          <a:lstStyle/>
          <a:p>
            <a:pPr marL="342900" indent="-342900" algn="just"/>
            <a:r>
              <a:rPr lang="en-US" dirty="0" smtClean="0"/>
              <a:t>Kirchhoff’s Current Law goes by several names as Kirchhoff’s First Law and Kirchhoff’s Junction Rule. </a:t>
            </a:r>
          </a:p>
          <a:p>
            <a:pPr marL="342900" indent="-342900" algn="just"/>
            <a:r>
              <a:rPr lang="en-US" dirty="0" smtClean="0"/>
              <a:t>According to the Junction rule, in a circuit, the total of the currents in a junction is equal to the sum of currents outside the junction.</a:t>
            </a:r>
          </a:p>
          <a:p>
            <a:pPr marL="342900" indent="-342900" algn="just"/>
            <a:r>
              <a:rPr lang="en-US" dirty="0" smtClean="0"/>
              <a:t>While applying the KCL the incoming current is taken as positive and the outgoing current is taken as negative. </a:t>
            </a:r>
          </a:p>
          <a:p>
            <a:pPr marL="342900" indent="-342900" algn="just"/>
            <a:r>
              <a:rPr lang="en-US" dirty="0" smtClean="0"/>
              <a:t>It determines the current flowing through each branch of the network.</a:t>
            </a:r>
            <a:endParaRPr lang="en-IN" dirty="0">
              <a:latin typeface="Casper"/>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Tree>
    <p:extLst>
      <p:ext uri="{BB962C8B-B14F-4D97-AF65-F5344CB8AC3E}">
        <p14:creationId xmlns:p14="http://schemas.microsoft.com/office/powerpoint/2010/main" val="6049119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6928"/>
            <a:ext cx="10515600" cy="1325563"/>
          </a:xfrm>
        </p:spPr>
        <p:txBody>
          <a:bodyPr>
            <a:normAutofit/>
          </a:bodyPr>
          <a:lstStyle/>
          <a:p>
            <a:pPr algn="ctr">
              <a:defRPr/>
            </a:pPr>
            <a:r>
              <a:rPr lang="en-IN" b="1" dirty="0" smtClean="0"/>
              <a:t>Kirchhoff’ Current Law</a:t>
            </a:r>
            <a:endParaRPr lang="en-IN" b="1" dirty="0"/>
          </a:p>
        </p:txBody>
      </p:sp>
      <p:sp>
        <p:nvSpPr>
          <p:cNvPr id="3" name="Content Placeholder 2"/>
          <p:cNvSpPr>
            <a:spLocks noGrp="1"/>
          </p:cNvSpPr>
          <p:nvPr>
            <p:ph idx="1"/>
          </p:nvPr>
        </p:nvSpPr>
        <p:spPr>
          <a:xfrm>
            <a:off x="851263" y="1499054"/>
            <a:ext cx="10515600" cy="4351338"/>
          </a:xfrm>
        </p:spPr>
        <p:txBody>
          <a:bodyPr>
            <a:normAutofit/>
          </a:bodyPr>
          <a:lstStyle/>
          <a:p>
            <a:pPr marL="342900" indent="-342900" algn="just"/>
            <a:r>
              <a:rPr lang="en-US" b="1" dirty="0" smtClean="0"/>
              <a:t>Kirchhoff’s Current Law</a:t>
            </a:r>
            <a:r>
              <a:rPr lang="en-US" dirty="0" smtClean="0"/>
              <a:t> states that” the algebraic sum of all the currents at any node point or a junction of a circuit is zero”.</a:t>
            </a:r>
          </a:p>
          <a:p>
            <a:pPr marL="342900" indent="-342900" algn="just">
              <a:buNone/>
            </a:pPr>
            <a:r>
              <a:rPr lang="en-US" dirty="0" smtClean="0"/>
              <a:t>						</a:t>
            </a:r>
            <a:r>
              <a:rPr lang="el-GR" dirty="0" smtClean="0"/>
              <a:t>Σ </a:t>
            </a:r>
            <a:r>
              <a:rPr lang="en-US" dirty="0" smtClean="0"/>
              <a:t>I = 0</a:t>
            </a:r>
            <a:endParaRPr lang="en-IN" dirty="0">
              <a:latin typeface="Casper"/>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pic>
        <p:nvPicPr>
          <p:cNvPr id="128003" name="Picture 3"/>
          <p:cNvPicPr>
            <a:picLocks noChangeAspect="1" noChangeArrowheads="1"/>
          </p:cNvPicPr>
          <p:nvPr/>
        </p:nvPicPr>
        <p:blipFill>
          <a:blip r:embed="rId2" cstate="print"/>
          <a:srcRect/>
          <a:stretch>
            <a:fillRect/>
          </a:stretch>
        </p:blipFill>
        <p:spPr bwMode="auto">
          <a:xfrm>
            <a:off x="4232365" y="2974329"/>
            <a:ext cx="3296333" cy="244227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p:cNvSpPr txBox="1"/>
          <p:nvPr/>
        </p:nvSpPr>
        <p:spPr>
          <a:xfrm>
            <a:off x="1985554" y="6100354"/>
            <a:ext cx="8433527" cy="369332"/>
          </a:xfrm>
          <a:prstGeom prst="rect">
            <a:avLst/>
          </a:prstGeom>
          <a:noFill/>
        </p:spPr>
        <p:txBody>
          <a:bodyPr wrap="none" rtlCol="0">
            <a:spAutoFit/>
          </a:bodyPr>
          <a:lstStyle/>
          <a:p>
            <a:r>
              <a:rPr lang="en-US" dirty="0" smtClean="0">
                <a:hlinkClick r:id="rId3"/>
              </a:rPr>
              <a:t>https://circuitglobe.com/what-is-kirchhoffs-current-law-and-kirchhoffs-voltage-law.html</a:t>
            </a:r>
            <a:endParaRPr lang="en-US" dirty="0"/>
          </a:p>
        </p:txBody>
      </p:sp>
      <p:sp>
        <p:nvSpPr>
          <p:cNvPr id="7" name="TextBox 6"/>
          <p:cNvSpPr txBox="1"/>
          <p:nvPr/>
        </p:nvSpPr>
        <p:spPr>
          <a:xfrm>
            <a:off x="5394960" y="5695406"/>
            <a:ext cx="982385" cy="369332"/>
          </a:xfrm>
          <a:prstGeom prst="rect">
            <a:avLst/>
          </a:prstGeom>
          <a:noFill/>
        </p:spPr>
        <p:txBody>
          <a:bodyPr wrap="none" rtlCol="0">
            <a:spAutoFit/>
          </a:bodyPr>
          <a:lstStyle/>
          <a:p>
            <a:r>
              <a:rPr lang="en-US" dirty="0" smtClean="0"/>
              <a:t>Fig. 1 </a:t>
            </a:r>
            <a:r>
              <a:rPr lang="en-US" dirty="0" err="1" smtClean="0"/>
              <a:t>kcl</a:t>
            </a:r>
            <a:endParaRPr lang="en-US" dirty="0"/>
          </a:p>
        </p:txBody>
      </p:sp>
    </p:spTree>
    <p:extLst>
      <p:ext uri="{BB962C8B-B14F-4D97-AF65-F5344CB8AC3E}">
        <p14:creationId xmlns:p14="http://schemas.microsoft.com/office/powerpoint/2010/main" val="6049119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3865"/>
            <a:ext cx="10515600" cy="1325563"/>
          </a:xfrm>
        </p:spPr>
        <p:txBody>
          <a:bodyPr>
            <a:normAutofit/>
          </a:bodyPr>
          <a:lstStyle/>
          <a:p>
            <a:pPr algn="ctr">
              <a:defRPr/>
            </a:pPr>
            <a:r>
              <a:rPr lang="en-IN" b="1" dirty="0" smtClean="0"/>
              <a:t>Kirchhoff’ Current Law</a:t>
            </a:r>
            <a:endParaRPr lang="en-IN" b="1" dirty="0"/>
          </a:p>
        </p:txBody>
      </p:sp>
      <p:sp>
        <p:nvSpPr>
          <p:cNvPr id="3" name="Content Placeholder 2"/>
          <p:cNvSpPr>
            <a:spLocks noGrp="1"/>
          </p:cNvSpPr>
          <p:nvPr>
            <p:ph idx="1"/>
          </p:nvPr>
        </p:nvSpPr>
        <p:spPr>
          <a:xfrm>
            <a:off x="799012" y="1485991"/>
            <a:ext cx="10515600" cy="4601300"/>
          </a:xfrm>
        </p:spPr>
        <p:txBody>
          <a:bodyPr>
            <a:normAutofit/>
          </a:bodyPr>
          <a:lstStyle/>
          <a:p>
            <a:r>
              <a:rPr lang="en-US" dirty="0" smtClean="0"/>
              <a:t>Considering the above figure as per the Kirchhoff’s Current Law:</a:t>
            </a:r>
          </a:p>
          <a:p>
            <a:pPr algn="ctr">
              <a:buNone/>
            </a:pPr>
            <a:r>
              <a:rPr lang="en-US" b="1" dirty="0" smtClean="0"/>
              <a:t>i</a:t>
            </a:r>
            <a:r>
              <a:rPr lang="en-US" b="1" baseline="-25000" dirty="0" smtClean="0"/>
              <a:t>1</a:t>
            </a:r>
            <a:r>
              <a:rPr lang="en-US" b="1" dirty="0" smtClean="0"/>
              <a:t> + i</a:t>
            </a:r>
            <a:r>
              <a:rPr lang="en-US" b="1" baseline="-25000" dirty="0" smtClean="0"/>
              <a:t>2</a:t>
            </a:r>
            <a:r>
              <a:rPr lang="en-US" b="1" dirty="0" smtClean="0"/>
              <a:t> – i</a:t>
            </a:r>
            <a:r>
              <a:rPr lang="en-US" b="1" baseline="-25000" dirty="0" smtClean="0"/>
              <a:t>3</a:t>
            </a:r>
            <a:r>
              <a:rPr lang="en-US" b="1" dirty="0" smtClean="0"/>
              <a:t> – i</a:t>
            </a:r>
            <a:r>
              <a:rPr lang="en-US" b="1" baseline="-25000" dirty="0" smtClean="0"/>
              <a:t>4</a:t>
            </a:r>
            <a:r>
              <a:rPr lang="en-US" b="1" dirty="0" smtClean="0"/>
              <a:t> – i</a:t>
            </a:r>
            <a:r>
              <a:rPr lang="en-US" b="1" baseline="-25000" dirty="0" smtClean="0"/>
              <a:t>5</a:t>
            </a:r>
            <a:r>
              <a:rPr lang="en-US" b="1" dirty="0" smtClean="0"/>
              <a:t> + i</a:t>
            </a:r>
            <a:r>
              <a:rPr lang="en-US" b="1" baseline="-25000" dirty="0" smtClean="0"/>
              <a:t>6</a:t>
            </a:r>
            <a:r>
              <a:rPr lang="en-US" b="1" dirty="0" smtClean="0"/>
              <a:t> = 0……….(1)</a:t>
            </a:r>
          </a:p>
          <a:p>
            <a:pPr algn="just">
              <a:buNone/>
            </a:pPr>
            <a:r>
              <a:rPr lang="en-US" dirty="0" smtClean="0"/>
              <a:t>The direction of incoming currents to a node is taken as positive while the outgoing currents are taken as negative. </a:t>
            </a:r>
          </a:p>
          <a:p>
            <a:pPr algn="just">
              <a:buNone/>
            </a:pPr>
            <a:r>
              <a:rPr lang="en-US" dirty="0" smtClean="0"/>
              <a:t>The reverse of this can also be taken, i.e. incoming current as negative or outgoing as positive. It depends upon your choice.</a:t>
            </a:r>
          </a:p>
          <a:p>
            <a:pPr algn="just">
              <a:buNone/>
            </a:pPr>
            <a:r>
              <a:rPr lang="en-US" dirty="0" smtClean="0"/>
              <a:t>The equation (1) can also be written as:</a:t>
            </a:r>
            <a:endParaRPr lang="en-US" b="1" dirty="0" smtClean="0"/>
          </a:p>
          <a:p>
            <a:pPr algn="ctr">
              <a:buNone/>
            </a:pPr>
            <a:r>
              <a:rPr lang="en-US" b="1" dirty="0" smtClean="0"/>
              <a:t>i</a:t>
            </a:r>
            <a:r>
              <a:rPr lang="en-US" b="1" baseline="-25000" dirty="0" smtClean="0"/>
              <a:t>1</a:t>
            </a:r>
            <a:r>
              <a:rPr lang="en-US" b="1" dirty="0" smtClean="0"/>
              <a:t> + i</a:t>
            </a:r>
            <a:r>
              <a:rPr lang="en-US" b="1" baseline="-25000" dirty="0" smtClean="0"/>
              <a:t>2</a:t>
            </a:r>
            <a:r>
              <a:rPr lang="en-US" b="1" dirty="0" smtClean="0"/>
              <a:t> + i</a:t>
            </a:r>
            <a:r>
              <a:rPr lang="en-US" b="1" baseline="-25000" dirty="0" smtClean="0"/>
              <a:t>6</a:t>
            </a:r>
            <a:r>
              <a:rPr lang="en-US" b="1" dirty="0" smtClean="0"/>
              <a:t> = i</a:t>
            </a:r>
            <a:r>
              <a:rPr lang="en-US" b="1" baseline="-25000" dirty="0" smtClean="0"/>
              <a:t>3</a:t>
            </a:r>
            <a:r>
              <a:rPr lang="en-US" b="1" dirty="0" smtClean="0"/>
              <a:t> + i</a:t>
            </a:r>
            <a:r>
              <a:rPr lang="en-US" b="1" baseline="-25000" dirty="0" smtClean="0"/>
              <a:t>4</a:t>
            </a:r>
            <a:r>
              <a:rPr lang="en-US" b="1" dirty="0" smtClean="0"/>
              <a:t> + i</a:t>
            </a:r>
            <a:r>
              <a:rPr lang="en-US" b="1" baseline="-25000" dirty="0" smtClean="0"/>
              <a:t>5</a:t>
            </a:r>
            <a:endParaRPr lang="en-US" dirty="0" smtClean="0"/>
          </a:p>
          <a:p>
            <a:pPr>
              <a:buNone/>
            </a:pPr>
            <a:r>
              <a:rPr lang="en-US" dirty="0" smtClean="0"/>
              <a:t>Hence      Sum of incoming currents = Sum of outgoing currents</a:t>
            </a:r>
          </a:p>
          <a:p>
            <a:pPr>
              <a:buNone/>
            </a:pPr>
            <a:endParaRPr lang="en-US" sz="2200" dirty="0" smtClean="0"/>
          </a:p>
          <a:p>
            <a:pPr marL="342900" indent="-342900" algn="just"/>
            <a:endParaRPr lang="en-IN" sz="2200" dirty="0">
              <a:latin typeface="Casper"/>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Tree>
    <p:extLst>
      <p:ext uri="{BB962C8B-B14F-4D97-AF65-F5344CB8AC3E}">
        <p14:creationId xmlns:p14="http://schemas.microsoft.com/office/powerpoint/2010/main" val="6049119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IN" b="1" dirty="0" smtClean="0"/>
              <a:t>Numerical Based on Kirchhoff’ Current Law</a:t>
            </a:r>
            <a:endParaRPr lang="en-IN" b="1" dirty="0"/>
          </a:p>
        </p:txBody>
      </p:sp>
      <p:sp>
        <p:nvSpPr>
          <p:cNvPr id="3" name="Content Placeholder 2"/>
          <p:cNvSpPr>
            <a:spLocks noGrp="1"/>
          </p:cNvSpPr>
          <p:nvPr>
            <p:ph idx="1"/>
          </p:nvPr>
        </p:nvSpPr>
        <p:spPr/>
        <p:txBody>
          <a:bodyPr>
            <a:normAutofit/>
          </a:bodyPr>
          <a:lstStyle/>
          <a:p>
            <a:endParaRPr lang="en-US" sz="2200" dirty="0" smtClean="0"/>
          </a:p>
          <a:p>
            <a:pPr marL="342900" indent="-342900" algn="just"/>
            <a:endParaRPr lang="en-IN" sz="2200" dirty="0">
              <a:latin typeface="Casper"/>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pic>
        <p:nvPicPr>
          <p:cNvPr id="135170" name="Picture 2"/>
          <p:cNvPicPr>
            <a:picLocks noChangeAspect="1" noChangeArrowheads="1"/>
          </p:cNvPicPr>
          <p:nvPr/>
        </p:nvPicPr>
        <p:blipFill>
          <a:blip r:embed="rId2" cstate="print"/>
          <a:srcRect/>
          <a:stretch>
            <a:fillRect/>
          </a:stretch>
        </p:blipFill>
        <p:spPr bwMode="auto">
          <a:xfrm>
            <a:off x="3239589" y="1492704"/>
            <a:ext cx="5708468" cy="449304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p:cNvSpPr txBox="1"/>
          <p:nvPr/>
        </p:nvSpPr>
        <p:spPr>
          <a:xfrm>
            <a:off x="4872446" y="6165668"/>
            <a:ext cx="2207527" cy="369332"/>
          </a:xfrm>
          <a:prstGeom prst="rect">
            <a:avLst/>
          </a:prstGeom>
          <a:noFill/>
        </p:spPr>
        <p:txBody>
          <a:bodyPr wrap="none" rtlCol="0">
            <a:spAutoFit/>
          </a:bodyPr>
          <a:lstStyle/>
          <a:p>
            <a:r>
              <a:rPr lang="en-US" dirty="0" smtClean="0"/>
              <a:t>Fig. 2 Example on KCL</a:t>
            </a:r>
            <a:endParaRPr lang="en-US" dirty="0"/>
          </a:p>
        </p:txBody>
      </p:sp>
    </p:spTree>
    <p:extLst>
      <p:ext uri="{BB962C8B-B14F-4D97-AF65-F5344CB8AC3E}">
        <p14:creationId xmlns:p14="http://schemas.microsoft.com/office/powerpoint/2010/main" val="60491197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IN" b="1" dirty="0" smtClean="0"/>
              <a:t>Numerical Based on Kirchhoff’ Current Law</a:t>
            </a:r>
            <a:endParaRPr lang="en-IN" b="1" dirty="0"/>
          </a:p>
        </p:txBody>
      </p:sp>
      <p:sp>
        <p:nvSpPr>
          <p:cNvPr id="3" name="Content Placeholder 2"/>
          <p:cNvSpPr>
            <a:spLocks noGrp="1"/>
          </p:cNvSpPr>
          <p:nvPr>
            <p:ph idx="1"/>
          </p:nvPr>
        </p:nvSpPr>
        <p:spPr/>
        <p:txBody>
          <a:bodyPr>
            <a:normAutofit/>
          </a:bodyPr>
          <a:lstStyle/>
          <a:p>
            <a:endParaRPr lang="en-US" sz="2200" dirty="0" smtClean="0"/>
          </a:p>
          <a:p>
            <a:pPr marL="342900" indent="-342900" algn="just"/>
            <a:endParaRPr lang="en-IN" sz="2200" dirty="0">
              <a:latin typeface="Casper"/>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pic>
        <p:nvPicPr>
          <p:cNvPr id="136194" name="Picture 2"/>
          <p:cNvPicPr>
            <a:picLocks noChangeAspect="1" noChangeArrowheads="1"/>
          </p:cNvPicPr>
          <p:nvPr/>
        </p:nvPicPr>
        <p:blipFill>
          <a:blip r:embed="rId2" cstate="print"/>
          <a:srcRect/>
          <a:stretch>
            <a:fillRect/>
          </a:stretch>
        </p:blipFill>
        <p:spPr bwMode="auto">
          <a:xfrm>
            <a:off x="3317965" y="1711234"/>
            <a:ext cx="5930537" cy="40613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p:cNvSpPr txBox="1"/>
          <p:nvPr/>
        </p:nvSpPr>
        <p:spPr>
          <a:xfrm>
            <a:off x="5225143" y="6035040"/>
            <a:ext cx="2207527" cy="369332"/>
          </a:xfrm>
          <a:prstGeom prst="rect">
            <a:avLst/>
          </a:prstGeom>
          <a:noFill/>
        </p:spPr>
        <p:txBody>
          <a:bodyPr wrap="none" rtlCol="0">
            <a:spAutoFit/>
          </a:bodyPr>
          <a:lstStyle/>
          <a:p>
            <a:r>
              <a:rPr lang="en-US" dirty="0" smtClean="0"/>
              <a:t>Fig. 3 Example on KCL</a:t>
            </a:r>
            <a:endParaRPr lang="en-US" dirty="0"/>
          </a:p>
        </p:txBody>
      </p:sp>
    </p:spTree>
    <p:extLst>
      <p:ext uri="{BB962C8B-B14F-4D97-AF65-F5344CB8AC3E}">
        <p14:creationId xmlns:p14="http://schemas.microsoft.com/office/powerpoint/2010/main" val="6049119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IN" b="1" dirty="0" smtClean="0"/>
              <a:t>Numerical Based on Kirchhoff’ Current Law</a:t>
            </a:r>
            <a:endParaRPr lang="en-IN" b="1" dirty="0"/>
          </a:p>
        </p:txBody>
      </p:sp>
      <p:sp>
        <p:nvSpPr>
          <p:cNvPr id="3" name="Content Placeholder 2"/>
          <p:cNvSpPr>
            <a:spLocks noGrp="1"/>
          </p:cNvSpPr>
          <p:nvPr>
            <p:ph idx="1"/>
          </p:nvPr>
        </p:nvSpPr>
        <p:spPr/>
        <p:txBody>
          <a:bodyPr>
            <a:normAutofit/>
          </a:bodyPr>
          <a:lstStyle/>
          <a:p>
            <a:endParaRPr lang="en-US" sz="2200" dirty="0" smtClean="0"/>
          </a:p>
          <a:p>
            <a:pPr marL="342900" indent="-342900" algn="just"/>
            <a:endParaRPr lang="en-IN" sz="2200" dirty="0">
              <a:latin typeface="Casper"/>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pic>
        <p:nvPicPr>
          <p:cNvPr id="137218" name="Picture 2"/>
          <p:cNvPicPr>
            <a:picLocks noChangeAspect="1" noChangeArrowheads="1"/>
          </p:cNvPicPr>
          <p:nvPr/>
        </p:nvPicPr>
        <p:blipFill>
          <a:blip r:embed="rId2" cstate="print"/>
          <a:srcRect/>
          <a:stretch>
            <a:fillRect/>
          </a:stretch>
        </p:blipFill>
        <p:spPr bwMode="auto">
          <a:xfrm>
            <a:off x="2364378" y="1482326"/>
            <a:ext cx="7432766" cy="432897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p:cNvSpPr txBox="1"/>
          <p:nvPr/>
        </p:nvSpPr>
        <p:spPr>
          <a:xfrm>
            <a:off x="5120640" y="6100354"/>
            <a:ext cx="2154629" cy="369332"/>
          </a:xfrm>
          <a:prstGeom prst="rect">
            <a:avLst/>
          </a:prstGeom>
          <a:noFill/>
        </p:spPr>
        <p:txBody>
          <a:bodyPr wrap="none" rtlCol="0">
            <a:spAutoFit/>
          </a:bodyPr>
          <a:lstStyle/>
          <a:p>
            <a:r>
              <a:rPr lang="en-US" dirty="0" smtClean="0"/>
              <a:t>Fig.4 Example on KCL</a:t>
            </a:r>
            <a:endParaRPr lang="en-US" dirty="0"/>
          </a:p>
        </p:txBody>
      </p:sp>
    </p:spTree>
    <p:extLst>
      <p:ext uri="{BB962C8B-B14F-4D97-AF65-F5344CB8AC3E}">
        <p14:creationId xmlns:p14="http://schemas.microsoft.com/office/powerpoint/2010/main" val="60491197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IN" b="1" dirty="0" smtClean="0"/>
              <a:t>Kirchhoff’ Voltage Law</a:t>
            </a:r>
            <a:endParaRPr lang="en-IN" b="1" dirty="0"/>
          </a:p>
        </p:txBody>
      </p:sp>
      <p:sp>
        <p:nvSpPr>
          <p:cNvPr id="3" name="Content Placeholder 2"/>
          <p:cNvSpPr>
            <a:spLocks noGrp="1"/>
          </p:cNvSpPr>
          <p:nvPr>
            <p:ph idx="1"/>
          </p:nvPr>
        </p:nvSpPr>
        <p:spPr>
          <a:xfrm>
            <a:off x="485503" y="1499050"/>
            <a:ext cx="6437811" cy="4351338"/>
          </a:xfrm>
        </p:spPr>
        <p:txBody>
          <a:bodyPr>
            <a:normAutofit/>
          </a:bodyPr>
          <a:lstStyle/>
          <a:p>
            <a:pPr marL="342900" indent="-342900" algn="just"/>
            <a:r>
              <a:rPr lang="en-US" dirty="0" smtClean="0"/>
              <a:t>It states that the algebraic sum of the voltages (or voltage drops) in any closed path of a network that is transverse in a single direction is zero. In other words, in a closed circuit, the algebraic sum of all the EMFs and the algebraic sum of all the voltage drops (product of current (I) and resistance (R) is zero.</a:t>
            </a:r>
            <a:endParaRPr lang="en-IN" dirty="0">
              <a:latin typeface="Casper"/>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6" name="Rectangle 5"/>
          <p:cNvSpPr/>
          <p:nvPr/>
        </p:nvSpPr>
        <p:spPr>
          <a:xfrm>
            <a:off x="2116182" y="4851061"/>
            <a:ext cx="2795452" cy="430887"/>
          </a:xfrm>
          <a:prstGeom prst="rect">
            <a:avLst/>
          </a:prstGeom>
        </p:spPr>
        <p:txBody>
          <a:bodyPr wrap="square">
            <a:spAutoFit/>
          </a:bodyPr>
          <a:lstStyle/>
          <a:p>
            <a:r>
              <a:rPr lang="el-GR" sz="2200" b="1" dirty="0" smtClean="0"/>
              <a:t>Σ E + Σ V = 0</a:t>
            </a:r>
            <a:endParaRPr lang="en-US" sz="2200" dirty="0"/>
          </a:p>
        </p:txBody>
      </p:sp>
      <p:pic>
        <p:nvPicPr>
          <p:cNvPr id="139267" name="Picture 3"/>
          <p:cNvPicPr>
            <a:picLocks noChangeAspect="1" noChangeArrowheads="1"/>
          </p:cNvPicPr>
          <p:nvPr/>
        </p:nvPicPr>
        <p:blipFill>
          <a:blip r:embed="rId2" cstate="print"/>
          <a:srcRect/>
          <a:stretch>
            <a:fillRect/>
          </a:stretch>
        </p:blipFill>
        <p:spPr bwMode="auto">
          <a:xfrm>
            <a:off x="7524206" y="1570014"/>
            <a:ext cx="4219574" cy="232598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Box 6"/>
          <p:cNvSpPr txBox="1"/>
          <p:nvPr/>
        </p:nvSpPr>
        <p:spPr>
          <a:xfrm>
            <a:off x="7589520" y="5120640"/>
            <a:ext cx="4181651" cy="923330"/>
          </a:xfrm>
          <a:prstGeom prst="rect">
            <a:avLst/>
          </a:prstGeom>
          <a:noFill/>
        </p:spPr>
        <p:txBody>
          <a:bodyPr wrap="square" rtlCol="0">
            <a:spAutoFit/>
          </a:bodyPr>
          <a:lstStyle/>
          <a:p>
            <a:r>
              <a:rPr lang="en-US" dirty="0" smtClean="0">
                <a:hlinkClick r:id="rId3"/>
              </a:rPr>
              <a:t>https://circuitglobe.com/what-is-kirchhoffs-current-law-and-kirchhoffs-voltage-law.html</a:t>
            </a:r>
            <a:endParaRPr lang="en-US" dirty="0"/>
          </a:p>
        </p:txBody>
      </p:sp>
      <p:sp>
        <p:nvSpPr>
          <p:cNvPr id="8" name="TextBox 7"/>
          <p:cNvSpPr txBox="1"/>
          <p:nvPr/>
        </p:nvSpPr>
        <p:spPr>
          <a:xfrm>
            <a:off x="9144001" y="4167051"/>
            <a:ext cx="994183" cy="369332"/>
          </a:xfrm>
          <a:prstGeom prst="rect">
            <a:avLst/>
          </a:prstGeom>
          <a:noFill/>
        </p:spPr>
        <p:txBody>
          <a:bodyPr wrap="none" rtlCol="0">
            <a:spAutoFit/>
          </a:bodyPr>
          <a:lstStyle/>
          <a:p>
            <a:r>
              <a:rPr lang="en-US" dirty="0" smtClean="0"/>
              <a:t>Fig. 5 </a:t>
            </a:r>
            <a:r>
              <a:rPr lang="en-US" dirty="0" err="1" smtClean="0"/>
              <a:t>kvl</a:t>
            </a:r>
            <a:endParaRPr lang="en-US" dirty="0"/>
          </a:p>
        </p:txBody>
      </p:sp>
    </p:spTree>
    <p:extLst>
      <p:ext uri="{BB962C8B-B14F-4D97-AF65-F5344CB8AC3E}">
        <p14:creationId xmlns:p14="http://schemas.microsoft.com/office/powerpoint/2010/main" val="60491197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5306"/>
            <a:ext cx="10515600" cy="1325563"/>
          </a:xfrm>
        </p:spPr>
        <p:txBody>
          <a:bodyPr>
            <a:normAutofit/>
          </a:bodyPr>
          <a:lstStyle/>
          <a:p>
            <a:pPr algn="ctr">
              <a:defRPr/>
            </a:pPr>
            <a:r>
              <a:rPr lang="en-IN" b="1" dirty="0" smtClean="0"/>
              <a:t>Kirchhoff’ Voltage Law</a:t>
            </a:r>
            <a:endParaRPr lang="en-IN" b="1" dirty="0"/>
          </a:p>
        </p:txBody>
      </p:sp>
      <p:sp>
        <p:nvSpPr>
          <p:cNvPr id="3" name="Content Placeholder 2"/>
          <p:cNvSpPr>
            <a:spLocks noGrp="1"/>
          </p:cNvSpPr>
          <p:nvPr>
            <p:ph idx="1"/>
          </p:nvPr>
        </p:nvSpPr>
        <p:spPr>
          <a:xfrm>
            <a:off x="838200" y="1655806"/>
            <a:ext cx="10515600" cy="4351338"/>
          </a:xfrm>
        </p:spPr>
        <p:txBody>
          <a:bodyPr>
            <a:noAutofit/>
          </a:bodyPr>
          <a:lstStyle/>
          <a:p>
            <a:pPr marL="342900" indent="-342900" algn="just"/>
            <a:r>
              <a:rPr lang="en-US" dirty="0" smtClean="0"/>
              <a:t>In any closed path (or circuit) in a network, the algebraic sum of the IR product is equal to the EMF in that path.</a:t>
            </a:r>
          </a:p>
          <a:p>
            <a:pPr marL="342900" indent="-342900" algn="just"/>
            <a:r>
              <a:rPr lang="en-US" dirty="0" smtClean="0"/>
              <a:t>In other words, in any closed loop (which also known as Mesh), the algebraic sum of the EMF applied is equal to the algebraic sum of the voltage drops in the elements. Kirchhoff’s second law is also known as Voltage Law or Mesh law.</a:t>
            </a:r>
            <a:br>
              <a:rPr lang="en-US" dirty="0" smtClean="0"/>
            </a:br>
            <a:r>
              <a:rPr lang="en-US" dirty="0" smtClean="0"/>
              <a:t>ΣIR= ΣE.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Tree>
    <p:extLst>
      <p:ext uri="{BB962C8B-B14F-4D97-AF65-F5344CB8AC3E}">
        <p14:creationId xmlns:p14="http://schemas.microsoft.com/office/powerpoint/2010/main" val="60491197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9180"/>
            <a:ext cx="10515600" cy="1325563"/>
          </a:xfrm>
        </p:spPr>
        <p:txBody>
          <a:bodyPr>
            <a:normAutofit/>
          </a:bodyPr>
          <a:lstStyle/>
          <a:p>
            <a:pPr algn="ctr">
              <a:defRPr/>
            </a:pPr>
            <a:r>
              <a:rPr lang="en-IN" b="1" dirty="0" smtClean="0"/>
              <a:t>Kirchhoff’ Voltage Law</a:t>
            </a:r>
            <a:endParaRPr lang="en-IN" b="1" dirty="0"/>
          </a:p>
        </p:txBody>
      </p:sp>
      <p:sp>
        <p:nvSpPr>
          <p:cNvPr id="3" name="Content Placeholder 2"/>
          <p:cNvSpPr>
            <a:spLocks noGrp="1"/>
          </p:cNvSpPr>
          <p:nvPr>
            <p:ph idx="1"/>
          </p:nvPr>
        </p:nvSpPr>
        <p:spPr>
          <a:xfrm>
            <a:off x="838200" y="1433735"/>
            <a:ext cx="10515600" cy="4351338"/>
          </a:xfrm>
        </p:spPr>
        <p:txBody>
          <a:bodyPr>
            <a:noAutofit/>
          </a:bodyPr>
          <a:lstStyle/>
          <a:p>
            <a:pPr marL="342900" indent="-342900" algn="just"/>
            <a:r>
              <a:rPr lang="en-US" dirty="0" smtClean="0">
                <a:latin typeface="Casper"/>
              </a:rPr>
              <a:t>From fig we can write the equation of circuit. We can consider that when we go from (-) polarity to (+) polarity we will take it as negative value or when we go from (+) polarity to (-) polarity we will take it as positive value. </a:t>
            </a:r>
          </a:p>
          <a:p>
            <a:pPr marL="342900" indent="-342900" algn="just"/>
            <a:r>
              <a:rPr lang="en-US" dirty="0" smtClean="0">
                <a:latin typeface="Casper"/>
              </a:rPr>
              <a:t>It depends upon you solution will be same. </a:t>
            </a:r>
            <a:endParaRPr lang="en-IN" dirty="0">
              <a:latin typeface="Casper"/>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pic>
        <p:nvPicPr>
          <p:cNvPr id="5" name="Picture 3"/>
          <p:cNvPicPr>
            <a:picLocks noChangeAspect="1" noChangeArrowheads="1"/>
          </p:cNvPicPr>
          <p:nvPr/>
        </p:nvPicPr>
        <p:blipFill>
          <a:blip r:embed="rId2" cstate="print"/>
          <a:srcRect/>
          <a:stretch>
            <a:fillRect/>
          </a:stretch>
        </p:blipFill>
        <p:spPr bwMode="auto">
          <a:xfrm>
            <a:off x="4167051" y="3790701"/>
            <a:ext cx="3710122" cy="20451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Box 6"/>
          <p:cNvSpPr txBox="1"/>
          <p:nvPr/>
        </p:nvSpPr>
        <p:spPr>
          <a:xfrm>
            <a:off x="1632857" y="6296297"/>
            <a:ext cx="8727527" cy="369332"/>
          </a:xfrm>
          <a:prstGeom prst="rect">
            <a:avLst/>
          </a:prstGeom>
          <a:noFill/>
        </p:spPr>
        <p:txBody>
          <a:bodyPr wrap="square" rtlCol="0">
            <a:spAutoFit/>
          </a:bodyPr>
          <a:lstStyle/>
          <a:p>
            <a:r>
              <a:rPr lang="en-US" dirty="0" smtClean="0">
                <a:hlinkClick r:id="rId3"/>
              </a:rPr>
              <a:t>https://circuitglobe.com/what-is-kirchhoffs-current-law-and-kirchhoffs-voltage-law.html</a:t>
            </a:r>
            <a:endParaRPr lang="en-US" dirty="0"/>
          </a:p>
        </p:txBody>
      </p:sp>
      <p:sp>
        <p:nvSpPr>
          <p:cNvPr id="8" name="TextBox 7"/>
          <p:cNvSpPr txBox="1"/>
          <p:nvPr/>
        </p:nvSpPr>
        <p:spPr>
          <a:xfrm>
            <a:off x="5290457" y="5956663"/>
            <a:ext cx="1659237" cy="369332"/>
          </a:xfrm>
          <a:prstGeom prst="rect">
            <a:avLst/>
          </a:prstGeom>
          <a:noFill/>
        </p:spPr>
        <p:txBody>
          <a:bodyPr wrap="none" rtlCol="0">
            <a:spAutoFit/>
          </a:bodyPr>
          <a:lstStyle/>
          <a:p>
            <a:r>
              <a:rPr lang="en-US" dirty="0" smtClean="0"/>
              <a:t>Fig.6 KVL circuit</a:t>
            </a:r>
            <a:endParaRPr lang="en-US" dirty="0"/>
          </a:p>
        </p:txBody>
      </p:sp>
    </p:spTree>
    <p:extLst>
      <p:ext uri="{BB962C8B-B14F-4D97-AF65-F5344CB8AC3E}">
        <p14:creationId xmlns:p14="http://schemas.microsoft.com/office/powerpoint/2010/main" val="604911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IN" sz="3600" b="1" dirty="0" smtClean="0"/>
              <a:t>Kirchhoff’ Voltage Law</a:t>
            </a:r>
            <a:endParaRPr lang="en-IN" sz="3600" b="1" dirty="0"/>
          </a:p>
        </p:txBody>
      </p:sp>
      <p:sp>
        <p:nvSpPr>
          <p:cNvPr id="3" name="Content Placeholder 2"/>
          <p:cNvSpPr>
            <a:spLocks noGrp="1"/>
          </p:cNvSpPr>
          <p:nvPr>
            <p:ph idx="1"/>
          </p:nvPr>
        </p:nvSpPr>
        <p:spPr>
          <a:xfrm>
            <a:off x="968833" y="1433735"/>
            <a:ext cx="10515600" cy="4351338"/>
          </a:xfrm>
        </p:spPr>
        <p:txBody>
          <a:bodyPr>
            <a:normAutofit/>
          </a:bodyPr>
          <a:lstStyle/>
          <a:p>
            <a:pPr marL="342900" indent="-342900" algn="just">
              <a:buNone/>
            </a:pPr>
            <a:endParaRPr lang="en-IN" sz="2200" dirty="0" smtClean="0">
              <a:latin typeface="Casper"/>
            </a:endParaRPr>
          </a:p>
          <a:p>
            <a:pPr marL="342900" indent="-342900" algn="just">
              <a:buNone/>
            </a:pPr>
            <a:r>
              <a:rPr lang="en-US" sz="2200" dirty="0" smtClean="0"/>
              <a:t> </a:t>
            </a:r>
          </a:p>
          <a:p>
            <a:pPr marL="342900" indent="-342900" algn="just">
              <a:buNone/>
            </a:pPr>
            <a:r>
              <a:rPr lang="en-US" dirty="0" smtClean="0"/>
              <a:t>    Here, the assumed current I causes a positive voltage drop when flowing from the positive to negative potential while negative potential drop when the current flowing from negative to the positive potential.</a:t>
            </a:r>
          </a:p>
          <a:p>
            <a:pPr marL="342900" indent="-342900" algn="just">
              <a:buNone/>
            </a:pPr>
            <a:endParaRPr lang="en-IN" sz="2200" dirty="0">
              <a:latin typeface="Casper"/>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pic>
        <p:nvPicPr>
          <p:cNvPr id="141314" name="Picture 2" descr="kcl-eq1"/>
          <p:cNvPicPr>
            <a:picLocks noChangeAspect="1" noChangeArrowheads="1"/>
          </p:cNvPicPr>
          <p:nvPr/>
        </p:nvPicPr>
        <p:blipFill>
          <a:blip r:embed="rId2" cstate="print"/>
          <a:srcRect/>
          <a:stretch>
            <a:fillRect/>
          </a:stretch>
        </p:blipFill>
        <p:spPr bwMode="auto">
          <a:xfrm>
            <a:off x="3049894" y="1508623"/>
            <a:ext cx="5638184" cy="816566"/>
          </a:xfrm>
          <a:prstGeom prst="rect">
            <a:avLst/>
          </a:prstGeom>
          <a:noFill/>
        </p:spPr>
      </p:pic>
      <p:pic>
        <p:nvPicPr>
          <p:cNvPr id="141316" name="Picture 4" descr="kcl-eq2"/>
          <p:cNvPicPr>
            <a:picLocks noChangeAspect="1" noChangeArrowheads="1"/>
          </p:cNvPicPr>
          <p:nvPr/>
        </p:nvPicPr>
        <p:blipFill>
          <a:blip r:embed="rId3" cstate="print"/>
          <a:srcRect/>
          <a:stretch>
            <a:fillRect/>
          </a:stretch>
        </p:blipFill>
        <p:spPr bwMode="auto">
          <a:xfrm>
            <a:off x="3578548" y="3997234"/>
            <a:ext cx="4598806" cy="1737371"/>
          </a:xfrm>
          <a:prstGeom prst="rect">
            <a:avLst/>
          </a:prstGeom>
          <a:noFill/>
        </p:spPr>
      </p:pic>
    </p:spTree>
    <p:extLst>
      <p:ext uri="{BB962C8B-B14F-4D97-AF65-F5344CB8AC3E}">
        <p14:creationId xmlns:p14="http://schemas.microsoft.com/office/powerpoint/2010/main" val="604911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IN" sz="3600" b="1" dirty="0" smtClean="0"/>
              <a:t>Kirchhoff’ Voltage Law</a:t>
            </a:r>
            <a:endParaRPr lang="en-IN" sz="3600" b="1" dirty="0"/>
          </a:p>
        </p:txBody>
      </p:sp>
      <p:sp>
        <p:nvSpPr>
          <p:cNvPr id="3" name="Content Placeholder 2"/>
          <p:cNvSpPr>
            <a:spLocks noGrp="1"/>
          </p:cNvSpPr>
          <p:nvPr>
            <p:ph idx="1"/>
          </p:nvPr>
        </p:nvSpPr>
        <p:spPr>
          <a:xfrm>
            <a:off x="838200" y="1433735"/>
            <a:ext cx="10515600" cy="4351338"/>
          </a:xfrm>
        </p:spPr>
        <p:txBody>
          <a:bodyPr>
            <a:normAutofit/>
          </a:bodyPr>
          <a:lstStyle/>
          <a:p>
            <a:pPr marL="342900" indent="-342900" algn="just"/>
            <a:r>
              <a:rPr lang="en-US" dirty="0" smtClean="0"/>
              <a:t>Considering the other figure shown below and assuming the direction of the current </a:t>
            </a:r>
            <a:r>
              <a:rPr lang="en-US" dirty="0" err="1" smtClean="0"/>
              <a:t>i</a:t>
            </a:r>
            <a:r>
              <a:rPr lang="en-US" dirty="0" smtClean="0"/>
              <a:t>.</a:t>
            </a:r>
            <a:endParaRPr lang="en-IN" dirty="0">
              <a:latin typeface="Casper"/>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pic>
        <p:nvPicPr>
          <p:cNvPr id="143362" name="Picture 2"/>
          <p:cNvPicPr>
            <a:picLocks noChangeAspect="1" noChangeArrowheads="1"/>
          </p:cNvPicPr>
          <p:nvPr/>
        </p:nvPicPr>
        <p:blipFill>
          <a:blip r:embed="rId2" cstate="print"/>
          <a:srcRect/>
          <a:stretch>
            <a:fillRect/>
          </a:stretch>
        </p:blipFill>
        <p:spPr bwMode="auto">
          <a:xfrm>
            <a:off x="3866607" y="2496777"/>
            <a:ext cx="3853542" cy="258920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Box 6"/>
          <p:cNvSpPr txBox="1"/>
          <p:nvPr/>
        </p:nvSpPr>
        <p:spPr>
          <a:xfrm>
            <a:off x="2717075" y="6008915"/>
            <a:ext cx="5826034" cy="646331"/>
          </a:xfrm>
          <a:prstGeom prst="rect">
            <a:avLst/>
          </a:prstGeom>
          <a:noFill/>
        </p:spPr>
        <p:txBody>
          <a:bodyPr wrap="square" rtlCol="0">
            <a:spAutoFit/>
          </a:bodyPr>
          <a:lstStyle/>
          <a:p>
            <a:r>
              <a:rPr lang="en-US" dirty="0" smtClean="0">
                <a:hlinkClick r:id="rId3"/>
              </a:rPr>
              <a:t>https://circuitglobe.com/what-is-kirchhoffs-current-law-and-kirchhoffs-voltage-law.html</a:t>
            </a:r>
            <a:endParaRPr lang="en-US" dirty="0"/>
          </a:p>
        </p:txBody>
      </p:sp>
      <p:sp>
        <p:nvSpPr>
          <p:cNvPr id="8" name="TextBox 7"/>
          <p:cNvSpPr txBox="1"/>
          <p:nvPr/>
        </p:nvSpPr>
        <p:spPr>
          <a:xfrm>
            <a:off x="4937760" y="5303520"/>
            <a:ext cx="1623971" cy="369332"/>
          </a:xfrm>
          <a:prstGeom prst="rect">
            <a:avLst/>
          </a:prstGeom>
          <a:noFill/>
        </p:spPr>
        <p:txBody>
          <a:bodyPr wrap="none" rtlCol="0">
            <a:spAutoFit/>
          </a:bodyPr>
          <a:lstStyle/>
          <a:p>
            <a:r>
              <a:rPr lang="en-US" dirty="0" smtClean="0"/>
              <a:t>Fig. 7 </a:t>
            </a:r>
            <a:r>
              <a:rPr lang="en-US" dirty="0" err="1" smtClean="0"/>
              <a:t>kvl</a:t>
            </a:r>
            <a:r>
              <a:rPr lang="en-US" dirty="0" smtClean="0"/>
              <a:t> circuit</a:t>
            </a:r>
            <a:endParaRPr lang="en-US" dirty="0"/>
          </a:p>
        </p:txBody>
      </p:sp>
    </p:spTree>
    <p:extLst>
      <p:ext uri="{BB962C8B-B14F-4D97-AF65-F5344CB8AC3E}">
        <p14:creationId xmlns:p14="http://schemas.microsoft.com/office/powerpoint/2010/main" val="6049119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IN" sz="3600" b="1" dirty="0" smtClean="0"/>
              <a:t>Kirchhoff’ Voltage Law</a:t>
            </a:r>
            <a:endParaRPr lang="en-IN" sz="3600" b="1" dirty="0"/>
          </a:p>
        </p:txBody>
      </p:sp>
      <p:sp>
        <p:nvSpPr>
          <p:cNvPr id="3" name="Content Placeholder 2"/>
          <p:cNvSpPr>
            <a:spLocks noGrp="1"/>
          </p:cNvSpPr>
          <p:nvPr>
            <p:ph idx="1"/>
          </p:nvPr>
        </p:nvSpPr>
        <p:spPr>
          <a:xfrm>
            <a:off x="838200" y="1433735"/>
            <a:ext cx="10515600" cy="4351338"/>
          </a:xfrm>
        </p:spPr>
        <p:txBody>
          <a:bodyPr>
            <a:normAutofit/>
          </a:bodyPr>
          <a:lstStyle/>
          <a:p>
            <a:pPr marL="342900" indent="-342900" algn="just"/>
            <a:r>
              <a:rPr lang="en-US" dirty="0" smtClean="0"/>
              <a:t>Therefore,</a:t>
            </a:r>
          </a:p>
          <a:p>
            <a:pPr marL="342900" indent="-342900" algn="just"/>
            <a:endParaRPr lang="en-US" sz="2200" dirty="0" smtClean="0">
              <a:latin typeface="Casper"/>
            </a:endParaRPr>
          </a:p>
          <a:p>
            <a:pPr marL="342900" indent="-342900" algn="just"/>
            <a:endParaRPr lang="en-US" sz="2200" dirty="0" smtClean="0">
              <a:latin typeface="Casper"/>
            </a:endParaRPr>
          </a:p>
          <a:p>
            <a:pPr marL="342900" indent="-342900" algn="just"/>
            <a:endParaRPr lang="en-US" sz="2200" dirty="0" smtClean="0">
              <a:latin typeface="Casper"/>
            </a:endParaRPr>
          </a:p>
          <a:p>
            <a:pPr marL="342900" indent="-342900" algn="just"/>
            <a:endParaRPr lang="en-US" sz="2200" dirty="0" smtClean="0">
              <a:latin typeface="Casper"/>
            </a:endParaRPr>
          </a:p>
          <a:p>
            <a:pPr marL="342900" indent="-342900" algn="just"/>
            <a:endParaRPr lang="en-US" sz="2200" dirty="0" smtClean="0">
              <a:latin typeface="Casper"/>
            </a:endParaRPr>
          </a:p>
          <a:p>
            <a:pPr marL="342900" indent="-342900" algn="just"/>
            <a:r>
              <a:rPr lang="en-US" dirty="0" smtClean="0"/>
              <a:t>It is seen that the voltage V</a:t>
            </a:r>
            <a:r>
              <a:rPr lang="en-US" baseline="-25000" dirty="0" smtClean="0"/>
              <a:t>1 </a:t>
            </a:r>
            <a:r>
              <a:rPr lang="en-US" dirty="0" smtClean="0"/>
              <a:t>is negative in both the equation (2) and equation (3) while V</a:t>
            </a:r>
            <a:r>
              <a:rPr lang="en-US" baseline="-25000" dirty="0" smtClean="0"/>
              <a:t>2</a:t>
            </a:r>
            <a:r>
              <a:rPr lang="en-US" dirty="0" smtClean="0"/>
              <a:t> is negative in the equation (2) but positive in the equation (3). This is because of the change in the direction of the current assumed in both the figures.</a:t>
            </a:r>
            <a:endParaRPr lang="en-US" dirty="0" smtClean="0">
              <a:latin typeface="Casper"/>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pic>
        <p:nvPicPr>
          <p:cNvPr id="144386" name="Picture 2" descr="kcl-eq3"/>
          <p:cNvPicPr>
            <a:picLocks noChangeAspect="1" noChangeArrowheads="1"/>
          </p:cNvPicPr>
          <p:nvPr/>
        </p:nvPicPr>
        <p:blipFill>
          <a:blip r:embed="rId2" cstate="print"/>
          <a:srcRect/>
          <a:stretch>
            <a:fillRect/>
          </a:stretch>
        </p:blipFill>
        <p:spPr bwMode="auto">
          <a:xfrm>
            <a:off x="2350135" y="1794283"/>
            <a:ext cx="5774962" cy="2034097"/>
          </a:xfrm>
          <a:prstGeom prst="rect">
            <a:avLst/>
          </a:prstGeom>
          <a:noFill/>
        </p:spPr>
      </p:pic>
    </p:spTree>
    <p:extLst>
      <p:ext uri="{BB962C8B-B14F-4D97-AF65-F5344CB8AC3E}">
        <p14:creationId xmlns:p14="http://schemas.microsoft.com/office/powerpoint/2010/main" val="6049119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IN" sz="3600" b="1" dirty="0" smtClean="0"/>
              <a:t>Numerical Based on Kirchhoff’ Voltage Law</a:t>
            </a:r>
            <a:endParaRPr lang="en-IN" sz="3600"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pic>
        <p:nvPicPr>
          <p:cNvPr id="147458" name="Picture 2"/>
          <p:cNvPicPr>
            <a:picLocks noChangeAspect="1" noChangeArrowheads="1"/>
          </p:cNvPicPr>
          <p:nvPr/>
        </p:nvPicPr>
        <p:blipFill>
          <a:blip r:embed="rId2" cstate="print"/>
          <a:srcRect/>
          <a:stretch>
            <a:fillRect/>
          </a:stretch>
        </p:blipFill>
        <p:spPr bwMode="auto">
          <a:xfrm>
            <a:off x="3265716" y="1646790"/>
            <a:ext cx="5785620" cy="374076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extBox 4"/>
          <p:cNvSpPr txBox="1"/>
          <p:nvPr/>
        </p:nvSpPr>
        <p:spPr>
          <a:xfrm>
            <a:off x="5042263" y="5708469"/>
            <a:ext cx="2394886" cy="369332"/>
          </a:xfrm>
          <a:prstGeom prst="rect">
            <a:avLst/>
          </a:prstGeom>
          <a:noFill/>
        </p:spPr>
        <p:txBody>
          <a:bodyPr wrap="none" rtlCol="0">
            <a:spAutoFit/>
          </a:bodyPr>
          <a:lstStyle/>
          <a:p>
            <a:r>
              <a:rPr lang="en-US" dirty="0" smtClean="0"/>
              <a:t>Fig. 8 Numerical on KVL</a:t>
            </a:r>
            <a:endParaRPr lang="en-US" dirty="0"/>
          </a:p>
        </p:txBody>
      </p:sp>
    </p:spTree>
    <p:extLst>
      <p:ext uri="{BB962C8B-B14F-4D97-AF65-F5344CB8AC3E}">
        <p14:creationId xmlns:p14="http://schemas.microsoft.com/office/powerpoint/2010/main" val="6049119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IN" sz="3600" b="1" dirty="0" smtClean="0"/>
              <a:t>Numerical Based on Kirchhoff’ Voltage Law</a:t>
            </a:r>
            <a:endParaRPr lang="en-IN" sz="3600"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pic>
        <p:nvPicPr>
          <p:cNvPr id="148482" name="Picture 2"/>
          <p:cNvPicPr>
            <a:picLocks noChangeAspect="1" noChangeArrowheads="1"/>
          </p:cNvPicPr>
          <p:nvPr/>
        </p:nvPicPr>
        <p:blipFill>
          <a:blip r:embed="rId2" cstate="print"/>
          <a:srcRect/>
          <a:stretch>
            <a:fillRect/>
          </a:stretch>
        </p:blipFill>
        <p:spPr bwMode="auto">
          <a:xfrm>
            <a:off x="3375037" y="1660041"/>
            <a:ext cx="5977968" cy="416599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extBox 4"/>
          <p:cNvSpPr txBox="1"/>
          <p:nvPr/>
        </p:nvSpPr>
        <p:spPr>
          <a:xfrm>
            <a:off x="5042263" y="5995855"/>
            <a:ext cx="2394886" cy="369332"/>
          </a:xfrm>
          <a:prstGeom prst="rect">
            <a:avLst/>
          </a:prstGeom>
          <a:noFill/>
        </p:spPr>
        <p:txBody>
          <a:bodyPr wrap="none" rtlCol="0">
            <a:spAutoFit/>
          </a:bodyPr>
          <a:lstStyle/>
          <a:p>
            <a:r>
              <a:rPr lang="en-US" dirty="0" smtClean="0"/>
              <a:t>Fig. 9 Numerical on KVL</a:t>
            </a:r>
            <a:endParaRPr lang="en-US" dirty="0"/>
          </a:p>
        </p:txBody>
      </p:sp>
    </p:spTree>
    <p:extLst>
      <p:ext uri="{BB962C8B-B14F-4D97-AF65-F5344CB8AC3E}">
        <p14:creationId xmlns:p14="http://schemas.microsoft.com/office/powerpoint/2010/main" val="604911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IN" sz="3600" b="1" dirty="0" smtClean="0"/>
              <a:t>Numerical Based on Kirchhoff’ Voltage Law</a:t>
            </a:r>
            <a:endParaRPr lang="en-IN" sz="3600"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23</a:t>
            </a:fld>
            <a:endParaRPr lang="en-US"/>
          </a:p>
        </p:txBody>
      </p:sp>
      <p:pic>
        <p:nvPicPr>
          <p:cNvPr id="149506" name="Picture 2"/>
          <p:cNvPicPr>
            <a:picLocks noChangeAspect="1" noChangeArrowheads="1"/>
          </p:cNvPicPr>
          <p:nvPr/>
        </p:nvPicPr>
        <p:blipFill>
          <a:blip r:embed="rId2" cstate="print"/>
          <a:srcRect/>
          <a:stretch>
            <a:fillRect/>
          </a:stretch>
        </p:blipFill>
        <p:spPr bwMode="auto">
          <a:xfrm>
            <a:off x="3213463" y="1663202"/>
            <a:ext cx="5943599" cy="411101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extBox 4"/>
          <p:cNvSpPr txBox="1"/>
          <p:nvPr/>
        </p:nvSpPr>
        <p:spPr>
          <a:xfrm>
            <a:off x="5042263" y="5982792"/>
            <a:ext cx="2511906" cy="369332"/>
          </a:xfrm>
          <a:prstGeom prst="rect">
            <a:avLst/>
          </a:prstGeom>
          <a:noFill/>
        </p:spPr>
        <p:txBody>
          <a:bodyPr wrap="none" rtlCol="0">
            <a:spAutoFit/>
          </a:bodyPr>
          <a:lstStyle/>
          <a:p>
            <a:r>
              <a:rPr lang="en-US" dirty="0" smtClean="0"/>
              <a:t>Fig. 10 Numerical on KVL</a:t>
            </a:r>
            <a:endParaRPr lang="en-US" dirty="0"/>
          </a:p>
        </p:txBody>
      </p:sp>
    </p:spTree>
    <p:extLst>
      <p:ext uri="{BB962C8B-B14F-4D97-AF65-F5344CB8AC3E}">
        <p14:creationId xmlns:p14="http://schemas.microsoft.com/office/powerpoint/2010/main" val="6049119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IN" sz="3600" b="1" dirty="0" smtClean="0"/>
              <a:t>Numerical Based on Kirchhoff’ Voltage Law</a:t>
            </a:r>
            <a:endParaRPr lang="en-IN" sz="3600"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a:p>
        </p:txBody>
      </p:sp>
      <p:pic>
        <p:nvPicPr>
          <p:cNvPr id="150530" name="Picture 2"/>
          <p:cNvPicPr>
            <a:picLocks noChangeAspect="1" noChangeArrowheads="1"/>
          </p:cNvPicPr>
          <p:nvPr/>
        </p:nvPicPr>
        <p:blipFill>
          <a:blip r:embed="rId2" cstate="print"/>
          <a:srcRect/>
          <a:stretch>
            <a:fillRect/>
          </a:stretch>
        </p:blipFill>
        <p:spPr bwMode="auto">
          <a:xfrm>
            <a:off x="3178591" y="1489310"/>
            <a:ext cx="5952345" cy="463717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extBox 4"/>
          <p:cNvSpPr txBox="1"/>
          <p:nvPr/>
        </p:nvSpPr>
        <p:spPr>
          <a:xfrm>
            <a:off x="5042263" y="6217926"/>
            <a:ext cx="2511906" cy="369332"/>
          </a:xfrm>
          <a:prstGeom prst="rect">
            <a:avLst/>
          </a:prstGeom>
          <a:noFill/>
        </p:spPr>
        <p:txBody>
          <a:bodyPr wrap="none" rtlCol="0">
            <a:spAutoFit/>
          </a:bodyPr>
          <a:lstStyle/>
          <a:p>
            <a:r>
              <a:rPr lang="en-US" dirty="0" smtClean="0"/>
              <a:t>Fig. 11 Numerical on KVL</a:t>
            </a:r>
            <a:endParaRPr lang="en-US" dirty="0"/>
          </a:p>
        </p:txBody>
      </p:sp>
    </p:spTree>
    <p:extLst>
      <p:ext uri="{BB962C8B-B14F-4D97-AF65-F5344CB8AC3E}">
        <p14:creationId xmlns:p14="http://schemas.microsoft.com/office/powerpoint/2010/main" val="60491197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Difference Between KVL and KCL</a:t>
            </a:r>
            <a:endParaRPr lang="en-US"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25</a:t>
            </a:fld>
            <a:endParaRPr lang="en-US"/>
          </a:p>
        </p:txBody>
      </p:sp>
      <p:graphicFrame>
        <p:nvGraphicFramePr>
          <p:cNvPr id="5" name="Table 4"/>
          <p:cNvGraphicFramePr>
            <a:graphicFrameLocks noGrp="1"/>
          </p:cNvGraphicFramePr>
          <p:nvPr/>
        </p:nvGraphicFramePr>
        <p:xfrm>
          <a:off x="1365794" y="1542626"/>
          <a:ext cx="9424125" cy="4297680"/>
        </p:xfrm>
        <a:graphic>
          <a:graphicData uri="http://schemas.openxmlformats.org/drawingml/2006/table">
            <a:tbl>
              <a:tblPr firstRow="1" bandRow="1">
                <a:tableStyleId>{073A0DAA-6AF3-43AB-8588-CEC1D06C72B9}</a:tableStyleId>
              </a:tblPr>
              <a:tblGrid>
                <a:gridCol w="2330995">
                  <a:extLst>
                    <a:ext uri="{9D8B030D-6E8A-4147-A177-3AD203B41FA5}">
                      <a16:colId xmlns:a16="http://schemas.microsoft.com/office/drawing/2014/main" val="20000"/>
                    </a:ext>
                  </a:extLst>
                </a:gridCol>
                <a:gridCol w="3513908">
                  <a:extLst>
                    <a:ext uri="{9D8B030D-6E8A-4147-A177-3AD203B41FA5}">
                      <a16:colId xmlns:a16="http://schemas.microsoft.com/office/drawing/2014/main" val="20001"/>
                    </a:ext>
                  </a:extLst>
                </a:gridCol>
                <a:gridCol w="3579222">
                  <a:extLst>
                    <a:ext uri="{9D8B030D-6E8A-4147-A177-3AD203B41FA5}">
                      <a16:colId xmlns:a16="http://schemas.microsoft.com/office/drawing/2014/main" val="20002"/>
                    </a:ext>
                  </a:extLst>
                </a:gridCol>
              </a:tblGrid>
              <a:tr h="370840">
                <a:tc>
                  <a:txBody>
                    <a:bodyPr/>
                    <a:lstStyle/>
                    <a:p>
                      <a:pPr algn="ctr"/>
                      <a:r>
                        <a:rPr lang="en-US" sz="2800" dirty="0" smtClean="0"/>
                        <a:t>Parameter</a:t>
                      </a:r>
                      <a:endParaRPr lang="en-US" sz="2800" dirty="0"/>
                    </a:p>
                  </a:txBody>
                  <a:tcPr/>
                </a:tc>
                <a:tc>
                  <a:txBody>
                    <a:bodyPr/>
                    <a:lstStyle/>
                    <a:p>
                      <a:pPr algn="ctr"/>
                      <a:r>
                        <a:rPr lang="en-US" sz="2800" dirty="0" smtClean="0"/>
                        <a:t>KVL</a:t>
                      </a:r>
                      <a:endParaRPr lang="en-US" sz="2800" dirty="0"/>
                    </a:p>
                  </a:txBody>
                  <a:tcPr/>
                </a:tc>
                <a:tc>
                  <a:txBody>
                    <a:bodyPr/>
                    <a:lstStyle/>
                    <a:p>
                      <a:pPr algn="ctr"/>
                      <a:r>
                        <a:rPr lang="en-US" sz="2800" dirty="0" smtClean="0"/>
                        <a:t>KCL</a:t>
                      </a:r>
                      <a:endParaRPr lang="en-US" sz="2800" dirty="0"/>
                    </a:p>
                  </a:txBody>
                  <a:tcPr/>
                </a:tc>
                <a:extLst>
                  <a:ext uri="{0D108BD9-81ED-4DB2-BD59-A6C34878D82A}">
                    <a16:rowId xmlns:a16="http://schemas.microsoft.com/office/drawing/2014/main" val="10000"/>
                  </a:ext>
                </a:extLst>
              </a:tr>
              <a:tr h="370840">
                <a:tc>
                  <a:txBody>
                    <a:bodyPr/>
                    <a:lstStyle/>
                    <a:p>
                      <a:pPr algn="just"/>
                      <a:r>
                        <a:rPr lang="en-US" sz="2800" dirty="0" smtClean="0"/>
                        <a:t>Basis</a:t>
                      </a:r>
                      <a:endParaRPr lang="en-US" sz="2800" dirty="0"/>
                    </a:p>
                  </a:txBody>
                  <a:tcPr/>
                </a:tc>
                <a:tc>
                  <a:txBody>
                    <a:bodyPr/>
                    <a:lstStyle/>
                    <a:p>
                      <a:pPr algn="just"/>
                      <a:r>
                        <a:rPr lang="en-US" sz="2800" dirty="0" smtClean="0"/>
                        <a:t>Based on conservation</a:t>
                      </a:r>
                      <a:r>
                        <a:rPr lang="en-US" sz="2800" baseline="0" dirty="0" smtClean="0"/>
                        <a:t> of energy</a:t>
                      </a:r>
                      <a:endParaRPr lang="en-US" sz="2800" dirty="0"/>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800" dirty="0" smtClean="0"/>
                        <a:t>Based on conservation</a:t>
                      </a:r>
                      <a:r>
                        <a:rPr lang="en-US" sz="2800" baseline="0" dirty="0" smtClean="0"/>
                        <a:t> of charge</a:t>
                      </a:r>
                      <a:endParaRPr lang="en-US" sz="2800" dirty="0" smtClean="0"/>
                    </a:p>
                  </a:txBody>
                  <a:tcPr/>
                </a:tc>
                <a:extLst>
                  <a:ext uri="{0D108BD9-81ED-4DB2-BD59-A6C34878D82A}">
                    <a16:rowId xmlns:a16="http://schemas.microsoft.com/office/drawing/2014/main" val="10001"/>
                  </a:ext>
                </a:extLst>
              </a:tr>
              <a:tr h="370840">
                <a:tc>
                  <a:txBody>
                    <a:bodyPr/>
                    <a:lstStyle/>
                    <a:p>
                      <a:pPr algn="just"/>
                      <a:r>
                        <a:rPr lang="en-US" sz="2800" dirty="0" smtClean="0"/>
                        <a:t>Applicable</a:t>
                      </a:r>
                      <a:endParaRPr lang="en-US" sz="2800" dirty="0"/>
                    </a:p>
                  </a:txBody>
                  <a:tcPr/>
                </a:tc>
                <a:tc>
                  <a:txBody>
                    <a:bodyPr/>
                    <a:lstStyle/>
                    <a:p>
                      <a:pPr algn="just"/>
                      <a:r>
                        <a:rPr lang="en-US" sz="2800" dirty="0" smtClean="0"/>
                        <a:t>In closed path</a:t>
                      </a:r>
                      <a:endParaRPr lang="en-US" sz="2800" dirty="0"/>
                    </a:p>
                  </a:txBody>
                  <a:tcPr/>
                </a:tc>
                <a:tc>
                  <a:txBody>
                    <a:bodyPr/>
                    <a:lstStyle/>
                    <a:p>
                      <a:pPr algn="just"/>
                      <a:r>
                        <a:rPr lang="en-US" sz="2800" dirty="0" smtClean="0"/>
                        <a:t>At node</a:t>
                      </a:r>
                      <a:endParaRPr lang="en-US" sz="2800" dirty="0"/>
                    </a:p>
                  </a:txBody>
                  <a:tcPr/>
                </a:tc>
                <a:extLst>
                  <a:ext uri="{0D108BD9-81ED-4DB2-BD59-A6C34878D82A}">
                    <a16:rowId xmlns:a16="http://schemas.microsoft.com/office/drawing/2014/main" val="10002"/>
                  </a:ext>
                </a:extLst>
              </a:tr>
              <a:tr h="370840">
                <a:tc>
                  <a:txBody>
                    <a:bodyPr/>
                    <a:lstStyle/>
                    <a:p>
                      <a:pPr algn="just"/>
                      <a:r>
                        <a:rPr lang="en-US" sz="2800" dirty="0" smtClean="0"/>
                        <a:t>Definition</a:t>
                      </a:r>
                      <a:endParaRPr lang="en-US" sz="2800" dirty="0"/>
                    </a:p>
                  </a:txBody>
                  <a:tcPr/>
                </a:tc>
                <a:tc>
                  <a:txBody>
                    <a:bodyPr/>
                    <a:lstStyle/>
                    <a:p>
                      <a:pPr algn="just"/>
                      <a:r>
                        <a:rPr lang="en-US" sz="2800" dirty="0" smtClean="0"/>
                        <a:t>In closed circuit</a:t>
                      </a:r>
                      <a:r>
                        <a:rPr lang="en-US" sz="2800" baseline="0" dirty="0" smtClean="0"/>
                        <a:t> the algebraic sum of voltage drop is zero.</a:t>
                      </a:r>
                      <a:endParaRPr lang="en-US" sz="2800" dirty="0"/>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800" dirty="0" smtClean="0"/>
                        <a:t>At any node</a:t>
                      </a:r>
                      <a:r>
                        <a:rPr lang="en-US" sz="2800" baseline="0" dirty="0" smtClean="0"/>
                        <a:t> the algebraic sum of currents is zero.</a:t>
                      </a:r>
                      <a:endParaRPr lang="en-US" sz="2800" dirty="0" smtClean="0"/>
                    </a:p>
                  </a:txBody>
                  <a:tcPr/>
                </a:tc>
                <a:extLst>
                  <a:ext uri="{0D108BD9-81ED-4DB2-BD59-A6C34878D82A}">
                    <a16:rowId xmlns:a16="http://schemas.microsoft.com/office/drawing/2014/main" val="10003"/>
                  </a:ext>
                </a:extLst>
              </a:tr>
              <a:tr h="370840">
                <a:tc>
                  <a:txBody>
                    <a:bodyPr/>
                    <a:lstStyle/>
                    <a:p>
                      <a:pPr algn="just"/>
                      <a:r>
                        <a:rPr lang="en-US" sz="2800" dirty="0" smtClean="0"/>
                        <a:t>Assumption</a:t>
                      </a:r>
                      <a:endParaRPr lang="en-US" sz="2800" dirty="0"/>
                    </a:p>
                  </a:txBody>
                  <a:tcPr/>
                </a:tc>
                <a:tc>
                  <a:txBody>
                    <a:bodyPr/>
                    <a:lstStyle/>
                    <a:p>
                      <a:pPr algn="just"/>
                      <a:r>
                        <a:rPr lang="en-US" sz="2800" dirty="0" smtClean="0"/>
                        <a:t>Total number of closed</a:t>
                      </a:r>
                      <a:r>
                        <a:rPr lang="en-US" sz="2800" baseline="0" dirty="0" smtClean="0"/>
                        <a:t> loop paths</a:t>
                      </a:r>
                      <a:endParaRPr lang="en-US" sz="2800" dirty="0"/>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800" dirty="0" smtClean="0"/>
                        <a:t>Total number of closed</a:t>
                      </a:r>
                      <a:r>
                        <a:rPr lang="en-US" sz="2800" baseline="0" dirty="0" smtClean="0"/>
                        <a:t> nodes</a:t>
                      </a:r>
                      <a:endParaRPr lang="en-US" sz="2800" dirty="0" smtClean="0"/>
                    </a:p>
                  </a:txBody>
                  <a:tcPr/>
                </a:tc>
                <a:extLst>
                  <a:ext uri="{0D108BD9-81ED-4DB2-BD59-A6C34878D82A}">
                    <a16:rowId xmlns:a16="http://schemas.microsoft.com/office/drawing/2014/main" val="10004"/>
                  </a:ext>
                </a:extLst>
              </a:tr>
            </a:tbl>
          </a:graphicData>
        </a:graphic>
      </p:graphicFrame>
      <p:sp>
        <p:nvSpPr>
          <p:cNvPr id="6" name="TextBox 5"/>
          <p:cNvSpPr txBox="1"/>
          <p:nvPr/>
        </p:nvSpPr>
        <p:spPr>
          <a:xfrm>
            <a:off x="4127862" y="6035040"/>
            <a:ext cx="3761543" cy="369332"/>
          </a:xfrm>
          <a:prstGeom prst="rect">
            <a:avLst/>
          </a:prstGeom>
          <a:noFill/>
        </p:spPr>
        <p:txBody>
          <a:bodyPr wrap="none" rtlCol="0">
            <a:spAutoFit/>
          </a:bodyPr>
          <a:lstStyle/>
          <a:p>
            <a:r>
              <a:rPr lang="en-US" dirty="0" smtClean="0"/>
              <a:t>Table.1 Difference Between KVL &amp; KCL</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Applications of Kirchhoff’s Laws</a:t>
            </a:r>
            <a:endParaRPr lang="en-US" b="1" dirty="0"/>
          </a:p>
        </p:txBody>
      </p:sp>
      <p:sp>
        <p:nvSpPr>
          <p:cNvPr id="3" name="Content Placeholder 2"/>
          <p:cNvSpPr>
            <a:spLocks noGrp="1"/>
          </p:cNvSpPr>
          <p:nvPr>
            <p:ph idx="1"/>
          </p:nvPr>
        </p:nvSpPr>
        <p:spPr/>
        <p:txBody>
          <a:bodyPr/>
          <a:lstStyle/>
          <a:p>
            <a:pPr lvl="0"/>
            <a:r>
              <a:rPr lang="en-US" dirty="0" smtClean="0"/>
              <a:t>Kirchhoff’s laws help to evaluate all voltage and current in any circuit.</a:t>
            </a:r>
          </a:p>
          <a:p>
            <a:pPr lvl="0"/>
            <a:r>
              <a:rPr lang="en-US" dirty="0" smtClean="0"/>
              <a:t>These are used to overcome the problem of complexity of the circuit.</a:t>
            </a:r>
          </a:p>
          <a:p>
            <a:pPr lvl="0"/>
            <a:r>
              <a:rPr lang="en-US" dirty="0" smtClean="0"/>
              <a:t>Kirchhoff's laws are used to help us in understanding how current and voltage work within a circuit?</a:t>
            </a:r>
          </a:p>
          <a:p>
            <a:pPr lvl="0"/>
            <a:r>
              <a:rPr lang="en-US" dirty="0" smtClean="0"/>
              <a:t>These help to understand the amount of voltage or current present in the circuit.</a:t>
            </a:r>
          </a:p>
          <a:p>
            <a:pPr lvl="0"/>
            <a:endParaRPr lang="en-US" dirty="0" smtClean="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Summary</a:t>
            </a:r>
            <a:endParaRPr lang="en-US" b="1" dirty="0"/>
          </a:p>
        </p:txBody>
      </p:sp>
      <p:sp>
        <p:nvSpPr>
          <p:cNvPr id="3" name="Content Placeholder 2"/>
          <p:cNvSpPr>
            <a:spLocks noGrp="1"/>
          </p:cNvSpPr>
          <p:nvPr>
            <p:ph idx="1"/>
          </p:nvPr>
        </p:nvSpPr>
        <p:spPr/>
        <p:txBody>
          <a:bodyPr/>
          <a:lstStyle/>
          <a:p>
            <a:pPr>
              <a:buFont typeface="Wingdings" pitchFamily="2" charset="2"/>
              <a:buChar char="ü"/>
            </a:pPr>
            <a:r>
              <a:rPr lang="en-US" dirty="0" smtClean="0"/>
              <a:t>We have discussed introduction to </a:t>
            </a:r>
            <a:r>
              <a:rPr lang="en-US" dirty="0" err="1" smtClean="0"/>
              <a:t>kirchhoff’s</a:t>
            </a:r>
            <a:r>
              <a:rPr lang="en-US" dirty="0" smtClean="0"/>
              <a:t> law.</a:t>
            </a:r>
          </a:p>
          <a:p>
            <a:pPr>
              <a:buFont typeface="Wingdings" pitchFamily="2" charset="2"/>
              <a:buChar char="ü"/>
            </a:pPr>
            <a:r>
              <a:rPr lang="en-US" dirty="0" smtClean="0"/>
              <a:t>We have studied about different terminologies used in </a:t>
            </a:r>
            <a:r>
              <a:rPr lang="en-US" dirty="0" err="1" smtClean="0"/>
              <a:t>kirchhoff’s</a:t>
            </a:r>
            <a:r>
              <a:rPr lang="en-US" dirty="0" smtClean="0"/>
              <a:t> law.</a:t>
            </a:r>
          </a:p>
          <a:p>
            <a:pPr>
              <a:buFont typeface="Wingdings" pitchFamily="2" charset="2"/>
              <a:buChar char="ü"/>
            </a:pPr>
            <a:r>
              <a:rPr lang="en-US" dirty="0" smtClean="0"/>
              <a:t>We have discussed examples based on </a:t>
            </a:r>
            <a:r>
              <a:rPr lang="en-US" dirty="0" err="1" smtClean="0"/>
              <a:t>kirchhoff’s</a:t>
            </a:r>
            <a:r>
              <a:rPr lang="en-US" dirty="0" smtClean="0"/>
              <a:t> laws.</a:t>
            </a:r>
          </a:p>
          <a:p>
            <a:pPr>
              <a:buFont typeface="Wingdings" pitchFamily="2" charset="2"/>
              <a:buChar char="ü"/>
            </a:pPr>
            <a:r>
              <a:rPr lang="en-US" dirty="0" smtClean="0"/>
              <a:t>Differentiation between KVL &amp; KCL.</a:t>
            </a:r>
          </a:p>
          <a:p>
            <a:pPr>
              <a:buFont typeface="Wingdings" pitchFamily="2" charset="2"/>
              <a:buChar char="ü"/>
            </a:pPr>
            <a:r>
              <a:rPr lang="en-US" dirty="0" smtClean="0"/>
              <a:t>We have learnt applications of </a:t>
            </a:r>
            <a:r>
              <a:rPr lang="en-US" dirty="0" err="1" smtClean="0"/>
              <a:t>kirchhoff’s</a:t>
            </a:r>
            <a:r>
              <a:rPr lang="en-US" dirty="0" smtClean="0"/>
              <a:t> law.</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Frequently Asked Questions</a:t>
            </a:r>
            <a:endParaRPr lang="en-US" b="1" dirty="0"/>
          </a:p>
        </p:txBody>
      </p:sp>
      <p:sp>
        <p:nvSpPr>
          <p:cNvPr id="3" name="Content Placeholder 2"/>
          <p:cNvSpPr>
            <a:spLocks noGrp="1"/>
          </p:cNvSpPr>
          <p:nvPr>
            <p:ph idx="1"/>
          </p:nvPr>
        </p:nvSpPr>
        <p:spPr/>
        <p:txBody>
          <a:bodyPr/>
          <a:lstStyle/>
          <a:p>
            <a:pPr algn="just">
              <a:buFont typeface="Wingdings" pitchFamily="2" charset="2"/>
              <a:buChar char="q"/>
            </a:pPr>
            <a:r>
              <a:rPr lang="en-US" dirty="0" smtClean="0"/>
              <a:t>Give the statement of </a:t>
            </a:r>
            <a:r>
              <a:rPr lang="en-US" dirty="0" err="1" smtClean="0"/>
              <a:t>kirchhoff’s</a:t>
            </a:r>
            <a:r>
              <a:rPr lang="en-US" dirty="0" smtClean="0"/>
              <a:t> voltage law.</a:t>
            </a:r>
          </a:p>
          <a:p>
            <a:pPr algn="just">
              <a:buFont typeface="Wingdings" pitchFamily="2" charset="2"/>
              <a:buChar char="q"/>
            </a:pPr>
            <a:r>
              <a:rPr lang="en-US" dirty="0" smtClean="0"/>
              <a:t>Give the statement of </a:t>
            </a:r>
            <a:r>
              <a:rPr lang="en-US" dirty="0" err="1" smtClean="0"/>
              <a:t>kirchhoff’s</a:t>
            </a:r>
            <a:r>
              <a:rPr lang="en-US" dirty="0" smtClean="0"/>
              <a:t> current law.</a:t>
            </a:r>
          </a:p>
          <a:p>
            <a:pPr algn="just">
              <a:buFont typeface="Wingdings" pitchFamily="2" charset="2"/>
              <a:buChar char="q"/>
            </a:pPr>
            <a:r>
              <a:rPr lang="en-US" dirty="0" smtClean="0"/>
              <a:t>In which networks </a:t>
            </a:r>
            <a:r>
              <a:rPr lang="en-US" dirty="0" err="1" smtClean="0"/>
              <a:t>kirchhoff’s</a:t>
            </a:r>
            <a:r>
              <a:rPr lang="en-US" dirty="0" smtClean="0"/>
              <a:t> laws are applicable?</a:t>
            </a:r>
          </a:p>
          <a:p>
            <a:pPr algn="just">
              <a:buFont typeface="Wingdings" pitchFamily="2" charset="2"/>
              <a:buChar char="q"/>
            </a:pPr>
            <a:r>
              <a:rPr lang="en-US" dirty="0" smtClean="0"/>
              <a:t>Give the difference between </a:t>
            </a:r>
            <a:r>
              <a:rPr lang="en-US" dirty="0" err="1" smtClean="0"/>
              <a:t>kvl</a:t>
            </a:r>
            <a:r>
              <a:rPr lang="en-US" dirty="0" smtClean="0"/>
              <a:t> and </a:t>
            </a:r>
            <a:r>
              <a:rPr lang="en-US" dirty="0" err="1" smtClean="0"/>
              <a:t>kcl</a:t>
            </a:r>
            <a:r>
              <a:rPr lang="en-US" dirty="0" smtClean="0"/>
              <a:t>.</a:t>
            </a:r>
          </a:p>
          <a:p>
            <a:pPr algn="just">
              <a:buFont typeface="Wingdings" pitchFamily="2" charset="2"/>
              <a:buChar char="q"/>
            </a:pPr>
            <a:r>
              <a:rPr lang="en-US" dirty="0" smtClean="0"/>
              <a:t>Define node, loop and mesh in your own words.</a:t>
            </a:r>
          </a:p>
          <a:p>
            <a:pPr algn="just">
              <a:buFont typeface="Wingdings" pitchFamily="2" charset="2"/>
              <a:buChar char="q"/>
            </a:pPr>
            <a:endParaRPr lang="en-US" dirty="0" smtClean="0"/>
          </a:p>
          <a:p>
            <a:pPr algn="just">
              <a:buFont typeface="Wingdings" pitchFamily="2" charset="2"/>
              <a:buChar char="q"/>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9828"/>
            <a:ext cx="10515600" cy="1325563"/>
          </a:xfrm>
        </p:spPr>
        <p:txBody>
          <a:bodyPr/>
          <a:lstStyle/>
          <a:p>
            <a:pPr algn="ctr"/>
            <a:r>
              <a:rPr lang="en-US" b="1" dirty="0" smtClean="0"/>
              <a:t>Practice Questions</a:t>
            </a:r>
            <a:endParaRPr lang="en-US" b="1" dirty="0"/>
          </a:p>
        </p:txBody>
      </p:sp>
      <p:sp>
        <p:nvSpPr>
          <p:cNvPr id="3" name="Content Placeholder 2"/>
          <p:cNvSpPr>
            <a:spLocks noGrp="1"/>
          </p:cNvSpPr>
          <p:nvPr>
            <p:ph idx="1"/>
          </p:nvPr>
        </p:nvSpPr>
        <p:spPr>
          <a:xfrm>
            <a:off x="838200" y="1381483"/>
            <a:ext cx="10515600" cy="4914814"/>
          </a:xfrm>
        </p:spPr>
        <p:txBody>
          <a:bodyPr/>
          <a:lstStyle/>
          <a:p>
            <a:r>
              <a:rPr lang="en-US" dirty="0" smtClean="0"/>
              <a:t>Find out the current in 2ohm in a circuit.</a:t>
            </a:r>
          </a:p>
          <a:p>
            <a:endParaRPr lang="en-US" dirty="0" smtClean="0"/>
          </a:p>
          <a:p>
            <a:endParaRPr lang="en-US" dirty="0" smtClean="0"/>
          </a:p>
          <a:p>
            <a:endParaRPr lang="en-US" dirty="0" smtClean="0"/>
          </a:p>
          <a:p>
            <a:endParaRPr lang="en-US" dirty="0" smtClean="0"/>
          </a:p>
          <a:p>
            <a:r>
              <a:rPr lang="en-US" dirty="0" smtClean="0"/>
              <a:t>Evaluate the current in 24ohm as given figure below.</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29</a:t>
            </a:fld>
            <a:endParaRPr lang="en-US"/>
          </a:p>
        </p:txBody>
      </p:sp>
      <p:pic>
        <p:nvPicPr>
          <p:cNvPr id="161794" name="Picture 2" descr="Branch Current Method | DC Network Analysis | Electronics Textbook"/>
          <p:cNvPicPr>
            <a:picLocks noChangeAspect="1" noChangeArrowheads="1"/>
          </p:cNvPicPr>
          <p:nvPr/>
        </p:nvPicPr>
        <p:blipFill>
          <a:blip r:embed="rId2" cstate="print"/>
          <a:srcRect/>
          <a:stretch>
            <a:fillRect/>
          </a:stretch>
        </p:blipFill>
        <p:spPr bwMode="auto">
          <a:xfrm>
            <a:off x="2964089" y="1725249"/>
            <a:ext cx="4351111" cy="1870809"/>
          </a:xfrm>
          <a:prstGeom prst="rect">
            <a:avLst/>
          </a:prstGeom>
          <a:noFill/>
        </p:spPr>
      </p:pic>
      <p:pic>
        <p:nvPicPr>
          <p:cNvPr id="161796" name="Picture 4" descr="Branch, Loop and Node Analyses - Electrical Engineering Questions ..."/>
          <p:cNvPicPr>
            <a:picLocks noChangeAspect="1" noChangeArrowheads="1"/>
          </p:cNvPicPr>
          <p:nvPr/>
        </p:nvPicPr>
        <p:blipFill>
          <a:blip r:embed="rId3" cstate="print"/>
          <a:srcRect/>
          <a:stretch>
            <a:fillRect/>
          </a:stretch>
        </p:blipFill>
        <p:spPr bwMode="auto">
          <a:xfrm>
            <a:off x="3618411" y="4422725"/>
            <a:ext cx="3471091" cy="1973042"/>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1" y="1028702"/>
            <a:ext cx="5778500" cy="4873625"/>
          </a:xfrm>
        </p:spPr>
        <p:txBody>
          <a:bodyPr>
            <a:normAutofit/>
          </a:bodyPr>
          <a:lstStyle/>
          <a:p>
            <a:pPr marL="0" indent="0">
              <a:buNone/>
            </a:pPr>
            <a:r>
              <a:rPr lang="en-IN" sz="2800" dirty="0" smtClean="0">
                <a:latin typeface="Times New Roman" pitchFamily="18" charset="0"/>
                <a:cs typeface="Times New Roman" pitchFamily="18" charset="0"/>
              </a:rPr>
              <a:t> </a:t>
            </a:r>
            <a:r>
              <a:rPr lang="en-IN" sz="2800" dirty="0" smtClean="0">
                <a:latin typeface="Casper"/>
                <a:cs typeface="Times New Roman" pitchFamily="18" charset="0"/>
              </a:rPr>
              <a:t>To </a:t>
            </a:r>
            <a:r>
              <a:rPr lang="en-IN" sz="2800" dirty="0">
                <a:latin typeface="Casper"/>
                <a:cs typeface="Times New Roman" pitchFamily="18" charset="0"/>
              </a:rPr>
              <a:t>make students </a:t>
            </a:r>
            <a:r>
              <a:rPr lang="en-IN" sz="2800" dirty="0" smtClean="0">
                <a:latin typeface="Casper"/>
                <a:cs typeface="Times New Roman" pitchFamily="18" charset="0"/>
              </a:rPr>
              <a:t>understand</a:t>
            </a:r>
            <a:endParaRPr lang="en-IN" sz="2800" dirty="0">
              <a:latin typeface="Casper"/>
              <a:cs typeface="Times New Roman" pitchFamily="18" charset="0"/>
            </a:endParaRPr>
          </a:p>
          <a:p>
            <a:r>
              <a:rPr lang="en-US" sz="2800" dirty="0">
                <a:latin typeface="Casper"/>
              </a:rPr>
              <a:t> </a:t>
            </a:r>
            <a:r>
              <a:rPr lang="en-US" sz="2800" dirty="0" smtClean="0">
                <a:latin typeface="Casper"/>
              </a:rPr>
              <a:t>Concepts </a:t>
            </a:r>
            <a:r>
              <a:rPr lang="en-US" sz="2800" dirty="0">
                <a:latin typeface="Casper"/>
              </a:rPr>
              <a:t>of </a:t>
            </a:r>
            <a:r>
              <a:rPr lang="en-US" sz="2800" dirty="0" err="1" smtClean="0">
                <a:latin typeface="Casper"/>
              </a:rPr>
              <a:t>kirchhoff’s</a:t>
            </a:r>
            <a:r>
              <a:rPr lang="en-US" sz="2800" dirty="0" smtClean="0">
                <a:latin typeface="Casper"/>
              </a:rPr>
              <a:t> laws with the help of examples.</a:t>
            </a:r>
            <a:endParaRPr lang="en-US" sz="2800" dirty="0">
              <a:latin typeface="Casper"/>
            </a:endParaRPr>
          </a:p>
          <a:p>
            <a:endParaRPr lang="en-US" sz="2800" dirty="0">
              <a:latin typeface="Casper"/>
            </a:endParaRPr>
          </a:p>
          <a:p>
            <a:r>
              <a:rPr lang="en-US" sz="2800" dirty="0" smtClean="0">
                <a:latin typeface="Casper"/>
              </a:rPr>
              <a:t>Importance </a:t>
            </a:r>
            <a:r>
              <a:rPr lang="en-US" sz="2800" dirty="0">
                <a:latin typeface="Casper"/>
              </a:rPr>
              <a:t>of </a:t>
            </a:r>
            <a:r>
              <a:rPr lang="en-US" sz="2800" dirty="0" err="1" smtClean="0">
                <a:latin typeface="Casper"/>
              </a:rPr>
              <a:t>kirchhoff’s</a:t>
            </a:r>
            <a:r>
              <a:rPr lang="en-US" sz="2800" dirty="0" smtClean="0">
                <a:latin typeface="Casper"/>
              </a:rPr>
              <a:t> </a:t>
            </a:r>
            <a:r>
              <a:rPr lang="en-US" sz="2800" dirty="0" err="1" smtClean="0">
                <a:latin typeface="Casper"/>
              </a:rPr>
              <a:t>lwas</a:t>
            </a:r>
            <a:r>
              <a:rPr lang="en-US" sz="2800" dirty="0" smtClean="0">
                <a:latin typeface="Casper"/>
              </a:rPr>
              <a:t> in electrical networks.</a:t>
            </a:r>
            <a:endParaRPr lang="en-US" sz="2800" dirty="0">
              <a:latin typeface="Casper"/>
            </a:endParaRPr>
          </a:p>
          <a:p>
            <a:endParaRPr lang="en-US" sz="2800" dirty="0">
              <a:latin typeface="Casper"/>
            </a:endParaRPr>
          </a:p>
          <a:p>
            <a:r>
              <a:rPr lang="en-US" sz="2800" dirty="0" smtClean="0">
                <a:latin typeface="Casper"/>
              </a:rPr>
              <a:t>Fundamentals </a:t>
            </a:r>
            <a:r>
              <a:rPr lang="en-US" sz="2800" dirty="0">
                <a:latin typeface="Casper"/>
              </a:rPr>
              <a:t>of </a:t>
            </a:r>
            <a:r>
              <a:rPr lang="en-US" sz="2800" dirty="0" err="1" smtClean="0">
                <a:latin typeface="Casper"/>
              </a:rPr>
              <a:t>kirchhoff’s</a:t>
            </a:r>
            <a:r>
              <a:rPr lang="en-US" sz="2800" dirty="0" smtClean="0">
                <a:latin typeface="Casper"/>
              </a:rPr>
              <a:t> laws with different terms used.</a:t>
            </a:r>
            <a:endParaRPr lang="en-US" sz="2800" dirty="0">
              <a:latin typeface="Casper"/>
            </a:endParaRPr>
          </a:p>
          <a:p>
            <a:endParaRPr lang="en-US" sz="2400" dirty="0">
              <a:latin typeface="Times New Roman" pitchFamily="18" charset="0"/>
              <a:cs typeface="Times New Roman" pitchFamily="18" charset="0"/>
            </a:endParaRPr>
          </a:p>
          <a:p>
            <a:endParaRPr lang="en-US" sz="2400" dirty="0"/>
          </a:p>
          <a:p>
            <a:endParaRPr lang="en-US" sz="2400" dirty="0" smtClean="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2"/>
            <a:ext cx="2743200" cy="365125"/>
          </a:xfrm>
        </p:spPr>
        <p:txBody>
          <a:bodyPr/>
          <a:lstStyle/>
          <a:p>
            <a:fld id="{BDCDBBEF-AA6C-4BA6-85B2-A17D7F280E38}" type="slidenum">
              <a:rPr lang="en-US" smtClean="0"/>
              <a:pPr/>
              <a:t>30</a:t>
            </a:fld>
            <a:endParaRPr lang="en-US" dirty="0"/>
          </a:p>
        </p:txBody>
      </p:sp>
      <p:sp>
        <p:nvSpPr>
          <p:cNvPr id="8" name="Title 7"/>
          <p:cNvSpPr txBox="1">
            <a:spLocks noGrp="1" noChangeArrowheads="1"/>
          </p:cNvSpPr>
          <p:nvPr>
            <p:ph type="title"/>
          </p:nvPr>
        </p:nvSpPr>
        <p:spPr bwMode="auto">
          <a:xfrm>
            <a:off x="383949" y="1681522"/>
            <a:ext cx="4456567"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smtClean="0">
                <a:latin typeface="Casper"/>
                <a:ea typeface="Karla" pitchFamily="2" charset="0"/>
                <a:cs typeface="Karla" pitchFamily="2" charset="0"/>
              </a:rPr>
              <a:t>LEARNING OUTCOMES</a:t>
            </a:r>
            <a:r>
              <a:rPr lang="en-US" sz="4400" b="1" dirty="0">
                <a:latin typeface="Casper"/>
                <a:ea typeface="Karla" pitchFamily="2" charset="0"/>
                <a:cs typeface="Karla" pitchFamily="2" charset="0"/>
              </a:rPr>
              <a:t/>
            </a:r>
            <a:br>
              <a:rPr lang="en-US" sz="4400" b="1" dirty="0">
                <a:latin typeface="Casper"/>
                <a:ea typeface="Karla" pitchFamily="2" charset="0"/>
                <a:cs typeface="Karla" pitchFamily="2" charset="0"/>
              </a:rPr>
            </a:br>
            <a:endParaRPr lang="en-US" sz="4400" dirty="0">
              <a:latin typeface="Casper"/>
            </a:endParaRPr>
          </a:p>
        </p:txBody>
      </p:sp>
      <p:sp>
        <p:nvSpPr>
          <p:cNvPr id="2" name="Rectangle 1"/>
          <p:cNvSpPr/>
          <p:nvPr/>
        </p:nvSpPr>
        <p:spPr>
          <a:xfrm>
            <a:off x="5295900" y="511627"/>
            <a:ext cx="5867400" cy="583692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7" y="6324602"/>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5"/>
          <p:cNvPicPr>
            <a:picLocks noChangeAspect="1" noChangeArrowheads="1"/>
          </p:cNvPicPr>
          <p:nvPr/>
        </p:nvPicPr>
        <p:blipFill>
          <a:blip r:embed="rId2" cstate="print"/>
          <a:srcRect/>
          <a:stretch>
            <a:fillRect/>
          </a:stretch>
        </p:blipFill>
        <p:spPr bwMode="auto">
          <a:xfrm>
            <a:off x="304800" y="304801"/>
            <a:ext cx="812800" cy="976065"/>
          </a:xfrm>
          <a:prstGeom prst="rect">
            <a:avLst/>
          </a:prstGeom>
          <a:noFill/>
          <a:ln w="9525">
            <a:noFill/>
            <a:miter lim="800000"/>
            <a:headEnd/>
            <a:tailEnd/>
          </a:ln>
        </p:spPr>
      </p:pic>
    </p:spTree>
    <p:extLst>
      <p:ext uri="{BB962C8B-B14F-4D97-AF65-F5344CB8AC3E}">
        <p14:creationId xmlns:p14="http://schemas.microsoft.com/office/powerpoint/2010/main" val="69380159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Course Outcome to Program Outcome Relationship</a:t>
            </a:r>
            <a:endParaRPr lang="en-US"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31</a:t>
            </a:fld>
            <a:endParaRPr lang="en-US"/>
          </a:p>
        </p:txBody>
      </p:sp>
      <p:graphicFrame>
        <p:nvGraphicFramePr>
          <p:cNvPr id="5" name="Table 4"/>
          <p:cNvGraphicFramePr>
            <a:graphicFrameLocks noGrp="1"/>
          </p:cNvGraphicFramePr>
          <p:nvPr/>
        </p:nvGraphicFramePr>
        <p:xfrm>
          <a:off x="2024747" y="2207630"/>
          <a:ext cx="8242666" cy="3500846"/>
        </p:xfrm>
        <a:graphic>
          <a:graphicData uri="http://schemas.openxmlformats.org/drawingml/2006/table">
            <a:tbl>
              <a:tblPr/>
              <a:tblGrid>
                <a:gridCol w="719181">
                  <a:extLst>
                    <a:ext uri="{9D8B030D-6E8A-4147-A177-3AD203B41FA5}">
                      <a16:colId xmlns:a16="http://schemas.microsoft.com/office/drawing/2014/main" val="20000"/>
                    </a:ext>
                  </a:extLst>
                </a:gridCol>
                <a:gridCol w="483873">
                  <a:extLst>
                    <a:ext uri="{9D8B030D-6E8A-4147-A177-3AD203B41FA5}">
                      <a16:colId xmlns:a16="http://schemas.microsoft.com/office/drawing/2014/main" val="20001"/>
                    </a:ext>
                  </a:extLst>
                </a:gridCol>
                <a:gridCol w="601100">
                  <a:extLst>
                    <a:ext uri="{9D8B030D-6E8A-4147-A177-3AD203B41FA5}">
                      <a16:colId xmlns:a16="http://schemas.microsoft.com/office/drawing/2014/main" val="20002"/>
                    </a:ext>
                  </a:extLst>
                </a:gridCol>
                <a:gridCol w="601100">
                  <a:extLst>
                    <a:ext uri="{9D8B030D-6E8A-4147-A177-3AD203B41FA5}">
                      <a16:colId xmlns:a16="http://schemas.microsoft.com/office/drawing/2014/main" val="20003"/>
                    </a:ext>
                  </a:extLst>
                </a:gridCol>
                <a:gridCol w="601955">
                  <a:extLst>
                    <a:ext uri="{9D8B030D-6E8A-4147-A177-3AD203B41FA5}">
                      <a16:colId xmlns:a16="http://schemas.microsoft.com/office/drawing/2014/main" val="20004"/>
                    </a:ext>
                  </a:extLst>
                </a:gridCol>
                <a:gridCol w="601955">
                  <a:extLst>
                    <a:ext uri="{9D8B030D-6E8A-4147-A177-3AD203B41FA5}">
                      <a16:colId xmlns:a16="http://schemas.microsoft.com/office/drawing/2014/main" val="20005"/>
                    </a:ext>
                  </a:extLst>
                </a:gridCol>
                <a:gridCol w="602812">
                  <a:extLst>
                    <a:ext uri="{9D8B030D-6E8A-4147-A177-3AD203B41FA5}">
                      <a16:colId xmlns:a16="http://schemas.microsoft.com/office/drawing/2014/main" val="20006"/>
                    </a:ext>
                  </a:extLst>
                </a:gridCol>
                <a:gridCol w="602812">
                  <a:extLst>
                    <a:ext uri="{9D8B030D-6E8A-4147-A177-3AD203B41FA5}">
                      <a16:colId xmlns:a16="http://schemas.microsoft.com/office/drawing/2014/main" val="20007"/>
                    </a:ext>
                  </a:extLst>
                </a:gridCol>
                <a:gridCol w="602812">
                  <a:extLst>
                    <a:ext uri="{9D8B030D-6E8A-4147-A177-3AD203B41FA5}">
                      <a16:colId xmlns:a16="http://schemas.microsoft.com/office/drawing/2014/main" val="20008"/>
                    </a:ext>
                  </a:extLst>
                </a:gridCol>
                <a:gridCol w="602812">
                  <a:extLst>
                    <a:ext uri="{9D8B030D-6E8A-4147-A177-3AD203B41FA5}">
                      <a16:colId xmlns:a16="http://schemas.microsoft.com/office/drawing/2014/main" val="20009"/>
                    </a:ext>
                  </a:extLst>
                </a:gridCol>
                <a:gridCol w="766043">
                  <a:extLst>
                    <a:ext uri="{9D8B030D-6E8A-4147-A177-3AD203B41FA5}">
                      <a16:colId xmlns:a16="http://schemas.microsoft.com/office/drawing/2014/main" val="20010"/>
                    </a:ext>
                  </a:extLst>
                </a:gridCol>
                <a:gridCol w="732257">
                  <a:extLst>
                    <a:ext uri="{9D8B030D-6E8A-4147-A177-3AD203B41FA5}">
                      <a16:colId xmlns:a16="http://schemas.microsoft.com/office/drawing/2014/main" val="20011"/>
                    </a:ext>
                  </a:extLst>
                </a:gridCol>
                <a:gridCol w="723954">
                  <a:extLst>
                    <a:ext uri="{9D8B030D-6E8A-4147-A177-3AD203B41FA5}">
                      <a16:colId xmlns:a16="http://schemas.microsoft.com/office/drawing/2014/main" val="20012"/>
                    </a:ext>
                  </a:extLst>
                </a:gridCol>
              </a:tblGrid>
              <a:tr h="429823">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6">
                  <a:txBody>
                    <a:bodyPr/>
                    <a:lstStyle/>
                    <a:p>
                      <a:pPr marL="457200" marR="0" indent="-457200" algn="ctr">
                        <a:lnSpc>
                          <a:spcPct val="107000"/>
                        </a:lnSpc>
                        <a:spcBef>
                          <a:spcPts val="0"/>
                        </a:spcBef>
                        <a:spcAft>
                          <a:spcPts val="0"/>
                        </a:spcAft>
                      </a:pPr>
                      <a:r>
                        <a:rPr lang="en-US" sz="2000" b="1" dirty="0" smtClean="0">
                          <a:solidFill>
                            <a:srgbClr val="000000"/>
                          </a:solidFill>
                          <a:latin typeface="Calibri"/>
                          <a:ea typeface="Calibri"/>
                          <a:cs typeface="Times New Roman"/>
                        </a:rPr>
                        <a:t>     (20ELT-111) </a:t>
                      </a:r>
                      <a:r>
                        <a:rPr lang="en-US" sz="2000" b="1" dirty="0">
                          <a:solidFill>
                            <a:srgbClr val="000000"/>
                          </a:solidFill>
                          <a:latin typeface="Calibri"/>
                          <a:ea typeface="Calibri"/>
                          <a:cs typeface="Times New Roman"/>
                        </a:rPr>
                        <a:t>BEEE</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82875">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PO→</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56648">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CO↓</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PO1</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PO2</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PO3</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PO4</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PO5</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PO6</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PO7</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PO8</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PO9</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PO10</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PO11</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PO12</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82875">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CO1</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3</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3</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2</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2</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1</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0</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0</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0</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1</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0</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82875">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CO2</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3</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2</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1</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3</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1</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0</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0</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82875">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CO3</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3</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1</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1</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1</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2</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1</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0</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82875">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CO4</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3</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1</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1</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1</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1</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0</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550"/>
            <a:ext cx="10515600" cy="1325563"/>
          </a:xfrm>
        </p:spPr>
        <p:txBody>
          <a:bodyPr/>
          <a:lstStyle/>
          <a:p>
            <a:pPr algn="ctr"/>
            <a:r>
              <a:rPr lang="en-US" b="1" dirty="0" smtClean="0"/>
              <a:t>Assessment Pattern</a:t>
            </a:r>
            <a:endParaRPr lang="en-US" b="1" dirty="0"/>
          </a:p>
        </p:txBody>
      </p:sp>
      <p:sp>
        <p:nvSpPr>
          <p:cNvPr id="3" name="Content Placeholder 2"/>
          <p:cNvSpPr>
            <a:spLocks noGrp="1"/>
          </p:cNvSpPr>
          <p:nvPr>
            <p:ph idx="1"/>
          </p:nvPr>
        </p:nvSpPr>
        <p:spPr>
          <a:xfrm>
            <a:off x="838199" y="1146352"/>
            <a:ext cx="10696303" cy="4940939"/>
          </a:xfrm>
        </p:spPr>
        <p:txBody>
          <a:bodyPr>
            <a:normAutofit/>
          </a:bodyPr>
          <a:lstStyle/>
          <a:p>
            <a:pPr marL="514350" indent="-514350">
              <a:buNone/>
            </a:pPr>
            <a:endParaRPr lang="en-US" dirty="0" smtClean="0"/>
          </a:p>
          <a:p>
            <a:pPr marL="514350" indent="-514350">
              <a:buNone/>
            </a:pPr>
            <a:endParaRPr lang="en-US" dirty="0" smtClean="0"/>
          </a:p>
          <a:p>
            <a:pPr marL="514350" indent="-514350">
              <a:buNone/>
            </a:pPr>
            <a:endParaRPr lang="en-US" dirty="0" smtClean="0"/>
          </a:p>
          <a:p>
            <a:pPr marL="514350" indent="-514350">
              <a:buNone/>
            </a:pPr>
            <a:endParaRPr lang="en-US" dirty="0" smtClean="0"/>
          </a:p>
          <a:p>
            <a:pPr marL="514350" indent="-514350">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32</a:t>
            </a:fld>
            <a:endParaRPr lang="en-US"/>
          </a:p>
        </p:txBody>
      </p:sp>
      <p:graphicFrame>
        <p:nvGraphicFramePr>
          <p:cNvPr id="5" name="Table 4"/>
          <p:cNvGraphicFramePr>
            <a:graphicFrameLocks noGrp="1"/>
          </p:cNvGraphicFramePr>
          <p:nvPr/>
        </p:nvGraphicFramePr>
        <p:xfrm>
          <a:off x="770711" y="1968136"/>
          <a:ext cx="10855229" cy="2115978"/>
        </p:xfrm>
        <a:graphic>
          <a:graphicData uri="http://schemas.openxmlformats.org/drawingml/2006/table">
            <a:tbl>
              <a:tblPr firstRow="1" bandRow="1">
                <a:tableStyleId>{073A0DAA-6AF3-43AB-8588-CEC1D06C72B9}</a:tableStyleId>
              </a:tblPr>
              <a:tblGrid>
                <a:gridCol w="1550747">
                  <a:extLst>
                    <a:ext uri="{9D8B030D-6E8A-4147-A177-3AD203B41FA5}">
                      <a16:colId xmlns:a16="http://schemas.microsoft.com/office/drawing/2014/main" val="20000"/>
                    </a:ext>
                  </a:extLst>
                </a:gridCol>
                <a:gridCol w="1550747">
                  <a:extLst>
                    <a:ext uri="{9D8B030D-6E8A-4147-A177-3AD203B41FA5}">
                      <a16:colId xmlns:a16="http://schemas.microsoft.com/office/drawing/2014/main" val="20001"/>
                    </a:ext>
                  </a:extLst>
                </a:gridCol>
                <a:gridCol w="1550747">
                  <a:extLst>
                    <a:ext uri="{9D8B030D-6E8A-4147-A177-3AD203B41FA5}">
                      <a16:colId xmlns:a16="http://schemas.microsoft.com/office/drawing/2014/main" val="20002"/>
                    </a:ext>
                  </a:extLst>
                </a:gridCol>
                <a:gridCol w="1550747">
                  <a:extLst>
                    <a:ext uri="{9D8B030D-6E8A-4147-A177-3AD203B41FA5}">
                      <a16:colId xmlns:a16="http://schemas.microsoft.com/office/drawing/2014/main" val="20003"/>
                    </a:ext>
                  </a:extLst>
                </a:gridCol>
                <a:gridCol w="1550747">
                  <a:extLst>
                    <a:ext uri="{9D8B030D-6E8A-4147-A177-3AD203B41FA5}">
                      <a16:colId xmlns:a16="http://schemas.microsoft.com/office/drawing/2014/main" val="20004"/>
                    </a:ext>
                  </a:extLst>
                </a:gridCol>
                <a:gridCol w="1550747">
                  <a:extLst>
                    <a:ext uri="{9D8B030D-6E8A-4147-A177-3AD203B41FA5}">
                      <a16:colId xmlns:a16="http://schemas.microsoft.com/office/drawing/2014/main" val="20005"/>
                    </a:ext>
                  </a:extLst>
                </a:gridCol>
                <a:gridCol w="1550747">
                  <a:extLst>
                    <a:ext uri="{9D8B030D-6E8A-4147-A177-3AD203B41FA5}">
                      <a16:colId xmlns:a16="http://schemas.microsoft.com/office/drawing/2014/main" val="20006"/>
                    </a:ext>
                  </a:extLst>
                </a:gridCol>
              </a:tblGrid>
              <a:tr h="1493725">
                <a:tc>
                  <a:txBody>
                    <a:bodyPr/>
                    <a:lstStyle/>
                    <a:p>
                      <a:pPr algn="ctr"/>
                      <a:r>
                        <a:rPr lang="en-US" dirty="0" smtClean="0"/>
                        <a:t>     A</a:t>
                      </a:r>
                    </a:p>
                    <a:p>
                      <a:pPr algn="ctr"/>
                      <a:r>
                        <a:rPr lang="en-US" dirty="0" smtClean="0"/>
                        <a:t>Assignment (each assignment)</a:t>
                      </a:r>
                      <a:endParaRPr lang="en-US" dirty="0"/>
                    </a:p>
                  </a:txBody>
                  <a:tcPr/>
                </a:tc>
                <a:tc>
                  <a:txBody>
                    <a:bodyPr/>
                    <a:lstStyle/>
                    <a:p>
                      <a:pPr algn="ctr"/>
                      <a:r>
                        <a:rPr lang="en-US" dirty="0" smtClean="0"/>
                        <a:t>   B</a:t>
                      </a:r>
                    </a:p>
                    <a:p>
                      <a:pPr algn="ctr"/>
                      <a:r>
                        <a:rPr lang="en-US" dirty="0" smtClean="0"/>
                        <a:t>Time Bound Surprise</a:t>
                      </a:r>
                      <a:r>
                        <a:rPr lang="en-US" baseline="0" dirty="0" smtClean="0"/>
                        <a:t> Test (each test)</a:t>
                      </a:r>
                      <a:endParaRPr lang="en-US" dirty="0"/>
                    </a:p>
                  </a:txBody>
                  <a:tcPr/>
                </a:tc>
                <a:tc>
                  <a:txBody>
                    <a:bodyPr/>
                    <a:lstStyle/>
                    <a:p>
                      <a:pPr algn="ctr"/>
                      <a:r>
                        <a:rPr lang="en-US" dirty="0" smtClean="0"/>
                        <a:t>C</a:t>
                      </a:r>
                    </a:p>
                    <a:p>
                      <a:pPr algn="ctr"/>
                      <a:r>
                        <a:rPr lang="en-US" dirty="0" smtClean="0"/>
                        <a:t>Quiz (each quiz)</a:t>
                      </a:r>
                      <a:endParaRPr lang="en-US" dirty="0"/>
                    </a:p>
                  </a:txBody>
                  <a:tcPr/>
                </a:tc>
                <a:tc>
                  <a:txBody>
                    <a:bodyPr/>
                    <a:lstStyle/>
                    <a:p>
                      <a:pPr algn="ctr"/>
                      <a:r>
                        <a:rPr lang="en-US" dirty="0" smtClean="0"/>
                        <a:t>   D</a:t>
                      </a:r>
                    </a:p>
                    <a:p>
                      <a:pPr algn="ctr"/>
                      <a:r>
                        <a:rPr lang="en-US" dirty="0" smtClean="0"/>
                        <a:t>Mid</a:t>
                      </a:r>
                      <a:r>
                        <a:rPr lang="en-US" baseline="0" dirty="0" smtClean="0"/>
                        <a:t> Semester Test(one per test)</a:t>
                      </a:r>
                      <a:endParaRPr lang="en-US" dirty="0"/>
                    </a:p>
                  </a:txBody>
                  <a:tcPr/>
                </a:tc>
                <a:tc>
                  <a:txBody>
                    <a:bodyPr/>
                    <a:lstStyle/>
                    <a:p>
                      <a:pPr algn="ctr"/>
                      <a:r>
                        <a:rPr lang="en-US" dirty="0" smtClean="0"/>
                        <a:t>    E</a:t>
                      </a:r>
                    </a:p>
                    <a:p>
                      <a:pPr algn="ctr"/>
                      <a:r>
                        <a:rPr lang="en-US" dirty="0" smtClean="0"/>
                        <a:t>Homework</a:t>
                      </a:r>
                      <a:endParaRPr lang="en-US" dirty="0"/>
                    </a:p>
                  </a:txBody>
                  <a:tcPr/>
                </a:tc>
                <a:tc>
                  <a:txBody>
                    <a:bodyPr/>
                    <a:lstStyle/>
                    <a:p>
                      <a:pPr algn="ctr"/>
                      <a:r>
                        <a:rPr lang="en-US" dirty="0" smtClean="0"/>
                        <a:t>     F</a:t>
                      </a:r>
                    </a:p>
                    <a:p>
                      <a:pPr algn="ctr"/>
                      <a:r>
                        <a:rPr lang="en-US" dirty="0" smtClean="0"/>
                        <a:t>Discussion Forums</a:t>
                      </a:r>
                      <a:endParaRPr lang="en-US" dirty="0"/>
                    </a:p>
                  </a:txBody>
                  <a:tcPr/>
                </a:tc>
                <a:tc>
                  <a:txBody>
                    <a:bodyPr/>
                    <a:lstStyle/>
                    <a:p>
                      <a:pPr algn="ctr"/>
                      <a:r>
                        <a:rPr lang="en-US" dirty="0" smtClean="0"/>
                        <a:t>    G</a:t>
                      </a:r>
                    </a:p>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Attendance and  engagement Score on BB</a:t>
                      </a:r>
                    </a:p>
                    <a:p>
                      <a:pPr algn="ctr"/>
                      <a:endParaRPr lang="en-US" dirty="0"/>
                    </a:p>
                  </a:txBody>
                  <a:tcPr/>
                </a:tc>
                <a:extLst>
                  <a:ext uri="{0D108BD9-81ED-4DB2-BD59-A6C34878D82A}">
                    <a16:rowId xmlns:a16="http://schemas.microsoft.com/office/drawing/2014/main" val="10000"/>
                  </a:ext>
                </a:extLst>
              </a:tr>
              <a:tr h="378618">
                <a:tc>
                  <a:txBody>
                    <a:bodyPr/>
                    <a:lstStyle/>
                    <a:p>
                      <a:pPr algn="ctr"/>
                      <a:r>
                        <a:rPr lang="en-US" dirty="0" smtClean="0"/>
                        <a:t>10</a:t>
                      </a:r>
                      <a:endParaRPr lang="en-US" dirty="0"/>
                    </a:p>
                  </a:txBody>
                  <a:tcPr/>
                </a:tc>
                <a:tc>
                  <a:txBody>
                    <a:bodyPr/>
                    <a:lstStyle/>
                    <a:p>
                      <a:pPr algn="ctr"/>
                      <a:r>
                        <a:rPr lang="en-US" dirty="0" smtClean="0"/>
                        <a:t>   12</a:t>
                      </a:r>
                      <a:endParaRPr lang="en-US" dirty="0"/>
                    </a:p>
                  </a:txBody>
                  <a:tcPr/>
                </a:tc>
                <a:tc>
                  <a:txBody>
                    <a:bodyPr/>
                    <a:lstStyle/>
                    <a:p>
                      <a:pPr algn="ctr"/>
                      <a:r>
                        <a:rPr lang="en-US" dirty="0" smtClean="0"/>
                        <a:t>4</a:t>
                      </a:r>
                      <a:endParaRPr lang="en-US" dirty="0"/>
                    </a:p>
                  </a:txBody>
                  <a:tcPr/>
                </a:tc>
                <a:tc>
                  <a:txBody>
                    <a:bodyPr/>
                    <a:lstStyle/>
                    <a:p>
                      <a:pPr algn="ctr"/>
                      <a:r>
                        <a:rPr lang="en-US" dirty="0" smtClean="0"/>
                        <a:t>   20</a:t>
                      </a:r>
                      <a:endParaRPr lang="en-US" dirty="0"/>
                    </a:p>
                  </a:txBody>
                  <a:tcPr/>
                </a:tc>
                <a:tc>
                  <a:txBody>
                    <a:bodyPr/>
                    <a:lstStyle/>
                    <a:p>
                      <a:pPr algn="ctr"/>
                      <a:r>
                        <a:rPr lang="en-US" dirty="0" smtClean="0"/>
                        <a:t>NA</a:t>
                      </a:r>
                      <a:endParaRPr lang="en-US" dirty="0"/>
                    </a:p>
                  </a:txBody>
                  <a:tcPr/>
                </a:tc>
                <a:tc>
                  <a:txBody>
                    <a:bodyPr/>
                    <a:lstStyle/>
                    <a:p>
                      <a:pPr algn="ctr"/>
                      <a:r>
                        <a:rPr lang="en-US" dirty="0" smtClean="0"/>
                        <a:t>    NA</a:t>
                      </a:r>
                      <a:endParaRPr lang="en-US" dirty="0"/>
                    </a:p>
                  </a:txBody>
                  <a:tcPr/>
                </a:tc>
                <a:tc>
                  <a:txBody>
                    <a:bodyPr/>
                    <a:lstStyle/>
                    <a:p>
                      <a:pPr algn="ctr"/>
                      <a:r>
                        <a:rPr lang="en-US" dirty="0" smtClean="0"/>
                        <a:t>    2</a:t>
                      </a:r>
                      <a:endParaRPr lang="en-US" dirty="0"/>
                    </a:p>
                  </a:txBody>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References</a:t>
            </a:r>
            <a:endParaRPr lang="en-US" b="1" dirty="0"/>
          </a:p>
        </p:txBody>
      </p:sp>
      <p:sp>
        <p:nvSpPr>
          <p:cNvPr id="3" name="Content Placeholder 2"/>
          <p:cNvSpPr>
            <a:spLocks noGrp="1"/>
          </p:cNvSpPr>
          <p:nvPr>
            <p:ph idx="1"/>
          </p:nvPr>
        </p:nvSpPr>
        <p:spPr/>
        <p:txBody>
          <a:bodyPr/>
          <a:lstStyle/>
          <a:p>
            <a:pPr algn="just">
              <a:buFont typeface="Wingdings" pitchFamily="2" charset="2"/>
              <a:buChar char="Ø"/>
            </a:pPr>
            <a:r>
              <a:rPr lang="en-US" dirty="0" smtClean="0">
                <a:hlinkClick r:id="rId2"/>
              </a:rPr>
              <a:t>https://circuitglobe.com/what-is-kirchhoffs-current-law-and-kirchhoffs-voltage-law.html</a:t>
            </a:r>
            <a:endParaRPr lang="en-US" dirty="0" smtClean="0"/>
          </a:p>
          <a:p>
            <a:pPr algn="just">
              <a:buFont typeface="Wingdings" pitchFamily="2" charset="2"/>
              <a:buChar char="Ø"/>
            </a:pPr>
            <a:r>
              <a:rPr lang="en-US" dirty="0" smtClean="0">
                <a:hlinkClick r:id="rId3"/>
              </a:rPr>
              <a:t>https://study.com/academy/lesson/kirchhoffs-law-definition-application.html#:~:text=Kirchhoff's%20laws%20are%20used%20to,about%20series%20and%20parallel%20resistors.</a:t>
            </a:r>
            <a:endParaRPr lang="en-US" dirty="0" smtClean="0"/>
          </a:p>
          <a:p>
            <a:pPr algn="just">
              <a:buFont typeface="Wingdings" pitchFamily="2" charset="2"/>
              <a:buChar char="Ø"/>
            </a:pPr>
            <a:r>
              <a:rPr lang="en-US" dirty="0" smtClean="0">
                <a:hlinkClick r:id="rId4"/>
              </a:rPr>
              <a:t>https://www.student-circuit.com/learning/year2/electronic-circuits/kirchhoffs-law-application-circuits-analysis/</a:t>
            </a:r>
            <a:endParaRPr lang="en-US" dirty="0" smtClean="0"/>
          </a:p>
          <a:p>
            <a:pPr algn="just">
              <a:buFont typeface="Wingdings" pitchFamily="2" charset="2"/>
              <a:buChar char="Ø"/>
            </a:pPr>
            <a:r>
              <a:rPr lang="en-US" dirty="0" smtClean="0">
                <a:hlinkClick r:id="rId5"/>
              </a:rPr>
              <a:t>https://www.khanacademy.org/science/physics/circuits-topic/circuits-resistance/a/ee-kirchhoffs-laws</a:t>
            </a:r>
            <a:endParaRPr lang="en-US" dirty="0" smtClean="0"/>
          </a:p>
          <a:p>
            <a:pPr algn="just">
              <a:buFont typeface="Wingdings" pitchFamily="2" charset="2"/>
              <a:buChar char="Ø"/>
            </a:pPr>
            <a:endParaRPr lang="en-US" dirty="0" smtClean="0"/>
          </a:p>
          <a:p>
            <a:pPr algn="just">
              <a:buFont typeface="Wingdings" pitchFamily="2" charset="2"/>
              <a:buChar char="Ø"/>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9"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7" y="6294599"/>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7" y="5129691"/>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3"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601"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5"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white"/>
              </a:solidFill>
              <a:effectLst/>
              <a:uLnTx/>
              <a:uFillTx/>
              <a:latin typeface="Calibri Light"/>
            </a:endParaRPr>
          </a:p>
        </p:txBody>
      </p:sp>
      <p:grpSp>
        <p:nvGrpSpPr>
          <p:cNvPr id="3" name="Group 28"/>
          <p:cNvGrpSpPr/>
          <p:nvPr/>
        </p:nvGrpSpPr>
        <p:grpSpPr>
          <a:xfrm>
            <a:off x="237521"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159756" name="CorelDRAW" r:id="rId3" imgW="2169000" imgH="2169360" progId="">
                    <p:embed/>
                  </p:oleObj>
                </mc:Choice>
                <mc:Fallback>
                  <p:oleObj name="CorelDRAW" r:id="rId3" imgW="2169000" imgH="216936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Rectangle 1"/>
          <p:cNvSpPr/>
          <p:nvPr/>
        </p:nvSpPr>
        <p:spPr>
          <a:xfrm>
            <a:off x="4114005" y="5394449"/>
            <a:ext cx="2996590" cy="646331"/>
          </a:xfrm>
          <a:prstGeom prst="rect">
            <a:avLst/>
          </a:prstGeom>
        </p:spPr>
        <p:txBody>
          <a:bodyPr wrap="none">
            <a:spAutoFit/>
          </a:bodyPr>
          <a:lstStyle/>
          <a:p>
            <a:r>
              <a:rPr lang="en-US" dirty="0" smtClean="0">
                <a:latin typeface="Casper" panose="02000506000000020004" pitchFamily="2" charset="0"/>
                <a:ea typeface="Segoe UI" panose="020B0502040204020203" pitchFamily="34" charset="0"/>
                <a:cs typeface="Segoe UI" panose="020B0502040204020203" pitchFamily="34" charset="0"/>
              </a:rPr>
              <a:t>For queries</a:t>
            </a:r>
          </a:p>
          <a:p>
            <a:r>
              <a:rPr lang="en-US" dirty="0" smtClean="0">
                <a:latin typeface="Casper" panose="02000506000000020004" pitchFamily="2" charset="0"/>
                <a:cs typeface="Segoe UI" panose="020B0502040204020203" pitchFamily="34" charset="0"/>
              </a:rPr>
              <a:t>Email</a:t>
            </a:r>
            <a:r>
              <a:rPr lang="en-US" smtClean="0">
                <a:latin typeface="Casper" panose="02000506000000020004" pitchFamily="2" charset="0"/>
                <a:cs typeface="Segoe UI" panose="020B0502040204020203" pitchFamily="34" charset="0"/>
              </a:rPr>
              <a:t>: Shikha.e12701@cumail.in</a:t>
            </a:r>
            <a:endParaRPr lang="en-US" dirty="0"/>
          </a:p>
        </p:txBody>
      </p:sp>
    </p:spTree>
    <p:extLst>
      <p:ext uri="{BB962C8B-B14F-4D97-AF65-F5344CB8AC3E}">
        <p14:creationId xmlns:p14="http://schemas.microsoft.com/office/powerpoint/2010/main" val="2656501266"/>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1611</TotalTime>
  <Words>1351</Words>
  <Application>Microsoft Office PowerPoint</Application>
  <PresentationFormat>Widescreen</PresentationFormat>
  <Paragraphs>333</Paragraphs>
  <Slides>34</Slides>
  <Notes>0</Notes>
  <HiddenSlides>0</HiddenSlides>
  <MMClips>0</MMClips>
  <ScaleCrop>false</ScaleCrop>
  <HeadingPairs>
    <vt:vector size="8" baseType="variant">
      <vt:variant>
        <vt:lpstr>Fonts Used</vt:lpstr>
      </vt:variant>
      <vt:variant>
        <vt:i4>13</vt:i4>
      </vt:variant>
      <vt:variant>
        <vt:lpstr>Theme</vt:lpstr>
      </vt:variant>
      <vt:variant>
        <vt:i4>2</vt:i4>
      </vt:variant>
      <vt:variant>
        <vt:lpstr>Embedded OLE Servers</vt:lpstr>
      </vt:variant>
      <vt:variant>
        <vt:i4>1</vt:i4>
      </vt:variant>
      <vt:variant>
        <vt:lpstr>Slide Titles</vt:lpstr>
      </vt:variant>
      <vt:variant>
        <vt:i4>34</vt:i4>
      </vt:variant>
    </vt:vector>
  </HeadingPairs>
  <TitlesOfParts>
    <vt:vector size="50" baseType="lpstr">
      <vt:lpstr>Arial</vt:lpstr>
      <vt:lpstr>Arial Black</vt:lpstr>
      <vt:lpstr>Arial Unicode MS</vt:lpstr>
      <vt:lpstr>Calibri</vt:lpstr>
      <vt:lpstr>Calibri Light</vt:lpstr>
      <vt:lpstr>Casper</vt:lpstr>
      <vt:lpstr>Karla</vt:lpstr>
      <vt:lpstr>King</vt:lpstr>
      <vt:lpstr>Raavi</vt:lpstr>
      <vt:lpstr>Raleway ExtraBold</vt:lpstr>
      <vt:lpstr>Segoe UI</vt:lpstr>
      <vt:lpstr>Times New Roman</vt:lpstr>
      <vt:lpstr>Wingdings</vt:lpstr>
      <vt:lpstr>1_Office Theme</vt:lpstr>
      <vt:lpstr>Contents Slide Master</vt:lpstr>
      <vt:lpstr>CorelDRAW</vt:lpstr>
      <vt:lpstr>PowerPoint Presentation</vt:lpstr>
      <vt:lpstr>Lecture Objectives</vt:lpstr>
      <vt:lpstr>Course Objectives</vt:lpstr>
      <vt:lpstr>Course Outcomes</vt:lpstr>
      <vt:lpstr>Importance of Basic Electrical &amp; Electronics Engineering   </vt:lpstr>
      <vt:lpstr>Content   </vt:lpstr>
      <vt:lpstr>Kirchhoff’ Laws</vt:lpstr>
      <vt:lpstr>Terms Used in Kirchhoff’ Laws</vt:lpstr>
      <vt:lpstr>Kirchhoff’ Current Law</vt:lpstr>
      <vt:lpstr>Kirchhoff’ Current Law</vt:lpstr>
      <vt:lpstr>Kirchhoff’ Current Law</vt:lpstr>
      <vt:lpstr>Numerical Based on Kirchhoff’ Current Law</vt:lpstr>
      <vt:lpstr>Numerical Based on Kirchhoff’ Current Law</vt:lpstr>
      <vt:lpstr>Numerical Based on Kirchhoff’ Current Law</vt:lpstr>
      <vt:lpstr>Kirchhoff’ Voltage Law</vt:lpstr>
      <vt:lpstr>Kirchhoff’ Voltage Law</vt:lpstr>
      <vt:lpstr>Kirchhoff’ Voltage Law</vt:lpstr>
      <vt:lpstr>Kirchhoff’ Voltage Law</vt:lpstr>
      <vt:lpstr>Kirchhoff’ Voltage Law</vt:lpstr>
      <vt:lpstr>Kirchhoff’ Voltage Law</vt:lpstr>
      <vt:lpstr>Numerical Based on Kirchhoff’ Voltage Law</vt:lpstr>
      <vt:lpstr>Numerical Based on Kirchhoff’ Voltage Law</vt:lpstr>
      <vt:lpstr>Numerical Based on Kirchhoff’ Voltage Law</vt:lpstr>
      <vt:lpstr>Numerical Based on Kirchhoff’ Voltage Law</vt:lpstr>
      <vt:lpstr>Difference Between KVL and KCL</vt:lpstr>
      <vt:lpstr>Applications of Kirchhoff’s Laws</vt:lpstr>
      <vt:lpstr>Summary</vt:lpstr>
      <vt:lpstr>Frequently Asked Questions</vt:lpstr>
      <vt:lpstr>Practice Questions</vt:lpstr>
      <vt:lpstr>LEARNING OUTCOMES </vt:lpstr>
      <vt:lpstr>Course Outcome to Program Outcome Relationship</vt:lpstr>
      <vt:lpstr>Assessment Pattern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INDIAN</cp:lastModifiedBy>
  <cp:revision>194</cp:revision>
  <dcterms:created xsi:type="dcterms:W3CDTF">2019-01-09T10:33:58Z</dcterms:created>
  <dcterms:modified xsi:type="dcterms:W3CDTF">2023-06-20T09:18:59Z</dcterms:modified>
</cp:coreProperties>
</file>