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1"/>
  </p:notesMasterIdLst>
  <p:handoutMasterIdLst>
    <p:handoutMasterId r:id="rId22"/>
  </p:handoutMasterIdLst>
  <p:sldIdLst>
    <p:sldId id="394" r:id="rId3"/>
    <p:sldId id="390" r:id="rId4"/>
    <p:sldId id="391" r:id="rId5"/>
    <p:sldId id="392" r:id="rId6"/>
    <p:sldId id="327" r:id="rId7"/>
    <p:sldId id="320" r:id="rId8"/>
    <p:sldId id="331" r:id="rId9"/>
    <p:sldId id="340" r:id="rId10"/>
    <p:sldId id="342" r:id="rId11"/>
    <p:sldId id="344" r:id="rId12"/>
    <p:sldId id="346" r:id="rId13"/>
    <p:sldId id="350" r:id="rId14"/>
    <p:sldId id="352" r:id="rId15"/>
    <p:sldId id="354" r:id="rId16"/>
    <p:sldId id="356" r:id="rId17"/>
    <p:sldId id="283" r:id="rId18"/>
    <p:sldId id="284" r:id="rId19"/>
    <p:sldId id="39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4" autoAdjust="0"/>
    <p:restoredTop sz="94660"/>
  </p:normalViewPr>
  <p:slideViewPr>
    <p:cSldViewPr snapToGrid="0">
      <p:cViewPr varScale="1">
        <p:scale>
          <a:sx n="73" d="100"/>
          <a:sy n="73" d="100"/>
        </p:scale>
        <p:origin x="46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/>
              <a:t>This slide is animation based so view it in slide show mode for better understanding and colour of pairing in the k-map resembles the colour of corresponding term in the expression to avoid confusion.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539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/>
              <a:t>This slide is animation based so view it in slide show mode for better understanding and colour of pairing in the k-map resembles the colour of corresponding term in the expression to avoid confusion.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D672D-3FB6-43DC-92E4-7B1778999759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713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/>
              <a:t>This slide is animation based so view it in slide show mode for better understanding and colour of pairing in the k-map resembles the colour of corresponding term in the expression to avoid confusion.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911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/>
              <a:t>This slide is animation based so view it in slide show mode for better understanding and colour of pairing in the k-map resembles the colour of corresponding term in the expression to avoid confusion.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717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tbm=isch&amp;q=karnaugh+map+grouping&amp;chips=q:karnaugh+map+grouping,g_1:k+map&amp;usg=AI4_-kQxn1GFLOgRA5XEOFWdHPcK4HmC8w&amp;sa=X&amp;ved=0ahUKEwie98rzl_3iAhWILo8KHcmABz0Q4lYIKygC&amp;biw=1366&amp;bih=657&amp;dpr=1" TargetMode="External"/><Relationship Id="rId7" Type="http://schemas.openxmlformats.org/officeDocument/2006/relationships/hyperlink" Target="http://195.134.76.37/applets/AppletGates/Appl_Gates2.html" TargetMode="External"/><Relationship Id="rId2" Type="http://schemas.openxmlformats.org/officeDocument/2006/relationships/hyperlink" Target="http://only-vlsi.blogspot.com/2009/01/boolean-expression-simplificatio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ni.com/example/14493/en/" TargetMode="External"/><Relationship Id="rId5" Type="http://schemas.openxmlformats.org/officeDocument/2006/relationships/hyperlink" Target="http://www.geeksforgeeks.org/digital-electronics-logic-design-tutorials/" TargetMode="External"/><Relationship Id="rId4" Type="http://schemas.openxmlformats.org/officeDocument/2006/relationships/hyperlink" Target="https://www.google.com/search?biw=1366&amp;bih=657&amp;tbm=isch&amp;sa=1&amp;ei=Ki4OXdSzG5L0rAH3jpjYCw&amp;q=karnaugh+map+examples+with+solutions&amp;oq=karnaugh+map+examples&amp;gs_l=img.1.3.0j0i24l6.228061.233126..236212...0.0..1.463.4033.0j5j8j2j1......0....1..gws-wiz-img.......0i67j0i8i30.zfc8Yep3OZY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46685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K-MAP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82714" y="1703603"/>
            <a:ext cx="9063318" cy="6647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</a:t>
            </a:r>
            <a:r>
              <a:rPr lang="en-US" sz="24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Code-23ECH-101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Unit-1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Chapter-3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400" b="1" dirty="0"/>
              <a:t>Basics of Electrical &amp; Electronics Circuit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1.3.6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383655" y="24968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429191"/>
              </p:ext>
            </p:extLst>
          </p:nvPr>
        </p:nvGraphicFramePr>
        <p:xfrm>
          <a:off x="592954" y="2054775"/>
          <a:ext cx="6053173" cy="4197274"/>
        </p:xfrm>
        <a:graphic>
          <a:graphicData uri="http://schemas.openxmlformats.org/drawingml/2006/table">
            <a:tbl>
              <a:tblPr firstRow="1" firstCol="1" bandRow="1"/>
              <a:tblGrid>
                <a:gridCol w="765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7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1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5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make student</a:t>
                      </a:r>
                      <a:r>
                        <a:rPr lang="en-US" sz="20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aware about K-map formation.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impart knowledge about simplification of SOP and POS expressions using K-Map.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13114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make and understand the concept of do not care terms and their role in logic simplification.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6D80402-9F6D-4AA1-B373-46E5D1DBB6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" y="19234"/>
            <a:ext cx="3289853" cy="1311128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F2B127A2-02E1-47D3-99E0-93139136E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10251" y="1724297"/>
            <a:ext cx="4232366" cy="3814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4906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701791" y="31424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044298"/>
              </p:ext>
            </p:extLst>
          </p:nvPr>
        </p:nvGraphicFramePr>
        <p:xfrm>
          <a:off x="300446" y="1711234"/>
          <a:ext cx="6557554" cy="4885509"/>
        </p:xfrm>
        <a:graphic>
          <a:graphicData uri="http://schemas.openxmlformats.org/drawingml/2006/table">
            <a:tbl>
              <a:tblPr firstRow="1" firstCol="1" bandRow="1"/>
              <a:tblGrid>
                <a:gridCol w="558587">
                  <a:extLst>
                    <a:ext uri="{9D8B030D-6E8A-4147-A177-3AD203B41FA5}">
                      <a16:colId xmlns:a16="http://schemas.microsoft.com/office/drawing/2014/main" val="3222613638"/>
                    </a:ext>
                  </a:extLst>
                </a:gridCol>
                <a:gridCol w="5998967">
                  <a:extLst>
                    <a:ext uri="{9D8B030D-6E8A-4147-A177-3AD203B41FA5}">
                      <a16:colId xmlns:a16="http://schemas.microsoft.com/office/drawing/2014/main" val="1867363688"/>
                    </a:ext>
                  </a:extLst>
                </a:gridCol>
              </a:tblGrid>
              <a:tr h="897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034589"/>
                  </a:ext>
                </a:extLst>
              </a:tr>
              <a:tr h="1329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745596"/>
                  </a:ext>
                </a:extLst>
              </a:tr>
              <a:tr h="26587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01867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1A5A6F4-38F2-42A8-8B82-EEA1205A60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24"/>
            <a:ext cx="3289853" cy="1311128"/>
          </a:xfrm>
          <a:prstGeom prst="rect">
            <a:avLst/>
          </a:prstGeom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2DD47BB8-03BD-473F-AE4F-EAA35A87E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73671" y="2051823"/>
            <a:ext cx="3868946" cy="3486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1355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98991" y="260294"/>
            <a:ext cx="5907505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639229"/>
              </p:ext>
            </p:extLst>
          </p:nvPr>
        </p:nvGraphicFramePr>
        <p:xfrm>
          <a:off x="352699" y="1724297"/>
          <a:ext cx="6413861" cy="4859383"/>
        </p:xfrm>
        <a:graphic>
          <a:graphicData uri="http://schemas.openxmlformats.org/drawingml/2006/table">
            <a:tbl>
              <a:tblPr firstRow="1" firstCol="1" bandRow="1"/>
              <a:tblGrid>
                <a:gridCol w="533923">
                  <a:extLst>
                    <a:ext uri="{9D8B030D-6E8A-4147-A177-3AD203B41FA5}">
                      <a16:colId xmlns:a16="http://schemas.microsoft.com/office/drawing/2014/main" val="4182039653"/>
                    </a:ext>
                  </a:extLst>
                </a:gridCol>
                <a:gridCol w="5023636">
                  <a:extLst>
                    <a:ext uri="{9D8B030D-6E8A-4147-A177-3AD203B41FA5}">
                      <a16:colId xmlns:a16="http://schemas.microsoft.com/office/drawing/2014/main" val="3177259665"/>
                    </a:ext>
                  </a:extLst>
                </a:gridCol>
                <a:gridCol w="856302">
                  <a:extLst>
                    <a:ext uri="{9D8B030D-6E8A-4147-A177-3AD203B41FA5}">
                      <a16:colId xmlns:a16="http://schemas.microsoft.com/office/drawing/2014/main" val="1420679371"/>
                    </a:ext>
                  </a:extLst>
                </a:gridCol>
              </a:tblGrid>
              <a:tr h="7095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08659"/>
                  </a:ext>
                </a:extLst>
              </a:tr>
              <a:tr h="956960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420248"/>
                  </a:ext>
                </a:extLst>
              </a:tr>
              <a:tr h="964247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463482"/>
                  </a:ext>
                </a:extLst>
              </a:tr>
              <a:tr h="761083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508141"/>
                  </a:ext>
                </a:extLst>
              </a:tr>
              <a:tr h="73375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97255"/>
                  </a:ext>
                </a:extLst>
              </a:tr>
              <a:tr h="73375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2698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9600C8C-E2A7-4595-8BD4-25595810F1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2" y="65886"/>
            <a:ext cx="3124535" cy="1245242"/>
          </a:xfrm>
          <a:prstGeom prst="rect">
            <a:avLst/>
          </a:prstGeom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FC8A68F7-6598-4C20-8E47-443490F7F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84910" y="1724297"/>
            <a:ext cx="4232366" cy="3814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026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04949" y="927464"/>
            <a:ext cx="5185954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/>
                <a:cs typeface="Times New Roman" pitchFamily="18" charset="0"/>
              </a:rPr>
              <a:t>Karnaugh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262" y="2821259"/>
            <a:ext cx="4322762" cy="35350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79119" y="3439167"/>
            <a:ext cx="6096000" cy="15314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Casper"/>
                <a:cs typeface="Times New Roman" pitchFamily="18" charset="0"/>
              </a:rPr>
              <a:t>K map  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Casper"/>
                <a:cs typeface="Times New Roman" pitchFamily="18" charset="0"/>
              </a:rPr>
              <a:t>Simplification using K map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Casper"/>
                <a:cs typeface="Times New Roman" pitchFamily="18" charset="0"/>
              </a:rPr>
              <a:t>SOP Form &amp; POS form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Casper"/>
                <a:cs typeface="Times New Roman" pitchFamily="18" charset="0"/>
              </a:rPr>
              <a:t>Don’t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1166" y="1031966"/>
            <a:ext cx="54341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>
                <a:latin typeface="Casper"/>
              </a:rPr>
              <a:t>Boolean expression representation</a:t>
            </a:r>
          </a:p>
          <a:p>
            <a:r>
              <a:rPr lang="en-US" sz="2400" dirty="0">
                <a:latin typeface="Casper"/>
              </a:rPr>
              <a:t>           </a:t>
            </a:r>
          </a:p>
          <a:p>
            <a:r>
              <a:rPr lang="en-US" sz="2400" dirty="0">
                <a:latin typeface="Casper"/>
              </a:rPr>
              <a:t>             Y= AB’C+ABCD’+AC’D’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sper"/>
              </a:rPr>
              <a:t>             Y = (A+B’) (A’+B+D’)(A+D’)</a:t>
            </a: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27464" y="1201783"/>
            <a:ext cx="9969292" cy="1911815"/>
          </a:xfrm>
        </p:spPr>
        <p:txBody>
          <a:bodyPr>
            <a:noAutofit/>
          </a:bodyPr>
          <a:lstStyle/>
          <a:p>
            <a:pPr algn="l"/>
            <a:r>
              <a:rPr lang="en-US" altLang="zh-CN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Karnaugh maps (K-maps) are graphical method for the simplification  of Boolean functions.</a:t>
            </a:r>
            <a:br>
              <a:rPr lang="en-US" altLang="zh-CN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r>
              <a:rPr lang="en-US" altLang="zh-CN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/>
            </a:r>
            <a:br>
              <a:rPr lang="en-US" altLang="zh-CN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r>
              <a:rPr lang="en-US" altLang="zh-CN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K- maps consists of cells    </a:t>
            </a:r>
            <a:br>
              <a:rPr lang="en-US" altLang="zh-CN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r>
              <a:rPr lang="en-US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/>
            </a:r>
            <a:br>
              <a:rPr lang="en-US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             Cells = 2</a:t>
            </a:r>
            <a:r>
              <a:rPr lang="en-US" sz="1600" baseline="300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n   </a:t>
            </a:r>
            <a:r>
              <a:rPr lang="en-US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where n = no of </a:t>
            </a:r>
            <a:r>
              <a:rPr lang="en-US" sz="1600" dirty="0" err="1">
                <a:solidFill>
                  <a:schemeClr val="tx1"/>
                </a:solidFill>
                <a:latin typeface="Casper"/>
                <a:cs typeface="Times New Roman" pitchFamily="18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/p variables.</a:t>
            </a:r>
            <a:r>
              <a:rPr lang="en-US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/>
            </a:r>
            <a:br>
              <a:rPr lang="en-US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r>
              <a:rPr lang="en-US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/>
            </a:r>
            <a:br>
              <a:rPr lang="en-US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r>
              <a:rPr lang="en-US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K-map cells are arranged so that adjacent cells differ in only one bit position (based on gray code). </a:t>
            </a:r>
            <a:br>
              <a:rPr lang="en-US" sz="1600" b="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endParaRPr lang="en-US" sz="1600" b="0" dirty="0">
              <a:solidFill>
                <a:schemeClr val="tx1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0174" y="258186"/>
            <a:ext cx="10145529" cy="65621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400" dirty="0">
                <a:latin typeface="Casper Bold"/>
              </a:rPr>
              <a:t>K- maps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44537" y="6008915"/>
            <a:ext cx="4088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1.2 cells of k-map [2]</a:t>
            </a:r>
          </a:p>
        </p:txBody>
      </p:sp>
      <p:pic>
        <p:nvPicPr>
          <p:cNvPr id="440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8817" y="3069771"/>
            <a:ext cx="4419600" cy="2795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99461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084218" y="222069"/>
          <a:ext cx="8921932" cy="6141883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39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8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719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sper"/>
                        </a:rPr>
                        <a:t>Input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Casper"/>
                        </a:rPr>
                        <a:t> Variables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sper"/>
                        </a:rPr>
                        <a:t> K map for SOP 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sper"/>
                        </a:rPr>
                        <a:t> K map for POS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43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sper"/>
                        </a:rPr>
                        <a:t>2 (AB)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961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sper"/>
                        </a:rPr>
                        <a:t>3(ABC)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sper"/>
                        </a:rPr>
                        <a:t> 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077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sper"/>
                        </a:rPr>
                        <a:t>4 (ABCD)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4640" y="1005841"/>
            <a:ext cx="2155372" cy="1345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57554" y="1035230"/>
            <a:ext cx="2534195" cy="1263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66568" y="2521676"/>
            <a:ext cx="3000375" cy="1540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64183" y="2528751"/>
            <a:ext cx="3086100" cy="146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41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560321" y="4257403"/>
            <a:ext cx="2847703" cy="1921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42" name="Picture 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270171" y="4248015"/>
            <a:ext cx="3139033" cy="1943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1"/>
          <p:cNvSpPr>
            <a:spLocks noChangeArrowheads="1"/>
          </p:cNvSpPr>
          <p:nvPr/>
        </p:nvSpPr>
        <p:spPr bwMode="auto">
          <a:xfrm>
            <a:off x="730366" y="1386840"/>
            <a:ext cx="10898909" cy="4099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2048" tIns="41025" rIns="82048" bIns="41025" numCol="1" anchor="ctr" anchorCtr="0" compatLnSpc="1">
            <a:prstTxWarp prst="textNoShape">
              <a:avLst/>
            </a:prstTxWarp>
            <a:spAutoFit/>
          </a:bodyPr>
          <a:lstStyle/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Draw the Karnaugh map depending on variables as given in question.</a:t>
            </a:r>
          </a:p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 Identify </a:t>
            </a:r>
            <a:r>
              <a:rPr lang="en-US" sz="1600" dirty="0" err="1">
                <a:solidFill>
                  <a:prstClr val="black"/>
                </a:solidFill>
                <a:latin typeface="Casper"/>
                <a:cs typeface="Times New Roman" pitchFamily="18" charset="0"/>
              </a:rPr>
              <a:t>minterms</a:t>
            </a: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 (SOP ) and </a:t>
            </a:r>
            <a:r>
              <a:rPr lang="en-US" sz="1600" dirty="0" err="1">
                <a:solidFill>
                  <a:prstClr val="black"/>
                </a:solidFill>
                <a:latin typeface="Casper"/>
                <a:cs typeface="Times New Roman" pitchFamily="18" charset="0"/>
              </a:rPr>
              <a:t>Maxterms</a:t>
            </a: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 (POS) as given in problem.</a:t>
            </a:r>
          </a:p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For SOP put 1’s in blocks of K map according to </a:t>
            </a:r>
            <a:r>
              <a:rPr lang="en-US" sz="1600" dirty="0" err="1">
                <a:solidFill>
                  <a:prstClr val="black"/>
                </a:solidFill>
                <a:latin typeface="Casper"/>
                <a:cs typeface="Times New Roman" pitchFamily="18" charset="0"/>
              </a:rPr>
              <a:t>minterms</a:t>
            </a: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.</a:t>
            </a:r>
          </a:p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For POS put 0’s in blocks of K map according to </a:t>
            </a:r>
            <a:r>
              <a:rPr lang="en-US" sz="1600" dirty="0" err="1">
                <a:solidFill>
                  <a:prstClr val="black"/>
                </a:solidFill>
                <a:latin typeface="Casper"/>
                <a:cs typeface="Times New Roman" pitchFamily="18" charset="0"/>
              </a:rPr>
              <a:t>maxterms</a:t>
            </a: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.</a:t>
            </a:r>
          </a:p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Make groups/pairs  containing total terms in power of 2 like (2,4,8,16) Try to make the largest possible pair.</a:t>
            </a:r>
          </a:p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Find product terms with variables (that are unchanged along rows and columns ) for each group and  sum up  for SOP form.</a:t>
            </a:r>
          </a:p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Find sum terms with variables (that are unchanged along rows and columns ) for each group and  ANDED them  for POS form.</a:t>
            </a:r>
          </a:p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410243" indent="-410243" defTabSz="8204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83558" y="203200"/>
            <a:ext cx="107369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prstClr val="black"/>
                </a:solidFill>
                <a:latin typeface="Casper Bold"/>
                <a:cs typeface="Times New Roman" pitchFamily="18" charset="0"/>
              </a:rPr>
              <a:t>Steps to solve expression using K-map</a:t>
            </a:r>
          </a:p>
          <a:p>
            <a:pPr algn="ctr"/>
            <a:endParaRPr lang="en-US" sz="4400" dirty="0">
              <a:latin typeface="Casper Bold"/>
            </a:endParaRPr>
          </a:p>
        </p:txBody>
      </p:sp>
    </p:spTree>
    <p:extLst>
      <p:ext uri="{BB962C8B-B14F-4D97-AF65-F5344CB8AC3E}">
        <p14:creationId xmlns:p14="http://schemas.microsoft.com/office/powerpoint/2010/main" val="135261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9982"/>
            <a:ext cx="10515600" cy="767639"/>
          </a:xfrm>
        </p:spPr>
        <p:txBody>
          <a:bodyPr/>
          <a:lstStyle/>
          <a:p>
            <a:pPr algn="ctr"/>
            <a:r>
              <a:rPr lang="en-US" dirty="0">
                <a:latin typeface="Casper"/>
              </a:rPr>
              <a:t>Pairing Rules of K-map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6629"/>
            <a:ext cx="10515600" cy="532241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Casper"/>
              </a:rPr>
              <a:t>Adjust cells can be paired.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Casper"/>
              </a:rPr>
              <a:t>Corner elements can be paired .                  	  3. outermost rows as well as outermost columns can be 						       paired  respectively.</a:t>
            </a:r>
          </a:p>
          <a:p>
            <a:pPr marL="342900" indent="-342900">
              <a:buAutoNum type="arabicPeriod"/>
            </a:pPr>
            <a:endParaRPr lang="en-US" sz="1600" dirty="0">
              <a:latin typeface="Casper"/>
            </a:endParaRPr>
          </a:p>
          <a:p>
            <a:pPr marL="342900" indent="-342900">
              <a:buAutoNum type="arabicPeriod"/>
            </a:pPr>
            <a:endParaRPr lang="en-US" sz="1600" dirty="0">
              <a:latin typeface="Casper"/>
            </a:endParaRPr>
          </a:p>
          <a:p>
            <a:pPr marL="342900" indent="-342900">
              <a:buAutoNum type="arabicPeriod"/>
            </a:pPr>
            <a:endParaRPr lang="en-US" sz="1600" dirty="0">
              <a:latin typeface="Casper"/>
            </a:endParaRPr>
          </a:p>
          <a:p>
            <a:pPr marL="342900" indent="-342900">
              <a:buAutoNum type="arabicPeriod"/>
            </a:pPr>
            <a:endParaRPr lang="en-US" sz="1600" dirty="0">
              <a:latin typeface="Casper"/>
            </a:endParaRPr>
          </a:p>
          <a:p>
            <a:pPr marL="342900" indent="-342900">
              <a:buNone/>
            </a:pPr>
            <a:endParaRPr lang="en-US" sz="1600" dirty="0">
              <a:latin typeface="Casper"/>
            </a:endParaRPr>
          </a:p>
          <a:p>
            <a:pPr marL="342900" indent="-342900">
              <a:buNone/>
            </a:pPr>
            <a:r>
              <a:rPr lang="en-US" sz="1600" dirty="0">
                <a:latin typeface="Casper"/>
              </a:rPr>
              <a:t>4. Try to make largest possible pair as shown.</a:t>
            </a:r>
          </a:p>
          <a:p>
            <a:pPr marL="342900" indent="-342900">
              <a:buNone/>
            </a:pPr>
            <a:endParaRPr lang="en-US" sz="1600" dirty="0">
              <a:latin typeface="Casper"/>
            </a:endParaRPr>
          </a:p>
          <a:p>
            <a:pPr marL="342900" indent="-342900">
              <a:buNone/>
            </a:pPr>
            <a:endParaRPr lang="en-US" sz="1600" dirty="0">
              <a:latin typeface="Casper"/>
            </a:endParaRPr>
          </a:p>
          <a:p>
            <a:pPr marL="342900" indent="-342900">
              <a:buNone/>
            </a:pPr>
            <a:endParaRPr lang="en-US" sz="1600" dirty="0">
              <a:latin typeface="Casp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011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4079" y="2070777"/>
            <a:ext cx="3335337" cy="1733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011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97338" y="2307771"/>
            <a:ext cx="3467100" cy="155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0121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36291" y="4627459"/>
            <a:ext cx="3758537" cy="1487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0122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55721" y="4626591"/>
            <a:ext cx="4021043" cy="1528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7672"/>
            <a:ext cx="10515600" cy="569929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Casper"/>
              </a:rPr>
              <a:t>5. Groups may overlap.                                                                              6. Diagonal pair is not possible.</a:t>
            </a:r>
          </a:p>
          <a:p>
            <a:pPr>
              <a:buNone/>
            </a:pPr>
            <a:endParaRPr lang="en-US" sz="1600" dirty="0">
              <a:latin typeface="Casper"/>
            </a:endParaRPr>
          </a:p>
          <a:p>
            <a:pPr>
              <a:buNone/>
            </a:pPr>
            <a:endParaRPr lang="en-US" sz="1600" dirty="0">
              <a:latin typeface="Casper"/>
            </a:endParaRPr>
          </a:p>
          <a:p>
            <a:pPr>
              <a:buNone/>
            </a:pPr>
            <a:endParaRPr lang="en-US" sz="1600" dirty="0">
              <a:latin typeface="Casper"/>
            </a:endParaRPr>
          </a:p>
          <a:p>
            <a:pPr>
              <a:buNone/>
            </a:pPr>
            <a:endParaRPr lang="en-US" sz="1600" dirty="0">
              <a:latin typeface="Casper"/>
            </a:endParaRPr>
          </a:p>
          <a:p>
            <a:pPr>
              <a:buNone/>
            </a:pPr>
            <a:endParaRPr lang="en-US" sz="1600" dirty="0">
              <a:latin typeface="Casper"/>
            </a:endParaRPr>
          </a:p>
          <a:p>
            <a:pPr>
              <a:buNone/>
            </a:pPr>
            <a:endParaRPr lang="en-US" sz="1600" dirty="0">
              <a:latin typeface="Casper"/>
            </a:endParaRPr>
          </a:p>
          <a:p>
            <a:pPr>
              <a:buNone/>
            </a:pPr>
            <a:r>
              <a:rPr lang="en-US" sz="1600" dirty="0">
                <a:latin typeface="Casper"/>
              </a:rPr>
              <a:t>7. Make sure in each pair ,there must be one unpaired 1(sop) or 0(pos) .</a:t>
            </a:r>
          </a:p>
          <a:p>
            <a:pPr>
              <a:buNone/>
            </a:pPr>
            <a:endParaRPr lang="en-US" sz="1600" dirty="0">
              <a:latin typeface="Casp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3521" y="1223466"/>
            <a:ext cx="3886200" cy="145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6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3735" y="3566159"/>
            <a:ext cx="4872251" cy="2690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91618" y="4844955"/>
            <a:ext cx="4039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Pair in brown colour is not possible as it does not contain any unpaired 1.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rot="10800000">
            <a:off x="3234524" y="4667537"/>
            <a:ext cx="3057095" cy="469807"/>
          </a:xfrm>
          <a:prstGeom prst="straightConnector1">
            <a:avLst/>
          </a:prstGeom>
          <a:ln w="38100">
            <a:solidFill>
              <a:schemeClr val="tx1"/>
            </a:solidFill>
            <a:prstDash val="lgDashDot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flipV="1">
            <a:off x="5225143" y="4180113"/>
            <a:ext cx="101600" cy="1741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1113" y="1234439"/>
            <a:ext cx="4048533" cy="1221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200" y="188259"/>
            <a:ext cx="10515600" cy="873779"/>
          </a:xfrm>
        </p:spPr>
        <p:txBody>
          <a:bodyPr/>
          <a:lstStyle/>
          <a:p>
            <a:pPr algn="ctr"/>
            <a:r>
              <a:rPr lang="en-IN" dirty="0">
                <a:latin typeface="Casper Bold"/>
              </a:rPr>
              <a:t>Questions on K- Maps (SOP)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224" y="1264024"/>
            <a:ext cx="105155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Example: Simply F(A,B,C) = ∑ m( 1,3,4,5,7) using K – map and realize the circuit using AOI gates.</a:t>
            </a: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r>
              <a:rPr lang="en-US" sz="1600" dirty="0">
                <a:latin typeface="Casper"/>
              </a:rPr>
              <a:t>  </a:t>
            </a: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7600" y="1928813"/>
            <a:ext cx="4772025" cy="219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1484811" y="4306389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(a) K-map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9531" y="5055326"/>
            <a:ext cx="3709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Output Expression : F= </a:t>
            </a:r>
            <a:r>
              <a:rPr lang="en-US" sz="1600" dirty="0">
                <a:solidFill>
                  <a:srgbClr val="FF0000"/>
                </a:solidFill>
                <a:latin typeface="Casper"/>
              </a:rPr>
              <a:t>AB’ </a:t>
            </a:r>
            <a:r>
              <a:rPr lang="en-US" sz="1600" dirty="0">
                <a:latin typeface="Casper"/>
              </a:rPr>
              <a:t>+</a:t>
            </a:r>
            <a:r>
              <a:rPr lang="en-US" sz="1600" dirty="0">
                <a:solidFill>
                  <a:srgbClr val="FF0000"/>
                </a:solidFill>
                <a:latin typeface="Casper"/>
              </a:rPr>
              <a:t> </a:t>
            </a:r>
            <a:r>
              <a:rPr lang="en-US" sz="1600" dirty="0">
                <a:latin typeface="Casper"/>
              </a:rPr>
              <a:t>C</a:t>
            </a:r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70616" y="1962151"/>
            <a:ext cx="4781007" cy="2244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7145383" y="4362994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(b) Realization using gates.</a:t>
            </a:r>
          </a:p>
        </p:txBody>
      </p:sp>
    </p:spTree>
    <p:extLst>
      <p:ext uri="{BB962C8B-B14F-4D97-AF65-F5344CB8AC3E}">
        <p14:creationId xmlns:p14="http://schemas.microsoft.com/office/powerpoint/2010/main" val="3001679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094" y="176867"/>
            <a:ext cx="10515600" cy="831662"/>
          </a:xfrm>
        </p:spPr>
        <p:txBody>
          <a:bodyPr/>
          <a:lstStyle/>
          <a:p>
            <a:pPr algn="ctr"/>
            <a:r>
              <a:rPr lang="en-IN" dirty="0">
                <a:latin typeface="Casper Bold"/>
              </a:rPr>
              <a:t>Questions on K- Maps( SOP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775" y="1142999"/>
            <a:ext cx="105021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Example: Simply F(A,B,C,D) = ∑ m( 2,3,8,10,11,12,14,15) using K – map and realize the circuit using AOI  gates.</a:t>
            </a: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r>
              <a:rPr lang="en-US" sz="1600" dirty="0">
                <a:latin typeface="Casper"/>
              </a:rPr>
              <a:t>  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8275" y="1841864"/>
            <a:ext cx="4943612" cy="2418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Box 24"/>
          <p:cNvSpPr txBox="1"/>
          <p:nvPr/>
        </p:nvSpPr>
        <p:spPr>
          <a:xfrm>
            <a:off x="1149531" y="5055326"/>
            <a:ext cx="3709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Output Expression : F= </a:t>
            </a:r>
            <a:r>
              <a:rPr lang="en-US" sz="1600" dirty="0">
                <a:solidFill>
                  <a:srgbClr val="FF0000"/>
                </a:solidFill>
                <a:latin typeface="Casper"/>
              </a:rPr>
              <a:t>AC </a:t>
            </a:r>
            <a:r>
              <a:rPr lang="en-US" sz="1600" dirty="0">
                <a:latin typeface="Casper"/>
              </a:rPr>
              <a:t>+</a:t>
            </a:r>
            <a:r>
              <a:rPr lang="en-US" sz="1600" dirty="0">
                <a:solidFill>
                  <a:srgbClr val="FF0000"/>
                </a:solidFill>
                <a:latin typeface="Casper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Casper"/>
              </a:rPr>
              <a:t>AD’ </a:t>
            </a:r>
            <a:r>
              <a:rPr lang="en-US" sz="1600" dirty="0">
                <a:latin typeface="Casper"/>
              </a:rPr>
              <a:t>+ B’C</a:t>
            </a:r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53051" y="1936840"/>
            <a:ext cx="515234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7145383" y="4362994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(b) Realization using gates.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360" y="4280263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(a) K-map </a:t>
            </a:r>
          </a:p>
        </p:txBody>
      </p:sp>
    </p:spTree>
    <p:extLst>
      <p:ext uri="{BB962C8B-B14F-4D97-AF65-F5344CB8AC3E}">
        <p14:creationId xmlns:p14="http://schemas.microsoft.com/office/powerpoint/2010/main" val="305638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838200" y="180109"/>
            <a:ext cx="10515600" cy="817419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Casper Bold"/>
              </a:rPr>
              <a:t>Questions on K- Maps (POS)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7882" y="1075329"/>
            <a:ext cx="1106693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 Example: Simply F(A,B,C,D) = ∏M( 0,1,2,4,6,8,9) using K – map and realize the circuit.</a:t>
            </a: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r>
              <a:rPr lang="en-US" sz="1600" dirty="0">
                <a:latin typeface="Casper"/>
              </a:rPr>
              <a:t> </a:t>
            </a: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847" y="1666467"/>
            <a:ext cx="5200650" cy="284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TextBox 30"/>
          <p:cNvSpPr txBox="1"/>
          <p:nvPr/>
        </p:nvSpPr>
        <p:spPr>
          <a:xfrm>
            <a:off x="975361" y="4815840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(a) K-map </a:t>
            </a:r>
          </a:p>
        </p:txBody>
      </p: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16943" y="1834107"/>
            <a:ext cx="5095875" cy="2607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6688183" y="4794069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(b) Realization using gates.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9531" y="5421086"/>
            <a:ext cx="3709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Output Expression : F= </a:t>
            </a:r>
            <a:r>
              <a:rPr lang="en-US" sz="1600" dirty="0">
                <a:solidFill>
                  <a:srgbClr val="FF0000"/>
                </a:solidFill>
                <a:latin typeface="Casper"/>
              </a:rPr>
              <a:t>(A+D) </a:t>
            </a:r>
            <a:r>
              <a:rPr lang="en-US" sz="1600" dirty="0">
                <a:latin typeface="Casper"/>
              </a:rPr>
              <a:t>(B+C)</a:t>
            </a:r>
          </a:p>
        </p:txBody>
      </p:sp>
    </p:spTree>
    <p:extLst>
      <p:ext uri="{BB962C8B-B14F-4D97-AF65-F5344CB8AC3E}">
        <p14:creationId xmlns:p14="http://schemas.microsoft.com/office/powerpoint/2010/main" val="3074467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823686" y="190955"/>
            <a:ext cx="10515600" cy="775696"/>
          </a:xfrm>
        </p:spPr>
        <p:txBody>
          <a:bodyPr/>
          <a:lstStyle/>
          <a:p>
            <a:pPr algn="ctr"/>
            <a:r>
              <a:rPr lang="en-IN" dirty="0">
                <a:latin typeface="Casper Bold"/>
              </a:rPr>
              <a:t>K-map with Don’t care conditions:</a:t>
            </a:r>
            <a:endParaRPr lang="en-US" dirty="0">
              <a:latin typeface="Casper Bol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7882" y="1075329"/>
            <a:ext cx="1106693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 Example: Simply F(A,B,C,D) = ∑m( 1,5,6,12,13,14)+d(4) using K – map.</a:t>
            </a: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7446" y="1747157"/>
            <a:ext cx="4791075" cy="2681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Box 24"/>
          <p:cNvSpPr txBox="1"/>
          <p:nvPr/>
        </p:nvSpPr>
        <p:spPr>
          <a:xfrm>
            <a:off x="975361" y="4815840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(a) K-map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9531" y="5421086"/>
            <a:ext cx="4049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Output Expression : F=BD’+ </a:t>
            </a:r>
            <a:r>
              <a:rPr lang="en-US" sz="1600" dirty="0">
                <a:solidFill>
                  <a:srgbClr val="00B050"/>
                </a:solidFill>
                <a:latin typeface="Casper"/>
              </a:rPr>
              <a:t>A’C’D </a:t>
            </a:r>
            <a:r>
              <a:rPr lang="en-US" sz="1600" dirty="0">
                <a:latin typeface="Casper"/>
              </a:rPr>
              <a:t>+ </a:t>
            </a:r>
            <a:r>
              <a:rPr lang="en-US" sz="1600" dirty="0">
                <a:solidFill>
                  <a:srgbClr val="FF0000"/>
                </a:solidFill>
                <a:latin typeface="Casper"/>
              </a:rPr>
              <a:t>BC’</a:t>
            </a:r>
            <a:endParaRPr lang="en-US" sz="1600" dirty="0">
              <a:latin typeface="Casper"/>
            </a:endParaRP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35683" y="1668236"/>
            <a:ext cx="5867400" cy="2655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6688183" y="4794069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(b) Realization using gates.</a:t>
            </a:r>
          </a:p>
        </p:txBody>
      </p:sp>
    </p:spTree>
    <p:extLst>
      <p:ext uri="{BB962C8B-B14F-4D97-AF65-F5344CB8AC3E}">
        <p14:creationId xmlns:p14="http://schemas.microsoft.com/office/powerpoint/2010/main" val="1795624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1015999"/>
          </a:xfrm>
        </p:spPr>
        <p:txBody>
          <a:bodyPr/>
          <a:lstStyle/>
          <a:p>
            <a:pPr algn="ctr"/>
            <a:r>
              <a:rPr lang="en-IN" dirty="0">
                <a:latin typeface="Casper Bold"/>
              </a:rPr>
              <a:t>K-map with Don’t care conditions: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7882" y="1075329"/>
            <a:ext cx="1106693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 Example:  Simply F(A,B,C,D) = ∏M(3,9,12,15)+</a:t>
            </a:r>
            <a:r>
              <a:rPr lang="hy-AM" sz="1600" dirty="0"/>
              <a:t>Փ</a:t>
            </a:r>
            <a:r>
              <a:rPr lang="en-US" sz="1600" dirty="0">
                <a:latin typeface="Casper"/>
              </a:rPr>
              <a:t>(1,11,13,14) using K – map and realize the circuit.</a:t>
            </a: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  <a:p>
            <a:r>
              <a:rPr lang="en-US" sz="1600" dirty="0">
                <a:latin typeface="Casper"/>
              </a:rPr>
              <a:t> 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9279" y="1635579"/>
            <a:ext cx="4533900" cy="244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TextBox 25"/>
          <p:cNvSpPr txBox="1"/>
          <p:nvPr/>
        </p:nvSpPr>
        <p:spPr>
          <a:xfrm>
            <a:off x="936172" y="4371703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(a) K-map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225143"/>
            <a:ext cx="4049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Output Expression : F=(B+D’) </a:t>
            </a:r>
            <a:r>
              <a:rPr lang="en-US" sz="1600" dirty="0">
                <a:solidFill>
                  <a:srgbClr val="FF0000"/>
                </a:solidFill>
                <a:latin typeface="Casper"/>
              </a:rPr>
              <a:t>(A’+B’)</a:t>
            </a:r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44046" y="1619794"/>
            <a:ext cx="4911634" cy="2325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TextBox 28"/>
          <p:cNvSpPr txBox="1"/>
          <p:nvPr/>
        </p:nvSpPr>
        <p:spPr>
          <a:xfrm>
            <a:off x="6740435" y="4362994"/>
            <a:ext cx="3513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(b) Realization using gates.</a:t>
            </a:r>
          </a:p>
        </p:txBody>
      </p:sp>
    </p:spTree>
    <p:extLst>
      <p:ext uri="{BB962C8B-B14F-4D97-AF65-F5344CB8AC3E}">
        <p14:creationId xmlns:p14="http://schemas.microsoft.com/office/powerpoint/2010/main" val="743032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APPLICATIONS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50423" y="2142309"/>
            <a:ext cx="7102632" cy="2185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18" tIns="45709" rIns="91418" bIns="45709">
            <a:spAutoFit/>
          </a:bodyPr>
          <a:lstStyle/>
          <a:p>
            <a:pPr defTabSz="820487">
              <a:spcBef>
                <a:spcPct val="50000"/>
              </a:spcBef>
              <a:buFont typeface="Arial" pitchFamily="34" charset="0"/>
              <a:buChar char="•"/>
            </a:pPr>
            <a:r>
              <a:rPr lang="en-GB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Computers </a:t>
            </a:r>
          </a:p>
          <a:p>
            <a:pPr defTabSz="820487">
              <a:spcBef>
                <a:spcPct val="50000"/>
              </a:spcBef>
              <a:buFont typeface="Arial" pitchFamily="34" charset="0"/>
              <a:buChar char="•"/>
            </a:pPr>
            <a:r>
              <a:rPr lang="en-GB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Calculators</a:t>
            </a:r>
          </a:p>
          <a:p>
            <a:pPr defTabSz="820487">
              <a:spcBef>
                <a:spcPct val="50000"/>
              </a:spcBef>
              <a:buFont typeface="Arial" pitchFamily="34" charset="0"/>
              <a:buChar char="•"/>
            </a:pPr>
            <a:r>
              <a:rPr lang="en-GB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ATM </a:t>
            </a:r>
          </a:p>
          <a:p>
            <a:pPr defTabSz="820487">
              <a:spcBef>
                <a:spcPct val="50000"/>
              </a:spcBef>
              <a:buFont typeface="Arial" pitchFamily="34" charset="0"/>
              <a:buChar char="•"/>
            </a:pPr>
            <a:r>
              <a:rPr lang="en-GB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Mobile Phone</a:t>
            </a:r>
          </a:p>
          <a:p>
            <a:pPr defTabSz="820487">
              <a:spcBef>
                <a:spcPct val="50000"/>
              </a:spcBef>
              <a:buFont typeface="Arial" pitchFamily="34" charset="0"/>
              <a:buChar char="•"/>
            </a:pPr>
            <a:r>
              <a:rPr lang="en-GB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Integrated Circuits and so on......</a:t>
            </a:r>
          </a:p>
          <a:p>
            <a:pPr defTabSz="820487">
              <a:spcBef>
                <a:spcPct val="50000"/>
              </a:spcBef>
            </a:pPr>
            <a:endParaRPr lang="en-GB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398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048" tIns="41025" rIns="82048" bIns="41025">
            <a:spAutoFit/>
          </a:bodyPr>
          <a:lstStyle/>
          <a:p>
            <a:pPr marL="400050" indent="-40005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2"/>
              </a:rPr>
              <a:t>http://only-vlsi.blogspot.com/2009/01/boolean-expression-simplification.html</a:t>
            </a:r>
            <a:endParaRPr lang="en-US" sz="1600" dirty="0">
              <a:latin typeface="Casper"/>
            </a:endParaRPr>
          </a:p>
          <a:p>
            <a:pPr marL="400050" indent="-40005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3"/>
              </a:rPr>
              <a:t>https://www.google.com/search?tbm=isch&amp;q=karnaugh+map+grouping&amp;chips=q:karnaugh+map+grouping,g_1:k+map&amp;usg=AI4_kQxn1GFLOgRA5XEOFWdHPcK4HmC8w&amp;sa=X&amp;ved=0ahUKEwie98rzl_3iAhWILo8KHcmABz0Q4lYIKygC&amp;biw=1366&amp;bih=657&amp;dpr=1#imgrc=7j--zw4XwWyeiM:</a:t>
            </a:r>
            <a:endParaRPr lang="en-US" sz="1600" dirty="0">
              <a:latin typeface="Casper"/>
            </a:endParaRPr>
          </a:p>
          <a:p>
            <a:pPr marL="400050" indent="-40005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Floyd &amp; Jain, Digital Fundamentals, Pearson. </a:t>
            </a:r>
          </a:p>
          <a:p>
            <a:pPr marL="400050" indent="-40005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4"/>
              </a:rPr>
              <a:t>https://www.google.com/search?biw=1366&amp;bih=657&amp;tbm=isch&amp;sa=1&amp;ei=Ki4OXdSzG5L0rAH3jpjYCw&amp;q=karnaugh+map+examples+with+solutions&amp;oq=karnaugh+map+examples&amp;gs_l=img.1.3.0j0i24l6.228061.233126..236212...0.0..1.463.4033.0j5j8j2j1......0....1..gws-wiz-img.......0i67j0i8i30.zfc8Yep3OZY#imgrc=</a:t>
            </a:r>
            <a:r>
              <a:rPr lang="en-US" sz="1600" dirty="0" err="1">
                <a:latin typeface="Casper"/>
                <a:hlinkClick r:id="rId4"/>
              </a:rPr>
              <a:t>nAjGgOZxU_LuCM</a:t>
            </a:r>
            <a:r>
              <a:rPr lang="en-US" sz="1600" dirty="0">
                <a:latin typeface="Casper"/>
                <a:hlinkClick r:id="rId4"/>
              </a:rPr>
              <a:t>:</a:t>
            </a:r>
            <a:endParaRPr lang="en-US" sz="1600" dirty="0">
              <a:latin typeface="Casper"/>
              <a:ea typeface="Calibri" pitchFamily="34" charset="0"/>
              <a:cs typeface="Times New Roman" pitchFamily="18" charset="0"/>
            </a:endParaRPr>
          </a:p>
          <a:p>
            <a:pPr marL="400050" indent="-400050" defTabSz="820487">
              <a:buFont typeface="+mj-lt"/>
              <a:buAutoNum type="arabicPeriod"/>
            </a:pP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>
              <a:latin typeface="Casper"/>
              <a:cs typeface="Times New Roman" pitchFamily="18" charset="0"/>
            </a:endParaRPr>
          </a:p>
          <a:p>
            <a:pPr marL="400050" indent="-40005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  <a:p>
            <a:pPr marL="400050" indent="-400050" defTabSz="820487">
              <a:buFont typeface="+mj-lt"/>
              <a:buAutoNum type="arabicPeriod"/>
            </a:pPr>
            <a:r>
              <a:rPr lang="en-US" sz="1600" dirty="0">
                <a:latin typeface="Casper"/>
                <a:cs typeface="Times New Roman" pitchFamily="18" charset="0"/>
                <a:hlinkClick r:id="rId5"/>
              </a:rPr>
              <a:t>http://www.geeksforgeeks.org/digital-electronics-logic-design-tutorials/</a:t>
            </a:r>
            <a:endParaRPr lang="en-US" sz="1600" dirty="0">
              <a:latin typeface="Casper"/>
            </a:endParaRPr>
          </a:p>
          <a:p>
            <a:pPr marL="400050" indent="-400050" defTabSz="820487">
              <a:buFont typeface="+mj-lt"/>
              <a:buAutoNum type="arabicPeriod"/>
            </a:pPr>
            <a:r>
              <a:rPr lang="en-US" sz="1600" dirty="0">
                <a:latin typeface="Casper"/>
                <a:cs typeface="Times New Roman" pitchFamily="18" charset="0"/>
                <a:hlinkClick r:id="rId6"/>
              </a:rPr>
              <a:t>http://www.ni.com/example/14493/en/</a:t>
            </a:r>
            <a:endParaRPr lang="en-US" sz="1600" dirty="0">
              <a:latin typeface="Casper"/>
            </a:endParaRPr>
          </a:p>
          <a:p>
            <a:pPr marL="400050" indent="-400050" defTabSz="820487">
              <a:buFont typeface="+mj-lt"/>
              <a:buAutoNum type="arabicPeriod"/>
            </a:pPr>
            <a:r>
              <a:rPr lang="en-US" sz="1600" dirty="0">
                <a:latin typeface="Casper"/>
                <a:cs typeface="Times New Roman" pitchFamily="18" charset="0"/>
                <a:hlinkClick r:id="rId7"/>
              </a:rPr>
              <a:t>http://195.134.76.37/applets/AppletGates/Appl_Gates2.html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944</TotalTime>
  <Words>1054</Words>
  <Application>Microsoft Office PowerPoint</Application>
  <PresentationFormat>Widescreen</PresentationFormat>
  <Paragraphs>250</Paragraphs>
  <Slides>18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6" baseType="lpstr">
      <vt:lpstr>宋体</vt:lpstr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Karnaugh Map</vt:lpstr>
      <vt:lpstr>Karnaugh maps (K-maps) are graphical method for the simplification  of Boolean functions.   K- maps consists of cells                    Cells = 2n    where n = no of i/p variables.  K-map cells are arranged so that adjacent cells differ in only one bit position (based on gray code).  </vt:lpstr>
      <vt:lpstr>PowerPoint Presentation</vt:lpstr>
      <vt:lpstr>PowerPoint Presentation</vt:lpstr>
      <vt:lpstr>Pairing Rules of K-map</vt:lpstr>
      <vt:lpstr>PowerPoint Presentation</vt:lpstr>
      <vt:lpstr>Questions on K- Maps (SOP)</vt:lpstr>
      <vt:lpstr>Questions on K- Maps( SOP )</vt:lpstr>
      <vt:lpstr>Questions on K- Maps (POS)</vt:lpstr>
      <vt:lpstr>K-map with Don’t care conditions:</vt:lpstr>
      <vt:lpstr>K-map with Don’t care conditions:</vt:lpstr>
      <vt:lpstr>APPLICATIONS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121</cp:revision>
  <dcterms:created xsi:type="dcterms:W3CDTF">2019-01-09T10:33:58Z</dcterms:created>
  <dcterms:modified xsi:type="dcterms:W3CDTF">2023-06-20T09:53:31Z</dcterms:modified>
</cp:coreProperties>
</file>