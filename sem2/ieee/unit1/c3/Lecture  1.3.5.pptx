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92" r:id="rId2"/>
    <p:sldId id="389" r:id="rId3"/>
    <p:sldId id="390" r:id="rId4"/>
    <p:sldId id="391" r:id="rId5"/>
    <p:sldId id="334" r:id="rId6"/>
    <p:sldId id="336" r:id="rId7"/>
    <p:sldId id="338" r:id="rId8"/>
    <p:sldId id="317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284" r:id="rId25"/>
    <p:sldId id="39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7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5596F-CE0F-411E-A9D4-8683342DED7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AFD269-1C9A-4B32-B684-419834E9F479}">
      <dgm:prSet phldrT="[Text]" custT="1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Casper"/>
            </a:rPr>
            <a:t>Boolean Expression</a:t>
          </a:r>
        </a:p>
      </dgm:t>
    </dgm:pt>
    <dgm:pt modelId="{621450F8-0F4B-4801-AE61-184DE5425E60}" type="parTrans" cxnId="{81CBA403-3D3F-4149-A055-9DFD91418672}">
      <dgm:prSet/>
      <dgm:spPr/>
      <dgm:t>
        <a:bodyPr/>
        <a:lstStyle/>
        <a:p>
          <a:endParaRPr lang="en-US" sz="1600" b="0">
            <a:latin typeface="Casper"/>
          </a:endParaRPr>
        </a:p>
      </dgm:t>
    </dgm:pt>
    <dgm:pt modelId="{7CC234B8-6BAC-4CC0-A81D-06C267F29A5F}" type="sibTrans" cxnId="{81CBA403-3D3F-4149-A055-9DFD91418672}">
      <dgm:prSet/>
      <dgm:spPr/>
      <dgm:t>
        <a:bodyPr/>
        <a:lstStyle/>
        <a:p>
          <a:endParaRPr lang="en-US" sz="1600" b="0">
            <a:latin typeface="Casper"/>
          </a:endParaRPr>
        </a:p>
      </dgm:t>
    </dgm:pt>
    <dgm:pt modelId="{CF51C390-1542-4871-A19B-5B103D0C15A5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Casper"/>
            </a:rPr>
            <a:t>SOP (Sum of Product)</a:t>
          </a:r>
        </a:p>
      </dgm:t>
    </dgm:pt>
    <dgm:pt modelId="{EDF9D000-7428-4A2B-AED1-A004DD5126DA}" type="parTrans" cxnId="{9959FC9A-D891-412D-8EE0-79F0CD362BB7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1600" b="0">
            <a:latin typeface="Casper"/>
          </a:endParaRPr>
        </a:p>
      </dgm:t>
    </dgm:pt>
    <dgm:pt modelId="{566B9286-C6C4-4901-AF40-9C65924D38F8}" type="sibTrans" cxnId="{9959FC9A-D891-412D-8EE0-79F0CD362BB7}">
      <dgm:prSet/>
      <dgm:spPr/>
      <dgm:t>
        <a:bodyPr/>
        <a:lstStyle/>
        <a:p>
          <a:endParaRPr lang="en-US" sz="1600" b="0">
            <a:latin typeface="Casper"/>
          </a:endParaRPr>
        </a:p>
      </dgm:t>
    </dgm:pt>
    <dgm:pt modelId="{3BD86353-FCA8-4969-B32A-CFC4DE4F37ED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600" b="0" dirty="0">
              <a:solidFill>
                <a:schemeClr val="tx1"/>
              </a:solidFill>
              <a:latin typeface="Casper"/>
            </a:rPr>
            <a:t>POS(Product of Sum)</a:t>
          </a:r>
        </a:p>
      </dgm:t>
    </dgm:pt>
    <dgm:pt modelId="{D6C2F4C3-C640-423C-AEBB-E6535233EB5D}" type="parTrans" cxnId="{71952DC7-749D-4C54-BBD6-27045036F45B}">
      <dgm:prSet custT="1"/>
      <dgm:spPr>
        <a:ln>
          <a:solidFill>
            <a:schemeClr val="tx1"/>
          </a:solidFill>
        </a:ln>
      </dgm:spPr>
      <dgm:t>
        <a:bodyPr/>
        <a:lstStyle/>
        <a:p>
          <a:endParaRPr lang="en-US" sz="1600" b="0">
            <a:latin typeface="Casper"/>
          </a:endParaRPr>
        </a:p>
      </dgm:t>
    </dgm:pt>
    <dgm:pt modelId="{CBD56494-E38E-457B-BC4F-DBA63BA8A9AE}" type="sibTrans" cxnId="{71952DC7-749D-4C54-BBD6-27045036F45B}">
      <dgm:prSet/>
      <dgm:spPr/>
      <dgm:t>
        <a:bodyPr/>
        <a:lstStyle/>
        <a:p>
          <a:endParaRPr lang="en-US" sz="1600" b="0">
            <a:latin typeface="Casper"/>
          </a:endParaRPr>
        </a:p>
      </dgm:t>
    </dgm:pt>
    <dgm:pt modelId="{9367E9CF-AAF5-4515-B77D-EBC5A925A355}" type="pres">
      <dgm:prSet presAssocID="{4755596F-CE0F-411E-A9D4-8683342DED7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F9CD64-E671-4347-8BE7-76F37A9CBFEA}" type="pres">
      <dgm:prSet presAssocID="{EEAFD269-1C9A-4B32-B684-419834E9F479}" presName="root1" presStyleCnt="0"/>
      <dgm:spPr/>
    </dgm:pt>
    <dgm:pt modelId="{B3182698-93C2-4F97-896D-2BB8616B908F}" type="pres">
      <dgm:prSet presAssocID="{EEAFD269-1C9A-4B32-B684-419834E9F479}" presName="LevelOneTextNode" presStyleLbl="node0" presStyleIdx="0" presStyleCnt="1" custScaleX="2543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362871-2CA5-4271-B013-833F88904255}" type="pres">
      <dgm:prSet presAssocID="{EEAFD269-1C9A-4B32-B684-419834E9F479}" presName="level2hierChild" presStyleCnt="0"/>
      <dgm:spPr/>
    </dgm:pt>
    <dgm:pt modelId="{75DE82D6-D286-402A-84FF-4861EA5BF037}" type="pres">
      <dgm:prSet presAssocID="{EDF9D000-7428-4A2B-AED1-A004DD5126DA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F07DCCD-5CF9-4ADE-A5DA-A09EECD97F6E}" type="pres">
      <dgm:prSet presAssocID="{EDF9D000-7428-4A2B-AED1-A004DD5126DA}" presName="connTx" presStyleLbl="parChTrans1D2" presStyleIdx="0" presStyleCnt="2"/>
      <dgm:spPr/>
      <dgm:t>
        <a:bodyPr/>
        <a:lstStyle/>
        <a:p>
          <a:endParaRPr lang="en-US"/>
        </a:p>
      </dgm:t>
    </dgm:pt>
    <dgm:pt modelId="{DD6AC36A-9AA5-4E99-8BAA-1C31E8915CAE}" type="pres">
      <dgm:prSet presAssocID="{CF51C390-1542-4871-A19B-5B103D0C15A5}" presName="root2" presStyleCnt="0"/>
      <dgm:spPr/>
    </dgm:pt>
    <dgm:pt modelId="{1214D741-A92D-4EB2-989B-CD949BF030E5}" type="pres">
      <dgm:prSet presAssocID="{CF51C390-1542-4871-A19B-5B103D0C15A5}" presName="LevelTwoTextNode" presStyleLbl="node2" presStyleIdx="0" presStyleCnt="2" custScaleX="308765" custLinFactY="-16757" custLinFactNeighborX="222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3204F2B-CDCD-409E-BAAC-B3239BCCB0BD}" type="pres">
      <dgm:prSet presAssocID="{CF51C390-1542-4871-A19B-5B103D0C15A5}" presName="level3hierChild" presStyleCnt="0"/>
      <dgm:spPr/>
    </dgm:pt>
    <dgm:pt modelId="{2F23D432-FB90-4179-A5DC-34D0A3E2F0C6}" type="pres">
      <dgm:prSet presAssocID="{D6C2F4C3-C640-423C-AEBB-E6535233EB5D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BD8F0BF9-926E-4FA5-B0C0-26B54A9111F9}" type="pres">
      <dgm:prSet presAssocID="{D6C2F4C3-C640-423C-AEBB-E6535233EB5D}" presName="connTx" presStyleLbl="parChTrans1D2" presStyleIdx="1" presStyleCnt="2"/>
      <dgm:spPr/>
      <dgm:t>
        <a:bodyPr/>
        <a:lstStyle/>
        <a:p>
          <a:endParaRPr lang="en-US"/>
        </a:p>
      </dgm:t>
    </dgm:pt>
    <dgm:pt modelId="{E712508D-519A-44FB-9DD5-980C1A96F15A}" type="pres">
      <dgm:prSet presAssocID="{3BD86353-FCA8-4969-B32A-CFC4DE4F37ED}" presName="root2" presStyleCnt="0"/>
      <dgm:spPr/>
    </dgm:pt>
    <dgm:pt modelId="{CA0DCCF5-8F7A-418E-9D7A-3C4554AF0E47}" type="pres">
      <dgm:prSet presAssocID="{3BD86353-FCA8-4969-B32A-CFC4DE4F37ED}" presName="LevelTwoTextNode" presStyleLbl="node2" presStyleIdx="1" presStyleCnt="2" custScaleX="300937" custScaleY="111219" custLinFactY="37695" custLinFactNeighborX="36549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E97079-0A2B-4A3F-B0C9-BFAC68DE5618}" type="pres">
      <dgm:prSet presAssocID="{3BD86353-FCA8-4969-B32A-CFC4DE4F37ED}" presName="level3hierChild" presStyleCnt="0"/>
      <dgm:spPr/>
    </dgm:pt>
  </dgm:ptLst>
  <dgm:cxnLst>
    <dgm:cxn modelId="{2388D625-DB7B-439C-9383-518ADF9D3EE0}" type="presOf" srcId="{4755596F-CE0F-411E-A9D4-8683342DED77}" destId="{9367E9CF-AAF5-4515-B77D-EBC5A925A355}" srcOrd="0" destOrd="0" presId="urn:microsoft.com/office/officeart/2005/8/layout/hierarchy2"/>
    <dgm:cxn modelId="{6A5CE2A5-285B-4AF1-BC8A-AF1B88B9098E}" type="presOf" srcId="{EEAFD269-1C9A-4B32-B684-419834E9F479}" destId="{B3182698-93C2-4F97-896D-2BB8616B908F}" srcOrd="0" destOrd="0" presId="urn:microsoft.com/office/officeart/2005/8/layout/hierarchy2"/>
    <dgm:cxn modelId="{1165937A-BC69-48E1-ACD7-F7F20F5F7035}" type="presOf" srcId="{EDF9D000-7428-4A2B-AED1-A004DD5126DA}" destId="{0F07DCCD-5CF9-4ADE-A5DA-A09EECD97F6E}" srcOrd="1" destOrd="0" presId="urn:microsoft.com/office/officeart/2005/8/layout/hierarchy2"/>
    <dgm:cxn modelId="{76205B13-4976-44FF-9628-95573DB04FE2}" type="presOf" srcId="{CF51C390-1542-4871-A19B-5B103D0C15A5}" destId="{1214D741-A92D-4EB2-989B-CD949BF030E5}" srcOrd="0" destOrd="0" presId="urn:microsoft.com/office/officeart/2005/8/layout/hierarchy2"/>
    <dgm:cxn modelId="{81CBA403-3D3F-4149-A055-9DFD91418672}" srcId="{4755596F-CE0F-411E-A9D4-8683342DED77}" destId="{EEAFD269-1C9A-4B32-B684-419834E9F479}" srcOrd="0" destOrd="0" parTransId="{621450F8-0F4B-4801-AE61-184DE5425E60}" sibTransId="{7CC234B8-6BAC-4CC0-A81D-06C267F29A5F}"/>
    <dgm:cxn modelId="{71952DC7-749D-4C54-BBD6-27045036F45B}" srcId="{EEAFD269-1C9A-4B32-B684-419834E9F479}" destId="{3BD86353-FCA8-4969-B32A-CFC4DE4F37ED}" srcOrd="1" destOrd="0" parTransId="{D6C2F4C3-C640-423C-AEBB-E6535233EB5D}" sibTransId="{CBD56494-E38E-457B-BC4F-DBA63BA8A9AE}"/>
    <dgm:cxn modelId="{0DCF6698-1250-4C7B-A347-4092F4884B1A}" type="presOf" srcId="{D6C2F4C3-C640-423C-AEBB-E6535233EB5D}" destId="{2F23D432-FB90-4179-A5DC-34D0A3E2F0C6}" srcOrd="0" destOrd="0" presId="urn:microsoft.com/office/officeart/2005/8/layout/hierarchy2"/>
    <dgm:cxn modelId="{41316C08-D8C5-4C42-8248-4836CEF67A7B}" type="presOf" srcId="{D6C2F4C3-C640-423C-AEBB-E6535233EB5D}" destId="{BD8F0BF9-926E-4FA5-B0C0-26B54A9111F9}" srcOrd="1" destOrd="0" presId="urn:microsoft.com/office/officeart/2005/8/layout/hierarchy2"/>
    <dgm:cxn modelId="{9959FC9A-D891-412D-8EE0-79F0CD362BB7}" srcId="{EEAFD269-1C9A-4B32-B684-419834E9F479}" destId="{CF51C390-1542-4871-A19B-5B103D0C15A5}" srcOrd="0" destOrd="0" parTransId="{EDF9D000-7428-4A2B-AED1-A004DD5126DA}" sibTransId="{566B9286-C6C4-4901-AF40-9C65924D38F8}"/>
    <dgm:cxn modelId="{B016C519-2C0A-4038-9F90-F4997BA0946C}" type="presOf" srcId="{EDF9D000-7428-4A2B-AED1-A004DD5126DA}" destId="{75DE82D6-D286-402A-84FF-4861EA5BF037}" srcOrd="0" destOrd="0" presId="urn:microsoft.com/office/officeart/2005/8/layout/hierarchy2"/>
    <dgm:cxn modelId="{06C5FC13-D55B-432D-909A-AA224C40AEFA}" type="presOf" srcId="{3BD86353-FCA8-4969-B32A-CFC4DE4F37ED}" destId="{CA0DCCF5-8F7A-418E-9D7A-3C4554AF0E47}" srcOrd="0" destOrd="0" presId="urn:microsoft.com/office/officeart/2005/8/layout/hierarchy2"/>
    <dgm:cxn modelId="{64386AEA-38B1-46F7-B274-D7D338F93168}" type="presParOf" srcId="{9367E9CF-AAF5-4515-B77D-EBC5A925A355}" destId="{E6F9CD64-E671-4347-8BE7-76F37A9CBFEA}" srcOrd="0" destOrd="0" presId="urn:microsoft.com/office/officeart/2005/8/layout/hierarchy2"/>
    <dgm:cxn modelId="{EAE22D4C-0282-4318-8D41-7CC01583AF2D}" type="presParOf" srcId="{E6F9CD64-E671-4347-8BE7-76F37A9CBFEA}" destId="{B3182698-93C2-4F97-896D-2BB8616B908F}" srcOrd="0" destOrd="0" presId="urn:microsoft.com/office/officeart/2005/8/layout/hierarchy2"/>
    <dgm:cxn modelId="{308E69EB-9615-4A82-922F-8CF7040FCC48}" type="presParOf" srcId="{E6F9CD64-E671-4347-8BE7-76F37A9CBFEA}" destId="{AB362871-2CA5-4271-B013-833F88904255}" srcOrd="1" destOrd="0" presId="urn:microsoft.com/office/officeart/2005/8/layout/hierarchy2"/>
    <dgm:cxn modelId="{C924D876-59DF-4C2B-AE75-D2C83DBC8829}" type="presParOf" srcId="{AB362871-2CA5-4271-B013-833F88904255}" destId="{75DE82D6-D286-402A-84FF-4861EA5BF037}" srcOrd="0" destOrd="0" presId="urn:microsoft.com/office/officeart/2005/8/layout/hierarchy2"/>
    <dgm:cxn modelId="{CE1E6DA6-B2C0-4C9B-A154-5A8061346413}" type="presParOf" srcId="{75DE82D6-D286-402A-84FF-4861EA5BF037}" destId="{0F07DCCD-5CF9-4ADE-A5DA-A09EECD97F6E}" srcOrd="0" destOrd="0" presId="urn:microsoft.com/office/officeart/2005/8/layout/hierarchy2"/>
    <dgm:cxn modelId="{2752C8BD-C503-43D6-A496-33863DD5E6D8}" type="presParOf" srcId="{AB362871-2CA5-4271-B013-833F88904255}" destId="{DD6AC36A-9AA5-4E99-8BAA-1C31E8915CAE}" srcOrd="1" destOrd="0" presId="urn:microsoft.com/office/officeart/2005/8/layout/hierarchy2"/>
    <dgm:cxn modelId="{848D325F-82EB-440F-AE1D-582B3501ED16}" type="presParOf" srcId="{DD6AC36A-9AA5-4E99-8BAA-1C31E8915CAE}" destId="{1214D741-A92D-4EB2-989B-CD949BF030E5}" srcOrd="0" destOrd="0" presId="urn:microsoft.com/office/officeart/2005/8/layout/hierarchy2"/>
    <dgm:cxn modelId="{AA556300-72E9-437E-992E-961BE1D8F605}" type="presParOf" srcId="{DD6AC36A-9AA5-4E99-8BAA-1C31E8915CAE}" destId="{63204F2B-CDCD-409E-BAAC-B3239BCCB0BD}" srcOrd="1" destOrd="0" presId="urn:microsoft.com/office/officeart/2005/8/layout/hierarchy2"/>
    <dgm:cxn modelId="{A4AE3C72-0378-4D67-84ED-3F5330981E08}" type="presParOf" srcId="{AB362871-2CA5-4271-B013-833F88904255}" destId="{2F23D432-FB90-4179-A5DC-34D0A3E2F0C6}" srcOrd="2" destOrd="0" presId="urn:microsoft.com/office/officeart/2005/8/layout/hierarchy2"/>
    <dgm:cxn modelId="{BF68BAD4-3624-408C-AD51-0BF1A709D6D3}" type="presParOf" srcId="{2F23D432-FB90-4179-A5DC-34D0A3E2F0C6}" destId="{BD8F0BF9-926E-4FA5-B0C0-26B54A9111F9}" srcOrd="0" destOrd="0" presId="urn:microsoft.com/office/officeart/2005/8/layout/hierarchy2"/>
    <dgm:cxn modelId="{1EFF6B5A-1F58-4689-844A-C852EC739B24}" type="presParOf" srcId="{AB362871-2CA5-4271-B013-833F88904255}" destId="{E712508D-519A-44FB-9DD5-980C1A96F15A}" srcOrd="3" destOrd="0" presId="urn:microsoft.com/office/officeart/2005/8/layout/hierarchy2"/>
    <dgm:cxn modelId="{FA4ADDF4-D20D-4DF0-B17E-0FBF0C260317}" type="presParOf" srcId="{E712508D-519A-44FB-9DD5-980C1A96F15A}" destId="{CA0DCCF5-8F7A-418E-9D7A-3C4554AF0E47}" srcOrd="0" destOrd="0" presId="urn:microsoft.com/office/officeart/2005/8/layout/hierarchy2"/>
    <dgm:cxn modelId="{4F6A51E6-35D9-433D-AFD4-4BB5FE1022F4}" type="presParOf" srcId="{E712508D-519A-44FB-9DD5-980C1A96F15A}" destId="{48E97079-0A2B-4A3F-B0C9-BFAC68DE561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82698-93C2-4F97-896D-2BB8616B908F}">
      <dsp:nvSpPr>
        <dsp:cNvPr id="0" name=""/>
        <dsp:cNvSpPr/>
      </dsp:nvSpPr>
      <dsp:spPr>
        <a:xfrm>
          <a:off x="3843" y="1428177"/>
          <a:ext cx="1735655" cy="341202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solidFill>
                <a:schemeClr val="tx1"/>
              </a:solidFill>
              <a:latin typeface="Casper"/>
            </a:rPr>
            <a:t>Boolean Expression</a:t>
          </a:r>
        </a:p>
      </dsp:txBody>
      <dsp:txXfrm>
        <a:off x="13836" y="1438170"/>
        <a:ext cx="1715669" cy="321216"/>
      </dsp:txXfrm>
    </dsp:sp>
    <dsp:sp modelId="{75DE82D6-D286-402A-84FF-4861EA5BF037}">
      <dsp:nvSpPr>
        <dsp:cNvPr id="0" name=""/>
        <dsp:cNvSpPr/>
      </dsp:nvSpPr>
      <dsp:spPr>
        <a:xfrm rot="17645774">
          <a:off x="1540591" y="1282320"/>
          <a:ext cx="672291" cy="19207"/>
        </a:xfrm>
        <a:custGeom>
          <a:avLst/>
          <a:gdLst/>
          <a:ahLst/>
          <a:cxnLst/>
          <a:rect l="0" t="0" r="0" b="0"/>
          <a:pathLst>
            <a:path>
              <a:moveTo>
                <a:pt x="0" y="9603"/>
              </a:moveTo>
              <a:lnTo>
                <a:pt x="672291" y="9603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>
            <a:latin typeface="Casper"/>
          </a:endParaRPr>
        </a:p>
      </dsp:txBody>
      <dsp:txXfrm>
        <a:off x="1859929" y="1275116"/>
        <a:ext cx="33614" cy="33614"/>
      </dsp:txXfrm>
    </dsp:sp>
    <dsp:sp modelId="{1214D741-A92D-4EB2-989B-CD949BF030E5}">
      <dsp:nvSpPr>
        <dsp:cNvPr id="0" name=""/>
        <dsp:cNvSpPr/>
      </dsp:nvSpPr>
      <dsp:spPr>
        <a:xfrm>
          <a:off x="2013975" y="814468"/>
          <a:ext cx="2107027" cy="341202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solidFill>
                <a:schemeClr val="tx1"/>
              </a:solidFill>
              <a:latin typeface="Casper"/>
            </a:rPr>
            <a:t>SOP (Sum of Product)</a:t>
          </a:r>
        </a:p>
      </dsp:txBody>
      <dsp:txXfrm>
        <a:off x="2023968" y="824461"/>
        <a:ext cx="2087041" cy="321216"/>
      </dsp:txXfrm>
    </dsp:sp>
    <dsp:sp modelId="{2F23D432-FB90-4179-A5DC-34D0A3E2F0C6}">
      <dsp:nvSpPr>
        <dsp:cNvPr id="0" name=""/>
        <dsp:cNvSpPr/>
      </dsp:nvSpPr>
      <dsp:spPr>
        <a:xfrm rot="3817601">
          <a:off x="1532919" y="1922179"/>
          <a:ext cx="743382" cy="19207"/>
        </a:xfrm>
        <a:custGeom>
          <a:avLst/>
          <a:gdLst/>
          <a:ahLst/>
          <a:cxnLst/>
          <a:rect l="0" t="0" r="0" b="0"/>
          <a:pathLst>
            <a:path>
              <a:moveTo>
                <a:pt x="0" y="9603"/>
              </a:moveTo>
              <a:lnTo>
                <a:pt x="743382" y="9603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>
            <a:latin typeface="Casper"/>
          </a:endParaRPr>
        </a:p>
      </dsp:txBody>
      <dsp:txXfrm>
        <a:off x="1886026" y="1913198"/>
        <a:ext cx="37169" cy="37169"/>
      </dsp:txXfrm>
    </dsp:sp>
    <dsp:sp modelId="{CA0DCCF5-8F7A-418E-9D7A-3C4554AF0E47}">
      <dsp:nvSpPr>
        <dsp:cNvPr id="0" name=""/>
        <dsp:cNvSpPr/>
      </dsp:nvSpPr>
      <dsp:spPr>
        <a:xfrm>
          <a:off x="2069722" y="2075047"/>
          <a:ext cx="2053608" cy="379481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>
              <a:solidFill>
                <a:schemeClr val="tx1"/>
              </a:solidFill>
              <a:latin typeface="Casper"/>
            </a:rPr>
            <a:t>POS(Product of Sum)</a:t>
          </a:r>
        </a:p>
      </dsp:txBody>
      <dsp:txXfrm>
        <a:off x="2080837" y="2086162"/>
        <a:ext cx="2031378" cy="357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809C1-0FBF-4F6A-A45E-C91D5CB78031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FF81D-3F09-4A96-88C8-CBA589624A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69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FE8D-47CD-467E-87B3-4416DC797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0240A-BE19-47C8-9F21-8CB685663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43E16-D877-45D4-B3EF-FD9AD98E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940B-9E3D-43B7-909C-F5F045B7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E941-4301-450D-A739-3D4D5C0E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95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8AE6-8C66-4709-BF46-10BBE1DD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C678-E9F5-4E72-9F87-74DA0B601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7971-120D-4193-A546-19C9437B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93BC0-1F98-462C-9B52-4691D8DA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DD721-9A1B-40B7-8F21-249713F6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04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E15B-2651-4BB3-92E1-9B0EC660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551C-535C-44F0-95A2-2EBAC5731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6E326-E730-4FFE-9146-AE11D3E4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FC72-954E-4CC0-9D0D-E6DE366A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AA662-E110-4F6E-8985-070763EF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9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1172-8C9A-48F7-A5FE-3001FC6D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52CB5-5217-44A8-BAC8-61C4C23F1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6C043-AA1C-4E53-BDC3-662978F96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C4A27-F9A0-4B43-B391-4259DA69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BC612-6EA4-48F3-BB4A-6EAD1E66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1A38C-CB13-4D91-B82F-DCAB0BC4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7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7492-8DF6-4E68-B21A-954D6B22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D45CF-6E48-49EF-A759-AE960414F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F8654-DB06-4192-9B5C-CC1DF86AD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9AF42-7677-4BC0-914E-9A5F478E7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54102-7C9C-4737-A759-0296CDC89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C8ACF-2C5F-4C1B-A92F-5C7A41C9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B3EC2-DBB4-4DB0-9AE0-4CA53480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9EF2D-06D2-4DC4-9997-6C226C2A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927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07CF-64B7-477A-BFCB-391B251B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DCDBB0-16ED-4DB8-9791-95C42E75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796AA-54ED-4B07-A30C-1C83513D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AA887-0E0D-4A24-A3C1-2BB64018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46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48954-A691-4FEF-9D23-89E310FF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86806-5A28-4156-B09B-94FFB24B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7687D-6E36-448E-A47C-BBA3C8E8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3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A56D-E099-4DFB-8C02-AEE77146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DB89-0A70-432D-B1B2-72A8BDA1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7F33A-57CD-4256-9B65-5E2D37A47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803C0-BD20-48AA-896F-BF3270FB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CE3D9-E947-46D8-9D00-35357DD6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0E740-F1A7-42E8-A699-63529609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45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8EA9-B4A1-4F3A-8DC3-1CC93D03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D0D8E-A7FB-48EB-9566-6E1F56C25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A0D53-ECF0-42FD-8CE0-984D82295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CB211-8EA6-474E-8FA4-B66DFC46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473F1-EB9D-4652-8E1E-43F2BF53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9964E-2C17-43CE-A1F4-D62ED6F2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62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0A1D-1992-4532-B04F-A8560B61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BEF16-F45C-47F3-8CDC-9F81946A6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64DFE-578E-4096-8812-652ED9FD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48AB-1E20-4728-8F97-0BB777A3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0031-638D-42BA-B23A-58751D9C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33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40313-DE65-49AD-BED9-DE482B1D2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C8D99-3B58-4D6B-BE15-69C228019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93B0-F6FD-4C28-ACAC-5E13F812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C534-6E35-4755-B3AC-F969890A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DB2EB-EDCD-4E63-8B4C-FD9BB2F0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01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984200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DF647-208D-46B9-B088-FBAAECC1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35B60-9B51-4571-8C68-FD54C4D6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3A3F4-ABB9-47C9-A2AE-EBE10A4E2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D186E-45EF-4E8E-A54D-2E91FFC7BEC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9522-9288-4850-B587-BFA03F5E0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F691A-C8F5-430D-9926-5CDF4DD7D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C93B9-8F94-4E83-860F-F46A1DD0C4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79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microsoft.com/office/2007/relationships/hdphoto" Target="../media/hdphoto1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nd-gate-in-digital-electronics" TargetMode="External"/><Relationship Id="rId3" Type="http://schemas.openxmlformats.org/officeDocument/2006/relationships/hyperlink" Target="https://www.vivaxsolutions.com/physics/allogicgates.aspx" TargetMode="External"/><Relationship Id="rId7" Type="http://schemas.openxmlformats.org/officeDocument/2006/relationships/hyperlink" Target="http://195.134.76.37/applets/AppletGates/Appl_Gates2.html" TargetMode="Externa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6" Type="http://schemas.openxmlformats.org/officeDocument/2006/relationships/hyperlink" Target="http://www.ni.com/example/14493/en/" TargetMode="External"/><Relationship Id="rId11" Type="http://schemas.openxmlformats.org/officeDocument/2006/relationships/hyperlink" Target="https://www.tutorialspoint.com/computer_logical_organization/complement_arithmetic.htm" TargetMode="External"/><Relationship Id="rId5" Type="http://schemas.openxmlformats.org/officeDocument/2006/relationships/hyperlink" Target="http://www.geeksforgeeks.org/digital-electronics-logic-design-tutorials/" TargetMode="External"/><Relationship Id="rId10" Type="http://schemas.openxmlformats.org/officeDocument/2006/relationships/hyperlink" Target="https://www.tutorialspoint.com/digital_electronics/index.asp" TargetMode="External"/><Relationship Id="rId4" Type="http://schemas.openxmlformats.org/officeDocument/2006/relationships/hyperlink" Target="https://www.androiderode.com/ttl-not-gate/" TargetMode="External"/><Relationship Id="rId9" Type="http://schemas.openxmlformats.org/officeDocument/2006/relationships/hyperlink" Target="https://www.allaboutcircuits.com/textbook/digital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668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SOP &amp; POS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726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Code-23ECH-101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Chapter-3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400" b="1" dirty="0" smtClean="0"/>
              <a:t>Introduction</a:t>
            </a:r>
            <a:r>
              <a:rPr lang="en-IN" sz="2400" b="1" dirty="0" smtClean="0"/>
              <a:t> </a:t>
            </a:r>
            <a:r>
              <a:rPr lang="en-IN" sz="2400" b="1" dirty="0"/>
              <a:t>of Electrical &amp; Electronics Circuit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1.3.5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373605"/>
              </p:ext>
            </p:extLst>
          </p:nvPr>
        </p:nvGraphicFramePr>
        <p:xfrm>
          <a:off x="592953" y="2054775"/>
          <a:ext cx="10000705" cy="4197274"/>
        </p:xfrm>
        <a:graphic>
          <a:graphicData uri="http://schemas.openxmlformats.org/drawingml/2006/table">
            <a:tbl>
              <a:tblPr firstRow="1" firstCol="1" bandRow="1"/>
              <a:tblGrid>
                <a:gridCol w="1265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5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make student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aware about representation of Boolean expression in SOP and POS forms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make student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aware about representation of Boolean expression in Min and Max Terms.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1311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impart knowledge about converting Boolean expression into standard form.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2AD194C-9221-4593-BB1B-A673A559AB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4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289611" y="93614"/>
            <a:ext cx="365355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34EB4-E696-4018-B4F1-9B96BF39D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5662150"/>
              </p:ext>
            </p:extLst>
          </p:nvPr>
        </p:nvGraphicFramePr>
        <p:xfrm>
          <a:off x="522514" y="2356739"/>
          <a:ext cx="5656217" cy="3708020"/>
        </p:xfrm>
        <a:graphic>
          <a:graphicData uri="http://schemas.openxmlformats.org/drawingml/2006/table">
            <a:tbl>
              <a:tblPr firstRow="1" firstCol="1" bandRow="1"/>
              <a:tblGrid>
                <a:gridCol w="481809">
                  <a:extLst>
                    <a:ext uri="{9D8B030D-6E8A-4147-A177-3AD203B41FA5}">
                      <a16:colId xmlns:a16="http://schemas.microsoft.com/office/drawing/2014/main" val="1272004112"/>
                    </a:ext>
                  </a:extLst>
                </a:gridCol>
                <a:gridCol w="5174408">
                  <a:extLst>
                    <a:ext uri="{9D8B030D-6E8A-4147-A177-3AD203B41FA5}">
                      <a16:colId xmlns:a16="http://schemas.microsoft.com/office/drawing/2014/main" val="3528756340"/>
                    </a:ext>
                  </a:extLst>
                </a:gridCol>
              </a:tblGrid>
              <a:tr h="3958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555"/>
                  </a:ext>
                </a:extLst>
              </a:tr>
              <a:tr h="5864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713160"/>
                  </a:ext>
                </a:extLst>
              </a:tr>
              <a:tr h="14660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58936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524682-823A-4557-9CED-99D1FABD3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13" y="2356740"/>
            <a:ext cx="35052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3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036741" y="0"/>
            <a:ext cx="4025591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73D15B-5116-4778-B17A-8066BA8625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44F728-9CC5-4EC7-90C0-E70E9064F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620659" y="2312772"/>
            <a:ext cx="3505200" cy="1743075"/>
          </a:xfrm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1825625"/>
          <a:ext cx="6366986" cy="4165919"/>
        </p:xfrm>
        <a:graphic>
          <a:graphicData uri="http://schemas.openxmlformats.org/drawingml/2006/table">
            <a:tbl>
              <a:tblPr firstRow="1" firstCol="1" bandRow="1"/>
              <a:tblGrid>
                <a:gridCol w="530021">
                  <a:extLst>
                    <a:ext uri="{9D8B030D-6E8A-4147-A177-3AD203B41FA5}">
                      <a16:colId xmlns:a16="http://schemas.microsoft.com/office/drawing/2014/main" val="2057332366"/>
                    </a:ext>
                  </a:extLst>
                </a:gridCol>
                <a:gridCol w="4986921">
                  <a:extLst>
                    <a:ext uri="{9D8B030D-6E8A-4147-A177-3AD203B41FA5}">
                      <a16:colId xmlns:a16="http://schemas.microsoft.com/office/drawing/2014/main" val="1386330020"/>
                    </a:ext>
                  </a:extLst>
                </a:gridCol>
                <a:gridCol w="850044">
                  <a:extLst>
                    <a:ext uri="{9D8B030D-6E8A-4147-A177-3AD203B41FA5}">
                      <a16:colId xmlns:a16="http://schemas.microsoft.com/office/drawing/2014/main" val="408756637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286982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77972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337926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22387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0966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959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45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400" y="152698"/>
            <a:ext cx="6516048" cy="11728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Casper Bold"/>
              </a:rPr>
              <a:t>Classification of Boolean Expression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728069" y="1346200"/>
          <a:ext cx="4123331" cy="3197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0" y="7715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0" y="7715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4999" name="Picture 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69045" y="1827094"/>
            <a:ext cx="2133600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0" y="7715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5002" name="Picture 10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15486" y="3848859"/>
            <a:ext cx="3152775" cy="314325"/>
          </a:xfrm>
          <a:prstGeom prst="rect">
            <a:avLst/>
          </a:prstGeom>
          <a:noFill/>
        </p:spPr>
      </p:pic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0" y="771525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56400" y="4343400"/>
            <a:ext cx="4864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Each Sum term is multiplied in the expression.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300" y="2197100"/>
            <a:ext cx="5346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Each Product  term is Summed up  in the expression.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D61E62-8738-4F6B-A5A4-F9C3F258E05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84" y="86026"/>
            <a:ext cx="3277506" cy="1306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137" y="174171"/>
            <a:ext cx="7332634" cy="917575"/>
          </a:xfrm>
        </p:spPr>
        <p:txBody>
          <a:bodyPr/>
          <a:lstStyle/>
          <a:p>
            <a:pPr algn="ctr"/>
            <a:r>
              <a:rPr lang="en-US" dirty="0">
                <a:latin typeface="Casper"/>
              </a:rPr>
              <a:t> Diff b/w SOP &amp; POS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596900" y="1393825"/>
          <a:ext cx="10515600" cy="4950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2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sper"/>
                        </a:rPr>
                        <a:t>S.No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 SOP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POS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57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Each individual 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which contains either complemented or true  form called as </a:t>
                      </a:r>
                      <a:r>
                        <a:rPr lang="en-US" sz="1600" baseline="0" dirty="0" err="1">
                          <a:solidFill>
                            <a:schemeClr val="tx1"/>
                          </a:solidFill>
                          <a:latin typeface="Casper"/>
                        </a:rPr>
                        <a:t>Minterm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. </a:t>
                      </a:r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Each individual 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which contains either complemented or true  form called as </a:t>
                      </a:r>
                      <a:r>
                        <a:rPr lang="en-US" sz="1600" baseline="0" dirty="0" err="1">
                          <a:solidFill>
                            <a:schemeClr val="tx1"/>
                          </a:solidFill>
                          <a:latin typeface="Casper"/>
                        </a:rPr>
                        <a:t>Maxterm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. </a:t>
                      </a:r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sper"/>
                        </a:rPr>
                        <a:t>Minterm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is represented  as 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asper"/>
                        </a:rPr>
                        <a:t>m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Casper"/>
                        </a:rPr>
                        <a:t>i 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asper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sper"/>
                        </a:rPr>
                        <a:t>Maxterm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is represented  as 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asper"/>
                        </a:rPr>
                        <a:t>M</a:t>
                      </a:r>
                      <a:r>
                        <a:rPr lang="en-US" sz="1600" b="1" baseline="-25000" dirty="0">
                          <a:solidFill>
                            <a:schemeClr val="tx1"/>
                          </a:solidFill>
                          <a:latin typeface="Casper"/>
                        </a:rPr>
                        <a:t>i 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asper"/>
                        </a:rPr>
                        <a:t>.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9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F =∑ m 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0,1,5,7)</a:t>
                      </a:r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F =∏ M 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0,1,5,7)</a:t>
                      </a:r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9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Variables are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operated by AND (product ) to form Product term and all these product terms are </a:t>
                      </a:r>
                      <a:r>
                        <a:rPr lang="en-US" sz="1600" baseline="0" dirty="0" err="1">
                          <a:solidFill>
                            <a:schemeClr val="tx1"/>
                          </a:solidFill>
                          <a:latin typeface="Casper"/>
                        </a:rPr>
                        <a:t>ORed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asper"/>
                        <a:ea typeface="+mn-ea"/>
                        <a:cs typeface="+mn-cs"/>
                      </a:endParaRP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Variables are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operated by OR (SUM) to form  sum term and all these sum terms are </a:t>
                      </a:r>
                      <a:r>
                        <a:rPr lang="en-US" sz="1600" baseline="0" dirty="0" err="1">
                          <a:solidFill>
                            <a:schemeClr val="tx1"/>
                          </a:solidFill>
                          <a:latin typeface="Casper"/>
                        </a:rPr>
                        <a:t>ANDed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.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asper"/>
                        <a:ea typeface="+mn-ea"/>
                        <a:cs typeface="+mn-cs"/>
                      </a:endParaRP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210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5.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Each literal in true form is having value 1 whereas  Complemented form is represented by value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0.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A= 1,  A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sper"/>
                          <a:ea typeface="+mn-ea"/>
                          <a:cs typeface="+mn-cs"/>
                        </a:rPr>
                        <a:t>’=0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asp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sper"/>
                        </a:rPr>
                        <a:t>Each literal in true form is having value 0 whereas  Complemented form is represented by value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 1.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sper"/>
                        </a:rPr>
                        <a:t>A= 0,  A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sper"/>
                          <a:ea typeface="+mn-ea"/>
                          <a:cs typeface="+mn-cs"/>
                        </a:rPr>
                        <a:t>’=1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00785" y="4439730"/>
            <a:ext cx="2133600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08709" y="4508640"/>
            <a:ext cx="3152775" cy="314325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77F6C-9B92-4848-8F9D-EE1267077B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39" y="-20146"/>
            <a:ext cx="3277506" cy="1306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901778"/>
              </p:ext>
            </p:extLst>
          </p:nvPr>
        </p:nvGraphicFramePr>
        <p:xfrm>
          <a:off x="1661532" y="1525333"/>
          <a:ext cx="9692268" cy="370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486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sper"/>
                        </a:rPr>
                        <a:t>SOP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sper"/>
                        </a:rPr>
                        <a:t>POS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7508"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Caspe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58" y="1338356"/>
            <a:ext cx="4899293" cy="3181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208" y="1525333"/>
            <a:ext cx="4933949" cy="3111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99200" y="1600200"/>
            <a:ext cx="20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2386" y="1598386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9328" y="162922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486" y="1654629"/>
            <a:ext cx="260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7311" y="5519644"/>
            <a:ext cx="436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 (SOP of F)= (POS of F’)’</a:t>
            </a:r>
          </a:p>
        </p:txBody>
      </p:sp>
      <p:pic>
        <p:nvPicPr>
          <p:cNvPr id="54274" name="Picture 2" descr="C:\Users\Navdeep Kaur\AppData\Local\Microsoft\Windows\INetCache\IE\GND1I1JE\Remember-PNG-Clipart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77311" y="5551715"/>
            <a:ext cx="1129820" cy="842318"/>
          </a:xfrm>
          <a:prstGeom prst="rect">
            <a:avLst/>
          </a:prstGeom>
          <a:noFill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41171E-7D44-4B29-BB08-12ACDD019C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67717" y="4088580"/>
            <a:ext cx="4870641" cy="2366122"/>
          </a:xfrm>
          <a:custGeom>
            <a:avLst/>
            <a:gdLst/>
            <a:ahLst/>
            <a:cxnLst/>
            <a:rect l="l" t="t" r="r" b="b"/>
            <a:pathLst>
              <a:path w="4018279" h="2681604">
                <a:moveTo>
                  <a:pt x="4017835" y="11178"/>
                </a:moveTo>
                <a:lnTo>
                  <a:pt x="4017835" y="0"/>
                </a:lnTo>
                <a:lnTo>
                  <a:pt x="2095" y="2677667"/>
                </a:lnTo>
                <a:lnTo>
                  <a:pt x="571" y="2679191"/>
                </a:lnTo>
                <a:lnTo>
                  <a:pt x="0" y="2681477"/>
                </a:lnTo>
                <a:lnTo>
                  <a:pt x="14284" y="2681477"/>
                </a:lnTo>
                <a:lnTo>
                  <a:pt x="4017835" y="1117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defTabSz="820487"/>
            <a:endParaRPr>
              <a:solidFill>
                <a:prstClr val="black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3716" y="169817"/>
            <a:ext cx="6787959" cy="788519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asper Bold"/>
                <a:cs typeface="Times New Roman" pitchFamily="18" charset="0"/>
              </a:rPr>
              <a:t>Canonical SOP &amp;POS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273" y="1061166"/>
            <a:ext cx="10071463" cy="4514834"/>
          </a:xfrm>
          <a:prstGeom prst="rect">
            <a:avLst/>
          </a:prstGeom>
          <a:noFill/>
        </p:spPr>
        <p:txBody>
          <a:bodyPr wrap="square" lIns="82048" tIns="41025" rIns="82048" bIns="41025" rtlCol="0">
            <a:spAutoFit/>
          </a:bodyPr>
          <a:lstStyle/>
          <a:p>
            <a:pPr defTabSz="820487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Canonical means each term must have all literals </a:t>
            </a:r>
          </a:p>
          <a:p>
            <a:pPr lvl="2" defTabSz="820487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 = XYZ′ + X′YZ + X′YZ′ + XY′Z + XYZ</a:t>
            </a: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 canonical SOP form.</a:t>
            </a:r>
          </a:p>
          <a:p>
            <a:pPr lvl="2" defTabSz="820487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F = (X′ + Y + Z′) (X′ + Y + Z) (X′ + Y′ + Z′) canonical POS form.</a:t>
            </a:r>
          </a:p>
          <a:p>
            <a:pPr defTabSz="820487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RELATION OF MINTERN AND MAXTERMS WITH RESPECT TO INPUT VARIABLES:</a:t>
            </a:r>
          </a:p>
          <a:p>
            <a:pPr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defTabSz="820487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</a:t>
            </a:r>
          </a:p>
          <a:p>
            <a:pPr lvl="2"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lvl="2"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lvl="2"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lvl="2"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lvl="2" defTabSz="820487">
              <a:lnSpc>
                <a:spcPct val="150000"/>
              </a:lnSpc>
            </a:pP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02228" y="2730131"/>
          <a:ext cx="7903027" cy="3082840"/>
        </p:xfrm>
        <a:graphic>
          <a:graphicData uri="http://schemas.openxmlformats.org/drawingml/2006/table">
            <a:tbl>
              <a:tblPr/>
              <a:tblGrid>
                <a:gridCol w="711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3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8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28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Input variables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Casper"/>
                          <a:ea typeface="Calibri"/>
                          <a:cs typeface="Times New Roman"/>
                        </a:rPr>
                        <a:t>Minterms</a:t>
                      </a:r>
                      <a:endParaRPr lang="en-US" sz="1600" dirty="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Maxterms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i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I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A’B’C’=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A+B+C=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A’B’C=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A+B+C’=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A’BC’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2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A+B’+C= M</a:t>
                      </a:r>
                      <a:r>
                        <a:rPr lang="en-US" sz="1600" baseline="-25000" dirty="0">
                          <a:latin typeface="Casper"/>
                          <a:ea typeface="Calibri"/>
                          <a:cs typeface="Times New Roman"/>
                        </a:rPr>
                        <a:t>2</a:t>
                      </a:r>
                      <a:endParaRPr lang="en-US" sz="1600" dirty="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A’BC=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3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A+B’+C’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3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AB’C’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4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A’+B+C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4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AB’C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5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A’+B+C’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5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ABC’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6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A’+B’+C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6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ABC = m</a:t>
                      </a:r>
                      <a:r>
                        <a:rPr lang="en-US" sz="1600" baseline="-25000">
                          <a:latin typeface="Casper"/>
                          <a:ea typeface="Calibri"/>
                          <a:cs typeface="Times New Roman"/>
                        </a:rPr>
                        <a:t>7</a:t>
                      </a:r>
                      <a:endParaRPr lang="en-US" sz="160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A’+B’+C’ = M</a:t>
                      </a:r>
                      <a:r>
                        <a:rPr lang="en-US" sz="1600" baseline="-25000" dirty="0">
                          <a:latin typeface="Casper"/>
                          <a:ea typeface="Calibri"/>
                          <a:cs typeface="Times New Roman"/>
                        </a:rPr>
                        <a:t>7</a:t>
                      </a:r>
                      <a:endParaRPr lang="en-US" sz="1600" dirty="0">
                        <a:latin typeface="Casper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F706EB6-11B5-46EA-BE8C-7F998FE641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2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43831-738A-4919-BD9E-B5EBFB13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611" y="579863"/>
            <a:ext cx="7754009" cy="6140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9F5573-00B8-4A4D-9B35-F78F3DD0A4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9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801579-46DE-44A5-9308-7CDFE54D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561" y="841767"/>
            <a:ext cx="8443946" cy="5737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0A15D1-A6BB-42F3-817E-0590A08B5B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2"/>
            <a:ext cx="3184247" cy="126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2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9DF93-27F9-4A3D-B883-36ED306D7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53" y="1143942"/>
            <a:ext cx="9411629" cy="5356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4AE209-8521-4B07-B936-9202C499B1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9EBB7-E952-447F-88CB-7399DF2F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740" y="1003609"/>
            <a:ext cx="8765100" cy="56543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DCC450-A035-47AA-BF4E-D90848AB36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42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C4E78-B668-453A-BB85-3A718DC96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51" y="1170878"/>
            <a:ext cx="9127834" cy="5552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6AA2F9-F47D-4928-8F22-07ECAEA61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27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FE069-ADB3-489C-9453-19469EDD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47" y="598290"/>
            <a:ext cx="8207294" cy="6036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50EE31-EBB3-4DEE-927A-643C22CBBB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8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7563C-BD04-47F5-9CCA-680656673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225" y="730740"/>
            <a:ext cx="8227741" cy="566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E4DE18-65BE-425D-8BE2-0EAD8DC524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90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22012-AD2B-4FA1-836A-FDFBBF8B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434" y="702527"/>
            <a:ext cx="8709102" cy="61554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A6796C-9EBF-419E-BFBF-923472FD1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15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D4118-3F41-4919-B950-FA6D80A2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74" y="635621"/>
            <a:ext cx="7690604" cy="62223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CD5EC5-9270-44FF-913F-C8EFE21DB8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5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7BE10-5A4B-4D81-A726-A2A7BA4EC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494" y="981307"/>
            <a:ext cx="8164471" cy="54529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A41FB2-CD40-4AF5-BA8D-9F3D70A9D8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44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C093D-375D-4779-B5FC-76EC1F78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282" y="657922"/>
            <a:ext cx="7825968" cy="5871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C26404-D80E-4A87-AD75-4AC44F6F0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74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B99EE4-AE40-4519-AA55-DD19083F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908" y="869794"/>
            <a:ext cx="8010096" cy="55929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6FB586-FFE3-4736-8637-D48D481256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67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1319A-8041-4975-8698-7199F02AF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741" y="1204332"/>
            <a:ext cx="7705521" cy="5163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A14D11-682C-4C91-8CB8-D9D6F5B5E7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38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440A5-016C-4755-9780-6F6C91EC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925" y="367989"/>
            <a:ext cx="6870811" cy="5352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DF930-C39C-4EF5-B0B4-DADFD981F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258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84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CE0EF-D1DA-40D1-AC4F-F09F9FFE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357" y="1110571"/>
            <a:ext cx="8096570" cy="51949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B5A94-9677-410C-8388-5D68A3E917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277506" cy="1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75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61"/>
            <a:ext cx="10515600" cy="9197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/>
                <a:cs typeface="Times New Roman" pitchFamily="18" charset="0"/>
              </a:rPr>
              <a:t>REFERENCES</a:t>
            </a:r>
            <a:r>
              <a:rPr lang="en-US" dirty="0">
                <a:latin typeface="Casper Bold"/>
                <a:cs typeface="Times New Roman" pitchFamily="18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08" y="1165860"/>
            <a:ext cx="10515600" cy="5692140"/>
          </a:xfrm>
        </p:spPr>
        <p:txBody>
          <a:bodyPr>
            <a:noAutofit/>
          </a:bodyPr>
          <a:lstStyle/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3"/>
              </a:rPr>
              <a:t>https://www.vivaxsolutions.com/physics/allogicgates.aspx</a:t>
            </a:r>
            <a:endParaRPr lang="en-US" sz="1600" dirty="0">
              <a:latin typeface="Casper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https://www.androiderode.com/ttl-not-gate/</a:t>
            </a:r>
            <a:endParaRPr lang="en-US" sz="1600" dirty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5"/>
              </a:rPr>
              <a:t>http://www.geeksforgeeks.org/digital-electronics-logic-design-tutorials/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6"/>
              </a:rPr>
              <a:t>http://www.ni.com/example/14493/en/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7"/>
              </a:rPr>
              <a:t>http://195.134.76.37/applets/AppletGates/Appl_Gates2.html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latin typeface="Casper"/>
                <a:hlinkClick r:id="rId8"/>
              </a:rPr>
              <a:t>https://www.javatpoint.com/and-gate-in-digital-electronics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9"/>
              </a:rPr>
              <a:t>https://www.allaboutcircuits.com/textbook/digital/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0"/>
              </a:rPr>
              <a:t>https://www.tutorialspoint.com/digital_electronics/index.asp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1"/>
              </a:rPr>
              <a:t>https://www.tutorialspoint.com/computer_logical_organization/complement_arithmetic.htm</a:t>
            </a:r>
            <a:endParaRPr lang="en-GB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7400" y="169861"/>
            <a:ext cx="10515600" cy="8222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~PP4077.WAV">
            <a:hlinkClick r:id="" action="ppaction://media"/>
          </p:cNvPr>
          <p:cNvPicPr>
            <a:picLocks noRot="1" noChangeAspect="1"/>
          </p:cNvPicPr>
          <p:nvPr>
            <a:wavAudioFile r:embed="rId1" name="~PP4077.WAV"/>
          </p:nvPr>
        </p:nvPicPr>
        <p:blipFill>
          <a:blip r:embed="rId12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60"/>
    </mc:Choice>
    <mc:Fallback xmlns="">
      <p:transition spd="slow" advTm="130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731</Words>
  <Application>Microsoft Office PowerPoint</Application>
  <PresentationFormat>Widescreen</PresentationFormat>
  <Paragraphs>176</Paragraphs>
  <Slides>25</Slides>
  <Notes>2</Notes>
  <HiddenSlides>0</HiddenSlides>
  <MMClips>1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Office Theme</vt:lpstr>
      <vt:lpstr>CorelDRAW</vt:lpstr>
      <vt:lpstr>PowerPoint Presentation</vt:lpstr>
      <vt:lpstr>Lecture Objectives</vt:lpstr>
      <vt:lpstr>Course Objectives</vt:lpstr>
      <vt:lpstr>Course Outcomes</vt:lpstr>
      <vt:lpstr>Classification of Boolean Expression</vt:lpstr>
      <vt:lpstr> Diff b/w SOP &amp; POS form</vt:lpstr>
      <vt:lpstr>PowerPoint Presentation</vt:lpstr>
      <vt:lpstr>Canonical SOP &amp;POS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Anupma</dc:creator>
  <cp:lastModifiedBy>INDIAN</cp:lastModifiedBy>
  <cp:revision>15</cp:revision>
  <dcterms:created xsi:type="dcterms:W3CDTF">2021-07-01T07:01:47Z</dcterms:created>
  <dcterms:modified xsi:type="dcterms:W3CDTF">2023-06-20T09:52:12Z</dcterms:modified>
</cp:coreProperties>
</file>