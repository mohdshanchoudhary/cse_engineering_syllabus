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wdp" ContentType="image/vnd.ms-photo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2"/>
  </p:notesMasterIdLst>
  <p:sldIdLst>
    <p:sldId id="393" r:id="rId3"/>
    <p:sldId id="390" r:id="rId4"/>
    <p:sldId id="391" r:id="rId5"/>
    <p:sldId id="392" r:id="rId6"/>
    <p:sldId id="341" r:id="rId7"/>
    <p:sldId id="342" r:id="rId8"/>
    <p:sldId id="343" r:id="rId9"/>
    <p:sldId id="344" r:id="rId10"/>
    <p:sldId id="345" r:id="rId11"/>
    <p:sldId id="346" r:id="rId12"/>
    <p:sldId id="347" r:id="rId13"/>
    <p:sldId id="348" r:id="rId14"/>
    <p:sldId id="349" r:id="rId15"/>
    <p:sldId id="350" r:id="rId16"/>
    <p:sldId id="351" r:id="rId17"/>
    <p:sldId id="352" r:id="rId18"/>
    <p:sldId id="353" r:id="rId19"/>
    <p:sldId id="284" r:id="rId20"/>
    <p:sldId id="27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3265" autoAdjust="0"/>
  </p:normalViewPr>
  <p:slideViewPr>
    <p:cSldViewPr snapToGrid="0" showGuides="1">
      <p:cViewPr varScale="1">
        <p:scale>
          <a:sx n="68" d="100"/>
          <a:sy n="68" d="100"/>
        </p:scale>
        <p:origin x="780" y="48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A81C9F-B759-4485-B30D-187CF2688E1D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BD961F-7D8A-49AB-B4B4-4BD9D677DF6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834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D961F-7D8A-49AB-B4B4-4BD9D677DF65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31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D961F-7D8A-49AB-B4B4-4BD9D677DF65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213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1DA6B-B524-4275-B687-5DFC44779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0CE09B-D2A4-4717-881F-2D35795C56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7672D-6AB0-43D0-B3EE-C216CD64D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A4040-6DCB-4037-B534-FFE78EEF7C0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46991-8B61-40B9-8EAA-3365D2234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009CC-1CE9-48B2-9577-FD3F05DD8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E37F-AB63-4FFB-BE2D-65F6AE209C0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687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E20A6-CB4D-4EC1-ADE6-DA05153FA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D204A-B309-4C1F-9F14-2FBF85282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5017E-155C-4D07-861B-F8BA18D78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A4040-6DCB-4037-B534-FFE78EEF7C0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462D5-4F33-43E1-8C1A-3AE68E036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1AC4E-E95A-4FC9-A54B-383B5B1E5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E37F-AB63-4FFB-BE2D-65F6AE209C0E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658C8F-8DDA-493F-9D91-A4153C6883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077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045CC-F47E-4140-A9F0-24BDBD64D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25AE5-76E5-4C3A-869E-87E1D14F6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2C3A-1931-46A9-8BE3-2C4FC3B1A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A4040-6DCB-4037-B534-FFE78EEF7C0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9C6A6-F1E7-4DDF-9EDF-7E23E33F6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D1B8A-8DF0-465E-83E4-02758CAE6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E37F-AB63-4FFB-BE2D-65F6AE209C0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747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B5B0F-DC23-4DF7-9125-0BA8EDBA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614D9-E58A-4583-9930-47BF0992CD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990A7-2BCF-4262-AC7C-7C0D800CE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BBFD8-E774-48A3-A3C9-E698E021A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A4040-6DCB-4037-B534-FFE78EEF7C0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2CB296-BC3D-4BA7-846F-5DC2230B9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42DF9-08F2-4E54-9F83-359494063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E37F-AB63-4FFB-BE2D-65F6AE209C0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939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EC3FD-A090-4ECD-AD6A-4C38B6541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3DA5B-5CC8-4686-A1ED-D621F3717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C31258-7FF8-43A8-9D34-A266950E2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2A00B4-D34D-4F1F-BDC6-8A871CFEB8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382659-2250-4F97-B088-0EE52DEF25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A952E5-BCBC-4260-8C56-503A8164F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A4040-6DCB-4037-B534-FFE78EEF7C0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97653-B4E6-4FAF-B531-5974E5A43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EC139-AE37-44F4-88D1-D0E0C3AC3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E37F-AB63-4FFB-BE2D-65F6AE209C0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476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19AC6-DC3B-4455-87C6-757BD3179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47744F-E39B-4802-BCF7-7E65B03F1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A4040-6DCB-4037-B534-FFE78EEF7C0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9AE696-302D-482B-895F-241580045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B3A16-393B-4DC7-BF7D-5A50F3C73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E37F-AB63-4FFB-BE2D-65F6AE209C0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467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F7F203-F822-4A10-9E94-D75809037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A4040-6DCB-4037-B534-FFE78EEF7C0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229688-8969-4B8F-8030-29216CE24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E6728-D510-49B7-9B03-6FF57DFB7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E37F-AB63-4FFB-BE2D-65F6AE209C0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482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CA50A-3DCE-419D-B853-47AF632FA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9F4C9-C409-42FC-8111-637F580F2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B652F-AA93-48AD-AB14-02F49EFBC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24129-37E0-42AE-BA07-1633C96FE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A4040-6DCB-4037-B534-FFE78EEF7C0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A1119-E5B6-4D48-A294-8C66F156F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99D3CA-AE69-426A-BC4A-E2557C046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E37F-AB63-4FFB-BE2D-65F6AE209C0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816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6C659-0286-4E8D-B08C-73B53F718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F73D68-3536-4C07-A71D-1421A55419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6378D-402C-431C-BFB4-17A86C8B4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D8AEF4-F9E2-4D17-90F1-D2FD892AF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A4040-6DCB-4037-B534-FFE78EEF7C0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DE11B-0D2F-4539-99C1-4D7A7873B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14343-223E-407D-990F-25FDC10F0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E37F-AB63-4FFB-BE2D-65F6AE209C0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420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CECF2-06DE-46A2-B5FD-E81746796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720631-0C5A-4A3D-BB79-B61016DD1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E627D-5D47-4C67-89E7-4774B196B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A4040-6DCB-4037-B534-FFE78EEF7C0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4F118-7B8E-4D54-9C05-2D563DB23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86555-4774-4C83-95B6-68004BF48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E37F-AB63-4FFB-BE2D-65F6AE209C0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650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075836-5EB0-4876-9D2B-BA7DD79142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4AAF36-31BE-450C-B689-7872D27105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404D-B139-46F0-B6FD-2A8903847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A4040-6DCB-4037-B534-FFE78EEF7C0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D4DA1-AA13-40F4-B28F-9E86110C5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ED36D-9258-41C3-8AED-20A99864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E37F-AB63-4FFB-BE2D-65F6AE209C0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487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6/20/2023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694997"/>
      </p:ext>
    </p:extLst>
  </p:cSld>
  <p:clrMapOvr>
    <a:masterClrMapping/>
  </p:clrMapOvr>
  <p:transition spd="slow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48CD4-028F-4373-BE75-8E171B9C3E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3526EB-FA3B-43E5-9C74-15EBC2AAD4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75BE2-AEBF-43E7-B756-A2665407F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908C8-F434-40DA-BE87-43AB4A7066B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7FC14-4B6F-49A2-A40E-EAF9B1D42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CAB4C-6A0A-4DF5-903A-C02ECA524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F8562-F5E0-4030-9C5E-3A7B74C73B0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0390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31988-479A-46F9-A98A-97E1D6277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BDD54-8CA3-4E90-BBCF-125DDFD63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7063E-114E-4FE2-9333-4B9F40621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908C8-F434-40DA-BE87-43AB4A7066B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80422-80B6-4C9E-85E6-4FB494F8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61011-16BB-4255-AB03-816BC667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F8562-F5E0-4030-9C5E-3A7B74C73B0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9057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4A801-A315-464A-8EA0-3EE5393E2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B1619-1B10-40EB-9FB1-CAB513FB3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216E9-6CF8-4F63-9BA1-4F9ECFAE7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908C8-F434-40DA-BE87-43AB4A7066B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08DFE-AE97-447F-94F1-E57D9F24D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A7125-8398-4A17-9576-4F78ACD16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F8562-F5E0-4030-9C5E-3A7B74C73B0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9844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2FAF5-D64B-487B-AEDC-F12BC2668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4FAFB-AB87-4395-AE30-A0C7D501CD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784B5C-5AAE-4788-BD8D-D763EEC05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F0EA4-13E3-4AE5-91A6-6E1C086A8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908C8-F434-40DA-BE87-43AB4A7066B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9AF29-948B-4B61-84DF-4E5C335EF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B666F1-6A1E-477F-A1FE-0BB2378A0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F8562-F5E0-4030-9C5E-3A7B74C73B0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3607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B0D81-A718-4F1D-98D4-A3DE7E1B9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E5C27-F04B-4E82-BBF2-65A1E58EA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8ECAB4-7EE0-4FB2-A2DD-ACA2D46E78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4465D7-4015-4FED-9BA2-FA9196390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F4F747-F545-4B8D-B0C0-8F633B3FE9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FE1F0C-5F9D-4FBF-84A9-FBA6FA933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908C8-F434-40DA-BE87-43AB4A7066B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66E017-A8F1-489A-890F-78C60649C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CCB8CD-F60E-40EE-B5F8-EBE864E9E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F8562-F5E0-4030-9C5E-3A7B74C73B0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0890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CC3CF-D966-438A-8927-2D5C6DD5A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7CDB32-F156-477B-8EFE-BEC7B291D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908C8-F434-40DA-BE87-43AB4A7066B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A208A0-7A40-4F50-96D8-F8895B04C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E95CE1-D4C4-469E-94DD-8683F0649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F8562-F5E0-4030-9C5E-3A7B74C73B0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813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E11D33-EFFE-4359-A2B9-32EC66025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908C8-F434-40DA-BE87-43AB4A7066B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5483E4-373D-48CA-B9E1-CC937E3D3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22F5A-0770-4879-AFDA-F77F6F982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F8562-F5E0-4030-9C5E-3A7B74C73B0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4369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D914E-40C5-40A1-97C3-3B27D1214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1B66E-5A77-438C-A435-36B33EF0E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AA348-C137-4694-8F7E-80AD5ADF8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1F65F3-8411-40BC-924E-ECAF62F36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908C8-F434-40DA-BE87-43AB4A7066B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AF7EB-F312-47D6-8145-3D150A57A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CE85B-632C-40FA-A28C-E87D82E7B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F8562-F5E0-4030-9C5E-3A7B74C73B0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8691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9FA9A-71C0-4432-BCC5-A09EC8F6F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255D3C-5381-49BB-A95E-CC65FF8971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7A0C8B-6319-4E99-A219-9C70F6EC0E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56FCF-5DAD-4D53-9C39-10052D0F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908C8-F434-40DA-BE87-43AB4A7066B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FCA88B-BC3D-418E-9AB6-C2DAA0AF1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93CFCC-27A2-426A-9F0E-C55D57C4F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F8562-F5E0-4030-9C5E-3A7B74C73B0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4475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4E1FB-BB54-4BC9-8714-B1D8597B6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948DC3-67BE-4AF7-A2DE-AD90230F7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08738-6B61-47CB-8451-1C348043D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908C8-F434-40DA-BE87-43AB4A7066B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B711F-A1FC-4BF7-88E7-275EFCEFB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DA905-0FFF-47B9-9354-562E874C2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F8562-F5E0-4030-9C5E-3A7B74C73B0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628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6EC713-0A6E-463A-884D-61565F4496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631EF1-F06E-4B3A-AB38-CB48ED64E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84F87-306C-4575-86FC-7B86DD5BA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908C8-F434-40DA-BE87-43AB4A7066B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83A0F-5F50-4F03-985D-BDA60E124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24323-1846-4DEB-BC5F-D3C722477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F8562-F5E0-4030-9C5E-3A7B74C73B0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207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69B224-3046-43E2-9670-48A784008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B1C46D-3D34-4BD5-BE45-1AA8885F2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CBDA5-F68A-4923-9702-AF9913937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6A4040-6DCB-4037-B534-FFE78EEF7C0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0848D-1551-44E7-9D37-3E71CC87AB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521BF-1227-493E-84B2-5CB3651F1C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AE37F-AB63-4FFB-BE2D-65F6AE209C0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202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A867B-A7D2-44BA-9D5F-6B74E7A99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3AA50-ED52-4D44-89BB-E969BBCD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DB985-F608-4709-8B39-3D2E2F865B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908C8-F434-40DA-BE87-43AB4A7066B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4EAD9-3612-4D5D-B81B-91874F072C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C195F-BC87-4FC2-BE87-2141B18D81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F8562-F5E0-4030-9C5E-3A7B74C73B0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061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javatpoint.com/and-gate-in-digital-electronics" TargetMode="External"/><Relationship Id="rId3" Type="http://schemas.openxmlformats.org/officeDocument/2006/relationships/hyperlink" Target="https://www.vivaxsolutions.com/physics/allogicgates.aspx" TargetMode="External"/><Relationship Id="rId7" Type="http://schemas.openxmlformats.org/officeDocument/2006/relationships/hyperlink" Target="http://195.134.76.37/applets/AppletGates/Appl_Gates2.html" TargetMode="External"/><Relationship Id="rId12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Relationship Id="rId6" Type="http://schemas.openxmlformats.org/officeDocument/2006/relationships/hyperlink" Target="http://www.ni.com/example/14493/en/" TargetMode="External"/><Relationship Id="rId11" Type="http://schemas.openxmlformats.org/officeDocument/2006/relationships/hyperlink" Target="https://www.tutorialspoint.com/computer_logical_organization/complement_arithmetic.htm" TargetMode="External"/><Relationship Id="rId5" Type="http://schemas.openxmlformats.org/officeDocument/2006/relationships/hyperlink" Target="http://www.geeksforgeeks.org/digital-electronics-logic-design-tutorials/" TargetMode="External"/><Relationship Id="rId10" Type="http://schemas.openxmlformats.org/officeDocument/2006/relationships/hyperlink" Target="https://www.tutorialspoint.com/digital_electronics/index.asp" TargetMode="External"/><Relationship Id="rId4" Type="http://schemas.openxmlformats.org/officeDocument/2006/relationships/hyperlink" Target="https://www.androiderode.com/ttl-not-gate/" TargetMode="External"/><Relationship Id="rId9" Type="http://schemas.openxmlformats.org/officeDocument/2006/relationships/hyperlink" Target="https://www.allaboutcircuits.com/textbook/digital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CorelDRAW" r:id="rId4" imgW="2169000" imgH="2169360" progId="">
                  <p:embed/>
                </p:oleObj>
              </mc:Choice>
              <mc:Fallback>
                <p:oleObj name="CorelDRAW" r:id="rId4" imgW="2169000" imgH="2169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8685551" y="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640080" y="6014156"/>
            <a:ext cx="46685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eaLnBrk="1" hangingPunct="1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Boolean Algebra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982714" y="1703603"/>
            <a:ext cx="9063318" cy="7263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UIE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ACADEMIC UNIT-1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Introduction Electrical &amp; Electronics Engineering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Code-23ECH-101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By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 Shikha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Unit-1 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Chapter-3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2400" b="1" dirty="0" smtClean="0"/>
              <a:t>Introduction </a:t>
            </a:r>
            <a:r>
              <a:rPr lang="en-IN" sz="2400" b="1" dirty="0"/>
              <a:t>of Electrical &amp; Electronics Circuit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 No. 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1.3.4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 smtClean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592186" y="215805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"/>
              </a:rPr>
              <a:t>Lecture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271879"/>
              </p:ext>
            </p:extLst>
          </p:nvPr>
        </p:nvGraphicFramePr>
        <p:xfrm>
          <a:off x="592954" y="2054775"/>
          <a:ext cx="6053173" cy="4197274"/>
        </p:xfrm>
        <a:graphic>
          <a:graphicData uri="http://schemas.openxmlformats.org/drawingml/2006/table">
            <a:tbl>
              <a:tblPr firstRow="1" firstCol="1" bandRow="1"/>
              <a:tblGrid>
                <a:gridCol w="765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7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31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55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make student</a:t>
                      </a:r>
                      <a:r>
                        <a:rPr lang="en-US" sz="20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aware about theorems of  Boolean Algebra and different Boolean Theorems.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71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impart knowledge about application of Boolean algebra in digital circuits.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101252"/>
                  </a:ext>
                </a:extLst>
              </a:tr>
              <a:tr h="13114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make and understand them reducing of complex digital logic into reduced form using Boolean Algebra.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3" name="Picture 12" descr="C:\Users\kishan\Desktop\New folder (2)\VJHVHJ.png">
            <a:extLst>
              <a:ext uri="{FF2B5EF4-FFF2-40B4-BE49-F238E27FC236}">
                <a16:creationId xmlns:a16="http://schemas.microsoft.com/office/drawing/2014/main" id="{6C5B7A71-4DAF-4A66-9033-5570C3418C2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79794" y="2161207"/>
            <a:ext cx="4881982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D80402-9F6D-4AA1-B373-46E5D1DBB6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" y="19234"/>
            <a:ext cx="3289853" cy="131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063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701791" y="31424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"/>
              </a:rPr>
              <a:t>Course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8231045"/>
              </p:ext>
            </p:extLst>
          </p:nvPr>
        </p:nvGraphicFramePr>
        <p:xfrm>
          <a:off x="886265" y="1733013"/>
          <a:ext cx="6203852" cy="3360420"/>
        </p:xfrm>
        <a:graphic>
          <a:graphicData uri="http://schemas.openxmlformats.org/drawingml/2006/table">
            <a:tbl>
              <a:tblPr firstRow="1" firstCol="1" bandRow="1"/>
              <a:tblGrid>
                <a:gridCol w="528457">
                  <a:extLst>
                    <a:ext uri="{9D8B030D-6E8A-4147-A177-3AD203B41FA5}">
                      <a16:colId xmlns:a16="http://schemas.microsoft.com/office/drawing/2014/main" val="1729561453"/>
                    </a:ext>
                  </a:extLst>
                </a:gridCol>
                <a:gridCol w="5675395">
                  <a:extLst>
                    <a:ext uri="{9D8B030D-6E8A-4147-A177-3AD203B41FA5}">
                      <a16:colId xmlns:a16="http://schemas.microsoft.com/office/drawing/2014/main" val="1531853387"/>
                    </a:ext>
                  </a:extLst>
                </a:gridCol>
              </a:tblGrid>
              <a:tr h="6083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229924"/>
                  </a:ext>
                </a:extLst>
              </a:tr>
              <a:tr h="8203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Understand Electrical &amp; Electronics Engineering Fundamentals</a:t>
                      </a:r>
                      <a:r>
                        <a:rPr lang="en-US" sz="2000" kern="1200" spc="-5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2000" kern="1200" spc="-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0078315"/>
                  </a:ext>
                </a:extLst>
              </a:tr>
              <a:tr h="6290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endParaRPr lang="en-US" sz="20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IN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To prepare students to perform the analysis and design of various Electrical &amp; digital electronic circuits.</a:t>
                      </a:r>
                      <a:endParaRPr lang="en-US" sz="20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3678182"/>
                  </a:ext>
                </a:extLst>
              </a:tr>
            </a:tbl>
          </a:graphicData>
        </a:graphic>
      </p:graphicFrame>
      <p:pic>
        <p:nvPicPr>
          <p:cNvPr id="13" name="Picture 12" descr="C:\Users\kishan\Desktop\New folder (2)\VJHVHJ.png">
            <a:extLst>
              <a:ext uri="{FF2B5EF4-FFF2-40B4-BE49-F238E27FC236}">
                <a16:creationId xmlns:a16="http://schemas.microsoft.com/office/drawing/2014/main" id="{2EC500A5-0839-4B68-89F4-7CE467B2CCD9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65976" y="1882426"/>
            <a:ext cx="3973550" cy="2912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A5A6F4-38F2-42A8-8B82-EEA1205A60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424"/>
            <a:ext cx="3289853" cy="131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553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898991" y="260294"/>
            <a:ext cx="5907505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"/>
              </a:rPr>
              <a:t>Course Outcomes</a:t>
            </a: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2523255"/>
              </p:ext>
            </p:extLst>
          </p:nvPr>
        </p:nvGraphicFramePr>
        <p:xfrm>
          <a:off x="534572" y="1887760"/>
          <a:ext cx="6668085" cy="4231689"/>
        </p:xfrm>
        <a:graphic>
          <a:graphicData uri="http://schemas.openxmlformats.org/drawingml/2006/table">
            <a:tbl>
              <a:tblPr firstRow="1" firstCol="1" bandRow="1"/>
              <a:tblGrid>
                <a:gridCol w="555086">
                  <a:extLst>
                    <a:ext uri="{9D8B030D-6E8A-4147-A177-3AD203B41FA5}">
                      <a16:colId xmlns:a16="http://schemas.microsoft.com/office/drawing/2014/main" val="2057332366"/>
                    </a:ext>
                  </a:extLst>
                </a:gridCol>
                <a:gridCol w="5222756">
                  <a:extLst>
                    <a:ext uri="{9D8B030D-6E8A-4147-A177-3AD203B41FA5}">
                      <a16:colId xmlns:a16="http://schemas.microsoft.com/office/drawing/2014/main" val="1386330020"/>
                    </a:ext>
                  </a:extLst>
                </a:gridCol>
                <a:gridCol w="890243">
                  <a:extLst>
                    <a:ext uri="{9D8B030D-6E8A-4147-A177-3AD203B41FA5}">
                      <a16:colId xmlns:a16="http://schemas.microsoft.com/office/drawing/2014/main" val="4087566371"/>
                    </a:ext>
                  </a:extLst>
                </a:gridCol>
              </a:tblGrid>
              <a:tr h="6179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 Number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Title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Level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286982"/>
                  </a:ext>
                </a:extLst>
              </a:tr>
              <a:tr h="833348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identify the different types of electrical elements and the basic op-amp circuit elements and to illustrate the various types of motors, transducers.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Remember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177972"/>
                  </a:ext>
                </a:extLst>
              </a:tr>
              <a:tr h="839694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understand basic principles of transformers, transducers, op-amps, DC and AC motors and to compare the different methods for analysing electrical and magnetic circuits.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9337926"/>
                  </a:ext>
                </a:extLst>
              </a:tr>
              <a:tr h="662773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derive the relationships between parameters in electric and magnetic circuits and motors and to determine specifications of op-amps.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922387"/>
                  </a:ext>
                </a:extLst>
              </a:tr>
              <a:tr h="638977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solve the basic problems related to electric circuits, magnetic circuits and motors and to assess the characteristics of different configurations of op-amps.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0109661"/>
                  </a:ext>
                </a:extLst>
              </a:tr>
              <a:tr h="638977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CO5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design the different applications of transducers, motors as well as the op-amps like adders, </a:t>
                      </a:r>
                      <a:r>
                        <a:rPr lang="en-IN" sz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subtractor</a:t>
                      </a: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 and comparators.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-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959009"/>
                  </a:ext>
                </a:extLst>
              </a:tr>
            </a:tbl>
          </a:graphicData>
        </a:graphic>
      </p:graphicFrame>
      <p:pic>
        <p:nvPicPr>
          <p:cNvPr id="13" name="Picture 12" descr="C:\Users\kishan\Desktop\New folder (2)\VJHVHJ.png">
            <a:extLst>
              <a:ext uri="{FF2B5EF4-FFF2-40B4-BE49-F238E27FC236}">
                <a16:creationId xmlns:a16="http://schemas.microsoft.com/office/drawing/2014/main" id="{5A39C660-FCEF-45D4-8ADE-28E5870F720A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65976" y="1882426"/>
            <a:ext cx="3973550" cy="2912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600C8C-E2A7-4595-8BD4-25595810F1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12" y="65886"/>
            <a:ext cx="3124535" cy="124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260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886467E-A8EF-4C62-9179-D83DC1635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013" y="488156"/>
            <a:ext cx="11055928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127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127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127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127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127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127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127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127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127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1127125" algn="l"/>
              </a:tabLst>
            </a:pPr>
            <a:r>
              <a:rPr kumimoji="0" lang="en-US" altLang="en-US" sz="36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Introduction To Boolean Algebra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1127125" algn="l"/>
              </a:tabLst>
            </a:pPr>
            <a:endParaRPr lang="en-US" altLang="en-US" sz="36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1127125" algn="l"/>
              </a:tabLst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Developed by English Mathematician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600" b="0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George Boole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1127125" algn="l"/>
              </a:tabLst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in between 1815 - 1864.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1127125" algn="l"/>
              </a:tabLst>
            </a:pPr>
            <a:endParaRPr lang="en-US" altLang="en-US" sz="36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1127125" algn="l"/>
              </a:tabLst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It is described as </a:t>
            </a:r>
            <a:r>
              <a:rPr kumimoji="0" lang="en-US" altLang="en-US" sz="3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an </a:t>
            </a:r>
            <a:r>
              <a:rPr kumimoji="0" lang="en-US" altLang="en-US" sz="3600" b="0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algebra of logic</a:t>
            </a:r>
            <a:r>
              <a:rPr kumimoji="0" lang="en-US" altLang="en-US" sz="3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or an </a:t>
            </a:r>
            <a:r>
              <a:rPr kumimoji="0" lang="en-US" altLang="en-US" sz="3600" b="0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algebra of two values </a:t>
            </a:r>
            <a:r>
              <a:rPr kumimoji="0" lang="en-US" altLang="en-US" sz="3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i.e</a:t>
            </a:r>
            <a:r>
              <a:rPr kumimoji="0" lang="en-US" altLang="en-US" sz="3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600" b="0" i="1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True</a:t>
            </a:r>
            <a:r>
              <a:rPr kumimoji="0" lang="en-US" altLang="en-US" sz="3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or </a:t>
            </a:r>
            <a:r>
              <a:rPr kumimoji="0" lang="en-US" altLang="en-US" sz="3600" b="0" i="1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False</a:t>
            </a:r>
            <a:r>
              <a:rPr kumimoji="0" lang="en-US" altLang="en-US" sz="3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1127125" algn="l"/>
              </a:tabLst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127125" algn="l"/>
              </a:tabLst>
            </a:pPr>
            <a:r>
              <a:rPr lang="en-US" sz="36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The term </a:t>
            </a:r>
            <a:r>
              <a:rPr lang="en-US" sz="3600" i="1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logic </a:t>
            </a:r>
            <a:r>
              <a:rPr lang="en-US" sz="36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means a statement having binary decisions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i.e</a:t>
            </a:r>
            <a:r>
              <a:rPr lang="en-US" sz="36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i="1" dirty="0">
                <a:solidFill>
                  <a:srgbClr val="009900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True/Yes</a:t>
            </a:r>
            <a:r>
              <a:rPr lang="en-US" sz="3600" i="1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or </a:t>
            </a:r>
            <a:r>
              <a:rPr lang="en-US" sz="3600" i="1" dirty="0">
                <a:solidFill>
                  <a:srgbClr val="CC3300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False/No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594B50-F1DA-41D5-9CB7-6E4A004CCD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043917" cy="121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649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5221E-508C-46E5-AB2D-26EB8EB03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8368" y="365126"/>
            <a:ext cx="8165432" cy="684774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Applications of Boolean algebra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8C0DF5-6EBC-40A0-B87D-860BD7E1D7C7}"/>
              </a:ext>
            </a:extLst>
          </p:cNvPr>
          <p:cNvSpPr txBox="1"/>
          <p:nvPr/>
        </p:nvSpPr>
        <p:spPr>
          <a:xfrm>
            <a:off x="415324" y="1558209"/>
            <a:ext cx="11542816" cy="5275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623570" lvl="0" algn="just">
              <a:lnSpc>
                <a:spcPct val="150000"/>
              </a:lnSpc>
              <a:spcBef>
                <a:spcPts val="2165"/>
              </a:spcBef>
              <a:spcAft>
                <a:spcPts val="0"/>
              </a:spcAft>
              <a:tabLst>
                <a:tab pos="1127125" algn="l"/>
                <a:tab pos="1127760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It is used to perform the logical operations in digital</a:t>
            </a:r>
            <a:r>
              <a:rPr lang="en-US" sz="2800" spc="-2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computer.</a:t>
            </a:r>
            <a:endParaRPr lang="en-IN" sz="2800" dirty="0">
              <a:effectLst/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R="735330" lvl="0" algn="just">
              <a:lnSpc>
                <a:spcPct val="150000"/>
              </a:lnSpc>
              <a:spcBef>
                <a:spcPts val="295"/>
              </a:spcBef>
              <a:spcAft>
                <a:spcPts val="0"/>
              </a:spcAft>
              <a:tabLst>
                <a:tab pos="1127125" algn="l"/>
                <a:tab pos="1127760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In digital computer </a:t>
            </a:r>
            <a:r>
              <a:rPr lang="en-US" sz="2800" dirty="0">
                <a:solidFill>
                  <a:srgbClr val="009900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True </a:t>
            </a:r>
            <a:r>
              <a:rPr lang="en-US" sz="28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represent by ‘</a:t>
            </a:r>
            <a:r>
              <a:rPr lang="en-US" sz="28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’</a:t>
            </a:r>
            <a:r>
              <a:rPr lang="en-US" sz="28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(high volt) </a:t>
            </a:r>
            <a:r>
              <a:rPr lang="en-US" sz="28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and </a:t>
            </a:r>
            <a:r>
              <a:rPr lang="en-US" sz="2800" dirty="0">
                <a:solidFill>
                  <a:srgbClr val="CC3300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False </a:t>
            </a:r>
            <a:r>
              <a:rPr lang="en-US" sz="28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represent by ‘</a:t>
            </a:r>
            <a:r>
              <a:rPr lang="en-US" sz="28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’ </a:t>
            </a:r>
            <a:r>
              <a:rPr lang="en-US" sz="28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(low volt)</a:t>
            </a:r>
            <a:endParaRPr lang="en-IN" sz="2800" dirty="0">
              <a:effectLst/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R="557530" lvl="0" algn="just">
              <a:lnSpc>
                <a:spcPct val="150000"/>
              </a:lnSpc>
              <a:spcBef>
                <a:spcPts val="275"/>
              </a:spcBef>
              <a:spcAft>
                <a:spcPts val="0"/>
              </a:spcAft>
              <a:tabLst>
                <a:tab pos="1127125" algn="l"/>
                <a:tab pos="1127760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Logical operations are performed by logical operators. The fundamental logical operators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are:</a:t>
            </a:r>
            <a:endParaRPr lang="en-IN" sz="2800" dirty="0">
              <a:effectLst/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ts val="135"/>
              </a:spcBef>
              <a:spcAft>
                <a:spcPts val="0"/>
              </a:spcAft>
              <a:buSzPts val="2600"/>
              <a:buFont typeface="Verdana" panose="020B0604030504040204" pitchFamily="34" charset="0"/>
              <a:buAutoNum type="arabicPeriod"/>
              <a:tabLst>
                <a:tab pos="3400425" algn="l"/>
                <a:tab pos="3401060" algn="l"/>
              </a:tabLst>
            </a:pPr>
            <a:r>
              <a:rPr lang="en-US" sz="2800" spc="-1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AND</a:t>
            </a:r>
            <a:r>
              <a:rPr lang="en-US" sz="2800" spc="-15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(conjunction)</a:t>
            </a:r>
            <a:endParaRPr lang="en-IN" sz="2800" spc="-10" dirty="0">
              <a:effectLst/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SzPts val="2600"/>
              <a:buFont typeface="Verdana" panose="020B0604030504040204" pitchFamily="34" charset="0"/>
              <a:buAutoNum type="arabicPeriod"/>
              <a:tabLst>
                <a:tab pos="3400425" algn="l"/>
                <a:tab pos="3401060" algn="l"/>
              </a:tabLst>
            </a:pPr>
            <a:r>
              <a:rPr lang="en-US" sz="2800" spc="-1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OR (disjunction)</a:t>
            </a:r>
            <a:endParaRPr lang="en-IN" sz="2800" spc="-10" dirty="0">
              <a:effectLst/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SzPts val="2600"/>
              <a:buFont typeface="Verdana" panose="020B0604030504040204" pitchFamily="34" charset="0"/>
              <a:buAutoNum type="arabicPeriod"/>
              <a:tabLst>
                <a:tab pos="3400425" algn="l"/>
                <a:tab pos="3401060" algn="l"/>
              </a:tabLst>
            </a:pPr>
            <a:r>
              <a:rPr lang="en-US" sz="2800" spc="-1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NOT (negation/complement)</a:t>
            </a:r>
            <a:endParaRPr lang="en-IN" sz="2800" spc="-10" dirty="0">
              <a:effectLst/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5100A7-3AC5-4661-96E9-AC049656EA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2767191" cy="110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3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78AA8-84B2-4444-B758-0FF9464EF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5746" y="365126"/>
            <a:ext cx="6878053" cy="715530"/>
          </a:xfrm>
        </p:spPr>
        <p:txBody>
          <a:bodyPr>
            <a:no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660033"/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Basic Theorem of Boolean Algebra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endParaRPr lang="en-IN" sz="2800" dirty="0"/>
          </a:p>
        </p:txBody>
      </p:sp>
      <p:sp>
        <p:nvSpPr>
          <p:cNvPr id="8" name="Rectangle 96">
            <a:extLst>
              <a:ext uri="{FF2B5EF4-FFF2-40B4-BE49-F238E27FC236}">
                <a16:creationId xmlns:a16="http://schemas.microsoft.com/office/drawing/2014/main" id="{9B164B7A-00B6-449F-A798-9DB4A7D65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64953" tIns="60306" rIns="1710786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45F8D40-95BA-491B-A3E3-F18E11ABB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45" y="1486155"/>
            <a:ext cx="4417045" cy="43529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BD89C75-AB76-4A83-B6A7-03215BD64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0152" y="1270661"/>
            <a:ext cx="6436426" cy="45610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B3B397-8722-40C7-B70C-C066638864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22" y="167833"/>
            <a:ext cx="2767191" cy="110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009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768EF-05B8-4C87-9F1C-0ABCBB8E4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6694" y="365126"/>
            <a:ext cx="6517105" cy="608652"/>
          </a:xfrm>
        </p:spPr>
        <p:txBody>
          <a:bodyPr>
            <a:norm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660033"/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Basic Theorem of Boolean Algebra</a:t>
            </a:r>
            <a:endParaRPr lang="en-IN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D928E2-3EF0-4F0F-9999-AB67783E5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46489"/>
            <a:ext cx="6867525" cy="40092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DDA029-0D95-40A6-B273-B8B68A97E1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46" y="191014"/>
            <a:ext cx="2767191" cy="110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79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AD81B5-70D1-45CA-8E4D-933DD73D9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830" y="2169844"/>
            <a:ext cx="6833013" cy="394335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FA63121-9E86-4391-A669-0BEA87523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9610" y="365125"/>
            <a:ext cx="8927432" cy="1325563"/>
          </a:xfrm>
        </p:spPr>
        <p:txBody>
          <a:bodyPr>
            <a:normAutofit/>
          </a:bodyPr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rgbClr val="660033"/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Basic Theorem of Boolean Algebra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8F3E1D-2A54-4BAF-8CEB-50611B70D2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2767191" cy="110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325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936E2-6775-4DF0-9453-6DA4BFE6D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1704" y="365125"/>
            <a:ext cx="6132095" cy="716543"/>
          </a:xfrm>
        </p:spPr>
        <p:txBody>
          <a:bodyPr>
            <a:normAutofit fontScale="90000"/>
          </a:bodyPr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rgbClr val="660033"/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Principal of Duality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endParaRPr lang="en-IN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951A9D4-6098-467D-8093-919439E2C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64953" tIns="6348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DBA440-5217-48DE-8CC4-476E47432411}"/>
              </a:ext>
            </a:extLst>
          </p:cNvPr>
          <p:cNvSpPr txBox="1"/>
          <p:nvPr/>
        </p:nvSpPr>
        <p:spPr>
          <a:xfrm>
            <a:off x="-1282389" y="981307"/>
            <a:ext cx="12545122" cy="4878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63750" marR="652145" indent="-457200" algn="just">
              <a:lnSpc>
                <a:spcPct val="150000"/>
              </a:lnSpc>
              <a:spcBef>
                <a:spcPts val="149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In Boolean algebras the duality Principle can be is obtained by interchanging AND, and OR</a:t>
            </a:r>
            <a:r>
              <a:rPr lang="en-US" sz="3200" spc="-19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operators and replacing 0's by 1's and 1's by 0's. Compare the identities on the left side with the identities on</a:t>
            </a:r>
            <a:r>
              <a:rPr lang="en-US" sz="3200" spc="-39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the</a:t>
            </a:r>
            <a:r>
              <a:rPr lang="en-IN" sz="32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right.</a:t>
            </a:r>
            <a:endParaRPr lang="en-IN" sz="3200" dirty="0">
              <a:effectLst/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063750" indent="-457200" algn="just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3200" b="1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Example</a:t>
            </a:r>
            <a:endParaRPr lang="en-IN" sz="3200" dirty="0">
              <a:effectLst/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1606550" algn="just">
              <a:lnSpc>
                <a:spcPct val="150000"/>
              </a:lnSpc>
              <a:spcBef>
                <a:spcPts val="315"/>
              </a:spcBef>
              <a:spcAft>
                <a:spcPts val="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   X.Y+Z' = (X'+Y').Z</a:t>
            </a:r>
            <a:endParaRPr lang="en-IN" sz="3200" dirty="0">
              <a:effectLst/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DF875A-888C-4861-B0BF-E425BCF623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14800"/>
            <a:ext cx="2767191" cy="110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127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0DB142-B3F0-46B5-B56D-50DA33DC27EA}"/>
              </a:ext>
            </a:extLst>
          </p:cNvPr>
          <p:cNvSpPr txBox="1"/>
          <p:nvPr/>
        </p:nvSpPr>
        <p:spPr>
          <a:xfrm>
            <a:off x="3517341" y="59378"/>
            <a:ext cx="72749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i="0" dirty="0" err="1">
                <a:solidFill>
                  <a:srgbClr val="40404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DeMorgan’s</a:t>
            </a:r>
            <a:r>
              <a:rPr lang="en-US" sz="2000" b="1" i="0" dirty="0">
                <a:solidFill>
                  <a:srgbClr val="40404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Theory: </a:t>
            </a:r>
            <a:r>
              <a:rPr lang="en-US" sz="2000" b="0" i="1" dirty="0" err="1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DeMorgan’s</a:t>
            </a:r>
            <a:r>
              <a:rPr lang="en-US" sz="2000" b="0" i="1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Theorems</a:t>
            </a:r>
            <a:r>
              <a:rPr lang="en-US" sz="20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are basically two sets of rules or laws developed from the Boolean expressions for </a:t>
            </a:r>
            <a:r>
              <a:rPr lang="en-US" sz="20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0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0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20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20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using two input variables, </a:t>
            </a:r>
            <a:r>
              <a:rPr lang="en-US" sz="20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20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0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These two rules or theorems allow the input variables to be negated and converted from one form of a Boolean function into an opposite form.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DE2496-17FE-4A1B-BF9F-6BC93ACFFF5A}"/>
              </a:ext>
            </a:extLst>
          </p:cNvPr>
          <p:cNvSpPr txBox="1"/>
          <p:nvPr/>
        </p:nvSpPr>
        <p:spPr>
          <a:xfrm>
            <a:off x="925551" y="2339639"/>
            <a:ext cx="399213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i="0" dirty="0">
                <a:solidFill>
                  <a:srgbClr val="40404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 Morgan’s First Theorem</a:t>
            </a:r>
          </a:p>
          <a:p>
            <a:pPr algn="just"/>
            <a:r>
              <a:rPr lang="en-US" sz="2000" b="0" i="0" dirty="0" err="1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DeMorgan’s</a:t>
            </a:r>
            <a:r>
              <a:rPr lang="en-US" sz="20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First theorem proves that when two (or more) input variables are </a:t>
            </a:r>
            <a:r>
              <a:rPr lang="en-US" sz="2000" b="0" i="0" u="none" strike="noStrike" dirty="0" err="1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AND’ed</a:t>
            </a:r>
            <a:r>
              <a:rPr lang="en-US" sz="20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 negated, they are equivalent to the </a:t>
            </a:r>
            <a:r>
              <a:rPr lang="en-US" sz="20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0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of the complements of the individual variables. Thus the equivalent of the </a:t>
            </a:r>
            <a:r>
              <a:rPr lang="en-US" sz="20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NAND</a:t>
            </a:r>
            <a:r>
              <a:rPr lang="en-US" sz="20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function will be a negative-OR function, proving that A.B = A+B. We can show this operation using the following table.</a:t>
            </a:r>
          </a:p>
          <a:p>
            <a:pPr algn="just"/>
            <a:endParaRPr lang="en-US" sz="2000" b="1" i="0" dirty="0">
              <a:solidFill>
                <a:srgbClr val="40404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42094E-DF67-4290-B428-8962D8A2F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095" y="2181941"/>
            <a:ext cx="5953125" cy="39433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796E4E-F5B4-4C04-A87C-D5B7D443560C}"/>
              </a:ext>
            </a:extLst>
          </p:cNvPr>
          <p:cNvSpPr txBox="1"/>
          <p:nvPr/>
        </p:nvSpPr>
        <p:spPr>
          <a:xfrm>
            <a:off x="5198095" y="1807616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1" i="0" dirty="0">
                <a:solidFill>
                  <a:srgbClr val="40404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Verifying </a:t>
            </a:r>
            <a:r>
              <a:rPr lang="en-US" sz="1800" b="1" i="0" dirty="0" err="1">
                <a:solidFill>
                  <a:srgbClr val="40404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DeMorgan’s</a:t>
            </a:r>
            <a:r>
              <a:rPr lang="en-US" sz="1800" b="1" i="0" dirty="0">
                <a:solidFill>
                  <a:srgbClr val="40404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First Theorem using Truth Table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2BB974-66D2-4020-A480-3D23A381AC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2767191" cy="110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3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99C21F-BC7C-45A5-8414-467B740D7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1957" y="428008"/>
            <a:ext cx="7550549" cy="330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044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40404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DeMorgan’s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40404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First Law Implementation using Logic Gates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14042"/>
                </a:solidFill>
                <a:effectLst/>
                <a:latin typeface="Lato"/>
              </a:rPr>
              <a:t> </a:t>
            </a:r>
            <a:r>
              <a:rPr kumimoji="0" lang="en-US" altLang="en-US" sz="17400" b="0" i="0" u="none" strike="noStrike" cap="none" normalizeH="0" baseline="0" dirty="0">
                <a:ln>
                  <a:noFill/>
                </a:ln>
                <a:solidFill>
                  <a:srgbClr val="414042"/>
                </a:solidFill>
                <a:effectLst/>
                <a:latin typeface="Lato"/>
              </a:rPr>
              <a:t>     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8" name="Picture 4" descr="demorgans first law implementation">
            <a:extLst>
              <a:ext uri="{FF2B5EF4-FFF2-40B4-BE49-F238E27FC236}">
                <a16:creationId xmlns:a16="http://schemas.microsoft.com/office/drawing/2014/main" id="{1F48CE4C-5A3E-40BD-AD36-493C4F426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2332" y="1227985"/>
            <a:ext cx="3038476" cy="4067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5B0953-42C3-4BA4-8C9F-C21A185668AC}"/>
              </a:ext>
            </a:extLst>
          </p:cNvPr>
          <p:cNvSpPr txBox="1"/>
          <p:nvPr/>
        </p:nvSpPr>
        <p:spPr>
          <a:xfrm>
            <a:off x="936934" y="1397875"/>
            <a:ext cx="609414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top logic gate arrangement of: A.B can be implemented using a standard </a:t>
            </a:r>
            <a:r>
              <a:rPr lang="en-US" sz="24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NAND</a:t>
            </a:r>
            <a:r>
              <a:rPr lang="en-US" sz="24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gate with inputs </a:t>
            </a:r>
            <a:r>
              <a:rPr lang="en-US" sz="24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24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The lower logic gate arrangement first inverts the two inputs producing A and B. These then become the inputs to the </a:t>
            </a:r>
            <a:r>
              <a:rPr lang="en-US" sz="24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4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gate. Therefore the output from the </a:t>
            </a:r>
            <a:r>
              <a:rPr lang="en-US" sz="24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4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gate becomes: A+B</a:t>
            </a:r>
          </a:p>
          <a:p>
            <a:pPr algn="just"/>
            <a:r>
              <a:rPr lang="en-US" sz="24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Then we can see here that a standard </a:t>
            </a:r>
            <a:r>
              <a:rPr lang="en-US" sz="24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4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gate function with inverters (NOT gates) on each of its inputs is equivalent to a </a:t>
            </a:r>
            <a:r>
              <a:rPr lang="en-US" sz="24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NAND</a:t>
            </a:r>
            <a:r>
              <a:rPr lang="en-US" sz="24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gate function. So an individual </a:t>
            </a:r>
            <a:r>
              <a:rPr lang="en-US" sz="24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NAND</a:t>
            </a:r>
            <a:r>
              <a:rPr lang="en-US" sz="24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gate can be represented in this way as the equivalency of a </a:t>
            </a:r>
            <a:r>
              <a:rPr lang="en-US" sz="24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NAND</a:t>
            </a:r>
            <a:r>
              <a:rPr lang="en-US" sz="24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gate is a negative-OR.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C2BA59-65E8-4955-956F-4C382531FD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2767191" cy="110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302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905BAB-0C31-49E4-963A-37FDDC01483C}"/>
              </a:ext>
            </a:extLst>
          </p:cNvPr>
          <p:cNvSpPr txBox="1"/>
          <p:nvPr/>
        </p:nvSpPr>
        <p:spPr>
          <a:xfrm>
            <a:off x="519462" y="1445435"/>
            <a:ext cx="505893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i="0" dirty="0" err="1">
                <a:solidFill>
                  <a:srgbClr val="40404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DeMorgan’s</a:t>
            </a:r>
            <a:r>
              <a:rPr lang="en-US" sz="2800" b="1" i="0" dirty="0">
                <a:solidFill>
                  <a:srgbClr val="40404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Second Theorem</a:t>
            </a:r>
          </a:p>
          <a:p>
            <a:pPr algn="just"/>
            <a:r>
              <a:rPr lang="en-US" sz="2800" b="0" i="0" dirty="0" err="1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DeMorgan’s</a:t>
            </a:r>
            <a:r>
              <a:rPr lang="en-US" sz="28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Second theorem proves that when two (or more) input </a:t>
            </a:r>
            <a:r>
              <a:rPr lang="en-US" sz="20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lang="en-US" sz="28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 </a:t>
            </a:r>
            <a:r>
              <a:rPr lang="en-US" sz="2800" b="0" i="0" u="none" strike="noStrike" dirty="0" err="1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OR’ed</a:t>
            </a:r>
            <a:r>
              <a:rPr lang="en-US" sz="28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 negated, they are equivalent to the </a:t>
            </a:r>
            <a:r>
              <a:rPr lang="en-US" sz="28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8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of the complements of the individual variables. Thus the equivalent of the </a:t>
            </a:r>
            <a:r>
              <a:rPr lang="en-US" sz="28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</a:t>
            </a:r>
            <a:r>
              <a:rPr lang="en-US" sz="28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function is a negative-AND function proving that A+B = A.B, and again we can show operation this using the following truth table.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D3E14A-1AAC-451F-83CB-78497BAD91EB}"/>
              </a:ext>
            </a:extLst>
          </p:cNvPr>
          <p:cNvSpPr txBox="1"/>
          <p:nvPr/>
        </p:nvSpPr>
        <p:spPr>
          <a:xfrm>
            <a:off x="5578398" y="414366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dirty="0">
                <a:solidFill>
                  <a:srgbClr val="40404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Verifying </a:t>
            </a:r>
            <a:r>
              <a:rPr lang="en-US" sz="1800" b="1" i="0" dirty="0" err="1">
                <a:solidFill>
                  <a:srgbClr val="40404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DeMorgan’s</a:t>
            </a:r>
            <a:r>
              <a:rPr lang="en-US" sz="1800" b="1" i="0" dirty="0">
                <a:solidFill>
                  <a:srgbClr val="40404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Second Theorem using Truth Table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439734-847B-4065-9568-280C1E51B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713" y="1011160"/>
            <a:ext cx="5838825" cy="38766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B36250-1E5A-45E5-8FB0-DA5E31D08A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39" y="77482"/>
            <a:ext cx="2767191" cy="110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61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C2C11D91-7A8F-47BC-A98E-F7683F617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6495" y="-100603"/>
            <a:ext cx="6436569" cy="3549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044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 that A+B = A.B using the following logic gates example.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40404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40404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DeMorgan’s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40404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Second aw Implementation using Logic Gates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14042"/>
                </a:solidFill>
                <a:effectLst/>
                <a:latin typeface="Lato"/>
              </a:rPr>
              <a:t>  </a:t>
            </a:r>
            <a:r>
              <a:rPr kumimoji="0" lang="en-US" altLang="en-US" sz="17400" b="0" i="0" u="none" strike="noStrike" cap="none" normalizeH="0" baseline="0" dirty="0">
                <a:ln>
                  <a:noFill/>
                </a:ln>
                <a:solidFill>
                  <a:srgbClr val="414042"/>
                </a:solidFill>
                <a:effectLst/>
                <a:latin typeface="Lato"/>
              </a:rPr>
              <a:t>     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demorgans second law implementation">
            <a:extLst>
              <a:ext uri="{FF2B5EF4-FFF2-40B4-BE49-F238E27FC236}">
                <a16:creationId xmlns:a16="http://schemas.microsoft.com/office/drawing/2014/main" id="{237C9185-61AB-40F9-8ACC-1C56E9E17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776" y="1560048"/>
            <a:ext cx="3495482" cy="3848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5BAEFE-622C-4295-A56C-6B549AA3CA6D}"/>
              </a:ext>
            </a:extLst>
          </p:cNvPr>
          <p:cNvSpPr txBox="1"/>
          <p:nvPr/>
        </p:nvSpPr>
        <p:spPr>
          <a:xfrm>
            <a:off x="5517296" y="985733"/>
            <a:ext cx="6094140" cy="5576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top logic gate arrangement of: A+B can be implemented using a standard </a:t>
            </a:r>
            <a:r>
              <a:rPr lang="en-US" sz="20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</a:t>
            </a:r>
            <a:r>
              <a:rPr lang="en-US" sz="20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gate function using inputs </a:t>
            </a:r>
            <a:r>
              <a:rPr lang="en-US" sz="20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20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0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The lower logic gate arrangement first inverts the two inputs, thus producing A and B. Thus then become the inputs to the </a:t>
            </a:r>
            <a:r>
              <a:rPr lang="en-US" sz="20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gate. Therefore the output from the </a:t>
            </a:r>
            <a:r>
              <a:rPr lang="en-US" sz="20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gate becomes: A.B</a:t>
            </a:r>
          </a:p>
          <a:p>
            <a:pPr algn="just">
              <a:lnSpc>
                <a:spcPct val="150000"/>
              </a:lnSpc>
            </a:pPr>
            <a:r>
              <a:rPr lang="en-US" sz="20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Then we can see that a standard </a:t>
            </a:r>
            <a:r>
              <a:rPr lang="en-US" sz="20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gate function with inverters (NOT gates) on each of its inputs produces an equivalent output condition to a standard </a:t>
            </a:r>
            <a:r>
              <a:rPr lang="en-US" sz="20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</a:t>
            </a:r>
            <a:r>
              <a:rPr lang="en-US" sz="20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gate function, and an individual </a:t>
            </a:r>
            <a:r>
              <a:rPr lang="en-US" sz="20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</a:t>
            </a:r>
            <a:r>
              <a:rPr lang="en-US" sz="20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gate can be represented in this way as the equivalency of a </a:t>
            </a:r>
            <a:r>
              <a:rPr lang="en-US" sz="20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</a:t>
            </a:r>
            <a:r>
              <a:rPr lang="en-US" sz="20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gate is a negative-AND.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E88BD5-723A-4A6A-9698-30C2D6F563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2767191" cy="110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188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E6324F-7F45-4262-8A87-C830B911710A}"/>
              </a:ext>
            </a:extLst>
          </p:cNvPr>
          <p:cNvSpPr txBox="1"/>
          <p:nvPr/>
        </p:nvSpPr>
        <p:spPr>
          <a:xfrm>
            <a:off x="2935705" y="402093"/>
            <a:ext cx="87950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Although we have used </a:t>
            </a:r>
            <a:r>
              <a:rPr lang="en-US" sz="2400" b="0" i="0" dirty="0" err="1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DeMorgan’s</a:t>
            </a:r>
            <a:r>
              <a:rPr lang="en-US" sz="24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theorems with only two input variables </a:t>
            </a:r>
            <a:r>
              <a:rPr lang="en-US" sz="24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24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they are equally valid for use with three, four or more input variable expressions, for example:</a:t>
            </a:r>
          </a:p>
          <a:p>
            <a:pPr algn="l"/>
            <a:r>
              <a:rPr lang="en-US" sz="24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a 3-variable input</a:t>
            </a:r>
          </a:p>
          <a:p>
            <a:pPr algn="l"/>
            <a:r>
              <a:rPr lang="en-US" sz="24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ctr"/>
            <a:r>
              <a:rPr lang="en-US" sz="24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A.B.C = A+B+C</a:t>
            </a:r>
            <a:endParaRPr lang="en-US" sz="2400" b="0" i="0" dirty="0">
              <a:solidFill>
                <a:srgbClr val="41404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also</a:t>
            </a:r>
          </a:p>
          <a:p>
            <a:pPr algn="ctr"/>
            <a:r>
              <a:rPr lang="en-US" sz="24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A+B+C = A.B.C</a:t>
            </a:r>
            <a:endParaRPr lang="en-US" sz="2400" b="0" i="0" dirty="0">
              <a:solidFill>
                <a:srgbClr val="41404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a 4-variable input</a:t>
            </a:r>
          </a:p>
          <a:p>
            <a:pPr algn="l"/>
            <a:r>
              <a:rPr lang="en-US" sz="24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ctr"/>
            <a:r>
              <a:rPr lang="en-US" sz="24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A.B.C.D = A+B+C+D</a:t>
            </a:r>
            <a:endParaRPr lang="en-US" sz="2400" b="0" i="0" dirty="0">
              <a:solidFill>
                <a:srgbClr val="41404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also</a:t>
            </a:r>
          </a:p>
          <a:p>
            <a:pPr algn="ctr"/>
            <a:r>
              <a:rPr lang="en-US" sz="2400" b="0" i="0" u="none" strike="noStrike" dirty="0">
                <a:solidFill>
                  <a:srgbClr val="4141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A+B+C+D = A.B.C.D</a:t>
            </a:r>
            <a:endParaRPr lang="en-US" sz="2400" b="0" i="0" dirty="0">
              <a:solidFill>
                <a:srgbClr val="41404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0" i="0" dirty="0">
                <a:solidFill>
                  <a:srgbClr val="4140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so 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F671BB-57CE-4390-9DD2-4F26D80224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2767191" cy="110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337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B5024-C3B0-4EB3-AD9A-2A0715D52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79" y="365125"/>
            <a:ext cx="7146757" cy="571577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Examples Based on Boolean Algebra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4F851C-92B5-4031-AA69-C7E97F3CD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412" y="1639229"/>
            <a:ext cx="4108789" cy="4237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C019B8-ED6B-4531-B6A3-D15C82331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683" y="1393902"/>
            <a:ext cx="4248150" cy="43824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87F0D1-7BFB-4E49-9EB0-F5A15C55E0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2767191" cy="110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733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3F78C6-979D-43E5-95FD-BB1CBF433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818" y="1293541"/>
            <a:ext cx="4749606" cy="48061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D2270B-6FD5-4FD3-8BC9-AF0C6B78E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4118" y="1103971"/>
            <a:ext cx="3848332" cy="499574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F212933-A639-401C-8B13-AEF6F840F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3536" y="290126"/>
            <a:ext cx="7676148" cy="571577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Examples Based on Boolean Algebra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60BE3A-C2CF-427C-B8C3-F396E23860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2767191" cy="110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086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9861"/>
            <a:ext cx="10515600" cy="91979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Casper Bold"/>
                <a:cs typeface="Times New Roman" pitchFamily="18" charset="0"/>
              </a:rPr>
              <a:t>REFERENCES</a:t>
            </a:r>
            <a:r>
              <a:rPr lang="en-US" dirty="0">
                <a:latin typeface="Casper Bold"/>
                <a:cs typeface="Times New Roman" pitchFamily="18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108" y="1165860"/>
            <a:ext cx="10515600" cy="5692140"/>
          </a:xfrm>
        </p:spPr>
        <p:txBody>
          <a:bodyPr>
            <a:noAutofit/>
          </a:bodyPr>
          <a:lstStyle/>
          <a:p>
            <a:pPr marL="342900" indent="-342900" defTabSz="820487">
              <a:buFont typeface="+mj-lt"/>
              <a:buAutoNum type="arabicPeriod"/>
            </a:pPr>
            <a:r>
              <a:rPr lang="en-US" sz="1600" dirty="0">
                <a:latin typeface="Casper"/>
                <a:hlinkClick r:id="rId3"/>
              </a:rPr>
              <a:t>https://www.vivaxsolutions.com/physics/allogicgates.aspx</a:t>
            </a:r>
            <a:endParaRPr lang="en-US" sz="1600" dirty="0">
              <a:latin typeface="Casper"/>
            </a:endParaRPr>
          </a:p>
          <a:p>
            <a:pPr marL="342900" indent="-342900" defTabSz="820487">
              <a:buFont typeface="+mj-lt"/>
              <a:buAutoNum type="arabicPeriod"/>
            </a:pPr>
            <a:r>
              <a:rPr lang="en-US" sz="1600" dirty="0">
                <a:latin typeface="Casper"/>
                <a:hlinkClick r:id="rId4"/>
              </a:rPr>
              <a:t>https://www.androiderode.com/ttl-not-gate/</a:t>
            </a:r>
            <a:endParaRPr lang="en-US" sz="1600" dirty="0">
              <a:latin typeface="Casper"/>
              <a:ea typeface="Calibri" pitchFamily="34" charset="0"/>
              <a:cs typeface="Times New Roman" pitchFamily="18" charset="0"/>
            </a:endParaRPr>
          </a:p>
          <a:p>
            <a:pPr marL="342900" indent="-342900" defTabSz="820487">
              <a:buFont typeface="+mj-lt"/>
              <a:buAutoNum type="arabicPeriod"/>
            </a:pPr>
            <a:r>
              <a:rPr lang="en-US" sz="1600" dirty="0" err="1">
                <a:latin typeface="Casper"/>
                <a:ea typeface="Calibri" pitchFamily="34" charset="0"/>
                <a:cs typeface="Times New Roman" pitchFamily="18" charset="0"/>
              </a:rPr>
              <a:t>Mano,Morris</a:t>
            </a:r>
            <a:r>
              <a:rPr lang="en-US" sz="1600" dirty="0">
                <a:latin typeface="Casper"/>
                <a:ea typeface="Calibri" pitchFamily="34" charset="0"/>
                <a:cs typeface="Times New Roman" pitchFamily="18" charset="0"/>
              </a:rPr>
              <a:t>, Digital Design, Prentice Hall of India.</a:t>
            </a:r>
            <a:endParaRPr lang="en-US" sz="1600" dirty="0">
              <a:latin typeface="Casper"/>
              <a:cs typeface="Times New Roman" pitchFamily="18" charset="0"/>
            </a:endParaRPr>
          </a:p>
          <a:p>
            <a:pPr marL="342900" indent="-342900" defTabSz="820487">
              <a:buFont typeface="+mj-lt"/>
              <a:buAutoNum type="arabicPeriod"/>
            </a:pPr>
            <a:r>
              <a:rPr lang="en-US" sz="1600" dirty="0">
                <a:latin typeface="Casper"/>
                <a:ea typeface="Calibri" pitchFamily="34" charset="0"/>
                <a:cs typeface="Times New Roman" pitchFamily="18" charset="0"/>
              </a:rPr>
              <a:t>Fletcher,  An </a:t>
            </a:r>
            <a:r>
              <a:rPr lang="en-US" sz="1600" dirty="0" err="1">
                <a:latin typeface="Casper"/>
                <a:ea typeface="Calibri" pitchFamily="34" charset="0"/>
                <a:cs typeface="Times New Roman" pitchFamily="18" charset="0"/>
              </a:rPr>
              <a:t>Engg</a:t>
            </a:r>
            <a:r>
              <a:rPr lang="en-US" sz="1600" dirty="0">
                <a:latin typeface="Casper"/>
                <a:ea typeface="Calibri" pitchFamily="34" charset="0"/>
                <a:cs typeface="Times New Roman" pitchFamily="18" charset="0"/>
              </a:rPr>
              <a:t>. Approach to digital design, Prentice Hall of India.</a:t>
            </a:r>
          </a:p>
          <a:p>
            <a:pPr marL="342900" indent="-342900" defTabSz="820391">
              <a:buFont typeface="+mj-lt"/>
              <a:buAutoNum type="arabicPeriod"/>
            </a:pP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  <a:hlinkClick r:id="rId5"/>
              </a:rPr>
              <a:t>http://www.geeksforgeeks.org/digital-electronics-logic-design-tutorials/</a:t>
            </a:r>
            <a:endParaRPr lang="en-US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marL="342900" indent="-342900" defTabSz="820391">
              <a:buFont typeface="+mj-lt"/>
              <a:buAutoNum type="arabicPeriod"/>
            </a:pP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  <a:hlinkClick r:id="rId6"/>
              </a:rPr>
              <a:t>http://www.ni.com/example/14493/en/</a:t>
            </a:r>
            <a:endParaRPr lang="en-US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marL="342900" indent="-342900" defTabSz="820391">
              <a:buFont typeface="+mj-lt"/>
              <a:buAutoNum type="arabicPeriod"/>
            </a:pP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  <a:hlinkClick r:id="rId7"/>
              </a:rPr>
              <a:t>http://195.134.76.37/applets/AppletGates/Appl_Gates2.html</a:t>
            </a:r>
            <a:endParaRPr lang="en-US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marL="342900" indent="-342900" defTabSz="820391">
              <a:buFont typeface="+mj-lt"/>
              <a:buAutoNum type="arabicPeriod"/>
            </a:pPr>
            <a:r>
              <a:rPr lang="en-US" sz="1600" dirty="0">
                <a:latin typeface="Casper"/>
                <a:hlinkClick r:id="rId8"/>
              </a:rPr>
              <a:t>https://www.javatpoint.com/and-gate-in-digital-electronics</a:t>
            </a:r>
            <a:endParaRPr lang="en-US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marL="342900" indent="-342900" defTabSz="820391">
              <a:buFont typeface="+mj-lt"/>
              <a:buAutoNum type="arabicPeriod"/>
            </a:pP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  <a:hlinkClick r:id="rId9"/>
              </a:rPr>
              <a:t>https://www.allaboutcircuits.com/textbook/digital/</a:t>
            </a:r>
            <a:endParaRPr lang="en-US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marL="342900" indent="-342900" defTabSz="820391">
              <a:buFont typeface="+mj-lt"/>
              <a:buAutoNum type="arabicPeriod"/>
            </a:pP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  <a:hlinkClick r:id="rId10"/>
              </a:rPr>
              <a:t>https://www.tutorialspoint.com/digital_electronics/index.asp</a:t>
            </a:r>
            <a:endParaRPr lang="en-US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marL="342900" indent="-342900" defTabSz="820391">
              <a:buFont typeface="+mj-lt"/>
              <a:buAutoNum type="arabicPeriod"/>
            </a:pPr>
            <a:r>
              <a:rPr lang="en-GB" sz="1600" dirty="0">
                <a:solidFill>
                  <a:prstClr val="black"/>
                </a:solidFill>
                <a:latin typeface="Casper"/>
                <a:cs typeface="Times New Roman" pitchFamily="18" charset="0"/>
                <a:hlinkClick r:id="rId11"/>
              </a:rPr>
              <a:t>https://www.tutorialspoint.com/computer_logical_organization/complement_arithmetic.htm</a:t>
            </a:r>
            <a:endParaRPr lang="en-GB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87400" y="169861"/>
            <a:ext cx="10515600" cy="82226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~PP4077.WAV">
            <a:hlinkClick r:id="" action="ppaction://media"/>
          </p:cNvPr>
          <p:cNvPicPr>
            <a:picLocks noRot="1" noChangeAspect="1"/>
          </p:cNvPicPr>
          <p:nvPr>
            <a:wavAudioFile r:embed="rId1" name="~PP4077.WAV"/>
          </p:nvPr>
        </p:nvPicPr>
        <p:blipFill>
          <a:blip r:embed="rId12"/>
          <a:stretch>
            <a:fillRect/>
          </a:stretch>
        </p:blipFill>
        <p:spPr>
          <a:xfrm>
            <a:off x="11744325" y="641032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60"/>
    </mc:Choice>
    <mc:Fallback xmlns="">
      <p:transition spd="slow" advTm="130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609</Words>
  <Application>Microsoft Office PowerPoint</Application>
  <PresentationFormat>Widescreen</PresentationFormat>
  <Paragraphs>129</Paragraphs>
  <Slides>19</Slides>
  <Notes>3</Notes>
  <HiddenSlides>0</HiddenSlides>
  <MMClips>1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6" baseType="lpstr">
      <vt:lpstr>Arial</vt:lpstr>
      <vt:lpstr>Arial Black</vt:lpstr>
      <vt:lpstr>Calibri</vt:lpstr>
      <vt:lpstr>Calibri Light</vt:lpstr>
      <vt:lpstr>Casper</vt:lpstr>
      <vt:lpstr>Casper Bold</vt:lpstr>
      <vt:lpstr>Karla</vt:lpstr>
      <vt:lpstr>King</vt:lpstr>
      <vt:lpstr>Lato</vt:lpstr>
      <vt:lpstr>Raavi</vt:lpstr>
      <vt:lpstr>Raleway ExtraBold</vt:lpstr>
      <vt:lpstr>Times New Roman</vt:lpstr>
      <vt:lpstr>Verdana</vt:lpstr>
      <vt:lpstr>Wingdings</vt:lpstr>
      <vt:lpstr>Office Theme</vt:lpstr>
      <vt:lpstr>Custom Design</vt:lpstr>
      <vt:lpstr>CorelDRAW</vt:lpstr>
      <vt:lpstr>PowerPoint Presentation</vt:lpstr>
      <vt:lpstr>Lecture Objectives</vt:lpstr>
      <vt:lpstr>Course Objectives</vt:lpstr>
      <vt:lpstr>Course Outcomes</vt:lpstr>
      <vt:lpstr>PowerPoint Presentation</vt:lpstr>
      <vt:lpstr>Applications of Boolean algebra</vt:lpstr>
      <vt:lpstr>Basic Theorem of Boolean Algebra </vt:lpstr>
      <vt:lpstr>Basic Theorem of Boolean Algebra</vt:lpstr>
      <vt:lpstr>Basic Theorem of Boolean Algebra</vt:lpstr>
      <vt:lpstr>Principal of Duality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Examples Based on Boolean Algebra</vt:lpstr>
      <vt:lpstr>Examples Based on Boolean Algebra</vt:lpstr>
      <vt:lpstr>REFERENCES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Anupma</dc:creator>
  <cp:lastModifiedBy>INDIAN</cp:lastModifiedBy>
  <cp:revision>24</cp:revision>
  <dcterms:created xsi:type="dcterms:W3CDTF">2021-07-01T05:57:36Z</dcterms:created>
  <dcterms:modified xsi:type="dcterms:W3CDTF">2023-06-20T09:52:33Z</dcterms:modified>
</cp:coreProperties>
</file>