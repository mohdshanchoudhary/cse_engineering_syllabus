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7"/>
  </p:notesMasterIdLst>
  <p:handoutMasterIdLst>
    <p:handoutMasterId r:id="rId18"/>
  </p:handoutMasterIdLst>
  <p:sldIdLst>
    <p:sldId id="389" r:id="rId3"/>
    <p:sldId id="388" r:id="rId4"/>
    <p:sldId id="387" r:id="rId5"/>
    <p:sldId id="370" r:id="rId6"/>
    <p:sldId id="328" r:id="rId7"/>
    <p:sldId id="329" r:id="rId8"/>
    <p:sldId id="308" r:id="rId9"/>
    <p:sldId id="324" r:id="rId10"/>
    <p:sldId id="325" r:id="rId11"/>
    <p:sldId id="326" r:id="rId12"/>
    <p:sldId id="327" r:id="rId13"/>
    <p:sldId id="283" r:id="rId14"/>
    <p:sldId id="284"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F5B"/>
    <a:srgbClr val="ED8137"/>
    <a:srgbClr val="BC8F00"/>
    <a:srgbClr val="8600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3" d="100"/>
          <a:sy n="73" d="100"/>
        </p:scale>
        <p:origin x="384"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www.ni.com/example/14493/en/" TargetMode="External"/><Relationship Id="rId3" Type="http://schemas.openxmlformats.org/officeDocument/2006/relationships/hyperlink" Target="http://www.ipsgwalior.org/download/number%20system.pdf" TargetMode="External"/><Relationship Id="rId7" Type="http://schemas.openxmlformats.org/officeDocument/2006/relationships/hyperlink" Target="http://www.geeksforgeeks.org/digital-electronics-logic-design-tutorials/" TargetMode="External"/><Relationship Id="rId2" Type="http://schemas.openxmlformats.org/officeDocument/2006/relationships/hyperlink" Target="https://www.google.com/search?q=binary+multiplication+examples&amp;oq=binary+multiplication+examples&amp;aqs=chrome..69i57j0l7.10302j0j4&amp;sourceid=chrome&amp;ie=UTF-8" TargetMode="External"/><Relationship Id="rId1" Type="http://schemas.openxmlformats.org/officeDocument/2006/relationships/slideLayout" Target="../slideLayouts/slideLayout2.xml"/><Relationship Id="rId6" Type="http://schemas.openxmlformats.org/officeDocument/2006/relationships/hyperlink" Target="https://www.google.com/search?q=binary+to+grey+conversion&amp;source=lnms&amp;tbm=isch&amp;sa=X&amp;ved=0ahUKEwjD6vrQi-PiAhVMSX0KHftLDngQ_AUIECgB&amp;biw=1366&amp;bih=657" TargetMode="External"/><Relationship Id="rId5" Type="http://schemas.openxmlformats.org/officeDocument/2006/relationships/hyperlink" Target="http://www.cse.yorku.ca/~mack/1011/01.NumberSystems.ppt" TargetMode="External"/><Relationship Id="rId10" Type="http://schemas.openxmlformats.org/officeDocument/2006/relationships/hyperlink" Target="https://www.tutorialspoint.com/computer_logical_organization/complement_arithmetic.htm" TargetMode="External"/><Relationship Id="rId4" Type="http://schemas.openxmlformats.org/officeDocument/2006/relationships/hyperlink" Target="https://www.google.com/search?q=decimal+to+binary&amp;source=lnms&amp;tbm=isch&amp;sa=X&amp;ved=0ahUKEwi6nMvW5uHiAhVBXSsKHUgGC60Q_AUIECgB&amp;biw=1517&amp;bih=730" TargetMode="External"/><Relationship Id="rId9" Type="http://schemas.openxmlformats.org/officeDocument/2006/relationships/hyperlink" Target="https://www.tutorialspoint.com/digital_electronics/index.asp"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223877" y="5339447"/>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0" y="3148614"/>
          <a:ext cx="3303056" cy="3148059"/>
        </p:xfrm>
        <a:graphic>
          <a:graphicData uri="http://schemas.openxmlformats.org/presentationml/2006/ole">
            <mc:AlternateContent xmlns:mc="http://schemas.openxmlformats.org/markup-compatibility/2006">
              <mc:Choice xmlns:v="urn:schemas-microsoft-com:vml" Requires="v">
                <p:oleObj spid="_x0000_s3086"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0" y="3148614"/>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8685551" y="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640080" y="6014156"/>
            <a:ext cx="38535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hangingPunct="1"/>
            <a:r>
              <a:rPr lang="en-US" sz="2400" b="1" dirty="0" smtClean="0">
                <a:latin typeface="Times New Roman" pitchFamily="18" charset="0"/>
                <a:cs typeface="Times New Roman" pitchFamily="18" charset="0"/>
              </a:rPr>
              <a:t>BINARY ARITHMETIC</a:t>
            </a:r>
            <a:endParaRPr lang="en-US" sz="2400" b="1" dirty="0">
              <a:latin typeface="Times New Roman" pitchFamily="18" charset="0"/>
              <a:cs typeface="Times New Roman" pitchFamily="18" charset="0"/>
            </a:endParaRPr>
          </a:p>
        </p:txBody>
      </p:sp>
      <p:sp>
        <p:nvSpPr>
          <p:cNvPr id="26" name="TextBox 25"/>
          <p:cNvSpPr txBox="1">
            <a:spLocks noChangeArrowheads="1"/>
          </p:cNvSpPr>
          <p:nvPr/>
        </p:nvSpPr>
        <p:spPr bwMode="auto">
          <a:xfrm>
            <a:off x="1982714" y="747631"/>
            <a:ext cx="9063318" cy="6647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latin typeface="Arial Black" panose="020B0A04020102020204" pitchFamily="34" charset="0"/>
                <a:ea typeface="Karla" pitchFamily="2" charset="0"/>
                <a:cs typeface="Karla" pitchFamily="2" charset="0"/>
              </a:rPr>
              <a:t>INSTITUTE UIE </a:t>
            </a:r>
          </a:p>
          <a:p>
            <a:pPr lvl="0" algn="ctr" defTabSz="622300">
              <a:lnSpc>
                <a:spcPct val="90000"/>
              </a:lnSpc>
              <a:spcBef>
                <a:spcPct val="0"/>
              </a:spcBef>
              <a:spcAft>
                <a:spcPct val="35000"/>
              </a:spcAft>
            </a:pPr>
            <a:r>
              <a:rPr lang="en-US" sz="2400" b="1" dirty="0">
                <a:latin typeface="Arial Black" panose="020B0A04020102020204" pitchFamily="34" charset="0"/>
                <a:ea typeface="Karla" pitchFamily="2" charset="0"/>
                <a:cs typeface="Karla" pitchFamily="2" charset="0"/>
              </a:rPr>
              <a:t>DEPARTMENT ACADEMIC UNIT-1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Name Introduction Electrical &amp; Electronics Engineering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Code-23ECH-101</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Dr. Shikha</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Unit-1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Chapter-2</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IN" sz="2400" b="1" dirty="0" smtClean="0"/>
              <a:t>Introduction of </a:t>
            </a:r>
            <a:r>
              <a:rPr lang="en-IN" sz="2400" b="1" dirty="0"/>
              <a:t>Electrical &amp; Electronics Circuit</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Lecture No. </a:t>
            </a:r>
            <a:r>
              <a:rPr lang="en-US" sz="2400" smtClean="0">
                <a:latin typeface="Times New Roman" panose="02020603050405020304" pitchFamily="18" charset="0"/>
                <a:ea typeface="Calibri" panose="020F0502020204030204" pitchFamily="34" charset="0"/>
                <a:cs typeface="Times New Roman" panose="02020603050405020304" pitchFamily="18" charset="0"/>
              </a:rPr>
              <a:t>1.3.3</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17" name="Slide Number Placeholder 16"/>
          <p:cNvSpPr>
            <a:spLocks noGrp="1"/>
          </p:cNvSpPr>
          <p:nvPr>
            <p:ph type="sldNum" sz="quarter" idx="12"/>
          </p:nvPr>
        </p:nvSpPr>
        <p:spPr/>
        <p:txBody>
          <a:bodyPr/>
          <a:lstStyle/>
          <a:p>
            <a:fld id="{BDCDBBEF-AA6C-4BA6-85B2-A17D7F280E38}" type="slidenum">
              <a:rPr lang="en-US" smtClean="0"/>
              <a:pPr/>
              <a:t>1</a:t>
            </a:fld>
            <a:endParaRPr lang="en-US"/>
          </a:p>
        </p:txBody>
      </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Lecture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1789972744"/>
              </p:ext>
            </p:extLst>
          </p:nvPr>
        </p:nvGraphicFramePr>
        <p:xfrm>
          <a:off x="592954" y="2132834"/>
          <a:ext cx="6683421" cy="3963165"/>
        </p:xfrm>
        <a:graphic>
          <a:graphicData uri="http://schemas.openxmlformats.org/drawingml/2006/table">
            <a:tbl>
              <a:tblPr firstRow="1" firstCol="1" bandRow="1"/>
              <a:tblGrid>
                <a:gridCol w="845553">
                  <a:extLst>
                    <a:ext uri="{9D8B030D-6E8A-4147-A177-3AD203B41FA5}">
                      <a16:colId xmlns:a16="http://schemas.microsoft.com/office/drawing/2014/main" val="20000"/>
                    </a:ext>
                  </a:extLst>
                </a:gridCol>
                <a:gridCol w="5837868">
                  <a:extLst>
                    <a:ext uri="{9D8B030D-6E8A-4147-A177-3AD203B41FA5}">
                      <a16:colId xmlns:a16="http://schemas.microsoft.com/office/drawing/2014/main" val="20001"/>
                    </a:ext>
                  </a:extLst>
                </a:gridCol>
              </a:tblGrid>
              <a:tr h="1012000">
                <a:tc>
                  <a:txBody>
                    <a:bodyPr/>
                    <a:lstStyle/>
                    <a:p>
                      <a:pPr algn="ctr" fontAlgn="ctr"/>
                      <a:r>
                        <a:rPr lang="en-US" sz="2000" b="1" i="0" u="none" strike="noStrike" dirty="0">
                          <a:solidFill>
                            <a:srgbClr val="000000"/>
                          </a:solidFill>
                          <a:effectLst/>
                          <a:latin typeface="Times New Roman" panose="02020603050405020304" pitchFamily="18" charset="0"/>
                          <a:cs typeface="Times New Roman" panose="02020603050405020304"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1" i="0" u="none" strike="noStrike" dirty="0">
                          <a:solidFill>
                            <a:srgbClr val="000000"/>
                          </a:solidFill>
                          <a:effectLst/>
                          <a:latin typeface="Times New Roman" panose="02020603050405020304" pitchFamily="18" charset="0"/>
                          <a:cs typeface="Times New Roman" panose="02020603050405020304"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12000">
                <a:tc>
                  <a:txBody>
                    <a:bodyPr/>
                    <a:lstStyle/>
                    <a:p>
                      <a:pPr algn="ctr" fontAlgn="ctr"/>
                      <a:r>
                        <a:rPr lang="en-US" sz="20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2000" b="0" i="0" kern="1200" dirty="0">
                          <a:solidFill>
                            <a:schemeClr val="tx1"/>
                          </a:solidFill>
                          <a:latin typeface="Times New Roman" panose="02020603050405020304" pitchFamily="18" charset="0"/>
                          <a:ea typeface="+mn-ea"/>
                          <a:cs typeface="Times New Roman" panose="02020603050405020304" pitchFamily="18" charset="0"/>
                        </a:rPr>
                        <a:t>To make student</a:t>
                      </a:r>
                      <a:r>
                        <a:rPr lang="en-US" sz="2000" b="0" i="0" kern="1200" baseline="0" dirty="0">
                          <a:solidFill>
                            <a:schemeClr val="tx1"/>
                          </a:solidFill>
                          <a:latin typeface="Times New Roman" panose="02020603050405020304" pitchFamily="18" charset="0"/>
                          <a:ea typeface="+mn-ea"/>
                          <a:cs typeface="Times New Roman" panose="02020603050405020304" pitchFamily="18" charset="0"/>
                        </a:rPr>
                        <a:t> aware about binary arithmetic operations. </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27165">
                <a:tc>
                  <a:txBody>
                    <a:bodyPr/>
                    <a:lstStyle/>
                    <a:p>
                      <a:pPr algn="ctr"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2000" b="0" i="0" kern="1200" dirty="0">
                          <a:solidFill>
                            <a:schemeClr val="tx1"/>
                          </a:solidFill>
                          <a:latin typeface="Times New Roman" panose="02020603050405020304" pitchFamily="18" charset="0"/>
                          <a:ea typeface="+mn-ea"/>
                          <a:cs typeface="Times New Roman" panose="02020603050405020304" pitchFamily="18" charset="0"/>
                        </a:rPr>
                        <a:t>To aware about</a:t>
                      </a:r>
                      <a:r>
                        <a:rPr lang="en-US" sz="2000" b="0" i="0" kern="1200" baseline="0" dirty="0">
                          <a:solidFill>
                            <a:schemeClr val="tx1"/>
                          </a:solidFill>
                          <a:latin typeface="Times New Roman" panose="02020603050405020304" pitchFamily="18" charset="0"/>
                          <a:ea typeface="+mn-ea"/>
                          <a:cs typeface="Times New Roman" panose="02020603050405020304" pitchFamily="18" charset="0"/>
                        </a:rPr>
                        <a:t> rules for different binary operations.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7101252"/>
                  </a:ext>
                </a:extLst>
              </a:tr>
              <a:tr h="1012000">
                <a:tc>
                  <a:txBody>
                    <a:bodyPr/>
                    <a:lstStyle/>
                    <a:p>
                      <a:pPr algn="ctr"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2000" b="0" i="0" kern="1200" dirty="0">
                          <a:solidFill>
                            <a:schemeClr val="tx1"/>
                          </a:solidFill>
                          <a:latin typeface="Times New Roman" panose="02020603050405020304" pitchFamily="18" charset="0"/>
                          <a:ea typeface="+mn-ea"/>
                          <a:cs typeface="Times New Roman" panose="02020603050405020304" pitchFamily="18" charset="0"/>
                        </a:rPr>
                        <a:t>To provide knowledge about arithmetic operational techniques by various examples.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7" name="Picture 2" descr="Binary Arithmetic - Digital Computer Design - A Hands-On Approach ...">
            <a:extLst>
              <a:ext uri="{FF2B5EF4-FFF2-40B4-BE49-F238E27FC236}">
                <a16:creationId xmlns:a16="http://schemas.microsoft.com/office/drawing/2014/main" id="{64D9D1D6-04D8-4F19-8AF2-7D9D5486FA67}"/>
              </a:ext>
            </a:extLst>
          </p:cNvPr>
          <p:cNvPicPr>
            <a:picLocks noChangeAspect="1" noChangeArrowheads="1"/>
          </p:cNvPicPr>
          <p:nvPr/>
        </p:nvPicPr>
        <p:blipFill>
          <a:blip r:embed="rId2"/>
          <a:srcRect/>
          <a:stretch>
            <a:fillRect/>
          </a:stretch>
        </p:blipFill>
        <p:spPr bwMode="auto">
          <a:xfrm>
            <a:off x="7495590" y="1469048"/>
            <a:ext cx="4020276" cy="5523154"/>
          </a:xfrm>
          <a:prstGeom prst="rect">
            <a:avLst/>
          </a:prstGeom>
          <a:noFill/>
        </p:spPr>
      </p:pic>
    </p:spTree>
    <p:extLst>
      <p:ext uri="{BB962C8B-B14F-4D97-AF65-F5344CB8AC3E}">
        <p14:creationId xmlns:p14="http://schemas.microsoft.com/office/powerpoint/2010/main" val="1095512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2486601" y="93614"/>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3090885014"/>
              </p:ext>
            </p:extLst>
          </p:nvPr>
        </p:nvGraphicFramePr>
        <p:xfrm>
          <a:off x="406366" y="1761893"/>
          <a:ext cx="6536802" cy="3641438"/>
        </p:xfrm>
        <a:graphic>
          <a:graphicData uri="http://schemas.openxmlformats.org/drawingml/2006/table">
            <a:tbl>
              <a:tblPr firstRow="1" firstCol="1" bandRow="1"/>
              <a:tblGrid>
                <a:gridCol w="556819">
                  <a:extLst>
                    <a:ext uri="{9D8B030D-6E8A-4147-A177-3AD203B41FA5}">
                      <a16:colId xmlns:a16="http://schemas.microsoft.com/office/drawing/2014/main" val="20000"/>
                    </a:ext>
                  </a:extLst>
                </a:gridCol>
                <a:gridCol w="5979983">
                  <a:extLst>
                    <a:ext uri="{9D8B030D-6E8A-4147-A177-3AD203B41FA5}">
                      <a16:colId xmlns:a16="http://schemas.microsoft.com/office/drawing/2014/main" val="20001"/>
                    </a:ext>
                  </a:extLst>
                </a:gridCol>
              </a:tblGrid>
              <a:tr h="796111">
                <a:tc>
                  <a:txBody>
                    <a:bodyPr/>
                    <a:lstStyle/>
                    <a:p>
                      <a:pPr algn="ctr" fontAlgn="ctr"/>
                      <a:r>
                        <a:rPr lang="en-US" sz="2000" b="1" i="0" u="none" strike="noStrike" dirty="0">
                          <a:solidFill>
                            <a:srgbClr val="000000"/>
                          </a:solidFill>
                          <a:effectLst/>
                          <a:latin typeface="Times New Roman" panose="02020603050405020304" pitchFamily="18" charset="0"/>
                          <a:cs typeface="Times New Roman" panose="02020603050405020304"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16527">
                <a:tc>
                  <a:txBody>
                    <a:bodyPr/>
                    <a:lstStyle/>
                    <a:p>
                      <a:pPr algn="ctr" fontAlgn="ctr"/>
                      <a:r>
                        <a:rPr lang="en-US" sz="20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Understand Electrical &amp; Electronics Engineering Fundamentals</a:t>
                      </a:r>
                      <a:r>
                        <a:rPr lang="en-US"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IN"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17474">
                <a:tc>
                  <a:txBody>
                    <a:bodyPr/>
                    <a:lstStyle/>
                    <a:p>
                      <a:pPr algn="ctr"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IN"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To prepare students to perform the analysis and design of various Electrical &amp; digital electronic circuits.</a:t>
                      </a: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7" name="Picture 2" descr="Binary Arithmetic - Digital Computer Design - A Hands-On Approach ...">
            <a:extLst>
              <a:ext uri="{FF2B5EF4-FFF2-40B4-BE49-F238E27FC236}">
                <a16:creationId xmlns:a16="http://schemas.microsoft.com/office/drawing/2014/main" id="{38D8EA2F-74D7-4F27-98A4-7B5B87915CB9}"/>
              </a:ext>
            </a:extLst>
          </p:cNvPr>
          <p:cNvPicPr>
            <a:picLocks noChangeAspect="1" noChangeArrowheads="1"/>
          </p:cNvPicPr>
          <p:nvPr/>
        </p:nvPicPr>
        <p:blipFill>
          <a:blip r:embed="rId2"/>
          <a:srcRect/>
          <a:stretch>
            <a:fillRect/>
          </a:stretch>
        </p:blipFill>
        <p:spPr bwMode="auto">
          <a:xfrm>
            <a:off x="7419250" y="1223721"/>
            <a:ext cx="4020276" cy="5523154"/>
          </a:xfrm>
          <a:prstGeom prst="rect">
            <a:avLst/>
          </a:prstGeom>
          <a:noFill/>
        </p:spPr>
      </p:pic>
    </p:spTree>
    <p:extLst>
      <p:ext uri="{BB962C8B-B14F-4D97-AF65-F5344CB8AC3E}">
        <p14:creationId xmlns:p14="http://schemas.microsoft.com/office/powerpoint/2010/main" val="1433814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2739107" y="0"/>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4286020228"/>
              </p:ext>
            </p:extLst>
          </p:nvPr>
        </p:nvGraphicFramePr>
        <p:xfrm>
          <a:off x="282009" y="1594624"/>
          <a:ext cx="6570735" cy="4940407"/>
        </p:xfrm>
        <a:graphic>
          <a:graphicData uri="http://schemas.openxmlformats.org/drawingml/2006/table">
            <a:tbl>
              <a:tblPr firstRow="1" firstCol="1" bandRow="1"/>
              <a:tblGrid>
                <a:gridCol w="625464">
                  <a:extLst>
                    <a:ext uri="{9D8B030D-6E8A-4147-A177-3AD203B41FA5}">
                      <a16:colId xmlns:a16="http://schemas.microsoft.com/office/drawing/2014/main" val="20000"/>
                    </a:ext>
                  </a:extLst>
                </a:gridCol>
                <a:gridCol w="5068025">
                  <a:extLst>
                    <a:ext uri="{9D8B030D-6E8A-4147-A177-3AD203B41FA5}">
                      <a16:colId xmlns:a16="http://schemas.microsoft.com/office/drawing/2014/main" val="20001"/>
                    </a:ext>
                  </a:extLst>
                </a:gridCol>
                <a:gridCol w="877246">
                  <a:extLst>
                    <a:ext uri="{9D8B030D-6E8A-4147-A177-3AD203B41FA5}">
                      <a16:colId xmlns:a16="http://schemas.microsoft.com/office/drawing/2014/main" val="20002"/>
                    </a:ext>
                  </a:extLst>
                </a:gridCol>
              </a:tblGrid>
              <a:tr h="602924">
                <a:tc>
                  <a:txBody>
                    <a:bodyPr/>
                    <a:lstStyle/>
                    <a:p>
                      <a:pPr algn="ctr" fontAlgn="ctr"/>
                      <a:r>
                        <a:rPr lang="en-US" sz="1200" b="1" i="0" u="none" strike="noStrike" dirty="0">
                          <a:solidFill>
                            <a:srgbClr val="000000"/>
                          </a:solidFill>
                          <a:effectLst/>
                          <a:latin typeface="+mn-lt"/>
                        </a:rPr>
                        <a:t>CO 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Times New Roman" panose="02020603050405020304" pitchFamily="18" charset="0"/>
                          <a:cs typeface="Times New Roman" panose="02020603050405020304" pitchFamily="18" charset="0"/>
                        </a:rPr>
                        <a:t>Title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cs typeface="Times New Roman" panose="02020603050405020304" pitchFamily="18" charset="0"/>
                        </a:rPr>
                        <a:t>Level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54676">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CO1</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identify the different types of electrical elements and the basic op-amp circuit elements and to illustrate the various types of motors, transducers. </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chemeClr val="tx1"/>
                          </a:solidFill>
                          <a:effectLst/>
                          <a:latin typeface="Times New Roman" panose="02020603050405020304" pitchFamily="18" charset="0"/>
                          <a:cs typeface="Times New Roman" panose="02020603050405020304" pitchFamily="18" charset="0"/>
                        </a:rPr>
                        <a:t>Remember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8683">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CO2</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understand basic principles of transformers, transducers, op-amps, DC and AC motors and to compare the different methods for analysing electrical and magnetic circuits.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Understand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38798">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CO3</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derive the relationships between parameters in electric and magnetic circuits and motors and to determine specifications of op-amps.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Analyze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08683">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CO4</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solve the basic problems related to electric circuits, magnetic circuits and motors and to assess the characteristics of different configurations of op-amps.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Evaluate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08683">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CO5</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design the different applications of transducers, motors as well as the op-amps like adders, </a:t>
                      </a:r>
                      <a:r>
                        <a:rPr lang="en-IN" sz="1200" dirty="0" err="1">
                          <a:solidFill>
                            <a:srgbClr val="000000"/>
                          </a:solidFill>
                          <a:effectLst/>
                          <a:latin typeface="Times New Roman" panose="02020603050405020304" pitchFamily="18" charset="0"/>
                          <a:cs typeface="Raavi"/>
                        </a:rPr>
                        <a:t>subtractor</a:t>
                      </a:r>
                      <a:r>
                        <a:rPr lang="en-IN" sz="1200" dirty="0">
                          <a:solidFill>
                            <a:srgbClr val="000000"/>
                          </a:solidFill>
                          <a:effectLst/>
                          <a:latin typeface="Times New Roman" panose="02020603050405020304" pitchFamily="18" charset="0"/>
                          <a:cs typeface="Raavi"/>
                        </a:rPr>
                        <a:t> and comparators.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Create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7" name="Picture 2" descr="Binary Arithmetic - Digital Computer Design - A Hands-On Approach ...">
            <a:extLst>
              <a:ext uri="{FF2B5EF4-FFF2-40B4-BE49-F238E27FC236}">
                <a16:creationId xmlns:a16="http://schemas.microsoft.com/office/drawing/2014/main" id="{91CEAC43-8437-48C1-A324-2AC5B595A7FD}"/>
              </a:ext>
            </a:extLst>
          </p:cNvPr>
          <p:cNvPicPr>
            <a:picLocks noChangeAspect="1" noChangeArrowheads="1"/>
          </p:cNvPicPr>
          <p:nvPr/>
        </p:nvPicPr>
        <p:blipFill>
          <a:blip r:embed="rId2"/>
          <a:srcRect/>
          <a:stretch>
            <a:fillRect/>
          </a:stretch>
        </p:blipFill>
        <p:spPr bwMode="auto">
          <a:xfrm>
            <a:off x="7419250" y="1223721"/>
            <a:ext cx="4020276" cy="5523154"/>
          </a:xfrm>
          <a:prstGeom prst="rect">
            <a:avLst/>
          </a:prstGeom>
          <a:noFill/>
        </p:spPr>
      </p:pic>
    </p:spTree>
    <p:extLst>
      <p:ext uri="{BB962C8B-B14F-4D97-AF65-F5344CB8AC3E}">
        <p14:creationId xmlns:p14="http://schemas.microsoft.com/office/powerpoint/2010/main" val="2098130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815022" y="284489"/>
            <a:ext cx="5768658"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a:ea typeface="Karla" pitchFamily="2" charset="0"/>
                <a:cs typeface="Times New Roman" pitchFamily="18" charset="0"/>
              </a:rPr>
              <a:t>BINARY ARITHMATIC</a:t>
            </a:r>
            <a:br>
              <a:rPr lang="en-US" sz="4400" b="1" dirty="0">
                <a:latin typeface="Casper Bold"/>
                <a:ea typeface="Karla" pitchFamily="2" charset="0"/>
                <a:cs typeface="Times New Roman" pitchFamily="18" charset="0"/>
              </a:rPr>
            </a:br>
            <a:endParaRPr lang="en-US" sz="4400" b="1" dirty="0">
              <a:latin typeface="Casper Bold"/>
              <a:cs typeface="Times New Roman" pitchFamily="18" charset="0"/>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337279721"/>
              </p:ext>
            </p:extLst>
          </p:nvPr>
        </p:nvGraphicFramePr>
        <p:xfrm>
          <a:off x="337888" y="4413559"/>
          <a:ext cx="5432611" cy="2124434"/>
        </p:xfrm>
        <a:graphic>
          <a:graphicData uri="http://schemas.openxmlformats.org/drawingml/2006/table">
            <a:tbl>
              <a:tblPr firstRow="1" firstCol="1" bandRow="1">
                <a:tableStyleId>{5940675A-B579-460E-94D1-54222C63F5DA}</a:tableStyleId>
              </a:tblPr>
              <a:tblGrid>
                <a:gridCol w="820271">
                  <a:extLst>
                    <a:ext uri="{9D8B030D-6E8A-4147-A177-3AD203B41FA5}">
                      <a16:colId xmlns:a16="http://schemas.microsoft.com/office/drawing/2014/main" val="20000"/>
                    </a:ext>
                  </a:extLst>
                </a:gridCol>
                <a:gridCol w="3217106">
                  <a:extLst>
                    <a:ext uri="{9D8B030D-6E8A-4147-A177-3AD203B41FA5}">
                      <a16:colId xmlns:a16="http://schemas.microsoft.com/office/drawing/2014/main" val="20001"/>
                    </a:ext>
                  </a:extLst>
                </a:gridCol>
                <a:gridCol w="1395234">
                  <a:extLst>
                    <a:ext uri="{9D8B030D-6E8A-4147-A177-3AD203B41FA5}">
                      <a16:colId xmlns:a16="http://schemas.microsoft.com/office/drawing/2014/main" val="20002"/>
                    </a:ext>
                  </a:extLst>
                </a:gridCol>
              </a:tblGrid>
              <a:tr h="652250">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CO Number</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Title </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Level </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0"/>
                  </a:ext>
                </a:extLst>
              </a:tr>
              <a:tr h="434833">
                <a:tc>
                  <a:txBody>
                    <a:bodyPr/>
                    <a:lstStyle/>
                    <a:p>
                      <a:pPr marL="0" marR="0">
                        <a:lnSpc>
                          <a:spcPct val="115000"/>
                        </a:lnSpc>
                        <a:spcBef>
                          <a:spcPts val="0"/>
                        </a:spcBef>
                        <a:spcAft>
                          <a:spcPts val="0"/>
                        </a:spcAft>
                      </a:pPr>
                      <a:r>
                        <a:rPr lang="en-US" sz="1400" dirty="0">
                          <a:solidFill>
                            <a:srgbClr val="FF0000"/>
                          </a:solidFill>
                          <a:latin typeface="Times New Roman" pitchFamily="18" charset="0"/>
                          <a:ea typeface="Times New Roman"/>
                          <a:cs typeface="Times New Roman" pitchFamily="18" charset="0"/>
                        </a:rPr>
                        <a:t>CO1</a:t>
                      </a:r>
                    </a:p>
                  </a:txBody>
                  <a:tcPr marL="68580" marR="68580" marT="0" marB="0"/>
                </a:tc>
                <a:tc>
                  <a:txBody>
                    <a:bodyPr/>
                    <a:lstStyle/>
                    <a:p>
                      <a:pPr marL="0" marR="0">
                        <a:lnSpc>
                          <a:spcPct val="115000"/>
                        </a:lnSpc>
                        <a:spcBef>
                          <a:spcPts val="0"/>
                        </a:spcBef>
                        <a:spcAft>
                          <a:spcPts val="0"/>
                        </a:spcAft>
                      </a:pPr>
                      <a:r>
                        <a:rPr lang="en-US" sz="1400" dirty="0">
                          <a:solidFill>
                            <a:srgbClr val="FF0000"/>
                          </a:solidFill>
                          <a:latin typeface="Times New Roman" pitchFamily="18" charset="0"/>
                          <a:ea typeface="Times New Roman"/>
                          <a:cs typeface="Times New Roman" pitchFamily="18" charset="0"/>
                        </a:rPr>
                        <a:t>Merits of digital systems , various number systems and their applications.</a:t>
                      </a:r>
                    </a:p>
                  </a:txBody>
                  <a:tcPr marL="68580" marR="68580" marT="0" marB="0"/>
                </a:tc>
                <a:tc>
                  <a:txBody>
                    <a:bodyPr/>
                    <a:lstStyle/>
                    <a:p>
                      <a:pPr marL="0" marR="0">
                        <a:lnSpc>
                          <a:spcPct val="115000"/>
                        </a:lnSpc>
                        <a:spcBef>
                          <a:spcPts val="0"/>
                        </a:spcBef>
                        <a:spcAft>
                          <a:spcPts val="0"/>
                        </a:spcAft>
                      </a:pPr>
                      <a:r>
                        <a:rPr lang="en-US" sz="1400" dirty="0">
                          <a:solidFill>
                            <a:srgbClr val="FF0000"/>
                          </a:solidFill>
                          <a:latin typeface="Times New Roman" pitchFamily="18" charset="0"/>
                          <a:ea typeface="Times New Roman"/>
                          <a:cs typeface="Times New Roman" pitchFamily="18" charset="0"/>
                        </a:rPr>
                        <a:t>Remember and understanding</a:t>
                      </a:r>
                    </a:p>
                  </a:txBody>
                  <a:tcPr marL="68580" marR="68580" marT="0" marB="0"/>
                </a:tc>
                <a:extLst>
                  <a:ext uri="{0D108BD9-81ED-4DB2-BD59-A6C34878D82A}">
                    <a16:rowId xmlns:a16="http://schemas.microsoft.com/office/drawing/2014/main" val="10001"/>
                  </a:ext>
                </a:extLst>
              </a:tr>
              <a:tr h="434833">
                <a:tc>
                  <a:txBody>
                    <a:bodyPr/>
                    <a:lstStyle/>
                    <a:p>
                      <a:pPr marL="0" marR="0">
                        <a:lnSpc>
                          <a:spcPct val="115000"/>
                        </a:lnSpc>
                        <a:spcBef>
                          <a:spcPts val="0"/>
                        </a:spcBef>
                        <a:spcAft>
                          <a:spcPts val="0"/>
                        </a:spcAft>
                      </a:pPr>
                      <a:r>
                        <a:rPr lang="en-US" sz="1400">
                          <a:latin typeface="Times New Roman" pitchFamily="18" charset="0"/>
                          <a:ea typeface="Times New Roman"/>
                          <a:cs typeface="Times New Roman" pitchFamily="18" charset="0"/>
                        </a:rPr>
                        <a:t>CO2</a:t>
                      </a:r>
                    </a:p>
                  </a:txBody>
                  <a:tcPr marL="68580" marR="68580" marT="0" marB="0"/>
                </a:tc>
                <a:tc>
                  <a:txBody>
                    <a:bodyPr/>
                    <a:lstStyle/>
                    <a:p>
                      <a:pPr marL="0" marR="0">
                        <a:lnSpc>
                          <a:spcPct val="115000"/>
                        </a:lnSpc>
                        <a:spcBef>
                          <a:spcPts val="0"/>
                        </a:spcBef>
                        <a:spcAft>
                          <a:spcPts val="0"/>
                        </a:spcAft>
                      </a:pPr>
                      <a:r>
                        <a:rPr lang="en-US" sz="1400" dirty="0">
                          <a:latin typeface="Times New Roman" pitchFamily="18" charset="0"/>
                          <a:ea typeface="Times New Roman"/>
                          <a:cs typeface="Times New Roman" pitchFamily="18" charset="0"/>
                        </a:rPr>
                        <a:t>Combinational and sequential digital designing and solution to basic circuits.</a:t>
                      </a:r>
                    </a:p>
                  </a:txBody>
                  <a:tcPr marL="68580" marR="68580" marT="0" marB="0"/>
                </a:tc>
                <a:tc>
                  <a:txBody>
                    <a:bodyPr/>
                    <a:lstStyle/>
                    <a:p>
                      <a:pPr marL="0" marR="0">
                        <a:lnSpc>
                          <a:spcPct val="115000"/>
                        </a:lnSpc>
                        <a:spcBef>
                          <a:spcPts val="0"/>
                        </a:spcBef>
                        <a:spcAft>
                          <a:spcPts val="0"/>
                        </a:spcAft>
                      </a:pPr>
                      <a:r>
                        <a:rPr lang="en-US" sz="1400" dirty="0">
                          <a:latin typeface="Times New Roman" pitchFamily="18" charset="0"/>
                          <a:ea typeface="Times New Roman"/>
                          <a:cs typeface="Times New Roman" pitchFamily="18" charset="0"/>
                        </a:rPr>
                        <a:t>Applying</a:t>
                      </a:r>
                      <a:r>
                        <a:rPr lang="en-US" sz="1400" baseline="0" dirty="0">
                          <a:latin typeface="Times New Roman" pitchFamily="18" charset="0"/>
                          <a:ea typeface="Times New Roman"/>
                          <a:cs typeface="Times New Roman" pitchFamily="18" charset="0"/>
                        </a:rPr>
                        <a:t> and  Analyzing</a:t>
                      </a:r>
                      <a:endParaRPr lang="en-US" sz="1400" dirty="0">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2"/>
                  </a:ext>
                </a:extLst>
              </a:tr>
              <a:tr h="434833">
                <a:tc>
                  <a:txBody>
                    <a:bodyPr/>
                    <a:lstStyle/>
                    <a:p>
                      <a:pPr marL="0" marR="0">
                        <a:lnSpc>
                          <a:spcPct val="115000"/>
                        </a:lnSpc>
                        <a:spcBef>
                          <a:spcPts val="0"/>
                        </a:spcBef>
                        <a:spcAft>
                          <a:spcPts val="0"/>
                        </a:spcAft>
                      </a:pPr>
                      <a:r>
                        <a:rPr lang="en-US" sz="1400">
                          <a:latin typeface="Times New Roman" pitchFamily="18" charset="0"/>
                          <a:ea typeface="Times New Roman"/>
                          <a:cs typeface="Times New Roman" pitchFamily="18" charset="0"/>
                        </a:rPr>
                        <a:t>CO3</a:t>
                      </a:r>
                    </a:p>
                  </a:txBody>
                  <a:tcPr marL="68580" marR="68580" marT="0" marB="0"/>
                </a:tc>
                <a:tc>
                  <a:txBody>
                    <a:bodyPr/>
                    <a:lstStyle/>
                    <a:p>
                      <a:pPr marL="0" marR="0">
                        <a:lnSpc>
                          <a:spcPct val="115000"/>
                        </a:lnSpc>
                        <a:spcBef>
                          <a:spcPts val="0"/>
                        </a:spcBef>
                        <a:spcAft>
                          <a:spcPts val="0"/>
                        </a:spcAft>
                      </a:pPr>
                      <a:r>
                        <a:rPr lang="en-US" sz="1400">
                          <a:latin typeface="Times New Roman" pitchFamily="18" charset="0"/>
                          <a:ea typeface="Times New Roman"/>
                          <a:cs typeface="Times New Roman" pitchFamily="18" charset="0"/>
                        </a:rPr>
                        <a:t>Designing of sequential circuits and introduction to memory design logics.</a:t>
                      </a:r>
                    </a:p>
                  </a:txBody>
                  <a:tcPr marL="68580" marR="68580" marT="0" marB="0"/>
                </a:tc>
                <a:tc>
                  <a:txBody>
                    <a:bodyPr/>
                    <a:lstStyle/>
                    <a:p>
                      <a:pPr marL="0" marR="0">
                        <a:lnSpc>
                          <a:spcPct val="115000"/>
                        </a:lnSpc>
                        <a:spcBef>
                          <a:spcPts val="0"/>
                        </a:spcBef>
                        <a:spcAft>
                          <a:spcPts val="0"/>
                        </a:spcAft>
                      </a:pPr>
                      <a:r>
                        <a:rPr lang="en-US" sz="1400" dirty="0">
                          <a:latin typeface="Times New Roman" pitchFamily="18" charset="0"/>
                          <a:ea typeface="Times New Roman"/>
                          <a:cs typeface="Times New Roman" pitchFamily="18" charset="0"/>
                        </a:rPr>
                        <a:t>Evaluating</a:t>
                      </a:r>
                      <a:r>
                        <a:rPr lang="en-US" sz="1400" baseline="0" dirty="0">
                          <a:latin typeface="Times New Roman" pitchFamily="18" charset="0"/>
                          <a:ea typeface="Times New Roman"/>
                          <a:cs typeface="Times New Roman" pitchFamily="18" charset="0"/>
                        </a:rPr>
                        <a:t> and creating</a:t>
                      </a:r>
                      <a:endParaRPr lang="en-US" sz="1400" dirty="0">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3"/>
                  </a:ext>
                </a:extLst>
              </a:tr>
            </a:tbl>
          </a:graphicData>
        </a:graphic>
      </p:graphicFrame>
      <p:sp>
        <p:nvSpPr>
          <p:cNvPr id="11" name="Rectangle 10"/>
          <p:cNvSpPr/>
          <p:nvPr/>
        </p:nvSpPr>
        <p:spPr>
          <a:xfrm>
            <a:off x="281576" y="3865081"/>
            <a:ext cx="2612571" cy="338554"/>
          </a:xfrm>
          <a:prstGeom prst="rect">
            <a:avLst/>
          </a:prstGeom>
        </p:spPr>
        <p:txBody>
          <a:bodyPr wrap="square">
            <a:spAutoFit/>
          </a:bodyPr>
          <a:lstStyle/>
          <a:p>
            <a:r>
              <a:rPr lang="en-US" sz="1600" b="1" dirty="0"/>
              <a:t>Course Outcome </a:t>
            </a:r>
          </a:p>
        </p:txBody>
      </p:sp>
      <p:sp>
        <p:nvSpPr>
          <p:cNvPr id="21" name="TextBox 20"/>
          <p:cNvSpPr txBox="1"/>
          <p:nvPr/>
        </p:nvSpPr>
        <p:spPr>
          <a:xfrm>
            <a:off x="7692571" y="5225143"/>
            <a:ext cx="3120572" cy="338554"/>
          </a:xfrm>
          <a:prstGeom prst="rect">
            <a:avLst/>
          </a:prstGeom>
          <a:noFill/>
        </p:spPr>
        <p:txBody>
          <a:bodyPr wrap="square" rtlCol="0">
            <a:spAutoFit/>
          </a:bodyPr>
          <a:lstStyle/>
          <a:p>
            <a:r>
              <a:rPr lang="en-US" sz="1600" dirty="0">
                <a:latin typeface="Casper"/>
              </a:rPr>
              <a:t>Figure 1.1 Binary </a:t>
            </a:r>
            <a:r>
              <a:rPr lang="en-US" sz="1600" dirty="0" err="1">
                <a:latin typeface="Casper"/>
              </a:rPr>
              <a:t>Aritmatic</a:t>
            </a:r>
            <a:r>
              <a:rPr lang="en-US" sz="1600" dirty="0">
                <a:latin typeface="Casper"/>
              </a:rPr>
              <a:t> [1]</a:t>
            </a:r>
          </a:p>
        </p:txBody>
      </p:sp>
      <p:graphicFrame>
        <p:nvGraphicFramePr>
          <p:cNvPr id="12" name="Table 11"/>
          <p:cNvGraphicFramePr>
            <a:graphicFrameLocks noGrp="1"/>
          </p:cNvGraphicFramePr>
          <p:nvPr/>
        </p:nvGraphicFramePr>
        <p:xfrm>
          <a:off x="216261" y="2024743"/>
          <a:ext cx="6236790" cy="1642872"/>
        </p:xfrm>
        <a:graphic>
          <a:graphicData uri="http://schemas.openxmlformats.org/drawingml/2006/table">
            <a:tbl>
              <a:tblPr/>
              <a:tblGrid>
                <a:gridCol w="6236790">
                  <a:extLst>
                    <a:ext uri="{9D8B030D-6E8A-4147-A177-3AD203B41FA5}">
                      <a16:colId xmlns:a16="http://schemas.microsoft.com/office/drawing/2014/main" val="20000"/>
                    </a:ext>
                  </a:extLst>
                </a:gridCol>
              </a:tblGrid>
              <a:tr h="1345474">
                <a:tc>
                  <a:txBody>
                    <a:bodyPr/>
                    <a:lstStyle/>
                    <a:p>
                      <a:pPr marL="342900" lvl="0" indent="-342900" algn="l">
                        <a:lnSpc>
                          <a:spcPct val="115000"/>
                        </a:lnSpc>
                        <a:spcBef>
                          <a:spcPts val="0"/>
                        </a:spcBef>
                        <a:spcAft>
                          <a:spcPts val="1000"/>
                        </a:spcAft>
                        <a:buFont typeface="+mj-lt"/>
                        <a:buAutoNum type="arabicPeriod"/>
                      </a:pPr>
                      <a:r>
                        <a:rPr lang="en-US" sz="1200" dirty="0"/>
                        <a:t>To</a:t>
                      </a:r>
                      <a:r>
                        <a:rPr lang="en-US" sz="1200" baseline="0" dirty="0"/>
                        <a:t>  acquire basic knowledge of digital logic levels and applications to understand digital electronics circuit.</a:t>
                      </a:r>
                    </a:p>
                    <a:p>
                      <a:pPr marL="342900" lvl="0" indent="-342900" algn="l">
                        <a:lnSpc>
                          <a:spcPct val="115000"/>
                        </a:lnSpc>
                        <a:spcBef>
                          <a:spcPts val="0"/>
                        </a:spcBef>
                        <a:spcAft>
                          <a:spcPts val="1000"/>
                        </a:spcAft>
                        <a:buFont typeface="+mj-lt"/>
                        <a:buAutoNum type="arabicPeriod"/>
                      </a:pPr>
                      <a:r>
                        <a:rPr lang="en-US" sz="1200" baseline="0" dirty="0"/>
                        <a:t>To prepare students to  perform the analysis and design of various digital electronics circuits</a:t>
                      </a:r>
                    </a:p>
                    <a:p>
                      <a:pPr marL="342900" lvl="0" indent="-342900" algn="l">
                        <a:lnSpc>
                          <a:spcPct val="115000"/>
                        </a:lnSpc>
                        <a:spcBef>
                          <a:spcPts val="0"/>
                        </a:spcBef>
                        <a:spcAft>
                          <a:spcPts val="1000"/>
                        </a:spcAft>
                        <a:buFont typeface="+mj-lt"/>
                        <a:buAutoNum type="arabicPeriod"/>
                      </a:pPr>
                      <a:r>
                        <a:rPr lang="en-US" sz="1200" baseline="0" dirty="0"/>
                        <a:t>To make student understand basic difference between analog and digital electronics</a:t>
                      </a:r>
                    </a:p>
                    <a:p>
                      <a:pPr marL="342900" lvl="0" indent="-342900" algn="l">
                        <a:lnSpc>
                          <a:spcPct val="115000"/>
                        </a:lnSpc>
                        <a:spcBef>
                          <a:spcPts val="0"/>
                        </a:spcBef>
                        <a:spcAft>
                          <a:spcPts val="1000"/>
                        </a:spcAft>
                        <a:buFont typeface="+mj-lt"/>
                        <a:buAutoNum type="arabicPeriod"/>
                      </a:pPr>
                      <a:endParaRPr lang="en-US" sz="1200" dirty="0"/>
                    </a:p>
                  </a:txBody>
                  <a:tcPr marL="114300" marR="114300" marT="0" marB="0">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13" name="Rectangle 12"/>
          <p:cNvSpPr/>
          <p:nvPr/>
        </p:nvSpPr>
        <p:spPr>
          <a:xfrm>
            <a:off x="193893" y="1377332"/>
            <a:ext cx="2540824" cy="461665"/>
          </a:xfrm>
          <a:prstGeom prst="rect">
            <a:avLst/>
          </a:prstGeom>
        </p:spPr>
        <p:txBody>
          <a:bodyPr wrap="none">
            <a:spAutoFit/>
          </a:bodyPr>
          <a:lstStyle/>
          <a:p>
            <a:r>
              <a:rPr lang="en-US" sz="2400" b="1" dirty="0"/>
              <a:t>Course Objectives </a:t>
            </a:r>
          </a:p>
        </p:txBody>
      </p:sp>
    </p:spTree>
    <p:extLst>
      <p:ext uri="{BB962C8B-B14F-4D97-AF65-F5344CB8AC3E}">
        <p14:creationId xmlns:p14="http://schemas.microsoft.com/office/powerpoint/2010/main" val="4018097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300447" y="1031966"/>
            <a:ext cx="518595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a:ea typeface="Karla" pitchFamily="2" charset="0"/>
                <a:cs typeface="Times New Roman" pitchFamily="18" charset="0"/>
              </a:rPr>
              <a:t>BINARY ARITMATIC</a:t>
            </a:r>
            <a:br>
              <a:rPr lang="en-US" sz="4400" b="1" dirty="0">
                <a:latin typeface="Casper Bold"/>
                <a:ea typeface="Karla" pitchFamily="2" charset="0"/>
                <a:cs typeface="Times New Roman" pitchFamily="18" charset="0"/>
              </a:rPr>
            </a:br>
            <a:endParaRPr lang="en-US" sz="4400" dirty="0">
              <a:latin typeface="Casper Bold"/>
              <a:cs typeface="Times New Roman" pitchFamily="18" charset="0"/>
            </a:endParaRPr>
          </a:p>
        </p:txBody>
      </p:sp>
      <p:sp>
        <p:nvSpPr>
          <p:cNvPr id="9" name="Rectangle 8"/>
          <p:cNvSpPr/>
          <p:nvPr/>
        </p:nvSpPr>
        <p:spPr>
          <a:xfrm>
            <a:off x="449262" y="35306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41234" y="3523350"/>
            <a:ext cx="6096000" cy="1569660"/>
          </a:xfrm>
          <a:prstGeom prst="rect">
            <a:avLst/>
          </a:prstGeom>
        </p:spPr>
        <p:txBody>
          <a:bodyPr>
            <a:spAutoFit/>
          </a:bodyPr>
          <a:lstStyle/>
          <a:p>
            <a:pPr>
              <a:lnSpc>
                <a:spcPct val="150000"/>
              </a:lnSpc>
              <a:buFont typeface="Wingdings" pitchFamily="2" charset="2"/>
              <a:buChar char="v"/>
            </a:pPr>
            <a:r>
              <a:rPr lang="en-US" sz="1600" dirty="0">
                <a:latin typeface="Casper"/>
                <a:cs typeface="Times New Roman" pitchFamily="18" charset="0"/>
              </a:rPr>
              <a:t>Addition</a:t>
            </a:r>
          </a:p>
          <a:p>
            <a:pPr>
              <a:lnSpc>
                <a:spcPct val="150000"/>
              </a:lnSpc>
              <a:buFont typeface="Wingdings" pitchFamily="2" charset="2"/>
              <a:buChar char="v"/>
            </a:pPr>
            <a:r>
              <a:rPr lang="en-US" sz="1600" dirty="0">
                <a:latin typeface="Casper"/>
                <a:cs typeface="Times New Roman" pitchFamily="18" charset="0"/>
              </a:rPr>
              <a:t>Subtraction</a:t>
            </a:r>
          </a:p>
          <a:p>
            <a:pPr>
              <a:lnSpc>
                <a:spcPct val="150000"/>
              </a:lnSpc>
              <a:buFont typeface="Wingdings" pitchFamily="2" charset="2"/>
              <a:buChar char="v"/>
            </a:pPr>
            <a:r>
              <a:rPr lang="en-US" sz="1600" dirty="0">
                <a:latin typeface="Casper"/>
                <a:cs typeface="Times New Roman" pitchFamily="18" charset="0"/>
              </a:rPr>
              <a:t>Multiplication</a:t>
            </a:r>
          </a:p>
          <a:p>
            <a:pPr>
              <a:lnSpc>
                <a:spcPct val="150000"/>
              </a:lnSpc>
              <a:buFont typeface="Wingdings" pitchFamily="2" charset="2"/>
              <a:buChar char="v"/>
            </a:pPr>
            <a:r>
              <a:rPr lang="en-US" sz="1600" dirty="0">
                <a:latin typeface="Casper"/>
                <a:cs typeface="Times New Roman" pitchFamily="18" charset="0"/>
              </a:rPr>
              <a:t>Division</a:t>
            </a:r>
          </a:p>
        </p:txBody>
      </p:sp>
      <p:sp>
        <p:nvSpPr>
          <p:cNvPr id="11" name="Rectangle 10"/>
          <p:cNvSpPr/>
          <p:nvPr/>
        </p:nvSpPr>
        <p:spPr>
          <a:xfrm>
            <a:off x="5555705" y="873035"/>
            <a:ext cx="5848169" cy="47962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298" name="Picture 2" descr="binary arithmetic operations App Ranking and Store Data | App Annie"/>
          <p:cNvPicPr>
            <a:picLocks noChangeAspect="1" noChangeArrowheads="1"/>
          </p:cNvPicPr>
          <p:nvPr/>
        </p:nvPicPr>
        <p:blipFill>
          <a:blip r:embed="rId2"/>
          <a:srcRect/>
          <a:stretch>
            <a:fillRect/>
          </a:stretch>
        </p:blipFill>
        <p:spPr bwMode="auto">
          <a:xfrm>
            <a:off x="7196455" y="1368969"/>
            <a:ext cx="2428875" cy="2428875"/>
          </a:xfrm>
          <a:prstGeom prst="rect">
            <a:avLst/>
          </a:prstGeom>
          <a:noFill/>
        </p:spPr>
      </p:pic>
      <p:sp>
        <p:nvSpPr>
          <p:cNvPr id="14" name="TextBox 13"/>
          <p:cNvSpPr txBox="1"/>
          <p:nvPr/>
        </p:nvSpPr>
        <p:spPr>
          <a:xfrm>
            <a:off x="6688183" y="4297680"/>
            <a:ext cx="3526971" cy="369332"/>
          </a:xfrm>
          <a:prstGeom prst="rect">
            <a:avLst/>
          </a:prstGeom>
          <a:noFill/>
        </p:spPr>
        <p:txBody>
          <a:bodyPr wrap="square" rtlCol="0">
            <a:spAutoFit/>
          </a:bodyPr>
          <a:lstStyle/>
          <a:p>
            <a:r>
              <a:rPr lang="en-US" dirty="0"/>
              <a:t>Fig1.2. Binary Addition[2] </a:t>
            </a:r>
          </a:p>
        </p:txBody>
      </p:sp>
    </p:spTree>
    <p:extLst>
      <p:ext uri="{BB962C8B-B14F-4D97-AF65-F5344CB8AC3E}">
        <p14:creationId xmlns:p14="http://schemas.microsoft.com/office/powerpoint/2010/main" val="693801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title"/>
          </p:nvPr>
        </p:nvSpPr>
        <p:spPr>
          <a:xfrm>
            <a:off x="1148475" y="441064"/>
            <a:ext cx="10529455" cy="1231619"/>
          </a:xfrm>
          <a:prstGeom prst="rect">
            <a:avLst/>
          </a:prstGeom>
        </p:spPr>
        <p:txBody>
          <a:bodyPr vert="horz" wrap="square" lIns="0" tIns="12700" rIns="0" bIns="0" rtlCol="0">
            <a:spAutoFit/>
          </a:bodyPr>
          <a:lstStyle/>
          <a:p>
            <a:pPr marL="12700" marR="5080" algn="l">
              <a:spcBef>
                <a:spcPts val="100"/>
              </a:spcBef>
            </a:pPr>
            <a:r>
              <a:rPr lang="en-US" dirty="0">
                <a:solidFill>
                  <a:schemeClr val="tx1"/>
                </a:solidFill>
                <a:latin typeface="Casper Bold"/>
                <a:cs typeface="Times New Roman" pitchFamily="18" charset="0"/>
              </a:rPr>
              <a:t>                BINARY ADDITION</a:t>
            </a:r>
            <a:br>
              <a:rPr lang="en-US" dirty="0">
                <a:solidFill>
                  <a:schemeClr val="tx1"/>
                </a:solidFill>
                <a:latin typeface="Casper Bold"/>
                <a:cs typeface="Times New Roman" pitchFamily="18" charset="0"/>
              </a:rPr>
            </a:br>
            <a:endParaRPr dirty="0">
              <a:solidFill>
                <a:schemeClr val="tx1"/>
              </a:solidFill>
              <a:latin typeface="Casper Bold"/>
              <a:cs typeface="Times New Roman" pitchFamily="18" charset="0"/>
            </a:endParaRPr>
          </a:p>
        </p:txBody>
      </p:sp>
      <p:sp>
        <p:nvSpPr>
          <p:cNvPr id="24577" name="Rectangle 1"/>
          <p:cNvSpPr>
            <a:spLocks noChangeArrowheads="1"/>
          </p:cNvSpPr>
          <p:nvPr/>
        </p:nvSpPr>
        <p:spPr bwMode="auto">
          <a:xfrm>
            <a:off x="277091" y="1344706"/>
            <a:ext cx="10806545" cy="802764"/>
          </a:xfrm>
          <a:prstGeom prst="rect">
            <a:avLst/>
          </a:prstGeom>
          <a:noFill/>
          <a:ln w="9525">
            <a:noFill/>
            <a:miter lim="800000"/>
            <a:headEnd/>
            <a:tailEnd/>
          </a:ln>
          <a:effectLst/>
        </p:spPr>
        <p:txBody>
          <a:bodyPr vert="horz" wrap="square" lIns="0" tIns="31740" rIns="31740" bIns="31740" numCol="1" anchor="ctr" anchorCtr="0" compatLnSpc="1">
            <a:prstTxWarp prst="textNoShape">
              <a:avLst/>
            </a:prstTxWarp>
            <a:spAutoFit/>
          </a:bodyPr>
          <a:lstStyle/>
          <a:p>
            <a:pPr algn="just" fontAlgn="base">
              <a:spcBef>
                <a:spcPct val="0"/>
              </a:spcBef>
              <a:spcAft>
                <a:spcPct val="0"/>
              </a:spcAft>
            </a:pPr>
            <a:r>
              <a:rPr lang="en-US" sz="1600" dirty="0">
                <a:latin typeface="Casper"/>
                <a:cs typeface="Times New Roman" pitchFamily="18" charset="0"/>
              </a:rPr>
              <a:t>                   Rules of  Binary Addition</a:t>
            </a:r>
          </a:p>
          <a:p>
            <a:pPr algn="just" fontAlgn="base">
              <a:spcBef>
                <a:spcPct val="0"/>
              </a:spcBef>
              <a:spcAft>
                <a:spcPct val="0"/>
              </a:spcAft>
            </a:pPr>
            <a:r>
              <a:rPr lang="en-US" sz="1600" dirty="0">
                <a:latin typeface="Casper"/>
                <a:cs typeface="Times New Roman" pitchFamily="18" charset="0"/>
              </a:rPr>
              <a:t>  </a:t>
            </a:r>
          </a:p>
          <a:p>
            <a:pPr algn="just" fontAlgn="base">
              <a:spcBef>
                <a:spcPct val="0"/>
              </a:spcBef>
              <a:spcAft>
                <a:spcPct val="0"/>
              </a:spcAft>
            </a:pPr>
            <a:r>
              <a:rPr lang="en-US" sz="1600" dirty="0">
                <a:latin typeface="Casper"/>
                <a:cs typeface="Times New Roman" pitchFamily="18" charset="0"/>
              </a:rPr>
              <a:t>                                                                                             </a:t>
            </a:r>
            <a:endParaRPr kumimoji="0" lang="en-US" sz="1600" i="0" u="none" strike="noStrike" cap="none" normalizeH="0" baseline="0" dirty="0">
              <a:ln>
                <a:noFill/>
              </a:ln>
              <a:solidFill>
                <a:schemeClr val="tx1"/>
              </a:solidFill>
              <a:effectLst/>
              <a:latin typeface="Casper"/>
              <a:cs typeface="Times New Roman" pitchFamily="18" charset="0"/>
            </a:endParaRPr>
          </a:p>
        </p:txBody>
      </p:sp>
      <p:graphicFrame>
        <p:nvGraphicFramePr>
          <p:cNvPr id="8" name="Table 7"/>
          <p:cNvGraphicFramePr>
            <a:graphicFrameLocks noGrp="1"/>
          </p:cNvGraphicFramePr>
          <p:nvPr/>
        </p:nvGraphicFramePr>
        <p:xfrm>
          <a:off x="825500" y="1864359"/>
          <a:ext cx="3136901" cy="1831340"/>
        </p:xfrm>
        <a:graphic>
          <a:graphicData uri="http://schemas.openxmlformats.org/drawingml/2006/table">
            <a:tbl>
              <a:tblPr/>
              <a:tblGrid>
                <a:gridCol w="873962">
                  <a:extLst>
                    <a:ext uri="{9D8B030D-6E8A-4147-A177-3AD203B41FA5}">
                      <a16:colId xmlns:a16="http://schemas.microsoft.com/office/drawing/2014/main" val="20000"/>
                    </a:ext>
                  </a:extLst>
                </a:gridCol>
                <a:gridCol w="1248518">
                  <a:extLst>
                    <a:ext uri="{9D8B030D-6E8A-4147-A177-3AD203B41FA5}">
                      <a16:colId xmlns:a16="http://schemas.microsoft.com/office/drawing/2014/main" val="20001"/>
                    </a:ext>
                  </a:extLst>
                </a:gridCol>
                <a:gridCol w="1014421">
                  <a:extLst>
                    <a:ext uri="{9D8B030D-6E8A-4147-A177-3AD203B41FA5}">
                      <a16:colId xmlns:a16="http://schemas.microsoft.com/office/drawing/2014/main" val="20002"/>
                    </a:ext>
                  </a:extLst>
                </a:gridCol>
              </a:tblGrid>
              <a:tr h="366268">
                <a:tc>
                  <a:txBody>
                    <a:bodyPr/>
                    <a:lstStyle/>
                    <a:p>
                      <a:pPr marL="0" marR="0" algn="ctr">
                        <a:lnSpc>
                          <a:spcPct val="115000"/>
                        </a:lnSpc>
                        <a:spcBef>
                          <a:spcPts val="0"/>
                        </a:spcBef>
                        <a:spcAft>
                          <a:spcPts val="0"/>
                        </a:spcAft>
                      </a:pPr>
                      <a:r>
                        <a:rPr lang="en-US" sz="1600" dirty="0">
                          <a:latin typeface="Casper"/>
                          <a:ea typeface="Calibri"/>
                          <a:cs typeface="Times New Roman"/>
                        </a:rPr>
                        <a:t>A+B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Sum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Carry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6268">
                <a:tc>
                  <a:txBody>
                    <a:bodyPr/>
                    <a:lstStyle/>
                    <a:p>
                      <a:pPr marL="0" marR="0" algn="ctr">
                        <a:lnSpc>
                          <a:spcPct val="115000"/>
                        </a:lnSpc>
                        <a:spcBef>
                          <a:spcPts val="0"/>
                        </a:spcBef>
                        <a:spcAft>
                          <a:spcPts val="0"/>
                        </a:spcAft>
                      </a:pPr>
                      <a:r>
                        <a:rPr lang="en-US" sz="1600">
                          <a:latin typeface="Casper"/>
                          <a:ea typeface="Calibri"/>
                          <a:cs typeface="Times New Roman"/>
                        </a:rPr>
                        <a:t>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6268">
                <a:tc>
                  <a:txBody>
                    <a:bodyPr/>
                    <a:lstStyle/>
                    <a:p>
                      <a:pPr marL="0" marR="0" algn="ctr">
                        <a:lnSpc>
                          <a:spcPct val="115000"/>
                        </a:lnSpc>
                        <a:spcBef>
                          <a:spcPts val="0"/>
                        </a:spcBef>
                        <a:spcAft>
                          <a:spcPts val="0"/>
                        </a:spcAft>
                      </a:pPr>
                      <a:r>
                        <a:rPr lang="en-US" sz="1600">
                          <a:latin typeface="Casper"/>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6268">
                <a:tc>
                  <a:txBody>
                    <a:bodyPr/>
                    <a:lstStyle/>
                    <a:p>
                      <a:pPr marL="0" marR="0" algn="ctr">
                        <a:lnSpc>
                          <a:spcPct val="115000"/>
                        </a:lnSpc>
                        <a:spcBef>
                          <a:spcPts val="0"/>
                        </a:spcBef>
                        <a:spcAft>
                          <a:spcPts val="0"/>
                        </a:spcAft>
                      </a:pPr>
                      <a:r>
                        <a:rPr lang="en-US" sz="1600">
                          <a:latin typeface="Casper"/>
                          <a:ea typeface="Calibri"/>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6268">
                <a:tc>
                  <a:txBody>
                    <a:bodyPr/>
                    <a:lstStyle/>
                    <a:p>
                      <a:pPr marL="0" marR="0" algn="ctr">
                        <a:lnSpc>
                          <a:spcPct val="115000"/>
                        </a:lnSpc>
                        <a:spcBef>
                          <a:spcPts val="0"/>
                        </a:spcBef>
                        <a:spcAft>
                          <a:spcPts val="0"/>
                        </a:spcAft>
                      </a:pPr>
                      <a:r>
                        <a:rPr lang="en-US" sz="1600">
                          <a:latin typeface="Casper"/>
                          <a:ea typeface="Calibri"/>
                          <a:cs typeface="Times New Roman"/>
                        </a:rPr>
                        <a:t>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Box 9"/>
          <p:cNvSpPr txBox="1"/>
          <p:nvPr/>
        </p:nvSpPr>
        <p:spPr>
          <a:xfrm>
            <a:off x="571500" y="4673600"/>
            <a:ext cx="2501900" cy="1815882"/>
          </a:xfrm>
          <a:prstGeom prst="rect">
            <a:avLst/>
          </a:prstGeom>
          <a:noFill/>
        </p:spPr>
        <p:txBody>
          <a:bodyPr wrap="square" rtlCol="0">
            <a:spAutoFit/>
          </a:bodyPr>
          <a:lstStyle/>
          <a:p>
            <a:r>
              <a:rPr lang="en-US" sz="1600" dirty="0">
                <a:latin typeface="Casper"/>
              </a:rPr>
              <a:t>Examples :-</a:t>
            </a:r>
          </a:p>
          <a:p>
            <a:pPr algn="ctr"/>
            <a:r>
              <a:rPr lang="en-US" sz="1600" dirty="0">
                <a:latin typeface="Casper"/>
              </a:rPr>
              <a:t>    110101                                   </a:t>
            </a:r>
          </a:p>
          <a:p>
            <a:pPr algn="ctr"/>
            <a:r>
              <a:rPr lang="en-US" sz="1600" dirty="0">
                <a:latin typeface="Casper"/>
              </a:rPr>
              <a:t>+  111101</a:t>
            </a:r>
          </a:p>
          <a:p>
            <a:pPr algn="ctr"/>
            <a:r>
              <a:rPr lang="en-US" sz="1600" dirty="0">
                <a:latin typeface="Casper"/>
              </a:rPr>
              <a:t>   </a:t>
            </a:r>
          </a:p>
          <a:p>
            <a:pPr algn="ctr"/>
            <a:r>
              <a:rPr lang="en-US" sz="1600" dirty="0">
                <a:latin typeface="Casper"/>
              </a:rPr>
              <a:t> 1110010</a:t>
            </a:r>
          </a:p>
          <a:p>
            <a:pPr algn="ctr"/>
            <a:r>
              <a:rPr lang="en-US" sz="1600" dirty="0">
                <a:latin typeface="Casper"/>
              </a:rPr>
              <a:t>                                                            </a:t>
            </a:r>
          </a:p>
          <a:p>
            <a:pPr algn="ctr"/>
            <a:r>
              <a:rPr lang="en-US" sz="1600" dirty="0">
                <a:latin typeface="Casper"/>
              </a:rPr>
              <a:t> </a:t>
            </a:r>
          </a:p>
        </p:txBody>
      </p:sp>
      <p:cxnSp>
        <p:nvCxnSpPr>
          <p:cNvPr id="13" name="Straight Connector 12"/>
          <p:cNvCxnSpPr/>
          <p:nvPr/>
        </p:nvCxnSpPr>
        <p:spPr>
          <a:xfrm rot="10800000" flipH="1">
            <a:off x="1326243" y="5508185"/>
            <a:ext cx="1346200" cy="135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502400" y="4728029"/>
            <a:ext cx="3047999" cy="1323439"/>
          </a:xfrm>
          <a:prstGeom prst="rect">
            <a:avLst/>
          </a:prstGeom>
          <a:noFill/>
        </p:spPr>
        <p:txBody>
          <a:bodyPr wrap="square" rtlCol="0">
            <a:spAutoFit/>
          </a:bodyPr>
          <a:lstStyle/>
          <a:p>
            <a:pPr algn="ctr"/>
            <a:r>
              <a:rPr lang="en-US" sz="1600" dirty="0">
                <a:latin typeface="Casper"/>
              </a:rPr>
              <a:t>    110101 </a:t>
            </a:r>
          </a:p>
          <a:p>
            <a:pPr algn="ctr"/>
            <a:r>
              <a:rPr lang="en-US" sz="1600" dirty="0">
                <a:latin typeface="Casper"/>
              </a:rPr>
              <a:t>-   101101</a:t>
            </a:r>
          </a:p>
          <a:p>
            <a:pPr algn="ctr"/>
            <a:r>
              <a:rPr lang="en-US" sz="1600" dirty="0">
                <a:latin typeface="Casper"/>
              </a:rPr>
              <a:t> </a:t>
            </a:r>
          </a:p>
          <a:p>
            <a:pPr algn="ctr"/>
            <a:r>
              <a:rPr lang="en-US" sz="1600" dirty="0">
                <a:latin typeface="Casper"/>
              </a:rPr>
              <a:t>  001000</a:t>
            </a:r>
          </a:p>
          <a:p>
            <a:pPr algn="ctr"/>
            <a:endParaRPr lang="en-US" sz="1600" dirty="0">
              <a:latin typeface="Casper"/>
            </a:endParaRPr>
          </a:p>
        </p:txBody>
      </p:sp>
      <p:cxnSp>
        <p:nvCxnSpPr>
          <p:cNvPr id="19" name="Straight Connector 18"/>
          <p:cNvCxnSpPr/>
          <p:nvPr/>
        </p:nvCxnSpPr>
        <p:spPr>
          <a:xfrm flipV="1">
            <a:off x="7416800" y="5326743"/>
            <a:ext cx="1625600" cy="145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lide Number Placeholder 10"/>
          <p:cNvSpPr>
            <a:spLocks noGrp="1"/>
          </p:cNvSpPr>
          <p:nvPr>
            <p:ph type="sldNum" sz="quarter" idx="12"/>
          </p:nvPr>
        </p:nvSpPr>
        <p:spPr/>
        <p:txBody>
          <a:bodyPr/>
          <a:lstStyle/>
          <a:p>
            <a:fld id="{BDCDBBEF-AA6C-4BA6-85B2-A17D7F280E38}"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sper Bold"/>
                <a:cs typeface="Times New Roman" pitchFamily="18" charset="0"/>
              </a:rPr>
              <a:t>Rules of  Binary Subtraction</a:t>
            </a:r>
            <a:endParaRPr lang="en-US" dirty="0">
              <a:latin typeface="Casper Bold"/>
            </a:endParaRPr>
          </a:p>
        </p:txBody>
      </p:sp>
      <p:sp>
        <p:nvSpPr>
          <p:cNvPr id="3" name="Slide Number Placeholder 2"/>
          <p:cNvSpPr>
            <a:spLocks noGrp="1"/>
          </p:cNvSpPr>
          <p:nvPr>
            <p:ph type="sldNum" sz="quarter" idx="12"/>
          </p:nvPr>
        </p:nvSpPr>
        <p:spPr/>
        <p:txBody>
          <a:bodyPr/>
          <a:lstStyle/>
          <a:p>
            <a:fld id="{BDCDBBEF-AA6C-4BA6-85B2-A17D7F280E38}" type="slidenum">
              <a:rPr lang="en-US" smtClean="0"/>
              <a:pPr/>
              <a:t>8</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09193209"/>
              </p:ext>
            </p:extLst>
          </p:nvPr>
        </p:nvGraphicFramePr>
        <p:xfrm>
          <a:off x="1576253" y="1856378"/>
          <a:ext cx="2910112" cy="1803618"/>
        </p:xfrm>
        <a:graphic>
          <a:graphicData uri="http://schemas.openxmlformats.org/drawingml/2006/table">
            <a:tbl>
              <a:tblPr/>
              <a:tblGrid>
                <a:gridCol w="810777">
                  <a:extLst>
                    <a:ext uri="{9D8B030D-6E8A-4147-A177-3AD203B41FA5}">
                      <a16:colId xmlns:a16="http://schemas.microsoft.com/office/drawing/2014/main" val="20000"/>
                    </a:ext>
                  </a:extLst>
                </a:gridCol>
                <a:gridCol w="1158254">
                  <a:extLst>
                    <a:ext uri="{9D8B030D-6E8A-4147-A177-3AD203B41FA5}">
                      <a16:colId xmlns:a16="http://schemas.microsoft.com/office/drawing/2014/main" val="20001"/>
                    </a:ext>
                  </a:extLst>
                </a:gridCol>
                <a:gridCol w="941081">
                  <a:extLst>
                    <a:ext uri="{9D8B030D-6E8A-4147-A177-3AD203B41FA5}">
                      <a16:colId xmlns:a16="http://schemas.microsoft.com/office/drawing/2014/main" val="20002"/>
                    </a:ext>
                  </a:extLst>
                </a:gridCol>
              </a:tblGrid>
              <a:tr h="463986">
                <a:tc>
                  <a:txBody>
                    <a:bodyPr/>
                    <a:lstStyle/>
                    <a:p>
                      <a:pPr marL="0" marR="0" algn="ctr">
                        <a:lnSpc>
                          <a:spcPct val="115000"/>
                        </a:lnSpc>
                        <a:spcBef>
                          <a:spcPts val="0"/>
                        </a:spcBef>
                        <a:spcAft>
                          <a:spcPts val="0"/>
                        </a:spcAft>
                      </a:pPr>
                      <a:r>
                        <a:rPr lang="en-US" sz="1600" dirty="0">
                          <a:latin typeface="Casper"/>
                          <a:ea typeface="Calibri"/>
                          <a:cs typeface="Times New Roman"/>
                        </a:rPr>
                        <a:t>A-B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Diff</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Borrow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34908">
                <a:tc>
                  <a:txBody>
                    <a:bodyPr/>
                    <a:lstStyle/>
                    <a:p>
                      <a:pPr marL="0" marR="0" algn="ctr">
                        <a:lnSpc>
                          <a:spcPct val="115000"/>
                        </a:lnSpc>
                        <a:spcBef>
                          <a:spcPts val="0"/>
                        </a:spcBef>
                        <a:spcAft>
                          <a:spcPts val="0"/>
                        </a:spcAft>
                      </a:pPr>
                      <a:r>
                        <a:rPr lang="en-US" sz="1600" dirty="0">
                          <a:latin typeface="Casper"/>
                          <a:ea typeface="Calibri"/>
                          <a:cs typeface="Times New Roman"/>
                        </a:rPr>
                        <a:t>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34908">
                <a:tc>
                  <a:txBody>
                    <a:bodyPr/>
                    <a:lstStyle/>
                    <a:p>
                      <a:pPr marL="0" marR="0" algn="ctr">
                        <a:lnSpc>
                          <a:spcPct val="115000"/>
                        </a:lnSpc>
                        <a:spcBef>
                          <a:spcPts val="0"/>
                        </a:spcBef>
                        <a:spcAft>
                          <a:spcPts val="0"/>
                        </a:spcAft>
                      </a:pPr>
                      <a:r>
                        <a:rPr lang="en-US" sz="1600">
                          <a:latin typeface="Casper"/>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34908">
                <a:tc>
                  <a:txBody>
                    <a:bodyPr/>
                    <a:lstStyle/>
                    <a:p>
                      <a:pPr marL="0" marR="0" algn="ctr">
                        <a:lnSpc>
                          <a:spcPct val="115000"/>
                        </a:lnSpc>
                        <a:spcBef>
                          <a:spcPts val="0"/>
                        </a:spcBef>
                        <a:spcAft>
                          <a:spcPts val="0"/>
                        </a:spcAft>
                      </a:pPr>
                      <a:r>
                        <a:rPr lang="en-US" sz="1600">
                          <a:latin typeface="Casper"/>
                          <a:ea typeface="Calibri"/>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34908">
                <a:tc>
                  <a:txBody>
                    <a:bodyPr/>
                    <a:lstStyle/>
                    <a:p>
                      <a:pPr marL="0" marR="0" algn="ctr">
                        <a:lnSpc>
                          <a:spcPct val="115000"/>
                        </a:lnSpc>
                        <a:spcBef>
                          <a:spcPts val="0"/>
                        </a:spcBef>
                        <a:spcAft>
                          <a:spcPts val="0"/>
                        </a:spcAft>
                      </a:pPr>
                      <a:r>
                        <a:rPr lang="en-US" sz="1600">
                          <a:latin typeface="Casper"/>
                          <a:ea typeface="Calibri"/>
                          <a:cs typeface="Times New Roman"/>
                        </a:rPr>
                        <a:t>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Box 5"/>
          <p:cNvSpPr txBox="1"/>
          <p:nvPr/>
        </p:nvSpPr>
        <p:spPr>
          <a:xfrm>
            <a:off x="1838960" y="4767217"/>
            <a:ext cx="3047999" cy="1323439"/>
          </a:xfrm>
          <a:prstGeom prst="rect">
            <a:avLst/>
          </a:prstGeom>
          <a:noFill/>
        </p:spPr>
        <p:txBody>
          <a:bodyPr wrap="square" rtlCol="0">
            <a:spAutoFit/>
          </a:bodyPr>
          <a:lstStyle/>
          <a:p>
            <a:pPr algn="ctr"/>
            <a:r>
              <a:rPr lang="en-US" sz="1600" dirty="0">
                <a:latin typeface="Casper"/>
              </a:rPr>
              <a:t>    110101 </a:t>
            </a:r>
          </a:p>
          <a:p>
            <a:pPr algn="ctr"/>
            <a:r>
              <a:rPr lang="en-US" sz="1600" dirty="0">
                <a:latin typeface="Casper"/>
              </a:rPr>
              <a:t>-   101101</a:t>
            </a:r>
          </a:p>
          <a:p>
            <a:pPr algn="ctr"/>
            <a:r>
              <a:rPr lang="en-US" sz="1600" dirty="0">
                <a:latin typeface="Casper"/>
              </a:rPr>
              <a:t> </a:t>
            </a:r>
          </a:p>
          <a:p>
            <a:pPr algn="ctr"/>
            <a:r>
              <a:rPr lang="en-US" sz="1600" dirty="0">
                <a:latin typeface="Casper"/>
              </a:rPr>
              <a:t>  001000</a:t>
            </a:r>
          </a:p>
          <a:p>
            <a:pPr algn="ctr"/>
            <a:endParaRPr lang="en-US" sz="1600" dirty="0">
              <a:latin typeface="Casper"/>
            </a:endParaRPr>
          </a:p>
        </p:txBody>
      </p:sp>
      <p:cxnSp>
        <p:nvCxnSpPr>
          <p:cNvPr id="7" name="Straight Connector 6"/>
          <p:cNvCxnSpPr/>
          <p:nvPr/>
        </p:nvCxnSpPr>
        <p:spPr>
          <a:xfrm rot="10800000" flipH="1">
            <a:off x="2789283" y="5377557"/>
            <a:ext cx="1346200" cy="135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descr="Subtraction Example"/>
          <p:cNvPicPr/>
          <p:nvPr/>
        </p:nvPicPr>
        <p:blipFill>
          <a:blip r:embed="rId2" cstate="print"/>
          <a:srcRect/>
          <a:stretch>
            <a:fillRect/>
          </a:stretch>
        </p:blipFill>
        <p:spPr bwMode="auto">
          <a:xfrm>
            <a:off x="5293042" y="1711641"/>
            <a:ext cx="3800475" cy="10572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1789"/>
          </a:xfrm>
        </p:spPr>
        <p:txBody>
          <a:bodyPr/>
          <a:lstStyle/>
          <a:p>
            <a:pPr algn="ctr"/>
            <a:r>
              <a:rPr lang="en-US" dirty="0">
                <a:latin typeface="Casper Bold"/>
              </a:rPr>
              <a:t>BINARY MULTIPLICATION</a:t>
            </a:r>
          </a:p>
        </p:txBody>
      </p:sp>
      <p:sp>
        <p:nvSpPr>
          <p:cNvPr id="3" name="Slide Number Placeholder 2"/>
          <p:cNvSpPr>
            <a:spLocks noGrp="1"/>
          </p:cNvSpPr>
          <p:nvPr>
            <p:ph type="sldNum" sz="quarter" idx="12"/>
          </p:nvPr>
        </p:nvSpPr>
        <p:spPr/>
        <p:txBody>
          <a:bodyPr/>
          <a:lstStyle/>
          <a:p>
            <a:fld id="{BDCDBBEF-AA6C-4BA6-85B2-A17D7F280E38}" type="slidenum">
              <a:rPr lang="en-US" smtClean="0"/>
              <a:pPr/>
              <a:t>9</a:t>
            </a:fld>
            <a:endParaRPr lang="en-US"/>
          </a:p>
        </p:txBody>
      </p:sp>
      <p:sp>
        <p:nvSpPr>
          <p:cNvPr id="5" name="TextBox 4"/>
          <p:cNvSpPr txBox="1"/>
          <p:nvPr/>
        </p:nvSpPr>
        <p:spPr>
          <a:xfrm>
            <a:off x="255494" y="1586753"/>
            <a:ext cx="7933765" cy="2062103"/>
          </a:xfrm>
          <a:prstGeom prst="rect">
            <a:avLst/>
          </a:prstGeom>
          <a:noFill/>
        </p:spPr>
        <p:txBody>
          <a:bodyPr wrap="square" rtlCol="0">
            <a:spAutoFit/>
          </a:bodyPr>
          <a:lstStyle/>
          <a:p>
            <a:r>
              <a:rPr lang="en-US" sz="1600" dirty="0">
                <a:latin typeface="Casper"/>
              </a:rPr>
              <a:t>Multiplication in binary is exactly as it is in decimal, i.e. multiply numbers right to left and multiply each digit of one number to every digit of the other number, them sum them up. The 3 basic binary multiplication rules are also similar to decimal.</a:t>
            </a:r>
          </a:p>
          <a:p>
            <a:r>
              <a:rPr lang="en-US" sz="1600" dirty="0">
                <a:latin typeface="Casper"/>
              </a:rPr>
              <a:t>1 * 1 = 1</a:t>
            </a:r>
          </a:p>
          <a:p>
            <a:r>
              <a:rPr lang="en-US" sz="1600" dirty="0">
                <a:latin typeface="Casper"/>
              </a:rPr>
              <a:t>1 * 0 = 0 * 1 = 0</a:t>
            </a:r>
          </a:p>
          <a:p>
            <a:r>
              <a:rPr lang="en-US" sz="1600" dirty="0">
                <a:latin typeface="Casper"/>
              </a:rPr>
              <a:t>0 * 0 = 0</a:t>
            </a:r>
          </a:p>
          <a:p>
            <a:r>
              <a:rPr lang="en-US" sz="1600" dirty="0">
                <a:latin typeface="Casper"/>
              </a:rPr>
              <a:t>Also, remember that for every left shift of digit of the multiplier, an extra zero needs to be appended to the product. This is similar to the decimal system as well.</a:t>
            </a:r>
          </a:p>
          <a:p>
            <a:endParaRPr lang="en-US" sz="1600" dirty="0">
              <a:latin typeface="Casper"/>
            </a:endParaRPr>
          </a:p>
        </p:txBody>
      </p:sp>
      <p:graphicFrame>
        <p:nvGraphicFramePr>
          <p:cNvPr id="6" name="Table 5"/>
          <p:cNvGraphicFramePr>
            <a:graphicFrameLocks noGrp="1"/>
          </p:cNvGraphicFramePr>
          <p:nvPr/>
        </p:nvGraphicFramePr>
        <p:xfrm>
          <a:off x="1139008" y="3954417"/>
          <a:ext cx="3136901" cy="1831340"/>
        </p:xfrm>
        <a:graphic>
          <a:graphicData uri="http://schemas.openxmlformats.org/drawingml/2006/table">
            <a:tbl>
              <a:tblPr/>
              <a:tblGrid>
                <a:gridCol w="873962">
                  <a:extLst>
                    <a:ext uri="{9D8B030D-6E8A-4147-A177-3AD203B41FA5}">
                      <a16:colId xmlns:a16="http://schemas.microsoft.com/office/drawing/2014/main" val="20000"/>
                    </a:ext>
                  </a:extLst>
                </a:gridCol>
                <a:gridCol w="1248518">
                  <a:extLst>
                    <a:ext uri="{9D8B030D-6E8A-4147-A177-3AD203B41FA5}">
                      <a16:colId xmlns:a16="http://schemas.microsoft.com/office/drawing/2014/main" val="20001"/>
                    </a:ext>
                  </a:extLst>
                </a:gridCol>
                <a:gridCol w="1014421">
                  <a:extLst>
                    <a:ext uri="{9D8B030D-6E8A-4147-A177-3AD203B41FA5}">
                      <a16:colId xmlns:a16="http://schemas.microsoft.com/office/drawing/2014/main" val="20002"/>
                    </a:ext>
                  </a:extLst>
                </a:gridCol>
              </a:tblGrid>
              <a:tr h="366268">
                <a:tc>
                  <a:txBody>
                    <a:bodyPr/>
                    <a:lstStyle/>
                    <a:p>
                      <a:pPr marL="0" marR="0" algn="ctr">
                        <a:lnSpc>
                          <a:spcPct val="115000"/>
                        </a:lnSpc>
                        <a:spcBef>
                          <a:spcPts val="0"/>
                        </a:spcBef>
                        <a:spcAft>
                          <a:spcPts val="0"/>
                        </a:spcAft>
                      </a:pPr>
                      <a:r>
                        <a:rPr lang="en-US" sz="1600" dirty="0">
                          <a:latin typeface="Casper"/>
                          <a:ea typeface="Calibri"/>
                          <a:cs typeface="Times New Roman"/>
                        </a:rPr>
                        <a:t>Case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A*B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RESULT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6268">
                <a:tc>
                  <a:txBody>
                    <a:bodyPr/>
                    <a:lstStyle/>
                    <a:p>
                      <a:pPr marL="0" marR="0" algn="ctr">
                        <a:lnSpc>
                          <a:spcPct val="115000"/>
                        </a:lnSpc>
                        <a:spcBef>
                          <a:spcPts val="0"/>
                        </a:spcBef>
                        <a:spcAft>
                          <a:spcPts val="0"/>
                        </a:spcAft>
                      </a:pPr>
                      <a:r>
                        <a:rPr lang="en-US" sz="1600" dirty="0">
                          <a:latin typeface="Casper"/>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6268">
                <a:tc>
                  <a:txBody>
                    <a:bodyPr/>
                    <a:lstStyle/>
                    <a:p>
                      <a:pPr marL="0" marR="0" algn="ctr">
                        <a:lnSpc>
                          <a:spcPct val="115000"/>
                        </a:lnSpc>
                        <a:spcBef>
                          <a:spcPts val="0"/>
                        </a:spcBef>
                        <a:spcAft>
                          <a:spcPts val="0"/>
                        </a:spcAft>
                      </a:pPr>
                      <a:r>
                        <a:rPr lang="en-US" sz="1600" dirty="0">
                          <a:latin typeface="Casper"/>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6268">
                <a:tc>
                  <a:txBody>
                    <a:bodyPr/>
                    <a:lstStyle/>
                    <a:p>
                      <a:pPr marL="0" marR="0" algn="ctr">
                        <a:lnSpc>
                          <a:spcPct val="115000"/>
                        </a:lnSpc>
                        <a:spcBef>
                          <a:spcPts val="0"/>
                        </a:spcBef>
                        <a:spcAft>
                          <a:spcPts val="0"/>
                        </a:spcAft>
                      </a:pPr>
                      <a:r>
                        <a:rPr lang="en-US" sz="1600" dirty="0">
                          <a:latin typeface="Casper"/>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6268">
                <a:tc>
                  <a:txBody>
                    <a:bodyPr/>
                    <a:lstStyle/>
                    <a:p>
                      <a:pPr marL="0" marR="0" algn="ctr">
                        <a:lnSpc>
                          <a:spcPct val="115000"/>
                        </a:lnSpc>
                        <a:spcBef>
                          <a:spcPts val="0"/>
                        </a:spcBef>
                        <a:spcAft>
                          <a:spcPts val="0"/>
                        </a:spcAft>
                      </a:pPr>
                      <a:r>
                        <a:rPr lang="en-US" sz="1600" dirty="0">
                          <a:latin typeface="Casper"/>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Casper"/>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7" name="Picture 6" descr="Multiplication Example"/>
          <p:cNvPicPr/>
          <p:nvPr/>
        </p:nvPicPr>
        <p:blipFill>
          <a:blip r:embed="rId2" cstate="print"/>
          <a:srcRect/>
          <a:stretch>
            <a:fillRect/>
          </a:stretch>
        </p:blipFill>
        <p:spPr bwMode="auto">
          <a:xfrm>
            <a:off x="5832020" y="3737473"/>
            <a:ext cx="3924300" cy="2047875"/>
          </a:xfrm>
          <a:prstGeom prst="rect">
            <a:avLst/>
          </a:prstGeom>
          <a:noFill/>
          <a:ln w="9525">
            <a:noFill/>
            <a:miter lim="800000"/>
            <a:headEnd/>
            <a:tailEnd/>
          </a:ln>
        </p:spPr>
      </p:pic>
      <p:sp>
        <p:nvSpPr>
          <p:cNvPr id="8" name="TextBox 7"/>
          <p:cNvSpPr txBox="1"/>
          <p:nvPr/>
        </p:nvSpPr>
        <p:spPr>
          <a:xfrm>
            <a:off x="6648994" y="5891349"/>
            <a:ext cx="1941557" cy="338554"/>
          </a:xfrm>
          <a:prstGeom prst="rect">
            <a:avLst/>
          </a:prstGeom>
          <a:noFill/>
        </p:spPr>
        <p:txBody>
          <a:bodyPr wrap="none" rtlCol="0">
            <a:spAutoFit/>
          </a:bodyPr>
          <a:lstStyle/>
          <a:p>
            <a:r>
              <a:rPr lang="en-US" sz="1600" dirty="0">
                <a:latin typeface="Casper"/>
              </a:rPr>
              <a:t>Fig1.1Binary multiplication[1]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sper Bold"/>
              </a:rPr>
              <a:t>BINARY DIVISION</a:t>
            </a:r>
          </a:p>
        </p:txBody>
      </p:sp>
      <p:sp>
        <p:nvSpPr>
          <p:cNvPr id="3" name="Slide Number Placeholder 2"/>
          <p:cNvSpPr>
            <a:spLocks noGrp="1"/>
          </p:cNvSpPr>
          <p:nvPr>
            <p:ph type="sldNum" sz="quarter" idx="12"/>
          </p:nvPr>
        </p:nvSpPr>
        <p:spPr/>
        <p:txBody>
          <a:bodyPr/>
          <a:lstStyle/>
          <a:p>
            <a:fld id="{BDCDBBEF-AA6C-4BA6-85B2-A17D7F280E38}" type="slidenum">
              <a:rPr lang="en-US" smtClean="0"/>
              <a:pPr/>
              <a:t>10</a:t>
            </a:fld>
            <a:endParaRPr lang="en-US"/>
          </a:p>
        </p:txBody>
      </p:sp>
      <p:pic>
        <p:nvPicPr>
          <p:cNvPr id="62465" name="Picture 1"/>
          <p:cNvPicPr>
            <a:picLocks noChangeAspect="1" noChangeArrowheads="1"/>
          </p:cNvPicPr>
          <p:nvPr/>
        </p:nvPicPr>
        <p:blipFill>
          <a:blip r:embed="rId2"/>
          <a:srcRect/>
          <a:stretch>
            <a:fillRect/>
          </a:stretch>
        </p:blipFill>
        <p:spPr bwMode="auto">
          <a:xfrm>
            <a:off x="2181497" y="2185988"/>
            <a:ext cx="5809978" cy="2486025"/>
          </a:xfrm>
          <a:prstGeom prst="rect">
            <a:avLst/>
          </a:prstGeom>
          <a:noFill/>
          <a:ln w="9525">
            <a:noFill/>
            <a:miter lim="800000"/>
            <a:headEnd/>
            <a:tailEnd/>
          </a:ln>
          <a:effectLst/>
        </p:spPr>
      </p:pic>
      <p:sp>
        <p:nvSpPr>
          <p:cNvPr id="5" name="TextBox 4"/>
          <p:cNvSpPr txBox="1"/>
          <p:nvPr/>
        </p:nvSpPr>
        <p:spPr>
          <a:xfrm>
            <a:off x="2468880" y="5016137"/>
            <a:ext cx="1622560" cy="338554"/>
          </a:xfrm>
          <a:prstGeom prst="rect">
            <a:avLst/>
          </a:prstGeom>
          <a:noFill/>
        </p:spPr>
        <p:txBody>
          <a:bodyPr wrap="none" rtlCol="0">
            <a:spAutoFit/>
          </a:bodyPr>
          <a:lstStyle/>
          <a:p>
            <a:r>
              <a:rPr lang="en-US" sz="1600" dirty="0">
                <a:latin typeface="Casper"/>
              </a:rPr>
              <a:t>Fig1.2 binary division[2]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sper Bold"/>
              </a:rPr>
              <a:t>Binary Division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pic>
        <p:nvPicPr>
          <p:cNvPr id="66562" name="Picture 2"/>
          <p:cNvPicPr>
            <a:picLocks noGrp="1" noChangeAspect="1" noChangeArrowheads="1"/>
          </p:cNvPicPr>
          <p:nvPr>
            <p:ph idx="1"/>
          </p:nvPr>
        </p:nvPicPr>
        <p:blipFill>
          <a:blip r:embed="rId2"/>
          <a:srcRect l="18494" t="16284" r="10449" b="9866"/>
          <a:stretch>
            <a:fillRect/>
          </a:stretch>
        </p:blipFill>
        <p:spPr bwMode="auto">
          <a:xfrm>
            <a:off x="1789611" y="1841863"/>
            <a:ext cx="7289075" cy="4728754"/>
          </a:xfrm>
          <a:prstGeom prst="rect">
            <a:avLst/>
          </a:prstGeom>
          <a:noFill/>
          <a:ln w="9525">
            <a:noFill/>
            <a:miter lim="800000"/>
            <a:headEnd/>
            <a:tailEnd/>
          </a:ln>
          <a:effectLst/>
        </p:spPr>
      </p:pic>
      <p:sp>
        <p:nvSpPr>
          <p:cNvPr id="7" name="TextBox 6"/>
          <p:cNvSpPr txBox="1"/>
          <p:nvPr/>
        </p:nvSpPr>
        <p:spPr>
          <a:xfrm>
            <a:off x="1306286" y="5643154"/>
            <a:ext cx="1622560" cy="338554"/>
          </a:xfrm>
          <a:prstGeom prst="rect">
            <a:avLst/>
          </a:prstGeom>
          <a:noFill/>
        </p:spPr>
        <p:txBody>
          <a:bodyPr wrap="none" rtlCol="0">
            <a:spAutoFit/>
          </a:bodyPr>
          <a:lstStyle/>
          <a:p>
            <a:r>
              <a:rPr lang="en-US" sz="1600" dirty="0">
                <a:latin typeface="Casper"/>
              </a:rPr>
              <a:t>Fig1.3 binary division[2]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a:cs typeface="Times New Roman" pitchFamily="18" charset="0"/>
              </a:rPr>
              <a:t>APPLICATIONS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sper Bold"/>
              <a:cs typeface="Times New Roman" pitchFamily="18" charset="0"/>
            </a:endParaRPr>
          </a:p>
        </p:txBody>
      </p:sp>
      <p:sp>
        <p:nvSpPr>
          <p:cNvPr id="7" name="Text Box 4"/>
          <p:cNvSpPr txBox="1">
            <a:spLocks noChangeArrowheads="1"/>
          </p:cNvSpPr>
          <p:nvPr/>
        </p:nvSpPr>
        <p:spPr bwMode="auto">
          <a:xfrm>
            <a:off x="1750423" y="2142309"/>
            <a:ext cx="7102632" cy="2185191"/>
          </a:xfrm>
          <a:prstGeom prst="rect">
            <a:avLst/>
          </a:prstGeom>
          <a:noFill/>
          <a:ln w="9525">
            <a:noFill/>
            <a:miter lim="800000"/>
            <a:headEnd/>
            <a:tailEnd/>
          </a:ln>
        </p:spPr>
        <p:txBody>
          <a:bodyPr wrap="square" lIns="91418" tIns="45709" rIns="91418" bIns="45709">
            <a:spAutoFit/>
          </a:bodyPr>
          <a:lstStyle/>
          <a:p>
            <a:pPr defTabSz="820487">
              <a:spcBef>
                <a:spcPct val="50000"/>
              </a:spcBef>
              <a:buFont typeface="Arial" pitchFamily="34" charset="0"/>
              <a:buChar char="•"/>
            </a:pPr>
            <a:r>
              <a:rPr lang="en-GB" sz="1600" dirty="0">
                <a:solidFill>
                  <a:prstClr val="black"/>
                </a:solidFill>
                <a:latin typeface="Casper"/>
                <a:cs typeface="Times New Roman" pitchFamily="18" charset="0"/>
              </a:rPr>
              <a:t> Computers </a:t>
            </a:r>
          </a:p>
          <a:p>
            <a:pPr defTabSz="820487">
              <a:spcBef>
                <a:spcPct val="50000"/>
              </a:spcBef>
              <a:buFont typeface="Arial" pitchFamily="34" charset="0"/>
              <a:buChar char="•"/>
            </a:pPr>
            <a:r>
              <a:rPr lang="en-GB" sz="1600" dirty="0">
                <a:solidFill>
                  <a:prstClr val="black"/>
                </a:solidFill>
                <a:latin typeface="Casper"/>
                <a:cs typeface="Times New Roman" pitchFamily="18" charset="0"/>
              </a:rPr>
              <a:t>Calculators</a:t>
            </a:r>
          </a:p>
          <a:p>
            <a:pPr defTabSz="820487">
              <a:spcBef>
                <a:spcPct val="50000"/>
              </a:spcBef>
              <a:buFont typeface="Arial" pitchFamily="34" charset="0"/>
              <a:buChar char="•"/>
            </a:pPr>
            <a:r>
              <a:rPr lang="en-GB" sz="1600" dirty="0">
                <a:solidFill>
                  <a:prstClr val="black"/>
                </a:solidFill>
                <a:latin typeface="Casper"/>
                <a:cs typeface="Times New Roman" pitchFamily="18" charset="0"/>
              </a:rPr>
              <a:t> ATM </a:t>
            </a:r>
          </a:p>
          <a:p>
            <a:pPr defTabSz="820487">
              <a:spcBef>
                <a:spcPct val="50000"/>
              </a:spcBef>
              <a:buFont typeface="Arial" pitchFamily="34" charset="0"/>
              <a:buChar char="•"/>
            </a:pPr>
            <a:r>
              <a:rPr lang="en-GB" sz="1600" dirty="0">
                <a:solidFill>
                  <a:prstClr val="black"/>
                </a:solidFill>
                <a:latin typeface="Casper"/>
                <a:cs typeface="Times New Roman" pitchFamily="18" charset="0"/>
              </a:rPr>
              <a:t>Mobile Phone</a:t>
            </a:r>
          </a:p>
          <a:p>
            <a:pPr defTabSz="820487">
              <a:spcBef>
                <a:spcPct val="50000"/>
              </a:spcBef>
              <a:buFont typeface="Arial" pitchFamily="34" charset="0"/>
              <a:buChar char="•"/>
            </a:pPr>
            <a:r>
              <a:rPr lang="en-GB" sz="1600" dirty="0">
                <a:solidFill>
                  <a:prstClr val="black"/>
                </a:solidFill>
                <a:latin typeface="Casper"/>
                <a:cs typeface="Times New Roman" pitchFamily="18" charset="0"/>
              </a:rPr>
              <a:t>Integrated Circuits and so on......</a:t>
            </a:r>
          </a:p>
          <a:p>
            <a:pPr defTabSz="820487">
              <a:spcBef>
                <a:spcPct val="50000"/>
              </a:spcBef>
            </a:pPr>
            <a:endParaRPr lang="en-GB" sz="1600" dirty="0">
              <a:solidFill>
                <a:prstClr val="black"/>
              </a:solidFill>
              <a:latin typeface="Casper"/>
              <a:cs typeface="Times New Roman" pitchFamily="18" charset="0"/>
            </a:endParaRPr>
          </a:p>
        </p:txBody>
      </p:sp>
    </p:spTree>
    <p:extLst>
      <p:ext uri="{BB962C8B-B14F-4D97-AF65-F5344CB8AC3E}">
        <p14:creationId xmlns:p14="http://schemas.microsoft.com/office/powerpoint/2010/main" val="1495971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6191"/>
            <a:ext cx="10515600" cy="989468"/>
          </a:xfrm>
        </p:spPr>
        <p:txBody>
          <a:bodyPr/>
          <a:lstStyle/>
          <a:p>
            <a:pPr algn="ctr"/>
            <a:r>
              <a:rPr lang="en-US"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6" name="Rectangle 5"/>
          <p:cNvSpPr/>
          <p:nvPr/>
        </p:nvSpPr>
        <p:spPr>
          <a:xfrm>
            <a:off x="838200" y="273275"/>
            <a:ext cx="10515600" cy="77175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sper Bold"/>
              <a:cs typeface="Times New Roman" pitchFamily="18" charset="0"/>
            </a:endParaRPr>
          </a:p>
        </p:txBody>
      </p:sp>
      <p:sp>
        <p:nvSpPr>
          <p:cNvPr id="9" name="Rectangle 2"/>
          <p:cNvSpPr>
            <a:spLocks noGrp="1" noChangeArrowheads="1"/>
          </p:cNvSpPr>
          <p:nvPr>
            <p:ph idx="1"/>
          </p:nvPr>
        </p:nvSpPr>
        <p:spPr bwMode="auto">
          <a:xfrm>
            <a:off x="867228" y="1248229"/>
            <a:ext cx="10515600" cy="5388919"/>
          </a:xfrm>
          <a:prstGeom prst="rect">
            <a:avLst/>
          </a:prstGeom>
          <a:noFill/>
          <a:ln w="9525">
            <a:noFill/>
            <a:miter lim="800000"/>
            <a:headEnd/>
            <a:tailEnd/>
          </a:ln>
        </p:spPr>
        <p:txBody>
          <a:bodyPr wrap="square" lIns="82048" tIns="41025" rIns="82048" bIns="41025">
            <a:spAutoFit/>
          </a:bodyPr>
          <a:lstStyle/>
          <a:p>
            <a:pPr marL="342900" indent="-342900" defTabSz="820487">
              <a:buFont typeface="+mj-lt"/>
              <a:buAutoNum type="arabicPeriod"/>
            </a:pPr>
            <a:r>
              <a:rPr lang="en-US" sz="1600" dirty="0">
                <a:latin typeface="Casper"/>
                <a:hlinkClick r:id="rId2"/>
              </a:rPr>
              <a:t>https://www.google.com/search?q=binary+multiplication+examples&amp;oq=binary+multiplication+examples&amp;aqs=chrome..69i57j0l7.10302j0j4&amp;sourceid=</a:t>
            </a:r>
            <a:r>
              <a:rPr lang="en-US" sz="1600" dirty="0" err="1">
                <a:latin typeface="Casper"/>
                <a:hlinkClick r:id="rId2"/>
              </a:rPr>
              <a:t>chrome&amp;ie</a:t>
            </a:r>
            <a:r>
              <a:rPr lang="en-US" sz="1600" dirty="0">
                <a:latin typeface="Casper"/>
                <a:hlinkClick r:id="rId2"/>
              </a:rPr>
              <a:t>=UTF-8</a:t>
            </a:r>
            <a:endParaRPr lang="en-US" sz="1600" dirty="0">
              <a:latin typeface="Casper"/>
            </a:endParaRPr>
          </a:p>
          <a:p>
            <a:pPr marL="342900" indent="-342900" defTabSz="820487">
              <a:buFont typeface="+mj-lt"/>
              <a:buAutoNum type="arabicPeriod"/>
            </a:pPr>
            <a:r>
              <a:rPr lang="en-US" sz="1600" dirty="0">
                <a:latin typeface="Casper"/>
                <a:hlinkClick r:id="rId3"/>
              </a:rPr>
              <a:t>http://www.ipsgwalior.org/download/number%20system.pdf</a:t>
            </a:r>
            <a:endParaRPr lang="en-US" sz="1600" dirty="0">
              <a:solidFill>
                <a:schemeClr val="tx2"/>
              </a:solidFill>
              <a:latin typeface="Casper"/>
              <a:cs typeface="Times New Roman" pitchFamily="18" charset="0"/>
              <a:hlinkClick r:id="rId4"/>
            </a:endParaRPr>
          </a:p>
          <a:p>
            <a:pPr marL="342900" indent="-342900" defTabSz="820487">
              <a:buFont typeface="+mj-lt"/>
              <a:buAutoNum type="arabicPeriod"/>
            </a:pPr>
            <a:r>
              <a:rPr lang="en-US" sz="1600" dirty="0">
                <a:solidFill>
                  <a:schemeClr val="tx2"/>
                </a:solidFill>
                <a:latin typeface="Casper"/>
                <a:cs typeface="Times New Roman" pitchFamily="18" charset="0"/>
                <a:hlinkClick r:id="rId4"/>
              </a:rPr>
              <a:t>https://www.google.com/search?q=decimal+to+binary&amp;source=lnms&amp;tbm=isch&amp;sa=X&amp;ved=0ahUKEwi6nMvW5uHiAhVBXSsKHUgGC60Q_AUIECgB&amp;biw=1517&amp;bih=730#imgrc=cl-xz1ixddfv9M </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u="sng" dirty="0">
                <a:latin typeface="Casper"/>
                <a:hlinkClick r:id="rId5"/>
              </a:rPr>
              <a:t>www.cse.yorku.ca/~mack/1011/01.NumberSystems.ppt</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latin typeface="Casper"/>
                <a:cs typeface="Times New Roman" pitchFamily="18" charset="0"/>
                <a:hlinkClick r:id="rId6"/>
              </a:rPr>
              <a:t>https://www.google.com/search?q=binary+to+grey+conversion&amp;source=lnms&amp;tbm=isch&amp;sa=X&amp;ved=0ahUKEwjD6vrQi-PiAhVMSX0KHftLDngQ_AUIECgB&amp;biw=1366&amp;bih=657#imgrc=bkt5qsZlpTZ1sM</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solidFill>
                  <a:schemeClr val="tx2"/>
                </a:solidFill>
                <a:latin typeface="Casper"/>
                <a:cs typeface="Times New Roman" pitchFamily="18" charset="0"/>
                <a:hlinkClick r:id="rId7"/>
              </a:rPr>
              <a:t>http://www.geeksforgeeks.org/digital-electronics-logic-design-tutorials/</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solidFill>
                  <a:schemeClr val="tx2"/>
                </a:solidFill>
                <a:latin typeface="Casper"/>
                <a:cs typeface="Times New Roman" pitchFamily="18" charset="0"/>
                <a:hlinkClick r:id="rId6"/>
              </a:rPr>
              <a:t>https://www.google.com/search?q=binary+to+grey+conversion&amp;source=lnms&amp;tbm=isch&amp;sa=X&amp;ved=0ahUKEwjD6vrQi-PiAhVMSX0KHftLDngQ_AUIECgB&amp;biw=1366&amp;bih=657#imgrc=bkt5qsZlpTZ1sM</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solidFill>
                  <a:schemeClr val="tx2"/>
                </a:solidFill>
                <a:latin typeface="Casper"/>
                <a:cs typeface="Times New Roman" pitchFamily="18" charset="0"/>
                <a:hlinkClick r:id="rId8"/>
              </a:rPr>
              <a:t>http://www.ni.com/example/14493/en/</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solidFill>
                  <a:schemeClr val="tx2"/>
                </a:solidFill>
                <a:latin typeface="Casper"/>
                <a:cs typeface="Times New Roman" pitchFamily="18" charset="0"/>
                <a:hlinkClick r:id="rId9"/>
              </a:rPr>
              <a:t>https://www.tutorialspoint.com/digital_electronics/index.asp</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GB" sz="1600" dirty="0">
                <a:solidFill>
                  <a:schemeClr val="tx2"/>
                </a:solidFill>
                <a:latin typeface="Casper"/>
                <a:cs typeface="Times New Roman" pitchFamily="18" charset="0"/>
                <a:hlinkClick r:id="rId10"/>
              </a:rPr>
              <a:t>https://www.tutorialspoint.com/computer_logical_organization/complement_arithmetic.htm</a:t>
            </a:r>
            <a:endParaRPr lang="en-GB" sz="1600" dirty="0">
              <a:solidFill>
                <a:schemeClr val="tx2"/>
              </a:solidFill>
              <a:latin typeface="Casper"/>
              <a:cs typeface="Times New Roman" pitchFamily="18" charset="0"/>
            </a:endParaRPr>
          </a:p>
          <a:p>
            <a:pPr marL="342900" indent="-342900" defTabSz="820487">
              <a:buFont typeface="+mj-lt"/>
              <a:buAutoNum type="arabicPeriod"/>
            </a:pPr>
            <a:r>
              <a:rPr lang="en-US" sz="1600" dirty="0">
                <a:latin typeface="Casper"/>
                <a:ea typeface="Calibri" pitchFamily="34" charset="0"/>
                <a:cs typeface="Times New Roman" pitchFamily="18" charset="0"/>
              </a:rPr>
              <a:t>Floyd &amp; Jain, Digital Fundamentals, Pearson. </a:t>
            </a:r>
          </a:p>
          <a:p>
            <a:pPr marL="342900" indent="-342900" defTabSz="820487">
              <a:buFont typeface="+mj-lt"/>
              <a:buAutoNum type="arabicPeriod"/>
            </a:pPr>
            <a:r>
              <a:rPr lang="en-US" sz="1600" dirty="0" err="1">
                <a:latin typeface="Casper"/>
                <a:ea typeface="Calibri" pitchFamily="34" charset="0"/>
                <a:cs typeface="Times New Roman" pitchFamily="18" charset="0"/>
              </a:rPr>
              <a:t>Mano,Morris</a:t>
            </a:r>
            <a:r>
              <a:rPr lang="en-US" sz="1600" dirty="0">
                <a:latin typeface="Casper"/>
                <a:ea typeface="Calibri" pitchFamily="34" charset="0"/>
                <a:cs typeface="Times New Roman" pitchFamily="18" charset="0"/>
              </a:rPr>
              <a:t>, Digital Design, Prentice Hall of India.</a:t>
            </a:r>
          </a:p>
          <a:p>
            <a:pPr marL="342900" indent="-342900" defTabSz="820487">
              <a:buFont typeface="+mj-lt"/>
              <a:buAutoNum type="arabicPeriod"/>
            </a:pPr>
            <a:r>
              <a:rPr lang="en-US" sz="1600" dirty="0">
                <a:latin typeface="Casper"/>
                <a:ea typeface="Calibri" pitchFamily="34" charset="0"/>
                <a:cs typeface="Times New Roman" pitchFamily="18" charset="0"/>
              </a:rPr>
              <a:t>Fletcher,  An </a:t>
            </a:r>
            <a:r>
              <a:rPr lang="en-US" sz="1600" dirty="0" err="1">
                <a:latin typeface="Casper"/>
                <a:ea typeface="Calibri" pitchFamily="34" charset="0"/>
                <a:cs typeface="Times New Roman" pitchFamily="18" charset="0"/>
              </a:rPr>
              <a:t>Engg</a:t>
            </a:r>
            <a:r>
              <a:rPr lang="en-US" sz="1600" dirty="0">
                <a:latin typeface="Casper"/>
                <a:ea typeface="Calibri" pitchFamily="34" charset="0"/>
                <a:cs typeface="Times New Roman" pitchFamily="18" charset="0"/>
              </a:rPr>
              <a:t>. Approach to digital design, Prentice Hall of India.</a:t>
            </a:r>
          </a:p>
        </p:txBody>
      </p:sp>
    </p:spTree>
    <p:extLst>
      <p:ext uri="{BB962C8B-B14F-4D97-AF65-F5344CB8AC3E}">
        <p14:creationId xmlns:p14="http://schemas.microsoft.com/office/powerpoint/2010/main" val="3361918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pic>
        <p:nvPicPr>
          <p:cNvPr id="2050" name="Picture 2"/>
          <p:cNvPicPr>
            <a:picLocks noChangeAspect="1" noChangeArrowheads="1"/>
          </p:cNvPicPr>
          <p:nvPr/>
        </p:nvPicPr>
        <p:blipFill>
          <a:blip r:embed="rId2"/>
          <a:srcRect/>
          <a:stretch>
            <a:fillRect/>
          </a:stretch>
        </p:blipFill>
        <p:spPr bwMode="auto">
          <a:xfrm>
            <a:off x="0" y="3175"/>
            <a:ext cx="12192000" cy="68580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1251</TotalTime>
  <Words>666</Words>
  <Application>Microsoft Office PowerPoint</Application>
  <PresentationFormat>Widescreen</PresentationFormat>
  <Paragraphs>193</Paragraphs>
  <Slides>14</Slides>
  <Notes>1</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30" baseType="lpstr">
      <vt:lpstr>Arial</vt:lpstr>
      <vt:lpstr>Arial Black</vt:lpstr>
      <vt:lpstr>Arial Unicode MS</vt:lpstr>
      <vt:lpstr>Calibri</vt:lpstr>
      <vt:lpstr>Calibri Light</vt:lpstr>
      <vt:lpstr>Casper</vt:lpstr>
      <vt:lpstr>Casper Bold</vt:lpstr>
      <vt:lpstr>Karla</vt:lpstr>
      <vt:lpstr>King</vt:lpstr>
      <vt:lpstr>Raavi</vt:lpstr>
      <vt:lpstr>Raleway ExtraBold</vt:lpstr>
      <vt:lpstr>Times New Roman</vt:lpstr>
      <vt:lpstr>Wingdings</vt:lpstr>
      <vt:lpstr>1_Office Theme</vt:lpstr>
      <vt:lpstr>Contents Slide Master</vt:lpstr>
      <vt:lpstr>CorelDRAW</vt:lpstr>
      <vt:lpstr>PowerPoint Presentation</vt:lpstr>
      <vt:lpstr>Lecture Objectives</vt:lpstr>
      <vt:lpstr>Course Objectives</vt:lpstr>
      <vt:lpstr>Course Outcomes</vt:lpstr>
      <vt:lpstr>BINARY ARITHMATIC </vt:lpstr>
      <vt:lpstr>BINARY ARITMATIC </vt:lpstr>
      <vt:lpstr>                BINARY ADDITION </vt:lpstr>
      <vt:lpstr>Rules of  Binary Subtraction</vt:lpstr>
      <vt:lpstr>BINARY MULTIPLICATION</vt:lpstr>
      <vt:lpstr>BINARY DIVISION</vt:lpstr>
      <vt:lpstr>Binary Division</vt:lpstr>
      <vt:lpstr>APPLICATIONS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INDIAN</cp:lastModifiedBy>
  <cp:revision>179</cp:revision>
  <dcterms:created xsi:type="dcterms:W3CDTF">2019-01-09T10:33:58Z</dcterms:created>
  <dcterms:modified xsi:type="dcterms:W3CDTF">2023-06-20T09:47:50Z</dcterms:modified>
</cp:coreProperties>
</file>