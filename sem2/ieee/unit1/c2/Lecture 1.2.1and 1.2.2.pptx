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6"/>
  </p:notesMasterIdLst>
  <p:sldIdLst>
    <p:sldId id="396" r:id="rId3"/>
    <p:sldId id="417" r:id="rId4"/>
    <p:sldId id="418" r:id="rId5"/>
    <p:sldId id="419" r:id="rId6"/>
    <p:sldId id="420" r:id="rId7"/>
    <p:sldId id="357" r:id="rId8"/>
    <p:sldId id="366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04" r:id="rId18"/>
    <p:sldId id="377" r:id="rId19"/>
    <p:sldId id="405" r:id="rId20"/>
    <p:sldId id="414" r:id="rId21"/>
    <p:sldId id="415" r:id="rId22"/>
    <p:sldId id="416" r:id="rId23"/>
    <p:sldId id="367" r:id="rId24"/>
    <p:sldId id="33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rsha sandhu" initials="vs" lastIdx="8" clrIdx="0">
    <p:extLst>
      <p:ext uri="{19B8F6BF-5375-455C-9EA6-DF929625EA0E}">
        <p15:presenceInfo xmlns:p15="http://schemas.microsoft.com/office/powerpoint/2012/main" userId="9683cf085cdb1a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59" autoAdjust="0"/>
    <p:restoredTop sz="96057" autoAdjust="0"/>
  </p:normalViewPr>
  <p:slideViewPr>
    <p:cSldViewPr snapToGrid="0">
      <p:cViewPr varScale="1">
        <p:scale>
          <a:sx n="69" d="100"/>
          <a:sy n="69" d="100"/>
        </p:scale>
        <p:origin x="900" y="7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7D0A8-36BF-4229-A711-E0B862E22A6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9C648-44DB-4C60-B1DF-42A02E5B93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91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3AB8-81E4-453F-ACC3-B5918E47C527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8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775A-3F74-4F60-A5D1-3B439A17A366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5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2131-5BA3-48A9-9A01-C3C69F30B4ED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08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83B9-2C97-4195-AFDF-051669252A55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4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BC874-CEB7-41B2-965E-8624DD849024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78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ADA5-683A-4AE0-AC24-6B4F4C8135EC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40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75B5-3690-4EDD-B63F-5BF47D3618BF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5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C2888-5B9B-424A-B271-199A7CA47580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5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44F2-0A93-4E5D-A36C-D731CC0DA3F0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15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2A8-446D-4C3A-A8D2-67EE087D46ED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97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0A4-80F0-4287-891B-BF956EA62212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093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0529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254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4392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619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2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901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256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3100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694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4650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726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35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9470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8139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20465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7855-7E87-4B11-BBE3-2599F030E103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27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71A4C-895C-4C7D-BCF0-CC6A45C8F28D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2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9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22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n.pinterest.com/pin/240661173823316229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hyperlink" Target="https://circuitglobe.com/what-is-rl-series-circuit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l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l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c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c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c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20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lc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c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hat-is-rc-series-circuit.html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aboutcircuits.com/textbook/alternating-current/chpt-4/series-resistor-capacitor-circuits/" TargetMode="External"/><Relationship Id="rId2" Type="http://schemas.openxmlformats.org/officeDocument/2006/relationships/hyperlink" Target="https://www.electrical4u.com/rl-series-circui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ctronics-tutorials.ws/accircuits/ac-capacitance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281237"/>
            <a:ext cx="9832638" cy="710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UNIT-1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to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Chapter-2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DC &amp; AC Circuit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1.2.1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6893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65859"/>
              </p:ext>
            </p:extLst>
          </p:nvPr>
        </p:nvGraphicFramePr>
        <p:xfrm>
          <a:off x="282009" y="2226080"/>
          <a:ext cx="6536802" cy="3968322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 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Objectives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make student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aware about analysis of series RL circuit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analysis of series RC circuit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provide knowledge about 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analysis of series RLC circuit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make familiar with importance of power factor in series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RL, RC and RLC circuit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give brief knowledge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1200" b="0" i="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phasor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diagram of series RL, RC and RLC circuit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496288"/>
              </p:ext>
            </p:extLst>
          </p:nvPr>
        </p:nvGraphicFramePr>
        <p:xfrm>
          <a:off x="304800" y="2246809"/>
          <a:ext cx="6400800" cy="3835335"/>
        </p:xfrm>
        <a:graphic>
          <a:graphicData uri="http://schemas.openxmlformats.org/drawingml/2006/table">
            <a:tbl>
              <a:tblPr firstRow="1" firstCol="1" bandRow="1"/>
              <a:tblGrid>
                <a:gridCol w="545234">
                  <a:extLst>
                    <a:ext uri="{9D8B030D-6E8A-4147-A177-3AD203B41FA5}">
                      <a16:colId xmlns:a16="http://schemas.microsoft.com/office/drawing/2014/main" val="799819596"/>
                    </a:ext>
                  </a:extLst>
                </a:gridCol>
                <a:gridCol w="5855566">
                  <a:extLst>
                    <a:ext uri="{9D8B030D-6E8A-4147-A177-3AD203B41FA5}">
                      <a16:colId xmlns:a16="http://schemas.microsoft.com/office/drawing/2014/main" val="344515585"/>
                    </a:ext>
                  </a:extLst>
                </a:gridCol>
              </a:tblGrid>
              <a:tr h="704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675856"/>
                  </a:ext>
                </a:extLst>
              </a:tr>
              <a:tr h="1043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30464"/>
                  </a:ext>
                </a:extLst>
              </a:tr>
              <a:tr h="20872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10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439990" y="5408024"/>
            <a:ext cx="4915398" cy="51834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 smtClean="0">
                <a:hlinkClick r:id="rId2"/>
              </a:rPr>
              <a:t>https://in.pinterest.com/pin/240661173823316229/</a:t>
            </a:r>
            <a:endParaRPr lang="en-US" sz="2000" dirty="0"/>
          </a:p>
        </p:txBody>
      </p:sp>
      <p:pic>
        <p:nvPicPr>
          <p:cNvPr id="2447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7197" y="1188723"/>
            <a:ext cx="4808897" cy="4023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11831"/>
              </p:ext>
            </p:extLst>
          </p:nvPr>
        </p:nvGraphicFramePr>
        <p:xfrm>
          <a:off x="166255" y="2355273"/>
          <a:ext cx="5902035" cy="4268851"/>
        </p:xfrm>
        <a:graphic>
          <a:graphicData uri="http://schemas.openxmlformats.org/drawingml/2006/table">
            <a:tbl>
              <a:tblPr firstRow="1" firstCol="1" bandRow="1"/>
              <a:tblGrid>
                <a:gridCol w="491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2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14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14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4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14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64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534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cs typeface="Times New Roman" pitchFamily="18" charset="0"/>
              </a:rPr>
              <a:t>Importance of Basic Electrical &amp; Electronics Engineering   </a:t>
            </a:r>
            <a:endParaRPr lang="en-US" b="1" dirty="0"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Use from home appliances to industrial plants. 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Usage in communication and satellite navigation system.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Handles in electronics equipment and computers.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Deals with the problem of power transmission and motor control.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Control and monitor the medical appliances in hospitals.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High voltage applications with heavy current.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Robotics applications.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Product designing and development.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59380-2599-47D6-84E6-1897505A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2DBD6-605E-4576-B6AA-DA39552DD19F}"/>
              </a:ext>
            </a:extLst>
          </p:cNvPr>
          <p:cNvSpPr/>
          <p:nvPr/>
        </p:nvSpPr>
        <p:spPr>
          <a:xfrm>
            <a:off x="477673" y="1584362"/>
            <a:ext cx="9444249" cy="47089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b="1" u="sng" dirty="0" smtClean="0">
                <a:latin typeface="Times New Roman" pitchFamily="18" charset="0"/>
                <a:cs typeface="Times New Roman" pitchFamily="18" charset="0"/>
              </a:rPr>
              <a:t>DC and AC Circuits: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Analysis of RL Circuit(Phasor Diagram , Impedance, Power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Current in RL Circuit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lvl="0" indent="-514350">
              <a:lnSpc>
                <a:spcPct val="150000"/>
              </a:lnSpc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Analysis of RC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Circuit(Phasor Diagram , Impedance,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Power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and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Current in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lvl="0" indent="-514350">
              <a:lnSpc>
                <a:spcPct val="150000"/>
              </a:lnSpc>
              <a:buAutoNum type="arabicPeriod" startAt="3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Analysis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RLC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Circuit(Phasor Diagram 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Impedance and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Power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RLC Circuit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21080" y="238823"/>
            <a:ext cx="87234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238823"/>
            <a:ext cx="9083722" cy="9212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6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9"/>
    </mc:Choice>
    <mc:Fallback xmlns="">
      <p:transition spd="slow" advTm="6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Series RL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5660" y="1126720"/>
            <a:ext cx="6182435" cy="5483552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Series RL Circuit, resistor and inductor are connected in series, so current flowing through both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elements is same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</a:t>
            </a:r>
            <a:r>
              <a:rPr lang="en-US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are using ac voltage V =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Vm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sin</a:t>
            </a:r>
            <a:r>
              <a:rPr lang="el-GR" sz="2800" dirty="0" smtClean="0">
                <a:latin typeface="Calibri"/>
                <a:ea typeface="Calibri" panose="020F0502020204030204" pitchFamily="34" charset="0"/>
                <a:cs typeface="Calibri"/>
              </a:rPr>
              <a:t>ω</a:t>
            </a:r>
            <a:r>
              <a:rPr lang="en-US" sz="2800" dirty="0" smtClean="0">
                <a:latin typeface="Calibri"/>
                <a:ea typeface="Calibri" panose="020F0502020204030204" pitchFamily="34" charset="0"/>
                <a:cs typeface="Calibri"/>
              </a:rPr>
              <a:t>t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 – voltage across the resistor R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L</a:t>
            </a:r>
            <a:r>
              <a:rPr lang="en-US" sz="2800" dirty="0" smtClean="0"/>
              <a:t> – voltage across the inductor L</a:t>
            </a:r>
          </a:p>
          <a:p>
            <a:pPr algn="just"/>
            <a:r>
              <a:rPr lang="en-US" sz="2800" dirty="0" smtClean="0"/>
              <a:t>V – Total voltage of the circuit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902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2725" y="1143783"/>
            <a:ext cx="4276725" cy="3724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523629" y="5595583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4"/>
              </a:rPr>
              <a:t>https://circuitglobe.com/what-is-rl-series-circuit.html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779224" y="5036024"/>
            <a:ext cx="212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Fig.1 series RL circuit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Phasor</a:t>
            </a:r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 Diagram of Series RL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51" y="1501311"/>
            <a:ext cx="6182435" cy="109651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phasor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we can write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8221" y="5540992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https://circuitglobe.com/what-is-rl-series-circuit.html</a:t>
            </a:r>
            <a:endParaRPr lang="en-US" dirty="0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3313" y="1396797"/>
            <a:ext cx="4181689" cy="34382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2100" name="Picture 4" descr="RL-SERIES-CKT-EQ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2994" y="2194444"/>
            <a:ext cx="5041971" cy="2200133"/>
          </a:xfrm>
          <a:prstGeom prst="rect">
            <a:avLst/>
          </a:prstGeom>
          <a:noFill/>
        </p:spPr>
      </p:pic>
      <p:pic>
        <p:nvPicPr>
          <p:cNvPr id="132102" name="Picture 6" descr="RL-SERIES-CKT-EQ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42699" y="4577613"/>
            <a:ext cx="2043942" cy="799805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478973" y="5049672"/>
            <a:ext cx="3887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Fig.2 </a:t>
            </a:r>
            <a:r>
              <a:rPr lang="en-US" dirty="0" err="1" smtClean="0"/>
              <a:t>Phasor</a:t>
            </a:r>
            <a:r>
              <a:rPr lang="en-US" dirty="0" smtClean="0"/>
              <a:t> diagram of series RL circuit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36275" y="2333768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……….(1)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3250442" y="2909249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………………………….….(2)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295098" y="3673522"/>
            <a:ext cx="449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………………………………….…….(3)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Phasor</a:t>
            </a:r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 Diagram of Series RL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51" y="1019834"/>
            <a:ext cx="6182435" cy="157799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phasor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we can write phase angle such as: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4573" y="5500048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https://circuitglobe.com/what-is-rl-series-circuit.html</a:t>
            </a:r>
            <a:endParaRPr lang="en-US" dirty="0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3313" y="1396797"/>
            <a:ext cx="4181689" cy="34382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3122" name="Picture 2" descr="RL-SERIES-CKT-EQ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61294" y="2045957"/>
            <a:ext cx="2956115" cy="194766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450377" y="3821373"/>
            <a:ext cx="5059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Power Factor of the circuit will be</a:t>
            </a:r>
            <a:endParaRPr lang="en-US" sz="2800" dirty="0"/>
          </a:p>
        </p:txBody>
      </p: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96026" y="4310559"/>
            <a:ext cx="3683733" cy="1285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4708478" y="2279177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……………..(4)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3275463" y="3275463"/>
            <a:ext cx="3409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…………………………….(5)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478973" y="5049672"/>
            <a:ext cx="455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Contd. Fig.2 </a:t>
            </a:r>
            <a:r>
              <a:rPr lang="en-US" dirty="0" err="1" smtClean="0"/>
              <a:t>Phasor</a:t>
            </a:r>
            <a:r>
              <a:rPr lang="en-US" dirty="0" smtClean="0"/>
              <a:t> diagram of series RL circuit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Series RC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5660" y="1126720"/>
            <a:ext cx="6182435" cy="5483552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Series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RC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Circuit, resistor and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capacitor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connected in series, so current flowing through both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elements is same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lang="en-US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</a:t>
            </a:r>
            <a:r>
              <a:rPr lang="en-US" sz="2800" baseline="-25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are using ac voltage V =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Vm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sin</a:t>
            </a:r>
            <a:r>
              <a:rPr lang="el-GR" sz="2800" dirty="0" smtClean="0">
                <a:latin typeface="Calibri"/>
                <a:ea typeface="Calibri" panose="020F0502020204030204" pitchFamily="34" charset="0"/>
                <a:cs typeface="Calibri"/>
              </a:rPr>
              <a:t>ω</a:t>
            </a:r>
            <a:r>
              <a:rPr lang="en-US" sz="2800" dirty="0" smtClean="0">
                <a:latin typeface="Calibri"/>
                <a:ea typeface="Calibri" panose="020F0502020204030204" pitchFamily="34" charset="0"/>
                <a:cs typeface="Calibri"/>
              </a:rPr>
              <a:t>t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 – voltage across the resistor R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C</a:t>
            </a:r>
            <a:r>
              <a:rPr lang="en-US" sz="2800" dirty="0" smtClean="0"/>
              <a:t> – voltage across the capacitance C</a:t>
            </a:r>
          </a:p>
          <a:p>
            <a:pPr algn="just"/>
            <a:r>
              <a:rPr lang="en-US" sz="2800" dirty="0" smtClean="0"/>
              <a:t>V – Total voltage of the circuit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7278" y="5527344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https://circuitglobe.com/what-is-rc-series-circuit.html</a:t>
            </a:r>
            <a:endParaRPr lang="en-US" dirty="0"/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87654" y="1255596"/>
            <a:ext cx="4012798" cy="35356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833815" y="4967786"/>
            <a:ext cx="216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Fig.3 Series RC circuit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Phasor</a:t>
            </a:r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 Diagram of Series RC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51" y="1501311"/>
            <a:ext cx="6182435" cy="109651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phasor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we can write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7278" y="5568287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https://circuitglobe.com/what-is-rc-series-circuit.html</a:t>
            </a:r>
            <a:endParaRPr lang="en-US" dirty="0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92370" y="1582681"/>
            <a:ext cx="4163634" cy="3148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5172" name="Picture 4" descr="RC-SERIES-CKT-EQ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4881" y="2128978"/>
            <a:ext cx="4513913" cy="2524907"/>
          </a:xfrm>
          <a:prstGeom prst="rect">
            <a:avLst/>
          </a:prstGeom>
          <a:noFill/>
        </p:spPr>
      </p:pic>
      <p:pic>
        <p:nvPicPr>
          <p:cNvPr id="135174" name="Picture 6" descr="RC-SERIES-CKT-EQ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9724" y="4902909"/>
            <a:ext cx="1953393" cy="924683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738280" y="4817660"/>
            <a:ext cx="3503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Fig.4 </a:t>
            </a:r>
            <a:r>
              <a:rPr lang="en-US" dirty="0" err="1" smtClean="0"/>
              <a:t>Phasor</a:t>
            </a:r>
            <a:r>
              <a:rPr lang="en-US" dirty="0" smtClean="0"/>
              <a:t> dig. of Series RC circuit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54137" y="2251881"/>
            <a:ext cx="1670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………….(1)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3195851" y="2963840"/>
            <a:ext cx="3409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…………………………….(2)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3086669" y="3891887"/>
            <a:ext cx="3501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…………………….……….(3)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827361" y="5215720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………………………….…….(4)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Phasor</a:t>
            </a:r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 Diagram of Series RC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51" y="1033482"/>
            <a:ext cx="6182435" cy="157799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phasor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we can write phase angle.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09982" y="5513696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https://circuitglobe.com/what-is-rc-series-circuit.html</a:t>
            </a:r>
            <a:endParaRPr lang="en-US" dirty="0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92370" y="1268783"/>
            <a:ext cx="4163634" cy="3148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6194" name="Picture 2" descr="RC-SERIES-CKT-EQ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1360" y="2229726"/>
            <a:ext cx="3447434" cy="1666434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450377" y="3821373"/>
            <a:ext cx="5059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Power Factor of the circuit will be</a:t>
            </a:r>
            <a:endParaRPr lang="en-US" sz="2800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3763" y="4392445"/>
            <a:ext cx="3683733" cy="1285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796585" y="4640239"/>
            <a:ext cx="442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Contd. As Fig.4 </a:t>
            </a:r>
            <a:r>
              <a:rPr lang="en-US" dirty="0" err="1" smtClean="0"/>
              <a:t>Phasor</a:t>
            </a:r>
            <a:r>
              <a:rPr lang="en-US" dirty="0" smtClean="0"/>
              <a:t> dig. of Series RC circuit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5147" y="2361063"/>
            <a:ext cx="2324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…………………(1)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445225" y="3154908"/>
            <a:ext cx="3815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…………………………………(2)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Series RLC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7421" y="1187151"/>
            <a:ext cx="6182435" cy="591444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Series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RLC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Circuit,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resistor, inductor and capacitor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connected in series, so current flowing through both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elements is same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lang="en-US" sz="2800" baseline="-25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I</a:t>
            </a:r>
            <a:r>
              <a:rPr lang="en-US" sz="2800" baseline="-25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I</a:t>
            </a:r>
            <a:r>
              <a:rPr lang="en-US" sz="2800" baseline="-25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I.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are using ac voltage V =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Vm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sin</a:t>
            </a:r>
            <a:r>
              <a:rPr lang="el-GR" sz="2800" dirty="0" smtClean="0">
                <a:latin typeface="Calibri"/>
                <a:ea typeface="Calibri" panose="020F0502020204030204" pitchFamily="34" charset="0"/>
                <a:cs typeface="Calibri"/>
              </a:rPr>
              <a:t>ω</a:t>
            </a:r>
            <a:r>
              <a:rPr lang="en-US" sz="2800" dirty="0" smtClean="0">
                <a:latin typeface="Calibri"/>
                <a:ea typeface="Calibri" panose="020F0502020204030204" pitchFamily="34" charset="0"/>
                <a:cs typeface="Calibri"/>
              </a:rPr>
              <a:t>t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 – voltage across the resistor R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L</a:t>
            </a:r>
            <a:r>
              <a:rPr lang="en-US" sz="2800" dirty="0" smtClean="0"/>
              <a:t> – voltage across the inductance L</a:t>
            </a:r>
          </a:p>
          <a:p>
            <a:pPr algn="just"/>
            <a:r>
              <a:rPr lang="en-US" sz="2800" dirty="0" smtClean="0"/>
              <a:t>V</a:t>
            </a:r>
            <a:r>
              <a:rPr lang="en-US" sz="2800" baseline="-25000" dirty="0" smtClean="0"/>
              <a:t>C</a:t>
            </a:r>
            <a:r>
              <a:rPr lang="en-US" sz="2800" dirty="0" smtClean="0"/>
              <a:t> – voltage across the capacitance C</a:t>
            </a:r>
          </a:p>
          <a:p>
            <a:pPr algn="just"/>
            <a:r>
              <a:rPr lang="en-US" sz="2800" dirty="0" smtClean="0"/>
              <a:t>V – Total voltage of the circuit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69038" y="5595583"/>
            <a:ext cx="5290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https://circuitglobe.com/what-is-rlc-series-circuit.html</a:t>
            </a:r>
            <a:endParaRPr lang="en-US" dirty="0"/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4698" y="1246431"/>
            <a:ext cx="4967999" cy="34181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8011236" y="4831308"/>
            <a:ext cx="22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Fig.5 Series RLC circuit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Phasor</a:t>
            </a:r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 Diagram of Series RLC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51" y="1501311"/>
            <a:ext cx="6182435" cy="109651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phasor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we can write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05516" y="5786651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https://circuitglobe.com/what-is-rc-series-circuit.html</a:t>
            </a:r>
            <a:endParaRPr lang="en-US" dirty="0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83688" y="1231514"/>
            <a:ext cx="4062555" cy="3681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8244" name="Picture 4" descr="RLC-SERIES-CKT-EQ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8405" y="2105190"/>
            <a:ext cx="5981700" cy="2247901"/>
          </a:xfrm>
          <a:prstGeom prst="rect">
            <a:avLst/>
          </a:prstGeom>
          <a:noFill/>
        </p:spPr>
      </p:pic>
      <p:pic>
        <p:nvPicPr>
          <p:cNvPr id="138246" name="Picture 6" descr="RLC-SERIES-CKT-EQ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4883" y="4782332"/>
            <a:ext cx="3443446" cy="799603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315200" y="4967785"/>
            <a:ext cx="358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Fig.6 </a:t>
            </a:r>
            <a:r>
              <a:rPr lang="en-US" dirty="0" err="1" smtClean="0"/>
              <a:t>Phasor</a:t>
            </a:r>
            <a:r>
              <a:rPr lang="en-US" dirty="0" smtClean="0"/>
              <a:t> dig. of series RLC circuit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96084" y="2183642"/>
            <a:ext cx="1016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…..(1)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3605284" y="2759123"/>
            <a:ext cx="3684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………………………….…..(2)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3648501" y="3716741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………………………….…..(3)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800901" y="4838132"/>
            <a:ext cx="3344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…………………………...(4)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1" y="188775"/>
            <a:ext cx="98853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Phasor</a:t>
            </a:r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 Diagram of Series RLC Circuit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251" y="1019834"/>
            <a:ext cx="6182435" cy="157799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 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phasor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we can write phase angle such as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0925" y="5677469"/>
            <a:ext cx="519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https://circuitglobe.com/what-is-rc-series-circuit.html</a:t>
            </a:r>
            <a:endParaRPr lang="en-US" dirty="0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28596" y="1176923"/>
            <a:ext cx="4062555" cy="3681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9266" name="Picture 2" descr="RLC-SERIES-CKT-EQ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2429" y="2163098"/>
            <a:ext cx="3798168" cy="1630979"/>
          </a:xfrm>
          <a:prstGeom prst="rect">
            <a:avLst/>
          </a:prstGeom>
          <a:noFill/>
        </p:spPr>
      </p:pic>
      <p:pic>
        <p:nvPicPr>
          <p:cNvPr id="139268" name="Picture 4" descr="RLC-SERIES-CKT-EQ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93808" y="4884192"/>
            <a:ext cx="2205478" cy="86151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77922" y="4176215"/>
            <a:ext cx="3973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Power factor of the circuit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51677" y="5008728"/>
            <a:ext cx="363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7 </a:t>
            </a:r>
            <a:r>
              <a:rPr lang="en-US" dirty="0" err="1" smtClean="0"/>
              <a:t>Phasor</a:t>
            </a:r>
            <a:r>
              <a:rPr lang="en-US" dirty="0" smtClean="0"/>
              <a:t> dig. of series RLC circuit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544704" y="2279176"/>
            <a:ext cx="1579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…………(1)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182202" y="3154908"/>
            <a:ext cx="2912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………………….……(2)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cs typeface="Times New Roman" panose="02020603050405020304" pitchFamily="18" charset="0"/>
              </a:rPr>
              <a:t>Summary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603558"/>
            <a:ext cx="10515600" cy="165825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Series RL Circuit.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series RL circuit.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Series RC Circuit.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series RC circuit.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Series RLC Circuit.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series RLC circuit.</a:t>
            </a:r>
          </a:p>
          <a:p>
            <a:pPr>
              <a:buFont typeface="Wingdings" pitchFamily="2" charset="2"/>
              <a:buChar char="ü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3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815152" y="221818"/>
            <a:ext cx="84479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Frequently Asked Questions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6287" y="1596787"/>
            <a:ext cx="87914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46411" y="908054"/>
            <a:ext cx="10153935" cy="5629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Q1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. In a series R-L circuit, V</a:t>
            </a:r>
            <a:r>
              <a:rPr lang="en-IN" sz="2800" baseline="-25000" dirty="0">
                <a:latin typeface="Times New Roman" panose="02020603050405020304" pitchFamily="18" charset="0"/>
                <a:ea typeface="Droid Sans Fallback"/>
                <a:cs typeface="FreeSans"/>
              </a:rPr>
              <a:t>L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……...V</a:t>
            </a:r>
            <a:r>
              <a:rPr lang="en-IN" sz="2800" baseline="-25000" dirty="0">
                <a:latin typeface="Times New Roman" panose="02020603050405020304" pitchFamily="18" charset="0"/>
                <a:ea typeface="Droid Sans Fallback"/>
                <a:cs typeface="FreeSans"/>
              </a:rPr>
              <a:t>R </a:t>
            </a:r>
            <a:r>
              <a:rPr lang="en-IN" sz="2800" dirty="0">
                <a:latin typeface="Times New Roman" panose="02020603050405020304" pitchFamily="18" charset="0"/>
                <a:ea typeface="Droid Sans Fallback"/>
                <a:cs typeface="FreeSans"/>
              </a:rPr>
              <a:t>by………degrees.</a:t>
            </a:r>
            <a:r>
              <a:rPr lang="en-IN" sz="2800" baseline="-25000" dirty="0">
                <a:latin typeface="Times New Roman" panose="02020603050405020304" pitchFamily="18" charset="0"/>
                <a:ea typeface="Droid Sans Fallback"/>
                <a:cs typeface="FreeSans"/>
              </a:rPr>
              <a:t> 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>
              <a:spcAft>
                <a:spcPts val="700"/>
              </a:spcAft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A. leads, 90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>
              <a:spcAft>
                <a:spcPts val="700"/>
              </a:spcAft>
              <a:tabLst>
                <a:tab pos="1038225" algn="l"/>
              </a:tabLst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B. lags, 90</a:t>
            </a:r>
            <a:r>
              <a:rPr lang="en-IN" sz="2800" kern="50" baseline="-25000" dirty="0">
                <a:latin typeface="Times New Roman" panose="02020603050405020304" pitchFamily="18" charset="0"/>
                <a:ea typeface="Droid Sans Fallback"/>
                <a:cs typeface="FreeSans"/>
              </a:rPr>
              <a:t>	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>
              <a:spcAft>
                <a:spcPts val="700"/>
              </a:spcAft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C. leads, 45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>
              <a:spcAft>
                <a:spcPts val="700"/>
              </a:spcAft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D.</a:t>
            </a:r>
            <a:r>
              <a:rPr lang="en-IN" sz="2800" b="1" kern="50" dirty="0">
                <a:latin typeface="Times New Roman" panose="02020603050405020304" pitchFamily="18" charset="0"/>
                <a:ea typeface="Droid Sans Fallback"/>
                <a:cs typeface="FreeSans"/>
              </a:rPr>
              <a:t> </a:t>
            </a: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lags,45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</a:t>
            </a: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Q2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. Voltage applied across R-L circuit is equal to ………………of </a:t>
            </a: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   V</a:t>
            </a:r>
            <a:r>
              <a:rPr lang="en-IN" sz="2800" baseline="-2500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R</a:t>
            </a: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 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and V</a:t>
            </a:r>
            <a:r>
              <a:rPr lang="en-IN" sz="2800" baseline="-25000" dirty="0">
                <a:latin typeface="Times New Roman" panose="02020603050405020304" pitchFamily="18" charset="0"/>
                <a:ea typeface="Droid Sans Fallback"/>
                <a:cs typeface="FreeSans"/>
              </a:rPr>
              <a:t>L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.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A. Arithmetic Sum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B. Algebraic Sum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C. </a:t>
            </a:r>
            <a:r>
              <a:rPr lang="en-IN" sz="2800" kern="50" dirty="0" err="1">
                <a:latin typeface="Times New Roman" panose="02020603050405020304" pitchFamily="18" charset="0"/>
                <a:ea typeface="Droid Sans Fallback"/>
                <a:cs typeface="FreeSans"/>
              </a:rPr>
              <a:t>Phasor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Sum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 D. Sum of the squares</a:t>
            </a:r>
            <a:endParaRPr lang="en-US" sz="2800" kern="50" dirty="0"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18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4"/>
    </mc:Choice>
    <mc:Fallback xmlns="">
      <p:transition spd="slow" advTm="1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815152" y="221818"/>
            <a:ext cx="84479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Frequently Asked Questions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6287" y="1596787"/>
            <a:ext cx="87914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6413" y="1159973"/>
            <a:ext cx="9689910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Q3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. Power factor of an AC circuit is 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 marL="342900" marR="0" lvl="0" indent="-342900">
              <a:spcBef>
                <a:spcPts val="0"/>
              </a:spcBef>
              <a:spcAft>
                <a:spcPts val="700"/>
              </a:spcAft>
              <a:buFont typeface="+mj-lt"/>
              <a:buAutoNum type="alphaUcPeriod"/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0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 marL="342900" marR="0" lvl="0" indent="-342900">
              <a:spcBef>
                <a:spcPts val="0"/>
              </a:spcBef>
              <a:spcAft>
                <a:spcPts val="700"/>
              </a:spcAft>
              <a:buFont typeface="+mj-lt"/>
              <a:buAutoNum type="alphaUcPeriod"/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1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 marL="342900" marR="0" lvl="0" indent="-342900">
              <a:spcBef>
                <a:spcPts val="0"/>
              </a:spcBef>
              <a:spcAft>
                <a:spcPts val="700"/>
              </a:spcAft>
              <a:buFont typeface="+mj-lt"/>
              <a:buAutoNum type="alphaUcPeriod"/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Between 0 and 1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 marL="342900" marR="0" lvl="0" indent="-342900">
              <a:spcBef>
                <a:spcPts val="0"/>
              </a:spcBef>
              <a:spcAft>
                <a:spcPts val="700"/>
              </a:spcAft>
              <a:buFont typeface="+mj-lt"/>
              <a:buAutoNum type="alphaUcPeriod"/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Between 0 and -1</a:t>
            </a:r>
            <a:endParaRPr lang="en-US" sz="2800" kern="50" dirty="0"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6413" y="3598177"/>
            <a:ext cx="10413241" cy="3553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" marR="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Q4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. A capacitor having a capacitance of 20 µF is connected in series with a non-inductive resistance </a:t>
            </a:r>
            <a:r>
              <a:rPr lang="en-IN" sz="2800" kern="50" dirty="0" smtClean="0">
                <a:latin typeface="Times New Roman" panose="02020603050405020304" pitchFamily="18" charset="0"/>
                <a:ea typeface="Droid Sans Fallback"/>
                <a:cs typeface="FreeSans"/>
              </a:rPr>
              <a:t>120 </a:t>
            </a: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Ω across a 100 volt, 50 Hz supply. Calculate: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+mj-lt"/>
              <a:buAutoNum type="romanLcParenBoth"/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Phase difference between supply voltage and current.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+mj-lt"/>
              <a:buAutoNum type="romanLcParenBoth"/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Power</a:t>
            </a:r>
            <a:endParaRPr lang="en-US" sz="2800" kern="50" dirty="0">
              <a:latin typeface="Liberation Serif"/>
              <a:ea typeface="Droid Sans Fallback"/>
              <a:cs typeface="FreeSans"/>
            </a:endParaRPr>
          </a:p>
          <a:p>
            <a:pPr>
              <a:lnSpc>
                <a:spcPct val="120000"/>
              </a:lnSpc>
              <a:spcAft>
                <a:spcPts val="700"/>
              </a:spcAft>
              <a:tabLst>
                <a:tab pos="1200150" algn="l"/>
              </a:tabLst>
            </a:pPr>
            <a:r>
              <a:rPr lang="en-IN" sz="2800" kern="50" dirty="0">
                <a:latin typeface="Times New Roman" panose="02020603050405020304" pitchFamily="18" charset="0"/>
                <a:ea typeface="Droid Sans Fallback"/>
                <a:cs typeface="FreeSans"/>
              </a:rPr>
              <a:t>	</a:t>
            </a:r>
            <a:endParaRPr lang="en-US" sz="2800" kern="50" dirty="0"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613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4"/>
    </mc:Choice>
    <mc:Fallback xmlns="">
      <p:transition spd="slow" advTm="1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1" y="1028702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Casper"/>
                <a:cs typeface="Times New Roman" pitchFamily="18" charset="0"/>
              </a:rPr>
              <a:t>To </a:t>
            </a:r>
            <a:r>
              <a:rPr lang="en-IN" sz="2800" dirty="0">
                <a:latin typeface="Casper"/>
                <a:cs typeface="Times New Roman" pitchFamily="18" charset="0"/>
              </a:rPr>
              <a:t>make students </a:t>
            </a:r>
            <a:r>
              <a:rPr lang="en-IN" sz="2800" dirty="0" smtClean="0">
                <a:latin typeface="Casper"/>
                <a:cs typeface="Times New Roman" pitchFamily="18" charset="0"/>
              </a:rPr>
              <a:t>understand</a:t>
            </a:r>
            <a:endParaRPr lang="en-IN" sz="2800" dirty="0">
              <a:latin typeface="Casper"/>
              <a:cs typeface="Times New Roman" pitchFamily="18" charset="0"/>
            </a:endParaRPr>
          </a:p>
          <a:p>
            <a:r>
              <a:rPr lang="en-US" sz="2800" dirty="0">
                <a:latin typeface="Casper"/>
              </a:rPr>
              <a:t> </a:t>
            </a:r>
            <a:r>
              <a:rPr lang="en-US" sz="2800" dirty="0" smtClean="0">
                <a:latin typeface="Casper"/>
              </a:rPr>
              <a:t>Concepts </a:t>
            </a:r>
            <a:r>
              <a:rPr lang="en-US" sz="2800" dirty="0">
                <a:latin typeface="Casper"/>
              </a:rPr>
              <a:t>of </a:t>
            </a:r>
            <a:r>
              <a:rPr lang="en-US" sz="2800" dirty="0" smtClean="0">
                <a:latin typeface="Casper"/>
              </a:rPr>
              <a:t>series RL circuit with its </a:t>
            </a:r>
            <a:r>
              <a:rPr lang="en-US" sz="2800" dirty="0" err="1" smtClean="0">
                <a:latin typeface="Casper"/>
              </a:rPr>
              <a:t>phasor</a:t>
            </a:r>
            <a:r>
              <a:rPr lang="en-US" sz="2800" dirty="0" smtClean="0">
                <a:latin typeface="Casper"/>
              </a:rPr>
              <a:t> diagram.</a:t>
            </a:r>
            <a:endParaRPr lang="en-US" sz="2800" dirty="0">
              <a:latin typeface="Casper"/>
            </a:endParaRPr>
          </a:p>
          <a:p>
            <a:endParaRPr lang="en-US" sz="2800" dirty="0">
              <a:latin typeface="Casper"/>
            </a:endParaRPr>
          </a:p>
          <a:p>
            <a:r>
              <a:rPr lang="en-US" sz="2800" dirty="0" smtClean="0">
                <a:latin typeface="Casper"/>
              </a:rPr>
              <a:t>Concepts of series RC circuit with its </a:t>
            </a:r>
            <a:r>
              <a:rPr lang="en-US" sz="2800" dirty="0" err="1" smtClean="0">
                <a:latin typeface="Casper"/>
              </a:rPr>
              <a:t>phasor</a:t>
            </a:r>
            <a:r>
              <a:rPr lang="en-US" sz="2800" dirty="0" smtClean="0">
                <a:latin typeface="Casper"/>
              </a:rPr>
              <a:t> diagram.</a:t>
            </a:r>
            <a:endParaRPr lang="en-US" sz="2800" dirty="0">
              <a:latin typeface="Casper"/>
            </a:endParaRPr>
          </a:p>
          <a:p>
            <a:r>
              <a:rPr lang="en-US" sz="2800" dirty="0" smtClean="0">
                <a:latin typeface="Casper"/>
              </a:rPr>
              <a:t>Fundamentals </a:t>
            </a:r>
            <a:r>
              <a:rPr lang="en-US" sz="2800" dirty="0">
                <a:latin typeface="Casper"/>
              </a:rPr>
              <a:t>of </a:t>
            </a:r>
            <a:r>
              <a:rPr lang="en-US" sz="2800" dirty="0" smtClean="0">
                <a:latin typeface="Casper"/>
              </a:rPr>
              <a:t>series RLC circuit with its </a:t>
            </a:r>
            <a:r>
              <a:rPr lang="en-US" sz="2800" dirty="0" err="1" smtClean="0">
                <a:latin typeface="Casper"/>
              </a:rPr>
              <a:t>phasor</a:t>
            </a:r>
            <a:r>
              <a:rPr lang="en-US" sz="2800" dirty="0" smtClean="0">
                <a:latin typeface="Casper"/>
              </a:rPr>
              <a:t> diagram.</a:t>
            </a:r>
            <a:endParaRPr lang="en-US" sz="2800" dirty="0">
              <a:latin typeface="Casper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  <a:p>
            <a:endParaRPr lang="en-US" sz="2400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2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3949" y="1681522"/>
            <a:ext cx="44565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511627"/>
            <a:ext cx="5867400" cy="5836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7" y="6324602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12800" cy="9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Course Outcome to Program Outcome Relationship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24747" y="2207630"/>
          <a:ext cx="8242666" cy="3500846"/>
        </p:xfrm>
        <a:graphic>
          <a:graphicData uri="http://schemas.openxmlformats.org/drawingml/2006/table">
            <a:tbl>
              <a:tblPr/>
              <a:tblGrid>
                <a:gridCol w="71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0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2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3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9823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(20ELT-111)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BEEE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PO→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48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CO↓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PO5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PO6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PO7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PO8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PO9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Assessment Pattern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cs typeface="Times New Roman" panose="02020603050405020304" pitchFamily="18" charset="0"/>
              </a:rPr>
              <a:t>References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518615" y="1374122"/>
            <a:ext cx="10713492" cy="5112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Books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Bhattacharya,S.K (2011).Basic Electrical  and Electronics Engineering. Pearson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u="sng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Nagrath</a:t>
            </a:r>
            <a:r>
              <a:rPr lang="en-US" sz="28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(2001</a:t>
            </a:r>
            <a:r>
              <a:rPr lang="en-US" sz="28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).Basic Electrical </a:t>
            </a:r>
            <a:r>
              <a:rPr lang="en-US" sz="28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Engineering. McGraw-Hill </a:t>
            </a:r>
            <a:r>
              <a:rPr lang="en-US" sz="28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Education(India) Pvt. Ltd.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Weblinks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https://www.electrical4u.com/rl-series-circuit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www.allaboutcircuits.com/textbook/alternating-current/chpt-4/series-resistor-capacitor-circuits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/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www.electronics-tutorials.ws/accircuits/ac-capacitance.html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"/>
    </mc:Choice>
    <mc:Fallback xmlns="">
      <p:transition spd="slow" advTm="318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42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29965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</a:t>
            </a:r>
            <a:r>
              <a:rPr lang="en-US">
                <a:latin typeface="Casper" panose="02000506000000020004" pitchFamily="2" charset="0"/>
                <a:cs typeface="Segoe UI" panose="020B0502040204020203" pitchFamily="34" charset="0"/>
              </a:rPr>
              <a:t>: </a:t>
            </a:r>
            <a:r>
              <a:rPr lang="en-US" smtClean="0">
                <a:latin typeface="Casper" panose="02000506000000020004" pitchFamily="2" charset="0"/>
                <a:cs typeface="Segoe UI" panose="020B0502040204020203" pitchFamily="34" charset="0"/>
              </a:rPr>
              <a:t>Shikha.e12701@cumail.in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"/>
    </mc:Choice>
    <mc:Fallback xmlns="">
      <p:transition spd="slow" advTm="34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|0.2|0.2|0.2|0.2|0.2|0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|0.2|0.2|0.2|0.2|0.2|0.2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A9A8516-9EAC-49C5-A758-47C938E4E810}" vid="{5DBAC271-29B9-4910-AA8E-68B6400F28BB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9878</TotalTime>
  <Words>1164</Words>
  <Application>Microsoft Office PowerPoint</Application>
  <PresentationFormat>Widescreen</PresentationFormat>
  <Paragraphs>313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41" baseType="lpstr">
      <vt:lpstr>Arial</vt:lpstr>
      <vt:lpstr>Arial Black</vt:lpstr>
      <vt:lpstr>Arial Unicode MS</vt:lpstr>
      <vt:lpstr>Calibri</vt:lpstr>
      <vt:lpstr>Calibri Light</vt:lpstr>
      <vt:lpstr>Casper</vt:lpstr>
      <vt:lpstr>Droid Sans Fallback</vt:lpstr>
      <vt:lpstr>FreeSans</vt:lpstr>
      <vt:lpstr>Karla</vt:lpstr>
      <vt:lpstr>Liberation Serif</vt:lpstr>
      <vt:lpstr>Raavi</vt:lpstr>
      <vt:lpstr>Raleway ExtraBold</vt:lpstr>
      <vt:lpstr>Segoe UI</vt:lpstr>
      <vt:lpstr>Times New Roman</vt:lpstr>
      <vt:lpstr>Wingdings</vt:lpstr>
      <vt:lpstr>Theme1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Importance of Basic Electrical &amp; Electronics Engineering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  <vt:lpstr>LEARNING OUTCOMES </vt:lpstr>
      <vt:lpstr>Course Outcome to Program Outcome Relationship</vt:lpstr>
      <vt:lpstr>Assessment Pattern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vishalsharma21287@outlook.com</dc:creator>
  <cp:lastModifiedBy>INDIAN</cp:lastModifiedBy>
  <cp:revision>373</cp:revision>
  <dcterms:created xsi:type="dcterms:W3CDTF">2019-05-13T15:39:39Z</dcterms:created>
  <dcterms:modified xsi:type="dcterms:W3CDTF">2023-06-20T09:27:05Z</dcterms:modified>
</cp:coreProperties>
</file>