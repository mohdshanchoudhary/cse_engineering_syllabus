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7"/>
  </p:notesMasterIdLst>
  <p:handoutMasterIdLst>
    <p:handoutMasterId r:id="rId28"/>
  </p:handoutMasterIdLst>
  <p:sldIdLst>
    <p:sldId id="389" r:id="rId3"/>
    <p:sldId id="391" r:id="rId4"/>
    <p:sldId id="392" r:id="rId5"/>
    <p:sldId id="393" r:id="rId6"/>
    <p:sldId id="394" r:id="rId7"/>
    <p:sldId id="395" r:id="rId8"/>
    <p:sldId id="388" r:id="rId9"/>
    <p:sldId id="387" r:id="rId10"/>
    <p:sldId id="370" r:id="rId11"/>
    <p:sldId id="396" r:id="rId12"/>
    <p:sldId id="339" r:id="rId13"/>
    <p:sldId id="326" r:id="rId14"/>
    <p:sldId id="327" r:id="rId15"/>
    <p:sldId id="328" r:id="rId16"/>
    <p:sldId id="329" r:id="rId17"/>
    <p:sldId id="333" r:id="rId18"/>
    <p:sldId id="330" r:id="rId19"/>
    <p:sldId id="331" r:id="rId20"/>
    <p:sldId id="332" r:id="rId21"/>
    <p:sldId id="334" r:id="rId22"/>
    <p:sldId id="335" r:id="rId23"/>
    <p:sldId id="341" r:id="rId24"/>
    <p:sldId id="336" r:id="rId25"/>
    <p:sldId id="390" r:id="rId26"/>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06" autoAdjust="0"/>
    <p:restoredTop sz="94660"/>
  </p:normalViewPr>
  <p:slideViewPr>
    <p:cSldViewPr snapToGrid="0">
      <p:cViewPr varScale="1">
        <p:scale>
          <a:sx n="73" d="100"/>
          <a:sy n="73" d="100"/>
        </p:scale>
        <p:origin x="684" y="-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7/17/2023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gif"/><Relationship Id="rId4" Type="http://schemas.openxmlformats.org/officeDocument/2006/relationships/image" Target="../media/image15.gi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hyperlink" Target="http://www.ni.com/example/14493/en/" TargetMode="External"/><Relationship Id="rId3" Type="http://schemas.openxmlformats.org/officeDocument/2006/relationships/hyperlink" Target="https://www.google.com/search?q=number+system+in+digital+electronics&amp;source=lnms&amp;tbm=isch&amp;sa=X&amp;ved=0ahUKEwjOsbqmnvPiAhXPZCsKHXrSBJYQ_AUIESgC&amp;biw=1366&amp;bih=657" TargetMode="External"/><Relationship Id="rId7" Type="http://schemas.openxmlformats.org/officeDocument/2006/relationships/hyperlink" Target="http://www.geeksforgeeks.org/digital-electronics-logic-design-tutorial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google.com/search?q=binary+to+grey+conversion&amp;source=lnms&amp;tbm=isch&amp;sa=X&amp;ved=0ahUKEwjD6vrQi-PiAhVMSX0KHftLDngQ_AUIECgB&amp;biw=1366&amp;bih=657" TargetMode="External"/><Relationship Id="rId5" Type="http://schemas.openxmlformats.org/officeDocument/2006/relationships/hyperlink" Target="http://www.cse.yorku.ca/~mack/1011/01.NumberSystems.ppt" TargetMode="External"/><Relationship Id="rId10" Type="http://schemas.openxmlformats.org/officeDocument/2006/relationships/hyperlink" Target="https://www.tutorialspoint.com/computer_logical_organization/complement_arithmetic.htm" TargetMode="External"/><Relationship Id="rId4" Type="http://schemas.openxmlformats.org/officeDocument/2006/relationships/hyperlink" Target="https://www.google.com/search?q=decimal+to+binary&amp;source=lnms&amp;tbm=isch&amp;sa=X&amp;ved=0ahUKEwi6nMvW5uHiAhVBXSsKHUgGC60Q_AUIECgB&amp;biw=1517&amp;bih=730" TargetMode="External"/><Relationship Id="rId9" Type="http://schemas.openxmlformats.org/officeDocument/2006/relationships/hyperlink" Target="https://www.tutorialspoint.com/digital_electronics/index.asp"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www.technologyuk.net/telecommunications/telecom-principles/images/digital_signal02.gif" TargetMode="External"/><Relationship Id="rId3" Type="http://schemas.openxmlformats.org/officeDocument/2006/relationships/hyperlink" Target="https://www.youtube.com/watch?v=2xXErGeeb_Q" TargetMode="External"/><Relationship Id="rId7" Type="http://schemas.openxmlformats.org/officeDocument/2006/relationships/hyperlink" Target="https://nptel.ac.in/courses/117/106/117106086/"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hyperlink" Target="https://nptel.ac.in/courses/108/105/108105132/" TargetMode="External"/><Relationship Id="rId5" Type="http://schemas.openxmlformats.org/officeDocument/2006/relationships/hyperlink" Target="https://www.electronicsforu.com/resources/15-free-electronics-ebooks" TargetMode="External"/><Relationship Id="rId4" Type="http://schemas.openxmlformats.org/officeDocument/2006/relationships/hyperlink" Target="https://www.youtube.com/watch?v=M0mx8S05v60&amp;list=PLBlnK6fEyqRjMH3mWf6kwqiTbT798eA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376020" y="5339447"/>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640080" y="6014156"/>
            <a:ext cx="6309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hangingPunct="1"/>
            <a:r>
              <a:rPr lang="en-US" sz="2400" b="1" dirty="0" smtClean="0">
                <a:latin typeface="Times New Roman" pitchFamily="18" charset="0"/>
                <a:cs typeface="Times New Roman" pitchFamily="18" charset="0"/>
              </a:rPr>
              <a:t>Unit-1 Lecture-1</a:t>
            </a:r>
          </a:p>
        </p:txBody>
      </p:sp>
      <p:sp>
        <p:nvSpPr>
          <p:cNvPr id="26" name="TextBox 25"/>
          <p:cNvSpPr txBox="1">
            <a:spLocks noChangeArrowheads="1"/>
          </p:cNvSpPr>
          <p:nvPr/>
        </p:nvSpPr>
        <p:spPr bwMode="auto">
          <a:xfrm>
            <a:off x="670857" y="1594746"/>
            <a:ext cx="10441708" cy="4789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Arial Black" panose="020B0A04020102020204" pitchFamily="34" charset="0"/>
                <a:ea typeface="Karla" pitchFamily="2" charset="0"/>
                <a:cs typeface="Karla" pitchFamily="2" charset="0"/>
              </a:rPr>
              <a:t>INSTITUTE UIE </a:t>
            </a:r>
          </a:p>
          <a:p>
            <a:pPr lvl="0" algn="ctr" defTabSz="622300">
              <a:lnSpc>
                <a:spcPct val="90000"/>
              </a:lnSpc>
              <a:spcBef>
                <a:spcPct val="0"/>
              </a:spcBef>
              <a:spcAft>
                <a:spcPct val="35000"/>
              </a:spcAft>
            </a:pPr>
            <a:r>
              <a:rPr lang="en-US" sz="2800" b="1" dirty="0">
                <a:latin typeface="Arial Black" panose="020B0A04020102020204" pitchFamily="34" charset="0"/>
                <a:ea typeface="Karla" pitchFamily="2" charset="0"/>
                <a:cs typeface="Karla" pitchFamily="2" charset="0"/>
              </a:rPr>
              <a:t>DEPARTMENT ACADEMIC </a:t>
            </a:r>
            <a:r>
              <a:rPr lang="en-US" sz="2800" b="1" dirty="0" smtClean="0">
                <a:latin typeface="Arial Black" panose="020B0A04020102020204" pitchFamily="34" charset="0"/>
                <a:ea typeface="Karla" pitchFamily="2" charset="0"/>
                <a:cs typeface="Karla" pitchFamily="2" charset="0"/>
              </a:rPr>
              <a:t>UNIT-2</a:t>
            </a:r>
            <a:endParaRPr lang="en-US" sz="28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Electrical &amp; Electronics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23ECH-101</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Unit-1 Chapter-1</a:t>
            </a:r>
          </a:p>
          <a:p>
            <a:pPr lvl="0" algn="ctr" defTabSz="622300">
              <a:lnSpc>
                <a:spcPct val="90000"/>
              </a:lnSpc>
              <a:spcBef>
                <a:spcPct val="0"/>
              </a:spcBef>
              <a:spcAft>
                <a:spcPct val="35000"/>
              </a:spcAft>
            </a:pPr>
            <a:r>
              <a:rPr lang="en-IN" sz="2800" b="1" dirty="0" smtClean="0"/>
              <a:t>Introduction to Digital Electronics</a:t>
            </a:r>
          </a:p>
        </p:txBody>
      </p:sp>
      <p:sp>
        <p:nvSpPr>
          <p:cNvPr id="16" name="Slide Number Placeholder 15"/>
          <p:cNvSpPr>
            <a:spLocks noGrp="1"/>
          </p:cNvSpPr>
          <p:nvPr>
            <p:ph type="sldNum" sz="quarter" idx="12"/>
          </p:nvPr>
        </p:nvSpPr>
        <p:spPr/>
        <p:txBody>
          <a:bodyPr/>
          <a:lstStyle/>
          <a:p>
            <a:fld id="{BDCDBBEF-AA6C-4BA6-85B2-A17D7F280E38}" type="slidenum">
              <a:rPr lang="en-US" smtClean="0"/>
              <a:pPr/>
              <a:t>1</a:t>
            </a:fld>
            <a:endParaRPr lang="en-US"/>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b="1" dirty="0" smtClean="0"/>
              <a:t/>
            </a:r>
            <a:br>
              <a:rPr lang="en-IN" b="1" dirty="0" smtClean="0"/>
            </a:br>
            <a:r>
              <a:rPr lang="en-IN" b="1" dirty="0" smtClean="0"/>
              <a:t/>
            </a:r>
            <a:br>
              <a:rPr lang="en-IN" b="1" dirty="0" smtClean="0"/>
            </a:br>
            <a:r>
              <a:rPr lang="en-IN" b="1" dirty="0" smtClean="0">
                <a:latin typeface="Palatino Linotype" panose="02040502050505030304" pitchFamily="18" charset="0"/>
              </a:rPr>
              <a:t>Vision </a:t>
            </a:r>
            <a:r>
              <a:rPr lang="en-IN" b="1" dirty="0">
                <a:latin typeface="Palatino Linotype" panose="02040502050505030304" pitchFamily="18" charset="0"/>
              </a:rPr>
              <a:t>&amp; Mission of the Department</a:t>
            </a:r>
            <a:r>
              <a:rPr lang="en-US" dirty="0">
                <a:latin typeface="Palatino Linotype" panose="02040502050505030304" pitchFamily="18" charset="0"/>
              </a:rPr>
              <a:t/>
            </a:r>
            <a:br>
              <a:rPr lang="en-US" dirty="0">
                <a:latin typeface="Palatino Linotype" panose="02040502050505030304" pitchFamily="18" charset="0"/>
              </a:rPr>
            </a:br>
            <a:r>
              <a:rPr lang="en-US" dirty="0">
                <a:latin typeface="Palatino Linotype" panose="02040502050505030304" pitchFamily="18" charset="0"/>
              </a:rPr>
              <a:t/>
            </a:r>
            <a:br>
              <a:rPr lang="en-US" dirty="0">
                <a:latin typeface="Palatino Linotype" panose="02040502050505030304" pitchFamily="18" charset="0"/>
              </a:rPr>
            </a:br>
            <a:endParaRPr lang="en-US" dirty="0">
              <a:latin typeface="Palatino Linotype" panose="02040502050505030304" pitchFamily="18" charset="0"/>
            </a:endParaRPr>
          </a:p>
        </p:txBody>
      </p:sp>
      <p:graphicFrame>
        <p:nvGraphicFramePr>
          <p:cNvPr id="5" name="Content Placeholder 4"/>
          <p:cNvGraphicFramePr>
            <a:graphicFrameLocks noGrp="1"/>
          </p:cNvGraphicFramePr>
          <p:nvPr>
            <p:ph idx="1"/>
          </p:nvPr>
        </p:nvGraphicFramePr>
        <p:xfrm>
          <a:off x="838200" y="2076995"/>
          <a:ext cx="10382793" cy="3709852"/>
        </p:xfrm>
        <a:graphic>
          <a:graphicData uri="http://schemas.openxmlformats.org/drawingml/2006/table">
            <a:tbl>
              <a:tblPr firstRow="1" firstCol="1" lastRow="1" lastCol="1" bandRow="1" bandCol="1">
                <a:tableStyleId>{5C22544A-7EE6-4342-B048-85BDC9FD1C3A}</a:tableStyleId>
              </a:tblPr>
              <a:tblGrid>
                <a:gridCol w="1342697">
                  <a:extLst>
                    <a:ext uri="{9D8B030D-6E8A-4147-A177-3AD203B41FA5}">
                      <a16:colId xmlns:a16="http://schemas.microsoft.com/office/drawing/2014/main" val="692973412"/>
                    </a:ext>
                  </a:extLst>
                </a:gridCol>
                <a:gridCol w="9040096">
                  <a:extLst>
                    <a:ext uri="{9D8B030D-6E8A-4147-A177-3AD203B41FA5}">
                      <a16:colId xmlns:a16="http://schemas.microsoft.com/office/drawing/2014/main" val="2187531013"/>
                    </a:ext>
                  </a:extLst>
                </a:gridCol>
              </a:tblGrid>
              <a:tr h="1239684">
                <a:tc>
                  <a:txBody>
                    <a:bodyPr/>
                    <a:lstStyle/>
                    <a:p>
                      <a:pPr marL="0" marR="0">
                        <a:lnSpc>
                          <a:spcPct val="107000"/>
                        </a:lnSpc>
                        <a:spcBef>
                          <a:spcPts val="15"/>
                        </a:spcBef>
                        <a:spcAft>
                          <a:spcPts val="0"/>
                        </a:spcAft>
                      </a:pPr>
                      <a:r>
                        <a:rPr lang="en-US" sz="1600" dirty="0">
                          <a:effectLst/>
                          <a:latin typeface="Palatino Linotype" panose="02040502050505030304" pitchFamily="18" charset="0"/>
                          <a:cs typeface="Times New Roman" panose="02020603050405020304" pitchFamily="18" charset="0"/>
                        </a:rPr>
                        <a:t> </a:t>
                      </a:r>
                    </a:p>
                    <a:p>
                      <a:pPr marL="86995" marR="57150" indent="-13970">
                        <a:lnSpc>
                          <a:spcPct val="103000"/>
                        </a:lnSpc>
                        <a:spcBef>
                          <a:spcPts val="0"/>
                        </a:spcBef>
                        <a:spcAft>
                          <a:spcPts val="0"/>
                        </a:spcAft>
                      </a:pPr>
                      <a:r>
                        <a:rPr lang="en-US" sz="1600" dirty="0">
                          <a:effectLst/>
                          <a:latin typeface="Palatino Linotype" panose="02040502050505030304" pitchFamily="18" charset="0"/>
                          <a:cs typeface="Times New Roman" panose="02020603050405020304" pitchFamily="18" charset="0"/>
                        </a:rPr>
                        <a:t>Vision</a:t>
                      </a:r>
                      <a:r>
                        <a:rPr lang="en-US" sz="1600" spc="-5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of</a:t>
                      </a:r>
                      <a:r>
                        <a:rPr lang="en-US" sz="1600" spc="-4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the</a:t>
                      </a:r>
                      <a:r>
                        <a:rPr lang="en-US" sz="1600" spc="-22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Department</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3500" marR="68580" algn="just">
                        <a:lnSpc>
                          <a:spcPct val="103000"/>
                        </a:lnSpc>
                        <a:spcBef>
                          <a:spcPts val="0"/>
                        </a:spcBef>
                        <a:spcAft>
                          <a:spcPts val="0"/>
                        </a:spcAft>
                      </a:pPr>
                      <a:r>
                        <a:rPr lang="en-US" sz="1600" dirty="0">
                          <a:effectLst/>
                          <a:latin typeface="Palatino Linotype" panose="02040502050505030304" pitchFamily="18" charset="0"/>
                          <a:cs typeface="Times New Roman" panose="02020603050405020304" pitchFamily="18" charset="0"/>
                        </a:rPr>
                        <a:t>To be recognized as a leading Computer Science and Engineering department through effective teaching</a:t>
                      </a:r>
                      <a:r>
                        <a:rPr lang="en-US" sz="1600" spc="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practices</a:t>
                      </a:r>
                      <a:r>
                        <a:rPr lang="en-US" sz="1600" spc="-3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and excellence</a:t>
                      </a:r>
                      <a:r>
                        <a:rPr lang="en-US" sz="1600" spc="-3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in</a:t>
                      </a:r>
                      <a:r>
                        <a:rPr lang="en-US" sz="1600" spc="-3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research</a:t>
                      </a:r>
                      <a:r>
                        <a:rPr lang="en-US" sz="1600" spc="-4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and</a:t>
                      </a:r>
                      <a:r>
                        <a:rPr lang="en-US" sz="1600" spc="-2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innovation</a:t>
                      </a:r>
                      <a:r>
                        <a:rPr lang="en-US" sz="1600" spc="-4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for</a:t>
                      </a:r>
                      <a:r>
                        <a:rPr lang="en-US" sz="1600" spc="-1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creating</a:t>
                      </a:r>
                      <a:r>
                        <a:rPr lang="en-US" sz="1600" spc="-2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competent</a:t>
                      </a:r>
                      <a:r>
                        <a:rPr lang="en-US" sz="1600" spc="-3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professionals</a:t>
                      </a:r>
                      <a:r>
                        <a:rPr lang="en-US" sz="1600" spc="-2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with</a:t>
                      </a:r>
                      <a:r>
                        <a:rPr lang="en-US" sz="1600" spc="-2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ethics,</a:t>
                      </a:r>
                      <a:r>
                        <a:rPr lang="en-US" sz="1600" spc="-1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values</a:t>
                      </a:r>
                      <a:r>
                        <a:rPr lang="en-US" sz="1600" spc="-22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and</a:t>
                      </a:r>
                      <a:r>
                        <a:rPr lang="en-US" sz="1600" spc="5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entrepreneurial</a:t>
                      </a:r>
                      <a:r>
                        <a:rPr lang="en-US" sz="1600" spc="6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attitude</a:t>
                      </a:r>
                      <a:r>
                        <a:rPr lang="en-US" sz="1600" spc="6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to</a:t>
                      </a:r>
                      <a:r>
                        <a:rPr lang="en-US" sz="1600" spc="5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deliver</a:t>
                      </a:r>
                      <a:r>
                        <a:rPr lang="en-US" sz="1600" spc="5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service</a:t>
                      </a:r>
                      <a:r>
                        <a:rPr lang="en-US" sz="1600" spc="6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to</a:t>
                      </a:r>
                      <a:r>
                        <a:rPr lang="en-US" sz="1600" spc="6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society</a:t>
                      </a:r>
                      <a:r>
                        <a:rPr lang="en-US" sz="1600" spc="4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and</a:t>
                      </a:r>
                      <a:r>
                        <a:rPr lang="en-US" sz="1600" spc="6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to</a:t>
                      </a:r>
                      <a:r>
                        <a:rPr lang="en-US" sz="1600" spc="6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meet</a:t>
                      </a:r>
                      <a:r>
                        <a:rPr lang="en-US" sz="1600" spc="6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the</a:t>
                      </a:r>
                      <a:r>
                        <a:rPr lang="en-US" sz="1600" spc="7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current</a:t>
                      </a:r>
                      <a:r>
                        <a:rPr lang="en-US" sz="1600" spc="6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industry</a:t>
                      </a:r>
                      <a:r>
                        <a:rPr lang="en-US" sz="1600" spc="4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standards</a:t>
                      </a:r>
                      <a:r>
                        <a:rPr lang="en-US" sz="1600" spc="50"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at</a:t>
                      </a:r>
                      <a:r>
                        <a:rPr lang="en-US" sz="1600" spc="6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the</a:t>
                      </a:r>
                    </a:p>
                    <a:p>
                      <a:pPr marL="63500" marR="0" algn="just">
                        <a:lnSpc>
                          <a:spcPts val="980"/>
                        </a:lnSpc>
                        <a:spcBef>
                          <a:spcPts val="0"/>
                        </a:spcBef>
                        <a:spcAft>
                          <a:spcPts val="0"/>
                        </a:spcAft>
                      </a:pPr>
                      <a:r>
                        <a:rPr lang="en-US" sz="1600" dirty="0">
                          <a:effectLst/>
                          <a:latin typeface="Palatino Linotype" panose="02040502050505030304" pitchFamily="18" charset="0"/>
                          <a:cs typeface="Times New Roman" panose="02020603050405020304" pitchFamily="18" charset="0"/>
                        </a:rPr>
                        <a:t>global</a:t>
                      </a:r>
                      <a:r>
                        <a:rPr lang="en-US" sz="1600" spc="-25" dirty="0">
                          <a:effectLst/>
                          <a:latin typeface="Palatino Linotype" panose="02040502050505030304" pitchFamily="18" charset="0"/>
                          <a:cs typeface="Times New Roman" panose="02020603050405020304" pitchFamily="18" charset="0"/>
                        </a:rPr>
                        <a:t> </a:t>
                      </a:r>
                      <a:r>
                        <a:rPr lang="en-US" sz="1600" dirty="0">
                          <a:effectLst/>
                          <a:latin typeface="Palatino Linotype" panose="02040502050505030304" pitchFamily="18" charset="0"/>
                          <a:cs typeface="Times New Roman" panose="02020603050405020304" pitchFamily="18" charset="0"/>
                        </a:rPr>
                        <a:t>level.</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134501773"/>
                  </a:ext>
                </a:extLst>
              </a:tr>
              <a:tr h="2470168">
                <a:tc>
                  <a:txBody>
                    <a:bodyPr/>
                    <a:lstStyle/>
                    <a:p>
                      <a:pPr marL="0" marR="0">
                        <a:lnSpc>
                          <a:spcPct val="107000"/>
                        </a:lnSpc>
                        <a:spcBef>
                          <a:spcPts val="15"/>
                        </a:spcBef>
                        <a:spcAft>
                          <a:spcPts val="0"/>
                        </a:spcAft>
                      </a:pPr>
                      <a:r>
                        <a:rPr lang="en-US" sz="1600">
                          <a:effectLst/>
                          <a:latin typeface="Palatino Linotype" panose="02040502050505030304" pitchFamily="18" charset="0"/>
                          <a:cs typeface="Times New Roman" panose="02020603050405020304" pitchFamily="18" charset="0"/>
                        </a:rPr>
                        <a:t> </a:t>
                      </a:r>
                    </a:p>
                    <a:p>
                      <a:pPr marL="0" marR="0">
                        <a:lnSpc>
                          <a:spcPct val="107000"/>
                        </a:lnSpc>
                        <a:spcBef>
                          <a:spcPts val="15"/>
                        </a:spcBef>
                        <a:spcAft>
                          <a:spcPts val="0"/>
                        </a:spcAft>
                      </a:pPr>
                      <a:r>
                        <a:rPr lang="en-US" sz="1600">
                          <a:effectLst/>
                          <a:latin typeface="Palatino Linotype" panose="02040502050505030304" pitchFamily="18" charset="0"/>
                          <a:cs typeface="Times New Roman" panose="02020603050405020304" pitchFamily="18" charset="0"/>
                        </a:rPr>
                        <a:t> </a:t>
                      </a:r>
                    </a:p>
                    <a:p>
                      <a:pPr marL="0" marR="0">
                        <a:lnSpc>
                          <a:spcPct val="107000"/>
                        </a:lnSpc>
                        <a:spcBef>
                          <a:spcPts val="15"/>
                        </a:spcBef>
                        <a:spcAft>
                          <a:spcPts val="0"/>
                        </a:spcAft>
                      </a:pPr>
                      <a:r>
                        <a:rPr lang="en-US" sz="1600">
                          <a:effectLst/>
                          <a:latin typeface="Palatino Linotype" panose="02040502050505030304" pitchFamily="18" charset="0"/>
                          <a:cs typeface="Times New Roman" panose="02020603050405020304" pitchFamily="18" charset="0"/>
                        </a:rPr>
                        <a:t>Mission of the Department</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3500" marR="68580" algn="just">
                        <a:lnSpc>
                          <a:spcPct val="103000"/>
                        </a:lnSpc>
                        <a:spcBef>
                          <a:spcPts val="0"/>
                        </a:spcBef>
                        <a:spcAft>
                          <a:spcPts val="0"/>
                        </a:spcAft>
                      </a:pPr>
                      <a:r>
                        <a:rPr lang="en-US" sz="1600" dirty="0">
                          <a:effectLst/>
                          <a:latin typeface="Palatino Linotype" panose="02040502050505030304" pitchFamily="18" charset="0"/>
                          <a:cs typeface="Times New Roman" panose="02020603050405020304" pitchFamily="18" charset="0"/>
                        </a:rPr>
                        <a:t>M1:	To provide practical knowledge using state-of-the-art technological support for the experiential learning of our students.</a:t>
                      </a:r>
                    </a:p>
                    <a:p>
                      <a:pPr marL="63500" marR="68580" algn="just">
                        <a:lnSpc>
                          <a:spcPct val="103000"/>
                        </a:lnSpc>
                        <a:spcBef>
                          <a:spcPts val="0"/>
                        </a:spcBef>
                        <a:spcAft>
                          <a:spcPts val="0"/>
                        </a:spcAft>
                      </a:pPr>
                      <a:r>
                        <a:rPr lang="en-US" sz="1600" dirty="0">
                          <a:effectLst/>
                          <a:latin typeface="Palatino Linotype" panose="02040502050505030304" pitchFamily="18" charset="0"/>
                          <a:cs typeface="Times New Roman" panose="02020603050405020304" pitchFamily="18" charset="0"/>
                        </a:rPr>
                        <a:t>M2:	To provide industry recommended curriculum and transparent assessment for quality learning experiences.</a:t>
                      </a:r>
                    </a:p>
                    <a:p>
                      <a:pPr marL="63500" marR="68580" algn="just">
                        <a:lnSpc>
                          <a:spcPct val="103000"/>
                        </a:lnSpc>
                        <a:spcBef>
                          <a:spcPts val="0"/>
                        </a:spcBef>
                        <a:spcAft>
                          <a:spcPts val="0"/>
                        </a:spcAft>
                      </a:pPr>
                      <a:r>
                        <a:rPr lang="en-US" sz="1600" dirty="0">
                          <a:effectLst/>
                          <a:latin typeface="Palatino Linotype" panose="02040502050505030304" pitchFamily="18" charset="0"/>
                          <a:cs typeface="Times New Roman" panose="02020603050405020304" pitchFamily="18" charset="0"/>
                        </a:rPr>
                        <a:t>M3:	To create global linkages for interdisciplinary collaborative learning and research.</a:t>
                      </a:r>
                    </a:p>
                    <a:p>
                      <a:pPr marL="63500" marR="68580" algn="just">
                        <a:lnSpc>
                          <a:spcPct val="103000"/>
                        </a:lnSpc>
                        <a:spcBef>
                          <a:spcPts val="0"/>
                        </a:spcBef>
                        <a:spcAft>
                          <a:spcPts val="0"/>
                        </a:spcAft>
                      </a:pPr>
                      <a:r>
                        <a:rPr lang="en-US" sz="1600" dirty="0">
                          <a:effectLst/>
                          <a:latin typeface="Palatino Linotype" panose="02040502050505030304" pitchFamily="18" charset="0"/>
                          <a:cs typeface="Times New Roman" panose="02020603050405020304" pitchFamily="18" charset="0"/>
                        </a:rPr>
                        <a:t>M4:	To nurture advanced learning platform for research and innovation for students’ profound future growth.</a:t>
                      </a:r>
                    </a:p>
                    <a:p>
                      <a:pPr marL="63500" marR="68580" algn="just">
                        <a:lnSpc>
                          <a:spcPct val="103000"/>
                        </a:lnSpc>
                        <a:spcBef>
                          <a:spcPts val="0"/>
                        </a:spcBef>
                        <a:spcAft>
                          <a:spcPts val="0"/>
                        </a:spcAft>
                      </a:pPr>
                      <a:r>
                        <a:rPr lang="en-US" sz="1600" dirty="0">
                          <a:effectLst/>
                          <a:latin typeface="Palatino Linotype" panose="02040502050505030304" pitchFamily="18" charset="0"/>
                          <a:cs typeface="Times New Roman" panose="02020603050405020304" pitchFamily="18" charset="0"/>
                        </a:rPr>
                        <a:t>M5:	To inculcate leadership qualities and strong ethical values through value based education.</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21046194"/>
                  </a:ext>
                </a:extLst>
              </a:tr>
            </a:tbl>
          </a:graphicData>
        </a:graphic>
      </p:graphicFrame>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37942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b="1" dirty="0" smtClean="0">
                <a:latin typeface="Palatino Linotype" panose="02040502050505030304" pitchFamily="18" charset="0"/>
              </a:rPr>
              <a:t/>
            </a:r>
            <a:br>
              <a:rPr lang="en-IN" b="1" dirty="0" smtClean="0">
                <a:latin typeface="Palatino Linotype" panose="02040502050505030304" pitchFamily="18" charset="0"/>
              </a:rPr>
            </a:br>
            <a:r>
              <a:rPr lang="en-IN" sz="4900" b="1" dirty="0" smtClean="0">
                <a:latin typeface="Palatino Linotype" panose="02040502050505030304" pitchFamily="18" charset="0"/>
              </a:rPr>
              <a:t>Program </a:t>
            </a:r>
            <a:r>
              <a:rPr lang="en-IN" sz="4900" b="1" dirty="0">
                <a:latin typeface="Palatino Linotype" panose="02040502050505030304" pitchFamily="18" charset="0"/>
              </a:rPr>
              <a:t>Educational Objectives</a:t>
            </a:r>
            <a:r>
              <a:rPr lang="en-US" dirty="0"/>
              <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endParaRPr lang="en-US" dirty="0"/>
          </a:p>
          <a:p>
            <a:pPr algn="just"/>
            <a:r>
              <a:rPr lang="en-IN" dirty="0">
                <a:latin typeface="Palatino Linotype" panose="02040502050505030304" pitchFamily="18" charset="0"/>
              </a:rPr>
              <a:t>PEO.1 Chandigarh University Computer Science and Engineering graduates will have a bright career as Computer Systems Analyst, Information Security Analyst, Computer Network Architect, Researcher, or Entrepreneur and be able to adapt to the evolving technical challenges and the changing career opportunities. Also, they will learn to effectively communicate ideas in oral written or graphical form and to promote collaboration with other members of engineering teams.</a:t>
            </a:r>
            <a:endParaRPr lang="en-US" dirty="0">
              <a:latin typeface="Palatino Linotype" panose="02040502050505030304" pitchFamily="18" charset="0"/>
            </a:endParaRPr>
          </a:p>
          <a:p>
            <a:pPr algn="just"/>
            <a:r>
              <a:rPr lang="en-IN" dirty="0">
                <a:latin typeface="Palatino Linotype" panose="02040502050505030304" pitchFamily="18" charset="0"/>
              </a:rPr>
              <a:t>PEO.2 Chandigarh University Computer Science and Engineering graduates will analyse a problem, identify and define the computing requirements appropriate to its solution in addition to the ability to design, implement and evaluate a computer-based system, process, component, or programs to meet desired needs. They will be able to continue to demonstrate the professional skills and communicative abilities necessary to be competent employees assume leadership roles and have career success and satisfaction.</a:t>
            </a:r>
            <a:endParaRPr lang="en-US" dirty="0">
              <a:latin typeface="Palatino Linotype" panose="02040502050505030304" pitchFamily="18" charset="0"/>
            </a:endParaRPr>
          </a:p>
          <a:p>
            <a:pPr algn="just"/>
            <a:r>
              <a:rPr lang="en-IN" dirty="0">
                <a:latin typeface="Palatino Linotype" panose="02040502050505030304" pitchFamily="18" charset="0"/>
              </a:rPr>
              <a:t>PEO.3 Chandigarh University Computer Science and Engineering Graduates will become productive citizens demonstrating high ethical and professional standards, make sound engineering or managerial decisions, and have enthusiasm for the profession and professional growth.</a:t>
            </a:r>
            <a:endParaRPr lang="en-US" dirty="0">
              <a:latin typeface="Palatino Linotype" panose="02040502050505030304" pitchFamily="18" charset="0"/>
            </a:endParaRPr>
          </a:p>
          <a:p>
            <a:pPr algn="just"/>
            <a:r>
              <a:rPr lang="en-IN" dirty="0">
                <a:latin typeface="Palatino Linotype" panose="02040502050505030304" pitchFamily="18" charset="0"/>
              </a:rPr>
              <a:t>PEO.4 Chandigarh University Computer Science and Engineering graduates will be successful in modern engineering practice and entrepreneurship, integrate into the local and global workforce, and contribute to the economy of India.</a:t>
            </a:r>
            <a:endParaRPr lang="en-US" dirty="0">
              <a:latin typeface="Palatino Linotype" panose="02040502050505030304" pitchFamily="18" charset="0"/>
            </a:endParaRPr>
          </a:p>
          <a:p>
            <a:pPr algn="just"/>
            <a:r>
              <a:rPr lang="en-IN" dirty="0">
                <a:latin typeface="Palatino Linotype" panose="02040502050505030304" pitchFamily="18" charset="0"/>
              </a:rPr>
              <a:t>PEO.5 Chandigarh University Computer Science and Engineering graduates will continue to acquire and demonstrate the professional skills necessary to be competent employees, assume leadership roles, and enjoy career success and satisfaction.</a:t>
            </a:r>
            <a:endParaRPr lang="en-US" dirty="0">
              <a:latin typeface="Palatino Linotype" panose="02040502050505030304" pitchFamily="18" charset="0"/>
            </a:endParaRPr>
          </a:p>
          <a:p>
            <a:pPr algn="just"/>
            <a:endParaRPr lang="en-US" dirty="0">
              <a:latin typeface="Palatino Linotype" panose="02040502050505030304" pitchFamily="18"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14725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4900" b="1" dirty="0" smtClean="0">
                <a:latin typeface="Palatino Linotype" panose="02040502050505030304" pitchFamily="18" charset="0"/>
              </a:rPr>
              <a:t/>
            </a:r>
            <a:br>
              <a:rPr lang="en-IN" sz="4900" b="1" dirty="0" smtClean="0">
                <a:latin typeface="Palatino Linotype" panose="02040502050505030304" pitchFamily="18" charset="0"/>
              </a:rPr>
            </a:br>
            <a:r>
              <a:rPr lang="en-IN" sz="4900" b="1" dirty="0">
                <a:latin typeface="Palatino Linotype" panose="02040502050505030304" pitchFamily="18" charset="0"/>
              </a:rPr>
              <a:t> </a:t>
            </a:r>
            <a:r>
              <a:rPr lang="en-IN" sz="4900" b="1" dirty="0" smtClean="0">
                <a:latin typeface="Palatino Linotype" panose="02040502050505030304" pitchFamily="18" charset="0"/>
              </a:rPr>
              <a:t>               </a:t>
            </a:r>
            <a:br>
              <a:rPr lang="en-IN" sz="4900" b="1" dirty="0" smtClean="0">
                <a:latin typeface="Palatino Linotype" panose="02040502050505030304" pitchFamily="18" charset="0"/>
              </a:rPr>
            </a:br>
            <a:r>
              <a:rPr lang="en-IN" sz="4900" b="1" dirty="0">
                <a:latin typeface="Palatino Linotype" panose="02040502050505030304" pitchFamily="18" charset="0"/>
              </a:rPr>
              <a:t> </a:t>
            </a:r>
            <a:r>
              <a:rPr lang="en-IN" sz="4900" b="1" dirty="0" smtClean="0">
                <a:latin typeface="Palatino Linotype" panose="02040502050505030304" pitchFamily="18" charset="0"/>
              </a:rPr>
              <a:t>                   Program </a:t>
            </a:r>
            <a:r>
              <a:rPr lang="en-IN" sz="4900" b="1" dirty="0">
                <a:latin typeface="Palatino Linotype" panose="02040502050505030304" pitchFamily="18" charset="0"/>
              </a:rPr>
              <a:t>Outcomes</a:t>
            </a:r>
            <a:r>
              <a:rPr lang="en-US" dirty="0"/>
              <a:t/>
            </a:r>
            <a:br>
              <a:rPr lang="en-US" dirty="0"/>
            </a:br>
            <a:r>
              <a:rPr lang="en-IN" b="1" dirty="0"/>
              <a:t> </a:t>
            </a:r>
            <a:r>
              <a:rPr lang="en-US" dirty="0"/>
              <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endParaRPr lang="en-US" dirty="0"/>
          </a:p>
          <a:p>
            <a:pPr algn="just"/>
            <a:r>
              <a:rPr lang="en-IN" dirty="0" smtClean="0">
                <a:latin typeface="Palatino Linotype" panose="02040502050505030304" pitchFamily="18" charset="0"/>
              </a:rPr>
              <a:t>PO.1 </a:t>
            </a:r>
            <a:r>
              <a:rPr lang="en-IN" dirty="0">
                <a:latin typeface="Palatino Linotype" panose="02040502050505030304" pitchFamily="18" charset="0"/>
              </a:rPr>
              <a:t>Engineering Knowledge: Apply the knowledge of mathematics, science, engineering fundamentals and an engineering specialization to the solution of complex engineering problems.</a:t>
            </a:r>
            <a:endParaRPr lang="en-US" dirty="0">
              <a:latin typeface="Palatino Linotype" panose="02040502050505030304" pitchFamily="18" charset="0"/>
            </a:endParaRPr>
          </a:p>
          <a:p>
            <a:pPr algn="just"/>
            <a:r>
              <a:rPr lang="en-IN" dirty="0">
                <a:latin typeface="Palatino Linotype" panose="02040502050505030304" pitchFamily="18" charset="0"/>
              </a:rPr>
              <a:t>PO.2 Problem Analysis: Identify, formulate, review research literature and </a:t>
            </a:r>
            <a:r>
              <a:rPr lang="en-IN" dirty="0" err="1">
                <a:latin typeface="Palatino Linotype" panose="02040502050505030304" pitchFamily="18" charset="0"/>
              </a:rPr>
              <a:t>analyze</a:t>
            </a:r>
            <a:r>
              <a:rPr lang="en-IN" dirty="0">
                <a:latin typeface="Palatino Linotype" panose="02040502050505030304" pitchFamily="18" charset="0"/>
              </a:rPr>
              <a:t> complex engineering problems reaching substantiated conclusions using first principles mathematics, natural sciences and</a:t>
            </a:r>
            <a:endParaRPr lang="en-US" dirty="0">
              <a:latin typeface="Palatino Linotype" panose="02040502050505030304" pitchFamily="18" charset="0"/>
            </a:endParaRPr>
          </a:p>
          <a:p>
            <a:pPr algn="just"/>
            <a:r>
              <a:rPr lang="en-IN" dirty="0">
                <a:latin typeface="Palatino Linotype" panose="02040502050505030304" pitchFamily="18" charset="0"/>
              </a:rPr>
              <a:t>engineering sciences.</a:t>
            </a:r>
            <a:endParaRPr lang="en-US" dirty="0">
              <a:latin typeface="Palatino Linotype" panose="02040502050505030304" pitchFamily="18" charset="0"/>
            </a:endParaRPr>
          </a:p>
          <a:p>
            <a:pPr algn="just"/>
            <a:r>
              <a:rPr lang="en-IN" dirty="0">
                <a:latin typeface="Palatino Linotype" panose="02040502050505030304" pitchFamily="18" charset="0"/>
              </a:rPr>
              <a:t>PO.3 Problem Analysis: Identify, formulate, review research literature and </a:t>
            </a:r>
            <a:r>
              <a:rPr lang="en-IN" dirty="0" err="1">
                <a:latin typeface="Palatino Linotype" panose="02040502050505030304" pitchFamily="18" charset="0"/>
              </a:rPr>
              <a:t>analyze</a:t>
            </a:r>
            <a:r>
              <a:rPr lang="en-IN" dirty="0">
                <a:latin typeface="Palatino Linotype" panose="02040502050505030304" pitchFamily="18" charset="0"/>
              </a:rPr>
              <a:t> complex engineering</a:t>
            </a:r>
            <a:endParaRPr lang="en-US" dirty="0">
              <a:latin typeface="Palatino Linotype" panose="02040502050505030304" pitchFamily="18" charset="0"/>
            </a:endParaRPr>
          </a:p>
          <a:p>
            <a:pPr algn="just"/>
            <a:r>
              <a:rPr lang="en-IN" dirty="0">
                <a:latin typeface="Palatino Linotype" panose="02040502050505030304" pitchFamily="18" charset="0"/>
              </a:rPr>
              <a:t>problems reaching substantiated conclusions using first principles mathematics, natural sciences and</a:t>
            </a:r>
            <a:endParaRPr lang="en-US" dirty="0">
              <a:latin typeface="Palatino Linotype" panose="02040502050505030304" pitchFamily="18" charset="0"/>
            </a:endParaRPr>
          </a:p>
          <a:p>
            <a:pPr algn="just"/>
            <a:r>
              <a:rPr lang="en-IN" dirty="0">
                <a:latin typeface="Palatino Linotype" panose="02040502050505030304" pitchFamily="18" charset="0"/>
              </a:rPr>
              <a:t>engineering sciences.</a:t>
            </a:r>
            <a:endParaRPr lang="en-US" dirty="0">
              <a:latin typeface="Palatino Linotype" panose="02040502050505030304" pitchFamily="18" charset="0"/>
            </a:endParaRPr>
          </a:p>
          <a:p>
            <a:pPr algn="just"/>
            <a:r>
              <a:rPr lang="en-IN" dirty="0">
                <a:latin typeface="Palatino Linotype" panose="02040502050505030304" pitchFamily="18" charset="0"/>
              </a:rPr>
              <a:t>PO.4 Conduct investigations of Complex Problems: Use research-based knowledge and research methods</a:t>
            </a:r>
            <a:endParaRPr lang="en-US" dirty="0">
              <a:latin typeface="Palatino Linotype" panose="02040502050505030304" pitchFamily="18" charset="0"/>
            </a:endParaRPr>
          </a:p>
          <a:p>
            <a:pPr algn="just"/>
            <a:r>
              <a:rPr lang="en-IN" dirty="0">
                <a:latin typeface="Palatino Linotype" panose="02040502050505030304" pitchFamily="18" charset="0"/>
              </a:rPr>
              <a:t>including design of experiments, analysis and interpretation of data and synthesis of the information to</a:t>
            </a:r>
            <a:endParaRPr lang="en-US" dirty="0">
              <a:latin typeface="Palatino Linotype" panose="02040502050505030304" pitchFamily="18" charset="0"/>
            </a:endParaRPr>
          </a:p>
          <a:p>
            <a:pPr algn="just"/>
            <a:r>
              <a:rPr lang="en-IN" dirty="0">
                <a:latin typeface="Palatino Linotype" panose="02040502050505030304" pitchFamily="18" charset="0"/>
              </a:rPr>
              <a:t>provide valid conclusion.</a:t>
            </a:r>
            <a:endParaRPr lang="en-US" dirty="0">
              <a:latin typeface="Palatino Linotype" panose="02040502050505030304" pitchFamily="18" charset="0"/>
            </a:endParaRPr>
          </a:p>
          <a:p>
            <a:pPr algn="just"/>
            <a:r>
              <a:rPr lang="en-IN" dirty="0">
                <a:latin typeface="Palatino Linotype" panose="02040502050505030304" pitchFamily="18" charset="0"/>
              </a:rPr>
              <a:t>PO.5 Modern Tool Usage: Create, select, and apply appropriate techniques, resources and modern engineering and IT tools including prediction and modelling to complex engineering activities with an understanding of the limitations.</a:t>
            </a:r>
            <a:endParaRPr lang="en-US" dirty="0">
              <a:latin typeface="Palatino Linotype" panose="02040502050505030304" pitchFamily="18" charset="0"/>
            </a:endParaRPr>
          </a:p>
          <a:p>
            <a:pPr algn="just"/>
            <a:r>
              <a:rPr lang="en-IN" dirty="0">
                <a:latin typeface="Palatino Linotype" panose="02040502050505030304" pitchFamily="18" charset="0"/>
              </a:rPr>
              <a:t>PO.6 The Engineer and Society: Apply reasoning informed by the contextual knowledge to assess societal, health, safety, legal and cultural issues and the consequent responsibilities relevant to the professional engineering practice</a:t>
            </a:r>
            <a:r>
              <a:rPr lang="en-IN" dirty="0" smtClean="0">
                <a:latin typeface="Palatino Linotype" panose="02040502050505030304" pitchFamily="18" charset="0"/>
              </a:rPr>
              <a:t>.</a:t>
            </a:r>
            <a:endParaRPr lang="en-US" dirty="0">
              <a:latin typeface="Palatino Linotype" panose="02040502050505030304" pitchFamily="18"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40893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Palatino Linotype" panose="02040502050505030304" pitchFamily="18" charset="0"/>
              </a:rPr>
              <a:t> </a:t>
            </a:r>
            <a:r>
              <a:rPr lang="en-IN" b="1" dirty="0" smtClean="0">
                <a:latin typeface="Palatino Linotype" panose="02040502050505030304" pitchFamily="18" charset="0"/>
              </a:rPr>
              <a:t>              Program </a:t>
            </a:r>
            <a:r>
              <a:rPr lang="en-IN" b="1" dirty="0">
                <a:latin typeface="Palatino Linotype" panose="02040502050505030304" pitchFamily="18" charset="0"/>
              </a:rPr>
              <a:t>Outcomes</a:t>
            </a:r>
            <a:endParaRPr lang="en-US" dirty="0"/>
          </a:p>
        </p:txBody>
      </p:sp>
      <p:sp>
        <p:nvSpPr>
          <p:cNvPr id="3" name="Content Placeholder 2"/>
          <p:cNvSpPr>
            <a:spLocks noGrp="1"/>
          </p:cNvSpPr>
          <p:nvPr>
            <p:ph idx="1"/>
          </p:nvPr>
        </p:nvSpPr>
        <p:spPr/>
        <p:txBody>
          <a:bodyPr>
            <a:normAutofit fontScale="62500" lnSpcReduction="20000"/>
          </a:bodyPr>
          <a:lstStyle/>
          <a:p>
            <a:r>
              <a:rPr lang="en-IN" dirty="0"/>
              <a:t>PO.7 Environment and Sustainability: Understand the impact of the professional engineering solutions in societal and environmental contexts, and demonstrate the knowledge of, and need for sustainable development</a:t>
            </a:r>
            <a:endParaRPr lang="en-US" dirty="0"/>
          </a:p>
          <a:p>
            <a:r>
              <a:rPr lang="en-IN" dirty="0"/>
              <a:t>PO.8 Ethics: Apply ethical principles and commit to professional ethics and responsibilities and norms of the</a:t>
            </a:r>
            <a:endParaRPr lang="en-US" dirty="0"/>
          </a:p>
          <a:p>
            <a:r>
              <a:rPr lang="en-IN" dirty="0"/>
              <a:t>engineering practice.</a:t>
            </a:r>
            <a:endParaRPr lang="en-US" dirty="0"/>
          </a:p>
          <a:p>
            <a:r>
              <a:rPr lang="en-IN" dirty="0"/>
              <a:t>PO.9 Individual and Teamwork: Function effectively as an individual, and as a member or leader in diverse teams, and in multidisciplinary settings.</a:t>
            </a:r>
            <a:endParaRPr lang="en-US" dirty="0"/>
          </a:p>
          <a:p>
            <a:r>
              <a:rPr lang="en-IN" dirty="0"/>
              <a:t>PO.10 Communication: Communicate effectively on complex engineering activities with the engineering</a:t>
            </a:r>
            <a:endParaRPr lang="en-US" dirty="0"/>
          </a:p>
          <a:p>
            <a:r>
              <a:rPr lang="en-IN" dirty="0"/>
              <a:t>community and with society at large, such as, being able to comprehend and write effective reports and</a:t>
            </a:r>
            <a:endParaRPr lang="en-US" dirty="0"/>
          </a:p>
          <a:p>
            <a:r>
              <a:rPr lang="en-IN" dirty="0"/>
              <a:t>design documentation, make effective presentations, and give and receive clear instructions.</a:t>
            </a:r>
            <a:endParaRPr lang="en-US" dirty="0"/>
          </a:p>
          <a:p>
            <a:r>
              <a:rPr lang="en-IN" dirty="0"/>
              <a:t>PO.11 Project Management and Finance: Demonstrate knowledge and understanding of the engineering and</a:t>
            </a:r>
            <a:endParaRPr lang="en-US" dirty="0"/>
          </a:p>
          <a:p>
            <a:r>
              <a:rPr lang="en-IN" dirty="0"/>
              <a:t>management principles and apply these to one’s own work, as a member and leader in a team, to manage projects and in multidisciplinary environments.</a:t>
            </a:r>
            <a:endParaRPr lang="en-US" dirty="0"/>
          </a:p>
          <a:p>
            <a:r>
              <a:rPr lang="en-IN" dirty="0"/>
              <a:t>PO.12 Life-long Learning: Recognize the need for, and have the preparation and ability to engage in independent and life-long learning in the broadest context to technological change.</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36137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b="1" dirty="0" smtClean="0">
                <a:latin typeface="Palatino Linotype" panose="02040502050505030304" pitchFamily="18" charset="0"/>
              </a:rPr>
              <a:t/>
            </a:r>
            <a:br>
              <a:rPr lang="en-IN" b="1" dirty="0" smtClean="0">
                <a:latin typeface="Palatino Linotype" panose="02040502050505030304" pitchFamily="18" charset="0"/>
              </a:rPr>
            </a:br>
            <a:r>
              <a:rPr lang="en-IN" b="1" dirty="0" smtClean="0">
                <a:latin typeface="Palatino Linotype" panose="02040502050505030304" pitchFamily="18" charset="0"/>
              </a:rPr>
              <a:t>Program </a:t>
            </a:r>
            <a:r>
              <a:rPr lang="en-IN" b="1" dirty="0">
                <a:latin typeface="Palatino Linotype" panose="02040502050505030304" pitchFamily="18" charset="0"/>
              </a:rPr>
              <a:t>Specific Outcomes</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buNone/>
            </a:pPr>
            <a:endParaRPr lang="en-US" dirty="0"/>
          </a:p>
          <a:p>
            <a:r>
              <a:rPr lang="en-IN" dirty="0"/>
              <a:t>PSO.1 Chandigarh University Computer Science and Engineering graduates will be able to develop knowledge of Common Business Principles.</a:t>
            </a:r>
            <a:endParaRPr lang="en-US" dirty="0"/>
          </a:p>
          <a:p>
            <a:r>
              <a:rPr lang="en-IN" dirty="0"/>
              <a:t>PSO.2 Chandigarh University Computer Science and Engineering graduates will be able to understand</a:t>
            </a:r>
            <a:endParaRPr lang="en-US" dirty="0"/>
          </a:p>
          <a:p>
            <a:r>
              <a:rPr lang="en-IN" dirty="0"/>
              <a:t>contemporary technology, business discipline and service orientation.</a:t>
            </a:r>
            <a:endParaRPr lang="en-US" dirty="0"/>
          </a:p>
          <a:p>
            <a:r>
              <a:rPr lang="en-IN" dirty="0"/>
              <a:t>PSO.3 Chandigarh University Computer Science and Engineering graduates will be able to understand the</a:t>
            </a:r>
            <a:endParaRPr lang="en-US" dirty="0"/>
          </a:p>
          <a:p>
            <a:r>
              <a:rPr lang="en-IN" dirty="0"/>
              <a:t>technology abstraction and innovation ability</a:t>
            </a:r>
            <a:endParaRPr lang="en-US"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03093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Lecture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3487088699"/>
              </p:ext>
            </p:extLst>
          </p:nvPr>
        </p:nvGraphicFramePr>
        <p:xfrm>
          <a:off x="592954" y="2216506"/>
          <a:ext cx="6356486" cy="2592330"/>
        </p:xfrm>
        <a:graphic>
          <a:graphicData uri="http://schemas.openxmlformats.org/drawingml/2006/table">
            <a:tbl>
              <a:tblPr firstRow="1" firstCol="1" bandRow="1"/>
              <a:tblGrid>
                <a:gridCol w="541459">
                  <a:extLst>
                    <a:ext uri="{9D8B030D-6E8A-4147-A177-3AD203B41FA5}">
                      <a16:colId xmlns:a16="http://schemas.microsoft.com/office/drawing/2014/main" val="20000"/>
                    </a:ext>
                  </a:extLst>
                </a:gridCol>
                <a:gridCol w="5815027">
                  <a:extLst>
                    <a:ext uri="{9D8B030D-6E8A-4147-A177-3AD203B41FA5}">
                      <a16:colId xmlns:a16="http://schemas.microsoft.com/office/drawing/2014/main" val="20001"/>
                    </a:ext>
                  </a:extLst>
                </a:gridCol>
              </a:tblGrid>
              <a:tr h="429388">
                <a:tc>
                  <a:txBody>
                    <a:bodyPr/>
                    <a:lstStyle/>
                    <a:p>
                      <a:pPr algn="ctr" fontAlgn="ctr"/>
                      <a:r>
                        <a:rPr lang="en-US" sz="1200" b="1" i="0" u="none" strike="noStrike" dirty="0">
                          <a:solidFill>
                            <a:srgbClr val="000000"/>
                          </a:solidFill>
                          <a:effectLst/>
                          <a:latin typeface="+mn-lt"/>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65479">
                <a:tc>
                  <a:txBody>
                    <a:bodyPr/>
                    <a:lstStyle/>
                    <a:p>
                      <a:pPr algn="ctr" fontAlgn="ctr"/>
                      <a:r>
                        <a:rPr lang="en-US" sz="1200" b="0" i="0" u="none" strike="noStrike" dirty="0">
                          <a:solidFill>
                            <a:schemeClr val="tx1"/>
                          </a:solidFill>
                          <a:effectLst/>
                          <a:latin typeface="+mn-lt"/>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mn-lt"/>
                          <a:ea typeface="+mn-ea"/>
                          <a:cs typeface="+mn-cs"/>
                        </a:rPr>
                        <a:t>To make student</a:t>
                      </a:r>
                      <a:r>
                        <a:rPr lang="en-US" sz="1200" b="0" i="0" kern="1200" baseline="0" dirty="0">
                          <a:solidFill>
                            <a:schemeClr val="tx1"/>
                          </a:solidFill>
                          <a:latin typeface="+mn-lt"/>
                          <a:ea typeface="+mn-ea"/>
                          <a:cs typeface="+mn-cs"/>
                        </a:rPr>
                        <a:t> aware about the basic  concept of digital signals and circuits.</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5479">
                <a:tc>
                  <a:txBody>
                    <a:bodyPr/>
                    <a:lstStyle/>
                    <a:p>
                      <a:pPr algn="ctr" fontAlgn="ctr"/>
                      <a:r>
                        <a:rPr lang="en-US" sz="1200" b="0" i="0" u="none" strike="noStrike" dirty="0">
                          <a:solidFill>
                            <a:srgbClr val="000000"/>
                          </a:solidFill>
                          <a:effectLst/>
                          <a:latin typeface="+mn-lt"/>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mn-lt"/>
                          <a:ea typeface="+mn-ea"/>
                          <a:cs typeface="+mn-cs"/>
                        </a:rPr>
                        <a:t>To aware about</a:t>
                      </a:r>
                      <a:r>
                        <a:rPr lang="en-US" sz="1200" b="0" i="0" kern="1200" baseline="0" dirty="0">
                          <a:solidFill>
                            <a:schemeClr val="tx1"/>
                          </a:solidFill>
                          <a:latin typeface="+mn-lt"/>
                          <a:ea typeface="+mn-ea"/>
                          <a:cs typeface="+mn-cs"/>
                        </a:rPr>
                        <a:t> need digital electronics.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7101252"/>
                  </a:ext>
                </a:extLst>
              </a:tr>
              <a:tr h="515992">
                <a:tc>
                  <a:txBody>
                    <a:bodyPr/>
                    <a:lstStyle/>
                    <a:p>
                      <a:pPr algn="ctr" fontAlgn="ctr"/>
                      <a:r>
                        <a:rPr lang="en-US" sz="12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mn-lt"/>
                          <a:ea typeface="+mn-ea"/>
                          <a:cs typeface="+mn-cs"/>
                        </a:rPr>
                        <a:t>To provide knowledge about advantages and disadvantages of analog and digital electronics.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15992">
                <a:tc>
                  <a:txBody>
                    <a:bodyPr/>
                    <a:lstStyle/>
                    <a:p>
                      <a:pPr algn="ctr" fontAlgn="ctr"/>
                      <a:r>
                        <a:rPr lang="en-US" sz="1200" b="0" i="0" u="none" strike="noStrike" dirty="0">
                          <a:solidFill>
                            <a:srgbClr val="000000"/>
                          </a:solidFill>
                          <a:effectLst/>
                          <a:latin typeface="+mn-lt"/>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200" b="0" i="0" kern="1200" dirty="0">
                          <a:solidFill>
                            <a:schemeClr val="tx1"/>
                          </a:solidFill>
                          <a:latin typeface="+mn-lt"/>
                          <a:ea typeface="+mn-ea"/>
                          <a:cs typeface="+mn-cs"/>
                        </a:rPr>
                        <a:t>To give brief knowledge about conversion of analog to digital signals.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3581185"/>
                  </a:ext>
                </a:extLst>
              </a:tr>
            </a:tbl>
          </a:graphicData>
        </a:graphic>
      </p:graphicFrame>
      <p:pic>
        <p:nvPicPr>
          <p:cNvPr id="11" name="Picture 2" descr="https://executivefunctioningsuccess.com/wp-content/uploads/2010/06/analog-vs-digital.png">
            <a:extLst>
              <a:ext uri="{FF2B5EF4-FFF2-40B4-BE49-F238E27FC236}">
                <a16:creationId xmlns:a16="http://schemas.microsoft.com/office/drawing/2014/main" id="{D3E7CA57-4866-463C-94EE-F4DCD895362F}"/>
              </a:ext>
            </a:extLst>
          </p:cNvPr>
          <p:cNvPicPr>
            <a:picLocks noChangeAspect="1" noChangeArrowheads="1"/>
          </p:cNvPicPr>
          <p:nvPr/>
        </p:nvPicPr>
        <p:blipFill>
          <a:blip r:embed="rId2" cstate="print"/>
          <a:srcRect/>
          <a:stretch>
            <a:fillRect/>
          </a:stretch>
        </p:blipFill>
        <p:spPr bwMode="auto">
          <a:xfrm>
            <a:off x="7195674" y="1594624"/>
            <a:ext cx="4466101" cy="2713518"/>
          </a:xfrm>
          <a:prstGeom prst="rect">
            <a:avLst/>
          </a:prstGeom>
          <a:noFill/>
        </p:spPr>
      </p:pic>
      <p:sp>
        <p:nvSpPr>
          <p:cNvPr id="13" name="TextBox 12">
            <a:extLst>
              <a:ext uri="{FF2B5EF4-FFF2-40B4-BE49-F238E27FC236}">
                <a16:creationId xmlns:a16="http://schemas.microsoft.com/office/drawing/2014/main" id="{C49710DC-BC41-4886-84FA-BC02136682DE}"/>
              </a:ext>
            </a:extLst>
          </p:cNvPr>
          <p:cNvSpPr txBox="1"/>
          <p:nvPr/>
        </p:nvSpPr>
        <p:spPr>
          <a:xfrm>
            <a:off x="7778089" y="4816096"/>
            <a:ext cx="4070195" cy="646331"/>
          </a:xfrm>
          <a:prstGeom prst="rect">
            <a:avLst/>
          </a:prstGeom>
          <a:noFill/>
        </p:spPr>
        <p:txBody>
          <a:bodyPr wrap="square">
            <a:spAutoFit/>
          </a:bodyPr>
          <a:lstStyle/>
          <a:p>
            <a:pPr algn="ctr">
              <a:buNone/>
            </a:pPr>
            <a:r>
              <a:rPr lang="en-US" sz="1800" dirty="0">
                <a:latin typeface="Casper"/>
              </a:rPr>
              <a:t>Figure showing same application but different technology</a:t>
            </a:r>
          </a:p>
        </p:txBody>
      </p:sp>
    </p:spTree>
    <p:extLst>
      <p:ext uri="{BB962C8B-B14F-4D97-AF65-F5344CB8AC3E}">
        <p14:creationId xmlns:p14="http://schemas.microsoft.com/office/powerpoint/2010/main" val="1095512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8</a:t>
            </a:fld>
            <a:endParaRPr lang="en-US" dirty="0"/>
          </a:p>
        </p:txBody>
      </p:sp>
      <p:sp>
        <p:nvSpPr>
          <p:cNvPr id="8" name="Title 7"/>
          <p:cNvSpPr txBox="1">
            <a:spLocks noGrp="1" noChangeArrowheads="1"/>
          </p:cNvSpPr>
          <p:nvPr>
            <p:ph type="title"/>
          </p:nvPr>
        </p:nvSpPr>
        <p:spPr bwMode="auto">
          <a:xfrm>
            <a:off x="925286" y="294382"/>
            <a:ext cx="5802086"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2753960092"/>
              </p:ext>
            </p:extLst>
          </p:nvPr>
        </p:nvGraphicFramePr>
        <p:xfrm>
          <a:off x="341052" y="2270843"/>
          <a:ext cx="6536802" cy="2192300"/>
        </p:xfrm>
        <a:graphic>
          <a:graphicData uri="http://schemas.openxmlformats.org/drawingml/2006/table">
            <a:tbl>
              <a:tblPr firstRow="1" firstCol="1" bandRow="1"/>
              <a:tblGrid>
                <a:gridCol w="556819">
                  <a:extLst>
                    <a:ext uri="{9D8B030D-6E8A-4147-A177-3AD203B41FA5}">
                      <a16:colId xmlns:a16="http://schemas.microsoft.com/office/drawing/2014/main" val="20000"/>
                    </a:ext>
                  </a:extLst>
                </a:gridCol>
                <a:gridCol w="5979983">
                  <a:extLst>
                    <a:ext uri="{9D8B030D-6E8A-4147-A177-3AD203B41FA5}">
                      <a16:colId xmlns:a16="http://schemas.microsoft.com/office/drawing/2014/main" val="20001"/>
                    </a:ext>
                  </a:extLst>
                </a:gridCol>
              </a:tblGrid>
              <a:tr h="483318">
                <a:tc>
                  <a:txBody>
                    <a:bodyPr/>
                    <a:lstStyle/>
                    <a:p>
                      <a:pPr algn="ctr" fontAlgn="ctr"/>
                      <a:r>
                        <a:rPr lang="en-US" sz="2000" b="1" i="0" u="none" strike="noStrike" dirty="0">
                          <a:solidFill>
                            <a:srgbClr val="000000"/>
                          </a:solidFill>
                          <a:effectLst/>
                          <a:latin typeface="Times New Roman" panose="02020603050405020304" pitchFamily="18" charset="0"/>
                          <a:cs typeface="Times New Roman" panose="02020603050405020304"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dirty="0">
                          <a:solidFill>
                            <a:srgbClr val="000000"/>
                          </a:solidFill>
                          <a:effectLst/>
                          <a:latin typeface="Times New Roman" panose="02020603050405020304" pitchFamily="18" charset="0"/>
                          <a:cs typeface="Times New Roman" panose="02020603050405020304"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2966">
                <a:tc>
                  <a:txBody>
                    <a:bodyPr/>
                    <a:lstStyle/>
                    <a:p>
                      <a:pPr algn="ctr" fontAlgn="ctr"/>
                      <a:r>
                        <a:rPr lang="en-US" sz="20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nSpc>
                          <a:spcPts val="1340"/>
                        </a:lnSpc>
                        <a:buSzPts val="1200"/>
                        <a:buFont typeface="Times New Roman" panose="02020603050405020304" pitchFamily="18" charset="0"/>
                        <a:buNone/>
                        <a:tabLst>
                          <a:tab pos="461010" algn="l"/>
                        </a:tabLst>
                      </a:pPr>
                      <a:endParaRPr lang="en-US" sz="1200" spc="-50" dirty="0" smtClean="0">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nSpc>
                          <a:spcPts val="1340"/>
                        </a:lnSpc>
                        <a:buSzPts val="1200"/>
                        <a:buFont typeface="Times New Roman" panose="02020603050405020304" pitchFamily="18" charset="0"/>
                        <a:buNone/>
                        <a:tabLst>
                          <a:tab pos="461010" algn="l"/>
                        </a:tabLst>
                      </a:pPr>
                      <a:r>
                        <a:rPr lang="en-US" sz="1200" spc="-50" dirty="0" smtClean="0">
                          <a:effectLst/>
                          <a:latin typeface="Times New Roman" panose="02020603050405020304" pitchFamily="18" charset="0"/>
                          <a:ea typeface="Times New Roman" panose="02020603050405020304" pitchFamily="18" charset="0"/>
                          <a:cs typeface="Arial" panose="020B0604020202020204" pitchFamily="34" charset="0"/>
                        </a:rPr>
                        <a:t>To </a:t>
                      </a: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understand Merits of</a:t>
                      </a:r>
                      <a:r>
                        <a:rPr lang="en-US" sz="1200" spc="-15"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digitization</a:t>
                      </a:r>
                      <a:r>
                        <a:rPr lang="en-US" sz="1200" spc="-50" dirty="0" smtClean="0">
                          <a:effectLst/>
                          <a:latin typeface="Times New Roman" panose="02020603050405020304" pitchFamily="18" charset="0"/>
                          <a:ea typeface="Times New Roman" panose="02020603050405020304" pitchFamily="18" charset="0"/>
                          <a:cs typeface="Arial" panose="020B0604020202020204" pitchFamily="34" charset="0"/>
                        </a:rPr>
                        <a:t>.</a:t>
                      </a:r>
                      <a:endParaRPr lang="en-IN" sz="11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2885">
                <a:tc>
                  <a:txBody>
                    <a:bodyPr/>
                    <a:lstStyle/>
                    <a:p>
                      <a:pPr algn="ctr"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Bef>
                          <a:spcPts val="5"/>
                        </a:spcBef>
                      </a:pPr>
                      <a:r>
                        <a:rPr lang="en-US" sz="1550" b="1" dirty="0">
                          <a:effectLst/>
                          <a:latin typeface="Times New Roman" panose="02020603050405020304" pitchFamily="18" charset="0"/>
                          <a:ea typeface="Times New Roman" panose="02020603050405020304" pitchFamily="18" charset="0"/>
                          <a:cs typeface="Arial" panose="020B0604020202020204" pitchFamily="34" charset="0"/>
                        </a:rPr>
                        <a:t> </a:t>
                      </a:r>
                    </a:p>
                    <a:p>
                      <a:pPr marL="0" marR="127000" lvl="0" indent="0">
                        <a:lnSpc>
                          <a:spcPct val="116000"/>
                        </a:lnSpc>
                        <a:spcAft>
                          <a:spcPts val="0"/>
                        </a:spcAft>
                        <a:buSzPts val="1200"/>
                        <a:buFont typeface="Times New Roman" panose="02020603050405020304" pitchFamily="18" charset="0"/>
                        <a:buNone/>
                        <a:tabLst>
                          <a:tab pos="461010" algn="l"/>
                        </a:tabLst>
                      </a:pP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To enable you to understand common forms of number representation </a:t>
                      </a:r>
                      <a:r>
                        <a:rPr lang="en-US" sz="1200" spc="-15" dirty="0">
                          <a:effectLst/>
                          <a:latin typeface="Times New Roman" panose="02020603050405020304" pitchFamily="18" charset="0"/>
                          <a:ea typeface="Times New Roman" panose="02020603050405020304" pitchFamily="18" charset="0"/>
                          <a:cs typeface="Arial" panose="020B0604020202020204" pitchFamily="34" charset="0"/>
                        </a:rPr>
                        <a:t>in </a:t>
                      </a: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digital electronic circuits and </a:t>
                      </a:r>
                      <a:r>
                        <a:rPr lang="en-US" sz="1200" spc="10" dirty="0">
                          <a:effectLst/>
                          <a:latin typeface="Times New Roman" panose="02020603050405020304" pitchFamily="18" charset="0"/>
                          <a:ea typeface="Times New Roman" panose="02020603050405020304" pitchFamily="18" charset="0"/>
                          <a:cs typeface="Arial" panose="020B0604020202020204" pitchFamily="34" charset="0"/>
                        </a:rPr>
                        <a:t>to </a:t>
                      </a:r>
                      <a:r>
                        <a:rPr lang="en-US" sz="1200" spc="-15" dirty="0">
                          <a:effectLst/>
                          <a:latin typeface="Times New Roman" panose="02020603050405020304" pitchFamily="18" charset="0"/>
                          <a:ea typeface="Times New Roman" panose="02020603050405020304" pitchFamily="18" charset="0"/>
                          <a:cs typeface="Arial" panose="020B0604020202020204" pitchFamily="34" charset="0"/>
                        </a:rPr>
                        <a:t>be </a:t>
                      </a: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able </a:t>
                      </a:r>
                      <a:r>
                        <a:rPr lang="en-US" sz="1200" spc="10" dirty="0">
                          <a:effectLst/>
                          <a:latin typeface="Times New Roman" panose="02020603050405020304" pitchFamily="18" charset="0"/>
                          <a:ea typeface="Times New Roman" panose="02020603050405020304" pitchFamily="18" charset="0"/>
                          <a:cs typeface="Arial" panose="020B0604020202020204" pitchFamily="34" charset="0"/>
                        </a:rPr>
                        <a:t>to </a:t>
                      </a: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convert between different</a:t>
                      </a:r>
                      <a:r>
                        <a:rPr lang="en-US" sz="1200" spc="-7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representations.</a:t>
                      </a:r>
                      <a:r>
                        <a:rPr lang="en-US" sz="13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11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9229">
                <a:tc>
                  <a:txBody>
                    <a:bodyPr/>
                    <a:lstStyle/>
                    <a:p>
                      <a:pPr algn="ctr" fontAlgn="ctr"/>
                      <a:r>
                        <a:rPr lang="en-US" sz="20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buSzPts val="1200"/>
                        <a:buFont typeface="Times New Roman" panose="02020603050405020304" pitchFamily="18" charset="0"/>
                        <a:buNone/>
                        <a:tabLst>
                          <a:tab pos="461010" algn="l"/>
                        </a:tabLst>
                      </a:pP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To Impart Knowledge about various digital circuits and designing of</a:t>
                      </a:r>
                      <a:r>
                        <a:rPr lang="en-US" sz="1200" spc="19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200" spc="-50" dirty="0">
                          <a:effectLst/>
                          <a:latin typeface="Times New Roman" panose="02020603050405020304" pitchFamily="18" charset="0"/>
                          <a:ea typeface="Times New Roman" panose="02020603050405020304" pitchFamily="18" charset="0"/>
                          <a:cs typeface="Arial" panose="020B0604020202020204" pitchFamily="34" charset="0"/>
                        </a:rPr>
                        <a:t>systems</a:t>
                      </a:r>
                      <a:endParaRPr lang="en-IN" sz="1100" spc="-5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1" name="Picture 2" descr="https://executivefunctioningsuccess.com/wp-content/uploads/2010/06/analog-vs-digital.png">
            <a:extLst>
              <a:ext uri="{FF2B5EF4-FFF2-40B4-BE49-F238E27FC236}">
                <a16:creationId xmlns:a16="http://schemas.microsoft.com/office/drawing/2014/main" id="{2CED8DF6-0B67-41AC-8AA1-CCD94D5EEC94}"/>
              </a:ext>
            </a:extLst>
          </p:cNvPr>
          <p:cNvPicPr>
            <a:picLocks noChangeAspect="1" noChangeArrowheads="1"/>
          </p:cNvPicPr>
          <p:nvPr/>
        </p:nvPicPr>
        <p:blipFill>
          <a:blip r:embed="rId2" cstate="print"/>
          <a:srcRect/>
          <a:stretch>
            <a:fillRect/>
          </a:stretch>
        </p:blipFill>
        <p:spPr bwMode="auto">
          <a:xfrm>
            <a:off x="7195674" y="1594624"/>
            <a:ext cx="4466101" cy="2713518"/>
          </a:xfrm>
          <a:prstGeom prst="rect">
            <a:avLst/>
          </a:prstGeom>
          <a:noFill/>
        </p:spPr>
      </p:pic>
      <p:sp>
        <p:nvSpPr>
          <p:cNvPr id="13" name="TextBox 12">
            <a:extLst>
              <a:ext uri="{FF2B5EF4-FFF2-40B4-BE49-F238E27FC236}">
                <a16:creationId xmlns:a16="http://schemas.microsoft.com/office/drawing/2014/main" id="{B378A628-4CFD-47F0-A59D-DB82C5608A6A}"/>
              </a:ext>
            </a:extLst>
          </p:cNvPr>
          <p:cNvSpPr txBox="1"/>
          <p:nvPr/>
        </p:nvSpPr>
        <p:spPr>
          <a:xfrm>
            <a:off x="7560527" y="4617145"/>
            <a:ext cx="3724385" cy="646331"/>
          </a:xfrm>
          <a:prstGeom prst="rect">
            <a:avLst/>
          </a:prstGeom>
          <a:noFill/>
        </p:spPr>
        <p:txBody>
          <a:bodyPr wrap="square">
            <a:spAutoFit/>
          </a:bodyPr>
          <a:lstStyle/>
          <a:p>
            <a:pPr algn="ctr">
              <a:buNone/>
            </a:pPr>
            <a:r>
              <a:rPr lang="en-US" sz="1800" dirty="0">
                <a:latin typeface="Casper"/>
              </a:rPr>
              <a:t>Figure showing same application but different technology</a:t>
            </a:r>
          </a:p>
        </p:txBody>
      </p:sp>
    </p:spTree>
    <p:extLst>
      <p:ext uri="{BB962C8B-B14F-4D97-AF65-F5344CB8AC3E}">
        <p14:creationId xmlns:p14="http://schemas.microsoft.com/office/powerpoint/2010/main" val="1433814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9</a:t>
            </a:fld>
            <a:endParaRPr lang="en-US" dirty="0"/>
          </a:p>
        </p:txBody>
      </p:sp>
      <p:sp>
        <p:nvSpPr>
          <p:cNvPr id="8" name="Title 7"/>
          <p:cNvSpPr txBox="1">
            <a:spLocks noGrp="1" noChangeArrowheads="1"/>
          </p:cNvSpPr>
          <p:nvPr>
            <p:ph type="title"/>
          </p:nvPr>
        </p:nvSpPr>
        <p:spPr bwMode="auto">
          <a:xfrm>
            <a:off x="788897" y="268492"/>
            <a:ext cx="5688103"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1135532627"/>
              </p:ext>
            </p:extLst>
          </p:nvPr>
        </p:nvGraphicFramePr>
        <p:xfrm>
          <a:off x="282010" y="2582091"/>
          <a:ext cx="5870596" cy="2762795"/>
        </p:xfrm>
        <a:graphic>
          <a:graphicData uri="http://schemas.openxmlformats.org/drawingml/2006/table">
            <a:tbl>
              <a:tblPr firstRow="1" firstCol="1" bandRow="1"/>
              <a:tblGrid>
                <a:gridCol w="556190">
                  <a:extLst>
                    <a:ext uri="{9D8B030D-6E8A-4147-A177-3AD203B41FA5}">
                      <a16:colId xmlns:a16="http://schemas.microsoft.com/office/drawing/2014/main" val="20000"/>
                    </a:ext>
                  </a:extLst>
                </a:gridCol>
                <a:gridCol w="4530634">
                  <a:extLst>
                    <a:ext uri="{9D8B030D-6E8A-4147-A177-3AD203B41FA5}">
                      <a16:colId xmlns:a16="http://schemas.microsoft.com/office/drawing/2014/main" val="20001"/>
                    </a:ext>
                  </a:extLst>
                </a:gridCol>
                <a:gridCol w="783772">
                  <a:extLst>
                    <a:ext uri="{9D8B030D-6E8A-4147-A177-3AD203B41FA5}">
                      <a16:colId xmlns:a16="http://schemas.microsoft.com/office/drawing/2014/main" val="20002"/>
                    </a:ext>
                  </a:extLst>
                </a:gridCol>
              </a:tblGrid>
              <a:tr h="548641">
                <a:tc>
                  <a:txBody>
                    <a:bodyPr/>
                    <a:lstStyle/>
                    <a:p>
                      <a:pPr algn="ctr" fontAlgn="ctr"/>
                      <a:r>
                        <a:rPr lang="en-US" sz="12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mn-lt"/>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0668">
                <a:tc>
                  <a:txBody>
                    <a:bodyPr/>
                    <a:lstStyle/>
                    <a:p>
                      <a:pPr>
                        <a:lnSpc>
                          <a:spcPts val="1265"/>
                        </a:lnSpc>
                        <a:spcBef>
                          <a:spcPts val="1200"/>
                        </a:spcBef>
                        <a:spcAft>
                          <a:spcPts val="1000"/>
                        </a:spcAft>
                      </a:pPr>
                      <a:r>
                        <a:rPr lang="en-US" sz="110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ts val="1265"/>
                        </a:lnSpc>
                        <a:spcBef>
                          <a:spcPts val="1200"/>
                        </a:spcBef>
                        <a:spcAft>
                          <a:spcPts val="1000"/>
                        </a:spcAft>
                      </a:pPr>
                      <a:r>
                        <a:rPr lang="en-US" sz="110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To indentify the different types of digital circuits and their difference and to illustrate the various types of gates.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chemeClr val="tx1"/>
                          </a:solidFill>
                          <a:effectLst/>
                          <a:latin typeface="+mn-lt"/>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6315">
                <a:tc>
                  <a:txBody>
                    <a:bodyPr/>
                    <a:lstStyle/>
                    <a:p>
                      <a:pPr>
                        <a:lnSpc>
                          <a:spcPts val="1265"/>
                        </a:lnSpc>
                        <a:spcBef>
                          <a:spcPts val="1200"/>
                        </a:spcBef>
                        <a:spcAft>
                          <a:spcPts val="1000"/>
                        </a:spcAft>
                      </a:pPr>
                      <a:r>
                        <a:rPr lang="en-US" sz="110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ts val="1265"/>
                        </a:lnSpc>
                        <a:spcBef>
                          <a:spcPts val="1200"/>
                        </a:spcBef>
                        <a:spcAft>
                          <a:spcPts val="1000"/>
                        </a:spcAft>
                      </a:pPr>
                      <a:r>
                        <a:rPr lang="en-US" sz="110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To understand the various elements of digital system and to implement their applications.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mn-lt"/>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2771">
                <a:tc>
                  <a:txBody>
                    <a:bodyPr/>
                    <a:lstStyle/>
                    <a:p>
                      <a:pPr>
                        <a:lnSpc>
                          <a:spcPts val="1265"/>
                        </a:lnSpc>
                        <a:spcBef>
                          <a:spcPts val="1200"/>
                        </a:spcBef>
                        <a:spcAft>
                          <a:spcPts val="1000"/>
                        </a:spcAft>
                      </a:pPr>
                      <a:r>
                        <a:rPr lang="en-US" sz="110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ts val="1265"/>
                        </a:lnSpc>
                        <a:spcBef>
                          <a:spcPts val="1200"/>
                        </a:spcBef>
                        <a:spcAft>
                          <a:spcPts val="1000"/>
                        </a:spcAft>
                      </a:pP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To illustrate the relation between Combinational &amp; Sequential Circuits and to apply for practical applications.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mn-lt"/>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11629">
                <a:tc>
                  <a:txBody>
                    <a:bodyPr/>
                    <a:lstStyle/>
                    <a:p>
                      <a:pPr>
                        <a:lnSpc>
                          <a:spcPts val="1265"/>
                        </a:lnSpc>
                        <a:spcBef>
                          <a:spcPts val="1200"/>
                        </a:spcBef>
                        <a:spcAft>
                          <a:spcPts val="1000"/>
                        </a:spcAft>
                      </a:pPr>
                      <a:r>
                        <a:rPr lang="en-US" sz="110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ts val="1265"/>
                        </a:lnSpc>
                        <a:spcBef>
                          <a:spcPts val="1200"/>
                        </a:spcBef>
                        <a:spcAft>
                          <a:spcPts val="1000"/>
                        </a:spcAft>
                      </a:pPr>
                      <a:r>
                        <a:rPr lang="en-US" sz="110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To solve the basic problems related to different types of digital circuits and to calculate it using various numerical problems.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mn-lt"/>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2771">
                <a:tc>
                  <a:txBody>
                    <a:bodyPr/>
                    <a:lstStyle/>
                    <a:p>
                      <a:pPr>
                        <a:lnSpc>
                          <a:spcPts val="1265"/>
                        </a:lnSpc>
                        <a:spcBef>
                          <a:spcPts val="1200"/>
                        </a:spcBef>
                        <a:spcAft>
                          <a:spcPts val="1000"/>
                        </a:spcAft>
                      </a:pPr>
                      <a:r>
                        <a:rPr lang="en-US" sz="110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ts val="1265"/>
                        </a:lnSpc>
                        <a:spcBef>
                          <a:spcPts val="1200"/>
                        </a:spcBef>
                        <a:spcAft>
                          <a:spcPts val="1000"/>
                        </a:spcAft>
                      </a:pP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To create different  hardware and software based digital applications.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mn-lt"/>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3" name="Picture 2" descr="https://executivefunctioningsuccess.com/wp-content/uploads/2010/06/analog-vs-digital.png">
            <a:extLst>
              <a:ext uri="{FF2B5EF4-FFF2-40B4-BE49-F238E27FC236}">
                <a16:creationId xmlns:a16="http://schemas.microsoft.com/office/drawing/2014/main" id="{275206CE-3DC6-4440-A41C-781AF601D2AF}"/>
              </a:ext>
            </a:extLst>
          </p:cNvPr>
          <p:cNvPicPr>
            <a:picLocks noChangeAspect="1" noChangeArrowheads="1"/>
          </p:cNvPicPr>
          <p:nvPr/>
        </p:nvPicPr>
        <p:blipFill>
          <a:blip r:embed="rId2" cstate="print"/>
          <a:srcRect/>
          <a:stretch>
            <a:fillRect/>
          </a:stretch>
        </p:blipFill>
        <p:spPr bwMode="auto">
          <a:xfrm>
            <a:off x="7195674" y="1594624"/>
            <a:ext cx="4466101" cy="2713518"/>
          </a:xfrm>
          <a:prstGeom prst="rect">
            <a:avLst/>
          </a:prstGeom>
          <a:noFill/>
        </p:spPr>
      </p:pic>
      <p:sp>
        <p:nvSpPr>
          <p:cNvPr id="14" name="TextBox 13">
            <a:extLst>
              <a:ext uri="{FF2B5EF4-FFF2-40B4-BE49-F238E27FC236}">
                <a16:creationId xmlns:a16="http://schemas.microsoft.com/office/drawing/2014/main" id="{B819AFA4-6730-4178-AEEF-5723CCE43D8B}"/>
              </a:ext>
            </a:extLst>
          </p:cNvPr>
          <p:cNvSpPr txBox="1"/>
          <p:nvPr/>
        </p:nvSpPr>
        <p:spPr>
          <a:xfrm>
            <a:off x="7560527" y="4617145"/>
            <a:ext cx="3724385" cy="646331"/>
          </a:xfrm>
          <a:prstGeom prst="rect">
            <a:avLst/>
          </a:prstGeom>
          <a:noFill/>
        </p:spPr>
        <p:txBody>
          <a:bodyPr wrap="square">
            <a:spAutoFit/>
          </a:bodyPr>
          <a:lstStyle/>
          <a:p>
            <a:pPr algn="ctr">
              <a:buNone/>
            </a:pPr>
            <a:r>
              <a:rPr lang="en-US" sz="1800" dirty="0">
                <a:latin typeface="Casper"/>
              </a:rPr>
              <a:t>Figure showing same application but different technology</a:t>
            </a:r>
          </a:p>
        </p:txBody>
      </p:sp>
    </p:spTree>
    <p:extLst>
      <p:ext uri="{BB962C8B-B14F-4D97-AF65-F5344CB8AC3E}">
        <p14:creationId xmlns:p14="http://schemas.microsoft.com/office/powerpoint/2010/main" val="2098130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Palatino Linotype" panose="02040502050505030304" pitchFamily="18" charset="0"/>
              </a:rPr>
              <a:t>CO-PO Mapping</a:t>
            </a:r>
            <a:endParaRPr lang="en-US" dirty="0">
              <a:latin typeface="Palatino Linotype" panose="02040502050505030304" pitchFamily="18" charset="0"/>
            </a:endParaRPr>
          </a:p>
        </p:txBody>
      </p:sp>
      <p:graphicFrame>
        <p:nvGraphicFramePr>
          <p:cNvPr id="8" name="Content Placeholder 7"/>
          <p:cNvGraphicFramePr>
            <a:graphicFrameLocks noGrp="1"/>
          </p:cNvGraphicFramePr>
          <p:nvPr>
            <p:ph idx="1"/>
          </p:nvPr>
        </p:nvGraphicFramePr>
        <p:xfrm>
          <a:off x="838192" y="2037805"/>
          <a:ext cx="10309419" cy="3704090"/>
        </p:xfrm>
        <a:graphic>
          <a:graphicData uri="http://schemas.openxmlformats.org/drawingml/2006/table">
            <a:tbl>
              <a:tblPr firstRow="1" firstCol="1" bandRow="1">
                <a:tableStyleId>{5C22544A-7EE6-4342-B048-85BDC9FD1C3A}</a:tableStyleId>
              </a:tblPr>
              <a:tblGrid>
                <a:gridCol w="981897">
                  <a:extLst>
                    <a:ext uri="{9D8B030D-6E8A-4147-A177-3AD203B41FA5}">
                      <a16:colId xmlns:a16="http://schemas.microsoft.com/office/drawing/2014/main" val="3488421745"/>
                    </a:ext>
                  </a:extLst>
                </a:gridCol>
                <a:gridCol w="576265">
                  <a:extLst>
                    <a:ext uri="{9D8B030D-6E8A-4147-A177-3AD203B41FA5}">
                      <a16:colId xmlns:a16="http://schemas.microsoft.com/office/drawing/2014/main" val="3578336215"/>
                    </a:ext>
                  </a:extLst>
                </a:gridCol>
                <a:gridCol w="576265">
                  <a:extLst>
                    <a:ext uri="{9D8B030D-6E8A-4147-A177-3AD203B41FA5}">
                      <a16:colId xmlns:a16="http://schemas.microsoft.com/office/drawing/2014/main" val="3035887164"/>
                    </a:ext>
                  </a:extLst>
                </a:gridCol>
                <a:gridCol w="576265">
                  <a:extLst>
                    <a:ext uri="{9D8B030D-6E8A-4147-A177-3AD203B41FA5}">
                      <a16:colId xmlns:a16="http://schemas.microsoft.com/office/drawing/2014/main" val="1282602033"/>
                    </a:ext>
                  </a:extLst>
                </a:gridCol>
                <a:gridCol w="576265">
                  <a:extLst>
                    <a:ext uri="{9D8B030D-6E8A-4147-A177-3AD203B41FA5}">
                      <a16:colId xmlns:a16="http://schemas.microsoft.com/office/drawing/2014/main" val="997943236"/>
                    </a:ext>
                  </a:extLst>
                </a:gridCol>
                <a:gridCol w="576265">
                  <a:extLst>
                    <a:ext uri="{9D8B030D-6E8A-4147-A177-3AD203B41FA5}">
                      <a16:colId xmlns:a16="http://schemas.microsoft.com/office/drawing/2014/main" val="1520927099"/>
                    </a:ext>
                  </a:extLst>
                </a:gridCol>
                <a:gridCol w="576265">
                  <a:extLst>
                    <a:ext uri="{9D8B030D-6E8A-4147-A177-3AD203B41FA5}">
                      <a16:colId xmlns:a16="http://schemas.microsoft.com/office/drawing/2014/main" val="2700301413"/>
                    </a:ext>
                  </a:extLst>
                </a:gridCol>
                <a:gridCol w="576265">
                  <a:extLst>
                    <a:ext uri="{9D8B030D-6E8A-4147-A177-3AD203B41FA5}">
                      <a16:colId xmlns:a16="http://schemas.microsoft.com/office/drawing/2014/main" val="3134473873"/>
                    </a:ext>
                  </a:extLst>
                </a:gridCol>
                <a:gridCol w="576265">
                  <a:extLst>
                    <a:ext uri="{9D8B030D-6E8A-4147-A177-3AD203B41FA5}">
                      <a16:colId xmlns:a16="http://schemas.microsoft.com/office/drawing/2014/main" val="3669082216"/>
                    </a:ext>
                  </a:extLst>
                </a:gridCol>
                <a:gridCol w="576265">
                  <a:extLst>
                    <a:ext uri="{9D8B030D-6E8A-4147-A177-3AD203B41FA5}">
                      <a16:colId xmlns:a16="http://schemas.microsoft.com/office/drawing/2014/main" val="620642580"/>
                    </a:ext>
                  </a:extLst>
                </a:gridCol>
                <a:gridCol w="683548">
                  <a:extLst>
                    <a:ext uri="{9D8B030D-6E8A-4147-A177-3AD203B41FA5}">
                      <a16:colId xmlns:a16="http://schemas.microsoft.com/office/drawing/2014/main" val="1544683854"/>
                    </a:ext>
                  </a:extLst>
                </a:gridCol>
                <a:gridCol w="683548">
                  <a:extLst>
                    <a:ext uri="{9D8B030D-6E8A-4147-A177-3AD203B41FA5}">
                      <a16:colId xmlns:a16="http://schemas.microsoft.com/office/drawing/2014/main" val="1147936694"/>
                    </a:ext>
                  </a:extLst>
                </a:gridCol>
                <a:gridCol w="683548">
                  <a:extLst>
                    <a:ext uri="{9D8B030D-6E8A-4147-A177-3AD203B41FA5}">
                      <a16:colId xmlns:a16="http://schemas.microsoft.com/office/drawing/2014/main" val="2632132297"/>
                    </a:ext>
                  </a:extLst>
                </a:gridCol>
                <a:gridCol w="696831">
                  <a:extLst>
                    <a:ext uri="{9D8B030D-6E8A-4147-A177-3AD203B41FA5}">
                      <a16:colId xmlns:a16="http://schemas.microsoft.com/office/drawing/2014/main" val="946388016"/>
                    </a:ext>
                  </a:extLst>
                </a:gridCol>
                <a:gridCol w="696831">
                  <a:extLst>
                    <a:ext uri="{9D8B030D-6E8A-4147-A177-3AD203B41FA5}">
                      <a16:colId xmlns:a16="http://schemas.microsoft.com/office/drawing/2014/main" val="2766498953"/>
                    </a:ext>
                  </a:extLst>
                </a:gridCol>
                <a:gridCol w="696831">
                  <a:extLst>
                    <a:ext uri="{9D8B030D-6E8A-4147-A177-3AD203B41FA5}">
                      <a16:colId xmlns:a16="http://schemas.microsoft.com/office/drawing/2014/main" val="3373237731"/>
                    </a:ext>
                  </a:extLst>
                </a:gridCol>
              </a:tblGrid>
              <a:tr h="1124210">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Course Outcome</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PO1</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PO2</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PO3</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PO4</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PO5</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PO6</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PO7</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PO8</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PO9</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PO10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PO11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PO12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PSO1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PSO2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PSO3</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681676067"/>
                  </a:ext>
                </a:extLst>
              </a:tr>
              <a:tr h="515976">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CO1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3</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2</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1</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15343389"/>
                  </a:ext>
                </a:extLst>
              </a:tr>
              <a:tr h="515976">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CO2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3</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1</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1</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0512619"/>
                  </a:ext>
                </a:extLst>
              </a:tr>
              <a:tr h="515976">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CO3</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3</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1</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53226150"/>
                  </a:ext>
                </a:extLst>
              </a:tr>
              <a:tr h="515976">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CO4</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3</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2</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67088837"/>
                  </a:ext>
                </a:extLst>
              </a:tr>
              <a:tr h="515976">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CO5</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3</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2</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1</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a:effectLst/>
                          <a:latin typeface="Palatino Linotype" panose="02040502050505030304" pitchFamily="18" charset="0"/>
                        </a:rPr>
                        <a:t>0</a:t>
                      </a:r>
                      <a:endParaRPr lang="en-US" sz="160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2</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2</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1000"/>
                        </a:spcAft>
                      </a:pPr>
                      <a:r>
                        <a:rPr lang="en-IN" sz="1600" dirty="0">
                          <a:effectLst/>
                          <a:latin typeface="Palatino Linotype" panose="02040502050505030304" pitchFamily="18" charset="0"/>
                        </a:rPr>
                        <a:t>0</a:t>
                      </a:r>
                      <a:endParaRPr lang="en-US" sz="1600" dirty="0">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90334791"/>
                  </a:ext>
                </a:extLst>
              </a:tr>
            </a:tbl>
          </a:graphicData>
        </a:graphic>
      </p:graphicFrame>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Rectangle 1"/>
          <p:cNvSpPr>
            <a:spLocks noChangeArrowheads="1"/>
          </p:cNvSpPr>
          <p:nvPr/>
        </p:nvSpPr>
        <p:spPr bwMode="auto">
          <a:xfrm>
            <a:off x="-3908933" y="59323"/>
            <a:ext cx="1961751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smtClean="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CO-PO Mapping</a:t>
            </a:r>
            <a:endParaRPr kumimoji="0" lang="en-US" alt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41305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235131"/>
            <a:ext cx="10655526" cy="842554"/>
          </a:xfrm>
        </p:spPr>
        <p:txBody>
          <a:bodyPr>
            <a:noAutofit/>
          </a:bodyPr>
          <a:lstStyle/>
          <a:p>
            <a:r>
              <a:rPr lang="en-US" sz="4400" b="1" dirty="0">
                <a:latin typeface="Casper Bold"/>
                <a:cs typeface="Times New Roman" pitchFamily="18" charset="0"/>
              </a:rPr>
              <a:t>Introduction to Digital Electronics</a:t>
            </a:r>
            <a:endParaRPr lang="en-IN" sz="4400" dirty="0">
              <a:latin typeface="Casper Bold"/>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11</a:t>
            </a:fld>
            <a:endParaRPr lang="en-US"/>
          </a:p>
        </p:txBody>
      </p:sp>
      <p:sp>
        <p:nvSpPr>
          <p:cNvPr id="7" name="Text Placeholder 6"/>
          <p:cNvSpPr>
            <a:spLocks noGrp="1"/>
          </p:cNvSpPr>
          <p:nvPr>
            <p:ph type="body" sz="half" idx="2"/>
          </p:nvPr>
        </p:nvSpPr>
        <p:spPr>
          <a:xfrm>
            <a:off x="193176" y="2020389"/>
            <a:ext cx="5521823" cy="3062377"/>
          </a:xfrm>
          <a:prstGeom prst="rect">
            <a:avLst/>
          </a:prstGeom>
        </p:spPr>
        <p:txBody>
          <a:bodyPr wrap="square">
            <a:spAutoFit/>
          </a:bodyPr>
          <a:lstStyle/>
          <a:p>
            <a:pPr marL="742950" lvl="1" indent="-285750">
              <a:lnSpc>
                <a:spcPct val="150000"/>
              </a:lnSpc>
              <a:buFont typeface="Arial" pitchFamily="34" charset="0"/>
              <a:buChar char="•"/>
            </a:pPr>
            <a:r>
              <a:rPr lang="en-US" sz="1600" dirty="0">
                <a:latin typeface="Casper"/>
                <a:cs typeface="Times New Roman" pitchFamily="18" charset="0"/>
              </a:rPr>
              <a:t>What is digital electronics?</a:t>
            </a:r>
          </a:p>
          <a:p>
            <a:pPr marL="742950" lvl="1" indent="-285750">
              <a:lnSpc>
                <a:spcPct val="150000"/>
              </a:lnSpc>
              <a:buFont typeface="Arial" pitchFamily="34" charset="0"/>
              <a:buChar char="•"/>
            </a:pPr>
            <a:r>
              <a:rPr lang="en-US" sz="1600" dirty="0">
                <a:latin typeface="Casper"/>
                <a:cs typeface="Times New Roman" pitchFamily="18" charset="0"/>
              </a:rPr>
              <a:t>Analog vs. Digital</a:t>
            </a:r>
          </a:p>
          <a:p>
            <a:pPr marL="742950" lvl="1" indent="-285750">
              <a:lnSpc>
                <a:spcPct val="150000"/>
              </a:lnSpc>
              <a:buFont typeface="Arial" pitchFamily="34" charset="0"/>
              <a:buChar char="•"/>
            </a:pPr>
            <a:r>
              <a:rPr lang="en-US" sz="1600" dirty="0">
                <a:latin typeface="Casper"/>
                <a:cs typeface="Times New Roman" pitchFamily="18" charset="0"/>
              </a:rPr>
              <a:t>How conversion of analog to digital occur?</a:t>
            </a:r>
          </a:p>
          <a:p>
            <a:pPr marL="742950" lvl="1" indent="-285750">
              <a:lnSpc>
                <a:spcPct val="150000"/>
              </a:lnSpc>
              <a:buFont typeface="Arial" pitchFamily="34" charset="0"/>
              <a:buChar char="•"/>
            </a:pPr>
            <a:r>
              <a:rPr lang="en-US" sz="1600" dirty="0">
                <a:latin typeface="Casper"/>
                <a:cs typeface="Times New Roman" pitchFamily="18" charset="0"/>
              </a:rPr>
              <a:t>Benefits of Digital over analog</a:t>
            </a:r>
          </a:p>
          <a:p>
            <a:pPr marL="742950" lvl="1" indent="-285750">
              <a:lnSpc>
                <a:spcPct val="150000"/>
              </a:lnSpc>
              <a:buFont typeface="Arial" pitchFamily="34" charset="0"/>
              <a:buChar char="•"/>
            </a:pPr>
            <a:r>
              <a:rPr lang="en-US" sz="1600" dirty="0">
                <a:latin typeface="Casper"/>
                <a:cs typeface="Times New Roman" pitchFamily="18" charset="0"/>
              </a:rPr>
              <a:t>Advantages &amp; Disadvantages of digital Electronics</a:t>
            </a:r>
          </a:p>
          <a:p>
            <a:pPr marL="742950" lvl="1" indent="-285750">
              <a:lnSpc>
                <a:spcPct val="150000"/>
              </a:lnSpc>
              <a:buFont typeface="Arial" pitchFamily="34" charset="0"/>
              <a:buChar char="•"/>
            </a:pPr>
            <a:r>
              <a:rPr lang="en-US" sz="1600" dirty="0">
                <a:latin typeface="Casper"/>
                <a:cs typeface="Times New Roman" pitchFamily="18" charset="0"/>
              </a:rPr>
              <a:t>Applications of digital electronics</a:t>
            </a:r>
          </a:p>
          <a:p>
            <a:pPr marL="742950" lvl="1" indent="-285750">
              <a:lnSpc>
                <a:spcPct val="150000"/>
              </a:lnSpc>
            </a:pPr>
            <a:endParaRPr lang="en-US" sz="1600" dirty="0">
              <a:latin typeface="Casper"/>
              <a:cs typeface="Times New Roman" pitchFamily="18" charset="0"/>
            </a:endParaRPr>
          </a:p>
        </p:txBody>
      </p:sp>
      <p:sp>
        <p:nvSpPr>
          <p:cNvPr id="9" name="TextBox 8"/>
          <p:cNvSpPr txBox="1"/>
          <p:nvPr/>
        </p:nvSpPr>
        <p:spPr>
          <a:xfrm>
            <a:off x="6322423" y="1920240"/>
            <a:ext cx="5434148" cy="3416320"/>
          </a:xfrm>
          <a:prstGeom prst="rect">
            <a:avLst/>
          </a:prstGeom>
          <a:noFill/>
        </p:spPr>
        <p:txBody>
          <a:bodyPr wrap="square" rtlCol="0">
            <a:spAutoFit/>
          </a:bodyPr>
          <a:lstStyle/>
          <a:p>
            <a:pPr lvl="1">
              <a:buFont typeface="Wingdings" pitchFamily="2" charset="2"/>
              <a:buChar char="v"/>
            </a:pPr>
            <a:r>
              <a:rPr lang="en-US" sz="2400" dirty="0">
                <a:latin typeface="Casper"/>
              </a:rPr>
              <a:t>Digital Signal Representation</a:t>
            </a:r>
          </a:p>
          <a:p>
            <a:endParaRPr lang="en-US" sz="1600" dirty="0">
              <a:latin typeface="Casper"/>
            </a:endParaRPr>
          </a:p>
          <a:p>
            <a:endParaRPr lang="en-US" sz="1600" dirty="0">
              <a:latin typeface="Casper"/>
            </a:endParaRPr>
          </a:p>
          <a:p>
            <a:endParaRPr lang="en-US" sz="1600" dirty="0">
              <a:latin typeface="Casper"/>
            </a:endParaRPr>
          </a:p>
          <a:p>
            <a:endParaRPr lang="en-US" sz="1600" dirty="0">
              <a:latin typeface="Casper"/>
            </a:endParaRPr>
          </a:p>
          <a:p>
            <a:endParaRPr lang="en-US" sz="1600" dirty="0">
              <a:latin typeface="Casper"/>
            </a:endParaRPr>
          </a:p>
          <a:p>
            <a:endParaRPr lang="en-US" sz="1600" dirty="0">
              <a:latin typeface="Casper"/>
            </a:endParaRPr>
          </a:p>
          <a:p>
            <a:endParaRPr lang="en-US" sz="1600" dirty="0">
              <a:latin typeface="Casper"/>
            </a:endParaRPr>
          </a:p>
          <a:p>
            <a:endParaRPr lang="en-US" sz="1600" dirty="0">
              <a:latin typeface="Casper"/>
            </a:endParaRPr>
          </a:p>
          <a:p>
            <a:r>
              <a:rPr lang="en-US" sz="1600" dirty="0">
                <a:latin typeface="Casper"/>
              </a:rPr>
              <a:t>         </a:t>
            </a:r>
            <a:r>
              <a:rPr lang="en-US" sz="1600" dirty="0" smtClean="0">
                <a:latin typeface="Casper"/>
              </a:rPr>
              <a:t>Figure: Digital </a:t>
            </a:r>
            <a:r>
              <a:rPr lang="en-US" sz="1600" dirty="0">
                <a:latin typeface="Casper"/>
              </a:rPr>
              <a:t>data &amp; signal representation </a:t>
            </a:r>
          </a:p>
          <a:p>
            <a:r>
              <a:rPr lang="en-US" sz="2400" dirty="0">
                <a:latin typeface="Casper"/>
              </a:rPr>
              <a:t>           </a:t>
            </a:r>
          </a:p>
          <a:p>
            <a:r>
              <a:rPr lang="en-US" sz="2400" dirty="0">
                <a:latin typeface="Casper"/>
              </a:rPr>
              <a:t>             </a:t>
            </a:r>
          </a:p>
        </p:txBody>
      </p:sp>
      <p:pic>
        <p:nvPicPr>
          <p:cNvPr id="53250" name="Picture 2" descr="http://www.technologyuk.net/telecommunications/telecom-principles/images/digital_signal02.gif"/>
          <p:cNvPicPr>
            <a:picLocks noChangeAspect="1" noChangeArrowheads="1"/>
          </p:cNvPicPr>
          <p:nvPr/>
        </p:nvPicPr>
        <p:blipFill>
          <a:blip r:embed="rId3" cstate="print"/>
          <a:srcRect/>
          <a:stretch>
            <a:fillRect/>
          </a:stretch>
        </p:blipFill>
        <p:spPr bwMode="auto">
          <a:xfrm>
            <a:off x="6856820" y="2880679"/>
            <a:ext cx="4834435" cy="1234122"/>
          </a:xfrm>
          <a:prstGeom prst="rect">
            <a:avLst/>
          </a:prstGeom>
          <a:noFill/>
        </p:spPr>
      </p:pic>
      <p:sp>
        <p:nvSpPr>
          <p:cNvPr id="8" name="Rectangle 7"/>
          <p:cNvSpPr/>
          <p:nvPr/>
        </p:nvSpPr>
        <p:spPr>
          <a:xfrm>
            <a:off x="410073" y="1567542"/>
            <a:ext cx="5206955" cy="35269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011" y="274318"/>
            <a:ext cx="8408715" cy="790303"/>
          </a:xfrm>
        </p:spPr>
        <p:txBody>
          <a:bodyPr>
            <a:normAutofit/>
          </a:bodyPr>
          <a:lstStyle/>
          <a:p>
            <a:r>
              <a:rPr lang="en-IN" sz="4400" b="1" dirty="0">
                <a:latin typeface="Casper Bold"/>
              </a:rPr>
              <a:t>What is Digital Electronics?</a:t>
            </a:r>
          </a:p>
        </p:txBody>
      </p:sp>
      <p:sp>
        <p:nvSpPr>
          <p:cNvPr id="4" name="Text Placeholder 3"/>
          <p:cNvSpPr>
            <a:spLocks noGrp="1"/>
          </p:cNvSpPr>
          <p:nvPr>
            <p:ph type="body" sz="half" idx="2"/>
          </p:nvPr>
        </p:nvSpPr>
        <p:spPr>
          <a:xfrm>
            <a:off x="709159" y="1482635"/>
            <a:ext cx="11099663" cy="4800601"/>
          </a:xfrm>
        </p:spPr>
        <p:txBody>
          <a:bodyPr>
            <a:normAutofit fontScale="92500"/>
          </a:bodyPr>
          <a:lstStyle/>
          <a:p>
            <a:pPr algn="just">
              <a:lnSpc>
                <a:spcPct val="200000"/>
              </a:lnSpc>
              <a:buFont typeface="Wingdings" pitchFamily="2" charset="2"/>
              <a:buChar char="Ø"/>
            </a:pPr>
            <a:r>
              <a:rPr lang="en-IN" b="1" dirty="0">
                <a:latin typeface="Casper"/>
              </a:rPr>
              <a:t>Digital electronics</a:t>
            </a:r>
            <a:r>
              <a:rPr lang="en-IN" dirty="0">
                <a:latin typeface="Casper"/>
              </a:rPr>
              <a:t> deals with the </a:t>
            </a:r>
            <a:r>
              <a:rPr lang="en-IN" b="1" dirty="0">
                <a:latin typeface="Casper"/>
              </a:rPr>
              <a:t>electronic</a:t>
            </a:r>
            <a:r>
              <a:rPr lang="en-IN" dirty="0">
                <a:latin typeface="Casper"/>
              </a:rPr>
              <a:t> manipulation of numbers, or with the manipulation of varying quantities by means of numbers. Because it is convenient to do so, today's </a:t>
            </a:r>
            <a:r>
              <a:rPr lang="en-IN" b="1" dirty="0">
                <a:latin typeface="Casper"/>
              </a:rPr>
              <a:t>digital</a:t>
            </a:r>
            <a:r>
              <a:rPr lang="en-IN" dirty="0">
                <a:latin typeface="Casper"/>
              </a:rPr>
              <a:t> systems deal only with the numbers 'zero' and 'one', because they can be represented easily by 'off and 'on' within a circuit.</a:t>
            </a:r>
          </a:p>
          <a:p>
            <a:pPr algn="just">
              <a:lnSpc>
                <a:spcPct val="200000"/>
              </a:lnSpc>
              <a:buFont typeface="Wingdings" pitchFamily="2" charset="2"/>
              <a:buChar char="Ø"/>
            </a:pPr>
            <a:r>
              <a:rPr lang="en-IN" dirty="0">
                <a:latin typeface="Casper"/>
              </a:rPr>
              <a:t>Digital stand for digit, digital electronics basically has two conditions which are possible, 0 (low logic) and 1 (high logic</a:t>
            </a:r>
            <a:r>
              <a:rPr lang="en-IN" dirty="0" smtClean="0">
                <a:latin typeface="Casper"/>
              </a:rPr>
              <a:t>).</a:t>
            </a:r>
          </a:p>
          <a:p>
            <a:pPr algn="just">
              <a:lnSpc>
                <a:spcPct val="200000"/>
              </a:lnSpc>
              <a:buFont typeface="Wingdings" pitchFamily="2" charset="2"/>
              <a:buChar char="Ø"/>
            </a:pPr>
            <a:r>
              <a:rPr lang="en-IN" dirty="0" smtClean="0">
                <a:latin typeface="Casper"/>
              </a:rPr>
              <a:t>Digital </a:t>
            </a:r>
            <a:r>
              <a:rPr lang="en-IN" dirty="0">
                <a:latin typeface="Casper"/>
              </a:rPr>
              <a:t>electronic systems use a digital signal that are composed of mathematical features to work. </a:t>
            </a:r>
          </a:p>
          <a:p>
            <a:pPr algn="just">
              <a:lnSpc>
                <a:spcPct val="200000"/>
              </a:lnSpc>
              <a:buFont typeface="Wingdings" pitchFamily="2" charset="2"/>
              <a:buChar char="Ø"/>
            </a:pPr>
            <a:r>
              <a:rPr lang="en-IN" dirty="0">
                <a:latin typeface="Casper"/>
              </a:rPr>
              <a:t> "1" as true and "0" as false are called bit and the group of bits are named byte. </a:t>
            </a:r>
          </a:p>
          <a:p>
            <a:pPr algn="just">
              <a:lnSpc>
                <a:spcPct val="200000"/>
              </a:lnSpc>
              <a:buFont typeface="Wingdings" pitchFamily="2" charset="2"/>
              <a:buChar char="Ø"/>
            </a:pPr>
            <a:r>
              <a:rPr lang="en-IN" dirty="0">
                <a:latin typeface="Casper"/>
              </a:rPr>
              <a:t>Digital electronic circuits are usually made from large assemblies of logic </a:t>
            </a:r>
            <a:r>
              <a:rPr lang="en-IN" dirty="0" smtClean="0">
                <a:latin typeface="Casper"/>
              </a:rPr>
              <a:t>gates.</a:t>
            </a:r>
          </a:p>
          <a:p>
            <a:pPr algn="just">
              <a:lnSpc>
                <a:spcPct val="200000"/>
              </a:lnSpc>
              <a:buFont typeface="Wingdings" pitchFamily="2" charset="2"/>
              <a:buChar char="Ø"/>
            </a:pPr>
            <a:r>
              <a:rPr lang="en-IN" dirty="0" smtClean="0">
                <a:latin typeface="Casper"/>
              </a:rPr>
              <a:t>Digital </a:t>
            </a:r>
            <a:r>
              <a:rPr lang="en-IN" dirty="0">
                <a:latin typeface="Casper"/>
              </a:rPr>
              <a:t>describes electronic technology that generates, stores, and processes data in terms of two states: 1 and number 0.</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4347" y="457200"/>
            <a:ext cx="5848395" cy="920931"/>
          </a:xfrm>
        </p:spPr>
        <p:txBody>
          <a:bodyPr>
            <a:normAutofit/>
          </a:bodyPr>
          <a:lstStyle/>
          <a:p>
            <a:r>
              <a:rPr lang="en-IN" sz="4400" b="1" dirty="0" err="1">
                <a:latin typeface="Casper Bold"/>
              </a:rPr>
              <a:t>Analog</a:t>
            </a:r>
            <a:r>
              <a:rPr lang="en-IN" sz="4400" b="1" dirty="0">
                <a:latin typeface="Casper Bold"/>
              </a:rPr>
              <a:t> Vs Digital</a:t>
            </a:r>
          </a:p>
        </p:txBody>
      </p:sp>
      <p:sp>
        <p:nvSpPr>
          <p:cNvPr id="4" name="Text Placeholder 3"/>
          <p:cNvSpPr>
            <a:spLocks noGrp="1"/>
          </p:cNvSpPr>
          <p:nvPr>
            <p:ph type="body" sz="half" idx="2"/>
          </p:nvPr>
        </p:nvSpPr>
        <p:spPr>
          <a:xfrm>
            <a:off x="839788" y="1874520"/>
            <a:ext cx="10511835" cy="3811588"/>
          </a:xfrm>
        </p:spPr>
        <p:txBody>
          <a:bodyPr/>
          <a:lstStyle/>
          <a:p>
            <a:pPr algn="just">
              <a:lnSpc>
                <a:spcPct val="150000"/>
              </a:lnSpc>
            </a:pPr>
            <a:r>
              <a:rPr lang="en-IN" dirty="0">
                <a:latin typeface="Casper"/>
              </a:rPr>
              <a:t>Many systems use a maximum of </a:t>
            </a:r>
            <a:r>
              <a:rPr lang="en-IN" dirty="0" err="1">
                <a:latin typeface="Casper"/>
              </a:rPr>
              <a:t>analog</a:t>
            </a:r>
            <a:r>
              <a:rPr lang="en-IN" dirty="0">
                <a:latin typeface="Casper"/>
              </a:rPr>
              <a:t> and digital electronics to take advantage of each technology.  Example: A typical CD player accepts digital data from the CD drive and converts it to an </a:t>
            </a:r>
            <a:r>
              <a:rPr lang="en-IN" dirty="0" err="1">
                <a:latin typeface="Casper"/>
              </a:rPr>
              <a:t>analog</a:t>
            </a:r>
            <a:r>
              <a:rPr lang="en-IN" dirty="0">
                <a:latin typeface="Casper"/>
              </a:rPr>
              <a:t> signal for amplification. Digital data CD drive 10110011101 </a:t>
            </a:r>
            <a:r>
              <a:rPr lang="en-IN" dirty="0" err="1">
                <a:latin typeface="Casper"/>
              </a:rPr>
              <a:t>Analog</a:t>
            </a:r>
            <a:r>
              <a:rPr lang="en-IN" dirty="0">
                <a:latin typeface="Casper"/>
              </a:rPr>
              <a:t> reproduction of music audio signal Speaker Sound waves Digital-to-</a:t>
            </a:r>
            <a:r>
              <a:rPr lang="en-IN" dirty="0" err="1">
                <a:latin typeface="Casper"/>
              </a:rPr>
              <a:t>analog</a:t>
            </a:r>
            <a:r>
              <a:rPr lang="en-IN" dirty="0">
                <a:latin typeface="Casper"/>
              </a:rPr>
              <a:t> converter Linear amplifier </a:t>
            </a:r>
          </a:p>
        </p:txBody>
      </p:sp>
      <p:sp>
        <p:nvSpPr>
          <p:cNvPr id="5" name="Slide Number Placeholder 4"/>
          <p:cNvSpPr>
            <a:spLocks noGrp="1"/>
          </p:cNvSpPr>
          <p:nvPr>
            <p:ph type="sldNum" sz="quarter" idx="12"/>
          </p:nvPr>
        </p:nvSpPr>
        <p:spPr/>
        <p:txBody>
          <a:bodyPr/>
          <a:lstStyle/>
          <a:p>
            <a:fld id="{BDCDBBEF-AA6C-4BA6-85B2-A17D7F280E38}" type="slidenum">
              <a:rPr lang="en-US" b="1" smtClean="0"/>
              <a:pPr/>
              <a:t>13</a:t>
            </a:fld>
            <a:endParaRPr lang="en-US" b="1" dirty="0"/>
          </a:p>
        </p:txBody>
      </p:sp>
      <p:pic>
        <p:nvPicPr>
          <p:cNvPr id="64514" name="Picture 2"/>
          <p:cNvPicPr>
            <a:picLocks noChangeAspect="1" noChangeArrowheads="1"/>
          </p:cNvPicPr>
          <p:nvPr/>
        </p:nvPicPr>
        <p:blipFill>
          <a:blip r:embed="rId3" cstate="print"/>
          <a:srcRect/>
          <a:stretch>
            <a:fillRect/>
          </a:stretch>
        </p:blipFill>
        <p:spPr bwMode="auto">
          <a:xfrm>
            <a:off x="1272541" y="3422468"/>
            <a:ext cx="9829800" cy="2612571"/>
          </a:xfrm>
          <a:prstGeom prst="rect">
            <a:avLst/>
          </a:prstGeom>
          <a:noFill/>
          <a:ln w="9525">
            <a:noFill/>
            <a:miter lim="800000"/>
            <a:headEnd/>
            <a:tailEnd/>
          </a:ln>
        </p:spPr>
      </p:pic>
      <p:sp>
        <p:nvSpPr>
          <p:cNvPr id="6" name="TextBox 5"/>
          <p:cNvSpPr txBox="1"/>
          <p:nvPr/>
        </p:nvSpPr>
        <p:spPr>
          <a:xfrm>
            <a:off x="4428309" y="6270171"/>
            <a:ext cx="3340979" cy="338554"/>
          </a:xfrm>
          <a:prstGeom prst="rect">
            <a:avLst/>
          </a:prstGeom>
          <a:noFill/>
        </p:spPr>
        <p:txBody>
          <a:bodyPr wrap="none" rtlCol="0">
            <a:spAutoFit/>
          </a:bodyPr>
          <a:lstStyle/>
          <a:p>
            <a:r>
              <a:rPr lang="en-IN" sz="1600" dirty="0" smtClean="0">
                <a:latin typeface="Casper"/>
              </a:rPr>
              <a:t>Figure:  </a:t>
            </a:r>
            <a:r>
              <a:rPr lang="en-IN" sz="1600" dirty="0">
                <a:latin typeface="Casper"/>
              </a:rPr>
              <a:t>Example </a:t>
            </a:r>
            <a:r>
              <a:rPr lang="en-IN" sz="1600" dirty="0" err="1">
                <a:latin typeface="Casper"/>
              </a:rPr>
              <a:t>Analog</a:t>
            </a:r>
            <a:r>
              <a:rPr lang="en-IN" sz="1600" dirty="0">
                <a:latin typeface="Casper"/>
              </a:rPr>
              <a:t> </a:t>
            </a:r>
            <a:r>
              <a:rPr lang="en-IN" sz="1600" dirty="0" err="1">
                <a:latin typeface="Casper"/>
              </a:rPr>
              <a:t>vs</a:t>
            </a:r>
            <a:r>
              <a:rPr lang="en-IN" sz="1600" dirty="0">
                <a:latin typeface="Casper"/>
              </a:rPr>
              <a:t> </a:t>
            </a:r>
            <a:r>
              <a:rPr lang="en-IN" sz="1600" dirty="0" smtClean="0">
                <a:latin typeface="Casper"/>
              </a:rPr>
              <a:t>digital</a:t>
            </a:r>
            <a:endParaRPr lang="en-IN" sz="1600" dirty="0">
              <a:latin typeface="Casp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2119" y="274320"/>
            <a:ext cx="7964578" cy="1600200"/>
          </a:xfrm>
        </p:spPr>
        <p:txBody>
          <a:bodyPr>
            <a:normAutofit/>
          </a:bodyPr>
          <a:lstStyle/>
          <a:p>
            <a:pPr algn="ctr"/>
            <a:r>
              <a:rPr lang="en-IN" sz="4400" b="1" dirty="0" err="1">
                <a:latin typeface="Casper Bold"/>
              </a:rPr>
              <a:t>Analog</a:t>
            </a:r>
            <a:r>
              <a:rPr lang="en-IN" sz="4400" b="1" dirty="0">
                <a:latin typeface="Casper Bold"/>
              </a:rPr>
              <a:t> Signal Vs Digital Signal Representation</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14</a:t>
            </a:fld>
            <a:endParaRPr lang="en-US"/>
          </a:p>
        </p:txBody>
      </p:sp>
      <p:pic>
        <p:nvPicPr>
          <p:cNvPr id="6" name="Picture 6" descr="Square wave signal. Two values, either 0V or 5V."/>
          <p:cNvPicPr>
            <a:picLocks noChangeAspect="1" noChangeArrowheads="1"/>
          </p:cNvPicPr>
          <p:nvPr/>
        </p:nvPicPr>
        <p:blipFill>
          <a:blip r:embed="rId3" cstate="print"/>
          <a:srcRect/>
          <a:stretch>
            <a:fillRect/>
          </a:stretch>
        </p:blipFill>
        <p:spPr bwMode="auto">
          <a:xfrm>
            <a:off x="194763" y="2609617"/>
            <a:ext cx="5304699" cy="2047876"/>
          </a:xfrm>
          <a:prstGeom prst="rect">
            <a:avLst/>
          </a:prstGeom>
          <a:noFill/>
        </p:spPr>
      </p:pic>
      <p:pic>
        <p:nvPicPr>
          <p:cNvPr id="7" name="Picture 8" descr="https://cdn.sparkfun.com/assets/0/2/8/4/6/51c85fbece395fbc03000000.png"/>
          <p:cNvPicPr>
            <a:picLocks noChangeAspect="1" noChangeArrowheads="1"/>
          </p:cNvPicPr>
          <p:nvPr/>
        </p:nvPicPr>
        <p:blipFill>
          <a:blip r:embed="rId4" cstate="print"/>
          <a:srcRect/>
          <a:stretch>
            <a:fillRect/>
          </a:stretch>
        </p:blipFill>
        <p:spPr bwMode="auto">
          <a:xfrm>
            <a:off x="6244046" y="2808506"/>
            <a:ext cx="5591628" cy="1768338"/>
          </a:xfrm>
          <a:prstGeom prst="rect">
            <a:avLst/>
          </a:prstGeom>
          <a:noFill/>
        </p:spPr>
      </p:pic>
      <p:sp>
        <p:nvSpPr>
          <p:cNvPr id="8" name="TextBox 7"/>
          <p:cNvSpPr txBox="1"/>
          <p:nvPr/>
        </p:nvSpPr>
        <p:spPr>
          <a:xfrm>
            <a:off x="391886" y="5042262"/>
            <a:ext cx="4811485" cy="861774"/>
          </a:xfrm>
          <a:prstGeom prst="rect">
            <a:avLst/>
          </a:prstGeom>
          <a:noFill/>
        </p:spPr>
        <p:txBody>
          <a:bodyPr wrap="square" rtlCol="0">
            <a:spAutoFit/>
          </a:bodyPr>
          <a:lstStyle/>
          <a:p>
            <a:pPr algn="just"/>
            <a:r>
              <a:rPr lang="en-IN" sz="1600" dirty="0" smtClean="0">
                <a:latin typeface="Casper"/>
              </a:rPr>
              <a:t>Figure: </a:t>
            </a:r>
            <a:r>
              <a:rPr lang="en-IN" sz="1600" dirty="0">
                <a:latin typeface="Casper"/>
              </a:rPr>
              <a:t>Digital signal Comprises of only two values </a:t>
            </a:r>
          </a:p>
          <a:p>
            <a:pPr algn="just"/>
            <a:r>
              <a:rPr lang="en-IN" sz="1600" dirty="0">
                <a:latin typeface="Casper"/>
              </a:rPr>
              <a:t>High by 1 bit(5V) &amp; Low by 0 bit(0V)</a:t>
            </a:r>
          </a:p>
          <a:p>
            <a:endParaRPr lang="en-IN" dirty="0"/>
          </a:p>
        </p:txBody>
      </p:sp>
      <p:sp>
        <p:nvSpPr>
          <p:cNvPr id="9" name="TextBox 8"/>
          <p:cNvSpPr txBox="1"/>
          <p:nvPr/>
        </p:nvSpPr>
        <p:spPr>
          <a:xfrm>
            <a:off x="6586683" y="4963887"/>
            <a:ext cx="4714752" cy="861774"/>
          </a:xfrm>
          <a:prstGeom prst="rect">
            <a:avLst/>
          </a:prstGeom>
          <a:noFill/>
        </p:spPr>
        <p:txBody>
          <a:bodyPr wrap="none" rtlCol="0">
            <a:spAutoFit/>
          </a:bodyPr>
          <a:lstStyle/>
          <a:p>
            <a:pPr algn="just"/>
            <a:r>
              <a:rPr lang="en-IN" sz="1600" dirty="0" smtClean="0">
                <a:latin typeface="Casper"/>
              </a:rPr>
              <a:t>Figure:  </a:t>
            </a:r>
            <a:r>
              <a:rPr lang="en-IN" sz="1600" dirty="0" err="1">
                <a:latin typeface="Casper"/>
              </a:rPr>
              <a:t>Analog</a:t>
            </a:r>
            <a:r>
              <a:rPr lang="en-IN" sz="1600" dirty="0">
                <a:latin typeface="Casper"/>
              </a:rPr>
              <a:t> Signal comprises of infinite values </a:t>
            </a:r>
          </a:p>
          <a:p>
            <a:r>
              <a:rPr lang="en-IN" sz="1600" dirty="0">
                <a:latin typeface="Casper"/>
              </a:rPr>
              <a:t>                between given limits</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9605" y="378823"/>
            <a:ext cx="9610498" cy="1143000"/>
          </a:xfrm>
        </p:spPr>
        <p:txBody>
          <a:bodyPr>
            <a:noAutofit/>
          </a:bodyPr>
          <a:lstStyle/>
          <a:p>
            <a:pPr algn="ctr"/>
            <a:r>
              <a:rPr lang="en-IN" sz="4400" b="1" dirty="0">
                <a:latin typeface="Casper Bold"/>
              </a:rPr>
              <a:t>How the conversion of </a:t>
            </a:r>
            <a:r>
              <a:rPr lang="en-IN" sz="4400" b="1" dirty="0" err="1">
                <a:latin typeface="Casper Bold"/>
              </a:rPr>
              <a:t>Analog</a:t>
            </a:r>
            <a:r>
              <a:rPr lang="en-IN" sz="4400" b="1" dirty="0">
                <a:latin typeface="Casper Bold"/>
              </a:rPr>
              <a:t> to Digital Occur?</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15</a:t>
            </a:fld>
            <a:endParaRPr lang="en-US"/>
          </a:p>
        </p:txBody>
      </p:sp>
      <p:pic>
        <p:nvPicPr>
          <p:cNvPr id="65538" name="Picture 2"/>
          <p:cNvPicPr>
            <a:picLocks noChangeAspect="1" noChangeArrowheads="1"/>
          </p:cNvPicPr>
          <p:nvPr/>
        </p:nvPicPr>
        <p:blipFill>
          <a:blip r:embed="rId3" cstate="print"/>
          <a:srcRect/>
          <a:stretch>
            <a:fillRect/>
          </a:stretch>
        </p:blipFill>
        <p:spPr bwMode="auto">
          <a:xfrm>
            <a:off x="587828" y="1858358"/>
            <a:ext cx="10556558" cy="3468703"/>
          </a:xfrm>
          <a:prstGeom prst="rect">
            <a:avLst/>
          </a:prstGeom>
          <a:noFill/>
          <a:ln w="9525">
            <a:noFill/>
            <a:miter lim="800000"/>
            <a:headEnd/>
            <a:tailEnd/>
          </a:ln>
        </p:spPr>
      </p:pic>
      <p:cxnSp>
        <p:nvCxnSpPr>
          <p:cNvPr id="8" name="Straight Connector 7"/>
          <p:cNvCxnSpPr/>
          <p:nvPr/>
        </p:nvCxnSpPr>
        <p:spPr>
          <a:xfrm flipH="1">
            <a:off x="522514" y="2625634"/>
            <a:ext cx="39189" cy="1031966"/>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998617" y="5473337"/>
            <a:ext cx="2627642" cy="338554"/>
          </a:xfrm>
          <a:prstGeom prst="rect">
            <a:avLst/>
          </a:prstGeom>
          <a:noFill/>
        </p:spPr>
        <p:txBody>
          <a:bodyPr wrap="none" rtlCol="0">
            <a:spAutoFit/>
          </a:bodyPr>
          <a:lstStyle/>
          <a:p>
            <a:r>
              <a:rPr lang="en-IN" sz="1600" dirty="0" err="1">
                <a:latin typeface="Casper"/>
              </a:rPr>
              <a:t>Analog</a:t>
            </a:r>
            <a:r>
              <a:rPr lang="en-IN" sz="1600" dirty="0">
                <a:latin typeface="Casper"/>
              </a:rPr>
              <a:t> to Digital converter</a:t>
            </a:r>
          </a:p>
        </p:txBody>
      </p:sp>
      <p:sp>
        <p:nvSpPr>
          <p:cNvPr id="10" name="TextBox 9"/>
          <p:cNvSpPr txBox="1"/>
          <p:nvPr/>
        </p:nvSpPr>
        <p:spPr>
          <a:xfrm>
            <a:off x="7067004" y="5590903"/>
            <a:ext cx="2814425" cy="338554"/>
          </a:xfrm>
          <a:prstGeom prst="rect">
            <a:avLst/>
          </a:prstGeom>
          <a:noFill/>
        </p:spPr>
        <p:txBody>
          <a:bodyPr wrap="square" rtlCol="0">
            <a:spAutoFit/>
          </a:bodyPr>
          <a:lstStyle/>
          <a:p>
            <a:r>
              <a:rPr lang="en-IN" sz="1600" dirty="0">
                <a:latin typeface="Casper"/>
              </a:rPr>
              <a:t>Digital  to </a:t>
            </a:r>
            <a:r>
              <a:rPr lang="en-IN" sz="1600" dirty="0" err="1">
                <a:latin typeface="Casper"/>
              </a:rPr>
              <a:t>Analog</a:t>
            </a:r>
            <a:r>
              <a:rPr lang="en-IN" sz="1600" dirty="0">
                <a:latin typeface="Casper"/>
              </a:rPr>
              <a:t> converter</a:t>
            </a:r>
          </a:p>
        </p:txBody>
      </p:sp>
      <p:cxnSp>
        <p:nvCxnSpPr>
          <p:cNvPr id="12" name="Straight Arrow Connector 11"/>
          <p:cNvCxnSpPr/>
          <p:nvPr/>
        </p:nvCxnSpPr>
        <p:spPr>
          <a:xfrm flipV="1">
            <a:off x="3017520" y="5146766"/>
            <a:ext cx="0" cy="4049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8294914" y="5172891"/>
            <a:ext cx="13063" cy="4180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735977" y="6217919"/>
            <a:ext cx="3756156" cy="338554"/>
          </a:xfrm>
          <a:prstGeom prst="rect">
            <a:avLst/>
          </a:prstGeom>
          <a:noFill/>
        </p:spPr>
        <p:txBody>
          <a:bodyPr wrap="none" rtlCol="0">
            <a:spAutoFit/>
          </a:bodyPr>
          <a:lstStyle/>
          <a:p>
            <a:r>
              <a:rPr lang="en-IN" sz="1600" dirty="0">
                <a:latin typeface="Casper"/>
              </a:rPr>
              <a:t>Figure </a:t>
            </a:r>
            <a:r>
              <a:rPr lang="en-IN" sz="1600" dirty="0" smtClean="0">
                <a:latin typeface="Casper"/>
              </a:rPr>
              <a:t>: </a:t>
            </a:r>
            <a:r>
              <a:rPr lang="en-IN" sz="1600" dirty="0">
                <a:latin typeface="Casper"/>
              </a:rPr>
              <a:t>Conversion of </a:t>
            </a:r>
            <a:r>
              <a:rPr lang="en-IN" sz="1600" dirty="0" err="1">
                <a:latin typeface="Casper"/>
              </a:rPr>
              <a:t>analog</a:t>
            </a:r>
            <a:r>
              <a:rPr lang="en-IN" sz="1600" dirty="0">
                <a:latin typeface="Casper"/>
              </a:rPr>
              <a:t> to </a:t>
            </a:r>
            <a:r>
              <a:rPr lang="en-IN" sz="1600" dirty="0" smtClean="0">
                <a:latin typeface="Casper"/>
              </a:rPr>
              <a:t>digital</a:t>
            </a:r>
            <a:endParaRPr lang="en-IN"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308" y="444136"/>
            <a:ext cx="8983481" cy="855617"/>
          </a:xfrm>
        </p:spPr>
        <p:txBody>
          <a:bodyPr>
            <a:normAutofit/>
          </a:bodyPr>
          <a:lstStyle/>
          <a:p>
            <a:r>
              <a:rPr lang="en-IN" sz="4400" b="1" dirty="0">
                <a:latin typeface="Casper Bold"/>
              </a:rPr>
              <a:t>Benefits of Digital over </a:t>
            </a:r>
            <a:r>
              <a:rPr lang="en-IN" sz="4400" b="1" dirty="0" err="1">
                <a:latin typeface="Casper Bold"/>
              </a:rPr>
              <a:t>Analog</a:t>
            </a:r>
            <a:endParaRPr lang="en-IN" sz="4400" b="1" dirty="0">
              <a:latin typeface="Casper Bold"/>
            </a:endParaRPr>
          </a:p>
        </p:txBody>
      </p:sp>
      <p:sp>
        <p:nvSpPr>
          <p:cNvPr id="4" name="Text Placeholder 3"/>
          <p:cNvSpPr>
            <a:spLocks noGrp="1"/>
          </p:cNvSpPr>
          <p:nvPr>
            <p:ph type="body" sz="half" idx="2"/>
          </p:nvPr>
        </p:nvSpPr>
        <p:spPr>
          <a:xfrm>
            <a:off x="724403" y="1513116"/>
            <a:ext cx="5600199" cy="3811588"/>
          </a:xfrm>
        </p:spPr>
        <p:txBody>
          <a:bodyPr/>
          <a:lstStyle/>
          <a:p>
            <a:pPr>
              <a:lnSpc>
                <a:spcPct val="150000"/>
              </a:lnSpc>
              <a:buFont typeface="Wingdings" pitchFamily="2" charset="2"/>
              <a:buChar char="Ø"/>
            </a:pPr>
            <a:r>
              <a:rPr lang="en-IN" dirty="0">
                <a:latin typeface="Casper"/>
              </a:rPr>
              <a:t>Reproducibility </a:t>
            </a:r>
          </a:p>
          <a:p>
            <a:pPr>
              <a:lnSpc>
                <a:spcPct val="150000"/>
              </a:lnSpc>
              <a:buFont typeface="Wingdings" pitchFamily="2" charset="2"/>
              <a:buChar char="Ø"/>
            </a:pPr>
            <a:r>
              <a:rPr lang="en-IN" dirty="0">
                <a:latin typeface="Casper"/>
              </a:rPr>
              <a:t>Not effected by noise </a:t>
            </a:r>
          </a:p>
          <a:p>
            <a:pPr>
              <a:lnSpc>
                <a:spcPct val="150000"/>
              </a:lnSpc>
              <a:buFont typeface="Wingdings" pitchFamily="2" charset="2"/>
              <a:buChar char="Ø"/>
            </a:pPr>
            <a:r>
              <a:rPr lang="en-IN" dirty="0">
                <a:latin typeface="Casper"/>
              </a:rPr>
              <a:t>Ease of design </a:t>
            </a:r>
          </a:p>
          <a:p>
            <a:pPr>
              <a:lnSpc>
                <a:spcPct val="150000"/>
              </a:lnSpc>
              <a:buFont typeface="Wingdings" pitchFamily="2" charset="2"/>
              <a:buChar char="Ø"/>
            </a:pPr>
            <a:r>
              <a:rPr lang="en-IN" dirty="0">
                <a:latin typeface="Casper"/>
              </a:rPr>
              <a:t> Data protection </a:t>
            </a:r>
          </a:p>
          <a:p>
            <a:pPr>
              <a:lnSpc>
                <a:spcPct val="150000"/>
              </a:lnSpc>
              <a:buFont typeface="Wingdings" pitchFamily="2" charset="2"/>
              <a:buChar char="Ø"/>
            </a:pPr>
            <a:r>
              <a:rPr lang="en-IN" dirty="0">
                <a:latin typeface="Casper"/>
              </a:rPr>
              <a:t>Programmable</a:t>
            </a:r>
          </a:p>
          <a:p>
            <a:pPr>
              <a:lnSpc>
                <a:spcPct val="150000"/>
              </a:lnSpc>
              <a:buFont typeface="Wingdings" pitchFamily="2" charset="2"/>
              <a:buChar char="Ø"/>
            </a:pPr>
            <a:r>
              <a:rPr lang="en-IN" dirty="0">
                <a:latin typeface="Casper"/>
              </a:rPr>
              <a:t> High speed communication</a:t>
            </a:r>
          </a:p>
          <a:p>
            <a:pPr>
              <a:lnSpc>
                <a:spcPct val="150000"/>
              </a:lnSpc>
            </a:pPr>
            <a:endParaRPr lang="en-IN" dirty="0">
              <a:latin typeface="Casper"/>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990" y="352698"/>
            <a:ext cx="10250576" cy="1051560"/>
          </a:xfrm>
        </p:spPr>
        <p:txBody>
          <a:bodyPr>
            <a:noAutofit/>
          </a:bodyPr>
          <a:lstStyle/>
          <a:p>
            <a:r>
              <a:rPr lang="en-IN" sz="4400" b="1" dirty="0">
                <a:latin typeface="Casper Bold"/>
              </a:rPr>
              <a:t>Advantages of Digital Electronics</a:t>
            </a:r>
          </a:p>
        </p:txBody>
      </p:sp>
      <p:sp>
        <p:nvSpPr>
          <p:cNvPr id="4" name="Text Placeholder 3"/>
          <p:cNvSpPr>
            <a:spLocks noGrp="1"/>
          </p:cNvSpPr>
          <p:nvPr>
            <p:ph type="body" sz="half" idx="2"/>
          </p:nvPr>
        </p:nvSpPr>
        <p:spPr>
          <a:xfrm>
            <a:off x="561113" y="1682931"/>
            <a:ext cx="10890657" cy="4293326"/>
          </a:xfrm>
        </p:spPr>
        <p:txBody>
          <a:bodyPr>
            <a:normAutofit/>
          </a:bodyPr>
          <a:lstStyle/>
          <a:p>
            <a:pPr algn="just">
              <a:lnSpc>
                <a:spcPct val="150000"/>
              </a:lnSpc>
              <a:buFont typeface="Wingdings" pitchFamily="2" charset="2"/>
              <a:buChar char="Ø"/>
            </a:pPr>
            <a:r>
              <a:rPr lang="en-IN" dirty="0">
                <a:latin typeface="Casper"/>
              </a:rPr>
              <a:t> Computer-controlled digital systems can be controlled by software, allowing new functions to be added without changing hardware. </a:t>
            </a:r>
          </a:p>
          <a:p>
            <a:pPr algn="just">
              <a:lnSpc>
                <a:spcPct val="150000"/>
              </a:lnSpc>
              <a:buFont typeface="Wingdings" pitchFamily="2" charset="2"/>
              <a:buChar char="Ø"/>
            </a:pPr>
            <a:r>
              <a:rPr lang="en-IN" dirty="0">
                <a:latin typeface="Casper"/>
              </a:rPr>
              <a:t>Information storage can be easier in digital systems than in </a:t>
            </a:r>
            <a:r>
              <a:rPr lang="en-IN" dirty="0" err="1">
                <a:latin typeface="Casper"/>
              </a:rPr>
              <a:t>analog</a:t>
            </a:r>
            <a:r>
              <a:rPr lang="en-IN" dirty="0">
                <a:latin typeface="Casper"/>
              </a:rPr>
              <a:t> ones. </a:t>
            </a:r>
          </a:p>
          <a:p>
            <a:pPr algn="just">
              <a:lnSpc>
                <a:spcPct val="150000"/>
              </a:lnSpc>
              <a:buFont typeface="Wingdings" pitchFamily="2" charset="2"/>
              <a:buChar char="Ø"/>
            </a:pPr>
            <a:r>
              <a:rPr lang="en-IN" dirty="0">
                <a:latin typeface="Casper"/>
              </a:rPr>
              <a:t>The noise-immunity of digital systems permits data to be stored and retrieved without noise. </a:t>
            </a:r>
          </a:p>
          <a:p>
            <a:pPr algn="just">
              <a:lnSpc>
                <a:spcPct val="150000"/>
              </a:lnSpc>
              <a:buFont typeface="Wingdings" pitchFamily="2" charset="2"/>
              <a:buChar char="Ø"/>
            </a:pPr>
            <a:r>
              <a:rPr lang="en-IN" dirty="0">
                <a:latin typeface="Casper"/>
              </a:rPr>
              <a:t>In a digital system are easier to design and more precise representation of a signal can be obtained by using more binary digits to represent it. </a:t>
            </a:r>
          </a:p>
          <a:p>
            <a:pPr algn="just">
              <a:lnSpc>
                <a:spcPct val="150000"/>
              </a:lnSpc>
              <a:buFont typeface="Wingdings" pitchFamily="2" charset="2"/>
              <a:buChar char="Ø"/>
            </a:pPr>
            <a:r>
              <a:rPr lang="en-IN" dirty="0">
                <a:latin typeface="Casper"/>
              </a:rPr>
              <a:t>More digital circuitry can be fabricated on IC chips. </a:t>
            </a:r>
          </a:p>
          <a:p>
            <a:pPr algn="just">
              <a:lnSpc>
                <a:spcPct val="150000"/>
              </a:lnSpc>
              <a:buFont typeface="Wingdings" pitchFamily="2" charset="2"/>
              <a:buChar char="Ø"/>
            </a:pPr>
            <a:r>
              <a:rPr lang="en-IN" dirty="0">
                <a:latin typeface="Casper"/>
              </a:rPr>
              <a:t>Error management method can be inserted into the signal path. To detect errors, and then either correct the errors, or at least ask for a new copy of the data. </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6506" y="287383"/>
            <a:ext cx="10925494" cy="933994"/>
          </a:xfrm>
        </p:spPr>
        <p:txBody>
          <a:bodyPr>
            <a:noAutofit/>
          </a:bodyPr>
          <a:lstStyle/>
          <a:p>
            <a:r>
              <a:rPr lang="en-IN" sz="4400" b="1" dirty="0">
                <a:latin typeface="Casper Bold"/>
              </a:rPr>
              <a:t>Disadvantages of Digital Electronics</a:t>
            </a:r>
          </a:p>
        </p:txBody>
      </p:sp>
      <p:sp>
        <p:nvSpPr>
          <p:cNvPr id="4" name="Text Placeholder 3"/>
          <p:cNvSpPr>
            <a:spLocks noGrp="1"/>
          </p:cNvSpPr>
          <p:nvPr>
            <p:ph type="body" sz="half" idx="2"/>
          </p:nvPr>
        </p:nvSpPr>
        <p:spPr>
          <a:xfrm>
            <a:off x="652553" y="1669868"/>
            <a:ext cx="10799218" cy="3811588"/>
          </a:xfrm>
        </p:spPr>
        <p:txBody>
          <a:bodyPr/>
          <a:lstStyle/>
          <a:p>
            <a:pPr algn="just">
              <a:lnSpc>
                <a:spcPct val="200000"/>
              </a:lnSpc>
              <a:buFont typeface="Wingdings" pitchFamily="2" charset="2"/>
              <a:buChar char="Ø"/>
            </a:pPr>
            <a:r>
              <a:rPr lang="en-IN" dirty="0">
                <a:latin typeface="Casper"/>
              </a:rPr>
              <a:t>Conversion to digital format and re-conversion to </a:t>
            </a:r>
            <a:r>
              <a:rPr lang="en-IN" dirty="0" err="1">
                <a:latin typeface="Casper"/>
              </a:rPr>
              <a:t>analog</a:t>
            </a:r>
            <a:r>
              <a:rPr lang="en-IN" dirty="0">
                <a:latin typeface="Casper"/>
              </a:rPr>
              <a:t> format is needed, which always include the lost of information. </a:t>
            </a:r>
          </a:p>
          <a:p>
            <a:pPr algn="just">
              <a:lnSpc>
                <a:spcPct val="200000"/>
              </a:lnSpc>
              <a:buFont typeface="Wingdings" pitchFamily="2" charset="2"/>
              <a:buChar char="Ø"/>
            </a:pPr>
            <a:r>
              <a:rPr lang="en-IN" dirty="0">
                <a:latin typeface="Casper"/>
              </a:rPr>
              <a:t>In some cases, digital circuits use more energy than </a:t>
            </a:r>
            <a:r>
              <a:rPr lang="en-IN" dirty="0" err="1">
                <a:latin typeface="Casper"/>
              </a:rPr>
              <a:t>analog</a:t>
            </a:r>
            <a:r>
              <a:rPr lang="en-IN" dirty="0">
                <a:latin typeface="Casper"/>
              </a:rPr>
              <a:t> circuits and produce more heat and need heat sinks. </a:t>
            </a:r>
          </a:p>
          <a:p>
            <a:pPr algn="just">
              <a:lnSpc>
                <a:spcPct val="200000"/>
              </a:lnSpc>
              <a:buFont typeface="Wingdings" pitchFamily="2" charset="2"/>
              <a:buChar char="Ø"/>
            </a:pPr>
            <a:r>
              <a:rPr lang="en-IN" dirty="0">
                <a:latin typeface="Casper"/>
              </a:rPr>
              <a:t>Digital circuits are sometimes more expensive, especially in small quantities. </a:t>
            </a:r>
          </a:p>
        </p:txBody>
      </p:sp>
      <p:sp>
        <p:nvSpPr>
          <p:cNvPr id="5" name="Slide Number Placeholder 4"/>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19</a:t>
            </a:fld>
            <a:endParaRPr lang="en-US"/>
          </a:p>
        </p:txBody>
      </p:sp>
      <p:sp>
        <p:nvSpPr>
          <p:cNvPr id="6" name="Rectangle 5"/>
          <p:cNvSpPr/>
          <p:nvPr/>
        </p:nvSpPr>
        <p:spPr>
          <a:xfrm>
            <a:off x="783769" y="1436302"/>
            <a:ext cx="10254343" cy="1154483"/>
          </a:xfrm>
          <a:prstGeom prst="rect">
            <a:avLst/>
          </a:prstGeom>
        </p:spPr>
        <p:txBody>
          <a:bodyPr wrap="square">
            <a:spAutoFit/>
          </a:bodyPr>
          <a:lstStyle/>
          <a:p>
            <a:pPr algn="just">
              <a:lnSpc>
                <a:spcPct val="150000"/>
              </a:lnSpc>
            </a:pPr>
            <a:r>
              <a:rPr lang="en-IN" sz="1600" dirty="0">
                <a:latin typeface="Casper"/>
                <a:cs typeface="Times New Roman" pitchFamily="18" charset="0"/>
              </a:rPr>
              <a:t>It's </a:t>
            </a:r>
            <a:r>
              <a:rPr lang="en-IN" sz="1600" b="1" dirty="0">
                <a:latin typeface="Casper"/>
                <a:cs typeface="Times New Roman" pitchFamily="18" charset="0"/>
              </a:rPr>
              <a:t>application</a:t>
            </a:r>
            <a:r>
              <a:rPr lang="en-IN" sz="1600" dirty="0">
                <a:latin typeface="Casper"/>
                <a:cs typeface="Times New Roman" pitchFamily="18" charset="0"/>
              </a:rPr>
              <a:t> are infinite, ranging for high end computing to miniature </a:t>
            </a:r>
            <a:r>
              <a:rPr lang="en-IN" sz="1600" b="1" dirty="0">
                <a:latin typeface="Casper"/>
                <a:cs typeface="Times New Roman" pitchFamily="18" charset="0"/>
              </a:rPr>
              <a:t>circuits</a:t>
            </a:r>
            <a:r>
              <a:rPr lang="en-IN" sz="1600" dirty="0">
                <a:latin typeface="Casper"/>
                <a:cs typeface="Times New Roman" pitchFamily="18" charset="0"/>
              </a:rPr>
              <a:t> that can be very versatile, signal processing, communication etc. </a:t>
            </a:r>
            <a:r>
              <a:rPr lang="en-IN" sz="1600" b="1" dirty="0">
                <a:latin typeface="Casper"/>
                <a:cs typeface="Times New Roman" pitchFamily="18" charset="0"/>
              </a:rPr>
              <a:t>Digital Electronics</a:t>
            </a:r>
            <a:r>
              <a:rPr lang="en-IN" sz="1600" dirty="0">
                <a:latin typeface="Casper"/>
                <a:cs typeface="Times New Roman" pitchFamily="18" charset="0"/>
              </a:rPr>
              <a:t> is currently rapidly developing and removing conventional analogue machines due to its high speed, more accuracy  and greater flexibility</a:t>
            </a:r>
            <a:endParaRPr lang="en-IN" sz="1600" dirty="0">
              <a:latin typeface="Casper"/>
            </a:endParaRPr>
          </a:p>
        </p:txBody>
      </p:sp>
      <p:pic>
        <p:nvPicPr>
          <p:cNvPr id="9" name="Picture 6" descr="Introducing Apple Card, a new kind of credit card created by Apple ..."/>
          <p:cNvPicPr>
            <a:picLocks noChangeAspect="1" noChangeArrowheads="1" noCrop="1"/>
          </p:cNvPicPr>
          <p:nvPr/>
        </p:nvPicPr>
        <p:blipFill>
          <a:blip r:embed="rId3" cstate="print"/>
          <a:srcRect/>
          <a:stretch>
            <a:fillRect/>
          </a:stretch>
        </p:blipFill>
        <p:spPr bwMode="auto">
          <a:xfrm>
            <a:off x="8778247" y="2476501"/>
            <a:ext cx="2730137" cy="3937361"/>
          </a:xfrm>
          <a:prstGeom prst="rect">
            <a:avLst/>
          </a:prstGeom>
          <a:noFill/>
        </p:spPr>
      </p:pic>
      <p:pic>
        <p:nvPicPr>
          <p:cNvPr id="10" name="Picture 11" descr="Arduino GIF - Find on GIFER"/>
          <p:cNvPicPr>
            <a:picLocks noChangeAspect="1" noChangeArrowheads="1" noCrop="1"/>
          </p:cNvPicPr>
          <p:nvPr/>
        </p:nvPicPr>
        <p:blipFill>
          <a:blip r:embed="rId4" cstate="print"/>
          <a:srcRect/>
          <a:stretch>
            <a:fillRect/>
          </a:stretch>
        </p:blipFill>
        <p:spPr bwMode="auto">
          <a:xfrm>
            <a:off x="574765" y="2952206"/>
            <a:ext cx="3773987" cy="3448594"/>
          </a:xfrm>
          <a:prstGeom prst="rect">
            <a:avLst/>
          </a:prstGeom>
          <a:noFill/>
        </p:spPr>
      </p:pic>
      <p:pic>
        <p:nvPicPr>
          <p:cNvPr id="11" name="Picture 9" descr="Fuerte Developers"/>
          <p:cNvPicPr>
            <a:picLocks noChangeAspect="1" noChangeArrowheads="1" noCrop="1"/>
          </p:cNvPicPr>
          <p:nvPr/>
        </p:nvPicPr>
        <p:blipFill>
          <a:blip r:embed="rId5" cstate="print"/>
          <a:srcRect/>
          <a:stretch>
            <a:fillRect/>
          </a:stretch>
        </p:blipFill>
        <p:spPr bwMode="auto">
          <a:xfrm>
            <a:off x="4332637" y="3017520"/>
            <a:ext cx="4262725" cy="3135086"/>
          </a:xfrm>
          <a:prstGeom prst="rect">
            <a:avLst/>
          </a:prstGeom>
          <a:noFill/>
        </p:spPr>
      </p:pic>
      <p:sp>
        <p:nvSpPr>
          <p:cNvPr id="8" name="TextBox 7"/>
          <p:cNvSpPr txBox="1"/>
          <p:nvPr/>
        </p:nvSpPr>
        <p:spPr>
          <a:xfrm>
            <a:off x="4323807" y="6488668"/>
            <a:ext cx="3243196" cy="369332"/>
          </a:xfrm>
          <a:prstGeom prst="rect">
            <a:avLst/>
          </a:prstGeom>
          <a:noFill/>
        </p:spPr>
        <p:txBody>
          <a:bodyPr wrap="none" rtlCol="0">
            <a:spAutoFit/>
          </a:bodyPr>
          <a:lstStyle/>
          <a:p>
            <a:r>
              <a:rPr lang="en-IN" dirty="0" smtClean="0">
                <a:latin typeface="Casper"/>
              </a:rPr>
              <a:t>Figure: </a:t>
            </a:r>
            <a:r>
              <a:rPr lang="en-IN" dirty="0">
                <a:latin typeface="Casper"/>
              </a:rPr>
              <a:t>Applications of Digital </a:t>
            </a:r>
            <a:endParaRPr lang="en-IN" dirty="0"/>
          </a:p>
        </p:txBody>
      </p:sp>
      <p:sp>
        <p:nvSpPr>
          <p:cNvPr id="12" name="Title 1"/>
          <p:cNvSpPr txBox="1">
            <a:spLocks/>
          </p:cNvSpPr>
          <p:nvPr/>
        </p:nvSpPr>
        <p:spPr>
          <a:xfrm>
            <a:off x="418011" y="404947"/>
            <a:ext cx="10642464" cy="829491"/>
          </a:xfrm>
          <a:prstGeom prst="rect">
            <a:avLst/>
          </a:prstGeom>
        </p:spPr>
        <p:txBody>
          <a:bodyPr vert="horz" lIns="91440" tIns="45720" rIns="91440" bIns="45720" rtlCol="0" anchor="b">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tx1"/>
                </a:solidFill>
                <a:effectLst/>
                <a:uLnTx/>
                <a:uFillTx/>
                <a:latin typeface="Casper Bold"/>
                <a:ea typeface="+mj-ea"/>
                <a:cs typeface="+mj-cs"/>
              </a:rPr>
              <a:t>Applications of Digital </a:t>
            </a:r>
            <a:r>
              <a:rPr kumimoji="0" lang="en-IN" sz="4400" b="1" i="0" u="none" strike="noStrike" kern="1200" cap="none" spc="0" normalizeH="0" baseline="0" noProof="0" dirty="0" smtClean="0">
                <a:ln>
                  <a:noFill/>
                </a:ln>
                <a:solidFill>
                  <a:schemeClr val="tx1"/>
                </a:solidFill>
                <a:effectLst/>
                <a:uLnTx/>
                <a:uFillTx/>
                <a:latin typeface="Casper Bold"/>
                <a:ea typeface="+mj-ea"/>
                <a:cs typeface="+mj-cs"/>
              </a:rPr>
              <a:t>Electronics</a:t>
            </a:r>
            <a:endParaRPr kumimoji="0" lang="en-IN" sz="4400" b="0" i="0" u="none" strike="noStrike" kern="1200" cap="none" spc="0" normalizeH="0" baseline="0" noProof="0" dirty="0">
              <a:ln>
                <a:noFill/>
              </a:ln>
              <a:solidFill>
                <a:schemeClr val="tx1"/>
              </a:solidFill>
              <a:effectLst/>
              <a:uLnTx/>
              <a:uFillTx/>
              <a:latin typeface="Casper Bold"/>
              <a:ea typeface="+mj-ea"/>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84216"/>
            <a:ext cx="10642464" cy="829491"/>
          </a:xfrm>
        </p:spPr>
        <p:txBody>
          <a:bodyPr>
            <a:noAutofit/>
          </a:bodyPr>
          <a:lstStyle/>
          <a:p>
            <a:pPr algn="ctr"/>
            <a:r>
              <a:rPr lang="en-IN" sz="4400" b="1" dirty="0">
                <a:latin typeface="Casper Bold"/>
              </a:rPr>
              <a:t>Applications of Digital </a:t>
            </a:r>
            <a:r>
              <a:rPr lang="en-IN" sz="4400" b="1" dirty="0" smtClean="0">
                <a:latin typeface="Casper Bold"/>
              </a:rPr>
              <a:t>Electronics</a:t>
            </a:r>
            <a:endParaRPr lang="en-IN" sz="4400" dirty="0">
              <a:latin typeface="Casper Bold"/>
            </a:endParaRPr>
          </a:p>
        </p:txBody>
      </p:sp>
      <p:sp>
        <p:nvSpPr>
          <p:cNvPr id="4" name="Text Placeholder 3"/>
          <p:cNvSpPr>
            <a:spLocks noGrp="1"/>
          </p:cNvSpPr>
          <p:nvPr>
            <p:ph type="body" sz="half" idx="2"/>
          </p:nvPr>
        </p:nvSpPr>
        <p:spPr>
          <a:xfrm>
            <a:off x="1153297" y="2031275"/>
            <a:ext cx="9701938" cy="2671354"/>
          </a:xfrm>
        </p:spPr>
        <p:txBody>
          <a:bodyPr>
            <a:normAutofit lnSpcReduction="10000"/>
          </a:bodyPr>
          <a:lstStyle/>
          <a:p>
            <a:pPr algn="just">
              <a:lnSpc>
                <a:spcPct val="200000"/>
              </a:lnSpc>
              <a:buFont typeface="Wingdings" pitchFamily="2" charset="2"/>
              <a:buChar char="Ø"/>
            </a:pPr>
            <a:r>
              <a:rPr lang="en-IN" dirty="0">
                <a:latin typeface="Casper"/>
              </a:rPr>
              <a:t>The digital system send the data in the form of packets of digital codes, thus we can encode and decode them in various formats and codes. </a:t>
            </a:r>
          </a:p>
          <a:p>
            <a:pPr algn="just">
              <a:lnSpc>
                <a:spcPct val="200000"/>
              </a:lnSpc>
              <a:buFont typeface="Wingdings" pitchFamily="2" charset="2"/>
              <a:buChar char="Ø"/>
            </a:pPr>
            <a:r>
              <a:rPr lang="en-IN" dirty="0">
                <a:latin typeface="Casper"/>
              </a:rPr>
              <a:t> Data encryption is also possible in the digital systems, hence the data transmission is more secure, and can be manipulated in many formats </a:t>
            </a:r>
          </a:p>
          <a:p>
            <a:pPr algn="just">
              <a:lnSpc>
                <a:spcPct val="200000"/>
              </a:lnSpc>
              <a:buFont typeface="Wingdings" pitchFamily="2" charset="2"/>
              <a:buChar char="Ø"/>
            </a:pPr>
            <a:r>
              <a:rPr lang="en-IN" dirty="0">
                <a:latin typeface="Casper"/>
              </a:rPr>
              <a:t>Digital systems are much advantageous in communications Data Transmission using Digital Systems</a:t>
            </a:r>
          </a:p>
        </p:txBody>
      </p:sp>
      <p:sp>
        <p:nvSpPr>
          <p:cNvPr id="5" name="Slide Number Placeholder 4"/>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5341" y="261256"/>
            <a:ext cx="4738052" cy="933995"/>
          </a:xfrm>
        </p:spPr>
        <p:txBody>
          <a:bodyPr>
            <a:normAutofit/>
          </a:bodyPr>
          <a:lstStyle/>
          <a:p>
            <a:r>
              <a:rPr lang="en-IN" sz="4400" b="1" dirty="0">
                <a:latin typeface="Casper Bold"/>
                <a:cs typeface="Times New Roman" pitchFamily="18" charset="0"/>
              </a:rPr>
              <a:t>Summarization</a:t>
            </a:r>
            <a:endParaRPr lang="en-IN" sz="4400" dirty="0">
              <a:latin typeface="Casper Bold"/>
            </a:endParaRPr>
          </a:p>
        </p:txBody>
      </p:sp>
      <p:sp>
        <p:nvSpPr>
          <p:cNvPr id="4" name="Text Placeholder 3"/>
          <p:cNvSpPr>
            <a:spLocks noGrp="1"/>
          </p:cNvSpPr>
          <p:nvPr>
            <p:ph type="body" sz="half" idx="2"/>
          </p:nvPr>
        </p:nvSpPr>
        <p:spPr>
          <a:xfrm>
            <a:off x="862149" y="1561012"/>
            <a:ext cx="10881360" cy="3811588"/>
          </a:xfrm>
        </p:spPr>
        <p:txBody>
          <a:bodyPr/>
          <a:lstStyle/>
          <a:p>
            <a:pPr algn="just">
              <a:lnSpc>
                <a:spcPct val="200000"/>
              </a:lnSpc>
              <a:buFont typeface="Wingdings" pitchFamily="2" charset="2"/>
              <a:buChar char="Ø"/>
            </a:pPr>
            <a:r>
              <a:rPr lang="en-IN" dirty="0">
                <a:latin typeface="Casper"/>
              </a:rPr>
              <a:t>Today’s fast growing technology need the evolution of digital electronics.</a:t>
            </a:r>
          </a:p>
          <a:p>
            <a:pPr algn="just">
              <a:lnSpc>
                <a:spcPct val="200000"/>
              </a:lnSpc>
              <a:buFont typeface="Wingdings" pitchFamily="2" charset="2"/>
              <a:buChar char="Ø"/>
            </a:pPr>
            <a:r>
              <a:rPr lang="en-IN" dirty="0">
                <a:latin typeface="Casper"/>
              </a:rPr>
              <a:t>Speed ,Space &amp; Accuracy are key parameters of digital system.</a:t>
            </a:r>
          </a:p>
          <a:p>
            <a:pPr algn="just">
              <a:lnSpc>
                <a:spcPct val="200000"/>
              </a:lnSpc>
              <a:buFont typeface="Wingdings" pitchFamily="2" charset="2"/>
              <a:buChar char="Ø"/>
            </a:pPr>
            <a:r>
              <a:rPr lang="en-IN" dirty="0">
                <a:latin typeface="Casper"/>
              </a:rPr>
              <a:t>Every signal is by default analog in nature but as per the need conversions are done to make it work in digital system.</a:t>
            </a:r>
          </a:p>
          <a:p>
            <a:pPr algn="just">
              <a:lnSpc>
                <a:spcPct val="200000"/>
              </a:lnSpc>
              <a:buFont typeface="Wingdings" pitchFamily="2" charset="2"/>
              <a:buChar char="Ø"/>
            </a:pPr>
            <a:r>
              <a:rPr lang="en-IN" dirty="0">
                <a:latin typeface="Casper"/>
              </a:rPr>
              <a:t>Infinite application can be seen around which very well explain the need of digital electronics</a:t>
            </a:r>
          </a:p>
          <a:p>
            <a:pPr algn="just">
              <a:lnSpc>
                <a:spcPct val="200000"/>
              </a:lnSpc>
              <a:buFont typeface="Wingdings" pitchFamily="2" charset="2"/>
              <a:buChar char="Ø"/>
            </a:pPr>
            <a:endParaRPr lang="en-IN" dirty="0">
              <a:latin typeface="Casper"/>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6191"/>
            <a:ext cx="10515600" cy="989468"/>
          </a:xfrm>
        </p:spPr>
        <p:txBody>
          <a:bodyPr/>
          <a:lstStyle/>
          <a:p>
            <a:pPr algn="ctr"/>
            <a:r>
              <a:rPr lang="en-US"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6" name="Rectangle 5"/>
          <p:cNvSpPr/>
          <p:nvPr/>
        </p:nvSpPr>
        <p:spPr>
          <a:xfrm>
            <a:off x="838200" y="273275"/>
            <a:ext cx="10515600" cy="77175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sper Bold"/>
              <a:cs typeface="Times New Roman" pitchFamily="18" charset="0"/>
            </a:endParaRPr>
          </a:p>
        </p:txBody>
      </p:sp>
      <p:sp>
        <p:nvSpPr>
          <p:cNvPr id="9" name="Rectangle 2"/>
          <p:cNvSpPr>
            <a:spLocks noGrp="1" noChangeArrowheads="1"/>
          </p:cNvSpPr>
          <p:nvPr>
            <p:ph idx="1"/>
          </p:nvPr>
        </p:nvSpPr>
        <p:spPr bwMode="auto">
          <a:xfrm>
            <a:off x="867228" y="1248229"/>
            <a:ext cx="10515600" cy="5388919"/>
          </a:xfrm>
          <a:prstGeom prst="rect">
            <a:avLst/>
          </a:prstGeom>
          <a:noFill/>
          <a:ln w="9525">
            <a:noFill/>
            <a:miter lim="800000"/>
            <a:headEnd/>
            <a:tailEnd/>
          </a:ln>
        </p:spPr>
        <p:txBody>
          <a:bodyPr wrap="square" lIns="82048" tIns="41025" rIns="82048" bIns="41025">
            <a:spAutoFit/>
          </a:bodyPr>
          <a:lstStyle/>
          <a:p>
            <a:pPr marL="342900" indent="-342900" defTabSz="820487">
              <a:buFont typeface="+mj-lt"/>
              <a:buAutoNum type="arabicPeriod"/>
            </a:pPr>
            <a:r>
              <a:rPr lang="en-US" sz="1600" dirty="0">
                <a:latin typeface="Casper"/>
                <a:hlinkClick r:id="rId3"/>
              </a:rPr>
              <a:t>https://www.google.com/search?q=number+system+in+digital+electronics&amp;source=lnms&amp;tbm=isch&amp;sa=X&amp;ved=0ahUKEwjOsbqmnvPiAhXPZCsKHXrSBJYQ_AUIESgC&amp;biw=1366&amp;bih=657#imgrc=DBR-RpBVZAmHDM:</a:t>
            </a:r>
            <a:endParaRPr lang="en-US" sz="1600" dirty="0">
              <a:latin typeface="Casper"/>
            </a:endParaRPr>
          </a:p>
          <a:p>
            <a:pPr marL="342900" indent="-342900" defTabSz="820487">
              <a:buFont typeface="+mj-lt"/>
              <a:buAutoNum type="arabicPeriod"/>
            </a:pPr>
            <a:r>
              <a:rPr lang="en-US" sz="1600" dirty="0">
                <a:solidFill>
                  <a:schemeClr val="tx2"/>
                </a:solidFill>
                <a:latin typeface="Casper"/>
                <a:cs typeface="Times New Roman" pitchFamily="18" charset="0"/>
                <a:hlinkClick r:id="rId4"/>
              </a:rPr>
              <a:t>https://www.google.com/search?q=decimal+to+binary&amp;source=lnms&amp;tbm=isch&amp;sa=X&amp;ved=0ahUKEwi6nMvW5uHiAhVBXSsKHUgGC60Q_AUIECgB&amp;biw=1517&amp;bih=730#imgrc=cl-xz1ixddfv9M </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u="sng" dirty="0">
                <a:latin typeface="Casper"/>
                <a:hlinkClick r:id="rId5"/>
              </a:rPr>
              <a:t>www.cse.yorku.ca/~mack/1011/01.NumberSystems.ppt</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latin typeface="Casper"/>
                <a:cs typeface="Times New Roman" pitchFamily="18" charset="0"/>
                <a:hlinkClick r:id="rId6"/>
              </a:rPr>
              <a:t>https://www.google.com/search?q=binary+to+grey+conversion&amp;source=lnms&amp;tbm=isch&amp;sa=X&amp;ved=0ahUKEwjD6vrQi-PiAhVMSX0KHftLDngQ_AUIECgB&amp;biw=1366&amp;bih=657#imgrc=bkt5qsZlpTZ1sM</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solidFill>
                  <a:schemeClr val="tx2"/>
                </a:solidFill>
                <a:latin typeface="Casper"/>
                <a:cs typeface="Times New Roman" pitchFamily="18" charset="0"/>
                <a:hlinkClick r:id="rId7"/>
              </a:rPr>
              <a:t>http://www.geeksforgeeks.org/digital-electronics-logic-design-tutorials/</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solidFill>
                  <a:schemeClr val="tx2"/>
                </a:solidFill>
                <a:latin typeface="Casper"/>
                <a:cs typeface="Times New Roman" pitchFamily="18" charset="0"/>
                <a:hlinkClick r:id="rId6"/>
              </a:rPr>
              <a:t>https://www.google.com/search?q=binary+to+grey+conversion&amp;source=lnms&amp;tbm=isch&amp;sa=X&amp;ved=0ahUKEwjD6vrQi-PiAhVMSX0KHftLDngQ_AUIECgB&amp;biw=1366&amp;bih=657#imgrc=bkt5qsZlpTZ1sM</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solidFill>
                  <a:schemeClr val="tx2"/>
                </a:solidFill>
                <a:latin typeface="Casper"/>
                <a:cs typeface="Times New Roman" pitchFamily="18" charset="0"/>
                <a:hlinkClick r:id="rId8"/>
              </a:rPr>
              <a:t>http://www.ni.com/example/14493/en/</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US" sz="1600" dirty="0">
                <a:solidFill>
                  <a:schemeClr val="tx2"/>
                </a:solidFill>
                <a:latin typeface="Casper"/>
                <a:cs typeface="Times New Roman" pitchFamily="18" charset="0"/>
                <a:hlinkClick r:id="rId9"/>
              </a:rPr>
              <a:t>https://www.tutorialspoint.com/digital_electronics/index.asp</a:t>
            </a:r>
            <a:endParaRPr lang="en-US" sz="1600" dirty="0">
              <a:solidFill>
                <a:schemeClr val="tx2"/>
              </a:solidFill>
              <a:latin typeface="Casper"/>
              <a:cs typeface="Times New Roman" pitchFamily="18" charset="0"/>
            </a:endParaRPr>
          </a:p>
          <a:p>
            <a:pPr marL="342900" indent="-342900" defTabSz="820487">
              <a:buFont typeface="+mj-lt"/>
              <a:buAutoNum type="arabicPeriod"/>
            </a:pPr>
            <a:r>
              <a:rPr lang="en-GB" sz="1600" dirty="0">
                <a:solidFill>
                  <a:schemeClr val="tx2"/>
                </a:solidFill>
                <a:latin typeface="Casper"/>
                <a:cs typeface="Times New Roman" pitchFamily="18" charset="0"/>
                <a:hlinkClick r:id="rId10"/>
              </a:rPr>
              <a:t>https://www.tutorialspoint.com/computer_logical_organization/complement_arithmetic.htm</a:t>
            </a:r>
            <a:endParaRPr lang="en-GB" sz="1600" dirty="0">
              <a:solidFill>
                <a:schemeClr val="tx2"/>
              </a:solidFill>
              <a:latin typeface="Casper"/>
              <a:cs typeface="Times New Roman" pitchFamily="18" charset="0"/>
            </a:endParaRPr>
          </a:p>
          <a:p>
            <a:pPr marL="342900" indent="-342900" defTabSz="820487">
              <a:buFont typeface="+mj-lt"/>
              <a:buAutoNum type="arabicPeriod"/>
            </a:pPr>
            <a:r>
              <a:rPr lang="en-US" sz="1600" dirty="0">
                <a:latin typeface="Casper"/>
                <a:ea typeface="Calibri" pitchFamily="34" charset="0"/>
                <a:cs typeface="Times New Roman" pitchFamily="18" charset="0"/>
              </a:rPr>
              <a:t>Floyd &amp; Jain, Digital Fundamentals, Pearson. </a:t>
            </a:r>
          </a:p>
          <a:p>
            <a:pPr marL="342900" indent="-342900" defTabSz="820487">
              <a:buFont typeface="+mj-lt"/>
              <a:buAutoNum type="arabicPeriod"/>
            </a:pPr>
            <a:r>
              <a:rPr lang="en-US" sz="1600" dirty="0">
                <a:latin typeface="Casper"/>
                <a:ea typeface="Calibri" pitchFamily="34" charset="0"/>
                <a:cs typeface="Times New Roman" pitchFamily="18" charset="0"/>
              </a:rPr>
              <a:t>Mano, Morris, Digital Design, Prentice Hall of India.</a:t>
            </a:r>
          </a:p>
          <a:p>
            <a:pPr marL="342900" indent="-342900" defTabSz="820487">
              <a:buFont typeface="+mj-lt"/>
              <a:buAutoNum type="arabicPeriod"/>
            </a:pPr>
            <a:r>
              <a:rPr lang="en-US" sz="1600" dirty="0">
                <a:latin typeface="Casper"/>
                <a:ea typeface="Calibri" pitchFamily="34" charset="0"/>
                <a:cs typeface="Times New Roman" pitchFamily="18" charset="0"/>
              </a:rPr>
              <a:t>Fletcher,  An </a:t>
            </a:r>
            <a:r>
              <a:rPr lang="en-US" sz="1600" dirty="0" smtClean="0">
                <a:latin typeface="Casper"/>
                <a:ea typeface="Calibri" pitchFamily="34" charset="0"/>
                <a:cs typeface="Times New Roman" pitchFamily="18" charset="0"/>
              </a:rPr>
              <a:t>Engineering  </a:t>
            </a:r>
            <a:r>
              <a:rPr lang="en-US" sz="1600" dirty="0">
                <a:latin typeface="Casper"/>
                <a:ea typeface="Calibri" pitchFamily="34" charset="0"/>
                <a:cs typeface="Times New Roman" pitchFamily="18" charset="0"/>
              </a:rPr>
              <a:t>Approach to digital design, Prentice Hall of India.</a:t>
            </a:r>
          </a:p>
          <a:p>
            <a:pPr marL="342900" indent="-342900" defTabSz="820487">
              <a:buFont typeface="+mj-lt"/>
              <a:buAutoNum type="arabicPeriod"/>
            </a:pPr>
            <a:endParaRPr lang="en-GB" sz="1600" dirty="0">
              <a:solidFill>
                <a:schemeClr val="tx2"/>
              </a:solidFill>
              <a:latin typeface="Casper"/>
              <a:cs typeface="Times New Roman" pitchFamily="18" charset="0"/>
            </a:endParaRPr>
          </a:p>
        </p:txBody>
      </p:sp>
    </p:spTree>
    <p:extLst>
      <p:ext uri="{BB962C8B-B14F-4D97-AF65-F5344CB8AC3E}">
        <p14:creationId xmlns:p14="http://schemas.microsoft.com/office/powerpoint/2010/main" val="3361918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1995" y="274319"/>
            <a:ext cx="3588520" cy="816429"/>
          </a:xfrm>
        </p:spPr>
        <p:txBody>
          <a:bodyPr>
            <a:noAutofit/>
          </a:bodyPr>
          <a:lstStyle/>
          <a:p>
            <a:r>
              <a:rPr lang="en-IN" sz="4400" b="1" dirty="0">
                <a:latin typeface="Casper"/>
              </a:rPr>
              <a:t>References</a:t>
            </a:r>
          </a:p>
        </p:txBody>
      </p:sp>
      <p:sp>
        <p:nvSpPr>
          <p:cNvPr id="4" name="Text Placeholder 3"/>
          <p:cNvSpPr>
            <a:spLocks noGrp="1"/>
          </p:cNvSpPr>
          <p:nvPr>
            <p:ph type="body" sz="half" idx="2"/>
          </p:nvPr>
        </p:nvSpPr>
        <p:spPr>
          <a:xfrm>
            <a:off x="470263" y="1678577"/>
            <a:ext cx="10672354" cy="3811588"/>
          </a:xfrm>
        </p:spPr>
        <p:txBody>
          <a:bodyPr>
            <a:noAutofit/>
          </a:bodyPr>
          <a:lstStyle/>
          <a:p>
            <a:pPr algn="just">
              <a:buFont typeface="Wingdings" pitchFamily="2" charset="2"/>
              <a:buChar char="Ø"/>
            </a:pPr>
            <a:r>
              <a:rPr lang="en-IN" b="1" u="sng" dirty="0">
                <a:latin typeface="Casper"/>
                <a:cs typeface="Times New Roman" pitchFamily="18" charset="0"/>
              </a:rPr>
              <a:t>Video link for Digital Electronics</a:t>
            </a:r>
          </a:p>
          <a:p>
            <a:pPr algn="just">
              <a:buFont typeface="Wingdings" pitchFamily="2" charset="2"/>
              <a:buChar char="Ø"/>
            </a:pPr>
            <a:r>
              <a:rPr lang="en-IN" dirty="0">
                <a:latin typeface="Casper"/>
                <a:hlinkClick r:id="rId3"/>
              </a:rPr>
              <a:t>https://www.youtube.com/watch?v=2xXErGeeb_Q</a:t>
            </a:r>
            <a:endParaRPr lang="en-IN" dirty="0">
              <a:latin typeface="Casper"/>
            </a:endParaRPr>
          </a:p>
          <a:p>
            <a:pPr algn="just">
              <a:buFont typeface="Wingdings" pitchFamily="2" charset="2"/>
              <a:buChar char="Ø"/>
            </a:pPr>
            <a:r>
              <a:rPr lang="en-IN" dirty="0">
                <a:latin typeface="Casper"/>
                <a:hlinkClick r:id="rId4"/>
              </a:rPr>
              <a:t>https://www.youtube.com/watch?v=M0mx8S05v60&amp;list=PLBlnK6fEyqRjMH3mWf6kwqiTbT798eAOm</a:t>
            </a:r>
            <a:endParaRPr lang="en-IN" dirty="0">
              <a:latin typeface="Casper"/>
            </a:endParaRPr>
          </a:p>
          <a:p>
            <a:pPr algn="just">
              <a:buFont typeface="Wingdings" pitchFamily="2" charset="2"/>
              <a:buChar char="Ø"/>
            </a:pPr>
            <a:endParaRPr lang="en-IN" b="1" u="sng" dirty="0">
              <a:latin typeface="Casper"/>
            </a:endParaRPr>
          </a:p>
          <a:p>
            <a:pPr algn="just">
              <a:buFont typeface="Wingdings" pitchFamily="2" charset="2"/>
              <a:buChar char="Ø"/>
            </a:pPr>
            <a:r>
              <a:rPr lang="en-IN" b="1" u="sng" dirty="0">
                <a:latin typeface="Casper"/>
              </a:rPr>
              <a:t>E Book for Digital Electronics</a:t>
            </a:r>
          </a:p>
          <a:p>
            <a:pPr algn="just">
              <a:buFont typeface="Wingdings" pitchFamily="2" charset="2"/>
              <a:buChar char="Ø"/>
            </a:pPr>
            <a:r>
              <a:rPr lang="en-IN" dirty="0">
                <a:latin typeface="Casper"/>
                <a:hlinkClick r:id="rId5"/>
              </a:rPr>
              <a:t>https://www.electronicsforu.com/resources/15-free-electronics-ebooks</a:t>
            </a:r>
            <a:endParaRPr lang="en-IN" b="1" u="sng" dirty="0">
              <a:latin typeface="Casper"/>
            </a:endParaRPr>
          </a:p>
          <a:p>
            <a:pPr algn="just">
              <a:buFont typeface="Wingdings" pitchFamily="2" charset="2"/>
              <a:buChar char="Ø"/>
            </a:pPr>
            <a:r>
              <a:rPr lang="en-IN" b="1" u="sng" dirty="0">
                <a:latin typeface="Casper"/>
              </a:rPr>
              <a:t>Other important link</a:t>
            </a:r>
          </a:p>
          <a:p>
            <a:pPr algn="just">
              <a:buFont typeface="Wingdings" pitchFamily="2" charset="2"/>
              <a:buChar char="Ø"/>
            </a:pPr>
            <a:r>
              <a:rPr lang="en-IN" b="1" u="sng" dirty="0">
                <a:solidFill>
                  <a:srgbClr val="FF0000"/>
                </a:solidFill>
                <a:latin typeface="Casper"/>
              </a:rPr>
              <a:t>NPTEL</a:t>
            </a:r>
          </a:p>
          <a:p>
            <a:pPr algn="just">
              <a:buFont typeface="Wingdings" pitchFamily="2" charset="2"/>
              <a:buChar char="Ø"/>
            </a:pPr>
            <a:r>
              <a:rPr lang="en-IN" dirty="0">
                <a:latin typeface="Casper"/>
                <a:hlinkClick r:id="rId6"/>
              </a:rPr>
              <a:t>https://nptel.ac.in/courses/108/105/108105132/</a:t>
            </a:r>
            <a:endParaRPr lang="en-IN" dirty="0">
              <a:latin typeface="Casper"/>
            </a:endParaRPr>
          </a:p>
          <a:p>
            <a:pPr algn="just">
              <a:buFont typeface="Wingdings" pitchFamily="2" charset="2"/>
              <a:buChar char="Ø"/>
            </a:pPr>
            <a:r>
              <a:rPr lang="en-IN" dirty="0">
                <a:latin typeface="Casper"/>
                <a:hlinkClick r:id="rId7"/>
              </a:rPr>
              <a:t>https://</a:t>
            </a:r>
            <a:r>
              <a:rPr lang="en-IN" dirty="0" smtClean="0">
                <a:latin typeface="Casper"/>
                <a:hlinkClick r:id="rId7"/>
              </a:rPr>
              <a:t>nptel.ac.in/courses/117/106/117106086/</a:t>
            </a:r>
            <a:endParaRPr lang="en-IN" dirty="0">
              <a:latin typeface="Casper"/>
            </a:endParaRPr>
          </a:p>
          <a:p>
            <a:pPr algn="just">
              <a:buFont typeface="Wingdings" pitchFamily="2" charset="2"/>
              <a:buChar char="Ø"/>
            </a:pPr>
            <a:r>
              <a:rPr lang="en-IN" dirty="0" smtClean="0">
                <a:latin typeface="Casper"/>
              </a:rPr>
              <a:t>https</a:t>
            </a:r>
            <a:r>
              <a:rPr lang="en-IN" dirty="0">
                <a:latin typeface="Casper"/>
              </a:rPr>
              <a:t>://executivefunctioningsuccess.com/wp-content/uploads/2010/06/analog-vs-digital.png </a:t>
            </a:r>
            <a:endParaRPr lang="en-IN" dirty="0" smtClean="0">
              <a:latin typeface="Casper"/>
            </a:endParaRPr>
          </a:p>
          <a:p>
            <a:pPr algn="just">
              <a:buFont typeface="Wingdings" pitchFamily="2" charset="2"/>
              <a:buChar char="Ø"/>
            </a:pPr>
            <a:r>
              <a:rPr lang="en-IN" dirty="0" smtClean="0">
                <a:latin typeface="Casper"/>
                <a:hlinkClick r:id="rId8"/>
              </a:rPr>
              <a:t>http</a:t>
            </a:r>
            <a:r>
              <a:rPr lang="en-IN" dirty="0">
                <a:latin typeface="Casper"/>
                <a:hlinkClick r:id="rId8"/>
              </a:rPr>
              <a:t>://</a:t>
            </a:r>
            <a:r>
              <a:rPr lang="en-IN" dirty="0" smtClean="0">
                <a:latin typeface="Casper"/>
                <a:hlinkClick r:id="rId8"/>
              </a:rPr>
              <a:t>www.technologyuk.net/telecommunications/telecom-principles/images/digital_signal02.gif</a:t>
            </a:r>
            <a:endParaRPr lang="en-IN" dirty="0">
              <a:latin typeface="Casper"/>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Tree>
    <p:extLst>
      <p:ext uri="{BB962C8B-B14F-4D97-AF65-F5344CB8AC3E}">
        <p14:creationId xmlns:p14="http://schemas.microsoft.com/office/powerpoint/2010/main" val="265650126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BAD9C34C-1BD0-4DE9-999B-851BC859311E"/>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uFFFD\u0012{A13A6382-F403-4EAF-B9BB-200E2A5D89C3}&quot;,&quot;C:\\Users\\Navdeep Kaur\\Desktop\\daqc&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 1 &amp; 2"/>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1187</TotalTime>
  <Words>1770</Words>
  <Application>Microsoft Office PowerPoint</Application>
  <PresentationFormat>Widescreen</PresentationFormat>
  <Paragraphs>336</Paragraphs>
  <Slides>24</Slides>
  <Notes>13</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40" baseType="lpstr">
      <vt:lpstr>Arial</vt:lpstr>
      <vt:lpstr>Arial Black</vt:lpstr>
      <vt:lpstr>Arial Unicode MS</vt:lpstr>
      <vt:lpstr>Calibri</vt:lpstr>
      <vt:lpstr>Calibri Light</vt:lpstr>
      <vt:lpstr>Casper</vt:lpstr>
      <vt:lpstr>Casper Bold</vt:lpstr>
      <vt:lpstr>Karla</vt:lpstr>
      <vt:lpstr>King</vt:lpstr>
      <vt:lpstr>Palatino Linotype</vt:lpstr>
      <vt:lpstr>Segoe UI</vt:lpstr>
      <vt:lpstr>Times New Roman</vt:lpstr>
      <vt:lpstr>Wingdings</vt:lpstr>
      <vt:lpstr>1_Office Theme</vt:lpstr>
      <vt:lpstr>Contents Slide Master</vt:lpstr>
      <vt:lpstr>CorelDRAW</vt:lpstr>
      <vt:lpstr>PowerPoint Presentation</vt:lpstr>
      <vt:lpstr>  Vision &amp; Mission of the Department  </vt:lpstr>
      <vt:lpstr> Program Educational Objectives </vt:lpstr>
      <vt:lpstr>                                      Program Outcomes   </vt:lpstr>
      <vt:lpstr>               Program Outcomes</vt:lpstr>
      <vt:lpstr> Program Specific Outcomes </vt:lpstr>
      <vt:lpstr>Lecture Objectives</vt:lpstr>
      <vt:lpstr>Course Objectives</vt:lpstr>
      <vt:lpstr>Course Outcomes</vt:lpstr>
      <vt:lpstr>CO-PO Mapping</vt:lpstr>
      <vt:lpstr>Introduction to Digital Electronics</vt:lpstr>
      <vt:lpstr>What is Digital Electronics?</vt:lpstr>
      <vt:lpstr>Analog Vs Digital</vt:lpstr>
      <vt:lpstr>Analog Signal Vs Digital Signal Representation</vt:lpstr>
      <vt:lpstr>How the conversion of Analog to Digital Occur?</vt:lpstr>
      <vt:lpstr>Benefits of Digital over Analog</vt:lpstr>
      <vt:lpstr>Advantages of Digital Electronics</vt:lpstr>
      <vt:lpstr>Disadvantages of Digital Electronics</vt:lpstr>
      <vt:lpstr>PowerPoint Presentation</vt:lpstr>
      <vt:lpstr>Applications of Digital Electronics</vt:lpstr>
      <vt:lpstr>Summarization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 1 &amp; 2</dc:title>
  <dc:creator>Branding</dc:creator>
  <cp:lastModifiedBy>INDIAN</cp:lastModifiedBy>
  <cp:revision>175</cp:revision>
  <dcterms:created xsi:type="dcterms:W3CDTF">2019-01-09T10:33:58Z</dcterms:created>
  <dcterms:modified xsi:type="dcterms:W3CDTF">2023-07-17T06:57:46Z</dcterms:modified>
</cp:coreProperties>
</file>