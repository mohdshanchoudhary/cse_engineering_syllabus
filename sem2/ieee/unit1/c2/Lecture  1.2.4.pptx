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393" r:id="rId3"/>
    <p:sldId id="389" r:id="rId4"/>
    <p:sldId id="390" r:id="rId5"/>
    <p:sldId id="391" r:id="rId6"/>
    <p:sldId id="295" r:id="rId7"/>
    <p:sldId id="300" r:id="rId8"/>
    <p:sldId id="280" r:id="rId9"/>
    <p:sldId id="299" r:id="rId10"/>
    <p:sldId id="301" r:id="rId11"/>
    <p:sldId id="303" r:id="rId12"/>
    <p:sldId id="304" r:id="rId13"/>
    <p:sldId id="305" r:id="rId14"/>
    <p:sldId id="306" r:id="rId15"/>
    <p:sldId id="283" r:id="rId16"/>
    <p:sldId id="284" r:id="rId17"/>
    <p:sldId id="3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0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6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transition spd="slow">
    <p:wipe dir="r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ransition spd="slow">
    <p:wipe dir="r"/>
  </p:transition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audio" Target="../media/audio1.wav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gif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3.wav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5.wav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6.wav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7.wav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8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nd-gate-in-digital-electronics" TargetMode="External"/><Relationship Id="rId3" Type="http://schemas.openxmlformats.org/officeDocument/2006/relationships/hyperlink" Target="https://www.vivaxsolutions.com/physics/allogicgates.aspx" TargetMode="External"/><Relationship Id="rId7" Type="http://schemas.openxmlformats.org/officeDocument/2006/relationships/hyperlink" Target="http://195.134.76.37/applets/AppletGates/Appl_Gates2.html" TargetMode="External"/><Relationship Id="rId12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9.wav"/><Relationship Id="rId6" Type="http://schemas.openxmlformats.org/officeDocument/2006/relationships/hyperlink" Target="http://www.ni.com/example/14493/en/" TargetMode="External"/><Relationship Id="rId11" Type="http://schemas.openxmlformats.org/officeDocument/2006/relationships/hyperlink" Target="https://www.tutorialspoint.com/computer_logical_organization/complement_arithmetic.htm" TargetMode="External"/><Relationship Id="rId5" Type="http://schemas.openxmlformats.org/officeDocument/2006/relationships/hyperlink" Target="http://www.geeksforgeeks.org/digital-electronics-logic-design-tutorials/" TargetMode="External"/><Relationship Id="rId10" Type="http://schemas.openxmlformats.org/officeDocument/2006/relationships/hyperlink" Target="https://www.tutorialspoint.com/digital_electronics/index.asp" TargetMode="External"/><Relationship Id="rId4" Type="http://schemas.openxmlformats.org/officeDocument/2006/relationships/hyperlink" Target="https://www.androiderode.com/ttl-not-gate/" TargetMode="External"/><Relationship Id="rId9" Type="http://schemas.openxmlformats.org/officeDocument/2006/relationships/hyperlink" Target="https://www.allaboutcircuits.com/textbook/digital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6685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Logic Gates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371086" cy="68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Code- 23ECH-101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Chapter-2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/>
              <a:t>Introduction</a:t>
            </a:r>
            <a:r>
              <a:rPr lang="en-IN" sz="2400" b="1" dirty="0" smtClean="0"/>
              <a:t> </a:t>
            </a:r>
            <a:r>
              <a:rPr lang="en-IN" sz="2400" b="1" dirty="0"/>
              <a:t>of Electrical &amp; Electronics Circuit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1.2.4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2954" y="2054775"/>
          <a:ext cx="6053173" cy="4197274"/>
        </p:xfrm>
        <a:graphic>
          <a:graphicData uri="http://schemas.openxmlformats.org/drawingml/2006/table">
            <a:tbl>
              <a:tblPr firstRow="1" firstCol="1" bandRow="1"/>
              <a:tblGrid>
                <a:gridCol w="765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7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1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5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make student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aware about different logic gates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1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impart knowledge about realizing a logic function using gates.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13114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make and understand of deriving basic gates from universal gates.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Content Placeholder 17" descr="logicgates11.gif">
            <a:extLst>
              <a:ext uri="{FF2B5EF4-FFF2-40B4-BE49-F238E27FC236}">
                <a16:creationId xmlns:a16="http://schemas.microsoft.com/office/drawing/2014/main" id="{DED519D3-9BB9-4782-8513-EFC69FC39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2851" y="1741016"/>
            <a:ext cx="4760912" cy="3570684"/>
          </a:xfrm>
        </p:spPr>
      </p:pic>
    </p:spTree>
    <p:extLst>
      <p:ext uri="{BB962C8B-B14F-4D97-AF65-F5344CB8AC3E}">
        <p14:creationId xmlns:p14="http://schemas.microsoft.com/office/powerpoint/2010/main" val="2722040764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486601" y="93614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0154"/>
              </p:ext>
            </p:extLst>
          </p:nvPr>
        </p:nvGraphicFramePr>
        <p:xfrm>
          <a:off x="406366" y="1761893"/>
          <a:ext cx="6536802" cy="3641438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5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74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Content Placeholder 17" descr="logicgates11.gif">
            <a:extLst>
              <a:ext uri="{FF2B5EF4-FFF2-40B4-BE49-F238E27FC236}">
                <a16:creationId xmlns:a16="http://schemas.microsoft.com/office/drawing/2014/main" id="{6F82CC9D-515B-49E7-898A-DCFD9B8D5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1776" y="1378148"/>
            <a:ext cx="4760912" cy="4052495"/>
          </a:xfrm>
        </p:spPr>
      </p:pic>
    </p:spTree>
    <p:extLst>
      <p:ext uri="{BB962C8B-B14F-4D97-AF65-F5344CB8AC3E}">
        <p14:creationId xmlns:p14="http://schemas.microsoft.com/office/powerpoint/2010/main" val="521536018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739107" y="0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"/>
              </a:rPr>
              <a:t>Course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61559"/>
              </p:ext>
            </p:extLst>
          </p:nvPr>
        </p:nvGraphicFramePr>
        <p:xfrm>
          <a:off x="282009" y="1594624"/>
          <a:ext cx="6570735" cy="5325688"/>
        </p:xfrm>
        <a:graphic>
          <a:graphicData uri="http://schemas.openxmlformats.org/drawingml/2006/table">
            <a:tbl>
              <a:tblPr firstRow="1" firstCol="1" bandRow="1"/>
              <a:tblGrid>
                <a:gridCol w="625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9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67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68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79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68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68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4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Content Placeholder 17" descr="logicgates11.gif">
            <a:extLst>
              <a:ext uri="{FF2B5EF4-FFF2-40B4-BE49-F238E27FC236}">
                <a16:creationId xmlns:a16="http://schemas.microsoft.com/office/drawing/2014/main" id="{A1F74E12-3328-41C6-9729-B443FA464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079" y="1814900"/>
            <a:ext cx="4760912" cy="3570684"/>
          </a:xfrm>
        </p:spPr>
      </p:pic>
    </p:spTree>
    <p:extLst>
      <p:ext uri="{BB962C8B-B14F-4D97-AF65-F5344CB8AC3E}">
        <p14:creationId xmlns:p14="http://schemas.microsoft.com/office/powerpoint/2010/main" val="3208545679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76932" y="1701800"/>
            <a:ext cx="55650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/>
            <a:r>
              <a:rPr lang="en-US" sz="44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sper Bold"/>
                <a:cs typeface="Times New Roman" panose="02020603050405020304" pitchFamily="18" charset="0"/>
              </a:rPr>
              <a:t>LOGIC GATES </a:t>
            </a:r>
            <a:r>
              <a:rPr lang="en-US" sz="4400" b="1" dirty="0">
                <a:latin typeface="Casper Bold"/>
              </a:rPr>
              <a:t/>
            </a:r>
            <a:br>
              <a:rPr lang="en-US" sz="4400" b="1" dirty="0">
                <a:latin typeface="Casper Bold"/>
              </a:rPr>
            </a:br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/>
            </a:r>
            <a:b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9262" y="3835400"/>
            <a:ext cx="4322762" cy="1397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4434" y="3857179"/>
            <a:ext cx="40372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600" dirty="0">
                <a:latin typeface="Casper"/>
                <a:cs typeface="Times New Roman" pitchFamily="18" charset="0"/>
              </a:rPr>
              <a:t>Logic gates</a:t>
            </a:r>
          </a:p>
          <a:p>
            <a:pPr marL="742950" lvl="1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600" dirty="0">
                <a:latin typeface="Casper"/>
                <a:cs typeface="Times New Roman" pitchFamily="18" charset="0"/>
              </a:rPr>
              <a:t>Realization  of circuit using gates</a:t>
            </a:r>
          </a:p>
        </p:txBody>
      </p: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4613" y="1120902"/>
            <a:ext cx="48291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6778752" y="4657344"/>
            <a:ext cx="44866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1.2 Classification of logic Gates [5]</a:t>
            </a:r>
          </a:p>
        </p:txBody>
      </p:sp>
      <p:pic>
        <p:nvPicPr>
          <p:cNvPr id="15" name="~PP1261.WAV">
            <a:hlinkClick r:id="" action="ppaction://media"/>
          </p:cNvPr>
          <p:cNvPicPr>
            <a:picLocks noRot="1" noChangeAspect="1"/>
          </p:cNvPicPr>
          <p:nvPr>
            <a:wavAudioFile r:embed="rId1" name="~PP1261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ransition spd="slow" advTm="4121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/>
                <a:cs typeface="Arial" panose="020B0604020202020204" pitchFamily="34" charset="0"/>
              </a:rPr>
              <a:t>NOT 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z="1600" smtClean="0">
                <a:latin typeface="Casper"/>
              </a:rPr>
              <a:pPr/>
              <a:t>6</a:t>
            </a:fld>
            <a:endParaRPr lang="en-US" sz="1600">
              <a:latin typeface="Casper"/>
            </a:endParaRPr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132327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NOT  gate has  only one  input and one output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latin typeface="Casper"/>
                <a:cs typeface="Times New Roman" pitchFamily="18" charset="0"/>
              </a:rPr>
              <a:t>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latin typeface="Casper"/>
                <a:cs typeface="Times New Roman" pitchFamily="18" charset="0"/>
              </a:rPr>
              <a:t>IC  used for two input NOT gate is 7404 .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52212" y="4713858"/>
          <a:ext cx="2614243" cy="1260273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Y (output)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1168" y="3767328"/>
            <a:ext cx="355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1.5 Symbol of NOT gate [12 ]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4780" y="6058916"/>
            <a:ext cx="293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Truth Table of NOT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803648"/>
            <a:ext cx="47304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Casper"/>
            </a:endParaRPr>
          </a:p>
          <a:p>
            <a:r>
              <a:rPr lang="en-US" sz="1600" dirty="0">
                <a:latin typeface="Casper"/>
              </a:rPr>
              <a:t>Boolean Expression : Y = A</a:t>
            </a:r>
            <a:r>
              <a:rPr lang="en-US" sz="1600" dirty="0">
                <a:latin typeface="Casper"/>
                <a:cs typeface="Times New Roman"/>
              </a:rPr>
              <a:t>ꞌ</a:t>
            </a:r>
            <a:r>
              <a:rPr lang="en-US" sz="1600" dirty="0">
                <a:latin typeface="Casper"/>
              </a:rPr>
              <a:t> </a:t>
            </a:r>
          </a:p>
          <a:p>
            <a:endParaRPr lang="en-US" sz="1600" dirty="0">
              <a:latin typeface="Casper"/>
            </a:endParaRPr>
          </a:p>
          <a:p>
            <a:endParaRPr lang="en-US" sz="1600" dirty="0">
              <a:latin typeface="Casper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sper"/>
            </a:endParaRPr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428625" cy="190500"/>
          </a:xfrm>
          <a:prstGeom prst="rect">
            <a:avLst/>
          </a:prstGeom>
          <a:noFill/>
        </p:spPr>
      </p:pic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64770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sper"/>
              <a:cs typeface="Arial" pitchFamily="34" charset="0"/>
            </a:endParaRPr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sper"/>
            </a:endParaRPr>
          </a:p>
        </p:txBody>
      </p:sp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428625" cy="190500"/>
          </a:xfrm>
          <a:prstGeom prst="rect">
            <a:avLst/>
          </a:prstGeom>
          <a:noFill/>
        </p:spPr>
      </p:pic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64770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sper"/>
              <a:cs typeface="Arial" pitchFamily="34" charset="0"/>
            </a:endParaRP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sper"/>
            </a:endParaRPr>
          </a:p>
        </p:txBody>
      </p:sp>
      <p:pic>
        <p:nvPicPr>
          <p:cNvPr id="58377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428625" cy="190500"/>
          </a:xfrm>
          <a:prstGeom prst="rect">
            <a:avLst/>
          </a:prstGeom>
          <a:noFill/>
        </p:spPr>
      </p:pic>
      <p:sp>
        <p:nvSpPr>
          <p:cNvPr id="58379" name="Rectangle 11"/>
          <p:cNvSpPr>
            <a:spLocks noChangeArrowheads="1"/>
          </p:cNvSpPr>
          <p:nvPr/>
        </p:nvSpPr>
        <p:spPr bwMode="auto">
          <a:xfrm>
            <a:off x="0" y="64770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sper"/>
              <a:cs typeface="Arial" pitchFamily="34" charset="0"/>
            </a:endParaRPr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0" y="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sper"/>
            </a:endParaRPr>
          </a:p>
        </p:txBody>
      </p:sp>
      <p:pic>
        <p:nvPicPr>
          <p:cNvPr id="58380" name="Picture 1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71475" cy="190500"/>
          </a:xfrm>
          <a:prstGeom prst="rect">
            <a:avLst/>
          </a:prstGeom>
          <a:noFill/>
        </p:spPr>
      </p:pic>
      <p:sp>
        <p:nvSpPr>
          <p:cNvPr id="58383" name="Rectangle 15"/>
          <p:cNvSpPr>
            <a:spLocks noChangeArrowheads="1"/>
          </p:cNvSpPr>
          <p:nvPr/>
        </p:nvSpPr>
        <p:spPr bwMode="auto">
          <a:xfrm>
            <a:off x="0" y="0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Casper"/>
            </a:endParaRPr>
          </a:p>
        </p:txBody>
      </p:sp>
      <p:pic>
        <p:nvPicPr>
          <p:cNvPr id="58382" name="Picture 1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85725" cy="190500"/>
          </a:xfrm>
          <a:prstGeom prst="rect">
            <a:avLst/>
          </a:prstGeom>
          <a:noFill/>
        </p:spPr>
      </p:pic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484438" y="2574925"/>
            <a:ext cx="2900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~PP2798.WAV">
            <a:hlinkClick r:id="" action="ppaction://media"/>
          </p:cNvPr>
          <p:cNvPicPr>
            <a:picLocks noRot="1" noChangeAspect="1"/>
          </p:cNvPicPr>
          <p:nvPr>
            <a:wavAudioFile r:embed="rId1" name="~PP2798.WAV"/>
          </p:nvPr>
        </p:nvPicPr>
        <p:blipFill>
          <a:blip r:embed="rId7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  <p:pic>
        <p:nvPicPr>
          <p:cNvPr id="24" name="Picture 23" descr="not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000" y="1292225"/>
            <a:ext cx="3810000" cy="24193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658147" y="3818235"/>
            <a:ext cx="172515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cap="none" spc="0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asper"/>
              </a:rPr>
              <a:t>Figure 1.6 NOT GATE[2]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6583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AND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316993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And gate has n no. Of inputs and one output whereas in the symbol there are only two inputs.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2000" dirty="0">
                <a:latin typeface="Casper"/>
                <a:cs typeface="Times New Roman" pitchFamily="18" charset="0"/>
              </a:rPr>
              <a:t>  </a:t>
            </a: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2000" dirty="0">
                <a:latin typeface="Casper"/>
                <a:cs typeface="Times New Roman" pitchFamily="18" charset="0"/>
              </a:rPr>
              <a:t>IC  used for two input AND gate is 7408 .</a:t>
            </a: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/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9312" y="2910458"/>
          <a:ext cx="4011167" cy="2100455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B(input)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Y (output)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389376" y="3401568"/>
            <a:ext cx="34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1.3 Symbol of AND gate [12]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5376672"/>
            <a:ext cx="3669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Truth Table of AND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949952"/>
            <a:ext cx="4730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Boolean Expression : Y=A.B</a:t>
            </a:r>
          </a:p>
          <a:p>
            <a:endParaRPr lang="en-US" sz="1600" dirty="0">
              <a:latin typeface="Casper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6038" y="2428874"/>
            <a:ext cx="1914525" cy="87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~PP2687.WAV">
            <a:hlinkClick r:id="" action="ppaction://media"/>
          </p:cNvPr>
          <p:cNvPicPr>
            <a:picLocks noRot="1" noChangeAspect="1"/>
          </p:cNvPicPr>
          <p:nvPr>
            <a:wavAudioFile r:embed="rId1" name="~PP2687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869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OR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132327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OR gate has n no. Of inputs and one output whereas in the symbol there are only two inputs.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latin typeface="Casper"/>
                <a:cs typeface="Times New Roman" pitchFamily="18" charset="0"/>
              </a:rPr>
              <a:t>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latin typeface="Casper"/>
                <a:cs typeface="Times New Roman" pitchFamily="18" charset="0"/>
              </a:rPr>
              <a:t>IC  used for two input OR gate is 7432 .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9312" y="2910458"/>
          <a:ext cx="4011167" cy="2100455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B(input)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Y (output)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83968" y="3780028"/>
            <a:ext cx="3401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1.4 Symbol of OR gate [12 ]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5376672"/>
            <a:ext cx="3669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Truth Table of OR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949952"/>
            <a:ext cx="4730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Boolean Expression : Y=A + B</a:t>
            </a:r>
          </a:p>
          <a:p>
            <a:endParaRPr lang="en-US" sz="1600" dirty="0">
              <a:latin typeface="Casper"/>
            </a:endParaRPr>
          </a:p>
        </p:txBody>
      </p:sp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40000" y="2387601"/>
            <a:ext cx="2251075" cy="124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~PP3825.WAV">
            <a:hlinkClick r:id="" action="ppaction://media"/>
          </p:cNvPr>
          <p:cNvPicPr>
            <a:picLocks noRot="1" noChangeAspect="1"/>
          </p:cNvPicPr>
          <p:nvPr>
            <a:wavAudioFile r:embed="rId1" name="~PP3825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6393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NAND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224660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</a:t>
            </a:r>
            <a:r>
              <a:rPr lang="en-GB" sz="1600" dirty="0" err="1">
                <a:solidFill>
                  <a:schemeClr val="tx1"/>
                </a:solidFill>
                <a:latin typeface="Casper"/>
                <a:cs typeface="Times New Roman" pitchFamily="18" charset="0"/>
              </a:rPr>
              <a:t>NAnd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gate has n no. Of inputs and one output whereas in the symbol there are only two inputs.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latin typeface="Casper"/>
                <a:cs typeface="Times New Roman" pitchFamily="18" charset="0"/>
              </a:rPr>
              <a:t>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latin typeface="Casper"/>
                <a:cs typeface="Times New Roman" pitchFamily="18" charset="0"/>
              </a:rPr>
              <a:t>IC  used for two input NAND gate is 7400 .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9312" y="2910458"/>
          <a:ext cx="4011167" cy="2100455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B(input)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C (output)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73300" y="3681984"/>
            <a:ext cx="370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1.6 Symbol of NAND gate [12 ]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5376672"/>
            <a:ext cx="3669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Truth Table of NAND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949952"/>
            <a:ext cx="4730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Boolean Expression : Y=  A.B</a:t>
            </a:r>
          </a:p>
          <a:p>
            <a:endParaRPr lang="en-US" sz="1600" dirty="0">
              <a:latin typeface="Casper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3009900" y="4974908"/>
            <a:ext cx="169164" cy="34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08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2000" y="2501900"/>
            <a:ext cx="41910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~PP928.WAV">
            <a:hlinkClick r:id="" action="ppaction://media"/>
          </p:cNvPr>
          <p:cNvPicPr>
            <a:picLocks noRot="1" noChangeAspect="1"/>
          </p:cNvPicPr>
          <p:nvPr>
            <a:wavAudioFile r:embed="rId1" name="~PP928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11159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NOR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224660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NOR gate has n no. Of inputs and one output whereas in the symbol there are only two inputs.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latin typeface="Casper"/>
                <a:cs typeface="Times New Roman" pitchFamily="18" charset="0"/>
              </a:rPr>
              <a:t>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latin typeface="Casper"/>
                <a:cs typeface="Times New Roman" pitchFamily="18" charset="0"/>
              </a:rPr>
              <a:t>IC  used for two input NOR gate is 7402 .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9312" y="2910458"/>
          <a:ext cx="4011167" cy="2100455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B(input)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Y (output)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98700" y="3767328"/>
            <a:ext cx="4123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1.7 Symbol of NOR gate [12 ]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376672"/>
            <a:ext cx="3590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sper"/>
              </a:rPr>
              <a:t>Truth Table of NOR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949952"/>
            <a:ext cx="47304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Casper"/>
            </a:endParaRPr>
          </a:p>
          <a:p>
            <a:r>
              <a:rPr lang="en-US" sz="2000" dirty="0">
                <a:latin typeface="Casper"/>
              </a:rPr>
              <a:t>Boolean Expression : Y= A + B</a:t>
            </a:r>
          </a:p>
          <a:p>
            <a:endParaRPr lang="en-US" sz="1600" dirty="0">
              <a:latin typeface="Casper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912364" y="5168900"/>
            <a:ext cx="463296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8513" y="2489200"/>
            <a:ext cx="43719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~PP352.WAV">
            <a:hlinkClick r:id="" action="ppaction://media"/>
          </p:cNvPr>
          <p:cNvPicPr>
            <a:picLocks noRot="1" noChangeAspect="1"/>
          </p:cNvPicPr>
          <p:nvPr>
            <a:wavAudioFile r:embed="rId1" name="~PP352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8795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6250"/>
            <a:ext cx="10515600" cy="8100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EX-OR LOGIC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object 12"/>
          <p:cNvSpPr txBox="1">
            <a:spLocks noGrp="1"/>
          </p:cNvSpPr>
          <p:nvPr>
            <p:ph idx="1"/>
          </p:nvPr>
        </p:nvSpPr>
        <p:spPr>
          <a:xfrm>
            <a:off x="768096" y="1580583"/>
            <a:ext cx="10765536" cy="1224660"/>
          </a:xfrm>
          <a:prstGeom prst="rect">
            <a:avLst/>
          </a:prstGeom>
        </p:spPr>
        <p:txBody>
          <a:bodyPr vert="horz" wrap="square" lIns="0" tIns="11396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20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XOR gate has n no. Of inputs and one output whereas in the symbol there are only two inputs.</a:t>
            </a:r>
          </a:p>
          <a:p>
            <a:pPr marL="0" indent="0">
              <a:lnSpc>
                <a:spcPct val="150000"/>
              </a:lnSpc>
              <a:spcBef>
                <a:spcPts val="90"/>
              </a:spcBef>
              <a:buNone/>
            </a:pPr>
            <a:r>
              <a:rPr lang="en-GB" sz="1600" dirty="0">
                <a:latin typeface="Casper"/>
                <a:cs typeface="Times New Roman" pitchFamily="18" charset="0"/>
              </a:rPr>
              <a:t>  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r>
              <a:rPr lang="en-GB" sz="1600" dirty="0">
                <a:latin typeface="Casper"/>
                <a:cs typeface="Times New Roman" pitchFamily="18" charset="0"/>
              </a:rPr>
              <a:t>IC  used for two input XOR gate is 7486 .</a:t>
            </a:r>
            <a: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sper"/>
                <a:cs typeface="Times New Roman" pitchFamily="18" charset="0"/>
              </a:rPr>
            </a:br>
            <a:endParaRPr sz="1600" spc="-4" dirty="0">
              <a:solidFill>
                <a:schemeClr val="tx1"/>
              </a:solidFill>
              <a:latin typeface="Casper"/>
              <a:cs typeface="Times New Roman" pitchFamily="18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49312" y="2910458"/>
          <a:ext cx="4011167" cy="2100455"/>
        </p:xfrm>
        <a:graphic>
          <a:graphicData uri="http://schemas.openxmlformats.org/drawingml/2006/table">
            <a:tbl>
              <a:tblPr/>
              <a:tblGrid>
                <a:gridCol w="1217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A (input)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B(input)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Y (output)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asper"/>
                          <a:ea typeface="Calibri"/>
                          <a:cs typeface="Times New Roman"/>
                        </a:rPr>
                        <a:t>0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514600" y="3995928"/>
            <a:ext cx="3590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1.8 Symbol of XOR gate [12 ]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5376672"/>
            <a:ext cx="3669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Truth Table of XOR gate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949952"/>
            <a:ext cx="47304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Casper"/>
            </a:endParaRPr>
          </a:p>
          <a:p>
            <a:r>
              <a:rPr lang="en-US" sz="2000" dirty="0">
                <a:latin typeface="Casper"/>
              </a:rPr>
              <a:t>Boolean Expression : Y=A      B</a:t>
            </a:r>
          </a:p>
          <a:p>
            <a:endParaRPr lang="en-US" sz="1600" dirty="0">
              <a:latin typeface="Casp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25900" y="5219700"/>
            <a:ext cx="393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⊕</a:t>
            </a:r>
            <a:endParaRPr lang="en-US" dirty="0"/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7100" y="3162300"/>
            <a:ext cx="35433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~PP2512.WAV">
            <a:hlinkClick r:id="" action="ppaction://media"/>
          </p:cNvPr>
          <p:cNvPicPr>
            <a:picLocks noRot="1" noChangeAspect="1"/>
          </p:cNvPicPr>
          <p:nvPr>
            <a:wavAudioFile r:embed="rId1" name="~PP2512.WAV"/>
          </p:nvPr>
        </p:nvPicPr>
        <p:blipFill>
          <a:blip r:embed="rId4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 spd="slow" advTm="4811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23919" y="393700"/>
            <a:ext cx="1079333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Casper Bold" panose="02000806040000020004" pitchFamily="2" charset="0"/>
                <a:cs typeface="Arial" panose="020B0604020202020204" pitchFamily="34" charset="0"/>
              </a:rPr>
              <a:t>BASIC GATES FROM UNIVERSIAL GATES</a:t>
            </a:r>
            <a:endParaRPr lang="en-US" sz="4400" dirty="0"/>
          </a:p>
        </p:txBody>
      </p:sp>
      <p:sp>
        <p:nvSpPr>
          <p:cNvPr id="8" name="Rectangle 7"/>
          <p:cNvSpPr/>
          <p:nvPr/>
        </p:nvSpPr>
        <p:spPr>
          <a:xfrm>
            <a:off x="1028747" y="1303635"/>
            <a:ext cx="366478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1"/>
            <a:r>
              <a:rPr lang="en-US" b="1" dirty="0">
                <a:latin typeface="Casper"/>
              </a:rPr>
              <a:t>AND gate using NAND gate</a:t>
            </a:r>
            <a:endParaRPr lang="en-US" sz="2800" b="1" dirty="0">
              <a:latin typeface="Casper"/>
            </a:endParaRPr>
          </a:p>
        </p:txBody>
      </p:sp>
      <p:pic>
        <p:nvPicPr>
          <p:cNvPr id="9" name="Picture 8" descr="NAND Gate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575" y="2071687"/>
            <a:ext cx="4286250" cy="29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6473407" y="1352034"/>
            <a:ext cx="3536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b="1" dirty="0">
                <a:latin typeface="Casper"/>
              </a:rPr>
              <a:t>OR gate using NAND gate</a:t>
            </a:r>
            <a:r>
              <a:rPr lang="en-US" b="1" dirty="0"/>
              <a:t>.</a:t>
            </a:r>
            <a:endParaRPr lang="en-US" dirty="0"/>
          </a:p>
        </p:txBody>
      </p:sp>
      <p:pic>
        <p:nvPicPr>
          <p:cNvPr id="11" name="Picture 10" descr="NAND Gate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9275" y="2120900"/>
            <a:ext cx="42862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1382367" y="5022334"/>
            <a:ext cx="415483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1.9 conversion of AND gate from NAND Gate [8]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3601" y="5441434"/>
            <a:ext cx="36905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1.10 conversion of OR gate from NAND Gate [8]</a:t>
            </a:r>
          </a:p>
        </p:txBody>
      </p:sp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22300"/>
            <a:ext cx="10515600" cy="647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BASIC GATES FROM UNIVERSIAL GATES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 descr="NAND Gate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3762" y="1846262"/>
            <a:ext cx="425767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01307" y="1225034"/>
            <a:ext cx="3642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b="1" dirty="0">
                <a:latin typeface="Casper"/>
              </a:rPr>
              <a:t>NOT gate using NAND gate</a:t>
            </a:r>
            <a:endParaRPr lang="en-US" sz="2800" b="1" dirty="0">
              <a:latin typeface="Casp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51328" y="1123434"/>
            <a:ext cx="3809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b="1" dirty="0">
                <a:latin typeface="Casper"/>
              </a:rPr>
              <a:t>XNOR gate using NAND gate</a:t>
            </a:r>
            <a:endParaRPr lang="en-US" sz="2800" b="1" dirty="0">
              <a:latin typeface="Casper"/>
            </a:endParaRPr>
          </a:p>
        </p:txBody>
      </p:sp>
      <p:pic>
        <p:nvPicPr>
          <p:cNvPr id="8" name="Picture 7" descr="C:\Users\kishan\Desktop\New folder (2)\VJHVHJ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1225" y="1525587"/>
            <a:ext cx="51625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6693372" y="4539734"/>
            <a:ext cx="24673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1600" b="1" dirty="0">
                <a:latin typeface="Casper"/>
              </a:rPr>
              <a:t>XNOR gate using NAND gate</a:t>
            </a:r>
          </a:p>
        </p:txBody>
      </p:sp>
      <p:pic>
        <p:nvPicPr>
          <p:cNvPr id="11" name="Picture 10" descr="C:\Users\kishan\Desktop\New folder (2)\aaaaaaaaxxxxxxxxxxxxxxxxxxxx.pn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86512" y="4881562"/>
            <a:ext cx="46005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805201" y="5174734"/>
            <a:ext cx="3868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1.11 conversion of NOT gate from NAND Gate </a:t>
            </a:r>
            <a:r>
              <a:rPr lang="en-US" dirty="0">
                <a:latin typeface="Casper"/>
              </a:rPr>
              <a:t>[8]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1101" y="3803134"/>
            <a:ext cx="40207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1.12 conversion of XNOR gate from NAND Gate [8]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7601" y="6330434"/>
            <a:ext cx="3589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sper"/>
              </a:rPr>
              <a:t>Figure 1.9 conversion of XOR gate from NAND Gate [8]</a:t>
            </a:r>
          </a:p>
        </p:txBody>
      </p:sp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820391">
              <a:spcBef>
                <a:spcPct val="50000"/>
              </a:spcBef>
            </a:pPr>
            <a:r>
              <a:rPr lang="en-GB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Computers </a:t>
            </a:r>
          </a:p>
          <a:p>
            <a:pPr defTabSz="820391">
              <a:spcBef>
                <a:spcPct val="50000"/>
              </a:spcBef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Calculators</a:t>
            </a:r>
          </a:p>
          <a:p>
            <a:pPr defTabSz="820391">
              <a:spcBef>
                <a:spcPct val="50000"/>
              </a:spcBef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 ATM </a:t>
            </a:r>
          </a:p>
          <a:p>
            <a:pPr defTabSz="820391">
              <a:spcBef>
                <a:spcPct val="50000"/>
              </a:spcBef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Mobile Phone</a:t>
            </a:r>
          </a:p>
          <a:p>
            <a:pPr defTabSz="820391">
              <a:spcBef>
                <a:spcPct val="50000"/>
              </a:spcBef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</a:rPr>
              <a:t>Integrated Circuits and so on......</a:t>
            </a:r>
          </a:p>
          <a:p>
            <a:pPr defTabSz="820391">
              <a:spcBef>
                <a:spcPct val="50000"/>
              </a:spcBef>
            </a:pPr>
            <a:endParaRPr lang="en-GB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~PP590.WAV">
            <a:hlinkClick r:id="" action="ppaction://media"/>
          </p:cNvPr>
          <p:cNvPicPr>
            <a:picLocks noRot="1" noChangeAspect="1"/>
          </p:cNvPicPr>
          <p:nvPr>
            <a:wavAudioFile r:embed="rId1" name="~PP590.WAV"/>
          </p:nvPr>
        </p:nvPicPr>
        <p:blipFill>
          <a:blip r:embed="rId3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  <p:transition spd="slow" advTm="2258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861"/>
            <a:ext cx="10515600" cy="9197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/>
                <a:cs typeface="Times New Roman" pitchFamily="18" charset="0"/>
              </a:rPr>
              <a:t>REFERENCES</a:t>
            </a:r>
            <a:r>
              <a:rPr lang="en-US" dirty="0">
                <a:latin typeface="Casper Bold"/>
                <a:cs typeface="Times New Roman" pitchFamily="18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08" y="1165860"/>
            <a:ext cx="10515600" cy="5692140"/>
          </a:xfrm>
        </p:spPr>
        <p:txBody>
          <a:bodyPr>
            <a:noAutofit/>
          </a:bodyPr>
          <a:lstStyle/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3"/>
              </a:rPr>
              <a:t>https://www.vivaxsolutions.com/physics/allogicgates.aspx</a:t>
            </a:r>
            <a:endParaRPr lang="en-US" sz="1600" dirty="0">
              <a:latin typeface="Casper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https://www.androiderode.com/ttl-not-gate/</a:t>
            </a:r>
            <a:endParaRPr lang="en-US" sz="1600" dirty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>
              <a:latin typeface="Casper"/>
              <a:cs typeface="Times New Roman" pitchFamily="18" charset="0"/>
            </a:endParaRPr>
          </a:p>
          <a:p>
            <a:pPr marL="342900" indent="-342900" defTabSz="820487">
              <a:buFont typeface="+mj-lt"/>
              <a:buAutoNum type="arabicPeriod"/>
            </a:pP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5"/>
              </a:rPr>
              <a:t>http://www.geeksforgeeks.org/digital-electronics-logic-design-tutorials/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6"/>
              </a:rPr>
              <a:t>http://www.ni.com/example/14493/en/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7"/>
              </a:rPr>
              <a:t>http://195.134.76.37/applets/AppletGates/Appl_Gates2.html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latin typeface="Casper"/>
                <a:hlinkClick r:id="rId8"/>
              </a:rPr>
              <a:t>https://www.javatpoint.com/and-gate-in-digital-electronics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9"/>
              </a:rPr>
              <a:t>https://www.allaboutcircuits.com/textbook/digital/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US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0"/>
              </a:rPr>
              <a:t>https://www.tutorialspoint.com/digital_electronics/index.asp</a:t>
            </a:r>
            <a:endParaRPr lang="en-US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indent="-342900" defTabSz="820391">
              <a:buFont typeface="+mj-lt"/>
              <a:buAutoNum type="arabicPeriod"/>
            </a:pPr>
            <a:r>
              <a:rPr lang="en-GB" sz="1600" dirty="0">
                <a:solidFill>
                  <a:prstClr val="black"/>
                </a:solidFill>
                <a:latin typeface="Casper"/>
                <a:cs typeface="Times New Roman" pitchFamily="18" charset="0"/>
                <a:hlinkClick r:id="rId11"/>
              </a:rPr>
              <a:t>https://www.tutorialspoint.com/computer_logical_organization/complement_arithmetic.htm</a:t>
            </a:r>
            <a:endParaRPr lang="en-GB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87400" y="169861"/>
            <a:ext cx="10515600" cy="8222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~PP4077.WAV">
            <a:hlinkClick r:id="" action="ppaction://media"/>
          </p:cNvPr>
          <p:cNvPicPr>
            <a:picLocks noRot="1" noChangeAspect="1"/>
          </p:cNvPicPr>
          <p:nvPr>
            <a:wavAudioFile r:embed="rId1" name="~PP4077.WAV"/>
          </p:nvPr>
        </p:nvPicPr>
        <p:blipFill>
          <a:blip r:embed="rId12"/>
          <a:stretch>
            <a:fillRect/>
          </a:stretch>
        </p:blipFill>
        <p:spPr>
          <a:xfrm>
            <a:off x="11744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ransition spd="slow" advTm="130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2534</TotalTime>
  <Words>908</Words>
  <Application>Microsoft Office PowerPoint</Application>
  <PresentationFormat>Widescreen</PresentationFormat>
  <Paragraphs>232</Paragraphs>
  <Slides>16</Slides>
  <Notes>2</Notes>
  <HiddenSlides>0</HiddenSlides>
  <MMClips>9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LOGIC GATES   </vt:lpstr>
      <vt:lpstr>NOT  LOGIC GATE</vt:lpstr>
      <vt:lpstr>AND LOGIC GATE</vt:lpstr>
      <vt:lpstr>OR LOGIC GATE</vt:lpstr>
      <vt:lpstr>NAND LOGIC GATE</vt:lpstr>
      <vt:lpstr>NOR LOGIC GATE</vt:lpstr>
      <vt:lpstr>EX-OR LOGIC GATE</vt:lpstr>
      <vt:lpstr>PowerPoint Presentation</vt:lpstr>
      <vt:lpstr>BASIC GATES FROM UNIVERSIAL GATES </vt:lpstr>
      <vt:lpstr>APPLICATIONS</vt:lpstr>
      <vt:lpstr>REFERENCES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135</cp:revision>
  <dcterms:created xsi:type="dcterms:W3CDTF">2019-01-09T10:33:58Z</dcterms:created>
  <dcterms:modified xsi:type="dcterms:W3CDTF">2023-06-21T05:44:30Z</dcterms:modified>
</cp:coreProperties>
</file>