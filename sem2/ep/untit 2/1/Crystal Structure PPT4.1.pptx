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289" r:id="rId3"/>
    <p:sldId id="290" r:id="rId4"/>
    <p:sldId id="291" r:id="rId5"/>
    <p:sldId id="281" r:id="rId6"/>
    <p:sldId id="292" r:id="rId7"/>
    <p:sldId id="293" r:id="rId8"/>
    <p:sldId id="280" r:id="rId9"/>
    <p:sldId id="285" r:id="rId10"/>
    <p:sldId id="295" r:id="rId11"/>
    <p:sldId id="286" r:id="rId12"/>
    <p:sldId id="294" r:id="rId13"/>
    <p:sldId id="288" r:id="rId14"/>
    <p:sldId id="296" r:id="rId15"/>
    <p:sldId id="297" r:id="rId16"/>
    <p:sldId id="284"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66" d="100"/>
          <a:sy n="66" d="100"/>
        </p:scale>
        <p:origin x="532"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225440" y="339179"/>
            <a:ext cx="9063318" cy="758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Prepared </a:t>
            </a:r>
            <a:r>
              <a:rPr lang="en-US" sz="3200" dirty="0">
                <a:latin typeface="Times New Roman" pitchFamily="18" charset="0"/>
                <a:ea typeface="Calibri" panose="020F0502020204030204" pitchFamily="34" charset="0"/>
                <a:cs typeface="Times New Roman" panose="02020603050405020304" pitchFamily="18" charset="0"/>
              </a:rPr>
              <a:t>by: Dr. </a:t>
            </a:r>
            <a:r>
              <a:rPr lang="en-US" sz="3200" dirty="0" err="1">
                <a:latin typeface="Times New Roman" pitchFamily="18" charset="0"/>
                <a:ea typeface="Calibri" panose="020F0502020204030204" pitchFamily="34" charset="0"/>
                <a:cs typeface="Times New Roman" panose="02020603050405020304" pitchFamily="18" charset="0"/>
              </a:rPr>
              <a:t>Anjana</a:t>
            </a:r>
            <a:r>
              <a:rPr lang="en-US" sz="3200" dirty="0">
                <a:latin typeface="Times New Roman" pitchFamily="18" charset="0"/>
                <a:ea typeface="Calibri" panose="020F0502020204030204" pitchFamily="34" charset="0"/>
                <a:cs typeface="Times New Roman" panose="02020603050405020304" pitchFamily="18" charset="0"/>
              </a:rPr>
              <a:t> Sharma, Assistant Prof. Physics</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52"/>
          <p:cNvSpPr txBox="1">
            <a:spLocks noChangeArrowheads="1"/>
          </p:cNvSpPr>
          <p:nvPr/>
        </p:nvSpPr>
        <p:spPr bwMode="auto">
          <a:xfrm>
            <a:off x="325056"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CRYSTALLOGRAPHY &amp; ULTRASONICS</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37230" y="743847"/>
            <a:ext cx="9730854" cy="5693866"/>
          </a:xfrm>
          <a:prstGeom prst="rect">
            <a:avLst/>
          </a:prstGeom>
        </p:spPr>
        <p:txBody>
          <a:bodyPr wrap="square">
            <a:spAutoFit/>
          </a:bodyPr>
          <a:lstStyle/>
          <a:p>
            <a:r>
              <a:rPr lang="en-IN" sz="4400" dirty="0"/>
              <a:t>COURSE OBJECTIVES</a:t>
            </a:r>
            <a:endParaRPr lang="en-US" sz="4400" dirty="0"/>
          </a:p>
          <a:p>
            <a:r>
              <a:rPr lang="en-IN" sz="4400" dirty="0"/>
              <a:t> </a:t>
            </a:r>
            <a:endParaRPr lang="en-US" sz="4400" dirty="0"/>
          </a:p>
          <a:p>
            <a:pPr marL="285750" lvl="0" indent="-285750" algn="just">
              <a:lnSpc>
                <a:spcPct val="150000"/>
              </a:lnSpc>
              <a:buFont typeface="Wingdings" pitchFamily="2" charset="2"/>
              <a:buChar char="v"/>
            </a:pPr>
            <a:r>
              <a:rPr lang="en-IN" sz="2000" dirty="0"/>
              <a:t>The course is designed to make the students industry ready to contribute in the growing demand of the industry at local, national and international level.</a:t>
            </a:r>
            <a:endParaRPr lang="en-US" sz="2000" dirty="0"/>
          </a:p>
          <a:p>
            <a:pPr marL="285750" lvl="0" indent="-285750" algn="just">
              <a:lnSpc>
                <a:spcPct val="150000"/>
              </a:lnSpc>
              <a:buFont typeface="Wingdings" pitchFamily="2" charset="2"/>
              <a:buChar char="v"/>
            </a:pPr>
            <a:r>
              <a:rPr lang="en-IN" sz="2000" dirty="0"/>
              <a:t>It will make the students competent to understand basic concepts and applications of advanced engineering physics and apply its principles in their respective fields at global platform.</a:t>
            </a:r>
            <a:endParaRPr lang="en-US" sz="2000" dirty="0"/>
          </a:p>
          <a:p>
            <a:pPr marL="285750" lvl="0" indent="-285750" algn="just">
              <a:lnSpc>
                <a:spcPct val="150000"/>
              </a:lnSpc>
              <a:buFont typeface="Wingdings" pitchFamily="2" charset="2"/>
              <a:buChar char="v"/>
            </a:pPr>
            <a:r>
              <a:rPr lang="en-IN" sz="2000" dirty="0"/>
              <a:t>It will enhance the skill level of the students and shall make them preferred choice for getting employment in industry and research labs.</a:t>
            </a:r>
            <a:endParaRPr lang="en-US" sz="2000" dirty="0"/>
          </a:p>
          <a:p>
            <a:pPr marL="285750" lvl="0" indent="-285750" algn="just">
              <a:lnSpc>
                <a:spcPct val="150000"/>
              </a:lnSpc>
              <a:buFont typeface="Wingdings" pitchFamily="2" charset="2"/>
              <a:buChar char="v"/>
            </a:pPr>
            <a:r>
              <a:rPr lang="en-IN" sz="2000" dirty="0"/>
              <a:t>It will give thorough knowledge of the discipline to enable students to disseminate knowledge in pursuing excellence in academic areas</a:t>
            </a:r>
            <a:r>
              <a:rPr lang="en-IN" sz="2400" dirty="0"/>
              <a:t>.</a:t>
            </a:r>
            <a:endParaRPr lang="en-US" sz="2400" dirty="0"/>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72398" y="1028700"/>
            <a:ext cx="4890901"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85370" y="32237"/>
            <a:ext cx="469247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mn-lt"/>
                <a:ea typeface="Karla" pitchFamily="2" charset="0"/>
                <a:cs typeface="Karla" pitchFamily="2" charset="0"/>
              </a:rPr>
              <a:t>CRYSTAL STRUCTURE</a:t>
            </a:r>
            <a:br>
              <a:rPr lang="en-US" sz="4400"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0682" y="1201778"/>
            <a:ext cx="2374689" cy="461665"/>
          </a:xfrm>
          <a:prstGeom prst="rect">
            <a:avLst/>
          </a:prstGeom>
        </p:spPr>
        <p:txBody>
          <a:bodyPr wrap="none">
            <a:spAutoFit/>
          </a:bodyPr>
          <a:lstStyle/>
          <a:p>
            <a:r>
              <a:rPr lang="en-US" sz="2400" b="1" dirty="0"/>
              <a:t>Course Outcome </a:t>
            </a:r>
          </a:p>
        </p:txBody>
      </p:sp>
      <p:sp>
        <p:nvSpPr>
          <p:cNvPr id="13" name="TextBox 12"/>
          <p:cNvSpPr txBox="1"/>
          <p:nvPr/>
        </p:nvSpPr>
        <p:spPr>
          <a:xfrm>
            <a:off x="7563395" y="6492240"/>
            <a:ext cx="2521131" cy="365760"/>
          </a:xfrm>
          <a:prstGeom prst="rect">
            <a:avLst/>
          </a:prstGeom>
          <a:noFill/>
        </p:spPr>
        <p:txBody>
          <a:bodyPr wrap="square" rtlCol="0">
            <a:spAutoFit/>
          </a:bodyPr>
          <a:lstStyle/>
          <a:p>
            <a:r>
              <a:rPr lang="en-US" dirty="0"/>
              <a:t>Fig.1 Introduction[1]</a:t>
            </a:r>
            <a:endParaRPr lang="en-IN" dirty="0"/>
          </a:p>
        </p:txBody>
      </p:sp>
      <p:pic>
        <p:nvPicPr>
          <p:cNvPr id="15" name="Picture 14">
            <a:extLst>
              <a:ext uri="{FF2B5EF4-FFF2-40B4-BE49-F238E27FC236}">
                <a16:creationId xmlns:a16="http://schemas.microsoft.com/office/drawing/2014/main" id="{1324E7DB-24C2-4AB9-9A70-04C53AB9AFB5}"/>
              </a:ext>
            </a:extLst>
          </p:cNvPr>
          <p:cNvPicPr>
            <a:picLocks noChangeAspect="1"/>
          </p:cNvPicPr>
          <p:nvPr/>
        </p:nvPicPr>
        <p:blipFill>
          <a:blip r:embed="rId2"/>
          <a:stretch>
            <a:fillRect/>
          </a:stretch>
        </p:blipFill>
        <p:spPr>
          <a:xfrm>
            <a:off x="6005016" y="1003300"/>
            <a:ext cx="5008156" cy="5261022"/>
          </a:xfrm>
          <a:prstGeom prst="rect">
            <a:avLst/>
          </a:prstGeom>
        </p:spPr>
      </p:pic>
      <p:graphicFrame>
        <p:nvGraphicFramePr>
          <p:cNvPr id="16" name="Table 15"/>
          <p:cNvGraphicFramePr>
            <a:graphicFrameLocks noGrp="1"/>
          </p:cNvGraphicFramePr>
          <p:nvPr>
            <p:extLst>
              <p:ext uri="{D42A27DB-BD31-4B8C-83A1-F6EECF244321}">
                <p14:modId xmlns:p14="http://schemas.microsoft.com/office/powerpoint/2010/main" val="836533070"/>
              </p:ext>
            </p:extLst>
          </p:nvPr>
        </p:nvGraphicFramePr>
        <p:xfrm>
          <a:off x="214261" y="2073087"/>
          <a:ext cx="5557805" cy="4462650"/>
        </p:xfrm>
        <a:graphic>
          <a:graphicData uri="http://schemas.openxmlformats.org/drawingml/2006/table">
            <a:tbl>
              <a:tblPr firstRow="1" firstCol="1" bandRow="1">
                <a:tableStyleId>{5940675A-B579-460E-94D1-54222C63F5DA}</a:tableStyleId>
              </a:tblPr>
              <a:tblGrid>
                <a:gridCol w="839174">
                  <a:extLst>
                    <a:ext uri="{9D8B030D-6E8A-4147-A177-3AD203B41FA5}">
                      <a16:colId xmlns:a16="http://schemas.microsoft.com/office/drawing/2014/main" val="20000"/>
                    </a:ext>
                  </a:extLst>
                </a:gridCol>
                <a:gridCol w="3728646">
                  <a:extLst>
                    <a:ext uri="{9D8B030D-6E8A-4147-A177-3AD203B41FA5}">
                      <a16:colId xmlns:a16="http://schemas.microsoft.com/office/drawing/2014/main" val="20001"/>
                    </a:ext>
                  </a:extLst>
                </a:gridCol>
                <a:gridCol w="98998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955256"/>
            <a:ext cx="3932237" cy="2045494"/>
          </a:xfrm>
        </p:spPr>
        <p:txBody>
          <a:bodyPr/>
          <a:lstStyle/>
          <a:p>
            <a:pPr algn="just">
              <a:lnSpc>
                <a:spcPct val="200000"/>
              </a:lnSpc>
            </a:pPr>
            <a:r>
              <a:rPr lang="en-US" dirty="0"/>
              <a:t>Laue diffraction, in X-rays, a regular array of spots on a photographic emulsion resulting from X-rays scattered by certain groups of parallel atomic planes within a crystal.</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449262" y="2343863"/>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mn-lt"/>
                <a:ea typeface="Karla" pitchFamily="2" charset="0"/>
                <a:cs typeface="Karla" pitchFamily="2" charset="0"/>
              </a:rPr>
              <a:t>LAUE METHOD</a:t>
            </a:r>
            <a:br>
              <a:rPr lang="en-US" sz="4400" dirty="0">
                <a:latin typeface="+mn-lt"/>
                <a:ea typeface="Karla" pitchFamily="2" charset="0"/>
                <a:cs typeface="Karla" pitchFamily="2" charset="0"/>
              </a:rPr>
            </a:br>
            <a:endParaRPr lang="en-US" sz="4400" dirty="0">
              <a:latin typeface="+mn-lt"/>
            </a:endParaRPr>
          </a:p>
        </p:txBody>
      </p:sp>
      <p:sp>
        <p:nvSpPr>
          <p:cNvPr id="9" name="Rectangle 8"/>
          <p:cNvSpPr/>
          <p:nvPr/>
        </p:nvSpPr>
        <p:spPr>
          <a:xfrm>
            <a:off x="644524" y="3809014"/>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0FB8D92-DD93-48F4-84E4-A7AD9839C187}"/>
              </a:ext>
            </a:extLst>
          </p:cNvPr>
          <p:cNvPicPr>
            <a:picLocks noChangeAspect="1"/>
          </p:cNvPicPr>
          <p:nvPr/>
        </p:nvPicPr>
        <p:blipFill>
          <a:blip r:embed="rId2"/>
          <a:stretch>
            <a:fillRect/>
          </a:stretch>
        </p:blipFill>
        <p:spPr>
          <a:xfrm>
            <a:off x="5622878" y="1463258"/>
            <a:ext cx="5131558" cy="4582699"/>
          </a:xfrm>
          <a:prstGeom prst="rect">
            <a:avLst/>
          </a:prstGeom>
        </p:spPr>
      </p:pic>
      <p:sp>
        <p:nvSpPr>
          <p:cNvPr id="11" name="Rectangle 10"/>
          <p:cNvSpPr/>
          <p:nvPr/>
        </p:nvSpPr>
        <p:spPr>
          <a:xfrm>
            <a:off x="7868315" y="6451614"/>
            <a:ext cx="2105641" cy="369332"/>
          </a:xfrm>
          <a:prstGeom prst="rect">
            <a:avLst/>
          </a:prstGeom>
        </p:spPr>
        <p:txBody>
          <a:bodyPr wrap="none">
            <a:spAutoFit/>
          </a:bodyPr>
          <a:lstStyle/>
          <a:p>
            <a:r>
              <a:rPr lang="en-US" dirty="0"/>
              <a:t>Fig.2 Introduction[2]</a:t>
            </a:r>
            <a:endParaRPr lang="en-IN" dirty="0"/>
          </a:p>
        </p:txBody>
      </p:sp>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22030" y="1684745"/>
            <a:ext cx="4501661" cy="4881505"/>
          </a:xfrm>
        </p:spPr>
        <p:txBody>
          <a:bodyPr>
            <a:noAutofit/>
          </a:bodyPr>
          <a:lstStyle/>
          <a:p>
            <a:pPr>
              <a:lnSpc>
                <a:spcPct val="150000"/>
              </a:lnSpc>
            </a:pPr>
            <a:r>
              <a:rPr lang="en-IN" sz="1800" dirty="0"/>
              <a:t>A diffraction pattern is obtained by measuring the intensity of scattered waves as a function of scattering angle. Very strong intensities known as Bragg peaks are obtained in the diffraction pattern when scattered waves satisfy the Bragg's Law.</a:t>
            </a:r>
          </a:p>
          <a:p>
            <a:pPr>
              <a:lnSpc>
                <a:spcPct val="150000"/>
              </a:lnSpc>
            </a:pPr>
            <a:r>
              <a:rPr lang="en-IN" sz="1800" dirty="0"/>
              <a:t>Following Bragg's law, each dot (or reflection) in the diffraction pattern above forms from the constructive interference of X-rays passing through a crystal. The data can be used to determine the crystal's atomic structure.</a:t>
            </a:r>
          </a:p>
          <a:p>
            <a:pPr>
              <a:lnSpc>
                <a:spcPct val="150000"/>
              </a:lnSpc>
            </a:pPr>
            <a:br>
              <a:rPr lang="en-IN" dirty="0"/>
            </a:b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1091811"/>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X-RAY METHOD</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82880" y="1684745"/>
            <a:ext cx="4979963" cy="47512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250" name="Picture 2" descr="C:\$Recycle.Bin\S-1-5-21-2260216786-2025761589-3784432768-1000\$R6U8T93.jpg"/>
          <p:cNvPicPr>
            <a:picLocks noChangeAspect="1" noChangeArrowheads="1"/>
          </p:cNvPicPr>
          <p:nvPr/>
        </p:nvPicPr>
        <p:blipFill>
          <a:blip r:embed="rId2"/>
          <a:srcRect/>
          <a:stretch>
            <a:fillRect/>
          </a:stretch>
        </p:blipFill>
        <p:spPr bwMode="auto">
          <a:xfrm>
            <a:off x="5430129" y="998806"/>
            <a:ext cx="5697415" cy="5387925"/>
          </a:xfrm>
          <a:prstGeom prst="rect">
            <a:avLst/>
          </a:prstGeom>
          <a:noFill/>
        </p:spPr>
      </p:pic>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6</a:t>
            </a:fld>
            <a:endParaRPr lang="en-US"/>
          </a:p>
        </p:txBody>
      </p:sp>
      <p:pic>
        <p:nvPicPr>
          <p:cNvPr id="54274" name="Picture 2" descr="C:\Users\admin\Desktop\x-ray-diff-lecture-3-44-638.jpg"/>
          <p:cNvPicPr>
            <a:picLocks noChangeAspect="1" noChangeArrowheads="1"/>
          </p:cNvPicPr>
          <p:nvPr/>
        </p:nvPicPr>
        <p:blipFill>
          <a:blip r:embed="rId2"/>
          <a:srcRect b="9610"/>
          <a:stretch>
            <a:fillRect/>
          </a:stretch>
        </p:blipFill>
        <p:spPr bwMode="auto">
          <a:xfrm>
            <a:off x="351693" y="1195753"/>
            <a:ext cx="11169748" cy="5106574"/>
          </a:xfrm>
          <a:prstGeom prst="rect">
            <a:avLst/>
          </a:prstGeom>
          <a:noFill/>
        </p:spPr>
      </p:pic>
      <p:sp>
        <p:nvSpPr>
          <p:cNvPr id="4" name="Title 7"/>
          <p:cNvSpPr txBox="1">
            <a:spLocks noChangeArrowheads="1"/>
          </p:cNvSpPr>
          <p:nvPr/>
        </p:nvSpPr>
        <p:spPr bwMode="auto">
          <a:xfrm>
            <a:off x="3136250" y="149255"/>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sper Bold" panose="02000806040000020004" pitchFamily="2" charset="0"/>
                <a:ea typeface="Karla" pitchFamily="2" charset="0"/>
                <a:cs typeface="Karla" pitchFamily="2" charset="0"/>
              </a:rPr>
              <a:t>X-RAY METHOD</a:t>
            </a:r>
            <a:br>
              <a:rPr kumimoji="0" lang="en-US" sz="2000" b="1" i="0" u="none" strike="noStrike" kern="1200" cap="none" spc="0" normalizeH="0" baseline="0" noProof="0" dirty="0">
                <a:ln>
                  <a:noFill/>
                </a:ln>
                <a:solidFill>
                  <a:schemeClr val="tx1"/>
                </a:solidFill>
                <a:effectLst/>
                <a:uLnTx/>
                <a:uFillTx/>
                <a:latin typeface="Karla" pitchFamily="2" charset="0"/>
                <a:ea typeface="Karla" pitchFamily="2" charset="0"/>
                <a:cs typeface="Karla" pitchFamily="2" charset="0"/>
              </a:rPr>
            </a:br>
            <a:endParaRPr kumimoji="0" lang="en-US" sz="1600" b="1" i="0" u="none" strike="noStrike" kern="1200" cap="none" spc="0" normalizeH="0" baseline="0" noProof="0" dirty="0">
              <a:ln>
                <a:noFill/>
              </a:ln>
              <a:solidFill>
                <a:schemeClr val="tx1"/>
              </a:solidFill>
              <a:effectLst/>
              <a:uLnTx/>
              <a:uFillTx/>
              <a:latin typeface="Raleway ExtraBold" pitchFamily="34" charset="-52"/>
              <a:ea typeface="+mj-ea"/>
              <a:cs typeface="+mj-cs"/>
            </a:endParaRPr>
          </a:p>
        </p:txBody>
      </p:sp>
      <p:sp>
        <p:nvSpPr>
          <p:cNvPr id="5" name="Rectangle 4"/>
          <p:cNvSpPr/>
          <p:nvPr/>
        </p:nvSpPr>
        <p:spPr>
          <a:xfrm>
            <a:off x="838200" y="0"/>
            <a:ext cx="10515600" cy="11113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4227545" y="6346261"/>
            <a:ext cx="1834541" cy="369332"/>
          </a:xfrm>
          <a:prstGeom prst="rect">
            <a:avLst/>
          </a:prstGeom>
        </p:spPr>
        <p:txBody>
          <a:bodyPr wrap="none">
            <a:spAutoFit/>
          </a:bodyPr>
          <a:lstStyle/>
          <a:p>
            <a:r>
              <a:rPr lang="en-US" dirty="0"/>
              <a:t>Fig.3 Methods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rPr>
              <a:t>TYPES OF LAUE METHOD</a:t>
            </a:r>
          </a:p>
        </p:txBody>
      </p:sp>
      <p:sp>
        <p:nvSpPr>
          <p:cNvPr id="3" name="Content Placeholder 2"/>
          <p:cNvSpPr>
            <a:spLocks noGrp="1"/>
          </p:cNvSpPr>
          <p:nvPr>
            <p:ph idx="1"/>
          </p:nvPr>
        </p:nvSpPr>
        <p:spPr/>
        <p:txBody>
          <a:bodyPr>
            <a:normAutofit/>
          </a:bodyPr>
          <a:lstStyle/>
          <a:p>
            <a:pPr marL="514350" indent="-514350">
              <a:lnSpc>
                <a:spcPct val="200000"/>
              </a:lnSpc>
              <a:buAutoNum type="alphaLcPeriod"/>
            </a:pPr>
            <a:r>
              <a:rPr lang="en-US" sz="1800" b="1" dirty="0"/>
              <a:t>Transmission Method</a:t>
            </a:r>
            <a:r>
              <a:rPr lang="en-US" sz="1800" dirty="0"/>
              <a:t>: In the transmission Laue method, the film is placed behind the crystal to record beams which are transmitted through the crystal. </a:t>
            </a:r>
          </a:p>
          <a:p>
            <a:pPr marL="0" indent="0">
              <a:lnSpc>
                <a:spcPct val="200000"/>
              </a:lnSpc>
              <a:buNone/>
            </a:pPr>
            <a:endParaRPr lang="en-US" sz="1800" dirty="0"/>
          </a:p>
          <a:p>
            <a:pPr marL="342900" indent="-342900">
              <a:lnSpc>
                <a:spcPct val="200000"/>
              </a:lnSpc>
              <a:buNone/>
            </a:pPr>
            <a:r>
              <a:rPr lang="en-US" sz="1800" b="1" dirty="0"/>
              <a:t>b.     Back Reflection Method: </a:t>
            </a:r>
            <a:r>
              <a:rPr lang="en-US" sz="1800" dirty="0"/>
              <a:t>In the back-reflection method, the film is placed between the x-ray source and the crystal. The beams which are diffracted in a backward direction are recorded</a:t>
            </a:r>
            <a:r>
              <a:rPr lang="en-US" dirty="0"/>
              <a:t>.</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rPr>
              <a:t>TRANSMISSION METHOD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a:extLst>
              <a:ext uri="{FF2B5EF4-FFF2-40B4-BE49-F238E27FC236}">
                <a16:creationId xmlns:a16="http://schemas.microsoft.com/office/drawing/2014/main" id="{1BE895D1-EA7C-4EF8-BEDB-C023A2761C3C}"/>
              </a:ext>
            </a:extLst>
          </p:cNvPr>
          <p:cNvPicPr>
            <a:picLocks noGrp="1" noChangeAspect="1"/>
          </p:cNvPicPr>
          <p:nvPr>
            <p:ph idx="1"/>
          </p:nvPr>
        </p:nvPicPr>
        <p:blipFill>
          <a:blip r:embed="rId2"/>
          <a:stretch>
            <a:fillRect/>
          </a:stretch>
        </p:blipFill>
        <p:spPr>
          <a:xfrm>
            <a:off x="3057525" y="2084343"/>
            <a:ext cx="6076950" cy="3419475"/>
          </a:xfrm>
          <a:prstGeom prst="rect">
            <a:avLst/>
          </a:prstGeom>
        </p:spPr>
      </p:pic>
      <p:sp>
        <p:nvSpPr>
          <p:cNvPr id="3" name="Rectangle 2"/>
          <p:cNvSpPr/>
          <p:nvPr/>
        </p:nvSpPr>
        <p:spPr>
          <a:xfrm>
            <a:off x="4746929" y="6216134"/>
            <a:ext cx="2243306" cy="369332"/>
          </a:xfrm>
          <a:prstGeom prst="rect">
            <a:avLst/>
          </a:prstGeom>
        </p:spPr>
        <p:txBody>
          <a:bodyPr wrap="none">
            <a:spAutoFit/>
          </a:bodyPr>
          <a:lstStyle/>
          <a:p>
            <a:r>
              <a:rPr lang="en-US" dirty="0"/>
              <a:t>Fig.4 Laue Method [4]</a:t>
            </a:r>
          </a:p>
        </p:txBody>
      </p:sp>
    </p:spTree>
    <p:extLst>
      <p:ext uri="{BB962C8B-B14F-4D97-AF65-F5344CB8AC3E}">
        <p14:creationId xmlns:p14="http://schemas.microsoft.com/office/powerpoint/2010/main" val="617812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55299" name="Picture 3" descr="C:\Users\admin\Desktop\Transmission+Laue+Method.jpg"/>
          <p:cNvPicPr>
            <a:picLocks noChangeAspect="1" noChangeArrowheads="1"/>
          </p:cNvPicPr>
          <p:nvPr/>
        </p:nvPicPr>
        <p:blipFill>
          <a:blip r:embed="rId2"/>
          <a:srcRect b="3294"/>
          <a:stretch>
            <a:fillRect/>
          </a:stretch>
        </p:blipFill>
        <p:spPr bwMode="auto">
          <a:xfrm>
            <a:off x="984738" y="1405719"/>
            <a:ext cx="10396024" cy="4643388"/>
          </a:xfrm>
          <a:prstGeom prst="rect">
            <a:avLst/>
          </a:prstGeom>
          <a:noFill/>
        </p:spPr>
      </p:pic>
      <p:sp>
        <p:nvSpPr>
          <p:cNvPr id="5" name="Title 1"/>
          <p:cNvSpPr>
            <a:spLocks noGrp="1"/>
          </p:cNvSpPr>
          <p:nvPr>
            <p:ph type="title"/>
          </p:nvPr>
        </p:nvSpPr>
        <p:spPr>
          <a:xfrm>
            <a:off x="838200" y="218364"/>
            <a:ext cx="10515600" cy="1228300"/>
          </a:xfrm>
        </p:spPr>
        <p:txBody>
          <a:bodyPr>
            <a:normAutofit/>
          </a:bodyPr>
          <a:lstStyle/>
          <a:p>
            <a:pPr algn="ctr"/>
            <a:r>
              <a:rPr lang="en-US" dirty="0">
                <a:latin typeface="+mn-lt"/>
              </a:rPr>
              <a:t>TRANSMISSION METHOD</a:t>
            </a:r>
          </a:p>
        </p:txBody>
      </p:sp>
      <p:sp>
        <p:nvSpPr>
          <p:cNvPr id="6" name="Rectangle 5"/>
          <p:cNvSpPr/>
          <p:nvPr/>
        </p:nvSpPr>
        <p:spPr>
          <a:xfrm>
            <a:off x="838200" y="360361"/>
            <a:ext cx="10515600" cy="99076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731429" y="6031468"/>
            <a:ext cx="2243306" cy="369332"/>
          </a:xfrm>
          <a:prstGeom prst="rect">
            <a:avLst/>
          </a:prstGeom>
        </p:spPr>
        <p:txBody>
          <a:bodyPr wrap="none">
            <a:spAutoFit/>
          </a:bodyPr>
          <a:lstStyle/>
          <a:p>
            <a:r>
              <a:rPr lang="en-US" dirty="0"/>
              <a:t>Fig.5 Laue Method [5]</a:t>
            </a:r>
          </a:p>
        </p:txBody>
      </p:sp>
    </p:spTree>
    <p:extLst>
      <p:ext uri="{BB962C8B-B14F-4D97-AF65-F5344CB8AC3E}">
        <p14:creationId xmlns:p14="http://schemas.microsoft.com/office/powerpoint/2010/main" val="617812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843"/>
            <a:ext cx="10515600" cy="1132764"/>
          </a:xfrm>
        </p:spPr>
        <p:txBody>
          <a:bodyPr/>
          <a:lstStyle/>
          <a:p>
            <a:pPr algn="ctr"/>
            <a:r>
              <a:rPr lang="en-US" dirty="0">
                <a:latin typeface="+mn-lt"/>
              </a:rPr>
              <a:t>BACK REFLECTION METHOD</a:t>
            </a:r>
            <a:endParaRPr lang="en-US" b="1" dirty="0"/>
          </a:p>
        </p:txBody>
      </p:sp>
      <p:pic>
        <p:nvPicPr>
          <p:cNvPr id="7" name="Content Placeholder 6">
            <a:extLst>
              <a:ext uri="{FF2B5EF4-FFF2-40B4-BE49-F238E27FC236}">
                <a16:creationId xmlns:a16="http://schemas.microsoft.com/office/drawing/2014/main" id="{57642C38-B0EF-442F-A45F-BD569800B66F}"/>
              </a:ext>
            </a:extLst>
          </p:cNvPr>
          <p:cNvPicPr>
            <a:picLocks noGrp="1" noChangeAspect="1"/>
          </p:cNvPicPr>
          <p:nvPr>
            <p:ph idx="1"/>
          </p:nvPr>
        </p:nvPicPr>
        <p:blipFill>
          <a:blip r:embed="rId2"/>
          <a:stretch>
            <a:fillRect/>
          </a:stretch>
        </p:blipFill>
        <p:spPr>
          <a:xfrm>
            <a:off x="991339" y="2107008"/>
            <a:ext cx="10209321" cy="4065191"/>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88123" y="6240502"/>
            <a:ext cx="2243306" cy="369332"/>
          </a:xfrm>
          <a:prstGeom prst="rect">
            <a:avLst/>
          </a:prstGeom>
        </p:spPr>
        <p:txBody>
          <a:bodyPr wrap="none">
            <a:spAutoFit/>
          </a:bodyPr>
          <a:lstStyle/>
          <a:p>
            <a:r>
              <a:rPr lang="en-US" dirty="0"/>
              <a:t>Fig.6 Laue Method [6]</a:t>
            </a:r>
          </a:p>
        </p:txBody>
      </p:sp>
    </p:spTree>
    <p:extLst>
      <p:ext uri="{BB962C8B-B14F-4D97-AF65-F5344CB8AC3E}">
        <p14:creationId xmlns:p14="http://schemas.microsoft.com/office/powerpoint/2010/main" val="4017154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11</a:t>
            </a:fld>
            <a:endParaRPr lang="en-US"/>
          </a:p>
        </p:txBody>
      </p:sp>
      <p:pic>
        <p:nvPicPr>
          <p:cNvPr id="56322" name="Picture 2" descr="C:\Users\admin\Desktop\Back-Reflection+Laue+Method.jpg"/>
          <p:cNvPicPr>
            <a:picLocks noChangeAspect="1" noChangeArrowheads="1"/>
          </p:cNvPicPr>
          <p:nvPr/>
        </p:nvPicPr>
        <p:blipFill>
          <a:blip r:embed="rId2"/>
          <a:srcRect/>
          <a:stretch>
            <a:fillRect/>
          </a:stretch>
        </p:blipFill>
        <p:spPr bwMode="auto">
          <a:xfrm>
            <a:off x="972039" y="1542197"/>
            <a:ext cx="9683262" cy="5083267"/>
          </a:xfrm>
          <a:prstGeom prst="rect">
            <a:avLst/>
          </a:prstGeom>
          <a:noFill/>
        </p:spPr>
      </p:pic>
      <p:sp>
        <p:nvSpPr>
          <p:cNvPr id="4" name="Title 1"/>
          <p:cNvSpPr txBox="1">
            <a:spLocks/>
          </p:cNvSpPr>
          <p:nvPr/>
        </p:nvSpPr>
        <p:spPr>
          <a:xfrm>
            <a:off x="838200" y="354843"/>
            <a:ext cx="10515600" cy="1132764"/>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i="0" u="none" strike="noStrike" kern="1200" cap="none" spc="0" normalizeH="0" baseline="0" noProof="0" dirty="0">
                <a:ln>
                  <a:noFill/>
                </a:ln>
                <a:solidFill>
                  <a:schemeClr val="tx1"/>
                </a:solidFill>
                <a:effectLst/>
                <a:uLnTx/>
                <a:uFillTx/>
                <a:ea typeface="+mj-ea"/>
                <a:cs typeface="+mj-cs"/>
              </a:rPr>
              <a:t>BACK REFLECTION METHOD</a:t>
            </a:r>
            <a:endParaRPr kumimoji="0" lang="en-US" sz="44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838200" y="360361"/>
            <a:ext cx="10515600" cy="99076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731429" y="6031468"/>
            <a:ext cx="2243306" cy="369332"/>
          </a:xfrm>
          <a:prstGeom prst="rect">
            <a:avLst/>
          </a:prstGeom>
        </p:spPr>
        <p:txBody>
          <a:bodyPr wrap="none">
            <a:spAutoFit/>
          </a:bodyPr>
          <a:lstStyle/>
          <a:p>
            <a:r>
              <a:rPr lang="en-US" dirty="0"/>
              <a:t>Fig.7 Laue Method [6]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rPr>
              <a:t>ADVANTAGES AND DISADVANTAGES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D462DF44-C724-4C58-9E1F-79830438119A}"/>
              </a:ext>
            </a:extLst>
          </p:cNvPr>
          <p:cNvSpPr>
            <a:spLocks noGrp="1"/>
          </p:cNvSpPr>
          <p:nvPr>
            <p:ph idx="1"/>
          </p:nvPr>
        </p:nvSpPr>
        <p:spPr/>
        <p:txBody>
          <a:bodyPr>
            <a:normAutofit/>
          </a:bodyPr>
          <a:lstStyle/>
          <a:p>
            <a:pPr>
              <a:lnSpc>
                <a:spcPct val="200000"/>
              </a:lnSpc>
            </a:pPr>
            <a:r>
              <a:rPr lang="en-US" sz="1800" dirty="0"/>
              <a:t>The advantages of using Laue method of diffraction are that it is used for checking the orientation of crystals and their quality. It can be used for analyzing specimens that are thick and large.</a:t>
            </a:r>
          </a:p>
          <a:p>
            <a:pPr>
              <a:lnSpc>
                <a:spcPct val="200000"/>
              </a:lnSpc>
            </a:pPr>
            <a:r>
              <a:rPr lang="en-US" sz="1800" dirty="0"/>
              <a:t>The limitations of using this method are that it cannot be used for quantitative analysis because the wavelength of the X-ray beam that is causing a specific spot is unknown. Also, it requires a large crystal for analysis</a:t>
            </a:r>
            <a:endParaRPr lang="en-IN" sz="1800" dirty="0"/>
          </a:p>
        </p:txBody>
      </p:sp>
    </p:spTree>
    <p:extLst>
      <p:ext uri="{BB962C8B-B14F-4D97-AF65-F5344CB8AC3E}">
        <p14:creationId xmlns:p14="http://schemas.microsoft.com/office/powerpoint/2010/main" val="386954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13</a:t>
            </a:fld>
            <a:endParaRPr lang="en-US" dirty="0"/>
          </a:p>
        </p:txBody>
      </p:sp>
      <p:sp>
        <p:nvSpPr>
          <p:cNvPr id="8" name="Title 7"/>
          <p:cNvSpPr txBox="1">
            <a:spLocks noGrp="1" noChangeArrowheads="1"/>
          </p:cNvSpPr>
          <p:nvPr>
            <p:ph type="title"/>
          </p:nvPr>
        </p:nvSpPr>
        <p:spPr bwMode="auto">
          <a:xfrm>
            <a:off x="449262" y="2676262"/>
            <a:ext cx="44565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763359" y="607465"/>
            <a:ext cx="4685642" cy="769441"/>
          </a:xfrm>
          <a:prstGeom prst="rect">
            <a:avLst/>
          </a:prstGeom>
        </p:spPr>
        <p:txBody>
          <a:bodyPr wrap="none">
            <a:spAutoFit/>
          </a:bodyPr>
          <a:lstStyle/>
          <a:p>
            <a:r>
              <a:rPr lang="en-US" sz="4400" b="1" dirty="0">
                <a:latin typeface="Casper Bold"/>
              </a:rPr>
              <a:t>            </a:t>
            </a:r>
            <a:r>
              <a:rPr lang="en-US" sz="4400" dirty="0"/>
              <a:t>SUMMARY </a:t>
            </a:r>
          </a:p>
        </p:txBody>
      </p:sp>
      <p:sp>
        <p:nvSpPr>
          <p:cNvPr id="11" name="Rectangle 10"/>
          <p:cNvSpPr/>
          <p:nvPr/>
        </p:nvSpPr>
        <p:spPr>
          <a:xfrm>
            <a:off x="838200" y="360362"/>
            <a:ext cx="10515600" cy="9479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1406769"/>
            <a:ext cx="10530073" cy="4708981"/>
          </a:xfrm>
          <a:prstGeom prst="rect">
            <a:avLst/>
          </a:prstGeom>
        </p:spPr>
        <p:txBody>
          <a:bodyPr wrap="square">
            <a:spAutoFit/>
          </a:bodyPr>
          <a:lstStyle/>
          <a:p>
            <a:pPr marL="457200" indent="-457200" algn="just">
              <a:lnSpc>
                <a:spcPct val="250000"/>
              </a:lnSpc>
              <a:buFont typeface="Wingdings" pitchFamily="2" charset="2"/>
              <a:buChar char="v"/>
            </a:pPr>
            <a:r>
              <a:rPr lang="en-US" sz="2400" dirty="0">
                <a:solidFill>
                  <a:srgbClr val="FF0000"/>
                </a:solidFill>
              </a:rPr>
              <a:t>Introduction to LAUE Method</a:t>
            </a:r>
          </a:p>
          <a:p>
            <a:pPr marL="457200" indent="-457200" algn="just">
              <a:lnSpc>
                <a:spcPct val="250000"/>
              </a:lnSpc>
              <a:buFont typeface="Wingdings" pitchFamily="2" charset="2"/>
              <a:buChar char="v"/>
            </a:pPr>
            <a:r>
              <a:rPr lang="en-US" sz="2400" dirty="0">
                <a:solidFill>
                  <a:srgbClr val="00B0F0"/>
                </a:solidFill>
              </a:rPr>
              <a:t>Working of Laue Method</a:t>
            </a:r>
          </a:p>
          <a:p>
            <a:pPr marL="342900" indent="-342900" algn="just">
              <a:lnSpc>
                <a:spcPct val="250000"/>
              </a:lnSpc>
              <a:buFont typeface="Wingdings" pitchFamily="2" charset="2"/>
              <a:buChar char="v"/>
            </a:pPr>
            <a:r>
              <a:rPr lang="en-US" sz="2400" dirty="0">
                <a:solidFill>
                  <a:srgbClr val="00B0F0"/>
                </a:solidFill>
              </a:rPr>
              <a:t> </a:t>
            </a:r>
            <a:r>
              <a:rPr lang="en-US" sz="2400" dirty="0">
                <a:solidFill>
                  <a:srgbClr val="FF0000"/>
                </a:solidFill>
              </a:rPr>
              <a:t>Advantages and Disadvantages</a:t>
            </a:r>
          </a:p>
          <a:p>
            <a:pPr marL="342900" indent="-342900" algn="just">
              <a:lnSpc>
                <a:spcPct val="250000"/>
              </a:lnSpc>
              <a:buFont typeface="Wingdings" pitchFamily="2" charset="2"/>
              <a:buChar char="v"/>
            </a:pPr>
            <a:r>
              <a:rPr lang="en-US" sz="2400" dirty="0">
                <a:solidFill>
                  <a:srgbClr val="00B0F0"/>
                </a:solidFill>
              </a:rPr>
              <a:t>Application</a:t>
            </a:r>
          </a:p>
          <a:p>
            <a:pPr marL="342900" indent="-342900" algn="just">
              <a:lnSpc>
                <a:spcPct val="250000"/>
              </a:lnSpc>
            </a:pPr>
            <a:endParaRPr lang="en-US" sz="2400" dirty="0">
              <a:solidFill>
                <a:schemeClr val="accent1">
                  <a:lumMod val="75000"/>
                </a:schemeClr>
              </a:solidFill>
            </a:endParaRPr>
          </a:p>
        </p:txBody>
      </p:sp>
    </p:spTree>
    <p:extLst>
      <p:ext uri="{BB962C8B-B14F-4D97-AF65-F5344CB8AC3E}">
        <p14:creationId xmlns:p14="http://schemas.microsoft.com/office/powerpoint/2010/main" val="2081838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14</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29707" y="607465"/>
            <a:ext cx="3203858" cy="769441"/>
          </a:xfrm>
          <a:prstGeom prst="rect">
            <a:avLst/>
          </a:prstGeom>
        </p:spPr>
        <p:txBody>
          <a:bodyPr wrap="square">
            <a:spAutoFit/>
          </a:bodyPr>
          <a:lstStyle/>
          <a:p>
            <a:r>
              <a:rPr lang="en-US" sz="4400" dirty="0">
                <a:cs typeface="Times New Roman" pitchFamily="18" charset="0"/>
              </a:rPr>
              <a:t>FAQS</a:t>
            </a:r>
            <a:endParaRPr lang="en-US" sz="4400" dirty="0"/>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2041309"/>
            <a:ext cx="10515600" cy="4247317"/>
          </a:xfrm>
          <a:prstGeom prst="rect">
            <a:avLst/>
          </a:prstGeom>
        </p:spPr>
        <p:txBody>
          <a:bodyPr wrap="square">
            <a:spAutoFit/>
          </a:bodyPr>
          <a:lstStyle/>
          <a:p>
            <a:pPr marL="457200" indent="-457200">
              <a:lnSpc>
                <a:spcPct val="150000"/>
              </a:lnSpc>
              <a:buFont typeface="Wingdings" pitchFamily="2" charset="2"/>
              <a:buChar char="v"/>
            </a:pPr>
            <a:r>
              <a:rPr lang="en-US" sz="2400" b="1" dirty="0"/>
              <a:t>What is difference between Powder and Laue method?</a:t>
            </a:r>
          </a:p>
          <a:p>
            <a:pPr marL="457200" indent="-457200">
              <a:lnSpc>
                <a:spcPct val="150000"/>
              </a:lnSpc>
              <a:buFont typeface="Wingdings" pitchFamily="2" charset="2"/>
              <a:buChar char="v"/>
            </a:pPr>
            <a:r>
              <a:rPr lang="en-US" sz="2400" b="1" dirty="0"/>
              <a:t>What is X-ray?</a:t>
            </a:r>
          </a:p>
          <a:p>
            <a:pPr marL="457200" indent="-457200">
              <a:lnSpc>
                <a:spcPct val="150000"/>
              </a:lnSpc>
              <a:buFont typeface="Wingdings" pitchFamily="2" charset="2"/>
              <a:buChar char="v"/>
            </a:pPr>
            <a:r>
              <a:rPr lang="en-US" sz="2400" b="1" dirty="0"/>
              <a:t>Why powder method is more beneficial than Laue method?</a:t>
            </a:r>
          </a:p>
          <a:p>
            <a:pPr marL="457200" indent="-457200">
              <a:lnSpc>
                <a:spcPct val="150000"/>
              </a:lnSpc>
              <a:buFont typeface="Wingdings" pitchFamily="2" charset="2"/>
              <a:buChar char="v"/>
            </a:pPr>
            <a:r>
              <a:rPr lang="en-US" sz="2400" b="1" dirty="0"/>
              <a:t>List advantages and disadvantages of Laue Method</a:t>
            </a:r>
          </a:p>
          <a:p>
            <a:pPr marL="457200" indent="-457200">
              <a:lnSpc>
                <a:spcPct val="150000"/>
              </a:lnSpc>
              <a:buFont typeface="Wingdings" pitchFamily="2" charset="2"/>
              <a:buChar char="v"/>
            </a:pPr>
            <a:r>
              <a:rPr lang="en-US" sz="2400" b="1" dirty="0"/>
              <a:t>What is the significance of Bragg’s law?</a:t>
            </a:r>
          </a:p>
          <a:p>
            <a:pPr marL="457200" indent="-457200">
              <a:lnSpc>
                <a:spcPct val="150000"/>
              </a:lnSpc>
              <a:buFont typeface="Wingdings" pitchFamily="2" charset="2"/>
              <a:buChar char="v"/>
            </a:pPr>
            <a:r>
              <a:rPr lang="en-US" sz="2400" b="1" dirty="0"/>
              <a:t>What is inverse piezoelectric method?</a:t>
            </a:r>
          </a:p>
          <a:p>
            <a:pPr marL="457200" indent="-457200">
              <a:lnSpc>
                <a:spcPct val="150000"/>
              </a:lnSpc>
              <a:buFont typeface="Wingdings" pitchFamily="2" charset="2"/>
              <a:buChar char="v"/>
            </a:pPr>
            <a:r>
              <a:rPr lang="en-US" sz="2400" b="1" dirty="0"/>
              <a:t>Draw plot of (100)</a:t>
            </a:r>
          </a:p>
          <a:p>
            <a:pPr>
              <a:buFont typeface="Wingdings" pitchFamily="2" charset="2"/>
              <a:buChar char="Ø"/>
            </a:pPr>
            <a:endParaRPr lang="en-US" b="1" dirty="0"/>
          </a:p>
        </p:txBody>
      </p:sp>
    </p:spTree>
    <p:extLst>
      <p:ext uri="{BB962C8B-B14F-4D97-AF65-F5344CB8AC3E}">
        <p14:creationId xmlns:p14="http://schemas.microsoft.com/office/powerpoint/2010/main" val="271840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mn-lt"/>
                <a:cs typeface="Arial" panose="020B0604020202020204" pitchFamily="34" charset="0"/>
              </a:rPr>
              <a:t>REFERENCES </a:t>
            </a:r>
            <a:r>
              <a:rPr lang="en-US" dirty="0">
                <a:latin typeface="+mn-lt"/>
              </a:rPr>
              <a:t>  </a:t>
            </a:r>
          </a:p>
        </p:txBody>
      </p:sp>
      <p:sp>
        <p:nvSpPr>
          <p:cNvPr id="3" name="Content Placeholder 2"/>
          <p:cNvSpPr>
            <a:spLocks noGrp="1"/>
          </p:cNvSpPr>
          <p:nvPr>
            <p:ph idx="1"/>
          </p:nvPr>
        </p:nvSpPr>
        <p:spPr/>
        <p:txBody>
          <a:bodyPr>
            <a:normAutofit fontScale="77500" lnSpcReduction="20000"/>
          </a:bodyPr>
          <a:lstStyle/>
          <a:p>
            <a:pPr lvl="0">
              <a:lnSpc>
                <a:spcPct val="200000"/>
              </a:lnSpc>
              <a:buNone/>
            </a:pPr>
            <a:r>
              <a:rPr lang="en-IN" sz="1600" dirty="0"/>
              <a:t>[1 ] https://www.youtube.com/watch?v=fv1l-EIc4sM</a:t>
            </a:r>
          </a:p>
          <a:p>
            <a:pPr lvl="0">
              <a:lnSpc>
                <a:spcPct val="200000"/>
              </a:lnSpc>
              <a:buNone/>
            </a:pPr>
            <a:r>
              <a:rPr lang="en-IN" sz="1600" dirty="0"/>
              <a:t>[2] https://www.physics.nus.edu.sg/~L3000/Level3manuals/Laue%20Diffraction.pdf</a:t>
            </a:r>
          </a:p>
          <a:p>
            <a:pPr lvl="0">
              <a:lnSpc>
                <a:spcPct val="200000"/>
              </a:lnSpc>
              <a:buNone/>
            </a:pPr>
            <a:r>
              <a:rPr lang="en-IN" sz="1600" dirty="0"/>
              <a:t>[3] https://www.slideserve.com/wiley/chapter-3-x-ray-diffraction-in-crystal</a:t>
            </a:r>
          </a:p>
          <a:p>
            <a:pPr lvl="0">
              <a:lnSpc>
                <a:spcPct val="200000"/>
              </a:lnSpc>
              <a:buNone/>
            </a:pPr>
            <a:r>
              <a:rPr lang="en-IN" sz="1600" dirty="0"/>
              <a:t>[4] https://www.slideshare.net/grakbph040/laue-method</a:t>
            </a:r>
          </a:p>
          <a:p>
            <a:pPr lvl="0">
              <a:lnSpc>
                <a:spcPct val="200000"/>
              </a:lnSpc>
              <a:buNone/>
            </a:pPr>
            <a:r>
              <a:rPr lang="en-IN" sz="1600" dirty="0"/>
              <a:t>[5] https://slideplayer.com/slide/3866177/</a:t>
            </a:r>
          </a:p>
          <a:p>
            <a:pPr lvl="0">
              <a:lnSpc>
                <a:spcPct val="200000"/>
              </a:lnSpc>
              <a:buNone/>
            </a:pPr>
            <a:r>
              <a:rPr lang="en-IN" sz="1600" dirty="0"/>
              <a:t>[6] http://www4.hcmut.edu.vn/~huynhqlinh/project/Minhhoa3/Nhieuxa/Nx2/www.matter.org.uk/diffraction/x-ray/laue_method.htm</a:t>
            </a:r>
          </a:p>
          <a:p>
            <a:pPr lvl="0">
              <a:lnSpc>
                <a:spcPct val="200000"/>
              </a:lnSpc>
              <a:buNone/>
            </a:pPr>
            <a:r>
              <a:rPr lang="en-IN" sz="1600" dirty="0"/>
              <a:t>[7] http://www.ifm.liu.se/courses/tffm08/dloadsExfys/Lab31_Laue.pdf</a:t>
            </a:r>
          </a:p>
          <a:p>
            <a:pPr lvl="0">
              <a:lnSpc>
                <a:spcPct val="200000"/>
              </a:lnSpc>
              <a:buNone/>
            </a:pPr>
            <a:r>
              <a:rPr lang="en-IN" sz="1600" dirty="0"/>
              <a:t>[8]  http://physicsopenlab.org/2018/01/18/laue-diffraction/</a:t>
            </a:r>
          </a:p>
          <a:p>
            <a:pPr lvl="0">
              <a:lnSpc>
                <a:spcPct val="200000"/>
              </a:lnSpc>
              <a:buNone/>
            </a:pPr>
            <a:r>
              <a:rPr lang="en-IN" sz="1600" dirty="0"/>
              <a:t>[9] https://en.wikipedia.org/wiki/Laue_equations</a:t>
            </a:r>
            <a:endParaRPr lang="en-US" sz="1600"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2233304"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anjana.e1643@cumail.in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1900</TotalTime>
  <Words>888</Words>
  <Application>Microsoft Office PowerPoint</Application>
  <PresentationFormat>Widescreen</PresentationFormat>
  <Paragraphs>111</Paragraphs>
  <Slides>16</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9" baseType="lpstr">
      <vt:lpstr>Arial</vt:lpstr>
      <vt:lpstr>Arial Black</vt:lpstr>
      <vt:lpstr>Calibri</vt:lpstr>
      <vt:lpstr>Calibri Light</vt:lpstr>
      <vt:lpstr>Casper</vt:lpstr>
      <vt:lpstr>Casper Bold</vt:lpstr>
      <vt:lpstr>Karla</vt:lpstr>
      <vt:lpstr>Raleway ExtraBold</vt:lpstr>
      <vt:lpstr>Times New Roman</vt:lpstr>
      <vt:lpstr>Wingdings</vt:lpstr>
      <vt:lpstr>1_Office Theme</vt:lpstr>
      <vt:lpstr>Contents Slide Master</vt:lpstr>
      <vt:lpstr>CorelDRAW</vt:lpstr>
      <vt:lpstr>PowerPoint Presentation</vt:lpstr>
      <vt:lpstr> </vt:lpstr>
      <vt:lpstr>CRYSTAL STRUCTURE </vt:lpstr>
      <vt:lpstr>LAUE METHOD </vt:lpstr>
      <vt:lpstr>X-RAY METHOD </vt:lpstr>
      <vt:lpstr>PowerPoint Presentation</vt:lpstr>
      <vt:lpstr>TYPES OF LAUE METHOD</vt:lpstr>
      <vt:lpstr>TRANSMISSION METHOD</vt:lpstr>
      <vt:lpstr>TRANSMISSION METHOD</vt:lpstr>
      <vt:lpstr>BACK REFLECTION METHOD</vt:lpstr>
      <vt:lpstr>PowerPoint Presentation</vt:lpstr>
      <vt:lpstr>ADVANTAGES AND DISADVANTAGES</vt:lpstr>
      <vt:lpstr> </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79</cp:revision>
  <dcterms:created xsi:type="dcterms:W3CDTF">2019-01-09T10:33:58Z</dcterms:created>
  <dcterms:modified xsi:type="dcterms:W3CDTF">2023-06-15T15:20:03Z</dcterms:modified>
</cp:coreProperties>
</file>