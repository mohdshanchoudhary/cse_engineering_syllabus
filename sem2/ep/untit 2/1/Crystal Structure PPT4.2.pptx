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4" r:id="rId1"/>
    <p:sldMasterId id="2147483686" r:id="rId2"/>
  </p:sldMasterIdLst>
  <p:notesMasterIdLst>
    <p:notesMasterId r:id="rId19"/>
  </p:notesMasterIdLst>
  <p:handoutMasterIdLst>
    <p:handoutMasterId r:id="rId20"/>
  </p:handoutMasterIdLst>
  <p:sldIdLst>
    <p:sldId id="289" r:id="rId3"/>
    <p:sldId id="287" r:id="rId4"/>
    <p:sldId id="288" r:id="rId5"/>
    <p:sldId id="290" r:id="rId6"/>
    <p:sldId id="291" r:id="rId7"/>
    <p:sldId id="292" r:id="rId8"/>
    <p:sldId id="281" r:id="rId9"/>
    <p:sldId id="280" r:id="rId10"/>
    <p:sldId id="296" r:id="rId11"/>
    <p:sldId id="286" r:id="rId12"/>
    <p:sldId id="285" r:id="rId13"/>
    <p:sldId id="283" r:id="rId14"/>
    <p:sldId id="293" r:id="rId15"/>
    <p:sldId id="294" r:id="rId16"/>
    <p:sldId id="284" r:id="rId17"/>
    <p:sldId id="279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D8137"/>
    <a:srgbClr val="BC8F00"/>
    <a:srgbClr val="860000"/>
    <a:srgbClr val="00B0F0"/>
    <a:srgbClr val="1B3F5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515" autoAdjust="0"/>
    <p:restoredTop sz="94660"/>
  </p:normalViewPr>
  <p:slideViewPr>
    <p:cSldViewPr snapToGrid="0">
      <p:cViewPr varScale="1">
        <p:scale>
          <a:sx n="66" d="100"/>
          <a:sy n="66" d="100"/>
        </p:scale>
        <p:origin x="648" y="4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presProps" Target="pres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microsoft.com/office/2016/11/relationships/changesInfo" Target="changesInfos/changesInfo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rtike vashisht" userId="7be7df2e172983c4" providerId="LiveId" clId="{CB46914B-D577-47D4-B9CF-2D088C9DAE78}"/>
    <pc:docChg chg="custSel addSld modSld">
      <pc:chgData name="Kartike vashisht" userId="7be7df2e172983c4" providerId="LiveId" clId="{CB46914B-D577-47D4-B9CF-2D088C9DAE78}" dt="2020-06-17T17:14:42.421" v="105" actId="20577"/>
      <pc:docMkLst>
        <pc:docMk/>
      </pc:docMkLst>
      <pc:sldChg chg="modSp mod">
        <pc:chgData name="Kartike vashisht" userId="7be7df2e172983c4" providerId="LiveId" clId="{CB46914B-D577-47D4-B9CF-2D088C9DAE78}" dt="2020-06-17T17:14:42.421" v="105" actId="20577"/>
        <pc:sldMkLst>
          <pc:docMk/>
          <pc:sldMk cId="4018097345" sldId="265"/>
        </pc:sldMkLst>
        <pc:spChg chg="mod">
          <ac:chgData name="Kartike vashisht" userId="7be7df2e172983c4" providerId="LiveId" clId="{CB46914B-D577-47D4-B9CF-2D088C9DAE78}" dt="2020-06-17T17:14:42.421" v="105" actId="20577"/>
          <ac:spMkLst>
            <pc:docMk/>
            <pc:sldMk cId="4018097345" sldId="265"/>
            <ac:spMk id="8" creationId="{00000000-0000-0000-0000-000000000000}"/>
          </ac:spMkLst>
        </pc:spChg>
      </pc:sldChg>
      <pc:sldChg chg="addSp modSp mod">
        <pc:chgData name="Kartike vashisht" userId="7be7df2e172983c4" providerId="LiveId" clId="{CB46914B-D577-47D4-B9CF-2D088C9DAE78}" dt="2020-06-17T10:40:43.757" v="76" actId="1076"/>
        <pc:sldMkLst>
          <pc:docMk/>
          <pc:sldMk cId="693801593" sldId="281"/>
        </pc:sldMkLst>
        <pc:spChg chg="mod">
          <ac:chgData name="Kartike vashisht" userId="7be7df2e172983c4" providerId="LiveId" clId="{CB46914B-D577-47D4-B9CF-2D088C9DAE78}" dt="2020-06-17T10:21:31.524" v="67" actId="20577"/>
          <ac:spMkLst>
            <pc:docMk/>
            <pc:sldMk cId="693801593" sldId="281"/>
            <ac:spMk id="3" creationId="{00000000-0000-0000-0000-000000000000}"/>
          </ac:spMkLst>
        </pc:spChg>
        <pc:spChg chg="mod">
          <ac:chgData name="Kartike vashisht" userId="7be7df2e172983c4" providerId="LiveId" clId="{CB46914B-D577-47D4-B9CF-2D088C9DAE78}" dt="2020-06-17T10:21:28.445" v="66"/>
          <ac:spMkLst>
            <pc:docMk/>
            <pc:sldMk cId="693801593" sldId="281"/>
            <ac:spMk id="4" creationId="{00000000-0000-0000-0000-000000000000}"/>
          </ac:spMkLst>
        </pc:spChg>
        <pc:spChg chg="mod">
          <ac:chgData name="Kartike vashisht" userId="7be7df2e172983c4" providerId="LiveId" clId="{CB46914B-D577-47D4-B9CF-2D088C9DAE78}" dt="2020-06-17T10:20:52.280" v="63" actId="20577"/>
          <ac:spMkLst>
            <pc:docMk/>
            <pc:sldMk cId="693801593" sldId="281"/>
            <ac:spMk id="8" creationId="{00000000-0000-0000-0000-000000000000}"/>
          </ac:spMkLst>
        </pc:spChg>
        <pc:picChg chg="add mod">
          <ac:chgData name="Kartike vashisht" userId="7be7df2e172983c4" providerId="LiveId" clId="{CB46914B-D577-47D4-B9CF-2D088C9DAE78}" dt="2020-06-17T10:40:43.757" v="76" actId="1076"/>
          <ac:picMkLst>
            <pc:docMk/>
            <pc:sldMk cId="693801593" sldId="281"/>
            <ac:picMk id="6" creationId="{9BE3E8F8-23EC-4D42-891A-E4F8A964E3F1}"/>
          </ac:picMkLst>
        </pc:picChg>
      </pc:sldChg>
      <pc:sldChg chg="add">
        <pc:chgData name="Kartike vashisht" userId="7be7df2e172983c4" providerId="LiveId" clId="{CB46914B-D577-47D4-B9CF-2D088C9DAE78}" dt="2020-06-17T10:40:50.279" v="77"/>
        <pc:sldMkLst>
          <pc:docMk/>
          <pc:sldMk cId="3644730512" sldId="285"/>
        </pc:sldMkLst>
      </pc:sldChg>
      <pc:sldChg chg="add">
        <pc:chgData name="Kartike vashisht" userId="7be7df2e172983c4" providerId="LiveId" clId="{CB46914B-D577-47D4-B9CF-2D088C9DAE78}" dt="2020-06-17T10:40:52.530" v="78"/>
        <pc:sldMkLst>
          <pc:docMk/>
          <pc:sldMk cId="3814317173" sldId="286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CDA8E9-9948-4BC7-A1DE-415AE6D34228}" type="datetimeFigureOut">
              <a:rPr lang="en-US" smtClean="0"/>
              <a:pPr/>
              <a:t>6/15/2023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B5F544-A886-482E-AF73-1D6364AAC65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191961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5A4AE53-78AB-4E30-A376-70F5FA87A326}" type="datetimeFigureOut">
              <a:rPr lang="en-US" smtClean="0"/>
              <a:pPr/>
              <a:t>6/15/2023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732FBC-CC67-4B17-8935-02F23E3364A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0555822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2197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13695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7143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22016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12169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12041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3193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18609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47627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08157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44941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1"/>
          <p:cNvSpPr/>
          <p:nvPr userDrawn="1"/>
        </p:nvSpPr>
        <p:spPr>
          <a:xfrm>
            <a:off x="-19050" y="1905000"/>
            <a:ext cx="12211050" cy="4953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4" name="Прямоугольник 8"/>
          <p:cNvSpPr/>
          <p:nvPr userDrawn="1"/>
        </p:nvSpPr>
        <p:spPr>
          <a:xfrm>
            <a:off x="-19050" y="0"/>
            <a:ext cx="12211050" cy="4438650"/>
          </a:xfrm>
          <a:custGeom>
            <a:avLst/>
            <a:gdLst>
              <a:gd name="connsiteX0" fmla="*/ 0 w 12192000"/>
              <a:gd name="connsiteY0" fmla="*/ 0 h 4133850"/>
              <a:gd name="connsiteX1" fmla="*/ 12192000 w 12192000"/>
              <a:gd name="connsiteY1" fmla="*/ 0 h 4133850"/>
              <a:gd name="connsiteX2" fmla="*/ 12192000 w 12192000"/>
              <a:gd name="connsiteY2" fmla="*/ 4133850 h 4133850"/>
              <a:gd name="connsiteX3" fmla="*/ 0 w 12192000"/>
              <a:gd name="connsiteY3" fmla="*/ 4133850 h 4133850"/>
              <a:gd name="connsiteX4" fmla="*/ 0 w 12192000"/>
              <a:gd name="connsiteY4" fmla="*/ 0 h 4133850"/>
              <a:gd name="connsiteX0" fmla="*/ 19050 w 12211050"/>
              <a:gd name="connsiteY0" fmla="*/ 0 h 4133850"/>
              <a:gd name="connsiteX1" fmla="*/ 12211050 w 12211050"/>
              <a:gd name="connsiteY1" fmla="*/ 0 h 4133850"/>
              <a:gd name="connsiteX2" fmla="*/ 12211050 w 12211050"/>
              <a:gd name="connsiteY2" fmla="*/ 4133850 h 4133850"/>
              <a:gd name="connsiteX3" fmla="*/ 0 w 12211050"/>
              <a:gd name="connsiteY3" fmla="*/ 3219450 h 4133850"/>
              <a:gd name="connsiteX4" fmla="*/ 19050 w 12211050"/>
              <a:gd name="connsiteY4" fmla="*/ 0 h 4133850"/>
              <a:gd name="connsiteX0" fmla="*/ 19050 w 12211050"/>
              <a:gd name="connsiteY0" fmla="*/ 0 h 4438650"/>
              <a:gd name="connsiteX1" fmla="*/ 12211050 w 12211050"/>
              <a:gd name="connsiteY1" fmla="*/ 0 h 4438650"/>
              <a:gd name="connsiteX2" fmla="*/ 12211050 w 12211050"/>
              <a:gd name="connsiteY2" fmla="*/ 4438650 h 4438650"/>
              <a:gd name="connsiteX3" fmla="*/ 0 w 12211050"/>
              <a:gd name="connsiteY3" fmla="*/ 3219450 h 4438650"/>
              <a:gd name="connsiteX4" fmla="*/ 19050 w 12211050"/>
              <a:gd name="connsiteY4" fmla="*/ 0 h 4438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211050" h="4438650">
                <a:moveTo>
                  <a:pt x="19050" y="0"/>
                </a:moveTo>
                <a:lnTo>
                  <a:pt x="12211050" y="0"/>
                </a:lnTo>
                <a:lnTo>
                  <a:pt x="12211050" y="4438650"/>
                </a:lnTo>
                <a:lnTo>
                  <a:pt x="0" y="3219450"/>
                </a:lnTo>
                <a:lnTo>
                  <a:pt x="19050" y="0"/>
                </a:lnTo>
                <a:close/>
              </a:path>
            </a:pathLst>
          </a:cu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5" name="Прямоугольник 3"/>
          <p:cNvSpPr/>
          <p:nvPr userDrawn="1"/>
        </p:nvSpPr>
        <p:spPr>
          <a:xfrm>
            <a:off x="1085850" y="1009650"/>
            <a:ext cx="10020300" cy="5238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8" name="Рисунок 7"/>
          <p:cNvSpPr>
            <a:spLocks noGrp="1"/>
          </p:cNvSpPr>
          <p:nvPr>
            <p:ph type="pic" sz="quarter" idx="10"/>
          </p:nvPr>
        </p:nvSpPr>
        <p:spPr>
          <a:xfrm>
            <a:off x="1847850" y="2819400"/>
            <a:ext cx="8496300" cy="2800350"/>
          </a:xfrm>
          <a:prstGeom prst="rect">
            <a:avLst/>
          </a:prstGeom>
        </p:spPr>
        <p:txBody>
          <a:bodyPr/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39740816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B3ACE-D620-4EC3-88A7-3E317E64F19F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6/15/2023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9A48AB-23F1-45F1-98E5-D2CDC7A5261D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0683537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3302043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sic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64638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932723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9096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asic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64638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932723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271595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asic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2735627" y="164638"/>
            <a:ext cx="9456373" cy="768085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2735627" y="932723"/>
            <a:ext cx="9456373" cy="384043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5" name="Rectangle 4"/>
          <p:cNvSpPr/>
          <p:nvPr userDrawn="1"/>
        </p:nvSpPr>
        <p:spPr>
          <a:xfrm>
            <a:off x="0" y="1"/>
            <a:ext cx="2543605" cy="686418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043781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0" y="2276872"/>
            <a:ext cx="12192000" cy="240026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3" name="Isosceles Triangle 2"/>
          <p:cNvSpPr/>
          <p:nvPr userDrawn="1"/>
        </p:nvSpPr>
        <p:spPr>
          <a:xfrm rot="10800000">
            <a:off x="1583392" y="4677509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2" name="Isosceles Triangle 11"/>
          <p:cNvSpPr/>
          <p:nvPr userDrawn="1"/>
        </p:nvSpPr>
        <p:spPr>
          <a:xfrm rot="10800000">
            <a:off x="4463712" y="4677509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3" name="Isosceles Triangle 12"/>
          <p:cNvSpPr/>
          <p:nvPr userDrawn="1"/>
        </p:nvSpPr>
        <p:spPr>
          <a:xfrm rot="10800000">
            <a:off x="7344032" y="4677509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4" name="Isosceles Triangle 13"/>
          <p:cNvSpPr/>
          <p:nvPr userDrawn="1"/>
        </p:nvSpPr>
        <p:spPr>
          <a:xfrm rot="10800000">
            <a:off x="10224348" y="4677509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5" name="Rectangle 14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16" name="Rectangle 15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1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815413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8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3695732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9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6576051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20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9456369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7721753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5231904" y="2276872"/>
            <a:ext cx="5711957" cy="393643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1103445" y="1412776"/>
            <a:ext cx="4560000" cy="3696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6200522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990600"/>
            <a:ext cx="3887755" cy="58674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8" name="Picture Placeholder 2"/>
          <p:cNvSpPr>
            <a:spLocks noGrp="1"/>
          </p:cNvSpPr>
          <p:nvPr>
            <p:ph type="pic" idx="11" hasCustomPrompt="1"/>
          </p:nvPr>
        </p:nvSpPr>
        <p:spPr>
          <a:xfrm>
            <a:off x="4079776" y="0"/>
            <a:ext cx="8112224" cy="362102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957474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1013496"/>
            <a:ext cx="3887755" cy="356763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2" name="Picture Placeholder 2"/>
          <p:cNvSpPr>
            <a:spLocks noGrp="1"/>
          </p:cNvSpPr>
          <p:nvPr>
            <p:ph type="pic" idx="10" hasCustomPrompt="1"/>
          </p:nvPr>
        </p:nvSpPr>
        <p:spPr>
          <a:xfrm>
            <a:off x="8304245" y="0"/>
            <a:ext cx="3887755" cy="45811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3" name="Picture Placeholder 2"/>
          <p:cNvSpPr>
            <a:spLocks noGrp="1"/>
          </p:cNvSpPr>
          <p:nvPr>
            <p:ph type="pic" idx="11" hasCustomPrompt="1"/>
          </p:nvPr>
        </p:nvSpPr>
        <p:spPr>
          <a:xfrm>
            <a:off x="0" y="4773149"/>
            <a:ext cx="6096000" cy="208485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4759519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595027" y="4101331"/>
            <a:ext cx="2400000" cy="2304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160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12" name="Rectangle 11"/>
          <p:cNvSpPr/>
          <p:nvPr userDrawn="1"/>
        </p:nvSpPr>
        <p:spPr>
          <a:xfrm>
            <a:off x="9196973" y="1700808"/>
            <a:ext cx="2400000" cy="2304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160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13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595027" y="1700808"/>
            <a:ext cx="2400000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4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9196973" y="4101331"/>
            <a:ext cx="2400000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5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3119669" y="4101331"/>
            <a:ext cx="5952663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6" name="Picture Placeholder 2"/>
          <p:cNvSpPr>
            <a:spLocks noGrp="1"/>
          </p:cNvSpPr>
          <p:nvPr>
            <p:ph type="pic" idx="15" hasCustomPrompt="1"/>
          </p:nvPr>
        </p:nvSpPr>
        <p:spPr>
          <a:xfrm>
            <a:off x="3119669" y="1700808"/>
            <a:ext cx="5952663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7835944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709650" y="480055"/>
            <a:ext cx="4224469" cy="419708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7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5126140" y="480056"/>
            <a:ext cx="6336704" cy="229610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8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5126140" y="2948948"/>
            <a:ext cx="1968000" cy="17281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9" name="Picture Placeholder 2"/>
          <p:cNvSpPr>
            <a:spLocks noGrp="1"/>
          </p:cNvSpPr>
          <p:nvPr>
            <p:ph type="pic" idx="16" hasCustomPrompt="1"/>
          </p:nvPr>
        </p:nvSpPr>
        <p:spPr>
          <a:xfrm>
            <a:off x="7310492" y="2948948"/>
            <a:ext cx="1968000" cy="17281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20" name="Picture Placeholder 2"/>
          <p:cNvSpPr>
            <a:spLocks noGrp="1"/>
          </p:cNvSpPr>
          <p:nvPr>
            <p:ph type="pic" idx="17" hasCustomPrompt="1"/>
          </p:nvPr>
        </p:nvSpPr>
        <p:spPr>
          <a:xfrm>
            <a:off x="9494844" y="2948948"/>
            <a:ext cx="1968000" cy="17281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0230215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pic>
        <p:nvPicPr>
          <p:cNvPr id="5" name="그림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6767" y="2276873"/>
            <a:ext cx="7238124" cy="3966041"/>
          </a:xfrm>
          <a:prstGeom prst="rect">
            <a:avLst/>
          </a:prstGeom>
        </p:spPr>
      </p:pic>
      <p:sp>
        <p:nvSpPr>
          <p:cNvPr id="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5705875" y="2485912"/>
            <a:ext cx="4832891" cy="312423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8" name="Rectangle 7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rgbClr val="EB49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9" name="Rectangle 8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rgbClr val="EB49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1804153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pic>
        <p:nvPicPr>
          <p:cNvPr id="5" name="Picture 4" descr="D:\Fullppt\005-PNG이미지\모니터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6400" y="1815747"/>
            <a:ext cx="3360373" cy="33505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D:\Fullppt\005-PNG이미지\모니터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06826" y="1815747"/>
            <a:ext cx="3360373" cy="33505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 descr="D:\Fullppt\005-PNG이미지\모니터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37251" y="1815747"/>
            <a:ext cx="3360373" cy="33505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909901" y="1957962"/>
            <a:ext cx="3073864" cy="20800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4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4539561" y="1957962"/>
            <a:ext cx="3073864" cy="20800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5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8169221" y="1957962"/>
            <a:ext cx="3073864" cy="20800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6" name="Rectangle 15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17" name="Rectangle 16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7940683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0"/>
            <a:ext cx="12192000" cy="410107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1465714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 se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64638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ICON SETS LAYOUT</a:t>
            </a:r>
          </a:p>
        </p:txBody>
      </p:sp>
      <p:grpSp>
        <p:nvGrpSpPr>
          <p:cNvPr id="5" name="Group 4"/>
          <p:cNvGrpSpPr/>
          <p:nvPr userDrawn="1"/>
        </p:nvGrpSpPr>
        <p:grpSpPr>
          <a:xfrm>
            <a:off x="472011" y="1508786"/>
            <a:ext cx="3799787" cy="4865561"/>
            <a:chOff x="354008" y="1131589"/>
            <a:chExt cx="2849840" cy="3649171"/>
          </a:xfrm>
        </p:grpSpPr>
        <p:sp>
          <p:nvSpPr>
            <p:cNvPr id="6" name="Rounded Rectangle 5"/>
            <p:cNvSpPr/>
            <p:nvPr/>
          </p:nvSpPr>
          <p:spPr>
            <a:xfrm>
              <a:off x="354008" y="1131589"/>
              <a:ext cx="2849840" cy="3649171"/>
            </a:xfrm>
            <a:prstGeom prst="roundRect">
              <a:avLst>
                <a:gd name="adj" fmla="val 3968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1"/>
              <a:endParaRPr lang="ko-KR" altLang="en-US" sz="2400" dirty="0">
                <a:solidFill>
                  <a:prstClr val="white"/>
                </a:solidFill>
              </a:endParaRP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531932" y="1347500"/>
              <a:ext cx="108520" cy="3240473"/>
            </a:xfrm>
            <a:prstGeom prst="roundRect">
              <a:avLst>
                <a:gd name="adj" fmla="val 50000"/>
              </a:avLst>
            </a:prstGeom>
            <a:solidFill>
              <a:schemeClr val="bg1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1"/>
              <a:endParaRPr lang="ko-KR" altLang="en-US" sz="2400">
                <a:solidFill>
                  <a:prstClr val="white"/>
                </a:solidFill>
              </a:endParaRPr>
            </a:p>
          </p:txBody>
        </p:sp>
        <p:sp>
          <p:nvSpPr>
            <p:cNvPr id="12" name="Half Frame 11"/>
            <p:cNvSpPr/>
            <p:nvPr/>
          </p:nvSpPr>
          <p:spPr>
            <a:xfrm rot="5400000">
              <a:off x="2592642" y="1238201"/>
              <a:ext cx="502331" cy="502331"/>
            </a:xfrm>
            <a:prstGeom prst="halfFrame">
              <a:avLst>
                <a:gd name="adj1" fmla="val 23728"/>
                <a:gd name="adj2" fmla="val 24642"/>
              </a:avLst>
            </a:prstGeom>
            <a:solidFill>
              <a:schemeClr val="bg1">
                <a:alpha val="23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1"/>
              <a:endParaRPr lang="ko-KR" altLang="en-US" sz="2400">
                <a:solidFill>
                  <a:prstClr val="black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219781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6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4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5">
            <a:lum/>
          </a:blip>
          <a:srcRect/>
          <a:stretch>
            <a:fillRect l="1000" t="-1000" r="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33913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60" r:id="rId12"/>
    <p:sldLayoutId id="2147483701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485446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698" r:id="rId12"/>
    <p:sldLayoutId id="2147483699" r:id="rId13"/>
    <p:sldLayoutId id="2147483700" r:id="rId14"/>
  </p:sldLayoutIdLst>
  <p:txStyles>
    <p:titleStyle>
      <a:lvl1pPr algn="ctr" defTabSz="1219170" rtl="0" eaLnBrk="1" latinLnBrk="1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1" hangingPunct="1">
        <a:spcBef>
          <a:spcPct val="20000"/>
        </a:spcBef>
        <a:buFont typeface="Arial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1" hangingPunct="1">
        <a:spcBef>
          <a:spcPct val="20000"/>
        </a:spcBef>
        <a:buFont typeface="Arial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1" hangingPunct="1">
        <a:spcBef>
          <a:spcPct val="20000"/>
        </a:spcBef>
        <a:buFont typeface="Arial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1" hangingPunct="1">
        <a:spcBef>
          <a:spcPct val="20000"/>
        </a:spcBef>
        <a:buFont typeface="Arial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Relationship Id="rId5" Type="http://schemas.microsoft.com/office/2007/relationships/hdphoto" Target="../media/hdphoto1.wdp"/><Relationship Id="rId4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/>
          <p:cNvSpPr/>
          <p:nvPr/>
        </p:nvSpPr>
        <p:spPr>
          <a:xfrm>
            <a:off x="-4421" y="5427341"/>
            <a:ext cx="12196420" cy="151855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/>
          <p:cNvSpPr/>
          <p:nvPr/>
        </p:nvSpPr>
        <p:spPr>
          <a:xfrm>
            <a:off x="302197" y="5901985"/>
            <a:ext cx="45719" cy="613881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Slide Number Placeholder 2"/>
          <p:cNvSpPr txBox="1">
            <a:spLocks/>
          </p:cNvSpPr>
          <p:nvPr/>
        </p:nvSpPr>
        <p:spPr>
          <a:xfrm>
            <a:off x="8763000" y="65087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46" name="Right Triangle 45">
            <a:extLst>
              <a:ext uri="{FF2B5EF4-FFF2-40B4-BE49-F238E27FC236}">
                <a16:creationId xmlns:a16="http://schemas.microsoft.com/office/drawing/2014/main" id="{0983CA01-DED8-4A8A-82CA-5B1BE1DADB0C}"/>
              </a:ext>
            </a:extLst>
          </p:cNvPr>
          <p:cNvSpPr/>
          <p:nvPr/>
        </p:nvSpPr>
        <p:spPr>
          <a:xfrm flipV="1">
            <a:off x="9506857" y="5939880"/>
            <a:ext cx="1291772" cy="1157606"/>
          </a:xfrm>
          <a:prstGeom prst="rtTriangle">
            <a:avLst/>
          </a:prstGeom>
          <a:solidFill>
            <a:srgbClr val="FFFFFF">
              <a:lumMod val="95000"/>
              <a:alpha val="17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</a:endParaRPr>
          </a:p>
        </p:txBody>
      </p:sp>
      <p:graphicFrame>
        <p:nvGraphicFramePr>
          <p:cNvPr id="48" name="Object 47">
            <a:extLst>
              <a:ext uri="{FF2B5EF4-FFF2-40B4-BE49-F238E27FC236}">
                <a16:creationId xmlns:a16="http://schemas.microsoft.com/office/drawing/2014/main" id="{CAD0D7B8-E462-453C-B296-CA0154FA54A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89304721"/>
              </p:ext>
            </p:extLst>
          </p:nvPr>
        </p:nvGraphicFramePr>
        <p:xfrm>
          <a:off x="76788" y="3121720"/>
          <a:ext cx="3303056" cy="314805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orelDRAW" r:id="rId2" imgW="2169000" imgH="2169360" progId="">
                  <p:embed/>
                </p:oleObj>
              </mc:Choice>
              <mc:Fallback>
                <p:oleObj name="CorelDRAW" r:id="rId2" imgW="2169000" imgH="2169360" progId="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lum bright="76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788" y="3121720"/>
                        <a:ext cx="3303056" cy="3148059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" name="Right Triangle 36">
            <a:extLst>
              <a:ext uri="{FF2B5EF4-FFF2-40B4-BE49-F238E27FC236}">
                <a16:creationId xmlns:a16="http://schemas.microsoft.com/office/drawing/2014/main" id="{0983CA01-DED8-4A8A-82CA-5B1BE1DADB0C}"/>
              </a:ext>
            </a:extLst>
          </p:cNvPr>
          <p:cNvSpPr/>
          <p:nvPr/>
        </p:nvSpPr>
        <p:spPr>
          <a:xfrm flipH="1">
            <a:off x="7045437" y="-64960"/>
            <a:ext cx="5146562" cy="5852440"/>
          </a:xfrm>
          <a:prstGeom prst="rtTriangle">
            <a:avLst/>
          </a:prstGeom>
          <a:solidFill>
            <a:srgbClr val="FFFFFF">
              <a:lumMod val="95000"/>
              <a:alpha val="17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2124074" y="2025525"/>
            <a:ext cx="6829425" cy="1580679"/>
          </a:xfrm>
          <a:prstGeom prst="rect">
            <a:avLst/>
          </a:prstGeom>
          <a:gradFill flip="none" rotWithShape="1">
            <a:gsLst>
              <a:gs pos="15000">
                <a:srgbClr val="FFFFFF">
                  <a:alpha val="34000"/>
                </a:srgbClr>
              </a:gs>
              <a:gs pos="94000">
                <a:srgbClr val="FFFFFF">
                  <a:alpha val="34000"/>
                </a:srgbClr>
              </a:gs>
              <a:gs pos="2655">
                <a:schemeClr val="bg1">
                  <a:alpha val="0"/>
                </a:schemeClr>
              </a:gs>
              <a:gs pos="51000">
                <a:schemeClr val="bg1"/>
              </a:gs>
              <a:gs pos="100000">
                <a:schemeClr val="bg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" name="Picture 29"/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colorTemperature colorTemp="5742"/>
                    </a14:imgEffect>
                    <a14:imgEffect>
                      <a14:saturation sat="238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04" y="24501"/>
            <a:ext cx="3859753" cy="1538254"/>
          </a:xfrm>
          <a:prstGeom prst="rect">
            <a:avLst/>
          </a:prstGeom>
        </p:spPr>
      </p:pic>
      <p:sp>
        <p:nvSpPr>
          <p:cNvPr id="43" name="Right Triangle 42"/>
          <p:cNvSpPr/>
          <p:nvPr/>
        </p:nvSpPr>
        <p:spPr>
          <a:xfrm rot="10800000" flipV="1">
            <a:off x="9829797" y="5333999"/>
            <a:ext cx="2366623" cy="1600201"/>
          </a:xfrm>
          <a:prstGeom prst="rtTriangl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TextBox 35"/>
          <p:cNvSpPr txBox="1">
            <a:spLocks noChangeArrowheads="1"/>
          </p:cNvSpPr>
          <p:nvPr/>
        </p:nvSpPr>
        <p:spPr bwMode="auto">
          <a:xfrm>
            <a:off x="6881359" y="6019560"/>
            <a:ext cx="4928608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lvl="0"/>
            <a:r>
              <a:rPr lang="en-US" sz="2000" b="1" dirty="0">
                <a:solidFill>
                  <a:prstClr val="black">
                    <a:lumMod val="65000"/>
                    <a:lumOff val="35000"/>
                  </a:prstClr>
                </a:solidFill>
                <a:latin typeface="Casper" panose="02000506000000020004" pitchFamily="2" charset="0"/>
                <a:ea typeface="Karla" pitchFamily="2" charset="0"/>
                <a:cs typeface="Karla" pitchFamily="2" charset="0"/>
              </a:rPr>
              <a:t>DISCOVER . </a:t>
            </a:r>
            <a:r>
              <a:rPr lang="en-US" sz="2000" b="1" dirty="0">
                <a:solidFill>
                  <a:srgbClr val="C00000"/>
                </a:solidFill>
                <a:latin typeface="Casper" panose="02000506000000020004" pitchFamily="2" charset="0"/>
                <a:ea typeface="Karla" pitchFamily="2" charset="0"/>
                <a:cs typeface="Karla" pitchFamily="2" charset="0"/>
              </a:rPr>
              <a:t>LEARN</a:t>
            </a:r>
            <a:r>
              <a:rPr lang="en-US" sz="2000" b="1" dirty="0">
                <a:solidFill>
                  <a:prstClr val="black">
                    <a:lumMod val="65000"/>
                    <a:lumOff val="35000"/>
                  </a:prstClr>
                </a:solidFill>
                <a:latin typeface="Casper" panose="02000506000000020004" pitchFamily="2" charset="0"/>
                <a:ea typeface="Karla" pitchFamily="2" charset="0"/>
                <a:cs typeface="Karla" pitchFamily="2" charset="0"/>
              </a:rPr>
              <a:t> . EMPOWER</a:t>
            </a:r>
            <a:endParaRPr lang="en-US" sz="1200" b="1" dirty="0">
              <a:solidFill>
                <a:prstClr val="black"/>
              </a:solidFill>
              <a:latin typeface="Casper" panose="02000506000000020004" pitchFamily="2" charset="0"/>
            </a:endParaRPr>
          </a:p>
          <a:p>
            <a:pPr eaLnBrk="1" hangingPunct="1"/>
            <a:endParaRPr lang="en-US" sz="1600" b="1" dirty="0">
              <a:latin typeface="Casper" panose="02000506000000020004" pitchFamily="2" charset="0"/>
            </a:endParaRPr>
          </a:p>
        </p:txBody>
      </p:sp>
      <p:sp>
        <p:nvSpPr>
          <p:cNvPr id="52" name="Rectangle 51"/>
          <p:cNvSpPr/>
          <p:nvPr/>
        </p:nvSpPr>
        <p:spPr>
          <a:xfrm>
            <a:off x="6885780" y="6043646"/>
            <a:ext cx="45719" cy="3706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/>
          <p:cNvSpPr txBox="1">
            <a:spLocks noChangeArrowheads="1"/>
          </p:cNvSpPr>
          <p:nvPr/>
        </p:nvSpPr>
        <p:spPr bwMode="auto">
          <a:xfrm>
            <a:off x="2177559" y="1085083"/>
            <a:ext cx="9063318" cy="74358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3600" b="1" dirty="0">
                <a:latin typeface="Arial Black" panose="020B0A04020102020204" pitchFamily="34" charset="0"/>
                <a:ea typeface="Karla" pitchFamily="2" charset="0"/>
                <a:cs typeface="Karla" pitchFamily="2" charset="0"/>
              </a:rPr>
              <a:t>INSTITUTE :UIE</a:t>
            </a: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3600" b="1" dirty="0">
                <a:latin typeface="Arial Black" panose="020B0A04020102020204" pitchFamily="34" charset="0"/>
                <a:ea typeface="Karla" pitchFamily="2" charset="0"/>
                <a:cs typeface="Karla" pitchFamily="2" charset="0"/>
              </a:rPr>
              <a:t>DEPARTMENT: ALL ACADEMIC UNITS</a:t>
            </a: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3200" dirty="0">
                <a:latin typeface="Times New Roman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Bachelor of Engineering (All Sections)</a:t>
            </a: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3200" dirty="0">
                <a:latin typeface="Times New Roman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Subject Name and Code:</a:t>
            </a: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3200">
                <a:latin typeface="Times New Roman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Engineering Physics 23SPH-141</a:t>
            </a: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3200">
                <a:latin typeface="Times New Roman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Prepared </a:t>
            </a:r>
            <a:r>
              <a:rPr lang="en-US" sz="3200" dirty="0">
                <a:latin typeface="Times New Roman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by: Dr. </a:t>
            </a:r>
            <a:r>
              <a:rPr lang="en-US" sz="3200" dirty="0" err="1">
                <a:latin typeface="Times New Roman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Anjana</a:t>
            </a:r>
            <a:r>
              <a:rPr lang="en-US" sz="3200" dirty="0">
                <a:latin typeface="Times New Roman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Sharma, Assistant Prof. Physics</a:t>
            </a: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3200" b="1" dirty="0">
              <a:solidFill>
                <a:prstClr val="black">
                  <a:lumMod val="85000"/>
                  <a:lumOff val="15000"/>
                </a:prst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3200" b="1" dirty="0">
              <a:solidFill>
                <a:prstClr val="black">
                  <a:lumMod val="85000"/>
                  <a:lumOff val="15000"/>
                </a:prst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3200" b="1" dirty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eaLnBrk="1" hangingPunct="1"/>
            <a:endParaRPr lang="en-US" sz="1600" dirty="0">
              <a:latin typeface="Raleway ExtraBold" pitchFamily="34" charset="-52"/>
            </a:endParaRPr>
          </a:p>
        </p:txBody>
      </p:sp>
      <p:sp>
        <p:nvSpPr>
          <p:cNvPr id="15" name="TextBox 52"/>
          <p:cNvSpPr txBox="1">
            <a:spLocks noChangeArrowheads="1"/>
          </p:cNvSpPr>
          <p:nvPr/>
        </p:nvSpPr>
        <p:spPr bwMode="auto">
          <a:xfrm>
            <a:off x="325056" y="6014156"/>
            <a:ext cx="6432043" cy="8002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400" b="1" dirty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CRYSTALLOGRAPHY &amp; ULTRASONICS</a:t>
            </a:r>
          </a:p>
          <a:p>
            <a:pPr eaLnBrk="1" hangingPunct="1"/>
            <a:endParaRPr lang="en-US" sz="1600" dirty="0">
              <a:latin typeface="Raleway ExtraBold" pitchFamily="34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4565021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839200" y="6356350"/>
            <a:ext cx="2743200" cy="365125"/>
          </a:xfrm>
        </p:spPr>
        <p:txBody>
          <a:bodyPr/>
          <a:lstStyle/>
          <a:p>
            <a:fld id="{BDCDBBEF-AA6C-4BA6-85B2-A17D7F280E38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8" name="Title 7"/>
          <p:cNvSpPr txBox="1">
            <a:spLocks noGrp="1" noChangeArrowheads="1"/>
          </p:cNvSpPr>
          <p:nvPr>
            <p:ph type="title"/>
          </p:nvPr>
        </p:nvSpPr>
        <p:spPr bwMode="auto">
          <a:xfrm>
            <a:off x="-287717" y="1297692"/>
            <a:ext cx="4456567" cy="13280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algn="ctr"/>
            <a:br>
              <a:rPr lang="en-US" sz="4400" b="1" dirty="0">
                <a:latin typeface="Casper Bold"/>
                <a:ea typeface="Karla" pitchFamily="2" charset="0"/>
                <a:cs typeface="Karla" pitchFamily="2" charset="0"/>
              </a:rPr>
            </a:br>
            <a:endParaRPr lang="en-US" sz="4400" dirty="0">
              <a:latin typeface="Casper Bold"/>
            </a:endParaRPr>
          </a:p>
        </p:txBody>
      </p:sp>
      <p:sp>
        <p:nvSpPr>
          <p:cNvPr id="10" name="Oval 9"/>
          <p:cNvSpPr/>
          <p:nvPr/>
        </p:nvSpPr>
        <p:spPr>
          <a:xfrm>
            <a:off x="11217276" y="6324600"/>
            <a:ext cx="444500" cy="42227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/>
          <p:cNvSpPr/>
          <p:nvPr/>
        </p:nvSpPr>
        <p:spPr>
          <a:xfrm>
            <a:off x="1037230" y="743847"/>
            <a:ext cx="9730854" cy="51398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4400" b="1" dirty="0"/>
              <a:t>COURSE OBJECTIVES</a:t>
            </a:r>
            <a:endParaRPr lang="en-US" sz="4400" dirty="0"/>
          </a:p>
          <a:p>
            <a:r>
              <a:rPr lang="en-IN" sz="4400" dirty="0"/>
              <a:t> </a:t>
            </a:r>
            <a:endParaRPr lang="en-US" sz="4400" dirty="0"/>
          </a:p>
          <a:p>
            <a:pPr marL="285750" lvl="0" indent="-285750" algn="just">
              <a:buFont typeface="Wingdings" pitchFamily="2" charset="2"/>
              <a:buChar char="v"/>
            </a:pPr>
            <a:r>
              <a:rPr lang="en-IN" sz="2400" dirty="0"/>
              <a:t>The course is designed to make the students industry ready to contribute in the growing demand of the industry at local, national and international level.</a:t>
            </a:r>
            <a:endParaRPr lang="en-US" sz="2400" dirty="0"/>
          </a:p>
          <a:p>
            <a:pPr marL="285750" lvl="0" indent="-285750" algn="just">
              <a:buFont typeface="Wingdings" pitchFamily="2" charset="2"/>
              <a:buChar char="v"/>
            </a:pPr>
            <a:r>
              <a:rPr lang="en-IN" sz="2400" dirty="0"/>
              <a:t>It will make the students competent to understand basic concepts and applications of advanced engineering physics and apply its principles in their respective fields at global platform.</a:t>
            </a:r>
            <a:endParaRPr lang="en-US" sz="2400" dirty="0"/>
          </a:p>
          <a:p>
            <a:pPr marL="285750" lvl="0" indent="-285750" algn="just">
              <a:buFont typeface="Wingdings" pitchFamily="2" charset="2"/>
              <a:buChar char="v"/>
            </a:pPr>
            <a:r>
              <a:rPr lang="en-IN" sz="2400" dirty="0"/>
              <a:t>It will enhance the skill level of the students and shall make them preferred choice for getting employment in industry and research labs.</a:t>
            </a:r>
            <a:endParaRPr lang="en-US" sz="2400" dirty="0"/>
          </a:p>
          <a:p>
            <a:pPr marL="285750" lvl="0" indent="-285750" algn="just">
              <a:buFont typeface="Wingdings" pitchFamily="2" charset="2"/>
              <a:buChar char="v"/>
            </a:pPr>
            <a:r>
              <a:rPr lang="en-IN" sz="2400" dirty="0"/>
              <a:t>It will give thorough knowledge of the discipline to enable students to disseminate knowledge in pursuing excellence in academic areas.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40180973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196322" y="1060692"/>
            <a:ext cx="4933210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4400" b="1" dirty="0"/>
              <a:t>COURSE OUTCOMES</a:t>
            </a:r>
            <a:endParaRPr lang="en-US" sz="4400" dirty="0"/>
          </a:p>
        </p:txBody>
      </p:sp>
      <p:sp>
        <p:nvSpPr>
          <p:cNvPr id="7" name="TextBox 6"/>
          <p:cNvSpPr txBox="1"/>
          <p:nvPr/>
        </p:nvSpPr>
        <p:spPr>
          <a:xfrm>
            <a:off x="6101256" y="6428096"/>
            <a:ext cx="35314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Fig. 1 Introduction [1]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C4C4C4E-5522-4311-86A9-EFFEECBB5B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57416" y="809064"/>
            <a:ext cx="5472583" cy="551497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C4C4C4E-5522-4311-86A9-EFFEECBB5B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57417" y="795617"/>
            <a:ext cx="5143500" cy="5514975"/>
          </a:xfrm>
          <a:prstGeom prst="rect">
            <a:avLst/>
          </a:prstGeom>
        </p:spPr>
      </p:pic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3147336"/>
              </p:ext>
            </p:extLst>
          </p:nvPr>
        </p:nvGraphicFramePr>
        <p:xfrm>
          <a:off x="196322" y="1975370"/>
          <a:ext cx="5458263" cy="4637392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8241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618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722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09941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dirty="0">
                          <a:effectLst/>
                        </a:rPr>
                        <a:t>CO Number</a:t>
                      </a:r>
                      <a:endParaRPr lang="en-US" sz="1100" b="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dirty="0">
                          <a:effectLst/>
                        </a:rPr>
                        <a:t>Title 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On completion of this course, the students are expected to learn</a:t>
                      </a:r>
                      <a:endParaRPr lang="en-US" sz="1200" b="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dirty="0">
                          <a:effectLst/>
                        </a:rPr>
                        <a:t>Level </a:t>
                      </a:r>
                      <a:endParaRPr lang="en-US" sz="1100" b="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9638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CO1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53975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/>
                          <a:ea typeface="Calibri"/>
                          <a:cs typeface="Calibri"/>
                        </a:rPr>
                        <a:t>Quote the basic fundamental concepts of lasers, optical </a:t>
                      </a:r>
                      <a:r>
                        <a:rPr lang="en-US" sz="1100" dirty="0" err="1">
                          <a:effectLst/>
                          <a:latin typeface="Calibri"/>
                          <a:ea typeface="Calibri"/>
                          <a:cs typeface="Calibri"/>
                        </a:rPr>
                        <a:t>fibres</a:t>
                      </a:r>
                      <a:r>
                        <a:rPr lang="en-US" sz="1100" dirty="0">
                          <a:effectLst/>
                          <a:latin typeface="Calibri"/>
                          <a:ea typeface="Calibri"/>
                          <a:cs typeface="Calibri"/>
                        </a:rPr>
                        <a:t>, crystallography, ultrasonic oscillations, semiconductor physics, quantum mechanics and nanotechnology.</a:t>
                      </a:r>
                      <a:endParaRPr lang="en-US" sz="11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Remember, Understand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 </a:t>
                      </a:r>
                      <a:endParaRPr lang="en-US" sz="1200" b="0" dirty="0">
                        <a:solidFill>
                          <a:schemeClr val="tx1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6699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CO2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53975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/>
                          <a:ea typeface="Calibri"/>
                          <a:cs typeface="Calibri"/>
                        </a:rPr>
                        <a:t>Demonstrate the working of various lasers, </a:t>
                      </a:r>
                      <a:r>
                        <a:rPr lang="en-US" sz="1100" dirty="0" err="1">
                          <a:effectLst/>
                          <a:latin typeface="Calibri"/>
                          <a:ea typeface="Calibri"/>
                          <a:cs typeface="Calibri"/>
                        </a:rPr>
                        <a:t>fibre</a:t>
                      </a:r>
                      <a:r>
                        <a:rPr lang="en-US" sz="1100" dirty="0">
                          <a:effectLst/>
                          <a:latin typeface="Calibri"/>
                          <a:ea typeface="Calibri"/>
                          <a:cs typeface="Calibri"/>
                        </a:rPr>
                        <a:t> components, semiconductor devices; explain the </a:t>
                      </a:r>
                      <a:r>
                        <a:rPr lang="en-US" sz="1100" dirty="0" err="1">
                          <a:effectLst/>
                          <a:latin typeface="Calibri"/>
                          <a:ea typeface="Calibri"/>
                          <a:cs typeface="Calibri"/>
                        </a:rPr>
                        <a:t>behaviour</a:t>
                      </a:r>
                      <a:r>
                        <a:rPr lang="en-US" sz="1100" dirty="0">
                          <a:effectLst/>
                          <a:latin typeface="Calibri"/>
                          <a:ea typeface="Calibri"/>
                          <a:cs typeface="Calibri"/>
                        </a:rPr>
                        <a:t> of crystalline solids, quantum and </a:t>
                      </a:r>
                      <a:r>
                        <a:rPr lang="en-US" sz="1100" dirty="0" err="1">
                          <a:effectLst/>
                          <a:latin typeface="Calibri"/>
                          <a:ea typeface="Calibri"/>
                          <a:cs typeface="Calibri"/>
                        </a:rPr>
                        <a:t>nano</a:t>
                      </a:r>
                      <a:r>
                        <a:rPr lang="en-US" sz="1100" dirty="0">
                          <a:effectLst/>
                          <a:latin typeface="Calibri"/>
                          <a:ea typeface="Calibri"/>
                          <a:cs typeface="Calibri"/>
                        </a:rPr>
                        <a:t>-scale systems.</a:t>
                      </a:r>
                      <a:endParaRPr lang="en-US" sz="11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Understand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9638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CO3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53975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/>
                          <a:ea typeface="Calibri"/>
                          <a:cs typeface="Calibri"/>
                        </a:rPr>
                        <a:t>Solve problems by applying principles related to lasers, </a:t>
                      </a:r>
                      <a:r>
                        <a:rPr lang="en-US" sz="1100" dirty="0" err="1">
                          <a:effectLst/>
                          <a:latin typeface="Calibri"/>
                          <a:ea typeface="Calibri"/>
                          <a:cs typeface="Calibri"/>
                        </a:rPr>
                        <a:t>fibres</a:t>
                      </a:r>
                      <a:r>
                        <a:rPr lang="en-US" sz="1100" dirty="0">
                          <a:effectLst/>
                          <a:latin typeface="Calibri"/>
                          <a:ea typeface="Calibri"/>
                          <a:cs typeface="Calibri"/>
                        </a:rPr>
                        <a:t>, semiconductors, oscillations, quantum and </a:t>
                      </a:r>
                      <a:r>
                        <a:rPr lang="en-US" sz="1100" dirty="0" err="1">
                          <a:effectLst/>
                          <a:latin typeface="Calibri"/>
                          <a:ea typeface="Calibri"/>
                          <a:cs typeface="Calibri"/>
                        </a:rPr>
                        <a:t>nanoscience</a:t>
                      </a:r>
                      <a:r>
                        <a:rPr lang="en-US" sz="1100" dirty="0">
                          <a:effectLst/>
                          <a:latin typeface="Calibri"/>
                          <a:ea typeface="Calibri"/>
                          <a:cs typeface="Calibri"/>
                        </a:rPr>
                        <a:t>.</a:t>
                      </a:r>
                      <a:endParaRPr lang="en-US" sz="11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Applying 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79638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CO4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53975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/>
                          <a:ea typeface="Calibri"/>
                          <a:cs typeface="Calibri"/>
                        </a:rPr>
                        <a:t>Compare various lasers and </a:t>
                      </a:r>
                      <a:r>
                        <a:rPr lang="en-US" sz="1100" dirty="0" err="1">
                          <a:effectLst/>
                          <a:latin typeface="Calibri"/>
                          <a:ea typeface="Calibri"/>
                          <a:cs typeface="Calibri"/>
                        </a:rPr>
                        <a:t>fibres</a:t>
                      </a:r>
                      <a:r>
                        <a:rPr lang="en-US" sz="1100" dirty="0">
                          <a:effectLst/>
                          <a:latin typeface="Calibri"/>
                          <a:ea typeface="Calibri"/>
                          <a:cs typeface="Calibri"/>
                        </a:rPr>
                        <a:t>, semiconducting devices, crystalline materials, structures at quantum and </a:t>
                      </a:r>
                      <a:r>
                        <a:rPr lang="en-US" sz="1100" dirty="0" err="1">
                          <a:effectLst/>
                          <a:latin typeface="Calibri"/>
                          <a:ea typeface="Calibri"/>
                          <a:cs typeface="Calibri"/>
                        </a:rPr>
                        <a:t>nanoscale</a:t>
                      </a:r>
                      <a:r>
                        <a:rPr lang="en-US" sz="1100" dirty="0">
                          <a:effectLst/>
                          <a:latin typeface="Calibri"/>
                          <a:ea typeface="Calibri"/>
                          <a:cs typeface="Calibri"/>
                        </a:rPr>
                        <a:t> on the basis of their properties for industrial applications.</a:t>
                      </a:r>
                      <a:endParaRPr lang="en-US" sz="11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Analyze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87612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CO5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53975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/>
                          <a:ea typeface="Calibri"/>
                          <a:cs typeface="Calibri"/>
                        </a:rPr>
                        <a:t>Develop various systems using lasers, </a:t>
                      </a:r>
                      <a:r>
                        <a:rPr lang="en-US" sz="1100" dirty="0" err="1">
                          <a:effectLst/>
                          <a:latin typeface="Calibri"/>
                          <a:ea typeface="Calibri"/>
                          <a:cs typeface="Calibri"/>
                        </a:rPr>
                        <a:t>fibres</a:t>
                      </a:r>
                      <a:r>
                        <a:rPr lang="en-US" sz="1100" dirty="0">
                          <a:effectLst/>
                          <a:latin typeface="Calibri"/>
                          <a:ea typeface="Calibri"/>
                          <a:cs typeface="Calibri"/>
                        </a:rPr>
                        <a:t>, semiconductors and </a:t>
                      </a:r>
                      <a:r>
                        <a:rPr lang="en-US" sz="1100" dirty="0" err="1">
                          <a:effectLst/>
                          <a:latin typeface="Calibri"/>
                          <a:ea typeface="Calibri"/>
                          <a:cs typeface="Calibri"/>
                        </a:rPr>
                        <a:t>nanomaterials</a:t>
                      </a:r>
                      <a:r>
                        <a:rPr lang="en-US" sz="1100" dirty="0">
                          <a:effectLst/>
                          <a:latin typeface="Calibri"/>
                          <a:ea typeface="Calibri"/>
                          <a:cs typeface="Calibri"/>
                        </a:rPr>
                        <a:t> for futuristic applications.</a:t>
                      </a:r>
                      <a:endParaRPr lang="en-US" sz="11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dirty="0">
                          <a:effectLst/>
                          <a:latin typeface="+mn-lt"/>
                        </a:rPr>
                        <a:t>Design</a:t>
                      </a:r>
                      <a:r>
                        <a:rPr lang="en-US" sz="1200" b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 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017351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4</a:t>
            </a:fld>
            <a:endParaRPr lang="en-US"/>
          </a:p>
        </p:txBody>
      </p:sp>
      <p:pic>
        <p:nvPicPr>
          <p:cNvPr id="41986" name="Picture 2"/>
          <p:cNvPicPr>
            <a:picLocks noChangeAspect="1" noChangeArrowheads="1"/>
          </p:cNvPicPr>
          <p:nvPr/>
        </p:nvPicPr>
        <p:blipFill>
          <a:blip r:embed="rId2"/>
          <a:srcRect r="1770" b="11010"/>
          <a:stretch>
            <a:fillRect/>
          </a:stretch>
        </p:blipFill>
        <p:spPr bwMode="auto">
          <a:xfrm>
            <a:off x="744583" y="1645918"/>
            <a:ext cx="10084526" cy="48463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Rectangle 4"/>
          <p:cNvSpPr/>
          <p:nvPr/>
        </p:nvSpPr>
        <p:spPr>
          <a:xfrm>
            <a:off x="838200" y="360361"/>
            <a:ext cx="10515600" cy="1263651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1867989" y="666207"/>
            <a:ext cx="872758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/>
              <a:t>HISTORY OF POWDER METHOD</a:t>
            </a:r>
            <a:endParaRPr lang="en-IN" sz="4400" dirty="0"/>
          </a:p>
        </p:txBody>
      </p:sp>
      <p:sp>
        <p:nvSpPr>
          <p:cNvPr id="7" name="TextBox 6"/>
          <p:cNvSpPr txBox="1"/>
          <p:nvPr/>
        </p:nvSpPr>
        <p:spPr>
          <a:xfrm>
            <a:off x="6101256" y="6428096"/>
            <a:ext cx="35314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Fig. 2 Instrument [2]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5</a:t>
            </a:fld>
            <a:endParaRPr lang="en-US"/>
          </a:p>
        </p:txBody>
      </p:sp>
      <p:pic>
        <p:nvPicPr>
          <p:cNvPr id="4301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97281" y="1214846"/>
            <a:ext cx="9914708" cy="52382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Rectangle 3"/>
          <p:cNvSpPr/>
          <p:nvPr/>
        </p:nvSpPr>
        <p:spPr>
          <a:xfrm>
            <a:off x="838200" y="156754"/>
            <a:ext cx="10515600" cy="1018904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2364377" y="352698"/>
            <a:ext cx="705426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/>
              <a:t>ORIGINAL POWDER SETUPS</a:t>
            </a:r>
            <a:endParaRPr lang="en-IN" sz="4400" dirty="0"/>
          </a:p>
        </p:txBody>
      </p:sp>
      <p:sp>
        <p:nvSpPr>
          <p:cNvPr id="6" name="TextBox 5"/>
          <p:cNvSpPr txBox="1"/>
          <p:nvPr/>
        </p:nvSpPr>
        <p:spPr>
          <a:xfrm>
            <a:off x="6101256" y="6428096"/>
            <a:ext cx="35314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Fig. 3 Instrument [2]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6</a:t>
            </a:fld>
            <a:endParaRPr lang="en-US"/>
          </a:p>
        </p:txBody>
      </p:sp>
      <p:pic>
        <p:nvPicPr>
          <p:cNvPr id="44034" name="Picture 2"/>
          <p:cNvPicPr>
            <a:picLocks noChangeAspect="1" noChangeArrowheads="1"/>
          </p:cNvPicPr>
          <p:nvPr/>
        </p:nvPicPr>
        <p:blipFill>
          <a:blip r:embed="rId2"/>
          <a:srcRect r="6341" b="6480"/>
          <a:stretch>
            <a:fillRect/>
          </a:stretch>
        </p:blipFill>
        <p:spPr bwMode="auto">
          <a:xfrm>
            <a:off x="339635" y="1384662"/>
            <a:ext cx="10646228" cy="46503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Rectangle 3"/>
          <p:cNvSpPr/>
          <p:nvPr/>
        </p:nvSpPr>
        <p:spPr>
          <a:xfrm>
            <a:off x="838200" y="360361"/>
            <a:ext cx="10515600" cy="736919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2730137" y="404949"/>
            <a:ext cx="654449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/>
              <a:t>MODERN POWDER SETUPS</a:t>
            </a:r>
            <a:endParaRPr lang="en-IN" sz="4400" dirty="0"/>
          </a:p>
        </p:txBody>
      </p:sp>
      <p:sp>
        <p:nvSpPr>
          <p:cNvPr id="6" name="TextBox 5"/>
          <p:cNvSpPr txBox="1"/>
          <p:nvPr/>
        </p:nvSpPr>
        <p:spPr>
          <a:xfrm>
            <a:off x="6101256" y="6428096"/>
            <a:ext cx="35314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Fig. 4 Instrument [2]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84800" y="1028700"/>
            <a:ext cx="5778500" cy="4873625"/>
          </a:xfrm>
        </p:spPr>
        <p:txBody>
          <a:bodyPr>
            <a:normAutofit/>
          </a:bodyPr>
          <a:lstStyle/>
          <a:p>
            <a:endParaRPr lang="en-US" sz="2400" dirty="0">
              <a:latin typeface="Casper" panose="02000506000000020004" pitchFamily="2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sz="2400" dirty="0">
              <a:latin typeface="Casper" panose="02000506000000020004" pitchFamily="2" charset="0"/>
              <a:cs typeface="Arial" panose="020B0604020202020204" pitchFamily="34" charset="0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96389" y="3357154"/>
            <a:ext cx="4275635" cy="2978331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1800" dirty="0"/>
              <a:t>Powder diffraction is a scientific technique using X-ray, neutron, or electron diffraction on powder or microcrystalline samples for structural characterization of materials. An instrument dedicated to performing such powder measurements is called a powder diffractometer.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839200" y="6356350"/>
            <a:ext cx="2743200" cy="365125"/>
          </a:xfrm>
        </p:spPr>
        <p:txBody>
          <a:bodyPr/>
          <a:lstStyle/>
          <a:p>
            <a:fld id="{BDCDBBEF-AA6C-4BA6-85B2-A17D7F280E38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8" name="Title 7"/>
          <p:cNvSpPr txBox="1">
            <a:spLocks noGrp="1" noChangeArrowheads="1"/>
          </p:cNvSpPr>
          <p:nvPr>
            <p:ph type="title"/>
          </p:nvPr>
        </p:nvSpPr>
        <p:spPr bwMode="auto">
          <a:xfrm>
            <a:off x="449262" y="1125068"/>
            <a:ext cx="4456567" cy="25299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algn="ctr"/>
            <a:r>
              <a:rPr lang="en-US" sz="4400" dirty="0">
                <a:latin typeface="+mn-lt"/>
                <a:ea typeface="Karla" pitchFamily="2" charset="0"/>
                <a:cs typeface="Karla" pitchFamily="2" charset="0"/>
              </a:rPr>
              <a:t>POWDER DIFFRACTION METHOD</a:t>
            </a:r>
            <a:br>
              <a:rPr lang="en-US" sz="4400" dirty="0">
                <a:latin typeface="+mn-lt"/>
                <a:ea typeface="Karla" pitchFamily="2" charset="0"/>
                <a:cs typeface="Karla" pitchFamily="2" charset="0"/>
              </a:rPr>
            </a:br>
            <a:endParaRPr lang="en-US" sz="4400" dirty="0">
              <a:latin typeface="+mn-lt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5295900" y="838200"/>
            <a:ext cx="5867400" cy="551815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449262" y="3187337"/>
            <a:ext cx="4322762" cy="316901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11217276" y="6324600"/>
            <a:ext cx="444500" cy="42227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BE3E8F8-23EC-4D42-891A-E4F8A964E3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1430" y="1207810"/>
            <a:ext cx="5605239" cy="4778929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7302431" y="6457832"/>
            <a:ext cx="221143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Fig. 5 Introduction [3]</a:t>
            </a:r>
          </a:p>
        </p:txBody>
      </p:sp>
    </p:spTree>
    <p:extLst>
      <p:ext uri="{BB962C8B-B14F-4D97-AF65-F5344CB8AC3E}">
        <p14:creationId xmlns:p14="http://schemas.microsoft.com/office/powerpoint/2010/main" val="6938015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0361"/>
            <a:ext cx="10515600" cy="1279527"/>
          </a:xfrm>
        </p:spPr>
        <p:txBody>
          <a:bodyPr>
            <a:normAutofit/>
          </a:bodyPr>
          <a:lstStyle/>
          <a:p>
            <a:pPr algn="ctr"/>
            <a:r>
              <a:rPr lang="en-US" dirty="0">
                <a:latin typeface="+mn-lt"/>
                <a:cs typeface="Arial" panose="020B0604020202020204" pitchFamily="34" charset="0"/>
              </a:rPr>
              <a:t>PROCESS </a:t>
            </a:r>
            <a:r>
              <a:rPr lang="en-US" dirty="0">
                <a:latin typeface="+mn-lt"/>
              </a:rPr>
              <a:t> 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>
              <a:lnSpc>
                <a:spcPct val="160000"/>
              </a:lnSpc>
            </a:pPr>
            <a:r>
              <a:rPr lang="en-US" sz="2900" dirty="0"/>
              <a:t>A is a source of X- rays. These X-rays are generated by a cathode ray tube.</a:t>
            </a:r>
          </a:p>
          <a:p>
            <a:pPr>
              <a:lnSpc>
                <a:spcPct val="160000"/>
              </a:lnSpc>
            </a:pPr>
            <a:r>
              <a:rPr lang="en-US" sz="2900" dirty="0"/>
              <a:t> X-rays are filtered by monochromator to produce monochromatic radiation. It help to choose the correct wavelength.</a:t>
            </a:r>
          </a:p>
          <a:p>
            <a:pPr>
              <a:lnSpc>
                <a:spcPct val="160000"/>
              </a:lnSpc>
            </a:pPr>
            <a:r>
              <a:rPr lang="en-US" sz="2900" dirty="0"/>
              <a:t>Slits (S</a:t>
            </a:r>
            <a:r>
              <a:rPr lang="en-US" sz="2900" baseline="-25000" dirty="0"/>
              <a:t>1</a:t>
            </a:r>
            <a:r>
              <a:rPr lang="en-US" sz="2900" dirty="0"/>
              <a:t> and S</a:t>
            </a:r>
            <a:r>
              <a:rPr lang="en-US" sz="2900" baseline="-25000" dirty="0"/>
              <a:t>2</a:t>
            </a:r>
            <a:r>
              <a:rPr lang="en-US" sz="2900" dirty="0"/>
              <a:t>) are used to adjust the shape of the beam, collimate to concentrate and direct the X-rays beam toward the sample so that the powdered specimen (P) get a narrow pencil of X-rays. </a:t>
            </a:r>
          </a:p>
          <a:p>
            <a:pPr>
              <a:lnSpc>
                <a:spcPct val="160000"/>
              </a:lnSpc>
            </a:pPr>
            <a:r>
              <a:rPr lang="en-US" sz="2900" dirty="0"/>
              <a:t>Fine powder is struck on a hair by means of gum. It is suspended vertically in the axis of a cylindrical camera. This enables sharp lines to be obtained on the photographic film which is surrounding the powder crystal in the form of a circular arc. </a:t>
            </a:r>
          </a:p>
          <a:p>
            <a:endParaRPr lang="en-US" sz="1600" dirty="0">
              <a:latin typeface="Casper" panose="02000506000000020004" pitchFamily="2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838200" y="1803400"/>
            <a:ext cx="10515600" cy="436880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838200" y="360361"/>
            <a:ext cx="10515600" cy="1263651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37023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0361"/>
            <a:ext cx="10515600" cy="1279527"/>
          </a:xfrm>
        </p:spPr>
        <p:txBody>
          <a:bodyPr>
            <a:normAutofit/>
          </a:bodyPr>
          <a:lstStyle/>
          <a:p>
            <a:pPr algn="ctr"/>
            <a:r>
              <a:rPr lang="en-US" dirty="0">
                <a:latin typeface="+mn-lt"/>
                <a:cs typeface="Arial" panose="020B0604020202020204" pitchFamily="34" charset="0"/>
              </a:rPr>
              <a:t>PROCESS </a:t>
            </a:r>
            <a:r>
              <a:rPr lang="en-US" dirty="0">
                <a:latin typeface="+mn-lt"/>
              </a:rPr>
              <a:t> 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lnSpc>
                <a:spcPct val="150000"/>
              </a:lnSpc>
            </a:pPr>
            <a:r>
              <a:rPr lang="en-US" dirty="0"/>
              <a:t> </a:t>
            </a:r>
            <a:r>
              <a:rPr lang="en-US" sz="2200" dirty="0"/>
              <a:t>The X-rays after falling on the powder passes out of the camera through a cut in the film so as to   minimize the fogging produced by the scattering of the direct beam.</a:t>
            </a:r>
          </a:p>
          <a:p>
            <a:pPr>
              <a:lnSpc>
                <a:spcPct val="150000"/>
              </a:lnSpc>
            </a:pPr>
            <a:r>
              <a:rPr lang="en-US" sz="2200" dirty="0"/>
              <a:t> When the geometry of the incident X-rays impinging the sample satisfies the Bragg Equation, constructive interference occurs and the intensity of the reflected X-rays is recorded by a detector. </a:t>
            </a:r>
          </a:p>
          <a:p>
            <a:pPr>
              <a:lnSpc>
                <a:spcPct val="150000"/>
              </a:lnSpc>
            </a:pPr>
            <a:r>
              <a:rPr lang="en-US" sz="2200" dirty="0"/>
              <a:t>The detector also processes this X-ray signal and convert it into a count rate, which is then output to a device such as a printer or computer monitor. </a:t>
            </a:r>
          </a:p>
          <a:p>
            <a:pPr>
              <a:lnSpc>
                <a:spcPct val="150000"/>
              </a:lnSpc>
            </a:pPr>
            <a:r>
              <a:rPr lang="en-US" sz="2200" dirty="0"/>
              <a:t>In a more complicated apparatus, also a goniometer can be used for fine adjustment of the sample and the detector positions. </a:t>
            </a:r>
          </a:p>
          <a:p>
            <a:pPr>
              <a:lnSpc>
                <a:spcPct val="150000"/>
              </a:lnSpc>
            </a:pPr>
            <a:endParaRPr lang="en-US" sz="2200" dirty="0">
              <a:latin typeface="Casper" panose="02000506000000020004" pitchFamily="2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838200" y="1803400"/>
            <a:ext cx="10515600" cy="436880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838200" y="360361"/>
            <a:ext cx="10515600" cy="1263651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87166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057B99-4145-4D9E-B938-A69DFE0A9E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10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7083064-8DEB-4D7A-B595-3B92B5DDFF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7375" y="1227909"/>
            <a:ext cx="8309499" cy="5128441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838200" y="182881"/>
            <a:ext cx="10515600" cy="82296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1018904" y="235131"/>
            <a:ext cx="1014632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/>
              <a:t>SCHEMATIC OF X-RAY DIFFRACTOMETER</a:t>
            </a:r>
            <a:endParaRPr lang="en-IN" sz="4400" dirty="0"/>
          </a:p>
        </p:txBody>
      </p:sp>
      <p:sp>
        <p:nvSpPr>
          <p:cNvPr id="2" name="Rectangle 1"/>
          <p:cNvSpPr/>
          <p:nvPr/>
        </p:nvSpPr>
        <p:spPr>
          <a:xfrm>
            <a:off x="4298301" y="6363214"/>
            <a:ext cx="243194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Fig. </a:t>
            </a:r>
            <a:r>
              <a:rPr lang="en-US"/>
              <a:t>6 Diffractometer</a:t>
            </a:r>
            <a:r>
              <a:rPr lang="en-US" dirty="0"/>
              <a:t>[1]</a:t>
            </a:r>
          </a:p>
        </p:txBody>
      </p:sp>
    </p:spTree>
    <p:extLst>
      <p:ext uri="{BB962C8B-B14F-4D97-AF65-F5344CB8AC3E}">
        <p14:creationId xmlns:p14="http://schemas.microsoft.com/office/powerpoint/2010/main" val="38478290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0361"/>
            <a:ext cx="10515600" cy="1279527"/>
          </a:xfrm>
        </p:spPr>
        <p:txBody>
          <a:bodyPr>
            <a:normAutofit/>
          </a:bodyPr>
          <a:lstStyle/>
          <a:p>
            <a:pPr algn="ctr"/>
            <a:r>
              <a:rPr lang="en-US" dirty="0">
                <a:latin typeface="+mn-lt"/>
                <a:cs typeface="Arial" panose="020B0604020202020204" pitchFamily="34" charset="0"/>
              </a:rPr>
              <a:t>OBTAINING DATA</a:t>
            </a:r>
            <a:r>
              <a:rPr lang="en-US" dirty="0">
                <a:latin typeface="+mn-lt"/>
              </a:rPr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210000"/>
              </a:lnSpc>
            </a:pPr>
            <a:r>
              <a:rPr lang="en-US" sz="1800" dirty="0"/>
              <a:t>The crystal structure can be obtained from the arrangement of the traces and their relative intensities. </a:t>
            </a:r>
          </a:p>
          <a:p>
            <a:pPr>
              <a:lnSpc>
                <a:spcPct val="210000"/>
              </a:lnSpc>
            </a:pPr>
            <a:r>
              <a:rPr lang="en-US" sz="1800" dirty="0"/>
              <a:t>A diffraction pattern plots intensity against the angle of the detector, 2θ. The result obtained is called diffractogram.</a:t>
            </a:r>
          </a:p>
          <a:p>
            <a:pPr>
              <a:lnSpc>
                <a:spcPct val="210000"/>
              </a:lnSpc>
            </a:pPr>
            <a:r>
              <a:rPr lang="en-US" sz="1800" dirty="0"/>
              <a:t> In a diffraction pattern, the peak position depends upon the wavelength. </a:t>
            </a:r>
          </a:p>
          <a:p>
            <a:pPr>
              <a:lnSpc>
                <a:spcPct val="210000"/>
              </a:lnSpc>
            </a:pPr>
            <a:r>
              <a:rPr lang="en-US" sz="1800" dirty="0"/>
              <a:t> Absolute intensity (number of X-rays observed in an given peak) may vary by instrumental and experimental parameters</a:t>
            </a:r>
            <a:r>
              <a:rPr lang="en-US" dirty="0"/>
              <a:t>. </a:t>
            </a:r>
            <a:endParaRPr lang="en-US" sz="1600" dirty="0">
              <a:latin typeface="Casper" panose="02000506000000020004" pitchFamily="2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838200" y="1803400"/>
            <a:ext cx="10515600" cy="436880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838200" y="360361"/>
            <a:ext cx="10515600" cy="1263651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67704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0361"/>
            <a:ext cx="10515600" cy="1279527"/>
          </a:xfrm>
        </p:spPr>
        <p:txBody>
          <a:bodyPr>
            <a:normAutofit/>
          </a:bodyPr>
          <a:lstStyle/>
          <a:p>
            <a:pPr algn="ctr"/>
            <a:r>
              <a:rPr lang="en-US" dirty="0">
                <a:latin typeface="+mn-lt"/>
                <a:cs typeface="Arial" panose="020B0604020202020204" pitchFamily="34" charset="0"/>
              </a:rPr>
              <a:t>APPLICATIONS AND LIMITATIONS </a:t>
            </a:r>
            <a:r>
              <a:rPr lang="en-US" dirty="0">
                <a:latin typeface="+mn-lt"/>
              </a:rPr>
              <a:t> 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3830593"/>
          </a:xfrm>
        </p:spPr>
        <p:txBody>
          <a:bodyPr>
            <a:noAutofit/>
          </a:bodyPr>
          <a:lstStyle/>
          <a:p>
            <a:pPr marL="0" indent="0">
              <a:lnSpc>
                <a:spcPct val="200000"/>
              </a:lnSpc>
              <a:buNone/>
            </a:pPr>
            <a:r>
              <a:rPr lang="en-US" sz="1800" dirty="0"/>
              <a:t>Applications</a:t>
            </a:r>
          </a:p>
          <a:p>
            <a:pPr marL="0" indent="0">
              <a:lnSpc>
                <a:spcPct val="200000"/>
              </a:lnSpc>
              <a:buNone/>
            </a:pPr>
            <a:r>
              <a:rPr lang="en-US" sz="1800" dirty="0"/>
              <a:t>1. X-ray powder diffraction is most widely used for the identification of unknown crystalline materials (e.g. minerals, inorganic compounds).</a:t>
            </a:r>
          </a:p>
          <a:p>
            <a:pPr marL="0" indent="0">
              <a:lnSpc>
                <a:spcPct val="200000"/>
              </a:lnSpc>
              <a:buNone/>
            </a:pPr>
            <a:r>
              <a:rPr lang="en-US" sz="1800" dirty="0"/>
              <a:t> 2. Determination of unknown solids is critical to studies in geology, environmental science, material science, engineering and biology.</a:t>
            </a:r>
            <a:endParaRPr lang="en-US" sz="1800" dirty="0">
              <a:latin typeface="Casper" panose="02000506000000020004" pitchFamily="2" charset="0"/>
              <a:cs typeface="Arial" panose="020B0604020202020204" pitchFamily="34" charset="0"/>
            </a:endParaRPr>
          </a:p>
          <a:p>
            <a:pPr marL="0" indent="0">
              <a:lnSpc>
                <a:spcPct val="200000"/>
              </a:lnSpc>
              <a:buNone/>
            </a:pPr>
            <a:r>
              <a:rPr lang="en-US" sz="1800" dirty="0"/>
              <a:t>Limitation:-</a:t>
            </a:r>
          </a:p>
          <a:p>
            <a:pPr marL="0" indent="0">
              <a:lnSpc>
                <a:spcPct val="200000"/>
              </a:lnSpc>
              <a:buNone/>
            </a:pPr>
            <a:r>
              <a:rPr lang="en-US" sz="1800" dirty="0"/>
              <a:t>1. Crystal structure determination from powder diffraction data is extremely challenging due to the overlap of reflections in a powder experiment.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838200" y="1803399"/>
            <a:ext cx="10515600" cy="4884783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838200" y="360361"/>
            <a:ext cx="10515600" cy="1263651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59711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84800" y="1028700"/>
            <a:ext cx="5778500" cy="4873625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2400" dirty="0">
              <a:latin typeface="Casper" panose="02000506000000020004" pitchFamily="2" charset="0"/>
              <a:cs typeface="Arial" panose="020B0604020202020204" pitchFamily="34" charset="0"/>
            </a:endParaRPr>
          </a:p>
          <a:p>
            <a:endParaRPr lang="en-US" sz="2400" dirty="0">
              <a:latin typeface="Casper" panose="02000506000000020004" pitchFamily="2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sz="2400" dirty="0">
              <a:latin typeface="Casper" panose="02000506000000020004" pitchFamily="2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839200" y="6356350"/>
            <a:ext cx="2743200" cy="365125"/>
          </a:xfrm>
        </p:spPr>
        <p:txBody>
          <a:bodyPr/>
          <a:lstStyle/>
          <a:p>
            <a:fld id="{BDCDBBEF-AA6C-4BA6-85B2-A17D7F280E38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8" name="Title 7"/>
          <p:cNvSpPr txBox="1">
            <a:spLocks noGrp="1" noChangeArrowheads="1"/>
          </p:cNvSpPr>
          <p:nvPr>
            <p:ph type="title"/>
          </p:nvPr>
        </p:nvSpPr>
        <p:spPr bwMode="auto">
          <a:xfrm>
            <a:off x="449262" y="2676262"/>
            <a:ext cx="4456567" cy="5909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algn="ctr"/>
            <a:br>
              <a:rPr lang="en-US" sz="2000" b="1" dirty="0">
                <a:latin typeface="Karla" pitchFamily="2" charset="0"/>
                <a:ea typeface="Karla" pitchFamily="2" charset="0"/>
                <a:cs typeface="Karla" pitchFamily="2" charset="0"/>
              </a:rPr>
            </a:br>
            <a:endParaRPr lang="en-US" sz="1600" dirty="0">
              <a:latin typeface="Raleway ExtraBold" pitchFamily="34" charset="-52"/>
            </a:endParaRPr>
          </a:p>
        </p:txBody>
      </p:sp>
      <p:sp>
        <p:nvSpPr>
          <p:cNvPr id="10" name="Oval 9"/>
          <p:cNvSpPr/>
          <p:nvPr/>
        </p:nvSpPr>
        <p:spPr>
          <a:xfrm>
            <a:off x="11217276" y="6324600"/>
            <a:ext cx="444500" cy="42227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2763359" y="607465"/>
            <a:ext cx="4685642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b="1" dirty="0">
                <a:latin typeface="Casper Bold"/>
              </a:rPr>
              <a:t>            </a:t>
            </a:r>
            <a:r>
              <a:rPr lang="en-US" sz="4400" dirty="0"/>
              <a:t>SUMMARY 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38200" y="360362"/>
            <a:ext cx="10515600" cy="947934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/>
          <p:cNvSpPr/>
          <p:nvPr/>
        </p:nvSpPr>
        <p:spPr>
          <a:xfrm>
            <a:off x="838200" y="1406769"/>
            <a:ext cx="10530073" cy="47089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just">
              <a:lnSpc>
                <a:spcPct val="250000"/>
              </a:lnSpc>
              <a:buFont typeface="Wingdings" pitchFamily="2" charset="2"/>
              <a:buChar char="v"/>
            </a:pPr>
            <a:r>
              <a:rPr lang="en-US" sz="2400" dirty="0">
                <a:solidFill>
                  <a:srgbClr val="FF0000"/>
                </a:solidFill>
              </a:rPr>
              <a:t>Introduction to Powder Method</a:t>
            </a:r>
          </a:p>
          <a:p>
            <a:pPr marL="457200" indent="-457200" algn="just">
              <a:lnSpc>
                <a:spcPct val="250000"/>
              </a:lnSpc>
              <a:buFont typeface="Wingdings" pitchFamily="2" charset="2"/>
              <a:buChar char="v"/>
            </a:pPr>
            <a:r>
              <a:rPr lang="en-US" sz="2400" dirty="0">
                <a:solidFill>
                  <a:srgbClr val="00B0F0"/>
                </a:solidFill>
              </a:rPr>
              <a:t>Working of Powder Method</a:t>
            </a:r>
          </a:p>
          <a:p>
            <a:pPr marL="342900" indent="-342900" algn="just">
              <a:lnSpc>
                <a:spcPct val="250000"/>
              </a:lnSpc>
              <a:buFont typeface="Wingdings" pitchFamily="2" charset="2"/>
              <a:buChar char="v"/>
            </a:pPr>
            <a:r>
              <a:rPr lang="en-US" sz="2400" dirty="0">
                <a:solidFill>
                  <a:srgbClr val="00B0F0"/>
                </a:solidFill>
              </a:rPr>
              <a:t> </a:t>
            </a:r>
            <a:r>
              <a:rPr lang="en-US" sz="2400" dirty="0">
                <a:solidFill>
                  <a:srgbClr val="FF0000"/>
                </a:solidFill>
              </a:rPr>
              <a:t>Advantages and Disadvantages</a:t>
            </a:r>
          </a:p>
          <a:p>
            <a:pPr marL="342900" indent="-342900" algn="just">
              <a:lnSpc>
                <a:spcPct val="250000"/>
              </a:lnSpc>
              <a:buFont typeface="Wingdings" pitchFamily="2" charset="2"/>
              <a:buChar char="v"/>
            </a:pPr>
            <a:r>
              <a:rPr lang="en-US" sz="2400" dirty="0">
                <a:solidFill>
                  <a:srgbClr val="FF0000"/>
                </a:solidFill>
              </a:rPr>
              <a:t>Application</a:t>
            </a:r>
          </a:p>
          <a:p>
            <a:pPr marL="342900" indent="-342900" algn="just">
              <a:lnSpc>
                <a:spcPct val="250000"/>
              </a:lnSpc>
            </a:pPr>
            <a:endParaRPr lang="en-US" sz="2400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818389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84800" y="1028700"/>
            <a:ext cx="5778500" cy="4873625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2400" dirty="0">
              <a:latin typeface="Casper" panose="02000506000000020004" pitchFamily="2" charset="0"/>
              <a:cs typeface="Arial" panose="020B0604020202020204" pitchFamily="34" charset="0"/>
            </a:endParaRPr>
          </a:p>
          <a:p>
            <a:endParaRPr lang="en-US" sz="2400" dirty="0">
              <a:latin typeface="Casper" panose="02000506000000020004" pitchFamily="2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sz="2400" dirty="0">
              <a:latin typeface="Casper" panose="02000506000000020004" pitchFamily="2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839200" y="6356350"/>
            <a:ext cx="2743200" cy="365125"/>
          </a:xfrm>
        </p:spPr>
        <p:txBody>
          <a:bodyPr/>
          <a:lstStyle/>
          <a:p>
            <a:fld id="{BDCDBBEF-AA6C-4BA6-85B2-A17D7F280E38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10" name="Oval 9"/>
          <p:cNvSpPr/>
          <p:nvPr/>
        </p:nvSpPr>
        <p:spPr>
          <a:xfrm>
            <a:off x="11217276" y="6324600"/>
            <a:ext cx="444500" cy="42227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4329707" y="607465"/>
            <a:ext cx="3203858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400" dirty="0">
                <a:cs typeface="Times New Roman" pitchFamily="18" charset="0"/>
              </a:rPr>
              <a:t>FAQS</a:t>
            </a:r>
            <a:endParaRPr lang="en-US" sz="4400" dirty="0"/>
          </a:p>
        </p:txBody>
      </p:sp>
      <p:sp>
        <p:nvSpPr>
          <p:cNvPr id="11" name="Rectangle 10"/>
          <p:cNvSpPr/>
          <p:nvPr/>
        </p:nvSpPr>
        <p:spPr>
          <a:xfrm>
            <a:off x="838200" y="360361"/>
            <a:ext cx="10515600" cy="1263651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/>
          <p:cNvSpPr/>
          <p:nvPr/>
        </p:nvSpPr>
        <p:spPr>
          <a:xfrm>
            <a:off x="838200" y="2041309"/>
            <a:ext cx="10515600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Wingdings" pitchFamily="2" charset="2"/>
              <a:buChar char="v"/>
            </a:pPr>
            <a:r>
              <a:rPr lang="en-US" sz="2400" b="1" dirty="0"/>
              <a:t>What is difference between Powder and Laue method?</a:t>
            </a:r>
          </a:p>
          <a:p>
            <a:pPr marL="457200" indent="-457200">
              <a:lnSpc>
                <a:spcPct val="150000"/>
              </a:lnSpc>
              <a:buFont typeface="Wingdings" pitchFamily="2" charset="2"/>
              <a:buChar char="v"/>
            </a:pPr>
            <a:r>
              <a:rPr lang="en-US" sz="2400" b="1" dirty="0"/>
              <a:t>What is X-ray?</a:t>
            </a:r>
          </a:p>
          <a:p>
            <a:pPr marL="457200" indent="-457200">
              <a:lnSpc>
                <a:spcPct val="150000"/>
              </a:lnSpc>
              <a:buFont typeface="Wingdings" pitchFamily="2" charset="2"/>
              <a:buChar char="v"/>
            </a:pPr>
            <a:r>
              <a:rPr lang="en-US" sz="2400" b="1" dirty="0"/>
              <a:t>Why powder method is more beneficial than Laue method?</a:t>
            </a:r>
          </a:p>
          <a:p>
            <a:pPr marL="457200" indent="-457200">
              <a:lnSpc>
                <a:spcPct val="150000"/>
              </a:lnSpc>
              <a:buFont typeface="Wingdings" pitchFamily="2" charset="2"/>
              <a:buChar char="v"/>
            </a:pPr>
            <a:r>
              <a:rPr lang="en-US" sz="2400" b="1" dirty="0"/>
              <a:t>List advantages and disadvantages of Laue Method</a:t>
            </a:r>
          </a:p>
          <a:p>
            <a:pPr marL="457200" indent="-457200">
              <a:lnSpc>
                <a:spcPct val="150000"/>
              </a:lnSpc>
              <a:buFont typeface="Wingdings" pitchFamily="2" charset="2"/>
              <a:buChar char="v"/>
            </a:pPr>
            <a:r>
              <a:rPr lang="en-US" sz="2400" b="1" dirty="0"/>
              <a:t>What is the significance of Bragg’s law?</a:t>
            </a:r>
          </a:p>
          <a:p>
            <a:pPr marL="457200" indent="-457200">
              <a:lnSpc>
                <a:spcPct val="150000"/>
              </a:lnSpc>
              <a:buFont typeface="Wingdings" pitchFamily="2" charset="2"/>
              <a:buChar char="v"/>
            </a:pPr>
            <a:r>
              <a:rPr lang="en-US" sz="2400" b="1" dirty="0"/>
              <a:t>What is inverse piezoelectric method?</a:t>
            </a:r>
          </a:p>
          <a:p>
            <a:pPr marL="457200" indent="-457200">
              <a:lnSpc>
                <a:spcPct val="150000"/>
              </a:lnSpc>
              <a:buFont typeface="Wingdings" pitchFamily="2" charset="2"/>
              <a:buChar char="v"/>
            </a:pPr>
            <a:r>
              <a:rPr lang="en-US" sz="2400" b="1" dirty="0"/>
              <a:t>Draw plane of (100)</a:t>
            </a:r>
          </a:p>
          <a:p>
            <a:pPr>
              <a:buFont typeface="Wingdings" pitchFamily="2" charset="2"/>
              <a:buChar char="Ø"/>
            </a:pP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71840904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0361"/>
            <a:ext cx="10515600" cy="1279527"/>
          </a:xfrm>
        </p:spPr>
        <p:txBody>
          <a:bodyPr/>
          <a:lstStyle/>
          <a:p>
            <a:pPr algn="ctr"/>
            <a:r>
              <a:rPr lang="en-US" dirty="0">
                <a:latin typeface="Casper Bold" panose="02000806040000020004" pitchFamily="2" charset="0"/>
                <a:cs typeface="Arial" panose="020B0604020202020204" pitchFamily="34" charset="0"/>
              </a:rPr>
              <a:t>REFERENCES </a:t>
            </a:r>
            <a:r>
              <a:rPr lang="en-US" sz="2800" dirty="0"/>
              <a:t>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58983"/>
            <a:ext cx="10515600" cy="4833258"/>
          </a:xfrm>
        </p:spPr>
        <p:txBody>
          <a:bodyPr>
            <a:normAutofit fontScale="70000" lnSpcReduction="20000"/>
          </a:bodyPr>
          <a:lstStyle/>
          <a:p>
            <a:pPr>
              <a:buNone/>
            </a:pPr>
            <a:endParaRPr lang="en-US" sz="1600" dirty="0">
              <a:latin typeface="Casper" panose="02000506000000020004" pitchFamily="2" charset="0"/>
              <a:cs typeface="Arial" panose="020B0604020202020204" pitchFamily="34" charset="0"/>
            </a:endParaRPr>
          </a:p>
          <a:p>
            <a:pPr lvl="0">
              <a:buNone/>
            </a:pPr>
            <a:r>
              <a:rPr lang="en-US" sz="1600" dirty="0"/>
              <a:t>Reference Website</a:t>
            </a:r>
          </a:p>
          <a:p>
            <a:pPr lvl="0">
              <a:lnSpc>
                <a:spcPct val="150000"/>
              </a:lnSpc>
              <a:buNone/>
            </a:pPr>
            <a:r>
              <a:rPr lang="en-IN" sz="1800" dirty="0"/>
              <a:t>[1] https://www.spec2000.net/00-login-1.htm</a:t>
            </a:r>
          </a:p>
          <a:p>
            <a:pPr lvl="0">
              <a:lnSpc>
                <a:spcPct val="150000"/>
              </a:lnSpc>
              <a:buNone/>
            </a:pPr>
            <a:r>
              <a:rPr lang="en-IN" sz="1800" dirty="0"/>
              <a:t>[2] https://slidetodoc.com/introduction-to-powder-x-ray-diffraction-18-th/</a:t>
            </a:r>
          </a:p>
          <a:p>
            <a:pPr lvl="0">
              <a:lnSpc>
                <a:spcPct val="150000"/>
              </a:lnSpc>
              <a:buNone/>
            </a:pPr>
            <a:r>
              <a:rPr lang="en-IN" sz="1800" dirty="0"/>
              <a:t>[3] https://physics.stackexchange.com/questions/193802/x-ray-diffraction-on-thin-film</a:t>
            </a:r>
          </a:p>
          <a:p>
            <a:pPr lvl="0">
              <a:lnSpc>
                <a:spcPct val="150000"/>
              </a:lnSpc>
              <a:buNone/>
            </a:pPr>
            <a:r>
              <a:rPr lang="en-IN" sz="1800" dirty="0"/>
              <a:t>[4] https://serc.carleton.edu/research_education/geochemsheets/techniques/XRD.html</a:t>
            </a:r>
            <a:endParaRPr lang="en-US" sz="1800" dirty="0"/>
          </a:p>
          <a:p>
            <a:pPr lvl="0">
              <a:lnSpc>
                <a:spcPct val="150000"/>
              </a:lnSpc>
              <a:buNone/>
            </a:pPr>
            <a:r>
              <a:rPr lang="en-IN" sz="1800" dirty="0"/>
              <a:t> [5]]file:///C:/Users/admin/Desktop/PowderMethodsHandout.pdf</a:t>
            </a:r>
          </a:p>
          <a:p>
            <a:pPr lvl="0">
              <a:lnSpc>
                <a:spcPct val="150000"/>
              </a:lnSpc>
              <a:buNone/>
            </a:pPr>
            <a:r>
              <a:rPr lang="en-IN" sz="1800" dirty="0"/>
              <a:t>[6] http://prism.mit.edu/xray/Basics%20of%20X-Ray%20Powder%20Diffraction.pdf</a:t>
            </a:r>
          </a:p>
          <a:p>
            <a:pPr lvl="0">
              <a:lnSpc>
                <a:spcPct val="150000"/>
              </a:lnSpc>
              <a:buNone/>
            </a:pPr>
            <a:r>
              <a:rPr lang="en-IN" sz="1800" dirty="0"/>
              <a:t>[7] </a:t>
            </a:r>
            <a:r>
              <a:rPr lang="en-US" sz="1800" dirty="0"/>
              <a:t> </a:t>
            </a:r>
            <a:r>
              <a:rPr lang="en-IN" sz="1800" dirty="0"/>
              <a:t>https://en.wikipedia.org/wiki/Powder_diffraction</a:t>
            </a:r>
          </a:p>
          <a:p>
            <a:pPr lvl="0">
              <a:lnSpc>
                <a:spcPct val="150000"/>
              </a:lnSpc>
              <a:buNone/>
            </a:pPr>
            <a:r>
              <a:rPr lang="en-US" sz="1800" dirty="0"/>
              <a:t>[8] </a:t>
            </a:r>
            <a:r>
              <a:rPr lang="en-IN" sz="1800" dirty="0"/>
              <a:t>file:///C:/Users/admin/Downloads/crystals-07-00142.pdf</a:t>
            </a:r>
          </a:p>
          <a:p>
            <a:pPr lvl="0">
              <a:lnSpc>
                <a:spcPct val="150000"/>
              </a:lnSpc>
              <a:buNone/>
            </a:pPr>
            <a:r>
              <a:rPr lang="en-US" sz="1800" dirty="0"/>
              <a:t>[9] </a:t>
            </a:r>
            <a:r>
              <a:rPr lang="en-IN" sz="1800" dirty="0"/>
              <a:t>http://ww1.iucr.org/iucr-top/comm/cteach/pamphlets/2/node8.html</a:t>
            </a:r>
          </a:p>
          <a:p>
            <a:pPr lvl="0">
              <a:lnSpc>
                <a:spcPct val="150000"/>
              </a:lnSpc>
              <a:buNone/>
            </a:pPr>
            <a:r>
              <a:rPr lang="en-US" sz="1800" dirty="0"/>
              <a:t>[10] </a:t>
            </a:r>
            <a:r>
              <a:rPr lang="en-IN" sz="1800" dirty="0"/>
              <a:t>https://www.youtube.com/watch?v=rImvmfjl2-E</a:t>
            </a:r>
          </a:p>
          <a:p>
            <a:pPr lvl="0">
              <a:lnSpc>
                <a:spcPct val="150000"/>
              </a:lnSpc>
              <a:buNone/>
            </a:pPr>
            <a:r>
              <a:rPr lang="en-US" sz="1800" dirty="0"/>
              <a:t>[11] </a:t>
            </a:r>
            <a:r>
              <a:rPr lang="en-IN" sz="1800" dirty="0"/>
              <a:t>https://www.youtube.com/watch?v=ieYucsUlBqo</a:t>
            </a:r>
          </a:p>
          <a:p>
            <a:pPr lvl="0">
              <a:lnSpc>
                <a:spcPct val="150000"/>
              </a:lnSpc>
              <a:buNone/>
            </a:pPr>
            <a:endParaRPr lang="en-US" sz="1800" dirty="0"/>
          </a:p>
          <a:p>
            <a:pPr>
              <a:lnSpc>
                <a:spcPct val="150000"/>
              </a:lnSpc>
            </a:pPr>
            <a:endParaRPr lang="en-US" sz="1800" dirty="0">
              <a:latin typeface="Casper" panose="02000506000000020004" pitchFamily="2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590006" y="1802674"/>
            <a:ext cx="10515600" cy="484632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838200" y="360361"/>
            <a:ext cx="10515600" cy="1263651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191842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2C813A83-4CF3-4942-8C24-169E11C40466}"/>
              </a:ext>
            </a:extLst>
          </p:cNvPr>
          <p:cNvSpPr/>
          <p:nvPr/>
        </p:nvSpPr>
        <p:spPr>
          <a:xfrm>
            <a:off x="0" y="0"/>
            <a:ext cx="12192000" cy="4686918"/>
          </a:xfrm>
          <a:prstGeom prst="rect">
            <a:avLst/>
          </a:prstGeom>
          <a:solidFill>
            <a:schemeClr val="accent6">
              <a:lumMod val="50000"/>
              <a:alpha val="6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/>
              </a:rPr>
              <a:t> 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8C6F3F28-25A8-4E20-83C7-12F88E7C28D0}"/>
              </a:ext>
            </a:extLst>
          </p:cNvPr>
          <p:cNvCxnSpPr>
            <a:cxnSpLocks/>
          </p:cNvCxnSpPr>
          <p:nvPr/>
        </p:nvCxnSpPr>
        <p:spPr>
          <a:xfrm>
            <a:off x="9347200" y="0"/>
            <a:ext cx="1828800" cy="182880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8E1879BF-80CB-413D-9BC1-C05963A116D7}"/>
              </a:ext>
            </a:extLst>
          </p:cNvPr>
          <p:cNvCxnSpPr>
            <a:cxnSpLocks/>
          </p:cNvCxnSpPr>
          <p:nvPr/>
        </p:nvCxnSpPr>
        <p:spPr>
          <a:xfrm>
            <a:off x="10169128" y="0"/>
            <a:ext cx="663972" cy="663972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D354CBC-26FA-4C5C-B91C-AD6F2AE53BC2}"/>
              </a:ext>
            </a:extLst>
          </p:cNvPr>
          <p:cNvCxnSpPr>
            <a:cxnSpLocks/>
          </p:cNvCxnSpPr>
          <p:nvPr/>
        </p:nvCxnSpPr>
        <p:spPr>
          <a:xfrm>
            <a:off x="733426" y="6294597"/>
            <a:ext cx="558345" cy="558345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B6F6E02B-7F30-40ED-9667-2C98864546BE}"/>
              </a:ext>
            </a:extLst>
          </p:cNvPr>
          <p:cNvCxnSpPr>
            <a:cxnSpLocks/>
          </p:cNvCxnSpPr>
          <p:nvPr/>
        </p:nvCxnSpPr>
        <p:spPr>
          <a:xfrm>
            <a:off x="390526" y="5129689"/>
            <a:ext cx="1728311" cy="1728311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itle 1"/>
          <p:cNvSpPr txBox="1">
            <a:spLocks/>
          </p:cNvSpPr>
          <p:nvPr/>
        </p:nvSpPr>
        <p:spPr>
          <a:xfrm>
            <a:off x="1485902" y="2249080"/>
            <a:ext cx="10725148" cy="1231106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sper" panose="02000506000000020004" pitchFamily="2" charset="0"/>
                <a:ea typeface="Segoe UI" panose="020B0502040204020203" pitchFamily="34" charset="0"/>
                <a:cs typeface="Segoe UI" panose="020B0502040204020203" pitchFamily="34" charset="0"/>
              </a:rPr>
              <a:t>THANK YOU</a:t>
            </a:r>
          </a:p>
        </p:txBody>
      </p:sp>
      <p:sp>
        <p:nvSpPr>
          <p:cNvPr id="22" name="Diamond 6">
            <a:extLst>
              <a:ext uri="{FF2B5EF4-FFF2-40B4-BE49-F238E27FC236}">
                <a16:creationId xmlns:a16="http://schemas.microsoft.com/office/drawing/2014/main" id="{AFBA4B1A-59E0-42F9-8062-FE9B4E00A99F}"/>
              </a:ext>
            </a:extLst>
          </p:cNvPr>
          <p:cNvSpPr/>
          <p:nvPr/>
        </p:nvSpPr>
        <p:spPr>
          <a:xfrm>
            <a:off x="2641599" y="1214279"/>
            <a:ext cx="2430463" cy="3225800"/>
          </a:xfrm>
          <a:custGeom>
            <a:avLst/>
            <a:gdLst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3225800 w 3225800"/>
              <a:gd name="connsiteY2" fmla="*/ 1612900 h 3225800"/>
              <a:gd name="connsiteX3" fmla="*/ 1612900 w 3225800"/>
              <a:gd name="connsiteY3" fmla="*/ 3225800 h 3225800"/>
              <a:gd name="connsiteX4" fmla="*/ 0 w 3225800"/>
              <a:gd name="connsiteY4" fmla="*/ 1612900 h 3225800"/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2430463 w 3225800"/>
              <a:gd name="connsiteY2" fmla="*/ 817563 h 3225800"/>
              <a:gd name="connsiteX3" fmla="*/ 3225800 w 3225800"/>
              <a:gd name="connsiteY3" fmla="*/ 1612900 h 3225800"/>
              <a:gd name="connsiteX4" fmla="*/ 1612900 w 3225800"/>
              <a:gd name="connsiteY4" fmla="*/ 3225800 h 3225800"/>
              <a:gd name="connsiteX5" fmla="*/ 0 w 3225800"/>
              <a:gd name="connsiteY5" fmla="*/ 1612900 h 3225800"/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2430463 w 3225800"/>
              <a:gd name="connsiteY2" fmla="*/ 817563 h 3225800"/>
              <a:gd name="connsiteX3" fmla="*/ 3225800 w 3225800"/>
              <a:gd name="connsiteY3" fmla="*/ 1612900 h 3225800"/>
              <a:gd name="connsiteX4" fmla="*/ 2430463 w 3225800"/>
              <a:gd name="connsiteY4" fmla="*/ 2413000 h 3225800"/>
              <a:gd name="connsiteX5" fmla="*/ 1612900 w 3225800"/>
              <a:gd name="connsiteY5" fmla="*/ 3225800 h 3225800"/>
              <a:gd name="connsiteX6" fmla="*/ 0 w 3225800"/>
              <a:gd name="connsiteY6" fmla="*/ 1612900 h 3225800"/>
              <a:gd name="connsiteX0" fmla="*/ 3225800 w 3317240"/>
              <a:gd name="connsiteY0" fmla="*/ 1612900 h 3225800"/>
              <a:gd name="connsiteX1" fmla="*/ 2430463 w 3317240"/>
              <a:gd name="connsiteY1" fmla="*/ 2413000 h 3225800"/>
              <a:gd name="connsiteX2" fmla="*/ 1612900 w 3317240"/>
              <a:gd name="connsiteY2" fmla="*/ 3225800 h 3225800"/>
              <a:gd name="connsiteX3" fmla="*/ 0 w 3317240"/>
              <a:gd name="connsiteY3" fmla="*/ 1612900 h 3225800"/>
              <a:gd name="connsiteX4" fmla="*/ 1612900 w 3317240"/>
              <a:gd name="connsiteY4" fmla="*/ 0 h 3225800"/>
              <a:gd name="connsiteX5" fmla="*/ 2430463 w 3317240"/>
              <a:gd name="connsiteY5" fmla="*/ 817563 h 3225800"/>
              <a:gd name="connsiteX6" fmla="*/ 3317240 w 3317240"/>
              <a:gd name="connsiteY6" fmla="*/ 1704340 h 3225800"/>
              <a:gd name="connsiteX0" fmla="*/ 2430463 w 3317240"/>
              <a:gd name="connsiteY0" fmla="*/ 2413000 h 3225800"/>
              <a:gd name="connsiteX1" fmla="*/ 1612900 w 3317240"/>
              <a:gd name="connsiteY1" fmla="*/ 3225800 h 3225800"/>
              <a:gd name="connsiteX2" fmla="*/ 0 w 3317240"/>
              <a:gd name="connsiteY2" fmla="*/ 1612900 h 3225800"/>
              <a:gd name="connsiteX3" fmla="*/ 1612900 w 3317240"/>
              <a:gd name="connsiteY3" fmla="*/ 0 h 3225800"/>
              <a:gd name="connsiteX4" fmla="*/ 2430463 w 3317240"/>
              <a:gd name="connsiteY4" fmla="*/ 817563 h 3225800"/>
              <a:gd name="connsiteX5" fmla="*/ 3317240 w 3317240"/>
              <a:gd name="connsiteY5" fmla="*/ 1704340 h 3225800"/>
              <a:gd name="connsiteX0" fmla="*/ 2430463 w 2430463"/>
              <a:gd name="connsiteY0" fmla="*/ 2413000 h 3225800"/>
              <a:gd name="connsiteX1" fmla="*/ 1612900 w 2430463"/>
              <a:gd name="connsiteY1" fmla="*/ 3225800 h 3225800"/>
              <a:gd name="connsiteX2" fmla="*/ 0 w 2430463"/>
              <a:gd name="connsiteY2" fmla="*/ 1612900 h 3225800"/>
              <a:gd name="connsiteX3" fmla="*/ 1612900 w 2430463"/>
              <a:gd name="connsiteY3" fmla="*/ 0 h 3225800"/>
              <a:gd name="connsiteX4" fmla="*/ 2430463 w 2430463"/>
              <a:gd name="connsiteY4" fmla="*/ 817563 h 3225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30463" h="3225800">
                <a:moveTo>
                  <a:pt x="2430463" y="2413000"/>
                </a:moveTo>
                <a:lnTo>
                  <a:pt x="1612900" y="3225800"/>
                </a:lnTo>
                <a:lnTo>
                  <a:pt x="0" y="1612900"/>
                </a:lnTo>
                <a:lnTo>
                  <a:pt x="1612900" y="0"/>
                </a:lnTo>
                <a:lnTo>
                  <a:pt x="2430463" y="817563"/>
                </a:lnTo>
              </a:path>
            </a:pathLst>
          </a:custGeom>
          <a:noFill/>
          <a:ln w="381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/>
            </a:endParaRPr>
          </a:p>
        </p:txBody>
      </p:sp>
      <p:sp>
        <p:nvSpPr>
          <p:cNvPr id="23" name="Diamond 6">
            <a:extLst>
              <a:ext uri="{FF2B5EF4-FFF2-40B4-BE49-F238E27FC236}">
                <a16:creationId xmlns:a16="http://schemas.microsoft.com/office/drawing/2014/main" id="{4F0CA98B-3337-4AC3-8305-ED6C9C731FFB}"/>
              </a:ext>
            </a:extLst>
          </p:cNvPr>
          <p:cNvSpPr/>
          <p:nvPr/>
        </p:nvSpPr>
        <p:spPr>
          <a:xfrm>
            <a:off x="2898774" y="1214279"/>
            <a:ext cx="2430463" cy="3225800"/>
          </a:xfrm>
          <a:custGeom>
            <a:avLst/>
            <a:gdLst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3225800 w 3225800"/>
              <a:gd name="connsiteY2" fmla="*/ 1612900 h 3225800"/>
              <a:gd name="connsiteX3" fmla="*/ 1612900 w 3225800"/>
              <a:gd name="connsiteY3" fmla="*/ 3225800 h 3225800"/>
              <a:gd name="connsiteX4" fmla="*/ 0 w 3225800"/>
              <a:gd name="connsiteY4" fmla="*/ 1612900 h 3225800"/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2430463 w 3225800"/>
              <a:gd name="connsiteY2" fmla="*/ 817563 h 3225800"/>
              <a:gd name="connsiteX3" fmla="*/ 3225800 w 3225800"/>
              <a:gd name="connsiteY3" fmla="*/ 1612900 h 3225800"/>
              <a:gd name="connsiteX4" fmla="*/ 1612900 w 3225800"/>
              <a:gd name="connsiteY4" fmla="*/ 3225800 h 3225800"/>
              <a:gd name="connsiteX5" fmla="*/ 0 w 3225800"/>
              <a:gd name="connsiteY5" fmla="*/ 1612900 h 3225800"/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2430463 w 3225800"/>
              <a:gd name="connsiteY2" fmla="*/ 817563 h 3225800"/>
              <a:gd name="connsiteX3" fmla="*/ 3225800 w 3225800"/>
              <a:gd name="connsiteY3" fmla="*/ 1612900 h 3225800"/>
              <a:gd name="connsiteX4" fmla="*/ 2430463 w 3225800"/>
              <a:gd name="connsiteY4" fmla="*/ 2413000 h 3225800"/>
              <a:gd name="connsiteX5" fmla="*/ 1612900 w 3225800"/>
              <a:gd name="connsiteY5" fmla="*/ 3225800 h 3225800"/>
              <a:gd name="connsiteX6" fmla="*/ 0 w 3225800"/>
              <a:gd name="connsiteY6" fmla="*/ 1612900 h 3225800"/>
              <a:gd name="connsiteX0" fmla="*/ 3225800 w 3317240"/>
              <a:gd name="connsiteY0" fmla="*/ 1612900 h 3225800"/>
              <a:gd name="connsiteX1" fmla="*/ 2430463 w 3317240"/>
              <a:gd name="connsiteY1" fmla="*/ 2413000 h 3225800"/>
              <a:gd name="connsiteX2" fmla="*/ 1612900 w 3317240"/>
              <a:gd name="connsiteY2" fmla="*/ 3225800 h 3225800"/>
              <a:gd name="connsiteX3" fmla="*/ 0 w 3317240"/>
              <a:gd name="connsiteY3" fmla="*/ 1612900 h 3225800"/>
              <a:gd name="connsiteX4" fmla="*/ 1612900 w 3317240"/>
              <a:gd name="connsiteY4" fmla="*/ 0 h 3225800"/>
              <a:gd name="connsiteX5" fmla="*/ 2430463 w 3317240"/>
              <a:gd name="connsiteY5" fmla="*/ 817563 h 3225800"/>
              <a:gd name="connsiteX6" fmla="*/ 3317240 w 3317240"/>
              <a:gd name="connsiteY6" fmla="*/ 1704340 h 3225800"/>
              <a:gd name="connsiteX0" fmla="*/ 2430463 w 3317240"/>
              <a:gd name="connsiteY0" fmla="*/ 2413000 h 3225800"/>
              <a:gd name="connsiteX1" fmla="*/ 1612900 w 3317240"/>
              <a:gd name="connsiteY1" fmla="*/ 3225800 h 3225800"/>
              <a:gd name="connsiteX2" fmla="*/ 0 w 3317240"/>
              <a:gd name="connsiteY2" fmla="*/ 1612900 h 3225800"/>
              <a:gd name="connsiteX3" fmla="*/ 1612900 w 3317240"/>
              <a:gd name="connsiteY3" fmla="*/ 0 h 3225800"/>
              <a:gd name="connsiteX4" fmla="*/ 2430463 w 3317240"/>
              <a:gd name="connsiteY4" fmla="*/ 817563 h 3225800"/>
              <a:gd name="connsiteX5" fmla="*/ 3317240 w 3317240"/>
              <a:gd name="connsiteY5" fmla="*/ 1704340 h 3225800"/>
              <a:gd name="connsiteX0" fmla="*/ 2430463 w 2430463"/>
              <a:gd name="connsiteY0" fmla="*/ 2413000 h 3225800"/>
              <a:gd name="connsiteX1" fmla="*/ 1612900 w 2430463"/>
              <a:gd name="connsiteY1" fmla="*/ 3225800 h 3225800"/>
              <a:gd name="connsiteX2" fmla="*/ 0 w 2430463"/>
              <a:gd name="connsiteY2" fmla="*/ 1612900 h 3225800"/>
              <a:gd name="connsiteX3" fmla="*/ 1612900 w 2430463"/>
              <a:gd name="connsiteY3" fmla="*/ 0 h 3225800"/>
              <a:gd name="connsiteX4" fmla="*/ 2430463 w 2430463"/>
              <a:gd name="connsiteY4" fmla="*/ 817563 h 3225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30463" h="3225800">
                <a:moveTo>
                  <a:pt x="2430463" y="2413000"/>
                </a:moveTo>
                <a:lnTo>
                  <a:pt x="1612900" y="3225800"/>
                </a:lnTo>
                <a:lnTo>
                  <a:pt x="0" y="1612900"/>
                </a:lnTo>
                <a:lnTo>
                  <a:pt x="1612900" y="0"/>
                </a:lnTo>
                <a:lnTo>
                  <a:pt x="2430463" y="817563"/>
                </a:lnTo>
              </a:path>
            </a:pathLst>
          </a:custGeom>
          <a:noFill/>
          <a:ln w="38100" cap="flat" cmpd="sng" algn="ctr">
            <a:solidFill>
              <a:sysClr val="window" lastClr="FFFF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/>
            </a:endParaRPr>
          </a:p>
        </p:txBody>
      </p:sp>
      <p:grpSp>
        <p:nvGrpSpPr>
          <p:cNvPr id="29" name="Group 28"/>
          <p:cNvGrpSpPr/>
          <p:nvPr/>
        </p:nvGrpSpPr>
        <p:grpSpPr>
          <a:xfrm>
            <a:off x="237520" y="152400"/>
            <a:ext cx="410563" cy="1612900"/>
            <a:chOff x="83821" y="0"/>
            <a:chExt cx="219636" cy="903079"/>
          </a:xfrm>
        </p:grpSpPr>
        <p:sp>
          <p:nvSpPr>
            <p:cNvPr id="30" name="Rectangle 29"/>
            <p:cNvSpPr/>
            <p:nvPr/>
          </p:nvSpPr>
          <p:spPr>
            <a:xfrm>
              <a:off x="84026" y="0"/>
              <a:ext cx="219431" cy="210952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Rectangle 30"/>
            <p:cNvSpPr/>
            <p:nvPr/>
          </p:nvSpPr>
          <p:spPr>
            <a:xfrm>
              <a:off x="84262" y="408599"/>
              <a:ext cx="219194" cy="494480"/>
            </a:xfrm>
            <a:prstGeom prst="rect">
              <a:avLst/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 31"/>
            <p:cNvSpPr/>
            <p:nvPr/>
          </p:nvSpPr>
          <p:spPr>
            <a:xfrm>
              <a:off x="83821" y="210952"/>
              <a:ext cx="217937" cy="22098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aphicFrame>
          <p:nvGraphicFramePr>
            <p:cNvPr id="33" name="Object 32">
              <a:extLst>
                <a:ext uri="{FF2B5EF4-FFF2-40B4-BE49-F238E27FC236}">
                  <a16:creationId xmlns:a16="http://schemas.microsoft.com/office/drawing/2014/main" id="{CAD0D7B8-E462-453C-B296-CA0154FA54AE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059142145"/>
                </p:ext>
              </p:extLst>
            </p:nvPr>
          </p:nvGraphicFramePr>
          <p:xfrm>
            <a:off x="100420" y="236973"/>
            <a:ext cx="183878" cy="18342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CorelDRAW" r:id="rId2" imgW="2169000" imgH="2169360" progId="">
                    <p:embed/>
                  </p:oleObj>
                </mc:Choice>
                <mc:Fallback>
                  <p:oleObj name="CorelDRAW" r:id="rId2" imgW="2169000" imgH="2169360" progId="">
                    <p:embed/>
                    <p:pic>
                      <p:nvPicPr>
                        <p:cNvPr id="0" name="Picture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0420" y="236973"/>
                          <a:ext cx="183878" cy="18342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" name="Rectangle 1"/>
          <p:cNvSpPr/>
          <p:nvPr/>
        </p:nvSpPr>
        <p:spPr>
          <a:xfrm>
            <a:off x="4114005" y="5394447"/>
            <a:ext cx="2193229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Casper" panose="02000506000000020004" pitchFamily="2" charset="0"/>
                <a:ea typeface="Segoe UI" panose="020B0502040204020203" pitchFamily="34" charset="0"/>
                <a:cs typeface="Segoe UI" panose="020B0502040204020203" pitchFamily="34" charset="0"/>
              </a:rPr>
              <a:t>For queries</a:t>
            </a:r>
          </a:p>
          <a:p>
            <a:r>
              <a:rPr lang="en-US" dirty="0">
                <a:latin typeface="Casper" panose="02000506000000020004" pitchFamily="2" charset="0"/>
                <a:cs typeface="Segoe UI" panose="020B0502040204020203" pitchFamily="34" charset="0"/>
              </a:rPr>
              <a:t>Email: anjana.uis@cumail.in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6501266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ontents Slide Master">
  <a:themeElements>
    <a:clrScheme name="ALLPPT-COLOR-A33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EF4A4A"/>
      </a:accent1>
      <a:accent2>
        <a:srgbClr val="262626"/>
      </a:accent2>
      <a:accent3>
        <a:srgbClr val="EF4A4A"/>
      </a:accent3>
      <a:accent4>
        <a:srgbClr val="262626"/>
      </a:accent4>
      <a:accent5>
        <a:srgbClr val="EF4A4A"/>
      </a:accent5>
      <a:accent6>
        <a:srgbClr val="262626"/>
      </a:accent6>
      <a:hlink>
        <a:srgbClr val="0000FF"/>
      </a:hlink>
      <a:folHlink>
        <a:srgbClr val="800080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smaple</Template>
  <TotalTime>2474</TotalTime>
  <Words>1081</Words>
  <Application>Microsoft Office PowerPoint</Application>
  <PresentationFormat>Widescreen</PresentationFormat>
  <Paragraphs>121</Paragraphs>
  <Slides>16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10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9" baseType="lpstr">
      <vt:lpstr>Arial</vt:lpstr>
      <vt:lpstr>Arial Black</vt:lpstr>
      <vt:lpstr>Calibri</vt:lpstr>
      <vt:lpstr>Calibri Light</vt:lpstr>
      <vt:lpstr>Casper</vt:lpstr>
      <vt:lpstr>Casper Bold</vt:lpstr>
      <vt:lpstr>Karla</vt:lpstr>
      <vt:lpstr>Raleway ExtraBold</vt:lpstr>
      <vt:lpstr>Times New Roman</vt:lpstr>
      <vt:lpstr>Wingdings</vt:lpstr>
      <vt:lpstr>1_Office Theme</vt:lpstr>
      <vt:lpstr>Contents Slide Master</vt:lpstr>
      <vt:lpstr>CorelDRAW</vt:lpstr>
      <vt:lpstr>PowerPoint Presentation</vt:lpstr>
      <vt:lpstr> </vt:lpstr>
      <vt:lpstr>PowerPoint Presentation</vt:lpstr>
      <vt:lpstr>PowerPoint Presentation</vt:lpstr>
      <vt:lpstr>PowerPoint Presentation</vt:lpstr>
      <vt:lpstr>PowerPoint Presentation</vt:lpstr>
      <vt:lpstr>POWDER DIFFRACTION METHOD </vt:lpstr>
      <vt:lpstr>PROCESS   </vt:lpstr>
      <vt:lpstr>PROCESS   </vt:lpstr>
      <vt:lpstr>PowerPoint Presentation</vt:lpstr>
      <vt:lpstr>OBTAINING DATA </vt:lpstr>
      <vt:lpstr>APPLICATIONS AND LIMITATIONS   </vt:lpstr>
      <vt:lpstr> </vt:lpstr>
      <vt:lpstr>PowerPoint Presentation</vt:lpstr>
      <vt:lpstr>REFERENCES 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Branding</dc:creator>
  <cp:lastModifiedBy>Indu Gupta</cp:lastModifiedBy>
  <cp:revision>77</cp:revision>
  <dcterms:created xsi:type="dcterms:W3CDTF">2019-01-09T10:33:58Z</dcterms:created>
  <dcterms:modified xsi:type="dcterms:W3CDTF">2023-06-15T15:20:11Z</dcterms:modified>
</cp:coreProperties>
</file>