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2"/>
  </p:notesMasterIdLst>
  <p:handoutMasterIdLst>
    <p:handoutMasterId r:id="rId33"/>
  </p:handoutMasterIdLst>
  <p:sldIdLst>
    <p:sldId id="277" r:id="rId3"/>
    <p:sldId id="265" r:id="rId4"/>
    <p:sldId id="474" r:id="rId5"/>
    <p:sldId id="259" r:id="rId6"/>
    <p:sldId id="318" r:id="rId7"/>
    <p:sldId id="293" r:id="rId8"/>
    <p:sldId id="261" r:id="rId9"/>
    <p:sldId id="262" r:id="rId10"/>
    <p:sldId id="263" r:id="rId11"/>
    <p:sldId id="310" r:id="rId12"/>
    <p:sldId id="264" r:id="rId13"/>
    <p:sldId id="291" r:id="rId14"/>
    <p:sldId id="266" r:id="rId15"/>
    <p:sldId id="267" r:id="rId16"/>
    <p:sldId id="315" r:id="rId17"/>
    <p:sldId id="308" r:id="rId18"/>
    <p:sldId id="316" r:id="rId19"/>
    <p:sldId id="269" r:id="rId20"/>
    <p:sldId id="270" r:id="rId21"/>
    <p:sldId id="305" r:id="rId22"/>
    <p:sldId id="306" r:id="rId23"/>
    <p:sldId id="307" r:id="rId24"/>
    <p:sldId id="302" r:id="rId25"/>
    <p:sldId id="317" r:id="rId26"/>
    <p:sldId id="284" r:id="rId27"/>
    <p:sldId id="304" r:id="rId28"/>
    <p:sldId id="303" r:id="rId29"/>
    <p:sldId id="475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minder kaur" initials="ak" lastIdx="20" clrIdx="0">
    <p:extLst>
      <p:ext uri="{19B8F6BF-5375-455C-9EA6-DF929625EA0E}">
        <p15:presenceInfo xmlns:p15="http://schemas.microsoft.com/office/powerpoint/2012/main" userId="a22e12bbabfcda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394" autoAdjust="0"/>
  </p:normalViewPr>
  <p:slideViewPr>
    <p:cSldViewPr snapToGrid="0">
      <p:cViewPr varScale="1">
        <p:scale>
          <a:sx n="66" d="100"/>
          <a:sy n="66" d="100"/>
        </p:scale>
        <p:origin x="6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1C9E00-C35F-4852-81DC-62A20454CD5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555F372-BF6E-4D70-B96A-A8F57E387DC4}">
      <dgm:prSet phldrT="[Text]" custT="1"/>
      <dgm:spPr/>
      <dgm:t>
        <a:bodyPr/>
        <a:lstStyle/>
        <a:p>
          <a:pPr algn="ctr"/>
          <a:r>
            <a:rPr lang="en-IN" sz="2400" b="1" dirty="0">
              <a:latin typeface="Casper" panose="02000506000000020004"/>
            </a:rPr>
            <a:t>UNIT -2</a:t>
          </a:r>
          <a:endParaRPr lang="en-IN" sz="2400" dirty="0">
            <a:latin typeface="Casper" panose="02000506000000020004"/>
          </a:endParaRPr>
        </a:p>
        <a:p>
          <a:pPr algn="ctr"/>
          <a:br>
            <a:rPr lang="en-IN" sz="2500" b="1" dirty="0">
              <a:latin typeface="Casper Bold" panose="02000806040000020004"/>
              <a:cs typeface="Arial" panose="020B0604020202020204" pitchFamily="34" charset="0"/>
            </a:rPr>
          </a:br>
          <a:endParaRPr lang="en-IN" sz="2500" dirty="0"/>
        </a:p>
      </dgm:t>
    </dgm:pt>
    <dgm:pt modelId="{87CF7B05-C9EF-4245-8587-08783C85F0D4}" type="parTrans" cxnId="{A72D103D-5B1D-47E8-AA83-427D561C0341}">
      <dgm:prSet/>
      <dgm:spPr/>
      <dgm:t>
        <a:bodyPr/>
        <a:lstStyle/>
        <a:p>
          <a:endParaRPr lang="en-IN"/>
        </a:p>
      </dgm:t>
    </dgm:pt>
    <dgm:pt modelId="{60E1D986-97C4-48A2-9E05-F970597D8BA9}" type="sibTrans" cxnId="{A72D103D-5B1D-47E8-AA83-427D561C0341}">
      <dgm:prSet/>
      <dgm:spPr/>
      <dgm:t>
        <a:bodyPr/>
        <a:lstStyle/>
        <a:p>
          <a:endParaRPr lang="en-IN"/>
        </a:p>
      </dgm:t>
    </dgm:pt>
    <dgm:pt modelId="{A5AFC7F1-8BB0-41D1-813B-609A60DF9870}">
      <dgm:prSet phldrT="[Text]" custT="1"/>
      <dgm:spPr/>
      <dgm:t>
        <a:bodyPr/>
        <a:lstStyle/>
        <a:p>
          <a:pPr algn="ctr"/>
          <a:r>
            <a:rPr lang="en-IN" sz="2400" b="1" dirty="0">
              <a:latin typeface="Casper" panose="02000506000000020004"/>
              <a:cs typeface="Arial" panose="020B0604020202020204" pitchFamily="34" charset="0"/>
            </a:rPr>
            <a:t>CHAPTER 1</a:t>
          </a:r>
        </a:p>
        <a:p>
          <a:pPr algn="ctr"/>
          <a:r>
            <a:rPr lang="en-IN" sz="2400" b="1" dirty="0">
              <a:latin typeface="Casper" panose="02000506000000020004"/>
              <a:cs typeface="Arial" panose="020B0604020202020204" pitchFamily="34" charset="0"/>
            </a:rPr>
            <a:t>CRYSTALLOGRAPHY &amp; ULTRASONICS</a:t>
          </a:r>
          <a:endParaRPr lang="en-IN" sz="2400" dirty="0">
            <a:latin typeface="Casper" panose="02000506000000020004"/>
          </a:endParaRPr>
        </a:p>
      </dgm:t>
    </dgm:pt>
    <dgm:pt modelId="{F7C134EE-B2C0-4130-BA90-CDA40B415D71}" type="parTrans" cxnId="{C5BCE058-81D0-409F-8262-237B13CB9B61}">
      <dgm:prSet/>
      <dgm:spPr/>
      <dgm:t>
        <a:bodyPr/>
        <a:lstStyle/>
        <a:p>
          <a:endParaRPr lang="en-IN"/>
        </a:p>
      </dgm:t>
    </dgm:pt>
    <dgm:pt modelId="{FBD71D7E-440B-4C5E-A033-32AEEFCA543C}" type="sibTrans" cxnId="{C5BCE058-81D0-409F-8262-237B13CB9B61}">
      <dgm:prSet/>
      <dgm:spPr/>
      <dgm:t>
        <a:bodyPr/>
        <a:lstStyle/>
        <a:p>
          <a:endParaRPr lang="en-IN"/>
        </a:p>
      </dgm:t>
    </dgm:pt>
    <dgm:pt modelId="{32F0F454-A9E7-47F9-ADF2-020F37E6AB10}">
      <dgm:prSet phldrT="[Text]" custT="1"/>
      <dgm:spPr/>
      <dgm:t>
        <a:bodyPr/>
        <a:lstStyle/>
        <a:p>
          <a:pPr algn="just"/>
          <a:r>
            <a:rPr lang="en-IN" sz="2000" dirty="0">
              <a:solidFill>
                <a:schemeClr val="bg1"/>
              </a:solidFill>
            </a:rPr>
            <a:t>TOPIC: </a:t>
          </a:r>
          <a:r>
            <a:rPr lang="en-US" sz="2000" dirty="0">
              <a:solidFill>
                <a:schemeClr val="bg1"/>
              </a:solidFill>
            </a:rPr>
            <a:t>Basic terms, types of crystal systems, </a:t>
          </a:r>
          <a:r>
            <a:rPr lang="en-US" sz="2000" dirty="0" err="1">
              <a:solidFill>
                <a:schemeClr val="bg1"/>
              </a:solidFill>
            </a:rPr>
            <a:t>Bravais</a:t>
          </a:r>
          <a:r>
            <a:rPr lang="en-US" sz="2000" dirty="0">
              <a:solidFill>
                <a:schemeClr val="bg1"/>
              </a:solidFill>
            </a:rPr>
            <a:t> lattices</a:t>
          </a:r>
          <a:endParaRPr lang="en-IN" sz="2000" dirty="0">
            <a:solidFill>
              <a:schemeClr val="bg1"/>
            </a:solidFill>
          </a:endParaRPr>
        </a:p>
      </dgm:t>
    </dgm:pt>
    <dgm:pt modelId="{B409CC0C-A15A-4786-9FE9-8EBE4D57E1AB}" type="parTrans" cxnId="{9368DE8C-0351-4ACE-964E-3C5D2BE227C0}">
      <dgm:prSet/>
      <dgm:spPr/>
      <dgm:t>
        <a:bodyPr/>
        <a:lstStyle/>
        <a:p>
          <a:endParaRPr lang="en-IN"/>
        </a:p>
      </dgm:t>
    </dgm:pt>
    <dgm:pt modelId="{243E4063-E6E3-4D9A-89F4-C3F0C1DF317A}" type="sibTrans" cxnId="{9368DE8C-0351-4ACE-964E-3C5D2BE227C0}">
      <dgm:prSet/>
      <dgm:spPr/>
      <dgm:t>
        <a:bodyPr/>
        <a:lstStyle/>
        <a:p>
          <a:endParaRPr lang="en-IN"/>
        </a:p>
      </dgm:t>
    </dgm:pt>
    <dgm:pt modelId="{CBBA9C70-17D2-4EFC-B304-8779191443C8}" type="pres">
      <dgm:prSet presAssocID="{8D1C9E00-C35F-4852-81DC-62A20454CD52}" presName="outerComposite" presStyleCnt="0">
        <dgm:presLayoutVars>
          <dgm:chMax val="5"/>
          <dgm:dir/>
          <dgm:resizeHandles val="exact"/>
        </dgm:presLayoutVars>
      </dgm:prSet>
      <dgm:spPr/>
    </dgm:pt>
    <dgm:pt modelId="{A3562FE8-1956-4904-8AC6-59C167BC5837}" type="pres">
      <dgm:prSet presAssocID="{8D1C9E00-C35F-4852-81DC-62A20454CD52}" presName="dummyMaxCanvas" presStyleCnt="0">
        <dgm:presLayoutVars/>
      </dgm:prSet>
      <dgm:spPr/>
    </dgm:pt>
    <dgm:pt modelId="{6F0B5599-AB67-4D7B-810B-7A3D73FBC18E}" type="pres">
      <dgm:prSet presAssocID="{8D1C9E00-C35F-4852-81DC-62A20454CD52}" presName="ThreeNodes_1" presStyleLbl="node1" presStyleIdx="0" presStyleCnt="3">
        <dgm:presLayoutVars>
          <dgm:bulletEnabled val="1"/>
        </dgm:presLayoutVars>
      </dgm:prSet>
      <dgm:spPr/>
    </dgm:pt>
    <dgm:pt modelId="{1391C7A5-C46A-46EF-B914-27DF644706EC}" type="pres">
      <dgm:prSet presAssocID="{8D1C9E00-C35F-4852-81DC-62A20454CD52}" presName="ThreeNodes_2" presStyleLbl="node1" presStyleIdx="1" presStyleCnt="3">
        <dgm:presLayoutVars>
          <dgm:bulletEnabled val="1"/>
        </dgm:presLayoutVars>
      </dgm:prSet>
      <dgm:spPr/>
    </dgm:pt>
    <dgm:pt modelId="{DF9F8172-1EEF-4814-96D1-8216E1DFE46F}" type="pres">
      <dgm:prSet presAssocID="{8D1C9E00-C35F-4852-81DC-62A20454CD52}" presName="ThreeNodes_3" presStyleLbl="node1" presStyleIdx="2" presStyleCnt="3">
        <dgm:presLayoutVars>
          <dgm:bulletEnabled val="1"/>
        </dgm:presLayoutVars>
      </dgm:prSet>
      <dgm:spPr/>
    </dgm:pt>
    <dgm:pt modelId="{E01B2225-1D38-4B75-AC30-F8B8E757FD86}" type="pres">
      <dgm:prSet presAssocID="{8D1C9E00-C35F-4852-81DC-62A20454CD52}" presName="ThreeConn_1-2" presStyleLbl="fgAccFollowNode1" presStyleIdx="0" presStyleCnt="2">
        <dgm:presLayoutVars>
          <dgm:bulletEnabled val="1"/>
        </dgm:presLayoutVars>
      </dgm:prSet>
      <dgm:spPr/>
    </dgm:pt>
    <dgm:pt modelId="{CE1FCC98-BB05-4596-8BA6-108808B2BF9E}" type="pres">
      <dgm:prSet presAssocID="{8D1C9E00-C35F-4852-81DC-62A20454CD52}" presName="ThreeConn_2-3" presStyleLbl="fgAccFollowNode1" presStyleIdx="1" presStyleCnt="2">
        <dgm:presLayoutVars>
          <dgm:bulletEnabled val="1"/>
        </dgm:presLayoutVars>
      </dgm:prSet>
      <dgm:spPr/>
    </dgm:pt>
    <dgm:pt modelId="{1EBCA9A3-CABD-4CF9-9888-3F4F1A072B0A}" type="pres">
      <dgm:prSet presAssocID="{8D1C9E00-C35F-4852-81DC-62A20454CD52}" presName="ThreeNodes_1_text" presStyleLbl="node1" presStyleIdx="2" presStyleCnt="3">
        <dgm:presLayoutVars>
          <dgm:bulletEnabled val="1"/>
        </dgm:presLayoutVars>
      </dgm:prSet>
      <dgm:spPr/>
    </dgm:pt>
    <dgm:pt modelId="{0CF87D2F-3834-4D7D-A636-8BEC604B80C3}" type="pres">
      <dgm:prSet presAssocID="{8D1C9E00-C35F-4852-81DC-62A20454CD52}" presName="ThreeNodes_2_text" presStyleLbl="node1" presStyleIdx="2" presStyleCnt="3">
        <dgm:presLayoutVars>
          <dgm:bulletEnabled val="1"/>
        </dgm:presLayoutVars>
      </dgm:prSet>
      <dgm:spPr/>
    </dgm:pt>
    <dgm:pt modelId="{78686C5B-42CA-4CAB-8AC3-DAAA18BE2550}" type="pres">
      <dgm:prSet presAssocID="{8D1C9E00-C35F-4852-81DC-62A20454CD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EFE4530-DFBE-4826-BA03-B5C3D49E817E}" type="presOf" srcId="{60E1D986-97C4-48A2-9E05-F970597D8BA9}" destId="{E01B2225-1D38-4B75-AC30-F8B8E757FD86}" srcOrd="0" destOrd="0" presId="urn:microsoft.com/office/officeart/2005/8/layout/vProcess5"/>
    <dgm:cxn modelId="{A72D103D-5B1D-47E8-AA83-427D561C0341}" srcId="{8D1C9E00-C35F-4852-81DC-62A20454CD52}" destId="{3555F372-BF6E-4D70-B96A-A8F57E387DC4}" srcOrd="0" destOrd="0" parTransId="{87CF7B05-C9EF-4245-8587-08783C85F0D4}" sibTransId="{60E1D986-97C4-48A2-9E05-F970597D8BA9}"/>
    <dgm:cxn modelId="{E0690F60-FC06-4F38-9B39-68A9FDC01A37}" type="presOf" srcId="{FBD71D7E-440B-4C5E-A033-32AEEFCA543C}" destId="{CE1FCC98-BB05-4596-8BA6-108808B2BF9E}" srcOrd="0" destOrd="0" presId="urn:microsoft.com/office/officeart/2005/8/layout/vProcess5"/>
    <dgm:cxn modelId="{80590B62-9BB2-4668-A964-9A9843404260}" type="presOf" srcId="{3555F372-BF6E-4D70-B96A-A8F57E387DC4}" destId="{6F0B5599-AB67-4D7B-810B-7A3D73FBC18E}" srcOrd="0" destOrd="0" presId="urn:microsoft.com/office/officeart/2005/8/layout/vProcess5"/>
    <dgm:cxn modelId="{8948D16A-390A-4B35-AB7E-5227692E1039}" type="presOf" srcId="{A5AFC7F1-8BB0-41D1-813B-609A60DF9870}" destId="{0CF87D2F-3834-4D7D-A636-8BEC604B80C3}" srcOrd="1" destOrd="0" presId="urn:microsoft.com/office/officeart/2005/8/layout/vProcess5"/>
    <dgm:cxn modelId="{C5BCE058-81D0-409F-8262-237B13CB9B61}" srcId="{8D1C9E00-C35F-4852-81DC-62A20454CD52}" destId="{A5AFC7F1-8BB0-41D1-813B-609A60DF9870}" srcOrd="1" destOrd="0" parTransId="{F7C134EE-B2C0-4130-BA90-CDA40B415D71}" sibTransId="{FBD71D7E-440B-4C5E-A033-32AEEFCA543C}"/>
    <dgm:cxn modelId="{00156680-DD5D-4115-BB33-B5BB40703751}" type="presOf" srcId="{A5AFC7F1-8BB0-41D1-813B-609A60DF9870}" destId="{1391C7A5-C46A-46EF-B914-27DF644706EC}" srcOrd="0" destOrd="0" presId="urn:microsoft.com/office/officeart/2005/8/layout/vProcess5"/>
    <dgm:cxn modelId="{9368DE8C-0351-4ACE-964E-3C5D2BE227C0}" srcId="{8D1C9E00-C35F-4852-81DC-62A20454CD52}" destId="{32F0F454-A9E7-47F9-ADF2-020F37E6AB10}" srcOrd="2" destOrd="0" parTransId="{B409CC0C-A15A-4786-9FE9-8EBE4D57E1AB}" sibTransId="{243E4063-E6E3-4D9A-89F4-C3F0C1DF317A}"/>
    <dgm:cxn modelId="{975A738F-DDC4-4EBB-BD27-2C08D86ADE8B}" type="presOf" srcId="{3555F372-BF6E-4D70-B96A-A8F57E387DC4}" destId="{1EBCA9A3-CABD-4CF9-9888-3F4F1A072B0A}" srcOrd="1" destOrd="0" presId="urn:microsoft.com/office/officeart/2005/8/layout/vProcess5"/>
    <dgm:cxn modelId="{6D27758F-C5E3-41EE-9B94-47246F6B5075}" type="presOf" srcId="{8D1C9E00-C35F-4852-81DC-62A20454CD52}" destId="{CBBA9C70-17D2-4EFC-B304-8779191443C8}" srcOrd="0" destOrd="0" presId="urn:microsoft.com/office/officeart/2005/8/layout/vProcess5"/>
    <dgm:cxn modelId="{FFAA63EC-AFBB-4A44-8764-ECE64292B7CD}" type="presOf" srcId="{32F0F454-A9E7-47F9-ADF2-020F37E6AB10}" destId="{DF9F8172-1EEF-4814-96D1-8216E1DFE46F}" srcOrd="0" destOrd="0" presId="urn:microsoft.com/office/officeart/2005/8/layout/vProcess5"/>
    <dgm:cxn modelId="{180A55F7-AF82-4A67-BBDE-AE222C167AF4}" type="presOf" srcId="{32F0F454-A9E7-47F9-ADF2-020F37E6AB10}" destId="{78686C5B-42CA-4CAB-8AC3-DAAA18BE2550}" srcOrd="1" destOrd="0" presId="urn:microsoft.com/office/officeart/2005/8/layout/vProcess5"/>
    <dgm:cxn modelId="{322FC717-B10D-4814-AE37-BD62EF6ACD2F}" type="presParOf" srcId="{CBBA9C70-17D2-4EFC-B304-8779191443C8}" destId="{A3562FE8-1956-4904-8AC6-59C167BC5837}" srcOrd="0" destOrd="0" presId="urn:microsoft.com/office/officeart/2005/8/layout/vProcess5"/>
    <dgm:cxn modelId="{309272FF-CA42-4829-A557-150AE4854BDC}" type="presParOf" srcId="{CBBA9C70-17D2-4EFC-B304-8779191443C8}" destId="{6F0B5599-AB67-4D7B-810B-7A3D73FBC18E}" srcOrd="1" destOrd="0" presId="urn:microsoft.com/office/officeart/2005/8/layout/vProcess5"/>
    <dgm:cxn modelId="{F40A3C29-8B85-46A4-A236-B9FA460B0CC4}" type="presParOf" srcId="{CBBA9C70-17D2-4EFC-B304-8779191443C8}" destId="{1391C7A5-C46A-46EF-B914-27DF644706EC}" srcOrd="2" destOrd="0" presId="urn:microsoft.com/office/officeart/2005/8/layout/vProcess5"/>
    <dgm:cxn modelId="{553A314B-734E-45A7-AA34-DF9EE4519373}" type="presParOf" srcId="{CBBA9C70-17D2-4EFC-B304-8779191443C8}" destId="{DF9F8172-1EEF-4814-96D1-8216E1DFE46F}" srcOrd="3" destOrd="0" presId="urn:microsoft.com/office/officeart/2005/8/layout/vProcess5"/>
    <dgm:cxn modelId="{D0B00776-35E5-4F5C-B301-E39E383374D9}" type="presParOf" srcId="{CBBA9C70-17D2-4EFC-B304-8779191443C8}" destId="{E01B2225-1D38-4B75-AC30-F8B8E757FD86}" srcOrd="4" destOrd="0" presId="urn:microsoft.com/office/officeart/2005/8/layout/vProcess5"/>
    <dgm:cxn modelId="{8910FDF8-A658-4BDB-81D1-0531376B258A}" type="presParOf" srcId="{CBBA9C70-17D2-4EFC-B304-8779191443C8}" destId="{CE1FCC98-BB05-4596-8BA6-108808B2BF9E}" srcOrd="5" destOrd="0" presId="urn:microsoft.com/office/officeart/2005/8/layout/vProcess5"/>
    <dgm:cxn modelId="{9AB79A12-90AD-4E2B-A057-D7A592B304D1}" type="presParOf" srcId="{CBBA9C70-17D2-4EFC-B304-8779191443C8}" destId="{1EBCA9A3-CABD-4CF9-9888-3F4F1A072B0A}" srcOrd="6" destOrd="0" presId="urn:microsoft.com/office/officeart/2005/8/layout/vProcess5"/>
    <dgm:cxn modelId="{1B38ED3A-5905-4133-B740-37512D5BEBC8}" type="presParOf" srcId="{CBBA9C70-17D2-4EFC-B304-8779191443C8}" destId="{0CF87D2F-3834-4D7D-A636-8BEC604B80C3}" srcOrd="7" destOrd="0" presId="urn:microsoft.com/office/officeart/2005/8/layout/vProcess5"/>
    <dgm:cxn modelId="{FA48B947-79E5-462C-92E1-D340D8C3E7E1}" type="presParOf" srcId="{CBBA9C70-17D2-4EFC-B304-8779191443C8}" destId="{78686C5B-42CA-4CAB-8AC3-DAAA18BE255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654A98-D1FE-4D52-AC40-FC2940D83D90}" type="doc">
      <dgm:prSet loTypeId="urn:microsoft.com/office/officeart/2005/8/layout/hList7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EB8A354C-F3C7-454B-83E5-47C0AFE4BA9B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learn about crystallography branch and its importance. </a:t>
          </a:r>
        </a:p>
      </dgm:t>
    </dgm:pt>
    <dgm:pt modelId="{855DF5E0-6DD9-47D1-85C1-71E7C93C7938}" type="parTrans" cxnId="{1F8DC843-A980-4671-A488-C56D7E2A0332}">
      <dgm:prSet/>
      <dgm:spPr/>
      <dgm:t>
        <a:bodyPr/>
        <a:lstStyle/>
        <a:p>
          <a:endParaRPr lang="en-IN"/>
        </a:p>
      </dgm:t>
    </dgm:pt>
    <dgm:pt modelId="{50DA53F4-7CD0-42FA-8C47-6937EC0C788A}" type="sibTrans" cxnId="{1F8DC843-A980-4671-A488-C56D7E2A0332}">
      <dgm:prSet/>
      <dgm:spPr/>
      <dgm:t>
        <a:bodyPr/>
        <a:lstStyle/>
        <a:p>
          <a:endParaRPr lang="en-IN"/>
        </a:p>
      </dgm:t>
    </dgm:pt>
    <dgm:pt modelId="{6D978731-264F-4D48-A49B-A558474EE7D8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understand how arrangements effect the properties of materials. </a:t>
          </a:r>
        </a:p>
      </dgm:t>
    </dgm:pt>
    <dgm:pt modelId="{1303F81F-D0B2-40BD-8EE0-E03135E9309A}" type="parTrans" cxnId="{9F5C091B-72EC-40AD-8C58-AB1B32E39C39}">
      <dgm:prSet/>
      <dgm:spPr/>
      <dgm:t>
        <a:bodyPr/>
        <a:lstStyle/>
        <a:p>
          <a:endParaRPr lang="en-IN"/>
        </a:p>
      </dgm:t>
    </dgm:pt>
    <dgm:pt modelId="{E615A6AB-D553-414A-AF92-F290BC3F199A}" type="sibTrans" cxnId="{9F5C091B-72EC-40AD-8C58-AB1B32E39C39}">
      <dgm:prSet/>
      <dgm:spPr/>
      <dgm:t>
        <a:bodyPr/>
        <a:lstStyle/>
        <a:p>
          <a:endParaRPr lang="en-IN"/>
        </a:p>
      </dgm:t>
    </dgm:pt>
    <dgm:pt modelId="{FF9B39E7-F148-497F-8E27-B07B0EA561CD}">
      <dgm:prSet phldrT="[Text]" custT="1"/>
      <dgm:spPr/>
      <dgm:t>
        <a:bodyPr/>
        <a:lstStyle/>
        <a:p>
          <a:pPr algn="ctr"/>
          <a:r>
            <a:rPr lang="en-IN" sz="2400" dirty="0">
              <a:latin typeface="Casper" panose="02000506000000020004"/>
              <a:cs typeface="Times New Roman" panose="02020603050405020304" pitchFamily="18" charset="0"/>
            </a:rPr>
            <a:t>Students will learn basic terms related to crystallography</a:t>
          </a:r>
        </a:p>
      </dgm:t>
    </dgm:pt>
    <dgm:pt modelId="{F606E620-6C7D-4583-BC51-2DA4AAB6BBC6}" type="parTrans" cxnId="{783D770D-A246-4A80-B5AA-3B108B54D3CD}">
      <dgm:prSet/>
      <dgm:spPr/>
      <dgm:t>
        <a:bodyPr/>
        <a:lstStyle/>
        <a:p>
          <a:endParaRPr lang="en-IN"/>
        </a:p>
      </dgm:t>
    </dgm:pt>
    <dgm:pt modelId="{93D5ABFB-C6E8-4E92-BE50-246FE07E8EE5}" type="sibTrans" cxnId="{783D770D-A246-4A80-B5AA-3B108B54D3CD}">
      <dgm:prSet/>
      <dgm:spPr/>
      <dgm:t>
        <a:bodyPr/>
        <a:lstStyle/>
        <a:p>
          <a:endParaRPr lang="en-IN"/>
        </a:p>
      </dgm:t>
    </dgm:pt>
    <dgm:pt modelId="{E28E89FF-891B-4BC0-AF5B-351B44FE9A5A}" type="pres">
      <dgm:prSet presAssocID="{39654A98-D1FE-4D52-AC40-FC2940D83D90}" presName="Name0" presStyleCnt="0">
        <dgm:presLayoutVars>
          <dgm:dir/>
          <dgm:resizeHandles val="exact"/>
        </dgm:presLayoutVars>
      </dgm:prSet>
      <dgm:spPr/>
    </dgm:pt>
    <dgm:pt modelId="{323C8708-EBC8-4346-B9D7-F4F4FED58C31}" type="pres">
      <dgm:prSet presAssocID="{39654A98-D1FE-4D52-AC40-FC2940D83D90}" presName="fgShape" presStyleLbl="fgShp" presStyleIdx="0" presStyleCnt="1"/>
      <dgm:spPr/>
    </dgm:pt>
    <dgm:pt modelId="{068BF970-D871-4BF1-97F3-0BE30617AC82}" type="pres">
      <dgm:prSet presAssocID="{39654A98-D1FE-4D52-AC40-FC2940D83D90}" presName="linComp" presStyleCnt="0"/>
      <dgm:spPr/>
    </dgm:pt>
    <dgm:pt modelId="{E30EBF77-120B-4CD3-A033-94649BE40A66}" type="pres">
      <dgm:prSet presAssocID="{EB8A354C-F3C7-454B-83E5-47C0AFE4BA9B}" presName="compNode" presStyleCnt="0"/>
      <dgm:spPr/>
    </dgm:pt>
    <dgm:pt modelId="{B0625DDC-302A-456C-8B12-57155170D50A}" type="pres">
      <dgm:prSet presAssocID="{EB8A354C-F3C7-454B-83E5-47C0AFE4BA9B}" presName="bkgdShape" presStyleLbl="node1" presStyleIdx="0" presStyleCnt="3"/>
      <dgm:spPr/>
    </dgm:pt>
    <dgm:pt modelId="{AE6D4CE1-C252-41FF-A301-5445162591BD}" type="pres">
      <dgm:prSet presAssocID="{EB8A354C-F3C7-454B-83E5-47C0AFE4BA9B}" presName="nodeTx" presStyleLbl="node1" presStyleIdx="0" presStyleCnt="3">
        <dgm:presLayoutVars>
          <dgm:bulletEnabled val="1"/>
        </dgm:presLayoutVars>
      </dgm:prSet>
      <dgm:spPr/>
    </dgm:pt>
    <dgm:pt modelId="{BE5B8B0C-3C04-4580-B087-168909CA886E}" type="pres">
      <dgm:prSet presAssocID="{EB8A354C-F3C7-454B-83E5-47C0AFE4BA9B}" presName="invisiNode" presStyleLbl="node1" presStyleIdx="0" presStyleCnt="3"/>
      <dgm:spPr/>
    </dgm:pt>
    <dgm:pt modelId="{B103F8D8-76B4-4272-BA94-128B4C2C71A0}" type="pres">
      <dgm:prSet presAssocID="{EB8A354C-F3C7-454B-83E5-47C0AFE4BA9B}" presName="imagNode" presStyleLbl="fgImgPlace1" presStyleIdx="0" presStyleCnt="3" custLinFactNeighborX="-8628" custLinFactNeighborY="-153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485E51A4-F0D1-4786-A30C-7A22C6116916}" type="pres">
      <dgm:prSet presAssocID="{50DA53F4-7CD0-42FA-8C47-6937EC0C788A}" presName="sibTrans" presStyleLbl="sibTrans2D1" presStyleIdx="0" presStyleCnt="0"/>
      <dgm:spPr/>
    </dgm:pt>
    <dgm:pt modelId="{365E3586-FE2C-46EC-A4DB-F75C9DC9BE12}" type="pres">
      <dgm:prSet presAssocID="{6D978731-264F-4D48-A49B-A558474EE7D8}" presName="compNode" presStyleCnt="0"/>
      <dgm:spPr/>
    </dgm:pt>
    <dgm:pt modelId="{59466344-34F2-47FE-BE5B-DE4D2D0D235D}" type="pres">
      <dgm:prSet presAssocID="{6D978731-264F-4D48-A49B-A558474EE7D8}" presName="bkgdShape" presStyleLbl="node1" presStyleIdx="1" presStyleCnt="3" custLinFactNeighborX="-1471"/>
      <dgm:spPr/>
    </dgm:pt>
    <dgm:pt modelId="{266A0E14-40CF-4920-A67F-1CCB058A7470}" type="pres">
      <dgm:prSet presAssocID="{6D978731-264F-4D48-A49B-A558474EE7D8}" presName="nodeTx" presStyleLbl="node1" presStyleIdx="1" presStyleCnt="3">
        <dgm:presLayoutVars>
          <dgm:bulletEnabled val="1"/>
        </dgm:presLayoutVars>
      </dgm:prSet>
      <dgm:spPr/>
    </dgm:pt>
    <dgm:pt modelId="{97682022-119D-48E1-AF8F-5229A0350892}" type="pres">
      <dgm:prSet presAssocID="{6D978731-264F-4D48-A49B-A558474EE7D8}" presName="invisiNode" presStyleLbl="node1" presStyleIdx="1" presStyleCnt="3"/>
      <dgm:spPr/>
    </dgm:pt>
    <dgm:pt modelId="{50C2274F-4F2F-4CCF-A2D0-F4FCD0746BCB}" type="pres">
      <dgm:prSet presAssocID="{6D978731-264F-4D48-A49B-A558474EE7D8}" presName="imagNod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0" r="-80000"/>
          </a:stretch>
        </a:blipFill>
      </dgm:spPr>
    </dgm:pt>
    <dgm:pt modelId="{AB002910-53CC-4237-BE47-F9C520C00106}" type="pres">
      <dgm:prSet presAssocID="{E615A6AB-D553-414A-AF92-F290BC3F199A}" presName="sibTrans" presStyleLbl="sibTrans2D1" presStyleIdx="0" presStyleCnt="0"/>
      <dgm:spPr/>
    </dgm:pt>
    <dgm:pt modelId="{BACE84A8-E6D3-41DC-8EAF-DEDCC00F43B5}" type="pres">
      <dgm:prSet presAssocID="{FF9B39E7-F148-497F-8E27-B07B0EA561CD}" presName="compNode" presStyleCnt="0"/>
      <dgm:spPr/>
    </dgm:pt>
    <dgm:pt modelId="{B2B10F68-512F-4683-BEE4-9F8C729BF5C7}" type="pres">
      <dgm:prSet presAssocID="{FF9B39E7-F148-497F-8E27-B07B0EA561CD}" presName="bkgdShape" presStyleLbl="node1" presStyleIdx="2" presStyleCnt="3"/>
      <dgm:spPr/>
    </dgm:pt>
    <dgm:pt modelId="{70C2D766-8FE4-4831-8DBD-FA88F235FC1A}" type="pres">
      <dgm:prSet presAssocID="{FF9B39E7-F148-497F-8E27-B07B0EA561CD}" presName="nodeTx" presStyleLbl="node1" presStyleIdx="2" presStyleCnt="3">
        <dgm:presLayoutVars>
          <dgm:bulletEnabled val="1"/>
        </dgm:presLayoutVars>
      </dgm:prSet>
      <dgm:spPr/>
    </dgm:pt>
    <dgm:pt modelId="{F1727CDB-073A-47B7-B6A4-49E5643CBEF8}" type="pres">
      <dgm:prSet presAssocID="{FF9B39E7-F148-497F-8E27-B07B0EA561CD}" presName="invisiNode" presStyleLbl="node1" presStyleIdx="2" presStyleCnt="3"/>
      <dgm:spPr/>
    </dgm:pt>
    <dgm:pt modelId="{248B46C9-1690-4475-9D9E-0B3167A7796B}" type="pres">
      <dgm:prSet presAssocID="{FF9B39E7-F148-497F-8E27-B07B0EA561CD}" presName="imagNod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</dgm:pt>
  </dgm:ptLst>
  <dgm:cxnLst>
    <dgm:cxn modelId="{DE73E20C-5717-44E6-992D-C0510FCBD0E6}" type="presOf" srcId="{FF9B39E7-F148-497F-8E27-B07B0EA561CD}" destId="{B2B10F68-512F-4683-BEE4-9F8C729BF5C7}" srcOrd="0" destOrd="0" presId="urn:microsoft.com/office/officeart/2005/8/layout/hList7"/>
    <dgm:cxn modelId="{783D770D-A246-4A80-B5AA-3B108B54D3CD}" srcId="{39654A98-D1FE-4D52-AC40-FC2940D83D90}" destId="{FF9B39E7-F148-497F-8E27-B07B0EA561CD}" srcOrd="2" destOrd="0" parTransId="{F606E620-6C7D-4583-BC51-2DA4AAB6BBC6}" sibTransId="{93D5ABFB-C6E8-4E92-BE50-246FE07E8EE5}"/>
    <dgm:cxn modelId="{E48C9D19-B22D-493F-BFF0-F531F73A9C79}" type="presOf" srcId="{E615A6AB-D553-414A-AF92-F290BC3F199A}" destId="{AB002910-53CC-4237-BE47-F9C520C00106}" srcOrd="0" destOrd="0" presId="urn:microsoft.com/office/officeart/2005/8/layout/hList7"/>
    <dgm:cxn modelId="{9F5C091B-72EC-40AD-8C58-AB1B32E39C39}" srcId="{39654A98-D1FE-4D52-AC40-FC2940D83D90}" destId="{6D978731-264F-4D48-A49B-A558474EE7D8}" srcOrd="1" destOrd="0" parTransId="{1303F81F-D0B2-40BD-8EE0-E03135E9309A}" sibTransId="{E615A6AB-D553-414A-AF92-F290BC3F199A}"/>
    <dgm:cxn modelId="{2BC2482C-E41C-48D8-8EE1-65F2B17BC8D2}" type="presOf" srcId="{EB8A354C-F3C7-454B-83E5-47C0AFE4BA9B}" destId="{B0625DDC-302A-456C-8B12-57155170D50A}" srcOrd="0" destOrd="0" presId="urn:microsoft.com/office/officeart/2005/8/layout/hList7"/>
    <dgm:cxn modelId="{1F8DC843-A980-4671-A488-C56D7E2A0332}" srcId="{39654A98-D1FE-4D52-AC40-FC2940D83D90}" destId="{EB8A354C-F3C7-454B-83E5-47C0AFE4BA9B}" srcOrd="0" destOrd="0" parTransId="{855DF5E0-6DD9-47D1-85C1-71E7C93C7938}" sibTransId="{50DA53F4-7CD0-42FA-8C47-6937EC0C788A}"/>
    <dgm:cxn modelId="{0F815C45-79BD-4C33-A044-990A498C8101}" type="presOf" srcId="{39654A98-D1FE-4D52-AC40-FC2940D83D90}" destId="{E28E89FF-891B-4BC0-AF5B-351B44FE9A5A}" srcOrd="0" destOrd="0" presId="urn:microsoft.com/office/officeart/2005/8/layout/hList7"/>
    <dgm:cxn modelId="{BB57B1A6-C7BF-4B73-9E9A-07A9A7CAD7C7}" type="presOf" srcId="{50DA53F4-7CD0-42FA-8C47-6937EC0C788A}" destId="{485E51A4-F0D1-4786-A30C-7A22C6116916}" srcOrd="0" destOrd="0" presId="urn:microsoft.com/office/officeart/2005/8/layout/hList7"/>
    <dgm:cxn modelId="{E2E5A6A8-7193-4731-AD9C-755A0977BB7C}" type="presOf" srcId="{EB8A354C-F3C7-454B-83E5-47C0AFE4BA9B}" destId="{AE6D4CE1-C252-41FF-A301-5445162591BD}" srcOrd="1" destOrd="0" presId="urn:microsoft.com/office/officeart/2005/8/layout/hList7"/>
    <dgm:cxn modelId="{3BCF00C3-8E60-4591-A85E-900640FA81D7}" type="presOf" srcId="{6D978731-264F-4D48-A49B-A558474EE7D8}" destId="{59466344-34F2-47FE-BE5B-DE4D2D0D235D}" srcOrd="0" destOrd="0" presId="urn:microsoft.com/office/officeart/2005/8/layout/hList7"/>
    <dgm:cxn modelId="{4A4CC3DF-3995-40FC-9BE0-AAE36A37095C}" type="presOf" srcId="{6D978731-264F-4D48-A49B-A558474EE7D8}" destId="{266A0E14-40CF-4920-A67F-1CCB058A7470}" srcOrd="1" destOrd="0" presId="urn:microsoft.com/office/officeart/2005/8/layout/hList7"/>
    <dgm:cxn modelId="{165587EA-BDB9-41E9-BC3E-F451BF8B049C}" type="presOf" srcId="{FF9B39E7-F148-497F-8E27-B07B0EA561CD}" destId="{70C2D766-8FE4-4831-8DBD-FA88F235FC1A}" srcOrd="1" destOrd="0" presId="urn:microsoft.com/office/officeart/2005/8/layout/hList7"/>
    <dgm:cxn modelId="{67477FD3-D294-4FB0-897E-212966FE5875}" type="presParOf" srcId="{E28E89FF-891B-4BC0-AF5B-351B44FE9A5A}" destId="{323C8708-EBC8-4346-B9D7-F4F4FED58C31}" srcOrd="0" destOrd="0" presId="urn:microsoft.com/office/officeart/2005/8/layout/hList7"/>
    <dgm:cxn modelId="{2717FB1C-E02D-4A02-BADB-7257E06315DA}" type="presParOf" srcId="{E28E89FF-891B-4BC0-AF5B-351B44FE9A5A}" destId="{068BF970-D871-4BF1-97F3-0BE30617AC82}" srcOrd="1" destOrd="0" presId="urn:microsoft.com/office/officeart/2005/8/layout/hList7"/>
    <dgm:cxn modelId="{D9D5E752-39CE-406D-969E-4EBFCD065CC4}" type="presParOf" srcId="{068BF970-D871-4BF1-97F3-0BE30617AC82}" destId="{E30EBF77-120B-4CD3-A033-94649BE40A66}" srcOrd="0" destOrd="0" presId="urn:microsoft.com/office/officeart/2005/8/layout/hList7"/>
    <dgm:cxn modelId="{BFD9AA05-3D8B-4B9B-B4C8-4A90041B7CB2}" type="presParOf" srcId="{E30EBF77-120B-4CD3-A033-94649BE40A66}" destId="{B0625DDC-302A-456C-8B12-57155170D50A}" srcOrd="0" destOrd="0" presId="urn:microsoft.com/office/officeart/2005/8/layout/hList7"/>
    <dgm:cxn modelId="{D45F93B7-0BEB-4D39-8248-3E22A17C536C}" type="presParOf" srcId="{E30EBF77-120B-4CD3-A033-94649BE40A66}" destId="{AE6D4CE1-C252-41FF-A301-5445162591BD}" srcOrd="1" destOrd="0" presId="urn:microsoft.com/office/officeart/2005/8/layout/hList7"/>
    <dgm:cxn modelId="{09686947-27E9-467B-8777-D428A6390A48}" type="presParOf" srcId="{E30EBF77-120B-4CD3-A033-94649BE40A66}" destId="{BE5B8B0C-3C04-4580-B087-168909CA886E}" srcOrd="2" destOrd="0" presId="urn:microsoft.com/office/officeart/2005/8/layout/hList7"/>
    <dgm:cxn modelId="{9B3970F4-676F-4283-B9CD-424E6253C12B}" type="presParOf" srcId="{E30EBF77-120B-4CD3-A033-94649BE40A66}" destId="{B103F8D8-76B4-4272-BA94-128B4C2C71A0}" srcOrd="3" destOrd="0" presId="urn:microsoft.com/office/officeart/2005/8/layout/hList7"/>
    <dgm:cxn modelId="{B637A60B-A4A1-40E8-B7D3-FEB757DB510B}" type="presParOf" srcId="{068BF970-D871-4BF1-97F3-0BE30617AC82}" destId="{485E51A4-F0D1-4786-A30C-7A22C6116916}" srcOrd="1" destOrd="0" presId="urn:microsoft.com/office/officeart/2005/8/layout/hList7"/>
    <dgm:cxn modelId="{18AC45AB-E494-42A0-9E99-559E885FFB72}" type="presParOf" srcId="{068BF970-D871-4BF1-97F3-0BE30617AC82}" destId="{365E3586-FE2C-46EC-A4DB-F75C9DC9BE12}" srcOrd="2" destOrd="0" presId="urn:microsoft.com/office/officeart/2005/8/layout/hList7"/>
    <dgm:cxn modelId="{4904A346-4C63-4389-B751-A13629DDAD04}" type="presParOf" srcId="{365E3586-FE2C-46EC-A4DB-F75C9DC9BE12}" destId="{59466344-34F2-47FE-BE5B-DE4D2D0D235D}" srcOrd="0" destOrd="0" presId="urn:microsoft.com/office/officeart/2005/8/layout/hList7"/>
    <dgm:cxn modelId="{9FFE1498-93E0-4D1A-8C89-04DB22675A8A}" type="presParOf" srcId="{365E3586-FE2C-46EC-A4DB-F75C9DC9BE12}" destId="{266A0E14-40CF-4920-A67F-1CCB058A7470}" srcOrd="1" destOrd="0" presId="urn:microsoft.com/office/officeart/2005/8/layout/hList7"/>
    <dgm:cxn modelId="{6C73281C-CAEB-41E8-8E57-15330238A5B2}" type="presParOf" srcId="{365E3586-FE2C-46EC-A4DB-F75C9DC9BE12}" destId="{97682022-119D-48E1-AF8F-5229A0350892}" srcOrd="2" destOrd="0" presId="urn:microsoft.com/office/officeart/2005/8/layout/hList7"/>
    <dgm:cxn modelId="{6AD04249-2B27-4AE2-8D83-4F66EBB2D964}" type="presParOf" srcId="{365E3586-FE2C-46EC-A4DB-F75C9DC9BE12}" destId="{50C2274F-4F2F-4CCF-A2D0-F4FCD0746BCB}" srcOrd="3" destOrd="0" presId="urn:microsoft.com/office/officeart/2005/8/layout/hList7"/>
    <dgm:cxn modelId="{B8A656EE-474D-4474-9DEC-3D6887BACF2F}" type="presParOf" srcId="{068BF970-D871-4BF1-97F3-0BE30617AC82}" destId="{AB002910-53CC-4237-BE47-F9C520C00106}" srcOrd="3" destOrd="0" presId="urn:microsoft.com/office/officeart/2005/8/layout/hList7"/>
    <dgm:cxn modelId="{8FF8CB7C-BF18-4390-9287-78081FB0981C}" type="presParOf" srcId="{068BF970-D871-4BF1-97F3-0BE30617AC82}" destId="{BACE84A8-E6D3-41DC-8EAF-DEDCC00F43B5}" srcOrd="4" destOrd="0" presId="urn:microsoft.com/office/officeart/2005/8/layout/hList7"/>
    <dgm:cxn modelId="{6F05BC51-1074-47C0-ACAF-75C98FCCB673}" type="presParOf" srcId="{BACE84A8-E6D3-41DC-8EAF-DEDCC00F43B5}" destId="{B2B10F68-512F-4683-BEE4-9F8C729BF5C7}" srcOrd="0" destOrd="0" presId="urn:microsoft.com/office/officeart/2005/8/layout/hList7"/>
    <dgm:cxn modelId="{5A61C906-A570-498D-A74D-045EC46A4A64}" type="presParOf" srcId="{BACE84A8-E6D3-41DC-8EAF-DEDCC00F43B5}" destId="{70C2D766-8FE4-4831-8DBD-FA88F235FC1A}" srcOrd="1" destOrd="0" presId="urn:microsoft.com/office/officeart/2005/8/layout/hList7"/>
    <dgm:cxn modelId="{6FCB74B2-4A64-4494-8D1B-F9CACF3143A4}" type="presParOf" srcId="{BACE84A8-E6D3-41DC-8EAF-DEDCC00F43B5}" destId="{F1727CDB-073A-47B7-B6A4-49E5643CBEF8}" srcOrd="2" destOrd="0" presId="urn:microsoft.com/office/officeart/2005/8/layout/hList7"/>
    <dgm:cxn modelId="{F246C2F4-10E7-4635-AFD6-0947843F9FEB}" type="presParOf" srcId="{BACE84A8-E6D3-41DC-8EAF-DEDCC00F43B5}" destId="{248B46C9-1690-4475-9D9E-0B3167A7796B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26BB5F-F98F-4D71-9EF7-38769055A59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B1A8303F-C46F-41C3-A035-7D10280856FF}">
      <dgm:prSet custT="1"/>
      <dgm:spPr/>
      <dgm:t>
        <a:bodyPr/>
        <a:lstStyle/>
        <a:p>
          <a:r>
            <a:rPr lang="en-IN" sz="2400" dirty="0">
              <a:latin typeface="Casper"/>
            </a:rPr>
            <a:t>INTRODUCTION TO CRYSTALLOGRAPHY</a:t>
          </a:r>
        </a:p>
      </dgm:t>
    </dgm:pt>
    <dgm:pt modelId="{14A69381-9515-4890-954C-962FFAB0F488}" type="parTrans" cxnId="{6DFBC918-17AE-4FA9-8C94-A9B6581BA5B1}">
      <dgm:prSet/>
      <dgm:spPr/>
      <dgm:t>
        <a:bodyPr/>
        <a:lstStyle/>
        <a:p>
          <a:endParaRPr lang="en-IN"/>
        </a:p>
      </dgm:t>
    </dgm:pt>
    <dgm:pt modelId="{EEBC9591-42CA-46CC-A485-62FBD167FCD7}" type="sibTrans" cxnId="{6DFBC918-17AE-4FA9-8C94-A9B6581BA5B1}">
      <dgm:prSet/>
      <dgm:spPr/>
      <dgm:t>
        <a:bodyPr/>
        <a:lstStyle/>
        <a:p>
          <a:endParaRPr lang="en-IN"/>
        </a:p>
      </dgm:t>
    </dgm:pt>
    <dgm:pt modelId="{7AA4939A-758E-4375-834A-9B2B6980D05F}">
      <dgm:prSet custT="1"/>
      <dgm:spPr/>
      <dgm:t>
        <a:bodyPr/>
        <a:lstStyle/>
        <a:p>
          <a:r>
            <a:rPr lang="en-IN" sz="2400" dirty="0">
              <a:latin typeface="Casper"/>
            </a:rPr>
            <a:t>TYPES OF MATTER-SOLID, LIQUID, GAS</a:t>
          </a:r>
        </a:p>
      </dgm:t>
    </dgm:pt>
    <dgm:pt modelId="{512168E5-F6D7-4182-933F-DB8A5952A9C5}" type="parTrans" cxnId="{03BB72A1-7D05-441D-BE61-7954CE545378}">
      <dgm:prSet/>
      <dgm:spPr/>
      <dgm:t>
        <a:bodyPr/>
        <a:lstStyle/>
        <a:p>
          <a:endParaRPr lang="en-IN"/>
        </a:p>
      </dgm:t>
    </dgm:pt>
    <dgm:pt modelId="{DE1593D6-F75B-48DE-A8B2-4D6358295F00}" type="sibTrans" cxnId="{03BB72A1-7D05-441D-BE61-7954CE545378}">
      <dgm:prSet/>
      <dgm:spPr/>
      <dgm:t>
        <a:bodyPr/>
        <a:lstStyle/>
        <a:p>
          <a:endParaRPr lang="en-IN"/>
        </a:p>
      </dgm:t>
    </dgm:pt>
    <dgm:pt modelId="{9E205589-4866-4C5B-95BC-B5E642CC6692}">
      <dgm:prSet custT="1"/>
      <dgm:spPr/>
      <dgm:t>
        <a:bodyPr/>
        <a:lstStyle/>
        <a:p>
          <a:r>
            <a:rPr lang="en-IN" sz="2400">
              <a:latin typeface="Casper"/>
            </a:rPr>
            <a:t>TYPES OF SOLIDS</a:t>
          </a:r>
        </a:p>
      </dgm:t>
    </dgm:pt>
    <dgm:pt modelId="{1FDB0BD6-4AF1-4C3C-AAF4-EC2B1FC586FF}" type="parTrans" cxnId="{047C3CBF-5793-4606-968A-141FBAA971FE}">
      <dgm:prSet/>
      <dgm:spPr/>
      <dgm:t>
        <a:bodyPr/>
        <a:lstStyle/>
        <a:p>
          <a:endParaRPr lang="en-IN"/>
        </a:p>
      </dgm:t>
    </dgm:pt>
    <dgm:pt modelId="{A4B1F69B-C26D-404A-B073-BF46F1945425}" type="sibTrans" cxnId="{047C3CBF-5793-4606-968A-141FBAA971FE}">
      <dgm:prSet/>
      <dgm:spPr/>
      <dgm:t>
        <a:bodyPr/>
        <a:lstStyle/>
        <a:p>
          <a:endParaRPr lang="en-IN"/>
        </a:p>
      </dgm:t>
    </dgm:pt>
    <dgm:pt modelId="{39655EC9-E144-4268-A8C6-9A4C6862A932}">
      <dgm:prSet custT="1"/>
      <dgm:spPr/>
      <dgm:t>
        <a:bodyPr/>
        <a:lstStyle/>
        <a:p>
          <a:r>
            <a:rPr lang="en-IN" sz="2400" dirty="0">
              <a:latin typeface="Casper"/>
            </a:rPr>
            <a:t>PROPERTIES</a:t>
          </a:r>
        </a:p>
      </dgm:t>
    </dgm:pt>
    <dgm:pt modelId="{86B96EE4-EB5D-4C68-900D-26B039D71B16}" type="parTrans" cxnId="{4572BAE6-1409-4A1C-A211-BE9E7E6DA4E4}">
      <dgm:prSet/>
      <dgm:spPr/>
      <dgm:t>
        <a:bodyPr/>
        <a:lstStyle/>
        <a:p>
          <a:endParaRPr lang="en-IN"/>
        </a:p>
      </dgm:t>
    </dgm:pt>
    <dgm:pt modelId="{B595D153-B02D-4D27-8006-B6AB3B13C4A0}" type="sibTrans" cxnId="{4572BAE6-1409-4A1C-A211-BE9E7E6DA4E4}">
      <dgm:prSet/>
      <dgm:spPr/>
      <dgm:t>
        <a:bodyPr/>
        <a:lstStyle/>
        <a:p>
          <a:endParaRPr lang="en-IN"/>
        </a:p>
      </dgm:t>
    </dgm:pt>
    <dgm:pt modelId="{F94DF5B7-2175-4E94-86B6-A6CBCD24A1FA}">
      <dgm:prSet custT="1"/>
      <dgm:spPr/>
      <dgm:t>
        <a:bodyPr/>
        <a:lstStyle/>
        <a:p>
          <a:r>
            <a:rPr lang="en-IN" sz="2400">
              <a:latin typeface="Casper"/>
            </a:rPr>
            <a:t>CRYSTAL STRUCTURE </a:t>
          </a:r>
        </a:p>
      </dgm:t>
    </dgm:pt>
    <dgm:pt modelId="{6DF4C944-2CB5-4584-9642-86538DAB9BB9}" type="parTrans" cxnId="{A789B38A-278A-4858-AB67-738D62605596}">
      <dgm:prSet/>
      <dgm:spPr/>
      <dgm:t>
        <a:bodyPr/>
        <a:lstStyle/>
        <a:p>
          <a:endParaRPr lang="en-IN"/>
        </a:p>
      </dgm:t>
    </dgm:pt>
    <dgm:pt modelId="{E317E351-39B7-40F9-9033-3E5605312488}" type="sibTrans" cxnId="{A789B38A-278A-4858-AB67-738D62605596}">
      <dgm:prSet/>
      <dgm:spPr/>
      <dgm:t>
        <a:bodyPr/>
        <a:lstStyle/>
        <a:p>
          <a:endParaRPr lang="en-IN"/>
        </a:p>
      </dgm:t>
    </dgm:pt>
    <dgm:pt modelId="{BE127735-0F86-451B-8367-4DAF5CFDEDC2}">
      <dgm:prSet custT="1"/>
      <dgm:spPr/>
      <dgm:t>
        <a:bodyPr/>
        <a:lstStyle/>
        <a:p>
          <a:r>
            <a:rPr lang="en-IN" sz="2400">
              <a:latin typeface="Casper"/>
            </a:rPr>
            <a:t>SPACE LATTICE</a:t>
          </a:r>
        </a:p>
      </dgm:t>
    </dgm:pt>
    <dgm:pt modelId="{B387994F-8CFD-40F5-B793-01EB1119A145}" type="parTrans" cxnId="{2509D4B2-B79C-40B0-AFC6-716F20CF0DE8}">
      <dgm:prSet/>
      <dgm:spPr/>
      <dgm:t>
        <a:bodyPr/>
        <a:lstStyle/>
        <a:p>
          <a:endParaRPr lang="en-IN"/>
        </a:p>
      </dgm:t>
    </dgm:pt>
    <dgm:pt modelId="{1AF8A6A9-B19D-44C5-AF9C-203F46889BE4}" type="sibTrans" cxnId="{2509D4B2-B79C-40B0-AFC6-716F20CF0DE8}">
      <dgm:prSet/>
      <dgm:spPr/>
      <dgm:t>
        <a:bodyPr/>
        <a:lstStyle/>
        <a:p>
          <a:endParaRPr lang="en-IN"/>
        </a:p>
      </dgm:t>
    </dgm:pt>
    <dgm:pt modelId="{20DC58A9-14A5-49D6-8D7F-D38703F63295}">
      <dgm:prSet custT="1"/>
      <dgm:spPr/>
      <dgm:t>
        <a:bodyPr/>
        <a:lstStyle/>
        <a:p>
          <a:r>
            <a:rPr lang="en-IN" sz="2400">
              <a:latin typeface="Casper"/>
            </a:rPr>
            <a:t>BASIS</a:t>
          </a:r>
        </a:p>
      </dgm:t>
    </dgm:pt>
    <dgm:pt modelId="{28F17E40-A9B0-4CB0-8E6D-CB06E315D415}" type="parTrans" cxnId="{32370087-8FAF-4801-90D5-FC0557D0F379}">
      <dgm:prSet/>
      <dgm:spPr/>
      <dgm:t>
        <a:bodyPr/>
        <a:lstStyle/>
        <a:p>
          <a:endParaRPr lang="en-IN"/>
        </a:p>
      </dgm:t>
    </dgm:pt>
    <dgm:pt modelId="{A9938D5B-C664-417C-A21C-8985C5300993}" type="sibTrans" cxnId="{32370087-8FAF-4801-90D5-FC0557D0F379}">
      <dgm:prSet/>
      <dgm:spPr/>
      <dgm:t>
        <a:bodyPr/>
        <a:lstStyle/>
        <a:p>
          <a:endParaRPr lang="en-IN"/>
        </a:p>
      </dgm:t>
    </dgm:pt>
    <dgm:pt modelId="{6DC183D4-1DA9-46F3-9456-FF665706D711}">
      <dgm:prSet custT="1"/>
      <dgm:spPr/>
      <dgm:t>
        <a:bodyPr/>
        <a:lstStyle/>
        <a:p>
          <a:r>
            <a:rPr lang="en-IN" sz="2400">
              <a:latin typeface="Casper"/>
            </a:rPr>
            <a:t>UNIT CELL </a:t>
          </a:r>
        </a:p>
      </dgm:t>
    </dgm:pt>
    <dgm:pt modelId="{B0A42235-D373-4794-BB11-C9D6287E5EE2}" type="parTrans" cxnId="{2D9F9D51-E6B1-4B99-83F3-2E08BFDA8A7A}">
      <dgm:prSet/>
      <dgm:spPr/>
      <dgm:t>
        <a:bodyPr/>
        <a:lstStyle/>
        <a:p>
          <a:endParaRPr lang="en-IN"/>
        </a:p>
      </dgm:t>
    </dgm:pt>
    <dgm:pt modelId="{786AFEFC-774A-491A-9C8C-1126E6F0CD1C}" type="sibTrans" cxnId="{2D9F9D51-E6B1-4B99-83F3-2E08BFDA8A7A}">
      <dgm:prSet/>
      <dgm:spPr/>
      <dgm:t>
        <a:bodyPr/>
        <a:lstStyle/>
        <a:p>
          <a:endParaRPr lang="en-IN"/>
        </a:p>
      </dgm:t>
    </dgm:pt>
    <dgm:pt modelId="{1458473B-B8D3-4FDB-A08B-56F2528B22EE}">
      <dgm:prSet custT="1"/>
      <dgm:spPr/>
      <dgm:t>
        <a:bodyPr/>
        <a:lstStyle/>
        <a:p>
          <a:r>
            <a:rPr lang="en-IN" sz="2400">
              <a:latin typeface="Casper"/>
            </a:rPr>
            <a:t>BRAVAIS LATTICE</a:t>
          </a:r>
        </a:p>
      </dgm:t>
    </dgm:pt>
    <dgm:pt modelId="{AA2DCD1E-AB5D-464A-9932-7E291DEE7589}" type="parTrans" cxnId="{73131DD6-87DF-4878-A77E-E36D0C38E12C}">
      <dgm:prSet/>
      <dgm:spPr/>
      <dgm:t>
        <a:bodyPr/>
        <a:lstStyle/>
        <a:p>
          <a:endParaRPr lang="en-IN"/>
        </a:p>
      </dgm:t>
    </dgm:pt>
    <dgm:pt modelId="{9E16F4FE-A1D7-489F-8F49-A00AD4ED2093}" type="sibTrans" cxnId="{73131DD6-87DF-4878-A77E-E36D0C38E12C}">
      <dgm:prSet/>
      <dgm:spPr/>
      <dgm:t>
        <a:bodyPr/>
        <a:lstStyle/>
        <a:p>
          <a:endParaRPr lang="en-IN"/>
        </a:p>
      </dgm:t>
    </dgm:pt>
    <dgm:pt modelId="{9EAFF5DD-5E32-4767-94D3-D42F92B8A460}" type="pres">
      <dgm:prSet presAssocID="{8B26BB5F-F98F-4D71-9EF7-38769055A59E}" presName="linear" presStyleCnt="0">
        <dgm:presLayoutVars>
          <dgm:animLvl val="lvl"/>
          <dgm:resizeHandles val="exact"/>
        </dgm:presLayoutVars>
      </dgm:prSet>
      <dgm:spPr/>
    </dgm:pt>
    <dgm:pt modelId="{8AA7A643-11FD-4D21-B8E2-DE0CC3820E0B}" type="pres">
      <dgm:prSet presAssocID="{B1A8303F-C46F-41C3-A035-7D10280856FF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5DD5E48C-A341-42A0-BE28-E80FE1485C76}" type="pres">
      <dgm:prSet presAssocID="{EEBC9591-42CA-46CC-A485-62FBD167FCD7}" presName="spacer" presStyleCnt="0"/>
      <dgm:spPr/>
    </dgm:pt>
    <dgm:pt modelId="{96CA7274-6F07-4CD2-9702-89B56B642994}" type="pres">
      <dgm:prSet presAssocID="{7AA4939A-758E-4375-834A-9B2B6980D05F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BD9C639-0913-436F-8347-811A3AEFF5A9}" type="pres">
      <dgm:prSet presAssocID="{DE1593D6-F75B-48DE-A8B2-4D6358295F00}" presName="spacer" presStyleCnt="0"/>
      <dgm:spPr/>
    </dgm:pt>
    <dgm:pt modelId="{46594C8B-58C2-448B-9106-A8C61D3E10CE}" type="pres">
      <dgm:prSet presAssocID="{9E205589-4866-4C5B-95BC-B5E642CC6692}" presName="parentText" presStyleLbl="node1" presStyleIdx="2" presStyleCnt="9" custLinFactY="264" custLinFactNeighborY="100000">
        <dgm:presLayoutVars>
          <dgm:chMax val="0"/>
          <dgm:bulletEnabled val="1"/>
        </dgm:presLayoutVars>
      </dgm:prSet>
      <dgm:spPr/>
    </dgm:pt>
    <dgm:pt modelId="{FA382519-0593-4EF6-B42F-2030C3C75960}" type="pres">
      <dgm:prSet presAssocID="{A4B1F69B-C26D-404A-B073-BF46F1945425}" presName="spacer" presStyleCnt="0"/>
      <dgm:spPr/>
    </dgm:pt>
    <dgm:pt modelId="{74E8D2B8-A527-42AD-B4F3-433FB50853AF}" type="pres">
      <dgm:prSet presAssocID="{39655EC9-E144-4268-A8C6-9A4C6862A932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1D61884-5A6E-4701-ADAE-AE82CF006A84}" type="pres">
      <dgm:prSet presAssocID="{B595D153-B02D-4D27-8006-B6AB3B13C4A0}" presName="spacer" presStyleCnt="0"/>
      <dgm:spPr/>
    </dgm:pt>
    <dgm:pt modelId="{189EE329-5AE3-435A-96AB-C14FD4D5EAE0}" type="pres">
      <dgm:prSet presAssocID="{F94DF5B7-2175-4E94-86B6-A6CBCD24A1FA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0265BE53-2CF7-408C-8E88-A42ECF364D43}" type="pres">
      <dgm:prSet presAssocID="{E317E351-39B7-40F9-9033-3E5605312488}" presName="spacer" presStyleCnt="0"/>
      <dgm:spPr/>
    </dgm:pt>
    <dgm:pt modelId="{3B490CCE-2C32-4088-ACE9-2BAADD68E486}" type="pres">
      <dgm:prSet presAssocID="{BE127735-0F86-451B-8367-4DAF5CFDEDC2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9CE1FF9-8215-4C6C-810B-0509B0C66B4D}" type="pres">
      <dgm:prSet presAssocID="{1AF8A6A9-B19D-44C5-AF9C-203F46889BE4}" presName="spacer" presStyleCnt="0"/>
      <dgm:spPr/>
    </dgm:pt>
    <dgm:pt modelId="{296454C9-A46C-436B-B480-272213875336}" type="pres">
      <dgm:prSet presAssocID="{20DC58A9-14A5-49D6-8D7F-D38703F63295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89A8C269-E540-430B-9422-889FBDC414CF}" type="pres">
      <dgm:prSet presAssocID="{A9938D5B-C664-417C-A21C-8985C5300993}" presName="spacer" presStyleCnt="0"/>
      <dgm:spPr/>
    </dgm:pt>
    <dgm:pt modelId="{60049A32-9A93-436E-A851-2EF2CD3AA60A}" type="pres">
      <dgm:prSet presAssocID="{6DC183D4-1DA9-46F3-9456-FF665706D711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147A6E83-8486-4F35-8520-46396BA8644A}" type="pres">
      <dgm:prSet presAssocID="{786AFEFC-774A-491A-9C8C-1126E6F0CD1C}" presName="spacer" presStyleCnt="0"/>
      <dgm:spPr/>
    </dgm:pt>
    <dgm:pt modelId="{384F230D-9B37-4677-8366-980D7C4C6748}" type="pres">
      <dgm:prSet presAssocID="{1458473B-B8D3-4FDB-A08B-56F2528B22EE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6DFBC918-17AE-4FA9-8C94-A9B6581BA5B1}" srcId="{8B26BB5F-F98F-4D71-9EF7-38769055A59E}" destId="{B1A8303F-C46F-41C3-A035-7D10280856FF}" srcOrd="0" destOrd="0" parTransId="{14A69381-9515-4890-954C-962FFAB0F488}" sibTransId="{EEBC9591-42CA-46CC-A485-62FBD167FCD7}"/>
    <dgm:cxn modelId="{CE4D1845-3ED4-4E98-BC69-B6C87AC93F2C}" type="presOf" srcId="{1458473B-B8D3-4FDB-A08B-56F2528B22EE}" destId="{384F230D-9B37-4677-8366-980D7C4C6748}" srcOrd="0" destOrd="0" presId="urn:microsoft.com/office/officeart/2005/8/layout/vList2"/>
    <dgm:cxn modelId="{380E816D-0E93-4DFA-8FEC-5B283A9037D3}" type="presOf" srcId="{39655EC9-E144-4268-A8C6-9A4C6862A932}" destId="{74E8D2B8-A527-42AD-B4F3-433FB50853AF}" srcOrd="0" destOrd="0" presId="urn:microsoft.com/office/officeart/2005/8/layout/vList2"/>
    <dgm:cxn modelId="{AE24F16E-2610-4886-AB5D-14F8943C78B5}" type="presOf" srcId="{20DC58A9-14A5-49D6-8D7F-D38703F63295}" destId="{296454C9-A46C-436B-B480-272213875336}" srcOrd="0" destOrd="0" presId="urn:microsoft.com/office/officeart/2005/8/layout/vList2"/>
    <dgm:cxn modelId="{2D9F9D51-E6B1-4B99-83F3-2E08BFDA8A7A}" srcId="{8B26BB5F-F98F-4D71-9EF7-38769055A59E}" destId="{6DC183D4-1DA9-46F3-9456-FF665706D711}" srcOrd="7" destOrd="0" parTransId="{B0A42235-D373-4794-BB11-C9D6287E5EE2}" sibTransId="{786AFEFC-774A-491A-9C8C-1126E6F0CD1C}"/>
    <dgm:cxn modelId="{2C66E07A-2273-41A8-9206-4B32BD7187D4}" type="presOf" srcId="{F94DF5B7-2175-4E94-86B6-A6CBCD24A1FA}" destId="{189EE329-5AE3-435A-96AB-C14FD4D5EAE0}" srcOrd="0" destOrd="0" presId="urn:microsoft.com/office/officeart/2005/8/layout/vList2"/>
    <dgm:cxn modelId="{619E7886-71F3-4B04-8DCA-167D9CB35F5F}" type="presOf" srcId="{BE127735-0F86-451B-8367-4DAF5CFDEDC2}" destId="{3B490CCE-2C32-4088-ACE9-2BAADD68E486}" srcOrd="0" destOrd="0" presId="urn:microsoft.com/office/officeart/2005/8/layout/vList2"/>
    <dgm:cxn modelId="{32370087-8FAF-4801-90D5-FC0557D0F379}" srcId="{8B26BB5F-F98F-4D71-9EF7-38769055A59E}" destId="{20DC58A9-14A5-49D6-8D7F-D38703F63295}" srcOrd="6" destOrd="0" parTransId="{28F17E40-A9B0-4CB0-8E6D-CB06E315D415}" sibTransId="{A9938D5B-C664-417C-A21C-8985C5300993}"/>
    <dgm:cxn modelId="{A789B38A-278A-4858-AB67-738D62605596}" srcId="{8B26BB5F-F98F-4D71-9EF7-38769055A59E}" destId="{F94DF5B7-2175-4E94-86B6-A6CBCD24A1FA}" srcOrd="4" destOrd="0" parTransId="{6DF4C944-2CB5-4584-9642-86538DAB9BB9}" sibTransId="{E317E351-39B7-40F9-9033-3E5605312488}"/>
    <dgm:cxn modelId="{03BB72A1-7D05-441D-BE61-7954CE545378}" srcId="{8B26BB5F-F98F-4D71-9EF7-38769055A59E}" destId="{7AA4939A-758E-4375-834A-9B2B6980D05F}" srcOrd="1" destOrd="0" parTransId="{512168E5-F6D7-4182-933F-DB8A5952A9C5}" sibTransId="{DE1593D6-F75B-48DE-A8B2-4D6358295F00}"/>
    <dgm:cxn modelId="{2509D4B2-B79C-40B0-AFC6-716F20CF0DE8}" srcId="{8B26BB5F-F98F-4D71-9EF7-38769055A59E}" destId="{BE127735-0F86-451B-8367-4DAF5CFDEDC2}" srcOrd="5" destOrd="0" parTransId="{B387994F-8CFD-40F5-B793-01EB1119A145}" sibTransId="{1AF8A6A9-B19D-44C5-AF9C-203F46889BE4}"/>
    <dgm:cxn modelId="{FB8261B8-C43B-4BB9-ADFE-9785D605247F}" type="presOf" srcId="{7AA4939A-758E-4375-834A-9B2B6980D05F}" destId="{96CA7274-6F07-4CD2-9702-89B56B642994}" srcOrd="0" destOrd="0" presId="urn:microsoft.com/office/officeart/2005/8/layout/vList2"/>
    <dgm:cxn modelId="{047C3CBF-5793-4606-968A-141FBAA971FE}" srcId="{8B26BB5F-F98F-4D71-9EF7-38769055A59E}" destId="{9E205589-4866-4C5B-95BC-B5E642CC6692}" srcOrd="2" destOrd="0" parTransId="{1FDB0BD6-4AF1-4C3C-AAF4-EC2B1FC586FF}" sibTransId="{A4B1F69B-C26D-404A-B073-BF46F1945425}"/>
    <dgm:cxn modelId="{73131DD6-87DF-4878-A77E-E36D0C38E12C}" srcId="{8B26BB5F-F98F-4D71-9EF7-38769055A59E}" destId="{1458473B-B8D3-4FDB-A08B-56F2528B22EE}" srcOrd="8" destOrd="0" parTransId="{AA2DCD1E-AB5D-464A-9932-7E291DEE7589}" sibTransId="{9E16F4FE-A1D7-489F-8F49-A00AD4ED2093}"/>
    <dgm:cxn modelId="{6780EDDA-0F5C-498D-A8D5-10994B281606}" type="presOf" srcId="{8B26BB5F-F98F-4D71-9EF7-38769055A59E}" destId="{9EAFF5DD-5E32-4767-94D3-D42F92B8A460}" srcOrd="0" destOrd="0" presId="urn:microsoft.com/office/officeart/2005/8/layout/vList2"/>
    <dgm:cxn modelId="{6F38CDDE-1184-4C02-8724-1597B6A56785}" type="presOf" srcId="{B1A8303F-C46F-41C3-A035-7D10280856FF}" destId="{8AA7A643-11FD-4D21-B8E2-DE0CC3820E0B}" srcOrd="0" destOrd="0" presId="urn:microsoft.com/office/officeart/2005/8/layout/vList2"/>
    <dgm:cxn modelId="{4572BAE6-1409-4A1C-A211-BE9E7E6DA4E4}" srcId="{8B26BB5F-F98F-4D71-9EF7-38769055A59E}" destId="{39655EC9-E144-4268-A8C6-9A4C6862A932}" srcOrd="3" destOrd="0" parTransId="{86B96EE4-EB5D-4C68-900D-26B039D71B16}" sibTransId="{B595D153-B02D-4D27-8006-B6AB3B13C4A0}"/>
    <dgm:cxn modelId="{C2BACFEE-36B5-4E5F-BDFE-07CF112E1868}" type="presOf" srcId="{6DC183D4-1DA9-46F3-9456-FF665706D711}" destId="{60049A32-9A93-436E-A851-2EF2CD3AA60A}" srcOrd="0" destOrd="0" presId="urn:microsoft.com/office/officeart/2005/8/layout/vList2"/>
    <dgm:cxn modelId="{0BB872EF-3565-41FB-B34F-6AF2DFEA6AE4}" type="presOf" srcId="{9E205589-4866-4C5B-95BC-B5E642CC6692}" destId="{46594C8B-58C2-448B-9106-A8C61D3E10CE}" srcOrd="0" destOrd="0" presId="urn:microsoft.com/office/officeart/2005/8/layout/vList2"/>
    <dgm:cxn modelId="{9EBCFAF6-3513-4FFC-9D54-2034BF38C36C}" type="presParOf" srcId="{9EAFF5DD-5E32-4767-94D3-D42F92B8A460}" destId="{8AA7A643-11FD-4D21-B8E2-DE0CC3820E0B}" srcOrd="0" destOrd="0" presId="urn:microsoft.com/office/officeart/2005/8/layout/vList2"/>
    <dgm:cxn modelId="{AA610837-83D2-4070-BEA0-1FB11D25DBB1}" type="presParOf" srcId="{9EAFF5DD-5E32-4767-94D3-D42F92B8A460}" destId="{5DD5E48C-A341-42A0-BE28-E80FE1485C76}" srcOrd="1" destOrd="0" presId="urn:microsoft.com/office/officeart/2005/8/layout/vList2"/>
    <dgm:cxn modelId="{99927CD9-6186-4FA8-96AF-0B2AEDB69910}" type="presParOf" srcId="{9EAFF5DD-5E32-4767-94D3-D42F92B8A460}" destId="{96CA7274-6F07-4CD2-9702-89B56B642994}" srcOrd="2" destOrd="0" presId="urn:microsoft.com/office/officeart/2005/8/layout/vList2"/>
    <dgm:cxn modelId="{8510EB3F-BBBF-48E6-90E1-C89B63327B32}" type="presParOf" srcId="{9EAFF5DD-5E32-4767-94D3-D42F92B8A460}" destId="{1BD9C639-0913-436F-8347-811A3AEFF5A9}" srcOrd="3" destOrd="0" presId="urn:microsoft.com/office/officeart/2005/8/layout/vList2"/>
    <dgm:cxn modelId="{831566EE-0A7E-4006-BFDD-E62952B1E755}" type="presParOf" srcId="{9EAFF5DD-5E32-4767-94D3-D42F92B8A460}" destId="{46594C8B-58C2-448B-9106-A8C61D3E10CE}" srcOrd="4" destOrd="0" presId="urn:microsoft.com/office/officeart/2005/8/layout/vList2"/>
    <dgm:cxn modelId="{49E4E4C2-2401-4416-A763-36A45C3E2FD0}" type="presParOf" srcId="{9EAFF5DD-5E32-4767-94D3-D42F92B8A460}" destId="{FA382519-0593-4EF6-B42F-2030C3C75960}" srcOrd="5" destOrd="0" presId="urn:microsoft.com/office/officeart/2005/8/layout/vList2"/>
    <dgm:cxn modelId="{F30E22E1-74C8-441D-88D6-4E923CC55F9E}" type="presParOf" srcId="{9EAFF5DD-5E32-4767-94D3-D42F92B8A460}" destId="{74E8D2B8-A527-42AD-B4F3-433FB50853AF}" srcOrd="6" destOrd="0" presId="urn:microsoft.com/office/officeart/2005/8/layout/vList2"/>
    <dgm:cxn modelId="{D9988FAB-049F-492C-8C2E-F663D8E106D0}" type="presParOf" srcId="{9EAFF5DD-5E32-4767-94D3-D42F92B8A460}" destId="{51D61884-5A6E-4701-ADAE-AE82CF006A84}" srcOrd="7" destOrd="0" presId="urn:microsoft.com/office/officeart/2005/8/layout/vList2"/>
    <dgm:cxn modelId="{2B19BD3D-DBC3-491D-849F-D303ACA397E2}" type="presParOf" srcId="{9EAFF5DD-5E32-4767-94D3-D42F92B8A460}" destId="{189EE329-5AE3-435A-96AB-C14FD4D5EAE0}" srcOrd="8" destOrd="0" presId="urn:microsoft.com/office/officeart/2005/8/layout/vList2"/>
    <dgm:cxn modelId="{1C7B22F6-9D26-4A44-AA8B-7AFA6A73C0F9}" type="presParOf" srcId="{9EAFF5DD-5E32-4767-94D3-D42F92B8A460}" destId="{0265BE53-2CF7-408C-8E88-A42ECF364D43}" srcOrd="9" destOrd="0" presId="urn:microsoft.com/office/officeart/2005/8/layout/vList2"/>
    <dgm:cxn modelId="{5A90F448-5B3D-422F-B753-1A8B84D89F37}" type="presParOf" srcId="{9EAFF5DD-5E32-4767-94D3-D42F92B8A460}" destId="{3B490CCE-2C32-4088-ACE9-2BAADD68E486}" srcOrd="10" destOrd="0" presId="urn:microsoft.com/office/officeart/2005/8/layout/vList2"/>
    <dgm:cxn modelId="{3D1B7AD9-AD65-463A-AEE2-15D647DBDE54}" type="presParOf" srcId="{9EAFF5DD-5E32-4767-94D3-D42F92B8A460}" destId="{89CE1FF9-8215-4C6C-810B-0509B0C66B4D}" srcOrd="11" destOrd="0" presId="urn:microsoft.com/office/officeart/2005/8/layout/vList2"/>
    <dgm:cxn modelId="{2EBB7FD1-A147-4DB3-B40A-A9A54FE32F95}" type="presParOf" srcId="{9EAFF5DD-5E32-4767-94D3-D42F92B8A460}" destId="{296454C9-A46C-436B-B480-272213875336}" srcOrd="12" destOrd="0" presId="urn:microsoft.com/office/officeart/2005/8/layout/vList2"/>
    <dgm:cxn modelId="{493E2C78-0ECF-4096-B0B2-2204ACF91010}" type="presParOf" srcId="{9EAFF5DD-5E32-4767-94D3-D42F92B8A460}" destId="{89A8C269-E540-430B-9422-889FBDC414CF}" srcOrd="13" destOrd="0" presId="urn:microsoft.com/office/officeart/2005/8/layout/vList2"/>
    <dgm:cxn modelId="{03759DF0-0A53-4845-974C-84D54EDC60F8}" type="presParOf" srcId="{9EAFF5DD-5E32-4767-94D3-D42F92B8A460}" destId="{60049A32-9A93-436E-A851-2EF2CD3AA60A}" srcOrd="14" destOrd="0" presId="urn:microsoft.com/office/officeart/2005/8/layout/vList2"/>
    <dgm:cxn modelId="{21C188F8-7C8C-4918-9380-BBFB70DB6612}" type="presParOf" srcId="{9EAFF5DD-5E32-4767-94D3-D42F92B8A460}" destId="{147A6E83-8486-4F35-8520-46396BA8644A}" srcOrd="15" destOrd="0" presId="urn:microsoft.com/office/officeart/2005/8/layout/vList2"/>
    <dgm:cxn modelId="{7EF72F89-A891-426F-B048-B6D15723EF9B}" type="presParOf" srcId="{9EAFF5DD-5E32-4767-94D3-D42F92B8A460}" destId="{384F230D-9B37-4677-8366-980D7C4C6748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5C186D-FFF8-4244-8225-B7B22E1BDB01}" type="doc">
      <dgm:prSet loTypeId="urn:microsoft.com/office/officeart/2005/8/layout/vList2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IN"/>
        </a:p>
      </dgm:t>
    </dgm:pt>
    <dgm:pt modelId="{2B07FA82-1A79-439C-B32F-1FB164A2DB79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Casper"/>
            </a:rPr>
            <a:t>X-ray crystallography is a powerful non-destructive technique for determining the molecular structure of a crystal.</a:t>
          </a:r>
          <a:endParaRPr lang="en-IN" dirty="0">
            <a:latin typeface="Casper"/>
          </a:endParaRPr>
        </a:p>
      </dgm:t>
    </dgm:pt>
    <dgm:pt modelId="{DCE26D55-98D3-407A-BD26-81700E92BEFB}" type="parTrans" cxnId="{F2F00F7D-CDB5-4678-8698-8573A132594D}">
      <dgm:prSet/>
      <dgm:spPr/>
      <dgm:t>
        <a:bodyPr/>
        <a:lstStyle/>
        <a:p>
          <a:endParaRPr lang="en-IN"/>
        </a:p>
      </dgm:t>
    </dgm:pt>
    <dgm:pt modelId="{CC877839-1869-4968-9126-EA3AB8F4DD7D}" type="sibTrans" cxnId="{F2F00F7D-CDB5-4678-8698-8573A132594D}">
      <dgm:prSet/>
      <dgm:spPr/>
      <dgm:t>
        <a:bodyPr/>
        <a:lstStyle/>
        <a:p>
          <a:endParaRPr lang="en-IN"/>
        </a:p>
      </dgm:t>
    </dgm:pt>
    <dgm:pt modelId="{17074C1D-4183-481E-B161-495E6E82B835}">
      <dgm:prSet/>
      <dgm:spPr>
        <a:ln>
          <a:solidFill>
            <a:schemeClr val="accent1"/>
          </a:solidFill>
        </a:ln>
      </dgm:spPr>
      <dgm:t>
        <a:bodyPr/>
        <a:lstStyle/>
        <a:p>
          <a:r>
            <a:rPr lang="en-US" dirty="0">
              <a:latin typeface="Casper "/>
            </a:rPr>
            <a:t>It was primarily used in fundamental science applications for determining the size of atoms, the lengths and different types of chemical bonds, the atomic arrangement of materials.</a:t>
          </a:r>
          <a:endParaRPr lang="en-IN" dirty="0">
            <a:latin typeface="Casper "/>
          </a:endParaRPr>
        </a:p>
      </dgm:t>
    </dgm:pt>
    <dgm:pt modelId="{BCD07CBF-F12C-4483-A312-55C9E4AEC868}" type="parTrans" cxnId="{6E733B06-C591-4BED-B2B9-5B1D8CCA5281}">
      <dgm:prSet/>
      <dgm:spPr/>
      <dgm:t>
        <a:bodyPr/>
        <a:lstStyle/>
        <a:p>
          <a:endParaRPr lang="en-IN"/>
        </a:p>
      </dgm:t>
    </dgm:pt>
    <dgm:pt modelId="{2C384B24-D6B8-4791-83C8-4F6E0769997A}" type="sibTrans" cxnId="{6E733B06-C591-4BED-B2B9-5B1D8CCA5281}">
      <dgm:prSet/>
      <dgm:spPr/>
      <dgm:t>
        <a:bodyPr/>
        <a:lstStyle/>
        <a:p>
          <a:endParaRPr lang="en-IN"/>
        </a:p>
      </dgm:t>
    </dgm:pt>
    <dgm:pt modelId="{3DA043E4-04F9-4B2B-BAA8-7BA21EF5FABB}" type="pres">
      <dgm:prSet presAssocID="{A95C186D-FFF8-4244-8225-B7B22E1BDB01}" presName="linear" presStyleCnt="0">
        <dgm:presLayoutVars>
          <dgm:animLvl val="lvl"/>
          <dgm:resizeHandles val="exact"/>
        </dgm:presLayoutVars>
      </dgm:prSet>
      <dgm:spPr/>
    </dgm:pt>
    <dgm:pt modelId="{EE2DBE57-74DE-4E9B-B4AA-537ADE432D2D}" type="pres">
      <dgm:prSet presAssocID="{2B07FA82-1A79-439C-B32F-1FB164A2DB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8E8622E-549F-415A-B72A-97751DEF92AE}" type="pres">
      <dgm:prSet presAssocID="{CC877839-1869-4968-9126-EA3AB8F4DD7D}" presName="spacer" presStyleCnt="0"/>
      <dgm:spPr/>
    </dgm:pt>
    <dgm:pt modelId="{4A608D06-0113-459A-A736-09EDB7A5F237}" type="pres">
      <dgm:prSet presAssocID="{17074C1D-4183-481E-B161-495E6E82B83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E733B06-C591-4BED-B2B9-5B1D8CCA5281}" srcId="{A95C186D-FFF8-4244-8225-B7B22E1BDB01}" destId="{17074C1D-4183-481E-B161-495E6E82B835}" srcOrd="1" destOrd="0" parTransId="{BCD07CBF-F12C-4483-A312-55C9E4AEC868}" sibTransId="{2C384B24-D6B8-4791-83C8-4F6E0769997A}"/>
    <dgm:cxn modelId="{F2F00F7D-CDB5-4678-8698-8573A132594D}" srcId="{A95C186D-FFF8-4244-8225-B7B22E1BDB01}" destId="{2B07FA82-1A79-439C-B32F-1FB164A2DB79}" srcOrd="0" destOrd="0" parTransId="{DCE26D55-98D3-407A-BD26-81700E92BEFB}" sibTransId="{CC877839-1869-4968-9126-EA3AB8F4DD7D}"/>
    <dgm:cxn modelId="{745B8B89-2F47-4B60-B73F-6F077AB0E06C}" type="presOf" srcId="{2B07FA82-1A79-439C-B32F-1FB164A2DB79}" destId="{EE2DBE57-74DE-4E9B-B4AA-537ADE432D2D}" srcOrd="0" destOrd="0" presId="urn:microsoft.com/office/officeart/2005/8/layout/vList2"/>
    <dgm:cxn modelId="{AF09FBA9-28EA-4CB4-8E43-8F96CA327B1B}" type="presOf" srcId="{17074C1D-4183-481E-B161-495E6E82B835}" destId="{4A608D06-0113-459A-A736-09EDB7A5F237}" srcOrd="0" destOrd="0" presId="urn:microsoft.com/office/officeart/2005/8/layout/vList2"/>
    <dgm:cxn modelId="{1D2F36B4-1271-4A97-B74B-91F4FEFED77E}" type="presOf" srcId="{A95C186D-FFF8-4244-8225-B7B22E1BDB01}" destId="{3DA043E4-04F9-4B2B-BAA8-7BA21EF5FABB}" srcOrd="0" destOrd="0" presId="urn:microsoft.com/office/officeart/2005/8/layout/vList2"/>
    <dgm:cxn modelId="{B38A5D17-9BA7-495B-8C96-290646A787BC}" type="presParOf" srcId="{3DA043E4-04F9-4B2B-BAA8-7BA21EF5FABB}" destId="{EE2DBE57-74DE-4E9B-B4AA-537ADE432D2D}" srcOrd="0" destOrd="0" presId="urn:microsoft.com/office/officeart/2005/8/layout/vList2"/>
    <dgm:cxn modelId="{038324FD-6702-4C37-862B-EAE530F331FE}" type="presParOf" srcId="{3DA043E4-04F9-4B2B-BAA8-7BA21EF5FABB}" destId="{98E8622E-549F-415A-B72A-97751DEF92AE}" srcOrd="1" destOrd="0" presId="urn:microsoft.com/office/officeart/2005/8/layout/vList2"/>
    <dgm:cxn modelId="{68A9DBF3-717A-44BA-864F-AA5811106BE2}" type="presParOf" srcId="{3DA043E4-04F9-4B2B-BAA8-7BA21EF5FABB}" destId="{4A608D06-0113-459A-A736-09EDB7A5F23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2D1660-E8F2-4D80-9930-5EA3EC0891BA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6167EDB-5B49-492C-A50A-9881D832E4E5}">
      <dgm:prSet custT="1"/>
      <dgm:spPr/>
      <dgm:t>
        <a:bodyPr/>
        <a:lstStyle/>
        <a:p>
          <a:r>
            <a:rPr lang="en-US" sz="2400" dirty="0">
              <a:latin typeface="Casper "/>
            </a:rPr>
            <a:t>The difference between materials at the atomic level, and for determining the crystalline integrity, grain orientation, grain size, film thickness and interface roughness of alloys and minerals.</a:t>
          </a:r>
          <a:endParaRPr lang="en-IN" sz="2400" dirty="0">
            <a:latin typeface="Casper "/>
          </a:endParaRPr>
        </a:p>
      </dgm:t>
    </dgm:pt>
    <dgm:pt modelId="{983D7211-C988-4262-8574-8F51F50B084A}" type="parTrans" cxnId="{59B6D35E-EA4D-4E39-A05C-52D6B11401B0}">
      <dgm:prSet/>
      <dgm:spPr/>
      <dgm:t>
        <a:bodyPr/>
        <a:lstStyle/>
        <a:p>
          <a:endParaRPr lang="en-IN"/>
        </a:p>
      </dgm:t>
    </dgm:pt>
    <dgm:pt modelId="{E2B223B1-4A9E-4EEF-AF7B-2E1ADAC36970}" type="sibTrans" cxnId="{59B6D35E-EA4D-4E39-A05C-52D6B11401B0}">
      <dgm:prSet/>
      <dgm:spPr/>
      <dgm:t>
        <a:bodyPr/>
        <a:lstStyle/>
        <a:p>
          <a:endParaRPr lang="en-IN"/>
        </a:p>
      </dgm:t>
    </dgm:pt>
    <dgm:pt modelId="{27C149D4-8E39-4BCF-B1F8-865F6E299CC6}">
      <dgm:prSet custT="1"/>
      <dgm:spPr/>
      <dgm:t>
        <a:bodyPr/>
        <a:lstStyle/>
        <a:p>
          <a:pPr algn="just"/>
          <a:r>
            <a:rPr lang="en-US" sz="2400" dirty="0">
              <a:latin typeface="Casper "/>
            </a:rPr>
            <a:t>It is now often used to identify the structure of various biological materials, vitamins, pharmaceutical drugs, thin-film materials and multi-layered materials. It has become one of the standard ways of analyzing a material.</a:t>
          </a:r>
          <a:endParaRPr lang="en-IN" sz="2400" dirty="0">
            <a:latin typeface="Casper "/>
          </a:endParaRPr>
        </a:p>
      </dgm:t>
    </dgm:pt>
    <dgm:pt modelId="{182031E3-F544-4CC8-A08C-58AB6A92C018}" type="parTrans" cxnId="{714386FE-C6BD-413B-BEB0-8D457CCE56BB}">
      <dgm:prSet/>
      <dgm:spPr/>
      <dgm:t>
        <a:bodyPr/>
        <a:lstStyle/>
        <a:p>
          <a:endParaRPr lang="en-IN"/>
        </a:p>
      </dgm:t>
    </dgm:pt>
    <dgm:pt modelId="{BB775111-8F9E-4187-961B-588FB757CDDF}" type="sibTrans" cxnId="{714386FE-C6BD-413B-BEB0-8D457CCE56BB}">
      <dgm:prSet/>
      <dgm:spPr/>
      <dgm:t>
        <a:bodyPr/>
        <a:lstStyle/>
        <a:p>
          <a:endParaRPr lang="en-IN"/>
        </a:p>
      </dgm:t>
    </dgm:pt>
    <dgm:pt modelId="{BCD9327D-0F5A-408F-8893-E3C054B185DA}" type="pres">
      <dgm:prSet presAssocID="{312D1660-E8F2-4D80-9930-5EA3EC0891BA}" presName="linear" presStyleCnt="0">
        <dgm:presLayoutVars>
          <dgm:animLvl val="lvl"/>
          <dgm:resizeHandles val="exact"/>
        </dgm:presLayoutVars>
      </dgm:prSet>
      <dgm:spPr/>
    </dgm:pt>
    <dgm:pt modelId="{0AAF68B7-05A2-453E-A56C-F613E7BB7720}" type="pres">
      <dgm:prSet presAssocID="{A6167EDB-5B49-492C-A50A-9881D832E4E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67CF166-9E1A-4122-9F8E-C46AE0A532CF}" type="pres">
      <dgm:prSet presAssocID="{E2B223B1-4A9E-4EEF-AF7B-2E1ADAC36970}" presName="spacer" presStyleCnt="0"/>
      <dgm:spPr/>
    </dgm:pt>
    <dgm:pt modelId="{466914C8-70C5-45AE-A376-1EF5AA5E2297}" type="pres">
      <dgm:prSet presAssocID="{27C149D4-8E39-4BCF-B1F8-865F6E299CC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9B6D35E-EA4D-4E39-A05C-52D6B11401B0}" srcId="{312D1660-E8F2-4D80-9930-5EA3EC0891BA}" destId="{A6167EDB-5B49-492C-A50A-9881D832E4E5}" srcOrd="0" destOrd="0" parTransId="{983D7211-C988-4262-8574-8F51F50B084A}" sibTransId="{E2B223B1-4A9E-4EEF-AF7B-2E1ADAC36970}"/>
    <dgm:cxn modelId="{E9279487-3D65-4182-AE9C-67026093C300}" type="presOf" srcId="{27C149D4-8E39-4BCF-B1F8-865F6E299CC6}" destId="{466914C8-70C5-45AE-A376-1EF5AA5E2297}" srcOrd="0" destOrd="0" presId="urn:microsoft.com/office/officeart/2005/8/layout/vList2"/>
    <dgm:cxn modelId="{A60F27C8-214F-468B-B45F-D1BC9B3F5B40}" type="presOf" srcId="{312D1660-E8F2-4D80-9930-5EA3EC0891BA}" destId="{BCD9327D-0F5A-408F-8893-E3C054B185DA}" srcOrd="0" destOrd="0" presId="urn:microsoft.com/office/officeart/2005/8/layout/vList2"/>
    <dgm:cxn modelId="{B8B8FDF0-F66F-4881-AC24-052B07ACEC4F}" type="presOf" srcId="{A6167EDB-5B49-492C-A50A-9881D832E4E5}" destId="{0AAF68B7-05A2-453E-A56C-F613E7BB7720}" srcOrd="0" destOrd="0" presId="urn:microsoft.com/office/officeart/2005/8/layout/vList2"/>
    <dgm:cxn modelId="{714386FE-C6BD-413B-BEB0-8D457CCE56BB}" srcId="{312D1660-E8F2-4D80-9930-5EA3EC0891BA}" destId="{27C149D4-8E39-4BCF-B1F8-865F6E299CC6}" srcOrd="1" destOrd="0" parTransId="{182031E3-F544-4CC8-A08C-58AB6A92C018}" sibTransId="{BB775111-8F9E-4187-961B-588FB757CDDF}"/>
    <dgm:cxn modelId="{8690342F-9D89-4D69-BD17-55D716A31729}" type="presParOf" srcId="{BCD9327D-0F5A-408F-8893-E3C054B185DA}" destId="{0AAF68B7-05A2-453E-A56C-F613E7BB7720}" srcOrd="0" destOrd="0" presId="urn:microsoft.com/office/officeart/2005/8/layout/vList2"/>
    <dgm:cxn modelId="{43177AA5-BFE0-4E68-A1A7-D7C331CFCFA4}" type="presParOf" srcId="{BCD9327D-0F5A-408F-8893-E3C054B185DA}" destId="{867CF166-9E1A-4122-9F8E-C46AE0A532CF}" srcOrd="1" destOrd="0" presId="urn:microsoft.com/office/officeart/2005/8/layout/vList2"/>
    <dgm:cxn modelId="{8B228A90-7784-4DA2-9F60-14DF757F69A5}" type="presParOf" srcId="{BCD9327D-0F5A-408F-8893-E3C054B185DA}" destId="{466914C8-70C5-45AE-A376-1EF5AA5E229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5599-AB67-4D7B-810B-7A3D73FBC18E}">
      <dsp:nvSpPr>
        <dsp:cNvPr id="0" name=""/>
        <dsp:cNvSpPr/>
      </dsp:nvSpPr>
      <dsp:spPr>
        <a:xfrm>
          <a:off x="0" y="0"/>
          <a:ext cx="6908800" cy="14643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</a:rPr>
            <a:t>UNIT -2</a:t>
          </a:r>
          <a:endParaRPr lang="en-IN" sz="2400" kern="1200" dirty="0">
            <a:latin typeface="Casper" panose="02000506000000020004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IN" sz="2500" b="1" kern="1200" dirty="0">
              <a:latin typeface="Casper Bold" panose="02000806040000020004"/>
              <a:cs typeface="Arial" panose="020B0604020202020204" pitchFamily="34" charset="0"/>
            </a:rPr>
          </a:br>
          <a:endParaRPr lang="en-IN" sz="2500" kern="1200" dirty="0"/>
        </a:p>
      </dsp:txBody>
      <dsp:txXfrm>
        <a:off x="42889" y="42889"/>
        <a:ext cx="5328675" cy="1378550"/>
      </dsp:txXfrm>
    </dsp:sp>
    <dsp:sp modelId="{1391C7A5-C46A-46EF-B914-27DF644706EC}">
      <dsp:nvSpPr>
        <dsp:cNvPr id="0" name=""/>
        <dsp:cNvSpPr/>
      </dsp:nvSpPr>
      <dsp:spPr>
        <a:xfrm>
          <a:off x="609599" y="1708382"/>
          <a:ext cx="6908800" cy="1464328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  <a:cs typeface="Arial" panose="020B0604020202020204" pitchFamily="34" charset="0"/>
            </a:rPr>
            <a:t>CHAPTER 1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Casper" panose="02000506000000020004"/>
              <a:cs typeface="Arial" panose="020B0604020202020204" pitchFamily="34" charset="0"/>
            </a:rPr>
            <a:t>CRYSTALLOGRAPHY &amp; ULTRASONICS</a:t>
          </a:r>
          <a:endParaRPr lang="en-IN" sz="2400" kern="1200" dirty="0">
            <a:latin typeface="Casper" panose="02000506000000020004"/>
          </a:endParaRPr>
        </a:p>
      </dsp:txBody>
      <dsp:txXfrm>
        <a:off x="652488" y="1751271"/>
        <a:ext cx="5261608" cy="1378550"/>
      </dsp:txXfrm>
    </dsp:sp>
    <dsp:sp modelId="{DF9F8172-1EEF-4814-96D1-8216E1DFE46F}">
      <dsp:nvSpPr>
        <dsp:cNvPr id="0" name=""/>
        <dsp:cNvSpPr/>
      </dsp:nvSpPr>
      <dsp:spPr>
        <a:xfrm>
          <a:off x="1219199" y="3416765"/>
          <a:ext cx="6908800" cy="1464328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1"/>
              </a:solidFill>
            </a:rPr>
            <a:t>TOPIC: </a:t>
          </a:r>
          <a:r>
            <a:rPr lang="en-US" sz="2000" kern="1200" dirty="0">
              <a:solidFill>
                <a:schemeClr val="bg1"/>
              </a:solidFill>
            </a:rPr>
            <a:t>Basic terms, types of crystal systems, </a:t>
          </a:r>
          <a:r>
            <a:rPr lang="en-US" sz="2000" kern="1200" dirty="0" err="1">
              <a:solidFill>
                <a:schemeClr val="bg1"/>
              </a:solidFill>
            </a:rPr>
            <a:t>Bravais</a:t>
          </a:r>
          <a:r>
            <a:rPr lang="en-US" sz="2000" kern="1200" dirty="0">
              <a:solidFill>
                <a:schemeClr val="bg1"/>
              </a:solidFill>
            </a:rPr>
            <a:t> lattices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1262088" y="3459654"/>
        <a:ext cx="5261608" cy="1378550"/>
      </dsp:txXfrm>
    </dsp:sp>
    <dsp:sp modelId="{E01B2225-1D38-4B75-AC30-F8B8E757FD86}">
      <dsp:nvSpPr>
        <dsp:cNvPr id="0" name=""/>
        <dsp:cNvSpPr/>
      </dsp:nvSpPr>
      <dsp:spPr>
        <a:xfrm>
          <a:off x="5956986" y="1110448"/>
          <a:ext cx="951813" cy="95181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171144" y="1110448"/>
        <a:ext cx="523497" cy="716239"/>
      </dsp:txXfrm>
    </dsp:sp>
    <dsp:sp modelId="{CE1FCC98-BB05-4596-8BA6-108808B2BF9E}">
      <dsp:nvSpPr>
        <dsp:cNvPr id="0" name=""/>
        <dsp:cNvSpPr/>
      </dsp:nvSpPr>
      <dsp:spPr>
        <a:xfrm>
          <a:off x="6566586" y="2809069"/>
          <a:ext cx="951813" cy="95181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6780744" y="2809069"/>
        <a:ext cx="523497" cy="716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25DDC-302A-456C-8B12-57155170D50A}">
      <dsp:nvSpPr>
        <dsp:cNvPr id="0" name=""/>
        <dsp:cNvSpPr/>
      </dsp:nvSpPr>
      <dsp:spPr>
        <a:xfrm>
          <a:off x="2207" y="0"/>
          <a:ext cx="3435027" cy="4541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learn about crystallography branch and its importance. </a:t>
          </a:r>
        </a:p>
      </dsp:txBody>
      <dsp:txXfrm>
        <a:off x="2207" y="1816735"/>
        <a:ext cx="3435027" cy="1816735"/>
      </dsp:txXfrm>
    </dsp:sp>
    <dsp:sp modelId="{B103F8D8-76B4-4272-BA94-128B4C2C71A0}">
      <dsp:nvSpPr>
        <dsp:cNvPr id="0" name=""/>
        <dsp:cNvSpPr/>
      </dsp:nvSpPr>
      <dsp:spPr>
        <a:xfrm>
          <a:off x="833012" y="249279"/>
          <a:ext cx="1512432" cy="151243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9466344-34F2-47FE-BE5B-DE4D2D0D235D}">
      <dsp:nvSpPr>
        <dsp:cNvPr id="0" name=""/>
        <dsp:cNvSpPr/>
      </dsp:nvSpPr>
      <dsp:spPr>
        <a:xfrm>
          <a:off x="3489756" y="0"/>
          <a:ext cx="3435027" cy="4541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understand how arrangements effect the properties of materials. </a:t>
          </a:r>
        </a:p>
      </dsp:txBody>
      <dsp:txXfrm>
        <a:off x="3489756" y="1816735"/>
        <a:ext cx="3435027" cy="1816735"/>
      </dsp:txXfrm>
    </dsp:sp>
    <dsp:sp modelId="{50C2274F-4F2F-4CCF-A2D0-F4FCD0746BCB}">
      <dsp:nvSpPr>
        <dsp:cNvPr id="0" name=""/>
        <dsp:cNvSpPr/>
      </dsp:nvSpPr>
      <dsp:spPr>
        <a:xfrm>
          <a:off x="4501583" y="272510"/>
          <a:ext cx="1512432" cy="151243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0000" r="-80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2B10F68-512F-4683-BEE4-9F8C729BF5C7}">
      <dsp:nvSpPr>
        <dsp:cNvPr id="0" name=""/>
        <dsp:cNvSpPr/>
      </dsp:nvSpPr>
      <dsp:spPr>
        <a:xfrm>
          <a:off x="7078364" y="0"/>
          <a:ext cx="3435027" cy="45418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 panose="02000506000000020004"/>
              <a:cs typeface="Times New Roman" panose="02020603050405020304" pitchFamily="18" charset="0"/>
            </a:rPr>
            <a:t>Students will learn basic terms related to crystallography</a:t>
          </a:r>
        </a:p>
      </dsp:txBody>
      <dsp:txXfrm>
        <a:off x="7078364" y="1816735"/>
        <a:ext cx="3435027" cy="1816735"/>
      </dsp:txXfrm>
    </dsp:sp>
    <dsp:sp modelId="{248B46C9-1690-4475-9D9E-0B3167A7796B}">
      <dsp:nvSpPr>
        <dsp:cNvPr id="0" name=""/>
        <dsp:cNvSpPr/>
      </dsp:nvSpPr>
      <dsp:spPr>
        <a:xfrm>
          <a:off x="8039662" y="272510"/>
          <a:ext cx="1512432" cy="15124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23C8708-EBC8-4346-B9D7-F4F4FED58C31}">
      <dsp:nvSpPr>
        <dsp:cNvPr id="0" name=""/>
        <dsp:cNvSpPr/>
      </dsp:nvSpPr>
      <dsp:spPr>
        <a:xfrm>
          <a:off x="420623" y="3633470"/>
          <a:ext cx="9674352" cy="681275"/>
        </a:xfrm>
        <a:prstGeom prst="left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7A643-11FD-4D21-B8E2-DE0CC3820E0B}">
      <dsp:nvSpPr>
        <dsp:cNvPr id="0" name=""/>
        <dsp:cNvSpPr/>
      </dsp:nvSpPr>
      <dsp:spPr>
        <a:xfrm>
          <a:off x="0" y="470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INTRODUCTION TO CRYSTALLOGRAPHY</a:t>
          </a:r>
        </a:p>
      </dsp:txBody>
      <dsp:txXfrm>
        <a:off x="23091" y="23561"/>
        <a:ext cx="10469418" cy="426845"/>
      </dsp:txXfrm>
    </dsp:sp>
    <dsp:sp modelId="{96CA7274-6F07-4CD2-9702-89B56B642994}">
      <dsp:nvSpPr>
        <dsp:cNvPr id="0" name=""/>
        <dsp:cNvSpPr/>
      </dsp:nvSpPr>
      <dsp:spPr>
        <a:xfrm>
          <a:off x="0" y="485142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TYPES OF MATTER-SOLID, LIQUID, GAS</a:t>
          </a:r>
        </a:p>
      </dsp:txBody>
      <dsp:txXfrm>
        <a:off x="23091" y="508233"/>
        <a:ext cx="10469418" cy="426845"/>
      </dsp:txXfrm>
    </dsp:sp>
    <dsp:sp modelId="{46594C8B-58C2-448B-9106-A8C61D3E10CE}">
      <dsp:nvSpPr>
        <dsp:cNvPr id="0" name=""/>
        <dsp:cNvSpPr/>
      </dsp:nvSpPr>
      <dsp:spPr>
        <a:xfrm>
          <a:off x="0" y="982705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TYPES OF SOLIDS</a:t>
          </a:r>
        </a:p>
      </dsp:txBody>
      <dsp:txXfrm>
        <a:off x="23091" y="1005796"/>
        <a:ext cx="10469418" cy="426845"/>
      </dsp:txXfrm>
    </dsp:sp>
    <dsp:sp modelId="{74E8D2B8-A527-42AD-B4F3-433FB50853AF}">
      <dsp:nvSpPr>
        <dsp:cNvPr id="0" name=""/>
        <dsp:cNvSpPr/>
      </dsp:nvSpPr>
      <dsp:spPr>
        <a:xfrm>
          <a:off x="0" y="1454484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Casper"/>
            </a:rPr>
            <a:t>PROPERTIES</a:t>
          </a:r>
        </a:p>
      </dsp:txBody>
      <dsp:txXfrm>
        <a:off x="23091" y="1477575"/>
        <a:ext cx="10469418" cy="426845"/>
      </dsp:txXfrm>
    </dsp:sp>
    <dsp:sp modelId="{189EE329-5AE3-435A-96AB-C14FD4D5EAE0}">
      <dsp:nvSpPr>
        <dsp:cNvPr id="0" name=""/>
        <dsp:cNvSpPr/>
      </dsp:nvSpPr>
      <dsp:spPr>
        <a:xfrm>
          <a:off x="0" y="1939155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CRYSTAL STRUCTURE </a:t>
          </a:r>
        </a:p>
      </dsp:txBody>
      <dsp:txXfrm>
        <a:off x="23091" y="1962246"/>
        <a:ext cx="10469418" cy="426845"/>
      </dsp:txXfrm>
    </dsp:sp>
    <dsp:sp modelId="{3B490CCE-2C32-4088-ACE9-2BAADD68E486}">
      <dsp:nvSpPr>
        <dsp:cNvPr id="0" name=""/>
        <dsp:cNvSpPr/>
      </dsp:nvSpPr>
      <dsp:spPr>
        <a:xfrm>
          <a:off x="0" y="2423826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SPACE LATTICE</a:t>
          </a:r>
        </a:p>
      </dsp:txBody>
      <dsp:txXfrm>
        <a:off x="23091" y="2446917"/>
        <a:ext cx="10469418" cy="426845"/>
      </dsp:txXfrm>
    </dsp:sp>
    <dsp:sp modelId="{296454C9-A46C-436B-B480-272213875336}">
      <dsp:nvSpPr>
        <dsp:cNvPr id="0" name=""/>
        <dsp:cNvSpPr/>
      </dsp:nvSpPr>
      <dsp:spPr>
        <a:xfrm>
          <a:off x="0" y="2908497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BASIS</a:t>
          </a:r>
        </a:p>
      </dsp:txBody>
      <dsp:txXfrm>
        <a:off x="23091" y="2931588"/>
        <a:ext cx="10469418" cy="426845"/>
      </dsp:txXfrm>
    </dsp:sp>
    <dsp:sp modelId="{60049A32-9A93-436E-A851-2EF2CD3AA60A}">
      <dsp:nvSpPr>
        <dsp:cNvPr id="0" name=""/>
        <dsp:cNvSpPr/>
      </dsp:nvSpPr>
      <dsp:spPr>
        <a:xfrm>
          <a:off x="0" y="3393168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UNIT CELL </a:t>
          </a:r>
        </a:p>
      </dsp:txBody>
      <dsp:txXfrm>
        <a:off x="23091" y="3416259"/>
        <a:ext cx="10469418" cy="426845"/>
      </dsp:txXfrm>
    </dsp:sp>
    <dsp:sp modelId="{384F230D-9B37-4677-8366-980D7C4C6748}">
      <dsp:nvSpPr>
        <dsp:cNvPr id="0" name=""/>
        <dsp:cNvSpPr/>
      </dsp:nvSpPr>
      <dsp:spPr>
        <a:xfrm>
          <a:off x="0" y="3877839"/>
          <a:ext cx="10515600" cy="4730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Casper"/>
            </a:rPr>
            <a:t>BRAVAIS LATTICE</a:t>
          </a:r>
        </a:p>
      </dsp:txBody>
      <dsp:txXfrm>
        <a:off x="23091" y="3900930"/>
        <a:ext cx="10469418" cy="4268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DBE57-74DE-4E9B-B4AA-537ADE432D2D}">
      <dsp:nvSpPr>
        <dsp:cNvPr id="0" name=""/>
        <dsp:cNvSpPr/>
      </dsp:nvSpPr>
      <dsp:spPr>
        <a:xfrm>
          <a:off x="0" y="78983"/>
          <a:ext cx="5382296" cy="2062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"/>
            </a:rPr>
            <a:t>X-ray crystallography is a powerful non-destructive technique for determining the molecular structure of a crystal.</a:t>
          </a:r>
          <a:endParaRPr lang="en-IN" sz="2400" kern="1200" dirty="0">
            <a:latin typeface="Casper"/>
          </a:endParaRPr>
        </a:p>
      </dsp:txBody>
      <dsp:txXfrm>
        <a:off x="100665" y="179648"/>
        <a:ext cx="5180966" cy="1860795"/>
      </dsp:txXfrm>
    </dsp:sp>
    <dsp:sp modelId="{4A608D06-0113-459A-A736-09EDB7A5F237}">
      <dsp:nvSpPr>
        <dsp:cNvPr id="0" name=""/>
        <dsp:cNvSpPr/>
      </dsp:nvSpPr>
      <dsp:spPr>
        <a:xfrm>
          <a:off x="0" y="2210229"/>
          <a:ext cx="5382296" cy="20621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 "/>
            </a:rPr>
            <a:t>It was primarily used in fundamental science applications for determining the size of atoms, the lengths and different types of chemical bonds, the atomic arrangement of materials.</a:t>
          </a:r>
          <a:endParaRPr lang="en-IN" sz="2400" kern="1200" dirty="0">
            <a:latin typeface="Casper "/>
          </a:endParaRPr>
        </a:p>
      </dsp:txBody>
      <dsp:txXfrm>
        <a:off x="100665" y="2310894"/>
        <a:ext cx="5180966" cy="1860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F68B7-05A2-453E-A56C-F613E7BB7720}">
      <dsp:nvSpPr>
        <dsp:cNvPr id="0" name=""/>
        <dsp:cNvSpPr/>
      </dsp:nvSpPr>
      <dsp:spPr>
        <a:xfrm>
          <a:off x="0" y="991"/>
          <a:ext cx="5936086" cy="21682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 "/>
            </a:rPr>
            <a:t>The difference between materials at the atomic level, and for determining the crystalline integrity, grain orientation, grain size, film thickness and interface roughness of alloys and minerals.</a:t>
          </a:r>
          <a:endParaRPr lang="en-IN" sz="2400" kern="1200" dirty="0">
            <a:latin typeface="Casper "/>
          </a:endParaRPr>
        </a:p>
      </dsp:txBody>
      <dsp:txXfrm>
        <a:off x="105847" y="106838"/>
        <a:ext cx="5724392" cy="1956599"/>
      </dsp:txXfrm>
    </dsp:sp>
    <dsp:sp modelId="{466914C8-70C5-45AE-A376-1EF5AA5E2297}">
      <dsp:nvSpPr>
        <dsp:cNvPr id="0" name=""/>
        <dsp:cNvSpPr/>
      </dsp:nvSpPr>
      <dsp:spPr>
        <a:xfrm>
          <a:off x="0" y="2182053"/>
          <a:ext cx="5936086" cy="21682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sper "/>
            </a:rPr>
            <a:t>It is now often used to identify the structure of various biological materials, vitamins, pharmaceutical drugs, thin-film materials and multi-layered materials. It has become one of the standard ways of analyzing a material.</a:t>
          </a:r>
          <a:endParaRPr lang="en-IN" sz="2400" kern="1200" dirty="0">
            <a:latin typeface="Casper "/>
          </a:endParaRPr>
        </a:p>
      </dsp:txBody>
      <dsp:txXfrm>
        <a:off x="105847" y="2287900"/>
        <a:ext cx="5724392" cy="1956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notes.org/20-examples-of-plasma-physics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Solids</a:t>
            </a:r>
          </a:p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the solid state the vibrating particles form a regular pattern. This explains the fixed shape of a solid and why it can’t be compressed or poured.</a:t>
            </a:r>
          </a:p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Liquids</a:t>
            </a:r>
          </a:p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a liquid the particles still touch their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neighbours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but they move around, sliding over each other. This is why you can pour, but not compress, a liquid.</a:t>
            </a:r>
          </a:p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Gases</a:t>
            </a:r>
          </a:p>
          <a:p>
            <a:pPr rt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the gas state, widely-spaced particles move around randomly. This explains why you can compress gases and why they flow.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Plasma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like a gas, plasma has no defined shape or volume. It can expand to fill a container. However, the particles in plasma are ionized (carry an electric charge) and very widely separated from each other.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Examples of plasma</a:t>
            </a:r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 include: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Lightning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Neon sign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Earth’s ionosphere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Sun’s corona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Aurora</a:t>
            </a:r>
          </a:p>
          <a:p>
            <a:r>
              <a:rPr lang="en-US" sz="1200" b="1" i="0" u="none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Static electricity</a:t>
            </a:r>
          </a:p>
          <a:p>
            <a:pPr rtl="0" fontAlgn="t"/>
            <a:endParaRPr lang="en-US" sz="1200" b="1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b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1EE2D-5BD5-410C-AF39-870D27B24C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4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crystal or crystalline solid is a solid material whose constituents are arranged in a highly ordered microscopic structure, forming a crystal lattice that extends in all directions.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metals -many ceramics -some polymers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amorphous or non-crystalline solid is a solid that lacks the long-range order that is characteristic of a crystal for e.g. </a:t>
            </a:r>
            <a:r>
              <a:rPr lang="en-IN" dirty="0"/>
              <a:t>Glass-Ceramics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crystal or crystalline solid is a solid material whose constituents are arranged in a highly ordered microscopic structure, forming a crystal lattice that extends in all directions.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metals -many ceramics -some polymers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amorphous or non-crystalline solid is a solid that lacks the long-range order that is characteristic of a crystal for e.g. </a:t>
            </a:r>
            <a:r>
              <a:rPr lang="en-IN" dirty="0"/>
              <a:t>Glass-Ceramics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crystal or crystalline solid is a solid material whose constituents are arranged in a highly ordered microscopic structure, forming a crystal lattice that extends in all directions.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metals -many ceramics -some polymers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 amorphous or non-crystalline solid is a solid that lacks the long-range order that is characteristic of a crystal for e.g. </a:t>
            </a:r>
            <a:r>
              <a:rPr lang="en-IN" dirty="0"/>
              <a:t>Glass-Ceramics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1EE2D-5BD5-410C-AF39-870D27B24CF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Space lattice-a regular, indefinitely repeated array of points in three dimensions in which the points lie at the intersections of three sets of parallel equidistant planes.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Basis- every lattice point with an assembly of atoms or molecules or ions, which are identical in composition, arrangement and orientation, is called as the basis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1EE2D-5BD5-410C-AF39-870D27B24CF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81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UNIT cell-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simplest repeating unit in a crystal is called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cell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Primitive unit cell – The cell which is having minimum volume. For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Simple cubic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 primitive unit cell- The cell is having relatively larger volume. For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FCC, BCC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1EE2D-5BD5-410C-AF39-870D27B24CF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98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15.sv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30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3.nd.edu/~amoukasi/CBE30361/Lecture__crystallography_A.pdf" TargetMode="External"/><Relationship Id="rId2" Type="http://schemas.openxmlformats.org/officeDocument/2006/relationships/hyperlink" Target="https://ocw.mit.edu/courses/materials-science-and-engineering/3-091sc-introduction-to-solid-state-chemistry-fall-2010/amorphous-materials/21-introduction-to-glass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tc.xmu.edu.cn/jiegou/ppt/chapter7.pdf" TargetMode="External"/><Relationship Id="rId5" Type="http://schemas.openxmlformats.org/officeDocument/2006/relationships/hyperlink" Target="https://www.slideshare.net/AvinashAvi110/crystallography-125579803" TargetMode="External"/><Relationship Id="rId4" Type="http://schemas.openxmlformats.org/officeDocument/2006/relationships/hyperlink" Target="http://www.uvm.edu/~gdrusche/Classes/GEOL%20110%20-%20Earth%20Materials/2010%20files/Lecture%2011%20-%20Crystallography.pdf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qipiitk.in/workshop/2016/xrd/ppt/Prof%20Rajesh/crystallography.pdf" TargetMode="External"/><Relationship Id="rId2" Type="http://schemas.openxmlformats.org/officeDocument/2006/relationships/hyperlink" Target="http://indico.ictp.it/event/a10148/session/22/contribution/16/material/0/0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lpha.science.unitn.it/~rx/Dakar_school/1_Fornasini_a_cryst.pdf" TargetMode="External"/><Relationship Id="rId4" Type="http://schemas.openxmlformats.org/officeDocument/2006/relationships/hyperlink" Target="http://users.encs.concordia.ca/~mmedraj/TMG-Library/books/Crystallography_and_the_World_of_Symmetry.pdf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6c6ItfyiNcs" TargetMode="External"/><Relationship Id="rId3" Type="http://schemas.openxmlformats.org/officeDocument/2006/relationships/hyperlink" Target="https://nptel.ac.in/courses/104/106/104106093/" TargetMode="External"/><Relationship Id="rId7" Type="http://schemas.openxmlformats.org/officeDocument/2006/relationships/hyperlink" Target="https://www.youtube.com/watch?v=2KWjYQnHDKA" TargetMode="External"/><Relationship Id="rId2" Type="http://schemas.openxmlformats.org/officeDocument/2006/relationships/hyperlink" Target="https://study.com/academy/lesson/unit-cell-lattice-parameters-cubic-struct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cm9W10Kg8q4" TargetMode="External"/><Relationship Id="rId5" Type="http://schemas.openxmlformats.org/officeDocument/2006/relationships/hyperlink" Target="https://www.youtube.com/watch?v=yooD_MZgQN4" TargetMode="External"/><Relationship Id="rId4" Type="http://schemas.openxmlformats.org/officeDocument/2006/relationships/hyperlink" Target="https://www.coursera.org/lecture/materials-science/crystallography-and-the-electron-microscope-YhPAB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xamfear.com/notes/Class-12/Chemistry/The-Solid-State/1060/Primitive-Unit-Cells.html" TargetMode="External"/><Relationship Id="rId3" Type="http://schemas.openxmlformats.org/officeDocument/2006/relationships/hyperlink" Target="https://www.grc.nasa.gov/www/k-12/airplane/state.html" TargetMode="External"/><Relationship Id="rId7" Type="http://schemas.openxmlformats.org/officeDocument/2006/relationships/hyperlink" Target="https://www.uio.no/studier/emner/matnat/fys/MENA3100/v18/leture-slides/introduction-to-crystallography.pdf" TargetMode="External"/><Relationship Id="rId12" Type="http://schemas.openxmlformats.org/officeDocument/2006/relationships/hyperlink" Target="https://www.medicinenet.com/e_coli__0157h7/article.html" TargetMode="External"/><Relationship Id="rId2" Type="http://schemas.openxmlformats.org/officeDocument/2006/relationships/hyperlink" Target="https://fortune.com/2020/06/30/america-tech-semiconductor-manufacturing-invest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sers.aber.ac.uk/ruw/teach/334/bravais.php" TargetMode="External"/><Relationship Id="rId11" Type="http://schemas.openxmlformats.org/officeDocument/2006/relationships/hyperlink" Target="https://www.mooreanalytical.com/x-ray-diffraction-xrd/" TargetMode="External"/><Relationship Id="rId5" Type="http://schemas.openxmlformats.org/officeDocument/2006/relationships/hyperlink" Target="https://www.pngwing.com/en/free-png-yywbt" TargetMode="External"/><Relationship Id="rId10" Type="http://schemas.openxmlformats.org/officeDocument/2006/relationships/hyperlink" Target="https://www.doitpoms.ac.uk/tlplib/crystallography3/parameters.php" TargetMode="External"/><Relationship Id="rId4" Type="http://schemas.openxmlformats.org/officeDocument/2006/relationships/hyperlink" Target="https://www.britannica.com/science/amorphous-solid" TargetMode="External"/><Relationship Id="rId9" Type="http://schemas.openxmlformats.org/officeDocument/2006/relationships/hyperlink" Target="https://thefactfactor.com/facts/pure_science/chemistry/physical-chemistry/bravais-lattices/7443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2104" y="5611991"/>
            <a:ext cx="6680487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2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CRYSTALLOGRAPHY &amp; ULTRASONICS</a:t>
            </a: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41406" y="944918"/>
            <a:ext cx="11207578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by: </a:t>
            </a:r>
            <a:r>
              <a:rPr lang="en-US" sz="32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Kaur, Assistant Prof. Physics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376833" y="515155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197735" y="1837121"/>
            <a:ext cx="10241791" cy="42142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418837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per bold "/>
                <a:ea typeface="Cambria" panose="02040503050406030204" pitchFamily="18" charset="0"/>
              </a:rPr>
              <a:t>Course Outcomes 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7046"/>
              </p:ext>
            </p:extLst>
          </p:nvPr>
        </p:nvGraphicFramePr>
        <p:xfrm>
          <a:off x="399613" y="2069040"/>
          <a:ext cx="5458263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4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266" name="Picture 2" descr="Semiconductors: Why America needs to make more of its own chips ...">
            <a:extLst>
              <a:ext uri="{FF2B5EF4-FFF2-40B4-BE49-F238E27FC236}">
                <a16:creationId xmlns:a16="http://schemas.microsoft.com/office/drawing/2014/main" id="{F06553B2-A9A6-46B5-BD2B-1933453E9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14" y="592428"/>
            <a:ext cx="4520262" cy="555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104712" y="6297567"/>
            <a:ext cx="591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</a:t>
            </a:r>
            <a:r>
              <a:rPr lang="en-US" b="1" dirty="0"/>
              <a:t>Figure 1.1 Manufacturing of semiconductor [1]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5961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AC7EE2D-EA09-47AE-8E42-93B7EFA7B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066154"/>
              </p:ext>
            </p:extLst>
          </p:nvPr>
        </p:nvGraphicFramePr>
        <p:xfrm>
          <a:off x="2032000" y="1493949"/>
          <a:ext cx="8128000" cy="4881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D4BA6F-458C-471C-8C28-91ED72EAB6B6}"/>
              </a:ext>
            </a:extLst>
          </p:cNvPr>
          <p:cNvSpPr txBox="1"/>
          <p:nvPr/>
        </p:nvSpPr>
        <p:spPr>
          <a:xfrm>
            <a:off x="1416676" y="259122"/>
            <a:ext cx="10045521" cy="7694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 panose="02000806040000020004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26159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E211-121A-4181-8000-23F94E98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50" y="365126"/>
            <a:ext cx="10104549" cy="1038672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 panose="02000506000000020004"/>
              </a:rPr>
              <a:t>LECTURE OBJECTIVE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6EC25-A4F9-4825-946A-0CBF663E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075530B-2B88-47EF-B1FD-CDEE03F02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2640059"/>
              </p:ext>
            </p:extLst>
          </p:nvPr>
        </p:nvGraphicFramePr>
        <p:xfrm>
          <a:off x="838200" y="1635125"/>
          <a:ext cx="10515600" cy="4541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7195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8B38D-0516-4062-9BF5-2510AD37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918" y="326488"/>
            <a:ext cx="9962882" cy="98715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 panose="02000806040000020004"/>
              </a:rPr>
              <a:t> CONTENT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14CE2B-1139-4E4A-B75A-C1A0B3AF2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0845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BD279-52FA-4E6F-988E-10EBE5DC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/>
          </a:p>
        </p:txBody>
      </p:sp>
      <p:pic>
        <p:nvPicPr>
          <p:cNvPr id="6" name="Graphic 5" descr="Open book">
            <a:extLst>
              <a:ext uri="{FF2B5EF4-FFF2-40B4-BE49-F238E27FC236}">
                <a16:creationId xmlns:a16="http://schemas.microsoft.com/office/drawing/2014/main" id="{CE0C99AA-86A9-42CD-BC6E-0ED2E86510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5045298"/>
            <a:ext cx="1427408" cy="914400"/>
          </a:xfrm>
          <a:prstGeom prst="rect">
            <a:avLst/>
          </a:prstGeom>
        </p:spPr>
      </p:pic>
      <p:pic>
        <p:nvPicPr>
          <p:cNvPr id="8" name="Graphic 7" descr="Pencil">
            <a:extLst>
              <a:ext uri="{FF2B5EF4-FFF2-40B4-BE49-F238E27FC236}">
                <a16:creationId xmlns:a16="http://schemas.microsoft.com/office/drawing/2014/main" id="{FE8CFBBB-7E42-4683-B248-7BE60B6210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14208" y="4910361"/>
            <a:ext cx="704046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12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BB69-970D-459A-B308-EA24F31D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138" y="126461"/>
            <a:ext cx="9948661" cy="1219381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sper Bold"/>
                <a:cs typeface="Arial" panose="020B0604020202020204" pitchFamily="34" charset="0"/>
              </a:rPr>
              <a:t>TYPES OF MATTER</a:t>
            </a:r>
            <a:endParaRPr lang="en-IN" b="1" dirty="0">
              <a:solidFill>
                <a:schemeClr val="tx1"/>
              </a:solidFill>
              <a:latin typeface="Casper Bold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892E3-4DD8-4E66-9759-696C61EB12E7}"/>
              </a:ext>
            </a:extLst>
          </p:cNvPr>
          <p:cNvSpPr/>
          <p:nvPr/>
        </p:nvSpPr>
        <p:spPr>
          <a:xfrm>
            <a:off x="4564234" y="3244334"/>
            <a:ext cx="3063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TYPES OF PHYSICAL STATES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8A2F82-DDF7-400E-8C9B-989BB0D82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" t="17146" r="889" b="257"/>
          <a:stretch/>
        </p:blipFill>
        <p:spPr>
          <a:xfrm>
            <a:off x="5246814" y="1736018"/>
            <a:ext cx="6237116" cy="38802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DC84EF-900C-490A-9C8B-EEF6346CCE81}"/>
              </a:ext>
            </a:extLst>
          </p:cNvPr>
          <p:cNvSpPr txBox="1"/>
          <p:nvPr/>
        </p:nvSpPr>
        <p:spPr>
          <a:xfrm>
            <a:off x="5633181" y="5821736"/>
            <a:ext cx="544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1.2 Types of matter and their basic properties [2]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255B24-618C-4052-A262-D599C6B8FE47}"/>
              </a:ext>
            </a:extLst>
          </p:cNvPr>
          <p:cNvSpPr/>
          <p:nvPr/>
        </p:nvSpPr>
        <p:spPr>
          <a:xfrm>
            <a:off x="411848" y="1468560"/>
            <a:ext cx="4493676" cy="440120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Solids</a:t>
            </a:r>
          </a:p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In the solid state the vibrating particles form a regular pattern. This explains the fixed shape of a solid.</a:t>
            </a:r>
          </a:p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Liquids</a:t>
            </a:r>
          </a:p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In a liquid the particles still touch their neighbors but they move around, sliding over each other.</a:t>
            </a:r>
          </a:p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Gases</a:t>
            </a:r>
          </a:p>
          <a:p>
            <a:pPr algn="just" fontAlgn="t"/>
            <a:r>
              <a:rPr lang="en-US" sz="2000" dirty="0">
                <a:latin typeface="Casper"/>
                <a:cs typeface="Arial" panose="020B0604020202020204" pitchFamily="34" charset="0"/>
              </a:rPr>
              <a:t>In the gas state, widely-spaced particles move around randomly. This explains why you can compress gases.</a:t>
            </a:r>
          </a:p>
        </p:txBody>
      </p:sp>
    </p:spTree>
    <p:extLst>
      <p:ext uri="{BB962C8B-B14F-4D97-AF65-F5344CB8AC3E}">
        <p14:creationId xmlns:p14="http://schemas.microsoft.com/office/powerpoint/2010/main" val="178971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99BA-B1FA-4347-B4D8-2294F9E1B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20" y="274734"/>
            <a:ext cx="10178322" cy="1133475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sper Bold" panose="02000806040000020004"/>
                <a:cs typeface="Arial" panose="020B0604020202020204" pitchFamily="34" charset="0"/>
              </a:rPr>
              <a:t>TYPES OF SOLIDS</a:t>
            </a:r>
          </a:p>
        </p:txBody>
      </p:sp>
      <p:pic>
        <p:nvPicPr>
          <p:cNvPr id="5" name="Picture 2" descr="Amorphous solid | physics | Britannica">
            <a:extLst>
              <a:ext uri="{FF2B5EF4-FFF2-40B4-BE49-F238E27FC236}">
                <a16:creationId xmlns:a16="http://schemas.microsoft.com/office/drawing/2014/main" id="{26117686-A479-4612-B2DB-BAC1C9436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3" r="33851" b="6980"/>
          <a:stretch/>
        </p:blipFill>
        <p:spPr bwMode="auto">
          <a:xfrm>
            <a:off x="4407768" y="1858228"/>
            <a:ext cx="7227570" cy="3520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B7630-F483-41CE-9440-ED2E537F416D}"/>
              </a:ext>
            </a:extLst>
          </p:cNvPr>
          <p:cNvSpPr txBox="1"/>
          <p:nvPr/>
        </p:nvSpPr>
        <p:spPr>
          <a:xfrm>
            <a:off x="5112912" y="5971074"/>
            <a:ext cx="621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1.3 describing crystal and amorphous solid structure [3]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3567B-29E5-447A-A65A-70C87E52BB54}"/>
              </a:ext>
            </a:extLst>
          </p:cNvPr>
          <p:cNvSpPr/>
          <p:nvPr/>
        </p:nvSpPr>
        <p:spPr>
          <a:xfrm>
            <a:off x="422697" y="1536911"/>
            <a:ext cx="3734873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asper"/>
              </a:rPr>
              <a:t>A crystal or crystalline solid </a:t>
            </a:r>
            <a:r>
              <a:rPr lang="en-US" sz="2000" dirty="0">
                <a:latin typeface="Casper"/>
              </a:rPr>
              <a:t>is a solid material whose constituents are arranged in a highly ordered microscopic structure, forming a crystal lattice that extends in all directions. For e.g. metals</a:t>
            </a:r>
          </a:p>
          <a:p>
            <a:r>
              <a:rPr lang="en-US" sz="2000" dirty="0">
                <a:latin typeface="Casper"/>
              </a:rPr>
              <a:t> </a:t>
            </a:r>
            <a:r>
              <a:rPr lang="en-US" sz="2000" b="1" dirty="0">
                <a:latin typeface="Casper"/>
              </a:rPr>
              <a:t>An amorphous</a:t>
            </a:r>
            <a:r>
              <a:rPr lang="en-US" sz="2000" dirty="0">
                <a:latin typeface="Casper"/>
              </a:rPr>
              <a:t> or non-crystalline solid is a solid that lacks the long-range order that is characteristic of a crystal for e.g. </a:t>
            </a:r>
            <a:r>
              <a:rPr lang="en-IN" sz="2000" dirty="0">
                <a:latin typeface="Casper"/>
              </a:rPr>
              <a:t>Glass-Ceramics.</a:t>
            </a:r>
          </a:p>
        </p:txBody>
      </p:sp>
    </p:spTree>
    <p:extLst>
      <p:ext uri="{BB962C8B-B14F-4D97-AF65-F5344CB8AC3E}">
        <p14:creationId xmlns:p14="http://schemas.microsoft.com/office/powerpoint/2010/main" val="100504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9516-8408-4551-B8A8-37C37D31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441" y="321849"/>
            <a:ext cx="10178322" cy="892623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per Bold"/>
                <a:cs typeface="Arial" panose="020B0604020202020204" pitchFamily="34" charset="0"/>
              </a:rPr>
              <a:t>PROPERTIES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5105-EC90-459C-A6B5-565AA6ACB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37" y="1446414"/>
            <a:ext cx="10895526" cy="4774081"/>
          </a:xfrm>
          <a:ln>
            <a:solidFill>
              <a:schemeClr val="accent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400" b="1" dirty="0">
                <a:latin typeface="Casper"/>
                <a:cs typeface="Arial" panose="020B0604020202020204" pitchFamily="34" charset="0"/>
              </a:rPr>
              <a:t>Geometry:</a:t>
            </a:r>
            <a:br>
              <a:rPr lang="en-US" sz="7400" b="1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Crystalline Solids – Particles are arranged in a repeating pattern. They have a regular and ordered arrangement resulting in a definite shape.</a:t>
            </a:r>
            <a:br>
              <a:rPr lang="en-US" sz="7400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Amorphous Solids – Particles are arranged randomly. They do not have an ordered arrangement resulting in irregular shapes.</a:t>
            </a:r>
          </a:p>
          <a:p>
            <a:pPr marL="0" indent="0">
              <a:buNone/>
            </a:pPr>
            <a:r>
              <a:rPr lang="en-US" sz="7400" b="1" dirty="0">
                <a:latin typeface="Casper"/>
                <a:cs typeface="Arial" panose="020B0604020202020204" pitchFamily="34" charset="0"/>
              </a:rPr>
              <a:t>Melting Points</a:t>
            </a:r>
            <a:br>
              <a:rPr lang="en-US" sz="7400" b="1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Crystalline Solids – They have a sharp melting points. </a:t>
            </a:r>
            <a:br>
              <a:rPr lang="en-US" sz="7400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Amorphous Solids – They do not have sharp melting points. The solid tends to soften gradually over a temperature range.</a:t>
            </a:r>
          </a:p>
          <a:p>
            <a:pPr marL="0" indent="0">
              <a:buNone/>
            </a:pPr>
            <a:r>
              <a:rPr lang="en-US" sz="7400" b="1" dirty="0">
                <a:latin typeface="Casper"/>
                <a:cs typeface="Arial" panose="020B0604020202020204" pitchFamily="34" charset="0"/>
              </a:rPr>
              <a:t>Isotopism:</a:t>
            </a:r>
            <a:br>
              <a:rPr lang="en-US" sz="7400" b="1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Crystalline Solids – Anisotropic in nature. i.e., the magnitude of physical properties (such as refractive index, electrical conductivity, thermal conductivity etc.) is different along with different directions of the crystal.</a:t>
            </a:r>
            <a:br>
              <a:rPr lang="en-US" sz="7400" dirty="0">
                <a:latin typeface="Casper"/>
                <a:cs typeface="Arial" panose="020B0604020202020204" pitchFamily="34" charset="0"/>
              </a:rPr>
            </a:br>
            <a:r>
              <a:rPr lang="en-US" sz="7400" dirty="0">
                <a:latin typeface="Casper"/>
                <a:cs typeface="Arial" panose="020B0604020202020204" pitchFamily="34" charset="0"/>
              </a:rPr>
              <a:t>Amorphous Solids – Isotropic in nature. i.e., the magnitude of the physical properties is the same along with all directions of the solid.</a:t>
            </a:r>
          </a:p>
          <a:p>
            <a:pPr marL="0" indent="0">
              <a:buNone/>
            </a:pPr>
            <a:endParaRPr lang="en-US" sz="7400" dirty="0">
              <a:latin typeface="Casper"/>
              <a:cs typeface="Arial" panose="020B0604020202020204" pitchFamily="34" charset="0"/>
            </a:endParaRPr>
          </a:p>
          <a:p>
            <a:endParaRPr lang="en-IN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Head With Gears">
                <a:extLst>
                  <a:ext uri="{FF2B5EF4-FFF2-40B4-BE49-F238E27FC236}">
                    <a16:creationId xmlns:a16="http://schemas.microsoft.com/office/drawing/2014/main" id="{FB4FC52F-6D2E-4A40-9966-4B218D22C63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222631"/>
                  </p:ext>
                </p:extLst>
              </p:nvPr>
            </p:nvGraphicFramePr>
            <p:xfrm>
              <a:off x="7259615" y="5112913"/>
              <a:ext cx="3339473" cy="151737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339473" cy="1517370"/>
                    </a:xfrm>
                    <a:prstGeom prst="rect">
                      <a:avLst/>
                    </a:prstGeom>
                  </am3d:spPr>
                  <am3d:camera>
                    <am3d:pos x="0" y="0" z="626893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9171" d="1000000"/>
                    <am3d:preTrans dx="-164765" dy="-18081215" dz="-2178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1677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Head With Gears">
                <a:extLst>
                  <a:ext uri="{FF2B5EF4-FFF2-40B4-BE49-F238E27FC236}">
                    <a16:creationId xmlns:a16="http://schemas.microsoft.com/office/drawing/2014/main" id="{FB4FC52F-6D2E-4A40-9966-4B218D22C6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9615" y="5112913"/>
                <a:ext cx="3339473" cy="15173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1745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372A-78A4-4FD3-BE14-832C1BAB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524" y="415728"/>
            <a:ext cx="10027276" cy="1116806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 panose="02000806040000020004"/>
              </a:rPr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089A-B406-480A-85CB-36531BCC3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544"/>
            <a:ext cx="10515600" cy="404632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Casper"/>
                <a:cs typeface="Arial" panose="020B0604020202020204" pitchFamily="34" charset="0"/>
              </a:rPr>
              <a:t>Cleavage Property</a:t>
            </a:r>
            <a:br>
              <a:rPr lang="en-US" sz="2400" b="1" dirty="0">
                <a:latin typeface="Casper"/>
                <a:cs typeface="Arial" panose="020B0604020202020204" pitchFamily="34" charset="0"/>
              </a:rPr>
            </a:br>
            <a:r>
              <a:rPr lang="en-US" sz="2400" dirty="0">
                <a:latin typeface="Casper"/>
                <a:cs typeface="Arial" panose="020B0604020202020204" pitchFamily="34" charset="0"/>
              </a:rPr>
              <a:t>Crystalline Solids – When cutting with a sharp edge, the two new halves will have smooth surfaces.</a:t>
            </a:r>
            <a:br>
              <a:rPr lang="en-US" sz="2400" dirty="0">
                <a:latin typeface="Casper"/>
                <a:cs typeface="Arial" panose="020B0604020202020204" pitchFamily="34" charset="0"/>
              </a:rPr>
            </a:br>
            <a:r>
              <a:rPr lang="en-US" sz="2400" dirty="0">
                <a:latin typeface="Casper"/>
                <a:cs typeface="Arial" panose="020B0604020202020204" pitchFamily="34" charset="0"/>
              </a:rPr>
              <a:t>Amorphous Solids – When cutting with a sharp edge, the two resulting halves will have irregular surfaces.</a:t>
            </a:r>
          </a:p>
          <a:p>
            <a:pPr marL="0" indent="0">
              <a:buNone/>
            </a:pPr>
            <a:r>
              <a:rPr lang="en-US" sz="2400" b="1" dirty="0">
                <a:latin typeface="Casper"/>
                <a:cs typeface="Arial" panose="020B0604020202020204" pitchFamily="34" charset="0"/>
              </a:rPr>
              <a:t>Rigidity:</a:t>
            </a:r>
            <a:br>
              <a:rPr lang="en-US" sz="2400" b="1" dirty="0">
                <a:latin typeface="Casper"/>
                <a:cs typeface="Arial" panose="020B0604020202020204" pitchFamily="34" charset="0"/>
              </a:rPr>
            </a:br>
            <a:r>
              <a:rPr lang="en-US" sz="2400" dirty="0">
                <a:latin typeface="Casper"/>
                <a:cs typeface="Arial" panose="020B0604020202020204" pitchFamily="34" charset="0"/>
              </a:rPr>
              <a:t>Crystalline Solids – They are rigid solids and applying mild forces will not distort its shape.</a:t>
            </a:r>
            <a:br>
              <a:rPr lang="en-US" sz="2400" dirty="0">
                <a:latin typeface="Casper"/>
                <a:cs typeface="Arial" panose="020B0604020202020204" pitchFamily="34" charset="0"/>
              </a:rPr>
            </a:br>
            <a:r>
              <a:rPr lang="en-US" sz="2400" dirty="0">
                <a:latin typeface="Casper"/>
                <a:cs typeface="Arial" panose="020B0604020202020204" pitchFamily="34" charset="0"/>
              </a:rPr>
              <a:t>Amorphous Solids – They are not rigid, so mild effects may change the shape.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5F3BF-3EC0-4286-AC47-6E405390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9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D966-832F-41F4-AEC9-E629C830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586" y="365125"/>
            <a:ext cx="9821214" cy="1141703"/>
          </a:xfrm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r>
              <a:rPr lang="en-IN" b="1" dirty="0">
                <a:latin typeface="Casper Bold"/>
                <a:cs typeface="Arial" panose="020B0604020202020204" pitchFamily="34" charset="0"/>
              </a:rPr>
              <a:t>FORMATION OF CRYSTAL STRUCTURE</a:t>
            </a:r>
          </a:p>
        </p:txBody>
      </p:sp>
      <p:pic>
        <p:nvPicPr>
          <p:cNvPr id="2056" name="Picture 8" descr="What is crystal lattice in metals? What is an explanation for an ...">
            <a:extLst>
              <a:ext uri="{FF2B5EF4-FFF2-40B4-BE49-F238E27FC236}">
                <a16:creationId xmlns:a16="http://schemas.microsoft.com/office/drawing/2014/main" id="{6BD97CC2-A7B2-4EF1-83FC-39ACEB25F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457" y="1791506"/>
            <a:ext cx="573405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A27F0-9DB6-4739-9C90-DA811A1D79D6}"/>
              </a:ext>
            </a:extLst>
          </p:cNvPr>
          <p:cNvSpPr txBox="1"/>
          <p:nvPr/>
        </p:nvSpPr>
        <p:spPr>
          <a:xfrm>
            <a:off x="4778062" y="6196818"/>
            <a:ext cx="619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1.4 crystal structure consisting basis and space lattice [4]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7E33941-B252-48F6-B9ED-4370CAF6F799}"/>
              </a:ext>
            </a:extLst>
          </p:cNvPr>
          <p:cNvSpPr/>
          <p:nvPr/>
        </p:nvSpPr>
        <p:spPr>
          <a:xfrm>
            <a:off x="695459" y="2216945"/>
            <a:ext cx="3992451" cy="3454421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Casper"/>
                <a:cs typeface="Arial" panose="020B0604020202020204" pitchFamily="34" charset="0"/>
              </a:rPr>
              <a:t>Space lattice + basis = crystal structure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Casper"/>
                <a:cs typeface="Arial" panose="020B0604020202020204" pitchFamily="34" charset="0"/>
              </a:rPr>
              <a:t>Space lattice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tx1"/>
                </a:solidFill>
                <a:latin typeface="Casper"/>
                <a:cs typeface="Arial" panose="020B0604020202020204" pitchFamily="34" charset="0"/>
              </a:rPr>
              <a:t>Basis </a:t>
            </a:r>
          </a:p>
        </p:txBody>
      </p:sp>
    </p:spTree>
    <p:extLst>
      <p:ext uri="{BB962C8B-B14F-4D97-AF65-F5344CB8AC3E}">
        <p14:creationId xmlns:p14="http://schemas.microsoft.com/office/powerpoint/2010/main" val="275559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0BC6-9C1B-4A3E-9A12-86DE49A1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161" y="167425"/>
            <a:ext cx="9809408" cy="948674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per Bold"/>
                <a:cs typeface="Arial" panose="020B0604020202020204" pitchFamily="34" charset="0"/>
              </a:rPr>
              <a:t>Space lattice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E4532-7320-4DED-ADFF-BA0193589F21}"/>
              </a:ext>
            </a:extLst>
          </p:cNvPr>
          <p:cNvSpPr txBox="1"/>
          <p:nvPr/>
        </p:nvSpPr>
        <p:spPr>
          <a:xfrm flipH="1">
            <a:off x="1823004" y="6194738"/>
            <a:ext cx="327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1351C3-283E-440D-97CC-EEDDA4E1ED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4" t="16134" r="53771" b="4264"/>
          <a:stretch/>
        </p:blipFill>
        <p:spPr>
          <a:xfrm>
            <a:off x="6572799" y="1287887"/>
            <a:ext cx="4799246" cy="49197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0579B5-F891-4C1F-81F4-106DCBC211EE}"/>
              </a:ext>
            </a:extLst>
          </p:cNvPr>
          <p:cNvSpPr txBox="1"/>
          <p:nvPr/>
        </p:nvSpPr>
        <p:spPr>
          <a:xfrm>
            <a:off x="6952445" y="6321243"/>
            <a:ext cx="377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1.5 space lattice and basis [5] 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AF0FB2FF-F105-43B2-AA3D-25EFB9D2453A}"/>
              </a:ext>
            </a:extLst>
          </p:cNvPr>
          <p:cNvSpPr/>
          <p:nvPr/>
        </p:nvSpPr>
        <p:spPr>
          <a:xfrm>
            <a:off x="231820" y="1162317"/>
            <a:ext cx="6181860" cy="5599298"/>
          </a:xfrm>
          <a:prstGeom prst="cloud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latin typeface="Casper"/>
              </a:rPr>
              <a:t>SPACE LATTICE- </a:t>
            </a:r>
            <a:r>
              <a:rPr lang="en-IN" sz="2400" dirty="0">
                <a:latin typeface="Casper"/>
              </a:rPr>
              <a:t>a regular, indefinitely repeated array of points in three dimensions in which the points lie at the intersections of three sets of parallel equidistant planes.</a:t>
            </a:r>
          </a:p>
          <a:p>
            <a:pPr algn="just"/>
            <a:r>
              <a:rPr lang="en-IN" sz="2400" b="1" dirty="0">
                <a:latin typeface="Casper"/>
              </a:rPr>
              <a:t>BASIS</a:t>
            </a:r>
            <a:r>
              <a:rPr lang="en-IN" sz="2400" dirty="0">
                <a:latin typeface="Casper"/>
              </a:rPr>
              <a:t>-</a:t>
            </a:r>
            <a:r>
              <a:rPr lang="en-US" sz="2400" dirty="0">
                <a:latin typeface="Casper"/>
              </a:rPr>
              <a:t>The crystal basis is defined by the type, number, and arrangement of atoms inside the unit cell.</a:t>
            </a:r>
            <a:endParaRPr lang="en-IN" sz="24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2712912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75C5-CB2C-4AB9-B469-B6D585BA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434" y="167581"/>
            <a:ext cx="10019764" cy="1043034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per Bold"/>
                <a:cs typeface="Arial" panose="020B0604020202020204" pitchFamily="34" charset="0"/>
              </a:rPr>
              <a:t>CRYSTAL STRUCTURE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5F032-5F9D-4207-B083-0B8BDC840D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2" t="12282" r="14965" b="7209"/>
          <a:stretch/>
        </p:blipFill>
        <p:spPr>
          <a:xfrm>
            <a:off x="399246" y="1368057"/>
            <a:ext cx="11062952" cy="4891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AAB6C-F5ED-40EE-9865-79E7B7DEF15B}"/>
              </a:ext>
            </a:extLst>
          </p:cNvPr>
          <p:cNvSpPr txBox="1"/>
          <p:nvPr/>
        </p:nvSpPr>
        <p:spPr>
          <a:xfrm>
            <a:off x="3168204" y="6321088"/>
            <a:ext cx="620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1.6 crystal structure by joining space lattice and basis [6]</a:t>
            </a:r>
          </a:p>
        </p:txBody>
      </p:sp>
    </p:spTree>
    <p:extLst>
      <p:ext uri="{BB962C8B-B14F-4D97-AF65-F5344CB8AC3E}">
        <p14:creationId xmlns:p14="http://schemas.microsoft.com/office/powerpoint/2010/main" val="3304443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2DBD-39A1-42C0-B530-195A8162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54" y="260685"/>
            <a:ext cx="10323489" cy="106584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per Bold"/>
                <a:cs typeface="Arial" panose="020B0604020202020204" pitchFamily="34" charset="0"/>
              </a:rPr>
              <a:t>UNIT CELL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Simple Cubic Structure">
                <a:extLst>
                  <a:ext uri="{FF2B5EF4-FFF2-40B4-BE49-F238E27FC236}">
                    <a16:creationId xmlns:a16="http://schemas.microsoft.com/office/drawing/2014/main" id="{68E238D2-B1C9-4F95-822D-C25BB7B92B1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9710234"/>
                  </p:ext>
                </p:extLst>
              </p:nvPr>
            </p:nvGraphicFramePr>
            <p:xfrm>
              <a:off x="6856890" y="1841680"/>
              <a:ext cx="4428260" cy="398511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428260" cy="3985116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am3d:spPr>
                  <am3d:camera>
                    <am3d:pos x="0" y="0" z="813362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312" d="1000000"/>
                    <am3d:preTrans dx="-1" dy="0" dz="179"/>
                    <am3d:scale>
                      <am3d:sx n="1000000" d="1000000"/>
                      <am3d:sy n="1000000" d="1000000"/>
                      <am3d:sz n="1000000" d="1000000"/>
                    </am3d:scale>
                    <am3d:rot ax="1562383" ay="1714905" az="78938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4452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Simple Cubic Structure">
                <a:extLst>
                  <a:ext uri="{FF2B5EF4-FFF2-40B4-BE49-F238E27FC236}">
                    <a16:creationId xmlns:a16="http://schemas.microsoft.com/office/drawing/2014/main" id="{68E238D2-B1C9-4F95-822D-C25BB7B92B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6890" y="1841680"/>
                <a:ext cx="4428260" cy="3985116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8B571FD-47DD-4A00-95DF-1D9DAEF4ACBB}"/>
              </a:ext>
            </a:extLst>
          </p:cNvPr>
          <p:cNvSpPr txBox="1"/>
          <p:nvPr/>
        </p:nvSpPr>
        <p:spPr>
          <a:xfrm>
            <a:off x="6856890" y="6016801"/>
            <a:ext cx="387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1.7 unit cell [7]  </a:t>
            </a:r>
          </a:p>
        </p:txBody>
      </p:sp>
      <p:sp>
        <p:nvSpPr>
          <p:cNvPr id="9" name="Star: 16 Points 8">
            <a:extLst>
              <a:ext uri="{FF2B5EF4-FFF2-40B4-BE49-F238E27FC236}">
                <a16:creationId xmlns:a16="http://schemas.microsoft.com/office/drawing/2014/main" id="{6D378AC3-4E70-487C-BF08-DF6F263092EC}"/>
              </a:ext>
            </a:extLst>
          </p:cNvPr>
          <p:cNvSpPr/>
          <p:nvPr/>
        </p:nvSpPr>
        <p:spPr>
          <a:xfrm>
            <a:off x="811368" y="1596980"/>
            <a:ext cx="5460643" cy="4849422"/>
          </a:xfrm>
          <a:prstGeom prst="star16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400" dirty="0">
              <a:solidFill>
                <a:srgbClr val="222222"/>
              </a:solidFill>
              <a:latin typeface="Casper"/>
            </a:endParaRPr>
          </a:p>
          <a:p>
            <a:pPr algn="just"/>
            <a:endParaRPr lang="en-US" sz="2400" dirty="0">
              <a:solidFill>
                <a:srgbClr val="222222"/>
              </a:solidFill>
              <a:latin typeface="Casper"/>
            </a:endParaRPr>
          </a:p>
          <a:p>
            <a:pPr algn="just"/>
            <a:r>
              <a:rPr lang="en-US" sz="2400" dirty="0">
                <a:solidFill>
                  <a:srgbClr val="222222"/>
                </a:solidFill>
                <a:latin typeface="Casper"/>
              </a:rPr>
              <a:t>The smallest group of atoms which has the overall symmetry of a crystal, and from which the entire lattice can be built up by repetition in three dimensions.</a:t>
            </a:r>
          </a:p>
          <a:p>
            <a:b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370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B8929-197B-49EE-B18B-9012DEC2D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66" y="365126"/>
            <a:ext cx="10053034" cy="1064430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 panose="02000806040000020004"/>
              </a:rPr>
              <a:t>PRIMITIVE UNIT CELL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BBDE6-6D06-442A-939F-F8EE3055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pic>
        <p:nvPicPr>
          <p:cNvPr id="11266" name="Picture 2" descr="CBSE NCERT Notes Class 12 Chemistry The Solid State">
            <a:extLst>
              <a:ext uri="{FF2B5EF4-FFF2-40B4-BE49-F238E27FC236}">
                <a16:creationId xmlns:a16="http://schemas.microsoft.com/office/drawing/2014/main" id="{CC67F4BF-CD45-4F05-97C2-BDA78B59C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747" y="2295368"/>
            <a:ext cx="5029602" cy="357739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Wave 4">
            <a:extLst>
              <a:ext uri="{FF2B5EF4-FFF2-40B4-BE49-F238E27FC236}">
                <a16:creationId xmlns:a16="http://schemas.microsoft.com/office/drawing/2014/main" id="{62D1D244-8F01-4B57-980D-5BAA9E9519DB}"/>
              </a:ext>
            </a:extLst>
          </p:cNvPr>
          <p:cNvSpPr/>
          <p:nvPr/>
        </p:nvSpPr>
        <p:spPr>
          <a:xfrm>
            <a:off x="206062" y="1635617"/>
            <a:ext cx="5889938" cy="5085858"/>
          </a:xfrm>
          <a:prstGeom prst="wave">
            <a:avLst>
              <a:gd name="adj1" fmla="val 12500"/>
              <a:gd name="adj2" fmla="val 1769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dirty="0">
                <a:latin typeface="Casper" panose="02000506000000020004"/>
              </a:rPr>
              <a:t>A </a:t>
            </a:r>
            <a:r>
              <a:rPr lang="en-US" sz="2400" b="1" dirty="0">
                <a:latin typeface="Casper" panose="02000506000000020004"/>
              </a:rPr>
              <a:t>primitive cell</a:t>
            </a:r>
            <a:r>
              <a:rPr lang="en-US" sz="2400" dirty="0">
                <a:latin typeface="Casper" panose="02000506000000020004"/>
              </a:rPr>
              <a:t> is a unit cell that contains exactly one lattice point. It is the smallest possible cell. If there is a lattice point at the edge of a cell and thus shared with another cell, it is only counted half. Accordingly, a point located on the corner of a cube is shared by 8 cubes. 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EDB74-34D7-42BF-9D5A-AE8BC55AD377}"/>
              </a:ext>
            </a:extLst>
          </p:cNvPr>
          <p:cNvSpPr txBox="1"/>
          <p:nvPr/>
        </p:nvSpPr>
        <p:spPr>
          <a:xfrm>
            <a:off x="6844011" y="6123542"/>
            <a:ext cx="387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1.8 primitive unit cell [7]  </a:t>
            </a:r>
          </a:p>
        </p:txBody>
      </p:sp>
    </p:spTree>
    <p:extLst>
      <p:ext uri="{BB962C8B-B14F-4D97-AF65-F5344CB8AC3E}">
        <p14:creationId xmlns:p14="http://schemas.microsoft.com/office/powerpoint/2010/main" val="370954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B581-637B-49B7-A812-B4327F0B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918" y="209084"/>
            <a:ext cx="10130308" cy="1240999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NON-PRIMITIVE CELL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A2C69-530B-4D87-9EB1-B46E299A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DE10A3FE-F6E0-4E09-9328-16B86AC05CDF}"/>
              </a:ext>
            </a:extLst>
          </p:cNvPr>
          <p:cNvSpPr/>
          <p:nvPr/>
        </p:nvSpPr>
        <p:spPr>
          <a:xfrm>
            <a:off x="838199" y="1648497"/>
            <a:ext cx="10392177" cy="4707854"/>
          </a:xfrm>
          <a:prstGeom prst="cloud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Casper "/>
              </a:rPr>
              <a:t>Non-primitive cells are of three kinds: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i="1" dirty="0">
                <a:solidFill>
                  <a:srgbClr val="000000"/>
                </a:solidFill>
                <a:latin typeface="Casper "/>
              </a:rPr>
              <a:t>end-centered</a:t>
            </a:r>
            <a:r>
              <a:rPr lang="en-US" sz="2400" dirty="0">
                <a:solidFill>
                  <a:srgbClr val="000000"/>
                </a:solidFill>
                <a:latin typeface="Casper "/>
              </a:rPr>
              <a:t> : an extra lattice point is centered in each of two opposing faces of the cell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i="1" dirty="0">
                <a:solidFill>
                  <a:srgbClr val="000000"/>
                </a:solidFill>
                <a:latin typeface="Casper "/>
              </a:rPr>
              <a:t>face-centered</a:t>
            </a:r>
            <a:r>
              <a:rPr lang="en-US" sz="2400" dirty="0">
                <a:solidFill>
                  <a:srgbClr val="000000"/>
                </a:solidFill>
                <a:latin typeface="Casper "/>
              </a:rPr>
              <a:t> : an extra lattice point is centered in every face of the cell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i="1" dirty="0">
                <a:solidFill>
                  <a:srgbClr val="000000"/>
                </a:solidFill>
                <a:latin typeface="Casper "/>
              </a:rPr>
              <a:t>body-centered</a:t>
            </a:r>
            <a:r>
              <a:rPr lang="en-US" sz="2400" dirty="0">
                <a:solidFill>
                  <a:srgbClr val="000000"/>
                </a:solidFill>
                <a:latin typeface="Casper "/>
              </a:rPr>
              <a:t> : an extra lattice point is centered in the exact middle of the cell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00"/>
                </a:solidFill>
                <a:latin typeface="Casper "/>
              </a:rPr>
              <a:t>They have larger volume than primitive unit cell. </a:t>
            </a:r>
          </a:p>
        </p:txBody>
      </p:sp>
    </p:spTree>
    <p:extLst>
      <p:ext uri="{BB962C8B-B14F-4D97-AF65-F5344CB8AC3E}">
        <p14:creationId xmlns:p14="http://schemas.microsoft.com/office/powerpoint/2010/main" val="44296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63FD-7CFB-4D05-B157-F150B7FE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222" y="365125"/>
            <a:ext cx="9782577" cy="98715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NON-PRIMITIVE UNIT CELL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80A13-39F7-49A0-8D09-2DB8F57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7CAF-60A0-4E8C-9126-AE5129AA5DA6}"/>
              </a:ext>
            </a:extLst>
          </p:cNvPr>
          <p:cNvSpPr txBox="1"/>
          <p:nvPr/>
        </p:nvSpPr>
        <p:spPr>
          <a:xfrm>
            <a:off x="4595611" y="6159405"/>
            <a:ext cx="318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1.10 Face centred cell [8]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0C5E7-4D79-44F9-9754-C567BB8F0A0B}"/>
              </a:ext>
            </a:extLst>
          </p:cNvPr>
          <p:cNvSpPr txBox="1"/>
          <p:nvPr/>
        </p:nvSpPr>
        <p:spPr>
          <a:xfrm flipH="1">
            <a:off x="838200" y="6143222"/>
            <a:ext cx="318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1.9 Body centred cell [8]</a:t>
            </a:r>
          </a:p>
        </p:txBody>
      </p:sp>
      <p:pic>
        <p:nvPicPr>
          <p:cNvPr id="12290" name="Picture 2" descr="Bravais Lattices: 14 different possible structures ...">
            <a:extLst>
              <a:ext uri="{FF2B5EF4-FFF2-40B4-BE49-F238E27FC236}">
                <a16:creationId xmlns:a16="http://schemas.microsoft.com/office/drawing/2014/main" id="{3EB97573-A9E3-4DD2-A4A9-871EA74FF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043" y="1751527"/>
            <a:ext cx="3181083" cy="399245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ब्रेवे जालक क्या है , ब्रेवे जालक के ...">
            <a:extLst>
              <a:ext uri="{FF2B5EF4-FFF2-40B4-BE49-F238E27FC236}">
                <a16:creationId xmlns:a16="http://schemas.microsoft.com/office/drawing/2014/main" id="{438FFF86-6B36-46EC-88DC-01F29DA24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029" y="1751527"/>
            <a:ext cx="3400022" cy="39924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ब्रेवे जालक क्या है , ब्रेवे जालक के ...">
            <a:extLst>
              <a:ext uri="{FF2B5EF4-FFF2-40B4-BE49-F238E27FC236}">
                <a16:creationId xmlns:a16="http://schemas.microsoft.com/office/drawing/2014/main" id="{9FD2405E-2D62-4AE7-A0A6-1B4801B10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54" y="1751527"/>
            <a:ext cx="3181083" cy="39924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FA1781-B65B-46F0-9922-8A7FFE20B57D}"/>
              </a:ext>
            </a:extLst>
          </p:cNvPr>
          <p:cNvSpPr txBox="1"/>
          <p:nvPr/>
        </p:nvSpPr>
        <p:spPr>
          <a:xfrm>
            <a:off x="8163000" y="6191241"/>
            <a:ext cx="335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1.11 end centred cell [8]</a:t>
            </a:r>
          </a:p>
        </p:txBody>
      </p:sp>
    </p:spTree>
    <p:extLst>
      <p:ext uri="{BB962C8B-B14F-4D97-AF65-F5344CB8AC3E}">
        <p14:creationId xmlns:p14="http://schemas.microsoft.com/office/powerpoint/2010/main" val="963012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A0C9-A40C-454F-A504-8FD7B74D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644" y="365125"/>
            <a:ext cx="10040155" cy="943949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Casper Bold"/>
                <a:cs typeface="Arial" panose="020B0604020202020204" pitchFamily="34" charset="0"/>
              </a:rPr>
              <a:t>LATTICE PARAMETERS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ABA3E-3D17-445D-9DEB-F995F6E29AD0}"/>
              </a:ext>
            </a:extLst>
          </p:cNvPr>
          <p:cNvSpPr txBox="1"/>
          <p:nvPr/>
        </p:nvSpPr>
        <p:spPr>
          <a:xfrm>
            <a:off x="6645498" y="6123543"/>
            <a:ext cx="4391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1.12 parameters of unit cell [9]</a:t>
            </a:r>
          </a:p>
        </p:txBody>
      </p:sp>
      <p:pic>
        <p:nvPicPr>
          <p:cNvPr id="13314" name="Picture 2" descr="DoITPoMS - TLP Library Crystallography - Lattice geometry">
            <a:extLst>
              <a:ext uri="{FF2B5EF4-FFF2-40B4-BE49-F238E27FC236}">
                <a16:creationId xmlns:a16="http://schemas.microsoft.com/office/drawing/2014/main" id="{6183F1D5-E9F5-4BE9-A189-0E6708AF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54207"/>
            <a:ext cx="5257799" cy="379583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029CA8-4236-4BC8-B915-7A2946125BE7}"/>
              </a:ext>
            </a:extLst>
          </p:cNvPr>
          <p:cNvSpPr txBox="1"/>
          <p:nvPr/>
        </p:nvSpPr>
        <p:spPr>
          <a:xfrm>
            <a:off x="1313644" y="2343962"/>
            <a:ext cx="355457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Casper "/>
              </a:rPr>
              <a:t>6 parameters </a:t>
            </a:r>
          </a:p>
          <a:p>
            <a:r>
              <a:rPr lang="en-IN" sz="2400" dirty="0">
                <a:latin typeface="Casper "/>
              </a:rPr>
              <a:t>Length of axis along x, y, z axis written as a, b, c</a:t>
            </a:r>
          </a:p>
          <a:p>
            <a:r>
              <a:rPr lang="en-IN" sz="2400" dirty="0">
                <a:latin typeface="Casper "/>
              </a:rPr>
              <a:t>Angle between y and z axis is </a:t>
            </a:r>
            <a:r>
              <a:rPr lang="el-GR" sz="2400" dirty="0">
                <a:latin typeface="Casper "/>
              </a:rPr>
              <a:t>α</a:t>
            </a:r>
            <a:endParaRPr lang="en-IN" sz="2400" dirty="0">
              <a:latin typeface="Casper "/>
            </a:endParaRPr>
          </a:p>
          <a:p>
            <a:r>
              <a:rPr lang="en-IN" sz="2400" dirty="0">
                <a:latin typeface="Casper "/>
              </a:rPr>
              <a:t>Angle between x and z axis is </a:t>
            </a:r>
            <a:r>
              <a:rPr lang="el-GR" sz="2400" dirty="0">
                <a:latin typeface="Casper "/>
              </a:rPr>
              <a:t>β</a:t>
            </a:r>
            <a:endParaRPr lang="en-IN" sz="2400" dirty="0">
              <a:latin typeface="Casper "/>
            </a:endParaRPr>
          </a:p>
          <a:p>
            <a:r>
              <a:rPr lang="en-IN" sz="2400" dirty="0">
                <a:latin typeface="Casper "/>
              </a:rPr>
              <a:t>Angle between x and y axis is </a:t>
            </a:r>
            <a:r>
              <a:rPr lang="el-GR" sz="2400" dirty="0">
                <a:latin typeface="Casper "/>
              </a:rPr>
              <a:t>γ</a:t>
            </a:r>
            <a:endParaRPr lang="en-IN" sz="2400" dirty="0">
              <a:latin typeface="Casper "/>
            </a:endParaRPr>
          </a:p>
        </p:txBody>
      </p:sp>
    </p:spTree>
    <p:extLst>
      <p:ext uri="{BB962C8B-B14F-4D97-AF65-F5344CB8AC3E}">
        <p14:creationId xmlns:p14="http://schemas.microsoft.com/office/powerpoint/2010/main" val="31265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DBDE-3865-44AB-AB19-91BDEFDD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886" y="176097"/>
            <a:ext cx="10065913" cy="115042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CRYSTAL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01E4D-E67D-4ABD-96C3-D0BA47D4A694}"/>
              </a:ext>
            </a:extLst>
          </p:cNvPr>
          <p:cNvSpPr txBox="1"/>
          <p:nvPr/>
        </p:nvSpPr>
        <p:spPr>
          <a:xfrm>
            <a:off x="4022501" y="6312571"/>
            <a:ext cx="414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1.13 Crystal systems [8]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9E7F22-4098-4124-88F5-A7E041EAB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7" t="14280" r="16441" b="9655"/>
          <a:stretch/>
        </p:blipFill>
        <p:spPr>
          <a:xfrm>
            <a:off x="231820" y="1571223"/>
            <a:ext cx="11121980" cy="4739425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13843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82ED-CD92-49BE-B4E4-358FF781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434" y="365125"/>
            <a:ext cx="9911366" cy="110306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APPLICATIONS IN ENGINEERING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CCE9A3-A974-40C0-A360-6E3B91BACD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735829"/>
              </p:ext>
            </p:extLst>
          </p:nvPr>
        </p:nvGraphicFramePr>
        <p:xfrm>
          <a:off x="838200" y="1825625"/>
          <a:ext cx="538229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644F4-BD2B-43FF-B07B-FB3A0271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20</a:t>
            </a:fld>
            <a:endParaRPr lang="en-US"/>
          </a:p>
        </p:txBody>
      </p:sp>
      <p:pic>
        <p:nvPicPr>
          <p:cNvPr id="14338" name="Picture 2" descr="11.5 X-Ray Diffraction by Crystals - Ms. Smith">
            <a:extLst>
              <a:ext uri="{FF2B5EF4-FFF2-40B4-BE49-F238E27FC236}">
                <a16:creationId xmlns:a16="http://schemas.microsoft.com/office/drawing/2014/main" id="{74203AC8-BA5E-4876-9CFD-881654EA9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346" y="1944709"/>
            <a:ext cx="4945488" cy="405684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59D76-8C62-405C-A190-90863E623176}"/>
              </a:ext>
            </a:extLst>
          </p:cNvPr>
          <p:cNvSpPr txBox="1"/>
          <p:nvPr/>
        </p:nvSpPr>
        <p:spPr>
          <a:xfrm>
            <a:off x="6555346" y="6308209"/>
            <a:ext cx="3988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1.14 x-ray experiment set up [10]</a:t>
            </a:r>
          </a:p>
        </p:txBody>
      </p:sp>
    </p:spTree>
    <p:extLst>
      <p:ext uri="{BB962C8B-B14F-4D97-AF65-F5344CB8AC3E}">
        <p14:creationId xmlns:p14="http://schemas.microsoft.com/office/powerpoint/2010/main" val="3087666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1AB5-56F2-488E-BF10-9AEA39E6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54" y="136525"/>
            <a:ext cx="9924245" cy="98393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APPLICATIONS</a:t>
            </a:r>
            <a:r>
              <a:rPr lang="en-IN" dirty="0"/>
              <a:t>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0F50B86-7114-437B-AA36-EEA4C9069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133342"/>
              </p:ext>
            </p:extLst>
          </p:nvPr>
        </p:nvGraphicFramePr>
        <p:xfrm>
          <a:off x="838201" y="1825625"/>
          <a:ext cx="593608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20CB4-D484-4A0B-A603-C602CA19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21</a:t>
            </a:fld>
            <a:endParaRPr lang="en-US"/>
          </a:p>
        </p:txBody>
      </p:sp>
      <p:pic>
        <p:nvPicPr>
          <p:cNvPr id="15362" name="Picture 2" descr="Download wallpapers bacteria, microscope, green microorganisms ...">
            <a:extLst>
              <a:ext uri="{FF2B5EF4-FFF2-40B4-BE49-F238E27FC236}">
                <a16:creationId xmlns:a16="http://schemas.microsoft.com/office/drawing/2014/main" id="{FEDB00B4-A089-4CEC-95F1-497DC100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798" y="1825625"/>
            <a:ext cx="4349035" cy="43513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F57E5A-FFC6-403F-8A87-DA35778AF9BC}"/>
              </a:ext>
            </a:extLst>
          </p:cNvPr>
          <p:cNvSpPr txBox="1"/>
          <p:nvPr/>
        </p:nvSpPr>
        <p:spPr>
          <a:xfrm>
            <a:off x="7328079" y="6356350"/>
            <a:ext cx="315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Figure 1.15 bacteria image [11]</a:t>
            </a:r>
          </a:p>
        </p:txBody>
      </p:sp>
    </p:spTree>
    <p:extLst>
      <p:ext uri="{BB962C8B-B14F-4D97-AF65-F5344CB8AC3E}">
        <p14:creationId xmlns:p14="http://schemas.microsoft.com/office/powerpoint/2010/main" val="952304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F52C-9B10-4BEF-BC76-531BEE07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312" y="365125"/>
            <a:ext cx="9898487" cy="1077309"/>
          </a:xfrm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Casper Bold"/>
              </a:rPr>
              <a:t>LIMITATIONS OF X-Ray DIFFRACTION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7FCC5-3646-4E7D-98F7-578EFFBD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895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As the crystal's repeating unit, its unit cell, becomes larger and more complex, the atomic-level picture provided by X-ray crystallography becomes less well-resolved for a given number of observed reflections.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sper" panose="02000506000000020004"/>
              </a:rPr>
              <a:t>If the diffraction pattern is not clear, then the sample may not be pure and will be purified at this point. But other factors can prevent a diffraction pattern from being generated including a too-small sample (needs to be at 0.1 nm in each dimension), an irregular crystal structure, and the presence of any internal imperfections—such as cracks—in the crystal.</a:t>
            </a:r>
            <a:endParaRPr lang="en-IN" sz="2400" dirty="0">
              <a:latin typeface="Casper" panose="020005060000000200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006A7-14CC-4B3F-8234-C5B04103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73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A7B7-4A3D-485A-BFDC-769E5411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644" y="365126"/>
            <a:ext cx="10040155" cy="987156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 panose="02000806040000020004"/>
              </a:rPr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5001-1248-4EB2-9B11-2CD2D1F0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6153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Justify use of X-Ray to study crystal 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Is there any term like polycrystalline?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Differentiate between crystalline and amorphous materials.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Explain non primitive unit cell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Define unit cell, space lattice, basis.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How many crystal systems are there and describe them.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Casper"/>
              </a:rPr>
              <a:t>Predict the unit cell for </a:t>
            </a:r>
            <a:r>
              <a:rPr lang="en-IN" sz="2400" dirty="0" err="1">
                <a:latin typeface="Casper"/>
              </a:rPr>
              <a:t>NaCl</a:t>
            </a:r>
            <a:endParaRPr lang="en-IN" sz="2400" dirty="0">
              <a:latin typeface="Casper"/>
            </a:endParaRPr>
          </a:p>
          <a:p>
            <a:pPr marL="514350" indent="-514350">
              <a:buFont typeface="+mj-lt"/>
              <a:buAutoNum type="arabicPeriod"/>
            </a:pPr>
            <a:endParaRPr lang="en-IN" dirty="0">
              <a:latin typeface="Casper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2D217-ACCB-4A4F-94FC-ED9A12B1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69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0A28-F3F4-410F-A415-FB3EEE96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02" y="365125"/>
            <a:ext cx="10014397" cy="110306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260D-8B82-4219-8429-E5D04CEB4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579983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Crystallography is a field of science that deals with arrangements of atoms.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There are three types of matter of state.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Crystalline materials are those have periodic arrangements of atoms.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Space lattice and basis form complete crystal.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Unit cell is smallest repeating unit in crystals.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There are 6 parameters of one unit cell.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There are 7 crystal systems and 14 Bravais lattice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1FC14-69B6-4D8D-8A33-E71CB3D6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52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188" y="360361"/>
            <a:ext cx="10310611" cy="1030557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693" y="1619250"/>
            <a:ext cx="10515600" cy="435133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https://ocw.mit.edu/courses/materials-science-and-engineering/3-091sc-introduction-to-solid-state-chemistry-fall-2010/amorphous-materials/21-introduction-to-glasses/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https://www3.nd.edu/~amoukasi/CBE30361/Lecture__crystallography_A.pdf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http://www.uvm.edu/~gdrusche/Classes/GEOL%20110%20-%20Earth%20Materials/2010%20files/Lecture%2011%20-%20Crystallography.pdf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https://www.slideshare.net/AvinashAvi110/crystallography-125579803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http://ctc.xmu.edu.cn/jiegou/ppt/chapter7.pdf</a:t>
            </a:r>
            <a:endParaRPr lang="en-IN" sz="2400" dirty="0">
              <a:latin typeface="Casper" panose="02000506000000020004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sz="2400" dirty="0">
              <a:latin typeface="Casper" panose="02000506000000020004"/>
            </a:endParaRPr>
          </a:p>
          <a:p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B0A7-00AE-4BF7-BFDF-16BB05FC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58" y="365125"/>
            <a:ext cx="9743941" cy="1025793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1E89-CBD6-4AE7-AA4E-D68CCACE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022" y="1606684"/>
            <a:ext cx="9927204" cy="435133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http://indico.ictp.it/event/a10148/session/22/contribution/16/material/0/0.pdf</a:t>
            </a:r>
            <a:endParaRPr lang="en-IN" sz="2400" dirty="0">
              <a:latin typeface="Caspe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http://www.teqipiitk.in/workshop/2016/xrd/ppt/Prof%20Rajesh/crystallography.pdf</a:t>
            </a:r>
            <a:endParaRPr lang="en-IN" sz="2400" dirty="0">
              <a:latin typeface="Caspe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http://users.encs.concordia.ca/~mmedraj/TMG-Library/books/Crystallography_and_the_World_of_Symmetry.pdf</a:t>
            </a:r>
            <a:endParaRPr lang="en-IN" sz="2400" dirty="0">
              <a:latin typeface="Caspe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http://alpha.science.unitn.it/~rx/Dakar_school/1_Fornasini_a_cryst.pdf</a:t>
            </a:r>
            <a:endParaRPr lang="en-IN" sz="2400" dirty="0">
              <a:latin typeface="Casper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sper"/>
              </a:rPr>
              <a:t>Malik H.K, Singh A.K. (2011) Engineering Physics, TMH, New Delhi. ISBN: 9780070671539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latin typeface="Casper" panose="02000506000000020004"/>
              </a:rPr>
              <a:t>T2</a:t>
            </a:r>
            <a:r>
              <a:rPr lang="en-IN" sz="2400" dirty="0">
                <a:latin typeface="Casper" panose="02000506000000020004"/>
              </a:rPr>
              <a:t>. Beiser A. (2002) Concepts of Modern Physics, McGraw Hill Education. ISBN:   9780070495531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1EA7C-F284-4999-AAD5-77597FC2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2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366A-6702-418C-AFC0-8C706F03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676" y="365126"/>
            <a:ext cx="9937124" cy="1038672"/>
          </a:xfrm>
          <a:ln>
            <a:solidFill>
              <a:srgbClr val="FF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 Bold"/>
              </a:rPr>
              <a:t>REFERENCE VIDEOS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B43FA-B45C-44AE-9A8E-260B2DF3D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026" y="1584102"/>
            <a:ext cx="9932773" cy="4772248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https://study.com/academy/lesson/unit-cell-lattice-parameters-cubic-structures.html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https://nptel.ac.in/courses/104/106/104106093/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https://www.coursera.org/lecture/materials-science/crystallography-and-the-electron-microscope-YhPAB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https://www.youtube.com/watch?v=yooD_MZgQN4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https://www.youtube.com/watch?v=cm9W10Kg8q4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https://www.youtube.com/watch?v=2KWjYQnHDKA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Casper" panose="0200050600000002000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https://www.youtube.com/watch?v=6c6ItfyiNcs</a:t>
            </a:r>
            <a:endParaRPr lang="en-IN" sz="2400" dirty="0">
              <a:latin typeface="Casper" panose="02000506000000020004"/>
            </a:endParaRPr>
          </a:p>
          <a:p>
            <a:pPr>
              <a:lnSpc>
                <a:spcPct val="100000"/>
              </a:lnSpc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EB16A-CD51-4DD1-ACF2-43C1E5C2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29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240E-F6D2-4BFE-94A8-64EB4142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04" y="326489"/>
            <a:ext cx="10515600" cy="1115945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Casper"/>
              </a:rPr>
              <a:t>IMAGES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F1C71-0701-4179-B7DE-00B1AB76A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897" y="1532586"/>
            <a:ext cx="10533207" cy="5188889"/>
          </a:xfrm>
          <a:ln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[1</a:t>
            </a:r>
            <a:r>
              <a:rPr lang="en-IN" sz="3800" dirty="0"/>
              <a:t>] </a:t>
            </a:r>
            <a:r>
              <a:rPr lang="en-IN" sz="3400" u="sng" dirty="0">
                <a:latin typeface="Casp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https://fortune.com/2020/06/30/america-tech-semiconductor-manufacturing-investment/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[2] </a:t>
            </a:r>
            <a:r>
              <a:rPr lang="en-IN" sz="3400" u="sng" dirty="0">
                <a:latin typeface="Casp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https://www.grc.nasa.gov/www/k-12/airplane/state.html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[3] </a:t>
            </a:r>
            <a:r>
              <a:rPr lang="en-IN" sz="3400" u="sng" dirty="0">
                <a:latin typeface="Casp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https://www.britannica.com/science/amorphous-solid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[4] </a:t>
            </a:r>
            <a:r>
              <a:rPr lang="en-IN" sz="3400" u="sng" dirty="0">
                <a:latin typeface="Casp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https://www.pngwing.com/en/free-png-yywbt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[5] </a:t>
            </a:r>
            <a:r>
              <a:rPr lang="en-IN" sz="3400" u="sng" dirty="0">
                <a:latin typeface="Casp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https://users.aber.ac.uk/ruw/teach/334/bravais.php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[6] </a:t>
            </a:r>
            <a:r>
              <a:rPr lang="en-IN" sz="3400" u="sng" dirty="0">
                <a:latin typeface="Casp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https://www.uio.no/studier/emner/matnat/fys/MENA3100/v18/leture-slides/introduction-to-crystallography.pdf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[7] </a:t>
            </a:r>
            <a:r>
              <a:rPr lang="en-IN" sz="3400" u="sng" dirty="0">
                <a:latin typeface="Casper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https://www.examfear.com/notes/Class-12/Chemistry/The-Solid-State/1060/Primitive-Unit-Cells.html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u="sng" dirty="0">
                <a:latin typeface="Casper"/>
              </a:rPr>
              <a:t>[8] </a:t>
            </a:r>
            <a:r>
              <a:rPr lang="en-IN" sz="3400" u="sng" dirty="0">
                <a:latin typeface="Casper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https://thefactfactor.com/facts/pure_science/chemistry/physical-chemistry/bravais-lattices/7443/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[9] </a:t>
            </a:r>
            <a:r>
              <a:rPr lang="en-IN" sz="3400" u="sng" dirty="0">
                <a:latin typeface="Casper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https://www.doitpoms.ac.uk/tlplib/crystallography3/parameters.php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u="sng" dirty="0">
                <a:latin typeface="Casper"/>
              </a:rPr>
              <a:t>[10] </a:t>
            </a:r>
            <a:r>
              <a:rPr lang="en-IN" sz="3400" u="sng" dirty="0">
                <a:latin typeface="Casper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https://www.mooreanalytical.com/x-ray-diffraction-xrd/</a:t>
            </a:r>
            <a:endParaRPr lang="en-IN" sz="3400" dirty="0">
              <a:latin typeface="Casper"/>
            </a:endParaRPr>
          </a:p>
          <a:p>
            <a:pPr marL="0" indent="0">
              <a:buNone/>
            </a:pPr>
            <a:r>
              <a:rPr lang="en-IN" sz="3400" dirty="0">
                <a:latin typeface="Casper"/>
              </a:rPr>
              <a:t>[11] </a:t>
            </a:r>
            <a:r>
              <a:rPr lang="en-IN" sz="3400" u="sng" dirty="0">
                <a:latin typeface="Casper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https://www.medicinenet.com/e_coli__0157h7/article.html</a:t>
            </a:r>
            <a:endParaRPr lang="en-IN" sz="3400" dirty="0">
              <a:latin typeface="Casper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B25E-190B-481A-B51A-594DC329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93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9610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arminder.uis@cumail.in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1813</TotalTime>
  <Words>2552</Words>
  <Application>Microsoft Office PowerPoint</Application>
  <PresentationFormat>Widescreen</PresentationFormat>
  <Paragraphs>230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</vt:lpstr>
      <vt:lpstr>arial</vt:lpstr>
      <vt:lpstr>Arial Black</vt:lpstr>
      <vt:lpstr>Calibri</vt:lpstr>
      <vt:lpstr>Calibri Light</vt:lpstr>
      <vt:lpstr>Caper bold </vt:lpstr>
      <vt:lpstr>Casper</vt:lpstr>
      <vt:lpstr>Casper </vt:lpstr>
      <vt:lpstr>Casper Bold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LECTURE OBJECTIVE </vt:lpstr>
      <vt:lpstr> CONTENT</vt:lpstr>
      <vt:lpstr> TYPES OF MATTER</vt:lpstr>
      <vt:lpstr>TYPES OF SOLIDS</vt:lpstr>
      <vt:lpstr>PROPERTIES </vt:lpstr>
      <vt:lpstr>PROPERTIES</vt:lpstr>
      <vt:lpstr>FORMATION OF CRYSTAL STRUCTURE</vt:lpstr>
      <vt:lpstr>Space lattice </vt:lpstr>
      <vt:lpstr>CRYSTAL STRUCTURE </vt:lpstr>
      <vt:lpstr>UNIT CELL </vt:lpstr>
      <vt:lpstr>PRIMITIVE UNIT CELL</vt:lpstr>
      <vt:lpstr>NON-PRIMITIVE CELL</vt:lpstr>
      <vt:lpstr>NON-PRIMITIVE UNIT CELL</vt:lpstr>
      <vt:lpstr>LATTICE PARAMETERS </vt:lpstr>
      <vt:lpstr>CRYSTAL SYSTEMS</vt:lpstr>
      <vt:lpstr>APPLICATIONS IN ENGINEERING</vt:lpstr>
      <vt:lpstr>APPLICATIONS </vt:lpstr>
      <vt:lpstr>LIMITATIONS OF X-Ray DIFFRACTION</vt:lpstr>
      <vt:lpstr>FREQUENTLY ASKED QUESTIONS</vt:lpstr>
      <vt:lpstr>SUMMARY</vt:lpstr>
      <vt:lpstr>REFERENCES    </vt:lpstr>
      <vt:lpstr>REFERENCE BOOKS</vt:lpstr>
      <vt:lpstr>REFERENCE VIDEOS </vt:lpstr>
      <vt:lpstr>IMAGES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157</cp:revision>
  <dcterms:created xsi:type="dcterms:W3CDTF">2019-01-09T10:33:58Z</dcterms:created>
  <dcterms:modified xsi:type="dcterms:W3CDTF">2023-06-15T15:19:42Z</dcterms:modified>
</cp:coreProperties>
</file>