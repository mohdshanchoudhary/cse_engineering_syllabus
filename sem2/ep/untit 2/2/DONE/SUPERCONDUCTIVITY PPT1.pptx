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7" r:id="rId2"/>
    <p:sldId id="292" r:id="rId3"/>
    <p:sldId id="305" r:id="rId4"/>
    <p:sldId id="299" r:id="rId5"/>
    <p:sldId id="300" r:id="rId6"/>
    <p:sldId id="303" r:id="rId7"/>
    <p:sldId id="259" r:id="rId8"/>
    <p:sldId id="304" r:id="rId9"/>
    <p:sldId id="258" r:id="rId10"/>
    <p:sldId id="282" r:id="rId11"/>
    <p:sldId id="301" r:id="rId12"/>
    <p:sldId id="302" r:id="rId13"/>
    <p:sldId id="27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6" d="100"/>
          <a:sy n="66" d="100"/>
        </p:scale>
        <p:origin x="668"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1B1F61E-B79E-4921-8CA8-00607D615465}" type="doc">
      <dgm:prSet loTypeId="urn:microsoft.com/office/officeart/2005/8/layout/cycle5" loCatId="cycle" qsTypeId="urn:microsoft.com/office/officeart/2005/8/quickstyle/simple1" qsCatId="simple" csTypeId="urn:microsoft.com/office/officeart/2005/8/colors/accent0_3" csCatId="mainScheme" phldr="1"/>
      <dgm:spPr/>
      <dgm:t>
        <a:bodyPr/>
        <a:lstStyle/>
        <a:p>
          <a:endParaRPr lang="en-US"/>
        </a:p>
      </dgm:t>
    </dgm:pt>
    <dgm:pt modelId="{DF21CF1E-E8F7-48BD-9E2F-0783B4275D4F}">
      <dgm:prSet phldrT="[Text]"/>
      <dgm:spPr/>
      <dgm:t>
        <a:bodyPr/>
        <a:lstStyle/>
        <a:p>
          <a:r>
            <a:rPr lang="en-US" dirty="0"/>
            <a:t>MST(02)</a:t>
          </a:r>
        </a:p>
        <a:p>
          <a:r>
            <a:rPr lang="en-US" dirty="0"/>
            <a:t>20 marks</a:t>
          </a:r>
        </a:p>
      </dgm:t>
    </dgm:pt>
    <dgm:pt modelId="{02672668-E94C-4D3F-B024-3E83EF071008}" type="parTrans" cxnId="{CE872D1B-2201-4155-A282-D98BE8E972C7}">
      <dgm:prSet/>
      <dgm:spPr/>
      <dgm:t>
        <a:bodyPr/>
        <a:lstStyle/>
        <a:p>
          <a:endParaRPr lang="en-US"/>
        </a:p>
      </dgm:t>
    </dgm:pt>
    <dgm:pt modelId="{43870F01-8D0C-493D-87C6-47CDB63CA0C3}" type="sibTrans" cxnId="{CE872D1B-2201-4155-A282-D98BE8E972C7}">
      <dgm:prSet/>
      <dgm:spPr/>
      <dgm:t>
        <a:bodyPr/>
        <a:lstStyle/>
        <a:p>
          <a:endParaRPr lang="en-US"/>
        </a:p>
      </dgm:t>
    </dgm:pt>
    <dgm:pt modelId="{5017CB0E-F067-4C8D-BCC3-1E89F6BF0DB6}">
      <dgm:prSet phldrT="[Text]"/>
      <dgm:spPr/>
      <dgm:t>
        <a:bodyPr/>
        <a:lstStyle/>
        <a:p>
          <a:r>
            <a:rPr lang="en-US"/>
            <a:t>Quiz </a:t>
          </a:r>
        </a:p>
        <a:p>
          <a:r>
            <a:rPr lang="en-US"/>
            <a:t>4 marks</a:t>
          </a:r>
        </a:p>
      </dgm:t>
    </dgm:pt>
    <dgm:pt modelId="{7EA63C5E-7894-4011-8777-E05AB93A5604}" type="parTrans" cxnId="{641E709A-A338-4D2F-966E-DEB104E7D828}">
      <dgm:prSet/>
      <dgm:spPr/>
      <dgm:t>
        <a:bodyPr/>
        <a:lstStyle/>
        <a:p>
          <a:endParaRPr lang="en-US"/>
        </a:p>
      </dgm:t>
    </dgm:pt>
    <dgm:pt modelId="{37F83C70-3700-406D-8C7A-E3B7AE665571}" type="sibTrans" cxnId="{641E709A-A338-4D2F-966E-DEB104E7D828}">
      <dgm:prSet/>
      <dgm:spPr/>
      <dgm:t>
        <a:bodyPr/>
        <a:lstStyle/>
        <a:p>
          <a:endParaRPr lang="en-US"/>
        </a:p>
      </dgm:t>
    </dgm:pt>
    <dgm:pt modelId="{59283DCC-1101-4781-AC16-AC0F39464EAE}">
      <dgm:prSet phldrT="[Text]"/>
      <dgm:spPr/>
      <dgm:t>
        <a:bodyPr/>
        <a:lstStyle/>
        <a:p>
          <a:r>
            <a:rPr lang="en-US"/>
            <a:t>Attendance</a:t>
          </a:r>
        </a:p>
        <a:p>
          <a:r>
            <a:rPr lang="en-US"/>
            <a:t>(&gt;90%)</a:t>
          </a:r>
        </a:p>
        <a:p>
          <a:r>
            <a:rPr lang="en-US"/>
            <a:t>2 marks</a:t>
          </a:r>
        </a:p>
      </dgm:t>
    </dgm:pt>
    <dgm:pt modelId="{8AF003E6-7640-4B86-9B7E-1EE2F34FB260}" type="parTrans" cxnId="{ECBAC60F-6CDF-4972-AEEC-AD2754C3CEF6}">
      <dgm:prSet/>
      <dgm:spPr/>
      <dgm:t>
        <a:bodyPr/>
        <a:lstStyle/>
        <a:p>
          <a:endParaRPr lang="en-US"/>
        </a:p>
      </dgm:t>
    </dgm:pt>
    <dgm:pt modelId="{5A5EC861-6BDC-4E40-8784-85D4598C36F6}" type="sibTrans" cxnId="{ECBAC60F-6CDF-4972-AEEC-AD2754C3CEF6}">
      <dgm:prSet/>
      <dgm:spPr/>
      <dgm:t>
        <a:bodyPr/>
        <a:lstStyle/>
        <a:p>
          <a:endParaRPr lang="en-US"/>
        </a:p>
      </dgm:t>
    </dgm:pt>
    <dgm:pt modelId="{9580402E-56A8-4020-B0A0-91E4A7FEDC15}">
      <dgm:prSet phldrT="[Text]"/>
      <dgm:spPr/>
      <dgm:t>
        <a:bodyPr/>
        <a:lstStyle/>
        <a:p>
          <a:r>
            <a:rPr lang="en-US"/>
            <a:t>Surprise test </a:t>
          </a:r>
        </a:p>
        <a:p>
          <a:r>
            <a:rPr lang="en-US"/>
            <a:t>4 marks</a:t>
          </a:r>
        </a:p>
      </dgm:t>
    </dgm:pt>
    <dgm:pt modelId="{F09904E3-80CF-4644-BAB7-253055CB5E22}" type="parTrans" cxnId="{D1F84F8A-ED12-40FC-A5B7-D11271FC9026}">
      <dgm:prSet/>
      <dgm:spPr/>
      <dgm:t>
        <a:bodyPr/>
        <a:lstStyle/>
        <a:p>
          <a:endParaRPr lang="en-US"/>
        </a:p>
      </dgm:t>
    </dgm:pt>
    <dgm:pt modelId="{B6E7DF34-812C-4586-B586-6E90541E11FE}" type="sibTrans" cxnId="{D1F84F8A-ED12-40FC-A5B7-D11271FC9026}">
      <dgm:prSet/>
      <dgm:spPr/>
      <dgm:t>
        <a:bodyPr/>
        <a:lstStyle/>
        <a:p>
          <a:endParaRPr lang="en-US"/>
        </a:p>
      </dgm:t>
    </dgm:pt>
    <dgm:pt modelId="{CCE52B37-AFF3-4BEC-A5FF-372C919EF95E}">
      <dgm:prSet phldrT="[Text]"/>
      <dgm:spPr/>
      <dgm:t>
        <a:bodyPr/>
        <a:lstStyle/>
        <a:p>
          <a:r>
            <a:rPr lang="en-US"/>
            <a:t>Assignment</a:t>
          </a:r>
        </a:p>
        <a:p>
          <a:r>
            <a:rPr lang="en-US"/>
            <a:t>10 marks</a:t>
          </a:r>
        </a:p>
      </dgm:t>
    </dgm:pt>
    <dgm:pt modelId="{DF7974F8-74F3-4CD9-AF5D-0A97A2BF2554}" type="parTrans" cxnId="{FEEB9898-0349-4CF4-950F-C31AB762AF49}">
      <dgm:prSet/>
      <dgm:spPr/>
      <dgm:t>
        <a:bodyPr/>
        <a:lstStyle/>
        <a:p>
          <a:endParaRPr lang="en-US"/>
        </a:p>
      </dgm:t>
    </dgm:pt>
    <dgm:pt modelId="{F659EAE0-421D-45B5-950B-62BA1296084F}" type="sibTrans" cxnId="{FEEB9898-0349-4CF4-950F-C31AB762AF49}">
      <dgm:prSet/>
      <dgm:spPr/>
      <dgm:t>
        <a:bodyPr/>
        <a:lstStyle/>
        <a:p>
          <a:endParaRPr lang="en-US"/>
        </a:p>
      </dgm:t>
    </dgm:pt>
    <dgm:pt modelId="{CE51EAD9-06C0-4DBC-9F94-7804EE0417E8}" type="pres">
      <dgm:prSet presAssocID="{71B1F61E-B79E-4921-8CA8-00607D615465}" presName="cycle" presStyleCnt="0">
        <dgm:presLayoutVars>
          <dgm:dir/>
          <dgm:resizeHandles val="exact"/>
        </dgm:presLayoutVars>
      </dgm:prSet>
      <dgm:spPr/>
    </dgm:pt>
    <dgm:pt modelId="{6C392781-824D-4A9A-B53B-15B182F41E67}" type="pres">
      <dgm:prSet presAssocID="{DF21CF1E-E8F7-48BD-9E2F-0783B4275D4F}" presName="node" presStyleLbl="node1" presStyleIdx="0" presStyleCnt="5">
        <dgm:presLayoutVars>
          <dgm:bulletEnabled val="1"/>
        </dgm:presLayoutVars>
      </dgm:prSet>
      <dgm:spPr/>
    </dgm:pt>
    <dgm:pt modelId="{48F10FB2-D4AF-42A1-AE30-73A7B03AADA8}" type="pres">
      <dgm:prSet presAssocID="{DF21CF1E-E8F7-48BD-9E2F-0783B4275D4F}" presName="spNode" presStyleCnt="0"/>
      <dgm:spPr/>
    </dgm:pt>
    <dgm:pt modelId="{009CE4DD-9E5F-40D8-8D55-613C90442619}" type="pres">
      <dgm:prSet presAssocID="{43870F01-8D0C-493D-87C6-47CDB63CA0C3}" presName="sibTrans" presStyleLbl="sibTrans1D1" presStyleIdx="0" presStyleCnt="5"/>
      <dgm:spPr/>
    </dgm:pt>
    <dgm:pt modelId="{DF99696A-FB56-42C5-9885-47F68FD8ECED}" type="pres">
      <dgm:prSet presAssocID="{5017CB0E-F067-4C8D-BCC3-1E89F6BF0DB6}" presName="node" presStyleLbl="node1" presStyleIdx="1" presStyleCnt="5">
        <dgm:presLayoutVars>
          <dgm:bulletEnabled val="1"/>
        </dgm:presLayoutVars>
      </dgm:prSet>
      <dgm:spPr/>
    </dgm:pt>
    <dgm:pt modelId="{4F295E57-2AF9-4A24-9516-6EFC944D88FD}" type="pres">
      <dgm:prSet presAssocID="{5017CB0E-F067-4C8D-BCC3-1E89F6BF0DB6}" presName="spNode" presStyleCnt="0"/>
      <dgm:spPr/>
    </dgm:pt>
    <dgm:pt modelId="{51AFB399-6216-4CAB-9D37-2E01C124612C}" type="pres">
      <dgm:prSet presAssocID="{37F83C70-3700-406D-8C7A-E3B7AE665571}" presName="sibTrans" presStyleLbl="sibTrans1D1" presStyleIdx="1" presStyleCnt="5"/>
      <dgm:spPr/>
    </dgm:pt>
    <dgm:pt modelId="{AF082927-7D7E-4C80-8E73-A1D76ECCACBF}" type="pres">
      <dgm:prSet presAssocID="{59283DCC-1101-4781-AC16-AC0F39464EAE}" presName="node" presStyleLbl="node1" presStyleIdx="2" presStyleCnt="5">
        <dgm:presLayoutVars>
          <dgm:bulletEnabled val="1"/>
        </dgm:presLayoutVars>
      </dgm:prSet>
      <dgm:spPr/>
    </dgm:pt>
    <dgm:pt modelId="{10326764-5B4E-4C3C-B979-5EEB026A7243}" type="pres">
      <dgm:prSet presAssocID="{59283DCC-1101-4781-AC16-AC0F39464EAE}" presName="spNode" presStyleCnt="0"/>
      <dgm:spPr/>
    </dgm:pt>
    <dgm:pt modelId="{65C7ADDB-CFF9-401A-9AFF-9B433EF479D6}" type="pres">
      <dgm:prSet presAssocID="{5A5EC861-6BDC-4E40-8784-85D4598C36F6}" presName="sibTrans" presStyleLbl="sibTrans1D1" presStyleIdx="2" presStyleCnt="5"/>
      <dgm:spPr/>
    </dgm:pt>
    <dgm:pt modelId="{6F37B80F-58DB-4292-BA27-F2C34F018F0C}" type="pres">
      <dgm:prSet presAssocID="{9580402E-56A8-4020-B0A0-91E4A7FEDC15}" presName="node" presStyleLbl="node1" presStyleIdx="3" presStyleCnt="5">
        <dgm:presLayoutVars>
          <dgm:bulletEnabled val="1"/>
        </dgm:presLayoutVars>
      </dgm:prSet>
      <dgm:spPr/>
    </dgm:pt>
    <dgm:pt modelId="{EE5F26BD-3784-4EEC-9088-9EFABE0AC40B}" type="pres">
      <dgm:prSet presAssocID="{9580402E-56A8-4020-B0A0-91E4A7FEDC15}" presName="spNode" presStyleCnt="0"/>
      <dgm:spPr/>
    </dgm:pt>
    <dgm:pt modelId="{402CB780-F1AA-4127-AE9A-9B3676B7B749}" type="pres">
      <dgm:prSet presAssocID="{B6E7DF34-812C-4586-B586-6E90541E11FE}" presName="sibTrans" presStyleLbl="sibTrans1D1" presStyleIdx="3" presStyleCnt="5"/>
      <dgm:spPr/>
    </dgm:pt>
    <dgm:pt modelId="{7C862B3C-0B13-460D-81F4-100EE59EF602}" type="pres">
      <dgm:prSet presAssocID="{CCE52B37-AFF3-4BEC-A5FF-372C919EF95E}" presName="node" presStyleLbl="node1" presStyleIdx="4" presStyleCnt="5">
        <dgm:presLayoutVars>
          <dgm:bulletEnabled val="1"/>
        </dgm:presLayoutVars>
      </dgm:prSet>
      <dgm:spPr/>
    </dgm:pt>
    <dgm:pt modelId="{BE0CE7B8-92A5-444B-A3B6-166BB6C7DBA8}" type="pres">
      <dgm:prSet presAssocID="{CCE52B37-AFF3-4BEC-A5FF-372C919EF95E}" presName="spNode" presStyleCnt="0"/>
      <dgm:spPr/>
    </dgm:pt>
    <dgm:pt modelId="{66EF00C0-985C-4E09-9508-C02E90F1DCE9}" type="pres">
      <dgm:prSet presAssocID="{F659EAE0-421D-45B5-950B-62BA1296084F}" presName="sibTrans" presStyleLbl="sibTrans1D1" presStyleIdx="4" presStyleCnt="5"/>
      <dgm:spPr/>
    </dgm:pt>
  </dgm:ptLst>
  <dgm:cxnLst>
    <dgm:cxn modelId="{A89C2A0D-3ED9-4D31-8261-257B9B5DFB1C}" type="presOf" srcId="{CCE52B37-AFF3-4BEC-A5FF-372C919EF95E}" destId="{7C862B3C-0B13-460D-81F4-100EE59EF602}" srcOrd="0" destOrd="0" presId="urn:microsoft.com/office/officeart/2005/8/layout/cycle5"/>
    <dgm:cxn modelId="{ECBAC60F-6CDF-4972-AEEC-AD2754C3CEF6}" srcId="{71B1F61E-B79E-4921-8CA8-00607D615465}" destId="{59283DCC-1101-4781-AC16-AC0F39464EAE}" srcOrd="2" destOrd="0" parTransId="{8AF003E6-7640-4B86-9B7E-1EE2F34FB260}" sibTransId="{5A5EC861-6BDC-4E40-8784-85D4598C36F6}"/>
    <dgm:cxn modelId="{CE872D1B-2201-4155-A282-D98BE8E972C7}" srcId="{71B1F61E-B79E-4921-8CA8-00607D615465}" destId="{DF21CF1E-E8F7-48BD-9E2F-0783B4275D4F}" srcOrd="0" destOrd="0" parTransId="{02672668-E94C-4D3F-B024-3E83EF071008}" sibTransId="{43870F01-8D0C-493D-87C6-47CDB63CA0C3}"/>
    <dgm:cxn modelId="{61E5BA29-B239-4108-9854-E2C25EE48BAD}" type="presOf" srcId="{5A5EC861-6BDC-4E40-8784-85D4598C36F6}" destId="{65C7ADDB-CFF9-401A-9AFF-9B433EF479D6}" srcOrd="0" destOrd="0" presId="urn:microsoft.com/office/officeart/2005/8/layout/cycle5"/>
    <dgm:cxn modelId="{F470732E-3CEE-44AD-AC99-3D86D217B16D}" type="presOf" srcId="{5017CB0E-F067-4C8D-BCC3-1E89F6BF0DB6}" destId="{DF99696A-FB56-42C5-9885-47F68FD8ECED}" srcOrd="0" destOrd="0" presId="urn:microsoft.com/office/officeart/2005/8/layout/cycle5"/>
    <dgm:cxn modelId="{047D3C32-A757-422C-9A2E-4DD86AB5844D}" type="presOf" srcId="{B6E7DF34-812C-4586-B586-6E90541E11FE}" destId="{402CB780-F1AA-4127-AE9A-9B3676B7B749}" srcOrd="0" destOrd="0" presId="urn:microsoft.com/office/officeart/2005/8/layout/cycle5"/>
    <dgm:cxn modelId="{F1E8B362-379D-4B44-B379-FDD050461510}" type="presOf" srcId="{59283DCC-1101-4781-AC16-AC0F39464EAE}" destId="{AF082927-7D7E-4C80-8E73-A1D76ECCACBF}" srcOrd="0" destOrd="0" presId="urn:microsoft.com/office/officeart/2005/8/layout/cycle5"/>
    <dgm:cxn modelId="{7462E677-BDEB-405E-ABD4-87892E9FD07D}" type="presOf" srcId="{9580402E-56A8-4020-B0A0-91E4A7FEDC15}" destId="{6F37B80F-58DB-4292-BA27-F2C34F018F0C}" srcOrd="0" destOrd="0" presId="urn:microsoft.com/office/officeart/2005/8/layout/cycle5"/>
    <dgm:cxn modelId="{3AE52488-4EF7-4D68-9B73-EC43F1C0F4D4}" type="presOf" srcId="{37F83C70-3700-406D-8C7A-E3B7AE665571}" destId="{51AFB399-6216-4CAB-9D37-2E01C124612C}" srcOrd="0" destOrd="0" presId="urn:microsoft.com/office/officeart/2005/8/layout/cycle5"/>
    <dgm:cxn modelId="{D1F84F8A-ED12-40FC-A5B7-D11271FC9026}" srcId="{71B1F61E-B79E-4921-8CA8-00607D615465}" destId="{9580402E-56A8-4020-B0A0-91E4A7FEDC15}" srcOrd="3" destOrd="0" parTransId="{F09904E3-80CF-4644-BAB7-253055CB5E22}" sibTransId="{B6E7DF34-812C-4586-B586-6E90541E11FE}"/>
    <dgm:cxn modelId="{FEEB9898-0349-4CF4-950F-C31AB762AF49}" srcId="{71B1F61E-B79E-4921-8CA8-00607D615465}" destId="{CCE52B37-AFF3-4BEC-A5FF-372C919EF95E}" srcOrd="4" destOrd="0" parTransId="{DF7974F8-74F3-4CD9-AF5D-0A97A2BF2554}" sibTransId="{F659EAE0-421D-45B5-950B-62BA1296084F}"/>
    <dgm:cxn modelId="{641E709A-A338-4D2F-966E-DEB104E7D828}" srcId="{71B1F61E-B79E-4921-8CA8-00607D615465}" destId="{5017CB0E-F067-4C8D-BCC3-1E89F6BF0DB6}" srcOrd="1" destOrd="0" parTransId="{7EA63C5E-7894-4011-8777-E05AB93A5604}" sibTransId="{37F83C70-3700-406D-8C7A-E3B7AE665571}"/>
    <dgm:cxn modelId="{6999A3D9-6999-4A51-93DA-39793B25F27D}" type="presOf" srcId="{71B1F61E-B79E-4921-8CA8-00607D615465}" destId="{CE51EAD9-06C0-4DBC-9F94-7804EE0417E8}" srcOrd="0" destOrd="0" presId="urn:microsoft.com/office/officeart/2005/8/layout/cycle5"/>
    <dgm:cxn modelId="{B369B6E4-7D59-453B-BD33-5779B55DA85E}" type="presOf" srcId="{DF21CF1E-E8F7-48BD-9E2F-0783B4275D4F}" destId="{6C392781-824D-4A9A-B53B-15B182F41E67}" srcOrd="0" destOrd="0" presId="urn:microsoft.com/office/officeart/2005/8/layout/cycle5"/>
    <dgm:cxn modelId="{39017CEC-34E4-4E00-96C1-4BDB14A6700D}" type="presOf" srcId="{F659EAE0-421D-45B5-950B-62BA1296084F}" destId="{66EF00C0-985C-4E09-9508-C02E90F1DCE9}" srcOrd="0" destOrd="0" presId="urn:microsoft.com/office/officeart/2005/8/layout/cycle5"/>
    <dgm:cxn modelId="{98E28CF6-79DA-4CCD-A05D-E232FEA32EAF}" type="presOf" srcId="{43870F01-8D0C-493D-87C6-47CDB63CA0C3}" destId="{009CE4DD-9E5F-40D8-8D55-613C90442619}" srcOrd="0" destOrd="0" presId="urn:microsoft.com/office/officeart/2005/8/layout/cycle5"/>
    <dgm:cxn modelId="{FE4DB78A-FE4A-4339-B3D2-C8E6D8C17168}" type="presParOf" srcId="{CE51EAD9-06C0-4DBC-9F94-7804EE0417E8}" destId="{6C392781-824D-4A9A-B53B-15B182F41E67}" srcOrd="0" destOrd="0" presId="urn:microsoft.com/office/officeart/2005/8/layout/cycle5"/>
    <dgm:cxn modelId="{3D92934D-1722-430A-8D37-5FB682950520}" type="presParOf" srcId="{CE51EAD9-06C0-4DBC-9F94-7804EE0417E8}" destId="{48F10FB2-D4AF-42A1-AE30-73A7B03AADA8}" srcOrd="1" destOrd="0" presId="urn:microsoft.com/office/officeart/2005/8/layout/cycle5"/>
    <dgm:cxn modelId="{243D94B8-83D4-4985-B9F7-3798DC680CAB}" type="presParOf" srcId="{CE51EAD9-06C0-4DBC-9F94-7804EE0417E8}" destId="{009CE4DD-9E5F-40D8-8D55-613C90442619}" srcOrd="2" destOrd="0" presId="urn:microsoft.com/office/officeart/2005/8/layout/cycle5"/>
    <dgm:cxn modelId="{63AB009C-5FF1-4F67-9E8C-421EC592D409}" type="presParOf" srcId="{CE51EAD9-06C0-4DBC-9F94-7804EE0417E8}" destId="{DF99696A-FB56-42C5-9885-47F68FD8ECED}" srcOrd="3" destOrd="0" presId="urn:microsoft.com/office/officeart/2005/8/layout/cycle5"/>
    <dgm:cxn modelId="{72843909-13B3-4DD1-AE6E-18A214DCB688}" type="presParOf" srcId="{CE51EAD9-06C0-4DBC-9F94-7804EE0417E8}" destId="{4F295E57-2AF9-4A24-9516-6EFC944D88FD}" srcOrd="4" destOrd="0" presId="urn:microsoft.com/office/officeart/2005/8/layout/cycle5"/>
    <dgm:cxn modelId="{C61119C5-6802-4C3F-B0EF-B3F9DADCA32B}" type="presParOf" srcId="{CE51EAD9-06C0-4DBC-9F94-7804EE0417E8}" destId="{51AFB399-6216-4CAB-9D37-2E01C124612C}" srcOrd="5" destOrd="0" presId="urn:microsoft.com/office/officeart/2005/8/layout/cycle5"/>
    <dgm:cxn modelId="{8AA40D5E-D94A-4982-8087-90806B2AF9BC}" type="presParOf" srcId="{CE51EAD9-06C0-4DBC-9F94-7804EE0417E8}" destId="{AF082927-7D7E-4C80-8E73-A1D76ECCACBF}" srcOrd="6" destOrd="0" presId="urn:microsoft.com/office/officeart/2005/8/layout/cycle5"/>
    <dgm:cxn modelId="{8AE1A2AF-132A-48BC-BCA1-5F5FEFE9F064}" type="presParOf" srcId="{CE51EAD9-06C0-4DBC-9F94-7804EE0417E8}" destId="{10326764-5B4E-4C3C-B979-5EEB026A7243}" srcOrd="7" destOrd="0" presId="urn:microsoft.com/office/officeart/2005/8/layout/cycle5"/>
    <dgm:cxn modelId="{483736C0-AEA2-4759-B56D-DE61B3D12D5A}" type="presParOf" srcId="{CE51EAD9-06C0-4DBC-9F94-7804EE0417E8}" destId="{65C7ADDB-CFF9-401A-9AFF-9B433EF479D6}" srcOrd="8" destOrd="0" presId="urn:microsoft.com/office/officeart/2005/8/layout/cycle5"/>
    <dgm:cxn modelId="{7C25DE4E-853A-4849-9101-BC83D951175A}" type="presParOf" srcId="{CE51EAD9-06C0-4DBC-9F94-7804EE0417E8}" destId="{6F37B80F-58DB-4292-BA27-F2C34F018F0C}" srcOrd="9" destOrd="0" presId="urn:microsoft.com/office/officeart/2005/8/layout/cycle5"/>
    <dgm:cxn modelId="{A585BC4F-905C-4CC1-A629-92EFA900CCC7}" type="presParOf" srcId="{CE51EAD9-06C0-4DBC-9F94-7804EE0417E8}" destId="{EE5F26BD-3784-4EEC-9088-9EFABE0AC40B}" srcOrd="10" destOrd="0" presId="urn:microsoft.com/office/officeart/2005/8/layout/cycle5"/>
    <dgm:cxn modelId="{46B436F0-5EFE-4735-8670-F0EBCEA95C71}" type="presParOf" srcId="{CE51EAD9-06C0-4DBC-9F94-7804EE0417E8}" destId="{402CB780-F1AA-4127-AE9A-9B3676B7B749}" srcOrd="11" destOrd="0" presId="urn:microsoft.com/office/officeart/2005/8/layout/cycle5"/>
    <dgm:cxn modelId="{4D250B2A-C138-4709-9977-41330C4E4CA2}" type="presParOf" srcId="{CE51EAD9-06C0-4DBC-9F94-7804EE0417E8}" destId="{7C862B3C-0B13-460D-81F4-100EE59EF602}" srcOrd="12" destOrd="0" presId="urn:microsoft.com/office/officeart/2005/8/layout/cycle5"/>
    <dgm:cxn modelId="{9EF4B2DB-1ECE-43D3-9914-0623F5CE22BA}" type="presParOf" srcId="{CE51EAD9-06C0-4DBC-9F94-7804EE0417E8}" destId="{BE0CE7B8-92A5-444B-A3B6-166BB6C7DBA8}" srcOrd="13" destOrd="0" presId="urn:microsoft.com/office/officeart/2005/8/layout/cycle5"/>
    <dgm:cxn modelId="{82828848-938D-415D-88EC-E0953E8C4BC0}" type="presParOf" srcId="{CE51EAD9-06C0-4DBC-9F94-7804EE0417E8}" destId="{66EF00C0-985C-4E09-9508-C02E90F1DCE9}" srcOrd="14"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392781-824D-4A9A-B53B-15B182F41E67}">
      <dsp:nvSpPr>
        <dsp:cNvPr id="0" name=""/>
        <dsp:cNvSpPr/>
      </dsp:nvSpPr>
      <dsp:spPr>
        <a:xfrm>
          <a:off x="3533766" y="3111"/>
          <a:ext cx="1540440" cy="1001286"/>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MST(02)</a:t>
          </a:r>
        </a:p>
        <a:p>
          <a:pPr marL="0" lvl="0" indent="0" algn="ctr" defTabSz="622300">
            <a:lnSpc>
              <a:spcPct val="90000"/>
            </a:lnSpc>
            <a:spcBef>
              <a:spcPct val="0"/>
            </a:spcBef>
            <a:spcAft>
              <a:spcPct val="35000"/>
            </a:spcAft>
            <a:buNone/>
          </a:pPr>
          <a:r>
            <a:rPr lang="en-US" sz="1400" kern="1200" dirty="0"/>
            <a:t>20 marks</a:t>
          </a:r>
        </a:p>
      </dsp:txBody>
      <dsp:txXfrm>
        <a:off x="3582645" y="51990"/>
        <a:ext cx="1442682" cy="903528"/>
      </dsp:txXfrm>
    </dsp:sp>
    <dsp:sp modelId="{009CE4DD-9E5F-40D8-8D55-613C90442619}">
      <dsp:nvSpPr>
        <dsp:cNvPr id="0" name=""/>
        <dsp:cNvSpPr/>
      </dsp:nvSpPr>
      <dsp:spPr>
        <a:xfrm>
          <a:off x="2303849" y="503754"/>
          <a:ext cx="4000274" cy="4000274"/>
        </a:xfrm>
        <a:custGeom>
          <a:avLst/>
          <a:gdLst/>
          <a:ahLst/>
          <a:cxnLst/>
          <a:rect l="0" t="0" r="0" b="0"/>
          <a:pathLst>
            <a:path>
              <a:moveTo>
                <a:pt x="2976644" y="254576"/>
              </a:moveTo>
              <a:arcTo wR="2000137" hR="2000137" stAng="17953421" swAng="1211562"/>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DF99696A-FB56-42C5-9885-47F68FD8ECED}">
      <dsp:nvSpPr>
        <dsp:cNvPr id="0" name=""/>
        <dsp:cNvSpPr/>
      </dsp:nvSpPr>
      <dsp:spPr>
        <a:xfrm>
          <a:off x="5436009" y="1385172"/>
          <a:ext cx="1540440" cy="1001286"/>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Quiz </a:t>
          </a:r>
        </a:p>
        <a:p>
          <a:pPr marL="0" lvl="0" indent="0" algn="ctr" defTabSz="622300">
            <a:lnSpc>
              <a:spcPct val="90000"/>
            </a:lnSpc>
            <a:spcBef>
              <a:spcPct val="0"/>
            </a:spcBef>
            <a:spcAft>
              <a:spcPct val="35000"/>
            </a:spcAft>
            <a:buNone/>
          </a:pPr>
          <a:r>
            <a:rPr lang="en-US" sz="1400" kern="1200"/>
            <a:t>4 marks</a:t>
          </a:r>
        </a:p>
      </dsp:txBody>
      <dsp:txXfrm>
        <a:off x="5484888" y="1434051"/>
        <a:ext cx="1442682" cy="903528"/>
      </dsp:txXfrm>
    </dsp:sp>
    <dsp:sp modelId="{51AFB399-6216-4CAB-9D37-2E01C124612C}">
      <dsp:nvSpPr>
        <dsp:cNvPr id="0" name=""/>
        <dsp:cNvSpPr/>
      </dsp:nvSpPr>
      <dsp:spPr>
        <a:xfrm>
          <a:off x="2303849" y="503754"/>
          <a:ext cx="4000274" cy="4000274"/>
        </a:xfrm>
        <a:custGeom>
          <a:avLst/>
          <a:gdLst/>
          <a:ahLst/>
          <a:cxnLst/>
          <a:rect l="0" t="0" r="0" b="0"/>
          <a:pathLst>
            <a:path>
              <a:moveTo>
                <a:pt x="3995476" y="2138588"/>
              </a:moveTo>
              <a:arcTo wR="2000137" hR="2000137" stAng="21838155" swAng="1359744"/>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AF082927-7D7E-4C80-8E73-A1D76ECCACBF}">
      <dsp:nvSpPr>
        <dsp:cNvPr id="0" name=""/>
        <dsp:cNvSpPr/>
      </dsp:nvSpPr>
      <dsp:spPr>
        <a:xfrm>
          <a:off x="4709417" y="3621393"/>
          <a:ext cx="1540440" cy="1001286"/>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Attendance</a:t>
          </a:r>
        </a:p>
        <a:p>
          <a:pPr marL="0" lvl="0" indent="0" algn="ctr" defTabSz="622300">
            <a:lnSpc>
              <a:spcPct val="90000"/>
            </a:lnSpc>
            <a:spcBef>
              <a:spcPct val="0"/>
            </a:spcBef>
            <a:spcAft>
              <a:spcPct val="35000"/>
            </a:spcAft>
            <a:buNone/>
          </a:pPr>
          <a:r>
            <a:rPr lang="en-US" sz="1400" kern="1200"/>
            <a:t>(&gt;90%)</a:t>
          </a:r>
        </a:p>
        <a:p>
          <a:pPr marL="0" lvl="0" indent="0" algn="ctr" defTabSz="622300">
            <a:lnSpc>
              <a:spcPct val="90000"/>
            </a:lnSpc>
            <a:spcBef>
              <a:spcPct val="0"/>
            </a:spcBef>
            <a:spcAft>
              <a:spcPct val="35000"/>
            </a:spcAft>
            <a:buNone/>
          </a:pPr>
          <a:r>
            <a:rPr lang="en-US" sz="1400" kern="1200"/>
            <a:t>2 marks</a:t>
          </a:r>
        </a:p>
      </dsp:txBody>
      <dsp:txXfrm>
        <a:off x="4758296" y="3670272"/>
        <a:ext cx="1442682" cy="903528"/>
      </dsp:txXfrm>
    </dsp:sp>
    <dsp:sp modelId="{65C7ADDB-CFF9-401A-9AFF-9B433EF479D6}">
      <dsp:nvSpPr>
        <dsp:cNvPr id="0" name=""/>
        <dsp:cNvSpPr/>
      </dsp:nvSpPr>
      <dsp:spPr>
        <a:xfrm>
          <a:off x="2303849" y="503754"/>
          <a:ext cx="4000274" cy="4000274"/>
        </a:xfrm>
        <a:custGeom>
          <a:avLst/>
          <a:gdLst/>
          <a:ahLst/>
          <a:cxnLst/>
          <a:rect l="0" t="0" r="0" b="0"/>
          <a:pathLst>
            <a:path>
              <a:moveTo>
                <a:pt x="2245604" y="3985154"/>
              </a:moveTo>
              <a:arcTo wR="2000137" hR="2000137" stAng="4977036" swAng="845929"/>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6F37B80F-58DB-4292-BA27-F2C34F018F0C}">
      <dsp:nvSpPr>
        <dsp:cNvPr id="0" name=""/>
        <dsp:cNvSpPr/>
      </dsp:nvSpPr>
      <dsp:spPr>
        <a:xfrm>
          <a:off x="2358115" y="3621393"/>
          <a:ext cx="1540440" cy="1001286"/>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Surprise test </a:t>
          </a:r>
        </a:p>
        <a:p>
          <a:pPr marL="0" lvl="0" indent="0" algn="ctr" defTabSz="622300">
            <a:lnSpc>
              <a:spcPct val="90000"/>
            </a:lnSpc>
            <a:spcBef>
              <a:spcPct val="0"/>
            </a:spcBef>
            <a:spcAft>
              <a:spcPct val="35000"/>
            </a:spcAft>
            <a:buNone/>
          </a:pPr>
          <a:r>
            <a:rPr lang="en-US" sz="1400" kern="1200"/>
            <a:t>4 marks</a:t>
          </a:r>
        </a:p>
      </dsp:txBody>
      <dsp:txXfrm>
        <a:off x="2406994" y="3670272"/>
        <a:ext cx="1442682" cy="903528"/>
      </dsp:txXfrm>
    </dsp:sp>
    <dsp:sp modelId="{402CB780-F1AA-4127-AE9A-9B3676B7B749}">
      <dsp:nvSpPr>
        <dsp:cNvPr id="0" name=""/>
        <dsp:cNvSpPr/>
      </dsp:nvSpPr>
      <dsp:spPr>
        <a:xfrm>
          <a:off x="2303849" y="503754"/>
          <a:ext cx="4000274" cy="4000274"/>
        </a:xfrm>
        <a:custGeom>
          <a:avLst/>
          <a:gdLst/>
          <a:ahLst/>
          <a:cxnLst/>
          <a:rect l="0" t="0" r="0" b="0"/>
          <a:pathLst>
            <a:path>
              <a:moveTo>
                <a:pt x="212200" y="2896704"/>
              </a:moveTo>
              <a:arcTo wR="2000137" hR="2000137" stAng="9202101" swAng="1359744"/>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7C862B3C-0B13-460D-81F4-100EE59EF602}">
      <dsp:nvSpPr>
        <dsp:cNvPr id="0" name=""/>
        <dsp:cNvSpPr/>
      </dsp:nvSpPr>
      <dsp:spPr>
        <a:xfrm>
          <a:off x="1631522" y="1385172"/>
          <a:ext cx="1540440" cy="1001286"/>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Assignment</a:t>
          </a:r>
        </a:p>
        <a:p>
          <a:pPr marL="0" lvl="0" indent="0" algn="ctr" defTabSz="622300">
            <a:lnSpc>
              <a:spcPct val="90000"/>
            </a:lnSpc>
            <a:spcBef>
              <a:spcPct val="0"/>
            </a:spcBef>
            <a:spcAft>
              <a:spcPct val="35000"/>
            </a:spcAft>
            <a:buNone/>
          </a:pPr>
          <a:r>
            <a:rPr lang="en-US" sz="1400" kern="1200"/>
            <a:t>10 marks</a:t>
          </a:r>
        </a:p>
      </dsp:txBody>
      <dsp:txXfrm>
        <a:off x="1680401" y="1434051"/>
        <a:ext cx="1442682" cy="903528"/>
      </dsp:txXfrm>
    </dsp:sp>
    <dsp:sp modelId="{66EF00C0-985C-4E09-9508-C02E90F1DCE9}">
      <dsp:nvSpPr>
        <dsp:cNvPr id="0" name=""/>
        <dsp:cNvSpPr/>
      </dsp:nvSpPr>
      <dsp:spPr>
        <a:xfrm>
          <a:off x="2303849" y="503754"/>
          <a:ext cx="4000274" cy="4000274"/>
        </a:xfrm>
        <a:custGeom>
          <a:avLst/>
          <a:gdLst/>
          <a:ahLst/>
          <a:cxnLst/>
          <a:rect l="0" t="0" r="0" b="0"/>
          <a:pathLst>
            <a:path>
              <a:moveTo>
                <a:pt x="481118" y="698933"/>
              </a:moveTo>
              <a:arcTo wR="2000137" hR="2000137" stAng="13235017" swAng="1211562"/>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35D0A-B16F-4AE6-9BAF-7995734D18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62F2726-95CB-4B56-85CE-D20AB56B00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2D6376B-AE91-4CF8-B727-1119F6DCDF6A}"/>
              </a:ext>
            </a:extLst>
          </p:cNvPr>
          <p:cNvSpPr>
            <a:spLocks noGrp="1"/>
          </p:cNvSpPr>
          <p:nvPr>
            <p:ph type="dt" sz="half" idx="10"/>
          </p:nvPr>
        </p:nvSpPr>
        <p:spPr/>
        <p:txBody>
          <a:bodyPr/>
          <a:lstStyle/>
          <a:p>
            <a:fld id="{3397A13C-E346-45BB-BA3E-3D2826ACC94A}" type="datetimeFigureOut">
              <a:rPr lang="en-IN" smtClean="0"/>
              <a:t>15-06-2023</a:t>
            </a:fld>
            <a:endParaRPr lang="en-IN"/>
          </a:p>
        </p:txBody>
      </p:sp>
      <p:sp>
        <p:nvSpPr>
          <p:cNvPr id="5" name="Footer Placeholder 4">
            <a:extLst>
              <a:ext uri="{FF2B5EF4-FFF2-40B4-BE49-F238E27FC236}">
                <a16:creationId xmlns:a16="http://schemas.microsoft.com/office/drawing/2014/main" id="{99001AE3-134D-4C37-A726-5C50187130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EADC10-0F36-44C9-9A7B-D54E0A93C92E}"/>
              </a:ext>
            </a:extLst>
          </p:cNvPr>
          <p:cNvSpPr>
            <a:spLocks noGrp="1"/>
          </p:cNvSpPr>
          <p:nvPr>
            <p:ph type="sldNum" sz="quarter" idx="12"/>
          </p:nvPr>
        </p:nvSpPr>
        <p:spPr/>
        <p:txBody>
          <a:bodyPr/>
          <a:lstStyle/>
          <a:p>
            <a:fld id="{D74A315A-FE24-44C2-BE91-BC99791E2A93}" type="slidenum">
              <a:rPr lang="en-IN" smtClean="0"/>
              <a:t>‹#›</a:t>
            </a:fld>
            <a:endParaRPr lang="en-IN"/>
          </a:p>
        </p:txBody>
      </p:sp>
    </p:spTree>
    <p:extLst>
      <p:ext uri="{BB962C8B-B14F-4D97-AF65-F5344CB8AC3E}">
        <p14:creationId xmlns:p14="http://schemas.microsoft.com/office/powerpoint/2010/main" val="4110306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2E552-CABF-4635-9264-A6C22202A2A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9F865C-C72F-4F4F-B01D-D3A6CBB527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001B9D-0E83-4DBC-AD41-FA72A4FB2166}"/>
              </a:ext>
            </a:extLst>
          </p:cNvPr>
          <p:cNvSpPr>
            <a:spLocks noGrp="1"/>
          </p:cNvSpPr>
          <p:nvPr>
            <p:ph type="dt" sz="half" idx="10"/>
          </p:nvPr>
        </p:nvSpPr>
        <p:spPr/>
        <p:txBody>
          <a:bodyPr/>
          <a:lstStyle/>
          <a:p>
            <a:fld id="{3397A13C-E346-45BB-BA3E-3D2826ACC94A}" type="datetimeFigureOut">
              <a:rPr lang="en-IN" smtClean="0"/>
              <a:t>15-06-2023</a:t>
            </a:fld>
            <a:endParaRPr lang="en-IN"/>
          </a:p>
        </p:txBody>
      </p:sp>
      <p:sp>
        <p:nvSpPr>
          <p:cNvPr id="5" name="Footer Placeholder 4">
            <a:extLst>
              <a:ext uri="{FF2B5EF4-FFF2-40B4-BE49-F238E27FC236}">
                <a16:creationId xmlns:a16="http://schemas.microsoft.com/office/drawing/2014/main" id="{77187350-9968-4176-BF6B-E1BB242B35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3E5607-3B86-4A58-94B7-069F3884271C}"/>
              </a:ext>
            </a:extLst>
          </p:cNvPr>
          <p:cNvSpPr>
            <a:spLocks noGrp="1"/>
          </p:cNvSpPr>
          <p:nvPr>
            <p:ph type="sldNum" sz="quarter" idx="12"/>
          </p:nvPr>
        </p:nvSpPr>
        <p:spPr/>
        <p:txBody>
          <a:bodyPr/>
          <a:lstStyle/>
          <a:p>
            <a:fld id="{D74A315A-FE24-44C2-BE91-BC99791E2A93}" type="slidenum">
              <a:rPr lang="en-IN" smtClean="0"/>
              <a:t>‹#›</a:t>
            </a:fld>
            <a:endParaRPr lang="en-IN"/>
          </a:p>
        </p:txBody>
      </p:sp>
    </p:spTree>
    <p:extLst>
      <p:ext uri="{BB962C8B-B14F-4D97-AF65-F5344CB8AC3E}">
        <p14:creationId xmlns:p14="http://schemas.microsoft.com/office/powerpoint/2010/main" val="3176062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095A0-5206-43D3-AA56-D4B5994929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2B4B62B-1C46-440F-9F77-058341958D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2872F2-16A4-4E12-BB36-45CD84BC9BB1}"/>
              </a:ext>
            </a:extLst>
          </p:cNvPr>
          <p:cNvSpPr>
            <a:spLocks noGrp="1"/>
          </p:cNvSpPr>
          <p:nvPr>
            <p:ph type="dt" sz="half" idx="10"/>
          </p:nvPr>
        </p:nvSpPr>
        <p:spPr/>
        <p:txBody>
          <a:bodyPr/>
          <a:lstStyle/>
          <a:p>
            <a:fld id="{3397A13C-E346-45BB-BA3E-3D2826ACC94A}" type="datetimeFigureOut">
              <a:rPr lang="en-IN" smtClean="0"/>
              <a:t>15-06-2023</a:t>
            </a:fld>
            <a:endParaRPr lang="en-IN"/>
          </a:p>
        </p:txBody>
      </p:sp>
      <p:sp>
        <p:nvSpPr>
          <p:cNvPr id="5" name="Footer Placeholder 4">
            <a:extLst>
              <a:ext uri="{FF2B5EF4-FFF2-40B4-BE49-F238E27FC236}">
                <a16:creationId xmlns:a16="http://schemas.microsoft.com/office/drawing/2014/main" id="{81C2129D-0795-4EE5-8837-F0D1B13786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7919C8-D8BC-4FCD-8B2B-0FCCE36A2386}"/>
              </a:ext>
            </a:extLst>
          </p:cNvPr>
          <p:cNvSpPr>
            <a:spLocks noGrp="1"/>
          </p:cNvSpPr>
          <p:nvPr>
            <p:ph type="sldNum" sz="quarter" idx="12"/>
          </p:nvPr>
        </p:nvSpPr>
        <p:spPr/>
        <p:txBody>
          <a:bodyPr/>
          <a:lstStyle/>
          <a:p>
            <a:fld id="{D74A315A-FE24-44C2-BE91-BC99791E2A93}" type="slidenum">
              <a:rPr lang="en-IN" smtClean="0"/>
              <a:t>‹#›</a:t>
            </a:fld>
            <a:endParaRPr lang="en-IN"/>
          </a:p>
        </p:txBody>
      </p:sp>
    </p:spTree>
    <p:extLst>
      <p:ext uri="{BB962C8B-B14F-4D97-AF65-F5344CB8AC3E}">
        <p14:creationId xmlns:p14="http://schemas.microsoft.com/office/powerpoint/2010/main" val="5215778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7C9B-75ED-4EB1-9941-BA5F62009F9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E903985-8F80-43F9-BBE6-2944DEF1DB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A7D35BA-3743-4788-A44A-1D7F7109C4A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B62150D-9243-4982-B791-59CD77489922}"/>
              </a:ext>
            </a:extLst>
          </p:cNvPr>
          <p:cNvSpPr>
            <a:spLocks noGrp="1"/>
          </p:cNvSpPr>
          <p:nvPr>
            <p:ph type="dt" sz="half" idx="10"/>
          </p:nvPr>
        </p:nvSpPr>
        <p:spPr/>
        <p:txBody>
          <a:bodyPr/>
          <a:lstStyle/>
          <a:p>
            <a:fld id="{3397A13C-E346-45BB-BA3E-3D2826ACC94A}" type="datetimeFigureOut">
              <a:rPr lang="en-IN" smtClean="0"/>
              <a:t>15-06-2023</a:t>
            </a:fld>
            <a:endParaRPr lang="en-IN"/>
          </a:p>
        </p:txBody>
      </p:sp>
      <p:sp>
        <p:nvSpPr>
          <p:cNvPr id="6" name="Footer Placeholder 5">
            <a:extLst>
              <a:ext uri="{FF2B5EF4-FFF2-40B4-BE49-F238E27FC236}">
                <a16:creationId xmlns:a16="http://schemas.microsoft.com/office/drawing/2014/main" id="{631B6C5A-B62F-484E-A555-BB54F2329D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089BF8-BC5C-4D3D-AF7F-CDEE70C1BF44}"/>
              </a:ext>
            </a:extLst>
          </p:cNvPr>
          <p:cNvSpPr>
            <a:spLocks noGrp="1"/>
          </p:cNvSpPr>
          <p:nvPr>
            <p:ph type="sldNum" sz="quarter" idx="12"/>
          </p:nvPr>
        </p:nvSpPr>
        <p:spPr/>
        <p:txBody>
          <a:bodyPr/>
          <a:lstStyle/>
          <a:p>
            <a:fld id="{D74A315A-FE24-44C2-BE91-BC99791E2A93}" type="slidenum">
              <a:rPr lang="en-IN" smtClean="0"/>
              <a:t>‹#›</a:t>
            </a:fld>
            <a:endParaRPr lang="en-IN"/>
          </a:p>
        </p:txBody>
      </p:sp>
    </p:spTree>
    <p:extLst>
      <p:ext uri="{BB962C8B-B14F-4D97-AF65-F5344CB8AC3E}">
        <p14:creationId xmlns:p14="http://schemas.microsoft.com/office/powerpoint/2010/main" val="11825398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99A7E-464F-4B0C-B24F-0F75962DE2E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DE3C232-A3AC-41A0-BBD8-6141030C55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62E705-0A8F-4A07-A11D-3D6E3580CA9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983E32B-A762-449E-930B-CDB6ED2165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0CBE96-4C94-4EB3-9E7C-1CC81F33FD9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E5EC8CB-C7AD-4AD0-B725-9F27B270493C}"/>
              </a:ext>
            </a:extLst>
          </p:cNvPr>
          <p:cNvSpPr>
            <a:spLocks noGrp="1"/>
          </p:cNvSpPr>
          <p:nvPr>
            <p:ph type="dt" sz="half" idx="10"/>
          </p:nvPr>
        </p:nvSpPr>
        <p:spPr/>
        <p:txBody>
          <a:bodyPr/>
          <a:lstStyle/>
          <a:p>
            <a:fld id="{3397A13C-E346-45BB-BA3E-3D2826ACC94A}" type="datetimeFigureOut">
              <a:rPr lang="en-IN" smtClean="0"/>
              <a:t>15-06-2023</a:t>
            </a:fld>
            <a:endParaRPr lang="en-IN"/>
          </a:p>
        </p:txBody>
      </p:sp>
      <p:sp>
        <p:nvSpPr>
          <p:cNvPr id="8" name="Footer Placeholder 7">
            <a:extLst>
              <a:ext uri="{FF2B5EF4-FFF2-40B4-BE49-F238E27FC236}">
                <a16:creationId xmlns:a16="http://schemas.microsoft.com/office/drawing/2014/main" id="{82CAD305-4D01-4FFB-A61C-E4724353BBD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29B14E3-F2DE-46AF-8191-CEE16B8FFAC6}"/>
              </a:ext>
            </a:extLst>
          </p:cNvPr>
          <p:cNvSpPr>
            <a:spLocks noGrp="1"/>
          </p:cNvSpPr>
          <p:nvPr>
            <p:ph type="sldNum" sz="quarter" idx="12"/>
          </p:nvPr>
        </p:nvSpPr>
        <p:spPr/>
        <p:txBody>
          <a:bodyPr/>
          <a:lstStyle/>
          <a:p>
            <a:fld id="{D74A315A-FE24-44C2-BE91-BC99791E2A93}" type="slidenum">
              <a:rPr lang="en-IN" smtClean="0"/>
              <a:t>‹#›</a:t>
            </a:fld>
            <a:endParaRPr lang="en-IN"/>
          </a:p>
        </p:txBody>
      </p:sp>
    </p:spTree>
    <p:extLst>
      <p:ext uri="{BB962C8B-B14F-4D97-AF65-F5344CB8AC3E}">
        <p14:creationId xmlns:p14="http://schemas.microsoft.com/office/powerpoint/2010/main" val="2372761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E5F26-3EFC-4828-B54E-613086E97DE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804D155-4409-48EF-84B8-CE7279E44BB2}"/>
              </a:ext>
            </a:extLst>
          </p:cNvPr>
          <p:cNvSpPr>
            <a:spLocks noGrp="1"/>
          </p:cNvSpPr>
          <p:nvPr>
            <p:ph type="dt" sz="half" idx="10"/>
          </p:nvPr>
        </p:nvSpPr>
        <p:spPr/>
        <p:txBody>
          <a:bodyPr/>
          <a:lstStyle/>
          <a:p>
            <a:fld id="{3397A13C-E346-45BB-BA3E-3D2826ACC94A}" type="datetimeFigureOut">
              <a:rPr lang="en-IN" smtClean="0"/>
              <a:t>15-06-2023</a:t>
            </a:fld>
            <a:endParaRPr lang="en-IN"/>
          </a:p>
        </p:txBody>
      </p:sp>
      <p:sp>
        <p:nvSpPr>
          <p:cNvPr id="4" name="Footer Placeholder 3">
            <a:extLst>
              <a:ext uri="{FF2B5EF4-FFF2-40B4-BE49-F238E27FC236}">
                <a16:creationId xmlns:a16="http://schemas.microsoft.com/office/drawing/2014/main" id="{6076A016-825D-47DD-A895-47C81E0C9C0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D3F0E91-40D4-4D9D-BEA8-64E4119680AC}"/>
              </a:ext>
            </a:extLst>
          </p:cNvPr>
          <p:cNvSpPr>
            <a:spLocks noGrp="1"/>
          </p:cNvSpPr>
          <p:nvPr>
            <p:ph type="sldNum" sz="quarter" idx="12"/>
          </p:nvPr>
        </p:nvSpPr>
        <p:spPr/>
        <p:txBody>
          <a:bodyPr/>
          <a:lstStyle/>
          <a:p>
            <a:fld id="{D74A315A-FE24-44C2-BE91-BC99791E2A93}" type="slidenum">
              <a:rPr lang="en-IN" smtClean="0"/>
              <a:t>‹#›</a:t>
            </a:fld>
            <a:endParaRPr lang="en-IN"/>
          </a:p>
        </p:txBody>
      </p:sp>
    </p:spTree>
    <p:extLst>
      <p:ext uri="{BB962C8B-B14F-4D97-AF65-F5344CB8AC3E}">
        <p14:creationId xmlns:p14="http://schemas.microsoft.com/office/powerpoint/2010/main" val="3364779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D8A9AD-0FC1-495B-980D-E9A8B059FFFF}"/>
              </a:ext>
            </a:extLst>
          </p:cNvPr>
          <p:cNvSpPr>
            <a:spLocks noGrp="1"/>
          </p:cNvSpPr>
          <p:nvPr>
            <p:ph type="dt" sz="half" idx="10"/>
          </p:nvPr>
        </p:nvSpPr>
        <p:spPr/>
        <p:txBody>
          <a:bodyPr/>
          <a:lstStyle/>
          <a:p>
            <a:fld id="{3397A13C-E346-45BB-BA3E-3D2826ACC94A}" type="datetimeFigureOut">
              <a:rPr lang="en-IN" smtClean="0"/>
              <a:t>15-06-2023</a:t>
            </a:fld>
            <a:endParaRPr lang="en-IN"/>
          </a:p>
        </p:txBody>
      </p:sp>
      <p:sp>
        <p:nvSpPr>
          <p:cNvPr id="3" name="Footer Placeholder 2">
            <a:extLst>
              <a:ext uri="{FF2B5EF4-FFF2-40B4-BE49-F238E27FC236}">
                <a16:creationId xmlns:a16="http://schemas.microsoft.com/office/drawing/2014/main" id="{FB40852D-5F19-4757-B67F-819AF2C0D46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84373BF-68E9-4297-96C7-D0889564ABF6}"/>
              </a:ext>
            </a:extLst>
          </p:cNvPr>
          <p:cNvSpPr>
            <a:spLocks noGrp="1"/>
          </p:cNvSpPr>
          <p:nvPr>
            <p:ph type="sldNum" sz="quarter" idx="12"/>
          </p:nvPr>
        </p:nvSpPr>
        <p:spPr/>
        <p:txBody>
          <a:bodyPr/>
          <a:lstStyle/>
          <a:p>
            <a:fld id="{D74A315A-FE24-44C2-BE91-BC99791E2A93}" type="slidenum">
              <a:rPr lang="en-IN" smtClean="0"/>
              <a:t>‹#›</a:t>
            </a:fld>
            <a:endParaRPr lang="en-IN"/>
          </a:p>
        </p:txBody>
      </p:sp>
    </p:spTree>
    <p:extLst>
      <p:ext uri="{BB962C8B-B14F-4D97-AF65-F5344CB8AC3E}">
        <p14:creationId xmlns:p14="http://schemas.microsoft.com/office/powerpoint/2010/main" val="647389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36C47-9F37-4F10-9031-5C888F8232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FB260A1-3F42-413D-9348-51B0FB0420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7DF2025-8BB2-4525-B198-64278E7F54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93DCDB-4790-404B-96E3-F120858C03FD}"/>
              </a:ext>
            </a:extLst>
          </p:cNvPr>
          <p:cNvSpPr>
            <a:spLocks noGrp="1"/>
          </p:cNvSpPr>
          <p:nvPr>
            <p:ph type="dt" sz="half" idx="10"/>
          </p:nvPr>
        </p:nvSpPr>
        <p:spPr/>
        <p:txBody>
          <a:bodyPr/>
          <a:lstStyle/>
          <a:p>
            <a:fld id="{3397A13C-E346-45BB-BA3E-3D2826ACC94A}" type="datetimeFigureOut">
              <a:rPr lang="en-IN" smtClean="0"/>
              <a:t>15-06-2023</a:t>
            </a:fld>
            <a:endParaRPr lang="en-IN"/>
          </a:p>
        </p:txBody>
      </p:sp>
      <p:sp>
        <p:nvSpPr>
          <p:cNvPr id="6" name="Footer Placeholder 5">
            <a:extLst>
              <a:ext uri="{FF2B5EF4-FFF2-40B4-BE49-F238E27FC236}">
                <a16:creationId xmlns:a16="http://schemas.microsoft.com/office/drawing/2014/main" id="{8887C60D-96DE-4EE3-BB26-3FFF46F37C1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202BB1C-4E88-4B03-996E-7D6BB3DBCE35}"/>
              </a:ext>
            </a:extLst>
          </p:cNvPr>
          <p:cNvSpPr>
            <a:spLocks noGrp="1"/>
          </p:cNvSpPr>
          <p:nvPr>
            <p:ph type="sldNum" sz="quarter" idx="12"/>
          </p:nvPr>
        </p:nvSpPr>
        <p:spPr/>
        <p:txBody>
          <a:bodyPr/>
          <a:lstStyle/>
          <a:p>
            <a:fld id="{D74A315A-FE24-44C2-BE91-BC99791E2A93}" type="slidenum">
              <a:rPr lang="en-IN" smtClean="0"/>
              <a:t>‹#›</a:t>
            </a:fld>
            <a:endParaRPr lang="en-IN"/>
          </a:p>
        </p:txBody>
      </p:sp>
    </p:spTree>
    <p:extLst>
      <p:ext uri="{BB962C8B-B14F-4D97-AF65-F5344CB8AC3E}">
        <p14:creationId xmlns:p14="http://schemas.microsoft.com/office/powerpoint/2010/main" val="144641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79261-6EB4-4E5E-B9AA-E4323AC95F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9B7B2CD-4B26-4473-A004-6FD91660F4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7CCD4CA-6437-4BF1-A6D1-BD7B19C9C2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A0C830-C55B-4B53-BBB5-0B68F8DC4AC0}"/>
              </a:ext>
            </a:extLst>
          </p:cNvPr>
          <p:cNvSpPr>
            <a:spLocks noGrp="1"/>
          </p:cNvSpPr>
          <p:nvPr>
            <p:ph type="dt" sz="half" idx="10"/>
          </p:nvPr>
        </p:nvSpPr>
        <p:spPr/>
        <p:txBody>
          <a:bodyPr/>
          <a:lstStyle/>
          <a:p>
            <a:fld id="{3397A13C-E346-45BB-BA3E-3D2826ACC94A}" type="datetimeFigureOut">
              <a:rPr lang="en-IN" smtClean="0"/>
              <a:t>15-06-2023</a:t>
            </a:fld>
            <a:endParaRPr lang="en-IN"/>
          </a:p>
        </p:txBody>
      </p:sp>
      <p:sp>
        <p:nvSpPr>
          <p:cNvPr id="6" name="Footer Placeholder 5">
            <a:extLst>
              <a:ext uri="{FF2B5EF4-FFF2-40B4-BE49-F238E27FC236}">
                <a16:creationId xmlns:a16="http://schemas.microsoft.com/office/drawing/2014/main" id="{1487413F-612F-4C26-88EA-7447E59F23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7A2E9BC-AE3D-4A75-8AFF-2282EFB4C9E7}"/>
              </a:ext>
            </a:extLst>
          </p:cNvPr>
          <p:cNvSpPr>
            <a:spLocks noGrp="1"/>
          </p:cNvSpPr>
          <p:nvPr>
            <p:ph type="sldNum" sz="quarter" idx="12"/>
          </p:nvPr>
        </p:nvSpPr>
        <p:spPr/>
        <p:txBody>
          <a:bodyPr/>
          <a:lstStyle/>
          <a:p>
            <a:fld id="{D74A315A-FE24-44C2-BE91-BC99791E2A93}" type="slidenum">
              <a:rPr lang="en-IN" smtClean="0"/>
              <a:t>‹#›</a:t>
            </a:fld>
            <a:endParaRPr lang="en-IN"/>
          </a:p>
        </p:txBody>
      </p:sp>
    </p:spTree>
    <p:extLst>
      <p:ext uri="{BB962C8B-B14F-4D97-AF65-F5344CB8AC3E}">
        <p14:creationId xmlns:p14="http://schemas.microsoft.com/office/powerpoint/2010/main" val="2775375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BCAE6-5AED-4CFB-9A71-F8DDC20557F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1366C4B-C3E9-4C7C-8001-EB6D06ADA2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4C5EAD5-D24E-4E3B-81BB-4AC197970A9D}"/>
              </a:ext>
            </a:extLst>
          </p:cNvPr>
          <p:cNvSpPr>
            <a:spLocks noGrp="1"/>
          </p:cNvSpPr>
          <p:nvPr>
            <p:ph type="dt" sz="half" idx="10"/>
          </p:nvPr>
        </p:nvSpPr>
        <p:spPr/>
        <p:txBody>
          <a:bodyPr/>
          <a:lstStyle/>
          <a:p>
            <a:fld id="{3397A13C-E346-45BB-BA3E-3D2826ACC94A}" type="datetimeFigureOut">
              <a:rPr lang="en-IN" smtClean="0"/>
              <a:t>15-06-2023</a:t>
            </a:fld>
            <a:endParaRPr lang="en-IN"/>
          </a:p>
        </p:txBody>
      </p:sp>
      <p:sp>
        <p:nvSpPr>
          <p:cNvPr id="5" name="Footer Placeholder 4">
            <a:extLst>
              <a:ext uri="{FF2B5EF4-FFF2-40B4-BE49-F238E27FC236}">
                <a16:creationId xmlns:a16="http://schemas.microsoft.com/office/drawing/2014/main" id="{831025C2-F096-4CF9-BC19-536CB87031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53A962-CA3B-49A9-AC6A-455CB6CEDC24}"/>
              </a:ext>
            </a:extLst>
          </p:cNvPr>
          <p:cNvSpPr>
            <a:spLocks noGrp="1"/>
          </p:cNvSpPr>
          <p:nvPr>
            <p:ph type="sldNum" sz="quarter" idx="12"/>
          </p:nvPr>
        </p:nvSpPr>
        <p:spPr/>
        <p:txBody>
          <a:bodyPr/>
          <a:lstStyle/>
          <a:p>
            <a:fld id="{D74A315A-FE24-44C2-BE91-BC99791E2A93}" type="slidenum">
              <a:rPr lang="en-IN" smtClean="0"/>
              <a:t>‹#›</a:t>
            </a:fld>
            <a:endParaRPr lang="en-IN"/>
          </a:p>
        </p:txBody>
      </p:sp>
    </p:spTree>
    <p:extLst>
      <p:ext uri="{BB962C8B-B14F-4D97-AF65-F5344CB8AC3E}">
        <p14:creationId xmlns:p14="http://schemas.microsoft.com/office/powerpoint/2010/main" val="2539441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5F0C9E5-B4AF-4245-8CBE-16A55236A03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1DD7702-A4CF-4B6D-A5C4-A3ADB83121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9104DB-C04D-4A4C-9722-FF80C254B000}"/>
              </a:ext>
            </a:extLst>
          </p:cNvPr>
          <p:cNvSpPr>
            <a:spLocks noGrp="1"/>
          </p:cNvSpPr>
          <p:nvPr>
            <p:ph type="dt" sz="half" idx="10"/>
          </p:nvPr>
        </p:nvSpPr>
        <p:spPr/>
        <p:txBody>
          <a:bodyPr/>
          <a:lstStyle/>
          <a:p>
            <a:fld id="{3397A13C-E346-45BB-BA3E-3D2826ACC94A}" type="datetimeFigureOut">
              <a:rPr lang="en-IN" smtClean="0"/>
              <a:t>15-06-2023</a:t>
            </a:fld>
            <a:endParaRPr lang="en-IN"/>
          </a:p>
        </p:txBody>
      </p:sp>
      <p:sp>
        <p:nvSpPr>
          <p:cNvPr id="5" name="Footer Placeholder 4">
            <a:extLst>
              <a:ext uri="{FF2B5EF4-FFF2-40B4-BE49-F238E27FC236}">
                <a16:creationId xmlns:a16="http://schemas.microsoft.com/office/drawing/2014/main" id="{1C40A7B1-D491-4104-9D25-98553C5F4D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155BFF-D95F-4CD1-A332-4EECA8571D5B}"/>
              </a:ext>
            </a:extLst>
          </p:cNvPr>
          <p:cNvSpPr>
            <a:spLocks noGrp="1"/>
          </p:cNvSpPr>
          <p:nvPr>
            <p:ph type="sldNum" sz="quarter" idx="12"/>
          </p:nvPr>
        </p:nvSpPr>
        <p:spPr/>
        <p:txBody>
          <a:bodyPr/>
          <a:lstStyle/>
          <a:p>
            <a:fld id="{D74A315A-FE24-44C2-BE91-BC99791E2A93}" type="slidenum">
              <a:rPr lang="en-IN" smtClean="0"/>
              <a:t>‹#›</a:t>
            </a:fld>
            <a:endParaRPr lang="en-IN"/>
          </a:p>
        </p:txBody>
      </p:sp>
    </p:spTree>
    <p:extLst>
      <p:ext uri="{BB962C8B-B14F-4D97-AF65-F5344CB8AC3E}">
        <p14:creationId xmlns:p14="http://schemas.microsoft.com/office/powerpoint/2010/main" val="28361324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13508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5426BA-5D63-49C2-8152-EBCE1EDC41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FB8D596-28C0-441C-9E17-0206506065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B98374-1C59-411A-9A89-7B18605229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97A13C-E346-45BB-BA3E-3D2826ACC94A}" type="datetimeFigureOut">
              <a:rPr lang="en-IN" smtClean="0"/>
              <a:t>15-06-2023</a:t>
            </a:fld>
            <a:endParaRPr lang="en-IN"/>
          </a:p>
        </p:txBody>
      </p:sp>
      <p:sp>
        <p:nvSpPr>
          <p:cNvPr id="5" name="Footer Placeholder 4">
            <a:extLst>
              <a:ext uri="{FF2B5EF4-FFF2-40B4-BE49-F238E27FC236}">
                <a16:creationId xmlns:a16="http://schemas.microsoft.com/office/drawing/2014/main" id="{3F406C7E-704A-492A-921A-6A81102F6B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B749DA8-01BF-4CAB-9175-39F6061CD4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4A315A-FE24-44C2-BE91-BC99791E2A93}" type="slidenum">
              <a:rPr lang="en-IN" smtClean="0"/>
              <a:t>‹#›</a:t>
            </a:fld>
            <a:endParaRPr lang="en-IN"/>
          </a:p>
        </p:txBody>
      </p:sp>
    </p:spTree>
    <p:extLst>
      <p:ext uri="{BB962C8B-B14F-4D97-AF65-F5344CB8AC3E}">
        <p14:creationId xmlns:p14="http://schemas.microsoft.com/office/powerpoint/2010/main" val="5229682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3" Type="http://schemas.openxmlformats.org/officeDocument/2006/relationships/hyperlink" Target="https://en.wikipedia.org/wiki/Superconductivity" TargetMode="External"/><Relationship Id="rId2" Type="http://schemas.openxmlformats.org/officeDocument/2006/relationships/hyperlink" Target="http://hyperphysics.phy-astr.gsu.edu/hbase/Solids/scond.html#:~:text=The%20critical%20temperature%20for%20superconductors,described%20by%20the%20BCS%20theory." TargetMode="Externa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hyperlink" Target="https://www.ques10.com/p/31326/define-super-conductivity-and-critical-temperature/"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RS7gyZJg5nc" TargetMode="External"/><Relationship Id="rId2" Type="http://schemas.openxmlformats.org/officeDocument/2006/relationships/hyperlink" Target="https://www.youtube.com/watch?v=h6FYs_AUCsQ" TargetMode="Externa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hyperlink" Target="https://www.youtube.com/watch?v=3gKRIjUzIH4"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3">
                        <a:lum bright="77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4">
            <a:extLst>
              <a:ext uri="{BEBA8EAE-BF5A-486C-A8C5-ECC9F3942E4B}">
                <a14:imgProps xmlns:a14="http://schemas.microsoft.com/office/drawing/2010/main">
                  <a14:imgLayer r:embed="rId5">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409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2279561" y="1562755"/>
            <a:ext cx="8961316" cy="3810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UNIT 4</a:t>
            </a:r>
          </a:p>
          <a:p>
            <a:pPr lvl="0" algn="ctr" defTabSz="622300">
              <a:lnSpc>
                <a:spcPct val="90000"/>
              </a:lnSpc>
              <a:spcBef>
                <a:spcPct val="0"/>
              </a:spcBef>
              <a:spcAft>
                <a:spcPct val="35000"/>
              </a:spcAft>
            </a:pPr>
            <a:r>
              <a:rPr lang="en-US" sz="2800" dirty="0">
                <a:latin typeface="Times New Roman" pitchFamily="18" charset="0"/>
                <a:ea typeface="Calibri" panose="020F0502020204030204" pitchFamily="34" charset="0"/>
                <a:cs typeface="Times New Roman" panose="02020603050405020304" pitchFamily="18" charset="0"/>
              </a:rPr>
              <a:t>Bachelor of Engineering (EE Branch) </a:t>
            </a:r>
          </a:p>
          <a:p>
            <a:pPr algn="ctr" defTabSz="622300">
              <a:lnSpc>
                <a:spcPct val="90000"/>
              </a:lnSpc>
              <a:spcBef>
                <a:spcPct val="0"/>
              </a:spcBef>
              <a:spcAft>
                <a:spcPct val="35000"/>
              </a:spcAft>
            </a:pPr>
            <a:r>
              <a:rPr lang="en-US" sz="2800" dirty="0">
                <a:latin typeface="Times New Roman" pitchFamily="18" charset="0"/>
                <a:ea typeface="Calibri" panose="020F0502020204030204" pitchFamily="34" charset="0"/>
                <a:cs typeface="Times New Roman" panose="02020603050405020304" pitchFamily="18" charset="0"/>
              </a:rPr>
              <a:t>Subject Name and Code:</a:t>
            </a:r>
          </a:p>
          <a:p>
            <a:pPr lvl="0" algn="ctr" defTabSz="622300">
              <a:lnSpc>
                <a:spcPct val="90000"/>
              </a:lnSpc>
              <a:spcBef>
                <a:spcPct val="0"/>
              </a:spcBef>
              <a:spcAft>
                <a:spcPct val="35000"/>
              </a:spcAft>
            </a:pPr>
            <a:r>
              <a:rPr lang="en-US" sz="2800" dirty="0">
                <a:latin typeface="Times New Roman" pitchFamily="18" charset="0"/>
                <a:ea typeface="Calibri" panose="020F0502020204030204" pitchFamily="34" charset="0"/>
                <a:cs typeface="Times New Roman" panose="02020603050405020304" pitchFamily="18" charset="0"/>
              </a:rPr>
              <a:t>Engineering Physics 23SPH-141</a:t>
            </a:r>
          </a:p>
          <a:p>
            <a:pPr lvl="0" algn="ctr" defTabSz="622300">
              <a:lnSpc>
                <a:spcPct val="90000"/>
              </a:lnSpc>
              <a:spcBef>
                <a:spcPct val="0"/>
              </a:spcBef>
              <a:spcAft>
                <a:spcPct val="35000"/>
              </a:spcAft>
            </a:pPr>
            <a:r>
              <a:rPr lang="en-US" sz="2800" dirty="0">
                <a:latin typeface="Times New Roman" pitchFamily="18" charset="0"/>
                <a:ea typeface="Calibri" panose="020F0502020204030204" pitchFamily="34" charset="0"/>
                <a:cs typeface="Times New Roman" panose="02020603050405020304" pitchFamily="18" charset="0"/>
              </a:rPr>
              <a:t>Prepared by: Divya, Assistant Prof. Physics</a:t>
            </a:r>
          </a:p>
          <a:p>
            <a:pPr lvl="0" algn="ctr" defTabSz="622300">
              <a:lnSpc>
                <a:spcPct val="90000"/>
              </a:lnSpc>
              <a:spcBef>
                <a:spcPct val="0"/>
              </a:spcBef>
              <a:spcAft>
                <a:spcPct val="35000"/>
              </a:spcAft>
            </a:pPr>
            <a:endParaRPr lang="en-US" sz="2400" dirty="0">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DAAC0423-873A-4B03-AB30-5F489B763804}"/>
              </a:ext>
            </a:extLst>
          </p:cNvPr>
          <p:cNvSpPr txBox="1"/>
          <p:nvPr/>
        </p:nvSpPr>
        <p:spPr>
          <a:xfrm>
            <a:off x="2413017" y="6085113"/>
            <a:ext cx="3303055" cy="400110"/>
          </a:xfrm>
          <a:prstGeom prst="rect">
            <a:avLst/>
          </a:prstGeom>
          <a:noFill/>
        </p:spPr>
        <p:txBody>
          <a:bodyPr wrap="square" rtlCol="0">
            <a:spAutoFit/>
          </a:bodyPr>
          <a:lstStyle/>
          <a:p>
            <a:r>
              <a:rPr lang="en-IN" sz="2000" b="1" dirty="0"/>
              <a:t>Superconductivity</a:t>
            </a:r>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3B6A5-1DBB-4C4F-BFB2-9FD7CC207B0B}"/>
              </a:ext>
            </a:extLst>
          </p:cNvPr>
          <p:cNvSpPr>
            <a:spLocks noGrp="1"/>
          </p:cNvSpPr>
          <p:nvPr>
            <p:ph type="title"/>
          </p:nvPr>
        </p:nvSpPr>
        <p:spPr>
          <a:ln>
            <a:solidFill>
              <a:srgbClr val="C00000"/>
            </a:solidFill>
          </a:ln>
        </p:spPr>
        <p:txBody>
          <a:bodyPr/>
          <a:lstStyle/>
          <a:p>
            <a:pPr algn="ctr"/>
            <a:r>
              <a:rPr lang="en-US" b="1" dirty="0">
                <a:latin typeface="+mn-lt"/>
              </a:rPr>
              <a:t>COURSE OBJECTIVES</a:t>
            </a:r>
            <a:endParaRPr lang="en-IN" b="1" dirty="0">
              <a:latin typeface="+mn-lt"/>
            </a:endParaRPr>
          </a:p>
        </p:txBody>
      </p:sp>
      <p:sp>
        <p:nvSpPr>
          <p:cNvPr id="3" name="Content Placeholder 2">
            <a:extLst>
              <a:ext uri="{FF2B5EF4-FFF2-40B4-BE49-F238E27FC236}">
                <a16:creationId xmlns:a16="http://schemas.microsoft.com/office/drawing/2014/main" id="{79576E1A-A92E-487B-9EDA-726C74B9AD74}"/>
              </a:ext>
            </a:extLst>
          </p:cNvPr>
          <p:cNvSpPr>
            <a:spLocks noGrp="1"/>
          </p:cNvSpPr>
          <p:nvPr>
            <p:ph idx="1"/>
          </p:nvPr>
        </p:nvSpPr>
        <p:spPr/>
        <p:txBody>
          <a:bodyPr>
            <a:normAutofit/>
          </a:bodyPr>
          <a:lstStyle/>
          <a:p>
            <a:pPr algn="just">
              <a:buClr>
                <a:schemeClr val="accent1"/>
              </a:buClr>
              <a:buFont typeface="Wingdings" panose="05000000000000000000" pitchFamily="2" charset="2"/>
              <a:buChar char="Ø"/>
            </a:pPr>
            <a:endParaRPr lang="en-IN" sz="2400" dirty="0"/>
          </a:p>
          <a:p>
            <a:pPr algn="just">
              <a:buClr>
                <a:schemeClr val="accent1"/>
              </a:buClr>
              <a:buFont typeface="Wingdings" panose="05000000000000000000" pitchFamily="2" charset="2"/>
              <a:buChar char="Ø"/>
            </a:pPr>
            <a:r>
              <a:rPr lang="en-IN" sz="2400" dirty="0"/>
              <a:t> The course is designed to make the students industry ready to contribute in the growing demand of the industry at local, national and international level.</a:t>
            </a:r>
          </a:p>
          <a:p>
            <a:pPr algn="just">
              <a:buClr>
                <a:schemeClr val="accent1"/>
              </a:buClr>
              <a:buFont typeface="Wingdings" panose="05000000000000000000" pitchFamily="2" charset="2"/>
              <a:buChar char="Ø"/>
            </a:pPr>
            <a:r>
              <a:rPr lang="en-IN" sz="2400" dirty="0"/>
              <a:t> It will make the students competent to understand basic concepts and applications of advanced engineering physics and apply its principles in their respective fields at global platform.</a:t>
            </a:r>
          </a:p>
          <a:p>
            <a:pPr algn="just">
              <a:buClr>
                <a:schemeClr val="accent1"/>
              </a:buClr>
              <a:buFont typeface="Wingdings" panose="05000000000000000000" pitchFamily="2" charset="2"/>
              <a:buChar char="Ø"/>
            </a:pPr>
            <a:r>
              <a:rPr lang="en-IN" sz="2400" dirty="0"/>
              <a:t> It will enhance the skill level of the students and shall make them preferred choice for getting employment in industry and research labs.</a:t>
            </a:r>
          </a:p>
          <a:p>
            <a:pPr algn="just">
              <a:buClr>
                <a:schemeClr val="accent1"/>
              </a:buClr>
              <a:buFont typeface="Wingdings" panose="05000000000000000000" pitchFamily="2" charset="2"/>
              <a:buChar char="Ø"/>
            </a:pPr>
            <a:r>
              <a:rPr lang="en-IN" sz="2400" dirty="0"/>
              <a:t> It will give thorough knowledge of the discipline to enable students to disseminate knowledge in pursuing excellence in academic areas.</a:t>
            </a:r>
          </a:p>
        </p:txBody>
      </p:sp>
      <p:pic>
        <p:nvPicPr>
          <p:cNvPr id="5" name="Picture 4">
            <a:extLst>
              <a:ext uri="{FF2B5EF4-FFF2-40B4-BE49-F238E27FC236}">
                <a16:creationId xmlns:a16="http://schemas.microsoft.com/office/drawing/2014/main" id="{EB446357-572D-4E98-9B86-100D1C9C496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812" y="75509"/>
            <a:ext cx="692726" cy="1039091"/>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8EB74E0B-BA7B-48FA-984F-7E93C56C091D}"/>
              </a:ext>
            </a:extLst>
          </p:cNvPr>
          <p:cNvGrpSpPr/>
          <p:nvPr/>
        </p:nvGrpSpPr>
        <p:grpSpPr>
          <a:xfrm>
            <a:off x="11834191" y="5406887"/>
            <a:ext cx="251792" cy="1360971"/>
            <a:chOff x="83821" y="0"/>
            <a:chExt cx="219636" cy="903079"/>
          </a:xfrm>
        </p:grpSpPr>
        <p:sp>
          <p:nvSpPr>
            <p:cNvPr id="7" name="Rectangle 6">
              <a:extLst>
                <a:ext uri="{FF2B5EF4-FFF2-40B4-BE49-F238E27FC236}">
                  <a16:creationId xmlns:a16="http://schemas.microsoft.com/office/drawing/2014/main" id="{8BE1E148-9AC1-426F-8702-AA80E9898A80}"/>
                </a:ext>
              </a:extLst>
            </p:cNvPr>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BC8C020-856F-4940-8AEA-729D353F480B}"/>
                </a:ext>
              </a:extLst>
            </p:cNvPr>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713E28B-F4AA-4700-979D-D65EBA18F485}"/>
                </a:ext>
              </a:extLst>
            </p:cNvPr>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Object 9">
              <a:extLst>
                <a:ext uri="{FF2B5EF4-FFF2-40B4-BE49-F238E27FC236}">
                  <a16:creationId xmlns:a16="http://schemas.microsoft.com/office/drawing/2014/main" id="{2CB4ECD4-3444-424D-B846-B88031B1B978}"/>
                </a:ext>
              </a:extLst>
            </p:cNvPr>
            <p:cNvGraphicFramePr>
              <a:graphicFrameLocks noChangeAspect="1"/>
            </p:cNvGraphicFramePr>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3" imgW="2169000" imgH="2169360" progId="">
                    <p:embed/>
                  </p:oleObj>
                </mc:Choice>
                <mc:Fallback>
                  <p:oleObj name="CorelDRAW" r:id="rId3" imgW="2169000" imgH="2169360" progId="">
                    <p:embed/>
                    <p:pic>
                      <p:nvPicPr>
                        <p:cNvPr id="10" name="Object 9">
                          <a:extLst>
                            <a:ext uri="{FF2B5EF4-FFF2-40B4-BE49-F238E27FC236}">
                              <a16:creationId xmlns:a16="http://schemas.microsoft.com/office/drawing/2014/main" id="{2CB4ECD4-3444-424D-B846-B88031B1B978}"/>
                            </a:ext>
                          </a:extLst>
                        </p:cNvPr>
                        <p:cNvPicPr>
                          <a:picLocks noChangeAspect="1" noChangeArrowheads="1"/>
                        </p:cNvPicPr>
                        <p:nvPr/>
                      </p:nvPicPr>
                      <p:blipFill>
                        <a:blip r:embed="rId4">
                          <a:lum/>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p:spPr>
                    </p:pic>
                  </p:oleObj>
                </mc:Fallback>
              </mc:AlternateContent>
            </a:graphicData>
          </a:graphic>
        </p:graphicFrame>
      </p:grpSp>
    </p:spTree>
    <p:extLst>
      <p:ext uri="{BB962C8B-B14F-4D97-AF65-F5344CB8AC3E}">
        <p14:creationId xmlns:p14="http://schemas.microsoft.com/office/powerpoint/2010/main" val="32851705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131245413"/>
              </p:ext>
            </p:extLst>
          </p:nvPr>
        </p:nvGraphicFramePr>
        <p:xfrm>
          <a:off x="399613" y="2069040"/>
          <a:ext cx="5458263" cy="3704244"/>
        </p:xfrm>
        <a:graphic>
          <a:graphicData uri="http://schemas.openxmlformats.org/drawingml/2006/table">
            <a:tbl>
              <a:tblPr firstRow="1" firstCol="1" bandRow="1">
                <a:tableStyleId>{5940675A-B579-460E-94D1-54222C63F5DA}</a:tableStyleId>
              </a:tblPr>
              <a:tblGrid>
                <a:gridCol w="824144">
                  <a:extLst>
                    <a:ext uri="{9D8B030D-6E8A-4147-A177-3AD203B41FA5}">
                      <a16:colId xmlns:a16="http://schemas.microsoft.com/office/drawing/2014/main" val="20000"/>
                    </a:ext>
                  </a:extLst>
                </a:gridCol>
                <a:gridCol w="3661864">
                  <a:extLst>
                    <a:ext uri="{9D8B030D-6E8A-4147-A177-3AD203B41FA5}">
                      <a16:colId xmlns:a16="http://schemas.microsoft.com/office/drawing/2014/main" val="20001"/>
                    </a:ext>
                  </a:extLst>
                </a:gridCol>
                <a:gridCol w="972255">
                  <a:extLst>
                    <a:ext uri="{9D8B030D-6E8A-4147-A177-3AD203B41FA5}">
                      <a16:colId xmlns:a16="http://schemas.microsoft.com/office/drawing/2014/main" val="20002"/>
                    </a:ext>
                  </a:extLst>
                </a:gridCol>
              </a:tblGrid>
              <a:tr h="821741">
                <a:tc>
                  <a:txBody>
                    <a:bodyPr/>
                    <a:lstStyle/>
                    <a:p>
                      <a:pPr marL="0" marR="0">
                        <a:lnSpc>
                          <a:spcPct val="115000"/>
                        </a:lnSpc>
                        <a:spcBef>
                          <a:spcPts val="0"/>
                        </a:spcBef>
                        <a:spcAft>
                          <a:spcPts val="0"/>
                        </a:spcAft>
                      </a:pPr>
                      <a:r>
                        <a:rPr lang="en-US" sz="1200" b="0" dirty="0">
                          <a:effectLst/>
                        </a:rPr>
                        <a:t>CO Number</a:t>
                      </a:r>
                      <a:endParaRPr lang="en-US" sz="11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b="0" dirty="0">
                          <a:effectLst/>
                        </a:rPr>
                        <a:t>Title </a:t>
                      </a:r>
                    </a:p>
                    <a:p>
                      <a:pPr marL="0" marR="0">
                        <a:lnSpc>
                          <a:spcPct val="115000"/>
                        </a:lnSpc>
                        <a:spcBef>
                          <a:spcPts val="0"/>
                        </a:spcBef>
                        <a:spcAft>
                          <a:spcPts val="0"/>
                        </a:spcAft>
                      </a:pPr>
                      <a:r>
                        <a:rPr lang="en-IN" sz="1200" kern="1200" dirty="0">
                          <a:solidFill>
                            <a:schemeClr val="tx1"/>
                          </a:solidFill>
                          <a:effectLst/>
                          <a:latin typeface="+mn-lt"/>
                          <a:ea typeface="+mn-ea"/>
                          <a:cs typeface="+mn-cs"/>
                        </a:rPr>
                        <a:t>On completion of this course, the students are expected to learn</a:t>
                      </a:r>
                      <a:endParaRPr lang="en-US" sz="12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b="0" dirty="0">
                          <a:effectLst/>
                        </a:rPr>
                        <a:t>Level </a:t>
                      </a:r>
                      <a:endParaRPr lang="en-US" sz="11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662703">
                <a:tc>
                  <a:txBody>
                    <a:bodyPr/>
                    <a:lstStyle/>
                    <a:p>
                      <a:pPr marL="0" marR="0">
                        <a:lnSpc>
                          <a:spcPct val="115000"/>
                        </a:lnSpc>
                        <a:spcBef>
                          <a:spcPts val="0"/>
                        </a:spcBef>
                        <a:spcAft>
                          <a:spcPts val="0"/>
                        </a:spcAft>
                      </a:pPr>
                      <a:r>
                        <a:rPr lang="en-US" sz="1200" b="1" dirty="0">
                          <a:solidFill>
                            <a:schemeClr val="tx1"/>
                          </a:solidFill>
                          <a:effectLst/>
                        </a:rPr>
                        <a:t>CO1</a:t>
                      </a:r>
                      <a:endParaRPr lang="en-US" sz="12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lvl="0"/>
                      <a:r>
                        <a:rPr lang="en-US" sz="1200" kern="1200" dirty="0">
                          <a:solidFill>
                            <a:schemeClr val="tx1"/>
                          </a:solidFill>
                          <a:effectLst/>
                          <a:latin typeface="+mn-lt"/>
                          <a:ea typeface="+mn-ea"/>
                          <a:cs typeface="+mn-cs"/>
                        </a:rPr>
                        <a:t>To identify various components of laser and optical fibers and justify their importance and applications in different fields of science and technology</a:t>
                      </a:r>
                    </a:p>
                  </a:txBody>
                  <a:tcPr marL="68580" marR="68580" marT="0" marB="0" anchor="ctr"/>
                </a:tc>
                <a:tc>
                  <a:txBody>
                    <a:bodyPr/>
                    <a:lstStyle/>
                    <a:p>
                      <a:pPr marL="0" marR="0">
                        <a:lnSpc>
                          <a:spcPct val="115000"/>
                        </a:lnSpc>
                        <a:spcBef>
                          <a:spcPts val="0"/>
                        </a:spcBef>
                        <a:spcAft>
                          <a:spcPts val="0"/>
                        </a:spcAft>
                      </a:pPr>
                      <a:r>
                        <a:rPr lang="en-US" sz="1200" b="1" dirty="0">
                          <a:solidFill>
                            <a:schemeClr val="tx1"/>
                          </a:solidFill>
                          <a:effectLst/>
                        </a:rPr>
                        <a:t>Understand</a:t>
                      </a:r>
                    </a:p>
                    <a:p>
                      <a:pPr marL="0" marR="0">
                        <a:lnSpc>
                          <a:spcPct val="115000"/>
                        </a:lnSpc>
                        <a:spcBef>
                          <a:spcPts val="0"/>
                        </a:spcBef>
                        <a:spcAft>
                          <a:spcPts val="0"/>
                        </a:spcAft>
                      </a:pPr>
                      <a:r>
                        <a:rPr lang="en-US" sz="1200" b="1" dirty="0">
                          <a:solidFill>
                            <a:schemeClr val="tx1"/>
                          </a:solidFill>
                          <a:effectLst/>
                        </a:rPr>
                        <a:t>Applying</a:t>
                      </a:r>
                    </a:p>
                    <a:p>
                      <a:pPr marL="0" marR="0">
                        <a:lnSpc>
                          <a:spcPct val="115000"/>
                        </a:lnSpc>
                        <a:spcBef>
                          <a:spcPts val="0"/>
                        </a:spcBef>
                        <a:spcAft>
                          <a:spcPts val="0"/>
                        </a:spcAft>
                      </a:pPr>
                      <a:r>
                        <a:rPr lang="en-US" sz="1200" b="1" dirty="0">
                          <a:solidFill>
                            <a:schemeClr val="tx1"/>
                          </a:solidFill>
                          <a:effectLst/>
                        </a:rPr>
                        <a:t> </a:t>
                      </a:r>
                      <a:endParaRPr lang="en-US" sz="12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894988">
                <a:tc>
                  <a:txBody>
                    <a:bodyPr/>
                    <a:lstStyle/>
                    <a:p>
                      <a:pPr marL="0" marR="0">
                        <a:lnSpc>
                          <a:spcPct val="115000"/>
                        </a:lnSpc>
                        <a:spcBef>
                          <a:spcPts val="0"/>
                        </a:spcBef>
                        <a:spcAft>
                          <a:spcPts val="0"/>
                        </a:spcAft>
                      </a:pPr>
                      <a:r>
                        <a:rPr lang="en-US" sz="1200" b="0" dirty="0">
                          <a:solidFill>
                            <a:schemeClr val="tx1"/>
                          </a:solidFill>
                          <a:effectLst/>
                          <a:latin typeface="+mn-lt"/>
                        </a:rPr>
                        <a:t>CO2</a:t>
                      </a:r>
                      <a:endParaRPr lang="en-US" sz="1200" b="0"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lvl="0"/>
                      <a:r>
                        <a:rPr lang="en-US" sz="1200" kern="1200" dirty="0">
                          <a:solidFill>
                            <a:schemeClr val="tx1"/>
                          </a:solidFill>
                          <a:effectLst/>
                          <a:latin typeface="+mn-lt"/>
                          <a:ea typeface="+mn-ea"/>
                          <a:cs typeface="+mn-cs"/>
                        </a:rPr>
                        <a:t>The basic concepts of semiconductor physics, illustrate the working of various semiconductor components and use its principles in design of optoelectronic devices and its applications.</a:t>
                      </a:r>
                    </a:p>
                  </a:txBody>
                  <a:tcPr marL="68580" marR="68580" marT="0" marB="0" anchor="ctr"/>
                </a:tc>
                <a:tc>
                  <a:txBody>
                    <a:bodyPr/>
                    <a:lstStyle/>
                    <a:p>
                      <a:pPr marL="0" marR="0">
                        <a:lnSpc>
                          <a:spcPct val="115000"/>
                        </a:lnSpc>
                        <a:spcBef>
                          <a:spcPts val="0"/>
                        </a:spcBef>
                        <a:spcAft>
                          <a:spcPts val="0"/>
                        </a:spcAft>
                      </a:pPr>
                      <a:r>
                        <a:rPr lang="en-US" sz="1200" b="0" dirty="0">
                          <a:solidFill>
                            <a:schemeClr val="tx1"/>
                          </a:solidFill>
                          <a:effectLst/>
                          <a:latin typeface="+mn-lt"/>
                        </a:rPr>
                        <a:t>Understand</a:t>
                      </a:r>
                    </a:p>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solidFill>
                            <a:schemeClr val="tx1"/>
                          </a:solidFill>
                          <a:effectLst/>
                          <a:latin typeface="+mn-lt"/>
                        </a:rPr>
                        <a:t>Applying </a:t>
                      </a:r>
                    </a:p>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solidFill>
                            <a:schemeClr val="tx1"/>
                          </a:solidFill>
                          <a:effectLst/>
                          <a:latin typeface="+mn-lt"/>
                          <a:ea typeface="Times New Roman" panose="02020603050405020304" pitchFamily="18" charset="0"/>
                          <a:cs typeface="Times New Roman" panose="02020603050405020304" pitchFamily="18" charset="0"/>
                        </a:rPr>
                        <a:t>Analyze</a:t>
                      </a:r>
                    </a:p>
                  </a:txBody>
                  <a:tcPr marL="68580" marR="68580" marT="0" marB="0"/>
                </a:tc>
                <a:extLst>
                  <a:ext uri="{0D108BD9-81ED-4DB2-BD59-A6C34878D82A}">
                    <a16:rowId xmlns:a16="http://schemas.microsoft.com/office/drawing/2014/main" val="10002"/>
                  </a:ext>
                </a:extLst>
              </a:tr>
              <a:tr h="1324812">
                <a:tc>
                  <a:txBody>
                    <a:bodyPr/>
                    <a:lstStyle/>
                    <a:p>
                      <a:pPr marL="0" marR="0">
                        <a:lnSpc>
                          <a:spcPct val="115000"/>
                        </a:lnSpc>
                        <a:spcBef>
                          <a:spcPts val="0"/>
                        </a:spcBef>
                        <a:spcAft>
                          <a:spcPts val="0"/>
                        </a:spcAft>
                      </a:pPr>
                      <a:r>
                        <a:rPr lang="en-US" sz="1200" b="0" dirty="0">
                          <a:solidFill>
                            <a:srgbClr val="FF0000"/>
                          </a:solidFill>
                          <a:effectLst/>
                          <a:latin typeface="+mn-lt"/>
                        </a:rPr>
                        <a:t>CO3</a:t>
                      </a:r>
                      <a:endParaRPr lang="en-US" sz="1200" b="0" dirty="0">
                        <a:solidFill>
                          <a:srgbClr val="FF0000"/>
                        </a:solidFill>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lvl="0"/>
                      <a:r>
                        <a:rPr lang="en-US" sz="1200" kern="1200" dirty="0">
                          <a:solidFill>
                            <a:srgbClr val="FF0000"/>
                          </a:solidFill>
                          <a:effectLst/>
                          <a:latin typeface="+mn-lt"/>
                          <a:ea typeface="+mn-ea"/>
                          <a:cs typeface="+mn-cs"/>
                        </a:rPr>
                        <a:t>To understand the principles of superconductivity and their applications. To illustrate the propagation of </a:t>
                      </a:r>
                      <a:r>
                        <a:rPr lang="en-US" sz="1200" kern="1200" dirty="0" err="1">
                          <a:solidFill>
                            <a:srgbClr val="FF0000"/>
                          </a:solidFill>
                          <a:effectLst/>
                          <a:latin typeface="+mn-lt"/>
                          <a:ea typeface="+mn-ea"/>
                          <a:cs typeface="+mn-cs"/>
                        </a:rPr>
                        <a:t>em</a:t>
                      </a:r>
                      <a:r>
                        <a:rPr lang="en-US" sz="1200" kern="1200" dirty="0">
                          <a:solidFill>
                            <a:srgbClr val="FF0000"/>
                          </a:solidFill>
                          <a:effectLst/>
                          <a:latin typeface="+mn-lt"/>
                          <a:ea typeface="+mn-ea"/>
                          <a:cs typeface="+mn-cs"/>
                        </a:rPr>
                        <a:t> waves.</a:t>
                      </a:r>
                    </a:p>
                  </a:txBody>
                  <a:tcPr marL="68580" marR="68580" marT="0" marB="0" anchor="ctr"/>
                </a:tc>
                <a:tc>
                  <a:txBody>
                    <a:bodyPr/>
                    <a:lstStyle/>
                    <a:p>
                      <a:pPr marL="0" marR="0">
                        <a:lnSpc>
                          <a:spcPct val="115000"/>
                        </a:lnSpc>
                        <a:spcBef>
                          <a:spcPts val="0"/>
                        </a:spcBef>
                        <a:spcAft>
                          <a:spcPts val="0"/>
                        </a:spcAft>
                      </a:pPr>
                      <a:r>
                        <a:rPr lang="en-US" sz="1200" b="0" dirty="0">
                          <a:solidFill>
                            <a:srgbClr val="FF0000"/>
                          </a:solidFill>
                          <a:effectLst/>
                          <a:latin typeface="+mn-lt"/>
                        </a:rPr>
                        <a:t>Understand</a:t>
                      </a:r>
                    </a:p>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solidFill>
                            <a:srgbClr val="FF0000"/>
                          </a:solidFill>
                          <a:effectLst/>
                          <a:latin typeface="+mn-lt"/>
                        </a:rPr>
                        <a:t> Applying </a:t>
                      </a:r>
                    </a:p>
                  </a:txBody>
                  <a:tcPr marL="68580" marR="68580" marT="0" marB="0"/>
                </a:tc>
                <a:extLst>
                  <a:ext uri="{0D108BD9-81ED-4DB2-BD59-A6C34878D82A}">
                    <a16:rowId xmlns:a16="http://schemas.microsoft.com/office/drawing/2014/main" val="10003"/>
                  </a:ext>
                </a:extLst>
              </a:tr>
            </a:tbl>
          </a:graphicData>
        </a:graphic>
      </p:graphicFrame>
      <p:sp>
        <p:nvSpPr>
          <p:cNvPr id="5" name="Rectangle 4"/>
          <p:cNvSpPr/>
          <p:nvPr/>
        </p:nvSpPr>
        <p:spPr>
          <a:xfrm>
            <a:off x="928468" y="418837"/>
            <a:ext cx="4929408" cy="769441"/>
          </a:xfrm>
          <a:prstGeom prst="rect">
            <a:avLst/>
          </a:prstGeom>
        </p:spPr>
        <p:txBody>
          <a:bodyPr wrap="square">
            <a:spAutoFit/>
          </a:bodyPr>
          <a:lstStyle/>
          <a:p>
            <a:r>
              <a:rPr lang="en-US" sz="4400" b="1" dirty="0">
                <a:latin typeface="Caper bold "/>
                <a:ea typeface="Cambria" panose="02040503050406030204" pitchFamily="18" charset="0"/>
              </a:rPr>
              <a:t>Course Outcomes </a:t>
            </a:r>
          </a:p>
        </p:txBody>
      </p:sp>
      <p:pic>
        <p:nvPicPr>
          <p:cNvPr id="4098" name="Picture 2" descr="Aluminum &quot;superatoms&quot; hint at a new type of superconducting material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95975" y="1188278"/>
            <a:ext cx="5184774" cy="45967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00891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D1E86-D00A-4245-9872-9063DC9038C4}"/>
              </a:ext>
            </a:extLst>
          </p:cNvPr>
          <p:cNvSpPr>
            <a:spLocks noGrp="1"/>
          </p:cNvSpPr>
          <p:nvPr>
            <p:ph type="title"/>
          </p:nvPr>
        </p:nvSpPr>
        <p:spPr>
          <a:ln>
            <a:solidFill>
              <a:srgbClr val="C00000"/>
            </a:solidFill>
          </a:ln>
        </p:spPr>
        <p:txBody>
          <a:bodyPr/>
          <a:lstStyle/>
          <a:p>
            <a:pPr algn="ctr"/>
            <a:r>
              <a:rPr lang="en-US" b="1" dirty="0">
                <a:latin typeface="+mn-lt"/>
              </a:rPr>
              <a:t>CONTENT</a:t>
            </a:r>
            <a:endParaRPr lang="en-IN" b="1" dirty="0">
              <a:latin typeface="+mn-lt"/>
            </a:endParaRPr>
          </a:p>
        </p:txBody>
      </p:sp>
      <p:sp>
        <p:nvSpPr>
          <p:cNvPr id="3" name="Content Placeholder 2">
            <a:extLst>
              <a:ext uri="{FF2B5EF4-FFF2-40B4-BE49-F238E27FC236}">
                <a16:creationId xmlns:a16="http://schemas.microsoft.com/office/drawing/2014/main" id="{CF9F587B-EBA0-4C6C-BC9B-6B1E89ED1333}"/>
              </a:ext>
            </a:extLst>
          </p:cNvPr>
          <p:cNvSpPr>
            <a:spLocks noGrp="1"/>
          </p:cNvSpPr>
          <p:nvPr>
            <p:ph idx="1"/>
          </p:nvPr>
        </p:nvSpPr>
        <p:spPr>
          <a:ln>
            <a:solidFill>
              <a:schemeClr val="tx1"/>
            </a:solidFill>
          </a:ln>
        </p:spPr>
        <p:txBody>
          <a:bodyPr/>
          <a:lstStyle/>
          <a:p>
            <a:pPr marL="0" indent="0">
              <a:buNone/>
            </a:pPr>
            <a:endParaRPr lang="en-US" dirty="0"/>
          </a:p>
          <a:p>
            <a:pPr algn="just">
              <a:buFont typeface="Wingdings" panose="05000000000000000000" pitchFamily="2" charset="2"/>
              <a:buChar char="ü"/>
            </a:pPr>
            <a:r>
              <a:rPr lang="en-US" b="1" dirty="0"/>
              <a:t>INTRODUCTION TO SUPERCONDUCTORS</a:t>
            </a:r>
          </a:p>
          <a:p>
            <a:pPr algn="just">
              <a:buFont typeface="Wingdings" panose="05000000000000000000" pitchFamily="2" charset="2"/>
              <a:buChar char="ü"/>
            </a:pPr>
            <a:r>
              <a:rPr lang="en-US" b="1" dirty="0"/>
              <a:t>CRITICAL TEMPERATURE</a:t>
            </a:r>
          </a:p>
          <a:p>
            <a:pPr marL="0" indent="0" algn="ctr">
              <a:buNone/>
            </a:pPr>
            <a:endParaRPr lang="en-US" dirty="0"/>
          </a:p>
          <a:p>
            <a:pPr marL="0" indent="0" algn="ctr">
              <a:buNone/>
            </a:pPr>
            <a:endParaRPr lang="en-US" dirty="0"/>
          </a:p>
        </p:txBody>
      </p:sp>
      <p:pic>
        <p:nvPicPr>
          <p:cNvPr id="5" name="Picture 4">
            <a:extLst>
              <a:ext uri="{FF2B5EF4-FFF2-40B4-BE49-F238E27FC236}">
                <a16:creationId xmlns:a16="http://schemas.microsoft.com/office/drawing/2014/main" id="{BAA8DC3A-7A18-42FC-9244-EF75CB41C95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812" y="75509"/>
            <a:ext cx="692726" cy="1039091"/>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5F94D34B-B2E7-4C83-8035-313785EB68BB}"/>
              </a:ext>
            </a:extLst>
          </p:cNvPr>
          <p:cNvGrpSpPr/>
          <p:nvPr/>
        </p:nvGrpSpPr>
        <p:grpSpPr>
          <a:xfrm>
            <a:off x="11834191" y="5406887"/>
            <a:ext cx="251792" cy="1360971"/>
            <a:chOff x="83821" y="0"/>
            <a:chExt cx="219636" cy="903079"/>
          </a:xfrm>
        </p:grpSpPr>
        <p:sp>
          <p:nvSpPr>
            <p:cNvPr id="7" name="Rectangle 6">
              <a:extLst>
                <a:ext uri="{FF2B5EF4-FFF2-40B4-BE49-F238E27FC236}">
                  <a16:creationId xmlns:a16="http://schemas.microsoft.com/office/drawing/2014/main" id="{8F7C59FF-A23E-41A6-A88F-9384DCD982AB}"/>
                </a:ext>
              </a:extLst>
            </p:cNvPr>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0751CE4-00B9-4BE8-998C-9D278109843B}"/>
                </a:ext>
              </a:extLst>
            </p:cNvPr>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62AAE68-6EB7-4A0D-9A3C-A17DD101335D}"/>
                </a:ext>
              </a:extLst>
            </p:cNvPr>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Object 9">
              <a:extLst>
                <a:ext uri="{FF2B5EF4-FFF2-40B4-BE49-F238E27FC236}">
                  <a16:creationId xmlns:a16="http://schemas.microsoft.com/office/drawing/2014/main" id="{FE894D8D-4171-4838-A1AA-0E128FB72717}"/>
                </a:ext>
              </a:extLst>
            </p:cNvPr>
            <p:cNvGraphicFramePr>
              <a:graphicFrameLocks noChangeAspect="1"/>
            </p:cNvGraphicFramePr>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3" imgW="2169000" imgH="2169360" progId="">
                    <p:embed/>
                  </p:oleObj>
                </mc:Choice>
                <mc:Fallback>
                  <p:oleObj name="CorelDRAW" r:id="rId3" imgW="2169000" imgH="2169360" progId="">
                    <p:embed/>
                    <p:pic>
                      <p:nvPicPr>
                        <p:cNvPr id="10" name="Object 9">
                          <a:extLst>
                            <a:ext uri="{FF2B5EF4-FFF2-40B4-BE49-F238E27FC236}">
                              <a16:creationId xmlns:a16="http://schemas.microsoft.com/office/drawing/2014/main" id="{FE894D8D-4171-4838-A1AA-0E128FB72717}"/>
                            </a:ext>
                          </a:extLst>
                        </p:cNvPr>
                        <p:cNvPicPr>
                          <a:picLocks noChangeAspect="1" noChangeArrowheads="1"/>
                        </p:cNvPicPr>
                        <p:nvPr/>
                      </p:nvPicPr>
                      <p:blipFill>
                        <a:blip r:embed="rId4">
                          <a:lum/>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p:spPr>
                    </p:pic>
                  </p:oleObj>
                </mc:Fallback>
              </mc:AlternateContent>
            </a:graphicData>
          </a:graphic>
        </p:graphicFrame>
      </p:grpSp>
    </p:spTree>
    <p:extLst>
      <p:ext uri="{BB962C8B-B14F-4D97-AF65-F5344CB8AC3E}">
        <p14:creationId xmlns:p14="http://schemas.microsoft.com/office/powerpoint/2010/main" val="18506052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3F3BB-EA7E-4783-AAAA-9D94232DA553}"/>
              </a:ext>
            </a:extLst>
          </p:cNvPr>
          <p:cNvSpPr>
            <a:spLocks noGrp="1"/>
          </p:cNvSpPr>
          <p:nvPr>
            <p:ph type="title"/>
          </p:nvPr>
        </p:nvSpPr>
        <p:spPr>
          <a:xfrm>
            <a:off x="0" y="-25211"/>
            <a:ext cx="11971606" cy="1737360"/>
          </a:xfrm>
        </p:spPr>
        <p:txBody>
          <a:bodyPr/>
          <a:lstStyle/>
          <a:p>
            <a:pPr algn="ctr"/>
            <a:r>
              <a:rPr lang="en-US" b="1" dirty="0">
                <a:latin typeface="+mn-lt"/>
              </a:rPr>
              <a:t>Introduction to Superconductors</a:t>
            </a:r>
            <a:endParaRPr lang="en-IN" b="1" dirty="0">
              <a:latin typeface="+mn-lt"/>
            </a:endParaRPr>
          </a:p>
        </p:txBody>
      </p:sp>
      <p:pic>
        <p:nvPicPr>
          <p:cNvPr id="8" name="Content Placeholder 7">
            <a:extLst>
              <a:ext uri="{FF2B5EF4-FFF2-40B4-BE49-F238E27FC236}">
                <a16:creationId xmlns:a16="http://schemas.microsoft.com/office/drawing/2014/main" id="{047775A2-BF1D-4B77-88DA-EC37D25B6BF9}"/>
              </a:ext>
            </a:extLst>
          </p:cNvPr>
          <p:cNvPicPr>
            <a:picLocks noGrp="1" noChangeAspect="1"/>
          </p:cNvPicPr>
          <p:nvPr>
            <p:ph idx="1"/>
          </p:nvPr>
        </p:nvPicPr>
        <p:blipFill>
          <a:blip r:embed="rId2"/>
          <a:stretch>
            <a:fillRect/>
          </a:stretch>
        </p:blipFill>
        <p:spPr>
          <a:xfrm>
            <a:off x="8525022" y="2123610"/>
            <a:ext cx="3446584" cy="3573194"/>
          </a:xfrm>
          <a:prstGeom prst="rect">
            <a:avLst/>
          </a:prstGeom>
        </p:spPr>
      </p:pic>
      <p:sp>
        <p:nvSpPr>
          <p:cNvPr id="10" name="TextBox 9">
            <a:extLst>
              <a:ext uri="{FF2B5EF4-FFF2-40B4-BE49-F238E27FC236}">
                <a16:creationId xmlns:a16="http://schemas.microsoft.com/office/drawing/2014/main" id="{E332C68A-2A3B-40EE-BE75-7CB270884EFA}"/>
              </a:ext>
            </a:extLst>
          </p:cNvPr>
          <p:cNvSpPr txBox="1"/>
          <p:nvPr/>
        </p:nvSpPr>
        <p:spPr>
          <a:xfrm>
            <a:off x="917713" y="2442985"/>
            <a:ext cx="7363265" cy="3046988"/>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t>Superconductivity is a phenomena in certain materials at extremely low temperatures, characterized by exactly zero electrical resistance and exclusion of the interior magnetic field(</a:t>
            </a:r>
            <a:r>
              <a:rPr lang="en-US" sz="2400" dirty="0" err="1"/>
              <a:t>i.e</a:t>
            </a:r>
            <a:r>
              <a:rPr lang="en-US" sz="2400" dirty="0"/>
              <a:t> the </a:t>
            </a:r>
            <a:r>
              <a:rPr lang="en-US" sz="2400" dirty="0" err="1"/>
              <a:t>Meissner</a:t>
            </a:r>
            <a:r>
              <a:rPr lang="en-US" sz="2400" dirty="0"/>
              <a:t> effect).</a:t>
            </a:r>
          </a:p>
          <a:p>
            <a:pPr algn="just"/>
            <a:endParaRPr lang="en-US" sz="2400" dirty="0"/>
          </a:p>
          <a:p>
            <a:pPr marL="342900" indent="-342900" algn="just">
              <a:buFont typeface="Arial" panose="020B0604020202020204" pitchFamily="34" charset="0"/>
              <a:buChar char="•"/>
            </a:pPr>
            <a:r>
              <a:rPr lang="en-US" sz="2400" dirty="0"/>
              <a:t>This phenomenon is nothing but losing the resistivity absolutely when cooled to sufficiently low temperatures.</a:t>
            </a:r>
            <a:endParaRPr lang="en-IN" sz="2400" dirty="0"/>
          </a:p>
        </p:txBody>
      </p:sp>
      <p:pic>
        <p:nvPicPr>
          <p:cNvPr id="1028" name="Picture 4">
            <a:extLst>
              <a:ext uri="{FF2B5EF4-FFF2-40B4-BE49-F238E27FC236}">
                <a16:creationId xmlns:a16="http://schemas.microsoft.com/office/drawing/2014/main" id="{0A20C19D-1E1D-425D-9F47-F2D84640654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692726" cy="103909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4859965B-44AB-40DF-8D1A-E46AFD27FC14}"/>
              </a:ext>
            </a:extLst>
          </p:cNvPr>
          <p:cNvPicPr>
            <a:picLocks noChangeAspect="1"/>
          </p:cNvPicPr>
          <p:nvPr/>
        </p:nvPicPr>
        <p:blipFill>
          <a:blip r:embed="rId4"/>
          <a:stretch>
            <a:fillRect/>
          </a:stretch>
        </p:blipFill>
        <p:spPr>
          <a:xfrm>
            <a:off x="9172154" y="6457894"/>
            <a:ext cx="3019846" cy="400106"/>
          </a:xfrm>
          <a:prstGeom prst="rect">
            <a:avLst/>
          </a:prstGeom>
        </p:spPr>
      </p:pic>
      <p:sp>
        <p:nvSpPr>
          <p:cNvPr id="3" name="TextBox 2">
            <a:extLst>
              <a:ext uri="{FF2B5EF4-FFF2-40B4-BE49-F238E27FC236}">
                <a16:creationId xmlns:a16="http://schemas.microsoft.com/office/drawing/2014/main" id="{1E966F24-47ED-4652-AAD9-EB0C51B7D017}"/>
              </a:ext>
            </a:extLst>
          </p:cNvPr>
          <p:cNvSpPr txBox="1"/>
          <p:nvPr/>
        </p:nvSpPr>
        <p:spPr>
          <a:xfrm>
            <a:off x="9917722" y="5738933"/>
            <a:ext cx="914400" cy="369332"/>
          </a:xfrm>
          <a:prstGeom prst="rect">
            <a:avLst/>
          </a:prstGeom>
          <a:noFill/>
        </p:spPr>
        <p:txBody>
          <a:bodyPr wrap="square" rtlCol="0">
            <a:spAutoFit/>
          </a:bodyPr>
          <a:lstStyle/>
          <a:p>
            <a:r>
              <a:rPr lang="en-IN" dirty="0"/>
              <a:t>Fig.1</a:t>
            </a:r>
          </a:p>
        </p:txBody>
      </p:sp>
    </p:spTree>
    <p:extLst>
      <p:ext uri="{BB962C8B-B14F-4D97-AF65-F5344CB8AC3E}">
        <p14:creationId xmlns:p14="http://schemas.microsoft.com/office/powerpoint/2010/main" val="3403283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7E09F9-8A22-4381-B04B-6726EFD1B4BB}"/>
              </a:ext>
            </a:extLst>
          </p:cNvPr>
          <p:cNvSpPr>
            <a:spLocks noGrp="1"/>
          </p:cNvSpPr>
          <p:nvPr>
            <p:ph idx="1"/>
          </p:nvPr>
        </p:nvSpPr>
        <p:spPr/>
        <p:txBody>
          <a:bodyPr>
            <a:normAutofit/>
          </a:bodyPr>
          <a:lstStyle/>
          <a:p>
            <a:pPr algn="just"/>
            <a:r>
              <a:rPr lang="en-IN" sz="2400" dirty="0">
                <a:effectLst/>
                <a:latin typeface="Calibri" panose="020F0502020204030204" pitchFamily="34" charset="0"/>
                <a:ea typeface="Calibri" panose="020F0502020204030204" pitchFamily="34" charset="0"/>
                <a:cs typeface="Times New Roman" panose="02020603050405020304" pitchFamily="18" charset="0"/>
              </a:rPr>
              <a:t>Because the resistance of a piece of superconductor is zero, there are no heat losses for currents through them; they are used in magnets needing high currents, such as in MRI machines, and could cut energy losses in power transmission.</a:t>
            </a:r>
          </a:p>
          <a:p>
            <a:pPr marL="0" indent="0" algn="just">
              <a:buNone/>
            </a:pP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n-IN" sz="2400" dirty="0">
                <a:effectLst/>
                <a:latin typeface="Calibri" panose="020F0502020204030204" pitchFamily="34" charset="0"/>
                <a:ea typeface="Calibri" panose="020F0502020204030204" pitchFamily="34" charset="0"/>
                <a:cs typeface="Times New Roman" panose="02020603050405020304" pitchFamily="18" charset="0"/>
              </a:rPr>
              <a:t>But most superconductors must be cooled to temperatures only a few kelvin above absolute zero, a costly procedure limiting their practical applications. In the past decade, tremendous advances have been made in producing materials that become superconductors at relatively high temperatures. There is hope that room temperature superconductors may someday be manufactured.</a:t>
            </a:r>
          </a:p>
          <a:p>
            <a:pPr algn="just"/>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n-IN" sz="2400" dirty="0"/>
          </a:p>
        </p:txBody>
      </p:sp>
      <p:sp>
        <p:nvSpPr>
          <p:cNvPr id="6" name="Title 1">
            <a:extLst>
              <a:ext uri="{FF2B5EF4-FFF2-40B4-BE49-F238E27FC236}">
                <a16:creationId xmlns:a16="http://schemas.microsoft.com/office/drawing/2014/main" id="{3D501345-5EC1-4DB1-973D-868DBB5D768F}"/>
              </a:ext>
            </a:extLst>
          </p:cNvPr>
          <p:cNvSpPr>
            <a:spLocks noGrp="1"/>
          </p:cNvSpPr>
          <p:nvPr>
            <p:ph type="title"/>
          </p:nvPr>
        </p:nvSpPr>
        <p:spPr>
          <a:xfrm>
            <a:off x="0" y="-25211"/>
            <a:ext cx="11971606" cy="1737360"/>
          </a:xfrm>
        </p:spPr>
        <p:txBody>
          <a:bodyPr/>
          <a:lstStyle/>
          <a:p>
            <a:pPr algn="ctr"/>
            <a:r>
              <a:rPr lang="en-US" b="1" dirty="0">
                <a:latin typeface="+mn-lt"/>
              </a:rPr>
              <a:t>Introduction to Superconductors</a:t>
            </a:r>
            <a:endParaRPr lang="en-IN" b="1" dirty="0">
              <a:latin typeface="+mn-lt"/>
            </a:endParaRPr>
          </a:p>
        </p:txBody>
      </p:sp>
      <p:pic>
        <p:nvPicPr>
          <p:cNvPr id="8" name="Picture 4">
            <a:extLst>
              <a:ext uri="{FF2B5EF4-FFF2-40B4-BE49-F238E27FC236}">
                <a16:creationId xmlns:a16="http://schemas.microsoft.com/office/drawing/2014/main" id="{EF2FF527-6BF7-4981-B36B-381C931D191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692726" cy="10390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399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C2960-F4C2-4892-9C17-DE8C0590794A}"/>
              </a:ext>
            </a:extLst>
          </p:cNvPr>
          <p:cNvSpPr>
            <a:spLocks noGrp="1"/>
          </p:cNvSpPr>
          <p:nvPr>
            <p:ph type="title"/>
          </p:nvPr>
        </p:nvSpPr>
        <p:spPr>
          <a:xfrm>
            <a:off x="1097280" y="0"/>
            <a:ext cx="10058400" cy="1223105"/>
          </a:xfrm>
        </p:spPr>
        <p:txBody>
          <a:bodyPr>
            <a:normAutofit fontScale="90000"/>
          </a:bodyPr>
          <a:lstStyle/>
          <a:p>
            <a:pPr algn="ctr"/>
            <a:r>
              <a:rPr lang="en-IN" b="1" dirty="0">
                <a:latin typeface="+mn-lt"/>
              </a:rPr>
              <a:t>Differentiating Conductor and a Superconductor</a:t>
            </a:r>
          </a:p>
        </p:txBody>
      </p:sp>
      <p:sp>
        <p:nvSpPr>
          <p:cNvPr id="3" name="Content Placeholder 2">
            <a:extLst>
              <a:ext uri="{FF2B5EF4-FFF2-40B4-BE49-F238E27FC236}">
                <a16:creationId xmlns:a16="http://schemas.microsoft.com/office/drawing/2014/main" id="{80577BCD-A4E2-4B40-A4D2-20E613155A7C}"/>
              </a:ext>
            </a:extLst>
          </p:cNvPr>
          <p:cNvSpPr>
            <a:spLocks noGrp="1"/>
          </p:cNvSpPr>
          <p:nvPr>
            <p:ph idx="1"/>
          </p:nvPr>
        </p:nvSpPr>
        <p:spPr/>
        <p:txBody>
          <a:bodyPr>
            <a:normAutofit/>
          </a:bodyPr>
          <a:lstStyle/>
          <a:p>
            <a:pPr algn="just"/>
            <a:r>
              <a:rPr lang="en-US" sz="2400" dirty="0"/>
              <a:t>  The resistance of a metallic conductor decreases gradually as temperature is lowered due to decrease of vibrational resistance of atoms. In ordinary conductors such as copper or silver, this decrease is limited by impurities and other defects</a:t>
            </a:r>
            <a:r>
              <a:rPr lang="en-US" sz="2400" dirty="0">
                <a:solidFill>
                  <a:schemeClr val="accent6"/>
                </a:solidFill>
              </a:rPr>
              <a:t>. </a:t>
            </a:r>
            <a:r>
              <a:rPr lang="en-US" sz="2400" dirty="0">
                <a:solidFill>
                  <a:schemeClr val="accent2"/>
                </a:solidFill>
              </a:rPr>
              <a:t>Even at absolute zero, a real sample of a normal conductor shows some resistance.</a:t>
            </a:r>
          </a:p>
          <a:p>
            <a:pPr algn="just"/>
            <a:endParaRPr lang="en-US" sz="2400" dirty="0">
              <a:solidFill>
                <a:schemeClr val="accent2"/>
              </a:solidFill>
            </a:endParaRPr>
          </a:p>
          <a:p>
            <a:pPr algn="just"/>
            <a:r>
              <a:rPr lang="en-US" sz="2400" dirty="0">
                <a:solidFill>
                  <a:schemeClr val="accent2"/>
                </a:solidFill>
              </a:rPr>
              <a:t>  In a superconductor, the resistance drops abruptly to zero when the material is cooled below its critical temperature.</a:t>
            </a:r>
          </a:p>
          <a:p>
            <a:pPr algn="just"/>
            <a:r>
              <a:rPr lang="en-US" sz="2400" dirty="0"/>
              <a:t>  An electric current flowing through a loop of superconducting wire can persist indefinitely with no power source.</a:t>
            </a:r>
            <a:endParaRPr lang="en-IN" sz="2400" dirty="0"/>
          </a:p>
        </p:txBody>
      </p:sp>
      <p:pic>
        <p:nvPicPr>
          <p:cNvPr id="4" name="Picture 4">
            <a:extLst>
              <a:ext uri="{FF2B5EF4-FFF2-40B4-BE49-F238E27FC236}">
                <a16:creationId xmlns:a16="http://schemas.microsoft.com/office/drawing/2014/main" id="{74E010A3-6CA9-4883-919D-49A97898358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27110"/>
            <a:ext cx="692726" cy="103909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C017F209-648A-430A-8016-6CA5E36143A1}"/>
              </a:ext>
            </a:extLst>
          </p:cNvPr>
          <p:cNvPicPr>
            <a:picLocks noChangeAspect="1"/>
          </p:cNvPicPr>
          <p:nvPr/>
        </p:nvPicPr>
        <p:blipFill>
          <a:blip r:embed="rId3"/>
          <a:stretch>
            <a:fillRect/>
          </a:stretch>
        </p:blipFill>
        <p:spPr>
          <a:xfrm>
            <a:off x="9172154" y="6457894"/>
            <a:ext cx="3019846" cy="400106"/>
          </a:xfrm>
          <a:prstGeom prst="rect">
            <a:avLst/>
          </a:prstGeom>
        </p:spPr>
      </p:pic>
    </p:spTree>
    <p:extLst>
      <p:ext uri="{BB962C8B-B14F-4D97-AF65-F5344CB8AC3E}">
        <p14:creationId xmlns:p14="http://schemas.microsoft.com/office/powerpoint/2010/main" val="1842032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95037-6BD2-4EE1-98EA-2682B6772960}"/>
              </a:ext>
            </a:extLst>
          </p:cNvPr>
          <p:cNvSpPr>
            <a:spLocks noGrp="1"/>
          </p:cNvSpPr>
          <p:nvPr>
            <p:ph type="title"/>
          </p:nvPr>
        </p:nvSpPr>
        <p:spPr>
          <a:xfrm>
            <a:off x="838200" y="196949"/>
            <a:ext cx="10515600" cy="801858"/>
          </a:xfrm>
        </p:spPr>
        <p:txBody>
          <a:bodyPr>
            <a:normAutofit/>
          </a:bodyPr>
          <a:lstStyle/>
          <a:p>
            <a:pPr algn="ctr"/>
            <a:r>
              <a:rPr lang="en-IN" b="1" dirty="0">
                <a:latin typeface="+mn-lt"/>
              </a:rPr>
              <a:t>Critical Temperature</a:t>
            </a:r>
          </a:p>
        </p:txBody>
      </p:sp>
      <p:sp>
        <p:nvSpPr>
          <p:cNvPr id="3" name="Content Placeholder 2">
            <a:extLst>
              <a:ext uri="{FF2B5EF4-FFF2-40B4-BE49-F238E27FC236}">
                <a16:creationId xmlns:a16="http://schemas.microsoft.com/office/drawing/2014/main" id="{F4DF9AC1-F282-43CD-884D-EF53B49630CC}"/>
              </a:ext>
            </a:extLst>
          </p:cNvPr>
          <p:cNvSpPr>
            <a:spLocks noGrp="1"/>
          </p:cNvSpPr>
          <p:nvPr>
            <p:ph idx="1"/>
          </p:nvPr>
        </p:nvSpPr>
        <p:spPr>
          <a:xfrm>
            <a:off x="693933" y="1227284"/>
            <a:ext cx="10515600" cy="4898732"/>
          </a:xfrm>
        </p:spPr>
        <p:txBody>
          <a:bodyPr>
            <a:normAutofit/>
          </a:bodyPr>
          <a:lstStyle/>
          <a:p>
            <a:pPr algn="just"/>
            <a:r>
              <a:rPr lang="en-IN" sz="2400" dirty="0">
                <a:effectLst/>
                <a:latin typeface="Calibri" panose="020F0502020204030204" pitchFamily="34" charset="0"/>
                <a:ea typeface="Calibri" panose="020F0502020204030204" pitchFamily="34" charset="0"/>
                <a:cs typeface="Times New Roman" panose="02020603050405020304" pitchFamily="18" charset="0"/>
              </a:rPr>
              <a:t>Superconductivity was discovered accidentally in 1911 by the Dutch physicist H. Kamerlingh Onnes (1853–1926) when he used liquid helium to cool mercury. Onnes had been the first person to liquefy helium a few years earlier and was surprised to observe the resistivity of a mediocre conductor like mercury drop to zero at a temperature of 4.2 K. We define the temperature at which and below which a material becomes a superconductor to be its critical temperature, denoted by Tc. </a:t>
            </a:r>
          </a:p>
          <a:p>
            <a:pPr algn="just"/>
            <a:endParaRPr lang="en-IN" sz="2400" dirty="0"/>
          </a:p>
        </p:txBody>
      </p:sp>
      <p:pic>
        <p:nvPicPr>
          <p:cNvPr id="4" name="Picture 3">
            <a:extLst>
              <a:ext uri="{FF2B5EF4-FFF2-40B4-BE49-F238E27FC236}">
                <a16:creationId xmlns:a16="http://schemas.microsoft.com/office/drawing/2014/main" id="{3A2AAC91-B007-46FD-A33F-DF49835DB395}"/>
              </a:ext>
            </a:extLst>
          </p:cNvPr>
          <p:cNvPicPr/>
          <p:nvPr/>
        </p:nvPicPr>
        <p:blipFill>
          <a:blip r:embed="rId2"/>
          <a:stretch>
            <a:fillRect/>
          </a:stretch>
        </p:blipFill>
        <p:spPr>
          <a:xfrm>
            <a:off x="6992742" y="3429000"/>
            <a:ext cx="4733925" cy="2949233"/>
          </a:xfrm>
          <a:prstGeom prst="rect">
            <a:avLst/>
          </a:prstGeom>
        </p:spPr>
      </p:pic>
      <p:pic>
        <p:nvPicPr>
          <p:cNvPr id="6" name="Picture 4">
            <a:extLst>
              <a:ext uri="{FF2B5EF4-FFF2-40B4-BE49-F238E27FC236}">
                <a16:creationId xmlns:a16="http://schemas.microsoft.com/office/drawing/2014/main" id="{B684F09B-9436-4528-AB76-C906DE7D6C7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692726" cy="103909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7734F347-9ADD-436E-B6B3-DA029F1B7B0F}"/>
              </a:ext>
            </a:extLst>
          </p:cNvPr>
          <p:cNvSpPr txBox="1"/>
          <p:nvPr/>
        </p:nvSpPr>
        <p:spPr>
          <a:xfrm>
            <a:off x="9032008" y="6314209"/>
            <a:ext cx="914400" cy="369332"/>
          </a:xfrm>
          <a:prstGeom prst="rect">
            <a:avLst/>
          </a:prstGeom>
          <a:noFill/>
        </p:spPr>
        <p:txBody>
          <a:bodyPr wrap="square" rtlCol="0">
            <a:spAutoFit/>
          </a:bodyPr>
          <a:lstStyle/>
          <a:p>
            <a:r>
              <a:rPr lang="en-IN" dirty="0"/>
              <a:t>Fig.2</a:t>
            </a:r>
          </a:p>
        </p:txBody>
      </p:sp>
    </p:spTree>
    <p:extLst>
      <p:ext uri="{BB962C8B-B14F-4D97-AF65-F5344CB8AC3E}">
        <p14:creationId xmlns:p14="http://schemas.microsoft.com/office/powerpoint/2010/main" val="1383441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05BE3-B2BF-4712-995E-46587B97D15F}"/>
              </a:ext>
            </a:extLst>
          </p:cNvPr>
          <p:cNvSpPr>
            <a:spLocks noGrp="1"/>
          </p:cNvSpPr>
          <p:nvPr>
            <p:ph type="title"/>
          </p:nvPr>
        </p:nvSpPr>
        <p:spPr>
          <a:xfrm>
            <a:off x="692726" y="41495"/>
            <a:ext cx="10058400" cy="947411"/>
          </a:xfrm>
        </p:spPr>
        <p:txBody>
          <a:bodyPr/>
          <a:lstStyle/>
          <a:p>
            <a:pPr algn="ctr"/>
            <a:r>
              <a:rPr lang="en-US" b="1" dirty="0">
                <a:latin typeface="+mn-lt"/>
              </a:rPr>
              <a:t>Critical Temperature</a:t>
            </a:r>
            <a:endParaRPr lang="en-IN" b="1" dirty="0">
              <a:latin typeface="+mn-lt"/>
            </a:endParaRPr>
          </a:p>
        </p:txBody>
      </p:sp>
      <p:sp>
        <p:nvSpPr>
          <p:cNvPr id="3" name="Content Placeholder 2">
            <a:extLst>
              <a:ext uri="{FF2B5EF4-FFF2-40B4-BE49-F238E27FC236}">
                <a16:creationId xmlns:a16="http://schemas.microsoft.com/office/drawing/2014/main" id="{997B44D4-52BD-41A4-A866-0F39B90ED481}"/>
              </a:ext>
            </a:extLst>
          </p:cNvPr>
          <p:cNvSpPr>
            <a:spLocks noGrp="1"/>
          </p:cNvSpPr>
          <p:nvPr>
            <p:ph idx="1"/>
          </p:nvPr>
        </p:nvSpPr>
        <p:spPr/>
        <p:txBody>
          <a:bodyPr/>
          <a:lstStyle/>
          <a:p>
            <a:pPr algn="just">
              <a:buFont typeface="Wingdings" panose="05000000000000000000" pitchFamily="2" charset="2"/>
              <a:buChar char="Ø"/>
            </a:pPr>
            <a:r>
              <a:rPr lang="en-US" sz="2400" dirty="0"/>
              <a:t>  The temperature at which resistivity becomes zero, and material transforms from normal conducting to superconducting phase is called transition or critical temperature(Tc).</a:t>
            </a:r>
          </a:p>
          <a:p>
            <a:pPr algn="just"/>
            <a:endParaRPr lang="en-US" sz="2400" dirty="0"/>
          </a:p>
          <a:p>
            <a:pPr marL="0" indent="0">
              <a:buNone/>
            </a:pPr>
            <a:endParaRPr lang="en-IN" dirty="0"/>
          </a:p>
        </p:txBody>
      </p:sp>
      <p:pic>
        <p:nvPicPr>
          <p:cNvPr id="4" name="Picture 3">
            <a:extLst>
              <a:ext uri="{FF2B5EF4-FFF2-40B4-BE49-F238E27FC236}">
                <a16:creationId xmlns:a16="http://schemas.microsoft.com/office/drawing/2014/main" id="{5A9BE89A-6EC7-4589-9E43-D78B40E2A5D6}"/>
              </a:ext>
            </a:extLst>
          </p:cNvPr>
          <p:cNvPicPr>
            <a:picLocks noChangeAspect="1"/>
          </p:cNvPicPr>
          <p:nvPr/>
        </p:nvPicPr>
        <p:blipFill>
          <a:blip r:embed="rId2"/>
          <a:stretch>
            <a:fillRect/>
          </a:stretch>
        </p:blipFill>
        <p:spPr>
          <a:xfrm>
            <a:off x="8043687" y="3030193"/>
            <a:ext cx="3868616" cy="2670738"/>
          </a:xfrm>
          <a:prstGeom prst="rect">
            <a:avLst/>
          </a:prstGeom>
        </p:spPr>
      </p:pic>
      <p:sp>
        <p:nvSpPr>
          <p:cNvPr id="5" name="Arrow: Left 4">
            <a:extLst>
              <a:ext uri="{FF2B5EF4-FFF2-40B4-BE49-F238E27FC236}">
                <a16:creationId xmlns:a16="http://schemas.microsoft.com/office/drawing/2014/main" id="{7B91B3E0-4BC8-49D0-B52D-081D62BDBB15}"/>
              </a:ext>
            </a:extLst>
          </p:cNvPr>
          <p:cNvSpPr/>
          <p:nvPr/>
        </p:nvSpPr>
        <p:spPr>
          <a:xfrm flipV="1">
            <a:off x="8820443" y="5347854"/>
            <a:ext cx="450166" cy="9698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74EECC12-5EAA-4D47-B372-1470261152E1}"/>
              </a:ext>
            </a:extLst>
          </p:cNvPr>
          <p:cNvSpPr txBox="1"/>
          <p:nvPr/>
        </p:nvSpPr>
        <p:spPr>
          <a:xfrm>
            <a:off x="5638800" y="2975113"/>
            <a:ext cx="914400" cy="914400"/>
          </a:xfrm>
          <a:prstGeom prst="rect">
            <a:avLst/>
          </a:prstGeom>
          <a:noFill/>
        </p:spPr>
        <p:txBody>
          <a:bodyPr wrap="square" rtlCol="0">
            <a:spAutoFit/>
          </a:bodyPr>
          <a:lstStyle/>
          <a:p>
            <a:endParaRPr lang="en-IN" dirty="0"/>
          </a:p>
        </p:txBody>
      </p:sp>
      <p:sp>
        <p:nvSpPr>
          <p:cNvPr id="7" name="TextBox 6">
            <a:extLst>
              <a:ext uri="{FF2B5EF4-FFF2-40B4-BE49-F238E27FC236}">
                <a16:creationId xmlns:a16="http://schemas.microsoft.com/office/drawing/2014/main" id="{AB4AE119-6D15-407A-B4E0-07E101F9E44D}"/>
              </a:ext>
            </a:extLst>
          </p:cNvPr>
          <p:cNvSpPr txBox="1"/>
          <p:nvPr/>
        </p:nvSpPr>
        <p:spPr>
          <a:xfrm>
            <a:off x="2921391" y="4976634"/>
            <a:ext cx="4778122" cy="830997"/>
          </a:xfrm>
          <a:prstGeom prst="rect">
            <a:avLst/>
          </a:prstGeom>
          <a:noFill/>
        </p:spPr>
        <p:txBody>
          <a:bodyPr wrap="square" rtlCol="0">
            <a:spAutoFit/>
          </a:bodyPr>
          <a:lstStyle/>
          <a:p>
            <a:pPr algn="just"/>
            <a:r>
              <a:rPr lang="en-US" sz="2400" dirty="0">
                <a:solidFill>
                  <a:schemeClr val="accent1"/>
                </a:solidFill>
              </a:rPr>
              <a:t>Below Tc resistance is becoming zero turning into superconducting state.</a:t>
            </a:r>
            <a:endParaRPr lang="en-IN" sz="2400" dirty="0">
              <a:solidFill>
                <a:schemeClr val="accent1"/>
              </a:solidFill>
            </a:endParaRPr>
          </a:p>
        </p:txBody>
      </p:sp>
      <p:sp>
        <p:nvSpPr>
          <p:cNvPr id="10" name="Rectangle 9">
            <a:extLst>
              <a:ext uri="{FF2B5EF4-FFF2-40B4-BE49-F238E27FC236}">
                <a16:creationId xmlns:a16="http://schemas.microsoft.com/office/drawing/2014/main" id="{710E4D88-16A0-4341-8EBE-EE228C15DD95}"/>
              </a:ext>
            </a:extLst>
          </p:cNvPr>
          <p:cNvSpPr/>
          <p:nvPr/>
        </p:nvSpPr>
        <p:spPr>
          <a:xfrm>
            <a:off x="8066445" y="2844800"/>
            <a:ext cx="3719155" cy="3132668"/>
          </a:xfrm>
          <a:prstGeom prst="rect">
            <a:avLst/>
          </a:prstGeom>
          <a:noFill/>
          <a:effectLst>
            <a:glow rad="635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4">
            <a:extLst>
              <a:ext uri="{FF2B5EF4-FFF2-40B4-BE49-F238E27FC236}">
                <a16:creationId xmlns:a16="http://schemas.microsoft.com/office/drawing/2014/main" id="{55FB77A7-7885-4B37-A952-7315B1882CF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692726" cy="103909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C19F51A8-2952-4FD6-A325-E0CCA4E440C6}"/>
              </a:ext>
            </a:extLst>
          </p:cNvPr>
          <p:cNvPicPr>
            <a:picLocks noChangeAspect="1"/>
          </p:cNvPicPr>
          <p:nvPr/>
        </p:nvPicPr>
        <p:blipFill>
          <a:blip r:embed="rId4"/>
          <a:stretch>
            <a:fillRect/>
          </a:stretch>
        </p:blipFill>
        <p:spPr>
          <a:xfrm>
            <a:off x="9045526" y="6457894"/>
            <a:ext cx="3019846" cy="400106"/>
          </a:xfrm>
          <a:prstGeom prst="rect">
            <a:avLst/>
          </a:prstGeom>
        </p:spPr>
      </p:pic>
      <p:sp>
        <p:nvSpPr>
          <p:cNvPr id="8" name="TextBox 7">
            <a:extLst>
              <a:ext uri="{FF2B5EF4-FFF2-40B4-BE49-F238E27FC236}">
                <a16:creationId xmlns:a16="http://schemas.microsoft.com/office/drawing/2014/main" id="{081D9204-6130-4D0F-9869-18DE6A7C88BD}"/>
              </a:ext>
            </a:extLst>
          </p:cNvPr>
          <p:cNvSpPr txBox="1"/>
          <p:nvPr/>
        </p:nvSpPr>
        <p:spPr>
          <a:xfrm>
            <a:off x="9641049" y="6030818"/>
            <a:ext cx="914400" cy="369332"/>
          </a:xfrm>
          <a:prstGeom prst="rect">
            <a:avLst/>
          </a:prstGeom>
          <a:noFill/>
        </p:spPr>
        <p:txBody>
          <a:bodyPr wrap="square" rtlCol="0">
            <a:spAutoFit/>
          </a:bodyPr>
          <a:lstStyle/>
          <a:p>
            <a:r>
              <a:rPr lang="en-IN" dirty="0"/>
              <a:t>Fig.3</a:t>
            </a:r>
          </a:p>
        </p:txBody>
      </p:sp>
    </p:spTree>
    <p:extLst>
      <p:ext uri="{BB962C8B-B14F-4D97-AF65-F5344CB8AC3E}">
        <p14:creationId xmlns:p14="http://schemas.microsoft.com/office/powerpoint/2010/main" val="998999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b="1" dirty="0">
                <a:latin typeface="Casper Bold" panose="02000806040000020004" pitchFamily="2" charset="0"/>
                <a:cs typeface="Arial" panose="020B0604020202020204" pitchFamily="34" charset="0"/>
              </a:rPr>
              <a:t>ASSESSMENT PATTERN </a:t>
            </a:r>
            <a:endParaRPr lang="en-US" b="1" dirty="0"/>
          </a:p>
        </p:txBody>
      </p:sp>
      <p:sp>
        <p:nvSpPr>
          <p:cNvPr id="4" name="Slide Number Placeholder 3"/>
          <p:cNvSpPr>
            <a:spLocks noGrp="1"/>
          </p:cNvSpPr>
          <p:nvPr>
            <p:ph type="sldNum" sz="quarter" idx="12"/>
          </p:nvPr>
        </p:nvSpPr>
        <p:spPr/>
        <p:txBody>
          <a:bodyPr/>
          <a:lstStyle/>
          <a:p>
            <a:fld id="{BDCDBBEF-AA6C-4BA6-85B2-A17D7F280E38}" type="slidenum">
              <a:rPr lang="en-US" smtClean="0"/>
              <a:t>10</a:t>
            </a:fld>
            <a:endParaRPr lang="en-US"/>
          </a:p>
        </p:txBody>
      </p:sp>
      <p:sp>
        <p:nvSpPr>
          <p:cNvPr id="6" name="Rectangle 5"/>
          <p:cNvSpPr/>
          <p:nvPr/>
        </p:nvSpPr>
        <p:spPr>
          <a:xfrm>
            <a:off x="838200" y="360361"/>
            <a:ext cx="10515600" cy="1263651"/>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Diagram 11"/>
          <p:cNvGraphicFramePr/>
          <p:nvPr/>
        </p:nvGraphicFramePr>
        <p:xfrm>
          <a:off x="1718441" y="1803399"/>
          <a:ext cx="8607973" cy="46919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a:extLst>
              <a:ext uri="{FF2B5EF4-FFF2-40B4-BE49-F238E27FC236}">
                <a16:creationId xmlns:a16="http://schemas.microsoft.com/office/drawing/2014/main" id="{C4D5D62F-4809-4CEB-B634-177B8E026204}"/>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7812" y="75509"/>
            <a:ext cx="692726" cy="103909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3A7D7940-1261-4F98-BCEE-14C9B0E9B369}"/>
              </a:ext>
            </a:extLst>
          </p:cNvPr>
          <p:cNvPicPr>
            <a:picLocks noChangeAspect="1"/>
          </p:cNvPicPr>
          <p:nvPr/>
        </p:nvPicPr>
        <p:blipFill>
          <a:blip r:embed="rId8"/>
          <a:stretch>
            <a:fillRect/>
          </a:stretch>
        </p:blipFill>
        <p:spPr>
          <a:xfrm>
            <a:off x="9045526" y="6457894"/>
            <a:ext cx="3019846" cy="400106"/>
          </a:xfrm>
          <a:prstGeom prst="rect">
            <a:avLst/>
          </a:prstGeom>
        </p:spPr>
      </p:pic>
    </p:spTree>
    <p:extLst>
      <p:ext uri="{BB962C8B-B14F-4D97-AF65-F5344CB8AC3E}">
        <p14:creationId xmlns:p14="http://schemas.microsoft.com/office/powerpoint/2010/main" val="404884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1AB58-0275-4391-9711-E78ABCBBDD54}"/>
              </a:ext>
            </a:extLst>
          </p:cNvPr>
          <p:cNvSpPr>
            <a:spLocks noGrp="1"/>
          </p:cNvSpPr>
          <p:nvPr>
            <p:ph type="title"/>
          </p:nvPr>
        </p:nvSpPr>
        <p:spPr/>
        <p:txBody>
          <a:bodyPr/>
          <a:lstStyle/>
          <a:p>
            <a:pPr algn="ctr"/>
            <a:r>
              <a:rPr lang="en-IN" b="1" dirty="0">
                <a:latin typeface="+mn-lt"/>
              </a:rPr>
              <a:t>Reference Books and Weblinks</a:t>
            </a:r>
          </a:p>
        </p:txBody>
      </p:sp>
      <p:sp>
        <p:nvSpPr>
          <p:cNvPr id="3" name="Content Placeholder 2">
            <a:extLst>
              <a:ext uri="{FF2B5EF4-FFF2-40B4-BE49-F238E27FC236}">
                <a16:creationId xmlns:a16="http://schemas.microsoft.com/office/drawing/2014/main" id="{6AB4F1BB-C474-439C-A8FE-57B3B9A974F7}"/>
              </a:ext>
            </a:extLst>
          </p:cNvPr>
          <p:cNvSpPr>
            <a:spLocks noGrp="1"/>
          </p:cNvSpPr>
          <p:nvPr>
            <p:ph idx="1"/>
          </p:nvPr>
        </p:nvSpPr>
        <p:spPr/>
        <p:txBody>
          <a:bodyPr/>
          <a:lstStyle/>
          <a:p>
            <a:pPr lvl="0" algn="just">
              <a:lnSpc>
                <a:spcPct val="107000"/>
              </a:lnSpc>
              <a:buFont typeface="Wingdings" pitchFamily="2" charset="2"/>
              <a:buChar char="q"/>
            </a:pPr>
            <a:r>
              <a:rPr lang="en-IN" sz="2400" u="sng" dirty="0">
                <a:solidFill>
                  <a:srgbClr val="0000FF"/>
                </a:solidFill>
                <a:effectLst/>
                <a:latin typeface="Calibri" panose="020F0502020204030204" pitchFamily="34" charset="0"/>
                <a:ea typeface="Calibri" panose="020F0502020204030204" pitchFamily="34" charset="0"/>
                <a:cs typeface="Times New Roman" panose="02020603050405020304" pitchFamily="18" charset="0"/>
                <a:hlinkClick r:id="rId2"/>
              </a:rPr>
              <a:t>http://hyperphysics.phy-astr.gsu.edu/hbase/Solids/scond.html#:~:text=The%20critical%20temperature%20for%20superconductors,described%20by%20the%20BCS%20theory.</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07000"/>
              </a:lnSpc>
              <a:buFont typeface="Wingdings" pitchFamily="2" charset="2"/>
              <a:buChar char="q"/>
            </a:pPr>
            <a:r>
              <a:rPr lang="en-IN" sz="2400" u="sng" dirty="0">
                <a:solidFill>
                  <a:srgbClr val="0000FF"/>
                </a:solidFill>
                <a:effectLst/>
                <a:latin typeface="Calibri" panose="020F0502020204030204" pitchFamily="34" charset="0"/>
                <a:ea typeface="Calibri" panose="020F0502020204030204" pitchFamily="34" charset="0"/>
                <a:cs typeface="Times New Roman" panose="02020603050405020304" pitchFamily="18" charset="0"/>
                <a:hlinkClick r:id="rId3"/>
              </a:rPr>
              <a:t>https://en.wikipedia.org/wiki/Superconductivity</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07000"/>
              </a:lnSpc>
              <a:buFont typeface="Wingdings" pitchFamily="2" charset="2"/>
              <a:buChar char="q"/>
            </a:pPr>
            <a:r>
              <a:rPr lang="en-IN" sz="2400" u="sng" dirty="0">
                <a:solidFill>
                  <a:srgbClr val="0000FF"/>
                </a:solidFill>
                <a:effectLst/>
                <a:latin typeface="Calibri" panose="020F0502020204030204" pitchFamily="34" charset="0"/>
                <a:ea typeface="Calibri" panose="020F0502020204030204" pitchFamily="34" charset="0"/>
                <a:cs typeface="Times New Roman" panose="02020603050405020304" pitchFamily="18" charset="0"/>
                <a:hlinkClick r:id="rId4"/>
              </a:rPr>
              <a:t>https://www.ques10.com/p/31326/define-super-conductivity-and-critical-temperature/</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indent="0" algn="just">
              <a:lnSpc>
                <a:spcPct val="107000"/>
              </a:lnSpc>
              <a:spcAft>
                <a:spcPts val="800"/>
              </a:spcAft>
              <a:buNone/>
            </a:pPr>
            <a:r>
              <a:rPr lang="en-IN" sz="2400" b="1" dirty="0">
                <a:effectLst/>
                <a:latin typeface="Calibri" panose="020F0502020204030204" pitchFamily="34" charset="0"/>
                <a:ea typeface="Calibri" panose="020F0502020204030204" pitchFamily="34" charset="0"/>
                <a:cs typeface="Times New Roman" panose="02020603050405020304" pitchFamily="18" charset="0"/>
              </a:rPr>
              <a:t> </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pic>
        <p:nvPicPr>
          <p:cNvPr id="5" name="Picture 4">
            <a:extLst>
              <a:ext uri="{FF2B5EF4-FFF2-40B4-BE49-F238E27FC236}">
                <a16:creationId xmlns:a16="http://schemas.microsoft.com/office/drawing/2014/main" id="{A16D3671-1FCF-4E1E-9736-19BE1FD2327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7812" y="75509"/>
            <a:ext cx="692726" cy="103909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EFBE8BD2-9859-4C20-B5CD-64251BB41B5D}"/>
              </a:ext>
            </a:extLst>
          </p:cNvPr>
          <p:cNvPicPr>
            <a:picLocks noChangeAspect="1"/>
          </p:cNvPicPr>
          <p:nvPr/>
        </p:nvPicPr>
        <p:blipFill>
          <a:blip r:embed="rId6"/>
          <a:stretch>
            <a:fillRect/>
          </a:stretch>
        </p:blipFill>
        <p:spPr>
          <a:xfrm>
            <a:off x="9045526" y="6457894"/>
            <a:ext cx="3019846" cy="400106"/>
          </a:xfrm>
          <a:prstGeom prst="rect">
            <a:avLst/>
          </a:prstGeom>
        </p:spPr>
      </p:pic>
    </p:spTree>
    <p:extLst>
      <p:ext uri="{BB962C8B-B14F-4D97-AF65-F5344CB8AC3E}">
        <p14:creationId xmlns:p14="http://schemas.microsoft.com/office/powerpoint/2010/main" val="40392324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258DC-EDE7-4C53-9CBA-53757D9B66D0}"/>
              </a:ext>
            </a:extLst>
          </p:cNvPr>
          <p:cNvSpPr>
            <a:spLocks noGrp="1"/>
          </p:cNvSpPr>
          <p:nvPr>
            <p:ph type="title"/>
          </p:nvPr>
        </p:nvSpPr>
        <p:spPr/>
        <p:txBody>
          <a:bodyPr/>
          <a:lstStyle/>
          <a:p>
            <a:pPr algn="ctr"/>
            <a:r>
              <a:rPr lang="en-IN" b="1" dirty="0">
                <a:latin typeface="+mn-lt"/>
              </a:rPr>
              <a:t>Reference Video links</a:t>
            </a:r>
          </a:p>
        </p:txBody>
      </p:sp>
      <p:sp>
        <p:nvSpPr>
          <p:cNvPr id="3" name="Content Placeholder 2">
            <a:extLst>
              <a:ext uri="{FF2B5EF4-FFF2-40B4-BE49-F238E27FC236}">
                <a16:creationId xmlns:a16="http://schemas.microsoft.com/office/drawing/2014/main" id="{9C76E6F1-96CE-43B8-9E99-3E8B2C956398}"/>
              </a:ext>
            </a:extLst>
          </p:cNvPr>
          <p:cNvSpPr>
            <a:spLocks noGrp="1"/>
          </p:cNvSpPr>
          <p:nvPr>
            <p:ph idx="1"/>
          </p:nvPr>
        </p:nvSpPr>
        <p:spPr/>
        <p:txBody>
          <a:bodyPr/>
          <a:lstStyle/>
          <a:p>
            <a:pPr algn="just">
              <a:lnSpc>
                <a:spcPct val="107000"/>
              </a:lnSpc>
            </a:pPr>
            <a:r>
              <a:rPr lang="en-IN" sz="2400" u="sng" dirty="0">
                <a:solidFill>
                  <a:srgbClr val="0000FF"/>
                </a:solidFill>
                <a:effectLst/>
                <a:latin typeface="Calibri" panose="020F0502020204030204" pitchFamily="34" charset="0"/>
                <a:ea typeface="Calibri" panose="020F0502020204030204" pitchFamily="34" charset="0"/>
                <a:cs typeface="Times New Roman" panose="02020603050405020304" pitchFamily="18" charset="0"/>
                <a:hlinkClick r:id="rId2"/>
              </a:rPr>
              <a:t>https://www.youtube.com/watch?v=h6FYs_AUCsQ</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pPr>
            <a:r>
              <a:rPr lang="en-IN" sz="2400" u="sng" dirty="0">
                <a:solidFill>
                  <a:srgbClr val="0000FF"/>
                </a:solidFill>
                <a:effectLst/>
                <a:latin typeface="Calibri" panose="020F0502020204030204" pitchFamily="34" charset="0"/>
                <a:ea typeface="Calibri" panose="020F0502020204030204" pitchFamily="34" charset="0"/>
                <a:cs typeface="Times New Roman" panose="02020603050405020304" pitchFamily="18" charset="0"/>
                <a:hlinkClick r:id="rId3"/>
              </a:rPr>
              <a:t>https://www.youtube.com/watch?v=RS7gyZJg5nc</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2400" u="sng" dirty="0">
                <a:solidFill>
                  <a:srgbClr val="0000FF"/>
                </a:solidFill>
                <a:effectLst/>
                <a:latin typeface="Calibri" panose="020F0502020204030204" pitchFamily="34" charset="0"/>
                <a:ea typeface="Calibri" panose="020F0502020204030204" pitchFamily="34" charset="0"/>
                <a:cs typeface="Times New Roman" panose="02020603050405020304" pitchFamily="18" charset="0"/>
                <a:hlinkClick r:id="rId4"/>
              </a:rPr>
              <a:t>https://www.youtube.com/watch?v=3gKRIjUzIH4</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pic>
        <p:nvPicPr>
          <p:cNvPr id="5" name="Picture 4">
            <a:extLst>
              <a:ext uri="{FF2B5EF4-FFF2-40B4-BE49-F238E27FC236}">
                <a16:creationId xmlns:a16="http://schemas.microsoft.com/office/drawing/2014/main" id="{81AFA22F-E62B-4476-84EE-AFBAF16F0BB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7812" y="75509"/>
            <a:ext cx="692726" cy="103909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8D377CAA-5516-467C-AC94-EC835224A43C}"/>
              </a:ext>
            </a:extLst>
          </p:cNvPr>
          <p:cNvPicPr>
            <a:picLocks noChangeAspect="1"/>
          </p:cNvPicPr>
          <p:nvPr/>
        </p:nvPicPr>
        <p:blipFill>
          <a:blip r:embed="rId6"/>
          <a:stretch>
            <a:fillRect/>
          </a:stretch>
        </p:blipFill>
        <p:spPr>
          <a:xfrm>
            <a:off x="9045526" y="6457894"/>
            <a:ext cx="3019846" cy="400106"/>
          </a:xfrm>
          <a:prstGeom prst="rect">
            <a:avLst/>
          </a:prstGeom>
        </p:spPr>
      </p:pic>
    </p:spTree>
    <p:extLst>
      <p:ext uri="{BB962C8B-B14F-4D97-AF65-F5344CB8AC3E}">
        <p14:creationId xmlns:p14="http://schemas.microsoft.com/office/powerpoint/2010/main" val="41613022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186143"/>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 name="Rectangle 1"/>
          <p:cNvSpPr/>
          <p:nvPr/>
        </p:nvSpPr>
        <p:spPr>
          <a:xfrm>
            <a:off x="4114005" y="5394447"/>
            <a:ext cx="3005438" cy="646331"/>
          </a:xfrm>
          <a:prstGeom prst="rect">
            <a:avLst/>
          </a:prstGeom>
        </p:spPr>
        <p:txBody>
          <a:bodyPr wrap="none">
            <a:spAutoFit/>
          </a:bodyPr>
          <a:lstStyle/>
          <a:p>
            <a:r>
              <a:rPr lang="en-US" dirty="0">
                <a:latin typeface="Casper" panose="02000506000000020004" pitchFamily="2" charset="0"/>
                <a:ea typeface="Segoe UI" panose="020B0502040204020203" pitchFamily="34" charset="0"/>
                <a:cs typeface="Segoe UI" panose="020B0502040204020203" pitchFamily="34" charset="0"/>
              </a:rPr>
              <a:t>For queries</a:t>
            </a:r>
          </a:p>
          <a:p>
            <a:r>
              <a:rPr lang="en-US" dirty="0">
                <a:latin typeface="Casper" panose="02000506000000020004" pitchFamily="2" charset="0"/>
                <a:cs typeface="Segoe UI" panose="020B0502040204020203" pitchFamily="34" charset="0"/>
              </a:rPr>
              <a:t>Email: divya.e8645@cumail.in</a:t>
            </a:r>
            <a:endParaRPr lang="en-US" dirty="0"/>
          </a:p>
        </p:txBody>
      </p:sp>
      <p:pic>
        <p:nvPicPr>
          <p:cNvPr id="3" name="Picture 2">
            <a:extLst>
              <a:ext uri="{FF2B5EF4-FFF2-40B4-BE49-F238E27FC236}">
                <a16:creationId xmlns:a16="http://schemas.microsoft.com/office/drawing/2014/main" id="{60CF1B1A-BA38-47DE-B8FB-A897F1C53BE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812" y="75509"/>
            <a:ext cx="692726" cy="103909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B8150F1E-A079-4A07-A2F1-D7EEDF3DB05E}"/>
              </a:ext>
            </a:extLst>
          </p:cNvPr>
          <p:cNvPicPr>
            <a:picLocks noChangeAspect="1"/>
          </p:cNvPicPr>
          <p:nvPr/>
        </p:nvPicPr>
        <p:blipFill>
          <a:blip r:embed="rId3"/>
          <a:stretch>
            <a:fillRect/>
          </a:stretch>
        </p:blipFill>
        <p:spPr>
          <a:xfrm>
            <a:off x="9045526" y="6457894"/>
            <a:ext cx="3019846" cy="400106"/>
          </a:xfrm>
          <a:prstGeom prst="rect">
            <a:avLst/>
          </a:prstGeom>
        </p:spPr>
      </p:pic>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TotalTime>
  <Words>797</Words>
  <Application>Microsoft Office PowerPoint</Application>
  <PresentationFormat>Widescreen</PresentationFormat>
  <Paragraphs>85</Paragraphs>
  <Slides>13</Slides>
  <Notes>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24" baseType="lpstr">
      <vt:lpstr>Arial</vt:lpstr>
      <vt:lpstr>Arial Black</vt:lpstr>
      <vt:lpstr>Calibri</vt:lpstr>
      <vt:lpstr>Calibri Light</vt:lpstr>
      <vt:lpstr>Caper bold </vt:lpstr>
      <vt:lpstr>Casper</vt:lpstr>
      <vt:lpstr>Casper Bold</vt:lpstr>
      <vt:lpstr>Times New Roman</vt:lpstr>
      <vt:lpstr>Wingdings</vt:lpstr>
      <vt:lpstr>Office Theme</vt:lpstr>
      <vt:lpstr>CorelDRAW</vt:lpstr>
      <vt:lpstr>PowerPoint Presentation</vt:lpstr>
      <vt:lpstr>COURSE OBJECTIVES</vt:lpstr>
      <vt:lpstr>PowerPoint Presentation</vt:lpstr>
      <vt:lpstr>CONTENT</vt:lpstr>
      <vt:lpstr>Introduction to Superconductors</vt:lpstr>
      <vt:lpstr>Introduction to Superconductors</vt:lpstr>
      <vt:lpstr>Differentiating Conductor and a Superconductor</vt:lpstr>
      <vt:lpstr>Critical Temperature</vt:lpstr>
      <vt:lpstr>Critical Temperature</vt:lpstr>
      <vt:lpstr>ASSESSMENT PATTERN </vt:lpstr>
      <vt:lpstr>Reference Books and Weblinks</vt:lpstr>
      <vt:lpstr>Reference Video links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Appan Chawla</dc:creator>
  <cp:lastModifiedBy>Indu Gupta</cp:lastModifiedBy>
  <cp:revision>7</cp:revision>
  <dcterms:created xsi:type="dcterms:W3CDTF">2020-08-11T06:42:11Z</dcterms:created>
  <dcterms:modified xsi:type="dcterms:W3CDTF">2023-06-15T15:22:08Z</dcterms:modified>
</cp:coreProperties>
</file>