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65" r:id="rId3"/>
    <p:sldId id="303" r:id="rId4"/>
    <p:sldId id="310" r:id="rId5"/>
    <p:sldId id="304" r:id="rId6"/>
    <p:sldId id="307" r:id="rId7"/>
    <p:sldId id="305" r:id="rId8"/>
    <p:sldId id="260" r:id="rId9"/>
    <p:sldId id="262" r:id="rId10"/>
    <p:sldId id="309" r:id="rId11"/>
    <p:sldId id="313" r:id="rId12"/>
    <p:sldId id="282" r:id="rId13"/>
    <p:sldId id="311" r:id="rId14"/>
    <p:sldId id="312"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B1F61E-B79E-4921-8CA8-00607D615465}" type="doc">
      <dgm:prSet loTypeId="urn:microsoft.com/office/officeart/2005/8/layout/cycle5" loCatId="cycle" qsTypeId="urn:microsoft.com/office/officeart/2005/8/quickstyle/simple1" qsCatId="simple" csTypeId="urn:microsoft.com/office/officeart/2005/8/colors/accent0_3" csCatId="mainScheme" phldr="1"/>
      <dgm:spPr/>
      <dgm:t>
        <a:bodyPr/>
        <a:lstStyle/>
        <a:p>
          <a:endParaRPr lang="en-US"/>
        </a:p>
      </dgm:t>
    </dgm:pt>
    <dgm:pt modelId="{DF21CF1E-E8F7-48BD-9E2F-0783B4275D4F}">
      <dgm:prSet phldrT="[Text]"/>
      <dgm:spPr/>
      <dgm:t>
        <a:bodyPr/>
        <a:lstStyle/>
        <a:p>
          <a:r>
            <a:rPr lang="en-US" dirty="0"/>
            <a:t>MST(02)</a:t>
          </a:r>
        </a:p>
        <a:p>
          <a:r>
            <a:rPr lang="en-US" dirty="0"/>
            <a:t>20 marks</a:t>
          </a:r>
        </a:p>
      </dgm:t>
    </dgm:pt>
    <dgm:pt modelId="{02672668-E94C-4D3F-B024-3E83EF071008}" type="parTrans" cxnId="{CE872D1B-2201-4155-A282-D98BE8E972C7}">
      <dgm:prSet/>
      <dgm:spPr/>
      <dgm:t>
        <a:bodyPr/>
        <a:lstStyle/>
        <a:p>
          <a:endParaRPr lang="en-US"/>
        </a:p>
      </dgm:t>
    </dgm:pt>
    <dgm:pt modelId="{43870F01-8D0C-493D-87C6-47CDB63CA0C3}" type="sibTrans" cxnId="{CE872D1B-2201-4155-A282-D98BE8E972C7}">
      <dgm:prSet/>
      <dgm:spPr/>
      <dgm:t>
        <a:bodyPr/>
        <a:lstStyle/>
        <a:p>
          <a:endParaRPr lang="en-US"/>
        </a:p>
      </dgm:t>
    </dgm:pt>
    <dgm:pt modelId="{5017CB0E-F067-4C8D-BCC3-1E89F6BF0DB6}">
      <dgm:prSet phldrT="[Text]"/>
      <dgm:spPr/>
      <dgm:t>
        <a:bodyPr/>
        <a:lstStyle/>
        <a:p>
          <a:r>
            <a:rPr lang="en-US"/>
            <a:t>Quiz </a:t>
          </a:r>
        </a:p>
        <a:p>
          <a:r>
            <a:rPr lang="en-US"/>
            <a:t>4 marks</a:t>
          </a:r>
        </a:p>
      </dgm:t>
    </dgm:pt>
    <dgm:pt modelId="{7EA63C5E-7894-4011-8777-E05AB93A5604}" type="parTrans" cxnId="{641E709A-A338-4D2F-966E-DEB104E7D828}">
      <dgm:prSet/>
      <dgm:spPr/>
      <dgm:t>
        <a:bodyPr/>
        <a:lstStyle/>
        <a:p>
          <a:endParaRPr lang="en-US"/>
        </a:p>
      </dgm:t>
    </dgm:pt>
    <dgm:pt modelId="{37F83C70-3700-406D-8C7A-E3B7AE665571}" type="sibTrans" cxnId="{641E709A-A338-4D2F-966E-DEB104E7D828}">
      <dgm:prSet/>
      <dgm:spPr/>
      <dgm:t>
        <a:bodyPr/>
        <a:lstStyle/>
        <a:p>
          <a:endParaRPr lang="en-US"/>
        </a:p>
      </dgm:t>
    </dgm:pt>
    <dgm:pt modelId="{59283DCC-1101-4781-AC16-AC0F39464EAE}">
      <dgm:prSet phldrT="[Text]"/>
      <dgm:spPr/>
      <dgm:t>
        <a:bodyPr/>
        <a:lstStyle/>
        <a:p>
          <a:r>
            <a:rPr lang="en-US"/>
            <a:t>Attendance</a:t>
          </a:r>
        </a:p>
        <a:p>
          <a:r>
            <a:rPr lang="en-US"/>
            <a:t>(&gt;90%)</a:t>
          </a:r>
        </a:p>
        <a:p>
          <a:r>
            <a:rPr lang="en-US"/>
            <a:t>2 marks</a:t>
          </a:r>
        </a:p>
      </dgm:t>
    </dgm:pt>
    <dgm:pt modelId="{8AF003E6-7640-4B86-9B7E-1EE2F34FB260}" type="parTrans" cxnId="{ECBAC60F-6CDF-4972-AEEC-AD2754C3CEF6}">
      <dgm:prSet/>
      <dgm:spPr/>
      <dgm:t>
        <a:bodyPr/>
        <a:lstStyle/>
        <a:p>
          <a:endParaRPr lang="en-US"/>
        </a:p>
      </dgm:t>
    </dgm:pt>
    <dgm:pt modelId="{5A5EC861-6BDC-4E40-8784-85D4598C36F6}" type="sibTrans" cxnId="{ECBAC60F-6CDF-4972-AEEC-AD2754C3CEF6}">
      <dgm:prSet/>
      <dgm:spPr/>
      <dgm:t>
        <a:bodyPr/>
        <a:lstStyle/>
        <a:p>
          <a:endParaRPr lang="en-US"/>
        </a:p>
      </dgm:t>
    </dgm:pt>
    <dgm:pt modelId="{9580402E-56A8-4020-B0A0-91E4A7FEDC15}">
      <dgm:prSet phldrT="[Text]"/>
      <dgm:spPr/>
      <dgm:t>
        <a:bodyPr/>
        <a:lstStyle/>
        <a:p>
          <a:r>
            <a:rPr lang="en-US"/>
            <a:t>Surprise test </a:t>
          </a:r>
        </a:p>
        <a:p>
          <a:r>
            <a:rPr lang="en-US"/>
            <a:t>4 marks</a:t>
          </a:r>
        </a:p>
      </dgm:t>
    </dgm:pt>
    <dgm:pt modelId="{F09904E3-80CF-4644-BAB7-253055CB5E22}" type="parTrans" cxnId="{D1F84F8A-ED12-40FC-A5B7-D11271FC9026}">
      <dgm:prSet/>
      <dgm:spPr/>
      <dgm:t>
        <a:bodyPr/>
        <a:lstStyle/>
        <a:p>
          <a:endParaRPr lang="en-US"/>
        </a:p>
      </dgm:t>
    </dgm:pt>
    <dgm:pt modelId="{B6E7DF34-812C-4586-B586-6E90541E11FE}" type="sibTrans" cxnId="{D1F84F8A-ED12-40FC-A5B7-D11271FC9026}">
      <dgm:prSet/>
      <dgm:spPr/>
      <dgm:t>
        <a:bodyPr/>
        <a:lstStyle/>
        <a:p>
          <a:endParaRPr lang="en-US"/>
        </a:p>
      </dgm:t>
    </dgm:pt>
    <dgm:pt modelId="{CCE52B37-AFF3-4BEC-A5FF-372C919EF95E}">
      <dgm:prSet phldrT="[Text]"/>
      <dgm:spPr/>
      <dgm:t>
        <a:bodyPr/>
        <a:lstStyle/>
        <a:p>
          <a:r>
            <a:rPr lang="en-US"/>
            <a:t>Assignment</a:t>
          </a:r>
        </a:p>
        <a:p>
          <a:r>
            <a:rPr lang="en-US"/>
            <a:t>10 marks</a:t>
          </a:r>
        </a:p>
      </dgm:t>
    </dgm:pt>
    <dgm:pt modelId="{DF7974F8-74F3-4CD9-AF5D-0A97A2BF2554}" type="parTrans" cxnId="{FEEB9898-0349-4CF4-950F-C31AB762AF49}">
      <dgm:prSet/>
      <dgm:spPr/>
      <dgm:t>
        <a:bodyPr/>
        <a:lstStyle/>
        <a:p>
          <a:endParaRPr lang="en-US"/>
        </a:p>
      </dgm:t>
    </dgm:pt>
    <dgm:pt modelId="{F659EAE0-421D-45B5-950B-62BA1296084F}" type="sibTrans" cxnId="{FEEB9898-0349-4CF4-950F-C31AB762AF49}">
      <dgm:prSet/>
      <dgm:spPr/>
      <dgm:t>
        <a:bodyPr/>
        <a:lstStyle/>
        <a:p>
          <a:endParaRPr lang="en-US"/>
        </a:p>
      </dgm:t>
    </dgm:pt>
    <dgm:pt modelId="{CE51EAD9-06C0-4DBC-9F94-7804EE0417E8}" type="pres">
      <dgm:prSet presAssocID="{71B1F61E-B79E-4921-8CA8-00607D615465}" presName="cycle" presStyleCnt="0">
        <dgm:presLayoutVars>
          <dgm:dir/>
          <dgm:resizeHandles val="exact"/>
        </dgm:presLayoutVars>
      </dgm:prSet>
      <dgm:spPr/>
    </dgm:pt>
    <dgm:pt modelId="{6C392781-824D-4A9A-B53B-15B182F41E67}" type="pres">
      <dgm:prSet presAssocID="{DF21CF1E-E8F7-48BD-9E2F-0783B4275D4F}" presName="node" presStyleLbl="node1" presStyleIdx="0" presStyleCnt="5">
        <dgm:presLayoutVars>
          <dgm:bulletEnabled val="1"/>
        </dgm:presLayoutVars>
      </dgm:prSet>
      <dgm:spPr/>
    </dgm:pt>
    <dgm:pt modelId="{48F10FB2-D4AF-42A1-AE30-73A7B03AADA8}" type="pres">
      <dgm:prSet presAssocID="{DF21CF1E-E8F7-48BD-9E2F-0783B4275D4F}" presName="spNode" presStyleCnt="0"/>
      <dgm:spPr/>
    </dgm:pt>
    <dgm:pt modelId="{009CE4DD-9E5F-40D8-8D55-613C90442619}" type="pres">
      <dgm:prSet presAssocID="{43870F01-8D0C-493D-87C6-47CDB63CA0C3}" presName="sibTrans" presStyleLbl="sibTrans1D1" presStyleIdx="0" presStyleCnt="5"/>
      <dgm:spPr/>
    </dgm:pt>
    <dgm:pt modelId="{DF99696A-FB56-42C5-9885-47F68FD8ECED}" type="pres">
      <dgm:prSet presAssocID="{5017CB0E-F067-4C8D-BCC3-1E89F6BF0DB6}" presName="node" presStyleLbl="node1" presStyleIdx="1" presStyleCnt="5">
        <dgm:presLayoutVars>
          <dgm:bulletEnabled val="1"/>
        </dgm:presLayoutVars>
      </dgm:prSet>
      <dgm:spPr/>
    </dgm:pt>
    <dgm:pt modelId="{4F295E57-2AF9-4A24-9516-6EFC944D88FD}" type="pres">
      <dgm:prSet presAssocID="{5017CB0E-F067-4C8D-BCC3-1E89F6BF0DB6}" presName="spNode" presStyleCnt="0"/>
      <dgm:spPr/>
    </dgm:pt>
    <dgm:pt modelId="{51AFB399-6216-4CAB-9D37-2E01C124612C}" type="pres">
      <dgm:prSet presAssocID="{37F83C70-3700-406D-8C7A-E3B7AE665571}" presName="sibTrans" presStyleLbl="sibTrans1D1" presStyleIdx="1" presStyleCnt="5"/>
      <dgm:spPr/>
    </dgm:pt>
    <dgm:pt modelId="{AF082927-7D7E-4C80-8E73-A1D76ECCACBF}" type="pres">
      <dgm:prSet presAssocID="{59283DCC-1101-4781-AC16-AC0F39464EAE}" presName="node" presStyleLbl="node1" presStyleIdx="2" presStyleCnt="5">
        <dgm:presLayoutVars>
          <dgm:bulletEnabled val="1"/>
        </dgm:presLayoutVars>
      </dgm:prSet>
      <dgm:spPr/>
    </dgm:pt>
    <dgm:pt modelId="{10326764-5B4E-4C3C-B979-5EEB026A7243}" type="pres">
      <dgm:prSet presAssocID="{59283DCC-1101-4781-AC16-AC0F39464EAE}" presName="spNode" presStyleCnt="0"/>
      <dgm:spPr/>
    </dgm:pt>
    <dgm:pt modelId="{65C7ADDB-CFF9-401A-9AFF-9B433EF479D6}" type="pres">
      <dgm:prSet presAssocID="{5A5EC861-6BDC-4E40-8784-85D4598C36F6}" presName="sibTrans" presStyleLbl="sibTrans1D1" presStyleIdx="2" presStyleCnt="5"/>
      <dgm:spPr/>
    </dgm:pt>
    <dgm:pt modelId="{6F37B80F-58DB-4292-BA27-F2C34F018F0C}" type="pres">
      <dgm:prSet presAssocID="{9580402E-56A8-4020-B0A0-91E4A7FEDC15}" presName="node" presStyleLbl="node1" presStyleIdx="3" presStyleCnt="5">
        <dgm:presLayoutVars>
          <dgm:bulletEnabled val="1"/>
        </dgm:presLayoutVars>
      </dgm:prSet>
      <dgm:spPr/>
    </dgm:pt>
    <dgm:pt modelId="{EE5F26BD-3784-4EEC-9088-9EFABE0AC40B}" type="pres">
      <dgm:prSet presAssocID="{9580402E-56A8-4020-B0A0-91E4A7FEDC15}" presName="spNode" presStyleCnt="0"/>
      <dgm:spPr/>
    </dgm:pt>
    <dgm:pt modelId="{402CB780-F1AA-4127-AE9A-9B3676B7B749}" type="pres">
      <dgm:prSet presAssocID="{B6E7DF34-812C-4586-B586-6E90541E11FE}" presName="sibTrans" presStyleLbl="sibTrans1D1" presStyleIdx="3" presStyleCnt="5"/>
      <dgm:spPr/>
    </dgm:pt>
    <dgm:pt modelId="{7C862B3C-0B13-460D-81F4-100EE59EF602}" type="pres">
      <dgm:prSet presAssocID="{CCE52B37-AFF3-4BEC-A5FF-372C919EF95E}" presName="node" presStyleLbl="node1" presStyleIdx="4" presStyleCnt="5">
        <dgm:presLayoutVars>
          <dgm:bulletEnabled val="1"/>
        </dgm:presLayoutVars>
      </dgm:prSet>
      <dgm:spPr/>
    </dgm:pt>
    <dgm:pt modelId="{BE0CE7B8-92A5-444B-A3B6-166BB6C7DBA8}" type="pres">
      <dgm:prSet presAssocID="{CCE52B37-AFF3-4BEC-A5FF-372C919EF95E}" presName="spNode" presStyleCnt="0"/>
      <dgm:spPr/>
    </dgm:pt>
    <dgm:pt modelId="{66EF00C0-985C-4E09-9508-C02E90F1DCE9}" type="pres">
      <dgm:prSet presAssocID="{F659EAE0-421D-45B5-950B-62BA1296084F}" presName="sibTrans" presStyleLbl="sibTrans1D1" presStyleIdx="4" presStyleCnt="5"/>
      <dgm:spPr/>
    </dgm:pt>
  </dgm:ptLst>
  <dgm:cxnLst>
    <dgm:cxn modelId="{A89C2A0D-3ED9-4D31-8261-257B9B5DFB1C}" type="presOf" srcId="{CCE52B37-AFF3-4BEC-A5FF-372C919EF95E}" destId="{7C862B3C-0B13-460D-81F4-100EE59EF602}" srcOrd="0" destOrd="0" presId="urn:microsoft.com/office/officeart/2005/8/layout/cycle5"/>
    <dgm:cxn modelId="{ECBAC60F-6CDF-4972-AEEC-AD2754C3CEF6}" srcId="{71B1F61E-B79E-4921-8CA8-00607D615465}" destId="{59283DCC-1101-4781-AC16-AC0F39464EAE}" srcOrd="2" destOrd="0" parTransId="{8AF003E6-7640-4B86-9B7E-1EE2F34FB260}" sibTransId="{5A5EC861-6BDC-4E40-8784-85D4598C36F6}"/>
    <dgm:cxn modelId="{CE872D1B-2201-4155-A282-D98BE8E972C7}" srcId="{71B1F61E-B79E-4921-8CA8-00607D615465}" destId="{DF21CF1E-E8F7-48BD-9E2F-0783B4275D4F}" srcOrd="0" destOrd="0" parTransId="{02672668-E94C-4D3F-B024-3E83EF071008}" sibTransId="{43870F01-8D0C-493D-87C6-47CDB63CA0C3}"/>
    <dgm:cxn modelId="{61E5BA29-B239-4108-9854-E2C25EE48BAD}" type="presOf" srcId="{5A5EC861-6BDC-4E40-8784-85D4598C36F6}" destId="{65C7ADDB-CFF9-401A-9AFF-9B433EF479D6}" srcOrd="0" destOrd="0" presId="urn:microsoft.com/office/officeart/2005/8/layout/cycle5"/>
    <dgm:cxn modelId="{F470732E-3CEE-44AD-AC99-3D86D217B16D}" type="presOf" srcId="{5017CB0E-F067-4C8D-BCC3-1E89F6BF0DB6}" destId="{DF99696A-FB56-42C5-9885-47F68FD8ECED}" srcOrd="0" destOrd="0" presId="urn:microsoft.com/office/officeart/2005/8/layout/cycle5"/>
    <dgm:cxn modelId="{047D3C32-A757-422C-9A2E-4DD86AB5844D}" type="presOf" srcId="{B6E7DF34-812C-4586-B586-6E90541E11FE}" destId="{402CB780-F1AA-4127-AE9A-9B3676B7B749}" srcOrd="0" destOrd="0" presId="urn:microsoft.com/office/officeart/2005/8/layout/cycle5"/>
    <dgm:cxn modelId="{F1E8B362-379D-4B44-B379-FDD050461510}" type="presOf" srcId="{59283DCC-1101-4781-AC16-AC0F39464EAE}" destId="{AF082927-7D7E-4C80-8E73-A1D76ECCACBF}" srcOrd="0" destOrd="0" presId="urn:microsoft.com/office/officeart/2005/8/layout/cycle5"/>
    <dgm:cxn modelId="{7462E677-BDEB-405E-ABD4-87892E9FD07D}" type="presOf" srcId="{9580402E-56A8-4020-B0A0-91E4A7FEDC15}" destId="{6F37B80F-58DB-4292-BA27-F2C34F018F0C}" srcOrd="0" destOrd="0" presId="urn:microsoft.com/office/officeart/2005/8/layout/cycle5"/>
    <dgm:cxn modelId="{3AE52488-4EF7-4D68-9B73-EC43F1C0F4D4}" type="presOf" srcId="{37F83C70-3700-406D-8C7A-E3B7AE665571}" destId="{51AFB399-6216-4CAB-9D37-2E01C124612C}" srcOrd="0" destOrd="0" presId="urn:microsoft.com/office/officeart/2005/8/layout/cycle5"/>
    <dgm:cxn modelId="{D1F84F8A-ED12-40FC-A5B7-D11271FC9026}" srcId="{71B1F61E-B79E-4921-8CA8-00607D615465}" destId="{9580402E-56A8-4020-B0A0-91E4A7FEDC15}" srcOrd="3" destOrd="0" parTransId="{F09904E3-80CF-4644-BAB7-253055CB5E22}" sibTransId="{B6E7DF34-812C-4586-B586-6E90541E11FE}"/>
    <dgm:cxn modelId="{FEEB9898-0349-4CF4-950F-C31AB762AF49}" srcId="{71B1F61E-B79E-4921-8CA8-00607D615465}" destId="{CCE52B37-AFF3-4BEC-A5FF-372C919EF95E}" srcOrd="4" destOrd="0" parTransId="{DF7974F8-74F3-4CD9-AF5D-0A97A2BF2554}" sibTransId="{F659EAE0-421D-45B5-950B-62BA1296084F}"/>
    <dgm:cxn modelId="{641E709A-A338-4D2F-966E-DEB104E7D828}" srcId="{71B1F61E-B79E-4921-8CA8-00607D615465}" destId="{5017CB0E-F067-4C8D-BCC3-1E89F6BF0DB6}" srcOrd="1" destOrd="0" parTransId="{7EA63C5E-7894-4011-8777-E05AB93A5604}" sibTransId="{37F83C70-3700-406D-8C7A-E3B7AE665571}"/>
    <dgm:cxn modelId="{6999A3D9-6999-4A51-93DA-39793B25F27D}" type="presOf" srcId="{71B1F61E-B79E-4921-8CA8-00607D615465}" destId="{CE51EAD9-06C0-4DBC-9F94-7804EE0417E8}" srcOrd="0" destOrd="0" presId="urn:microsoft.com/office/officeart/2005/8/layout/cycle5"/>
    <dgm:cxn modelId="{B369B6E4-7D59-453B-BD33-5779B55DA85E}" type="presOf" srcId="{DF21CF1E-E8F7-48BD-9E2F-0783B4275D4F}" destId="{6C392781-824D-4A9A-B53B-15B182F41E67}" srcOrd="0" destOrd="0" presId="urn:microsoft.com/office/officeart/2005/8/layout/cycle5"/>
    <dgm:cxn modelId="{39017CEC-34E4-4E00-96C1-4BDB14A6700D}" type="presOf" srcId="{F659EAE0-421D-45B5-950B-62BA1296084F}" destId="{66EF00C0-985C-4E09-9508-C02E90F1DCE9}" srcOrd="0" destOrd="0" presId="urn:microsoft.com/office/officeart/2005/8/layout/cycle5"/>
    <dgm:cxn modelId="{98E28CF6-79DA-4CCD-A05D-E232FEA32EAF}" type="presOf" srcId="{43870F01-8D0C-493D-87C6-47CDB63CA0C3}" destId="{009CE4DD-9E5F-40D8-8D55-613C90442619}" srcOrd="0" destOrd="0" presId="urn:microsoft.com/office/officeart/2005/8/layout/cycle5"/>
    <dgm:cxn modelId="{FE4DB78A-FE4A-4339-B3D2-C8E6D8C17168}" type="presParOf" srcId="{CE51EAD9-06C0-4DBC-9F94-7804EE0417E8}" destId="{6C392781-824D-4A9A-B53B-15B182F41E67}" srcOrd="0" destOrd="0" presId="urn:microsoft.com/office/officeart/2005/8/layout/cycle5"/>
    <dgm:cxn modelId="{3D92934D-1722-430A-8D37-5FB682950520}" type="presParOf" srcId="{CE51EAD9-06C0-4DBC-9F94-7804EE0417E8}" destId="{48F10FB2-D4AF-42A1-AE30-73A7B03AADA8}" srcOrd="1" destOrd="0" presId="urn:microsoft.com/office/officeart/2005/8/layout/cycle5"/>
    <dgm:cxn modelId="{243D94B8-83D4-4985-B9F7-3798DC680CAB}" type="presParOf" srcId="{CE51EAD9-06C0-4DBC-9F94-7804EE0417E8}" destId="{009CE4DD-9E5F-40D8-8D55-613C90442619}" srcOrd="2" destOrd="0" presId="urn:microsoft.com/office/officeart/2005/8/layout/cycle5"/>
    <dgm:cxn modelId="{63AB009C-5FF1-4F67-9E8C-421EC592D409}" type="presParOf" srcId="{CE51EAD9-06C0-4DBC-9F94-7804EE0417E8}" destId="{DF99696A-FB56-42C5-9885-47F68FD8ECED}" srcOrd="3" destOrd="0" presId="urn:microsoft.com/office/officeart/2005/8/layout/cycle5"/>
    <dgm:cxn modelId="{72843909-13B3-4DD1-AE6E-18A214DCB688}" type="presParOf" srcId="{CE51EAD9-06C0-4DBC-9F94-7804EE0417E8}" destId="{4F295E57-2AF9-4A24-9516-6EFC944D88FD}" srcOrd="4" destOrd="0" presId="urn:microsoft.com/office/officeart/2005/8/layout/cycle5"/>
    <dgm:cxn modelId="{C61119C5-6802-4C3F-B0EF-B3F9DADCA32B}" type="presParOf" srcId="{CE51EAD9-06C0-4DBC-9F94-7804EE0417E8}" destId="{51AFB399-6216-4CAB-9D37-2E01C124612C}" srcOrd="5" destOrd="0" presId="urn:microsoft.com/office/officeart/2005/8/layout/cycle5"/>
    <dgm:cxn modelId="{8AA40D5E-D94A-4982-8087-90806B2AF9BC}" type="presParOf" srcId="{CE51EAD9-06C0-4DBC-9F94-7804EE0417E8}" destId="{AF082927-7D7E-4C80-8E73-A1D76ECCACBF}" srcOrd="6" destOrd="0" presId="urn:microsoft.com/office/officeart/2005/8/layout/cycle5"/>
    <dgm:cxn modelId="{8AE1A2AF-132A-48BC-BCA1-5F5FEFE9F064}" type="presParOf" srcId="{CE51EAD9-06C0-4DBC-9F94-7804EE0417E8}" destId="{10326764-5B4E-4C3C-B979-5EEB026A7243}" srcOrd="7" destOrd="0" presId="urn:microsoft.com/office/officeart/2005/8/layout/cycle5"/>
    <dgm:cxn modelId="{483736C0-AEA2-4759-B56D-DE61B3D12D5A}" type="presParOf" srcId="{CE51EAD9-06C0-4DBC-9F94-7804EE0417E8}" destId="{65C7ADDB-CFF9-401A-9AFF-9B433EF479D6}" srcOrd="8" destOrd="0" presId="urn:microsoft.com/office/officeart/2005/8/layout/cycle5"/>
    <dgm:cxn modelId="{7C25DE4E-853A-4849-9101-BC83D951175A}" type="presParOf" srcId="{CE51EAD9-06C0-4DBC-9F94-7804EE0417E8}" destId="{6F37B80F-58DB-4292-BA27-F2C34F018F0C}" srcOrd="9" destOrd="0" presId="urn:microsoft.com/office/officeart/2005/8/layout/cycle5"/>
    <dgm:cxn modelId="{A585BC4F-905C-4CC1-A629-92EFA900CCC7}" type="presParOf" srcId="{CE51EAD9-06C0-4DBC-9F94-7804EE0417E8}" destId="{EE5F26BD-3784-4EEC-9088-9EFABE0AC40B}" srcOrd="10" destOrd="0" presId="urn:microsoft.com/office/officeart/2005/8/layout/cycle5"/>
    <dgm:cxn modelId="{46B436F0-5EFE-4735-8670-F0EBCEA95C71}" type="presParOf" srcId="{CE51EAD9-06C0-4DBC-9F94-7804EE0417E8}" destId="{402CB780-F1AA-4127-AE9A-9B3676B7B749}" srcOrd="11" destOrd="0" presId="urn:microsoft.com/office/officeart/2005/8/layout/cycle5"/>
    <dgm:cxn modelId="{4D250B2A-C138-4709-9977-41330C4E4CA2}" type="presParOf" srcId="{CE51EAD9-06C0-4DBC-9F94-7804EE0417E8}" destId="{7C862B3C-0B13-460D-81F4-100EE59EF602}" srcOrd="12" destOrd="0" presId="urn:microsoft.com/office/officeart/2005/8/layout/cycle5"/>
    <dgm:cxn modelId="{9EF4B2DB-1ECE-43D3-9914-0623F5CE22BA}" type="presParOf" srcId="{CE51EAD9-06C0-4DBC-9F94-7804EE0417E8}" destId="{BE0CE7B8-92A5-444B-A3B6-166BB6C7DBA8}" srcOrd="13" destOrd="0" presId="urn:microsoft.com/office/officeart/2005/8/layout/cycle5"/>
    <dgm:cxn modelId="{82828848-938D-415D-88EC-E0953E8C4BC0}" type="presParOf" srcId="{CE51EAD9-06C0-4DBC-9F94-7804EE0417E8}" destId="{66EF00C0-985C-4E09-9508-C02E90F1DCE9}"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392781-824D-4A9A-B53B-15B182F41E67}">
      <dsp:nvSpPr>
        <dsp:cNvPr id="0" name=""/>
        <dsp:cNvSpPr/>
      </dsp:nvSpPr>
      <dsp:spPr>
        <a:xfrm>
          <a:off x="3533766" y="3111"/>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MST(02)</a:t>
          </a:r>
        </a:p>
        <a:p>
          <a:pPr marL="0" lvl="0" indent="0" algn="ctr" defTabSz="622300">
            <a:lnSpc>
              <a:spcPct val="90000"/>
            </a:lnSpc>
            <a:spcBef>
              <a:spcPct val="0"/>
            </a:spcBef>
            <a:spcAft>
              <a:spcPct val="35000"/>
            </a:spcAft>
            <a:buNone/>
          </a:pPr>
          <a:r>
            <a:rPr lang="en-US" sz="1400" kern="1200" dirty="0"/>
            <a:t>20 marks</a:t>
          </a:r>
        </a:p>
      </dsp:txBody>
      <dsp:txXfrm>
        <a:off x="3582645" y="51990"/>
        <a:ext cx="1442682" cy="903528"/>
      </dsp:txXfrm>
    </dsp:sp>
    <dsp:sp modelId="{009CE4DD-9E5F-40D8-8D55-613C90442619}">
      <dsp:nvSpPr>
        <dsp:cNvPr id="0" name=""/>
        <dsp:cNvSpPr/>
      </dsp:nvSpPr>
      <dsp:spPr>
        <a:xfrm>
          <a:off x="2303849" y="503754"/>
          <a:ext cx="4000274" cy="4000274"/>
        </a:xfrm>
        <a:custGeom>
          <a:avLst/>
          <a:gdLst/>
          <a:ahLst/>
          <a:cxnLst/>
          <a:rect l="0" t="0" r="0" b="0"/>
          <a:pathLst>
            <a:path>
              <a:moveTo>
                <a:pt x="2976644" y="254576"/>
              </a:moveTo>
              <a:arcTo wR="2000137" hR="2000137" stAng="17953421" swAng="1211562"/>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DF99696A-FB56-42C5-9885-47F68FD8ECED}">
      <dsp:nvSpPr>
        <dsp:cNvPr id="0" name=""/>
        <dsp:cNvSpPr/>
      </dsp:nvSpPr>
      <dsp:spPr>
        <a:xfrm>
          <a:off x="5436009" y="1385172"/>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Quiz </a:t>
          </a:r>
        </a:p>
        <a:p>
          <a:pPr marL="0" lvl="0" indent="0" algn="ctr" defTabSz="622300">
            <a:lnSpc>
              <a:spcPct val="90000"/>
            </a:lnSpc>
            <a:spcBef>
              <a:spcPct val="0"/>
            </a:spcBef>
            <a:spcAft>
              <a:spcPct val="35000"/>
            </a:spcAft>
            <a:buNone/>
          </a:pPr>
          <a:r>
            <a:rPr lang="en-US" sz="1400" kern="1200"/>
            <a:t>4 marks</a:t>
          </a:r>
        </a:p>
      </dsp:txBody>
      <dsp:txXfrm>
        <a:off x="5484888" y="1434051"/>
        <a:ext cx="1442682" cy="903528"/>
      </dsp:txXfrm>
    </dsp:sp>
    <dsp:sp modelId="{51AFB399-6216-4CAB-9D37-2E01C124612C}">
      <dsp:nvSpPr>
        <dsp:cNvPr id="0" name=""/>
        <dsp:cNvSpPr/>
      </dsp:nvSpPr>
      <dsp:spPr>
        <a:xfrm>
          <a:off x="2303849" y="503754"/>
          <a:ext cx="4000274" cy="4000274"/>
        </a:xfrm>
        <a:custGeom>
          <a:avLst/>
          <a:gdLst/>
          <a:ahLst/>
          <a:cxnLst/>
          <a:rect l="0" t="0" r="0" b="0"/>
          <a:pathLst>
            <a:path>
              <a:moveTo>
                <a:pt x="3995476" y="2138588"/>
              </a:moveTo>
              <a:arcTo wR="2000137" hR="2000137" stAng="21838155" swAng="135974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AF082927-7D7E-4C80-8E73-A1D76ECCACBF}">
      <dsp:nvSpPr>
        <dsp:cNvPr id="0" name=""/>
        <dsp:cNvSpPr/>
      </dsp:nvSpPr>
      <dsp:spPr>
        <a:xfrm>
          <a:off x="4709417" y="3621393"/>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Attendance</a:t>
          </a:r>
        </a:p>
        <a:p>
          <a:pPr marL="0" lvl="0" indent="0" algn="ctr" defTabSz="622300">
            <a:lnSpc>
              <a:spcPct val="90000"/>
            </a:lnSpc>
            <a:spcBef>
              <a:spcPct val="0"/>
            </a:spcBef>
            <a:spcAft>
              <a:spcPct val="35000"/>
            </a:spcAft>
            <a:buNone/>
          </a:pPr>
          <a:r>
            <a:rPr lang="en-US" sz="1400" kern="1200"/>
            <a:t>(&gt;90%)</a:t>
          </a:r>
        </a:p>
        <a:p>
          <a:pPr marL="0" lvl="0" indent="0" algn="ctr" defTabSz="622300">
            <a:lnSpc>
              <a:spcPct val="90000"/>
            </a:lnSpc>
            <a:spcBef>
              <a:spcPct val="0"/>
            </a:spcBef>
            <a:spcAft>
              <a:spcPct val="35000"/>
            </a:spcAft>
            <a:buNone/>
          </a:pPr>
          <a:r>
            <a:rPr lang="en-US" sz="1400" kern="1200"/>
            <a:t>2 marks</a:t>
          </a:r>
        </a:p>
      </dsp:txBody>
      <dsp:txXfrm>
        <a:off x="4758296" y="3670272"/>
        <a:ext cx="1442682" cy="903528"/>
      </dsp:txXfrm>
    </dsp:sp>
    <dsp:sp modelId="{65C7ADDB-CFF9-401A-9AFF-9B433EF479D6}">
      <dsp:nvSpPr>
        <dsp:cNvPr id="0" name=""/>
        <dsp:cNvSpPr/>
      </dsp:nvSpPr>
      <dsp:spPr>
        <a:xfrm>
          <a:off x="2303849" y="503754"/>
          <a:ext cx="4000274" cy="4000274"/>
        </a:xfrm>
        <a:custGeom>
          <a:avLst/>
          <a:gdLst/>
          <a:ahLst/>
          <a:cxnLst/>
          <a:rect l="0" t="0" r="0" b="0"/>
          <a:pathLst>
            <a:path>
              <a:moveTo>
                <a:pt x="2245604" y="3985154"/>
              </a:moveTo>
              <a:arcTo wR="2000137" hR="2000137" stAng="4977036" swAng="845929"/>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6F37B80F-58DB-4292-BA27-F2C34F018F0C}">
      <dsp:nvSpPr>
        <dsp:cNvPr id="0" name=""/>
        <dsp:cNvSpPr/>
      </dsp:nvSpPr>
      <dsp:spPr>
        <a:xfrm>
          <a:off x="2358115" y="3621393"/>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Surprise test </a:t>
          </a:r>
        </a:p>
        <a:p>
          <a:pPr marL="0" lvl="0" indent="0" algn="ctr" defTabSz="622300">
            <a:lnSpc>
              <a:spcPct val="90000"/>
            </a:lnSpc>
            <a:spcBef>
              <a:spcPct val="0"/>
            </a:spcBef>
            <a:spcAft>
              <a:spcPct val="35000"/>
            </a:spcAft>
            <a:buNone/>
          </a:pPr>
          <a:r>
            <a:rPr lang="en-US" sz="1400" kern="1200"/>
            <a:t>4 marks</a:t>
          </a:r>
        </a:p>
      </dsp:txBody>
      <dsp:txXfrm>
        <a:off x="2406994" y="3670272"/>
        <a:ext cx="1442682" cy="903528"/>
      </dsp:txXfrm>
    </dsp:sp>
    <dsp:sp modelId="{402CB780-F1AA-4127-AE9A-9B3676B7B749}">
      <dsp:nvSpPr>
        <dsp:cNvPr id="0" name=""/>
        <dsp:cNvSpPr/>
      </dsp:nvSpPr>
      <dsp:spPr>
        <a:xfrm>
          <a:off x="2303849" y="503754"/>
          <a:ext cx="4000274" cy="4000274"/>
        </a:xfrm>
        <a:custGeom>
          <a:avLst/>
          <a:gdLst/>
          <a:ahLst/>
          <a:cxnLst/>
          <a:rect l="0" t="0" r="0" b="0"/>
          <a:pathLst>
            <a:path>
              <a:moveTo>
                <a:pt x="212200" y="2896704"/>
              </a:moveTo>
              <a:arcTo wR="2000137" hR="2000137" stAng="9202101" swAng="135974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C862B3C-0B13-460D-81F4-100EE59EF602}">
      <dsp:nvSpPr>
        <dsp:cNvPr id="0" name=""/>
        <dsp:cNvSpPr/>
      </dsp:nvSpPr>
      <dsp:spPr>
        <a:xfrm>
          <a:off x="1631522" y="1385172"/>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Assignment</a:t>
          </a:r>
        </a:p>
        <a:p>
          <a:pPr marL="0" lvl="0" indent="0" algn="ctr" defTabSz="622300">
            <a:lnSpc>
              <a:spcPct val="90000"/>
            </a:lnSpc>
            <a:spcBef>
              <a:spcPct val="0"/>
            </a:spcBef>
            <a:spcAft>
              <a:spcPct val="35000"/>
            </a:spcAft>
            <a:buNone/>
          </a:pPr>
          <a:r>
            <a:rPr lang="en-US" sz="1400" kern="1200"/>
            <a:t>10 marks</a:t>
          </a:r>
        </a:p>
      </dsp:txBody>
      <dsp:txXfrm>
        <a:off x="1680401" y="1434051"/>
        <a:ext cx="1442682" cy="903528"/>
      </dsp:txXfrm>
    </dsp:sp>
    <dsp:sp modelId="{66EF00C0-985C-4E09-9508-C02E90F1DCE9}">
      <dsp:nvSpPr>
        <dsp:cNvPr id="0" name=""/>
        <dsp:cNvSpPr/>
      </dsp:nvSpPr>
      <dsp:spPr>
        <a:xfrm>
          <a:off x="2303849" y="503754"/>
          <a:ext cx="4000274" cy="4000274"/>
        </a:xfrm>
        <a:custGeom>
          <a:avLst/>
          <a:gdLst/>
          <a:ahLst/>
          <a:cxnLst/>
          <a:rect l="0" t="0" r="0" b="0"/>
          <a:pathLst>
            <a:path>
              <a:moveTo>
                <a:pt x="481118" y="698933"/>
              </a:moveTo>
              <a:arcTo wR="2000137" hR="2000137" stAng="13235017" swAng="1211562"/>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46B13-93DE-43F5-9AD6-CA4FED0455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04B9FA-0F9C-4782-ACD6-0B8EEA5687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78853B-DCB8-47E3-BCE6-773A3C07026D}"/>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5" name="Footer Placeholder 4">
            <a:extLst>
              <a:ext uri="{FF2B5EF4-FFF2-40B4-BE49-F238E27FC236}">
                <a16:creationId xmlns:a16="http://schemas.microsoft.com/office/drawing/2014/main" id="{30F70475-453A-42F9-AA51-42EAF89BE1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F4614C-7B08-4AAC-BF7B-F3D394EE64DB}"/>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361386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29E4-704B-4A74-B23B-2E221C168D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50AB41-8645-42C3-ACEC-EF177D244D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804C93-BB01-4088-B4D9-C3813EA9251A}"/>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5" name="Footer Placeholder 4">
            <a:extLst>
              <a:ext uri="{FF2B5EF4-FFF2-40B4-BE49-F238E27FC236}">
                <a16:creationId xmlns:a16="http://schemas.microsoft.com/office/drawing/2014/main" id="{D17878E5-C26A-4918-9A56-D05D6E9396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4BA647-1E9D-4906-B21C-5CDE9CC3BA65}"/>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692879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F0A54-8919-473D-B03B-F3B8206C16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B50343-9FF2-4049-813C-24B5F18893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E5B02A-AD04-461F-A701-882F4D949322}"/>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5" name="Footer Placeholder 4">
            <a:extLst>
              <a:ext uri="{FF2B5EF4-FFF2-40B4-BE49-F238E27FC236}">
                <a16:creationId xmlns:a16="http://schemas.microsoft.com/office/drawing/2014/main" id="{AFA65155-EFF4-48AF-AE10-B7348B83F5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10DD16-676F-48E4-91D6-844CC7F5E4A4}"/>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1718700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6161D-AE4C-4B2B-97E1-D4790092C0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259A35-73E8-4465-A481-8345E68AF7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8ECE248-7211-4AD5-AEB4-AFE687EFDF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B2C3B2-CA7E-4239-BADA-7462415EB7A6}"/>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6" name="Footer Placeholder 5">
            <a:extLst>
              <a:ext uri="{FF2B5EF4-FFF2-40B4-BE49-F238E27FC236}">
                <a16:creationId xmlns:a16="http://schemas.microsoft.com/office/drawing/2014/main" id="{A979B1B7-BDDE-4C51-94BC-0A0E3032EF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62E1A0-B59B-4142-AB20-8CAB0E81F337}"/>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586199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D148-B23A-4815-A484-F98C22DA0F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39B243-9948-4DCE-98E1-735FF9F860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CB25CB-5298-42DE-88EE-69F8F15CDE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03351CB-279B-4A60-BE0D-6E924794D0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D13420-84CC-414B-A666-BB2402550B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753CB3-0582-4F96-8C77-993C1A6CBB96}"/>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8" name="Footer Placeholder 7">
            <a:extLst>
              <a:ext uri="{FF2B5EF4-FFF2-40B4-BE49-F238E27FC236}">
                <a16:creationId xmlns:a16="http://schemas.microsoft.com/office/drawing/2014/main" id="{9D9031E9-EFC8-4FEE-8DDD-E2AEBED26E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6C1616A-3122-4FF1-A2A9-F20620DFB2D2}"/>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2896174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2F929-AE00-4B36-BC5F-B27CF2087C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56AC8F6-084B-467E-AEED-898280CA6839}"/>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4" name="Footer Placeholder 3">
            <a:extLst>
              <a:ext uri="{FF2B5EF4-FFF2-40B4-BE49-F238E27FC236}">
                <a16:creationId xmlns:a16="http://schemas.microsoft.com/office/drawing/2014/main" id="{44BAF640-32DE-4D61-A597-89372BCCA9E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4C350E4-EC83-473C-8ADA-C36F7C8189FB}"/>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198967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071295-4656-499E-9235-EDF4C35C2030}"/>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3" name="Footer Placeholder 2">
            <a:extLst>
              <a:ext uri="{FF2B5EF4-FFF2-40B4-BE49-F238E27FC236}">
                <a16:creationId xmlns:a16="http://schemas.microsoft.com/office/drawing/2014/main" id="{5D8BE601-5B1F-499E-A089-876A49C010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DF4DBE7-22DA-4DF0-A00F-72102DA8892B}"/>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3047546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94B9-F48A-4AB4-BBA8-FDA0975CD9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9F6715-0FE2-42FA-B26A-17C7988C57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CD97B5-4FF2-4EF9-AC15-F23F7709AB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B3D44D-008E-4C9C-8243-323E649F2F8F}"/>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6" name="Footer Placeholder 5">
            <a:extLst>
              <a:ext uri="{FF2B5EF4-FFF2-40B4-BE49-F238E27FC236}">
                <a16:creationId xmlns:a16="http://schemas.microsoft.com/office/drawing/2014/main" id="{2AA7D4F2-90FF-4B59-B7A5-5ABA90F81C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44F2D4-8706-4501-A968-B6BBC23098D1}"/>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3816867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977A-302D-4F72-9B16-E7DD0FB820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4425CE-7BF6-415D-8548-C79441E15F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EF5C90-12F4-45E8-AB6C-1E8244A3E5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ABACFC-08C8-4431-AC1A-F13538DCFA99}"/>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6" name="Footer Placeholder 5">
            <a:extLst>
              <a:ext uri="{FF2B5EF4-FFF2-40B4-BE49-F238E27FC236}">
                <a16:creationId xmlns:a16="http://schemas.microsoft.com/office/drawing/2014/main" id="{0E29E2ED-1A37-4FED-B48B-46D992E9E8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40760A-69A5-4F0B-A54C-E182633BE902}"/>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1786720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06153-8B9D-4FDC-8B42-2A5C791AF7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7EECFC-2652-48AE-B393-4BA7A8FEFF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FA3B18-76AE-46AE-8ED4-46FE4C8449CA}"/>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5" name="Footer Placeholder 4">
            <a:extLst>
              <a:ext uri="{FF2B5EF4-FFF2-40B4-BE49-F238E27FC236}">
                <a16:creationId xmlns:a16="http://schemas.microsoft.com/office/drawing/2014/main" id="{2272BFE2-5C9B-462F-B1B2-7D9B056A71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0A3A90-1284-4EF9-8163-ABAD421CD347}"/>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131588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E5D2D8-AB67-4440-B717-D4A26C7F3C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833F26-A84C-444E-904E-79DDFE1638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E8318D-FC37-4046-8C21-57AFA3330B4F}"/>
              </a:ext>
            </a:extLst>
          </p:cNvPr>
          <p:cNvSpPr>
            <a:spLocks noGrp="1"/>
          </p:cNvSpPr>
          <p:nvPr>
            <p:ph type="dt" sz="half" idx="10"/>
          </p:nvPr>
        </p:nvSpPr>
        <p:spPr/>
        <p:txBody>
          <a:bodyPr/>
          <a:lstStyle/>
          <a:p>
            <a:fld id="{BFF84B88-F0E2-45F9-8247-F27E80A2866E}" type="datetimeFigureOut">
              <a:rPr lang="en-IN" smtClean="0"/>
              <a:t>15-06-2023</a:t>
            </a:fld>
            <a:endParaRPr lang="en-IN"/>
          </a:p>
        </p:txBody>
      </p:sp>
      <p:sp>
        <p:nvSpPr>
          <p:cNvPr id="5" name="Footer Placeholder 4">
            <a:extLst>
              <a:ext uri="{FF2B5EF4-FFF2-40B4-BE49-F238E27FC236}">
                <a16:creationId xmlns:a16="http://schemas.microsoft.com/office/drawing/2014/main" id="{D409CAAC-8982-4B09-B082-2C338A00B6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5521CE-5981-4D6E-A2D8-3954659556B0}"/>
              </a:ext>
            </a:extLst>
          </p:cNvPr>
          <p:cNvSpPr>
            <a:spLocks noGrp="1"/>
          </p:cNvSpPr>
          <p:nvPr>
            <p:ph type="sldNum" sz="quarter" idx="12"/>
          </p:nvPr>
        </p:nvSpPr>
        <p:spPr/>
        <p:txBody>
          <a:bodyPr/>
          <a:lstStyle/>
          <a:p>
            <a:fld id="{BE2CC4BC-2915-4AB3-A8A1-F2B9EEDB055E}" type="slidenum">
              <a:rPr lang="en-IN" smtClean="0"/>
              <a:t>‹#›</a:t>
            </a:fld>
            <a:endParaRPr lang="en-IN"/>
          </a:p>
        </p:txBody>
      </p:sp>
    </p:spTree>
    <p:extLst>
      <p:ext uri="{BB962C8B-B14F-4D97-AF65-F5344CB8AC3E}">
        <p14:creationId xmlns:p14="http://schemas.microsoft.com/office/powerpoint/2010/main" val="415018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85149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88AF3C-2FA0-4FF2-9188-EAE5A53ABF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51204E-30CB-4EE9-B448-32D4CE4D2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AAD987-726D-4046-83F9-D6AA786DCC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84B88-F0E2-45F9-8247-F27E80A2866E}" type="datetimeFigureOut">
              <a:rPr lang="en-IN" smtClean="0"/>
              <a:t>15-06-2023</a:t>
            </a:fld>
            <a:endParaRPr lang="en-IN"/>
          </a:p>
        </p:txBody>
      </p:sp>
      <p:sp>
        <p:nvSpPr>
          <p:cNvPr id="5" name="Footer Placeholder 4">
            <a:extLst>
              <a:ext uri="{FF2B5EF4-FFF2-40B4-BE49-F238E27FC236}">
                <a16:creationId xmlns:a16="http://schemas.microsoft.com/office/drawing/2014/main" id="{D002E11C-DD19-47FA-AB2B-E2638A81ED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828B79F-89C4-4B9A-B96B-BB1BA54BCB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2CC4BC-2915-4AB3-A8A1-F2B9EEDB055E}" type="slidenum">
              <a:rPr lang="en-IN" smtClean="0"/>
              <a:t>‹#›</a:t>
            </a:fld>
            <a:endParaRPr lang="en-IN"/>
          </a:p>
        </p:txBody>
      </p:sp>
    </p:spTree>
    <p:extLst>
      <p:ext uri="{BB962C8B-B14F-4D97-AF65-F5344CB8AC3E}">
        <p14:creationId xmlns:p14="http://schemas.microsoft.com/office/powerpoint/2010/main" val="2667244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1.xml"/><Relationship Id="rId7" Type="http://schemas.openxmlformats.org/officeDocument/2006/relationships/image" Target="../media/image10.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hyperlink" Target="http://www.phy.cuhk.edu.hk/djwang/teachlab/old%20material/Lecture%20notes/11QP_ch3.pdf" TargetMode="External"/><Relationship Id="rId2" Type="http://schemas.openxmlformats.org/officeDocument/2006/relationships/hyperlink" Target="https://en.wikipedia.org/wiki/Meissner_effect#:~:text=The%20Meissner%20effect%20(or%20Meissner,cooled%20below%20the%20critical%20temperature.&amp;text=The%20Meissner%20state%20breaks%20down,magnetic%20field%20is%20too%20strong."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0.jpeg"/><Relationship Id="rId4" Type="http://schemas.openxmlformats.org/officeDocument/2006/relationships/hyperlink" Target="https://www.electrical4u.com/meissner-effect/#:~:text=This%20effect%20of%20superconductivity%2C%20is,above%20magnet%20or%20vise%2Dversa."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Qt4MmiplvSs" TargetMode="External"/><Relationship Id="rId2" Type="http://schemas.openxmlformats.org/officeDocument/2006/relationships/hyperlink" Target="https://www.youtube.com/watch?v=iUETu0b-E1s"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2.bin"/><Relationship Id="rId1" Type="http://schemas.openxmlformats.org/officeDocument/2006/relationships/slideLayout" Target="../slideLayouts/slideLayout1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409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279561" y="1562755"/>
            <a:ext cx="8961316" cy="3810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 1 - 5</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Bachelor of Engineering (EE Branch) </a:t>
            </a:r>
          </a:p>
          <a:p>
            <a:pPr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Prepared by: Divya, Assistant Prof. Physics</a:t>
            </a: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AAC0423-873A-4B03-AB30-5F489B763804}"/>
              </a:ext>
            </a:extLst>
          </p:cNvPr>
          <p:cNvSpPr txBox="1"/>
          <p:nvPr/>
        </p:nvSpPr>
        <p:spPr>
          <a:xfrm>
            <a:off x="2413017" y="6085113"/>
            <a:ext cx="3303055" cy="400110"/>
          </a:xfrm>
          <a:prstGeom prst="rect">
            <a:avLst/>
          </a:prstGeom>
          <a:noFill/>
        </p:spPr>
        <p:txBody>
          <a:bodyPr wrap="square" rtlCol="0">
            <a:spAutoFit/>
          </a:bodyPr>
          <a:lstStyle/>
          <a:p>
            <a:r>
              <a:rPr lang="en-IN" sz="2000" b="1" dirty="0"/>
              <a:t>Superconductivity</a:t>
            </a: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2" name="Rectangle 1"/>
          <p:cNvSpPr/>
          <p:nvPr/>
        </p:nvSpPr>
        <p:spPr>
          <a:xfrm>
            <a:off x="1037230" y="743847"/>
            <a:ext cx="9730854" cy="5139869"/>
          </a:xfrm>
          <a:prstGeom prst="rect">
            <a:avLst/>
          </a:prstGeom>
        </p:spPr>
        <p:txBody>
          <a:bodyPr wrap="square">
            <a:spAutoFit/>
          </a:bodyPr>
          <a:lstStyle/>
          <a:p>
            <a:r>
              <a:rPr lang="en-IN" sz="4400" b="1" dirty="0"/>
              <a:t>COURSE OBJECTIVES</a:t>
            </a:r>
            <a:endParaRPr lang="en-US" sz="4400" dirty="0"/>
          </a:p>
          <a:p>
            <a:r>
              <a:rPr lang="en-IN" sz="4400" dirty="0"/>
              <a:t> </a:t>
            </a:r>
            <a:endParaRPr lang="en-US" sz="4400" dirty="0"/>
          </a:p>
          <a:p>
            <a:pPr marL="285750" lvl="0" indent="-285750" algn="just">
              <a:buFont typeface="Wingdings" pitchFamily="2" charset="2"/>
              <a:buChar char="v"/>
            </a:pPr>
            <a:r>
              <a:rPr lang="en-IN" sz="2400" dirty="0"/>
              <a:t>The course is designed to make the students industry ready to contribute in the growing demand of the industry at local, national and international level.</a:t>
            </a:r>
            <a:endParaRPr lang="en-US" sz="2400" dirty="0"/>
          </a:p>
          <a:p>
            <a:pPr marL="285750" lvl="0" indent="-285750" algn="just">
              <a:buFont typeface="Wingdings" pitchFamily="2" charset="2"/>
              <a:buChar char="v"/>
            </a:pPr>
            <a:r>
              <a:rPr lang="en-IN" sz="2400" dirty="0"/>
              <a:t>It will make the students competent to understand basic concepts and applications of advanced engineering physics and apply its principles in their respective fields at global platform.</a:t>
            </a:r>
            <a:endParaRPr lang="en-US" sz="2400" dirty="0"/>
          </a:p>
          <a:p>
            <a:pPr marL="285750" lvl="0" indent="-285750" algn="just">
              <a:buFont typeface="Wingdings" pitchFamily="2" charset="2"/>
              <a:buChar char="v"/>
            </a:pPr>
            <a:r>
              <a:rPr lang="en-IN" sz="2400" dirty="0"/>
              <a:t>It will enhance the skill level of the students and shall make them preferred choice for getting employment in industry and research labs.</a:t>
            </a:r>
            <a:endParaRPr lang="en-US" sz="2400" dirty="0"/>
          </a:p>
          <a:p>
            <a:pPr marL="285750" lvl="0" indent="-285750" algn="just">
              <a:buFont typeface="Wingdings" pitchFamily="2" charset="2"/>
              <a:buChar char="v"/>
            </a:pPr>
            <a:r>
              <a:rPr lang="en-IN" sz="2400" dirty="0"/>
              <a:t>It will give thorough knowledge of the discipline to enable students to disseminate knowledge in pursuing excellence in academic areas.</a:t>
            </a:r>
            <a:endParaRPr lang="en-US" sz="2400" dirty="0"/>
          </a:p>
        </p:txBody>
      </p:sp>
      <p:pic>
        <p:nvPicPr>
          <p:cNvPr id="3" name="Picture 4">
            <a:extLst>
              <a:ext uri="{FF2B5EF4-FFF2-40B4-BE49-F238E27FC236}">
                <a16:creationId xmlns:a16="http://schemas.microsoft.com/office/drawing/2014/main" id="{C74C9E49-0CCD-4E8D-9E9A-95096C88A4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464370722"/>
              </p:ext>
            </p:extLst>
          </p:nvPr>
        </p:nvGraphicFramePr>
        <p:xfrm>
          <a:off x="196322" y="1952963"/>
          <a:ext cx="5573857" cy="4242884"/>
        </p:xfrm>
        <a:graphic>
          <a:graphicData uri="http://schemas.openxmlformats.org/drawingml/2006/table">
            <a:tbl>
              <a:tblPr firstRow="1" firstCol="1" bandRow="1">
                <a:tableStyleId>{5940675A-B579-460E-94D1-54222C63F5DA}</a:tableStyleId>
              </a:tblPr>
              <a:tblGrid>
                <a:gridCol w="841598">
                  <a:extLst>
                    <a:ext uri="{9D8B030D-6E8A-4147-A177-3AD203B41FA5}">
                      <a16:colId xmlns:a16="http://schemas.microsoft.com/office/drawing/2014/main" val="20000"/>
                    </a:ext>
                  </a:extLst>
                </a:gridCol>
                <a:gridCol w="3715850">
                  <a:extLst>
                    <a:ext uri="{9D8B030D-6E8A-4147-A177-3AD203B41FA5}">
                      <a16:colId xmlns:a16="http://schemas.microsoft.com/office/drawing/2014/main" val="20001"/>
                    </a:ext>
                  </a:extLst>
                </a:gridCol>
                <a:gridCol w="1016409">
                  <a:extLst>
                    <a:ext uri="{9D8B030D-6E8A-4147-A177-3AD203B41FA5}">
                      <a16:colId xmlns:a16="http://schemas.microsoft.com/office/drawing/2014/main" val="20002"/>
                    </a:ext>
                  </a:extLst>
                </a:gridCol>
              </a:tblGrid>
              <a:tr h="981704">
                <a:tc>
                  <a:txBody>
                    <a:bodyPr/>
                    <a:lstStyle/>
                    <a:p>
                      <a:pPr marL="0" marR="0">
                        <a:lnSpc>
                          <a:spcPct val="115000"/>
                        </a:lnSpc>
                        <a:spcBef>
                          <a:spcPts val="0"/>
                        </a:spcBef>
                        <a:spcAft>
                          <a:spcPts val="0"/>
                        </a:spcAft>
                      </a:pPr>
                      <a:r>
                        <a:rPr lang="en-US" sz="1400" b="0" dirty="0">
                          <a:effectLst/>
                        </a:rPr>
                        <a:t>CO Number</a:t>
                      </a:r>
                      <a:endParaRPr lang="en-US" sz="14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400" b="0" dirty="0">
                          <a:effectLst/>
                        </a:rPr>
                        <a:t>Title </a:t>
                      </a:r>
                    </a:p>
                    <a:p>
                      <a:pPr marL="0" marR="0">
                        <a:lnSpc>
                          <a:spcPct val="115000"/>
                        </a:lnSpc>
                        <a:spcBef>
                          <a:spcPts val="0"/>
                        </a:spcBef>
                        <a:spcAft>
                          <a:spcPts val="0"/>
                        </a:spcAft>
                      </a:pPr>
                      <a:r>
                        <a:rPr lang="en-IN" sz="1400" kern="1200" dirty="0">
                          <a:solidFill>
                            <a:schemeClr val="tx1"/>
                          </a:solidFill>
                          <a:effectLst/>
                          <a:latin typeface="+mn-lt"/>
                          <a:ea typeface="+mn-ea"/>
                          <a:cs typeface="+mn-cs"/>
                        </a:rPr>
                        <a:t>On completion of this course, the students are expected to learn</a:t>
                      </a:r>
                      <a:endParaRPr lang="en-US" sz="14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400" b="0" dirty="0">
                          <a:effectLst/>
                        </a:rPr>
                        <a:t>Level </a:t>
                      </a:r>
                      <a:endParaRPr lang="en-US" sz="14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931083">
                <a:tc>
                  <a:txBody>
                    <a:bodyPr/>
                    <a:lstStyle/>
                    <a:p>
                      <a:pPr marL="0" marR="0">
                        <a:lnSpc>
                          <a:spcPct val="115000"/>
                        </a:lnSpc>
                        <a:spcBef>
                          <a:spcPts val="0"/>
                        </a:spcBef>
                        <a:spcAft>
                          <a:spcPts val="0"/>
                        </a:spcAft>
                      </a:pPr>
                      <a:r>
                        <a:rPr lang="en-US" sz="1400" b="1" dirty="0">
                          <a:solidFill>
                            <a:schemeClr val="tx1"/>
                          </a:solidFill>
                          <a:effectLst/>
                        </a:rPr>
                        <a:t>CO1</a:t>
                      </a:r>
                      <a:endParaRPr lang="en-US" sz="1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400" kern="1200" dirty="0">
                          <a:solidFill>
                            <a:schemeClr val="tx1"/>
                          </a:solidFill>
                          <a:effectLst/>
                          <a:latin typeface="+mn-lt"/>
                          <a:ea typeface="+mn-ea"/>
                          <a:cs typeface="+mn-cs"/>
                        </a:rPr>
                        <a:t>To identify various components of laser and optical fibers and justify their importance and applications in different fields of science and technology</a:t>
                      </a:r>
                    </a:p>
                  </a:txBody>
                  <a:tcPr marL="68580" marR="68580" marT="0" marB="0" anchor="ctr"/>
                </a:tc>
                <a:tc>
                  <a:txBody>
                    <a:bodyPr/>
                    <a:lstStyle/>
                    <a:p>
                      <a:pPr marL="0" marR="0">
                        <a:lnSpc>
                          <a:spcPct val="115000"/>
                        </a:lnSpc>
                        <a:spcBef>
                          <a:spcPts val="0"/>
                        </a:spcBef>
                        <a:spcAft>
                          <a:spcPts val="0"/>
                        </a:spcAft>
                      </a:pPr>
                      <a:r>
                        <a:rPr lang="en-US" sz="1400" b="1" dirty="0">
                          <a:solidFill>
                            <a:schemeClr val="tx1"/>
                          </a:solidFill>
                          <a:effectLst/>
                        </a:rPr>
                        <a:t>Understand</a:t>
                      </a:r>
                    </a:p>
                    <a:p>
                      <a:pPr marL="0" marR="0">
                        <a:lnSpc>
                          <a:spcPct val="115000"/>
                        </a:lnSpc>
                        <a:spcBef>
                          <a:spcPts val="0"/>
                        </a:spcBef>
                        <a:spcAft>
                          <a:spcPts val="0"/>
                        </a:spcAft>
                      </a:pPr>
                      <a:r>
                        <a:rPr lang="en-US" sz="1400" b="1" dirty="0">
                          <a:solidFill>
                            <a:schemeClr val="tx1"/>
                          </a:solidFill>
                          <a:effectLst/>
                        </a:rPr>
                        <a:t>Applying</a:t>
                      </a:r>
                    </a:p>
                    <a:p>
                      <a:pPr marL="0" marR="0">
                        <a:lnSpc>
                          <a:spcPct val="115000"/>
                        </a:lnSpc>
                        <a:spcBef>
                          <a:spcPts val="0"/>
                        </a:spcBef>
                        <a:spcAft>
                          <a:spcPts val="0"/>
                        </a:spcAft>
                      </a:pPr>
                      <a:r>
                        <a:rPr lang="en-US" sz="1400" b="1" dirty="0">
                          <a:solidFill>
                            <a:schemeClr val="tx1"/>
                          </a:solidFill>
                          <a:effectLst/>
                        </a:rPr>
                        <a:t> </a:t>
                      </a:r>
                      <a:endParaRPr lang="en-US" sz="1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399014">
                <a:tc>
                  <a:txBody>
                    <a:bodyPr/>
                    <a:lstStyle/>
                    <a:p>
                      <a:pPr marL="0" marR="0">
                        <a:lnSpc>
                          <a:spcPct val="115000"/>
                        </a:lnSpc>
                        <a:spcBef>
                          <a:spcPts val="0"/>
                        </a:spcBef>
                        <a:spcAft>
                          <a:spcPts val="0"/>
                        </a:spcAft>
                      </a:pPr>
                      <a:r>
                        <a:rPr lang="en-US" sz="1400" b="0" dirty="0">
                          <a:effectLst/>
                          <a:latin typeface="+mn-lt"/>
                        </a:rPr>
                        <a:t>CO2</a:t>
                      </a:r>
                      <a:endParaRPr lang="en-US" sz="1400" b="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400" kern="1200" dirty="0">
                          <a:solidFill>
                            <a:schemeClr val="tx1"/>
                          </a:solidFill>
                          <a:effectLst/>
                          <a:latin typeface="+mn-lt"/>
                          <a:ea typeface="+mn-ea"/>
                          <a:cs typeface="+mn-cs"/>
                        </a:rPr>
                        <a:t>The basic concepts of semiconductor physics, illustrate the working of various semiconductor components and use its principles in design of optoelectronic devices and its applications.</a:t>
                      </a:r>
                    </a:p>
                    <a:p>
                      <a:pPr marL="0" marR="0" algn="just">
                        <a:lnSpc>
                          <a:spcPct val="115000"/>
                        </a:lnSpc>
                        <a:spcBef>
                          <a:spcPts val="0"/>
                        </a:spcBef>
                        <a:spcAft>
                          <a:spcPts val="0"/>
                        </a:spcAft>
                      </a:pPr>
                      <a:endParaRPr lang="en-US" sz="1400" b="0" dirty="0">
                        <a:solidFill>
                          <a:schemeClr val="tx1"/>
                        </a:solidFill>
                        <a:effectLst/>
                        <a:latin typeface="+mn-lt"/>
                        <a:ea typeface="Cambria"/>
                        <a:cs typeface="Times New Roman"/>
                      </a:endParaRPr>
                    </a:p>
                  </a:txBody>
                  <a:tcPr marL="68580" marR="68580" marT="0" marB="0" anchor="ctr"/>
                </a:tc>
                <a:tc>
                  <a:txBody>
                    <a:bodyPr/>
                    <a:lstStyle/>
                    <a:p>
                      <a:pPr marL="0" marR="0">
                        <a:lnSpc>
                          <a:spcPct val="115000"/>
                        </a:lnSpc>
                        <a:spcBef>
                          <a:spcPts val="0"/>
                        </a:spcBef>
                        <a:spcAft>
                          <a:spcPts val="0"/>
                        </a:spcAft>
                      </a:pPr>
                      <a:r>
                        <a:rPr lang="en-US" sz="1400" b="0" dirty="0">
                          <a:effectLst/>
                          <a:latin typeface="+mn-lt"/>
                        </a:rPr>
                        <a:t>Understand</a:t>
                      </a:r>
                    </a:p>
                    <a:p>
                      <a:pPr marL="0" marR="0" indent="0" algn="l" defTabSz="914400" rtl="0" eaLnBrk="1" fontAlgn="auto" latinLnBrk="0" hangingPunct="1">
                        <a:lnSpc>
                          <a:spcPct val="115000"/>
                        </a:lnSpc>
                        <a:spcBef>
                          <a:spcPts val="0"/>
                        </a:spcBef>
                        <a:spcAft>
                          <a:spcPts val="0"/>
                        </a:spcAft>
                        <a:buClrTx/>
                        <a:buSzTx/>
                        <a:buFontTx/>
                        <a:buNone/>
                        <a:tabLst/>
                        <a:defRPr/>
                      </a:pPr>
                      <a:r>
                        <a:rPr lang="en-US" sz="14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r>
                        <a:rPr lang="en-US" sz="14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931083">
                <a:tc>
                  <a:txBody>
                    <a:bodyPr/>
                    <a:lstStyle/>
                    <a:p>
                      <a:pPr marL="0" marR="0">
                        <a:lnSpc>
                          <a:spcPct val="115000"/>
                        </a:lnSpc>
                        <a:spcBef>
                          <a:spcPts val="0"/>
                        </a:spcBef>
                        <a:spcAft>
                          <a:spcPts val="0"/>
                        </a:spcAft>
                      </a:pPr>
                      <a:r>
                        <a:rPr lang="en-US" sz="1400" b="1" dirty="0">
                          <a:solidFill>
                            <a:srgbClr val="C00000"/>
                          </a:solidFill>
                          <a:effectLst/>
                          <a:latin typeface="+mn-lt"/>
                        </a:rPr>
                        <a:t>CO3</a:t>
                      </a:r>
                      <a:endParaRPr lang="en-US" sz="1400" b="1" dirty="0">
                        <a:solidFill>
                          <a:srgbClr val="C00000"/>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400" b="1" kern="1200" dirty="0">
                          <a:solidFill>
                            <a:srgbClr val="C00000"/>
                          </a:solidFill>
                          <a:effectLst/>
                          <a:latin typeface="+mn-lt"/>
                          <a:ea typeface="+mn-ea"/>
                          <a:cs typeface="+mn-cs"/>
                        </a:rPr>
                        <a:t>To understand the principles of superconductivity and their applications. To illustrate the propagation of </a:t>
                      </a:r>
                      <a:r>
                        <a:rPr lang="en-US" sz="1400" b="1" kern="1200" dirty="0" err="1">
                          <a:solidFill>
                            <a:srgbClr val="C00000"/>
                          </a:solidFill>
                          <a:effectLst/>
                          <a:latin typeface="+mn-lt"/>
                          <a:ea typeface="+mn-ea"/>
                          <a:cs typeface="+mn-cs"/>
                        </a:rPr>
                        <a:t>em</a:t>
                      </a:r>
                      <a:r>
                        <a:rPr lang="en-US" sz="1400" b="1" kern="1200" dirty="0">
                          <a:solidFill>
                            <a:srgbClr val="C00000"/>
                          </a:solidFill>
                          <a:effectLst/>
                          <a:latin typeface="+mn-lt"/>
                          <a:ea typeface="+mn-ea"/>
                          <a:cs typeface="+mn-cs"/>
                        </a:rPr>
                        <a:t> waves.</a:t>
                      </a:r>
                    </a:p>
                  </a:txBody>
                  <a:tcPr marL="68580" marR="68580" marT="0" marB="0" anchor="ctr"/>
                </a:tc>
                <a:tc>
                  <a:txBody>
                    <a:bodyPr/>
                    <a:lstStyle/>
                    <a:p>
                      <a:pPr marL="0" marR="0">
                        <a:lnSpc>
                          <a:spcPct val="115000"/>
                        </a:lnSpc>
                        <a:spcBef>
                          <a:spcPts val="0"/>
                        </a:spcBef>
                        <a:spcAft>
                          <a:spcPts val="0"/>
                        </a:spcAft>
                      </a:pPr>
                      <a:r>
                        <a:rPr lang="en-US" sz="1400" b="1" dirty="0">
                          <a:solidFill>
                            <a:srgbClr val="C00000"/>
                          </a:solidFill>
                          <a:effectLst/>
                          <a:latin typeface="+mn-lt"/>
                        </a:rPr>
                        <a:t>Understand</a:t>
                      </a:r>
                    </a:p>
                    <a:p>
                      <a:pPr marL="0" marR="0" indent="0" algn="l" defTabSz="914400" rtl="0" eaLnBrk="1" fontAlgn="auto" latinLnBrk="0" hangingPunct="1">
                        <a:lnSpc>
                          <a:spcPct val="115000"/>
                        </a:lnSpc>
                        <a:spcBef>
                          <a:spcPts val="0"/>
                        </a:spcBef>
                        <a:spcAft>
                          <a:spcPts val="0"/>
                        </a:spcAft>
                        <a:buClrTx/>
                        <a:buSzTx/>
                        <a:buFontTx/>
                        <a:buNone/>
                        <a:tabLst/>
                        <a:defRPr/>
                      </a:pPr>
                      <a:r>
                        <a:rPr lang="en-US" sz="1400" b="1" dirty="0">
                          <a:solidFill>
                            <a:srgbClr val="C00000"/>
                          </a:solidFill>
                          <a:effectLst/>
                          <a:latin typeface="+mn-lt"/>
                        </a:rPr>
                        <a:t> 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400" b="1" dirty="0">
                        <a:solidFill>
                          <a:srgbClr val="C00000"/>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
        <p:nvSpPr>
          <p:cNvPr id="8" name="Rectangle 7"/>
          <p:cNvSpPr/>
          <p:nvPr/>
        </p:nvSpPr>
        <p:spPr>
          <a:xfrm>
            <a:off x="196322" y="1060692"/>
            <a:ext cx="4933210" cy="769441"/>
          </a:xfrm>
          <a:prstGeom prst="rect">
            <a:avLst/>
          </a:prstGeom>
        </p:spPr>
        <p:txBody>
          <a:bodyPr wrap="none">
            <a:spAutoFit/>
          </a:bodyPr>
          <a:lstStyle/>
          <a:p>
            <a:r>
              <a:rPr lang="en-IN" sz="4400" b="1" dirty="0"/>
              <a:t>COURSE OUTCOMES</a:t>
            </a:r>
            <a:endParaRPr lang="en-US" sz="4400" dirty="0"/>
          </a:p>
        </p:txBody>
      </p:sp>
      <p:sp>
        <p:nvSpPr>
          <p:cNvPr id="2" name="TextBox 1"/>
          <p:cNvSpPr txBox="1"/>
          <p:nvPr/>
        </p:nvSpPr>
        <p:spPr>
          <a:xfrm>
            <a:off x="7397910" y="6243430"/>
            <a:ext cx="3531476" cy="369332"/>
          </a:xfrm>
          <a:prstGeom prst="rect">
            <a:avLst/>
          </a:prstGeom>
          <a:noFill/>
        </p:spPr>
        <p:txBody>
          <a:bodyPr wrap="square" rtlCol="0">
            <a:spAutoFit/>
          </a:bodyPr>
          <a:lstStyle/>
          <a:p>
            <a:r>
              <a:rPr lang="en-US" dirty="0"/>
              <a:t>Fig. 1 Introduction [1]</a:t>
            </a:r>
          </a:p>
        </p:txBody>
      </p:sp>
      <p:pic>
        <p:nvPicPr>
          <p:cNvPr id="3" name="Picture 4">
            <a:extLst>
              <a:ext uri="{FF2B5EF4-FFF2-40B4-BE49-F238E27FC236}">
                <a16:creationId xmlns:a16="http://schemas.microsoft.com/office/drawing/2014/main" id="{6DC5A67B-FD3C-433C-920F-9C2FAD8FCC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luminum &quot;superatoms&quot; hint at a new type of superconducting materia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1261" y="1188278"/>
            <a:ext cx="5184774" cy="4705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735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E5748-AA9D-4460-A744-675D12CB3F13}"/>
              </a:ext>
            </a:extLst>
          </p:cNvPr>
          <p:cNvSpPr>
            <a:spLocks noGrp="1"/>
          </p:cNvSpPr>
          <p:nvPr>
            <p:ph type="title"/>
          </p:nvPr>
        </p:nvSpPr>
        <p:spPr/>
        <p:txBody>
          <a:bodyPr/>
          <a:lstStyle/>
          <a:p>
            <a:pPr algn="ctr"/>
            <a:r>
              <a:rPr lang="en-US" b="1" dirty="0">
                <a:latin typeface="+mn-lt"/>
              </a:rPr>
              <a:t>Content</a:t>
            </a:r>
            <a:endParaRPr lang="en-IN" b="1" dirty="0">
              <a:latin typeface="+mn-lt"/>
            </a:endParaRPr>
          </a:p>
        </p:txBody>
      </p:sp>
      <p:sp>
        <p:nvSpPr>
          <p:cNvPr id="3" name="Content Placeholder 2">
            <a:extLst>
              <a:ext uri="{FF2B5EF4-FFF2-40B4-BE49-F238E27FC236}">
                <a16:creationId xmlns:a16="http://schemas.microsoft.com/office/drawing/2014/main" id="{D7F743FB-FFEF-4357-93A4-B2ECE0AEDAD0}"/>
              </a:ext>
            </a:extLst>
          </p:cNvPr>
          <p:cNvSpPr>
            <a:spLocks noGrp="1"/>
          </p:cNvSpPr>
          <p:nvPr>
            <p:ph idx="1"/>
          </p:nvPr>
        </p:nvSpPr>
        <p:spPr/>
        <p:txBody>
          <a:bodyPr/>
          <a:lstStyle/>
          <a:p>
            <a:endParaRPr lang="en-US" dirty="0"/>
          </a:p>
          <a:p>
            <a:endParaRPr lang="en-US" dirty="0"/>
          </a:p>
          <a:p>
            <a:r>
              <a:rPr lang="en-US" dirty="0" err="1"/>
              <a:t>Meissner</a:t>
            </a:r>
            <a:r>
              <a:rPr lang="en-US" dirty="0"/>
              <a:t> effect</a:t>
            </a:r>
          </a:p>
          <a:p>
            <a:r>
              <a:rPr lang="en-US" dirty="0"/>
              <a:t>Effect of magnetic field on superconductors.</a:t>
            </a:r>
            <a:endParaRPr lang="en-IN" dirty="0"/>
          </a:p>
        </p:txBody>
      </p:sp>
      <p:pic>
        <p:nvPicPr>
          <p:cNvPr id="5" name="Picture 4">
            <a:extLst>
              <a:ext uri="{FF2B5EF4-FFF2-40B4-BE49-F238E27FC236}">
                <a16:creationId xmlns:a16="http://schemas.microsoft.com/office/drawing/2014/main" id="{F06E1B14-0E12-446B-921F-5BE39F1CBF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F1BADC4-EF1A-4B1B-BCB3-BCA0E37783A3}"/>
              </a:ext>
            </a:extLst>
          </p:cNvPr>
          <p:cNvPicPr>
            <a:picLocks noChangeAspect="1"/>
          </p:cNvPicPr>
          <p:nvPr/>
        </p:nvPicPr>
        <p:blipFill>
          <a:blip r:embed="rId3"/>
          <a:stretch>
            <a:fillRect/>
          </a:stretch>
        </p:blipFill>
        <p:spPr>
          <a:xfrm>
            <a:off x="8894921" y="6443316"/>
            <a:ext cx="3019846" cy="400106"/>
          </a:xfrm>
          <a:prstGeom prst="rect">
            <a:avLst/>
          </a:prstGeom>
        </p:spPr>
      </p:pic>
    </p:spTree>
    <p:extLst>
      <p:ext uri="{BB962C8B-B14F-4D97-AF65-F5344CB8AC3E}">
        <p14:creationId xmlns:p14="http://schemas.microsoft.com/office/powerpoint/2010/main" val="330195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317D6-8375-4FAD-BC39-44C944A14D56}"/>
              </a:ext>
            </a:extLst>
          </p:cNvPr>
          <p:cNvSpPr>
            <a:spLocks noGrp="1"/>
          </p:cNvSpPr>
          <p:nvPr>
            <p:ph type="title"/>
          </p:nvPr>
        </p:nvSpPr>
        <p:spPr/>
        <p:txBody>
          <a:bodyPr/>
          <a:lstStyle/>
          <a:p>
            <a:pPr algn="ctr"/>
            <a:r>
              <a:rPr lang="en-US" b="1" dirty="0">
                <a:latin typeface="+mn-lt"/>
              </a:rPr>
              <a:t>Perfect diamagnet</a:t>
            </a:r>
            <a:endParaRPr lang="en-IN" b="1" dirty="0">
              <a:latin typeface="+mn-lt"/>
            </a:endParaRPr>
          </a:p>
        </p:txBody>
      </p:sp>
      <p:sp>
        <p:nvSpPr>
          <p:cNvPr id="3" name="Content Placeholder 2">
            <a:extLst>
              <a:ext uri="{FF2B5EF4-FFF2-40B4-BE49-F238E27FC236}">
                <a16:creationId xmlns:a16="http://schemas.microsoft.com/office/drawing/2014/main" id="{44C08079-17FF-4E7F-97A9-96336EA17232}"/>
              </a:ext>
            </a:extLst>
          </p:cNvPr>
          <p:cNvSpPr>
            <a:spLocks noGrp="1"/>
          </p:cNvSpPr>
          <p:nvPr>
            <p:ph idx="1"/>
          </p:nvPr>
        </p:nvSpPr>
        <p:spPr/>
        <p:txBody>
          <a:bodyPr/>
          <a:lstStyle/>
          <a:p>
            <a:pPr algn="just"/>
            <a:r>
              <a:rPr lang="en-IN" sz="2400" dirty="0">
                <a:effectLst/>
                <a:latin typeface="Calibri" panose="020F0502020204030204" pitchFamily="34" charset="0"/>
                <a:ea typeface="Calibri" panose="020F0502020204030204" pitchFamily="34" charset="0"/>
                <a:cs typeface="Times New Roman" panose="02020603050405020304" pitchFamily="18" charset="0"/>
              </a:rPr>
              <a:t>If a conductor already had a steady magnetic field through it and was then cooled through the transition to a zero- resistance state, becoming a perfect diamagnet, the magnetic field would be expected to stay the same.</a:t>
            </a:r>
          </a:p>
          <a:p>
            <a:endParaRPr lang="en-IN" dirty="0"/>
          </a:p>
        </p:txBody>
      </p:sp>
      <p:pic>
        <p:nvPicPr>
          <p:cNvPr id="6" name="Picture 5">
            <a:extLst>
              <a:ext uri="{FF2B5EF4-FFF2-40B4-BE49-F238E27FC236}">
                <a16:creationId xmlns:a16="http://schemas.microsoft.com/office/drawing/2014/main" id="{91F1103A-AE3A-4D1A-93BA-44C6537C84C7}"/>
              </a:ext>
            </a:extLst>
          </p:cNvPr>
          <p:cNvPicPr/>
          <p:nvPr/>
        </p:nvPicPr>
        <p:blipFill>
          <a:blip r:embed="rId2"/>
          <a:stretch>
            <a:fillRect/>
          </a:stretch>
        </p:blipFill>
        <p:spPr>
          <a:xfrm>
            <a:off x="6942101" y="3131874"/>
            <a:ext cx="3671667" cy="2747962"/>
          </a:xfrm>
          <a:prstGeom prst="rect">
            <a:avLst/>
          </a:prstGeom>
        </p:spPr>
      </p:pic>
      <p:sp>
        <p:nvSpPr>
          <p:cNvPr id="7" name="TextBox 6">
            <a:extLst>
              <a:ext uri="{FF2B5EF4-FFF2-40B4-BE49-F238E27FC236}">
                <a16:creationId xmlns:a16="http://schemas.microsoft.com/office/drawing/2014/main" id="{3FCA8912-F273-4A9F-8993-1B9080845D74}"/>
              </a:ext>
            </a:extLst>
          </p:cNvPr>
          <p:cNvSpPr txBox="1"/>
          <p:nvPr/>
        </p:nvSpPr>
        <p:spPr>
          <a:xfrm>
            <a:off x="8554278" y="5879836"/>
            <a:ext cx="914400" cy="369332"/>
          </a:xfrm>
          <a:prstGeom prst="rect">
            <a:avLst/>
          </a:prstGeom>
          <a:noFill/>
        </p:spPr>
        <p:txBody>
          <a:bodyPr wrap="square" rtlCol="0">
            <a:spAutoFit/>
          </a:bodyPr>
          <a:lstStyle/>
          <a:p>
            <a:r>
              <a:rPr lang="en-US" dirty="0"/>
              <a:t>Fig.3</a:t>
            </a:r>
            <a:endParaRPr lang="en-IN" dirty="0"/>
          </a:p>
        </p:txBody>
      </p:sp>
      <p:pic>
        <p:nvPicPr>
          <p:cNvPr id="9" name="Picture 4">
            <a:extLst>
              <a:ext uri="{FF2B5EF4-FFF2-40B4-BE49-F238E27FC236}">
                <a16:creationId xmlns:a16="http://schemas.microsoft.com/office/drawing/2014/main" id="{387E1E93-B0E0-4FD9-9621-46775B61BE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66BEA19-93A9-4570-8A41-7A65AC84C5DC}"/>
              </a:ext>
            </a:extLst>
          </p:cNvPr>
          <p:cNvPicPr>
            <a:picLocks noChangeAspect="1"/>
          </p:cNvPicPr>
          <p:nvPr/>
        </p:nvPicPr>
        <p:blipFill>
          <a:blip r:embed="rId4"/>
          <a:stretch>
            <a:fillRect/>
          </a:stretch>
        </p:blipFill>
        <p:spPr>
          <a:xfrm>
            <a:off x="8894921" y="6443316"/>
            <a:ext cx="3019846" cy="400106"/>
          </a:xfrm>
          <a:prstGeom prst="rect">
            <a:avLst/>
          </a:prstGeom>
        </p:spPr>
      </p:pic>
    </p:spTree>
    <p:extLst>
      <p:ext uri="{BB962C8B-B14F-4D97-AF65-F5344CB8AC3E}">
        <p14:creationId xmlns:p14="http://schemas.microsoft.com/office/powerpoint/2010/main" val="3716001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67F62D-2124-4E20-B2FD-A5BEFD8C3DCD}"/>
              </a:ext>
            </a:extLst>
          </p:cNvPr>
          <p:cNvSpPr>
            <a:spLocks noGrp="1"/>
          </p:cNvSpPr>
          <p:nvPr>
            <p:ph idx="1"/>
          </p:nvPr>
        </p:nvSpPr>
        <p:spPr/>
        <p:txBody>
          <a:bodyPr>
            <a:normAutofit/>
          </a:bodyPr>
          <a:lstStyle/>
          <a:p>
            <a:pPr algn="just"/>
            <a:r>
              <a:rPr lang="en-IN" sz="2400" dirty="0"/>
              <a:t>German researchers Walther Meissner and Robert </a:t>
            </a:r>
            <a:r>
              <a:rPr lang="en-IN" sz="2400" dirty="0" err="1"/>
              <a:t>Ochsenfeld</a:t>
            </a:r>
            <a:r>
              <a:rPr lang="en-IN" sz="2400" dirty="0"/>
              <a:t> (above) discovered that a superconducting material will repel a magnetic field (below graphic). A magnet moving by a conductor induces currents in the conductor. This is the principle on which the electric generator operates. But, in a superconductor the induced currents exactly mirror the field that would have otherwise penetrated the superconducting material - causing the magnet to be repulsed. This phenomenon is known as strong diamagnetism and is today often referred to as the "Meissner effect" (an eponym). The Meissner effect is so strong that a magnet can actually be levitated over a superconductive material.</a:t>
            </a:r>
          </a:p>
        </p:txBody>
      </p:sp>
      <p:sp>
        <p:nvSpPr>
          <p:cNvPr id="6" name="Title 1">
            <a:extLst>
              <a:ext uri="{FF2B5EF4-FFF2-40B4-BE49-F238E27FC236}">
                <a16:creationId xmlns:a16="http://schemas.microsoft.com/office/drawing/2014/main" id="{E45DA63C-7D49-4830-827A-9A98E9CE4C24}"/>
              </a:ext>
            </a:extLst>
          </p:cNvPr>
          <p:cNvSpPr>
            <a:spLocks noGrp="1"/>
          </p:cNvSpPr>
          <p:nvPr>
            <p:ph type="title"/>
          </p:nvPr>
        </p:nvSpPr>
        <p:spPr>
          <a:xfrm>
            <a:off x="838200" y="365125"/>
            <a:ext cx="10515600" cy="1325563"/>
          </a:xfrm>
        </p:spPr>
        <p:txBody>
          <a:bodyPr/>
          <a:lstStyle/>
          <a:p>
            <a:pPr algn="ctr"/>
            <a:r>
              <a:rPr lang="en-US" b="1" dirty="0">
                <a:latin typeface="+mn-lt"/>
              </a:rPr>
              <a:t>History</a:t>
            </a:r>
            <a:endParaRPr lang="en-IN" b="1" dirty="0">
              <a:latin typeface="+mn-lt"/>
            </a:endParaRPr>
          </a:p>
        </p:txBody>
      </p:sp>
      <p:pic>
        <p:nvPicPr>
          <p:cNvPr id="8" name="Picture 4">
            <a:extLst>
              <a:ext uri="{FF2B5EF4-FFF2-40B4-BE49-F238E27FC236}">
                <a16:creationId xmlns:a16="http://schemas.microsoft.com/office/drawing/2014/main" id="{4B1E17E0-71D3-4B5D-B136-340FC3B545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74F5F8D1-D1F6-4501-849D-884A7F0A7B24}"/>
              </a:ext>
            </a:extLst>
          </p:cNvPr>
          <p:cNvPicPr>
            <a:picLocks noChangeAspect="1"/>
          </p:cNvPicPr>
          <p:nvPr/>
        </p:nvPicPr>
        <p:blipFill>
          <a:blip r:embed="rId3"/>
          <a:stretch>
            <a:fillRect/>
          </a:stretch>
        </p:blipFill>
        <p:spPr>
          <a:xfrm>
            <a:off x="8894921" y="6443316"/>
            <a:ext cx="3019846" cy="400106"/>
          </a:xfrm>
          <a:prstGeom prst="rect">
            <a:avLst/>
          </a:prstGeom>
        </p:spPr>
      </p:pic>
    </p:spTree>
    <p:extLst>
      <p:ext uri="{BB962C8B-B14F-4D97-AF65-F5344CB8AC3E}">
        <p14:creationId xmlns:p14="http://schemas.microsoft.com/office/powerpoint/2010/main" val="1348259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400C-B560-46D3-9837-5EBE6BEA2D02}"/>
              </a:ext>
            </a:extLst>
          </p:cNvPr>
          <p:cNvSpPr>
            <a:spLocks noGrp="1"/>
          </p:cNvSpPr>
          <p:nvPr>
            <p:ph type="title"/>
          </p:nvPr>
        </p:nvSpPr>
        <p:spPr/>
        <p:txBody>
          <a:bodyPr/>
          <a:lstStyle/>
          <a:p>
            <a:pPr algn="ctr"/>
            <a:r>
              <a:rPr lang="en-US" b="1" dirty="0">
                <a:latin typeface="+mn-lt"/>
              </a:rPr>
              <a:t>Superconductor</a:t>
            </a:r>
            <a:endParaRPr lang="en-IN" b="1" dirty="0">
              <a:latin typeface="+mn-lt"/>
            </a:endParaRPr>
          </a:p>
        </p:txBody>
      </p:sp>
      <p:sp>
        <p:nvSpPr>
          <p:cNvPr id="3" name="Content Placeholder 2">
            <a:extLst>
              <a:ext uri="{FF2B5EF4-FFF2-40B4-BE49-F238E27FC236}">
                <a16:creationId xmlns:a16="http://schemas.microsoft.com/office/drawing/2014/main" id="{6DDEB559-75AC-4413-8891-8E90D0D403C7}"/>
              </a:ext>
            </a:extLst>
          </p:cNvPr>
          <p:cNvSpPr>
            <a:spLocks noGrp="1"/>
          </p:cNvSpPr>
          <p:nvPr>
            <p:ph idx="1"/>
          </p:nvPr>
        </p:nvSpPr>
        <p:spPr>
          <a:xfrm>
            <a:off x="838200" y="1825624"/>
            <a:ext cx="10515600" cy="4879975"/>
          </a:xfrm>
        </p:spPr>
        <p:txBody>
          <a:bodyPr/>
          <a:lstStyle/>
          <a:p>
            <a:pPr algn="just"/>
            <a:r>
              <a:rPr lang="en-IN" sz="2400" dirty="0">
                <a:effectLst/>
                <a:latin typeface="Calibri" panose="020F0502020204030204" pitchFamily="34" charset="0"/>
                <a:ea typeface="Calibri" panose="020F0502020204030204" pitchFamily="34" charset="0"/>
                <a:cs typeface="Times New Roman" panose="02020603050405020304" pitchFamily="18" charset="0"/>
              </a:rPr>
              <a:t>Remarkably, the magnetic </a:t>
            </a:r>
            <a:r>
              <a:rPr lang="en-IN" sz="2400" dirty="0" err="1">
                <a:effectLst/>
                <a:latin typeface="Calibri" panose="020F0502020204030204" pitchFamily="34" charset="0"/>
                <a:ea typeface="Calibri" panose="020F0502020204030204" pitchFamily="34" charset="0"/>
                <a:cs typeface="Times New Roman" panose="02020603050405020304" pitchFamily="18" charset="0"/>
              </a:rPr>
              <a:t>behavior</a:t>
            </a:r>
            <a:r>
              <a:rPr lang="en-IN" sz="2400" dirty="0">
                <a:effectLst/>
                <a:latin typeface="Calibri" panose="020F0502020204030204" pitchFamily="34" charset="0"/>
                <a:ea typeface="Calibri" panose="020F0502020204030204" pitchFamily="34" charset="0"/>
                <a:cs typeface="Times New Roman" panose="02020603050405020304" pitchFamily="18" charset="0"/>
              </a:rPr>
              <a:t> of a superconductor is distinct from perfect diamagnetism. It will actively exclude any magnetic field present when it makes the phase change to the superconducting state. </a:t>
            </a:r>
          </a:p>
          <a:p>
            <a:endParaRPr lang="en-IN" dirty="0"/>
          </a:p>
        </p:txBody>
      </p:sp>
      <p:pic>
        <p:nvPicPr>
          <p:cNvPr id="4" name="Picture 3">
            <a:extLst>
              <a:ext uri="{FF2B5EF4-FFF2-40B4-BE49-F238E27FC236}">
                <a16:creationId xmlns:a16="http://schemas.microsoft.com/office/drawing/2014/main" id="{0114ADE0-3D8E-4EBD-83CF-8477C8ADE17E}"/>
              </a:ext>
            </a:extLst>
          </p:cNvPr>
          <p:cNvPicPr/>
          <p:nvPr/>
        </p:nvPicPr>
        <p:blipFill>
          <a:blip r:embed="rId2"/>
          <a:stretch>
            <a:fillRect/>
          </a:stretch>
        </p:blipFill>
        <p:spPr>
          <a:xfrm>
            <a:off x="7487063" y="2908853"/>
            <a:ext cx="2796623" cy="2895600"/>
          </a:xfrm>
          <a:prstGeom prst="rect">
            <a:avLst/>
          </a:prstGeom>
        </p:spPr>
      </p:pic>
      <p:sp>
        <p:nvSpPr>
          <p:cNvPr id="5" name="TextBox 4">
            <a:extLst>
              <a:ext uri="{FF2B5EF4-FFF2-40B4-BE49-F238E27FC236}">
                <a16:creationId xmlns:a16="http://schemas.microsoft.com/office/drawing/2014/main" id="{FB1268B3-0FFD-4A93-A781-50F3CFD610C9}"/>
              </a:ext>
            </a:extLst>
          </p:cNvPr>
          <p:cNvSpPr txBox="1"/>
          <p:nvPr/>
        </p:nvSpPr>
        <p:spPr>
          <a:xfrm>
            <a:off x="8726557" y="5804453"/>
            <a:ext cx="914400" cy="369332"/>
          </a:xfrm>
          <a:prstGeom prst="rect">
            <a:avLst/>
          </a:prstGeom>
          <a:noFill/>
        </p:spPr>
        <p:txBody>
          <a:bodyPr wrap="square" rtlCol="0">
            <a:spAutoFit/>
          </a:bodyPr>
          <a:lstStyle/>
          <a:p>
            <a:r>
              <a:rPr lang="en-US" dirty="0"/>
              <a:t>Fig.4</a:t>
            </a:r>
            <a:endParaRPr lang="en-IN" dirty="0"/>
          </a:p>
        </p:txBody>
      </p:sp>
      <p:pic>
        <p:nvPicPr>
          <p:cNvPr id="7" name="Picture 4">
            <a:extLst>
              <a:ext uri="{FF2B5EF4-FFF2-40B4-BE49-F238E27FC236}">
                <a16:creationId xmlns:a16="http://schemas.microsoft.com/office/drawing/2014/main" id="{0CCC9E0A-B66F-4CAF-AD7D-580A6EAD8E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56A466EC-98BB-4DFE-96AC-4B672470F5D3}"/>
              </a:ext>
            </a:extLst>
          </p:cNvPr>
          <p:cNvPicPr>
            <a:picLocks noChangeAspect="1"/>
          </p:cNvPicPr>
          <p:nvPr/>
        </p:nvPicPr>
        <p:blipFill>
          <a:blip r:embed="rId4"/>
          <a:stretch>
            <a:fillRect/>
          </a:stretch>
        </p:blipFill>
        <p:spPr>
          <a:xfrm>
            <a:off x="8894921" y="6443316"/>
            <a:ext cx="3019846" cy="400106"/>
          </a:xfrm>
          <a:prstGeom prst="rect">
            <a:avLst/>
          </a:prstGeom>
        </p:spPr>
      </p:pic>
    </p:spTree>
    <p:extLst>
      <p:ext uri="{BB962C8B-B14F-4D97-AF65-F5344CB8AC3E}">
        <p14:creationId xmlns:p14="http://schemas.microsoft.com/office/powerpoint/2010/main" val="235688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2E6FD-7A84-47FB-8D96-52C97A937290}"/>
              </a:ext>
            </a:extLst>
          </p:cNvPr>
          <p:cNvSpPr>
            <a:spLocks noGrp="1"/>
          </p:cNvSpPr>
          <p:nvPr>
            <p:ph type="title"/>
          </p:nvPr>
        </p:nvSpPr>
        <p:spPr>
          <a:xfrm>
            <a:off x="971836" y="546049"/>
            <a:ext cx="10058400" cy="1024514"/>
          </a:xfrm>
        </p:spPr>
        <p:txBody>
          <a:bodyPr/>
          <a:lstStyle/>
          <a:p>
            <a:pPr algn="ctr"/>
            <a:r>
              <a:rPr lang="en-US" b="1" dirty="0" err="1">
                <a:latin typeface="+mn-lt"/>
              </a:rPr>
              <a:t>Meissner</a:t>
            </a:r>
            <a:r>
              <a:rPr lang="en-US" b="1" dirty="0">
                <a:latin typeface="+mn-lt"/>
              </a:rPr>
              <a:t> effect</a:t>
            </a:r>
            <a:endParaRPr lang="en-IN" b="1" dirty="0">
              <a:latin typeface="+mn-lt"/>
            </a:endParaRPr>
          </a:p>
        </p:txBody>
      </p:sp>
      <p:pic>
        <p:nvPicPr>
          <p:cNvPr id="4" name="Content Placeholder 3">
            <a:extLst>
              <a:ext uri="{FF2B5EF4-FFF2-40B4-BE49-F238E27FC236}">
                <a16:creationId xmlns:a16="http://schemas.microsoft.com/office/drawing/2014/main" id="{4180D20B-A595-48FA-9E4A-0EEF47D17768}"/>
              </a:ext>
            </a:extLst>
          </p:cNvPr>
          <p:cNvPicPr>
            <a:picLocks noGrp="1" noChangeAspect="1"/>
          </p:cNvPicPr>
          <p:nvPr>
            <p:ph idx="1"/>
          </p:nvPr>
        </p:nvPicPr>
        <p:blipFill>
          <a:blip r:embed="rId2"/>
          <a:stretch>
            <a:fillRect/>
          </a:stretch>
        </p:blipFill>
        <p:spPr>
          <a:xfrm>
            <a:off x="8074855" y="1955408"/>
            <a:ext cx="3868615" cy="3573195"/>
          </a:xfrm>
          <a:prstGeom prst="rect">
            <a:avLst/>
          </a:prstGeom>
        </p:spPr>
      </p:pic>
      <p:sp>
        <p:nvSpPr>
          <p:cNvPr id="8" name="TextBox 7">
            <a:extLst>
              <a:ext uri="{FF2B5EF4-FFF2-40B4-BE49-F238E27FC236}">
                <a16:creationId xmlns:a16="http://schemas.microsoft.com/office/drawing/2014/main" id="{B2C5E580-D347-41D4-A9B4-D0CB0BCF0527}"/>
              </a:ext>
            </a:extLst>
          </p:cNvPr>
          <p:cNvSpPr txBox="1"/>
          <p:nvPr/>
        </p:nvSpPr>
        <p:spPr>
          <a:xfrm>
            <a:off x="1268844" y="1777094"/>
            <a:ext cx="6098345" cy="4893647"/>
          </a:xfrm>
          <a:prstGeom prst="rect">
            <a:avLst/>
          </a:prstGeom>
          <a:noFill/>
        </p:spPr>
        <p:txBody>
          <a:bodyPr wrap="square" rtlCol="0">
            <a:spAutoFit/>
          </a:bodyPr>
          <a:lstStyle/>
          <a:p>
            <a:pPr marL="342900" indent="-342900" algn="just">
              <a:buClr>
                <a:srgbClr val="C00000"/>
              </a:buClr>
              <a:buFont typeface="Arial" panose="020B0604020202020204" pitchFamily="34" charset="0"/>
              <a:buChar char="•"/>
            </a:pPr>
            <a:r>
              <a:rPr lang="en-US" sz="2400" dirty="0"/>
              <a:t>When a superconducting material at temperature T&gt;Tc is placed in certain magnetic field, lines of magnetic induction pass through its body.</a:t>
            </a:r>
          </a:p>
          <a:p>
            <a:pPr marL="342900" indent="-342900" algn="just">
              <a:buClr>
                <a:srgbClr val="C00000"/>
              </a:buClr>
              <a:buFont typeface="Arial" panose="020B0604020202020204" pitchFamily="34" charset="0"/>
              <a:buChar char="•"/>
            </a:pPr>
            <a:endParaRPr lang="en-US" sz="2400" dirty="0"/>
          </a:p>
          <a:p>
            <a:pPr marL="342900" indent="-342900" algn="just">
              <a:buClr>
                <a:srgbClr val="C00000"/>
              </a:buClr>
              <a:buFont typeface="Arial" panose="020B0604020202020204" pitchFamily="34" charset="0"/>
              <a:buChar char="•"/>
            </a:pPr>
            <a:r>
              <a:rPr lang="en-US" sz="2400" dirty="0"/>
              <a:t>But when it is cooled below critical temperature i.e., T&lt;Tc, these lines of induction are pushed out of the superconducting body. </a:t>
            </a:r>
            <a:r>
              <a:rPr lang="en-US" sz="2400" dirty="0">
                <a:solidFill>
                  <a:schemeClr val="accent1"/>
                </a:solidFill>
              </a:rPr>
              <a:t>So inside the Superconducting body, B=0</a:t>
            </a:r>
            <a:r>
              <a:rPr lang="en-US" sz="2400" dirty="0"/>
              <a:t>. </a:t>
            </a:r>
          </a:p>
          <a:p>
            <a:pPr algn="just">
              <a:buClr>
                <a:srgbClr val="C00000"/>
              </a:buClr>
            </a:pPr>
            <a:r>
              <a:rPr lang="en-US" sz="2400" dirty="0"/>
              <a:t>     This is known as </a:t>
            </a:r>
            <a:r>
              <a:rPr lang="en-US" sz="2400" dirty="0">
                <a:solidFill>
                  <a:schemeClr val="accent1"/>
                </a:solidFill>
              </a:rPr>
              <a:t>Meissner Effect</a:t>
            </a:r>
          </a:p>
          <a:p>
            <a:pPr algn="just"/>
            <a:endParaRPr lang="en-US" sz="2400" dirty="0"/>
          </a:p>
          <a:p>
            <a:pPr algn="just"/>
            <a:endParaRPr lang="en-IN" sz="2400" dirty="0"/>
          </a:p>
        </p:txBody>
      </p:sp>
      <p:pic>
        <p:nvPicPr>
          <p:cNvPr id="9" name="Picture 4">
            <a:extLst>
              <a:ext uri="{FF2B5EF4-FFF2-40B4-BE49-F238E27FC236}">
                <a16:creationId xmlns:a16="http://schemas.microsoft.com/office/drawing/2014/main" id="{806FA9A5-99A7-432A-9578-2B95C28E3D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FD75DAF-F3DB-47AD-9A84-B55202BC7314}"/>
              </a:ext>
            </a:extLst>
          </p:cNvPr>
          <p:cNvPicPr>
            <a:picLocks noChangeAspect="1"/>
          </p:cNvPicPr>
          <p:nvPr/>
        </p:nvPicPr>
        <p:blipFill>
          <a:blip r:embed="rId4"/>
          <a:stretch>
            <a:fillRect/>
          </a:stretch>
        </p:blipFill>
        <p:spPr>
          <a:xfrm>
            <a:off x="8894921" y="6443316"/>
            <a:ext cx="3019846" cy="400106"/>
          </a:xfrm>
          <a:prstGeom prst="rect">
            <a:avLst/>
          </a:prstGeom>
        </p:spPr>
      </p:pic>
      <p:sp>
        <p:nvSpPr>
          <p:cNvPr id="3" name="TextBox 2">
            <a:extLst>
              <a:ext uri="{FF2B5EF4-FFF2-40B4-BE49-F238E27FC236}">
                <a16:creationId xmlns:a16="http://schemas.microsoft.com/office/drawing/2014/main" id="{457B56C7-E325-4F78-970B-483554635854}"/>
              </a:ext>
            </a:extLst>
          </p:cNvPr>
          <p:cNvSpPr txBox="1"/>
          <p:nvPr/>
        </p:nvSpPr>
        <p:spPr>
          <a:xfrm>
            <a:off x="9680713" y="5343937"/>
            <a:ext cx="914400" cy="369332"/>
          </a:xfrm>
          <a:prstGeom prst="rect">
            <a:avLst/>
          </a:prstGeom>
          <a:noFill/>
        </p:spPr>
        <p:txBody>
          <a:bodyPr wrap="square" rtlCol="0">
            <a:spAutoFit/>
          </a:bodyPr>
          <a:lstStyle/>
          <a:p>
            <a:r>
              <a:rPr lang="en-US" dirty="0"/>
              <a:t>Fig.2</a:t>
            </a:r>
            <a:endParaRPr lang="en-IN" dirty="0"/>
          </a:p>
        </p:txBody>
      </p:sp>
    </p:spTree>
    <p:extLst>
      <p:ext uri="{BB962C8B-B14F-4D97-AF65-F5344CB8AC3E}">
        <p14:creationId xmlns:p14="http://schemas.microsoft.com/office/powerpoint/2010/main" val="179824398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08ACDBF-4543-4CD7-8EBE-0D9960A35D0C}"/>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artisticFilmGrain/>
                    </a14:imgEffect>
                  </a14:imgLayer>
                </a14:imgProps>
              </a:ext>
            </a:extLst>
          </a:blip>
          <a:stretch>
            <a:fillRect/>
          </a:stretch>
        </p:blipFill>
        <p:spPr>
          <a:xfrm>
            <a:off x="7554352" y="2293034"/>
            <a:ext cx="4360984" cy="3094892"/>
          </a:xfrm>
          <a:prstGeom prst="rect">
            <a:avLst/>
          </a:prstGeom>
        </p:spPr>
      </p:pic>
      <p:sp>
        <p:nvSpPr>
          <p:cNvPr id="7" name="Oval 6">
            <a:extLst>
              <a:ext uri="{FF2B5EF4-FFF2-40B4-BE49-F238E27FC236}">
                <a16:creationId xmlns:a16="http://schemas.microsoft.com/office/drawing/2014/main" id="{AE4B0F7E-7DB2-492F-8375-F1D151F61AC7}"/>
              </a:ext>
            </a:extLst>
          </p:cNvPr>
          <p:cNvSpPr/>
          <p:nvPr/>
        </p:nvSpPr>
        <p:spPr>
          <a:xfrm>
            <a:off x="9515061" y="2915478"/>
            <a:ext cx="1113182" cy="513522"/>
          </a:xfrm>
          <a:prstGeom prst="ellipse">
            <a:avLst/>
          </a:prstGeom>
          <a:noFill/>
          <a:effectLst>
            <a:glow rad="1397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166328C4-216F-4EF9-A18B-BFF9A0119C00}"/>
              </a:ext>
            </a:extLst>
          </p:cNvPr>
          <p:cNvSpPr/>
          <p:nvPr/>
        </p:nvSpPr>
        <p:spPr>
          <a:xfrm>
            <a:off x="8343900" y="4330700"/>
            <a:ext cx="2108200" cy="609600"/>
          </a:xfrm>
          <a:prstGeom prst="ellipse">
            <a:avLst/>
          </a:prstGeom>
          <a:noFill/>
          <a:effectLst>
            <a:glow rad="1397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CBDB88B-151C-4635-A6E3-69F5636EA33A}"/>
                  </a:ext>
                </a:extLst>
              </p:cNvPr>
              <p:cNvSpPr txBox="1"/>
              <p:nvPr/>
            </p:nvSpPr>
            <p:spPr>
              <a:xfrm>
                <a:off x="377778" y="1813056"/>
                <a:ext cx="6679029"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We can destroy the superconducting state by applying the magnetic field.</a:t>
                </a:r>
              </a:p>
              <a:p>
                <a:r>
                  <a:rPr lang="en-US" sz="2000" dirty="0" err="1"/>
                  <a:t>Hc</a:t>
                </a:r>
                <a:r>
                  <a:rPr lang="en-US" sz="2000" dirty="0"/>
                  <a:t> ---&gt; Minimum magnetic field required to destroy the superconductivity.</a:t>
                </a:r>
              </a:p>
              <a:p>
                <a:r>
                  <a:rPr lang="en-US" sz="2000" dirty="0"/>
                  <a:t>Ho ---&gt; Critical magnetic field at 0k.</a:t>
                </a:r>
              </a:p>
              <a:p>
                <a:r>
                  <a:rPr lang="en-US" sz="2000" dirty="0">
                    <a:sym typeface="Wingdings" panose="05000000000000000000" pitchFamily="2" charset="2"/>
                  </a:rPr>
                  <a:t> T ----&gt;  Any temperature below Tc.</a:t>
                </a:r>
              </a:p>
              <a:p>
                <a:endParaRPr lang="en-US" sz="2000" dirty="0">
                  <a:sym typeface="Wingdings" panose="05000000000000000000" pitchFamily="2" charset="2"/>
                </a:endParaRPr>
              </a:p>
              <a:p>
                <a:r>
                  <a:rPr lang="en-US" sz="2000" dirty="0">
                    <a:sym typeface="Wingdings" panose="05000000000000000000" pitchFamily="2" charset="2"/>
                  </a:rPr>
                  <a:t>                                      </a:t>
                </a:r>
                <a:r>
                  <a:rPr lang="en-US" sz="2000" dirty="0" err="1">
                    <a:sym typeface="Wingdings" panose="05000000000000000000" pitchFamily="2" charset="2"/>
                  </a:rPr>
                  <a:t>Hc</a:t>
                </a:r>
                <a:r>
                  <a:rPr lang="en-US" sz="2000" dirty="0">
                    <a:sym typeface="Wingdings" panose="05000000000000000000" pitchFamily="2" charset="2"/>
                  </a:rPr>
                  <a:t> =</a:t>
                </a:r>
                <a14:m>
                  <m:oMath xmlns:m="http://schemas.openxmlformats.org/officeDocument/2006/math">
                    <m:r>
                      <a:rPr lang="en-US" sz="2000" b="0" i="1" smtClean="0">
                        <a:latin typeface="Cambria Math" panose="02040503050406030204" pitchFamily="18" charset="0"/>
                        <a:sym typeface="Wingdings" panose="05000000000000000000" pitchFamily="2" charset="2"/>
                      </a:rPr>
                      <m:t>𝐻𝑜</m:t>
                    </m:r>
                    <m:r>
                      <a:rPr lang="en-US" sz="2000" b="0" i="1" smtClean="0">
                        <a:latin typeface="Cambria Math" panose="02040503050406030204" pitchFamily="18" charset="0"/>
                        <a:sym typeface="Wingdings" panose="05000000000000000000" pitchFamily="2" charset="2"/>
                      </a:rPr>
                      <m:t>[</m:t>
                    </m:r>
                  </m:oMath>
                </a14:m>
                <a:r>
                  <a:rPr lang="en-US" sz="2000" dirty="0">
                    <a:sym typeface="Wingdings" panose="05000000000000000000" pitchFamily="2" charset="2"/>
                  </a:rPr>
                  <a:t>1-(T/Tc)]</a:t>
                </a:r>
              </a:p>
              <a:p>
                <a:endParaRPr lang="en-US" sz="2000" dirty="0">
                  <a:sym typeface="Wingdings" panose="05000000000000000000" pitchFamily="2" charset="2"/>
                </a:endParaRPr>
              </a:p>
              <a:p>
                <a:r>
                  <a:rPr lang="en-US" sz="2000" dirty="0">
                    <a:sym typeface="Wingdings" panose="05000000000000000000" pitchFamily="2" charset="2"/>
                  </a:rPr>
                  <a:t>At T=0k, </a:t>
                </a:r>
                <a:r>
                  <a:rPr lang="en-US" sz="2000" dirty="0" err="1">
                    <a:sym typeface="Wingdings" panose="05000000000000000000" pitchFamily="2" charset="2"/>
                  </a:rPr>
                  <a:t>Hc</a:t>
                </a:r>
                <a:r>
                  <a:rPr lang="en-US" sz="2000" dirty="0">
                    <a:sym typeface="Wingdings" panose="05000000000000000000" pitchFamily="2" charset="2"/>
                  </a:rPr>
                  <a:t>=Ho, So above Ho material will be in normal state.(Superconductivity destroyed).</a:t>
                </a:r>
              </a:p>
              <a:p>
                <a:r>
                  <a:rPr lang="en-US" sz="2000" dirty="0">
                    <a:sym typeface="Wingdings" panose="05000000000000000000" pitchFamily="2" charset="2"/>
                  </a:rPr>
                  <a:t>Below Ho it will be in superconducting state.</a:t>
                </a:r>
              </a:p>
              <a:p>
                <a:r>
                  <a:rPr lang="en-US" sz="2000" dirty="0">
                    <a:sym typeface="Wingdings" panose="05000000000000000000" pitchFamily="2" charset="2"/>
                  </a:rPr>
                  <a:t>                                              OR</a:t>
                </a:r>
              </a:p>
              <a:p>
                <a:r>
                  <a:rPr lang="en-US" sz="2000" dirty="0">
                    <a:sym typeface="Wingdings" panose="05000000000000000000" pitchFamily="2" charset="2"/>
                  </a:rPr>
                  <a:t>For T&gt;Tc----&gt; Normal state</a:t>
                </a:r>
              </a:p>
              <a:p>
                <a:r>
                  <a:rPr lang="en-US" sz="2000" dirty="0">
                    <a:sym typeface="Wingdings" panose="05000000000000000000" pitchFamily="2" charset="2"/>
                  </a:rPr>
                  <a:t>For T&lt;Tc----&gt; Superconducting state. </a:t>
                </a:r>
              </a:p>
              <a:p>
                <a:endParaRPr lang="en-IN" sz="2000" dirty="0"/>
              </a:p>
            </p:txBody>
          </p:sp>
        </mc:Choice>
        <mc:Fallback xmlns="">
          <p:sp>
            <p:nvSpPr>
              <p:cNvPr id="13" name="TextBox 12">
                <a:extLst>
                  <a:ext uri="{FF2B5EF4-FFF2-40B4-BE49-F238E27FC236}">
                    <a16:creationId xmlns:a16="http://schemas.microsoft.com/office/drawing/2014/main" id="{6CBDB88B-151C-4635-A6E3-69F5636EA33A}"/>
                  </a:ext>
                </a:extLst>
              </p:cNvPr>
              <p:cNvSpPr txBox="1">
                <a:spLocks noRot="1" noChangeAspect="1" noMove="1" noResize="1" noEditPoints="1" noAdjustHandles="1" noChangeArrowheads="1" noChangeShapeType="1" noTextEdit="1"/>
              </p:cNvSpPr>
              <p:nvPr/>
            </p:nvSpPr>
            <p:spPr>
              <a:xfrm>
                <a:off x="377778" y="1813056"/>
                <a:ext cx="6679029" cy="5016758"/>
              </a:xfrm>
              <a:prstGeom prst="rect">
                <a:avLst/>
              </a:prstGeom>
              <a:blipFill>
                <a:blip r:embed="rId4"/>
                <a:stretch>
                  <a:fillRect l="-1004" t="-608"/>
                </a:stretch>
              </a:blipFill>
            </p:spPr>
            <p:txBody>
              <a:bodyPr/>
              <a:lstStyle/>
              <a:p>
                <a:r>
                  <a:rPr lang="en-IN">
                    <a:noFill/>
                  </a:rPr>
                  <a:t> </a:t>
                </a:r>
              </a:p>
            </p:txBody>
          </p:sp>
        </mc:Fallback>
      </mc:AlternateContent>
      <p:sp>
        <p:nvSpPr>
          <p:cNvPr id="15" name="Rectangle 14">
            <a:extLst>
              <a:ext uri="{FF2B5EF4-FFF2-40B4-BE49-F238E27FC236}">
                <a16:creationId xmlns:a16="http://schemas.microsoft.com/office/drawing/2014/main" id="{3A52B696-A3E9-4F90-B1CE-C09CF7BA26F6}"/>
              </a:ext>
            </a:extLst>
          </p:cNvPr>
          <p:cNvSpPr/>
          <p:nvPr/>
        </p:nvSpPr>
        <p:spPr>
          <a:xfrm>
            <a:off x="2456650" y="3840480"/>
            <a:ext cx="1993692" cy="6937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pic>
        <p:nvPicPr>
          <p:cNvPr id="9" name="Picture 8">
            <a:extLst>
              <a:ext uri="{FF2B5EF4-FFF2-40B4-BE49-F238E27FC236}">
                <a16:creationId xmlns:a16="http://schemas.microsoft.com/office/drawing/2014/main" id="{B59CF993-5278-4399-8528-0A600068D4AB}"/>
              </a:ext>
            </a:extLst>
          </p:cNvPr>
          <p:cNvPicPr>
            <a:picLocks noChangeAspect="1"/>
          </p:cNvPicPr>
          <p:nvPr/>
        </p:nvPicPr>
        <p:blipFill>
          <a:blip r:embed="rId5"/>
          <a:stretch>
            <a:fillRect/>
          </a:stretch>
        </p:blipFill>
        <p:spPr>
          <a:xfrm>
            <a:off x="9118320" y="6429708"/>
            <a:ext cx="3019846" cy="400106"/>
          </a:xfrm>
          <a:prstGeom prst="rect">
            <a:avLst/>
          </a:prstGeom>
        </p:spPr>
      </p:pic>
      <p:pic>
        <p:nvPicPr>
          <p:cNvPr id="3" name="Picture 4">
            <a:extLst>
              <a:ext uri="{FF2B5EF4-FFF2-40B4-BE49-F238E27FC236}">
                <a16:creationId xmlns:a16="http://schemas.microsoft.com/office/drawing/2014/main" id="{E464A9ED-4F8F-4178-AE52-B36E77A2688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96067F8E-5ED6-4356-987C-5C4C4DFCD54E}"/>
              </a:ext>
            </a:extLst>
          </p:cNvPr>
          <p:cNvSpPr>
            <a:spLocks noGrp="1"/>
          </p:cNvSpPr>
          <p:nvPr>
            <p:ph type="title"/>
          </p:nvPr>
        </p:nvSpPr>
        <p:spPr>
          <a:xfrm>
            <a:off x="1066800" y="444295"/>
            <a:ext cx="10058400" cy="1024514"/>
          </a:xfrm>
        </p:spPr>
        <p:txBody>
          <a:bodyPr>
            <a:normAutofit fontScale="90000"/>
          </a:bodyPr>
          <a:lstStyle/>
          <a:p>
            <a:pPr algn="ctr"/>
            <a:r>
              <a:rPr lang="en-US" b="1" dirty="0">
                <a:latin typeface="+mn-lt"/>
              </a:rPr>
              <a:t>Effect of magnetic field on superconductors</a:t>
            </a:r>
            <a:endParaRPr lang="en-IN" b="1" dirty="0">
              <a:latin typeface="+mn-lt"/>
            </a:endParaRPr>
          </a:p>
        </p:txBody>
      </p:sp>
    </p:spTree>
    <p:extLst>
      <p:ext uri="{BB962C8B-B14F-4D97-AF65-F5344CB8AC3E}">
        <p14:creationId xmlns:p14="http://schemas.microsoft.com/office/powerpoint/2010/main" val="3364787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2DE0A9-5EAB-4E6E-8598-0CD8A327DB78}"/>
              </a:ext>
            </a:extLst>
          </p:cNvPr>
          <p:cNvSpPr>
            <a:spLocks noGrp="1"/>
          </p:cNvSpPr>
          <p:nvPr>
            <p:ph idx="1"/>
          </p:nvPr>
        </p:nvSpPr>
        <p:spPr/>
        <p:txBody>
          <a:bodyPr/>
          <a:lstStyle/>
          <a:p>
            <a:r>
              <a:rPr lang="en-US" dirty="0"/>
              <a:t>Perfect diamagnet.</a:t>
            </a:r>
          </a:p>
          <a:p>
            <a:r>
              <a:rPr lang="en-US" dirty="0"/>
              <a:t>Understanding of </a:t>
            </a:r>
            <a:r>
              <a:rPr lang="en-US" dirty="0" err="1"/>
              <a:t>Meissener</a:t>
            </a:r>
            <a:r>
              <a:rPr lang="en-US" dirty="0"/>
              <a:t> effect.</a:t>
            </a:r>
          </a:p>
          <a:p>
            <a:r>
              <a:rPr lang="en-US" dirty="0"/>
              <a:t>Effect of magnetic field on Superconductor</a:t>
            </a:r>
            <a:endParaRPr lang="en-IN" dirty="0"/>
          </a:p>
        </p:txBody>
      </p:sp>
      <p:sp>
        <p:nvSpPr>
          <p:cNvPr id="4" name="Title 1">
            <a:extLst>
              <a:ext uri="{FF2B5EF4-FFF2-40B4-BE49-F238E27FC236}">
                <a16:creationId xmlns:a16="http://schemas.microsoft.com/office/drawing/2014/main" id="{BEA1E869-D882-4364-B4DE-93F8706FE496}"/>
              </a:ext>
            </a:extLst>
          </p:cNvPr>
          <p:cNvSpPr>
            <a:spLocks noGrp="1"/>
          </p:cNvSpPr>
          <p:nvPr>
            <p:ph type="title"/>
          </p:nvPr>
        </p:nvSpPr>
        <p:spPr>
          <a:xfrm>
            <a:off x="838200" y="341059"/>
            <a:ext cx="10058400" cy="1024514"/>
          </a:xfrm>
        </p:spPr>
        <p:txBody>
          <a:bodyPr>
            <a:normAutofit/>
          </a:bodyPr>
          <a:lstStyle/>
          <a:p>
            <a:pPr algn="ctr"/>
            <a:r>
              <a:rPr lang="en-US" b="1" dirty="0">
                <a:latin typeface="+mn-lt"/>
              </a:rPr>
              <a:t>Summary</a:t>
            </a:r>
            <a:endParaRPr lang="en-IN" b="1" dirty="0">
              <a:latin typeface="+mn-lt"/>
            </a:endParaRPr>
          </a:p>
        </p:txBody>
      </p:sp>
      <p:pic>
        <p:nvPicPr>
          <p:cNvPr id="6" name="Picture 4">
            <a:extLst>
              <a:ext uri="{FF2B5EF4-FFF2-40B4-BE49-F238E27FC236}">
                <a16:creationId xmlns:a16="http://schemas.microsoft.com/office/drawing/2014/main" id="{E57BADB3-F7BE-42DE-B3BA-E56A005B72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F2938B0-CA6D-41E3-9EB6-6F361475E292}"/>
              </a:ext>
            </a:extLst>
          </p:cNvPr>
          <p:cNvPicPr>
            <a:picLocks noChangeAspect="1"/>
          </p:cNvPicPr>
          <p:nvPr/>
        </p:nvPicPr>
        <p:blipFill>
          <a:blip r:embed="rId3"/>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3147133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18728-C9A0-4197-835C-7E33FB136344}"/>
              </a:ext>
            </a:extLst>
          </p:cNvPr>
          <p:cNvSpPr>
            <a:spLocks noGrp="1"/>
          </p:cNvSpPr>
          <p:nvPr>
            <p:ph type="title"/>
          </p:nvPr>
        </p:nvSpPr>
        <p:spPr/>
        <p:txBody>
          <a:bodyPr/>
          <a:lstStyle/>
          <a:p>
            <a:pPr algn="ctr"/>
            <a:r>
              <a:rPr lang="en-US" b="1" dirty="0">
                <a:latin typeface="+mn-lt"/>
              </a:rPr>
              <a:t>FAQs</a:t>
            </a:r>
            <a:endParaRPr lang="en-IN" b="1" dirty="0">
              <a:latin typeface="+mn-lt"/>
            </a:endParaRPr>
          </a:p>
        </p:txBody>
      </p:sp>
      <p:sp>
        <p:nvSpPr>
          <p:cNvPr id="3" name="Content Placeholder 2">
            <a:extLst>
              <a:ext uri="{FF2B5EF4-FFF2-40B4-BE49-F238E27FC236}">
                <a16:creationId xmlns:a16="http://schemas.microsoft.com/office/drawing/2014/main" id="{01F79446-41A5-491E-8734-A9DA99670BC4}"/>
              </a:ext>
            </a:extLst>
          </p:cNvPr>
          <p:cNvSpPr>
            <a:spLocks noGrp="1"/>
          </p:cNvSpPr>
          <p:nvPr>
            <p:ph idx="1"/>
          </p:nvPr>
        </p:nvSpPr>
        <p:spPr/>
        <p:txBody>
          <a:bodyPr/>
          <a:lstStyle/>
          <a:p>
            <a:r>
              <a:rPr lang="en-US" dirty="0"/>
              <a:t>What is diamagnetism?</a:t>
            </a:r>
          </a:p>
          <a:p>
            <a:r>
              <a:rPr lang="en-US" dirty="0"/>
              <a:t>What do you understand by </a:t>
            </a:r>
            <a:r>
              <a:rPr lang="en-US" dirty="0" err="1"/>
              <a:t>Meissener</a:t>
            </a:r>
            <a:r>
              <a:rPr lang="en-US" dirty="0"/>
              <a:t> effect?</a:t>
            </a:r>
          </a:p>
          <a:p>
            <a:r>
              <a:rPr lang="en-US" dirty="0"/>
              <a:t>What is Critical magnetic field?</a:t>
            </a:r>
          </a:p>
          <a:p>
            <a:r>
              <a:rPr lang="en-US" dirty="0"/>
              <a:t>What is effect of magnetic field on </a:t>
            </a:r>
            <a:r>
              <a:rPr lang="en-US" dirty="0" err="1"/>
              <a:t>behaviour</a:t>
            </a:r>
            <a:r>
              <a:rPr lang="en-US" dirty="0"/>
              <a:t> of superconductor?</a:t>
            </a:r>
            <a:endParaRPr lang="en-IN" dirty="0"/>
          </a:p>
        </p:txBody>
      </p:sp>
      <p:pic>
        <p:nvPicPr>
          <p:cNvPr id="5" name="Picture 4">
            <a:extLst>
              <a:ext uri="{FF2B5EF4-FFF2-40B4-BE49-F238E27FC236}">
                <a16:creationId xmlns:a16="http://schemas.microsoft.com/office/drawing/2014/main" id="{F327B89E-3D85-4A2C-8061-C3B50DDB3C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D0270E9-2C81-4112-BBC9-F3BDB56D956D}"/>
              </a:ext>
            </a:extLst>
          </p:cNvPr>
          <p:cNvPicPr>
            <a:picLocks noChangeAspect="1"/>
          </p:cNvPicPr>
          <p:nvPr/>
        </p:nvPicPr>
        <p:blipFill>
          <a:blip r:embed="rId3"/>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97713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ASSESSMENT PATTERN </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t>12</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Diagram 11"/>
          <p:cNvGraphicFramePr/>
          <p:nvPr/>
        </p:nvGraphicFramePr>
        <p:xfrm>
          <a:off x="1718441" y="1803399"/>
          <a:ext cx="8607973" cy="469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4">
            <a:extLst>
              <a:ext uri="{FF2B5EF4-FFF2-40B4-BE49-F238E27FC236}">
                <a16:creationId xmlns:a16="http://schemas.microsoft.com/office/drawing/2014/main" id="{9E2EC80C-DBE7-47C2-B25E-40EE1CDFD3D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4102B51-66D6-418F-B754-CC1D31F10748}"/>
              </a:ext>
            </a:extLst>
          </p:cNvPr>
          <p:cNvPicPr>
            <a:picLocks noChangeAspect="1"/>
          </p:cNvPicPr>
          <p:nvPr/>
        </p:nvPicPr>
        <p:blipFill>
          <a:blip r:embed="rId8"/>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404884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03DBA-707C-4EE4-BF67-E33FB3FDF251}"/>
              </a:ext>
            </a:extLst>
          </p:cNvPr>
          <p:cNvSpPr>
            <a:spLocks noGrp="1"/>
          </p:cNvSpPr>
          <p:nvPr>
            <p:ph type="title"/>
          </p:nvPr>
        </p:nvSpPr>
        <p:spPr/>
        <p:txBody>
          <a:bodyPr/>
          <a:lstStyle/>
          <a:p>
            <a:pPr algn="ctr"/>
            <a:r>
              <a:rPr lang="en-US" b="1" dirty="0">
                <a:latin typeface="+mn-lt"/>
              </a:rPr>
              <a:t>Reference books and weblinks</a:t>
            </a:r>
            <a:endParaRPr lang="en-IN" b="1" dirty="0">
              <a:latin typeface="+mn-lt"/>
            </a:endParaRPr>
          </a:p>
        </p:txBody>
      </p:sp>
      <p:sp>
        <p:nvSpPr>
          <p:cNvPr id="3" name="Content Placeholder 2">
            <a:extLst>
              <a:ext uri="{FF2B5EF4-FFF2-40B4-BE49-F238E27FC236}">
                <a16:creationId xmlns:a16="http://schemas.microsoft.com/office/drawing/2014/main" id="{B0FA7BE9-41A7-4A5A-94C8-C8BD2C2BAF11}"/>
              </a:ext>
            </a:extLst>
          </p:cNvPr>
          <p:cNvSpPr>
            <a:spLocks noGrp="1"/>
          </p:cNvSpPr>
          <p:nvPr>
            <p:ph idx="1"/>
          </p:nvPr>
        </p:nvSpPr>
        <p:spPr/>
        <p:txBody>
          <a:bodyPr>
            <a:normAutofit lnSpcReduction="10000"/>
          </a:bodyPr>
          <a:lstStyle/>
          <a:p>
            <a:pPr algn="just">
              <a:lnSpc>
                <a:spcPct val="107000"/>
              </a:lnSpc>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https://en.wikipedia.org/wiki/Meissner_effect#:~:text=The%20Meissner%20effect%20(or%20Meissner,cooled%20below%20the%20critical%20temperature.&amp;text=The%20Meissner%20state%20breaks%20down,magnetic%20field%20is%20too%20strong.</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3"/>
              </a:rPr>
              <a:t>http://www.phy.cuhk.edu.hk/djwang/teachlab/old%20material/Lecture%20notes/11QP_ch3.pdf</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buNone/>
            </a:pP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https://www.electrical4u.com/meissner-effect/#:~:text=This%20effect%20of%20superconductivity%2C%20is,above%20magnet%20or%20vise%2Dversa.</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9A55B516-ABF6-42D5-9CE3-76E45BEF0D0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4D546F3-B7F0-4036-9D45-D27221F15277}"/>
              </a:ext>
            </a:extLst>
          </p:cNvPr>
          <p:cNvPicPr>
            <a:picLocks noChangeAspect="1"/>
          </p:cNvPicPr>
          <p:nvPr/>
        </p:nvPicPr>
        <p:blipFill>
          <a:blip r:embed="rId6"/>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219852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9398B-3436-4DF2-BA50-BFB2C292CF46}"/>
              </a:ext>
            </a:extLst>
          </p:cNvPr>
          <p:cNvSpPr>
            <a:spLocks noGrp="1"/>
          </p:cNvSpPr>
          <p:nvPr>
            <p:ph type="title"/>
          </p:nvPr>
        </p:nvSpPr>
        <p:spPr/>
        <p:txBody>
          <a:bodyPr/>
          <a:lstStyle/>
          <a:p>
            <a:pPr algn="ctr"/>
            <a:r>
              <a:rPr lang="en-US" b="1" dirty="0">
                <a:latin typeface="+mn-lt"/>
              </a:rPr>
              <a:t>Reference Video links</a:t>
            </a:r>
            <a:endParaRPr lang="en-IN" b="1" dirty="0">
              <a:latin typeface="+mn-lt"/>
            </a:endParaRPr>
          </a:p>
        </p:txBody>
      </p:sp>
      <p:sp>
        <p:nvSpPr>
          <p:cNvPr id="3" name="Content Placeholder 2">
            <a:extLst>
              <a:ext uri="{FF2B5EF4-FFF2-40B4-BE49-F238E27FC236}">
                <a16:creationId xmlns:a16="http://schemas.microsoft.com/office/drawing/2014/main" id="{D7296BDD-0B55-4E7E-9A56-D065DB70C6D9}"/>
              </a:ext>
            </a:extLst>
          </p:cNvPr>
          <p:cNvSpPr>
            <a:spLocks noGrp="1"/>
          </p:cNvSpPr>
          <p:nvPr>
            <p:ph idx="1"/>
          </p:nvPr>
        </p:nvSpPr>
        <p:spPr/>
        <p:txBody>
          <a:bodyPr>
            <a:normAutofit/>
          </a:bodyPr>
          <a:lstStyle/>
          <a:p>
            <a:pPr marL="342900" lvl="0" indent="-342900" algn="just">
              <a:lnSpc>
                <a:spcPct val="107000"/>
              </a:lnSpc>
              <a:buFont typeface="Symbol" panose="05050102010706020507" pitchFamily="18" charset="2"/>
              <a:buChar char=""/>
            </a:pPr>
            <a:endPar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endParaRPr>
          </a:p>
          <a:p>
            <a:pPr marL="342900" lvl="0" indent="-342900" algn="just">
              <a:lnSpc>
                <a:spcPct val="107000"/>
              </a:lnSpc>
              <a:buFont typeface="Symbol" panose="05050102010706020507" pitchFamily="18" charset="2"/>
              <a:buChar char=""/>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https://www.youtube.com/watch?v=iUETu0b-E1s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3"/>
              </a:rPr>
              <a:t>https://www.youtube.com/watch?v=Qt4MmiplvSs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400" dirty="0"/>
          </a:p>
        </p:txBody>
      </p:sp>
      <p:pic>
        <p:nvPicPr>
          <p:cNvPr id="5" name="Picture 4">
            <a:extLst>
              <a:ext uri="{FF2B5EF4-FFF2-40B4-BE49-F238E27FC236}">
                <a16:creationId xmlns:a16="http://schemas.microsoft.com/office/drawing/2014/main" id="{E233C5DA-3C66-438C-988C-9D0913BA4A4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B607B43-3F46-469B-B8B9-F6D538876372}"/>
              </a:ext>
            </a:extLst>
          </p:cNvPr>
          <p:cNvPicPr>
            <a:picLocks noChangeAspect="1"/>
          </p:cNvPicPr>
          <p:nvPr/>
        </p:nvPicPr>
        <p:blipFill>
          <a:blip r:embed="rId5"/>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2838692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TextBox 1"/>
          <p:cNvSpPr txBox="1"/>
          <p:nvPr/>
        </p:nvSpPr>
        <p:spPr>
          <a:xfrm>
            <a:off x="3452884" y="6168788"/>
            <a:ext cx="4217158" cy="338554"/>
          </a:xfrm>
          <a:prstGeom prst="rect">
            <a:avLst/>
          </a:prstGeom>
          <a:noFill/>
        </p:spPr>
        <p:txBody>
          <a:bodyPr wrap="square" rtlCol="0">
            <a:spAutoFit/>
          </a:bodyPr>
          <a:lstStyle/>
          <a:p>
            <a:r>
              <a:rPr lang="en-US" sz="1600" dirty="0">
                <a:latin typeface="Casper"/>
              </a:rPr>
              <a:t>divya.e8645@cumail.in</a:t>
            </a:r>
          </a:p>
        </p:txBody>
      </p:sp>
      <p:pic>
        <p:nvPicPr>
          <p:cNvPr id="3" name="Picture 2">
            <a:extLst>
              <a:ext uri="{FF2B5EF4-FFF2-40B4-BE49-F238E27FC236}">
                <a16:creationId xmlns:a16="http://schemas.microsoft.com/office/drawing/2014/main" id="{A5196C14-264F-49D1-9389-B42CC31B3A3C}"/>
              </a:ext>
            </a:extLst>
          </p:cNvPr>
          <p:cNvPicPr>
            <a:picLocks noChangeAspect="1"/>
          </p:cNvPicPr>
          <p:nvPr/>
        </p:nvPicPr>
        <p:blipFill>
          <a:blip r:embed="rId4"/>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873</Words>
  <Application>Microsoft Office PowerPoint</Application>
  <PresentationFormat>Widescreen</PresentationFormat>
  <Paragraphs>102</Paragraphs>
  <Slides>15</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7" baseType="lpstr">
      <vt:lpstr>Arial</vt:lpstr>
      <vt:lpstr>Arial Black</vt:lpstr>
      <vt:lpstr>Calibri</vt:lpstr>
      <vt:lpstr>Calibri Light</vt:lpstr>
      <vt:lpstr>Cambria Math</vt:lpstr>
      <vt:lpstr>Casper</vt:lpstr>
      <vt:lpstr>Casper Bold</vt:lpstr>
      <vt:lpstr>Symbol</vt:lpstr>
      <vt:lpstr>Times New Roman</vt:lpstr>
      <vt:lpstr>Wingdings</vt:lpstr>
      <vt:lpstr>Office Theme</vt:lpstr>
      <vt:lpstr>CorelDRAW</vt:lpstr>
      <vt:lpstr>PowerPoint Presentation</vt:lpstr>
      <vt:lpstr> </vt:lpstr>
      <vt:lpstr>PowerPoint Presentation</vt:lpstr>
      <vt:lpstr>Content</vt:lpstr>
      <vt:lpstr>Perfect diamagnet</vt:lpstr>
      <vt:lpstr>History</vt:lpstr>
      <vt:lpstr>Superconductor</vt:lpstr>
      <vt:lpstr>Meissner effect</vt:lpstr>
      <vt:lpstr>Effect of magnetic field on superconductors</vt:lpstr>
      <vt:lpstr>Summary</vt:lpstr>
      <vt:lpstr>FAQs</vt:lpstr>
      <vt:lpstr>ASSESSMENT PATTERN </vt:lpstr>
      <vt:lpstr>Reference books and weblinks</vt:lpstr>
      <vt:lpstr>Reference Video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Appan Chawla</dc:creator>
  <cp:lastModifiedBy>Indu Gupta</cp:lastModifiedBy>
  <cp:revision>9</cp:revision>
  <dcterms:created xsi:type="dcterms:W3CDTF">2020-08-11T11:44:31Z</dcterms:created>
  <dcterms:modified xsi:type="dcterms:W3CDTF">2023-06-15T15:22:49Z</dcterms:modified>
</cp:coreProperties>
</file>