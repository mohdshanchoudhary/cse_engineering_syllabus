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65" r:id="rId3"/>
    <p:sldId id="310" r:id="rId4"/>
    <p:sldId id="317" r:id="rId5"/>
    <p:sldId id="261" r:id="rId6"/>
    <p:sldId id="312" r:id="rId7"/>
    <p:sldId id="263" r:id="rId8"/>
    <p:sldId id="311" r:id="rId9"/>
    <p:sldId id="264" r:id="rId10"/>
    <p:sldId id="266" r:id="rId11"/>
    <p:sldId id="313" r:id="rId12"/>
    <p:sldId id="282" r:id="rId13"/>
    <p:sldId id="314" r:id="rId14"/>
    <p:sldId id="316" r:id="rId15"/>
    <p:sldId id="315"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B1F61E-B79E-4921-8CA8-00607D615465}"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US"/>
        </a:p>
      </dgm:t>
    </dgm:pt>
    <dgm:pt modelId="{DF21CF1E-E8F7-48BD-9E2F-0783B4275D4F}">
      <dgm:prSet phldrT="[Text]"/>
      <dgm:spPr/>
      <dgm:t>
        <a:bodyPr/>
        <a:lstStyle/>
        <a:p>
          <a:r>
            <a:rPr lang="en-US" dirty="0"/>
            <a:t>MST(02)</a:t>
          </a:r>
        </a:p>
        <a:p>
          <a:r>
            <a:rPr lang="en-US" dirty="0"/>
            <a:t>20 marks</a:t>
          </a:r>
        </a:p>
      </dgm:t>
    </dgm:pt>
    <dgm:pt modelId="{02672668-E94C-4D3F-B024-3E83EF071008}" type="parTrans" cxnId="{CE872D1B-2201-4155-A282-D98BE8E972C7}">
      <dgm:prSet/>
      <dgm:spPr/>
      <dgm:t>
        <a:bodyPr/>
        <a:lstStyle/>
        <a:p>
          <a:endParaRPr lang="en-US"/>
        </a:p>
      </dgm:t>
    </dgm:pt>
    <dgm:pt modelId="{43870F01-8D0C-493D-87C6-47CDB63CA0C3}" type="sibTrans" cxnId="{CE872D1B-2201-4155-A282-D98BE8E972C7}">
      <dgm:prSet/>
      <dgm:spPr/>
      <dgm:t>
        <a:bodyPr/>
        <a:lstStyle/>
        <a:p>
          <a:endParaRPr lang="en-US"/>
        </a:p>
      </dgm:t>
    </dgm:pt>
    <dgm:pt modelId="{5017CB0E-F067-4C8D-BCC3-1E89F6BF0DB6}">
      <dgm:prSet phldrT="[Text]"/>
      <dgm:spPr/>
      <dgm:t>
        <a:bodyPr/>
        <a:lstStyle/>
        <a:p>
          <a:r>
            <a:rPr lang="en-US"/>
            <a:t>Quiz </a:t>
          </a:r>
        </a:p>
        <a:p>
          <a:r>
            <a:rPr lang="en-US"/>
            <a:t>4 marks</a:t>
          </a:r>
        </a:p>
      </dgm:t>
    </dgm:pt>
    <dgm:pt modelId="{7EA63C5E-7894-4011-8777-E05AB93A5604}" type="parTrans" cxnId="{641E709A-A338-4D2F-966E-DEB104E7D828}">
      <dgm:prSet/>
      <dgm:spPr/>
      <dgm:t>
        <a:bodyPr/>
        <a:lstStyle/>
        <a:p>
          <a:endParaRPr lang="en-US"/>
        </a:p>
      </dgm:t>
    </dgm:pt>
    <dgm:pt modelId="{37F83C70-3700-406D-8C7A-E3B7AE665571}" type="sibTrans" cxnId="{641E709A-A338-4D2F-966E-DEB104E7D828}">
      <dgm:prSet/>
      <dgm:spPr/>
      <dgm:t>
        <a:bodyPr/>
        <a:lstStyle/>
        <a:p>
          <a:endParaRPr lang="en-US"/>
        </a:p>
      </dgm:t>
    </dgm:pt>
    <dgm:pt modelId="{59283DCC-1101-4781-AC16-AC0F39464EAE}">
      <dgm:prSet phldrT="[Text]"/>
      <dgm:spPr/>
      <dgm:t>
        <a:bodyPr/>
        <a:lstStyle/>
        <a:p>
          <a:r>
            <a:rPr lang="en-US"/>
            <a:t>Attendance</a:t>
          </a:r>
        </a:p>
        <a:p>
          <a:r>
            <a:rPr lang="en-US"/>
            <a:t>(&gt;90%)</a:t>
          </a:r>
        </a:p>
        <a:p>
          <a:r>
            <a:rPr lang="en-US"/>
            <a:t>2 marks</a:t>
          </a:r>
        </a:p>
      </dgm:t>
    </dgm:pt>
    <dgm:pt modelId="{8AF003E6-7640-4B86-9B7E-1EE2F34FB260}" type="parTrans" cxnId="{ECBAC60F-6CDF-4972-AEEC-AD2754C3CEF6}">
      <dgm:prSet/>
      <dgm:spPr/>
      <dgm:t>
        <a:bodyPr/>
        <a:lstStyle/>
        <a:p>
          <a:endParaRPr lang="en-US"/>
        </a:p>
      </dgm:t>
    </dgm:pt>
    <dgm:pt modelId="{5A5EC861-6BDC-4E40-8784-85D4598C36F6}" type="sibTrans" cxnId="{ECBAC60F-6CDF-4972-AEEC-AD2754C3CEF6}">
      <dgm:prSet/>
      <dgm:spPr/>
      <dgm:t>
        <a:bodyPr/>
        <a:lstStyle/>
        <a:p>
          <a:endParaRPr lang="en-US"/>
        </a:p>
      </dgm:t>
    </dgm:pt>
    <dgm:pt modelId="{9580402E-56A8-4020-B0A0-91E4A7FEDC15}">
      <dgm:prSet phldrT="[Text]"/>
      <dgm:spPr/>
      <dgm:t>
        <a:bodyPr/>
        <a:lstStyle/>
        <a:p>
          <a:r>
            <a:rPr lang="en-US"/>
            <a:t>Surprise test </a:t>
          </a:r>
        </a:p>
        <a:p>
          <a:r>
            <a:rPr lang="en-US"/>
            <a:t>4 marks</a:t>
          </a:r>
        </a:p>
      </dgm:t>
    </dgm:pt>
    <dgm:pt modelId="{F09904E3-80CF-4644-BAB7-253055CB5E22}" type="parTrans" cxnId="{D1F84F8A-ED12-40FC-A5B7-D11271FC9026}">
      <dgm:prSet/>
      <dgm:spPr/>
      <dgm:t>
        <a:bodyPr/>
        <a:lstStyle/>
        <a:p>
          <a:endParaRPr lang="en-US"/>
        </a:p>
      </dgm:t>
    </dgm:pt>
    <dgm:pt modelId="{B6E7DF34-812C-4586-B586-6E90541E11FE}" type="sibTrans" cxnId="{D1F84F8A-ED12-40FC-A5B7-D11271FC9026}">
      <dgm:prSet/>
      <dgm:spPr/>
      <dgm:t>
        <a:bodyPr/>
        <a:lstStyle/>
        <a:p>
          <a:endParaRPr lang="en-US"/>
        </a:p>
      </dgm:t>
    </dgm:pt>
    <dgm:pt modelId="{CCE52B37-AFF3-4BEC-A5FF-372C919EF95E}">
      <dgm:prSet phldrT="[Text]"/>
      <dgm:spPr/>
      <dgm:t>
        <a:bodyPr/>
        <a:lstStyle/>
        <a:p>
          <a:r>
            <a:rPr lang="en-US"/>
            <a:t>Assignment</a:t>
          </a:r>
        </a:p>
        <a:p>
          <a:r>
            <a:rPr lang="en-US"/>
            <a:t>10 marks</a:t>
          </a:r>
        </a:p>
      </dgm:t>
    </dgm:pt>
    <dgm:pt modelId="{DF7974F8-74F3-4CD9-AF5D-0A97A2BF2554}" type="parTrans" cxnId="{FEEB9898-0349-4CF4-950F-C31AB762AF49}">
      <dgm:prSet/>
      <dgm:spPr/>
      <dgm:t>
        <a:bodyPr/>
        <a:lstStyle/>
        <a:p>
          <a:endParaRPr lang="en-US"/>
        </a:p>
      </dgm:t>
    </dgm:pt>
    <dgm:pt modelId="{F659EAE0-421D-45B5-950B-62BA1296084F}" type="sibTrans" cxnId="{FEEB9898-0349-4CF4-950F-C31AB762AF49}">
      <dgm:prSet/>
      <dgm:spPr/>
      <dgm:t>
        <a:bodyPr/>
        <a:lstStyle/>
        <a:p>
          <a:endParaRPr lang="en-US"/>
        </a:p>
      </dgm:t>
    </dgm:pt>
    <dgm:pt modelId="{CE51EAD9-06C0-4DBC-9F94-7804EE0417E8}" type="pres">
      <dgm:prSet presAssocID="{71B1F61E-B79E-4921-8CA8-00607D615465}" presName="cycle" presStyleCnt="0">
        <dgm:presLayoutVars>
          <dgm:dir/>
          <dgm:resizeHandles val="exact"/>
        </dgm:presLayoutVars>
      </dgm:prSet>
      <dgm:spPr/>
    </dgm:pt>
    <dgm:pt modelId="{6C392781-824D-4A9A-B53B-15B182F41E67}" type="pres">
      <dgm:prSet presAssocID="{DF21CF1E-E8F7-48BD-9E2F-0783B4275D4F}" presName="node" presStyleLbl="node1" presStyleIdx="0" presStyleCnt="5">
        <dgm:presLayoutVars>
          <dgm:bulletEnabled val="1"/>
        </dgm:presLayoutVars>
      </dgm:prSet>
      <dgm:spPr/>
    </dgm:pt>
    <dgm:pt modelId="{48F10FB2-D4AF-42A1-AE30-73A7B03AADA8}" type="pres">
      <dgm:prSet presAssocID="{DF21CF1E-E8F7-48BD-9E2F-0783B4275D4F}" presName="spNode" presStyleCnt="0"/>
      <dgm:spPr/>
    </dgm:pt>
    <dgm:pt modelId="{009CE4DD-9E5F-40D8-8D55-613C90442619}" type="pres">
      <dgm:prSet presAssocID="{43870F01-8D0C-493D-87C6-47CDB63CA0C3}" presName="sibTrans" presStyleLbl="sibTrans1D1" presStyleIdx="0" presStyleCnt="5"/>
      <dgm:spPr/>
    </dgm:pt>
    <dgm:pt modelId="{DF99696A-FB56-42C5-9885-47F68FD8ECED}" type="pres">
      <dgm:prSet presAssocID="{5017CB0E-F067-4C8D-BCC3-1E89F6BF0DB6}" presName="node" presStyleLbl="node1" presStyleIdx="1" presStyleCnt="5">
        <dgm:presLayoutVars>
          <dgm:bulletEnabled val="1"/>
        </dgm:presLayoutVars>
      </dgm:prSet>
      <dgm:spPr/>
    </dgm:pt>
    <dgm:pt modelId="{4F295E57-2AF9-4A24-9516-6EFC944D88FD}" type="pres">
      <dgm:prSet presAssocID="{5017CB0E-F067-4C8D-BCC3-1E89F6BF0DB6}" presName="spNode" presStyleCnt="0"/>
      <dgm:spPr/>
    </dgm:pt>
    <dgm:pt modelId="{51AFB399-6216-4CAB-9D37-2E01C124612C}" type="pres">
      <dgm:prSet presAssocID="{37F83C70-3700-406D-8C7A-E3B7AE665571}" presName="sibTrans" presStyleLbl="sibTrans1D1" presStyleIdx="1" presStyleCnt="5"/>
      <dgm:spPr/>
    </dgm:pt>
    <dgm:pt modelId="{AF082927-7D7E-4C80-8E73-A1D76ECCACBF}" type="pres">
      <dgm:prSet presAssocID="{59283DCC-1101-4781-AC16-AC0F39464EAE}" presName="node" presStyleLbl="node1" presStyleIdx="2" presStyleCnt="5">
        <dgm:presLayoutVars>
          <dgm:bulletEnabled val="1"/>
        </dgm:presLayoutVars>
      </dgm:prSet>
      <dgm:spPr/>
    </dgm:pt>
    <dgm:pt modelId="{10326764-5B4E-4C3C-B979-5EEB026A7243}" type="pres">
      <dgm:prSet presAssocID="{59283DCC-1101-4781-AC16-AC0F39464EAE}" presName="spNode" presStyleCnt="0"/>
      <dgm:spPr/>
    </dgm:pt>
    <dgm:pt modelId="{65C7ADDB-CFF9-401A-9AFF-9B433EF479D6}" type="pres">
      <dgm:prSet presAssocID="{5A5EC861-6BDC-4E40-8784-85D4598C36F6}" presName="sibTrans" presStyleLbl="sibTrans1D1" presStyleIdx="2" presStyleCnt="5"/>
      <dgm:spPr/>
    </dgm:pt>
    <dgm:pt modelId="{6F37B80F-58DB-4292-BA27-F2C34F018F0C}" type="pres">
      <dgm:prSet presAssocID="{9580402E-56A8-4020-B0A0-91E4A7FEDC15}" presName="node" presStyleLbl="node1" presStyleIdx="3" presStyleCnt="5">
        <dgm:presLayoutVars>
          <dgm:bulletEnabled val="1"/>
        </dgm:presLayoutVars>
      </dgm:prSet>
      <dgm:spPr/>
    </dgm:pt>
    <dgm:pt modelId="{EE5F26BD-3784-4EEC-9088-9EFABE0AC40B}" type="pres">
      <dgm:prSet presAssocID="{9580402E-56A8-4020-B0A0-91E4A7FEDC15}" presName="spNode" presStyleCnt="0"/>
      <dgm:spPr/>
    </dgm:pt>
    <dgm:pt modelId="{402CB780-F1AA-4127-AE9A-9B3676B7B749}" type="pres">
      <dgm:prSet presAssocID="{B6E7DF34-812C-4586-B586-6E90541E11FE}" presName="sibTrans" presStyleLbl="sibTrans1D1" presStyleIdx="3" presStyleCnt="5"/>
      <dgm:spPr/>
    </dgm:pt>
    <dgm:pt modelId="{7C862B3C-0B13-460D-81F4-100EE59EF602}" type="pres">
      <dgm:prSet presAssocID="{CCE52B37-AFF3-4BEC-A5FF-372C919EF95E}" presName="node" presStyleLbl="node1" presStyleIdx="4" presStyleCnt="5">
        <dgm:presLayoutVars>
          <dgm:bulletEnabled val="1"/>
        </dgm:presLayoutVars>
      </dgm:prSet>
      <dgm:spPr/>
    </dgm:pt>
    <dgm:pt modelId="{BE0CE7B8-92A5-444B-A3B6-166BB6C7DBA8}" type="pres">
      <dgm:prSet presAssocID="{CCE52B37-AFF3-4BEC-A5FF-372C919EF95E}" presName="spNode" presStyleCnt="0"/>
      <dgm:spPr/>
    </dgm:pt>
    <dgm:pt modelId="{66EF00C0-985C-4E09-9508-C02E90F1DCE9}" type="pres">
      <dgm:prSet presAssocID="{F659EAE0-421D-45B5-950B-62BA1296084F}" presName="sibTrans" presStyleLbl="sibTrans1D1" presStyleIdx="4" presStyleCnt="5"/>
      <dgm:spPr/>
    </dgm:pt>
  </dgm:ptLst>
  <dgm:cxnLst>
    <dgm:cxn modelId="{A89C2A0D-3ED9-4D31-8261-257B9B5DFB1C}" type="presOf" srcId="{CCE52B37-AFF3-4BEC-A5FF-372C919EF95E}" destId="{7C862B3C-0B13-460D-81F4-100EE59EF602}" srcOrd="0" destOrd="0" presId="urn:microsoft.com/office/officeart/2005/8/layout/cycle5"/>
    <dgm:cxn modelId="{ECBAC60F-6CDF-4972-AEEC-AD2754C3CEF6}" srcId="{71B1F61E-B79E-4921-8CA8-00607D615465}" destId="{59283DCC-1101-4781-AC16-AC0F39464EAE}" srcOrd="2" destOrd="0" parTransId="{8AF003E6-7640-4B86-9B7E-1EE2F34FB260}" sibTransId="{5A5EC861-6BDC-4E40-8784-85D4598C36F6}"/>
    <dgm:cxn modelId="{CE872D1B-2201-4155-A282-D98BE8E972C7}" srcId="{71B1F61E-B79E-4921-8CA8-00607D615465}" destId="{DF21CF1E-E8F7-48BD-9E2F-0783B4275D4F}" srcOrd="0" destOrd="0" parTransId="{02672668-E94C-4D3F-B024-3E83EF071008}" sibTransId="{43870F01-8D0C-493D-87C6-47CDB63CA0C3}"/>
    <dgm:cxn modelId="{61E5BA29-B239-4108-9854-E2C25EE48BAD}" type="presOf" srcId="{5A5EC861-6BDC-4E40-8784-85D4598C36F6}" destId="{65C7ADDB-CFF9-401A-9AFF-9B433EF479D6}" srcOrd="0" destOrd="0" presId="urn:microsoft.com/office/officeart/2005/8/layout/cycle5"/>
    <dgm:cxn modelId="{F470732E-3CEE-44AD-AC99-3D86D217B16D}" type="presOf" srcId="{5017CB0E-F067-4C8D-BCC3-1E89F6BF0DB6}" destId="{DF99696A-FB56-42C5-9885-47F68FD8ECED}" srcOrd="0" destOrd="0" presId="urn:microsoft.com/office/officeart/2005/8/layout/cycle5"/>
    <dgm:cxn modelId="{047D3C32-A757-422C-9A2E-4DD86AB5844D}" type="presOf" srcId="{B6E7DF34-812C-4586-B586-6E90541E11FE}" destId="{402CB780-F1AA-4127-AE9A-9B3676B7B749}" srcOrd="0" destOrd="0" presId="urn:microsoft.com/office/officeart/2005/8/layout/cycle5"/>
    <dgm:cxn modelId="{F1E8B362-379D-4B44-B379-FDD050461510}" type="presOf" srcId="{59283DCC-1101-4781-AC16-AC0F39464EAE}" destId="{AF082927-7D7E-4C80-8E73-A1D76ECCACBF}" srcOrd="0" destOrd="0" presId="urn:microsoft.com/office/officeart/2005/8/layout/cycle5"/>
    <dgm:cxn modelId="{7462E677-BDEB-405E-ABD4-87892E9FD07D}" type="presOf" srcId="{9580402E-56A8-4020-B0A0-91E4A7FEDC15}" destId="{6F37B80F-58DB-4292-BA27-F2C34F018F0C}" srcOrd="0" destOrd="0" presId="urn:microsoft.com/office/officeart/2005/8/layout/cycle5"/>
    <dgm:cxn modelId="{3AE52488-4EF7-4D68-9B73-EC43F1C0F4D4}" type="presOf" srcId="{37F83C70-3700-406D-8C7A-E3B7AE665571}" destId="{51AFB399-6216-4CAB-9D37-2E01C124612C}" srcOrd="0" destOrd="0" presId="urn:microsoft.com/office/officeart/2005/8/layout/cycle5"/>
    <dgm:cxn modelId="{D1F84F8A-ED12-40FC-A5B7-D11271FC9026}" srcId="{71B1F61E-B79E-4921-8CA8-00607D615465}" destId="{9580402E-56A8-4020-B0A0-91E4A7FEDC15}" srcOrd="3" destOrd="0" parTransId="{F09904E3-80CF-4644-BAB7-253055CB5E22}" sibTransId="{B6E7DF34-812C-4586-B586-6E90541E11FE}"/>
    <dgm:cxn modelId="{FEEB9898-0349-4CF4-950F-C31AB762AF49}" srcId="{71B1F61E-B79E-4921-8CA8-00607D615465}" destId="{CCE52B37-AFF3-4BEC-A5FF-372C919EF95E}" srcOrd="4" destOrd="0" parTransId="{DF7974F8-74F3-4CD9-AF5D-0A97A2BF2554}" sibTransId="{F659EAE0-421D-45B5-950B-62BA1296084F}"/>
    <dgm:cxn modelId="{641E709A-A338-4D2F-966E-DEB104E7D828}" srcId="{71B1F61E-B79E-4921-8CA8-00607D615465}" destId="{5017CB0E-F067-4C8D-BCC3-1E89F6BF0DB6}" srcOrd="1" destOrd="0" parTransId="{7EA63C5E-7894-4011-8777-E05AB93A5604}" sibTransId="{37F83C70-3700-406D-8C7A-E3B7AE665571}"/>
    <dgm:cxn modelId="{6999A3D9-6999-4A51-93DA-39793B25F27D}" type="presOf" srcId="{71B1F61E-B79E-4921-8CA8-00607D615465}" destId="{CE51EAD9-06C0-4DBC-9F94-7804EE0417E8}" srcOrd="0" destOrd="0" presId="urn:microsoft.com/office/officeart/2005/8/layout/cycle5"/>
    <dgm:cxn modelId="{B369B6E4-7D59-453B-BD33-5779B55DA85E}" type="presOf" srcId="{DF21CF1E-E8F7-48BD-9E2F-0783B4275D4F}" destId="{6C392781-824D-4A9A-B53B-15B182F41E67}" srcOrd="0" destOrd="0" presId="urn:microsoft.com/office/officeart/2005/8/layout/cycle5"/>
    <dgm:cxn modelId="{39017CEC-34E4-4E00-96C1-4BDB14A6700D}" type="presOf" srcId="{F659EAE0-421D-45B5-950B-62BA1296084F}" destId="{66EF00C0-985C-4E09-9508-C02E90F1DCE9}" srcOrd="0" destOrd="0" presId="urn:microsoft.com/office/officeart/2005/8/layout/cycle5"/>
    <dgm:cxn modelId="{98E28CF6-79DA-4CCD-A05D-E232FEA32EAF}" type="presOf" srcId="{43870F01-8D0C-493D-87C6-47CDB63CA0C3}" destId="{009CE4DD-9E5F-40D8-8D55-613C90442619}" srcOrd="0" destOrd="0" presId="urn:microsoft.com/office/officeart/2005/8/layout/cycle5"/>
    <dgm:cxn modelId="{FE4DB78A-FE4A-4339-B3D2-C8E6D8C17168}" type="presParOf" srcId="{CE51EAD9-06C0-4DBC-9F94-7804EE0417E8}" destId="{6C392781-824D-4A9A-B53B-15B182F41E67}" srcOrd="0" destOrd="0" presId="urn:microsoft.com/office/officeart/2005/8/layout/cycle5"/>
    <dgm:cxn modelId="{3D92934D-1722-430A-8D37-5FB682950520}" type="presParOf" srcId="{CE51EAD9-06C0-4DBC-9F94-7804EE0417E8}" destId="{48F10FB2-D4AF-42A1-AE30-73A7B03AADA8}" srcOrd="1" destOrd="0" presId="urn:microsoft.com/office/officeart/2005/8/layout/cycle5"/>
    <dgm:cxn modelId="{243D94B8-83D4-4985-B9F7-3798DC680CAB}" type="presParOf" srcId="{CE51EAD9-06C0-4DBC-9F94-7804EE0417E8}" destId="{009CE4DD-9E5F-40D8-8D55-613C90442619}" srcOrd="2" destOrd="0" presId="urn:microsoft.com/office/officeart/2005/8/layout/cycle5"/>
    <dgm:cxn modelId="{63AB009C-5FF1-4F67-9E8C-421EC592D409}" type="presParOf" srcId="{CE51EAD9-06C0-4DBC-9F94-7804EE0417E8}" destId="{DF99696A-FB56-42C5-9885-47F68FD8ECED}" srcOrd="3" destOrd="0" presId="urn:microsoft.com/office/officeart/2005/8/layout/cycle5"/>
    <dgm:cxn modelId="{72843909-13B3-4DD1-AE6E-18A214DCB688}" type="presParOf" srcId="{CE51EAD9-06C0-4DBC-9F94-7804EE0417E8}" destId="{4F295E57-2AF9-4A24-9516-6EFC944D88FD}" srcOrd="4" destOrd="0" presId="urn:microsoft.com/office/officeart/2005/8/layout/cycle5"/>
    <dgm:cxn modelId="{C61119C5-6802-4C3F-B0EF-B3F9DADCA32B}" type="presParOf" srcId="{CE51EAD9-06C0-4DBC-9F94-7804EE0417E8}" destId="{51AFB399-6216-4CAB-9D37-2E01C124612C}" srcOrd="5" destOrd="0" presId="urn:microsoft.com/office/officeart/2005/8/layout/cycle5"/>
    <dgm:cxn modelId="{8AA40D5E-D94A-4982-8087-90806B2AF9BC}" type="presParOf" srcId="{CE51EAD9-06C0-4DBC-9F94-7804EE0417E8}" destId="{AF082927-7D7E-4C80-8E73-A1D76ECCACBF}" srcOrd="6" destOrd="0" presId="urn:microsoft.com/office/officeart/2005/8/layout/cycle5"/>
    <dgm:cxn modelId="{8AE1A2AF-132A-48BC-BCA1-5F5FEFE9F064}" type="presParOf" srcId="{CE51EAD9-06C0-4DBC-9F94-7804EE0417E8}" destId="{10326764-5B4E-4C3C-B979-5EEB026A7243}" srcOrd="7" destOrd="0" presId="urn:microsoft.com/office/officeart/2005/8/layout/cycle5"/>
    <dgm:cxn modelId="{483736C0-AEA2-4759-B56D-DE61B3D12D5A}" type="presParOf" srcId="{CE51EAD9-06C0-4DBC-9F94-7804EE0417E8}" destId="{65C7ADDB-CFF9-401A-9AFF-9B433EF479D6}" srcOrd="8" destOrd="0" presId="urn:microsoft.com/office/officeart/2005/8/layout/cycle5"/>
    <dgm:cxn modelId="{7C25DE4E-853A-4849-9101-BC83D951175A}" type="presParOf" srcId="{CE51EAD9-06C0-4DBC-9F94-7804EE0417E8}" destId="{6F37B80F-58DB-4292-BA27-F2C34F018F0C}" srcOrd="9" destOrd="0" presId="urn:microsoft.com/office/officeart/2005/8/layout/cycle5"/>
    <dgm:cxn modelId="{A585BC4F-905C-4CC1-A629-92EFA900CCC7}" type="presParOf" srcId="{CE51EAD9-06C0-4DBC-9F94-7804EE0417E8}" destId="{EE5F26BD-3784-4EEC-9088-9EFABE0AC40B}" srcOrd="10" destOrd="0" presId="urn:microsoft.com/office/officeart/2005/8/layout/cycle5"/>
    <dgm:cxn modelId="{46B436F0-5EFE-4735-8670-F0EBCEA95C71}" type="presParOf" srcId="{CE51EAD9-06C0-4DBC-9F94-7804EE0417E8}" destId="{402CB780-F1AA-4127-AE9A-9B3676B7B749}" srcOrd="11" destOrd="0" presId="urn:microsoft.com/office/officeart/2005/8/layout/cycle5"/>
    <dgm:cxn modelId="{4D250B2A-C138-4709-9977-41330C4E4CA2}" type="presParOf" srcId="{CE51EAD9-06C0-4DBC-9F94-7804EE0417E8}" destId="{7C862B3C-0B13-460D-81F4-100EE59EF602}" srcOrd="12" destOrd="0" presId="urn:microsoft.com/office/officeart/2005/8/layout/cycle5"/>
    <dgm:cxn modelId="{9EF4B2DB-1ECE-43D3-9914-0623F5CE22BA}" type="presParOf" srcId="{CE51EAD9-06C0-4DBC-9F94-7804EE0417E8}" destId="{BE0CE7B8-92A5-444B-A3B6-166BB6C7DBA8}" srcOrd="13" destOrd="0" presId="urn:microsoft.com/office/officeart/2005/8/layout/cycle5"/>
    <dgm:cxn modelId="{82828848-938D-415D-88EC-E0953E8C4BC0}" type="presParOf" srcId="{CE51EAD9-06C0-4DBC-9F94-7804EE0417E8}" destId="{66EF00C0-985C-4E09-9508-C02E90F1DCE9}"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92781-824D-4A9A-B53B-15B182F41E67}">
      <dsp:nvSpPr>
        <dsp:cNvPr id="0" name=""/>
        <dsp:cNvSpPr/>
      </dsp:nvSpPr>
      <dsp:spPr>
        <a:xfrm>
          <a:off x="3533766" y="3111"/>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MST(02)</a:t>
          </a:r>
        </a:p>
        <a:p>
          <a:pPr marL="0" lvl="0" indent="0" algn="ctr" defTabSz="622300">
            <a:lnSpc>
              <a:spcPct val="90000"/>
            </a:lnSpc>
            <a:spcBef>
              <a:spcPct val="0"/>
            </a:spcBef>
            <a:spcAft>
              <a:spcPct val="35000"/>
            </a:spcAft>
            <a:buNone/>
          </a:pPr>
          <a:r>
            <a:rPr lang="en-US" sz="1400" kern="1200" dirty="0"/>
            <a:t>20 marks</a:t>
          </a:r>
        </a:p>
      </dsp:txBody>
      <dsp:txXfrm>
        <a:off x="3582645" y="51990"/>
        <a:ext cx="1442682" cy="903528"/>
      </dsp:txXfrm>
    </dsp:sp>
    <dsp:sp modelId="{009CE4DD-9E5F-40D8-8D55-613C90442619}">
      <dsp:nvSpPr>
        <dsp:cNvPr id="0" name=""/>
        <dsp:cNvSpPr/>
      </dsp:nvSpPr>
      <dsp:spPr>
        <a:xfrm>
          <a:off x="2303849" y="503754"/>
          <a:ext cx="4000274" cy="4000274"/>
        </a:xfrm>
        <a:custGeom>
          <a:avLst/>
          <a:gdLst/>
          <a:ahLst/>
          <a:cxnLst/>
          <a:rect l="0" t="0" r="0" b="0"/>
          <a:pathLst>
            <a:path>
              <a:moveTo>
                <a:pt x="2976644" y="254576"/>
              </a:moveTo>
              <a:arcTo wR="2000137" hR="2000137" stAng="17953421"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99696A-FB56-42C5-9885-47F68FD8ECED}">
      <dsp:nvSpPr>
        <dsp:cNvPr id="0" name=""/>
        <dsp:cNvSpPr/>
      </dsp:nvSpPr>
      <dsp:spPr>
        <a:xfrm>
          <a:off x="5436009"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Quiz </a:t>
          </a:r>
        </a:p>
        <a:p>
          <a:pPr marL="0" lvl="0" indent="0" algn="ctr" defTabSz="622300">
            <a:lnSpc>
              <a:spcPct val="90000"/>
            </a:lnSpc>
            <a:spcBef>
              <a:spcPct val="0"/>
            </a:spcBef>
            <a:spcAft>
              <a:spcPct val="35000"/>
            </a:spcAft>
            <a:buNone/>
          </a:pPr>
          <a:r>
            <a:rPr lang="en-US" sz="1400" kern="1200"/>
            <a:t>4 marks</a:t>
          </a:r>
        </a:p>
      </dsp:txBody>
      <dsp:txXfrm>
        <a:off x="5484888" y="1434051"/>
        <a:ext cx="1442682" cy="903528"/>
      </dsp:txXfrm>
    </dsp:sp>
    <dsp:sp modelId="{51AFB399-6216-4CAB-9D37-2E01C124612C}">
      <dsp:nvSpPr>
        <dsp:cNvPr id="0" name=""/>
        <dsp:cNvSpPr/>
      </dsp:nvSpPr>
      <dsp:spPr>
        <a:xfrm>
          <a:off x="2303849" y="503754"/>
          <a:ext cx="4000274" cy="4000274"/>
        </a:xfrm>
        <a:custGeom>
          <a:avLst/>
          <a:gdLst/>
          <a:ahLst/>
          <a:cxnLst/>
          <a:rect l="0" t="0" r="0" b="0"/>
          <a:pathLst>
            <a:path>
              <a:moveTo>
                <a:pt x="3995476" y="2138588"/>
              </a:moveTo>
              <a:arcTo wR="2000137" hR="2000137" stAng="21838155"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F082927-7D7E-4C80-8E73-A1D76ECCACBF}">
      <dsp:nvSpPr>
        <dsp:cNvPr id="0" name=""/>
        <dsp:cNvSpPr/>
      </dsp:nvSpPr>
      <dsp:spPr>
        <a:xfrm>
          <a:off x="4709417"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Attendance</a:t>
          </a:r>
        </a:p>
        <a:p>
          <a:pPr marL="0" lvl="0" indent="0" algn="ctr" defTabSz="622300">
            <a:lnSpc>
              <a:spcPct val="90000"/>
            </a:lnSpc>
            <a:spcBef>
              <a:spcPct val="0"/>
            </a:spcBef>
            <a:spcAft>
              <a:spcPct val="35000"/>
            </a:spcAft>
            <a:buNone/>
          </a:pPr>
          <a:r>
            <a:rPr lang="en-US" sz="1400" kern="1200"/>
            <a:t>(&gt;90%)</a:t>
          </a:r>
        </a:p>
        <a:p>
          <a:pPr marL="0" lvl="0" indent="0" algn="ctr" defTabSz="622300">
            <a:lnSpc>
              <a:spcPct val="90000"/>
            </a:lnSpc>
            <a:spcBef>
              <a:spcPct val="0"/>
            </a:spcBef>
            <a:spcAft>
              <a:spcPct val="35000"/>
            </a:spcAft>
            <a:buNone/>
          </a:pPr>
          <a:r>
            <a:rPr lang="en-US" sz="1400" kern="1200"/>
            <a:t>2 marks</a:t>
          </a:r>
        </a:p>
      </dsp:txBody>
      <dsp:txXfrm>
        <a:off x="4758296" y="3670272"/>
        <a:ext cx="1442682" cy="903528"/>
      </dsp:txXfrm>
    </dsp:sp>
    <dsp:sp modelId="{65C7ADDB-CFF9-401A-9AFF-9B433EF479D6}">
      <dsp:nvSpPr>
        <dsp:cNvPr id="0" name=""/>
        <dsp:cNvSpPr/>
      </dsp:nvSpPr>
      <dsp:spPr>
        <a:xfrm>
          <a:off x="2303849" y="503754"/>
          <a:ext cx="4000274" cy="4000274"/>
        </a:xfrm>
        <a:custGeom>
          <a:avLst/>
          <a:gdLst/>
          <a:ahLst/>
          <a:cxnLst/>
          <a:rect l="0" t="0" r="0" b="0"/>
          <a:pathLst>
            <a:path>
              <a:moveTo>
                <a:pt x="2245604" y="3985154"/>
              </a:moveTo>
              <a:arcTo wR="2000137" hR="2000137" stAng="4977036" swAng="845929"/>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F37B80F-58DB-4292-BA27-F2C34F018F0C}">
      <dsp:nvSpPr>
        <dsp:cNvPr id="0" name=""/>
        <dsp:cNvSpPr/>
      </dsp:nvSpPr>
      <dsp:spPr>
        <a:xfrm>
          <a:off x="2358115"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Surprise test </a:t>
          </a:r>
        </a:p>
        <a:p>
          <a:pPr marL="0" lvl="0" indent="0" algn="ctr" defTabSz="622300">
            <a:lnSpc>
              <a:spcPct val="90000"/>
            </a:lnSpc>
            <a:spcBef>
              <a:spcPct val="0"/>
            </a:spcBef>
            <a:spcAft>
              <a:spcPct val="35000"/>
            </a:spcAft>
            <a:buNone/>
          </a:pPr>
          <a:r>
            <a:rPr lang="en-US" sz="1400" kern="1200"/>
            <a:t>4 marks</a:t>
          </a:r>
        </a:p>
      </dsp:txBody>
      <dsp:txXfrm>
        <a:off x="2406994" y="3670272"/>
        <a:ext cx="1442682" cy="903528"/>
      </dsp:txXfrm>
    </dsp:sp>
    <dsp:sp modelId="{402CB780-F1AA-4127-AE9A-9B3676B7B749}">
      <dsp:nvSpPr>
        <dsp:cNvPr id="0" name=""/>
        <dsp:cNvSpPr/>
      </dsp:nvSpPr>
      <dsp:spPr>
        <a:xfrm>
          <a:off x="2303849" y="503754"/>
          <a:ext cx="4000274" cy="4000274"/>
        </a:xfrm>
        <a:custGeom>
          <a:avLst/>
          <a:gdLst/>
          <a:ahLst/>
          <a:cxnLst/>
          <a:rect l="0" t="0" r="0" b="0"/>
          <a:pathLst>
            <a:path>
              <a:moveTo>
                <a:pt x="212200" y="2896704"/>
              </a:moveTo>
              <a:arcTo wR="2000137" hR="2000137" stAng="9202101"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C862B3C-0B13-460D-81F4-100EE59EF602}">
      <dsp:nvSpPr>
        <dsp:cNvPr id="0" name=""/>
        <dsp:cNvSpPr/>
      </dsp:nvSpPr>
      <dsp:spPr>
        <a:xfrm>
          <a:off x="1631522"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Assignment</a:t>
          </a:r>
        </a:p>
        <a:p>
          <a:pPr marL="0" lvl="0" indent="0" algn="ctr" defTabSz="622300">
            <a:lnSpc>
              <a:spcPct val="90000"/>
            </a:lnSpc>
            <a:spcBef>
              <a:spcPct val="0"/>
            </a:spcBef>
            <a:spcAft>
              <a:spcPct val="35000"/>
            </a:spcAft>
            <a:buNone/>
          </a:pPr>
          <a:r>
            <a:rPr lang="en-US" sz="1400" kern="1200"/>
            <a:t>10 marks</a:t>
          </a:r>
        </a:p>
      </dsp:txBody>
      <dsp:txXfrm>
        <a:off x="1680401" y="1434051"/>
        <a:ext cx="1442682" cy="903528"/>
      </dsp:txXfrm>
    </dsp:sp>
    <dsp:sp modelId="{66EF00C0-985C-4E09-9508-C02E90F1DCE9}">
      <dsp:nvSpPr>
        <dsp:cNvPr id="0" name=""/>
        <dsp:cNvSpPr/>
      </dsp:nvSpPr>
      <dsp:spPr>
        <a:xfrm>
          <a:off x="2303849" y="503754"/>
          <a:ext cx="4000274" cy="4000274"/>
        </a:xfrm>
        <a:custGeom>
          <a:avLst/>
          <a:gdLst/>
          <a:ahLst/>
          <a:cxnLst/>
          <a:rect l="0" t="0" r="0" b="0"/>
          <a:pathLst>
            <a:path>
              <a:moveTo>
                <a:pt x="481118" y="698933"/>
              </a:moveTo>
              <a:arcTo wR="2000137" hR="2000137" stAng="13235017"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5FB54-165D-4AB9-AFE8-B3DB2F97C2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290952-096A-4002-986A-D2A05A28DB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35BBFA-C5E6-4302-AF9F-04896443011B}"/>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6D4A094C-F183-40AC-BF7B-13CE41A2B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E3BCF-1E08-488E-B146-D4ECC829BC76}"/>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320714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74780-691B-4443-8C3F-C9E6B5032C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66023D-9C3F-4A6B-A1FB-6E67E34D2C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CFC72-5A77-44A2-9F4B-C65A09D8087D}"/>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6BE63F2F-04CE-4F7C-A332-7ADC412242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4B8012-6493-45BF-B968-AC15284B293C}"/>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3861592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850CF-0EF3-44E1-9D0C-BA0E62485C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DDFC6D-F17F-448B-9DED-CF9D7E0EBE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9AB536-4338-4DDF-AA86-AFBAD8B88317}"/>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35BAED74-1B53-4FD7-AC26-0EABBF8339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E61062-7AB0-4E8C-9805-B06C08611849}"/>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252330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17BA-135E-47DD-9944-A50DC158F3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43CB6F-CB46-4081-A1EB-C5AB79A3DD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A177AE-DCC5-4F84-9198-C39C99A2E1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3D3DA1-3FCF-4EF3-9A8F-6CB613AB8E8D}"/>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6" name="Footer Placeholder 5">
            <a:extLst>
              <a:ext uri="{FF2B5EF4-FFF2-40B4-BE49-F238E27FC236}">
                <a16:creationId xmlns:a16="http://schemas.microsoft.com/office/drawing/2014/main" id="{F124D88F-55BD-47A8-98A7-9813B0558E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FF2FD9-35D8-449A-9E16-2D607B9B9964}"/>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50454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7AAE7-734F-4395-87D0-B144D9E5B1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301932-A4F8-403B-83F1-C8B7BB941B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D94792-1656-4EE3-BF72-77913AC1CE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E9BD37-6E41-4C90-8E70-7C108964B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E1F3AA-FB8F-463E-8F6C-2D19D41E5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2E2EF5-3EA5-4F2A-9403-3842DACDECE1}"/>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8" name="Footer Placeholder 7">
            <a:extLst>
              <a:ext uri="{FF2B5EF4-FFF2-40B4-BE49-F238E27FC236}">
                <a16:creationId xmlns:a16="http://schemas.microsoft.com/office/drawing/2014/main" id="{C500635C-02B4-4384-B44E-313D6E9526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8908B6-4D68-45FD-A583-B91E9E805FCC}"/>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1256466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BCF8-4518-47D1-8F4D-3E12E26258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F6C193-7A73-4E18-A3DE-BE7F029310EE}"/>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4" name="Footer Placeholder 3">
            <a:extLst>
              <a:ext uri="{FF2B5EF4-FFF2-40B4-BE49-F238E27FC236}">
                <a16:creationId xmlns:a16="http://schemas.microsoft.com/office/drawing/2014/main" id="{C0AAABDC-0F0B-4D60-8E10-2180780791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835A67-7146-4939-B66F-3C10F59838EC}"/>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241086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DEA8FC-9F66-405B-A525-C7F33241AF0E}"/>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3" name="Footer Placeholder 2">
            <a:extLst>
              <a:ext uri="{FF2B5EF4-FFF2-40B4-BE49-F238E27FC236}">
                <a16:creationId xmlns:a16="http://schemas.microsoft.com/office/drawing/2014/main" id="{BD3DC399-EB23-4285-B52D-7281B79C1B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6366C5-6E09-46C6-ABD0-50B4C9896164}"/>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4186158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807C5-0865-444E-93C6-6FCB8D098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8AE940-BD7C-4EA1-9D7E-0C2F50E678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D36792-4BD9-4414-AFBD-E1605B1B7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421D1-FDBE-4487-BD7C-56F734C16E6C}"/>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6" name="Footer Placeholder 5">
            <a:extLst>
              <a:ext uri="{FF2B5EF4-FFF2-40B4-BE49-F238E27FC236}">
                <a16:creationId xmlns:a16="http://schemas.microsoft.com/office/drawing/2014/main" id="{DD4BEF02-D304-4394-8EA9-C964DFD2AE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F7869E-9DCD-4F15-99F5-5F87B2099A05}"/>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137658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5054F-1F1C-4E2A-95E7-D5C2DFDAA5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F7F5ED-7A0E-4744-90C0-63E4B4587F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D69DB3-AA99-40B0-8ACA-DA23522DB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7DAFD-5EFD-4997-A41D-56FA89CDC9C3}"/>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6" name="Footer Placeholder 5">
            <a:extLst>
              <a:ext uri="{FF2B5EF4-FFF2-40B4-BE49-F238E27FC236}">
                <a16:creationId xmlns:a16="http://schemas.microsoft.com/office/drawing/2014/main" id="{61559439-0A14-488D-A33F-E5D7A297F0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3F742F-4FC3-4313-944C-6C856BC849D9}"/>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303161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C8738-7193-429D-BA1E-8FF9A6FF7C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FBB6DE-6FEC-4DE4-9F9A-944CC6A4DE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84A181-4B61-41DD-8267-2AE8AE81C6F9}"/>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5E4FDB42-31EE-41E4-8F67-63FF32CD1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824D6B-FCFD-4F21-8CC8-3971283988A2}"/>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4143715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77EBB-C21C-4BB0-A096-CBA608DAB2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D1A286-EF5E-451C-905D-F8585998C7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181F48-D5A3-4719-ACC8-94EAC467B98B}"/>
              </a:ext>
            </a:extLst>
          </p:cNvPr>
          <p:cNvSpPr>
            <a:spLocks noGrp="1"/>
          </p:cNvSpPr>
          <p:nvPr>
            <p:ph type="dt" sz="half" idx="10"/>
          </p:nvPr>
        </p:nvSpPr>
        <p:spPr/>
        <p:txBody>
          <a:body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C7230619-F8DC-4194-8CCB-64EDF94734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7C7FF-808F-4F5A-9871-5FDE426163C8}"/>
              </a:ext>
            </a:extLst>
          </p:cNvPr>
          <p:cNvSpPr>
            <a:spLocks noGrp="1"/>
          </p:cNvSpPr>
          <p:nvPr>
            <p:ph type="sldNum" sz="quarter" idx="12"/>
          </p:nvPr>
        </p:nvSpPr>
        <p:spPr/>
        <p:txBody>
          <a:bodyPr/>
          <a:lstStyle/>
          <a:p>
            <a:fld id="{9FB98420-F168-4BB1-AD9E-55866652BE7A}" type="slidenum">
              <a:rPr lang="en-IN" smtClean="0"/>
              <a:t>‹#›</a:t>
            </a:fld>
            <a:endParaRPr lang="en-IN"/>
          </a:p>
        </p:txBody>
      </p:sp>
    </p:spTree>
    <p:extLst>
      <p:ext uri="{BB962C8B-B14F-4D97-AF65-F5344CB8AC3E}">
        <p14:creationId xmlns:p14="http://schemas.microsoft.com/office/powerpoint/2010/main" val="2218549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5248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437FB0-F0C0-433D-9AEB-3AA35092C2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931C6-FA72-4453-B0FF-238FB3CA01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057392-4B06-4EE0-916E-8C84670E01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44F1F-CAAD-476B-B547-41E7997F64DC}" type="datetimeFigureOut">
              <a:rPr lang="en-IN" smtClean="0"/>
              <a:t>15-06-2023</a:t>
            </a:fld>
            <a:endParaRPr lang="en-IN"/>
          </a:p>
        </p:txBody>
      </p:sp>
      <p:sp>
        <p:nvSpPr>
          <p:cNvPr id="5" name="Footer Placeholder 4">
            <a:extLst>
              <a:ext uri="{FF2B5EF4-FFF2-40B4-BE49-F238E27FC236}">
                <a16:creationId xmlns:a16="http://schemas.microsoft.com/office/drawing/2014/main" id="{B2D6E149-833A-4A59-8913-0D780E767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BB4083-A1A6-42C5-BD6C-68F5A192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B98420-F168-4BB1-AD9E-55866652BE7A}" type="slidenum">
              <a:rPr lang="en-IN" smtClean="0"/>
              <a:t>‹#›</a:t>
            </a:fld>
            <a:endParaRPr lang="en-IN"/>
          </a:p>
        </p:txBody>
      </p:sp>
    </p:spTree>
    <p:extLst>
      <p:ext uri="{BB962C8B-B14F-4D97-AF65-F5344CB8AC3E}">
        <p14:creationId xmlns:p14="http://schemas.microsoft.com/office/powerpoint/2010/main" val="1850224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1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hyperlink" Target="https://www.ques10.com/p/31387/distinguish-between-type-i-and-type-ii-superconduc/" TargetMode="External"/><Relationship Id="rId2" Type="http://schemas.openxmlformats.org/officeDocument/2006/relationships/hyperlink" Target="http://lampx.tugraz.at/~hadley/ss2/problems/super/s.pdf"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hyperlink" Target="https://www.rsc.org/Education/Teachers/Resources/Inspirational/resources/4.5.2.pdf" TargetMode="External"/><Relationship Id="rId2" Type="http://schemas.openxmlformats.org/officeDocument/2006/relationships/hyperlink" Target="https://www.toppr.com/ask/question/write-any-five-applications-of-superconductors/"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8" Type="http://schemas.openxmlformats.org/officeDocument/2006/relationships/hyperlink" Target="https://www.youtube.com/watch?v=uMExoSVKhLE" TargetMode="External"/><Relationship Id="rId3" Type="http://schemas.openxmlformats.org/officeDocument/2006/relationships/image" Target="../media/image11.jpeg"/><Relationship Id="rId7" Type="http://schemas.openxmlformats.org/officeDocument/2006/relationships/hyperlink" Target="https://www.youtube.com/watch?v=2xOAb68agy0" TargetMode="External"/><Relationship Id="rId2" Type="http://schemas.openxmlformats.org/officeDocument/2006/relationships/hyperlink" Target="https://www.youtube.com/watch?v=iUETu0b-E1s" TargetMode="External"/><Relationship Id="rId1" Type="http://schemas.openxmlformats.org/officeDocument/2006/relationships/slideLayout" Target="../slideLayouts/slideLayout2.xml"/><Relationship Id="rId6" Type="http://schemas.openxmlformats.org/officeDocument/2006/relationships/hyperlink" Target="https://www.youtube.com/watch?v=fnMoQurFhSs" TargetMode="External"/><Relationship Id="rId5" Type="http://schemas.openxmlformats.org/officeDocument/2006/relationships/hyperlink" Target="https://www.youtube.com/watch?v=AX962gXo0CI" TargetMode="Externa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09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279561" y="1562755"/>
            <a:ext cx="8961316" cy="381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a:latin typeface="Arial Black" panose="020B0A04020102020204" pitchFamily="34" charset="0"/>
                <a:ea typeface="Karla" pitchFamily="2" charset="0"/>
                <a:cs typeface="Karla" pitchFamily="2" charset="0"/>
              </a:rPr>
              <a:t>UNIT 1 - 5</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(EE Branch) </a:t>
            </a:r>
          </a:p>
          <a:p>
            <a:pPr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Prepared by: Divya, Assistant Prof. Physics</a:t>
            </a: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AAC0423-873A-4B03-AB30-5F489B763804}"/>
              </a:ext>
            </a:extLst>
          </p:cNvPr>
          <p:cNvSpPr txBox="1"/>
          <p:nvPr/>
        </p:nvSpPr>
        <p:spPr>
          <a:xfrm>
            <a:off x="2413017" y="6085113"/>
            <a:ext cx="3303055" cy="400110"/>
          </a:xfrm>
          <a:prstGeom prst="rect">
            <a:avLst/>
          </a:prstGeom>
          <a:noFill/>
        </p:spPr>
        <p:txBody>
          <a:bodyPr wrap="square" rtlCol="0">
            <a:spAutoFit/>
          </a:bodyPr>
          <a:lstStyle/>
          <a:p>
            <a:r>
              <a:rPr lang="en-IN" sz="2000" b="1" dirty="0"/>
              <a:t>Superconductivity</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2" name="Rectangle 1"/>
          <p:cNvSpPr/>
          <p:nvPr/>
        </p:nvSpPr>
        <p:spPr>
          <a:xfrm>
            <a:off x="1037230" y="743847"/>
            <a:ext cx="9730854" cy="5139869"/>
          </a:xfrm>
          <a:prstGeom prst="rect">
            <a:avLst/>
          </a:prstGeom>
        </p:spPr>
        <p:txBody>
          <a:bodyPr wrap="square">
            <a:spAutoFit/>
          </a:bodyPr>
          <a:lstStyle/>
          <a:p>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pic>
        <p:nvPicPr>
          <p:cNvPr id="3" name="Picture 4">
            <a:extLst>
              <a:ext uri="{FF2B5EF4-FFF2-40B4-BE49-F238E27FC236}">
                <a16:creationId xmlns:a16="http://schemas.microsoft.com/office/drawing/2014/main" id="{C74C9E49-0CCD-4E8D-9E9A-95096C88A4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6C76E04-2CC7-430C-AF02-08420D65F2F1}"/>
              </a:ext>
            </a:extLst>
          </p:cNvPr>
          <p:cNvPicPr>
            <a:picLocks noChangeAspect="1"/>
          </p:cNvPicPr>
          <p:nvPr/>
        </p:nvPicPr>
        <p:blipFill>
          <a:blip r:embed="rId3"/>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6E1B14-0E12-446B-921F-5BE39F1CBF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F1BADC4-EF1A-4B1B-BCB3-BCA0E37783A3}"/>
              </a:ext>
            </a:extLst>
          </p:cNvPr>
          <p:cNvPicPr>
            <a:picLocks noChangeAspect="1"/>
          </p:cNvPicPr>
          <p:nvPr/>
        </p:nvPicPr>
        <p:blipFill>
          <a:blip r:embed="rId3"/>
          <a:stretch>
            <a:fillRect/>
          </a:stretch>
        </p:blipFill>
        <p:spPr>
          <a:xfrm>
            <a:off x="8894921" y="6443316"/>
            <a:ext cx="3019846" cy="400106"/>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856405599"/>
              </p:ext>
            </p:extLst>
          </p:nvPr>
        </p:nvGraphicFramePr>
        <p:xfrm>
          <a:off x="399613" y="2069040"/>
          <a:ext cx="5458263" cy="3704244"/>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8217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62703">
                <a:tc>
                  <a:txBody>
                    <a:bodyPr/>
                    <a:lstStyle/>
                    <a:p>
                      <a:pPr marL="0" marR="0">
                        <a:lnSpc>
                          <a:spcPct val="115000"/>
                        </a:lnSpc>
                        <a:spcBef>
                          <a:spcPts val="0"/>
                        </a:spcBef>
                        <a:spcAft>
                          <a:spcPts val="0"/>
                        </a:spcAft>
                      </a:pPr>
                      <a:r>
                        <a:rPr lang="en-US" sz="1200" b="1" dirty="0">
                          <a:solidFill>
                            <a:schemeClr val="tx1"/>
                          </a:solidFill>
                          <a:effectLst/>
                        </a:rPr>
                        <a:t>CO1</a:t>
                      </a:r>
                      <a:endParaRPr lang="en-US" sz="12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chemeClr val="tx1"/>
                          </a:solidFill>
                          <a:effectLst/>
                          <a:latin typeface="+mn-lt"/>
                          <a:ea typeface="+mn-ea"/>
                          <a:cs typeface="+mn-cs"/>
                        </a:rPr>
                        <a:t>To identify various components of laser and optical fibers and justify their importance and applications in different fields of science and technology</a:t>
                      </a:r>
                    </a:p>
                  </a:txBody>
                  <a:tcPr marL="68580" marR="68580" marT="0" marB="0" anchor="ctr"/>
                </a:tc>
                <a:tc>
                  <a:txBody>
                    <a:bodyPr/>
                    <a:lstStyle/>
                    <a:p>
                      <a:pPr marL="0" marR="0">
                        <a:lnSpc>
                          <a:spcPct val="115000"/>
                        </a:lnSpc>
                        <a:spcBef>
                          <a:spcPts val="0"/>
                        </a:spcBef>
                        <a:spcAft>
                          <a:spcPts val="0"/>
                        </a:spcAft>
                      </a:pPr>
                      <a:r>
                        <a:rPr lang="en-US" sz="1200" b="1" dirty="0">
                          <a:solidFill>
                            <a:schemeClr val="tx1"/>
                          </a:solidFill>
                          <a:effectLst/>
                        </a:rPr>
                        <a:t>Understand</a:t>
                      </a:r>
                    </a:p>
                    <a:p>
                      <a:pPr marL="0" marR="0">
                        <a:lnSpc>
                          <a:spcPct val="115000"/>
                        </a:lnSpc>
                        <a:spcBef>
                          <a:spcPts val="0"/>
                        </a:spcBef>
                        <a:spcAft>
                          <a:spcPts val="0"/>
                        </a:spcAft>
                      </a:pPr>
                      <a:r>
                        <a:rPr lang="en-US" sz="1200" b="1" dirty="0">
                          <a:solidFill>
                            <a:schemeClr val="tx1"/>
                          </a:solidFill>
                          <a:effectLst/>
                        </a:rPr>
                        <a:t>Applying</a:t>
                      </a:r>
                    </a:p>
                    <a:p>
                      <a:pPr marL="0" marR="0">
                        <a:lnSpc>
                          <a:spcPct val="115000"/>
                        </a:lnSpc>
                        <a:spcBef>
                          <a:spcPts val="0"/>
                        </a:spcBef>
                        <a:spcAft>
                          <a:spcPts val="0"/>
                        </a:spcAft>
                      </a:pPr>
                      <a:r>
                        <a:rPr lang="en-US" sz="1200" b="1" dirty="0">
                          <a:solidFill>
                            <a:schemeClr val="tx1"/>
                          </a:solidFill>
                          <a:effectLst/>
                        </a:rPr>
                        <a:t> </a:t>
                      </a:r>
                      <a:endParaRPr lang="en-US" sz="12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894988">
                <a:tc>
                  <a:txBody>
                    <a:bodyPr/>
                    <a:lstStyle/>
                    <a:p>
                      <a:pPr marL="0" marR="0">
                        <a:lnSpc>
                          <a:spcPct val="115000"/>
                        </a:lnSpc>
                        <a:spcBef>
                          <a:spcPts val="0"/>
                        </a:spcBef>
                        <a:spcAft>
                          <a:spcPts val="0"/>
                        </a:spcAft>
                      </a:pPr>
                      <a:r>
                        <a:rPr lang="en-US" sz="1200" b="0" dirty="0">
                          <a:solidFill>
                            <a:schemeClr val="tx1"/>
                          </a:solidFill>
                          <a:effectLst/>
                          <a:latin typeface="+mn-lt"/>
                        </a:rPr>
                        <a:t>CO2</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chemeClr val="tx1"/>
                          </a:solidFill>
                          <a:effectLst/>
                          <a:latin typeface="+mn-lt"/>
                          <a:ea typeface="+mn-ea"/>
                          <a:cs typeface="+mn-cs"/>
                        </a:rPr>
                        <a:t>The basic concepts of semiconductor physics, illustrate the working of various semiconductor components and use its principles in design of optoelectronic devices and its applications.</a:t>
                      </a:r>
                    </a:p>
                  </a:txBody>
                  <a:tcPr marL="68580" marR="68580" marT="0" marB="0" anchor="ctr"/>
                </a:tc>
                <a:tc>
                  <a:txBody>
                    <a:bodyPr/>
                    <a:lstStyle/>
                    <a:p>
                      <a:pPr marL="0" marR="0">
                        <a:lnSpc>
                          <a:spcPct val="115000"/>
                        </a:lnSpc>
                        <a:spcBef>
                          <a:spcPts val="0"/>
                        </a:spcBef>
                        <a:spcAft>
                          <a:spcPts val="0"/>
                        </a:spcAft>
                      </a:pPr>
                      <a:r>
                        <a:rPr lang="en-US" sz="1200" b="0" dirty="0">
                          <a:solidFill>
                            <a:schemeClr val="tx1"/>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1324812">
                <a:tc>
                  <a:txBody>
                    <a:bodyPr/>
                    <a:lstStyle/>
                    <a:p>
                      <a:pPr marL="0" marR="0">
                        <a:lnSpc>
                          <a:spcPct val="115000"/>
                        </a:lnSpc>
                        <a:spcBef>
                          <a:spcPts val="0"/>
                        </a:spcBef>
                        <a:spcAft>
                          <a:spcPts val="0"/>
                        </a:spcAft>
                      </a:pPr>
                      <a:r>
                        <a:rPr lang="en-US" sz="1200" b="0" dirty="0">
                          <a:solidFill>
                            <a:srgbClr val="FF0000"/>
                          </a:solidFill>
                          <a:effectLst/>
                          <a:latin typeface="+mn-lt"/>
                        </a:rPr>
                        <a:t>CO3</a:t>
                      </a:r>
                      <a:endParaRPr lang="en-US" sz="1200" b="0" dirty="0">
                        <a:solidFill>
                          <a:srgbClr val="FF0000"/>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rgbClr val="FF0000"/>
                          </a:solidFill>
                          <a:effectLst/>
                          <a:latin typeface="+mn-lt"/>
                          <a:ea typeface="+mn-ea"/>
                          <a:cs typeface="+mn-cs"/>
                        </a:rPr>
                        <a:t>To understand the principles of superconductivity and their applications. To illustrate the propagation of </a:t>
                      </a:r>
                      <a:r>
                        <a:rPr lang="en-US" sz="1200" kern="1200" dirty="0" err="1">
                          <a:solidFill>
                            <a:srgbClr val="FF0000"/>
                          </a:solidFill>
                          <a:effectLst/>
                          <a:latin typeface="+mn-lt"/>
                          <a:ea typeface="+mn-ea"/>
                          <a:cs typeface="+mn-cs"/>
                        </a:rPr>
                        <a:t>em</a:t>
                      </a:r>
                      <a:r>
                        <a:rPr lang="en-US" sz="1200" kern="1200" dirty="0">
                          <a:solidFill>
                            <a:srgbClr val="FF0000"/>
                          </a:solidFill>
                          <a:effectLst/>
                          <a:latin typeface="+mn-lt"/>
                          <a:ea typeface="+mn-ea"/>
                          <a:cs typeface="+mn-cs"/>
                        </a:rPr>
                        <a:t> waves.</a:t>
                      </a:r>
                    </a:p>
                  </a:txBody>
                  <a:tcPr marL="68580" marR="68580" marT="0" marB="0" anchor="ctr"/>
                </a:tc>
                <a:tc>
                  <a:txBody>
                    <a:bodyPr/>
                    <a:lstStyle/>
                    <a:p>
                      <a:pPr marL="0" marR="0">
                        <a:lnSpc>
                          <a:spcPct val="115000"/>
                        </a:lnSpc>
                        <a:spcBef>
                          <a:spcPts val="0"/>
                        </a:spcBef>
                        <a:spcAft>
                          <a:spcPts val="0"/>
                        </a:spcAft>
                      </a:pPr>
                      <a:r>
                        <a:rPr lang="en-US" sz="1200" b="0" dirty="0">
                          <a:solidFill>
                            <a:srgbClr val="FF0000"/>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rgbClr val="FF0000"/>
                          </a:solidFill>
                          <a:effectLst/>
                          <a:latin typeface="+mn-lt"/>
                        </a:rPr>
                        <a:t> Applying </a:t>
                      </a:r>
                    </a:p>
                  </a:txBody>
                  <a:tcPr marL="68580" marR="68580" marT="0" marB="0"/>
                </a:tc>
                <a:extLst>
                  <a:ext uri="{0D108BD9-81ED-4DB2-BD59-A6C34878D82A}">
                    <a16:rowId xmlns:a16="http://schemas.microsoft.com/office/drawing/2014/main" val="10003"/>
                  </a:ext>
                </a:extLst>
              </a:tr>
            </a:tbl>
          </a:graphicData>
        </a:graphic>
      </p:graphicFrame>
      <p:sp>
        <p:nvSpPr>
          <p:cNvPr id="9" name="Rectangle 8"/>
          <p:cNvSpPr/>
          <p:nvPr/>
        </p:nvSpPr>
        <p:spPr>
          <a:xfrm>
            <a:off x="928468" y="418837"/>
            <a:ext cx="4929408" cy="769441"/>
          </a:xfrm>
          <a:prstGeom prst="rect">
            <a:avLst/>
          </a:prstGeom>
        </p:spPr>
        <p:txBody>
          <a:bodyPr wrap="square">
            <a:spAutoFit/>
          </a:bodyPr>
          <a:lstStyle/>
          <a:p>
            <a:r>
              <a:rPr lang="en-US" sz="4400" b="1" dirty="0">
                <a:latin typeface="Caper bold "/>
                <a:ea typeface="Cambria" panose="02040503050406030204" pitchFamily="18" charset="0"/>
              </a:rPr>
              <a:t>Course Outcomes </a:t>
            </a:r>
          </a:p>
        </p:txBody>
      </p:sp>
      <p:pic>
        <p:nvPicPr>
          <p:cNvPr id="10" name="Picture 2" descr="Aluminum &quot;superatoms&quot; hint at a new type of superconducting materia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5975" y="1188278"/>
            <a:ext cx="5184774" cy="459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9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5748-AA9D-4460-A744-675D12CB3F13}"/>
              </a:ext>
            </a:extLst>
          </p:cNvPr>
          <p:cNvSpPr>
            <a:spLocks noGrp="1"/>
          </p:cNvSpPr>
          <p:nvPr>
            <p:ph type="title"/>
          </p:nvPr>
        </p:nvSpPr>
        <p:spPr/>
        <p:txBody>
          <a:bodyPr/>
          <a:lstStyle/>
          <a:p>
            <a:pPr algn="ctr"/>
            <a:r>
              <a:rPr lang="en-US" b="1" dirty="0">
                <a:latin typeface="+mn-lt"/>
              </a:rPr>
              <a:t>Content</a:t>
            </a:r>
            <a:endParaRPr lang="en-IN" b="1" dirty="0">
              <a:latin typeface="+mn-lt"/>
            </a:endParaRPr>
          </a:p>
        </p:txBody>
      </p:sp>
      <p:sp>
        <p:nvSpPr>
          <p:cNvPr id="3" name="Content Placeholder 2">
            <a:extLst>
              <a:ext uri="{FF2B5EF4-FFF2-40B4-BE49-F238E27FC236}">
                <a16:creationId xmlns:a16="http://schemas.microsoft.com/office/drawing/2014/main" id="{D7F743FB-FFEF-4357-93A4-B2ECE0AEDAD0}"/>
              </a:ext>
            </a:extLst>
          </p:cNvPr>
          <p:cNvSpPr>
            <a:spLocks noGrp="1"/>
          </p:cNvSpPr>
          <p:nvPr>
            <p:ph idx="1"/>
          </p:nvPr>
        </p:nvSpPr>
        <p:spPr/>
        <p:txBody>
          <a:bodyPr/>
          <a:lstStyle/>
          <a:p>
            <a:endParaRPr lang="en-US" dirty="0"/>
          </a:p>
          <a:p>
            <a:endParaRPr lang="en-US" dirty="0"/>
          </a:p>
          <a:p>
            <a:r>
              <a:rPr lang="en-US" dirty="0"/>
              <a:t>TYPE-1 AND TYPE-2 SUPERCONDUCTORS</a:t>
            </a:r>
          </a:p>
          <a:p>
            <a:r>
              <a:rPr lang="en-US" dirty="0"/>
              <a:t>APPLICATIONS OF SUPERCONDUCTORS</a:t>
            </a:r>
          </a:p>
        </p:txBody>
      </p:sp>
      <p:pic>
        <p:nvPicPr>
          <p:cNvPr id="5" name="Picture 4">
            <a:extLst>
              <a:ext uri="{FF2B5EF4-FFF2-40B4-BE49-F238E27FC236}">
                <a16:creationId xmlns:a16="http://schemas.microsoft.com/office/drawing/2014/main" id="{F06E1B14-0E12-446B-921F-5BE39F1CBF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F1BADC4-EF1A-4B1B-BCB3-BCA0E37783A3}"/>
              </a:ext>
            </a:extLst>
          </p:cNvPr>
          <p:cNvPicPr>
            <a:picLocks noChangeAspect="1"/>
          </p:cNvPicPr>
          <p:nvPr/>
        </p:nvPicPr>
        <p:blipFill>
          <a:blip r:embed="rId3"/>
          <a:stretch>
            <a:fillRect/>
          </a:stretch>
        </p:blipFill>
        <p:spPr>
          <a:xfrm>
            <a:off x="8894921" y="6443316"/>
            <a:ext cx="3019846" cy="400106"/>
          </a:xfrm>
          <a:prstGeom prst="rect">
            <a:avLst/>
          </a:prstGeom>
        </p:spPr>
      </p:pic>
    </p:spTree>
    <p:extLst>
      <p:ext uri="{BB962C8B-B14F-4D97-AF65-F5344CB8AC3E}">
        <p14:creationId xmlns:p14="http://schemas.microsoft.com/office/powerpoint/2010/main" val="2778899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AC6F64B-AE99-4E7C-A3A7-5B4F8E989CD3}"/>
              </a:ext>
            </a:extLst>
          </p:cNvPr>
          <p:cNvPicPr>
            <a:picLocks noGrp="1" noChangeAspect="1"/>
          </p:cNvPicPr>
          <p:nvPr>
            <p:ph idx="1"/>
          </p:nvPr>
        </p:nvPicPr>
        <p:blipFill>
          <a:blip r:embed="rId2"/>
          <a:stretch>
            <a:fillRect/>
          </a:stretch>
        </p:blipFill>
        <p:spPr>
          <a:xfrm>
            <a:off x="6495373" y="2002439"/>
            <a:ext cx="5508336" cy="4202300"/>
          </a:xfrm>
          <a:prstGeom prst="rect">
            <a:avLst/>
          </a:prstGeom>
        </p:spPr>
      </p:pic>
      <p:sp>
        <p:nvSpPr>
          <p:cNvPr id="8" name="TextBox 7">
            <a:extLst>
              <a:ext uri="{FF2B5EF4-FFF2-40B4-BE49-F238E27FC236}">
                <a16:creationId xmlns:a16="http://schemas.microsoft.com/office/drawing/2014/main" id="{0E9CD7A5-2DE2-46EA-88C0-6CB29CD93AE7}"/>
              </a:ext>
            </a:extLst>
          </p:cNvPr>
          <p:cNvSpPr txBox="1"/>
          <p:nvPr/>
        </p:nvSpPr>
        <p:spPr>
          <a:xfrm>
            <a:off x="7190509" y="5444836"/>
            <a:ext cx="827471" cy="369332"/>
          </a:xfrm>
          <a:prstGeom prst="rect">
            <a:avLst/>
          </a:prstGeom>
          <a:noFill/>
        </p:spPr>
        <p:txBody>
          <a:bodyPr wrap="none" rtlCol="0">
            <a:spAutoFit/>
          </a:bodyPr>
          <a:lstStyle/>
          <a:p>
            <a:r>
              <a:rPr lang="en-US" dirty="0"/>
              <a:t>TYPE-1</a:t>
            </a:r>
            <a:endParaRPr lang="en-IN" dirty="0"/>
          </a:p>
        </p:txBody>
      </p:sp>
      <p:sp>
        <p:nvSpPr>
          <p:cNvPr id="9" name="TextBox 8">
            <a:extLst>
              <a:ext uri="{FF2B5EF4-FFF2-40B4-BE49-F238E27FC236}">
                <a16:creationId xmlns:a16="http://schemas.microsoft.com/office/drawing/2014/main" id="{99433929-BCB2-4776-991B-9ECF9171254F}"/>
              </a:ext>
            </a:extLst>
          </p:cNvPr>
          <p:cNvSpPr txBox="1"/>
          <p:nvPr/>
        </p:nvSpPr>
        <p:spPr>
          <a:xfrm>
            <a:off x="9531927" y="5814168"/>
            <a:ext cx="827471" cy="369332"/>
          </a:xfrm>
          <a:prstGeom prst="rect">
            <a:avLst/>
          </a:prstGeom>
          <a:noFill/>
        </p:spPr>
        <p:txBody>
          <a:bodyPr wrap="none" rtlCol="0">
            <a:spAutoFit/>
          </a:bodyPr>
          <a:lstStyle/>
          <a:p>
            <a:r>
              <a:rPr lang="en-US" dirty="0"/>
              <a:t>TYPE-2</a:t>
            </a:r>
            <a:endParaRPr lang="en-IN" dirty="0"/>
          </a:p>
        </p:txBody>
      </p:sp>
      <p:sp>
        <p:nvSpPr>
          <p:cNvPr id="11" name="Oval 10">
            <a:extLst>
              <a:ext uri="{FF2B5EF4-FFF2-40B4-BE49-F238E27FC236}">
                <a16:creationId xmlns:a16="http://schemas.microsoft.com/office/drawing/2014/main" id="{D92DEDFE-A365-4989-A3D2-75E96ABFB9EB}"/>
              </a:ext>
            </a:extLst>
          </p:cNvPr>
          <p:cNvSpPr/>
          <p:nvPr/>
        </p:nvSpPr>
        <p:spPr>
          <a:xfrm>
            <a:off x="10359398" y="3429000"/>
            <a:ext cx="571838" cy="369332"/>
          </a:xfrm>
          <a:prstGeom prst="ellipse">
            <a:avLst/>
          </a:prstGeom>
          <a:noFill/>
          <a:ln>
            <a:solidFill>
              <a:srgbClr val="C00000"/>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4">
            <a:extLst>
              <a:ext uri="{FF2B5EF4-FFF2-40B4-BE49-F238E27FC236}">
                <a16:creationId xmlns:a16="http://schemas.microsoft.com/office/drawing/2014/main" id="{23BC2B27-FDA0-422B-A895-B036A16C2B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205E0BE-46B1-4BC0-A66D-72BF8341DED7}"/>
              </a:ext>
            </a:extLst>
          </p:cNvPr>
          <p:cNvPicPr>
            <a:picLocks noChangeAspect="1"/>
          </p:cNvPicPr>
          <p:nvPr/>
        </p:nvPicPr>
        <p:blipFill>
          <a:blip r:embed="rId4"/>
          <a:stretch>
            <a:fillRect/>
          </a:stretch>
        </p:blipFill>
        <p:spPr>
          <a:xfrm>
            <a:off x="9172154" y="6457894"/>
            <a:ext cx="3019846" cy="400106"/>
          </a:xfrm>
          <a:prstGeom prst="rect">
            <a:avLst/>
          </a:prstGeom>
        </p:spPr>
      </p:pic>
      <p:graphicFrame>
        <p:nvGraphicFramePr>
          <p:cNvPr id="6" name="Table 11">
            <a:extLst>
              <a:ext uri="{FF2B5EF4-FFF2-40B4-BE49-F238E27FC236}">
                <a16:creationId xmlns:a16="http://schemas.microsoft.com/office/drawing/2014/main" id="{97C40EE9-573E-4159-A28D-002C4651D6AE}"/>
              </a:ext>
            </a:extLst>
          </p:cNvPr>
          <p:cNvGraphicFramePr>
            <a:graphicFrameLocks noGrp="1"/>
          </p:cNvGraphicFramePr>
          <p:nvPr>
            <p:extLst>
              <p:ext uri="{D42A27DB-BD31-4B8C-83A1-F6EECF244321}">
                <p14:modId xmlns:p14="http://schemas.microsoft.com/office/powerpoint/2010/main" val="3845482646"/>
              </p:ext>
            </p:extLst>
          </p:nvPr>
        </p:nvGraphicFramePr>
        <p:xfrm>
          <a:off x="714762" y="2092201"/>
          <a:ext cx="5403274" cy="4260492"/>
        </p:xfrm>
        <a:graphic>
          <a:graphicData uri="http://schemas.openxmlformats.org/drawingml/2006/table">
            <a:tbl>
              <a:tblPr firstRow="1" bandRow="1">
                <a:tableStyleId>{5C22544A-7EE6-4342-B048-85BDC9FD1C3A}</a:tableStyleId>
              </a:tblPr>
              <a:tblGrid>
                <a:gridCol w="2716342">
                  <a:extLst>
                    <a:ext uri="{9D8B030D-6E8A-4147-A177-3AD203B41FA5}">
                      <a16:colId xmlns:a16="http://schemas.microsoft.com/office/drawing/2014/main" val="1581666972"/>
                    </a:ext>
                  </a:extLst>
                </a:gridCol>
                <a:gridCol w="2686932">
                  <a:extLst>
                    <a:ext uri="{9D8B030D-6E8A-4147-A177-3AD203B41FA5}">
                      <a16:colId xmlns:a16="http://schemas.microsoft.com/office/drawing/2014/main" val="513976033"/>
                    </a:ext>
                  </a:extLst>
                </a:gridCol>
              </a:tblGrid>
              <a:tr h="396533">
                <a:tc>
                  <a:txBody>
                    <a:bodyPr/>
                    <a:lstStyle/>
                    <a:p>
                      <a:pPr algn="ctr"/>
                      <a:r>
                        <a:rPr lang="en-US" sz="2200" dirty="0"/>
                        <a:t>TYPE-1</a:t>
                      </a:r>
                      <a:endParaRPr lang="en-IN" sz="2200" dirty="0"/>
                    </a:p>
                  </a:txBody>
                  <a:tcPr marL="51615" marR="51615" marT="55321" marB="55321"/>
                </a:tc>
                <a:tc>
                  <a:txBody>
                    <a:bodyPr/>
                    <a:lstStyle/>
                    <a:p>
                      <a:pPr algn="ctr"/>
                      <a:r>
                        <a:rPr lang="en-US" sz="2200" dirty="0"/>
                        <a:t>TYPE-2</a:t>
                      </a:r>
                      <a:endParaRPr lang="en-IN" sz="2200" dirty="0"/>
                    </a:p>
                  </a:txBody>
                  <a:tcPr marL="51615" marR="51615" marT="55321" marB="55321"/>
                </a:tc>
                <a:extLst>
                  <a:ext uri="{0D108BD9-81ED-4DB2-BD59-A6C34878D82A}">
                    <a16:rowId xmlns:a16="http://schemas.microsoft.com/office/drawing/2014/main" val="1674526477"/>
                  </a:ext>
                </a:extLst>
              </a:tr>
              <a:tr h="748887">
                <a:tc>
                  <a:txBody>
                    <a:bodyPr/>
                    <a:lstStyle/>
                    <a:p>
                      <a:r>
                        <a:rPr lang="en-IN" sz="1600" kern="1200" dirty="0">
                          <a:solidFill>
                            <a:schemeClr val="dk1"/>
                          </a:solidFill>
                          <a:effectLst/>
                          <a:latin typeface="+mn-lt"/>
                          <a:ea typeface="+mn-ea"/>
                          <a:cs typeface="+mn-cs"/>
                        </a:rPr>
                        <a:t>Type-I superconductors are generally pure metals</a:t>
                      </a:r>
                      <a:endParaRPr lang="en-IN" sz="1600" dirty="0"/>
                    </a:p>
                  </a:txBody>
                  <a:tcPr marL="51615" marR="51615" marT="55321" marB="55321"/>
                </a:tc>
                <a:tc>
                  <a:txBody>
                    <a:bodyPr/>
                    <a:lstStyle/>
                    <a:p>
                      <a:r>
                        <a:rPr lang="en-IN" sz="1600" kern="1200" dirty="0">
                          <a:solidFill>
                            <a:schemeClr val="dk1"/>
                          </a:solidFill>
                          <a:effectLst/>
                          <a:latin typeface="+mn-lt"/>
                          <a:ea typeface="+mn-ea"/>
                          <a:cs typeface="+mn-cs"/>
                        </a:rPr>
                        <a:t>Type-II superconductors are generally alloys and complex oxides of ceramics.</a:t>
                      </a:r>
                      <a:endParaRPr lang="en-IN" sz="1600" dirty="0"/>
                    </a:p>
                  </a:txBody>
                  <a:tcPr marL="51615" marR="51615" marT="55321" marB="55321"/>
                </a:tc>
                <a:extLst>
                  <a:ext uri="{0D108BD9-81ED-4DB2-BD59-A6C34878D82A}">
                    <a16:rowId xmlns:a16="http://schemas.microsoft.com/office/drawing/2014/main" val="1224882315"/>
                  </a:ext>
                </a:extLst>
              </a:tr>
              <a:tr h="559158">
                <a:tc>
                  <a:txBody>
                    <a:bodyPr/>
                    <a:lstStyle/>
                    <a:p>
                      <a:r>
                        <a:rPr lang="en-IN" sz="1600" kern="1200" dirty="0">
                          <a:solidFill>
                            <a:schemeClr val="dk1"/>
                          </a:solidFill>
                          <a:effectLst/>
                          <a:latin typeface="+mn-lt"/>
                          <a:ea typeface="+mn-ea"/>
                          <a:cs typeface="+mn-cs"/>
                        </a:rPr>
                        <a:t>These are completely diamagnetic</a:t>
                      </a:r>
                      <a:r>
                        <a:rPr lang="en-IN" sz="1800" kern="1200" dirty="0">
                          <a:solidFill>
                            <a:schemeClr val="dk1"/>
                          </a:solidFill>
                          <a:effectLst/>
                          <a:latin typeface="+mn-lt"/>
                          <a:ea typeface="+mn-ea"/>
                          <a:cs typeface="+mn-cs"/>
                        </a:rPr>
                        <a:t>.</a:t>
                      </a:r>
                      <a:endParaRPr lang="en-IN" sz="2200" dirty="0"/>
                    </a:p>
                  </a:txBody>
                  <a:tcPr marL="51615" marR="51615" marT="55321" marB="55321"/>
                </a:tc>
                <a:tc>
                  <a:txBody>
                    <a:bodyPr/>
                    <a:lstStyle/>
                    <a:p>
                      <a:r>
                        <a:rPr lang="en-IN" sz="1600" kern="1200" dirty="0">
                          <a:solidFill>
                            <a:schemeClr val="dk1"/>
                          </a:solidFill>
                          <a:effectLst/>
                          <a:latin typeface="+mn-lt"/>
                          <a:ea typeface="+mn-ea"/>
                          <a:cs typeface="+mn-cs"/>
                        </a:rPr>
                        <a:t>These are not completely diamagnetic</a:t>
                      </a:r>
                      <a:endParaRPr lang="en-IN" sz="1600" dirty="0"/>
                    </a:p>
                  </a:txBody>
                  <a:tcPr marL="51615" marR="51615" marT="55321" marB="55321"/>
                </a:tc>
                <a:extLst>
                  <a:ext uri="{0D108BD9-81ED-4DB2-BD59-A6C34878D82A}">
                    <a16:rowId xmlns:a16="http://schemas.microsoft.com/office/drawing/2014/main" val="1371501522"/>
                  </a:ext>
                </a:extLst>
              </a:tr>
              <a:tr h="559158">
                <a:tc>
                  <a:txBody>
                    <a:bodyPr/>
                    <a:lstStyle/>
                    <a:p>
                      <a:r>
                        <a:rPr lang="en-IN" sz="1600" kern="1200" dirty="0">
                          <a:solidFill>
                            <a:schemeClr val="dk1"/>
                          </a:solidFill>
                          <a:effectLst/>
                          <a:latin typeface="+mn-lt"/>
                          <a:ea typeface="+mn-ea"/>
                          <a:cs typeface="+mn-cs"/>
                        </a:rPr>
                        <a:t>These are also called as Soft Superconductors</a:t>
                      </a:r>
                      <a:r>
                        <a:rPr lang="en-IN" sz="1800" kern="1200" dirty="0">
                          <a:solidFill>
                            <a:schemeClr val="dk1"/>
                          </a:solidFill>
                          <a:effectLst/>
                          <a:latin typeface="+mn-lt"/>
                          <a:ea typeface="+mn-ea"/>
                          <a:cs typeface="+mn-cs"/>
                        </a:rPr>
                        <a:t>.</a:t>
                      </a:r>
                      <a:endParaRPr lang="en-IN" sz="2200" dirty="0"/>
                    </a:p>
                  </a:txBody>
                  <a:tcPr marL="51615" marR="51615" marT="55321" marB="55321"/>
                </a:tc>
                <a:tc>
                  <a:txBody>
                    <a:bodyPr/>
                    <a:lstStyle/>
                    <a:p>
                      <a:r>
                        <a:rPr lang="en-IN" sz="1600" kern="1200" dirty="0">
                          <a:solidFill>
                            <a:schemeClr val="dk1"/>
                          </a:solidFill>
                          <a:effectLst/>
                          <a:latin typeface="+mn-lt"/>
                          <a:ea typeface="+mn-ea"/>
                          <a:cs typeface="+mn-cs"/>
                        </a:rPr>
                        <a:t>These are also called as Hard Superconductors.</a:t>
                      </a:r>
                      <a:endParaRPr lang="en-IN" sz="1600" dirty="0"/>
                    </a:p>
                  </a:txBody>
                  <a:tcPr marL="51615" marR="51615" marT="55321" marB="55321"/>
                </a:tc>
                <a:extLst>
                  <a:ext uri="{0D108BD9-81ED-4DB2-BD59-A6C34878D82A}">
                    <a16:rowId xmlns:a16="http://schemas.microsoft.com/office/drawing/2014/main" val="3731946304"/>
                  </a:ext>
                </a:extLst>
              </a:tr>
              <a:tr h="532054">
                <a:tc>
                  <a:txBody>
                    <a:bodyPr/>
                    <a:lstStyle/>
                    <a:p>
                      <a:r>
                        <a:rPr lang="en-IN" sz="1600" kern="1200" dirty="0">
                          <a:solidFill>
                            <a:schemeClr val="dk1"/>
                          </a:solidFill>
                          <a:effectLst/>
                          <a:latin typeface="+mn-lt"/>
                          <a:ea typeface="+mn-ea"/>
                          <a:cs typeface="+mn-cs"/>
                        </a:rPr>
                        <a:t>No mixed state exists in type-I Superconductors</a:t>
                      </a:r>
                      <a:endParaRPr lang="en-IN" sz="1600" dirty="0"/>
                    </a:p>
                  </a:txBody>
                  <a:tcPr marL="51615" marR="51615" marT="55321" marB="55321"/>
                </a:tc>
                <a:tc>
                  <a:txBody>
                    <a:bodyPr/>
                    <a:lstStyle/>
                    <a:p>
                      <a:r>
                        <a:rPr lang="en-IN" sz="1600" kern="1200" dirty="0">
                          <a:solidFill>
                            <a:schemeClr val="dk1"/>
                          </a:solidFill>
                          <a:effectLst/>
                          <a:latin typeface="+mn-lt"/>
                          <a:ea typeface="+mn-ea"/>
                          <a:cs typeface="+mn-cs"/>
                        </a:rPr>
                        <a:t>A mixed state exists in type-II Superconductors.</a:t>
                      </a:r>
                      <a:endParaRPr lang="en-IN" sz="1600" dirty="0"/>
                    </a:p>
                  </a:txBody>
                  <a:tcPr marL="51615" marR="51615" marT="55321" marB="55321"/>
                </a:tc>
                <a:extLst>
                  <a:ext uri="{0D108BD9-81ED-4DB2-BD59-A6C34878D82A}">
                    <a16:rowId xmlns:a16="http://schemas.microsoft.com/office/drawing/2014/main" val="3320332206"/>
                  </a:ext>
                </a:extLst>
              </a:tr>
              <a:tr h="992824">
                <a:tc>
                  <a:txBody>
                    <a:bodyPr/>
                    <a:lstStyle/>
                    <a:p>
                      <a:pPr>
                        <a:lnSpc>
                          <a:spcPct val="107000"/>
                        </a:lnSpc>
                        <a:spcAft>
                          <a:spcPts val="800"/>
                        </a:spcAft>
                      </a:pPr>
                      <a:r>
                        <a:rPr lang="en-IN" sz="1600" dirty="0">
                          <a:solidFill>
                            <a:srgbClr val="000000"/>
                          </a:solidFill>
                          <a:effectLst/>
                          <a:latin typeface="+mn-lt"/>
                          <a:ea typeface="Calibri" panose="020F0502020204030204" pitchFamily="34" charset="0"/>
                          <a:cs typeface="Times New Roman" panose="02020603050405020304" pitchFamily="18" charset="0"/>
                        </a:rPr>
                        <a:t>Perfectly obey the Meissner effect: Magnetic field cannot penetrate inside the material.</a:t>
                      </a:r>
                      <a:endParaRPr lang="en-IN"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r>
                        <a:rPr lang="en-IN" sz="1600" kern="1200" dirty="0">
                          <a:solidFill>
                            <a:schemeClr val="dk1"/>
                          </a:solidFill>
                          <a:effectLst/>
                          <a:latin typeface="+mn-lt"/>
                          <a:ea typeface="+mn-ea"/>
                          <a:cs typeface="+mn-cs"/>
                        </a:rPr>
                        <a:t>Partly obey the Meissner effect but not completely: Magnetic field can penetrate inside the material</a:t>
                      </a:r>
                      <a:r>
                        <a:rPr lang="en-IN" sz="1800" kern="1200" dirty="0">
                          <a:solidFill>
                            <a:schemeClr val="dk1"/>
                          </a:solidFill>
                          <a:effectLst/>
                          <a:latin typeface="+mn-lt"/>
                          <a:ea typeface="+mn-ea"/>
                          <a:cs typeface="+mn-cs"/>
                        </a:rPr>
                        <a:t>.</a:t>
                      </a:r>
                      <a:endParaRPr lang="en-IN" sz="2200" dirty="0"/>
                    </a:p>
                  </a:txBody>
                  <a:tcPr marL="51615" marR="51615" marT="55321" marB="55321"/>
                </a:tc>
                <a:extLst>
                  <a:ext uri="{0D108BD9-81ED-4DB2-BD59-A6C34878D82A}">
                    <a16:rowId xmlns:a16="http://schemas.microsoft.com/office/drawing/2014/main" val="500978927"/>
                  </a:ext>
                </a:extLst>
              </a:tr>
            </a:tbl>
          </a:graphicData>
        </a:graphic>
      </p:graphicFrame>
      <p:sp>
        <p:nvSpPr>
          <p:cNvPr id="15" name="Title 1">
            <a:extLst>
              <a:ext uri="{FF2B5EF4-FFF2-40B4-BE49-F238E27FC236}">
                <a16:creationId xmlns:a16="http://schemas.microsoft.com/office/drawing/2014/main" id="{A3A7D575-E10B-4BFD-A23E-EB708B41370E}"/>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mn-lt"/>
              </a:rPr>
              <a:t>Type-1 and Type-2 Superconductors</a:t>
            </a:r>
            <a:endParaRPr lang="en-IN" b="1" dirty="0">
              <a:latin typeface="+mn-lt"/>
            </a:endParaRPr>
          </a:p>
        </p:txBody>
      </p:sp>
    </p:spTree>
    <p:extLst>
      <p:ext uri="{BB962C8B-B14F-4D97-AF65-F5344CB8AC3E}">
        <p14:creationId xmlns:p14="http://schemas.microsoft.com/office/powerpoint/2010/main" val="3032688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3D1F143-30AC-4204-AFBD-D62C164FAAAA}"/>
              </a:ext>
            </a:extLst>
          </p:cNvPr>
          <p:cNvGraphicFramePr>
            <a:graphicFrameLocks noGrp="1"/>
          </p:cNvGraphicFramePr>
          <p:nvPr>
            <p:ph idx="1"/>
            <p:extLst>
              <p:ext uri="{D42A27DB-BD31-4B8C-83A1-F6EECF244321}">
                <p14:modId xmlns:p14="http://schemas.microsoft.com/office/powerpoint/2010/main" val="2959568919"/>
              </p:ext>
            </p:extLst>
          </p:nvPr>
        </p:nvGraphicFramePr>
        <p:xfrm>
          <a:off x="838200" y="1781147"/>
          <a:ext cx="10515600" cy="48768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224594715"/>
                    </a:ext>
                  </a:extLst>
                </a:gridCol>
                <a:gridCol w="5257800">
                  <a:extLst>
                    <a:ext uri="{9D8B030D-6E8A-4147-A177-3AD203B41FA5}">
                      <a16:colId xmlns:a16="http://schemas.microsoft.com/office/drawing/2014/main" val="2138913164"/>
                    </a:ext>
                  </a:extLst>
                </a:gridCol>
              </a:tblGrid>
              <a:tr h="336526">
                <a:tc>
                  <a:txBody>
                    <a:bodyPr/>
                    <a:lstStyle/>
                    <a:p>
                      <a:pPr algn="ctr"/>
                      <a:r>
                        <a:rPr lang="en-US" sz="2000" dirty="0"/>
                        <a:t>TYPE-1</a:t>
                      </a:r>
                      <a:endParaRPr lang="en-IN" sz="2000" dirty="0"/>
                    </a:p>
                  </a:txBody>
                  <a:tcPr/>
                </a:tc>
                <a:tc>
                  <a:txBody>
                    <a:bodyPr/>
                    <a:lstStyle/>
                    <a:p>
                      <a:pPr algn="ctr"/>
                      <a:r>
                        <a:rPr lang="en-US" sz="2000" dirty="0"/>
                        <a:t>TYPE-2</a:t>
                      </a:r>
                      <a:endParaRPr lang="en-IN" sz="2000" dirty="0"/>
                    </a:p>
                  </a:txBody>
                  <a:tcPr/>
                </a:tc>
                <a:extLst>
                  <a:ext uri="{0D108BD9-81ED-4DB2-BD59-A6C34878D82A}">
                    <a16:rowId xmlns:a16="http://schemas.microsoft.com/office/drawing/2014/main" val="728590014"/>
                  </a:ext>
                </a:extLst>
              </a:tr>
              <a:tr h="1009578">
                <a:tc>
                  <a:txBody>
                    <a:bodyPr/>
                    <a:lstStyle/>
                    <a:p>
                      <a:r>
                        <a:rPr lang="en-IN" sz="1800" kern="1200" dirty="0">
                          <a:solidFill>
                            <a:schemeClr val="dk1"/>
                          </a:solidFill>
                          <a:effectLst/>
                          <a:latin typeface="+mn-lt"/>
                          <a:ea typeface="+mn-ea"/>
                          <a:cs typeface="+mn-cs"/>
                        </a:rPr>
                        <a:t>Easily lose the superconducting state by low-intensity magnetic field. Therefore, type-I superconductors are also known as soft superconductors.</a:t>
                      </a:r>
                      <a:endParaRPr lang="en-IN" dirty="0"/>
                    </a:p>
                  </a:txBody>
                  <a:tcPr/>
                </a:tc>
                <a:tc>
                  <a:txBody>
                    <a:bodyPr/>
                    <a:lstStyle/>
                    <a:p>
                      <a:r>
                        <a:rPr lang="en-IN" sz="1800" kern="1200" dirty="0">
                          <a:solidFill>
                            <a:schemeClr val="dk1"/>
                          </a:solidFill>
                          <a:effectLst/>
                          <a:latin typeface="+mn-lt"/>
                          <a:ea typeface="+mn-ea"/>
                          <a:cs typeface="+mn-cs"/>
                        </a:rPr>
                        <a:t>Does not easily lose the superconducting state by external magnetic field. Therefore, type-II superconductors are also known as hard superconductors.</a:t>
                      </a:r>
                      <a:endParaRPr lang="en-IN" dirty="0"/>
                    </a:p>
                  </a:txBody>
                  <a:tcPr/>
                </a:tc>
                <a:extLst>
                  <a:ext uri="{0D108BD9-81ED-4DB2-BD59-A6C34878D82A}">
                    <a16:rowId xmlns:a16="http://schemas.microsoft.com/office/drawing/2014/main" val="1020919167"/>
                  </a:ext>
                </a:extLst>
              </a:tr>
              <a:tr h="2174477">
                <a:tc>
                  <a:txBody>
                    <a:bodyPr/>
                    <a:lstStyle/>
                    <a:p>
                      <a:r>
                        <a:rPr lang="en-IN" sz="1800" kern="1200" dirty="0">
                          <a:solidFill>
                            <a:schemeClr val="dk1"/>
                          </a:solidFill>
                          <a:effectLst/>
                          <a:latin typeface="+mn-lt"/>
                          <a:ea typeface="+mn-ea"/>
                          <a:cs typeface="+mn-cs"/>
                        </a:rPr>
                        <a:t>The transition from a superconducting state to a normal state due to the external magnetic field is sharp and abrupt for type-I superconductors</a:t>
                      </a:r>
                      <a:endParaRPr lang="en-IN" dirty="0"/>
                    </a:p>
                  </a:txBody>
                  <a:tcPr/>
                </a:tc>
                <a:tc>
                  <a:txBody>
                    <a:bodyPr/>
                    <a:lstStyle/>
                    <a:p>
                      <a:r>
                        <a:rPr lang="en-IN" sz="1800" kern="1200" dirty="0">
                          <a:solidFill>
                            <a:schemeClr val="dk1"/>
                          </a:solidFill>
                          <a:effectLst/>
                          <a:latin typeface="+mn-lt"/>
                          <a:ea typeface="+mn-ea"/>
                          <a:cs typeface="+mn-cs"/>
                        </a:rPr>
                        <a:t>The transition from a superconducting state to a normal state due to the external magnetic field is gradually but not shape and abrupt. At lower critical magnetic field (H</a:t>
                      </a:r>
                      <a:r>
                        <a:rPr lang="en-IN" baseline="-25000" dirty="0">
                          <a:effectLst/>
                        </a:rPr>
                        <a:t>C1</a:t>
                      </a:r>
                      <a:r>
                        <a:rPr lang="en-IN" dirty="0">
                          <a:effectLst/>
                        </a:rPr>
                        <a:t>), type-II superconductor starts losing its superconductivity. At upper critical magnetic field (H</a:t>
                      </a:r>
                      <a:r>
                        <a:rPr lang="en-IN" baseline="-25000" dirty="0">
                          <a:effectLst/>
                        </a:rPr>
                        <a:t>C2</a:t>
                      </a:r>
                      <a:r>
                        <a:rPr lang="en-IN" dirty="0">
                          <a:effectLst/>
                        </a:rPr>
                        <a:t>), type-II superconductor completely loses its superconductivity. The state between lower critical magnetic field and upper magnetic field is known as an intermediate state or mixed state.</a:t>
                      </a:r>
                      <a:endParaRPr lang="en-IN" dirty="0"/>
                    </a:p>
                  </a:txBody>
                  <a:tcPr/>
                </a:tc>
                <a:extLst>
                  <a:ext uri="{0D108BD9-81ED-4DB2-BD59-A6C34878D82A}">
                    <a16:rowId xmlns:a16="http://schemas.microsoft.com/office/drawing/2014/main" val="2360056782"/>
                  </a:ext>
                </a:extLst>
              </a:tr>
              <a:tr h="310640">
                <a:tc>
                  <a:txBody>
                    <a:bodyPr/>
                    <a:lstStyle/>
                    <a:p>
                      <a:pPr algn="just">
                        <a:lnSpc>
                          <a:spcPct val="107000"/>
                        </a:lnSpc>
                        <a:spcAft>
                          <a:spcPts val="800"/>
                        </a:spcAft>
                      </a:pPr>
                      <a:r>
                        <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Exhibits single critical magnetic field.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IN" sz="1800" kern="1200" dirty="0">
                          <a:solidFill>
                            <a:schemeClr val="dk1"/>
                          </a:solidFill>
                          <a:effectLst/>
                          <a:latin typeface="+mn-lt"/>
                          <a:ea typeface="+mn-ea"/>
                          <a:cs typeface="+mn-cs"/>
                        </a:rPr>
                        <a:t>Exhibits two critical magnetic field</a:t>
                      </a:r>
                      <a:endParaRPr lang="en-IN" dirty="0"/>
                    </a:p>
                  </a:txBody>
                  <a:tcPr/>
                </a:tc>
                <a:extLst>
                  <a:ext uri="{0D108BD9-81ED-4DB2-BD59-A6C34878D82A}">
                    <a16:rowId xmlns:a16="http://schemas.microsoft.com/office/drawing/2014/main" val="1964506952"/>
                  </a:ext>
                </a:extLst>
              </a:tr>
              <a:tr h="310640">
                <a:tc>
                  <a:txBody>
                    <a:bodyPr/>
                    <a:lstStyle/>
                    <a:p>
                      <a:endParaRPr lang="en-IN"/>
                    </a:p>
                  </a:txBody>
                  <a:tcPr/>
                </a:tc>
                <a:tc>
                  <a:txBody>
                    <a:bodyPr/>
                    <a:lstStyle/>
                    <a:p>
                      <a:endParaRPr lang="en-IN" dirty="0"/>
                    </a:p>
                  </a:txBody>
                  <a:tcPr/>
                </a:tc>
                <a:extLst>
                  <a:ext uri="{0D108BD9-81ED-4DB2-BD59-A6C34878D82A}">
                    <a16:rowId xmlns:a16="http://schemas.microsoft.com/office/drawing/2014/main" val="3863129636"/>
                  </a:ext>
                </a:extLst>
              </a:tr>
            </a:tbl>
          </a:graphicData>
        </a:graphic>
      </p:graphicFrame>
      <p:sp>
        <p:nvSpPr>
          <p:cNvPr id="6" name="Title 1">
            <a:extLst>
              <a:ext uri="{FF2B5EF4-FFF2-40B4-BE49-F238E27FC236}">
                <a16:creationId xmlns:a16="http://schemas.microsoft.com/office/drawing/2014/main" id="{8C0E1B61-FAF6-4CAF-8792-EE22CE8D5E9A}"/>
              </a:ext>
            </a:extLst>
          </p:cNvPr>
          <p:cNvSpPr txBox="1">
            <a:spLocks/>
          </p:cNvSpPr>
          <p:nvPr/>
        </p:nvSpPr>
        <p:spPr>
          <a:xfrm>
            <a:off x="990600" y="517526"/>
            <a:ext cx="10515600" cy="10594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mn-lt"/>
              </a:rPr>
              <a:t>Type-1 and Type-2 Superconductors</a:t>
            </a:r>
            <a:endParaRPr lang="en-IN" b="1" dirty="0">
              <a:latin typeface="+mn-lt"/>
            </a:endParaRPr>
          </a:p>
        </p:txBody>
      </p:sp>
      <p:pic>
        <p:nvPicPr>
          <p:cNvPr id="8" name="Picture 4">
            <a:extLst>
              <a:ext uri="{FF2B5EF4-FFF2-40B4-BE49-F238E27FC236}">
                <a16:creationId xmlns:a16="http://schemas.microsoft.com/office/drawing/2014/main" id="{03E4F58E-037D-40AF-8AD9-C51CB5D057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F8E6DD3-3E9A-494F-88C6-A4ED65EBABFB}"/>
              </a:ext>
            </a:extLst>
          </p:cNvPr>
          <p:cNvPicPr>
            <a:picLocks noChangeAspect="1"/>
          </p:cNvPicPr>
          <p:nvPr/>
        </p:nvPicPr>
        <p:blipFill>
          <a:blip r:embed="rId3"/>
          <a:stretch>
            <a:fillRect/>
          </a:stretch>
        </p:blipFill>
        <p:spPr>
          <a:xfrm>
            <a:off x="9172154" y="6457894"/>
            <a:ext cx="3019846" cy="400106"/>
          </a:xfrm>
          <a:prstGeom prst="rect">
            <a:avLst/>
          </a:prstGeom>
        </p:spPr>
      </p:pic>
    </p:spTree>
    <p:extLst>
      <p:ext uri="{BB962C8B-B14F-4D97-AF65-F5344CB8AC3E}">
        <p14:creationId xmlns:p14="http://schemas.microsoft.com/office/powerpoint/2010/main" val="269790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4E9B-F874-497C-9F42-B691B6AE2273}"/>
              </a:ext>
            </a:extLst>
          </p:cNvPr>
          <p:cNvSpPr>
            <a:spLocks noGrp="1"/>
          </p:cNvSpPr>
          <p:nvPr>
            <p:ph type="title"/>
          </p:nvPr>
        </p:nvSpPr>
        <p:spPr>
          <a:xfrm>
            <a:off x="1066800" y="202878"/>
            <a:ext cx="10058400" cy="864332"/>
          </a:xfrm>
        </p:spPr>
        <p:txBody>
          <a:bodyPr/>
          <a:lstStyle/>
          <a:p>
            <a:pPr algn="ctr"/>
            <a:r>
              <a:rPr lang="en-US" b="1" dirty="0">
                <a:latin typeface="+mn-lt"/>
              </a:rPr>
              <a:t>Applications of Superconductivity</a:t>
            </a:r>
            <a:endParaRPr lang="en-IN" b="1" dirty="0">
              <a:latin typeface="+mn-lt"/>
            </a:endParaRPr>
          </a:p>
        </p:txBody>
      </p:sp>
      <p:pic>
        <p:nvPicPr>
          <p:cNvPr id="4" name="Content Placeholder 3">
            <a:extLst>
              <a:ext uri="{FF2B5EF4-FFF2-40B4-BE49-F238E27FC236}">
                <a16:creationId xmlns:a16="http://schemas.microsoft.com/office/drawing/2014/main" id="{76BFF68D-48CB-45D0-93CC-F8AF4D48FC11}"/>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5320144" y="1737361"/>
            <a:ext cx="6871855" cy="4552604"/>
          </a:xfrm>
          <a:prstGeom prst="rect">
            <a:avLst/>
          </a:prstGeom>
          <a:effectLst>
            <a:glow rad="63500">
              <a:schemeClr val="accent1">
                <a:satMod val="175000"/>
                <a:alpha val="40000"/>
              </a:schemeClr>
            </a:glow>
          </a:effectLst>
        </p:spPr>
      </p:pic>
      <p:sp>
        <p:nvSpPr>
          <p:cNvPr id="5" name="TextBox 4">
            <a:extLst>
              <a:ext uri="{FF2B5EF4-FFF2-40B4-BE49-F238E27FC236}">
                <a16:creationId xmlns:a16="http://schemas.microsoft.com/office/drawing/2014/main" id="{3A3F6F60-C26C-4EDA-9095-96DE94F36637}"/>
              </a:ext>
            </a:extLst>
          </p:cNvPr>
          <p:cNvSpPr txBox="1"/>
          <p:nvPr/>
        </p:nvSpPr>
        <p:spPr>
          <a:xfrm>
            <a:off x="360218" y="2272145"/>
            <a:ext cx="4724400" cy="3046988"/>
          </a:xfrm>
          <a:prstGeom prst="rect">
            <a:avLst/>
          </a:prstGeom>
          <a:noFill/>
        </p:spPr>
        <p:txBody>
          <a:bodyPr wrap="square" rtlCol="0">
            <a:spAutoFit/>
          </a:bodyPr>
          <a:lstStyle/>
          <a:p>
            <a:pPr marL="342900" indent="-342900" algn="just">
              <a:buClr>
                <a:schemeClr val="accent1"/>
              </a:buClr>
              <a:buFont typeface="Wingdings" panose="05000000000000000000" pitchFamily="2" charset="2"/>
              <a:buChar char="Ø"/>
            </a:pPr>
            <a:r>
              <a:rPr lang="en-US" sz="2400" dirty="0"/>
              <a:t>MRI BODY SCANNERS</a:t>
            </a:r>
          </a:p>
          <a:p>
            <a:pPr marL="342900" indent="-342900" algn="just">
              <a:buClr>
                <a:schemeClr val="accent1"/>
              </a:buClr>
              <a:buFont typeface="Wingdings" panose="05000000000000000000" pitchFamily="2" charset="2"/>
              <a:buChar char="Ø"/>
            </a:pPr>
            <a:endParaRPr lang="en-US" sz="2400" dirty="0"/>
          </a:p>
          <a:p>
            <a:pPr marL="342900" indent="-342900" algn="just">
              <a:buClr>
                <a:schemeClr val="accent1"/>
              </a:buClr>
              <a:buFont typeface="Wingdings" panose="05000000000000000000" pitchFamily="2" charset="2"/>
              <a:buChar char="Ø"/>
            </a:pPr>
            <a:r>
              <a:rPr lang="en-US" sz="2400" dirty="0"/>
              <a:t>ACCELERATOR MAGNETS</a:t>
            </a:r>
          </a:p>
          <a:p>
            <a:pPr marL="342900" indent="-342900" algn="just">
              <a:buClr>
                <a:schemeClr val="accent1"/>
              </a:buClr>
              <a:buFont typeface="Wingdings" panose="05000000000000000000" pitchFamily="2" charset="2"/>
              <a:buChar char="Ø"/>
            </a:pPr>
            <a:endParaRPr lang="en-US" sz="2400" dirty="0"/>
          </a:p>
          <a:p>
            <a:pPr marL="342900" indent="-342900">
              <a:buClr>
                <a:schemeClr val="accent1"/>
              </a:buClr>
              <a:buFont typeface="Wingdings" panose="05000000000000000000" pitchFamily="2" charset="2"/>
              <a:buChar char="Ø"/>
            </a:pPr>
            <a:r>
              <a:rPr lang="en-US" sz="2400" dirty="0"/>
              <a:t>MAGNETOMETERS FOR MEDICINE, SEISMOGRAPHY</a:t>
            </a:r>
          </a:p>
          <a:p>
            <a:pPr marL="342900" indent="-342900" algn="just">
              <a:buClr>
                <a:schemeClr val="accent1"/>
              </a:buClr>
              <a:buFont typeface="Wingdings" panose="05000000000000000000" pitchFamily="2" charset="2"/>
              <a:buChar char="Ø"/>
            </a:pPr>
            <a:endParaRPr lang="en-US" sz="2400" dirty="0"/>
          </a:p>
          <a:p>
            <a:pPr marL="342900" indent="-342900" algn="just">
              <a:buClr>
                <a:schemeClr val="accent1"/>
              </a:buClr>
              <a:buFont typeface="Wingdings" panose="05000000000000000000" pitchFamily="2" charset="2"/>
              <a:buChar char="Ø"/>
            </a:pPr>
            <a:r>
              <a:rPr lang="en-US" sz="2400" dirty="0"/>
              <a:t>TRANSPORT</a:t>
            </a:r>
            <a:endParaRPr lang="en-IN" sz="2400" dirty="0"/>
          </a:p>
        </p:txBody>
      </p:sp>
      <p:pic>
        <p:nvPicPr>
          <p:cNvPr id="6" name="Picture 4">
            <a:extLst>
              <a:ext uri="{FF2B5EF4-FFF2-40B4-BE49-F238E27FC236}">
                <a16:creationId xmlns:a16="http://schemas.microsoft.com/office/drawing/2014/main" id="{C93852E4-0240-426A-9FC6-5638A987CE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F658C56-30AE-4124-A2B4-2FED22696ABF}"/>
              </a:ext>
            </a:extLst>
          </p:cNvPr>
          <p:cNvPicPr>
            <a:picLocks noChangeAspect="1"/>
          </p:cNvPicPr>
          <p:nvPr/>
        </p:nvPicPr>
        <p:blipFill>
          <a:blip r:embed="rId5"/>
          <a:stretch>
            <a:fillRect/>
          </a:stretch>
        </p:blipFill>
        <p:spPr>
          <a:xfrm>
            <a:off x="9172154" y="6457894"/>
            <a:ext cx="3019846" cy="400106"/>
          </a:xfrm>
          <a:prstGeom prst="rect">
            <a:avLst/>
          </a:prstGeom>
        </p:spPr>
      </p:pic>
    </p:spTree>
    <p:extLst>
      <p:ext uri="{BB962C8B-B14F-4D97-AF65-F5344CB8AC3E}">
        <p14:creationId xmlns:p14="http://schemas.microsoft.com/office/powerpoint/2010/main" val="3826680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8DCCA51D-D1F7-44E0-9DE1-CB272B1D951D}"/>
              </a:ext>
            </a:extLst>
          </p:cNvPr>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7536874" y="1967345"/>
            <a:ext cx="4355234" cy="40401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2615C4-4D0A-4306-BB80-B6F686E3E52D}"/>
              </a:ext>
            </a:extLst>
          </p:cNvPr>
          <p:cNvSpPr txBox="1"/>
          <p:nvPr/>
        </p:nvSpPr>
        <p:spPr>
          <a:xfrm>
            <a:off x="299892" y="2221882"/>
            <a:ext cx="6954982" cy="3785652"/>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t>The superconducting magnets have been employed in NMR Spectrometers and NMR imaging is used in medical diagnostics.</a:t>
            </a:r>
          </a:p>
          <a:p>
            <a:pPr marL="342900" indent="-342900" algn="just">
              <a:buFont typeface="Wingdings" panose="05000000000000000000" pitchFamily="2" charset="2"/>
              <a:buChar char="Ø"/>
            </a:pPr>
            <a:r>
              <a:rPr lang="en-US" sz="2400" dirty="0"/>
              <a:t> On applying a strong superconductor derived magnetic field into the body, hydrogen atom that exist in the body’s water and fat molecules are forced to accept energy from the magnetic field. Then they release this energy at a frequency that can be detected and displaced graphically by a computer. </a:t>
            </a:r>
            <a:endParaRPr lang="en-IN" sz="2400" dirty="0"/>
          </a:p>
        </p:txBody>
      </p:sp>
      <p:pic>
        <p:nvPicPr>
          <p:cNvPr id="8" name="Picture 4">
            <a:extLst>
              <a:ext uri="{FF2B5EF4-FFF2-40B4-BE49-F238E27FC236}">
                <a16:creationId xmlns:a16="http://schemas.microsoft.com/office/drawing/2014/main" id="{0625FCBA-A75C-4556-91B7-408D2BAB2E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B06D16A-7BBA-46D6-A9ED-37E71C0CA32C}"/>
              </a:ext>
            </a:extLst>
          </p:cNvPr>
          <p:cNvPicPr>
            <a:picLocks noChangeAspect="1"/>
          </p:cNvPicPr>
          <p:nvPr/>
        </p:nvPicPr>
        <p:blipFill>
          <a:blip r:embed="rId5"/>
          <a:stretch>
            <a:fillRect/>
          </a:stretch>
        </p:blipFill>
        <p:spPr>
          <a:xfrm>
            <a:off x="9172154" y="6457894"/>
            <a:ext cx="3019846" cy="400106"/>
          </a:xfrm>
          <a:prstGeom prst="rect">
            <a:avLst/>
          </a:prstGeom>
        </p:spPr>
      </p:pic>
      <p:sp>
        <p:nvSpPr>
          <p:cNvPr id="9" name="Title 1">
            <a:extLst>
              <a:ext uri="{FF2B5EF4-FFF2-40B4-BE49-F238E27FC236}">
                <a16:creationId xmlns:a16="http://schemas.microsoft.com/office/drawing/2014/main" id="{3914B1DA-B991-4E33-9D68-DC9A27EAC254}"/>
              </a:ext>
            </a:extLst>
          </p:cNvPr>
          <p:cNvSpPr>
            <a:spLocks noGrp="1"/>
          </p:cNvSpPr>
          <p:nvPr>
            <p:ph type="title"/>
          </p:nvPr>
        </p:nvSpPr>
        <p:spPr>
          <a:xfrm>
            <a:off x="1066800" y="202878"/>
            <a:ext cx="10058400" cy="864332"/>
          </a:xfrm>
        </p:spPr>
        <p:txBody>
          <a:bodyPr/>
          <a:lstStyle/>
          <a:p>
            <a:pPr algn="ctr"/>
            <a:r>
              <a:rPr lang="en-US" b="1" dirty="0">
                <a:latin typeface="+mn-lt"/>
              </a:rPr>
              <a:t>MRI Body Scanners</a:t>
            </a:r>
            <a:endParaRPr lang="en-IN" b="1" dirty="0">
              <a:latin typeface="+mn-lt"/>
            </a:endParaRPr>
          </a:p>
        </p:txBody>
      </p:sp>
    </p:spTree>
    <p:extLst>
      <p:ext uri="{BB962C8B-B14F-4D97-AF65-F5344CB8AC3E}">
        <p14:creationId xmlns:p14="http://schemas.microsoft.com/office/powerpoint/2010/main" val="2748130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F1545E6A-12D5-4FFE-9BA5-797B3E9394EE}"/>
              </a:ext>
            </a:extLst>
          </p:cNvPr>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6206839" y="1891146"/>
            <a:ext cx="5735782" cy="437803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0ED481-C344-4561-8C53-28E380FE36CE}"/>
              </a:ext>
            </a:extLst>
          </p:cNvPr>
          <p:cNvSpPr txBox="1"/>
          <p:nvPr/>
        </p:nvSpPr>
        <p:spPr>
          <a:xfrm>
            <a:off x="360218" y="1925782"/>
            <a:ext cx="5624945" cy="4708981"/>
          </a:xfrm>
          <a:prstGeom prst="rect">
            <a:avLst/>
          </a:prstGeom>
          <a:noFill/>
        </p:spPr>
        <p:txBody>
          <a:bodyPr wrap="square" rtlCol="0">
            <a:spAutoFit/>
          </a:bodyPr>
          <a:lstStyle/>
          <a:p>
            <a:pPr marL="285750" indent="-285750" algn="just">
              <a:buClr>
                <a:schemeClr val="accent1"/>
              </a:buClr>
              <a:buFont typeface="Wingdings" panose="05000000000000000000" pitchFamily="2" charset="2"/>
              <a:buChar char="Ø"/>
            </a:pPr>
            <a:r>
              <a:rPr lang="en-US" sz="2400" dirty="0"/>
              <a:t>Low temperature liquid helium superconductors have been used to fabricate high field magnets.</a:t>
            </a:r>
          </a:p>
          <a:p>
            <a:pPr marL="285750" indent="-285750" algn="just">
              <a:buFont typeface="Wingdings" panose="05000000000000000000" pitchFamily="2" charset="2"/>
              <a:buChar char="Ø"/>
            </a:pPr>
            <a:endParaRPr lang="en-US" sz="2400" dirty="0"/>
          </a:p>
          <a:p>
            <a:pPr marL="285750" indent="-285750" algn="just">
              <a:buClr>
                <a:schemeClr val="accent1"/>
              </a:buClr>
              <a:buFont typeface="Wingdings" panose="05000000000000000000" pitchFamily="2" charset="2"/>
              <a:buChar char="Ø"/>
            </a:pPr>
            <a:r>
              <a:rPr lang="en-US" sz="2400" dirty="0"/>
              <a:t>We know electric field in the wire creates magnetic field around the wire. The strength of magnetic field increases as the current in the wire increases. Since SC’s can carry large currents without energy loss, they are well suitable for making strong magnets</a:t>
            </a:r>
            <a:r>
              <a:rPr lang="en-US" dirty="0"/>
              <a:t>.</a:t>
            </a:r>
          </a:p>
          <a:p>
            <a:endParaRPr lang="en-US" dirty="0"/>
          </a:p>
          <a:p>
            <a:endParaRPr lang="en-IN" dirty="0"/>
          </a:p>
        </p:txBody>
      </p:sp>
      <p:pic>
        <p:nvPicPr>
          <p:cNvPr id="10" name="Picture 4">
            <a:extLst>
              <a:ext uri="{FF2B5EF4-FFF2-40B4-BE49-F238E27FC236}">
                <a16:creationId xmlns:a16="http://schemas.microsoft.com/office/drawing/2014/main" id="{CC365BC2-A567-4D32-945E-F0C7F8426F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855"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CE87090-C58A-4A33-A2FD-425A34C670C2}"/>
              </a:ext>
            </a:extLst>
          </p:cNvPr>
          <p:cNvPicPr>
            <a:picLocks noChangeAspect="1"/>
          </p:cNvPicPr>
          <p:nvPr/>
        </p:nvPicPr>
        <p:blipFill>
          <a:blip r:embed="rId5"/>
          <a:stretch>
            <a:fillRect/>
          </a:stretch>
        </p:blipFill>
        <p:spPr>
          <a:xfrm>
            <a:off x="9172154" y="6457894"/>
            <a:ext cx="3019846" cy="400106"/>
          </a:xfrm>
          <a:prstGeom prst="rect">
            <a:avLst/>
          </a:prstGeom>
        </p:spPr>
      </p:pic>
      <p:sp>
        <p:nvSpPr>
          <p:cNvPr id="9" name="Title 1">
            <a:extLst>
              <a:ext uri="{FF2B5EF4-FFF2-40B4-BE49-F238E27FC236}">
                <a16:creationId xmlns:a16="http://schemas.microsoft.com/office/drawing/2014/main" id="{C50885B7-5F3C-4325-89B9-92A9C29D285F}"/>
              </a:ext>
            </a:extLst>
          </p:cNvPr>
          <p:cNvSpPr txBox="1">
            <a:spLocks/>
          </p:cNvSpPr>
          <p:nvPr/>
        </p:nvSpPr>
        <p:spPr>
          <a:xfrm>
            <a:off x="1066800" y="202878"/>
            <a:ext cx="10058400" cy="8643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mn-lt"/>
              </a:rPr>
              <a:t>Accelerator magnets</a:t>
            </a:r>
            <a:endParaRPr lang="en-IN" b="1" dirty="0">
              <a:latin typeface="+mn-lt"/>
            </a:endParaRPr>
          </a:p>
        </p:txBody>
      </p:sp>
    </p:spTree>
    <p:extLst>
      <p:ext uri="{BB962C8B-B14F-4D97-AF65-F5344CB8AC3E}">
        <p14:creationId xmlns:p14="http://schemas.microsoft.com/office/powerpoint/2010/main" val="96569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1000"/>
                                        <p:tgtEl>
                                          <p:spTgt spid="9218"/>
                                        </p:tgtEl>
                                      </p:cBhvr>
                                    </p:animEffect>
                                    <p:anim calcmode="lin" valueType="num">
                                      <p:cBhvr>
                                        <p:cTn id="8" dur="1000" fill="hold"/>
                                        <p:tgtEl>
                                          <p:spTgt spid="9218"/>
                                        </p:tgtEl>
                                        <p:attrNameLst>
                                          <p:attrName>ppt_x</p:attrName>
                                        </p:attrNameLst>
                                      </p:cBhvr>
                                      <p:tavLst>
                                        <p:tav tm="0">
                                          <p:val>
                                            <p:strVal val="#ppt_x"/>
                                          </p:val>
                                        </p:tav>
                                        <p:tav tm="100000">
                                          <p:val>
                                            <p:strVal val="#ppt_x"/>
                                          </p:val>
                                        </p:tav>
                                      </p:tavLst>
                                    </p:anim>
                                    <p:anim calcmode="lin" valueType="num">
                                      <p:cBhvr>
                                        <p:cTn id="9" dur="1000" fill="hold"/>
                                        <p:tgtEl>
                                          <p:spTgt spid="92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99530F79-74FB-405F-9EC7-BC5C5EAFEC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94781" y="1604280"/>
            <a:ext cx="5850836" cy="46080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DE4E1184-D237-4B45-B220-D69A8E357CC2}"/>
              </a:ext>
            </a:extLst>
          </p:cNvPr>
          <p:cNvSpPr txBox="1"/>
          <p:nvPr/>
        </p:nvSpPr>
        <p:spPr>
          <a:xfrm>
            <a:off x="387926" y="1737360"/>
            <a:ext cx="5708074" cy="4893647"/>
          </a:xfrm>
          <a:prstGeom prst="rect">
            <a:avLst/>
          </a:prstGeom>
          <a:noFill/>
        </p:spPr>
        <p:txBody>
          <a:bodyPr wrap="square" rtlCol="0">
            <a:spAutoFit/>
          </a:bodyPr>
          <a:lstStyle/>
          <a:p>
            <a:pPr marL="285750" indent="-285750" algn="just">
              <a:buFont typeface="Wingdings" panose="05000000000000000000" pitchFamily="2" charset="2"/>
              <a:buChar char="Ø"/>
            </a:pPr>
            <a:r>
              <a:rPr lang="en-US" sz="2400" dirty="0"/>
              <a:t>For high speed magnetic trains superconductors are used</a:t>
            </a:r>
          </a:p>
          <a:p>
            <a:pPr marL="285750" indent="-285750" algn="just">
              <a:buFont typeface="Wingdings" panose="05000000000000000000" pitchFamily="2" charset="2"/>
              <a:buChar char="Ø"/>
            </a:pPr>
            <a:endParaRPr lang="en-US" sz="2400" dirty="0"/>
          </a:p>
          <a:p>
            <a:pPr marL="285750" indent="-285750" algn="just">
              <a:buFont typeface="Wingdings" panose="05000000000000000000" pitchFamily="2" charset="2"/>
              <a:buChar char="Ø"/>
            </a:pPr>
            <a:r>
              <a:rPr lang="en-US" sz="2400" dirty="0"/>
              <a:t>The maglev train system works by utilizing magnetized coils running along a track that attract and repel large superconducting magnets in the train’s undercarriage and allow it to levitate almost four inches above the ground.</a:t>
            </a:r>
          </a:p>
          <a:p>
            <a:pPr marL="285750" indent="-285750" algn="just">
              <a:buFont typeface="Wingdings" panose="05000000000000000000" pitchFamily="2" charset="2"/>
              <a:buChar char="Ø"/>
            </a:pPr>
            <a:endParaRPr lang="en-US" sz="2400" dirty="0"/>
          </a:p>
          <a:p>
            <a:pPr marL="285750" indent="-285750" algn="just">
              <a:buFont typeface="Wingdings" panose="05000000000000000000" pitchFamily="2" charset="2"/>
              <a:buChar char="Ø"/>
            </a:pPr>
            <a:r>
              <a:rPr lang="en-US" sz="2400" dirty="0"/>
              <a:t>Power supplied to the coils in the guideway then creates polarizing forces that pull and push the train along</a:t>
            </a:r>
            <a:r>
              <a:rPr lang="en-US" dirty="0"/>
              <a:t>.</a:t>
            </a:r>
            <a:endParaRPr lang="en-IN" dirty="0"/>
          </a:p>
        </p:txBody>
      </p:sp>
      <p:pic>
        <p:nvPicPr>
          <p:cNvPr id="6" name="Picture 4">
            <a:extLst>
              <a:ext uri="{FF2B5EF4-FFF2-40B4-BE49-F238E27FC236}">
                <a16:creationId xmlns:a16="http://schemas.microsoft.com/office/drawing/2014/main" id="{E13C2B4F-482B-4D43-B2C4-41246D2A22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63" y="51448"/>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4EF593E-93BC-40FE-92D5-658D6103D313}"/>
              </a:ext>
            </a:extLst>
          </p:cNvPr>
          <p:cNvPicPr>
            <a:picLocks noChangeAspect="1"/>
          </p:cNvPicPr>
          <p:nvPr/>
        </p:nvPicPr>
        <p:blipFill>
          <a:blip r:embed="rId4"/>
          <a:stretch>
            <a:fillRect/>
          </a:stretch>
        </p:blipFill>
        <p:spPr>
          <a:xfrm>
            <a:off x="9125771" y="6457894"/>
            <a:ext cx="3019846" cy="400106"/>
          </a:xfrm>
          <a:prstGeom prst="rect">
            <a:avLst/>
          </a:prstGeom>
        </p:spPr>
      </p:pic>
      <p:sp>
        <p:nvSpPr>
          <p:cNvPr id="8" name="Title 1">
            <a:extLst>
              <a:ext uri="{FF2B5EF4-FFF2-40B4-BE49-F238E27FC236}">
                <a16:creationId xmlns:a16="http://schemas.microsoft.com/office/drawing/2014/main" id="{FF0A61B7-22A9-4168-9609-86E301D23D89}"/>
              </a:ext>
            </a:extLst>
          </p:cNvPr>
          <p:cNvSpPr txBox="1">
            <a:spLocks/>
          </p:cNvSpPr>
          <p:nvPr/>
        </p:nvSpPr>
        <p:spPr>
          <a:xfrm>
            <a:off x="1066800" y="202878"/>
            <a:ext cx="10058400" cy="8643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mn-lt"/>
              </a:rPr>
              <a:t>Maglev trains</a:t>
            </a:r>
            <a:endParaRPr lang="en-IN" b="1" dirty="0">
              <a:latin typeface="+mn-lt"/>
            </a:endParaRPr>
          </a:p>
        </p:txBody>
      </p:sp>
    </p:spTree>
    <p:extLst>
      <p:ext uri="{BB962C8B-B14F-4D97-AF65-F5344CB8AC3E}">
        <p14:creationId xmlns:p14="http://schemas.microsoft.com/office/powerpoint/2010/main" val="1109398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circle(in)">
                                      <p:cBhvr>
                                        <p:cTn id="7" dur="20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496BB-A1D3-473B-AE21-C2D2170F3065}"/>
              </a:ext>
            </a:extLst>
          </p:cNvPr>
          <p:cNvSpPr>
            <a:spLocks noGrp="1"/>
          </p:cNvSpPr>
          <p:nvPr>
            <p:ph idx="1"/>
          </p:nvPr>
        </p:nvSpPr>
        <p:spPr/>
        <p:txBody>
          <a:bodyPr/>
          <a:lstStyle/>
          <a:p>
            <a:pPr algn="just"/>
            <a:r>
              <a:rPr lang="en-US" dirty="0"/>
              <a:t>What are type-1 and type-2 Superconductors?</a:t>
            </a:r>
          </a:p>
          <a:p>
            <a:pPr algn="just"/>
            <a:r>
              <a:rPr lang="en-US" dirty="0"/>
              <a:t>How many critical fields are there in Type-2 Superconductors?</a:t>
            </a:r>
          </a:p>
          <a:p>
            <a:pPr algn="just"/>
            <a:r>
              <a:rPr lang="en-US" dirty="0"/>
              <a:t>Which type of Superconductor shows complete </a:t>
            </a:r>
            <a:r>
              <a:rPr lang="en-US" dirty="0" err="1"/>
              <a:t>Meissener</a:t>
            </a:r>
            <a:r>
              <a:rPr lang="en-US" dirty="0"/>
              <a:t> effect?</a:t>
            </a:r>
          </a:p>
          <a:p>
            <a:pPr algn="just"/>
            <a:r>
              <a:rPr lang="en-US" dirty="0"/>
              <a:t>How Superconductors are used in maglev trains?</a:t>
            </a:r>
            <a:endParaRPr lang="en-IN" dirty="0"/>
          </a:p>
        </p:txBody>
      </p:sp>
      <p:sp>
        <p:nvSpPr>
          <p:cNvPr id="5" name="Title 1">
            <a:extLst>
              <a:ext uri="{FF2B5EF4-FFF2-40B4-BE49-F238E27FC236}">
                <a16:creationId xmlns:a16="http://schemas.microsoft.com/office/drawing/2014/main" id="{108DBE1A-3E55-444A-B00E-7D6E39C36723}"/>
              </a:ext>
            </a:extLst>
          </p:cNvPr>
          <p:cNvSpPr txBox="1">
            <a:spLocks/>
          </p:cNvSpPr>
          <p:nvPr/>
        </p:nvSpPr>
        <p:spPr>
          <a:xfrm>
            <a:off x="1066800" y="202878"/>
            <a:ext cx="10058400" cy="8643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mn-lt"/>
              </a:rPr>
              <a:t>FAQs</a:t>
            </a:r>
            <a:endParaRPr lang="en-IN" b="1" dirty="0">
              <a:latin typeface="+mn-lt"/>
            </a:endParaRPr>
          </a:p>
        </p:txBody>
      </p:sp>
      <p:pic>
        <p:nvPicPr>
          <p:cNvPr id="7" name="Picture 4">
            <a:extLst>
              <a:ext uri="{FF2B5EF4-FFF2-40B4-BE49-F238E27FC236}">
                <a16:creationId xmlns:a16="http://schemas.microsoft.com/office/drawing/2014/main" id="{E5A6AC2A-E22D-4BC9-93E8-6C4DCC5184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563" y="51448"/>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AB9C1A6-5A4A-4B48-87E3-8FE739D04119}"/>
              </a:ext>
            </a:extLst>
          </p:cNvPr>
          <p:cNvPicPr>
            <a:picLocks noChangeAspect="1"/>
          </p:cNvPicPr>
          <p:nvPr/>
        </p:nvPicPr>
        <p:blipFill>
          <a:blip r:embed="rId3"/>
          <a:stretch>
            <a:fillRect/>
          </a:stretch>
        </p:blipFill>
        <p:spPr>
          <a:xfrm>
            <a:off x="9125771" y="6457894"/>
            <a:ext cx="3019846" cy="400106"/>
          </a:xfrm>
          <a:prstGeom prst="rect">
            <a:avLst/>
          </a:prstGeom>
        </p:spPr>
      </p:pic>
    </p:spTree>
    <p:extLst>
      <p:ext uri="{BB962C8B-B14F-4D97-AF65-F5344CB8AC3E}">
        <p14:creationId xmlns:p14="http://schemas.microsoft.com/office/powerpoint/2010/main" val="234343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ASSESSMENT PATTERN </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12</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nvGraphicFramePr>
        <p:xfrm>
          <a:off x="1718441" y="1803399"/>
          <a:ext cx="8607973" cy="469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4">
            <a:extLst>
              <a:ext uri="{FF2B5EF4-FFF2-40B4-BE49-F238E27FC236}">
                <a16:creationId xmlns:a16="http://schemas.microsoft.com/office/drawing/2014/main" id="{9E2EC80C-DBE7-47C2-B25E-40EE1CDFD3D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4102B51-66D6-418F-B754-CC1D31F10748}"/>
              </a:ext>
            </a:extLst>
          </p:cNvPr>
          <p:cNvPicPr>
            <a:picLocks noChangeAspect="1"/>
          </p:cNvPicPr>
          <p:nvPr/>
        </p:nvPicPr>
        <p:blipFill>
          <a:blip r:embed="rId8"/>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404884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03DBA-707C-4EE4-BF67-E33FB3FDF251}"/>
              </a:ext>
            </a:extLst>
          </p:cNvPr>
          <p:cNvSpPr>
            <a:spLocks noGrp="1"/>
          </p:cNvSpPr>
          <p:nvPr>
            <p:ph type="title"/>
          </p:nvPr>
        </p:nvSpPr>
        <p:spPr/>
        <p:txBody>
          <a:bodyPr/>
          <a:lstStyle/>
          <a:p>
            <a:pPr algn="ctr"/>
            <a:r>
              <a:rPr lang="en-US" b="1" dirty="0">
                <a:latin typeface="+mn-lt"/>
              </a:rPr>
              <a:t>Reference books and weblinks</a:t>
            </a:r>
            <a:endParaRPr lang="en-IN" b="1" dirty="0">
              <a:latin typeface="+mn-lt"/>
            </a:endParaRPr>
          </a:p>
        </p:txBody>
      </p:sp>
      <p:sp>
        <p:nvSpPr>
          <p:cNvPr id="3" name="Content Placeholder 2">
            <a:extLst>
              <a:ext uri="{FF2B5EF4-FFF2-40B4-BE49-F238E27FC236}">
                <a16:creationId xmlns:a16="http://schemas.microsoft.com/office/drawing/2014/main" id="{B0FA7BE9-41A7-4A5A-94C8-C8BD2C2BAF11}"/>
              </a:ext>
            </a:extLst>
          </p:cNvPr>
          <p:cNvSpPr>
            <a:spLocks noGrp="1"/>
          </p:cNvSpPr>
          <p:nvPr>
            <p:ph idx="1"/>
          </p:nvPr>
        </p:nvSpPr>
        <p:spPr/>
        <p:txBody>
          <a:bodyPr>
            <a:normAutofit/>
          </a:bodyPr>
          <a:lstStyle/>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dirty="0">
                <a:solidFill>
                  <a:srgbClr val="000000"/>
                </a:solidFill>
                <a:effectLst/>
                <a:ea typeface="Times New Roman" panose="02020603050405020304" pitchFamily="18" charset="0"/>
                <a:cs typeface="Tahoma" panose="020B0604030504040204" pitchFamily="34" charset="0"/>
              </a:rPr>
              <a:t>A. Z. Jones. "What is Quantum Levitation (and How Does it Work?)." Internet: physics.about.com/od/</a:t>
            </a:r>
            <a:r>
              <a:rPr lang="en-IN" sz="2400" dirty="0" err="1">
                <a:solidFill>
                  <a:srgbClr val="000000"/>
                </a:solidFill>
                <a:effectLst/>
                <a:ea typeface="Times New Roman" panose="02020603050405020304" pitchFamily="18" charset="0"/>
                <a:cs typeface="Tahoma" panose="020B0604030504040204" pitchFamily="34" charset="0"/>
              </a:rPr>
              <a:t>quantump</a:t>
            </a:r>
            <a:r>
              <a:rPr lang="en-IN" sz="2400" dirty="0">
                <a:solidFill>
                  <a:srgbClr val="000000"/>
                </a:solidFill>
                <a:effectLst/>
                <a:ea typeface="Times New Roman" panose="02020603050405020304" pitchFamily="18" charset="0"/>
                <a:cs typeface="Tahoma" panose="020B0604030504040204" pitchFamily="34" charset="0"/>
              </a:rPr>
              <a:t>...Levitation.htm.</a:t>
            </a:r>
            <a:endParaRPr lang="en-IN" sz="2400" dirty="0">
              <a:effectLst/>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dirty="0">
                <a:solidFill>
                  <a:srgbClr val="000000"/>
                </a:solidFill>
                <a:effectLst/>
                <a:ea typeface="Times New Roman" panose="02020603050405020304" pitchFamily="18" charset="0"/>
                <a:cs typeface="Tahoma" panose="020B0604030504040204" pitchFamily="34" charset="0"/>
              </a:rPr>
              <a:t>S. O. </a:t>
            </a:r>
            <a:r>
              <a:rPr lang="en-IN" sz="2400" dirty="0" err="1">
                <a:solidFill>
                  <a:srgbClr val="000000"/>
                </a:solidFill>
                <a:effectLst/>
                <a:ea typeface="Times New Roman" panose="02020603050405020304" pitchFamily="18" charset="0"/>
                <a:cs typeface="Tahoma" panose="020B0604030504040204" pitchFamily="34" charset="0"/>
              </a:rPr>
              <a:t>Kasap</a:t>
            </a:r>
            <a:r>
              <a:rPr lang="en-IN" sz="2400" dirty="0">
                <a:solidFill>
                  <a:srgbClr val="000000"/>
                </a:solidFill>
                <a:effectLst/>
                <a:ea typeface="Times New Roman" panose="02020603050405020304" pitchFamily="18" charset="0"/>
                <a:cs typeface="Tahoma" panose="020B0604030504040204" pitchFamily="34" charset="0"/>
              </a:rPr>
              <a:t>. </a:t>
            </a:r>
            <a:r>
              <a:rPr lang="en-IN" sz="2400" i="1" dirty="0">
                <a:solidFill>
                  <a:srgbClr val="000000"/>
                </a:solidFill>
                <a:effectLst/>
                <a:ea typeface="Times New Roman" panose="02020603050405020304" pitchFamily="18" charset="0"/>
                <a:cs typeface="Tahoma" panose="020B0604030504040204" pitchFamily="34" charset="0"/>
              </a:rPr>
              <a:t>Principles of Electronic Materials and Devices</a:t>
            </a:r>
            <a:r>
              <a:rPr lang="en-IN" sz="2400" dirty="0">
                <a:solidFill>
                  <a:srgbClr val="000000"/>
                </a:solidFill>
                <a:effectLst/>
                <a:ea typeface="Times New Roman" panose="02020603050405020304" pitchFamily="18" charset="0"/>
                <a:cs typeface="Tahoma" panose="020B0604030504040204" pitchFamily="34" charset="0"/>
              </a:rPr>
              <a:t>. New York: McGraw Hill, 2006, pp. 729-736.</a:t>
            </a:r>
            <a:endParaRPr lang="en-IN" sz="2400" dirty="0">
              <a:effectLst/>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dirty="0">
                <a:solidFill>
                  <a:srgbClr val="000000"/>
                </a:solidFill>
                <a:effectLst/>
                <a:ea typeface="Times New Roman" panose="02020603050405020304" pitchFamily="18" charset="0"/>
                <a:cs typeface="Tahoma" panose="020B0604030504040204" pitchFamily="34" charset="0"/>
              </a:rPr>
              <a:t>"Superconductivity: The Meissner Effect, Persistent Currents and the Josephson Effects." MIT Department of Physics, Feb. 8, 2011</a:t>
            </a:r>
            <a:r>
              <a:rPr lang="en-IN" sz="2400" dirty="0">
                <a:solidFill>
                  <a:srgbClr val="000000"/>
                </a:solidFill>
                <a:effectLst/>
                <a:ea typeface="Times New Roman" panose="02020603050405020304" pitchFamily="18" charset="0"/>
                <a:cs typeface="Times New Roman" panose="02020603050405020304" pitchFamily="18" charset="0"/>
              </a:rPr>
              <a:t>.</a:t>
            </a:r>
            <a:endParaRPr lang="en-IN" sz="2400" dirty="0">
              <a:solidFill>
                <a:srgbClr val="000000"/>
              </a:solidFill>
              <a:effectLst/>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ea typeface="Calibri" panose="020F0502020204030204" pitchFamily="34" charset="0"/>
                <a:cs typeface="Times New Roman" panose="02020603050405020304" pitchFamily="18" charset="0"/>
                <a:hlinkClick r:id="rId2"/>
              </a:rPr>
              <a:t>http://lampx.tugraz.at/~hadley/ss2/problems/super/s.pdf</a:t>
            </a:r>
            <a:endParaRPr lang="en-IN" sz="2400" dirty="0">
              <a:solidFill>
                <a:srgbClr val="000000"/>
              </a:solidFill>
              <a:effectLst/>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ea typeface="Calibri" panose="020F0502020204030204" pitchFamily="34" charset="0"/>
                <a:cs typeface="Times New Roman" panose="02020603050405020304" pitchFamily="18" charset="0"/>
                <a:hlinkClick r:id="rId3"/>
              </a:rPr>
              <a:t>https://www.ques10.com/p/31387/distinguish-between-type-i-and-type-ii-superconduc/</a:t>
            </a:r>
            <a:endParaRPr lang="en-IN" sz="2400" dirty="0">
              <a:solidFill>
                <a:srgbClr val="000000"/>
              </a:solidFill>
              <a:effectLst/>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A55B516-ABF6-42D5-9CE3-76E45BEF0D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4D546F3-B7F0-4036-9D45-D27221F15277}"/>
              </a:ext>
            </a:extLst>
          </p:cNvPr>
          <p:cNvPicPr>
            <a:picLocks noChangeAspect="1"/>
          </p:cNvPicPr>
          <p:nvPr/>
        </p:nvPicPr>
        <p:blipFill>
          <a:blip r:embed="rId5"/>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21985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0F7057-00C7-49CE-A95C-2DEE3ACCCB5B}"/>
              </a:ext>
            </a:extLst>
          </p:cNvPr>
          <p:cNvSpPr>
            <a:spLocks noGrp="1"/>
          </p:cNvSpPr>
          <p:nvPr>
            <p:ph idx="1"/>
          </p:nvPr>
        </p:nvSpPr>
        <p:spPr/>
        <p:txBody>
          <a:bodyPr/>
          <a:lstStyle/>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https://www.toppr.com/ask/question/write-any-five-applications-of-superconductors/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3"/>
              </a:rPr>
              <a:t>https://www.rsc.org/Education/Teachers/Resources/Inspirational/resources/4.5.2.pdf</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Title 1">
            <a:extLst>
              <a:ext uri="{FF2B5EF4-FFF2-40B4-BE49-F238E27FC236}">
                <a16:creationId xmlns:a16="http://schemas.microsoft.com/office/drawing/2014/main" id="{E30BD980-088C-4C8C-B7ED-F66692C0D5AC}"/>
              </a:ext>
            </a:extLst>
          </p:cNvPr>
          <p:cNvSpPr>
            <a:spLocks noGrp="1"/>
          </p:cNvSpPr>
          <p:nvPr>
            <p:ph type="title"/>
          </p:nvPr>
        </p:nvSpPr>
        <p:spPr>
          <a:xfrm>
            <a:off x="838200" y="365125"/>
            <a:ext cx="10515600" cy="1325563"/>
          </a:xfrm>
        </p:spPr>
        <p:txBody>
          <a:bodyPr/>
          <a:lstStyle/>
          <a:p>
            <a:pPr algn="ctr"/>
            <a:r>
              <a:rPr lang="en-US" b="1" dirty="0">
                <a:latin typeface="+mn-lt"/>
              </a:rPr>
              <a:t>Reference books and weblinks</a:t>
            </a:r>
            <a:endParaRPr lang="en-IN" b="1" dirty="0">
              <a:latin typeface="+mn-lt"/>
            </a:endParaRPr>
          </a:p>
        </p:txBody>
      </p:sp>
      <p:pic>
        <p:nvPicPr>
          <p:cNvPr id="6" name="Picture 5">
            <a:extLst>
              <a:ext uri="{FF2B5EF4-FFF2-40B4-BE49-F238E27FC236}">
                <a16:creationId xmlns:a16="http://schemas.microsoft.com/office/drawing/2014/main" id="{2ACE303F-3BF5-4EE3-A67C-7ACFE9C709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522DB89-A557-4B44-9804-37868761B82D}"/>
              </a:ext>
            </a:extLst>
          </p:cNvPr>
          <p:cNvPicPr>
            <a:picLocks noChangeAspect="1"/>
          </p:cNvPicPr>
          <p:nvPr/>
        </p:nvPicPr>
        <p:blipFill>
          <a:blip r:embed="rId5"/>
          <a:stretch>
            <a:fillRect/>
          </a:stretch>
        </p:blipFill>
        <p:spPr>
          <a:xfrm>
            <a:off x="9118320" y="6429708"/>
            <a:ext cx="3019846" cy="400106"/>
          </a:xfrm>
          <a:prstGeom prst="rect">
            <a:avLst/>
          </a:prstGeom>
        </p:spPr>
      </p:pic>
    </p:spTree>
    <p:extLst>
      <p:ext uri="{BB962C8B-B14F-4D97-AF65-F5344CB8AC3E}">
        <p14:creationId xmlns:p14="http://schemas.microsoft.com/office/powerpoint/2010/main" val="3503811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9398B-3436-4DF2-BA50-BFB2C292CF46}"/>
              </a:ext>
            </a:extLst>
          </p:cNvPr>
          <p:cNvSpPr>
            <a:spLocks noGrp="1"/>
          </p:cNvSpPr>
          <p:nvPr>
            <p:ph type="title"/>
          </p:nvPr>
        </p:nvSpPr>
        <p:spPr/>
        <p:txBody>
          <a:bodyPr/>
          <a:lstStyle/>
          <a:p>
            <a:pPr algn="ctr"/>
            <a:r>
              <a:rPr lang="en-US" b="1" dirty="0">
                <a:latin typeface="+mn-lt"/>
              </a:rPr>
              <a:t>Reference Video links</a:t>
            </a:r>
            <a:endParaRPr lang="en-IN" b="1" dirty="0">
              <a:latin typeface="+mn-lt"/>
            </a:endParaRPr>
          </a:p>
        </p:txBody>
      </p:sp>
      <p:sp>
        <p:nvSpPr>
          <p:cNvPr id="3" name="Content Placeholder 2">
            <a:extLst>
              <a:ext uri="{FF2B5EF4-FFF2-40B4-BE49-F238E27FC236}">
                <a16:creationId xmlns:a16="http://schemas.microsoft.com/office/drawing/2014/main" id="{D7296BDD-0B55-4E7E-9A56-D065DB70C6D9}"/>
              </a:ext>
            </a:extLst>
          </p:cNvPr>
          <p:cNvSpPr>
            <a:spLocks noGrp="1"/>
          </p:cNvSpPr>
          <p:nvPr>
            <p:ph idx="1"/>
          </p:nvPr>
        </p:nvSpPr>
        <p:spPr/>
        <p:txBody>
          <a:bodyPr>
            <a:normAutofit/>
          </a:bodyPr>
          <a:lstStyle/>
          <a:p>
            <a:pPr marL="342900" lvl="0" indent="-342900" algn="just">
              <a:lnSpc>
                <a:spcPct val="107000"/>
              </a:lnSpc>
              <a:buFont typeface="Symbol" panose="05050102010706020507" pitchFamily="18" charset="2"/>
              <a:buChar char=""/>
            </a:pPr>
            <a:endPar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endParaRPr>
          </a:p>
          <a:p>
            <a:pPr marL="0" indent="0">
              <a:buNone/>
            </a:pPr>
            <a:endParaRPr lang="en-IN" sz="2400" dirty="0"/>
          </a:p>
        </p:txBody>
      </p:sp>
      <p:pic>
        <p:nvPicPr>
          <p:cNvPr id="5" name="Picture 4">
            <a:extLst>
              <a:ext uri="{FF2B5EF4-FFF2-40B4-BE49-F238E27FC236}">
                <a16:creationId xmlns:a16="http://schemas.microsoft.com/office/drawing/2014/main" id="{E233C5DA-3C66-438C-988C-9D0913BA4A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B607B43-3F46-469B-B8B9-F6D538876372}"/>
              </a:ext>
            </a:extLst>
          </p:cNvPr>
          <p:cNvPicPr>
            <a:picLocks noChangeAspect="1"/>
          </p:cNvPicPr>
          <p:nvPr/>
        </p:nvPicPr>
        <p:blipFill>
          <a:blip r:embed="rId4"/>
          <a:stretch>
            <a:fillRect/>
          </a:stretch>
        </p:blipFill>
        <p:spPr>
          <a:xfrm>
            <a:off x="9118320" y="6429708"/>
            <a:ext cx="3019846" cy="400106"/>
          </a:xfrm>
          <a:prstGeom prst="rect">
            <a:avLst/>
          </a:prstGeom>
        </p:spPr>
      </p:pic>
      <p:sp>
        <p:nvSpPr>
          <p:cNvPr id="8" name="TextBox 7">
            <a:extLst>
              <a:ext uri="{FF2B5EF4-FFF2-40B4-BE49-F238E27FC236}">
                <a16:creationId xmlns:a16="http://schemas.microsoft.com/office/drawing/2014/main" id="{3E5746DD-0283-47C7-9237-EBCAD7805E07}"/>
              </a:ext>
            </a:extLst>
          </p:cNvPr>
          <p:cNvSpPr txBox="1"/>
          <p:nvPr/>
        </p:nvSpPr>
        <p:spPr>
          <a:xfrm>
            <a:off x="1179443" y="2501417"/>
            <a:ext cx="7964557" cy="2319994"/>
          </a:xfrm>
          <a:prstGeom prst="rect">
            <a:avLst/>
          </a:prstGeom>
          <a:noFill/>
        </p:spPr>
        <p:txBody>
          <a:bodyPr wrap="square">
            <a:spAutoFit/>
          </a:bodyPr>
          <a:lstStyle/>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5"/>
              </a:rPr>
              <a:t>https://www.youtube.com/watch?v=AX962gXo0CI</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6"/>
              </a:rPr>
              <a:t>https://www.youtube.com/watch?v=fnMoQurFhSs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7"/>
              </a:rPr>
              <a:t>https://www.youtube.com/watch?v=2xOAb68agy0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300"/>
              </a:spcBef>
              <a:spcAft>
                <a:spcPts val="300"/>
              </a:spcAft>
              <a:buFont typeface="Symbol" panose="05050102010706020507" pitchFamily="18" charset="2"/>
              <a:buChar char=""/>
              <a:tabLst>
                <a:tab pos="457200" algn="l"/>
              </a:tabLst>
            </a:pPr>
            <a:r>
              <a:rPr lang="en-IN" sz="24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8"/>
              </a:rPr>
              <a:t>https://www.youtube.com/watch?v=uMExoSVKhLE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8692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 name="TextBox 1"/>
          <p:cNvSpPr txBox="1"/>
          <p:nvPr/>
        </p:nvSpPr>
        <p:spPr>
          <a:xfrm>
            <a:off x="3452884" y="6168788"/>
            <a:ext cx="4217158" cy="338554"/>
          </a:xfrm>
          <a:prstGeom prst="rect">
            <a:avLst/>
          </a:prstGeom>
          <a:noFill/>
        </p:spPr>
        <p:txBody>
          <a:bodyPr wrap="square" rtlCol="0">
            <a:spAutoFit/>
          </a:bodyPr>
          <a:lstStyle/>
          <a:p>
            <a:r>
              <a:rPr lang="en-US" sz="1600" dirty="0">
                <a:latin typeface="Casper"/>
              </a:rPr>
              <a:t>divya.e8645@cumail.in</a:t>
            </a:r>
          </a:p>
        </p:txBody>
      </p:sp>
      <p:pic>
        <p:nvPicPr>
          <p:cNvPr id="3" name="Picture 2">
            <a:extLst>
              <a:ext uri="{FF2B5EF4-FFF2-40B4-BE49-F238E27FC236}">
                <a16:creationId xmlns:a16="http://schemas.microsoft.com/office/drawing/2014/main" id="{A5196C14-264F-49D1-9389-B42CC31B3A3C}"/>
              </a:ext>
            </a:extLst>
          </p:cNvPr>
          <p:cNvPicPr>
            <a:picLocks noChangeAspect="1"/>
          </p:cNvPicPr>
          <p:nvPr/>
        </p:nvPicPr>
        <p:blipFill>
          <a:blip r:embed="rId2"/>
          <a:stretch>
            <a:fillRect/>
          </a:stretch>
        </p:blipFill>
        <p:spPr>
          <a:xfrm>
            <a:off x="9118320" y="6429708"/>
            <a:ext cx="3019846" cy="400106"/>
          </a:xfrm>
          <a:prstGeom prst="rect">
            <a:avLst/>
          </a:prstGeom>
        </p:spPr>
      </p:pic>
      <p:pic>
        <p:nvPicPr>
          <p:cNvPr id="4" name="Picture 3">
            <a:extLst>
              <a:ext uri="{FF2B5EF4-FFF2-40B4-BE49-F238E27FC236}">
                <a16:creationId xmlns:a16="http://schemas.microsoft.com/office/drawing/2014/main" id="{394C8191-D9E6-4FCC-909A-053B66BE9E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67" y="0"/>
            <a:ext cx="692726" cy="103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1009</Words>
  <Application>Microsoft Office PowerPoint</Application>
  <PresentationFormat>Widescreen</PresentationFormat>
  <Paragraphs>121</Paragraphs>
  <Slides>16</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8" baseType="lpstr">
      <vt:lpstr>Arial</vt:lpstr>
      <vt:lpstr>Arial Black</vt:lpstr>
      <vt:lpstr>Calibri</vt:lpstr>
      <vt:lpstr>Calibri Light</vt:lpstr>
      <vt:lpstr>Caper bold </vt:lpstr>
      <vt:lpstr>Casper</vt:lpstr>
      <vt:lpstr>Casper Bold</vt:lpstr>
      <vt:lpstr>Symbol</vt:lpstr>
      <vt:lpstr>Times New Roman</vt:lpstr>
      <vt:lpstr>Wingdings</vt:lpstr>
      <vt:lpstr>Office Theme</vt:lpstr>
      <vt:lpstr>CorelDRAW</vt:lpstr>
      <vt:lpstr>PowerPoint Presentation</vt:lpstr>
      <vt:lpstr> </vt:lpstr>
      <vt:lpstr>PowerPoint Presentation</vt:lpstr>
      <vt:lpstr>Content</vt:lpstr>
      <vt:lpstr>PowerPoint Presentation</vt:lpstr>
      <vt:lpstr>PowerPoint Presentation</vt:lpstr>
      <vt:lpstr>Applications of Superconductivity</vt:lpstr>
      <vt:lpstr>MRI Body Scanners</vt:lpstr>
      <vt:lpstr>PowerPoint Presentation</vt:lpstr>
      <vt:lpstr>PowerPoint Presentation</vt:lpstr>
      <vt:lpstr>PowerPoint Presentation</vt:lpstr>
      <vt:lpstr>ASSESSMENT PATTERN </vt:lpstr>
      <vt:lpstr>Reference books and weblinks</vt:lpstr>
      <vt:lpstr>Reference books and weblinks</vt:lpstr>
      <vt:lpstr>Reference Video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Appan Chawla</dc:creator>
  <cp:lastModifiedBy>Indu Gupta</cp:lastModifiedBy>
  <cp:revision>9</cp:revision>
  <dcterms:created xsi:type="dcterms:W3CDTF">2020-08-11T14:29:07Z</dcterms:created>
  <dcterms:modified xsi:type="dcterms:W3CDTF">2023-06-15T15:23:26Z</dcterms:modified>
</cp:coreProperties>
</file>