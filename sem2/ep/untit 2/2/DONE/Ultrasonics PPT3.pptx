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18"/>
  </p:notesMasterIdLst>
  <p:handoutMasterIdLst>
    <p:handoutMasterId r:id="rId19"/>
  </p:handoutMasterIdLst>
  <p:sldIdLst>
    <p:sldId id="291" r:id="rId3"/>
    <p:sldId id="292" r:id="rId4"/>
    <p:sldId id="293" r:id="rId5"/>
    <p:sldId id="302" r:id="rId6"/>
    <p:sldId id="294" r:id="rId7"/>
    <p:sldId id="286" r:id="rId8"/>
    <p:sldId id="303" r:id="rId9"/>
    <p:sldId id="296" r:id="rId10"/>
    <p:sldId id="297" r:id="rId11"/>
    <p:sldId id="290" r:id="rId12"/>
    <p:sldId id="298" r:id="rId13"/>
    <p:sldId id="299" r:id="rId14"/>
    <p:sldId id="300" r:id="rId15"/>
    <p:sldId id="284" r:id="rId16"/>
    <p:sldId id="27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31" autoAdjust="0"/>
    <p:restoredTop sz="94660"/>
  </p:normalViewPr>
  <p:slideViewPr>
    <p:cSldViewPr snapToGrid="0">
      <p:cViewPr varScale="1">
        <p:scale>
          <a:sx n="66" d="100"/>
          <a:sy n="66" d="100"/>
        </p:scale>
        <p:origin x="652"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ike vashisht" userId="7be7df2e172983c4" providerId="LiveId" clId="{147744AB-1EB4-456F-A8C2-5EA90F77CEEC}"/>
    <pc:docChg chg="custSel addSld delSld modSld sldOrd">
      <pc:chgData name="Kartike vashisht" userId="7be7df2e172983c4" providerId="LiveId" clId="{147744AB-1EB4-456F-A8C2-5EA90F77CEEC}" dt="2020-06-18T14:16:36.460" v="693" actId="113"/>
      <pc:docMkLst>
        <pc:docMk/>
      </pc:docMkLst>
      <pc:sldChg chg="addSp delSp modSp mod">
        <pc:chgData name="Kartike vashisht" userId="7be7df2e172983c4" providerId="LiveId" clId="{147744AB-1EB4-456F-A8C2-5EA90F77CEEC}" dt="2020-06-18T14:01:05.361" v="469" actId="1076"/>
        <pc:sldMkLst>
          <pc:docMk/>
          <pc:sldMk cId="4018097345" sldId="265"/>
        </pc:sldMkLst>
        <pc:spChg chg="del">
          <ac:chgData name="Kartike vashisht" userId="7be7df2e172983c4" providerId="LiveId" clId="{147744AB-1EB4-456F-A8C2-5EA90F77CEEC}" dt="2020-06-18T14:00:38.499" v="459" actId="478"/>
          <ac:spMkLst>
            <pc:docMk/>
            <pc:sldMk cId="4018097345" sldId="265"/>
            <ac:spMk id="3" creationId="{00000000-0000-0000-0000-000000000000}"/>
          </ac:spMkLst>
        </pc:spChg>
        <pc:spChg chg="add del mod">
          <ac:chgData name="Kartike vashisht" userId="7be7df2e172983c4" providerId="LiveId" clId="{147744AB-1EB4-456F-A8C2-5EA90F77CEEC}" dt="2020-06-18T14:00:40.977" v="460" actId="478"/>
          <ac:spMkLst>
            <pc:docMk/>
            <pc:sldMk cId="4018097345" sldId="265"/>
            <ac:spMk id="7" creationId="{82DEB4AE-7696-4CA4-93F7-783D7E52A709}"/>
          </ac:spMkLst>
        </pc:spChg>
        <pc:spChg chg="mod">
          <ac:chgData name="Kartike vashisht" userId="7be7df2e172983c4" providerId="LiveId" clId="{147744AB-1EB4-456F-A8C2-5EA90F77CEEC}" dt="2020-06-18T13:35:19.164" v="143" actId="20577"/>
          <ac:spMkLst>
            <pc:docMk/>
            <pc:sldMk cId="4018097345" sldId="265"/>
            <ac:spMk id="8" creationId="{00000000-0000-0000-0000-000000000000}"/>
          </ac:spMkLst>
        </pc:spChg>
        <pc:spChg chg="del mod">
          <ac:chgData name="Kartike vashisht" userId="7be7df2e172983c4" providerId="LiveId" clId="{147744AB-1EB4-456F-A8C2-5EA90F77CEEC}" dt="2020-06-18T14:00:37.335" v="458" actId="478"/>
          <ac:spMkLst>
            <pc:docMk/>
            <pc:sldMk cId="4018097345" sldId="265"/>
            <ac:spMk id="15" creationId="{00000000-0000-0000-0000-000000000000}"/>
          </ac:spMkLst>
        </pc:spChg>
        <pc:graphicFrameChg chg="modGraphic">
          <ac:chgData name="Kartike vashisht" userId="7be7df2e172983c4" providerId="LiveId" clId="{147744AB-1EB4-456F-A8C2-5EA90F77CEEC}" dt="2020-06-18T14:00:32.682" v="455" actId="20577"/>
          <ac:graphicFrameMkLst>
            <pc:docMk/>
            <pc:sldMk cId="4018097345" sldId="265"/>
            <ac:graphicFrameMk id="6" creationId="{00000000-0000-0000-0000-000000000000}"/>
          </ac:graphicFrameMkLst>
        </pc:graphicFrameChg>
        <pc:picChg chg="add mod">
          <ac:chgData name="Kartike vashisht" userId="7be7df2e172983c4" providerId="LiveId" clId="{147744AB-1EB4-456F-A8C2-5EA90F77CEEC}" dt="2020-06-18T14:01:05.361" v="469" actId="1076"/>
          <ac:picMkLst>
            <pc:docMk/>
            <pc:sldMk cId="4018097345" sldId="265"/>
            <ac:picMk id="9" creationId="{DF24722B-E303-490C-B251-65BA3DB473F5}"/>
          </ac:picMkLst>
        </pc:picChg>
        <pc:cxnChg chg="del">
          <ac:chgData name="Kartike vashisht" userId="7be7df2e172983c4" providerId="LiveId" clId="{147744AB-1EB4-456F-A8C2-5EA90F77CEEC}" dt="2020-06-18T14:00:43.269" v="461" actId="478"/>
          <ac:cxnSpMkLst>
            <pc:docMk/>
            <pc:sldMk cId="4018097345" sldId="265"/>
            <ac:cxnSpMk id="14" creationId="{00000000-0000-0000-0000-000000000000}"/>
          </ac:cxnSpMkLst>
        </pc:cxnChg>
      </pc:sldChg>
      <pc:sldChg chg="delSp modSp mod">
        <pc:chgData name="Kartike vashisht" userId="7be7df2e172983c4" providerId="LiveId" clId="{147744AB-1EB4-456F-A8C2-5EA90F77CEEC}" dt="2020-06-18T13:32:00.266" v="117" actId="313"/>
        <pc:sldMkLst>
          <pc:docMk/>
          <pc:sldMk cId="456502190" sldId="277"/>
        </pc:sldMkLst>
        <pc:spChg chg="del">
          <ac:chgData name="Kartike vashisht" userId="7be7df2e172983c4" providerId="LiveId" clId="{147744AB-1EB4-456F-A8C2-5EA90F77CEEC}" dt="2020-06-18T13:31:53.593" v="116" actId="478"/>
          <ac:spMkLst>
            <pc:docMk/>
            <pc:sldMk cId="456502190" sldId="277"/>
            <ac:spMk id="2" creationId="{00000000-0000-0000-0000-000000000000}"/>
          </ac:spMkLst>
        </pc:spChg>
        <pc:spChg chg="mod">
          <ac:chgData name="Kartike vashisht" userId="7be7df2e172983c4" providerId="LiveId" clId="{147744AB-1EB4-456F-A8C2-5EA90F77CEEC}" dt="2020-06-18T13:32:00.266" v="117" actId="313"/>
          <ac:spMkLst>
            <pc:docMk/>
            <pc:sldMk cId="456502190" sldId="277"/>
            <ac:spMk id="26" creationId="{00000000-0000-0000-0000-000000000000}"/>
          </ac:spMkLst>
        </pc:spChg>
        <pc:spChg chg="mod">
          <ac:chgData name="Kartike vashisht" userId="7be7df2e172983c4" providerId="LiveId" clId="{147744AB-1EB4-456F-A8C2-5EA90F77CEEC}" dt="2020-06-18T13:31:47.984" v="115" actId="20577"/>
          <ac:spMkLst>
            <pc:docMk/>
            <pc:sldMk cId="456502190" sldId="277"/>
            <ac:spMk id="53" creationId="{00000000-0000-0000-0000-000000000000}"/>
          </ac:spMkLst>
        </pc:spChg>
      </pc:sldChg>
      <pc:sldChg chg="addSp delSp modSp del mod modClrScheme chgLayout">
        <pc:chgData name="Kartike vashisht" userId="7be7df2e172983c4" providerId="LiveId" clId="{147744AB-1EB4-456F-A8C2-5EA90F77CEEC}" dt="2020-06-18T14:06:02.313" v="522" actId="47"/>
        <pc:sldMkLst>
          <pc:docMk/>
          <pc:sldMk cId="823702376" sldId="280"/>
        </pc:sldMkLst>
        <pc:spChg chg="mod ord">
          <ac:chgData name="Kartike vashisht" userId="7be7df2e172983c4" providerId="LiveId" clId="{147744AB-1EB4-456F-A8C2-5EA90F77CEEC}" dt="2020-06-18T14:05:55.526" v="521" actId="700"/>
          <ac:spMkLst>
            <pc:docMk/>
            <pc:sldMk cId="823702376" sldId="280"/>
            <ac:spMk id="2" creationId="{00000000-0000-0000-0000-000000000000}"/>
          </ac:spMkLst>
        </pc:spChg>
        <pc:spChg chg="mod ord">
          <ac:chgData name="Kartike vashisht" userId="7be7df2e172983c4" providerId="LiveId" clId="{147744AB-1EB4-456F-A8C2-5EA90F77CEEC}" dt="2020-06-18T14:05:55.526" v="521" actId="700"/>
          <ac:spMkLst>
            <pc:docMk/>
            <pc:sldMk cId="823702376" sldId="280"/>
            <ac:spMk id="3" creationId="{00000000-0000-0000-0000-000000000000}"/>
          </ac:spMkLst>
        </pc:spChg>
        <pc:spChg chg="mod ord">
          <ac:chgData name="Kartike vashisht" userId="7be7df2e172983c4" providerId="LiveId" clId="{147744AB-1EB4-456F-A8C2-5EA90F77CEEC}" dt="2020-06-18T14:05:55.526" v="521" actId="700"/>
          <ac:spMkLst>
            <pc:docMk/>
            <pc:sldMk cId="823702376" sldId="280"/>
            <ac:spMk id="4" creationId="{00000000-0000-0000-0000-000000000000}"/>
          </ac:spMkLst>
        </pc:spChg>
        <pc:spChg chg="add del mod ord">
          <ac:chgData name="Kartike vashisht" userId="7be7df2e172983c4" providerId="LiveId" clId="{147744AB-1EB4-456F-A8C2-5EA90F77CEEC}" dt="2020-06-18T14:05:55.526" v="521" actId="700"/>
          <ac:spMkLst>
            <pc:docMk/>
            <pc:sldMk cId="823702376" sldId="280"/>
            <ac:spMk id="7" creationId="{941CF76B-5972-416C-AE38-A99B479EFE17}"/>
          </ac:spMkLst>
        </pc:spChg>
        <pc:spChg chg="add mod ord">
          <ac:chgData name="Kartike vashisht" userId="7be7df2e172983c4" providerId="LiveId" clId="{147744AB-1EB4-456F-A8C2-5EA90F77CEEC}" dt="2020-06-18T14:05:55.526" v="521" actId="700"/>
          <ac:spMkLst>
            <pc:docMk/>
            <pc:sldMk cId="823702376" sldId="280"/>
            <ac:spMk id="8" creationId="{6E92F7D5-BBE5-4B44-BCAD-672FB83BFA00}"/>
          </ac:spMkLst>
        </pc:spChg>
      </pc:sldChg>
      <pc:sldChg chg="addSp delSp modSp mod">
        <pc:chgData name="Kartike vashisht" userId="7be7df2e172983c4" providerId="LiveId" clId="{147744AB-1EB4-456F-A8C2-5EA90F77CEEC}" dt="2020-06-18T14:01:42.570" v="477" actId="1076"/>
        <pc:sldMkLst>
          <pc:docMk/>
          <pc:sldMk cId="693801593" sldId="281"/>
        </pc:sldMkLst>
        <pc:spChg chg="mod">
          <ac:chgData name="Kartike vashisht" userId="7be7df2e172983c4" providerId="LiveId" clId="{147744AB-1EB4-456F-A8C2-5EA90F77CEEC}" dt="2020-06-18T13:43:00.681" v="256" actId="5793"/>
          <ac:spMkLst>
            <pc:docMk/>
            <pc:sldMk cId="693801593" sldId="281"/>
            <ac:spMk id="3" creationId="{00000000-0000-0000-0000-000000000000}"/>
          </ac:spMkLst>
        </pc:spChg>
        <pc:spChg chg="mod">
          <ac:chgData name="Kartike vashisht" userId="7be7df2e172983c4" providerId="LiveId" clId="{147744AB-1EB4-456F-A8C2-5EA90F77CEEC}" dt="2020-06-18T13:48:18.148" v="262" actId="14100"/>
          <ac:spMkLst>
            <pc:docMk/>
            <pc:sldMk cId="693801593" sldId="281"/>
            <ac:spMk id="4" creationId="{00000000-0000-0000-0000-000000000000}"/>
          </ac:spMkLst>
        </pc:spChg>
        <pc:spChg chg="mod">
          <ac:chgData name="Kartike vashisht" userId="7be7df2e172983c4" providerId="LiveId" clId="{147744AB-1EB4-456F-A8C2-5EA90F77CEEC}" dt="2020-06-18T13:38:45.695" v="219" actId="20577"/>
          <ac:spMkLst>
            <pc:docMk/>
            <pc:sldMk cId="693801593" sldId="281"/>
            <ac:spMk id="8" creationId="{00000000-0000-0000-0000-000000000000}"/>
          </ac:spMkLst>
        </pc:spChg>
        <pc:spChg chg="del">
          <ac:chgData name="Kartike vashisht" userId="7be7df2e172983c4" providerId="LiveId" clId="{147744AB-1EB4-456F-A8C2-5EA90F77CEEC}" dt="2020-06-18T13:48:19.890" v="263" actId="478"/>
          <ac:spMkLst>
            <pc:docMk/>
            <pc:sldMk cId="693801593" sldId="281"/>
            <ac:spMk id="9" creationId="{00000000-0000-0000-0000-000000000000}"/>
          </ac:spMkLst>
        </pc:spChg>
        <pc:picChg chg="add mod">
          <ac:chgData name="Kartike vashisht" userId="7be7df2e172983c4" providerId="LiveId" clId="{147744AB-1EB4-456F-A8C2-5EA90F77CEEC}" dt="2020-06-18T14:01:42.570" v="477" actId="1076"/>
          <ac:picMkLst>
            <pc:docMk/>
            <pc:sldMk cId="693801593" sldId="281"/>
            <ac:picMk id="6" creationId="{3EA4B369-299B-4E67-8255-FA3A6C70AFE5}"/>
          </ac:picMkLst>
        </pc:picChg>
      </pc:sldChg>
      <pc:sldChg chg="delSp modSp mod">
        <pc:chgData name="Kartike vashisht" userId="7be7df2e172983c4" providerId="LiveId" clId="{147744AB-1EB4-456F-A8C2-5EA90F77CEEC}" dt="2020-06-18T14:11:45.128" v="610"/>
        <pc:sldMkLst>
          <pc:docMk/>
          <pc:sldMk cId="404884544" sldId="282"/>
        </pc:sldMkLst>
        <pc:spChg chg="mod">
          <ac:chgData name="Kartike vashisht" userId="7be7df2e172983c4" providerId="LiveId" clId="{147744AB-1EB4-456F-A8C2-5EA90F77CEEC}" dt="2020-06-18T14:08:58.225" v="577" actId="113"/>
          <ac:spMkLst>
            <pc:docMk/>
            <pc:sldMk cId="404884544" sldId="282"/>
            <ac:spMk id="2" creationId="{00000000-0000-0000-0000-000000000000}"/>
          </ac:spMkLst>
        </pc:spChg>
        <pc:spChg chg="mod">
          <ac:chgData name="Kartike vashisht" userId="7be7df2e172983c4" providerId="LiveId" clId="{147744AB-1EB4-456F-A8C2-5EA90F77CEEC}" dt="2020-06-18T14:11:26.247" v="609" actId="123"/>
          <ac:spMkLst>
            <pc:docMk/>
            <pc:sldMk cId="404884544" sldId="282"/>
            <ac:spMk id="3" creationId="{00000000-0000-0000-0000-000000000000}"/>
          </ac:spMkLst>
        </pc:spChg>
        <pc:picChg chg="del">
          <ac:chgData name="Kartike vashisht" userId="7be7df2e172983c4" providerId="LiveId" clId="{147744AB-1EB4-456F-A8C2-5EA90F77CEEC}" dt="2020-06-18T14:11:45.128" v="610"/>
          <ac:picMkLst>
            <pc:docMk/>
            <pc:sldMk cId="404884544" sldId="282"/>
            <ac:picMk id="7" creationId="{E5AE9F68-0B88-47A5-9863-6F790FDE25F3}"/>
          </ac:picMkLst>
        </pc:picChg>
      </pc:sldChg>
      <pc:sldChg chg="del">
        <pc:chgData name="Kartike vashisht" userId="7be7df2e172983c4" providerId="LiveId" clId="{147744AB-1EB4-456F-A8C2-5EA90F77CEEC}" dt="2020-06-18T14:16:26.047" v="692" actId="2696"/>
        <pc:sldMkLst>
          <pc:docMk/>
          <pc:sldMk cId="1495971165" sldId="283"/>
        </pc:sldMkLst>
      </pc:sldChg>
      <pc:sldChg chg="add del">
        <pc:chgData name="Kartike vashisht" userId="7be7df2e172983c4" providerId="LiveId" clId="{147744AB-1EB4-456F-A8C2-5EA90F77CEEC}" dt="2020-06-18T14:06:06.083" v="523" actId="47"/>
        <pc:sldMkLst>
          <pc:docMk/>
          <pc:sldMk cId="3576686898" sldId="285"/>
        </pc:sldMkLst>
      </pc:sldChg>
      <pc:sldChg chg="modSp add mod ord">
        <pc:chgData name="Kartike vashisht" userId="7be7df2e172983c4" providerId="LiveId" clId="{147744AB-1EB4-456F-A8C2-5EA90F77CEEC}" dt="2020-06-18T14:16:36.460" v="693" actId="113"/>
        <pc:sldMkLst>
          <pc:docMk/>
          <pc:sldMk cId="523936919" sldId="286"/>
        </pc:sldMkLst>
        <pc:spChg chg="mod">
          <ac:chgData name="Kartike vashisht" userId="7be7df2e172983c4" providerId="LiveId" clId="{147744AB-1EB4-456F-A8C2-5EA90F77CEEC}" dt="2020-06-18T14:02:03.050" v="497" actId="20577"/>
          <ac:spMkLst>
            <pc:docMk/>
            <pc:sldMk cId="523936919" sldId="286"/>
            <ac:spMk id="2" creationId="{00000000-0000-0000-0000-000000000000}"/>
          </ac:spMkLst>
        </pc:spChg>
        <pc:spChg chg="mod">
          <ac:chgData name="Kartike vashisht" userId="7be7df2e172983c4" providerId="LiveId" clId="{147744AB-1EB4-456F-A8C2-5EA90F77CEEC}" dt="2020-06-18T14:16:36.460" v="693" actId="113"/>
          <ac:spMkLst>
            <pc:docMk/>
            <pc:sldMk cId="523936919" sldId="286"/>
            <ac:spMk id="3" creationId="{00000000-0000-0000-0000-000000000000}"/>
          </ac:spMkLst>
        </pc:spChg>
      </pc:sldChg>
      <pc:sldChg chg="addSp delSp modSp new mod modClrScheme chgLayout">
        <pc:chgData name="Kartike vashisht" userId="7be7df2e172983c4" providerId="LiveId" clId="{147744AB-1EB4-456F-A8C2-5EA90F77CEEC}" dt="2020-06-18T14:07:54.859" v="563" actId="1076"/>
        <pc:sldMkLst>
          <pc:docMk/>
          <pc:sldMk cId="2527142372" sldId="287"/>
        </pc:sldMkLst>
        <pc:spChg chg="del mod ord">
          <ac:chgData name="Kartike vashisht" userId="7be7df2e172983c4" providerId="LiveId" clId="{147744AB-1EB4-456F-A8C2-5EA90F77CEEC}" dt="2020-06-18T14:06:11.689" v="525" actId="700"/>
          <ac:spMkLst>
            <pc:docMk/>
            <pc:sldMk cId="2527142372" sldId="287"/>
            <ac:spMk id="2" creationId="{F189DDEA-7355-48BD-8901-7D6DD8703797}"/>
          </ac:spMkLst>
        </pc:spChg>
        <pc:spChg chg="del mod ord">
          <ac:chgData name="Kartike vashisht" userId="7be7df2e172983c4" providerId="LiveId" clId="{147744AB-1EB4-456F-A8C2-5EA90F77CEEC}" dt="2020-06-18T14:06:11.689" v="525" actId="700"/>
          <ac:spMkLst>
            <pc:docMk/>
            <pc:sldMk cId="2527142372" sldId="287"/>
            <ac:spMk id="3" creationId="{42C71E55-611F-4678-AF22-A3AD7B56BED6}"/>
          </ac:spMkLst>
        </pc:spChg>
        <pc:spChg chg="mod ord">
          <ac:chgData name="Kartike vashisht" userId="7be7df2e172983c4" providerId="LiveId" clId="{147744AB-1EB4-456F-A8C2-5EA90F77CEEC}" dt="2020-06-18T14:06:11.689" v="525" actId="700"/>
          <ac:spMkLst>
            <pc:docMk/>
            <pc:sldMk cId="2527142372" sldId="287"/>
            <ac:spMk id="4" creationId="{149A2E09-F77E-49FE-AF36-99C651499B6C}"/>
          </ac:spMkLst>
        </pc:spChg>
        <pc:spChg chg="add mod ord">
          <ac:chgData name="Kartike vashisht" userId="7be7df2e172983c4" providerId="LiveId" clId="{147744AB-1EB4-456F-A8C2-5EA90F77CEEC}" dt="2020-06-18T14:06:21.672" v="538" actId="113"/>
          <ac:spMkLst>
            <pc:docMk/>
            <pc:sldMk cId="2527142372" sldId="287"/>
            <ac:spMk id="5" creationId="{15CC7F63-3BCA-4A25-9BD9-0ACFA4DD9D49}"/>
          </ac:spMkLst>
        </pc:spChg>
        <pc:spChg chg="add del mod ord">
          <ac:chgData name="Kartike vashisht" userId="7be7df2e172983c4" providerId="LiveId" clId="{147744AB-1EB4-456F-A8C2-5EA90F77CEEC}" dt="2020-06-18T14:07:36.104" v="555"/>
          <ac:spMkLst>
            <pc:docMk/>
            <pc:sldMk cId="2527142372" sldId="287"/>
            <ac:spMk id="6" creationId="{6DC4E31A-9829-4BF4-8738-400A418939A6}"/>
          </ac:spMkLst>
        </pc:spChg>
        <pc:spChg chg="add mod ord">
          <ac:chgData name="Kartike vashisht" userId="7be7df2e172983c4" providerId="LiveId" clId="{147744AB-1EB4-456F-A8C2-5EA90F77CEEC}" dt="2020-06-18T14:07:40.323" v="556" actId="123"/>
          <ac:spMkLst>
            <pc:docMk/>
            <pc:sldMk cId="2527142372" sldId="287"/>
            <ac:spMk id="7" creationId="{E5184BE8-3893-4AE5-AFBF-12ADB2C15A38}"/>
          </ac:spMkLst>
        </pc:spChg>
        <pc:picChg chg="add mod">
          <ac:chgData name="Kartike vashisht" userId="7be7df2e172983c4" providerId="LiveId" clId="{147744AB-1EB4-456F-A8C2-5EA90F77CEEC}" dt="2020-06-18T14:07:54.859" v="563" actId="1076"/>
          <ac:picMkLst>
            <pc:docMk/>
            <pc:sldMk cId="2527142372" sldId="287"/>
            <ac:picMk id="8" creationId="{BE934EE6-F2B9-42B1-ACF6-A4C6A930090E}"/>
          </ac:picMkLst>
        </pc:picChg>
      </pc:sldChg>
      <pc:sldChg chg="add del">
        <pc:chgData name="Kartike vashisht" userId="7be7df2e172983c4" providerId="LiveId" clId="{147744AB-1EB4-456F-A8C2-5EA90F77CEEC}" dt="2020-06-18T14:08:33.822" v="567"/>
        <pc:sldMkLst>
          <pc:docMk/>
          <pc:sldMk cId="1028391726" sldId="288"/>
        </pc:sldMkLst>
      </pc:sldChg>
      <pc:sldChg chg="modSp add mod">
        <pc:chgData name="Kartike vashisht" userId="7be7df2e172983c4" providerId="LiveId" clId="{147744AB-1EB4-456F-A8C2-5EA90F77CEEC}" dt="2020-06-18T14:14:54.526" v="691" actId="113"/>
        <pc:sldMkLst>
          <pc:docMk/>
          <pc:sldMk cId="3253476186" sldId="288"/>
        </pc:sldMkLst>
        <pc:spChg chg="mod">
          <ac:chgData name="Kartike vashisht" userId="7be7df2e172983c4" providerId="LiveId" clId="{147744AB-1EB4-456F-A8C2-5EA90F77CEEC}" dt="2020-06-18T14:13:13.886" v="649" actId="20577"/>
          <ac:spMkLst>
            <pc:docMk/>
            <pc:sldMk cId="3253476186" sldId="288"/>
            <ac:spMk id="2" creationId="{00000000-0000-0000-0000-000000000000}"/>
          </ac:spMkLst>
        </pc:spChg>
        <pc:spChg chg="mod">
          <ac:chgData name="Kartike vashisht" userId="7be7df2e172983c4" providerId="LiveId" clId="{147744AB-1EB4-456F-A8C2-5EA90F77CEEC}" dt="2020-06-18T14:14:54.526" v="691" actId="113"/>
          <ac:spMkLst>
            <pc:docMk/>
            <pc:sldMk cId="3253476186" sldId="288"/>
            <ac:spMk id="3" creationId="{00000000-0000-0000-0000-000000000000}"/>
          </ac:spMkLst>
        </pc:spChg>
      </pc:sldChg>
      <pc:sldChg chg="add del">
        <pc:chgData name="Kartike vashisht" userId="7be7df2e172983c4" providerId="LiveId" clId="{147744AB-1EB4-456F-A8C2-5EA90F77CEEC}" dt="2020-06-18T14:08:33.336" v="566"/>
        <pc:sldMkLst>
          <pc:docMk/>
          <pc:sldMk cId="1428824545" sldId="289"/>
        </pc:sldMkLst>
      </pc:sldChg>
      <pc:sldChg chg="new del ord">
        <pc:chgData name="Kartike vashisht" userId="7be7df2e172983c4" providerId="LiveId" clId="{147744AB-1EB4-456F-A8C2-5EA90F77CEEC}" dt="2020-06-18T14:12:02.670" v="615" actId="47"/>
        <pc:sldMkLst>
          <pc:docMk/>
          <pc:sldMk cId="4155641998" sldId="289"/>
        </pc:sldMkLst>
      </pc:sldChg>
      <pc:sldChg chg="add">
        <pc:chgData name="Kartike vashisht" userId="7be7df2e172983c4" providerId="LiveId" clId="{147744AB-1EB4-456F-A8C2-5EA90F77CEEC}" dt="2020-06-18T14:11:57.667" v="612"/>
        <pc:sldMkLst>
          <pc:docMk/>
          <pc:sldMk cId="3123725668" sldId="29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2"/>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2177559" y="1085083"/>
            <a:ext cx="9063318" cy="697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INSTITUTE :UIE</a:t>
            </a:r>
          </a:p>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DEPARTMENT: ALL ACADEMIC UNITS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Bachelor of Engineering (All Sections)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Subject Name and Code:</a:t>
            </a:r>
          </a:p>
          <a:p>
            <a:pPr lvl="0" algn="ctr" defTabSz="622300">
              <a:lnSpc>
                <a:spcPct val="90000"/>
              </a:lnSpc>
              <a:spcBef>
                <a:spcPct val="0"/>
              </a:spcBef>
              <a:spcAft>
                <a:spcPct val="35000"/>
              </a:spcAft>
            </a:pPr>
            <a:r>
              <a:rPr lang="en-US" sz="3200">
                <a:latin typeface="Times New Roman" pitchFamily="18" charset="0"/>
                <a:ea typeface="Calibri" panose="020F0502020204030204" pitchFamily="34" charset="0"/>
                <a:cs typeface="Times New Roman" panose="02020603050405020304" pitchFamily="18" charset="0"/>
              </a:rPr>
              <a:t>Engineering Physics 23SPH-141</a:t>
            </a:r>
          </a:p>
          <a:p>
            <a:pPr lvl="0" algn="ctr" defTabSz="622300">
              <a:lnSpc>
                <a:spcPct val="90000"/>
              </a:lnSpc>
              <a:spcBef>
                <a:spcPct val="0"/>
              </a:spcBef>
              <a:spcAft>
                <a:spcPct val="35000"/>
              </a:spcAft>
            </a:pPr>
            <a:r>
              <a:rPr lang="en-US" sz="3200">
                <a:latin typeface="Times New Roman" pitchFamily="18" charset="0"/>
                <a:ea typeface="Calibri" panose="020F0502020204030204" pitchFamily="34" charset="0"/>
                <a:cs typeface="Times New Roman" panose="02020603050405020304" pitchFamily="18" charset="0"/>
              </a:rPr>
              <a:t>Prepared </a:t>
            </a:r>
            <a:r>
              <a:rPr lang="en-US" sz="3200" dirty="0">
                <a:latin typeface="Times New Roman" pitchFamily="18" charset="0"/>
                <a:ea typeface="Calibri" panose="020F0502020204030204" pitchFamily="34" charset="0"/>
                <a:cs typeface="Times New Roman" panose="02020603050405020304" pitchFamily="18" charset="0"/>
              </a:rPr>
              <a:t>by: Dr. </a:t>
            </a:r>
            <a:r>
              <a:rPr lang="en-US" sz="3200" dirty="0" err="1">
                <a:latin typeface="Times New Roman" pitchFamily="18" charset="0"/>
                <a:ea typeface="Calibri" panose="020F0502020204030204" pitchFamily="34" charset="0"/>
                <a:cs typeface="Times New Roman" panose="02020603050405020304" pitchFamily="18" charset="0"/>
              </a:rPr>
              <a:t>Anjana</a:t>
            </a:r>
            <a:r>
              <a:rPr lang="en-US" sz="3200" dirty="0">
                <a:latin typeface="Times New Roman" pitchFamily="18" charset="0"/>
                <a:ea typeface="Calibri" panose="020F0502020204030204" pitchFamily="34" charset="0"/>
                <a:cs typeface="Times New Roman" panose="02020603050405020304" pitchFamily="18" charset="0"/>
              </a:rPr>
              <a:t> Sharma, Assistant Prof. Physics</a:t>
            </a: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
        <p:nvSpPr>
          <p:cNvPr id="15" name="TextBox 52"/>
          <p:cNvSpPr txBox="1">
            <a:spLocks noChangeArrowheads="1"/>
          </p:cNvSpPr>
          <p:nvPr/>
        </p:nvSpPr>
        <p:spPr bwMode="auto">
          <a:xfrm>
            <a:off x="325056" y="6133982"/>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CRYSTALLOGRAPHY &amp; ULTRASONICS</a:t>
            </a: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287717" y="1297692"/>
            <a:ext cx="4456567" cy="1328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br>
              <a:rPr lang="en-US" sz="4400" b="1" dirty="0">
                <a:latin typeface="Casper Bold"/>
                <a:ea typeface="Karla" pitchFamily="2" charset="0"/>
                <a:cs typeface="Karla" pitchFamily="2" charset="0"/>
              </a:rPr>
            </a:br>
            <a:endParaRPr lang="en-US" sz="4400" dirty="0">
              <a:latin typeface="Casper Bold"/>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1037230" y="743847"/>
            <a:ext cx="9730854" cy="5139869"/>
          </a:xfrm>
          <a:prstGeom prst="rect">
            <a:avLst/>
          </a:prstGeom>
        </p:spPr>
        <p:txBody>
          <a:bodyPr wrap="square">
            <a:spAutoFit/>
          </a:bodyPr>
          <a:lstStyle/>
          <a:p>
            <a:r>
              <a:rPr lang="en-IN" sz="4400" b="1" dirty="0"/>
              <a:t>COURSE OBJECTIVES</a:t>
            </a:r>
            <a:endParaRPr lang="en-US" sz="4400" dirty="0"/>
          </a:p>
          <a:p>
            <a:r>
              <a:rPr lang="en-IN" sz="4400" dirty="0"/>
              <a:t> </a:t>
            </a:r>
            <a:endParaRPr lang="en-US" sz="4400" dirty="0"/>
          </a:p>
          <a:p>
            <a:pPr marL="285750" lvl="0" indent="-285750" algn="just">
              <a:buFont typeface="Wingdings" pitchFamily="2" charset="2"/>
              <a:buChar char="v"/>
            </a:pPr>
            <a:r>
              <a:rPr lang="en-IN" sz="2400" dirty="0"/>
              <a:t>The course is designed to make the students industry ready to contribute in the growing demand of the industry at local, national and international level.</a:t>
            </a:r>
            <a:endParaRPr lang="en-US" sz="2400" dirty="0"/>
          </a:p>
          <a:p>
            <a:pPr marL="285750" lvl="0" indent="-285750" algn="just">
              <a:buFont typeface="Wingdings" pitchFamily="2" charset="2"/>
              <a:buChar char="v"/>
            </a:pPr>
            <a:r>
              <a:rPr lang="en-IN" sz="2400" dirty="0"/>
              <a:t>It will make the students competent to understand basic concepts and applications of advanced engineering physics and apply its principles in their respective fields at global platform.</a:t>
            </a:r>
            <a:endParaRPr lang="en-US" sz="2400" dirty="0"/>
          </a:p>
          <a:p>
            <a:pPr marL="285750" lvl="0" indent="-285750" algn="just">
              <a:buFont typeface="Wingdings" pitchFamily="2" charset="2"/>
              <a:buChar char="v"/>
            </a:pPr>
            <a:r>
              <a:rPr lang="en-IN" sz="2400" dirty="0"/>
              <a:t>It will enhance the skill level of the students and shall make them preferred choice for getting employment in industry and research labs.</a:t>
            </a:r>
            <a:endParaRPr lang="en-US" sz="2400" dirty="0"/>
          </a:p>
          <a:p>
            <a:pPr marL="285750" lvl="0" indent="-285750" algn="just">
              <a:buFont typeface="Wingdings" pitchFamily="2" charset="2"/>
              <a:buChar char="v"/>
            </a:pPr>
            <a:r>
              <a:rPr lang="en-IN" sz="2400" dirty="0"/>
              <a:t>It will give thorough knowledge of the discipline to enable students to disseminate knowledge in pursuing excellence in academic areas.</a:t>
            </a:r>
            <a:endParaRPr lang="en-US" sz="2400" dirty="0"/>
          </a:p>
        </p:txBody>
      </p:sp>
    </p:spTree>
    <p:extLst>
      <p:ext uri="{BB962C8B-B14F-4D97-AF65-F5344CB8AC3E}">
        <p14:creationId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DCDBBEF-AA6C-4BA6-85B2-A17D7F280E38}" type="slidenum">
              <a:rPr lang="en-US" smtClean="0"/>
              <a:pPr/>
              <a:t>3</a:t>
            </a:fld>
            <a:endParaRPr lang="en-US"/>
          </a:p>
        </p:txBody>
      </p:sp>
      <p:sp>
        <p:nvSpPr>
          <p:cNvPr id="8" name="Rectangle 7"/>
          <p:cNvSpPr/>
          <p:nvPr/>
        </p:nvSpPr>
        <p:spPr>
          <a:xfrm>
            <a:off x="196322" y="1060692"/>
            <a:ext cx="4933210" cy="769441"/>
          </a:xfrm>
          <a:prstGeom prst="rect">
            <a:avLst/>
          </a:prstGeom>
        </p:spPr>
        <p:txBody>
          <a:bodyPr wrap="none">
            <a:spAutoFit/>
          </a:bodyPr>
          <a:lstStyle/>
          <a:p>
            <a:r>
              <a:rPr lang="en-IN" sz="4400" b="1" dirty="0"/>
              <a:t>COURSE OUTCOMES</a:t>
            </a:r>
            <a:endParaRPr lang="en-US" sz="4400" dirty="0"/>
          </a:p>
        </p:txBody>
      </p:sp>
      <p:sp>
        <p:nvSpPr>
          <p:cNvPr id="7" name="TextBox 6"/>
          <p:cNvSpPr txBox="1"/>
          <p:nvPr/>
        </p:nvSpPr>
        <p:spPr>
          <a:xfrm>
            <a:off x="6168491" y="6280178"/>
            <a:ext cx="3531476" cy="369332"/>
          </a:xfrm>
          <a:prstGeom prst="rect">
            <a:avLst/>
          </a:prstGeom>
          <a:noFill/>
        </p:spPr>
        <p:txBody>
          <a:bodyPr wrap="square" rtlCol="0">
            <a:spAutoFit/>
          </a:bodyPr>
          <a:lstStyle/>
          <a:p>
            <a:r>
              <a:rPr lang="en-US" dirty="0"/>
              <a:t>Fig. 1 Introduction [1]</a:t>
            </a:r>
          </a:p>
        </p:txBody>
      </p:sp>
      <p:pic>
        <p:nvPicPr>
          <p:cNvPr id="9" name="Picture 8">
            <a:extLst>
              <a:ext uri="{FF2B5EF4-FFF2-40B4-BE49-F238E27FC236}">
                <a16:creationId xmlns:a16="http://schemas.microsoft.com/office/drawing/2014/main" id="{DF24722B-E303-490C-B251-65BA3DB473F5}"/>
              </a:ext>
            </a:extLst>
          </p:cNvPr>
          <p:cNvPicPr>
            <a:picLocks noChangeAspect="1"/>
          </p:cNvPicPr>
          <p:nvPr/>
        </p:nvPicPr>
        <p:blipFill>
          <a:blip r:embed="rId2"/>
          <a:stretch>
            <a:fillRect/>
          </a:stretch>
        </p:blipFill>
        <p:spPr>
          <a:xfrm>
            <a:off x="6168491" y="1492624"/>
            <a:ext cx="5136777" cy="4630524"/>
          </a:xfrm>
          <a:prstGeom prst="rect">
            <a:avLst/>
          </a:prstGeom>
        </p:spPr>
      </p:pic>
      <p:graphicFrame>
        <p:nvGraphicFramePr>
          <p:cNvPr id="10" name="Table 9"/>
          <p:cNvGraphicFramePr>
            <a:graphicFrameLocks noGrp="1"/>
          </p:cNvGraphicFramePr>
          <p:nvPr>
            <p:extLst>
              <p:ext uri="{D42A27DB-BD31-4B8C-83A1-F6EECF244321}">
                <p14:modId xmlns:p14="http://schemas.microsoft.com/office/powerpoint/2010/main" val="903301640"/>
              </p:ext>
            </p:extLst>
          </p:nvPr>
        </p:nvGraphicFramePr>
        <p:xfrm>
          <a:off x="399613" y="2069040"/>
          <a:ext cx="5458263" cy="4637392"/>
        </p:xfrm>
        <a:graphic>
          <a:graphicData uri="http://schemas.openxmlformats.org/drawingml/2006/table">
            <a:tbl>
              <a:tblPr firstRow="1" firstCol="1" bandRow="1">
                <a:tableStyleId>{5940675A-B579-460E-94D1-54222C63F5DA}</a:tableStyleId>
              </a:tblPr>
              <a:tblGrid>
                <a:gridCol w="824144">
                  <a:extLst>
                    <a:ext uri="{9D8B030D-6E8A-4147-A177-3AD203B41FA5}">
                      <a16:colId xmlns:a16="http://schemas.microsoft.com/office/drawing/2014/main" val="20000"/>
                    </a:ext>
                  </a:extLst>
                </a:gridCol>
                <a:gridCol w="3661864">
                  <a:extLst>
                    <a:ext uri="{9D8B030D-6E8A-4147-A177-3AD203B41FA5}">
                      <a16:colId xmlns:a16="http://schemas.microsoft.com/office/drawing/2014/main" val="20001"/>
                    </a:ext>
                  </a:extLst>
                </a:gridCol>
                <a:gridCol w="972255">
                  <a:extLst>
                    <a:ext uri="{9D8B030D-6E8A-4147-A177-3AD203B41FA5}">
                      <a16:colId xmlns:a16="http://schemas.microsoft.com/office/drawing/2014/main" val="20002"/>
                    </a:ext>
                  </a:extLst>
                </a:gridCol>
              </a:tblGrid>
              <a:tr h="709941">
                <a:tc>
                  <a:txBody>
                    <a:bodyPr/>
                    <a:lstStyle/>
                    <a:p>
                      <a:pPr marL="0" marR="0">
                        <a:lnSpc>
                          <a:spcPct val="115000"/>
                        </a:lnSpc>
                        <a:spcBef>
                          <a:spcPts val="0"/>
                        </a:spcBef>
                        <a:spcAft>
                          <a:spcPts val="0"/>
                        </a:spcAft>
                      </a:pPr>
                      <a:r>
                        <a:rPr lang="en-US" sz="1200" b="0" dirty="0">
                          <a:effectLst/>
                        </a:rPr>
                        <a:t>CO Number</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Title </a:t>
                      </a:r>
                    </a:p>
                    <a:p>
                      <a:pPr marL="0" marR="0">
                        <a:lnSpc>
                          <a:spcPct val="115000"/>
                        </a:lnSpc>
                        <a:spcBef>
                          <a:spcPts val="0"/>
                        </a:spcBef>
                        <a:spcAft>
                          <a:spcPts val="0"/>
                        </a:spcAft>
                      </a:pPr>
                      <a:r>
                        <a:rPr lang="en-IN" sz="1200" kern="1200" dirty="0">
                          <a:solidFill>
                            <a:schemeClr val="tx1"/>
                          </a:solidFill>
                          <a:effectLst/>
                          <a:latin typeface="+mn-lt"/>
                          <a:ea typeface="+mn-ea"/>
                          <a:cs typeface="+mn-cs"/>
                        </a:rPr>
                        <a:t>On completion of this course, the students are expected to learn</a:t>
                      </a:r>
                      <a:endParaRPr lang="en-US"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Level </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79638">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CO1</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Quote the basic fundamental concepts of lasers, optical </a:t>
                      </a:r>
                      <a:r>
                        <a:rPr lang="en-US" sz="1100" dirty="0" err="1">
                          <a:effectLst/>
                          <a:latin typeface="Calibri"/>
                          <a:ea typeface="Calibri"/>
                          <a:cs typeface="Calibri"/>
                        </a:rPr>
                        <a:t>fibres</a:t>
                      </a:r>
                      <a:r>
                        <a:rPr lang="en-US" sz="1100" dirty="0">
                          <a:effectLst/>
                          <a:latin typeface="Calibri"/>
                          <a:ea typeface="Calibri"/>
                          <a:cs typeface="Calibri"/>
                        </a:rPr>
                        <a:t>, crystallography, ultrasonic oscillations, semiconductor physics, quantum mechanics and nanotechnology.</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solidFill>
                            <a:schemeClr val="tx1"/>
                          </a:solidFill>
                          <a:effectLst/>
                          <a:latin typeface="+mn-lt"/>
                        </a:rPr>
                        <a:t>Remember, Understand</a:t>
                      </a:r>
                    </a:p>
                    <a:p>
                      <a:pPr marL="0" marR="0">
                        <a:lnSpc>
                          <a:spcPct val="115000"/>
                        </a:lnSpc>
                        <a:spcBef>
                          <a:spcPts val="0"/>
                        </a:spcBef>
                        <a:spcAft>
                          <a:spcPts val="0"/>
                        </a:spcAft>
                      </a:pPr>
                      <a:r>
                        <a:rPr lang="en-US" sz="1200" b="0" dirty="0">
                          <a:solidFill>
                            <a:schemeClr val="tx1"/>
                          </a:solidFill>
                          <a:effectLst/>
                          <a:latin typeface="+mn-lt"/>
                        </a:rPr>
                        <a:t> </a:t>
                      </a: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776699">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CO2</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Demonstrate the working of various lasers, </a:t>
                      </a:r>
                      <a:r>
                        <a:rPr lang="en-US" sz="1100" dirty="0" err="1">
                          <a:effectLst/>
                          <a:latin typeface="Calibri"/>
                          <a:ea typeface="Calibri"/>
                          <a:cs typeface="Calibri"/>
                        </a:rPr>
                        <a:t>fibre</a:t>
                      </a:r>
                      <a:r>
                        <a:rPr lang="en-US" sz="1100" dirty="0">
                          <a:effectLst/>
                          <a:latin typeface="Calibri"/>
                          <a:ea typeface="Calibri"/>
                          <a:cs typeface="Calibri"/>
                        </a:rPr>
                        <a:t> components, semiconductor devices; explain the </a:t>
                      </a:r>
                      <a:r>
                        <a:rPr lang="en-US" sz="1100" dirty="0" err="1">
                          <a:effectLst/>
                          <a:latin typeface="Calibri"/>
                          <a:ea typeface="Calibri"/>
                          <a:cs typeface="Calibri"/>
                        </a:rPr>
                        <a:t>behaviour</a:t>
                      </a:r>
                      <a:r>
                        <a:rPr lang="en-US" sz="1100" dirty="0">
                          <a:effectLst/>
                          <a:latin typeface="Calibri"/>
                          <a:ea typeface="Calibri"/>
                          <a:cs typeface="Calibri"/>
                        </a:rPr>
                        <a:t> of crystalline solids, quantum and </a:t>
                      </a:r>
                      <a:r>
                        <a:rPr lang="en-US" sz="1100" dirty="0" err="1">
                          <a:effectLst/>
                          <a:latin typeface="Calibri"/>
                          <a:ea typeface="Calibri"/>
                          <a:cs typeface="Calibri"/>
                        </a:rPr>
                        <a:t>nano</a:t>
                      </a:r>
                      <a:r>
                        <a:rPr lang="en-US" sz="1100" dirty="0">
                          <a:effectLst/>
                          <a:latin typeface="Calibri"/>
                          <a:ea typeface="Calibri"/>
                          <a:cs typeface="Calibri"/>
                        </a:rPr>
                        <a:t>-scale systems.</a:t>
                      </a:r>
                      <a:endParaRPr lang="en-US" sz="1100" dirty="0">
                        <a:effectLst/>
                        <a:latin typeface="Calibri"/>
                        <a:ea typeface="Calibri"/>
                        <a:cs typeface="Times New Roman"/>
                      </a:endParaRPr>
                    </a:p>
                  </a:txBody>
                  <a:tcPr marL="68580" marR="68580" marT="0" marB="0"/>
                </a:tc>
                <a:tc>
                  <a:txBody>
                    <a:bodyPr/>
                    <a:lstStyle/>
                    <a:p>
                      <a:pPr marL="0" marR="0" algn="l">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Understand</a:t>
                      </a:r>
                    </a:p>
                  </a:txBody>
                  <a:tcPr marL="68580" marR="68580" marT="0" marB="0"/>
                </a:tc>
                <a:extLst>
                  <a:ext uri="{0D108BD9-81ED-4DB2-BD59-A6C34878D82A}">
                    <a16:rowId xmlns:a16="http://schemas.microsoft.com/office/drawing/2014/main" val="10004"/>
                  </a:ext>
                </a:extLst>
              </a:tr>
              <a:tr h="579638">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CO3</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Solve problems by applying principles related to lasers, </a:t>
                      </a:r>
                      <a:r>
                        <a:rPr lang="en-US" sz="1100" dirty="0" err="1">
                          <a:effectLst/>
                          <a:latin typeface="Calibri"/>
                          <a:ea typeface="Calibri"/>
                          <a:cs typeface="Calibri"/>
                        </a:rPr>
                        <a:t>fibres</a:t>
                      </a:r>
                      <a:r>
                        <a:rPr lang="en-US" sz="1100" dirty="0">
                          <a:effectLst/>
                          <a:latin typeface="Calibri"/>
                          <a:ea typeface="Calibri"/>
                          <a:cs typeface="Calibri"/>
                        </a:rPr>
                        <a:t>, semiconductors, oscillations, quantum and </a:t>
                      </a:r>
                      <a:r>
                        <a:rPr lang="en-US" sz="1100" dirty="0" err="1">
                          <a:effectLst/>
                          <a:latin typeface="Calibri"/>
                          <a:ea typeface="Calibri"/>
                          <a:cs typeface="Calibri"/>
                        </a:rPr>
                        <a:t>nanoscience</a:t>
                      </a:r>
                      <a:r>
                        <a:rPr lang="en-US" sz="1100" dirty="0">
                          <a:effectLst/>
                          <a:latin typeface="Calibri"/>
                          <a:ea typeface="Calibri"/>
                          <a:cs typeface="Calibri"/>
                        </a:rPr>
                        <a:t>.</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rPr>
                        <a:t>Applying </a:t>
                      </a:r>
                    </a:p>
                  </a:txBody>
                  <a:tcPr marL="68580" marR="68580" marT="0" marB="0"/>
                </a:tc>
                <a:extLst>
                  <a:ext uri="{0D108BD9-81ED-4DB2-BD59-A6C34878D82A}">
                    <a16:rowId xmlns:a16="http://schemas.microsoft.com/office/drawing/2014/main" val="10005"/>
                  </a:ext>
                </a:extLst>
              </a:tr>
              <a:tr h="579638">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CO4</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Compare various lasers and </a:t>
                      </a:r>
                      <a:r>
                        <a:rPr lang="en-US" sz="1100" dirty="0" err="1">
                          <a:effectLst/>
                          <a:latin typeface="Calibri"/>
                          <a:ea typeface="Calibri"/>
                          <a:cs typeface="Calibri"/>
                        </a:rPr>
                        <a:t>fibres</a:t>
                      </a:r>
                      <a:r>
                        <a:rPr lang="en-US" sz="1100" dirty="0">
                          <a:effectLst/>
                          <a:latin typeface="Calibri"/>
                          <a:ea typeface="Calibri"/>
                          <a:cs typeface="Calibri"/>
                        </a:rPr>
                        <a:t>, semiconducting devices, crystalline materials, structures at quantum and </a:t>
                      </a:r>
                      <a:r>
                        <a:rPr lang="en-US" sz="1100" dirty="0" err="1">
                          <a:effectLst/>
                          <a:latin typeface="Calibri"/>
                          <a:ea typeface="Calibri"/>
                          <a:cs typeface="Calibri"/>
                        </a:rPr>
                        <a:t>nanoscale</a:t>
                      </a:r>
                      <a:r>
                        <a:rPr lang="en-US" sz="1100" dirty="0">
                          <a:effectLst/>
                          <a:latin typeface="Calibri"/>
                          <a:ea typeface="Calibri"/>
                          <a:cs typeface="Calibri"/>
                        </a:rPr>
                        <a:t> on the basis of their properties for industrial applications.</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ea typeface="Times New Roman" panose="02020603050405020304" pitchFamily="18" charset="0"/>
                          <a:cs typeface="Times New Roman" panose="02020603050405020304" pitchFamily="18" charset="0"/>
                        </a:rPr>
                        <a:t>Analyze</a:t>
                      </a:r>
                    </a:p>
                  </a:txBody>
                  <a:tcPr marL="68580" marR="68580" marT="0" marB="0"/>
                </a:tc>
                <a:extLst>
                  <a:ext uri="{0D108BD9-81ED-4DB2-BD59-A6C34878D82A}">
                    <a16:rowId xmlns:a16="http://schemas.microsoft.com/office/drawing/2014/main" val="10002"/>
                  </a:ext>
                </a:extLst>
              </a:tr>
              <a:tr h="887612">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CO5</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Develop various systems using lasers, </a:t>
                      </a:r>
                      <a:r>
                        <a:rPr lang="en-US" sz="1100" dirty="0" err="1">
                          <a:effectLst/>
                          <a:latin typeface="Calibri"/>
                          <a:ea typeface="Calibri"/>
                          <a:cs typeface="Calibri"/>
                        </a:rPr>
                        <a:t>fibres</a:t>
                      </a:r>
                      <a:r>
                        <a:rPr lang="en-US" sz="1100" dirty="0">
                          <a:effectLst/>
                          <a:latin typeface="Calibri"/>
                          <a:ea typeface="Calibri"/>
                          <a:cs typeface="Calibri"/>
                        </a:rPr>
                        <a:t>, semiconductors and </a:t>
                      </a:r>
                      <a:r>
                        <a:rPr lang="en-US" sz="1100" dirty="0" err="1">
                          <a:effectLst/>
                          <a:latin typeface="Calibri"/>
                          <a:ea typeface="Calibri"/>
                          <a:cs typeface="Calibri"/>
                        </a:rPr>
                        <a:t>nanomaterials</a:t>
                      </a:r>
                      <a:r>
                        <a:rPr lang="en-US" sz="1100" dirty="0">
                          <a:effectLst/>
                          <a:latin typeface="Calibri"/>
                          <a:ea typeface="Calibri"/>
                          <a:cs typeface="Calibri"/>
                        </a:rPr>
                        <a:t> for futuristic applications.</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effectLst/>
                          <a:latin typeface="+mn-lt"/>
                        </a:rPr>
                        <a:t>Design</a:t>
                      </a:r>
                      <a:r>
                        <a:rPr lang="en-US" sz="1200" b="0" dirty="0">
                          <a:solidFill>
                            <a:schemeClr val="tx1"/>
                          </a:solidFill>
                          <a:effectLst/>
                          <a:latin typeface="+mn-lt"/>
                        </a:rPr>
                        <a:t> </a:t>
                      </a: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01735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0" y="2363372"/>
            <a:ext cx="5277393" cy="1575582"/>
          </a:xfrm>
        </p:spPr>
        <p:txBody>
          <a:bodyPr/>
          <a:lstStyle/>
          <a:p>
            <a:r>
              <a:rPr lang="en-US" sz="4400" dirty="0">
                <a:solidFill>
                  <a:schemeClr val="tx1">
                    <a:lumMod val="85000"/>
                    <a:lumOff val="15000"/>
                  </a:schemeClr>
                </a:solidFill>
                <a:cs typeface="Arial" panose="020B0604020202020204" pitchFamily="34" charset="0"/>
              </a:rPr>
              <a:t>MAGNETOSTRICTION METHOD</a:t>
            </a:r>
          </a:p>
          <a:p>
            <a:endParaRPr lang="en-US" dirty="0"/>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4</a:t>
            </a:fld>
            <a:endParaRPr lang="en-US" dirty="0"/>
          </a:p>
        </p:txBody>
      </p:sp>
      <p:sp>
        <p:nvSpPr>
          <p:cNvPr id="2" name="Rectangle 1"/>
          <p:cNvSpPr/>
          <p:nvPr/>
        </p:nvSpPr>
        <p:spPr>
          <a:xfrm>
            <a:off x="5295900" y="838200"/>
            <a:ext cx="5867400"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3490" name="Picture 2" descr="C:\Users\admin\Desktop\download (3).jpg"/>
          <p:cNvPicPr>
            <a:picLocks noChangeAspect="1" noChangeArrowheads="1"/>
          </p:cNvPicPr>
          <p:nvPr/>
        </p:nvPicPr>
        <p:blipFill>
          <a:blip r:embed="rId2"/>
          <a:srcRect b="10904"/>
          <a:stretch>
            <a:fillRect/>
          </a:stretch>
        </p:blipFill>
        <p:spPr bwMode="auto">
          <a:xfrm>
            <a:off x="5401994" y="984739"/>
            <a:ext cx="5641143" cy="5205046"/>
          </a:xfrm>
          <a:prstGeom prst="rect">
            <a:avLst/>
          </a:prstGeom>
          <a:noFill/>
        </p:spPr>
      </p:pic>
      <p:sp>
        <p:nvSpPr>
          <p:cNvPr id="8" name="TextBox 7"/>
          <p:cNvSpPr txBox="1"/>
          <p:nvPr/>
        </p:nvSpPr>
        <p:spPr>
          <a:xfrm>
            <a:off x="6168491" y="6521824"/>
            <a:ext cx="3531476" cy="369332"/>
          </a:xfrm>
          <a:prstGeom prst="rect">
            <a:avLst/>
          </a:prstGeom>
          <a:noFill/>
        </p:spPr>
        <p:txBody>
          <a:bodyPr wrap="square" rtlCol="0">
            <a:spAutoFit/>
          </a:bodyPr>
          <a:lstStyle/>
          <a:p>
            <a:r>
              <a:rPr lang="en-US" dirty="0"/>
              <a:t>Fig. 2 Introduction [2]</a:t>
            </a:r>
          </a:p>
        </p:txBody>
      </p:sp>
    </p:spTree>
    <p:extLst>
      <p:ext uri="{BB962C8B-B14F-4D97-AF65-F5344CB8AC3E}">
        <p14:creationId xmlns:p14="http://schemas.microsoft.com/office/powerpoint/2010/main" val="693801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5</a:t>
            </a:fld>
            <a:endParaRPr lang="en-US"/>
          </a:p>
        </p:txBody>
      </p:sp>
      <p:pic>
        <p:nvPicPr>
          <p:cNvPr id="60418" name="Picture 2" descr="C:\Users\admin\Desktop\ultrasonic-5-638.jpg"/>
          <p:cNvPicPr>
            <a:picLocks noChangeAspect="1" noChangeArrowheads="1"/>
          </p:cNvPicPr>
          <p:nvPr/>
        </p:nvPicPr>
        <p:blipFill>
          <a:blip r:embed="rId2"/>
          <a:srcRect/>
          <a:stretch>
            <a:fillRect/>
          </a:stretch>
        </p:blipFill>
        <p:spPr bwMode="auto">
          <a:xfrm>
            <a:off x="535577" y="1763486"/>
            <a:ext cx="10310613" cy="4715691"/>
          </a:xfrm>
          <a:prstGeom prst="rect">
            <a:avLst/>
          </a:prstGeom>
          <a:noFill/>
        </p:spPr>
      </p:pic>
      <p:sp>
        <p:nvSpPr>
          <p:cNvPr id="4" name="Rectangle 3"/>
          <p:cNvSpPr/>
          <p:nvPr/>
        </p:nvSpPr>
        <p:spPr>
          <a:xfrm>
            <a:off x="838200" y="156754"/>
            <a:ext cx="10515600" cy="88827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280160" y="261258"/>
            <a:ext cx="8875763" cy="769441"/>
          </a:xfrm>
          <a:prstGeom prst="rect">
            <a:avLst/>
          </a:prstGeom>
          <a:noFill/>
        </p:spPr>
        <p:txBody>
          <a:bodyPr wrap="square" rtlCol="0">
            <a:spAutoFit/>
          </a:bodyPr>
          <a:lstStyle/>
          <a:p>
            <a:r>
              <a:rPr lang="en-US" sz="4400" dirty="0"/>
              <a:t>PRODUCTION OF ULTRASONIC WAVES</a:t>
            </a:r>
            <a:endParaRPr lang="en-IN" sz="4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mn-lt"/>
                <a:cs typeface="Arial" panose="020B0604020202020204" pitchFamily="34" charset="0"/>
              </a:rPr>
              <a:t>WORKING PRINCIPLE </a:t>
            </a:r>
            <a:r>
              <a:rPr lang="en-US" dirty="0">
                <a:latin typeface="+mn-lt"/>
              </a:rPr>
              <a:t>  </a:t>
            </a:r>
          </a:p>
        </p:txBody>
      </p:sp>
      <p:sp>
        <p:nvSpPr>
          <p:cNvPr id="3" name="Content Placeholder 2"/>
          <p:cNvSpPr>
            <a:spLocks noGrp="1"/>
          </p:cNvSpPr>
          <p:nvPr>
            <p:ph idx="1"/>
          </p:nvPr>
        </p:nvSpPr>
        <p:spPr/>
        <p:txBody>
          <a:bodyPr>
            <a:normAutofit/>
          </a:bodyPr>
          <a:lstStyle/>
          <a:p>
            <a:pPr marL="0" indent="0">
              <a:lnSpc>
                <a:spcPct val="250000"/>
              </a:lnSpc>
              <a:buNone/>
            </a:pPr>
            <a:r>
              <a:rPr lang="en-US" sz="1800" b="1" dirty="0"/>
              <a:t>Magnetostriction effect:</a:t>
            </a:r>
          </a:p>
          <a:p>
            <a:pPr algn="just">
              <a:lnSpc>
                <a:spcPct val="250000"/>
              </a:lnSpc>
              <a:buFont typeface="Wingdings" pitchFamily="2" charset="2"/>
              <a:buChar char="Ø"/>
            </a:pPr>
            <a:r>
              <a:rPr lang="en-US" sz="1800" dirty="0"/>
              <a:t>When a ferromagnetic rod like iron or nickel is placed in a magnetic  field parallel to its length, the rod experiences a small change in its length. This is called  magnetostriction effect.</a:t>
            </a:r>
          </a:p>
          <a:p>
            <a:pPr algn="just">
              <a:lnSpc>
                <a:spcPct val="250000"/>
              </a:lnSpc>
              <a:buFont typeface="Wingdings" pitchFamily="2" charset="2"/>
              <a:buChar char="Ø"/>
            </a:pPr>
            <a:r>
              <a:rPr lang="en-US" sz="1800" dirty="0"/>
              <a:t>The change in length (increase or decrease) produced in the rod depends upon the strength of the magnetic field, the nature of the materials and is independent of the direction of the magnetic field applied.</a:t>
            </a:r>
          </a:p>
          <a:p>
            <a:pPr marL="0" indent="0">
              <a:buNone/>
            </a:pP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3936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CC7F63-3BCA-4A25-9BD9-0ACFA4DD9D49}"/>
              </a:ext>
            </a:extLst>
          </p:cNvPr>
          <p:cNvSpPr>
            <a:spLocks noGrp="1"/>
          </p:cNvSpPr>
          <p:nvPr>
            <p:ph type="title"/>
          </p:nvPr>
        </p:nvSpPr>
        <p:spPr>
          <a:xfrm>
            <a:off x="3203212" y="35160"/>
            <a:ext cx="5718719" cy="977705"/>
          </a:xfrm>
        </p:spPr>
        <p:txBody>
          <a:bodyPr>
            <a:normAutofit/>
          </a:bodyPr>
          <a:lstStyle/>
          <a:p>
            <a:pPr algn="ctr"/>
            <a:r>
              <a:rPr lang="en-US" sz="4400" dirty="0">
                <a:latin typeface="+mn-lt"/>
              </a:rPr>
              <a:t>CONSTRUCTION</a:t>
            </a:r>
            <a:endParaRPr lang="en-IN" sz="4400" dirty="0">
              <a:latin typeface="+mn-lt"/>
            </a:endParaRPr>
          </a:p>
        </p:txBody>
      </p:sp>
      <p:pic>
        <p:nvPicPr>
          <p:cNvPr id="8" name="Content Placeholder 7">
            <a:extLst>
              <a:ext uri="{FF2B5EF4-FFF2-40B4-BE49-F238E27FC236}">
                <a16:creationId xmlns:a16="http://schemas.microsoft.com/office/drawing/2014/main" id="{BE934EE6-F2B9-42B1-ACF6-A4C6A930090E}"/>
              </a:ext>
            </a:extLst>
          </p:cNvPr>
          <p:cNvPicPr>
            <a:picLocks noGrp="1" noChangeAspect="1"/>
          </p:cNvPicPr>
          <p:nvPr>
            <p:ph idx="1"/>
          </p:nvPr>
        </p:nvPicPr>
        <p:blipFill>
          <a:blip r:embed="rId2"/>
          <a:stretch>
            <a:fillRect/>
          </a:stretch>
        </p:blipFill>
        <p:spPr>
          <a:xfrm>
            <a:off x="5174106" y="1020363"/>
            <a:ext cx="5949613" cy="4817273"/>
          </a:xfrm>
          <a:prstGeom prst="rect">
            <a:avLst/>
          </a:prstGeom>
        </p:spPr>
      </p:pic>
      <p:sp>
        <p:nvSpPr>
          <p:cNvPr id="7" name="Text Placeholder 6">
            <a:extLst>
              <a:ext uri="{FF2B5EF4-FFF2-40B4-BE49-F238E27FC236}">
                <a16:creationId xmlns:a16="http://schemas.microsoft.com/office/drawing/2014/main" id="{E5184BE8-3893-4AE5-AFBF-12ADB2C15A38}"/>
              </a:ext>
            </a:extLst>
          </p:cNvPr>
          <p:cNvSpPr>
            <a:spLocks noGrp="1"/>
          </p:cNvSpPr>
          <p:nvPr>
            <p:ph type="body" sz="half" idx="2"/>
          </p:nvPr>
        </p:nvSpPr>
        <p:spPr>
          <a:xfrm>
            <a:off x="281354" y="1311795"/>
            <a:ext cx="5064369" cy="4596635"/>
          </a:xfrm>
        </p:spPr>
        <p:txBody>
          <a:bodyPr>
            <a:noAutofit/>
          </a:bodyPr>
          <a:lstStyle/>
          <a:p>
            <a:pPr algn="just">
              <a:lnSpc>
                <a:spcPct val="100000"/>
              </a:lnSpc>
            </a:pPr>
            <a:r>
              <a:rPr lang="en-US" sz="2400" dirty="0"/>
              <a:t>The circuit outline of magnetostriction ultrasonic generator is as appeared in the fig. A short for all time charged nickel bar is cinched in the center between two blade edges. A curl L</a:t>
            </a:r>
            <a:r>
              <a:rPr lang="en-US" sz="2400" baseline="-25000" dirty="0"/>
              <a:t>1</a:t>
            </a:r>
            <a:r>
              <a:rPr lang="en-US" sz="2400" dirty="0"/>
              <a:t> is twisted on the correct hand part of the bar. C is a variable capacitor. L</a:t>
            </a:r>
            <a:r>
              <a:rPr lang="en-US" sz="2400" baseline="-25000" dirty="0"/>
              <a:t>1</a:t>
            </a:r>
            <a:r>
              <a:rPr lang="en-US" sz="2400" dirty="0"/>
              <a:t> and C</a:t>
            </a:r>
            <a:r>
              <a:rPr lang="en-US" sz="2400" baseline="-25000" dirty="0"/>
              <a:t>1</a:t>
            </a:r>
            <a:r>
              <a:rPr lang="en-US" sz="2400" dirty="0"/>
              <a:t> shape the thunderous circuit of the gatherer tuned oscillator. Loop L</a:t>
            </a:r>
            <a:r>
              <a:rPr lang="en-US" sz="2400" baseline="-25000" dirty="0"/>
              <a:t>2</a:t>
            </a:r>
            <a:r>
              <a:rPr lang="en-US" sz="2400" dirty="0"/>
              <a:t> twisted on the LHS of the pole is associated in the base circuit. The curl L</a:t>
            </a:r>
            <a:r>
              <a:rPr lang="en-US" sz="2400" baseline="-25000" dirty="0"/>
              <a:t>2</a:t>
            </a:r>
            <a:r>
              <a:rPr lang="en-US" sz="2400" dirty="0"/>
              <a:t> is utilized as an input circle.</a:t>
            </a:r>
            <a:endParaRPr lang="en-IN" sz="2400" dirty="0"/>
          </a:p>
        </p:txBody>
      </p:sp>
      <p:sp>
        <p:nvSpPr>
          <p:cNvPr id="4" name="Slide Number Placeholder 3">
            <a:extLst>
              <a:ext uri="{FF2B5EF4-FFF2-40B4-BE49-F238E27FC236}">
                <a16:creationId xmlns:a16="http://schemas.microsoft.com/office/drawing/2014/main" id="{149A2E09-F77E-49FE-AF36-99C651499B6C}"/>
              </a:ext>
            </a:extLst>
          </p:cNvPr>
          <p:cNvSpPr>
            <a:spLocks noGrp="1"/>
          </p:cNvSpPr>
          <p:nvPr>
            <p:ph type="sldNum" sz="quarter" idx="12"/>
          </p:nvPr>
        </p:nvSpPr>
        <p:spPr/>
        <p:txBody>
          <a:bodyPr/>
          <a:lstStyle/>
          <a:p>
            <a:fld id="{BDCDBBEF-AA6C-4BA6-85B2-A17D7F280E38}" type="slidenum">
              <a:rPr lang="en-US" smtClean="0"/>
              <a:pPr/>
              <a:t>7</a:t>
            </a:fld>
            <a:endParaRPr lang="en-US"/>
          </a:p>
        </p:txBody>
      </p:sp>
      <p:sp>
        <p:nvSpPr>
          <p:cNvPr id="6" name="TextBox 5"/>
          <p:cNvSpPr txBox="1"/>
          <p:nvPr/>
        </p:nvSpPr>
        <p:spPr>
          <a:xfrm>
            <a:off x="6168491" y="5989561"/>
            <a:ext cx="3531476" cy="369332"/>
          </a:xfrm>
          <a:prstGeom prst="rect">
            <a:avLst/>
          </a:prstGeom>
          <a:noFill/>
        </p:spPr>
        <p:txBody>
          <a:bodyPr wrap="square" rtlCol="0">
            <a:spAutoFit/>
          </a:bodyPr>
          <a:lstStyle/>
          <a:p>
            <a:r>
              <a:rPr lang="en-US" dirty="0"/>
              <a:t>Fig. 3 Set up [2]</a:t>
            </a:r>
          </a:p>
        </p:txBody>
      </p:sp>
    </p:spTree>
    <p:extLst>
      <p:ext uri="{BB962C8B-B14F-4D97-AF65-F5344CB8AC3E}">
        <p14:creationId xmlns:p14="http://schemas.microsoft.com/office/powerpoint/2010/main" val="2527142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8</a:t>
            </a:fld>
            <a:endParaRPr lang="en-US"/>
          </a:p>
        </p:txBody>
      </p:sp>
      <p:pic>
        <p:nvPicPr>
          <p:cNvPr id="64514" name="Picture 2" descr="C:\Users\admin\Desktop\hqdefault (2).jpg"/>
          <p:cNvPicPr>
            <a:picLocks noChangeAspect="1" noChangeArrowheads="1"/>
          </p:cNvPicPr>
          <p:nvPr/>
        </p:nvPicPr>
        <p:blipFill>
          <a:blip r:embed="rId2"/>
          <a:srcRect t="12869" b="19571"/>
          <a:stretch>
            <a:fillRect/>
          </a:stretch>
        </p:blipFill>
        <p:spPr bwMode="auto">
          <a:xfrm>
            <a:off x="1195754" y="1645920"/>
            <a:ext cx="9847383" cy="4895556"/>
          </a:xfrm>
          <a:prstGeom prst="rect">
            <a:avLst/>
          </a:prstGeom>
          <a:noFill/>
        </p:spPr>
      </p:pic>
      <p:sp>
        <p:nvSpPr>
          <p:cNvPr id="4" name="Rectangle 3"/>
          <p:cNvSpPr/>
          <p:nvPr/>
        </p:nvSpPr>
        <p:spPr>
          <a:xfrm>
            <a:off x="838200" y="156754"/>
            <a:ext cx="10515600" cy="88827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3004457" y="261258"/>
            <a:ext cx="5003074" cy="769441"/>
          </a:xfrm>
          <a:prstGeom prst="rect">
            <a:avLst/>
          </a:prstGeom>
          <a:noFill/>
        </p:spPr>
        <p:txBody>
          <a:bodyPr wrap="square" rtlCol="0">
            <a:spAutoFit/>
          </a:bodyPr>
          <a:lstStyle/>
          <a:p>
            <a:pPr algn="ctr"/>
            <a:r>
              <a:rPr lang="en-US" sz="4400" dirty="0"/>
              <a:t>CIRCUIT DIAGRAM</a:t>
            </a:r>
            <a:endParaRPr lang="en-IN" sz="4400" dirty="0"/>
          </a:p>
        </p:txBody>
      </p:sp>
      <p:sp>
        <p:nvSpPr>
          <p:cNvPr id="6" name="TextBox 5"/>
          <p:cNvSpPr txBox="1"/>
          <p:nvPr/>
        </p:nvSpPr>
        <p:spPr>
          <a:xfrm>
            <a:off x="3971202" y="6199716"/>
            <a:ext cx="3531476" cy="369332"/>
          </a:xfrm>
          <a:prstGeom prst="rect">
            <a:avLst/>
          </a:prstGeom>
          <a:noFill/>
        </p:spPr>
        <p:txBody>
          <a:bodyPr wrap="square" rtlCol="0">
            <a:spAutoFit/>
          </a:bodyPr>
          <a:lstStyle/>
          <a:p>
            <a:r>
              <a:rPr lang="en-US" dirty="0"/>
              <a:t>Fig. 4 Set up [3]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mn-lt"/>
              </a:rPr>
              <a:t>WORKING</a:t>
            </a:r>
          </a:p>
        </p:txBody>
      </p:sp>
      <p:sp>
        <p:nvSpPr>
          <p:cNvPr id="3" name="Content Placeholder 2"/>
          <p:cNvSpPr>
            <a:spLocks noGrp="1"/>
          </p:cNvSpPr>
          <p:nvPr>
            <p:ph idx="1"/>
          </p:nvPr>
        </p:nvSpPr>
        <p:spPr/>
        <p:txBody>
          <a:bodyPr>
            <a:normAutofit fontScale="92500" lnSpcReduction="20000"/>
          </a:bodyPr>
          <a:lstStyle/>
          <a:p>
            <a:pPr algn="just">
              <a:lnSpc>
                <a:spcPct val="150000"/>
              </a:lnSpc>
              <a:buFont typeface="Wingdings" pitchFamily="2" charset="2"/>
              <a:buChar char="§"/>
            </a:pPr>
            <a:r>
              <a:rPr lang="en-US" sz="2400" dirty="0"/>
              <a:t>When the battery is switched on, the resonant circuit L</a:t>
            </a:r>
            <a:r>
              <a:rPr lang="en-US" sz="2400" baseline="-25000" dirty="0"/>
              <a:t>1</a:t>
            </a:r>
            <a:r>
              <a:rPr lang="en-US" sz="2400" dirty="0"/>
              <a:t>C</a:t>
            </a:r>
            <a:r>
              <a:rPr lang="en-US" sz="2400" baseline="-25000" dirty="0"/>
              <a:t>1 </a:t>
            </a:r>
            <a:r>
              <a:rPr lang="en-US" sz="2400" dirty="0"/>
              <a:t>sets up an alternating current </a:t>
            </a:r>
            <a:r>
              <a:rPr lang="en-IN" sz="2400" dirty="0"/>
              <a:t>frequency. </a:t>
            </a:r>
            <a:r>
              <a:rPr lang="en-US" sz="2400" dirty="0"/>
              <a:t>This current flowing round the curl L</a:t>
            </a:r>
            <a:r>
              <a:rPr lang="en-US" sz="2400" baseline="-25000" dirty="0"/>
              <a:t>1</a:t>
            </a:r>
            <a:r>
              <a:rPr lang="en-US" sz="2400" dirty="0"/>
              <a:t> produces substituting attractive fields of recurrence f along the length of the nickel pole. The bar begins vibrating because of magneto strictive impact. The vibrations of the bar make ultrasonic waves. </a:t>
            </a:r>
          </a:p>
          <a:p>
            <a:pPr algn="just">
              <a:lnSpc>
                <a:spcPct val="150000"/>
              </a:lnSpc>
              <a:buFont typeface="Wingdings" pitchFamily="2" charset="2"/>
              <a:buChar char="§"/>
            </a:pPr>
            <a:r>
              <a:rPr lang="en-US" sz="2400" dirty="0"/>
              <a:t>The longitudinal development and compression of the bar delivers an E.M. in the loop L</a:t>
            </a:r>
            <a:r>
              <a:rPr lang="en-US" sz="2400" baseline="-25000" dirty="0"/>
              <a:t>2</a:t>
            </a:r>
            <a:r>
              <a:rPr lang="en-US" sz="2400" dirty="0"/>
              <a:t>. This </a:t>
            </a:r>
            <a:r>
              <a:rPr lang="en-US" sz="2400" dirty="0" err="1"/>
              <a:t>e.m.f</a:t>
            </a:r>
            <a:r>
              <a:rPr lang="en-US" sz="2400" dirty="0"/>
              <a:t> is connected to the base of the transistor. Subsequently the plentifulness of high recurrence of high motions in curl L</a:t>
            </a:r>
            <a:r>
              <a:rPr lang="en-US" sz="2400" baseline="-25000" dirty="0"/>
              <a:t>1</a:t>
            </a:r>
            <a:r>
              <a:rPr lang="en-US" sz="2400" dirty="0"/>
              <a:t> is expanded because of positive criticism.</a:t>
            </a:r>
          </a:p>
          <a:p>
            <a:pPr algn="just">
              <a:lnSpc>
                <a:spcPct val="150000"/>
              </a:lnSpc>
              <a:buFont typeface="Wingdings" pitchFamily="2" charset="2"/>
              <a:buChar char="§"/>
            </a:pPr>
            <a:r>
              <a:rPr lang="en-US" sz="2400" dirty="0"/>
              <a:t> The created rotating current recurrence can be turned with the common recurrence of the pole </a:t>
            </a:r>
            <a:r>
              <a:rPr lang="en-IN" sz="2400" dirty="0"/>
              <a:t>by altering the capacitor</a:t>
            </a:r>
            <a:r>
              <a:rPr lang="en-IN" dirty="0"/>
              <a:t>.</a:t>
            </a: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884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59CAE-CD9E-4DB5-A57E-2BFD6C3EC51B}"/>
              </a:ext>
            </a:extLst>
          </p:cNvPr>
          <p:cNvSpPr>
            <a:spLocks noGrp="1"/>
          </p:cNvSpPr>
          <p:nvPr>
            <p:ph type="title"/>
          </p:nvPr>
        </p:nvSpPr>
        <p:spPr>
          <a:xfrm>
            <a:off x="953588" y="365125"/>
            <a:ext cx="10400211" cy="1325563"/>
          </a:xfrm>
        </p:spPr>
        <p:txBody>
          <a:bodyPr>
            <a:normAutofit/>
          </a:bodyPr>
          <a:lstStyle/>
          <a:p>
            <a:r>
              <a:rPr lang="en-US" dirty="0">
                <a:latin typeface="+mn-lt"/>
              </a:rPr>
              <a:t>CONDITION FOR RESONANCE IN CIRCUIT</a:t>
            </a:r>
            <a:endParaRPr lang="en-IN" dirty="0">
              <a:latin typeface="+mn-lt"/>
            </a:endParaRPr>
          </a:p>
        </p:txBody>
      </p:sp>
      <p:sp>
        <p:nvSpPr>
          <p:cNvPr id="3" name="Content Placeholder 2">
            <a:extLst>
              <a:ext uri="{FF2B5EF4-FFF2-40B4-BE49-F238E27FC236}">
                <a16:creationId xmlns:a16="http://schemas.microsoft.com/office/drawing/2014/main" id="{5DE28989-C20F-4378-A0A1-37EB93775290}"/>
              </a:ext>
            </a:extLst>
          </p:cNvPr>
          <p:cNvSpPr>
            <a:spLocks noGrp="1"/>
          </p:cNvSpPr>
          <p:nvPr>
            <p:ph idx="1"/>
          </p:nvPr>
        </p:nvSpPr>
        <p:spPr/>
        <p:txBody>
          <a:bodyPr>
            <a:normAutofit fontScale="77500" lnSpcReduction="20000"/>
          </a:bodyPr>
          <a:lstStyle/>
          <a:p>
            <a:pPr marL="0" indent="0">
              <a:buNone/>
            </a:pPr>
            <a:r>
              <a:rPr lang="en-US" dirty="0"/>
              <a:t>The frequency of the vibration is given by</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where P </a:t>
            </a:r>
          </a:p>
          <a:p>
            <a:pPr marL="0" indent="0">
              <a:buNone/>
            </a:pPr>
            <a:r>
              <a:rPr lang="en-US" dirty="0"/>
              <a:t>= 1,2,3,4 ... etc. for fundamental, first over tone, second over tone etc.,</a:t>
            </a:r>
          </a:p>
          <a:p>
            <a:pPr marL="0" indent="0">
              <a:buNone/>
            </a:pPr>
            <a:r>
              <a:rPr lang="en-US" dirty="0"/>
              <a:t>Y = Young’s modulus of the crystal and </a:t>
            </a:r>
          </a:p>
          <a:p>
            <a:pPr marL="0" indent="0">
              <a:buNone/>
            </a:pPr>
            <a:r>
              <a:rPr lang="en-US" dirty="0"/>
              <a:t>ρ = density of the crystal.</a:t>
            </a:r>
          </a:p>
          <a:p>
            <a:pPr marL="0" indent="0">
              <a:buNone/>
            </a:pPr>
            <a:r>
              <a:rPr lang="en-US" dirty="0"/>
              <a:t>•The variable condenser C1  is adjusted  such that the frequency of the applied AC voltage is equal  to the natural frequency of the quartz crystal, and thus resonance takes place. </a:t>
            </a:r>
          </a:p>
          <a:p>
            <a:pPr marL="0" indent="0">
              <a:buNone/>
            </a:pPr>
            <a:r>
              <a:rPr lang="en-US" dirty="0"/>
              <a:t>•The vibrating crystal produces longitudinal ultrasonic waves of large amplitude.</a:t>
            </a:r>
          </a:p>
          <a:p>
            <a:endParaRPr lang="en-IN" dirty="0"/>
          </a:p>
        </p:txBody>
      </p:sp>
      <p:sp>
        <p:nvSpPr>
          <p:cNvPr id="4" name="Slide Number Placeholder 3">
            <a:extLst>
              <a:ext uri="{FF2B5EF4-FFF2-40B4-BE49-F238E27FC236}">
                <a16:creationId xmlns:a16="http://schemas.microsoft.com/office/drawing/2014/main" id="{115C51D4-8E13-4852-9B67-F376A1D83B1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8948EF5D-985F-4E2B-8D9B-29CC829515F2}"/>
              </a:ext>
            </a:extLst>
          </p:cNvPr>
          <p:cNvPicPr>
            <a:picLocks noChangeAspect="1"/>
          </p:cNvPicPr>
          <p:nvPr/>
        </p:nvPicPr>
        <p:blipFill>
          <a:blip r:embed="rId2"/>
          <a:stretch>
            <a:fillRect/>
          </a:stretch>
        </p:blipFill>
        <p:spPr>
          <a:xfrm>
            <a:off x="2734322" y="2117623"/>
            <a:ext cx="8273989" cy="1593243"/>
          </a:xfrm>
          <a:prstGeom prst="rect">
            <a:avLst/>
          </a:prstGeom>
        </p:spPr>
      </p:pic>
    </p:spTree>
    <p:extLst>
      <p:ext uri="{BB962C8B-B14F-4D97-AF65-F5344CB8AC3E}">
        <p14:creationId xmlns:p14="http://schemas.microsoft.com/office/powerpoint/2010/main" val="3123725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US" dirty="0">
                <a:latin typeface="+mn-lt"/>
                <a:cs typeface="Arial" panose="020B0604020202020204" pitchFamily="34" charset="0"/>
              </a:rPr>
              <a:t>ADVANTAGES AND DISADVANTAGES OF MAGENTOSTRICTION METHOD</a:t>
            </a:r>
            <a:endParaRPr lang="en-US" dirty="0">
              <a:latin typeface="+mn-lt"/>
            </a:endParaRPr>
          </a:p>
        </p:txBody>
      </p:sp>
      <p:sp>
        <p:nvSpPr>
          <p:cNvPr id="3" name="Content Placeholder 2"/>
          <p:cNvSpPr>
            <a:spLocks noGrp="1"/>
          </p:cNvSpPr>
          <p:nvPr>
            <p:ph idx="1"/>
          </p:nvPr>
        </p:nvSpPr>
        <p:spPr/>
        <p:txBody>
          <a:bodyPr>
            <a:normAutofit fontScale="40000" lnSpcReduction="20000"/>
          </a:bodyPr>
          <a:lstStyle/>
          <a:p>
            <a:pPr marL="0" indent="0">
              <a:lnSpc>
                <a:spcPct val="120000"/>
              </a:lnSpc>
              <a:buNone/>
            </a:pPr>
            <a:r>
              <a:rPr lang="en-US" sz="5500" b="1" dirty="0"/>
              <a:t>Advantages</a:t>
            </a:r>
          </a:p>
          <a:p>
            <a:pPr marL="0" indent="0">
              <a:lnSpc>
                <a:spcPct val="120000"/>
              </a:lnSpc>
              <a:buNone/>
            </a:pPr>
            <a:r>
              <a:rPr lang="en-US" sz="5500" dirty="0"/>
              <a:t>•The design of this oscillator is very simple and its production cost is low</a:t>
            </a:r>
          </a:p>
          <a:p>
            <a:pPr marL="0" indent="0">
              <a:lnSpc>
                <a:spcPct val="120000"/>
              </a:lnSpc>
              <a:buNone/>
            </a:pPr>
            <a:r>
              <a:rPr lang="en-US" sz="5500" dirty="0"/>
              <a:t>At low ultrasonic frequencies, the large power output can be produced without the risk of damage of the oscillatory circuit.</a:t>
            </a:r>
          </a:p>
          <a:p>
            <a:pPr marL="0" indent="0">
              <a:lnSpc>
                <a:spcPct val="120000"/>
              </a:lnSpc>
              <a:buNone/>
            </a:pPr>
            <a:r>
              <a:rPr lang="en-US" sz="5500" b="1" dirty="0"/>
              <a:t>Disadvantages</a:t>
            </a:r>
          </a:p>
          <a:p>
            <a:pPr marL="0" indent="0">
              <a:lnSpc>
                <a:spcPct val="120000"/>
              </a:lnSpc>
              <a:buNone/>
            </a:pPr>
            <a:r>
              <a:rPr lang="en-US" sz="5500" dirty="0"/>
              <a:t>•It has low upper frequency limit and cannot generate ultrasonic frequency above 3000 kHz (i.e.3MHz).</a:t>
            </a:r>
          </a:p>
          <a:p>
            <a:pPr marL="0" indent="0">
              <a:lnSpc>
                <a:spcPct val="120000"/>
              </a:lnSpc>
              <a:buNone/>
            </a:pPr>
            <a:r>
              <a:rPr lang="en-US" sz="5500" dirty="0"/>
              <a:t>•The frequency of oscillations depends on temperature.</a:t>
            </a:r>
          </a:p>
          <a:p>
            <a:pPr marL="0" indent="0">
              <a:lnSpc>
                <a:spcPct val="120000"/>
              </a:lnSpc>
              <a:buNone/>
            </a:pPr>
            <a:r>
              <a:rPr lang="en-US" sz="5500" dirty="0"/>
              <a:t>•There will be losses of energy due to hysteresis and eddy current</a:t>
            </a:r>
          </a:p>
          <a:p>
            <a:pPr marL="0" indent="0">
              <a:lnSpc>
                <a:spcPct val="120000"/>
              </a:lnSpc>
              <a:buNone/>
            </a:pPr>
            <a:r>
              <a:rPr lang="en-US" sz="5500" dirty="0"/>
              <a:t>.</a:t>
            </a:r>
          </a:p>
          <a:p>
            <a:pPr marL="0" indent="0">
              <a:buNone/>
            </a:pP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53476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12</a:t>
            </a:fld>
            <a:endParaRPr lang="en-US" dirty="0"/>
          </a:p>
        </p:txBody>
      </p:sp>
      <p:sp>
        <p:nvSpPr>
          <p:cNvPr id="8" name="Title 7"/>
          <p:cNvSpPr txBox="1">
            <a:spLocks noGrp="1" noChangeArrowheads="1"/>
          </p:cNvSpPr>
          <p:nvPr>
            <p:ph type="title"/>
          </p:nvPr>
        </p:nvSpPr>
        <p:spPr bwMode="auto">
          <a:xfrm>
            <a:off x="449262" y="2676262"/>
            <a:ext cx="4456567"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2763359" y="607465"/>
            <a:ext cx="4685642" cy="769441"/>
          </a:xfrm>
          <a:prstGeom prst="rect">
            <a:avLst/>
          </a:prstGeom>
        </p:spPr>
        <p:txBody>
          <a:bodyPr wrap="none">
            <a:spAutoFit/>
          </a:bodyPr>
          <a:lstStyle/>
          <a:p>
            <a:r>
              <a:rPr lang="en-US" sz="4400" b="1" dirty="0">
                <a:latin typeface="Casper Bold"/>
              </a:rPr>
              <a:t>            </a:t>
            </a:r>
            <a:r>
              <a:rPr lang="en-US" sz="4400" dirty="0"/>
              <a:t>SUMMARY </a:t>
            </a:r>
          </a:p>
        </p:txBody>
      </p:sp>
      <p:sp>
        <p:nvSpPr>
          <p:cNvPr id="11" name="Rectangle 10"/>
          <p:cNvSpPr/>
          <p:nvPr/>
        </p:nvSpPr>
        <p:spPr>
          <a:xfrm>
            <a:off x="838200" y="360362"/>
            <a:ext cx="10515600" cy="94793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838200" y="1406769"/>
            <a:ext cx="10530073" cy="4708981"/>
          </a:xfrm>
          <a:prstGeom prst="rect">
            <a:avLst/>
          </a:prstGeom>
        </p:spPr>
        <p:txBody>
          <a:bodyPr wrap="square">
            <a:spAutoFit/>
          </a:bodyPr>
          <a:lstStyle/>
          <a:p>
            <a:pPr marL="457200" indent="-457200" algn="just">
              <a:lnSpc>
                <a:spcPct val="250000"/>
              </a:lnSpc>
              <a:buFont typeface="Wingdings" pitchFamily="2" charset="2"/>
              <a:buChar char="v"/>
            </a:pPr>
            <a:r>
              <a:rPr lang="en-US" sz="2400" dirty="0">
                <a:solidFill>
                  <a:srgbClr val="FF0000"/>
                </a:solidFill>
              </a:rPr>
              <a:t>Introduction to Magentostriction Method</a:t>
            </a:r>
          </a:p>
          <a:p>
            <a:pPr marL="457200" indent="-457200" algn="just">
              <a:lnSpc>
                <a:spcPct val="250000"/>
              </a:lnSpc>
              <a:buFont typeface="Wingdings" pitchFamily="2" charset="2"/>
              <a:buChar char="v"/>
            </a:pPr>
            <a:r>
              <a:rPr lang="en-US" sz="2400" dirty="0">
                <a:solidFill>
                  <a:srgbClr val="00B0F0"/>
                </a:solidFill>
              </a:rPr>
              <a:t>Working of Magentostriction Method</a:t>
            </a:r>
          </a:p>
          <a:p>
            <a:pPr marL="342900" indent="-342900" algn="just">
              <a:lnSpc>
                <a:spcPct val="250000"/>
              </a:lnSpc>
              <a:buFont typeface="Wingdings" pitchFamily="2" charset="2"/>
              <a:buChar char="v"/>
            </a:pPr>
            <a:r>
              <a:rPr lang="en-US" sz="2400" dirty="0">
                <a:solidFill>
                  <a:srgbClr val="00B0F0"/>
                </a:solidFill>
              </a:rPr>
              <a:t> </a:t>
            </a:r>
            <a:r>
              <a:rPr lang="en-US" sz="2400" dirty="0">
                <a:solidFill>
                  <a:srgbClr val="FF0000"/>
                </a:solidFill>
              </a:rPr>
              <a:t>Advantages and Disadvantages</a:t>
            </a:r>
          </a:p>
          <a:p>
            <a:pPr marL="342900" indent="-342900" algn="just">
              <a:lnSpc>
                <a:spcPct val="250000"/>
              </a:lnSpc>
              <a:buFont typeface="Wingdings" pitchFamily="2" charset="2"/>
              <a:buChar char="v"/>
            </a:pPr>
            <a:r>
              <a:rPr lang="en-US" sz="2400" dirty="0">
                <a:solidFill>
                  <a:srgbClr val="FF0000"/>
                </a:solidFill>
              </a:rPr>
              <a:t>Application</a:t>
            </a:r>
          </a:p>
          <a:p>
            <a:pPr marL="342900" indent="-342900" algn="just">
              <a:lnSpc>
                <a:spcPct val="250000"/>
              </a:lnSpc>
            </a:pPr>
            <a:endParaRPr lang="en-US" sz="2400" dirty="0">
              <a:solidFill>
                <a:schemeClr val="accent1">
                  <a:lumMod val="75000"/>
                </a:schemeClr>
              </a:solidFill>
            </a:endParaRPr>
          </a:p>
        </p:txBody>
      </p:sp>
    </p:spTree>
    <p:extLst>
      <p:ext uri="{BB962C8B-B14F-4D97-AF65-F5344CB8AC3E}">
        <p14:creationId xmlns:p14="http://schemas.microsoft.com/office/powerpoint/2010/main" val="2081838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13</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329707" y="607465"/>
            <a:ext cx="3203858" cy="769441"/>
          </a:xfrm>
          <a:prstGeom prst="rect">
            <a:avLst/>
          </a:prstGeom>
        </p:spPr>
        <p:txBody>
          <a:bodyPr wrap="square">
            <a:spAutoFit/>
          </a:bodyPr>
          <a:lstStyle/>
          <a:p>
            <a:pPr algn="ctr"/>
            <a:r>
              <a:rPr lang="en-US" sz="4400" dirty="0">
                <a:cs typeface="Times New Roman" pitchFamily="18" charset="0"/>
              </a:rPr>
              <a:t>FAQS</a:t>
            </a:r>
            <a:endParaRPr lang="en-US" sz="4400" dirty="0"/>
          </a:p>
        </p:txBody>
      </p:sp>
      <p:sp>
        <p:nvSpPr>
          <p:cNvPr id="11" name="Rectangle 10"/>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838200" y="2054372"/>
            <a:ext cx="10515600" cy="4801314"/>
          </a:xfrm>
          <a:prstGeom prst="rect">
            <a:avLst/>
          </a:prstGeom>
        </p:spPr>
        <p:txBody>
          <a:bodyPr wrap="square">
            <a:spAutoFit/>
          </a:bodyPr>
          <a:lstStyle/>
          <a:p>
            <a:pPr marL="457200" indent="-457200">
              <a:lnSpc>
                <a:spcPct val="200000"/>
              </a:lnSpc>
              <a:buFont typeface="Wingdings" pitchFamily="2" charset="2"/>
              <a:buChar char="v"/>
            </a:pPr>
            <a:r>
              <a:rPr lang="en-US" sz="2400" b="1" dirty="0"/>
              <a:t>What is </a:t>
            </a:r>
            <a:r>
              <a:rPr lang="en-US" sz="2400" b="1" dirty="0" err="1"/>
              <a:t>Magentostriction</a:t>
            </a:r>
            <a:r>
              <a:rPr lang="en-US" sz="2400" b="1" dirty="0"/>
              <a:t> Method?</a:t>
            </a:r>
          </a:p>
          <a:p>
            <a:pPr marL="457200" indent="-457200">
              <a:lnSpc>
                <a:spcPct val="200000"/>
              </a:lnSpc>
              <a:buFont typeface="Wingdings" pitchFamily="2" charset="2"/>
              <a:buChar char="v"/>
            </a:pPr>
            <a:r>
              <a:rPr lang="en-US" sz="2400" b="1" dirty="0"/>
              <a:t>What is X-ray?</a:t>
            </a:r>
          </a:p>
          <a:p>
            <a:pPr marL="457200" indent="-457200">
              <a:lnSpc>
                <a:spcPct val="200000"/>
              </a:lnSpc>
              <a:buFont typeface="Wingdings" pitchFamily="2" charset="2"/>
              <a:buChar char="v"/>
            </a:pPr>
            <a:r>
              <a:rPr lang="en-US" sz="2400" b="1" dirty="0"/>
              <a:t>What are the advantages of Magentostriction method?</a:t>
            </a:r>
          </a:p>
          <a:p>
            <a:pPr marL="457200" indent="-457200">
              <a:lnSpc>
                <a:spcPct val="200000"/>
              </a:lnSpc>
              <a:buFont typeface="Wingdings" pitchFamily="2" charset="2"/>
              <a:buChar char="v"/>
            </a:pPr>
            <a:r>
              <a:rPr lang="en-US" sz="2400" b="1" dirty="0"/>
              <a:t>List disadvantages of </a:t>
            </a:r>
            <a:r>
              <a:rPr lang="en-US" sz="2400" b="1" dirty="0" err="1"/>
              <a:t>Magentostriction</a:t>
            </a:r>
            <a:r>
              <a:rPr lang="en-US" sz="2400" b="1" dirty="0"/>
              <a:t> method</a:t>
            </a:r>
          </a:p>
          <a:p>
            <a:pPr marL="457200" indent="-457200">
              <a:lnSpc>
                <a:spcPct val="200000"/>
              </a:lnSpc>
              <a:buFont typeface="Wingdings" pitchFamily="2" charset="2"/>
              <a:buChar char="v"/>
            </a:pPr>
            <a:r>
              <a:rPr lang="en-US" sz="2400" b="1" dirty="0"/>
              <a:t>What is the significance of Bragg’s law?</a:t>
            </a:r>
          </a:p>
          <a:p>
            <a:pPr marL="457200" indent="-457200">
              <a:lnSpc>
                <a:spcPct val="200000"/>
              </a:lnSpc>
              <a:buFont typeface="Wingdings" pitchFamily="2" charset="2"/>
              <a:buChar char="v"/>
            </a:pPr>
            <a:r>
              <a:rPr lang="en-US" sz="2400" b="1" dirty="0"/>
              <a:t>What is inverse piezoelectric method?</a:t>
            </a:r>
          </a:p>
          <a:p>
            <a:pPr>
              <a:buFont typeface="Wingdings" pitchFamily="2" charset="2"/>
              <a:buChar char="Ø"/>
            </a:pPr>
            <a:endParaRPr lang="en-US" b="1" dirty="0"/>
          </a:p>
        </p:txBody>
      </p:sp>
    </p:spTree>
    <p:extLst>
      <p:ext uri="{BB962C8B-B14F-4D97-AF65-F5344CB8AC3E}">
        <p14:creationId xmlns:p14="http://schemas.microsoft.com/office/powerpoint/2010/main" val="2718409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mn-lt"/>
                <a:cs typeface="Arial" panose="020B0604020202020204" pitchFamily="34" charset="0"/>
              </a:rPr>
              <a:t>REFERENCES </a:t>
            </a:r>
            <a:r>
              <a:rPr lang="en-US" dirty="0">
                <a:latin typeface="+mn-lt"/>
              </a:rPr>
              <a:t> </a:t>
            </a:r>
          </a:p>
        </p:txBody>
      </p:sp>
      <p:sp>
        <p:nvSpPr>
          <p:cNvPr id="3" name="Content Placeholder 2"/>
          <p:cNvSpPr>
            <a:spLocks noGrp="1"/>
          </p:cNvSpPr>
          <p:nvPr>
            <p:ph idx="1"/>
          </p:nvPr>
        </p:nvSpPr>
        <p:spPr/>
        <p:txBody>
          <a:bodyPr>
            <a:normAutofit fontScale="70000" lnSpcReduction="20000"/>
          </a:bodyPr>
          <a:lstStyle/>
          <a:p>
            <a:pPr>
              <a:buNone/>
            </a:pPr>
            <a:endParaRPr lang="en-US" sz="1600" dirty="0">
              <a:latin typeface="Casper" panose="02000506000000020004" pitchFamily="2" charset="0"/>
              <a:cs typeface="Arial" panose="020B0604020202020204" pitchFamily="34" charset="0"/>
            </a:endParaRPr>
          </a:p>
          <a:p>
            <a:endParaRPr lang="en-US" sz="1600" dirty="0">
              <a:latin typeface="Casper" panose="02000506000000020004" pitchFamily="2" charset="0"/>
              <a:cs typeface="Arial" panose="020B0604020202020204" pitchFamily="34" charset="0"/>
            </a:endParaRPr>
          </a:p>
          <a:p>
            <a:pPr lvl="0">
              <a:lnSpc>
                <a:spcPct val="200000"/>
              </a:lnSpc>
              <a:buNone/>
            </a:pPr>
            <a:r>
              <a:rPr lang="en-IN" sz="1800" dirty="0"/>
              <a:t>[1] https://technopolitics.org/hacking-with-ultrasonic-waves/</a:t>
            </a:r>
          </a:p>
          <a:p>
            <a:pPr lvl="0">
              <a:lnSpc>
                <a:spcPct val="200000"/>
              </a:lnSpc>
              <a:buNone/>
            </a:pPr>
            <a:r>
              <a:rPr lang="en-IN" sz="1800" dirty="0"/>
              <a:t>[2]  http://www.brainkart.com/article/Magnetostriction-Method--Principle,-Construction,-working,-Advantages-and-Limitations_6871/</a:t>
            </a:r>
          </a:p>
          <a:p>
            <a:pPr lvl="0">
              <a:lnSpc>
                <a:spcPct val="200000"/>
              </a:lnSpc>
              <a:buNone/>
            </a:pPr>
            <a:r>
              <a:rPr lang="en-IN" sz="1800" dirty="0"/>
              <a:t>[3] https://www.youtube.com/watch?v=qwSjq-keP3U</a:t>
            </a:r>
          </a:p>
          <a:p>
            <a:pPr>
              <a:lnSpc>
                <a:spcPct val="200000"/>
              </a:lnSpc>
              <a:buNone/>
            </a:pPr>
            <a:r>
              <a:rPr lang="en-IN" sz="1800" dirty="0"/>
              <a:t>[2] http://www.vidyarthiplus.in/2011/11/engineering-physics-1-ultrasonic-and.html</a:t>
            </a:r>
          </a:p>
          <a:p>
            <a:pPr>
              <a:lnSpc>
                <a:spcPct val="200000"/>
              </a:lnSpc>
              <a:buNone/>
            </a:pPr>
            <a:r>
              <a:rPr lang="en-US" sz="1800" dirty="0">
                <a:cs typeface="Arial" panose="020B0604020202020204" pitchFamily="34" charset="0"/>
              </a:rPr>
              <a:t>[3] https://qph.fs.quoracdn.net/main-qimg-0eb8d712649cc744f6ade44bc469d3ec</a:t>
            </a:r>
          </a:p>
          <a:p>
            <a:pPr>
              <a:lnSpc>
                <a:spcPct val="200000"/>
              </a:lnSpc>
              <a:buNone/>
            </a:pPr>
            <a:r>
              <a:rPr lang="en-IN" sz="1800" dirty="0"/>
              <a:t>[4] http://msheiksirajuddeen.blogspot.com/2011/10/magnetostriction-oscillator.html</a:t>
            </a:r>
          </a:p>
          <a:p>
            <a:pPr>
              <a:lnSpc>
                <a:spcPct val="200000"/>
              </a:lnSpc>
              <a:buNone/>
            </a:pPr>
            <a:r>
              <a:rPr lang="en-IN" sz="1800" dirty="0"/>
              <a:t>[5] https://www.slideshare.net/raiuniversity/btech-sem-i-engineering-physics-u-v-chapter-2ultrasonic-waves</a:t>
            </a:r>
          </a:p>
          <a:p>
            <a:pPr>
              <a:lnSpc>
                <a:spcPct val="200000"/>
              </a:lnSpc>
              <a:buNone/>
            </a:pPr>
            <a:r>
              <a:rPr lang="en-US" sz="1800" dirty="0">
                <a:cs typeface="Arial" panose="020B0604020202020204" pitchFamily="34" charset="0"/>
              </a:rPr>
              <a:t>[6] </a:t>
            </a:r>
            <a:r>
              <a:rPr lang="en-IN" sz="1800" dirty="0"/>
              <a:t>https://www.youtube.com/watch?v=-XhWaUqndTI</a:t>
            </a:r>
            <a:endParaRPr lang="en-US" sz="1800" dirty="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14005" y="5394447"/>
            <a:ext cx="2233304"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 anjana.e1643@cumail.in</a:t>
            </a:r>
            <a:endParaRPr lang="en-US" dirty="0"/>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822</TotalTime>
  <Words>1023</Words>
  <Application>Microsoft Office PowerPoint</Application>
  <PresentationFormat>Widescreen</PresentationFormat>
  <Paragraphs>119</Paragraphs>
  <Slides>15</Slides>
  <Notes>0</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15</vt:i4>
      </vt:variant>
    </vt:vector>
  </HeadingPairs>
  <TitlesOfParts>
    <vt:vector size="28" baseType="lpstr">
      <vt:lpstr>Arial</vt:lpstr>
      <vt:lpstr>Arial Black</vt:lpstr>
      <vt:lpstr>Calibri</vt:lpstr>
      <vt:lpstr>Calibri Light</vt:lpstr>
      <vt:lpstr>Casper</vt:lpstr>
      <vt:lpstr>Casper Bold</vt:lpstr>
      <vt:lpstr>Karla</vt:lpstr>
      <vt:lpstr>Raleway ExtraBold</vt:lpstr>
      <vt:lpstr>Times New Roman</vt:lpstr>
      <vt:lpstr>Wingdings</vt:lpstr>
      <vt:lpstr>1_Office Theme</vt:lpstr>
      <vt:lpstr>Contents Slide Master</vt:lpstr>
      <vt:lpstr>CorelDRAW</vt:lpstr>
      <vt:lpstr>PowerPoint Presentation</vt:lpstr>
      <vt:lpstr> </vt:lpstr>
      <vt:lpstr>PowerPoint Presentation</vt:lpstr>
      <vt:lpstr>PowerPoint Presentation</vt:lpstr>
      <vt:lpstr>PowerPoint Presentation</vt:lpstr>
      <vt:lpstr>WORKING PRINCIPLE   </vt:lpstr>
      <vt:lpstr>CONSTRUCTION</vt:lpstr>
      <vt:lpstr>PowerPoint Presentation</vt:lpstr>
      <vt:lpstr>WORKING</vt:lpstr>
      <vt:lpstr>CONDITION FOR RESONANCE IN CIRCUIT</vt:lpstr>
      <vt:lpstr>ADVANTAGES AND DISADVANTAGES OF MAGENTOSTRICTION METHOD</vt:lpstr>
      <vt:lpstr> </vt:lpstr>
      <vt:lpstr>PowerPoint Presentation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Indu Gupta</cp:lastModifiedBy>
  <cp:revision>72</cp:revision>
  <dcterms:created xsi:type="dcterms:W3CDTF">2019-01-09T10:33:58Z</dcterms:created>
  <dcterms:modified xsi:type="dcterms:W3CDTF">2023-06-15T15:21:14Z</dcterms:modified>
</cp:coreProperties>
</file>