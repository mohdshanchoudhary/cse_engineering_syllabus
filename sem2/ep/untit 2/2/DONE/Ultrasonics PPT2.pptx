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5"/>
  </p:notesMasterIdLst>
  <p:handoutMasterIdLst>
    <p:handoutMasterId r:id="rId16"/>
  </p:handoutMasterIdLst>
  <p:sldIdLst>
    <p:sldId id="287" r:id="rId3"/>
    <p:sldId id="288" r:id="rId4"/>
    <p:sldId id="289" r:id="rId5"/>
    <p:sldId id="281" r:id="rId6"/>
    <p:sldId id="290" r:id="rId7"/>
    <p:sldId id="286" r:id="rId8"/>
    <p:sldId id="280" r:id="rId9"/>
    <p:sldId id="283" r:id="rId10"/>
    <p:sldId id="291" r:id="rId11"/>
    <p:sldId id="292" r:id="rId12"/>
    <p:sldId id="284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177559" y="1085083"/>
            <a:ext cx="9063318" cy="743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by: Dr. </a:t>
            </a:r>
            <a:r>
              <a:rPr lang="en-US" sz="3200" dirty="0" err="1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Anjana</a:t>
            </a: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Sharma, Assistant Prof. Physics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5" name="TextBox 52"/>
          <p:cNvSpPr txBox="1">
            <a:spLocks noChangeArrowheads="1"/>
          </p:cNvSpPr>
          <p:nvPr/>
        </p:nvSpPr>
        <p:spPr bwMode="auto">
          <a:xfrm>
            <a:off x="347916" y="5929649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CRYSTALLOGRAPHY &amp; ULTRASONICS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-287717" y="1297692"/>
            <a:ext cx="4456567" cy="1328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37230" y="743847"/>
            <a:ext cx="9730854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/>
              <a:t>COURSE OBJECTIVES</a:t>
            </a:r>
            <a:endParaRPr lang="en-US" sz="4400" dirty="0"/>
          </a:p>
          <a:p>
            <a:r>
              <a:rPr lang="en-IN" sz="4400" dirty="0"/>
              <a:t> </a:t>
            </a:r>
            <a:endParaRPr lang="en-US" sz="4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The course is designed to make the students industry ready to contribute in the growing demand of the industry at local, national and international level.</a:t>
            </a:r>
            <a:endParaRPr lang="en-US" sz="2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It will make the students competent to understand basic concepts and applications of advanced engineering physics and apply its principles in their respective fields at global platform.</a:t>
            </a:r>
            <a:endParaRPr lang="en-US" sz="2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It will enhance the skill level of the students and shall make them preferred choice for getting employment in industry and research labs.</a:t>
            </a:r>
            <a:endParaRPr lang="en-US" sz="2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It will give thorough knowledge of the discipline to enable students to disseminate knowledge in pursuing excellence in academic areas.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6322" y="1060692"/>
            <a:ext cx="493321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/>
              <a:t>COURSE OUTCOMES</a:t>
            </a:r>
            <a:endParaRPr lang="en-US" sz="4400" dirty="0"/>
          </a:p>
        </p:txBody>
      </p:sp>
      <p:sp>
        <p:nvSpPr>
          <p:cNvPr id="7" name="TextBox 6"/>
          <p:cNvSpPr txBox="1"/>
          <p:nvPr/>
        </p:nvSpPr>
        <p:spPr>
          <a:xfrm>
            <a:off x="6101256" y="6428096"/>
            <a:ext cx="353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1 Introduction [1]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8E341B7-50C0-4930-B8A2-4864483A1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9812" y="1949824"/>
            <a:ext cx="5465576" cy="4356847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899406"/>
              </p:ext>
            </p:extLst>
          </p:nvPr>
        </p:nvGraphicFramePr>
        <p:xfrm>
          <a:off x="196323" y="2069040"/>
          <a:ext cx="5586640" cy="446265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43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7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735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524" y="3955256"/>
            <a:ext cx="3932237" cy="2045494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/>
              <a:t>Ultrasonic waves are sound waves transmitted above the human-detectable frequency range, usually above 20,000 Hz.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9262" y="1125069"/>
            <a:ext cx="4456567" cy="25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+mn-lt"/>
                <a:ea typeface="Karla" pitchFamily="2" charset="0"/>
                <a:cs typeface="Karla" pitchFamily="2" charset="0"/>
              </a:rPr>
              <a:t>ULTRASONIC WAVES AND ITS PROPERTIES</a:t>
            </a:r>
            <a:br>
              <a:rPr lang="en-US" sz="4400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138A0A-52A3-490E-AC6F-A5CFADED4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624" y="745725"/>
            <a:ext cx="6040652" cy="53214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2983" y="6254497"/>
            <a:ext cx="5914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                      </a:t>
            </a:r>
            <a:r>
              <a:rPr lang="en-US" b="1" dirty="0"/>
              <a:t>Figure 2 </a:t>
            </a:r>
            <a:r>
              <a:rPr lang="en-US" b="1" dirty="0" err="1"/>
              <a:t>Ultrasonics</a:t>
            </a:r>
            <a:r>
              <a:rPr lang="en-US" b="1" dirty="0"/>
              <a:t> [1]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9394" name="Picture 2" descr="C:\Users\admin\Desktop\en_ultrasonic0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337" y="1541417"/>
            <a:ext cx="10311618" cy="4648367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1267097" y="444137"/>
            <a:ext cx="863454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ea typeface="Karla" pitchFamily="2" charset="0"/>
                <a:cs typeface="Karla" pitchFamily="2" charset="0"/>
              </a:rPr>
              <a:t>ULTRASONIC WAVES </a:t>
            </a:r>
            <a:endParaRPr lang="en-IN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2979913" y="6228832"/>
            <a:ext cx="5914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                      </a:t>
            </a:r>
            <a:r>
              <a:rPr lang="en-US" b="1" dirty="0"/>
              <a:t>Figure 3 Range of </a:t>
            </a:r>
            <a:r>
              <a:rPr lang="en-US" b="1" dirty="0" err="1"/>
              <a:t>ultrasonics</a:t>
            </a:r>
            <a:r>
              <a:rPr lang="en-US" b="1" dirty="0"/>
              <a:t> [2]</a:t>
            </a:r>
            <a:endParaRPr lang="en-US" sz="1600" dirty="0">
              <a:latin typeface="Casp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+mn-lt"/>
              </a:rPr>
              <a:t>INTRODUCTION OF ULTRASONIC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200000"/>
              </a:lnSpc>
              <a:buAutoNum type="arabicPeriod"/>
            </a:pPr>
            <a:r>
              <a:rPr lang="en-US" sz="2000" dirty="0"/>
              <a:t>The word ultrasonic combines the Latin roots ultra, meaning ‘beyond’ and sonic, or sound.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en-US" sz="2000" dirty="0"/>
              <a:t> The sound waves having frequencies above the audible range i.e. above 20000Hz are called ultrasonic waves.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en-US" sz="2000" dirty="0"/>
              <a:t> Generally these waves are called as high frequency waves. 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en-US" sz="2000" dirty="0"/>
              <a:t>The field of ultrasonic have applications for imaging, detection and navigation. </a:t>
            </a:r>
          </a:p>
          <a:p>
            <a:pPr marL="514350" indent="-514350">
              <a:lnSpc>
                <a:spcPct val="200000"/>
              </a:lnSpc>
              <a:buAutoNum type="arabicPeriod"/>
            </a:pPr>
            <a:r>
              <a:rPr lang="en-US" sz="2000" dirty="0"/>
              <a:t>The broad sectors of society that regularly apply ultrasonic technology are the medical community, industry, the military and private citizens</a:t>
            </a:r>
            <a:r>
              <a:rPr lang="en-US" dirty="0"/>
              <a:t>.</a:t>
            </a: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8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+mn-lt"/>
                <a:cs typeface="Arial" panose="020B0604020202020204" pitchFamily="34" charset="0"/>
              </a:rPr>
              <a:t>PROPERTIES OF ULTRASONIC WAVES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ultrasonic waves cannot travel through vacuum.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These waves travel with speed of sound in a given medium.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Their velocity remains constant in homogeneous media.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These waves can weld certain plastics, metals etc.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These can produce vibrations in low viscosity liquids.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ultrasonic waves are reflected and refracted just like light waves.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The speed of ultrasonic waves/acoustic waves is more in more dense media i.e. V</a:t>
            </a:r>
            <a:r>
              <a:rPr lang="en-IN" sz="2000" baseline="-25000" dirty="0"/>
              <a:t>g</a:t>
            </a:r>
            <a:r>
              <a:rPr lang="en-IN" sz="2000" dirty="0"/>
              <a:t> &lt; </a:t>
            </a:r>
            <a:r>
              <a:rPr lang="en-IN" sz="2000" dirty="0" err="1"/>
              <a:t>V</a:t>
            </a:r>
            <a:r>
              <a:rPr lang="en-IN" sz="2000" baseline="-25000" dirty="0" err="1"/>
              <a:t>l</a:t>
            </a:r>
            <a:r>
              <a:rPr lang="en-IN" sz="2000" dirty="0"/>
              <a:t> &lt; V</a:t>
            </a:r>
            <a:r>
              <a:rPr lang="en-IN" sz="2000" baseline="-25000" dirty="0"/>
              <a:t>s</a:t>
            </a:r>
            <a:r>
              <a:rPr lang="en-IN" sz="2000" dirty="0"/>
              <a:t>. If ultrasonic waves enter from rarer medium to dense medium, then V</a:t>
            </a:r>
            <a:r>
              <a:rPr lang="en-IN" sz="2000" baseline="-25000" dirty="0"/>
              <a:t>1</a:t>
            </a:r>
            <a:r>
              <a:rPr lang="en-IN" sz="2000" dirty="0"/>
              <a:t> &lt; V</a:t>
            </a:r>
            <a:r>
              <a:rPr lang="en-IN" sz="2000" baseline="-25000" dirty="0"/>
              <a:t>2</a:t>
            </a:r>
            <a:r>
              <a:rPr lang="en-IN" sz="2000" dirty="0"/>
              <a:t>  so equation  gives sin </a:t>
            </a:r>
            <a:r>
              <a:rPr lang="en-IN" sz="2000" dirty="0" err="1"/>
              <a:t>i</a:t>
            </a:r>
            <a:r>
              <a:rPr lang="en-IN" sz="2000" dirty="0"/>
              <a:t> / sin r &lt; 1 =&gt; </a:t>
            </a:r>
            <a:r>
              <a:rPr lang="en-IN" sz="2000" dirty="0" err="1"/>
              <a:t>i</a:t>
            </a:r>
            <a:r>
              <a:rPr lang="en-IN" sz="2000" dirty="0"/>
              <a:t>&lt;r. Thus ultrasonic waves will bend away from normal.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+mn-lt"/>
                <a:cs typeface="Arial" panose="020B0604020202020204" pitchFamily="34" charset="0"/>
              </a:rPr>
              <a:t>APPLICATIONS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2000" dirty="0">
                <a:cs typeface="Arial" panose="020B0604020202020204" pitchFamily="34" charset="0"/>
              </a:rPr>
              <a:t>Ultrasonic flaw detection.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2000" dirty="0">
                <a:cs typeface="Arial" panose="020B0604020202020204" pitchFamily="34" charset="0"/>
              </a:rPr>
              <a:t>Cutting and matching hard material.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2000" dirty="0">
                <a:cs typeface="Arial" panose="020B0604020202020204" pitchFamily="34" charset="0"/>
              </a:rPr>
              <a:t>Ultrasonic soldering and welding.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2000" dirty="0">
                <a:cs typeface="Arial" panose="020B0604020202020204" pitchFamily="34" charset="0"/>
              </a:rPr>
              <a:t>Measurement of flow devices.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2000" dirty="0">
                <a:cs typeface="Arial" panose="020B0604020202020204" pitchFamily="34" charset="0"/>
              </a:rPr>
              <a:t>Thermal effect.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2000" dirty="0">
                <a:cs typeface="Arial" panose="020B0604020202020204" pitchFamily="34" charset="0"/>
              </a:rPr>
              <a:t>It is used in sound navigation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9262" y="2676262"/>
            <a:ext cx="445656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63359" y="607465"/>
            <a:ext cx="46856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Casper Bold"/>
              </a:rPr>
              <a:t>            </a:t>
            </a:r>
            <a:r>
              <a:rPr lang="en-US" sz="4400" dirty="0"/>
              <a:t>SUMMARY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60362"/>
            <a:ext cx="10515600" cy="9479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1406769"/>
            <a:ext cx="1053007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</a:rPr>
              <a:t>Introduction to Ultrasonic Wave</a:t>
            </a:r>
          </a:p>
          <a:p>
            <a:pPr marL="457200" indent="-4572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B0F0"/>
                </a:solidFill>
              </a:rPr>
              <a:t>Properties of Ultrasonic Waves</a:t>
            </a:r>
          </a:p>
          <a:p>
            <a:pPr marL="457200" indent="-4572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</a:rPr>
              <a:t>Application</a:t>
            </a:r>
          </a:p>
          <a:p>
            <a:pPr marL="342900" indent="-342900" algn="just">
              <a:lnSpc>
                <a:spcPct val="250000"/>
              </a:lnSpc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838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29707" y="607465"/>
            <a:ext cx="32038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cs typeface="Times New Roman" pitchFamily="18" charset="0"/>
              </a:rPr>
              <a:t>FAQS</a:t>
            </a:r>
            <a:endParaRPr lang="en-US" sz="4400" dirty="0"/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2041309"/>
            <a:ext cx="10515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How ultrasonic waves are generated?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What are  Ultrasonic Waves?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What is inverse piezoelectric method?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pPr>
              <a:buFont typeface="Wingdings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8409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+mn-lt"/>
                <a:cs typeface="Arial" panose="020B0604020202020204" pitchFamily="34" charset="0"/>
              </a:rPr>
              <a:t>REFERENCES  </a:t>
            </a:r>
            <a:r>
              <a:rPr lang="en-US" dirty="0">
                <a:latin typeface="+mn-lt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200000"/>
              </a:lnSpc>
              <a:buNone/>
            </a:pPr>
            <a:r>
              <a:rPr lang="en-IN" sz="1600" dirty="0"/>
              <a:t>[1] https://www.omegasonics.com/ultrasonic-cleaning-2/how-ultrasonic-waves-produced/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/>
              <a:t>[2] https://technopolitics.org/hacking-with-ultrasonic-waves/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/>
              <a:t>[3] sonotec.com/en/column/ultrasonic.html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/>
              <a:t> [4] https://en.wikipedia.org/wiki/Ultrasound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/>
              <a:t>[5] https://www.britannica.com/science/ultrasonics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/>
              <a:t>[6] https://physicstoday.scitation.org/doi/10.1063/1.1580055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/>
              <a:t>[7] https://www.youtube.com/watch?v=yZty_W8ySng</a:t>
            </a: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1600" dirty="0"/>
              <a:t>[8] https://byjus.com/physics/applications-ultrasound/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/>
              <a:t>[9] https://www.amazon.in/Fundamentals-Applications-Ultrasonic-Waves-Cheeke-ebook/dp/B078N6C56Y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/>
              <a:t>[10] http://epgp.inflibnet.ac.in/epgpdata/uploads/epgp_content/S000015FT/P000068/M000150/ET/146166205610et.pdf</a:t>
            </a:r>
          </a:p>
          <a:p>
            <a:pPr>
              <a:lnSpc>
                <a:spcPct val="200000"/>
              </a:lnSpc>
              <a:buNone/>
            </a:pPr>
            <a:r>
              <a:rPr lang="en-IN" sz="1600"/>
              <a:t>[11] </a:t>
            </a:r>
            <a:r>
              <a:rPr lang="en-IN" sz="1600" dirty="0"/>
              <a:t>http://hyperphysics.phy-astr.gsu.edu/hbase/Sound/usound.html</a:t>
            </a: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22333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anjana.e1643@cumail.in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1121</TotalTime>
  <Words>823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 </vt:lpstr>
      <vt:lpstr>PowerPoint Presentation</vt:lpstr>
      <vt:lpstr>ULTRASONIC WAVES AND ITS PROPERTIES </vt:lpstr>
      <vt:lpstr>PowerPoint Presentation</vt:lpstr>
      <vt:lpstr>INTRODUCTION OF ULTRASONIC WAVES</vt:lpstr>
      <vt:lpstr>PROPERTIES OF ULTRASONIC WAVES</vt:lpstr>
      <vt:lpstr>APPLICATIONS</vt:lpstr>
      <vt:lpstr> </vt:lpstr>
      <vt:lpstr>PowerPoint Presentation</vt:lpstr>
      <vt:lpstr>REFERENCES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76</cp:revision>
  <dcterms:created xsi:type="dcterms:W3CDTF">2019-01-09T10:33:58Z</dcterms:created>
  <dcterms:modified xsi:type="dcterms:W3CDTF">2023-06-15T15:21:03Z</dcterms:modified>
</cp:coreProperties>
</file>