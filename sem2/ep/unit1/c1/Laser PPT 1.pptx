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4"/>
  </p:notesMasterIdLst>
  <p:handoutMasterIdLst>
    <p:handoutMasterId r:id="rId25"/>
  </p:handoutMasterIdLst>
  <p:sldIdLst>
    <p:sldId id="277" r:id="rId3"/>
    <p:sldId id="265" r:id="rId4"/>
    <p:sldId id="303" r:id="rId5"/>
    <p:sldId id="304" r:id="rId6"/>
    <p:sldId id="281" r:id="rId7"/>
    <p:sldId id="305" r:id="rId8"/>
    <p:sldId id="285" r:id="rId9"/>
    <p:sldId id="286" r:id="rId10"/>
    <p:sldId id="313" r:id="rId11"/>
    <p:sldId id="312" r:id="rId12"/>
    <p:sldId id="315" r:id="rId13"/>
    <p:sldId id="318" r:id="rId14"/>
    <p:sldId id="317" r:id="rId15"/>
    <p:sldId id="316" r:id="rId16"/>
    <p:sldId id="319" r:id="rId17"/>
    <p:sldId id="320" r:id="rId18"/>
    <p:sldId id="321" r:id="rId19"/>
    <p:sldId id="311" r:id="rId20"/>
    <p:sldId id="302" r:id="rId21"/>
    <p:sldId id="284"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F5B"/>
    <a:srgbClr val="860000"/>
    <a:srgbClr val="00B0F0"/>
    <a:srgbClr val="ED8137"/>
    <a:srgbClr val="BC8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4" autoAdjust="0"/>
    <p:restoredTop sz="94660"/>
  </p:normalViewPr>
  <p:slideViewPr>
    <p:cSldViewPr snapToGrid="0">
      <p:cViewPr varScale="1">
        <p:scale>
          <a:sx n="66" d="100"/>
          <a:sy n="66" d="100"/>
        </p:scale>
        <p:origin x="644"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t>6/14/2023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t>6/14/2023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9213" y="6014156"/>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LASER                 </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2177559" y="1085083"/>
            <a:ext cx="9063318" cy="6032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anose="02020603050405020304" pitchFamily="18" charset="0"/>
              </a:rPr>
              <a:t>Prepared </a:t>
            </a:r>
            <a:r>
              <a:rPr lang="en-US" sz="2800" dirty="0">
                <a:latin typeface="Times New Roman" pitchFamily="18" charset="0"/>
                <a:ea typeface="Calibri" panose="020F0502020204030204" pitchFamily="34" charset="0"/>
                <a:cs typeface="Times New Roman" panose="02020603050405020304" pitchFamily="18" charset="0"/>
              </a:rPr>
              <a:t>by: </a:t>
            </a:r>
            <a:r>
              <a:rPr lang="en-US" sz="2800" dirty="0" err="1">
                <a:latin typeface="Times New Roman" panose="02020603050405020304" pitchFamily="18" charset="0"/>
                <a:ea typeface="Calibri" panose="020F0502020204030204" pitchFamily="34" charset="0"/>
                <a:cs typeface="Times New Roman" panose="02020603050405020304" pitchFamily="18" charset="0"/>
              </a:rPr>
              <a:t>Anu</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Kapoor</a:t>
            </a:r>
            <a:r>
              <a:rPr lang="en-US" sz="2800" dirty="0">
                <a:latin typeface="Times New Roman" panose="02020603050405020304" pitchFamily="18" charset="0"/>
                <a:ea typeface="Calibri" panose="020F0502020204030204" pitchFamily="34" charset="0"/>
                <a:cs typeface="Times New Roman" panose="02020603050405020304" pitchFamily="18" charset="0"/>
              </a:rPr>
              <a:t>, Assistant Prof. Physics</a:t>
            </a: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2</a:t>
            </a:fld>
            <a:endParaRPr lang="en-US" dirty="0"/>
          </a:p>
        </p:txBody>
      </p:sp>
      <p:sp>
        <p:nvSpPr>
          <p:cNvPr id="8" name="Title 7"/>
          <p:cNvSpPr txBox="1">
            <a:spLocks noGrp="1" noChangeArrowheads="1"/>
          </p:cNvSpPr>
          <p:nvPr>
            <p:ph type="title"/>
          </p:nvPr>
        </p:nvSpPr>
        <p:spPr bwMode="auto">
          <a:xfrm>
            <a:off x="-287717" y="1297692"/>
            <a:ext cx="4456567" cy="132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037230" y="743847"/>
            <a:ext cx="9730854" cy="5139869"/>
          </a:xfrm>
          <a:prstGeom prst="rect">
            <a:avLst/>
          </a:prstGeom>
        </p:spPr>
        <p:txBody>
          <a:bodyPr wrap="square">
            <a:spAutoFit/>
          </a:bodyPr>
          <a:lstStyle/>
          <a:p>
            <a:r>
              <a:rPr lang="en-IN" sz="4400" b="1" dirty="0"/>
              <a:t>COURSE OBJECTIVES</a:t>
            </a:r>
            <a:endParaRPr lang="en-US" sz="4400" dirty="0"/>
          </a:p>
          <a:p>
            <a:r>
              <a:rPr lang="en-IN" sz="4400" dirty="0"/>
              <a:t> </a:t>
            </a:r>
            <a:endParaRPr lang="en-US" sz="4400" dirty="0"/>
          </a:p>
          <a:p>
            <a:pPr marL="285750" lvl="0" indent="-285750" algn="just">
              <a:buFont typeface="Wingdings" pitchFamily="2" charset="2"/>
              <a:buChar char="v"/>
            </a:pPr>
            <a:r>
              <a:rPr lang="en-IN" sz="2400" dirty="0"/>
              <a:t>The course is designed to make the students industry ready to contribute in the growing demand of the industry at local, national and international level.</a:t>
            </a:r>
            <a:endParaRPr lang="en-US" sz="2400" dirty="0"/>
          </a:p>
          <a:p>
            <a:pPr marL="285750" lvl="0" indent="-285750" algn="just">
              <a:buFont typeface="Wingdings" pitchFamily="2" charset="2"/>
              <a:buChar char="v"/>
            </a:pPr>
            <a:r>
              <a:rPr lang="en-IN" sz="2400" dirty="0"/>
              <a:t>It will make the students competent to understand basic concepts and applications of advanced engineering physics and apply its principles in their respective fields at global platform.</a:t>
            </a:r>
            <a:endParaRPr lang="en-US" sz="2400" dirty="0"/>
          </a:p>
          <a:p>
            <a:pPr marL="285750" lvl="0" indent="-285750" algn="just">
              <a:buFont typeface="Wingdings" pitchFamily="2" charset="2"/>
              <a:buChar char="v"/>
            </a:pPr>
            <a:r>
              <a:rPr lang="en-IN" sz="2400" dirty="0"/>
              <a:t>It will enhance the skill level of the students and shall make them preferred choice for getting employment in industry and research labs.</a:t>
            </a:r>
            <a:endParaRPr lang="en-US" sz="2400" dirty="0"/>
          </a:p>
          <a:p>
            <a:pPr marL="285750" lvl="0" indent="-285750" algn="just">
              <a:buFont typeface="Wingdings" pitchFamily="2" charset="2"/>
              <a:buChar char="v"/>
            </a:pPr>
            <a:r>
              <a:rPr lang="en-IN" sz="2400" dirty="0"/>
              <a:t>It will give thorough knowledge of the discipline to enable students to disseminate knowledge in pursuing excellence in academic areas.</a:t>
            </a:r>
            <a:endParaRPr lang="en-US" sz="2400" dirty="0"/>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t>3</a:t>
            </a:fld>
            <a:endParaRPr lang="en-US"/>
          </a:p>
        </p:txBody>
      </p:sp>
      <p:sp>
        <p:nvSpPr>
          <p:cNvPr id="8" name="Rectangle 7"/>
          <p:cNvSpPr/>
          <p:nvPr/>
        </p:nvSpPr>
        <p:spPr>
          <a:xfrm>
            <a:off x="196322" y="1060692"/>
            <a:ext cx="4933210" cy="769441"/>
          </a:xfrm>
          <a:prstGeom prst="rect">
            <a:avLst/>
          </a:prstGeom>
        </p:spPr>
        <p:txBody>
          <a:bodyPr wrap="none">
            <a:spAutoFit/>
          </a:bodyPr>
          <a:lstStyle/>
          <a:p>
            <a:r>
              <a:rPr lang="en-IN" sz="4400" b="1" dirty="0"/>
              <a:t>COURSE OUTCOMES</a:t>
            </a:r>
            <a:endParaRPr lang="en-US" sz="4400" dirty="0"/>
          </a:p>
        </p:txBody>
      </p:sp>
      <p:pic>
        <p:nvPicPr>
          <p:cNvPr id="11" name="Picture 2" descr="E.T., we're home | MIT New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1281" y="818865"/>
            <a:ext cx="5849441" cy="560923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101256" y="6428096"/>
            <a:ext cx="3531476" cy="369332"/>
          </a:xfrm>
          <a:prstGeom prst="rect">
            <a:avLst/>
          </a:prstGeom>
          <a:noFill/>
        </p:spPr>
        <p:txBody>
          <a:bodyPr wrap="square" rtlCol="0">
            <a:spAutoFit/>
          </a:bodyPr>
          <a:lstStyle/>
          <a:p>
            <a:r>
              <a:rPr lang="en-US" dirty="0"/>
              <a:t>Fig. 1 Introduction [1]</a:t>
            </a:r>
          </a:p>
        </p:txBody>
      </p:sp>
      <p:graphicFrame>
        <p:nvGraphicFramePr>
          <p:cNvPr id="9" name="Table 8"/>
          <p:cNvGraphicFramePr>
            <a:graphicFrameLocks noGrp="1"/>
          </p:cNvGraphicFramePr>
          <p:nvPr>
            <p:extLst>
              <p:ext uri="{D42A27DB-BD31-4B8C-83A1-F6EECF244321}">
                <p14:modId xmlns:p14="http://schemas.microsoft.com/office/powerpoint/2010/main" val="216927828"/>
              </p:ext>
            </p:extLst>
          </p:nvPr>
        </p:nvGraphicFramePr>
        <p:xfrm>
          <a:off x="177421" y="2096487"/>
          <a:ext cx="5477164" cy="4637392"/>
        </p:xfrm>
        <a:graphic>
          <a:graphicData uri="http://schemas.openxmlformats.org/drawingml/2006/table">
            <a:tbl>
              <a:tblPr firstRow="1" firstCol="1" bandRow="1">
                <a:tableStyleId>{5940675A-B579-460E-94D1-54222C63F5DA}</a:tableStyleId>
              </a:tblPr>
              <a:tblGrid>
                <a:gridCol w="843045">
                  <a:extLst>
                    <a:ext uri="{9D8B030D-6E8A-4147-A177-3AD203B41FA5}">
                      <a16:colId xmlns:a16="http://schemas.microsoft.com/office/drawing/2014/main" val="20000"/>
                    </a:ext>
                  </a:extLst>
                </a:gridCol>
                <a:gridCol w="3661864">
                  <a:extLst>
                    <a:ext uri="{9D8B030D-6E8A-4147-A177-3AD203B41FA5}">
                      <a16:colId xmlns:a16="http://schemas.microsoft.com/office/drawing/2014/main" val="20001"/>
                    </a:ext>
                  </a:extLst>
                </a:gridCol>
                <a:gridCol w="972255">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01735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t>4</a:t>
            </a:fld>
            <a:endParaRPr lang="en-US"/>
          </a:p>
        </p:txBody>
      </p:sp>
      <p:sp>
        <p:nvSpPr>
          <p:cNvPr id="4" name="TextBox 3"/>
          <p:cNvSpPr txBox="1"/>
          <p:nvPr/>
        </p:nvSpPr>
        <p:spPr>
          <a:xfrm>
            <a:off x="764276" y="535213"/>
            <a:ext cx="5472752" cy="6186309"/>
          </a:xfrm>
          <a:prstGeom prst="rect">
            <a:avLst/>
          </a:prstGeom>
          <a:noFill/>
        </p:spPr>
        <p:txBody>
          <a:bodyPr wrap="square" rtlCol="0">
            <a:spAutoFit/>
          </a:bodyPr>
          <a:lstStyle/>
          <a:p>
            <a:pPr algn="just">
              <a:lnSpc>
                <a:spcPct val="150000"/>
              </a:lnSpc>
            </a:pPr>
            <a:r>
              <a:rPr lang="en-US" dirty="0"/>
              <a:t>“ </a:t>
            </a:r>
            <a:r>
              <a:rPr lang="en-US" sz="2400" i="1" dirty="0"/>
              <a:t>In the </a:t>
            </a:r>
            <a:r>
              <a:rPr lang="en-US" sz="2400" b="1" i="1" dirty="0"/>
              <a:t>War of Worlds</a:t>
            </a:r>
            <a:r>
              <a:rPr lang="en-US" sz="2400" i="1" dirty="0"/>
              <a:t>, written before the turn of 20</a:t>
            </a:r>
            <a:r>
              <a:rPr lang="en-US" sz="2400" i="1" baseline="30000" dirty="0"/>
              <a:t>th</a:t>
            </a:r>
            <a:r>
              <a:rPr lang="en-US" sz="2400" i="1" dirty="0"/>
              <a:t>  century, </a:t>
            </a:r>
            <a:r>
              <a:rPr lang="en-US" sz="2400" b="1" i="1" dirty="0"/>
              <a:t>HG Wells </a:t>
            </a:r>
            <a:r>
              <a:rPr lang="en-US" sz="2400" i="1" dirty="0"/>
              <a:t>told a fanciful story of how Martians invaded and almost conquered the earth. Their weapon was a mysterious sword of heat, from which flickered a ghost of a beam of light. It felled men in their tracks, made lead run like water and flashed anything combustible into masses of flame. Today Well’s word of heat comes close to reality in the laser…………”</a:t>
            </a:r>
          </a:p>
        </p:txBody>
      </p:sp>
      <p:pic>
        <p:nvPicPr>
          <p:cNvPr id="11266" name="Picture 2" descr="The War of the Worlds, by H. G. Wel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2684" y="409432"/>
            <a:ext cx="5248275" cy="60323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810704" y="6455392"/>
            <a:ext cx="3531476" cy="369332"/>
          </a:xfrm>
          <a:prstGeom prst="rect">
            <a:avLst/>
          </a:prstGeom>
          <a:noFill/>
        </p:spPr>
        <p:txBody>
          <a:bodyPr wrap="square" rtlCol="0">
            <a:spAutoFit/>
          </a:bodyPr>
          <a:lstStyle/>
          <a:p>
            <a:r>
              <a:rPr lang="en-US" dirty="0"/>
              <a:t>Fig. 2 Introduction [2]</a:t>
            </a:r>
          </a:p>
        </p:txBody>
      </p:sp>
    </p:spTree>
    <p:extLst>
      <p:ext uri="{BB962C8B-B14F-4D97-AF65-F5344CB8AC3E}">
        <p14:creationId xmlns:p14="http://schemas.microsoft.com/office/powerpoint/2010/main" val="954248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460375" y="1807191"/>
            <a:ext cx="6254324" cy="4517409"/>
          </a:xfrm>
        </p:spPr>
        <p:txBody>
          <a:bodyPr>
            <a:noAutofit/>
          </a:bodyPr>
          <a:lstStyle/>
          <a:p>
            <a:pPr marL="342900" indent="-342900" algn="just">
              <a:buFont typeface="Wingdings" pitchFamily="2" charset="2"/>
              <a:buChar char="v"/>
            </a:pPr>
            <a:r>
              <a:rPr lang="en-US" sz="2400" dirty="0">
                <a:cs typeface="Times New Roman" pitchFamily="18" charset="0"/>
              </a:rPr>
              <a:t>Offering a high-speed way to process various materials, lasers are being used on a large scale in various industries. </a:t>
            </a:r>
          </a:p>
          <a:p>
            <a:pPr marL="342900" indent="-342900" algn="just">
              <a:buFont typeface="Wingdings" pitchFamily="2" charset="2"/>
              <a:buChar char="v"/>
            </a:pPr>
            <a:r>
              <a:rPr lang="en-US" sz="2400" dirty="0">
                <a:cs typeface="Times New Roman" pitchFamily="18" charset="0"/>
              </a:rPr>
              <a:t>Innovative technologies are driving the growth of industrial lasers. Manufacturers are introducing technologically advanced industrial lasers for various applications. </a:t>
            </a:r>
          </a:p>
          <a:p>
            <a:pPr marL="342900" indent="-342900" algn="just">
              <a:buFont typeface="Wingdings" pitchFamily="2" charset="2"/>
              <a:buChar char="v"/>
            </a:pPr>
            <a:r>
              <a:rPr lang="en-US" sz="2400" dirty="0">
                <a:cs typeface="Times New Roman" pitchFamily="18" charset="0"/>
              </a:rPr>
              <a:t>The global industrial laser market is highly dynamic, and growing at a fast pace.  </a:t>
            </a:r>
          </a:p>
          <a:p>
            <a:pPr marL="342900" indent="-342900" algn="just">
              <a:buFont typeface="Wingdings" pitchFamily="2" charset="2"/>
              <a:buChar char="v"/>
            </a:pPr>
            <a:r>
              <a:rPr lang="en-US" sz="2400" dirty="0">
                <a:cs typeface="Times New Roman" pitchFamily="18" charset="0"/>
              </a:rPr>
              <a:t>The increasing innovations taking place in fiber lasers play an important role in the growth of the global industrial laser market </a:t>
            </a:r>
            <a:endParaRPr lang="en-US" sz="2400" dirty="0">
              <a:solidFill>
                <a:schemeClr val="tx1">
                  <a:lumMod val="85000"/>
                  <a:lumOff val="15000"/>
                </a:schemeClr>
              </a:solidFill>
              <a:cs typeface="Arial" panose="020B0604020202020204" pitchFamily="34" charset="0"/>
            </a:endParaRPr>
          </a:p>
          <a:p>
            <a:endParaRPr lang="en-US"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5</a:t>
            </a:fld>
            <a:endParaRPr lang="en-US" dirty="0"/>
          </a:p>
        </p:txBody>
      </p:sp>
      <p:sp>
        <p:nvSpPr>
          <p:cNvPr id="8" name="Title 7"/>
          <p:cNvSpPr txBox="1">
            <a:spLocks noGrp="1" noChangeArrowheads="1"/>
          </p:cNvSpPr>
          <p:nvPr>
            <p:ph type="title"/>
          </p:nvPr>
        </p:nvSpPr>
        <p:spPr bwMode="auto">
          <a:xfrm>
            <a:off x="1217456" y="337759"/>
            <a:ext cx="4456567"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a:ea typeface="Karla" pitchFamily="2" charset="0"/>
                <a:cs typeface="Karla" pitchFamily="2" charset="0"/>
              </a:rPr>
              <a:t>WHY TO STUDY LASER</a:t>
            </a:r>
            <a:br>
              <a:rPr lang="en-US" sz="4400" b="1" dirty="0">
                <a:latin typeface="Casper"/>
                <a:ea typeface="Karla" pitchFamily="2" charset="0"/>
                <a:cs typeface="Karla" pitchFamily="2" charset="0"/>
              </a:rPr>
            </a:br>
            <a:endParaRPr lang="en-US" sz="4400" b="1" dirty="0">
              <a:latin typeface="Casper"/>
            </a:endParaRPr>
          </a:p>
        </p:txBody>
      </p:sp>
      <p:sp>
        <p:nvSpPr>
          <p:cNvPr id="9" name="Rectangle 8"/>
          <p:cNvSpPr/>
          <p:nvPr/>
        </p:nvSpPr>
        <p:spPr>
          <a:xfrm>
            <a:off x="460375" y="1671851"/>
            <a:ext cx="6254324" cy="5075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utoShape 2" descr="Image result for industrial applications of laser pie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HGTECH - Laser Applications in Different Industries - YouTube (360p).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939650" y="1219357"/>
            <a:ext cx="4722125" cy="4258102"/>
          </a:xfrm>
          <a:prstGeom prst="rect">
            <a:avLst/>
          </a:prstGeom>
        </p:spPr>
      </p:pic>
      <p:sp>
        <p:nvSpPr>
          <p:cNvPr id="2" name="Rectangle 1"/>
          <p:cNvSpPr/>
          <p:nvPr/>
        </p:nvSpPr>
        <p:spPr>
          <a:xfrm>
            <a:off x="6685829" y="6008211"/>
            <a:ext cx="5229765" cy="369332"/>
          </a:xfrm>
          <a:prstGeom prst="rect">
            <a:avLst/>
          </a:prstGeom>
        </p:spPr>
        <p:txBody>
          <a:bodyPr wrap="none">
            <a:spAutoFit/>
          </a:bodyPr>
          <a:lstStyle/>
          <a:p>
            <a:r>
              <a:rPr lang="en-US" dirty="0"/>
              <a:t>https://www.youtube.com/watch?v=_yLfLDHBUak [3]</a:t>
            </a:r>
          </a:p>
        </p:txBody>
      </p:sp>
    </p:spTree>
    <p:extLst>
      <p:ext uri="{BB962C8B-B14F-4D97-AF65-F5344CB8AC3E}">
        <p14:creationId xmlns:p14="http://schemas.microsoft.com/office/powerpoint/2010/main" val="69380159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1"/>
                                        </p:tgtEl>
                                      </p:cBhvr>
                                    </p:cmd>
                                  </p:childTnLst>
                                </p:cTn>
                              </p:par>
                            </p:childTnLst>
                          </p:cTn>
                        </p:par>
                      </p:childTnLst>
                    </p:cTn>
                  </p:par>
                </p:childTnLst>
              </p:cTn>
              <p:nextCondLst>
                <p:cond evt="onClick" delay="0">
                  <p:tgtEl>
                    <p:spTgt spid="11"/>
                  </p:tgtEl>
                </p:cond>
              </p:nextCondLst>
            </p:seq>
            <p:video>
              <p:cMediaNode vol="80000">
                <p:cTn id="7" fill="hold" display="0">
                  <p:stCondLst>
                    <p:cond delay="indefinite"/>
                  </p:stCondLst>
                </p:cTn>
                <p:tgtEl>
                  <p:spTgt spid="11"/>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39788" y="1514901"/>
            <a:ext cx="4496487" cy="4948961"/>
          </a:xfrm>
        </p:spPr>
        <p:txBody>
          <a:bodyPr>
            <a:normAutofit/>
          </a:bodyPr>
          <a:lstStyle/>
          <a:p>
            <a:pPr marL="457200" indent="-457200" algn="just">
              <a:lnSpc>
                <a:spcPct val="150000"/>
              </a:lnSpc>
              <a:buFont typeface="Wingdings" pitchFamily="2" charset="2"/>
              <a:buChar char="v"/>
            </a:pPr>
            <a:r>
              <a:rPr lang="en-US" sz="2400" dirty="0"/>
              <a:t>Introduction to LASERS</a:t>
            </a:r>
          </a:p>
          <a:p>
            <a:pPr marL="457200" indent="-457200" algn="just">
              <a:lnSpc>
                <a:spcPct val="150000"/>
              </a:lnSpc>
              <a:buFont typeface="Wingdings" pitchFamily="2" charset="2"/>
              <a:buChar char="v"/>
            </a:pPr>
            <a:r>
              <a:rPr lang="en-US" sz="2400" dirty="0"/>
              <a:t>Properties of Laser</a:t>
            </a:r>
          </a:p>
          <a:p>
            <a:pPr marL="457200" indent="-457200" algn="just">
              <a:lnSpc>
                <a:spcPct val="150000"/>
              </a:lnSpc>
              <a:buFont typeface="Wingdings" pitchFamily="2" charset="2"/>
              <a:buChar char="v"/>
            </a:pPr>
            <a:r>
              <a:rPr lang="en-US" sz="2400" dirty="0"/>
              <a:t>Quantum Processes</a:t>
            </a:r>
          </a:p>
        </p:txBody>
      </p:sp>
      <p:sp>
        <p:nvSpPr>
          <p:cNvPr id="5" name="Slide Number Placeholder 4"/>
          <p:cNvSpPr>
            <a:spLocks noGrp="1"/>
          </p:cNvSpPr>
          <p:nvPr>
            <p:ph type="sldNum" sz="quarter" idx="12"/>
          </p:nvPr>
        </p:nvSpPr>
        <p:spPr/>
        <p:txBody>
          <a:bodyPr/>
          <a:lstStyle/>
          <a:p>
            <a:fld id="{BDCDBBEF-AA6C-4BA6-85B2-A17D7F280E38}" type="slidenum">
              <a:rPr lang="en-US" smtClean="0"/>
              <a:t>6</a:t>
            </a:fld>
            <a:endParaRPr lang="en-US"/>
          </a:p>
        </p:txBody>
      </p:sp>
      <p:sp>
        <p:nvSpPr>
          <p:cNvPr id="6" name="Rectangle 5"/>
          <p:cNvSpPr/>
          <p:nvPr/>
        </p:nvSpPr>
        <p:spPr>
          <a:xfrm>
            <a:off x="1856096" y="389930"/>
            <a:ext cx="8871044" cy="1446550"/>
          </a:xfrm>
          <a:prstGeom prst="rect">
            <a:avLst/>
          </a:prstGeom>
        </p:spPr>
        <p:txBody>
          <a:bodyPr wrap="square">
            <a:spAutoFit/>
          </a:bodyPr>
          <a:lstStyle/>
          <a:p>
            <a:r>
              <a:rPr lang="en-US" sz="4400" b="1" dirty="0">
                <a:latin typeface="Casper Bold"/>
                <a:cs typeface="Times New Roman" pitchFamily="18" charset="0"/>
              </a:rPr>
              <a:t>CONTENT TO BE DISCUSSED….</a:t>
            </a:r>
            <a:br>
              <a:rPr lang="en-US" sz="4400" b="1" dirty="0">
                <a:solidFill>
                  <a:srgbClr val="C00000"/>
                </a:solidFill>
                <a:latin typeface="Casper Bold"/>
                <a:ea typeface="Karla" pitchFamily="2" charset="0"/>
                <a:cs typeface="Karla" pitchFamily="2" charset="0"/>
              </a:rPr>
            </a:br>
            <a:endParaRPr lang="en-US" sz="4400" dirty="0">
              <a:latin typeface="Casper Bold"/>
            </a:endParaRPr>
          </a:p>
        </p:txBody>
      </p:sp>
      <p:sp>
        <p:nvSpPr>
          <p:cNvPr id="7" name="AutoShape 2" descr="LASER shines on Munich – Physics Worl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LASER shines on Munich – Physics World"/>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descr="Abstract red laser beam transparent isolated on Vector Imag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9465" name="Picture 9" descr="Abstract Red Laser Beam Transparent Isolated On Black Backgrou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0615" y="1514901"/>
            <a:ext cx="6086901" cy="47221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085490" y="6428096"/>
            <a:ext cx="3531476" cy="369332"/>
          </a:xfrm>
          <a:prstGeom prst="rect">
            <a:avLst/>
          </a:prstGeom>
          <a:noFill/>
        </p:spPr>
        <p:txBody>
          <a:bodyPr wrap="square" rtlCol="0">
            <a:spAutoFit/>
          </a:bodyPr>
          <a:lstStyle/>
          <a:p>
            <a:r>
              <a:rPr lang="en-US" dirty="0"/>
              <a:t>Fig. 3 Introduction [4]</a:t>
            </a:r>
          </a:p>
        </p:txBody>
      </p:sp>
    </p:spTree>
    <p:extLst>
      <p:ext uri="{BB962C8B-B14F-4D97-AF65-F5344CB8AC3E}">
        <p14:creationId xmlns:p14="http://schemas.microsoft.com/office/powerpoint/2010/main" val="3231242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449263" y="2838734"/>
            <a:ext cx="4322762" cy="3485866"/>
          </a:xfrm>
        </p:spPr>
        <p:txBody>
          <a:bodyPr>
            <a:normAutofit/>
          </a:bodyPr>
          <a:lstStyle/>
          <a:p>
            <a:pPr marL="342900" indent="-342900">
              <a:buFont typeface="Wingdings" pitchFamily="2" charset="2"/>
              <a:buChar char="v"/>
            </a:pPr>
            <a:r>
              <a:rPr lang="en-US" sz="2400" b="1" dirty="0">
                <a:latin typeface="Casper"/>
                <a:cs typeface="Times New Roman" pitchFamily="18" charset="0"/>
              </a:rPr>
              <a:t>L –Light</a:t>
            </a:r>
          </a:p>
          <a:p>
            <a:pPr marL="342900" indent="-342900">
              <a:buFont typeface="Wingdings" pitchFamily="2" charset="2"/>
              <a:buChar char="v"/>
            </a:pPr>
            <a:r>
              <a:rPr lang="en-US" sz="2400" b="1" dirty="0">
                <a:solidFill>
                  <a:srgbClr val="FF0000"/>
                </a:solidFill>
                <a:latin typeface="Casper"/>
                <a:cs typeface="Times New Roman" pitchFamily="18" charset="0"/>
              </a:rPr>
              <a:t>A – Amplification by</a:t>
            </a:r>
          </a:p>
          <a:p>
            <a:pPr marL="342900" indent="-342900">
              <a:buFont typeface="Wingdings" pitchFamily="2" charset="2"/>
              <a:buChar char="v"/>
            </a:pPr>
            <a:r>
              <a:rPr lang="en-US" sz="2400" b="1" dirty="0">
                <a:latin typeface="Casper"/>
                <a:cs typeface="Times New Roman" pitchFamily="18" charset="0"/>
              </a:rPr>
              <a:t>S – Stimulated</a:t>
            </a:r>
          </a:p>
          <a:p>
            <a:pPr marL="342900" indent="-342900">
              <a:buFont typeface="Wingdings" pitchFamily="2" charset="2"/>
              <a:buChar char="v"/>
            </a:pPr>
            <a:r>
              <a:rPr lang="en-US" sz="2400" b="1" dirty="0">
                <a:solidFill>
                  <a:srgbClr val="FF0000"/>
                </a:solidFill>
                <a:latin typeface="Casper"/>
                <a:cs typeface="Times New Roman" pitchFamily="18" charset="0"/>
              </a:rPr>
              <a:t>E – Emission of</a:t>
            </a:r>
          </a:p>
          <a:p>
            <a:pPr marL="342900" indent="-342900">
              <a:buFont typeface="Wingdings" pitchFamily="2" charset="2"/>
              <a:buChar char="v"/>
            </a:pPr>
            <a:r>
              <a:rPr lang="en-US" sz="2400" b="1" dirty="0">
                <a:latin typeface="Casper"/>
                <a:cs typeface="Times New Roman" pitchFamily="18" charset="0"/>
              </a:rPr>
              <a:t>R – Radiation</a:t>
            </a:r>
          </a:p>
          <a:p>
            <a:r>
              <a:rPr lang="en-US" sz="2400" b="1" dirty="0">
                <a:solidFill>
                  <a:schemeClr val="tx1">
                    <a:lumMod val="85000"/>
                    <a:lumOff val="15000"/>
                  </a:schemeClr>
                </a:solidFill>
                <a:latin typeface="Casper"/>
                <a:cs typeface="Times New Roman" pitchFamily="18" charset="0"/>
              </a:rPr>
              <a:t>                 </a:t>
            </a:r>
            <a:r>
              <a:rPr lang="en-US" sz="2400" b="1" i="1" dirty="0">
                <a:solidFill>
                  <a:srgbClr val="0070C0"/>
                </a:solidFill>
                <a:latin typeface="Casper"/>
                <a:cs typeface="Times New Roman" pitchFamily="18" charset="0"/>
              </a:rPr>
              <a:t>Stimulated Emission is the key to the laser action</a:t>
            </a:r>
            <a:endParaRPr lang="en-US" sz="2400" i="1" dirty="0">
              <a:solidFill>
                <a:srgbClr val="0070C0"/>
              </a:solidFill>
              <a:latin typeface="Casper"/>
              <a:cs typeface="Arial" panose="020B0604020202020204" pitchFamily="34" charset="0"/>
            </a:endParaRPr>
          </a:p>
          <a:p>
            <a:pPr marL="285750" indent="-285750">
              <a:buFont typeface="Wingdings" pitchFamily="2" charset="2"/>
              <a:buChar char="v"/>
            </a:pPr>
            <a:endParaRPr lang="en-US" dirty="0">
              <a:solidFill>
                <a:schemeClr val="tx1">
                  <a:lumMod val="85000"/>
                  <a:lumOff val="15000"/>
                </a:schemeClr>
              </a:solidFill>
              <a:latin typeface="Casper" panose="02000506000000020004" pitchFamily="2" charset="0"/>
              <a:cs typeface="Arial" panose="020B0604020202020204" pitchFamily="34" charset="0"/>
            </a:endParaRPr>
          </a:p>
          <a:p>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7</a:t>
            </a:fld>
            <a:endParaRPr lang="en-US" dirty="0"/>
          </a:p>
        </p:txBody>
      </p:sp>
      <p:sp>
        <p:nvSpPr>
          <p:cNvPr id="8" name="Title 7"/>
          <p:cNvSpPr txBox="1">
            <a:spLocks noGrp="1" noChangeArrowheads="1"/>
          </p:cNvSpPr>
          <p:nvPr>
            <p:ph type="title"/>
          </p:nvPr>
        </p:nvSpPr>
        <p:spPr bwMode="auto">
          <a:xfrm>
            <a:off x="449262" y="586854"/>
            <a:ext cx="4456567" cy="2529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a:cs typeface="Times New Roman" pitchFamily="18" charset="0"/>
              </a:rPr>
              <a:t>LASER EMISSION</a:t>
            </a:r>
            <a:br>
              <a:rPr lang="en-US" sz="4400" b="1" dirty="0">
                <a:solidFill>
                  <a:srgbClr val="C00000"/>
                </a:solidFill>
                <a:latin typeface="Casper"/>
                <a:ea typeface="Karla" pitchFamily="2" charset="0"/>
                <a:cs typeface="Karla" pitchFamily="2" charset="0"/>
              </a:rPr>
            </a:br>
            <a:br>
              <a:rPr lang="en-US" sz="4400" b="1" dirty="0">
                <a:latin typeface="Casper"/>
                <a:ea typeface="Karla" pitchFamily="2" charset="0"/>
                <a:cs typeface="Karla" pitchFamily="2" charset="0"/>
              </a:rPr>
            </a:br>
            <a:endParaRPr lang="en-US" sz="4400" dirty="0">
              <a:latin typeface="Casper"/>
            </a:endParaRPr>
          </a:p>
        </p:txBody>
      </p:sp>
      <p:sp>
        <p:nvSpPr>
          <p:cNvPr id="9" name="Rectangle 8"/>
          <p:cNvSpPr/>
          <p:nvPr/>
        </p:nvSpPr>
        <p:spPr>
          <a:xfrm>
            <a:off x="449262" y="2729552"/>
            <a:ext cx="4322762" cy="36267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2" name="Picture 4" descr="Stimulated emissi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2793" y="914400"/>
            <a:ext cx="5906733" cy="54102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6085490" y="6428096"/>
            <a:ext cx="3531476" cy="369332"/>
          </a:xfrm>
          <a:prstGeom prst="rect">
            <a:avLst/>
          </a:prstGeom>
          <a:noFill/>
        </p:spPr>
        <p:txBody>
          <a:bodyPr wrap="square" rtlCol="0">
            <a:spAutoFit/>
          </a:bodyPr>
          <a:lstStyle/>
          <a:p>
            <a:r>
              <a:rPr lang="en-US" dirty="0"/>
              <a:t>Fig. 4 Stimulated emission [5]</a:t>
            </a:r>
          </a:p>
        </p:txBody>
      </p:sp>
    </p:spTree>
    <p:extLst>
      <p:ext uri="{BB962C8B-B14F-4D97-AF65-F5344CB8AC3E}">
        <p14:creationId xmlns:p14="http://schemas.microsoft.com/office/powerpoint/2010/main" val="286174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38200" y="2684912"/>
            <a:ext cx="3932237" cy="2045494"/>
          </a:xfrm>
        </p:spPr>
        <p:txBody>
          <a:bodyPr>
            <a:normAutofit fontScale="92500" lnSpcReduction="20000"/>
          </a:bodyPr>
          <a:lstStyle/>
          <a:p>
            <a:pPr marL="457200" indent="-457200">
              <a:buFont typeface="Wingdings" pitchFamily="2" charset="2"/>
              <a:buChar char="v"/>
            </a:pPr>
            <a:r>
              <a:rPr lang="en-US" sz="2600" b="1" dirty="0">
                <a:cs typeface="Times New Roman" pitchFamily="18" charset="0"/>
              </a:rPr>
              <a:t>Monochromatic</a:t>
            </a:r>
          </a:p>
          <a:p>
            <a:pPr marL="457200" indent="-457200">
              <a:buFont typeface="Wingdings" pitchFamily="2" charset="2"/>
              <a:buChar char="v"/>
            </a:pPr>
            <a:r>
              <a:rPr lang="en-US" sz="2600" b="1" dirty="0">
                <a:solidFill>
                  <a:srgbClr val="FF0000"/>
                </a:solidFill>
                <a:cs typeface="Times New Roman" pitchFamily="18" charset="0"/>
              </a:rPr>
              <a:t>Unidirectional</a:t>
            </a:r>
          </a:p>
          <a:p>
            <a:pPr marL="457200" indent="-457200">
              <a:buFont typeface="Wingdings" pitchFamily="2" charset="2"/>
              <a:buChar char="v"/>
            </a:pPr>
            <a:r>
              <a:rPr lang="en-US" sz="2600" b="1" dirty="0">
                <a:cs typeface="Times New Roman" pitchFamily="18" charset="0"/>
              </a:rPr>
              <a:t>Coherent</a:t>
            </a:r>
          </a:p>
          <a:p>
            <a:pPr marL="457200" indent="-457200">
              <a:buFont typeface="Wingdings" pitchFamily="2" charset="2"/>
              <a:buChar char="v"/>
            </a:pPr>
            <a:r>
              <a:rPr lang="en-US" sz="2600" b="1" dirty="0">
                <a:solidFill>
                  <a:srgbClr val="FF0000"/>
                </a:solidFill>
                <a:cs typeface="Times New Roman" pitchFamily="18" charset="0"/>
              </a:rPr>
              <a:t>Narrow band width</a:t>
            </a:r>
          </a:p>
          <a:p>
            <a:pPr marL="457200" indent="-457200">
              <a:buFont typeface="Wingdings" pitchFamily="2" charset="2"/>
              <a:buChar char="v"/>
            </a:pPr>
            <a:r>
              <a:rPr lang="en-US" sz="2600" b="1" dirty="0">
                <a:cs typeface="Times New Roman" pitchFamily="18" charset="0"/>
              </a:rPr>
              <a:t>High Intensity</a:t>
            </a:r>
          </a:p>
          <a:p>
            <a:endParaRPr lang="en-US" dirty="0">
              <a:solidFill>
                <a:schemeClr val="tx1">
                  <a:lumMod val="85000"/>
                  <a:lumOff val="15000"/>
                </a:schemeClr>
              </a:solidFill>
              <a:latin typeface="Casper" panose="02000506000000020004" pitchFamily="2" charset="0"/>
              <a:cs typeface="Arial" panose="020B0604020202020204" pitchFamily="34" charset="0"/>
            </a:endParaRPr>
          </a:p>
          <a:p>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8</a:t>
            </a:fld>
            <a:endParaRPr lang="en-US" dirty="0"/>
          </a:p>
        </p:txBody>
      </p:sp>
      <p:sp>
        <p:nvSpPr>
          <p:cNvPr id="8" name="Title 7"/>
          <p:cNvSpPr txBox="1">
            <a:spLocks noGrp="1" noChangeArrowheads="1"/>
          </p:cNvSpPr>
          <p:nvPr>
            <p:ph type="title"/>
          </p:nvPr>
        </p:nvSpPr>
        <p:spPr bwMode="auto">
          <a:xfrm>
            <a:off x="1493254" y="607152"/>
            <a:ext cx="9600964"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a:cs typeface="Times New Roman" pitchFamily="18" charset="0"/>
              </a:rPr>
              <a:t>SPECIAL PROPERTIES OF LASER</a:t>
            </a:r>
            <a:br>
              <a:rPr lang="en-US" sz="4400" b="1" dirty="0">
                <a:latin typeface="Casper Bold"/>
                <a:ea typeface="Karla" pitchFamily="2" charset="0"/>
                <a:cs typeface="Karla" pitchFamily="2" charset="0"/>
              </a:rPr>
            </a:br>
            <a:endParaRPr lang="en-US" sz="4400" dirty="0">
              <a:latin typeface="Casper Bold"/>
            </a:endParaRPr>
          </a:p>
        </p:txBody>
      </p:sp>
      <p:sp>
        <p:nvSpPr>
          <p:cNvPr id="9" name="Rectangle 8"/>
          <p:cNvSpPr/>
          <p:nvPr/>
        </p:nvSpPr>
        <p:spPr>
          <a:xfrm>
            <a:off x="838200" y="2572033"/>
            <a:ext cx="4115937"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342" name="Picture 6" descr="C:\Users\DELL INSPIRON\Pictures\las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5330" y="1766935"/>
            <a:ext cx="6058469" cy="455766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6085490" y="6428096"/>
            <a:ext cx="5131786" cy="369332"/>
          </a:xfrm>
          <a:prstGeom prst="rect">
            <a:avLst/>
          </a:prstGeom>
          <a:noFill/>
        </p:spPr>
        <p:txBody>
          <a:bodyPr wrap="square" rtlCol="0">
            <a:spAutoFit/>
          </a:bodyPr>
          <a:lstStyle/>
          <a:p>
            <a:r>
              <a:rPr lang="en-US" dirty="0"/>
              <a:t>Fig. 5 difference between laser and ordinary beam[6]</a:t>
            </a:r>
          </a:p>
        </p:txBody>
      </p:sp>
    </p:spTree>
    <p:extLst>
      <p:ext uri="{BB962C8B-B14F-4D97-AF65-F5344CB8AC3E}">
        <p14:creationId xmlns:p14="http://schemas.microsoft.com/office/powerpoint/2010/main" val="2861741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10296785" cy="1600200"/>
          </a:xfrm>
        </p:spPr>
        <p:txBody>
          <a:bodyPr>
            <a:normAutofit/>
          </a:bodyPr>
          <a:lstStyle/>
          <a:p>
            <a:pPr algn="ctr"/>
            <a:r>
              <a:rPr lang="en-US" sz="4400" b="1" dirty="0">
                <a:latin typeface="Casper Bold"/>
                <a:cs typeface="Times New Roman" pitchFamily="18" charset="0"/>
              </a:rPr>
              <a:t>COHERENCE</a:t>
            </a:r>
            <a:br>
              <a:rPr lang="en-US" sz="4400" b="1" dirty="0">
                <a:latin typeface="Casper Bold"/>
                <a:ea typeface="Karla" pitchFamily="2" charset="0"/>
                <a:cs typeface="Karla" pitchFamily="2" charset="0"/>
              </a:rPr>
            </a:br>
            <a:endParaRPr lang="en-US" sz="4400" dirty="0"/>
          </a:p>
        </p:txBody>
      </p:sp>
      <p:sp>
        <p:nvSpPr>
          <p:cNvPr id="4" name="Text Placeholder 3"/>
          <p:cNvSpPr>
            <a:spLocks noGrp="1"/>
          </p:cNvSpPr>
          <p:nvPr>
            <p:ph type="body" sz="half" idx="2"/>
          </p:nvPr>
        </p:nvSpPr>
        <p:spPr>
          <a:xfrm>
            <a:off x="838200" y="1825388"/>
            <a:ext cx="5956797" cy="4466230"/>
          </a:xfrm>
        </p:spPr>
        <p:txBody>
          <a:bodyPr>
            <a:noAutofit/>
          </a:bodyPr>
          <a:lstStyle/>
          <a:p>
            <a:pPr algn="just"/>
            <a:r>
              <a:rPr lang="en-US" sz="2800" b="1" dirty="0">
                <a:solidFill>
                  <a:srgbClr val="0070C0"/>
                </a:solidFill>
              </a:rPr>
              <a:t>Coherence is very important property of Laser. </a:t>
            </a:r>
          </a:p>
          <a:p>
            <a:pPr algn="just">
              <a:lnSpc>
                <a:spcPct val="100000"/>
              </a:lnSpc>
            </a:pPr>
            <a:r>
              <a:rPr lang="en-US" sz="2400" dirty="0"/>
              <a:t>First let us understand the difference between coherent and incoherent light….</a:t>
            </a:r>
          </a:p>
          <a:p>
            <a:pPr algn="just">
              <a:lnSpc>
                <a:spcPct val="100000"/>
              </a:lnSpc>
            </a:pPr>
            <a:r>
              <a:rPr lang="en-US" sz="2800" b="1" i="1" dirty="0">
                <a:solidFill>
                  <a:srgbClr val="FF0000"/>
                </a:solidFill>
              </a:rPr>
              <a:t>Incoherent Light</a:t>
            </a:r>
            <a:r>
              <a:rPr lang="en-US" sz="2400" b="1" i="1" dirty="0">
                <a:solidFill>
                  <a:srgbClr val="FF0000"/>
                </a:solidFill>
              </a:rPr>
              <a:t>: </a:t>
            </a:r>
            <a:r>
              <a:rPr lang="en-US" sz="2400" dirty="0"/>
              <a:t>The light emitted from the Sun or other ordinary light sources such as tungsten filament and fluorescent tube lights is spread over a wide range of frequencies.</a:t>
            </a:r>
          </a:p>
          <a:p>
            <a:pPr algn="just">
              <a:lnSpc>
                <a:spcPct val="100000"/>
              </a:lnSpc>
            </a:pPr>
            <a:r>
              <a:rPr lang="en-US" sz="2400" dirty="0"/>
              <a:t>Incoherent light is due to </a:t>
            </a:r>
            <a:r>
              <a:rPr lang="en-US" sz="2400" b="1" i="1" dirty="0">
                <a:solidFill>
                  <a:srgbClr val="0070C0"/>
                </a:solidFill>
              </a:rPr>
              <a:t>spontaneous and random emission</a:t>
            </a:r>
            <a:r>
              <a:rPr lang="en-US" sz="2400" b="1" dirty="0">
                <a:solidFill>
                  <a:srgbClr val="0070C0"/>
                </a:solidFill>
              </a:rPr>
              <a:t> </a:t>
            </a:r>
            <a:r>
              <a:rPr lang="en-US" sz="2400" dirty="0"/>
              <a:t>of photons by the atoms in excited state. These photons will not be in phase with each other</a:t>
            </a:r>
            <a:r>
              <a:rPr lang="en-US" sz="2400" b="1" dirty="0"/>
              <a:t>.</a:t>
            </a:r>
            <a:endParaRPr lang="en-US" sz="2400" dirty="0"/>
          </a:p>
        </p:txBody>
      </p:sp>
      <p:sp>
        <p:nvSpPr>
          <p:cNvPr id="5" name="Slide Number Placeholder 4"/>
          <p:cNvSpPr>
            <a:spLocks noGrp="1"/>
          </p:cNvSpPr>
          <p:nvPr>
            <p:ph type="sldNum" sz="quarter" idx="12"/>
          </p:nvPr>
        </p:nvSpPr>
        <p:spPr/>
        <p:txBody>
          <a:bodyPr/>
          <a:lstStyle/>
          <a:p>
            <a:fld id="{BDCDBBEF-AA6C-4BA6-85B2-A17D7F280E38}" type="slidenum">
              <a:rPr lang="en-US" smtClean="0"/>
              <a:t>9</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6901" y="2991213"/>
            <a:ext cx="4705350" cy="2374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7189076" y="6058764"/>
            <a:ext cx="3531476" cy="369332"/>
          </a:xfrm>
          <a:prstGeom prst="rect">
            <a:avLst/>
          </a:prstGeom>
          <a:noFill/>
        </p:spPr>
        <p:txBody>
          <a:bodyPr wrap="square" rtlCol="0">
            <a:spAutoFit/>
          </a:bodyPr>
          <a:lstStyle/>
          <a:p>
            <a:r>
              <a:rPr lang="en-US" dirty="0"/>
              <a:t>Fig. 6 Incoherent light </a:t>
            </a:r>
          </a:p>
        </p:txBody>
      </p:sp>
    </p:spTree>
    <p:extLst>
      <p:ext uri="{BB962C8B-B14F-4D97-AF65-F5344CB8AC3E}">
        <p14:creationId xmlns:p14="http://schemas.microsoft.com/office/powerpoint/2010/main" val="1796972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10296785" cy="1600200"/>
          </a:xfrm>
        </p:spPr>
        <p:txBody>
          <a:bodyPr>
            <a:normAutofit/>
          </a:bodyPr>
          <a:lstStyle/>
          <a:p>
            <a:pPr algn="ctr"/>
            <a:r>
              <a:rPr lang="en-US" sz="4400" b="1" dirty="0">
                <a:latin typeface="Casper Bold"/>
                <a:cs typeface="Times New Roman" pitchFamily="18" charset="0"/>
              </a:rPr>
              <a:t>COHERENCE</a:t>
            </a:r>
            <a:br>
              <a:rPr lang="en-US" sz="4400" b="1" dirty="0">
                <a:latin typeface="Casper Bold"/>
                <a:ea typeface="Karla" pitchFamily="2" charset="0"/>
                <a:cs typeface="Karla" pitchFamily="2" charset="0"/>
              </a:rPr>
            </a:br>
            <a:endParaRPr lang="en-US" sz="4400" dirty="0"/>
          </a:p>
        </p:txBody>
      </p:sp>
      <p:sp>
        <p:nvSpPr>
          <p:cNvPr id="4" name="Text Placeholder 3"/>
          <p:cNvSpPr>
            <a:spLocks noGrp="1"/>
          </p:cNvSpPr>
          <p:nvPr>
            <p:ph type="body" sz="half" idx="2"/>
          </p:nvPr>
        </p:nvSpPr>
        <p:spPr>
          <a:xfrm>
            <a:off x="839788" y="2057400"/>
            <a:ext cx="5956797" cy="4466230"/>
          </a:xfrm>
        </p:spPr>
        <p:txBody>
          <a:bodyPr>
            <a:noAutofit/>
          </a:bodyPr>
          <a:lstStyle/>
          <a:p>
            <a:r>
              <a:rPr lang="en-US" sz="2800" b="1" i="1" dirty="0">
                <a:solidFill>
                  <a:srgbClr val="FF0000"/>
                </a:solidFill>
              </a:rPr>
              <a:t>Coherent Light:</a:t>
            </a:r>
          </a:p>
          <a:p>
            <a:pPr algn="just">
              <a:lnSpc>
                <a:spcPct val="150000"/>
              </a:lnSpc>
            </a:pPr>
            <a:r>
              <a:rPr lang="en-US" sz="2400" b="1" dirty="0"/>
              <a:t>Coherent light is uniform in frequency, amplitude, continuity and constant </a:t>
            </a:r>
            <a:r>
              <a:rPr lang="en-US" sz="2400" b="1" i="1" dirty="0">
                <a:solidFill>
                  <a:srgbClr val="0070C0"/>
                </a:solidFill>
              </a:rPr>
              <a:t>initial phase difference.</a:t>
            </a:r>
            <a:endParaRPr lang="en-US" sz="2400" b="1" dirty="0"/>
          </a:p>
          <a:p>
            <a:pPr algn="just">
              <a:lnSpc>
                <a:spcPct val="150000"/>
              </a:lnSpc>
            </a:pPr>
            <a:r>
              <a:rPr lang="en-US" sz="2400" b="1" dirty="0"/>
              <a:t>Coherent beam of light is obtained due to stimulated emission of photons from the atoms jumping from meta-stable state to lower energy state.</a:t>
            </a:r>
            <a:endParaRPr lang="en-US" sz="2400" dirty="0"/>
          </a:p>
        </p:txBody>
      </p:sp>
      <p:sp>
        <p:nvSpPr>
          <p:cNvPr id="5" name="Slide Number Placeholder 4"/>
          <p:cNvSpPr>
            <a:spLocks noGrp="1"/>
          </p:cNvSpPr>
          <p:nvPr>
            <p:ph type="sldNum" sz="quarter" idx="12"/>
          </p:nvPr>
        </p:nvSpPr>
        <p:spPr/>
        <p:txBody>
          <a:bodyPr/>
          <a:lstStyle/>
          <a:p>
            <a:fld id="{BDCDBBEF-AA6C-4BA6-85B2-A17D7F280E38}" type="slidenum">
              <a:rPr lang="en-US" smtClean="0"/>
              <a:t>10</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275" y="3206518"/>
            <a:ext cx="5046686" cy="1951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7529880" y="6038763"/>
            <a:ext cx="3531476" cy="369332"/>
          </a:xfrm>
          <a:prstGeom prst="rect">
            <a:avLst/>
          </a:prstGeom>
          <a:noFill/>
        </p:spPr>
        <p:txBody>
          <a:bodyPr wrap="square" rtlCol="0">
            <a:spAutoFit/>
          </a:bodyPr>
          <a:lstStyle/>
          <a:p>
            <a:r>
              <a:rPr lang="en-US" dirty="0"/>
              <a:t>Fig. 8 Coherent light</a:t>
            </a:r>
          </a:p>
        </p:txBody>
      </p:sp>
    </p:spTree>
    <p:extLst>
      <p:ext uri="{BB962C8B-B14F-4D97-AF65-F5344CB8AC3E}">
        <p14:creationId xmlns:p14="http://schemas.microsoft.com/office/powerpoint/2010/main" val="3502237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5850"/>
            <a:ext cx="10296785" cy="1600200"/>
          </a:xfrm>
        </p:spPr>
        <p:txBody>
          <a:bodyPr>
            <a:normAutofit fontScale="90000"/>
          </a:bodyPr>
          <a:lstStyle/>
          <a:p>
            <a:pPr algn="ctr"/>
            <a:r>
              <a:rPr lang="en-US" sz="4900" b="1" dirty="0">
                <a:latin typeface="Casper Bold"/>
              </a:rPr>
              <a:t>VARIOUS ATOMIC INTERACTIONS RELATED TO LASER</a:t>
            </a:r>
            <a:br>
              <a:rPr lang="en-US" sz="4400" b="1" dirty="0">
                <a:latin typeface="Casper Bold"/>
                <a:ea typeface="Karla" pitchFamily="2" charset="0"/>
                <a:cs typeface="Karla" pitchFamily="2" charset="0"/>
              </a:rPr>
            </a:br>
            <a:endParaRPr lang="en-US" sz="4400" dirty="0"/>
          </a:p>
        </p:txBody>
      </p:sp>
      <p:sp>
        <p:nvSpPr>
          <p:cNvPr id="4" name="Text Placeholder 3"/>
          <p:cNvSpPr>
            <a:spLocks noGrp="1"/>
          </p:cNvSpPr>
          <p:nvPr>
            <p:ph type="body" sz="half" idx="2"/>
          </p:nvPr>
        </p:nvSpPr>
        <p:spPr>
          <a:xfrm>
            <a:off x="838200" y="1743501"/>
            <a:ext cx="6871196" cy="4670946"/>
          </a:xfrm>
        </p:spPr>
        <p:txBody>
          <a:bodyPr>
            <a:noAutofit/>
          </a:bodyPr>
          <a:lstStyle/>
          <a:p>
            <a:r>
              <a:rPr lang="en-US" sz="2800" b="1" dirty="0">
                <a:solidFill>
                  <a:srgbClr val="FF0000"/>
                </a:solidFill>
              </a:rPr>
              <a:t>1. Induced Absorption:</a:t>
            </a:r>
          </a:p>
          <a:p>
            <a:pPr algn="just">
              <a:lnSpc>
                <a:spcPct val="150000"/>
              </a:lnSpc>
            </a:pPr>
            <a:r>
              <a:rPr lang="en-US" sz="2400" dirty="0"/>
              <a:t>Photons of suitable frequency (energy) are supplied to the atoms in the ground state. These atoms absorb the supplied energy and go to the excited or higher energy state. If </a:t>
            </a:r>
            <a:r>
              <a:rPr lang="en-US" sz="2400" dirty="0" err="1"/>
              <a:t>Ei</a:t>
            </a:r>
            <a:r>
              <a:rPr lang="en-US" sz="2400" dirty="0"/>
              <a:t> and </a:t>
            </a:r>
            <a:r>
              <a:rPr lang="en-US" sz="2400" dirty="0" err="1"/>
              <a:t>Ej</a:t>
            </a:r>
            <a:r>
              <a:rPr lang="en-US" sz="2400" dirty="0"/>
              <a:t> are energies of ground state (lower energy) and excited state (higher energy), then the frequency of required photon for absorption is</a:t>
            </a:r>
          </a:p>
          <a:p>
            <a:pPr algn="just">
              <a:lnSpc>
                <a:spcPct val="150000"/>
              </a:lnSpc>
            </a:pPr>
            <a:r>
              <a:rPr lang="en-US" sz="2400" dirty="0"/>
              <a:t>                                               where h is Planck’s constant</a:t>
            </a:r>
            <a:endParaRPr lang="en-US" sz="2400" dirty="0">
              <a:solidFill>
                <a:srgbClr val="FF0000"/>
              </a:solidFill>
              <a:latin typeface="Casper"/>
              <a:cs typeface="Times New Roman"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11</a:t>
            </a:fld>
            <a:endParaRPr lang="en-US"/>
          </a:p>
        </p:txBody>
      </p:sp>
      <p:sp>
        <p:nvSpPr>
          <p:cNvPr id="6" name="Rectangle 5"/>
          <p:cNvSpPr/>
          <p:nvPr/>
        </p:nvSpPr>
        <p:spPr>
          <a:xfrm>
            <a:off x="838200" y="196588"/>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1359" y="5688416"/>
            <a:ext cx="1466850"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9975" y="2178880"/>
            <a:ext cx="2425677"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2903" y="4335866"/>
            <a:ext cx="2952750"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7670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0722"/>
            <a:ext cx="10296785" cy="1600200"/>
          </a:xfrm>
        </p:spPr>
        <p:txBody>
          <a:bodyPr>
            <a:normAutofit/>
          </a:bodyPr>
          <a:lstStyle/>
          <a:p>
            <a:pPr algn="ctr"/>
            <a:br>
              <a:rPr lang="en-US" sz="4400" b="1" dirty="0">
                <a:latin typeface="Casper Bold"/>
                <a:ea typeface="Karla" pitchFamily="2" charset="0"/>
                <a:cs typeface="Karla" pitchFamily="2" charset="0"/>
              </a:rPr>
            </a:br>
            <a:endParaRPr lang="en-US" sz="4400" dirty="0"/>
          </a:p>
        </p:txBody>
      </p:sp>
      <p:sp>
        <p:nvSpPr>
          <p:cNvPr id="4" name="Text Placeholder 3"/>
          <p:cNvSpPr>
            <a:spLocks noGrp="1"/>
          </p:cNvSpPr>
          <p:nvPr>
            <p:ph type="body" sz="half" idx="2"/>
          </p:nvPr>
        </p:nvSpPr>
        <p:spPr>
          <a:xfrm>
            <a:off x="838200" y="1624012"/>
            <a:ext cx="6449704" cy="4670946"/>
          </a:xfrm>
        </p:spPr>
        <p:txBody>
          <a:bodyPr>
            <a:noAutofit/>
          </a:bodyPr>
          <a:lstStyle/>
          <a:p>
            <a:pPr algn="just">
              <a:lnSpc>
                <a:spcPct val="150000"/>
              </a:lnSpc>
            </a:pPr>
            <a:r>
              <a:rPr lang="en-US" sz="2800" b="1" dirty="0">
                <a:solidFill>
                  <a:srgbClr val="FF0000"/>
                </a:solidFill>
              </a:rPr>
              <a:t>Induced Absorption: </a:t>
            </a:r>
          </a:p>
          <a:p>
            <a:pPr algn="just">
              <a:lnSpc>
                <a:spcPct val="150000"/>
              </a:lnSpc>
            </a:pPr>
            <a:r>
              <a:rPr lang="en-US" sz="2400" dirty="0"/>
              <a:t>The probability of occurrence of this absorption from state 1 to state 2 is proportional to the energy density u(ν) of the radiation</a:t>
            </a:r>
          </a:p>
          <a:p>
            <a:pPr algn="just">
              <a:lnSpc>
                <a:spcPct val="150000"/>
              </a:lnSpc>
            </a:pPr>
            <a:endParaRPr lang="en-US" sz="2400" dirty="0"/>
          </a:p>
          <a:p>
            <a:pPr algn="just">
              <a:lnSpc>
                <a:spcPct val="150000"/>
              </a:lnSpc>
            </a:pPr>
            <a:r>
              <a:rPr lang="en-US" sz="2400" dirty="0"/>
              <a:t>Where       is proportionality constant and  is known as Einstein coefficient of absorption of radiation</a:t>
            </a:r>
            <a:endParaRPr lang="en-US" sz="2400" dirty="0">
              <a:solidFill>
                <a:srgbClr val="FF0000"/>
              </a:solidFill>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12</a:t>
            </a:fld>
            <a:endParaRPr lang="en-US"/>
          </a:p>
        </p:txBody>
      </p:sp>
      <p:sp>
        <p:nvSpPr>
          <p:cNvPr id="6" name="Rectangle 5"/>
          <p:cNvSpPr/>
          <p:nvPr/>
        </p:nvSpPr>
        <p:spPr>
          <a:xfrm>
            <a:off x="838200" y="196587"/>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3572" y="4291510"/>
            <a:ext cx="173355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0450" y="2579427"/>
            <a:ext cx="3943350" cy="3186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0362" y="5070070"/>
            <a:ext cx="466725"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itle 1"/>
          <p:cNvSpPr txBox="1">
            <a:spLocks/>
          </p:cNvSpPr>
          <p:nvPr/>
        </p:nvSpPr>
        <p:spPr>
          <a:xfrm>
            <a:off x="838200" y="196587"/>
            <a:ext cx="10296785" cy="1600200"/>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4900" b="1" dirty="0">
                <a:latin typeface="Casper Bold"/>
              </a:rPr>
              <a:t>VARIOUS ATOMIC INTERACTIONS RELATED TO LASER</a:t>
            </a:r>
            <a:br>
              <a:rPr lang="en-US" sz="4400" b="1" dirty="0">
                <a:latin typeface="Casper Bold"/>
                <a:ea typeface="Karla" pitchFamily="2" charset="0"/>
                <a:cs typeface="Karla" pitchFamily="2" charset="0"/>
              </a:rPr>
            </a:br>
            <a:endParaRPr lang="en-US" sz="4400" dirty="0"/>
          </a:p>
        </p:txBody>
      </p:sp>
    </p:spTree>
    <p:extLst>
      <p:ext uri="{BB962C8B-B14F-4D97-AF65-F5344CB8AC3E}">
        <p14:creationId xmlns:p14="http://schemas.microsoft.com/office/powerpoint/2010/main" val="2105579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10296785" cy="1600200"/>
          </a:xfrm>
        </p:spPr>
        <p:txBody>
          <a:bodyPr>
            <a:normAutofit/>
          </a:bodyPr>
          <a:lstStyle/>
          <a:p>
            <a:pPr algn="ctr"/>
            <a:br>
              <a:rPr lang="en-US" sz="4400" b="1" dirty="0">
                <a:latin typeface="Casper Bold"/>
                <a:ea typeface="Karla" pitchFamily="2" charset="0"/>
                <a:cs typeface="Karla" pitchFamily="2" charset="0"/>
              </a:rPr>
            </a:br>
            <a:endParaRPr lang="en-US" sz="4400" dirty="0"/>
          </a:p>
        </p:txBody>
      </p:sp>
      <p:sp>
        <p:nvSpPr>
          <p:cNvPr id="4" name="Text Placeholder 3"/>
          <p:cNvSpPr>
            <a:spLocks noGrp="1"/>
          </p:cNvSpPr>
          <p:nvPr>
            <p:ph type="body" sz="half" idx="2"/>
          </p:nvPr>
        </p:nvSpPr>
        <p:spPr>
          <a:xfrm>
            <a:off x="838200" y="1624012"/>
            <a:ext cx="6871196" cy="4670946"/>
          </a:xfrm>
        </p:spPr>
        <p:txBody>
          <a:bodyPr>
            <a:noAutofit/>
          </a:bodyPr>
          <a:lstStyle/>
          <a:p>
            <a:pPr algn="just"/>
            <a:r>
              <a:rPr lang="en-US" sz="2800" b="1" dirty="0">
                <a:solidFill>
                  <a:srgbClr val="FF0000"/>
                </a:solidFill>
              </a:rPr>
              <a:t>2. Spontaneous Emission:</a:t>
            </a:r>
          </a:p>
          <a:p>
            <a:pPr algn="just">
              <a:lnSpc>
                <a:spcPct val="150000"/>
              </a:lnSpc>
            </a:pPr>
            <a:r>
              <a:rPr lang="en-US" sz="2400" dirty="0"/>
              <a:t>An excited atom can stay in the higher energy state only for the time of 10-8 s. After this time, it returns back to the lower energy state by emitting a photon</a:t>
            </a:r>
          </a:p>
          <a:p>
            <a:pPr algn="just">
              <a:lnSpc>
                <a:spcPct val="150000"/>
              </a:lnSpc>
            </a:pPr>
            <a:r>
              <a:rPr lang="en-US" sz="2400" dirty="0"/>
              <a:t>of energy               </a:t>
            </a:r>
          </a:p>
          <a:p>
            <a:pPr algn="just">
              <a:lnSpc>
                <a:spcPct val="150000"/>
              </a:lnSpc>
            </a:pPr>
            <a:r>
              <a:rPr lang="en-US" sz="2400" dirty="0"/>
              <a:t>This emission is called ‘spontaneous emission’. During spontaneous emission, photons are emitted randomly and hence they will not be in phase with each other. Therefore, the beam of light emitted is incoherent.</a:t>
            </a:r>
            <a:endParaRPr lang="en-US" sz="2400" dirty="0">
              <a:solidFill>
                <a:srgbClr val="FF0000"/>
              </a:solidFill>
              <a:latin typeface="Casper"/>
              <a:cs typeface="Times New Roman"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13</a:t>
            </a:fld>
            <a:endParaRPr lang="en-US"/>
          </a:p>
        </p:txBody>
      </p:sp>
      <p:sp>
        <p:nvSpPr>
          <p:cNvPr id="6" name="Rectangle 5"/>
          <p:cNvSpPr/>
          <p:nvPr/>
        </p:nvSpPr>
        <p:spPr>
          <a:xfrm>
            <a:off x="838200" y="23753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918" y="4035972"/>
            <a:ext cx="1480285" cy="502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5803" y="2251526"/>
            <a:ext cx="2609850"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5803" y="4585648"/>
            <a:ext cx="2609850"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itle 1"/>
          <p:cNvSpPr txBox="1">
            <a:spLocks/>
          </p:cNvSpPr>
          <p:nvPr/>
        </p:nvSpPr>
        <p:spPr>
          <a:xfrm>
            <a:off x="838200" y="360361"/>
            <a:ext cx="10296785" cy="1600200"/>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4900" b="1" dirty="0">
                <a:latin typeface="Casper Bold"/>
              </a:rPr>
              <a:t>VARIOUS ATOMIC INTERACTIONS RELATED TO LASER</a:t>
            </a:r>
            <a:br>
              <a:rPr lang="en-US" sz="4400" b="1" dirty="0">
                <a:latin typeface="Casper Bold"/>
                <a:ea typeface="Karla" pitchFamily="2" charset="0"/>
                <a:cs typeface="Karla" pitchFamily="2" charset="0"/>
              </a:rPr>
            </a:br>
            <a:endParaRPr lang="en-US" sz="4400" dirty="0"/>
          </a:p>
        </p:txBody>
      </p:sp>
    </p:spTree>
    <p:extLst>
      <p:ext uri="{BB962C8B-B14F-4D97-AF65-F5344CB8AC3E}">
        <p14:creationId xmlns:p14="http://schemas.microsoft.com/office/powerpoint/2010/main" val="734488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38200" y="1624012"/>
            <a:ext cx="6449704" cy="5233988"/>
          </a:xfrm>
        </p:spPr>
        <p:txBody>
          <a:bodyPr>
            <a:noAutofit/>
          </a:bodyPr>
          <a:lstStyle/>
          <a:p>
            <a:pPr algn="just">
              <a:lnSpc>
                <a:spcPct val="150000"/>
              </a:lnSpc>
            </a:pPr>
            <a:r>
              <a:rPr lang="en-US" sz="2800" b="1" dirty="0">
                <a:solidFill>
                  <a:srgbClr val="FF0000"/>
                </a:solidFill>
              </a:rPr>
              <a:t>Spontaneous Emission: </a:t>
            </a:r>
            <a:r>
              <a:rPr lang="en-US" sz="2400" dirty="0"/>
              <a:t>The probability of occurrence of spontaneous emission transition from state 2 to state 1 depends only on the properties of states 2 and 1 and is given by</a:t>
            </a:r>
          </a:p>
          <a:p>
            <a:pPr algn="just">
              <a:lnSpc>
                <a:spcPct val="150000"/>
              </a:lnSpc>
            </a:pPr>
            <a:endParaRPr lang="en-US" sz="2400" dirty="0"/>
          </a:p>
          <a:p>
            <a:pPr algn="just">
              <a:lnSpc>
                <a:spcPct val="150000"/>
              </a:lnSpc>
            </a:pPr>
            <a:r>
              <a:rPr lang="en-US" sz="2400" dirty="0"/>
              <a:t>where proportionality constant    is known as Einstein coefficient of spontaneous emission of radiation.</a:t>
            </a:r>
            <a:endParaRPr lang="en-US" sz="2400" dirty="0">
              <a:solidFill>
                <a:srgbClr val="FF0000"/>
              </a:solidFill>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14</a:t>
            </a:fld>
            <a:endParaRPr lang="en-US"/>
          </a:p>
        </p:txBody>
      </p:sp>
      <p:sp>
        <p:nvSpPr>
          <p:cNvPr id="6" name="Rectangle 5"/>
          <p:cNvSpPr/>
          <p:nvPr/>
        </p:nvSpPr>
        <p:spPr>
          <a:xfrm>
            <a:off x="838200" y="210236"/>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1242" y="4114799"/>
            <a:ext cx="135255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9003" y="4885756"/>
            <a:ext cx="43815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1067" y="2115403"/>
            <a:ext cx="3609975" cy="3423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itle 1"/>
          <p:cNvSpPr>
            <a:spLocks noGrp="1"/>
          </p:cNvSpPr>
          <p:nvPr>
            <p:ph type="title"/>
          </p:nvPr>
        </p:nvSpPr>
        <p:spPr>
          <a:xfrm>
            <a:off x="838200" y="515203"/>
            <a:ext cx="10296525" cy="1600200"/>
          </a:xfrm>
        </p:spPr>
        <p:txBody>
          <a:bodyPr>
            <a:normAutofit fontScale="90000"/>
          </a:bodyPr>
          <a:lstStyle/>
          <a:p>
            <a:pPr algn="ctr"/>
            <a:r>
              <a:rPr lang="en-US" sz="4900" b="1" dirty="0">
                <a:latin typeface="Casper Bold"/>
              </a:rPr>
              <a:t>VARIOUS ATOMIC INTERACTIONS RELATED TO LASER</a:t>
            </a:r>
            <a:br>
              <a:rPr lang="en-US" sz="4400" b="1" dirty="0">
                <a:latin typeface="Casper Bold"/>
                <a:ea typeface="Karla" pitchFamily="2" charset="0"/>
                <a:cs typeface="Karla" pitchFamily="2" charset="0"/>
              </a:rPr>
            </a:br>
            <a:endParaRPr lang="en-US" sz="4400" dirty="0"/>
          </a:p>
        </p:txBody>
      </p:sp>
    </p:spTree>
    <p:extLst>
      <p:ext uri="{BB962C8B-B14F-4D97-AF65-F5344CB8AC3E}">
        <p14:creationId xmlns:p14="http://schemas.microsoft.com/office/powerpoint/2010/main" val="853858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38200" y="1624012"/>
            <a:ext cx="6871196" cy="4670946"/>
          </a:xfrm>
        </p:spPr>
        <p:txBody>
          <a:bodyPr>
            <a:noAutofit/>
          </a:bodyPr>
          <a:lstStyle/>
          <a:p>
            <a:r>
              <a:rPr lang="en-US" sz="2800" b="1" dirty="0">
                <a:solidFill>
                  <a:srgbClr val="FF0000"/>
                </a:solidFill>
              </a:rPr>
              <a:t>3. Stimulated Emission</a:t>
            </a:r>
          </a:p>
          <a:p>
            <a:pPr algn="just">
              <a:lnSpc>
                <a:spcPct val="150000"/>
              </a:lnSpc>
            </a:pPr>
            <a:r>
              <a:rPr lang="en-US" sz="2400" dirty="0"/>
              <a:t>When photon of suitable frequency (energy) is made to fall on an excited atom in the higher energy state, the atom falls back to the ground state by emitting a photon of energy which is in phase with the stimulating (incident) photon.</a:t>
            </a:r>
          </a:p>
          <a:p>
            <a:pPr algn="just">
              <a:lnSpc>
                <a:spcPct val="150000"/>
              </a:lnSpc>
            </a:pPr>
            <a:r>
              <a:rPr lang="en-US" sz="2400" dirty="0"/>
              <a:t>Thus, it results in the appearance of one additional photon. This process is called ‘stimulated or induced emission’.</a:t>
            </a:r>
            <a:endParaRPr lang="en-US" sz="2400" dirty="0">
              <a:solidFill>
                <a:srgbClr val="FF0000"/>
              </a:solidFill>
              <a:latin typeface="Casper"/>
              <a:cs typeface="Times New Roman"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15</a:t>
            </a:fld>
            <a:endParaRPr lang="en-US"/>
          </a:p>
        </p:txBody>
      </p:sp>
      <p:sp>
        <p:nvSpPr>
          <p:cNvPr id="6" name="Rectangle 5"/>
          <p:cNvSpPr/>
          <p:nvPr/>
        </p:nvSpPr>
        <p:spPr>
          <a:xfrm>
            <a:off x="838200" y="169293"/>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1139" y="2599117"/>
            <a:ext cx="330517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7813" y="4643722"/>
            <a:ext cx="3171825"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Oval 2"/>
          <p:cNvSpPr/>
          <p:nvPr/>
        </p:nvSpPr>
        <p:spPr>
          <a:xfrm>
            <a:off x="9730853" y="4490113"/>
            <a:ext cx="1978925" cy="1473959"/>
          </a:xfrm>
          <a:prstGeom prst="ellipse">
            <a:avLst/>
          </a:prstGeom>
          <a:noFill/>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p:cNvSpPr>
            <a:spLocks noGrp="1"/>
          </p:cNvSpPr>
          <p:nvPr>
            <p:ph type="title"/>
          </p:nvPr>
        </p:nvSpPr>
        <p:spPr>
          <a:xfrm>
            <a:off x="839788" y="457200"/>
            <a:ext cx="10296525" cy="1600200"/>
          </a:xfrm>
        </p:spPr>
        <p:txBody>
          <a:bodyPr>
            <a:normAutofit fontScale="90000"/>
          </a:bodyPr>
          <a:lstStyle/>
          <a:p>
            <a:pPr algn="ctr"/>
            <a:r>
              <a:rPr lang="en-US" sz="4900" b="1" dirty="0">
                <a:latin typeface="Casper Bold"/>
              </a:rPr>
              <a:t>VARIOUS ATOMIC INTERACTIONS RELATED TO LASER</a:t>
            </a:r>
            <a:br>
              <a:rPr lang="en-US" sz="4400" b="1" dirty="0">
                <a:latin typeface="Casper Bold"/>
                <a:ea typeface="Karla" pitchFamily="2" charset="0"/>
                <a:cs typeface="Karla" pitchFamily="2" charset="0"/>
              </a:rPr>
            </a:br>
            <a:endParaRPr lang="en-US" sz="4400" dirty="0"/>
          </a:p>
        </p:txBody>
      </p:sp>
    </p:spTree>
    <p:extLst>
      <p:ext uri="{BB962C8B-B14F-4D97-AF65-F5344CB8AC3E}">
        <p14:creationId xmlns:p14="http://schemas.microsoft.com/office/powerpoint/2010/main" val="177574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38200" y="1624012"/>
            <a:ext cx="6449704" cy="5233988"/>
          </a:xfrm>
        </p:spPr>
        <p:txBody>
          <a:bodyPr>
            <a:noAutofit/>
          </a:bodyPr>
          <a:lstStyle/>
          <a:p>
            <a:pPr algn="just">
              <a:lnSpc>
                <a:spcPct val="150000"/>
              </a:lnSpc>
            </a:pPr>
            <a:r>
              <a:rPr lang="en-US" sz="2800" b="1" dirty="0">
                <a:solidFill>
                  <a:srgbClr val="FF0000"/>
                </a:solidFill>
              </a:rPr>
              <a:t>Stimulated Emission: </a:t>
            </a:r>
            <a:r>
              <a:rPr lang="en-US" sz="2400" dirty="0"/>
              <a:t>The probability of occurrence of stimulated emission transition from the upper level 2 to the lower level 1 is proportional to the energy density u(ν) of the radiation and is expressed as</a:t>
            </a:r>
          </a:p>
          <a:p>
            <a:pPr algn="just">
              <a:lnSpc>
                <a:spcPct val="150000"/>
              </a:lnSpc>
            </a:pPr>
            <a:endParaRPr lang="en-US" sz="2400" dirty="0"/>
          </a:p>
          <a:p>
            <a:pPr algn="just">
              <a:lnSpc>
                <a:spcPct val="150000"/>
              </a:lnSpc>
            </a:pPr>
            <a:r>
              <a:rPr lang="en-US" sz="2400" dirty="0"/>
              <a:t>where proportionality constant    is known as Einstein coefficient of stimulated emission of radiation.</a:t>
            </a:r>
            <a:endParaRPr lang="en-US" sz="2400" dirty="0">
              <a:solidFill>
                <a:srgbClr val="FF0000"/>
              </a:solidFill>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16</a:t>
            </a:fld>
            <a:endParaRPr lang="en-US"/>
          </a:p>
        </p:txBody>
      </p:sp>
      <p:sp>
        <p:nvSpPr>
          <p:cNvPr id="6" name="Rectangle 5"/>
          <p:cNvSpPr/>
          <p:nvPr/>
        </p:nvSpPr>
        <p:spPr>
          <a:xfrm>
            <a:off x="838200" y="196588"/>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2122" y="2156347"/>
            <a:ext cx="3810000" cy="358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9913" y="4711179"/>
            <a:ext cx="1990725"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0638" y="5440552"/>
            <a:ext cx="4572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itle 1"/>
          <p:cNvSpPr>
            <a:spLocks noGrp="1"/>
          </p:cNvSpPr>
          <p:nvPr>
            <p:ph type="title"/>
          </p:nvPr>
        </p:nvSpPr>
        <p:spPr>
          <a:xfrm>
            <a:off x="839788" y="457200"/>
            <a:ext cx="10296525" cy="1600200"/>
          </a:xfrm>
        </p:spPr>
        <p:txBody>
          <a:bodyPr>
            <a:normAutofit fontScale="90000"/>
          </a:bodyPr>
          <a:lstStyle/>
          <a:p>
            <a:pPr algn="ctr"/>
            <a:r>
              <a:rPr lang="en-US" sz="4900" b="1" dirty="0">
                <a:latin typeface="Casper Bold"/>
              </a:rPr>
              <a:t>VARIOUS ATOMIC INTERACTIONS RELATED TO LASER</a:t>
            </a:r>
            <a:br>
              <a:rPr lang="en-US" sz="4400" b="1" dirty="0">
                <a:latin typeface="Casper Bold"/>
                <a:ea typeface="Karla" pitchFamily="2" charset="0"/>
                <a:cs typeface="Karla" pitchFamily="2" charset="0"/>
              </a:rPr>
            </a:br>
            <a:endParaRPr lang="en-US" sz="4400" dirty="0"/>
          </a:p>
        </p:txBody>
      </p:sp>
    </p:spTree>
    <p:extLst>
      <p:ext uri="{BB962C8B-B14F-4D97-AF65-F5344CB8AC3E}">
        <p14:creationId xmlns:p14="http://schemas.microsoft.com/office/powerpoint/2010/main" val="3191218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38200" y="1624012"/>
            <a:ext cx="4490546" cy="5233988"/>
          </a:xfrm>
        </p:spPr>
        <p:txBody>
          <a:bodyPr>
            <a:noAutofit/>
          </a:bodyPr>
          <a:lstStyle/>
          <a:p>
            <a:pPr algn="just">
              <a:lnSpc>
                <a:spcPct val="150000"/>
              </a:lnSpc>
            </a:pPr>
            <a:r>
              <a:rPr lang="en-US" sz="2400" b="1" dirty="0">
                <a:solidFill>
                  <a:srgbClr val="FF0000"/>
                </a:solidFill>
              </a:rPr>
              <a:t>So the three processes can be summarized through this diagram</a:t>
            </a:r>
            <a:r>
              <a:rPr lang="en-US" sz="2400" b="1" dirty="0">
                <a:solidFill>
                  <a:srgbClr val="0070C0"/>
                </a:solidFill>
              </a:rPr>
              <a:t>………………</a:t>
            </a:r>
          </a:p>
          <a:p>
            <a:pPr algn="just">
              <a:lnSpc>
                <a:spcPct val="150000"/>
              </a:lnSpc>
            </a:pPr>
            <a:r>
              <a:rPr lang="en-US" sz="2400" dirty="0"/>
              <a:t>Total Probability of emission of transition from upper level 2 to the lower level 1 is given by</a:t>
            </a:r>
          </a:p>
          <a:p>
            <a:pPr algn="just">
              <a:lnSpc>
                <a:spcPct val="150000"/>
              </a:lnSpc>
            </a:pPr>
            <a:r>
              <a:rPr lang="en-US" sz="2400" dirty="0">
                <a:solidFill>
                  <a:srgbClr val="FF0000"/>
                </a:solidFill>
              </a:rPr>
              <a:t> </a:t>
            </a:r>
          </a:p>
          <a:p>
            <a:pPr algn="just">
              <a:lnSpc>
                <a:spcPct val="150000"/>
              </a:lnSpc>
            </a:pPr>
            <a:r>
              <a:rPr lang="en-US" sz="2400" dirty="0"/>
              <a:t>Or</a:t>
            </a:r>
            <a:r>
              <a:rPr lang="en-US" sz="2400" dirty="0">
                <a:solidFill>
                  <a:srgbClr val="FF0000"/>
                </a:solidFill>
              </a:rPr>
              <a:t> </a:t>
            </a:r>
          </a:p>
          <a:p>
            <a:pPr algn="just">
              <a:lnSpc>
                <a:spcPct val="150000"/>
              </a:lnSpc>
            </a:pPr>
            <a:r>
              <a:rPr lang="en-US" sz="2400" dirty="0"/>
              <a:t>  </a:t>
            </a:r>
          </a:p>
          <a:p>
            <a:endParaRPr lang="en-US" sz="2400" dirty="0"/>
          </a:p>
        </p:txBody>
      </p:sp>
      <p:sp>
        <p:nvSpPr>
          <p:cNvPr id="5" name="Slide Number Placeholder 4"/>
          <p:cNvSpPr>
            <a:spLocks noGrp="1"/>
          </p:cNvSpPr>
          <p:nvPr>
            <p:ph type="sldNum" sz="quarter" idx="12"/>
          </p:nvPr>
        </p:nvSpPr>
        <p:spPr/>
        <p:txBody>
          <a:bodyPr/>
          <a:lstStyle/>
          <a:p>
            <a:fld id="{BDCDBBEF-AA6C-4BA6-85B2-A17D7F280E38}" type="slidenum">
              <a:rPr lang="en-US" smtClean="0"/>
              <a:t>17</a:t>
            </a:fld>
            <a:endParaRPr lang="en-US"/>
          </a:p>
        </p:txBody>
      </p:sp>
      <p:sp>
        <p:nvSpPr>
          <p:cNvPr id="6" name="Rectangle 5"/>
          <p:cNvSpPr/>
          <p:nvPr/>
        </p:nvSpPr>
        <p:spPr>
          <a:xfrm>
            <a:off x="838200" y="196588"/>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p:cNvSpPr>
            <a:spLocks noGrp="1"/>
          </p:cNvSpPr>
          <p:nvPr>
            <p:ph type="title"/>
          </p:nvPr>
        </p:nvSpPr>
        <p:spPr>
          <a:xfrm>
            <a:off x="838200" y="230529"/>
            <a:ext cx="10296525" cy="1229710"/>
          </a:xfrm>
        </p:spPr>
        <p:txBody>
          <a:bodyPr>
            <a:normAutofit fontScale="90000"/>
          </a:bodyPr>
          <a:lstStyle/>
          <a:p>
            <a:pPr algn="ctr"/>
            <a:r>
              <a:rPr lang="en-US" sz="4900" b="1" dirty="0">
                <a:latin typeface="Casper Bold"/>
              </a:rPr>
              <a:t>VARIOUS ATOMIC INTERACTIONS RELATED TO LASER</a:t>
            </a:r>
            <a:endParaRPr lang="en-US" sz="4400"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100" y="5175631"/>
            <a:ext cx="2466975"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100" y="6002883"/>
            <a:ext cx="2809875"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91" name="Picture 7" descr="Spectroscopy :: Atomic Physics :: Rudi Winter's web spa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6164" y="2106280"/>
            <a:ext cx="6096000" cy="332422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6053958" y="6428096"/>
            <a:ext cx="3531476" cy="369332"/>
          </a:xfrm>
          <a:prstGeom prst="rect">
            <a:avLst/>
          </a:prstGeom>
          <a:noFill/>
        </p:spPr>
        <p:txBody>
          <a:bodyPr wrap="square" rtlCol="0">
            <a:spAutoFit/>
          </a:bodyPr>
          <a:lstStyle/>
          <a:p>
            <a:r>
              <a:rPr lang="en-US" dirty="0"/>
              <a:t>Fig. 9 Three processes [8]</a:t>
            </a:r>
          </a:p>
        </p:txBody>
      </p:sp>
    </p:spTree>
    <p:extLst>
      <p:ext uri="{BB962C8B-B14F-4D97-AF65-F5344CB8AC3E}">
        <p14:creationId xmlns:p14="http://schemas.microsoft.com/office/powerpoint/2010/main" val="3714845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18</a:t>
            </a:fld>
            <a:endParaRPr lang="en-US" dirty="0"/>
          </a:p>
        </p:txBody>
      </p:sp>
      <p:sp>
        <p:nvSpPr>
          <p:cNvPr id="8" name="Title 7"/>
          <p:cNvSpPr txBox="1">
            <a:spLocks noGrp="1" noChangeArrowheads="1"/>
          </p:cNvSpPr>
          <p:nvPr>
            <p:ph type="title"/>
          </p:nvPr>
        </p:nvSpPr>
        <p:spPr bwMode="auto">
          <a:xfrm>
            <a:off x="449262" y="2676262"/>
            <a:ext cx="4456567"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763359" y="607465"/>
            <a:ext cx="5109989" cy="769441"/>
          </a:xfrm>
          <a:prstGeom prst="rect">
            <a:avLst/>
          </a:prstGeom>
        </p:spPr>
        <p:txBody>
          <a:bodyPr wrap="none">
            <a:spAutoFit/>
          </a:bodyPr>
          <a:lstStyle/>
          <a:p>
            <a:r>
              <a:rPr lang="en-US" sz="4400" b="1" dirty="0">
                <a:latin typeface="Casper Bold"/>
              </a:rPr>
              <a:t>            SUMMARY </a:t>
            </a:r>
            <a:endParaRPr lang="en-US" sz="4400" dirty="0">
              <a:latin typeface="Casper Bold"/>
            </a:endParaRPr>
          </a:p>
        </p:txBody>
      </p:sp>
      <p:sp>
        <p:nvSpPr>
          <p:cNvPr id="11" name="Rectangle 10"/>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838200" y="1779687"/>
            <a:ext cx="10530073" cy="3416320"/>
          </a:xfrm>
          <a:prstGeom prst="rect">
            <a:avLst/>
          </a:prstGeom>
        </p:spPr>
        <p:txBody>
          <a:bodyPr wrap="square">
            <a:spAutoFit/>
          </a:bodyPr>
          <a:lstStyle/>
          <a:p>
            <a:pPr marL="457200" indent="-457200" algn="just">
              <a:lnSpc>
                <a:spcPct val="150000"/>
              </a:lnSpc>
              <a:buFont typeface="Wingdings" pitchFamily="2" charset="2"/>
              <a:buChar char="v"/>
            </a:pPr>
            <a:r>
              <a:rPr lang="en-US" sz="2400" dirty="0">
                <a:solidFill>
                  <a:srgbClr val="FF0000"/>
                </a:solidFill>
              </a:rPr>
              <a:t>Introduction to LASERS</a:t>
            </a:r>
          </a:p>
          <a:p>
            <a:pPr marL="457200" indent="-457200" algn="just">
              <a:lnSpc>
                <a:spcPct val="150000"/>
              </a:lnSpc>
              <a:buFont typeface="Wingdings" pitchFamily="2" charset="2"/>
              <a:buChar char="v"/>
            </a:pPr>
            <a:r>
              <a:rPr lang="en-US" sz="2400" dirty="0">
                <a:solidFill>
                  <a:srgbClr val="FF0000"/>
                </a:solidFill>
              </a:rPr>
              <a:t>Properties of Laser</a:t>
            </a:r>
          </a:p>
          <a:p>
            <a:pPr marL="457200" indent="-457200" algn="just">
              <a:lnSpc>
                <a:spcPct val="150000"/>
              </a:lnSpc>
              <a:buFont typeface="Wingdings" pitchFamily="2" charset="2"/>
              <a:buChar char="v"/>
            </a:pPr>
            <a:r>
              <a:rPr lang="en-US" sz="2400" dirty="0">
                <a:solidFill>
                  <a:srgbClr val="00B0F0"/>
                </a:solidFill>
              </a:rPr>
              <a:t>Quantum Processes</a:t>
            </a:r>
          </a:p>
          <a:p>
            <a:pPr marL="457200" indent="-457200" algn="just">
              <a:lnSpc>
                <a:spcPct val="150000"/>
              </a:lnSpc>
              <a:buFont typeface="Wingdings" pitchFamily="2" charset="2"/>
              <a:buChar char="v"/>
            </a:pPr>
            <a:r>
              <a:rPr lang="en-US" sz="2400" dirty="0">
                <a:solidFill>
                  <a:srgbClr val="00B0F0"/>
                </a:solidFill>
              </a:rPr>
              <a:t>Absorption</a:t>
            </a:r>
          </a:p>
          <a:p>
            <a:pPr marL="457200" indent="-457200" algn="just">
              <a:lnSpc>
                <a:spcPct val="150000"/>
              </a:lnSpc>
              <a:buFont typeface="Wingdings" pitchFamily="2" charset="2"/>
              <a:buChar char="v"/>
            </a:pPr>
            <a:r>
              <a:rPr lang="en-US" sz="2400" dirty="0">
                <a:solidFill>
                  <a:srgbClr val="00B0F0"/>
                </a:solidFill>
              </a:rPr>
              <a:t>Spontaneous emission</a:t>
            </a:r>
          </a:p>
          <a:p>
            <a:pPr marL="457200" indent="-457200" algn="just">
              <a:lnSpc>
                <a:spcPct val="150000"/>
              </a:lnSpc>
              <a:buFont typeface="Wingdings" pitchFamily="2" charset="2"/>
              <a:buChar char="v"/>
            </a:pPr>
            <a:r>
              <a:rPr lang="en-US" sz="2400" dirty="0">
                <a:solidFill>
                  <a:srgbClr val="00B0F0"/>
                </a:solidFill>
              </a:rPr>
              <a:t>Stimulated Emission</a:t>
            </a:r>
          </a:p>
        </p:txBody>
      </p:sp>
    </p:spTree>
    <p:extLst>
      <p:ext uri="{BB962C8B-B14F-4D97-AF65-F5344CB8AC3E}">
        <p14:creationId xmlns:p14="http://schemas.microsoft.com/office/powerpoint/2010/main" val="2081838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19</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329707" y="607465"/>
            <a:ext cx="3203858" cy="769441"/>
          </a:xfrm>
          <a:prstGeom prst="rect">
            <a:avLst/>
          </a:prstGeom>
        </p:spPr>
        <p:txBody>
          <a:bodyPr wrap="square">
            <a:spAutoFit/>
          </a:bodyPr>
          <a:lstStyle/>
          <a:p>
            <a:r>
              <a:rPr lang="en-US" sz="4400" b="1" dirty="0">
                <a:latin typeface="Casper Bold"/>
                <a:cs typeface="Times New Roman" pitchFamily="18" charset="0"/>
              </a:rPr>
              <a:t>FAQS</a:t>
            </a:r>
            <a:endParaRPr lang="en-US" sz="4400" dirty="0">
              <a:latin typeface="Casper Bold"/>
            </a:endParaRPr>
          </a:p>
        </p:txBody>
      </p:sp>
      <p:sp>
        <p:nvSpPr>
          <p:cNvPr id="11" name="Rectangle 10"/>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838200" y="2041309"/>
            <a:ext cx="10515600" cy="2585323"/>
          </a:xfrm>
          <a:prstGeom prst="rect">
            <a:avLst/>
          </a:prstGeom>
        </p:spPr>
        <p:txBody>
          <a:bodyPr wrap="square">
            <a:spAutoFit/>
          </a:bodyPr>
          <a:lstStyle/>
          <a:p>
            <a:pPr marL="457200" indent="-457200">
              <a:lnSpc>
                <a:spcPct val="150000"/>
              </a:lnSpc>
              <a:buFont typeface="Wingdings" pitchFamily="2" charset="2"/>
              <a:buChar char="v"/>
            </a:pPr>
            <a:r>
              <a:rPr lang="en-US" sz="2400" b="1" dirty="0"/>
              <a:t>Is the brightness of the laser light a good indicator of its power?</a:t>
            </a:r>
          </a:p>
          <a:p>
            <a:pPr marL="457200" indent="-457200">
              <a:lnSpc>
                <a:spcPct val="150000"/>
              </a:lnSpc>
              <a:buFont typeface="Wingdings" pitchFamily="2" charset="2"/>
              <a:buChar char="v"/>
            </a:pPr>
            <a:r>
              <a:rPr lang="en-US" sz="2400" b="1" dirty="0"/>
              <a:t>Why are lasers uniquely hazardous?</a:t>
            </a:r>
          </a:p>
          <a:p>
            <a:pPr marL="457200" indent="-457200">
              <a:lnSpc>
                <a:spcPct val="150000"/>
              </a:lnSpc>
              <a:buFont typeface="Wingdings" pitchFamily="2" charset="2"/>
              <a:buChar char="v"/>
            </a:pPr>
            <a:r>
              <a:rPr lang="en-US" sz="2400" b="1" dirty="0"/>
              <a:t>List advantages and disadvantages of Laser.</a:t>
            </a:r>
          </a:p>
          <a:p>
            <a:pPr marL="457200" indent="-457200">
              <a:lnSpc>
                <a:spcPct val="150000"/>
              </a:lnSpc>
              <a:buFont typeface="Wingdings" pitchFamily="2" charset="2"/>
              <a:buChar char="v"/>
            </a:pPr>
            <a:r>
              <a:rPr lang="en-US" sz="2400" b="1" dirty="0"/>
              <a:t>How LED is different from diode Laser?</a:t>
            </a:r>
          </a:p>
          <a:p>
            <a:pPr>
              <a:buFont typeface="Wingdings" pitchFamily="2" charset="2"/>
              <a:buChar char="Ø"/>
            </a:pPr>
            <a:endParaRPr lang="en-US" b="1" dirty="0"/>
          </a:p>
        </p:txBody>
      </p:sp>
    </p:spTree>
    <p:extLst>
      <p:ext uri="{BB962C8B-B14F-4D97-AF65-F5344CB8AC3E}">
        <p14:creationId xmlns:p14="http://schemas.microsoft.com/office/powerpoint/2010/main" val="2718409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2800" b="1" dirty="0"/>
              <a:t> </a:t>
            </a:r>
            <a:r>
              <a:rPr lang="en-US" sz="2800" dirty="0"/>
              <a:t> </a:t>
            </a:r>
            <a:endParaRPr lang="en-US" dirty="0"/>
          </a:p>
        </p:txBody>
      </p:sp>
      <p:sp>
        <p:nvSpPr>
          <p:cNvPr id="3" name="Content Placeholder 2"/>
          <p:cNvSpPr>
            <a:spLocks noGrp="1"/>
          </p:cNvSpPr>
          <p:nvPr>
            <p:ph idx="1"/>
          </p:nvPr>
        </p:nvSpPr>
        <p:spPr>
          <a:xfrm>
            <a:off x="838200" y="1825625"/>
            <a:ext cx="10515600" cy="5032376"/>
          </a:xfrm>
        </p:spPr>
        <p:txBody>
          <a:bodyPr>
            <a:normAutofit/>
          </a:bodyPr>
          <a:lstStyle/>
          <a:p>
            <a:pPr marL="0" indent="0">
              <a:buNone/>
            </a:pPr>
            <a:r>
              <a:rPr lang="en-US" sz="1800" dirty="0"/>
              <a:t>[1] http://news.mit.edu/2018/laser-attract-alien-astronomers-study-1105</a:t>
            </a:r>
          </a:p>
          <a:p>
            <a:pPr marL="0" indent="0">
              <a:buNone/>
            </a:pPr>
            <a:r>
              <a:rPr lang="en-US" sz="1800" dirty="0"/>
              <a:t>[2] https://www.gutenberg.org/files/36/36-h/36-h.htm</a:t>
            </a:r>
          </a:p>
          <a:p>
            <a:pPr marL="0" indent="0">
              <a:buNone/>
            </a:pPr>
            <a:r>
              <a:rPr lang="en-US" sz="1800" dirty="0"/>
              <a:t>[3] https://www.youtube.com/watch?v=_yLfLDHBUak</a:t>
            </a:r>
          </a:p>
          <a:p>
            <a:pPr marL="0" indent="0">
              <a:buNone/>
            </a:pPr>
            <a:r>
              <a:rPr lang="en-US" sz="1800" dirty="0"/>
              <a:t>[4] stockphoto.com/in/vector/abstract-red-laser-beam-transparent-isolated-on-black-background-vector-illustration-gm1048453908-280444377</a:t>
            </a:r>
          </a:p>
          <a:p>
            <a:pPr marL="0" indent="0">
              <a:buNone/>
            </a:pPr>
            <a:r>
              <a:rPr lang="en-US" sz="1800" dirty="0"/>
              <a:t>[5] https://www.physics-and-radio-electronics.com/blog/absorption-of-radiation-spontaneous-emission-and-stimulated-emission/</a:t>
            </a:r>
          </a:p>
          <a:p>
            <a:pPr marL="0" indent="0">
              <a:buNone/>
            </a:pPr>
            <a:r>
              <a:rPr lang="en-US" sz="1800" dirty="0"/>
              <a:t>[6] https://www.convergentlaser.com/laser-safety</a:t>
            </a:r>
          </a:p>
          <a:p>
            <a:pPr marL="0" indent="0">
              <a:buNone/>
            </a:pPr>
            <a:r>
              <a:rPr lang="en-US" sz="1800" dirty="0"/>
              <a:t>[7] https://skullsinthestars.com/2008/09/03/optics-basics-coherence/</a:t>
            </a:r>
          </a:p>
          <a:p>
            <a:pPr marL="0" indent="0">
              <a:buNone/>
            </a:pPr>
            <a:r>
              <a:rPr lang="en-US" sz="1800" dirty="0"/>
              <a:t>[8] https://users.aber.ac.uk/ruw/teach/327/spec.php</a:t>
            </a:r>
          </a:p>
          <a:p>
            <a:pPr marL="0" indent="0">
              <a:buNone/>
            </a:pPr>
            <a:r>
              <a:rPr lang="en-IN" sz="1800" dirty="0"/>
              <a:t>[9]  Laud B.B., Laser and Non -Linear Optics, Edition 1</a:t>
            </a:r>
            <a:r>
              <a:rPr lang="en-IN" sz="1800" baseline="30000" dirty="0"/>
              <a:t>st</a:t>
            </a:r>
            <a:r>
              <a:rPr lang="en-IN" sz="1800" dirty="0"/>
              <a:t>,  (1991), Wiley Eastern Ltd.</a:t>
            </a:r>
            <a:endParaRPr lang="en-US" sz="1800" dirty="0"/>
          </a:p>
          <a:p>
            <a:pPr marL="0" indent="0">
              <a:buNone/>
            </a:pPr>
            <a:r>
              <a:rPr lang="en-IN" sz="1800" dirty="0"/>
              <a:t>[10] </a:t>
            </a:r>
            <a:r>
              <a:rPr lang="en-IN" sz="1800" dirty="0" err="1"/>
              <a:t>Beiser</a:t>
            </a:r>
            <a:r>
              <a:rPr lang="en-IN" sz="1800" dirty="0"/>
              <a:t> A, Concepts of Modern </a:t>
            </a:r>
            <a:r>
              <a:rPr lang="en-IN" sz="1800" dirty="0" err="1"/>
              <a:t>Physics,Edition</a:t>
            </a:r>
            <a:r>
              <a:rPr lang="en-IN" sz="1800" dirty="0"/>
              <a:t> 6</a:t>
            </a:r>
            <a:r>
              <a:rPr lang="en-IN" sz="1800" baseline="30000" dirty="0"/>
              <a:t>th</a:t>
            </a:r>
            <a:r>
              <a:rPr lang="en-IN" sz="1800" dirty="0"/>
              <a:t>, (2003),Tata </a:t>
            </a:r>
            <a:r>
              <a:rPr lang="en-IN" sz="1800" dirty="0" err="1"/>
              <a:t>Mcgraw</a:t>
            </a:r>
            <a:r>
              <a:rPr lang="en-IN" sz="1800" dirty="0"/>
              <a:t> Hill, Noida.</a:t>
            </a:r>
            <a:endParaRPr lang="en-US" sz="1800" dirty="0"/>
          </a:p>
          <a:p>
            <a:pPr marL="0" indent="0">
              <a:buNone/>
            </a:pPr>
            <a:r>
              <a:rPr lang="en-IN" sz="1800" dirty="0"/>
              <a:t>[11] Bhattacharya D. K., </a:t>
            </a:r>
            <a:r>
              <a:rPr lang="en-IN" sz="1800" dirty="0" err="1"/>
              <a:t>Tandon</a:t>
            </a:r>
            <a:r>
              <a:rPr lang="en-IN" sz="1800" dirty="0"/>
              <a:t> </a:t>
            </a:r>
            <a:r>
              <a:rPr lang="en-IN" sz="1800" dirty="0" err="1"/>
              <a:t>Poonam</a:t>
            </a:r>
            <a:r>
              <a:rPr lang="en-IN" sz="1800" dirty="0"/>
              <a:t>, Engineering </a:t>
            </a:r>
            <a:r>
              <a:rPr lang="en-IN" sz="1800" dirty="0" err="1"/>
              <a:t>Physics.,Edition</a:t>
            </a:r>
            <a:r>
              <a:rPr lang="en-IN" sz="1800" dirty="0"/>
              <a:t> 1</a:t>
            </a:r>
            <a:r>
              <a:rPr lang="en-IN" sz="1800" baseline="30000" dirty="0"/>
              <a:t>st </a:t>
            </a:r>
            <a:r>
              <a:rPr lang="en-IN" sz="1800" dirty="0"/>
              <a:t>, (2015), Oxford.      </a:t>
            </a:r>
          </a:p>
          <a:p>
            <a:pPr marL="0" indent="0">
              <a:buNone/>
            </a:pPr>
            <a:r>
              <a:rPr lang="en-IN" sz="1800" dirty="0"/>
              <a:t>[12] </a:t>
            </a:r>
            <a:r>
              <a:rPr lang="en-IN" sz="1800" dirty="0" err="1"/>
              <a:t>Ghatak</a:t>
            </a:r>
            <a:r>
              <a:rPr lang="en-IN" sz="1800" dirty="0"/>
              <a:t> A. (2012) Optics, McGraw Hill Education. ISBN: 978-1259004346.      </a:t>
            </a:r>
            <a:endParaRPr lang="en-US" sz="1800" dirty="0"/>
          </a:p>
          <a:p>
            <a:pPr marL="0" indent="0">
              <a:buNone/>
            </a:pPr>
            <a:endParaRPr lang="en-US" sz="1600" dirty="0">
              <a:cs typeface="Times New Roman" pitchFamily="18" charset="0"/>
            </a:endParaRPr>
          </a:p>
          <a:p>
            <a:pPr>
              <a:buFont typeface="Wingdings" pitchFamily="2" charset="2"/>
              <a:buChar char="q"/>
            </a:pPr>
            <a:endParaRPr lang="en-US" sz="1600" dirty="0">
              <a:latin typeface="Casper"/>
            </a:endParaRPr>
          </a:p>
          <a:p>
            <a:pPr>
              <a:buFont typeface="Wingdings" pitchFamily="2" charset="2"/>
              <a:buChar char="q"/>
            </a:pPr>
            <a:endParaRPr lang="en-US" sz="1600" dirty="0">
              <a:latin typeface="Casper"/>
            </a:endParaRPr>
          </a:p>
          <a:p>
            <a:pPr>
              <a:buFont typeface="Wingdings" pitchFamily="2" charset="2"/>
              <a:buChar char="q"/>
            </a:pPr>
            <a:endParaRPr lang="en-IN" sz="1600" dirty="0">
              <a:latin typeface="Casper"/>
            </a:endParaRPr>
          </a:p>
          <a:p>
            <a:pPr>
              <a:buFont typeface="Wingdings" pitchFamily="2" charset="2"/>
              <a:buChar char="q"/>
            </a:pPr>
            <a:endParaRPr lang="en-US" sz="1600" dirty="0">
              <a:latin typeface="Casper"/>
              <a:cs typeface="Times New Roman" pitchFamily="18" charset="0"/>
            </a:endParaRPr>
          </a:p>
          <a:p>
            <a:pPr>
              <a:buFont typeface="Wingdings" pitchFamily="2" charset="2"/>
              <a:buChar char="q"/>
            </a:pPr>
            <a:endParaRPr lang="en-US" sz="1600" dirty="0">
              <a:latin typeface="Casper"/>
              <a:cs typeface="Times New Roman" pitchFamily="18" charset="0"/>
            </a:endParaRPr>
          </a:p>
          <a:p>
            <a:pPr>
              <a:buFont typeface="Wingdings" pitchFamily="2" charset="2"/>
              <a:buChar char="q"/>
            </a:pPr>
            <a:endParaRPr lang="en-US" sz="1600" dirty="0">
              <a:latin typeface="Casper"/>
              <a:cs typeface="Times New Roman" pitchFamily="18" charset="0"/>
            </a:endParaRPr>
          </a:p>
          <a:p>
            <a:pPr>
              <a:buFont typeface="Wingdings" pitchFamily="2" charset="2"/>
              <a:buChar char="q"/>
            </a:pPr>
            <a:endParaRPr lang="en-US" sz="1600" dirty="0">
              <a:latin typeface="Casper"/>
            </a:endParaRPr>
          </a:p>
          <a:p>
            <a:pPr>
              <a:buFont typeface="Wingdings" pitchFamily="2" charset="2"/>
              <a:buChar char="q"/>
            </a:pPr>
            <a:endParaRPr lang="en-IN" sz="1600"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20</a:t>
            </a:fld>
            <a:endParaRPr lang="en-US"/>
          </a:p>
        </p:txBody>
      </p:sp>
      <p:sp>
        <p:nvSpPr>
          <p:cNvPr id="5" name="Rectangle 4"/>
          <p:cNvSpPr/>
          <p:nvPr/>
        </p:nvSpPr>
        <p:spPr>
          <a:xfrm>
            <a:off x="838200" y="1803400"/>
            <a:ext cx="10515600" cy="50546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2" name="TextBox 1"/>
          <p:cNvSpPr txBox="1"/>
          <p:nvPr/>
        </p:nvSpPr>
        <p:spPr>
          <a:xfrm>
            <a:off x="3452884" y="6168788"/>
            <a:ext cx="4217158" cy="338554"/>
          </a:xfrm>
          <a:prstGeom prst="rect">
            <a:avLst/>
          </a:prstGeom>
          <a:noFill/>
        </p:spPr>
        <p:txBody>
          <a:bodyPr wrap="square" rtlCol="0">
            <a:spAutoFit/>
          </a:bodyPr>
          <a:lstStyle/>
          <a:p>
            <a:r>
              <a:rPr lang="en-US" sz="1600" dirty="0">
                <a:latin typeface="Casper"/>
              </a:rPr>
              <a:t>anukapoor.appsci@cumail.in</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3499</TotalTime>
  <Words>1455</Words>
  <Application>Microsoft Office PowerPoint</Application>
  <PresentationFormat>Widescreen</PresentationFormat>
  <Paragraphs>174</Paragraphs>
  <Slides>21</Slides>
  <Notes>0</Notes>
  <HiddenSlides>0</HiddenSlides>
  <MMClips>1</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34" baseType="lpstr">
      <vt:lpstr>Arial</vt:lpstr>
      <vt:lpstr>Arial Black</vt:lpstr>
      <vt:lpstr>Calibri</vt:lpstr>
      <vt:lpstr>Calibri Light</vt:lpstr>
      <vt:lpstr>Casper</vt:lpstr>
      <vt:lpstr>Casper Bold</vt:lpstr>
      <vt:lpstr>Karla</vt:lpstr>
      <vt:lpstr>Raleway ExtraBold</vt:lpstr>
      <vt:lpstr>Times New Roman</vt:lpstr>
      <vt:lpstr>Wingdings</vt:lpstr>
      <vt:lpstr>1_Office Theme</vt:lpstr>
      <vt:lpstr>Contents Slide Master</vt:lpstr>
      <vt:lpstr>CorelDRAW</vt:lpstr>
      <vt:lpstr>PowerPoint Presentation</vt:lpstr>
      <vt:lpstr> </vt:lpstr>
      <vt:lpstr>PowerPoint Presentation</vt:lpstr>
      <vt:lpstr>PowerPoint Presentation</vt:lpstr>
      <vt:lpstr>WHY TO STUDY LASER </vt:lpstr>
      <vt:lpstr>PowerPoint Presentation</vt:lpstr>
      <vt:lpstr>LASER EMISSION  </vt:lpstr>
      <vt:lpstr>SPECIAL PROPERTIES OF LASER </vt:lpstr>
      <vt:lpstr>COHERENCE </vt:lpstr>
      <vt:lpstr>COHERENCE </vt:lpstr>
      <vt:lpstr>VARIOUS ATOMIC INTERACTIONS RELATED TO LASER </vt:lpstr>
      <vt:lpstr> </vt:lpstr>
      <vt:lpstr> </vt:lpstr>
      <vt:lpstr>VARIOUS ATOMIC INTERACTIONS RELATED TO LASER </vt:lpstr>
      <vt:lpstr>VARIOUS ATOMIC INTERACTIONS RELATED TO LASER </vt:lpstr>
      <vt:lpstr>VARIOUS ATOMIC INTERACTIONS RELATED TO LASER </vt:lpstr>
      <vt:lpstr>VARIOUS ATOMIC INTERACTIONS RELATED TO LASER</vt:lpstr>
      <vt:lpstr> </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239</cp:revision>
  <dcterms:created xsi:type="dcterms:W3CDTF">2019-01-09T10:33:58Z</dcterms:created>
  <dcterms:modified xsi:type="dcterms:W3CDTF">2023-06-14T08:04:05Z</dcterms:modified>
</cp:coreProperties>
</file>