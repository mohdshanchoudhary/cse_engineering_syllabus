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6" r:id="rId2"/>
  </p:sldMasterIdLst>
  <p:notesMasterIdLst>
    <p:notesMasterId r:id="rId15"/>
  </p:notesMasterIdLst>
  <p:handoutMasterIdLst>
    <p:handoutMasterId r:id="rId16"/>
  </p:handoutMasterIdLst>
  <p:sldIdLst>
    <p:sldId id="277" r:id="rId3"/>
    <p:sldId id="354" r:id="rId4"/>
    <p:sldId id="265" r:id="rId5"/>
    <p:sldId id="281" r:id="rId6"/>
    <p:sldId id="317" r:id="rId7"/>
    <p:sldId id="351" r:id="rId8"/>
    <p:sldId id="352" r:id="rId9"/>
    <p:sldId id="312" r:id="rId10"/>
    <p:sldId id="311" r:id="rId11"/>
    <p:sldId id="313" r:id="rId12"/>
    <p:sldId id="350" r:id="rId13"/>
    <p:sldId id="27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8137"/>
    <a:srgbClr val="BC8F00"/>
    <a:srgbClr val="860000"/>
    <a:srgbClr val="00B0F0"/>
    <a:srgbClr val="1B3F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7" autoAdjust="0"/>
    <p:restoredTop sz="94660"/>
  </p:normalViewPr>
  <p:slideViewPr>
    <p:cSldViewPr snapToGrid="0">
      <p:cViewPr varScale="1">
        <p:scale>
          <a:sx n="66" d="100"/>
          <a:sy n="66" d="100"/>
        </p:scale>
        <p:origin x="552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t>6/14/2023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t>6/14/2023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3ACE-D620-4EC3-88A7-3E317E64F19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6/14/2023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8353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60" r:id="rId12"/>
    <p:sldLayoutId id="214748370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forms/d/e/1FAIpQLSdoaR30UPyyOY0IRVyChKPoZVB99BOTYyw61SPEVbYoxNepFQ/viewform?usp=pp_url" TargetMode="External"/><Relationship Id="rId2" Type="http://schemas.openxmlformats.org/officeDocument/2006/relationships/hyperlink" Target="https://docs.google.com/forms/d/1w8ZYvA6wP_wNW-mzrkGsNvNi170XonXmUYT-3bvPCPI/edit" TargetMode="Externa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deshare.net/PratyushSrivastava8/optical-fiber-cable-v2?from_action=save" TargetMode="External"/><Relationship Id="rId3" Type="http://schemas.openxmlformats.org/officeDocument/2006/relationships/hyperlink" Target="http://constructionmanuals.tpub.com/14026/css/Fiber-Buffers-193.htm" TargetMode="External"/><Relationship Id="rId7" Type="http://schemas.openxmlformats.org/officeDocument/2006/relationships/hyperlink" Target="https://www.slideshare.net/PratyushSrivastava8/optical-fiber-cable-" TargetMode="External"/><Relationship Id="rId12" Type="http://schemas.openxmlformats.org/officeDocument/2006/relationships/hyperlink" Target="https://images.app.goo.gl/LLWfgV3PjgLc9RbDA" TargetMode="External"/><Relationship Id="rId2" Type="http://schemas.openxmlformats.org/officeDocument/2006/relationships/hyperlink" Target="https://www.ispreview.co.uk/index.php/2013/07/alcatel-lucent-breaks-record-with-31tbps-over-a-single-fibre-optic-cable.html" TargetMode="External"/><Relationship Id="rId1" Type="http://schemas.openxmlformats.org/officeDocument/2006/relationships/slideLayout" Target="../slideLayouts/slideLayout8.xml"/><Relationship Id="rId6" Type="http://schemas.openxmlformats.org/officeDocument/2006/relationships/hyperlink" Target="https://computer.howstuffworks.com/fiber-optic2.htm" TargetMode="External"/><Relationship Id="rId11" Type="http://schemas.openxmlformats.org/officeDocument/2006/relationships/hyperlink" Target="http://fiberonda.com/single-mode-vs-multi-mode-fiber-optic-cable/" TargetMode="External"/><Relationship Id="rId5" Type="http://schemas.openxmlformats.org/officeDocument/2006/relationships/hyperlink" Target="https://www.slideshare.net/MadhumitaTamhane/optical-fiber-communication-part-1-optical-fiber-fundamentals" TargetMode="External"/><Relationship Id="rId10" Type="http://schemas.openxmlformats.org/officeDocument/2006/relationships/hyperlink" Target="https://www.explainthatstuff.com/fiberoptics.html" TargetMode="External"/><Relationship Id="rId4" Type="http://schemas.openxmlformats.org/officeDocument/2006/relationships/hyperlink" Target="https://www.slideshare.net/ankushsaini123/6796optical-fibres" TargetMode="External"/><Relationship Id="rId9" Type="http://schemas.openxmlformats.org/officeDocument/2006/relationships/hyperlink" Target="https://www.ques10.com/p/21598/derive-the-expression-of-numerical-aperture-for-a-/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fiberopticshare.com/what-are-the-components-of-optical-fiber.html" TargetMode="Externa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4421" y="5427341"/>
            <a:ext cx="12196420" cy="1518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02197" y="5901985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CAD0D7B8-E462-453C-B296-CA0154FA54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9304721"/>
              </p:ext>
            </p:extLst>
          </p:nvPr>
        </p:nvGraphicFramePr>
        <p:xfrm>
          <a:off x="76788" y="3121720"/>
          <a:ext cx="3303056" cy="3148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169000" imgH="2169360" progId="">
                  <p:embed/>
                </p:oleObj>
              </mc:Choice>
              <mc:Fallback>
                <p:oleObj name="CorelDRAW" r:id="rId2" imgW="2169000" imgH="216936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77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88" y="3121720"/>
                        <a:ext cx="3303056" cy="314805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H="1">
            <a:off x="7045437" y="-64960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072674" y="1562755"/>
            <a:ext cx="6829425" cy="158067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4" y="24501"/>
            <a:ext cx="3859753" cy="1538254"/>
          </a:xfrm>
          <a:prstGeom prst="rect">
            <a:avLst/>
          </a:prstGeom>
        </p:spPr>
      </p:pic>
      <p:sp>
        <p:nvSpPr>
          <p:cNvPr id="43" name="Right Triangle 42"/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881359" y="6019560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885780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-459213" y="6014156"/>
            <a:ext cx="6432043" cy="800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FIBRE OPTICS </a:t>
            </a:r>
          </a:p>
          <a:p>
            <a:pPr eaLnBrk="1" hangingPunct="1"/>
            <a:r>
              <a:rPr lang="en-US" sz="1600">
                <a:latin typeface="Raleway ExtraBold" pitchFamily="34" charset="-52"/>
              </a:rPr>
              <a:t> </a:t>
            </a:r>
            <a:endParaRPr lang="en-US" sz="1600" dirty="0">
              <a:latin typeface="Raleway ExtraBold" pitchFamily="34" charset="-52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844063" y="1562755"/>
            <a:ext cx="10662138" cy="4262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INSTITUTE : UIE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DEPARTMENT: ALL ACADEMIC UNITS 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Bachelor of Engineering (All Sections)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Subject Name and Code: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Engineering Physics 23SPH-141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Prepared by: Deepak Kumar, </a:t>
            </a:r>
            <a:r>
              <a:rPr lang="en-US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Asso</a:t>
            </a:r>
            <a:r>
              <a:rPr lang="en-US" sz="28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Prof. Physics</a:t>
            </a:r>
          </a:p>
          <a:p>
            <a:pPr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</a:t>
            </a:r>
            <a:endParaRPr lang="en-US" sz="32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sz="1600" dirty="0">
              <a:latin typeface="Raleway ExtraBold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56502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t>2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-287717" y="1297692"/>
            <a:ext cx="4456567" cy="1328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br>
              <a:rPr lang="en-US" sz="4400" b="1" dirty="0">
                <a:latin typeface="Casper Bold"/>
                <a:ea typeface="Karla" pitchFamily="2" charset="0"/>
                <a:cs typeface="Karla" pitchFamily="2" charset="0"/>
              </a:rPr>
            </a:br>
            <a:endParaRPr lang="en-US" sz="4400" dirty="0">
              <a:latin typeface="Casper Bold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956603" y="1055077"/>
            <a:ext cx="9811481" cy="44627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400" dirty="0"/>
              <a:t> </a:t>
            </a:r>
            <a:endParaRPr lang="en-US" sz="4400" dirty="0"/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The course is designed to make the students industry ready to contribute in the growing demand of the industry at local, national and international level.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It will make the students competent to understand basic concepts and applications of advanced engineering physics and apply its principles in their respective fields at global platform.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It will enhance the skill level of the students and shall make them preferred choice for getting employment in industry and research labs.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It will give thorough knowledge of the discipline to enable students to disseminate knowledge in pursuing excellence in academic areas.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982351" y="331802"/>
            <a:ext cx="754028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latin typeface="Cambria" panose="02040503050406030204" pitchFamily="18" charset="0"/>
                <a:ea typeface="Cambria" panose="02040503050406030204" pitchFamily="18" charset="0"/>
              </a:rPr>
              <a:t>Course Objectives</a:t>
            </a:r>
            <a:endParaRPr lang="en-US" sz="4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3683904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t>3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3571875" y="-105382"/>
            <a:ext cx="3500438" cy="1311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br>
              <a:rPr lang="en-US" sz="4400" b="1" dirty="0">
                <a:latin typeface="Casper Bold"/>
                <a:ea typeface="Karla" pitchFamily="2" charset="0"/>
                <a:cs typeface="Karla" pitchFamily="2" charset="0"/>
              </a:rPr>
            </a:br>
            <a:endParaRPr lang="en-US" sz="4400" dirty="0">
              <a:latin typeface="Casper Bold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928468" y="98474"/>
            <a:ext cx="492940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b="1" dirty="0">
                <a:latin typeface="Cambria" panose="02040503050406030204" pitchFamily="18" charset="0"/>
                <a:ea typeface="Cambria" panose="02040503050406030204" pitchFamily="18" charset="0"/>
              </a:rPr>
              <a:t>Course Outcomes </a:t>
            </a: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3680" y="1287996"/>
            <a:ext cx="5213290" cy="50112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6300788" y="6299199"/>
            <a:ext cx="51771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sper"/>
              </a:rPr>
              <a:t>                       Figure 2.1 Optical fibres [1]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8947168"/>
              </p:ext>
            </p:extLst>
          </p:nvPr>
        </p:nvGraphicFramePr>
        <p:xfrm>
          <a:off x="196322" y="2096487"/>
          <a:ext cx="5458263" cy="4637392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824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18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22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994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CO Number</a:t>
                      </a:r>
                      <a:endParaRPr lang="en-US" sz="1100" b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Title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 completion of this course, the students are expected to learn</a:t>
                      </a:r>
                      <a:endParaRPr lang="en-US" sz="1200" b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Level </a:t>
                      </a:r>
                      <a:endParaRPr lang="en-US" sz="1100" b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63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53975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Quote the basic fundamental concepts of lasers, optical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fibres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, crystallography, ultrasonic oscillations, semiconductor physics, quantum mechanics and nanotechnology.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Remember, Understand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669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53975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Demonstrate the working of various lasers,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fibre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 components, semiconductor devices; explain the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behaviour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 of crystalline solids, quantum and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nano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-scale systems.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Understand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63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CO3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53975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Solve problems by applying principles related to lasers,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fibres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, semiconductors, oscillations, quantum and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nanoscience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.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Applying 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963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53975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Compare various lasers and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fibres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, semiconducting devices, crystalline materials, structures at quantum and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nanoscale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 on the basis of their properties for industrial applications.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Analyze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761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53975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Develop various systems using lasers,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fibres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, semiconductors and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nanomaterials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 for futuristic applications.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  <a:latin typeface="+mn-lt"/>
                        </a:rPr>
                        <a:t>Design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8097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" y="1237956"/>
            <a:ext cx="5711134" cy="5620043"/>
          </a:xfrm>
        </p:spPr>
        <p:txBody>
          <a:bodyPr>
            <a:noAutofit/>
          </a:bodyPr>
          <a:lstStyle/>
          <a:p>
            <a:pPr marL="355600" indent="-342900">
              <a:lnSpc>
                <a:spcPct val="100000"/>
              </a:lnSpc>
              <a:spcBef>
                <a:spcPts val="310"/>
              </a:spcBef>
              <a:buClr>
                <a:srgbClr val="DD8046"/>
              </a:buClr>
              <a:buSzPct val="60000"/>
              <a:buFont typeface="Arial" panose="020B0604020202020204" pitchFamily="34" charset="0"/>
              <a:buChar char="•"/>
              <a:tabLst>
                <a:tab pos="332105" algn="l"/>
                <a:tab pos="332740" algn="l"/>
              </a:tabLs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rPr>
              <a:t> 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Brief</a:t>
            </a:r>
            <a:r>
              <a:rPr lang="en-US" sz="2400" spc="-1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Introduction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234"/>
              </a:spcBef>
              <a:buClr>
                <a:srgbClr val="DD8046"/>
              </a:buClr>
              <a:buSzPct val="60000"/>
              <a:buFont typeface="Arial" panose="020B0604020202020204" pitchFamily="34" charset="0"/>
              <a:buChar char="•"/>
              <a:tabLst>
                <a:tab pos="332105" algn="l"/>
                <a:tab pos="332740" algn="l"/>
              </a:tabLs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Optical fiber</a:t>
            </a:r>
            <a:r>
              <a:rPr lang="en-US" sz="2400" spc="-4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construction</a:t>
            </a:r>
          </a:p>
          <a:p>
            <a:pPr marL="469900" indent="-457200">
              <a:lnSpc>
                <a:spcPct val="100000"/>
              </a:lnSpc>
              <a:spcBef>
                <a:spcPts val="215"/>
              </a:spcBef>
              <a:buClr>
                <a:srgbClr val="DD8046"/>
              </a:buClr>
              <a:buSzPct val="60000"/>
              <a:buFont typeface="Arial" panose="020B0604020202020204" pitchFamily="34" charset="0"/>
              <a:buChar char="•"/>
              <a:tabLst>
                <a:tab pos="332105" algn="l"/>
                <a:tab pos="332740" algn="l"/>
              </a:tabLs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Critical angle &amp; </a:t>
            </a:r>
            <a:r>
              <a:rPr lang="en-US" sz="2400" spc="-4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Total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Internal</a:t>
            </a:r>
            <a:r>
              <a:rPr lang="en-US" sz="2400" spc="-114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Reflection</a:t>
            </a:r>
          </a:p>
          <a:p>
            <a:pPr marL="469900" indent="-457200">
              <a:lnSpc>
                <a:spcPct val="100000"/>
              </a:lnSpc>
              <a:spcBef>
                <a:spcPts val="229"/>
              </a:spcBef>
              <a:buClr>
                <a:srgbClr val="DD8046"/>
              </a:buClr>
              <a:buSzPct val="60000"/>
              <a:buFont typeface="Arial" panose="020B0604020202020204" pitchFamily="34" charset="0"/>
              <a:buChar char="•"/>
              <a:tabLst>
                <a:tab pos="332105" algn="l"/>
                <a:tab pos="332740" algn="l"/>
              </a:tabLs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Acceptance angle &amp; acceptance</a:t>
            </a:r>
            <a:r>
              <a:rPr lang="en-US" sz="2400" spc="-12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cone</a:t>
            </a:r>
          </a:p>
          <a:p>
            <a:pPr marL="469900" indent="-457200">
              <a:lnSpc>
                <a:spcPct val="100000"/>
              </a:lnSpc>
              <a:spcBef>
                <a:spcPts val="215"/>
              </a:spcBef>
              <a:buClr>
                <a:srgbClr val="DD8046"/>
              </a:buClr>
              <a:buSzPct val="60000"/>
              <a:buFont typeface="Arial" panose="020B0604020202020204" pitchFamily="34" charset="0"/>
              <a:buChar char="•"/>
              <a:tabLst>
                <a:tab pos="332105" algn="l"/>
                <a:tab pos="332740" algn="l"/>
              </a:tabLs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Numerical</a:t>
            </a:r>
            <a:r>
              <a:rPr lang="en-US" sz="2400" spc="-14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Aperture</a:t>
            </a:r>
          </a:p>
          <a:p>
            <a:pPr marL="469900" indent="-457200">
              <a:lnSpc>
                <a:spcPct val="100000"/>
              </a:lnSpc>
              <a:spcBef>
                <a:spcPts val="215"/>
              </a:spcBef>
              <a:buClr>
                <a:srgbClr val="DD8046"/>
              </a:buClr>
              <a:buSzPct val="60000"/>
              <a:buFont typeface="Arial" panose="020B0604020202020204" pitchFamily="34" charset="0"/>
              <a:buChar char="•"/>
              <a:tabLst>
                <a:tab pos="332105" algn="l"/>
                <a:tab pos="332740" algn="l"/>
              </a:tabLst>
            </a:pPr>
            <a:r>
              <a:rPr lang="en-US" sz="2400" spc="-1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V-Number</a:t>
            </a:r>
          </a:p>
          <a:p>
            <a:pPr marL="469900" indent="-457200">
              <a:lnSpc>
                <a:spcPct val="100000"/>
              </a:lnSpc>
              <a:spcBef>
                <a:spcPts val="215"/>
              </a:spcBef>
              <a:buClr>
                <a:srgbClr val="DD8046"/>
              </a:buClr>
              <a:buSzPct val="60000"/>
              <a:buFont typeface="Arial" panose="020B0604020202020204" pitchFamily="34" charset="0"/>
              <a:buChar char="•"/>
              <a:tabLst>
                <a:tab pos="332105" algn="l"/>
                <a:tab pos="332740" algn="l"/>
              </a:tabLst>
            </a:pPr>
            <a:r>
              <a:rPr lang="en-US" sz="2400" spc="-2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Types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of fibers</a:t>
            </a:r>
          </a:p>
          <a:p>
            <a:pPr marL="469900" indent="-457200">
              <a:lnSpc>
                <a:spcPct val="100000"/>
              </a:lnSpc>
              <a:spcBef>
                <a:spcPts val="229"/>
              </a:spcBef>
              <a:buClr>
                <a:srgbClr val="DD8046"/>
              </a:buClr>
              <a:buSzPct val="60000"/>
              <a:buFont typeface="Arial" panose="020B0604020202020204" pitchFamily="34" charset="0"/>
              <a:buChar char="•"/>
              <a:tabLst>
                <a:tab pos="332105" algn="l"/>
                <a:tab pos="332740" algn="l"/>
              </a:tabLs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Dispersion &amp; its</a:t>
            </a:r>
            <a:r>
              <a:rPr lang="en-US" sz="2400" spc="-6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types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215"/>
              </a:spcBef>
              <a:buClr>
                <a:srgbClr val="DD8046"/>
              </a:buClr>
              <a:buSzPct val="60000"/>
              <a:buFont typeface="Arial" panose="020B0604020202020204" pitchFamily="34" charset="0"/>
              <a:buChar char="•"/>
              <a:tabLst>
                <a:tab pos="332105" algn="l"/>
                <a:tab pos="332740" algn="l"/>
              </a:tabLs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Attenuation and Losses in</a:t>
            </a:r>
            <a:r>
              <a:rPr lang="en-US" sz="2400" spc="-9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Fiber</a:t>
            </a:r>
          </a:p>
          <a:p>
            <a:pPr marL="469900" indent="-457200">
              <a:lnSpc>
                <a:spcPct val="100000"/>
              </a:lnSpc>
              <a:spcBef>
                <a:spcPts val="215"/>
              </a:spcBef>
              <a:buClr>
                <a:srgbClr val="DD8046"/>
              </a:buClr>
              <a:buSzPct val="60000"/>
              <a:buFont typeface="Arial" panose="020B0604020202020204" pitchFamily="34" charset="0"/>
              <a:buChar char="•"/>
              <a:tabLst>
                <a:tab pos="332105" algn="l"/>
                <a:tab pos="332740" algn="l"/>
              </a:tabLs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Advantages</a:t>
            </a:r>
          </a:p>
          <a:p>
            <a:pPr marL="469900" indent="-457200">
              <a:lnSpc>
                <a:spcPct val="100000"/>
              </a:lnSpc>
              <a:spcBef>
                <a:spcPts val="215"/>
              </a:spcBef>
              <a:buClr>
                <a:srgbClr val="DD8046"/>
              </a:buClr>
              <a:buSzPct val="60000"/>
              <a:buFont typeface="Arial" panose="020B0604020202020204" pitchFamily="34" charset="0"/>
              <a:buChar char="•"/>
              <a:tabLst>
                <a:tab pos="332105" algn="l"/>
                <a:tab pos="332740" algn="l"/>
              </a:tabLs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Disadvantages</a:t>
            </a:r>
          </a:p>
          <a:p>
            <a:pPr marL="469900" indent="-457200">
              <a:lnSpc>
                <a:spcPct val="100000"/>
              </a:lnSpc>
              <a:spcBef>
                <a:spcPts val="229"/>
              </a:spcBef>
              <a:buClr>
                <a:srgbClr val="DD8046"/>
              </a:buClr>
              <a:buSzPct val="60000"/>
              <a:buFont typeface="Arial" panose="020B0604020202020204" pitchFamily="34" charset="0"/>
              <a:buChar char="•"/>
              <a:tabLst>
                <a:tab pos="332105" algn="l"/>
                <a:tab pos="332740" algn="l"/>
              </a:tabLs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Applications</a:t>
            </a:r>
          </a:p>
          <a:p>
            <a:pPr>
              <a:lnSpc>
                <a:spcPct val="150000"/>
              </a:lnSpc>
            </a:pPr>
            <a:endParaRPr lang="en-US" dirty="0">
              <a:latin typeface="Casper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Casper"/>
              <a:cs typeface="Arial" panose="020B0604020202020204" pitchFamily="34" charset="0"/>
            </a:endParaRPr>
          </a:p>
          <a:p>
            <a:endParaRPr lang="en-US" dirty="0">
              <a:latin typeface="Casper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t>4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 rot="10800000" flipV="1">
            <a:off x="858129" y="285685"/>
            <a:ext cx="8553156" cy="70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>
                <a:latin typeface="Cambria" panose="02040503050406030204" pitchFamily="18" charset="0"/>
                <a:ea typeface="Cambria" panose="02040503050406030204" pitchFamily="18" charset="0"/>
              </a:rPr>
              <a:t>Brief Flow of Presentation</a:t>
            </a: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711134" y="6155323"/>
            <a:ext cx="54281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sper"/>
              </a:rPr>
              <a:t>Figure 2.2  Basic structure </a:t>
            </a:r>
            <a:r>
              <a:rPr lang="en-US" sz="1600">
                <a:latin typeface="Casper"/>
              </a:rPr>
              <a:t>and parts </a:t>
            </a:r>
            <a:r>
              <a:rPr lang="en-US" sz="1600" dirty="0">
                <a:latin typeface="Casper"/>
              </a:rPr>
              <a:t>of optical fibre [2]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1" y="1486287"/>
            <a:ext cx="4157662" cy="4142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801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768948" y="1448972"/>
                <a:ext cx="6063176" cy="4907378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2600" i="1" spc="220" dirty="0">
                    <a:latin typeface="Times New Roman"/>
                    <a:cs typeface="Times New Roman"/>
                  </a:rPr>
                  <a:t>  NA</a:t>
                </a:r>
                <a:r>
                  <a:rPr lang="en-US" sz="2600" i="1" spc="-135" dirty="0">
                    <a:latin typeface="Times New Roman"/>
                    <a:cs typeface="Times New Roman"/>
                  </a:rPr>
                  <a:t> </a:t>
                </a:r>
                <a:r>
                  <a:rPr lang="en-US" sz="2600" spc="170" dirty="0">
                    <a:latin typeface="Symbol"/>
                    <a:cs typeface="Symbol"/>
                  </a:rPr>
                  <a:t></a:t>
                </a:r>
                <a:r>
                  <a:rPr lang="en-US" sz="2600" spc="-85" dirty="0">
                    <a:latin typeface="Times New Roman"/>
                    <a:cs typeface="Times New Roman"/>
                  </a:rPr>
                  <a:t> </a:t>
                </a:r>
                <a:r>
                  <a:rPr lang="en-US" sz="2600" spc="25" dirty="0">
                    <a:latin typeface="Times New Roman"/>
                    <a:cs typeface="Times New Roman"/>
                  </a:rPr>
                  <a:t>sin</a:t>
                </a:r>
                <a:r>
                  <a:rPr lang="en-US" sz="2600" spc="-130" dirty="0">
                    <a:latin typeface="Times New Roman"/>
                    <a:cs typeface="Times New Roman"/>
                  </a:rPr>
                  <a:t> </a:t>
                </a:r>
                <a:r>
                  <a:rPr lang="en-US" sz="2600" i="1" spc="90" dirty="0">
                    <a:latin typeface="Symbol"/>
                    <a:cs typeface="Symbol"/>
                  </a:rPr>
                  <a:t></a:t>
                </a:r>
                <a:r>
                  <a:rPr lang="en-US" sz="2600" spc="135" baseline="-23504" dirty="0">
                    <a:latin typeface="Times New Roman"/>
                    <a:cs typeface="Times New Roman"/>
                  </a:rPr>
                  <a:t>max</a:t>
                </a:r>
                <a:endParaRPr lang="en-US" sz="2600" baseline="-23504" dirty="0">
                  <a:latin typeface="Times New Roman"/>
                  <a:cs typeface="Times New Roman"/>
                </a:endParaRPr>
              </a:p>
              <a:p>
                <a:pPr marL="0" indent="0" algn="ctr">
                  <a:buNone/>
                </a:pPr>
                <a:r>
                  <a:rPr lang="en-US" sz="2600" spc="25" dirty="0">
                    <a:latin typeface="Times New Roman"/>
                    <a:cs typeface="Times New Roman"/>
                  </a:rPr>
                  <a:t> sin</a:t>
                </a:r>
                <a:r>
                  <a:rPr lang="en-US" sz="2600" spc="-130" dirty="0">
                    <a:latin typeface="Times New Roman"/>
                    <a:cs typeface="Times New Roman"/>
                  </a:rPr>
                  <a:t> </a:t>
                </a:r>
                <a:r>
                  <a:rPr lang="en-US" sz="2600" i="1" spc="90" dirty="0">
                    <a:latin typeface="Symbol"/>
                    <a:cs typeface="Symbol"/>
                  </a:rPr>
                  <a:t></a:t>
                </a:r>
                <a:r>
                  <a:rPr lang="en-US" sz="2600" spc="135" baseline="-23504" dirty="0">
                    <a:latin typeface="Times New Roman"/>
                    <a:cs typeface="Times New Roman"/>
                  </a:rPr>
                  <a:t>max</a:t>
                </a:r>
                <a:r>
                  <a:rPr lang="en-US" sz="2600" spc="135" dirty="0">
                    <a:latin typeface="Times New Roman"/>
                    <a:cs typeface="Times New Roman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6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sz="2600" i="1" dirty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Sup>
                              <m:sSubSupPr>
                                <m:ctrlPr>
                                  <a:rPr lang="en-US" sz="2600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600" i="1" dirty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sz="2600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sz="26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sz="2600" i="1" dirty="0">
                                <a:latin typeface="Cambria Math" panose="02040503050406030204" pitchFamily="18" charset="0"/>
                              </a:rPr>
                              <m:t> − </m:t>
                            </m:r>
                            <m:sSubSup>
                              <m:sSubSupPr>
                                <m:ctrlPr>
                                  <a:rPr lang="en-US" sz="2600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600" i="1" dirty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sz="26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sz="26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rad>
                      </m:num>
                      <m:den>
                        <m:sSub>
                          <m:sSubPr>
                            <m:ctrlPr>
                              <a:rPr lang="en-US" sz="26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600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600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endParaRPr lang="en-US" sz="2600" dirty="0">
                  <a:latin typeface="Times New Roman"/>
                  <a:cs typeface="Times New Roman"/>
                </a:endParaRPr>
              </a:p>
              <a:p>
                <a:pPr marL="0" indent="0" algn="ctr">
                  <a:buNone/>
                </a:pPr>
                <a:r>
                  <a:rPr lang="en-US" sz="2600" i="1" spc="220" dirty="0">
                    <a:latin typeface="Times New Roman"/>
                    <a:cs typeface="Times New Roman"/>
                  </a:rPr>
                  <a:t>NA </a:t>
                </a:r>
                <a:r>
                  <a:rPr lang="en-US" sz="2600" spc="170" dirty="0">
                    <a:latin typeface="Symbol"/>
                    <a:cs typeface="Symbol"/>
                  </a:rPr>
                  <a:t>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600" i="1" dirty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Sup>
                          <m:sSubSupPr>
                            <m:ctrlPr>
                              <a:rPr lang="en-US" sz="2600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6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6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26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 −</m:t>
                        </m:r>
                        <m:sSubSup>
                          <m:sSubSupPr>
                            <m:ctrlPr>
                              <a:rPr lang="en-US" sz="2600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6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6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26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rad>
                  </m:oMath>
                </a14:m>
                <a:r>
                  <a:rPr lang="en-US" sz="2600" dirty="0">
                    <a:latin typeface="Times New Roman"/>
                    <a:cs typeface="Times New Roman"/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 smtClean="0"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𝑛</m:t>
                        </m:r>
                      </m:e>
                      <m:sub>
                        <m:r>
                          <a:rPr lang="en-US" sz="26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1</m:t>
                        </m:r>
                      </m:sub>
                    </m:sSub>
                    <m:rad>
                      <m:radPr>
                        <m:degHide m:val="on"/>
                        <m:ctrlPr>
                          <a:rPr lang="en-US" sz="2600" i="1" smtClean="0"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radPr>
                      <m:deg/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1−</m:t>
                        </m:r>
                        <m:f>
                          <m:fPr>
                            <m:ctrlPr>
                              <a:rPr lang="en-US" sz="2600" b="0" i="1" smtClean="0">
                                <a:latin typeface="Cambria Math" panose="02040503050406030204" pitchFamily="18" charset="0"/>
                                <a:cs typeface="Times New Roman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en-US" sz="2600" b="0" i="1" smtClean="0">
                                    <a:latin typeface="Cambria Math" panose="02040503050406030204" pitchFamily="18" charset="0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  <a:cs typeface="Times New Roman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  <a:cs typeface="Times New Roman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sSubSup>
                              <m:sSubSupPr>
                                <m:ctrlPr>
                                  <a:rPr lang="en-US" sz="2600" b="0" i="1" smtClean="0">
                                    <a:latin typeface="Cambria Math" panose="02040503050406030204" pitchFamily="18" charset="0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  <a:cs typeface="Times New Roman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  <a:cs typeface="Times New Roman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</m:den>
                        </m:f>
                      </m:e>
                    </m:rad>
                  </m:oMath>
                </a14:m>
                <a:r>
                  <a:rPr lang="en-US" sz="2600" dirty="0">
                    <a:latin typeface="Times New Roman"/>
                    <a:cs typeface="Times New Roman"/>
                  </a:rPr>
                  <a:t> ……(1)</a:t>
                </a:r>
              </a:p>
              <a:p>
                <a:pPr algn="ctr">
                  <a:buFont typeface="Symbol" panose="05050102010706020507" pitchFamily="18" charset="2"/>
                  <a:buChar char="D"/>
                </a:pPr>
                <a:r>
                  <a:rPr lang="en-US" sz="2600" spc="254" dirty="0">
                    <a:latin typeface="Symbol"/>
                    <a:cs typeface="Times New Roman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600" i="1" spc="254" smtClean="0"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600" i="1" spc="254" smtClean="0">
                                <a:latin typeface="Cambria Math" panose="02040503050406030204" pitchFamily="18" charset="0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sz="2600" b="0" i="1" spc="254" smtClean="0">
                                <a:latin typeface="Cambria Math" panose="02040503050406030204" pitchFamily="18" charset="0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600" b="0" i="1" spc="254" smtClean="0">
                                <a:latin typeface="Cambria Math" panose="02040503050406030204" pitchFamily="18" charset="0"/>
                                <a:cs typeface="Times New Roman"/>
                              </a:rPr>
                              <m:t>1</m:t>
                            </m:r>
                          </m:sub>
                        </m:sSub>
                        <m:r>
                          <a:rPr lang="en-US" sz="2600" b="0" i="1" spc="254" smtClean="0">
                            <a:latin typeface="Cambria Math" panose="02040503050406030204" pitchFamily="18" charset="0"/>
                            <a:cs typeface="Times New Roman"/>
                          </a:rPr>
                          <m:t>−</m:t>
                        </m:r>
                        <m:sSub>
                          <m:sSubPr>
                            <m:ctrlPr>
                              <a:rPr lang="en-US" sz="2600" b="0" i="1" spc="254" smtClean="0">
                                <a:latin typeface="Cambria Math" panose="02040503050406030204" pitchFamily="18" charset="0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sz="2600" b="0" i="1" spc="254" smtClean="0">
                                <a:latin typeface="Cambria Math" panose="02040503050406030204" pitchFamily="18" charset="0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600" b="0" i="1" spc="254" smtClean="0">
                                <a:latin typeface="Cambria Math" panose="02040503050406030204" pitchFamily="18" charset="0"/>
                                <a:cs typeface="Times New Roman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600" i="1" spc="254" smtClean="0">
                                <a:latin typeface="Cambria Math" panose="02040503050406030204" pitchFamily="18" charset="0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sz="2600" b="0" i="1" spc="254" smtClean="0">
                                <a:latin typeface="Cambria Math" panose="02040503050406030204" pitchFamily="18" charset="0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600" b="0" i="1" spc="254" smtClean="0">
                                <a:latin typeface="Cambria Math" panose="02040503050406030204" pitchFamily="18" charset="0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600" spc="254" dirty="0">
                    <a:latin typeface="Symbol"/>
                    <a:cs typeface="Times New Roman"/>
                  </a:rPr>
                  <a:t> =1-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600" i="1" spc="254" smtClean="0"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600" i="1" spc="254" smtClean="0">
                                <a:latin typeface="Cambria Math" panose="02040503050406030204" pitchFamily="18" charset="0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sz="2600" b="0" i="1" spc="254" smtClean="0">
                                <a:latin typeface="Cambria Math" panose="02040503050406030204" pitchFamily="18" charset="0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600" b="0" i="1" spc="254" smtClean="0">
                                <a:latin typeface="Cambria Math" panose="02040503050406030204" pitchFamily="18" charset="0"/>
                                <a:cs typeface="Times New Roman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600" i="1" spc="254" smtClean="0">
                                <a:latin typeface="Cambria Math" panose="02040503050406030204" pitchFamily="18" charset="0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sz="2600" b="0" i="1" spc="254" smtClean="0">
                                <a:latin typeface="Cambria Math" panose="02040503050406030204" pitchFamily="18" charset="0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600" b="0" i="1" spc="254" smtClean="0">
                                <a:latin typeface="Cambria Math" panose="02040503050406030204" pitchFamily="18" charset="0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600" dirty="0">
                    <a:latin typeface="Times New Roman"/>
                    <a:cs typeface="Times New Roman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600" i="1" spc="254"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600" i="1" spc="254">
                                <a:latin typeface="Cambria Math" panose="02040503050406030204" pitchFamily="18" charset="0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sz="2600" i="1" spc="254">
                                <a:latin typeface="Cambria Math" panose="02040503050406030204" pitchFamily="18" charset="0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600" i="1" spc="254">
                                <a:latin typeface="Cambria Math" panose="02040503050406030204" pitchFamily="18" charset="0"/>
                                <a:cs typeface="Times New Roman"/>
                              </a:rPr>
                              <m:t>2</m:t>
                            </m:r>
                            <m:r>
                              <a:rPr lang="en-US" sz="2600" b="0" i="1" spc="254" smtClean="0">
                                <a:latin typeface="Cambria Math" panose="02040503050406030204" pitchFamily="18" charset="0"/>
                                <a:cs typeface="Times New Roman"/>
                              </a:rPr>
                              <m:t> 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600" i="1" spc="254">
                                <a:latin typeface="Cambria Math" panose="02040503050406030204" pitchFamily="18" charset="0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sz="2600" i="1" spc="254">
                                <a:latin typeface="Cambria Math" panose="02040503050406030204" pitchFamily="18" charset="0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600" i="1" spc="254">
                                <a:latin typeface="Cambria Math" panose="02040503050406030204" pitchFamily="18" charset="0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600" dirty="0">
                    <a:latin typeface="Times New Roman"/>
                    <a:cs typeface="Times New Roman"/>
                  </a:rPr>
                  <a:t> = 1- </a:t>
                </a:r>
                <a:r>
                  <a:rPr lang="en-US" sz="2600" spc="284" dirty="0">
                    <a:latin typeface="Symbol"/>
                    <a:cs typeface="Symbol"/>
                  </a:rPr>
                  <a:t></a:t>
                </a:r>
                <a:r>
                  <a:rPr lang="en-US" sz="2600" dirty="0">
                    <a:latin typeface="Times New Roman"/>
                    <a:cs typeface="Times New Roman"/>
                  </a:rPr>
                  <a:t>………(2)</a:t>
                </a:r>
              </a:p>
              <a:p>
                <a:pPr marL="0" indent="0" algn="ctr">
                  <a:buNone/>
                </a:pPr>
                <a:r>
                  <a:rPr lang="en-US" sz="2600" spc="284" dirty="0">
                    <a:latin typeface="Cambria" panose="02040503050406030204" pitchFamily="18" charset="0"/>
                    <a:ea typeface="Cambria" panose="02040503050406030204" pitchFamily="18" charset="0"/>
                    <a:cs typeface="Symbol"/>
                  </a:rPr>
                  <a:t>Substitute from eq.2 in eq.1</a:t>
                </a:r>
              </a:p>
              <a:p>
                <a:pPr marL="0" indent="0" algn="ctr">
                  <a:buNone/>
                </a:pPr>
                <a:r>
                  <a:rPr lang="en-US" sz="2600" i="1" spc="220" dirty="0">
                    <a:latin typeface="Times New Roman"/>
                    <a:cs typeface="Times New Roman"/>
                  </a:rPr>
                  <a:t>NA=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sSubPr>
                      <m:e>
                        <m:r>
                          <a:rPr lang="en-US" sz="2600" i="1">
                            <a:latin typeface="Cambria Math" panose="02040503050406030204" pitchFamily="18" charset="0"/>
                            <a:cs typeface="Times New Roman"/>
                          </a:rPr>
                          <m:t>𝑛</m:t>
                        </m:r>
                      </m:e>
                      <m:sub>
                        <m:r>
                          <a:rPr lang="en-US" sz="2600" i="1">
                            <a:latin typeface="Cambria Math" panose="02040503050406030204" pitchFamily="18" charset="0"/>
                            <a:cs typeface="Times New Roman"/>
                          </a:rPr>
                          <m:t>1</m:t>
                        </m:r>
                      </m:sub>
                    </m:sSub>
                    <m:rad>
                      <m:radPr>
                        <m:degHide m:val="on"/>
                        <m:ctrlPr>
                          <a:rPr lang="en-US" sz="2600" i="1" smtClean="0"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radPr>
                      <m:deg/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en-US" sz="2600" spc="284" dirty="0">
                            <a:latin typeface="Symbol"/>
                            <a:cs typeface="Symbol"/>
                          </a:rPr>
                          <m:t></m:t>
                        </m:r>
                      </m:e>
                    </m:rad>
                  </m:oMath>
                </a14:m>
                <a:endParaRPr lang="en-US" sz="2600" spc="284" dirty="0">
                  <a:latin typeface="Cambria" panose="02040503050406030204" pitchFamily="18" charset="0"/>
                  <a:ea typeface="Cambria" panose="02040503050406030204" pitchFamily="18" charset="0"/>
                  <a:cs typeface="Symbol"/>
                </a:endParaRPr>
              </a:p>
              <a:p>
                <a:pPr marL="0" indent="0">
                  <a:buNone/>
                </a:pPr>
                <a:r>
                  <a:rPr lang="en-US" sz="26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/>
                  </a:rPr>
                  <a:t>                           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 spc="254"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sSubPr>
                      <m:e>
                        <m:r>
                          <a:rPr lang="en-US" sz="2600" i="1" spc="254">
                            <a:latin typeface="Cambria Math" panose="02040503050406030204" pitchFamily="18" charset="0"/>
                            <a:cs typeface="Times New Roman"/>
                          </a:rPr>
                          <m:t>𝑛</m:t>
                        </m:r>
                      </m:e>
                      <m:sub>
                        <m:r>
                          <a:rPr lang="en-US" sz="2600" i="1" spc="254">
                            <a:latin typeface="Cambria Math" panose="02040503050406030204" pitchFamily="18" charset="0"/>
                            <a:cs typeface="Times New Roman"/>
                          </a:rPr>
                          <m:t>1</m:t>
                        </m:r>
                      </m:sub>
                    </m:sSub>
                    <m:r>
                      <a:rPr lang="en-US" sz="2600" i="1" spc="254" smtClean="0">
                        <a:latin typeface="Cambria Math" panose="02040503050406030204" pitchFamily="18" charset="0"/>
                        <a:cs typeface="Times New Roman"/>
                      </a:rPr>
                      <m:t>≃</m:t>
                    </m:r>
                    <m:sSub>
                      <m:sSubPr>
                        <m:ctrlPr>
                          <a:rPr lang="en-US" sz="2600" i="1" spc="254"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sSubPr>
                      <m:e>
                        <m:r>
                          <a:rPr lang="en-US" sz="2600" i="1" spc="254">
                            <a:latin typeface="Cambria Math" panose="02040503050406030204" pitchFamily="18" charset="0"/>
                            <a:cs typeface="Times New Roman"/>
                          </a:rPr>
                          <m:t>𝑛</m:t>
                        </m:r>
                      </m:e>
                      <m:sub>
                        <m:r>
                          <a:rPr lang="en-US" sz="2600" i="1" spc="254">
                            <a:latin typeface="Cambria Math" panose="02040503050406030204" pitchFamily="18" charset="0"/>
                            <a:cs typeface="Times New Roman"/>
                          </a:rPr>
                          <m:t>2</m:t>
                        </m:r>
                      </m:sub>
                    </m:sSub>
                  </m:oMath>
                </a14:m>
                <a:endParaRPr lang="en-US" sz="2600" dirty="0">
                  <a:latin typeface="Cambria" panose="02040503050406030204" pitchFamily="18" charset="0"/>
                  <a:ea typeface="Cambria" panose="02040503050406030204" pitchFamily="18" charset="0"/>
                  <a:cs typeface="Times New Roman"/>
                </a:endParaRPr>
              </a:p>
              <a:p>
                <a:pPr marL="0" indent="0">
                  <a:buNone/>
                </a:pPr>
                <a:endParaRPr lang="en-US" sz="2800" dirty="0">
                  <a:latin typeface="Times New Roman"/>
                  <a:cs typeface="Times New Roman"/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768948" y="1448972"/>
                <a:ext cx="6063176" cy="4907378"/>
              </a:xfrm>
              <a:blipFill rotWithShape="0">
                <a:blip r:embed="rId2"/>
                <a:stretch>
                  <a:fillRect t="-21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5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97668" y="136187"/>
            <a:ext cx="105561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Cambria" panose="02040503050406030204" pitchFamily="18" charset="0"/>
                <a:ea typeface="Cambria" panose="02040503050406030204" pitchFamily="18" charset="0"/>
              </a:rPr>
              <a:t>Expression of Numerical Aperture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653702"/>
            <a:ext cx="464982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Numerical Aperture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It defines gathering capability of fiber  mathematically expressed as sine 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of </a:t>
            </a:r>
            <a:r>
              <a:rPr lang="en-US" sz="2400" b="1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acceptance  angle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231255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00014"/>
            <a:ext cx="10861675" cy="887412"/>
          </a:xfrm>
        </p:spPr>
        <p:txBody>
          <a:bodyPr>
            <a:noAutofit/>
          </a:bodyPr>
          <a:lstStyle/>
          <a:p>
            <a:r>
              <a:rPr lang="en-US" sz="4400" b="1" dirty="0">
                <a:latin typeface="Cambria" panose="02040503050406030204" pitchFamily="18" charset="0"/>
                <a:ea typeface="Cambria" panose="02040503050406030204" pitchFamily="18" charset="0"/>
              </a:rPr>
              <a:t>V-number or Normalized Frequency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6572" y="1589649"/>
            <a:ext cx="6248816" cy="4271401"/>
          </a:xfrm>
        </p:spPr>
        <p:txBody>
          <a:bodyPr>
            <a:normAutofit/>
          </a:bodyPr>
          <a:lstStyle/>
          <a:p>
            <a:pPr marL="469265" marR="680085" indent="-457200">
              <a:lnSpc>
                <a:spcPct val="100000"/>
              </a:lnSpc>
              <a:spcBef>
                <a:spcPts val="105"/>
              </a:spcBef>
              <a:buClr>
                <a:srgbClr val="DD8046"/>
              </a:buClr>
              <a:buSzPct val="60344"/>
              <a:buFont typeface="Wingdings" panose="05000000000000000000" pitchFamily="2" charset="2"/>
              <a:buChar char="Ø"/>
              <a:tabLst>
                <a:tab pos="333375" algn="l"/>
              </a:tabLs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No. of modes supported by optical fiber</a:t>
            </a:r>
            <a:r>
              <a:rPr lang="en-US" sz="2400" spc="-2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is  obtained by </a:t>
            </a:r>
            <a:r>
              <a:rPr lang="en-US" sz="2400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cut-off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condition known as  normalized frequency or</a:t>
            </a:r>
            <a:r>
              <a:rPr lang="en-US" sz="2400" spc="-114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400" spc="-1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V-Number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469265" marR="5080" indent="-457200" algn="just">
              <a:lnSpc>
                <a:spcPct val="100000"/>
              </a:lnSpc>
              <a:spcBef>
                <a:spcPts val="710"/>
              </a:spcBef>
              <a:buClr>
                <a:srgbClr val="DD8046"/>
              </a:buClr>
              <a:buSzPct val="60344"/>
              <a:buFont typeface="Wingdings" panose="05000000000000000000" pitchFamily="2" charset="2"/>
              <a:buChar char="Ø"/>
              <a:tabLst>
                <a:tab pos="333375" algn="l"/>
              </a:tabLst>
            </a:pPr>
            <a:r>
              <a:rPr lang="en-US" sz="2400" spc="-8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V-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number can be reduced either by reducing  numerical aperture or by reducing diameter</a:t>
            </a:r>
            <a:r>
              <a:rPr lang="en-US" sz="2400" spc="-21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of  fiber</a:t>
            </a:r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/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471488" y="1385888"/>
                <a:ext cx="4814887" cy="4483100"/>
              </a:xfrm>
            </p:spPr>
            <p:txBody>
              <a:bodyPr>
                <a:normAutofit/>
              </a:bodyPr>
              <a:lstStyle/>
              <a:p>
                <a:r>
                  <a:rPr lang="en-US" sz="2600" dirty="0">
                    <a:latin typeface="Arial"/>
                    <a:cs typeface="Arial"/>
                  </a:rPr>
                  <a:t>V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6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600" dirty="0">
                            <a:latin typeface="Arial"/>
                            <a:cs typeface="Arial"/>
                          </a:rPr>
                          <m:t>2</m:t>
                        </m:r>
                        <m:r>
                          <a:rPr lang="en-US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/>
                          </a:rPr>
                          <m:t>𝜋</m:t>
                        </m:r>
                        <m:r>
                          <a:rPr lang="en-US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/>
                          </a:rPr>
                          <m:t>𝑎</m:t>
                        </m:r>
                      </m:num>
                      <m:den>
                        <m:r>
                          <m:rPr>
                            <m:nor/>
                          </m:rPr>
                          <a:rPr lang="el-GR" sz="2600" dirty="0">
                            <a:latin typeface="Arial"/>
                            <a:cs typeface="Arial"/>
                          </a:rPr>
                          <m:t>λ</m:t>
                        </m:r>
                        <m:r>
                          <m:rPr>
                            <m:nor/>
                          </m:rPr>
                          <a:rPr lang="en-US" sz="2600" dirty="0">
                            <a:latin typeface="Arial"/>
                            <a:cs typeface="Arial"/>
                          </a:rPr>
                          <m:t> </m:t>
                        </m:r>
                      </m:den>
                    </m:f>
                  </m:oMath>
                </a14:m>
                <a:r>
                  <a:rPr lang="en-US" sz="2600" dirty="0">
                    <a:latin typeface="Arial"/>
                    <a:cs typeface="Arial"/>
                  </a:rPr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600" i="1" dirty="0" smtClean="0">
                            <a:latin typeface="Cambria Math" panose="02040503050406030204" pitchFamily="18" charset="0"/>
                            <a:cs typeface="Arial"/>
                          </a:rPr>
                        </m:ctrlPr>
                      </m:radPr>
                      <m:deg/>
                      <m:e>
                        <m:sSubSup>
                          <m:sSubSupPr>
                            <m:ctrlPr>
                              <a:rPr lang="en-US" sz="2600" i="1" dirty="0" smtClean="0">
                                <a:latin typeface="Cambria Math" panose="02040503050406030204" pitchFamily="18" charset="0"/>
                                <a:cs typeface="Arial"/>
                              </a:rPr>
                            </m:ctrlPr>
                          </m:sSubSupPr>
                          <m:e>
                            <m:r>
                              <a:rPr lang="en-US" sz="2600" b="0" i="1" dirty="0" smtClean="0">
                                <a:latin typeface="Cambria Math" panose="02040503050406030204" pitchFamily="18" charset="0"/>
                                <a:cs typeface="Arial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600" b="0" i="1" dirty="0" smtClean="0">
                                <a:latin typeface="Cambria Math" panose="02040503050406030204" pitchFamily="18" charset="0"/>
                                <a:cs typeface="Arial"/>
                              </a:rPr>
                              <m:t>1</m:t>
                            </m:r>
                          </m:sub>
                          <m:sup>
                            <m:r>
                              <a:rPr lang="en-US" sz="2600" b="0" i="1" dirty="0" smtClean="0">
                                <a:latin typeface="Cambria Math" panose="02040503050406030204" pitchFamily="18" charset="0"/>
                                <a:cs typeface="Arial"/>
                              </a:rPr>
                              <m:t>2</m:t>
                            </m:r>
                          </m:sup>
                        </m:sSubSup>
                        <m:r>
                          <a:rPr lang="en-US" sz="2600" b="0" i="1" dirty="0" smtClean="0">
                            <a:latin typeface="Cambria Math" panose="02040503050406030204" pitchFamily="18" charset="0"/>
                            <a:cs typeface="Arial"/>
                          </a:rPr>
                          <m:t>−</m:t>
                        </m:r>
                        <m:sSubSup>
                          <m:sSubSupPr>
                            <m:ctrlPr>
                              <a:rPr lang="en-US" sz="2600" b="0" i="1" dirty="0" smtClean="0">
                                <a:latin typeface="Cambria Math" panose="02040503050406030204" pitchFamily="18" charset="0"/>
                                <a:cs typeface="Arial"/>
                              </a:rPr>
                            </m:ctrlPr>
                          </m:sSubSupPr>
                          <m:e>
                            <m:r>
                              <a:rPr lang="en-US" sz="2600" b="0" i="1" dirty="0" smtClean="0">
                                <a:latin typeface="Cambria Math" panose="02040503050406030204" pitchFamily="18" charset="0"/>
                                <a:cs typeface="Arial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600" b="0" i="1" dirty="0" smtClean="0">
                                <a:latin typeface="Cambria Math" panose="02040503050406030204" pitchFamily="18" charset="0"/>
                                <a:cs typeface="Arial"/>
                              </a:rPr>
                              <m:t>2</m:t>
                            </m:r>
                          </m:sub>
                          <m:sup>
                            <m:r>
                              <a:rPr lang="en-US" sz="2600" b="0" i="1" dirty="0" smtClean="0">
                                <a:latin typeface="Cambria Math" panose="02040503050406030204" pitchFamily="18" charset="0"/>
                                <a:cs typeface="Arial"/>
                              </a:rPr>
                              <m:t>2</m:t>
                            </m:r>
                          </m:sup>
                        </m:sSubSup>
                      </m:e>
                    </m:rad>
                  </m:oMath>
                </a14:m>
                <a:endParaRPr lang="en-US" sz="2600" dirty="0">
                  <a:latin typeface="Arial"/>
                  <a:cs typeface="Arial"/>
                </a:endParaRPr>
              </a:p>
              <a:p>
                <a:r>
                  <a:rPr lang="en-US" sz="2600" dirty="0">
                    <a:latin typeface="Arial"/>
                    <a:cs typeface="Arial"/>
                  </a:rPr>
                  <a:t>V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600" dirty="0">
                            <a:latin typeface="Arial"/>
                            <a:cs typeface="Arial"/>
                          </a:rPr>
                          <m:t>2</m:t>
                        </m:r>
                        <m:r>
                          <a:rPr lang="en-US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/>
                          </a:rPr>
                          <m:t>𝜋</m:t>
                        </m:r>
                        <m:r>
                          <a:rPr lang="en-US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/>
                          </a:rPr>
                          <m:t>𝑎</m:t>
                        </m:r>
                      </m:num>
                      <m:den>
                        <m:r>
                          <m:rPr>
                            <m:nor/>
                          </m:rPr>
                          <a:rPr lang="el-GR" sz="2600" dirty="0">
                            <a:latin typeface="Arial"/>
                            <a:cs typeface="Arial"/>
                          </a:rPr>
                          <m:t>λ</m:t>
                        </m:r>
                        <m:r>
                          <m:rPr>
                            <m:nor/>
                          </m:rPr>
                          <a:rPr lang="en-US" sz="2600" dirty="0">
                            <a:latin typeface="Arial"/>
                            <a:cs typeface="Arial"/>
                          </a:rPr>
                          <m:t> </m:t>
                        </m:r>
                      </m:den>
                    </m:f>
                    <m:r>
                      <a:rPr lang="en-US" sz="2600" b="0" i="1" dirty="0" smtClean="0">
                        <a:latin typeface="Cambria Math" panose="02040503050406030204" pitchFamily="18" charset="0"/>
                        <a:cs typeface="Arial"/>
                      </a:rPr>
                      <m:t>𝑁𝐴</m:t>
                    </m:r>
                  </m:oMath>
                </a14:m>
                <a:endParaRPr lang="en-US" sz="2600" dirty="0">
                  <a:latin typeface="Arial"/>
                  <a:cs typeface="Arial"/>
                </a:endParaRPr>
              </a:p>
              <a:p>
                <a:r>
                  <a:rPr lang="en-US" sz="2600" dirty="0">
                    <a:latin typeface="Arial"/>
                    <a:cs typeface="Arial"/>
                  </a:rPr>
                  <a:t>V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600" dirty="0">
                            <a:latin typeface="Arial"/>
                            <a:cs typeface="Arial"/>
                          </a:rPr>
                          <m:t>2</m:t>
                        </m:r>
                        <m:r>
                          <a:rPr lang="en-US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/>
                          </a:rPr>
                          <m:t>𝜋</m:t>
                        </m:r>
                        <m:r>
                          <a:rPr lang="en-US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/>
                          </a:rPr>
                          <m:t>𝑎</m:t>
                        </m:r>
                      </m:num>
                      <m:den>
                        <m:r>
                          <m:rPr>
                            <m:nor/>
                          </m:rPr>
                          <a:rPr lang="el-GR" sz="2600" dirty="0">
                            <a:latin typeface="Arial"/>
                            <a:cs typeface="Arial"/>
                          </a:rPr>
                          <m:t>λ</m:t>
                        </m:r>
                        <m:r>
                          <m:rPr>
                            <m:nor/>
                          </m:rPr>
                          <a:rPr lang="en-US" sz="2600" dirty="0">
                            <a:latin typeface="Arial"/>
                            <a:cs typeface="Arial"/>
                          </a:rPr>
                          <m:t> </m:t>
                        </m:r>
                      </m:den>
                    </m:f>
                    <m:sSub>
                      <m:sSubPr>
                        <m:ctrlPr>
                          <a:rPr lang="en-US" sz="2600" i="1"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 </m:t>
                        </m:r>
                        <m:r>
                          <a:rPr lang="en-US" sz="2600" i="1">
                            <a:latin typeface="Cambria Math" panose="02040503050406030204" pitchFamily="18" charset="0"/>
                            <a:cs typeface="Times New Roman"/>
                          </a:rPr>
                          <m:t>𝑛</m:t>
                        </m:r>
                      </m:e>
                      <m:sub>
                        <m:r>
                          <a:rPr lang="en-US" sz="2600" i="1">
                            <a:latin typeface="Cambria Math" panose="02040503050406030204" pitchFamily="18" charset="0"/>
                            <a:cs typeface="Times New Roman"/>
                          </a:rPr>
                          <m:t>1</m:t>
                        </m:r>
                      </m:sub>
                    </m:sSub>
                    <m:rad>
                      <m:radPr>
                        <m:degHide m:val="on"/>
                        <m:ctrlPr>
                          <a:rPr lang="en-US" sz="2600" i="1"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radPr>
                      <m:deg/>
                      <m:e>
                        <m:r>
                          <a:rPr lang="en-US" sz="2600" i="1">
                            <a:latin typeface="Cambria Math" panose="02040503050406030204" pitchFamily="18" charset="0"/>
                            <a:cs typeface="Times New Roman"/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en-US" sz="2600" spc="284" dirty="0">
                            <a:latin typeface="Symbol"/>
                            <a:cs typeface="Symbol"/>
                          </a:rPr>
                          <m:t></m:t>
                        </m:r>
                      </m:e>
                    </m:rad>
                  </m:oMath>
                </a14:m>
                <a:endParaRPr lang="en-US" sz="2600" dirty="0">
                  <a:latin typeface="Arial"/>
                  <a:cs typeface="Arial"/>
                </a:endParaRPr>
              </a:p>
              <a:p>
                <a:r>
                  <a:rPr lang="en-US" sz="2600" dirty="0">
                    <a:latin typeface="Arial"/>
                    <a:cs typeface="Arial"/>
                  </a:rPr>
                  <a:t>Number of modes for Step Index Fibre Nm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600" i="1" dirty="0">
                            <a:latin typeface="Cambria Math" panose="02040503050406030204" pitchFamily="18" charset="0"/>
                            <a:cs typeface="Arial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600" i="1" dirty="0">
                                <a:latin typeface="Cambria Math" panose="02040503050406030204" pitchFamily="18" charset="0"/>
                                <a:cs typeface="Arial"/>
                              </a:rPr>
                            </m:ctrlPr>
                          </m:sSupPr>
                          <m:e>
                            <m:r>
                              <a:rPr lang="en-US" sz="2600" dirty="0">
                                <a:latin typeface="Cambria Math" panose="02040503050406030204" pitchFamily="18" charset="0"/>
                                <a:cs typeface="Arial"/>
                              </a:rPr>
                              <m:t>𝑉</m:t>
                            </m:r>
                          </m:e>
                          <m:sup>
                            <m:r>
                              <a:rPr lang="en-US" sz="2600" dirty="0">
                                <a:latin typeface="Cambria Math" panose="02040503050406030204" pitchFamily="18" charset="0"/>
                                <a:cs typeface="Arial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2600" dirty="0">
                            <a:latin typeface="Cambria Math" panose="02040503050406030204" pitchFamily="18" charset="0"/>
                            <a:cs typeface="Arial"/>
                          </a:rPr>
                          <m:t>2</m:t>
                        </m:r>
                      </m:den>
                    </m:f>
                  </m:oMath>
                </a14:m>
                <a:endParaRPr lang="en-US" sz="2600" dirty="0">
                  <a:latin typeface="Arial"/>
                  <a:cs typeface="Arial"/>
                </a:endParaRPr>
              </a:p>
              <a:p>
                <a:r>
                  <a:rPr lang="en-US" sz="2600" dirty="0">
                    <a:latin typeface="Arial"/>
                    <a:cs typeface="Arial"/>
                  </a:rPr>
                  <a:t>For Graded Index Fiber Nm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600" i="1" dirty="0">
                            <a:latin typeface="Cambria Math" panose="02040503050406030204" pitchFamily="18" charset="0"/>
                            <a:cs typeface="Arial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600" i="1" dirty="0">
                                <a:latin typeface="Cambria Math" panose="02040503050406030204" pitchFamily="18" charset="0"/>
                                <a:cs typeface="Arial"/>
                              </a:rPr>
                            </m:ctrlPr>
                          </m:sSupPr>
                          <m:e>
                            <m:r>
                              <a:rPr lang="en-US" sz="2600" dirty="0">
                                <a:latin typeface="Cambria Math" panose="02040503050406030204" pitchFamily="18" charset="0"/>
                                <a:cs typeface="Arial"/>
                              </a:rPr>
                              <m:t>𝑉</m:t>
                            </m:r>
                          </m:e>
                          <m:sup>
                            <m:r>
                              <a:rPr lang="en-US" sz="2600" dirty="0">
                                <a:latin typeface="Cambria Math" panose="02040503050406030204" pitchFamily="18" charset="0"/>
                                <a:cs typeface="Arial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2600" dirty="0">
                            <a:latin typeface="Cambria Math" panose="02040503050406030204" pitchFamily="18" charset="0"/>
                            <a:cs typeface="Arial"/>
                          </a:rPr>
                          <m:t>4</m:t>
                        </m:r>
                      </m:den>
                    </m:f>
                  </m:oMath>
                </a14:m>
                <a:endParaRPr lang="en-US" sz="2600" dirty="0">
                  <a:latin typeface="Arial"/>
                  <a:cs typeface="Arial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Tex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471488" y="1385888"/>
                <a:ext cx="4814887" cy="4483100"/>
              </a:xfrm>
              <a:blipFill rotWithShape="0">
                <a:blip r:embed="rId2"/>
                <a:stretch>
                  <a:fillRect l="-22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7722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2197" y="1308295"/>
            <a:ext cx="7891975" cy="3981157"/>
          </a:xfrm>
        </p:spPr>
        <p:txBody>
          <a:bodyPr>
            <a:normAutofit/>
          </a:bodyPr>
          <a:lstStyle/>
          <a:p>
            <a:pPr marL="330835" indent="-318770">
              <a:lnSpc>
                <a:spcPts val="2695"/>
              </a:lnSpc>
              <a:spcBef>
                <a:spcPts val="90"/>
              </a:spcBef>
              <a:buSzPct val="77777"/>
              <a:buFont typeface="Wingdings"/>
              <a:buChar char=""/>
              <a:tabLst>
                <a:tab pos="330835" algn="l"/>
                <a:tab pos="331470" algn="l"/>
              </a:tabLst>
            </a:pPr>
            <a:r>
              <a:rPr lang="en-US" sz="2400" spc="-10" dirty="0">
                <a:solidFill>
                  <a:srgbClr val="41414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Normalized </a:t>
            </a:r>
            <a:r>
              <a:rPr lang="en-US" sz="2400" spc="-5" dirty="0">
                <a:solidFill>
                  <a:srgbClr val="41414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frequency is a dimensionless </a:t>
            </a:r>
            <a:r>
              <a:rPr lang="en-US" sz="2400" spc="-10" dirty="0">
                <a:solidFill>
                  <a:srgbClr val="41414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parameter </a:t>
            </a:r>
            <a:r>
              <a:rPr lang="en-US" sz="2400" spc="-5" dirty="0">
                <a:solidFill>
                  <a:srgbClr val="41414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and</a:t>
            </a:r>
            <a:r>
              <a:rPr lang="en-US" sz="2400" spc="100" dirty="0">
                <a:solidFill>
                  <a:srgbClr val="41414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400" spc="-10" dirty="0">
                <a:solidFill>
                  <a:srgbClr val="41414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simply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400" spc="-5" dirty="0">
                <a:solidFill>
                  <a:srgbClr val="41414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called </a:t>
            </a:r>
            <a:r>
              <a:rPr lang="en-US" sz="2400" b="1" i="1" spc="-35" dirty="0">
                <a:solidFill>
                  <a:srgbClr val="41414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V-number </a:t>
            </a:r>
            <a:r>
              <a:rPr lang="en-US" sz="2400" dirty="0">
                <a:solidFill>
                  <a:srgbClr val="41414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or </a:t>
            </a:r>
            <a:r>
              <a:rPr lang="en-US" sz="2400" b="1" i="1" spc="-5" dirty="0">
                <a:solidFill>
                  <a:srgbClr val="41414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value of the</a:t>
            </a:r>
            <a:r>
              <a:rPr lang="en-US" sz="2400" b="1" i="1" spc="40" dirty="0">
                <a:solidFill>
                  <a:srgbClr val="41414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400" b="1" i="1" spc="-5" dirty="0">
                <a:solidFill>
                  <a:srgbClr val="41414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fiber</a:t>
            </a:r>
            <a:r>
              <a:rPr lang="en-US" sz="2400" spc="-5" dirty="0">
                <a:solidFill>
                  <a:srgbClr val="41414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.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  <a:p>
            <a:pPr marL="332105" marR="5080" indent="-320040">
              <a:lnSpc>
                <a:spcPts val="2660"/>
              </a:lnSpc>
              <a:spcBef>
                <a:spcPts val="1310"/>
              </a:spcBef>
              <a:buSzPct val="77777"/>
              <a:buFont typeface="Wingdings"/>
              <a:buChar char=""/>
              <a:tabLst>
                <a:tab pos="332105" algn="l"/>
                <a:tab pos="332740" algn="l"/>
              </a:tabLst>
            </a:pPr>
            <a:r>
              <a:rPr lang="en-US" sz="2400" spc="-5" dirty="0">
                <a:solidFill>
                  <a:srgbClr val="41414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It </a:t>
            </a:r>
            <a:r>
              <a:rPr lang="en-US" sz="2400" spc="-10" dirty="0">
                <a:solidFill>
                  <a:srgbClr val="41414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combines </a:t>
            </a:r>
            <a:r>
              <a:rPr lang="en-US" sz="2400" spc="-5" dirty="0">
                <a:solidFill>
                  <a:srgbClr val="41414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in a very useful </a:t>
            </a:r>
            <a:r>
              <a:rPr lang="en-US" sz="2400" spc="-10" dirty="0">
                <a:solidFill>
                  <a:srgbClr val="41414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manner </a:t>
            </a:r>
            <a:r>
              <a:rPr lang="en-US" sz="2400" spc="-5" dirty="0">
                <a:solidFill>
                  <a:srgbClr val="41414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the </a:t>
            </a:r>
            <a:r>
              <a:rPr lang="en-US" sz="2400" spc="-10" dirty="0">
                <a:solidFill>
                  <a:srgbClr val="41414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information </a:t>
            </a:r>
            <a:r>
              <a:rPr lang="en-US" sz="2400" spc="-5" dirty="0">
                <a:solidFill>
                  <a:srgbClr val="41414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about three  </a:t>
            </a:r>
            <a:r>
              <a:rPr lang="en-US" sz="2400" spc="-10" dirty="0">
                <a:solidFill>
                  <a:srgbClr val="41414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parameters, </a:t>
            </a:r>
            <a:r>
              <a:rPr lang="en-US" sz="2400" b="1" dirty="0">
                <a:solidFill>
                  <a:srgbClr val="41414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a</a:t>
            </a:r>
            <a:r>
              <a:rPr lang="en-US" sz="2400" dirty="0">
                <a:solidFill>
                  <a:srgbClr val="41414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, </a:t>
            </a:r>
            <a:r>
              <a:rPr lang="en-US" sz="2400" spc="-5" dirty="0">
                <a:solidFill>
                  <a:srgbClr val="414141"/>
                </a:solidFill>
                <a:latin typeface="Symbol" panose="05050102010706020507" pitchFamily="18" charset="2"/>
                <a:ea typeface="Cambria" panose="02040503050406030204" pitchFamily="18" charset="0"/>
                <a:cs typeface="Symbol"/>
              </a:rPr>
              <a:t></a:t>
            </a:r>
            <a:r>
              <a:rPr lang="en-US" sz="2400" spc="-5" dirty="0">
                <a:solidFill>
                  <a:srgbClr val="41414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and</a:t>
            </a:r>
            <a:r>
              <a:rPr lang="en-US" sz="2400" spc="55" dirty="0">
                <a:solidFill>
                  <a:srgbClr val="41414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400" spc="5" dirty="0">
                <a:solidFill>
                  <a:srgbClr val="414141"/>
                </a:solidFill>
                <a:latin typeface="Symbol" panose="05050102010706020507" pitchFamily="18" charset="2"/>
                <a:ea typeface="Cambria" panose="02040503050406030204" pitchFamily="18" charset="0"/>
                <a:cs typeface="Symbol"/>
              </a:rPr>
              <a:t></a:t>
            </a:r>
            <a:r>
              <a:rPr lang="en-US" sz="2400" spc="5" dirty="0">
                <a:solidFill>
                  <a:srgbClr val="41414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.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  <a:p>
            <a:pPr marL="332105" marR="409575" indent="-320040">
              <a:lnSpc>
                <a:spcPts val="2690"/>
              </a:lnSpc>
              <a:spcBef>
                <a:spcPts val="1330"/>
              </a:spcBef>
              <a:buSzPct val="77777"/>
              <a:buFont typeface="Wingdings"/>
              <a:buChar char=""/>
              <a:tabLst>
                <a:tab pos="332105" algn="l"/>
                <a:tab pos="332740" algn="l"/>
              </a:tabLst>
            </a:pPr>
            <a:r>
              <a:rPr lang="en-US" sz="2400" spc="-10" dirty="0">
                <a:solidFill>
                  <a:srgbClr val="41414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Limiting parameter for </a:t>
            </a:r>
            <a:r>
              <a:rPr lang="en-US" sz="2400" dirty="0">
                <a:solidFill>
                  <a:srgbClr val="41414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single </a:t>
            </a:r>
            <a:r>
              <a:rPr lang="en-US" sz="2400" spc="-5" dirty="0">
                <a:solidFill>
                  <a:srgbClr val="41414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and </a:t>
            </a:r>
            <a:r>
              <a:rPr lang="en-US" sz="2400" spc="-15" dirty="0">
                <a:solidFill>
                  <a:srgbClr val="41414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multimode </a:t>
            </a:r>
            <a:r>
              <a:rPr lang="en-US" sz="2400" spc="-5" dirty="0">
                <a:solidFill>
                  <a:srgbClr val="41414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propagation in  optical</a:t>
            </a:r>
            <a:r>
              <a:rPr lang="en-US" sz="2400" spc="-40" dirty="0">
                <a:solidFill>
                  <a:srgbClr val="41414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400" spc="-50" dirty="0">
                <a:solidFill>
                  <a:srgbClr val="41414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fiber.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  <a:p>
            <a:pPr marL="2345055" indent="0">
              <a:lnSpc>
                <a:spcPct val="100000"/>
              </a:lnSpc>
              <a:spcBef>
                <a:spcPts val="1085"/>
              </a:spcBef>
              <a:buNone/>
            </a:pPr>
            <a:r>
              <a:rPr lang="en-US" sz="2400" spc="-10" dirty="0">
                <a:solidFill>
                  <a:srgbClr val="414141"/>
                </a:solidFill>
                <a:latin typeface="Symbol" panose="05050102010706020507" pitchFamily="18" charset="2"/>
                <a:ea typeface="Cambria" panose="02040503050406030204" pitchFamily="18" charset="0"/>
                <a:cs typeface="Symbol"/>
              </a:rPr>
              <a:t></a:t>
            </a:r>
            <a:r>
              <a:rPr lang="en-US" sz="2400" spc="-10" dirty="0">
                <a:solidFill>
                  <a:srgbClr val="41414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400" b="1" spc="-5" dirty="0">
                <a:solidFill>
                  <a:srgbClr val="41414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V </a:t>
            </a:r>
            <a:r>
              <a:rPr lang="en-US" sz="2400" spc="-5" dirty="0">
                <a:solidFill>
                  <a:srgbClr val="414141"/>
                </a:solidFill>
                <a:latin typeface="Symbol" panose="05050102010706020507" pitchFamily="18" charset="2"/>
                <a:ea typeface="Cambria" panose="02040503050406030204" pitchFamily="18" charset="0"/>
                <a:cs typeface="Symbol"/>
              </a:rPr>
              <a:t></a:t>
            </a:r>
            <a:r>
              <a:rPr lang="en-US" sz="2400" spc="-5" dirty="0">
                <a:solidFill>
                  <a:srgbClr val="41414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400" b="1" spc="-5" dirty="0">
                <a:solidFill>
                  <a:srgbClr val="41414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2.405 for Single Mode</a:t>
            </a:r>
            <a:r>
              <a:rPr lang="en-US" sz="2400" b="1" spc="-225" dirty="0">
                <a:solidFill>
                  <a:srgbClr val="41414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400" b="1" dirty="0">
                <a:solidFill>
                  <a:srgbClr val="41414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operation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7474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4450" y="457200"/>
            <a:ext cx="3457575" cy="685800"/>
          </a:xfrm>
        </p:spPr>
        <p:txBody>
          <a:bodyPr>
            <a:normAutofit/>
          </a:bodyPr>
          <a:lstStyle/>
          <a:p>
            <a:r>
              <a:rPr lang="en-US" sz="3800" b="1" dirty="0">
                <a:latin typeface="Cambria" panose="02040503050406030204" pitchFamily="18" charset="0"/>
                <a:ea typeface="Cambria" panose="02040503050406030204" pitchFamily="18" charset="0"/>
              </a:rPr>
              <a:t>Summary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8363" y="1585912"/>
            <a:ext cx="8718550" cy="4411663"/>
          </a:xfrm>
        </p:spPr>
        <p:txBody>
          <a:bodyPr>
            <a:normAutofit/>
          </a:bodyPr>
          <a:lstStyle/>
          <a:p>
            <a:br>
              <a:rPr lang="en-US" dirty="0"/>
            </a:b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8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571748" y="1143000"/>
            <a:ext cx="5602776" cy="3082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310"/>
              </a:spcBef>
              <a:buClr>
                <a:srgbClr val="DD8046"/>
              </a:buClr>
              <a:buSzPct val="60000"/>
              <a:buFont typeface="Wingdings" panose="05000000000000000000" pitchFamily="2" charset="2"/>
              <a:buChar char="v"/>
              <a:tabLst>
                <a:tab pos="332105" algn="l"/>
                <a:tab pos="332740" algn="l"/>
              </a:tabLst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Brief</a:t>
            </a:r>
            <a:r>
              <a:rPr lang="en-US" sz="2400" spc="-1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Introduction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234"/>
              </a:spcBef>
              <a:buClr>
                <a:srgbClr val="DD8046"/>
              </a:buClr>
              <a:buSzPct val="60000"/>
              <a:buFont typeface="Wingdings" panose="05000000000000000000" pitchFamily="2" charset="2"/>
              <a:buChar char="v"/>
              <a:tabLst>
                <a:tab pos="332105" algn="l"/>
                <a:tab pos="332740" algn="l"/>
              </a:tabLs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Optical fiber</a:t>
            </a:r>
            <a:r>
              <a:rPr lang="en-US" sz="2400" spc="-4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construction</a:t>
            </a:r>
          </a:p>
          <a:p>
            <a:pPr marL="469900" indent="-457200">
              <a:lnSpc>
                <a:spcPct val="100000"/>
              </a:lnSpc>
              <a:spcBef>
                <a:spcPts val="215"/>
              </a:spcBef>
              <a:buClr>
                <a:srgbClr val="DD8046"/>
              </a:buClr>
              <a:buSzPct val="60000"/>
              <a:buFont typeface="Wingdings" panose="05000000000000000000" pitchFamily="2" charset="2"/>
              <a:buChar char="v"/>
              <a:tabLst>
                <a:tab pos="332105" algn="l"/>
                <a:tab pos="332740" algn="l"/>
              </a:tabLs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Critical angle &amp; </a:t>
            </a:r>
            <a:r>
              <a:rPr lang="en-US" sz="2400" spc="-4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Total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Internal</a:t>
            </a:r>
            <a:r>
              <a:rPr lang="en-US" sz="2400" spc="-114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Reflection</a:t>
            </a:r>
          </a:p>
          <a:p>
            <a:pPr marL="469900" indent="-457200">
              <a:lnSpc>
                <a:spcPct val="100000"/>
              </a:lnSpc>
              <a:spcBef>
                <a:spcPts val="229"/>
              </a:spcBef>
              <a:buClr>
                <a:srgbClr val="DD8046"/>
              </a:buClr>
              <a:buSzPct val="60000"/>
              <a:buFont typeface="Wingdings" panose="05000000000000000000" pitchFamily="2" charset="2"/>
              <a:buChar char="v"/>
              <a:tabLst>
                <a:tab pos="332105" algn="l"/>
                <a:tab pos="332740" algn="l"/>
              </a:tabLs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Acceptance angle &amp; acceptance</a:t>
            </a:r>
            <a:r>
              <a:rPr lang="en-US" sz="2400" spc="-12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cone</a:t>
            </a:r>
          </a:p>
          <a:p>
            <a:pPr marL="469900" indent="-457200">
              <a:lnSpc>
                <a:spcPct val="100000"/>
              </a:lnSpc>
              <a:spcBef>
                <a:spcPts val="215"/>
              </a:spcBef>
              <a:buClr>
                <a:srgbClr val="DD8046"/>
              </a:buClr>
              <a:buSzPct val="60000"/>
              <a:buFont typeface="Wingdings" panose="05000000000000000000" pitchFamily="2" charset="2"/>
              <a:buChar char="v"/>
              <a:tabLst>
                <a:tab pos="332105" algn="l"/>
                <a:tab pos="332740" algn="l"/>
              </a:tabLs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Numerical</a:t>
            </a:r>
            <a:r>
              <a:rPr lang="en-US" sz="2400" spc="-14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Aperture</a:t>
            </a:r>
          </a:p>
          <a:p>
            <a:pPr marL="469900" indent="-457200">
              <a:lnSpc>
                <a:spcPct val="100000"/>
              </a:lnSpc>
              <a:spcBef>
                <a:spcPts val="215"/>
              </a:spcBef>
              <a:buClr>
                <a:srgbClr val="DD8046"/>
              </a:buClr>
              <a:buSzPct val="60000"/>
              <a:buFont typeface="Wingdings" panose="05000000000000000000" pitchFamily="2" charset="2"/>
              <a:buChar char="v"/>
              <a:tabLst>
                <a:tab pos="332105" algn="l"/>
                <a:tab pos="332740" algn="l"/>
              </a:tabLst>
            </a:pPr>
            <a:r>
              <a:rPr lang="en-US" sz="2400" spc="-1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V-Number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00139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4229" y="1"/>
            <a:ext cx="5458264" cy="928468"/>
          </a:xfrm>
        </p:spPr>
        <p:txBody>
          <a:bodyPr>
            <a:noAutofit/>
          </a:bodyPr>
          <a:lstStyle/>
          <a:p>
            <a:pPr algn="ctr"/>
            <a:r>
              <a:rPr lang="en-US" sz="4400" b="1" dirty="0">
                <a:latin typeface="Cambria" panose="02040503050406030204" pitchFamily="18" charset="0"/>
                <a:ea typeface="Cambria" panose="02040503050406030204" pitchFamily="18" charset="0"/>
              </a:rPr>
              <a:t>Assessment Test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5813" y="1385889"/>
            <a:ext cx="8543925" cy="5335586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Quiz link for Assessment Test:-</a:t>
            </a:r>
            <a:endParaRPr lang="en-US" sz="2400" b="1" dirty="0">
              <a:latin typeface="Cambria" panose="02040503050406030204" pitchFamily="18" charset="0"/>
              <a:ea typeface="Cambria" panose="02040503050406030204" pitchFamily="18" charset="0"/>
              <a:hlinkClick r:id="rId2"/>
            </a:endParaRP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hlinkClick r:id="rId3"/>
              </a:rPr>
              <a:t>https://docs.google.com/forms/d/e/1FAIpQLSdoaR30UPyyOY0IRVyChKPoZVB99BOTYyw61SPEVbYoxNepFQ/viewform?usp=pp_url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Home Assignment :-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Q.1 Give significance of V-Number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Q.2 How number of modes depend on V –Number?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0581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5863" y="357188"/>
            <a:ext cx="3028950" cy="630237"/>
          </a:xfrm>
        </p:spPr>
        <p:txBody>
          <a:bodyPr>
            <a:noAutofit/>
          </a:bodyPr>
          <a:lstStyle/>
          <a:p>
            <a:r>
              <a:rPr lang="en-US" sz="4400" b="1" dirty="0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5459" y="1120462"/>
            <a:ext cx="9734416" cy="5601013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[1] 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hlinkClick r:id="rId2"/>
              </a:rPr>
              <a:t>https://www.ispreview.co.uk/index.php/2013/07/alcatel-lucent-breaks-record-with-31tbps-over-a-single-fibre-optic-cable.html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[2]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hlinkClick r:id="rId3"/>
              </a:rPr>
              <a:t>http://constructionmanuals.tpub.com/14026/css/Fiber-Buffers-193.htm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[3]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hlinkClick r:id="rId4"/>
              </a:rPr>
              <a:t>https://www.slideshare.net/ankushsaini123/6796optical-fibres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[4]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hlinkClick r:id="rId5"/>
              </a:rPr>
              <a:t>https://www.slideshare.net/MadhumitaTamhane/optical-fiber-communication-part-1- optical-fiber-fundamentals</a:t>
            </a: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[5] (a)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hlinkClick r:id="rId3"/>
              </a:rPr>
              <a:t> http://constructionmanuals.tpub.com/14026/css/Fiber-Buffers-193.htm</a:t>
            </a: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      (b)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hlinkClick r:id="rId6"/>
              </a:rPr>
              <a:t>https://computer.howstuffworks.com/fiber-optic2.htm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[6]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hlinkClick r:id="rId7"/>
              </a:rPr>
              <a:t>https://www.slideshare.net/PratyushSrivastava8/optical-fiber-cable-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  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hlinkClick r:id="rId8"/>
              </a:rPr>
              <a:t>v2?from_action=save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[7]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hlinkClick r:id="rId9"/>
              </a:rPr>
              <a:t>https://www.ques10.com/p/21598/derive-the-expression-of-numerical-aperture-                   for-a-/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[8]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hlinkClick r:id="rId10"/>
              </a:rPr>
              <a:t>https://www.explainthatstuff.com/fiberoptics.html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[9]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hlinkClick r:id="rId11"/>
              </a:rPr>
              <a:t>http://fiberonda.com/single-mode-vs-multi-mode-fiber-optic-cable/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[10] </a:t>
            </a:r>
            <a:r>
              <a:rPr lang="en-US" sz="2000" u="sng" dirty="0">
                <a:hlinkClick r:id="rId12"/>
              </a:rPr>
              <a:t>https://images.app.goo.gl/LLWfgV3PjgLc9RbDA</a:t>
            </a:r>
            <a:r>
              <a:rPr lang="en-US" sz="2000" dirty="0"/>
              <a:t> 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b="1" dirty="0">
              <a:hlinkClick r:id="rId3"/>
            </a:endParaRP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3603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7669" y="1400783"/>
            <a:ext cx="10557720" cy="49750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400" b="1" dirty="0">
                <a:latin typeface="Cambria" panose="02040503050406030204" pitchFamily="18" charset="0"/>
                <a:ea typeface="Cambria" panose="02040503050406030204" pitchFamily="18" charset="0"/>
              </a:rPr>
              <a:t>Text book </a:t>
            </a:r>
          </a:p>
          <a:p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Beiser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A.,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Ghatak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A,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Garg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S.C., Applied Physics, Edition 1st, (2013), Tata McGraw-Hill, Noida. 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Laud B.B., Laser and Non -Linear Optics, Edition 1st, (1991), Wiley Eastern Ltd. </a:t>
            </a:r>
          </a:p>
          <a:p>
            <a:pPr marL="0" indent="0">
              <a:buNone/>
            </a:pPr>
            <a:r>
              <a:rPr lang="en-US" sz="4400" b="1" dirty="0">
                <a:latin typeface="Cambria" panose="02040503050406030204" pitchFamily="18" charset="0"/>
                <a:ea typeface="Cambria" panose="02040503050406030204" pitchFamily="18" charset="0"/>
              </a:rPr>
              <a:t>E- content</a:t>
            </a:r>
          </a:p>
          <a:p>
            <a:pPr marL="0" indent="0">
              <a:buNone/>
            </a:pPr>
            <a:r>
              <a:rPr lang="en-US" sz="48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>
                <a:hlinkClick r:id="rId2"/>
              </a:rPr>
              <a:t>http://www.fiberopticshare.com/what-are-the-components-of-optical-fiber.html</a:t>
            </a: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6339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C813A83-4CF3-4942-8C24-169E11C40466}"/>
              </a:ext>
            </a:extLst>
          </p:cNvPr>
          <p:cNvSpPr/>
          <p:nvPr/>
        </p:nvSpPr>
        <p:spPr>
          <a:xfrm>
            <a:off x="0" y="0"/>
            <a:ext cx="12192000" cy="4686918"/>
          </a:xfrm>
          <a:prstGeom prst="rect">
            <a:avLst/>
          </a:prstGeom>
          <a:solidFill>
            <a:schemeClr val="accent6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</a:rPr>
              <a:t> 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C6F3F28-25A8-4E20-83C7-12F88E7C28D0}"/>
              </a:ext>
            </a:extLst>
          </p:cNvPr>
          <p:cNvCxnSpPr>
            <a:cxnSpLocks/>
          </p:cNvCxnSpPr>
          <p:nvPr/>
        </p:nvCxnSpPr>
        <p:spPr>
          <a:xfrm>
            <a:off x="9347200" y="0"/>
            <a:ext cx="1828800" cy="182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E1879BF-80CB-413D-9BC1-C05963A116D7}"/>
              </a:ext>
            </a:extLst>
          </p:cNvPr>
          <p:cNvCxnSpPr>
            <a:cxnSpLocks/>
          </p:cNvCxnSpPr>
          <p:nvPr/>
        </p:nvCxnSpPr>
        <p:spPr>
          <a:xfrm>
            <a:off x="10169128" y="0"/>
            <a:ext cx="663972" cy="66397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D354CBC-26FA-4C5C-B91C-AD6F2AE53BC2}"/>
              </a:ext>
            </a:extLst>
          </p:cNvPr>
          <p:cNvCxnSpPr>
            <a:cxnSpLocks/>
          </p:cNvCxnSpPr>
          <p:nvPr/>
        </p:nvCxnSpPr>
        <p:spPr>
          <a:xfrm>
            <a:off x="733426" y="6294597"/>
            <a:ext cx="558345" cy="55834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6F6E02B-7F30-40ED-9667-2C98864546BE}"/>
              </a:ext>
            </a:extLst>
          </p:cNvPr>
          <p:cNvCxnSpPr>
            <a:cxnSpLocks/>
          </p:cNvCxnSpPr>
          <p:nvPr/>
        </p:nvCxnSpPr>
        <p:spPr>
          <a:xfrm>
            <a:off x="390526" y="5129689"/>
            <a:ext cx="1728311" cy="172831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 txBox="1">
            <a:spLocks/>
          </p:cNvSpPr>
          <p:nvPr/>
        </p:nvSpPr>
        <p:spPr>
          <a:xfrm>
            <a:off x="1485902" y="2249080"/>
            <a:ext cx="10725148" cy="123110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THANK YOU</a:t>
            </a:r>
          </a:p>
        </p:txBody>
      </p:sp>
      <p:sp>
        <p:nvSpPr>
          <p:cNvPr id="22" name="Diamond 6">
            <a:extLst>
              <a:ext uri="{FF2B5EF4-FFF2-40B4-BE49-F238E27FC236}">
                <a16:creationId xmlns:a16="http://schemas.microsoft.com/office/drawing/2014/main" id="{AFBA4B1A-59E0-42F9-8062-FE9B4E00A99F}"/>
              </a:ext>
            </a:extLst>
          </p:cNvPr>
          <p:cNvSpPr/>
          <p:nvPr/>
        </p:nvSpPr>
        <p:spPr>
          <a:xfrm>
            <a:off x="2641599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sp>
        <p:nvSpPr>
          <p:cNvPr id="23" name="Diamond 6">
            <a:extLst>
              <a:ext uri="{FF2B5EF4-FFF2-40B4-BE49-F238E27FC236}">
                <a16:creationId xmlns:a16="http://schemas.microsoft.com/office/drawing/2014/main" id="{4F0CA98B-3337-4AC3-8305-ED6C9C731FFB}"/>
              </a:ext>
            </a:extLst>
          </p:cNvPr>
          <p:cNvSpPr/>
          <p:nvPr/>
        </p:nvSpPr>
        <p:spPr>
          <a:xfrm>
            <a:off x="2898774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237520" y="152400"/>
            <a:ext cx="410563" cy="1612900"/>
            <a:chOff x="83821" y="0"/>
            <a:chExt cx="219636" cy="903079"/>
          </a:xfrm>
        </p:grpSpPr>
        <p:sp>
          <p:nvSpPr>
            <p:cNvPr id="30" name="Rectangle 29"/>
            <p:cNvSpPr/>
            <p:nvPr/>
          </p:nvSpPr>
          <p:spPr>
            <a:xfrm>
              <a:off x="84026" y="0"/>
              <a:ext cx="219431" cy="21095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4262" y="408599"/>
              <a:ext cx="219194" cy="49448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83821" y="210952"/>
              <a:ext cx="217937" cy="2209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33" name="Object 32">
              <a:extLst>
                <a:ext uri="{FF2B5EF4-FFF2-40B4-BE49-F238E27FC236}">
                  <a16:creationId xmlns:a16="http://schemas.microsoft.com/office/drawing/2014/main" id="{CAD0D7B8-E462-453C-B296-CA0154FA54A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59142145"/>
                </p:ext>
              </p:extLst>
            </p:nvPr>
          </p:nvGraphicFramePr>
          <p:xfrm>
            <a:off x="100420" y="236973"/>
            <a:ext cx="183878" cy="183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orelDRAW" r:id="rId2" imgW="2169000" imgH="2169360" progId="">
                    <p:embed/>
                  </p:oleObj>
                </mc:Choice>
                <mc:Fallback>
                  <p:oleObj name="CorelDRAW" r:id="rId2" imgW="2169000" imgH="2169360" progId="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lum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420" y="236973"/>
                          <a:ext cx="183878" cy="183422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" name="TextBox 14"/>
          <p:cNvSpPr txBox="1"/>
          <p:nvPr/>
        </p:nvSpPr>
        <p:spPr>
          <a:xfrm>
            <a:off x="3914775" y="5474881"/>
            <a:ext cx="37552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sper"/>
              </a:rPr>
              <a:t>For Queries:-</a:t>
            </a:r>
          </a:p>
          <a:p>
            <a:r>
              <a:rPr lang="en-US" dirty="0">
                <a:latin typeface="Casper"/>
              </a:rPr>
              <a:t>deepak.e1972@cumail.in</a:t>
            </a:r>
          </a:p>
        </p:txBody>
      </p:sp>
    </p:spTree>
    <p:extLst>
      <p:ext uri="{BB962C8B-B14F-4D97-AF65-F5344CB8AC3E}">
        <p14:creationId xmlns:p14="http://schemas.microsoft.com/office/powerpoint/2010/main" val="265650126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3804</TotalTime>
  <Words>888</Words>
  <Application>Microsoft Office PowerPoint</Application>
  <PresentationFormat>Widescreen</PresentationFormat>
  <Paragraphs>122</Paragraphs>
  <Slides>12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7" baseType="lpstr">
      <vt:lpstr>Arial</vt:lpstr>
      <vt:lpstr>Arial Black</vt:lpstr>
      <vt:lpstr>Calibri</vt:lpstr>
      <vt:lpstr>Calibri Light</vt:lpstr>
      <vt:lpstr>Cambria</vt:lpstr>
      <vt:lpstr>Cambria Math</vt:lpstr>
      <vt:lpstr>Casper</vt:lpstr>
      <vt:lpstr>Casper Bold</vt:lpstr>
      <vt:lpstr>Raleway ExtraBold</vt:lpstr>
      <vt:lpstr>Symbol</vt:lpstr>
      <vt:lpstr>Times New Roman</vt:lpstr>
      <vt:lpstr>Wingdings</vt:lpstr>
      <vt:lpstr>1_Office Theme</vt:lpstr>
      <vt:lpstr>Contents Slide Master</vt:lpstr>
      <vt:lpstr>CorelDRAW</vt:lpstr>
      <vt:lpstr>PowerPoint Presentation</vt:lpstr>
      <vt:lpstr> </vt:lpstr>
      <vt:lpstr> </vt:lpstr>
      <vt:lpstr>Brief Flow of Presentation</vt:lpstr>
      <vt:lpstr>PowerPoint Presentation</vt:lpstr>
      <vt:lpstr>V-number or Normalized Frequency</vt:lpstr>
      <vt:lpstr>PowerPoint Presentation</vt:lpstr>
      <vt:lpstr>Summary</vt:lpstr>
      <vt:lpstr>Assessment Test</vt:lpstr>
      <vt:lpstr>References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Branding</dc:creator>
  <cp:lastModifiedBy>Indu Gupta</cp:lastModifiedBy>
  <cp:revision>285</cp:revision>
  <dcterms:created xsi:type="dcterms:W3CDTF">2019-01-09T10:33:58Z</dcterms:created>
  <dcterms:modified xsi:type="dcterms:W3CDTF">2023-06-14T08:06:38Z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1697691</vt:lpwstr>
  </property>
  <property fmtid="{D5CDD505-2E9C-101B-9397-08002B2CF9AE}" pid="3" name="NXPowerLiteSettings">
    <vt:lpwstr>C7000400038000</vt:lpwstr>
  </property>
  <property fmtid="{D5CDD505-2E9C-101B-9397-08002B2CF9AE}" pid="4" name="NXPowerLiteVersion">
    <vt:lpwstr>S9.0.1</vt:lpwstr>
  </property>
</Properties>
</file>