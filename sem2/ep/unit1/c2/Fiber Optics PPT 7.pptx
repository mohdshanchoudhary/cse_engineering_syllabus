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60"/>
  </p:notesMasterIdLst>
  <p:handoutMasterIdLst>
    <p:handoutMasterId r:id="rId61"/>
  </p:handoutMasterIdLst>
  <p:sldIdLst>
    <p:sldId id="277" r:id="rId3"/>
    <p:sldId id="354" r:id="rId4"/>
    <p:sldId id="265" r:id="rId5"/>
    <p:sldId id="281" r:id="rId6"/>
    <p:sldId id="310" r:id="rId7"/>
    <p:sldId id="285" r:id="rId8"/>
    <p:sldId id="300" r:id="rId9"/>
    <p:sldId id="307" r:id="rId10"/>
    <p:sldId id="308" r:id="rId11"/>
    <p:sldId id="309" r:id="rId12"/>
    <p:sldId id="301" r:id="rId13"/>
    <p:sldId id="303" r:id="rId14"/>
    <p:sldId id="302" r:id="rId15"/>
    <p:sldId id="305" r:id="rId16"/>
    <p:sldId id="306" r:id="rId17"/>
    <p:sldId id="304" r:id="rId18"/>
    <p:sldId id="318" r:id="rId19"/>
    <p:sldId id="319" r:id="rId20"/>
    <p:sldId id="314" r:id="rId21"/>
    <p:sldId id="315" r:id="rId22"/>
    <p:sldId id="316" r:id="rId23"/>
    <p:sldId id="317" r:id="rId24"/>
    <p:sldId id="351" r:id="rId25"/>
    <p:sldId id="352" r:id="rId26"/>
    <p:sldId id="320" r:id="rId27"/>
    <p:sldId id="321" r:id="rId28"/>
    <p:sldId id="322" r:id="rId29"/>
    <p:sldId id="323" r:id="rId30"/>
    <p:sldId id="324" r:id="rId31"/>
    <p:sldId id="325" r:id="rId32"/>
    <p:sldId id="326" r:id="rId33"/>
    <p:sldId id="327" r:id="rId34"/>
    <p:sldId id="328" r:id="rId35"/>
    <p:sldId id="329" r:id="rId36"/>
    <p:sldId id="332" r:id="rId37"/>
    <p:sldId id="331" r:id="rId38"/>
    <p:sldId id="335" r:id="rId39"/>
    <p:sldId id="338" r:id="rId40"/>
    <p:sldId id="339" r:id="rId41"/>
    <p:sldId id="336" r:id="rId42"/>
    <p:sldId id="337" r:id="rId43"/>
    <p:sldId id="334" r:id="rId44"/>
    <p:sldId id="340" r:id="rId45"/>
    <p:sldId id="341" r:id="rId46"/>
    <p:sldId id="342" r:id="rId47"/>
    <p:sldId id="343" r:id="rId48"/>
    <p:sldId id="344" r:id="rId49"/>
    <p:sldId id="345" r:id="rId50"/>
    <p:sldId id="346" r:id="rId51"/>
    <p:sldId id="347" r:id="rId52"/>
    <p:sldId id="348" r:id="rId53"/>
    <p:sldId id="349" r:id="rId54"/>
    <p:sldId id="312" r:id="rId55"/>
    <p:sldId id="311" r:id="rId56"/>
    <p:sldId id="313" r:id="rId57"/>
    <p:sldId id="350" r:id="rId58"/>
    <p:sldId id="27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66" d="100"/>
          <a:sy n="66" d="100"/>
        </p:scale>
        <p:origin x="552"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handoutMaster" Target="handoutMasters/handout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t>6/14/2023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t>6/14/2023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rp-photonics.com/fiber_core.html" TargetMode="Externa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8.xml"/><Relationship Id="rId5" Type="http://schemas.openxmlformats.org/officeDocument/2006/relationships/image" Target="../media/image40.png"/><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hyperlink" Target="https://docs.google.com/forms/d/e/1FAIpQLSdoaR30UPyyOY0IRVyChKPoZVB99BOTYyw61SPEVbYoxNepFQ/viewform?usp=pp_url" TargetMode="External"/><Relationship Id="rId2" Type="http://schemas.openxmlformats.org/officeDocument/2006/relationships/hyperlink" Target="https://docs.google.com/forms/d/1w8ZYvA6wP_wNW-mzrkGsNvNi170XonXmUYT-3bvPCPI/edit" TargetMode="Externa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8" Type="http://schemas.openxmlformats.org/officeDocument/2006/relationships/hyperlink" Target="https://www.slideshare.net/PratyushSrivastava8/optical-fiber-cable-v2?from_action=save" TargetMode="External"/><Relationship Id="rId3" Type="http://schemas.openxmlformats.org/officeDocument/2006/relationships/hyperlink" Target="http://constructionmanuals.tpub.com/14026/css/Fiber-Buffers-193.htm" TargetMode="External"/><Relationship Id="rId7" Type="http://schemas.openxmlformats.org/officeDocument/2006/relationships/hyperlink" Target="https://www.slideshare.net/PratyushSrivastava8/optical-fiber-cable-" TargetMode="External"/><Relationship Id="rId12" Type="http://schemas.openxmlformats.org/officeDocument/2006/relationships/hyperlink" Target="https://images.app.goo.gl/LLWfgV3PjgLc9RbDA" TargetMode="External"/><Relationship Id="rId2" Type="http://schemas.openxmlformats.org/officeDocument/2006/relationships/hyperlink" Target="https://www.ispreview.co.uk/index.php/2013/07/alcatel-lucent-breaks-record-with-31tbps-over-a-single-fibre-optic-cable.html" TargetMode="External"/><Relationship Id="rId1" Type="http://schemas.openxmlformats.org/officeDocument/2006/relationships/slideLayout" Target="../slideLayouts/slideLayout8.xml"/><Relationship Id="rId6" Type="http://schemas.openxmlformats.org/officeDocument/2006/relationships/hyperlink" Target="https://computer.howstuffworks.com/fiber-optic2.htm" TargetMode="External"/><Relationship Id="rId11" Type="http://schemas.openxmlformats.org/officeDocument/2006/relationships/hyperlink" Target="http://fiberonda.com/single-mode-vs-multi-mode-fiber-optic-cable/" TargetMode="External"/><Relationship Id="rId5" Type="http://schemas.openxmlformats.org/officeDocument/2006/relationships/hyperlink" Target="https://www.slideshare.net/MadhumitaTamhane/optical-fiber-communication-part-1-optical-fiber-fundamentals" TargetMode="External"/><Relationship Id="rId10" Type="http://schemas.openxmlformats.org/officeDocument/2006/relationships/hyperlink" Target="https://www.explainthatstuff.com/fiberoptics.html" TargetMode="External"/><Relationship Id="rId4" Type="http://schemas.openxmlformats.org/officeDocument/2006/relationships/hyperlink" Target="https://www.slideshare.net/ankushsaini123/6796optical-fibres" TargetMode="External"/><Relationship Id="rId9" Type="http://schemas.openxmlformats.org/officeDocument/2006/relationships/hyperlink" Target="https://www.ques10.com/p/21598/derive-the-expression-of-numerical-aperture-for-a-/" TargetMode="External"/></Relationships>
</file>

<file path=ppt/slides/_rels/slide56.xml.rels><?xml version="1.0" encoding="UTF-8" standalone="yes"?>
<Relationships xmlns="http://schemas.openxmlformats.org/package/2006/relationships"><Relationship Id="rId2" Type="http://schemas.openxmlformats.org/officeDocument/2006/relationships/hyperlink" Target="http://www.fiberopticshare.com/what-are-the-components-of-optical-fiber.html" TargetMode="Externa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072674" y="156275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9213" y="6014156"/>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FIBRE OPTICS </a:t>
            </a:r>
          </a:p>
          <a:p>
            <a:pPr eaLnBrk="1" hangingPunct="1"/>
            <a:r>
              <a:rPr lang="en-US" sz="1600">
                <a:latin typeface="Raleway ExtraBold" pitchFamily="34" charset="-52"/>
              </a:rPr>
              <a:t> </a:t>
            </a:r>
            <a:endParaRPr lang="en-US" sz="1600" dirty="0">
              <a:latin typeface="Raleway ExtraBold" pitchFamily="34" charset="-52"/>
            </a:endParaRPr>
          </a:p>
        </p:txBody>
      </p:sp>
      <p:sp>
        <p:nvSpPr>
          <p:cNvPr id="26" name="TextBox 25"/>
          <p:cNvSpPr txBox="1">
            <a:spLocks noChangeArrowheads="1"/>
          </p:cNvSpPr>
          <p:nvPr/>
        </p:nvSpPr>
        <p:spPr bwMode="auto">
          <a:xfrm>
            <a:off x="844063" y="1562755"/>
            <a:ext cx="10662138" cy="426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ALL ACADEMIC UNITS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(All Sections) </a:t>
            </a:r>
          </a:p>
          <a:p>
            <a:pPr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Prepared by: Deepak Kumar, </a:t>
            </a:r>
            <a:r>
              <a:rPr lang="en-US" sz="2800" dirty="0" err="1">
                <a:latin typeface="Times New Roman" panose="02020603050405020304" pitchFamily="18" charset="0"/>
                <a:ea typeface="Calibri" panose="020F0502020204030204" pitchFamily="34" charset="0"/>
                <a:cs typeface="Times New Roman" panose="02020603050405020304" pitchFamily="18" charset="0"/>
              </a:rPr>
              <a:t>Asso</a:t>
            </a:r>
            <a:r>
              <a:rPr lang="en-US" sz="2800">
                <a:latin typeface="Times New Roman" panose="02020603050405020304" pitchFamily="18" charset="0"/>
                <a:ea typeface="Calibri" panose="020F0502020204030204" pitchFamily="34" charset="0"/>
                <a:cs typeface="Times New Roman" panose="02020603050405020304" pitchFamily="18" charset="0"/>
              </a:rPr>
              <a:t>. </a:t>
            </a:r>
            <a:r>
              <a:rPr lang="en-US" sz="2800" dirty="0">
                <a:latin typeface="Times New Roman" panose="02020603050405020304" pitchFamily="18" charset="0"/>
                <a:ea typeface="Calibri" panose="020F0502020204030204" pitchFamily="34" charset="0"/>
                <a:cs typeface="Times New Roman" panose="02020603050405020304" pitchFamily="18" charset="0"/>
              </a:rPr>
              <a:t>Prof. Physics</a:t>
            </a:r>
          </a:p>
          <a:p>
            <a:pPr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2</a:t>
            </a:fld>
            <a:endParaRPr lang="en-US" dirty="0"/>
          </a:p>
        </p:txBody>
      </p:sp>
      <p:sp>
        <p:nvSpPr>
          <p:cNvPr id="8" name="Title 7"/>
          <p:cNvSpPr txBox="1">
            <a:spLocks noGrp="1" noChangeArrowheads="1"/>
          </p:cNvSpPr>
          <p:nvPr>
            <p:ph type="title"/>
          </p:nvPr>
        </p:nvSpPr>
        <p:spPr bwMode="auto">
          <a:xfrm>
            <a:off x="-287717" y="1297692"/>
            <a:ext cx="4456567" cy="1328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956603" y="1055077"/>
            <a:ext cx="9811481" cy="4462760"/>
          </a:xfrm>
          <a:prstGeom prst="rect">
            <a:avLst/>
          </a:prstGeom>
        </p:spPr>
        <p:txBody>
          <a:bodyPr wrap="square">
            <a:spAutoFit/>
          </a:bodyPr>
          <a:lstStyle/>
          <a:p>
            <a:r>
              <a:rPr lang="en-IN" sz="4400" dirty="0"/>
              <a:t> </a:t>
            </a:r>
            <a:endParaRPr lang="en-US" sz="4400" dirty="0"/>
          </a:p>
          <a:p>
            <a:pPr marL="342900" lvl="0" indent="-342900" algn="just">
              <a:buFont typeface="Arial" panose="020B0604020202020204" pitchFamily="34" charset="0"/>
              <a:buChar char="•"/>
            </a:pPr>
            <a:r>
              <a:rPr lang="en-IN" sz="2400" dirty="0">
                <a:latin typeface="Cambria" panose="02040503050406030204" pitchFamily="18" charset="0"/>
                <a:ea typeface="Cambria" panose="02040503050406030204" pitchFamily="18" charset="0"/>
              </a:rPr>
              <a:t>The course is designed to make the students industry ready to contribute in the growing demand of the industry at local, national and international level.</a:t>
            </a:r>
            <a:endParaRPr lang="en-US" sz="2400" dirty="0">
              <a:latin typeface="Cambria" panose="02040503050406030204" pitchFamily="18" charset="0"/>
              <a:ea typeface="Cambria" panose="02040503050406030204" pitchFamily="18" charset="0"/>
            </a:endParaRPr>
          </a:p>
          <a:p>
            <a:pPr marL="342900" lvl="0" indent="-342900" algn="just">
              <a:buFont typeface="Arial" panose="020B0604020202020204" pitchFamily="34" charset="0"/>
              <a:buChar char="•"/>
            </a:pPr>
            <a:r>
              <a:rPr lang="en-IN" sz="2400" dirty="0">
                <a:latin typeface="Cambria" panose="02040503050406030204" pitchFamily="18" charset="0"/>
                <a:ea typeface="Cambria" panose="02040503050406030204" pitchFamily="18" charset="0"/>
              </a:rPr>
              <a:t>It will make the students competent to understand basic concepts and applications of advanced engineering physics and apply its principles in their respective fields at global platform.</a:t>
            </a:r>
            <a:endParaRPr lang="en-US" sz="2400" dirty="0">
              <a:latin typeface="Cambria" panose="02040503050406030204" pitchFamily="18" charset="0"/>
              <a:ea typeface="Cambria" panose="02040503050406030204" pitchFamily="18" charset="0"/>
            </a:endParaRPr>
          </a:p>
          <a:p>
            <a:pPr marL="342900" lvl="0" indent="-342900" algn="just">
              <a:buFont typeface="Arial" panose="020B0604020202020204" pitchFamily="34" charset="0"/>
              <a:buChar char="•"/>
            </a:pPr>
            <a:r>
              <a:rPr lang="en-IN" sz="2400" dirty="0">
                <a:latin typeface="Cambria" panose="02040503050406030204" pitchFamily="18" charset="0"/>
                <a:ea typeface="Cambria" panose="02040503050406030204" pitchFamily="18" charset="0"/>
              </a:rPr>
              <a:t>It will enhance the skill level of the students and shall make them preferred choice for getting employment in industry and research labs.</a:t>
            </a:r>
            <a:endParaRPr lang="en-US" sz="2400" dirty="0">
              <a:latin typeface="Cambria" panose="02040503050406030204" pitchFamily="18" charset="0"/>
              <a:ea typeface="Cambria" panose="02040503050406030204" pitchFamily="18" charset="0"/>
            </a:endParaRPr>
          </a:p>
          <a:p>
            <a:pPr marL="342900" lvl="0" indent="-342900" algn="just">
              <a:buFont typeface="Arial" panose="020B0604020202020204" pitchFamily="34" charset="0"/>
              <a:buChar char="•"/>
            </a:pPr>
            <a:r>
              <a:rPr lang="en-IN" sz="2400" dirty="0">
                <a:latin typeface="Cambria" panose="02040503050406030204" pitchFamily="18" charset="0"/>
                <a:ea typeface="Cambria" panose="02040503050406030204" pitchFamily="18" charset="0"/>
              </a:rPr>
              <a:t>It will give thorough knowledge of the discipline to enable students to disseminate knowledge in pursuing excellence in academic areas.</a:t>
            </a:r>
            <a:endParaRPr lang="en-US" sz="2400" dirty="0">
              <a:latin typeface="Cambria" panose="02040503050406030204" pitchFamily="18" charset="0"/>
              <a:ea typeface="Cambria" panose="02040503050406030204" pitchFamily="18" charset="0"/>
            </a:endParaRPr>
          </a:p>
        </p:txBody>
      </p:sp>
      <p:sp>
        <p:nvSpPr>
          <p:cNvPr id="3" name="TextBox 2"/>
          <p:cNvSpPr txBox="1"/>
          <p:nvPr/>
        </p:nvSpPr>
        <p:spPr>
          <a:xfrm>
            <a:off x="2982351" y="331802"/>
            <a:ext cx="7540284" cy="1446550"/>
          </a:xfrm>
          <a:prstGeom prst="rect">
            <a:avLst/>
          </a:prstGeom>
          <a:noFill/>
        </p:spPr>
        <p:txBody>
          <a:bodyPr wrap="square" rtlCol="0">
            <a:spAutoFit/>
          </a:bodyPr>
          <a:lstStyle/>
          <a:p>
            <a:r>
              <a:rPr lang="en-IN" sz="4400" b="1" dirty="0">
                <a:latin typeface="Cambria" panose="02040503050406030204" pitchFamily="18" charset="0"/>
                <a:ea typeface="Cambria" panose="02040503050406030204" pitchFamily="18" charset="0"/>
              </a:rPr>
              <a:t>Course Objectives</a:t>
            </a:r>
            <a:endParaRPr lang="en-US" sz="4400" dirty="0">
              <a:latin typeface="Cambria" panose="02040503050406030204" pitchFamily="18" charset="0"/>
              <a:ea typeface="Cambria" panose="02040503050406030204" pitchFamily="18" charset="0"/>
            </a:endParaRPr>
          </a:p>
          <a:p>
            <a:endParaRPr lang="en-US" sz="4400" dirty="0"/>
          </a:p>
        </p:txBody>
      </p:sp>
    </p:spTree>
    <p:extLst>
      <p:ext uri="{BB962C8B-B14F-4D97-AF65-F5344CB8AC3E}">
        <p14:creationId xmlns:p14="http://schemas.microsoft.com/office/powerpoint/2010/main" val="3683904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3</a:t>
            </a:fld>
            <a:endParaRPr lang="en-US" dirty="0"/>
          </a:p>
        </p:txBody>
      </p:sp>
      <p:sp>
        <p:nvSpPr>
          <p:cNvPr id="8" name="Title 7"/>
          <p:cNvSpPr txBox="1">
            <a:spLocks noGrp="1" noChangeArrowheads="1"/>
          </p:cNvSpPr>
          <p:nvPr>
            <p:ph type="title"/>
          </p:nvPr>
        </p:nvSpPr>
        <p:spPr bwMode="auto">
          <a:xfrm>
            <a:off x="3571875" y="-105382"/>
            <a:ext cx="3500438"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28468" y="98474"/>
            <a:ext cx="4929408" cy="769441"/>
          </a:xfrm>
          <a:prstGeom prst="rect">
            <a:avLst/>
          </a:prstGeom>
        </p:spPr>
        <p:txBody>
          <a:bodyPr wrap="square">
            <a:spAutoFit/>
          </a:bodyPr>
          <a:lstStyle/>
          <a:p>
            <a:r>
              <a:rPr lang="en-US" sz="4400" b="1" dirty="0">
                <a:latin typeface="Cambria" panose="02040503050406030204" pitchFamily="18" charset="0"/>
                <a:ea typeface="Cambria" panose="02040503050406030204" pitchFamily="18" charset="0"/>
              </a:rPr>
              <a:t>Course Outcomes </a:t>
            </a:r>
          </a:p>
        </p:txBody>
      </p:sp>
      <p:pic>
        <p:nvPicPr>
          <p:cNvPr id="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3680" y="1287996"/>
            <a:ext cx="5213290" cy="5011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300788" y="6299199"/>
            <a:ext cx="5177178" cy="338554"/>
          </a:xfrm>
          <a:prstGeom prst="rect">
            <a:avLst/>
          </a:prstGeom>
          <a:noFill/>
        </p:spPr>
        <p:txBody>
          <a:bodyPr wrap="square" rtlCol="0">
            <a:spAutoFit/>
          </a:bodyPr>
          <a:lstStyle/>
          <a:p>
            <a:r>
              <a:rPr lang="en-US" sz="1600" dirty="0">
                <a:latin typeface="Casper"/>
              </a:rPr>
              <a:t>                       Figure 2.1 Optical fibres [1]</a:t>
            </a:r>
          </a:p>
        </p:txBody>
      </p:sp>
      <p:graphicFrame>
        <p:nvGraphicFramePr>
          <p:cNvPr id="13" name="Table 12"/>
          <p:cNvGraphicFramePr>
            <a:graphicFrameLocks noGrp="1"/>
          </p:cNvGraphicFramePr>
          <p:nvPr>
            <p:extLst>
              <p:ext uri="{D42A27DB-BD31-4B8C-83A1-F6EECF244321}">
                <p14:modId xmlns:p14="http://schemas.microsoft.com/office/powerpoint/2010/main" val="2775070057"/>
              </p:ext>
            </p:extLst>
          </p:nvPr>
        </p:nvGraphicFramePr>
        <p:xfrm>
          <a:off x="177421" y="2096487"/>
          <a:ext cx="5477164" cy="4637392"/>
        </p:xfrm>
        <a:graphic>
          <a:graphicData uri="http://schemas.openxmlformats.org/drawingml/2006/table">
            <a:tbl>
              <a:tblPr firstRow="1" firstCol="1" bandRow="1">
                <a:tableStyleId>{5940675A-B579-460E-94D1-54222C63F5DA}</a:tableStyleId>
              </a:tblPr>
              <a:tblGrid>
                <a:gridCol w="843045">
                  <a:extLst>
                    <a:ext uri="{9D8B030D-6E8A-4147-A177-3AD203B41FA5}">
                      <a16:colId xmlns:a16="http://schemas.microsoft.com/office/drawing/2014/main" val="20000"/>
                    </a:ext>
                  </a:extLst>
                </a:gridCol>
                <a:gridCol w="3661864">
                  <a:extLst>
                    <a:ext uri="{9D8B030D-6E8A-4147-A177-3AD203B41FA5}">
                      <a16:colId xmlns:a16="http://schemas.microsoft.com/office/drawing/2014/main" val="20001"/>
                    </a:ext>
                  </a:extLst>
                </a:gridCol>
                <a:gridCol w="972255">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Quote the basic fundamental concepts of lasers, optical </a:t>
                      </a:r>
                      <a:r>
                        <a:rPr lang="en-US" sz="1100" dirty="0" err="1">
                          <a:effectLst/>
                          <a:latin typeface="Calibri"/>
                          <a:ea typeface="Calibri"/>
                          <a:cs typeface="Calibri"/>
                        </a:rPr>
                        <a:t>fibres</a:t>
                      </a:r>
                      <a:r>
                        <a:rPr lang="en-US" sz="1100" dirty="0">
                          <a:effectLst/>
                          <a:latin typeface="Calibri"/>
                          <a:ea typeface="Calibri"/>
                          <a:cs typeface="Calibri"/>
                        </a:rPr>
                        <a:t>, crystallography, ultrasonic oscillations, semiconductor physics, quantum mechanics and nanotechnology.</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Demonstrate the working of various lasers, </a:t>
                      </a:r>
                      <a:r>
                        <a:rPr lang="en-US" sz="1100" dirty="0" err="1">
                          <a:effectLst/>
                          <a:latin typeface="Calibri"/>
                          <a:ea typeface="Calibri"/>
                          <a:cs typeface="Calibri"/>
                        </a:rPr>
                        <a:t>fibre</a:t>
                      </a:r>
                      <a:r>
                        <a:rPr lang="en-US" sz="1100" dirty="0">
                          <a:effectLst/>
                          <a:latin typeface="Calibri"/>
                          <a:ea typeface="Calibri"/>
                          <a:cs typeface="Calibri"/>
                        </a:rPr>
                        <a:t> components, semiconductor devices; explain the </a:t>
                      </a:r>
                      <a:r>
                        <a:rPr lang="en-US" sz="1100" dirty="0" err="1">
                          <a:effectLst/>
                          <a:latin typeface="Calibri"/>
                          <a:ea typeface="Calibri"/>
                          <a:cs typeface="Calibri"/>
                        </a:rPr>
                        <a:t>behaviour</a:t>
                      </a:r>
                      <a:r>
                        <a:rPr lang="en-US" sz="1100" dirty="0">
                          <a:effectLst/>
                          <a:latin typeface="Calibri"/>
                          <a:ea typeface="Calibri"/>
                          <a:cs typeface="Calibri"/>
                        </a:rPr>
                        <a:t> of crystalline solids, quantum and </a:t>
                      </a:r>
                      <a:r>
                        <a:rPr lang="en-US" sz="1100" dirty="0" err="1">
                          <a:effectLst/>
                          <a:latin typeface="Calibri"/>
                          <a:ea typeface="Calibri"/>
                          <a:cs typeface="Calibri"/>
                        </a:rPr>
                        <a:t>nano</a:t>
                      </a:r>
                      <a:r>
                        <a:rPr lang="en-US" sz="1100" dirty="0">
                          <a:effectLst/>
                          <a:latin typeface="Calibri"/>
                          <a:ea typeface="Calibri"/>
                          <a:cs typeface="Calibri"/>
                        </a:rPr>
                        <a:t>-scale systems.</a:t>
                      </a:r>
                      <a:endParaRPr lang="en-US" sz="110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Solve problems by applying principles related to lasers, </a:t>
                      </a:r>
                      <a:r>
                        <a:rPr lang="en-US" sz="1100" dirty="0" err="1">
                          <a:effectLst/>
                          <a:latin typeface="Calibri"/>
                          <a:ea typeface="Calibri"/>
                          <a:cs typeface="Calibri"/>
                        </a:rPr>
                        <a:t>fibres</a:t>
                      </a:r>
                      <a:r>
                        <a:rPr lang="en-US" sz="1100" dirty="0">
                          <a:effectLst/>
                          <a:latin typeface="Calibri"/>
                          <a:ea typeface="Calibri"/>
                          <a:cs typeface="Calibri"/>
                        </a:rPr>
                        <a:t>, semiconductors, oscillations, quantum and </a:t>
                      </a:r>
                      <a:r>
                        <a:rPr lang="en-US" sz="1100" dirty="0" err="1">
                          <a:effectLst/>
                          <a:latin typeface="Calibri"/>
                          <a:ea typeface="Calibri"/>
                          <a:cs typeface="Calibri"/>
                        </a:rPr>
                        <a:t>nanoscience</a:t>
                      </a:r>
                      <a:r>
                        <a:rPr lang="en-US" sz="1100" dirty="0">
                          <a:effectLst/>
                          <a:latin typeface="Calibri"/>
                          <a:ea typeface="Calibri"/>
                          <a:cs typeface="Calibri"/>
                        </a:rPr>
                        <a:t>.</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Compare various lasers and </a:t>
                      </a:r>
                      <a:r>
                        <a:rPr lang="en-US" sz="1100" dirty="0" err="1">
                          <a:effectLst/>
                          <a:latin typeface="Calibri"/>
                          <a:ea typeface="Calibri"/>
                          <a:cs typeface="Calibri"/>
                        </a:rPr>
                        <a:t>fibres</a:t>
                      </a:r>
                      <a:r>
                        <a:rPr lang="en-US" sz="1100" dirty="0">
                          <a:effectLst/>
                          <a:latin typeface="Calibri"/>
                          <a:ea typeface="Calibri"/>
                          <a:cs typeface="Calibri"/>
                        </a:rPr>
                        <a:t>, semiconducting devices, crystalline materials, structures at quantum and </a:t>
                      </a:r>
                      <a:r>
                        <a:rPr lang="en-US" sz="1100" dirty="0" err="1">
                          <a:effectLst/>
                          <a:latin typeface="Calibri"/>
                          <a:ea typeface="Calibri"/>
                          <a:cs typeface="Calibri"/>
                        </a:rPr>
                        <a:t>nanoscale</a:t>
                      </a:r>
                      <a:r>
                        <a:rPr lang="en-US" sz="1100" dirty="0">
                          <a:effectLst/>
                          <a:latin typeface="Calibri"/>
                          <a:ea typeface="Calibri"/>
                          <a:cs typeface="Calibri"/>
                        </a:rPr>
                        <a:t> on the basis of their properties for industrial applications.</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Develop various systems using lasers, </a:t>
                      </a:r>
                      <a:r>
                        <a:rPr lang="en-US" sz="1100" dirty="0" err="1">
                          <a:effectLst/>
                          <a:latin typeface="Calibri"/>
                          <a:ea typeface="Calibri"/>
                          <a:cs typeface="Calibri"/>
                        </a:rPr>
                        <a:t>fibres</a:t>
                      </a:r>
                      <a:r>
                        <a:rPr lang="en-US" sz="1100" dirty="0">
                          <a:effectLst/>
                          <a:latin typeface="Calibri"/>
                          <a:ea typeface="Calibri"/>
                          <a:cs typeface="Calibri"/>
                        </a:rPr>
                        <a:t>, semiconductors and </a:t>
                      </a:r>
                      <a:r>
                        <a:rPr lang="en-US" sz="1100" dirty="0" err="1">
                          <a:effectLst/>
                          <a:latin typeface="Calibri"/>
                          <a:ea typeface="Calibri"/>
                          <a:cs typeface="Calibri"/>
                        </a:rPr>
                        <a:t>nanomaterials</a:t>
                      </a:r>
                      <a:r>
                        <a:rPr lang="en-US" sz="1100" dirty="0">
                          <a:effectLst/>
                          <a:latin typeface="Calibri"/>
                          <a:ea typeface="Calibri"/>
                          <a:cs typeface="Calibri"/>
                        </a:rPr>
                        <a:t> for futuristic applications.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1809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 y="1237956"/>
            <a:ext cx="5711134" cy="5620043"/>
          </a:xfrm>
        </p:spPr>
        <p:txBody>
          <a:bodyPr>
            <a:noAutofit/>
          </a:bodyPr>
          <a:lstStyle/>
          <a:p>
            <a:pPr marL="355600" indent="-342900">
              <a:lnSpc>
                <a:spcPct val="100000"/>
              </a:lnSpc>
              <a:spcBef>
                <a:spcPts val="310"/>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Times New Roman" pitchFamily="18" charset="0"/>
              </a:rPr>
              <a:t>  </a:t>
            </a:r>
            <a:r>
              <a:rPr lang="en-US" sz="2400" dirty="0">
                <a:latin typeface="Cambria" panose="02040503050406030204" pitchFamily="18" charset="0"/>
                <a:ea typeface="Cambria" panose="02040503050406030204" pitchFamily="18" charset="0"/>
                <a:cs typeface="Arial"/>
              </a:rPr>
              <a:t>Brief</a:t>
            </a:r>
            <a:r>
              <a:rPr lang="en-US" sz="2400" spc="-15" dirty="0">
                <a:latin typeface="Cambria" panose="02040503050406030204" pitchFamily="18" charset="0"/>
                <a:ea typeface="Cambria" panose="02040503050406030204" pitchFamily="18" charset="0"/>
                <a:cs typeface="Arial"/>
              </a:rPr>
              <a:t> </a:t>
            </a:r>
            <a:r>
              <a:rPr lang="en-US" sz="2400" spc="-5" dirty="0">
                <a:latin typeface="Cambria" panose="02040503050406030204" pitchFamily="18" charset="0"/>
                <a:ea typeface="Cambria" panose="02040503050406030204" pitchFamily="18" charset="0"/>
                <a:cs typeface="Arial"/>
              </a:rPr>
              <a:t>Introduction</a:t>
            </a:r>
            <a:endParaRPr lang="en-US" sz="2400" dirty="0">
              <a:latin typeface="Cambria" panose="02040503050406030204" pitchFamily="18" charset="0"/>
              <a:ea typeface="Cambria" panose="02040503050406030204" pitchFamily="18" charset="0"/>
              <a:cs typeface="Arial"/>
            </a:endParaRPr>
          </a:p>
          <a:p>
            <a:pPr marL="469900" indent="-457200">
              <a:lnSpc>
                <a:spcPct val="100000"/>
              </a:lnSpc>
              <a:spcBef>
                <a:spcPts val="234"/>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Optical fiber</a:t>
            </a:r>
            <a:r>
              <a:rPr lang="en-US" sz="2400" spc="-4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construction</a:t>
            </a: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Critical angle &amp; </a:t>
            </a:r>
            <a:r>
              <a:rPr lang="en-US" sz="2400" spc="-45" dirty="0">
                <a:latin typeface="Cambria" panose="02040503050406030204" pitchFamily="18" charset="0"/>
                <a:ea typeface="Cambria" panose="02040503050406030204" pitchFamily="18" charset="0"/>
                <a:cs typeface="Arial"/>
              </a:rPr>
              <a:t>Total </a:t>
            </a:r>
            <a:r>
              <a:rPr lang="en-US" sz="2400" dirty="0">
                <a:latin typeface="Cambria" panose="02040503050406030204" pitchFamily="18" charset="0"/>
                <a:ea typeface="Cambria" panose="02040503050406030204" pitchFamily="18" charset="0"/>
                <a:cs typeface="Arial"/>
              </a:rPr>
              <a:t>Internal</a:t>
            </a:r>
            <a:r>
              <a:rPr lang="en-US" sz="2400" spc="-114"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Reflection</a:t>
            </a:r>
          </a:p>
          <a:p>
            <a:pPr marL="469900" indent="-457200">
              <a:lnSpc>
                <a:spcPct val="100000"/>
              </a:lnSpc>
              <a:spcBef>
                <a:spcPts val="229"/>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Acceptance angle &amp; acceptance</a:t>
            </a:r>
            <a:r>
              <a:rPr lang="en-US" sz="2400" spc="-12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cone</a:t>
            </a: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Numerical</a:t>
            </a:r>
            <a:r>
              <a:rPr lang="en-US" sz="2400" spc="-140"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Aperture</a:t>
            </a: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spc="-15" dirty="0">
                <a:latin typeface="Cambria" panose="02040503050406030204" pitchFamily="18" charset="0"/>
                <a:ea typeface="Cambria" panose="02040503050406030204" pitchFamily="18" charset="0"/>
                <a:cs typeface="Arial"/>
              </a:rPr>
              <a:t>V-Number</a:t>
            </a: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spc="-20" dirty="0">
                <a:latin typeface="Cambria" panose="02040503050406030204" pitchFamily="18" charset="0"/>
                <a:ea typeface="Cambria" panose="02040503050406030204" pitchFamily="18" charset="0"/>
                <a:cs typeface="Arial"/>
              </a:rPr>
              <a:t>Types </a:t>
            </a:r>
            <a:r>
              <a:rPr lang="en-US" sz="2400" dirty="0">
                <a:latin typeface="Cambria" panose="02040503050406030204" pitchFamily="18" charset="0"/>
                <a:ea typeface="Cambria" panose="02040503050406030204" pitchFamily="18" charset="0"/>
                <a:cs typeface="Arial"/>
              </a:rPr>
              <a:t>of fibers</a:t>
            </a:r>
          </a:p>
          <a:p>
            <a:pPr marL="469900" indent="-457200">
              <a:lnSpc>
                <a:spcPct val="100000"/>
              </a:lnSpc>
              <a:spcBef>
                <a:spcPts val="229"/>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Dispersion &amp; its</a:t>
            </a:r>
            <a:r>
              <a:rPr lang="en-US" sz="2400" spc="-60" dirty="0">
                <a:latin typeface="Cambria" panose="02040503050406030204" pitchFamily="18" charset="0"/>
                <a:ea typeface="Cambria" panose="02040503050406030204" pitchFamily="18" charset="0"/>
                <a:cs typeface="Arial"/>
              </a:rPr>
              <a:t> </a:t>
            </a:r>
            <a:r>
              <a:rPr lang="en-US" sz="2400" spc="-5" dirty="0">
                <a:latin typeface="Cambria" panose="02040503050406030204" pitchFamily="18" charset="0"/>
                <a:ea typeface="Cambria" panose="02040503050406030204" pitchFamily="18" charset="0"/>
                <a:cs typeface="Arial"/>
              </a:rPr>
              <a:t>types</a:t>
            </a:r>
            <a:endParaRPr lang="en-US" sz="2400" dirty="0">
              <a:latin typeface="Cambria" panose="02040503050406030204" pitchFamily="18" charset="0"/>
              <a:ea typeface="Cambria" panose="02040503050406030204" pitchFamily="18" charset="0"/>
              <a:cs typeface="Arial"/>
            </a:endParaRP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Attenuation and Losses in</a:t>
            </a:r>
            <a:r>
              <a:rPr lang="en-US" sz="2400" spc="-9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Fiber</a:t>
            </a: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Advantages</a:t>
            </a:r>
          </a:p>
          <a:p>
            <a:pPr marL="469900" indent="-457200">
              <a:lnSpc>
                <a:spcPct val="100000"/>
              </a:lnSpc>
              <a:spcBef>
                <a:spcPts val="215"/>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Disadvantages</a:t>
            </a:r>
          </a:p>
          <a:p>
            <a:pPr marL="469900" indent="-457200">
              <a:lnSpc>
                <a:spcPct val="100000"/>
              </a:lnSpc>
              <a:spcBef>
                <a:spcPts val="229"/>
              </a:spcBef>
              <a:buClr>
                <a:srgbClr val="DD8046"/>
              </a:buClr>
              <a:buSzPct val="60000"/>
              <a:buFont typeface="Arial" panose="020B0604020202020204" pitchFamily="34" charset="0"/>
              <a:buChar char="•"/>
              <a:tabLst>
                <a:tab pos="332105" algn="l"/>
                <a:tab pos="332740" algn="l"/>
              </a:tabLst>
            </a:pPr>
            <a:r>
              <a:rPr lang="en-US" sz="2400" dirty="0">
                <a:latin typeface="Cambria" panose="02040503050406030204" pitchFamily="18" charset="0"/>
                <a:ea typeface="Cambria" panose="02040503050406030204" pitchFamily="18" charset="0"/>
                <a:cs typeface="Arial"/>
              </a:rPr>
              <a:t>Applications</a:t>
            </a:r>
          </a:p>
          <a:p>
            <a:pPr>
              <a:lnSpc>
                <a:spcPct val="150000"/>
              </a:lnSpc>
            </a:pPr>
            <a:endParaRPr lang="en-US" dirty="0">
              <a:latin typeface="Casper"/>
              <a:cs typeface="Times New Roman" pitchFamily="18" charset="0"/>
            </a:endParaRPr>
          </a:p>
          <a:p>
            <a:pPr algn="just">
              <a:lnSpc>
                <a:spcPct val="150000"/>
              </a:lnSpc>
            </a:pPr>
            <a:endParaRPr lang="en-US" dirty="0">
              <a:solidFill>
                <a:schemeClr val="tx1">
                  <a:lumMod val="85000"/>
                  <a:lumOff val="15000"/>
                </a:schemeClr>
              </a:solidFill>
              <a:latin typeface="Casper"/>
              <a:cs typeface="Arial" panose="020B0604020202020204" pitchFamily="34" charset="0"/>
            </a:endParaRPr>
          </a:p>
          <a:p>
            <a:endParaRPr lang="en-US"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4</a:t>
            </a:fld>
            <a:endParaRPr lang="en-US" dirty="0"/>
          </a:p>
        </p:txBody>
      </p:sp>
      <p:sp>
        <p:nvSpPr>
          <p:cNvPr id="8" name="Title 7"/>
          <p:cNvSpPr txBox="1">
            <a:spLocks noGrp="1" noChangeArrowheads="1"/>
          </p:cNvSpPr>
          <p:nvPr>
            <p:ph type="title"/>
          </p:nvPr>
        </p:nvSpPr>
        <p:spPr bwMode="auto">
          <a:xfrm rot="10800000" flipV="1">
            <a:off x="858129" y="285685"/>
            <a:ext cx="8553156"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mbria" panose="02040503050406030204" pitchFamily="18" charset="0"/>
                <a:ea typeface="Cambria" panose="02040503050406030204" pitchFamily="18" charset="0"/>
              </a:rPr>
              <a:t>Brief Flow of Presentation</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711134" y="6155323"/>
            <a:ext cx="5428132" cy="338554"/>
          </a:xfrm>
          <a:prstGeom prst="rect">
            <a:avLst/>
          </a:prstGeom>
          <a:noFill/>
        </p:spPr>
        <p:txBody>
          <a:bodyPr wrap="square" rtlCol="0">
            <a:spAutoFit/>
          </a:bodyPr>
          <a:lstStyle/>
          <a:p>
            <a:r>
              <a:rPr lang="en-US" sz="1600" dirty="0">
                <a:latin typeface="Casper"/>
              </a:rPr>
              <a:t>Figure 2.2  Basic structure </a:t>
            </a:r>
            <a:r>
              <a:rPr lang="en-US" sz="1600">
                <a:latin typeface="Casper"/>
              </a:rPr>
              <a:t>and parts </a:t>
            </a:r>
            <a:r>
              <a:rPr lang="en-US" sz="1600" dirty="0">
                <a:latin typeface="Casper"/>
              </a:rPr>
              <a:t>of optical fibre [2]</a:t>
            </a:r>
          </a:p>
        </p:txBody>
      </p:sp>
      <p:pic>
        <p:nvPicPr>
          <p:cNvPr id="2" name="Picture 1"/>
          <p:cNvPicPr>
            <a:picLocks noChangeAspect="1"/>
          </p:cNvPicPr>
          <p:nvPr/>
        </p:nvPicPr>
        <p:blipFill>
          <a:blip r:embed="rId2"/>
          <a:stretch>
            <a:fillRect/>
          </a:stretch>
        </p:blipFill>
        <p:spPr>
          <a:xfrm>
            <a:off x="6286501" y="1486287"/>
            <a:ext cx="4157662" cy="4142988"/>
          </a:xfrm>
          <a:prstGeom prst="rect">
            <a:avLst/>
          </a:prstGeom>
        </p:spPr>
      </p:pic>
    </p:spTree>
    <p:extLst>
      <p:ext uri="{BB962C8B-B14F-4D97-AF65-F5344CB8AC3E}">
        <p14:creationId xmlns:p14="http://schemas.microsoft.com/office/powerpoint/2010/main" val="693801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8806" y="154746"/>
            <a:ext cx="8510953" cy="844060"/>
          </a:xfrm>
        </p:spPr>
        <p:txBody>
          <a:bodyPr>
            <a:noAutofit/>
          </a:bodyPr>
          <a:lstStyle/>
          <a:p>
            <a:r>
              <a:rPr lang="en-US" sz="4400" b="1" dirty="0">
                <a:latin typeface="Cambria" panose="02040503050406030204" pitchFamily="18" charset="0"/>
                <a:ea typeface="Cambria" panose="02040503050406030204" pitchFamily="18" charset="0"/>
              </a:rPr>
              <a:t>Definition of Optical fiber</a:t>
            </a:r>
          </a:p>
        </p:txBody>
      </p:sp>
      <p:sp>
        <p:nvSpPr>
          <p:cNvPr id="4" name="Text Placeholder 3"/>
          <p:cNvSpPr>
            <a:spLocks noGrp="1"/>
          </p:cNvSpPr>
          <p:nvPr>
            <p:ph type="body" sz="half" idx="2"/>
          </p:nvPr>
        </p:nvSpPr>
        <p:spPr>
          <a:xfrm>
            <a:off x="728662" y="1600201"/>
            <a:ext cx="9043987" cy="4756150"/>
          </a:xfrm>
        </p:spPr>
        <p:txBody>
          <a:bodyPr>
            <a:noAutofit/>
          </a:bodyPr>
          <a:lstStyle/>
          <a:p>
            <a:pPr algn="just"/>
            <a:r>
              <a:rPr lang="en-US" sz="2400" dirty="0">
                <a:latin typeface="Cambria" panose="02040503050406030204" pitchFamily="18" charset="0"/>
                <a:ea typeface="Cambria" panose="02040503050406030204" pitchFamily="18" charset="0"/>
              </a:rPr>
              <a:t>An </a:t>
            </a:r>
            <a:r>
              <a:rPr lang="en-US" sz="2400" b="1" dirty="0">
                <a:latin typeface="Cambria" panose="02040503050406030204" pitchFamily="18" charset="0"/>
                <a:ea typeface="Cambria" panose="02040503050406030204" pitchFamily="18" charset="0"/>
              </a:rPr>
              <a:t>optical fiber </a:t>
            </a:r>
            <a:r>
              <a:rPr lang="en-US" sz="2400" dirty="0">
                <a:latin typeface="Cambria" panose="02040503050406030204" pitchFamily="18" charset="0"/>
                <a:ea typeface="Cambria" panose="02040503050406030204" pitchFamily="18" charset="0"/>
              </a:rPr>
              <a:t>is a flexible, transparent fiber made by glass (silica) or plastic to a diameter slightly thicker than that of a human hair.</a:t>
            </a:r>
          </a:p>
          <a:p>
            <a:pPr algn="just"/>
            <a:endParaRPr lang="en-US" sz="2400" dirty="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Optical fiber is a dielectric waveguide and ideally has a cylindrical shape.</a:t>
            </a:r>
          </a:p>
          <a:p>
            <a:pPr algn="just"/>
            <a:endParaRPr lang="en-US" sz="2400" dirty="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 It consists of a core made up of a dielectric material which is surrounded by a cladding made up of a dielectric material of lower refractive index than core.</a:t>
            </a:r>
          </a:p>
        </p:txBody>
      </p:sp>
      <p:sp>
        <p:nvSpPr>
          <p:cNvPr id="5" name="Slide Number Placeholder 4"/>
          <p:cNvSpPr>
            <a:spLocks noGrp="1"/>
          </p:cNvSpPr>
          <p:nvPr>
            <p:ph type="sldNum" sz="quarter" idx="12"/>
          </p:nvPr>
        </p:nvSpPr>
        <p:spPr/>
        <p:txBody>
          <a:bodyPr/>
          <a:lstStyle/>
          <a:p>
            <a:fld id="{BDCDBBEF-AA6C-4BA6-85B2-A17D7F280E38}" type="slidenum">
              <a:rPr lang="en-US" smtClean="0"/>
              <a:t>5</a:t>
            </a:fld>
            <a:endParaRPr lang="en-US"/>
          </a:p>
        </p:txBody>
      </p:sp>
    </p:spTree>
    <p:extLst>
      <p:ext uri="{BB962C8B-B14F-4D97-AF65-F5344CB8AC3E}">
        <p14:creationId xmlns:p14="http://schemas.microsoft.com/office/powerpoint/2010/main" val="3845410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77019" y="1614488"/>
            <a:ext cx="4495799" cy="4268618"/>
          </a:xfrm>
        </p:spPr>
        <p:txBody>
          <a:bodyPr>
            <a:normAutofit/>
          </a:bodyPr>
          <a:lstStyle/>
          <a:p>
            <a:pPr marL="285750" indent="-285750">
              <a:lnSpc>
                <a:spcPct val="150000"/>
              </a:lnSpc>
              <a:buFont typeface="Wingdings" pitchFamily="2" charset="2"/>
              <a:buChar char="q"/>
            </a:pPr>
            <a:r>
              <a:rPr lang="en-US" sz="2400" dirty="0">
                <a:latin typeface="Cambria" panose="02040503050406030204" pitchFamily="18" charset="0"/>
                <a:ea typeface="Cambria" panose="02040503050406030204" pitchFamily="18" charset="0"/>
                <a:cs typeface="Times New Roman" pitchFamily="18" charset="0"/>
              </a:rPr>
              <a:t>Core</a:t>
            </a:r>
          </a:p>
          <a:p>
            <a:pPr marL="285750" indent="-285750">
              <a:lnSpc>
                <a:spcPct val="150000"/>
              </a:lnSpc>
              <a:buFont typeface="Wingdings" pitchFamily="2" charset="2"/>
              <a:buChar char="q"/>
            </a:pPr>
            <a:r>
              <a:rPr lang="en-US" sz="2400" dirty="0">
                <a:latin typeface="Cambria" panose="02040503050406030204" pitchFamily="18" charset="0"/>
                <a:ea typeface="Cambria" panose="02040503050406030204" pitchFamily="18" charset="0"/>
                <a:cs typeface="Times New Roman" pitchFamily="18" charset="0"/>
              </a:rPr>
              <a:t>Cladding</a:t>
            </a:r>
          </a:p>
          <a:p>
            <a:pPr marL="285750" indent="-285750">
              <a:lnSpc>
                <a:spcPct val="150000"/>
              </a:lnSpc>
              <a:buFont typeface="Wingdings" pitchFamily="2" charset="2"/>
              <a:buChar char="q"/>
            </a:pPr>
            <a:r>
              <a:rPr lang="en-US" sz="2400" dirty="0">
                <a:latin typeface="Cambria" panose="02040503050406030204" pitchFamily="18" charset="0"/>
                <a:ea typeface="Cambria" panose="02040503050406030204" pitchFamily="18" charset="0"/>
                <a:cs typeface="Times New Roman" pitchFamily="18" charset="0"/>
              </a:rPr>
              <a:t>Buffering</a:t>
            </a:r>
          </a:p>
          <a:p>
            <a:pPr marL="285750" indent="-285750">
              <a:lnSpc>
                <a:spcPct val="150000"/>
              </a:lnSpc>
              <a:buFont typeface="Wingdings" pitchFamily="2" charset="2"/>
              <a:buChar char="q"/>
            </a:pPr>
            <a:r>
              <a:rPr lang="en-US" sz="2400" dirty="0">
                <a:latin typeface="Cambria" panose="02040503050406030204" pitchFamily="18" charset="0"/>
                <a:ea typeface="Cambria" panose="02040503050406030204" pitchFamily="18" charset="0"/>
                <a:cs typeface="Times New Roman" pitchFamily="18" charset="0"/>
              </a:rPr>
              <a:t>Core having higher refractive index than cladding </a:t>
            </a:r>
          </a:p>
          <a:p>
            <a:pPr marL="285750" indent="-285750">
              <a:lnSpc>
                <a:spcPct val="150000"/>
              </a:lnSpc>
              <a:buFont typeface="Wingdings" pitchFamily="2" charset="2"/>
              <a:buChar char="Ø"/>
            </a:pPr>
            <a:endParaRPr lang="en-US" dirty="0">
              <a:solidFill>
                <a:schemeClr val="tx1">
                  <a:lumMod val="85000"/>
                  <a:lumOff val="15000"/>
                </a:schemeClr>
              </a:solidFill>
              <a:latin typeface="Casper"/>
              <a:cs typeface="Arial" panose="020B0604020202020204" pitchFamily="34" charset="0"/>
            </a:endParaRPr>
          </a:p>
          <a:p>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6</a:t>
            </a:fld>
            <a:endParaRPr lang="en-US" dirty="0"/>
          </a:p>
        </p:txBody>
      </p:sp>
      <p:sp>
        <p:nvSpPr>
          <p:cNvPr id="9" name="Rectangle 8"/>
          <p:cNvSpPr/>
          <p:nvPr/>
        </p:nvSpPr>
        <p:spPr>
          <a:xfrm>
            <a:off x="203200" y="1614488"/>
            <a:ext cx="4643438" cy="42878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6218797" y="6085473"/>
            <a:ext cx="4998479" cy="338554"/>
          </a:xfrm>
          <a:prstGeom prst="rect">
            <a:avLst/>
          </a:prstGeom>
          <a:noFill/>
        </p:spPr>
        <p:txBody>
          <a:bodyPr wrap="square" rtlCol="0">
            <a:spAutoFit/>
          </a:bodyPr>
          <a:lstStyle/>
          <a:p>
            <a:r>
              <a:rPr lang="en-US" sz="1600" dirty="0">
                <a:latin typeface="Casper"/>
              </a:rPr>
              <a:t>Figure 2.3  Parts of optical fiber [3]</a:t>
            </a:r>
          </a:p>
        </p:txBody>
      </p:sp>
      <p:sp>
        <p:nvSpPr>
          <p:cNvPr id="11" name="object 4"/>
          <p:cNvSpPr/>
          <p:nvPr/>
        </p:nvSpPr>
        <p:spPr>
          <a:xfrm>
            <a:off x="5238750" y="1439863"/>
            <a:ext cx="6343650" cy="4348162"/>
          </a:xfrm>
          <a:prstGeom prst="rect">
            <a:avLst/>
          </a:prstGeom>
          <a:blipFill>
            <a:blip r:embed="rId2" cstate="print"/>
            <a:stretch>
              <a:fillRect/>
            </a:stretch>
          </a:blipFill>
        </p:spPr>
        <p:txBody>
          <a:bodyPr wrap="square" lIns="0" tIns="0" rIns="0" bIns="0" rtlCol="0"/>
          <a:lstStyle/>
          <a:p>
            <a:endParaRPr/>
          </a:p>
        </p:txBody>
      </p:sp>
      <p:sp>
        <p:nvSpPr>
          <p:cNvPr id="6" name="TextBox 5"/>
          <p:cNvSpPr txBox="1"/>
          <p:nvPr/>
        </p:nvSpPr>
        <p:spPr>
          <a:xfrm>
            <a:off x="1871003" y="0"/>
            <a:ext cx="6968197" cy="769441"/>
          </a:xfrm>
          <a:prstGeom prst="rect">
            <a:avLst/>
          </a:prstGeom>
          <a:noFill/>
        </p:spPr>
        <p:txBody>
          <a:bodyPr wrap="square" rtlCol="0">
            <a:spAutoFit/>
          </a:bodyPr>
          <a:lstStyle/>
          <a:p>
            <a:r>
              <a:rPr lang="en-US" sz="4400"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Parts of </a:t>
            </a:r>
            <a:r>
              <a:rPr lang="en-US" sz="4400" b="1" spc="-5" dirty="0">
                <a:solidFill>
                  <a:srgbClr val="000000"/>
                </a:solidFill>
                <a:latin typeface="Cambria" panose="02040503050406030204" pitchFamily="18" charset="0"/>
                <a:ea typeface="Cambria" panose="02040503050406030204" pitchFamily="18" charset="0"/>
                <a:cs typeface="Times New Roman" panose="02020603050405020304" pitchFamily="18" charset="0"/>
              </a:rPr>
              <a:t>Optical</a:t>
            </a:r>
            <a:r>
              <a:rPr lang="en-US" sz="4400" b="1" spc="-120" dirty="0">
                <a:solidFill>
                  <a:srgbClr val="000000"/>
                </a:solidFill>
                <a:latin typeface="Cambria" panose="02040503050406030204" pitchFamily="18" charset="0"/>
                <a:ea typeface="Cambria" panose="02040503050406030204" pitchFamily="18" charset="0"/>
                <a:cs typeface="Times New Roman" panose="02020603050405020304" pitchFamily="18" charset="0"/>
              </a:rPr>
              <a:t> </a:t>
            </a:r>
            <a:r>
              <a:rPr lang="en-US" sz="4400" b="1" spc="-5" dirty="0">
                <a:solidFill>
                  <a:srgbClr val="000000"/>
                </a:solidFill>
                <a:latin typeface="Cambria" panose="02040503050406030204" pitchFamily="18" charset="0"/>
                <a:ea typeface="Cambria" panose="02040503050406030204" pitchFamily="18" charset="0"/>
                <a:cs typeface="Times New Roman" panose="02020603050405020304" pitchFamily="18" charset="0"/>
              </a:rPr>
              <a:t>Fiber</a:t>
            </a:r>
            <a:endParaRPr lang="en-US" sz="44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61741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175657"/>
            <a:ext cx="10288588" cy="4685393"/>
          </a:xfrm>
        </p:spPr>
        <p:txBody>
          <a:bodyPr>
            <a:normAutofit/>
          </a:bodyPr>
          <a:lstStyle/>
          <a:p>
            <a:pPr algn="just"/>
            <a:r>
              <a:rPr lang="en-US" sz="2400" b="1" spc="-5" dirty="0">
                <a:latin typeface="Cambria" panose="02040503050406030204" pitchFamily="18" charset="0"/>
                <a:ea typeface="Cambria" panose="02040503050406030204" pitchFamily="18" charset="0"/>
                <a:cs typeface="Book Antiqua"/>
              </a:rPr>
              <a:t>Core </a:t>
            </a:r>
            <a:r>
              <a:rPr lang="en-US" sz="2400" dirty="0">
                <a:latin typeface="Cambria" panose="02040503050406030204" pitchFamily="18" charset="0"/>
                <a:ea typeface="Cambria" panose="02040503050406030204" pitchFamily="18" charset="0"/>
                <a:cs typeface="Book Antiqua"/>
              </a:rPr>
              <a:t>– </a:t>
            </a:r>
            <a:r>
              <a:rPr lang="en-US" sz="2400" spc="-5" dirty="0">
                <a:latin typeface="Cambria" panose="02040503050406030204" pitchFamily="18" charset="0"/>
                <a:ea typeface="Cambria" panose="02040503050406030204" pitchFamily="18" charset="0"/>
                <a:cs typeface="Book Antiqua"/>
              </a:rPr>
              <a:t>thin glass </a:t>
            </a:r>
            <a:r>
              <a:rPr lang="en-US" sz="2400" dirty="0">
                <a:latin typeface="Cambria" panose="02040503050406030204" pitchFamily="18" charset="0"/>
                <a:ea typeface="Cambria" panose="02040503050406030204" pitchFamily="18" charset="0"/>
                <a:cs typeface="Book Antiqua"/>
              </a:rPr>
              <a:t>center of </a:t>
            </a:r>
            <a:r>
              <a:rPr lang="en-US" sz="2400" spc="-5" dirty="0">
                <a:latin typeface="Cambria" panose="02040503050406030204" pitchFamily="18" charset="0"/>
                <a:ea typeface="Cambria" panose="02040503050406030204" pitchFamily="18" charset="0"/>
                <a:cs typeface="Book Antiqua"/>
              </a:rPr>
              <a:t>the </a:t>
            </a:r>
            <a:r>
              <a:rPr lang="en-US" sz="2400" dirty="0">
                <a:latin typeface="Cambria" panose="02040503050406030204" pitchFamily="18" charset="0"/>
                <a:ea typeface="Cambria" panose="02040503050406030204" pitchFamily="18" charset="0"/>
                <a:cs typeface="Book Antiqua"/>
              </a:rPr>
              <a:t>fiber where  </a:t>
            </a:r>
            <a:r>
              <a:rPr lang="en-US" sz="2400" spc="-5" dirty="0">
                <a:latin typeface="Cambria" panose="02040503050406030204" pitchFamily="18" charset="0"/>
                <a:ea typeface="Cambria" panose="02040503050406030204" pitchFamily="18" charset="0"/>
                <a:cs typeface="Book Antiqua"/>
              </a:rPr>
              <a:t>light</a:t>
            </a:r>
            <a:r>
              <a:rPr lang="en-US" sz="2400" spc="-15" dirty="0">
                <a:latin typeface="Cambria" panose="02040503050406030204" pitchFamily="18" charset="0"/>
                <a:ea typeface="Cambria" panose="02040503050406030204" pitchFamily="18" charset="0"/>
                <a:cs typeface="Book Antiqua"/>
              </a:rPr>
              <a:t> </a:t>
            </a:r>
            <a:r>
              <a:rPr lang="en-US" sz="2400" spc="-5" dirty="0">
                <a:latin typeface="Cambria" panose="02040503050406030204" pitchFamily="18" charset="0"/>
                <a:ea typeface="Cambria" panose="02040503050406030204" pitchFamily="18" charset="0"/>
                <a:cs typeface="Book Antiqua"/>
              </a:rPr>
              <a:t>travels.</a:t>
            </a:r>
          </a:p>
          <a:p>
            <a:pPr marL="0" indent="0" algn="just">
              <a:buNone/>
            </a:pPr>
            <a:endParaRPr lang="en-US" sz="2400" dirty="0">
              <a:latin typeface="Cambria" panose="02040503050406030204" pitchFamily="18" charset="0"/>
              <a:ea typeface="Cambria" panose="02040503050406030204" pitchFamily="18" charset="0"/>
              <a:cs typeface="Book Antiqua"/>
            </a:endParaRPr>
          </a:p>
          <a:p>
            <a:pPr algn="just"/>
            <a:r>
              <a:rPr lang="en-US" sz="2400" b="1" spc="-5" dirty="0">
                <a:latin typeface="Cambria" panose="02040503050406030204" pitchFamily="18" charset="0"/>
                <a:ea typeface="Cambria" panose="02040503050406030204" pitchFamily="18" charset="0"/>
                <a:cs typeface="Book Antiqua"/>
              </a:rPr>
              <a:t>Clad</a:t>
            </a:r>
            <a:r>
              <a:rPr lang="en-US" sz="2400" b="1" spc="-20" dirty="0">
                <a:latin typeface="Cambria" panose="02040503050406030204" pitchFamily="18" charset="0"/>
                <a:ea typeface="Cambria" panose="02040503050406030204" pitchFamily="18" charset="0"/>
                <a:cs typeface="Book Antiqua"/>
              </a:rPr>
              <a:t>d</a:t>
            </a:r>
            <a:r>
              <a:rPr lang="en-US" sz="2400" b="1" dirty="0">
                <a:latin typeface="Cambria" panose="02040503050406030204" pitchFamily="18" charset="0"/>
                <a:ea typeface="Cambria" panose="02040503050406030204" pitchFamily="18" charset="0"/>
                <a:cs typeface="Book Antiqua"/>
              </a:rPr>
              <a:t>i</a:t>
            </a:r>
            <a:r>
              <a:rPr lang="en-US" sz="2400" b="1" spc="-15" dirty="0">
                <a:latin typeface="Cambria" panose="02040503050406030204" pitchFamily="18" charset="0"/>
                <a:ea typeface="Cambria" panose="02040503050406030204" pitchFamily="18" charset="0"/>
                <a:cs typeface="Book Antiqua"/>
              </a:rPr>
              <a:t>n</a:t>
            </a:r>
            <a:r>
              <a:rPr lang="en-US" sz="2400" b="1" dirty="0">
                <a:latin typeface="Cambria" panose="02040503050406030204" pitchFamily="18" charset="0"/>
                <a:ea typeface="Cambria" panose="02040503050406030204" pitchFamily="18" charset="0"/>
                <a:cs typeface="Book Antiqua"/>
              </a:rPr>
              <a:t>g</a:t>
            </a:r>
            <a:r>
              <a:rPr lang="en-US" sz="2400" dirty="0">
                <a:latin typeface="Cambria" panose="02040503050406030204" pitchFamily="18" charset="0"/>
                <a:ea typeface="Cambria" panose="02040503050406030204" pitchFamily="18" charset="0"/>
                <a:cs typeface="Book Antiqua"/>
              </a:rPr>
              <a:t>– outer	optic</a:t>
            </a:r>
            <a:r>
              <a:rPr lang="en-US" sz="2400" spc="5" dirty="0">
                <a:latin typeface="Cambria" panose="02040503050406030204" pitchFamily="18" charset="0"/>
                <a:ea typeface="Cambria" panose="02040503050406030204" pitchFamily="18" charset="0"/>
                <a:cs typeface="Book Antiqua"/>
              </a:rPr>
              <a:t>a</a:t>
            </a:r>
            <a:r>
              <a:rPr lang="en-US" sz="2400" dirty="0">
                <a:latin typeface="Cambria" panose="02040503050406030204" pitchFamily="18" charset="0"/>
                <a:ea typeface="Cambria" panose="02040503050406030204" pitchFamily="18" charset="0"/>
                <a:cs typeface="Book Antiqua"/>
              </a:rPr>
              <a:t>l material  surrounding </a:t>
            </a:r>
            <a:r>
              <a:rPr lang="en-US" sz="2400" spc="-5" dirty="0">
                <a:latin typeface="Cambria" panose="02040503050406030204" pitchFamily="18" charset="0"/>
                <a:ea typeface="Cambria" panose="02040503050406030204" pitchFamily="18" charset="0"/>
                <a:cs typeface="Book Antiqua"/>
              </a:rPr>
              <a:t>the</a:t>
            </a:r>
            <a:r>
              <a:rPr lang="en-US" sz="2400" spc="-30" dirty="0">
                <a:latin typeface="Cambria" panose="02040503050406030204" pitchFamily="18" charset="0"/>
                <a:ea typeface="Cambria" panose="02040503050406030204" pitchFamily="18" charset="0"/>
                <a:cs typeface="Book Antiqua"/>
              </a:rPr>
              <a:t> </a:t>
            </a:r>
            <a:r>
              <a:rPr lang="en-US" sz="2400" dirty="0">
                <a:latin typeface="Cambria" panose="02040503050406030204" pitchFamily="18" charset="0"/>
                <a:ea typeface="Cambria" panose="02040503050406030204" pitchFamily="18" charset="0"/>
                <a:cs typeface="Book Antiqua"/>
              </a:rPr>
              <a:t>core.</a:t>
            </a:r>
          </a:p>
          <a:p>
            <a:pPr marL="0" indent="0" algn="just">
              <a:buNone/>
            </a:pPr>
            <a:endParaRPr lang="en-US" sz="2400" dirty="0">
              <a:latin typeface="Cambria" panose="02040503050406030204" pitchFamily="18" charset="0"/>
              <a:ea typeface="Cambria" panose="02040503050406030204" pitchFamily="18" charset="0"/>
              <a:cs typeface="Book Antiqua"/>
            </a:endParaRPr>
          </a:p>
          <a:p>
            <a:pPr marL="315595" marR="3368675" indent="-303530" algn="just">
              <a:lnSpc>
                <a:spcPts val="4600"/>
              </a:lnSpc>
              <a:spcBef>
                <a:spcPts val="175"/>
              </a:spcBef>
              <a:buFont typeface="Arial"/>
              <a:buChar char="•"/>
              <a:tabLst>
                <a:tab pos="355600" algn="l"/>
                <a:tab pos="356235" algn="l"/>
              </a:tabLst>
            </a:pPr>
            <a:r>
              <a:rPr lang="en-US" sz="2400" b="1" spc="-5" dirty="0">
                <a:latin typeface="Cambria" panose="02040503050406030204" pitchFamily="18" charset="0"/>
                <a:ea typeface="Cambria" panose="02040503050406030204" pitchFamily="18" charset="0"/>
                <a:cs typeface="Book Antiqua"/>
              </a:rPr>
              <a:t>Buffer Coating-</a:t>
            </a:r>
            <a:r>
              <a:rPr lang="en-US" sz="2400" dirty="0">
                <a:latin typeface="Cambria" panose="02040503050406030204" pitchFamily="18" charset="0"/>
                <a:ea typeface="Cambria" panose="02040503050406030204" pitchFamily="18" charset="0"/>
                <a:cs typeface="Book Antiqua"/>
              </a:rPr>
              <a:t> plastic coating that </a:t>
            </a:r>
          </a:p>
          <a:p>
            <a:pPr marL="12065" marR="3368675" indent="0" algn="just">
              <a:lnSpc>
                <a:spcPts val="4600"/>
              </a:lnSpc>
              <a:spcBef>
                <a:spcPts val="175"/>
              </a:spcBef>
              <a:buNone/>
              <a:tabLst>
                <a:tab pos="355600" algn="l"/>
                <a:tab pos="356235" algn="l"/>
              </a:tabLst>
            </a:pPr>
            <a:r>
              <a:rPr lang="en-US" sz="2400" dirty="0">
                <a:latin typeface="Cambria" panose="02040503050406030204" pitchFamily="18" charset="0"/>
                <a:ea typeface="Cambria" panose="02040503050406030204" pitchFamily="18" charset="0"/>
                <a:cs typeface="Book Antiqua"/>
              </a:rPr>
              <a:t>         protects the fiber.</a:t>
            </a:r>
          </a:p>
          <a:p>
            <a:pPr marL="315595" marR="3368675" indent="-303530">
              <a:lnSpc>
                <a:spcPts val="4600"/>
              </a:lnSpc>
              <a:spcBef>
                <a:spcPts val="175"/>
              </a:spcBef>
              <a:buFont typeface="Arial"/>
              <a:buChar char="•"/>
              <a:tabLst>
                <a:tab pos="355600" algn="l"/>
                <a:tab pos="356235" algn="l"/>
              </a:tabLst>
            </a:pPr>
            <a:endParaRPr lang="en-US" dirty="0">
              <a:latin typeface="Book Antiqua"/>
              <a:cs typeface="Book Antiqua"/>
            </a:endParaRPr>
          </a:p>
          <a:p>
            <a:pPr marL="0" indent="0">
              <a:buNone/>
            </a:pPr>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7</a:t>
            </a:fld>
            <a:endParaRPr lang="en-US"/>
          </a:p>
        </p:txBody>
      </p:sp>
    </p:spTree>
    <p:extLst>
      <p:ext uri="{BB962C8B-B14F-4D97-AF65-F5344CB8AC3E}">
        <p14:creationId xmlns:p14="http://schemas.microsoft.com/office/powerpoint/2010/main" val="3242651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2018" y="225084"/>
            <a:ext cx="7343336" cy="762342"/>
          </a:xfrm>
        </p:spPr>
        <p:txBody>
          <a:bodyPr>
            <a:noAutofit/>
          </a:bodyPr>
          <a:lstStyle/>
          <a:p>
            <a:r>
              <a:rPr lang="en-US" sz="4400" b="1" spc="-5" dirty="0">
                <a:latin typeface="Cambria" panose="02040503050406030204" pitchFamily="18" charset="0"/>
                <a:ea typeface="Cambria" panose="02040503050406030204" pitchFamily="18" charset="0"/>
              </a:rPr>
              <a:t>FIBER</a:t>
            </a:r>
            <a:r>
              <a:rPr lang="en-US" sz="4400" b="1" spc="-60" dirty="0">
                <a:latin typeface="Cambria" panose="02040503050406030204" pitchFamily="18" charset="0"/>
                <a:ea typeface="Cambria" panose="02040503050406030204" pitchFamily="18" charset="0"/>
              </a:rPr>
              <a:t> </a:t>
            </a:r>
            <a:r>
              <a:rPr lang="en-US" sz="4400" b="1" spc="-5" dirty="0">
                <a:latin typeface="Cambria" panose="02040503050406030204" pitchFamily="18" charset="0"/>
                <a:ea typeface="Cambria" panose="02040503050406030204" pitchFamily="18" charset="0"/>
              </a:rPr>
              <a:t>MANUFACTURE</a:t>
            </a:r>
            <a:endParaRPr lang="en-US" sz="4400" b="1" dirty="0">
              <a:latin typeface="Cambria" panose="02040503050406030204" pitchFamily="18" charset="0"/>
              <a:ea typeface="Cambria" panose="02040503050406030204" pitchFamily="18" charset="0"/>
            </a:endParaRPr>
          </a:p>
        </p:txBody>
      </p:sp>
      <p:sp>
        <p:nvSpPr>
          <p:cNvPr id="4" name="Text Placeholder 3"/>
          <p:cNvSpPr>
            <a:spLocks noGrp="1"/>
          </p:cNvSpPr>
          <p:nvPr>
            <p:ph type="body" sz="half" idx="2"/>
          </p:nvPr>
        </p:nvSpPr>
        <p:spPr/>
        <p:txBody>
          <a:bodyPr>
            <a:normAutofit/>
          </a:bodyPr>
          <a:lstStyle/>
          <a:p>
            <a:pPr marL="24765">
              <a:lnSpc>
                <a:spcPct val="100000"/>
              </a:lnSpc>
              <a:spcBef>
                <a:spcPts val="700"/>
              </a:spcBef>
              <a:buClr>
                <a:srgbClr val="FD8537"/>
              </a:buClr>
              <a:buSzPct val="68750"/>
              <a:tabLst>
                <a:tab pos="298450" algn="l"/>
              </a:tabLst>
            </a:pPr>
            <a:r>
              <a:rPr lang="en-US" sz="2400" spc="-5" dirty="0">
                <a:solidFill>
                  <a:srgbClr val="FF0000"/>
                </a:solidFill>
                <a:latin typeface="Cambria" panose="02040503050406030204" pitchFamily="18" charset="0"/>
                <a:ea typeface="Cambria" panose="02040503050406030204" pitchFamily="18" charset="0"/>
                <a:cs typeface="Century Schoolbook"/>
              </a:rPr>
              <a:t>I- </a:t>
            </a:r>
            <a:r>
              <a:rPr lang="en-US" sz="2400" dirty="0">
                <a:solidFill>
                  <a:srgbClr val="FF0000"/>
                </a:solidFill>
                <a:latin typeface="Cambria" panose="02040503050406030204" pitchFamily="18" charset="0"/>
                <a:ea typeface="Cambria" panose="02040503050406030204" pitchFamily="18" charset="0"/>
                <a:cs typeface="Century Schoolbook"/>
              </a:rPr>
              <a:t>Glass-Glass</a:t>
            </a:r>
            <a:r>
              <a:rPr lang="en-US" sz="2400" spc="-45" dirty="0">
                <a:solidFill>
                  <a:srgbClr val="FF0000"/>
                </a:solidFill>
                <a:latin typeface="Cambria" panose="02040503050406030204" pitchFamily="18" charset="0"/>
                <a:ea typeface="Cambria" panose="02040503050406030204" pitchFamily="18" charset="0"/>
                <a:cs typeface="Century Schoolbook"/>
              </a:rPr>
              <a:t> </a:t>
            </a:r>
            <a:r>
              <a:rPr lang="en-US" sz="2400" spc="-5" dirty="0">
                <a:solidFill>
                  <a:srgbClr val="FF0000"/>
                </a:solidFill>
                <a:latin typeface="Cambria" panose="02040503050406030204" pitchFamily="18" charset="0"/>
                <a:ea typeface="Cambria" panose="02040503050406030204" pitchFamily="18" charset="0"/>
                <a:cs typeface="Century Schoolbook"/>
              </a:rPr>
              <a:t>Fiber</a:t>
            </a:r>
            <a:endParaRPr lang="en-US" sz="2400" dirty="0">
              <a:solidFill>
                <a:srgbClr val="FF0000"/>
              </a:solidFill>
              <a:latin typeface="Cambria" panose="02040503050406030204" pitchFamily="18" charset="0"/>
              <a:ea typeface="Cambria" panose="02040503050406030204" pitchFamily="18" charset="0"/>
              <a:cs typeface="Century Schoolbook"/>
            </a:endParaRPr>
          </a:p>
          <a:p>
            <a:pPr marL="382270" indent="-357505">
              <a:lnSpc>
                <a:spcPct val="100000"/>
              </a:lnSpc>
              <a:spcBef>
                <a:spcPts val="600"/>
              </a:spcBef>
              <a:buClr>
                <a:srgbClr val="FD8537"/>
              </a:buClr>
              <a:buSzPct val="68750"/>
              <a:buFont typeface="Arial" panose="020B0604020202020204" pitchFamily="34" charset="0"/>
              <a:buChar char="•"/>
              <a:tabLst>
                <a:tab pos="381635" algn="l"/>
                <a:tab pos="382905" algn="l"/>
              </a:tabLst>
            </a:pPr>
            <a:r>
              <a:rPr lang="en-US" sz="2400" dirty="0">
                <a:latin typeface="Cambria" panose="02040503050406030204" pitchFamily="18" charset="0"/>
                <a:ea typeface="Cambria" panose="02040503050406030204" pitchFamily="18" charset="0"/>
                <a:cs typeface="Century Schoolbook"/>
              </a:rPr>
              <a:t>Glass </a:t>
            </a:r>
            <a:r>
              <a:rPr lang="en-US" sz="2400" spc="-5" dirty="0">
                <a:latin typeface="Cambria" panose="02040503050406030204" pitchFamily="18" charset="0"/>
                <a:ea typeface="Cambria" panose="02040503050406030204" pitchFamily="18" charset="0"/>
                <a:cs typeface="Century Schoolbook"/>
              </a:rPr>
              <a:t>as </a:t>
            </a:r>
            <a:r>
              <a:rPr lang="en-US" sz="2400" dirty="0">
                <a:latin typeface="Cambria" panose="02040503050406030204" pitchFamily="18" charset="0"/>
                <a:ea typeface="Cambria" panose="02040503050406030204" pitchFamily="18" charset="0"/>
                <a:cs typeface="Century Schoolbook"/>
              </a:rPr>
              <a:t>silica (SiO</a:t>
            </a:r>
            <a:r>
              <a:rPr lang="en-US" sz="2400" baseline="-20833" dirty="0">
                <a:latin typeface="Cambria" panose="02040503050406030204" pitchFamily="18" charset="0"/>
                <a:ea typeface="Cambria" panose="02040503050406030204" pitchFamily="18" charset="0"/>
                <a:cs typeface="Century Schoolbook"/>
              </a:rPr>
              <a:t>2</a:t>
            </a:r>
            <a:r>
              <a:rPr lang="en-US" sz="2400" dirty="0">
                <a:latin typeface="Cambria" panose="02040503050406030204" pitchFamily="18" charset="0"/>
                <a:ea typeface="Cambria" panose="02040503050406030204" pitchFamily="18" charset="0"/>
                <a:cs typeface="Century Schoolbook"/>
              </a:rPr>
              <a:t>) with </a:t>
            </a:r>
            <a:r>
              <a:rPr lang="en-US" sz="2400" spc="-5" dirty="0">
                <a:latin typeface="Cambria" panose="02040503050406030204" pitchFamily="18" charset="0"/>
                <a:ea typeface="Cambria" panose="02040503050406030204" pitchFamily="18" charset="0"/>
                <a:cs typeface="Century Schoolbook"/>
              </a:rPr>
              <a:t>refractive Index (RI) </a:t>
            </a:r>
            <a:r>
              <a:rPr lang="en-US" sz="2400" dirty="0">
                <a:latin typeface="Cambria" panose="02040503050406030204" pitchFamily="18" charset="0"/>
                <a:ea typeface="Cambria" panose="02040503050406030204" pitchFamily="18" charset="0"/>
                <a:cs typeface="Century Schoolbook"/>
              </a:rPr>
              <a:t>of </a:t>
            </a:r>
            <a:r>
              <a:rPr lang="en-US" sz="2400" spc="-5" dirty="0">
                <a:latin typeface="Cambria" panose="02040503050406030204" pitchFamily="18" charset="0"/>
                <a:ea typeface="Cambria" panose="02040503050406030204" pitchFamily="18" charset="0"/>
                <a:cs typeface="Century Schoolbook"/>
              </a:rPr>
              <a:t>1.458 at</a:t>
            </a:r>
            <a:r>
              <a:rPr lang="en-US" sz="2400" spc="-135"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850nm</a:t>
            </a:r>
            <a:endParaRPr lang="en-US" sz="2400" dirty="0">
              <a:latin typeface="Cambria" panose="02040503050406030204" pitchFamily="18" charset="0"/>
              <a:ea typeface="Cambria" panose="02040503050406030204" pitchFamily="18" charset="0"/>
              <a:cs typeface="Century Schoolbook"/>
            </a:endParaRPr>
          </a:p>
          <a:p>
            <a:pPr marL="310515" indent="-285750">
              <a:lnSpc>
                <a:spcPct val="100000"/>
              </a:lnSpc>
              <a:spcBef>
                <a:spcPts val="600"/>
              </a:spcBef>
              <a:buClr>
                <a:srgbClr val="FD8537"/>
              </a:buClr>
              <a:buSzPct val="68750"/>
              <a:buFont typeface="Arial" panose="020B0604020202020204" pitchFamily="34" charset="0"/>
              <a:buChar char="•"/>
              <a:tabLst>
                <a:tab pos="298450" algn="l"/>
              </a:tabLst>
            </a:pPr>
            <a:r>
              <a:rPr lang="en-US" sz="2400" spc="-5" dirty="0">
                <a:latin typeface="Cambria" panose="02040503050406030204" pitchFamily="18" charset="0"/>
                <a:ea typeface="Cambria" panose="02040503050406030204" pitchFamily="18" charset="0"/>
                <a:cs typeface="Century Schoolbook"/>
              </a:rPr>
              <a:t>Addition </a:t>
            </a:r>
            <a:r>
              <a:rPr lang="en-US" sz="2400" dirty="0">
                <a:latin typeface="Cambria" panose="02040503050406030204" pitchFamily="18" charset="0"/>
                <a:ea typeface="Cambria" panose="02040503050406030204" pitchFamily="18" charset="0"/>
                <a:cs typeface="Century Schoolbook"/>
              </a:rPr>
              <a:t>of GeO</a:t>
            </a:r>
            <a:r>
              <a:rPr lang="en-US" sz="2400" baseline="-20833" dirty="0">
                <a:latin typeface="Cambria" panose="02040503050406030204" pitchFamily="18" charset="0"/>
                <a:ea typeface="Cambria" panose="02040503050406030204" pitchFamily="18" charset="0"/>
                <a:cs typeface="Century Schoolbook"/>
              </a:rPr>
              <a:t>2 </a:t>
            </a:r>
            <a:r>
              <a:rPr lang="en-US" sz="2400" spc="-5" dirty="0">
                <a:latin typeface="Cambria" panose="02040503050406030204" pitchFamily="18" charset="0"/>
                <a:ea typeface="Cambria" panose="02040503050406030204" pitchFamily="18" charset="0"/>
                <a:cs typeface="Century Schoolbook"/>
              </a:rPr>
              <a:t>and P</a:t>
            </a:r>
            <a:r>
              <a:rPr lang="en-US" sz="2400" spc="-7" baseline="-20833" dirty="0">
                <a:latin typeface="Cambria" panose="02040503050406030204" pitchFamily="18" charset="0"/>
                <a:ea typeface="Cambria" panose="02040503050406030204" pitchFamily="18" charset="0"/>
                <a:cs typeface="Century Schoolbook"/>
              </a:rPr>
              <a:t>2</a:t>
            </a:r>
            <a:r>
              <a:rPr lang="en-US" sz="2400" spc="-5" dirty="0">
                <a:latin typeface="Cambria" panose="02040503050406030204" pitchFamily="18" charset="0"/>
                <a:ea typeface="Cambria" panose="02040503050406030204" pitchFamily="18" charset="0"/>
                <a:cs typeface="Century Schoolbook"/>
              </a:rPr>
              <a:t>O</a:t>
            </a:r>
            <a:r>
              <a:rPr lang="en-US" sz="2400" spc="-7" baseline="-20833" dirty="0">
                <a:latin typeface="Cambria" panose="02040503050406030204" pitchFamily="18" charset="0"/>
                <a:ea typeface="Cambria" panose="02040503050406030204" pitchFamily="18" charset="0"/>
                <a:cs typeface="Century Schoolbook"/>
              </a:rPr>
              <a:t>5 </a:t>
            </a:r>
            <a:r>
              <a:rPr lang="en-US" sz="2400" dirty="0">
                <a:latin typeface="Cambria" panose="02040503050406030204" pitchFamily="18" charset="0"/>
                <a:ea typeface="Cambria" panose="02040503050406030204" pitchFamily="18" charset="0"/>
                <a:cs typeface="Century Schoolbook"/>
              </a:rPr>
              <a:t>increases</a:t>
            </a:r>
            <a:r>
              <a:rPr lang="en-US" sz="2400" spc="350"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RI.</a:t>
            </a:r>
            <a:endParaRPr lang="en-US" sz="2400" dirty="0">
              <a:latin typeface="Cambria" panose="02040503050406030204" pitchFamily="18" charset="0"/>
              <a:ea typeface="Cambria" panose="02040503050406030204" pitchFamily="18" charset="0"/>
              <a:cs typeface="Century Schoolbook"/>
            </a:endParaRPr>
          </a:p>
          <a:p>
            <a:pPr marL="310515" indent="-285750">
              <a:lnSpc>
                <a:spcPct val="100000"/>
              </a:lnSpc>
              <a:spcBef>
                <a:spcPts val="600"/>
              </a:spcBef>
              <a:buClr>
                <a:srgbClr val="FD8537"/>
              </a:buClr>
              <a:buSzPct val="68750"/>
              <a:buFont typeface="Arial" panose="020B0604020202020204" pitchFamily="34" charset="0"/>
              <a:buChar char="•"/>
              <a:tabLst>
                <a:tab pos="298450" algn="l"/>
                <a:tab pos="2021839" algn="l"/>
              </a:tabLst>
            </a:pPr>
            <a:r>
              <a:rPr lang="en-US" sz="2400" spc="-5" dirty="0">
                <a:latin typeface="Cambria" panose="02040503050406030204" pitchFamily="18" charset="0"/>
                <a:ea typeface="Cambria" panose="02040503050406030204" pitchFamily="18" charset="0"/>
                <a:cs typeface="Century Schoolbook"/>
              </a:rPr>
              <a:t>Addition</a:t>
            </a:r>
            <a:r>
              <a:rPr lang="en-US" sz="2400" spc="-20" dirty="0">
                <a:latin typeface="Cambria" panose="02040503050406030204" pitchFamily="18" charset="0"/>
                <a:ea typeface="Cambria" panose="02040503050406030204" pitchFamily="18" charset="0"/>
                <a:cs typeface="Century Schoolbook"/>
              </a:rPr>
              <a:t> </a:t>
            </a:r>
            <a:r>
              <a:rPr lang="en-US" sz="2400" dirty="0">
                <a:latin typeface="Cambria" panose="02040503050406030204" pitchFamily="18" charset="0"/>
                <a:ea typeface="Cambria" panose="02040503050406030204" pitchFamily="18" charset="0"/>
                <a:cs typeface="Century Schoolbook"/>
              </a:rPr>
              <a:t>of B</a:t>
            </a:r>
            <a:r>
              <a:rPr lang="en-US" sz="2400" baseline="-20833" dirty="0">
                <a:latin typeface="Cambria" panose="02040503050406030204" pitchFamily="18" charset="0"/>
                <a:ea typeface="Cambria" panose="02040503050406030204" pitchFamily="18" charset="0"/>
                <a:cs typeface="Century Schoolbook"/>
              </a:rPr>
              <a:t>2</a:t>
            </a:r>
            <a:r>
              <a:rPr lang="en-US" sz="2400" dirty="0">
                <a:latin typeface="Cambria" panose="02040503050406030204" pitchFamily="18" charset="0"/>
                <a:ea typeface="Cambria" panose="02040503050406030204" pitchFamily="18" charset="0"/>
                <a:cs typeface="Century Schoolbook"/>
              </a:rPr>
              <a:t>O</a:t>
            </a:r>
            <a:r>
              <a:rPr lang="en-US" sz="2400" baseline="-20833" dirty="0">
                <a:latin typeface="Cambria" panose="02040503050406030204" pitchFamily="18" charset="0"/>
                <a:ea typeface="Cambria" panose="02040503050406030204" pitchFamily="18" charset="0"/>
                <a:cs typeface="Century Schoolbook"/>
              </a:rPr>
              <a:t>3 </a:t>
            </a:r>
            <a:r>
              <a:rPr lang="en-US" sz="2400" spc="-5" dirty="0">
                <a:latin typeface="Cambria" panose="02040503050406030204" pitchFamily="18" charset="0"/>
                <a:ea typeface="Cambria" panose="02040503050406030204" pitchFamily="18" charset="0"/>
                <a:cs typeface="Century Schoolbook"/>
              </a:rPr>
              <a:t>and </a:t>
            </a:r>
            <a:r>
              <a:rPr lang="en-US" sz="2400" dirty="0">
                <a:latin typeface="Cambria" panose="02040503050406030204" pitchFamily="18" charset="0"/>
                <a:ea typeface="Cambria" panose="02040503050406030204" pitchFamily="18" charset="0"/>
                <a:cs typeface="Century Schoolbook"/>
              </a:rPr>
              <a:t>fluorine </a:t>
            </a:r>
            <a:r>
              <a:rPr lang="en-US" sz="2400" spc="-5" dirty="0">
                <a:latin typeface="Cambria" panose="02040503050406030204" pitchFamily="18" charset="0"/>
                <a:ea typeface="Cambria" panose="02040503050406030204" pitchFamily="18" charset="0"/>
                <a:cs typeface="Century Schoolbook"/>
              </a:rPr>
              <a:t>decreases</a:t>
            </a:r>
            <a:r>
              <a:rPr lang="en-US" sz="2400" spc="-325"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RI.</a:t>
            </a:r>
            <a:endParaRPr lang="en-US" sz="2400" dirty="0">
              <a:latin typeface="Cambria" panose="02040503050406030204" pitchFamily="18" charset="0"/>
              <a:ea typeface="Cambria" panose="02040503050406030204" pitchFamily="18" charset="0"/>
              <a:cs typeface="Century Schoolbook"/>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8</a:t>
            </a:fld>
            <a:endParaRPr lang="en-US"/>
          </a:p>
        </p:txBody>
      </p:sp>
      <p:sp>
        <p:nvSpPr>
          <p:cNvPr id="7" name="TextBox 6"/>
          <p:cNvSpPr txBox="1"/>
          <p:nvPr/>
        </p:nvSpPr>
        <p:spPr>
          <a:xfrm>
            <a:off x="6157913" y="5868988"/>
            <a:ext cx="5554662" cy="338554"/>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Figure 2.4 Increase or decrease of RI by adding dopants [4].</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2517" y="1790307"/>
            <a:ext cx="6173061" cy="3715268"/>
          </a:xfrm>
          <a:prstGeom prst="rect">
            <a:avLst/>
          </a:prstGeom>
        </p:spPr>
      </p:pic>
    </p:spTree>
    <p:extLst>
      <p:ext uri="{BB962C8B-B14F-4D97-AF65-F5344CB8AC3E}">
        <p14:creationId xmlns:p14="http://schemas.microsoft.com/office/powerpoint/2010/main" val="798172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852" y="0"/>
            <a:ext cx="7301133" cy="987425"/>
          </a:xfrm>
        </p:spPr>
        <p:txBody>
          <a:bodyPr>
            <a:noAutofit/>
          </a:bodyPr>
          <a:lstStyle/>
          <a:p>
            <a:r>
              <a:rPr lang="en-US" sz="4400" b="1" spc="-5" dirty="0">
                <a:latin typeface="Cambria" panose="02040503050406030204" pitchFamily="18" charset="0"/>
                <a:ea typeface="Cambria" panose="02040503050406030204" pitchFamily="18" charset="0"/>
              </a:rPr>
              <a:t>FIBER</a:t>
            </a:r>
            <a:r>
              <a:rPr lang="en-US" sz="4400" b="1" spc="-60" dirty="0">
                <a:latin typeface="Cambria" panose="02040503050406030204" pitchFamily="18" charset="0"/>
                <a:ea typeface="Cambria" panose="02040503050406030204" pitchFamily="18" charset="0"/>
              </a:rPr>
              <a:t> </a:t>
            </a:r>
            <a:r>
              <a:rPr lang="en-US" sz="4400" b="1" spc="-5" dirty="0">
                <a:latin typeface="Cambria" panose="02040503050406030204" pitchFamily="18" charset="0"/>
                <a:ea typeface="Cambria" panose="02040503050406030204" pitchFamily="18" charset="0"/>
              </a:rPr>
              <a:t>MANUFACTURE</a:t>
            </a:r>
            <a:endParaRPr lang="en-US" sz="4400" dirty="0"/>
          </a:p>
        </p:txBody>
      </p:sp>
      <p:sp>
        <p:nvSpPr>
          <p:cNvPr id="3" name="Content Placeholder 2"/>
          <p:cNvSpPr>
            <a:spLocks noGrp="1"/>
          </p:cNvSpPr>
          <p:nvPr>
            <p:ph idx="1"/>
          </p:nvPr>
        </p:nvSpPr>
        <p:spPr>
          <a:xfrm>
            <a:off x="4772025" y="1167618"/>
            <a:ext cx="6915149" cy="5690382"/>
          </a:xfrm>
        </p:spPr>
        <p:txBody>
          <a:bodyPr>
            <a:noAutofit/>
          </a:bodyPr>
          <a:lstStyle/>
          <a:p>
            <a:pPr marL="12065" indent="0">
              <a:lnSpc>
                <a:spcPct val="100000"/>
              </a:lnSpc>
              <a:spcBef>
                <a:spcPts val="700"/>
              </a:spcBef>
              <a:buClr>
                <a:srgbClr val="FD8537"/>
              </a:buClr>
              <a:buSzPct val="68750"/>
              <a:buNone/>
              <a:tabLst>
                <a:tab pos="285750" algn="l"/>
              </a:tabLst>
            </a:pPr>
            <a:r>
              <a:rPr lang="en-US" sz="2400" spc="-5" dirty="0">
                <a:solidFill>
                  <a:srgbClr val="FF0000"/>
                </a:solidFill>
                <a:latin typeface="Cambria" panose="02040503050406030204" pitchFamily="18" charset="0"/>
                <a:ea typeface="Cambria" panose="02040503050406030204" pitchFamily="18" charset="0"/>
                <a:cs typeface="Century Schoolbook"/>
              </a:rPr>
              <a:t>II- Plastic </a:t>
            </a:r>
            <a:r>
              <a:rPr lang="en-US" sz="2400" dirty="0">
                <a:solidFill>
                  <a:srgbClr val="FF0000"/>
                </a:solidFill>
                <a:latin typeface="Cambria" panose="02040503050406030204" pitchFamily="18" charset="0"/>
                <a:ea typeface="Cambria" panose="02040503050406030204" pitchFamily="18" charset="0"/>
                <a:cs typeface="Century Schoolbook"/>
              </a:rPr>
              <a:t>clad Glass</a:t>
            </a:r>
            <a:r>
              <a:rPr lang="en-US" sz="2400" spc="-40" dirty="0">
                <a:solidFill>
                  <a:srgbClr val="FF0000"/>
                </a:solidFill>
                <a:latin typeface="Cambria" panose="02040503050406030204" pitchFamily="18" charset="0"/>
                <a:ea typeface="Cambria" panose="02040503050406030204" pitchFamily="18" charset="0"/>
                <a:cs typeface="Century Schoolbook"/>
              </a:rPr>
              <a:t> </a:t>
            </a:r>
            <a:r>
              <a:rPr lang="en-US" sz="2400" spc="-5" dirty="0">
                <a:solidFill>
                  <a:srgbClr val="FF0000"/>
                </a:solidFill>
                <a:latin typeface="Cambria" panose="02040503050406030204" pitchFamily="18" charset="0"/>
                <a:ea typeface="Cambria" panose="02040503050406030204" pitchFamily="18" charset="0"/>
                <a:cs typeface="Century Schoolbook"/>
              </a:rPr>
              <a:t>Fiber</a:t>
            </a:r>
            <a:endParaRPr lang="en-US" sz="2400" dirty="0">
              <a:solidFill>
                <a:srgbClr val="FF0000"/>
              </a:solidFill>
              <a:latin typeface="Cambria" panose="02040503050406030204" pitchFamily="18" charset="0"/>
              <a:ea typeface="Cambria" panose="02040503050406030204" pitchFamily="18" charset="0"/>
              <a:cs typeface="Century Schoolbook"/>
            </a:endParaRPr>
          </a:p>
          <a:p>
            <a:pPr marL="469265" indent="-457200">
              <a:lnSpc>
                <a:spcPct val="100000"/>
              </a:lnSpc>
              <a:spcBef>
                <a:spcPts val="600"/>
              </a:spcBef>
              <a:buClr>
                <a:srgbClr val="FD8537"/>
              </a:buClr>
              <a:buSzPct val="68750"/>
              <a:tabLst>
                <a:tab pos="368935" algn="l"/>
                <a:tab pos="370205" algn="l"/>
              </a:tabLst>
            </a:pPr>
            <a:r>
              <a:rPr lang="en-US" sz="2400" dirty="0">
                <a:latin typeface="Cambria" panose="02040503050406030204" pitchFamily="18" charset="0"/>
                <a:ea typeface="Cambria" panose="02040503050406030204" pitchFamily="18" charset="0"/>
                <a:cs typeface="Century Schoolbook"/>
              </a:rPr>
              <a:t>Glass core </a:t>
            </a:r>
            <a:r>
              <a:rPr lang="en-US" sz="2400" spc="-5" dirty="0">
                <a:latin typeface="Cambria" panose="02040503050406030204" pitchFamily="18" charset="0"/>
                <a:ea typeface="Cambria" panose="02040503050406030204" pitchFamily="18" charset="0"/>
                <a:cs typeface="Century Schoolbook"/>
              </a:rPr>
              <a:t>and plastic</a:t>
            </a:r>
            <a:r>
              <a:rPr lang="en-US" sz="2400" spc="-65" dirty="0">
                <a:latin typeface="Cambria" panose="02040503050406030204" pitchFamily="18" charset="0"/>
                <a:ea typeface="Cambria" panose="02040503050406030204" pitchFamily="18" charset="0"/>
                <a:cs typeface="Century Schoolbook"/>
              </a:rPr>
              <a:t> </a:t>
            </a:r>
            <a:r>
              <a:rPr lang="en-US" sz="2400" dirty="0">
                <a:latin typeface="Cambria" panose="02040503050406030204" pitchFamily="18" charset="0"/>
                <a:ea typeface="Cambria" panose="02040503050406030204" pitchFamily="18" charset="0"/>
                <a:cs typeface="Century Schoolbook"/>
              </a:rPr>
              <a:t>cladding.</a:t>
            </a:r>
          </a:p>
          <a:p>
            <a:pPr marL="469265" indent="-457200">
              <a:lnSpc>
                <a:spcPct val="100000"/>
              </a:lnSpc>
              <a:spcBef>
                <a:spcPts val="600"/>
              </a:spcBef>
              <a:buClr>
                <a:srgbClr val="FD8537"/>
              </a:buClr>
              <a:buSzPct val="68750"/>
              <a:tabLst>
                <a:tab pos="285750" algn="l"/>
              </a:tabLst>
            </a:pPr>
            <a:r>
              <a:rPr lang="en-US" sz="2400" dirty="0">
                <a:latin typeface="Cambria" panose="02040503050406030204" pitchFamily="18" charset="0"/>
                <a:ea typeface="Cambria" panose="02040503050406030204" pitchFamily="18" charset="0"/>
                <a:cs typeface="Century Schoolbook"/>
              </a:rPr>
              <a:t>Higher</a:t>
            </a:r>
            <a:r>
              <a:rPr lang="en-US" sz="2400" spc="-25" dirty="0">
                <a:latin typeface="Cambria" panose="02040503050406030204" pitchFamily="18" charset="0"/>
                <a:ea typeface="Cambria" panose="02040503050406030204" pitchFamily="18" charset="0"/>
                <a:cs typeface="Century Schoolbook"/>
              </a:rPr>
              <a:t> </a:t>
            </a:r>
            <a:r>
              <a:rPr lang="en-US" sz="2400" dirty="0">
                <a:latin typeface="Cambria" panose="02040503050406030204" pitchFamily="18" charset="0"/>
                <a:ea typeface="Cambria" panose="02040503050406030204" pitchFamily="18" charset="0"/>
                <a:cs typeface="Century Schoolbook"/>
              </a:rPr>
              <a:t>losses.</a:t>
            </a:r>
          </a:p>
          <a:p>
            <a:pPr marL="469265" indent="-457200">
              <a:lnSpc>
                <a:spcPct val="100000"/>
              </a:lnSpc>
              <a:spcBef>
                <a:spcPts val="600"/>
              </a:spcBef>
              <a:buClr>
                <a:srgbClr val="FD8537"/>
              </a:buClr>
              <a:buSzPct val="68750"/>
              <a:tabLst>
                <a:tab pos="285750" algn="l"/>
              </a:tabLst>
            </a:pPr>
            <a:r>
              <a:rPr lang="en-US" sz="2400" dirty="0">
                <a:latin typeface="Cambria" panose="02040503050406030204" pitchFamily="18" charset="0"/>
                <a:ea typeface="Cambria" panose="02040503050406030204" pitchFamily="18" charset="0"/>
                <a:cs typeface="Century Schoolbook"/>
              </a:rPr>
              <a:t>Short </a:t>
            </a:r>
            <a:r>
              <a:rPr lang="en-US" sz="2400" spc="-5" dirty="0">
                <a:latin typeface="Cambria" panose="02040503050406030204" pitchFamily="18" charset="0"/>
                <a:ea typeface="Cambria" panose="02040503050406030204" pitchFamily="18" charset="0"/>
                <a:cs typeface="Century Schoolbook"/>
              </a:rPr>
              <a:t>distance </a:t>
            </a:r>
            <a:r>
              <a:rPr lang="en-US" sz="2400" dirty="0">
                <a:latin typeface="Cambria" panose="02040503050406030204" pitchFamily="18" charset="0"/>
                <a:ea typeface="Cambria" panose="02040503050406030204" pitchFamily="18" charset="0"/>
                <a:cs typeface="Century Schoolbook"/>
              </a:rPr>
              <a:t>(several hundred</a:t>
            </a:r>
            <a:r>
              <a:rPr lang="en-US" sz="2400" spc="-70"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meters).</a:t>
            </a:r>
            <a:endParaRPr lang="en-US" sz="2400" dirty="0">
              <a:latin typeface="Cambria" panose="02040503050406030204" pitchFamily="18" charset="0"/>
              <a:ea typeface="Cambria" panose="02040503050406030204" pitchFamily="18" charset="0"/>
              <a:cs typeface="Century Schoolbook"/>
            </a:endParaRPr>
          </a:p>
          <a:p>
            <a:pPr marL="469265" indent="-457200">
              <a:lnSpc>
                <a:spcPct val="100000"/>
              </a:lnSpc>
              <a:spcBef>
                <a:spcPts val="600"/>
              </a:spcBef>
              <a:buClr>
                <a:srgbClr val="FD8537"/>
              </a:buClr>
              <a:buSzPct val="68750"/>
              <a:tabLst>
                <a:tab pos="285750" algn="l"/>
              </a:tabLst>
            </a:pPr>
            <a:r>
              <a:rPr lang="en-US" sz="2400" spc="-5" dirty="0">
                <a:latin typeface="Cambria" panose="02040503050406030204" pitchFamily="18" charset="0"/>
                <a:ea typeface="Cambria" panose="02040503050406030204" pitchFamily="18" charset="0"/>
                <a:cs typeface="Century Schoolbook"/>
              </a:rPr>
              <a:t>Reduced</a:t>
            </a:r>
            <a:r>
              <a:rPr lang="en-US" sz="2400" spc="-10" dirty="0">
                <a:latin typeface="Cambria" panose="02040503050406030204" pitchFamily="18" charset="0"/>
                <a:ea typeface="Cambria" panose="02040503050406030204" pitchFamily="18" charset="0"/>
                <a:cs typeface="Century Schoolbook"/>
              </a:rPr>
              <a:t> </a:t>
            </a:r>
            <a:r>
              <a:rPr lang="en-US" sz="2400" dirty="0">
                <a:latin typeface="Cambria" panose="02040503050406030204" pitchFamily="18" charset="0"/>
                <a:ea typeface="Cambria" panose="02040503050406030204" pitchFamily="18" charset="0"/>
                <a:cs typeface="Century Schoolbook"/>
              </a:rPr>
              <a:t>cost.</a:t>
            </a:r>
          </a:p>
          <a:p>
            <a:pPr marL="469265" indent="-457200">
              <a:lnSpc>
                <a:spcPct val="100000"/>
              </a:lnSpc>
              <a:buClr>
                <a:srgbClr val="FD8537"/>
              </a:buClr>
              <a:buSzPct val="68750"/>
              <a:tabLst>
                <a:tab pos="285750" algn="l"/>
              </a:tabLst>
            </a:pPr>
            <a:r>
              <a:rPr lang="en-US" sz="2400" spc="-5" dirty="0">
                <a:latin typeface="Cambria" panose="02040503050406030204" pitchFamily="18" charset="0"/>
                <a:ea typeface="Cambria" panose="02040503050406030204" pitchFamily="18" charset="0"/>
                <a:cs typeface="Century Schoolbook"/>
              </a:rPr>
              <a:t>Core </a:t>
            </a:r>
            <a:r>
              <a:rPr lang="en-US" sz="2400" dirty="0">
                <a:latin typeface="Cambria" panose="02040503050406030204" pitchFamily="18" charset="0"/>
                <a:ea typeface="Cambria" panose="02040503050406030204" pitchFamily="18" charset="0"/>
                <a:cs typeface="Century Schoolbook"/>
              </a:rPr>
              <a:t>Silicon resin </a:t>
            </a:r>
            <a:r>
              <a:rPr lang="en-US" sz="2400" spc="-5" dirty="0">
                <a:latin typeface="Cambria" panose="02040503050406030204" pitchFamily="18" charset="0"/>
                <a:ea typeface="Cambria" panose="02040503050406030204" pitchFamily="18" charset="0"/>
                <a:cs typeface="Century Schoolbook"/>
              </a:rPr>
              <a:t>RI </a:t>
            </a:r>
            <a:r>
              <a:rPr lang="en-US" sz="2400"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1.405 at</a:t>
            </a:r>
            <a:r>
              <a:rPr lang="en-US" sz="2400" spc="-70"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850nm</a:t>
            </a:r>
            <a:endParaRPr lang="en-US" sz="2400" dirty="0">
              <a:latin typeface="Cambria" panose="02040503050406030204" pitchFamily="18" charset="0"/>
              <a:ea typeface="Cambria" panose="02040503050406030204" pitchFamily="18" charset="0"/>
              <a:cs typeface="Century Schoolbook"/>
            </a:endParaRPr>
          </a:p>
          <a:p>
            <a:pPr marL="469265" marR="5080" indent="-457200">
              <a:lnSpc>
                <a:spcPct val="100000"/>
              </a:lnSpc>
              <a:spcBef>
                <a:spcPts val="600"/>
              </a:spcBef>
              <a:buClr>
                <a:srgbClr val="FD8537"/>
              </a:buClr>
              <a:buSzPct val="68750"/>
              <a:tabLst>
                <a:tab pos="285750" algn="l"/>
              </a:tabLst>
            </a:pPr>
            <a:r>
              <a:rPr lang="en-US" sz="2400" spc="-5" dirty="0">
                <a:latin typeface="Cambria" panose="02040503050406030204" pitchFamily="18" charset="0"/>
                <a:ea typeface="Cambria" panose="02040503050406030204" pitchFamily="18" charset="0"/>
                <a:cs typeface="Century Schoolbook"/>
              </a:rPr>
              <a:t>Clad </a:t>
            </a:r>
            <a:r>
              <a:rPr lang="en-US" sz="2400" dirty="0">
                <a:latin typeface="Cambria" panose="02040503050406030204" pitchFamily="18" charset="0"/>
                <a:ea typeface="Cambria" panose="02040503050406030204" pitchFamily="18" charset="0"/>
                <a:cs typeface="Century Schoolbook"/>
              </a:rPr>
              <a:t>is Teflon </a:t>
            </a:r>
            <a:r>
              <a:rPr lang="en-US" sz="2400" spc="-5" dirty="0">
                <a:latin typeface="Cambria" panose="02040503050406030204" pitchFamily="18" charset="0"/>
                <a:ea typeface="Cambria" panose="02040503050406030204" pitchFamily="18" charset="0"/>
                <a:cs typeface="Century Schoolbook"/>
              </a:rPr>
              <a:t>PEP </a:t>
            </a:r>
            <a:r>
              <a:rPr lang="en-US" sz="2400" dirty="0">
                <a:latin typeface="Cambria" panose="02040503050406030204" pitchFamily="18" charset="0"/>
                <a:ea typeface="Cambria" panose="02040503050406030204" pitchFamily="18" charset="0"/>
                <a:cs typeface="Century Schoolbook"/>
              </a:rPr>
              <a:t>(</a:t>
            </a:r>
            <a:r>
              <a:rPr lang="en-US" sz="2400" dirty="0" err="1">
                <a:latin typeface="Cambria" panose="02040503050406030204" pitchFamily="18" charset="0"/>
                <a:ea typeface="Cambria" panose="02040503050406030204" pitchFamily="18" charset="0"/>
                <a:cs typeface="Century Schoolbook"/>
              </a:rPr>
              <a:t>Perfluoronated</a:t>
            </a:r>
            <a:r>
              <a:rPr lang="en-US" sz="2400"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ethylene</a:t>
            </a:r>
            <a:r>
              <a:rPr lang="en-US" sz="2400" spc="-110"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propylene)  </a:t>
            </a:r>
            <a:r>
              <a:rPr lang="en-US" sz="2400" dirty="0">
                <a:latin typeface="Cambria" panose="02040503050406030204" pitchFamily="18" charset="0"/>
                <a:ea typeface="Cambria" panose="02040503050406030204" pitchFamily="18" charset="0"/>
                <a:cs typeface="Century Schoolbook"/>
              </a:rPr>
              <a:t>with </a:t>
            </a:r>
            <a:r>
              <a:rPr lang="en-US" sz="2400" spc="-5" dirty="0">
                <a:latin typeface="Cambria" panose="02040503050406030204" pitchFamily="18" charset="0"/>
                <a:ea typeface="Cambria" panose="02040503050406030204" pitchFamily="18" charset="0"/>
                <a:cs typeface="Century Schoolbook"/>
              </a:rPr>
              <a:t>RI </a:t>
            </a:r>
            <a:r>
              <a:rPr lang="en-US" sz="2400" dirty="0">
                <a:latin typeface="Cambria" panose="02040503050406030204" pitchFamily="18" charset="0"/>
                <a:ea typeface="Cambria" panose="02040503050406030204" pitchFamily="18" charset="0"/>
                <a:cs typeface="Century Schoolbook"/>
              </a:rPr>
              <a:t>=</a:t>
            </a:r>
            <a:r>
              <a:rPr lang="en-US" sz="2400" spc="-35"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1.338.</a:t>
            </a:r>
            <a:endParaRPr lang="en-US" sz="2400" dirty="0">
              <a:latin typeface="Cambria" panose="02040503050406030204" pitchFamily="18" charset="0"/>
              <a:ea typeface="Cambria" panose="02040503050406030204" pitchFamily="18" charset="0"/>
              <a:cs typeface="Century Schoolbook"/>
            </a:endParaRPr>
          </a:p>
          <a:p>
            <a:pPr marL="469265" indent="-457200">
              <a:lnSpc>
                <a:spcPct val="100000"/>
              </a:lnSpc>
              <a:spcBef>
                <a:spcPts val="605"/>
              </a:spcBef>
              <a:buClr>
                <a:srgbClr val="FD8537"/>
              </a:buClr>
              <a:buSzPct val="68750"/>
              <a:tabLst>
                <a:tab pos="285750" algn="l"/>
              </a:tabLst>
            </a:pPr>
            <a:r>
              <a:rPr lang="en-US" sz="2400" spc="-5" dirty="0">
                <a:latin typeface="Cambria" panose="02040503050406030204" pitchFamily="18" charset="0"/>
                <a:ea typeface="Cambria" panose="02040503050406030204" pitchFamily="18" charset="0"/>
                <a:cs typeface="Century Schoolbook"/>
              </a:rPr>
              <a:t>Large </a:t>
            </a:r>
            <a:r>
              <a:rPr lang="en-US" sz="2400" dirty="0">
                <a:latin typeface="Cambria" panose="02040503050406030204" pitchFamily="18" charset="0"/>
                <a:ea typeface="Cambria" panose="02040503050406030204" pitchFamily="18" charset="0"/>
                <a:cs typeface="Century Schoolbook"/>
              </a:rPr>
              <a:t>NA with </a:t>
            </a:r>
            <a:r>
              <a:rPr lang="en-US" sz="2400" spc="-5" dirty="0">
                <a:latin typeface="Cambria" panose="02040503050406030204" pitchFamily="18" charset="0"/>
                <a:ea typeface="Cambria" panose="02040503050406030204" pitchFamily="18" charset="0"/>
                <a:cs typeface="Century Schoolbook"/>
              </a:rPr>
              <a:t>large RI</a:t>
            </a:r>
            <a:r>
              <a:rPr lang="en-US" sz="2400" spc="-40"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difference.</a:t>
            </a:r>
            <a:endParaRPr lang="en-US" sz="2400" dirty="0">
              <a:latin typeface="Cambria" panose="02040503050406030204" pitchFamily="18" charset="0"/>
              <a:ea typeface="Cambria" panose="02040503050406030204" pitchFamily="18" charset="0"/>
              <a:cs typeface="Century Schoolbook"/>
            </a:endParaRPr>
          </a:p>
          <a:p>
            <a:pPr marL="469265" indent="-457200">
              <a:lnSpc>
                <a:spcPct val="100000"/>
              </a:lnSpc>
              <a:spcBef>
                <a:spcPts val="600"/>
              </a:spcBef>
              <a:buClr>
                <a:srgbClr val="FD8537"/>
              </a:buClr>
              <a:buSzPct val="68750"/>
              <a:tabLst>
                <a:tab pos="285750" algn="l"/>
              </a:tabLst>
            </a:pPr>
            <a:r>
              <a:rPr lang="en-US" sz="2400" spc="-5" dirty="0">
                <a:latin typeface="Cambria" panose="02040503050406030204" pitchFamily="18" charset="0"/>
                <a:ea typeface="Cambria" panose="02040503050406030204" pitchFamily="18" charset="0"/>
                <a:cs typeface="Century Schoolbook"/>
              </a:rPr>
              <a:t>Core </a:t>
            </a:r>
            <a:r>
              <a:rPr lang="en-US" sz="2400" spc="-5" dirty="0" err="1">
                <a:latin typeface="Cambria" panose="02040503050406030204" pitchFamily="18" charset="0"/>
                <a:ea typeface="Cambria" panose="02040503050406030204" pitchFamily="18" charset="0"/>
                <a:cs typeface="Century Schoolbook"/>
              </a:rPr>
              <a:t>dia</a:t>
            </a:r>
            <a:r>
              <a:rPr lang="en-US" sz="2400" spc="-5" dirty="0">
                <a:latin typeface="Cambria" panose="02040503050406030204" pitchFamily="18" charset="0"/>
                <a:ea typeface="Cambria" panose="02040503050406030204" pitchFamily="18" charset="0"/>
                <a:cs typeface="Century Schoolbook"/>
              </a:rPr>
              <a:t> </a:t>
            </a:r>
            <a:r>
              <a:rPr lang="en-US" sz="2400" dirty="0">
                <a:latin typeface="Cambria" panose="02040503050406030204" pitchFamily="18" charset="0"/>
                <a:ea typeface="Cambria" panose="02040503050406030204" pitchFamily="18" charset="0"/>
                <a:cs typeface="Century Schoolbook"/>
              </a:rPr>
              <a:t>of </a:t>
            </a:r>
            <a:r>
              <a:rPr lang="en-US" sz="2400" spc="-5" dirty="0">
                <a:latin typeface="Cambria" panose="02040503050406030204" pitchFamily="18" charset="0"/>
                <a:ea typeface="Cambria" panose="02040503050406030204" pitchFamily="18" charset="0"/>
                <a:cs typeface="Century Schoolbook"/>
              </a:rPr>
              <a:t>150 to</a:t>
            </a:r>
            <a:r>
              <a:rPr lang="en-US" sz="2400" spc="-15" dirty="0">
                <a:latin typeface="Cambria" panose="02040503050406030204" pitchFamily="18" charset="0"/>
                <a:ea typeface="Cambria" panose="02040503050406030204" pitchFamily="18" charset="0"/>
                <a:cs typeface="Century Schoolbook"/>
              </a:rPr>
              <a:t> </a:t>
            </a:r>
            <a:r>
              <a:rPr lang="en-US" sz="2400" spc="-10" dirty="0">
                <a:latin typeface="Cambria" panose="02040503050406030204" pitchFamily="18" charset="0"/>
                <a:ea typeface="Cambria" panose="02040503050406030204" pitchFamily="18" charset="0"/>
                <a:cs typeface="Century Schoolbook"/>
              </a:rPr>
              <a:t>600µm.</a:t>
            </a:r>
            <a:endParaRPr lang="en-US" sz="2400" dirty="0">
              <a:latin typeface="Cambria" panose="02040503050406030204" pitchFamily="18" charset="0"/>
              <a:ea typeface="Cambria" panose="02040503050406030204" pitchFamily="18" charset="0"/>
              <a:cs typeface="Century Schoolbook"/>
            </a:endParaRPr>
          </a:p>
          <a:p>
            <a:pPr marL="469265" indent="-457200">
              <a:lnSpc>
                <a:spcPct val="100000"/>
              </a:lnSpc>
              <a:spcBef>
                <a:spcPts val="600"/>
              </a:spcBef>
              <a:buClr>
                <a:srgbClr val="FD8537"/>
              </a:buClr>
              <a:buSzPct val="68750"/>
              <a:tabLst>
                <a:tab pos="285750" algn="l"/>
              </a:tabLst>
            </a:pPr>
            <a:r>
              <a:rPr lang="en-US" sz="2400" spc="-5" dirty="0">
                <a:latin typeface="Cambria" panose="02040503050406030204" pitchFamily="18" charset="0"/>
                <a:ea typeface="Cambria" panose="02040503050406030204" pitchFamily="18" charset="0"/>
                <a:cs typeface="Century Schoolbook"/>
              </a:rPr>
              <a:t>LED as</a:t>
            </a:r>
            <a:r>
              <a:rPr lang="en-US" sz="2400" dirty="0">
                <a:latin typeface="Cambria" panose="02040503050406030204" pitchFamily="18" charset="0"/>
                <a:ea typeface="Cambria" panose="02040503050406030204" pitchFamily="18" charset="0"/>
                <a:cs typeface="Century Schoolbook"/>
              </a:rPr>
              <a:t> source.</a:t>
            </a:r>
          </a:p>
        </p:txBody>
      </p:sp>
      <p:sp>
        <p:nvSpPr>
          <p:cNvPr id="4" name="Text Placeholder 3"/>
          <p:cNvSpPr>
            <a:spLocks noGrp="1"/>
          </p:cNvSpPr>
          <p:nvPr>
            <p:ph type="body" sz="half" idx="2"/>
          </p:nvPr>
        </p:nvSpPr>
        <p:spPr>
          <a:xfrm>
            <a:off x="839788" y="1294228"/>
            <a:ext cx="3932237" cy="4574760"/>
          </a:xfrm>
        </p:spPr>
        <p:txBody>
          <a:bodyPr>
            <a:normAutofit/>
          </a:bodyPr>
          <a:lstStyle/>
          <a:p>
            <a:pPr marL="24765">
              <a:lnSpc>
                <a:spcPct val="100000"/>
              </a:lnSpc>
              <a:spcBef>
                <a:spcPts val="700"/>
              </a:spcBef>
              <a:buClr>
                <a:srgbClr val="FD8537"/>
              </a:buClr>
              <a:buSzPct val="68750"/>
              <a:tabLst>
                <a:tab pos="298450" algn="l"/>
              </a:tabLst>
            </a:pPr>
            <a:r>
              <a:rPr lang="en-US" sz="2700" spc="-5" dirty="0">
                <a:solidFill>
                  <a:srgbClr val="565F6C"/>
                </a:solidFill>
                <a:latin typeface="Cambria" panose="02040503050406030204" pitchFamily="18" charset="0"/>
                <a:ea typeface="Cambria" panose="02040503050406030204" pitchFamily="18" charset="0"/>
                <a:cs typeface="Century Schoolbook"/>
              </a:rPr>
              <a:t>     </a:t>
            </a:r>
            <a:r>
              <a:rPr lang="en-US" sz="2400" spc="-5" dirty="0">
                <a:solidFill>
                  <a:srgbClr val="FF0000"/>
                </a:solidFill>
                <a:latin typeface="Cambria" panose="02040503050406030204" pitchFamily="18" charset="0"/>
                <a:ea typeface="Cambria" panose="02040503050406030204" pitchFamily="18" charset="0"/>
                <a:cs typeface="Century Schoolbook"/>
              </a:rPr>
              <a:t>I- </a:t>
            </a:r>
            <a:r>
              <a:rPr lang="en-US" sz="2400" dirty="0">
                <a:solidFill>
                  <a:srgbClr val="FF0000"/>
                </a:solidFill>
                <a:latin typeface="Cambria" panose="02040503050406030204" pitchFamily="18" charset="0"/>
                <a:ea typeface="Cambria" panose="02040503050406030204" pitchFamily="18" charset="0"/>
                <a:cs typeface="Century Schoolbook"/>
              </a:rPr>
              <a:t>Glass-Glass</a:t>
            </a:r>
            <a:r>
              <a:rPr lang="en-US" sz="2400" spc="-45" dirty="0">
                <a:solidFill>
                  <a:srgbClr val="FF0000"/>
                </a:solidFill>
                <a:latin typeface="Cambria" panose="02040503050406030204" pitchFamily="18" charset="0"/>
                <a:ea typeface="Cambria" panose="02040503050406030204" pitchFamily="18" charset="0"/>
                <a:cs typeface="Century Schoolbook"/>
              </a:rPr>
              <a:t> </a:t>
            </a:r>
            <a:r>
              <a:rPr lang="en-US" sz="2400" spc="-5" dirty="0">
                <a:solidFill>
                  <a:srgbClr val="FF0000"/>
                </a:solidFill>
                <a:latin typeface="Cambria" panose="02040503050406030204" pitchFamily="18" charset="0"/>
                <a:ea typeface="Cambria" panose="02040503050406030204" pitchFamily="18" charset="0"/>
                <a:cs typeface="Century Schoolbook"/>
              </a:rPr>
              <a:t>Fiber</a:t>
            </a:r>
            <a:endParaRPr lang="en-US" sz="2400" dirty="0">
              <a:solidFill>
                <a:srgbClr val="FF0000"/>
              </a:solidFill>
              <a:latin typeface="Cambria" panose="02040503050406030204" pitchFamily="18" charset="0"/>
              <a:ea typeface="Cambria" panose="02040503050406030204" pitchFamily="18" charset="0"/>
              <a:cs typeface="Century Schoolbook"/>
            </a:endParaRPr>
          </a:p>
          <a:p>
            <a:pPr marL="310515" indent="-285750">
              <a:lnSpc>
                <a:spcPct val="100000"/>
              </a:lnSpc>
              <a:spcBef>
                <a:spcPts val="600"/>
              </a:spcBef>
              <a:buClr>
                <a:srgbClr val="FD8537"/>
              </a:buClr>
              <a:buSzPct val="68750"/>
              <a:buFont typeface="Arial" panose="020B0604020202020204" pitchFamily="34" charset="0"/>
              <a:buChar char="•"/>
              <a:tabLst>
                <a:tab pos="298450" algn="l"/>
              </a:tabLst>
            </a:pPr>
            <a:r>
              <a:rPr lang="en-US" sz="2400" spc="-5" dirty="0">
                <a:solidFill>
                  <a:srgbClr val="FF0000"/>
                </a:solidFill>
                <a:latin typeface="Cambria" panose="02040503050406030204" pitchFamily="18" charset="0"/>
                <a:ea typeface="Cambria" panose="02040503050406030204" pitchFamily="18" charset="0"/>
                <a:cs typeface="Century Schoolbook"/>
              </a:rPr>
              <a:t>Combinations </a:t>
            </a:r>
            <a:r>
              <a:rPr lang="en-US" sz="2400" dirty="0">
                <a:solidFill>
                  <a:srgbClr val="FF0000"/>
                </a:solidFill>
                <a:latin typeface="Cambria" panose="02040503050406030204" pitchFamily="18" charset="0"/>
                <a:ea typeface="Cambria" panose="02040503050406030204" pitchFamily="18" charset="0"/>
                <a:cs typeface="Century Schoolbook"/>
              </a:rPr>
              <a:t>can</a:t>
            </a:r>
            <a:r>
              <a:rPr lang="en-US" sz="2400" spc="-20" dirty="0">
                <a:solidFill>
                  <a:srgbClr val="FF0000"/>
                </a:solidFill>
                <a:latin typeface="Cambria" panose="02040503050406030204" pitchFamily="18" charset="0"/>
                <a:ea typeface="Cambria" panose="02040503050406030204" pitchFamily="18" charset="0"/>
                <a:cs typeface="Century Schoolbook"/>
              </a:rPr>
              <a:t> </a:t>
            </a:r>
            <a:r>
              <a:rPr lang="en-US" sz="2400" dirty="0">
                <a:solidFill>
                  <a:srgbClr val="FF0000"/>
                </a:solidFill>
                <a:latin typeface="Cambria" panose="02040503050406030204" pitchFamily="18" charset="0"/>
                <a:ea typeface="Cambria" panose="02040503050406030204" pitchFamily="18" charset="0"/>
                <a:cs typeface="Century Schoolbook"/>
              </a:rPr>
              <a:t>be—</a:t>
            </a:r>
          </a:p>
          <a:p>
            <a:pPr marL="310515" indent="-285750">
              <a:lnSpc>
                <a:spcPct val="100000"/>
              </a:lnSpc>
              <a:spcBef>
                <a:spcPts val="600"/>
              </a:spcBef>
              <a:buClr>
                <a:srgbClr val="FD8537"/>
              </a:buClr>
              <a:buSzPct val="68750"/>
              <a:buFont typeface="Arial" panose="020B0604020202020204" pitchFamily="34" charset="0"/>
              <a:buChar char="•"/>
              <a:tabLst>
                <a:tab pos="298450" algn="l"/>
              </a:tabLst>
            </a:pPr>
            <a:r>
              <a:rPr lang="en-US" sz="2400" dirty="0">
                <a:latin typeface="Cambria" panose="02040503050406030204" pitchFamily="18" charset="0"/>
                <a:ea typeface="Cambria" panose="02040503050406030204" pitchFamily="18" charset="0"/>
                <a:cs typeface="Century Schoolbook"/>
              </a:rPr>
              <a:t>GeO</a:t>
            </a:r>
            <a:r>
              <a:rPr lang="en-US" sz="2400" baseline="-20833" dirty="0">
                <a:latin typeface="Cambria" panose="02040503050406030204" pitchFamily="18" charset="0"/>
                <a:ea typeface="Cambria" panose="02040503050406030204" pitchFamily="18" charset="0"/>
                <a:cs typeface="Century Schoolbook"/>
              </a:rPr>
              <a:t>2 </a:t>
            </a:r>
            <a:r>
              <a:rPr lang="en-US" sz="2400" dirty="0">
                <a:latin typeface="Cambria" panose="02040503050406030204" pitchFamily="18" charset="0"/>
                <a:ea typeface="Cambria" panose="02040503050406030204" pitchFamily="18" charset="0"/>
                <a:cs typeface="Century Schoolbook"/>
              </a:rPr>
              <a:t>- SiO</a:t>
            </a:r>
            <a:r>
              <a:rPr lang="en-US" sz="2400" baseline="-20833" dirty="0">
                <a:latin typeface="Cambria" panose="02040503050406030204" pitchFamily="18" charset="0"/>
                <a:ea typeface="Cambria" panose="02040503050406030204" pitchFamily="18" charset="0"/>
                <a:cs typeface="Century Schoolbook"/>
              </a:rPr>
              <a:t>2 </a:t>
            </a:r>
            <a:r>
              <a:rPr lang="en-US" sz="2400" dirty="0">
                <a:latin typeface="Cambria" panose="02040503050406030204" pitchFamily="18" charset="0"/>
                <a:ea typeface="Cambria" panose="02040503050406030204" pitchFamily="18" charset="0"/>
                <a:cs typeface="Century Schoolbook"/>
              </a:rPr>
              <a:t>core, SiO</a:t>
            </a:r>
            <a:r>
              <a:rPr lang="en-US" sz="2400" baseline="-20833" dirty="0">
                <a:latin typeface="Cambria" panose="02040503050406030204" pitchFamily="18" charset="0"/>
                <a:ea typeface="Cambria" panose="02040503050406030204" pitchFamily="18" charset="0"/>
                <a:cs typeface="Century Schoolbook"/>
              </a:rPr>
              <a:t>2</a:t>
            </a:r>
            <a:r>
              <a:rPr lang="en-US" sz="2400" spc="-120" baseline="-20833"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Cladding.</a:t>
            </a:r>
            <a:endParaRPr lang="en-US" sz="2400" dirty="0">
              <a:latin typeface="Cambria" panose="02040503050406030204" pitchFamily="18" charset="0"/>
              <a:ea typeface="Cambria" panose="02040503050406030204" pitchFamily="18" charset="0"/>
              <a:cs typeface="Century Schoolbook"/>
            </a:endParaRPr>
          </a:p>
          <a:p>
            <a:pPr marL="310515" indent="-285750">
              <a:lnSpc>
                <a:spcPct val="100000"/>
              </a:lnSpc>
              <a:spcBef>
                <a:spcPts val="600"/>
              </a:spcBef>
              <a:buClr>
                <a:srgbClr val="FD8537"/>
              </a:buClr>
              <a:buSzPct val="68750"/>
              <a:buFont typeface="Arial" panose="020B0604020202020204" pitchFamily="34" charset="0"/>
              <a:buChar char="•"/>
              <a:tabLst>
                <a:tab pos="298450" algn="l"/>
              </a:tabLst>
            </a:pPr>
            <a:r>
              <a:rPr lang="en-US" sz="2400" spc="-5" dirty="0">
                <a:latin typeface="Cambria" panose="02040503050406030204" pitchFamily="18" charset="0"/>
                <a:ea typeface="Cambria" panose="02040503050406030204" pitchFamily="18" charset="0"/>
                <a:cs typeface="Century Schoolbook"/>
              </a:rPr>
              <a:t>P</a:t>
            </a:r>
            <a:r>
              <a:rPr lang="en-US" sz="2400" spc="-7" baseline="-20833" dirty="0">
                <a:latin typeface="Cambria" panose="02040503050406030204" pitchFamily="18" charset="0"/>
                <a:ea typeface="Cambria" panose="02040503050406030204" pitchFamily="18" charset="0"/>
                <a:cs typeface="Century Schoolbook"/>
              </a:rPr>
              <a:t>2</a:t>
            </a:r>
            <a:r>
              <a:rPr lang="en-US" sz="2400" spc="-5" dirty="0">
                <a:latin typeface="Cambria" panose="02040503050406030204" pitchFamily="18" charset="0"/>
                <a:ea typeface="Cambria" panose="02040503050406030204" pitchFamily="18" charset="0"/>
                <a:cs typeface="Century Schoolbook"/>
              </a:rPr>
              <a:t>O</a:t>
            </a:r>
            <a:r>
              <a:rPr lang="en-US" sz="2400" spc="-7" baseline="-20833" dirty="0">
                <a:latin typeface="Cambria" panose="02040503050406030204" pitchFamily="18" charset="0"/>
                <a:ea typeface="Cambria" panose="02040503050406030204" pitchFamily="18" charset="0"/>
                <a:cs typeface="Century Schoolbook"/>
              </a:rPr>
              <a:t>5 </a:t>
            </a:r>
            <a:r>
              <a:rPr lang="en-US" sz="2400" dirty="0">
                <a:latin typeface="Cambria" panose="02040503050406030204" pitchFamily="18" charset="0"/>
                <a:ea typeface="Cambria" panose="02040503050406030204" pitchFamily="18" charset="0"/>
                <a:cs typeface="Century Schoolbook"/>
              </a:rPr>
              <a:t>- SiO</a:t>
            </a:r>
            <a:r>
              <a:rPr lang="en-US" sz="2400" baseline="-20833" dirty="0">
                <a:latin typeface="Cambria" panose="02040503050406030204" pitchFamily="18" charset="0"/>
                <a:ea typeface="Cambria" panose="02040503050406030204" pitchFamily="18" charset="0"/>
                <a:cs typeface="Century Schoolbook"/>
              </a:rPr>
              <a:t>2 </a:t>
            </a:r>
            <a:r>
              <a:rPr lang="en-US" sz="2400" dirty="0">
                <a:latin typeface="Cambria" panose="02040503050406030204" pitchFamily="18" charset="0"/>
                <a:ea typeface="Cambria" panose="02040503050406030204" pitchFamily="18" charset="0"/>
                <a:cs typeface="Century Schoolbook"/>
              </a:rPr>
              <a:t>core, SiO</a:t>
            </a:r>
            <a:r>
              <a:rPr lang="en-US" sz="2400" baseline="-20833" dirty="0">
                <a:latin typeface="Cambria" panose="02040503050406030204" pitchFamily="18" charset="0"/>
                <a:ea typeface="Cambria" panose="02040503050406030204" pitchFamily="18" charset="0"/>
                <a:cs typeface="Century Schoolbook"/>
              </a:rPr>
              <a:t>2</a:t>
            </a:r>
            <a:r>
              <a:rPr lang="en-US" sz="2400" spc="-97" baseline="-20833"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Cladding.</a:t>
            </a:r>
            <a:endParaRPr lang="en-US" sz="2400" dirty="0">
              <a:latin typeface="Cambria" panose="02040503050406030204" pitchFamily="18" charset="0"/>
              <a:ea typeface="Cambria" panose="02040503050406030204" pitchFamily="18" charset="0"/>
              <a:cs typeface="Century Schoolbook"/>
            </a:endParaRPr>
          </a:p>
          <a:p>
            <a:pPr marL="310515" indent="-285750">
              <a:lnSpc>
                <a:spcPct val="100000"/>
              </a:lnSpc>
              <a:spcBef>
                <a:spcPts val="600"/>
              </a:spcBef>
              <a:buClr>
                <a:srgbClr val="FD8537"/>
              </a:buClr>
              <a:buSzPct val="68750"/>
              <a:buFont typeface="Arial" panose="020B0604020202020204" pitchFamily="34" charset="0"/>
              <a:buChar char="•"/>
              <a:tabLst>
                <a:tab pos="298450" algn="l"/>
              </a:tabLst>
            </a:pPr>
            <a:r>
              <a:rPr lang="en-US" sz="2400" dirty="0">
                <a:latin typeface="Cambria" panose="02040503050406030204" pitchFamily="18" charset="0"/>
                <a:ea typeface="Cambria" panose="02040503050406030204" pitchFamily="18" charset="0"/>
                <a:cs typeface="Century Schoolbook"/>
              </a:rPr>
              <a:t>SiO</a:t>
            </a:r>
            <a:r>
              <a:rPr lang="en-US" sz="2400" baseline="-20833" dirty="0">
                <a:latin typeface="Cambria" panose="02040503050406030204" pitchFamily="18" charset="0"/>
                <a:ea typeface="Cambria" panose="02040503050406030204" pitchFamily="18" charset="0"/>
                <a:cs typeface="Century Schoolbook"/>
              </a:rPr>
              <a:t>2 </a:t>
            </a:r>
            <a:r>
              <a:rPr lang="en-US" sz="2400" dirty="0">
                <a:latin typeface="Cambria" panose="02040503050406030204" pitchFamily="18" charset="0"/>
                <a:ea typeface="Cambria" panose="02040503050406030204" pitchFamily="18" charset="0"/>
                <a:cs typeface="Century Schoolbook"/>
              </a:rPr>
              <a:t>core, </a:t>
            </a:r>
            <a:r>
              <a:rPr lang="en-US" sz="2400" spc="-5" dirty="0">
                <a:latin typeface="Cambria" panose="02040503050406030204" pitchFamily="18" charset="0"/>
                <a:ea typeface="Cambria" panose="02040503050406030204" pitchFamily="18" charset="0"/>
                <a:cs typeface="Century Schoolbook"/>
              </a:rPr>
              <a:t>B</a:t>
            </a:r>
            <a:r>
              <a:rPr lang="en-US" sz="2400" spc="-7" baseline="-20833" dirty="0">
                <a:latin typeface="Cambria" panose="02040503050406030204" pitchFamily="18" charset="0"/>
                <a:ea typeface="Cambria" panose="02040503050406030204" pitchFamily="18" charset="0"/>
                <a:cs typeface="Century Schoolbook"/>
              </a:rPr>
              <a:t>2</a:t>
            </a:r>
            <a:r>
              <a:rPr lang="en-US" sz="2400" spc="-5" dirty="0">
                <a:latin typeface="Cambria" panose="02040503050406030204" pitchFamily="18" charset="0"/>
                <a:ea typeface="Cambria" panose="02040503050406030204" pitchFamily="18" charset="0"/>
                <a:cs typeface="Century Schoolbook"/>
              </a:rPr>
              <a:t>O</a:t>
            </a:r>
            <a:r>
              <a:rPr lang="en-US" sz="2400" spc="-7" baseline="-20833" dirty="0">
                <a:latin typeface="Cambria" panose="02040503050406030204" pitchFamily="18" charset="0"/>
                <a:ea typeface="Cambria" panose="02040503050406030204" pitchFamily="18" charset="0"/>
                <a:cs typeface="Century Schoolbook"/>
              </a:rPr>
              <a:t>3 </a:t>
            </a:r>
            <a:r>
              <a:rPr lang="en-US" sz="2400" dirty="0">
                <a:latin typeface="Cambria" panose="02040503050406030204" pitchFamily="18" charset="0"/>
                <a:ea typeface="Cambria" panose="02040503050406030204" pitchFamily="18" charset="0"/>
                <a:cs typeface="Century Schoolbook"/>
              </a:rPr>
              <a:t>-SiO</a:t>
            </a:r>
            <a:r>
              <a:rPr lang="en-US" sz="2400" baseline="-20833" dirty="0">
                <a:latin typeface="Cambria" panose="02040503050406030204" pitchFamily="18" charset="0"/>
                <a:ea typeface="Cambria" panose="02040503050406030204" pitchFamily="18" charset="0"/>
                <a:cs typeface="Century Schoolbook"/>
              </a:rPr>
              <a:t>2</a:t>
            </a:r>
            <a:r>
              <a:rPr lang="en-US" sz="2400" spc="-82" baseline="-20833"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Cladding.</a:t>
            </a:r>
            <a:endParaRPr lang="en-US" sz="2400" dirty="0">
              <a:latin typeface="Cambria" panose="02040503050406030204" pitchFamily="18" charset="0"/>
              <a:ea typeface="Cambria" panose="02040503050406030204" pitchFamily="18" charset="0"/>
              <a:cs typeface="Century Schoolbook"/>
            </a:endParaRPr>
          </a:p>
          <a:p>
            <a:pPr marL="310515" indent="-285750">
              <a:lnSpc>
                <a:spcPct val="100000"/>
              </a:lnSpc>
              <a:spcBef>
                <a:spcPts val="600"/>
              </a:spcBef>
              <a:buClr>
                <a:srgbClr val="FD8537"/>
              </a:buClr>
              <a:buSzPct val="68750"/>
              <a:buFont typeface="Arial" panose="020B0604020202020204" pitchFamily="34" charset="0"/>
              <a:buChar char="•"/>
              <a:tabLst>
                <a:tab pos="298450" algn="l"/>
              </a:tabLst>
            </a:pPr>
            <a:r>
              <a:rPr lang="en-US" sz="2400" dirty="0">
                <a:latin typeface="Cambria" panose="02040503050406030204" pitchFamily="18" charset="0"/>
                <a:ea typeface="Cambria" panose="02040503050406030204" pitchFamily="18" charset="0"/>
                <a:cs typeface="Century Schoolbook"/>
              </a:rPr>
              <a:t>GeO</a:t>
            </a:r>
            <a:r>
              <a:rPr lang="en-US" sz="2400" baseline="-20833" dirty="0">
                <a:latin typeface="Cambria" panose="02040503050406030204" pitchFamily="18" charset="0"/>
                <a:ea typeface="Cambria" panose="02040503050406030204" pitchFamily="18" charset="0"/>
                <a:cs typeface="Century Schoolbook"/>
              </a:rPr>
              <a:t>2 </a:t>
            </a:r>
            <a:r>
              <a:rPr lang="en-US" sz="2400"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B</a:t>
            </a:r>
            <a:r>
              <a:rPr lang="en-US" sz="2400" spc="-7" baseline="-20833" dirty="0">
                <a:latin typeface="Cambria" panose="02040503050406030204" pitchFamily="18" charset="0"/>
                <a:ea typeface="Cambria" panose="02040503050406030204" pitchFamily="18" charset="0"/>
                <a:cs typeface="Century Schoolbook"/>
              </a:rPr>
              <a:t>2</a:t>
            </a:r>
            <a:r>
              <a:rPr lang="en-US" sz="2400" spc="-5" dirty="0">
                <a:latin typeface="Cambria" panose="02040503050406030204" pitchFamily="18" charset="0"/>
                <a:ea typeface="Cambria" panose="02040503050406030204" pitchFamily="18" charset="0"/>
                <a:cs typeface="Century Schoolbook"/>
              </a:rPr>
              <a:t>O</a:t>
            </a:r>
            <a:r>
              <a:rPr lang="en-US" sz="2400" spc="-7" baseline="-20833" dirty="0">
                <a:latin typeface="Cambria" panose="02040503050406030204" pitchFamily="18" charset="0"/>
                <a:ea typeface="Cambria" panose="02040503050406030204" pitchFamily="18" charset="0"/>
                <a:cs typeface="Century Schoolbook"/>
              </a:rPr>
              <a:t>3 </a:t>
            </a:r>
            <a:r>
              <a:rPr lang="en-US" sz="2400" dirty="0">
                <a:latin typeface="Cambria" panose="02040503050406030204" pitchFamily="18" charset="0"/>
                <a:ea typeface="Cambria" panose="02040503050406030204" pitchFamily="18" charset="0"/>
                <a:cs typeface="Century Schoolbook"/>
              </a:rPr>
              <a:t>- SiO</a:t>
            </a:r>
            <a:r>
              <a:rPr lang="en-US" sz="2400" baseline="-20833" dirty="0">
                <a:latin typeface="Cambria" panose="02040503050406030204" pitchFamily="18" charset="0"/>
                <a:ea typeface="Cambria" panose="02040503050406030204" pitchFamily="18" charset="0"/>
                <a:cs typeface="Century Schoolbook"/>
              </a:rPr>
              <a:t>2 </a:t>
            </a:r>
            <a:r>
              <a:rPr lang="en-US" sz="2400" dirty="0">
                <a:latin typeface="Cambria" panose="02040503050406030204" pitchFamily="18" charset="0"/>
                <a:ea typeface="Cambria" panose="02040503050406030204" pitchFamily="18" charset="0"/>
                <a:cs typeface="Century Schoolbook"/>
              </a:rPr>
              <a:t>core, </a:t>
            </a:r>
            <a:r>
              <a:rPr lang="en-US" sz="2400" spc="-5" dirty="0">
                <a:latin typeface="Cambria" panose="02040503050406030204" pitchFamily="18" charset="0"/>
                <a:ea typeface="Cambria" panose="02040503050406030204" pitchFamily="18" charset="0"/>
                <a:cs typeface="Century Schoolbook"/>
              </a:rPr>
              <a:t>B</a:t>
            </a:r>
            <a:r>
              <a:rPr lang="en-US" sz="2400" spc="-7" baseline="-20833" dirty="0">
                <a:latin typeface="Cambria" panose="02040503050406030204" pitchFamily="18" charset="0"/>
                <a:ea typeface="Cambria" panose="02040503050406030204" pitchFamily="18" charset="0"/>
                <a:cs typeface="Century Schoolbook"/>
              </a:rPr>
              <a:t>2</a:t>
            </a:r>
            <a:r>
              <a:rPr lang="en-US" sz="2400" spc="-5" dirty="0">
                <a:latin typeface="Cambria" panose="02040503050406030204" pitchFamily="18" charset="0"/>
                <a:ea typeface="Cambria" panose="02040503050406030204" pitchFamily="18" charset="0"/>
                <a:cs typeface="Century Schoolbook"/>
              </a:rPr>
              <a:t>O</a:t>
            </a:r>
            <a:r>
              <a:rPr lang="en-US" sz="2400" spc="-7" baseline="-20833" dirty="0">
                <a:latin typeface="Cambria" panose="02040503050406030204" pitchFamily="18" charset="0"/>
                <a:ea typeface="Cambria" panose="02040503050406030204" pitchFamily="18" charset="0"/>
                <a:cs typeface="Century Schoolbook"/>
              </a:rPr>
              <a:t>3 </a:t>
            </a:r>
            <a:r>
              <a:rPr lang="en-US" sz="2400" dirty="0">
                <a:latin typeface="Cambria" panose="02040503050406030204" pitchFamily="18" charset="0"/>
                <a:ea typeface="Cambria" panose="02040503050406030204" pitchFamily="18" charset="0"/>
                <a:cs typeface="Century Schoolbook"/>
              </a:rPr>
              <a:t>-SiO</a:t>
            </a:r>
            <a:r>
              <a:rPr lang="en-US" sz="2400" baseline="-20833" dirty="0">
                <a:latin typeface="Cambria" panose="02040503050406030204" pitchFamily="18" charset="0"/>
                <a:ea typeface="Cambria" panose="02040503050406030204" pitchFamily="18" charset="0"/>
                <a:cs typeface="Century Schoolbook"/>
              </a:rPr>
              <a:t>2</a:t>
            </a:r>
            <a:r>
              <a:rPr lang="en-US" sz="2400" spc="-179" baseline="-20833" dirty="0">
                <a:latin typeface="Cambria" panose="02040503050406030204" pitchFamily="18" charset="0"/>
                <a:ea typeface="Cambria" panose="02040503050406030204" pitchFamily="18" charset="0"/>
                <a:cs typeface="Century Schoolbook"/>
              </a:rPr>
              <a:t> </a:t>
            </a:r>
            <a:r>
              <a:rPr lang="en-US" sz="2400" spc="-5" dirty="0">
                <a:latin typeface="Cambria" panose="02040503050406030204" pitchFamily="18" charset="0"/>
                <a:ea typeface="Cambria" panose="02040503050406030204" pitchFamily="18" charset="0"/>
                <a:cs typeface="Century Schoolbook"/>
              </a:rPr>
              <a:t>Cladding.</a:t>
            </a:r>
            <a:endParaRPr lang="en-US" sz="2400" dirty="0">
              <a:latin typeface="Cambria" panose="02040503050406030204" pitchFamily="18" charset="0"/>
              <a:ea typeface="Cambria" panose="02040503050406030204" pitchFamily="18" charset="0"/>
              <a:cs typeface="Century Schoolbook"/>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9</a:t>
            </a:fld>
            <a:endParaRPr lang="en-US"/>
          </a:p>
        </p:txBody>
      </p:sp>
    </p:spTree>
    <p:extLst>
      <p:ext uri="{BB962C8B-B14F-4D97-AF65-F5344CB8AC3E}">
        <p14:creationId xmlns:p14="http://schemas.microsoft.com/office/powerpoint/2010/main" val="3572618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5070" y="0"/>
            <a:ext cx="5866227" cy="1058862"/>
          </a:xfrm>
        </p:spPr>
        <p:txBody>
          <a:bodyPr>
            <a:noAutofit/>
          </a:bodyPr>
          <a:lstStyle/>
          <a:p>
            <a:r>
              <a:rPr lang="en-US" sz="4400" b="1" spc="-5" dirty="0">
                <a:latin typeface="Cambria" panose="02040503050406030204" pitchFamily="18" charset="0"/>
                <a:ea typeface="Cambria" panose="02040503050406030204" pitchFamily="18" charset="0"/>
              </a:rPr>
              <a:t>FIBER</a:t>
            </a:r>
            <a:r>
              <a:rPr lang="en-US" sz="4400" b="1" spc="-60" dirty="0">
                <a:latin typeface="Cambria" panose="02040503050406030204" pitchFamily="18" charset="0"/>
                <a:ea typeface="Cambria" panose="02040503050406030204" pitchFamily="18" charset="0"/>
              </a:rPr>
              <a:t> </a:t>
            </a:r>
            <a:r>
              <a:rPr lang="en-US" sz="4400" b="1" spc="-5" dirty="0">
                <a:latin typeface="Cambria" panose="02040503050406030204" pitchFamily="18" charset="0"/>
                <a:ea typeface="Cambria" panose="02040503050406030204" pitchFamily="18" charset="0"/>
              </a:rPr>
              <a:t>MANUFACTURE</a:t>
            </a:r>
            <a:endParaRPr lang="en-US" sz="4400" dirty="0"/>
          </a:p>
        </p:txBody>
      </p:sp>
      <p:sp>
        <p:nvSpPr>
          <p:cNvPr id="3" name="Content Placeholder 2"/>
          <p:cNvSpPr>
            <a:spLocks noGrp="1"/>
          </p:cNvSpPr>
          <p:nvPr>
            <p:ph idx="1"/>
          </p:nvPr>
        </p:nvSpPr>
        <p:spPr>
          <a:xfrm>
            <a:off x="6229350" y="1228725"/>
            <a:ext cx="5457824" cy="4957763"/>
          </a:xfrm>
        </p:spPr>
        <p:txBody>
          <a:bodyPr>
            <a:normAutofit/>
          </a:bodyPr>
          <a:lstStyle/>
          <a:p>
            <a:pPr marL="0" indent="0">
              <a:buNone/>
            </a:pPr>
            <a:r>
              <a:rPr lang="en-US" sz="2400" b="1" dirty="0">
                <a:solidFill>
                  <a:srgbClr val="FF0000"/>
                </a:solidFill>
                <a:latin typeface="Cambria" panose="02040503050406030204" pitchFamily="18" charset="0"/>
                <a:ea typeface="Cambria" panose="02040503050406030204" pitchFamily="18" charset="0"/>
              </a:rPr>
              <a:t>Remember!</a:t>
            </a:r>
            <a:endParaRPr lang="en-US" sz="2400" dirty="0">
              <a:solidFill>
                <a:srgbClr val="FF0000"/>
              </a:solidFill>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Germanium dioxide and phosphorus pentaoxide increase the refractive index of glass</a:t>
            </a:r>
          </a:p>
          <a:p>
            <a:r>
              <a:rPr lang="en-US" sz="2400" dirty="0">
                <a:latin typeface="Cambria" panose="02040503050406030204" pitchFamily="18" charset="0"/>
                <a:ea typeface="Cambria" panose="02040503050406030204" pitchFamily="18" charset="0"/>
              </a:rPr>
              <a:t>Boron oxide decreases the refractive index of glass.</a:t>
            </a:r>
          </a:p>
          <a:p>
            <a:r>
              <a:rPr lang="en-US" sz="2400" dirty="0">
                <a:latin typeface="Cambria" panose="02040503050406030204" pitchFamily="18" charset="0"/>
                <a:ea typeface="Cambria" panose="02040503050406030204" pitchFamily="18" charset="0"/>
              </a:rPr>
              <a:t>These oxides are known as dopants.</a:t>
            </a:r>
          </a:p>
          <a:p>
            <a:r>
              <a:rPr lang="en-US" sz="2400" dirty="0">
                <a:latin typeface="Cambria" panose="02040503050406030204" pitchFamily="18" charset="0"/>
                <a:ea typeface="Cambria" panose="02040503050406030204" pitchFamily="18" charset="0"/>
              </a:rPr>
              <a:t>Changing composition of the mixture during the process influences refractive index profile of the preform</a:t>
            </a:r>
          </a:p>
          <a:p>
            <a:pPr marL="0" indent="0">
              <a:buNone/>
            </a:pPr>
            <a:endParaRPr lang="en-US" dirty="0"/>
          </a:p>
        </p:txBody>
      </p:sp>
      <p:sp>
        <p:nvSpPr>
          <p:cNvPr id="4" name="Text Placeholder 3"/>
          <p:cNvSpPr>
            <a:spLocks noGrp="1"/>
          </p:cNvSpPr>
          <p:nvPr>
            <p:ph type="body" sz="half" idx="2"/>
          </p:nvPr>
        </p:nvSpPr>
        <p:spPr>
          <a:xfrm>
            <a:off x="126609" y="1228725"/>
            <a:ext cx="5731265" cy="5127625"/>
          </a:xfrm>
        </p:spPr>
        <p:txBody>
          <a:bodyPr>
            <a:normAutofit fontScale="85000" lnSpcReduction="20000"/>
          </a:bodyPr>
          <a:lstStyle/>
          <a:p>
            <a:pPr marL="12065">
              <a:lnSpc>
                <a:spcPct val="100000"/>
              </a:lnSpc>
              <a:spcBef>
                <a:spcPts val="700"/>
              </a:spcBef>
              <a:buClr>
                <a:srgbClr val="FD8537"/>
              </a:buClr>
              <a:buSzPct val="68750"/>
              <a:tabLst>
                <a:tab pos="285750" algn="l"/>
              </a:tabLst>
            </a:pPr>
            <a:r>
              <a:rPr lang="en-US" sz="3100" spc="-10" dirty="0">
                <a:solidFill>
                  <a:srgbClr val="FF0000"/>
                </a:solidFill>
                <a:latin typeface="Cambria" panose="02040503050406030204" pitchFamily="18" charset="0"/>
                <a:ea typeface="Cambria" panose="02040503050406030204" pitchFamily="18" charset="0"/>
                <a:cs typeface="Century Schoolbook"/>
              </a:rPr>
              <a:t>III- </a:t>
            </a:r>
            <a:r>
              <a:rPr lang="en-US" sz="3100" spc="-5" dirty="0">
                <a:solidFill>
                  <a:srgbClr val="FF0000"/>
                </a:solidFill>
                <a:latin typeface="Cambria" panose="02040503050406030204" pitchFamily="18" charset="0"/>
                <a:ea typeface="Cambria" panose="02040503050406030204" pitchFamily="18" charset="0"/>
                <a:cs typeface="Century Schoolbook"/>
              </a:rPr>
              <a:t>Plastic</a:t>
            </a:r>
            <a:r>
              <a:rPr lang="en-US" sz="3100" spc="-10" dirty="0">
                <a:solidFill>
                  <a:srgbClr val="FF0000"/>
                </a:solidFill>
                <a:latin typeface="Cambria" panose="02040503050406030204" pitchFamily="18" charset="0"/>
                <a:ea typeface="Cambria" panose="02040503050406030204" pitchFamily="18" charset="0"/>
                <a:cs typeface="Century Schoolbook"/>
              </a:rPr>
              <a:t> </a:t>
            </a:r>
            <a:r>
              <a:rPr lang="en-US" sz="3100" spc="-5" dirty="0">
                <a:solidFill>
                  <a:srgbClr val="FF0000"/>
                </a:solidFill>
                <a:latin typeface="Cambria" panose="02040503050406030204" pitchFamily="18" charset="0"/>
                <a:ea typeface="Cambria" panose="02040503050406030204" pitchFamily="18" charset="0"/>
                <a:cs typeface="Century Schoolbook"/>
              </a:rPr>
              <a:t>Fiber</a:t>
            </a:r>
            <a:endParaRPr lang="en-US" sz="3100" dirty="0">
              <a:solidFill>
                <a:srgbClr val="FF0000"/>
              </a:solidFill>
              <a:latin typeface="Cambria" panose="02040503050406030204" pitchFamily="18" charset="0"/>
              <a:ea typeface="Cambria" panose="02040503050406030204" pitchFamily="18" charset="0"/>
              <a:cs typeface="Century Schoolbook"/>
            </a:endParaRPr>
          </a:p>
          <a:p>
            <a:pPr marL="469265" indent="-457200">
              <a:lnSpc>
                <a:spcPct val="100000"/>
              </a:lnSpc>
              <a:spcBef>
                <a:spcPts val="600"/>
              </a:spcBef>
              <a:buClr>
                <a:srgbClr val="FD8537"/>
              </a:buClr>
              <a:buSzPct val="68750"/>
              <a:buFont typeface="Arial" panose="020B0604020202020204" pitchFamily="34" charset="0"/>
              <a:buChar char="•"/>
              <a:tabLst>
                <a:tab pos="285750" algn="l"/>
              </a:tabLst>
            </a:pPr>
            <a:r>
              <a:rPr lang="en-US" sz="3100" spc="-5" dirty="0">
                <a:latin typeface="Cambria" panose="02040503050406030204" pitchFamily="18" charset="0"/>
                <a:ea typeface="Cambria" panose="02040503050406030204" pitchFamily="18" charset="0"/>
                <a:cs typeface="Century Schoolbook"/>
              </a:rPr>
              <a:t>Very </a:t>
            </a:r>
            <a:r>
              <a:rPr lang="en-US" sz="3100" dirty="0">
                <a:latin typeface="Cambria" panose="02040503050406030204" pitchFamily="18" charset="0"/>
                <a:ea typeface="Cambria" panose="02040503050406030204" pitchFamily="18" charset="0"/>
                <a:cs typeface="Century Schoolbook"/>
              </a:rPr>
              <a:t>short </a:t>
            </a:r>
            <a:r>
              <a:rPr lang="en-US" sz="3100" spc="-5" dirty="0">
                <a:latin typeface="Cambria" panose="02040503050406030204" pitchFamily="18" charset="0"/>
                <a:ea typeface="Cambria" panose="02040503050406030204" pitchFamily="18" charset="0"/>
                <a:cs typeface="Century Schoolbook"/>
              </a:rPr>
              <a:t>distance </a:t>
            </a:r>
            <a:r>
              <a:rPr lang="en-US" sz="3100" dirty="0">
                <a:latin typeface="Cambria" panose="02040503050406030204" pitchFamily="18" charset="0"/>
                <a:ea typeface="Cambria" panose="02040503050406030204" pitchFamily="18" charset="0"/>
                <a:cs typeface="Century Schoolbook"/>
              </a:rPr>
              <a:t>(100m</a:t>
            </a:r>
            <a:r>
              <a:rPr lang="en-US" sz="3100" spc="-40" dirty="0">
                <a:latin typeface="Cambria" panose="02040503050406030204" pitchFamily="18" charset="0"/>
                <a:ea typeface="Cambria" panose="02040503050406030204" pitchFamily="18" charset="0"/>
                <a:cs typeface="Century Schoolbook"/>
              </a:rPr>
              <a:t> </a:t>
            </a:r>
            <a:r>
              <a:rPr lang="en-US" sz="3100" spc="-5" dirty="0">
                <a:latin typeface="Cambria" panose="02040503050406030204" pitchFamily="18" charset="0"/>
                <a:ea typeface="Cambria" panose="02040503050406030204" pitchFamily="18" charset="0"/>
                <a:cs typeface="Century Schoolbook"/>
              </a:rPr>
              <a:t>max).</a:t>
            </a:r>
            <a:endParaRPr lang="en-US" sz="3100" dirty="0">
              <a:latin typeface="Cambria" panose="02040503050406030204" pitchFamily="18" charset="0"/>
              <a:ea typeface="Cambria" panose="02040503050406030204" pitchFamily="18" charset="0"/>
              <a:cs typeface="Century Schoolbook"/>
            </a:endParaRPr>
          </a:p>
          <a:p>
            <a:pPr marL="469265" indent="-457200">
              <a:lnSpc>
                <a:spcPct val="100000"/>
              </a:lnSpc>
              <a:spcBef>
                <a:spcPts val="600"/>
              </a:spcBef>
              <a:buClr>
                <a:srgbClr val="FD8537"/>
              </a:buClr>
              <a:buSzPct val="68750"/>
              <a:buFont typeface="Arial" panose="020B0604020202020204" pitchFamily="34" charset="0"/>
              <a:buChar char="•"/>
              <a:tabLst>
                <a:tab pos="285750" algn="l"/>
              </a:tabLst>
            </a:pPr>
            <a:r>
              <a:rPr lang="en-US" sz="3100" dirty="0">
                <a:latin typeface="Cambria" panose="02040503050406030204" pitchFamily="18" charset="0"/>
                <a:ea typeface="Cambria" panose="02040503050406030204" pitchFamily="18" charset="0"/>
                <a:cs typeface="Century Schoolbook"/>
              </a:rPr>
              <a:t>High</a:t>
            </a:r>
            <a:r>
              <a:rPr lang="en-US" sz="3100" spc="-15" dirty="0">
                <a:latin typeface="Cambria" panose="02040503050406030204" pitchFamily="18" charset="0"/>
                <a:ea typeface="Cambria" panose="02040503050406030204" pitchFamily="18" charset="0"/>
                <a:cs typeface="Century Schoolbook"/>
              </a:rPr>
              <a:t> </a:t>
            </a:r>
            <a:r>
              <a:rPr lang="en-US" sz="3100" spc="-5" dirty="0">
                <a:latin typeface="Cambria" panose="02040503050406030204" pitchFamily="18" charset="0"/>
                <a:ea typeface="Cambria" panose="02040503050406030204" pitchFamily="18" charset="0"/>
                <a:cs typeface="Century Schoolbook"/>
              </a:rPr>
              <a:t>attenuation.</a:t>
            </a:r>
            <a:endParaRPr lang="en-US" sz="3100" dirty="0">
              <a:latin typeface="Cambria" panose="02040503050406030204" pitchFamily="18" charset="0"/>
              <a:ea typeface="Cambria" panose="02040503050406030204" pitchFamily="18" charset="0"/>
              <a:cs typeface="Century Schoolbook"/>
            </a:endParaRPr>
          </a:p>
          <a:p>
            <a:pPr marL="469265" indent="-457200">
              <a:lnSpc>
                <a:spcPct val="100000"/>
              </a:lnSpc>
              <a:spcBef>
                <a:spcPts val="600"/>
              </a:spcBef>
              <a:buClr>
                <a:srgbClr val="FD8537"/>
              </a:buClr>
              <a:buSzPct val="68750"/>
              <a:buFont typeface="Arial" panose="020B0604020202020204" pitchFamily="34" charset="0"/>
              <a:buChar char="•"/>
              <a:tabLst>
                <a:tab pos="285750" algn="l"/>
              </a:tabLst>
            </a:pPr>
            <a:r>
              <a:rPr lang="en-US" sz="3100" dirty="0">
                <a:latin typeface="Cambria" panose="02040503050406030204" pitchFamily="18" charset="0"/>
                <a:ea typeface="Cambria" panose="02040503050406030204" pitchFamily="18" charset="0"/>
                <a:cs typeface="Century Schoolbook"/>
              </a:rPr>
              <a:t>Low cost, </a:t>
            </a:r>
            <a:r>
              <a:rPr lang="en-US" sz="3100" spc="-5" dirty="0">
                <a:latin typeface="Cambria" panose="02040503050406030204" pitchFamily="18" charset="0"/>
                <a:ea typeface="Cambria" panose="02040503050406030204" pitchFamily="18" charset="0"/>
                <a:cs typeface="Century Schoolbook"/>
              </a:rPr>
              <a:t>tough, durable,</a:t>
            </a:r>
            <a:r>
              <a:rPr lang="en-US" sz="3100" spc="-70" dirty="0">
                <a:latin typeface="Cambria" panose="02040503050406030204" pitchFamily="18" charset="0"/>
                <a:ea typeface="Cambria" panose="02040503050406030204" pitchFamily="18" charset="0"/>
                <a:cs typeface="Century Schoolbook"/>
              </a:rPr>
              <a:t> </a:t>
            </a:r>
            <a:r>
              <a:rPr lang="en-US" sz="3100" spc="-5" dirty="0">
                <a:latin typeface="Cambria" panose="02040503050406030204" pitchFamily="18" charset="0"/>
                <a:ea typeface="Cambria" panose="02040503050406030204" pitchFamily="18" charset="0"/>
                <a:cs typeface="Century Schoolbook"/>
              </a:rPr>
              <a:t>inexpensive.</a:t>
            </a:r>
            <a:endParaRPr lang="en-US" sz="3100" dirty="0">
              <a:latin typeface="Cambria" panose="02040503050406030204" pitchFamily="18" charset="0"/>
              <a:ea typeface="Cambria" panose="02040503050406030204" pitchFamily="18" charset="0"/>
              <a:cs typeface="Century Schoolbook"/>
            </a:endParaRPr>
          </a:p>
          <a:p>
            <a:pPr marL="469265" indent="-457200">
              <a:lnSpc>
                <a:spcPct val="100000"/>
              </a:lnSpc>
              <a:spcBef>
                <a:spcPts val="600"/>
              </a:spcBef>
              <a:buClr>
                <a:srgbClr val="FD8537"/>
              </a:buClr>
              <a:buSzPct val="68750"/>
              <a:buFont typeface="Arial" panose="020B0604020202020204" pitchFamily="34" charset="0"/>
              <a:buChar char="•"/>
              <a:tabLst>
                <a:tab pos="285750" algn="l"/>
              </a:tabLst>
            </a:pPr>
            <a:r>
              <a:rPr lang="en-US" sz="3100" spc="-5" dirty="0">
                <a:latin typeface="Cambria" panose="02040503050406030204" pitchFamily="18" charset="0"/>
                <a:ea typeface="Cambria" panose="02040503050406030204" pitchFamily="18" charset="0"/>
                <a:cs typeface="Century Schoolbook"/>
              </a:rPr>
              <a:t>Core </a:t>
            </a:r>
            <a:r>
              <a:rPr lang="en-US" sz="3100" spc="-5" dirty="0" err="1">
                <a:latin typeface="Cambria" panose="02040503050406030204" pitchFamily="18" charset="0"/>
                <a:ea typeface="Cambria" panose="02040503050406030204" pitchFamily="18" charset="0"/>
                <a:cs typeface="Century Schoolbook"/>
              </a:rPr>
              <a:t>dia</a:t>
            </a:r>
            <a:r>
              <a:rPr lang="en-US" sz="3100" spc="-5" dirty="0">
                <a:latin typeface="Cambria" panose="02040503050406030204" pitchFamily="18" charset="0"/>
                <a:ea typeface="Cambria" panose="02040503050406030204" pitchFamily="18" charset="0"/>
                <a:cs typeface="Century Schoolbook"/>
              </a:rPr>
              <a:t> </a:t>
            </a:r>
            <a:r>
              <a:rPr lang="en-US" sz="3100" dirty="0">
                <a:latin typeface="Cambria" panose="02040503050406030204" pitchFamily="18" charset="0"/>
                <a:ea typeface="Cambria" panose="02040503050406030204" pitchFamily="18" charset="0"/>
                <a:cs typeface="Century Schoolbook"/>
              </a:rPr>
              <a:t>of </a:t>
            </a:r>
            <a:r>
              <a:rPr lang="en-US" sz="3100" spc="-5" dirty="0">
                <a:latin typeface="Cambria" panose="02040503050406030204" pitchFamily="18" charset="0"/>
                <a:ea typeface="Cambria" panose="02040503050406030204" pitchFamily="18" charset="0"/>
                <a:cs typeface="Century Schoolbook"/>
              </a:rPr>
              <a:t>110 to</a:t>
            </a:r>
            <a:r>
              <a:rPr lang="en-US" sz="3100" spc="-15" dirty="0">
                <a:latin typeface="Cambria" panose="02040503050406030204" pitchFamily="18" charset="0"/>
                <a:ea typeface="Cambria" panose="02040503050406030204" pitchFamily="18" charset="0"/>
                <a:cs typeface="Century Schoolbook"/>
              </a:rPr>
              <a:t> </a:t>
            </a:r>
            <a:r>
              <a:rPr lang="en-US" sz="3100" spc="-10" dirty="0">
                <a:latin typeface="Cambria" panose="02040503050406030204" pitchFamily="18" charset="0"/>
                <a:ea typeface="Cambria" panose="02040503050406030204" pitchFamily="18" charset="0"/>
                <a:cs typeface="Century Schoolbook"/>
              </a:rPr>
              <a:t>1400µm.</a:t>
            </a:r>
            <a:endParaRPr lang="en-US" sz="3100" dirty="0">
              <a:latin typeface="Cambria" panose="02040503050406030204" pitchFamily="18" charset="0"/>
              <a:ea typeface="Cambria" panose="02040503050406030204" pitchFamily="18" charset="0"/>
              <a:cs typeface="Century Schoolbook"/>
            </a:endParaRPr>
          </a:p>
          <a:p>
            <a:pPr marL="469265" indent="-457200">
              <a:lnSpc>
                <a:spcPct val="100000"/>
              </a:lnSpc>
              <a:spcBef>
                <a:spcPts val="600"/>
              </a:spcBef>
              <a:buClr>
                <a:srgbClr val="FD8537"/>
              </a:buClr>
              <a:buSzPct val="68750"/>
              <a:buFont typeface="Arial" panose="020B0604020202020204" pitchFamily="34" charset="0"/>
              <a:buChar char="•"/>
              <a:tabLst>
                <a:tab pos="285750" algn="l"/>
              </a:tabLst>
            </a:pPr>
            <a:r>
              <a:rPr lang="en-US" sz="3100" spc="-5" dirty="0">
                <a:latin typeface="Cambria" panose="02040503050406030204" pitchFamily="18" charset="0"/>
                <a:ea typeface="Cambria" panose="02040503050406030204" pitchFamily="18" charset="0"/>
                <a:cs typeface="Century Schoolbook"/>
              </a:rPr>
              <a:t>LED as</a:t>
            </a:r>
            <a:r>
              <a:rPr lang="en-US" sz="3100" dirty="0">
                <a:latin typeface="Cambria" panose="02040503050406030204" pitchFamily="18" charset="0"/>
                <a:ea typeface="Cambria" panose="02040503050406030204" pitchFamily="18" charset="0"/>
                <a:cs typeface="Century Schoolbook"/>
              </a:rPr>
              <a:t> source.</a:t>
            </a:r>
          </a:p>
          <a:p>
            <a:pPr marL="469265" marR="5080" indent="-457200">
              <a:lnSpc>
                <a:spcPct val="100000"/>
              </a:lnSpc>
              <a:spcBef>
                <a:spcPts val="605"/>
              </a:spcBef>
              <a:buClr>
                <a:srgbClr val="FD8537"/>
              </a:buClr>
              <a:buSzPct val="68750"/>
              <a:buFont typeface="Arial" panose="020B0604020202020204" pitchFamily="34" charset="0"/>
              <a:buChar char="•"/>
              <a:tabLst>
                <a:tab pos="285750" algn="l"/>
              </a:tabLst>
            </a:pPr>
            <a:r>
              <a:rPr lang="en-US" sz="3100" spc="-5" dirty="0">
                <a:latin typeface="Cambria" panose="02040503050406030204" pitchFamily="18" charset="0"/>
                <a:ea typeface="Cambria" panose="02040503050406030204" pitchFamily="18" charset="0"/>
                <a:cs typeface="Century Schoolbook"/>
              </a:rPr>
              <a:t>Polystyrene </a:t>
            </a:r>
            <a:r>
              <a:rPr lang="en-US" sz="3100" dirty="0">
                <a:latin typeface="Cambria" panose="02040503050406030204" pitchFamily="18" charset="0"/>
                <a:ea typeface="Cambria" panose="02040503050406030204" pitchFamily="18" charset="0"/>
                <a:cs typeface="Century Schoolbook"/>
              </a:rPr>
              <a:t>core (1.6), </a:t>
            </a:r>
            <a:r>
              <a:rPr lang="en-US" sz="3100" spc="-5" dirty="0">
                <a:latin typeface="Cambria" panose="02040503050406030204" pitchFamily="18" charset="0"/>
                <a:ea typeface="Cambria" panose="02040503050406030204" pitchFamily="18" charset="0"/>
                <a:cs typeface="Century Schoolbook"/>
              </a:rPr>
              <a:t>methyl methacrylate </a:t>
            </a:r>
            <a:r>
              <a:rPr lang="en-US" sz="3100" dirty="0">
                <a:latin typeface="Cambria" panose="02040503050406030204" pitchFamily="18" charset="0"/>
                <a:ea typeface="Cambria" panose="02040503050406030204" pitchFamily="18" charset="0"/>
                <a:cs typeface="Century Schoolbook"/>
              </a:rPr>
              <a:t>clad (1.49).  NA =</a:t>
            </a:r>
            <a:r>
              <a:rPr lang="en-US" sz="3100" spc="-20" dirty="0">
                <a:latin typeface="Cambria" panose="02040503050406030204" pitchFamily="18" charset="0"/>
                <a:ea typeface="Cambria" panose="02040503050406030204" pitchFamily="18" charset="0"/>
                <a:cs typeface="Century Schoolbook"/>
              </a:rPr>
              <a:t> </a:t>
            </a:r>
            <a:r>
              <a:rPr lang="en-US" sz="3100" spc="-5" dirty="0">
                <a:latin typeface="Cambria" panose="02040503050406030204" pitchFamily="18" charset="0"/>
                <a:ea typeface="Cambria" panose="02040503050406030204" pitchFamily="18" charset="0"/>
                <a:cs typeface="Century Schoolbook"/>
              </a:rPr>
              <a:t>0.6.</a:t>
            </a:r>
            <a:endParaRPr lang="en-US" sz="3100" dirty="0">
              <a:latin typeface="Cambria" panose="02040503050406030204" pitchFamily="18" charset="0"/>
              <a:ea typeface="Cambria" panose="02040503050406030204" pitchFamily="18" charset="0"/>
              <a:cs typeface="Century Schoolbook"/>
            </a:endParaRPr>
          </a:p>
          <a:p>
            <a:pPr marL="469265" marR="1609090" indent="-457200">
              <a:lnSpc>
                <a:spcPct val="100000"/>
              </a:lnSpc>
              <a:spcBef>
                <a:spcPts val="600"/>
              </a:spcBef>
              <a:buClr>
                <a:srgbClr val="FD8537"/>
              </a:buClr>
              <a:buSzPct val="68750"/>
              <a:buFont typeface="Arial" panose="020B0604020202020204" pitchFamily="34" charset="0"/>
              <a:buChar char="•"/>
              <a:tabLst>
                <a:tab pos="285750" algn="l"/>
              </a:tabLst>
            </a:pPr>
            <a:r>
              <a:rPr lang="en-US" sz="3100" spc="-5" dirty="0" err="1">
                <a:latin typeface="Cambria" panose="02040503050406030204" pitchFamily="18" charset="0"/>
                <a:ea typeface="Cambria" panose="02040503050406030204" pitchFamily="18" charset="0"/>
                <a:cs typeface="Century Schoolbook"/>
              </a:rPr>
              <a:t>Polymethyle</a:t>
            </a:r>
            <a:r>
              <a:rPr lang="en-US" sz="3100" spc="-5" dirty="0">
                <a:latin typeface="Cambria" panose="02040503050406030204" pitchFamily="18" charset="0"/>
                <a:ea typeface="Cambria" panose="02040503050406030204" pitchFamily="18" charset="0"/>
                <a:cs typeface="Century Schoolbook"/>
              </a:rPr>
              <a:t> methacrylate core(1.49), </a:t>
            </a:r>
            <a:r>
              <a:rPr lang="en-US" sz="3100" dirty="0">
                <a:latin typeface="Cambria" panose="02040503050406030204" pitchFamily="18" charset="0"/>
                <a:ea typeface="Cambria" panose="02040503050406030204" pitchFamily="18" charset="0"/>
                <a:cs typeface="Century Schoolbook"/>
              </a:rPr>
              <a:t>its </a:t>
            </a:r>
            <a:r>
              <a:rPr lang="en-US" sz="3100" spc="10" dirty="0">
                <a:latin typeface="Cambria" panose="02040503050406030204" pitchFamily="18" charset="0"/>
                <a:ea typeface="Cambria" panose="02040503050406030204" pitchFamily="18" charset="0"/>
                <a:cs typeface="Century Schoolbook"/>
              </a:rPr>
              <a:t>co-</a:t>
            </a:r>
            <a:r>
              <a:rPr lang="en-US" sz="3100" spc="-5" dirty="0">
                <a:latin typeface="Cambria" panose="02040503050406030204" pitchFamily="18" charset="0"/>
                <a:ea typeface="Cambria" panose="02040503050406030204" pitchFamily="18" charset="0"/>
                <a:cs typeface="Century Schoolbook"/>
              </a:rPr>
              <a:t>polymer(1.40), </a:t>
            </a:r>
            <a:r>
              <a:rPr lang="en-US" sz="3100" dirty="0">
                <a:latin typeface="Cambria" panose="02040503050406030204" pitchFamily="18" charset="0"/>
                <a:ea typeface="Cambria" panose="02040503050406030204" pitchFamily="18" charset="0"/>
                <a:cs typeface="Century Schoolbook"/>
              </a:rPr>
              <a:t>NA </a:t>
            </a:r>
            <a:r>
              <a:rPr lang="en-US" sz="3500" dirty="0">
                <a:latin typeface="Cambria" panose="02040503050406030204" pitchFamily="18" charset="0"/>
                <a:ea typeface="Cambria" panose="02040503050406030204" pitchFamily="18" charset="0"/>
                <a:cs typeface="Century Schoolbook"/>
              </a:rPr>
              <a:t>=</a:t>
            </a:r>
            <a:r>
              <a:rPr lang="en-US" sz="3500" spc="-45" dirty="0">
                <a:latin typeface="Cambria" panose="02040503050406030204" pitchFamily="18" charset="0"/>
                <a:ea typeface="Cambria" panose="02040503050406030204" pitchFamily="18" charset="0"/>
                <a:cs typeface="Century Schoolbook"/>
              </a:rPr>
              <a:t> </a:t>
            </a:r>
            <a:r>
              <a:rPr lang="en-US" sz="3500" spc="-5" dirty="0">
                <a:latin typeface="Cambria" panose="02040503050406030204" pitchFamily="18" charset="0"/>
                <a:ea typeface="Cambria" panose="02040503050406030204" pitchFamily="18" charset="0"/>
                <a:cs typeface="Century Schoolbook"/>
              </a:rPr>
              <a:t>0.5</a:t>
            </a:r>
            <a:endParaRPr lang="en-US" sz="3500" dirty="0">
              <a:latin typeface="Cambria" panose="02040503050406030204" pitchFamily="18" charset="0"/>
              <a:ea typeface="Cambria" panose="02040503050406030204" pitchFamily="18" charset="0"/>
              <a:cs typeface="Century Schoolbook"/>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10</a:t>
            </a:fld>
            <a:endParaRPr lang="en-US"/>
          </a:p>
        </p:txBody>
      </p:sp>
    </p:spTree>
    <p:extLst>
      <p:ext uri="{BB962C8B-B14F-4D97-AF65-F5344CB8AC3E}">
        <p14:creationId xmlns:p14="http://schemas.microsoft.com/office/powerpoint/2010/main" val="2068238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723" y="0"/>
            <a:ext cx="10907078" cy="1301103"/>
          </a:xfrm>
        </p:spPr>
        <p:txBody>
          <a:bodyPr>
            <a:noAutofit/>
          </a:bodyPr>
          <a:lstStyle/>
          <a:p>
            <a:pPr algn="ctr"/>
            <a:r>
              <a:rPr lang="en-US" sz="4400" b="1" spc="-5" dirty="0">
                <a:latin typeface="Cambria" panose="02040503050406030204" pitchFamily="18" charset="0"/>
                <a:ea typeface="Cambria" panose="02040503050406030204" pitchFamily="18" charset="0"/>
                <a:cs typeface="Times New Roman" panose="02020603050405020304" pitchFamily="18" charset="0"/>
              </a:rPr>
              <a:t>Transmission of Light Through Optical  Fibers</a:t>
            </a:r>
          </a:p>
        </p:txBody>
      </p:sp>
      <p:sp>
        <p:nvSpPr>
          <p:cNvPr id="4" name="Text Placeholder 3"/>
          <p:cNvSpPr>
            <a:spLocks noGrp="1"/>
          </p:cNvSpPr>
          <p:nvPr>
            <p:ph type="body" sz="half" idx="2"/>
          </p:nvPr>
        </p:nvSpPr>
        <p:spPr>
          <a:xfrm>
            <a:off x="485776" y="1469571"/>
            <a:ext cx="6339568" cy="730705"/>
          </a:xfrm>
        </p:spPr>
        <p:txBody>
          <a:bodyPr>
            <a:normAutofit fontScale="92500" lnSpcReduction="10000"/>
          </a:bodyPr>
          <a:lstStyle/>
          <a:p>
            <a:r>
              <a:rPr lang="en-US" sz="2600" b="1" spc="-5" dirty="0">
                <a:latin typeface="Cambria" panose="02040503050406030204" pitchFamily="18" charset="0"/>
                <a:ea typeface="Cambria" panose="02040503050406030204" pitchFamily="18" charset="0"/>
                <a:cs typeface="Book Antiqua"/>
              </a:rPr>
              <a:t>Its total Internal</a:t>
            </a:r>
            <a:r>
              <a:rPr lang="en-US" sz="2600" b="1" spc="-60" dirty="0">
                <a:latin typeface="Cambria" panose="02040503050406030204" pitchFamily="18" charset="0"/>
                <a:ea typeface="Cambria" panose="02040503050406030204" pitchFamily="18" charset="0"/>
                <a:cs typeface="Book Antiqua"/>
              </a:rPr>
              <a:t> </a:t>
            </a:r>
            <a:r>
              <a:rPr lang="en-US" sz="2600" b="1" spc="-5" dirty="0">
                <a:latin typeface="Cambria" panose="02040503050406030204" pitchFamily="18" charset="0"/>
                <a:ea typeface="Cambria" panose="02040503050406030204" pitchFamily="18" charset="0"/>
                <a:cs typeface="Book Antiqua"/>
              </a:rPr>
              <a:t>Reflection</a:t>
            </a:r>
            <a:endParaRPr lang="en-US" sz="2600" b="1" dirty="0">
              <a:latin typeface="Cambria" panose="02040503050406030204" pitchFamily="18" charset="0"/>
              <a:ea typeface="Cambria" panose="02040503050406030204" pitchFamily="18" charset="0"/>
              <a:cs typeface="Book Antiqua"/>
            </a:endParaRPr>
          </a:p>
          <a:p>
            <a:r>
              <a:rPr lang="en-US" sz="1900" dirty="0"/>
              <a:t>(a)</a:t>
            </a:r>
          </a:p>
        </p:txBody>
      </p:sp>
      <p:sp>
        <p:nvSpPr>
          <p:cNvPr id="5" name="Slide Number Placeholder 4"/>
          <p:cNvSpPr>
            <a:spLocks noGrp="1"/>
          </p:cNvSpPr>
          <p:nvPr>
            <p:ph type="sldNum" sz="quarter" idx="12"/>
          </p:nvPr>
        </p:nvSpPr>
        <p:spPr/>
        <p:txBody>
          <a:bodyPr/>
          <a:lstStyle/>
          <a:p>
            <a:fld id="{BDCDBBEF-AA6C-4BA6-85B2-A17D7F280E38}" type="slidenum">
              <a:rPr lang="en-US" smtClean="0"/>
              <a:t>11</a:t>
            </a:fld>
            <a:endParaRPr lang="en-US" dirty="0"/>
          </a:p>
        </p:txBody>
      </p:sp>
      <p:sp>
        <p:nvSpPr>
          <p:cNvPr id="8" name="object 4"/>
          <p:cNvSpPr/>
          <p:nvPr/>
        </p:nvSpPr>
        <p:spPr>
          <a:xfrm>
            <a:off x="4862404" y="2302055"/>
            <a:ext cx="5928741" cy="3925708"/>
          </a:xfrm>
          <a:prstGeom prst="rect">
            <a:avLst/>
          </a:prstGeom>
          <a:blipFill>
            <a:blip r:embed="rId2" cstate="print"/>
            <a:stretch>
              <a:fillRect/>
            </a:stretch>
          </a:blipFill>
        </p:spPr>
        <p:txBody>
          <a:bodyPr wrap="square" lIns="0" tIns="0" rIns="0" bIns="0" rtlCol="0"/>
          <a:lstStyle/>
          <a:p>
            <a:endParaRPr/>
          </a:p>
        </p:txBody>
      </p:sp>
      <p:sp>
        <p:nvSpPr>
          <p:cNvPr id="9" name="object 5"/>
          <p:cNvSpPr/>
          <p:nvPr/>
        </p:nvSpPr>
        <p:spPr>
          <a:xfrm>
            <a:off x="343580" y="2302055"/>
            <a:ext cx="3615706" cy="3859021"/>
          </a:xfrm>
          <a:prstGeom prst="rect">
            <a:avLst/>
          </a:prstGeom>
          <a:blipFill>
            <a:blip r:embed="rId3" cstate="print"/>
            <a:stretch>
              <a:fillRect/>
            </a:stretch>
          </a:blipFill>
        </p:spPr>
        <p:txBody>
          <a:bodyPr wrap="square" lIns="0" tIns="0" rIns="0" bIns="0" rtlCol="0"/>
          <a:lstStyle/>
          <a:p>
            <a:endParaRPr/>
          </a:p>
        </p:txBody>
      </p:sp>
      <p:sp>
        <p:nvSpPr>
          <p:cNvPr id="6" name="TextBox 5"/>
          <p:cNvSpPr txBox="1"/>
          <p:nvPr/>
        </p:nvSpPr>
        <p:spPr>
          <a:xfrm>
            <a:off x="343580" y="6329544"/>
            <a:ext cx="10600645" cy="338554"/>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Figure 2.5 (a) &amp; (b) Diagram of total internal reflection in different type of optical fiber [5].</a:t>
            </a:r>
          </a:p>
        </p:txBody>
      </p:sp>
      <p:sp>
        <p:nvSpPr>
          <p:cNvPr id="7" name="TextBox 6"/>
          <p:cNvSpPr txBox="1"/>
          <p:nvPr/>
        </p:nvSpPr>
        <p:spPr>
          <a:xfrm>
            <a:off x="5443538" y="1900238"/>
            <a:ext cx="485775" cy="369332"/>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3103631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4143" y="457200"/>
            <a:ext cx="7162800" cy="511629"/>
          </a:xfrm>
        </p:spPr>
        <p:txBody>
          <a:bodyPr>
            <a:noAutofit/>
          </a:bodyPr>
          <a:lstStyle/>
          <a:p>
            <a:pPr algn="ctr"/>
            <a:r>
              <a:rPr lang="en-US" sz="4400" b="1" spc="-45" dirty="0">
                <a:latin typeface="Cambria" panose="02040503050406030204" pitchFamily="18" charset="0"/>
                <a:ea typeface="Cambria" panose="02040503050406030204" pitchFamily="18" charset="0"/>
              </a:rPr>
              <a:t>Ray </a:t>
            </a:r>
            <a:r>
              <a:rPr lang="en-US" sz="4400" b="1" dirty="0">
                <a:latin typeface="Cambria" panose="02040503050406030204" pitchFamily="18" charset="0"/>
                <a:ea typeface="Cambria" panose="02040503050406030204" pitchFamily="18" charset="0"/>
              </a:rPr>
              <a:t>Theory</a:t>
            </a:r>
            <a:r>
              <a:rPr lang="en-US" sz="4400" b="1" spc="-35" dirty="0">
                <a:latin typeface="Cambria" panose="02040503050406030204" pitchFamily="18" charset="0"/>
                <a:ea typeface="Cambria" panose="02040503050406030204" pitchFamily="18" charset="0"/>
              </a:rPr>
              <a:t> </a:t>
            </a:r>
            <a:r>
              <a:rPr lang="en-US" sz="4400" b="1" spc="-20" dirty="0">
                <a:latin typeface="Cambria" panose="02040503050406030204" pitchFamily="18" charset="0"/>
                <a:ea typeface="Cambria" panose="02040503050406030204" pitchFamily="18" charset="0"/>
              </a:rPr>
              <a:t>Transmission</a:t>
            </a:r>
            <a:endParaRPr lang="en-US" sz="4400" b="1" dirty="0">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12</a:t>
            </a:fld>
            <a:endParaRPr lang="en-US"/>
          </a:p>
        </p:txBody>
      </p:sp>
      <p:sp>
        <p:nvSpPr>
          <p:cNvPr id="6" name="object 3"/>
          <p:cNvSpPr txBox="1"/>
          <p:nvPr/>
        </p:nvSpPr>
        <p:spPr>
          <a:xfrm>
            <a:off x="478301" y="1237957"/>
            <a:ext cx="10189699" cy="4973082"/>
          </a:xfrm>
          <a:prstGeom prst="rect">
            <a:avLst/>
          </a:prstGeom>
        </p:spPr>
        <p:txBody>
          <a:bodyPr vert="horz" wrap="square" lIns="0" tIns="116205" rIns="0" bIns="0" rtlCol="0">
            <a:spAutoFit/>
          </a:bodyPr>
          <a:lstStyle/>
          <a:p>
            <a:pPr algn="just">
              <a:lnSpc>
                <a:spcPct val="100000"/>
              </a:lnSpc>
              <a:spcBef>
                <a:spcPts val="915"/>
              </a:spcBef>
            </a:pPr>
            <a:r>
              <a:rPr sz="2400" b="1" spc="-30" dirty="0">
                <a:latin typeface="Cambria"/>
                <a:cs typeface="Cambria"/>
              </a:rPr>
              <a:t>Refractive</a:t>
            </a:r>
            <a:r>
              <a:rPr sz="2400" b="1" spc="-5" dirty="0">
                <a:latin typeface="Cambria"/>
                <a:cs typeface="Cambria"/>
              </a:rPr>
              <a:t> </a:t>
            </a:r>
            <a:r>
              <a:rPr sz="2400" b="1" spc="-15" dirty="0">
                <a:latin typeface="Cambria"/>
                <a:cs typeface="Cambria"/>
              </a:rPr>
              <a:t>index</a:t>
            </a:r>
            <a:endParaRPr sz="2400" b="1" dirty="0">
              <a:latin typeface="Cambria"/>
              <a:cs typeface="Cambria"/>
            </a:endParaRPr>
          </a:p>
          <a:p>
            <a:pPr marL="354965" marR="6350" indent="-342900" algn="just">
              <a:lnSpc>
                <a:spcPct val="100000"/>
              </a:lnSpc>
              <a:spcBef>
                <a:spcPts val="615"/>
              </a:spcBef>
              <a:buClr>
                <a:srgbClr val="0AD0D9"/>
              </a:buClr>
              <a:buSzPct val="93750"/>
              <a:buFont typeface="Arial" panose="020B0604020202020204" pitchFamily="34" charset="0"/>
              <a:buChar char="•"/>
              <a:tabLst>
                <a:tab pos="287655" algn="l"/>
              </a:tabLst>
            </a:pPr>
            <a:r>
              <a:rPr sz="2400" dirty="0">
                <a:latin typeface="Cambria"/>
                <a:cs typeface="Cambria"/>
              </a:rPr>
              <a:t>The </a:t>
            </a:r>
            <a:r>
              <a:rPr sz="2400" spc="-5" dirty="0">
                <a:latin typeface="Cambria"/>
                <a:cs typeface="Cambria"/>
              </a:rPr>
              <a:t>index </a:t>
            </a:r>
            <a:r>
              <a:rPr sz="2400" spc="-10" dirty="0">
                <a:latin typeface="Cambria"/>
                <a:cs typeface="Cambria"/>
              </a:rPr>
              <a:t>of refraction </a:t>
            </a:r>
            <a:r>
              <a:rPr sz="2400" spc="-5" dirty="0">
                <a:latin typeface="Cambria"/>
                <a:cs typeface="Cambria"/>
              </a:rPr>
              <a:t>of </a:t>
            </a:r>
            <a:r>
              <a:rPr sz="2400" dirty="0">
                <a:latin typeface="Cambria"/>
                <a:cs typeface="Cambria"/>
              </a:rPr>
              <a:t>a </a:t>
            </a:r>
            <a:r>
              <a:rPr sz="2400" spc="-5" dirty="0">
                <a:latin typeface="Cambria"/>
                <a:cs typeface="Cambria"/>
              </a:rPr>
              <a:t>material </a:t>
            </a:r>
            <a:r>
              <a:rPr sz="2400" dirty="0">
                <a:latin typeface="Cambria"/>
                <a:cs typeface="Cambria"/>
              </a:rPr>
              <a:t>is </a:t>
            </a:r>
            <a:r>
              <a:rPr sz="2400" spc="-5" dirty="0">
                <a:latin typeface="Cambria"/>
                <a:cs typeface="Cambria"/>
              </a:rPr>
              <a:t>the </a:t>
            </a:r>
            <a:r>
              <a:rPr sz="2400" spc="-10" dirty="0">
                <a:latin typeface="Cambria"/>
                <a:cs typeface="Cambria"/>
              </a:rPr>
              <a:t>ratio </a:t>
            </a:r>
            <a:r>
              <a:rPr sz="2400" spc="-5" dirty="0">
                <a:latin typeface="Cambria"/>
                <a:cs typeface="Cambria"/>
              </a:rPr>
              <a:t>of the </a:t>
            </a:r>
            <a:r>
              <a:rPr sz="2400" dirty="0">
                <a:latin typeface="Cambria"/>
                <a:cs typeface="Cambria"/>
              </a:rPr>
              <a:t>speed  </a:t>
            </a:r>
            <a:r>
              <a:rPr sz="2400" spc="-5" dirty="0">
                <a:latin typeface="Cambria"/>
                <a:cs typeface="Cambria"/>
              </a:rPr>
              <a:t>of light </a:t>
            </a:r>
            <a:r>
              <a:rPr sz="2400" dirty="0">
                <a:latin typeface="Cambria"/>
                <a:cs typeface="Cambria"/>
              </a:rPr>
              <a:t>in a </a:t>
            </a:r>
            <a:r>
              <a:rPr sz="2400" spc="-15" dirty="0">
                <a:latin typeface="Cambria"/>
                <a:cs typeface="Cambria"/>
              </a:rPr>
              <a:t>vac</a:t>
            </a:r>
            <a:r>
              <a:rPr lang="en-US" sz="2400" spc="-15" dirty="0">
                <a:latin typeface="Cambria"/>
                <a:cs typeface="Cambria"/>
              </a:rPr>
              <a:t>u</a:t>
            </a:r>
            <a:r>
              <a:rPr sz="2400" spc="-15" dirty="0">
                <a:latin typeface="Cambria"/>
                <a:cs typeface="Cambria"/>
              </a:rPr>
              <a:t>um to </a:t>
            </a:r>
            <a:r>
              <a:rPr sz="2400" spc="-5" dirty="0">
                <a:latin typeface="Cambria"/>
                <a:cs typeface="Cambria"/>
              </a:rPr>
              <a:t>the </a:t>
            </a:r>
            <a:r>
              <a:rPr sz="2400" dirty="0">
                <a:latin typeface="Cambria"/>
                <a:cs typeface="Cambria"/>
              </a:rPr>
              <a:t>speed </a:t>
            </a:r>
            <a:r>
              <a:rPr sz="2400" spc="-5" dirty="0">
                <a:latin typeface="Cambria"/>
                <a:cs typeface="Cambria"/>
              </a:rPr>
              <a:t>of light </a:t>
            </a:r>
            <a:r>
              <a:rPr sz="2400" dirty="0">
                <a:latin typeface="Cambria"/>
                <a:cs typeface="Cambria"/>
              </a:rPr>
              <a:t>in </a:t>
            </a:r>
            <a:r>
              <a:rPr sz="2400" spc="-5" dirty="0">
                <a:latin typeface="Cambria"/>
                <a:cs typeface="Cambria"/>
              </a:rPr>
              <a:t>the</a:t>
            </a:r>
            <a:r>
              <a:rPr sz="2400" spc="-15" dirty="0">
                <a:latin typeface="Cambria"/>
                <a:cs typeface="Cambria"/>
              </a:rPr>
              <a:t> </a:t>
            </a:r>
            <a:r>
              <a:rPr sz="2400" spc="-5" dirty="0">
                <a:latin typeface="Cambria"/>
                <a:cs typeface="Cambria"/>
              </a:rPr>
              <a:t>material</a:t>
            </a:r>
            <a:endParaRPr sz="2400" dirty="0">
              <a:latin typeface="Cambria"/>
              <a:cs typeface="Cambria"/>
            </a:endParaRPr>
          </a:p>
          <a:p>
            <a:pPr algn="just">
              <a:lnSpc>
                <a:spcPct val="100000"/>
              </a:lnSpc>
              <a:spcBef>
                <a:spcPts val="575"/>
              </a:spcBef>
            </a:pPr>
            <a:r>
              <a:rPr lang="en-US" sz="2400" b="1" i="1" dirty="0">
                <a:latin typeface="Cambria"/>
                <a:cs typeface="Cambria"/>
              </a:rPr>
              <a:t>                                           </a:t>
            </a:r>
            <a:r>
              <a:rPr sz="2400" b="1" i="1" dirty="0">
                <a:latin typeface="Cambria"/>
                <a:cs typeface="Cambria"/>
              </a:rPr>
              <a:t>n </a:t>
            </a:r>
            <a:r>
              <a:rPr sz="2400" b="1" dirty="0">
                <a:latin typeface="Cambria"/>
                <a:cs typeface="Cambria"/>
              </a:rPr>
              <a:t>=</a:t>
            </a:r>
            <a:r>
              <a:rPr sz="2400" b="1" spc="-20" dirty="0">
                <a:latin typeface="Cambria"/>
                <a:cs typeface="Cambria"/>
              </a:rPr>
              <a:t> </a:t>
            </a:r>
            <a:r>
              <a:rPr sz="2400" b="1" dirty="0">
                <a:latin typeface="Cambria"/>
                <a:cs typeface="Cambria"/>
              </a:rPr>
              <a:t>c/v</a:t>
            </a:r>
            <a:endParaRPr lang="en-US" sz="2400" dirty="0">
              <a:latin typeface="Cambria"/>
              <a:cs typeface="Cambria"/>
            </a:endParaRPr>
          </a:p>
          <a:p>
            <a:pPr algn="just">
              <a:lnSpc>
                <a:spcPct val="100000"/>
              </a:lnSpc>
              <a:spcBef>
                <a:spcPts val="575"/>
              </a:spcBef>
            </a:pPr>
            <a:r>
              <a:rPr sz="2400" dirty="0">
                <a:latin typeface="Cambria"/>
                <a:cs typeface="Cambria"/>
              </a:rPr>
              <a:t>The</a:t>
            </a:r>
            <a:r>
              <a:rPr sz="2400" spc="290" dirty="0">
                <a:latin typeface="Cambria"/>
                <a:cs typeface="Cambria"/>
              </a:rPr>
              <a:t> </a:t>
            </a:r>
            <a:r>
              <a:rPr sz="2400" spc="-10" dirty="0">
                <a:latin typeface="Cambria"/>
                <a:cs typeface="Cambria"/>
              </a:rPr>
              <a:t>factor</a:t>
            </a:r>
            <a:r>
              <a:rPr sz="2400" spc="275" dirty="0">
                <a:latin typeface="Cambria"/>
                <a:cs typeface="Cambria"/>
              </a:rPr>
              <a:t> </a:t>
            </a:r>
            <a:r>
              <a:rPr sz="2400" dirty="0">
                <a:latin typeface="Cambria"/>
                <a:cs typeface="Cambria"/>
              </a:rPr>
              <a:t>n</a:t>
            </a:r>
            <a:r>
              <a:rPr sz="2400" spc="285" dirty="0">
                <a:latin typeface="Cambria"/>
                <a:cs typeface="Cambria"/>
              </a:rPr>
              <a:t> </a:t>
            </a:r>
            <a:r>
              <a:rPr sz="2400" dirty="0">
                <a:latin typeface="Cambria"/>
                <a:cs typeface="Cambria"/>
              </a:rPr>
              <a:t>is</a:t>
            </a:r>
            <a:r>
              <a:rPr sz="2400" spc="295" dirty="0">
                <a:latin typeface="Cambria"/>
                <a:cs typeface="Cambria"/>
              </a:rPr>
              <a:t> </a:t>
            </a:r>
            <a:r>
              <a:rPr sz="2400" spc="-5" dirty="0">
                <a:latin typeface="Cambria"/>
                <a:cs typeface="Cambria"/>
              </a:rPr>
              <a:t>the</a:t>
            </a:r>
            <a:r>
              <a:rPr sz="2400" spc="290" dirty="0">
                <a:latin typeface="Cambria"/>
                <a:cs typeface="Cambria"/>
              </a:rPr>
              <a:t> </a:t>
            </a:r>
            <a:r>
              <a:rPr sz="2400" spc="-5" dirty="0">
                <a:latin typeface="Cambria"/>
                <a:cs typeface="Cambria"/>
              </a:rPr>
              <a:t>index</a:t>
            </a:r>
            <a:r>
              <a:rPr sz="2400" spc="295" dirty="0">
                <a:latin typeface="Cambria"/>
                <a:cs typeface="Cambria"/>
              </a:rPr>
              <a:t> </a:t>
            </a:r>
            <a:r>
              <a:rPr sz="2400" spc="-5" dirty="0">
                <a:latin typeface="Cambria"/>
                <a:cs typeface="Cambria"/>
              </a:rPr>
              <a:t>of</a:t>
            </a:r>
            <a:r>
              <a:rPr sz="2400" spc="285" dirty="0">
                <a:latin typeface="Cambria"/>
                <a:cs typeface="Cambria"/>
              </a:rPr>
              <a:t> </a:t>
            </a:r>
            <a:r>
              <a:rPr sz="2400" spc="-10" dirty="0">
                <a:latin typeface="Cambria"/>
                <a:cs typeface="Cambria"/>
              </a:rPr>
              <a:t>refraction</a:t>
            </a:r>
            <a:r>
              <a:rPr sz="2400" spc="270" dirty="0">
                <a:latin typeface="Cambria"/>
                <a:cs typeface="Cambria"/>
              </a:rPr>
              <a:t> </a:t>
            </a:r>
            <a:r>
              <a:rPr sz="2400" spc="-5" dirty="0">
                <a:latin typeface="Cambria"/>
                <a:cs typeface="Cambria"/>
              </a:rPr>
              <a:t>(or</a:t>
            </a:r>
            <a:r>
              <a:rPr sz="2400" spc="285" dirty="0">
                <a:latin typeface="Cambria"/>
                <a:cs typeface="Cambria"/>
              </a:rPr>
              <a:t> </a:t>
            </a:r>
            <a:r>
              <a:rPr sz="2400" spc="-10" dirty="0">
                <a:latin typeface="Cambria"/>
                <a:cs typeface="Cambria"/>
              </a:rPr>
              <a:t>refractive</a:t>
            </a:r>
            <a:r>
              <a:rPr sz="2400" spc="275" dirty="0">
                <a:latin typeface="Cambria"/>
                <a:cs typeface="Cambria"/>
              </a:rPr>
              <a:t> </a:t>
            </a:r>
            <a:r>
              <a:rPr sz="2400" spc="-5" dirty="0">
                <a:latin typeface="Cambria"/>
                <a:cs typeface="Cambria"/>
              </a:rPr>
              <a:t>index)</a:t>
            </a:r>
            <a:r>
              <a:rPr sz="2400" spc="290" dirty="0">
                <a:latin typeface="Cambria"/>
                <a:cs typeface="Cambria"/>
              </a:rPr>
              <a:t> </a:t>
            </a:r>
            <a:r>
              <a:rPr sz="2400" spc="-10" dirty="0">
                <a:latin typeface="Cambria"/>
                <a:cs typeface="Cambria"/>
              </a:rPr>
              <a:t>of</a:t>
            </a:r>
            <a:endParaRPr sz="2400" dirty="0">
              <a:latin typeface="Cambria"/>
              <a:cs typeface="Cambria"/>
            </a:endParaRPr>
          </a:p>
          <a:p>
            <a:pPr marR="5927090" algn="just">
              <a:lnSpc>
                <a:spcPct val="100000"/>
              </a:lnSpc>
            </a:pPr>
            <a:r>
              <a:rPr sz="2400" spc="-10" dirty="0">
                <a:latin typeface="Cambria"/>
                <a:cs typeface="Cambria"/>
              </a:rPr>
              <a:t>the </a:t>
            </a:r>
            <a:r>
              <a:rPr sz="2400" spc="-5" dirty="0">
                <a:latin typeface="Cambria"/>
                <a:cs typeface="Cambria"/>
              </a:rPr>
              <a:t>medium.</a:t>
            </a:r>
            <a:endParaRPr sz="2400" dirty="0">
              <a:latin typeface="Cambria"/>
              <a:cs typeface="Cambria"/>
            </a:endParaRPr>
          </a:p>
          <a:p>
            <a:pPr marL="287020" marR="5715" indent="-274955" algn="just">
              <a:lnSpc>
                <a:spcPct val="100000"/>
              </a:lnSpc>
              <a:spcBef>
                <a:spcPts val="580"/>
              </a:spcBef>
            </a:pPr>
            <a:r>
              <a:rPr lang="en-US" sz="2400" spc="-35" dirty="0">
                <a:latin typeface="Cambria"/>
                <a:cs typeface="Cambria"/>
              </a:rPr>
              <a:t>         </a:t>
            </a:r>
            <a:r>
              <a:rPr sz="2400" spc="-35" dirty="0">
                <a:latin typeface="Cambria"/>
                <a:cs typeface="Cambria"/>
              </a:rPr>
              <a:t>For </a:t>
            </a:r>
            <a:r>
              <a:rPr sz="2400" dirty="0">
                <a:latin typeface="Cambria"/>
                <a:cs typeface="Cambria"/>
              </a:rPr>
              <a:t>air </a:t>
            </a:r>
            <a:r>
              <a:rPr sz="2400" spc="-5" dirty="0">
                <a:latin typeface="Cambria"/>
                <a:cs typeface="Cambria"/>
              </a:rPr>
              <a:t>and </a:t>
            </a:r>
            <a:r>
              <a:rPr sz="2400" spc="-10" dirty="0">
                <a:latin typeface="Cambria"/>
                <a:cs typeface="Cambria"/>
              </a:rPr>
              <a:t>gases </a:t>
            </a:r>
            <a:r>
              <a:rPr sz="2400" dirty="0">
                <a:latin typeface="Cambria"/>
                <a:cs typeface="Cambria"/>
              </a:rPr>
              <a:t>n ~ 1. </a:t>
            </a:r>
            <a:r>
              <a:rPr sz="2400" spc="-20" dirty="0">
                <a:latin typeface="Cambria"/>
                <a:cs typeface="Cambria"/>
              </a:rPr>
              <a:t>At </a:t>
            </a:r>
            <a:r>
              <a:rPr sz="2400" dirty="0">
                <a:latin typeface="Cambria"/>
                <a:cs typeface="Cambria"/>
              </a:rPr>
              <a:t>optic </a:t>
            </a:r>
            <a:r>
              <a:rPr sz="2400" spc="-5" dirty="0">
                <a:latin typeface="Cambria"/>
                <a:cs typeface="Cambria"/>
              </a:rPr>
              <a:t>frequencies, the </a:t>
            </a:r>
            <a:r>
              <a:rPr sz="2400" spc="-20" dirty="0">
                <a:latin typeface="Cambria"/>
                <a:cs typeface="Cambria"/>
              </a:rPr>
              <a:t>refractive  </a:t>
            </a:r>
            <a:r>
              <a:rPr sz="2400" spc="-5" dirty="0">
                <a:latin typeface="Cambria"/>
                <a:cs typeface="Cambria"/>
              </a:rPr>
              <a:t>index of </a:t>
            </a:r>
            <a:r>
              <a:rPr sz="2400" spc="-15" dirty="0">
                <a:latin typeface="Cambria"/>
                <a:cs typeface="Cambria"/>
              </a:rPr>
              <a:t>water </a:t>
            </a:r>
            <a:r>
              <a:rPr sz="2400" dirty="0">
                <a:latin typeface="Cambria"/>
                <a:cs typeface="Cambria"/>
              </a:rPr>
              <a:t>is</a:t>
            </a:r>
            <a:r>
              <a:rPr sz="2400" spc="-5" dirty="0">
                <a:latin typeface="Cambria"/>
                <a:cs typeface="Cambria"/>
              </a:rPr>
              <a:t> 1.33.</a:t>
            </a:r>
            <a:endParaRPr sz="2400" dirty="0">
              <a:latin typeface="Cambria"/>
              <a:cs typeface="Cambria"/>
            </a:endParaRPr>
          </a:p>
          <a:p>
            <a:pPr marL="354965" indent="-342900" algn="just">
              <a:lnSpc>
                <a:spcPct val="100000"/>
              </a:lnSpc>
              <a:spcBef>
                <a:spcPts val="575"/>
              </a:spcBef>
              <a:buClr>
                <a:srgbClr val="0AD0D9"/>
              </a:buClr>
              <a:buSzPct val="93750"/>
              <a:buFont typeface="Arial" panose="020B0604020202020204" pitchFamily="34" charset="0"/>
              <a:buChar char="•"/>
              <a:tabLst>
                <a:tab pos="287655" algn="l"/>
              </a:tabLst>
            </a:pPr>
            <a:r>
              <a:rPr sz="2400" dirty="0">
                <a:latin typeface="Cambria"/>
                <a:cs typeface="Cambria"/>
              </a:rPr>
              <a:t>Glass has </a:t>
            </a:r>
            <a:r>
              <a:rPr sz="2400" spc="-15" dirty="0">
                <a:latin typeface="Cambria"/>
                <a:cs typeface="Cambria"/>
              </a:rPr>
              <a:t>many </a:t>
            </a:r>
            <a:r>
              <a:rPr sz="2400" spc="-5" dirty="0">
                <a:latin typeface="Cambria"/>
                <a:cs typeface="Cambria"/>
              </a:rPr>
              <a:t>compositions, each with </a:t>
            </a:r>
            <a:r>
              <a:rPr sz="2400" dirty="0">
                <a:latin typeface="Cambria"/>
                <a:cs typeface="Cambria"/>
              </a:rPr>
              <a:t>a </a:t>
            </a:r>
            <a:r>
              <a:rPr sz="2400" spc="-10" dirty="0">
                <a:latin typeface="Cambria"/>
                <a:cs typeface="Cambria"/>
              </a:rPr>
              <a:t>slightly</a:t>
            </a:r>
            <a:r>
              <a:rPr sz="2400" spc="-310" dirty="0">
                <a:latin typeface="Cambria"/>
                <a:cs typeface="Cambria"/>
              </a:rPr>
              <a:t> </a:t>
            </a:r>
            <a:r>
              <a:rPr sz="2400" spc="-10" dirty="0">
                <a:latin typeface="Cambria"/>
                <a:cs typeface="Cambria"/>
              </a:rPr>
              <a:t>different</a:t>
            </a:r>
            <a:endParaRPr sz="2400" dirty="0">
              <a:latin typeface="Cambria"/>
              <a:cs typeface="Cambria"/>
            </a:endParaRPr>
          </a:p>
          <a:p>
            <a:pPr marL="287020" marR="5080" algn="just">
              <a:lnSpc>
                <a:spcPct val="100000"/>
              </a:lnSpc>
            </a:pPr>
            <a:r>
              <a:rPr sz="2400" dirty="0">
                <a:latin typeface="Cambria"/>
                <a:cs typeface="Cambria"/>
              </a:rPr>
              <a:t>n. </a:t>
            </a:r>
            <a:r>
              <a:rPr sz="2400" spc="-5" dirty="0">
                <a:latin typeface="Cambria"/>
                <a:cs typeface="Cambria"/>
              </a:rPr>
              <a:t>An </a:t>
            </a:r>
            <a:r>
              <a:rPr sz="2400" spc="-15" dirty="0">
                <a:latin typeface="Cambria"/>
                <a:cs typeface="Cambria"/>
              </a:rPr>
              <a:t>approximate </a:t>
            </a:r>
            <a:r>
              <a:rPr sz="2400" b="1" spc="-25" dirty="0">
                <a:latin typeface="Cambria"/>
                <a:cs typeface="Cambria"/>
              </a:rPr>
              <a:t>refractive </a:t>
            </a:r>
            <a:r>
              <a:rPr sz="2400" b="1" spc="-15" dirty="0">
                <a:latin typeface="Cambria"/>
                <a:cs typeface="Cambria"/>
              </a:rPr>
              <a:t>index </a:t>
            </a:r>
            <a:r>
              <a:rPr sz="2400" b="1" dirty="0">
                <a:latin typeface="Cambria"/>
                <a:cs typeface="Cambria"/>
              </a:rPr>
              <a:t>of 1.5 </a:t>
            </a:r>
            <a:r>
              <a:rPr sz="2400" dirty="0">
                <a:latin typeface="Cambria"/>
                <a:cs typeface="Cambria"/>
              </a:rPr>
              <a:t>is </a:t>
            </a:r>
            <a:r>
              <a:rPr sz="2400" spc="-15" dirty="0">
                <a:latin typeface="Cambria"/>
                <a:cs typeface="Cambria"/>
              </a:rPr>
              <a:t>representative  for </a:t>
            </a:r>
            <a:r>
              <a:rPr sz="2400" spc="-5" dirty="0">
                <a:latin typeface="Cambria"/>
                <a:cs typeface="Cambria"/>
              </a:rPr>
              <a:t>the </a:t>
            </a:r>
            <a:r>
              <a:rPr sz="2400" b="1" spc="-10" dirty="0">
                <a:latin typeface="Cambria"/>
                <a:cs typeface="Cambria"/>
              </a:rPr>
              <a:t>silica </a:t>
            </a:r>
            <a:r>
              <a:rPr sz="2400" b="1" spc="-5" dirty="0">
                <a:latin typeface="Cambria"/>
                <a:cs typeface="Cambria"/>
              </a:rPr>
              <a:t>glasses </a:t>
            </a:r>
            <a:r>
              <a:rPr sz="2400" spc="-5" dirty="0">
                <a:latin typeface="Cambria"/>
                <a:cs typeface="Cambria"/>
              </a:rPr>
              <a:t>used </a:t>
            </a:r>
            <a:r>
              <a:rPr sz="2400" dirty="0">
                <a:latin typeface="Cambria"/>
                <a:cs typeface="Cambria"/>
              </a:rPr>
              <a:t>in </a:t>
            </a:r>
            <a:r>
              <a:rPr sz="2400" spc="-5" dirty="0">
                <a:latin typeface="Cambria"/>
                <a:cs typeface="Cambria"/>
              </a:rPr>
              <a:t>fibers; </a:t>
            </a:r>
            <a:r>
              <a:rPr sz="2400" spc="-15" dirty="0">
                <a:latin typeface="Cambria"/>
                <a:cs typeface="Cambria"/>
              </a:rPr>
              <a:t>more </a:t>
            </a:r>
            <a:r>
              <a:rPr sz="2400" spc="-5" dirty="0">
                <a:latin typeface="Cambria"/>
                <a:cs typeface="Cambria"/>
              </a:rPr>
              <a:t>precise </a:t>
            </a:r>
            <a:r>
              <a:rPr sz="2400" spc="-15" dirty="0">
                <a:latin typeface="Cambria"/>
                <a:cs typeface="Cambria"/>
              </a:rPr>
              <a:t>values for  </a:t>
            </a:r>
            <a:r>
              <a:rPr sz="2400" spc="-5" dirty="0">
                <a:latin typeface="Cambria"/>
                <a:cs typeface="Cambria"/>
              </a:rPr>
              <a:t>these glasses lie </a:t>
            </a:r>
            <a:r>
              <a:rPr sz="2400" spc="-10" dirty="0">
                <a:latin typeface="Cambria"/>
                <a:cs typeface="Cambria"/>
              </a:rPr>
              <a:t>between ~</a:t>
            </a:r>
            <a:r>
              <a:rPr sz="2400" b="1" spc="-10" dirty="0">
                <a:latin typeface="Cambria"/>
                <a:cs typeface="Cambria"/>
              </a:rPr>
              <a:t>1.45 </a:t>
            </a:r>
            <a:r>
              <a:rPr sz="2400" dirty="0">
                <a:latin typeface="Cambria"/>
                <a:cs typeface="Cambria"/>
              </a:rPr>
              <a:t>and</a:t>
            </a:r>
            <a:r>
              <a:rPr sz="2400" spc="90" dirty="0">
                <a:latin typeface="Cambria"/>
                <a:cs typeface="Cambria"/>
              </a:rPr>
              <a:t> </a:t>
            </a:r>
            <a:r>
              <a:rPr sz="2400" spc="-10" dirty="0">
                <a:latin typeface="Cambria"/>
                <a:cs typeface="Cambria"/>
              </a:rPr>
              <a:t>~</a:t>
            </a:r>
            <a:r>
              <a:rPr sz="2400" b="1" spc="-10" dirty="0">
                <a:latin typeface="Cambria"/>
                <a:cs typeface="Cambria"/>
              </a:rPr>
              <a:t>1.48</a:t>
            </a:r>
            <a:r>
              <a:rPr sz="2400" spc="-10" dirty="0">
                <a:latin typeface="Cambria"/>
                <a:cs typeface="Cambria"/>
              </a:rPr>
              <a:t>.</a:t>
            </a:r>
            <a:endParaRPr sz="2400" dirty="0">
              <a:latin typeface="Cambria"/>
              <a:cs typeface="Cambria"/>
            </a:endParaRPr>
          </a:p>
        </p:txBody>
      </p:sp>
    </p:spTree>
    <p:extLst>
      <p:ext uri="{BB962C8B-B14F-4D97-AF65-F5344CB8AC3E}">
        <p14:creationId xmlns:p14="http://schemas.microsoft.com/office/powerpoint/2010/main" val="2986852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t="-1000" r="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57943" y="381000"/>
            <a:ext cx="7757432" cy="606425"/>
          </a:xfrm>
        </p:spPr>
        <p:txBody>
          <a:bodyPr>
            <a:noAutofit/>
          </a:bodyPr>
          <a:lstStyle/>
          <a:p>
            <a:r>
              <a:rPr lang="en-US" sz="4400" b="1" spc="-45" dirty="0">
                <a:latin typeface="Cambria" panose="02040503050406030204" pitchFamily="18" charset="0"/>
                <a:ea typeface="Cambria" panose="02040503050406030204" pitchFamily="18" charset="0"/>
                <a:cs typeface="Times New Roman" panose="02020603050405020304" pitchFamily="18" charset="0"/>
              </a:rPr>
              <a:t>Ray </a:t>
            </a:r>
            <a:r>
              <a:rPr lang="en-US" sz="4400" b="1" dirty="0">
                <a:latin typeface="Cambria" panose="02040503050406030204" pitchFamily="18" charset="0"/>
                <a:ea typeface="Cambria" panose="02040503050406030204" pitchFamily="18" charset="0"/>
                <a:cs typeface="Times New Roman" panose="02020603050405020304" pitchFamily="18" charset="0"/>
              </a:rPr>
              <a:t>Theory</a:t>
            </a:r>
            <a:r>
              <a:rPr lang="en-US" sz="4400" b="1" spc="-35" dirty="0">
                <a:latin typeface="Cambria" panose="02040503050406030204" pitchFamily="18" charset="0"/>
                <a:ea typeface="Cambria" panose="02040503050406030204" pitchFamily="18" charset="0"/>
                <a:cs typeface="Times New Roman" panose="02020603050405020304" pitchFamily="18" charset="0"/>
              </a:rPr>
              <a:t> </a:t>
            </a:r>
            <a:r>
              <a:rPr lang="en-US" sz="4400" b="1" spc="-20" dirty="0">
                <a:latin typeface="Cambria" panose="02040503050406030204" pitchFamily="18" charset="0"/>
                <a:ea typeface="Cambria" panose="02040503050406030204" pitchFamily="18" charset="0"/>
                <a:cs typeface="Times New Roman" panose="02020603050405020304" pitchFamily="18" charset="0"/>
              </a:rPr>
              <a:t>Transmission</a:t>
            </a:r>
            <a:endParaRPr lang="en-US" sz="4400" b="1" dirty="0">
              <a:latin typeface="Cambria" panose="02040503050406030204" pitchFamily="18" charset="0"/>
              <a:ea typeface="Cambria" panose="02040503050406030204" pitchFamily="18" charset="0"/>
              <a:cs typeface="Times New Roman" panose="02020603050405020304" pitchFamily="18" charset="0"/>
            </a:endParaRPr>
          </a:p>
        </p:txBody>
      </p:sp>
      <p:sp>
        <p:nvSpPr>
          <p:cNvPr id="5" name="Slide Number Placeholder 4"/>
          <p:cNvSpPr>
            <a:spLocks noGrp="1"/>
          </p:cNvSpPr>
          <p:nvPr>
            <p:ph type="sldNum" sz="quarter" idx="12"/>
          </p:nvPr>
        </p:nvSpPr>
        <p:spPr>
          <a:pattFill prst="pct5">
            <a:fgClr>
              <a:schemeClr val="accent1"/>
            </a:fgClr>
            <a:bgClr>
              <a:schemeClr val="bg1"/>
            </a:bgClr>
          </a:pattFill>
        </p:spPr>
        <p:txBody>
          <a:bodyPr/>
          <a:lstStyle/>
          <a:p>
            <a:fld id="{BDCDBBEF-AA6C-4BA6-85B2-A17D7F280E38}" type="slidenum">
              <a:rPr lang="en-US" smtClean="0"/>
              <a:t>13</a:t>
            </a:fld>
            <a:endParaRPr lang="en-US"/>
          </a:p>
        </p:txBody>
      </p:sp>
      <p:sp>
        <p:nvSpPr>
          <p:cNvPr id="8" name="object 4"/>
          <p:cNvSpPr/>
          <p:nvPr/>
        </p:nvSpPr>
        <p:spPr>
          <a:xfrm>
            <a:off x="0" y="1219200"/>
            <a:ext cx="10744200" cy="5502275"/>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03018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4389" y="457200"/>
            <a:ext cx="5200650" cy="714375"/>
          </a:xfrm>
        </p:spPr>
        <p:txBody>
          <a:bodyPr>
            <a:noAutofit/>
          </a:bodyPr>
          <a:lstStyle/>
          <a:p>
            <a:pPr>
              <a:lnSpc>
                <a:spcPct val="100000"/>
              </a:lnSpc>
              <a:spcBef>
                <a:spcPts val="775"/>
              </a:spcBef>
            </a:pPr>
            <a:r>
              <a:rPr lang="en-US" sz="4400" b="1" spc="-5" dirty="0">
                <a:latin typeface="Cambria" panose="02040503050406030204" pitchFamily="18" charset="0"/>
                <a:ea typeface="Cambria" panose="02040503050406030204" pitchFamily="18" charset="0"/>
                <a:cs typeface="Cambria"/>
              </a:rPr>
              <a:t>Critical </a:t>
            </a:r>
            <a:r>
              <a:rPr lang="en-US" sz="4400" b="1" spc="-10" dirty="0">
                <a:latin typeface="Cambria" panose="02040503050406030204" pitchFamily="18" charset="0"/>
                <a:ea typeface="Cambria" panose="02040503050406030204" pitchFamily="18" charset="0"/>
                <a:cs typeface="Cambria"/>
              </a:rPr>
              <a:t>Angle</a:t>
            </a:r>
            <a:r>
              <a:rPr lang="en-US" sz="4400" b="1" spc="-30" dirty="0">
                <a:latin typeface="Cambria" panose="02040503050406030204" pitchFamily="18" charset="0"/>
                <a:ea typeface="Cambria" panose="02040503050406030204" pitchFamily="18" charset="0"/>
                <a:cs typeface="Cambria"/>
              </a:rPr>
              <a:t> </a:t>
            </a:r>
            <a:r>
              <a:rPr lang="en-US" sz="4400" b="1" spc="-15" dirty="0">
                <a:latin typeface="Cambria" panose="02040503050406030204" pitchFamily="18" charset="0"/>
                <a:ea typeface="Cambria" panose="02040503050406030204" pitchFamily="18" charset="0"/>
                <a:cs typeface="Cambria"/>
              </a:rPr>
              <a:t>(</a:t>
            </a:r>
            <a:r>
              <a:rPr lang="en-US" sz="4400" b="1" i="1" spc="-15" dirty="0">
                <a:latin typeface="Symbol" panose="05050102010706020507" pitchFamily="18" charset="2"/>
                <a:ea typeface="Cambria" panose="02040503050406030204" pitchFamily="18" charset="0"/>
                <a:cs typeface="Symbol"/>
              </a:rPr>
              <a:t></a:t>
            </a:r>
            <a:r>
              <a:rPr lang="en-US" sz="4400" b="1" i="1" spc="-22" baseline="-21021" dirty="0">
                <a:latin typeface="Cambria" panose="02040503050406030204" pitchFamily="18" charset="0"/>
                <a:ea typeface="Cambria" panose="02040503050406030204" pitchFamily="18" charset="0"/>
                <a:cs typeface="Constantia"/>
              </a:rPr>
              <a:t>c</a:t>
            </a:r>
            <a:r>
              <a:rPr lang="en-US" sz="4400" b="1" spc="-15" dirty="0">
                <a:latin typeface="Cambria" panose="02040503050406030204" pitchFamily="18" charset="0"/>
                <a:ea typeface="Cambria" panose="02040503050406030204" pitchFamily="18" charset="0"/>
                <a:cs typeface="Cambria"/>
              </a:rPr>
              <a:t>)</a:t>
            </a:r>
            <a:endParaRPr lang="en-US" sz="4400" dirty="0">
              <a:latin typeface="Cambria" panose="02040503050406030204" pitchFamily="18" charset="0"/>
              <a:ea typeface="Cambria" panose="02040503050406030204" pitchFamily="18" charset="0"/>
              <a:cs typeface="Cambria"/>
            </a:endParaRPr>
          </a:p>
        </p:txBody>
      </p:sp>
      <p:sp>
        <p:nvSpPr>
          <p:cNvPr id="3" name="Content Placeholder 2"/>
          <p:cNvSpPr>
            <a:spLocks noGrp="1"/>
          </p:cNvSpPr>
          <p:nvPr>
            <p:ph idx="1"/>
          </p:nvPr>
        </p:nvSpPr>
        <p:spPr>
          <a:xfrm>
            <a:off x="5469848" y="1500188"/>
            <a:ext cx="6088740" cy="4677454"/>
          </a:xfrm>
        </p:spPr>
        <p:txBody>
          <a:bodyPr>
            <a:normAutofit fontScale="77500" lnSpcReduction="20000"/>
          </a:bodyPr>
          <a:lstStyle/>
          <a:p>
            <a:pPr marL="481965" indent="-457200">
              <a:lnSpc>
                <a:spcPct val="100000"/>
              </a:lnSpc>
              <a:spcBef>
                <a:spcPts val="420"/>
              </a:spcBef>
              <a:buClr>
                <a:srgbClr val="0AD0D9"/>
              </a:buClr>
              <a:buSzPct val="94444"/>
              <a:tabLst>
                <a:tab pos="300355" algn="l"/>
              </a:tabLst>
            </a:pPr>
            <a:r>
              <a:rPr lang="en-US" sz="3100" dirty="0">
                <a:latin typeface="Cambria" panose="02040503050406030204" pitchFamily="18" charset="0"/>
                <a:ea typeface="Cambria" panose="02040503050406030204" pitchFamily="18" charset="0"/>
                <a:cs typeface="Cambria"/>
              </a:rPr>
              <a:t>The</a:t>
            </a:r>
            <a:r>
              <a:rPr lang="en-US" sz="3100" spc="120" dirty="0">
                <a:latin typeface="Cambria" panose="02040503050406030204" pitchFamily="18" charset="0"/>
                <a:ea typeface="Cambria" panose="02040503050406030204" pitchFamily="18" charset="0"/>
                <a:cs typeface="Cambria"/>
              </a:rPr>
              <a:t> </a:t>
            </a:r>
            <a:r>
              <a:rPr lang="en-US" sz="3100" spc="-10" dirty="0">
                <a:latin typeface="Cambria" panose="02040503050406030204" pitchFamily="18" charset="0"/>
                <a:ea typeface="Cambria" panose="02040503050406030204" pitchFamily="18" charset="0"/>
                <a:cs typeface="Cambria"/>
              </a:rPr>
              <a:t>angle</a:t>
            </a:r>
            <a:r>
              <a:rPr lang="en-US" sz="3100" spc="120" dirty="0">
                <a:latin typeface="Cambria" panose="02040503050406030204" pitchFamily="18" charset="0"/>
                <a:ea typeface="Cambria" panose="02040503050406030204" pitchFamily="18" charset="0"/>
                <a:cs typeface="Cambria"/>
              </a:rPr>
              <a:t> </a:t>
            </a:r>
            <a:r>
              <a:rPr lang="en-US" sz="3100" spc="-5" dirty="0">
                <a:latin typeface="Cambria" panose="02040503050406030204" pitchFamily="18" charset="0"/>
                <a:ea typeface="Cambria" panose="02040503050406030204" pitchFamily="18" charset="0"/>
                <a:cs typeface="Cambria"/>
              </a:rPr>
              <a:t>at</a:t>
            </a:r>
            <a:r>
              <a:rPr lang="en-US" sz="3100" spc="125" dirty="0">
                <a:latin typeface="Cambria" panose="02040503050406030204" pitchFamily="18" charset="0"/>
                <a:ea typeface="Cambria" panose="02040503050406030204" pitchFamily="18" charset="0"/>
                <a:cs typeface="Cambria"/>
              </a:rPr>
              <a:t> </a:t>
            </a:r>
            <a:r>
              <a:rPr lang="en-US" sz="3100" spc="-10" dirty="0">
                <a:latin typeface="Cambria" panose="02040503050406030204" pitchFamily="18" charset="0"/>
                <a:ea typeface="Cambria" panose="02040503050406030204" pitchFamily="18" charset="0"/>
                <a:cs typeface="Cambria"/>
              </a:rPr>
              <a:t>which</a:t>
            </a:r>
            <a:r>
              <a:rPr lang="en-US" sz="3100" spc="130" dirty="0">
                <a:latin typeface="Cambria" panose="02040503050406030204" pitchFamily="18" charset="0"/>
                <a:ea typeface="Cambria" panose="02040503050406030204" pitchFamily="18" charset="0"/>
                <a:cs typeface="Cambria"/>
              </a:rPr>
              <a:t> </a:t>
            </a:r>
            <a:r>
              <a:rPr lang="en-US" sz="3100" spc="-10" dirty="0">
                <a:latin typeface="Cambria" panose="02040503050406030204" pitchFamily="18" charset="0"/>
                <a:ea typeface="Cambria" panose="02040503050406030204" pitchFamily="18" charset="0"/>
                <a:cs typeface="Cambria"/>
              </a:rPr>
              <a:t>total</a:t>
            </a:r>
            <a:r>
              <a:rPr lang="en-US" sz="3100" spc="125" dirty="0">
                <a:latin typeface="Cambria" panose="02040503050406030204" pitchFamily="18" charset="0"/>
                <a:ea typeface="Cambria" panose="02040503050406030204" pitchFamily="18" charset="0"/>
                <a:cs typeface="Cambria"/>
              </a:rPr>
              <a:t> </a:t>
            </a:r>
            <a:r>
              <a:rPr lang="en-US" sz="3100" spc="-5" dirty="0">
                <a:latin typeface="Cambria" panose="02040503050406030204" pitchFamily="18" charset="0"/>
                <a:ea typeface="Cambria" panose="02040503050406030204" pitchFamily="18" charset="0"/>
                <a:cs typeface="Cambria"/>
              </a:rPr>
              <a:t>internal</a:t>
            </a:r>
            <a:r>
              <a:rPr lang="en-US" sz="3100" spc="120" dirty="0">
                <a:latin typeface="Cambria" panose="02040503050406030204" pitchFamily="18" charset="0"/>
                <a:ea typeface="Cambria" panose="02040503050406030204" pitchFamily="18" charset="0"/>
                <a:cs typeface="Cambria"/>
              </a:rPr>
              <a:t> </a:t>
            </a:r>
            <a:r>
              <a:rPr lang="en-US" sz="3100" spc="-10" dirty="0">
                <a:latin typeface="Cambria" panose="02040503050406030204" pitchFamily="18" charset="0"/>
                <a:ea typeface="Cambria" panose="02040503050406030204" pitchFamily="18" charset="0"/>
                <a:cs typeface="Cambria"/>
              </a:rPr>
              <a:t>reflection</a:t>
            </a:r>
            <a:r>
              <a:rPr lang="en-US" sz="3100" spc="130" dirty="0">
                <a:latin typeface="Cambria" panose="02040503050406030204" pitchFamily="18" charset="0"/>
                <a:ea typeface="Cambria" panose="02040503050406030204" pitchFamily="18" charset="0"/>
                <a:cs typeface="Cambria"/>
              </a:rPr>
              <a:t> </a:t>
            </a:r>
            <a:r>
              <a:rPr lang="en-US" sz="3100" spc="-5" dirty="0">
                <a:latin typeface="Cambria" panose="02040503050406030204" pitchFamily="18" charset="0"/>
                <a:ea typeface="Cambria" panose="02040503050406030204" pitchFamily="18" charset="0"/>
                <a:cs typeface="Cambria"/>
              </a:rPr>
              <a:t>occurs</a:t>
            </a:r>
            <a:r>
              <a:rPr lang="en-US" sz="3100" spc="120" dirty="0">
                <a:latin typeface="Cambria" panose="02040503050406030204" pitchFamily="18" charset="0"/>
                <a:ea typeface="Cambria" panose="02040503050406030204" pitchFamily="18" charset="0"/>
                <a:cs typeface="Cambria"/>
              </a:rPr>
              <a:t> </a:t>
            </a:r>
            <a:r>
              <a:rPr lang="en-US" sz="3100" spc="5" dirty="0">
                <a:latin typeface="Cambria" panose="02040503050406030204" pitchFamily="18" charset="0"/>
                <a:ea typeface="Cambria" panose="02040503050406030204" pitchFamily="18" charset="0"/>
                <a:cs typeface="Cambria"/>
              </a:rPr>
              <a:t>is</a:t>
            </a:r>
            <a:r>
              <a:rPr lang="en-US" sz="3100" spc="120" dirty="0">
                <a:latin typeface="Cambria" panose="02040503050406030204" pitchFamily="18" charset="0"/>
                <a:ea typeface="Cambria" panose="02040503050406030204" pitchFamily="18" charset="0"/>
                <a:cs typeface="Cambria"/>
              </a:rPr>
              <a:t> </a:t>
            </a:r>
            <a:r>
              <a:rPr lang="en-US" sz="3100" spc="-5" dirty="0">
                <a:latin typeface="Cambria" panose="02040503050406030204" pitchFamily="18" charset="0"/>
                <a:ea typeface="Cambria" panose="02040503050406030204" pitchFamily="18" charset="0"/>
                <a:cs typeface="Cambria"/>
              </a:rPr>
              <a:t>called</a:t>
            </a:r>
            <a:r>
              <a:rPr lang="en-US" sz="3100" spc="114" dirty="0">
                <a:latin typeface="Cambria" panose="02040503050406030204" pitchFamily="18" charset="0"/>
                <a:ea typeface="Cambria" panose="02040503050406030204" pitchFamily="18" charset="0"/>
                <a:cs typeface="Cambria"/>
              </a:rPr>
              <a:t> </a:t>
            </a:r>
            <a:r>
              <a:rPr lang="en-US" sz="3100" dirty="0">
                <a:latin typeface="Cambria" panose="02040503050406030204" pitchFamily="18" charset="0"/>
                <a:ea typeface="Cambria" panose="02040503050406030204" pitchFamily="18" charset="0"/>
                <a:cs typeface="Cambria"/>
              </a:rPr>
              <a:t>the</a:t>
            </a:r>
            <a:r>
              <a:rPr lang="en-US" sz="3100" spc="120" dirty="0">
                <a:latin typeface="Cambria" panose="02040503050406030204" pitchFamily="18" charset="0"/>
                <a:ea typeface="Cambria" panose="02040503050406030204" pitchFamily="18" charset="0"/>
                <a:cs typeface="Cambria"/>
              </a:rPr>
              <a:t> </a:t>
            </a:r>
            <a:r>
              <a:rPr lang="en-US" sz="3100" dirty="0">
                <a:latin typeface="Cambria" panose="02040503050406030204" pitchFamily="18" charset="0"/>
                <a:ea typeface="Cambria" panose="02040503050406030204" pitchFamily="18" charset="0"/>
                <a:cs typeface="Cambria"/>
              </a:rPr>
              <a:t>critical</a:t>
            </a:r>
            <a:r>
              <a:rPr lang="en-US" sz="3100" spc="125" dirty="0">
                <a:latin typeface="Cambria" panose="02040503050406030204" pitchFamily="18" charset="0"/>
                <a:ea typeface="Cambria" panose="02040503050406030204" pitchFamily="18" charset="0"/>
                <a:cs typeface="Cambria"/>
              </a:rPr>
              <a:t> </a:t>
            </a:r>
            <a:r>
              <a:rPr lang="en-US" sz="3100" spc="-10" dirty="0">
                <a:latin typeface="Cambria" panose="02040503050406030204" pitchFamily="18" charset="0"/>
                <a:ea typeface="Cambria" panose="02040503050406030204" pitchFamily="18" charset="0"/>
                <a:cs typeface="Cambria"/>
              </a:rPr>
              <a:t>angle</a:t>
            </a:r>
            <a:r>
              <a:rPr lang="en-US" sz="3100" spc="120" dirty="0">
                <a:latin typeface="Cambria" panose="02040503050406030204" pitchFamily="18" charset="0"/>
                <a:ea typeface="Cambria" panose="02040503050406030204" pitchFamily="18" charset="0"/>
                <a:cs typeface="Cambria"/>
              </a:rPr>
              <a:t> </a:t>
            </a:r>
            <a:r>
              <a:rPr lang="en-US" sz="3100" dirty="0">
                <a:latin typeface="Cambria" panose="02040503050406030204" pitchFamily="18" charset="0"/>
                <a:ea typeface="Cambria" panose="02040503050406030204" pitchFamily="18" charset="0"/>
                <a:cs typeface="Cambria"/>
              </a:rPr>
              <a:t>of incidence.</a:t>
            </a:r>
          </a:p>
          <a:p>
            <a:pPr marL="481965" marR="17780" indent="-457200">
              <a:lnSpc>
                <a:spcPts val="2160"/>
              </a:lnSpc>
              <a:spcBef>
                <a:spcPts val="505"/>
              </a:spcBef>
              <a:buClr>
                <a:srgbClr val="0AD0D9"/>
              </a:buClr>
              <a:buSzPct val="94444"/>
              <a:tabLst>
                <a:tab pos="300355" algn="l"/>
              </a:tabLst>
            </a:pPr>
            <a:r>
              <a:rPr lang="en-US" sz="3100" spc="-15" dirty="0">
                <a:latin typeface="Cambria" panose="02040503050406030204" pitchFamily="18" charset="0"/>
                <a:ea typeface="Cambria" panose="02040503050406030204" pitchFamily="18" charset="0"/>
                <a:cs typeface="Cambria"/>
              </a:rPr>
              <a:t>At any </a:t>
            </a:r>
            <a:r>
              <a:rPr lang="en-US" sz="3100" spc="-10" dirty="0">
                <a:latin typeface="Cambria" panose="02040503050406030204" pitchFamily="18" charset="0"/>
                <a:ea typeface="Cambria" panose="02040503050406030204" pitchFamily="18" charset="0"/>
                <a:cs typeface="Cambria"/>
              </a:rPr>
              <a:t>angle </a:t>
            </a:r>
            <a:r>
              <a:rPr lang="en-US" sz="3100" spc="-5" dirty="0">
                <a:latin typeface="Cambria" panose="02040503050406030204" pitchFamily="18" charset="0"/>
                <a:ea typeface="Cambria" panose="02040503050406030204" pitchFamily="18" charset="0"/>
                <a:cs typeface="Cambria"/>
              </a:rPr>
              <a:t>of incidence </a:t>
            </a:r>
            <a:r>
              <a:rPr lang="en-US" sz="3100" spc="-20" dirty="0">
                <a:latin typeface="Cambria" panose="02040503050406030204" pitchFamily="18" charset="0"/>
                <a:ea typeface="Cambria" panose="02040503050406030204" pitchFamily="18" charset="0"/>
                <a:cs typeface="Cambria"/>
              </a:rPr>
              <a:t>(</a:t>
            </a:r>
            <a:r>
              <a:rPr lang="en-US" sz="3100" i="1" spc="-20" dirty="0">
                <a:latin typeface="Symbol" panose="05050102010706020507" pitchFamily="18" charset="2"/>
                <a:ea typeface="Cambria" panose="02040503050406030204" pitchFamily="18" charset="0"/>
                <a:cs typeface="Symbol"/>
              </a:rPr>
              <a:t></a:t>
            </a:r>
            <a:r>
              <a:rPr lang="en-US" sz="3100" i="1" spc="-30" baseline="-20833" dirty="0">
                <a:latin typeface="Cambria" panose="02040503050406030204" pitchFamily="18" charset="0"/>
                <a:ea typeface="Cambria" panose="02040503050406030204" pitchFamily="18" charset="0"/>
                <a:cs typeface="Constantia"/>
              </a:rPr>
              <a:t>1</a:t>
            </a:r>
            <a:r>
              <a:rPr lang="en-US" sz="3100" spc="-20" dirty="0">
                <a:latin typeface="Cambria" panose="02040503050406030204" pitchFamily="18" charset="0"/>
                <a:ea typeface="Cambria" panose="02040503050406030204" pitchFamily="18" charset="0"/>
                <a:cs typeface="Cambria"/>
              </a:rPr>
              <a:t>) </a:t>
            </a:r>
            <a:r>
              <a:rPr lang="en-US" sz="3100" spc="-10" dirty="0">
                <a:latin typeface="Cambria" panose="02040503050406030204" pitchFamily="18" charset="0"/>
                <a:ea typeface="Cambria" panose="02040503050406030204" pitchFamily="18" charset="0"/>
                <a:cs typeface="Cambria"/>
              </a:rPr>
              <a:t>greater </a:t>
            </a:r>
            <a:r>
              <a:rPr lang="en-US" sz="3100" spc="-5" dirty="0">
                <a:latin typeface="Cambria" panose="02040503050406030204" pitchFamily="18" charset="0"/>
                <a:ea typeface="Cambria" panose="02040503050406030204" pitchFamily="18" charset="0"/>
                <a:cs typeface="Cambria"/>
              </a:rPr>
              <a:t>than the critical </a:t>
            </a:r>
            <a:r>
              <a:rPr lang="en-US" sz="3100" spc="-10" dirty="0">
                <a:latin typeface="Cambria" panose="02040503050406030204" pitchFamily="18" charset="0"/>
                <a:ea typeface="Cambria" panose="02040503050406030204" pitchFamily="18" charset="0"/>
                <a:cs typeface="Cambria"/>
              </a:rPr>
              <a:t>angle, </a:t>
            </a:r>
            <a:r>
              <a:rPr lang="en-US" sz="3100" spc="-5" dirty="0">
                <a:latin typeface="Cambria" panose="02040503050406030204" pitchFamily="18" charset="0"/>
                <a:ea typeface="Cambria" panose="02040503050406030204" pitchFamily="18" charset="0"/>
                <a:cs typeface="Cambria"/>
              </a:rPr>
              <a:t>light </a:t>
            </a:r>
            <a:r>
              <a:rPr lang="en-US" sz="3100" dirty="0">
                <a:latin typeface="Cambria" panose="02040503050406030204" pitchFamily="18" charset="0"/>
                <a:ea typeface="Cambria" panose="02040503050406030204" pitchFamily="18" charset="0"/>
                <a:cs typeface="Cambria"/>
              </a:rPr>
              <a:t>is </a:t>
            </a:r>
            <a:r>
              <a:rPr lang="en-US" sz="3100" spc="-15" dirty="0">
                <a:latin typeface="Cambria" panose="02040503050406030204" pitchFamily="18" charset="0"/>
                <a:ea typeface="Cambria" panose="02040503050406030204" pitchFamily="18" charset="0"/>
                <a:cs typeface="Cambria"/>
              </a:rPr>
              <a:t>totally  </a:t>
            </a:r>
            <a:r>
              <a:rPr lang="en-US" sz="3100" spc="-10" dirty="0">
                <a:latin typeface="Cambria" panose="02040503050406030204" pitchFamily="18" charset="0"/>
                <a:ea typeface="Cambria" panose="02040503050406030204" pitchFamily="18" charset="0"/>
                <a:cs typeface="Cambria"/>
              </a:rPr>
              <a:t>reflected </a:t>
            </a:r>
            <a:r>
              <a:rPr lang="en-US" sz="3100" spc="-5" dirty="0">
                <a:latin typeface="Cambria" panose="02040503050406030204" pitchFamily="18" charset="0"/>
                <a:ea typeface="Cambria" panose="02040503050406030204" pitchFamily="18" charset="0"/>
                <a:cs typeface="Cambria"/>
              </a:rPr>
              <a:t>back to </a:t>
            </a:r>
            <a:r>
              <a:rPr lang="en-US" sz="3100" dirty="0">
                <a:latin typeface="Cambria" panose="02040503050406030204" pitchFamily="18" charset="0"/>
                <a:ea typeface="Cambria" panose="02040503050406030204" pitchFamily="18" charset="0"/>
                <a:cs typeface="Cambria"/>
              </a:rPr>
              <a:t>the </a:t>
            </a:r>
            <a:r>
              <a:rPr lang="en-US" sz="3100" spc="-10" dirty="0">
                <a:latin typeface="Cambria" panose="02040503050406030204" pitchFamily="18" charset="0"/>
                <a:ea typeface="Cambria" panose="02040503050406030204" pitchFamily="18" charset="0"/>
                <a:cs typeface="Cambria"/>
              </a:rPr>
              <a:t>glass</a:t>
            </a:r>
            <a:r>
              <a:rPr lang="en-US" sz="3100" spc="10" dirty="0">
                <a:latin typeface="Cambria" panose="02040503050406030204" pitchFamily="18" charset="0"/>
                <a:ea typeface="Cambria" panose="02040503050406030204" pitchFamily="18" charset="0"/>
                <a:cs typeface="Cambria"/>
              </a:rPr>
              <a:t> </a:t>
            </a:r>
            <a:r>
              <a:rPr lang="en-US" sz="3100" spc="-5" dirty="0">
                <a:latin typeface="Cambria" panose="02040503050406030204" pitchFamily="18" charset="0"/>
                <a:ea typeface="Cambria" panose="02040503050406030204" pitchFamily="18" charset="0"/>
                <a:cs typeface="Cambria"/>
              </a:rPr>
              <a:t>medium.</a:t>
            </a:r>
            <a:endParaRPr lang="en-US" sz="3100" dirty="0">
              <a:latin typeface="Cambria" panose="02040503050406030204" pitchFamily="18" charset="0"/>
              <a:ea typeface="Cambria" panose="02040503050406030204" pitchFamily="18" charset="0"/>
              <a:cs typeface="Cambria"/>
            </a:endParaRPr>
          </a:p>
          <a:p>
            <a:pPr marL="481965" indent="-457200">
              <a:lnSpc>
                <a:spcPct val="100000"/>
              </a:lnSpc>
              <a:spcBef>
                <a:spcPts val="360"/>
              </a:spcBef>
              <a:buClr>
                <a:srgbClr val="0AD0D9"/>
              </a:buClr>
              <a:buSzPct val="94444"/>
              <a:tabLst>
                <a:tab pos="300355" algn="l"/>
              </a:tabLst>
            </a:pPr>
            <a:r>
              <a:rPr lang="en-US" sz="3100" spc="-30" dirty="0">
                <a:latin typeface="Cambria" panose="02040503050406030204" pitchFamily="18" charset="0"/>
                <a:ea typeface="Cambria" panose="02040503050406030204" pitchFamily="18" charset="0"/>
                <a:cs typeface="Cambria"/>
              </a:rPr>
              <a:t>For </a:t>
            </a:r>
            <a:r>
              <a:rPr lang="en-US" sz="3100" dirty="0">
                <a:latin typeface="Cambria" panose="02040503050406030204" pitchFamily="18" charset="0"/>
                <a:ea typeface="Cambria" panose="02040503050406030204" pitchFamily="18" charset="0"/>
                <a:cs typeface="Cambria"/>
              </a:rPr>
              <a:t>n</a:t>
            </a:r>
            <a:r>
              <a:rPr lang="en-US" sz="3100" baseline="-20833" dirty="0">
                <a:latin typeface="Cambria" panose="02040503050406030204" pitchFamily="18" charset="0"/>
                <a:ea typeface="Cambria" panose="02040503050406030204" pitchFamily="18" charset="0"/>
                <a:cs typeface="Cambria"/>
              </a:rPr>
              <a:t>1 </a:t>
            </a:r>
            <a:r>
              <a:rPr lang="en-US" sz="3100" dirty="0">
                <a:latin typeface="Cambria" panose="02040503050406030204" pitchFamily="18" charset="0"/>
                <a:ea typeface="Cambria" panose="02040503050406030204" pitchFamily="18" charset="0"/>
                <a:cs typeface="Cambria"/>
              </a:rPr>
              <a:t>&gt; </a:t>
            </a:r>
            <a:r>
              <a:rPr lang="en-US" sz="3100" spc="-5" dirty="0">
                <a:latin typeface="Cambria" panose="02040503050406030204" pitchFamily="18" charset="0"/>
                <a:ea typeface="Cambria" panose="02040503050406030204" pitchFamily="18" charset="0"/>
                <a:cs typeface="Cambria"/>
              </a:rPr>
              <a:t>n</a:t>
            </a:r>
            <a:r>
              <a:rPr lang="en-US" sz="3100" spc="-7" baseline="-20833" dirty="0">
                <a:latin typeface="Cambria" panose="02040503050406030204" pitchFamily="18" charset="0"/>
                <a:ea typeface="Cambria" panose="02040503050406030204" pitchFamily="18" charset="0"/>
                <a:cs typeface="Cambria"/>
              </a:rPr>
              <a:t>2</a:t>
            </a:r>
            <a:r>
              <a:rPr lang="en-US" sz="3100" spc="-5" dirty="0">
                <a:latin typeface="Cambria" panose="02040503050406030204" pitchFamily="18" charset="0"/>
                <a:ea typeface="Cambria" panose="02040503050406030204" pitchFamily="18" charset="0"/>
                <a:cs typeface="Cambria"/>
              </a:rPr>
              <a:t>, the </a:t>
            </a:r>
            <a:r>
              <a:rPr lang="en-US" sz="3100" spc="-10" dirty="0">
                <a:latin typeface="Cambria" panose="02040503050406030204" pitchFamily="18" charset="0"/>
                <a:ea typeface="Cambria" panose="02040503050406030204" pitchFamily="18" charset="0"/>
                <a:cs typeface="Cambria"/>
              </a:rPr>
              <a:t>angle </a:t>
            </a:r>
            <a:r>
              <a:rPr lang="en-US" sz="3100" dirty="0">
                <a:latin typeface="Cambria" panose="02040503050406030204" pitchFamily="18" charset="0"/>
                <a:ea typeface="Cambria" panose="02040503050406030204" pitchFamily="18" charset="0"/>
                <a:cs typeface="Cambria"/>
              </a:rPr>
              <a:t>of </a:t>
            </a:r>
            <a:r>
              <a:rPr lang="en-US" sz="3100" spc="-10" dirty="0">
                <a:latin typeface="Cambria" panose="02040503050406030204" pitchFamily="18" charset="0"/>
                <a:ea typeface="Cambria" panose="02040503050406030204" pitchFamily="18" charset="0"/>
                <a:cs typeface="Cambria"/>
              </a:rPr>
              <a:t>refraction </a:t>
            </a:r>
            <a:r>
              <a:rPr lang="en-US" sz="3100" spc="-5" dirty="0">
                <a:latin typeface="Symbol" panose="05050102010706020507" pitchFamily="18" charset="2"/>
                <a:ea typeface="Cambria" panose="02040503050406030204" pitchFamily="18" charset="0"/>
                <a:cs typeface="Symbol"/>
              </a:rPr>
              <a:t></a:t>
            </a:r>
            <a:r>
              <a:rPr lang="en-US" sz="3100" spc="-7" baseline="-20833" dirty="0">
                <a:latin typeface="Cambria" panose="02040503050406030204" pitchFamily="18" charset="0"/>
                <a:ea typeface="Cambria" panose="02040503050406030204" pitchFamily="18" charset="0"/>
                <a:cs typeface="Cambria"/>
              </a:rPr>
              <a:t>2 </a:t>
            </a:r>
            <a:r>
              <a:rPr lang="en-US" sz="3100" dirty="0">
                <a:latin typeface="Cambria" panose="02040503050406030204" pitchFamily="18" charset="0"/>
                <a:ea typeface="Cambria" panose="02040503050406030204" pitchFamily="18" charset="0"/>
                <a:cs typeface="Cambria"/>
              </a:rPr>
              <a:t>is </a:t>
            </a:r>
            <a:r>
              <a:rPr lang="en-US" sz="3100" spc="-25" dirty="0">
                <a:latin typeface="Cambria" panose="02040503050406030204" pitchFamily="18" charset="0"/>
                <a:ea typeface="Cambria" panose="02040503050406030204" pitchFamily="18" charset="0"/>
                <a:cs typeface="Cambria"/>
              </a:rPr>
              <a:t>always </a:t>
            </a:r>
            <a:r>
              <a:rPr lang="en-US" sz="3100" spc="-5" dirty="0">
                <a:latin typeface="Cambria" panose="02040503050406030204" pitchFamily="18" charset="0"/>
                <a:ea typeface="Cambria" panose="02040503050406030204" pitchFamily="18" charset="0"/>
                <a:cs typeface="Cambria"/>
              </a:rPr>
              <a:t>greater </a:t>
            </a:r>
            <a:r>
              <a:rPr lang="en-US" sz="3100" dirty="0">
                <a:latin typeface="Cambria" panose="02040503050406030204" pitchFamily="18" charset="0"/>
                <a:ea typeface="Cambria" panose="02040503050406030204" pitchFamily="18" charset="0"/>
                <a:cs typeface="Cambria"/>
              </a:rPr>
              <a:t>than </a:t>
            </a:r>
            <a:r>
              <a:rPr lang="en-US" sz="3100" spc="-5" dirty="0">
                <a:latin typeface="Cambria" panose="02040503050406030204" pitchFamily="18" charset="0"/>
                <a:ea typeface="Cambria" panose="02040503050406030204" pitchFamily="18" charset="0"/>
                <a:cs typeface="Cambria"/>
              </a:rPr>
              <a:t>the </a:t>
            </a:r>
            <a:r>
              <a:rPr lang="en-US" sz="3100" spc="-10" dirty="0">
                <a:latin typeface="Cambria" panose="02040503050406030204" pitchFamily="18" charset="0"/>
                <a:ea typeface="Cambria" panose="02040503050406030204" pitchFamily="18" charset="0"/>
                <a:cs typeface="Cambria"/>
              </a:rPr>
              <a:t>angle</a:t>
            </a:r>
            <a:r>
              <a:rPr lang="en-US" sz="3100" spc="240" dirty="0">
                <a:latin typeface="Cambria" panose="02040503050406030204" pitchFamily="18" charset="0"/>
                <a:ea typeface="Cambria" panose="02040503050406030204" pitchFamily="18" charset="0"/>
                <a:cs typeface="Cambria"/>
              </a:rPr>
              <a:t> </a:t>
            </a:r>
            <a:r>
              <a:rPr lang="en-US" sz="3100" dirty="0">
                <a:latin typeface="Cambria" panose="02040503050406030204" pitchFamily="18" charset="0"/>
                <a:ea typeface="Cambria" panose="02040503050406030204" pitchFamily="18" charset="0"/>
                <a:cs typeface="Cambria"/>
              </a:rPr>
              <a:t>of incidence</a:t>
            </a:r>
            <a:r>
              <a:rPr lang="en-US" sz="3100" spc="-40" dirty="0">
                <a:latin typeface="Cambria" panose="02040503050406030204" pitchFamily="18" charset="0"/>
                <a:ea typeface="Cambria" panose="02040503050406030204" pitchFamily="18" charset="0"/>
                <a:cs typeface="Cambria"/>
              </a:rPr>
              <a:t> </a:t>
            </a:r>
            <a:r>
              <a:rPr lang="en-US" sz="3100" spc="-5" dirty="0">
                <a:latin typeface="Symbol" panose="05050102010706020507" pitchFamily="18" charset="2"/>
                <a:ea typeface="Cambria" panose="02040503050406030204" pitchFamily="18" charset="0"/>
                <a:cs typeface="Symbol"/>
              </a:rPr>
              <a:t></a:t>
            </a:r>
            <a:r>
              <a:rPr lang="en-US" sz="3100" spc="-7" baseline="-20833" dirty="0">
                <a:latin typeface="Cambria" panose="02040503050406030204" pitchFamily="18" charset="0"/>
                <a:ea typeface="Cambria" panose="02040503050406030204" pitchFamily="18" charset="0"/>
                <a:cs typeface="Cambria"/>
              </a:rPr>
              <a:t>1</a:t>
            </a:r>
            <a:r>
              <a:rPr lang="en-US" sz="3100" spc="-5" dirty="0">
                <a:latin typeface="Cambria" panose="02040503050406030204" pitchFamily="18" charset="0"/>
                <a:ea typeface="Cambria" panose="02040503050406030204" pitchFamily="18" charset="0"/>
                <a:cs typeface="Cambria"/>
              </a:rPr>
              <a:t>.</a:t>
            </a:r>
            <a:endParaRPr lang="en-US" sz="3100" dirty="0">
              <a:latin typeface="Cambria" panose="02040503050406030204" pitchFamily="18" charset="0"/>
              <a:ea typeface="Cambria" panose="02040503050406030204" pitchFamily="18" charset="0"/>
              <a:cs typeface="Cambria"/>
            </a:endParaRPr>
          </a:p>
          <a:p>
            <a:pPr marL="481965" indent="-457200">
              <a:lnSpc>
                <a:spcPct val="100000"/>
              </a:lnSpc>
              <a:spcBef>
                <a:spcPts val="385"/>
              </a:spcBef>
              <a:buClr>
                <a:srgbClr val="0AD0D9"/>
              </a:buClr>
              <a:buSzPct val="94444"/>
              <a:tabLst>
                <a:tab pos="300355" algn="l"/>
              </a:tabLst>
            </a:pPr>
            <a:r>
              <a:rPr lang="en-US" sz="3100" spc="-5" dirty="0">
                <a:latin typeface="Cambria" panose="02040503050406030204" pitchFamily="18" charset="0"/>
                <a:ea typeface="Cambria" panose="02040503050406030204" pitchFamily="18" charset="0"/>
                <a:cs typeface="Cambria"/>
              </a:rPr>
              <a:t>When the </a:t>
            </a:r>
            <a:r>
              <a:rPr lang="en-US" sz="3100" spc="-10" dirty="0">
                <a:latin typeface="Cambria" panose="02040503050406030204" pitchFamily="18" charset="0"/>
                <a:ea typeface="Cambria" panose="02040503050406030204" pitchFamily="18" charset="0"/>
                <a:cs typeface="Cambria"/>
              </a:rPr>
              <a:t>angle </a:t>
            </a:r>
            <a:r>
              <a:rPr lang="en-US" sz="3100" dirty="0">
                <a:latin typeface="Cambria" panose="02040503050406030204" pitchFamily="18" charset="0"/>
                <a:ea typeface="Cambria" panose="02040503050406030204" pitchFamily="18" charset="0"/>
                <a:cs typeface="Cambria"/>
              </a:rPr>
              <a:t>of </a:t>
            </a:r>
            <a:r>
              <a:rPr lang="en-US" sz="3100" spc="-10" dirty="0">
                <a:latin typeface="Cambria" panose="02040503050406030204" pitchFamily="18" charset="0"/>
                <a:ea typeface="Cambria" panose="02040503050406030204" pitchFamily="18" charset="0"/>
                <a:cs typeface="Cambria"/>
              </a:rPr>
              <a:t>refraction </a:t>
            </a:r>
            <a:r>
              <a:rPr lang="en-US" sz="3100" spc="-5" dirty="0">
                <a:latin typeface="Symbol" panose="05050102010706020507" pitchFamily="18" charset="2"/>
                <a:ea typeface="Cambria" panose="02040503050406030204" pitchFamily="18" charset="0"/>
                <a:cs typeface="Symbol"/>
              </a:rPr>
              <a:t></a:t>
            </a:r>
            <a:r>
              <a:rPr lang="en-US" sz="3100" spc="-7" baseline="-20833" dirty="0">
                <a:latin typeface="Cambria" panose="02040503050406030204" pitchFamily="18" charset="0"/>
                <a:ea typeface="Cambria" panose="02040503050406030204" pitchFamily="18" charset="0"/>
                <a:cs typeface="Cambria"/>
              </a:rPr>
              <a:t>2 </a:t>
            </a:r>
            <a:r>
              <a:rPr lang="en-US" sz="3100" dirty="0">
                <a:latin typeface="Cambria" panose="02040503050406030204" pitchFamily="18" charset="0"/>
                <a:ea typeface="Cambria" panose="02040503050406030204" pitchFamily="18" charset="0"/>
                <a:cs typeface="Cambria"/>
              </a:rPr>
              <a:t>is </a:t>
            </a:r>
            <a:r>
              <a:rPr lang="en-US" sz="3100" dirty="0">
                <a:latin typeface="Cambria" panose="02040503050406030204" pitchFamily="18" charset="0"/>
                <a:ea typeface="Cambria" panose="02040503050406030204" pitchFamily="18" charset="0"/>
                <a:cs typeface="Constantia"/>
              </a:rPr>
              <a:t>90</a:t>
            </a:r>
            <a:r>
              <a:rPr lang="en-US" sz="3100" baseline="25462" dirty="0">
                <a:latin typeface="Cambria" panose="02040503050406030204" pitchFamily="18" charset="0"/>
                <a:ea typeface="Cambria" panose="02040503050406030204" pitchFamily="18" charset="0"/>
                <a:cs typeface="Constantia"/>
              </a:rPr>
              <a:t>o </a:t>
            </a:r>
            <a:r>
              <a:rPr lang="en-US" sz="3100" spc="-5" dirty="0">
                <a:latin typeface="Cambria" panose="02040503050406030204" pitchFamily="18" charset="0"/>
                <a:ea typeface="Cambria" panose="02040503050406030204" pitchFamily="18" charset="0"/>
                <a:cs typeface="Cambria"/>
              </a:rPr>
              <a:t>the </a:t>
            </a:r>
            <a:r>
              <a:rPr lang="en-US" sz="3100" spc="-15" dirty="0">
                <a:latin typeface="Cambria" panose="02040503050406030204" pitchFamily="18" charset="0"/>
                <a:ea typeface="Cambria" panose="02040503050406030204" pitchFamily="18" charset="0"/>
                <a:cs typeface="Cambria"/>
              </a:rPr>
              <a:t>refracted </a:t>
            </a:r>
            <a:r>
              <a:rPr lang="en-US" sz="3100" spc="-30" dirty="0">
                <a:latin typeface="Cambria" panose="02040503050406030204" pitchFamily="18" charset="0"/>
                <a:ea typeface="Cambria" panose="02040503050406030204" pitchFamily="18" charset="0"/>
                <a:cs typeface="Cambria"/>
              </a:rPr>
              <a:t>ray </a:t>
            </a:r>
            <a:r>
              <a:rPr lang="en-US" sz="3100" spc="-5" dirty="0">
                <a:latin typeface="Cambria" panose="02040503050406030204" pitchFamily="18" charset="0"/>
                <a:ea typeface="Cambria" panose="02040503050406030204" pitchFamily="18" charset="0"/>
                <a:cs typeface="Cambria"/>
              </a:rPr>
              <a:t>emerges </a:t>
            </a:r>
            <a:r>
              <a:rPr lang="en-US" sz="3100" spc="-10" dirty="0">
                <a:latin typeface="Cambria" panose="02040503050406030204" pitchFamily="18" charset="0"/>
                <a:ea typeface="Cambria" panose="02040503050406030204" pitchFamily="18" charset="0"/>
                <a:cs typeface="Cambria"/>
              </a:rPr>
              <a:t>parallel </a:t>
            </a:r>
            <a:r>
              <a:rPr lang="en-US" sz="3100" spc="-5" dirty="0">
                <a:latin typeface="Cambria" panose="02040503050406030204" pitchFamily="18" charset="0"/>
                <a:ea typeface="Cambria" panose="02040503050406030204" pitchFamily="18" charset="0"/>
                <a:cs typeface="Cambria"/>
              </a:rPr>
              <a:t>to</a:t>
            </a:r>
            <a:r>
              <a:rPr lang="en-US" sz="3100" spc="-195" dirty="0">
                <a:latin typeface="Cambria" panose="02040503050406030204" pitchFamily="18" charset="0"/>
                <a:ea typeface="Cambria" panose="02040503050406030204" pitchFamily="18" charset="0"/>
                <a:cs typeface="Cambria"/>
              </a:rPr>
              <a:t> </a:t>
            </a:r>
            <a:r>
              <a:rPr lang="en-US" sz="3100" spc="-5" dirty="0">
                <a:latin typeface="Cambria" panose="02040503050406030204" pitchFamily="18" charset="0"/>
                <a:ea typeface="Cambria" panose="02040503050406030204" pitchFamily="18" charset="0"/>
                <a:cs typeface="Cambria"/>
              </a:rPr>
              <a:t>the </a:t>
            </a:r>
            <a:r>
              <a:rPr lang="en-US" sz="3100" spc="-10" dirty="0">
                <a:latin typeface="Cambria" panose="02040503050406030204" pitchFamily="18" charset="0"/>
                <a:ea typeface="Cambria" panose="02040503050406030204" pitchFamily="18" charset="0"/>
                <a:cs typeface="Cambria"/>
              </a:rPr>
              <a:t>interface between </a:t>
            </a:r>
            <a:r>
              <a:rPr lang="en-US" sz="3100" spc="-5" dirty="0">
                <a:latin typeface="Cambria" panose="02040503050406030204" pitchFamily="18" charset="0"/>
                <a:ea typeface="Cambria" panose="02040503050406030204" pitchFamily="18" charset="0"/>
                <a:cs typeface="Cambria"/>
              </a:rPr>
              <a:t>the</a:t>
            </a:r>
            <a:r>
              <a:rPr lang="en-US" sz="3100" spc="-25" dirty="0">
                <a:latin typeface="Cambria" panose="02040503050406030204" pitchFamily="18" charset="0"/>
                <a:ea typeface="Cambria" panose="02040503050406030204" pitchFamily="18" charset="0"/>
                <a:cs typeface="Cambria"/>
              </a:rPr>
              <a:t> </a:t>
            </a:r>
            <a:r>
              <a:rPr lang="en-US" sz="3100" spc="-5" dirty="0">
                <a:latin typeface="Cambria" panose="02040503050406030204" pitchFamily="18" charset="0"/>
                <a:ea typeface="Cambria" panose="02040503050406030204" pitchFamily="18" charset="0"/>
                <a:cs typeface="Cambria"/>
              </a:rPr>
              <a:t>media.</a:t>
            </a:r>
            <a:endParaRPr lang="en-US" sz="3100" dirty="0">
              <a:latin typeface="Cambria" panose="02040503050406030204" pitchFamily="18" charset="0"/>
              <a:ea typeface="Cambria" panose="02040503050406030204" pitchFamily="18" charset="0"/>
              <a:cs typeface="Cambria"/>
            </a:endParaRPr>
          </a:p>
          <a:p>
            <a:pPr marL="299720" indent="-274955">
              <a:lnSpc>
                <a:spcPct val="100000"/>
              </a:lnSpc>
              <a:spcBef>
                <a:spcPts val="385"/>
              </a:spcBef>
              <a:buClr>
                <a:srgbClr val="0AD0D9"/>
              </a:buClr>
              <a:buSzPct val="94444"/>
              <a:buFont typeface="Wingdings"/>
              <a:buChar char=""/>
              <a:tabLst>
                <a:tab pos="300355" algn="l"/>
              </a:tabLst>
            </a:pPr>
            <a:endParaRPr lang="en-US" dirty="0">
              <a:latin typeface="Cambria"/>
              <a:cs typeface="Cambria"/>
            </a:endParaRPr>
          </a:p>
          <a:p>
            <a:pPr marL="0" indent="0">
              <a:buNone/>
            </a:pPr>
            <a:r>
              <a:rPr lang="en-US" dirty="0"/>
              <a:t> </a:t>
            </a:r>
          </a:p>
        </p:txBody>
      </p:sp>
      <p:sp>
        <p:nvSpPr>
          <p:cNvPr id="5" name="Slide Number Placeholder 4"/>
          <p:cNvSpPr>
            <a:spLocks noGrp="1"/>
          </p:cNvSpPr>
          <p:nvPr>
            <p:ph type="sldNum" sz="quarter" idx="12"/>
          </p:nvPr>
        </p:nvSpPr>
        <p:spPr/>
        <p:txBody>
          <a:bodyPr/>
          <a:lstStyle/>
          <a:p>
            <a:fld id="{BDCDBBEF-AA6C-4BA6-85B2-A17D7F280E38}" type="slidenum">
              <a:rPr lang="en-US" smtClean="0"/>
              <a:t>14</a:t>
            </a:fld>
            <a:endParaRPr lang="en-US"/>
          </a:p>
        </p:txBody>
      </p:sp>
      <p:sp>
        <p:nvSpPr>
          <p:cNvPr id="9" name="object 6"/>
          <p:cNvSpPr/>
          <p:nvPr/>
        </p:nvSpPr>
        <p:spPr>
          <a:xfrm>
            <a:off x="77788" y="1500188"/>
            <a:ext cx="5105400" cy="3414712"/>
          </a:xfrm>
          <a:prstGeom prst="rect">
            <a:avLst/>
          </a:prstGeom>
          <a:blipFill>
            <a:blip r:embed="rId2" cstate="print"/>
            <a:stretch>
              <a:fillRect/>
            </a:stretch>
          </a:blipFill>
        </p:spPr>
        <p:txBody>
          <a:bodyPr wrap="square" lIns="0" tIns="0" rIns="0" bIns="0" rtlCol="0"/>
          <a:lstStyle/>
          <a:p>
            <a:endParaRPr/>
          </a:p>
        </p:txBody>
      </p:sp>
      <p:sp>
        <p:nvSpPr>
          <p:cNvPr id="10" name="TextBox 9"/>
          <p:cNvSpPr txBox="1"/>
          <p:nvPr/>
        </p:nvSpPr>
        <p:spPr>
          <a:xfrm>
            <a:off x="1045029" y="5410200"/>
            <a:ext cx="3439885" cy="620486"/>
          </a:xfrm>
          <a:prstGeom prst="rect">
            <a:avLst/>
          </a:prstGeom>
          <a:noFill/>
        </p:spPr>
        <p:txBody>
          <a:bodyPr wrap="square" rtlCol="0">
            <a:spAutoFit/>
          </a:bodyPr>
          <a:lstStyle/>
          <a:p>
            <a:endParaRPr lang="en-US" dirty="0"/>
          </a:p>
        </p:txBody>
      </p:sp>
      <p:sp>
        <p:nvSpPr>
          <p:cNvPr id="11" name="object 8"/>
          <p:cNvSpPr/>
          <p:nvPr/>
        </p:nvSpPr>
        <p:spPr>
          <a:xfrm>
            <a:off x="215106" y="5263243"/>
            <a:ext cx="2590800" cy="914400"/>
          </a:xfrm>
          <a:prstGeom prst="rect">
            <a:avLst/>
          </a:prstGeom>
          <a:blipFill>
            <a:blip r:embed="rId3" cstate="print"/>
            <a:stretch>
              <a:fillRect/>
            </a:stretch>
          </a:blipFill>
        </p:spPr>
        <p:txBody>
          <a:bodyPr wrap="square" lIns="0" tIns="0" rIns="0" bIns="0" rtlCol="0"/>
          <a:lstStyle/>
          <a:p>
            <a:endParaRPr/>
          </a:p>
        </p:txBody>
      </p:sp>
      <p:sp>
        <p:nvSpPr>
          <p:cNvPr id="12" name="object 9"/>
          <p:cNvSpPr/>
          <p:nvPr/>
        </p:nvSpPr>
        <p:spPr>
          <a:xfrm>
            <a:off x="2960916" y="5272387"/>
            <a:ext cx="2353922" cy="905256"/>
          </a:xfrm>
          <a:prstGeom prst="rect">
            <a:avLst/>
          </a:prstGeom>
          <a:blipFill>
            <a:blip r:embed="rId4"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676358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197" y="0"/>
            <a:ext cx="7948246" cy="1252026"/>
          </a:xfrm>
        </p:spPr>
        <p:txBody>
          <a:bodyPr>
            <a:normAutofit/>
          </a:bodyPr>
          <a:lstStyle/>
          <a:p>
            <a:r>
              <a:rPr lang="en-US" sz="4400" b="1" spc="-55" dirty="0">
                <a:latin typeface="Cambria"/>
                <a:cs typeface="Cambria"/>
              </a:rPr>
              <a:t>Total </a:t>
            </a:r>
            <a:r>
              <a:rPr lang="en-US" sz="4400" b="1" spc="-10" dirty="0">
                <a:latin typeface="Cambria"/>
                <a:cs typeface="Cambria"/>
              </a:rPr>
              <a:t>internal</a:t>
            </a:r>
            <a:r>
              <a:rPr lang="en-US" sz="4400" b="1" spc="35" dirty="0">
                <a:latin typeface="Cambria"/>
                <a:cs typeface="Cambria"/>
              </a:rPr>
              <a:t> </a:t>
            </a:r>
            <a:r>
              <a:rPr lang="en-US" sz="4400" b="1" spc="-5" dirty="0">
                <a:latin typeface="Cambria"/>
                <a:cs typeface="Cambria"/>
              </a:rPr>
              <a:t>reflection</a:t>
            </a:r>
            <a:br>
              <a:rPr lang="en-US" dirty="0">
                <a:latin typeface="Cambria"/>
                <a:cs typeface="Cambria"/>
              </a:rPr>
            </a:br>
            <a:endParaRPr lang="en-US" dirty="0"/>
          </a:p>
        </p:txBody>
      </p:sp>
      <p:sp>
        <p:nvSpPr>
          <p:cNvPr id="4" name="Text Placeholder 3"/>
          <p:cNvSpPr>
            <a:spLocks noGrp="1"/>
          </p:cNvSpPr>
          <p:nvPr>
            <p:ph type="body" sz="half" idx="2"/>
          </p:nvPr>
        </p:nvSpPr>
        <p:spPr>
          <a:xfrm>
            <a:off x="157163" y="1471613"/>
            <a:ext cx="5143500" cy="5000625"/>
          </a:xfrm>
        </p:spPr>
        <p:txBody>
          <a:bodyPr>
            <a:normAutofit fontScale="32500" lnSpcReduction="20000"/>
          </a:bodyPr>
          <a:lstStyle/>
          <a:p>
            <a:pPr marL="24765">
              <a:lnSpc>
                <a:spcPct val="200000"/>
              </a:lnSpc>
              <a:spcBef>
                <a:spcPts val="1155"/>
              </a:spcBef>
              <a:buClr>
                <a:srgbClr val="0AD0D9"/>
              </a:buClr>
              <a:buSzPct val="95000"/>
              <a:tabLst>
                <a:tab pos="300355" algn="l"/>
                <a:tab pos="2808605" algn="l"/>
                <a:tab pos="3660140" algn="l"/>
              </a:tabLst>
            </a:pPr>
            <a:r>
              <a:rPr lang="en-US" sz="7400" spc="-5" dirty="0">
                <a:latin typeface="Cambria" panose="02040503050406030204" pitchFamily="18" charset="0"/>
                <a:ea typeface="Cambria" panose="02040503050406030204" pitchFamily="18" charset="0"/>
                <a:cs typeface="Cambria"/>
              </a:rPr>
              <a:t>At angles of incidence </a:t>
            </a:r>
            <a:r>
              <a:rPr lang="en-US" sz="7400" b="1" i="1" spc="-20" dirty="0">
                <a:latin typeface="Symbol" panose="05050102010706020507" pitchFamily="18" charset="2"/>
                <a:ea typeface="Cambria" panose="02040503050406030204" pitchFamily="18" charset="0"/>
                <a:cs typeface="Symbol"/>
              </a:rPr>
              <a:t></a:t>
            </a:r>
            <a:r>
              <a:rPr lang="en-US" sz="7400" b="1" i="1" spc="-30" baseline="-21367" dirty="0">
                <a:latin typeface="Cambria" panose="02040503050406030204" pitchFamily="18" charset="0"/>
                <a:ea typeface="Cambria" panose="02040503050406030204" pitchFamily="18" charset="0"/>
                <a:cs typeface="Cambria"/>
              </a:rPr>
              <a:t>1  </a:t>
            </a:r>
            <a:r>
              <a:rPr lang="en-US" sz="7400" b="1" dirty="0">
                <a:latin typeface="Cambria" panose="02040503050406030204" pitchFamily="18" charset="0"/>
                <a:ea typeface="Cambria" panose="02040503050406030204" pitchFamily="18" charset="0"/>
                <a:cs typeface="Cambria"/>
              </a:rPr>
              <a:t>&gt;</a:t>
            </a:r>
            <a:r>
              <a:rPr lang="en-US" sz="7400" b="1" spc="65" dirty="0">
                <a:latin typeface="Cambria" panose="02040503050406030204" pitchFamily="18" charset="0"/>
                <a:ea typeface="Cambria" panose="02040503050406030204" pitchFamily="18" charset="0"/>
                <a:cs typeface="Cambria"/>
              </a:rPr>
              <a:t> </a:t>
            </a:r>
            <a:r>
              <a:rPr lang="en-US" sz="7400" b="1" i="1" spc="-25" dirty="0">
                <a:latin typeface="Symbol" panose="05050102010706020507" pitchFamily="18" charset="2"/>
                <a:ea typeface="Cambria" panose="02040503050406030204" pitchFamily="18" charset="0"/>
                <a:cs typeface="Symbol"/>
              </a:rPr>
              <a:t></a:t>
            </a:r>
            <a:r>
              <a:rPr lang="en-US" sz="7400" b="1" i="1" spc="-37" baseline="-21367" dirty="0">
                <a:latin typeface="Cambria" panose="02040503050406030204" pitchFamily="18" charset="0"/>
                <a:ea typeface="Cambria" panose="02040503050406030204" pitchFamily="18" charset="0"/>
                <a:cs typeface="Cambria"/>
              </a:rPr>
              <a:t>c </a:t>
            </a:r>
            <a:r>
              <a:rPr lang="en-US" sz="7400" b="1" i="1" spc="-37" dirty="0">
                <a:latin typeface="Cambria" panose="02040503050406030204" pitchFamily="18" charset="0"/>
                <a:ea typeface="Cambria" panose="02040503050406030204" pitchFamily="18" charset="0"/>
                <a:cs typeface="Cambria"/>
              </a:rPr>
              <a:t>      </a:t>
            </a:r>
            <a:r>
              <a:rPr lang="en-US" sz="7400" spc="-10" dirty="0">
                <a:latin typeface="Cambria" panose="02040503050406030204" pitchFamily="18" charset="0"/>
                <a:ea typeface="Cambria" panose="02040503050406030204" pitchFamily="18" charset="0"/>
                <a:cs typeface="Cambria"/>
              </a:rPr>
              <a:t>the light is totally reflected </a:t>
            </a:r>
            <a:r>
              <a:rPr lang="en-US" sz="7400" spc="-5" dirty="0">
                <a:latin typeface="Cambria" panose="02040503050406030204" pitchFamily="18" charset="0"/>
                <a:ea typeface="Cambria" panose="02040503050406030204" pitchFamily="18" charset="0"/>
                <a:cs typeface="Cambria"/>
              </a:rPr>
              <a:t>back </a:t>
            </a:r>
            <a:r>
              <a:rPr lang="en-US" sz="7400" spc="-10" dirty="0">
                <a:latin typeface="Cambria" panose="02040503050406030204" pitchFamily="18" charset="0"/>
                <a:ea typeface="Cambria" panose="02040503050406030204" pitchFamily="18" charset="0"/>
                <a:cs typeface="Cambria"/>
              </a:rPr>
              <a:t>into</a:t>
            </a:r>
            <a:r>
              <a:rPr lang="en-US" sz="7400" spc="160" dirty="0">
                <a:latin typeface="Cambria" panose="02040503050406030204" pitchFamily="18" charset="0"/>
                <a:ea typeface="Cambria" panose="02040503050406030204" pitchFamily="18" charset="0"/>
                <a:cs typeface="Cambria"/>
              </a:rPr>
              <a:t> </a:t>
            </a:r>
            <a:r>
              <a:rPr lang="en-US" sz="7400" spc="-5" dirty="0">
                <a:latin typeface="Cambria" panose="02040503050406030204" pitchFamily="18" charset="0"/>
                <a:ea typeface="Cambria" panose="02040503050406030204" pitchFamily="18" charset="0"/>
                <a:cs typeface="Cambria"/>
              </a:rPr>
              <a:t>the</a:t>
            </a:r>
            <a:r>
              <a:rPr lang="en-US" sz="7400" dirty="0">
                <a:latin typeface="Cambria" panose="02040503050406030204" pitchFamily="18" charset="0"/>
                <a:ea typeface="Cambria" panose="02040503050406030204" pitchFamily="18" charset="0"/>
                <a:cs typeface="Cambria"/>
              </a:rPr>
              <a:t> i</a:t>
            </a:r>
            <a:r>
              <a:rPr lang="en-US" sz="7400" spc="-10" dirty="0">
                <a:latin typeface="Cambria" panose="02040503050406030204" pitchFamily="18" charset="0"/>
                <a:ea typeface="Cambria" panose="02040503050406030204" pitchFamily="18" charset="0"/>
                <a:cs typeface="Cambria"/>
              </a:rPr>
              <a:t>n</a:t>
            </a:r>
            <a:r>
              <a:rPr lang="en-US" sz="7400" dirty="0">
                <a:latin typeface="Cambria" panose="02040503050406030204" pitchFamily="18" charset="0"/>
                <a:ea typeface="Cambria" panose="02040503050406030204" pitchFamily="18" charset="0"/>
                <a:cs typeface="Cambria"/>
              </a:rPr>
              <a:t>cidence h</a:t>
            </a:r>
            <a:r>
              <a:rPr lang="en-US" sz="7400" spc="-20" dirty="0">
                <a:latin typeface="Cambria" panose="02040503050406030204" pitchFamily="18" charset="0"/>
                <a:ea typeface="Cambria" panose="02040503050406030204" pitchFamily="18" charset="0"/>
                <a:cs typeface="Cambria"/>
              </a:rPr>
              <a:t>ig</a:t>
            </a:r>
            <a:r>
              <a:rPr lang="en-US" sz="7400" dirty="0">
                <a:latin typeface="Cambria" panose="02040503050406030204" pitchFamily="18" charset="0"/>
                <a:ea typeface="Cambria" panose="02040503050406030204" pitchFamily="18" charset="0"/>
                <a:cs typeface="Cambria"/>
              </a:rPr>
              <a:t>h</a:t>
            </a:r>
            <a:r>
              <a:rPr lang="en-US" sz="7400" spc="-10" dirty="0">
                <a:latin typeface="Cambria" panose="02040503050406030204" pitchFamily="18" charset="0"/>
                <a:ea typeface="Cambria" panose="02040503050406030204" pitchFamily="18" charset="0"/>
                <a:cs typeface="Cambria"/>
              </a:rPr>
              <a:t>e</a:t>
            </a:r>
            <a:r>
              <a:rPr lang="en-US" sz="7400" dirty="0">
                <a:latin typeface="Cambria" panose="02040503050406030204" pitchFamily="18" charset="0"/>
                <a:ea typeface="Cambria" panose="02040503050406030204" pitchFamily="18" charset="0"/>
                <a:cs typeface="Cambria"/>
              </a:rPr>
              <a:t>r </a:t>
            </a:r>
            <a:r>
              <a:rPr lang="en-US" sz="7400" spc="-30" dirty="0">
                <a:latin typeface="Cambria" panose="02040503050406030204" pitchFamily="18" charset="0"/>
                <a:ea typeface="Cambria" panose="02040503050406030204" pitchFamily="18" charset="0"/>
                <a:cs typeface="Cambria"/>
              </a:rPr>
              <a:t>r</a:t>
            </a:r>
            <a:r>
              <a:rPr lang="en-US" sz="7400" spc="-20" dirty="0">
                <a:latin typeface="Cambria" panose="02040503050406030204" pitchFamily="18" charset="0"/>
                <a:ea typeface="Cambria" panose="02040503050406030204" pitchFamily="18" charset="0"/>
                <a:cs typeface="Cambria"/>
              </a:rPr>
              <a:t>e</a:t>
            </a:r>
            <a:r>
              <a:rPr lang="en-US" sz="7400" dirty="0">
                <a:latin typeface="Cambria" panose="02040503050406030204" pitchFamily="18" charset="0"/>
                <a:ea typeface="Cambria" panose="02040503050406030204" pitchFamily="18" charset="0"/>
                <a:cs typeface="Cambria"/>
              </a:rPr>
              <a:t>f</a:t>
            </a:r>
            <a:r>
              <a:rPr lang="en-US" sz="7400" spc="-45" dirty="0">
                <a:latin typeface="Cambria" panose="02040503050406030204" pitchFamily="18" charset="0"/>
                <a:ea typeface="Cambria" panose="02040503050406030204" pitchFamily="18" charset="0"/>
                <a:cs typeface="Cambria"/>
              </a:rPr>
              <a:t>r</a:t>
            </a:r>
            <a:r>
              <a:rPr lang="en-US" sz="7400" dirty="0">
                <a:latin typeface="Cambria" panose="02040503050406030204" pitchFamily="18" charset="0"/>
                <a:ea typeface="Cambria" panose="02040503050406030204" pitchFamily="18" charset="0"/>
                <a:cs typeface="Cambria"/>
              </a:rPr>
              <a:t>a</a:t>
            </a:r>
            <a:r>
              <a:rPr lang="en-US" sz="7400" spc="-10" dirty="0">
                <a:latin typeface="Cambria" panose="02040503050406030204" pitchFamily="18" charset="0"/>
                <a:ea typeface="Cambria" panose="02040503050406030204" pitchFamily="18" charset="0"/>
                <a:cs typeface="Cambria"/>
              </a:rPr>
              <a:t>c</a:t>
            </a:r>
            <a:r>
              <a:rPr lang="en-US" sz="7400" dirty="0">
                <a:latin typeface="Cambria" panose="02040503050406030204" pitchFamily="18" charset="0"/>
                <a:ea typeface="Cambria" panose="02040503050406030204" pitchFamily="18" charset="0"/>
                <a:cs typeface="Cambria"/>
              </a:rPr>
              <a:t>t</a:t>
            </a:r>
            <a:r>
              <a:rPr lang="en-US" sz="7400" spc="-45" dirty="0">
                <a:latin typeface="Cambria" panose="02040503050406030204" pitchFamily="18" charset="0"/>
                <a:ea typeface="Cambria" panose="02040503050406030204" pitchFamily="18" charset="0"/>
                <a:cs typeface="Cambria"/>
              </a:rPr>
              <a:t>i</a:t>
            </a:r>
            <a:r>
              <a:rPr lang="en-US" sz="7400" spc="-40" dirty="0">
                <a:latin typeface="Cambria" panose="02040503050406030204" pitchFamily="18" charset="0"/>
                <a:ea typeface="Cambria" panose="02040503050406030204" pitchFamily="18" charset="0"/>
                <a:cs typeface="Cambria"/>
              </a:rPr>
              <a:t>v</a:t>
            </a:r>
            <a:r>
              <a:rPr lang="en-US" sz="7400" dirty="0">
                <a:latin typeface="Cambria" panose="02040503050406030204" pitchFamily="18" charset="0"/>
                <a:ea typeface="Cambria" panose="02040503050406030204" pitchFamily="18" charset="0"/>
                <a:cs typeface="Cambria"/>
              </a:rPr>
              <a:t>e i</a:t>
            </a:r>
            <a:r>
              <a:rPr lang="en-US" sz="7400" spc="-10" dirty="0">
                <a:latin typeface="Cambria" panose="02040503050406030204" pitchFamily="18" charset="0"/>
                <a:ea typeface="Cambria" panose="02040503050406030204" pitchFamily="18" charset="0"/>
                <a:cs typeface="Cambria"/>
              </a:rPr>
              <a:t>n</a:t>
            </a:r>
            <a:r>
              <a:rPr lang="en-US" sz="7400" dirty="0">
                <a:latin typeface="Cambria" panose="02040503050406030204" pitchFamily="18" charset="0"/>
                <a:ea typeface="Cambria" panose="02040503050406030204" pitchFamily="18" charset="0"/>
                <a:cs typeface="Cambria"/>
              </a:rPr>
              <a:t>d</a:t>
            </a:r>
            <a:r>
              <a:rPr lang="en-US" sz="7400" spc="-40" dirty="0">
                <a:latin typeface="Cambria" panose="02040503050406030204" pitchFamily="18" charset="0"/>
                <a:ea typeface="Cambria" panose="02040503050406030204" pitchFamily="18" charset="0"/>
                <a:cs typeface="Cambria"/>
              </a:rPr>
              <a:t>e</a:t>
            </a:r>
            <a:r>
              <a:rPr lang="en-US" sz="7400" dirty="0">
                <a:latin typeface="Cambria" panose="02040503050406030204" pitchFamily="18" charset="0"/>
                <a:ea typeface="Cambria" panose="02040503050406030204" pitchFamily="18" charset="0"/>
                <a:cs typeface="Cambria"/>
              </a:rPr>
              <a:t>x </a:t>
            </a:r>
            <a:r>
              <a:rPr lang="en-US" sz="7400" spc="-5" dirty="0">
                <a:latin typeface="Cambria" panose="02040503050406030204" pitchFamily="18" charset="0"/>
                <a:ea typeface="Cambria" panose="02040503050406030204" pitchFamily="18" charset="0"/>
                <a:cs typeface="Cambria"/>
              </a:rPr>
              <a:t>med</a:t>
            </a:r>
            <a:r>
              <a:rPr lang="en-US" sz="7400" spc="-20" dirty="0">
                <a:latin typeface="Cambria" panose="02040503050406030204" pitchFamily="18" charset="0"/>
                <a:ea typeface="Cambria" panose="02040503050406030204" pitchFamily="18" charset="0"/>
                <a:cs typeface="Cambria"/>
              </a:rPr>
              <a:t>i</a:t>
            </a:r>
            <a:r>
              <a:rPr lang="en-US" sz="7400" spc="-5" dirty="0">
                <a:latin typeface="Cambria" panose="02040503050406030204" pitchFamily="18" charset="0"/>
                <a:ea typeface="Cambria" panose="02040503050406030204" pitchFamily="18" charset="0"/>
                <a:cs typeface="Cambria"/>
              </a:rPr>
              <a:t>um</a:t>
            </a:r>
            <a:r>
              <a:rPr lang="en-US" sz="7400" dirty="0">
                <a:latin typeface="Cambria" panose="02040503050406030204" pitchFamily="18" charset="0"/>
                <a:ea typeface="Cambria" panose="02040503050406030204" pitchFamily="18" charset="0"/>
                <a:cs typeface="Cambria"/>
              </a:rPr>
              <a:t>.  Th</a:t>
            </a:r>
            <a:r>
              <a:rPr lang="en-US" sz="7400" spc="-20" dirty="0">
                <a:latin typeface="Cambria" panose="02040503050406030204" pitchFamily="18" charset="0"/>
                <a:ea typeface="Cambria" panose="02040503050406030204" pitchFamily="18" charset="0"/>
                <a:cs typeface="Cambria"/>
              </a:rPr>
              <a:t>i</a:t>
            </a:r>
            <a:r>
              <a:rPr lang="en-US" sz="7400" dirty="0">
                <a:latin typeface="Cambria" panose="02040503050406030204" pitchFamily="18" charset="0"/>
                <a:ea typeface="Cambria" panose="02040503050406030204" pitchFamily="18" charset="0"/>
                <a:cs typeface="Cambria"/>
              </a:rPr>
              <a:t>s </a:t>
            </a:r>
            <a:r>
              <a:rPr lang="en-US" sz="7400" spc="-5" dirty="0">
                <a:latin typeface="Cambria" panose="02040503050406030204" pitchFamily="18" charset="0"/>
                <a:ea typeface="Cambria" panose="02040503050406030204" pitchFamily="18" charset="0"/>
                <a:cs typeface="Cambria"/>
              </a:rPr>
              <a:t>i</a:t>
            </a:r>
            <a:r>
              <a:rPr lang="en-US" sz="7400" dirty="0">
                <a:latin typeface="Cambria" panose="02040503050406030204" pitchFamily="18" charset="0"/>
                <a:ea typeface="Cambria" panose="02040503050406030204" pitchFamily="18" charset="0"/>
                <a:cs typeface="Cambria"/>
              </a:rPr>
              <a:t>s </a:t>
            </a:r>
            <a:r>
              <a:rPr lang="en-US" sz="7400" spc="-5" dirty="0">
                <a:latin typeface="Cambria" panose="02040503050406030204" pitchFamily="18" charset="0"/>
                <a:ea typeface="Cambria" panose="02040503050406030204" pitchFamily="18" charset="0"/>
                <a:cs typeface="Cambria"/>
              </a:rPr>
              <a:t>kno</a:t>
            </a:r>
            <a:r>
              <a:rPr lang="en-US" sz="7400" spc="-10" dirty="0">
                <a:latin typeface="Cambria" panose="02040503050406030204" pitchFamily="18" charset="0"/>
                <a:ea typeface="Cambria" panose="02040503050406030204" pitchFamily="18" charset="0"/>
                <a:cs typeface="Cambria"/>
              </a:rPr>
              <a:t>w</a:t>
            </a:r>
            <a:r>
              <a:rPr lang="en-US" sz="7400" dirty="0">
                <a:latin typeface="Cambria" panose="02040503050406030204" pitchFamily="18" charset="0"/>
                <a:ea typeface="Cambria" panose="02040503050406030204" pitchFamily="18" charset="0"/>
                <a:cs typeface="Cambria"/>
              </a:rPr>
              <a:t>n </a:t>
            </a:r>
            <a:r>
              <a:rPr lang="en-US" sz="7400" spc="-5" dirty="0">
                <a:latin typeface="Cambria" panose="02040503050406030204" pitchFamily="18" charset="0"/>
                <a:ea typeface="Cambria" panose="02040503050406030204" pitchFamily="18" charset="0"/>
                <a:cs typeface="Cambria"/>
              </a:rPr>
              <a:t>a</a:t>
            </a:r>
            <a:r>
              <a:rPr lang="en-US" sz="7400" dirty="0">
                <a:latin typeface="Cambria" panose="02040503050406030204" pitchFamily="18" charset="0"/>
                <a:ea typeface="Cambria" panose="02040503050406030204" pitchFamily="18" charset="0"/>
                <a:cs typeface="Cambria"/>
              </a:rPr>
              <a:t>s </a:t>
            </a:r>
            <a:r>
              <a:rPr lang="en-US" sz="7400" b="1" spc="-25" dirty="0">
                <a:latin typeface="Cambria" panose="02040503050406030204" pitchFamily="18" charset="0"/>
                <a:ea typeface="Cambria" panose="02040503050406030204" pitchFamily="18" charset="0"/>
                <a:cs typeface="Cambria"/>
              </a:rPr>
              <a:t>t</a:t>
            </a:r>
            <a:r>
              <a:rPr lang="en-US" sz="7400" b="1" spc="-15" dirty="0">
                <a:latin typeface="Cambria" panose="02040503050406030204" pitchFamily="18" charset="0"/>
                <a:ea typeface="Cambria" panose="02040503050406030204" pitchFamily="18" charset="0"/>
                <a:cs typeface="Cambria"/>
              </a:rPr>
              <a:t>o</a:t>
            </a:r>
            <a:r>
              <a:rPr lang="en-US" sz="7400" b="1" spc="-5" dirty="0">
                <a:latin typeface="Cambria" panose="02040503050406030204" pitchFamily="18" charset="0"/>
                <a:ea typeface="Cambria" panose="02040503050406030204" pitchFamily="18" charset="0"/>
                <a:cs typeface="Cambria"/>
              </a:rPr>
              <a:t>tal  internal</a:t>
            </a:r>
            <a:r>
              <a:rPr lang="en-US" sz="7400" b="1" spc="-30" dirty="0">
                <a:latin typeface="Cambria" panose="02040503050406030204" pitchFamily="18" charset="0"/>
                <a:ea typeface="Cambria" panose="02040503050406030204" pitchFamily="18" charset="0"/>
                <a:cs typeface="Cambria"/>
              </a:rPr>
              <a:t> </a:t>
            </a:r>
            <a:r>
              <a:rPr lang="en-US" sz="7400" b="1" spc="-5" dirty="0">
                <a:latin typeface="Cambria" panose="02040503050406030204" pitchFamily="18" charset="0"/>
                <a:ea typeface="Cambria" panose="02040503050406030204" pitchFamily="18" charset="0"/>
                <a:cs typeface="Cambria"/>
              </a:rPr>
              <a:t>reflection.</a:t>
            </a:r>
            <a:endParaRPr lang="en-US" sz="7400" dirty="0">
              <a:latin typeface="Cambria" panose="02040503050406030204" pitchFamily="18" charset="0"/>
              <a:ea typeface="Cambria" panose="02040503050406030204" pitchFamily="18" charset="0"/>
              <a:cs typeface="Cambria"/>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15</a:t>
            </a:fld>
            <a:endParaRPr lang="en-US"/>
          </a:p>
        </p:txBody>
      </p:sp>
      <p:sp>
        <p:nvSpPr>
          <p:cNvPr id="6" name="object 4"/>
          <p:cNvSpPr/>
          <p:nvPr/>
        </p:nvSpPr>
        <p:spPr>
          <a:xfrm>
            <a:off x="5495925" y="1512888"/>
            <a:ext cx="5857875" cy="484346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390493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t>16</a:t>
            </a:fld>
            <a:endParaRPr lang="en-US"/>
          </a:p>
        </p:txBody>
      </p:sp>
      <p:sp>
        <p:nvSpPr>
          <p:cNvPr id="6" name="object 3"/>
          <p:cNvSpPr txBox="1"/>
          <p:nvPr/>
        </p:nvSpPr>
        <p:spPr>
          <a:xfrm>
            <a:off x="984738" y="942535"/>
            <a:ext cx="9084548" cy="5831083"/>
          </a:xfrm>
          <a:prstGeom prst="rect">
            <a:avLst/>
          </a:prstGeom>
        </p:spPr>
        <p:txBody>
          <a:bodyPr vert="horz" wrap="square" lIns="0" tIns="57150" rIns="0" bIns="0" rtlCol="0">
            <a:spAutoFit/>
          </a:bodyPr>
          <a:lstStyle/>
          <a:p>
            <a:pPr marL="354965" indent="-342900">
              <a:lnSpc>
                <a:spcPct val="100000"/>
              </a:lnSpc>
              <a:spcBef>
                <a:spcPts val="275"/>
              </a:spcBef>
              <a:buClr>
                <a:srgbClr val="0AD0D9"/>
              </a:buClr>
              <a:buSzPct val="95454"/>
              <a:buFont typeface="Arial" panose="020B0604020202020204" pitchFamily="34" charset="0"/>
              <a:buChar char="•"/>
              <a:tabLst>
                <a:tab pos="287655" algn="l"/>
              </a:tabLst>
            </a:pPr>
            <a:r>
              <a:rPr sz="2400" spc="-5" dirty="0">
                <a:latin typeface="Cambria" panose="02040503050406030204" pitchFamily="18" charset="0"/>
                <a:ea typeface="Cambria" panose="02040503050406030204" pitchFamily="18" charset="0"/>
                <a:cs typeface="Cambria"/>
              </a:rPr>
              <a:t>Air</a:t>
            </a:r>
            <a:r>
              <a:rPr sz="2400" spc="15"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-----------------------------------------------------------------------1.0</a:t>
            </a:r>
            <a:r>
              <a:rPr lang="en-US" sz="2400" spc="-10" dirty="0">
                <a:latin typeface="Cambria" panose="02040503050406030204" pitchFamily="18" charset="0"/>
                <a:ea typeface="Cambria" panose="02040503050406030204" pitchFamily="18" charset="0"/>
                <a:cs typeface="Cambria"/>
              </a:rPr>
              <a:t>0</a:t>
            </a:r>
            <a:endParaRPr sz="2400" dirty="0">
              <a:latin typeface="Cambria" panose="02040503050406030204" pitchFamily="18" charset="0"/>
              <a:ea typeface="Cambria" panose="02040503050406030204" pitchFamily="18" charset="0"/>
              <a:cs typeface="Cambria"/>
            </a:endParaRPr>
          </a:p>
          <a:p>
            <a:pPr marL="354965" indent="-342900">
              <a:lnSpc>
                <a:spcPct val="100000"/>
              </a:lnSpc>
              <a:spcBef>
                <a:spcPts val="265"/>
              </a:spcBef>
              <a:buClr>
                <a:srgbClr val="0AD0D9"/>
              </a:buClr>
              <a:buSzPct val="93181"/>
              <a:buFont typeface="Arial" panose="020B0604020202020204" pitchFamily="34" charset="0"/>
              <a:buChar char="•"/>
              <a:tabLst>
                <a:tab pos="287655" algn="l"/>
              </a:tabLst>
            </a:pPr>
            <a:r>
              <a:rPr sz="2400" spc="-30" dirty="0">
                <a:latin typeface="Cambria" panose="02040503050406030204" pitchFamily="18" charset="0"/>
                <a:ea typeface="Cambria" panose="02040503050406030204" pitchFamily="18" charset="0"/>
                <a:cs typeface="Cambria"/>
              </a:rPr>
              <a:t>Water</a:t>
            </a:r>
            <a:r>
              <a:rPr sz="2400" spc="30"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a:t>
            </a:r>
            <a:r>
              <a:rPr lang="en-US" sz="2400" spc="-10" dirty="0">
                <a:latin typeface="Cambria" panose="02040503050406030204" pitchFamily="18" charset="0"/>
                <a:ea typeface="Cambria" panose="02040503050406030204" pitchFamily="18" charset="0"/>
                <a:cs typeface="Cambria"/>
              </a:rPr>
              <a:t>-</a:t>
            </a:r>
            <a:r>
              <a:rPr sz="2400" spc="-10" dirty="0">
                <a:latin typeface="Cambria" panose="02040503050406030204" pitchFamily="18" charset="0"/>
                <a:ea typeface="Cambria" panose="02040503050406030204" pitchFamily="18" charset="0"/>
                <a:cs typeface="Cambria"/>
              </a:rPr>
              <a:t>1.33</a:t>
            </a:r>
            <a:endParaRPr sz="2400" dirty="0">
              <a:latin typeface="Cambria" panose="02040503050406030204" pitchFamily="18" charset="0"/>
              <a:ea typeface="Cambria" panose="02040503050406030204" pitchFamily="18" charset="0"/>
              <a:cs typeface="Cambria"/>
            </a:endParaRPr>
          </a:p>
          <a:p>
            <a:pPr marL="354965" indent="-342900">
              <a:lnSpc>
                <a:spcPct val="100000"/>
              </a:lnSpc>
              <a:spcBef>
                <a:spcPts val="265"/>
              </a:spcBef>
              <a:buClr>
                <a:srgbClr val="0AD0D9"/>
              </a:buClr>
              <a:buSzPct val="93181"/>
              <a:buFont typeface="Arial" panose="020B0604020202020204" pitchFamily="34" charset="0"/>
              <a:buChar char="•"/>
              <a:tabLst>
                <a:tab pos="287655" algn="l"/>
              </a:tabLst>
            </a:pPr>
            <a:r>
              <a:rPr sz="2400" spc="-10" dirty="0">
                <a:latin typeface="Cambria" panose="02040503050406030204" pitchFamily="18" charset="0"/>
                <a:ea typeface="Cambria" panose="02040503050406030204" pitchFamily="18" charset="0"/>
                <a:cs typeface="Cambria"/>
              </a:rPr>
              <a:t>Magnesium </a:t>
            </a:r>
            <a:r>
              <a:rPr sz="2400" spc="-5" dirty="0">
                <a:latin typeface="Cambria" panose="02040503050406030204" pitchFamily="18" charset="0"/>
                <a:ea typeface="Cambria" panose="02040503050406030204" pitchFamily="18" charset="0"/>
                <a:cs typeface="Cambria"/>
              </a:rPr>
              <a:t>fluoride</a:t>
            </a:r>
            <a:r>
              <a:rPr sz="2400" spc="90"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a:t>
            </a:r>
            <a:r>
              <a:rPr lang="en-US" sz="2400" spc="-10" dirty="0">
                <a:latin typeface="Cambria" panose="02040503050406030204" pitchFamily="18" charset="0"/>
                <a:ea typeface="Cambria" panose="02040503050406030204" pitchFamily="18" charset="0"/>
                <a:cs typeface="Cambria"/>
              </a:rPr>
              <a:t>-</a:t>
            </a:r>
            <a:r>
              <a:rPr sz="2400" spc="-10" dirty="0">
                <a:latin typeface="Cambria" panose="02040503050406030204" pitchFamily="18" charset="0"/>
                <a:ea typeface="Cambria" panose="02040503050406030204" pitchFamily="18" charset="0"/>
                <a:cs typeface="Cambria"/>
              </a:rPr>
              <a:t>1.38</a:t>
            </a:r>
            <a:endParaRPr sz="2400" dirty="0">
              <a:latin typeface="Cambria" panose="02040503050406030204" pitchFamily="18" charset="0"/>
              <a:ea typeface="Cambria" panose="02040503050406030204" pitchFamily="18" charset="0"/>
              <a:cs typeface="Cambria"/>
            </a:endParaRPr>
          </a:p>
          <a:p>
            <a:pPr marL="354965" indent="-342900">
              <a:lnSpc>
                <a:spcPct val="100000"/>
              </a:lnSpc>
              <a:spcBef>
                <a:spcPts val="265"/>
              </a:spcBef>
              <a:buClr>
                <a:srgbClr val="0AD0D9"/>
              </a:buClr>
              <a:buSzPct val="93181"/>
              <a:buFont typeface="Arial" panose="020B0604020202020204" pitchFamily="34" charset="0"/>
              <a:buChar char="•"/>
              <a:tabLst>
                <a:tab pos="287655" algn="l"/>
              </a:tabLst>
            </a:pPr>
            <a:r>
              <a:rPr sz="2400" spc="-15" dirty="0">
                <a:latin typeface="Cambria" panose="02040503050406030204" pitchFamily="18" charset="0"/>
                <a:ea typeface="Cambria" panose="02040503050406030204" pitchFamily="18" charset="0"/>
                <a:cs typeface="Cambria"/>
              </a:rPr>
              <a:t>Fused </a:t>
            </a:r>
            <a:r>
              <a:rPr sz="2400" spc="-5" dirty="0">
                <a:latin typeface="Cambria" panose="02040503050406030204" pitchFamily="18" charset="0"/>
                <a:ea typeface="Cambria" panose="02040503050406030204" pitchFamily="18" charset="0"/>
                <a:cs typeface="Cambria"/>
              </a:rPr>
              <a:t>silica</a:t>
            </a:r>
            <a:r>
              <a:rPr sz="2400" spc="65"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(SiO</a:t>
            </a:r>
            <a:r>
              <a:rPr sz="2400" spc="-10" baseline="-25000" dirty="0">
                <a:latin typeface="Cambria" panose="02040503050406030204" pitchFamily="18" charset="0"/>
                <a:ea typeface="Cambria" panose="02040503050406030204" pitchFamily="18" charset="0"/>
                <a:cs typeface="Cambria"/>
              </a:rPr>
              <a:t>2</a:t>
            </a:r>
            <a:r>
              <a:rPr sz="2400" spc="-10" dirty="0">
                <a:latin typeface="Cambria" panose="02040503050406030204" pitchFamily="18" charset="0"/>
                <a:ea typeface="Cambria" panose="02040503050406030204" pitchFamily="18" charset="0"/>
                <a:cs typeface="Cambria"/>
              </a:rPr>
              <a:t>)----------------------------------------------------</a:t>
            </a:r>
            <a:r>
              <a:rPr lang="en-US" sz="2400" spc="-10" dirty="0">
                <a:latin typeface="Cambria" panose="02040503050406030204" pitchFamily="18" charset="0"/>
                <a:ea typeface="Cambria" panose="02040503050406030204" pitchFamily="18" charset="0"/>
                <a:cs typeface="Cambria"/>
              </a:rPr>
              <a:t>-</a:t>
            </a:r>
            <a:r>
              <a:rPr sz="2400" spc="-10" dirty="0">
                <a:latin typeface="Cambria" panose="02040503050406030204" pitchFamily="18" charset="0"/>
                <a:ea typeface="Cambria" panose="02040503050406030204" pitchFamily="18" charset="0"/>
                <a:cs typeface="Cambria"/>
              </a:rPr>
              <a:t>1.46</a:t>
            </a:r>
            <a:endParaRPr sz="2400" dirty="0">
              <a:latin typeface="Cambria" panose="02040503050406030204" pitchFamily="18" charset="0"/>
              <a:ea typeface="Cambria" panose="02040503050406030204" pitchFamily="18" charset="0"/>
              <a:cs typeface="Cambria"/>
            </a:endParaRPr>
          </a:p>
          <a:p>
            <a:pPr marL="354965" indent="-342900">
              <a:lnSpc>
                <a:spcPct val="100000"/>
              </a:lnSpc>
              <a:spcBef>
                <a:spcPts val="265"/>
              </a:spcBef>
              <a:buClr>
                <a:srgbClr val="0AD0D9"/>
              </a:buClr>
              <a:buSzPct val="95454"/>
              <a:buFont typeface="Arial" panose="020B0604020202020204" pitchFamily="34" charset="0"/>
              <a:buChar char="•"/>
              <a:tabLst>
                <a:tab pos="287655" algn="l"/>
              </a:tabLst>
            </a:pPr>
            <a:r>
              <a:rPr sz="2400" spc="-10" dirty="0">
                <a:latin typeface="Cambria" panose="02040503050406030204" pitchFamily="18" charset="0"/>
                <a:ea typeface="Cambria" panose="02040503050406030204" pitchFamily="18" charset="0"/>
                <a:cs typeface="Cambria"/>
              </a:rPr>
              <a:t>Sapphire</a:t>
            </a:r>
            <a:r>
              <a:rPr sz="2400" spc="25"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(Al</a:t>
            </a:r>
            <a:r>
              <a:rPr sz="2400" spc="-10" baseline="-25000" dirty="0">
                <a:latin typeface="Cambria" panose="02040503050406030204" pitchFamily="18" charset="0"/>
                <a:ea typeface="Cambria" panose="02040503050406030204" pitchFamily="18" charset="0"/>
                <a:cs typeface="Cambria"/>
              </a:rPr>
              <a:t>2</a:t>
            </a:r>
            <a:r>
              <a:rPr sz="2400" spc="-10" dirty="0">
                <a:latin typeface="Cambria" panose="02040503050406030204" pitchFamily="18" charset="0"/>
                <a:ea typeface="Cambria" panose="02040503050406030204" pitchFamily="18" charset="0"/>
                <a:cs typeface="Cambria"/>
              </a:rPr>
              <a:t>O</a:t>
            </a:r>
            <a:r>
              <a:rPr sz="2400" spc="-10" baseline="-25000" dirty="0">
                <a:latin typeface="Cambria" panose="02040503050406030204" pitchFamily="18" charset="0"/>
                <a:ea typeface="Cambria" panose="02040503050406030204" pitchFamily="18" charset="0"/>
                <a:cs typeface="Cambria"/>
              </a:rPr>
              <a:t>3</a:t>
            </a:r>
            <a:r>
              <a:rPr sz="2400" spc="-10" dirty="0">
                <a:latin typeface="Cambria" panose="02040503050406030204" pitchFamily="18" charset="0"/>
                <a:ea typeface="Cambria" panose="02040503050406030204" pitchFamily="18" charset="0"/>
                <a:cs typeface="Cambria"/>
              </a:rPr>
              <a:t>)------------------------------------------------------</a:t>
            </a:r>
            <a:r>
              <a:rPr lang="en-US" sz="2400" spc="-10" dirty="0">
                <a:latin typeface="Cambria" panose="02040503050406030204" pitchFamily="18" charset="0"/>
                <a:ea typeface="Cambria" panose="02040503050406030204" pitchFamily="18" charset="0"/>
                <a:cs typeface="Cambria"/>
              </a:rPr>
              <a:t>-</a:t>
            </a:r>
            <a:r>
              <a:rPr sz="2400" spc="-10" dirty="0">
                <a:latin typeface="Cambria" panose="02040503050406030204" pitchFamily="18" charset="0"/>
                <a:ea typeface="Cambria" panose="02040503050406030204" pitchFamily="18" charset="0"/>
                <a:cs typeface="Cambria"/>
              </a:rPr>
              <a:t>1.8</a:t>
            </a:r>
            <a:r>
              <a:rPr lang="en-US" sz="2400" spc="-10" dirty="0">
                <a:latin typeface="Cambria" panose="02040503050406030204" pitchFamily="18" charset="0"/>
                <a:ea typeface="Cambria" panose="02040503050406030204" pitchFamily="18" charset="0"/>
                <a:cs typeface="Cambria"/>
              </a:rPr>
              <a:t>0</a:t>
            </a:r>
            <a:endParaRPr sz="2400" dirty="0">
              <a:latin typeface="Cambria" panose="02040503050406030204" pitchFamily="18" charset="0"/>
              <a:ea typeface="Cambria" panose="02040503050406030204" pitchFamily="18" charset="0"/>
              <a:cs typeface="Cambria"/>
            </a:endParaRPr>
          </a:p>
          <a:p>
            <a:pPr marL="354965" indent="-342900">
              <a:lnSpc>
                <a:spcPct val="100000"/>
              </a:lnSpc>
              <a:spcBef>
                <a:spcPts val="265"/>
              </a:spcBef>
              <a:buClr>
                <a:srgbClr val="0AD0D9"/>
              </a:buClr>
              <a:buSzPct val="93181"/>
              <a:buFont typeface="Arial" panose="020B0604020202020204" pitchFamily="34" charset="0"/>
              <a:buChar char="•"/>
              <a:tabLst>
                <a:tab pos="287655" algn="l"/>
              </a:tabLst>
            </a:pPr>
            <a:r>
              <a:rPr sz="2400" spc="-5" dirty="0">
                <a:latin typeface="Cambria" panose="02040503050406030204" pitchFamily="18" charset="0"/>
                <a:ea typeface="Cambria" panose="02040503050406030204" pitchFamily="18" charset="0"/>
                <a:cs typeface="Cambria"/>
              </a:rPr>
              <a:t>Lithium </a:t>
            </a:r>
            <a:r>
              <a:rPr sz="2400" spc="-10" dirty="0">
                <a:latin typeface="Cambria" panose="02040503050406030204" pitchFamily="18" charset="0"/>
                <a:ea typeface="Cambria" panose="02040503050406030204" pitchFamily="18" charset="0"/>
                <a:cs typeface="Cambria"/>
              </a:rPr>
              <a:t>niobate</a:t>
            </a:r>
            <a:r>
              <a:rPr sz="2400" spc="60"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(LiNbO</a:t>
            </a:r>
            <a:r>
              <a:rPr sz="2400" spc="-10" baseline="-25000" dirty="0">
                <a:latin typeface="Cambria" panose="02040503050406030204" pitchFamily="18" charset="0"/>
                <a:ea typeface="Cambria" panose="02040503050406030204" pitchFamily="18" charset="0"/>
                <a:cs typeface="Cambria"/>
              </a:rPr>
              <a:t>3</a:t>
            </a:r>
            <a:r>
              <a:rPr sz="2400" spc="-10" dirty="0">
                <a:latin typeface="Cambria" panose="02040503050406030204" pitchFamily="18" charset="0"/>
                <a:ea typeface="Cambria" panose="02040503050406030204" pitchFamily="18" charset="0"/>
                <a:cs typeface="Cambria"/>
              </a:rPr>
              <a:t>)-------------------------------------------</a:t>
            </a:r>
            <a:r>
              <a:rPr lang="en-US" sz="2400" spc="-10" dirty="0">
                <a:latin typeface="Cambria" panose="02040503050406030204" pitchFamily="18" charset="0"/>
                <a:ea typeface="Cambria" panose="02040503050406030204" pitchFamily="18" charset="0"/>
                <a:cs typeface="Cambria"/>
              </a:rPr>
              <a:t>-</a:t>
            </a:r>
            <a:r>
              <a:rPr sz="2400" spc="-10" dirty="0">
                <a:latin typeface="Cambria" panose="02040503050406030204" pitchFamily="18" charset="0"/>
                <a:ea typeface="Cambria" panose="02040503050406030204" pitchFamily="18" charset="0"/>
                <a:cs typeface="Cambria"/>
              </a:rPr>
              <a:t>2.25</a:t>
            </a:r>
            <a:endParaRPr sz="2400" dirty="0">
              <a:latin typeface="Cambria" panose="02040503050406030204" pitchFamily="18" charset="0"/>
              <a:ea typeface="Cambria" panose="02040503050406030204" pitchFamily="18" charset="0"/>
              <a:cs typeface="Cambria"/>
            </a:endParaRPr>
          </a:p>
          <a:p>
            <a:pPr marL="354965" indent="-342900">
              <a:lnSpc>
                <a:spcPct val="100000"/>
              </a:lnSpc>
              <a:spcBef>
                <a:spcPts val="265"/>
              </a:spcBef>
              <a:buClr>
                <a:srgbClr val="0AD0D9"/>
              </a:buClr>
              <a:buSzPct val="93181"/>
              <a:buFont typeface="Arial" panose="020B0604020202020204" pitchFamily="34" charset="0"/>
              <a:buChar char="•"/>
              <a:tabLst>
                <a:tab pos="287655" algn="l"/>
              </a:tabLst>
            </a:pPr>
            <a:r>
              <a:rPr sz="2400" spc="-10" dirty="0">
                <a:latin typeface="Cambria" panose="02040503050406030204" pitchFamily="18" charset="0"/>
                <a:ea typeface="Cambria" panose="02040503050406030204" pitchFamily="18" charset="0"/>
                <a:cs typeface="Cambria"/>
              </a:rPr>
              <a:t>Indium </a:t>
            </a:r>
            <a:r>
              <a:rPr sz="2400" spc="-5" dirty="0">
                <a:latin typeface="Cambria" panose="02040503050406030204" pitchFamily="18" charset="0"/>
                <a:ea typeface="Cambria" panose="02040503050406030204" pitchFamily="18" charset="0"/>
                <a:cs typeface="Cambria"/>
              </a:rPr>
              <a:t>phosphide</a:t>
            </a:r>
            <a:r>
              <a:rPr sz="2400" spc="65"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(InP)----------------------------------------------3.21</a:t>
            </a:r>
            <a:endParaRPr sz="2400" dirty="0">
              <a:latin typeface="Cambria" panose="02040503050406030204" pitchFamily="18" charset="0"/>
              <a:ea typeface="Cambria" panose="02040503050406030204" pitchFamily="18" charset="0"/>
              <a:cs typeface="Cambria"/>
            </a:endParaRPr>
          </a:p>
          <a:p>
            <a:pPr marL="354965" indent="-342900">
              <a:lnSpc>
                <a:spcPct val="100000"/>
              </a:lnSpc>
              <a:spcBef>
                <a:spcPts val="265"/>
              </a:spcBef>
              <a:buClr>
                <a:srgbClr val="0AD0D9"/>
              </a:buClr>
              <a:buSzPct val="93181"/>
              <a:buFont typeface="Arial" panose="020B0604020202020204" pitchFamily="34" charset="0"/>
              <a:buChar char="•"/>
              <a:tabLst>
                <a:tab pos="287655" algn="l"/>
              </a:tabLst>
            </a:pPr>
            <a:r>
              <a:rPr sz="2400" spc="-5" dirty="0">
                <a:latin typeface="Cambria" panose="02040503050406030204" pitchFamily="18" charset="0"/>
                <a:ea typeface="Cambria" panose="02040503050406030204" pitchFamily="18" charset="0"/>
                <a:cs typeface="Cambria"/>
              </a:rPr>
              <a:t>Gallium </a:t>
            </a:r>
            <a:r>
              <a:rPr sz="2400" spc="-10" dirty="0">
                <a:latin typeface="Cambria" panose="02040503050406030204" pitchFamily="18" charset="0"/>
                <a:ea typeface="Cambria" panose="02040503050406030204" pitchFamily="18" charset="0"/>
                <a:cs typeface="Cambria"/>
              </a:rPr>
              <a:t>arsenide </a:t>
            </a:r>
            <a:r>
              <a:rPr sz="2400" spc="-5" dirty="0">
                <a:latin typeface="Cambria" panose="02040503050406030204" pitchFamily="18" charset="0"/>
                <a:ea typeface="Cambria" panose="02040503050406030204" pitchFamily="18" charset="0"/>
                <a:cs typeface="Cambria"/>
              </a:rPr>
              <a:t>(GaAs)</a:t>
            </a:r>
            <a:r>
              <a:rPr sz="2400" spc="110"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---------------------------------------------3.35</a:t>
            </a:r>
            <a:endParaRPr sz="2400" dirty="0">
              <a:latin typeface="Cambria" panose="02040503050406030204" pitchFamily="18" charset="0"/>
              <a:ea typeface="Cambria" panose="02040503050406030204" pitchFamily="18" charset="0"/>
              <a:cs typeface="Cambria"/>
            </a:endParaRPr>
          </a:p>
          <a:p>
            <a:pPr marL="354965" indent="-342900">
              <a:lnSpc>
                <a:spcPct val="100000"/>
              </a:lnSpc>
              <a:spcBef>
                <a:spcPts val="260"/>
              </a:spcBef>
              <a:buClr>
                <a:srgbClr val="0AD0D9"/>
              </a:buClr>
              <a:buSzPct val="95454"/>
              <a:buFont typeface="Arial" panose="020B0604020202020204" pitchFamily="34" charset="0"/>
              <a:buChar char="•"/>
              <a:tabLst>
                <a:tab pos="287655" algn="l"/>
              </a:tabLst>
            </a:pPr>
            <a:r>
              <a:rPr sz="2400" spc="-5" dirty="0">
                <a:latin typeface="Cambria" panose="02040503050406030204" pitchFamily="18" charset="0"/>
                <a:ea typeface="Cambria" panose="02040503050406030204" pitchFamily="18" charset="0"/>
                <a:cs typeface="Cambria"/>
              </a:rPr>
              <a:t>Silicon</a:t>
            </a:r>
            <a:r>
              <a:rPr sz="2400" spc="30"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(Si)---------------------------------------------------------------3.48</a:t>
            </a:r>
            <a:endParaRPr sz="2400" dirty="0">
              <a:latin typeface="Cambria" panose="02040503050406030204" pitchFamily="18" charset="0"/>
              <a:ea typeface="Cambria" panose="02040503050406030204" pitchFamily="18" charset="0"/>
              <a:cs typeface="Cambria"/>
            </a:endParaRPr>
          </a:p>
          <a:p>
            <a:pPr marL="354965" indent="-342900">
              <a:lnSpc>
                <a:spcPct val="100000"/>
              </a:lnSpc>
              <a:spcBef>
                <a:spcPts val="270"/>
              </a:spcBef>
              <a:buClr>
                <a:srgbClr val="0AD0D9"/>
              </a:buClr>
              <a:buSzPct val="93181"/>
              <a:buFont typeface="Arial" panose="020B0604020202020204" pitchFamily="34" charset="0"/>
              <a:buChar char="•"/>
              <a:tabLst>
                <a:tab pos="287655" algn="l"/>
              </a:tabLst>
            </a:pPr>
            <a:r>
              <a:rPr sz="2400" spc="-10" dirty="0">
                <a:latin typeface="Cambria" panose="02040503050406030204" pitchFamily="18" charset="0"/>
                <a:ea typeface="Cambria" panose="02040503050406030204" pitchFamily="18" charset="0"/>
                <a:cs typeface="Cambria"/>
              </a:rPr>
              <a:t>Indium gallium arsenide </a:t>
            </a:r>
            <a:r>
              <a:rPr sz="2400" spc="-5" dirty="0">
                <a:latin typeface="Cambria" panose="02040503050406030204" pitchFamily="18" charset="0"/>
                <a:ea typeface="Cambria" panose="02040503050406030204" pitchFamily="18" charset="0"/>
                <a:cs typeface="Cambria"/>
              </a:rPr>
              <a:t>phosphide</a:t>
            </a:r>
            <a:r>
              <a:rPr sz="2400" spc="95" dirty="0">
                <a:latin typeface="Cambria" panose="02040503050406030204" pitchFamily="18" charset="0"/>
                <a:ea typeface="Cambria" panose="02040503050406030204" pitchFamily="18" charset="0"/>
                <a:cs typeface="Cambria"/>
              </a:rPr>
              <a:t> </a:t>
            </a:r>
            <a:r>
              <a:rPr sz="2400" spc="-5" dirty="0">
                <a:latin typeface="Cambria" panose="02040503050406030204" pitchFamily="18" charset="0"/>
                <a:ea typeface="Cambria" panose="02040503050406030204" pitchFamily="18" charset="0"/>
                <a:cs typeface="Cambria"/>
              </a:rPr>
              <a:t>(InGaAsP)-----------------3.51</a:t>
            </a:r>
            <a:endParaRPr sz="2400" dirty="0">
              <a:latin typeface="Cambria" panose="02040503050406030204" pitchFamily="18" charset="0"/>
              <a:ea typeface="Cambria" panose="02040503050406030204" pitchFamily="18" charset="0"/>
              <a:cs typeface="Cambria"/>
            </a:endParaRPr>
          </a:p>
          <a:p>
            <a:pPr marL="354965" indent="-342900">
              <a:lnSpc>
                <a:spcPct val="100000"/>
              </a:lnSpc>
              <a:spcBef>
                <a:spcPts val="260"/>
              </a:spcBef>
              <a:buClr>
                <a:srgbClr val="0AD0D9"/>
              </a:buClr>
              <a:buSzPct val="93181"/>
              <a:buFont typeface="Arial" panose="020B0604020202020204" pitchFamily="34" charset="0"/>
              <a:buChar char="•"/>
              <a:tabLst>
                <a:tab pos="287655" algn="l"/>
              </a:tabLst>
            </a:pPr>
            <a:r>
              <a:rPr sz="2400" spc="-10" dirty="0">
                <a:latin typeface="Cambria" panose="02040503050406030204" pitchFamily="18" charset="0"/>
                <a:ea typeface="Cambria" panose="02040503050406030204" pitchFamily="18" charset="0"/>
                <a:cs typeface="Cambria"/>
              </a:rPr>
              <a:t>Aluminum gallium arsenide</a:t>
            </a:r>
            <a:r>
              <a:rPr sz="2400" spc="250"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(AlGaAs)-----------------------------3.6</a:t>
            </a:r>
            <a:r>
              <a:rPr lang="en-US" sz="2400" spc="-10" dirty="0">
                <a:latin typeface="Cambria" panose="02040503050406030204" pitchFamily="18" charset="0"/>
                <a:ea typeface="Cambria" panose="02040503050406030204" pitchFamily="18" charset="0"/>
                <a:cs typeface="Cambria"/>
              </a:rPr>
              <a:t>0</a:t>
            </a:r>
            <a:endParaRPr sz="2400" dirty="0">
              <a:latin typeface="Cambria" panose="02040503050406030204" pitchFamily="18" charset="0"/>
              <a:ea typeface="Cambria" panose="02040503050406030204" pitchFamily="18" charset="0"/>
              <a:cs typeface="Cambria"/>
            </a:endParaRPr>
          </a:p>
          <a:p>
            <a:pPr marL="354965" indent="-342900">
              <a:lnSpc>
                <a:spcPct val="100000"/>
              </a:lnSpc>
              <a:spcBef>
                <a:spcPts val="265"/>
              </a:spcBef>
              <a:buClr>
                <a:srgbClr val="0AD0D9"/>
              </a:buClr>
              <a:buSzPct val="93181"/>
              <a:buFont typeface="Arial" panose="020B0604020202020204" pitchFamily="34" charset="0"/>
              <a:buChar char="•"/>
              <a:tabLst>
                <a:tab pos="287655" algn="l"/>
              </a:tabLst>
            </a:pPr>
            <a:r>
              <a:rPr sz="2400" spc="-5" dirty="0">
                <a:latin typeface="Cambria" panose="02040503050406030204" pitchFamily="18" charset="0"/>
                <a:ea typeface="Cambria" panose="02040503050406030204" pitchFamily="18" charset="0"/>
                <a:cs typeface="Cambria"/>
              </a:rPr>
              <a:t>Germanium (Ge)</a:t>
            </a:r>
            <a:r>
              <a:rPr sz="2400" spc="45"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-------------------------------------------------------4.0</a:t>
            </a:r>
            <a:r>
              <a:rPr lang="en-US" sz="2400" spc="-10" dirty="0">
                <a:latin typeface="Cambria" panose="02040503050406030204" pitchFamily="18" charset="0"/>
                <a:ea typeface="Cambria" panose="02040503050406030204" pitchFamily="18" charset="0"/>
                <a:cs typeface="Cambria"/>
              </a:rPr>
              <a:t>0</a:t>
            </a:r>
            <a:endParaRPr sz="2400" dirty="0">
              <a:latin typeface="Cambria" panose="02040503050406030204" pitchFamily="18" charset="0"/>
              <a:ea typeface="Cambria" panose="02040503050406030204" pitchFamily="18" charset="0"/>
              <a:cs typeface="Cambria"/>
            </a:endParaRPr>
          </a:p>
          <a:p>
            <a:pPr marL="603250" marR="5080" lvl="1" indent="-285750">
              <a:lnSpc>
                <a:spcPct val="100000"/>
              </a:lnSpc>
              <a:spcBef>
                <a:spcPts val="1385"/>
              </a:spcBef>
              <a:buSzPct val="94444"/>
              <a:buFont typeface="Arial" panose="020B0604020202020204" pitchFamily="34" charset="0"/>
              <a:buChar char="•"/>
              <a:tabLst>
                <a:tab pos="500380" algn="l"/>
              </a:tabLst>
            </a:pPr>
            <a:r>
              <a:rPr sz="2400" b="1" spc="-5" dirty="0">
                <a:latin typeface="Cambria" panose="02040503050406030204" pitchFamily="18" charset="0"/>
                <a:ea typeface="Cambria" panose="02040503050406030204" pitchFamily="18" charset="0"/>
                <a:cs typeface="Constantia"/>
              </a:rPr>
              <a:t>The</a:t>
            </a:r>
            <a:r>
              <a:rPr sz="2400" b="1" spc="-60" dirty="0">
                <a:latin typeface="Cambria" panose="02040503050406030204" pitchFamily="18" charset="0"/>
                <a:ea typeface="Cambria" panose="02040503050406030204" pitchFamily="18" charset="0"/>
                <a:cs typeface="Constantia"/>
              </a:rPr>
              <a:t> </a:t>
            </a:r>
            <a:r>
              <a:rPr sz="2400" b="1" dirty="0">
                <a:latin typeface="Cambria" panose="02040503050406030204" pitchFamily="18" charset="0"/>
                <a:ea typeface="Cambria" panose="02040503050406030204" pitchFamily="18" charset="0"/>
                <a:cs typeface="Constantia"/>
              </a:rPr>
              <a:t>index</a:t>
            </a:r>
            <a:r>
              <a:rPr sz="2400" b="1" spc="-110" dirty="0">
                <a:latin typeface="Cambria" panose="02040503050406030204" pitchFamily="18" charset="0"/>
                <a:ea typeface="Cambria" panose="02040503050406030204" pitchFamily="18" charset="0"/>
                <a:cs typeface="Constantia"/>
              </a:rPr>
              <a:t> </a:t>
            </a:r>
            <a:r>
              <a:rPr sz="2400" b="1" spc="-5" dirty="0">
                <a:latin typeface="Cambria" panose="02040503050406030204" pitchFamily="18" charset="0"/>
                <a:ea typeface="Cambria" panose="02040503050406030204" pitchFamily="18" charset="0"/>
                <a:cs typeface="Constantia"/>
              </a:rPr>
              <a:t>varies</a:t>
            </a:r>
            <a:r>
              <a:rPr sz="2400" b="1" spc="-90" dirty="0">
                <a:latin typeface="Cambria" panose="02040503050406030204" pitchFamily="18" charset="0"/>
                <a:ea typeface="Cambria" panose="02040503050406030204" pitchFamily="18" charset="0"/>
                <a:cs typeface="Constantia"/>
              </a:rPr>
              <a:t> </a:t>
            </a:r>
            <a:r>
              <a:rPr sz="2400" b="1" spc="-5" dirty="0">
                <a:latin typeface="Cambria" panose="02040503050406030204" pitchFamily="18" charset="0"/>
                <a:ea typeface="Cambria" panose="02040503050406030204" pitchFamily="18" charset="0"/>
                <a:cs typeface="Constantia"/>
              </a:rPr>
              <a:t>with</a:t>
            </a:r>
            <a:r>
              <a:rPr sz="2400" b="1" spc="-75" dirty="0">
                <a:latin typeface="Cambria" panose="02040503050406030204" pitchFamily="18" charset="0"/>
                <a:ea typeface="Cambria" panose="02040503050406030204" pitchFamily="18" charset="0"/>
                <a:cs typeface="Constantia"/>
              </a:rPr>
              <a:t> </a:t>
            </a:r>
            <a:r>
              <a:rPr sz="2400" b="1" dirty="0">
                <a:latin typeface="Cambria" panose="02040503050406030204" pitchFamily="18" charset="0"/>
                <a:ea typeface="Cambria" panose="02040503050406030204" pitchFamily="18" charset="0"/>
                <a:cs typeface="Constantia"/>
              </a:rPr>
              <a:t>a</a:t>
            </a:r>
            <a:r>
              <a:rPr sz="2400" b="1" spc="-55" dirty="0">
                <a:latin typeface="Cambria" panose="02040503050406030204" pitchFamily="18" charset="0"/>
                <a:ea typeface="Cambria" panose="02040503050406030204" pitchFamily="18" charset="0"/>
                <a:cs typeface="Constantia"/>
              </a:rPr>
              <a:t> </a:t>
            </a:r>
            <a:r>
              <a:rPr sz="2400" b="1" spc="-5" dirty="0">
                <a:latin typeface="Cambria" panose="02040503050406030204" pitchFamily="18" charset="0"/>
                <a:ea typeface="Cambria" panose="02040503050406030204" pitchFamily="18" charset="0"/>
                <a:cs typeface="Constantia"/>
              </a:rPr>
              <a:t>number</a:t>
            </a:r>
            <a:r>
              <a:rPr sz="2400" b="1" spc="-100" dirty="0">
                <a:latin typeface="Cambria" panose="02040503050406030204" pitchFamily="18" charset="0"/>
                <a:ea typeface="Cambria" panose="02040503050406030204" pitchFamily="18" charset="0"/>
                <a:cs typeface="Constantia"/>
              </a:rPr>
              <a:t> </a:t>
            </a:r>
            <a:r>
              <a:rPr sz="2400" b="1" dirty="0">
                <a:latin typeface="Cambria" panose="02040503050406030204" pitchFamily="18" charset="0"/>
                <a:ea typeface="Cambria" panose="02040503050406030204" pitchFamily="18" charset="0"/>
                <a:cs typeface="Constantia"/>
              </a:rPr>
              <a:t>of </a:t>
            </a:r>
            <a:r>
              <a:rPr sz="2400" b="1" spc="-10" dirty="0">
                <a:latin typeface="Cambria" panose="02040503050406030204" pitchFamily="18" charset="0"/>
                <a:ea typeface="Cambria" panose="02040503050406030204" pitchFamily="18" charset="0"/>
                <a:cs typeface="Constantia"/>
              </a:rPr>
              <a:t>parameters,</a:t>
            </a:r>
            <a:r>
              <a:rPr sz="2400" b="1" spc="-35" dirty="0">
                <a:latin typeface="Cambria" panose="02040503050406030204" pitchFamily="18" charset="0"/>
                <a:ea typeface="Cambria" panose="02040503050406030204" pitchFamily="18" charset="0"/>
                <a:cs typeface="Constantia"/>
              </a:rPr>
              <a:t> </a:t>
            </a:r>
            <a:r>
              <a:rPr sz="2400" b="1" spc="-5" dirty="0">
                <a:latin typeface="Cambria" panose="02040503050406030204" pitchFamily="18" charset="0"/>
                <a:ea typeface="Cambria" panose="02040503050406030204" pitchFamily="18" charset="0"/>
                <a:cs typeface="Constantia"/>
              </a:rPr>
              <a:t>such</a:t>
            </a:r>
            <a:r>
              <a:rPr sz="2400" b="1" spc="-70" dirty="0">
                <a:latin typeface="Cambria" panose="02040503050406030204" pitchFamily="18" charset="0"/>
                <a:ea typeface="Cambria" panose="02040503050406030204" pitchFamily="18" charset="0"/>
                <a:cs typeface="Constantia"/>
              </a:rPr>
              <a:t> </a:t>
            </a:r>
            <a:r>
              <a:rPr sz="2400" b="1" dirty="0">
                <a:latin typeface="Cambria" panose="02040503050406030204" pitchFamily="18" charset="0"/>
                <a:ea typeface="Cambria" panose="02040503050406030204" pitchFamily="18" charset="0"/>
                <a:cs typeface="Constantia"/>
              </a:rPr>
              <a:t>as</a:t>
            </a:r>
            <a:r>
              <a:rPr sz="2400" b="1" spc="-85" dirty="0">
                <a:latin typeface="Cambria" panose="02040503050406030204" pitchFamily="18" charset="0"/>
                <a:ea typeface="Cambria" panose="02040503050406030204" pitchFamily="18" charset="0"/>
                <a:cs typeface="Constantia"/>
              </a:rPr>
              <a:t> </a:t>
            </a:r>
            <a:r>
              <a:rPr sz="2400" b="1" spc="-15" dirty="0">
                <a:latin typeface="Cambria" panose="02040503050406030204" pitchFamily="18" charset="0"/>
                <a:ea typeface="Cambria" panose="02040503050406030204" pitchFamily="18" charset="0"/>
                <a:cs typeface="Constantia"/>
              </a:rPr>
              <a:t>wavelength</a:t>
            </a:r>
            <a:r>
              <a:rPr sz="2400" b="1" spc="-70" dirty="0">
                <a:latin typeface="Cambria" panose="02040503050406030204" pitchFamily="18" charset="0"/>
                <a:ea typeface="Cambria" panose="02040503050406030204" pitchFamily="18" charset="0"/>
                <a:cs typeface="Constantia"/>
              </a:rPr>
              <a:t> </a:t>
            </a:r>
            <a:r>
              <a:rPr sz="2400" b="1" dirty="0">
                <a:latin typeface="Cambria" panose="02040503050406030204" pitchFamily="18" charset="0"/>
                <a:ea typeface="Cambria" panose="02040503050406030204" pitchFamily="18" charset="0"/>
                <a:cs typeface="Constantia"/>
              </a:rPr>
              <a:t>and  </a:t>
            </a:r>
            <a:r>
              <a:rPr sz="2400" b="1" spc="-10" dirty="0">
                <a:latin typeface="Cambria" panose="02040503050406030204" pitchFamily="18" charset="0"/>
                <a:ea typeface="Cambria" panose="02040503050406030204" pitchFamily="18" charset="0"/>
                <a:cs typeface="Constantia"/>
              </a:rPr>
              <a:t>temperature.</a:t>
            </a:r>
            <a:endParaRPr sz="2400" dirty="0">
              <a:latin typeface="Cambria" panose="02040503050406030204" pitchFamily="18" charset="0"/>
              <a:ea typeface="Cambria" panose="02040503050406030204" pitchFamily="18" charset="0"/>
              <a:cs typeface="Constantia"/>
            </a:endParaRPr>
          </a:p>
        </p:txBody>
      </p:sp>
      <p:sp>
        <p:nvSpPr>
          <p:cNvPr id="2" name="TextBox 1"/>
          <p:cNvSpPr txBox="1"/>
          <p:nvPr/>
        </p:nvSpPr>
        <p:spPr>
          <a:xfrm>
            <a:off x="984738" y="0"/>
            <a:ext cx="10747717" cy="1446550"/>
          </a:xfrm>
          <a:prstGeom prst="rect">
            <a:avLst/>
          </a:prstGeom>
          <a:noFill/>
        </p:spPr>
        <p:txBody>
          <a:bodyPr wrap="square" rtlCol="0">
            <a:spAutoFit/>
          </a:bodyPr>
          <a:lstStyle/>
          <a:p>
            <a:r>
              <a:rPr lang="en-US" sz="4400" b="1" spc="-30" dirty="0">
                <a:latin typeface="Cambria"/>
                <a:cs typeface="Cambria"/>
              </a:rPr>
              <a:t>Refractive </a:t>
            </a:r>
            <a:r>
              <a:rPr lang="en-US" sz="4400" b="1" spc="-20" dirty="0">
                <a:latin typeface="Cambria"/>
                <a:cs typeface="Cambria"/>
              </a:rPr>
              <a:t>Index </a:t>
            </a:r>
            <a:r>
              <a:rPr lang="en-US" sz="4400" b="1" spc="-10" dirty="0">
                <a:latin typeface="Cambria"/>
                <a:cs typeface="Cambria"/>
              </a:rPr>
              <a:t>of </a:t>
            </a:r>
            <a:r>
              <a:rPr lang="en-US" sz="4400" b="1" dirty="0">
                <a:latin typeface="Cambria"/>
                <a:cs typeface="Cambria"/>
              </a:rPr>
              <a:t>Some</a:t>
            </a:r>
            <a:r>
              <a:rPr lang="en-US" sz="4400" b="1" spc="55" dirty="0">
                <a:latin typeface="Cambria"/>
                <a:cs typeface="Cambria"/>
              </a:rPr>
              <a:t> </a:t>
            </a:r>
            <a:r>
              <a:rPr lang="en-US" sz="4400" b="1" spc="-10" dirty="0">
                <a:latin typeface="Cambria"/>
                <a:cs typeface="Cambria"/>
              </a:rPr>
              <a:t>Materials</a:t>
            </a:r>
            <a:endParaRPr lang="en-US" sz="4400" dirty="0">
              <a:latin typeface="Cambria"/>
              <a:cs typeface="Cambria"/>
            </a:endParaRPr>
          </a:p>
          <a:p>
            <a:endParaRPr lang="en-US" sz="4400" dirty="0"/>
          </a:p>
        </p:txBody>
      </p:sp>
    </p:spTree>
    <p:extLst>
      <p:ext uri="{BB962C8B-B14F-4D97-AF65-F5344CB8AC3E}">
        <p14:creationId xmlns:p14="http://schemas.microsoft.com/office/powerpoint/2010/main" val="793949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329" y="121044"/>
            <a:ext cx="10751990" cy="987425"/>
          </a:xfrm>
        </p:spPr>
        <p:txBody>
          <a:bodyPr>
            <a:noAutofit/>
          </a:bodyPr>
          <a:lstStyle/>
          <a:p>
            <a:r>
              <a:rPr lang="en-US" sz="4400" b="1" dirty="0">
                <a:latin typeface="Cambria" panose="02040503050406030204" pitchFamily="18" charset="0"/>
                <a:ea typeface="Cambria" panose="02040503050406030204" pitchFamily="18" charset="0"/>
              </a:rPr>
              <a:t>Acceptance angle and acceptance cone</a:t>
            </a:r>
          </a:p>
        </p:txBody>
      </p:sp>
      <p:sp>
        <p:nvSpPr>
          <p:cNvPr id="4" name="Text Placeholder 3"/>
          <p:cNvSpPr>
            <a:spLocks noGrp="1"/>
          </p:cNvSpPr>
          <p:nvPr>
            <p:ph type="body" sz="half" idx="2"/>
          </p:nvPr>
        </p:nvSpPr>
        <p:spPr>
          <a:xfrm>
            <a:off x="269869" y="1448973"/>
            <a:ext cx="5230599" cy="3722912"/>
          </a:xfrm>
        </p:spPr>
        <p:txBody>
          <a:bodyPr>
            <a:normAutofit/>
          </a:bodyPr>
          <a:lstStyle/>
          <a:p>
            <a:r>
              <a:rPr lang="en-US" sz="2400" b="1" dirty="0">
                <a:latin typeface="Cambria" panose="02040503050406030204" pitchFamily="18" charset="0"/>
                <a:ea typeface="Cambria" panose="02040503050406030204" pitchFamily="18" charset="0"/>
              </a:rPr>
              <a:t>Acceptance angle</a:t>
            </a:r>
          </a:p>
          <a:p>
            <a:endParaRPr lang="en-US" sz="2400" dirty="0">
              <a:latin typeface="Cambria" panose="02040503050406030204" pitchFamily="18" charset="0"/>
              <a:ea typeface="Cambria" panose="02040503050406030204" pitchFamily="18" charset="0"/>
            </a:endParaRPr>
          </a:p>
          <a:p>
            <a:pPr algn="just"/>
            <a:r>
              <a:rPr lang="en-US" sz="2400" dirty="0">
                <a:latin typeface="Cambria" panose="02040503050406030204" pitchFamily="18" charset="0"/>
                <a:ea typeface="Cambria" panose="02040503050406030204" pitchFamily="18" charset="0"/>
              </a:rPr>
              <a:t>It is the maximum angle of a ray (against the fiber axis) hitting the </a:t>
            </a:r>
            <a:r>
              <a:rPr lang="en-US" sz="2400" dirty="0">
                <a:latin typeface="Cambria" panose="02040503050406030204" pitchFamily="18" charset="0"/>
                <a:ea typeface="Cambria" panose="02040503050406030204" pitchFamily="18" charset="0"/>
                <a:hlinkClick r:id="rId2" tooltip="the region in an optical fiber which guides light"/>
              </a:rPr>
              <a:t>fiber core</a:t>
            </a:r>
            <a:r>
              <a:rPr lang="en-US" sz="2400" dirty="0">
                <a:latin typeface="Cambria" panose="02040503050406030204" pitchFamily="18" charset="0"/>
                <a:ea typeface="Cambria" panose="02040503050406030204" pitchFamily="18" charset="0"/>
              </a:rPr>
              <a:t> which allows the incident light to be guided by the core.</a:t>
            </a:r>
          </a:p>
        </p:txBody>
      </p:sp>
      <p:sp>
        <p:nvSpPr>
          <p:cNvPr id="5" name="Slide Number Placeholder 4"/>
          <p:cNvSpPr>
            <a:spLocks noGrp="1"/>
          </p:cNvSpPr>
          <p:nvPr>
            <p:ph type="sldNum" sz="quarter" idx="12"/>
          </p:nvPr>
        </p:nvSpPr>
        <p:spPr/>
        <p:txBody>
          <a:bodyPr/>
          <a:lstStyle/>
          <a:p>
            <a:fld id="{BDCDBBEF-AA6C-4BA6-85B2-A17D7F280E38}" type="slidenum">
              <a:rPr lang="en-US" smtClean="0"/>
              <a:t>17</a:t>
            </a:fld>
            <a:endParaRPr lang="en-US"/>
          </a:p>
        </p:txBody>
      </p:sp>
      <p:grpSp>
        <p:nvGrpSpPr>
          <p:cNvPr id="9" name="object 4"/>
          <p:cNvGrpSpPr/>
          <p:nvPr/>
        </p:nvGrpSpPr>
        <p:grpSpPr>
          <a:xfrm>
            <a:off x="5911123" y="1870243"/>
            <a:ext cx="5928689" cy="3404682"/>
            <a:chOff x="737387" y="3280144"/>
            <a:chExt cx="6941744" cy="2664345"/>
          </a:xfrm>
        </p:grpSpPr>
        <p:sp>
          <p:nvSpPr>
            <p:cNvPr id="10" name="object 5"/>
            <p:cNvSpPr/>
            <p:nvPr/>
          </p:nvSpPr>
          <p:spPr>
            <a:xfrm>
              <a:off x="907161" y="3280144"/>
              <a:ext cx="6771970" cy="2583711"/>
            </a:xfrm>
            <a:prstGeom prst="rect">
              <a:avLst/>
            </a:prstGeom>
            <a:blipFill>
              <a:blip r:embed="rId3"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1" name="object 6"/>
            <p:cNvSpPr/>
            <p:nvPr/>
          </p:nvSpPr>
          <p:spPr>
            <a:xfrm>
              <a:off x="737387" y="4875784"/>
              <a:ext cx="336550" cy="1068705"/>
            </a:xfrm>
            <a:custGeom>
              <a:avLst/>
              <a:gdLst/>
              <a:ahLst/>
              <a:cxnLst/>
              <a:rect l="l" t="t" r="r" b="b"/>
              <a:pathLst>
                <a:path w="336550" h="1068704">
                  <a:moveTo>
                    <a:pt x="8851" y="963980"/>
                  </a:moveTo>
                  <a:lnTo>
                    <a:pt x="2057" y="965720"/>
                  </a:lnTo>
                  <a:lnTo>
                    <a:pt x="0" y="969175"/>
                  </a:lnTo>
                  <a:lnTo>
                    <a:pt x="25361" y="1068603"/>
                  </a:lnTo>
                  <a:lnTo>
                    <a:pt x="36183" y="1058227"/>
                  </a:lnTo>
                  <a:lnTo>
                    <a:pt x="34937" y="1058227"/>
                  </a:lnTo>
                  <a:lnTo>
                    <a:pt x="22720" y="1054735"/>
                  </a:lnTo>
                  <a:lnTo>
                    <a:pt x="29171" y="1032156"/>
                  </a:lnTo>
                  <a:lnTo>
                    <a:pt x="12306" y="966038"/>
                  </a:lnTo>
                  <a:lnTo>
                    <a:pt x="8851" y="963980"/>
                  </a:lnTo>
                  <a:close/>
                </a:path>
                <a:path w="336550" h="1068704">
                  <a:moveTo>
                    <a:pt x="29171" y="1032156"/>
                  </a:moveTo>
                  <a:lnTo>
                    <a:pt x="22720" y="1054735"/>
                  </a:lnTo>
                  <a:lnTo>
                    <a:pt x="34937" y="1058227"/>
                  </a:lnTo>
                  <a:lnTo>
                    <a:pt x="35884" y="1054912"/>
                  </a:lnTo>
                  <a:lnTo>
                    <a:pt x="34975" y="1054912"/>
                  </a:lnTo>
                  <a:lnTo>
                    <a:pt x="24434" y="1051902"/>
                  </a:lnTo>
                  <a:lnTo>
                    <a:pt x="32287" y="1044372"/>
                  </a:lnTo>
                  <a:lnTo>
                    <a:pt x="29171" y="1032156"/>
                  </a:lnTo>
                  <a:close/>
                </a:path>
                <a:path w="336550" h="1068704">
                  <a:moveTo>
                    <a:pt x="90639" y="988415"/>
                  </a:moveTo>
                  <a:lnTo>
                    <a:pt x="41390" y="1035643"/>
                  </a:lnTo>
                  <a:lnTo>
                    <a:pt x="34937" y="1058227"/>
                  </a:lnTo>
                  <a:lnTo>
                    <a:pt x="36183" y="1058227"/>
                  </a:lnTo>
                  <a:lnTo>
                    <a:pt x="99428" y="997585"/>
                  </a:lnTo>
                  <a:lnTo>
                    <a:pt x="99517" y="993571"/>
                  </a:lnTo>
                  <a:lnTo>
                    <a:pt x="94653" y="988504"/>
                  </a:lnTo>
                  <a:lnTo>
                    <a:pt x="90639" y="988415"/>
                  </a:lnTo>
                  <a:close/>
                </a:path>
                <a:path w="336550" h="1068704">
                  <a:moveTo>
                    <a:pt x="32287" y="1044372"/>
                  </a:moveTo>
                  <a:lnTo>
                    <a:pt x="24434" y="1051902"/>
                  </a:lnTo>
                  <a:lnTo>
                    <a:pt x="34975" y="1054912"/>
                  </a:lnTo>
                  <a:lnTo>
                    <a:pt x="32287" y="1044372"/>
                  </a:lnTo>
                  <a:close/>
                </a:path>
                <a:path w="336550" h="1068704">
                  <a:moveTo>
                    <a:pt x="41390" y="1035643"/>
                  </a:moveTo>
                  <a:lnTo>
                    <a:pt x="32287" y="1044372"/>
                  </a:lnTo>
                  <a:lnTo>
                    <a:pt x="34975" y="1054912"/>
                  </a:lnTo>
                  <a:lnTo>
                    <a:pt x="35884" y="1054912"/>
                  </a:lnTo>
                  <a:lnTo>
                    <a:pt x="41390" y="1035643"/>
                  </a:lnTo>
                  <a:close/>
                </a:path>
                <a:path w="336550" h="1068704">
                  <a:moveTo>
                    <a:pt x="324065" y="0"/>
                  </a:moveTo>
                  <a:lnTo>
                    <a:pt x="29171" y="1032156"/>
                  </a:lnTo>
                  <a:lnTo>
                    <a:pt x="32287" y="1044372"/>
                  </a:lnTo>
                  <a:lnTo>
                    <a:pt x="41390" y="1035643"/>
                  </a:lnTo>
                  <a:lnTo>
                    <a:pt x="336283" y="3556"/>
                  </a:lnTo>
                  <a:lnTo>
                    <a:pt x="324065" y="0"/>
                  </a:lnTo>
                  <a:close/>
                </a:path>
              </a:pathLst>
            </a:custGeom>
            <a:solidFill>
              <a:srgbClr val="93B6D2"/>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sp>
        <p:nvSpPr>
          <p:cNvPr id="3" name="TextBox 2"/>
          <p:cNvSpPr txBox="1"/>
          <p:nvPr/>
        </p:nvSpPr>
        <p:spPr>
          <a:xfrm>
            <a:off x="6506550" y="5274925"/>
            <a:ext cx="4536588" cy="861774"/>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Figure 2.6 Acceptance angle of a typical step index fiber with a fiber core of refractive index n</a:t>
            </a:r>
            <a:r>
              <a:rPr lang="en-US" sz="1600" baseline="-25000" dirty="0">
                <a:latin typeface="Cambria" panose="02040503050406030204" pitchFamily="18" charset="0"/>
                <a:ea typeface="Cambria" panose="02040503050406030204" pitchFamily="18" charset="0"/>
              </a:rPr>
              <a:t>1</a:t>
            </a:r>
            <a:r>
              <a:rPr lang="en-US" sz="1600" dirty="0">
                <a:latin typeface="Cambria" panose="02040503050406030204" pitchFamily="18" charset="0"/>
                <a:ea typeface="Cambria" panose="02040503050406030204" pitchFamily="18" charset="0"/>
              </a:rPr>
              <a:t> [6]</a:t>
            </a:r>
          </a:p>
          <a:p>
            <a:endParaRPr lang="en-US" dirty="0"/>
          </a:p>
        </p:txBody>
      </p:sp>
      <p:sp>
        <p:nvSpPr>
          <p:cNvPr id="6" name="Flowchart: Terminator 5"/>
          <p:cNvSpPr/>
          <p:nvPr/>
        </p:nvSpPr>
        <p:spPr>
          <a:xfrm>
            <a:off x="4262512" y="5274925"/>
            <a:ext cx="1793610" cy="666276"/>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Acceptance angle</a:t>
            </a:r>
          </a:p>
        </p:txBody>
      </p:sp>
    </p:spTree>
    <p:extLst>
      <p:ext uri="{BB962C8B-B14F-4D97-AF65-F5344CB8AC3E}">
        <p14:creationId xmlns:p14="http://schemas.microsoft.com/office/powerpoint/2010/main" val="1785095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5408" y="457200"/>
            <a:ext cx="4515729" cy="768485"/>
          </a:xfrm>
        </p:spPr>
        <p:txBody>
          <a:bodyPr>
            <a:noAutofit/>
          </a:bodyPr>
          <a:lstStyle/>
          <a:p>
            <a:r>
              <a:rPr lang="en-US" sz="4400" b="1" dirty="0">
                <a:latin typeface="Cambria" panose="02040503050406030204" pitchFamily="18" charset="0"/>
                <a:ea typeface="Cambria" panose="02040503050406030204" pitchFamily="18" charset="0"/>
              </a:rPr>
              <a:t>Acceptance cone</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32968" y="1964987"/>
            <a:ext cx="6120832" cy="3190673"/>
          </a:xfrm>
        </p:spPr>
      </p:pic>
      <p:sp>
        <p:nvSpPr>
          <p:cNvPr id="4" name="Text Placeholder 3"/>
          <p:cNvSpPr>
            <a:spLocks noGrp="1"/>
          </p:cNvSpPr>
          <p:nvPr>
            <p:ph type="body" sz="half" idx="2"/>
          </p:nvPr>
        </p:nvSpPr>
        <p:spPr>
          <a:xfrm>
            <a:off x="253218" y="2138289"/>
            <a:ext cx="4515730" cy="3017371"/>
          </a:xfrm>
        </p:spPr>
        <p:txBody>
          <a:bodyPr>
            <a:noAutofit/>
          </a:bodyPr>
          <a:lstStyle/>
          <a:p>
            <a:pPr algn="just"/>
            <a:r>
              <a:rPr lang="en-US" sz="2400" dirty="0">
                <a:latin typeface="Cambria" panose="02040503050406030204" pitchFamily="18" charset="0"/>
                <a:ea typeface="Cambria" panose="02040503050406030204" pitchFamily="18" charset="0"/>
              </a:rPr>
              <a:t>In fiber optics, the cone within which optical power may be coupled into the bound modes of an optical fiber. Here, the acceptance cone is derived by rotating the acceptance angle about the fiber axis.</a:t>
            </a:r>
          </a:p>
          <a:p>
            <a:pPr algn="just"/>
            <a:endParaRPr lang="en-US" sz="2400" dirty="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18</a:t>
            </a:fld>
            <a:endParaRPr lang="en-US"/>
          </a:p>
        </p:txBody>
      </p:sp>
      <p:sp>
        <p:nvSpPr>
          <p:cNvPr id="7" name="TextBox 6"/>
          <p:cNvSpPr txBox="1"/>
          <p:nvPr/>
        </p:nvSpPr>
        <p:spPr>
          <a:xfrm>
            <a:off x="5474539" y="5539546"/>
            <a:ext cx="6373750" cy="338554"/>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Figure 2.7 Acceptance cone of an optical fiber [7]</a:t>
            </a:r>
            <a:endParaRPr lang="en-US" sz="1600" dirty="0"/>
          </a:p>
        </p:txBody>
      </p:sp>
    </p:spTree>
    <p:extLst>
      <p:ext uri="{BB962C8B-B14F-4D97-AF65-F5344CB8AC3E}">
        <p14:creationId xmlns:p14="http://schemas.microsoft.com/office/powerpoint/2010/main" val="2020942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33" y="1"/>
            <a:ext cx="9513651" cy="826532"/>
          </a:xfrm>
        </p:spPr>
        <p:txBody>
          <a:bodyPr>
            <a:normAutofit/>
          </a:bodyPr>
          <a:lstStyle/>
          <a:p>
            <a:r>
              <a:rPr lang="en-US" sz="4400" b="1" dirty="0">
                <a:latin typeface="Cambria" panose="02040503050406030204" pitchFamily="18" charset="0"/>
                <a:ea typeface="Cambria" panose="02040503050406030204" pitchFamily="18" charset="0"/>
              </a:rPr>
              <a:t>Expression of Acceptance angle</a:t>
            </a:r>
          </a:p>
        </p:txBody>
      </p:sp>
      <p:sp>
        <p:nvSpPr>
          <p:cNvPr id="5" name="Slide Number Placeholder 4"/>
          <p:cNvSpPr>
            <a:spLocks noGrp="1"/>
          </p:cNvSpPr>
          <p:nvPr>
            <p:ph type="sldNum" sz="quarter" idx="12"/>
          </p:nvPr>
        </p:nvSpPr>
        <p:spPr/>
        <p:txBody>
          <a:bodyPr/>
          <a:lstStyle/>
          <a:p>
            <a:fld id="{BDCDBBEF-AA6C-4BA6-85B2-A17D7F280E38}" type="slidenum">
              <a:rPr lang="en-US" smtClean="0"/>
              <a:t>19</a:t>
            </a:fld>
            <a:endParaRPr lang="en-US"/>
          </a:p>
        </p:txBody>
      </p:sp>
      <p:sp>
        <p:nvSpPr>
          <p:cNvPr id="7" name="TextBox 6"/>
          <p:cNvSpPr txBox="1"/>
          <p:nvPr/>
        </p:nvSpPr>
        <p:spPr>
          <a:xfrm>
            <a:off x="6522619" y="1328077"/>
            <a:ext cx="3646025" cy="369332"/>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2" name="object 14"/>
              <p:cNvSpPr txBox="1">
                <a:spLocks noGrp="1"/>
              </p:cNvSpPr>
              <p:nvPr>
                <p:ph type="body" sz="half" idx="2"/>
              </p:nvPr>
            </p:nvSpPr>
            <p:spPr>
              <a:xfrm>
                <a:off x="0" y="1328077"/>
                <a:ext cx="5623427" cy="4738092"/>
              </a:xfrm>
              <a:prstGeom prst="rect">
                <a:avLst/>
              </a:prstGeom>
              <a:pattFill prst="pct10">
                <a:fgClr>
                  <a:schemeClr val="bg1"/>
                </a:fgClr>
                <a:bgClr>
                  <a:schemeClr val="bg1"/>
                </a:bgClr>
              </a:pattFill>
            </p:spPr>
            <p:txBody>
              <a:bodyPr vert="horz" wrap="square" lIns="0" tIns="17145" rIns="0" bIns="0" rtlCol="0">
                <a:spAutoFit/>
              </a:bodyPr>
              <a:lstStyle/>
              <a:p>
                <a:pPr marL="25400">
                  <a:lnSpc>
                    <a:spcPct val="100000"/>
                  </a:lnSpc>
                  <a:spcBef>
                    <a:spcPts val="135"/>
                  </a:spcBef>
                  <a:tabLst>
                    <a:tab pos="1296035" algn="l"/>
                  </a:tabLst>
                </a:pPr>
                <a:r>
                  <a:rPr lang="en-US" sz="2400" spc="-5" dirty="0">
                    <a:latin typeface="Cambria" panose="02040503050406030204" pitchFamily="18" charset="0"/>
                    <a:ea typeface="Cambria" panose="02040503050406030204" pitchFamily="18" charset="0"/>
                    <a:cs typeface="Arial"/>
                  </a:rPr>
                  <a:t>Applying </a:t>
                </a:r>
                <a:r>
                  <a:rPr lang="en-US" sz="2400" dirty="0">
                    <a:latin typeface="Cambria" panose="02040503050406030204" pitchFamily="18" charset="0"/>
                    <a:ea typeface="Cambria" panose="02040503050406030204" pitchFamily="18" charset="0"/>
                    <a:cs typeface="Arial"/>
                  </a:rPr>
                  <a:t>Snell’ </a:t>
                </a:r>
                <a:r>
                  <a:rPr lang="en-US" sz="2400" spc="5" dirty="0">
                    <a:latin typeface="Cambria" panose="02040503050406030204" pitchFamily="18" charset="0"/>
                    <a:ea typeface="Cambria" panose="02040503050406030204" pitchFamily="18" charset="0"/>
                    <a:cs typeface="Arial"/>
                  </a:rPr>
                  <a:t>s </a:t>
                </a:r>
                <a:r>
                  <a:rPr lang="en-US" sz="2400" dirty="0">
                    <a:latin typeface="Cambria" panose="02040503050406030204" pitchFamily="18" charset="0"/>
                    <a:ea typeface="Cambria" panose="02040503050406030204" pitchFamily="18" charset="0"/>
                    <a:cs typeface="Arial"/>
                  </a:rPr>
                  <a:t>law </a:t>
                </a:r>
                <a:r>
                  <a:rPr lang="en-US" sz="2400" spc="5" dirty="0">
                    <a:latin typeface="Cambria" panose="02040503050406030204" pitchFamily="18" charset="0"/>
                    <a:ea typeface="Cambria" panose="02040503050406030204" pitchFamily="18" charset="0"/>
                    <a:cs typeface="Arial"/>
                  </a:rPr>
                  <a:t>for </a:t>
                </a:r>
                <a:r>
                  <a:rPr lang="en-US" sz="2400" dirty="0">
                    <a:latin typeface="Cambria" panose="02040503050406030204" pitchFamily="18" charset="0"/>
                    <a:ea typeface="Cambria" panose="02040503050406030204" pitchFamily="18" charset="0"/>
                    <a:cs typeface="Arial"/>
                  </a:rPr>
                  <a:t>Air-Core</a:t>
                </a:r>
                <a:r>
                  <a:rPr lang="en-US" sz="2400" spc="-3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media</a:t>
                </a:r>
              </a:p>
              <a:p>
                <a:pPr marL="25400">
                  <a:lnSpc>
                    <a:spcPct val="100000"/>
                  </a:lnSpc>
                  <a:spcBef>
                    <a:spcPts val="135"/>
                  </a:spcBef>
                  <a:tabLst>
                    <a:tab pos="1296035" algn="l"/>
                  </a:tabLst>
                </a:pPr>
                <a:endParaRPr lang="en-US" sz="3200" i="1" spc="-170" dirty="0">
                  <a:latin typeface="Times New Roman"/>
                  <a:cs typeface="Times New Roman"/>
                </a:endParaRPr>
              </a:p>
              <a:p>
                <a:pPr marL="25400">
                  <a:lnSpc>
                    <a:spcPct val="100000"/>
                  </a:lnSpc>
                  <a:spcBef>
                    <a:spcPts val="135"/>
                  </a:spcBef>
                  <a:tabLst>
                    <a:tab pos="1296035" algn="l"/>
                  </a:tabLst>
                </a:pPr>
                <a:r>
                  <a:rPr lang="en-US" sz="2400" spc="-170" dirty="0">
                    <a:latin typeface="Times New Roman"/>
                    <a:cs typeface="Times New Roman"/>
                  </a:rPr>
                  <a:t>n</a:t>
                </a:r>
                <a:r>
                  <a:rPr lang="en-US" sz="2400" spc="-170" baseline="-25000" dirty="0">
                    <a:latin typeface="Times New Roman"/>
                    <a:cs typeface="Times New Roman"/>
                  </a:rPr>
                  <a:t>0</a:t>
                </a:r>
                <a:r>
                  <a:rPr lang="en-US" sz="2400" spc="-170" dirty="0">
                    <a:latin typeface="Times New Roman"/>
                    <a:cs typeface="Times New Roman"/>
                  </a:rPr>
                  <a:t> </a:t>
                </a:r>
                <a:r>
                  <a:rPr lang="en-US" sz="2400" spc="-170" dirty="0"/>
                  <a:t>sin</a:t>
                </a:r>
                <a:r>
                  <a:rPr lang="en-US" sz="2400" spc="-245" dirty="0"/>
                  <a:t> </a:t>
                </a:r>
                <a:r>
                  <a:rPr lang="en-US" sz="2400" spc="-35" dirty="0">
                    <a:latin typeface="Symbol"/>
                    <a:cs typeface="Symbol"/>
                  </a:rPr>
                  <a:t></a:t>
                </a:r>
                <a:r>
                  <a:rPr lang="en-US" sz="2400" spc="-52" baseline="-24024" dirty="0">
                    <a:latin typeface="Times New Roman"/>
                    <a:cs typeface="Times New Roman"/>
                  </a:rPr>
                  <a:t>I</a:t>
                </a:r>
                <a:r>
                  <a:rPr lang="en-US" sz="2400" spc="-52" dirty="0">
                    <a:latin typeface="Times New Roman"/>
                    <a:cs typeface="Times New Roman"/>
                  </a:rPr>
                  <a:t> </a:t>
                </a:r>
                <a:r>
                  <a:rPr lang="en-US" sz="2400" spc="-85" dirty="0">
                    <a:latin typeface="Symbol"/>
                    <a:cs typeface="Symbol"/>
                  </a:rPr>
                  <a:t></a:t>
                </a:r>
                <a:r>
                  <a:rPr lang="en-US" sz="2400" spc="-85" dirty="0"/>
                  <a:t> </a:t>
                </a:r>
                <a:r>
                  <a:rPr lang="en-US" sz="2400" spc="-170" dirty="0">
                    <a:latin typeface="Times New Roman"/>
                    <a:cs typeface="Times New Roman"/>
                  </a:rPr>
                  <a:t>n</a:t>
                </a:r>
                <a:r>
                  <a:rPr lang="en-US" sz="2400" spc="-254" baseline="-24024" dirty="0"/>
                  <a:t>1 </a:t>
                </a:r>
                <a:r>
                  <a:rPr lang="en-US" sz="2400" spc="-170" dirty="0"/>
                  <a:t>sin </a:t>
                </a:r>
                <a:r>
                  <a:rPr lang="en-US" sz="2400" spc="-15" dirty="0">
                    <a:latin typeface="Symbol"/>
                    <a:cs typeface="Symbol"/>
                  </a:rPr>
                  <a:t></a:t>
                </a:r>
                <a:r>
                  <a:rPr lang="en-US" sz="2400" spc="-22" baseline="-24024" dirty="0">
                    <a:latin typeface="Times New Roman"/>
                    <a:cs typeface="Times New Roman"/>
                  </a:rPr>
                  <a:t>r</a:t>
                </a:r>
                <a:r>
                  <a:rPr lang="en-US" sz="2400" spc="-179" baseline="-24024" dirty="0">
                    <a:latin typeface="Times New Roman"/>
                    <a:cs typeface="Times New Roman"/>
                  </a:rPr>
                  <a:t> </a:t>
                </a:r>
                <a:r>
                  <a:rPr lang="en-US" sz="2400" spc="-80" dirty="0"/>
                  <a:t>..............(1)</a:t>
                </a:r>
              </a:p>
              <a:p>
                <a:pPr marL="147955">
                  <a:lnSpc>
                    <a:spcPct val="100000"/>
                  </a:lnSpc>
                  <a:spcBef>
                    <a:spcPts val="1755"/>
                  </a:spcBef>
                  <a:tabLst>
                    <a:tab pos="4832350" algn="l"/>
                  </a:tabLst>
                </a:pPr>
                <a:r>
                  <a:rPr lang="en-US" sz="3200" spc="-70" dirty="0"/>
                  <a:t> </a:t>
                </a:r>
                <a:r>
                  <a:rPr lang="en-US" sz="2400" spc="-70" dirty="0">
                    <a:latin typeface="Cambria" panose="02040503050406030204" pitchFamily="18" charset="0"/>
                    <a:ea typeface="Cambria" panose="02040503050406030204" pitchFamily="18" charset="0"/>
                  </a:rPr>
                  <a:t>from </a:t>
                </a:r>
                <a:r>
                  <a:rPr lang="en-US" sz="2400" spc="-35" dirty="0">
                    <a:latin typeface="Cambria" panose="02040503050406030204" pitchFamily="18" charset="0"/>
                    <a:ea typeface="Cambria" panose="02040503050406030204" pitchFamily="18" charset="0"/>
                  </a:rPr>
                  <a:t>the </a:t>
                </a:r>
                <a:r>
                  <a:rPr lang="en-US" sz="2400" spc="-95" dirty="0">
                    <a:latin typeface="Cambria" panose="02040503050406030204" pitchFamily="18" charset="0"/>
                    <a:ea typeface="Cambria" panose="02040503050406030204" pitchFamily="18" charset="0"/>
                  </a:rPr>
                  <a:t>right</a:t>
                </a:r>
                <a:r>
                  <a:rPr lang="en-US" sz="2400" spc="600" dirty="0">
                    <a:latin typeface="Cambria" panose="02040503050406030204" pitchFamily="18" charset="0"/>
                    <a:ea typeface="Cambria" panose="02040503050406030204" pitchFamily="18" charset="0"/>
                  </a:rPr>
                  <a:t> </a:t>
                </a:r>
                <a:r>
                  <a:rPr lang="en-US" sz="2400" spc="-95" dirty="0">
                    <a:latin typeface="Cambria" panose="02040503050406030204" pitchFamily="18" charset="0"/>
                    <a:ea typeface="Cambria" panose="02040503050406030204" pitchFamily="18" charset="0"/>
                  </a:rPr>
                  <a:t>angle</a:t>
                </a:r>
                <a:r>
                  <a:rPr lang="en-US" sz="2400" spc="270" dirty="0">
                    <a:latin typeface="Cambria" panose="02040503050406030204" pitchFamily="18" charset="0"/>
                    <a:ea typeface="Cambria" panose="02040503050406030204" pitchFamily="18" charset="0"/>
                  </a:rPr>
                  <a:t> </a:t>
                </a:r>
                <a:r>
                  <a:rPr lang="en-US" sz="2400" spc="-85" dirty="0">
                    <a:latin typeface="Cambria" panose="02040503050406030204" pitchFamily="18" charset="0"/>
                    <a:ea typeface="Cambria" panose="02040503050406030204" pitchFamily="18" charset="0"/>
                  </a:rPr>
                  <a:t>triangle </a:t>
                </a:r>
                <a:r>
                  <a:rPr lang="en-US" sz="2400" spc="-145" dirty="0">
                    <a:latin typeface="Cambria" panose="02040503050406030204" pitchFamily="18" charset="0"/>
                    <a:ea typeface="Cambria" panose="02040503050406030204" pitchFamily="18" charset="0"/>
                  </a:rPr>
                  <a:t>ABC</a:t>
                </a:r>
              </a:p>
              <a:p>
                <a:pPr marL="39370">
                  <a:lnSpc>
                    <a:spcPts val="1165"/>
                  </a:lnSpc>
                  <a:spcBef>
                    <a:spcPts val="1745"/>
                  </a:spcBef>
                </a:pPr>
                <a:r>
                  <a:rPr lang="en-US" sz="3350" i="1" spc="-10" dirty="0">
                    <a:latin typeface="Symbol"/>
                    <a:cs typeface="Symbol"/>
                  </a:rPr>
                  <a:t> </a:t>
                </a:r>
                <a:r>
                  <a:rPr lang="en-US" sz="2400" i="1" spc="-10" dirty="0">
                    <a:latin typeface="Symbol"/>
                    <a:cs typeface="Symbol"/>
                  </a:rPr>
                  <a:t></a:t>
                </a:r>
                <a:r>
                  <a:rPr lang="en-US" sz="2400" spc="-15" baseline="-24024" dirty="0"/>
                  <a:t>r </a:t>
                </a:r>
                <a:r>
                  <a:rPr lang="en-US" sz="2400" spc="10" dirty="0">
                    <a:latin typeface="Symbol"/>
                    <a:cs typeface="Symbol"/>
                  </a:rPr>
                  <a:t></a:t>
                </a:r>
                <a:r>
                  <a:rPr lang="en-US" sz="2400" i="1" spc="10" dirty="0">
                    <a:latin typeface="Symbol"/>
                    <a:cs typeface="Symbol"/>
                  </a:rPr>
                  <a:t></a:t>
                </a:r>
                <a:r>
                  <a:rPr lang="en-US" sz="2400" i="1" spc="10" dirty="0">
                    <a:latin typeface="Times New Roman"/>
                    <a:cs typeface="Times New Roman"/>
                  </a:rPr>
                  <a:t> </a:t>
                </a:r>
                <a:r>
                  <a:rPr lang="en-US" sz="2400" spc="-85" dirty="0">
                    <a:latin typeface="Symbol"/>
                    <a:cs typeface="Symbol"/>
                  </a:rPr>
                  <a:t></a:t>
                </a:r>
                <a:r>
                  <a:rPr lang="en-US" sz="2400" spc="10" dirty="0">
                    <a:latin typeface="Times New Roman"/>
                    <a:cs typeface="Times New Roman"/>
                  </a:rPr>
                  <a:t> </a:t>
                </a:r>
                <a:r>
                  <a:rPr lang="en-US" sz="2400" spc="-90" dirty="0">
                    <a:latin typeface="Times New Roman"/>
                    <a:cs typeface="Times New Roman"/>
                  </a:rPr>
                  <a:t>90</a:t>
                </a:r>
                <a:r>
                  <a:rPr lang="en-US" sz="2400" baseline="30000" dirty="0"/>
                  <a:t>0</a:t>
                </a:r>
                <a:endParaRPr lang="en-US" sz="2400" dirty="0">
                  <a:latin typeface="Times New Roman"/>
                  <a:cs typeface="Times New Roman"/>
                </a:endParaRPr>
              </a:p>
              <a:p>
                <a:pPr>
                  <a:lnSpc>
                    <a:spcPct val="100000"/>
                  </a:lnSpc>
                  <a:spcBef>
                    <a:spcPts val="40"/>
                  </a:spcBef>
                </a:pPr>
                <a:endParaRPr lang="en-US" sz="2400" dirty="0">
                  <a:latin typeface="Times New Roman"/>
                  <a:cs typeface="Times New Roman"/>
                </a:endParaRPr>
              </a:p>
              <a:p>
                <a:pPr marL="39370">
                  <a:lnSpc>
                    <a:spcPts val="1165"/>
                  </a:lnSpc>
                  <a:tabLst>
                    <a:tab pos="491490" algn="l"/>
                    <a:tab pos="1390015" algn="l"/>
                  </a:tabLst>
                </a:pPr>
                <a:r>
                  <a:rPr lang="en-US" sz="2400" i="1" spc="-10" dirty="0">
                    <a:latin typeface="Symbol"/>
                    <a:cs typeface="Symbol"/>
                  </a:rPr>
                  <a:t> </a:t>
                </a:r>
                <a:r>
                  <a:rPr lang="en-US" sz="2400" spc="-15" baseline="-24024" dirty="0"/>
                  <a:t>r	</a:t>
                </a:r>
                <a:r>
                  <a:rPr lang="en-US" sz="2400" spc="-85" dirty="0">
                    <a:latin typeface="Symbol"/>
                    <a:cs typeface="Symbol"/>
                  </a:rPr>
                  <a:t></a:t>
                </a:r>
                <a:r>
                  <a:rPr lang="en-US" sz="2400" spc="-200" dirty="0">
                    <a:latin typeface="Times New Roman"/>
                    <a:cs typeface="Times New Roman"/>
                  </a:rPr>
                  <a:t> </a:t>
                </a:r>
                <a:r>
                  <a:rPr lang="en-US" sz="2400" spc="-45" dirty="0"/>
                  <a:t>90</a:t>
                </a:r>
                <a:r>
                  <a:rPr lang="en-US" sz="2400" spc="-67" baseline="43543" dirty="0"/>
                  <a:t>0 </a:t>
                </a:r>
                <a:r>
                  <a:rPr lang="en-US" sz="2400" spc="-15" dirty="0">
                    <a:latin typeface="Symbol"/>
                    <a:cs typeface="Symbol"/>
                  </a:rPr>
                  <a:t></a:t>
                </a:r>
                <a:r>
                  <a:rPr lang="en-US" sz="2400" i="1" spc="-15" dirty="0">
                    <a:latin typeface="Symbol"/>
                    <a:cs typeface="Symbol"/>
                  </a:rPr>
                  <a:t></a:t>
                </a:r>
                <a:endParaRPr lang="en-US" sz="2400" dirty="0">
                  <a:latin typeface="Symbol"/>
                  <a:cs typeface="Symbol"/>
                </a:endParaRPr>
              </a:p>
              <a:p>
                <a:pPr marL="1174750">
                  <a:lnSpc>
                    <a:spcPts val="1110"/>
                  </a:lnSpc>
                </a:pPr>
                <a:endParaRPr lang="en-US" sz="2400" dirty="0">
                  <a:latin typeface="Times New Roman"/>
                  <a:cs typeface="Times New Roman"/>
                </a:endParaRPr>
              </a:p>
              <a:p>
                <a:pPr marL="76200">
                  <a:lnSpc>
                    <a:spcPts val="3165"/>
                  </a:lnSpc>
                  <a:tabLst>
                    <a:tab pos="453390" algn="l"/>
                    <a:tab pos="1346835" algn="l"/>
                  </a:tabLst>
                </a:pPr>
                <a:r>
                  <a:rPr lang="en-US" sz="2400" spc="-85" dirty="0"/>
                  <a:t>n</a:t>
                </a:r>
                <a:r>
                  <a:rPr lang="en-US" sz="2400" spc="-127" baseline="-24024" dirty="0">
                    <a:latin typeface="Times New Roman"/>
                    <a:cs typeface="Times New Roman"/>
                  </a:rPr>
                  <a:t>0 </a:t>
                </a:r>
                <a:r>
                  <a:rPr lang="en-US" sz="2400" spc="-170" dirty="0">
                    <a:latin typeface="Times New Roman"/>
                    <a:cs typeface="Times New Roman"/>
                  </a:rPr>
                  <a:t>sin</a:t>
                </a:r>
                <a:r>
                  <a:rPr lang="en-US" sz="2400" spc="-250" dirty="0">
                    <a:latin typeface="Times New Roman"/>
                    <a:cs typeface="Times New Roman"/>
                  </a:rPr>
                  <a:t> </a:t>
                </a:r>
                <a:r>
                  <a:rPr lang="en-US" sz="2400" i="1" spc="-35" dirty="0">
                    <a:latin typeface="Symbol"/>
                    <a:cs typeface="Symbol"/>
                  </a:rPr>
                  <a:t> </a:t>
                </a:r>
                <a:r>
                  <a:rPr lang="en-US" sz="2400" spc="-52" baseline="-24024" dirty="0" err="1"/>
                  <a:t>i</a:t>
                </a:r>
                <a:r>
                  <a:rPr lang="en-US" sz="2400" spc="-52" baseline="-24024" dirty="0"/>
                  <a:t> </a:t>
                </a:r>
                <a:r>
                  <a:rPr lang="en-US" sz="2400" spc="-160" dirty="0">
                    <a:latin typeface="Times New Roman"/>
                    <a:cs typeface="Times New Roman"/>
                  </a:rPr>
                  <a:t>	</a:t>
                </a:r>
                <a:r>
                  <a:rPr lang="en-US" sz="2400" spc="-85" dirty="0">
                    <a:latin typeface="Symbol"/>
                    <a:cs typeface="Symbol"/>
                  </a:rPr>
                  <a:t></a:t>
                </a:r>
                <a:r>
                  <a:rPr lang="en-US" sz="2400" spc="-85" dirty="0">
                    <a:latin typeface="Times New Roman"/>
                    <a:cs typeface="Times New Roman"/>
                  </a:rPr>
                  <a:t> </a:t>
                </a:r>
                <a:r>
                  <a:rPr lang="en-US" sz="2400" spc="-170" dirty="0"/>
                  <a:t>n</a:t>
                </a:r>
                <a:r>
                  <a:rPr lang="en-US" sz="2400" spc="-254" baseline="-24024" dirty="0">
                    <a:latin typeface="Times New Roman"/>
                    <a:cs typeface="Times New Roman"/>
                  </a:rPr>
                  <a:t>1 </a:t>
                </a:r>
                <a:r>
                  <a:rPr lang="en-US" sz="2400" spc="-195" dirty="0">
                    <a:latin typeface="Times New Roman"/>
                    <a:cs typeface="Times New Roman"/>
                  </a:rPr>
                  <a:t>sin ( </a:t>
                </a:r>
                <a:r>
                  <a:rPr lang="en-US" sz="2400" spc="-45" dirty="0">
                    <a:latin typeface="Times New Roman"/>
                    <a:cs typeface="Times New Roman"/>
                  </a:rPr>
                  <a:t>90</a:t>
                </a:r>
                <a:r>
                  <a:rPr lang="en-US" sz="2400" spc="-67" baseline="43543" dirty="0">
                    <a:latin typeface="Times New Roman"/>
                    <a:cs typeface="Times New Roman"/>
                  </a:rPr>
                  <a:t>0 </a:t>
                </a:r>
                <a:r>
                  <a:rPr lang="en-US" sz="2400" spc="-15" dirty="0">
                    <a:latin typeface="Symbol"/>
                    <a:cs typeface="Symbol"/>
                  </a:rPr>
                  <a:t></a:t>
                </a:r>
                <a:r>
                  <a:rPr lang="en-US" sz="2400" i="1" spc="-15" dirty="0">
                    <a:latin typeface="Symbol"/>
                    <a:cs typeface="Symbol"/>
                  </a:rPr>
                  <a:t></a:t>
                </a:r>
                <a:r>
                  <a:rPr lang="en-US" sz="2400" i="1" spc="-210" dirty="0">
                    <a:latin typeface="Times New Roman"/>
                    <a:cs typeface="Times New Roman"/>
                  </a:rPr>
                  <a:t> </a:t>
                </a:r>
                <a:r>
                  <a:rPr lang="en-US" sz="2400" spc="-55" dirty="0">
                    <a:latin typeface="Times New Roman"/>
                    <a:cs typeface="Times New Roman"/>
                  </a:rPr>
                  <a:t>)</a:t>
                </a:r>
                <a:endParaRPr lang="en-US" sz="2400" dirty="0">
                  <a:latin typeface="Times New Roman"/>
                  <a:cs typeface="Times New Roman"/>
                </a:endParaRPr>
              </a:p>
              <a:p>
                <a:pPr marL="76200">
                  <a:lnSpc>
                    <a:spcPct val="100000"/>
                  </a:lnSpc>
                  <a:spcBef>
                    <a:spcPts val="390"/>
                  </a:spcBef>
                  <a:tabLst>
                    <a:tab pos="1346835" algn="l"/>
                  </a:tabLst>
                </a:pPr>
                <a:r>
                  <a:rPr lang="en-US" sz="2400" spc="-85" dirty="0"/>
                  <a:t> n</a:t>
                </a:r>
                <a:r>
                  <a:rPr lang="en-US" sz="2400" spc="-127" baseline="-24024" dirty="0">
                    <a:latin typeface="Times New Roman"/>
                    <a:cs typeface="Times New Roman"/>
                  </a:rPr>
                  <a:t>0</a:t>
                </a:r>
                <a:r>
                  <a:rPr lang="en-US" sz="2400" spc="217" baseline="-24024" dirty="0">
                    <a:latin typeface="Times New Roman"/>
                    <a:cs typeface="Times New Roman"/>
                  </a:rPr>
                  <a:t> </a:t>
                </a:r>
                <a:r>
                  <a:rPr lang="en-US" sz="2400" spc="-170" dirty="0">
                    <a:latin typeface="Times New Roman"/>
                    <a:cs typeface="Times New Roman"/>
                  </a:rPr>
                  <a:t>sin</a:t>
                </a:r>
                <a:r>
                  <a:rPr lang="en-US" sz="2400" spc="-245" dirty="0">
                    <a:latin typeface="Times New Roman"/>
                    <a:cs typeface="Times New Roman"/>
                  </a:rPr>
                  <a:t> </a:t>
                </a:r>
                <a:r>
                  <a:rPr lang="en-US" sz="2400" i="1" spc="-35" dirty="0">
                    <a:latin typeface="Symbol"/>
                    <a:cs typeface="Symbol"/>
                  </a:rPr>
                  <a:t></a:t>
                </a:r>
                <a:r>
                  <a:rPr lang="en-US" sz="2400" spc="-52" baseline="-24024" dirty="0" err="1"/>
                  <a:t>i</a:t>
                </a:r>
                <a:r>
                  <a:rPr lang="en-US" sz="2400" spc="-52" baseline="-24024" dirty="0"/>
                  <a:t>	</a:t>
                </a:r>
                <a:r>
                  <a:rPr lang="en-US" sz="2400" spc="-85" dirty="0">
                    <a:latin typeface="Symbol"/>
                    <a:cs typeface="Symbol"/>
                  </a:rPr>
                  <a:t></a:t>
                </a:r>
                <a:r>
                  <a:rPr lang="en-US" sz="2400" spc="-85" dirty="0">
                    <a:latin typeface="Times New Roman"/>
                    <a:cs typeface="Times New Roman"/>
                  </a:rPr>
                  <a:t> </a:t>
                </a:r>
                <a:r>
                  <a:rPr lang="en-US" sz="2400" spc="-170" dirty="0"/>
                  <a:t>n</a:t>
                </a:r>
                <a:r>
                  <a:rPr lang="en-US" sz="2400" spc="-254" baseline="-24024" dirty="0">
                    <a:latin typeface="Times New Roman"/>
                    <a:cs typeface="Times New Roman"/>
                  </a:rPr>
                  <a:t>1</a:t>
                </a:r>
                <a:r>
                  <a:rPr lang="en-US" sz="2400" spc="-70" dirty="0">
                    <a:latin typeface="Times New Roman"/>
                    <a:cs typeface="Times New Roman"/>
                  </a:rPr>
                  <a:t>cos</a:t>
                </a:r>
                <a:r>
                  <a:rPr lang="en-US" sz="2400" i="1" spc="-70" dirty="0">
                    <a:latin typeface="Symbol"/>
                    <a:cs typeface="Symbol"/>
                  </a:rPr>
                  <a:t></a:t>
                </a:r>
              </a:p>
              <a:p>
                <a:pPr marL="76200">
                  <a:lnSpc>
                    <a:spcPct val="100000"/>
                  </a:lnSpc>
                  <a:spcBef>
                    <a:spcPts val="390"/>
                  </a:spcBef>
                  <a:tabLst>
                    <a:tab pos="1346835" algn="l"/>
                  </a:tabLst>
                </a:pPr>
                <a:r>
                  <a:rPr lang="en-US" sz="2400" spc="-114" dirty="0">
                    <a:latin typeface="Times New Roman"/>
                    <a:cs typeface="Times New Roman"/>
                  </a:rPr>
                  <a:t> </a:t>
                </a:r>
                <a:r>
                  <a:rPr lang="en-US" sz="2400" spc="-170" dirty="0">
                    <a:latin typeface="Times New Roman"/>
                    <a:cs typeface="Times New Roman"/>
                  </a:rPr>
                  <a:t>sin</a:t>
                </a:r>
                <a:r>
                  <a:rPr lang="en-US" sz="2400" spc="-250" dirty="0">
                    <a:latin typeface="Times New Roman"/>
                    <a:cs typeface="Times New Roman"/>
                  </a:rPr>
                  <a:t> </a:t>
                </a:r>
                <a:r>
                  <a:rPr lang="en-US" sz="2400" i="1" spc="-35" dirty="0">
                    <a:latin typeface="Symbol"/>
                    <a:cs typeface="Symbol"/>
                  </a:rPr>
                  <a:t> </a:t>
                </a:r>
                <a:r>
                  <a:rPr lang="en-US" sz="2400" spc="-52" baseline="-24024" dirty="0" err="1"/>
                  <a:t>i</a:t>
                </a:r>
                <a:r>
                  <a:rPr lang="en-US" sz="2400" spc="-52" baseline="-24024" dirty="0"/>
                  <a:t> </a:t>
                </a:r>
                <a:r>
                  <a:rPr lang="en-US" sz="2400" spc="-85" dirty="0">
                    <a:latin typeface="Symbol"/>
                    <a:cs typeface="Symbol"/>
                  </a:rPr>
                  <a:t> </a:t>
                </a:r>
                <a14:m>
                  <m:oMath xmlns:m="http://schemas.openxmlformats.org/officeDocument/2006/math">
                    <m:box>
                      <m:boxPr>
                        <m:ctrlPr>
                          <a:rPr lang="ar-AE" sz="2400" i="1" spc="-85" smtClean="0">
                            <a:latin typeface="Cambria Math" panose="02040503050406030204" pitchFamily="18" charset="0"/>
                            <a:cs typeface="Symbol"/>
                          </a:rPr>
                        </m:ctrlPr>
                      </m:boxPr>
                      <m:e>
                        <m:argPr>
                          <m:argSz m:val="-1"/>
                        </m:argPr>
                        <m:f>
                          <m:fPr>
                            <m:ctrlPr>
                              <a:rPr lang="ar-AE" sz="2400" i="1" spc="-85" smtClean="0">
                                <a:latin typeface="Cambria Math" panose="02040503050406030204" pitchFamily="18" charset="0"/>
                                <a:cs typeface="Symbol"/>
                              </a:rPr>
                            </m:ctrlPr>
                          </m:fPr>
                          <m:num>
                            <m:r>
                              <m:rPr>
                                <m:nor/>
                              </m:rPr>
                              <a:rPr lang="en-US" sz="2400" spc="-170" dirty="0"/>
                              <m:t>n</m:t>
                            </m:r>
                            <m:r>
                              <m:rPr>
                                <m:nor/>
                              </m:rPr>
                              <a:rPr lang="en-US" sz="2400" spc="-254" baseline="-24024" dirty="0">
                                <a:latin typeface="Times New Roman"/>
                                <a:cs typeface="Times New Roman"/>
                              </a:rPr>
                              <m:t>1</m:t>
                            </m:r>
                          </m:num>
                          <m:den>
                            <m:r>
                              <m:rPr>
                                <m:nor/>
                              </m:rPr>
                              <a:rPr lang="en-US" sz="2400" spc="-85" dirty="0"/>
                              <m:t>n</m:t>
                            </m:r>
                            <m:r>
                              <m:rPr>
                                <m:nor/>
                              </m:rPr>
                              <a:rPr lang="en-US" sz="2400" spc="-127" baseline="-24024" dirty="0">
                                <a:latin typeface="Times New Roman"/>
                                <a:cs typeface="Times New Roman"/>
                              </a:rPr>
                              <m:t>0</m:t>
                            </m:r>
                            <m:r>
                              <m:rPr>
                                <m:nor/>
                              </m:rPr>
                              <a:rPr lang="en-US" sz="2400" b="0" i="0" spc="-127" baseline="-24024" dirty="0" smtClean="0">
                                <a:latin typeface="Times New Roman"/>
                                <a:cs typeface="Times New Roman"/>
                              </a:rPr>
                              <m:t> </m:t>
                            </m:r>
                          </m:den>
                        </m:f>
                      </m:e>
                    </m:box>
                  </m:oMath>
                </a14:m>
                <a:r>
                  <a:rPr lang="en-US" sz="2400" spc="-70" dirty="0">
                    <a:latin typeface="Times New Roman"/>
                    <a:cs typeface="Times New Roman"/>
                  </a:rPr>
                  <a:t> cos</a:t>
                </a:r>
                <a:r>
                  <a:rPr lang="en-US" sz="2400" i="1" spc="-70" dirty="0">
                    <a:latin typeface="Symbol"/>
                    <a:cs typeface="Symbol"/>
                  </a:rPr>
                  <a:t> </a:t>
                </a:r>
                <a:r>
                  <a:rPr lang="en-US" sz="2400" spc="-80" dirty="0"/>
                  <a:t>.................(2)</a:t>
                </a:r>
              </a:p>
            </p:txBody>
          </p:sp>
        </mc:Choice>
        <mc:Fallback xmlns="">
          <p:sp>
            <p:nvSpPr>
              <p:cNvPr id="12" name="object 14"/>
              <p:cNvSpPr txBox="1">
                <a:spLocks noGrp="1" noRot="1" noChangeAspect="1" noMove="1" noResize="1" noEditPoints="1" noAdjustHandles="1" noChangeArrowheads="1" noChangeShapeType="1" noTextEdit="1"/>
              </p:cNvSpPr>
              <p:nvPr>
                <p:ph type="body" sz="half" idx="2"/>
              </p:nvPr>
            </p:nvSpPr>
            <p:spPr>
              <a:xfrm>
                <a:off x="0" y="1328077"/>
                <a:ext cx="5623427" cy="4738092"/>
              </a:xfrm>
              <a:prstGeom prst="rect">
                <a:avLst/>
              </a:prstGeom>
              <a:blipFill rotWithShape="0">
                <a:blip r:embed="rId2"/>
                <a:stretch>
                  <a:fillRect l="-2820" t="-1673" b="-2188"/>
                </a:stretch>
              </a:blipFill>
            </p:spPr>
            <p:txBody>
              <a:bodyPr/>
              <a:lstStyle/>
              <a:p>
                <a:r>
                  <a:rPr lang="en-US">
                    <a:noFill/>
                  </a:rPr>
                  <a:t> </a:t>
                </a:r>
              </a:p>
            </p:txBody>
          </p:sp>
        </mc:Fallback>
      </mc:AlternateContent>
      <p:pic>
        <p:nvPicPr>
          <p:cNvPr id="9" name="Content Placeholder 8"/>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23428" y="1328077"/>
            <a:ext cx="5992738" cy="5041558"/>
          </a:xfrm>
        </p:spPr>
      </p:pic>
      <p:sp>
        <p:nvSpPr>
          <p:cNvPr id="10" name="TextBox 9"/>
          <p:cNvSpPr txBox="1"/>
          <p:nvPr/>
        </p:nvSpPr>
        <p:spPr>
          <a:xfrm>
            <a:off x="5653392" y="6369635"/>
            <a:ext cx="5700408" cy="338554"/>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                Figure 2.8 Diagram of Acceptance angle [8]</a:t>
            </a:r>
          </a:p>
        </p:txBody>
      </p:sp>
    </p:spTree>
    <p:extLst>
      <p:ext uri="{BB962C8B-B14F-4D97-AF65-F5344CB8AC3E}">
        <p14:creationId xmlns:p14="http://schemas.microsoft.com/office/powerpoint/2010/main" val="207933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a:xfrm>
                <a:off x="1128409" y="622570"/>
                <a:ext cx="9552560" cy="5933873"/>
              </a:xfrm>
            </p:spPr>
            <p:txBody>
              <a:bodyPr>
                <a:normAutofit/>
              </a:bodyPr>
              <a:lstStyle/>
              <a:p>
                <a:r>
                  <a:rPr lang="en-US" sz="2800" i="1" spc="90" dirty="0">
                    <a:latin typeface="Times New Roman"/>
                    <a:cs typeface="Times New Roman"/>
                  </a:rPr>
                  <a:t>              </a:t>
                </a:r>
              </a:p>
              <a:p>
                <a:r>
                  <a:rPr lang="en-US" sz="2400" spc="90" dirty="0">
                    <a:latin typeface="Times New Roman"/>
                    <a:cs typeface="Times New Roman"/>
                  </a:rPr>
                  <a:t>when</a:t>
                </a:r>
                <a:r>
                  <a:rPr lang="en-US" sz="2400" spc="-110" dirty="0">
                    <a:latin typeface="Times New Roman"/>
                    <a:cs typeface="Times New Roman"/>
                  </a:rPr>
                  <a:t> </a:t>
                </a:r>
                <a:r>
                  <a:rPr lang="en-US" sz="2400" spc="5" dirty="0">
                    <a:latin typeface="Symbol"/>
                    <a:cs typeface="Symbol"/>
                  </a:rPr>
                  <a:t></a:t>
                </a:r>
                <a:r>
                  <a:rPr lang="en-US" sz="2400" spc="250" dirty="0"/>
                  <a:t> </a:t>
                </a:r>
                <a:r>
                  <a:rPr lang="en-US" sz="2400" spc="90" dirty="0">
                    <a:latin typeface="Symbol"/>
                    <a:cs typeface="Symbol"/>
                  </a:rPr>
                  <a:t></a:t>
                </a:r>
                <a:r>
                  <a:rPr lang="en-US" sz="2400" spc="-45" dirty="0"/>
                  <a:t> </a:t>
                </a:r>
                <a:r>
                  <a:rPr lang="en-US" sz="2400" spc="40" dirty="0">
                    <a:latin typeface="Times New Roman"/>
                    <a:cs typeface="Times New Roman"/>
                  </a:rPr>
                  <a:t>critical</a:t>
                </a:r>
                <a:r>
                  <a:rPr lang="en-US" sz="2400" spc="315" dirty="0">
                    <a:latin typeface="Times New Roman"/>
                    <a:cs typeface="Times New Roman"/>
                  </a:rPr>
                  <a:t> </a:t>
                </a:r>
                <a:r>
                  <a:rPr lang="en-US" sz="2400" spc="50" dirty="0">
                    <a:latin typeface="Times New Roman"/>
                    <a:cs typeface="Times New Roman"/>
                  </a:rPr>
                  <a:t>angle </a:t>
                </a:r>
                <a:r>
                  <a:rPr lang="en-US" sz="2400" spc="50" dirty="0"/>
                  <a:t>(</a:t>
                </a:r>
                <a:r>
                  <a:rPr lang="en-US" sz="2400" i="1" spc="50" dirty="0">
                    <a:latin typeface="Symbol"/>
                    <a:cs typeface="Symbol"/>
                  </a:rPr>
                  <a:t></a:t>
                </a:r>
                <a:r>
                  <a:rPr lang="en-US" sz="2400" i="1" spc="75" baseline="-23504" dirty="0">
                    <a:latin typeface="Times New Roman"/>
                    <a:cs typeface="Times New Roman"/>
                  </a:rPr>
                  <a:t>c</a:t>
                </a:r>
                <a:r>
                  <a:rPr lang="en-US" sz="2400" i="1" spc="-37" baseline="-23504" dirty="0">
                    <a:latin typeface="Times New Roman"/>
                    <a:cs typeface="Times New Roman"/>
                  </a:rPr>
                  <a:t> </a:t>
                </a:r>
                <a:r>
                  <a:rPr lang="en-US" sz="2400" spc="50" dirty="0"/>
                  <a:t>)</a:t>
                </a:r>
                <a:r>
                  <a:rPr lang="en-US" sz="2400" spc="-50" dirty="0"/>
                  <a:t> </a:t>
                </a:r>
                <a:r>
                  <a:rPr lang="en-US" sz="2400" spc="160" dirty="0">
                    <a:latin typeface="Symbol"/>
                    <a:cs typeface="Symbol"/>
                  </a:rPr>
                  <a:t></a:t>
                </a:r>
                <a:r>
                  <a:rPr lang="en-US" sz="2400" spc="-275" dirty="0"/>
                  <a:t> </a:t>
                </a:r>
                <a:r>
                  <a:rPr lang="en-US" sz="2400" i="1" spc="65" dirty="0">
                    <a:latin typeface="Symbol"/>
                    <a:cs typeface="Symbol"/>
                  </a:rPr>
                  <a:t></a:t>
                </a:r>
                <a:r>
                  <a:rPr lang="en-US" sz="2400" i="1" spc="97" baseline="-23504" dirty="0" err="1">
                    <a:latin typeface="Times New Roman"/>
                    <a:cs typeface="Times New Roman"/>
                  </a:rPr>
                  <a:t>i</a:t>
                </a:r>
                <a:r>
                  <a:rPr lang="en-US" sz="2400" i="1" spc="195" baseline="-23504" dirty="0">
                    <a:latin typeface="Times New Roman"/>
                    <a:cs typeface="Times New Roman"/>
                  </a:rPr>
                  <a:t> </a:t>
                </a:r>
                <a:r>
                  <a:rPr lang="en-US" sz="2400" spc="90" dirty="0">
                    <a:latin typeface="Symbol"/>
                    <a:cs typeface="Symbol"/>
                  </a:rPr>
                  <a:t></a:t>
                </a:r>
                <a:r>
                  <a:rPr lang="en-US" sz="2400" spc="-235" dirty="0"/>
                  <a:t> </a:t>
                </a:r>
                <a:r>
                  <a:rPr lang="en-US" sz="2400" i="1" spc="110" dirty="0">
                    <a:latin typeface="Symbol"/>
                    <a:cs typeface="Symbol"/>
                  </a:rPr>
                  <a:t></a:t>
                </a:r>
                <a:r>
                  <a:rPr lang="en-US" sz="2400" i="1" spc="165" baseline="-23504" dirty="0">
                    <a:latin typeface="Times New Roman"/>
                    <a:cs typeface="Times New Roman"/>
                  </a:rPr>
                  <a:t>m</a:t>
                </a:r>
              </a:p>
              <a:p>
                <a:endParaRPr lang="en-US" sz="2400" i="1" spc="165" baseline="-23504" dirty="0">
                  <a:latin typeface="Times New Roman"/>
                  <a:cs typeface="Times New Roman"/>
                </a:endParaRPr>
              </a:p>
              <a:p>
                <a:r>
                  <a:rPr lang="en-US" sz="2400" spc="-114" dirty="0">
                    <a:latin typeface="Times New Roman"/>
                    <a:cs typeface="Times New Roman"/>
                  </a:rPr>
                  <a:t> </a:t>
                </a:r>
                <a:r>
                  <a:rPr lang="en-US" sz="2400" spc="-170" dirty="0">
                    <a:latin typeface="Times New Roman"/>
                    <a:cs typeface="Times New Roman"/>
                  </a:rPr>
                  <a:t>sin</a:t>
                </a:r>
                <a:r>
                  <a:rPr lang="en-US" sz="2400" spc="-250" dirty="0">
                    <a:latin typeface="Times New Roman"/>
                    <a:cs typeface="Times New Roman"/>
                  </a:rPr>
                  <a:t> </a:t>
                </a:r>
                <a:r>
                  <a:rPr lang="en-US" sz="2400" i="1" spc="-35" dirty="0">
                    <a:latin typeface="Symbol"/>
                    <a:cs typeface="Symbol"/>
                  </a:rPr>
                  <a:t></a:t>
                </a:r>
                <a:r>
                  <a:rPr lang="en-US" sz="2400" spc="-52" baseline="-24024" dirty="0"/>
                  <a:t>m</a:t>
                </a:r>
                <a:r>
                  <a:rPr lang="en-US" sz="2400" spc="-85" dirty="0">
                    <a:latin typeface="Symbol"/>
                    <a:cs typeface="Symbol"/>
                  </a:rPr>
                  <a:t> </a:t>
                </a:r>
                <a14:m>
                  <m:oMath xmlns:m="http://schemas.openxmlformats.org/officeDocument/2006/math">
                    <m:box>
                      <m:boxPr>
                        <m:ctrlPr>
                          <a:rPr lang="ar-AE" sz="2400" i="1" spc="-85">
                            <a:latin typeface="Cambria Math" panose="02040503050406030204" pitchFamily="18" charset="0"/>
                            <a:cs typeface="Symbol"/>
                          </a:rPr>
                        </m:ctrlPr>
                      </m:boxPr>
                      <m:e>
                        <m:argPr>
                          <m:argSz m:val="-1"/>
                        </m:argPr>
                        <m:f>
                          <m:fPr>
                            <m:ctrlPr>
                              <a:rPr lang="ar-AE" sz="2400" i="1" spc="-85">
                                <a:latin typeface="Cambria Math" panose="02040503050406030204" pitchFamily="18" charset="0"/>
                                <a:cs typeface="Symbol"/>
                              </a:rPr>
                            </m:ctrlPr>
                          </m:fPr>
                          <m:num>
                            <m:r>
                              <m:rPr>
                                <m:nor/>
                              </m:rPr>
                              <a:rPr lang="en-US" sz="2400" spc="-170" dirty="0"/>
                              <m:t>n</m:t>
                            </m:r>
                            <m:r>
                              <m:rPr>
                                <m:nor/>
                              </m:rPr>
                              <a:rPr lang="en-US" sz="2400" spc="-254" baseline="-24024" dirty="0">
                                <a:latin typeface="Times New Roman"/>
                                <a:cs typeface="Times New Roman"/>
                              </a:rPr>
                              <m:t>1</m:t>
                            </m:r>
                          </m:num>
                          <m:den>
                            <m:r>
                              <m:rPr>
                                <m:nor/>
                              </m:rPr>
                              <a:rPr lang="en-US" sz="2400" spc="-85" dirty="0"/>
                              <m:t>n</m:t>
                            </m:r>
                            <m:r>
                              <m:rPr>
                                <m:nor/>
                              </m:rPr>
                              <a:rPr lang="en-US" sz="2400" spc="-127" baseline="-24024" dirty="0">
                                <a:latin typeface="Times New Roman"/>
                                <a:cs typeface="Times New Roman"/>
                              </a:rPr>
                              <m:t>0 </m:t>
                            </m:r>
                          </m:den>
                        </m:f>
                      </m:e>
                    </m:box>
                  </m:oMath>
                </a14:m>
                <a:r>
                  <a:rPr lang="en-US" sz="2400" spc="-70" dirty="0">
                    <a:latin typeface="Times New Roman"/>
                    <a:cs typeface="Times New Roman"/>
                  </a:rPr>
                  <a:t> cos</a:t>
                </a:r>
                <a:r>
                  <a:rPr lang="en-US" sz="2400" i="1" spc="-70" dirty="0">
                    <a:latin typeface="Symbol"/>
                    <a:cs typeface="Symbol"/>
                  </a:rPr>
                  <a:t> </a:t>
                </a:r>
                <a:r>
                  <a:rPr lang="en-US" sz="2400" i="1" spc="-70" baseline="-25000" dirty="0">
                    <a:latin typeface="Times New Roman" panose="02020603050405020304" pitchFamily="18" charset="0"/>
                    <a:cs typeface="Times New Roman" panose="02020603050405020304" pitchFamily="18" charset="0"/>
                  </a:rPr>
                  <a:t>c</a:t>
                </a:r>
                <a:r>
                  <a:rPr lang="en-US" sz="2400" spc="-70" dirty="0">
                    <a:latin typeface="Times New Roman" panose="02020603050405020304" pitchFamily="18" charset="0"/>
                    <a:cs typeface="Times New Roman" panose="02020603050405020304" pitchFamily="18" charset="0"/>
                  </a:rPr>
                  <a:t>  ………………….</a:t>
                </a:r>
                <a:r>
                  <a:rPr lang="en-US" sz="2400" i="1" spc="-70" dirty="0">
                    <a:latin typeface="Times New Roman" panose="02020603050405020304" pitchFamily="18" charset="0"/>
                    <a:cs typeface="Times New Roman" panose="02020603050405020304" pitchFamily="18" charset="0"/>
                  </a:rPr>
                  <a:t> </a:t>
                </a:r>
                <a:r>
                  <a:rPr lang="en-US" sz="2400" spc="-70" dirty="0">
                    <a:latin typeface="Times New Roman" panose="02020603050405020304" pitchFamily="18" charset="0"/>
                    <a:cs typeface="Times New Roman" panose="02020603050405020304" pitchFamily="18" charset="0"/>
                  </a:rPr>
                  <a:t>(3)</a:t>
                </a:r>
              </a:p>
              <a:p>
                <a:endParaRPr lang="en-US" sz="2400" dirty="0">
                  <a:latin typeface="Times New Roman"/>
                  <a:cs typeface="Times New Roman"/>
                </a:endParaRPr>
              </a:p>
              <a:p>
                <a:pPr marL="25400">
                  <a:lnSpc>
                    <a:spcPct val="100000"/>
                  </a:lnSpc>
                  <a:spcBef>
                    <a:spcPts val="370"/>
                  </a:spcBef>
                </a:pPr>
                <a:r>
                  <a:rPr lang="en-US" sz="2400" spc="55" dirty="0">
                    <a:latin typeface="Times New Roman"/>
                    <a:cs typeface="Times New Roman"/>
                  </a:rPr>
                  <a:t>according </a:t>
                </a:r>
                <a:r>
                  <a:rPr lang="en-US" sz="2400" spc="100" dirty="0">
                    <a:latin typeface="Times New Roman"/>
                    <a:cs typeface="Times New Roman"/>
                  </a:rPr>
                  <a:t>to </a:t>
                </a:r>
                <a:r>
                  <a:rPr lang="en-US" sz="2400" spc="55" dirty="0">
                    <a:latin typeface="Times New Roman"/>
                    <a:cs typeface="Times New Roman"/>
                  </a:rPr>
                  <a:t>law </a:t>
                </a:r>
                <a:r>
                  <a:rPr lang="en-US" sz="2400" spc="60" dirty="0">
                    <a:latin typeface="Times New Roman"/>
                    <a:cs typeface="Times New Roman"/>
                  </a:rPr>
                  <a:t>of</a:t>
                </a:r>
                <a:r>
                  <a:rPr lang="en-US" sz="2400" spc="-30" dirty="0">
                    <a:latin typeface="Times New Roman"/>
                    <a:cs typeface="Times New Roman"/>
                  </a:rPr>
                  <a:t> </a:t>
                </a:r>
                <a:r>
                  <a:rPr lang="en-US" sz="2400" spc="60" dirty="0">
                    <a:latin typeface="Times New Roman"/>
                    <a:cs typeface="Times New Roman"/>
                  </a:rPr>
                  <a:t>refraction</a:t>
                </a:r>
                <a:endParaRPr lang="en-US" sz="2400" dirty="0">
                  <a:latin typeface="Times New Roman"/>
                  <a:cs typeface="Times New Roman"/>
                </a:endParaRPr>
              </a:p>
              <a:p>
                <a:pPr marL="25400">
                  <a:lnSpc>
                    <a:spcPct val="100000"/>
                  </a:lnSpc>
                  <a:spcBef>
                    <a:spcPts val="1030"/>
                  </a:spcBef>
                </a:pPr>
                <a:r>
                  <a:rPr lang="en-US" sz="2400" i="1" spc="-20" dirty="0">
                    <a:latin typeface="Times New Roman"/>
                    <a:cs typeface="Times New Roman"/>
                  </a:rPr>
                  <a:t>n</a:t>
                </a:r>
                <a:r>
                  <a:rPr lang="en-US" sz="2400" spc="-30" baseline="-23504" dirty="0">
                    <a:latin typeface="Times New Roman"/>
                    <a:cs typeface="Times New Roman"/>
                  </a:rPr>
                  <a:t>1 </a:t>
                </a:r>
                <a:r>
                  <a:rPr lang="en-US" sz="2400" spc="-25" dirty="0">
                    <a:latin typeface="Times New Roman"/>
                    <a:cs typeface="Times New Roman"/>
                  </a:rPr>
                  <a:t>sin </a:t>
                </a:r>
                <a:r>
                  <a:rPr lang="en-US" sz="2400" i="1" spc="45" dirty="0" err="1">
                    <a:latin typeface="Times New Roman"/>
                    <a:cs typeface="Times New Roman"/>
                  </a:rPr>
                  <a:t>i</a:t>
                </a:r>
                <a:r>
                  <a:rPr lang="en-US" sz="2400" i="1" spc="45" dirty="0">
                    <a:latin typeface="Times New Roman"/>
                    <a:cs typeface="Times New Roman"/>
                  </a:rPr>
                  <a:t> </a:t>
                </a:r>
                <a:r>
                  <a:rPr lang="en-US" sz="2400" spc="90" dirty="0">
                    <a:latin typeface="Symbol"/>
                    <a:cs typeface="Symbol"/>
                  </a:rPr>
                  <a:t></a:t>
                </a:r>
                <a:r>
                  <a:rPr lang="en-US" sz="2400" spc="90" dirty="0">
                    <a:latin typeface="Times New Roman"/>
                    <a:cs typeface="Times New Roman"/>
                  </a:rPr>
                  <a:t> </a:t>
                </a:r>
                <a:r>
                  <a:rPr lang="en-US" sz="2400" i="1" spc="60" dirty="0">
                    <a:latin typeface="Times New Roman"/>
                    <a:cs typeface="Times New Roman"/>
                  </a:rPr>
                  <a:t>n</a:t>
                </a:r>
                <a:r>
                  <a:rPr lang="en-US" sz="2400" spc="89" baseline="-23504" dirty="0">
                    <a:latin typeface="Times New Roman"/>
                    <a:cs typeface="Times New Roman"/>
                  </a:rPr>
                  <a:t>2 </a:t>
                </a:r>
                <a:r>
                  <a:rPr lang="en-US" sz="2400" spc="-25" dirty="0">
                    <a:latin typeface="Times New Roman"/>
                    <a:cs typeface="Times New Roman"/>
                  </a:rPr>
                  <a:t>sin</a:t>
                </a:r>
                <a:r>
                  <a:rPr lang="en-US" sz="2400" spc="245" dirty="0">
                    <a:latin typeface="Times New Roman"/>
                    <a:cs typeface="Times New Roman"/>
                  </a:rPr>
                  <a:t> </a:t>
                </a:r>
                <a:r>
                  <a:rPr lang="en-US" sz="2400" i="1" spc="60" dirty="0">
                    <a:latin typeface="Times New Roman"/>
                    <a:cs typeface="Times New Roman"/>
                  </a:rPr>
                  <a:t>r  </a:t>
                </a:r>
              </a:p>
              <a:p>
                <a:pPr marL="25400">
                  <a:lnSpc>
                    <a:spcPct val="100000"/>
                  </a:lnSpc>
                  <a:spcBef>
                    <a:spcPts val="1030"/>
                  </a:spcBef>
                </a:pPr>
                <a:r>
                  <a:rPr lang="en-US" sz="2400" spc="60" dirty="0">
                    <a:latin typeface="Times New Roman"/>
                    <a:cs typeface="Times New Roman"/>
                  </a:rPr>
                  <a:t>here</a:t>
                </a:r>
                <a:r>
                  <a:rPr lang="en-US" sz="2400" i="1" spc="60" dirty="0">
                    <a:latin typeface="Times New Roman"/>
                    <a:cs typeface="Times New Roman"/>
                  </a:rPr>
                  <a:t> </a:t>
                </a:r>
                <a:r>
                  <a:rPr lang="en-US" sz="2400" i="1" spc="45" dirty="0" err="1">
                    <a:latin typeface="Times New Roman"/>
                    <a:cs typeface="Times New Roman"/>
                  </a:rPr>
                  <a:t>i</a:t>
                </a:r>
                <a:r>
                  <a:rPr lang="en-US" sz="2400" i="1" spc="45" dirty="0">
                    <a:latin typeface="Times New Roman"/>
                    <a:cs typeface="Times New Roman"/>
                  </a:rPr>
                  <a:t> </a:t>
                </a:r>
                <a:r>
                  <a:rPr lang="en-US" sz="2400" spc="90" dirty="0">
                    <a:latin typeface="Symbol"/>
                    <a:cs typeface="Symbol"/>
                  </a:rPr>
                  <a:t></a:t>
                </a:r>
                <a:r>
                  <a:rPr lang="en-US" sz="2400" spc="90" dirty="0">
                    <a:latin typeface="Times New Roman"/>
                    <a:cs typeface="Times New Roman"/>
                  </a:rPr>
                  <a:t> </a:t>
                </a:r>
                <a:r>
                  <a:rPr lang="en-US" sz="2400" i="1" spc="85" dirty="0">
                    <a:latin typeface="Symbol"/>
                    <a:cs typeface="Symbol"/>
                  </a:rPr>
                  <a:t></a:t>
                </a:r>
                <a:r>
                  <a:rPr lang="en-US" sz="2400" i="1" spc="127" baseline="-23504" dirty="0">
                    <a:latin typeface="Times New Roman"/>
                    <a:cs typeface="Times New Roman"/>
                  </a:rPr>
                  <a:t>c </a:t>
                </a:r>
                <a:r>
                  <a:rPr lang="en-US" sz="2400" spc="160" dirty="0">
                    <a:latin typeface="Symbol"/>
                    <a:cs typeface="Symbol"/>
                  </a:rPr>
                  <a:t></a:t>
                </a:r>
                <a:r>
                  <a:rPr lang="en-US" sz="2400" spc="160" dirty="0">
                    <a:latin typeface="Times New Roman"/>
                    <a:cs typeface="Times New Roman"/>
                  </a:rPr>
                  <a:t> </a:t>
                </a:r>
                <a:r>
                  <a:rPr lang="en-US" sz="2400" i="1" spc="60" dirty="0">
                    <a:latin typeface="Times New Roman"/>
                    <a:cs typeface="Times New Roman"/>
                  </a:rPr>
                  <a:t>r </a:t>
                </a:r>
                <a:r>
                  <a:rPr lang="en-US" sz="2400" spc="90" dirty="0">
                    <a:latin typeface="Symbol"/>
                    <a:cs typeface="Symbol"/>
                  </a:rPr>
                  <a:t></a:t>
                </a:r>
                <a:r>
                  <a:rPr lang="en-US" sz="2400" spc="-260" dirty="0">
                    <a:latin typeface="Times New Roman"/>
                    <a:cs typeface="Times New Roman"/>
                  </a:rPr>
                  <a:t> </a:t>
                </a:r>
                <a:r>
                  <a:rPr lang="en-US" sz="2400" spc="80" dirty="0">
                    <a:latin typeface="Times New Roman"/>
                    <a:cs typeface="Times New Roman"/>
                  </a:rPr>
                  <a:t>90</a:t>
                </a:r>
                <a:endParaRPr lang="en-US" sz="2400" dirty="0">
                  <a:latin typeface="Times New Roman"/>
                  <a:cs typeface="Times New Roman"/>
                </a:endParaRPr>
              </a:p>
              <a:p>
                <a:r>
                  <a:rPr lang="en-US" sz="2400" spc="-70" dirty="0">
                    <a:latin typeface="Times New Roman"/>
                    <a:cs typeface="Times New Roman"/>
                  </a:rPr>
                  <a:t>sin</a:t>
                </a:r>
                <a:r>
                  <a:rPr lang="en-US" sz="2400" i="1" spc="-70" dirty="0">
                    <a:latin typeface="Symbol"/>
                    <a:cs typeface="Symbol"/>
                  </a:rPr>
                  <a:t> </a:t>
                </a:r>
                <a:r>
                  <a:rPr lang="en-US" sz="2400" i="1" spc="-70" baseline="-25000" dirty="0">
                    <a:cs typeface="Symbol"/>
                  </a:rPr>
                  <a:t>c </a:t>
                </a:r>
                <a:r>
                  <a:rPr lang="en-US" sz="2400" spc="90" dirty="0">
                    <a:latin typeface="Symbol"/>
                    <a:cs typeface="Symbol"/>
                  </a:rPr>
                  <a:t></a:t>
                </a:r>
                <a14:m>
                  <m:oMath xmlns:m="http://schemas.openxmlformats.org/officeDocument/2006/math">
                    <m:box>
                      <m:boxPr>
                        <m:ctrlPr>
                          <a:rPr lang="ar-AE" sz="2400" i="1" spc="-85">
                            <a:latin typeface="Cambria Math" panose="02040503050406030204" pitchFamily="18" charset="0"/>
                            <a:cs typeface="Symbol"/>
                          </a:rPr>
                        </m:ctrlPr>
                      </m:boxPr>
                      <m:e>
                        <m:argPr>
                          <m:argSz m:val="-1"/>
                        </m:argPr>
                        <m:r>
                          <m:rPr>
                            <m:brk m:alnAt="63"/>
                          </m:rPr>
                          <a:rPr lang="en-US" sz="2400" b="0" i="1" spc="-85" smtClean="0">
                            <a:latin typeface="Cambria Math" panose="02040503050406030204" pitchFamily="18" charset="0"/>
                            <a:cs typeface="Symbol"/>
                          </a:rPr>
                          <m:t> </m:t>
                        </m:r>
                        <m:f>
                          <m:fPr>
                            <m:ctrlPr>
                              <a:rPr lang="ar-AE" sz="2400" i="1" spc="-85">
                                <a:latin typeface="Cambria Math" panose="02040503050406030204" pitchFamily="18" charset="0"/>
                                <a:cs typeface="Symbol"/>
                              </a:rPr>
                            </m:ctrlPr>
                          </m:fPr>
                          <m:num>
                            <m:r>
                              <m:rPr>
                                <m:nor/>
                              </m:rPr>
                              <a:rPr lang="en-US" sz="2400" spc="-170" dirty="0"/>
                              <m:t>n</m:t>
                            </m:r>
                            <m:r>
                              <m:rPr>
                                <m:nor/>
                              </m:rPr>
                              <a:rPr lang="en-US" sz="2400" b="0" i="1" spc="-170" baseline="-25000" dirty="0" smtClean="0"/>
                              <m:t>2</m:t>
                            </m:r>
                          </m:num>
                          <m:den>
                            <m:r>
                              <m:rPr>
                                <m:nor/>
                              </m:rPr>
                              <a:rPr lang="en-US" sz="2400" b="0" i="0" spc="-170" baseline="-25000" dirty="0" smtClean="0">
                                <a:latin typeface="Cambria Math" panose="02040503050406030204" pitchFamily="18" charset="0"/>
                              </a:rPr>
                              <m:t> </m:t>
                            </m:r>
                            <m:r>
                              <m:rPr>
                                <m:nor/>
                              </m:rPr>
                              <a:rPr lang="en-US" sz="2400" spc="-85" dirty="0"/>
                              <m:t>n</m:t>
                            </m:r>
                            <m:r>
                              <m:rPr>
                                <m:nor/>
                              </m:rPr>
                              <a:rPr lang="en-US" sz="2400" b="0" i="0" spc="-85" baseline="-25000" dirty="0" smtClean="0"/>
                              <m:t>1</m:t>
                            </m:r>
                            <m:r>
                              <m:rPr>
                                <m:nor/>
                              </m:rPr>
                              <a:rPr lang="en-US" sz="2400" spc="-127" baseline="-24024" dirty="0">
                                <a:latin typeface="Times New Roman"/>
                                <a:cs typeface="Times New Roman"/>
                              </a:rPr>
                              <m:t> </m:t>
                            </m:r>
                          </m:den>
                        </m:f>
                      </m:e>
                    </m:box>
                  </m:oMath>
                </a14:m>
                <a:r>
                  <a:rPr lang="en-US" sz="2400" spc="-70" dirty="0">
                    <a:latin typeface="Times New Roman"/>
                    <a:cs typeface="Times New Roman"/>
                  </a:rPr>
                  <a:t> sin </a:t>
                </a:r>
                <a:r>
                  <a:rPr lang="en-US" sz="2400" spc="-70" dirty="0">
                    <a:latin typeface="Symbol"/>
                    <a:cs typeface="Times New Roman"/>
                  </a:rPr>
                  <a:t>90  </a:t>
                </a:r>
                <a:r>
                  <a:rPr lang="en-US" sz="2400" spc="90" dirty="0">
                    <a:latin typeface="Symbol"/>
                    <a:cs typeface="Symbol"/>
                  </a:rPr>
                  <a:t></a:t>
                </a:r>
                <a14:m>
                  <m:oMath xmlns:m="http://schemas.openxmlformats.org/officeDocument/2006/math">
                    <m:box>
                      <m:boxPr>
                        <m:ctrlPr>
                          <a:rPr lang="ar-AE" sz="2400" i="1" spc="-85">
                            <a:latin typeface="Cambria Math" panose="02040503050406030204" pitchFamily="18" charset="0"/>
                            <a:cs typeface="Symbol"/>
                          </a:rPr>
                        </m:ctrlPr>
                      </m:boxPr>
                      <m:e>
                        <m:argPr>
                          <m:argSz m:val="-1"/>
                        </m:argPr>
                        <m:r>
                          <m:rPr>
                            <m:brk m:alnAt="63"/>
                          </m:rPr>
                          <a:rPr lang="en-US" sz="2400" b="0" i="1" spc="-85" smtClean="0">
                            <a:latin typeface="Cambria Math" panose="02040503050406030204" pitchFamily="18" charset="0"/>
                            <a:cs typeface="Symbol"/>
                          </a:rPr>
                          <m:t> </m:t>
                        </m:r>
                        <m:f>
                          <m:fPr>
                            <m:ctrlPr>
                              <a:rPr lang="ar-AE" sz="2400" i="1" spc="-85">
                                <a:latin typeface="Cambria Math" panose="02040503050406030204" pitchFamily="18" charset="0"/>
                                <a:cs typeface="Symbol"/>
                              </a:rPr>
                            </m:ctrlPr>
                          </m:fPr>
                          <m:num>
                            <m:r>
                              <m:rPr>
                                <m:nor/>
                              </m:rPr>
                              <a:rPr lang="en-US" sz="2400" spc="-170" dirty="0"/>
                              <m:t>n</m:t>
                            </m:r>
                            <m:r>
                              <m:rPr>
                                <m:nor/>
                              </m:rPr>
                              <a:rPr lang="en-US" sz="2400" i="1" spc="-170" baseline="-25000" dirty="0"/>
                              <m:t>2</m:t>
                            </m:r>
                          </m:num>
                          <m:den>
                            <m:r>
                              <m:rPr>
                                <m:nor/>
                              </m:rPr>
                              <a:rPr lang="en-US" sz="2400" spc="-85" dirty="0"/>
                              <m:t>n</m:t>
                            </m:r>
                            <m:r>
                              <m:rPr>
                                <m:nor/>
                              </m:rPr>
                              <a:rPr lang="en-US" sz="2400" spc="-85" baseline="-25000" dirty="0"/>
                              <m:t>1</m:t>
                            </m:r>
                            <m:r>
                              <m:rPr>
                                <m:nor/>
                              </m:rPr>
                              <a:rPr lang="en-US" sz="2400" spc="-127" baseline="-24024" dirty="0">
                                <a:latin typeface="Times New Roman"/>
                                <a:cs typeface="Times New Roman"/>
                              </a:rPr>
                              <m:t> </m:t>
                            </m:r>
                          </m:den>
                        </m:f>
                      </m:e>
                    </m:box>
                  </m:oMath>
                </a14:m>
                <a:r>
                  <a:rPr lang="en-US" sz="2400" dirty="0">
                    <a:latin typeface="Times New Roman"/>
                    <a:cs typeface="Times New Roman"/>
                  </a:rPr>
                  <a:t>	</a:t>
                </a:r>
                <a:endParaRPr lang="en-US" sz="2400" baseline="-25000" dirty="0">
                  <a:cs typeface="Symbol"/>
                </a:endParaRPr>
              </a:p>
              <a:p>
                <a:endParaRPr lang="en-US" sz="2400" i="1" baseline="-25000" dirty="0">
                  <a:latin typeface="Cambria Math" panose="02040503050406030204" pitchFamily="18" charset="0"/>
                </a:endParaRPr>
              </a:p>
              <a:p>
                <a:r>
                  <a:rPr lang="en-US" sz="2400" spc="50" dirty="0">
                    <a:latin typeface="Times New Roman"/>
                    <a:cs typeface="Times New Roman"/>
                  </a:rPr>
                  <a:t>c</a:t>
                </a:r>
                <a:r>
                  <a:rPr lang="en-US" sz="2400" spc="80" dirty="0">
                    <a:latin typeface="Times New Roman"/>
                    <a:cs typeface="Times New Roman"/>
                  </a:rPr>
                  <a:t>o</a:t>
                </a:r>
                <a:r>
                  <a:rPr lang="en-US" sz="2400" spc="170" dirty="0">
                    <a:latin typeface="Times New Roman"/>
                    <a:cs typeface="Times New Roman"/>
                  </a:rPr>
                  <a:t>s</a:t>
                </a:r>
                <a:r>
                  <a:rPr lang="en-US" sz="2400" i="1" spc="-70" dirty="0">
                    <a:latin typeface="Symbol"/>
                    <a:cs typeface="Symbol"/>
                  </a:rPr>
                  <a:t>  </a:t>
                </a:r>
                <a:r>
                  <a:rPr lang="en-US" sz="2400" i="1" spc="-70" baseline="-25000" dirty="0">
                    <a:cs typeface="Symbol"/>
                  </a:rPr>
                  <a:t>c </a:t>
                </a:r>
                <a:r>
                  <a:rPr lang="en-US" sz="2400" spc="90" dirty="0">
                    <a:latin typeface="Symbol"/>
                    <a:cs typeface="Symbol"/>
                  </a:rPr>
                  <a:t> </a:t>
                </a:r>
                <a14:m>
                  <m:oMath xmlns:m="http://schemas.openxmlformats.org/officeDocument/2006/math">
                    <m:rad>
                      <m:radPr>
                        <m:degHide m:val="on"/>
                        <m:ctrlPr>
                          <a:rPr lang="en-US" sz="2400" i="1" spc="175" dirty="0">
                            <a:latin typeface="Cambria Math" panose="02040503050406030204" pitchFamily="18" charset="0"/>
                            <a:cs typeface="Times New Roman"/>
                          </a:rPr>
                        </m:ctrlPr>
                      </m:radPr>
                      <m:deg/>
                      <m:e>
                        <m:r>
                          <a:rPr lang="en-US" sz="2400" b="0" i="1" spc="175" dirty="0" smtClean="0">
                            <a:latin typeface="Cambria Math" panose="02040503050406030204" pitchFamily="18" charset="0"/>
                            <a:cs typeface="Times New Roman"/>
                          </a:rPr>
                          <m:t>1</m:t>
                        </m:r>
                        <m:r>
                          <a:rPr lang="en-US" sz="2400" b="0" i="1" spc="175" dirty="0" smtClean="0">
                            <a:latin typeface="Cambria Math" panose="02040503050406030204" pitchFamily="18" charset="0"/>
                            <a:cs typeface="Times New Roman"/>
                          </a:rPr>
                          <m:t>−</m:t>
                        </m:r>
                        <m:sSup>
                          <m:sSupPr>
                            <m:ctrlPr>
                              <a:rPr lang="en-US" sz="2400" b="0" i="1" spc="175" dirty="0" smtClean="0">
                                <a:latin typeface="Cambria Math" panose="02040503050406030204" pitchFamily="18" charset="0"/>
                                <a:cs typeface="Times New Roman"/>
                              </a:rPr>
                            </m:ctrlPr>
                          </m:sSupPr>
                          <m:e>
                            <m:r>
                              <a:rPr lang="en-US" sz="2400" b="0" i="1" spc="175" dirty="0" smtClean="0">
                                <a:latin typeface="Cambria Math" panose="02040503050406030204" pitchFamily="18" charset="0"/>
                                <a:cs typeface="Times New Roman"/>
                              </a:rPr>
                              <m:t>𝑠𝑖𝑛</m:t>
                            </m:r>
                          </m:e>
                          <m:sup>
                            <m:r>
                              <a:rPr lang="en-US" sz="2400" b="0" i="1" spc="175" dirty="0" smtClean="0">
                                <a:latin typeface="Cambria Math" panose="02040503050406030204" pitchFamily="18" charset="0"/>
                                <a:cs typeface="Times New Roman"/>
                              </a:rPr>
                              <m:t>2</m:t>
                            </m:r>
                          </m:sup>
                        </m:sSup>
                      </m:e>
                    </m:rad>
                  </m:oMath>
                </a14:m>
                <a:r>
                  <a:rPr lang="en-US" sz="2400" dirty="0">
                    <a:latin typeface="Symbol"/>
                    <a:cs typeface="Symbol"/>
                  </a:rPr>
                  <a:t>q </a:t>
                </a:r>
                <a:r>
                  <a:rPr lang="en-US" sz="2400" spc="90" dirty="0">
                    <a:latin typeface="Times New Roman"/>
                    <a:cs typeface="Times New Roman"/>
                  </a:rPr>
                  <a:t>	</a:t>
                </a:r>
                <a:r>
                  <a:rPr lang="en-US" sz="2400" spc="90" dirty="0">
                    <a:latin typeface="Symbol"/>
                    <a:cs typeface="Symbol"/>
                  </a:rPr>
                  <a:t> </a:t>
                </a:r>
                <a14:m>
                  <m:oMath xmlns:m="http://schemas.openxmlformats.org/officeDocument/2006/math">
                    <m:rad>
                      <m:radPr>
                        <m:degHide m:val="on"/>
                        <m:ctrlPr>
                          <a:rPr lang="en-US" sz="2400" i="1" spc="90">
                            <a:latin typeface="Cambria Math" panose="02040503050406030204" pitchFamily="18" charset="0"/>
                          </a:rPr>
                        </m:ctrlPr>
                      </m:radPr>
                      <m:deg/>
                      <m:e>
                        <m:r>
                          <a:rPr lang="en-US" sz="2400" i="1" spc="90">
                            <a:latin typeface="Cambria Math" panose="02040503050406030204" pitchFamily="18" charset="0"/>
                          </a:rPr>
                          <m:t>1</m:t>
                        </m:r>
                        <m:r>
                          <a:rPr lang="en-US" sz="2400" i="1" spc="90">
                            <a:latin typeface="Cambria Math" panose="02040503050406030204" pitchFamily="18" charset="0"/>
                          </a:rPr>
                          <m:t>−</m:t>
                        </m:r>
                        <m:d>
                          <m:dPr>
                            <m:ctrlPr>
                              <a:rPr lang="en-US" sz="2400" i="1" spc="90">
                                <a:latin typeface="Cambria Math" panose="02040503050406030204" pitchFamily="18" charset="0"/>
                              </a:rPr>
                            </m:ctrlPr>
                          </m:dPr>
                          <m:e>
                            <m:f>
                              <m:fPr>
                                <m:ctrlPr>
                                  <a:rPr lang="en-US" sz="2400" i="1" spc="90">
                                    <a:latin typeface="Cambria Math" panose="02040503050406030204" pitchFamily="18" charset="0"/>
                                  </a:rPr>
                                </m:ctrlPr>
                              </m:fPr>
                              <m:num>
                                <m:sSub>
                                  <m:sSubPr>
                                    <m:ctrlPr>
                                      <a:rPr lang="en-US" sz="2400" i="1" spc="90">
                                        <a:latin typeface="Cambria Math" panose="02040503050406030204" pitchFamily="18" charset="0"/>
                                      </a:rPr>
                                    </m:ctrlPr>
                                  </m:sSubPr>
                                  <m:e>
                                    <m:r>
                                      <a:rPr lang="en-US" sz="2400" i="1" spc="90">
                                        <a:latin typeface="Cambria Math" panose="02040503050406030204" pitchFamily="18" charset="0"/>
                                      </a:rPr>
                                      <m:t>𝑛</m:t>
                                    </m:r>
                                  </m:e>
                                  <m:sub>
                                    <m:r>
                                      <a:rPr lang="en-US" sz="2400" i="1" spc="90">
                                        <a:latin typeface="Cambria Math" panose="02040503050406030204" pitchFamily="18" charset="0"/>
                                      </a:rPr>
                                      <m:t>2</m:t>
                                    </m:r>
                                  </m:sub>
                                </m:sSub>
                              </m:num>
                              <m:den>
                                <m:sSub>
                                  <m:sSubPr>
                                    <m:ctrlPr>
                                      <a:rPr lang="en-US" sz="2400" i="1" spc="90">
                                        <a:latin typeface="Cambria Math" panose="02040503050406030204" pitchFamily="18" charset="0"/>
                                      </a:rPr>
                                    </m:ctrlPr>
                                  </m:sSubPr>
                                  <m:e>
                                    <m:r>
                                      <a:rPr lang="en-US" sz="2400" i="1" spc="90">
                                        <a:latin typeface="Cambria Math" panose="02040503050406030204" pitchFamily="18" charset="0"/>
                                      </a:rPr>
                                      <m:t>𝑛</m:t>
                                    </m:r>
                                  </m:e>
                                  <m:sub>
                                    <m:r>
                                      <a:rPr lang="en-US" sz="2400" i="1" spc="90">
                                        <a:latin typeface="Cambria Math" panose="02040503050406030204" pitchFamily="18" charset="0"/>
                                      </a:rPr>
                                      <m:t>1</m:t>
                                    </m:r>
                                  </m:sub>
                                </m:sSub>
                              </m:den>
                            </m:f>
                          </m:e>
                        </m:d>
                      </m:e>
                    </m:rad>
                  </m:oMath>
                </a14:m>
                <a:r>
                  <a:rPr lang="en-US" sz="2400" baseline="90000" dirty="0">
                    <a:latin typeface="Times New Roman"/>
                    <a:cs typeface="Times New Roman"/>
                  </a:rPr>
                  <a:t>2</a:t>
                </a:r>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xfrm>
                <a:off x="1128409" y="622570"/>
                <a:ext cx="9552560" cy="5933873"/>
              </a:xfrm>
              <a:blipFill rotWithShape="0">
                <a:blip r:embed="rId2"/>
                <a:stretch>
                  <a:fillRect l="-957"/>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BDCDBBEF-AA6C-4BA6-85B2-A17D7F280E38}" type="slidenum">
              <a:rPr lang="en-US" smtClean="0"/>
              <a:t>20</a:t>
            </a:fld>
            <a:endParaRPr lang="en-US"/>
          </a:p>
        </p:txBody>
      </p:sp>
    </p:spTree>
    <p:extLst>
      <p:ext uri="{BB962C8B-B14F-4D97-AF65-F5344CB8AC3E}">
        <p14:creationId xmlns:p14="http://schemas.microsoft.com/office/powerpoint/2010/main" val="624889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29993" y="154746"/>
                <a:ext cx="10998841" cy="6566730"/>
              </a:xfrm>
            </p:spPr>
            <p:txBody>
              <a:bodyPr>
                <a:normAutofit/>
              </a:bodyPr>
              <a:lstStyle/>
              <a:p>
                <a:pPr marL="0" indent="0" algn="ctr">
                  <a:buNone/>
                </a:pPr>
                <a:r>
                  <a:rPr lang="en-US" sz="2400" spc="50" dirty="0">
                    <a:latin typeface="Times New Roman"/>
                    <a:cs typeface="Times New Roman"/>
                  </a:rPr>
                  <a:t>C</a:t>
                </a:r>
                <a:r>
                  <a:rPr lang="en-US" sz="2400" spc="80" dirty="0">
                    <a:latin typeface="Times New Roman"/>
                    <a:cs typeface="Times New Roman"/>
                  </a:rPr>
                  <a:t>o</a:t>
                </a:r>
                <a:r>
                  <a:rPr lang="en-US" sz="2400" spc="170" dirty="0">
                    <a:latin typeface="Times New Roman"/>
                    <a:cs typeface="Times New Roman"/>
                  </a:rPr>
                  <a:t>s</a:t>
                </a:r>
                <a:r>
                  <a:rPr lang="en-US" sz="2400" i="1" spc="-70" dirty="0">
                    <a:latin typeface="Symbol"/>
                    <a:cs typeface="Symbol"/>
                  </a:rPr>
                  <a:t>  </a:t>
                </a:r>
                <a:r>
                  <a:rPr lang="en-US" sz="2400" i="1" spc="-70" baseline="-25000" dirty="0">
                    <a:cs typeface="Symbol"/>
                  </a:rPr>
                  <a:t>c </a:t>
                </a:r>
                <a:r>
                  <a:rPr lang="en-US" sz="2400" spc="90" dirty="0">
                    <a:latin typeface="Symbol"/>
                    <a:cs typeface="Symbol"/>
                  </a:rPr>
                  <a:t></a:t>
                </a:r>
                <a14:m>
                  <m:oMath xmlns:m="http://schemas.openxmlformats.org/officeDocument/2006/math">
                    <m:f>
                      <m:fPr>
                        <m:ctrlPr>
                          <a:rPr lang="en-US" sz="2400" i="1" dirty="0">
                            <a:latin typeface="Cambria Math" panose="02040503050406030204" pitchFamily="18" charset="0"/>
                          </a:rPr>
                        </m:ctrlPr>
                      </m:fPr>
                      <m:num>
                        <m:rad>
                          <m:radPr>
                            <m:degHide m:val="on"/>
                            <m:ctrlPr>
                              <a:rPr lang="en-US" sz="2400" i="1" dirty="0">
                                <a:latin typeface="Cambria Math" panose="02040503050406030204" pitchFamily="18" charset="0"/>
                              </a:rPr>
                            </m:ctrlPr>
                          </m:radPr>
                          <m:deg/>
                          <m:e>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𝑛</m:t>
                                </m:r>
                              </m:e>
                              <m:sub>
                                <m:r>
                                  <a:rPr lang="en-US" sz="2400" i="1" dirty="0">
                                    <a:latin typeface="Cambria Math" panose="02040503050406030204" pitchFamily="18" charset="0"/>
                                  </a:rPr>
                                  <m:t>1</m:t>
                                </m:r>
                              </m:sub>
                              <m:sup>
                                <m:r>
                                  <a:rPr lang="en-US" sz="2400" i="1" dirty="0">
                                    <a:latin typeface="Cambria Math" panose="02040503050406030204" pitchFamily="18" charset="0"/>
                                  </a:rPr>
                                  <m:t>2</m:t>
                                </m:r>
                              </m:sup>
                            </m:sSubSup>
                            <m:r>
                              <a:rPr lang="en-US" sz="2400" i="1" dirty="0">
                                <a:latin typeface="Cambria Math" panose="02040503050406030204" pitchFamily="18" charset="0"/>
                              </a:rPr>
                              <m:t> − </m:t>
                            </m:r>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𝑛</m:t>
                                </m:r>
                              </m:e>
                              <m:sub>
                                <m:r>
                                  <a:rPr lang="en-US" sz="2400" i="1" dirty="0">
                                    <a:latin typeface="Cambria Math" panose="02040503050406030204" pitchFamily="18" charset="0"/>
                                  </a:rPr>
                                  <m:t>2</m:t>
                                </m:r>
                              </m:sub>
                              <m:sup>
                                <m:r>
                                  <a:rPr lang="en-US" sz="2400" i="1" dirty="0">
                                    <a:latin typeface="Cambria Math" panose="02040503050406030204" pitchFamily="18" charset="0"/>
                                  </a:rPr>
                                  <m:t>2</m:t>
                                </m:r>
                              </m:sup>
                            </m:sSubSup>
                          </m:e>
                        </m:rad>
                      </m:num>
                      <m:den>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𝑛</m:t>
                            </m:r>
                          </m:e>
                          <m:sub>
                            <m:r>
                              <a:rPr lang="en-US" sz="2400" i="1" dirty="0">
                                <a:latin typeface="Cambria Math" panose="02040503050406030204" pitchFamily="18" charset="0"/>
                              </a:rPr>
                              <m:t>1</m:t>
                            </m:r>
                          </m:sub>
                          <m:sup>
                            <m:r>
                              <a:rPr lang="en-US" sz="2400" i="1" dirty="0">
                                <a:latin typeface="Cambria Math" panose="02040503050406030204" pitchFamily="18" charset="0"/>
                              </a:rPr>
                              <m:t>2</m:t>
                            </m:r>
                          </m:sup>
                        </m:sSubSup>
                      </m:den>
                    </m:f>
                  </m:oMath>
                </a14:m>
                <a:r>
                  <a:rPr lang="en-US" sz="2400" spc="-70" normalizeH="1" dirty="0">
                    <a:latin typeface="Times New Roman" panose="02020603050405020304" pitchFamily="18" charset="0"/>
                    <a:cs typeface="Times New Roman" panose="02020603050405020304" pitchFamily="18" charset="0"/>
                  </a:rPr>
                  <a:t>  </a:t>
                </a:r>
                <a:r>
                  <a:rPr lang="en-US" sz="2400" spc="-70" dirty="0">
                    <a:latin typeface="Times New Roman" panose="02020603050405020304" pitchFamily="18" charset="0"/>
                    <a:cs typeface="Times New Roman" panose="02020603050405020304" pitchFamily="18" charset="0"/>
                  </a:rPr>
                  <a:t>……………........... </a:t>
                </a:r>
                <a:r>
                  <a:rPr lang="en-US" sz="2400" spc="-70" normalizeH="1" dirty="0">
                    <a:latin typeface="Times New Roman" panose="02020603050405020304" pitchFamily="18" charset="0"/>
                    <a:cs typeface="Times New Roman" panose="02020603050405020304" pitchFamily="18" charset="0"/>
                  </a:rPr>
                  <a:t>(4)        </a:t>
                </a:r>
              </a:p>
              <a:p>
                <a:pPr marL="0" indent="0" algn="ctr">
                  <a:buNone/>
                </a:pPr>
                <a:r>
                  <a:rPr lang="en-US" sz="2400" spc="-45" dirty="0">
                    <a:latin typeface="Times New Roman"/>
                    <a:cs typeface="Times New Roman"/>
                  </a:rPr>
                  <a:t>s</a:t>
                </a:r>
                <a:r>
                  <a:rPr lang="en-US" sz="2400" dirty="0">
                    <a:latin typeface="Times New Roman"/>
                    <a:cs typeface="Times New Roman"/>
                  </a:rPr>
                  <a:t>u</a:t>
                </a:r>
                <a:r>
                  <a:rPr lang="en-US" sz="2400" spc="-20" dirty="0">
                    <a:latin typeface="Times New Roman"/>
                    <a:cs typeface="Times New Roman"/>
                  </a:rPr>
                  <a:t>b</a:t>
                </a:r>
                <a:r>
                  <a:rPr lang="en-US" sz="2400" spc="-40" dirty="0">
                    <a:latin typeface="Times New Roman"/>
                    <a:cs typeface="Times New Roman"/>
                  </a:rPr>
                  <a:t>s</a:t>
                </a:r>
                <a:r>
                  <a:rPr lang="en-US" sz="2400" spc="75" dirty="0">
                    <a:latin typeface="Times New Roman"/>
                    <a:cs typeface="Times New Roman"/>
                  </a:rPr>
                  <a:t>t</a:t>
                </a:r>
                <a:r>
                  <a:rPr lang="en-US" sz="2400" spc="-80" dirty="0">
                    <a:latin typeface="Times New Roman"/>
                    <a:cs typeface="Times New Roman"/>
                  </a:rPr>
                  <a:t>i</a:t>
                </a:r>
                <a:r>
                  <a:rPr lang="en-US" sz="2400" spc="75" dirty="0">
                    <a:latin typeface="Times New Roman"/>
                    <a:cs typeface="Times New Roman"/>
                  </a:rPr>
                  <a:t>t</a:t>
                </a:r>
                <a:r>
                  <a:rPr lang="en-US" sz="2400" dirty="0">
                    <a:latin typeface="Times New Roman"/>
                    <a:cs typeface="Times New Roman"/>
                  </a:rPr>
                  <a:t>u</a:t>
                </a:r>
                <a:r>
                  <a:rPr lang="en-US" sz="2400" spc="70" dirty="0">
                    <a:latin typeface="Times New Roman"/>
                    <a:cs typeface="Times New Roman"/>
                  </a:rPr>
                  <a:t>t</a:t>
                </a:r>
                <a:r>
                  <a:rPr lang="en-US" sz="2400" dirty="0">
                    <a:latin typeface="Times New Roman"/>
                    <a:cs typeface="Times New Roman"/>
                  </a:rPr>
                  <a:t>e</a:t>
                </a:r>
                <a:r>
                  <a:rPr lang="en-US" sz="2400" spc="145" dirty="0">
                    <a:latin typeface="Times New Roman"/>
                    <a:cs typeface="Times New Roman"/>
                  </a:rPr>
                  <a:t> </a:t>
                </a:r>
                <a:r>
                  <a:rPr lang="en-US" sz="2400" spc="-25" dirty="0">
                    <a:latin typeface="Times New Roman"/>
                    <a:cs typeface="Times New Roman"/>
                  </a:rPr>
                  <a:t>e</a:t>
                </a:r>
                <a:r>
                  <a:rPr lang="en-US" sz="2400" dirty="0">
                    <a:latin typeface="Times New Roman"/>
                    <a:cs typeface="Times New Roman"/>
                  </a:rPr>
                  <a:t>q</a:t>
                </a:r>
                <a:r>
                  <a:rPr lang="en-US" sz="2400" spc="-15" dirty="0">
                    <a:latin typeface="Times New Roman"/>
                    <a:cs typeface="Times New Roman"/>
                  </a:rPr>
                  <a:t>u</a:t>
                </a:r>
                <a:r>
                  <a:rPr lang="en-US" sz="2400" dirty="0">
                    <a:latin typeface="Times New Roman"/>
                    <a:cs typeface="Times New Roman"/>
                  </a:rPr>
                  <a:t>a</a:t>
                </a:r>
                <a:r>
                  <a:rPr lang="en-US" sz="2400" spc="70" dirty="0">
                    <a:latin typeface="Times New Roman"/>
                    <a:cs typeface="Times New Roman"/>
                  </a:rPr>
                  <a:t>t</a:t>
                </a:r>
                <a:r>
                  <a:rPr lang="en-US" sz="2400" spc="-80" dirty="0">
                    <a:latin typeface="Times New Roman"/>
                    <a:cs typeface="Times New Roman"/>
                  </a:rPr>
                  <a:t>i</a:t>
                </a:r>
                <a:r>
                  <a:rPr lang="en-US" sz="2400" dirty="0">
                    <a:latin typeface="Times New Roman"/>
                    <a:cs typeface="Times New Roman"/>
                  </a:rPr>
                  <a:t>on </a:t>
                </a:r>
                <a:r>
                  <a:rPr lang="en-US" sz="2400" spc="60" dirty="0">
                    <a:latin typeface="Times New Roman"/>
                    <a:cs typeface="Times New Roman"/>
                  </a:rPr>
                  <a:t>(</a:t>
                </a:r>
                <a:r>
                  <a:rPr lang="en-US" sz="2400" spc="-15" dirty="0">
                    <a:latin typeface="Times New Roman"/>
                    <a:cs typeface="Times New Roman"/>
                  </a:rPr>
                  <a:t>4</a:t>
                </a:r>
                <a:r>
                  <a:rPr lang="en-US" sz="2400" dirty="0">
                    <a:latin typeface="Times New Roman"/>
                    <a:cs typeface="Times New Roman"/>
                  </a:rPr>
                  <a:t>) </a:t>
                </a:r>
                <a:r>
                  <a:rPr lang="en-US" sz="2400" spc="-80" dirty="0">
                    <a:latin typeface="Times New Roman"/>
                    <a:cs typeface="Times New Roman"/>
                  </a:rPr>
                  <a:t>i</a:t>
                </a:r>
                <a:r>
                  <a:rPr lang="en-US" sz="2400" dirty="0">
                    <a:latin typeface="Times New Roman"/>
                    <a:cs typeface="Times New Roman"/>
                  </a:rPr>
                  <a:t>n </a:t>
                </a:r>
                <a:r>
                  <a:rPr lang="en-US" sz="2400" spc="-20" dirty="0">
                    <a:latin typeface="Times New Roman"/>
                    <a:cs typeface="Times New Roman"/>
                  </a:rPr>
                  <a:t>(</a:t>
                </a:r>
                <a:r>
                  <a:rPr lang="en-US" sz="2400" spc="-95" dirty="0">
                    <a:latin typeface="Times New Roman"/>
                    <a:cs typeface="Times New Roman"/>
                  </a:rPr>
                  <a:t>3</a:t>
                </a:r>
                <a:r>
                  <a:rPr lang="en-US" sz="2400" dirty="0">
                    <a:latin typeface="Times New Roman"/>
                    <a:cs typeface="Times New Roman"/>
                  </a:rPr>
                  <a:t>)</a:t>
                </a:r>
              </a:p>
              <a:p>
                <a:pPr marL="0" indent="0" algn="ctr">
                  <a:buNone/>
                </a:pPr>
                <a:endParaRPr lang="en-US" sz="2400" dirty="0">
                  <a:latin typeface="Times New Roman"/>
                  <a:cs typeface="Times New Roman"/>
                </a:endParaRPr>
              </a:p>
              <a:p>
                <a:pPr marL="0" indent="0" algn="ctr">
                  <a:buNone/>
                </a:pPr>
                <a:r>
                  <a:rPr lang="en-US" sz="2400" spc="-114" dirty="0">
                    <a:latin typeface="Times New Roman"/>
                    <a:cs typeface="Times New Roman"/>
                  </a:rPr>
                  <a:t> </a:t>
                </a:r>
                <a:r>
                  <a:rPr lang="en-US" sz="2400" spc="-170" dirty="0">
                    <a:latin typeface="Times New Roman"/>
                    <a:cs typeface="Times New Roman"/>
                  </a:rPr>
                  <a:t>sin</a:t>
                </a:r>
                <a:r>
                  <a:rPr lang="en-US" sz="2400" spc="-250" dirty="0">
                    <a:latin typeface="Times New Roman"/>
                    <a:cs typeface="Times New Roman"/>
                  </a:rPr>
                  <a:t> </a:t>
                </a:r>
                <a:r>
                  <a:rPr lang="en-US" sz="2400" i="1" spc="-35" dirty="0">
                    <a:latin typeface="Symbol"/>
                    <a:cs typeface="Symbol"/>
                  </a:rPr>
                  <a:t></a:t>
                </a:r>
                <a:r>
                  <a:rPr lang="en-US" sz="2400" spc="-52" baseline="-24024" dirty="0"/>
                  <a:t>m</a:t>
                </a:r>
                <a:r>
                  <a:rPr lang="en-US" sz="2400" spc="-85" dirty="0">
                    <a:latin typeface="Symbol"/>
                    <a:cs typeface="Symbol"/>
                  </a:rPr>
                  <a:t> </a:t>
                </a:r>
                <a14:m>
                  <m:oMath xmlns:m="http://schemas.openxmlformats.org/officeDocument/2006/math">
                    <m:box>
                      <m:boxPr>
                        <m:ctrlPr>
                          <a:rPr lang="ar-AE" sz="2400" i="1" spc="-85">
                            <a:latin typeface="Cambria Math" panose="02040503050406030204" pitchFamily="18" charset="0"/>
                            <a:cs typeface="Symbol"/>
                          </a:rPr>
                        </m:ctrlPr>
                      </m:boxPr>
                      <m:e>
                        <m:argPr>
                          <m:argSz m:val="-1"/>
                        </m:argPr>
                        <m:f>
                          <m:fPr>
                            <m:ctrlPr>
                              <a:rPr lang="ar-AE" sz="2400" i="1" spc="-85">
                                <a:latin typeface="Cambria Math" panose="02040503050406030204" pitchFamily="18" charset="0"/>
                                <a:cs typeface="Symbol"/>
                              </a:rPr>
                            </m:ctrlPr>
                          </m:fPr>
                          <m:num>
                            <m:r>
                              <m:rPr>
                                <m:nor/>
                              </m:rPr>
                              <a:rPr lang="en-US" sz="2400" spc="-170" dirty="0"/>
                              <m:t>n</m:t>
                            </m:r>
                            <m:r>
                              <m:rPr>
                                <m:nor/>
                              </m:rPr>
                              <a:rPr lang="en-US" sz="2400" spc="-254" baseline="-24024" dirty="0">
                                <a:latin typeface="Times New Roman"/>
                                <a:cs typeface="Times New Roman"/>
                              </a:rPr>
                              <m:t>1</m:t>
                            </m:r>
                          </m:num>
                          <m:den>
                            <m:r>
                              <m:rPr>
                                <m:nor/>
                              </m:rPr>
                              <a:rPr lang="en-US" sz="2400" spc="-85" dirty="0"/>
                              <m:t>n</m:t>
                            </m:r>
                            <m:r>
                              <m:rPr>
                                <m:nor/>
                              </m:rPr>
                              <a:rPr lang="en-US" sz="2400" spc="-127" baseline="-24024" dirty="0">
                                <a:latin typeface="Times New Roman"/>
                                <a:cs typeface="Times New Roman"/>
                              </a:rPr>
                              <m:t>0 </m:t>
                            </m:r>
                          </m:den>
                        </m:f>
                      </m:e>
                    </m:box>
                  </m:oMath>
                </a14:m>
                <a:r>
                  <a:rPr lang="en-US" sz="2400" dirty="0"/>
                  <a:t> </a:t>
                </a:r>
                <a14:m>
                  <m:oMath xmlns:m="http://schemas.openxmlformats.org/officeDocument/2006/math">
                    <m:f>
                      <m:fPr>
                        <m:ctrlPr>
                          <a:rPr lang="en-US" sz="2400" i="1" dirty="0" smtClean="0">
                            <a:latin typeface="Cambria Math" panose="02040503050406030204" pitchFamily="18" charset="0"/>
                          </a:rPr>
                        </m:ctrlPr>
                      </m:fPr>
                      <m:num>
                        <m:rad>
                          <m:radPr>
                            <m:degHide m:val="on"/>
                            <m:ctrlPr>
                              <a:rPr lang="en-US" sz="2400" i="1" dirty="0" smtClean="0">
                                <a:latin typeface="Cambria Math" panose="02040503050406030204" pitchFamily="18" charset="0"/>
                              </a:rPr>
                            </m:ctrlPr>
                          </m:radPr>
                          <m:deg/>
                          <m:e>
                            <m:sSubSup>
                              <m:sSubSupPr>
                                <m:ctrlPr>
                                  <a:rPr lang="en-US" sz="2400" i="1" dirty="0" smtClean="0">
                                    <a:latin typeface="Cambria Math" panose="02040503050406030204" pitchFamily="18" charset="0"/>
                                  </a:rPr>
                                </m:ctrlPr>
                              </m:sSubSupPr>
                              <m:e>
                                <m:r>
                                  <a:rPr lang="en-US" sz="2400" b="0" i="1" dirty="0" smtClean="0">
                                    <a:latin typeface="Cambria Math" panose="02040503050406030204" pitchFamily="18" charset="0"/>
                                  </a:rPr>
                                  <m:t>𝑛</m:t>
                                </m:r>
                              </m:e>
                              <m:sub>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2</m:t>
                                </m:r>
                              </m:sup>
                            </m:sSubSup>
                            <m:r>
                              <a:rPr lang="en-US" sz="2400" b="0" i="1" dirty="0" smtClean="0">
                                <a:latin typeface="Cambria Math" panose="02040503050406030204" pitchFamily="18" charset="0"/>
                              </a:rPr>
                              <m:t> − </m:t>
                            </m:r>
                            <m:sSubSup>
                              <m:sSubSupPr>
                                <m:ctrlPr>
                                  <a:rPr lang="en-US" sz="2400" b="0" i="1" dirty="0" smtClean="0">
                                    <a:latin typeface="Cambria Math" panose="02040503050406030204" pitchFamily="18" charset="0"/>
                                  </a:rPr>
                                </m:ctrlPr>
                              </m:sSubSupPr>
                              <m:e>
                                <m:r>
                                  <a:rPr lang="en-US" sz="2400" b="0" i="1" dirty="0" smtClean="0">
                                    <a:latin typeface="Cambria Math" panose="02040503050406030204" pitchFamily="18" charset="0"/>
                                  </a:rPr>
                                  <m:t>𝑛</m:t>
                                </m:r>
                              </m:e>
                              <m:sub>
                                <m:r>
                                  <a:rPr lang="en-US" sz="2400" b="0" i="1" dirty="0" smtClean="0">
                                    <a:latin typeface="Cambria Math" panose="02040503050406030204" pitchFamily="18" charset="0"/>
                                  </a:rPr>
                                  <m:t>2</m:t>
                                </m:r>
                              </m:sub>
                              <m:sup>
                                <m:r>
                                  <a:rPr lang="en-US" sz="2400" b="0" i="1" dirty="0" smtClean="0">
                                    <a:latin typeface="Cambria Math" panose="02040503050406030204" pitchFamily="18" charset="0"/>
                                  </a:rPr>
                                  <m:t>2</m:t>
                                </m:r>
                              </m:sup>
                            </m:sSubSup>
                          </m:e>
                        </m:rad>
                      </m:num>
                      <m:den>
                        <m:sSubSup>
                          <m:sSubSupPr>
                            <m:ctrlPr>
                              <a:rPr lang="en-US" sz="2400" i="1" dirty="0" smtClean="0">
                                <a:latin typeface="Cambria Math" panose="02040503050406030204" pitchFamily="18" charset="0"/>
                              </a:rPr>
                            </m:ctrlPr>
                          </m:sSubSupPr>
                          <m:e>
                            <m:r>
                              <a:rPr lang="en-US" sz="2400" b="0" i="1" dirty="0" smtClean="0">
                                <a:latin typeface="Cambria Math" panose="02040503050406030204" pitchFamily="18" charset="0"/>
                              </a:rPr>
                              <m:t>𝑛</m:t>
                            </m:r>
                          </m:e>
                          <m:sub>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2</m:t>
                            </m:r>
                          </m:sup>
                        </m:sSubSup>
                      </m:den>
                    </m:f>
                  </m:oMath>
                </a14:m>
                <a:endParaRPr lang="en-US" sz="2400" dirty="0"/>
              </a:p>
              <a:p>
                <a:pPr marL="0" indent="0" algn="ctr">
                  <a:buNone/>
                </a:pPr>
                <a:endParaRPr lang="en-US" sz="2400" dirty="0"/>
              </a:p>
              <a:p>
                <a:pPr marL="0" indent="0" algn="ctr">
                  <a:buNone/>
                </a:pPr>
                <a:r>
                  <a:rPr lang="en-US" sz="2400" spc="-40" dirty="0">
                    <a:latin typeface="Times New Roman"/>
                    <a:cs typeface="Times New Roman"/>
                  </a:rPr>
                  <a:t>if  </a:t>
                </a:r>
                <a:r>
                  <a:rPr lang="en-US" sz="2400" spc="25" dirty="0">
                    <a:latin typeface="Times New Roman"/>
                    <a:cs typeface="Times New Roman"/>
                  </a:rPr>
                  <a:t>the </a:t>
                </a:r>
                <a:r>
                  <a:rPr lang="en-US" sz="2400" spc="-10" dirty="0">
                    <a:latin typeface="Times New Roman"/>
                    <a:cs typeface="Times New Roman"/>
                  </a:rPr>
                  <a:t>medium</a:t>
                </a:r>
                <a:r>
                  <a:rPr lang="en-US" sz="2400" spc="65" dirty="0">
                    <a:latin typeface="Times New Roman"/>
                    <a:cs typeface="Times New Roman"/>
                  </a:rPr>
                  <a:t> </a:t>
                </a:r>
                <a:r>
                  <a:rPr lang="en-US" sz="2400" spc="-10" dirty="0">
                    <a:latin typeface="Times New Roman"/>
                    <a:cs typeface="Times New Roman"/>
                  </a:rPr>
                  <a:t>surrounding</a:t>
                </a:r>
                <a:r>
                  <a:rPr lang="en-US" sz="2400" spc="215" dirty="0">
                    <a:latin typeface="Times New Roman"/>
                    <a:cs typeface="Times New Roman"/>
                  </a:rPr>
                  <a:t> </a:t>
                </a:r>
                <a:r>
                  <a:rPr lang="en-US" sz="2400" spc="25" dirty="0">
                    <a:latin typeface="Times New Roman"/>
                    <a:cs typeface="Times New Roman"/>
                  </a:rPr>
                  <a:t>the </a:t>
                </a:r>
                <a:r>
                  <a:rPr lang="en-US" sz="2400" spc="-10" dirty="0">
                    <a:latin typeface="Times New Roman"/>
                    <a:cs typeface="Times New Roman"/>
                  </a:rPr>
                  <a:t>fiber </a:t>
                </a:r>
                <a:r>
                  <a:rPr lang="en-US" sz="2400" spc="-40" dirty="0">
                    <a:latin typeface="Times New Roman"/>
                    <a:cs typeface="Times New Roman"/>
                  </a:rPr>
                  <a:t>is </a:t>
                </a:r>
                <a:r>
                  <a:rPr lang="en-US" sz="2400" spc="25" dirty="0">
                    <a:latin typeface="Times New Roman"/>
                    <a:cs typeface="Times New Roman"/>
                  </a:rPr>
                  <a:t>air, </a:t>
                </a:r>
                <a:r>
                  <a:rPr lang="en-US" sz="2400" spc="10" dirty="0">
                    <a:latin typeface="Times New Roman"/>
                    <a:cs typeface="Times New Roman"/>
                  </a:rPr>
                  <a:t>then </a:t>
                </a:r>
                <a:r>
                  <a:rPr lang="en-US" sz="2400" spc="-20" dirty="0">
                    <a:latin typeface="Times New Roman"/>
                    <a:cs typeface="Times New Roman"/>
                  </a:rPr>
                  <a:t>n</a:t>
                </a:r>
                <a:r>
                  <a:rPr lang="en-US" sz="2400" spc="-30" baseline="-24074" dirty="0">
                    <a:latin typeface="Times New Roman"/>
                    <a:cs typeface="Times New Roman"/>
                  </a:rPr>
                  <a:t>0 </a:t>
                </a:r>
                <a:r>
                  <a:rPr lang="en-US" sz="2400" dirty="0">
                    <a:latin typeface="Symbol"/>
                    <a:cs typeface="Symbol"/>
                  </a:rPr>
                  <a:t></a:t>
                </a:r>
                <a:r>
                  <a:rPr lang="en-US" sz="2400" spc="-505" dirty="0">
                    <a:latin typeface="Times New Roman"/>
                    <a:cs typeface="Times New Roman"/>
                  </a:rPr>
                  <a:t> </a:t>
                </a:r>
                <a:r>
                  <a:rPr lang="en-US" sz="2400" dirty="0">
                    <a:latin typeface="Times New Roman"/>
                    <a:cs typeface="Times New Roman"/>
                  </a:rPr>
                  <a:t>1</a:t>
                </a:r>
              </a:p>
              <a:p>
                <a:pPr marL="0" indent="0" algn="ctr">
                  <a:buNone/>
                </a:pPr>
                <a:r>
                  <a:rPr lang="en-US" sz="2400" spc="-170" dirty="0">
                    <a:latin typeface="Times New Roman"/>
                    <a:cs typeface="Times New Roman"/>
                  </a:rPr>
                  <a:t>sin</a:t>
                </a:r>
                <a:r>
                  <a:rPr lang="en-US" sz="2400" spc="-250" dirty="0">
                    <a:latin typeface="Times New Roman"/>
                    <a:cs typeface="Times New Roman"/>
                  </a:rPr>
                  <a:t> </a:t>
                </a:r>
                <a:r>
                  <a:rPr lang="en-US" sz="2400" i="1" spc="-35" dirty="0">
                    <a:latin typeface="Symbol"/>
                    <a:cs typeface="Symbol"/>
                  </a:rPr>
                  <a:t></a:t>
                </a:r>
                <a:r>
                  <a:rPr lang="en-US" sz="2400" spc="-52" baseline="-24024" dirty="0"/>
                  <a:t>m</a:t>
                </a:r>
                <a:r>
                  <a:rPr lang="en-US" sz="2400" spc="-85" dirty="0">
                    <a:latin typeface="Symbol"/>
                    <a:cs typeface="Symbol"/>
                  </a:rPr>
                  <a:t> </a:t>
                </a:r>
                <a14:m>
                  <m:oMath xmlns:m="http://schemas.openxmlformats.org/officeDocument/2006/math">
                    <m:r>
                      <a:rPr lang="en-US" sz="2400" b="0" i="0" dirty="0" smtClean="0">
                        <a:latin typeface="Cambria Math" panose="02040503050406030204" pitchFamily="18" charset="0"/>
                      </a:rPr>
                      <m:t> </m:t>
                    </m:r>
                    <m:rad>
                      <m:radPr>
                        <m:degHide m:val="on"/>
                        <m:ctrlPr>
                          <a:rPr lang="en-US" sz="2400" i="1" dirty="0" smtClean="0">
                            <a:latin typeface="Cambria Math" panose="02040503050406030204" pitchFamily="18" charset="0"/>
                          </a:rPr>
                        </m:ctrlPr>
                      </m:radPr>
                      <m:deg/>
                      <m:e>
                        <m:sSubSup>
                          <m:sSubSupPr>
                            <m:ctrlPr>
                              <a:rPr lang="en-US" sz="2400" i="1" dirty="0" smtClean="0">
                                <a:latin typeface="Cambria Math" panose="02040503050406030204" pitchFamily="18" charset="0"/>
                              </a:rPr>
                            </m:ctrlPr>
                          </m:sSubSupPr>
                          <m:e>
                            <m:r>
                              <a:rPr lang="en-US" sz="2400" b="0" i="1" dirty="0" smtClean="0">
                                <a:latin typeface="Cambria Math" panose="02040503050406030204" pitchFamily="18" charset="0"/>
                              </a:rPr>
                              <m:t>𝑛</m:t>
                            </m:r>
                          </m:e>
                          <m:sub>
                            <m:r>
                              <a:rPr lang="en-US" sz="2400" b="0" i="1" dirty="0" smtClean="0">
                                <a:latin typeface="Cambria Math" panose="02040503050406030204" pitchFamily="18" charset="0"/>
                              </a:rPr>
                              <m:t>1</m:t>
                            </m:r>
                          </m:sub>
                          <m:sup>
                            <m:r>
                              <a:rPr lang="en-US" sz="2400" b="0" i="1" dirty="0" smtClean="0">
                                <a:latin typeface="Cambria Math" panose="02040503050406030204" pitchFamily="18" charset="0"/>
                              </a:rPr>
                              <m:t>2</m:t>
                            </m:r>
                          </m:sup>
                        </m:sSubSup>
                        <m:r>
                          <a:rPr lang="en-US" sz="2400" b="0" i="1" dirty="0" smtClean="0">
                            <a:latin typeface="Cambria Math" panose="02040503050406030204" pitchFamily="18" charset="0"/>
                          </a:rPr>
                          <m:t> −</m:t>
                        </m:r>
                        <m:sSubSup>
                          <m:sSubSupPr>
                            <m:ctrlPr>
                              <a:rPr lang="en-US" sz="2400" b="0" i="1" dirty="0" smtClean="0">
                                <a:latin typeface="Cambria Math" panose="02040503050406030204" pitchFamily="18" charset="0"/>
                              </a:rPr>
                            </m:ctrlPr>
                          </m:sSubSupPr>
                          <m:e>
                            <m:r>
                              <a:rPr lang="en-US" sz="2400" b="0" i="1" dirty="0" smtClean="0">
                                <a:latin typeface="Cambria Math" panose="02040503050406030204" pitchFamily="18" charset="0"/>
                              </a:rPr>
                              <m:t>𝑛</m:t>
                            </m:r>
                          </m:e>
                          <m:sub>
                            <m:r>
                              <a:rPr lang="en-US" sz="2400" b="0" i="1" dirty="0" smtClean="0">
                                <a:latin typeface="Cambria Math" panose="02040503050406030204" pitchFamily="18" charset="0"/>
                              </a:rPr>
                              <m:t>2</m:t>
                            </m:r>
                          </m:sub>
                          <m:sup>
                            <m:r>
                              <a:rPr lang="en-US" sz="2400" b="0" i="1" dirty="0" smtClean="0">
                                <a:latin typeface="Cambria Math" panose="02040503050406030204" pitchFamily="18" charset="0"/>
                              </a:rPr>
                              <m:t>2</m:t>
                            </m:r>
                          </m:sup>
                        </m:sSubSup>
                      </m:e>
                    </m:rad>
                  </m:oMath>
                </a14:m>
                <a:endParaRPr lang="en-US" sz="2400" dirty="0"/>
              </a:p>
              <a:p>
                <a:pPr marL="0" indent="0" algn="ctr">
                  <a:buNone/>
                </a:pPr>
                <a:endParaRPr lang="en-US" sz="2400" dirty="0"/>
              </a:p>
              <a:p>
                <a:pPr marL="0" indent="0" algn="ctr">
                  <a:buNone/>
                </a:pPr>
                <a:r>
                  <a:rPr lang="en-US" sz="2400" i="1" spc="-35" dirty="0">
                    <a:latin typeface="Symbol"/>
                    <a:cs typeface="Symbol"/>
                  </a:rPr>
                  <a:t></a:t>
                </a:r>
                <a:r>
                  <a:rPr lang="en-US" sz="2400" spc="-52" baseline="-24024" dirty="0"/>
                  <a:t>max </a:t>
                </a:r>
                <a:r>
                  <a:rPr lang="en-US" sz="2400" spc="-85" dirty="0">
                    <a:latin typeface="Symbol"/>
                    <a:cs typeface="Symbol"/>
                  </a:rPr>
                  <a:t> </a:t>
                </a:r>
                <a:r>
                  <a:rPr lang="en-US" sz="2400" spc="-170" dirty="0">
                    <a:latin typeface="Times New Roman"/>
                    <a:cs typeface="Times New Roman"/>
                  </a:rPr>
                  <a:t>sin</a:t>
                </a:r>
                <a14:m>
                  <m:oMath xmlns:m="http://schemas.openxmlformats.org/officeDocument/2006/math">
                    <m:r>
                      <a:rPr lang="en-US" sz="2400" b="0" i="0" baseline="30000" dirty="0" smtClean="0">
                        <a:latin typeface="Cambria Math" panose="02040503050406030204" pitchFamily="18" charset="0"/>
                      </a:rPr>
                      <m:t>−</m:t>
                    </m:r>
                    <m:r>
                      <a:rPr lang="en-US" sz="2400" b="0" i="0" baseline="50000" dirty="0" smtClean="0">
                        <a:latin typeface="Cambria Math" panose="02040503050406030204" pitchFamily="18" charset="0"/>
                      </a:rPr>
                      <m:t>1</m:t>
                    </m:r>
                    <m:r>
                      <a:rPr lang="en-US" sz="2400" b="0" i="0" baseline="30000" dirty="0" smtClean="0">
                        <a:latin typeface="Cambria Math" panose="02040503050406030204" pitchFamily="18" charset="0"/>
                      </a:rPr>
                      <m:t> </m:t>
                    </m:r>
                    <m:r>
                      <a:rPr lang="en-US" sz="2400" baseline="30000" dirty="0">
                        <a:latin typeface="Cambria Math" panose="02040503050406030204" pitchFamily="18" charset="0"/>
                      </a:rPr>
                      <m:t> </m:t>
                    </m:r>
                    <m:rad>
                      <m:radPr>
                        <m:degHide m:val="on"/>
                        <m:ctrlPr>
                          <a:rPr lang="en-US" sz="2400" i="1" dirty="0">
                            <a:latin typeface="Cambria Math" panose="02040503050406030204" pitchFamily="18" charset="0"/>
                          </a:rPr>
                        </m:ctrlPr>
                      </m:radPr>
                      <m:deg/>
                      <m:e>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𝑛</m:t>
                            </m:r>
                          </m:e>
                          <m:sub>
                            <m:r>
                              <a:rPr lang="en-US" sz="2400" i="1" dirty="0">
                                <a:latin typeface="Cambria Math" panose="02040503050406030204" pitchFamily="18" charset="0"/>
                              </a:rPr>
                              <m:t>1</m:t>
                            </m:r>
                          </m:sub>
                          <m:sup>
                            <m:r>
                              <a:rPr lang="en-US" sz="2400" i="1" dirty="0">
                                <a:latin typeface="Cambria Math" panose="02040503050406030204" pitchFamily="18" charset="0"/>
                              </a:rPr>
                              <m:t>2</m:t>
                            </m:r>
                          </m:sup>
                        </m:sSubSup>
                        <m:r>
                          <a:rPr lang="en-US" sz="2400" i="1" dirty="0">
                            <a:latin typeface="Cambria Math" panose="02040503050406030204" pitchFamily="18" charset="0"/>
                          </a:rPr>
                          <m:t> −</m:t>
                        </m:r>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𝑛</m:t>
                            </m:r>
                          </m:e>
                          <m:sub>
                            <m:r>
                              <a:rPr lang="en-US" sz="2400" i="1" dirty="0">
                                <a:latin typeface="Cambria Math" panose="02040503050406030204" pitchFamily="18" charset="0"/>
                              </a:rPr>
                              <m:t>2</m:t>
                            </m:r>
                          </m:sub>
                          <m:sup>
                            <m:r>
                              <a:rPr lang="en-US" sz="2400" i="1" dirty="0">
                                <a:latin typeface="Cambria Math" panose="02040503050406030204" pitchFamily="18" charset="0"/>
                              </a:rPr>
                              <m:t>2</m:t>
                            </m:r>
                          </m:sup>
                        </m:sSubSup>
                      </m:e>
                    </m:rad>
                  </m:oMath>
                </a14:m>
                <a:endParaRPr lang="en-US" sz="2400" dirty="0"/>
              </a:p>
              <a:p>
                <a:pPr marL="0" indent="0" algn="ctr">
                  <a:buNone/>
                </a:pPr>
                <a:endParaRPr lang="en-US" sz="2400" dirty="0"/>
              </a:p>
              <a:p>
                <a:pPr marL="0" indent="0" algn="ctr">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Which </a:t>
                </a:r>
                <a:r>
                  <a:rPr lang="en-US" sz="2400" spc="-10" dirty="0">
                    <a:latin typeface="Times New Roman" panose="02020603050405020304" pitchFamily="18" charset="0"/>
                    <a:ea typeface="Cambria" panose="02040503050406030204" pitchFamily="18" charset="0"/>
                    <a:cs typeface="Times New Roman" panose="02020603050405020304" pitchFamily="18" charset="0"/>
                  </a:rPr>
                  <a:t>is the </a:t>
                </a:r>
                <a:r>
                  <a:rPr lang="en-US" sz="2400" spc="-5" dirty="0">
                    <a:latin typeface="Times New Roman" panose="02020603050405020304" pitchFamily="18" charset="0"/>
                    <a:ea typeface="Cambria" panose="02040503050406030204" pitchFamily="18" charset="0"/>
                    <a:cs typeface="Times New Roman" panose="02020603050405020304" pitchFamily="18" charset="0"/>
                  </a:rPr>
                  <a:t>required 	</a:t>
                </a:r>
                <a:r>
                  <a:rPr lang="en-US" sz="2400" dirty="0">
                    <a:latin typeface="Times New Roman" panose="02020603050405020304" pitchFamily="18" charset="0"/>
                    <a:ea typeface="Cambria" panose="02040503050406030204" pitchFamily="18" charset="0"/>
                    <a:cs typeface="Times New Roman" panose="02020603050405020304" pitchFamily="18" charset="0"/>
                  </a:rPr>
                  <a:t>expression for maximum </a:t>
                </a:r>
                <a:r>
                  <a:rPr lang="en-US" sz="2400" spc="5" dirty="0">
                    <a:latin typeface="Times New Roman" panose="02020603050405020304" pitchFamily="18" charset="0"/>
                    <a:ea typeface="Cambria" panose="02040503050406030204" pitchFamily="18" charset="0"/>
                    <a:cs typeface="Times New Roman" panose="02020603050405020304" pitchFamily="18" charset="0"/>
                  </a:rPr>
                  <a:t>Acceptance Angle </a:t>
                </a:r>
                <a:r>
                  <a:rPr lang="en-US" sz="2400" dirty="0">
                    <a:latin typeface="Times New Roman" panose="02020603050405020304" pitchFamily="18" charset="0"/>
                    <a:ea typeface="Cambria" panose="02040503050406030204" pitchFamily="18" charset="0"/>
                    <a:cs typeface="Times New Roman" panose="02020603050405020304" pitchFamily="18" charset="0"/>
                  </a:rPr>
                  <a:t>in </a:t>
                </a:r>
                <a:r>
                  <a:rPr lang="en-US" sz="2400" spc="5" dirty="0">
                    <a:latin typeface="Times New Roman" panose="02020603050405020304" pitchFamily="18" charset="0"/>
                    <a:ea typeface="Cambria" panose="02040503050406030204" pitchFamily="18" charset="0"/>
                    <a:cs typeface="Times New Roman" panose="02020603050405020304" pitchFamily="18" charset="0"/>
                  </a:rPr>
                  <a:t>optical</a:t>
                </a:r>
                <a:r>
                  <a:rPr lang="en-US" sz="2400" spc="-335" dirty="0">
                    <a:latin typeface="Times New Roman" panose="02020603050405020304" pitchFamily="18" charset="0"/>
                    <a:ea typeface="Cambria" panose="02040503050406030204" pitchFamily="18" charset="0"/>
                    <a:cs typeface="Times New Roman" panose="02020603050405020304" pitchFamily="18" charset="0"/>
                  </a:rPr>
                  <a:t> </a:t>
                </a:r>
                <a:r>
                  <a:rPr lang="en-US" sz="2400" spc="5" dirty="0">
                    <a:latin typeface="Times New Roman" panose="02020603050405020304" pitchFamily="18" charset="0"/>
                    <a:ea typeface="Cambria" panose="02040503050406030204" pitchFamily="18" charset="0"/>
                    <a:cs typeface="Times New Roman" panose="02020603050405020304" pitchFamily="18" charset="0"/>
                  </a:rPr>
                  <a:t>fibers.</a:t>
                </a:r>
                <a:endParaRPr lang="en-US"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lgn="ctr">
                  <a:buNone/>
                </a:pPr>
                <a:endParaRPr lang="en-US" sz="3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29993" y="154746"/>
                <a:ext cx="10998841" cy="6566730"/>
              </a:xfrm>
              <a:blipFill rotWithShape="0">
                <a:blip r:embed="rId2"/>
                <a:stretch>
                  <a:fillRect/>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BDCDBBEF-AA6C-4BA6-85B2-A17D7F280E38}" type="slidenum">
              <a:rPr lang="en-US" smtClean="0"/>
              <a:t>21</a:t>
            </a:fld>
            <a:endParaRPr lang="en-US"/>
          </a:p>
        </p:txBody>
      </p:sp>
    </p:spTree>
    <p:extLst>
      <p:ext uri="{BB962C8B-B14F-4D97-AF65-F5344CB8AC3E}">
        <p14:creationId xmlns:p14="http://schemas.microsoft.com/office/powerpoint/2010/main" val="1096227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768948" y="1448972"/>
                <a:ext cx="6063176" cy="4907378"/>
              </a:xfrm>
            </p:spPr>
            <p:txBody>
              <a:bodyPr>
                <a:normAutofit/>
              </a:bodyPr>
              <a:lstStyle/>
              <a:p>
                <a:pPr marL="0" indent="0" algn="ctr">
                  <a:buNone/>
                </a:pPr>
                <a:r>
                  <a:rPr lang="en-US" sz="2600" i="1" spc="220" dirty="0">
                    <a:latin typeface="Times New Roman"/>
                    <a:cs typeface="Times New Roman"/>
                  </a:rPr>
                  <a:t>  NA</a:t>
                </a:r>
                <a:r>
                  <a:rPr lang="en-US" sz="2600" i="1" spc="-135" dirty="0">
                    <a:latin typeface="Times New Roman"/>
                    <a:cs typeface="Times New Roman"/>
                  </a:rPr>
                  <a:t> </a:t>
                </a:r>
                <a:r>
                  <a:rPr lang="en-US" sz="2600" spc="170" dirty="0">
                    <a:latin typeface="Symbol"/>
                    <a:cs typeface="Symbol"/>
                  </a:rPr>
                  <a:t></a:t>
                </a:r>
                <a:r>
                  <a:rPr lang="en-US" sz="2600" spc="-85" dirty="0">
                    <a:latin typeface="Times New Roman"/>
                    <a:cs typeface="Times New Roman"/>
                  </a:rPr>
                  <a:t> </a:t>
                </a:r>
                <a:r>
                  <a:rPr lang="en-US" sz="2600" spc="25" dirty="0">
                    <a:latin typeface="Times New Roman"/>
                    <a:cs typeface="Times New Roman"/>
                  </a:rPr>
                  <a:t>sin</a:t>
                </a:r>
                <a:r>
                  <a:rPr lang="en-US" sz="2600" spc="-130" dirty="0">
                    <a:latin typeface="Times New Roman"/>
                    <a:cs typeface="Times New Roman"/>
                  </a:rPr>
                  <a:t> </a:t>
                </a:r>
                <a:r>
                  <a:rPr lang="en-US" sz="2600" i="1" spc="90" dirty="0">
                    <a:latin typeface="Symbol"/>
                    <a:cs typeface="Symbol"/>
                  </a:rPr>
                  <a:t></a:t>
                </a:r>
                <a:r>
                  <a:rPr lang="en-US" sz="2600" spc="135" baseline="-23504" dirty="0">
                    <a:latin typeface="Times New Roman"/>
                    <a:cs typeface="Times New Roman"/>
                  </a:rPr>
                  <a:t>max</a:t>
                </a:r>
                <a:endParaRPr lang="en-US" sz="2600" baseline="-23504" dirty="0">
                  <a:latin typeface="Times New Roman"/>
                  <a:cs typeface="Times New Roman"/>
                </a:endParaRPr>
              </a:p>
              <a:p>
                <a:pPr marL="0" indent="0" algn="ctr">
                  <a:buNone/>
                </a:pPr>
                <a:r>
                  <a:rPr lang="en-US" sz="2600" spc="25" dirty="0">
                    <a:latin typeface="Times New Roman"/>
                    <a:cs typeface="Times New Roman"/>
                  </a:rPr>
                  <a:t> sin</a:t>
                </a:r>
                <a:r>
                  <a:rPr lang="en-US" sz="2600" spc="-130" dirty="0">
                    <a:latin typeface="Times New Roman"/>
                    <a:cs typeface="Times New Roman"/>
                  </a:rPr>
                  <a:t> </a:t>
                </a:r>
                <a:r>
                  <a:rPr lang="en-US" sz="2600" i="1" spc="90" dirty="0">
                    <a:latin typeface="Symbol"/>
                    <a:cs typeface="Symbol"/>
                  </a:rPr>
                  <a:t></a:t>
                </a:r>
                <a:r>
                  <a:rPr lang="en-US" sz="2600" spc="135" baseline="-23504" dirty="0">
                    <a:latin typeface="Times New Roman"/>
                    <a:cs typeface="Times New Roman"/>
                  </a:rPr>
                  <a:t>max</a:t>
                </a:r>
                <a:r>
                  <a:rPr lang="en-US" sz="2600" spc="135" dirty="0">
                    <a:latin typeface="Times New Roman"/>
                    <a:cs typeface="Times New Roman"/>
                  </a:rPr>
                  <a:t>= </a:t>
                </a:r>
                <a14:m>
                  <m:oMath xmlns:m="http://schemas.openxmlformats.org/officeDocument/2006/math">
                    <m:f>
                      <m:fPr>
                        <m:ctrlPr>
                          <a:rPr lang="en-US" sz="2600" i="1" dirty="0">
                            <a:latin typeface="Cambria Math" panose="02040503050406030204" pitchFamily="18" charset="0"/>
                          </a:rPr>
                        </m:ctrlPr>
                      </m:fPr>
                      <m:num>
                        <m:rad>
                          <m:radPr>
                            <m:degHide m:val="on"/>
                            <m:ctrlPr>
                              <a:rPr lang="en-US" sz="2600" i="1" dirty="0">
                                <a:latin typeface="Cambria Math" panose="02040503050406030204" pitchFamily="18" charset="0"/>
                              </a:rPr>
                            </m:ctrlPr>
                          </m:radPr>
                          <m:deg/>
                          <m:e>
                            <m:sSubSup>
                              <m:sSubSupPr>
                                <m:ctrlPr>
                                  <a:rPr lang="en-US" sz="2600" i="1" dirty="0">
                                    <a:latin typeface="Cambria Math" panose="02040503050406030204" pitchFamily="18" charset="0"/>
                                  </a:rPr>
                                </m:ctrlPr>
                              </m:sSubSupPr>
                              <m:e>
                                <m:r>
                                  <a:rPr lang="en-US" sz="2600" i="1" dirty="0">
                                    <a:latin typeface="Cambria Math" panose="02040503050406030204" pitchFamily="18" charset="0"/>
                                  </a:rPr>
                                  <m:t>𝑛</m:t>
                                </m:r>
                              </m:e>
                              <m:sub>
                                <m:r>
                                  <a:rPr lang="en-US" sz="2600" i="1" dirty="0">
                                    <a:latin typeface="Cambria Math" panose="02040503050406030204" pitchFamily="18" charset="0"/>
                                  </a:rPr>
                                  <m:t>1</m:t>
                                </m:r>
                              </m:sub>
                              <m:sup>
                                <m:r>
                                  <a:rPr lang="en-US" sz="2600" i="1" dirty="0">
                                    <a:latin typeface="Cambria Math" panose="02040503050406030204" pitchFamily="18" charset="0"/>
                                  </a:rPr>
                                  <m:t>2</m:t>
                                </m:r>
                              </m:sup>
                            </m:sSubSup>
                            <m:r>
                              <a:rPr lang="en-US" sz="2600" i="1" dirty="0">
                                <a:latin typeface="Cambria Math" panose="02040503050406030204" pitchFamily="18" charset="0"/>
                              </a:rPr>
                              <m:t> − </m:t>
                            </m:r>
                            <m:sSubSup>
                              <m:sSubSupPr>
                                <m:ctrlPr>
                                  <a:rPr lang="en-US" sz="2600" i="1" dirty="0">
                                    <a:latin typeface="Cambria Math" panose="02040503050406030204" pitchFamily="18" charset="0"/>
                                  </a:rPr>
                                </m:ctrlPr>
                              </m:sSubSupPr>
                              <m:e>
                                <m:r>
                                  <a:rPr lang="en-US" sz="2600" i="1" dirty="0">
                                    <a:latin typeface="Cambria Math" panose="02040503050406030204" pitchFamily="18" charset="0"/>
                                  </a:rPr>
                                  <m:t>𝑛</m:t>
                                </m:r>
                              </m:e>
                              <m:sub>
                                <m:r>
                                  <a:rPr lang="en-US" sz="2600" i="1" dirty="0">
                                    <a:latin typeface="Cambria Math" panose="02040503050406030204" pitchFamily="18" charset="0"/>
                                  </a:rPr>
                                  <m:t>2</m:t>
                                </m:r>
                              </m:sub>
                              <m:sup>
                                <m:r>
                                  <a:rPr lang="en-US" sz="2600" i="1" dirty="0">
                                    <a:latin typeface="Cambria Math" panose="02040503050406030204" pitchFamily="18" charset="0"/>
                                  </a:rPr>
                                  <m:t>2</m:t>
                                </m:r>
                              </m:sup>
                            </m:sSubSup>
                          </m:e>
                        </m:rad>
                      </m:num>
                      <m:den>
                        <m:sSub>
                          <m:sSubPr>
                            <m:ctrlPr>
                              <a:rPr lang="en-US" sz="2600" i="1" dirty="0" smtClean="0">
                                <a:latin typeface="Cambria Math" panose="02040503050406030204" pitchFamily="18" charset="0"/>
                              </a:rPr>
                            </m:ctrlPr>
                          </m:sSubPr>
                          <m:e>
                            <m:r>
                              <a:rPr lang="en-US" sz="2600" b="0" i="1" dirty="0" smtClean="0">
                                <a:latin typeface="Cambria Math" panose="02040503050406030204" pitchFamily="18" charset="0"/>
                              </a:rPr>
                              <m:t>𝑛</m:t>
                            </m:r>
                          </m:e>
                          <m:sub>
                            <m:r>
                              <a:rPr lang="en-US" sz="2600" b="0" i="1" dirty="0" smtClean="0">
                                <a:latin typeface="Cambria Math" panose="02040503050406030204" pitchFamily="18" charset="0"/>
                              </a:rPr>
                              <m:t>0</m:t>
                            </m:r>
                          </m:sub>
                        </m:sSub>
                      </m:den>
                    </m:f>
                  </m:oMath>
                </a14:m>
                <a:endParaRPr lang="en-US" sz="2600" dirty="0">
                  <a:latin typeface="Times New Roman"/>
                  <a:cs typeface="Times New Roman"/>
                </a:endParaRPr>
              </a:p>
              <a:p>
                <a:pPr marL="0" indent="0" algn="ctr">
                  <a:buNone/>
                </a:pPr>
                <a:r>
                  <a:rPr lang="en-US" sz="2600" i="1" spc="220" dirty="0">
                    <a:latin typeface="Times New Roman"/>
                    <a:cs typeface="Times New Roman"/>
                  </a:rPr>
                  <a:t>NA </a:t>
                </a:r>
                <a:r>
                  <a:rPr lang="en-US" sz="2600" spc="170" dirty="0">
                    <a:latin typeface="Symbol"/>
                    <a:cs typeface="Symbol"/>
                  </a:rPr>
                  <a:t> </a:t>
                </a:r>
                <a14:m>
                  <m:oMath xmlns:m="http://schemas.openxmlformats.org/officeDocument/2006/math">
                    <m:rad>
                      <m:radPr>
                        <m:degHide m:val="on"/>
                        <m:ctrlPr>
                          <a:rPr lang="en-US" sz="2600" i="1" dirty="0">
                            <a:latin typeface="Cambria Math" panose="02040503050406030204" pitchFamily="18" charset="0"/>
                          </a:rPr>
                        </m:ctrlPr>
                      </m:radPr>
                      <m:deg/>
                      <m:e>
                        <m:sSubSup>
                          <m:sSubSupPr>
                            <m:ctrlPr>
                              <a:rPr lang="en-US" sz="2600" i="1" dirty="0">
                                <a:latin typeface="Cambria Math" panose="02040503050406030204" pitchFamily="18" charset="0"/>
                              </a:rPr>
                            </m:ctrlPr>
                          </m:sSubSupPr>
                          <m:e>
                            <m:r>
                              <a:rPr lang="en-US" sz="2600" i="1" dirty="0">
                                <a:latin typeface="Cambria Math" panose="02040503050406030204" pitchFamily="18" charset="0"/>
                              </a:rPr>
                              <m:t>𝑛</m:t>
                            </m:r>
                          </m:e>
                          <m:sub>
                            <m:r>
                              <a:rPr lang="en-US" sz="2600" i="1" dirty="0">
                                <a:latin typeface="Cambria Math" panose="02040503050406030204" pitchFamily="18" charset="0"/>
                              </a:rPr>
                              <m:t>1</m:t>
                            </m:r>
                          </m:sub>
                          <m:sup>
                            <m:r>
                              <a:rPr lang="en-US" sz="2600" i="1" dirty="0">
                                <a:latin typeface="Cambria Math" panose="02040503050406030204" pitchFamily="18" charset="0"/>
                              </a:rPr>
                              <m:t>2</m:t>
                            </m:r>
                          </m:sup>
                        </m:sSubSup>
                        <m:r>
                          <a:rPr lang="en-US" sz="2600" i="1" dirty="0">
                            <a:latin typeface="Cambria Math" panose="02040503050406030204" pitchFamily="18" charset="0"/>
                          </a:rPr>
                          <m:t> −</m:t>
                        </m:r>
                        <m:sSubSup>
                          <m:sSubSupPr>
                            <m:ctrlPr>
                              <a:rPr lang="en-US" sz="2600" i="1" dirty="0">
                                <a:latin typeface="Cambria Math" panose="02040503050406030204" pitchFamily="18" charset="0"/>
                              </a:rPr>
                            </m:ctrlPr>
                          </m:sSubSupPr>
                          <m:e>
                            <m:r>
                              <a:rPr lang="en-US" sz="2600" i="1" dirty="0">
                                <a:latin typeface="Cambria Math" panose="02040503050406030204" pitchFamily="18" charset="0"/>
                              </a:rPr>
                              <m:t>𝑛</m:t>
                            </m:r>
                          </m:e>
                          <m:sub>
                            <m:r>
                              <a:rPr lang="en-US" sz="2600" i="1" dirty="0">
                                <a:latin typeface="Cambria Math" panose="02040503050406030204" pitchFamily="18" charset="0"/>
                              </a:rPr>
                              <m:t>2</m:t>
                            </m:r>
                          </m:sub>
                          <m:sup>
                            <m:r>
                              <a:rPr lang="en-US" sz="2600" i="1" dirty="0">
                                <a:latin typeface="Cambria Math" panose="02040503050406030204" pitchFamily="18" charset="0"/>
                              </a:rPr>
                              <m:t>2</m:t>
                            </m:r>
                          </m:sup>
                        </m:sSubSup>
                      </m:e>
                    </m:rad>
                  </m:oMath>
                </a14:m>
                <a:r>
                  <a:rPr lang="en-US" sz="2600" dirty="0">
                    <a:latin typeface="Times New Roman"/>
                    <a:cs typeface="Times New Roman"/>
                  </a:rPr>
                  <a:t> = </a:t>
                </a:r>
                <a14:m>
                  <m:oMath xmlns:m="http://schemas.openxmlformats.org/officeDocument/2006/math">
                    <m:sSub>
                      <m:sSubPr>
                        <m:ctrlPr>
                          <a:rPr lang="en-US" sz="2600" i="1" smtClean="0">
                            <a:latin typeface="Cambria Math" panose="02040503050406030204" pitchFamily="18" charset="0"/>
                            <a:cs typeface="Times New Roman"/>
                          </a:rPr>
                        </m:ctrlPr>
                      </m:sSubPr>
                      <m:e>
                        <m:r>
                          <a:rPr lang="en-US" sz="2600" b="0" i="1" smtClean="0">
                            <a:latin typeface="Cambria Math" panose="02040503050406030204" pitchFamily="18" charset="0"/>
                            <a:cs typeface="Times New Roman"/>
                          </a:rPr>
                          <m:t>𝑛</m:t>
                        </m:r>
                      </m:e>
                      <m:sub>
                        <m:r>
                          <a:rPr lang="en-US" sz="2600" b="0" i="1" smtClean="0">
                            <a:latin typeface="Cambria Math" panose="02040503050406030204" pitchFamily="18" charset="0"/>
                            <a:cs typeface="Times New Roman"/>
                          </a:rPr>
                          <m:t>1</m:t>
                        </m:r>
                      </m:sub>
                    </m:sSub>
                    <m:rad>
                      <m:radPr>
                        <m:degHide m:val="on"/>
                        <m:ctrlPr>
                          <a:rPr lang="en-US" sz="2600" i="1" smtClean="0">
                            <a:latin typeface="Cambria Math" panose="02040503050406030204" pitchFamily="18" charset="0"/>
                            <a:cs typeface="Times New Roman"/>
                          </a:rPr>
                        </m:ctrlPr>
                      </m:radPr>
                      <m:deg/>
                      <m:e>
                        <m:r>
                          <a:rPr lang="en-US" sz="2600" b="0" i="1" smtClean="0">
                            <a:latin typeface="Cambria Math" panose="02040503050406030204" pitchFamily="18" charset="0"/>
                            <a:cs typeface="Times New Roman"/>
                          </a:rPr>
                          <m:t>1−</m:t>
                        </m:r>
                        <m:f>
                          <m:fPr>
                            <m:ctrlPr>
                              <a:rPr lang="en-US" sz="2600" b="0" i="1" smtClean="0">
                                <a:latin typeface="Cambria Math" panose="02040503050406030204" pitchFamily="18" charset="0"/>
                                <a:cs typeface="Times New Roman"/>
                              </a:rPr>
                            </m:ctrlPr>
                          </m:fPr>
                          <m:num>
                            <m:sSubSup>
                              <m:sSubSupPr>
                                <m:ctrlPr>
                                  <a:rPr lang="en-US" sz="2600" b="0" i="1" smtClean="0">
                                    <a:latin typeface="Cambria Math" panose="02040503050406030204" pitchFamily="18" charset="0"/>
                                    <a:cs typeface="Times New Roman"/>
                                  </a:rPr>
                                </m:ctrlPr>
                              </m:sSubSupPr>
                              <m:e>
                                <m:r>
                                  <a:rPr lang="en-US" sz="2600" b="0" i="1" smtClean="0">
                                    <a:latin typeface="Cambria Math" panose="02040503050406030204" pitchFamily="18" charset="0"/>
                                    <a:cs typeface="Times New Roman"/>
                                  </a:rPr>
                                  <m:t>𝑛</m:t>
                                </m:r>
                              </m:e>
                              <m:sub>
                                <m:r>
                                  <a:rPr lang="en-US" sz="2600" b="0" i="1" smtClean="0">
                                    <a:latin typeface="Cambria Math" panose="02040503050406030204" pitchFamily="18" charset="0"/>
                                    <a:cs typeface="Times New Roman"/>
                                  </a:rPr>
                                  <m:t>2</m:t>
                                </m:r>
                              </m:sub>
                              <m:sup>
                                <m:r>
                                  <a:rPr lang="en-US" sz="2600" b="0" i="1" smtClean="0">
                                    <a:latin typeface="Cambria Math" panose="02040503050406030204" pitchFamily="18" charset="0"/>
                                    <a:cs typeface="Times New Roman"/>
                                  </a:rPr>
                                  <m:t>2</m:t>
                                </m:r>
                              </m:sup>
                            </m:sSubSup>
                          </m:num>
                          <m:den>
                            <m:sSubSup>
                              <m:sSubSupPr>
                                <m:ctrlPr>
                                  <a:rPr lang="en-US" sz="2600" b="0" i="1" smtClean="0">
                                    <a:latin typeface="Cambria Math" panose="02040503050406030204" pitchFamily="18" charset="0"/>
                                    <a:cs typeface="Times New Roman"/>
                                  </a:rPr>
                                </m:ctrlPr>
                              </m:sSubSupPr>
                              <m:e>
                                <m:r>
                                  <a:rPr lang="en-US" sz="2600" b="0" i="1" smtClean="0">
                                    <a:latin typeface="Cambria Math" panose="02040503050406030204" pitchFamily="18" charset="0"/>
                                    <a:cs typeface="Times New Roman"/>
                                  </a:rPr>
                                  <m:t>𝑛</m:t>
                                </m:r>
                              </m:e>
                              <m:sub>
                                <m:r>
                                  <a:rPr lang="en-US" sz="2600" b="0" i="1" smtClean="0">
                                    <a:latin typeface="Cambria Math" panose="02040503050406030204" pitchFamily="18" charset="0"/>
                                    <a:cs typeface="Times New Roman"/>
                                  </a:rPr>
                                  <m:t>1</m:t>
                                </m:r>
                              </m:sub>
                              <m:sup>
                                <m:r>
                                  <a:rPr lang="en-US" sz="2600" b="0" i="1" smtClean="0">
                                    <a:latin typeface="Cambria Math" panose="02040503050406030204" pitchFamily="18" charset="0"/>
                                    <a:cs typeface="Times New Roman"/>
                                  </a:rPr>
                                  <m:t>2</m:t>
                                </m:r>
                              </m:sup>
                            </m:sSubSup>
                          </m:den>
                        </m:f>
                      </m:e>
                    </m:rad>
                  </m:oMath>
                </a14:m>
                <a:r>
                  <a:rPr lang="en-US" sz="2600" dirty="0">
                    <a:latin typeface="Times New Roman"/>
                    <a:cs typeface="Times New Roman"/>
                  </a:rPr>
                  <a:t> ……(1)</a:t>
                </a:r>
              </a:p>
              <a:p>
                <a:pPr algn="ctr">
                  <a:buFont typeface="Symbol" panose="05050102010706020507" pitchFamily="18" charset="2"/>
                  <a:buChar char="D"/>
                </a:pPr>
                <a:r>
                  <a:rPr lang="en-US" sz="2600" spc="254" dirty="0">
                    <a:latin typeface="Symbol"/>
                    <a:cs typeface="Times New Roman"/>
                  </a:rPr>
                  <a:t>=</a:t>
                </a:r>
                <a14:m>
                  <m:oMath xmlns:m="http://schemas.openxmlformats.org/officeDocument/2006/math">
                    <m:f>
                      <m:fPr>
                        <m:ctrlPr>
                          <a:rPr lang="en-US" sz="2600" i="1" spc="254" smtClean="0">
                            <a:latin typeface="Cambria Math" panose="02040503050406030204" pitchFamily="18" charset="0"/>
                            <a:cs typeface="Times New Roman"/>
                          </a:rPr>
                        </m:ctrlPr>
                      </m:fPr>
                      <m:num>
                        <m:sSub>
                          <m:sSubPr>
                            <m:ctrlPr>
                              <a:rPr lang="en-US" sz="2600" i="1" spc="254" smtClean="0">
                                <a:latin typeface="Cambria Math" panose="02040503050406030204" pitchFamily="18" charset="0"/>
                                <a:cs typeface="Times New Roman"/>
                              </a:rPr>
                            </m:ctrlPr>
                          </m:sSubPr>
                          <m:e>
                            <m:r>
                              <a:rPr lang="en-US" sz="2600" b="0" i="1" spc="254" smtClean="0">
                                <a:latin typeface="Cambria Math" panose="02040503050406030204" pitchFamily="18" charset="0"/>
                                <a:cs typeface="Times New Roman"/>
                              </a:rPr>
                              <m:t>𝑛</m:t>
                            </m:r>
                          </m:e>
                          <m:sub>
                            <m:r>
                              <a:rPr lang="en-US" sz="2600" b="0" i="1" spc="254" smtClean="0">
                                <a:latin typeface="Cambria Math" panose="02040503050406030204" pitchFamily="18" charset="0"/>
                                <a:cs typeface="Times New Roman"/>
                              </a:rPr>
                              <m:t>1</m:t>
                            </m:r>
                          </m:sub>
                        </m:sSub>
                        <m:r>
                          <a:rPr lang="en-US" sz="2600" b="0" i="1" spc="254" smtClean="0">
                            <a:latin typeface="Cambria Math" panose="02040503050406030204" pitchFamily="18" charset="0"/>
                            <a:cs typeface="Times New Roman"/>
                          </a:rPr>
                          <m:t>−</m:t>
                        </m:r>
                        <m:sSub>
                          <m:sSubPr>
                            <m:ctrlPr>
                              <a:rPr lang="en-US" sz="2600" b="0" i="1" spc="254" smtClean="0">
                                <a:latin typeface="Cambria Math" panose="02040503050406030204" pitchFamily="18" charset="0"/>
                                <a:cs typeface="Times New Roman"/>
                              </a:rPr>
                            </m:ctrlPr>
                          </m:sSubPr>
                          <m:e>
                            <m:r>
                              <a:rPr lang="en-US" sz="2600" b="0" i="1" spc="254" smtClean="0">
                                <a:latin typeface="Cambria Math" panose="02040503050406030204" pitchFamily="18" charset="0"/>
                                <a:cs typeface="Times New Roman"/>
                              </a:rPr>
                              <m:t>𝑛</m:t>
                            </m:r>
                          </m:e>
                          <m:sub>
                            <m:r>
                              <a:rPr lang="en-US" sz="2600" b="0" i="1" spc="254" smtClean="0">
                                <a:latin typeface="Cambria Math" panose="02040503050406030204" pitchFamily="18" charset="0"/>
                                <a:cs typeface="Times New Roman"/>
                              </a:rPr>
                              <m:t>2</m:t>
                            </m:r>
                          </m:sub>
                        </m:sSub>
                      </m:num>
                      <m:den>
                        <m:sSub>
                          <m:sSubPr>
                            <m:ctrlPr>
                              <a:rPr lang="en-US" sz="2600" i="1" spc="254" smtClean="0">
                                <a:latin typeface="Cambria Math" panose="02040503050406030204" pitchFamily="18" charset="0"/>
                                <a:cs typeface="Times New Roman"/>
                              </a:rPr>
                            </m:ctrlPr>
                          </m:sSubPr>
                          <m:e>
                            <m:r>
                              <a:rPr lang="en-US" sz="2600" b="0" i="1" spc="254" smtClean="0">
                                <a:latin typeface="Cambria Math" panose="02040503050406030204" pitchFamily="18" charset="0"/>
                                <a:cs typeface="Times New Roman"/>
                              </a:rPr>
                              <m:t>𝑛</m:t>
                            </m:r>
                          </m:e>
                          <m:sub>
                            <m:r>
                              <a:rPr lang="en-US" sz="2600" b="0" i="1" spc="254" smtClean="0">
                                <a:latin typeface="Cambria Math" panose="02040503050406030204" pitchFamily="18" charset="0"/>
                                <a:cs typeface="Times New Roman"/>
                              </a:rPr>
                              <m:t>1</m:t>
                            </m:r>
                          </m:sub>
                        </m:sSub>
                      </m:den>
                    </m:f>
                  </m:oMath>
                </a14:m>
                <a:r>
                  <a:rPr lang="en-US" sz="2600" spc="254" dirty="0">
                    <a:latin typeface="Symbol"/>
                    <a:cs typeface="Times New Roman"/>
                  </a:rPr>
                  <a:t> =1-</a:t>
                </a:r>
                <a14:m>
                  <m:oMath xmlns:m="http://schemas.openxmlformats.org/officeDocument/2006/math">
                    <m:f>
                      <m:fPr>
                        <m:ctrlPr>
                          <a:rPr lang="en-US" sz="2600" i="1" spc="254" smtClean="0">
                            <a:latin typeface="Cambria Math" panose="02040503050406030204" pitchFamily="18" charset="0"/>
                            <a:cs typeface="Times New Roman"/>
                          </a:rPr>
                        </m:ctrlPr>
                      </m:fPr>
                      <m:num>
                        <m:sSub>
                          <m:sSubPr>
                            <m:ctrlPr>
                              <a:rPr lang="en-US" sz="2600" i="1" spc="254" smtClean="0">
                                <a:latin typeface="Cambria Math" panose="02040503050406030204" pitchFamily="18" charset="0"/>
                                <a:cs typeface="Times New Roman"/>
                              </a:rPr>
                            </m:ctrlPr>
                          </m:sSubPr>
                          <m:e>
                            <m:r>
                              <a:rPr lang="en-US" sz="2600" b="0" i="1" spc="254" smtClean="0">
                                <a:latin typeface="Cambria Math" panose="02040503050406030204" pitchFamily="18" charset="0"/>
                                <a:cs typeface="Times New Roman"/>
                              </a:rPr>
                              <m:t>𝑛</m:t>
                            </m:r>
                          </m:e>
                          <m:sub>
                            <m:r>
                              <a:rPr lang="en-US" sz="2600" b="0" i="1" spc="254" smtClean="0">
                                <a:latin typeface="Cambria Math" panose="02040503050406030204" pitchFamily="18" charset="0"/>
                                <a:cs typeface="Times New Roman"/>
                              </a:rPr>
                              <m:t>2</m:t>
                            </m:r>
                          </m:sub>
                        </m:sSub>
                      </m:num>
                      <m:den>
                        <m:sSub>
                          <m:sSubPr>
                            <m:ctrlPr>
                              <a:rPr lang="en-US" sz="2600" i="1" spc="254" smtClean="0">
                                <a:latin typeface="Cambria Math" panose="02040503050406030204" pitchFamily="18" charset="0"/>
                                <a:cs typeface="Times New Roman"/>
                              </a:rPr>
                            </m:ctrlPr>
                          </m:sSubPr>
                          <m:e>
                            <m:r>
                              <a:rPr lang="en-US" sz="2600" b="0" i="1" spc="254" smtClean="0">
                                <a:latin typeface="Cambria Math" panose="02040503050406030204" pitchFamily="18" charset="0"/>
                                <a:cs typeface="Times New Roman"/>
                              </a:rPr>
                              <m:t>𝑛</m:t>
                            </m:r>
                          </m:e>
                          <m:sub>
                            <m:r>
                              <a:rPr lang="en-US" sz="2600" b="0" i="1" spc="254" smtClean="0">
                                <a:latin typeface="Cambria Math" panose="02040503050406030204" pitchFamily="18" charset="0"/>
                                <a:cs typeface="Times New Roman"/>
                              </a:rPr>
                              <m:t>1</m:t>
                            </m:r>
                          </m:sub>
                        </m:sSub>
                      </m:den>
                    </m:f>
                  </m:oMath>
                </a14:m>
                <a:r>
                  <a:rPr lang="en-US" sz="2600" dirty="0">
                    <a:latin typeface="Times New Roman"/>
                    <a:cs typeface="Times New Roman"/>
                  </a:rPr>
                  <a:t> = </a:t>
                </a:r>
                <a14:m>
                  <m:oMath xmlns:m="http://schemas.openxmlformats.org/officeDocument/2006/math">
                    <m:f>
                      <m:fPr>
                        <m:ctrlPr>
                          <a:rPr lang="en-US" sz="2600" i="1" spc="254">
                            <a:latin typeface="Cambria Math" panose="02040503050406030204" pitchFamily="18" charset="0"/>
                            <a:cs typeface="Times New Roman"/>
                          </a:rPr>
                        </m:ctrlPr>
                      </m:fPr>
                      <m:num>
                        <m:sSub>
                          <m:sSubPr>
                            <m:ctrlPr>
                              <a:rPr lang="en-US" sz="2600" i="1" spc="254">
                                <a:latin typeface="Cambria Math" panose="02040503050406030204" pitchFamily="18" charset="0"/>
                                <a:cs typeface="Times New Roman"/>
                              </a:rPr>
                            </m:ctrlPr>
                          </m:sSubPr>
                          <m:e>
                            <m:r>
                              <a:rPr lang="en-US" sz="2600" i="1" spc="254">
                                <a:latin typeface="Cambria Math" panose="02040503050406030204" pitchFamily="18" charset="0"/>
                                <a:cs typeface="Times New Roman"/>
                              </a:rPr>
                              <m:t>𝑛</m:t>
                            </m:r>
                          </m:e>
                          <m:sub>
                            <m:r>
                              <a:rPr lang="en-US" sz="2600" i="1" spc="254">
                                <a:latin typeface="Cambria Math" panose="02040503050406030204" pitchFamily="18" charset="0"/>
                                <a:cs typeface="Times New Roman"/>
                              </a:rPr>
                              <m:t>2</m:t>
                            </m:r>
                            <m:r>
                              <a:rPr lang="en-US" sz="2600" b="0" i="1" spc="254" smtClean="0">
                                <a:latin typeface="Cambria Math" panose="02040503050406030204" pitchFamily="18" charset="0"/>
                                <a:cs typeface="Times New Roman"/>
                              </a:rPr>
                              <m:t> </m:t>
                            </m:r>
                          </m:sub>
                        </m:sSub>
                      </m:num>
                      <m:den>
                        <m:sSub>
                          <m:sSubPr>
                            <m:ctrlPr>
                              <a:rPr lang="en-US" sz="2600" i="1" spc="254">
                                <a:latin typeface="Cambria Math" panose="02040503050406030204" pitchFamily="18" charset="0"/>
                                <a:cs typeface="Times New Roman"/>
                              </a:rPr>
                            </m:ctrlPr>
                          </m:sSubPr>
                          <m:e>
                            <m:r>
                              <a:rPr lang="en-US" sz="2600" i="1" spc="254">
                                <a:latin typeface="Cambria Math" panose="02040503050406030204" pitchFamily="18" charset="0"/>
                                <a:cs typeface="Times New Roman"/>
                              </a:rPr>
                              <m:t>𝑛</m:t>
                            </m:r>
                          </m:e>
                          <m:sub>
                            <m:r>
                              <a:rPr lang="en-US" sz="2600" i="1" spc="254">
                                <a:latin typeface="Cambria Math" panose="02040503050406030204" pitchFamily="18" charset="0"/>
                                <a:cs typeface="Times New Roman"/>
                              </a:rPr>
                              <m:t>1</m:t>
                            </m:r>
                          </m:sub>
                        </m:sSub>
                      </m:den>
                    </m:f>
                  </m:oMath>
                </a14:m>
                <a:r>
                  <a:rPr lang="en-US" sz="2600" dirty="0">
                    <a:latin typeface="Times New Roman"/>
                    <a:cs typeface="Times New Roman"/>
                  </a:rPr>
                  <a:t> = 1- </a:t>
                </a:r>
                <a:r>
                  <a:rPr lang="en-US" sz="2600" spc="284" dirty="0">
                    <a:latin typeface="Symbol"/>
                    <a:cs typeface="Symbol"/>
                  </a:rPr>
                  <a:t></a:t>
                </a:r>
                <a:r>
                  <a:rPr lang="en-US" sz="2600" dirty="0">
                    <a:latin typeface="Times New Roman"/>
                    <a:cs typeface="Times New Roman"/>
                  </a:rPr>
                  <a:t>………(2)</a:t>
                </a:r>
              </a:p>
              <a:p>
                <a:pPr marL="0" indent="0" algn="ctr">
                  <a:buNone/>
                </a:pPr>
                <a:r>
                  <a:rPr lang="en-US" sz="2600" spc="284" dirty="0">
                    <a:latin typeface="Cambria" panose="02040503050406030204" pitchFamily="18" charset="0"/>
                    <a:ea typeface="Cambria" panose="02040503050406030204" pitchFamily="18" charset="0"/>
                    <a:cs typeface="Symbol"/>
                  </a:rPr>
                  <a:t>Substitute from eq.2 in eq.1</a:t>
                </a:r>
              </a:p>
              <a:p>
                <a:pPr marL="0" indent="0" algn="ctr">
                  <a:buNone/>
                </a:pPr>
                <a:r>
                  <a:rPr lang="en-US" sz="2600" i="1" spc="220" dirty="0">
                    <a:latin typeface="Times New Roman"/>
                    <a:cs typeface="Times New Roman"/>
                  </a:rPr>
                  <a:t>NA=</a:t>
                </a:r>
                <a14:m>
                  <m:oMath xmlns:m="http://schemas.openxmlformats.org/officeDocument/2006/math">
                    <m:sSub>
                      <m:sSubPr>
                        <m:ctrlPr>
                          <a:rPr lang="en-US" sz="2600" i="1">
                            <a:latin typeface="Cambria Math" panose="02040503050406030204" pitchFamily="18" charset="0"/>
                            <a:cs typeface="Times New Roman"/>
                          </a:rPr>
                        </m:ctrlPr>
                      </m:sSubPr>
                      <m:e>
                        <m:r>
                          <a:rPr lang="en-US" sz="2600" i="1">
                            <a:latin typeface="Cambria Math" panose="02040503050406030204" pitchFamily="18" charset="0"/>
                            <a:cs typeface="Times New Roman"/>
                          </a:rPr>
                          <m:t>𝑛</m:t>
                        </m:r>
                      </m:e>
                      <m:sub>
                        <m:r>
                          <a:rPr lang="en-US" sz="2600" i="1">
                            <a:latin typeface="Cambria Math" panose="02040503050406030204" pitchFamily="18" charset="0"/>
                            <a:cs typeface="Times New Roman"/>
                          </a:rPr>
                          <m:t>1</m:t>
                        </m:r>
                      </m:sub>
                    </m:sSub>
                    <m:rad>
                      <m:radPr>
                        <m:degHide m:val="on"/>
                        <m:ctrlPr>
                          <a:rPr lang="en-US" sz="2600" i="1" smtClean="0">
                            <a:latin typeface="Cambria Math" panose="02040503050406030204" pitchFamily="18" charset="0"/>
                            <a:cs typeface="Times New Roman"/>
                          </a:rPr>
                        </m:ctrlPr>
                      </m:radPr>
                      <m:deg/>
                      <m:e>
                        <m:r>
                          <a:rPr lang="en-US" sz="2600" b="0" i="1" smtClean="0">
                            <a:latin typeface="Cambria Math" panose="02040503050406030204" pitchFamily="18" charset="0"/>
                            <a:cs typeface="Times New Roman"/>
                          </a:rPr>
                          <m:t>2</m:t>
                        </m:r>
                        <m:r>
                          <m:rPr>
                            <m:nor/>
                          </m:rPr>
                          <a:rPr lang="en-US" sz="2600" spc="284" dirty="0">
                            <a:latin typeface="Symbol"/>
                            <a:cs typeface="Symbol"/>
                          </a:rPr>
                          <m:t></m:t>
                        </m:r>
                      </m:e>
                    </m:rad>
                  </m:oMath>
                </a14:m>
                <a:endParaRPr lang="en-US" sz="2600" spc="284" dirty="0">
                  <a:latin typeface="Cambria" panose="02040503050406030204" pitchFamily="18" charset="0"/>
                  <a:ea typeface="Cambria" panose="02040503050406030204" pitchFamily="18" charset="0"/>
                  <a:cs typeface="Symbol"/>
                </a:endParaRPr>
              </a:p>
              <a:p>
                <a:pPr marL="0" indent="0">
                  <a:buNone/>
                </a:pPr>
                <a:r>
                  <a:rPr lang="en-US" sz="2600" dirty="0">
                    <a:latin typeface="Cambria" panose="02040503050406030204" pitchFamily="18" charset="0"/>
                    <a:ea typeface="Cambria" panose="02040503050406030204" pitchFamily="18" charset="0"/>
                    <a:cs typeface="Times New Roman"/>
                  </a:rPr>
                  <a:t>                           Here </a:t>
                </a:r>
                <a14:m>
                  <m:oMath xmlns:m="http://schemas.openxmlformats.org/officeDocument/2006/math">
                    <m:sSub>
                      <m:sSubPr>
                        <m:ctrlPr>
                          <a:rPr lang="en-US" sz="2600" i="1" spc="254">
                            <a:latin typeface="Cambria Math" panose="02040503050406030204" pitchFamily="18" charset="0"/>
                            <a:cs typeface="Times New Roman"/>
                          </a:rPr>
                        </m:ctrlPr>
                      </m:sSubPr>
                      <m:e>
                        <m:r>
                          <a:rPr lang="en-US" sz="2600" i="1" spc="254">
                            <a:latin typeface="Cambria Math" panose="02040503050406030204" pitchFamily="18" charset="0"/>
                            <a:cs typeface="Times New Roman"/>
                          </a:rPr>
                          <m:t>𝑛</m:t>
                        </m:r>
                      </m:e>
                      <m:sub>
                        <m:r>
                          <a:rPr lang="en-US" sz="2600" i="1" spc="254">
                            <a:latin typeface="Cambria Math" panose="02040503050406030204" pitchFamily="18" charset="0"/>
                            <a:cs typeface="Times New Roman"/>
                          </a:rPr>
                          <m:t>1</m:t>
                        </m:r>
                      </m:sub>
                    </m:sSub>
                    <m:r>
                      <a:rPr lang="en-US" sz="2600" i="1" spc="254" smtClean="0">
                        <a:latin typeface="Cambria Math" panose="02040503050406030204" pitchFamily="18" charset="0"/>
                        <a:cs typeface="Times New Roman"/>
                      </a:rPr>
                      <m:t>≃</m:t>
                    </m:r>
                    <m:sSub>
                      <m:sSubPr>
                        <m:ctrlPr>
                          <a:rPr lang="en-US" sz="2600" i="1" spc="254">
                            <a:latin typeface="Cambria Math" panose="02040503050406030204" pitchFamily="18" charset="0"/>
                            <a:cs typeface="Times New Roman"/>
                          </a:rPr>
                        </m:ctrlPr>
                      </m:sSubPr>
                      <m:e>
                        <m:r>
                          <a:rPr lang="en-US" sz="2600" i="1" spc="254">
                            <a:latin typeface="Cambria Math" panose="02040503050406030204" pitchFamily="18" charset="0"/>
                            <a:cs typeface="Times New Roman"/>
                          </a:rPr>
                          <m:t>𝑛</m:t>
                        </m:r>
                      </m:e>
                      <m:sub>
                        <m:r>
                          <a:rPr lang="en-US" sz="2600" i="1" spc="254">
                            <a:latin typeface="Cambria Math" panose="02040503050406030204" pitchFamily="18" charset="0"/>
                            <a:cs typeface="Times New Roman"/>
                          </a:rPr>
                          <m:t>2</m:t>
                        </m:r>
                      </m:sub>
                    </m:sSub>
                  </m:oMath>
                </a14:m>
                <a:endParaRPr lang="en-US" sz="2600" dirty="0">
                  <a:latin typeface="Cambria" panose="02040503050406030204" pitchFamily="18" charset="0"/>
                  <a:ea typeface="Cambria" panose="02040503050406030204" pitchFamily="18" charset="0"/>
                  <a:cs typeface="Times New Roman"/>
                </a:endParaRPr>
              </a:p>
              <a:p>
                <a:pPr marL="0" indent="0">
                  <a:buNone/>
                </a:pPr>
                <a:endParaRPr lang="en-US" sz="2800" dirty="0">
                  <a:latin typeface="Times New Roman"/>
                  <a:cs typeface="Times New Roman"/>
                </a:endParaRP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768948" y="1448972"/>
                <a:ext cx="6063176" cy="4907378"/>
              </a:xfrm>
              <a:blipFill rotWithShape="0">
                <a:blip r:embed="rId2"/>
                <a:stretch>
                  <a:fillRect t="-2112"/>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BDCDBBEF-AA6C-4BA6-85B2-A17D7F280E38}" type="slidenum">
              <a:rPr lang="en-US" smtClean="0"/>
              <a:t>22</a:t>
            </a:fld>
            <a:endParaRPr lang="en-US" dirty="0"/>
          </a:p>
        </p:txBody>
      </p:sp>
      <p:sp>
        <p:nvSpPr>
          <p:cNvPr id="6" name="TextBox 5"/>
          <p:cNvSpPr txBox="1"/>
          <p:nvPr/>
        </p:nvSpPr>
        <p:spPr>
          <a:xfrm>
            <a:off x="797668" y="136187"/>
            <a:ext cx="10556132" cy="769441"/>
          </a:xfrm>
          <a:prstGeom prst="rect">
            <a:avLst/>
          </a:prstGeom>
          <a:noFill/>
        </p:spPr>
        <p:txBody>
          <a:bodyPr wrap="square" rtlCol="0">
            <a:spAutoFit/>
          </a:bodyPr>
          <a:lstStyle/>
          <a:p>
            <a:r>
              <a:rPr lang="en-US" sz="4400" b="1" dirty="0">
                <a:latin typeface="Cambria" panose="02040503050406030204" pitchFamily="18" charset="0"/>
                <a:ea typeface="Cambria" panose="02040503050406030204" pitchFamily="18" charset="0"/>
              </a:rPr>
              <a:t>Expression of Numerical Aperture</a:t>
            </a:r>
          </a:p>
        </p:txBody>
      </p:sp>
      <p:sp>
        <p:nvSpPr>
          <p:cNvPr id="7" name="TextBox 6"/>
          <p:cNvSpPr txBox="1"/>
          <p:nvPr/>
        </p:nvSpPr>
        <p:spPr>
          <a:xfrm>
            <a:off x="0" y="1653702"/>
            <a:ext cx="4649821" cy="1569660"/>
          </a:xfrm>
          <a:prstGeom prst="rect">
            <a:avLst/>
          </a:prstGeom>
          <a:noFill/>
        </p:spPr>
        <p:txBody>
          <a:bodyPr wrap="square" rtlCol="0">
            <a:spAutoFit/>
          </a:bodyPr>
          <a:lstStyle/>
          <a:p>
            <a:r>
              <a:rPr lang="en-US" sz="2400" b="1" dirty="0">
                <a:latin typeface="Cambria" panose="02040503050406030204" pitchFamily="18" charset="0"/>
                <a:ea typeface="Cambria" panose="02040503050406030204" pitchFamily="18" charset="0"/>
              </a:rPr>
              <a:t>Numerical Aperture</a:t>
            </a:r>
          </a:p>
          <a:p>
            <a:r>
              <a:rPr lang="en-US" sz="2400" dirty="0">
                <a:latin typeface="Cambria" panose="02040503050406030204" pitchFamily="18" charset="0"/>
                <a:ea typeface="Cambria" panose="02040503050406030204" pitchFamily="18" charset="0"/>
                <a:cs typeface="Arial"/>
              </a:rPr>
              <a:t>It defines gathering capability of fiber  mathematically expressed as sine </a:t>
            </a:r>
            <a:r>
              <a:rPr lang="en-US" sz="2400" spc="-5" dirty="0">
                <a:latin typeface="Cambria" panose="02040503050406030204" pitchFamily="18" charset="0"/>
                <a:ea typeface="Cambria" panose="02040503050406030204" pitchFamily="18" charset="0"/>
                <a:cs typeface="Arial"/>
              </a:rPr>
              <a:t>of </a:t>
            </a:r>
            <a:r>
              <a:rPr lang="en-US" sz="2400" b="1" spc="-5" dirty="0">
                <a:latin typeface="Cambria" panose="02040503050406030204" pitchFamily="18" charset="0"/>
                <a:ea typeface="Cambria" panose="02040503050406030204" pitchFamily="18" charset="0"/>
                <a:cs typeface="Arial"/>
              </a:rPr>
              <a:t>acceptance  angle</a:t>
            </a:r>
            <a:r>
              <a:rPr lang="en-US" sz="2400" b="1"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3023125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100014"/>
            <a:ext cx="10861675" cy="887412"/>
          </a:xfrm>
        </p:spPr>
        <p:txBody>
          <a:bodyPr>
            <a:noAutofit/>
          </a:bodyPr>
          <a:lstStyle/>
          <a:p>
            <a:r>
              <a:rPr lang="en-US" sz="4400" b="1" dirty="0">
                <a:latin typeface="Cambria" panose="02040503050406030204" pitchFamily="18" charset="0"/>
                <a:ea typeface="Cambria" panose="02040503050406030204" pitchFamily="18" charset="0"/>
              </a:rPr>
              <a:t>V-number or Normalized Frequency</a:t>
            </a:r>
          </a:p>
        </p:txBody>
      </p:sp>
      <p:sp>
        <p:nvSpPr>
          <p:cNvPr id="3" name="Content Placeholder 2"/>
          <p:cNvSpPr>
            <a:spLocks noGrp="1"/>
          </p:cNvSpPr>
          <p:nvPr>
            <p:ph idx="1"/>
          </p:nvPr>
        </p:nvSpPr>
        <p:spPr>
          <a:xfrm>
            <a:off x="5106572" y="1589649"/>
            <a:ext cx="6248816" cy="4271401"/>
          </a:xfrm>
        </p:spPr>
        <p:txBody>
          <a:bodyPr>
            <a:normAutofit/>
          </a:bodyPr>
          <a:lstStyle/>
          <a:p>
            <a:pPr marL="469265" marR="680085" indent="-457200">
              <a:lnSpc>
                <a:spcPct val="100000"/>
              </a:lnSpc>
              <a:spcBef>
                <a:spcPts val="105"/>
              </a:spcBef>
              <a:buClr>
                <a:srgbClr val="DD8046"/>
              </a:buClr>
              <a:buSzPct val="60344"/>
              <a:buFont typeface="Wingdings" panose="05000000000000000000" pitchFamily="2" charset="2"/>
              <a:buChar char="Ø"/>
              <a:tabLst>
                <a:tab pos="333375" algn="l"/>
              </a:tabLst>
            </a:pPr>
            <a:r>
              <a:rPr lang="en-US" sz="2400" dirty="0">
                <a:latin typeface="Cambria" panose="02040503050406030204" pitchFamily="18" charset="0"/>
                <a:ea typeface="Cambria" panose="02040503050406030204" pitchFamily="18" charset="0"/>
                <a:cs typeface="Arial"/>
              </a:rPr>
              <a:t>No. of modes supported by optical fiber</a:t>
            </a:r>
            <a:r>
              <a:rPr lang="en-US" sz="2400" spc="-200"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is  obtained by </a:t>
            </a:r>
            <a:r>
              <a:rPr lang="en-US" sz="2400" spc="-10" dirty="0">
                <a:latin typeface="Cambria" panose="02040503050406030204" pitchFamily="18" charset="0"/>
                <a:ea typeface="Cambria" panose="02040503050406030204" pitchFamily="18" charset="0"/>
                <a:cs typeface="Arial"/>
              </a:rPr>
              <a:t>cut-off </a:t>
            </a:r>
            <a:r>
              <a:rPr lang="en-US" sz="2400" dirty="0">
                <a:latin typeface="Cambria" panose="02040503050406030204" pitchFamily="18" charset="0"/>
                <a:ea typeface="Cambria" panose="02040503050406030204" pitchFamily="18" charset="0"/>
                <a:cs typeface="Arial"/>
              </a:rPr>
              <a:t>condition known as  normalized frequency or</a:t>
            </a:r>
            <a:r>
              <a:rPr lang="en-US" sz="2400" spc="-114" dirty="0">
                <a:latin typeface="Cambria" panose="02040503050406030204" pitchFamily="18" charset="0"/>
                <a:ea typeface="Cambria" panose="02040503050406030204" pitchFamily="18" charset="0"/>
                <a:cs typeface="Arial"/>
              </a:rPr>
              <a:t> </a:t>
            </a:r>
            <a:r>
              <a:rPr lang="en-US" sz="2400" spc="-15" dirty="0">
                <a:latin typeface="Cambria" panose="02040503050406030204" pitchFamily="18" charset="0"/>
                <a:ea typeface="Cambria" panose="02040503050406030204" pitchFamily="18" charset="0"/>
                <a:cs typeface="Arial"/>
              </a:rPr>
              <a:t>V-Number</a:t>
            </a:r>
            <a:endParaRPr lang="en-US" sz="2400" dirty="0">
              <a:latin typeface="Cambria" panose="02040503050406030204" pitchFamily="18" charset="0"/>
              <a:ea typeface="Cambria" panose="02040503050406030204" pitchFamily="18" charset="0"/>
              <a:cs typeface="Arial"/>
            </a:endParaRPr>
          </a:p>
          <a:p>
            <a:pPr marL="469265" marR="5080" indent="-457200" algn="just">
              <a:lnSpc>
                <a:spcPct val="100000"/>
              </a:lnSpc>
              <a:spcBef>
                <a:spcPts val="710"/>
              </a:spcBef>
              <a:buClr>
                <a:srgbClr val="DD8046"/>
              </a:buClr>
              <a:buSzPct val="60344"/>
              <a:buFont typeface="Wingdings" panose="05000000000000000000" pitchFamily="2" charset="2"/>
              <a:buChar char="Ø"/>
              <a:tabLst>
                <a:tab pos="333375" algn="l"/>
              </a:tabLst>
            </a:pPr>
            <a:r>
              <a:rPr lang="en-US" sz="2400" spc="-85" dirty="0">
                <a:latin typeface="Cambria" panose="02040503050406030204" pitchFamily="18" charset="0"/>
                <a:ea typeface="Cambria" panose="02040503050406030204" pitchFamily="18" charset="0"/>
                <a:cs typeface="Arial"/>
              </a:rPr>
              <a:t>V- </a:t>
            </a:r>
            <a:r>
              <a:rPr lang="en-US" sz="2400" dirty="0">
                <a:latin typeface="Cambria" panose="02040503050406030204" pitchFamily="18" charset="0"/>
                <a:ea typeface="Cambria" panose="02040503050406030204" pitchFamily="18" charset="0"/>
                <a:cs typeface="Arial"/>
              </a:rPr>
              <a:t>number can be reduced either by reducing  numerical aperture or by reducing diameter</a:t>
            </a:r>
            <a:r>
              <a:rPr lang="en-US" sz="2400" spc="-21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of  fiber</a:t>
            </a:r>
          </a:p>
          <a:p>
            <a:endParaRPr lang="en-US" dirty="0"/>
          </a:p>
        </p:txBody>
      </p:sp>
      <mc:AlternateContent xmlns:mc="http://schemas.openxmlformats.org/markup-compatibility/2006" xmlns:a14="http://schemas.microsoft.com/office/drawing/2010/main">
        <mc:Choice Requires="a14">
          <p:sp>
            <p:nvSpPr>
              <p:cNvPr id="4" name="Text Placeholder 3"/>
              <p:cNvSpPr>
                <a:spLocks noGrp="1"/>
              </p:cNvSpPr>
              <p:nvPr>
                <p:ph type="body" sz="half" idx="2"/>
              </p:nvPr>
            </p:nvSpPr>
            <p:spPr>
              <a:xfrm>
                <a:off x="471488" y="1385888"/>
                <a:ext cx="4814887" cy="4483100"/>
              </a:xfrm>
            </p:spPr>
            <p:txBody>
              <a:bodyPr>
                <a:normAutofit/>
              </a:bodyPr>
              <a:lstStyle/>
              <a:p>
                <a:r>
                  <a:rPr lang="en-US" sz="2600" dirty="0">
                    <a:latin typeface="Arial"/>
                    <a:cs typeface="Arial"/>
                  </a:rPr>
                  <a:t>V =</a:t>
                </a:r>
                <a14:m>
                  <m:oMath xmlns:m="http://schemas.openxmlformats.org/officeDocument/2006/math">
                    <m:f>
                      <m:fPr>
                        <m:ctrlPr>
                          <a:rPr lang="en-US" sz="2600" b="0" i="1" smtClean="0">
                            <a:latin typeface="Cambria Math" panose="02040503050406030204" pitchFamily="18" charset="0"/>
                            <a:ea typeface="Cambria Math" panose="02040503050406030204" pitchFamily="18" charset="0"/>
                            <a:cs typeface="Arial"/>
                          </a:rPr>
                        </m:ctrlPr>
                      </m:fPr>
                      <m:num>
                        <m:r>
                          <m:rPr>
                            <m:nor/>
                          </m:rPr>
                          <a:rPr lang="en-US" sz="2600" b="0" i="0" smtClean="0">
                            <a:latin typeface="Cambria Math" panose="02040503050406030204" pitchFamily="18" charset="0"/>
                            <a:ea typeface="Cambria Math" panose="02040503050406030204" pitchFamily="18" charset="0"/>
                            <a:cs typeface="Arial"/>
                          </a:rPr>
                          <m:t> </m:t>
                        </m:r>
                        <m:r>
                          <m:rPr>
                            <m:nor/>
                          </m:rPr>
                          <a:rPr lang="en-US" sz="2600" dirty="0">
                            <a:latin typeface="Arial"/>
                            <a:cs typeface="Arial"/>
                          </a:rPr>
                          <m:t>2</m:t>
                        </m:r>
                        <m:r>
                          <a:rPr lang="en-US" sz="2600" i="1">
                            <a:latin typeface="Cambria Math" panose="02040503050406030204" pitchFamily="18" charset="0"/>
                            <a:ea typeface="Cambria Math" panose="02040503050406030204" pitchFamily="18" charset="0"/>
                            <a:cs typeface="Arial"/>
                          </a:rPr>
                          <m:t>𝜋</m:t>
                        </m:r>
                        <m:r>
                          <a:rPr lang="en-US" sz="2600" i="1">
                            <a:latin typeface="Cambria Math" panose="02040503050406030204" pitchFamily="18" charset="0"/>
                            <a:ea typeface="Cambria Math" panose="02040503050406030204" pitchFamily="18" charset="0"/>
                            <a:cs typeface="Arial"/>
                          </a:rPr>
                          <m:t>𝑎</m:t>
                        </m:r>
                      </m:num>
                      <m:den>
                        <m:r>
                          <m:rPr>
                            <m:nor/>
                          </m:rPr>
                          <a:rPr lang="el-GR" sz="2600" dirty="0">
                            <a:latin typeface="Arial"/>
                            <a:cs typeface="Arial"/>
                          </a:rPr>
                          <m:t>λ</m:t>
                        </m:r>
                        <m:r>
                          <m:rPr>
                            <m:nor/>
                          </m:rPr>
                          <a:rPr lang="en-US" sz="2600" dirty="0">
                            <a:latin typeface="Arial"/>
                            <a:cs typeface="Arial"/>
                          </a:rPr>
                          <m:t> </m:t>
                        </m:r>
                      </m:den>
                    </m:f>
                  </m:oMath>
                </a14:m>
                <a:r>
                  <a:rPr lang="en-US" sz="2600" dirty="0">
                    <a:latin typeface="Arial"/>
                    <a:cs typeface="Arial"/>
                  </a:rPr>
                  <a:t> </a:t>
                </a:r>
                <a14:m>
                  <m:oMath xmlns:m="http://schemas.openxmlformats.org/officeDocument/2006/math">
                    <m:rad>
                      <m:radPr>
                        <m:degHide m:val="on"/>
                        <m:ctrlPr>
                          <a:rPr lang="en-US" sz="2600" i="1" dirty="0" smtClean="0">
                            <a:latin typeface="Cambria Math" panose="02040503050406030204" pitchFamily="18" charset="0"/>
                            <a:cs typeface="Arial"/>
                          </a:rPr>
                        </m:ctrlPr>
                      </m:radPr>
                      <m:deg/>
                      <m:e>
                        <m:sSubSup>
                          <m:sSubSupPr>
                            <m:ctrlPr>
                              <a:rPr lang="en-US" sz="2600" i="1" dirty="0" smtClean="0">
                                <a:latin typeface="Cambria Math" panose="02040503050406030204" pitchFamily="18" charset="0"/>
                                <a:cs typeface="Arial"/>
                              </a:rPr>
                            </m:ctrlPr>
                          </m:sSubSupPr>
                          <m:e>
                            <m:r>
                              <a:rPr lang="en-US" sz="2600" b="0" i="1" dirty="0" smtClean="0">
                                <a:latin typeface="Cambria Math" panose="02040503050406030204" pitchFamily="18" charset="0"/>
                                <a:cs typeface="Arial"/>
                              </a:rPr>
                              <m:t>𝑛</m:t>
                            </m:r>
                          </m:e>
                          <m:sub>
                            <m:r>
                              <a:rPr lang="en-US" sz="2600" b="0" i="1" dirty="0" smtClean="0">
                                <a:latin typeface="Cambria Math" panose="02040503050406030204" pitchFamily="18" charset="0"/>
                                <a:cs typeface="Arial"/>
                              </a:rPr>
                              <m:t>1</m:t>
                            </m:r>
                          </m:sub>
                          <m:sup>
                            <m:r>
                              <a:rPr lang="en-US" sz="2600" b="0" i="1" dirty="0" smtClean="0">
                                <a:latin typeface="Cambria Math" panose="02040503050406030204" pitchFamily="18" charset="0"/>
                                <a:cs typeface="Arial"/>
                              </a:rPr>
                              <m:t>2</m:t>
                            </m:r>
                          </m:sup>
                        </m:sSubSup>
                        <m:r>
                          <a:rPr lang="en-US" sz="2600" b="0" i="1" dirty="0" smtClean="0">
                            <a:latin typeface="Cambria Math" panose="02040503050406030204" pitchFamily="18" charset="0"/>
                            <a:cs typeface="Arial"/>
                          </a:rPr>
                          <m:t>−</m:t>
                        </m:r>
                        <m:sSubSup>
                          <m:sSubSupPr>
                            <m:ctrlPr>
                              <a:rPr lang="en-US" sz="2600" b="0" i="1" dirty="0" smtClean="0">
                                <a:latin typeface="Cambria Math" panose="02040503050406030204" pitchFamily="18" charset="0"/>
                                <a:cs typeface="Arial"/>
                              </a:rPr>
                            </m:ctrlPr>
                          </m:sSubSupPr>
                          <m:e>
                            <m:r>
                              <a:rPr lang="en-US" sz="2600" b="0" i="1" dirty="0" smtClean="0">
                                <a:latin typeface="Cambria Math" panose="02040503050406030204" pitchFamily="18" charset="0"/>
                                <a:cs typeface="Arial"/>
                              </a:rPr>
                              <m:t>𝑛</m:t>
                            </m:r>
                          </m:e>
                          <m:sub>
                            <m:r>
                              <a:rPr lang="en-US" sz="2600" b="0" i="1" dirty="0" smtClean="0">
                                <a:latin typeface="Cambria Math" panose="02040503050406030204" pitchFamily="18" charset="0"/>
                                <a:cs typeface="Arial"/>
                              </a:rPr>
                              <m:t>2</m:t>
                            </m:r>
                          </m:sub>
                          <m:sup>
                            <m:r>
                              <a:rPr lang="en-US" sz="2600" b="0" i="1" dirty="0" smtClean="0">
                                <a:latin typeface="Cambria Math" panose="02040503050406030204" pitchFamily="18" charset="0"/>
                                <a:cs typeface="Arial"/>
                              </a:rPr>
                              <m:t>2</m:t>
                            </m:r>
                          </m:sup>
                        </m:sSubSup>
                      </m:e>
                    </m:rad>
                  </m:oMath>
                </a14:m>
                <a:endParaRPr lang="en-US" sz="2600" dirty="0">
                  <a:latin typeface="Arial"/>
                  <a:cs typeface="Arial"/>
                </a:endParaRPr>
              </a:p>
              <a:p>
                <a:r>
                  <a:rPr lang="en-US" sz="2600" dirty="0">
                    <a:latin typeface="Arial"/>
                    <a:cs typeface="Arial"/>
                  </a:rPr>
                  <a:t>V = </a:t>
                </a:r>
                <a14:m>
                  <m:oMath xmlns:m="http://schemas.openxmlformats.org/officeDocument/2006/math">
                    <m:f>
                      <m:fPr>
                        <m:ctrlPr>
                          <a:rPr lang="en-US" sz="2600" i="1">
                            <a:latin typeface="Cambria Math" panose="02040503050406030204" pitchFamily="18" charset="0"/>
                            <a:ea typeface="Cambria Math" panose="02040503050406030204" pitchFamily="18" charset="0"/>
                            <a:cs typeface="Arial"/>
                          </a:rPr>
                        </m:ctrlPr>
                      </m:fPr>
                      <m:num>
                        <m:r>
                          <m:rPr>
                            <m:nor/>
                          </m:rPr>
                          <a:rPr lang="en-US" sz="2600" dirty="0">
                            <a:latin typeface="Arial"/>
                            <a:cs typeface="Arial"/>
                          </a:rPr>
                          <m:t>2</m:t>
                        </m:r>
                        <m:r>
                          <a:rPr lang="en-US" sz="2600" i="1">
                            <a:latin typeface="Cambria Math" panose="02040503050406030204" pitchFamily="18" charset="0"/>
                            <a:ea typeface="Cambria Math" panose="02040503050406030204" pitchFamily="18" charset="0"/>
                            <a:cs typeface="Arial"/>
                          </a:rPr>
                          <m:t>𝜋</m:t>
                        </m:r>
                        <m:r>
                          <a:rPr lang="en-US" sz="2600" i="1">
                            <a:latin typeface="Cambria Math" panose="02040503050406030204" pitchFamily="18" charset="0"/>
                            <a:ea typeface="Cambria Math" panose="02040503050406030204" pitchFamily="18" charset="0"/>
                            <a:cs typeface="Arial"/>
                          </a:rPr>
                          <m:t>𝑎</m:t>
                        </m:r>
                      </m:num>
                      <m:den>
                        <m:r>
                          <m:rPr>
                            <m:nor/>
                          </m:rPr>
                          <a:rPr lang="el-GR" sz="2600" dirty="0">
                            <a:latin typeface="Arial"/>
                            <a:cs typeface="Arial"/>
                          </a:rPr>
                          <m:t>λ</m:t>
                        </m:r>
                        <m:r>
                          <m:rPr>
                            <m:nor/>
                          </m:rPr>
                          <a:rPr lang="en-US" sz="2600" dirty="0">
                            <a:latin typeface="Arial"/>
                            <a:cs typeface="Arial"/>
                          </a:rPr>
                          <m:t> </m:t>
                        </m:r>
                      </m:den>
                    </m:f>
                    <m:r>
                      <a:rPr lang="en-US" sz="2600" b="0" i="1" dirty="0" smtClean="0">
                        <a:latin typeface="Cambria Math" panose="02040503050406030204" pitchFamily="18" charset="0"/>
                        <a:cs typeface="Arial"/>
                      </a:rPr>
                      <m:t>𝑁𝐴</m:t>
                    </m:r>
                  </m:oMath>
                </a14:m>
                <a:endParaRPr lang="en-US" sz="2600" dirty="0">
                  <a:latin typeface="Arial"/>
                  <a:cs typeface="Arial"/>
                </a:endParaRPr>
              </a:p>
              <a:p>
                <a:r>
                  <a:rPr lang="en-US" sz="2600" dirty="0">
                    <a:latin typeface="Arial"/>
                    <a:cs typeface="Arial"/>
                  </a:rPr>
                  <a:t>V = </a:t>
                </a:r>
                <a14:m>
                  <m:oMath xmlns:m="http://schemas.openxmlformats.org/officeDocument/2006/math">
                    <m:f>
                      <m:fPr>
                        <m:ctrlPr>
                          <a:rPr lang="en-US" sz="2600" i="1">
                            <a:latin typeface="Cambria Math" panose="02040503050406030204" pitchFamily="18" charset="0"/>
                            <a:ea typeface="Cambria Math" panose="02040503050406030204" pitchFamily="18" charset="0"/>
                            <a:cs typeface="Arial"/>
                          </a:rPr>
                        </m:ctrlPr>
                      </m:fPr>
                      <m:num>
                        <m:r>
                          <m:rPr>
                            <m:nor/>
                          </m:rPr>
                          <a:rPr lang="en-US" sz="2600" dirty="0">
                            <a:latin typeface="Arial"/>
                            <a:cs typeface="Arial"/>
                          </a:rPr>
                          <m:t>2</m:t>
                        </m:r>
                        <m:r>
                          <a:rPr lang="en-US" sz="2600" i="1">
                            <a:latin typeface="Cambria Math" panose="02040503050406030204" pitchFamily="18" charset="0"/>
                            <a:ea typeface="Cambria Math" panose="02040503050406030204" pitchFamily="18" charset="0"/>
                            <a:cs typeface="Arial"/>
                          </a:rPr>
                          <m:t>𝜋</m:t>
                        </m:r>
                        <m:r>
                          <a:rPr lang="en-US" sz="2600" i="1">
                            <a:latin typeface="Cambria Math" panose="02040503050406030204" pitchFamily="18" charset="0"/>
                            <a:ea typeface="Cambria Math" panose="02040503050406030204" pitchFamily="18" charset="0"/>
                            <a:cs typeface="Arial"/>
                          </a:rPr>
                          <m:t>𝑎</m:t>
                        </m:r>
                      </m:num>
                      <m:den>
                        <m:r>
                          <m:rPr>
                            <m:nor/>
                          </m:rPr>
                          <a:rPr lang="el-GR" sz="2600" dirty="0">
                            <a:latin typeface="Arial"/>
                            <a:cs typeface="Arial"/>
                          </a:rPr>
                          <m:t>λ</m:t>
                        </m:r>
                        <m:r>
                          <m:rPr>
                            <m:nor/>
                          </m:rPr>
                          <a:rPr lang="en-US" sz="2600" dirty="0">
                            <a:latin typeface="Arial"/>
                            <a:cs typeface="Arial"/>
                          </a:rPr>
                          <m:t> </m:t>
                        </m:r>
                      </m:den>
                    </m:f>
                    <m:sSub>
                      <m:sSubPr>
                        <m:ctrlPr>
                          <a:rPr lang="en-US" sz="2600" i="1">
                            <a:latin typeface="Cambria Math" panose="02040503050406030204" pitchFamily="18" charset="0"/>
                            <a:cs typeface="Times New Roman"/>
                          </a:rPr>
                        </m:ctrlPr>
                      </m:sSubPr>
                      <m:e>
                        <m:r>
                          <a:rPr lang="en-US" sz="2600" b="0" i="1" smtClean="0">
                            <a:latin typeface="Cambria Math" panose="02040503050406030204" pitchFamily="18" charset="0"/>
                            <a:cs typeface="Times New Roman"/>
                          </a:rPr>
                          <m:t> </m:t>
                        </m:r>
                        <m:r>
                          <a:rPr lang="en-US" sz="2600" i="1">
                            <a:latin typeface="Cambria Math" panose="02040503050406030204" pitchFamily="18" charset="0"/>
                            <a:cs typeface="Times New Roman"/>
                          </a:rPr>
                          <m:t>𝑛</m:t>
                        </m:r>
                      </m:e>
                      <m:sub>
                        <m:r>
                          <a:rPr lang="en-US" sz="2600" i="1">
                            <a:latin typeface="Cambria Math" panose="02040503050406030204" pitchFamily="18" charset="0"/>
                            <a:cs typeface="Times New Roman"/>
                          </a:rPr>
                          <m:t>1</m:t>
                        </m:r>
                      </m:sub>
                    </m:sSub>
                    <m:rad>
                      <m:radPr>
                        <m:degHide m:val="on"/>
                        <m:ctrlPr>
                          <a:rPr lang="en-US" sz="2600" i="1">
                            <a:latin typeface="Cambria Math" panose="02040503050406030204" pitchFamily="18" charset="0"/>
                            <a:cs typeface="Times New Roman"/>
                          </a:rPr>
                        </m:ctrlPr>
                      </m:radPr>
                      <m:deg/>
                      <m:e>
                        <m:r>
                          <a:rPr lang="en-US" sz="2600" i="1">
                            <a:latin typeface="Cambria Math" panose="02040503050406030204" pitchFamily="18" charset="0"/>
                            <a:cs typeface="Times New Roman"/>
                          </a:rPr>
                          <m:t>2</m:t>
                        </m:r>
                        <m:r>
                          <m:rPr>
                            <m:nor/>
                          </m:rPr>
                          <a:rPr lang="en-US" sz="2600" spc="284" dirty="0">
                            <a:latin typeface="Symbol"/>
                            <a:cs typeface="Symbol"/>
                          </a:rPr>
                          <m:t></m:t>
                        </m:r>
                      </m:e>
                    </m:rad>
                  </m:oMath>
                </a14:m>
                <a:endParaRPr lang="en-US" sz="2600" dirty="0">
                  <a:latin typeface="Arial"/>
                  <a:cs typeface="Arial"/>
                </a:endParaRPr>
              </a:p>
              <a:p>
                <a:r>
                  <a:rPr lang="en-US" sz="2600" dirty="0">
                    <a:latin typeface="Arial"/>
                    <a:cs typeface="Arial"/>
                  </a:rPr>
                  <a:t>Number of modes for Step Index Fibre Nm = </a:t>
                </a:r>
                <a14:m>
                  <m:oMath xmlns:m="http://schemas.openxmlformats.org/officeDocument/2006/math">
                    <m:f>
                      <m:fPr>
                        <m:ctrlPr>
                          <a:rPr lang="en-US" sz="2600" i="1" dirty="0">
                            <a:latin typeface="Cambria Math" panose="02040503050406030204" pitchFamily="18" charset="0"/>
                            <a:cs typeface="Arial"/>
                          </a:rPr>
                        </m:ctrlPr>
                      </m:fPr>
                      <m:num>
                        <m:sSup>
                          <m:sSupPr>
                            <m:ctrlPr>
                              <a:rPr lang="en-US" sz="2600" i="1" dirty="0">
                                <a:latin typeface="Cambria Math" panose="02040503050406030204" pitchFamily="18" charset="0"/>
                                <a:cs typeface="Arial"/>
                              </a:rPr>
                            </m:ctrlPr>
                          </m:sSupPr>
                          <m:e>
                            <m:r>
                              <a:rPr lang="en-US" sz="2600" dirty="0">
                                <a:latin typeface="Cambria Math" panose="02040503050406030204" pitchFamily="18" charset="0"/>
                                <a:cs typeface="Arial"/>
                              </a:rPr>
                              <m:t>𝑉</m:t>
                            </m:r>
                          </m:e>
                          <m:sup>
                            <m:r>
                              <a:rPr lang="en-US" sz="2600" dirty="0">
                                <a:latin typeface="Cambria Math" panose="02040503050406030204" pitchFamily="18" charset="0"/>
                                <a:cs typeface="Arial"/>
                              </a:rPr>
                              <m:t>2</m:t>
                            </m:r>
                          </m:sup>
                        </m:sSup>
                      </m:num>
                      <m:den>
                        <m:r>
                          <a:rPr lang="en-US" sz="2600" dirty="0">
                            <a:latin typeface="Cambria Math" panose="02040503050406030204" pitchFamily="18" charset="0"/>
                            <a:cs typeface="Arial"/>
                          </a:rPr>
                          <m:t>2</m:t>
                        </m:r>
                      </m:den>
                    </m:f>
                  </m:oMath>
                </a14:m>
                <a:endParaRPr lang="en-US" sz="2600" dirty="0">
                  <a:latin typeface="Arial"/>
                  <a:cs typeface="Arial"/>
                </a:endParaRPr>
              </a:p>
              <a:p>
                <a:r>
                  <a:rPr lang="en-US" sz="2600" dirty="0">
                    <a:latin typeface="Arial"/>
                    <a:cs typeface="Arial"/>
                  </a:rPr>
                  <a:t>For Graded Index Fiber Nm = </a:t>
                </a:r>
                <a14:m>
                  <m:oMath xmlns:m="http://schemas.openxmlformats.org/officeDocument/2006/math">
                    <m:f>
                      <m:fPr>
                        <m:ctrlPr>
                          <a:rPr lang="en-US" sz="2600" i="1" dirty="0">
                            <a:latin typeface="Cambria Math" panose="02040503050406030204" pitchFamily="18" charset="0"/>
                            <a:cs typeface="Arial"/>
                          </a:rPr>
                        </m:ctrlPr>
                      </m:fPr>
                      <m:num>
                        <m:sSup>
                          <m:sSupPr>
                            <m:ctrlPr>
                              <a:rPr lang="en-US" sz="2600" i="1" dirty="0">
                                <a:latin typeface="Cambria Math" panose="02040503050406030204" pitchFamily="18" charset="0"/>
                                <a:cs typeface="Arial"/>
                              </a:rPr>
                            </m:ctrlPr>
                          </m:sSupPr>
                          <m:e>
                            <m:r>
                              <a:rPr lang="en-US" sz="2600" dirty="0">
                                <a:latin typeface="Cambria Math" panose="02040503050406030204" pitchFamily="18" charset="0"/>
                                <a:cs typeface="Arial"/>
                              </a:rPr>
                              <m:t>𝑉</m:t>
                            </m:r>
                          </m:e>
                          <m:sup>
                            <m:r>
                              <a:rPr lang="en-US" sz="2600" dirty="0">
                                <a:latin typeface="Cambria Math" panose="02040503050406030204" pitchFamily="18" charset="0"/>
                                <a:cs typeface="Arial"/>
                              </a:rPr>
                              <m:t>2</m:t>
                            </m:r>
                          </m:sup>
                        </m:sSup>
                      </m:num>
                      <m:den>
                        <m:r>
                          <a:rPr lang="en-US" sz="2600" dirty="0">
                            <a:latin typeface="Cambria Math" panose="02040503050406030204" pitchFamily="18" charset="0"/>
                            <a:cs typeface="Arial"/>
                          </a:rPr>
                          <m:t>4</m:t>
                        </m:r>
                      </m:den>
                    </m:f>
                  </m:oMath>
                </a14:m>
                <a:endParaRPr lang="en-US" sz="2600" dirty="0">
                  <a:latin typeface="Arial"/>
                  <a:cs typeface="Arial"/>
                </a:endParaRPr>
              </a:p>
              <a:p>
                <a:endParaRPr lang="en-US" dirty="0"/>
              </a:p>
            </p:txBody>
          </p:sp>
        </mc:Choice>
        <mc:Fallback xmlns="">
          <p:sp>
            <p:nvSpPr>
              <p:cNvPr id="4" name="Text Placeholder 3"/>
              <p:cNvSpPr>
                <a:spLocks noGrp="1" noRot="1" noChangeAspect="1" noMove="1" noResize="1" noEditPoints="1" noAdjustHandles="1" noChangeArrowheads="1" noChangeShapeType="1" noTextEdit="1"/>
              </p:cNvSpPr>
              <p:nvPr>
                <p:ph type="body" sz="half" idx="2"/>
              </p:nvPr>
            </p:nvSpPr>
            <p:spPr>
              <a:xfrm>
                <a:off x="471488" y="1385888"/>
                <a:ext cx="4814887" cy="4483100"/>
              </a:xfrm>
              <a:blipFill rotWithShape="0">
                <a:blip r:embed="rId2"/>
                <a:stretch>
                  <a:fillRect l="-2278"/>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BDCDBBEF-AA6C-4BA6-85B2-A17D7F280E38}" type="slidenum">
              <a:rPr lang="en-US" smtClean="0"/>
              <a:t>23</a:t>
            </a:fld>
            <a:endParaRPr lang="en-US"/>
          </a:p>
        </p:txBody>
      </p:sp>
    </p:spTree>
    <p:extLst>
      <p:ext uri="{BB962C8B-B14F-4D97-AF65-F5344CB8AC3E}">
        <p14:creationId xmlns:p14="http://schemas.microsoft.com/office/powerpoint/2010/main" val="1464772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197" y="1308295"/>
            <a:ext cx="7891975" cy="3981157"/>
          </a:xfrm>
        </p:spPr>
        <p:txBody>
          <a:bodyPr>
            <a:normAutofit/>
          </a:bodyPr>
          <a:lstStyle/>
          <a:p>
            <a:pPr marL="330835" indent="-318770">
              <a:lnSpc>
                <a:spcPts val="2695"/>
              </a:lnSpc>
              <a:spcBef>
                <a:spcPts val="90"/>
              </a:spcBef>
              <a:buSzPct val="77777"/>
              <a:buFont typeface="Wingdings"/>
              <a:buChar char=""/>
              <a:tabLst>
                <a:tab pos="330835" algn="l"/>
                <a:tab pos="331470" algn="l"/>
              </a:tabLst>
            </a:pPr>
            <a:r>
              <a:rPr lang="en-US" sz="2400" spc="-10" dirty="0">
                <a:solidFill>
                  <a:srgbClr val="414141"/>
                </a:solidFill>
                <a:latin typeface="Cambria" panose="02040503050406030204" pitchFamily="18" charset="0"/>
                <a:ea typeface="Cambria" panose="02040503050406030204" pitchFamily="18" charset="0"/>
                <a:cs typeface="Times New Roman"/>
              </a:rPr>
              <a:t>Normalized </a:t>
            </a:r>
            <a:r>
              <a:rPr lang="en-US" sz="2400" spc="-5" dirty="0">
                <a:solidFill>
                  <a:srgbClr val="414141"/>
                </a:solidFill>
                <a:latin typeface="Cambria" panose="02040503050406030204" pitchFamily="18" charset="0"/>
                <a:ea typeface="Cambria" panose="02040503050406030204" pitchFamily="18" charset="0"/>
                <a:cs typeface="Times New Roman"/>
              </a:rPr>
              <a:t>frequency is a dimensionless </a:t>
            </a:r>
            <a:r>
              <a:rPr lang="en-US" sz="2400" spc="-10" dirty="0">
                <a:solidFill>
                  <a:srgbClr val="414141"/>
                </a:solidFill>
                <a:latin typeface="Cambria" panose="02040503050406030204" pitchFamily="18" charset="0"/>
                <a:ea typeface="Cambria" panose="02040503050406030204" pitchFamily="18" charset="0"/>
                <a:cs typeface="Times New Roman"/>
              </a:rPr>
              <a:t>parameter </a:t>
            </a:r>
            <a:r>
              <a:rPr lang="en-US" sz="2400" spc="-5" dirty="0">
                <a:solidFill>
                  <a:srgbClr val="414141"/>
                </a:solidFill>
                <a:latin typeface="Cambria" panose="02040503050406030204" pitchFamily="18" charset="0"/>
                <a:ea typeface="Cambria" panose="02040503050406030204" pitchFamily="18" charset="0"/>
                <a:cs typeface="Times New Roman"/>
              </a:rPr>
              <a:t>and</a:t>
            </a:r>
            <a:r>
              <a:rPr lang="en-US" sz="2400" spc="100" dirty="0">
                <a:solidFill>
                  <a:srgbClr val="414141"/>
                </a:solidFill>
                <a:latin typeface="Cambria" panose="02040503050406030204" pitchFamily="18" charset="0"/>
                <a:ea typeface="Cambria" panose="02040503050406030204" pitchFamily="18" charset="0"/>
                <a:cs typeface="Times New Roman"/>
              </a:rPr>
              <a:t> </a:t>
            </a:r>
            <a:r>
              <a:rPr lang="en-US" sz="2400" spc="-10" dirty="0">
                <a:solidFill>
                  <a:srgbClr val="414141"/>
                </a:solidFill>
                <a:latin typeface="Cambria" panose="02040503050406030204" pitchFamily="18" charset="0"/>
                <a:ea typeface="Cambria" panose="02040503050406030204" pitchFamily="18" charset="0"/>
                <a:cs typeface="Times New Roman"/>
              </a:rPr>
              <a:t>simply</a:t>
            </a:r>
            <a:r>
              <a:rPr lang="en-US" sz="2400" dirty="0">
                <a:latin typeface="Cambria" panose="02040503050406030204" pitchFamily="18" charset="0"/>
                <a:ea typeface="Cambria" panose="02040503050406030204" pitchFamily="18" charset="0"/>
                <a:cs typeface="Times New Roman"/>
              </a:rPr>
              <a:t> </a:t>
            </a:r>
            <a:r>
              <a:rPr lang="en-US" sz="2400" spc="-5" dirty="0">
                <a:solidFill>
                  <a:srgbClr val="414141"/>
                </a:solidFill>
                <a:latin typeface="Cambria" panose="02040503050406030204" pitchFamily="18" charset="0"/>
                <a:ea typeface="Cambria" panose="02040503050406030204" pitchFamily="18" charset="0"/>
                <a:cs typeface="Times New Roman"/>
              </a:rPr>
              <a:t>called </a:t>
            </a:r>
            <a:r>
              <a:rPr lang="en-US" sz="2400" b="1" i="1" spc="-35" dirty="0">
                <a:solidFill>
                  <a:srgbClr val="414141"/>
                </a:solidFill>
                <a:latin typeface="Cambria" panose="02040503050406030204" pitchFamily="18" charset="0"/>
                <a:ea typeface="Cambria" panose="02040503050406030204" pitchFamily="18" charset="0"/>
                <a:cs typeface="Times New Roman"/>
              </a:rPr>
              <a:t>V-number </a:t>
            </a:r>
            <a:r>
              <a:rPr lang="en-US" sz="2400" dirty="0">
                <a:solidFill>
                  <a:srgbClr val="414141"/>
                </a:solidFill>
                <a:latin typeface="Cambria" panose="02040503050406030204" pitchFamily="18" charset="0"/>
                <a:ea typeface="Cambria" panose="02040503050406030204" pitchFamily="18" charset="0"/>
                <a:cs typeface="Times New Roman"/>
              </a:rPr>
              <a:t>or </a:t>
            </a:r>
            <a:r>
              <a:rPr lang="en-US" sz="2400" b="1" i="1" spc="-5" dirty="0">
                <a:solidFill>
                  <a:srgbClr val="414141"/>
                </a:solidFill>
                <a:latin typeface="Cambria" panose="02040503050406030204" pitchFamily="18" charset="0"/>
                <a:ea typeface="Cambria" panose="02040503050406030204" pitchFamily="18" charset="0"/>
                <a:cs typeface="Times New Roman"/>
              </a:rPr>
              <a:t>value of the</a:t>
            </a:r>
            <a:r>
              <a:rPr lang="en-US" sz="2400" b="1" i="1" spc="40" dirty="0">
                <a:solidFill>
                  <a:srgbClr val="414141"/>
                </a:solidFill>
                <a:latin typeface="Cambria" panose="02040503050406030204" pitchFamily="18" charset="0"/>
                <a:ea typeface="Cambria" panose="02040503050406030204" pitchFamily="18" charset="0"/>
                <a:cs typeface="Times New Roman"/>
              </a:rPr>
              <a:t> </a:t>
            </a:r>
            <a:r>
              <a:rPr lang="en-US" sz="2400" b="1" i="1" spc="-5" dirty="0">
                <a:solidFill>
                  <a:srgbClr val="414141"/>
                </a:solidFill>
                <a:latin typeface="Cambria" panose="02040503050406030204" pitchFamily="18" charset="0"/>
                <a:ea typeface="Cambria" panose="02040503050406030204" pitchFamily="18" charset="0"/>
                <a:cs typeface="Times New Roman"/>
              </a:rPr>
              <a:t>fiber</a:t>
            </a:r>
            <a:r>
              <a:rPr lang="en-US" sz="2400" spc="-5" dirty="0">
                <a:solidFill>
                  <a:srgbClr val="414141"/>
                </a:solidFill>
                <a:latin typeface="Cambria" panose="02040503050406030204" pitchFamily="18" charset="0"/>
                <a:ea typeface="Cambria" panose="02040503050406030204" pitchFamily="18" charset="0"/>
                <a:cs typeface="Times New Roman"/>
              </a:rPr>
              <a:t>.</a:t>
            </a:r>
            <a:endParaRPr lang="en-US" sz="2400" dirty="0">
              <a:latin typeface="Cambria" panose="02040503050406030204" pitchFamily="18" charset="0"/>
              <a:ea typeface="Cambria" panose="02040503050406030204" pitchFamily="18" charset="0"/>
              <a:cs typeface="Times New Roman"/>
            </a:endParaRPr>
          </a:p>
          <a:p>
            <a:pPr marL="332105" marR="5080" indent="-320040">
              <a:lnSpc>
                <a:spcPts val="2660"/>
              </a:lnSpc>
              <a:spcBef>
                <a:spcPts val="1310"/>
              </a:spcBef>
              <a:buSzPct val="77777"/>
              <a:buFont typeface="Wingdings"/>
              <a:buChar char=""/>
              <a:tabLst>
                <a:tab pos="332105" algn="l"/>
                <a:tab pos="332740" algn="l"/>
              </a:tabLst>
            </a:pPr>
            <a:r>
              <a:rPr lang="en-US" sz="2400" spc="-5" dirty="0">
                <a:solidFill>
                  <a:srgbClr val="414141"/>
                </a:solidFill>
                <a:latin typeface="Cambria" panose="02040503050406030204" pitchFamily="18" charset="0"/>
                <a:ea typeface="Cambria" panose="02040503050406030204" pitchFamily="18" charset="0"/>
                <a:cs typeface="Times New Roman"/>
              </a:rPr>
              <a:t>It </a:t>
            </a:r>
            <a:r>
              <a:rPr lang="en-US" sz="2400" spc="-10" dirty="0">
                <a:solidFill>
                  <a:srgbClr val="414141"/>
                </a:solidFill>
                <a:latin typeface="Cambria" panose="02040503050406030204" pitchFamily="18" charset="0"/>
                <a:ea typeface="Cambria" panose="02040503050406030204" pitchFamily="18" charset="0"/>
                <a:cs typeface="Times New Roman"/>
              </a:rPr>
              <a:t>combines </a:t>
            </a:r>
            <a:r>
              <a:rPr lang="en-US" sz="2400" spc="-5" dirty="0">
                <a:solidFill>
                  <a:srgbClr val="414141"/>
                </a:solidFill>
                <a:latin typeface="Cambria" panose="02040503050406030204" pitchFamily="18" charset="0"/>
                <a:ea typeface="Cambria" panose="02040503050406030204" pitchFamily="18" charset="0"/>
                <a:cs typeface="Times New Roman"/>
              </a:rPr>
              <a:t>in a very useful </a:t>
            </a:r>
            <a:r>
              <a:rPr lang="en-US" sz="2400" spc="-10" dirty="0">
                <a:solidFill>
                  <a:srgbClr val="414141"/>
                </a:solidFill>
                <a:latin typeface="Cambria" panose="02040503050406030204" pitchFamily="18" charset="0"/>
                <a:ea typeface="Cambria" panose="02040503050406030204" pitchFamily="18" charset="0"/>
                <a:cs typeface="Times New Roman"/>
              </a:rPr>
              <a:t>manner </a:t>
            </a:r>
            <a:r>
              <a:rPr lang="en-US" sz="2400" spc="-5" dirty="0">
                <a:solidFill>
                  <a:srgbClr val="414141"/>
                </a:solidFill>
                <a:latin typeface="Cambria" panose="02040503050406030204" pitchFamily="18" charset="0"/>
                <a:ea typeface="Cambria" panose="02040503050406030204" pitchFamily="18" charset="0"/>
                <a:cs typeface="Times New Roman"/>
              </a:rPr>
              <a:t>the </a:t>
            </a:r>
            <a:r>
              <a:rPr lang="en-US" sz="2400" spc="-10" dirty="0">
                <a:solidFill>
                  <a:srgbClr val="414141"/>
                </a:solidFill>
                <a:latin typeface="Cambria" panose="02040503050406030204" pitchFamily="18" charset="0"/>
                <a:ea typeface="Cambria" panose="02040503050406030204" pitchFamily="18" charset="0"/>
                <a:cs typeface="Times New Roman"/>
              </a:rPr>
              <a:t>information </a:t>
            </a:r>
            <a:r>
              <a:rPr lang="en-US" sz="2400" spc="-5" dirty="0">
                <a:solidFill>
                  <a:srgbClr val="414141"/>
                </a:solidFill>
                <a:latin typeface="Cambria" panose="02040503050406030204" pitchFamily="18" charset="0"/>
                <a:ea typeface="Cambria" panose="02040503050406030204" pitchFamily="18" charset="0"/>
                <a:cs typeface="Times New Roman"/>
              </a:rPr>
              <a:t>about three  </a:t>
            </a:r>
            <a:r>
              <a:rPr lang="en-US" sz="2400" spc="-10" dirty="0">
                <a:solidFill>
                  <a:srgbClr val="414141"/>
                </a:solidFill>
                <a:latin typeface="Cambria" panose="02040503050406030204" pitchFamily="18" charset="0"/>
                <a:ea typeface="Cambria" panose="02040503050406030204" pitchFamily="18" charset="0"/>
                <a:cs typeface="Times New Roman"/>
              </a:rPr>
              <a:t>parameters, </a:t>
            </a:r>
            <a:r>
              <a:rPr lang="en-US" sz="2400" b="1" dirty="0">
                <a:solidFill>
                  <a:srgbClr val="414141"/>
                </a:solidFill>
                <a:latin typeface="Cambria" panose="02040503050406030204" pitchFamily="18" charset="0"/>
                <a:ea typeface="Cambria" panose="02040503050406030204" pitchFamily="18" charset="0"/>
                <a:cs typeface="Times New Roman"/>
              </a:rPr>
              <a:t>a</a:t>
            </a:r>
            <a:r>
              <a:rPr lang="en-US" sz="2400" dirty="0">
                <a:solidFill>
                  <a:srgbClr val="414141"/>
                </a:solidFill>
                <a:latin typeface="Cambria" panose="02040503050406030204" pitchFamily="18" charset="0"/>
                <a:ea typeface="Cambria" panose="02040503050406030204" pitchFamily="18" charset="0"/>
                <a:cs typeface="Times New Roman"/>
              </a:rPr>
              <a:t>, </a:t>
            </a:r>
            <a:r>
              <a:rPr lang="en-US" sz="2400" spc="-5" dirty="0">
                <a:solidFill>
                  <a:srgbClr val="414141"/>
                </a:solidFill>
                <a:latin typeface="Symbol" panose="05050102010706020507" pitchFamily="18" charset="2"/>
                <a:ea typeface="Cambria" panose="02040503050406030204" pitchFamily="18" charset="0"/>
                <a:cs typeface="Symbol"/>
              </a:rPr>
              <a:t></a:t>
            </a:r>
            <a:r>
              <a:rPr lang="en-US" sz="2400" spc="-5" dirty="0">
                <a:solidFill>
                  <a:srgbClr val="414141"/>
                </a:solidFill>
                <a:latin typeface="Cambria" panose="02040503050406030204" pitchFamily="18" charset="0"/>
                <a:ea typeface="Cambria" panose="02040503050406030204" pitchFamily="18" charset="0"/>
                <a:cs typeface="Times New Roman"/>
              </a:rPr>
              <a:t> and</a:t>
            </a:r>
            <a:r>
              <a:rPr lang="en-US" sz="2400" spc="55" dirty="0">
                <a:solidFill>
                  <a:srgbClr val="414141"/>
                </a:solidFill>
                <a:latin typeface="Cambria" panose="02040503050406030204" pitchFamily="18" charset="0"/>
                <a:ea typeface="Cambria" panose="02040503050406030204" pitchFamily="18" charset="0"/>
                <a:cs typeface="Times New Roman"/>
              </a:rPr>
              <a:t> </a:t>
            </a:r>
            <a:r>
              <a:rPr lang="en-US" sz="2400" spc="5" dirty="0">
                <a:solidFill>
                  <a:srgbClr val="414141"/>
                </a:solidFill>
                <a:latin typeface="Symbol" panose="05050102010706020507" pitchFamily="18" charset="2"/>
                <a:ea typeface="Cambria" panose="02040503050406030204" pitchFamily="18" charset="0"/>
                <a:cs typeface="Symbol"/>
              </a:rPr>
              <a:t></a:t>
            </a:r>
            <a:r>
              <a:rPr lang="en-US" sz="2400" spc="5" dirty="0">
                <a:solidFill>
                  <a:srgbClr val="414141"/>
                </a:solidFill>
                <a:latin typeface="Cambria" panose="02040503050406030204" pitchFamily="18" charset="0"/>
                <a:ea typeface="Cambria" panose="02040503050406030204" pitchFamily="18" charset="0"/>
                <a:cs typeface="Times New Roman"/>
              </a:rPr>
              <a:t>.</a:t>
            </a:r>
            <a:endParaRPr lang="en-US" sz="2400" dirty="0">
              <a:latin typeface="Cambria" panose="02040503050406030204" pitchFamily="18" charset="0"/>
              <a:ea typeface="Cambria" panose="02040503050406030204" pitchFamily="18" charset="0"/>
              <a:cs typeface="Times New Roman"/>
            </a:endParaRPr>
          </a:p>
          <a:p>
            <a:pPr marL="332105" marR="409575" indent="-320040">
              <a:lnSpc>
                <a:spcPts val="2690"/>
              </a:lnSpc>
              <a:spcBef>
                <a:spcPts val="1330"/>
              </a:spcBef>
              <a:buSzPct val="77777"/>
              <a:buFont typeface="Wingdings"/>
              <a:buChar char=""/>
              <a:tabLst>
                <a:tab pos="332105" algn="l"/>
                <a:tab pos="332740" algn="l"/>
              </a:tabLst>
            </a:pPr>
            <a:r>
              <a:rPr lang="en-US" sz="2400" spc="-10" dirty="0">
                <a:solidFill>
                  <a:srgbClr val="414141"/>
                </a:solidFill>
                <a:latin typeface="Cambria" panose="02040503050406030204" pitchFamily="18" charset="0"/>
                <a:ea typeface="Cambria" panose="02040503050406030204" pitchFamily="18" charset="0"/>
                <a:cs typeface="Times New Roman"/>
              </a:rPr>
              <a:t>Limiting parameter for </a:t>
            </a:r>
            <a:r>
              <a:rPr lang="en-US" sz="2400" dirty="0">
                <a:solidFill>
                  <a:srgbClr val="414141"/>
                </a:solidFill>
                <a:latin typeface="Cambria" panose="02040503050406030204" pitchFamily="18" charset="0"/>
                <a:ea typeface="Cambria" panose="02040503050406030204" pitchFamily="18" charset="0"/>
                <a:cs typeface="Times New Roman"/>
              </a:rPr>
              <a:t>single </a:t>
            </a:r>
            <a:r>
              <a:rPr lang="en-US" sz="2400" spc="-5" dirty="0">
                <a:solidFill>
                  <a:srgbClr val="414141"/>
                </a:solidFill>
                <a:latin typeface="Cambria" panose="02040503050406030204" pitchFamily="18" charset="0"/>
                <a:ea typeface="Cambria" panose="02040503050406030204" pitchFamily="18" charset="0"/>
                <a:cs typeface="Times New Roman"/>
              </a:rPr>
              <a:t>and </a:t>
            </a:r>
            <a:r>
              <a:rPr lang="en-US" sz="2400" spc="-15" dirty="0">
                <a:solidFill>
                  <a:srgbClr val="414141"/>
                </a:solidFill>
                <a:latin typeface="Cambria" panose="02040503050406030204" pitchFamily="18" charset="0"/>
                <a:ea typeface="Cambria" panose="02040503050406030204" pitchFamily="18" charset="0"/>
                <a:cs typeface="Times New Roman"/>
              </a:rPr>
              <a:t>multimode </a:t>
            </a:r>
            <a:r>
              <a:rPr lang="en-US" sz="2400" spc="-5" dirty="0">
                <a:solidFill>
                  <a:srgbClr val="414141"/>
                </a:solidFill>
                <a:latin typeface="Cambria" panose="02040503050406030204" pitchFamily="18" charset="0"/>
                <a:ea typeface="Cambria" panose="02040503050406030204" pitchFamily="18" charset="0"/>
                <a:cs typeface="Times New Roman"/>
              </a:rPr>
              <a:t>propagation in  optical</a:t>
            </a:r>
            <a:r>
              <a:rPr lang="en-US" sz="2400" spc="-40" dirty="0">
                <a:solidFill>
                  <a:srgbClr val="414141"/>
                </a:solidFill>
                <a:latin typeface="Cambria" panose="02040503050406030204" pitchFamily="18" charset="0"/>
                <a:ea typeface="Cambria" panose="02040503050406030204" pitchFamily="18" charset="0"/>
                <a:cs typeface="Times New Roman"/>
              </a:rPr>
              <a:t> </a:t>
            </a:r>
            <a:r>
              <a:rPr lang="en-US" sz="2400" spc="-50" dirty="0">
                <a:solidFill>
                  <a:srgbClr val="414141"/>
                </a:solidFill>
                <a:latin typeface="Cambria" panose="02040503050406030204" pitchFamily="18" charset="0"/>
                <a:ea typeface="Cambria" panose="02040503050406030204" pitchFamily="18" charset="0"/>
                <a:cs typeface="Times New Roman"/>
              </a:rPr>
              <a:t>fiber.</a:t>
            </a:r>
            <a:endParaRPr lang="en-US" sz="2400" dirty="0">
              <a:latin typeface="Cambria" panose="02040503050406030204" pitchFamily="18" charset="0"/>
              <a:ea typeface="Cambria" panose="02040503050406030204" pitchFamily="18" charset="0"/>
              <a:cs typeface="Times New Roman"/>
            </a:endParaRPr>
          </a:p>
          <a:p>
            <a:pPr marL="2345055" indent="0">
              <a:lnSpc>
                <a:spcPct val="100000"/>
              </a:lnSpc>
              <a:spcBef>
                <a:spcPts val="1085"/>
              </a:spcBef>
              <a:buNone/>
            </a:pPr>
            <a:r>
              <a:rPr lang="en-US" sz="2400" spc="-10" dirty="0">
                <a:solidFill>
                  <a:srgbClr val="414141"/>
                </a:solidFill>
                <a:latin typeface="Symbol" panose="05050102010706020507" pitchFamily="18" charset="2"/>
                <a:ea typeface="Cambria" panose="02040503050406030204" pitchFamily="18" charset="0"/>
                <a:cs typeface="Symbol"/>
              </a:rPr>
              <a:t></a:t>
            </a:r>
            <a:r>
              <a:rPr lang="en-US" sz="2400" spc="-10" dirty="0">
                <a:solidFill>
                  <a:srgbClr val="414141"/>
                </a:solidFill>
                <a:latin typeface="Cambria" panose="02040503050406030204" pitchFamily="18" charset="0"/>
                <a:ea typeface="Cambria" panose="02040503050406030204" pitchFamily="18" charset="0"/>
                <a:cs typeface="Times New Roman"/>
              </a:rPr>
              <a:t> </a:t>
            </a:r>
            <a:r>
              <a:rPr lang="en-US" sz="2400" b="1" spc="-5" dirty="0">
                <a:solidFill>
                  <a:srgbClr val="414141"/>
                </a:solidFill>
                <a:latin typeface="Cambria" panose="02040503050406030204" pitchFamily="18" charset="0"/>
                <a:ea typeface="Cambria" panose="02040503050406030204" pitchFamily="18" charset="0"/>
                <a:cs typeface="Times New Roman"/>
              </a:rPr>
              <a:t>V </a:t>
            </a:r>
            <a:r>
              <a:rPr lang="en-US" sz="2400" spc="-5" dirty="0">
                <a:solidFill>
                  <a:srgbClr val="414141"/>
                </a:solidFill>
                <a:latin typeface="Symbol" panose="05050102010706020507" pitchFamily="18" charset="2"/>
                <a:ea typeface="Cambria" panose="02040503050406030204" pitchFamily="18" charset="0"/>
                <a:cs typeface="Symbol"/>
              </a:rPr>
              <a:t></a:t>
            </a:r>
            <a:r>
              <a:rPr lang="en-US" sz="2400" spc="-5" dirty="0">
                <a:solidFill>
                  <a:srgbClr val="414141"/>
                </a:solidFill>
                <a:latin typeface="Cambria" panose="02040503050406030204" pitchFamily="18" charset="0"/>
                <a:ea typeface="Cambria" panose="02040503050406030204" pitchFamily="18" charset="0"/>
                <a:cs typeface="Times New Roman"/>
              </a:rPr>
              <a:t> </a:t>
            </a:r>
            <a:r>
              <a:rPr lang="en-US" sz="2400" b="1" spc="-5" dirty="0">
                <a:solidFill>
                  <a:srgbClr val="414141"/>
                </a:solidFill>
                <a:latin typeface="Cambria" panose="02040503050406030204" pitchFamily="18" charset="0"/>
                <a:ea typeface="Cambria" panose="02040503050406030204" pitchFamily="18" charset="0"/>
                <a:cs typeface="Times New Roman"/>
              </a:rPr>
              <a:t>2.405 for Single Mode</a:t>
            </a:r>
            <a:r>
              <a:rPr lang="en-US" sz="2400" b="1" spc="-225" dirty="0">
                <a:solidFill>
                  <a:srgbClr val="414141"/>
                </a:solidFill>
                <a:latin typeface="Cambria" panose="02040503050406030204" pitchFamily="18" charset="0"/>
                <a:ea typeface="Cambria" panose="02040503050406030204" pitchFamily="18" charset="0"/>
                <a:cs typeface="Times New Roman"/>
              </a:rPr>
              <a:t> </a:t>
            </a:r>
            <a:r>
              <a:rPr lang="en-US" sz="2400" b="1" dirty="0">
                <a:solidFill>
                  <a:srgbClr val="414141"/>
                </a:solidFill>
                <a:latin typeface="Cambria" panose="02040503050406030204" pitchFamily="18" charset="0"/>
                <a:ea typeface="Cambria" panose="02040503050406030204" pitchFamily="18" charset="0"/>
                <a:cs typeface="Times New Roman"/>
              </a:rPr>
              <a:t>operation</a:t>
            </a:r>
            <a:endParaRPr lang="en-US" sz="2400" dirty="0">
              <a:latin typeface="Cambria" panose="02040503050406030204" pitchFamily="18" charset="0"/>
              <a:ea typeface="Cambria" panose="02040503050406030204" pitchFamily="18" charset="0"/>
              <a:cs typeface="Times New Roman"/>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24</a:t>
            </a:fld>
            <a:endParaRPr lang="en-US"/>
          </a:p>
        </p:txBody>
      </p:sp>
    </p:spTree>
    <p:extLst>
      <p:ext uri="{BB962C8B-B14F-4D97-AF65-F5344CB8AC3E}">
        <p14:creationId xmlns:p14="http://schemas.microsoft.com/office/powerpoint/2010/main" val="2303747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994" y="0"/>
            <a:ext cx="11362005" cy="1617785"/>
          </a:xfrm>
        </p:spPr>
        <p:txBody>
          <a:bodyPr>
            <a:noAutofit/>
          </a:bodyPr>
          <a:lstStyle/>
          <a:p>
            <a:pPr marL="12700">
              <a:lnSpc>
                <a:spcPct val="100000"/>
              </a:lnSpc>
              <a:spcBef>
                <a:spcPts val="1940"/>
              </a:spcBef>
            </a:pPr>
            <a:r>
              <a:rPr lang="en-US" sz="4400" b="1" spc="-10" dirty="0">
                <a:latin typeface="Cambria"/>
                <a:cs typeface="Cambria"/>
              </a:rPr>
              <a:t>Types of Optical </a:t>
            </a:r>
            <a:r>
              <a:rPr lang="en-US" sz="4400" b="1" spc="-5" dirty="0">
                <a:latin typeface="Cambria"/>
                <a:cs typeface="Cambria"/>
              </a:rPr>
              <a:t>fibers based on </a:t>
            </a:r>
            <a:r>
              <a:rPr lang="en-US" sz="4400" b="1" spc="-10" dirty="0">
                <a:latin typeface="Cambria"/>
                <a:cs typeface="Cambria"/>
              </a:rPr>
              <a:t>modes </a:t>
            </a:r>
            <a:r>
              <a:rPr lang="en-US" sz="4400" b="1" spc="-5" dirty="0">
                <a:latin typeface="Cambria"/>
                <a:cs typeface="Cambria"/>
              </a:rPr>
              <a:t>and     refractive index </a:t>
            </a:r>
            <a:endParaRPr lang="en-US" sz="4400" dirty="0">
              <a:latin typeface="Cambria"/>
              <a:cs typeface="Cambria"/>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25</a:t>
            </a:fld>
            <a:endParaRPr lang="en-US"/>
          </a:p>
        </p:txBody>
      </p:sp>
      <p:sp>
        <p:nvSpPr>
          <p:cNvPr id="6" name="object 4"/>
          <p:cNvSpPr txBox="1">
            <a:spLocks noGrp="1"/>
          </p:cNvSpPr>
          <p:nvPr>
            <p:ph idx="1"/>
          </p:nvPr>
        </p:nvSpPr>
        <p:spPr>
          <a:xfrm>
            <a:off x="196947" y="1617785"/>
            <a:ext cx="11631887" cy="4159087"/>
          </a:xfrm>
          <a:prstGeom prst="rect">
            <a:avLst/>
          </a:prstGeom>
        </p:spPr>
        <p:txBody>
          <a:bodyPr vert="horz" wrap="square" lIns="0" tIns="246380" rIns="0" bIns="0" rtlCol="0">
            <a:spAutoFit/>
          </a:bodyPr>
          <a:lstStyle/>
          <a:p>
            <a:pPr marL="354965" marR="5080" indent="-342900" algn="just">
              <a:lnSpc>
                <a:spcPct val="130000"/>
              </a:lnSpc>
              <a:spcBef>
                <a:spcPts val="650"/>
              </a:spcBef>
              <a:buClr>
                <a:srgbClr val="0AD0D9"/>
              </a:buClr>
              <a:buSzPct val="93181"/>
              <a:tabLst>
                <a:tab pos="287655" algn="l"/>
              </a:tabLst>
            </a:pPr>
            <a:r>
              <a:rPr lang="en-US" sz="2400" spc="-10" dirty="0">
                <a:latin typeface="Cambria"/>
                <a:cs typeface="Cambria"/>
              </a:rPr>
              <a:t>Mode is the one which describes the nature of propagation of  electromagnetic waves in a wave guide. </a:t>
            </a:r>
          </a:p>
          <a:p>
            <a:pPr marL="354965" marR="5080" indent="-342900" algn="just">
              <a:lnSpc>
                <a:spcPct val="130000"/>
              </a:lnSpc>
              <a:spcBef>
                <a:spcPts val="650"/>
              </a:spcBef>
              <a:buClr>
                <a:srgbClr val="0AD0D9"/>
              </a:buClr>
              <a:buSzPct val="93181"/>
              <a:tabLst>
                <a:tab pos="287655" algn="l"/>
              </a:tabLst>
            </a:pPr>
            <a:r>
              <a:rPr lang="en-US" sz="2400" spc="-10" dirty="0">
                <a:latin typeface="Cambria"/>
                <a:cs typeface="Cambria"/>
              </a:rPr>
              <a:t>It is the allowed direction whose associated angles satisfy the  conditions for </a:t>
            </a:r>
            <a:r>
              <a:rPr lang="en-US" sz="2400" b="1" spc="-10" dirty="0">
                <a:latin typeface="Cambria"/>
                <a:cs typeface="Cambria"/>
              </a:rPr>
              <a:t>total internal reflection </a:t>
            </a:r>
            <a:r>
              <a:rPr lang="en-US" sz="2400" spc="-10" dirty="0">
                <a:latin typeface="Cambria"/>
                <a:cs typeface="Cambria"/>
              </a:rPr>
              <a:t>and constructive  interference.</a:t>
            </a:r>
          </a:p>
          <a:p>
            <a:pPr marL="354965" marR="5080" indent="-342900" algn="just">
              <a:lnSpc>
                <a:spcPct val="130000"/>
              </a:lnSpc>
              <a:spcBef>
                <a:spcPts val="650"/>
              </a:spcBef>
              <a:buClr>
                <a:srgbClr val="0AD0D9"/>
              </a:buClr>
              <a:buSzPct val="93181"/>
              <a:tabLst>
                <a:tab pos="287655" algn="l"/>
              </a:tabLst>
            </a:pPr>
            <a:r>
              <a:rPr lang="en-US" sz="2400" spc="-10" dirty="0">
                <a:latin typeface="Cambria"/>
                <a:cs typeface="Cambria"/>
              </a:rPr>
              <a:t>Based on the number of modes that propagates through the optical fiber, they are classified as:</a:t>
            </a:r>
          </a:p>
          <a:p>
            <a:pPr marL="354965" marR="5080" indent="-342900" algn="just">
              <a:lnSpc>
                <a:spcPct val="130000"/>
              </a:lnSpc>
              <a:spcBef>
                <a:spcPts val="650"/>
              </a:spcBef>
              <a:buClr>
                <a:srgbClr val="0AD0D9"/>
              </a:buClr>
              <a:buSzPct val="93181"/>
              <a:tabLst>
                <a:tab pos="287655" algn="l"/>
              </a:tabLst>
            </a:pPr>
            <a:endParaRPr lang="en-US" sz="3800" spc="-10" dirty="0">
              <a:latin typeface="Cambria"/>
              <a:cs typeface="Cambria"/>
            </a:endParaRPr>
          </a:p>
        </p:txBody>
      </p:sp>
    </p:spTree>
    <p:extLst>
      <p:ext uri="{BB962C8B-B14F-4D97-AF65-F5344CB8AC3E}">
        <p14:creationId xmlns:p14="http://schemas.microsoft.com/office/powerpoint/2010/main" val="3532862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4061" y="520505"/>
            <a:ext cx="7541183" cy="5978769"/>
          </a:xfrm>
        </p:spPr>
        <p:txBody>
          <a:bodyPr>
            <a:normAutofit fontScale="85000" lnSpcReduction="10000"/>
          </a:bodyPr>
          <a:lstStyle/>
          <a:p>
            <a:pPr marL="583565" marR="5080" indent="-571500" algn="just">
              <a:lnSpc>
                <a:spcPct val="130000"/>
              </a:lnSpc>
              <a:spcBef>
                <a:spcPts val="650"/>
              </a:spcBef>
              <a:buClr>
                <a:srgbClr val="0AD0D9"/>
              </a:buClr>
              <a:buSzPct val="93181"/>
              <a:tabLst>
                <a:tab pos="287655" algn="l"/>
              </a:tabLst>
            </a:pPr>
            <a:r>
              <a:rPr lang="en-US" sz="3100" b="1" spc="-10" dirty="0">
                <a:latin typeface="Cambria"/>
                <a:cs typeface="Cambria"/>
              </a:rPr>
              <a:t>Single Mode </a:t>
            </a:r>
            <a:r>
              <a:rPr lang="en-US" sz="3100" spc="-10" dirty="0">
                <a:latin typeface="Cambria"/>
                <a:cs typeface="Cambria"/>
              </a:rPr>
              <a:t>fibers can propagate only the fundamental mode.</a:t>
            </a:r>
          </a:p>
          <a:p>
            <a:pPr marL="583565" marR="5080" indent="-571500" algn="just">
              <a:lnSpc>
                <a:spcPct val="130000"/>
              </a:lnSpc>
              <a:spcBef>
                <a:spcPts val="650"/>
              </a:spcBef>
              <a:buClr>
                <a:srgbClr val="0AD0D9"/>
              </a:buClr>
              <a:buSzPct val="93181"/>
              <a:tabLst>
                <a:tab pos="287655" algn="l"/>
              </a:tabLst>
            </a:pPr>
            <a:r>
              <a:rPr lang="en-US" sz="3100" b="1" spc="-10" dirty="0">
                <a:latin typeface="Cambria"/>
                <a:cs typeface="Cambria"/>
              </a:rPr>
              <a:t>Multimode fibers </a:t>
            </a:r>
            <a:r>
              <a:rPr lang="en-US" sz="3100" spc="-10" dirty="0">
                <a:latin typeface="Cambria"/>
                <a:cs typeface="Cambria"/>
              </a:rPr>
              <a:t>can propagate hundreds of modes.</a:t>
            </a:r>
          </a:p>
          <a:p>
            <a:pPr marL="12700">
              <a:lnSpc>
                <a:spcPct val="100000"/>
              </a:lnSpc>
              <a:spcBef>
                <a:spcPts val="105"/>
              </a:spcBef>
            </a:pPr>
            <a:endParaRPr lang="en-US" sz="3400" b="1" spc="-5" dirty="0">
              <a:latin typeface="Cambria"/>
              <a:cs typeface="Cambria"/>
            </a:endParaRPr>
          </a:p>
          <a:p>
            <a:pPr marL="12700" algn="just">
              <a:lnSpc>
                <a:spcPct val="100000"/>
              </a:lnSpc>
              <a:spcBef>
                <a:spcPts val="105"/>
              </a:spcBef>
            </a:pPr>
            <a:r>
              <a:rPr lang="en-US" sz="3100" b="1" spc="-5" dirty="0">
                <a:latin typeface="Cambria"/>
                <a:cs typeface="Cambria"/>
              </a:rPr>
              <a:t>Single </a:t>
            </a:r>
            <a:r>
              <a:rPr lang="en-US" sz="3100" b="1" dirty="0">
                <a:latin typeface="Cambria"/>
                <a:cs typeface="Cambria"/>
              </a:rPr>
              <a:t>mode</a:t>
            </a:r>
            <a:r>
              <a:rPr lang="en-US" sz="3100" b="1" spc="-50" dirty="0">
                <a:latin typeface="Cambria"/>
                <a:cs typeface="Cambria"/>
              </a:rPr>
              <a:t> </a:t>
            </a:r>
            <a:r>
              <a:rPr lang="en-US" sz="3100" b="1" dirty="0">
                <a:latin typeface="Cambria"/>
                <a:cs typeface="Cambria"/>
              </a:rPr>
              <a:t>fibers:</a:t>
            </a:r>
            <a:endParaRPr lang="en-US" sz="3100" dirty="0">
              <a:latin typeface="Cambria"/>
              <a:cs typeface="Cambria"/>
            </a:endParaRPr>
          </a:p>
          <a:p>
            <a:pPr marL="0" indent="0" algn="just">
              <a:lnSpc>
                <a:spcPct val="100000"/>
              </a:lnSpc>
              <a:spcBef>
                <a:spcPts val="50"/>
              </a:spcBef>
              <a:buNone/>
            </a:pPr>
            <a:endParaRPr lang="en-US" sz="3100" dirty="0">
              <a:latin typeface="Cambria"/>
              <a:cs typeface="Cambria"/>
            </a:endParaRPr>
          </a:p>
          <a:p>
            <a:pPr marL="12700" algn="just">
              <a:lnSpc>
                <a:spcPct val="100000"/>
              </a:lnSpc>
            </a:pPr>
            <a:r>
              <a:rPr lang="en-US" sz="3100" spc="-5" dirty="0">
                <a:latin typeface="Cambria"/>
                <a:cs typeface="Cambria"/>
              </a:rPr>
              <a:t>In</a:t>
            </a:r>
            <a:r>
              <a:rPr lang="en-US" sz="3100" spc="40" dirty="0">
                <a:latin typeface="Cambria"/>
                <a:cs typeface="Cambria"/>
              </a:rPr>
              <a:t> </a:t>
            </a:r>
            <a:r>
              <a:rPr lang="en-US" sz="3100" dirty="0">
                <a:latin typeface="Cambria"/>
                <a:cs typeface="Cambria"/>
              </a:rPr>
              <a:t>a</a:t>
            </a:r>
            <a:r>
              <a:rPr lang="en-US" sz="3100" spc="50" dirty="0">
                <a:latin typeface="Cambria"/>
                <a:cs typeface="Cambria"/>
              </a:rPr>
              <a:t> </a:t>
            </a:r>
            <a:r>
              <a:rPr lang="en-US" sz="3100" spc="-40" dirty="0">
                <a:latin typeface="Cambria"/>
                <a:cs typeface="Cambria"/>
              </a:rPr>
              <a:t>fiber,</a:t>
            </a:r>
            <a:r>
              <a:rPr lang="en-US" sz="3100" spc="50" dirty="0">
                <a:latin typeface="Cambria"/>
                <a:cs typeface="Cambria"/>
              </a:rPr>
              <a:t> </a:t>
            </a:r>
            <a:r>
              <a:rPr lang="en-US" sz="3100" spc="-10" dirty="0">
                <a:latin typeface="Cambria"/>
                <a:cs typeface="Cambria"/>
              </a:rPr>
              <a:t>if</a:t>
            </a:r>
            <a:r>
              <a:rPr lang="en-US" sz="3100" spc="45" dirty="0">
                <a:latin typeface="Cambria"/>
                <a:cs typeface="Cambria"/>
              </a:rPr>
              <a:t> </a:t>
            </a:r>
            <a:r>
              <a:rPr lang="en-US" sz="3100" spc="-15" dirty="0">
                <a:latin typeface="Cambria"/>
                <a:cs typeface="Cambria"/>
              </a:rPr>
              <a:t>only</a:t>
            </a:r>
            <a:r>
              <a:rPr lang="en-US" sz="3100" spc="50" dirty="0">
                <a:latin typeface="Cambria"/>
                <a:cs typeface="Cambria"/>
              </a:rPr>
              <a:t> </a:t>
            </a:r>
            <a:r>
              <a:rPr lang="en-US" sz="3100" b="1" spc="-5" dirty="0">
                <a:latin typeface="Cambria"/>
                <a:cs typeface="Cambria"/>
              </a:rPr>
              <a:t>one</a:t>
            </a:r>
            <a:r>
              <a:rPr lang="en-US" sz="3100" b="1" spc="50" dirty="0">
                <a:latin typeface="Cambria"/>
                <a:cs typeface="Cambria"/>
              </a:rPr>
              <a:t> </a:t>
            </a:r>
            <a:r>
              <a:rPr lang="en-US" sz="3100" b="1" spc="-5" dirty="0">
                <a:latin typeface="Cambria"/>
                <a:cs typeface="Cambria"/>
              </a:rPr>
              <a:t>mode</a:t>
            </a:r>
            <a:r>
              <a:rPr lang="en-US" sz="3100" b="1" spc="55" dirty="0">
                <a:latin typeface="Cambria"/>
                <a:cs typeface="Cambria"/>
              </a:rPr>
              <a:t> </a:t>
            </a:r>
            <a:r>
              <a:rPr lang="en-US" sz="3100" spc="-10" dirty="0">
                <a:latin typeface="Cambria"/>
                <a:cs typeface="Cambria"/>
              </a:rPr>
              <a:t>is</a:t>
            </a:r>
            <a:r>
              <a:rPr lang="en-US" sz="3100" spc="45" dirty="0">
                <a:latin typeface="Cambria"/>
                <a:cs typeface="Cambria"/>
              </a:rPr>
              <a:t> </a:t>
            </a:r>
            <a:r>
              <a:rPr lang="en-US" sz="3100" spc="-10" dirty="0">
                <a:latin typeface="Cambria"/>
                <a:cs typeface="Cambria"/>
              </a:rPr>
              <a:t>transmitted</a:t>
            </a:r>
            <a:r>
              <a:rPr lang="en-US" sz="3100" spc="30" dirty="0">
                <a:latin typeface="Cambria"/>
                <a:cs typeface="Cambria"/>
              </a:rPr>
              <a:t> </a:t>
            </a:r>
            <a:r>
              <a:rPr lang="en-US" sz="3100" spc="-15" dirty="0">
                <a:latin typeface="Cambria"/>
                <a:cs typeface="Cambria"/>
              </a:rPr>
              <a:t>through</a:t>
            </a:r>
            <a:r>
              <a:rPr lang="en-US" sz="3100" spc="45" dirty="0">
                <a:latin typeface="Cambria"/>
                <a:cs typeface="Cambria"/>
              </a:rPr>
              <a:t> </a:t>
            </a:r>
            <a:r>
              <a:rPr lang="en-US" sz="3100" spc="5" dirty="0">
                <a:latin typeface="Cambria"/>
                <a:cs typeface="Cambria"/>
              </a:rPr>
              <a:t>it,</a:t>
            </a:r>
            <a:r>
              <a:rPr lang="en-US" sz="3100" spc="40" dirty="0">
                <a:latin typeface="Cambria"/>
                <a:cs typeface="Cambria"/>
              </a:rPr>
              <a:t> </a:t>
            </a:r>
            <a:r>
              <a:rPr lang="en-US" sz="3100" spc="-5" dirty="0">
                <a:latin typeface="Cambria"/>
                <a:cs typeface="Cambria"/>
              </a:rPr>
              <a:t>then</a:t>
            </a:r>
            <a:r>
              <a:rPr lang="en-US" sz="3100" spc="55" dirty="0">
                <a:latin typeface="Cambria"/>
                <a:cs typeface="Cambria"/>
              </a:rPr>
              <a:t> </a:t>
            </a:r>
            <a:r>
              <a:rPr lang="en-US" sz="3100" spc="-10" dirty="0">
                <a:latin typeface="Cambria"/>
                <a:cs typeface="Cambria"/>
              </a:rPr>
              <a:t>it</a:t>
            </a:r>
            <a:r>
              <a:rPr lang="en-US" sz="3100" spc="55" dirty="0">
                <a:latin typeface="Cambria"/>
                <a:cs typeface="Cambria"/>
              </a:rPr>
              <a:t> </a:t>
            </a:r>
            <a:r>
              <a:rPr lang="en-US" sz="3100" spc="-5" dirty="0">
                <a:latin typeface="Cambria"/>
                <a:cs typeface="Cambria"/>
              </a:rPr>
              <a:t>is</a:t>
            </a:r>
            <a:r>
              <a:rPr lang="en-US" sz="3100" spc="45" dirty="0">
                <a:latin typeface="Cambria"/>
                <a:cs typeface="Cambria"/>
              </a:rPr>
              <a:t> </a:t>
            </a:r>
            <a:r>
              <a:rPr lang="en-US" sz="3100" spc="-5" dirty="0">
                <a:latin typeface="Cambria"/>
                <a:cs typeface="Cambria"/>
              </a:rPr>
              <a:t>said</a:t>
            </a:r>
            <a:r>
              <a:rPr lang="en-US" sz="3100" spc="35" dirty="0">
                <a:latin typeface="Cambria"/>
                <a:cs typeface="Cambria"/>
              </a:rPr>
              <a:t> </a:t>
            </a:r>
            <a:r>
              <a:rPr lang="en-US" sz="3100" spc="-5" dirty="0">
                <a:latin typeface="Cambria"/>
                <a:cs typeface="Cambria"/>
              </a:rPr>
              <a:t>to</a:t>
            </a:r>
            <a:r>
              <a:rPr lang="en-US" sz="3100" spc="35" dirty="0">
                <a:latin typeface="Cambria"/>
                <a:cs typeface="Cambria"/>
              </a:rPr>
              <a:t> </a:t>
            </a:r>
            <a:r>
              <a:rPr lang="en-US" sz="3100" spc="-5" dirty="0">
                <a:latin typeface="Cambria"/>
                <a:cs typeface="Cambria"/>
              </a:rPr>
              <a:t>be</a:t>
            </a:r>
            <a:r>
              <a:rPr lang="en-US" sz="3100" spc="50" dirty="0">
                <a:latin typeface="Cambria"/>
                <a:cs typeface="Cambria"/>
              </a:rPr>
              <a:t> </a:t>
            </a:r>
            <a:r>
              <a:rPr lang="en-US" sz="3100" dirty="0">
                <a:latin typeface="Cambria"/>
                <a:cs typeface="Cambria"/>
              </a:rPr>
              <a:t>a </a:t>
            </a:r>
            <a:r>
              <a:rPr lang="en-US" sz="3100" b="1" dirty="0">
                <a:latin typeface="Cambria"/>
                <a:cs typeface="Cambria"/>
              </a:rPr>
              <a:t>single mode</a:t>
            </a:r>
            <a:r>
              <a:rPr lang="en-US" sz="3100" b="1" spc="-70" dirty="0">
                <a:latin typeface="Cambria"/>
                <a:cs typeface="Cambria"/>
              </a:rPr>
              <a:t> </a:t>
            </a:r>
            <a:r>
              <a:rPr lang="en-US" sz="3100" b="1" spc="-35" dirty="0">
                <a:latin typeface="Cambria"/>
                <a:cs typeface="Cambria"/>
              </a:rPr>
              <a:t>fiber.</a:t>
            </a:r>
            <a:endParaRPr lang="en-US" sz="3100" dirty="0">
              <a:latin typeface="Cambria"/>
              <a:cs typeface="Cambria"/>
            </a:endParaRPr>
          </a:p>
          <a:p>
            <a:pPr algn="just">
              <a:lnSpc>
                <a:spcPct val="100000"/>
              </a:lnSpc>
              <a:spcBef>
                <a:spcPts val="50"/>
              </a:spcBef>
            </a:pPr>
            <a:endParaRPr lang="en-US" sz="3100" dirty="0">
              <a:latin typeface="Cambria"/>
              <a:cs typeface="Cambria"/>
            </a:endParaRPr>
          </a:p>
          <a:p>
            <a:pPr marL="12700" algn="just">
              <a:lnSpc>
                <a:spcPct val="100000"/>
              </a:lnSpc>
            </a:pPr>
            <a:r>
              <a:rPr lang="en-US" sz="3100" dirty="0">
                <a:latin typeface="Cambria"/>
                <a:cs typeface="Cambria"/>
              </a:rPr>
              <a:t>A </a:t>
            </a:r>
            <a:r>
              <a:rPr lang="en-US" sz="3100" spc="-5" dirty="0">
                <a:latin typeface="Cambria"/>
                <a:cs typeface="Cambria"/>
              </a:rPr>
              <a:t>typical </a:t>
            </a:r>
            <a:r>
              <a:rPr lang="en-US" sz="3100" b="1" spc="-5" dirty="0">
                <a:latin typeface="Cambria"/>
                <a:cs typeface="Cambria"/>
              </a:rPr>
              <a:t>single </a:t>
            </a:r>
            <a:r>
              <a:rPr lang="en-US" sz="3100" b="1" dirty="0">
                <a:latin typeface="Cambria"/>
                <a:cs typeface="Cambria"/>
              </a:rPr>
              <a:t>mode </a:t>
            </a:r>
            <a:r>
              <a:rPr lang="en-US" sz="3100" b="1" spc="-5" dirty="0">
                <a:latin typeface="Cambria"/>
                <a:cs typeface="Cambria"/>
              </a:rPr>
              <a:t>fiber </a:t>
            </a:r>
            <a:r>
              <a:rPr lang="en-US" sz="3100" spc="-15" dirty="0">
                <a:latin typeface="Cambria"/>
                <a:cs typeface="Cambria"/>
              </a:rPr>
              <a:t>may </a:t>
            </a:r>
            <a:r>
              <a:rPr lang="en-US" sz="3100" spc="-25" dirty="0">
                <a:latin typeface="Cambria"/>
                <a:cs typeface="Cambria"/>
              </a:rPr>
              <a:t>have </a:t>
            </a:r>
            <a:r>
              <a:rPr lang="en-US" sz="3100" dirty="0">
                <a:latin typeface="Cambria"/>
                <a:cs typeface="Cambria"/>
              </a:rPr>
              <a:t>a </a:t>
            </a:r>
            <a:r>
              <a:rPr lang="en-US" sz="3100" b="1" spc="-15" dirty="0">
                <a:latin typeface="Cambria"/>
                <a:cs typeface="Cambria"/>
              </a:rPr>
              <a:t>core </a:t>
            </a:r>
            <a:r>
              <a:rPr lang="en-US" sz="3100" b="1" spc="-10" dirty="0">
                <a:latin typeface="Cambria"/>
                <a:cs typeface="Cambria"/>
              </a:rPr>
              <a:t>radius </a:t>
            </a:r>
            <a:r>
              <a:rPr lang="en-US" sz="3100" b="1" dirty="0">
                <a:latin typeface="Cambria"/>
                <a:cs typeface="Cambria"/>
              </a:rPr>
              <a:t>of 3 </a:t>
            </a:r>
            <a:r>
              <a:rPr lang="en-US" sz="3100" b="1" spc="-5" dirty="0" err="1">
                <a:latin typeface="Cambria"/>
                <a:cs typeface="Cambria"/>
              </a:rPr>
              <a:t>μm</a:t>
            </a:r>
            <a:r>
              <a:rPr lang="en-US" sz="3100" b="1" spc="-5" dirty="0">
                <a:latin typeface="Cambria"/>
                <a:cs typeface="Cambria"/>
              </a:rPr>
              <a:t> </a:t>
            </a:r>
            <a:r>
              <a:rPr lang="en-US" sz="3100" dirty="0">
                <a:latin typeface="Cambria"/>
                <a:cs typeface="Cambria"/>
              </a:rPr>
              <a:t>and</a:t>
            </a:r>
            <a:r>
              <a:rPr lang="en-US" sz="3100" spc="400" dirty="0">
                <a:latin typeface="Cambria"/>
                <a:cs typeface="Cambria"/>
              </a:rPr>
              <a:t> </a:t>
            </a:r>
            <a:r>
              <a:rPr lang="en-US" sz="3100" dirty="0">
                <a:latin typeface="Cambria"/>
                <a:cs typeface="Cambria"/>
              </a:rPr>
              <a:t>a </a:t>
            </a:r>
            <a:r>
              <a:rPr lang="en-US" sz="3100" b="1" dirty="0">
                <a:latin typeface="Cambria"/>
                <a:cs typeface="Cambria"/>
              </a:rPr>
              <a:t>numerical </a:t>
            </a:r>
            <a:r>
              <a:rPr lang="en-US" sz="3100" b="1" spc="-5" dirty="0">
                <a:latin typeface="Cambria"/>
                <a:cs typeface="Cambria"/>
              </a:rPr>
              <a:t>aperture of </a:t>
            </a:r>
            <a:r>
              <a:rPr lang="en-US" sz="3100" b="1" dirty="0">
                <a:latin typeface="Cambria"/>
                <a:cs typeface="Cambria"/>
              </a:rPr>
              <a:t>0.1 </a:t>
            </a:r>
            <a:r>
              <a:rPr lang="en-US" sz="3100" dirty="0">
                <a:latin typeface="Cambria"/>
                <a:cs typeface="Cambria"/>
              </a:rPr>
              <a:t>at a </a:t>
            </a:r>
            <a:r>
              <a:rPr lang="en-US" sz="3100" b="1" spc="-20" dirty="0">
                <a:latin typeface="Cambria"/>
                <a:cs typeface="Cambria"/>
              </a:rPr>
              <a:t>wavelength </a:t>
            </a:r>
            <a:r>
              <a:rPr lang="en-US" sz="3100" b="1" spc="-5" dirty="0">
                <a:latin typeface="Cambria"/>
                <a:cs typeface="Cambria"/>
              </a:rPr>
              <a:t>of </a:t>
            </a:r>
            <a:r>
              <a:rPr lang="en-US" sz="3100" b="1" dirty="0">
                <a:latin typeface="Cambria"/>
                <a:cs typeface="Cambria"/>
              </a:rPr>
              <a:t>0.8</a:t>
            </a:r>
            <a:r>
              <a:rPr lang="en-US" sz="3100" b="1" spc="-110" dirty="0">
                <a:latin typeface="Cambria"/>
                <a:cs typeface="Cambria"/>
              </a:rPr>
              <a:t> </a:t>
            </a:r>
            <a:r>
              <a:rPr lang="en-US" sz="3100" b="1" dirty="0" err="1">
                <a:latin typeface="Cambria"/>
                <a:cs typeface="Cambria"/>
              </a:rPr>
              <a:t>μm</a:t>
            </a:r>
            <a:r>
              <a:rPr lang="en-US" sz="3100" b="1" dirty="0">
                <a:latin typeface="Cambria"/>
                <a:cs typeface="Cambria"/>
              </a:rPr>
              <a:t>.</a:t>
            </a:r>
            <a:endParaRPr lang="en-US" sz="3100" dirty="0">
              <a:latin typeface="Cambria"/>
              <a:cs typeface="Cambria"/>
            </a:endParaRPr>
          </a:p>
          <a:p>
            <a:pPr marL="354965" marR="5080" indent="-342900" algn="just">
              <a:lnSpc>
                <a:spcPct val="130000"/>
              </a:lnSpc>
              <a:spcBef>
                <a:spcPts val="650"/>
              </a:spcBef>
              <a:buClr>
                <a:srgbClr val="0AD0D9"/>
              </a:buClr>
              <a:buSzPct val="93181"/>
              <a:tabLst>
                <a:tab pos="287655" algn="l"/>
              </a:tabLst>
            </a:pPr>
            <a:endParaRPr lang="en-US" spc="-10" dirty="0">
              <a:latin typeface="Cambria"/>
              <a:cs typeface="Cambria"/>
            </a:endParaRPr>
          </a:p>
          <a:p>
            <a:pPr marL="0" indent="0">
              <a:buNone/>
            </a:pPr>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26</a:t>
            </a:fld>
            <a:endParaRPr lang="en-US" dirty="0"/>
          </a:p>
        </p:txBody>
      </p:sp>
      <p:pic>
        <p:nvPicPr>
          <p:cNvPr id="6" name="Picture 5"/>
          <p:cNvPicPr>
            <a:picLocks noChangeAspect="1"/>
          </p:cNvPicPr>
          <p:nvPr/>
        </p:nvPicPr>
        <p:blipFill>
          <a:blip r:embed="rId2"/>
          <a:stretch>
            <a:fillRect/>
          </a:stretch>
        </p:blipFill>
        <p:spPr>
          <a:xfrm>
            <a:off x="8510954" y="1774746"/>
            <a:ext cx="3395701" cy="2542631"/>
          </a:xfrm>
          <a:prstGeom prst="rect">
            <a:avLst/>
          </a:prstGeom>
        </p:spPr>
      </p:pic>
      <p:sp>
        <p:nvSpPr>
          <p:cNvPr id="7" name="TextBox 6"/>
          <p:cNvSpPr txBox="1"/>
          <p:nvPr/>
        </p:nvSpPr>
        <p:spPr>
          <a:xfrm>
            <a:off x="8385244" y="4822628"/>
            <a:ext cx="3806755" cy="523220"/>
          </a:xfrm>
          <a:prstGeom prst="rect">
            <a:avLst/>
          </a:prstGeom>
          <a:noFill/>
        </p:spPr>
        <p:txBody>
          <a:bodyPr wrap="square" rtlCol="0">
            <a:spAutoFit/>
          </a:bodyPr>
          <a:lstStyle/>
          <a:p>
            <a:r>
              <a:rPr lang="en-US" sz="2800" b="1" dirty="0"/>
              <a:t>    </a:t>
            </a:r>
            <a:r>
              <a:rPr lang="en-US" sz="1600" dirty="0">
                <a:latin typeface="Cambria" panose="02040503050406030204" pitchFamily="18" charset="0"/>
                <a:ea typeface="Cambria" panose="02040503050406030204" pitchFamily="18" charset="0"/>
              </a:rPr>
              <a:t>Figure 2.9 Single mode fiber [8]</a:t>
            </a:r>
          </a:p>
        </p:txBody>
      </p:sp>
    </p:spTree>
    <p:extLst>
      <p:ext uri="{BB962C8B-B14F-4D97-AF65-F5344CB8AC3E}">
        <p14:creationId xmlns:p14="http://schemas.microsoft.com/office/powerpoint/2010/main" val="894584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0"/>
            <a:ext cx="9767252" cy="987425"/>
          </a:xfrm>
        </p:spPr>
        <p:txBody>
          <a:bodyPr>
            <a:noAutofit/>
          </a:bodyPr>
          <a:lstStyle/>
          <a:p>
            <a:r>
              <a:rPr lang="en-US" sz="4400" b="1" spc="-10" dirty="0">
                <a:latin typeface="Cambria" panose="02040503050406030204" pitchFamily="18" charset="0"/>
                <a:ea typeface="Cambria" panose="02040503050406030204" pitchFamily="18" charset="0"/>
              </a:rPr>
              <a:t>Advantages </a:t>
            </a:r>
            <a:r>
              <a:rPr lang="en-US" sz="4400" b="1" spc="-5" dirty="0">
                <a:latin typeface="Cambria" panose="02040503050406030204" pitchFamily="18" charset="0"/>
                <a:ea typeface="Cambria" panose="02040503050406030204" pitchFamily="18" charset="0"/>
              </a:rPr>
              <a:t>of </a:t>
            </a:r>
            <a:r>
              <a:rPr lang="en-US" sz="4400" b="1" spc="-10" dirty="0">
                <a:latin typeface="Cambria" panose="02040503050406030204" pitchFamily="18" charset="0"/>
                <a:ea typeface="Cambria" panose="02040503050406030204" pitchFamily="18" charset="0"/>
              </a:rPr>
              <a:t>Single </a:t>
            </a:r>
            <a:r>
              <a:rPr lang="en-US" sz="4400" b="1" spc="-5" dirty="0">
                <a:latin typeface="Cambria" panose="02040503050406030204" pitchFamily="18" charset="0"/>
                <a:ea typeface="Cambria" panose="02040503050406030204" pitchFamily="18" charset="0"/>
              </a:rPr>
              <a:t>Mode</a:t>
            </a:r>
            <a:r>
              <a:rPr lang="en-US" sz="4400" b="1" spc="-25" dirty="0">
                <a:latin typeface="Cambria" panose="02040503050406030204" pitchFamily="18" charset="0"/>
                <a:ea typeface="Cambria" panose="02040503050406030204" pitchFamily="18" charset="0"/>
              </a:rPr>
              <a:t> </a:t>
            </a:r>
            <a:r>
              <a:rPr lang="en-US" sz="4400" b="1" spc="-10" dirty="0">
                <a:latin typeface="Cambria" panose="02040503050406030204" pitchFamily="18" charset="0"/>
                <a:ea typeface="Cambria" panose="02040503050406030204" pitchFamily="18" charset="0"/>
              </a:rPr>
              <a:t>Fiber</a:t>
            </a:r>
            <a:endParaRPr lang="en-US" sz="44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603717" y="1505243"/>
            <a:ext cx="5753686" cy="3657600"/>
          </a:xfrm>
        </p:spPr>
        <p:txBody>
          <a:bodyPr>
            <a:normAutofit/>
          </a:bodyPr>
          <a:lstStyle/>
          <a:p>
            <a:pPr marL="287020" indent="-274955">
              <a:lnSpc>
                <a:spcPct val="100000"/>
              </a:lnSpc>
              <a:spcBef>
                <a:spcPts val="2020"/>
              </a:spcBef>
              <a:buClr>
                <a:srgbClr val="0AD0D9"/>
              </a:buClr>
              <a:buSzPct val="93750"/>
              <a:buFont typeface="Wingdings"/>
              <a:buChar char=""/>
              <a:tabLst>
                <a:tab pos="287655" algn="l"/>
              </a:tabLst>
            </a:pPr>
            <a:r>
              <a:rPr lang="en-US" sz="2400" spc="-15" dirty="0">
                <a:latin typeface="Cambria"/>
                <a:cs typeface="Cambria"/>
              </a:rPr>
              <a:t>Only </a:t>
            </a:r>
            <a:r>
              <a:rPr lang="en-US" sz="2400" dirty="0">
                <a:latin typeface="Cambria"/>
                <a:cs typeface="Cambria"/>
              </a:rPr>
              <a:t>one </a:t>
            </a:r>
            <a:r>
              <a:rPr lang="en-US" sz="2400" spc="-5" dirty="0">
                <a:latin typeface="Cambria"/>
                <a:cs typeface="Cambria"/>
              </a:rPr>
              <a:t>path </a:t>
            </a:r>
            <a:r>
              <a:rPr lang="en-US" sz="2400" dirty="0">
                <a:latin typeface="Cambria"/>
                <a:cs typeface="Cambria"/>
              </a:rPr>
              <a:t>is</a:t>
            </a:r>
            <a:r>
              <a:rPr lang="en-US" sz="2400" spc="5" dirty="0">
                <a:latin typeface="Cambria"/>
                <a:cs typeface="Cambria"/>
              </a:rPr>
              <a:t> </a:t>
            </a:r>
            <a:r>
              <a:rPr lang="en-US" sz="2400" spc="-15" dirty="0">
                <a:latin typeface="Cambria"/>
                <a:cs typeface="Cambria"/>
              </a:rPr>
              <a:t>available.</a:t>
            </a:r>
            <a:endParaRPr lang="en-US" sz="2400" dirty="0">
              <a:latin typeface="Cambria"/>
              <a:cs typeface="Cambria"/>
            </a:endParaRPr>
          </a:p>
          <a:p>
            <a:pPr marL="287020" indent="-274955">
              <a:lnSpc>
                <a:spcPct val="100000"/>
              </a:lnSpc>
              <a:spcBef>
                <a:spcPts val="2014"/>
              </a:spcBef>
              <a:buClr>
                <a:srgbClr val="0AD0D9"/>
              </a:buClr>
              <a:buSzPct val="93750"/>
              <a:buFont typeface="Wingdings"/>
              <a:buChar char=""/>
              <a:tabLst>
                <a:tab pos="287655" algn="l"/>
              </a:tabLst>
            </a:pPr>
            <a:r>
              <a:rPr lang="en-US" sz="2400" spc="-10" dirty="0">
                <a:latin typeface="Cambria"/>
                <a:cs typeface="Cambria"/>
              </a:rPr>
              <a:t>Core </a:t>
            </a:r>
            <a:r>
              <a:rPr lang="en-US" sz="2400" spc="-5" dirty="0">
                <a:latin typeface="Cambria"/>
                <a:cs typeface="Cambria"/>
              </a:rPr>
              <a:t>diameter </a:t>
            </a:r>
            <a:r>
              <a:rPr lang="en-US" sz="2400" dirty="0">
                <a:latin typeface="Cambria"/>
                <a:cs typeface="Cambria"/>
              </a:rPr>
              <a:t>is</a:t>
            </a:r>
            <a:r>
              <a:rPr lang="en-US" sz="2400" spc="-15" dirty="0">
                <a:latin typeface="Cambria"/>
                <a:cs typeface="Cambria"/>
              </a:rPr>
              <a:t> </a:t>
            </a:r>
            <a:r>
              <a:rPr lang="en-US" sz="2400" dirty="0">
                <a:latin typeface="Cambria"/>
                <a:cs typeface="Cambria"/>
              </a:rPr>
              <a:t>small</a:t>
            </a:r>
          </a:p>
          <a:p>
            <a:pPr marL="287020" indent="-274955">
              <a:lnSpc>
                <a:spcPct val="100000"/>
              </a:lnSpc>
              <a:spcBef>
                <a:spcPts val="2020"/>
              </a:spcBef>
              <a:buClr>
                <a:srgbClr val="0AD0D9"/>
              </a:buClr>
              <a:buSzPct val="93750"/>
              <a:buFont typeface="Wingdings"/>
              <a:buChar char=""/>
              <a:tabLst>
                <a:tab pos="287655" algn="l"/>
              </a:tabLst>
            </a:pPr>
            <a:r>
              <a:rPr lang="en-US" sz="2400" dirty="0">
                <a:latin typeface="Cambria"/>
                <a:cs typeface="Cambria"/>
              </a:rPr>
              <a:t>No</a:t>
            </a:r>
            <a:r>
              <a:rPr lang="en-US" sz="2400" spc="-5" dirty="0">
                <a:latin typeface="Cambria"/>
                <a:cs typeface="Cambria"/>
              </a:rPr>
              <a:t> </a:t>
            </a:r>
            <a:r>
              <a:rPr lang="en-US" sz="2400" dirty="0">
                <a:latin typeface="Cambria"/>
                <a:cs typeface="Cambria"/>
              </a:rPr>
              <a:t>dispersion</a:t>
            </a:r>
          </a:p>
          <a:p>
            <a:pPr marL="287020" indent="-274955">
              <a:lnSpc>
                <a:spcPct val="100000"/>
              </a:lnSpc>
              <a:spcBef>
                <a:spcPts val="2014"/>
              </a:spcBef>
              <a:buClr>
                <a:srgbClr val="0AD0D9"/>
              </a:buClr>
              <a:buSzPct val="93750"/>
              <a:buFont typeface="Wingdings"/>
              <a:buChar char=""/>
              <a:tabLst>
                <a:tab pos="287655" algn="l"/>
              </a:tabLst>
            </a:pPr>
            <a:r>
              <a:rPr lang="en-US" sz="2400" spc="-5" dirty="0">
                <a:latin typeface="Cambria"/>
                <a:cs typeface="Cambria"/>
              </a:rPr>
              <a:t>Higher band </a:t>
            </a:r>
            <a:r>
              <a:rPr lang="en-US" sz="2400" dirty="0">
                <a:latin typeface="Cambria"/>
                <a:cs typeface="Cambria"/>
              </a:rPr>
              <a:t>width (1000</a:t>
            </a:r>
            <a:r>
              <a:rPr lang="en-US" sz="2400" spc="-50" dirty="0">
                <a:latin typeface="Cambria"/>
                <a:cs typeface="Cambria"/>
              </a:rPr>
              <a:t> </a:t>
            </a:r>
            <a:r>
              <a:rPr lang="en-US" sz="2400" spc="-5" dirty="0">
                <a:latin typeface="Cambria"/>
                <a:cs typeface="Cambria"/>
              </a:rPr>
              <a:t>MHz)</a:t>
            </a:r>
            <a:endParaRPr lang="en-US" sz="2400" dirty="0">
              <a:latin typeface="Cambria"/>
              <a:cs typeface="Cambria"/>
            </a:endParaRPr>
          </a:p>
          <a:p>
            <a:pPr marL="287020" indent="-274955">
              <a:lnSpc>
                <a:spcPct val="100000"/>
              </a:lnSpc>
              <a:spcBef>
                <a:spcPts val="2014"/>
              </a:spcBef>
              <a:buClr>
                <a:srgbClr val="0AD0D9"/>
              </a:buClr>
              <a:buSzPct val="93750"/>
              <a:buFont typeface="Wingdings"/>
              <a:buChar char=""/>
              <a:tabLst>
                <a:tab pos="287655" algn="l"/>
              </a:tabLst>
            </a:pPr>
            <a:r>
              <a:rPr lang="en-US" sz="2400" dirty="0">
                <a:latin typeface="Cambria"/>
                <a:cs typeface="Cambria"/>
              </a:rPr>
              <a:t>Used </a:t>
            </a:r>
            <a:r>
              <a:rPr lang="en-US" sz="2400" spc="-10" dirty="0">
                <a:latin typeface="Cambria"/>
                <a:cs typeface="Cambria"/>
              </a:rPr>
              <a:t>for </a:t>
            </a:r>
            <a:r>
              <a:rPr lang="en-US" sz="2400" spc="-5" dirty="0">
                <a:latin typeface="Cambria"/>
                <a:cs typeface="Cambria"/>
              </a:rPr>
              <a:t>long haul</a:t>
            </a:r>
            <a:r>
              <a:rPr lang="en-US" sz="2400" spc="-30" dirty="0">
                <a:latin typeface="Cambria"/>
                <a:cs typeface="Cambria"/>
              </a:rPr>
              <a:t> </a:t>
            </a:r>
            <a:r>
              <a:rPr lang="en-US" sz="2400" spc="-5" dirty="0">
                <a:latin typeface="Cambria"/>
                <a:cs typeface="Cambria"/>
              </a:rPr>
              <a:t>communication</a:t>
            </a:r>
            <a:endParaRPr lang="en-US" sz="2400" dirty="0">
              <a:latin typeface="Cambria"/>
              <a:cs typeface="Cambria"/>
            </a:endParaRPr>
          </a:p>
          <a:p>
            <a:pPr marL="287020" indent="-274955">
              <a:lnSpc>
                <a:spcPct val="100000"/>
              </a:lnSpc>
              <a:spcBef>
                <a:spcPts val="2020"/>
              </a:spcBef>
              <a:buClr>
                <a:srgbClr val="0AD0D9"/>
              </a:buClr>
              <a:buSzPct val="93750"/>
              <a:buFont typeface="Wingdings"/>
              <a:buChar char=""/>
              <a:tabLst>
                <a:tab pos="287655" algn="l"/>
              </a:tabLst>
            </a:pPr>
            <a:r>
              <a:rPr lang="en-US" sz="2400" spc="-10" dirty="0">
                <a:latin typeface="Cambria"/>
                <a:cs typeface="Cambria"/>
              </a:rPr>
              <a:t>Fabrication </a:t>
            </a:r>
            <a:r>
              <a:rPr lang="en-US" sz="2400" dirty="0">
                <a:latin typeface="Cambria"/>
                <a:cs typeface="Cambria"/>
              </a:rPr>
              <a:t>is difficult and</a:t>
            </a:r>
            <a:r>
              <a:rPr lang="en-US" sz="2400" spc="-65" dirty="0">
                <a:latin typeface="Cambria"/>
                <a:cs typeface="Cambria"/>
              </a:rPr>
              <a:t> </a:t>
            </a:r>
            <a:r>
              <a:rPr lang="en-US" sz="2400" spc="-10" dirty="0">
                <a:latin typeface="Cambria"/>
                <a:cs typeface="Cambria"/>
              </a:rPr>
              <a:t>costly</a:t>
            </a:r>
            <a:endParaRPr lang="en-US" sz="2400" dirty="0">
              <a:latin typeface="Cambria"/>
              <a:cs typeface="Cambria"/>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27</a:t>
            </a:fld>
            <a:endParaRPr lang="en-US"/>
          </a:p>
        </p:txBody>
      </p:sp>
    </p:spTree>
    <p:extLst>
      <p:ext uri="{BB962C8B-B14F-4D97-AF65-F5344CB8AC3E}">
        <p14:creationId xmlns:p14="http://schemas.microsoft.com/office/powerpoint/2010/main" val="173690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7" y="0"/>
            <a:ext cx="9739118" cy="1167319"/>
          </a:xfrm>
        </p:spPr>
        <p:txBody>
          <a:bodyPr>
            <a:noAutofit/>
          </a:bodyPr>
          <a:lstStyle/>
          <a:p>
            <a:r>
              <a:rPr lang="en-US" sz="4400" b="1" spc="-10" dirty="0">
                <a:latin typeface="Cambria" panose="02040503050406030204" pitchFamily="18" charset="0"/>
                <a:ea typeface="Cambria" panose="02040503050406030204" pitchFamily="18" charset="0"/>
              </a:rPr>
              <a:t>Disadvantages </a:t>
            </a:r>
            <a:r>
              <a:rPr lang="en-US" sz="4400" b="1" spc="-5" dirty="0">
                <a:latin typeface="Cambria" panose="02040503050406030204" pitchFamily="18" charset="0"/>
                <a:ea typeface="Cambria" panose="02040503050406030204" pitchFamily="18" charset="0"/>
              </a:rPr>
              <a:t>of </a:t>
            </a:r>
            <a:r>
              <a:rPr lang="en-US" sz="4400" b="1" spc="-10" dirty="0">
                <a:latin typeface="Cambria" panose="02040503050406030204" pitchFamily="18" charset="0"/>
                <a:ea typeface="Cambria" panose="02040503050406030204" pitchFamily="18" charset="0"/>
              </a:rPr>
              <a:t>Single </a:t>
            </a:r>
            <a:r>
              <a:rPr lang="en-US" sz="4400" b="1" spc="-5" dirty="0">
                <a:latin typeface="Cambria" panose="02040503050406030204" pitchFamily="18" charset="0"/>
                <a:ea typeface="Cambria" panose="02040503050406030204" pitchFamily="18" charset="0"/>
              </a:rPr>
              <a:t>Mode</a:t>
            </a:r>
            <a:r>
              <a:rPr lang="en-US" sz="4400" b="1" spc="-25" dirty="0">
                <a:latin typeface="Cambria" panose="02040503050406030204" pitchFamily="18" charset="0"/>
                <a:ea typeface="Cambria" panose="02040503050406030204" pitchFamily="18" charset="0"/>
              </a:rPr>
              <a:t> </a:t>
            </a:r>
            <a:r>
              <a:rPr lang="en-US" sz="4400" b="1" spc="-10" dirty="0">
                <a:latin typeface="Cambria" panose="02040503050406030204" pitchFamily="18" charset="0"/>
                <a:ea typeface="Cambria" panose="02040503050406030204" pitchFamily="18" charset="0"/>
              </a:rPr>
              <a:t>Fiber</a:t>
            </a:r>
            <a:endParaRPr lang="en-US" sz="4400" dirty="0"/>
          </a:p>
        </p:txBody>
      </p:sp>
      <p:sp>
        <p:nvSpPr>
          <p:cNvPr id="3" name="Content Placeholder 2"/>
          <p:cNvSpPr>
            <a:spLocks noGrp="1"/>
          </p:cNvSpPr>
          <p:nvPr>
            <p:ph idx="1"/>
          </p:nvPr>
        </p:nvSpPr>
        <p:spPr>
          <a:xfrm>
            <a:off x="1350498" y="1659988"/>
            <a:ext cx="8088924" cy="3432517"/>
          </a:xfrm>
        </p:spPr>
        <p:txBody>
          <a:bodyPr/>
          <a:lstStyle/>
          <a:p>
            <a:pPr marL="12065" indent="0">
              <a:lnSpc>
                <a:spcPct val="100000"/>
              </a:lnSpc>
              <a:spcBef>
                <a:spcPts val="65"/>
              </a:spcBef>
              <a:buClr>
                <a:srgbClr val="DD8046"/>
              </a:buClr>
              <a:buSzPct val="59259"/>
              <a:buNone/>
              <a:tabLst>
                <a:tab pos="622300" algn="l"/>
                <a:tab pos="622935" algn="l"/>
              </a:tabLst>
            </a:pPr>
            <a:r>
              <a:rPr lang="en-US" sz="2400" spc="-10" dirty="0">
                <a:latin typeface="Cambria" panose="02040503050406030204" pitchFamily="18" charset="0"/>
                <a:ea typeface="Cambria" panose="02040503050406030204" pitchFamily="18" charset="0"/>
                <a:cs typeface="Arial"/>
              </a:rPr>
              <a:t>Difficult </a:t>
            </a:r>
            <a:r>
              <a:rPr lang="en-US" sz="2400" dirty="0">
                <a:latin typeface="Cambria" panose="02040503050406030204" pitchFamily="18" charset="0"/>
                <a:ea typeface="Cambria" panose="02040503050406030204" pitchFamily="18" charset="0"/>
                <a:cs typeface="Arial"/>
              </a:rPr>
              <a:t>to </a:t>
            </a:r>
            <a:r>
              <a:rPr lang="en-US" sz="2400" spc="-5" dirty="0">
                <a:latin typeface="Cambria" panose="02040503050406030204" pitchFamily="18" charset="0"/>
                <a:ea typeface="Cambria" panose="02040503050406030204" pitchFamily="18" charset="0"/>
                <a:cs typeface="Arial"/>
              </a:rPr>
              <a:t>couple light in and </a:t>
            </a:r>
            <a:r>
              <a:rPr lang="en-US" sz="2400" dirty="0">
                <a:latin typeface="Cambria" panose="02040503050406030204" pitchFamily="18" charset="0"/>
                <a:ea typeface="Cambria" panose="02040503050406030204" pitchFamily="18" charset="0"/>
                <a:cs typeface="Arial"/>
              </a:rPr>
              <a:t>out of the tiny</a:t>
            </a:r>
            <a:r>
              <a:rPr lang="en-US" sz="2400" spc="10" dirty="0">
                <a:latin typeface="Cambria" panose="02040503050406030204" pitchFamily="18" charset="0"/>
                <a:ea typeface="Cambria" panose="02040503050406030204" pitchFamily="18" charset="0"/>
                <a:cs typeface="Arial"/>
              </a:rPr>
              <a:t> </a:t>
            </a:r>
            <a:r>
              <a:rPr lang="en-US" sz="2400" spc="-5" dirty="0">
                <a:latin typeface="Cambria" panose="02040503050406030204" pitchFamily="18" charset="0"/>
                <a:ea typeface="Cambria" panose="02040503050406030204" pitchFamily="18" charset="0"/>
                <a:cs typeface="Arial"/>
              </a:rPr>
              <a:t>core</a:t>
            </a:r>
          </a:p>
          <a:p>
            <a:pPr marL="12065" indent="0">
              <a:lnSpc>
                <a:spcPct val="100000"/>
              </a:lnSpc>
              <a:spcBef>
                <a:spcPts val="65"/>
              </a:spcBef>
              <a:buClr>
                <a:srgbClr val="DD8046"/>
              </a:buClr>
              <a:buSzPct val="59259"/>
              <a:buNone/>
              <a:tabLst>
                <a:tab pos="622300" algn="l"/>
                <a:tab pos="622935" algn="l"/>
              </a:tabLst>
            </a:pPr>
            <a:endParaRPr lang="en-US" sz="2400" dirty="0">
              <a:latin typeface="Cambria" panose="02040503050406030204" pitchFamily="18" charset="0"/>
              <a:ea typeface="Cambria" panose="02040503050406030204" pitchFamily="18" charset="0"/>
              <a:cs typeface="Arial"/>
            </a:endParaRPr>
          </a:p>
          <a:p>
            <a:pPr marL="12065" indent="0">
              <a:lnSpc>
                <a:spcPct val="100000"/>
              </a:lnSpc>
              <a:spcBef>
                <a:spcPts val="60"/>
              </a:spcBef>
              <a:buClr>
                <a:srgbClr val="DD8046"/>
              </a:buClr>
              <a:buSzPct val="59259"/>
              <a:buNone/>
              <a:tabLst>
                <a:tab pos="622300" algn="l"/>
                <a:tab pos="622935" algn="l"/>
              </a:tabLst>
            </a:pPr>
            <a:r>
              <a:rPr lang="en-US" sz="2400" spc="-5" dirty="0">
                <a:latin typeface="Cambria" panose="02040503050406030204" pitchFamily="18" charset="0"/>
                <a:ea typeface="Cambria" panose="02040503050406030204" pitchFamily="18" charset="0"/>
                <a:cs typeface="Arial"/>
              </a:rPr>
              <a:t>Highly </a:t>
            </a:r>
            <a:r>
              <a:rPr lang="en-US" sz="2400" dirty="0">
                <a:solidFill>
                  <a:srgbClr val="FF0000"/>
                </a:solidFill>
                <a:latin typeface="Cambria" panose="02040503050406030204" pitchFamily="18" charset="0"/>
                <a:ea typeface="Cambria" panose="02040503050406030204" pitchFamily="18" charset="0"/>
                <a:cs typeface="Arial"/>
              </a:rPr>
              <a:t>directive </a:t>
            </a:r>
            <a:r>
              <a:rPr lang="en-US" sz="2400" spc="-5" dirty="0">
                <a:latin typeface="Cambria" panose="02040503050406030204" pitchFamily="18" charset="0"/>
                <a:ea typeface="Cambria" panose="02040503050406030204" pitchFamily="18" charset="0"/>
                <a:cs typeface="Arial"/>
              </a:rPr>
              <a:t>light source (laser) is</a:t>
            </a:r>
            <a:r>
              <a:rPr lang="en-US" sz="2400" spc="30" dirty="0">
                <a:latin typeface="Cambria" panose="02040503050406030204" pitchFamily="18" charset="0"/>
                <a:ea typeface="Cambria" panose="02040503050406030204" pitchFamily="18" charset="0"/>
                <a:cs typeface="Arial"/>
              </a:rPr>
              <a:t> </a:t>
            </a:r>
            <a:r>
              <a:rPr lang="en-US" sz="2400" spc="-5" dirty="0">
                <a:latin typeface="Cambria" panose="02040503050406030204" pitchFamily="18" charset="0"/>
                <a:ea typeface="Cambria" panose="02040503050406030204" pitchFamily="18" charset="0"/>
                <a:cs typeface="Arial"/>
              </a:rPr>
              <a:t>required</a:t>
            </a:r>
          </a:p>
          <a:p>
            <a:pPr marL="12065" indent="0">
              <a:lnSpc>
                <a:spcPct val="100000"/>
              </a:lnSpc>
              <a:spcBef>
                <a:spcPts val="60"/>
              </a:spcBef>
              <a:buClr>
                <a:srgbClr val="DD8046"/>
              </a:buClr>
              <a:buSzPct val="59259"/>
              <a:buNone/>
              <a:tabLst>
                <a:tab pos="622300" algn="l"/>
                <a:tab pos="622935" algn="l"/>
              </a:tabLst>
            </a:pPr>
            <a:endParaRPr lang="en-US" sz="2400" dirty="0">
              <a:latin typeface="Cambria" panose="02040503050406030204" pitchFamily="18" charset="0"/>
              <a:ea typeface="Cambria" panose="02040503050406030204" pitchFamily="18" charset="0"/>
              <a:cs typeface="Arial"/>
            </a:endParaRPr>
          </a:p>
          <a:p>
            <a:pPr marL="12065" indent="0">
              <a:lnSpc>
                <a:spcPct val="100000"/>
              </a:lnSpc>
              <a:spcBef>
                <a:spcPts val="50"/>
              </a:spcBef>
              <a:buClr>
                <a:srgbClr val="DD8046"/>
              </a:buClr>
              <a:buSzPct val="59259"/>
              <a:buNone/>
              <a:tabLst>
                <a:tab pos="622300" algn="l"/>
                <a:tab pos="622935" algn="l"/>
              </a:tabLst>
            </a:pPr>
            <a:r>
              <a:rPr lang="en-US" sz="2400" dirty="0">
                <a:latin typeface="Cambria" panose="02040503050406030204" pitchFamily="18" charset="0"/>
                <a:ea typeface="Cambria" panose="02040503050406030204" pitchFamily="18" charset="0"/>
                <a:cs typeface="Arial"/>
              </a:rPr>
              <a:t>Interfacing </a:t>
            </a:r>
            <a:r>
              <a:rPr lang="en-US" sz="2400" spc="-5" dirty="0">
                <a:latin typeface="Cambria" panose="02040503050406030204" pitchFamily="18" charset="0"/>
                <a:ea typeface="Cambria" panose="02040503050406030204" pitchFamily="18" charset="0"/>
                <a:cs typeface="Arial"/>
              </a:rPr>
              <a:t>modules are more</a:t>
            </a:r>
            <a:r>
              <a:rPr lang="en-US" sz="2400" spc="-2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expensive</a:t>
            </a:r>
          </a:p>
          <a:p>
            <a:pPr marL="0" indent="0">
              <a:buNone/>
            </a:pPr>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28</a:t>
            </a:fld>
            <a:endParaRPr lang="en-US"/>
          </a:p>
        </p:txBody>
      </p:sp>
    </p:spTree>
    <p:extLst>
      <p:ext uri="{BB962C8B-B14F-4D97-AF65-F5344CB8AC3E}">
        <p14:creationId xmlns:p14="http://schemas.microsoft.com/office/powerpoint/2010/main" val="8434158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0586" y="0"/>
            <a:ext cx="7560013" cy="987425"/>
          </a:xfrm>
        </p:spPr>
        <p:txBody>
          <a:bodyPr>
            <a:normAutofit/>
          </a:bodyPr>
          <a:lstStyle/>
          <a:p>
            <a:r>
              <a:rPr lang="en-US" sz="4400" b="1" spc="-5" dirty="0">
                <a:latin typeface="Cambria"/>
                <a:cs typeface="Cambria"/>
              </a:rPr>
              <a:t>Multi mode fibers</a:t>
            </a:r>
            <a:endParaRPr lang="en-US" sz="4400" dirty="0"/>
          </a:p>
        </p:txBody>
      </p:sp>
      <p:sp>
        <p:nvSpPr>
          <p:cNvPr id="3" name="Content Placeholder 2"/>
          <p:cNvSpPr>
            <a:spLocks noGrp="1"/>
          </p:cNvSpPr>
          <p:nvPr>
            <p:ph idx="1"/>
          </p:nvPr>
        </p:nvSpPr>
        <p:spPr>
          <a:xfrm>
            <a:off x="836579" y="987425"/>
            <a:ext cx="10065884" cy="5368925"/>
          </a:xfrm>
        </p:spPr>
        <p:txBody>
          <a:bodyPr>
            <a:normAutofit fontScale="92500" lnSpcReduction="10000"/>
          </a:bodyPr>
          <a:lstStyle/>
          <a:p>
            <a:pPr marL="469265" indent="-457200">
              <a:lnSpc>
                <a:spcPct val="100000"/>
              </a:lnSpc>
              <a:spcBef>
                <a:spcPts val="1240"/>
              </a:spcBef>
              <a:buClr>
                <a:srgbClr val="0AD0D9"/>
              </a:buClr>
              <a:buSzPct val="95000"/>
              <a:buFont typeface="Wingdings" panose="05000000000000000000" pitchFamily="2" charset="2"/>
              <a:buChar char="Ø"/>
              <a:tabLst>
                <a:tab pos="287655" algn="l"/>
              </a:tabLst>
            </a:pPr>
            <a:r>
              <a:rPr lang="en-US" spc="-5" dirty="0">
                <a:latin typeface="Cambria"/>
                <a:cs typeface="Cambria"/>
              </a:rPr>
              <a:t>  </a:t>
            </a:r>
            <a:r>
              <a:rPr lang="en-US" sz="2600" spc="-5" dirty="0">
                <a:latin typeface="Cambria"/>
                <a:cs typeface="Cambria"/>
              </a:rPr>
              <a:t>If</a:t>
            </a:r>
            <a:r>
              <a:rPr lang="en-US" sz="2600" spc="295" dirty="0">
                <a:latin typeface="Cambria"/>
                <a:cs typeface="Cambria"/>
              </a:rPr>
              <a:t> </a:t>
            </a:r>
            <a:r>
              <a:rPr lang="en-US" sz="2600" spc="-10" dirty="0">
                <a:latin typeface="Cambria"/>
                <a:cs typeface="Cambria"/>
              </a:rPr>
              <a:t>more</a:t>
            </a:r>
            <a:r>
              <a:rPr lang="en-US" sz="2600" spc="270" dirty="0">
                <a:latin typeface="Cambria"/>
                <a:cs typeface="Cambria"/>
              </a:rPr>
              <a:t> </a:t>
            </a:r>
            <a:r>
              <a:rPr lang="en-US" sz="2600" spc="-5" dirty="0">
                <a:latin typeface="Cambria"/>
                <a:cs typeface="Cambria"/>
              </a:rPr>
              <a:t>than</a:t>
            </a:r>
            <a:r>
              <a:rPr lang="en-US" sz="2600" spc="285" dirty="0">
                <a:latin typeface="Cambria"/>
                <a:cs typeface="Cambria"/>
              </a:rPr>
              <a:t> </a:t>
            </a:r>
            <a:r>
              <a:rPr lang="en-US" sz="2600" dirty="0">
                <a:latin typeface="Cambria"/>
                <a:cs typeface="Cambria"/>
              </a:rPr>
              <a:t>one</a:t>
            </a:r>
            <a:r>
              <a:rPr lang="en-US" sz="2600" spc="285" dirty="0">
                <a:latin typeface="Cambria"/>
                <a:cs typeface="Cambria"/>
              </a:rPr>
              <a:t> </a:t>
            </a:r>
            <a:r>
              <a:rPr lang="en-US" sz="2600" spc="-5" dirty="0">
                <a:latin typeface="Cambria"/>
                <a:cs typeface="Cambria"/>
              </a:rPr>
              <a:t>mode</a:t>
            </a:r>
            <a:r>
              <a:rPr lang="en-US" sz="2600" spc="285" dirty="0">
                <a:latin typeface="Cambria"/>
                <a:cs typeface="Cambria"/>
              </a:rPr>
              <a:t> </a:t>
            </a:r>
            <a:r>
              <a:rPr lang="en-US" sz="2600" spc="-5" dirty="0">
                <a:latin typeface="Cambria"/>
                <a:cs typeface="Cambria"/>
              </a:rPr>
              <a:t>is</a:t>
            </a:r>
            <a:r>
              <a:rPr lang="en-US" sz="2600" spc="285" dirty="0">
                <a:latin typeface="Cambria"/>
                <a:cs typeface="Cambria"/>
              </a:rPr>
              <a:t> </a:t>
            </a:r>
            <a:r>
              <a:rPr lang="en-US" sz="2600" spc="-10" dirty="0">
                <a:latin typeface="Cambria"/>
                <a:cs typeface="Cambria"/>
              </a:rPr>
              <a:t>transmitted</a:t>
            </a:r>
            <a:r>
              <a:rPr lang="en-US" sz="2600" spc="285" dirty="0">
                <a:latin typeface="Cambria"/>
                <a:cs typeface="Cambria"/>
              </a:rPr>
              <a:t> </a:t>
            </a:r>
            <a:r>
              <a:rPr lang="en-US" sz="2600" spc="-10" dirty="0">
                <a:latin typeface="Cambria"/>
                <a:cs typeface="Cambria"/>
              </a:rPr>
              <a:t>through</a:t>
            </a:r>
            <a:r>
              <a:rPr lang="en-US" sz="2600" spc="295" dirty="0">
                <a:latin typeface="Cambria"/>
                <a:cs typeface="Cambria"/>
              </a:rPr>
              <a:t> </a:t>
            </a:r>
            <a:r>
              <a:rPr lang="en-US" sz="2600" spc="-5" dirty="0">
                <a:latin typeface="Cambria"/>
                <a:cs typeface="Cambria"/>
              </a:rPr>
              <a:t>optical</a:t>
            </a:r>
            <a:r>
              <a:rPr lang="en-US" sz="2600" spc="275" dirty="0">
                <a:latin typeface="Cambria"/>
                <a:cs typeface="Cambria"/>
              </a:rPr>
              <a:t> </a:t>
            </a:r>
            <a:r>
              <a:rPr lang="en-US" sz="2600" spc="-35" dirty="0">
                <a:latin typeface="Cambria"/>
                <a:cs typeface="Cambria"/>
              </a:rPr>
              <a:t>fiber,</a:t>
            </a:r>
            <a:r>
              <a:rPr lang="en-US" sz="2600" spc="285" dirty="0">
                <a:latin typeface="Cambria"/>
                <a:cs typeface="Cambria"/>
              </a:rPr>
              <a:t> </a:t>
            </a:r>
            <a:r>
              <a:rPr lang="en-US" sz="2600" spc="-5" dirty="0">
                <a:latin typeface="Cambria"/>
                <a:cs typeface="Cambria"/>
              </a:rPr>
              <a:t>then</a:t>
            </a:r>
            <a:r>
              <a:rPr lang="en-US" sz="2600" spc="290" dirty="0">
                <a:latin typeface="Cambria"/>
                <a:cs typeface="Cambria"/>
              </a:rPr>
              <a:t> </a:t>
            </a:r>
            <a:r>
              <a:rPr lang="en-US" sz="2600" spc="-5" dirty="0">
                <a:latin typeface="Cambria"/>
                <a:cs typeface="Cambria"/>
              </a:rPr>
              <a:t>it</a:t>
            </a:r>
            <a:r>
              <a:rPr lang="en-US" sz="2600" spc="295" dirty="0">
                <a:latin typeface="Cambria"/>
                <a:cs typeface="Cambria"/>
              </a:rPr>
              <a:t> </a:t>
            </a:r>
            <a:r>
              <a:rPr lang="en-US" sz="2600" spc="-20" dirty="0">
                <a:latin typeface="Cambria"/>
                <a:cs typeface="Cambria"/>
              </a:rPr>
              <a:t>is</a:t>
            </a:r>
            <a:r>
              <a:rPr lang="en-US" sz="2600" dirty="0">
                <a:latin typeface="Cambria"/>
                <a:cs typeface="Cambria"/>
              </a:rPr>
              <a:t> said </a:t>
            </a:r>
            <a:r>
              <a:rPr lang="en-US" sz="2600" spc="-5" dirty="0">
                <a:latin typeface="Cambria"/>
                <a:cs typeface="Cambria"/>
              </a:rPr>
              <a:t>to be </a:t>
            </a:r>
            <a:r>
              <a:rPr lang="en-US" sz="2600" dirty="0">
                <a:latin typeface="Cambria"/>
                <a:cs typeface="Cambria"/>
              </a:rPr>
              <a:t>a </a:t>
            </a:r>
            <a:r>
              <a:rPr lang="en-US" sz="2600" spc="-5" dirty="0">
                <a:latin typeface="Cambria"/>
                <a:cs typeface="Cambria"/>
              </a:rPr>
              <a:t>multimode</a:t>
            </a:r>
            <a:r>
              <a:rPr lang="en-US" sz="2600" spc="-85" dirty="0">
                <a:latin typeface="Cambria"/>
                <a:cs typeface="Cambria"/>
              </a:rPr>
              <a:t> </a:t>
            </a:r>
            <a:r>
              <a:rPr lang="en-US" sz="2600" spc="-35" dirty="0">
                <a:latin typeface="Cambria"/>
                <a:cs typeface="Cambria"/>
              </a:rPr>
              <a:t>fiber.</a:t>
            </a:r>
            <a:endParaRPr lang="en-US" sz="2600" dirty="0">
              <a:latin typeface="Cambria"/>
              <a:cs typeface="Cambria"/>
            </a:endParaRPr>
          </a:p>
          <a:p>
            <a:pPr marL="287020" marR="5080" indent="-274955" algn="just">
              <a:lnSpc>
                <a:spcPct val="150000"/>
              </a:lnSpc>
              <a:spcBef>
                <a:spcPts val="480"/>
              </a:spcBef>
              <a:buClr>
                <a:srgbClr val="0AD0D9"/>
              </a:buClr>
              <a:buSzPct val="95000"/>
              <a:buFont typeface="Wingdings"/>
              <a:buChar char=""/>
              <a:tabLst>
                <a:tab pos="287655" algn="l"/>
              </a:tabLst>
            </a:pPr>
            <a:r>
              <a:rPr lang="en-US" sz="2600" dirty="0">
                <a:latin typeface="Cambria"/>
                <a:cs typeface="Cambria"/>
              </a:rPr>
              <a:t>The </a:t>
            </a:r>
            <a:r>
              <a:rPr lang="en-US" sz="2600" spc="-5" dirty="0">
                <a:latin typeface="Cambria"/>
                <a:cs typeface="Cambria"/>
              </a:rPr>
              <a:t>larger </a:t>
            </a:r>
            <a:r>
              <a:rPr lang="en-US" sz="2600" spc="-10" dirty="0">
                <a:latin typeface="Cambria"/>
                <a:cs typeface="Cambria"/>
              </a:rPr>
              <a:t>core radius </a:t>
            </a:r>
            <a:r>
              <a:rPr lang="en-US" sz="2600" spc="-5" dirty="0">
                <a:latin typeface="Cambria"/>
                <a:cs typeface="Cambria"/>
              </a:rPr>
              <a:t>of multimode fibers </a:t>
            </a:r>
            <a:r>
              <a:rPr lang="en-US" sz="2600" spc="-10" dirty="0">
                <a:latin typeface="Cambria"/>
                <a:cs typeface="Cambria"/>
              </a:rPr>
              <a:t>make it </a:t>
            </a:r>
            <a:r>
              <a:rPr lang="en-US" sz="2600" dirty="0">
                <a:latin typeface="Cambria"/>
                <a:cs typeface="Cambria"/>
              </a:rPr>
              <a:t>easier </a:t>
            </a:r>
            <a:r>
              <a:rPr lang="en-US" sz="2600" spc="-10" dirty="0">
                <a:latin typeface="Cambria"/>
                <a:cs typeface="Cambria"/>
              </a:rPr>
              <a:t>to launch  </a:t>
            </a:r>
            <a:r>
              <a:rPr lang="en-US" sz="2600" spc="-5" dirty="0">
                <a:latin typeface="Cambria"/>
                <a:cs typeface="Cambria"/>
              </a:rPr>
              <a:t>optical </a:t>
            </a:r>
            <a:r>
              <a:rPr lang="en-US" sz="2600" spc="-10" dirty="0">
                <a:latin typeface="Cambria"/>
                <a:cs typeface="Cambria"/>
              </a:rPr>
              <a:t>power into </a:t>
            </a:r>
            <a:r>
              <a:rPr lang="en-US" sz="2600" spc="-5" dirty="0">
                <a:latin typeface="Cambria"/>
                <a:cs typeface="Cambria"/>
              </a:rPr>
              <a:t>the fiber </a:t>
            </a:r>
            <a:r>
              <a:rPr lang="en-US" sz="2600" dirty="0">
                <a:latin typeface="Cambria"/>
                <a:cs typeface="Cambria"/>
              </a:rPr>
              <a:t>and </a:t>
            </a:r>
            <a:r>
              <a:rPr lang="en-US" sz="2600" spc="-10" dirty="0">
                <a:latin typeface="Cambria"/>
                <a:cs typeface="Cambria"/>
              </a:rPr>
              <a:t>facilitate </a:t>
            </a:r>
            <a:r>
              <a:rPr lang="en-US" sz="2600" spc="-5" dirty="0">
                <a:latin typeface="Cambria"/>
                <a:cs typeface="Cambria"/>
              </a:rPr>
              <a:t>the end </a:t>
            </a:r>
            <a:r>
              <a:rPr lang="en-US" sz="2600" spc="-10" dirty="0">
                <a:latin typeface="Cambria"/>
                <a:cs typeface="Cambria"/>
              </a:rPr>
              <a:t>to end </a:t>
            </a:r>
            <a:r>
              <a:rPr lang="en-US" sz="2600" spc="-5" dirty="0">
                <a:latin typeface="Cambria"/>
                <a:cs typeface="Cambria"/>
              </a:rPr>
              <a:t>connection </a:t>
            </a:r>
            <a:r>
              <a:rPr lang="en-US" sz="2600" spc="-10" dirty="0">
                <a:latin typeface="Cambria"/>
                <a:cs typeface="Cambria"/>
              </a:rPr>
              <a:t>of  </a:t>
            </a:r>
            <a:r>
              <a:rPr lang="en-US" sz="2600" spc="-5" dirty="0">
                <a:latin typeface="Cambria"/>
                <a:cs typeface="Cambria"/>
              </a:rPr>
              <a:t>similar</a:t>
            </a:r>
            <a:r>
              <a:rPr lang="en-US" sz="2600" spc="-40" dirty="0">
                <a:latin typeface="Cambria"/>
                <a:cs typeface="Cambria"/>
              </a:rPr>
              <a:t> </a:t>
            </a:r>
            <a:r>
              <a:rPr lang="en-US" sz="2600" spc="-10" dirty="0">
                <a:latin typeface="Cambria"/>
                <a:cs typeface="Cambria"/>
              </a:rPr>
              <a:t>powers.</a:t>
            </a:r>
          </a:p>
          <a:p>
            <a:pPr marL="287020" marR="5080" indent="-274955" algn="just">
              <a:lnSpc>
                <a:spcPct val="150000"/>
              </a:lnSpc>
              <a:spcBef>
                <a:spcPts val="480"/>
              </a:spcBef>
              <a:buClr>
                <a:srgbClr val="0AD0D9"/>
              </a:buClr>
              <a:buSzPct val="95000"/>
              <a:buFont typeface="Wingdings"/>
              <a:buChar char=""/>
              <a:tabLst>
                <a:tab pos="287655" algn="l"/>
              </a:tabLst>
            </a:pPr>
            <a:endParaRPr lang="en-US" dirty="0">
              <a:latin typeface="Cambria"/>
              <a:cs typeface="Cambria"/>
            </a:endParaRPr>
          </a:p>
          <a:p>
            <a:pPr marL="0" indent="0">
              <a:buNone/>
            </a:pPr>
            <a:endParaRPr lang="en-US" dirty="0"/>
          </a:p>
          <a:p>
            <a:pPr marL="0" indent="0">
              <a:buNone/>
            </a:pPr>
            <a:endParaRPr lang="en-US" dirty="0"/>
          </a:p>
          <a:p>
            <a:pPr marL="0" indent="0">
              <a:buNone/>
            </a:pPr>
            <a:endParaRPr lang="en-US" dirty="0"/>
          </a:p>
          <a:p>
            <a:pPr marL="0" indent="0">
              <a:buNone/>
            </a:pPr>
            <a:r>
              <a:rPr lang="en-US" dirty="0"/>
              <a:t>                          </a:t>
            </a:r>
            <a:r>
              <a:rPr lang="en-US" sz="1600" dirty="0">
                <a:latin typeface="Cambria" panose="02040503050406030204" pitchFamily="18" charset="0"/>
                <a:ea typeface="Cambria" panose="02040503050406030204" pitchFamily="18" charset="0"/>
              </a:rPr>
              <a:t>Figure 2.10 Multimode Optical Fiber [8]</a:t>
            </a:r>
          </a:p>
        </p:txBody>
      </p:sp>
      <p:sp>
        <p:nvSpPr>
          <p:cNvPr id="5" name="Slide Number Placeholder 4"/>
          <p:cNvSpPr>
            <a:spLocks noGrp="1"/>
          </p:cNvSpPr>
          <p:nvPr>
            <p:ph type="sldNum" sz="quarter" idx="12"/>
          </p:nvPr>
        </p:nvSpPr>
        <p:spPr/>
        <p:txBody>
          <a:bodyPr/>
          <a:lstStyle/>
          <a:p>
            <a:fld id="{BDCDBBEF-AA6C-4BA6-85B2-A17D7F280E38}" type="slidenum">
              <a:rPr lang="en-US" smtClean="0"/>
              <a:t>29</a:t>
            </a:fld>
            <a:endParaRPr lang="en-US"/>
          </a:p>
        </p:txBody>
      </p:sp>
      <p:pic>
        <p:nvPicPr>
          <p:cNvPr id="6" name="Picture 5"/>
          <p:cNvPicPr>
            <a:picLocks noChangeAspect="1"/>
          </p:cNvPicPr>
          <p:nvPr/>
        </p:nvPicPr>
        <p:blipFill>
          <a:blip r:embed="rId2"/>
          <a:stretch>
            <a:fillRect/>
          </a:stretch>
        </p:blipFill>
        <p:spPr>
          <a:xfrm>
            <a:off x="2573191" y="3630443"/>
            <a:ext cx="5466945" cy="1880349"/>
          </a:xfrm>
          <a:prstGeom prst="rect">
            <a:avLst/>
          </a:prstGeom>
        </p:spPr>
      </p:pic>
    </p:spTree>
    <p:extLst>
      <p:ext uri="{BB962C8B-B14F-4D97-AF65-F5344CB8AC3E}">
        <p14:creationId xmlns:p14="http://schemas.microsoft.com/office/powerpoint/2010/main" val="15175048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668" y="0"/>
            <a:ext cx="9724966" cy="1186774"/>
          </a:xfrm>
        </p:spPr>
        <p:txBody>
          <a:bodyPr>
            <a:noAutofit/>
          </a:bodyPr>
          <a:lstStyle/>
          <a:p>
            <a:r>
              <a:rPr lang="en-US" sz="4400" b="1" spc="-10" dirty="0">
                <a:latin typeface="Cambria" panose="02040503050406030204" pitchFamily="18" charset="0"/>
                <a:ea typeface="Cambria" panose="02040503050406030204" pitchFamily="18" charset="0"/>
              </a:rPr>
              <a:t>Advantages </a:t>
            </a:r>
            <a:r>
              <a:rPr lang="en-US" sz="4400" b="1" spc="-5" dirty="0">
                <a:latin typeface="Cambria" panose="02040503050406030204" pitchFamily="18" charset="0"/>
                <a:ea typeface="Cambria" panose="02040503050406030204" pitchFamily="18" charset="0"/>
              </a:rPr>
              <a:t>of </a:t>
            </a:r>
            <a:r>
              <a:rPr lang="en-US" sz="4400" b="1" spc="-10" dirty="0">
                <a:latin typeface="Cambria" panose="02040503050406030204" pitchFamily="18" charset="0"/>
                <a:ea typeface="Cambria" panose="02040503050406030204" pitchFamily="18" charset="0"/>
              </a:rPr>
              <a:t>Multi- </a:t>
            </a:r>
            <a:r>
              <a:rPr lang="en-US" sz="4400" b="1" spc="-5" dirty="0">
                <a:latin typeface="Cambria" panose="02040503050406030204" pitchFamily="18" charset="0"/>
                <a:ea typeface="Cambria" panose="02040503050406030204" pitchFamily="18" charset="0"/>
              </a:rPr>
              <a:t>Mode</a:t>
            </a:r>
            <a:r>
              <a:rPr lang="en-US" sz="4400" b="1" spc="-25" dirty="0">
                <a:latin typeface="Cambria" panose="02040503050406030204" pitchFamily="18" charset="0"/>
                <a:ea typeface="Cambria" panose="02040503050406030204" pitchFamily="18" charset="0"/>
              </a:rPr>
              <a:t> </a:t>
            </a:r>
            <a:r>
              <a:rPr lang="en-US" sz="4400" b="1" spc="-10" dirty="0">
                <a:latin typeface="Cambria" panose="02040503050406030204" pitchFamily="18" charset="0"/>
                <a:ea typeface="Cambria" panose="02040503050406030204" pitchFamily="18" charset="0"/>
              </a:rPr>
              <a:t>Fiber</a:t>
            </a:r>
            <a:endParaRPr lang="en-US" sz="4400" dirty="0"/>
          </a:p>
        </p:txBody>
      </p:sp>
      <p:sp>
        <p:nvSpPr>
          <p:cNvPr id="3" name="Content Placeholder 2"/>
          <p:cNvSpPr>
            <a:spLocks noGrp="1"/>
          </p:cNvSpPr>
          <p:nvPr>
            <p:ph idx="1"/>
          </p:nvPr>
        </p:nvSpPr>
        <p:spPr>
          <a:xfrm>
            <a:off x="797668" y="1186775"/>
            <a:ext cx="9978184" cy="3835391"/>
          </a:xfrm>
        </p:spPr>
        <p:txBody>
          <a:bodyPr>
            <a:normAutofit/>
          </a:bodyPr>
          <a:lstStyle/>
          <a:p>
            <a:pPr marL="835025" lvl="1" indent="-457200">
              <a:lnSpc>
                <a:spcPct val="100000"/>
              </a:lnSpc>
              <a:spcBef>
                <a:spcPts val="615"/>
              </a:spcBef>
              <a:buClr>
                <a:srgbClr val="93B6D2"/>
              </a:buClr>
              <a:buSzPct val="69230"/>
              <a:buFont typeface="Wingdings" panose="05000000000000000000" pitchFamily="2" charset="2"/>
              <a:buChar char="Ø"/>
              <a:tabLst>
                <a:tab pos="653415" algn="l"/>
              </a:tabLst>
            </a:pPr>
            <a:r>
              <a:rPr lang="en-US" sz="2400" dirty="0">
                <a:latin typeface="Cambria" panose="02040503050406030204" pitchFamily="18" charset="0"/>
                <a:ea typeface="Cambria" panose="02040503050406030204" pitchFamily="18" charset="0"/>
              </a:rPr>
              <a:t>With a larger fiber core and good alignment tolerances</a:t>
            </a:r>
            <a:endParaRPr lang="en-US" sz="2400" dirty="0">
              <a:latin typeface="Cambria" panose="02040503050406030204" pitchFamily="18" charset="0"/>
              <a:ea typeface="Cambria" panose="02040503050406030204" pitchFamily="18" charset="0"/>
              <a:cs typeface="Arial"/>
            </a:endParaRPr>
          </a:p>
          <a:p>
            <a:pPr marL="835025" lvl="1" indent="-457200">
              <a:lnSpc>
                <a:spcPct val="100000"/>
              </a:lnSpc>
              <a:spcBef>
                <a:spcPts val="615"/>
              </a:spcBef>
              <a:buClr>
                <a:srgbClr val="93B6D2"/>
              </a:buClr>
              <a:buSzPct val="69230"/>
              <a:buFont typeface="Wingdings" panose="05000000000000000000" pitchFamily="2" charset="2"/>
              <a:buChar char="Ø"/>
              <a:tabLst>
                <a:tab pos="653415" algn="l"/>
              </a:tabLst>
            </a:pPr>
            <a:r>
              <a:rPr lang="en-US" sz="2400" dirty="0">
                <a:latin typeface="Cambria" panose="02040503050406030204" pitchFamily="18" charset="0"/>
                <a:ea typeface="Cambria" panose="02040503050406030204" pitchFamily="18" charset="0"/>
                <a:cs typeface="Arial"/>
              </a:rPr>
              <a:t>inexpensive</a:t>
            </a:r>
          </a:p>
          <a:p>
            <a:pPr marL="835025" lvl="1" indent="-457200">
              <a:lnSpc>
                <a:spcPct val="100000"/>
              </a:lnSpc>
              <a:spcBef>
                <a:spcPts val="600"/>
              </a:spcBef>
              <a:buClr>
                <a:srgbClr val="93B6D2"/>
              </a:buClr>
              <a:buSzPct val="69230"/>
              <a:buFont typeface="Wingdings" panose="05000000000000000000" pitchFamily="2" charset="2"/>
              <a:buChar char="Ø"/>
              <a:tabLst>
                <a:tab pos="653415" algn="l"/>
              </a:tabLst>
            </a:pPr>
            <a:r>
              <a:rPr lang="en-US" sz="2400" dirty="0">
                <a:latin typeface="Cambria" panose="02040503050406030204" pitchFamily="18" charset="0"/>
                <a:ea typeface="Cambria" panose="02040503050406030204" pitchFamily="18" charset="0"/>
                <a:cs typeface="Arial"/>
              </a:rPr>
              <a:t>easy to couple light into</a:t>
            </a:r>
            <a:r>
              <a:rPr lang="en-US" sz="2400" spc="-20"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Fiber</a:t>
            </a:r>
          </a:p>
          <a:p>
            <a:pPr marL="835025" lvl="1" indent="-457200">
              <a:lnSpc>
                <a:spcPct val="100000"/>
              </a:lnSpc>
              <a:spcBef>
                <a:spcPts val="600"/>
              </a:spcBef>
              <a:buClr>
                <a:srgbClr val="93B6D2"/>
              </a:buClr>
              <a:buSzPct val="69230"/>
              <a:buFont typeface="Wingdings" panose="05000000000000000000" pitchFamily="2" charset="2"/>
              <a:buChar char="Ø"/>
              <a:tabLst>
                <a:tab pos="653415" algn="l"/>
              </a:tabLst>
            </a:pPr>
            <a:r>
              <a:rPr lang="en-US" sz="2400" dirty="0">
                <a:latin typeface="Cambria" panose="02040503050406030204" pitchFamily="18" charset="0"/>
                <a:ea typeface="Cambria" panose="02040503050406030204" pitchFamily="18" charset="0"/>
              </a:rPr>
              <a:t>multimode fiber cable also provides high speed and high bandwidth over short distances. </a:t>
            </a:r>
          </a:p>
          <a:p>
            <a:pPr marL="835025" lvl="1" indent="-457200">
              <a:lnSpc>
                <a:spcPct val="100000"/>
              </a:lnSpc>
              <a:spcBef>
                <a:spcPts val="600"/>
              </a:spcBef>
              <a:buClr>
                <a:srgbClr val="93B6D2"/>
              </a:buClr>
              <a:buSzPct val="69230"/>
              <a:buFont typeface="Wingdings" panose="05000000000000000000" pitchFamily="2" charset="2"/>
              <a:buChar char="Ø"/>
              <a:tabLst>
                <a:tab pos="653415" algn="l"/>
              </a:tabLst>
            </a:pPr>
            <a:r>
              <a:rPr lang="en-US" sz="2400" dirty="0">
                <a:latin typeface="Cambria" panose="02040503050406030204" pitchFamily="18" charset="0"/>
                <a:ea typeface="Cambria" panose="02040503050406030204" pitchFamily="18" charset="0"/>
              </a:rPr>
              <a:t>multimode fiber cable is often used in data and audio/video applications in LANs.</a:t>
            </a:r>
            <a:endParaRPr lang="en-US" sz="2400" dirty="0">
              <a:latin typeface="Cambria" panose="02040503050406030204" pitchFamily="18" charset="0"/>
              <a:ea typeface="Cambria" panose="02040503050406030204" pitchFamily="18" charset="0"/>
              <a:cs typeface="Arial"/>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30</a:t>
            </a:fld>
            <a:endParaRPr lang="en-US"/>
          </a:p>
        </p:txBody>
      </p:sp>
    </p:spTree>
    <p:extLst>
      <p:ext uri="{BB962C8B-B14F-4D97-AF65-F5344CB8AC3E}">
        <p14:creationId xmlns:p14="http://schemas.microsoft.com/office/powerpoint/2010/main" val="1769136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0"/>
            <a:ext cx="9666084" cy="987425"/>
          </a:xfrm>
        </p:spPr>
        <p:txBody>
          <a:bodyPr>
            <a:noAutofit/>
          </a:bodyPr>
          <a:lstStyle/>
          <a:p>
            <a:r>
              <a:rPr lang="en-US" sz="4400" b="1" spc="-10" dirty="0">
                <a:latin typeface="Cambria" panose="02040503050406030204" pitchFamily="18" charset="0"/>
                <a:ea typeface="Cambria" panose="02040503050406030204" pitchFamily="18" charset="0"/>
              </a:rPr>
              <a:t>Disadvantages </a:t>
            </a:r>
            <a:r>
              <a:rPr lang="en-US" sz="4400" b="1" spc="-5" dirty="0">
                <a:latin typeface="Cambria" panose="02040503050406030204" pitchFamily="18" charset="0"/>
                <a:ea typeface="Cambria" panose="02040503050406030204" pitchFamily="18" charset="0"/>
              </a:rPr>
              <a:t>of </a:t>
            </a:r>
            <a:r>
              <a:rPr lang="en-US" sz="4400" b="1" spc="-10" dirty="0">
                <a:latin typeface="Cambria" panose="02040503050406030204" pitchFamily="18" charset="0"/>
                <a:ea typeface="Cambria" panose="02040503050406030204" pitchFamily="18" charset="0"/>
              </a:rPr>
              <a:t>Multi-</a:t>
            </a:r>
            <a:r>
              <a:rPr lang="en-US" sz="4400" b="1" spc="-5" dirty="0">
                <a:latin typeface="Cambria" panose="02040503050406030204" pitchFamily="18" charset="0"/>
                <a:ea typeface="Cambria" panose="02040503050406030204" pitchFamily="18" charset="0"/>
              </a:rPr>
              <a:t>Mode</a:t>
            </a:r>
            <a:r>
              <a:rPr lang="en-US" sz="4400" b="1" spc="-25" dirty="0">
                <a:latin typeface="Cambria" panose="02040503050406030204" pitchFamily="18" charset="0"/>
                <a:ea typeface="Cambria" panose="02040503050406030204" pitchFamily="18" charset="0"/>
              </a:rPr>
              <a:t> </a:t>
            </a:r>
            <a:r>
              <a:rPr lang="en-US" sz="4400" b="1" spc="-10" dirty="0">
                <a:latin typeface="Cambria" panose="02040503050406030204" pitchFamily="18" charset="0"/>
                <a:ea typeface="Cambria" panose="02040503050406030204" pitchFamily="18" charset="0"/>
              </a:rPr>
              <a:t>Fiber</a:t>
            </a:r>
            <a:endParaRPr lang="en-US" sz="4400" dirty="0"/>
          </a:p>
        </p:txBody>
      </p:sp>
      <p:sp>
        <p:nvSpPr>
          <p:cNvPr id="3" name="Content Placeholder 2"/>
          <p:cNvSpPr>
            <a:spLocks noGrp="1"/>
          </p:cNvSpPr>
          <p:nvPr>
            <p:ph idx="1"/>
          </p:nvPr>
        </p:nvSpPr>
        <p:spPr>
          <a:xfrm>
            <a:off x="1026942" y="2124222"/>
            <a:ext cx="10328446" cy="3736828"/>
          </a:xfrm>
        </p:spPr>
        <p:txBody>
          <a:bodyPr/>
          <a:lstStyle/>
          <a:p>
            <a:pPr marL="571500" lvl="1" indent="-571500">
              <a:spcBef>
                <a:spcPts val="1000"/>
              </a:spcBef>
              <a:buFont typeface="Wingdings" panose="05000000000000000000" pitchFamily="2" charset="2"/>
              <a:buChar char="Ø"/>
            </a:pPr>
            <a:r>
              <a:rPr lang="en-US" sz="2400" dirty="0">
                <a:latin typeface="Cambria" panose="02040503050406030204" pitchFamily="18" charset="0"/>
                <a:ea typeface="Cambria" panose="02040503050406030204" pitchFamily="18" charset="0"/>
              </a:rPr>
              <a:t> Multimode fiber cable has high dispersion and attenuation rate</a:t>
            </a:r>
          </a:p>
          <a:p>
            <a:pPr marL="0" lvl="1" indent="0">
              <a:spcBef>
                <a:spcPts val="1000"/>
              </a:spcBef>
              <a:buNone/>
            </a:pPr>
            <a:endParaRPr lang="en-US" sz="2400" dirty="0">
              <a:latin typeface="Cambria" panose="02040503050406030204" pitchFamily="18" charset="0"/>
              <a:ea typeface="Cambria" panose="02040503050406030204" pitchFamily="18" charset="0"/>
              <a:cs typeface="Arial"/>
            </a:endParaRPr>
          </a:p>
          <a:p>
            <a:pPr marL="571500" lvl="1" indent="-571500">
              <a:spcBef>
                <a:spcPts val="1000"/>
              </a:spcBef>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quality of optical signals is reduced as the transmission distance is getting longer.</a:t>
            </a:r>
          </a:p>
          <a:p>
            <a:pPr marL="0" lvl="1" indent="0">
              <a:spcBef>
                <a:spcPts val="1000"/>
              </a:spcBef>
              <a:buNone/>
            </a:pPr>
            <a:endParaRPr lang="en-US" sz="3800" dirty="0">
              <a:latin typeface="Cambria" panose="02040503050406030204" pitchFamily="18" charset="0"/>
              <a:ea typeface="Cambria" panose="02040503050406030204" pitchFamily="18" charset="0"/>
              <a:cs typeface="Arial"/>
            </a:endParaRPr>
          </a:p>
          <a:p>
            <a:pPr marL="0" indent="0" algn="r">
              <a:buNone/>
            </a:pPr>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31</a:t>
            </a:fld>
            <a:endParaRPr lang="en-US"/>
          </a:p>
        </p:txBody>
      </p:sp>
    </p:spTree>
    <p:extLst>
      <p:ext uri="{BB962C8B-B14F-4D97-AF65-F5344CB8AC3E}">
        <p14:creationId xmlns:p14="http://schemas.microsoft.com/office/powerpoint/2010/main" val="3085922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357" y="323556"/>
            <a:ext cx="6035040" cy="1209822"/>
          </a:xfrm>
        </p:spPr>
        <p:txBody>
          <a:bodyPr>
            <a:noAutofit/>
          </a:bodyPr>
          <a:lstStyle/>
          <a:p>
            <a:r>
              <a:rPr lang="en-US" sz="4400" b="1" spc="-15" dirty="0">
                <a:latin typeface="Cambria"/>
                <a:cs typeface="Cambria"/>
              </a:rPr>
              <a:t>Step </a:t>
            </a:r>
            <a:r>
              <a:rPr lang="en-US" sz="4400" b="1" spc="-20" dirty="0">
                <a:latin typeface="Cambria"/>
                <a:cs typeface="Cambria"/>
              </a:rPr>
              <a:t>index </a:t>
            </a:r>
            <a:r>
              <a:rPr lang="en-US" sz="4400" b="1" spc="-10" dirty="0">
                <a:latin typeface="Cambria"/>
                <a:cs typeface="Cambria"/>
              </a:rPr>
              <a:t>fiber</a:t>
            </a:r>
            <a:r>
              <a:rPr lang="en-US" sz="4400" b="1" spc="40" dirty="0">
                <a:latin typeface="Cambria"/>
                <a:cs typeface="Cambria"/>
              </a:rPr>
              <a:t> </a:t>
            </a:r>
            <a:br>
              <a:rPr lang="en-US" sz="4400" dirty="0">
                <a:latin typeface="Cambria"/>
                <a:cs typeface="Cambria"/>
              </a:rPr>
            </a:br>
            <a:endParaRPr lang="en-US" sz="4400" dirty="0"/>
          </a:p>
        </p:txBody>
      </p:sp>
      <p:sp>
        <p:nvSpPr>
          <p:cNvPr id="5" name="Slide Number Placeholder 4"/>
          <p:cNvSpPr>
            <a:spLocks noGrp="1"/>
          </p:cNvSpPr>
          <p:nvPr>
            <p:ph type="sldNum" sz="quarter" idx="12"/>
          </p:nvPr>
        </p:nvSpPr>
        <p:spPr/>
        <p:txBody>
          <a:bodyPr/>
          <a:lstStyle/>
          <a:p>
            <a:fld id="{BDCDBBEF-AA6C-4BA6-85B2-A17D7F280E38}" type="slidenum">
              <a:rPr lang="en-US" smtClean="0"/>
              <a:t>32</a:t>
            </a:fld>
            <a:endParaRPr lang="en-US"/>
          </a:p>
        </p:txBody>
      </p:sp>
      <p:sp>
        <p:nvSpPr>
          <p:cNvPr id="6" name="object 4"/>
          <p:cNvSpPr txBox="1">
            <a:spLocks noGrp="1"/>
          </p:cNvSpPr>
          <p:nvPr>
            <p:ph idx="1"/>
          </p:nvPr>
        </p:nvSpPr>
        <p:spPr>
          <a:xfrm>
            <a:off x="886265" y="1206230"/>
            <a:ext cx="10367889" cy="5210144"/>
          </a:xfrm>
          <a:prstGeom prst="rect">
            <a:avLst/>
          </a:prstGeom>
        </p:spPr>
        <p:txBody>
          <a:bodyPr vert="horz" wrap="square" lIns="0" tIns="248920" rIns="0" bIns="0" rtlCol="0">
            <a:spAutoFit/>
          </a:bodyPr>
          <a:lstStyle/>
          <a:p>
            <a:pPr marL="287020" marR="5080" indent="-274955" algn="just">
              <a:lnSpc>
                <a:spcPct val="130000"/>
              </a:lnSpc>
              <a:spcBef>
                <a:spcPts val="640"/>
              </a:spcBef>
              <a:buClr>
                <a:srgbClr val="0AD0D9"/>
              </a:buClr>
              <a:buSzPct val="95238"/>
              <a:buFont typeface="Wingdings"/>
              <a:buChar char=""/>
              <a:tabLst>
                <a:tab pos="287655" algn="l"/>
              </a:tabLst>
            </a:pPr>
            <a:r>
              <a:rPr sz="2400" dirty="0">
                <a:latin typeface="Cambria"/>
                <a:cs typeface="Cambria"/>
              </a:rPr>
              <a:t>In a </a:t>
            </a:r>
            <a:r>
              <a:rPr sz="2400" spc="-10" dirty="0">
                <a:latin typeface="Cambria"/>
                <a:cs typeface="Cambria"/>
              </a:rPr>
              <a:t>step </a:t>
            </a:r>
            <a:r>
              <a:rPr sz="2400" spc="-5" dirty="0">
                <a:latin typeface="Cambria"/>
                <a:cs typeface="Cambria"/>
              </a:rPr>
              <a:t>index </a:t>
            </a:r>
            <a:r>
              <a:rPr sz="2400" spc="-40" dirty="0">
                <a:latin typeface="Cambria"/>
                <a:cs typeface="Cambria"/>
              </a:rPr>
              <a:t>fiber, </a:t>
            </a:r>
            <a:r>
              <a:rPr sz="2400" spc="-5" dirty="0">
                <a:latin typeface="Cambria"/>
                <a:cs typeface="Cambria"/>
              </a:rPr>
              <a:t>the </a:t>
            </a:r>
            <a:r>
              <a:rPr sz="2400" spc="-20" dirty="0">
                <a:latin typeface="Cambria"/>
                <a:cs typeface="Cambria"/>
              </a:rPr>
              <a:t>refractive </a:t>
            </a:r>
            <a:r>
              <a:rPr sz="2400" spc="-5" dirty="0">
                <a:latin typeface="Cambria"/>
                <a:cs typeface="Cambria"/>
              </a:rPr>
              <a:t>index changes </a:t>
            </a:r>
            <a:r>
              <a:rPr sz="2400" dirty="0">
                <a:latin typeface="Cambria"/>
                <a:cs typeface="Cambria"/>
              </a:rPr>
              <a:t>in a </a:t>
            </a:r>
            <a:r>
              <a:rPr sz="2400" spc="-10" dirty="0">
                <a:latin typeface="Cambria"/>
                <a:cs typeface="Cambria"/>
              </a:rPr>
              <a:t>step </a:t>
            </a:r>
            <a:r>
              <a:rPr sz="2400" spc="-5" dirty="0">
                <a:latin typeface="Cambria"/>
                <a:cs typeface="Cambria"/>
              </a:rPr>
              <a:t>fashion,  </a:t>
            </a:r>
            <a:r>
              <a:rPr sz="2400" spc="-15" dirty="0">
                <a:latin typeface="Cambria"/>
                <a:cs typeface="Cambria"/>
              </a:rPr>
              <a:t>from </a:t>
            </a:r>
            <a:r>
              <a:rPr sz="2400" spc="-5" dirty="0">
                <a:latin typeface="Cambria"/>
                <a:cs typeface="Cambria"/>
              </a:rPr>
              <a:t>the </a:t>
            </a:r>
            <a:r>
              <a:rPr sz="2400" spc="-15" dirty="0">
                <a:latin typeface="Cambria"/>
                <a:cs typeface="Cambria"/>
              </a:rPr>
              <a:t>centre </a:t>
            </a:r>
            <a:r>
              <a:rPr sz="2400" dirty="0">
                <a:latin typeface="Cambria"/>
                <a:cs typeface="Cambria"/>
              </a:rPr>
              <a:t>of </a:t>
            </a:r>
            <a:r>
              <a:rPr sz="2400" spc="-5" dirty="0">
                <a:latin typeface="Cambria"/>
                <a:cs typeface="Cambria"/>
              </a:rPr>
              <a:t>the </a:t>
            </a:r>
            <a:r>
              <a:rPr sz="2400" spc="-40" dirty="0">
                <a:latin typeface="Cambria"/>
                <a:cs typeface="Cambria"/>
              </a:rPr>
              <a:t>fiber, </a:t>
            </a:r>
            <a:r>
              <a:rPr sz="2400" spc="-5" dirty="0">
                <a:latin typeface="Cambria"/>
                <a:cs typeface="Cambria"/>
              </a:rPr>
              <a:t>the </a:t>
            </a:r>
            <a:r>
              <a:rPr sz="2400" spc="-10" dirty="0">
                <a:latin typeface="Cambria"/>
                <a:cs typeface="Cambria"/>
              </a:rPr>
              <a:t>core, </a:t>
            </a:r>
            <a:r>
              <a:rPr sz="2400" spc="-15" dirty="0">
                <a:latin typeface="Cambria"/>
                <a:cs typeface="Cambria"/>
              </a:rPr>
              <a:t>to </a:t>
            </a:r>
            <a:r>
              <a:rPr sz="2400" spc="-5" dirty="0">
                <a:latin typeface="Cambria"/>
                <a:cs typeface="Cambria"/>
              </a:rPr>
              <a:t>the outer </a:t>
            </a:r>
            <a:r>
              <a:rPr sz="2400" dirty="0">
                <a:latin typeface="Cambria"/>
                <a:cs typeface="Cambria"/>
              </a:rPr>
              <a:t>shell, </a:t>
            </a:r>
            <a:r>
              <a:rPr sz="2400" spc="-5" dirty="0">
                <a:latin typeface="Cambria"/>
                <a:cs typeface="Cambria"/>
              </a:rPr>
              <a:t>the</a:t>
            </a:r>
            <a:r>
              <a:rPr sz="2400" spc="150" dirty="0">
                <a:latin typeface="Cambria"/>
                <a:cs typeface="Cambria"/>
              </a:rPr>
              <a:t> </a:t>
            </a:r>
            <a:r>
              <a:rPr sz="2400" dirty="0">
                <a:latin typeface="Cambria"/>
                <a:cs typeface="Cambria"/>
              </a:rPr>
              <a:t>cladding.</a:t>
            </a:r>
          </a:p>
          <a:p>
            <a:pPr marL="287020" indent="-274955" algn="just">
              <a:lnSpc>
                <a:spcPct val="100000"/>
              </a:lnSpc>
              <a:spcBef>
                <a:spcPts val="1260"/>
              </a:spcBef>
              <a:buClr>
                <a:srgbClr val="0AD0D9"/>
              </a:buClr>
              <a:buSzPct val="95238"/>
              <a:buFont typeface="Wingdings"/>
              <a:buChar char=""/>
              <a:tabLst>
                <a:tab pos="287655" algn="l"/>
              </a:tabLst>
            </a:pPr>
            <a:r>
              <a:rPr sz="2400" dirty="0">
                <a:latin typeface="Cambria"/>
                <a:cs typeface="Cambria"/>
              </a:rPr>
              <a:t>It</a:t>
            </a:r>
            <a:r>
              <a:rPr sz="2400" spc="80" dirty="0">
                <a:latin typeface="Cambria"/>
                <a:cs typeface="Cambria"/>
              </a:rPr>
              <a:t> </a:t>
            </a:r>
            <a:r>
              <a:rPr sz="2400" dirty="0">
                <a:latin typeface="Cambria"/>
                <a:cs typeface="Cambria"/>
              </a:rPr>
              <a:t>is</a:t>
            </a:r>
            <a:r>
              <a:rPr sz="2400" spc="70" dirty="0">
                <a:latin typeface="Cambria"/>
                <a:cs typeface="Cambria"/>
              </a:rPr>
              <a:t> </a:t>
            </a:r>
            <a:r>
              <a:rPr sz="2400" spc="-5" dirty="0">
                <a:latin typeface="Cambria"/>
                <a:cs typeface="Cambria"/>
              </a:rPr>
              <a:t>high</a:t>
            </a:r>
            <a:r>
              <a:rPr sz="2400" spc="75" dirty="0">
                <a:latin typeface="Cambria"/>
                <a:cs typeface="Cambria"/>
              </a:rPr>
              <a:t> </a:t>
            </a:r>
            <a:r>
              <a:rPr sz="2400" dirty="0">
                <a:latin typeface="Cambria"/>
                <a:cs typeface="Cambria"/>
              </a:rPr>
              <a:t>in</a:t>
            </a:r>
            <a:r>
              <a:rPr sz="2400" spc="80" dirty="0">
                <a:latin typeface="Cambria"/>
                <a:cs typeface="Cambria"/>
              </a:rPr>
              <a:t> </a:t>
            </a:r>
            <a:r>
              <a:rPr sz="2400" spc="-5" dirty="0">
                <a:latin typeface="Cambria"/>
                <a:cs typeface="Cambria"/>
              </a:rPr>
              <a:t>the</a:t>
            </a:r>
            <a:r>
              <a:rPr sz="2400" spc="90" dirty="0">
                <a:latin typeface="Cambria"/>
                <a:cs typeface="Cambria"/>
              </a:rPr>
              <a:t> </a:t>
            </a:r>
            <a:r>
              <a:rPr sz="2400" spc="-15" dirty="0">
                <a:latin typeface="Cambria"/>
                <a:cs typeface="Cambria"/>
              </a:rPr>
              <a:t>core</a:t>
            </a:r>
            <a:r>
              <a:rPr sz="2400" spc="80" dirty="0">
                <a:latin typeface="Cambria"/>
                <a:cs typeface="Cambria"/>
              </a:rPr>
              <a:t> </a:t>
            </a:r>
            <a:r>
              <a:rPr sz="2400" spc="-5" dirty="0">
                <a:latin typeface="Cambria"/>
                <a:cs typeface="Cambria"/>
              </a:rPr>
              <a:t>and</a:t>
            </a:r>
            <a:r>
              <a:rPr sz="2400" spc="85" dirty="0">
                <a:latin typeface="Cambria"/>
                <a:cs typeface="Cambria"/>
              </a:rPr>
              <a:t> </a:t>
            </a:r>
            <a:r>
              <a:rPr sz="2400" spc="-10" dirty="0">
                <a:latin typeface="Cambria"/>
                <a:cs typeface="Cambria"/>
              </a:rPr>
              <a:t>lower</a:t>
            </a:r>
            <a:r>
              <a:rPr sz="2400" spc="65" dirty="0">
                <a:latin typeface="Cambria"/>
                <a:cs typeface="Cambria"/>
              </a:rPr>
              <a:t> </a:t>
            </a:r>
            <a:r>
              <a:rPr sz="2400" dirty="0">
                <a:latin typeface="Cambria"/>
                <a:cs typeface="Cambria"/>
              </a:rPr>
              <a:t>in</a:t>
            </a:r>
            <a:r>
              <a:rPr sz="2400" spc="90" dirty="0">
                <a:latin typeface="Cambria"/>
                <a:cs typeface="Cambria"/>
              </a:rPr>
              <a:t> </a:t>
            </a:r>
            <a:r>
              <a:rPr sz="2400" spc="-5" dirty="0">
                <a:latin typeface="Cambria"/>
                <a:cs typeface="Cambria"/>
              </a:rPr>
              <a:t>the</a:t>
            </a:r>
            <a:r>
              <a:rPr sz="2400" spc="75" dirty="0">
                <a:latin typeface="Cambria"/>
                <a:cs typeface="Cambria"/>
              </a:rPr>
              <a:t> </a:t>
            </a:r>
            <a:r>
              <a:rPr sz="2400" dirty="0">
                <a:latin typeface="Cambria"/>
                <a:cs typeface="Cambria"/>
              </a:rPr>
              <a:t>cladding.</a:t>
            </a:r>
            <a:r>
              <a:rPr sz="2400" spc="85" dirty="0">
                <a:latin typeface="Cambria"/>
                <a:cs typeface="Cambria"/>
              </a:rPr>
              <a:t> </a:t>
            </a:r>
            <a:r>
              <a:rPr sz="2400" dirty="0">
                <a:latin typeface="Cambria"/>
                <a:cs typeface="Cambria"/>
              </a:rPr>
              <a:t>The</a:t>
            </a:r>
            <a:r>
              <a:rPr sz="2400" spc="85" dirty="0">
                <a:latin typeface="Cambria"/>
                <a:cs typeface="Cambria"/>
              </a:rPr>
              <a:t> </a:t>
            </a:r>
            <a:r>
              <a:rPr sz="2400" spc="-10" dirty="0">
                <a:latin typeface="Cambria"/>
                <a:cs typeface="Cambria"/>
              </a:rPr>
              <a:t>light</a:t>
            </a:r>
            <a:r>
              <a:rPr sz="2400" spc="85" dirty="0">
                <a:latin typeface="Cambria"/>
                <a:cs typeface="Cambria"/>
              </a:rPr>
              <a:t> </a:t>
            </a:r>
            <a:r>
              <a:rPr sz="2400" dirty="0">
                <a:latin typeface="Cambria"/>
                <a:cs typeface="Cambria"/>
              </a:rPr>
              <a:t>in</a:t>
            </a:r>
            <a:r>
              <a:rPr sz="2400" spc="90" dirty="0">
                <a:latin typeface="Cambria"/>
                <a:cs typeface="Cambria"/>
              </a:rPr>
              <a:t> </a:t>
            </a:r>
            <a:r>
              <a:rPr sz="2400" spc="-5" dirty="0">
                <a:latin typeface="Cambria"/>
                <a:cs typeface="Cambria"/>
              </a:rPr>
              <a:t>the</a:t>
            </a:r>
            <a:r>
              <a:rPr sz="2400" spc="90" dirty="0">
                <a:latin typeface="Cambria"/>
                <a:cs typeface="Cambria"/>
              </a:rPr>
              <a:t> </a:t>
            </a:r>
            <a:r>
              <a:rPr sz="2400" spc="-5" dirty="0">
                <a:latin typeface="Cambria"/>
                <a:cs typeface="Cambria"/>
              </a:rPr>
              <a:t>fiber</a:t>
            </a:r>
            <a:r>
              <a:rPr lang="en-US" sz="2400" dirty="0">
                <a:latin typeface="Cambria"/>
                <a:cs typeface="Cambria"/>
              </a:rPr>
              <a:t> </a:t>
            </a:r>
            <a:r>
              <a:rPr sz="2400" spc="-15" dirty="0">
                <a:latin typeface="Cambria"/>
                <a:cs typeface="Cambria"/>
              </a:rPr>
              <a:t>propagates </a:t>
            </a:r>
            <a:r>
              <a:rPr sz="2400" spc="-20" dirty="0">
                <a:latin typeface="Cambria"/>
                <a:cs typeface="Cambria"/>
              </a:rPr>
              <a:t>by </a:t>
            </a:r>
            <a:r>
              <a:rPr sz="2400" dirty="0">
                <a:latin typeface="Cambria"/>
                <a:cs typeface="Cambria"/>
              </a:rPr>
              <a:t>bouncing </a:t>
            </a:r>
            <a:r>
              <a:rPr sz="2400" spc="-5" dirty="0">
                <a:latin typeface="Cambria"/>
                <a:cs typeface="Cambria"/>
              </a:rPr>
              <a:t>back and </a:t>
            </a:r>
            <a:r>
              <a:rPr sz="2400" spc="-10" dirty="0">
                <a:latin typeface="Cambria"/>
                <a:cs typeface="Cambria"/>
              </a:rPr>
              <a:t>forth from </a:t>
            </a:r>
            <a:r>
              <a:rPr sz="2400" spc="-5" dirty="0">
                <a:latin typeface="Cambria"/>
                <a:cs typeface="Cambria"/>
              </a:rPr>
              <a:t>core-cladding</a:t>
            </a:r>
            <a:r>
              <a:rPr sz="2400" spc="75" dirty="0">
                <a:latin typeface="Cambria"/>
                <a:cs typeface="Cambria"/>
              </a:rPr>
              <a:t> </a:t>
            </a:r>
            <a:r>
              <a:rPr sz="2400" spc="-10" dirty="0">
                <a:latin typeface="Cambria"/>
                <a:cs typeface="Cambria"/>
              </a:rPr>
              <a:t>interface.</a:t>
            </a:r>
            <a:endParaRPr lang="en-US" sz="2400" spc="-10" dirty="0">
              <a:latin typeface="Cambria"/>
              <a:cs typeface="Cambria"/>
            </a:endParaRPr>
          </a:p>
          <a:p>
            <a:pPr marL="287020" indent="-274955" algn="just">
              <a:lnSpc>
                <a:spcPct val="100000"/>
              </a:lnSpc>
              <a:spcBef>
                <a:spcPts val="1260"/>
              </a:spcBef>
              <a:buClr>
                <a:srgbClr val="0AD0D9"/>
              </a:buClr>
              <a:buSzPct val="95238"/>
              <a:buFont typeface="Wingdings"/>
              <a:buChar char=""/>
              <a:tabLst>
                <a:tab pos="287655" algn="l"/>
              </a:tabLst>
            </a:pPr>
            <a:endParaRPr lang="en-US" sz="2400" spc="-10" dirty="0">
              <a:latin typeface="Cambria"/>
              <a:cs typeface="Cambria"/>
            </a:endParaRPr>
          </a:p>
          <a:p>
            <a:pPr marL="287020" indent="-274955" algn="just">
              <a:lnSpc>
                <a:spcPct val="100000"/>
              </a:lnSpc>
              <a:spcBef>
                <a:spcPts val="1260"/>
              </a:spcBef>
              <a:buClr>
                <a:srgbClr val="0AD0D9"/>
              </a:buClr>
              <a:buSzPct val="95238"/>
              <a:buFont typeface="Wingdings"/>
              <a:buChar char=""/>
              <a:tabLst>
                <a:tab pos="287655" algn="l"/>
              </a:tabLst>
            </a:pPr>
            <a:endParaRPr lang="en-US" sz="2400" spc="-10" dirty="0">
              <a:latin typeface="Cambria"/>
              <a:cs typeface="Cambria"/>
            </a:endParaRPr>
          </a:p>
          <a:p>
            <a:pPr marL="287020" indent="-274955" algn="just">
              <a:lnSpc>
                <a:spcPct val="100000"/>
              </a:lnSpc>
              <a:spcBef>
                <a:spcPts val="1260"/>
              </a:spcBef>
              <a:buClr>
                <a:srgbClr val="0AD0D9"/>
              </a:buClr>
              <a:buSzPct val="95238"/>
              <a:buFont typeface="Wingdings"/>
              <a:buChar char=""/>
              <a:tabLst>
                <a:tab pos="287655" algn="l"/>
              </a:tabLst>
            </a:pPr>
            <a:endParaRPr lang="en-US" sz="2400" spc="-10" dirty="0">
              <a:latin typeface="Cambria"/>
              <a:cs typeface="Cambria"/>
            </a:endParaRPr>
          </a:p>
          <a:p>
            <a:pPr marL="287020" indent="-274955" algn="just">
              <a:lnSpc>
                <a:spcPct val="100000"/>
              </a:lnSpc>
              <a:spcBef>
                <a:spcPts val="1260"/>
              </a:spcBef>
              <a:buClr>
                <a:srgbClr val="0AD0D9"/>
              </a:buClr>
              <a:buSzPct val="95238"/>
              <a:buFont typeface="Wingdings"/>
              <a:buChar char=""/>
              <a:tabLst>
                <a:tab pos="287655" algn="l"/>
              </a:tabLst>
            </a:pPr>
            <a:endParaRPr lang="en-US" sz="2400" spc="-10" dirty="0">
              <a:latin typeface="Cambria"/>
              <a:cs typeface="Cambria"/>
            </a:endParaRPr>
          </a:p>
          <a:p>
            <a:pPr marL="287020" indent="-274955" algn="just">
              <a:lnSpc>
                <a:spcPct val="100000"/>
              </a:lnSpc>
              <a:spcBef>
                <a:spcPts val="1260"/>
              </a:spcBef>
              <a:buClr>
                <a:srgbClr val="0AD0D9"/>
              </a:buClr>
              <a:buSzPct val="95238"/>
              <a:buFont typeface="Wingdings"/>
              <a:buChar char=""/>
              <a:tabLst>
                <a:tab pos="287655" algn="l"/>
              </a:tabLst>
            </a:pPr>
            <a:endParaRPr lang="en-US" sz="2400" spc="-10" dirty="0">
              <a:latin typeface="Cambria"/>
              <a:cs typeface="Cambria"/>
            </a:endParaRPr>
          </a:p>
          <a:p>
            <a:pPr marL="12065" indent="0" algn="just">
              <a:lnSpc>
                <a:spcPct val="100000"/>
              </a:lnSpc>
              <a:spcBef>
                <a:spcPts val="1260"/>
              </a:spcBef>
              <a:buClr>
                <a:srgbClr val="0AD0D9"/>
              </a:buClr>
              <a:buSzPct val="95238"/>
              <a:buNone/>
              <a:tabLst>
                <a:tab pos="287655" algn="l"/>
              </a:tabLst>
            </a:pPr>
            <a:r>
              <a:rPr lang="en-US" sz="1600" spc="-10" dirty="0">
                <a:latin typeface="Cambria"/>
                <a:cs typeface="Cambria"/>
              </a:rPr>
              <a:t>                                     Figure 2.11 Single mode step index [9]</a:t>
            </a:r>
            <a:endParaRPr lang="en-US" sz="2400" spc="-10" dirty="0">
              <a:latin typeface="Cambria"/>
              <a:cs typeface="Cambria"/>
            </a:endParaRPr>
          </a:p>
        </p:txBody>
      </p:sp>
      <p:pic>
        <p:nvPicPr>
          <p:cNvPr id="7" name="Picture 6"/>
          <p:cNvPicPr>
            <a:picLocks noChangeAspect="1"/>
          </p:cNvPicPr>
          <p:nvPr/>
        </p:nvPicPr>
        <p:blipFill>
          <a:blip r:embed="rId2"/>
          <a:stretch>
            <a:fillRect/>
          </a:stretch>
        </p:blipFill>
        <p:spPr>
          <a:xfrm>
            <a:off x="1686161" y="3507554"/>
            <a:ext cx="5967836" cy="2271385"/>
          </a:xfrm>
          <a:prstGeom prst="rect">
            <a:avLst/>
          </a:prstGeom>
        </p:spPr>
      </p:pic>
    </p:spTree>
    <p:extLst>
      <p:ext uri="{BB962C8B-B14F-4D97-AF65-F5344CB8AC3E}">
        <p14:creationId xmlns:p14="http://schemas.microsoft.com/office/powerpoint/2010/main" val="20617454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3723" y="844062"/>
            <a:ext cx="9791114" cy="5512288"/>
          </a:xfrm>
        </p:spPr>
        <p:txBody>
          <a:bodyPr>
            <a:normAutofit/>
          </a:bodyPr>
          <a:lstStyle/>
          <a:p>
            <a:pPr marL="287020" marR="6350" indent="-274955" algn="just">
              <a:lnSpc>
                <a:spcPct val="130000"/>
              </a:lnSpc>
              <a:spcBef>
                <a:spcPts val="509"/>
              </a:spcBef>
              <a:buClr>
                <a:srgbClr val="0AD0D9"/>
              </a:buClr>
              <a:buSzPct val="95238"/>
              <a:buFont typeface="Wingdings"/>
              <a:buChar char=""/>
              <a:tabLst>
                <a:tab pos="287655" algn="l"/>
              </a:tabLst>
            </a:pPr>
            <a:r>
              <a:rPr lang="en-US" sz="2400" dirty="0">
                <a:latin typeface="Cambria"/>
                <a:cs typeface="Cambria"/>
              </a:rPr>
              <a:t>The </a:t>
            </a:r>
            <a:r>
              <a:rPr lang="en-US" sz="2400" spc="-10" dirty="0">
                <a:latin typeface="Cambria"/>
                <a:cs typeface="Cambria"/>
              </a:rPr>
              <a:t>step </a:t>
            </a:r>
            <a:r>
              <a:rPr lang="en-US" sz="2400" spc="-5" dirty="0">
                <a:latin typeface="Cambria"/>
                <a:cs typeface="Cambria"/>
              </a:rPr>
              <a:t>index fibers </a:t>
            </a:r>
            <a:r>
              <a:rPr lang="en-US" sz="2400" spc="-15" dirty="0">
                <a:latin typeface="Cambria"/>
                <a:cs typeface="Cambria"/>
              </a:rPr>
              <a:t>propagate </a:t>
            </a:r>
            <a:r>
              <a:rPr lang="en-US" sz="2400" spc="-5" dirty="0">
                <a:latin typeface="Cambria"/>
                <a:cs typeface="Cambria"/>
              </a:rPr>
              <a:t>both single and multimode </a:t>
            </a:r>
            <a:r>
              <a:rPr lang="en-US" sz="2400" dirty="0">
                <a:latin typeface="Cambria"/>
                <a:cs typeface="Cambria"/>
              </a:rPr>
              <a:t>signals  within </a:t>
            </a:r>
            <a:r>
              <a:rPr lang="en-US" sz="2400" spc="-5" dirty="0">
                <a:latin typeface="Cambria"/>
                <a:cs typeface="Cambria"/>
              </a:rPr>
              <a:t>the </a:t>
            </a:r>
            <a:r>
              <a:rPr lang="en-US" sz="2400" dirty="0">
                <a:latin typeface="Cambria"/>
                <a:cs typeface="Cambria"/>
              </a:rPr>
              <a:t>fiber</a:t>
            </a:r>
            <a:r>
              <a:rPr lang="en-US" sz="2400" spc="10" dirty="0">
                <a:latin typeface="Cambria"/>
                <a:cs typeface="Cambria"/>
              </a:rPr>
              <a:t> </a:t>
            </a:r>
            <a:r>
              <a:rPr lang="en-US" sz="2400" spc="-10" dirty="0">
                <a:latin typeface="Cambria"/>
                <a:cs typeface="Cambria"/>
              </a:rPr>
              <a:t>core.</a:t>
            </a:r>
            <a:endParaRPr lang="en-US" sz="2400" dirty="0">
              <a:latin typeface="Cambria"/>
              <a:cs typeface="Cambria"/>
            </a:endParaRPr>
          </a:p>
          <a:p>
            <a:pPr marL="287020" marR="7620" indent="-274955" algn="just">
              <a:lnSpc>
                <a:spcPct val="130000"/>
              </a:lnSpc>
              <a:spcBef>
                <a:spcPts val="500"/>
              </a:spcBef>
              <a:buClr>
                <a:srgbClr val="0AD0D9"/>
              </a:buClr>
              <a:buSzPct val="95238"/>
              <a:buFont typeface="Wingdings"/>
              <a:buChar char=""/>
              <a:tabLst>
                <a:tab pos="287655" algn="l"/>
              </a:tabLst>
            </a:pPr>
            <a:r>
              <a:rPr lang="en-US" sz="2400" dirty="0">
                <a:latin typeface="Cambria"/>
                <a:cs typeface="Cambria"/>
              </a:rPr>
              <a:t>The </a:t>
            </a:r>
            <a:r>
              <a:rPr lang="en-US" sz="2400" spc="-5" dirty="0">
                <a:latin typeface="Cambria"/>
                <a:cs typeface="Cambria"/>
              </a:rPr>
              <a:t>light </a:t>
            </a:r>
            <a:r>
              <a:rPr lang="en-US" sz="2400" spc="-30" dirty="0">
                <a:latin typeface="Cambria"/>
                <a:cs typeface="Cambria"/>
              </a:rPr>
              <a:t>rays </a:t>
            </a:r>
            <a:r>
              <a:rPr lang="en-US" sz="2400" spc="-10" dirty="0">
                <a:latin typeface="Cambria"/>
                <a:cs typeface="Cambria"/>
              </a:rPr>
              <a:t>propagating through </a:t>
            </a:r>
            <a:r>
              <a:rPr lang="en-US" sz="2400" dirty="0">
                <a:latin typeface="Cambria"/>
                <a:cs typeface="Cambria"/>
              </a:rPr>
              <a:t>it </a:t>
            </a:r>
            <a:r>
              <a:rPr lang="en-US" sz="2400" spc="-20" dirty="0">
                <a:latin typeface="Cambria"/>
                <a:cs typeface="Cambria"/>
              </a:rPr>
              <a:t>are </a:t>
            </a:r>
            <a:r>
              <a:rPr lang="en-US" sz="2400" dirty="0">
                <a:latin typeface="Cambria"/>
                <a:cs typeface="Cambria"/>
              </a:rPr>
              <a:t>in </a:t>
            </a:r>
            <a:r>
              <a:rPr lang="en-US" sz="2400" spc="-5" dirty="0">
                <a:latin typeface="Cambria"/>
                <a:cs typeface="Cambria"/>
              </a:rPr>
              <a:t>the </a:t>
            </a:r>
            <a:r>
              <a:rPr lang="en-US" sz="2400" spc="-10" dirty="0">
                <a:latin typeface="Cambria"/>
                <a:cs typeface="Cambria"/>
              </a:rPr>
              <a:t>form </a:t>
            </a:r>
            <a:r>
              <a:rPr lang="en-US" sz="2400" dirty="0">
                <a:latin typeface="Cambria"/>
                <a:cs typeface="Cambria"/>
              </a:rPr>
              <a:t>of </a:t>
            </a:r>
            <a:r>
              <a:rPr lang="en-US" sz="2400" spc="-5" dirty="0" err="1">
                <a:latin typeface="Cambria"/>
                <a:cs typeface="Cambria"/>
              </a:rPr>
              <a:t>meridinal</a:t>
            </a:r>
            <a:r>
              <a:rPr lang="en-US" sz="2400" spc="-5" dirty="0">
                <a:latin typeface="Cambria"/>
                <a:cs typeface="Cambria"/>
              </a:rPr>
              <a:t>  </a:t>
            </a:r>
            <a:r>
              <a:rPr lang="en-US" sz="2400" spc="-30" dirty="0">
                <a:latin typeface="Cambria"/>
                <a:cs typeface="Cambria"/>
              </a:rPr>
              <a:t>rays </a:t>
            </a:r>
            <a:r>
              <a:rPr lang="en-US" sz="2400" spc="-5" dirty="0">
                <a:latin typeface="Cambria"/>
                <a:cs typeface="Cambria"/>
              </a:rPr>
              <a:t>which </a:t>
            </a:r>
            <a:r>
              <a:rPr lang="en-US" sz="2400" dirty="0">
                <a:latin typeface="Cambria"/>
                <a:cs typeface="Cambria"/>
              </a:rPr>
              <a:t>will </a:t>
            </a:r>
            <a:r>
              <a:rPr lang="en-US" sz="2400" spc="-10" dirty="0">
                <a:latin typeface="Cambria"/>
                <a:cs typeface="Cambria"/>
              </a:rPr>
              <a:t>cross </a:t>
            </a:r>
            <a:r>
              <a:rPr lang="en-US" sz="2400" spc="-5" dirty="0">
                <a:latin typeface="Cambria"/>
                <a:cs typeface="Cambria"/>
              </a:rPr>
              <a:t>the </a:t>
            </a:r>
            <a:r>
              <a:rPr lang="en-US" sz="2400" dirty="0">
                <a:latin typeface="Cambria"/>
                <a:cs typeface="Cambria"/>
              </a:rPr>
              <a:t>fiber </a:t>
            </a:r>
            <a:r>
              <a:rPr lang="en-US" sz="2400" spc="-15" dirty="0">
                <a:latin typeface="Cambria"/>
                <a:cs typeface="Cambria"/>
              </a:rPr>
              <a:t>core </a:t>
            </a:r>
            <a:r>
              <a:rPr lang="en-US" sz="2400" spc="-5" dirty="0">
                <a:latin typeface="Cambria"/>
                <a:cs typeface="Cambria"/>
              </a:rPr>
              <a:t>axis during </a:t>
            </a:r>
            <a:r>
              <a:rPr lang="en-US" sz="2400" spc="-20" dirty="0">
                <a:latin typeface="Cambria"/>
                <a:cs typeface="Cambria"/>
              </a:rPr>
              <a:t>every </a:t>
            </a:r>
            <a:r>
              <a:rPr lang="en-US" sz="2400" spc="-10" dirty="0">
                <a:latin typeface="Cambria"/>
                <a:cs typeface="Cambria"/>
              </a:rPr>
              <a:t>reflection at  </a:t>
            </a:r>
            <a:r>
              <a:rPr lang="en-US" sz="2400" spc="-5" dirty="0">
                <a:latin typeface="Cambria"/>
                <a:cs typeface="Cambria"/>
              </a:rPr>
              <a:t>the </a:t>
            </a:r>
            <a:r>
              <a:rPr lang="en-US" sz="2400" spc="-15" dirty="0">
                <a:latin typeface="Cambria"/>
                <a:cs typeface="Cambria"/>
              </a:rPr>
              <a:t>core </a:t>
            </a:r>
            <a:r>
              <a:rPr lang="en-US" sz="2400" dirty="0">
                <a:latin typeface="Cambria"/>
                <a:cs typeface="Cambria"/>
              </a:rPr>
              <a:t>– cladding </a:t>
            </a:r>
            <a:r>
              <a:rPr lang="en-US" sz="2400" spc="-5" dirty="0">
                <a:latin typeface="Cambria"/>
                <a:cs typeface="Cambria"/>
              </a:rPr>
              <a:t>boundary and </a:t>
            </a:r>
            <a:r>
              <a:rPr lang="en-US" sz="2400" spc="-20" dirty="0">
                <a:latin typeface="Cambria"/>
                <a:cs typeface="Cambria"/>
              </a:rPr>
              <a:t>are </a:t>
            </a:r>
            <a:r>
              <a:rPr lang="en-US" sz="2400" spc="-10" dirty="0">
                <a:latin typeface="Cambria"/>
                <a:cs typeface="Cambria"/>
              </a:rPr>
              <a:t>propagating </a:t>
            </a:r>
            <a:r>
              <a:rPr lang="en-US" sz="2400" dirty="0">
                <a:latin typeface="Cambria"/>
                <a:cs typeface="Cambria"/>
              </a:rPr>
              <a:t>in a </a:t>
            </a:r>
            <a:r>
              <a:rPr lang="en-US" sz="2400" dirty="0" err="1">
                <a:latin typeface="Cambria"/>
                <a:cs typeface="Cambria"/>
              </a:rPr>
              <a:t>zig</a:t>
            </a:r>
            <a:r>
              <a:rPr lang="en-US" sz="2400" dirty="0">
                <a:latin typeface="Cambria"/>
                <a:cs typeface="Cambria"/>
              </a:rPr>
              <a:t> – </a:t>
            </a:r>
            <a:r>
              <a:rPr lang="en-US" sz="2400" spc="-10" dirty="0" err="1">
                <a:latin typeface="Cambria"/>
                <a:cs typeface="Cambria"/>
              </a:rPr>
              <a:t>zag</a:t>
            </a:r>
            <a:r>
              <a:rPr lang="en-US" sz="2400" spc="-10" dirty="0">
                <a:latin typeface="Cambria"/>
                <a:cs typeface="Cambria"/>
              </a:rPr>
              <a:t>  </a:t>
            </a:r>
            <a:r>
              <a:rPr lang="en-US" sz="2400" spc="-35" dirty="0">
                <a:latin typeface="Cambria"/>
                <a:cs typeface="Cambria"/>
              </a:rPr>
              <a:t>manner.</a:t>
            </a:r>
          </a:p>
          <a:p>
            <a:pPr marL="12065" marR="7620" indent="0" algn="just">
              <a:lnSpc>
                <a:spcPct val="130000"/>
              </a:lnSpc>
              <a:spcBef>
                <a:spcPts val="500"/>
              </a:spcBef>
              <a:buClr>
                <a:srgbClr val="0AD0D9"/>
              </a:buClr>
              <a:buSzPct val="95238"/>
              <a:buNone/>
              <a:tabLst>
                <a:tab pos="287655" algn="l"/>
              </a:tabLst>
            </a:pPr>
            <a:endParaRPr lang="en-US" spc="-35" dirty="0">
              <a:latin typeface="Cambria"/>
              <a:cs typeface="Cambria"/>
            </a:endParaRPr>
          </a:p>
          <a:p>
            <a:pPr marL="0" indent="0">
              <a:buNone/>
            </a:pPr>
            <a:endParaRPr lang="en-US" dirty="0"/>
          </a:p>
          <a:p>
            <a:pPr marL="0" indent="0">
              <a:buNone/>
            </a:pPr>
            <a:endParaRPr lang="en-US" dirty="0"/>
          </a:p>
          <a:p>
            <a:pPr marL="0" indent="0">
              <a:buNone/>
            </a:pPr>
            <a:r>
              <a:rPr lang="en-US" dirty="0"/>
              <a:t>                      </a:t>
            </a:r>
            <a:r>
              <a:rPr lang="en-US" sz="1600" dirty="0"/>
              <a:t>Figure 2.12 Multimode Step index Fiber [9]</a:t>
            </a:r>
          </a:p>
        </p:txBody>
      </p:sp>
      <p:sp>
        <p:nvSpPr>
          <p:cNvPr id="5" name="Slide Number Placeholder 4"/>
          <p:cNvSpPr>
            <a:spLocks noGrp="1"/>
          </p:cNvSpPr>
          <p:nvPr>
            <p:ph type="sldNum" sz="quarter" idx="12"/>
          </p:nvPr>
        </p:nvSpPr>
        <p:spPr/>
        <p:txBody>
          <a:bodyPr/>
          <a:lstStyle/>
          <a:p>
            <a:fld id="{BDCDBBEF-AA6C-4BA6-85B2-A17D7F280E38}" type="slidenum">
              <a:rPr lang="en-US" smtClean="0"/>
              <a:t>33</a:t>
            </a:fld>
            <a:endParaRPr lang="en-US"/>
          </a:p>
        </p:txBody>
      </p:sp>
      <p:pic>
        <p:nvPicPr>
          <p:cNvPr id="7" name="Picture 6"/>
          <p:cNvPicPr>
            <a:picLocks noChangeAspect="1"/>
          </p:cNvPicPr>
          <p:nvPr/>
        </p:nvPicPr>
        <p:blipFill>
          <a:blip r:embed="rId2"/>
          <a:stretch>
            <a:fillRect/>
          </a:stretch>
        </p:blipFill>
        <p:spPr>
          <a:xfrm>
            <a:off x="1025036" y="3633926"/>
            <a:ext cx="8886825" cy="1657350"/>
          </a:xfrm>
          <a:prstGeom prst="rect">
            <a:avLst/>
          </a:prstGeom>
        </p:spPr>
      </p:pic>
    </p:spTree>
    <p:extLst>
      <p:ext uri="{BB962C8B-B14F-4D97-AF65-F5344CB8AC3E}">
        <p14:creationId xmlns:p14="http://schemas.microsoft.com/office/powerpoint/2010/main" val="6298379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6430" y="-1"/>
            <a:ext cx="5831807" cy="1167319"/>
          </a:xfrm>
        </p:spPr>
        <p:txBody>
          <a:bodyPr>
            <a:normAutofit fontScale="90000"/>
          </a:bodyPr>
          <a:lstStyle/>
          <a:p>
            <a:r>
              <a:rPr lang="en-US" sz="4400" b="1" spc="-15" dirty="0">
                <a:latin typeface="Cambria" panose="02040503050406030204" pitchFamily="18" charset="0"/>
                <a:ea typeface="Cambria" panose="02040503050406030204" pitchFamily="18" charset="0"/>
              </a:rPr>
              <a:t>Graded </a:t>
            </a:r>
            <a:r>
              <a:rPr lang="en-US" sz="4400" b="1" spc="-20" dirty="0">
                <a:latin typeface="Cambria" panose="02040503050406030204" pitchFamily="18" charset="0"/>
                <a:ea typeface="Cambria" panose="02040503050406030204" pitchFamily="18" charset="0"/>
              </a:rPr>
              <a:t>index </a:t>
            </a:r>
            <a:r>
              <a:rPr lang="en-US" sz="4400" b="1" spc="-5" dirty="0">
                <a:latin typeface="Cambria" panose="02040503050406030204" pitchFamily="18" charset="0"/>
                <a:ea typeface="Cambria" panose="02040503050406030204" pitchFamily="18" charset="0"/>
              </a:rPr>
              <a:t>fiber</a:t>
            </a:r>
            <a:r>
              <a:rPr lang="en-US" sz="4400" b="1" spc="15" dirty="0">
                <a:latin typeface="Cambria" panose="02040503050406030204" pitchFamily="18" charset="0"/>
                <a:ea typeface="Cambria" panose="02040503050406030204" pitchFamily="18" charset="0"/>
              </a:rPr>
              <a:t> </a:t>
            </a:r>
            <a:br>
              <a:rPr lang="en-US" sz="3800" b="1" spc="-5" dirty="0">
                <a:latin typeface="Cambria" panose="02040503050406030204" pitchFamily="18" charset="0"/>
                <a:ea typeface="Cambria" panose="02040503050406030204" pitchFamily="18" charset="0"/>
              </a:rPr>
            </a:br>
            <a:endParaRPr lang="en-US" sz="3800" b="1" dirty="0">
              <a:latin typeface="Cambria" panose="02040503050406030204" pitchFamily="18" charset="0"/>
              <a:ea typeface="Cambria" panose="02040503050406030204" pitchFamily="18" charset="0"/>
            </a:endParaRPr>
          </a:p>
        </p:txBody>
      </p:sp>
      <p:sp>
        <p:nvSpPr>
          <p:cNvPr id="4" name="Text Placeholder 3"/>
          <p:cNvSpPr>
            <a:spLocks noGrp="1"/>
          </p:cNvSpPr>
          <p:nvPr>
            <p:ph type="body" sz="half" idx="2"/>
          </p:nvPr>
        </p:nvSpPr>
        <p:spPr>
          <a:xfrm>
            <a:off x="663526" y="900332"/>
            <a:ext cx="10928252" cy="5456019"/>
          </a:xfrm>
        </p:spPr>
        <p:txBody>
          <a:bodyPr>
            <a:normAutofit fontScale="55000" lnSpcReduction="20000"/>
          </a:bodyPr>
          <a:lstStyle/>
          <a:p>
            <a:pPr marL="287020" marR="5080" indent="-274955" algn="just">
              <a:lnSpc>
                <a:spcPct val="150000"/>
              </a:lnSpc>
              <a:spcBef>
                <a:spcPts val="690"/>
              </a:spcBef>
              <a:buClr>
                <a:srgbClr val="0AD0D9"/>
              </a:buClr>
              <a:buSzPct val="93181"/>
              <a:buFont typeface="Wingdings"/>
              <a:buChar char=""/>
              <a:tabLst>
                <a:tab pos="287655" algn="l"/>
              </a:tabLst>
            </a:pPr>
            <a:r>
              <a:rPr lang="en-US" sz="4400" spc="-5" dirty="0">
                <a:latin typeface="Cambria"/>
                <a:cs typeface="Cambria"/>
              </a:rPr>
              <a:t>In </a:t>
            </a:r>
            <a:r>
              <a:rPr lang="en-US" sz="4400" spc="-10" dirty="0">
                <a:latin typeface="Cambria"/>
                <a:cs typeface="Cambria"/>
              </a:rPr>
              <a:t>graded index </a:t>
            </a:r>
            <a:r>
              <a:rPr lang="en-US" sz="4400" spc="-5" dirty="0">
                <a:latin typeface="Cambria"/>
                <a:cs typeface="Cambria"/>
              </a:rPr>
              <a:t>fibers, the </a:t>
            </a:r>
            <a:r>
              <a:rPr lang="en-US" sz="4400" spc="-20" dirty="0">
                <a:latin typeface="Cambria"/>
                <a:cs typeface="Cambria"/>
              </a:rPr>
              <a:t>refractive </a:t>
            </a:r>
            <a:r>
              <a:rPr lang="en-US" sz="4400" spc="-5" dirty="0">
                <a:latin typeface="Cambria"/>
                <a:cs typeface="Cambria"/>
              </a:rPr>
              <a:t>index of </a:t>
            </a:r>
            <a:r>
              <a:rPr lang="en-US" sz="4400" spc="-10" dirty="0">
                <a:latin typeface="Cambria"/>
                <a:cs typeface="Cambria"/>
              </a:rPr>
              <a:t>the core varies  </a:t>
            </a:r>
            <a:r>
              <a:rPr lang="en-US" sz="4400" spc="-15" dirty="0">
                <a:latin typeface="Cambria"/>
                <a:cs typeface="Cambria"/>
              </a:rPr>
              <a:t>gradually </a:t>
            </a:r>
            <a:r>
              <a:rPr lang="en-US" sz="4400" spc="-5" dirty="0">
                <a:latin typeface="Cambria"/>
                <a:cs typeface="Cambria"/>
              </a:rPr>
              <a:t>as a function of </a:t>
            </a:r>
            <a:r>
              <a:rPr lang="en-US" sz="4400" spc="-15" dirty="0">
                <a:latin typeface="Cambria"/>
                <a:cs typeface="Cambria"/>
              </a:rPr>
              <a:t>radial </a:t>
            </a:r>
            <a:r>
              <a:rPr lang="en-US" sz="4400" spc="-5" dirty="0">
                <a:latin typeface="Cambria"/>
                <a:cs typeface="Cambria"/>
              </a:rPr>
              <a:t>distance </a:t>
            </a:r>
            <a:r>
              <a:rPr lang="en-US" sz="4400" spc="-15" dirty="0">
                <a:latin typeface="Cambria"/>
                <a:cs typeface="Cambria"/>
              </a:rPr>
              <a:t>from </a:t>
            </a:r>
            <a:r>
              <a:rPr lang="en-US" sz="4400" spc="-10" dirty="0">
                <a:latin typeface="Cambria"/>
                <a:cs typeface="Cambria"/>
              </a:rPr>
              <a:t>the </a:t>
            </a:r>
            <a:r>
              <a:rPr lang="en-US" sz="4400" spc="-5" dirty="0">
                <a:latin typeface="Cambria"/>
                <a:cs typeface="Cambria"/>
              </a:rPr>
              <a:t>fiber</a:t>
            </a:r>
            <a:r>
              <a:rPr lang="en-US" sz="4400" spc="240" dirty="0">
                <a:latin typeface="Cambria"/>
                <a:cs typeface="Cambria"/>
              </a:rPr>
              <a:t> </a:t>
            </a:r>
            <a:r>
              <a:rPr lang="en-US" sz="4400" spc="-40" dirty="0">
                <a:latin typeface="Cambria"/>
                <a:cs typeface="Cambria"/>
              </a:rPr>
              <a:t>center. </a:t>
            </a:r>
          </a:p>
          <a:p>
            <a:pPr marL="287020" marR="5080" indent="-274955" algn="just">
              <a:lnSpc>
                <a:spcPct val="150000"/>
              </a:lnSpc>
              <a:spcBef>
                <a:spcPts val="690"/>
              </a:spcBef>
              <a:buClr>
                <a:srgbClr val="0AD0D9"/>
              </a:buClr>
              <a:buSzPct val="93181"/>
              <a:buFont typeface="Wingdings"/>
              <a:buChar char=""/>
              <a:tabLst>
                <a:tab pos="287655" algn="l"/>
              </a:tabLst>
            </a:pPr>
            <a:r>
              <a:rPr lang="en-US" sz="4400" spc="-5" dirty="0">
                <a:latin typeface="Cambria"/>
                <a:cs typeface="Cambria"/>
              </a:rPr>
              <a:t>The</a:t>
            </a:r>
            <a:r>
              <a:rPr lang="en-US" sz="4400" spc="50" dirty="0">
                <a:latin typeface="Cambria"/>
                <a:cs typeface="Cambria"/>
              </a:rPr>
              <a:t> </a:t>
            </a:r>
            <a:r>
              <a:rPr lang="en-US" sz="4400" spc="-20" dirty="0">
                <a:latin typeface="Cambria"/>
                <a:cs typeface="Cambria"/>
              </a:rPr>
              <a:t>refractive</a:t>
            </a:r>
            <a:r>
              <a:rPr lang="en-US" sz="4400" spc="60" dirty="0">
                <a:latin typeface="Cambria"/>
                <a:cs typeface="Cambria"/>
              </a:rPr>
              <a:t> </a:t>
            </a:r>
            <a:r>
              <a:rPr lang="en-US" sz="4400" spc="-5" dirty="0">
                <a:latin typeface="Cambria"/>
                <a:cs typeface="Cambria"/>
              </a:rPr>
              <a:t>index</a:t>
            </a:r>
            <a:r>
              <a:rPr lang="en-US" sz="4400" spc="50" dirty="0">
                <a:latin typeface="Cambria"/>
                <a:cs typeface="Cambria"/>
              </a:rPr>
              <a:t> </a:t>
            </a:r>
            <a:r>
              <a:rPr lang="en-US" sz="4400" spc="-5" dirty="0">
                <a:latin typeface="Cambria"/>
                <a:cs typeface="Cambria"/>
              </a:rPr>
              <a:t>of</a:t>
            </a:r>
            <a:r>
              <a:rPr lang="en-US" sz="4400" spc="55" dirty="0">
                <a:latin typeface="Cambria"/>
                <a:cs typeface="Cambria"/>
              </a:rPr>
              <a:t> </a:t>
            </a:r>
            <a:r>
              <a:rPr lang="en-US" sz="4400" spc="-5" dirty="0">
                <a:latin typeface="Cambria"/>
                <a:cs typeface="Cambria"/>
              </a:rPr>
              <a:t>the</a:t>
            </a:r>
            <a:r>
              <a:rPr lang="en-US" sz="4400" spc="60" dirty="0">
                <a:latin typeface="Cambria"/>
                <a:cs typeface="Cambria"/>
              </a:rPr>
              <a:t> </a:t>
            </a:r>
            <a:r>
              <a:rPr lang="en-US" sz="4400" spc="-10" dirty="0">
                <a:latin typeface="Cambria"/>
                <a:cs typeface="Cambria"/>
              </a:rPr>
              <a:t>core</a:t>
            </a:r>
            <a:r>
              <a:rPr lang="en-US" sz="4400" spc="55" dirty="0">
                <a:latin typeface="Cambria"/>
                <a:cs typeface="Cambria"/>
              </a:rPr>
              <a:t> </a:t>
            </a:r>
            <a:r>
              <a:rPr lang="en-US" sz="4400" spc="-10" dirty="0">
                <a:latin typeface="Cambria"/>
                <a:cs typeface="Cambria"/>
              </a:rPr>
              <a:t>decreases</a:t>
            </a:r>
            <a:r>
              <a:rPr lang="en-US" sz="4400" spc="80" dirty="0">
                <a:latin typeface="Cambria"/>
                <a:cs typeface="Cambria"/>
              </a:rPr>
              <a:t> </a:t>
            </a:r>
            <a:r>
              <a:rPr lang="en-US" sz="4400" spc="-10" dirty="0">
                <a:latin typeface="Cambria"/>
                <a:cs typeface="Cambria"/>
              </a:rPr>
              <a:t>as</a:t>
            </a:r>
            <a:r>
              <a:rPr lang="en-US" sz="4400" spc="70" dirty="0">
                <a:latin typeface="Cambria"/>
                <a:cs typeface="Cambria"/>
              </a:rPr>
              <a:t> </a:t>
            </a:r>
            <a:r>
              <a:rPr lang="en-US" sz="4400" spc="-15" dirty="0">
                <a:latin typeface="Cambria"/>
                <a:cs typeface="Cambria"/>
              </a:rPr>
              <a:t>we</a:t>
            </a:r>
            <a:r>
              <a:rPr lang="en-US" sz="4400" spc="55" dirty="0">
                <a:latin typeface="Cambria"/>
                <a:cs typeface="Cambria"/>
              </a:rPr>
              <a:t> </a:t>
            </a:r>
            <a:r>
              <a:rPr lang="en-US" sz="4400" spc="-25" dirty="0">
                <a:latin typeface="Cambria"/>
                <a:cs typeface="Cambria"/>
              </a:rPr>
              <a:t>move</a:t>
            </a:r>
            <a:r>
              <a:rPr lang="en-US" sz="4400" spc="55" dirty="0">
                <a:latin typeface="Cambria"/>
                <a:cs typeface="Cambria"/>
              </a:rPr>
              <a:t> </a:t>
            </a:r>
            <a:r>
              <a:rPr lang="en-US" sz="4400" spc="-30" dirty="0">
                <a:latin typeface="Cambria"/>
                <a:cs typeface="Cambria"/>
              </a:rPr>
              <a:t>away</a:t>
            </a:r>
            <a:r>
              <a:rPr lang="en-US" sz="4400" spc="55" dirty="0">
                <a:latin typeface="Cambria"/>
                <a:cs typeface="Cambria"/>
              </a:rPr>
              <a:t> </a:t>
            </a:r>
            <a:r>
              <a:rPr lang="en-US" sz="4400" spc="-10" dirty="0">
                <a:latin typeface="Cambria"/>
                <a:cs typeface="Cambria"/>
              </a:rPr>
              <a:t>from</a:t>
            </a:r>
            <a:r>
              <a:rPr lang="en-US" sz="4400" dirty="0">
                <a:latin typeface="Cambria"/>
                <a:cs typeface="Cambria"/>
              </a:rPr>
              <a:t> </a:t>
            </a:r>
            <a:r>
              <a:rPr lang="en-US" sz="4400" spc="-10" dirty="0">
                <a:latin typeface="Cambria"/>
                <a:cs typeface="Cambria"/>
              </a:rPr>
              <a:t>the</a:t>
            </a:r>
            <a:r>
              <a:rPr lang="en-US" sz="4400" spc="10" dirty="0">
                <a:latin typeface="Cambria"/>
                <a:cs typeface="Cambria"/>
              </a:rPr>
              <a:t> </a:t>
            </a:r>
            <a:r>
              <a:rPr lang="en-US" sz="4400" spc="-10" dirty="0">
                <a:latin typeface="Cambria"/>
                <a:cs typeface="Cambria"/>
              </a:rPr>
              <a:t>centre.</a:t>
            </a:r>
          </a:p>
          <a:p>
            <a:pPr marL="287020" marR="5080" indent="-274955" algn="just">
              <a:lnSpc>
                <a:spcPct val="150000"/>
              </a:lnSpc>
              <a:spcBef>
                <a:spcPts val="690"/>
              </a:spcBef>
              <a:buClr>
                <a:srgbClr val="0AD0D9"/>
              </a:buClr>
              <a:buSzPct val="93181"/>
              <a:buFont typeface="Wingdings"/>
              <a:buChar char=""/>
              <a:tabLst>
                <a:tab pos="287655" algn="l"/>
              </a:tabLst>
            </a:pPr>
            <a:r>
              <a:rPr lang="en-US" sz="4400" spc="-5" dirty="0">
                <a:latin typeface="Cambria"/>
                <a:cs typeface="Cambria"/>
              </a:rPr>
              <a:t>The </a:t>
            </a:r>
            <a:r>
              <a:rPr lang="en-US" sz="4400" spc="-20" dirty="0">
                <a:latin typeface="Cambria"/>
                <a:cs typeface="Cambria"/>
              </a:rPr>
              <a:t>refractive </a:t>
            </a:r>
            <a:r>
              <a:rPr lang="en-US" sz="4400" spc="-5" dirty="0">
                <a:latin typeface="Cambria"/>
                <a:cs typeface="Cambria"/>
              </a:rPr>
              <a:t>index of </a:t>
            </a:r>
            <a:r>
              <a:rPr lang="en-US" sz="4400" spc="-10" dirty="0">
                <a:latin typeface="Cambria"/>
                <a:cs typeface="Cambria"/>
              </a:rPr>
              <a:t>the core </a:t>
            </a:r>
            <a:r>
              <a:rPr lang="en-US" sz="4400" spc="-5" dirty="0">
                <a:latin typeface="Cambria"/>
                <a:cs typeface="Cambria"/>
              </a:rPr>
              <a:t>is </a:t>
            </a:r>
            <a:r>
              <a:rPr lang="en-US" sz="4400" spc="-10" dirty="0">
                <a:latin typeface="Cambria"/>
                <a:cs typeface="Cambria"/>
              </a:rPr>
              <a:t>made </a:t>
            </a:r>
            <a:r>
              <a:rPr lang="en-US" sz="4400" spc="-15" dirty="0">
                <a:latin typeface="Cambria"/>
                <a:cs typeface="Cambria"/>
              </a:rPr>
              <a:t>to vary </a:t>
            </a:r>
            <a:r>
              <a:rPr lang="en-US" sz="4400" dirty="0">
                <a:latin typeface="Cambria"/>
                <a:cs typeface="Cambria"/>
              </a:rPr>
              <a:t>in </a:t>
            </a:r>
            <a:r>
              <a:rPr lang="en-US" sz="4400" spc="-10" dirty="0">
                <a:latin typeface="Cambria"/>
                <a:cs typeface="Cambria"/>
              </a:rPr>
              <a:t>the form of  </a:t>
            </a:r>
            <a:r>
              <a:rPr lang="en-US" sz="4400" spc="-15" dirty="0">
                <a:latin typeface="Cambria"/>
                <a:cs typeface="Cambria"/>
              </a:rPr>
              <a:t>parabolic </a:t>
            </a:r>
            <a:r>
              <a:rPr lang="en-US" sz="4400" spc="-10" dirty="0">
                <a:latin typeface="Cambria"/>
                <a:cs typeface="Cambria"/>
              </a:rPr>
              <a:t>manner </a:t>
            </a:r>
            <a:r>
              <a:rPr lang="en-US" sz="4400" spc="-5" dirty="0">
                <a:latin typeface="Cambria"/>
                <a:cs typeface="Cambria"/>
              </a:rPr>
              <a:t>such that </a:t>
            </a:r>
            <a:r>
              <a:rPr lang="en-US" sz="4400" spc="-10" dirty="0">
                <a:latin typeface="Cambria"/>
                <a:cs typeface="Cambria"/>
              </a:rPr>
              <a:t>the </a:t>
            </a:r>
            <a:r>
              <a:rPr lang="en-US" sz="4400" spc="-5" dirty="0">
                <a:latin typeface="Cambria"/>
                <a:cs typeface="Cambria"/>
              </a:rPr>
              <a:t>maximum </a:t>
            </a:r>
            <a:r>
              <a:rPr lang="en-US" sz="4400" spc="-20" dirty="0">
                <a:latin typeface="Cambria"/>
                <a:cs typeface="Cambria"/>
              </a:rPr>
              <a:t>refractive </a:t>
            </a:r>
            <a:r>
              <a:rPr lang="en-US" sz="4400" spc="-5" dirty="0">
                <a:latin typeface="Cambria"/>
                <a:cs typeface="Cambria"/>
              </a:rPr>
              <a:t>index is  </a:t>
            </a:r>
            <a:r>
              <a:rPr lang="en-US" sz="4400" spc="-10" dirty="0">
                <a:latin typeface="Cambria"/>
                <a:cs typeface="Cambria"/>
              </a:rPr>
              <a:t>present </a:t>
            </a:r>
            <a:r>
              <a:rPr lang="en-US" sz="4400" spc="-5" dirty="0">
                <a:latin typeface="Cambria"/>
                <a:cs typeface="Cambria"/>
              </a:rPr>
              <a:t>at </a:t>
            </a:r>
            <a:r>
              <a:rPr lang="en-US" sz="4400" spc="-10" dirty="0">
                <a:latin typeface="Cambria"/>
                <a:cs typeface="Cambria"/>
              </a:rPr>
              <a:t>the centre </a:t>
            </a:r>
            <a:r>
              <a:rPr lang="en-US" sz="4400" spc="-5" dirty="0">
                <a:latin typeface="Cambria"/>
                <a:cs typeface="Cambria"/>
              </a:rPr>
              <a:t>of </a:t>
            </a:r>
            <a:r>
              <a:rPr lang="en-US" sz="4400" spc="-10" dirty="0">
                <a:latin typeface="Cambria"/>
                <a:cs typeface="Cambria"/>
              </a:rPr>
              <a:t>the</a:t>
            </a:r>
            <a:r>
              <a:rPr lang="en-US" sz="4400" spc="114" dirty="0">
                <a:latin typeface="Cambria"/>
                <a:cs typeface="Cambria"/>
              </a:rPr>
              <a:t> </a:t>
            </a:r>
            <a:r>
              <a:rPr lang="en-US" sz="4400" spc="-10" dirty="0">
                <a:latin typeface="Cambria"/>
                <a:cs typeface="Cambria"/>
              </a:rPr>
              <a:t>core.</a:t>
            </a:r>
            <a:endParaRPr lang="en-US" sz="3800" spc="-40" dirty="0">
              <a:latin typeface="Cambria"/>
              <a:cs typeface="Cambria"/>
            </a:endParaRPr>
          </a:p>
          <a:p>
            <a:pPr marL="12065" marR="5080" algn="just">
              <a:lnSpc>
                <a:spcPct val="150000"/>
              </a:lnSpc>
              <a:spcBef>
                <a:spcPts val="690"/>
              </a:spcBef>
              <a:buClr>
                <a:srgbClr val="0AD0D9"/>
              </a:buClr>
              <a:buSzPct val="93181"/>
              <a:tabLst>
                <a:tab pos="287655" algn="l"/>
              </a:tabLst>
            </a:pPr>
            <a:r>
              <a:rPr lang="en-US" sz="7200" spc="-40" dirty="0">
                <a:latin typeface="Cambria"/>
                <a:cs typeface="Cambria"/>
              </a:rPr>
              <a:t> </a:t>
            </a:r>
          </a:p>
          <a:p>
            <a:pPr marL="12065" marR="5080" algn="just">
              <a:lnSpc>
                <a:spcPct val="150000"/>
              </a:lnSpc>
              <a:spcBef>
                <a:spcPts val="690"/>
              </a:spcBef>
              <a:buClr>
                <a:srgbClr val="0AD0D9"/>
              </a:buClr>
              <a:buSzPct val="93181"/>
              <a:tabLst>
                <a:tab pos="287655" algn="l"/>
              </a:tabLst>
            </a:pPr>
            <a:endParaRPr lang="en-US" sz="7200" spc="-40" dirty="0">
              <a:latin typeface="Cambria"/>
              <a:cs typeface="Cambria"/>
            </a:endParaRPr>
          </a:p>
          <a:p>
            <a:pPr marL="12065" marR="5080" algn="just">
              <a:lnSpc>
                <a:spcPct val="150000"/>
              </a:lnSpc>
              <a:spcBef>
                <a:spcPts val="690"/>
              </a:spcBef>
              <a:buClr>
                <a:srgbClr val="0AD0D9"/>
              </a:buClr>
              <a:buSzPct val="93181"/>
              <a:tabLst>
                <a:tab pos="287655" algn="l"/>
              </a:tabLst>
            </a:pPr>
            <a:r>
              <a:rPr lang="en-US" sz="2900" spc="-40" dirty="0">
                <a:latin typeface="Cambria"/>
                <a:cs typeface="Cambria"/>
              </a:rPr>
              <a:t>Figure 2.13 Graded Index Fiber [9]</a:t>
            </a:r>
          </a:p>
          <a:p>
            <a:pPr marL="12065" marR="5080" algn="just">
              <a:lnSpc>
                <a:spcPct val="150000"/>
              </a:lnSpc>
              <a:spcBef>
                <a:spcPts val="690"/>
              </a:spcBef>
              <a:buClr>
                <a:srgbClr val="0AD0D9"/>
              </a:buClr>
              <a:buSzPct val="93181"/>
              <a:tabLst>
                <a:tab pos="287655" algn="l"/>
              </a:tabLst>
            </a:pPr>
            <a:r>
              <a:rPr lang="en-US" sz="3800" spc="-40" dirty="0">
                <a:latin typeface="Cambria"/>
                <a:cs typeface="Cambria"/>
              </a:rPr>
              <a:t>                             </a:t>
            </a:r>
          </a:p>
          <a:p>
            <a:pPr marL="287020" marR="5080" indent="-274955" algn="just">
              <a:lnSpc>
                <a:spcPct val="150000"/>
              </a:lnSpc>
              <a:spcBef>
                <a:spcPts val="690"/>
              </a:spcBef>
              <a:buClr>
                <a:srgbClr val="0AD0D9"/>
              </a:buClr>
              <a:buSzPct val="93181"/>
              <a:buFont typeface="Wingdings"/>
              <a:buChar char=""/>
              <a:tabLst>
                <a:tab pos="287655" algn="l"/>
              </a:tabLst>
            </a:pPr>
            <a:endParaRPr lang="en-US" sz="3800" dirty="0">
              <a:latin typeface="Cambria"/>
              <a:cs typeface="Cambria"/>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34</a:t>
            </a:fld>
            <a:endParaRPr lang="en-US"/>
          </a:p>
        </p:txBody>
      </p:sp>
      <p:pic>
        <p:nvPicPr>
          <p:cNvPr id="8" name="Picture 7"/>
          <p:cNvPicPr>
            <a:picLocks noChangeAspect="1"/>
          </p:cNvPicPr>
          <p:nvPr/>
        </p:nvPicPr>
        <p:blipFill>
          <a:blip r:embed="rId2"/>
          <a:stretch>
            <a:fillRect/>
          </a:stretch>
        </p:blipFill>
        <p:spPr>
          <a:xfrm>
            <a:off x="3700975" y="3881338"/>
            <a:ext cx="7427742" cy="2475013"/>
          </a:xfrm>
          <a:prstGeom prst="rect">
            <a:avLst/>
          </a:prstGeom>
        </p:spPr>
      </p:pic>
    </p:spTree>
    <p:extLst>
      <p:ext uri="{BB962C8B-B14F-4D97-AF65-F5344CB8AC3E}">
        <p14:creationId xmlns:p14="http://schemas.microsoft.com/office/powerpoint/2010/main" val="24757433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t>35</a:t>
            </a:fld>
            <a:endParaRPr lang="en-US"/>
          </a:p>
        </p:txBody>
      </p:sp>
      <p:sp>
        <p:nvSpPr>
          <p:cNvPr id="7" name="TextBox 6"/>
          <p:cNvSpPr txBox="1"/>
          <p:nvPr/>
        </p:nvSpPr>
        <p:spPr>
          <a:xfrm>
            <a:off x="2042809" y="0"/>
            <a:ext cx="7626485" cy="677108"/>
          </a:xfrm>
          <a:prstGeom prst="rect">
            <a:avLst/>
          </a:prstGeom>
          <a:noFill/>
        </p:spPr>
        <p:txBody>
          <a:bodyPr wrap="square" rtlCol="0">
            <a:spAutoFit/>
          </a:bodyPr>
          <a:lstStyle/>
          <a:p>
            <a:pPr marL="12700">
              <a:spcBef>
                <a:spcPts val="105"/>
              </a:spcBef>
            </a:pPr>
            <a:r>
              <a:rPr lang="en-US" sz="3800" b="1" spc="-40" dirty="0">
                <a:latin typeface="Cambria" panose="02040503050406030204" pitchFamily="18" charset="0"/>
                <a:ea typeface="Cambria" panose="02040503050406030204" pitchFamily="18" charset="0"/>
                <a:cs typeface="Calibri"/>
              </a:rPr>
              <a:t>Summary of types </a:t>
            </a:r>
            <a:r>
              <a:rPr lang="en-US" sz="3800" b="1" dirty="0">
                <a:latin typeface="Cambria" panose="02040503050406030204" pitchFamily="18" charset="0"/>
                <a:ea typeface="Cambria" panose="02040503050406030204" pitchFamily="18" charset="0"/>
                <a:cs typeface="Calibri"/>
              </a:rPr>
              <a:t>of</a:t>
            </a:r>
            <a:r>
              <a:rPr lang="en-US" sz="3800" b="1" spc="-30" dirty="0">
                <a:latin typeface="Cambria" panose="02040503050406030204" pitchFamily="18" charset="0"/>
                <a:ea typeface="Cambria" panose="02040503050406030204" pitchFamily="18" charset="0"/>
                <a:cs typeface="Calibri"/>
              </a:rPr>
              <a:t> </a:t>
            </a:r>
            <a:r>
              <a:rPr lang="en-US" sz="3800" b="1" spc="-15" dirty="0">
                <a:latin typeface="Cambria" panose="02040503050406030204" pitchFamily="18" charset="0"/>
                <a:ea typeface="Cambria" panose="02040503050406030204" pitchFamily="18" charset="0"/>
                <a:cs typeface="Calibri"/>
              </a:rPr>
              <a:t>Fibers</a:t>
            </a:r>
            <a:endParaRPr lang="en-US" sz="3800" b="1" dirty="0">
              <a:latin typeface="Cambria" panose="02040503050406030204" pitchFamily="18" charset="0"/>
              <a:ea typeface="Cambria" panose="02040503050406030204" pitchFamily="18" charset="0"/>
              <a:cs typeface="Calibri"/>
            </a:endParaRPr>
          </a:p>
        </p:txBody>
      </p:sp>
      <p:sp>
        <p:nvSpPr>
          <p:cNvPr id="8" name="object 3"/>
          <p:cNvSpPr/>
          <p:nvPr/>
        </p:nvSpPr>
        <p:spPr>
          <a:xfrm>
            <a:off x="992220" y="972766"/>
            <a:ext cx="9747115" cy="5175115"/>
          </a:xfrm>
          <a:prstGeom prst="rect">
            <a:avLst/>
          </a:prstGeom>
          <a:blipFill>
            <a:blip r:embed="rId2" cstate="print"/>
            <a:stretch>
              <a:fillRect/>
            </a:stretch>
          </a:blipFill>
        </p:spPr>
        <p:txBody>
          <a:bodyPr wrap="square" lIns="0" tIns="0" rIns="0" bIns="0" rtlCol="0"/>
          <a:lstStyle/>
          <a:p>
            <a:endParaRPr/>
          </a:p>
        </p:txBody>
      </p:sp>
      <p:sp>
        <p:nvSpPr>
          <p:cNvPr id="9" name="TextBox 8"/>
          <p:cNvSpPr txBox="1"/>
          <p:nvPr/>
        </p:nvSpPr>
        <p:spPr>
          <a:xfrm>
            <a:off x="2684834" y="6356350"/>
            <a:ext cx="4405283" cy="338554"/>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Figure 2.14 Different types Of optical fibre [6]</a:t>
            </a:r>
          </a:p>
        </p:txBody>
      </p:sp>
    </p:spTree>
    <p:extLst>
      <p:ext uri="{BB962C8B-B14F-4D97-AF65-F5344CB8AC3E}">
        <p14:creationId xmlns:p14="http://schemas.microsoft.com/office/powerpoint/2010/main" val="31894861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3046" y="1139482"/>
            <a:ext cx="10297551" cy="5106573"/>
          </a:xfrm>
        </p:spPr>
        <p:txBody>
          <a:bodyPr>
            <a:normAutofit/>
          </a:bodyPr>
          <a:lstStyle/>
          <a:p>
            <a:pPr marL="0" indent="0" algn="just">
              <a:buNone/>
            </a:pPr>
            <a:r>
              <a:rPr lang="en-US" sz="2400" dirty="0">
                <a:latin typeface="Cambria"/>
                <a:cs typeface="Cambria"/>
              </a:rPr>
              <a:t>The </a:t>
            </a:r>
            <a:r>
              <a:rPr lang="en-US" sz="2400" spc="-5" dirty="0">
                <a:latin typeface="Cambria"/>
                <a:cs typeface="Cambria"/>
              </a:rPr>
              <a:t>dispersion cause that optical pulses to broaden as they </a:t>
            </a:r>
            <a:r>
              <a:rPr lang="en-US" sz="2400" spc="-20" dirty="0">
                <a:latin typeface="Cambria"/>
                <a:cs typeface="Cambria"/>
              </a:rPr>
              <a:t>travel </a:t>
            </a:r>
            <a:r>
              <a:rPr lang="en-US" sz="2400" spc="-5" dirty="0">
                <a:latin typeface="Cambria"/>
                <a:cs typeface="Cambria"/>
              </a:rPr>
              <a:t>along </a:t>
            </a:r>
            <a:r>
              <a:rPr lang="en-US" sz="2400" dirty="0">
                <a:latin typeface="Cambria"/>
                <a:cs typeface="Cambria"/>
              </a:rPr>
              <a:t>a </a:t>
            </a:r>
            <a:r>
              <a:rPr lang="en-US" sz="2400" spc="-30" dirty="0">
                <a:latin typeface="Cambria"/>
                <a:cs typeface="Cambria"/>
              </a:rPr>
              <a:t>fiber, </a:t>
            </a:r>
            <a:r>
              <a:rPr lang="en-US" sz="2400" spc="-5" dirty="0">
                <a:latin typeface="Cambria"/>
                <a:cs typeface="Cambria"/>
              </a:rPr>
              <a:t>the  </a:t>
            </a:r>
            <a:r>
              <a:rPr lang="en-US" sz="2400" spc="-15" dirty="0">
                <a:latin typeface="Cambria"/>
                <a:cs typeface="Cambria"/>
              </a:rPr>
              <a:t>overlap </a:t>
            </a:r>
            <a:r>
              <a:rPr lang="en-US" sz="2400" spc="-5" dirty="0">
                <a:latin typeface="Cambria"/>
                <a:cs typeface="Cambria"/>
              </a:rPr>
              <a:t>between neighboring pulses, </a:t>
            </a:r>
            <a:r>
              <a:rPr lang="en-US" sz="2400" spc="-10" dirty="0">
                <a:latin typeface="Cambria"/>
                <a:cs typeface="Cambria"/>
              </a:rPr>
              <a:t>creating </a:t>
            </a:r>
            <a:r>
              <a:rPr lang="en-US" sz="2400" spc="-5" dirty="0">
                <a:latin typeface="Cambria"/>
                <a:cs typeface="Cambria"/>
              </a:rPr>
              <a:t>errors </a:t>
            </a:r>
            <a:r>
              <a:rPr lang="en-US" sz="2400" dirty="0">
                <a:latin typeface="Cambria"/>
                <a:cs typeface="Cambria"/>
              </a:rPr>
              <a:t>in </a:t>
            </a:r>
            <a:r>
              <a:rPr lang="en-US" sz="2400" spc="-5" dirty="0">
                <a:latin typeface="Cambria"/>
                <a:cs typeface="Cambria"/>
              </a:rPr>
              <a:t>the </a:t>
            </a:r>
            <a:r>
              <a:rPr lang="en-US" sz="2400" spc="-15" dirty="0">
                <a:latin typeface="Cambria"/>
                <a:cs typeface="Cambria"/>
              </a:rPr>
              <a:t>receiver </a:t>
            </a:r>
            <a:r>
              <a:rPr lang="en-US" sz="2400" dirty="0">
                <a:latin typeface="Cambria"/>
                <a:cs typeface="Cambria"/>
              </a:rPr>
              <a:t>output,  </a:t>
            </a:r>
            <a:r>
              <a:rPr lang="en-US" sz="2400" spc="-5" dirty="0">
                <a:latin typeface="Cambria"/>
                <a:cs typeface="Cambria"/>
              </a:rPr>
              <a:t>resulting </a:t>
            </a:r>
            <a:r>
              <a:rPr lang="en-US" sz="2400" dirty="0">
                <a:latin typeface="Cambria"/>
                <a:cs typeface="Cambria"/>
              </a:rPr>
              <a:t>in </a:t>
            </a:r>
            <a:r>
              <a:rPr lang="en-US" sz="2400" spc="-5" dirty="0">
                <a:latin typeface="Cambria"/>
                <a:cs typeface="Cambria"/>
              </a:rPr>
              <a:t>the limitation </a:t>
            </a:r>
            <a:r>
              <a:rPr lang="en-US" sz="2400" dirty="0">
                <a:latin typeface="Cambria"/>
                <a:cs typeface="Cambria"/>
              </a:rPr>
              <a:t>of </a:t>
            </a:r>
            <a:r>
              <a:rPr lang="en-US" sz="2400" spc="-5" dirty="0">
                <a:latin typeface="Cambria"/>
                <a:cs typeface="Cambria"/>
              </a:rPr>
              <a:t>information-carrying capacity </a:t>
            </a:r>
            <a:r>
              <a:rPr lang="en-US" sz="2400" dirty="0">
                <a:latin typeface="Cambria"/>
                <a:cs typeface="Cambria"/>
              </a:rPr>
              <a:t>of a</a:t>
            </a:r>
            <a:r>
              <a:rPr lang="en-US" sz="2400" spc="-20" dirty="0">
                <a:latin typeface="Cambria"/>
                <a:cs typeface="Cambria"/>
              </a:rPr>
              <a:t> </a:t>
            </a:r>
            <a:r>
              <a:rPr lang="en-US" sz="2400" spc="-35" dirty="0">
                <a:latin typeface="Cambria"/>
                <a:cs typeface="Cambria"/>
              </a:rPr>
              <a:t>fiber.</a:t>
            </a:r>
          </a:p>
          <a:p>
            <a:pPr marL="0" indent="0" algn="just">
              <a:buNone/>
            </a:pPr>
            <a:r>
              <a:rPr lang="en-US" sz="2400" dirty="0">
                <a:latin typeface="Cambria"/>
                <a:cs typeface="Cambria"/>
              </a:rPr>
              <a:t>In </a:t>
            </a:r>
            <a:r>
              <a:rPr lang="en-US" sz="2400" spc="-5" dirty="0">
                <a:latin typeface="Cambria"/>
                <a:cs typeface="Cambria"/>
              </a:rPr>
              <a:t>communication, dispersion </a:t>
            </a:r>
            <a:r>
              <a:rPr lang="en-US" sz="2400" dirty="0">
                <a:latin typeface="Cambria"/>
                <a:cs typeface="Cambria"/>
              </a:rPr>
              <a:t>is used </a:t>
            </a:r>
            <a:r>
              <a:rPr lang="en-US" sz="2400" spc="-5" dirty="0">
                <a:latin typeface="Cambria"/>
                <a:cs typeface="Cambria"/>
              </a:rPr>
              <a:t>to </a:t>
            </a:r>
            <a:r>
              <a:rPr lang="en-US" sz="2400" dirty="0">
                <a:latin typeface="Cambria"/>
                <a:cs typeface="Cambria"/>
              </a:rPr>
              <a:t>describe </a:t>
            </a:r>
            <a:r>
              <a:rPr lang="en-US" sz="2400" spc="-15" dirty="0">
                <a:latin typeface="Cambria"/>
                <a:cs typeface="Cambria"/>
              </a:rPr>
              <a:t>any </a:t>
            </a:r>
            <a:r>
              <a:rPr lang="en-US" sz="2400" spc="-10" dirty="0">
                <a:latin typeface="Cambria"/>
                <a:cs typeface="Cambria"/>
              </a:rPr>
              <a:t>process </a:t>
            </a:r>
            <a:r>
              <a:rPr lang="en-US" sz="2400" spc="-15" dirty="0">
                <a:latin typeface="Cambria"/>
                <a:cs typeface="Cambria"/>
              </a:rPr>
              <a:t>by </a:t>
            </a:r>
            <a:r>
              <a:rPr lang="en-US" sz="2400" spc="-5" dirty="0">
                <a:latin typeface="Cambria"/>
                <a:cs typeface="Cambria"/>
              </a:rPr>
              <a:t>which </a:t>
            </a:r>
            <a:r>
              <a:rPr lang="en-US" sz="2400" spc="-15" dirty="0">
                <a:latin typeface="Cambria"/>
                <a:cs typeface="Cambria"/>
              </a:rPr>
              <a:t>any  </a:t>
            </a:r>
            <a:r>
              <a:rPr lang="en-US" sz="2400" spc="-5" dirty="0">
                <a:latin typeface="Cambria"/>
                <a:cs typeface="Cambria"/>
              </a:rPr>
              <a:t>electromagnetic </a:t>
            </a:r>
            <a:r>
              <a:rPr lang="en-US" sz="2400" dirty="0">
                <a:latin typeface="Cambria"/>
                <a:cs typeface="Cambria"/>
              </a:rPr>
              <a:t>signal </a:t>
            </a:r>
            <a:r>
              <a:rPr lang="en-US" sz="2400" spc="-10" dirty="0">
                <a:latin typeface="Cambria"/>
                <a:cs typeface="Cambria"/>
              </a:rPr>
              <a:t>propagating </a:t>
            </a:r>
            <a:r>
              <a:rPr lang="en-US" sz="2400" dirty="0">
                <a:latin typeface="Cambria"/>
                <a:cs typeface="Cambria"/>
              </a:rPr>
              <a:t>in a </a:t>
            </a:r>
            <a:r>
              <a:rPr lang="en-US" sz="2400" spc="-10" dirty="0">
                <a:latin typeface="Cambria"/>
                <a:cs typeface="Cambria"/>
              </a:rPr>
              <a:t>physical </a:t>
            </a:r>
            <a:r>
              <a:rPr lang="en-US" sz="2400" spc="-5" dirty="0">
                <a:latin typeface="Cambria"/>
                <a:cs typeface="Cambria"/>
              </a:rPr>
              <a:t>medium </a:t>
            </a:r>
            <a:r>
              <a:rPr lang="en-US" sz="2400" dirty="0">
                <a:latin typeface="Cambria"/>
                <a:cs typeface="Cambria"/>
              </a:rPr>
              <a:t>is </a:t>
            </a:r>
            <a:r>
              <a:rPr lang="en-US" sz="2400" spc="-10" dirty="0">
                <a:latin typeface="Cambria"/>
                <a:cs typeface="Cambria"/>
              </a:rPr>
              <a:t>degraded </a:t>
            </a:r>
            <a:r>
              <a:rPr lang="en-US" sz="2400" dirty="0">
                <a:latin typeface="Cambria"/>
                <a:cs typeface="Cambria"/>
              </a:rPr>
              <a:t>because </a:t>
            </a:r>
            <a:r>
              <a:rPr lang="en-US" sz="2400" spc="-5" dirty="0">
                <a:latin typeface="Cambria"/>
                <a:cs typeface="Cambria"/>
              </a:rPr>
              <a:t>the </a:t>
            </a:r>
            <a:r>
              <a:rPr lang="en-US" sz="2400" spc="-10" dirty="0">
                <a:latin typeface="Cambria"/>
                <a:cs typeface="Cambria"/>
              </a:rPr>
              <a:t>various </a:t>
            </a:r>
            <a:r>
              <a:rPr lang="en-US" sz="2400" spc="-30" dirty="0">
                <a:latin typeface="Cambria"/>
                <a:cs typeface="Cambria"/>
              </a:rPr>
              <a:t>wave </a:t>
            </a:r>
            <a:r>
              <a:rPr lang="en-US" sz="2400" spc="-5" dirty="0">
                <a:latin typeface="Cambria"/>
                <a:cs typeface="Cambria"/>
              </a:rPr>
              <a:t>characteristics (i.e., frequencies) </a:t>
            </a:r>
            <a:r>
              <a:rPr lang="en-US" sz="2400" dirty="0">
                <a:latin typeface="Cambria"/>
                <a:cs typeface="Cambria"/>
              </a:rPr>
              <a:t>of </a:t>
            </a:r>
            <a:r>
              <a:rPr lang="en-US" sz="2400" spc="-5" dirty="0">
                <a:latin typeface="Cambria"/>
                <a:cs typeface="Cambria"/>
              </a:rPr>
              <a:t>the signal </a:t>
            </a:r>
            <a:r>
              <a:rPr lang="en-US" sz="2400" spc="-20" dirty="0">
                <a:latin typeface="Cambria"/>
                <a:cs typeface="Cambria"/>
              </a:rPr>
              <a:t>have  </a:t>
            </a:r>
            <a:r>
              <a:rPr lang="en-US" sz="2400" spc="-10" dirty="0">
                <a:latin typeface="Cambria"/>
                <a:cs typeface="Cambria"/>
              </a:rPr>
              <a:t>different  propagation </a:t>
            </a:r>
            <a:r>
              <a:rPr lang="en-US" sz="2400" spc="-5" dirty="0">
                <a:latin typeface="Cambria"/>
                <a:cs typeface="Cambria"/>
              </a:rPr>
              <a:t>velocities within the </a:t>
            </a:r>
            <a:r>
              <a:rPr lang="en-US" sz="2400" spc="-10" dirty="0">
                <a:latin typeface="Cambria"/>
                <a:cs typeface="Cambria"/>
              </a:rPr>
              <a:t>physical</a:t>
            </a:r>
            <a:r>
              <a:rPr lang="en-US" sz="2400" spc="-30" dirty="0">
                <a:latin typeface="Cambria"/>
                <a:cs typeface="Cambria"/>
              </a:rPr>
              <a:t> </a:t>
            </a:r>
            <a:r>
              <a:rPr lang="en-US" sz="2400" spc="-5" dirty="0">
                <a:latin typeface="Cambria"/>
                <a:cs typeface="Cambria"/>
              </a:rPr>
              <a:t>medium.</a:t>
            </a:r>
          </a:p>
          <a:p>
            <a:pPr marL="0" indent="0" algn="just">
              <a:buNone/>
            </a:pPr>
            <a:r>
              <a:rPr lang="en-US" sz="2400" b="1" dirty="0">
                <a:latin typeface="Cambria" panose="02040503050406030204" pitchFamily="18" charset="0"/>
                <a:ea typeface="Cambria" panose="02040503050406030204" pitchFamily="18" charset="0"/>
              </a:rPr>
              <a:t>Types of Dispersion </a:t>
            </a:r>
          </a:p>
          <a:p>
            <a:pPr marL="0" indent="0">
              <a:lnSpc>
                <a:spcPct val="100000"/>
              </a:lnSpc>
              <a:spcBef>
                <a:spcPts val="5"/>
              </a:spcBef>
              <a:buClr>
                <a:srgbClr val="DD8046"/>
              </a:buClr>
              <a:buSzPct val="59090"/>
              <a:buNone/>
              <a:tabLst>
                <a:tab pos="333375" algn="l"/>
              </a:tabLst>
            </a:pPr>
            <a:endParaRPr lang="en-US" sz="2400" b="1" dirty="0">
              <a:latin typeface="Cambria" panose="02040503050406030204" pitchFamily="18" charset="0"/>
              <a:ea typeface="Cambria" panose="02040503050406030204" pitchFamily="18" charset="0"/>
            </a:endParaRPr>
          </a:p>
          <a:p>
            <a:pPr marL="0" indent="0">
              <a:lnSpc>
                <a:spcPct val="100000"/>
              </a:lnSpc>
              <a:spcBef>
                <a:spcPts val="5"/>
              </a:spcBef>
              <a:buClr>
                <a:srgbClr val="DD8046"/>
              </a:buClr>
              <a:buSzPct val="59090"/>
              <a:buNone/>
              <a:tabLst>
                <a:tab pos="333375" algn="l"/>
              </a:tabLst>
            </a:pPr>
            <a:r>
              <a:rPr lang="en-US" sz="2400" b="1" dirty="0">
                <a:latin typeface="Cambria" panose="02040503050406030204" pitchFamily="18" charset="0"/>
                <a:ea typeface="Cambria" panose="02040503050406030204" pitchFamily="18" charset="0"/>
              </a:rPr>
              <a:t>Dispersion  are of </a:t>
            </a:r>
            <a:r>
              <a:rPr lang="en-US" sz="2400" dirty="0">
                <a:latin typeface="Cambria" panose="02040503050406030204" pitchFamily="18" charset="0"/>
                <a:ea typeface="Cambria" panose="02040503050406030204" pitchFamily="18" charset="0"/>
                <a:cs typeface="Arial"/>
              </a:rPr>
              <a:t>two</a:t>
            </a:r>
            <a:r>
              <a:rPr lang="en-US" sz="2400" spc="-3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types:</a:t>
            </a:r>
          </a:p>
          <a:p>
            <a:pPr marL="835025" lvl="1" indent="-457200">
              <a:lnSpc>
                <a:spcPct val="100000"/>
              </a:lnSpc>
              <a:spcBef>
                <a:spcPts val="600"/>
              </a:spcBef>
              <a:buClr>
                <a:srgbClr val="93B6D2"/>
              </a:buClr>
              <a:buSzPct val="69696"/>
              <a:buFont typeface="Wingdings" panose="05000000000000000000" pitchFamily="2" charset="2"/>
              <a:buChar char="Ø"/>
              <a:tabLst>
                <a:tab pos="768350" algn="l"/>
                <a:tab pos="768985" algn="l"/>
              </a:tabLst>
            </a:pPr>
            <a:r>
              <a:rPr lang="en-US" sz="2400" spc="-5" dirty="0">
                <a:latin typeface="Cambria" panose="02040503050406030204" pitchFamily="18" charset="0"/>
                <a:ea typeface="Cambria" panose="02040503050406030204" pitchFamily="18" charset="0"/>
                <a:cs typeface="Arial"/>
              </a:rPr>
              <a:t>Intra </a:t>
            </a:r>
            <a:r>
              <a:rPr lang="en-US" sz="2400" dirty="0">
                <a:latin typeface="Cambria" panose="02040503050406030204" pitchFamily="18" charset="0"/>
                <a:ea typeface="Cambria" panose="02040503050406030204" pitchFamily="18" charset="0"/>
                <a:cs typeface="Arial"/>
              </a:rPr>
              <a:t>modal or Chromatic</a:t>
            </a:r>
            <a:r>
              <a:rPr lang="en-US" sz="2400" spc="-30"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Dispersion</a:t>
            </a:r>
          </a:p>
          <a:p>
            <a:pPr marL="835025" lvl="1" indent="-457200">
              <a:lnSpc>
                <a:spcPct val="100000"/>
              </a:lnSpc>
              <a:spcBef>
                <a:spcPts val="600"/>
              </a:spcBef>
              <a:buClr>
                <a:srgbClr val="93B6D2"/>
              </a:buClr>
              <a:buSzPct val="69696"/>
              <a:buFont typeface="Wingdings" panose="05000000000000000000" pitchFamily="2" charset="2"/>
              <a:buChar char="Ø"/>
              <a:tabLst>
                <a:tab pos="768350" algn="l"/>
                <a:tab pos="768985" algn="l"/>
              </a:tabLst>
            </a:pPr>
            <a:r>
              <a:rPr lang="en-US" sz="2400" spc="-5" dirty="0">
                <a:latin typeface="Cambria" panose="02040503050406030204" pitchFamily="18" charset="0"/>
                <a:ea typeface="Cambria" panose="02040503050406030204" pitchFamily="18" charset="0"/>
                <a:cs typeface="Arial"/>
              </a:rPr>
              <a:t>Intermodal or Modal</a:t>
            </a:r>
            <a:r>
              <a:rPr lang="en-US" sz="2400" spc="1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Dispersion</a:t>
            </a:r>
          </a:p>
          <a:p>
            <a:pPr marL="0" indent="0" algn="just">
              <a:buNone/>
            </a:pPr>
            <a:endParaRPr lang="en-US" sz="2400" dirty="0">
              <a:latin typeface="Cambria"/>
              <a:cs typeface="Cambria"/>
            </a:endParaRPr>
          </a:p>
          <a:p>
            <a:pPr marL="0" indent="0" algn="just">
              <a:buNone/>
            </a:pPr>
            <a:endParaRPr lang="en-US" sz="2400" dirty="0">
              <a:latin typeface="Cambria"/>
              <a:cs typeface="Cambria"/>
            </a:endParaRPr>
          </a:p>
          <a:p>
            <a:pPr marL="0" indent="0">
              <a:buNone/>
            </a:pPr>
            <a:endParaRPr lang="en-US" sz="2400" dirty="0"/>
          </a:p>
        </p:txBody>
      </p:sp>
      <p:sp>
        <p:nvSpPr>
          <p:cNvPr id="5" name="Slide Number Placeholder 4"/>
          <p:cNvSpPr>
            <a:spLocks noGrp="1"/>
          </p:cNvSpPr>
          <p:nvPr>
            <p:ph type="sldNum" sz="quarter" idx="12"/>
          </p:nvPr>
        </p:nvSpPr>
        <p:spPr/>
        <p:txBody>
          <a:bodyPr/>
          <a:lstStyle/>
          <a:p>
            <a:fld id="{BDCDBBEF-AA6C-4BA6-85B2-A17D7F280E38}" type="slidenum">
              <a:rPr lang="en-US" smtClean="0"/>
              <a:t>36</a:t>
            </a:fld>
            <a:endParaRPr lang="en-US"/>
          </a:p>
        </p:txBody>
      </p:sp>
      <p:sp>
        <p:nvSpPr>
          <p:cNvPr id="6" name="object 2"/>
          <p:cNvSpPr txBox="1">
            <a:spLocks noGrp="1"/>
          </p:cNvSpPr>
          <p:nvPr>
            <p:ph type="title"/>
          </p:nvPr>
        </p:nvSpPr>
        <p:spPr>
          <a:xfrm>
            <a:off x="2237362" y="146006"/>
            <a:ext cx="5719863" cy="690574"/>
          </a:xfrm>
          <a:prstGeom prst="rect">
            <a:avLst/>
          </a:prstGeom>
        </p:spPr>
        <p:txBody>
          <a:bodyPr vert="horz" wrap="square" lIns="0" tIns="13335" rIns="0" bIns="0" rtlCol="0">
            <a:spAutoFit/>
          </a:bodyPr>
          <a:lstStyle/>
          <a:p>
            <a:pPr marL="12700">
              <a:lnSpc>
                <a:spcPct val="100000"/>
              </a:lnSpc>
              <a:spcBef>
                <a:spcPts val="105"/>
              </a:spcBef>
            </a:pPr>
            <a:r>
              <a:rPr sz="4400" b="1" dirty="0">
                <a:latin typeface="Cambria" panose="02040503050406030204" pitchFamily="18" charset="0"/>
                <a:ea typeface="Cambria" panose="02040503050406030204" pitchFamily="18" charset="0"/>
              </a:rPr>
              <a:t>D</a:t>
            </a:r>
            <a:r>
              <a:rPr lang="en-US" sz="4400" b="1" dirty="0">
                <a:latin typeface="Cambria" panose="02040503050406030204" pitchFamily="18" charset="0"/>
                <a:ea typeface="Cambria" panose="02040503050406030204" pitchFamily="18" charset="0"/>
              </a:rPr>
              <a:t>ispersion</a:t>
            </a:r>
            <a:r>
              <a:rPr sz="4400" b="1" dirty="0">
                <a:latin typeface="Cambria" panose="02040503050406030204" pitchFamily="18" charset="0"/>
                <a:ea typeface="Cambria" panose="02040503050406030204" pitchFamily="18" charset="0"/>
              </a:rPr>
              <a:t> </a:t>
            </a:r>
            <a:r>
              <a:rPr sz="4400" b="1" spc="-55" dirty="0">
                <a:latin typeface="Cambria" panose="02040503050406030204" pitchFamily="18" charset="0"/>
                <a:ea typeface="Cambria" panose="02040503050406030204" pitchFamily="18" charset="0"/>
              </a:rPr>
              <a:t> </a:t>
            </a:r>
            <a:r>
              <a:rPr sz="4400" b="1" dirty="0">
                <a:latin typeface="Cambria" panose="02040503050406030204" pitchFamily="18" charset="0"/>
                <a:ea typeface="Cambria" panose="02040503050406030204" pitchFamily="18" charset="0"/>
              </a:rPr>
              <a:t>T</a:t>
            </a:r>
            <a:r>
              <a:rPr lang="en-US" sz="4400" b="1" dirty="0">
                <a:latin typeface="Cambria" panose="02040503050406030204" pitchFamily="18" charset="0"/>
                <a:ea typeface="Cambria" panose="02040503050406030204" pitchFamily="18" charset="0"/>
              </a:rPr>
              <a:t>ypes</a:t>
            </a:r>
            <a:endParaRPr sz="44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364503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197" y="0"/>
            <a:ext cx="9875519" cy="1562100"/>
          </a:xfrm>
        </p:spPr>
        <p:txBody>
          <a:bodyPr>
            <a:noAutofit/>
          </a:bodyPr>
          <a:lstStyle/>
          <a:p>
            <a:pPr lvl="1" algn="l" rtl="0">
              <a:lnSpc>
                <a:spcPct val="90000"/>
              </a:lnSpc>
              <a:spcBef>
                <a:spcPct val="0"/>
              </a:spcBef>
            </a:pPr>
            <a:r>
              <a:rPr lang="en-US" sz="4400" b="1" spc="-5" dirty="0">
                <a:latin typeface="Cambria" panose="02040503050406030204" pitchFamily="18" charset="0"/>
                <a:ea typeface="Cambria" panose="02040503050406030204" pitchFamily="18" charset="0"/>
                <a:cs typeface="Arial"/>
              </a:rPr>
              <a:t>Intra </a:t>
            </a:r>
            <a:r>
              <a:rPr lang="en-US" sz="4400" b="1" dirty="0">
                <a:latin typeface="Cambria" panose="02040503050406030204" pitchFamily="18" charset="0"/>
                <a:ea typeface="Cambria" panose="02040503050406030204" pitchFamily="18" charset="0"/>
                <a:cs typeface="Arial"/>
              </a:rPr>
              <a:t>modal or Chromatic</a:t>
            </a:r>
            <a:r>
              <a:rPr lang="en-US" sz="4400" b="1" spc="-30" dirty="0">
                <a:latin typeface="Cambria" panose="02040503050406030204" pitchFamily="18" charset="0"/>
                <a:ea typeface="Cambria" panose="02040503050406030204" pitchFamily="18" charset="0"/>
                <a:cs typeface="Arial"/>
              </a:rPr>
              <a:t> </a:t>
            </a:r>
            <a:r>
              <a:rPr lang="en-US" sz="4400" b="1" dirty="0">
                <a:latin typeface="Cambria" panose="02040503050406030204" pitchFamily="18" charset="0"/>
                <a:ea typeface="Cambria" panose="02040503050406030204" pitchFamily="18" charset="0"/>
                <a:cs typeface="Arial"/>
              </a:rPr>
              <a:t>Dispersion</a:t>
            </a:r>
            <a:br>
              <a:rPr lang="en-US" sz="4400" b="1" dirty="0">
                <a:latin typeface="Cambria" panose="02040503050406030204" pitchFamily="18" charset="0"/>
                <a:ea typeface="Cambria" panose="02040503050406030204" pitchFamily="18" charset="0"/>
                <a:cs typeface="Arial"/>
              </a:rPr>
            </a:br>
            <a:endParaRPr lang="en-US" sz="4400" b="1" dirty="0"/>
          </a:p>
        </p:txBody>
      </p:sp>
      <p:sp>
        <p:nvSpPr>
          <p:cNvPr id="3" name="Content Placeholder 2"/>
          <p:cNvSpPr>
            <a:spLocks noGrp="1"/>
          </p:cNvSpPr>
          <p:nvPr>
            <p:ph idx="1"/>
          </p:nvPr>
        </p:nvSpPr>
        <p:spPr>
          <a:xfrm>
            <a:off x="533400" y="1562100"/>
            <a:ext cx="10821988" cy="4298950"/>
          </a:xfrm>
        </p:spPr>
        <p:txBody>
          <a:bodyPr>
            <a:normAutofit/>
          </a:bodyPr>
          <a:lstStyle/>
          <a:p>
            <a:pPr marL="286385" marR="7620" indent="-274320" algn="just">
              <a:lnSpc>
                <a:spcPct val="150100"/>
              </a:lnSpc>
              <a:spcBef>
                <a:spcPts val="1410"/>
              </a:spcBef>
              <a:buClr>
                <a:srgbClr val="0AD0D9"/>
              </a:buClr>
              <a:buSzPct val="93750"/>
              <a:buFont typeface="Wingdings"/>
              <a:buChar char=""/>
              <a:tabLst>
                <a:tab pos="287020" algn="l"/>
              </a:tabLst>
            </a:pPr>
            <a:r>
              <a:rPr lang="en-US" sz="2400" b="1" spc="-10" dirty="0" err="1">
                <a:latin typeface="Cambria"/>
                <a:cs typeface="Cambria"/>
              </a:rPr>
              <a:t>Intramodal</a:t>
            </a:r>
            <a:r>
              <a:rPr lang="en-US" sz="2400" b="1" spc="-10" dirty="0">
                <a:latin typeface="Cambria"/>
                <a:cs typeface="Cambria"/>
              </a:rPr>
              <a:t> </a:t>
            </a:r>
            <a:r>
              <a:rPr lang="en-US" sz="2400" b="1" spc="-5" dirty="0">
                <a:latin typeface="Cambria"/>
                <a:cs typeface="Cambria"/>
              </a:rPr>
              <a:t>or </a:t>
            </a:r>
            <a:r>
              <a:rPr lang="en-US" sz="2400" b="1" spc="-10" dirty="0">
                <a:latin typeface="Cambria"/>
                <a:cs typeface="Cambria"/>
              </a:rPr>
              <a:t>Chromatic </a:t>
            </a:r>
            <a:r>
              <a:rPr lang="en-US" sz="2400" b="1" spc="-5" dirty="0">
                <a:latin typeface="Cambria"/>
                <a:cs typeface="Cambria"/>
              </a:rPr>
              <a:t>dispersion </a:t>
            </a:r>
            <a:r>
              <a:rPr lang="en-US" sz="2400" spc="-5" dirty="0">
                <a:latin typeface="Cambria"/>
                <a:cs typeface="Cambria"/>
              </a:rPr>
              <a:t>(CD) </a:t>
            </a:r>
            <a:r>
              <a:rPr lang="en-US" sz="2400" dirty="0">
                <a:latin typeface="Cambria"/>
                <a:cs typeface="Cambria"/>
              </a:rPr>
              <a:t>is </a:t>
            </a:r>
            <a:r>
              <a:rPr lang="en-US" sz="2400" spc="-5" dirty="0">
                <a:latin typeface="Cambria"/>
                <a:cs typeface="Cambria"/>
              </a:rPr>
              <a:t>caused </a:t>
            </a:r>
            <a:r>
              <a:rPr lang="en-US" sz="2400" spc="-15" dirty="0">
                <a:latin typeface="Cambria"/>
                <a:cs typeface="Cambria"/>
              </a:rPr>
              <a:t>by </a:t>
            </a:r>
            <a:r>
              <a:rPr lang="en-US" sz="2400" spc="-10" dirty="0">
                <a:latin typeface="Cambria"/>
                <a:cs typeface="Cambria"/>
              </a:rPr>
              <a:t>the fact </a:t>
            </a:r>
            <a:r>
              <a:rPr lang="en-US" sz="2400" spc="-5" dirty="0">
                <a:latin typeface="Cambria"/>
                <a:cs typeface="Cambria"/>
              </a:rPr>
              <a:t>that single mode glass fibers  </a:t>
            </a:r>
            <a:r>
              <a:rPr lang="en-US" sz="2400" spc="-10" dirty="0">
                <a:latin typeface="Cambria"/>
                <a:cs typeface="Cambria"/>
              </a:rPr>
              <a:t>transmit </a:t>
            </a:r>
            <a:r>
              <a:rPr lang="en-US" sz="2400" spc="-5" dirty="0">
                <a:latin typeface="Cambria"/>
                <a:cs typeface="Cambria"/>
              </a:rPr>
              <a:t>light of </a:t>
            </a:r>
            <a:r>
              <a:rPr lang="en-US" sz="2400" spc="-10" dirty="0">
                <a:latin typeface="Cambria"/>
                <a:cs typeface="Cambria"/>
              </a:rPr>
              <a:t>different </a:t>
            </a:r>
            <a:r>
              <a:rPr lang="en-US" sz="2400" spc="-15" dirty="0">
                <a:latin typeface="Cambria"/>
                <a:cs typeface="Cambria"/>
              </a:rPr>
              <a:t>wavelengths </a:t>
            </a:r>
            <a:r>
              <a:rPr lang="en-US" sz="2400" spc="-5" dirty="0">
                <a:latin typeface="Cambria"/>
                <a:cs typeface="Cambria"/>
              </a:rPr>
              <a:t>at different speeds. The </a:t>
            </a:r>
            <a:r>
              <a:rPr lang="en-US" sz="2400" spc="-10" dirty="0">
                <a:latin typeface="Cambria"/>
                <a:cs typeface="Cambria"/>
              </a:rPr>
              <a:t>ratio </a:t>
            </a:r>
            <a:r>
              <a:rPr lang="en-US" sz="2400" spc="-5" dirty="0">
                <a:latin typeface="Cambria"/>
                <a:cs typeface="Cambria"/>
              </a:rPr>
              <a:t>of the speed of light in a  medium </a:t>
            </a:r>
            <a:r>
              <a:rPr lang="en-US" sz="2400" spc="-10" dirty="0">
                <a:latin typeface="Cambria"/>
                <a:cs typeface="Cambria"/>
              </a:rPr>
              <a:t>to </a:t>
            </a:r>
            <a:r>
              <a:rPr lang="en-US" sz="2400" spc="-5" dirty="0">
                <a:latin typeface="Cambria"/>
                <a:cs typeface="Cambria"/>
              </a:rPr>
              <a:t>the speed in a </a:t>
            </a:r>
            <a:r>
              <a:rPr lang="en-US" sz="2400" spc="-10" dirty="0">
                <a:latin typeface="Cambria"/>
                <a:cs typeface="Cambria"/>
              </a:rPr>
              <a:t>vacuum </a:t>
            </a:r>
            <a:r>
              <a:rPr lang="en-US" sz="2400" spc="-5" dirty="0">
                <a:latin typeface="Cambria"/>
                <a:cs typeface="Cambria"/>
              </a:rPr>
              <a:t>defines the </a:t>
            </a:r>
            <a:r>
              <a:rPr lang="en-US" sz="2400" spc="-10" dirty="0">
                <a:latin typeface="Cambria"/>
                <a:cs typeface="Cambria"/>
              </a:rPr>
              <a:t>index </a:t>
            </a:r>
            <a:r>
              <a:rPr lang="en-US" sz="2400" spc="-5" dirty="0">
                <a:latin typeface="Cambria"/>
                <a:cs typeface="Cambria"/>
              </a:rPr>
              <a:t>of </a:t>
            </a:r>
            <a:r>
              <a:rPr lang="en-US" sz="2400" spc="-10" dirty="0">
                <a:latin typeface="Cambria"/>
                <a:cs typeface="Cambria"/>
              </a:rPr>
              <a:t>refraction </a:t>
            </a:r>
            <a:r>
              <a:rPr lang="en-US" sz="2400" spc="-5" dirty="0">
                <a:latin typeface="Cambria"/>
                <a:cs typeface="Cambria"/>
              </a:rPr>
              <a:t>or </a:t>
            </a:r>
            <a:r>
              <a:rPr lang="en-US" sz="2400" spc="-15" dirty="0">
                <a:latin typeface="Cambria"/>
                <a:cs typeface="Cambria"/>
              </a:rPr>
              <a:t>refractive </a:t>
            </a:r>
            <a:r>
              <a:rPr lang="en-US" sz="2400" spc="-5" dirty="0">
                <a:latin typeface="Cambria"/>
                <a:cs typeface="Cambria"/>
              </a:rPr>
              <a:t>index </a:t>
            </a:r>
            <a:r>
              <a:rPr lang="en-US" sz="2400" spc="5" dirty="0">
                <a:latin typeface="Cambria"/>
                <a:cs typeface="Cambria"/>
              </a:rPr>
              <a:t>of </a:t>
            </a:r>
            <a:r>
              <a:rPr lang="en-US" sz="2400" spc="-5" dirty="0">
                <a:latin typeface="Cambria"/>
                <a:cs typeface="Cambria"/>
              </a:rPr>
              <a:t>the  material.</a:t>
            </a:r>
            <a:endParaRPr lang="en-US" sz="2400" dirty="0">
              <a:latin typeface="Cambria"/>
              <a:cs typeface="Cambria"/>
            </a:endParaRPr>
          </a:p>
          <a:p>
            <a:pPr marL="287020" indent="-274320">
              <a:lnSpc>
                <a:spcPct val="100000"/>
              </a:lnSpc>
              <a:spcBef>
                <a:spcPts val="345"/>
              </a:spcBef>
              <a:buClr>
                <a:srgbClr val="0AD0D9"/>
              </a:buClr>
              <a:buSzPct val="95000"/>
              <a:buFont typeface="Wingdings"/>
              <a:buChar char=""/>
              <a:tabLst>
                <a:tab pos="287020" algn="l"/>
              </a:tabLst>
            </a:pPr>
            <a:r>
              <a:rPr lang="en-US" sz="2400" b="1" spc="-5" dirty="0">
                <a:latin typeface="Cambria"/>
                <a:cs typeface="Cambria"/>
              </a:rPr>
              <a:t>Material</a:t>
            </a:r>
            <a:r>
              <a:rPr lang="en-US" sz="2400" b="1" spc="-40" dirty="0">
                <a:latin typeface="Cambria"/>
                <a:cs typeface="Cambria"/>
              </a:rPr>
              <a:t> </a:t>
            </a:r>
            <a:r>
              <a:rPr lang="en-US" sz="2400" b="1" dirty="0">
                <a:latin typeface="Cambria"/>
                <a:cs typeface="Cambria"/>
              </a:rPr>
              <a:t>Dispersion</a:t>
            </a:r>
            <a:endParaRPr lang="en-US" sz="2400" dirty="0">
              <a:latin typeface="Cambria"/>
              <a:cs typeface="Cambria"/>
            </a:endParaRPr>
          </a:p>
          <a:p>
            <a:pPr marL="287020" indent="-274320">
              <a:lnSpc>
                <a:spcPct val="100000"/>
              </a:lnSpc>
              <a:spcBef>
                <a:spcPts val="710"/>
              </a:spcBef>
              <a:buClr>
                <a:srgbClr val="0AD0D9"/>
              </a:buClr>
              <a:buSzPct val="93750"/>
              <a:buFont typeface="Wingdings"/>
              <a:buChar char=""/>
              <a:tabLst>
                <a:tab pos="287020" algn="l"/>
              </a:tabLst>
            </a:pPr>
            <a:r>
              <a:rPr lang="en-US" sz="2400" spc="-5" dirty="0">
                <a:latin typeface="Cambria"/>
                <a:cs typeface="Cambria"/>
              </a:rPr>
              <a:t>This is due </a:t>
            </a:r>
            <a:r>
              <a:rPr lang="en-US" sz="2400" spc="-10" dirty="0">
                <a:latin typeface="Cambria"/>
                <a:cs typeface="Cambria"/>
              </a:rPr>
              <a:t>to </a:t>
            </a:r>
            <a:r>
              <a:rPr lang="en-US" sz="2400" spc="-5" dirty="0">
                <a:latin typeface="Cambria"/>
                <a:cs typeface="Cambria"/>
              </a:rPr>
              <a:t>intrinsic properties of </a:t>
            </a:r>
            <a:r>
              <a:rPr lang="en-US" sz="2400" spc="-10" dirty="0">
                <a:latin typeface="Cambria"/>
                <a:cs typeface="Cambria"/>
              </a:rPr>
              <a:t>the </a:t>
            </a:r>
            <a:r>
              <a:rPr lang="en-US" sz="2400" spc="-5" dirty="0">
                <a:latin typeface="Cambria"/>
                <a:cs typeface="Cambria"/>
              </a:rPr>
              <a:t>material,</a:t>
            </a:r>
            <a:r>
              <a:rPr lang="en-US" sz="2400" spc="70" dirty="0">
                <a:latin typeface="Cambria"/>
                <a:cs typeface="Cambria"/>
              </a:rPr>
              <a:t> </a:t>
            </a:r>
            <a:r>
              <a:rPr lang="en-US" sz="2400" spc="-10" dirty="0">
                <a:latin typeface="Cambria"/>
                <a:cs typeface="Cambria"/>
              </a:rPr>
              <a:t>glass.</a:t>
            </a:r>
            <a:endParaRPr lang="en-US" sz="2400" dirty="0">
              <a:latin typeface="Cambria"/>
              <a:cs typeface="Cambria"/>
            </a:endParaRPr>
          </a:p>
          <a:p>
            <a:pPr marL="286385" marR="9525" indent="-274320">
              <a:lnSpc>
                <a:spcPct val="130000"/>
              </a:lnSpc>
              <a:spcBef>
                <a:spcPts val="385"/>
              </a:spcBef>
              <a:buClr>
                <a:srgbClr val="0AD0D9"/>
              </a:buClr>
              <a:buSzPct val="93750"/>
              <a:buFont typeface="Wingdings"/>
              <a:buChar char=""/>
              <a:tabLst>
                <a:tab pos="287020" algn="l"/>
              </a:tabLst>
            </a:pPr>
            <a:r>
              <a:rPr lang="en-US" sz="2400" spc="-5" dirty="0">
                <a:latin typeface="Cambria"/>
                <a:cs typeface="Cambria"/>
              </a:rPr>
              <a:t>Glass is a </a:t>
            </a:r>
            <a:r>
              <a:rPr lang="en-US" sz="2400" spc="-10" dirty="0">
                <a:latin typeface="Cambria"/>
                <a:cs typeface="Cambria"/>
              </a:rPr>
              <a:t>dispersive </a:t>
            </a:r>
            <a:r>
              <a:rPr lang="en-US" sz="2400" spc="-5" dirty="0">
                <a:latin typeface="Cambria"/>
                <a:cs typeface="Cambria"/>
              </a:rPr>
              <a:t>medium. </a:t>
            </a:r>
            <a:r>
              <a:rPr lang="en-US" sz="2400" spc="-45" dirty="0">
                <a:latin typeface="Cambria"/>
                <a:cs typeface="Cambria"/>
              </a:rPr>
              <a:t>We</a:t>
            </a:r>
            <a:r>
              <a:rPr lang="en-US" sz="2400" spc="260" dirty="0">
                <a:latin typeface="Cambria"/>
                <a:cs typeface="Cambria"/>
              </a:rPr>
              <a:t> </a:t>
            </a:r>
            <a:r>
              <a:rPr lang="en-US" sz="2400" spc="-5" dirty="0">
                <a:latin typeface="Cambria"/>
                <a:cs typeface="Cambria"/>
              </a:rPr>
              <a:t>can </a:t>
            </a:r>
            <a:r>
              <a:rPr lang="en-US" sz="2400" spc="-10" dirty="0">
                <a:latin typeface="Cambria"/>
                <a:cs typeface="Cambria"/>
              </a:rPr>
              <a:t>recall from </a:t>
            </a:r>
            <a:r>
              <a:rPr lang="en-US" sz="2400" spc="-5" dirty="0">
                <a:latin typeface="Cambria"/>
                <a:cs typeface="Cambria"/>
              </a:rPr>
              <a:t>our high school </a:t>
            </a:r>
            <a:r>
              <a:rPr lang="en-US" sz="2400" spc="-10" dirty="0">
                <a:latin typeface="Cambria"/>
                <a:cs typeface="Cambria"/>
              </a:rPr>
              <a:t>physics </a:t>
            </a:r>
            <a:r>
              <a:rPr lang="en-US" sz="2400" spc="-5" dirty="0">
                <a:latin typeface="Cambria"/>
                <a:cs typeface="Cambria"/>
              </a:rPr>
              <a:t>that glass </a:t>
            </a:r>
            <a:r>
              <a:rPr lang="en-US" sz="2400" dirty="0">
                <a:latin typeface="Cambria"/>
                <a:cs typeface="Cambria"/>
              </a:rPr>
              <a:t>has  </a:t>
            </a:r>
            <a:r>
              <a:rPr lang="en-US" sz="2400" spc="-10" dirty="0">
                <a:latin typeface="Cambria"/>
                <a:cs typeface="Cambria"/>
              </a:rPr>
              <a:t>different </a:t>
            </a:r>
            <a:r>
              <a:rPr lang="en-US" sz="2400" spc="-20" dirty="0">
                <a:latin typeface="Cambria"/>
                <a:cs typeface="Cambria"/>
              </a:rPr>
              <a:t>refractive </a:t>
            </a:r>
            <a:r>
              <a:rPr lang="en-US" sz="2400" spc="-10" dirty="0">
                <a:latin typeface="Cambria"/>
                <a:cs typeface="Cambria"/>
              </a:rPr>
              <a:t>index </a:t>
            </a:r>
            <a:r>
              <a:rPr lang="en-US" sz="2400" spc="-15" dirty="0">
                <a:latin typeface="Cambria"/>
                <a:cs typeface="Cambria"/>
              </a:rPr>
              <a:t>for </a:t>
            </a:r>
            <a:r>
              <a:rPr lang="en-US" sz="2400" spc="-10" dirty="0">
                <a:latin typeface="Cambria"/>
                <a:cs typeface="Cambria"/>
              </a:rPr>
              <a:t>different</a:t>
            </a:r>
            <a:r>
              <a:rPr lang="en-US" sz="2400" spc="114" dirty="0">
                <a:latin typeface="Cambria"/>
                <a:cs typeface="Cambria"/>
              </a:rPr>
              <a:t> </a:t>
            </a:r>
            <a:r>
              <a:rPr lang="en-US" sz="2400" spc="-5" dirty="0">
                <a:latin typeface="Cambria"/>
                <a:cs typeface="Cambria"/>
              </a:rPr>
              <a:t>colors.</a:t>
            </a:r>
            <a:endParaRPr lang="en-US" sz="2400" dirty="0">
              <a:latin typeface="Cambria"/>
              <a:cs typeface="Cambria"/>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37</a:t>
            </a:fld>
            <a:endParaRPr lang="en-US"/>
          </a:p>
        </p:txBody>
      </p:sp>
    </p:spTree>
    <p:extLst>
      <p:ext uri="{BB962C8B-B14F-4D97-AF65-F5344CB8AC3E}">
        <p14:creationId xmlns:p14="http://schemas.microsoft.com/office/powerpoint/2010/main" val="499137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9846" y="1206230"/>
            <a:ext cx="10635541" cy="5150120"/>
          </a:xfrm>
        </p:spPr>
        <p:txBody>
          <a:bodyPr>
            <a:normAutofit/>
          </a:bodyPr>
          <a:lstStyle/>
          <a:p>
            <a:pPr marL="287020" indent="-274320">
              <a:lnSpc>
                <a:spcPct val="100000"/>
              </a:lnSpc>
              <a:spcBef>
                <a:spcPts val="960"/>
              </a:spcBef>
              <a:buClr>
                <a:srgbClr val="0AD0D9"/>
              </a:buClr>
              <a:buSzPct val="93750"/>
              <a:buFont typeface="Wingdings"/>
              <a:buChar char=""/>
              <a:tabLst>
                <a:tab pos="287020" algn="l"/>
              </a:tabLst>
            </a:pPr>
            <a:r>
              <a:rPr lang="en-US" sz="2400" spc="-10" dirty="0">
                <a:latin typeface="Cambria"/>
                <a:cs typeface="Cambria"/>
              </a:rPr>
              <a:t>Different </a:t>
            </a:r>
            <a:r>
              <a:rPr lang="en-US" sz="2400" spc="-5" dirty="0">
                <a:latin typeface="Cambria"/>
                <a:cs typeface="Cambria"/>
              </a:rPr>
              <a:t>colors </a:t>
            </a:r>
            <a:r>
              <a:rPr lang="en-US" sz="2400" spc="-10" dirty="0">
                <a:latin typeface="Cambria"/>
                <a:cs typeface="Cambria"/>
              </a:rPr>
              <a:t>(wavelengths) </a:t>
            </a:r>
            <a:r>
              <a:rPr lang="en-US" sz="2400" spc="-25" dirty="0">
                <a:latin typeface="Cambria"/>
                <a:cs typeface="Cambria"/>
              </a:rPr>
              <a:t>have </a:t>
            </a:r>
            <a:r>
              <a:rPr lang="en-US" sz="2400" spc="-10" dirty="0">
                <a:latin typeface="Cambria"/>
                <a:cs typeface="Cambria"/>
              </a:rPr>
              <a:t>different velocity </a:t>
            </a:r>
            <a:r>
              <a:rPr lang="en-US" sz="2400" spc="-5" dirty="0">
                <a:latin typeface="Cambria"/>
                <a:cs typeface="Cambria"/>
              </a:rPr>
              <a:t>in</a:t>
            </a:r>
            <a:r>
              <a:rPr lang="en-US" sz="2400" spc="160" dirty="0">
                <a:latin typeface="Cambria"/>
                <a:cs typeface="Cambria"/>
              </a:rPr>
              <a:t> </a:t>
            </a:r>
            <a:r>
              <a:rPr lang="en-US" sz="2400" spc="-10" dirty="0">
                <a:latin typeface="Cambria"/>
                <a:cs typeface="Cambria"/>
              </a:rPr>
              <a:t>glass.</a:t>
            </a:r>
            <a:endParaRPr lang="en-US" sz="2400" dirty="0">
              <a:latin typeface="Cambria"/>
              <a:cs typeface="Cambria"/>
            </a:endParaRPr>
          </a:p>
          <a:p>
            <a:pPr marL="286385" marR="5080" indent="-274320">
              <a:lnSpc>
                <a:spcPct val="130000"/>
              </a:lnSpc>
              <a:spcBef>
                <a:spcPts val="390"/>
              </a:spcBef>
              <a:buClr>
                <a:srgbClr val="0AD0D9"/>
              </a:buClr>
              <a:buSzPct val="93750"/>
              <a:buFont typeface="Wingdings"/>
              <a:buChar char=""/>
              <a:tabLst>
                <a:tab pos="287020" algn="l"/>
              </a:tabLst>
            </a:pPr>
            <a:r>
              <a:rPr lang="en-US" sz="2400" spc="-5" dirty="0">
                <a:latin typeface="Cambria"/>
                <a:cs typeface="Cambria"/>
              </a:rPr>
              <a:t>A type of </a:t>
            </a:r>
            <a:r>
              <a:rPr lang="en-US" sz="2400" dirty="0">
                <a:latin typeface="Cambria"/>
                <a:cs typeface="Cambria"/>
              </a:rPr>
              <a:t>dispersion </a:t>
            </a:r>
            <a:r>
              <a:rPr lang="en-US" sz="2400" spc="-10" dirty="0">
                <a:latin typeface="Cambria"/>
                <a:cs typeface="Cambria"/>
              </a:rPr>
              <a:t>that </a:t>
            </a:r>
            <a:r>
              <a:rPr lang="en-US" sz="2400" spc="-5" dirty="0">
                <a:latin typeface="Cambria"/>
                <a:cs typeface="Cambria"/>
              </a:rPr>
              <a:t>occurs in optical fiber due </a:t>
            </a:r>
            <a:r>
              <a:rPr lang="en-US" sz="2400" spc="-10" dirty="0">
                <a:latin typeface="Cambria"/>
                <a:cs typeface="Cambria"/>
              </a:rPr>
              <a:t>to the interaction </a:t>
            </a:r>
            <a:r>
              <a:rPr lang="en-US" sz="2400" spc="-5" dirty="0">
                <a:latin typeface="Cambria"/>
                <a:cs typeface="Cambria"/>
              </a:rPr>
              <a:t>of </a:t>
            </a:r>
            <a:r>
              <a:rPr lang="en-US" sz="2400" spc="-10" dirty="0">
                <a:latin typeface="Cambria"/>
                <a:cs typeface="Cambria"/>
              </a:rPr>
              <a:t>various wavelengths  </a:t>
            </a:r>
            <a:r>
              <a:rPr lang="en-US" sz="2400" spc="-5" dirty="0">
                <a:latin typeface="Cambria"/>
                <a:cs typeface="Cambria"/>
              </a:rPr>
              <a:t>with </a:t>
            </a:r>
            <a:r>
              <a:rPr lang="en-US" sz="2400" spc="-10" dirty="0">
                <a:latin typeface="Cambria"/>
                <a:cs typeface="Cambria"/>
              </a:rPr>
              <a:t>the physical matter </a:t>
            </a:r>
            <a:r>
              <a:rPr lang="en-US" sz="2400" spc="-5" dirty="0">
                <a:latin typeface="Cambria"/>
                <a:cs typeface="Cambria"/>
              </a:rPr>
              <a:t>in </a:t>
            </a:r>
            <a:r>
              <a:rPr lang="en-US" sz="2400" spc="-10" dirty="0">
                <a:latin typeface="Cambria"/>
                <a:cs typeface="Cambria"/>
              </a:rPr>
              <a:t>the </a:t>
            </a:r>
            <a:r>
              <a:rPr lang="en-US" sz="2400" spc="-5" dirty="0">
                <a:latin typeface="Cambria"/>
                <a:cs typeface="Cambria"/>
              </a:rPr>
              <a:t>crystalline </a:t>
            </a:r>
            <a:r>
              <a:rPr lang="en-US" sz="2400" spc="-10" dirty="0">
                <a:latin typeface="Cambria"/>
                <a:cs typeface="Cambria"/>
              </a:rPr>
              <a:t>structure </a:t>
            </a:r>
            <a:r>
              <a:rPr lang="en-US" sz="2400" spc="-5" dirty="0">
                <a:latin typeface="Cambria"/>
                <a:cs typeface="Cambria"/>
              </a:rPr>
              <a:t>of </a:t>
            </a:r>
            <a:r>
              <a:rPr lang="en-US" sz="2400" spc="-10" dirty="0">
                <a:latin typeface="Cambria"/>
                <a:cs typeface="Cambria"/>
              </a:rPr>
              <a:t>the</a:t>
            </a:r>
            <a:r>
              <a:rPr lang="en-US" sz="2400" spc="135" dirty="0">
                <a:latin typeface="Cambria"/>
                <a:cs typeface="Cambria"/>
              </a:rPr>
              <a:t> </a:t>
            </a:r>
            <a:r>
              <a:rPr lang="en-US" sz="2400" spc="-10" dirty="0">
                <a:latin typeface="Cambria"/>
                <a:cs typeface="Cambria"/>
              </a:rPr>
              <a:t>glass.</a:t>
            </a:r>
            <a:endParaRPr lang="en-US" sz="2400" dirty="0">
              <a:latin typeface="Cambria"/>
              <a:cs typeface="Cambria"/>
            </a:endParaRPr>
          </a:p>
          <a:p>
            <a:pPr marL="287020" indent="-274320">
              <a:lnSpc>
                <a:spcPct val="100000"/>
              </a:lnSpc>
              <a:spcBef>
                <a:spcPts val="955"/>
              </a:spcBef>
              <a:buClr>
                <a:srgbClr val="0AD0D9"/>
              </a:buClr>
              <a:buSzPct val="93750"/>
              <a:buFont typeface="Wingdings"/>
              <a:buChar char=""/>
              <a:tabLst>
                <a:tab pos="287020" algn="l"/>
              </a:tabLst>
            </a:pPr>
            <a:r>
              <a:rPr lang="en-US" sz="2400" spc="-5" dirty="0">
                <a:latin typeface="Cambria"/>
                <a:cs typeface="Cambria"/>
              </a:rPr>
              <a:t>The </a:t>
            </a:r>
            <a:r>
              <a:rPr lang="en-US" sz="2400" spc="-20" dirty="0">
                <a:latin typeface="Cambria"/>
                <a:cs typeface="Cambria"/>
              </a:rPr>
              <a:t>refractive </a:t>
            </a:r>
            <a:r>
              <a:rPr lang="en-US" sz="2400" spc="-10" dirty="0">
                <a:latin typeface="Cambria"/>
                <a:cs typeface="Cambria"/>
              </a:rPr>
              <a:t>index </a:t>
            </a:r>
            <a:r>
              <a:rPr lang="en-US" sz="2400" spc="-5" dirty="0">
                <a:latin typeface="Cambria"/>
                <a:cs typeface="Cambria"/>
              </a:rPr>
              <a:t>of </a:t>
            </a:r>
            <a:r>
              <a:rPr lang="en-US" sz="2400" spc="-10" dirty="0">
                <a:latin typeface="Cambria"/>
                <a:cs typeface="Cambria"/>
              </a:rPr>
              <a:t>the glass </a:t>
            </a:r>
            <a:r>
              <a:rPr lang="en-US" sz="2400" spc="-15" dirty="0">
                <a:latin typeface="Cambria"/>
                <a:cs typeface="Cambria"/>
              </a:rPr>
              <a:t>varies </a:t>
            </a:r>
            <a:r>
              <a:rPr lang="en-US" sz="2400" spc="-5" dirty="0">
                <a:latin typeface="Cambria"/>
                <a:cs typeface="Cambria"/>
              </a:rPr>
              <a:t>according </a:t>
            </a:r>
            <a:r>
              <a:rPr lang="en-US" sz="2400" spc="-10" dirty="0">
                <a:latin typeface="Cambria"/>
                <a:cs typeface="Cambria"/>
              </a:rPr>
              <a:t>to the </a:t>
            </a:r>
            <a:r>
              <a:rPr lang="en-US" sz="2400" spc="-15" dirty="0">
                <a:latin typeface="Cambria"/>
                <a:cs typeface="Cambria"/>
              </a:rPr>
              <a:t>wavelength </a:t>
            </a:r>
            <a:r>
              <a:rPr lang="en-US" sz="2400" spc="-5" dirty="0">
                <a:latin typeface="Cambria"/>
                <a:cs typeface="Cambria"/>
              </a:rPr>
              <a:t>of </a:t>
            </a:r>
            <a:r>
              <a:rPr lang="en-US" sz="2400" spc="-10" dirty="0">
                <a:latin typeface="Cambria"/>
                <a:cs typeface="Cambria"/>
              </a:rPr>
              <a:t>the </a:t>
            </a:r>
            <a:r>
              <a:rPr lang="en-US" sz="2400" spc="-5" dirty="0">
                <a:latin typeface="Cambria"/>
                <a:cs typeface="Cambria"/>
              </a:rPr>
              <a:t>optical</a:t>
            </a:r>
            <a:r>
              <a:rPr lang="en-US" sz="2400" spc="235" dirty="0">
                <a:latin typeface="Cambria"/>
                <a:cs typeface="Cambria"/>
              </a:rPr>
              <a:t> </a:t>
            </a:r>
            <a:r>
              <a:rPr lang="en-US" sz="2400" spc="-5" dirty="0">
                <a:latin typeface="Cambria"/>
                <a:cs typeface="Cambria"/>
              </a:rPr>
              <a:t>signal.</a:t>
            </a:r>
            <a:endParaRPr lang="en-US" sz="2400" dirty="0">
              <a:latin typeface="Cambria"/>
              <a:cs typeface="Cambria"/>
            </a:endParaRPr>
          </a:p>
          <a:p>
            <a:pPr marL="286385" marR="7620" indent="-274320">
              <a:lnSpc>
                <a:spcPct val="130100"/>
              </a:lnSpc>
              <a:spcBef>
                <a:spcPts val="385"/>
              </a:spcBef>
              <a:buClr>
                <a:srgbClr val="0AD0D9"/>
              </a:buClr>
              <a:buSzPct val="93750"/>
              <a:buFont typeface="Wingdings"/>
              <a:buChar char=""/>
              <a:tabLst>
                <a:tab pos="287020" algn="l"/>
              </a:tabLst>
            </a:pPr>
            <a:r>
              <a:rPr lang="en-US" sz="2400" spc="-5" dirty="0">
                <a:latin typeface="Cambria"/>
                <a:cs typeface="Cambria"/>
              </a:rPr>
              <a:t>Material </a:t>
            </a:r>
            <a:r>
              <a:rPr lang="en-US" sz="2400" dirty="0">
                <a:latin typeface="Cambria"/>
                <a:cs typeface="Cambria"/>
              </a:rPr>
              <a:t>dispersion </a:t>
            </a:r>
            <a:r>
              <a:rPr lang="en-US" sz="2400" spc="-5" dirty="0">
                <a:latin typeface="Cambria"/>
                <a:cs typeface="Cambria"/>
              </a:rPr>
              <a:t>is </a:t>
            </a:r>
            <a:r>
              <a:rPr lang="en-US" sz="2400" spc="-10" dirty="0">
                <a:latin typeface="Cambria"/>
                <a:cs typeface="Cambria"/>
              </a:rPr>
              <a:t>the </a:t>
            </a:r>
            <a:r>
              <a:rPr lang="en-US" sz="2400" spc="-5" dirty="0">
                <a:latin typeface="Cambria"/>
                <a:cs typeface="Cambria"/>
              </a:rPr>
              <a:t>phenomena </a:t>
            </a:r>
            <a:r>
              <a:rPr lang="en-US" sz="2400" spc="-15" dirty="0">
                <a:latin typeface="Cambria"/>
                <a:cs typeface="Cambria"/>
              </a:rPr>
              <a:t>whereby </a:t>
            </a:r>
            <a:r>
              <a:rPr lang="en-US" sz="2400" spc="-5" dirty="0">
                <a:latin typeface="Cambria"/>
                <a:cs typeface="Cambria"/>
              </a:rPr>
              <a:t>materials cause a “bundle” of light to </a:t>
            </a:r>
            <a:r>
              <a:rPr lang="en-US" sz="2400" spc="-10" dirty="0">
                <a:latin typeface="Cambria"/>
                <a:cs typeface="Cambria"/>
              </a:rPr>
              <a:t>spread  </a:t>
            </a:r>
            <a:r>
              <a:rPr lang="en-US" sz="2400" spc="-5" dirty="0">
                <a:latin typeface="Cambria"/>
                <a:cs typeface="Cambria"/>
              </a:rPr>
              <a:t>out as it</a:t>
            </a:r>
            <a:r>
              <a:rPr lang="en-US" sz="2400" spc="10" dirty="0">
                <a:latin typeface="Cambria"/>
                <a:cs typeface="Cambria"/>
              </a:rPr>
              <a:t> </a:t>
            </a:r>
            <a:r>
              <a:rPr lang="en-US" sz="2400" spc="-10" dirty="0">
                <a:latin typeface="Cambria"/>
                <a:cs typeface="Cambria"/>
              </a:rPr>
              <a:t>propagates.</a:t>
            </a:r>
            <a:endParaRPr lang="en-US" sz="2400" dirty="0">
              <a:latin typeface="Cambria"/>
              <a:cs typeface="Cambria"/>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38</a:t>
            </a:fld>
            <a:endParaRPr lang="en-US"/>
          </a:p>
        </p:txBody>
      </p:sp>
    </p:spTree>
    <p:extLst>
      <p:ext uri="{BB962C8B-B14F-4D97-AF65-F5344CB8AC3E}">
        <p14:creationId xmlns:p14="http://schemas.microsoft.com/office/powerpoint/2010/main" val="5747512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9317" y="1153551"/>
            <a:ext cx="10902462" cy="5202799"/>
          </a:xfrm>
        </p:spPr>
        <p:txBody>
          <a:bodyPr>
            <a:normAutofit/>
          </a:bodyPr>
          <a:lstStyle/>
          <a:p>
            <a:pPr marL="12065" marR="6985" indent="0" algn="just">
              <a:lnSpc>
                <a:spcPct val="140000"/>
              </a:lnSpc>
              <a:spcBef>
                <a:spcPts val="110"/>
              </a:spcBef>
              <a:buClr>
                <a:srgbClr val="0AD0D9"/>
              </a:buClr>
              <a:buSzPct val="94736"/>
              <a:buNone/>
              <a:tabLst>
                <a:tab pos="287020" algn="l"/>
              </a:tabLst>
            </a:pPr>
            <a:r>
              <a:rPr lang="en-US" sz="2400" spc="-5" dirty="0">
                <a:latin typeface="Cambria"/>
                <a:cs typeface="Cambria"/>
              </a:rPr>
              <a:t>This is due </a:t>
            </a:r>
            <a:r>
              <a:rPr lang="en-US" sz="2400" spc="-15" dirty="0">
                <a:latin typeface="Cambria"/>
                <a:cs typeface="Cambria"/>
              </a:rPr>
              <a:t>dispersive nature </a:t>
            </a:r>
            <a:r>
              <a:rPr lang="en-US" sz="2400" spc="-5" dirty="0">
                <a:latin typeface="Cambria"/>
                <a:cs typeface="Cambria"/>
              </a:rPr>
              <a:t>of </a:t>
            </a:r>
            <a:r>
              <a:rPr lang="en-US" sz="2400" spc="-10" dirty="0">
                <a:latin typeface="Cambria"/>
                <a:cs typeface="Cambria"/>
              </a:rPr>
              <a:t>the </a:t>
            </a:r>
            <a:r>
              <a:rPr lang="en-US" sz="2400" spc="-5" dirty="0">
                <a:latin typeface="Cambria"/>
                <a:cs typeface="Cambria"/>
              </a:rPr>
              <a:t>bound medium. In a bound medium </a:t>
            </a:r>
            <a:r>
              <a:rPr lang="en-US" sz="2400" spc="-15" dirty="0">
                <a:latin typeface="Cambria"/>
                <a:cs typeface="Cambria"/>
              </a:rPr>
              <a:t>like </a:t>
            </a:r>
            <a:r>
              <a:rPr lang="en-US" sz="2400" spc="-10" dirty="0">
                <a:latin typeface="Cambria"/>
                <a:cs typeface="Cambria"/>
              </a:rPr>
              <a:t>the  </a:t>
            </a:r>
            <a:r>
              <a:rPr lang="en-US" sz="2400" spc="-5" dirty="0">
                <a:latin typeface="Cambria"/>
                <a:cs typeface="Cambria"/>
              </a:rPr>
              <a:t>optical </a:t>
            </a:r>
            <a:r>
              <a:rPr lang="en-US" sz="2400" spc="-35" dirty="0">
                <a:latin typeface="Cambria"/>
                <a:cs typeface="Cambria"/>
              </a:rPr>
              <a:t>fiber, </a:t>
            </a:r>
            <a:r>
              <a:rPr lang="en-US" sz="2400" spc="-10" dirty="0">
                <a:latin typeface="Cambria"/>
                <a:cs typeface="Cambria"/>
              </a:rPr>
              <a:t>the velocity </a:t>
            </a:r>
            <a:r>
              <a:rPr lang="en-US" sz="2400" spc="-5" dirty="0">
                <a:latin typeface="Cambria"/>
                <a:cs typeface="Cambria"/>
              </a:rPr>
              <a:t>is a function of</a:t>
            </a:r>
            <a:r>
              <a:rPr lang="en-US" sz="2400" spc="40" dirty="0">
                <a:latin typeface="Cambria"/>
                <a:cs typeface="Cambria"/>
              </a:rPr>
              <a:t> </a:t>
            </a:r>
            <a:r>
              <a:rPr lang="en-US" sz="2400" spc="-25" dirty="0">
                <a:latin typeface="Cambria"/>
                <a:cs typeface="Cambria"/>
              </a:rPr>
              <a:t>frequency.</a:t>
            </a:r>
            <a:endParaRPr lang="en-US" sz="2400" dirty="0">
              <a:latin typeface="Cambria"/>
              <a:cs typeface="Cambria"/>
            </a:endParaRPr>
          </a:p>
          <a:p>
            <a:pPr marL="12065" marR="5080" indent="0" algn="just">
              <a:lnSpc>
                <a:spcPct val="140000"/>
              </a:lnSpc>
              <a:spcBef>
                <a:spcPts val="455"/>
              </a:spcBef>
              <a:buClr>
                <a:srgbClr val="0AD0D9"/>
              </a:buClr>
              <a:buSzPct val="94736"/>
              <a:buNone/>
              <a:tabLst>
                <a:tab pos="287020" algn="l"/>
              </a:tabLst>
            </a:pPr>
            <a:endParaRPr lang="en-US" sz="1600" spc="-20" dirty="0">
              <a:latin typeface="Cambria"/>
              <a:cs typeface="Cambria"/>
            </a:endParaRPr>
          </a:p>
          <a:p>
            <a:pPr marL="12065" marR="5080" indent="0" algn="just">
              <a:lnSpc>
                <a:spcPct val="140000"/>
              </a:lnSpc>
              <a:spcBef>
                <a:spcPts val="455"/>
              </a:spcBef>
              <a:buClr>
                <a:srgbClr val="0AD0D9"/>
              </a:buClr>
              <a:buSzPct val="94736"/>
              <a:buNone/>
              <a:tabLst>
                <a:tab pos="287020" algn="l"/>
              </a:tabLst>
            </a:pPr>
            <a:endParaRPr lang="en-US" sz="1600" spc="-20" dirty="0">
              <a:latin typeface="Cambria"/>
              <a:cs typeface="Cambria"/>
            </a:endParaRPr>
          </a:p>
          <a:p>
            <a:pPr marL="12065" marR="5080" indent="0" algn="just">
              <a:lnSpc>
                <a:spcPct val="140000"/>
              </a:lnSpc>
              <a:spcBef>
                <a:spcPts val="455"/>
              </a:spcBef>
              <a:buClr>
                <a:srgbClr val="0AD0D9"/>
              </a:buClr>
              <a:buSzPct val="94736"/>
              <a:buNone/>
              <a:tabLst>
                <a:tab pos="287020" algn="l"/>
              </a:tabLst>
            </a:pPr>
            <a:endParaRPr lang="en-US" sz="1600" spc="-20" dirty="0">
              <a:latin typeface="Cambria"/>
              <a:cs typeface="Cambria"/>
            </a:endParaRPr>
          </a:p>
          <a:p>
            <a:pPr marL="12065" marR="5080" indent="0" algn="just">
              <a:lnSpc>
                <a:spcPct val="140000"/>
              </a:lnSpc>
              <a:spcBef>
                <a:spcPts val="455"/>
              </a:spcBef>
              <a:buClr>
                <a:srgbClr val="0AD0D9"/>
              </a:buClr>
              <a:buSzPct val="94736"/>
              <a:buNone/>
              <a:tabLst>
                <a:tab pos="287020" algn="l"/>
              </a:tabLst>
            </a:pPr>
            <a:endParaRPr lang="en-US" sz="1600" spc="-20" dirty="0">
              <a:latin typeface="Cambria"/>
              <a:cs typeface="Cambria"/>
            </a:endParaRPr>
          </a:p>
          <a:p>
            <a:pPr marL="12065" marR="5080" indent="0" algn="just">
              <a:lnSpc>
                <a:spcPct val="140000"/>
              </a:lnSpc>
              <a:spcBef>
                <a:spcPts val="455"/>
              </a:spcBef>
              <a:buClr>
                <a:srgbClr val="0AD0D9"/>
              </a:buClr>
              <a:buSzPct val="94736"/>
              <a:buNone/>
              <a:tabLst>
                <a:tab pos="287020" algn="l"/>
              </a:tabLst>
            </a:pPr>
            <a:r>
              <a:rPr lang="en-US" sz="1600" spc="-20" dirty="0">
                <a:latin typeface="Cambria"/>
                <a:cs typeface="Cambria"/>
              </a:rPr>
              <a:t>                                                                                                 Figure 2.14 Waveguide </a:t>
            </a:r>
            <a:r>
              <a:rPr lang="en-US" sz="1600" spc="-10" dirty="0">
                <a:latin typeface="Cambria"/>
                <a:cs typeface="Cambria"/>
              </a:rPr>
              <a:t>dispersion</a:t>
            </a:r>
            <a:r>
              <a:rPr lang="en-US" sz="1600" spc="-20" dirty="0">
                <a:latin typeface="Cambria"/>
                <a:cs typeface="Cambria"/>
              </a:rPr>
              <a:t> [2]</a:t>
            </a:r>
          </a:p>
          <a:p>
            <a:pPr marL="354965" marR="5080" indent="-342900" algn="just">
              <a:lnSpc>
                <a:spcPct val="140000"/>
              </a:lnSpc>
              <a:spcBef>
                <a:spcPts val="455"/>
              </a:spcBef>
              <a:buClr>
                <a:srgbClr val="0AD0D9"/>
              </a:buClr>
              <a:buSzPct val="94736"/>
              <a:tabLst>
                <a:tab pos="287020" algn="l"/>
              </a:tabLst>
            </a:pPr>
            <a:r>
              <a:rPr lang="en-US" sz="2400" spc="-20" dirty="0">
                <a:latin typeface="Cambria"/>
                <a:cs typeface="Cambria"/>
              </a:rPr>
              <a:t>Waveguide </a:t>
            </a:r>
            <a:r>
              <a:rPr lang="en-US" sz="2400" spc="-10" dirty="0">
                <a:latin typeface="Cambria"/>
                <a:cs typeface="Cambria"/>
              </a:rPr>
              <a:t>dispersion </a:t>
            </a:r>
            <a:r>
              <a:rPr lang="en-US" sz="2400" spc="-5" dirty="0">
                <a:latin typeface="Cambria"/>
                <a:cs typeface="Cambria"/>
              </a:rPr>
              <a:t>is </a:t>
            </a:r>
            <a:r>
              <a:rPr lang="en-US" sz="2400" spc="-10" dirty="0">
                <a:latin typeface="Cambria"/>
                <a:cs typeface="Cambria"/>
              </a:rPr>
              <a:t>chromatic </a:t>
            </a:r>
            <a:r>
              <a:rPr lang="en-US" sz="2400" spc="-5" dirty="0">
                <a:latin typeface="Cambria"/>
                <a:cs typeface="Cambria"/>
              </a:rPr>
              <a:t>dispersion </a:t>
            </a:r>
            <a:r>
              <a:rPr lang="en-US" sz="2400" spc="-10" dirty="0">
                <a:latin typeface="Cambria"/>
                <a:cs typeface="Cambria"/>
              </a:rPr>
              <a:t>which </a:t>
            </a:r>
            <a:r>
              <a:rPr lang="en-US" sz="2400" spc="-5" dirty="0">
                <a:latin typeface="Cambria"/>
                <a:cs typeface="Cambria"/>
              </a:rPr>
              <a:t>arises </a:t>
            </a:r>
            <a:r>
              <a:rPr lang="en-US" sz="2400" spc="-10" dirty="0">
                <a:latin typeface="Cambria"/>
                <a:cs typeface="Cambria"/>
              </a:rPr>
              <a:t>from </a:t>
            </a:r>
            <a:r>
              <a:rPr lang="en-US" sz="2400" spc="-15" dirty="0">
                <a:latin typeface="Cambria"/>
                <a:cs typeface="Cambria"/>
              </a:rPr>
              <a:t>waveguide  </a:t>
            </a:r>
            <a:r>
              <a:rPr lang="en-US" sz="2400" spc="-5" dirty="0">
                <a:latin typeface="Cambria"/>
                <a:cs typeface="Cambria"/>
              </a:rPr>
              <a:t>effects: </a:t>
            </a:r>
            <a:r>
              <a:rPr lang="en-US" sz="2400" spc="-10" dirty="0">
                <a:latin typeface="Cambria"/>
                <a:cs typeface="Cambria"/>
              </a:rPr>
              <a:t>the </a:t>
            </a:r>
            <a:r>
              <a:rPr lang="en-US" sz="2400" spc="-15" dirty="0">
                <a:latin typeface="Cambria"/>
                <a:cs typeface="Cambria"/>
              </a:rPr>
              <a:t>dispersive </a:t>
            </a:r>
            <a:r>
              <a:rPr lang="en-US" sz="2400" spc="-10" dirty="0">
                <a:latin typeface="Cambria"/>
                <a:cs typeface="Cambria"/>
              </a:rPr>
              <a:t>phase </a:t>
            </a:r>
            <a:r>
              <a:rPr lang="en-US" sz="2400" spc="-5" dirty="0">
                <a:latin typeface="Cambria"/>
                <a:cs typeface="Cambria"/>
              </a:rPr>
              <a:t>shifts </a:t>
            </a:r>
            <a:r>
              <a:rPr lang="en-US" sz="2400" spc="-10" dirty="0">
                <a:latin typeface="Cambria"/>
                <a:cs typeface="Cambria"/>
              </a:rPr>
              <a:t>for </a:t>
            </a:r>
            <a:r>
              <a:rPr lang="en-US" sz="2400" spc="-5" dirty="0">
                <a:latin typeface="Cambria"/>
                <a:cs typeface="Cambria"/>
              </a:rPr>
              <a:t>a </a:t>
            </a:r>
            <a:r>
              <a:rPr lang="en-US" sz="2400" spc="-35" dirty="0">
                <a:latin typeface="Cambria"/>
                <a:cs typeface="Cambria"/>
              </a:rPr>
              <a:t>wave </a:t>
            </a:r>
            <a:r>
              <a:rPr lang="en-US" sz="2400" spc="-5" dirty="0">
                <a:latin typeface="Cambria"/>
                <a:cs typeface="Cambria"/>
              </a:rPr>
              <a:t>in a </a:t>
            </a:r>
            <a:r>
              <a:rPr lang="en-US" sz="2400" spc="-15" dirty="0">
                <a:latin typeface="Cambria"/>
                <a:cs typeface="Cambria"/>
              </a:rPr>
              <a:t>waveguide </a:t>
            </a:r>
            <a:r>
              <a:rPr lang="en-US" sz="2400" spc="-10" dirty="0">
                <a:latin typeface="Cambria"/>
                <a:cs typeface="Cambria"/>
              </a:rPr>
              <a:t>differ from </a:t>
            </a:r>
            <a:r>
              <a:rPr lang="en-US" sz="2400" spc="-5" dirty="0">
                <a:latin typeface="Cambria"/>
                <a:cs typeface="Cambria"/>
              </a:rPr>
              <a:t>those  </a:t>
            </a:r>
            <a:r>
              <a:rPr lang="en-US" sz="2400" spc="-10" dirty="0">
                <a:latin typeface="Cambria"/>
                <a:cs typeface="Cambria"/>
              </a:rPr>
              <a:t>which the </a:t>
            </a:r>
            <a:r>
              <a:rPr lang="en-US" sz="2400" spc="-30" dirty="0">
                <a:latin typeface="Cambria"/>
                <a:cs typeface="Cambria"/>
              </a:rPr>
              <a:t>wave </a:t>
            </a:r>
            <a:r>
              <a:rPr lang="en-US" sz="2400" spc="-10" dirty="0">
                <a:latin typeface="Cambria"/>
                <a:cs typeface="Cambria"/>
              </a:rPr>
              <a:t>would experience </a:t>
            </a:r>
            <a:r>
              <a:rPr lang="en-US" sz="2400" spc="-5" dirty="0">
                <a:latin typeface="Cambria"/>
                <a:cs typeface="Cambria"/>
              </a:rPr>
              <a:t>in a homogeneous medium. </a:t>
            </a:r>
          </a:p>
        </p:txBody>
      </p:sp>
      <p:sp>
        <p:nvSpPr>
          <p:cNvPr id="5" name="Slide Number Placeholder 4"/>
          <p:cNvSpPr>
            <a:spLocks noGrp="1"/>
          </p:cNvSpPr>
          <p:nvPr>
            <p:ph type="sldNum" sz="quarter" idx="12"/>
          </p:nvPr>
        </p:nvSpPr>
        <p:spPr/>
        <p:txBody>
          <a:bodyPr/>
          <a:lstStyle/>
          <a:p>
            <a:fld id="{BDCDBBEF-AA6C-4BA6-85B2-A17D7F280E38}" type="slidenum">
              <a:rPr lang="en-US" smtClean="0"/>
              <a:t>39</a:t>
            </a:fld>
            <a:endParaRPr lang="en-US"/>
          </a:p>
        </p:txBody>
      </p:sp>
      <p:sp>
        <p:nvSpPr>
          <p:cNvPr id="6" name="object 10"/>
          <p:cNvSpPr/>
          <p:nvPr/>
        </p:nvSpPr>
        <p:spPr>
          <a:xfrm>
            <a:off x="1703363" y="2337105"/>
            <a:ext cx="7772400" cy="1513330"/>
          </a:xfrm>
          <a:prstGeom prst="rect">
            <a:avLst/>
          </a:prstGeom>
          <a:blipFill>
            <a:blip r:embed="rId2" cstate="print"/>
            <a:stretch>
              <a:fillRect/>
            </a:stretch>
          </a:blipFill>
        </p:spPr>
        <p:txBody>
          <a:bodyPr wrap="square" lIns="0" tIns="0" rIns="0" bIns="0" rtlCol="0"/>
          <a:lstStyle/>
          <a:p>
            <a:endParaRPr/>
          </a:p>
        </p:txBody>
      </p:sp>
      <p:sp>
        <p:nvSpPr>
          <p:cNvPr id="2" name="TextBox 1"/>
          <p:cNvSpPr txBox="1"/>
          <p:nvPr/>
        </p:nvSpPr>
        <p:spPr>
          <a:xfrm>
            <a:off x="1856936" y="107111"/>
            <a:ext cx="7948246" cy="1046440"/>
          </a:xfrm>
          <a:prstGeom prst="rect">
            <a:avLst/>
          </a:prstGeom>
          <a:noFill/>
        </p:spPr>
        <p:txBody>
          <a:bodyPr wrap="square" rtlCol="0">
            <a:spAutoFit/>
          </a:bodyPr>
          <a:lstStyle/>
          <a:p>
            <a:r>
              <a:rPr lang="en-US" sz="4400" b="1" spc="-35" dirty="0">
                <a:latin typeface="Cambria"/>
                <a:cs typeface="Cambria"/>
              </a:rPr>
              <a:t>Waveguide</a:t>
            </a:r>
            <a:r>
              <a:rPr lang="en-US" sz="4400" b="1" dirty="0">
                <a:latin typeface="Cambria"/>
                <a:cs typeface="Cambria"/>
              </a:rPr>
              <a:t> </a:t>
            </a:r>
            <a:r>
              <a:rPr lang="en-US" sz="4400" b="1" spc="-5" dirty="0">
                <a:latin typeface="Cambria"/>
                <a:cs typeface="Cambria"/>
              </a:rPr>
              <a:t>Dispersion</a:t>
            </a:r>
          </a:p>
          <a:p>
            <a:endParaRPr lang="en-US" dirty="0"/>
          </a:p>
        </p:txBody>
      </p:sp>
    </p:spTree>
    <p:extLst>
      <p:ext uri="{BB962C8B-B14F-4D97-AF65-F5344CB8AC3E}">
        <p14:creationId xmlns:p14="http://schemas.microsoft.com/office/powerpoint/2010/main" val="22109515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0"/>
            <a:ext cx="9303018" cy="987425"/>
          </a:xfrm>
        </p:spPr>
        <p:txBody>
          <a:bodyPr>
            <a:noAutofit/>
          </a:bodyPr>
          <a:lstStyle/>
          <a:p>
            <a:r>
              <a:rPr lang="en-US" sz="4400" b="1" spc="-5" dirty="0">
                <a:latin typeface="Cambria" panose="02040503050406030204" pitchFamily="18" charset="0"/>
                <a:ea typeface="Cambria" panose="02040503050406030204" pitchFamily="18" charset="0"/>
                <a:cs typeface="Arial"/>
              </a:rPr>
              <a:t>Inter</a:t>
            </a:r>
            <a:r>
              <a:rPr lang="en-US" sz="4400" b="1" dirty="0">
                <a:latin typeface="Cambria" panose="02040503050406030204" pitchFamily="18" charset="0"/>
                <a:ea typeface="Cambria" panose="02040503050406030204" pitchFamily="18" charset="0"/>
                <a:cs typeface="Arial"/>
              </a:rPr>
              <a:t>modal or modal</a:t>
            </a:r>
            <a:r>
              <a:rPr lang="en-US" sz="4400" b="1" spc="-30" dirty="0">
                <a:latin typeface="Cambria" panose="02040503050406030204" pitchFamily="18" charset="0"/>
                <a:ea typeface="Cambria" panose="02040503050406030204" pitchFamily="18" charset="0"/>
                <a:cs typeface="Arial"/>
              </a:rPr>
              <a:t> </a:t>
            </a:r>
            <a:r>
              <a:rPr lang="en-US" sz="4400" b="1" dirty="0">
                <a:latin typeface="Cambria" panose="02040503050406030204" pitchFamily="18" charset="0"/>
                <a:ea typeface="Cambria" panose="02040503050406030204" pitchFamily="18" charset="0"/>
                <a:cs typeface="Arial"/>
              </a:rPr>
              <a:t>Dispersion</a:t>
            </a:r>
            <a:endParaRPr lang="en-US" sz="4400" dirty="0"/>
          </a:p>
        </p:txBody>
      </p:sp>
      <p:sp>
        <p:nvSpPr>
          <p:cNvPr id="3" name="Content Placeholder 2"/>
          <p:cNvSpPr>
            <a:spLocks noGrp="1"/>
          </p:cNvSpPr>
          <p:nvPr>
            <p:ph idx="1"/>
          </p:nvPr>
        </p:nvSpPr>
        <p:spPr>
          <a:xfrm>
            <a:off x="253218" y="1336432"/>
            <a:ext cx="10733650" cy="4825218"/>
          </a:xfrm>
        </p:spPr>
        <p:txBody>
          <a:bodyPr>
            <a:normAutofit lnSpcReduction="10000"/>
          </a:bodyPr>
          <a:lstStyle/>
          <a:p>
            <a:pPr marL="287020" indent="-274320">
              <a:lnSpc>
                <a:spcPct val="100000"/>
              </a:lnSpc>
              <a:spcBef>
                <a:spcPts val="484"/>
              </a:spcBef>
              <a:buClr>
                <a:srgbClr val="0AD0D9"/>
              </a:buClr>
              <a:buSzPct val="95000"/>
              <a:buFont typeface="Wingdings"/>
              <a:buChar char=""/>
              <a:tabLst>
                <a:tab pos="287020" algn="l"/>
              </a:tabLst>
            </a:pPr>
            <a:r>
              <a:rPr lang="en-US" sz="2400" dirty="0">
                <a:latin typeface="Cambria"/>
                <a:cs typeface="Cambria"/>
              </a:rPr>
              <a:t>In a </a:t>
            </a:r>
            <a:r>
              <a:rPr lang="en-US" sz="2400" spc="-5" dirty="0">
                <a:latin typeface="Cambria"/>
                <a:cs typeface="Cambria"/>
              </a:rPr>
              <a:t>multimode fiber </a:t>
            </a:r>
            <a:r>
              <a:rPr lang="en-US" sz="2400" spc="-10" dirty="0">
                <a:latin typeface="Cambria"/>
                <a:cs typeface="Cambria"/>
              </a:rPr>
              <a:t>different </a:t>
            </a:r>
            <a:r>
              <a:rPr lang="en-US" sz="2400" spc="-5" dirty="0">
                <a:latin typeface="Cambria"/>
                <a:cs typeface="Cambria"/>
              </a:rPr>
              <a:t>modes </a:t>
            </a:r>
            <a:r>
              <a:rPr lang="en-US" sz="2400" spc="-20" dirty="0">
                <a:latin typeface="Cambria"/>
                <a:cs typeface="Cambria"/>
              </a:rPr>
              <a:t>travel </a:t>
            </a:r>
            <a:r>
              <a:rPr lang="en-US" sz="2400" dirty="0">
                <a:latin typeface="Cambria"/>
                <a:cs typeface="Cambria"/>
              </a:rPr>
              <a:t>at </a:t>
            </a:r>
            <a:r>
              <a:rPr lang="en-US" sz="2400" spc="-10" dirty="0">
                <a:latin typeface="Cambria"/>
                <a:cs typeface="Cambria"/>
              </a:rPr>
              <a:t>different</a:t>
            </a:r>
            <a:r>
              <a:rPr lang="en-US" sz="2400" spc="-145" dirty="0">
                <a:latin typeface="Cambria"/>
                <a:cs typeface="Cambria"/>
              </a:rPr>
              <a:t> </a:t>
            </a:r>
            <a:r>
              <a:rPr lang="en-US" sz="2400" spc="-10" dirty="0">
                <a:latin typeface="Cambria"/>
                <a:cs typeface="Cambria"/>
              </a:rPr>
              <a:t>velocities.</a:t>
            </a:r>
            <a:endParaRPr lang="en-US" sz="2400" dirty="0">
              <a:latin typeface="Cambria"/>
              <a:cs typeface="Cambria"/>
            </a:endParaRPr>
          </a:p>
          <a:p>
            <a:pPr marL="12065" marR="5080" indent="0">
              <a:lnSpc>
                <a:spcPct val="100000"/>
              </a:lnSpc>
              <a:spcBef>
                <a:spcPts val="480"/>
              </a:spcBef>
              <a:buClr>
                <a:srgbClr val="0AD0D9"/>
              </a:buClr>
              <a:buSzPct val="95000"/>
              <a:buNone/>
              <a:tabLst>
                <a:tab pos="287020" algn="l"/>
              </a:tabLst>
            </a:pPr>
            <a:endParaRPr lang="en-US" b="1" dirty="0">
              <a:latin typeface="Cambria" panose="02040503050406030204" pitchFamily="18" charset="0"/>
              <a:ea typeface="Cambria" panose="02040503050406030204" pitchFamily="18" charset="0"/>
              <a:cs typeface="Arial"/>
            </a:endParaRPr>
          </a:p>
          <a:p>
            <a:pPr marL="12065" marR="5080" indent="0">
              <a:lnSpc>
                <a:spcPct val="100000"/>
              </a:lnSpc>
              <a:spcBef>
                <a:spcPts val="480"/>
              </a:spcBef>
              <a:buClr>
                <a:srgbClr val="0AD0D9"/>
              </a:buClr>
              <a:buSzPct val="95000"/>
              <a:buNone/>
              <a:tabLst>
                <a:tab pos="287020" algn="l"/>
              </a:tabLst>
            </a:pPr>
            <a:endParaRPr lang="en-US" b="1" dirty="0">
              <a:latin typeface="Cambria" panose="02040503050406030204" pitchFamily="18" charset="0"/>
              <a:ea typeface="Cambria" panose="02040503050406030204" pitchFamily="18" charset="0"/>
              <a:cs typeface="Arial"/>
            </a:endParaRPr>
          </a:p>
          <a:p>
            <a:pPr marL="12065" marR="5080" indent="0">
              <a:lnSpc>
                <a:spcPct val="100000"/>
              </a:lnSpc>
              <a:spcBef>
                <a:spcPts val="480"/>
              </a:spcBef>
              <a:buClr>
                <a:srgbClr val="0AD0D9"/>
              </a:buClr>
              <a:buSzPct val="95000"/>
              <a:buNone/>
              <a:tabLst>
                <a:tab pos="287020" algn="l"/>
              </a:tabLst>
            </a:pPr>
            <a:endParaRPr lang="en-US" b="1" dirty="0">
              <a:latin typeface="Cambria" panose="02040503050406030204" pitchFamily="18" charset="0"/>
              <a:ea typeface="Cambria" panose="02040503050406030204" pitchFamily="18" charset="0"/>
              <a:cs typeface="Arial"/>
            </a:endParaRPr>
          </a:p>
          <a:p>
            <a:pPr marL="12065" marR="5080" indent="0">
              <a:lnSpc>
                <a:spcPct val="100000"/>
              </a:lnSpc>
              <a:spcBef>
                <a:spcPts val="480"/>
              </a:spcBef>
              <a:buClr>
                <a:srgbClr val="0AD0D9"/>
              </a:buClr>
              <a:buSzPct val="95000"/>
              <a:buNone/>
              <a:tabLst>
                <a:tab pos="287020" algn="l"/>
              </a:tabLst>
            </a:pPr>
            <a:endParaRPr lang="en-US" b="1" dirty="0">
              <a:latin typeface="Cambria" panose="02040503050406030204" pitchFamily="18" charset="0"/>
              <a:ea typeface="Cambria" panose="02040503050406030204" pitchFamily="18" charset="0"/>
              <a:cs typeface="Arial"/>
            </a:endParaRPr>
          </a:p>
          <a:p>
            <a:pPr marL="12065" marR="5080" indent="0">
              <a:lnSpc>
                <a:spcPct val="100000"/>
              </a:lnSpc>
              <a:spcBef>
                <a:spcPts val="480"/>
              </a:spcBef>
              <a:buClr>
                <a:srgbClr val="0AD0D9"/>
              </a:buClr>
              <a:buSzPct val="95000"/>
              <a:buNone/>
              <a:tabLst>
                <a:tab pos="287020" algn="l"/>
              </a:tabLst>
            </a:pPr>
            <a:endParaRPr lang="en-US" b="1" dirty="0">
              <a:latin typeface="Cambria" panose="02040503050406030204" pitchFamily="18" charset="0"/>
              <a:ea typeface="Cambria" panose="02040503050406030204" pitchFamily="18" charset="0"/>
              <a:cs typeface="Arial"/>
            </a:endParaRPr>
          </a:p>
          <a:p>
            <a:pPr marL="12065" marR="5080" indent="0">
              <a:lnSpc>
                <a:spcPct val="100000"/>
              </a:lnSpc>
              <a:spcBef>
                <a:spcPts val="480"/>
              </a:spcBef>
              <a:buClr>
                <a:srgbClr val="0AD0D9"/>
              </a:buClr>
              <a:buSzPct val="95000"/>
              <a:buNone/>
              <a:tabLst>
                <a:tab pos="287020" algn="l"/>
              </a:tabLst>
            </a:pPr>
            <a:endParaRPr lang="en-US" b="1" dirty="0">
              <a:latin typeface="Cambria" panose="02040503050406030204" pitchFamily="18" charset="0"/>
              <a:ea typeface="Cambria" panose="02040503050406030204" pitchFamily="18" charset="0"/>
              <a:cs typeface="Arial"/>
            </a:endParaRPr>
          </a:p>
          <a:p>
            <a:pPr marL="12065" marR="5080" indent="0">
              <a:lnSpc>
                <a:spcPct val="100000"/>
              </a:lnSpc>
              <a:spcBef>
                <a:spcPts val="480"/>
              </a:spcBef>
              <a:buClr>
                <a:srgbClr val="0AD0D9"/>
              </a:buClr>
              <a:buSzPct val="95000"/>
              <a:buNone/>
              <a:tabLst>
                <a:tab pos="287020" algn="l"/>
              </a:tabLst>
            </a:pPr>
            <a:endParaRPr lang="en-US" b="1" dirty="0">
              <a:latin typeface="Cambria" panose="02040503050406030204" pitchFamily="18" charset="0"/>
              <a:ea typeface="Cambria" panose="02040503050406030204" pitchFamily="18" charset="0"/>
              <a:cs typeface="Arial"/>
            </a:endParaRPr>
          </a:p>
          <a:p>
            <a:pPr marL="12065" marR="5080" indent="0">
              <a:lnSpc>
                <a:spcPct val="100000"/>
              </a:lnSpc>
              <a:spcBef>
                <a:spcPts val="480"/>
              </a:spcBef>
              <a:buClr>
                <a:srgbClr val="0AD0D9"/>
              </a:buClr>
              <a:buSzPct val="95000"/>
              <a:buNone/>
              <a:tabLst>
                <a:tab pos="287020" algn="l"/>
              </a:tabLst>
            </a:pPr>
            <a:r>
              <a:rPr lang="en-US" b="1" dirty="0">
                <a:latin typeface="Cambria" panose="02040503050406030204" pitchFamily="18" charset="0"/>
                <a:ea typeface="Cambria" panose="02040503050406030204" pitchFamily="18" charset="0"/>
                <a:cs typeface="Arial"/>
              </a:rPr>
              <a:t>                               </a:t>
            </a:r>
          </a:p>
          <a:p>
            <a:pPr marL="12065" marR="5080" indent="0">
              <a:lnSpc>
                <a:spcPct val="100000"/>
              </a:lnSpc>
              <a:spcBef>
                <a:spcPts val="480"/>
              </a:spcBef>
              <a:buClr>
                <a:srgbClr val="0AD0D9"/>
              </a:buClr>
              <a:buSzPct val="95000"/>
              <a:buNone/>
              <a:tabLst>
                <a:tab pos="287020" algn="l"/>
              </a:tabLst>
            </a:pPr>
            <a:r>
              <a:rPr lang="en-US" sz="1600" b="1" dirty="0">
                <a:latin typeface="Cambria" panose="02040503050406030204" pitchFamily="18" charset="0"/>
                <a:ea typeface="Cambria" panose="02040503050406030204" pitchFamily="18" charset="0"/>
                <a:cs typeface="Arial"/>
              </a:rPr>
              <a:t>                                                               </a:t>
            </a:r>
            <a:r>
              <a:rPr lang="en-US" sz="1600" dirty="0">
                <a:latin typeface="Cambria" panose="02040503050406030204" pitchFamily="18" charset="0"/>
                <a:ea typeface="Cambria" panose="02040503050406030204" pitchFamily="18" charset="0"/>
                <a:cs typeface="Arial"/>
              </a:rPr>
              <a:t>Figure 2.15 Modal</a:t>
            </a:r>
            <a:r>
              <a:rPr lang="en-US" sz="1600" spc="-30" dirty="0">
                <a:latin typeface="Cambria" panose="02040503050406030204" pitchFamily="18" charset="0"/>
                <a:ea typeface="Cambria" panose="02040503050406030204" pitchFamily="18" charset="0"/>
                <a:cs typeface="Arial"/>
              </a:rPr>
              <a:t> </a:t>
            </a:r>
            <a:r>
              <a:rPr lang="en-US" sz="1600" dirty="0">
                <a:latin typeface="Cambria" panose="02040503050406030204" pitchFamily="18" charset="0"/>
                <a:ea typeface="Cambria" panose="02040503050406030204" pitchFamily="18" charset="0"/>
                <a:cs typeface="Arial"/>
              </a:rPr>
              <a:t>Dispersion [2]</a:t>
            </a:r>
            <a:endParaRPr lang="en-US" sz="1600" dirty="0">
              <a:latin typeface="Cambria"/>
              <a:cs typeface="Cambria"/>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40</a:t>
            </a:fld>
            <a:endParaRPr lang="en-US"/>
          </a:p>
        </p:txBody>
      </p:sp>
      <p:sp>
        <p:nvSpPr>
          <p:cNvPr id="6" name="object 10"/>
          <p:cNvSpPr/>
          <p:nvPr/>
        </p:nvSpPr>
        <p:spPr>
          <a:xfrm>
            <a:off x="652800" y="1998062"/>
            <a:ext cx="8832716" cy="3501958"/>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2607860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CDBBEF-AA6C-4BA6-85B2-A17D7F280E38}" type="slidenum">
              <a:rPr lang="en-US" smtClean="0"/>
              <a:t>41</a:t>
            </a:fld>
            <a:endParaRPr lang="en-US"/>
          </a:p>
        </p:txBody>
      </p:sp>
      <p:sp>
        <p:nvSpPr>
          <p:cNvPr id="15" name="TextBox 14"/>
          <p:cNvSpPr txBox="1"/>
          <p:nvPr/>
        </p:nvSpPr>
        <p:spPr>
          <a:xfrm>
            <a:off x="1111348" y="492371"/>
            <a:ext cx="9988061" cy="6538713"/>
          </a:xfrm>
          <a:prstGeom prst="rect">
            <a:avLst/>
          </a:prstGeom>
          <a:noFill/>
        </p:spPr>
        <p:txBody>
          <a:bodyPr wrap="square" rtlCol="0">
            <a:spAutoFit/>
          </a:bodyPr>
          <a:lstStyle/>
          <a:p>
            <a:pPr marL="287020" indent="-274320">
              <a:spcBef>
                <a:spcPts val="480"/>
              </a:spcBef>
              <a:buClr>
                <a:srgbClr val="0AD0D9"/>
              </a:buClr>
              <a:buSzPct val="95000"/>
              <a:buFont typeface="Wingdings"/>
              <a:buChar char=""/>
              <a:tabLst>
                <a:tab pos="287020" algn="l"/>
              </a:tabLst>
            </a:pPr>
            <a:r>
              <a:rPr lang="en-US" sz="2400" spc="-5" dirty="0">
                <a:latin typeface="Cambria"/>
                <a:cs typeface="Cambria"/>
              </a:rPr>
              <a:t>If </a:t>
            </a:r>
            <a:r>
              <a:rPr lang="en-US" sz="2400" dirty="0">
                <a:latin typeface="Cambria"/>
                <a:cs typeface="Cambria"/>
              </a:rPr>
              <a:t>a </a:t>
            </a:r>
            <a:r>
              <a:rPr lang="en-US" sz="2400" spc="-5" dirty="0">
                <a:latin typeface="Cambria"/>
                <a:cs typeface="Cambria"/>
              </a:rPr>
              <a:t>pulse is </a:t>
            </a:r>
            <a:r>
              <a:rPr lang="en-US" sz="2400" spc="-10" dirty="0">
                <a:latin typeface="Cambria"/>
                <a:cs typeface="Cambria"/>
              </a:rPr>
              <a:t>constituted from </a:t>
            </a:r>
            <a:r>
              <a:rPr lang="en-US" sz="2400" spc="-15" dirty="0">
                <a:latin typeface="Cambria"/>
                <a:cs typeface="Cambria"/>
              </a:rPr>
              <a:t>different </a:t>
            </a:r>
            <a:r>
              <a:rPr lang="en-US" sz="2400" dirty="0">
                <a:latin typeface="Cambria"/>
                <a:cs typeface="Cambria"/>
              </a:rPr>
              <a:t>modes </a:t>
            </a:r>
            <a:r>
              <a:rPr lang="en-US" sz="2400" spc="-5" dirty="0">
                <a:latin typeface="Cambria"/>
                <a:cs typeface="Cambria"/>
              </a:rPr>
              <a:t>then </a:t>
            </a:r>
            <a:r>
              <a:rPr lang="en-US" sz="2400" spc="-10" dirty="0">
                <a:latin typeface="Cambria"/>
                <a:cs typeface="Cambria"/>
              </a:rPr>
              <a:t>intermodal </a:t>
            </a:r>
            <a:r>
              <a:rPr lang="en-US" sz="2400" spc="-5" dirty="0">
                <a:latin typeface="Cambria"/>
                <a:cs typeface="Cambria"/>
              </a:rPr>
              <a:t>dispersion  </a:t>
            </a:r>
            <a:r>
              <a:rPr lang="en-US" sz="2400" dirty="0">
                <a:latin typeface="Cambria"/>
                <a:cs typeface="Cambria"/>
              </a:rPr>
              <a:t>occurs.</a:t>
            </a:r>
          </a:p>
          <a:p>
            <a:pPr marL="287020" indent="-274320">
              <a:lnSpc>
                <a:spcPct val="100000"/>
              </a:lnSpc>
              <a:spcBef>
                <a:spcPts val="480"/>
              </a:spcBef>
              <a:buClr>
                <a:srgbClr val="0AD0D9"/>
              </a:buClr>
              <a:buSzPct val="95000"/>
              <a:buFont typeface="Wingdings"/>
              <a:buChar char=""/>
              <a:tabLst>
                <a:tab pos="287020" algn="l"/>
              </a:tabLst>
            </a:pPr>
            <a:r>
              <a:rPr lang="en-US" sz="2400" dirty="0">
                <a:latin typeface="Cambria"/>
                <a:cs typeface="Cambria"/>
              </a:rPr>
              <a:t>Modal dispersion </a:t>
            </a:r>
            <a:r>
              <a:rPr lang="en-US" sz="2400" spc="-5" dirty="0">
                <a:latin typeface="Cambria"/>
                <a:cs typeface="Cambria"/>
              </a:rPr>
              <a:t>is greatest in multimode step </a:t>
            </a:r>
            <a:r>
              <a:rPr lang="en-US" sz="2400" spc="-10" dirty="0">
                <a:latin typeface="Cambria"/>
                <a:cs typeface="Cambria"/>
              </a:rPr>
              <a:t>index</a:t>
            </a:r>
            <a:r>
              <a:rPr lang="en-US" sz="2400" spc="-165" dirty="0">
                <a:latin typeface="Cambria"/>
                <a:cs typeface="Cambria"/>
              </a:rPr>
              <a:t> </a:t>
            </a:r>
            <a:r>
              <a:rPr lang="en-US" sz="2400" spc="-5" dirty="0">
                <a:latin typeface="Cambria"/>
                <a:cs typeface="Cambria"/>
              </a:rPr>
              <a:t>fibers.</a:t>
            </a:r>
            <a:endParaRPr lang="en-US" sz="2400" dirty="0">
              <a:latin typeface="Cambria"/>
              <a:cs typeface="Cambria"/>
            </a:endParaRPr>
          </a:p>
          <a:p>
            <a:pPr marL="287020" indent="-274320">
              <a:lnSpc>
                <a:spcPct val="100000"/>
              </a:lnSpc>
              <a:spcBef>
                <a:spcPts val="480"/>
              </a:spcBef>
              <a:buClr>
                <a:srgbClr val="0AD0D9"/>
              </a:buClr>
              <a:buSzPct val="95000"/>
              <a:buFont typeface="Wingdings"/>
              <a:buChar char=""/>
              <a:tabLst>
                <a:tab pos="287020" algn="l"/>
              </a:tabLst>
            </a:pPr>
            <a:r>
              <a:rPr lang="en-US" sz="2400" dirty="0">
                <a:latin typeface="Cambria"/>
                <a:cs typeface="Cambria"/>
              </a:rPr>
              <a:t>The </a:t>
            </a:r>
            <a:r>
              <a:rPr lang="en-US" sz="2400" spc="-10" dirty="0">
                <a:latin typeface="Cambria"/>
                <a:cs typeface="Cambria"/>
              </a:rPr>
              <a:t>more </a:t>
            </a:r>
            <a:r>
              <a:rPr lang="en-US" sz="2400" spc="-5" dirty="0">
                <a:latin typeface="Cambria"/>
                <a:cs typeface="Cambria"/>
              </a:rPr>
              <a:t>modes the </a:t>
            </a:r>
            <a:r>
              <a:rPr lang="en-US" sz="2400" spc="-10" dirty="0">
                <a:latin typeface="Cambria"/>
                <a:cs typeface="Cambria"/>
              </a:rPr>
              <a:t>greater </a:t>
            </a:r>
            <a:r>
              <a:rPr lang="en-US" sz="2400" spc="-5" dirty="0">
                <a:latin typeface="Cambria"/>
                <a:cs typeface="Cambria"/>
              </a:rPr>
              <a:t>the </a:t>
            </a:r>
            <a:r>
              <a:rPr lang="en-US" sz="2400" dirty="0">
                <a:latin typeface="Cambria"/>
                <a:cs typeface="Cambria"/>
              </a:rPr>
              <a:t>modal</a:t>
            </a:r>
            <a:r>
              <a:rPr lang="en-US" sz="2400" spc="-150" dirty="0">
                <a:latin typeface="Cambria"/>
                <a:cs typeface="Cambria"/>
              </a:rPr>
              <a:t> </a:t>
            </a:r>
            <a:r>
              <a:rPr lang="en-US" sz="2400" dirty="0">
                <a:latin typeface="Cambria"/>
                <a:cs typeface="Cambria"/>
              </a:rPr>
              <a:t>dispersion.</a:t>
            </a:r>
          </a:p>
          <a:p>
            <a:pPr marL="287020" indent="-274320">
              <a:lnSpc>
                <a:spcPct val="100000"/>
              </a:lnSpc>
              <a:spcBef>
                <a:spcPts val="484"/>
              </a:spcBef>
              <a:buClr>
                <a:srgbClr val="0AD0D9"/>
              </a:buClr>
              <a:buSzPct val="95000"/>
              <a:buFont typeface="Wingdings"/>
              <a:buChar char=""/>
              <a:tabLst>
                <a:tab pos="287020" algn="l"/>
              </a:tabLst>
            </a:pPr>
            <a:r>
              <a:rPr lang="en-US" sz="2400" spc="-10" dirty="0">
                <a:latin typeface="Cambria"/>
                <a:cs typeface="Cambria"/>
              </a:rPr>
              <a:t>Typical bandwidth </a:t>
            </a:r>
            <a:r>
              <a:rPr lang="en-US" sz="2400" dirty="0">
                <a:latin typeface="Cambria"/>
                <a:cs typeface="Cambria"/>
              </a:rPr>
              <a:t>of a </a:t>
            </a:r>
            <a:r>
              <a:rPr lang="en-US" sz="2400" spc="-5" dirty="0">
                <a:latin typeface="Cambria"/>
                <a:cs typeface="Cambria"/>
              </a:rPr>
              <a:t>step </a:t>
            </a:r>
            <a:r>
              <a:rPr lang="en-US" sz="2400" spc="-10" dirty="0">
                <a:latin typeface="Cambria"/>
                <a:cs typeface="Cambria"/>
              </a:rPr>
              <a:t>index </a:t>
            </a:r>
            <a:r>
              <a:rPr lang="en-US" sz="2400" spc="-5" dirty="0">
                <a:latin typeface="Cambria"/>
                <a:cs typeface="Cambria"/>
              </a:rPr>
              <a:t>fiber </a:t>
            </a:r>
            <a:r>
              <a:rPr lang="en-US" sz="2400" spc="-10" dirty="0">
                <a:latin typeface="Cambria"/>
                <a:cs typeface="Cambria"/>
              </a:rPr>
              <a:t>may </a:t>
            </a:r>
            <a:r>
              <a:rPr lang="en-US" sz="2400" spc="-5" dirty="0">
                <a:latin typeface="Cambria"/>
                <a:cs typeface="Cambria"/>
              </a:rPr>
              <a:t>be </a:t>
            </a:r>
            <a:r>
              <a:rPr lang="en-US" sz="2400" dirty="0">
                <a:latin typeface="Cambria"/>
                <a:cs typeface="Cambria"/>
              </a:rPr>
              <a:t>as </a:t>
            </a:r>
            <a:r>
              <a:rPr lang="en-US" sz="2400" spc="-5" dirty="0">
                <a:latin typeface="Cambria"/>
                <a:cs typeface="Cambria"/>
              </a:rPr>
              <a:t>low </a:t>
            </a:r>
            <a:r>
              <a:rPr lang="en-US" sz="2400" dirty="0">
                <a:latin typeface="Cambria"/>
                <a:cs typeface="Cambria"/>
              </a:rPr>
              <a:t>as </a:t>
            </a:r>
            <a:r>
              <a:rPr lang="en-US" sz="2400" spc="-5" dirty="0">
                <a:latin typeface="Cambria"/>
                <a:cs typeface="Cambria"/>
              </a:rPr>
              <a:t>10 </a:t>
            </a:r>
            <a:r>
              <a:rPr lang="en-US" sz="2400" dirty="0">
                <a:latin typeface="Cambria"/>
                <a:cs typeface="Cambria"/>
              </a:rPr>
              <a:t>MHz </a:t>
            </a:r>
            <a:r>
              <a:rPr lang="en-US" sz="2400" spc="-15" dirty="0">
                <a:latin typeface="Cambria"/>
                <a:cs typeface="Cambria"/>
              </a:rPr>
              <a:t>over </a:t>
            </a:r>
            <a:r>
              <a:rPr lang="en-US" sz="2400" dirty="0">
                <a:latin typeface="Cambria"/>
                <a:cs typeface="Cambria"/>
              </a:rPr>
              <a:t>1</a:t>
            </a:r>
            <a:r>
              <a:rPr lang="en-US" sz="2400" spc="-70" dirty="0">
                <a:latin typeface="Cambria"/>
                <a:cs typeface="Cambria"/>
              </a:rPr>
              <a:t> </a:t>
            </a:r>
            <a:r>
              <a:rPr lang="en-US" sz="2400" dirty="0">
                <a:latin typeface="Cambria"/>
                <a:cs typeface="Cambria"/>
              </a:rPr>
              <a:t>km.</a:t>
            </a:r>
          </a:p>
          <a:p>
            <a:endParaRPr lang="en-US" dirty="0"/>
          </a:p>
          <a:p>
            <a:r>
              <a:rPr lang="en-US" sz="4400" b="1" spc="-10" dirty="0">
                <a:latin typeface="Cambria"/>
                <a:cs typeface="Cambria"/>
              </a:rPr>
              <a:t>Attenuation </a:t>
            </a:r>
            <a:r>
              <a:rPr lang="en-US" sz="4400" b="1" dirty="0">
                <a:latin typeface="Cambria"/>
                <a:cs typeface="Cambria"/>
              </a:rPr>
              <a:t>in </a:t>
            </a:r>
            <a:r>
              <a:rPr lang="en-US" sz="4400" b="1" spc="-5" dirty="0">
                <a:latin typeface="Cambria"/>
                <a:cs typeface="Cambria"/>
              </a:rPr>
              <a:t>Optical</a:t>
            </a:r>
            <a:r>
              <a:rPr lang="en-US" sz="4400" b="1" spc="-80" dirty="0">
                <a:latin typeface="Cambria"/>
                <a:cs typeface="Cambria"/>
              </a:rPr>
              <a:t> </a:t>
            </a:r>
            <a:r>
              <a:rPr lang="en-US" sz="4400" b="1" spc="-5" dirty="0">
                <a:latin typeface="Cambria"/>
                <a:cs typeface="Cambria"/>
              </a:rPr>
              <a:t>Fibers</a:t>
            </a:r>
          </a:p>
          <a:p>
            <a:pPr marL="312420" indent="-312420">
              <a:lnSpc>
                <a:spcPct val="100000"/>
              </a:lnSpc>
              <a:spcBef>
                <a:spcPts val="800"/>
              </a:spcBef>
              <a:buClr>
                <a:srgbClr val="0AD0D9"/>
              </a:buClr>
              <a:buSzPct val="94444"/>
              <a:buFont typeface="Wingdings"/>
              <a:buChar char=""/>
              <a:tabLst>
                <a:tab pos="312420" algn="l"/>
              </a:tabLst>
            </a:pPr>
            <a:r>
              <a:rPr lang="en-US" sz="2400" spc="-10" dirty="0">
                <a:latin typeface="Cambria"/>
                <a:cs typeface="Cambria"/>
              </a:rPr>
              <a:t>Attenuation </a:t>
            </a:r>
            <a:r>
              <a:rPr lang="en-US" sz="2400" spc="-5" dirty="0">
                <a:latin typeface="Cambria"/>
                <a:cs typeface="Cambria"/>
              </a:rPr>
              <a:t>limits </a:t>
            </a:r>
            <a:r>
              <a:rPr lang="en-US" sz="2400" dirty="0">
                <a:latin typeface="Cambria"/>
                <a:cs typeface="Cambria"/>
              </a:rPr>
              <a:t>the </a:t>
            </a:r>
            <a:r>
              <a:rPr lang="en-US" sz="2400" spc="-5" dirty="0">
                <a:latin typeface="Cambria"/>
                <a:cs typeface="Cambria"/>
              </a:rPr>
              <a:t>optical </a:t>
            </a:r>
            <a:r>
              <a:rPr lang="en-US" sz="2400" spc="-10" dirty="0">
                <a:latin typeface="Cambria"/>
                <a:cs typeface="Cambria"/>
              </a:rPr>
              <a:t>power </a:t>
            </a:r>
            <a:r>
              <a:rPr lang="en-US" sz="2400" spc="-5" dirty="0">
                <a:latin typeface="Cambria"/>
                <a:cs typeface="Cambria"/>
              </a:rPr>
              <a:t>which can </a:t>
            </a:r>
            <a:r>
              <a:rPr lang="en-US" sz="2400" spc="-10" dirty="0">
                <a:latin typeface="Cambria"/>
                <a:cs typeface="Cambria"/>
              </a:rPr>
              <a:t>reach </a:t>
            </a:r>
            <a:r>
              <a:rPr lang="en-US" sz="2400" spc="-5" dirty="0">
                <a:latin typeface="Cambria"/>
                <a:cs typeface="Cambria"/>
              </a:rPr>
              <a:t>the </a:t>
            </a:r>
            <a:r>
              <a:rPr lang="en-US" sz="2400" spc="-35" dirty="0">
                <a:latin typeface="Cambria"/>
                <a:cs typeface="Cambria"/>
              </a:rPr>
              <a:t>receiver, </a:t>
            </a:r>
            <a:r>
              <a:rPr lang="en-US" sz="2400" dirty="0">
                <a:latin typeface="Cambria"/>
                <a:cs typeface="Cambria"/>
              </a:rPr>
              <a:t>limiting</a:t>
            </a:r>
            <a:r>
              <a:rPr lang="en-US" sz="2400" spc="240" dirty="0">
                <a:latin typeface="Cambria"/>
                <a:cs typeface="Cambria"/>
              </a:rPr>
              <a:t> </a:t>
            </a:r>
            <a:r>
              <a:rPr lang="en-US" sz="2400" spc="-5" dirty="0">
                <a:latin typeface="Cambria"/>
                <a:cs typeface="Cambria"/>
              </a:rPr>
              <a:t>the</a:t>
            </a:r>
            <a:r>
              <a:rPr lang="en-US" sz="2400" dirty="0">
                <a:latin typeface="Cambria"/>
                <a:cs typeface="Cambria"/>
              </a:rPr>
              <a:t> </a:t>
            </a:r>
            <a:r>
              <a:rPr lang="en-US" sz="2400" spc="-10" dirty="0">
                <a:latin typeface="Cambria"/>
                <a:cs typeface="Cambria"/>
              </a:rPr>
              <a:t>operating </a:t>
            </a:r>
            <a:r>
              <a:rPr lang="en-US" sz="2400" spc="-5" dirty="0">
                <a:latin typeface="Cambria"/>
                <a:cs typeface="Cambria"/>
              </a:rPr>
              <a:t>span </a:t>
            </a:r>
            <a:r>
              <a:rPr lang="en-US" sz="2400" dirty="0">
                <a:latin typeface="Cambria"/>
                <a:cs typeface="Cambria"/>
              </a:rPr>
              <a:t>of a</a:t>
            </a:r>
            <a:r>
              <a:rPr lang="en-US" sz="2400" spc="-15" dirty="0">
                <a:latin typeface="Cambria"/>
                <a:cs typeface="Cambria"/>
              </a:rPr>
              <a:t> </a:t>
            </a:r>
            <a:r>
              <a:rPr lang="en-US" sz="2400" spc="-10" dirty="0">
                <a:latin typeface="Cambria"/>
                <a:cs typeface="Cambria"/>
              </a:rPr>
              <a:t>system.</a:t>
            </a:r>
            <a:endParaRPr lang="en-US" sz="2400" dirty="0">
              <a:latin typeface="Cambria"/>
              <a:cs typeface="Cambria"/>
            </a:endParaRPr>
          </a:p>
          <a:p>
            <a:pPr marL="311785" marR="31750" indent="-274320">
              <a:lnSpc>
                <a:spcPct val="130000"/>
              </a:lnSpc>
              <a:spcBef>
                <a:spcPts val="434"/>
              </a:spcBef>
              <a:buClr>
                <a:srgbClr val="0AD0D9"/>
              </a:buClr>
              <a:buSzPct val="94444"/>
              <a:buFont typeface="Wingdings"/>
              <a:buChar char=""/>
              <a:tabLst>
                <a:tab pos="312420" algn="l"/>
              </a:tabLst>
            </a:pPr>
            <a:r>
              <a:rPr lang="en-US" sz="2400" spc="-5" dirty="0">
                <a:latin typeface="Cambria"/>
                <a:cs typeface="Cambria"/>
              </a:rPr>
              <a:t>Once the </a:t>
            </a:r>
            <a:r>
              <a:rPr lang="en-US" sz="2400" spc="-10" dirty="0">
                <a:latin typeface="Cambria"/>
                <a:cs typeface="Cambria"/>
              </a:rPr>
              <a:t>power </a:t>
            </a:r>
            <a:r>
              <a:rPr lang="en-US" sz="2400" dirty="0">
                <a:latin typeface="Cambria"/>
                <a:cs typeface="Cambria"/>
              </a:rPr>
              <a:t>of </a:t>
            </a:r>
            <a:r>
              <a:rPr lang="en-US" sz="2400" spc="-5" dirty="0">
                <a:latin typeface="Cambria"/>
                <a:cs typeface="Cambria"/>
              </a:rPr>
              <a:t>an optical pulse </a:t>
            </a:r>
            <a:r>
              <a:rPr lang="en-US" sz="2400" dirty="0">
                <a:latin typeface="Cambria"/>
                <a:cs typeface="Cambria"/>
              </a:rPr>
              <a:t>is </a:t>
            </a:r>
            <a:r>
              <a:rPr lang="en-US" sz="2400" spc="-5" dirty="0">
                <a:latin typeface="Cambria"/>
                <a:cs typeface="Cambria"/>
              </a:rPr>
              <a:t>reduced to </a:t>
            </a:r>
            <a:r>
              <a:rPr lang="en-US" sz="2400" dirty="0">
                <a:latin typeface="Cambria"/>
                <a:cs typeface="Cambria"/>
              </a:rPr>
              <a:t>a </a:t>
            </a:r>
            <a:r>
              <a:rPr lang="en-US" sz="2400" spc="-5" dirty="0">
                <a:latin typeface="Cambria"/>
                <a:cs typeface="Cambria"/>
              </a:rPr>
              <a:t>point </a:t>
            </a:r>
            <a:r>
              <a:rPr lang="en-US" sz="2400" spc="-15" dirty="0">
                <a:latin typeface="Cambria"/>
                <a:cs typeface="Cambria"/>
              </a:rPr>
              <a:t>where </a:t>
            </a:r>
            <a:r>
              <a:rPr lang="en-US" sz="2400" spc="-5" dirty="0">
                <a:latin typeface="Cambria"/>
                <a:cs typeface="Cambria"/>
              </a:rPr>
              <a:t>the </a:t>
            </a:r>
            <a:r>
              <a:rPr lang="en-US" sz="2400" spc="-15" dirty="0">
                <a:latin typeface="Cambria"/>
                <a:cs typeface="Cambria"/>
              </a:rPr>
              <a:t>receiver </a:t>
            </a:r>
            <a:r>
              <a:rPr lang="en-US" sz="2400" dirty="0">
                <a:latin typeface="Cambria"/>
                <a:cs typeface="Cambria"/>
              </a:rPr>
              <a:t>is </a:t>
            </a:r>
            <a:r>
              <a:rPr lang="en-US" sz="2400" spc="-5" dirty="0">
                <a:latin typeface="Cambria"/>
                <a:cs typeface="Cambria"/>
              </a:rPr>
              <a:t>unable  to detect the pulse, an </a:t>
            </a:r>
            <a:r>
              <a:rPr lang="en-US" sz="2400" spc="-10" dirty="0">
                <a:latin typeface="Cambria"/>
                <a:cs typeface="Cambria"/>
              </a:rPr>
              <a:t>error</a:t>
            </a:r>
            <a:r>
              <a:rPr lang="en-US" sz="2400" spc="20" dirty="0">
                <a:latin typeface="Cambria"/>
                <a:cs typeface="Cambria"/>
              </a:rPr>
              <a:t> </a:t>
            </a:r>
            <a:r>
              <a:rPr lang="en-US" sz="2400" spc="-5" dirty="0">
                <a:latin typeface="Cambria"/>
                <a:cs typeface="Cambria"/>
              </a:rPr>
              <a:t>occurs.</a:t>
            </a:r>
            <a:endParaRPr lang="en-US" sz="2400" dirty="0">
              <a:latin typeface="Cambria"/>
              <a:cs typeface="Cambria"/>
            </a:endParaRPr>
          </a:p>
          <a:p>
            <a:endParaRPr lang="en-US" sz="4400" b="1" spc="-5" dirty="0">
              <a:latin typeface="Cambria"/>
              <a:cs typeface="Cambria"/>
            </a:endParaRPr>
          </a:p>
          <a:p>
            <a:br>
              <a:rPr lang="en-US" dirty="0">
                <a:latin typeface="Cambria"/>
                <a:cs typeface="Cambria"/>
              </a:rPr>
            </a:br>
            <a:r>
              <a:rPr lang="en-US" dirty="0">
                <a:latin typeface="Cambria"/>
                <a:cs typeface="Cambria"/>
              </a:rPr>
              <a:t> </a:t>
            </a:r>
            <a:endParaRPr lang="en-US" dirty="0"/>
          </a:p>
        </p:txBody>
      </p:sp>
    </p:spTree>
    <p:extLst>
      <p:ext uri="{BB962C8B-B14F-4D97-AF65-F5344CB8AC3E}">
        <p14:creationId xmlns:p14="http://schemas.microsoft.com/office/powerpoint/2010/main" val="40395467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2880" y="1245139"/>
                <a:ext cx="10747717" cy="4803969"/>
              </a:xfrm>
            </p:spPr>
            <p:txBody>
              <a:bodyPr>
                <a:normAutofit/>
              </a:bodyPr>
              <a:lstStyle/>
              <a:p>
                <a:pPr marL="312420" indent="-274320" algn="just">
                  <a:lnSpc>
                    <a:spcPct val="100000"/>
                  </a:lnSpc>
                  <a:spcBef>
                    <a:spcPts val="1080"/>
                  </a:spcBef>
                  <a:buClr>
                    <a:srgbClr val="0AD0D9"/>
                  </a:buClr>
                  <a:buSzPct val="94444"/>
                  <a:buFont typeface="Wingdings"/>
                  <a:buChar char=""/>
                  <a:tabLst>
                    <a:tab pos="312420" algn="l"/>
                  </a:tabLst>
                </a:pPr>
                <a:r>
                  <a:rPr lang="en-US" sz="2400" b="1" spc="-10" dirty="0">
                    <a:latin typeface="Cambria"/>
                    <a:cs typeface="Cambria"/>
                  </a:rPr>
                  <a:t>Attenuation </a:t>
                </a:r>
                <a:r>
                  <a:rPr lang="en-US" sz="2400" dirty="0">
                    <a:latin typeface="Cambria"/>
                    <a:cs typeface="Cambria"/>
                  </a:rPr>
                  <a:t>is </a:t>
                </a:r>
                <a:r>
                  <a:rPr lang="en-US" sz="2400" spc="-10" dirty="0">
                    <a:latin typeface="Cambria"/>
                    <a:cs typeface="Cambria"/>
                  </a:rPr>
                  <a:t>mainly </a:t>
                </a:r>
                <a:r>
                  <a:rPr lang="en-US" sz="2400" dirty="0">
                    <a:latin typeface="Cambria"/>
                    <a:cs typeface="Cambria"/>
                  </a:rPr>
                  <a:t>a </a:t>
                </a:r>
                <a:r>
                  <a:rPr lang="en-US" sz="2400" spc="-10" dirty="0">
                    <a:latin typeface="Cambria"/>
                    <a:cs typeface="Cambria"/>
                  </a:rPr>
                  <a:t>result</a:t>
                </a:r>
                <a:r>
                  <a:rPr lang="en-US" sz="2400" spc="20" dirty="0">
                    <a:latin typeface="Cambria"/>
                    <a:cs typeface="Cambria"/>
                  </a:rPr>
                  <a:t> </a:t>
                </a:r>
                <a:r>
                  <a:rPr lang="en-US" sz="2400" spc="-5" dirty="0">
                    <a:latin typeface="Cambria"/>
                    <a:cs typeface="Cambria"/>
                  </a:rPr>
                  <a:t>of:</a:t>
                </a:r>
                <a:endParaRPr lang="en-US" sz="2400" dirty="0">
                  <a:latin typeface="Cambria"/>
                  <a:cs typeface="Cambria"/>
                </a:endParaRPr>
              </a:p>
              <a:p>
                <a:pPr marL="312420" indent="-274320" algn="just">
                  <a:lnSpc>
                    <a:spcPct val="100000"/>
                  </a:lnSpc>
                  <a:spcBef>
                    <a:spcPts val="1080"/>
                  </a:spcBef>
                  <a:buClr>
                    <a:srgbClr val="0AD0D9"/>
                  </a:buClr>
                  <a:buSzPct val="94444"/>
                  <a:buFont typeface="Wingdings"/>
                  <a:buChar char=""/>
                  <a:tabLst>
                    <a:tab pos="312420" algn="l"/>
                  </a:tabLst>
                </a:pPr>
                <a:r>
                  <a:rPr lang="en-US" sz="2400" b="1" spc="-5" dirty="0">
                    <a:latin typeface="Cambria"/>
                    <a:cs typeface="Cambria"/>
                  </a:rPr>
                  <a:t>Light</a:t>
                </a:r>
                <a:r>
                  <a:rPr lang="en-US" sz="2400" b="1" spc="-15" dirty="0">
                    <a:latin typeface="Cambria"/>
                    <a:cs typeface="Cambria"/>
                  </a:rPr>
                  <a:t> </a:t>
                </a:r>
                <a:r>
                  <a:rPr lang="en-US" sz="2400" b="1" spc="-5" dirty="0">
                    <a:latin typeface="Cambria"/>
                    <a:cs typeface="Cambria"/>
                  </a:rPr>
                  <a:t>Absorption</a:t>
                </a:r>
                <a:endParaRPr lang="en-US" sz="2400" dirty="0">
                  <a:latin typeface="Cambria"/>
                  <a:cs typeface="Cambria"/>
                </a:endParaRPr>
              </a:p>
              <a:p>
                <a:pPr marL="312420" indent="-274320" algn="just">
                  <a:lnSpc>
                    <a:spcPct val="100000"/>
                  </a:lnSpc>
                  <a:spcBef>
                    <a:spcPts val="1080"/>
                  </a:spcBef>
                  <a:buClr>
                    <a:srgbClr val="0AD0D9"/>
                  </a:buClr>
                  <a:buSzPct val="94444"/>
                  <a:buFont typeface="Wingdings"/>
                  <a:buChar char=""/>
                  <a:tabLst>
                    <a:tab pos="312420" algn="l"/>
                  </a:tabLst>
                </a:pPr>
                <a:r>
                  <a:rPr lang="en-US" sz="2400" b="1" spc="-5" dirty="0">
                    <a:latin typeface="Cambria"/>
                    <a:cs typeface="Cambria"/>
                  </a:rPr>
                  <a:t>Scattering of</a:t>
                </a:r>
                <a:r>
                  <a:rPr lang="en-US" sz="2400" b="1" spc="10" dirty="0">
                    <a:latin typeface="Cambria"/>
                    <a:cs typeface="Cambria"/>
                  </a:rPr>
                  <a:t> </a:t>
                </a:r>
                <a:r>
                  <a:rPr lang="en-US" sz="2400" b="1" spc="-10" dirty="0">
                    <a:latin typeface="Cambria"/>
                    <a:cs typeface="Cambria"/>
                  </a:rPr>
                  <a:t>light</a:t>
                </a:r>
                <a:endParaRPr lang="en-US" sz="2400" dirty="0">
                  <a:latin typeface="Cambria"/>
                  <a:cs typeface="Cambria"/>
                </a:endParaRPr>
              </a:p>
              <a:p>
                <a:pPr marL="312420" indent="-274320" algn="just">
                  <a:lnSpc>
                    <a:spcPct val="100000"/>
                  </a:lnSpc>
                  <a:spcBef>
                    <a:spcPts val="1080"/>
                  </a:spcBef>
                  <a:buClr>
                    <a:srgbClr val="0AD0D9"/>
                  </a:buClr>
                  <a:buSzPct val="94444"/>
                  <a:buFont typeface="Wingdings"/>
                  <a:buChar char=""/>
                  <a:tabLst>
                    <a:tab pos="312420" algn="l"/>
                  </a:tabLst>
                </a:pPr>
                <a:r>
                  <a:rPr lang="en-US" sz="2400" b="1" spc="-5" dirty="0">
                    <a:latin typeface="Cambria"/>
                    <a:cs typeface="Cambria"/>
                  </a:rPr>
                  <a:t>Bending</a:t>
                </a:r>
                <a:r>
                  <a:rPr lang="en-US" sz="2400" b="1" spc="-20" dirty="0">
                    <a:latin typeface="Cambria"/>
                    <a:cs typeface="Cambria"/>
                  </a:rPr>
                  <a:t> </a:t>
                </a:r>
                <a:r>
                  <a:rPr lang="en-US" sz="2400" b="1" spc="-5" dirty="0">
                    <a:latin typeface="Cambria"/>
                    <a:cs typeface="Cambria"/>
                  </a:rPr>
                  <a:t>losses</a:t>
                </a:r>
                <a:endParaRPr lang="en-US" sz="2400" dirty="0">
                  <a:latin typeface="Cambria"/>
                  <a:cs typeface="Cambria"/>
                </a:endParaRPr>
              </a:p>
              <a:p>
                <a:pPr marL="312420" indent="-274320" algn="just">
                  <a:lnSpc>
                    <a:spcPct val="100000"/>
                  </a:lnSpc>
                  <a:spcBef>
                    <a:spcPts val="1080"/>
                  </a:spcBef>
                  <a:buClr>
                    <a:srgbClr val="0AD0D9"/>
                  </a:buClr>
                  <a:buSzPct val="94444"/>
                  <a:buFont typeface="Wingdings"/>
                  <a:buChar char=""/>
                  <a:tabLst>
                    <a:tab pos="312420" algn="l"/>
                  </a:tabLst>
                </a:pPr>
                <a:r>
                  <a:rPr lang="en-US" sz="2400" b="1" spc="-10" dirty="0">
                    <a:latin typeface="Cambria"/>
                    <a:cs typeface="Cambria"/>
                  </a:rPr>
                  <a:t>Attenuation</a:t>
                </a:r>
                <a:r>
                  <a:rPr lang="en-US" sz="2400" b="1" spc="185" dirty="0">
                    <a:latin typeface="Cambria"/>
                    <a:cs typeface="Cambria"/>
                  </a:rPr>
                  <a:t> </a:t>
                </a:r>
                <a:r>
                  <a:rPr lang="en-US" sz="2400" dirty="0">
                    <a:latin typeface="Cambria"/>
                    <a:cs typeface="Cambria"/>
                  </a:rPr>
                  <a:t>is</a:t>
                </a:r>
                <a:r>
                  <a:rPr lang="en-US" sz="2400" spc="175" dirty="0">
                    <a:latin typeface="Cambria"/>
                    <a:cs typeface="Cambria"/>
                  </a:rPr>
                  <a:t> </a:t>
                </a:r>
                <a:r>
                  <a:rPr lang="en-US" sz="2400" spc="-5" dirty="0">
                    <a:latin typeface="Cambria"/>
                    <a:cs typeface="Cambria"/>
                  </a:rPr>
                  <a:t>defined</a:t>
                </a:r>
                <a:r>
                  <a:rPr lang="en-US" sz="2400" spc="180" dirty="0">
                    <a:latin typeface="Cambria"/>
                    <a:cs typeface="Cambria"/>
                  </a:rPr>
                  <a:t> </a:t>
                </a:r>
                <a:r>
                  <a:rPr lang="en-US" sz="2400" spc="-5" dirty="0">
                    <a:latin typeface="Cambria"/>
                    <a:cs typeface="Cambria"/>
                  </a:rPr>
                  <a:t>as</a:t>
                </a:r>
                <a:r>
                  <a:rPr lang="en-US" sz="2400" spc="170" dirty="0">
                    <a:latin typeface="Cambria"/>
                    <a:cs typeface="Cambria"/>
                  </a:rPr>
                  <a:t> </a:t>
                </a:r>
                <a:r>
                  <a:rPr lang="en-US" sz="2400" spc="-5" dirty="0">
                    <a:latin typeface="Cambria"/>
                    <a:cs typeface="Cambria"/>
                  </a:rPr>
                  <a:t>the</a:t>
                </a:r>
                <a:r>
                  <a:rPr lang="en-US" sz="2400" spc="185" dirty="0">
                    <a:latin typeface="Cambria"/>
                    <a:cs typeface="Cambria"/>
                  </a:rPr>
                  <a:t> </a:t>
                </a:r>
                <a:r>
                  <a:rPr lang="en-US" sz="2400" spc="-10" dirty="0">
                    <a:latin typeface="Cambria"/>
                    <a:cs typeface="Cambria"/>
                  </a:rPr>
                  <a:t>ratio</a:t>
                </a:r>
                <a:r>
                  <a:rPr lang="en-US" sz="2400" spc="190" dirty="0">
                    <a:latin typeface="Cambria"/>
                    <a:cs typeface="Cambria"/>
                  </a:rPr>
                  <a:t> </a:t>
                </a:r>
                <a:r>
                  <a:rPr lang="en-US" sz="2400" dirty="0">
                    <a:latin typeface="Cambria"/>
                    <a:cs typeface="Cambria"/>
                  </a:rPr>
                  <a:t>of</a:t>
                </a:r>
                <a:r>
                  <a:rPr lang="en-US" sz="2400" spc="180" dirty="0">
                    <a:latin typeface="Cambria"/>
                    <a:cs typeface="Cambria"/>
                  </a:rPr>
                  <a:t> </a:t>
                </a:r>
                <a:r>
                  <a:rPr lang="en-US" sz="2400" spc="-5" dirty="0">
                    <a:latin typeface="Cambria"/>
                    <a:cs typeface="Cambria"/>
                  </a:rPr>
                  <a:t>optical</a:t>
                </a:r>
                <a:r>
                  <a:rPr lang="en-US" sz="2400" spc="165" dirty="0">
                    <a:latin typeface="Cambria"/>
                    <a:cs typeface="Cambria"/>
                  </a:rPr>
                  <a:t> </a:t>
                </a:r>
                <a:r>
                  <a:rPr lang="en-US" sz="2400" dirty="0">
                    <a:latin typeface="Cambria"/>
                    <a:cs typeface="Cambria"/>
                  </a:rPr>
                  <a:t>input</a:t>
                </a:r>
                <a:r>
                  <a:rPr lang="en-US" sz="2400" spc="185" dirty="0">
                    <a:latin typeface="Cambria"/>
                    <a:cs typeface="Cambria"/>
                  </a:rPr>
                  <a:t> </a:t>
                </a:r>
                <a:r>
                  <a:rPr lang="en-US" sz="2400" spc="-10" dirty="0">
                    <a:latin typeface="Cambria"/>
                    <a:cs typeface="Cambria"/>
                  </a:rPr>
                  <a:t>power</a:t>
                </a:r>
                <a:r>
                  <a:rPr lang="en-US" sz="2400" spc="180" dirty="0">
                    <a:latin typeface="Cambria"/>
                    <a:cs typeface="Cambria"/>
                  </a:rPr>
                  <a:t> </a:t>
                </a:r>
                <a:r>
                  <a:rPr lang="en-US" sz="2400" spc="5" dirty="0">
                    <a:latin typeface="Cambria"/>
                    <a:cs typeface="Cambria"/>
                  </a:rPr>
                  <a:t>(P</a:t>
                </a:r>
                <a:r>
                  <a:rPr lang="en-US" sz="2400" spc="7" baseline="-21604" dirty="0">
                    <a:latin typeface="Cambria"/>
                    <a:cs typeface="Cambria"/>
                  </a:rPr>
                  <a:t>in</a:t>
                </a:r>
                <a:r>
                  <a:rPr lang="en-US" sz="2400" spc="5" dirty="0">
                    <a:latin typeface="Cambria"/>
                    <a:cs typeface="Cambria"/>
                  </a:rPr>
                  <a:t>)</a:t>
                </a:r>
                <a:r>
                  <a:rPr lang="en-US" sz="2400" spc="180" dirty="0">
                    <a:latin typeface="Cambria"/>
                    <a:cs typeface="Cambria"/>
                  </a:rPr>
                  <a:t> </a:t>
                </a:r>
                <a:r>
                  <a:rPr lang="en-US" sz="2400" spc="-5" dirty="0">
                    <a:latin typeface="Cambria"/>
                    <a:cs typeface="Cambria"/>
                  </a:rPr>
                  <a:t>to</a:t>
                </a:r>
                <a:r>
                  <a:rPr lang="en-US" sz="2400" spc="180" dirty="0">
                    <a:latin typeface="Cambria"/>
                    <a:cs typeface="Cambria"/>
                  </a:rPr>
                  <a:t> </a:t>
                </a:r>
                <a:r>
                  <a:rPr lang="en-US" sz="2400" spc="-5" dirty="0">
                    <a:latin typeface="Cambria"/>
                    <a:cs typeface="Cambria"/>
                  </a:rPr>
                  <a:t>the</a:t>
                </a:r>
                <a:r>
                  <a:rPr lang="en-US" sz="2400" spc="180" dirty="0">
                    <a:latin typeface="Cambria"/>
                    <a:cs typeface="Cambria"/>
                  </a:rPr>
                  <a:t> </a:t>
                </a:r>
                <a:r>
                  <a:rPr lang="en-US" sz="2400" spc="-5" dirty="0">
                    <a:latin typeface="Cambria"/>
                    <a:cs typeface="Cambria"/>
                  </a:rPr>
                  <a:t>optical</a:t>
                </a:r>
                <a:r>
                  <a:rPr lang="en-US" sz="2400" spc="175" dirty="0">
                    <a:latin typeface="Cambria"/>
                    <a:cs typeface="Cambria"/>
                  </a:rPr>
                  <a:t> </a:t>
                </a:r>
                <a:r>
                  <a:rPr lang="en-US" sz="2400" spc="-5" dirty="0">
                    <a:latin typeface="Cambria"/>
                    <a:cs typeface="Cambria"/>
                  </a:rPr>
                  <a:t>output</a:t>
                </a:r>
                <a:r>
                  <a:rPr lang="en-US" sz="2400" dirty="0">
                    <a:latin typeface="Cambria"/>
                    <a:cs typeface="Cambria"/>
                  </a:rPr>
                  <a:t> </a:t>
                </a:r>
                <a:r>
                  <a:rPr lang="en-US" sz="2400" spc="-10" dirty="0">
                    <a:latin typeface="Cambria"/>
                    <a:cs typeface="Cambria"/>
                  </a:rPr>
                  <a:t>power</a:t>
                </a:r>
                <a:r>
                  <a:rPr lang="en-US" sz="2400" spc="5" dirty="0">
                    <a:latin typeface="Cambria"/>
                    <a:cs typeface="Cambria"/>
                  </a:rPr>
                  <a:t> </a:t>
                </a:r>
                <a:r>
                  <a:rPr lang="en-US" sz="2400" spc="-5" dirty="0">
                    <a:latin typeface="Cambria"/>
                    <a:cs typeface="Cambria"/>
                  </a:rPr>
                  <a:t>(P</a:t>
                </a:r>
                <a:r>
                  <a:rPr lang="en-US" sz="2400" spc="-7" baseline="-21604" dirty="0">
                    <a:latin typeface="Cambria"/>
                    <a:cs typeface="Cambria"/>
                  </a:rPr>
                  <a:t>out</a:t>
                </a:r>
                <a:r>
                  <a:rPr lang="en-US" sz="2400" spc="-5" dirty="0">
                    <a:latin typeface="Cambria"/>
                    <a:cs typeface="Cambria"/>
                  </a:rPr>
                  <a:t>).</a:t>
                </a:r>
                <a:endParaRPr lang="en-US" sz="2400" dirty="0">
                  <a:latin typeface="Cambria"/>
                  <a:cs typeface="Cambria"/>
                </a:endParaRPr>
              </a:p>
              <a:p>
                <a:pPr marL="312420" indent="-274320" algn="just">
                  <a:lnSpc>
                    <a:spcPct val="100000"/>
                  </a:lnSpc>
                  <a:spcBef>
                    <a:spcPts val="1080"/>
                  </a:spcBef>
                  <a:buClr>
                    <a:srgbClr val="0AD0D9"/>
                  </a:buClr>
                  <a:buSzPct val="94444"/>
                  <a:buFont typeface="Wingdings"/>
                  <a:buChar char=""/>
                  <a:tabLst>
                    <a:tab pos="312420" algn="l"/>
                  </a:tabLst>
                </a:pPr>
                <a:r>
                  <a:rPr lang="en-US" sz="2400" dirty="0">
                    <a:latin typeface="Cambria"/>
                    <a:cs typeface="Cambria"/>
                  </a:rPr>
                  <a:t>The </a:t>
                </a:r>
                <a:r>
                  <a:rPr lang="en-US" sz="2400" spc="-10" dirty="0">
                    <a:latin typeface="Cambria"/>
                    <a:cs typeface="Cambria"/>
                  </a:rPr>
                  <a:t>following </a:t>
                </a:r>
                <a:r>
                  <a:rPr lang="en-US" sz="2400" dirty="0">
                    <a:latin typeface="Cambria"/>
                    <a:cs typeface="Cambria"/>
                  </a:rPr>
                  <a:t>equation </a:t>
                </a:r>
                <a:r>
                  <a:rPr lang="en-US" sz="2400" spc="-5" dirty="0">
                    <a:latin typeface="Cambria"/>
                    <a:cs typeface="Cambria"/>
                  </a:rPr>
                  <a:t>defines signal attenuation as </a:t>
                </a:r>
                <a:r>
                  <a:rPr lang="en-US" sz="2400" dirty="0">
                    <a:latin typeface="Cambria"/>
                    <a:cs typeface="Cambria"/>
                  </a:rPr>
                  <a:t>a </a:t>
                </a:r>
                <a:r>
                  <a:rPr lang="en-US" sz="2400" spc="-5" dirty="0">
                    <a:latin typeface="Cambria"/>
                    <a:cs typeface="Cambria"/>
                  </a:rPr>
                  <a:t>unit </a:t>
                </a:r>
                <a:r>
                  <a:rPr lang="en-US" sz="2400" dirty="0">
                    <a:latin typeface="Cambria"/>
                    <a:cs typeface="Cambria"/>
                  </a:rPr>
                  <a:t>of </a:t>
                </a:r>
                <a:r>
                  <a:rPr lang="en-US" sz="2400" spc="-5" dirty="0">
                    <a:latin typeface="Cambria"/>
                    <a:cs typeface="Cambria"/>
                  </a:rPr>
                  <a:t>length</a:t>
                </a:r>
                <a:r>
                  <a:rPr lang="en-US" sz="2400" spc="-35" dirty="0">
                    <a:latin typeface="Cambria"/>
                    <a:cs typeface="Cambria"/>
                  </a:rPr>
                  <a:t> </a:t>
                </a:r>
                <a:r>
                  <a:rPr lang="en-US" sz="2400" dirty="0">
                    <a:latin typeface="Cambria"/>
                    <a:cs typeface="Cambria"/>
                  </a:rPr>
                  <a:t>:</a:t>
                </a:r>
              </a:p>
              <a:p>
                <a:pPr marL="0" indent="0">
                  <a:buNone/>
                </a:pPr>
                <a:endParaRPr lang="en-US" dirty="0"/>
              </a:p>
              <a:p>
                <a:pPr marL="0" indent="0" algn="ctr">
                  <a:buNone/>
                </a:pPr>
                <a:r>
                  <a:rPr lang="en-US" sz="3000" dirty="0"/>
                  <a:t>Attenuation = </a:t>
                </a:r>
                <a:r>
                  <a:rPr lang="el-GR" sz="3000" dirty="0"/>
                  <a:t>α</a:t>
                </a:r>
                <a:r>
                  <a:rPr lang="en-US" sz="3000" dirty="0"/>
                  <a:t> = </a:t>
                </a:r>
                <a14:m>
                  <m:oMath xmlns:m="http://schemas.openxmlformats.org/officeDocument/2006/math">
                    <m:f>
                      <m:fPr>
                        <m:ctrlPr>
                          <a:rPr lang="en-US" sz="3000" i="1" smtClean="0">
                            <a:latin typeface="Cambria Math" panose="02040503050406030204" pitchFamily="18" charset="0"/>
                          </a:rPr>
                        </m:ctrlPr>
                      </m:fPr>
                      <m:num>
                        <m:r>
                          <a:rPr lang="en-US" sz="3000" b="0" i="1" smtClean="0">
                            <a:latin typeface="Cambria Math" panose="02040503050406030204" pitchFamily="18" charset="0"/>
                          </a:rPr>
                          <m:t>10</m:t>
                        </m:r>
                      </m:num>
                      <m:den>
                        <m:r>
                          <a:rPr lang="en-US" sz="3000" b="0" i="1" smtClean="0">
                            <a:latin typeface="Cambria Math" panose="02040503050406030204" pitchFamily="18" charset="0"/>
                          </a:rPr>
                          <m:t>𝐿</m:t>
                        </m:r>
                      </m:den>
                    </m:f>
                  </m:oMath>
                </a14:m>
                <a:r>
                  <a:rPr lang="en-US" sz="3000" dirty="0"/>
                  <a:t> </a:t>
                </a:r>
                <a14:m>
                  <m:oMath xmlns:m="http://schemas.openxmlformats.org/officeDocument/2006/math">
                    <m:sSub>
                      <m:sSubPr>
                        <m:ctrlPr>
                          <a:rPr lang="en-US" sz="3000" i="1" dirty="0" smtClean="0">
                            <a:latin typeface="Cambria Math" panose="02040503050406030204" pitchFamily="18" charset="0"/>
                          </a:rPr>
                        </m:ctrlPr>
                      </m:sSubPr>
                      <m:e>
                        <m:r>
                          <a:rPr lang="en-US" sz="3000" b="0" i="1" dirty="0" smtClean="0">
                            <a:latin typeface="Cambria Math" panose="02040503050406030204" pitchFamily="18" charset="0"/>
                          </a:rPr>
                          <m:t>𝐿𝑜𝑔</m:t>
                        </m:r>
                      </m:e>
                      <m:sub>
                        <m:r>
                          <a:rPr lang="en-US" sz="3000" b="0" i="1" dirty="0" smtClean="0">
                            <a:latin typeface="Cambria Math" panose="02040503050406030204" pitchFamily="18" charset="0"/>
                          </a:rPr>
                          <m:t>10</m:t>
                        </m:r>
                      </m:sub>
                    </m:sSub>
                  </m:oMath>
                </a14:m>
                <a:r>
                  <a:rPr lang="en-US" sz="3000" dirty="0"/>
                  <a:t> </a:t>
                </a:r>
                <a14:m>
                  <m:oMath xmlns:m="http://schemas.openxmlformats.org/officeDocument/2006/math">
                    <m:d>
                      <m:dPr>
                        <m:ctrlPr>
                          <a:rPr lang="en-US" sz="3000" i="1" dirty="0" smtClean="0">
                            <a:latin typeface="Cambria Math" panose="02040503050406030204" pitchFamily="18" charset="0"/>
                          </a:rPr>
                        </m:ctrlPr>
                      </m:dPr>
                      <m:e>
                        <m:f>
                          <m:fPr>
                            <m:ctrlPr>
                              <a:rPr lang="en-US" sz="3000" i="1" dirty="0" smtClean="0">
                                <a:latin typeface="Cambria Math" panose="02040503050406030204" pitchFamily="18" charset="0"/>
                              </a:rPr>
                            </m:ctrlPr>
                          </m:fPr>
                          <m:num>
                            <m:sSub>
                              <m:sSubPr>
                                <m:ctrlPr>
                                  <a:rPr lang="en-US" sz="3000" i="1" dirty="0" smtClean="0">
                                    <a:latin typeface="Cambria Math" panose="02040503050406030204" pitchFamily="18" charset="0"/>
                                  </a:rPr>
                                </m:ctrlPr>
                              </m:sSubPr>
                              <m:e>
                                <m:r>
                                  <a:rPr lang="en-US" sz="3000" b="0" i="1" dirty="0" smtClean="0">
                                    <a:latin typeface="Cambria Math" panose="02040503050406030204" pitchFamily="18" charset="0"/>
                                  </a:rPr>
                                  <m:t>𝑃</m:t>
                                </m:r>
                              </m:e>
                              <m:sub>
                                <m:r>
                                  <a:rPr lang="en-US" sz="3000" b="0" i="1" dirty="0" smtClean="0">
                                    <a:latin typeface="Cambria Math" panose="02040503050406030204" pitchFamily="18" charset="0"/>
                                  </a:rPr>
                                  <m:t>𝑖𝑛</m:t>
                                </m:r>
                              </m:sub>
                            </m:sSub>
                          </m:num>
                          <m:den>
                            <m:sSub>
                              <m:sSubPr>
                                <m:ctrlPr>
                                  <a:rPr lang="en-US" sz="3000" i="1" dirty="0" smtClean="0">
                                    <a:latin typeface="Cambria Math" panose="02040503050406030204" pitchFamily="18" charset="0"/>
                                  </a:rPr>
                                </m:ctrlPr>
                              </m:sSubPr>
                              <m:e>
                                <m:r>
                                  <a:rPr lang="en-US" sz="3000" b="0" i="1" dirty="0" smtClean="0">
                                    <a:latin typeface="Cambria Math" panose="02040503050406030204" pitchFamily="18" charset="0"/>
                                  </a:rPr>
                                  <m:t>𝑃</m:t>
                                </m:r>
                              </m:e>
                              <m:sub>
                                <m:r>
                                  <a:rPr lang="en-US" sz="3000" b="0" i="1" dirty="0" smtClean="0">
                                    <a:latin typeface="Cambria Math" panose="02040503050406030204" pitchFamily="18" charset="0"/>
                                  </a:rPr>
                                  <m:t>𝑜𝑢𝑡</m:t>
                                </m:r>
                              </m:sub>
                            </m:sSub>
                          </m:den>
                        </m:f>
                      </m:e>
                    </m:d>
                  </m:oMath>
                </a14:m>
                <a:endParaRPr lang="en-US" sz="3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2880" y="1245139"/>
                <a:ext cx="10747717" cy="4803969"/>
              </a:xfrm>
              <a:blipFill rotWithShape="0">
                <a:blip r:embed="rId2"/>
                <a:stretch>
                  <a:fillRect l="-284" t="-1015" r="-85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BDCDBBEF-AA6C-4BA6-85B2-A17D7F280E38}" type="slidenum">
              <a:rPr lang="en-US" smtClean="0"/>
              <a:t>42</a:t>
            </a:fld>
            <a:endParaRPr lang="en-US"/>
          </a:p>
        </p:txBody>
      </p:sp>
    </p:spTree>
    <p:extLst>
      <p:ext uri="{BB962C8B-B14F-4D97-AF65-F5344CB8AC3E}">
        <p14:creationId xmlns:p14="http://schemas.microsoft.com/office/powerpoint/2010/main" val="18738124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31524" y="987425"/>
            <a:ext cx="8748908" cy="4873625"/>
          </a:xfrm>
        </p:spPr>
        <p:txBody>
          <a:bodyPr>
            <a:normAutofit/>
          </a:bodyPr>
          <a:lstStyle/>
          <a:p>
            <a:pPr marL="0" marR="4869815" indent="0" algn="just">
              <a:lnSpc>
                <a:spcPct val="150100"/>
              </a:lnSpc>
              <a:spcBef>
                <a:spcPts val="100"/>
              </a:spcBef>
              <a:buClr>
                <a:srgbClr val="0AD0D9"/>
              </a:buClr>
              <a:buSzPct val="93750"/>
              <a:buNone/>
              <a:tabLst>
                <a:tab pos="287655" algn="l"/>
              </a:tabLst>
            </a:pPr>
            <a:r>
              <a:rPr lang="en-US" sz="2400" b="1" spc="-10" dirty="0">
                <a:latin typeface="Cambria"/>
                <a:cs typeface="Cambria"/>
              </a:rPr>
              <a:t>Absorption</a:t>
            </a:r>
            <a:r>
              <a:rPr lang="en-US" sz="2400" b="1" dirty="0">
                <a:latin typeface="Cambria"/>
                <a:cs typeface="Cambria"/>
              </a:rPr>
              <a:t> Loss:</a:t>
            </a:r>
            <a:endParaRPr lang="en-US" sz="2400" dirty="0">
              <a:latin typeface="Cambria"/>
              <a:cs typeface="Cambria"/>
            </a:endParaRPr>
          </a:p>
          <a:p>
            <a:pPr marL="287020" marR="5080" indent="-274955" algn="just">
              <a:lnSpc>
                <a:spcPct val="130000"/>
              </a:lnSpc>
              <a:spcBef>
                <a:spcPts val="575"/>
              </a:spcBef>
              <a:buClr>
                <a:srgbClr val="0AD0D9"/>
              </a:buClr>
              <a:buSzPct val="93750"/>
              <a:buFont typeface="Wingdings"/>
              <a:buChar char=""/>
              <a:tabLst>
                <a:tab pos="287655" algn="l"/>
              </a:tabLst>
            </a:pPr>
            <a:r>
              <a:rPr lang="en-US" sz="2400" spc="-5" dirty="0">
                <a:latin typeface="Cambria"/>
                <a:cs typeface="Cambria"/>
              </a:rPr>
              <a:t>Caused </a:t>
            </a:r>
            <a:r>
              <a:rPr lang="en-US" sz="2400" spc="-25" dirty="0">
                <a:latin typeface="Cambria"/>
                <a:cs typeface="Cambria"/>
              </a:rPr>
              <a:t>by </a:t>
            </a:r>
            <a:r>
              <a:rPr lang="en-US" sz="2400" spc="-5" dirty="0">
                <a:latin typeface="Cambria"/>
                <a:cs typeface="Cambria"/>
              </a:rPr>
              <a:t>the fiber itself </a:t>
            </a:r>
            <a:r>
              <a:rPr lang="en-US" sz="2400" dirty="0">
                <a:latin typeface="Cambria"/>
                <a:cs typeface="Cambria"/>
              </a:rPr>
              <a:t>or </a:t>
            </a:r>
            <a:r>
              <a:rPr lang="en-US" sz="2400" spc="-25" dirty="0">
                <a:latin typeface="Cambria"/>
                <a:cs typeface="Cambria"/>
              </a:rPr>
              <a:t>by </a:t>
            </a:r>
            <a:r>
              <a:rPr lang="en-US" sz="2400" spc="-5" dirty="0">
                <a:latin typeface="Cambria"/>
                <a:cs typeface="Cambria"/>
              </a:rPr>
              <a:t>impurities </a:t>
            </a:r>
            <a:r>
              <a:rPr lang="en-US" sz="2400" dirty="0">
                <a:latin typeface="Cambria"/>
                <a:cs typeface="Cambria"/>
              </a:rPr>
              <a:t>in </a:t>
            </a:r>
            <a:r>
              <a:rPr lang="en-US" sz="2400" spc="-10" dirty="0">
                <a:latin typeface="Cambria"/>
                <a:cs typeface="Cambria"/>
              </a:rPr>
              <a:t>the </a:t>
            </a:r>
            <a:r>
              <a:rPr lang="en-US" sz="2400" spc="-45" dirty="0">
                <a:latin typeface="Cambria"/>
                <a:cs typeface="Cambria"/>
              </a:rPr>
              <a:t>fiber, </a:t>
            </a:r>
            <a:r>
              <a:rPr lang="en-US" sz="2400" spc="-5" dirty="0">
                <a:latin typeface="Cambria"/>
                <a:cs typeface="Cambria"/>
              </a:rPr>
              <a:t>such  </a:t>
            </a:r>
            <a:r>
              <a:rPr lang="en-US" sz="2400" dirty="0">
                <a:latin typeface="Cambria"/>
                <a:cs typeface="Cambria"/>
              </a:rPr>
              <a:t>as </a:t>
            </a:r>
            <a:r>
              <a:rPr lang="en-US" sz="2400" spc="-15" dirty="0">
                <a:latin typeface="Cambria"/>
                <a:cs typeface="Cambria"/>
              </a:rPr>
              <a:t>water </a:t>
            </a:r>
            <a:r>
              <a:rPr lang="en-US" sz="2400" dirty="0">
                <a:latin typeface="Cambria"/>
                <a:cs typeface="Cambria"/>
              </a:rPr>
              <a:t>and</a:t>
            </a:r>
            <a:r>
              <a:rPr lang="en-US" sz="2400" spc="5" dirty="0">
                <a:latin typeface="Cambria"/>
                <a:cs typeface="Cambria"/>
              </a:rPr>
              <a:t> </a:t>
            </a:r>
            <a:r>
              <a:rPr lang="en-US" sz="2400" spc="-5" dirty="0">
                <a:latin typeface="Cambria"/>
                <a:cs typeface="Cambria"/>
              </a:rPr>
              <a:t>metals.</a:t>
            </a:r>
            <a:endParaRPr lang="en-US" sz="2400" dirty="0">
              <a:latin typeface="Cambria"/>
              <a:cs typeface="Cambria"/>
            </a:endParaRPr>
          </a:p>
          <a:p>
            <a:pPr marL="12700" algn="just">
              <a:lnSpc>
                <a:spcPct val="100000"/>
              </a:lnSpc>
              <a:spcBef>
                <a:spcPts val="1440"/>
              </a:spcBef>
            </a:pPr>
            <a:r>
              <a:rPr lang="en-US" sz="2400" b="1" spc="-5" dirty="0">
                <a:latin typeface="Cambria"/>
                <a:cs typeface="Cambria"/>
              </a:rPr>
              <a:t>Scattering</a:t>
            </a:r>
            <a:r>
              <a:rPr lang="en-US" sz="2400" b="1" dirty="0">
                <a:latin typeface="Cambria"/>
                <a:cs typeface="Cambria"/>
              </a:rPr>
              <a:t> Loss:</a:t>
            </a:r>
            <a:endParaRPr lang="en-US" sz="2400" dirty="0">
              <a:latin typeface="Cambria"/>
              <a:cs typeface="Cambria"/>
            </a:endParaRPr>
          </a:p>
          <a:p>
            <a:pPr marL="287020" marR="5080" indent="-274955" algn="just">
              <a:lnSpc>
                <a:spcPct val="130000"/>
              </a:lnSpc>
              <a:spcBef>
                <a:spcPts val="580"/>
              </a:spcBef>
              <a:buClr>
                <a:srgbClr val="0AD0D9"/>
              </a:buClr>
              <a:buSzPct val="93750"/>
              <a:buFont typeface="Wingdings"/>
              <a:buChar char=""/>
              <a:tabLst>
                <a:tab pos="287655" algn="l"/>
                <a:tab pos="1580515" algn="l"/>
                <a:tab pos="2280920" algn="l"/>
                <a:tab pos="3968115" algn="l"/>
                <a:tab pos="5063490" algn="l"/>
                <a:tab pos="5571490" algn="l"/>
                <a:tab pos="6185535" algn="l"/>
                <a:tab pos="7804784" algn="l"/>
              </a:tabLst>
            </a:pPr>
            <a:r>
              <a:rPr lang="en-US" sz="2400" spc="-5" dirty="0">
                <a:latin typeface="Cambria"/>
                <a:cs typeface="Cambria"/>
              </a:rPr>
              <a:t>Int</a:t>
            </a:r>
            <a:r>
              <a:rPr lang="en-US" sz="2400" spc="-15" dirty="0">
                <a:latin typeface="Cambria"/>
                <a:cs typeface="Cambria"/>
              </a:rPr>
              <a:t>r</a:t>
            </a:r>
            <a:r>
              <a:rPr lang="en-US" sz="2400" dirty="0">
                <a:latin typeface="Cambria"/>
                <a:cs typeface="Cambria"/>
              </a:rPr>
              <a:t>i</a:t>
            </a:r>
            <a:r>
              <a:rPr lang="en-US" sz="2400" spc="5" dirty="0">
                <a:latin typeface="Cambria"/>
                <a:cs typeface="Cambria"/>
              </a:rPr>
              <a:t>n</a:t>
            </a:r>
            <a:r>
              <a:rPr lang="en-US" sz="2400" spc="-15" dirty="0">
                <a:latin typeface="Cambria"/>
                <a:cs typeface="Cambria"/>
              </a:rPr>
              <a:t>s</a:t>
            </a:r>
            <a:r>
              <a:rPr lang="en-US" sz="2400" dirty="0">
                <a:latin typeface="Cambria"/>
                <a:cs typeface="Cambria"/>
              </a:rPr>
              <a:t>ic	</a:t>
            </a:r>
            <a:r>
              <a:rPr lang="en-US" sz="2400" spc="-5" dirty="0">
                <a:latin typeface="Cambria"/>
                <a:cs typeface="Cambria"/>
              </a:rPr>
              <a:t>los</a:t>
            </a:r>
            <a:r>
              <a:rPr lang="en-US" sz="2400" dirty="0">
                <a:latin typeface="Cambria"/>
                <a:cs typeface="Cambria"/>
              </a:rPr>
              <a:t>s	</a:t>
            </a:r>
            <a:r>
              <a:rPr lang="en-US" sz="2400" spc="-5" dirty="0">
                <a:latin typeface="Cambria"/>
                <a:cs typeface="Cambria"/>
              </a:rPr>
              <a:t>mec</a:t>
            </a:r>
            <a:r>
              <a:rPr lang="en-US" sz="2400" spc="-10" dirty="0">
                <a:latin typeface="Cambria"/>
                <a:cs typeface="Cambria"/>
              </a:rPr>
              <a:t>h</a:t>
            </a:r>
            <a:r>
              <a:rPr lang="en-US" sz="2400" spc="-5" dirty="0">
                <a:latin typeface="Cambria"/>
                <a:cs typeface="Cambria"/>
              </a:rPr>
              <a:t>a</a:t>
            </a:r>
            <a:r>
              <a:rPr lang="en-US" sz="2400" spc="15" dirty="0">
                <a:latin typeface="Cambria"/>
                <a:cs typeface="Cambria"/>
              </a:rPr>
              <a:t>n</a:t>
            </a:r>
            <a:r>
              <a:rPr lang="en-US" sz="2400" dirty="0">
                <a:latin typeface="Cambria"/>
                <a:cs typeface="Cambria"/>
              </a:rPr>
              <a:t>ism	ca</a:t>
            </a:r>
            <a:r>
              <a:rPr lang="en-US" sz="2400" spc="5" dirty="0">
                <a:latin typeface="Cambria"/>
                <a:cs typeface="Cambria"/>
              </a:rPr>
              <a:t>u</a:t>
            </a:r>
            <a:r>
              <a:rPr lang="en-US" sz="2400" dirty="0">
                <a:latin typeface="Cambria"/>
                <a:cs typeface="Cambria"/>
              </a:rPr>
              <a:t>s</a:t>
            </a:r>
            <a:r>
              <a:rPr lang="en-US" sz="2400" spc="15" dirty="0">
                <a:latin typeface="Cambria"/>
                <a:cs typeface="Cambria"/>
              </a:rPr>
              <a:t>e</a:t>
            </a:r>
            <a:r>
              <a:rPr lang="en-US" sz="2400" dirty="0">
                <a:latin typeface="Cambria"/>
                <a:cs typeface="Cambria"/>
              </a:rPr>
              <a:t>d	</a:t>
            </a:r>
            <a:r>
              <a:rPr lang="en-US" sz="2400" spc="-45" dirty="0">
                <a:latin typeface="Cambria"/>
                <a:cs typeface="Cambria"/>
              </a:rPr>
              <a:t>b</a:t>
            </a:r>
            <a:r>
              <a:rPr lang="en-US" sz="2400" dirty="0">
                <a:latin typeface="Cambria"/>
                <a:cs typeface="Cambria"/>
              </a:rPr>
              <a:t>y	</a:t>
            </a:r>
            <a:r>
              <a:rPr lang="en-US" sz="2400" spc="-5" dirty="0">
                <a:latin typeface="Cambria"/>
                <a:cs typeface="Cambria"/>
              </a:rPr>
              <a:t>th</a:t>
            </a:r>
            <a:r>
              <a:rPr lang="en-US" sz="2400" dirty="0">
                <a:latin typeface="Cambria"/>
                <a:cs typeface="Cambria"/>
              </a:rPr>
              <a:t>e	i</a:t>
            </a:r>
            <a:r>
              <a:rPr lang="en-US" sz="2400" spc="5" dirty="0">
                <a:latin typeface="Cambria"/>
                <a:cs typeface="Cambria"/>
              </a:rPr>
              <a:t>n</a:t>
            </a:r>
            <a:r>
              <a:rPr lang="en-US" sz="2400" spc="-25" dirty="0">
                <a:latin typeface="Cambria"/>
                <a:cs typeface="Cambria"/>
              </a:rPr>
              <a:t>t</a:t>
            </a:r>
            <a:r>
              <a:rPr lang="en-US" sz="2400" spc="-10" dirty="0">
                <a:latin typeface="Cambria"/>
                <a:cs typeface="Cambria"/>
              </a:rPr>
              <a:t>e</a:t>
            </a:r>
            <a:r>
              <a:rPr lang="en-US" sz="2400" spc="-45" dirty="0">
                <a:latin typeface="Cambria"/>
                <a:cs typeface="Cambria"/>
              </a:rPr>
              <a:t>r</a:t>
            </a:r>
            <a:r>
              <a:rPr lang="en-US" sz="2400" spc="-5" dirty="0">
                <a:latin typeface="Cambria"/>
                <a:cs typeface="Cambria"/>
              </a:rPr>
              <a:t>ac</a:t>
            </a:r>
            <a:r>
              <a:rPr lang="en-US" sz="2400" dirty="0">
                <a:latin typeface="Cambria"/>
                <a:cs typeface="Cambria"/>
              </a:rPr>
              <a:t>ti</a:t>
            </a:r>
            <a:r>
              <a:rPr lang="en-US" sz="2400" spc="-10" dirty="0">
                <a:latin typeface="Cambria"/>
                <a:cs typeface="Cambria"/>
              </a:rPr>
              <a:t>o</a:t>
            </a:r>
            <a:r>
              <a:rPr lang="en-US" sz="2400" dirty="0">
                <a:latin typeface="Cambria"/>
                <a:cs typeface="Cambria"/>
              </a:rPr>
              <a:t>n	</a:t>
            </a:r>
            <a:r>
              <a:rPr lang="en-US" sz="2400" spc="-5" dirty="0">
                <a:latin typeface="Cambria"/>
                <a:cs typeface="Cambria"/>
              </a:rPr>
              <a:t>of  </a:t>
            </a:r>
            <a:r>
              <a:rPr lang="en-US" sz="2400" spc="-10" dirty="0">
                <a:latin typeface="Cambria"/>
                <a:cs typeface="Cambria"/>
              </a:rPr>
              <a:t>photons </a:t>
            </a:r>
            <a:r>
              <a:rPr lang="en-US" sz="2400" spc="-5" dirty="0">
                <a:latin typeface="Cambria"/>
                <a:cs typeface="Cambria"/>
              </a:rPr>
              <a:t>with the glass</a:t>
            </a:r>
            <a:r>
              <a:rPr lang="en-US" sz="2400" spc="25" dirty="0">
                <a:latin typeface="Cambria"/>
                <a:cs typeface="Cambria"/>
              </a:rPr>
              <a:t> </a:t>
            </a:r>
            <a:r>
              <a:rPr lang="en-US" sz="2400" dirty="0">
                <a:latin typeface="Cambria"/>
                <a:cs typeface="Cambria"/>
              </a:rPr>
              <a:t>itself.</a:t>
            </a:r>
          </a:p>
          <a:p>
            <a:pPr marL="12700" algn="just">
              <a:lnSpc>
                <a:spcPct val="100000"/>
              </a:lnSpc>
              <a:spcBef>
                <a:spcPts val="1440"/>
              </a:spcBef>
            </a:pPr>
            <a:r>
              <a:rPr lang="en-US" sz="2400" b="1" spc="-5" dirty="0">
                <a:latin typeface="Cambria"/>
                <a:cs typeface="Cambria"/>
              </a:rPr>
              <a:t>Bending </a:t>
            </a:r>
            <a:r>
              <a:rPr lang="en-US" sz="2400" b="1" dirty="0">
                <a:latin typeface="Cambria"/>
                <a:cs typeface="Cambria"/>
              </a:rPr>
              <a:t>loss:</a:t>
            </a:r>
            <a:endParaRPr lang="en-US" sz="2400" dirty="0">
              <a:latin typeface="Cambria"/>
              <a:cs typeface="Cambria"/>
            </a:endParaRPr>
          </a:p>
          <a:p>
            <a:pPr marL="287020" indent="-274955" algn="just">
              <a:lnSpc>
                <a:spcPct val="100000"/>
              </a:lnSpc>
              <a:spcBef>
                <a:spcPts val="1440"/>
              </a:spcBef>
              <a:buClr>
                <a:srgbClr val="0AD0D9"/>
              </a:buClr>
              <a:buSzPct val="93750"/>
              <a:buFont typeface="Wingdings"/>
              <a:buChar char=""/>
              <a:tabLst>
                <a:tab pos="287655" algn="l"/>
              </a:tabLst>
            </a:pPr>
            <a:r>
              <a:rPr lang="en-US" sz="2400" spc="-5" dirty="0">
                <a:latin typeface="Cambria"/>
                <a:cs typeface="Cambria"/>
              </a:rPr>
              <a:t>Loss induced </a:t>
            </a:r>
            <a:r>
              <a:rPr lang="en-US" sz="2400" spc="-25" dirty="0">
                <a:latin typeface="Cambria"/>
                <a:cs typeface="Cambria"/>
              </a:rPr>
              <a:t>by </a:t>
            </a:r>
            <a:r>
              <a:rPr lang="en-US" sz="2400" spc="-15" dirty="0">
                <a:latin typeface="Cambria"/>
                <a:cs typeface="Cambria"/>
              </a:rPr>
              <a:t>physical </a:t>
            </a:r>
            <a:r>
              <a:rPr lang="en-US" sz="2400" spc="-5" dirty="0">
                <a:latin typeface="Cambria"/>
                <a:cs typeface="Cambria"/>
              </a:rPr>
              <a:t>stress on the</a:t>
            </a:r>
            <a:r>
              <a:rPr lang="en-US" sz="2400" spc="90" dirty="0">
                <a:latin typeface="Cambria"/>
                <a:cs typeface="Cambria"/>
              </a:rPr>
              <a:t> </a:t>
            </a:r>
            <a:r>
              <a:rPr lang="en-US" sz="2400" spc="-40" dirty="0">
                <a:latin typeface="Cambria"/>
                <a:cs typeface="Cambria"/>
              </a:rPr>
              <a:t>fiber.</a:t>
            </a:r>
            <a:endParaRPr lang="en-US" sz="2400" dirty="0">
              <a:latin typeface="Cambria"/>
              <a:cs typeface="Cambria"/>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43</a:t>
            </a:fld>
            <a:endParaRPr lang="en-US"/>
          </a:p>
        </p:txBody>
      </p:sp>
      <p:sp>
        <p:nvSpPr>
          <p:cNvPr id="6" name="TextBox 5"/>
          <p:cNvSpPr txBox="1"/>
          <p:nvPr/>
        </p:nvSpPr>
        <p:spPr>
          <a:xfrm>
            <a:off x="1964987" y="252920"/>
            <a:ext cx="7081736" cy="769441"/>
          </a:xfrm>
          <a:prstGeom prst="rect">
            <a:avLst/>
          </a:prstGeom>
          <a:noFill/>
        </p:spPr>
        <p:txBody>
          <a:bodyPr wrap="square" rtlCol="0">
            <a:spAutoFit/>
          </a:bodyPr>
          <a:lstStyle/>
          <a:p>
            <a:r>
              <a:rPr lang="en-US" sz="4400" b="1" spc="-15" dirty="0">
                <a:latin typeface="Cambria"/>
                <a:cs typeface="Cambria"/>
              </a:rPr>
              <a:t>Types </a:t>
            </a:r>
            <a:r>
              <a:rPr lang="en-US" sz="4400" b="1" dirty="0">
                <a:latin typeface="Cambria"/>
                <a:cs typeface="Cambria"/>
              </a:rPr>
              <a:t>of</a:t>
            </a:r>
            <a:r>
              <a:rPr lang="en-US" sz="4400" b="1" spc="-65" dirty="0">
                <a:latin typeface="Cambria"/>
                <a:cs typeface="Cambria"/>
              </a:rPr>
              <a:t> </a:t>
            </a:r>
            <a:r>
              <a:rPr lang="en-US" sz="4400" b="1" spc="-10" dirty="0">
                <a:latin typeface="Cambria"/>
                <a:cs typeface="Cambria"/>
              </a:rPr>
              <a:t>Attenuation</a:t>
            </a:r>
            <a:endParaRPr lang="en-US" sz="4400" dirty="0"/>
          </a:p>
        </p:txBody>
      </p:sp>
    </p:spTree>
    <p:extLst>
      <p:ext uri="{BB962C8B-B14F-4D97-AF65-F5344CB8AC3E}">
        <p14:creationId xmlns:p14="http://schemas.microsoft.com/office/powerpoint/2010/main" val="14162686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1009" y="0"/>
            <a:ext cx="8356209" cy="836579"/>
          </a:xfrm>
        </p:spPr>
        <p:txBody>
          <a:bodyPr>
            <a:noAutofit/>
          </a:bodyPr>
          <a:lstStyle/>
          <a:p>
            <a:pPr>
              <a:lnSpc>
                <a:spcPct val="100000"/>
              </a:lnSpc>
              <a:spcBef>
                <a:spcPts val="640"/>
              </a:spcBef>
            </a:pPr>
            <a:r>
              <a:rPr lang="en-US" sz="4400" b="1" spc="-5" dirty="0">
                <a:latin typeface="Cambria"/>
                <a:cs typeface="Cambria"/>
              </a:rPr>
              <a:t>Material Absorption</a:t>
            </a:r>
            <a:r>
              <a:rPr lang="en-US" sz="4400" b="1" spc="-45" dirty="0">
                <a:latin typeface="Cambria"/>
                <a:cs typeface="Cambria"/>
              </a:rPr>
              <a:t> </a:t>
            </a:r>
            <a:r>
              <a:rPr lang="en-US" sz="4400" b="1" dirty="0">
                <a:latin typeface="Cambria"/>
                <a:cs typeface="Cambria"/>
              </a:rPr>
              <a:t>Losses</a:t>
            </a:r>
            <a:endParaRPr lang="en-US" sz="4400" dirty="0">
              <a:latin typeface="Cambria"/>
              <a:cs typeface="Cambria"/>
            </a:endParaRPr>
          </a:p>
        </p:txBody>
      </p:sp>
      <p:sp>
        <p:nvSpPr>
          <p:cNvPr id="3" name="Content Placeholder 2"/>
          <p:cNvSpPr>
            <a:spLocks noGrp="1"/>
          </p:cNvSpPr>
          <p:nvPr>
            <p:ph idx="1"/>
          </p:nvPr>
        </p:nvSpPr>
        <p:spPr>
          <a:xfrm>
            <a:off x="1147864" y="987426"/>
            <a:ext cx="9909342" cy="5734050"/>
          </a:xfrm>
        </p:spPr>
        <p:txBody>
          <a:bodyPr>
            <a:normAutofit fontScale="77500" lnSpcReduction="20000"/>
          </a:bodyPr>
          <a:lstStyle/>
          <a:p>
            <a:pPr marL="287020" indent="-274320" algn="just">
              <a:lnSpc>
                <a:spcPct val="100000"/>
              </a:lnSpc>
              <a:spcBef>
                <a:spcPts val="420"/>
              </a:spcBef>
              <a:buClr>
                <a:srgbClr val="0AD0D9"/>
              </a:buClr>
              <a:buSzPct val="95000"/>
              <a:buFont typeface="Wingdings"/>
              <a:buChar char=""/>
              <a:tabLst>
                <a:tab pos="287020" algn="l"/>
              </a:tabLst>
            </a:pPr>
            <a:r>
              <a:rPr lang="en-US" sz="3100" spc="-5" dirty="0">
                <a:latin typeface="Cambria" panose="02040503050406030204" pitchFamily="18" charset="0"/>
                <a:ea typeface="Cambria" panose="02040503050406030204" pitchFamily="18" charset="0"/>
                <a:cs typeface="Constantia"/>
              </a:rPr>
              <a:t>Material</a:t>
            </a:r>
            <a:r>
              <a:rPr lang="en-US" sz="3100" spc="-7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absorption</a:t>
            </a:r>
            <a:r>
              <a:rPr lang="en-US" sz="3100" spc="-4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is</a:t>
            </a:r>
            <a:r>
              <a:rPr lang="en-US" sz="3100" spc="-9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caused </a:t>
            </a:r>
            <a:r>
              <a:rPr lang="en-US" sz="3100" spc="-15" dirty="0">
                <a:latin typeface="Cambria" panose="02040503050406030204" pitchFamily="18" charset="0"/>
                <a:ea typeface="Cambria" panose="02040503050406030204" pitchFamily="18" charset="0"/>
                <a:cs typeface="Constantia"/>
              </a:rPr>
              <a:t>by</a:t>
            </a:r>
            <a:r>
              <a:rPr lang="en-US" sz="3100" spc="-10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absorption</a:t>
            </a:r>
            <a:r>
              <a:rPr lang="en-US" sz="3100" spc="-100" dirty="0">
                <a:latin typeface="Cambria" panose="02040503050406030204" pitchFamily="18" charset="0"/>
                <a:ea typeface="Cambria" panose="02040503050406030204" pitchFamily="18" charset="0"/>
                <a:cs typeface="Constantia"/>
              </a:rPr>
              <a:t> </a:t>
            </a:r>
            <a:r>
              <a:rPr lang="en-US" sz="3100" dirty="0">
                <a:latin typeface="Cambria" panose="02040503050406030204" pitchFamily="18" charset="0"/>
                <a:ea typeface="Cambria" panose="02040503050406030204" pitchFamily="18" charset="0"/>
                <a:cs typeface="Constantia"/>
              </a:rPr>
              <a:t>of</a:t>
            </a:r>
            <a:r>
              <a:rPr lang="en-US" sz="3100" spc="2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photons</a:t>
            </a:r>
            <a:r>
              <a:rPr lang="en-US" sz="3100" spc="-10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within</a:t>
            </a:r>
            <a:r>
              <a:rPr lang="en-US" sz="3100" spc="-7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the</a:t>
            </a:r>
            <a:r>
              <a:rPr lang="en-US" sz="3100" spc="-70" dirty="0">
                <a:latin typeface="Cambria" panose="02040503050406030204" pitchFamily="18" charset="0"/>
                <a:ea typeface="Cambria" panose="02040503050406030204" pitchFamily="18" charset="0"/>
                <a:cs typeface="Constantia"/>
              </a:rPr>
              <a:t> </a:t>
            </a:r>
            <a:r>
              <a:rPr lang="en-US" sz="3100" spc="-25" dirty="0">
                <a:latin typeface="Cambria" panose="02040503050406030204" pitchFamily="18" charset="0"/>
                <a:ea typeface="Cambria" panose="02040503050406030204" pitchFamily="18" charset="0"/>
                <a:cs typeface="Constantia"/>
              </a:rPr>
              <a:t>fiber.</a:t>
            </a:r>
            <a:endParaRPr lang="en-US" sz="3100" dirty="0">
              <a:latin typeface="Cambria" panose="02040503050406030204" pitchFamily="18" charset="0"/>
              <a:ea typeface="Cambria" panose="02040503050406030204" pitchFamily="18" charset="0"/>
              <a:cs typeface="Constantia"/>
            </a:endParaRPr>
          </a:p>
          <a:p>
            <a:pPr marL="286385" marR="9525" indent="-274320" algn="just">
              <a:lnSpc>
                <a:spcPct val="100000"/>
              </a:lnSpc>
              <a:spcBef>
                <a:spcPts val="480"/>
              </a:spcBef>
              <a:buClr>
                <a:srgbClr val="0AD0D9"/>
              </a:buClr>
              <a:buSzPct val="95000"/>
              <a:buFont typeface="Wingdings"/>
              <a:buChar char=""/>
              <a:tabLst>
                <a:tab pos="287020" algn="l"/>
              </a:tabLst>
            </a:pPr>
            <a:r>
              <a:rPr lang="en-US" sz="3100" dirty="0">
                <a:latin typeface="Cambria" panose="02040503050406030204" pitchFamily="18" charset="0"/>
                <a:ea typeface="Cambria" panose="02040503050406030204" pitchFamily="18" charset="0"/>
                <a:cs typeface="Constantia"/>
              </a:rPr>
              <a:t>– When a </a:t>
            </a:r>
            <a:r>
              <a:rPr lang="en-US" sz="3100" spc="-10" dirty="0">
                <a:latin typeface="Cambria" panose="02040503050406030204" pitchFamily="18" charset="0"/>
                <a:ea typeface="Cambria" panose="02040503050406030204" pitchFamily="18" charset="0"/>
                <a:cs typeface="Constantia"/>
              </a:rPr>
              <a:t>material </a:t>
            </a:r>
            <a:r>
              <a:rPr lang="en-US" sz="3100" spc="-5" dirty="0">
                <a:latin typeface="Cambria" panose="02040503050406030204" pitchFamily="18" charset="0"/>
                <a:ea typeface="Cambria" panose="02040503050406030204" pitchFamily="18" charset="0"/>
                <a:cs typeface="Constantia"/>
              </a:rPr>
              <a:t>is </a:t>
            </a:r>
            <a:r>
              <a:rPr lang="en-US" sz="3100" spc="-10" dirty="0">
                <a:latin typeface="Cambria" panose="02040503050406030204" pitchFamily="18" charset="0"/>
                <a:ea typeface="Cambria" panose="02040503050406030204" pitchFamily="18" charset="0"/>
                <a:cs typeface="Constantia"/>
              </a:rPr>
              <a:t>illuminated, </a:t>
            </a:r>
            <a:r>
              <a:rPr lang="en-US" sz="3100" spc="-15" dirty="0">
                <a:latin typeface="Cambria" panose="02040503050406030204" pitchFamily="18" charset="0"/>
                <a:ea typeface="Cambria" panose="02040503050406030204" pitchFamily="18" charset="0"/>
                <a:cs typeface="Constantia"/>
              </a:rPr>
              <a:t>photons </a:t>
            </a:r>
            <a:r>
              <a:rPr lang="en-US" sz="3100" spc="-5" dirty="0">
                <a:latin typeface="Cambria" panose="02040503050406030204" pitchFamily="18" charset="0"/>
                <a:ea typeface="Cambria" panose="02040503050406030204" pitchFamily="18" charset="0"/>
                <a:cs typeface="Constantia"/>
              </a:rPr>
              <a:t>can </a:t>
            </a:r>
            <a:r>
              <a:rPr lang="en-US" sz="3100" spc="-15" dirty="0">
                <a:latin typeface="Cambria" panose="02040503050406030204" pitchFamily="18" charset="0"/>
                <a:ea typeface="Cambria" panose="02040503050406030204" pitchFamily="18" charset="0"/>
                <a:cs typeface="Constantia"/>
              </a:rPr>
              <a:t>make </a:t>
            </a:r>
            <a:r>
              <a:rPr lang="en-US" sz="3100" spc="-5" dirty="0">
                <a:latin typeface="Cambria" panose="02040503050406030204" pitchFamily="18" charset="0"/>
                <a:ea typeface="Cambria" panose="02040503050406030204" pitchFamily="18" charset="0"/>
                <a:cs typeface="Constantia"/>
              </a:rPr>
              <a:t>the </a:t>
            </a:r>
            <a:r>
              <a:rPr lang="en-US" sz="3100" spc="-10" dirty="0">
                <a:latin typeface="Cambria" panose="02040503050406030204" pitchFamily="18" charset="0"/>
                <a:ea typeface="Cambria" panose="02040503050406030204" pitchFamily="18" charset="0"/>
                <a:cs typeface="Constantia"/>
              </a:rPr>
              <a:t>valence </a:t>
            </a:r>
            <a:r>
              <a:rPr lang="en-US" sz="3100" spc="-5" dirty="0">
                <a:latin typeface="Cambria" panose="02040503050406030204" pitchFamily="18" charset="0"/>
                <a:ea typeface="Cambria" panose="02040503050406030204" pitchFamily="18" charset="0"/>
                <a:cs typeface="Constantia"/>
              </a:rPr>
              <a:t>electrons  of</a:t>
            </a:r>
            <a:r>
              <a:rPr lang="en-US" sz="3100" spc="-10" dirty="0">
                <a:latin typeface="Cambria" panose="02040503050406030204" pitchFamily="18" charset="0"/>
                <a:ea typeface="Cambria" panose="02040503050406030204" pitchFamily="18" charset="0"/>
                <a:cs typeface="Constantia"/>
              </a:rPr>
              <a:t> </a:t>
            </a:r>
            <a:r>
              <a:rPr lang="en-US" sz="3100" dirty="0">
                <a:latin typeface="Cambria" panose="02040503050406030204" pitchFamily="18" charset="0"/>
                <a:ea typeface="Cambria" panose="02040503050406030204" pitchFamily="18" charset="0"/>
                <a:cs typeface="Constantia"/>
              </a:rPr>
              <a:t>an</a:t>
            </a:r>
            <a:r>
              <a:rPr lang="en-US" sz="3100" spc="-75" dirty="0">
                <a:latin typeface="Cambria" panose="02040503050406030204" pitchFamily="18" charset="0"/>
                <a:ea typeface="Cambria" panose="02040503050406030204" pitchFamily="18" charset="0"/>
                <a:cs typeface="Constantia"/>
              </a:rPr>
              <a:t> </a:t>
            </a:r>
            <a:r>
              <a:rPr lang="en-US" sz="3100" spc="-10" dirty="0">
                <a:latin typeface="Cambria" panose="02040503050406030204" pitchFamily="18" charset="0"/>
                <a:ea typeface="Cambria" panose="02040503050406030204" pitchFamily="18" charset="0"/>
                <a:cs typeface="Constantia"/>
              </a:rPr>
              <a:t>atom</a:t>
            </a:r>
            <a:r>
              <a:rPr lang="en-US" sz="3100" spc="-7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transition</a:t>
            </a:r>
            <a:r>
              <a:rPr lang="en-US" sz="3100" spc="-85" dirty="0">
                <a:latin typeface="Cambria" panose="02040503050406030204" pitchFamily="18" charset="0"/>
                <a:ea typeface="Cambria" panose="02040503050406030204" pitchFamily="18" charset="0"/>
                <a:cs typeface="Constantia"/>
              </a:rPr>
              <a:t> </a:t>
            </a:r>
            <a:r>
              <a:rPr lang="en-US" sz="3100" spc="-15" dirty="0">
                <a:latin typeface="Cambria" panose="02040503050406030204" pitchFamily="18" charset="0"/>
                <a:ea typeface="Cambria" panose="02040503050406030204" pitchFamily="18" charset="0"/>
                <a:cs typeface="Constantia"/>
              </a:rPr>
              <a:t>to</a:t>
            </a:r>
            <a:r>
              <a:rPr lang="en-US" sz="3100" spc="-7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higher</a:t>
            </a:r>
            <a:r>
              <a:rPr lang="en-US" sz="3100" spc="-135" dirty="0">
                <a:latin typeface="Cambria" panose="02040503050406030204" pitchFamily="18" charset="0"/>
                <a:ea typeface="Cambria" panose="02040503050406030204" pitchFamily="18" charset="0"/>
                <a:cs typeface="Constantia"/>
              </a:rPr>
              <a:t> </a:t>
            </a:r>
            <a:r>
              <a:rPr lang="en-US" sz="3100" dirty="0">
                <a:latin typeface="Cambria" panose="02040503050406030204" pitchFamily="18" charset="0"/>
                <a:ea typeface="Cambria" panose="02040503050406030204" pitchFamily="18" charset="0"/>
                <a:cs typeface="Constantia"/>
              </a:rPr>
              <a:t>energy</a:t>
            </a:r>
            <a:r>
              <a:rPr lang="en-US" sz="3100" spc="-75" dirty="0">
                <a:latin typeface="Cambria" panose="02040503050406030204" pitchFamily="18" charset="0"/>
                <a:ea typeface="Cambria" panose="02040503050406030204" pitchFamily="18" charset="0"/>
                <a:cs typeface="Constantia"/>
              </a:rPr>
              <a:t> </a:t>
            </a:r>
            <a:r>
              <a:rPr lang="en-US" sz="3100" spc="-10" dirty="0">
                <a:latin typeface="Cambria" panose="02040503050406030204" pitchFamily="18" charset="0"/>
                <a:ea typeface="Cambria" panose="02040503050406030204" pitchFamily="18" charset="0"/>
                <a:cs typeface="Constantia"/>
              </a:rPr>
              <a:t>levels</a:t>
            </a:r>
            <a:endParaRPr lang="en-US" sz="3100" dirty="0">
              <a:latin typeface="Cambria" panose="02040503050406030204" pitchFamily="18" charset="0"/>
              <a:ea typeface="Cambria" panose="02040503050406030204" pitchFamily="18" charset="0"/>
              <a:cs typeface="Constantia"/>
            </a:endParaRPr>
          </a:p>
          <a:p>
            <a:pPr marL="286385" marR="7620" indent="-274320" algn="just">
              <a:lnSpc>
                <a:spcPct val="100000"/>
              </a:lnSpc>
              <a:spcBef>
                <a:spcPts val="480"/>
              </a:spcBef>
              <a:buClr>
                <a:srgbClr val="0AD0D9"/>
              </a:buClr>
              <a:buSzPct val="95000"/>
              <a:buFont typeface="Wingdings"/>
              <a:buChar char=""/>
              <a:tabLst>
                <a:tab pos="287020" algn="l"/>
              </a:tabLst>
            </a:pPr>
            <a:r>
              <a:rPr lang="en-US" sz="3100" dirty="0">
                <a:latin typeface="Cambria" panose="02040503050406030204" pitchFamily="18" charset="0"/>
                <a:ea typeface="Cambria" panose="02040503050406030204" pitchFamily="18" charset="0"/>
                <a:cs typeface="Constantia"/>
              </a:rPr>
              <a:t>– </a:t>
            </a:r>
            <a:r>
              <a:rPr lang="en-US" sz="3100" spc="-10" dirty="0">
                <a:latin typeface="Cambria" panose="02040503050406030204" pitchFamily="18" charset="0"/>
                <a:ea typeface="Cambria" panose="02040503050406030204" pitchFamily="18" charset="0"/>
                <a:cs typeface="Constantia"/>
              </a:rPr>
              <a:t>Photon is </a:t>
            </a:r>
            <a:r>
              <a:rPr lang="en-US" sz="3100" spc="-15" dirty="0">
                <a:latin typeface="Cambria" panose="02040503050406030204" pitchFamily="18" charset="0"/>
                <a:ea typeface="Cambria" panose="02040503050406030204" pitchFamily="18" charset="0"/>
                <a:cs typeface="Constantia"/>
              </a:rPr>
              <a:t>destroyed, </a:t>
            </a:r>
            <a:r>
              <a:rPr lang="en-US" sz="3100" spc="-5" dirty="0">
                <a:latin typeface="Cambria" panose="02040503050406030204" pitchFamily="18" charset="0"/>
                <a:ea typeface="Cambria" panose="02040503050406030204" pitchFamily="18" charset="0"/>
                <a:cs typeface="Constantia"/>
              </a:rPr>
              <a:t>and the radiant </a:t>
            </a:r>
            <a:r>
              <a:rPr lang="en-US" sz="3100" dirty="0">
                <a:latin typeface="Cambria" panose="02040503050406030204" pitchFamily="18" charset="0"/>
                <a:ea typeface="Cambria" panose="02040503050406030204" pitchFamily="18" charset="0"/>
                <a:cs typeface="Constantia"/>
              </a:rPr>
              <a:t>energy </a:t>
            </a:r>
            <a:r>
              <a:rPr lang="en-US" sz="3100" spc="-5" dirty="0">
                <a:latin typeface="Cambria" panose="02040503050406030204" pitchFamily="18" charset="0"/>
                <a:ea typeface="Cambria" panose="02040503050406030204" pitchFamily="18" charset="0"/>
                <a:cs typeface="Constantia"/>
              </a:rPr>
              <a:t>is </a:t>
            </a:r>
            <a:r>
              <a:rPr lang="en-US" sz="3100" spc="-10" dirty="0">
                <a:latin typeface="Cambria" panose="02040503050406030204" pitchFamily="18" charset="0"/>
                <a:ea typeface="Cambria" panose="02040503050406030204" pitchFamily="18" charset="0"/>
                <a:cs typeface="Constantia"/>
              </a:rPr>
              <a:t>transformed </a:t>
            </a:r>
            <a:r>
              <a:rPr lang="en-US" sz="3100" spc="-15" dirty="0">
                <a:latin typeface="Cambria" panose="02040503050406030204" pitchFamily="18" charset="0"/>
                <a:ea typeface="Cambria" panose="02040503050406030204" pitchFamily="18" charset="0"/>
                <a:cs typeface="Constantia"/>
              </a:rPr>
              <a:t>into </a:t>
            </a:r>
            <a:r>
              <a:rPr lang="en-US" sz="3100" spc="-5" dirty="0">
                <a:latin typeface="Cambria" panose="02040503050406030204" pitchFamily="18" charset="0"/>
                <a:ea typeface="Cambria" panose="02040503050406030204" pitchFamily="18" charset="0"/>
                <a:cs typeface="Constantia"/>
              </a:rPr>
              <a:t>electric  potential </a:t>
            </a:r>
            <a:r>
              <a:rPr lang="en-US" sz="3100" spc="-30" dirty="0">
                <a:latin typeface="Cambria" panose="02040503050406030204" pitchFamily="18" charset="0"/>
                <a:ea typeface="Cambria" panose="02040503050406030204" pitchFamily="18" charset="0"/>
                <a:cs typeface="Constantia"/>
              </a:rPr>
              <a:t>energy. </a:t>
            </a:r>
            <a:r>
              <a:rPr lang="en-US" sz="3100" spc="-5" dirty="0">
                <a:latin typeface="Cambria" panose="02040503050406030204" pitchFamily="18" charset="0"/>
                <a:ea typeface="Cambria" panose="02040503050406030204" pitchFamily="18" charset="0"/>
                <a:cs typeface="Constantia"/>
              </a:rPr>
              <a:t>This </a:t>
            </a:r>
            <a:r>
              <a:rPr lang="en-US" sz="3100" dirty="0">
                <a:latin typeface="Cambria" panose="02040503050406030204" pitchFamily="18" charset="0"/>
                <a:ea typeface="Cambria" panose="02040503050406030204" pitchFamily="18" charset="0"/>
                <a:cs typeface="Constantia"/>
              </a:rPr>
              <a:t>energy </a:t>
            </a:r>
            <a:r>
              <a:rPr lang="en-US" sz="3100" spc="-5" dirty="0">
                <a:latin typeface="Cambria" panose="02040503050406030204" pitchFamily="18" charset="0"/>
                <a:ea typeface="Cambria" panose="02040503050406030204" pitchFamily="18" charset="0"/>
                <a:cs typeface="Constantia"/>
              </a:rPr>
              <a:t>can</a:t>
            </a:r>
            <a:r>
              <a:rPr lang="en-US" sz="3100" spc="-345" dirty="0">
                <a:latin typeface="Cambria" panose="02040503050406030204" pitchFamily="18" charset="0"/>
                <a:ea typeface="Cambria" panose="02040503050406030204" pitchFamily="18" charset="0"/>
                <a:cs typeface="Constantia"/>
              </a:rPr>
              <a:t> </a:t>
            </a:r>
            <a:r>
              <a:rPr lang="en-US" sz="3100" dirty="0">
                <a:latin typeface="Cambria" panose="02040503050406030204" pitchFamily="18" charset="0"/>
                <a:ea typeface="Cambria" panose="02040503050406030204" pitchFamily="18" charset="0"/>
                <a:cs typeface="Constantia"/>
              </a:rPr>
              <a:t>then</a:t>
            </a:r>
          </a:p>
          <a:p>
            <a:pPr marL="287020" indent="-274320" algn="just">
              <a:lnSpc>
                <a:spcPct val="100000"/>
              </a:lnSpc>
              <a:spcBef>
                <a:spcPts val="484"/>
              </a:spcBef>
              <a:buClr>
                <a:srgbClr val="0AD0D9"/>
              </a:buClr>
              <a:buSzPct val="95000"/>
              <a:buFont typeface="Wingdings"/>
              <a:buChar char=""/>
              <a:tabLst>
                <a:tab pos="287020" algn="l"/>
              </a:tabLst>
            </a:pPr>
            <a:r>
              <a:rPr lang="en-US" sz="3100" dirty="0">
                <a:latin typeface="Cambria" panose="02040503050406030204" pitchFamily="18" charset="0"/>
                <a:ea typeface="Cambria" panose="02040503050406030204" pitchFamily="18" charset="0"/>
                <a:cs typeface="Constantia"/>
              </a:rPr>
              <a:t> Be </a:t>
            </a:r>
            <a:r>
              <a:rPr lang="en-US" sz="3100" spc="-10" dirty="0">
                <a:latin typeface="Cambria" panose="02040503050406030204" pitchFamily="18" charset="0"/>
                <a:ea typeface="Cambria" panose="02040503050406030204" pitchFamily="18" charset="0"/>
                <a:cs typeface="Constantia"/>
              </a:rPr>
              <a:t>re-emitted</a:t>
            </a:r>
            <a:r>
              <a:rPr lang="en-US" sz="3100" spc="-12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(scattering)</a:t>
            </a:r>
            <a:endParaRPr lang="en-US" sz="3100" dirty="0">
              <a:latin typeface="Cambria" panose="02040503050406030204" pitchFamily="18" charset="0"/>
              <a:ea typeface="Cambria" panose="02040503050406030204" pitchFamily="18" charset="0"/>
              <a:cs typeface="Constantia"/>
            </a:endParaRPr>
          </a:p>
          <a:p>
            <a:pPr marL="287020" indent="-274320" algn="just">
              <a:lnSpc>
                <a:spcPct val="100000"/>
              </a:lnSpc>
              <a:spcBef>
                <a:spcPts val="480"/>
              </a:spcBef>
              <a:buClr>
                <a:srgbClr val="0AD0D9"/>
              </a:buClr>
              <a:buSzPct val="95000"/>
              <a:buFont typeface="Wingdings"/>
              <a:buChar char=""/>
              <a:tabLst>
                <a:tab pos="287020" algn="l"/>
              </a:tabLst>
            </a:pPr>
            <a:r>
              <a:rPr lang="en-US" sz="3100" spc="-5" dirty="0">
                <a:latin typeface="Cambria" panose="02040503050406030204" pitchFamily="18" charset="0"/>
                <a:ea typeface="Cambria" panose="02040503050406030204" pitchFamily="18" charset="0"/>
                <a:cs typeface="Constantia"/>
              </a:rPr>
              <a:t> </a:t>
            </a:r>
            <a:r>
              <a:rPr lang="en-US" sz="3100" spc="-15" dirty="0">
                <a:latin typeface="Cambria" panose="02040503050406030204" pitchFamily="18" charset="0"/>
                <a:ea typeface="Cambria" panose="02040503050406030204" pitchFamily="18" charset="0"/>
                <a:cs typeface="Constantia"/>
              </a:rPr>
              <a:t>Frees</a:t>
            </a:r>
            <a:r>
              <a:rPr lang="en-US" sz="3100" spc="-6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the</a:t>
            </a:r>
            <a:r>
              <a:rPr lang="en-US" sz="3100" spc="-10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electron</a:t>
            </a:r>
            <a:r>
              <a:rPr lang="en-US" sz="3100" spc="-6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(photoelectric</a:t>
            </a:r>
            <a:r>
              <a:rPr lang="en-US" sz="3100" spc="-140" dirty="0">
                <a:latin typeface="Cambria" panose="02040503050406030204" pitchFamily="18" charset="0"/>
                <a:ea typeface="Cambria" panose="02040503050406030204" pitchFamily="18" charset="0"/>
                <a:cs typeface="Constantia"/>
              </a:rPr>
              <a:t> </a:t>
            </a:r>
            <a:r>
              <a:rPr lang="en-US" sz="3100" dirty="0">
                <a:latin typeface="Cambria" panose="02040503050406030204" pitchFamily="18" charset="0"/>
                <a:ea typeface="Cambria" panose="02040503050406030204" pitchFamily="18" charset="0"/>
                <a:cs typeface="Constantia"/>
              </a:rPr>
              <a:t>effects)</a:t>
            </a:r>
            <a:r>
              <a:rPr lang="en-US" sz="3100" spc="-15" dirty="0">
                <a:latin typeface="Cambria" panose="02040503050406030204" pitchFamily="18" charset="0"/>
                <a:ea typeface="Cambria" panose="02040503050406030204" pitchFamily="18" charset="0"/>
                <a:cs typeface="Constantia"/>
              </a:rPr>
              <a:t> </a:t>
            </a:r>
            <a:r>
              <a:rPr lang="en-US" sz="3100" dirty="0">
                <a:latin typeface="Cambria" panose="02040503050406030204" pitchFamily="18" charset="0"/>
                <a:ea typeface="Cambria" panose="02040503050406030204" pitchFamily="18" charset="0"/>
                <a:cs typeface="Constantia"/>
              </a:rPr>
              <a:t>(not</a:t>
            </a:r>
            <a:r>
              <a:rPr lang="en-US" sz="3100" spc="-8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in</a:t>
            </a:r>
            <a:r>
              <a:rPr lang="en-US" sz="3100" spc="-5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fibers)</a:t>
            </a:r>
            <a:endParaRPr lang="en-US" sz="3100" dirty="0">
              <a:latin typeface="Cambria" panose="02040503050406030204" pitchFamily="18" charset="0"/>
              <a:ea typeface="Cambria" panose="02040503050406030204" pitchFamily="18" charset="0"/>
              <a:cs typeface="Constantia"/>
            </a:endParaRPr>
          </a:p>
          <a:p>
            <a:pPr marL="287020" indent="-274320" algn="just">
              <a:lnSpc>
                <a:spcPct val="100000"/>
              </a:lnSpc>
              <a:spcBef>
                <a:spcPts val="480"/>
              </a:spcBef>
              <a:buClr>
                <a:srgbClr val="0AD0D9"/>
              </a:buClr>
              <a:buSzPct val="95000"/>
              <a:buFont typeface="Wingdings"/>
              <a:buChar char=""/>
              <a:tabLst>
                <a:tab pos="287020" algn="l"/>
              </a:tabLst>
            </a:pPr>
            <a:r>
              <a:rPr lang="en-US" sz="3100" spc="-5" dirty="0">
                <a:latin typeface="Cambria" panose="02040503050406030204" pitchFamily="18" charset="0"/>
                <a:ea typeface="Cambria" panose="02040503050406030204" pitchFamily="18" charset="0"/>
                <a:cs typeface="Constantia"/>
              </a:rPr>
              <a:t> Dissipated</a:t>
            </a:r>
            <a:r>
              <a:rPr lang="en-US" sz="3100" spc="-35" dirty="0">
                <a:latin typeface="Cambria" panose="02040503050406030204" pitchFamily="18" charset="0"/>
                <a:ea typeface="Cambria" panose="02040503050406030204" pitchFamily="18" charset="0"/>
                <a:cs typeface="Constantia"/>
              </a:rPr>
              <a:t> </a:t>
            </a:r>
            <a:r>
              <a:rPr lang="en-US" sz="3100" spc="-15" dirty="0">
                <a:latin typeface="Cambria" panose="02040503050406030204" pitchFamily="18" charset="0"/>
                <a:ea typeface="Cambria" panose="02040503050406030204" pitchFamily="18" charset="0"/>
                <a:cs typeface="Constantia"/>
              </a:rPr>
              <a:t>to</a:t>
            </a:r>
            <a:r>
              <a:rPr lang="en-US" sz="3100" spc="-10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the</a:t>
            </a:r>
            <a:r>
              <a:rPr lang="en-US" sz="3100" spc="-7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rest</a:t>
            </a:r>
            <a:r>
              <a:rPr lang="en-US" sz="3100" spc="-114"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of</a:t>
            </a:r>
            <a:r>
              <a:rPr lang="en-US" sz="3100" spc="1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the</a:t>
            </a:r>
            <a:r>
              <a:rPr lang="en-US" sz="3100" spc="-5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material</a:t>
            </a:r>
            <a:r>
              <a:rPr lang="en-US" sz="3100" spc="-1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(transformed</a:t>
            </a:r>
            <a:r>
              <a:rPr lang="en-US" sz="3100" spc="-45" dirty="0">
                <a:latin typeface="Cambria" panose="02040503050406030204" pitchFamily="18" charset="0"/>
                <a:ea typeface="Cambria" panose="02040503050406030204" pitchFamily="18" charset="0"/>
                <a:cs typeface="Constantia"/>
              </a:rPr>
              <a:t> </a:t>
            </a:r>
            <a:r>
              <a:rPr lang="en-US" sz="3100" spc="-10" dirty="0">
                <a:latin typeface="Cambria" panose="02040503050406030204" pitchFamily="18" charset="0"/>
                <a:ea typeface="Cambria" panose="02040503050406030204" pitchFamily="18" charset="0"/>
                <a:cs typeface="Constantia"/>
              </a:rPr>
              <a:t>into</a:t>
            </a:r>
            <a:r>
              <a:rPr lang="en-US" sz="3100" spc="-75" dirty="0">
                <a:latin typeface="Cambria" panose="02040503050406030204" pitchFamily="18" charset="0"/>
                <a:ea typeface="Cambria" panose="02040503050406030204" pitchFamily="18" charset="0"/>
                <a:cs typeface="Constantia"/>
              </a:rPr>
              <a:t> </a:t>
            </a:r>
            <a:r>
              <a:rPr lang="en-US" sz="3100" dirty="0">
                <a:latin typeface="Cambria" panose="02040503050406030204" pitchFamily="18" charset="0"/>
                <a:ea typeface="Cambria" panose="02040503050406030204" pitchFamily="18" charset="0"/>
                <a:cs typeface="Constantia"/>
              </a:rPr>
              <a:t>heat)</a:t>
            </a:r>
          </a:p>
          <a:p>
            <a:pPr marL="287020" indent="-274320" algn="just">
              <a:lnSpc>
                <a:spcPct val="100000"/>
              </a:lnSpc>
              <a:spcBef>
                <a:spcPts val="480"/>
              </a:spcBef>
              <a:buClr>
                <a:srgbClr val="0AD0D9"/>
              </a:buClr>
              <a:buSzPct val="95000"/>
              <a:buFont typeface="Wingdings"/>
              <a:buChar char=""/>
              <a:tabLst>
                <a:tab pos="287020" algn="l"/>
              </a:tabLst>
            </a:pPr>
            <a:r>
              <a:rPr lang="en-US" sz="3100" dirty="0">
                <a:latin typeface="Cambria" panose="02040503050406030204" pitchFamily="18" charset="0"/>
                <a:ea typeface="Cambria" panose="02040503050406030204" pitchFamily="18" charset="0"/>
                <a:cs typeface="Constantia"/>
              </a:rPr>
              <a:t>In</a:t>
            </a:r>
            <a:r>
              <a:rPr lang="en-US" sz="3100" spc="-35" dirty="0">
                <a:latin typeface="Cambria" panose="02040503050406030204" pitchFamily="18" charset="0"/>
                <a:ea typeface="Cambria" panose="02040503050406030204" pitchFamily="18" charset="0"/>
                <a:cs typeface="Constantia"/>
              </a:rPr>
              <a:t> </a:t>
            </a:r>
            <a:r>
              <a:rPr lang="en-US" sz="3100" spc="-10" dirty="0">
                <a:latin typeface="Cambria" panose="02040503050406030204" pitchFamily="18" charset="0"/>
                <a:ea typeface="Cambria" panose="02040503050406030204" pitchFamily="18" charset="0"/>
                <a:cs typeface="Constantia"/>
              </a:rPr>
              <a:t>an</a:t>
            </a:r>
            <a:r>
              <a:rPr lang="en-US" sz="3100" spc="-4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optical</a:t>
            </a:r>
            <a:r>
              <a:rPr lang="en-US" sz="3100" spc="-1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fiber</a:t>
            </a:r>
            <a:r>
              <a:rPr lang="en-US" sz="3100" spc="-75" dirty="0">
                <a:latin typeface="Cambria" panose="02040503050406030204" pitchFamily="18" charset="0"/>
                <a:ea typeface="Cambria" panose="02040503050406030204" pitchFamily="18" charset="0"/>
                <a:cs typeface="Constantia"/>
              </a:rPr>
              <a:t> </a:t>
            </a:r>
            <a:r>
              <a:rPr lang="en-US" sz="3100" spc="-10" dirty="0">
                <a:latin typeface="Cambria" panose="02040503050406030204" pitchFamily="18" charset="0"/>
                <a:ea typeface="Cambria" panose="02040503050406030204" pitchFamily="18" charset="0"/>
                <a:cs typeface="Constantia"/>
              </a:rPr>
              <a:t>Material</a:t>
            </a:r>
            <a:r>
              <a:rPr lang="en-US" sz="3100" spc="-2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Absorption</a:t>
            </a:r>
            <a:r>
              <a:rPr lang="en-US" sz="3100" spc="-20" dirty="0">
                <a:latin typeface="Cambria" panose="02040503050406030204" pitchFamily="18" charset="0"/>
                <a:ea typeface="Cambria" panose="02040503050406030204" pitchFamily="18" charset="0"/>
                <a:cs typeface="Constantia"/>
              </a:rPr>
              <a:t> </a:t>
            </a:r>
            <a:r>
              <a:rPr lang="en-US" sz="3100" spc="-10" dirty="0">
                <a:latin typeface="Cambria" panose="02040503050406030204" pitchFamily="18" charset="0"/>
                <a:ea typeface="Cambria" panose="02040503050406030204" pitchFamily="18" charset="0"/>
                <a:cs typeface="Constantia"/>
              </a:rPr>
              <a:t>is</a:t>
            </a:r>
            <a:r>
              <a:rPr lang="en-US" sz="3100" spc="-5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the</a:t>
            </a:r>
            <a:r>
              <a:rPr lang="en-US" sz="3100" spc="-5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optical</a:t>
            </a:r>
            <a:r>
              <a:rPr lang="en-US" sz="3100" spc="-10" dirty="0">
                <a:latin typeface="Cambria" panose="02040503050406030204" pitchFamily="18" charset="0"/>
                <a:ea typeface="Cambria" panose="02040503050406030204" pitchFamily="18" charset="0"/>
                <a:cs typeface="Constantia"/>
              </a:rPr>
              <a:t> </a:t>
            </a:r>
            <a:r>
              <a:rPr lang="en-US" sz="3100" spc="-25" dirty="0">
                <a:latin typeface="Cambria" panose="02040503050406030204" pitchFamily="18" charset="0"/>
                <a:ea typeface="Cambria" panose="02040503050406030204" pitchFamily="18" charset="0"/>
                <a:cs typeface="Constantia"/>
              </a:rPr>
              <a:t>power</a:t>
            </a:r>
            <a:r>
              <a:rPr lang="en-US" sz="3100" spc="-8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that</a:t>
            </a:r>
            <a:r>
              <a:rPr lang="en-US" sz="3100" spc="-40" dirty="0">
                <a:latin typeface="Cambria" panose="02040503050406030204" pitchFamily="18" charset="0"/>
                <a:ea typeface="Cambria" panose="02040503050406030204" pitchFamily="18" charset="0"/>
                <a:cs typeface="Constantia"/>
              </a:rPr>
              <a:t> </a:t>
            </a:r>
            <a:r>
              <a:rPr lang="en-US" sz="3100" spc="-10" dirty="0">
                <a:latin typeface="Cambria" panose="02040503050406030204" pitchFamily="18" charset="0"/>
                <a:ea typeface="Cambria" panose="02040503050406030204" pitchFamily="18" charset="0"/>
                <a:cs typeface="Constantia"/>
              </a:rPr>
              <a:t>is</a:t>
            </a:r>
            <a:r>
              <a:rPr lang="en-US" sz="3100" spc="-45" dirty="0">
                <a:latin typeface="Cambria" panose="02040503050406030204" pitchFamily="18" charset="0"/>
                <a:ea typeface="Cambria" panose="02040503050406030204" pitchFamily="18" charset="0"/>
                <a:cs typeface="Constantia"/>
              </a:rPr>
              <a:t> </a:t>
            </a:r>
            <a:r>
              <a:rPr lang="en-US" sz="3100" spc="-10" dirty="0">
                <a:latin typeface="Cambria" panose="02040503050406030204" pitchFamily="18" charset="0"/>
                <a:ea typeface="Cambria" panose="02040503050406030204" pitchFamily="18" charset="0"/>
                <a:cs typeface="Constantia"/>
              </a:rPr>
              <a:t>effectively</a:t>
            </a:r>
            <a:endParaRPr lang="en-US" sz="3100" dirty="0">
              <a:latin typeface="Cambria" panose="02040503050406030204" pitchFamily="18" charset="0"/>
              <a:ea typeface="Cambria" panose="02040503050406030204" pitchFamily="18" charset="0"/>
              <a:cs typeface="Constantia"/>
            </a:endParaRPr>
          </a:p>
          <a:p>
            <a:pPr marL="286385" algn="just">
              <a:lnSpc>
                <a:spcPct val="100000"/>
              </a:lnSpc>
            </a:pPr>
            <a:r>
              <a:rPr lang="en-US" sz="3100" spc="-20" dirty="0">
                <a:latin typeface="Cambria" panose="02040503050406030204" pitchFamily="18" charset="0"/>
                <a:ea typeface="Cambria" panose="02040503050406030204" pitchFamily="18" charset="0"/>
                <a:cs typeface="Constantia"/>
              </a:rPr>
              <a:t>converted</a:t>
            </a:r>
            <a:r>
              <a:rPr lang="en-US" sz="3100" spc="-60" dirty="0">
                <a:latin typeface="Cambria" panose="02040503050406030204" pitchFamily="18" charset="0"/>
                <a:ea typeface="Cambria" panose="02040503050406030204" pitchFamily="18" charset="0"/>
                <a:cs typeface="Constantia"/>
              </a:rPr>
              <a:t> </a:t>
            </a:r>
            <a:r>
              <a:rPr lang="en-US" sz="3100" spc="-10" dirty="0">
                <a:latin typeface="Cambria" panose="02040503050406030204" pitchFamily="18" charset="0"/>
                <a:ea typeface="Cambria" panose="02040503050406030204" pitchFamily="18" charset="0"/>
                <a:cs typeface="Constantia"/>
              </a:rPr>
              <a:t>to</a:t>
            </a:r>
            <a:r>
              <a:rPr lang="en-US" sz="3100" spc="-75" dirty="0">
                <a:latin typeface="Cambria" panose="02040503050406030204" pitchFamily="18" charset="0"/>
                <a:ea typeface="Cambria" panose="02040503050406030204" pitchFamily="18" charset="0"/>
                <a:cs typeface="Constantia"/>
              </a:rPr>
              <a:t> </a:t>
            </a:r>
            <a:r>
              <a:rPr lang="en-US" sz="3100" dirty="0">
                <a:latin typeface="Cambria" panose="02040503050406030204" pitchFamily="18" charset="0"/>
                <a:ea typeface="Cambria" panose="02040503050406030204" pitchFamily="18" charset="0"/>
                <a:cs typeface="Constantia"/>
              </a:rPr>
              <a:t>heat</a:t>
            </a:r>
            <a:r>
              <a:rPr lang="en-US" sz="3100" spc="-114" dirty="0">
                <a:latin typeface="Cambria" panose="02040503050406030204" pitchFamily="18" charset="0"/>
                <a:ea typeface="Cambria" panose="02040503050406030204" pitchFamily="18" charset="0"/>
                <a:cs typeface="Constantia"/>
              </a:rPr>
              <a:t> </a:t>
            </a:r>
            <a:r>
              <a:rPr lang="en-US" sz="3100" dirty="0">
                <a:latin typeface="Cambria" panose="02040503050406030204" pitchFamily="18" charset="0"/>
                <a:ea typeface="Cambria" panose="02040503050406030204" pitchFamily="18" charset="0"/>
                <a:cs typeface="Constantia"/>
              </a:rPr>
              <a:t>dissipation</a:t>
            </a:r>
            <a:r>
              <a:rPr lang="en-US" sz="3100" spc="-12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within</a:t>
            </a:r>
            <a:r>
              <a:rPr lang="en-US" sz="3100" spc="-8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the</a:t>
            </a:r>
            <a:r>
              <a:rPr lang="en-US" sz="3100" spc="-70" dirty="0">
                <a:latin typeface="Cambria" panose="02040503050406030204" pitchFamily="18" charset="0"/>
                <a:ea typeface="Cambria" panose="02040503050406030204" pitchFamily="18" charset="0"/>
                <a:cs typeface="Constantia"/>
              </a:rPr>
              <a:t> </a:t>
            </a:r>
            <a:r>
              <a:rPr lang="en-US" sz="3100" spc="-25" dirty="0">
                <a:latin typeface="Cambria" panose="02040503050406030204" pitchFamily="18" charset="0"/>
                <a:ea typeface="Cambria" panose="02040503050406030204" pitchFamily="18" charset="0"/>
                <a:cs typeface="Constantia"/>
              </a:rPr>
              <a:t>fiber.</a:t>
            </a:r>
            <a:endParaRPr lang="en-US" sz="3100" dirty="0">
              <a:latin typeface="Cambria" panose="02040503050406030204" pitchFamily="18" charset="0"/>
              <a:ea typeface="Cambria" panose="02040503050406030204" pitchFamily="18" charset="0"/>
              <a:cs typeface="Constantia"/>
            </a:endParaRPr>
          </a:p>
          <a:p>
            <a:pPr marL="287020" indent="-274320" algn="just">
              <a:lnSpc>
                <a:spcPct val="100000"/>
              </a:lnSpc>
              <a:spcBef>
                <a:spcPts val="480"/>
              </a:spcBef>
              <a:buClr>
                <a:srgbClr val="0AD0D9"/>
              </a:buClr>
              <a:buSzPct val="95000"/>
              <a:buFont typeface="Wingdings"/>
              <a:buChar char=""/>
              <a:tabLst>
                <a:tab pos="287020" algn="l"/>
              </a:tabLst>
            </a:pPr>
            <a:r>
              <a:rPr lang="en-US" sz="3100" dirty="0">
                <a:latin typeface="Cambria" panose="02040503050406030204" pitchFamily="18" charset="0"/>
                <a:ea typeface="Cambria" panose="02040503050406030204" pitchFamily="18" charset="0"/>
                <a:cs typeface="Constantia"/>
              </a:rPr>
              <a:t> </a:t>
            </a:r>
            <a:r>
              <a:rPr lang="en-US" sz="3100" spc="-70" dirty="0">
                <a:latin typeface="Cambria" panose="02040503050406030204" pitchFamily="18" charset="0"/>
                <a:ea typeface="Cambria" panose="02040503050406030204" pitchFamily="18" charset="0"/>
                <a:cs typeface="Constantia"/>
              </a:rPr>
              <a:t>Two </a:t>
            </a:r>
            <a:r>
              <a:rPr lang="en-US" sz="3100" spc="-5" dirty="0">
                <a:latin typeface="Cambria" panose="02040503050406030204" pitchFamily="18" charset="0"/>
                <a:ea typeface="Cambria" panose="02040503050406030204" pitchFamily="18" charset="0"/>
                <a:cs typeface="Constantia"/>
              </a:rPr>
              <a:t>types of absorption</a:t>
            </a:r>
            <a:r>
              <a:rPr lang="en-US" sz="3100" spc="-245" dirty="0">
                <a:latin typeface="Cambria" panose="02040503050406030204" pitchFamily="18" charset="0"/>
                <a:ea typeface="Cambria" panose="02040503050406030204" pitchFamily="18" charset="0"/>
                <a:cs typeface="Constantia"/>
              </a:rPr>
              <a:t> </a:t>
            </a:r>
            <a:r>
              <a:rPr lang="en-US" sz="3100" dirty="0">
                <a:latin typeface="Cambria" panose="02040503050406030204" pitchFamily="18" charset="0"/>
                <a:ea typeface="Cambria" panose="02040503050406030204" pitchFamily="18" charset="0"/>
                <a:cs typeface="Constantia"/>
              </a:rPr>
              <a:t>exist:</a:t>
            </a:r>
          </a:p>
          <a:p>
            <a:pPr marL="286385" marR="9525" indent="-274320" algn="just">
              <a:lnSpc>
                <a:spcPct val="100000"/>
              </a:lnSpc>
              <a:spcBef>
                <a:spcPts val="480"/>
              </a:spcBef>
              <a:buClr>
                <a:srgbClr val="0AD0D9"/>
              </a:buClr>
              <a:buSzPct val="95000"/>
              <a:buFont typeface="Wingdings"/>
              <a:buChar char=""/>
              <a:tabLst>
                <a:tab pos="287020" algn="l"/>
              </a:tabLst>
            </a:pPr>
            <a:r>
              <a:rPr lang="en-US" sz="3100" dirty="0">
                <a:latin typeface="Cambria" panose="02040503050406030204" pitchFamily="18" charset="0"/>
                <a:ea typeface="Cambria" panose="02040503050406030204" pitchFamily="18" charset="0"/>
                <a:cs typeface="Constantia"/>
              </a:rPr>
              <a:t>– </a:t>
            </a:r>
            <a:r>
              <a:rPr lang="en-US" sz="3100" b="1" dirty="0">
                <a:latin typeface="Cambria" panose="02040503050406030204" pitchFamily="18" charset="0"/>
                <a:ea typeface="Cambria" panose="02040503050406030204" pitchFamily="18" charset="0"/>
                <a:cs typeface="Constantia"/>
              </a:rPr>
              <a:t>Intrinsic </a:t>
            </a:r>
            <a:r>
              <a:rPr lang="en-US" sz="3100" b="1" spc="-5" dirty="0">
                <a:latin typeface="Cambria" panose="02040503050406030204" pitchFamily="18" charset="0"/>
                <a:ea typeface="Cambria" panose="02040503050406030204" pitchFamily="18" charset="0"/>
                <a:cs typeface="Constantia"/>
              </a:rPr>
              <a:t>Absorption</a:t>
            </a:r>
            <a:r>
              <a:rPr lang="en-US" sz="3100" spc="-5" dirty="0">
                <a:latin typeface="Cambria" panose="02040503050406030204" pitchFamily="18" charset="0"/>
                <a:ea typeface="Cambria" panose="02040503050406030204" pitchFamily="18" charset="0"/>
                <a:cs typeface="Constantia"/>
              </a:rPr>
              <a:t>, caused </a:t>
            </a:r>
            <a:r>
              <a:rPr lang="en-US" sz="3100" spc="-15" dirty="0">
                <a:latin typeface="Cambria" panose="02040503050406030204" pitchFamily="18" charset="0"/>
                <a:ea typeface="Cambria" panose="02040503050406030204" pitchFamily="18" charset="0"/>
                <a:cs typeface="Constantia"/>
              </a:rPr>
              <a:t>by </a:t>
            </a:r>
            <a:r>
              <a:rPr lang="en-US" sz="3100" spc="-10" dirty="0">
                <a:latin typeface="Cambria" panose="02040503050406030204" pitchFamily="18" charset="0"/>
                <a:ea typeface="Cambria" panose="02040503050406030204" pitchFamily="18" charset="0"/>
                <a:cs typeface="Constantia"/>
              </a:rPr>
              <a:t>interaction </a:t>
            </a:r>
            <a:r>
              <a:rPr lang="en-US" sz="3100" spc="-5" dirty="0">
                <a:latin typeface="Cambria" panose="02040503050406030204" pitchFamily="18" charset="0"/>
                <a:ea typeface="Cambria" panose="02040503050406030204" pitchFamily="18" charset="0"/>
                <a:cs typeface="Constantia"/>
              </a:rPr>
              <a:t>with one or </a:t>
            </a:r>
            <a:r>
              <a:rPr lang="en-US" sz="3100" spc="-10" dirty="0">
                <a:latin typeface="Cambria" panose="02040503050406030204" pitchFamily="18" charset="0"/>
                <a:ea typeface="Cambria" panose="02040503050406030204" pitchFamily="18" charset="0"/>
                <a:cs typeface="Constantia"/>
              </a:rPr>
              <a:t>more </a:t>
            </a:r>
            <a:r>
              <a:rPr lang="en-US" sz="3100" spc="-5" dirty="0">
                <a:latin typeface="Cambria" panose="02040503050406030204" pitchFamily="18" charset="0"/>
                <a:ea typeface="Cambria" panose="02040503050406030204" pitchFamily="18" charset="0"/>
                <a:cs typeface="Constantia"/>
              </a:rPr>
              <a:t>of the  components of the</a:t>
            </a:r>
            <a:r>
              <a:rPr lang="en-US" sz="3100" spc="-175" dirty="0">
                <a:latin typeface="Cambria" panose="02040503050406030204" pitchFamily="18" charset="0"/>
                <a:ea typeface="Cambria" panose="02040503050406030204" pitchFamily="18" charset="0"/>
                <a:cs typeface="Constantia"/>
              </a:rPr>
              <a:t> </a:t>
            </a:r>
            <a:r>
              <a:rPr lang="en-US" sz="3100" spc="-10" dirty="0">
                <a:latin typeface="Cambria" panose="02040503050406030204" pitchFamily="18" charset="0"/>
                <a:ea typeface="Cambria" panose="02040503050406030204" pitchFamily="18" charset="0"/>
                <a:cs typeface="Constantia"/>
              </a:rPr>
              <a:t>glass.</a:t>
            </a:r>
            <a:endParaRPr lang="en-US" sz="3100" dirty="0">
              <a:latin typeface="Cambria" panose="02040503050406030204" pitchFamily="18" charset="0"/>
              <a:ea typeface="Cambria" panose="02040503050406030204" pitchFamily="18" charset="0"/>
              <a:cs typeface="Constantia"/>
            </a:endParaRPr>
          </a:p>
          <a:p>
            <a:pPr marL="287020" indent="-274320" algn="just">
              <a:lnSpc>
                <a:spcPct val="100000"/>
              </a:lnSpc>
              <a:spcBef>
                <a:spcPts val="495"/>
              </a:spcBef>
              <a:buClr>
                <a:srgbClr val="0AD0D9"/>
              </a:buClr>
              <a:buSzPct val="95000"/>
              <a:buFont typeface="Wingdings"/>
              <a:buChar char=""/>
              <a:tabLst>
                <a:tab pos="287020" algn="l"/>
              </a:tabLst>
            </a:pPr>
            <a:r>
              <a:rPr lang="en-US" sz="3100" dirty="0">
                <a:latin typeface="Cambria" panose="02040503050406030204" pitchFamily="18" charset="0"/>
                <a:ea typeface="Cambria" panose="02040503050406030204" pitchFamily="18" charset="0"/>
                <a:cs typeface="Constantia"/>
              </a:rPr>
              <a:t>–</a:t>
            </a:r>
            <a:r>
              <a:rPr lang="en-US" sz="3100" spc="-10" dirty="0">
                <a:latin typeface="Cambria" panose="02040503050406030204" pitchFamily="18" charset="0"/>
                <a:ea typeface="Cambria" panose="02040503050406030204" pitchFamily="18" charset="0"/>
                <a:cs typeface="Constantia"/>
              </a:rPr>
              <a:t> </a:t>
            </a:r>
            <a:r>
              <a:rPr lang="en-US" sz="3100" b="1" dirty="0">
                <a:latin typeface="Cambria" panose="02040503050406030204" pitchFamily="18" charset="0"/>
                <a:ea typeface="Cambria" panose="02040503050406030204" pitchFamily="18" charset="0"/>
                <a:cs typeface="Constantia"/>
              </a:rPr>
              <a:t>Extrinsic</a:t>
            </a:r>
            <a:r>
              <a:rPr lang="en-US" sz="3100" b="1" spc="-125" dirty="0">
                <a:latin typeface="Cambria" panose="02040503050406030204" pitchFamily="18" charset="0"/>
                <a:ea typeface="Cambria" panose="02040503050406030204" pitchFamily="18" charset="0"/>
                <a:cs typeface="Constantia"/>
              </a:rPr>
              <a:t> </a:t>
            </a:r>
            <a:r>
              <a:rPr lang="en-US" sz="3100" b="1" spc="-5" dirty="0">
                <a:latin typeface="Cambria" panose="02040503050406030204" pitchFamily="18" charset="0"/>
                <a:ea typeface="Cambria" panose="02040503050406030204" pitchFamily="18" charset="0"/>
                <a:cs typeface="Constantia"/>
              </a:rPr>
              <a:t>Absorption</a:t>
            </a:r>
            <a:r>
              <a:rPr lang="en-US" sz="3100" spc="-5" dirty="0">
                <a:latin typeface="Cambria" panose="02040503050406030204" pitchFamily="18" charset="0"/>
                <a:ea typeface="Cambria" panose="02040503050406030204" pitchFamily="18" charset="0"/>
                <a:cs typeface="Constantia"/>
              </a:rPr>
              <a:t>,</a:t>
            </a:r>
            <a:r>
              <a:rPr lang="en-US" sz="3100" spc="-8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caused </a:t>
            </a:r>
            <a:r>
              <a:rPr lang="en-US" sz="3100" spc="-15" dirty="0">
                <a:latin typeface="Cambria" panose="02040503050406030204" pitchFamily="18" charset="0"/>
                <a:ea typeface="Cambria" panose="02040503050406030204" pitchFamily="18" charset="0"/>
                <a:cs typeface="Constantia"/>
              </a:rPr>
              <a:t>by</a:t>
            </a:r>
            <a:r>
              <a:rPr lang="en-US" sz="3100" spc="-5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impurities</a:t>
            </a:r>
            <a:r>
              <a:rPr lang="en-US" sz="3100" spc="-110"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within</a:t>
            </a:r>
            <a:r>
              <a:rPr lang="en-US" sz="3100" spc="-65"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the</a:t>
            </a:r>
            <a:r>
              <a:rPr lang="en-US" sz="3100" spc="-114" dirty="0">
                <a:latin typeface="Cambria" panose="02040503050406030204" pitchFamily="18" charset="0"/>
                <a:ea typeface="Cambria" panose="02040503050406030204" pitchFamily="18" charset="0"/>
                <a:cs typeface="Constantia"/>
              </a:rPr>
              <a:t> </a:t>
            </a:r>
            <a:r>
              <a:rPr lang="en-US" sz="3100" spc="-5" dirty="0">
                <a:latin typeface="Cambria" panose="02040503050406030204" pitchFamily="18" charset="0"/>
                <a:ea typeface="Cambria" panose="02040503050406030204" pitchFamily="18" charset="0"/>
                <a:cs typeface="Constantia"/>
              </a:rPr>
              <a:t>glass.</a:t>
            </a:r>
            <a:endParaRPr lang="en-US" sz="3100" dirty="0">
              <a:latin typeface="Cambria" panose="02040503050406030204" pitchFamily="18" charset="0"/>
              <a:ea typeface="Cambria" panose="02040503050406030204" pitchFamily="18" charset="0"/>
              <a:cs typeface="Constantia"/>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44</a:t>
            </a:fld>
            <a:endParaRPr lang="en-US"/>
          </a:p>
        </p:txBody>
      </p:sp>
    </p:spTree>
    <p:extLst>
      <p:ext uri="{BB962C8B-B14F-4D97-AF65-F5344CB8AC3E}">
        <p14:creationId xmlns:p14="http://schemas.microsoft.com/office/powerpoint/2010/main" val="2501211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1858" y="1083212"/>
            <a:ext cx="9777047" cy="5430130"/>
          </a:xfrm>
        </p:spPr>
        <p:txBody>
          <a:bodyPr>
            <a:normAutofit fontScale="92500" lnSpcReduction="20000"/>
          </a:bodyPr>
          <a:lstStyle/>
          <a:p>
            <a:pPr marL="286385" marR="5715" indent="-274320" algn="just">
              <a:lnSpc>
                <a:spcPct val="150000"/>
              </a:lnSpc>
              <a:spcBef>
                <a:spcPts val="45"/>
              </a:spcBef>
              <a:buClr>
                <a:srgbClr val="0AD0D9"/>
              </a:buClr>
              <a:buSzPct val="95000"/>
              <a:buFont typeface="Wingdings 2"/>
              <a:buChar char=""/>
              <a:tabLst>
                <a:tab pos="287020" algn="l"/>
              </a:tabLst>
            </a:pPr>
            <a:r>
              <a:rPr lang="en-US" sz="2600" b="1" spc="-5" dirty="0">
                <a:latin typeface="Cambria"/>
                <a:cs typeface="Cambria"/>
              </a:rPr>
              <a:t>Intrinsic Absorption </a:t>
            </a:r>
            <a:r>
              <a:rPr lang="en-US" sz="2600" spc="-5" dirty="0">
                <a:latin typeface="Cambria"/>
                <a:cs typeface="Cambria"/>
              </a:rPr>
              <a:t>is caused </a:t>
            </a:r>
            <a:r>
              <a:rPr lang="en-US" sz="2600" spc="-15" dirty="0">
                <a:latin typeface="Cambria"/>
                <a:cs typeface="Cambria"/>
              </a:rPr>
              <a:t>by </a:t>
            </a:r>
            <a:r>
              <a:rPr lang="en-US" sz="2600" spc="-5" dirty="0">
                <a:latin typeface="Cambria"/>
                <a:cs typeface="Cambria"/>
              </a:rPr>
              <a:t>basic fiber material </a:t>
            </a:r>
            <a:r>
              <a:rPr lang="en-US" sz="2600" spc="-10" dirty="0">
                <a:latin typeface="Cambria"/>
                <a:cs typeface="Cambria"/>
              </a:rPr>
              <a:t>properties. </a:t>
            </a:r>
            <a:r>
              <a:rPr lang="en-US" sz="2600" spc="-5" dirty="0">
                <a:latin typeface="Cambria"/>
                <a:cs typeface="Cambria"/>
              </a:rPr>
              <a:t>If </a:t>
            </a:r>
            <a:r>
              <a:rPr lang="en-US" sz="2600" dirty="0">
                <a:latin typeface="Cambria"/>
                <a:cs typeface="Cambria"/>
              </a:rPr>
              <a:t>an  </a:t>
            </a:r>
            <a:r>
              <a:rPr lang="en-US" sz="2600" spc="-5" dirty="0">
                <a:latin typeface="Cambria"/>
                <a:cs typeface="Cambria"/>
              </a:rPr>
              <a:t>optical fiber </a:t>
            </a:r>
            <a:r>
              <a:rPr lang="en-US" sz="2600" spc="-10" dirty="0">
                <a:latin typeface="Cambria"/>
                <a:cs typeface="Cambria"/>
              </a:rPr>
              <a:t>is absolutely pure, </a:t>
            </a:r>
            <a:r>
              <a:rPr lang="en-US" sz="2600" spc="-5" dirty="0">
                <a:latin typeface="Cambria"/>
                <a:cs typeface="Cambria"/>
              </a:rPr>
              <a:t>with no imperfections </a:t>
            </a:r>
            <a:r>
              <a:rPr lang="en-US" sz="2600" dirty="0">
                <a:latin typeface="Cambria"/>
                <a:cs typeface="Cambria"/>
              </a:rPr>
              <a:t>or </a:t>
            </a:r>
            <a:r>
              <a:rPr lang="en-US" sz="2600" spc="-10" dirty="0">
                <a:latin typeface="Cambria"/>
                <a:cs typeface="Cambria"/>
              </a:rPr>
              <a:t>impurities, </a:t>
            </a:r>
            <a:r>
              <a:rPr lang="en-US" sz="2600" spc="-5" dirty="0">
                <a:latin typeface="Cambria"/>
                <a:cs typeface="Cambria"/>
              </a:rPr>
              <a:t>ten </a:t>
            </a:r>
            <a:r>
              <a:rPr lang="en-US" sz="2600" spc="-10" dirty="0">
                <a:latin typeface="Cambria"/>
                <a:cs typeface="Cambria"/>
              </a:rPr>
              <a:t>all  </a:t>
            </a:r>
            <a:r>
              <a:rPr lang="en-US" sz="2600" spc="-5" dirty="0">
                <a:latin typeface="Cambria"/>
                <a:cs typeface="Cambria"/>
              </a:rPr>
              <a:t>absorption </a:t>
            </a:r>
            <a:r>
              <a:rPr lang="en-US" sz="2600" spc="-10" dirty="0">
                <a:latin typeface="Cambria"/>
                <a:cs typeface="Cambria"/>
              </a:rPr>
              <a:t>will </a:t>
            </a:r>
            <a:r>
              <a:rPr lang="en-US" sz="2600" spc="-5" dirty="0">
                <a:latin typeface="Cambria"/>
                <a:cs typeface="Cambria"/>
              </a:rPr>
              <a:t>be intrinsic. Intrinsic absorption </a:t>
            </a:r>
            <a:r>
              <a:rPr lang="en-US" sz="2600" spc="-10" dirty="0">
                <a:latin typeface="Cambria"/>
                <a:cs typeface="Cambria"/>
              </a:rPr>
              <a:t>in </a:t>
            </a:r>
            <a:r>
              <a:rPr lang="en-US" sz="2600" dirty="0">
                <a:latin typeface="Cambria"/>
                <a:cs typeface="Cambria"/>
              </a:rPr>
              <a:t>the </a:t>
            </a:r>
            <a:r>
              <a:rPr lang="en-US" sz="2600" spc="-15" dirty="0">
                <a:latin typeface="Cambria"/>
                <a:cs typeface="Cambria"/>
              </a:rPr>
              <a:t>ultraviolet </a:t>
            </a:r>
            <a:r>
              <a:rPr lang="en-US" sz="2600" spc="-10" dirty="0">
                <a:latin typeface="Cambria"/>
                <a:cs typeface="Cambria"/>
              </a:rPr>
              <a:t>region </a:t>
            </a:r>
            <a:r>
              <a:rPr lang="en-US" sz="2600" spc="-20" dirty="0">
                <a:latin typeface="Cambria"/>
                <a:cs typeface="Cambria"/>
              </a:rPr>
              <a:t>is  </a:t>
            </a:r>
            <a:r>
              <a:rPr lang="en-US" sz="2600" spc="-5" dirty="0">
                <a:latin typeface="Cambria"/>
                <a:cs typeface="Cambria"/>
              </a:rPr>
              <a:t>caused </a:t>
            </a:r>
            <a:r>
              <a:rPr lang="en-US" sz="2600" spc="-15" dirty="0">
                <a:latin typeface="Cambria"/>
                <a:cs typeface="Cambria"/>
              </a:rPr>
              <a:t>by </a:t>
            </a:r>
            <a:r>
              <a:rPr lang="en-US" sz="2600" spc="-5" dirty="0">
                <a:latin typeface="Cambria"/>
                <a:cs typeface="Cambria"/>
              </a:rPr>
              <a:t>electronic absorption bands. </a:t>
            </a:r>
            <a:r>
              <a:rPr lang="en-US" sz="2600" b="1" spc="-5" dirty="0">
                <a:latin typeface="Cambria"/>
                <a:cs typeface="Cambria"/>
              </a:rPr>
              <a:t>Intrinsic </a:t>
            </a:r>
            <a:r>
              <a:rPr lang="en-US" sz="2600" b="1" spc="-10" dirty="0">
                <a:latin typeface="Cambria"/>
                <a:cs typeface="Cambria"/>
              </a:rPr>
              <a:t>Absorption </a:t>
            </a:r>
            <a:r>
              <a:rPr lang="en-US" sz="2600" dirty="0">
                <a:latin typeface="Cambria"/>
                <a:cs typeface="Cambria"/>
              </a:rPr>
              <a:t>occurs </a:t>
            </a:r>
            <a:r>
              <a:rPr lang="en-US" sz="2600" spc="-10" dirty="0">
                <a:latin typeface="Cambria"/>
                <a:cs typeface="Cambria"/>
              </a:rPr>
              <a:t>when </a:t>
            </a:r>
            <a:r>
              <a:rPr lang="en-US" sz="2600" dirty="0">
                <a:latin typeface="Cambria"/>
                <a:cs typeface="Cambria"/>
              </a:rPr>
              <a:t>a  </a:t>
            </a:r>
            <a:r>
              <a:rPr lang="en-US" sz="2600" spc="-10" dirty="0">
                <a:latin typeface="Cambria"/>
                <a:cs typeface="Cambria"/>
              </a:rPr>
              <a:t>light </a:t>
            </a:r>
            <a:r>
              <a:rPr lang="en-US" sz="2600" spc="-5" dirty="0">
                <a:latin typeface="Cambria"/>
                <a:cs typeface="Cambria"/>
              </a:rPr>
              <a:t>particle (photon) </a:t>
            </a:r>
            <a:r>
              <a:rPr lang="en-US" sz="2600" spc="-15" dirty="0">
                <a:latin typeface="Cambria"/>
                <a:cs typeface="Cambria"/>
              </a:rPr>
              <a:t>interacts </a:t>
            </a:r>
            <a:r>
              <a:rPr lang="en-US" sz="2600" spc="-5" dirty="0">
                <a:latin typeface="Cambria"/>
                <a:cs typeface="Cambria"/>
              </a:rPr>
              <a:t>with </a:t>
            </a:r>
            <a:r>
              <a:rPr lang="en-US" sz="2600" dirty="0">
                <a:latin typeface="Cambria"/>
                <a:cs typeface="Cambria"/>
              </a:rPr>
              <a:t>an </a:t>
            </a:r>
            <a:r>
              <a:rPr lang="en-US" sz="2600" spc="-5" dirty="0">
                <a:latin typeface="Cambria"/>
                <a:cs typeface="Cambria"/>
              </a:rPr>
              <a:t>electron and </a:t>
            </a:r>
            <a:r>
              <a:rPr lang="en-US" sz="2600" spc="-15" dirty="0">
                <a:latin typeface="Cambria"/>
                <a:cs typeface="Cambria"/>
              </a:rPr>
              <a:t>excites </a:t>
            </a:r>
            <a:r>
              <a:rPr lang="en-US" sz="2600" spc="-10" dirty="0">
                <a:latin typeface="Cambria"/>
                <a:cs typeface="Cambria"/>
              </a:rPr>
              <a:t>it </a:t>
            </a:r>
            <a:r>
              <a:rPr lang="en-US" sz="2600" spc="-5" dirty="0">
                <a:latin typeface="Cambria"/>
                <a:cs typeface="Cambria"/>
              </a:rPr>
              <a:t>to </a:t>
            </a:r>
            <a:r>
              <a:rPr lang="en-US" sz="2600" dirty="0">
                <a:latin typeface="Cambria"/>
                <a:cs typeface="Cambria"/>
              </a:rPr>
              <a:t>a </a:t>
            </a:r>
            <a:r>
              <a:rPr lang="en-US" sz="2600" spc="-5" dirty="0">
                <a:latin typeface="Cambria"/>
                <a:cs typeface="Cambria"/>
              </a:rPr>
              <a:t>higher  energy</a:t>
            </a:r>
            <a:r>
              <a:rPr lang="en-US" sz="2600" spc="-15" dirty="0">
                <a:latin typeface="Cambria"/>
                <a:cs typeface="Cambria"/>
              </a:rPr>
              <a:t> level.</a:t>
            </a:r>
            <a:endParaRPr lang="en-US" sz="2600" dirty="0">
              <a:latin typeface="Cambria"/>
              <a:cs typeface="Cambria"/>
            </a:endParaRPr>
          </a:p>
          <a:p>
            <a:pPr marL="286385" marR="5080" indent="-274320" algn="just">
              <a:lnSpc>
                <a:spcPct val="150100"/>
              </a:lnSpc>
              <a:spcBef>
                <a:spcPts val="480"/>
              </a:spcBef>
              <a:buClr>
                <a:srgbClr val="0AD0D9"/>
              </a:buClr>
              <a:buSzPct val="95000"/>
              <a:buFont typeface="Wingdings"/>
              <a:buChar char=""/>
              <a:tabLst>
                <a:tab pos="287020" algn="l"/>
              </a:tabLst>
            </a:pPr>
            <a:r>
              <a:rPr lang="en-US" sz="2600" b="1" spc="-5" dirty="0">
                <a:latin typeface="Cambria"/>
                <a:cs typeface="Cambria"/>
              </a:rPr>
              <a:t>Extrinsic Absorption </a:t>
            </a:r>
            <a:r>
              <a:rPr lang="en-US" sz="2600" spc="-5" dirty="0">
                <a:latin typeface="Cambria"/>
                <a:cs typeface="Cambria"/>
              </a:rPr>
              <a:t>is caused </a:t>
            </a:r>
            <a:r>
              <a:rPr lang="en-US" sz="2600" spc="-15" dirty="0">
                <a:latin typeface="Cambria"/>
                <a:cs typeface="Cambria"/>
              </a:rPr>
              <a:t>by </a:t>
            </a:r>
            <a:r>
              <a:rPr lang="en-US" sz="2600" spc="-5" dirty="0">
                <a:latin typeface="Cambria"/>
                <a:cs typeface="Cambria"/>
              </a:rPr>
              <a:t>impurities </a:t>
            </a:r>
            <a:r>
              <a:rPr lang="en-US" sz="2600" dirty="0">
                <a:latin typeface="Cambria"/>
                <a:cs typeface="Cambria"/>
              </a:rPr>
              <a:t>caused </a:t>
            </a:r>
            <a:r>
              <a:rPr lang="en-US" sz="2600" spc="-15" dirty="0">
                <a:latin typeface="Cambria"/>
                <a:cs typeface="Cambria"/>
              </a:rPr>
              <a:t>by </a:t>
            </a:r>
            <a:r>
              <a:rPr lang="en-US" sz="2600" spc="-5" dirty="0">
                <a:latin typeface="Cambria"/>
                <a:cs typeface="Cambria"/>
              </a:rPr>
              <a:t>impurities  introduced </a:t>
            </a:r>
            <a:r>
              <a:rPr lang="en-US" sz="2600" spc="-10" dirty="0">
                <a:latin typeface="Cambria"/>
                <a:cs typeface="Cambria"/>
              </a:rPr>
              <a:t>into </a:t>
            </a:r>
            <a:r>
              <a:rPr lang="en-US" sz="2600" spc="-5" dirty="0">
                <a:latin typeface="Cambria"/>
                <a:cs typeface="Cambria"/>
              </a:rPr>
              <a:t>the fiber </a:t>
            </a:r>
            <a:r>
              <a:rPr lang="en-US" sz="2600" spc="-10" dirty="0">
                <a:latin typeface="Cambria"/>
                <a:cs typeface="Cambria"/>
              </a:rPr>
              <a:t>material. </a:t>
            </a:r>
            <a:r>
              <a:rPr lang="en-US" sz="2600" spc="-5" dirty="0">
                <a:latin typeface="Cambria"/>
                <a:cs typeface="Cambria"/>
              </a:rPr>
              <a:t>The metal </a:t>
            </a:r>
            <a:r>
              <a:rPr lang="en-US" sz="2600" spc="-10" dirty="0">
                <a:latin typeface="Cambria"/>
                <a:cs typeface="Cambria"/>
              </a:rPr>
              <a:t>impurities </a:t>
            </a:r>
            <a:r>
              <a:rPr lang="en-US" sz="2600" spc="-5" dirty="0">
                <a:latin typeface="Cambria"/>
                <a:cs typeface="Cambria"/>
              </a:rPr>
              <a:t>such </a:t>
            </a:r>
            <a:r>
              <a:rPr lang="en-US" sz="2600" dirty="0">
                <a:latin typeface="Cambria"/>
                <a:cs typeface="Cambria"/>
              </a:rPr>
              <a:t>as </a:t>
            </a:r>
            <a:r>
              <a:rPr lang="en-US" sz="2600" spc="-15" dirty="0">
                <a:latin typeface="Cambria"/>
                <a:cs typeface="Cambria"/>
              </a:rPr>
              <a:t>iron, </a:t>
            </a:r>
            <a:r>
              <a:rPr lang="en-US" sz="2600" spc="-10" dirty="0">
                <a:latin typeface="Cambria"/>
                <a:cs typeface="Cambria"/>
              </a:rPr>
              <a:t>nickel  </a:t>
            </a:r>
            <a:r>
              <a:rPr lang="en-US" sz="2600" dirty="0">
                <a:latin typeface="Cambria"/>
                <a:cs typeface="Cambria"/>
              </a:rPr>
              <a:t>and </a:t>
            </a:r>
            <a:r>
              <a:rPr lang="en-US" sz="2600" spc="-10" dirty="0">
                <a:latin typeface="Cambria"/>
                <a:cs typeface="Cambria"/>
              </a:rPr>
              <a:t>chromium are introduced into </a:t>
            </a:r>
            <a:r>
              <a:rPr lang="en-US" sz="2600" spc="-5" dirty="0">
                <a:latin typeface="Cambria"/>
                <a:cs typeface="Cambria"/>
              </a:rPr>
              <a:t>the fiber during fabrication. </a:t>
            </a:r>
            <a:r>
              <a:rPr lang="en-US" sz="2600" b="1" spc="-10" dirty="0">
                <a:latin typeface="Cambria"/>
                <a:cs typeface="Cambria"/>
              </a:rPr>
              <a:t>Extrinsic  </a:t>
            </a:r>
            <a:r>
              <a:rPr lang="en-US" sz="2600" b="1" spc="-5" dirty="0">
                <a:latin typeface="Cambria"/>
                <a:cs typeface="Cambria"/>
              </a:rPr>
              <a:t>Absorption </a:t>
            </a:r>
            <a:r>
              <a:rPr lang="en-US" sz="2600" spc="-5" dirty="0">
                <a:latin typeface="Cambria"/>
                <a:cs typeface="Cambria"/>
              </a:rPr>
              <a:t>is </a:t>
            </a:r>
            <a:r>
              <a:rPr lang="en-US" sz="2600" dirty="0">
                <a:latin typeface="Cambria"/>
                <a:cs typeface="Cambria"/>
              </a:rPr>
              <a:t>caused </a:t>
            </a:r>
            <a:r>
              <a:rPr lang="en-US" sz="2600" spc="-15" dirty="0">
                <a:latin typeface="Cambria"/>
                <a:cs typeface="Cambria"/>
              </a:rPr>
              <a:t>by </a:t>
            </a:r>
            <a:r>
              <a:rPr lang="en-US" sz="2600" spc="-5" dirty="0">
                <a:latin typeface="Cambria"/>
                <a:cs typeface="Cambria"/>
              </a:rPr>
              <a:t>the </a:t>
            </a:r>
            <a:r>
              <a:rPr lang="en-US" sz="2600" b="1" spc="-5" dirty="0">
                <a:latin typeface="Cambria"/>
                <a:cs typeface="Cambria"/>
              </a:rPr>
              <a:t>electronic </a:t>
            </a:r>
            <a:r>
              <a:rPr lang="en-US" sz="2600" b="1" spc="-10" dirty="0">
                <a:latin typeface="Cambria"/>
                <a:cs typeface="Cambria"/>
              </a:rPr>
              <a:t>transition </a:t>
            </a:r>
            <a:r>
              <a:rPr lang="en-US" sz="2600" spc="-5" dirty="0">
                <a:latin typeface="Cambria"/>
                <a:cs typeface="Cambria"/>
              </a:rPr>
              <a:t>of these metal </a:t>
            </a:r>
            <a:r>
              <a:rPr lang="en-US" sz="2600" spc="-10" dirty="0">
                <a:latin typeface="Cambria"/>
                <a:cs typeface="Cambria"/>
              </a:rPr>
              <a:t>ions </a:t>
            </a:r>
            <a:r>
              <a:rPr lang="en-US" sz="2600" spc="-15" dirty="0">
                <a:latin typeface="Cambria"/>
                <a:cs typeface="Cambria"/>
              </a:rPr>
              <a:t>from  </a:t>
            </a:r>
            <a:r>
              <a:rPr lang="en-US" sz="2600" dirty="0">
                <a:latin typeface="Cambria"/>
                <a:cs typeface="Cambria"/>
              </a:rPr>
              <a:t>one </a:t>
            </a:r>
            <a:r>
              <a:rPr lang="en-US" sz="2600" spc="-5" dirty="0">
                <a:latin typeface="Cambria"/>
                <a:cs typeface="Cambria"/>
              </a:rPr>
              <a:t>energy </a:t>
            </a:r>
            <a:r>
              <a:rPr lang="en-US" sz="2600" spc="-15" dirty="0">
                <a:latin typeface="Cambria"/>
                <a:cs typeface="Cambria"/>
              </a:rPr>
              <a:t>level </a:t>
            </a:r>
            <a:r>
              <a:rPr lang="en-US" sz="2600" spc="-5" dirty="0">
                <a:latin typeface="Cambria"/>
                <a:cs typeface="Cambria"/>
              </a:rPr>
              <a:t>to another energy</a:t>
            </a:r>
            <a:r>
              <a:rPr lang="en-US" sz="2600" spc="-65" dirty="0">
                <a:latin typeface="Cambria"/>
                <a:cs typeface="Cambria"/>
              </a:rPr>
              <a:t> </a:t>
            </a:r>
            <a:r>
              <a:rPr lang="en-US" sz="2600" spc="-15" dirty="0">
                <a:latin typeface="Cambria"/>
                <a:cs typeface="Cambria"/>
              </a:rPr>
              <a:t>level.</a:t>
            </a:r>
            <a:endParaRPr lang="en-US" sz="2600" dirty="0">
              <a:latin typeface="Cambria"/>
              <a:cs typeface="Cambria"/>
            </a:endParaRPr>
          </a:p>
          <a:p>
            <a:pPr marL="0" indent="0">
              <a:buNone/>
            </a:pPr>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45</a:t>
            </a:fld>
            <a:endParaRPr lang="en-US"/>
          </a:p>
        </p:txBody>
      </p:sp>
    </p:spTree>
    <p:extLst>
      <p:ext uri="{BB962C8B-B14F-4D97-AF65-F5344CB8AC3E}">
        <p14:creationId xmlns:p14="http://schemas.microsoft.com/office/powerpoint/2010/main" val="20339203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4062" y="0"/>
            <a:ext cx="8032652" cy="1252025"/>
          </a:xfrm>
        </p:spPr>
        <p:txBody>
          <a:bodyPr>
            <a:normAutofit fontScale="90000"/>
          </a:bodyPr>
          <a:lstStyle/>
          <a:p>
            <a:pPr algn="ctr"/>
            <a:r>
              <a:rPr lang="en-US" sz="4900" b="1" spc="-5" dirty="0">
                <a:latin typeface="Cambria"/>
                <a:cs typeface="Cambria"/>
              </a:rPr>
              <a:t>Fiber Bend</a:t>
            </a:r>
            <a:r>
              <a:rPr lang="en-US" sz="4900" b="1" spc="-30" dirty="0">
                <a:latin typeface="Cambria"/>
                <a:cs typeface="Cambria"/>
              </a:rPr>
              <a:t> </a:t>
            </a:r>
            <a:r>
              <a:rPr lang="en-US" sz="4900" b="1" dirty="0">
                <a:latin typeface="Cambria"/>
                <a:cs typeface="Cambria"/>
              </a:rPr>
              <a:t>Losses</a:t>
            </a:r>
            <a:br>
              <a:rPr lang="en-US" sz="4400" dirty="0">
                <a:latin typeface="Cambria"/>
                <a:cs typeface="Cambria"/>
              </a:rPr>
            </a:br>
            <a:endParaRPr lang="en-US" sz="4400" dirty="0"/>
          </a:p>
        </p:txBody>
      </p:sp>
      <p:sp>
        <p:nvSpPr>
          <p:cNvPr id="3" name="Content Placeholder 2"/>
          <p:cNvSpPr>
            <a:spLocks noGrp="1"/>
          </p:cNvSpPr>
          <p:nvPr>
            <p:ph idx="1"/>
          </p:nvPr>
        </p:nvSpPr>
        <p:spPr>
          <a:xfrm>
            <a:off x="548640" y="1617784"/>
            <a:ext cx="10086535" cy="3629465"/>
          </a:xfrm>
        </p:spPr>
        <p:txBody>
          <a:bodyPr>
            <a:normAutofit/>
          </a:bodyPr>
          <a:lstStyle/>
          <a:p>
            <a:pPr marL="12700">
              <a:lnSpc>
                <a:spcPct val="100000"/>
              </a:lnSpc>
              <a:spcBef>
                <a:spcPts val="1245"/>
              </a:spcBef>
            </a:pPr>
            <a:r>
              <a:rPr lang="en-US" sz="2600" spc="-5" dirty="0">
                <a:latin typeface="Cambria"/>
                <a:cs typeface="Cambria"/>
              </a:rPr>
              <a:t>Bending loss is </a:t>
            </a:r>
            <a:r>
              <a:rPr lang="en-US" sz="2600" dirty="0">
                <a:latin typeface="Cambria"/>
                <a:cs typeface="Cambria"/>
              </a:rPr>
              <a:t>classified </a:t>
            </a:r>
            <a:r>
              <a:rPr lang="en-US" sz="2600" spc="-5" dirty="0">
                <a:latin typeface="Cambria"/>
                <a:cs typeface="Cambria"/>
              </a:rPr>
              <a:t>according to the bend </a:t>
            </a:r>
            <a:r>
              <a:rPr lang="en-US" sz="2600" spc="-10" dirty="0">
                <a:latin typeface="Cambria"/>
                <a:cs typeface="Cambria"/>
              </a:rPr>
              <a:t>radius </a:t>
            </a:r>
            <a:r>
              <a:rPr lang="en-US" sz="2600" dirty="0">
                <a:latin typeface="Cambria"/>
                <a:cs typeface="Cambria"/>
              </a:rPr>
              <a:t>of </a:t>
            </a:r>
            <a:r>
              <a:rPr lang="en-US" sz="2600" spc="-10" dirty="0">
                <a:latin typeface="Cambria"/>
                <a:cs typeface="Cambria"/>
              </a:rPr>
              <a:t>curvature</a:t>
            </a:r>
            <a:r>
              <a:rPr lang="en-US" sz="2600" spc="-150" dirty="0">
                <a:latin typeface="Cambria"/>
                <a:cs typeface="Cambria"/>
              </a:rPr>
              <a:t> </a:t>
            </a:r>
            <a:r>
              <a:rPr lang="en-US" sz="2600" dirty="0">
                <a:latin typeface="Cambria"/>
                <a:cs typeface="Cambria"/>
              </a:rPr>
              <a:t>:</a:t>
            </a:r>
          </a:p>
          <a:p>
            <a:pPr marL="927100" algn="just">
              <a:lnSpc>
                <a:spcPct val="100000"/>
              </a:lnSpc>
              <a:spcBef>
                <a:spcPts val="1685"/>
              </a:spcBef>
              <a:tabLst>
                <a:tab pos="1841500" algn="l"/>
                <a:tab pos="4585335" algn="l"/>
                <a:tab pos="5499735" algn="l"/>
              </a:tabLst>
            </a:pPr>
            <a:r>
              <a:rPr lang="en-US" sz="2600" b="1" dirty="0">
                <a:latin typeface="Cambria"/>
                <a:cs typeface="Cambria"/>
              </a:rPr>
              <a:t>1.	</a:t>
            </a:r>
            <a:r>
              <a:rPr lang="en-US" sz="2600" b="1" spc="-5" dirty="0" err="1">
                <a:latin typeface="Cambria"/>
                <a:cs typeface="Cambria"/>
              </a:rPr>
              <a:t>Microbend</a:t>
            </a:r>
            <a:r>
              <a:rPr lang="en-US" sz="2600" b="1" spc="-20" dirty="0">
                <a:latin typeface="Cambria"/>
                <a:cs typeface="Cambria"/>
              </a:rPr>
              <a:t> </a:t>
            </a:r>
            <a:r>
              <a:rPr lang="en-US" sz="2600" b="1" dirty="0">
                <a:latin typeface="Cambria"/>
                <a:cs typeface="Cambria"/>
              </a:rPr>
              <a:t>Loss	2.	</a:t>
            </a:r>
            <a:r>
              <a:rPr lang="en-US" sz="2600" b="1" spc="-5" dirty="0" err="1">
                <a:latin typeface="Cambria"/>
                <a:cs typeface="Cambria"/>
              </a:rPr>
              <a:t>Macrobend</a:t>
            </a:r>
            <a:r>
              <a:rPr lang="en-US" sz="2600" b="1" spc="-5" dirty="0">
                <a:latin typeface="Cambria"/>
                <a:cs typeface="Cambria"/>
              </a:rPr>
              <a:t> </a:t>
            </a:r>
            <a:r>
              <a:rPr lang="en-US" sz="2600" b="1" dirty="0">
                <a:latin typeface="Cambria"/>
                <a:cs typeface="Cambria"/>
              </a:rPr>
              <a:t>Loss</a:t>
            </a:r>
            <a:endParaRPr lang="en-US" sz="2600" dirty="0">
              <a:latin typeface="Cambria"/>
              <a:cs typeface="Cambria"/>
            </a:endParaRPr>
          </a:p>
          <a:p>
            <a:pPr marL="286385" marR="5080" indent="-274320" algn="just">
              <a:lnSpc>
                <a:spcPct val="150000"/>
              </a:lnSpc>
              <a:spcBef>
                <a:spcPts val="480"/>
              </a:spcBef>
              <a:buClr>
                <a:srgbClr val="0AD0D9"/>
              </a:buClr>
              <a:buSzPct val="95000"/>
              <a:buFont typeface="Wingdings"/>
              <a:buChar char=""/>
              <a:tabLst>
                <a:tab pos="287020" algn="l"/>
              </a:tabLst>
            </a:pPr>
            <a:r>
              <a:rPr lang="en-US" sz="2600" b="1" spc="-5" dirty="0" err="1">
                <a:latin typeface="Cambria"/>
                <a:cs typeface="Cambria"/>
              </a:rPr>
              <a:t>Microbend</a:t>
            </a:r>
            <a:r>
              <a:rPr lang="en-US" sz="2600" b="1" spc="-5" dirty="0">
                <a:latin typeface="Cambria"/>
                <a:cs typeface="Cambria"/>
              </a:rPr>
              <a:t> </a:t>
            </a:r>
            <a:r>
              <a:rPr lang="en-US" sz="2600" b="1" spc="-10" dirty="0">
                <a:latin typeface="Cambria"/>
                <a:cs typeface="Cambria"/>
              </a:rPr>
              <a:t>Loss </a:t>
            </a:r>
            <a:r>
              <a:rPr lang="en-US" sz="2600" spc="-10" dirty="0">
                <a:latin typeface="Cambria"/>
                <a:cs typeface="Cambria"/>
              </a:rPr>
              <a:t>are </a:t>
            </a:r>
            <a:r>
              <a:rPr lang="en-US" sz="2600" spc="-5" dirty="0">
                <a:latin typeface="Cambria"/>
                <a:cs typeface="Cambria"/>
              </a:rPr>
              <a:t>caused </a:t>
            </a:r>
            <a:r>
              <a:rPr lang="en-US" sz="2600" spc="-15" dirty="0">
                <a:latin typeface="Cambria"/>
                <a:cs typeface="Cambria"/>
              </a:rPr>
              <a:t>by </a:t>
            </a:r>
            <a:r>
              <a:rPr lang="en-US" sz="2600" spc="-5" dirty="0">
                <a:latin typeface="Cambria"/>
                <a:cs typeface="Cambria"/>
              </a:rPr>
              <a:t>small discontinuities or </a:t>
            </a:r>
            <a:r>
              <a:rPr lang="en-US" sz="2600" spc="-10" dirty="0">
                <a:latin typeface="Cambria"/>
                <a:cs typeface="Cambria"/>
              </a:rPr>
              <a:t>imperfections in </a:t>
            </a:r>
            <a:r>
              <a:rPr lang="en-US" sz="2600" spc="-5" dirty="0">
                <a:latin typeface="Cambria"/>
                <a:cs typeface="Cambria"/>
              </a:rPr>
              <a:t>the  </a:t>
            </a:r>
            <a:r>
              <a:rPr lang="en-US" sz="2600" spc="-35" dirty="0">
                <a:latin typeface="Cambria"/>
                <a:cs typeface="Cambria"/>
              </a:rPr>
              <a:t>fiber. </a:t>
            </a:r>
            <a:r>
              <a:rPr lang="en-US" sz="2600" spc="-15" dirty="0">
                <a:latin typeface="Cambria"/>
                <a:cs typeface="Cambria"/>
              </a:rPr>
              <a:t>Uneven </a:t>
            </a:r>
            <a:r>
              <a:rPr lang="en-US" sz="2600" dirty="0">
                <a:latin typeface="Cambria"/>
                <a:cs typeface="Cambria"/>
              </a:rPr>
              <a:t>coating </a:t>
            </a:r>
            <a:r>
              <a:rPr lang="en-US" sz="2600" spc="-5" dirty="0">
                <a:latin typeface="Cambria"/>
                <a:cs typeface="Cambria"/>
              </a:rPr>
              <a:t>applications </a:t>
            </a:r>
            <a:r>
              <a:rPr lang="en-US" sz="2600" dirty="0">
                <a:latin typeface="Cambria"/>
                <a:cs typeface="Cambria"/>
              </a:rPr>
              <a:t>and </a:t>
            </a:r>
            <a:r>
              <a:rPr lang="en-US" sz="2600" spc="-10" dirty="0">
                <a:latin typeface="Cambria"/>
                <a:cs typeface="Cambria"/>
              </a:rPr>
              <a:t>improper cabling procedure increases  micro </a:t>
            </a:r>
            <a:r>
              <a:rPr lang="en-US" sz="2600" spc="-5" dirty="0">
                <a:latin typeface="Cambria"/>
                <a:cs typeface="Cambria"/>
              </a:rPr>
              <a:t>bend loss. External </a:t>
            </a:r>
            <a:r>
              <a:rPr lang="en-US" sz="2600" spc="-10" dirty="0">
                <a:latin typeface="Cambria"/>
                <a:cs typeface="Cambria"/>
              </a:rPr>
              <a:t>forces are </a:t>
            </a:r>
            <a:r>
              <a:rPr lang="en-US" sz="2600" spc="-5" dirty="0">
                <a:latin typeface="Cambria"/>
                <a:cs typeface="Cambria"/>
              </a:rPr>
              <a:t>also </a:t>
            </a:r>
            <a:r>
              <a:rPr lang="en-US" sz="2600" dirty="0">
                <a:latin typeface="Cambria"/>
                <a:cs typeface="Cambria"/>
              </a:rPr>
              <a:t>a </a:t>
            </a:r>
            <a:r>
              <a:rPr lang="en-US" sz="2600" spc="-5" dirty="0">
                <a:latin typeface="Cambria"/>
                <a:cs typeface="Cambria"/>
              </a:rPr>
              <a:t>source </a:t>
            </a:r>
            <a:r>
              <a:rPr lang="en-US" sz="2600" dirty="0">
                <a:latin typeface="Cambria"/>
                <a:cs typeface="Cambria"/>
              </a:rPr>
              <a:t>of </a:t>
            </a:r>
            <a:r>
              <a:rPr lang="en-US" sz="2600" spc="-10" dirty="0">
                <a:latin typeface="Cambria"/>
                <a:cs typeface="Cambria"/>
              </a:rPr>
              <a:t>micro</a:t>
            </a:r>
            <a:r>
              <a:rPr lang="en-US" sz="2600" spc="-150" dirty="0">
                <a:latin typeface="Cambria"/>
                <a:cs typeface="Cambria"/>
              </a:rPr>
              <a:t> </a:t>
            </a:r>
            <a:r>
              <a:rPr lang="en-US" sz="2600" spc="-5" dirty="0">
                <a:latin typeface="Cambria"/>
                <a:cs typeface="Cambria"/>
              </a:rPr>
              <a:t>bends.</a:t>
            </a:r>
            <a:endParaRPr lang="en-US" dirty="0">
              <a:latin typeface="Cambria"/>
              <a:cs typeface="Cambria"/>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46</a:t>
            </a:fld>
            <a:endParaRPr lang="en-US"/>
          </a:p>
        </p:txBody>
      </p:sp>
    </p:spTree>
    <p:extLst>
      <p:ext uri="{BB962C8B-B14F-4D97-AF65-F5344CB8AC3E}">
        <p14:creationId xmlns:p14="http://schemas.microsoft.com/office/powerpoint/2010/main" val="26041988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5642" y="1206231"/>
            <a:ext cx="5756876" cy="5515244"/>
          </a:xfrm>
        </p:spPr>
        <p:txBody>
          <a:bodyPr/>
          <a:lstStyle/>
          <a:p>
            <a:pPr marL="469900" indent="-457200">
              <a:lnSpc>
                <a:spcPct val="100000"/>
              </a:lnSpc>
              <a:spcBef>
                <a:spcPts val="1245"/>
              </a:spcBef>
              <a:buAutoNum type="arabicPeriod" startAt="2"/>
            </a:pPr>
            <a:r>
              <a:rPr lang="en-US" sz="2400" b="1" spc="-5" dirty="0" err="1">
                <a:latin typeface="Cambria"/>
                <a:cs typeface="Cambria"/>
              </a:rPr>
              <a:t>Macrobend</a:t>
            </a:r>
            <a:r>
              <a:rPr lang="en-US" sz="2400" b="1" spc="-5" dirty="0">
                <a:latin typeface="Cambria"/>
                <a:cs typeface="Cambria"/>
              </a:rPr>
              <a:t> </a:t>
            </a:r>
            <a:r>
              <a:rPr lang="en-US" sz="2400" b="1" dirty="0">
                <a:latin typeface="Cambria"/>
                <a:cs typeface="Cambria"/>
              </a:rPr>
              <a:t>Loss</a:t>
            </a:r>
          </a:p>
          <a:p>
            <a:pPr marL="469900" indent="-457200">
              <a:lnSpc>
                <a:spcPct val="100000"/>
              </a:lnSpc>
              <a:spcBef>
                <a:spcPts val="1245"/>
              </a:spcBef>
              <a:buAutoNum type="arabicPeriod" startAt="2"/>
            </a:pPr>
            <a:endParaRPr lang="en-US" sz="2400" dirty="0">
              <a:latin typeface="Cambria"/>
              <a:cs typeface="Cambria"/>
            </a:endParaRPr>
          </a:p>
          <a:p>
            <a:pPr marL="286385" marR="5080" indent="-274320" algn="just">
              <a:lnSpc>
                <a:spcPct val="150000"/>
              </a:lnSpc>
              <a:spcBef>
                <a:spcPts val="480"/>
              </a:spcBef>
              <a:buClr>
                <a:srgbClr val="0AD0D9"/>
              </a:buClr>
              <a:buSzPct val="95000"/>
              <a:buFont typeface="Wingdings"/>
              <a:buChar char=""/>
              <a:tabLst>
                <a:tab pos="287020" algn="l"/>
              </a:tabLst>
            </a:pPr>
            <a:r>
              <a:rPr lang="en-US" sz="2400" b="1" spc="-5" dirty="0" err="1">
                <a:latin typeface="Cambria"/>
                <a:cs typeface="Cambria"/>
              </a:rPr>
              <a:t>Macrobend</a:t>
            </a:r>
            <a:r>
              <a:rPr lang="en-US" sz="2400" b="1" spc="-5" dirty="0">
                <a:latin typeface="Cambria"/>
                <a:cs typeface="Cambria"/>
              </a:rPr>
              <a:t> </a:t>
            </a:r>
            <a:r>
              <a:rPr lang="en-US" sz="2400" b="1" spc="-10" dirty="0">
                <a:latin typeface="Cambria"/>
                <a:cs typeface="Cambria"/>
              </a:rPr>
              <a:t>Losses </a:t>
            </a:r>
            <a:r>
              <a:rPr lang="en-US" sz="2400" spc="-15" dirty="0">
                <a:latin typeface="Cambria"/>
                <a:cs typeface="Cambria"/>
              </a:rPr>
              <a:t>are </a:t>
            </a:r>
            <a:r>
              <a:rPr lang="en-US" sz="2400" spc="-10" dirty="0">
                <a:latin typeface="Cambria"/>
                <a:cs typeface="Cambria"/>
              </a:rPr>
              <a:t>observed </a:t>
            </a:r>
            <a:r>
              <a:rPr lang="en-US" sz="2400" spc="-5" dirty="0">
                <a:latin typeface="Cambria"/>
                <a:cs typeface="Cambria"/>
              </a:rPr>
              <a:t>when </a:t>
            </a:r>
            <a:r>
              <a:rPr lang="en-US" sz="2400" dirty="0">
                <a:latin typeface="Cambria"/>
                <a:cs typeface="Cambria"/>
              </a:rPr>
              <a:t>a </a:t>
            </a:r>
            <a:r>
              <a:rPr lang="en-US" sz="2400" spc="-5" dirty="0">
                <a:latin typeface="Cambria"/>
                <a:cs typeface="Cambria"/>
              </a:rPr>
              <a:t>fiber </a:t>
            </a:r>
            <a:r>
              <a:rPr lang="en-US" sz="2400" spc="-10" dirty="0">
                <a:latin typeface="Cambria"/>
                <a:cs typeface="Cambria"/>
              </a:rPr>
              <a:t>bend’s radius </a:t>
            </a:r>
            <a:r>
              <a:rPr lang="en-US" sz="2400" spc="-5" dirty="0">
                <a:latin typeface="Cambria"/>
                <a:cs typeface="Cambria"/>
              </a:rPr>
              <a:t>of </a:t>
            </a:r>
            <a:r>
              <a:rPr lang="en-US" sz="2400" spc="-15" dirty="0">
                <a:latin typeface="Cambria"/>
                <a:cs typeface="Cambria"/>
              </a:rPr>
              <a:t>curvature </a:t>
            </a:r>
            <a:r>
              <a:rPr lang="en-US" sz="2400" spc="-5" dirty="0">
                <a:latin typeface="Cambria"/>
                <a:cs typeface="Cambria"/>
              </a:rPr>
              <a:t>is  </a:t>
            </a:r>
            <a:r>
              <a:rPr lang="en-US" sz="2400" spc="-10" dirty="0">
                <a:latin typeface="Cambria"/>
                <a:cs typeface="Cambria"/>
              </a:rPr>
              <a:t>large compared to </a:t>
            </a:r>
            <a:r>
              <a:rPr lang="en-US" sz="2400" spc="-5" dirty="0">
                <a:latin typeface="Cambria"/>
                <a:cs typeface="Cambria"/>
              </a:rPr>
              <a:t>the fiber </a:t>
            </a:r>
            <a:r>
              <a:rPr lang="en-US" sz="2400" spc="-30" dirty="0">
                <a:latin typeface="Cambria"/>
                <a:cs typeface="Cambria"/>
              </a:rPr>
              <a:t>diameter. </a:t>
            </a:r>
            <a:r>
              <a:rPr lang="en-US" sz="2400" spc="-5" dirty="0">
                <a:latin typeface="Cambria"/>
                <a:cs typeface="Cambria"/>
              </a:rPr>
              <a:t>These bends </a:t>
            </a:r>
            <a:r>
              <a:rPr lang="en-US" sz="2400" spc="-10" dirty="0">
                <a:latin typeface="Cambria"/>
                <a:cs typeface="Cambria"/>
              </a:rPr>
              <a:t>are </a:t>
            </a:r>
            <a:r>
              <a:rPr lang="en-US" sz="2400" dirty="0">
                <a:latin typeface="Cambria"/>
                <a:cs typeface="Cambria"/>
              </a:rPr>
              <a:t>a </a:t>
            </a:r>
            <a:r>
              <a:rPr lang="en-US" sz="2400" spc="-10" dirty="0">
                <a:latin typeface="Cambria"/>
                <a:cs typeface="Cambria"/>
              </a:rPr>
              <a:t>great source </a:t>
            </a:r>
            <a:r>
              <a:rPr lang="en-US" sz="2400" dirty="0">
                <a:latin typeface="Cambria"/>
                <a:cs typeface="Cambria"/>
              </a:rPr>
              <a:t>of </a:t>
            </a:r>
            <a:r>
              <a:rPr lang="en-US" sz="2400" spc="-5" dirty="0">
                <a:latin typeface="Cambria"/>
                <a:cs typeface="Cambria"/>
              </a:rPr>
              <a:t>loss  </a:t>
            </a:r>
            <a:r>
              <a:rPr lang="en-US" sz="2400" spc="-10" dirty="0">
                <a:latin typeface="Cambria"/>
                <a:cs typeface="Cambria"/>
              </a:rPr>
              <a:t>when </a:t>
            </a:r>
            <a:r>
              <a:rPr lang="en-US" sz="2400" dirty="0">
                <a:latin typeface="Cambria"/>
                <a:cs typeface="Cambria"/>
              </a:rPr>
              <a:t>the </a:t>
            </a:r>
            <a:r>
              <a:rPr lang="en-US" sz="2400" spc="-5" dirty="0">
                <a:latin typeface="Cambria"/>
                <a:cs typeface="Cambria"/>
              </a:rPr>
              <a:t>radius </a:t>
            </a:r>
            <a:r>
              <a:rPr lang="en-US" sz="2400" dirty="0">
                <a:latin typeface="Cambria"/>
                <a:cs typeface="Cambria"/>
              </a:rPr>
              <a:t>of </a:t>
            </a:r>
            <a:r>
              <a:rPr lang="en-US" sz="2400" spc="-10" dirty="0">
                <a:latin typeface="Cambria"/>
                <a:cs typeface="Cambria"/>
              </a:rPr>
              <a:t>curvature </a:t>
            </a:r>
            <a:r>
              <a:rPr lang="en-US" sz="2400" spc="-5" dirty="0">
                <a:latin typeface="Cambria"/>
                <a:cs typeface="Cambria"/>
              </a:rPr>
              <a:t>is less </a:t>
            </a:r>
            <a:r>
              <a:rPr lang="en-US" sz="2400" dirty="0">
                <a:latin typeface="Cambria"/>
                <a:cs typeface="Cambria"/>
              </a:rPr>
              <a:t>than </a:t>
            </a:r>
            <a:r>
              <a:rPr lang="en-US" sz="2400" spc="-15" dirty="0">
                <a:latin typeface="Cambria"/>
                <a:cs typeface="Cambria"/>
              </a:rPr>
              <a:t>several</a:t>
            </a:r>
            <a:r>
              <a:rPr lang="en-US" sz="2400" spc="-105" dirty="0">
                <a:latin typeface="Cambria"/>
                <a:cs typeface="Cambria"/>
              </a:rPr>
              <a:t> </a:t>
            </a:r>
            <a:r>
              <a:rPr lang="en-US" sz="2400" spc="-5" dirty="0">
                <a:latin typeface="Cambria"/>
                <a:cs typeface="Cambria"/>
              </a:rPr>
              <a:t>centimeters.</a:t>
            </a: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47</a:t>
            </a:fld>
            <a:endParaRPr lang="en-US"/>
          </a:p>
        </p:txBody>
      </p:sp>
      <p:grpSp>
        <p:nvGrpSpPr>
          <p:cNvPr id="6" name="object 10"/>
          <p:cNvGrpSpPr/>
          <p:nvPr/>
        </p:nvGrpSpPr>
        <p:grpSpPr>
          <a:xfrm>
            <a:off x="6053195" y="0"/>
            <a:ext cx="5836596" cy="3968884"/>
            <a:chOff x="1143000" y="4114800"/>
            <a:chExt cx="7385684" cy="2743200"/>
          </a:xfrm>
        </p:grpSpPr>
        <p:sp>
          <p:nvSpPr>
            <p:cNvPr id="7" name="object 11"/>
            <p:cNvSpPr/>
            <p:nvPr/>
          </p:nvSpPr>
          <p:spPr>
            <a:xfrm>
              <a:off x="1143000" y="4267199"/>
              <a:ext cx="7385304" cy="2590799"/>
            </a:xfrm>
            <a:prstGeom prst="rect">
              <a:avLst/>
            </a:prstGeom>
            <a:blipFill>
              <a:blip r:embed="rId2" cstate="print"/>
              <a:stretch>
                <a:fillRect/>
              </a:stretch>
            </a:blipFill>
          </p:spPr>
          <p:txBody>
            <a:bodyPr wrap="square" lIns="0" tIns="0" rIns="0" bIns="0" rtlCol="0"/>
            <a:lstStyle/>
            <a:p>
              <a:endParaRPr/>
            </a:p>
          </p:txBody>
        </p:sp>
        <p:sp>
          <p:nvSpPr>
            <p:cNvPr id="8" name="object 12"/>
            <p:cNvSpPr/>
            <p:nvPr/>
          </p:nvSpPr>
          <p:spPr>
            <a:xfrm>
              <a:off x="3657600" y="4114800"/>
              <a:ext cx="1133855" cy="400812"/>
            </a:xfrm>
            <a:prstGeom prst="rect">
              <a:avLst/>
            </a:prstGeom>
            <a:blipFill>
              <a:blip r:embed="rId3" cstate="print"/>
              <a:stretch>
                <a:fillRect/>
              </a:stretch>
            </a:blipFill>
          </p:spPr>
          <p:txBody>
            <a:bodyPr wrap="square" lIns="0" tIns="0" rIns="0" bIns="0" rtlCol="0"/>
            <a:lstStyle/>
            <a:p>
              <a:endParaRPr/>
            </a:p>
          </p:txBody>
        </p:sp>
        <p:sp>
          <p:nvSpPr>
            <p:cNvPr id="9" name="object 13"/>
            <p:cNvSpPr/>
            <p:nvPr/>
          </p:nvSpPr>
          <p:spPr>
            <a:xfrm>
              <a:off x="4876800" y="6515098"/>
              <a:ext cx="1152144" cy="342900"/>
            </a:xfrm>
            <a:prstGeom prst="rect">
              <a:avLst/>
            </a:prstGeom>
            <a:blipFill>
              <a:blip r:embed="rId4" cstate="print"/>
              <a:stretch>
                <a:fillRect/>
              </a:stretch>
            </a:blipFill>
          </p:spPr>
          <p:txBody>
            <a:bodyPr wrap="square" lIns="0" tIns="0" rIns="0" bIns="0" rtlCol="0"/>
            <a:lstStyle/>
            <a:p>
              <a:endParaRPr/>
            </a:p>
          </p:txBody>
        </p:sp>
      </p:grpSp>
      <p:sp>
        <p:nvSpPr>
          <p:cNvPr id="10" name="object 10"/>
          <p:cNvSpPr/>
          <p:nvPr/>
        </p:nvSpPr>
        <p:spPr>
          <a:xfrm>
            <a:off x="6053195" y="3774850"/>
            <a:ext cx="5562600" cy="2654808"/>
          </a:xfrm>
          <a:prstGeom prst="rect">
            <a:avLst/>
          </a:prstGeom>
          <a:blipFill>
            <a:blip r:embed="rId5" cstate="print"/>
            <a:stretch>
              <a:fillRect/>
            </a:stretch>
          </a:blipFill>
        </p:spPr>
        <p:txBody>
          <a:bodyPr wrap="square" lIns="0" tIns="0" rIns="0" bIns="0" rtlCol="0"/>
          <a:lstStyle/>
          <a:p>
            <a:endParaRPr/>
          </a:p>
        </p:txBody>
      </p:sp>
      <p:sp>
        <p:nvSpPr>
          <p:cNvPr id="2" name="TextBox 1"/>
          <p:cNvSpPr txBox="1"/>
          <p:nvPr/>
        </p:nvSpPr>
        <p:spPr>
          <a:xfrm>
            <a:off x="6485206" y="5992837"/>
            <a:ext cx="4868594" cy="923330"/>
          </a:xfrm>
          <a:prstGeom prst="rect">
            <a:avLst/>
          </a:prstGeom>
          <a:noFill/>
        </p:spPr>
        <p:txBody>
          <a:bodyPr wrap="square" rtlCol="0">
            <a:spAutoFit/>
          </a:bodyPr>
          <a:lstStyle/>
          <a:p>
            <a:pPr algn="ctr"/>
            <a:r>
              <a:rPr lang="en-US" spc="-5" dirty="0">
                <a:latin typeface="Cambria"/>
                <a:cs typeface="Cambria"/>
              </a:rPr>
              <a:t>Figure 2.16 represent micro and </a:t>
            </a:r>
            <a:r>
              <a:rPr lang="en-US" spc="-5" dirty="0" err="1">
                <a:latin typeface="Cambria"/>
                <a:cs typeface="Cambria"/>
              </a:rPr>
              <a:t>macrobend</a:t>
            </a:r>
            <a:r>
              <a:rPr lang="en-US" spc="-5" dirty="0">
                <a:latin typeface="Cambria"/>
                <a:cs typeface="Cambria"/>
              </a:rPr>
              <a:t> in optical fiber [2]</a:t>
            </a:r>
            <a:endParaRPr lang="en-US" dirty="0">
              <a:latin typeface="Cambria"/>
              <a:cs typeface="Cambria"/>
            </a:endParaRPr>
          </a:p>
          <a:p>
            <a:endParaRPr lang="en-US" dirty="0"/>
          </a:p>
        </p:txBody>
      </p:sp>
    </p:spTree>
    <p:extLst>
      <p:ext uri="{BB962C8B-B14F-4D97-AF65-F5344CB8AC3E}">
        <p14:creationId xmlns:p14="http://schemas.microsoft.com/office/powerpoint/2010/main" val="10883792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8758" y="0"/>
            <a:ext cx="7851842" cy="700391"/>
          </a:xfrm>
        </p:spPr>
        <p:txBody>
          <a:bodyPr>
            <a:noAutofit/>
          </a:bodyPr>
          <a:lstStyle/>
          <a:p>
            <a:pPr marL="12700">
              <a:lnSpc>
                <a:spcPct val="100000"/>
              </a:lnSpc>
              <a:spcBef>
                <a:spcPts val="1170"/>
              </a:spcBef>
            </a:pPr>
            <a:r>
              <a:rPr lang="en-US" sz="4400" b="1" dirty="0">
                <a:latin typeface="Cambria"/>
                <a:cs typeface="Cambria"/>
              </a:rPr>
              <a:t>Linear </a:t>
            </a:r>
            <a:r>
              <a:rPr lang="en-US" sz="4400" b="1" spc="-5" dirty="0">
                <a:latin typeface="Cambria"/>
                <a:cs typeface="Cambria"/>
              </a:rPr>
              <a:t>Scattering</a:t>
            </a:r>
            <a:r>
              <a:rPr lang="en-US" sz="4400" b="1" spc="-60" dirty="0">
                <a:latin typeface="Cambria"/>
                <a:cs typeface="Cambria"/>
              </a:rPr>
              <a:t> </a:t>
            </a:r>
            <a:r>
              <a:rPr lang="en-US" sz="4400" b="1" dirty="0">
                <a:latin typeface="Cambria"/>
                <a:cs typeface="Cambria"/>
              </a:rPr>
              <a:t>Losses</a:t>
            </a:r>
            <a:endParaRPr lang="en-US" sz="4400" dirty="0">
              <a:latin typeface="Cambria"/>
              <a:cs typeface="Cambria"/>
            </a:endParaRPr>
          </a:p>
        </p:txBody>
      </p:sp>
      <p:sp>
        <p:nvSpPr>
          <p:cNvPr id="3" name="Content Placeholder 2"/>
          <p:cNvSpPr>
            <a:spLocks noGrp="1"/>
          </p:cNvSpPr>
          <p:nvPr>
            <p:ph idx="1"/>
          </p:nvPr>
        </p:nvSpPr>
        <p:spPr>
          <a:xfrm>
            <a:off x="4853355" y="700391"/>
            <a:ext cx="7053300" cy="6021084"/>
          </a:xfrm>
        </p:spPr>
        <p:txBody>
          <a:bodyPr>
            <a:normAutofit fontScale="70000" lnSpcReduction="20000"/>
          </a:bodyPr>
          <a:lstStyle/>
          <a:p>
            <a:pPr marL="286385" marR="5080" indent="-274320" algn="just">
              <a:lnSpc>
                <a:spcPct val="130100"/>
              </a:lnSpc>
              <a:spcBef>
                <a:spcPts val="155"/>
              </a:spcBef>
              <a:buClr>
                <a:srgbClr val="0AD0D9"/>
              </a:buClr>
              <a:buSzPct val="94444"/>
              <a:buFont typeface="Wingdings"/>
              <a:buChar char=""/>
              <a:tabLst>
                <a:tab pos="287020" algn="l"/>
              </a:tabLst>
            </a:pPr>
            <a:r>
              <a:rPr lang="en-US" sz="3400" b="1" spc="-5" dirty="0">
                <a:latin typeface="Cambria"/>
                <a:cs typeface="Cambria"/>
              </a:rPr>
              <a:t>Light scattering </a:t>
            </a:r>
            <a:r>
              <a:rPr lang="en-US" sz="3400" dirty="0">
                <a:latin typeface="Cambria"/>
                <a:cs typeface="Cambria"/>
              </a:rPr>
              <a:t>is a </a:t>
            </a:r>
            <a:r>
              <a:rPr lang="en-US" sz="3400" spc="-10" dirty="0">
                <a:latin typeface="Cambria"/>
                <a:cs typeface="Cambria"/>
              </a:rPr>
              <a:t>form </a:t>
            </a:r>
            <a:r>
              <a:rPr lang="en-US" sz="3400" dirty="0">
                <a:latin typeface="Cambria"/>
                <a:cs typeface="Cambria"/>
              </a:rPr>
              <a:t>of </a:t>
            </a:r>
            <a:r>
              <a:rPr lang="en-US" sz="3400" spc="-5" dirty="0">
                <a:latin typeface="Cambria"/>
                <a:cs typeface="Cambria"/>
              </a:rPr>
              <a:t>scattering in </a:t>
            </a:r>
            <a:r>
              <a:rPr lang="en-US" sz="3400" spc="-10" dirty="0">
                <a:latin typeface="Cambria"/>
                <a:cs typeface="Cambria"/>
              </a:rPr>
              <a:t>which light </a:t>
            </a:r>
            <a:r>
              <a:rPr lang="en-US" sz="3400" spc="-5" dirty="0">
                <a:latin typeface="Cambria"/>
                <a:cs typeface="Cambria"/>
              </a:rPr>
              <a:t>in the </a:t>
            </a:r>
            <a:r>
              <a:rPr lang="en-US" sz="3400" spc="-10" dirty="0">
                <a:latin typeface="Cambria"/>
                <a:cs typeface="Cambria"/>
              </a:rPr>
              <a:t>form </a:t>
            </a:r>
            <a:r>
              <a:rPr lang="en-US" sz="3400" dirty="0">
                <a:latin typeface="Cambria"/>
                <a:cs typeface="Cambria"/>
              </a:rPr>
              <a:t>of </a:t>
            </a:r>
            <a:r>
              <a:rPr lang="en-US" sz="3400" spc="-10" dirty="0">
                <a:latin typeface="Cambria"/>
                <a:cs typeface="Cambria"/>
              </a:rPr>
              <a:t>propagating  </a:t>
            </a:r>
            <a:r>
              <a:rPr lang="en-US" sz="3400" spc="-5" dirty="0">
                <a:latin typeface="Cambria"/>
                <a:cs typeface="Cambria"/>
              </a:rPr>
              <a:t>energy </a:t>
            </a:r>
            <a:r>
              <a:rPr lang="en-US" sz="3400" dirty="0">
                <a:latin typeface="Cambria"/>
                <a:cs typeface="Cambria"/>
              </a:rPr>
              <a:t>is</a:t>
            </a:r>
            <a:r>
              <a:rPr lang="en-US" sz="3400" spc="10" dirty="0">
                <a:latin typeface="Cambria"/>
                <a:cs typeface="Cambria"/>
              </a:rPr>
              <a:t> </a:t>
            </a:r>
            <a:r>
              <a:rPr lang="en-US" sz="3400" spc="-10" dirty="0">
                <a:latin typeface="Cambria"/>
                <a:cs typeface="Cambria"/>
              </a:rPr>
              <a:t>scattered.</a:t>
            </a:r>
            <a:endParaRPr lang="en-US" sz="3400" dirty="0">
              <a:latin typeface="Cambria"/>
              <a:cs typeface="Cambria"/>
            </a:endParaRPr>
          </a:p>
          <a:p>
            <a:pPr marL="286385" marR="7620" indent="-274320" algn="just">
              <a:lnSpc>
                <a:spcPct val="130000"/>
              </a:lnSpc>
              <a:spcBef>
                <a:spcPts val="430"/>
              </a:spcBef>
              <a:buClr>
                <a:srgbClr val="0AD0D9"/>
              </a:buClr>
              <a:buSzPct val="94444"/>
              <a:buFont typeface="Wingdings"/>
              <a:buChar char=""/>
              <a:tabLst>
                <a:tab pos="287020" algn="l"/>
              </a:tabLst>
            </a:pPr>
            <a:r>
              <a:rPr lang="en-US" sz="3400" spc="-5" dirty="0">
                <a:latin typeface="Cambria"/>
                <a:cs typeface="Cambria"/>
              </a:rPr>
              <a:t>Light scattering can </a:t>
            </a:r>
            <a:r>
              <a:rPr lang="en-US" sz="3400" dirty="0">
                <a:latin typeface="Cambria"/>
                <a:cs typeface="Cambria"/>
              </a:rPr>
              <a:t>be </a:t>
            </a:r>
            <a:r>
              <a:rPr lang="en-US" sz="3400" spc="-5" dirty="0">
                <a:latin typeface="Cambria"/>
                <a:cs typeface="Cambria"/>
              </a:rPr>
              <a:t>thought </a:t>
            </a:r>
            <a:r>
              <a:rPr lang="en-US" sz="3400" dirty="0">
                <a:latin typeface="Cambria"/>
                <a:cs typeface="Cambria"/>
              </a:rPr>
              <a:t>of </a:t>
            </a:r>
            <a:r>
              <a:rPr lang="en-US" sz="3400" spc="-5" dirty="0">
                <a:latin typeface="Cambria"/>
                <a:cs typeface="Cambria"/>
              </a:rPr>
              <a:t>as </a:t>
            </a:r>
            <a:r>
              <a:rPr lang="en-US" sz="3400" dirty="0">
                <a:latin typeface="Cambria"/>
                <a:cs typeface="Cambria"/>
              </a:rPr>
              <a:t>the </a:t>
            </a:r>
            <a:r>
              <a:rPr lang="en-US" sz="3400" spc="-5" dirty="0">
                <a:latin typeface="Cambria"/>
                <a:cs typeface="Cambria"/>
              </a:rPr>
              <a:t>deflection </a:t>
            </a:r>
            <a:r>
              <a:rPr lang="en-US" sz="3400" dirty="0">
                <a:latin typeface="Cambria"/>
                <a:cs typeface="Cambria"/>
              </a:rPr>
              <a:t>of a </a:t>
            </a:r>
            <a:r>
              <a:rPr lang="en-US" sz="3400" spc="-30" dirty="0">
                <a:latin typeface="Cambria"/>
                <a:cs typeface="Cambria"/>
              </a:rPr>
              <a:t>ray </a:t>
            </a:r>
            <a:r>
              <a:rPr lang="en-US" sz="3400" spc="-5" dirty="0">
                <a:latin typeface="Cambria"/>
                <a:cs typeface="Cambria"/>
              </a:rPr>
              <a:t>from </a:t>
            </a:r>
            <a:r>
              <a:rPr lang="en-US" sz="3400" dirty="0">
                <a:latin typeface="Cambria"/>
                <a:cs typeface="Cambria"/>
              </a:rPr>
              <a:t>a </a:t>
            </a:r>
            <a:r>
              <a:rPr lang="en-US" sz="3400" spc="-10" dirty="0">
                <a:latin typeface="Cambria"/>
                <a:cs typeface="Cambria"/>
              </a:rPr>
              <a:t>straight </a:t>
            </a:r>
            <a:r>
              <a:rPr lang="en-US" sz="3400" spc="-5" dirty="0">
                <a:latin typeface="Cambria"/>
                <a:cs typeface="Cambria"/>
              </a:rPr>
              <a:t>path, </a:t>
            </a:r>
            <a:r>
              <a:rPr lang="en-US" sz="3400" spc="-10" dirty="0">
                <a:latin typeface="Cambria"/>
                <a:cs typeface="Cambria"/>
              </a:rPr>
              <a:t>for  example </a:t>
            </a:r>
            <a:r>
              <a:rPr lang="en-US" sz="3400" spc="-15" dirty="0">
                <a:latin typeface="Cambria"/>
                <a:cs typeface="Cambria"/>
              </a:rPr>
              <a:t>by </a:t>
            </a:r>
            <a:r>
              <a:rPr lang="en-US" sz="3400" spc="-5" dirty="0">
                <a:latin typeface="Cambria"/>
                <a:cs typeface="Cambria"/>
              </a:rPr>
              <a:t>irregularities </a:t>
            </a:r>
            <a:r>
              <a:rPr lang="en-US" sz="3400" dirty="0">
                <a:latin typeface="Cambria"/>
                <a:cs typeface="Cambria"/>
              </a:rPr>
              <a:t>in </a:t>
            </a:r>
            <a:r>
              <a:rPr lang="en-US" sz="3400" spc="-5" dirty="0">
                <a:latin typeface="Cambria"/>
                <a:cs typeface="Cambria"/>
              </a:rPr>
              <a:t>the </a:t>
            </a:r>
            <a:r>
              <a:rPr lang="en-US" sz="3400" spc="-10" dirty="0">
                <a:latin typeface="Cambria"/>
                <a:cs typeface="Cambria"/>
              </a:rPr>
              <a:t>propagation </a:t>
            </a:r>
            <a:r>
              <a:rPr lang="en-US" sz="3400" spc="-5" dirty="0">
                <a:latin typeface="Cambria"/>
                <a:cs typeface="Cambria"/>
              </a:rPr>
              <a:t>medium, particles, </a:t>
            </a:r>
            <a:r>
              <a:rPr lang="en-US" sz="3400" dirty="0">
                <a:latin typeface="Cambria"/>
                <a:cs typeface="Cambria"/>
              </a:rPr>
              <a:t>or </a:t>
            </a:r>
            <a:r>
              <a:rPr lang="en-US" sz="3400" spc="-5" dirty="0">
                <a:latin typeface="Cambria"/>
                <a:cs typeface="Cambria"/>
              </a:rPr>
              <a:t>in the </a:t>
            </a:r>
            <a:r>
              <a:rPr lang="en-US" sz="3400" spc="-10" dirty="0">
                <a:latin typeface="Cambria"/>
                <a:cs typeface="Cambria"/>
              </a:rPr>
              <a:t>interface  between two</a:t>
            </a:r>
            <a:r>
              <a:rPr lang="en-US" sz="3400" spc="20" dirty="0">
                <a:latin typeface="Cambria"/>
                <a:cs typeface="Cambria"/>
              </a:rPr>
              <a:t> </a:t>
            </a:r>
            <a:r>
              <a:rPr lang="en-US" sz="3400" spc="-5" dirty="0">
                <a:latin typeface="Cambria"/>
                <a:cs typeface="Cambria"/>
              </a:rPr>
              <a:t>media.</a:t>
            </a:r>
            <a:endParaRPr lang="en-US" sz="3400" dirty="0">
              <a:latin typeface="Cambria"/>
              <a:cs typeface="Cambria"/>
            </a:endParaRPr>
          </a:p>
          <a:p>
            <a:pPr marL="286385" marR="6985" indent="-274320" algn="just">
              <a:lnSpc>
                <a:spcPct val="130000"/>
              </a:lnSpc>
              <a:spcBef>
                <a:spcPts val="434"/>
              </a:spcBef>
              <a:buClr>
                <a:srgbClr val="0AD0D9"/>
              </a:buClr>
              <a:buSzPct val="94444"/>
              <a:buFont typeface="Wingdings"/>
              <a:buChar char=""/>
              <a:tabLst>
                <a:tab pos="287020" algn="l"/>
              </a:tabLst>
            </a:pPr>
            <a:r>
              <a:rPr lang="en-US" sz="3400" spc="-5" dirty="0">
                <a:latin typeface="Cambria"/>
                <a:cs typeface="Cambria"/>
              </a:rPr>
              <a:t>Deviations </a:t>
            </a:r>
            <a:r>
              <a:rPr lang="en-US" sz="3400" spc="-10" dirty="0">
                <a:latin typeface="Cambria"/>
                <a:cs typeface="Cambria"/>
              </a:rPr>
              <a:t>from </a:t>
            </a:r>
            <a:r>
              <a:rPr lang="en-US" sz="3400" spc="-5" dirty="0">
                <a:latin typeface="Cambria"/>
                <a:cs typeface="Cambria"/>
              </a:rPr>
              <a:t>the </a:t>
            </a:r>
            <a:r>
              <a:rPr lang="en-US" sz="3400" spc="-10" dirty="0">
                <a:latin typeface="Cambria"/>
                <a:cs typeface="Cambria"/>
              </a:rPr>
              <a:t>law </a:t>
            </a:r>
            <a:r>
              <a:rPr lang="en-US" sz="3400" dirty="0">
                <a:latin typeface="Cambria"/>
                <a:cs typeface="Cambria"/>
              </a:rPr>
              <a:t>of </a:t>
            </a:r>
            <a:r>
              <a:rPr lang="en-US" sz="3400" spc="-10" dirty="0">
                <a:latin typeface="Cambria"/>
                <a:cs typeface="Cambria"/>
              </a:rPr>
              <a:t>reflection </a:t>
            </a:r>
            <a:r>
              <a:rPr lang="en-US" sz="3400" dirty="0">
                <a:latin typeface="Cambria"/>
                <a:cs typeface="Cambria"/>
              </a:rPr>
              <a:t>due </a:t>
            </a:r>
            <a:r>
              <a:rPr lang="en-US" sz="3400" spc="-5" dirty="0">
                <a:latin typeface="Cambria"/>
                <a:cs typeface="Cambria"/>
              </a:rPr>
              <a:t>to irregularities </a:t>
            </a:r>
            <a:r>
              <a:rPr lang="en-US" sz="3400" dirty="0">
                <a:latin typeface="Cambria"/>
                <a:cs typeface="Cambria"/>
              </a:rPr>
              <a:t>on a </a:t>
            </a:r>
            <a:r>
              <a:rPr lang="en-US" sz="3400" spc="-10" dirty="0">
                <a:latin typeface="Cambria"/>
                <a:cs typeface="Cambria"/>
              </a:rPr>
              <a:t>surface </a:t>
            </a:r>
            <a:r>
              <a:rPr lang="en-US" sz="3400" spc="-15" dirty="0">
                <a:latin typeface="Cambria"/>
                <a:cs typeface="Cambria"/>
              </a:rPr>
              <a:t>are </a:t>
            </a:r>
            <a:r>
              <a:rPr lang="en-US" sz="3400" spc="-5" dirty="0">
                <a:latin typeface="Cambria"/>
                <a:cs typeface="Cambria"/>
              </a:rPr>
              <a:t>also  </a:t>
            </a:r>
            <a:r>
              <a:rPr lang="en-US" sz="3400" spc="-10" dirty="0">
                <a:latin typeface="Cambria"/>
                <a:cs typeface="Cambria"/>
              </a:rPr>
              <a:t>usually </a:t>
            </a:r>
            <a:r>
              <a:rPr lang="en-US" sz="3400" spc="-5" dirty="0">
                <a:latin typeface="Cambria"/>
                <a:cs typeface="Cambria"/>
              </a:rPr>
              <a:t>considered to be </a:t>
            </a:r>
            <a:r>
              <a:rPr lang="en-US" sz="3400" dirty="0">
                <a:latin typeface="Cambria"/>
                <a:cs typeface="Cambria"/>
              </a:rPr>
              <a:t>a </a:t>
            </a:r>
            <a:r>
              <a:rPr lang="en-US" sz="3400" spc="-10" dirty="0">
                <a:latin typeface="Cambria"/>
                <a:cs typeface="Cambria"/>
              </a:rPr>
              <a:t>form </a:t>
            </a:r>
            <a:r>
              <a:rPr lang="en-US" sz="3400" dirty="0">
                <a:latin typeface="Cambria"/>
                <a:cs typeface="Cambria"/>
              </a:rPr>
              <a:t>of</a:t>
            </a:r>
            <a:r>
              <a:rPr lang="en-US" sz="3400" spc="40" dirty="0">
                <a:latin typeface="Cambria"/>
                <a:cs typeface="Cambria"/>
              </a:rPr>
              <a:t> </a:t>
            </a:r>
            <a:r>
              <a:rPr lang="en-US" sz="3400" spc="-5" dirty="0">
                <a:latin typeface="Cambria"/>
                <a:cs typeface="Cambria"/>
              </a:rPr>
              <a:t>scattering.</a:t>
            </a:r>
            <a:endParaRPr lang="en-US" sz="3400" dirty="0">
              <a:latin typeface="Cambria"/>
              <a:cs typeface="Cambria"/>
            </a:endParaRPr>
          </a:p>
          <a:p>
            <a:pPr marL="286385" marR="7620" indent="-274320" algn="just">
              <a:lnSpc>
                <a:spcPct val="130100"/>
              </a:lnSpc>
              <a:spcBef>
                <a:spcPts val="430"/>
              </a:spcBef>
              <a:buClr>
                <a:srgbClr val="0AD0D9"/>
              </a:buClr>
              <a:buSzPct val="94444"/>
              <a:buFont typeface="Wingdings"/>
              <a:buChar char=""/>
              <a:tabLst>
                <a:tab pos="287020" algn="l"/>
              </a:tabLst>
            </a:pPr>
            <a:r>
              <a:rPr lang="en-US" sz="3400" spc="-5" dirty="0">
                <a:latin typeface="Cambria"/>
                <a:cs typeface="Cambria"/>
              </a:rPr>
              <a:t>When these irregularities </a:t>
            </a:r>
            <a:r>
              <a:rPr lang="en-US" sz="3400" spc="-15" dirty="0">
                <a:latin typeface="Cambria"/>
                <a:cs typeface="Cambria"/>
              </a:rPr>
              <a:t>are </a:t>
            </a:r>
            <a:r>
              <a:rPr lang="en-US" sz="3400" spc="-10" dirty="0">
                <a:latin typeface="Cambria"/>
                <a:cs typeface="Cambria"/>
              </a:rPr>
              <a:t>considered </a:t>
            </a:r>
            <a:r>
              <a:rPr lang="en-US" sz="3400" spc="-5" dirty="0">
                <a:latin typeface="Cambria"/>
                <a:cs typeface="Cambria"/>
              </a:rPr>
              <a:t>to </a:t>
            </a:r>
            <a:r>
              <a:rPr lang="en-US" sz="3400" spc="-10" dirty="0">
                <a:latin typeface="Cambria"/>
                <a:cs typeface="Cambria"/>
              </a:rPr>
              <a:t>be random </a:t>
            </a:r>
            <a:r>
              <a:rPr lang="en-US" sz="3400" spc="-5" dirty="0">
                <a:latin typeface="Cambria"/>
                <a:cs typeface="Cambria"/>
              </a:rPr>
              <a:t>and dense enough that their  individual </a:t>
            </a:r>
            <a:r>
              <a:rPr lang="en-US" sz="3400" spc="-10" dirty="0">
                <a:latin typeface="Cambria"/>
                <a:cs typeface="Cambria"/>
              </a:rPr>
              <a:t>effects </a:t>
            </a:r>
            <a:r>
              <a:rPr lang="en-US" sz="3400" spc="-20" dirty="0">
                <a:latin typeface="Cambria"/>
                <a:cs typeface="Cambria"/>
              </a:rPr>
              <a:t>average </a:t>
            </a:r>
            <a:r>
              <a:rPr lang="en-US" sz="3400" spc="5" dirty="0">
                <a:latin typeface="Cambria"/>
                <a:cs typeface="Cambria"/>
              </a:rPr>
              <a:t>out, </a:t>
            </a:r>
            <a:r>
              <a:rPr lang="en-US" sz="3400" spc="-5" dirty="0">
                <a:latin typeface="Cambria"/>
                <a:cs typeface="Cambria"/>
              </a:rPr>
              <a:t>this kind </a:t>
            </a:r>
            <a:r>
              <a:rPr lang="en-US" sz="3400" dirty="0">
                <a:latin typeface="Cambria"/>
                <a:cs typeface="Cambria"/>
              </a:rPr>
              <a:t>of </a:t>
            </a:r>
            <a:r>
              <a:rPr lang="en-US" sz="3400" spc="-10" dirty="0">
                <a:latin typeface="Cambria"/>
                <a:cs typeface="Cambria"/>
              </a:rPr>
              <a:t>scattered reflection </a:t>
            </a:r>
            <a:r>
              <a:rPr lang="en-US" sz="3400" dirty="0">
                <a:latin typeface="Cambria"/>
                <a:cs typeface="Cambria"/>
              </a:rPr>
              <a:t>is </a:t>
            </a:r>
            <a:r>
              <a:rPr lang="en-US" sz="3400" spc="-5" dirty="0">
                <a:latin typeface="Cambria"/>
                <a:cs typeface="Cambria"/>
              </a:rPr>
              <a:t>commonly </a:t>
            </a:r>
            <a:r>
              <a:rPr lang="en-US" sz="3400" spc="-15" dirty="0">
                <a:latin typeface="Cambria"/>
                <a:cs typeface="Cambria"/>
              </a:rPr>
              <a:t>referred  </a:t>
            </a:r>
            <a:r>
              <a:rPr lang="en-US" sz="3400" spc="-5" dirty="0">
                <a:latin typeface="Cambria"/>
                <a:cs typeface="Cambria"/>
              </a:rPr>
              <a:t>to as diffuse</a:t>
            </a:r>
            <a:r>
              <a:rPr lang="en-US" sz="3400" spc="30" dirty="0">
                <a:latin typeface="Cambria"/>
                <a:cs typeface="Cambria"/>
              </a:rPr>
              <a:t> </a:t>
            </a:r>
            <a:r>
              <a:rPr lang="en-US" sz="3400" spc="-5" dirty="0">
                <a:latin typeface="Cambria"/>
                <a:cs typeface="Cambria"/>
              </a:rPr>
              <a:t>reflection.</a:t>
            </a:r>
            <a:endParaRPr lang="en-US" sz="3400" dirty="0">
              <a:latin typeface="Cambria"/>
              <a:cs typeface="Cambria"/>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48</a:t>
            </a:fld>
            <a:endParaRPr lang="en-US" dirty="0"/>
          </a:p>
        </p:txBody>
      </p:sp>
      <p:pic>
        <p:nvPicPr>
          <p:cNvPr id="7" name="Picture 6"/>
          <p:cNvPicPr>
            <a:picLocks noChangeAspect="1"/>
          </p:cNvPicPr>
          <p:nvPr/>
        </p:nvPicPr>
        <p:blipFill>
          <a:blip r:embed="rId2"/>
          <a:stretch>
            <a:fillRect/>
          </a:stretch>
        </p:blipFill>
        <p:spPr>
          <a:xfrm>
            <a:off x="155645" y="2690222"/>
            <a:ext cx="4486694" cy="2419755"/>
          </a:xfrm>
          <a:prstGeom prst="rect">
            <a:avLst/>
          </a:prstGeom>
        </p:spPr>
      </p:pic>
      <p:sp>
        <p:nvSpPr>
          <p:cNvPr id="4" name="TextBox 3"/>
          <p:cNvSpPr txBox="1"/>
          <p:nvPr/>
        </p:nvSpPr>
        <p:spPr>
          <a:xfrm>
            <a:off x="758758" y="5359791"/>
            <a:ext cx="4094597" cy="369332"/>
          </a:xfrm>
          <a:prstGeom prst="rect">
            <a:avLst/>
          </a:prstGeom>
          <a:noFill/>
        </p:spPr>
        <p:txBody>
          <a:bodyPr wrap="square" rtlCol="0">
            <a:spAutoFit/>
          </a:bodyPr>
          <a:lstStyle/>
          <a:p>
            <a:r>
              <a:rPr lang="en-US" dirty="0"/>
              <a:t>Figure 2.17 Light scattering [10]</a:t>
            </a:r>
          </a:p>
        </p:txBody>
      </p:sp>
    </p:spTree>
    <p:extLst>
      <p:ext uri="{BB962C8B-B14F-4D97-AF65-F5344CB8AC3E}">
        <p14:creationId xmlns:p14="http://schemas.microsoft.com/office/powerpoint/2010/main" val="9396388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9656" y="168812"/>
            <a:ext cx="11113476" cy="860560"/>
          </a:xfrm>
        </p:spPr>
        <p:txBody>
          <a:bodyPr>
            <a:noAutofit/>
          </a:bodyPr>
          <a:lstStyle/>
          <a:p>
            <a:r>
              <a:rPr lang="en-US" sz="4400" b="1" spc="-30" dirty="0">
                <a:latin typeface="Cambria" panose="02040503050406030204" pitchFamily="18" charset="0"/>
                <a:ea typeface="Cambria" panose="02040503050406030204" pitchFamily="18" charset="0"/>
              </a:rPr>
              <a:t>Advantages </a:t>
            </a:r>
            <a:r>
              <a:rPr lang="en-US" sz="4400" b="1" spc="-5" dirty="0">
                <a:latin typeface="Cambria" panose="02040503050406030204" pitchFamily="18" charset="0"/>
                <a:ea typeface="Cambria" panose="02040503050406030204" pitchFamily="18" charset="0"/>
              </a:rPr>
              <a:t>of </a:t>
            </a:r>
            <a:r>
              <a:rPr lang="en-US" sz="4400" b="1" spc="-10" dirty="0">
                <a:latin typeface="Cambria" panose="02040503050406030204" pitchFamily="18" charset="0"/>
                <a:ea typeface="Cambria" panose="02040503050406030204" pitchFamily="18" charset="0"/>
              </a:rPr>
              <a:t>optical fiber</a:t>
            </a:r>
            <a:r>
              <a:rPr lang="en-US" sz="4400" b="1" spc="135" dirty="0">
                <a:latin typeface="Cambria" panose="02040503050406030204" pitchFamily="18" charset="0"/>
                <a:ea typeface="Cambria" panose="02040503050406030204" pitchFamily="18" charset="0"/>
              </a:rPr>
              <a:t> </a:t>
            </a:r>
            <a:r>
              <a:rPr lang="en-US" sz="4400" b="1" spc="-10" dirty="0">
                <a:latin typeface="Cambria" panose="02040503050406030204" pitchFamily="18" charset="0"/>
                <a:ea typeface="Cambria" panose="02040503050406030204" pitchFamily="18" charset="0"/>
              </a:rPr>
              <a:t>communication</a:t>
            </a:r>
            <a:endParaRPr lang="en-US" sz="44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59656" y="1225685"/>
            <a:ext cx="9439421" cy="4935964"/>
          </a:xfrm>
        </p:spPr>
        <p:txBody>
          <a:bodyPr>
            <a:normAutofit/>
          </a:bodyPr>
          <a:lstStyle/>
          <a:p>
            <a:pPr marL="287020" indent="-274955">
              <a:lnSpc>
                <a:spcPct val="100000"/>
              </a:lnSpc>
              <a:spcBef>
                <a:spcPts val="385"/>
              </a:spcBef>
              <a:buClr>
                <a:srgbClr val="0AD0D9"/>
              </a:buClr>
              <a:buSzPct val="93750"/>
              <a:buFont typeface="Wingdings 2"/>
              <a:buChar char=""/>
              <a:tabLst>
                <a:tab pos="287655" algn="l"/>
              </a:tabLst>
            </a:pPr>
            <a:r>
              <a:rPr lang="en-US" sz="2400" spc="-5" dirty="0">
                <a:latin typeface="Cambria"/>
                <a:cs typeface="Cambria"/>
              </a:rPr>
              <a:t>Increased </a:t>
            </a:r>
            <a:r>
              <a:rPr lang="en-US" sz="2400" spc="-10" dirty="0">
                <a:latin typeface="Cambria"/>
                <a:cs typeface="Cambria"/>
              </a:rPr>
              <a:t>Bandwidth </a:t>
            </a:r>
            <a:r>
              <a:rPr lang="en-US" sz="2400" dirty="0">
                <a:latin typeface="Cambria"/>
                <a:cs typeface="Cambria"/>
              </a:rPr>
              <a:t>and Channel</a:t>
            </a:r>
            <a:r>
              <a:rPr lang="en-US" sz="2400" spc="-35" dirty="0">
                <a:latin typeface="Cambria"/>
                <a:cs typeface="Cambria"/>
              </a:rPr>
              <a:t> </a:t>
            </a:r>
            <a:r>
              <a:rPr lang="en-US" sz="2400" spc="-5" dirty="0">
                <a:latin typeface="Cambria"/>
                <a:cs typeface="Cambria"/>
              </a:rPr>
              <a:t>Capacity</a:t>
            </a:r>
            <a:endParaRPr lang="en-US" sz="2400" dirty="0">
              <a:latin typeface="Cambria"/>
              <a:cs typeface="Cambria"/>
            </a:endParaRPr>
          </a:p>
          <a:p>
            <a:pPr marL="287020" indent="-274955">
              <a:lnSpc>
                <a:spcPct val="100000"/>
              </a:lnSpc>
              <a:spcBef>
                <a:spcPts val="290"/>
              </a:spcBef>
              <a:buClr>
                <a:srgbClr val="0AD0D9"/>
              </a:buClr>
              <a:buSzPct val="93750"/>
              <a:buFont typeface="Wingdings 2"/>
              <a:buChar char=""/>
              <a:tabLst>
                <a:tab pos="287655" algn="l"/>
              </a:tabLst>
            </a:pPr>
            <a:r>
              <a:rPr lang="en-US" sz="2400" spc="-10" dirty="0">
                <a:latin typeface="Cambria"/>
                <a:cs typeface="Cambria"/>
              </a:rPr>
              <a:t>Low </a:t>
            </a:r>
            <a:r>
              <a:rPr lang="en-US" sz="2400" spc="-5" dirty="0">
                <a:latin typeface="Cambria"/>
                <a:cs typeface="Cambria"/>
              </a:rPr>
              <a:t>Signal</a:t>
            </a:r>
            <a:r>
              <a:rPr lang="en-US" sz="2400" spc="-10" dirty="0">
                <a:latin typeface="Cambria"/>
                <a:cs typeface="Cambria"/>
              </a:rPr>
              <a:t> Attenuation</a:t>
            </a:r>
            <a:endParaRPr lang="en-US" sz="2400" dirty="0">
              <a:latin typeface="Cambria"/>
              <a:cs typeface="Cambria"/>
            </a:endParaRPr>
          </a:p>
          <a:p>
            <a:pPr marL="287020" indent="-274955">
              <a:lnSpc>
                <a:spcPct val="100000"/>
              </a:lnSpc>
              <a:spcBef>
                <a:spcPts val="285"/>
              </a:spcBef>
              <a:buClr>
                <a:srgbClr val="0AD0D9"/>
              </a:buClr>
              <a:buSzPct val="93750"/>
              <a:buFont typeface="Wingdings 2"/>
              <a:buChar char=""/>
              <a:tabLst>
                <a:tab pos="287655" algn="l"/>
              </a:tabLst>
            </a:pPr>
            <a:r>
              <a:rPr lang="en-US" sz="2400" spc="-5" dirty="0">
                <a:latin typeface="Cambria"/>
                <a:cs typeface="Cambria"/>
              </a:rPr>
              <a:t>Immune </a:t>
            </a:r>
            <a:r>
              <a:rPr lang="en-US" sz="2400" spc="-15" dirty="0">
                <a:latin typeface="Cambria"/>
                <a:cs typeface="Cambria"/>
              </a:rPr>
              <a:t>to</a:t>
            </a:r>
            <a:r>
              <a:rPr lang="en-US" sz="2400" dirty="0">
                <a:latin typeface="Cambria"/>
                <a:cs typeface="Cambria"/>
              </a:rPr>
              <a:t> Noise</a:t>
            </a:r>
          </a:p>
          <a:p>
            <a:pPr marL="287020" indent="-274955">
              <a:lnSpc>
                <a:spcPct val="100000"/>
              </a:lnSpc>
              <a:spcBef>
                <a:spcPts val="290"/>
              </a:spcBef>
              <a:buClr>
                <a:srgbClr val="0AD0D9"/>
              </a:buClr>
              <a:buSzPct val="93750"/>
              <a:buFont typeface="Wingdings 2"/>
              <a:buChar char=""/>
              <a:tabLst>
                <a:tab pos="287655" algn="l"/>
              </a:tabLst>
            </a:pPr>
            <a:r>
              <a:rPr lang="en-US" sz="2400" spc="-5" dirty="0">
                <a:latin typeface="Cambria"/>
                <a:cs typeface="Cambria"/>
              </a:rPr>
              <a:t>No</a:t>
            </a:r>
            <a:r>
              <a:rPr lang="en-US" sz="2400" spc="-10" dirty="0">
                <a:latin typeface="Cambria"/>
                <a:cs typeface="Cambria"/>
              </a:rPr>
              <a:t> </a:t>
            </a:r>
            <a:r>
              <a:rPr lang="en-US" sz="2400" spc="-5" dirty="0">
                <a:latin typeface="Cambria"/>
                <a:cs typeface="Cambria"/>
              </a:rPr>
              <a:t>Crosstalk</a:t>
            </a:r>
            <a:endParaRPr lang="en-US" sz="2400" dirty="0">
              <a:latin typeface="Cambria"/>
              <a:cs typeface="Cambria"/>
            </a:endParaRPr>
          </a:p>
          <a:p>
            <a:pPr marL="287020" indent="-274955">
              <a:lnSpc>
                <a:spcPct val="100000"/>
              </a:lnSpc>
              <a:spcBef>
                <a:spcPts val="290"/>
              </a:spcBef>
              <a:buClr>
                <a:srgbClr val="0AD0D9"/>
              </a:buClr>
              <a:buSzPct val="93750"/>
              <a:buFont typeface="Wingdings 2"/>
              <a:buChar char=""/>
              <a:tabLst>
                <a:tab pos="287655" algn="l"/>
              </a:tabLst>
            </a:pPr>
            <a:r>
              <a:rPr lang="en-US" sz="2400" spc="-15" dirty="0">
                <a:latin typeface="Cambria"/>
                <a:cs typeface="Cambria"/>
              </a:rPr>
              <a:t>Lower </a:t>
            </a:r>
            <a:r>
              <a:rPr lang="en-US" sz="2400" spc="-5" dirty="0">
                <a:latin typeface="Cambria"/>
                <a:cs typeface="Cambria"/>
              </a:rPr>
              <a:t>Bit </a:t>
            </a:r>
            <a:r>
              <a:rPr lang="en-US" sz="2400" spc="-10" dirty="0">
                <a:latin typeface="Cambria"/>
                <a:cs typeface="Cambria"/>
              </a:rPr>
              <a:t>Error</a:t>
            </a:r>
            <a:r>
              <a:rPr lang="en-US" sz="2400" spc="-15" dirty="0">
                <a:latin typeface="Cambria"/>
                <a:cs typeface="Cambria"/>
              </a:rPr>
              <a:t> Rates</a:t>
            </a:r>
            <a:endParaRPr lang="en-US" sz="2400" dirty="0">
              <a:latin typeface="Cambria"/>
              <a:cs typeface="Cambria"/>
            </a:endParaRPr>
          </a:p>
          <a:p>
            <a:pPr marL="287020" indent="-274955">
              <a:lnSpc>
                <a:spcPct val="100000"/>
              </a:lnSpc>
              <a:spcBef>
                <a:spcPts val="290"/>
              </a:spcBef>
              <a:buClr>
                <a:srgbClr val="0AD0D9"/>
              </a:buClr>
              <a:buSzPct val="93750"/>
              <a:buFont typeface="Wingdings 2"/>
              <a:buChar char=""/>
              <a:tabLst>
                <a:tab pos="287655" algn="l"/>
              </a:tabLst>
            </a:pPr>
            <a:r>
              <a:rPr lang="en-US" sz="2400" spc="-5" dirty="0">
                <a:latin typeface="Cambria"/>
                <a:cs typeface="Cambria"/>
              </a:rPr>
              <a:t>Signal</a:t>
            </a:r>
            <a:r>
              <a:rPr lang="en-US" sz="2400" spc="-30" dirty="0">
                <a:latin typeface="Cambria"/>
                <a:cs typeface="Cambria"/>
              </a:rPr>
              <a:t> </a:t>
            </a:r>
            <a:r>
              <a:rPr lang="en-US" sz="2400" spc="-5" dirty="0">
                <a:latin typeface="Cambria"/>
                <a:cs typeface="Cambria"/>
              </a:rPr>
              <a:t>Security</a:t>
            </a:r>
            <a:endParaRPr lang="en-US" sz="2400" dirty="0">
              <a:latin typeface="Cambria"/>
              <a:cs typeface="Cambria"/>
            </a:endParaRPr>
          </a:p>
          <a:p>
            <a:pPr marL="287020" indent="-274955">
              <a:lnSpc>
                <a:spcPct val="100000"/>
              </a:lnSpc>
              <a:spcBef>
                <a:spcPts val="285"/>
              </a:spcBef>
              <a:buClr>
                <a:srgbClr val="0AD0D9"/>
              </a:buClr>
              <a:buSzPct val="93750"/>
              <a:buFont typeface="Wingdings 2"/>
              <a:buChar char=""/>
              <a:tabLst>
                <a:tab pos="287655" algn="l"/>
              </a:tabLst>
            </a:pPr>
            <a:r>
              <a:rPr lang="en-US" sz="2400" spc="-5" dirty="0">
                <a:latin typeface="Cambria"/>
                <a:cs typeface="Cambria"/>
              </a:rPr>
              <a:t>Electrical</a:t>
            </a:r>
            <a:r>
              <a:rPr lang="en-US" sz="2400" spc="-15" dirty="0">
                <a:latin typeface="Cambria"/>
                <a:cs typeface="Cambria"/>
              </a:rPr>
              <a:t> </a:t>
            </a:r>
            <a:r>
              <a:rPr lang="en-US" sz="2400" spc="-5" dirty="0">
                <a:latin typeface="Cambria"/>
                <a:cs typeface="Cambria"/>
              </a:rPr>
              <a:t>Isolation</a:t>
            </a:r>
            <a:endParaRPr lang="en-US" sz="2400" dirty="0">
              <a:latin typeface="Cambria"/>
              <a:cs typeface="Cambria"/>
            </a:endParaRPr>
          </a:p>
          <a:p>
            <a:pPr marL="287020" indent="-274955">
              <a:lnSpc>
                <a:spcPct val="100000"/>
              </a:lnSpc>
              <a:spcBef>
                <a:spcPts val="290"/>
              </a:spcBef>
              <a:buClr>
                <a:srgbClr val="0AD0D9"/>
              </a:buClr>
              <a:buSzPct val="93750"/>
              <a:buFont typeface="Wingdings 2"/>
              <a:buChar char=""/>
              <a:tabLst>
                <a:tab pos="287655" algn="l"/>
              </a:tabLst>
            </a:pPr>
            <a:r>
              <a:rPr lang="en-US" sz="2400" spc="-10" dirty="0">
                <a:latin typeface="Cambria"/>
                <a:cs typeface="Cambria"/>
              </a:rPr>
              <a:t>Reduced </a:t>
            </a:r>
            <a:r>
              <a:rPr lang="en-US" sz="2400" spc="-5" dirty="0">
                <a:latin typeface="Cambria"/>
                <a:cs typeface="Cambria"/>
              </a:rPr>
              <a:t>Size </a:t>
            </a:r>
            <a:r>
              <a:rPr lang="en-US" sz="2400" dirty="0">
                <a:latin typeface="Cambria"/>
                <a:cs typeface="Cambria"/>
              </a:rPr>
              <a:t>and </a:t>
            </a:r>
            <a:r>
              <a:rPr lang="en-US" sz="2400" spc="-30" dirty="0">
                <a:latin typeface="Cambria"/>
                <a:cs typeface="Cambria"/>
              </a:rPr>
              <a:t>Weight </a:t>
            </a:r>
            <a:r>
              <a:rPr lang="en-US" sz="2400" spc="-5" dirty="0">
                <a:latin typeface="Cambria"/>
                <a:cs typeface="Cambria"/>
              </a:rPr>
              <a:t>of</a:t>
            </a:r>
            <a:r>
              <a:rPr lang="en-US" sz="2400" spc="35" dirty="0">
                <a:latin typeface="Cambria"/>
                <a:cs typeface="Cambria"/>
              </a:rPr>
              <a:t> </a:t>
            </a:r>
            <a:r>
              <a:rPr lang="en-US" sz="2400" spc="-5" dirty="0">
                <a:latin typeface="Cambria"/>
                <a:cs typeface="Cambria"/>
              </a:rPr>
              <a:t>Cables</a:t>
            </a:r>
            <a:endParaRPr lang="en-US" sz="2400" dirty="0">
              <a:latin typeface="Cambria"/>
              <a:cs typeface="Cambria"/>
            </a:endParaRPr>
          </a:p>
          <a:p>
            <a:pPr marL="287020" indent="-274955">
              <a:lnSpc>
                <a:spcPct val="100000"/>
              </a:lnSpc>
              <a:spcBef>
                <a:spcPts val="290"/>
              </a:spcBef>
              <a:buClr>
                <a:srgbClr val="0AD0D9"/>
              </a:buClr>
              <a:buSzPct val="93750"/>
              <a:buFont typeface="Wingdings 2"/>
              <a:buChar char=""/>
              <a:tabLst>
                <a:tab pos="287655" algn="l"/>
              </a:tabLst>
            </a:pPr>
            <a:r>
              <a:rPr lang="en-US" sz="2400" spc="-5" dirty="0">
                <a:latin typeface="Cambria"/>
                <a:cs typeface="Cambria"/>
              </a:rPr>
              <a:t>Radiation </a:t>
            </a:r>
            <a:r>
              <a:rPr lang="en-US" sz="2400" spc="-10" dirty="0">
                <a:latin typeface="Cambria"/>
                <a:cs typeface="Cambria"/>
              </a:rPr>
              <a:t>Resistant </a:t>
            </a:r>
            <a:r>
              <a:rPr lang="en-US" sz="2400" dirty="0">
                <a:latin typeface="Cambria"/>
                <a:cs typeface="Cambria"/>
              </a:rPr>
              <a:t>and </a:t>
            </a:r>
            <a:r>
              <a:rPr lang="en-US" sz="2400" spc="-10" dirty="0">
                <a:latin typeface="Cambria"/>
                <a:cs typeface="Cambria"/>
              </a:rPr>
              <a:t>Environment</a:t>
            </a:r>
            <a:r>
              <a:rPr lang="en-US" sz="2400" spc="-30" dirty="0">
                <a:latin typeface="Cambria"/>
                <a:cs typeface="Cambria"/>
              </a:rPr>
              <a:t> </a:t>
            </a:r>
            <a:r>
              <a:rPr lang="en-US" sz="2400" spc="-15" dirty="0">
                <a:latin typeface="Cambria"/>
                <a:cs typeface="Cambria"/>
              </a:rPr>
              <a:t>Friendly</a:t>
            </a:r>
            <a:endParaRPr lang="en-US" sz="2400" dirty="0">
              <a:latin typeface="Cambria"/>
              <a:cs typeface="Cambria"/>
            </a:endParaRPr>
          </a:p>
          <a:p>
            <a:pPr marL="287020" indent="-274955">
              <a:lnSpc>
                <a:spcPct val="100000"/>
              </a:lnSpc>
              <a:spcBef>
                <a:spcPts val="290"/>
              </a:spcBef>
              <a:buClr>
                <a:srgbClr val="0AD0D9"/>
              </a:buClr>
              <a:buSzPct val="93750"/>
              <a:buFont typeface="Wingdings 2"/>
              <a:buChar char=""/>
              <a:tabLst>
                <a:tab pos="287655" algn="l"/>
              </a:tabLst>
            </a:pPr>
            <a:r>
              <a:rPr lang="en-US" sz="2400" spc="-10" dirty="0">
                <a:latin typeface="Cambria"/>
                <a:cs typeface="Cambria"/>
              </a:rPr>
              <a:t>Resistant </a:t>
            </a:r>
            <a:r>
              <a:rPr lang="en-US" sz="2400" spc="-15" dirty="0">
                <a:latin typeface="Cambria"/>
                <a:cs typeface="Cambria"/>
              </a:rPr>
              <a:t>to </a:t>
            </a:r>
            <a:r>
              <a:rPr lang="en-US" sz="2400" spc="-25" dirty="0">
                <a:latin typeface="Cambria"/>
                <a:cs typeface="Cambria"/>
              </a:rPr>
              <a:t>Temperature </a:t>
            </a:r>
            <a:r>
              <a:rPr lang="en-US" sz="2400" spc="-15" dirty="0">
                <a:latin typeface="Cambria"/>
                <a:cs typeface="Cambria"/>
              </a:rPr>
              <a:t>Variations</a:t>
            </a:r>
            <a:r>
              <a:rPr lang="en-US" sz="2400" spc="-25" dirty="0">
                <a:latin typeface="Cambria"/>
                <a:cs typeface="Cambria"/>
              </a:rPr>
              <a:t> </a:t>
            </a:r>
            <a:r>
              <a:rPr lang="en-US" sz="2400" spc="-5" dirty="0">
                <a:latin typeface="Cambria"/>
                <a:cs typeface="Cambria"/>
              </a:rPr>
              <a:t>etc.</a:t>
            </a:r>
            <a:endParaRPr lang="en-US" sz="2400" dirty="0">
              <a:latin typeface="Cambria"/>
              <a:cs typeface="Cambria"/>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49</a:t>
            </a:fld>
            <a:endParaRPr lang="en-US"/>
          </a:p>
        </p:txBody>
      </p:sp>
    </p:spTree>
    <p:extLst>
      <p:ext uri="{BB962C8B-B14F-4D97-AF65-F5344CB8AC3E}">
        <p14:creationId xmlns:p14="http://schemas.microsoft.com/office/powerpoint/2010/main" val="12240686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410" y="492125"/>
            <a:ext cx="11063590" cy="800100"/>
          </a:xfrm>
        </p:spPr>
        <p:txBody>
          <a:bodyPr>
            <a:normAutofit fontScale="90000"/>
          </a:bodyPr>
          <a:lstStyle/>
          <a:p>
            <a:r>
              <a:rPr lang="en-US" sz="4400" b="1" spc="-15" dirty="0">
                <a:latin typeface="Cambria" panose="02040503050406030204" pitchFamily="18" charset="0"/>
                <a:ea typeface="Cambria" panose="02040503050406030204" pitchFamily="18" charset="0"/>
              </a:rPr>
              <a:t>Disadvantages </a:t>
            </a:r>
            <a:r>
              <a:rPr lang="en-US" sz="4400" b="1" spc="-5" dirty="0">
                <a:latin typeface="Cambria" panose="02040503050406030204" pitchFamily="18" charset="0"/>
                <a:ea typeface="Cambria" panose="02040503050406030204" pitchFamily="18" charset="0"/>
              </a:rPr>
              <a:t>of optical </a:t>
            </a:r>
            <a:r>
              <a:rPr lang="en-US" sz="4400" b="1" spc="-10" dirty="0">
                <a:latin typeface="Cambria" panose="02040503050406030204" pitchFamily="18" charset="0"/>
                <a:ea typeface="Cambria" panose="02040503050406030204" pitchFamily="18" charset="0"/>
              </a:rPr>
              <a:t>fiber </a:t>
            </a:r>
            <a:r>
              <a:rPr lang="en-US" sz="4400" b="1" spc="-5" dirty="0">
                <a:latin typeface="Cambria" panose="02040503050406030204" pitchFamily="18" charset="0"/>
                <a:ea typeface="Cambria" panose="02040503050406030204" pitchFamily="18" charset="0"/>
              </a:rPr>
              <a:t>communication</a:t>
            </a:r>
            <a:endParaRPr lang="en-US" sz="4400" b="1" dirty="0">
              <a:latin typeface="Cambria" panose="02040503050406030204" pitchFamily="18" charset="0"/>
              <a:ea typeface="Cambria" panose="02040503050406030204" pitchFamily="18" charset="0"/>
            </a:endParaRPr>
          </a:p>
        </p:txBody>
      </p:sp>
      <p:sp>
        <p:nvSpPr>
          <p:cNvPr id="4" name="Text Placeholder 3"/>
          <p:cNvSpPr>
            <a:spLocks noGrp="1"/>
          </p:cNvSpPr>
          <p:nvPr>
            <p:ph type="body" sz="half" idx="2"/>
          </p:nvPr>
        </p:nvSpPr>
        <p:spPr>
          <a:xfrm>
            <a:off x="719847" y="1556426"/>
            <a:ext cx="10633953" cy="4799924"/>
          </a:xfrm>
        </p:spPr>
        <p:txBody>
          <a:bodyPr/>
          <a:lstStyle/>
          <a:p>
            <a:pPr marL="287020" indent="-274955">
              <a:lnSpc>
                <a:spcPct val="100000"/>
              </a:lnSpc>
              <a:spcBef>
                <a:spcPts val="770"/>
              </a:spcBef>
              <a:buClr>
                <a:srgbClr val="0AD0D9"/>
              </a:buClr>
              <a:buSzPct val="94642"/>
              <a:buFont typeface="Wingdings 2"/>
              <a:buChar char=""/>
              <a:tabLst>
                <a:tab pos="287655" algn="l"/>
              </a:tabLst>
            </a:pPr>
            <a:r>
              <a:rPr lang="en-US" sz="2400" spc="-5" dirty="0">
                <a:latin typeface="Cambria"/>
                <a:cs typeface="Cambria"/>
              </a:rPr>
              <a:t>Specialist skills</a:t>
            </a:r>
            <a:r>
              <a:rPr lang="en-US" sz="2400" spc="-15" dirty="0">
                <a:latin typeface="Cambria"/>
                <a:cs typeface="Cambria"/>
              </a:rPr>
              <a:t> </a:t>
            </a:r>
            <a:r>
              <a:rPr lang="en-US" sz="2400" spc="-10" dirty="0">
                <a:latin typeface="Cambria"/>
                <a:cs typeface="Cambria"/>
              </a:rPr>
              <a:t>needed</a:t>
            </a:r>
            <a:endParaRPr lang="en-US" sz="2400" dirty="0">
              <a:latin typeface="Cambria"/>
              <a:cs typeface="Cambria"/>
            </a:endParaRPr>
          </a:p>
          <a:p>
            <a:pPr marL="287020" indent="-274955">
              <a:lnSpc>
                <a:spcPct val="100000"/>
              </a:lnSpc>
              <a:spcBef>
                <a:spcPts val="675"/>
              </a:spcBef>
              <a:buClr>
                <a:srgbClr val="0AD0D9"/>
              </a:buClr>
              <a:buSzPct val="94642"/>
              <a:buFont typeface="Wingdings 2"/>
              <a:buChar char=""/>
              <a:tabLst>
                <a:tab pos="287655" algn="l"/>
              </a:tabLst>
            </a:pPr>
            <a:r>
              <a:rPr lang="en-US" sz="2400" spc="-5" dirty="0">
                <a:latin typeface="Cambria"/>
                <a:cs typeface="Cambria"/>
              </a:rPr>
              <a:t>Cost of</a:t>
            </a:r>
            <a:r>
              <a:rPr lang="en-US" sz="2400" spc="-10" dirty="0">
                <a:latin typeface="Cambria"/>
                <a:cs typeface="Cambria"/>
              </a:rPr>
              <a:t> </a:t>
            </a:r>
            <a:r>
              <a:rPr lang="en-US" sz="2400" spc="-5" dirty="0">
                <a:latin typeface="Cambria"/>
                <a:cs typeface="Cambria"/>
              </a:rPr>
              <a:t>installation</a:t>
            </a:r>
            <a:endParaRPr lang="en-US" sz="2400" dirty="0">
              <a:latin typeface="Cambria"/>
              <a:cs typeface="Cambria"/>
            </a:endParaRPr>
          </a:p>
          <a:p>
            <a:pPr marL="287020" marR="5080" indent="-274955">
              <a:lnSpc>
                <a:spcPct val="100000"/>
              </a:lnSpc>
              <a:spcBef>
                <a:spcPts val="670"/>
              </a:spcBef>
              <a:buClr>
                <a:srgbClr val="0AD0D9"/>
              </a:buClr>
              <a:buSzPct val="94642"/>
              <a:buFont typeface="Wingdings 2"/>
              <a:buChar char=""/>
              <a:tabLst>
                <a:tab pos="287655" algn="l"/>
                <a:tab pos="1498600" algn="l"/>
                <a:tab pos="3596004" algn="l"/>
              </a:tabLst>
            </a:pPr>
            <a:r>
              <a:rPr lang="en-US" sz="2400" spc="-5" dirty="0">
                <a:latin typeface="Cambria"/>
                <a:cs typeface="Cambria"/>
              </a:rPr>
              <a:t>Cost</a:t>
            </a:r>
            <a:r>
              <a:rPr lang="en-US" sz="2400" spc="395" dirty="0">
                <a:latin typeface="Cambria"/>
                <a:cs typeface="Cambria"/>
              </a:rPr>
              <a:t> </a:t>
            </a:r>
            <a:r>
              <a:rPr lang="en-US" sz="2400" spc="-5" dirty="0">
                <a:latin typeface="Cambria"/>
                <a:cs typeface="Cambria"/>
              </a:rPr>
              <a:t>of </a:t>
            </a:r>
            <a:r>
              <a:rPr lang="en-US" sz="2400" spc="-10" dirty="0">
                <a:latin typeface="Cambria"/>
                <a:cs typeface="Cambria"/>
              </a:rPr>
              <a:t>transmission </a:t>
            </a:r>
            <a:r>
              <a:rPr lang="en-US" sz="2400" spc="-5" dirty="0">
                <a:latin typeface="Cambria"/>
                <a:cs typeface="Cambria"/>
              </a:rPr>
              <a:t>equipment </a:t>
            </a:r>
            <a:r>
              <a:rPr lang="en-US" sz="2400" spc="-10" dirty="0">
                <a:latin typeface="Cambria"/>
                <a:cs typeface="Cambria"/>
              </a:rPr>
              <a:t>from </a:t>
            </a:r>
            <a:r>
              <a:rPr lang="en-US" sz="2400" spc="-5" dirty="0">
                <a:latin typeface="Cambria"/>
                <a:cs typeface="Cambria"/>
              </a:rPr>
              <a:t>electrical </a:t>
            </a:r>
            <a:r>
              <a:rPr lang="en-US" sz="2400" spc="-30" dirty="0">
                <a:latin typeface="Cambria"/>
                <a:cs typeface="Cambria"/>
              </a:rPr>
              <a:t>to  </a:t>
            </a:r>
            <a:r>
              <a:rPr lang="en-US" sz="2400" spc="-5" dirty="0">
                <a:latin typeface="Cambria"/>
                <a:cs typeface="Cambria"/>
              </a:rPr>
              <a:t>optical signals</a:t>
            </a:r>
            <a:endParaRPr lang="en-US" sz="2400" dirty="0">
              <a:latin typeface="Cambria"/>
              <a:cs typeface="Cambria"/>
            </a:endParaRPr>
          </a:p>
          <a:p>
            <a:pPr marL="287020" indent="-274955">
              <a:lnSpc>
                <a:spcPct val="100000"/>
              </a:lnSpc>
              <a:spcBef>
                <a:spcPts val="675"/>
              </a:spcBef>
              <a:buClr>
                <a:srgbClr val="0AD0D9"/>
              </a:buClr>
              <a:buSzPct val="94642"/>
              <a:buFont typeface="Wingdings 2"/>
              <a:buChar char=""/>
              <a:tabLst>
                <a:tab pos="287655" algn="l"/>
              </a:tabLst>
            </a:pPr>
            <a:r>
              <a:rPr lang="en-US" sz="2400" spc="-5" dirty="0">
                <a:latin typeface="Cambria"/>
                <a:cs typeface="Cambria"/>
              </a:rPr>
              <a:t>Optical </a:t>
            </a:r>
            <a:r>
              <a:rPr lang="en-US" sz="2400" dirty="0">
                <a:latin typeface="Cambria"/>
                <a:cs typeface="Cambria"/>
              </a:rPr>
              <a:t>fibers </a:t>
            </a:r>
            <a:r>
              <a:rPr lang="en-US" sz="2400" spc="-5" dirty="0">
                <a:latin typeface="Cambria"/>
                <a:cs typeface="Cambria"/>
              </a:rPr>
              <a:t>can </a:t>
            </a:r>
            <a:r>
              <a:rPr lang="en-US" sz="2400" spc="-10" dirty="0">
                <a:latin typeface="Cambria"/>
                <a:cs typeface="Cambria"/>
              </a:rPr>
              <a:t>not </a:t>
            </a:r>
            <a:r>
              <a:rPr lang="en-US" sz="2400" spc="-5" dirty="0">
                <a:latin typeface="Cambria"/>
                <a:cs typeface="Cambria"/>
              </a:rPr>
              <a:t>carry electrical</a:t>
            </a:r>
            <a:r>
              <a:rPr lang="en-US" sz="2400" spc="20" dirty="0">
                <a:latin typeface="Cambria"/>
                <a:cs typeface="Cambria"/>
              </a:rPr>
              <a:t> </a:t>
            </a:r>
            <a:r>
              <a:rPr lang="en-US" sz="2400" spc="-15" dirty="0">
                <a:latin typeface="Cambria"/>
                <a:cs typeface="Cambria"/>
              </a:rPr>
              <a:t>power</a:t>
            </a:r>
            <a:endParaRPr lang="en-US" sz="2400" dirty="0">
              <a:latin typeface="Cambria"/>
              <a:cs typeface="Cambria"/>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50</a:t>
            </a:fld>
            <a:endParaRPr lang="en-US"/>
          </a:p>
        </p:txBody>
      </p:sp>
    </p:spTree>
    <p:extLst>
      <p:ext uri="{BB962C8B-B14F-4D97-AF65-F5344CB8AC3E}">
        <p14:creationId xmlns:p14="http://schemas.microsoft.com/office/powerpoint/2010/main" val="16254376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6603" y="-1"/>
            <a:ext cx="7934179" cy="1284051"/>
          </a:xfrm>
        </p:spPr>
        <p:txBody>
          <a:bodyPr>
            <a:noAutofit/>
          </a:bodyPr>
          <a:lstStyle/>
          <a:p>
            <a:r>
              <a:rPr lang="en-US" sz="4400" b="1" spc="-10" dirty="0">
                <a:latin typeface="Cambria" panose="02040503050406030204" pitchFamily="18" charset="0"/>
                <a:ea typeface="Cambria" panose="02040503050406030204" pitchFamily="18" charset="0"/>
              </a:rPr>
              <a:t>Applications </a:t>
            </a:r>
            <a:r>
              <a:rPr lang="en-US" sz="4400" b="1" dirty="0">
                <a:latin typeface="Cambria" panose="02040503050406030204" pitchFamily="18" charset="0"/>
                <a:ea typeface="Cambria" panose="02040503050406030204" pitchFamily="18" charset="0"/>
              </a:rPr>
              <a:t>of </a:t>
            </a:r>
            <a:r>
              <a:rPr lang="en-US" sz="4400" b="1" spc="-5" dirty="0">
                <a:latin typeface="Cambria" panose="02040503050406030204" pitchFamily="18" charset="0"/>
                <a:ea typeface="Cambria" panose="02040503050406030204" pitchFamily="18" charset="0"/>
              </a:rPr>
              <a:t>optical fiber</a:t>
            </a:r>
            <a:r>
              <a:rPr lang="en-US" sz="4400" b="1" spc="-15" dirty="0">
                <a:latin typeface="Cambria" panose="02040503050406030204" pitchFamily="18" charset="0"/>
                <a:ea typeface="Cambria" panose="02040503050406030204" pitchFamily="18" charset="0"/>
              </a:rPr>
              <a:t>  </a:t>
            </a:r>
            <a:r>
              <a:rPr lang="en-US" sz="4400" b="1" spc="-10" dirty="0">
                <a:latin typeface="Cambria" panose="02040503050406030204" pitchFamily="18" charset="0"/>
                <a:ea typeface="Cambria" panose="02040503050406030204" pitchFamily="18" charset="0"/>
              </a:rPr>
              <a:t>communication</a:t>
            </a:r>
            <a:endParaRPr lang="en-US" sz="4400" b="1" dirty="0">
              <a:latin typeface="Cambria" panose="02040503050406030204" pitchFamily="18" charset="0"/>
              <a:ea typeface="Cambria" panose="02040503050406030204" pitchFamily="18" charset="0"/>
            </a:endParaRPr>
          </a:p>
        </p:txBody>
      </p:sp>
      <p:sp>
        <p:nvSpPr>
          <p:cNvPr id="4" name="Text Placeholder 3"/>
          <p:cNvSpPr>
            <a:spLocks noGrp="1"/>
          </p:cNvSpPr>
          <p:nvPr>
            <p:ph type="body" sz="half" idx="2"/>
          </p:nvPr>
        </p:nvSpPr>
        <p:spPr>
          <a:xfrm>
            <a:off x="175098" y="1284051"/>
            <a:ext cx="11634281" cy="5719863"/>
          </a:xfrm>
        </p:spPr>
        <p:txBody>
          <a:bodyPr>
            <a:normAutofit/>
          </a:bodyPr>
          <a:lstStyle/>
          <a:p>
            <a:pPr marL="287020" indent="-274320">
              <a:lnSpc>
                <a:spcPct val="100000"/>
              </a:lnSpc>
              <a:spcBef>
                <a:spcPts val="100"/>
              </a:spcBef>
              <a:buClr>
                <a:srgbClr val="0AD0D9"/>
              </a:buClr>
              <a:buSzPct val="94444"/>
              <a:buFont typeface="Wingdings"/>
              <a:buChar char=""/>
              <a:tabLst>
                <a:tab pos="287020" algn="l"/>
              </a:tabLst>
            </a:pPr>
            <a:r>
              <a:rPr lang="en-US" sz="2400" spc="-5" dirty="0">
                <a:latin typeface="Cambria"/>
                <a:cs typeface="Cambria"/>
              </a:rPr>
              <a:t>As fibers </a:t>
            </a:r>
            <a:r>
              <a:rPr lang="en-US" sz="2400" spc="-15" dirty="0">
                <a:latin typeface="Cambria"/>
                <a:cs typeface="Cambria"/>
              </a:rPr>
              <a:t>are </a:t>
            </a:r>
            <a:r>
              <a:rPr lang="en-US" sz="2400" spc="-10" dirty="0">
                <a:latin typeface="Cambria"/>
                <a:cs typeface="Cambria"/>
              </a:rPr>
              <a:t>very </a:t>
            </a:r>
            <a:r>
              <a:rPr lang="en-US" sz="2400" spc="-5" dirty="0">
                <a:latin typeface="Cambria"/>
                <a:cs typeface="Cambria"/>
              </a:rPr>
              <a:t>flexible, they </a:t>
            </a:r>
            <a:r>
              <a:rPr lang="en-US" sz="2400" spc="-15" dirty="0">
                <a:latin typeface="Cambria"/>
                <a:cs typeface="Cambria"/>
              </a:rPr>
              <a:t>are </a:t>
            </a:r>
            <a:r>
              <a:rPr lang="en-US" sz="2400" spc="-5" dirty="0">
                <a:latin typeface="Cambria"/>
                <a:cs typeface="Cambria"/>
              </a:rPr>
              <a:t>used </a:t>
            </a:r>
            <a:r>
              <a:rPr lang="en-US" sz="2400" dirty="0">
                <a:latin typeface="Cambria"/>
                <a:cs typeface="Cambria"/>
              </a:rPr>
              <a:t>in </a:t>
            </a:r>
            <a:r>
              <a:rPr lang="en-US" sz="2400" spc="-5" dirty="0">
                <a:latin typeface="Cambria"/>
                <a:cs typeface="Cambria"/>
              </a:rPr>
              <a:t>flexible </a:t>
            </a:r>
            <a:r>
              <a:rPr lang="en-US" sz="2400" dirty="0">
                <a:latin typeface="Cambria"/>
                <a:cs typeface="Cambria"/>
              </a:rPr>
              <a:t>digital</a:t>
            </a:r>
            <a:r>
              <a:rPr lang="en-US" sz="2400" spc="114" dirty="0">
                <a:latin typeface="Cambria"/>
                <a:cs typeface="Cambria"/>
              </a:rPr>
              <a:t> </a:t>
            </a:r>
            <a:r>
              <a:rPr lang="en-US" sz="2400" spc="-10" dirty="0">
                <a:latin typeface="Cambria"/>
                <a:cs typeface="Cambria"/>
              </a:rPr>
              <a:t>cameras.</a:t>
            </a:r>
            <a:endParaRPr lang="en-US" sz="2400" dirty="0">
              <a:latin typeface="Cambria"/>
              <a:cs typeface="Cambria"/>
            </a:endParaRPr>
          </a:p>
          <a:p>
            <a:pPr>
              <a:lnSpc>
                <a:spcPct val="100000"/>
              </a:lnSpc>
              <a:spcBef>
                <a:spcPts val="5"/>
              </a:spcBef>
              <a:buClr>
                <a:srgbClr val="0AD0D9"/>
              </a:buClr>
              <a:buFont typeface="Wingdings"/>
              <a:buChar char=""/>
            </a:pPr>
            <a:endParaRPr lang="en-US" sz="2400" dirty="0">
              <a:latin typeface="Cambria"/>
              <a:cs typeface="Cambria"/>
            </a:endParaRPr>
          </a:p>
          <a:p>
            <a:pPr marL="287020" indent="-274320">
              <a:lnSpc>
                <a:spcPct val="100000"/>
              </a:lnSpc>
              <a:spcBef>
                <a:spcPts val="5"/>
              </a:spcBef>
              <a:buClr>
                <a:srgbClr val="0AD0D9"/>
              </a:buClr>
              <a:buSzPct val="94444"/>
              <a:buFont typeface="Wingdings"/>
              <a:buChar char=""/>
              <a:tabLst>
                <a:tab pos="287020" algn="l"/>
              </a:tabLst>
            </a:pPr>
            <a:r>
              <a:rPr lang="en-US" sz="2400" spc="-5" dirty="0">
                <a:latin typeface="Cambria"/>
                <a:cs typeface="Cambria"/>
              </a:rPr>
              <a:t>Fibers </a:t>
            </a:r>
            <a:r>
              <a:rPr lang="en-US" sz="2400" spc="-15" dirty="0">
                <a:latin typeface="Cambria"/>
                <a:cs typeface="Cambria"/>
              </a:rPr>
              <a:t>are </a:t>
            </a:r>
            <a:r>
              <a:rPr lang="en-US" sz="2400" dirty="0">
                <a:latin typeface="Cambria"/>
                <a:cs typeface="Cambria"/>
              </a:rPr>
              <a:t>used in </a:t>
            </a:r>
            <a:r>
              <a:rPr lang="en-US" sz="2400" spc="-5" dirty="0">
                <a:latin typeface="Cambria"/>
                <a:cs typeface="Cambria"/>
              </a:rPr>
              <a:t>mechanical imaging i.e. </a:t>
            </a:r>
            <a:r>
              <a:rPr lang="en-US" sz="2400" spc="-15" dirty="0">
                <a:latin typeface="Cambria"/>
                <a:cs typeface="Cambria"/>
              </a:rPr>
              <a:t>for </a:t>
            </a:r>
            <a:r>
              <a:rPr lang="en-US" sz="2400" spc="-5" dirty="0">
                <a:latin typeface="Cambria"/>
                <a:cs typeface="Cambria"/>
              </a:rPr>
              <a:t>inspection </a:t>
            </a:r>
            <a:r>
              <a:rPr lang="en-US" sz="2400" dirty="0">
                <a:latin typeface="Cambria"/>
                <a:cs typeface="Cambria"/>
              </a:rPr>
              <a:t>of </a:t>
            </a:r>
            <a:r>
              <a:rPr lang="en-US" sz="2400" spc="-5" dirty="0">
                <a:latin typeface="Cambria"/>
                <a:cs typeface="Cambria"/>
              </a:rPr>
              <a:t>mechanical welds</a:t>
            </a:r>
            <a:r>
              <a:rPr lang="en-US" sz="2400" spc="-110" dirty="0">
                <a:latin typeface="Cambria"/>
                <a:cs typeface="Cambria"/>
              </a:rPr>
              <a:t> </a:t>
            </a:r>
            <a:r>
              <a:rPr lang="en-US" sz="2400" dirty="0">
                <a:latin typeface="Cambria"/>
                <a:cs typeface="Cambria"/>
              </a:rPr>
              <a:t>in</a:t>
            </a:r>
          </a:p>
          <a:p>
            <a:pPr marL="286385">
              <a:lnSpc>
                <a:spcPct val="100000"/>
              </a:lnSpc>
              <a:spcBef>
                <a:spcPts val="1515"/>
              </a:spcBef>
            </a:pPr>
            <a:r>
              <a:rPr lang="en-US" sz="2400" spc="-5" dirty="0">
                <a:latin typeface="Cambria"/>
                <a:cs typeface="Cambria"/>
              </a:rPr>
              <a:t>pipes and </a:t>
            </a:r>
            <a:r>
              <a:rPr lang="en-US" sz="2400" dirty="0">
                <a:latin typeface="Cambria"/>
                <a:cs typeface="Cambria"/>
              </a:rPr>
              <a:t>engines of </a:t>
            </a:r>
            <a:r>
              <a:rPr lang="en-US" sz="2400" spc="-10" dirty="0">
                <a:latin typeface="Cambria"/>
                <a:cs typeface="Cambria"/>
              </a:rPr>
              <a:t>rockets, </a:t>
            </a:r>
            <a:r>
              <a:rPr lang="en-US" sz="2400" spc="-5" dirty="0">
                <a:latin typeface="Cambria"/>
                <a:cs typeface="Cambria"/>
              </a:rPr>
              <a:t>space shuttles,</a:t>
            </a:r>
            <a:r>
              <a:rPr lang="en-US" sz="2400" spc="15" dirty="0">
                <a:latin typeface="Cambria"/>
                <a:cs typeface="Cambria"/>
              </a:rPr>
              <a:t> </a:t>
            </a:r>
            <a:r>
              <a:rPr lang="en-US" sz="2400" spc="-5" dirty="0">
                <a:latin typeface="Cambria"/>
                <a:cs typeface="Cambria"/>
              </a:rPr>
              <a:t>airplanes.</a:t>
            </a:r>
            <a:endParaRPr lang="en-US" sz="2400" dirty="0">
              <a:latin typeface="Cambria"/>
              <a:cs typeface="Cambria"/>
            </a:endParaRPr>
          </a:p>
          <a:p>
            <a:pPr>
              <a:lnSpc>
                <a:spcPct val="100000"/>
              </a:lnSpc>
              <a:spcBef>
                <a:spcPts val="5"/>
              </a:spcBef>
            </a:pPr>
            <a:endParaRPr lang="en-US" sz="2400" dirty="0">
              <a:latin typeface="Cambria"/>
              <a:cs typeface="Cambria"/>
            </a:endParaRPr>
          </a:p>
          <a:p>
            <a:pPr marL="287020" indent="-274320">
              <a:lnSpc>
                <a:spcPct val="100000"/>
              </a:lnSpc>
              <a:spcBef>
                <a:spcPts val="5"/>
              </a:spcBef>
              <a:buClr>
                <a:srgbClr val="0AD0D9"/>
              </a:buClr>
              <a:buSzPct val="94444"/>
              <a:buFont typeface="Wingdings"/>
              <a:buChar char=""/>
              <a:tabLst>
                <a:tab pos="287020" algn="l"/>
              </a:tabLst>
            </a:pPr>
            <a:r>
              <a:rPr lang="en-US" sz="2400" dirty="0">
                <a:latin typeface="Cambria"/>
                <a:cs typeface="Cambria"/>
              </a:rPr>
              <a:t>Fibers </a:t>
            </a:r>
            <a:r>
              <a:rPr lang="en-US" sz="2400" spc="-15" dirty="0">
                <a:latin typeface="Cambria"/>
                <a:cs typeface="Cambria"/>
              </a:rPr>
              <a:t>are </a:t>
            </a:r>
            <a:r>
              <a:rPr lang="en-US" sz="2400" spc="-5" dirty="0">
                <a:latin typeface="Cambria"/>
                <a:cs typeface="Cambria"/>
              </a:rPr>
              <a:t>used </a:t>
            </a:r>
            <a:r>
              <a:rPr lang="en-US" sz="2400" dirty="0">
                <a:latin typeface="Cambria"/>
                <a:cs typeface="Cambria"/>
              </a:rPr>
              <a:t>in </a:t>
            </a:r>
            <a:r>
              <a:rPr lang="en-US" sz="2400" spc="-5" dirty="0">
                <a:latin typeface="Cambria"/>
                <a:cs typeface="Cambria"/>
              </a:rPr>
              <a:t>medical imaging such as endoscopes and</a:t>
            </a:r>
            <a:r>
              <a:rPr lang="en-US" sz="2400" spc="15" dirty="0">
                <a:latin typeface="Cambria"/>
                <a:cs typeface="Cambria"/>
              </a:rPr>
              <a:t> </a:t>
            </a:r>
            <a:r>
              <a:rPr lang="en-US" sz="2400" spc="-5" dirty="0">
                <a:latin typeface="Cambria"/>
                <a:cs typeface="Cambria"/>
              </a:rPr>
              <a:t>laparoscopes.</a:t>
            </a:r>
            <a:endParaRPr lang="en-US" sz="2400" dirty="0">
              <a:latin typeface="Cambria"/>
              <a:cs typeface="Cambria"/>
            </a:endParaRPr>
          </a:p>
          <a:p>
            <a:pPr>
              <a:lnSpc>
                <a:spcPct val="100000"/>
              </a:lnSpc>
              <a:spcBef>
                <a:spcPts val="5"/>
              </a:spcBef>
              <a:buClr>
                <a:srgbClr val="0AD0D9"/>
              </a:buClr>
              <a:buFont typeface="Wingdings"/>
              <a:buChar char=""/>
            </a:pPr>
            <a:endParaRPr lang="en-US" sz="2400" dirty="0">
              <a:latin typeface="Cambria"/>
              <a:cs typeface="Cambria"/>
            </a:endParaRPr>
          </a:p>
          <a:p>
            <a:pPr marL="287020" indent="-274320">
              <a:lnSpc>
                <a:spcPct val="100000"/>
              </a:lnSpc>
              <a:buClr>
                <a:srgbClr val="0AD0D9"/>
              </a:buClr>
              <a:buSzPct val="94444"/>
              <a:buFont typeface="Wingdings"/>
              <a:buChar char=""/>
              <a:tabLst>
                <a:tab pos="287020" algn="l"/>
              </a:tabLst>
            </a:pPr>
            <a:r>
              <a:rPr lang="en-US" sz="2400" spc="-5" dirty="0">
                <a:latin typeface="Cambria"/>
                <a:cs typeface="Cambria"/>
              </a:rPr>
              <a:t>Fibers can be used </a:t>
            </a:r>
            <a:r>
              <a:rPr lang="en-US" sz="2400" dirty="0">
                <a:latin typeface="Cambria"/>
                <a:cs typeface="Cambria"/>
              </a:rPr>
              <a:t>under </a:t>
            </a:r>
            <a:r>
              <a:rPr lang="en-US" sz="2400" spc="-5" dirty="0">
                <a:latin typeface="Cambria"/>
                <a:cs typeface="Cambria"/>
              </a:rPr>
              <a:t>sea</a:t>
            </a:r>
            <a:r>
              <a:rPr lang="en-US" sz="2400" spc="10" dirty="0">
                <a:latin typeface="Cambria"/>
                <a:cs typeface="Cambria"/>
              </a:rPr>
              <a:t> </a:t>
            </a:r>
            <a:r>
              <a:rPr lang="en-US" sz="2400" dirty="0">
                <a:latin typeface="Cambria"/>
                <a:cs typeface="Cambria"/>
              </a:rPr>
              <a:t>communication.</a:t>
            </a:r>
          </a:p>
          <a:p>
            <a:pPr>
              <a:lnSpc>
                <a:spcPct val="100000"/>
              </a:lnSpc>
              <a:spcBef>
                <a:spcPts val="15"/>
              </a:spcBef>
              <a:buClr>
                <a:srgbClr val="0AD0D9"/>
              </a:buClr>
              <a:buFont typeface="Wingdings"/>
              <a:buChar char=""/>
            </a:pPr>
            <a:endParaRPr lang="en-US" sz="2400" dirty="0">
              <a:latin typeface="Cambria"/>
              <a:cs typeface="Cambria"/>
            </a:endParaRPr>
          </a:p>
          <a:p>
            <a:pPr marL="287020" indent="-274320">
              <a:lnSpc>
                <a:spcPct val="100000"/>
              </a:lnSpc>
              <a:buClr>
                <a:srgbClr val="0AD0D9"/>
              </a:buClr>
              <a:buSzPct val="94444"/>
              <a:buFont typeface="Wingdings"/>
              <a:buChar char=""/>
              <a:tabLst>
                <a:tab pos="287020" algn="l"/>
              </a:tabLst>
            </a:pPr>
            <a:r>
              <a:rPr lang="en-US" sz="2400" dirty="0">
                <a:latin typeface="Cambria"/>
                <a:cs typeface="Cambria"/>
              </a:rPr>
              <a:t>Fibers </a:t>
            </a:r>
            <a:r>
              <a:rPr lang="en-US" sz="2400" spc="-15" dirty="0">
                <a:latin typeface="Cambria"/>
                <a:cs typeface="Cambria"/>
              </a:rPr>
              <a:t>are </a:t>
            </a:r>
            <a:r>
              <a:rPr lang="en-US" sz="2400" spc="-5" dirty="0">
                <a:latin typeface="Cambria"/>
                <a:cs typeface="Cambria"/>
              </a:rPr>
              <a:t>used </a:t>
            </a:r>
            <a:r>
              <a:rPr lang="en-US" sz="2400" dirty="0">
                <a:latin typeface="Cambria"/>
                <a:cs typeface="Cambria"/>
              </a:rPr>
              <a:t>in </a:t>
            </a:r>
            <a:r>
              <a:rPr lang="en-US" sz="2400" spc="-5" dirty="0">
                <a:latin typeface="Cambria"/>
                <a:cs typeface="Cambria"/>
              </a:rPr>
              <a:t>military applications such as </a:t>
            </a:r>
            <a:r>
              <a:rPr lang="en-US" sz="2400" spc="-10" dirty="0">
                <a:latin typeface="Cambria"/>
                <a:cs typeface="Cambria"/>
              </a:rPr>
              <a:t>aircrafts, </a:t>
            </a:r>
            <a:r>
              <a:rPr lang="en-US" sz="2400" spc="-5" dirty="0">
                <a:latin typeface="Cambria"/>
                <a:cs typeface="Cambria"/>
              </a:rPr>
              <a:t>ships, tanks</a:t>
            </a:r>
            <a:r>
              <a:rPr lang="en-US" sz="2400" spc="85" dirty="0">
                <a:latin typeface="Cambria"/>
                <a:cs typeface="Cambria"/>
              </a:rPr>
              <a:t> </a:t>
            </a:r>
            <a:r>
              <a:rPr lang="en-US" sz="2400" spc="-5" dirty="0">
                <a:latin typeface="Cambria"/>
                <a:cs typeface="Cambria"/>
              </a:rPr>
              <a:t>etc.</a:t>
            </a:r>
            <a:endParaRPr lang="en-US" sz="2400" dirty="0">
              <a:latin typeface="Cambria"/>
              <a:cs typeface="Cambria"/>
            </a:endParaRPr>
          </a:p>
          <a:p>
            <a:pPr>
              <a:lnSpc>
                <a:spcPct val="100000"/>
              </a:lnSpc>
              <a:spcBef>
                <a:spcPts val="10"/>
              </a:spcBef>
              <a:buClr>
                <a:srgbClr val="0AD0D9"/>
              </a:buClr>
              <a:buFont typeface="Wingdings"/>
              <a:buChar char=""/>
            </a:pPr>
            <a:endParaRPr lang="en-US" dirty="0">
              <a:latin typeface="Cambria"/>
              <a:cs typeface="Cambria"/>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51</a:t>
            </a:fld>
            <a:endParaRPr lang="en-US"/>
          </a:p>
        </p:txBody>
      </p:sp>
    </p:spTree>
    <p:extLst>
      <p:ext uri="{BB962C8B-B14F-4D97-AF65-F5344CB8AC3E}">
        <p14:creationId xmlns:p14="http://schemas.microsoft.com/office/powerpoint/2010/main" val="25713662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89984" y="831714"/>
            <a:ext cx="9490986" cy="5296711"/>
          </a:xfrm>
        </p:spPr>
        <p:txBody>
          <a:bodyPr>
            <a:normAutofit/>
          </a:bodyPr>
          <a:lstStyle/>
          <a:p>
            <a:pPr marL="287020" indent="-274320">
              <a:lnSpc>
                <a:spcPct val="100000"/>
              </a:lnSpc>
              <a:buClr>
                <a:srgbClr val="0AD0D9"/>
              </a:buClr>
              <a:buSzPct val="94444"/>
              <a:buFont typeface="Wingdings"/>
              <a:buChar char=""/>
              <a:tabLst>
                <a:tab pos="287020" algn="l"/>
              </a:tabLst>
            </a:pPr>
            <a:r>
              <a:rPr lang="en-US" sz="2400" dirty="0">
                <a:latin typeface="Cambria"/>
                <a:cs typeface="Cambria"/>
              </a:rPr>
              <a:t>Nuclear </a:t>
            </a:r>
            <a:r>
              <a:rPr lang="en-US" sz="2400" spc="-5" dirty="0">
                <a:latin typeface="Cambria"/>
                <a:cs typeface="Cambria"/>
              </a:rPr>
              <a:t>testing applications use </a:t>
            </a:r>
            <a:r>
              <a:rPr lang="en-US" sz="2400" dirty="0">
                <a:latin typeface="Cambria"/>
                <a:cs typeface="Cambria"/>
              </a:rPr>
              <a:t>optical fiber </a:t>
            </a:r>
            <a:r>
              <a:rPr lang="en-US" sz="2400" spc="-10" dirty="0">
                <a:latin typeface="Cambria"/>
                <a:cs typeface="Cambria"/>
              </a:rPr>
              <a:t>phase </a:t>
            </a:r>
            <a:r>
              <a:rPr lang="en-US" sz="2400" spc="-5" dirty="0">
                <a:latin typeface="Cambria"/>
                <a:cs typeface="Cambria"/>
              </a:rPr>
              <a:t>sensors and</a:t>
            </a:r>
            <a:r>
              <a:rPr lang="en-US" sz="2400" spc="5" dirty="0">
                <a:latin typeface="Cambria"/>
                <a:cs typeface="Cambria"/>
              </a:rPr>
              <a:t> </a:t>
            </a:r>
            <a:r>
              <a:rPr lang="en-US" sz="2400" spc="-10" dirty="0">
                <a:latin typeface="Cambria"/>
                <a:cs typeface="Cambria"/>
              </a:rPr>
              <a:t>transducers</a:t>
            </a:r>
            <a:endParaRPr lang="en-US" sz="2400" dirty="0">
              <a:latin typeface="Cambria"/>
              <a:cs typeface="Cambria"/>
            </a:endParaRPr>
          </a:p>
          <a:p>
            <a:pPr>
              <a:lnSpc>
                <a:spcPct val="100000"/>
              </a:lnSpc>
              <a:spcBef>
                <a:spcPts val="10"/>
              </a:spcBef>
              <a:buClr>
                <a:srgbClr val="0AD0D9"/>
              </a:buClr>
              <a:buFont typeface="Wingdings"/>
              <a:buChar char=""/>
            </a:pPr>
            <a:endParaRPr lang="en-US" sz="2400" dirty="0">
              <a:latin typeface="Cambria"/>
              <a:cs typeface="Cambria"/>
            </a:endParaRPr>
          </a:p>
          <a:p>
            <a:pPr marL="287020" indent="-274320">
              <a:lnSpc>
                <a:spcPct val="100000"/>
              </a:lnSpc>
              <a:buClr>
                <a:srgbClr val="0AD0D9"/>
              </a:buClr>
              <a:buSzPct val="94444"/>
              <a:buFont typeface="Wingdings"/>
              <a:buChar char=""/>
              <a:tabLst>
                <a:tab pos="287020" algn="l"/>
              </a:tabLst>
            </a:pPr>
            <a:r>
              <a:rPr lang="en-US" sz="2400" dirty="0">
                <a:latin typeface="Cambria"/>
                <a:cs typeface="Cambria"/>
              </a:rPr>
              <a:t>Fibers </a:t>
            </a:r>
            <a:r>
              <a:rPr lang="en-US" sz="2400" spc="-15" dirty="0">
                <a:latin typeface="Cambria"/>
                <a:cs typeface="Cambria"/>
              </a:rPr>
              <a:t>are </a:t>
            </a:r>
            <a:r>
              <a:rPr lang="en-US" sz="2400" spc="-5" dirty="0">
                <a:latin typeface="Cambria"/>
                <a:cs typeface="Cambria"/>
              </a:rPr>
              <a:t>used </a:t>
            </a:r>
            <a:r>
              <a:rPr lang="en-US" sz="2400" dirty="0">
                <a:latin typeface="Cambria"/>
                <a:cs typeface="Cambria"/>
              </a:rPr>
              <a:t>in </a:t>
            </a:r>
            <a:r>
              <a:rPr lang="en-US" sz="2400" spc="-5" dirty="0">
                <a:latin typeface="Cambria"/>
                <a:cs typeface="Cambria"/>
              </a:rPr>
              <a:t>public </a:t>
            </a:r>
            <a:r>
              <a:rPr lang="en-US" sz="2400" dirty="0">
                <a:latin typeface="Cambria"/>
                <a:cs typeface="Cambria"/>
              </a:rPr>
              <a:t>utility </a:t>
            </a:r>
            <a:r>
              <a:rPr lang="en-US" sz="2400" spc="-5" dirty="0">
                <a:latin typeface="Cambria"/>
                <a:cs typeface="Cambria"/>
              </a:rPr>
              <a:t>organizations </a:t>
            </a:r>
            <a:r>
              <a:rPr lang="en-US" sz="2400" spc="-10" dirty="0">
                <a:latin typeface="Cambria"/>
                <a:cs typeface="Cambria"/>
              </a:rPr>
              <a:t>like </a:t>
            </a:r>
            <a:r>
              <a:rPr lang="en-US" sz="2400" spc="-25" dirty="0">
                <a:latin typeface="Cambria"/>
                <a:cs typeface="Cambria"/>
              </a:rPr>
              <a:t>railways, </a:t>
            </a:r>
            <a:r>
              <a:rPr lang="en-US" sz="2400" dirty="0">
                <a:latin typeface="Cambria"/>
                <a:cs typeface="Cambria"/>
              </a:rPr>
              <a:t>TV </a:t>
            </a:r>
            <a:r>
              <a:rPr lang="en-US" sz="2400" spc="-10" dirty="0">
                <a:latin typeface="Cambria"/>
                <a:cs typeface="Cambria"/>
              </a:rPr>
              <a:t>transmission</a:t>
            </a:r>
            <a:r>
              <a:rPr lang="en-US" sz="2400" spc="110" dirty="0">
                <a:latin typeface="Cambria"/>
                <a:cs typeface="Cambria"/>
              </a:rPr>
              <a:t> </a:t>
            </a:r>
            <a:r>
              <a:rPr lang="en-US" sz="2400" spc="-5" dirty="0">
                <a:latin typeface="Cambria"/>
                <a:cs typeface="Cambria"/>
              </a:rPr>
              <a:t>etc.</a:t>
            </a:r>
            <a:endParaRPr lang="en-US" sz="2400" dirty="0">
              <a:latin typeface="Cambria"/>
              <a:cs typeface="Cambria"/>
            </a:endParaRPr>
          </a:p>
          <a:p>
            <a:pPr>
              <a:lnSpc>
                <a:spcPct val="100000"/>
              </a:lnSpc>
              <a:spcBef>
                <a:spcPts val="10"/>
              </a:spcBef>
              <a:buClr>
                <a:srgbClr val="0AD0D9"/>
              </a:buClr>
              <a:buFont typeface="Wingdings"/>
              <a:buChar char=""/>
            </a:pPr>
            <a:endParaRPr lang="en-US" sz="2400" dirty="0">
              <a:latin typeface="Cambria"/>
              <a:cs typeface="Cambria"/>
            </a:endParaRPr>
          </a:p>
          <a:p>
            <a:pPr marL="287020" indent="-274320">
              <a:lnSpc>
                <a:spcPct val="100000"/>
              </a:lnSpc>
              <a:buClr>
                <a:srgbClr val="0AD0D9"/>
              </a:buClr>
              <a:buSzPct val="94444"/>
              <a:buFont typeface="Wingdings"/>
              <a:buChar char=""/>
              <a:tabLst>
                <a:tab pos="287020" algn="l"/>
              </a:tabLst>
            </a:pPr>
            <a:r>
              <a:rPr lang="en-US" sz="2400" dirty="0">
                <a:latin typeface="Cambria"/>
                <a:cs typeface="Cambria"/>
              </a:rPr>
              <a:t>Fibers </a:t>
            </a:r>
            <a:r>
              <a:rPr lang="en-US" sz="2400" spc="-15" dirty="0">
                <a:latin typeface="Cambria"/>
                <a:cs typeface="Cambria"/>
              </a:rPr>
              <a:t>are </a:t>
            </a:r>
            <a:r>
              <a:rPr lang="en-US" sz="2400" spc="-5" dirty="0">
                <a:latin typeface="Cambria"/>
                <a:cs typeface="Cambria"/>
              </a:rPr>
              <a:t>used </a:t>
            </a:r>
            <a:r>
              <a:rPr lang="en-US" sz="2400" dirty="0">
                <a:latin typeface="Cambria"/>
                <a:cs typeface="Cambria"/>
              </a:rPr>
              <a:t>in LAN </a:t>
            </a:r>
            <a:r>
              <a:rPr lang="en-US" sz="2400" spc="-10" dirty="0">
                <a:latin typeface="Cambria"/>
                <a:cs typeface="Cambria"/>
              </a:rPr>
              <a:t>systems </a:t>
            </a:r>
            <a:r>
              <a:rPr lang="en-US" sz="2400" dirty="0">
                <a:latin typeface="Cambria"/>
                <a:cs typeface="Cambria"/>
              </a:rPr>
              <a:t>of </a:t>
            </a:r>
            <a:r>
              <a:rPr lang="en-US" sz="2400" spc="-5" dirty="0">
                <a:latin typeface="Cambria"/>
                <a:cs typeface="Cambria"/>
              </a:rPr>
              <a:t>offices, industrial plants and colleges</a:t>
            </a:r>
            <a:r>
              <a:rPr lang="en-US" sz="2400" spc="80" dirty="0">
                <a:latin typeface="Cambria"/>
                <a:cs typeface="Cambria"/>
              </a:rPr>
              <a:t> </a:t>
            </a:r>
            <a:r>
              <a:rPr lang="en-US" sz="2400" spc="-5" dirty="0">
                <a:latin typeface="Cambria"/>
                <a:cs typeface="Cambria"/>
              </a:rPr>
              <a:t>etc.</a:t>
            </a:r>
            <a:endParaRPr lang="en-US" sz="2400" dirty="0">
              <a:latin typeface="Cambria"/>
              <a:cs typeface="Cambria"/>
            </a:endParaRPr>
          </a:p>
          <a:p>
            <a:pPr marL="286385" marR="5080" indent="-274320">
              <a:lnSpc>
                <a:spcPct val="170100"/>
              </a:lnSpc>
              <a:spcBef>
                <a:spcPts val="430"/>
              </a:spcBef>
              <a:buClr>
                <a:srgbClr val="0AD0D9"/>
              </a:buClr>
              <a:buSzPct val="94444"/>
              <a:buFont typeface="Wingdings"/>
              <a:buChar char=""/>
              <a:tabLst>
                <a:tab pos="287020" algn="l"/>
              </a:tabLst>
            </a:pPr>
            <a:r>
              <a:rPr lang="en-US" sz="2400" dirty="0">
                <a:latin typeface="Cambria"/>
                <a:cs typeface="Cambria"/>
              </a:rPr>
              <a:t>Fibers </a:t>
            </a:r>
            <a:r>
              <a:rPr lang="en-US" sz="2400" spc="-15" dirty="0">
                <a:latin typeface="Cambria"/>
                <a:cs typeface="Cambria"/>
              </a:rPr>
              <a:t>are </a:t>
            </a:r>
            <a:r>
              <a:rPr lang="en-US" sz="2400" dirty="0">
                <a:latin typeface="Cambria"/>
                <a:cs typeface="Cambria"/>
              </a:rPr>
              <a:t>used in </a:t>
            </a:r>
            <a:r>
              <a:rPr lang="en-US" sz="2400" spc="-5" dirty="0">
                <a:latin typeface="Cambria"/>
                <a:cs typeface="Cambria"/>
              </a:rPr>
              <a:t>telecommunication such as </a:t>
            </a:r>
            <a:r>
              <a:rPr lang="en-US" sz="2400" spc="-10" dirty="0">
                <a:latin typeface="Cambria"/>
                <a:cs typeface="Cambria"/>
              </a:rPr>
              <a:t>voice </a:t>
            </a:r>
            <a:r>
              <a:rPr lang="en-US" sz="2400" spc="-5" dirty="0">
                <a:latin typeface="Cambria"/>
                <a:cs typeface="Cambria"/>
              </a:rPr>
              <a:t>telephones, </a:t>
            </a:r>
            <a:r>
              <a:rPr lang="en-US" sz="2400" dirty="0">
                <a:latin typeface="Cambria"/>
                <a:cs typeface="Cambria"/>
              </a:rPr>
              <a:t>video </a:t>
            </a:r>
            <a:r>
              <a:rPr lang="en-US" sz="2400" spc="-5" dirty="0">
                <a:latin typeface="Cambria"/>
                <a:cs typeface="Cambria"/>
              </a:rPr>
              <a:t>phones,  </a:t>
            </a:r>
            <a:r>
              <a:rPr lang="en-US" sz="2400" spc="-10" dirty="0">
                <a:latin typeface="Cambria"/>
                <a:cs typeface="Cambria"/>
              </a:rPr>
              <a:t>telegraph </a:t>
            </a:r>
            <a:r>
              <a:rPr lang="en-US" sz="2400" spc="-5" dirty="0">
                <a:latin typeface="Cambria"/>
                <a:cs typeface="Cambria"/>
              </a:rPr>
              <a:t>services, message services and data</a:t>
            </a:r>
            <a:r>
              <a:rPr lang="en-US" sz="2400" spc="50" dirty="0">
                <a:latin typeface="Cambria"/>
                <a:cs typeface="Cambria"/>
              </a:rPr>
              <a:t> </a:t>
            </a:r>
            <a:r>
              <a:rPr lang="en-US" sz="2400" spc="-10" dirty="0">
                <a:latin typeface="Cambria"/>
                <a:cs typeface="Cambria"/>
              </a:rPr>
              <a:t>networks.</a:t>
            </a:r>
            <a:endParaRPr lang="en-US" sz="2400" dirty="0">
              <a:latin typeface="Cambria"/>
              <a:cs typeface="Cambria"/>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52</a:t>
            </a:fld>
            <a:endParaRPr lang="en-US"/>
          </a:p>
        </p:txBody>
      </p:sp>
    </p:spTree>
    <p:extLst>
      <p:ext uri="{BB962C8B-B14F-4D97-AF65-F5344CB8AC3E}">
        <p14:creationId xmlns:p14="http://schemas.microsoft.com/office/powerpoint/2010/main" val="29627280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4450" y="457200"/>
            <a:ext cx="3457575" cy="685800"/>
          </a:xfrm>
        </p:spPr>
        <p:txBody>
          <a:bodyPr>
            <a:normAutofit/>
          </a:bodyPr>
          <a:lstStyle/>
          <a:p>
            <a:r>
              <a:rPr lang="en-US" sz="3800" b="1" dirty="0">
                <a:latin typeface="Cambria" panose="02040503050406030204" pitchFamily="18" charset="0"/>
                <a:ea typeface="Cambria" panose="02040503050406030204" pitchFamily="18" charset="0"/>
              </a:rPr>
              <a:t>Summary</a:t>
            </a:r>
          </a:p>
        </p:txBody>
      </p:sp>
      <p:sp>
        <p:nvSpPr>
          <p:cNvPr id="4" name="Text Placeholder 3"/>
          <p:cNvSpPr>
            <a:spLocks noGrp="1"/>
          </p:cNvSpPr>
          <p:nvPr>
            <p:ph type="body" sz="half" idx="2"/>
          </p:nvPr>
        </p:nvSpPr>
        <p:spPr>
          <a:xfrm>
            <a:off x="868363" y="1585912"/>
            <a:ext cx="8718550" cy="4411663"/>
          </a:xfrm>
        </p:spPr>
        <p:txBody>
          <a:bodyPr>
            <a:normAutofit/>
          </a:bodyPr>
          <a:lstStyle/>
          <a:p>
            <a:br>
              <a:rPr lang="en-US" dirty="0"/>
            </a:br>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53</a:t>
            </a:fld>
            <a:endParaRPr lang="en-US"/>
          </a:p>
        </p:txBody>
      </p:sp>
      <p:sp>
        <p:nvSpPr>
          <p:cNvPr id="3" name="TextBox 2"/>
          <p:cNvSpPr txBox="1"/>
          <p:nvPr/>
        </p:nvSpPr>
        <p:spPr>
          <a:xfrm>
            <a:off x="1571748" y="1143000"/>
            <a:ext cx="5602776" cy="5452775"/>
          </a:xfrm>
          <a:prstGeom prst="rect">
            <a:avLst/>
          </a:prstGeom>
          <a:noFill/>
        </p:spPr>
        <p:txBody>
          <a:bodyPr wrap="square" rtlCol="0">
            <a:spAutoFit/>
          </a:bodyPr>
          <a:lstStyle/>
          <a:p>
            <a:pPr marL="355600" indent="-342900">
              <a:lnSpc>
                <a:spcPct val="100000"/>
              </a:lnSpc>
              <a:spcBef>
                <a:spcPts val="310"/>
              </a:spcBef>
              <a:buClr>
                <a:srgbClr val="DD8046"/>
              </a:buClr>
              <a:buSzPct val="60000"/>
              <a:buFont typeface="Wingdings" panose="05000000000000000000" pitchFamily="2" charset="2"/>
              <a:buChar char="v"/>
              <a:tabLst>
                <a:tab pos="332105" algn="l"/>
                <a:tab pos="332740" algn="l"/>
              </a:tabLst>
            </a:pPr>
            <a:r>
              <a:rPr lang="en-US"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Brief</a:t>
            </a:r>
            <a:r>
              <a:rPr lang="en-US" sz="2400" spc="-15" dirty="0">
                <a:latin typeface="Cambria" panose="02040503050406030204" pitchFamily="18" charset="0"/>
                <a:ea typeface="Cambria" panose="02040503050406030204" pitchFamily="18" charset="0"/>
                <a:cs typeface="Arial"/>
              </a:rPr>
              <a:t> </a:t>
            </a:r>
            <a:r>
              <a:rPr lang="en-US" sz="2400" spc="-5" dirty="0">
                <a:latin typeface="Cambria" panose="02040503050406030204" pitchFamily="18" charset="0"/>
                <a:ea typeface="Cambria" panose="02040503050406030204" pitchFamily="18" charset="0"/>
                <a:cs typeface="Arial"/>
              </a:rPr>
              <a:t>Introduction</a:t>
            </a:r>
            <a:endParaRPr lang="en-US" sz="2400" dirty="0">
              <a:latin typeface="Cambria" panose="02040503050406030204" pitchFamily="18" charset="0"/>
              <a:ea typeface="Cambria" panose="02040503050406030204" pitchFamily="18" charset="0"/>
              <a:cs typeface="Arial"/>
            </a:endParaRPr>
          </a:p>
          <a:p>
            <a:pPr marL="469900" indent="-457200">
              <a:lnSpc>
                <a:spcPct val="100000"/>
              </a:lnSpc>
              <a:spcBef>
                <a:spcPts val="234"/>
              </a:spcBef>
              <a:buClr>
                <a:srgbClr val="DD8046"/>
              </a:buClr>
              <a:buSzPct val="60000"/>
              <a:buFont typeface="Wingdings" panose="05000000000000000000" pitchFamily="2" charset="2"/>
              <a:buChar char="v"/>
              <a:tabLst>
                <a:tab pos="332105" algn="l"/>
                <a:tab pos="332740" algn="l"/>
              </a:tabLst>
            </a:pPr>
            <a:r>
              <a:rPr lang="en-US" sz="2400" dirty="0">
                <a:latin typeface="Cambria" panose="02040503050406030204" pitchFamily="18" charset="0"/>
                <a:ea typeface="Cambria" panose="02040503050406030204" pitchFamily="18" charset="0"/>
                <a:cs typeface="Arial"/>
              </a:rPr>
              <a:t>Optical fiber</a:t>
            </a:r>
            <a:r>
              <a:rPr lang="en-US" sz="2400" spc="-4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construction</a:t>
            </a:r>
          </a:p>
          <a:p>
            <a:pPr marL="469900" indent="-457200">
              <a:lnSpc>
                <a:spcPct val="100000"/>
              </a:lnSpc>
              <a:spcBef>
                <a:spcPts val="215"/>
              </a:spcBef>
              <a:buClr>
                <a:srgbClr val="DD8046"/>
              </a:buClr>
              <a:buSzPct val="60000"/>
              <a:buFont typeface="Wingdings" panose="05000000000000000000" pitchFamily="2" charset="2"/>
              <a:buChar char="v"/>
              <a:tabLst>
                <a:tab pos="332105" algn="l"/>
                <a:tab pos="332740" algn="l"/>
              </a:tabLst>
            </a:pPr>
            <a:r>
              <a:rPr lang="en-US" sz="2400" dirty="0">
                <a:latin typeface="Cambria" panose="02040503050406030204" pitchFamily="18" charset="0"/>
                <a:ea typeface="Cambria" panose="02040503050406030204" pitchFamily="18" charset="0"/>
                <a:cs typeface="Arial"/>
              </a:rPr>
              <a:t>Critical angle &amp; </a:t>
            </a:r>
            <a:r>
              <a:rPr lang="en-US" sz="2400" spc="-45" dirty="0">
                <a:latin typeface="Cambria" panose="02040503050406030204" pitchFamily="18" charset="0"/>
                <a:ea typeface="Cambria" panose="02040503050406030204" pitchFamily="18" charset="0"/>
                <a:cs typeface="Arial"/>
              </a:rPr>
              <a:t>Total </a:t>
            </a:r>
            <a:r>
              <a:rPr lang="en-US" sz="2400" dirty="0">
                <a:latin typeface="Cambria" panose="02040503050406030204" pitchFamily="18" charset="0"/>
                <a:ea typeface="Cambria" panose="02040503050406030204" pitchFamily="18" charset="0"/>
                <a:cs typeface="Arial"/>
              </a:rPr>
              <a:t>Internal</a:t>
            </a:r>
            <a:r>
              <a:rPr lang="en-US" sz="2400" spc="-114"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Reflection</a:t>
            </a:r>
          </a:p>
          <a:p>
            <a:pPr marL="469900" indent="-457200">
              <a:lnSpc>
                <a:spcPct val="100000"/>
              </a:lnSpc>
              <a:spcBef>
                <a:spcPts val="229"/>
              </a:spcBef>
              <a:buClr>
                <a:srgbClr val="DD8046"/>
              </a:buClr>
              <a:buSzPct val="60000"/>
              <a:buFont typeface="Wingdings" panose="05000000000000000000" pitchFamily="2" charset="2"/>
              <a:buChar char="v"/>
              <a:tabLst>
                <a:tab pos="332105" algn="l"/>
                <a:tab pos="332740" algn="l"/>
              </a:tabLst>
            </a:pPr>
            <a:r>
              <a:rPr lang="en-US" sz="2400" dirty="0">
                <a:latin typeface="Cambria" panose="02040503050406030204" pitchFamily="18" charset="0"/>
                <a:ea typeface="Cambria" panose="02040503050406030204" pitchFamily="18" charset="0"/>
                <a:cs typeface="Arial"/>
              </a:rPr>
              <a:t>Acceptance angle &amp; acceptance</a:t>
            </a:r>
            <a:r>
              <a:rPr lang="en-US" sz="2400" spc="-12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cone</a:t>
            </a:r>
          </a:p>
          <a:p>
            <a:pPr marL="469900" indent="-457200">
              <a:lnSpc>
                <a:spcPct val="100000"/>
              </a:lnSpc>
              <a:spcBef>
                <a:spcPts val="215"/>
              </a:spcBef>
              <a:buClr>
                <a:srgbClr val="DD8046"/>
              </a:buClr>
              <a:buSzPct val="60000"/>
              <a:buFont typeface="Wingdings" panose="05000000000000000000" pitchFamily="2" charset="2"/>
              <a:buChar char="v"/>
              <a:tabLst>
                <a:tab pos="332105" algn="l"/>
                <a:tab pos="332740" algn="l"/>
              </a:tabLst>
            </a:pPr>
            <a:r>
              <a:rPr lang="en-US" sz="2400" dirty="0">
                <a:latin typeface="Cambria" panose="02040503050406030204" pitchFamily="18" charset="0"/>
                <a:ea typeface="Cambria" panose="02040503050406030204" pitchFamily="18" charset="0"/>
                <a:cs typeface="Arial"/>
              </a:rPr>
              <a:t>Numerical</a:t>
            </a:r>
            <a:r>
              <a:rPr lang="en-US" sz="2400" spc="-140"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Aperture</a:t>
            </a:r>
          </a:p>
          <a:p>
            <a:pPr marL="469900" indent="-457200">
              <a:lnSpc>
                <a:spcPct val="100000"/>
              </a:lnSpc>
              <a:spcBef>
                <a:spcPts val="215"/>
              </a:spcBef>
              <a:buClr>
                <a:srgbClr val="DD8046"/>
              </a:buClr>
              <a:buSzPct val="60000"/>
              <a:buFont typeface="Wingdings" panose="05000000000000000000" pitchFamily="2" charset="2"/>
              <a:buChar char="v"/>
              <a:tabLst>
                <a:tab pos="332105" algn="l"/>
                <a:tab pos="332740" algn="l"/>
              </a:tabLst>
            </a:pPr>
            <a:r>
              <a:rPr lang="en-US" sz="2400" spc="-15" dirty="0">
                <a:latin typeface="Cambria" panose="02040503050406030204" pitchFamily="18" charset="0"/>
                <a:ea typeface="Cambria" panose="02040503050406030204" pitchFamily="18" charset="0"/>
                <a:cs typeface="Arial"/>
              </a:rPr>
              <a:t>V-Number</a:t>
            </a:r>
          </a:p>
          <a:p>
            <a:pPr marL="469900" indent="-457200">
              <a:lnSpc>
                <a:spcPct val="100000"/>
              </a:lnSpc>
              <a:spcBef>
                <a:spcPts val="215"/>
              </a:spcBef>
              <a:buClr>
                <a:srgbClr val="DD8046"/>
              </a:buClr>
              <a:buSzPct val="60000"/>
              <a:buFont typeface="Wingdings" panose="05000000000000000000" pitchFamily="2" charset="2"/>
              <a:buChar char="v"/>
              <a:tabLst>
                <a:tab pos="332105" algn="l"/>
                <a:tab pos="332740" algn="l"/>
              </a:tabLst>
            </a:pPr>
            <a:r>
              <a:rPr lang="en-US" sz="2400" spc="-20" dirty="0">
                <a:latin typeface="Cambria" panose="02040503050406030204" pitchFamily="18" charset="0"/>
                <a:ea typeface="Cambria" panose="02040503050406030204" pitchFamily="18" charset="0"/>
                <a:cs typeface="Arial"/>
              </a:rPr>
              <a:t>Types </a:t>
            </a:r>
            <a:r>
              <a:rPr lang="en-US" sz="2400" dirty="0">
                <a:latin typeface="Cambria" panose="02040503050406030204" pitchFamily="18" charset="0"/>
                <a:ea typeface="Cambria" panose="02040503050406030204" pitchFamily="18" charset="0"/>
                <a:cs typeface="Arial"/>
              </a:rPr>
              <a:t>of fibers</a:t>
            </a:r>
          </a:p>
          <a:p>
            <a:pPr marL="469900" indent="-457200">
              <a:lnSpc>
                <a:spcPct val="100000"/>
              </a:lnSpc>
              <a:spcBef>
                <a:spcPts val="229"/>
              </a:spcBef>
              <a:buClr>
                <a:srgbClr val="DD8046"/>
              </a:buClr>
              <a:buSzPct val="60000"/>
              <a:buFont typeface="Wingdings" panose="05000000000000000000" pitchFamily="2" charset="2"/>
              <a:buChar char="v"/>
              <a:tabLst>
                <a:tab pos="332105" algn="l"/>
                <a:tab pos="332740" algn="l"/>
              </a:tabLst>
            </a:pPr>
            <a:r>
              <a:rPr lang="en-US" sz="2400" dirty="0">
                <a:latin typeface="Cambria" panose="02040503050406030204" pitchFamily="18" charset="0"/>
                <a:ea typeface="Cambria" panose="02040503050406030204" pitchFamily="18" charset="0"/>
                <a:cs typeface="Arial"/>
              </a:rPr>
              <a:t>Dispersion &amp; its</a:t>
            </a:r>
            <a:r>
              <a:rPr lang="en-US" sz="2400" spc="-60" dirty="0">
                <a:latin typeface="Cambria" panose="02040503050406030204" pitchFamily="18" charset="0"/>
                <a:ea typeface="Cambria" panose="02040503050406030204" pitchFamily="18" charset="0"/>
                <a:cs typeface="Arial"/>
              </a:rPr>
              <a:t> </a:t>
            </a:r>
            <a:r>
              <a:rPr lang="en-US" sz="2400" spc="-5" dirty="0">
                <a:latin typeface="Cambria" panose="02040503050406030204" pitchFamily="18" charset="0"/>
                <a:ea typeface="Cambria" panose="02040503050406030204" pitchFamily="18" charset="0"/>
                <a:cs typeface="Arial"/>
              </a:rPr>
              <a:t>types</a:t>
            </a:r>
            <a:endParaRPr lang="en-US" sz="2400" dirty="0">
              <a:latin typeface="Cambria" panose="02040503050406030204" pitchFamily="18" charset="0"/>
              <a:ea typeface="Cambria" panose="02040503050406030204" pitchFamily="18" charset="0"/>
              <a:cs typeface="Arial"/>
            </a:endParaRPr>
          </a:p>
          <a:p>
            <a:pPr marL="469900" indent="-457200">
              <a:lnSpc>
                <a:spcPct val="100000"/>
              </a:lnSpc>
              <a:spcBef>
                <a:spcPts val="215"/>
              </a:spcBef>
              <a:buClr>
                <a:srgbClr val="DD8046"/>
              </a:buClr>
              <a:buSzPct val="60000"/>
              <a:buFont typeface="Wingdings" panose="05000000000000000000" pitchFamily="2" charset="2"/>
              <a:buChar char="v"/>
              <a:tabLst>
                <a:tab pos="332105" algn="l"/>
                <a:tab pos="332740" algn="l"/>
              </a:tabLst>
            </a:pPr>
            <a:r>
              <a:rPr lang="en-US" sz="2400" dirty="0">
                <a:latin typeface="Cambria" panose="02040503050406030204" pitchFamily="18" charset="0"/>
                <a:ea typeface="Cambria" panose="02040503050406030204" pitchFamily="18" charset="0"/>
                <a:cs typeface="Arial"/>
              </a:rPr>
              <a:t>Attenuation and Losses in</a:t>
            </a:r>
            <a:r>
              <a:rPr lang="en-US" sz="2400" spc="-95" dirty="0">
                <a:latin typeface="Cambria" panose="02040503050406030204" pitchFamily="18" charset="0"/>
                <a:ea typeface="Cambria" panose="02040503050406030204" pitchFamily="18" charset="0"/>
                <a:cs typeface="Arial"/>
              </a:rPr>
              <a:t> </a:t>
            </a:r>
            <a:r>
              <a:rPr lang="en-US" sz="2400" dirty="0">
                <a:latin typeface="Cambria" panose="02040503050406030204" pitchFamily="18" charset="0"/>
                <a:ea typeface="Cambria" panose="02040503050406030204" pitchFamily="18" charset="0"/>
                <a:cs typeface="Arial"/>
              </a:rPr>
              <a:t>Fiber</a:t>
            </a:r>
          </a:p>
          <a:p>
            <a:pPr marL="469900" indent="-457200">
              <a:lnSpc>
                <a:spcPct val="100000"/>
              </a:lnSpc>
              <a:spcBef>
                <a:spcPts val="215"/>
              </a:spcBef>
              <a:buClr>
                <a:srgbClr val="DD8046"/>
              </a:buClr>
              <a:buSzPct val="60000"/>
              <a:buFont typeface="Wingdings" panose="05000000000000000000" pitchFamily="2" charset="2"/>
              <a:buChar char="v"/>
              <a:tabLst>
                <a:tab pos="332105" algn="l"/>
                <a:tab pos="332740" algn="l"/>
              </a:tabLst>
            </a:pPr>
            <a:r>
              <a:rPr lang="en-US" sz="2400" dirty="0">
                <a:latin typeface="Cambria" panose="02040503050406030204" pitchFamily="18" charset="0"/>
                <a:ea typeface="Cambria" panose="02040503050406030204" pitchFamily="18" charset="0"/>
                <a:cs typeface="Arial"/>
              </a:rPr>
              <a:t>Advantages</a:t>
            </a:r>
          </a:p>
          <a:p>
            <a:pPr marL="469900" indent="-457200">
              <a:lnSpc>
                <a:spcPct val="100000"/>
              </a:lnSpc>
              <a:spcBef>
                <a:spcPts val="215"/>
              </a:spcBef>
              <a:buClr>
                <a:srgbClr val="DD8046"/>
              </a:buClr>
              <a:buSzPct val="60000"/>
              <a:buFont typeface="Wingdings" panose="05000000000000000000" pitchFamily="2" charset="2"/>
              <a:buChar char="v"/>
              <a:tabLst>
                <a:tab pos="332105" algn="l"/>
                <a:tab pos="332740" algn="l"/>
              </a:tabLst>
            </a:pPr>
            <a:r>
              <a:rPr lang="en-US" sz="2400" dirty="0">
                <a:latin typeface="Cambria" panose="02040503050406030204" pitchFamily="18" charset="0"/>
                <a:ea typeface="Cambria" panose="02040503050406030204" pitchFamily="18" charset="0"/>
                <a:cs typeface="Arial"/>
              </a:rPr>
              <a:t>Disadvantages</a:t>
            </a:r>
          </a:p>
          <a:p>
            <a:pPr marL="469900" indent="-457200">
              <a:lnSpc>
                <a:spcPct val="100000"/>
              </a:lnSpc>
              <a:spcBef>
                <a:spcPts val="229"/>
              </a:spcBef>
              <a:buClr>
                <a:srgbClr val="DD8046"/>
              </a:buClr>
              <a:buSzPct val="60000"/>
              <a:buFont typeface="Wingdings" panose="05000000000000000000" pitchFamily="2" charset="2"/>
              <a:buChar char="v"/>
              <a:tabLst>
                <a:tab pos="332105" algn="l"/>
                <a:tab pos="332740" algn="l"/>
              </a:tabLst>
            </a:pPr>
            <a:r>
              <a:rPr lang="en-US" sz="2400" dirty="0">
                <a:latin typeface="Cambria" panose="02040503050406030204" pitchFamily="18" charset="0"/>
                <a:ea typeface="Cambria" panose="02040503050406030204" pitchFamily="18" charset="0"/>
                <a:cs typeface="Arial"/>
              </a:rPr>
              <a:t>Applications</a:t>
            </a:r>
          </a:p>
          <a:p>
            <a:endParaRPr lang="en-US" dirty="0"/>
          </a:p>
        </p:txBody>
      </p:sp>
    </p:spTree>
    <p:extLst>
      <p:ext uri="{BB962C8B-B14F-4D97-AF65-F5344CB8AC3E}">
        <p14:creationId xmlns:p14="http://schemas.microsoft.com/office/powerpoint/2010/main" val="10200139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4229" y="1"/>
            <a:ext cx="5458264" cy="928468"/>
          </a:xfrm>
        </p:spPr>
        <p:txBody>
          <a:bodyPr>
            <a:noAutofit/>
          </a:bodyPr>
          <a:lstStyle/>
          <a:p>
            <a:pPr algn="ctr"/>
            <a:r>
              <a:rPr lang="en-US" sz="4400" b="1" dirty="0">
                <a:latin typeface="Cambria" panose="02040503050406030204" pitchFamily="18" charset="0"/>
                <a:ea typeface="Cambria" panose="02040503050406030204" pitchFamily="18" charset="0"/>
              </a:rPr>
              <a:t>Assessment Test</a:t>
            </a:r>
          </a:p>
        </p:txBody>
      </p:sp>
      <p:sp>
        <p:nvSpPr>
          <p:cNvPr id="4" name="Text Placeholder 3"/>
          <p:cNvSpPr>
            <a:spLocks noGrp="1"/>
          </p:cNvSpPr>
          <p:nvPr>
            <p:ph type="body" sz="half" idx="2"/>
          </p:nvPr>
        </p:nvSpPr>
        <p:spPr>
          <a:xfrm>
            <a:off x="785813" y="1385889"/>
            <a:ext cx="8543925" cy="5335586"/>
          </a:xfrm>
        </p:spPr>
        <p:txBody>
          <a:bodyPr>
            <a:normAutofit/>
          </a:bodyPr>
          <a:lstStyle/>
          <a:p>
            <a:r>
              <a:rPr lang="en-US" sz="2400" b="1" dirty="0">
                <a:latin typeface="Cambria" panose="02040503050406030204" pitchFamily="18" charset="0"/>
                <a:ea typeface="Cambria" panose="02040503050406030204" pitchFamily="18" charset="0"/>
              </a:rPr>
              <a:t>Quiz link for Assessment Test:-</a:t>
            </a:r>
            <a:endParaRPr lang="en-US" sz="2400" b="1" dirty="0">
              <a:latin typeface="Cambria" panose="02040503050406030204" pitchFamily="18" charset="0"/>
              <a:ea typeface="Cambria" panose="02040503050406030204" pitchFamily="18" charset="0"/>
              <a:hlinkClick r:id="rId2"/>
            </a:endParaRPr>
          </a:p>
          <a:p>
            <a:r>
              <a:rPr lang="en-US" sz="2400" dirty="0">
                <a:latin typeface="Cambria" panose="02040503050406030204" pitchFamily="18" charset="0"/>
                <a:ea typeface="Cambria" panose="02040503050406030204" pitchFamily="18" charset="0"/>
                <a:hlinkClick r:id="rId3"/>
              </a:rPr>
              <a:t>https://docs.google.com/forms/d/e/1FAIpQLSdoaR30UPyyOY0IRVyChKPoZVB99BOTYyw61SPEVbYoxNepFQ/viewform?usp=pp_url</a:t>
            </a:r>
            <a:r>
              <a:rPr lang="en-US" sz="2400" dirty="0">
                <a:latin typeface="Cambria" panose="02040503050406030204" pitchFamily="18" charset="0"/>
                <a:ea typeface="Cambria" panose="02040503050406030204" pitchFamily="18" charset="0"/>
              </a:rPr>
              <a:t> </a:t>
            </a:r>
          </a:p>
          <a:p>
            <a:r>
              <a:rPr lang="en-US" sz="2400" b="1" dirty="0">
                <a:latin typeface="Cambria" panose="02040503050406030204" pitchFamily="18" charset="0"/>
                <a:ea typeface="Cambria" panose="02040503050406030204" pitchFamily="18" charset="0"/>
              </a:rPr>
              <a:t>Home Assignment :-</a:t>
            </a:r>
          </a:p>
          <a:p>
            <a:pPr marL="457200" lvl="0" indent="-457200">
              <a:buFont typeface="+mj-lt"/>
              <a:buAutoNum type="arabicPeriod"/>
            </a:pPr>
            <a:r>
              <a:rPr lang="en-US" sz="2400" dirty="0">
                <a:latin typeface="Cambria" panose="02040503050406030204" pitchFamily="18" charset="0"/>
                <a:ea typeface="Cambria" panose="02040503050406030204" pitchFamily="18" charset="0"/>
              </a:rPr>
              <a:t>Q.1 What are the advantages and disadvantages of fiber optic communications?</a:t>
            </a:r>
            <a:endParaRPr lang="en-IN" sz="2400" dirty="0">
              <a:latin typeface="Cambria" panose="02040503050406030204" pitchFamily="18" charset="0"/>
              <a:ea typeface="Cambria" panose="02040503050406030204" pitchFamily="18" charset="0"/>
            </a:endParaRPr>
          </a:p>
          <a:p>
            <a:pPr marL="457200" lvl="0" indent="-457200">
              <a:buFont typeface="+mj-lt"/>
              <a:buAutoNum type="arabicPeriod"/>
            </a:pPr>
            <a:r>
              <a:rPr lang="en-US" sz="2400" dirty="0">
                <a:latin typeface="Cambria" panose="02040503050406030204" pitchFamily="18" charset="0"/>
                <a:ea typeface="Cambria" panose="02040503050406030204" pitchFamily="18" charset="0"/>
              </a:rPr>
              <a:t>Mention the three advantages of optical fiber as waveguide over conventional metallic waveguide? </a:t>
            </a:r>
            <a:endParaRPr lang="en-IN" sz="2400" dirty="0">
              <a:latin typeface="Cambria" panose="02040503050406030204" pitchFamily="18" charset="0"/>
              <a:ea typeface="Cambria" panose="02040503050406030204" pitchFamily="18"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t>54</a:t>
            </a:fld>
            <a:endParaRPr lang="en-US"/>
          </a:p>
        </p:txBody>
      </p:sp>
    </p:spTree>
    <p:extLst>
      <p:ext uri="{BB962C8B-B14F-4D97-AF65-F5344CB8AC3E}">
        <p14:creationId xmlns:p14="http://schemas.microsoft.com/office/powerpoint/2010/main" val="16290581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5863" y="357188"/>
            <a:ext cx="3028950" cy="630237"/>
          </a:xfrm>
        </p:spPr>
        <p:txBody>
          <a:bodyPr>
            <a:noAutofit/>
          </a:bodyPr>
          <a:lstStyle/>
          <a:p>
            <a:r>
              <a:rPr lang="en-US" sz="4400" b="1" dirty="0">
                <a:latin typeface="Cambria" panose="02040503050406030204" pitchFamily="18" charset="0"/>
                <a:ea typeface="Cambria" panose="02040503050406030204" pitchFamily="18" charset="0"/>
              </a:rPr>
              <a:t>References</a:t>
            </a:r>
          </a:p>
        </p:txBody>
      </p:sp>
      <p:sp>
        <p:nvSpPr>
          <p:cNvPr id="4" name="Text Placeholder 3"/>
          <p:cNvSpPr>
            <a:spLocks noGrp="1"/>
          </p:cNvSpPr>
          <p:nvPr>
            <p:ph type="body" sz="half" idx="2"/>
          </p:nvPr>
        </p:nvSpPr>
        <p:spPr>
          <a:xfrm>
            <a:off x="695459" y="1120462"/>
            <a:ext cx="9734416" cy="5601013"/>
          </a:xfrm>
        </p:spPr>
        <p:txBody>
          <a:bodyPr>
            <a:normAutofit/>
          </a:bodyPr>
          <a:lstStyle/>
          <a:p>
            <a:r>
              <a:rPr lang="en-US" sz="2000" b="1" dirty="0">
                <a:latin typeface="Cambria" panose="02040503050406030204" pitchFamily="18" charset="0"/>
                <a:ea typeface="Cambria" panose="02040503050406030204" pitchFamily="18" charset="0"/>
              </a:rPr>
              <a:t>[1]  </a:t>
            </a:r>
            <a:r>
              <a:rPr lang="en-US" sz="2000" dirty="0">
                <a:latin typeface="Cambria" panose="02040503050406030204" pitchFamily="18" charset="0"/>
                <a:ea typeface="Cambria" panose="02040503050406030204" pitchFamily="18" charset="0"/>
                <a:hlinkClick r:id="rId2"/>
              </a:rPr>
              <a:t>https://www.ispreview.co.uk/index.php/2013/07/alcatel-lucent-breaks-record-with-31tbps-over-a-single-fibre-optic-cable.html</a:t>
            </a:r>
            <a:r>
              <a:rPr lang="en-US" sz="2000" dirty="0">
                <a:latin typeface="Cambria" panose="02040503050406030204" pitchFamily="18" charset="0"/>
                <a:ea typeface="Cambria" panose="02040503050406030204" pitchFamily="18" charset="0"/>
              </a:rPr>
              <a:t> </a:t>
            </a:r>
          </a:p>
          <a:p>
            <a:r>
              <a:rPr lang="en-US" sz="2000" b="1" dirty="0">
                <a:latin typeface="Cambria" panose="02040503050406030204" pitchFamily="18" charset="0"/>
                <a:ea typeface="Cambria" panose="02040503050406030204" pitchFamily="18" charset="0"/>
              </a:rPr>
              <a:t>[2] </a:t>
            </a:r>
            <a:r>
              <a:rPr lang="en-US" sz="2000" dirty="0">
                <a:latin typeface="Cambria" panose="02040503050406030204" pitchFamily="18" charset="0"/>
                <a:ea typeface="Cambria" panose="02040503050406030204" pitchFamily="18" charset="0"/>
                <a:hlinkClick r:id="rId3"/>
              </a:rPr>
              <a:t>http://constructionmanuals.tpub.com/14026/css/Fiber-Buffers-193.htm</a:t>
            </a:r>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[3] </a:t>
            </a:r>
            <a:r>
              <a:rPr lang="en-US" sz="2000" dirty="0">
                <a:latin typeface="Cambria" panose="02040503050406030204" pitchFamily="18" charset="0"/>
                <a:ea typeface="Cambria" panose="02040503050406030204" pitchFamily="18" charset="0"/>
                <a:hlinkClick r:id="rId4"/>
              </a:rPr>
              <a:t>https://www.slideshare.net/ankushsaini123/6796optical-fibres</a:t>
            </a:r>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[4] </a:t>
            </a:r>
            <a:r>
              <a:rPr lang="en-US" sz="2000" dirty="0">
                <a:latin typeface="Cambria" panose="02040503050406030204" pitchFamily="18" charset="0"/>
                <a:ea typeface="Cambria" panose="02040503050406030204" pitchFamily="18" charset="0"/>
                <a:hlinkClick r:id="rId5"/>
              </a:rPr>
              <a:t>https://www.slideshare.net/MadhumitaTamhane/optical-fiber-communication-part-1- optical-fiber-fundamentals</a:t>
            </a:r>
            <a:endParaRPr lang="en-US" sz="2000" b="1"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[5] (a)</a:t>
            </a:r>
            <a:r>
              <a:rPr lang="en-US" sz="2000" dirty="0">
                <a:latin typeface="Cambria" panose="02040503050406030204" pitchFamily="18" charset="0"/>
                <a:ea typeface="Cambria" panose="02040503050406030204" pitchFamily="18" charset="0"/>
                <a:hlinkClick r:id="rId3"/>
              </a:rPr>
              <a:t> http://constructionmanuals.tpub.com/14026/css/Fiber-Buffers-193.htm</a:t>
            </a:r>
            <a:endParaRPr lang="en-US" sz="2000" b="1"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      (b) </a:t>
            </a:r>
            <a:r>
              <a:rPr lang="en-US" sz="2000" dirty="0">
                <a:latin typeface="Cambria" panose="02040503050406030204" pitchFamily="18" charset="0"/>
                <a:ea typeface="Cambria" panose="02040503050406030204" pitchFamily="18" charset="0"/>
                <a:hlinkClick r:id="rId6"/>
              </a:rPr>
              <a:t>https://computer.howstuffworks.com/fiber-optic2.htm</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[6] </a:t>
            </a:r>
            <a:r>
              <a:rPr lang="en-US" sz="2000" dirty="0">
                <a:latin typeface="Cambria" panose="02040503050406030204" pitchFamily="18" charset="0"/>
                <a:ea typeface="Cambria" panose="02040503050406030204" pitchFamily="18" charset="0"/>
                <a:hlinkClick r:id="rId7"/>
              </a:rPr>
              <a:t>https://www.slideshare.net/PratyushSrivastava8/optical-fiber-cable-</a:t>
            </a:r>
            <a:r>
              <a:rPr lang="en-US"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hlinkClick r:id="rId8"/>
              </a:rPr>
              <a:t>v2?from_action=save</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 [7] </a:t>
            </a:r>
            <a:r>
              <a:rPr lang="en-US" sz="2000" dirty="0">
                <a:latin typeface="Cambria" panose="02040503050406030204" pitchFamily="18" charset="0"/>
                <a:ea typeface="Cambria" panose="02040503050406030204" pitchFamily="18" charset="0"/>
                <a:hlinkClick r:id="rId9"/>
              </a:rPr>
              <a:t>https://www.ques10.com/p/21598/derive-the-expression-of-numerical-aperture-                   for-a-/</a:t>
            </a: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[8] </a:t>
            </a:r>
            <a:r>
              <a:rPr lang="en-US" sz="2000" dirty="0">
                <a:latin typeface="Cambria" panose="02040503050406030204" pitchFamily="18" charset="0"/>
                <a:ea typeface="Cambria" panose="02040503050406030204" pitchFamily="18" charset="0"/>
                <a:hlinkClick r:id="rId10"/>
              </a:rPr>
              <a:t>https://www.explainthatstuff.com/fiberoptics.html</a:t>
            </a:r>
            <a:r>
              <a:rPr lang="en-US" sz="2000" dirty="0">
                <a:latin typeface="Cambria" panose="02040503050406030204" pitchFamily="18" charset="0"/>
                <a:ea typeface="Cambria" panose="02040503050406030204" pitchFamily="18" charset="0"/>
              </a:rPr>
              <a:t> </a:t>
            </a:r>
          </a:p>
          <a:p>
            <a:r>
              <a:rPr lang="en-US" sz="2000" dirty="0">
                <a:latin typeface="Cambria" panose="02040503050406030204" pitchFamily="18" charset="0"/>
                <a:ea typeface="Cambria" panose="02040503050406030204" pitchFamily="18" charset="0"/>
              </a:rPr>
              <a:t>[9] </a:t>
            </a:r>
            <a:r>
              <a:rPr lang="en-US" sz="2000" dirty="0">
                <a:latin typeface="Cambria" panose="02040503050406030204" pitchFamily="18" charset="0"/>
                <a:ea typeface="Cambria" panose="02040503050406030204" pitchFamily="18" charset="0"/>
                <a:hlinkClick r:id="rId11"/>
              </a:rPr>
              <a:t>http://fiberonda.com/single-mode-vs-multi-mode-fiber-optic-cable/</a:t>
            </a:r>
            <a:r>
              <a:rPr lang="en-US" sz="2000" dirty="0">
                <a:latin typeface="Cambria" panose="02040503050406030204" pitchFamily="18" charset="0"/>
                <a:ea typeface="Cambria" panose="02040503050406030204" pitchFamily="18" charset="0"/>
              </a:rPr>
              <a:t> </a:t>
            </a:r>
          </a:p>
          <a:p>
            <a:r>
              <a:rPr lang="en-US" sz="2000" dirty="0">
                <a:latin typeface="Cambria" panose="02040503050406030204" pitchFamily="18" charset="0"/>
                <a:ea typeface="Cambria" panose="02040503050406030204" pitchFamily="18" charset="0"/>
              </a:rPr>
              <a:t>[10] </a:t>
            </a:r>
            <a:r>
              <a:rPr lang="en-US" sz="2000" u="sng" dirty="0">
                <a:hlinkClick r:id="rId12"/>
              </a:rPr>
              <a:t>https://images.app.goo.gl/LLWfgV3PjgLc9RbDA</a:t>
            </a:r>
            <a:r>
              <a:rPr lang="en-US" sz="2000" dirty="0"/>
              <a:t> </a:t>
            </a:r>
            <a:endParaRPr lang="en-US" sz="2000" dirty="0">
              <a:latin typeface="Cambria" panose="02040503050406030204" pitchFamily="18" charset="0"/>
              <a:ea typeface="Cambria" panose="02040503050406030204" pitchFamily="18" charset="0"/>
            </a:endParaRPr>
          </a:p>
          <a:p>
            <a:endParaRPr lang="en-US" b="1" dirty="0">
              <a:hlinkClick r:id="rId3"/>
            </a:endParaRP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t>55</a:t>
            </a:fld>
            <a:endParaRPr lang="en-US"/>
          </a:p>
        </p:txBody>
      </p:sp>
    </p:spTree>
    <p:extLst>
      <p:ext uri="{BB962C8B-B14F-4D97-AF65-F5344CB8AC3E}">
        <p14:creationId xmlns:p14="http://schemas.microsoft.com/office/powerpoint/2010/main" val="17453603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7669" y="1400783"/>
            <a:ext cx="10557720" cy="4975022"/>
          </a:xfrm>
        </p:spPr>
        <p:txBody>
          <a:bodyPr>
            <a:normAutofit/>
          </a:bodyPr>
          <a:lstStyle/>
          <a:p>
            <a:pPr marL="0" indent="0">
              <a:buNone/>
            </a:pPr>
            <a:r>
              <a:rPr lang="en-US" sz="4400" b="1" dirty="0">
                <a:latin typeface="Cambria" panose="02040503050406030204" pitchFamily="18" charset="0"/>
                <a:ea typeface="Cambria" panose="02040503050406030204" pitchFamily="18" charset="0"/>
              </a:rPr>
              <a:t>Text book </a:t>
            </a:r>
          </a:p>
          <a:p>
            <a:r>
              <a:rPr lang="en-US" sz="2400" dirty="0" err="1">
                <a:latin typeface="Cambria" panose="02040503050406030204" pitchFamily="18" charset="0"/>
                <a:ea typeface="Cambria" panose="02040503050406030204" pitchFamily="18" charset="0"/>
              </a:rPr>
              <a:t>Beiser</a:t>
            </a:r>
            <a:r>
              <a:rPr lang="en-US" sz="2400" dirty="0">
                <a:latin typeface="Cambria" panose="02040503050406030204" pitchFamily="18" charset="0"/>
                <a:ea typeface="Cambria" panose="02040503050406030204" pitchFamily="18" charset="0"/>
              </a:rPr>
              <a:t> A., </a:t>
            </a:r>
            <a:r>
              <a:rPr lang="en-US" sz="2400" dirty="0" err="1">
                <a:latin typeface="Cambria" panose="02040503050406030204" pitchFamily="18" charset="0"/>
                <a:ea typeface="Cambria" panose="02040503050406030204" pitchFamily="18" charset="0"/>
              </a:rPr>
              <a:t>Ghatak</a:t>
            </a:r>
            <a:r>
              <a:rPr lang="en-US" sz="2400" dirty="0">
                <a:latin typeface="Cambria" panose="02040503050406030204" pitchFamily="18" charset="0"/>
                <a:ea typeface="Cambria" panose="02040503050406030204" pitchFamily="18" charset="0"/>
              </a:rPr>
              <a:t> A, </a:t>
            </a:r>
            <a:r>
              <a:rPr lang="en-US" sz="2400" dirty="0" err="1">
                <a:latin typeface="Cambria" panose="02040503050406030204" pitchFamily="18" charset="0"/>
                <a:ea typeface="Cambria" panose="02040503050406030204" pitchFamily="18" charset="0"/>
              </a:rPr>
              <a:t>Garg</a:t>
            </a:r>
            <a:r>
              <a:rPr lang="en-US" sz="2400" dirty="0">
                <a:latin typeface="Cambria" panose="02040503050406030204" pitchFamily="18" charset="0"/>
                <a:ea typeface="Cambria" panose="02040503050406030204" pitchFamily="18" charset="0"/>
              </a:rPr>
              <a:t> S.C., Applied Physics, Edition 1st, (2013), Tata McGraw-Hill, Noida. </a:t>
            </a:r>
          </a:p>
          <a:p>
            <a:r>
              <a:rPr lang="en-US" sz="2400" dirty="0">
                <a:latin typeface="Cambria" panose="02040503050406030204" pitchFamily="18" charset="0"/>
                <a:ea typeface="Cambria" panose="02040503050406030204" pitchFamily="18" charset="0"/>
              </a:rPr>
              <a:t>Laud B.B., Laser and Non -Linear Optics, Edition 1st, (1991), Wiley Eastern Ltd. </a:t>
            </a:r>
          </a:p>
          <a:p>
            <a:pPr marL="0" indent="0">
              <a:buNone/>
            </a:pPr>
            <a:r>
              <a:rPr lang="en-US" sz="4400" b="1" dirty="0">
                <a:latin typeface="Cambria" panose="02040503050406030204" pitchFamily="18" charset="0"/>
                <a:ea typeface="Cambria" panose="02040503050406030204" pitchFamily="18" charset="0"/>
              </a:rPr>
              <a:t>E- content</a:t>
            </a:r>
          </a:p>
          <a:p>
            <a:pPr marL="0" indent="0">
              <a:buNone/>
            </a:pPr>
            <a:r>
              <a:rPr lang="en-US" sz="4800" b="1" dirty="0">
                <a:latin typeface="Cambria" panose="02040503050406030204" pitchFamily="18" charset="0"/>
                <a:ea typeface="Cambria" panose="02040503050406030204" pitchFamily="18" charset="0"/>
              </a:rPr>
              <a:t> </a:t>
            </a:r>
            <a:r>
              <a:rPr lang="en-US" sz="2400" dirty="0">
                <a:hlinkClick r:id="rId2"/>
              </a:rPr>
              <a:t>http://www.fiberopticshare.com/what-are-the-components-of-optical-fiber.html</a:t>
            </a:r>
            <a:endParaRPr lang="en-US" sz="2400" dirty="0"/>
          </a:p>
        </p:txBody>
      </p:sp>
      <p:sp>
        <p:nvSpPr>
          <p:cNvPr id="5" name="Slide Number Placeholder 4"/>
          <p:cNvSpPr>
            <a:spLocks noGrp="1"/>
          </p:cNvSpPr>
          <p:nvPr>
            <p:ph type="sldNum" sz="quarter" idx="12"/>
          </p:nvPr>
        </p:nvSpPr>
        <p:spPr/>
        <p:txBody>
          <a:bodyPr/>
          <a:lstStyle/>
          <a:p>
            <a:fld id="{BDCDBBEF-AA6C-4BA6-85B2-A17D7F280E38}" type="slidenum">
              <a:rPr lang="en-US" smtClean="0"/>
              <a:t>56</a:t>
            </a:fld>
            <a:endParaRPr lang="en-US"/>
          </a:p>
        </p:txBody>
      </p:sp>
    </p:spTree>
    <p:extLst>
      <p:ext uri="{BB962C8B-B14F-4D97-AF65-F5344CB8AC3E}">
        <p14:creationId xmlns:p14="http://schemas.microsoft.com/office/powerpoint/2010/main" val="29346339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
        <p:nvSpPr>
          <p:cNvPr id="15" name="TextBox 14"/>
          <p:cNvSpPr txBox="1"/>
          <p:nvPr/>
        </p:nvSpPr>
        <p:spPr>
          <a:xfrm>
            <a:off x="3914775" y="5474881"/>
            <a:ext cx="3755267" cy="646331"/>
          </a:xfrm>
          <a:prstGeom prst="rect">
            <a:avLst/>
          </a:prstGeom>
          <a:noFill/>
        </p:spPr>
        <p:txBody>
          <a:bodyPr wrap="square" rtlCol="0">
            <a:spAutoFit/>
          </a:bodyPr>
          <a:lstStyle/>
          <a:p>
            <a:r>
              <a:rPr lang="en-US" dirty="0">
                <a:latin typeface="Casper"/>
              </a:rPr>
              <a:t>For Queries:-</a:t>
            </a:r>
          </a:p>
          <a:p>
            <a:r>
              <a:rPr lang="en-US" dirty="0">
                <a:latin typeface="Casper"/>
              </a:rPr>
              <a:t>deepak.e1972@cumail.in</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3801</TotalTime>
  <Words>3961</Words>
  <Application>Microsoft Office PowerPoint</Application>
  <PresentationFormat>Widescreen</PresentationFormat>
  <Paragraphs>502</Paragraphs>
  <Slides>57</Slides>
  <Notes>0</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57</vt:i4>
      </vt:variant>
    </vt:vector>
  </HeadingPairs>
  <TitlesOfParts>
    <vt:vector size="74" baseType="lpstr">
      <vt:lpstr>Arial</vt:lpstr>
      <vt:lpstr>Arial Black</vt:lpstr>
      <vt:lpstr>Book Antiqua</vt:lpstr>
      <vt:lpstr>Calibri</vt:lpstr>
      <vt:lpstr>Calibri Light</vt:lpstr>
      <vt:lpstr>Cambria</vt:lpstr>
      <vt:lpstr>Cambria Math</vt:lpstr>
      <vt:lpstr>Casper</vt:lpstr>
      <vt:lpstr>Casper Bold</vt:lpstr>
      <vt:lpstr>Raleway ExtraBold</vt:lpstr>
      <vt:lpstr>Symbol</vt:lpstr>
      <vt:lpstr>Times New Roman</vt:lpstr>
      <vt:lpstr>Wingdings</vt:lpstr>
      <vt:lpstr>Wingdings 2</vt:lpstr>
      <vt:lpstr>1_Office Theme</vt:lpstr>
      <vt:lpstr>Contents Slide Master</vt:lpstr>
      <vt:lpstr>CorelDRAW</vt:lpstr>
      <vt:lpstr>PowerPoint Presentation</vt:lpstr>
      <vt:lpstr> </vt:lpstr>
      <vt:lpstr> </vt:lpstr>
      <vt:lpstr>Brief Flow of Presentation</vt:lpstr>
      <vt:lpstr>Definition of Optical fiber</vt:lpstr>
      <vt:lpstr>PowerPoint Presentation</vt:lpstr>
      <vt:lpstr>PowerPoint Presentation</vt:lpstr>
      <vt:lpstr>FIBER MANUFACTURE</vt:lpstr>
      <vt:lpstr>FIBER MANUFACTURE</vt:lpstr>
      <vt:lpstr>FIBER MANUFACTURE</vt:lpstr>
      <vt:lpstr>Transmission of Light Through Optical  Fibers</vt:lpstr>
      <vt:lpstr>Ray Theory Transmission</vt:lpstr>
      <vt:lpstr>Ray Theory Transmission</vt:lpstr>
      <vt:lpstr>Critical Angle (c)</vt:lpstr>
      <vt:lpstr>Total internal reflection </vt:lpstr>
      <vt:lpstr>PowerPoint Presentation</vt:lpstr>
      <vt:lpstr>Acceptance angle and acceptance cone</vt:lpstr>
      <vt:lpstr>Acceptance cone</vt:lpstr>
      <vt:lpstr>Expression of Acceptance angle</vt:lpstr>
      <vt:lpstr>PowerPoint Presentation</vt:lpstr>
      <vt:lpstr>PowerPoint Presentation</vt:lpstr>
      <vt:lpstr>PowerPoint Presentation</vt:lpstr>
      <vt:lpstr>V-number or Normalized Frequency</vt:lpstr>
      <vt:lpstr>PowerPoint Presentation</vt:lpstr>
      <vt:lpstr>Types of Optical fibers based on modes and     refractive index </vt:lpstr>
      <vt:lpstr>PowerPoint Presentation</vt:lpstr>
      <vt:lpstr>Advantages of Single Mode Fiber</vt:lpstr>
      <vt:lpstr>Disadvantages of Single Mode Fiber</vt:lpstr>
      <vt:lpstr>Multi mode fibers</vt:lpstr>
      <vt:lpstr>Advantages of Multi- Mode Fiber</vt:lpstr>
      <vt:lpstr>Disadvantages of Multi-Mode Fiber</vt:lpstr>
      <vt:lpstr>Step index fiber  </vt:lpstr>
      <vt:lpstr>PowerPoint Presentation</vt:lpstr>
      <vt:lpstr>Graded index fiber  </vt:lpstr>
      <vt:lpstr>PowerPoint Presentation</vt:lpstr>
      <vt:lpstr>Dispersion  Types</vt:lpstr>
      <vt:lpstr>Intra modal or Chromatic Dispersion </vt:lpstr>
      <vt:lpstr>PowerPoint Presentation</vt:lpstr>
      <vt:lpstr>PowerPoint Presentation</vt:lpstr>
      <vt:lpstr>Intermodal or modal Dispersion</vt:lpstr>
      <vt:lpstr>PowerPoint Presentation</vt:lpstr>
      <vt:lpstr>PowerPoint Presentation</vt:lpstr>
      <vt:lpstr>PowerPoint Presentation</vt:lpstr>
      <vt:lpstr>Material Absorption Losses</vt:lpstr>
      <vt:lpstr>PowerPoint Presentation</vt:lpstr>
      <vt:lpstr>Fiber Bend Losses </vt:lpstr>
      <vt:lpstr>PowerPoint Presentation</vt:lpstr>
      <vt:lpstr>Linear Scattering Losses</vt:lpstr>
      <vt:lpstr>Advantages of optical fiber communication</vt:lpstr>
      <vt:lpstr>Disadvantages of optical fiber communication</vt:lpstr>
      <vt:lpstr>Applications of optical fiber  communication</vt:lpstr>
      <vt:lpstr>PowerPoint Presentation</vt:lpstr>
      <vt:lpstr>Summary</vt:lpstr>
      <vt:lpstr>Assessment Test</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286</cp:revision>
  <dcterms:created xsi:type="dcterms:W3CDTF">2019-01-09T10:33:58Z</dcterms:created>
  <dcterms:modified xsi:type="dcterms:W3CDTF">2023-06-14T08:06:10Z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1697691</vt:lpwstr>
  </property>
  <property fmtid="{D5CDD505-2E9C-101B-9397-08002B2CF9AE}" pid="3" name="NXPowerLiteSettings">
    <vt:lpwstr>C7000400038000</vt:lpwstr>
  </property>
  <property fmtid="{D5CDD505-2E9C-101B-9397-08002B2CF9AE}" pid="4" name="NXPowerLiteVersion">
    <vt:lpwstr>S9.0.1</vt:lpwstr>
  </property>
</Properties>
</file>