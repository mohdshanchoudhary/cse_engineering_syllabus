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7"/>
  </p:notesMasterIdLst>
  <p:handoutMasterIdLst>
    <p:handoutMasterId r:id="rId18"/>
  </p:handoutMasterIdLst>
  <p:sldIdLst>
    <p:sldId id="277" r:id="rId3"/>
    <p:sldId id="354" r:id="rId4"/>
    <p:sldId id="265" r:id="rId5"/>
    <p:sldId id="281" r:id="rId6"/>
    <p:sldId id="318" r:id="rId7"/>
    <p:sldId id="319" r:id="rId8"/>
    <p:sldId id="314" r:id="rId9"/>
    <p:sldId id="315" r:id="rId10"/>
    <p:sldId id="316" r:id="rId11"/>
    <p:sldId id="312" r:id="rId12"/>
    <p:sldId id="311" r:id="rId13"/>
    <p:sldId id="313" r:id="rId14"/>
    <p:sldId id="350"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66" d="100"/>
          <a:sy n="66" d="100"/>
        </p:scale>
        <p:origin x="552"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t>6/14/2023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t>6/14/2023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rp-photonics.com/fiber_core.html" TargetMode="Externa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docs.google.com/forms/d/e/1FAIpQLSdoaR30UPyyOY0IRVyChKPoZVB99BOTYyw61SPEVbYoxNepFQ/viewform?usp=pp_url" TargetMode="External"/><Relationship Id="rId2" Type="http://schemas.openxmlformats.org/officeDocument/2006/relationships/hyperlink" Target="https://docs.google.com/forms/d/1w8ZYvA6wP_wNW-mzrkGsNvNi170XonXmUYT-3bvPCPI/edit" TargetMode="Externa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hyperlink" Target="https://www.slideshare.net/PratyushSrivastava8/optical-fiber-cable-v2?from_action=save" TargetMode="External"/><Relationship Id="rId3" Type="http://schemas.openxmlformats.org/officeDocument/2006/relationships/hyperlink" Target="http://constructionmanuals.tpub.com/14026/css/Fiber-Buffers-193.htm" TargetMode="External"/><Relationship Id="rId7" Type="http://schemas.openxmlformats.org/officeDocument/2006/relationships/hyperlink" Target="https://www.slideshare.net/PratyushSrivastava8/optical-fiber-cable-" TargetMode="External"/><Relationship Id="rId12" Type="http://schemas.openxmlformats.org/officeDocument/2006/relationships/hyperlink" Target="https://images.app.goo.gl/LLWfgV3PjgLc9RbDA" TargetMode="External"/><Relationship Id="rId2" Type="http://schemas.openxmlformats.org/officeDocument/2006/relationships/hyperlink" Target="https://www.ispreview.co.uk/index.php/2013/07/alcatel-lucent-breaks-record-with-31tbps-over-a-single-fibre-optic-cable.html" TargetMode="External"/><Relationship Id="rId1" Type="http://schemas.openxmlformats.org/officeDocument/2006/relationships/slideLayout" Target="../slideLayouts/slideLayout8.xml"/><Relationship Id="rId6" Type="http://schemas.openxmlformats.org/officeDocument/2006/relationships/hyperlink" Target="https://computer.howstuffworks.com/fiber-optic2.htm" TargetMode="External"/><Relationship Id="rId11" Type="http://schemas.openxmlformats.org/officeDocument/2006/relationships/hyperlink" Target="http://fiberonda.com/single-mode-vs-multi-mode-fiber-optic-cable/" TargetMode="External"/><Relationship Id="rId5" Type="http://schemas.openxmlformats.org/officeDocument/2006/relationships/hyperlink" Target="https://www.slideshare.net/MadhumitaTamhane/optical-fiber-communication-part-1-optical-fiber-fundamentals" TargetMode="External"/><Relationship Id="rId10" Type="http://schemas.openxmlformats.org/officeDocument/2006/relationships/hyperlink" Target="https://www.explainthatstuff.com/fiberoptics.html" TargetMode="External"/><Relationship Id="rId4" Type="http://schemas.openxmlformats.org/officeDocument/2006/relationships/hyperlink" Target="https://www.slideshare.net/ankushsaini123/6796optical-fibres" TargetMode="External"/><Relationship Id="rId9" Type="http://schemas.openxmlformats.org/officeDocument/2006/relationships/hyperlink" Target="https://www.ques10.com/p/21598/derive-the-expression-of-numerical-aperture-for-a-/" TargetMode="External"/></Relationships>
</file>

<file path=ppt/slides/_rels/slide13.xml.rels><?xml version="1.0" encoding="UTF-8" standalone="yes"?>
<Relationships xmlns="http://schemas.openxmlformats.org/package/2006/relationships"><Relationship Id="rId2" Type="http://schemas.openxmlformats.org/officeDocument/2006/relationships/hyperlink" Target="http://www.fiberopticshare.com/what-are-the-components-of-optical-fiber.html" TargetMode="Externa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072674" y="156275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9213" y="6014156"/>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FIBRE OPTICS </a:t>
            </a:r>
          </a:p>
          <a:p>
            <a:pPr eaLnBrk="1" hangingPunct="1"/>
            <a:r>
              <a:rPr lang="en-US" sz="1600">
                <a:latin typeface="Raleway ExtraBold" pitchFamily="34" charset="-52"/>
              </a:rPr>
              <a:t> </a:t>
            </a:r>
            <a:endParaRPr lang="en-US" sz="1600" dirty="0">
              <a:latin typeface="Raleway ExtraBold" pitchFamily="34" charset="-52"/>
            </a:endParaRPr>
          </a:p>
        </p:txBody>
      </p:sp>
      <p:sp>
        <p:nvSpPr>
          <p:cNvPr id="26" name="TextBox 25"/>
          <p:cNvSpPr txBox="1">
            <a:spLocks noChangeArrowheads="1"/>
          </p:cNvSpPr>
          <p:nvPr/>
        </p:nvSpPr>
        <p:spPr bwMode="auto">
          <a:xfrm>
            <a:off x="1446663" y="1562755"/>
            <a:ext cx="10059538"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ALL ACADEMIC UNITS </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Bachelor of Engineering (All Sections)</a:t>
            </a:r>
          </a:p>
          <a:p>
            <a:pPr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Prepared by: Deepak Kumar, </a:t>
            </a:r>
            <a:r>
              <a:rPr lang="en-US" sz="2800" dirty="0" err="1">
                <a:latin typeface="Times New Roman" pitchFamily="18" charset="0"/>
                <a:ea typeface="Calibri" panose="020F0502020204030204" pitchFamily="34" charset="0"/>
                <a:cs typeface="Times New Roman" panose="02020603050405020304" pitchFamily="18" charset="0"/>
              </a:rPr>
              <a:t>Asso</a:t>
            </a:r>
            <a:r>
              <a:rPr lang="en-US" sz="2800">
                <a:latin typeface="Times New Roman" pitchFamily="18" charset="0"/>
                <a:ea typeface="Calibri" panose="020F0502020204030204" pitchFamily="34" charset="0"/>
                <a:cs typeface="Times New Roman" panose="02020603050405020304" pitchFamily="18" charset="0"/>
              </a:rPr>
              <a:t>. </a:t>
            </a:r>
            <a:r>
              <a:rPr lang="en-US" sz="2800" dirty="0">
                <a:latin typeface="Times New Roman" pitchFamily="18" charset="0"/>
                <a:ea typeface="Calibri" panose="020F0502020204030204" pitchFamily="34" charset="0"/>
                <a:cs typeface="Times New Roman" panose="02020603050405020304" pitchFamily="18" charset="0"/>
              </a:rPr>
              <a:t>Prof. Physics</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2</a:t>
            </a:fld>
            <a:endParaRPr lang="en-US" dirty="0"/>
          </a:p>
        </p:txBody>
      </p:sp>
      <p:sp>
        <p:nvSpPr>
          <p:cNvPr id="8" name="Title 7"/>
          <p:cNvSpPr txBox="1">
            <a:spLocks noGrp="1" noChangeArrowheads="1"/>
          </p:cNvSpPr>
          <p:nvPr>
            <p:ph type="title"/>
          </p:nvPr>
        </p:nvSpPr>
        <p:spPr bwMode="auto">
          <a:xfrm>
            <a:off x="-287717" y="1297692"/>
            <a:ext cx="4456567" cy="1328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956603" y="1055077"/>
            <a:ext cx="9811481" cy="4462760"/>
          </a:xfrm>
          <a:prstGeom prst="rect">
            <a:avLst/>
          </a:prstGeom>
        </p:spPr>
        <p:txBody>
          <a:bodyPr wrap="square">
            <a:spAutoFit/>
          </a:bodyPr>
          <a:lstStyle/>
          <a:p>
            <a:r>
              <a:rPr lang="en-IN" sz="4400" dirty="0"/>
              <a:t> </a:t>
            </a:r>
            <a:endParaRPr lang="en-US" sz="4400" dirty="0"/>
          </a:p>
          <a:p>
            <a:pPr marL="342900" lvl="0" indent="-342900" algn="just">
              <a:buFont typeface="Arial" panose="020B0604020202020204" pitchFamily="34" charset="0"/>
              <a:buChar char="•"/>
            </a:pPr>
            <a:r>
              <a:rPr lang="en-IN" sz="2400" dirty="0">
                <a:latin typeface="Cambria" panose="02040503050406030204" pitchFamily="18" charset="0"/>
                <a:ea typeface="Cambria" panose="02040503050406030204" pitchFamily="18" charset="0"/>
              </a:rPr>
              <a:t>The course is designed to make the students industry ready to contribute in the growing demand of the industry at local, national and international level.</a:t>
            </a:r>
            <a:endParaRPr lang="en-US" sz="2400" dirty="0">
              <a:latin typeface="Cambria" panose="02040503050406030204" pitchFamily="18" charset="0"/>
              <a:ea typeface="Cambria" panose="02040503050406030204" pitchFamily="18" charset="0"/>
            </a:endParaRPr>
          </a:p>
          <a:p>
            <a:pPr marL="342900" lvl="0" indent="-342900" algn="just">
              <a:buFont typeface="Arial" panose="020B0604020202020204" pitchFamily="34" charset="0"/>
              <a:buChar char="•"/>
            </a:pPr>
            <a:r>
              <a:rPr lang="en-IN" sz="2400" dirty="0">
                <a:latin typeface="Cambria" panose="02040503050406030204" pitchFamily="18" charset="0"/>
                <a:ea typeface="Cambria" panose="02040503050406030204" pitchFamily="18" charset="0"/>
              </a:rPr>
              <a:t>It will make the students competent to understand basic concepts and applications of advanced engineering physics and apply its principles in their respective fields at global platform.</a:t>
            </a:r>
            <a:endParaRPr lang="en-US" sz="2400" dirty="0">
              <a:latin typeface="Cambria" panose="02040503050406030204" pitchFamily="18" charset="0"/>
              <a:ea typeface="Cambria" panose="02040503050406030204" pitchFamily="18" charset="0"/>
            </a:endParaRPr>
          </a:p>
          <a:p>
            <a:pPr marL="342900" lvl="0" indent="-342900" algn="just">
              <a:buFont typeface="Arial" panose="020B0604020202020204" pitchFamily="34" charset="0"/>
              <a:buChar char="•"/>
            </a:pPr>
            <a:r>
              <a:rPr lang="en-IN" sz="2400" dirty="0">
                <a:latin typeface="Cambria" panose="02040503050406030204" pitchFamily="18" charset="0"/>
                <a:ea typeface="Cambria" panose="02040503050406030204" pitchFamily="18" charset="0"/>
              </a:rPr>
              <a:t>It will enhance the skill level of the students and shall make them preferred choice for getting employment in industry and research labs.</a:t>
            </a:r>
            <a:endParaRPr lang="en-US" sz="2400" dirty="0">
              <a:latin typeface="Cambria" panose="02040503050406030204" pitchFamily="18" charset="0"/>
              <a:ea typeface="Cambria" panose="02040503050406030204" pitchFamily="18" charset="0"/>
            </a:endParaRPr>
          </a:p>
          <a:p>
            <a:pPr marL="342900" lvl="0" indent="-342900" algn="just">
              <a:buFont typeface="Arial" panose="020B0604020202020204" pitchFamily="34" charset="0"/>
              <a:buChar char="•"/>
            </a:pPr>
            <a:r>
              <a:rPr lang="en-IN" sz="2400" dirty="0">
                <a:latin typeface="Cambria" panose="02040503050406030204" pitchFamily="18" charset="0"/>
                <a:ea typeface="Cambria" panose="02040503050406030204" pitchFamily="18" charset="0"/>
              </a:rPr>
              <a:t>It will give thorough knowledge of the discipline to enable students to disseminate knowledge in pursuing excellence in academic areas.</a:t>
            </a:r>
            <a:endParaRPr lang="en-US" sz="2400" dirty="0">
              <a:latin typeface="Cambria" panose="02040503050406030204" pitchFamily="18" charset="0"/>
              <a:ea typeface="Cambria" panose="02040503050406030204" pitchFamily="18" charset="0"/>
            </a:endParaRPr>
          </a:p>
        </p:txBody>
      </p:sp>
      <p:sp>
        <p:nvSpPr>
          <p:cNvPr id="3" name="TextBox 2"/>
          <p:cNvSpPr txBox="1"/>
          <p:nvPr/>
        </p:nvSpPr>
        <p:spPr>
          <a:xfrm>
            <a:off x="2982351" y="331802"/>
            <a:ext cx="7540284" cy="1446550"/>
          </a:xfrm>
          <a:prstGeom prst="rect">
            <a:avLst/>
          </a:prstGeom>
          <a:noFill/>
        </p:spPr>
        <p:txBody>
          <a:bodyPr wrap="square" rtlCol="0">
            <a:spAutoFit/>
          </a:bodyPr>
          <a:lstStyle/>
          <a:p>
            <a:r>
              <a:rPr lang="en-IN" sz="4400" b="1" dirty="0">
                <a:latin typeface="Cambria" panose="02040503050406030204" pitchFamily="18" charset="0"/>
                <a:ea typeface="Cambria" panose="02040503050406030204" pitchFamily="18" charset="0"/>
              </a:rPr>
              <a:t>Course Objectives</a:t>
            </a:r>
            <a:endParaRPr lang="en-US" sz="4400" dirty="0">
              <a:latin typeface="Cambria" panose="02040503050406030204" pitchFamily="18" charset="0"/>
              <a:ea typeface="Cambria" panose="02040503050406030204" pitchFamily="18" charset="0"/>
            </a:endParaRPr>
          </a:p>
          <a:p>
            <a:endParaRPr lang="en-US" sz="4400" dirty="0"/>
          </a:p>
        </p:txBody>
      </p:sp>
    </p:spTree>
    <p:extLst>
      <p:ext uri="{BB962C8B-B14F-4D97-AF65-F5344CB8AC3E}">
        <p14:creationId xmlns:p14="http://schemas.microsoft.com/office/powerpoint/2010/main" val="3683904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3</a:t>
            </a:fld>
            <a:endParaRPr lang="en-US" dirty="0"/>
          </a:p>
        </p:txBody>
      </p:sp>
      <p:sp>
        <p:nvSpPr>
          <p:cNvPr id="8" name="Title 7"/>
          <p:cNvSpPr txBox="1">
            <a:spLocks noGrp="1" noChangeArrowheads="1"/>
          </p:cNvSpPr>
          <p:nvPr>
            <p:ph type="title"/>
          </p:nvPr>
        </p:nvSpPr>
        <p:spPr bwMode="auto">
          <a:xfrm>
            <a:off x="3571875" y="-105382"/>
            <a:ext cx="3500438"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28468" y="98474"/>
            <a:ext cx="4929408" cy="769441"/>
          </a:xfrm>
          <a:prstGeom prst="rect">
            <a:avLst/>
          </a:prstGeom>
        </p:spPr>
        <p:txBody>
          <a:bodyPr wrap="square">
            <a:spAutoFit/>
          </a:bodyPr>
          <a:lstStyle/>
          <a:p>
            <a:r>
              <a:rPr lang="en-US" sz="4400" b="1" dirty="0">
                <a:latin typeface="Cambria" panose="02040503050406030204" pitchFamily="18" charset="0"/>
                <a:ea typeface="Cambria" panose="02040503050406030204" pitchFamily="18" charset="0"/>
              </a:rPr>
              <a:t>Course Outcomes </a:t>
            </a:r>
          </a:p>
        </p:txBody>
      </p:sp>
      <p:pic>
        <p:nvPicPr>
          <p:cNvPr id="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3680" y="1287996"/>
            <a:ext cx="5213290" cy="5011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300788" y="6299199"/>
            <a:ext cx="5177178" cy="338554"/>
          </a:xfrm>
          <a:prstGeom prst="rect">
            <a:avLst/>
          </a:prstGeom>
          <a:noFill/>
        </p:spPr>
        <p:txBody>
          <a:bodyPr wrap="square" rtlCol="0">
            <a:spAutoFit/>
          </a:bodyPr>
          <a:lstStyle/>
          <a:p>
            <a:r>
              <a:rPr lang="en-US" sz="1600" dirty="0">
                <a:latin typeface="Casper"/>
              </a:rPr>
              <a:t>                       Figure 2.1 Optical fibres [1]</a:t>
            </a:r>
          </a:p>
        </p:txBody>
      </p:sp>
      <p:graphicFrame>
        <p:nvGraphicFramePr>
          <p:cNvPr id="13" name="Table 12"/>
          <p:cNvGraphicFramePr>
            <a:graphicFrameLocks noGrp="1"/>
          </p:cNvGraphicFramePr>
          <p:nvPr>
            <p:extLst>
              <p:ext uri="{D42A27DB-BD31-4B8C-83A1-F6EECF244321}">
                <p14:modId xmlns:p14="http://schemas.microsoft.com/office/powerpoint/2010/main" val="611932615"/>
              </p:ext>
            </p:extLst>
          </p:nvPr>
        </p:nvGraphicFramePr>
        <p:xfrm>
          <a:off x="196322" y="2096487"/>
          <a:ext cx="5458263" cy="4637392"/>
        </p:xfrm>
        <a:graphic>
          <a:graphicData uri="http://schemas.openxmlformats.org/drawingml/2006/table">
            <a:tbl>
              <a:tblPr firstRow="1" firstCol="1" bandRow="1">
                <a:tableStyleId>{5940675A-B579-460E-94D1-54222C63F5DA}</a:tableStyleId>
              </a:tblPr>
              <a:tblGrid>
                <a:gridCol w="824144">
                  <a:extLst>
                    <a:ext uri="{9D8B030D-6E8A-4147-A177-3AD203B41FA5}">
                      <a16:colId xmlns:a16="http://schemas.microsoft.com/office/drawing/2014/main" val="20000"/>
                    </a:ext>
                  </a:extLst>
                </a:gridCol>
                <a:gridCol w="3661864">
                  <a:extLst>
                    <a:ext uri="{9D8B030D-6E8A-4147-A177-3AD203B41FA5}">
                      <a16:colId xmlns:a16="http://schemas.microsoft.com/office/drawing/2014/main" val="20001"/>
                    </a:ext>
                  </a:extLst>
                </a:gridCol>
                <a:gridCol w="972255">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Quote the basic fundamental concepts of lasers, optical </a:t>
                      </a:r>
                      <a:r>
                        <a:rPr lang="en-US" sz="1100" dirty="0" err="1">
                          <a:effectLst/>
                          <a:latin typeface="Calibri"/>
                          <a:ea typeface="Calibri"/>
                          <a:cs typeface="Calibri"/>
                        </a:rPr>
                        <a:t>fibres</a:t>
                      </a:r>
                      <a:r>
                        <a:rPr lang="en-US" sz="1100" dirty="0">
                          <a:effectLst/>
                          <a:latin typeface="Calibri"/>
                          <a:ea typeface="Calibri"/>
                          <a:cs typeface="Calibri"/>
                        </a:rPr>
                        <a:t>, crystallography, ultrasonic oscillations, semiconductor physics, quantum mechanics and nanotechnology.</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Demonstrate the working of various lasers, </a:t>
                      </a:r>
                      <a:r>
                        <a:rPr lang="en-US" sz="1100" dirty="0" err="1">
                          <a:effectLst/>
                          <a:latin typeface="Calibri"/>
                          <a:ea typeface="Calibri"/>
                          <a:cs typeface="Calibri"/>
                        </a:rPr>
                        <a:t>fibre</a:t>
                      </a:r>
                      <a:r>
                        <a:rPr lang="en-US" sz="1100" dirty="0">
                          <a:effectLst/>
                          <a:latin typeface="Calibri"/>
                          <a:ea typeface="Calibri"/>
                          <a:cs typeface="Calibri"/>
                        </a:rPr>
                        <a:t> components, semiconductor devices; explain the </a:t>
                      </a:r>
                      <a:r>
                        <a:rPr lang="en-US" sz="1100" dirty="0" err="1">
                          <a:effectLst/>
                          <a:latin typeface="Calibri"/>
                          <a:ea typeface="Calibri"/>
                          <a:cs typeface="Calibri"/>
                        </a:rPr>
                        <a:t>behaviour</a:t>
                      </a:r>
                      <a:r>
                        <a:rPr lang="en-US" sz="1100" dirty="0">
                          <a:effectLst/>
                          <a:latin typeface="Calibri"/>
                          <a:ea typeface="Calibri"/>
                          <a:cs typeface="Calibri"/>
                        </a:rPr>
                        <a:t> of crystalline solids, quantum and </a:t>
                      </a:r>
                      <a:r>
                        <a:rPr lang="en-US" sz="1100" dirty="0" err="1">
                          <a:effectLst/>
                          <a:latin typeface="Calibri"/>
                          <a:ea typeface="Calibri"/>
                          <a:cs typeface="Calibri"/>
                        </a:rPr>
                        <a:t>nano</a:t>
                      </a:r>
                      <a:r>
                        <a:rPr lang="en-US" sz="1100" dirty="0">
                          <a:effectLst/>
                          <a:latin typeface="Calibri"/>
                          <a:ea typeface="Calibri"/>
                          <a:cs typeface="Calibri"/>
                        </a:rPr>
                        <a:t>-scale systems.</a:t>
                      </a:r>
                      <a:endParaRPr lang="en-US" sz="110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Solve problems by applying principles related to lasers, </a:t>
                      </a:r>
                      <a:r>
                        <a:rPr lang="en-US" sz="1100" dirty="0" err="1">
                          <a:effectLst/>
                          <a:latin typeface="Calibri"/>
                          <a:ea typeface="Calibri"/>
                          <a:cs typeface="Calibri"/>
                        </a:rPr>
                        <a:t>fibres</a:t>
                      </a:r>
                      <a:r>
                        <a:rPr lang="en-US" sz="1100" dirty="0">
                          <a:effectLst/>
                          <a:latin typeface="Calibri"/>
                          <a:ea typeface="Calibri"/>
                          <a:cs typeface="Calibri"/>
                        </a:rPr>
                        <a:t>, semiconductors, oscillations, quantum and </a:t>
                      </a:r>
                      <a:r>
                        <a:rPr lang="en-US" sz="1100" dirty="0" err="1">
                          <a:effectLst/>
                          <a:latin typeface="Calibri"/>
                          <a:ea typeface="Calibri"/>
                          <a:cs typeface="Calibri"/>
                        </a:rPr>
                        <a:t>nanoscience</a:t>
                      </a:r>
                      <a:r>
                        <a:rPr lang="en-US" sz="1100" dirty="0">
                          <a:effectLst/>
                          <a:latin typeface="Calibri"/>
                          <a:ea typeface="Calibri"/>
                          <a:cs typeface="Calibri"/>
                        </a:rPr>
                        <a:t>.</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Compare various lasers and </a:t>
                      </a:r>
                      <a:r>
                        <a:rPr lang="en-US" sz="1100" dirty="0" err="1">
                          <a:effectLst/>
                          <a:latin typeface="Calibri"/>
                          <a:ea typeface="Calibri"/>
                          <a:cs typeface="Calibri"/>
                        </a:rPr>
                        <a:t>fibres</a:t>
                      </a:r>
                      <a:r>
                        <a:rPr lang="en-US" sz="1100" dirty="0">
                          <a:effectLst/>
                          <a:latin typeface="Calibri"/>
                          <a:ea typeface="Calibri"/>
                          <a:cs typeface="Calibri"/>
                        </a:rPr>
                        <a:t>, semiconducting devices, crystalline materials, structures at quantum and </a:t>
                      </a:r>
                      <a:r>
                        <a:rPr lang="en-US" sz="1100" dirty="0" err="1">
                          <a:effectLst/>
                          <a:latin typeface="Calibri"/>
                          <a:ea typeface="Calibri"/>
                          <a:cs typeface="Calibri"/>
                        </a:rPr>
                        <a:t>nanoscale</a:t>
                      </a:r>
                      <a:r>
                        <a:rPr lang="en-US" sz="1100" dirty="0">
                          <a:effectLst/>
                          <a:latin typeface="Calibri"/>
                          <a:ea typeface="Calibri"/>
                          <a:cs typeface="Calibri"/>
                        </a:rPr>
                        <a:t> on the basis of their properties for industrial applications.</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Develop various systems using lasers, </a:t>
                      </a:r>
                      <a:r>
                        <a:rPr lang="en-US" sz="1100" dirty="0" err="1">
                          <a:effectLst/>
                          <a:latin typeface="Calibri"/>
                          <a:ea typeface="Calibri"/>
                          <a:cs typeface="Calibri"/>
                        </a:rPr>
                        <a:t>fibres</a:t>
                      </a:r>
                      <a:r>
                        <a:rPr lang="en-US" sz="1100" dirty="0">
                          <a:effectLst/>
                          <a:latin typeface="Calibri"/>
                          <a:ea typeface="Calibri"/>
                          <a:cs typeface="Calibri"/>
                        </a:rPr>
                        <a:t>, semiconductors and </a:t>
                      </a:r>
                      <a:r>
                        <a:rPr lang="en-US" sz="1100" dirty="0" err="1">
                          <a:effectLst/>
                          <a:latin typeface="Calibri"/>
                          <a:ea typeface="Calibri"/>
                          <a:cs typeface="Calibri"/>
                        </a:rPr>
                        <a:t>nanomaterials</a:t>
                      </a:r>
                      <a:r>
                        <a:rPr lang="en-US" sz="1100" dirty="0">
                          <a:effectLst/>
                          <a:latin typeface="Calibri"/>
                          <a:ea typeface="Calibri"/>
                          <a:cs typeface="Calibri"/>
                        </a:rPr>
                        <a:t> for futuristic applications.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1809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 y="1237956"/>
            <a:ext cx="5711134" cy="5620043"/>
          </a:xfrm>
        </p:spPr>
        <p:txBody>
          <a:bodyPr>
            <a:noAutofit/>
          </a:bodyPr>
          <a:lstStyle/>
          <a:p>
            <a:pPr marL="355600" indent="-342900">
              <a:lnSpc>
                <a:spcPct val="100000"/>
              </a:lnSpc>
              <a:spcBef>
                <a:spcPts val="310"/>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Times New Roman" pitchFamily="18" charset="0"/>
              </a:rPr>
              <a:t>  </a:t>
            </a:r>
            <a:r>
              <a:rPr lang="en-US" sz="2400" dirty="0">
                <a:latin typeface="Cambria" panose="02040503050406030204" pitchFamily="18" charset="0"/>
                <a:ea typeface="Cambria" panose="02040503050406030204" pitchFamily="18" charset="0"/>
                <a:cs typeface="Arial"/>
              </a:rPr>
              <a:t>Brief</a:t>
            </a:r>
            <a:r>
              <a:rPr lang="en-US" sz="2400" spc="-15" dirty="0">
                <a:latin typeface="Cambria" panose="02040503050406030204" pitchFamily="18" charset="0"/>
                <a:ea typeface="Cambria" panose="02040503050406030204" pitchFamily="18" charset="0"/>
                <a:cs typeface="Arial"/>
              </a:rPr>
              <a:t> </a:t>
            </a:r>
            <a:r>
              <a:rPr lang="en-US" sz="2400" spc="-5" dirty="0">
                <a:latin typeface="Cambria" panose="02040503050406030204" pitchFamily="18" charset="0"/>
                <a:ea typeface="Cambria" panose="02040503050406030204" pitchFamily="18" charset="0"/>
                <a:cs typeface="Arial"/>
              </a:rPr>
              <a:t>Introduction</a:t>
            </a:r>
            <a:endParaRPr lang="en-US" sz="2400" dirty="0">
              <a:latin typeface="Cambria" panose="02040503050406030204" pitchFamily="18" charset="0"/>
              <a:ea typeface="Cambria" panose="02040503050406030204" pitchFamily="18" charset="0"/>
              <a:cs typeface="Arial"/>
            </a:endParaRPr>
          </a:p>
          <a:p>
            <a:pPr marL="469900" indent="-457200">
              <a:lnSpc>
                <a:spcPct val="100000"/>
              </a:lnSpc>
              <a:spcBef>
                <a:spcPts val="234"/>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Optical fiber</a:t>
            </a:r>
            <a:r>
              <a:rPr lang="en-US" sz="2400" spc="-4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construction</a:t>
            </a: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Critical angle &amp; </a:t>
            </a:r>
            <a:r>
              <a:rPr lang="en-US" sz="2400" spc="-45" dirty="0">
                <a:latin typeface="Cambria" panose="02040503050406030204" pitchFamily="18" charset="0"/>
                <a:ea typeface="Cambria" panose="02040503050406030204" pitchFamily="18" charset="0"/>
                <a:cs typeface="Arial"/>
              </a:rPr>
              <a:t>Total </a:t>
            </a:r>
            <a:r>
              <a:rPr lang="en-US" sz="2400" dirty="0">
                <a:latin typeface="Cambria" panose="02040503050406030204" pitchFamily="18" charset="0"/>
                <a:ea typeface="Cambria" panose="02040503050406030204" pitchFamily="18" charset="0"/>
                <a:cs typeface="Arial"/>
              </a:rPr>
              <a:t>Internal</a:t>
            </a:r>
            <a:r>
              <a:rPr lang="en-US" sz="2400" spc="-114"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Reflection</a:t>
            </a:r>
          </a:p>
          <a:p>
            <a:pPr marL="469900" indent="-457200">
              <a:lnSpc>
                <a:spcPct val="100000"/>
              </a:lnSpc>
              <a:spcBef>
                <a:spcPts val="229"/>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Acceptance angle &amp; acceptance</a:t>
            </a:r>
            <a:r>
              <a:rPr lang="en-US" sz="2400" spc="-12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cone</a:t>
            </a: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Numerical</a:t>
            </a:r>
            <a:r>
              <a:rPr lang="en-US" sz="2400" spc="-140"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Aperture</a:t>
            </a: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spc="-15" dirty="0">
                <a:latin typeface="Cambria" panose="02040503050406030204" pitchFamily="18" charset="0"/>
                <a:ea typeface="Cambria" panose="02040503050406030204" pitchFamily="18" charset="0"/>
                <a:cs typeface="Arial"/>
              </a:rPr>
              <a:t>V-Number</a:t>
            </a: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spc="-20" dirty="0">
                <a:latin typeface="Cambria" panose="02040503050406030204" pitchFamily="18" charset="0"/>
                <a:ea typeface="Cambria" panose="02040503050406030204" pitchFamily="18" charset="0"/>
                <a:cs typeface="Arial"/>
              </a:rPr>
              <a:t>Types </a:t>
            </a:r>
            <a:r>
              <a:rPr lang="en-US" sz="2400" dirty="0">
                <a:latin typeface="Cambria" panose="02040503050406030204" pitchFamily="18" charset="0"/>
                <a:ea typeface="Cambria" panose="02040503050406030204" pitchFamily="18" charset="0"/>
                <a:cs typeface="Arial"/>
              </a:rPr>
              <a:t>of fibers</a:t>
            </a:r>
          </a:p>
          <a:p>
            <a:pPr marL="469900" indent="-457200">
              <a:lnSpc>
                <a:spcPct val="100000"/>
              </a:lnSpc>
              <a:spcBef>
                <a:spcPts val="229"/>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Dispersion &amp; its</a:t>
            </a:r>
            <a:r>
              <a:rPr lang="en-US" sz="2400" spc="-60" dirty="0">
                <a:latin typeface="Cambria" panose="02040503050406030204" pitchFamily="18" charset="0"/>
                <a:ea typeface="Cambria" panose="02040503050406030204" pitchFamily="18" charset="0"/>
                <a:cs typeface="Arial"/>
              </a:rPr>
              <a:t> </a:t>
            </a:r>
            <a:r>
              <a:rPr lang="en-US" sz="2400" spc="-5" dirty="0">
                <a:latin typeface="Cambria" panose="02040503050406030204" pitchFamily="18" charset="0"/>
                <a:ea typeface="Cambria" panose="02040503050406030204" pitchFamily="18" charset="0"/>
                <a:cs typeface="Arial"/>
              </a:rPr>
              <a:t>types</a:t>
            </a:r>
            <a:endParaRPr lang="en-US" sz="2400" dirty="0">
              <a:latin typeface="Cambria" panose="02040503050406030204" pitchFamily="18" charset="0"/>
              <a:ea typeface="Cambria" panose="02040503050406030204" pitchFamily="18" charset="0"/>
              <a:cs typeface="Arial"/>
            </a:endParaRP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Attenuation and Losses in</a:t>
            </a:r>
            <a:r>
              <a:rPr lang="en-US" sz="2400" spc="-9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Fiber</a:t>
            </a: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Advantages</a:t>
            </a: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Disadvantages</a:t>
            </a:r>
          </a:p>
          <a:p>
            <a:pPr marL="469900" indent="-457200">
              <a:lnSpc>
                <a:spcPct val="100000"/>
              </a:lnSpc>
              <a:spcBef>
                <a:spcPts val="229"/>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Applications</a:t>
            </a:r>
          </a:p>
          <a:p>
            <a:pPr>
              <a:lnSpc>
                <a:spcPct val="150000"/>
              </a:lnSpc>
            </a:pPr>
            <a:endParaRPr lang="en-US" dirty="0">
              <a:latin typeface="Casper"/>
              <a:cs typeface="Times New Roman" pitchFamily="18" charset="0"/>
            </a:endParaRPr>
          </a:p>
          <a:p>
            <a:pPr algn="just">
              <a:lnSpc>
                <a:spcPct val="150000"/>
              </a:lnSpc>
            </a:pPr>
            <a:endParaRPr lang="en-US" dirty="0">
              <a:solidFill>
                <a:schemeClr val="tx1">
                  <a:lumMod val="85000"/>
                  <a:lumOff val="15000"/>
                </a:schemeClr>
              </a:solidFill>
              <a:latin typeface="Casper"/>
              <a:cs typeface="Arial" panose="020B0604020202020204" pitchFamily="34" charset="0"/>
            </a:endParaRPr>
          </a:p>
          <a:p>
            <a:endParaRPr lang="en-US"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4</a:t>
            </a:fld>
            <a:endParaRPr lang="en-US" dirty="0"/>
          </a:p>
        </p:txBody>
      </p:sp>
      <p:sp>
        <p:nvSpPr>
          <p:cNvPr id="8" name="Title 7"/>
          <p:cNvSpPr txBox="1">
            <a:spLocks noGrp="1" noChangeArrowheads="1"/>
          </p:cNvSpPr>
          <p:nvPr>
            <p:ph type="title"/>
          </p:nvPr>
        </p:nvSpPr>
        <p:spPr bwMode="auto">
          <a:xfrm rot="10800000" flipV="1">
            <a:off x="858129" y="285685"/>
            <a:ext cx="8553156"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mbria" panose="02040503050406030204" pitchFamily="18" charset="0"/>
                <a:ea typeface="Cambria" panose="02040503050406030204" pitchFamily="18" charset="0"/>
              </a:rPr>
              <a:t>Brief Flow of Presentation</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711134" y="6155323"/>
            <a:ext cx="5428132" cy="338554"/>
          </a:xfrm>
          <a:prstGeom prst="rect">
            <a:avLst/>
          </a:prstGeom>
          <a:noFill/>
        </p:spPr>
        <p:txBody>
          <a:bodyPr wrap="square" rtlCol="0">
            <a:spAutoFit/>
          </a:bodyPr>
          <a:lstStyle/>
          <a:p>
            <a:r>
              <a:rPr lang="en-US" sz="1600" dirty="0">
                <a:latin typeface="Casper"/>
              </a:rPr>
              <a:t>Figure 2.2  Basic structure </a:t>
            </a:r>
            <a:r>
              <a:rPr lang="en-US" sz="1600">
                <a:latin typeface="Casper"/>
              </a:rPr>
              <a:t>and parts </a:t>
            </a:r>
            <a:r>
              <a:rPr lang="en-US" sz="1600" dirty="0">
                <a:latin typeface="Casper"/>
              </a:rPr>
              <a:t>of optical fibre [2]</a:t>
            </a:r>
          </a:p>
        </p:txBody>
      </p:sp>
      <p:pic>
        <p:nvPicPr>
          <p:cNvPr id="2" name="Picture 1"/>
          <p:cNvPicPr>
            <a:picLocks noChangeAspect="1"/>
          </p:cNvPicPr>
          <p:nvPr/>
        </p:nvPicPr>
        <p:blipFill>
          <a:blip r:embed="rId2"/>
          <a:stretch>
            <a:fillRect/>
          </a:stretch>
        </p:blipFill>
        <p:spPr>
          <a:xfrm>
            <a:off x="6286501" y="1486287"/>
            <a:ext cx="4157662" cy="4142988"/>
          </a:xfrm>
          <a:prstGeom prst="rect">
            <a:avLst/>
          </a:prstGeom>
        </p:spPr>
      </p:pic>
    </p:spTree>
    <p:extLst>
      <p:ext uri="{BB962C8B-B14F-4D97-AF65-F5344CB8AC3E}">
        <p14:creationId xmlns:p14="http://schemas.microsoft.com/office/powerpoint/2010/main" val="693801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329" y="121044"/>
            <a:ext cx="10751990" cy="987425"/>
          </a:xfrm>
        </p:spPr>
        <p:txBody>
          <a:bodyPr>
            <a:noAutofit/>
          </a:bodyPr>
          <a:lstStyle/>
          <a:p>
            <a:r>
              <a:rPr lang="en-US" sz="4400" b="1" dirty="0">
                <a:latin typeface="Cambria" panose="02040503050406030204" pitchFamily="18" charset="0"/>
                <a:ea typeface="Cambria" panose="02040503050406030204" pitchFamily="18" charset="0"/>
              </a:rPr>
              <a:t>Acceptance angle and acceptance cone</a:t>
            </a:r>
          </a:p>
        </p:txBody>
      </p:sp>
      <p:sp>
        <p:nvSpPr>
          <p:cNvPr id="4" name="Text Placeholder 3"/>
          <p:cNvSpPr>
            <a:spLocks noGrp="1"/>
          </p:cNvSpPr>
          <p:nvPr>
            <p:ph type="body" sz="half" idx="2"/>
          </p:nvPr>
        </p:nvSpPr>
        <p:spPr>
          <a:xfrm>
            <a:off x="269869" y="1448973"/>
            <a:ext cx="5230599" cy="3722912"/>
          </a:xfrm>
        </p:spPr>
        <p:txBody>
          <a:bodyPr>
            <a:normAutofit/>
          </a:bodyPr>
          <a:lstStyle/>
          <a:p>
            <a:r>
              <a:rPr lang="en-US" sz="2400" b="1" dirty="0">
                <a:latin typeface="Cambria" panose="02040503050406030204" pitchFamily="18" charset="0"/>
                <a:ea typeface="Cambria" panose="02040503050406030204" pitchFamily="18" charset="0"/>
              </a:rPr>
              <a:t>Acceptance angle</a:t>
            </a:r>
          </a:p>
          <a:p>
            <a:endParaRPr lang="en-US" sz="2400" dirty="0">
              <a:latin typeface="Cambria" panose="02040503050406030204" pitchFamily="18" charset="0"/>
              <a:ea typeface="Cambria" panose="02040503050406030204" pitchFamily="18" charset="0"/>
            </a:endParaRPr>
          </a:p>
          <a:p>
            <a:pPr algn="just"/>
            <a:r>
              <a:rPr lang="en-US" sz="2400" dirty="0">
                <a:latin typeface="Cambria" panose="02040503050406030204" pitchFamily="18" charset="0"/>
                <a:ea typeface="Cambria" panose="02040503050406030204" pitchFamily="18" charset="0"/>
              </a:rPr>
              <a:t>It is the maximum angle of a ray (against the fiber axis) hitting the </a:t>
            </a:r>
            <a:r>
              <a:rPr lang="en-US" sz="2400" dirty="0">
                <a:latin typeface="Cambria" panose="02040503050406030204" pitchFamily="18" charset="0"/>
                <a:ea typeface="Cambria" panose="02040503050406030204" pitchFamily="18" charset="0"/>
                <a:hlinkClick r:id="rId2" tooltip="the region in an optical fiber which guides light"/>
              </a:rPr>
              <a:t>fiber core</a:t>
            </a:r>
            <a:r>
              <a:rPr lang="en-US" sz="2400" dirty="0">
                <a:latin typeface="Cambria" panose="02040503050406030204" pitchFamily="18" charset="0"/>
                <a:ea typeface="Cambria" panose="02040503050406030204" pitchFamily="18" charset="0"/>
              </a:rPr>
              <a:t> which allows the incident light to be guided by the core.</a:t>
            </a:r>
          </a:p>
        </p:txBody>
      </p:sp>
      <p:sp>
        <p:nvSpPr>
          <p:cNvPr id="5" name="Slide Number Placeholder 4"/>
          <p:cNvSpPr>
            <a:spLocks noGrp="1"/>
          </p:cNvSpPr>
          <p:nvPr>
            <p:ph type="sldNum" sz="quarter" idx="12"/>
          </p:nvPr>
        </p:nvSpPr>
        <p:spPr/>
        <p:txBody>
          <a:bodyPr/>
          <a:lstStyle/>
          <a:p>
            <a:fld id="{BDCDBBEF-AA6C-4BA6-85B2-A17D7F280E38}" type="slidenum">
              <a:rPr lang="en-US" smtClean="0"/>
              <a:t>5</a:t>
            </a:fld>
            <a:endParaRPr lang="en-US"/>
          </a:p>
        </p:txBody>
      </p:sp>
      <p:grpSp>
        <p:nvGrpSpPr>
          <p:cNvPr id="9" name="object 4"/>
          <p:cNvGrpSpPr/>
          <p:nvPr/>
        </p:nvGrpSpPr>
        <p:grpSpPr>
          <a:xfrm>
            <a:off x="5911123" y="1870243"/>
            <a:ext cx="5928689" cy="3404682"/>
            <a:chOff x="737387" y="3280144"/>
            <a:chExt cx="6941744" cy="2664345"/>
          </a:xfrm>
        </p:grpSpPr>
        <p:sp>
          <p:nvSpPr>
            <p:cNvPr id="10" name="object 5"/>
            <p:cNvSpPr/>
            <p:nvPr/>
          </p:nvSpPr>
          <p:spPr>
            <a:xfrm>
              <a:off x="907161" y="3280144"/>
              <a:ext cx="6771970" cy="2583711"/>
            </a:xfrm>
            <a:prstGeom prst="rect">
              <a:avLst/>
            </a:prstGeom>
            <a:blipFill>
              <a:blip r:embed="rId3"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1" name="object 6"/>
            <p:cNvSpPr/>
            <p:nvPr/>
          </p:nvSpPr>
          <p:spPr>
            <a:xfrm>
              <a:off x="737387" y="4875784"/>
              <a:ext cx="336550" cy="1068705"/>
            </a:xfrm>
            <a:custGeom>
              <a:avLst/>
              <a:gdLst/>
              <a:ahLst/>
              <a:cxnLst/>
              <a:rect l="l" t="t" r="r" b="b"/>
              <a:pathLst>
                <a:path w="336550" h="1068704">
                  <a:moveTo>
                    <a:pt x="8851" y="963980"/>
                  </a:moveTo>
                  <a:lnTo>
                    <a:pt x="2057" y="965720"/>
                  </a:lnTo>
                  <a:lnTo>
                    <a:pt x="0" y="969175"/>
                  </a:lnTo>
                  <a:lnTo>
                    <a:pt x="25361" y="1068603"/>
                  </a:lnTo>
                  <a:lnTo>
                    <a:pt x="36183" y="1058227"/>
                  </a:lnTo>
                  <a:lnTo>
                    <a:pt x="34937" y="1058227"/>
                  </a:lnTo>
                  <a:lnTo>
                    <a:pt x="22720" y="1054735"/>
                  </a:lnTo>
                  <a:lnTo>
                    <a:pt x="29171" y="1032156"/>
                  </a:lnTo>
                  <a:lnTo>
                    <a:pt x="12306" y="966038"/>
                  </a:lnTo>
                  <a:lnTo>
                    <a:pt x="8851" y="963980"/>
                  </a:lnTo>
                  <a:close/>
                </a:path>
                <a:path w="336550" h="1068704">
                  <a:moveTo>
                    <a:pt x="29171" y="1032156"/>
                  </a:moveTo>
                  <a:lnTo>
                    <a:pt x="22720" y="1054735"/>
                  </a:lnTo>
                  <a:lnTo>
                    <a:pt x="34937" y="1058227"/>
                  </a:lnTo>
                  <a:lnTo>
                    <a:pt x="35884" y="1054912"/>
                  </a:lnTo>
                  <a:lnTo>
                    <a:pt x="34975" y="1054912"/>
                  </a:lnTo>
                  <a:lnTo>
                    <a:pt x="24434" y="1051902"/>
                  </a:lnTo>
                  <a:lnTo>
                    <a:pt x="32287" y="1044372"/>
                  </a:lnTo>
                  <a:lnTo>
                    <a:pt x="29171" y="1032156"/>
                  </a:lnTo>
                  <a:close/>
                </a:path>
                <a:path w="336550" h="1068704">
                  <a:moveTo>
                    <a:pt x="90639" y="988415"/>
                  </a:moveTo>
                  <a:lnTo>
                    <a:pt x="41390" y="1035643"/>
                  </a:lnTo>
                  <a:lnTo>
                    <a:pt x="34937" y="1058227"/>
                  </a:lnTo>
                  <a:lnTo>
                    <a:pt x="36183" y="1058227"/>
                  </a:lnTo>
                  <a:lnTo>
                    <a:pt x="99428" y="997585"/>
                  </a:lnTo>
                  <a:lnTo>
                    <a:pt x="99517" y="993571"/>
                  </a:lnTo>
                  <a:lnTo>
                    <a:pt x="94653" y="988504"/>
                  </a:lnTo>
                  <a:lnTo>
                    <a:pt x="90639" y="988415"/>
                  </a:lnTo>
                  <a:close/>
                </a:path>
                <a:path w="336550" h="1068704">
                  <a:moveTo>
                    <a:pt x="32287" y="1044372"/>
                  </a:moveTo>
                  <a:lnTo>
                    <a:pt x="24434" y="1051902"/>
                  </a:lnTo>
                  <a:lnTo>
                    <a:pt x="34975" y="1054912"/>
                  </a:lnTo>
                  <a:lnTo>
                    <a:pt x="32287" y="1044372"/>
                  </a:lnTo>
                  <a:close/>
                </a:path>
                <a:path w="336550" h="1068704">
                  <a:moveTo>
                    <a:pt x="41390" y="1035643"/>
                  </a:moveTo>
                  <a:lnTo>
                    <a:pt x="32287" y="1044372"/>
                  </a:lnTo>
                  <a:lnTo>
                    <a:pt x="34975" y="1054912"/>
                  </a:lnTo>
                  <a:lnTo>
                    <a:pt x="35884" y="1054912"/>
                  </a:lnTo>
                  <a:lnTo>
                    <a:pt x="41390" y="1035643"/>
                  </a:lnTo>
                  <a:close/>
                </a:path>
                <a:path w="336550" h="1068704">
                  <a:moveTo>
                    <a:pt x="324065" y="0"/>
                  </a:moveTo>
                  <a:lnTo>
                    <a:pt x="29171" y="1032156"/>
                  </a:lnTo>
                  <a:lnTo>
                    <a:pt x="32287" y="1044372"/>
                  </a:lnTo>
                  <a:lnTo>
                    <a:pt x="41390" y="1035643"/>
                  </a:lnTo>
                  <a:lnTo>
                    <a:pt x="336283" y="3556"/>
                  </a:lnTo>
                  <a:lnTo>
                    <a:pt x="324065" y="0"/>
                  </a:lnTo>
                  <a:close/>
                </a:path>
              </a:pathLst>
            </a:custGeom>
            <a:solidFill>
              <a:srgbClr val="93B6D2"/>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sp>
        <p:nvSpPr>
          <p:cNvPr id="3" name="TextBox 2"/>
          <p:cNvSpPr txBox="1"/>
          <p:nvPr/>
        </p:nvSpPr>
        <p:spPr>
          <a:xfrm>
            <a:off x="6506550" y="5274925"/>
            <a:ext cx="4536588" cy="861774"/>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Figure 2.3 Acceptance angle of a typical step index fiber with a fiber core of refractive index n</a:t>
            </a:r>
            <a:r>
              <a:rPr lang="en-US" sz="1600" baseline="-25000" dirty="0">
                <a:latin typeface="Cambria" panose="02040503050406030204" pitchFamily="18" charset="0"/>
                <a:ea typeface="Cambria" panose="02040503050406030204" pitchFamily="18" charset="0"/>
              </a:rPr>
              <a:t>1</a:t>
            </a:r>
            <a:r>
              <a:rPr lang="en-US" sz="1600" dirty="0">
                <a:latin typeface="Cambria" panose="02040503050406030204" pitchFamily="18" charset="0"/>
                <a:ea typeface="Cambria" panose="02040503050406030204" pitchFamily="18" charset="0"/>
              </a:rPr>
              <a:t> [6]</a:t>
            </a:r>
          </a:p>
          <a:p>
            <a:endParaRPr lang="en-US" dirty="0"/>
          </a:p>
        </p:txBody>
      </p:sp>
      <p:sp>
        <p:nvSpPr>
          <p:cNvPr id="6" name="Flowchart: Terminator 5"/>
          <p:cNvSpPr/>
          <p:nvPr/>
        </p:nvSpPr>
        <p:spPr>
          <a:xfrm>
            <a:off x="4262512" y="5274925"/>
            <a:ext cx="1793610" cy="666276"/>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Acceptance angle</a:t>
            </a:r>
          </a:p>
        </p:txBody>
      </p:sp>
    </p:spTree>
    <p:extLst>
      <p:ext uri="{BB962C8B-B14F-4D97-AF65-F5344CB8AC3E}">
        <p14:creationId xmlns:p14="http://schemas.microsoft.com/office/powerpoint/2010/main" val="1785095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5408" y="457200"/>
            <a:ext cx="4515729" cy="768485"/>
          </a:xfrm>
        </p:spPr>
        <p:txBody>
          <a:bodyPr>
            <a:noAutofit/>
          </a:bodyPr>
          <a:lstStyle/>
          <a:p>
            <a:r>
              <a:rPr lang="en-US" sz="4400" b="1" dirty="0">
                <a:latin typeface="Cambria" panose="02040503050406030204" pitchFamily="18" charset="0"/>
                <a:ea typeface="Cambria" panose="02040503050406030204" pitchFamily="18" charset="0"/>
              </a:rPr>
              <a:t>Acceptance cone</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32968" y="1964987"/>
            <a:ext cx="6120832" cy="3190673"/>
          </a:xfrm>
        </p:spPr>
      </p:pic>
      <p:sp>
        <p:nvSpPr>
          <p:cNvPr id="4" name="Text Placeholder 3"/>
          <p:cNvSpPr>
            <a:spLocks noGrp="1"/>
          </p:cNvSpPr>
          <p:nvPr>
            <p:ph type="body" sz="half" idx="2"/>
          </p:nvPr>
        </p:nvSpPr>
        <p:spPr>
          <a:xfrm>
            <a:off x="253218" y="2138289"/>
            <a:ext cx="4515730" cy="3017371"/>
          </a:xfrm>
        </p:spPr>
        <p:txBody>
          <a:bodyPr>
            <a:noAutofit/>
          </a:bodyPr>
          <a:lstStyle/>
          <a:p>
            <a:pPr algn="just"/>
            <a:r>
              <a:rPr lang="en-US" sz="2400" dirty="0">
                <a:latin typeface="Cambria" panose="02040503050406030204" pitchFamily="18" charset="0"/>
                <a:ea typeface="Cambria" panose="02040503050406030204" pitchFamily="18" charset="0"/>
              </a:rPr>
              <a:t>In fiber optics, the cone within which optical power may be coupled into the bound modes of an optical fiber. Here, the acceptance cone is derived by rotating the acceptance angle about the fiber axis.</a:t>
            </a:r>
          </a:p>
          <a:p>
            <a:pPr algn="just"/>
            <a:endParaRPr lang="en-US" sz="2400" dirty="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6</a:t>
            </a:fld>
            <a:endParaRPr lang="en-US"/>
          </a:p>
        </p:txBody>
      </p:sp>
      <p:sp>
        <p:nvSpPr>
          <p:cNvPr id="7" name="TextBox 6"/>
          <p:cNvSpPr txBox="1"/>
          <p:nvPr/>
        </p:nvSpPr>
        <p:spPr>
          <a:xfrm>
            <a:off x="5474539" y="5539546"/>
            <a:ext cx="6373750" cy="338554"/>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Figure 2.4 Acceptance cone of an optical fiber [7]</a:t>
            </a:r>
            <a:endParaRPr lang="en-US" sz="1600" dirty="0"/>
          </a:p>
        </p:txBody>
      </p:sp>
    </p:spTree>
    <p:extLst>
      <p:ext uri="{BB962C8B-B14F-4D97-AF65-F5344CB8AC3E}">
        <p14:creationId xmlns:p14="http://schemas.microsoft.com/office/powerpoint/2010/main" val="2020942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33" y="1"/>
            <a:ext cx="9513651" cy="826532"/>
          </a:xfrm>
        </p:spPr>
        <p:txBody>
          <a:bodyPr>
            <a:normAutofit/>
          </a:bodyPr>
          <a:lstStyle/>
          <a:p>
            <a:r>
              <a:rPr lang="en-US" sz="4400" b="1" dirty="0">
                <a:latin typeface="Cambria" panose="02040503050406030204" pitchFamily="18" charset="0"/>
                <a:ea typeface="Cambria" panose="02040503050406030204" pitchFamily="18" charset="0"/>
              </a:rPr>
              <a:t>Expression of Acceptance angle</a:t>
            </a:r>
          </a:p>
        </p:txBody>
      </p:sp>
      <p:sp>
        <p:nvSpPr>
          <p:cNvPr id="5" name="Slide Number Placeholder 4"/>
          <p:cNvSpPr>
            <a:spLocks noGrp="1"/>
          </p:cNvSpPr>
          <p:nvPr>
            <p:ph type="sldNum" sz="quarter" idx="12"/>
          </p:nvPr>
        </p:nvSpPr>
        <p:spPr/>
        <p:txBody>
          <a:bodyPr/>
          <a:lstStyle/>
          <a:p>
            <a:fld id="{BDCDBBEF-AA6C-4BA6-85B2-A17D7F280E38}" type="slidenum">
              <a:rPr lang="en-US" smtClean="0"/>
              <a:t>7</a:t>
            </a:fld>
            <a:endParaRPr lang="en-US"/>
          </a:p>
        </p:txBody>
      </p:sp>
      <p:sp>
        <p:nvSpPr>
          <p:cNvPr id="7" name="TextBox 6"/>
          <p:cNvSpPr txBox="1"/>
          <p:nvPr/>
        </p:nvSpPr>
        <p:spPr>
          <a:xfrm>
            <a:off x="6522619" y="1328077"/>
            <a:ext cx="3646025" cy="369332"/>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2" name="object 14"/>
              <p:cNvSpPr txBox="1">
                <a:spLocks noGrp="1"/>
              </p:cNvSpPr>
              <p:nvPr>
                <p:ph type="body" sz="half" idx="2"/>
              </p:nvPr>
            </p:nvSpPr>
            <p:spPr>
              <a:xfrm>
                <a:off x="0" y="1328077"/>
                <a:ext cx="5623427" cy="4738092"/>
              </a:xfrm>
              <a:prstGeom prst="rect">
                <a:avLst/>
              </a:prstGeom>
              <a:pattFill prst="pct10">
                <a:fgClr>
                  <a:schemeClr val="bg1"/>
                </a:fgClr>
                <a:bgClr>
                  <a:schemeClr val="bg1"/>
                </a:bgClr>
              </a:pattFill>
            </p:spPr>
            <p:txBody>
              <a:bodyPr vert="horz" wrap="square" lIns="0" tIns="17145" rIns="0" bIns="0" rtlCol="0">
                <a:spAutoFit/>
              </a:bodyPr>
              <a:lstStyle/>
              <a:p>
                <a:pPr marL="25400">
                  <a:lnSpc>
                    <a:spcPct val="100000"/>
                  </a:lnSpc>
                  <a:spcBef>
                    <a:spcPts val="135"/>
                  </a:spcBef>
                  <a:tabLst>
                    <a:tab pos="1296035" algn="l"/>
                  </a:tabLst>
                </a:pPr>
                <a:r>
                  <a:rPr lang="en-US" sz="2400" spc="-5" dirty="0">
                    <a:latin typeface="Cambria" panose="02040503050406030204" pitchFamily="18" charset="0"/>
                    <a:ea typeface="Cambria" panose="02040503050406030204" pitchFamily="18" charset="0"/>
                    <a:cs typeface="Arial"/>
                  </a:rPr>
                  <a:t>Applying </a:t>
                </a:r>
                <a:r>
                  <a:rPr lang="en-US" sz="2400" dirty="0">
                    <a:latin typeface="Cambria" panose="02040503050406030204" pitchFamily="18" charset="0"/>
                    <a:ea typeface="Cambria" panose="02040503050406030204" pitchFamily="18" charset="0"/>
                    <a:cs typeface="Arial"/>
                  </a:rPr>
                  <a:t>Snell’ </a:t>
                </a:r>
                <a:r>
                  <a:rPr lang="en-US" sz="2400" spc="5" dirty="0">
                    <a:latin typeface="Cambria" panose="02040503050406030204" pitchFamily="18" charset="0"/>
                    <a:ea typeface="Cambria" panose="02040503050406030204" pitchFamily="18" charset="0"/>
                    <a:cs typeface="Arial"/>
                  </a:rPr>
                  <a:t>s </a:t>
                </a:r>
                <a:r>
                  <a:rPr lang="en-US" sz="2400" dirty="0">
                    <a:latin typeface="Cambria" panose="02040503050406030204" pitchFamily="18" charset="0"/>
                    <a:ea typeface="Cambria" panose="02040503050406030204" pitchFamily="18" charset="0"/>
                    <a:cs typeface="Arial"/>
                  </a:rPr>
                  <a:t>law </a:t>
                </a:r>
                <a:r>
                  <a:rPr lang="en-US" sz="2400" spc="5" dirty="0">
                    <a:latin typeface="Cambria" panose="02040503050406030204" pitchFamily="18" charset="0"/>
                    <a:ea typeface="Cambria" panose="02040503050406030204" pitchFamily="18" charset="0"/>
                    <a:cs typeface="Arial"/>
                  </a:rPr>
                  <a:t>for </a:t>
                </a:r>
                <a:r>
                  <a:rPr lang="en-US" sz="2400" dirty="0">
                    <a:latin typeface="Cambria" panose="02040503050406030204" pitchFamily="18" charset="0"/>
                    <a:ea typeface="Cambria" panose="02040503050406030204" pitchFamily="18" charset="0"/>
                    <a:cs typeface="Arial"/>
                  </a:rPr>
                  <a:t>Air-Core</a:t>
                </a:r>
                <a:r>
                  <a:rPr lang="en-US" sz="2400" spc="-3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media</a:t>
                </a:r>
              </a:p>
              <a:p>
                <a:pPr marL="25400">
                  <a:lnSpc>
                    <a:spcPct val="100000"/>
                  </a:lnSpc>
                  <a:spcBef>
                    <a:spcPts val="135"/>
                  </a:spcBef>
                  <a:tabLst>
                    <a:tab pos="1296035" algn="l"/>
                  </a:tabLst>
                </a:pPr>
                <a:endParaRPr lang="en-US" sz="3200" i="1" spc="-170" dirty="0">
                  <a:latin typeface="Times New Roman"/>
                  <a:cs typeface="Times New Roman"/>
                </a:endParaRPr>
              </a:p>
              <a:p>
                <a:pPr marL="25400">
                  <a:lnSpc>
                    <a:spcPct val="100000"/>
                  </a:lnSpc>
                  <a:spcBef>
                    <a:spcPts val="135"/>
                  </a:spcBef>
                  <a:tabLst>
                    <a:tab pos="1296035" algn="l"/>
                  </a:tabLst>
                </a:pPr>
                <a:r>
                  <a:rPr lang="en-US" sz="2400" spc="-170" dirty="0">
                    <a:latin typeface="Times New Roman"/>
                    <a:cs typeface="Times New Roman"/>
                  </a:rPr>
                  <a:t>n</a:t>
                </a:r>
                <a:r>
                  <a:rPr lang="en-US" sz="2400" spc="-170" baseline="-25000" dirty="0">
                    <a:latin typeface="Times New Roman"/>
                    <a:cs typeface="Times New Roman"/>
                  </a:rPr>
                  <a:t>0</a:t>
                </a:r>
                <a:r>
                  <a:rPr lang="en-US" sz="2400" spc="-170" dirty="0">
                    <a:latin typeface="Times New Roman"/>
                    <a:cs typeface="Times New Roman"/>
                  </a:rPr>
                  <a:t> </a:t>
                </a:r>
                <a:r>
                  <a:rPr lang="en-US" sz="2400" spc="-170" dirty="0"/>
                  <a:t>sin</a:t>
                </a:r>
                <a:r>
                  <a:rPr lang="en-US" sz="2400" spc="-245" dirty="0"/>
                  <a:t> </a:t>
                </a:r>
                <a:r>
                  <a:rPr lang="en-US" sz="2400" spc="-35" dirty="0">
                    <a:latin typeface="Symbol"/>
                    <a:cs typeface="Symbol"/>
                  </a:rPr>
                  <a:t></a:t>
                </a:r>
                <a:r>
                  <a:rPr lang="en-US" sz="2400" spc="-52" baseline="-24024" dirty="0">
                    <a:latin typeface="Times New Roman"/>
                    <a:cs typeface="Times New Roman"/>
                  </a:rPr>
                  <a:t>I</a:t>
                </a:r>
                <a:r>
                  <a:rPr lang="en-US" sz="2400" spc="-52" dirty="0">
                    <a:latin typeface="Times New Roman"/>
                    <a:cs typeface="Times New Roman"/>
                  </a:rPr>
                  <a:t> </a:t>
                </a:r>
                <a:r>
                  <a:rPr lang="en-US" sz="2400" spc="-85" dirty="0">
                    <a:latin typeface="Symbol"/>
                    <a:cs typeface="Symbol"/>
                  </a:rPr>
                  <a:t></a:t>
                </a:r>
                <a:r>
                  <a:rPr lang="en-US" sz="2400" spc="-85" dirty="0"/>
                  <a:t> </a:t>
                </a:r>
                <a:r>
                  <a:rPr lang="en-US" sz="2400" spc="-170" dirty="0">
                    <a:latin typeface="Times New Roman"/>
                    <a:cs typeface="Times New Roman"/>
                  </a:rPr>
                  <a:t>n</a:t>
                </a:r>
                <a:r>
                  <a:rPr lang="en-US" sz="2400" spc="-254" baseline="-24024" dirty="0"/>
                  <a:t>1 </a:t>
                </a:r>
                <a:r>
                  <a:rPr lang="en-US" sz="2400" spc="-170" dirty="0"/>
                  <a:t>sin </a:t>
                </a:r>
                <a:r>
                  <a:rPr lang="en-US" sz="2400" spc="-15" dirty="0">
                    <a:latin typeface="Symbol"/>
                    <a:cs typeface="Symbol"/>
                  </a:rPr>
                  <a:t></a:t>
                </a:r>
                <a:r>
                  <a:rPr lang="en-US" sz="2400" spc="-22" baseline="-24024" dirty="0">
                    <a:latin typeface="Times New Roman"/>
                    <a:cs typeface="Times New Roman"/>
                  </a:rPr>
                  <a:t>r</a:t>
                </a:r>
                <a:r>
                  <a:rPr lang="en-US" sz="2400" spc="-179" baseline="-24024" dirty="0">
                    <a:latin typeface="Times New Roman"/>
                    <a:cs typeface="Times New Roman"/>
                  </a:rPr>
                  <a:t> </a:t>
                </a:r>
                <a:r>
                  <a:rPr lang="en-US" sz="2400" spc="-80" dirty="0"/>
                  <a:t>..............(1)</a:t>
                </a:r>
              </a:p>
              <a:p>
                <a:pPr marL="147955">
                  <a:lnSpc>
                    <a:spcPct val="100000"/>
                  </a:lnSpc>
                  <a:spcBef>
                    <a:spcPts val="1755"/>
                  </a:spcBef>
                  <a:tabLst>
                    <a:tab pos="4832350" algn="l"/>
                  </a:tabLst>
                </a:pPr>
                <a:r>
                  <a:rPr lang="en-US" sz="3200" spc="-70" dirty="0"/>
                  <a:t> </a:t>
                </a:r>
                <a:r>
                  <a:rPr lang="en-US" sz="2400" spc="-70" dirty="0">
                    <a:latin typeface="Cambria" panose="02040503050406030204" pitchFamily="18" charset="0"/>
                    <a:ea typeface="Cambria" panose="02040503050406030204" pitchFamily="18" charset="0"/>
                  </a:rPr>
                  <a:t>from </a:t>
                </a:r>
                <a:r>
                  <a:rPr lang="en-US" sz="2400" spc="-35" dirty="0">
                    <a:latin typeface="Cambria" panose="02040503050406030204" pitchFamily="18" charset="0"/>
                    <a:ea typeface="Cambria" panose="02040503050406030204" pitchFamily="18" charset="0"/>
                  </a:rPr>
                  <a:t>the </a:t>
                </a:r>
                <a:r>
                  <a:rPr lang="en-US" sz="2400" spc="-95" dirty="0">
                    <a:latin typeface="Cambria" panose="02040503050406030204" pitchFamily="18" charset="0"/>
                    <a:ea typeface="Cambria" panose="02040503050406030204" pitchFamily="18" charset="0"/>
                  </a:rPr>
                  <a:t>right</a:t>
                </a:r>
                <a:r>
                  <a:rPr lang="en-US" sz="2400" spc="600" dirty="0">
                    <a:latin typeface="Cambria" panose="02040503050406030204" pitchFamily="18" charset="0"/>
                    <a:ea typeface="Cambria" panose="02040503050406030204" pitchFamily="18" charset="0"/>
                  </a:rPr>
                  <a:t> </a:t>
                </a:r>
                <a:r>
                  <a:rPr lang="en-US" sz="2400" spc="-95" dirty="0">
                    <a:latin typeface="Cambria" panose="02040503050406030204" pitchFamily="18" charset="0"/>
                    <a:ea typeface="Cambria" panose="02040503050406030204" pitchFamily="18" charset="0"/>
                  </a:rPr>
                  <a:t>angle</a:t>
                </a:r>
                <a:r>
                  <a:rPr lang="en-US" sz="2400" spc="270" dirty="0">
                    <a:latin typeface="Cambria" panose="02040503050406030204" pitchFamily="18" charset="0"/>
                    <a:ea typeface="Cambria" panose="02040503050406030204" pitchFamily="18" charset="0"/>
                  </a:rPr>
                  <a:t> </a:t>
                </a:r>
                <a:r>
                  <a:rPr lang="en-US" sz="2400" spc="-85" dirty="0">
                    <a:latin typeface="Cambria" panose="02040503050406030204" pitchFamily="18" charset="0"/>
                    <a:ea typeface="Cambria" panose="02040503050406030204" pitchFamily="18" charset="0"/>
                  </a:rPr>
                  <a:t>triangle </a:t>
                </a:r>
                <a:r>
                  <a:rPr lang="en-US" sz="2400" spc="-145" dirty="0">
                    <a:latin typeface="Cambria" panose="02040503050406030204" pitchFamily="18" charset="0"/>
                    <a:ea typeface="Cambria" panose="02040503050406030204" pitchFamily="18" charset="0"/>
                  </a:rPr>
                  <a:t>ABC</a:t>
                </a:r>
              </a:p>
              <a:p>
                <a:pPr marL="39370">
                  <a:lnSpc>
                    <a:spcPts val="1165"/>
                  </a:lnSpc>
                  <a:spcBef>
                    <a:spcPts val="1745"/>
                  </a:spcBef>
                </a:pPr>
                <a:r>
                  <a:rPr lang="en-US" sz="3350" i="1" spc="-10" dirty="0">
                    <a:latin typeface="Symbol"/>
                    <a:cs typeface="Symbol"/>
                  </a:rPr>
                  <a:t> </a:t>
                </a:r>
                <a:r>
                  <a:rPr lang="en-US" sz="2400" i="1" spc="-10" dirty="0">
                    <a:latin typeface="Symbol"/>
                    <a:cs typeface="Symbol"/>
                  </a:rPr>
                  <a:t></a:t>
                </a:r>
                <a:r>
                  <a:rPr lang="en-US" sz="2400" spc="-15" baseline="-24024" dirty="0"/>
                  <a:t>r </a:t>
                </a:r>
                <a:r>
                  <a:rPr lang="en-US" sz="2400" spc="10" dirty="0">
                    <a:latin typeface="Symbol"/>
                    <a:cs typeface="Symbol"/>
                  </a:rPr>
                  <a:t></a:t>
                </a:r>
                <a:r>
                  <a:rPr lang="en-US" sz="2400" i="1" spc="10" dirty="0">
                    <a:latin typeface="Symbol"/>
                    <a:cs typeface="Symbol"/>
                  </a:rPr>
                  <a:t></a:t>
                </a:r>
                <a:r>
                  <a:rPr lang="en-US" sz="2400" i="1" spc="10" dirty="0">
                    <a:latin typeface="Times New Roman"/>
                    <a:cs typeface="Times New Roman"/>
                  </a:rPr>
                  <a:t> </a:t>
                </a:r>
                <a:r>
                  <a:rPr lang="en-US" sz="2400" spc="-85" dirty="0">
                    <a:latin typeface="Symbol"/>
                    <a:cs typeface="Symbol"/>
                  </a:rPr>
                  <a:t></a:t>
                </a:r>
                <a:r>
                  <a:rPr lang="en-US" sz="2400" spc="10" dirty="0">
                    <a:latin typeface="Times New Roman"/>
                    <a:cs typeface="Times New Roman"/>
                  </a:rPr>
                  <a:t> </a:t>
                </a:r>
                <a:r>
                  <a:rPr lang="en-US" sz="2400" spc="-90" dirty="0">
                    <a:latin typeface="Times New Roman"/>
                    <a:cs typeface="Times New Roman"/>
                  </a:rPr>
                  <a:t>90</a:t>
                </a:r>
                <a:r>
                  <a:rPr lang="en-US" sz="2400" baseline="30000" dirty="0"/>
                  <a:t>0</a:t>
                </a:r>
                <a:endParaRPr lang="en-US" sz="2400" dirty="0">
                  <a:latin typeface="Times New Roman"/>
                  <a:cs typeface="Times New Roman"/>
                </a:endParaRPr>
              </a:p>
              <a:p>
                <a:pPr>
                  <a:lnSpc>
                    <a:spcPct val="100000"/>
                  </a:lnSpc>
                  <a:spcBef>
                    <a:spcPts val="40"/>
                  </a:spcBef>
                </a:pPr>
                <a:endParaRPr lang="en-US" sz="2400" dirty="0">
                  <a:latin typeface="Times New Roman"/>
                  <a:cs typeface="Times New Roman"/>
                </a:endParaRPr>
              </a:p>
              <a:p>
                <a:pPr marL="39370">
                  <a:lnSpc>
                    <a:spcPts val="1165"/>
                  </a:lnSpc>
                  <a:tabLst>
                    <a:tab pos="491490" algn="l"/>
                    <a:tab pos="1390015" algn="l"/>
                  </a:tabLst>
                </a:pPr>
                <a:r>
                  <a:rPr lang="en-US" sz="2400" i="1" spc="-10" dirty="0">
                    <a:latin typeface="Symbol"/>
                    <a:cs typeface="Symbol"/>
                  </a:rPr>
                  <a:t> </a:t>
                </a:r>
                <a:r>
                  <a:rPr lang="en-US" sz="2400" spc="-15" baseline="-24024" dirty="0"/>
                  <a:t>r	</a:t>
                </a:r>
                <a:r>
                  <a:rPr lang="en-US" sz="2400" spc="-85" dirty="0">
                    <a:latin typeface="Symbol"/>
                    <a:cs typeface="Symbol"/>
                  </a:rPr>
                  <a:t></a:t>
                </a:r>
                <a:r>
                  <a:rPr lang="en-US" sz="2400" spc="-200" dirty="0">
                    <a:latin typeface="Times New Roman"/>
                    <a:cs typeface="Times New Roman"/>
                  </a:rPr>
                  <a:t> </a:t>
                </a:r>
                <a:r>
                  <a:rPr lang="en-US" sz="2400" spc="-45" dirty="0"/>
                  <a:t>90</a:t>
                </a:r>
                <a:r>
                  <a:rPr lang="en-US" sz="2400" spc="-67" baseline="43543" dirty="0"/>
                  <a:t>0 </a:t>
                </a:r>
                <a:r>
                  <a:rPr lang="en-US" sz="2400" spc="-15" dirty="0">
                    <a:latin typeface="Symbol"/>
                    <a:cs typeface="Symbol"/>
                  </a:rPr>
                  <a:t></a:t>
                </a:r>
                <a:r>
                  <a:rPr lang="en-US" sz="2400" i="1" spc="-15" dirty="0">
                    <a:latin typeface="Symbol"/>
                    <a:cs typeface="Symbol"/>
                  </a:rPr>
                  <a:t></a:t>
                </a:r>
                <a:endParaRPr lang="en-US" sz="2400" dirty="0">
                  <a:latin typeface="Symbol"/>
                  <a:cs typeface="Symbol"/>
                </a:endParaRPr>
              </a:p>
              <a:p>
                <a:pPr marL="1174750">
                  <a:lnSpc>
                    <a:spcPts val="1110"/>
                  </a:lnSpc>
                </a:pPr>
                <a:endParaRPr lang="en-US" sz="2400" dirty="0">
                  <a:latin typeface="Times New Roman"/>
                  <a:cs typeface="Times New Roman"/>
                </a:endParaRPr>
              </a:p>
              <a:p>
                <a:pPr marL="76200">
                  <a:lnSpc>
                    <a:spcPts val="3165"/>
                  </a:lnSpc>
                  <a:tabLst>
                    <a:tab pos="453390" algn="l"/>
                    <a:tab pos="1346835" algn="l"/>
                  </a:tabLst>
                </a:pPr>
                <a:r>
                  <a:rPr lang="en-US" sz="2400" spc="-85" dirty="0"/>
                  <a:t>n</a:t>
                </a:r>
                <a:r>
                  <a:rPr lang="en-US" sz="2400" spc="-127" baseline="-24024" dirty="0">
                    <a:latin typeface="Times New Roman"/>
                    <a:cs typeface="Times New Roman"/>
                  </a:rPr>
                  <a:t>0 </a:t>
                </a:r>
                <a:r>
                  <a:rPr lang="en-US" sz="2400" spc="-170" dirty="0">
                    <a:latin typeface="Times New Roman"/>
                    <a:cs typeface="Times New Roman"/>
                  </a:rPr>
                  <a:t>sin</a:t>
                </a:r>
                <a:r>
                  <a:rPr lang="en-US" sz="2400" spc="-250" dirty="0">
                    <a:latin typeface="Times New Roman"/>
                    <a:cs typeface="Times New Roman"/>
                  </a:rPr>
                  <a:t> </a:t>
                </a:r>
                <a:r>
                  <a:rPr lang="en-US" sz="2400" i="1" spc="-35" dirty="0">
                    <a:latin typeface="Symbol"/>
                    <a:cs typeface="Symbol"/>
                  </a:rPr>
                  <a:t> </a:t>
                </a:r>
                <a:r>
                  <a:rPr lang="en-US" sz="2400" spc="-52" baseline="-24024" dirty="0" err="1"/>
                  <a:t>i</a:t>
                </a:r>
                <a:r>
                  <a:rPr lang="en-US" sz="2400" spc="-52" baseline="-24024" dirty="0"/>
                  <a:t> </a:t>
                </a:r>
                <a:r>
                  <a:rPr lang="en-US" sz="2400" spc="-160" dirty="0">
                    <a:latin typeface="Times New Roman"/>
                    <a:cs typeface="Times New Roman"/>
                  </a:rPr>
                  <a:t>	</a:t>
                </a:r>
                <a:r>
                  <a:rPr lang="en-US" sz="2400" spc="-85" dirty="0">
                    <a:latin typeface="Symbol"/>
                    <a:cs typeface="Symbol"/>
                  </a:rPr>
                  <a:t></a:t>
                </a:r>
                <a:r>
                  <a:rPr lang="en-US" sz="2400" spc="-85" dirty="0">
                    <a:latin typeface="Times New Roman"/>
                    <a:cs typeface="Times New Roman"/>
                  </a:rPr>
                  <a:t> </a:t>
                </a:r>
                <a:r>
                  <a:rPr lang="en-US" sz="2400" spc="-170" dirty="0"/>
                  <a:t>n</a:t>
                </a:r>
                <a:r>
                  <a:rPr lang="en-US" sz="2400" spc="-254" baseline="-24024" dirty="0">
                    <a:latin typeface="Times New Roman"/>
                    <a:cs typeface="Times New Roman"/>
                  </a:rPr>
                  <a:t>1 </a:t>
                </a:r>
                <a:r>
                  <a:rPr lang="en-US" sz="2400" spc="-195" dirty="0">
                    <a:latin typeface="Times New Roman"/>
                    <a:cs typeface="Times New Roman"/>
                  </a:rPr>
                  <a:t>sin ( </a:t>
                </a:r>
                <a:r>
                  <a:rPr lang="en-US" sz="2400" spc="-45" dirty="0">
                    <a:latin typeface="Times New Roman"/>
                    <a:cs typeface="Times New Roman"/>
                  </a:rPr>
                  <a:t>90</a:t>
                </a:r>
                <a:r>
                  <a:rPr lang="en-US" sz="2400" spc="-67" baseline="43543" dirty="0">
                    <a:latin typeface="Times New Roman"/>
                    <a:cs typeface="Times New Roman"/>
                  </a:rPr>
                  <a:t>0 </a:t>
                </a:r>
                <a:r>
                  <a:rPr lang="en-US" sz="2400" spc="-15" dirty="0">
                    <a:latin typeface="Symbol"/>
                    <a:cs typeface="Symbol"/>
                  </a:rPr>
                  <a:t></a:t>
                </a:r>
                <a:r>
                  <a:rPr lang="en-US" sz="2400" i="1" spc="-15" dirty="0">
                    <a:latin typeface="Symbol"/>
                    <a:cs typeface="Symbol"/>
                  </a:rPr>
                  <a:t></a:t>
                </a:r>
                <a:r>
                  <a:rPr lang="en-US" sz="2400" i="1" spc="-210" dirty="0">
                    <a:latin typeface="Times New Roman"/>
                    <a:cs typeface="Times New Roman"/>
                  </a:rPr>
                  <a:t> </a:t>
                </a:r>
                <a:r>
                  <a:rPr lang="en-US" sz="2400" spc="-55" dirty="0">
                    <a:latin typeface="Times New Roman"/>
                    <a:cs typeface="Times New Roman"/>
                  </a:rPr>
                  <a:t>)</a:t>
                </a:r>
                <a:endParaRPr lang="en-US" sz="2400" dirty="0">
                  <a:latin typeface="Times New Roman"/>
                  <a:cs typeface="Times New Roman"/>
                </a:endParaRPr>
              </a:p>
              <a:p>
                <a:pPr marL="76200">
                  <a:lnSpc>
                    <a:spcPct val="100000"/>
                  </a:lnSpc>
                  <a:spcBef>
                    <a:spcPts val="390"/>
                  </a:spcBef>
                  <a:tabLst>
                    <a:tab pos="1346835" algn="l"/>
                  </a:tabLst>
                </a:pPr>
                <a:r>
                  <a:rPr lang="en-US" sz="2400" spc="-85" dirty="0"/>
                  <a:t> n</a:t>
                </a:r>
                <a:r>
                  <a:rPr lang="en-US" sz="2400" spc="-127" baseline="-24024" dirty="0">
                    <a:latin typeface="Times New Roman"/>
                    <a:cs typeface="Times New Roman"/>
                  </a:rPr>
                  <a:t>0</a:t>
                </a:r>
                <a:r>
                  <a:rPr lang="en-US" sz="2400" spc="217" baseline="-24024" dirty="0">
                    <a:latin typeface="Times New Roman"/>
                    <a:cs typeface="Times New Roman"/>
                  </a:rPr>
                  <a:t> </a:t>
                </a:r>
                <a:r>
                  <a:rPr lang="en-US" sz="2400" spc="-170" dirty="0">
                    <a:latin typeface="Times New Roman"/>
                    <a:cs typeface="Times New Roman"/>
                  </a:rPr>
                  <a:t>sin</a:t>
                </a:r>
                <a:r>
                  <a:rPr lang="en-US" sz="2400" spc="-245" dirty="0">
                    <a:latin typeface="Times New Roman"/>
                    <a:cs typeface="Times New Roman"/>
                  </a:rPr>
                  <a:t> </a:t>
                </a:r>
                <a:r>
                  <a:rPr lang="en-US" sz="2400" i="1" spc="-35" dirty="0">
                    <a:latin typeface="Symbol"/>
                    <a:cs typeface="Symbol"/>
                  </a:rPr>
                  <a:t></a:t>
                </a:r>
                <a:r>
                  <a:rPr lang="en-US" sz="2400" spc="-52" baseline="-24024" dirty="0" err="1"/>
                  <a:t>i</a:t>
                </a:r>
                <a:r>
                  <a:rPr lang="en-US" sz="2400" spc="-52" baseline="-24024" dirty="0"/>
                  <a:t>	</a:t>
                </a:r>
                <a:r>
                  <a:rPr lang="en-US" sz="2400" spc="-85" dirty="0">
                    <a:latin typeface="Symbol"/>
                    <a:cs typeface="Symbol"/>
                  </a:rPr>
                  <a:t></a:t>
                </a:r>
                <a:r>
                  <a:rPr lang="en-US" sz="2400" spc="-85" dirty="0">
                    <a:latin typeface="Times New Roman"/>
                    <a:cs typeface="Times New Roman"/>
                  </a:rPr>
                  <a:t> </a:t>
                </a:r>
                <a:r>
                  <a:rPr lang="en-US" sz="2400" spc="-170" dirty="0"/>
                  <a:t>n</a:t>
                </a:r>
                <a:r>
                  <a:rPr lang="en-US" sz="2400" spc="-254" baseline="-24024" dirty="0">
                    <a:latin typeface="Times New Roman"/>
                    <a:cs typeface="Times New Roman"/>
                  </a:rPr>
                  <a:t>1</a:t>
                </a:r>
                <a:r>
                  <a:rPr lang="en-US" sz="2400" spc="-70" dirty="0">
                    <a:latin typeface="Times New Roman"/>
                    <a:cs typeface="Times New Roman"/>
                  </a:rPr>
                  <a:t>cos</a:t>
                </a:r>
                <a:r>
                  <a:rPr lang="en-US" sz="2400" i="1" spc="-70" dirty="0">
                    <a:latin typeface="Symbol"/>
                    <a:cs typeface="Symbol"/>
                  </a:rPr>
                  <a:t></a:t>
                </a:r>
              </a:p>
              <a:p>
                <a:pPr marL="76200">
                  <a:lnSpc>
                    <a:spcPct val="100000"/>
                  </a:lnSpc>
                  <a:spcBef>
                    <a:spcPts val="390"/>
                  </a:spcBef>
                  <a:tabLst>
                    <a:tab pos="1346835" algn="l"/>
                  </a:tabLst>
                </a:pPr>
                <a:r>
                  <a:rPr lang="en-US" sz="2400" spc="-114" dirty="0">
                    <a:latin typeface="Times New Roman"/>
                    <a:cs typeface="Times New Roman"/>
                  </a:rPr>
                  <a:t> </a:t>
                </a:r>
                <a:r>
                  <a:rPr lang="en-US" sz="2400" spc="-170" dirty="0">
                    <a:latin typeface="Times New Roman"/>
                    <a:cs typeface="Times New Roman"/>
                  </a:rPr>
                  <a:t>sin</a:t>
                </a:r>
                <a:r>
                  <a:rPr lang="en-US" sz="2400" spc="-250" dirty="0">
                    <a:latin typeface="Times New Roman"/>
                    <a:cs typeface="Times New Roman"/>
                  </a:rPr>
                  <a:t> </a:t>
                </a:r>
                <a:r>
                  <a:rPr lang="en-US" sz="2400" i="1" spc="-35" dirty="0">
                    <a:latin typeface="Symbol"/>
                    <a:cs typeface="Symbol"/>
                  </a:rPr>
                  <a:t> </a:t>
                </a:r>
                <a:r>
                  <a:rPr lang="en-US" sz="2400" spc="-52" baseline="-24024" dirty="0" err="1"/>
                  <a:t>i</a:t>
                </a:r>
                <a:r>
                  <a:rPr lang="en-US" sz="2400" spc="-52" baseline="-24024" dirty="0"/>
                  <a:t> </a:t>
                </a:r>
                <a:r>
                  <a:rPr lang="en-US" sz="2400" spc="-85" dirty="0">
                    <a:latin typeface="Symbol"/>
                    <a:cs typeface="Symbol"/>
                  </a:rPr>
                  <a:t> </a:t>
                </a:r>
                <a14:m>
                  <m:oMath xmlns:m="http://schemas.openxmlformats.org/officeDocument/2006/math">
                    <m:box>
                      <m:boxPr>
                        <m:ctrlPr>
                          <a:rPr lang="ar-AE" sz="2400" i="1" spc="-85" smtClean="0">
                            <a:latin typeface="Cambria Math" panose="02040503050406030204" pitchFamily="18" charset="0"/>
                            <a:cs typeface="Symbol"/>
                          </a:rPr>
                        </m:ctrlPr>
                      </m:boxPr>
                      <m:e>
                        <m:argPr>
                          <m:argSz m:val="-1"/>
                        </m:argPr>
                        <m:f>
                          <m:fPr>
                            <m:ctrlPr>
                              <a:rPr lang="ar-AE" sz="2400" i="1" spc="-85" smtClean="0">
                                <a:latin typeface="Cambria Math" panose="02040503050406030204" pitchFamily="18" charset="0"/>
                                <a:cs typeface="Symbol"/>
                              </a:rPr>
                            </m:ctrlPr>
                          </m:fPr>
                          <m:num>
                            <m:r>
                              <m:rPr>
                                <m:nor/>
                              </m:rPr>
                              <a:rPr lang="en-US" sz="2400" spc="-170" dirty="0"/>
                              <m:t>n</m:t>
                            </m:r>
                            <m:r>
                              <m:rPr>
                                <m:nor/>
                              </m:rPr>
                              <a:rPr lang="en-US" sz="2400" spc="-254" baseline="-24024" dirty="0">
                                <a:latin typeface="Times New Roman"/>
                                <a:cs typeface="Times New Roman"/>
                              </a:rPr>
                              <m:t>1</m:t>
                            </m:r>
                          </m:num>
                          <m:den>
                            <m:r>
                              <m:rPr>
                                <m:nor/>
                              </m:rPr>
                              <a:rPr lang="en-US" sz="2400" spc="-85" dirty="0"/>
                              <m:t>n</m:t>
                            </m:r>
                            <m:r>
                              <m:rPr>
                                <m:nor/>
                              </m:rPr>
                              <a:rPr lang="en-US" sz="2400" spc="-127" baseline="-24024" dirty="0">
                                <a:latin typeface="Times New Roman"/>
                                <a:cs typeface="Times New Roman"/>
                              </a:rPr>
                              <m:t>0</m:t>
                            </m:r>
                            <m:r>
                              <m:rPr>
                                <m:nor/>
                              </m:rPr>
                              <a:rPr lang="en-US" sz="2400" b="0" i="0" spc="-127" baseline="-24024" dirty="0" smtClean="0">
                                <a:latin typeface="Times New Roman"/>
                                <a:cs typeface="Times New Roman"/>
                              </a:rPr>
                              <m:t> </m:t>
                            </m:r>
                          </m:den>
                        </m:f>
                      </m:e>
                    </m:box>
                  </m:oMath>
                </a14:m>
                <a:r>
                  <a:rPr lang="en-US" sz="2400" spc="-70" dirty="0">
                    <a:latin typeface="Times New Roman"/>
                    <a:cs typeface="Times New Roman"/>
                  </a:rPr>
                  <a:t> cos</a:t>
                </a:r>
                <a:r>
                  <a:rPr lang="en-US" sz="2400" i="1" spc="-70" dirty="0">
                    <a:latin typeface="Symbol"/>
                    <a:cs typeface="Symbol"/>
                  </a:rPr>
                  <a:t> </a:t>
                </a:r>
                <a:r>
                  <a:rPr lang="en-US" sz="2400" spc="-80" dirty="0"/>
                  <a:t>.................(2)</a:t>
                </a:r>
              </a:p>
            </p:txBody>
          </p:sp>
        </mc:Choice>
        <mc:Fallback xmlns="">
          <p:sp>
            <p:nvSpPr>
              <p:cNvPr id="12" name="object 14"/>
              <p:cNvSpPr txBox="1">
                <a:spLocks noGrp="1" noRot="1" noChangeAspect="1" noMove="1" noResize="1" noEditPoints="1" noAdjustHandles="1" noChangeArrowheads="1" noChangeShapeType="1" noTextEdit="1"/>
              </p:cNvSpPr>
              <p:nvPr>
                <p:ph type="body" sz="half" idx="2"/>
              </p:nvPr>
            </p:nvSpPr>
            <p:spPr>
              <a:xfrm>
                <a:off x="0" y="1328077"/>
                <a:ext cx="5623427" cy="4738092"/>
              </a:xfrm>
              <a:prstGeom prst="rect">
                <a:avLst/>
              </a:prstGeom>
              <a:blipFill rotWithShape="0">
                <a:blip r:embed="rId2"/>
                <a:stretch>
                  <a:fillRect l="-2820" t="-1673" b="-2188"/>
                </a:stretch>
              </a:blipFill>
            </p:spPr>
            <p:txBody>
              <a:bodyPr/>
              <a:lstStyle/>
              <a:p>
                <a:r>
                  <a:rPr lang="en-US">
                    <a:noFill/>
                  </a:rPr>
                  <a:t> </a:t>
                </a:r>
              </a:p>
            </p:txBody>
          </p:sp>
        </mc:Fallback>
      </mc:AlternateContent>
      <p:pic>
        <p:nvPicPr>
          <p:cNvPr id="9" name="Content Placeholder 8"/>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23428" y="1328077"/>
            <a:ext cx="5992738" cy="5041558"/>
          </a:xfrm>
        </p:spPr>
      </p:pic>
      <p:sp>
        <p:nvSpPr>
          <p:cNvPr id="10" name="TextBox 9"/>
          <p:cNvSpPr txBox="1"/>
          <p:nvPr/>
        </p:nvSpPr>
        <p:spPr>
          <a:xfrm>
            <a:off x="5653392" y="6369635"/>
            <a:ext cx="5700408" cy="338554"/>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                Figure 2.5 Diagram of Acceptance angle [8]</a:t>
            </a:r>
          </a:p>
        </p:txBody>
      </p:sp>
    </p:spTree>
    <p:extLst>
      <p:ext uri="{BB962C8B-B14F-4D97-AF65-F5344CB8AC3E}">
        <p14:creationId xmlns:p14="http://schemas.microsoft.com/office/powerpoint/2010/main" val="207933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a:xfrm>
                <a:off x="1128409" y="622570"/>
                <a:ext cx="9552560" cy="5933873"/>
              </a:xfrm>
            </p:spPr>
            <p:txBody>
              <a:bodyPr>
                <a:normAutofit/>
              </a:bodyPr>
              <a:lstStyle/>
              <a:p>
                <a:r>
                  <a:rPr lang="en-US" sz="2800" i="1" spc="90" dirty="0">
                    <a:latin typeface="Times New Roman"/>
                    <a:cs typeface="Times New Roman"/>
                  </a:rPr>
                  <a:t>              </a:t>
                </a:r>
              </a:p>
              <a:p>
                <a:r>
                  <a:rPr lang="en-US" sz="2400" spc="90" dirty="0">
                    <a:latin typeface="Times New Roman"/>
                    <a:cs typeface="Times New Roman"/>
                  </a:rPr>
                  <a:t>when</a:t>
                </a:r>
                <a:r>
                  <a:rPr lang="en-US" sz="2400" spc="-110" dirty="0">
                    <a:latin typeface="Times New Roman"/>
                    <a:cs typeface="Times New Roman"/>
                  </a:rPr>
                  <a:t> </a:t>
                </a:r>
                <a:r>
                  <a:rPr lang="en-US" sz="2400" spc="5" dirty="0">
                    <a:latin typeface="Symbol"/>
                    <a:cs typeface="Symbol"/>
                  </a:rPr>
                  <a:t></a:t>
                </a:r>
                <a:r>
                  <a:rPr lang="en-US" sz="2400" spc="250" dirty="0"/>
                  <a:t> </a:t>
                </a:r>
                <a:r>
                  <a:rPr lang="en-US" sz="2400" spc="90" dirty="0">
                    <a:latin typeface="Symbol"/>
                    <a:cs typeface="Symbol"/>
                  </a:rPr>
                  <a:t></a:t>
                </a:r>
                <a:r>
                  <a:rPr lang="en-US" sz="2400" spc="-45" dirty="0"/>
                  <a:t> </a:t>
                </a:r>
                <a:r>
                  <a:rPr lang="en-US" sz="2400" spc="40" dirty="0">
                    <a:latin typeface="Times New Roman"/>
                    <a:cs typeface="Times New Roman"/>
                  </a:rPr>
                  <a:t>critical</a:t>
                </a:r>
                <a:r>
                  <a:rPr lang="en-US" sz="2400" spc="315" dirty="0">
                    <a:latin typeface="Times New Roman"/>
                    <a:cs typeface="Times New Roman"/>
                  </a:rPr>
                  <a:t> </a:t>
                </a:r>
                <a:r>
                  <a:rPr lang="en-US" sz="2400" spc="50" dirty="0">
                    <a:latin typeface="Times New Roman"/>
                    <a:cs typeface="Times New Roman"/>
                  </a:rPr>
                  <a:t>angle </a:t>
                </a:r>
                <a:r>
                  <a:rPr lang="en-US" sz="2400" spc="50" dirty="0"/>
                  <a:t>(</a:t>
                </a:r>
                <a:r>
                  <a:rPr lang="en-US" sz="2400" i="1" spc="50" dirty="0">
                    <a:latin typeface="Symbol"/>
                    <a:cs typeface="Symbol"/>
                  </a:rPr>
                  <a:t></a:t>
                </a:r>
                <a:r>
                  <a:rPr lang="en-US" sz="2400" i="1" spc="75" baseline="-23504" dirty="0">
                    <a:latin typeface="Times New Roman"/>
                    <a:cs typeface="Times New Roman"/>
                  </a:rPr>
                  <a:t>c</a:t>
                </a:r>
                <a:r>
                  <a:rPr lang="en-US" sz="2400" i="1" spc="-37" baseline="-23504" dirty="0">
                    <a:latin typeface="Times New Roman"/>
                    <a:cs typeface="Times New Roman"/>
                  </a:rPr>
                  <a:t> </a:t>
                </a:r>
                <a:r>
                  <a:rPr lang="en-US" sz="2400" spc="50" dirty="0"/>
                  <a:t>)</a:t>
                </a:r>
                <a:r>
                  <a:rPr lang="en-US" sz="2400" spc="-50" dirty="0"/>
                  <a:t> </a:t>
                </a:r>
                <a:r>
                  <a:rPr lang="en-US" sz="2400" spc="160" dirty="0">
                    <a:latin typeface="Symbol"/>
                    <a:cs typeface="Symbol"/>
                  </a:rPr>
                  <a:t></a:t>
                </a:r>
                <a:r>
                  <a:rPr lang="en-US" sz="2400" spc="-275" dirty="0"/>
                  <a:t> </a:t>
                </a:r>
                <a:r>
                  <a:rPr lang="en-US" sz="2400" i="1" spc="65" dirty="0">
                    <a:latin typeface="Symbol"/>
                    <a:cs typeface="Symbol"/>
                  </a:rPr>
                  <a:t></a:t>
                </a:r>
                <a:r>
                  <a:rPr lang="en-US" sz="2400" i="1" spc="97" baseline="-23504" dirty="0" err="1">
                    <a:latin typeface="Times New Roman"/>
                    <a:cs typeface="Times New Roman"/>
                  </a:rPr>
                  <a:t>i</a:t>
                </a:r>
                <a:r>
                  <a:rPr lang="en-US" sz="2400" i="1" spc="195" baseline="-23504" dirty="0">
                    <a:latin typeface="Times New Roman"/>
                    <a:cs typeface="Times New Roman"/>
                  </a:rPr>
                  <a:t> </a:t>
                </a:r>
                <a:r>
                  <a:rPr lang="en-US" sz="2400" spc="90" dirty="0">
                    <a:latin typeface="Symbol"/>
                    <a:cs typeface="Symbol"/>
                  </a:rPr>
                  <a:t></a:t>
                </a:r>
                <a:r>
                  <a:rPr lang="en-US" sz="2400" spc="-235" dirty="0"/>
                  <a:t> </a:t>
                </a:r>
                <a:r>
                  <a:rPr lang="en-US" sz="2400" i="1" spc="110" dirty="0">
                    <a:latin typeface="Symbol"/>
                    <a:cs typeface="Symbol"/>
                  </a:rPr>
                  <a:t></a:t>
                </a:r>
                <a:r>
                  <a:rPr lang="en-US" sz="2400" i="1" spc="165" baseline="-23504" dirty="0">
                    <a:latin typeface="Times New Roman"/>
                    <a:cs typeface="Times New Roman"/>
                  </a:rPr>
                  <a:t>m</a:t>
                </a:r>
              </a:p>
              <a:p>
                <a:endParaRPr lang="en-US" sz="2400" i="1" spc="165" baseline="-23504" dirty="0">
                  <a:latin typeface="Times New Roman"/>
                  <a:cs typeface="Times New Roman"/>
                </a:endParaRPr>
              </a:p>
              <a:p>
                <a:r>
                  <a:rPr lang="en-US" sz="2400" spc="-114" dirty="0">
                    <a:latin typeface="Times New Roman"/>
                    <a:cs typeface="Times New Roman"/>
                  </a:rPr>
                  <a:t> </a:t>
                </a:r>
                <a:r>
                  <a:rPr lang="en-US" sz="2400" spc="-170" dirty="0">
                    <a:latin typeface="Times New Roman"/>
                    <a:cs typeface="Times New Roman"/>
                  </a:rPr>
                  <a:t>sin</a:t>
                </a:r>
                <a:r>
                  <a:rPr lang="en-US" sz="2400" spc="-250" dirty="0">
                    <a:latin typeface="Times New Roman"/>
                    <a:cs typeface="Times New Roman"/>
                  </a:rPr>
                  <a:t> </a:t>
                </a:r>
                <a:r>
                  <a:rPr lang="en-US" sz="2400" i="1" spc="-35" dirty="0">
                    <a:latin typeface="Symbol"/>
                    <a:cs typeface="Symbol"/>
                  </a:rPr>
                  <a:t></a:t>
                </a:r>
                <a:r>
                  <a:rPr lang="en-US" sz="2400" spc="-52" baseline="-24024" dirty="0"/>
                  <a:t>m</a:t>
                </a:r>
                <a:r>
                  <a:rPr lang="en-US" sz="2400" spc="-85" dirty="0">
                    <a:latin typeface="Symbol"/>
                    <a:cs typeface="Symbol"/>
                  </a:rPr>
                  <a:t> </a:t>
                </a:r>
                <a14:m>
                  <m:oMath xmlns:m="http://schemas.openxmlformats.org/officeDocument/2006/math">
                    <m:box>
                      <m:boxPr>
                        <m:ctrlPr>
                          <a:rPr lang="ar-AE" sz="2400" i="1" spc="-85">
                            <a:latin typeface="Cambria Math" panose="02040503050406030204" pitchFamily="18" charset="0"/>
                            <a:cs typeface="Symbol"/>
                          </a:rPr>
                        </m:ctrlPr>
                      </m:boxPr>
                      <m:e>
                        <m:argPr>
                          <m:argSz m:val="-1"/>
                        </m:argPr>
                        <m:f>
                          <m:fPr>
                            <m:ctrlPr>
                              <a:rPr lang="ar-AE" sz="2400" i="1" spc="-85">
                                <a:latin typeface="Cambria Math" panose="02040503050406030204" pitchFamily="18" charset="0"/>
                                <a:cs typeface="Symbol"/>
                              </a:rPr>
                            </m:ctrlPr>
                          </m:fPr>
                          <m:num>
                            <m:r>
                              <m:rPr>
                                <m:nor/>
                              </m:rPr>
                              <a:rPr lang="en-US" sz="2400" spc="-170" dirty="0"/>
                              <m:t>n</m:t>
                            </m:r>
                            <m:r>
                              <m:rPr>
                                <m:nor/>
                              </m:rPr>
                              <a:rPr lang="en-US" sz="2400" spc="-254" baseline="-24024" dirty="0">
                                <a:latin typeface="Times New Roman"/>
                                <a:cs typeface="Times New Roman"/>
                              </a:rPr>
                              <m:t>1</m:t>
                            </m:r>
                          </m:num>
                          <m:den>
                            <m:r>
                              <m:rPr>
                                <m:nor/>
                              </m:rPr>
                              <a:rPr lang="en-US" sz="2400" spc="-85" dirty="0"/>
                              <m:t>n</m:t>
                            </m:r>
                            <m:r>
                              <m:rPr>
                                <m:nor/>
                              </m:rPr>
                              <a:rPr lang="en-US" sz="2400" spc="-127" baseline="-24024" dirty="0">
                                <a:latin typeface="Times New Roman"/>
                                <a:cs typeface="Times New Roman"/>
                              </a:rPr>
                              <m:t>0 </m:t>
                            </m:r>
                          </m:den>
                        </m:f>
                      </m:e>
                    </m:box>
                  </m:oMath>
                </a14:m>
                <a:r>
                  <a:rPr lang="en-US" sz="2400" spc="-70" dirty="0">
                    <a:latin typeface="Times New Roman"/>
                    <a:cs typeface="Times New Roman"/>
                  </a:rPr>
                  <a:t> cos</a:t>
                </a:r>
                <a:r>
                  <a:rPr lang="en-US" sz="2400" i="1" spc="-70" dirty="0">
                    <a:latin typeface="Symbol"/>
                    <a:cs typeface="Symbol"/>
                  </a:rPr>
                  <a:t> </a:t>
                </a:r>
                <a:r>
                  <a:rPr lang="en-US" sz="2400" i="1" spc="-70" baseline="-25000" dirty="0">
                    <a:latin typeface="Times New Roman" panose="02020603050405020304" pitchFamily="18" charset="0"/>
                    <a:cs typeface="Times New Roman" panose="02020603050405020304" pitchFamily="18" charset="0"/>
                  </a:rPr>
                  <a:t>c</a:t>
                </a:r>
                <a:r>
                  <a:rPr lang="en-US" sz="2400" spc="-70" dirty="0">
                    <a:latin typeface="Times New Roman" panose="02020603050405020304" pitchFamily="18" charset="0"/>
                    <a:cs typeface="Times New Roman" panose="02020603050405020304" pitchFamily="18" charset="0"/>
                  </a:rPr>
                  <a:t>  ………………….</a:t>
                </a:r>
                <a:r>
                  <a:rPr lang="en-US" sz="2400" i="1" spc="-70" dirty="0">
                    <a:latin typeface="Times New Roman" panose="02020603050405020304" pitchFamily="18" charset="0"/>
                    <a:cs typeface="Times New Roman" panose="02020603050405020304" pitchFamily="18" charset="0"/>
                  </a:rPr>
                  <a:t> </a:t>
                </a:r>
                <a:r>
                  <a:rPr lang="en-US" sz="2400" spc="-70" dirty="0">
                    <a:latin typeface="Times New Roman" panose="02020603050405020304" pitchFamily="18" charset="0"/>
                    <a:cs typeface="Times New Roman" panose="02020603050405020304" pitchFamily="18" charset="0"/>
                  </a:rPr>
                  <a:t>(3)</a:t>
                </a:r>
              </a:p>
              <a:p>
                <a:endParaRPr lang="en-US" sz="2400" dirty="0">
                  <a:latin typeface="Times New Roman"/>
                  <a:cs typeface="Times New Roman"/>
                </a:endParaRPr>
              </a:p>
              <a:p>
                <a:pPr marL="25400">
                  <a:lnSpc>
                    <a:spcPct val="100000"/>
                  </a:lnSpc>
                  <a:spcBef>
                    <a:spcPts val="370"/>
                  </a:spcBef>
                </a:pPr>
                <a:r>
                  <a:rPr lang="en-US" sz="2400" spc="55" dirty="0">
                    <a:latin typeface="Times New Roman"/>
                    <a:cs typeface="Times New Roman"/>
                  </a:rPr>
                  <a:t>according </a:t>
                </a:r>
                <a:r>
                  <a:rPr lang="en-US" sz="2400" spc="100" dirty="0">
                    <a:latin typeface="Times New Roman"/>
                    <a:cs typeface="Times New Roman"/>
                  </a:rPr>
                  <a:t>to </a:t>
                </a:r>
                <a:r>
                  <a:rPr lang="en-US" sz="2400" spc="55" dirty="0">
                    <a:latin typeface="Times New Roman"/>
                    <a:cs typeface="Times New Roman"/>
                  </a:rPr>
                  <a:t>law </a:t>
                </a:r>
                <a:r>
                  <a:rPr lang="en-US" sz="2400" spc="60" dirty="0">
                    <a:latin typeface="Times New Roman"/>
                    <a:cs typeface="Times New Roman"/>
                  </a:rPr>
                  <a:t>of</a:t>
                </a:r>
                <a:r>
                  <a:rPr lang="en-US" sz="2400" spc="-30" dirty="0">
                    <a:latin typeface="Times New Roman"/>
                    <a:cs typeface="Times New Roman"/>
                  </a:rPr>
                  <a:t> </a:t>
                </a:r>
                <a:r>
                  <a:rPr lang="en-US" sz="2400" spc="60" dirty="0">
                    <a:latin typeface="Times New Roman"/>
                    <a:cs typeface="Times New Roman"/>
                  </a:rPr>
                  <a:t>refraction</a:t>
                </a:r>
                <a:endParaRPr lang="en-US" sz="2400" dirty="0">
                  <a:latin typeface="Times New Roman"/>
                  <a:cs typeface="Times New Roman"/>
                </a:endParaRPr>
              </a:p>
              <a:p>
                <a:pPr marL="25400">
                  <a:lnSpc>
                    <a:spcPct val="100000"/>
                  </a:lnSpc>
                  <a:spcBef>
                    <a:spcPts val="1030"/>
                  </a:spcBef>
                </a:pPr>
                <a:r>
                  <a:rPr lang="en-US" sz="2400" i="1" spc="-20" dirty="0">
                    <a:latin typeface="Times New Roman"/>
                    <a:cs typeface="Times New Roman"/>
                  </a:rPr>
                  <a:t>n</a:t>
                </a:r>
                <a:r>
                  <a:rPr lang="en-US" sz="2400" spc="-30" baseline="-23504" dirty="0">
                    <a:latin typeface="Times New Roman"/>
                    <a:cs typeface="Times New Roman"/>
                  </a:rPr>
                  <a:t>1 </a:t>
                </a:r>
                <a:r>
                  <a:rPr lang="en-US" sz="2400" spc="-25" dirty="0">
                    <a:latin typeface="Times New Roman"/>
                    <a:cs typeface="Times New Roman"/>
                  </a:rPr>
                  <a:t>sin </a:t>
                </a:r>
                <a:r>
                  <a:rPr lang="en-US" sz="2400" i="1" spc="45" dirty="0" err="1">
                    <a:latin typeface="Times New Roman"/>
                    <a:cs typeface="Times New Roman"/>
                  </a:rPr>
                  <a:t>i</a:t>
                </a:r>
                <a:r>
                  <a:rPr lang="en-US" sz="2400" i="1" spc="45" dirty="0">
                    <a:latin typeface="Times New Roman"/>
                    <a:cs typeface="Times New Roman"/>
                  </a:rPr>
                  <a:t> </a:t>
                </a:r>
                <a:r>
                  <a:rPr lang="en-US" sz="2400" spc="90" dirty="0">
                    <a:latin typeface="Symbol"/>
                    <a:cs typeface="Symbol"/>
                  </a:rPr>
                  <a:t></a:t>
                </a:r>
                <a:r>
                  <a:rPr lang="en-US" sz="2400" spc="90" dirty="0">
                    <a:latin typeface="Times New Roman"/>
                    <a:cs typeface="Times New Roman"/>
                  </a:rPr>
                  <a:t> </a:t>
                </a:r>
                <a:r>
                  <a:rPr lang="en-US" sz="2400" i="1" spc="60" dirty="0">
                    <a:latin typeface="Times New Roman"/>
                    <a:cs typeface="Times New Roman"/>
                  </a:rPr>
                  <a:t>n</a:t>
                </a:r>
                <a:r>
                  <a:rPr lang="en-US" sz="2400" spc="89" baseline="-23504" dirty="0">
                    <a:latin typeface="Times New Roman"/>
                    <a:cs typeface="Times New Roman"/>
                  </a:rPr>
                  <a:t>2 </a:t>
                </a:r>
                <a:r>
                  <a:rPr lang="en-US" sz="2400" spc="-25" dirty="0">
                    <a:latin typeface="Times New Roman"/>
                    <a:cs typeface="Times New Roman"/>
                  </a:rPr>
                  <a:t>sin</a:t>
                </a:r>
                <a:r>
                  <a:rPr lang="en-US" sz="2400" spc="245" dirty="0">
                    <a:latin typeface="Times New Roman"/>
                    <a:cs typeface="Times New Roman"/>
                  </a:rPr>
                  <a:t> </a:t>
                </a:r>
                <a:r>
                  <a:rPr lang="en-US" sz="2400" i="1" spc="60" dirty="0">
                    <a:latin typeface="Times New Roman"/>
                    <a:cs typeface="Times New Roman"/>
                  </a:rPr>
                  <a:t>r  </a:t>
                </a:r>
              </a:p>
              <a:p>
                <a:pPr marL="25400">
                  <a:lnSpc>
                    <a:spcPct val="100000"/>
                  </a:lnSpc>
                  <a:spcBef>
                    <a:spcPts val="1030"/>
                  </a:spcBef>
                </a:pPr>
                <a:r>
                  <a:rPr lang="en-US" sz="2400" spc="60" dirty="0">
                    <a:latin typeface="Times New Roman"/>
                    <a:cs typeface="Times New Roman"/>
                  </a:rPr>
                  <a:t>here</a:t>
                </a:r>
                <a:r>
                  <a:rPr lang="en-US" sz="2400" i="1" spc="60" dirty="0">
                    <a:latin typeface="Times New Roman"/>
                    <a:cs typeface="Times New Roman"/>
                  </a:rPr>
                  <a:t> </a:t>
                </a:r>
                <a:r>
                  <a:rPr lang="en-US" sz="2400" i="1" spc="45" dirty="0" err="1">
                    <a:latin typeface="Times New Roman"/>
                    <a:cs typeface="Times New Roman"/>
                  </a:rPr>
                  <a:t>i</a:t>
                </a:r>
                <a:r>
                  <a:rPr lang="en-US" sz="2400" i="1" spc="45" dirty="0">
                    <a:latin typeface="Times New Roman"/>
                    <a:cs typeface="Times New Roman"/>
                  </a:rPr>
                  <a:t> </a:t>
                </a:r>
                <a:r>
                  <a:rPr lang="en-US" sz="2400" spc="90" dirty="0">
                    <a:latin typeface="Symbol"/>
                    <a:cs typeface="Symbol"/>
                  </a:rPr>
                  <a:t></a:t>
                </a:r>
                <a:r>
                  <a:rPr lang="en-US" sz="2400" spc="90" dirty="0">
                    <a:latin typeface="Times New Roman"/>
                    <a:cs typeface="Times New Roman"/>
                  </a:rPr>
                  <a:t> </a:t>
                </a:r>
                <a:r>
                  <a:rPr lang="en-US" sz="2400" i="1" spc="85" dirty="0">
                    <a:latin typeface="Symbol"/>
                    <a:cs typeface="Symbol"/>
                  </a:rPr>
                  <a:t></a:t>
                </a:r>
                <a:r>
                  <a:rPr lang="en-US" sz="2400" i="1" spc="127" baseline="-23504" dirty="0">
                    <a:latin typeface="Times New Roman"/>
                    <a:cs typeface="Times New Roman"/>
                  </a:rPr>
                  <a:t>c </a:t>
                </a:r>
                <a:r>
                  <a:rPr lang="en-US" sz="2400" spc="160" dirty="0">
                    <a:latin typeface="Symbol"/>
                    <a:cs typeface="Symbol"/>
                  </a:rPr>
                  <a:t></a:t>
                </a:r>
                <a:r>
                  <a:rPr lang="en-US" sz="2400" spc="160" dirty="0">
                    <a:latin typeface="Times New Roman"/>
                    <a:cs typeface="Times New Roman"/>
                  </a:rPr>
                  <a:t> </a:t>
                </a:r>
                <a:r>
                  <a:rPr lang="en-US" sz="2400" i="1" spc="60" dirty="0">
                    <a:latin typeface="Times New Roman"/>
                    <a:cs typeface="Times New Roman"/>
                  </a:rPr>
                  <a:t>r </a:t>
                </a:r>
                <a:r>
                  <a:rPr lang="en-US" sz="2400" spc="90" dirty="0">
                    <a:latin typeface="Symbol"/>
                    <a:cs typeface="Symbol"/>
                  </a:rPr>
                  <a:t></a:t>
                </a:r>
                <a:r>
                  <a:rPr lang="en-US" sz="2400" spc="-260" dirty="0">
                    <a:latin typeface="Times New Roman"/>
                    <a:cs typeface="Times New Roman"/>
                  </a:rPr>
                  <a:t> </a:t>
                </a:r>
                <a:r>
                  <a:rPr lang="en-US" sz="2400" spc="80" dirty="0">
                    <a:latin typeface="Times New Roman"/>
                    <a:cs typeface="Times New Roman"/>
                  </a:rPr>
                  <a:t>90</a:t>
                </a:r>
                <a:endParaRPr lang="en-US" sz="2400" dirty="0">
                  <a:latin typeface="Times New Roman"/>
                  <a:cs typeface="Times New Roman"/>
                </a:endParaRPr>
              </a:p>
              <a:p>
                <a:r>
                  <a:rPr lang="en-US" sz="2400" spc="-70" dirty="0">
                    <a:latin typeface="Times New Roman"/>
                    <a:cs typeface="Times New Roman"/>
                  </a:rPr>
                  <a:t>sin</a:t>
                </a:r>
                <a:r>
                  <a:rPr lang="en-US" sz="2400" i="1" spc="-70" dirty="0">
                    <a:latin typeface="Symbol"/>
                    <a:cs typeface="Symbol"/>
                  </a:rPr>
                  <a:t> </a:t>
                </a:r>
                <a:r>
                  <a:rPr lang="en-US" sz="2400" i="1" spc="-70" baseline="-25000" dirty="0">
                    <a:cs typeface="Symbol"/>
                  </a:rPr>
                  <a:t>c </a:t>
                </a:r>
                <a:r>
                  <a:rPr lang="en-US" sz="2400" spc="90" dirty="0">
                    <a:latin typeface="Symbol"/>
                    <a:cs typeface="Symbol"/>
                  </a:rPr>
                  <a:t></a:t>
                </a:r>
                <a14:m>
                  <m:oMath xmlns:m="http://schemas.openxmlformats.org/officeDocument/2006/math">
                    <m:box>
                      <m:boxPr>
                        <m:ctrlPr>
                          <a:rPr lang="ar-AE" sz="2400" i="1" spc="-85">
                            <a:latin typeface="Cambria Math" panose="02040503050406030204" pitchFamily="18" charset="0"/>
                            <a:cs typeface="Symbol"/>
                          </a:rPr>
                        </m:ctrlPr>
                      </m:boxPr>
                      <m:e>
                        <m:argPr>
                          <m:argSz m:val="-1"/>
                        </m:argPr>
                        <m:r>
                          <m:rPr>
                            <m:brk m:alnAt="63"/>
                          </m:rPr>
                          <a:rPr lang="en-US" sz="2400" b="0" i="1" spc="-85" smtClean="0">
                            <a:latin typeface="Cambria Math" panose="02040503050406030204" pitchFamily="18" charset="0"/>
                            <a:cs typeface="Symbol"/>
                          </a:rPr>
                          <m:t> </m:t>
                        </m:r>
                        <m:f>
                          <m:fPr>
                            <m:ctrlPr>
                              <a:rPr lang="ar-AE" sz="2400" i="1" spc="-85">
                                <a:latin typeface="Cambria Math" panose="02040503050406030204" pitchFamily="18" charset="0"/>
                                <a:cs typeface="Symbol"/>
                              </a:rPr>
                            </m:ctrlPr>
                          </m:fPr>
                          <m:num>
                            <m:r>
                              <m:rPr>
                                <m:nor/>
                              </m:rPr>
                              <a:rPr lang="en-US" sz="2400" spc="-170" dirty="0"/>
                              <m:t>n</m:t>
                            </m:r>
                            <m:r>
                              <m:rPr>
                                <m:nor/>
                              </m:rPr>
                              <a:rPr lang="en-US" sz="2400" b="0" i="1" spc="-170" baseline="-25000" dirty="0" smtClean="0"/>
                              <m:t>2</m:t>
                            </m:r>
                          </m:num>
                          <m:den>
                            <m:r>
                              <m:rPr>
                                <m:nor/>
                              </m:rPr>
                              <a:rPr lang="en-US" sz="2400" b="0" i="0" spc="-170" baseline="-25000" dirty="0" smtClean="0">
                                <a:latin typeface="Cambria Math" panose="02040503050406030204" pitchFamily="18" charset="0"/>
                              </a:rPr>
                              <m:t> </m:t>
                            </m:r>
                            <m:r>
                              <m:rPr>
                                <m:nor/>
                              </m:rPr>
                              <a:rPr lang="en-US" sz="2400" spc="-85" dirty="0"/>
                              <m:t>n</m:t>
                            </m:r>
                            <m:r>
                              <m:rPr>
                                <m:nor/>
                              </m:rPr>
                              <a:rPr lang="en-US" sz="2400" b="0" i="0" spc="-85" baseline="-25000" dirty="0" smtClean="0"/>
                              <m:t>1</m:t>
                            </m:r>
                            <m:r>
                              <m:rPr>
                                <m:nor/>
                              </m:rPr>
                              <a:rPr lang="en-US" sz="2400" spc="-127" baseline="-24024" dirty="0">
                                <a:latin typeface="Times New Roman"/>
                                <a:cs typeface="Times New Roman"/>
                              </a:rPr>
                              <m:t> </m:t>
                            </m:r>
                          </m:den>
                        </m:f>
                      </m:e>
                    </m:box>
                  </m:oMath>
                </a14:m>
                <a:r>
                  <a:rPr lang="en-US" sz="2400" spc="-70" dirty="0">
                    <a:latin typeface="Times New Roman"/>
                    <a:cs typeface="Times New Roman"/>
                  </a:rPr>
                  <a:t> sin </a:t>
                </a:r>
                <a:r>
                  <a:rPr lang="en-US" sz="2400" spc="-70" dirty="0">
                    <a:latin typeface="Symbol"/>
                    <a:cs typeface="Times New Roman"/>
                  </a:rPr>
                  <a:t>90  </a:t>
                </a:r>
                <a:r>
                  <a:rPr lang="en-US" sz="2400" spc="90" dirty="0">
                    <a:latin typeface="Symbol"/>
                    <a:cs typeface="Symbol"/>
                  </a:rPr>
                  <a:t></a:t>
                </a:r>
                <a14:m>
                  <m:oMath xmlns:m="http://schemas.openxmlformats.org/officeDocument/2006/math">
                    <m:box>
                      <m:boxPr>
                        <m:ctrlPr>
                          <a:rPr lang="ar-AE" sz="2400" i="1" spc="-85">
                            <a:latin typeface="Cambria Math" panose="02040503050406030204" pitchFamily="18" charset="0"/>
                            <a:cs typeface="Symbol"/>
                          </a:rPr>
                        </m:ctrlPr>
                      </m:boxPr>
                      <m:e>
                        <m:argPr>
                          <m:argSz m:val="-1"/>
                        </m:argPr>
                        <m:r>
                          <m:rPr>
                            <m:brk m:alnAt="63"/>
                          </m:rPr>
                          <a:rPr lang="en-US" sz="2400" b="0" i="1" spc="-85" smtClean="0">
                            <a:latin typeface="Cambria Math" panose="02040503050406030204" pitchFamily="18" charset="0"/>
                            <a:cs typeface="Symbol"/>
                          </a:rPr>
                          <m:t> </m:t>
                        </m:r>
                        <m:f>
                          <m:fPr>
                            <m:ctrlPr>
                              <a:rPr lang="ar-AE" sz="2400" i="1" spc="-85">
                                <a:latin typeface="Cambria Math" panose="02040503050406030204" pitchFamily="18" charset="0"/>
                                <a:cs typeface="Symbol"/>
                              </a:rPr>
                            </m:ctrlPr>
                          </m:fPr>
                          <m:num>
                            <m:r>
                              <m:rPr>
                                <m:nor/>
                              </m:rPr>
                              <a:rPr lang="en-US" sz="2400" spc="-170" dirty="0"/>
                              <m:t>n</m:t>
                            </m:r>
                            <m:r>
                              <m:rPr>
                                <m:nor/>
                              </m:rPr>
                              <a:rPr lang="en-US" sz="2400" i="1" spc="-170" baseline="-25000" dirty="0"/>
                              <m:t>2</m:t>
                            </m:r>
                          </m:num>
                          <m:den>
                            <m:r>
                              <m:rPr>
                                <m:nor/>
                              </m:rPr>
                              <a:rPr lang="en-US" sz="2400" spc="-85" dirty="0"/>
                              <m:t>n</m:t>
                            </m:r>
                            <m:r>
                              <m:rPr>
                                <m:nor/>
                              </m:rPr>
                              <a:rPr lang="en-US" sz="2400" spc="-85" baseline="-25000" dirty="0"/>
                              <m:t>1</m:t>
                            </m:r>
                            <m:r>
                              <m:rPr>
                                <m:nor/>
                              </m:rPr>
                              <a:rPr lang="en-US" sz="2400" spc="-127" baseline="-24024" dirty="0">
                                <a:latin typeface="Times New Roman"/>
                                <a:cs typeface="Times New Roman"/>
                              </a:rPr>
                              <m:t> </m:t>
                            </m:r>
                          </m:den>
                        </m:f>
                      </m:e>
                    </m:box>
                  </m:oMath>
                </a14:m>
                <a:r>
                  <a:rPr lang="en-US" sz="2400" dirty="0">
                    <a:latin typeface="Times New Roman"/>
                    <a:cs typeface="Times New Roman"/>
                  </a:rPr>
                  <a:t>	</a:t>
                </a:r>
                <a:endParaRPr lang="en-US" sz="2400" baseline="-25000" dirty="0">
                  <a:cs typeface="Symbol"/>
                </a:endParaRPr>
              </a:p>
              <a:p>
                <a:endParaRPr lang="en-US" sz="2400" i="1" baseline="-25000" dirty="0">
                  <a:latin typeface="Cambria Math" panose="02040503050406030204" pitchFamily="18" charset="0"/>
                </a:endParaRPr>
              </a:p>
              <a:p>
                <a:r>
                  <a:rPr lang="en-US" sz="2400" spc="50" dirty="0">
                    <a:latin typeface="Times New Roman"/>
                    <a:cs typeface="Times New Roman"/>
                  </a:rPr>
                  <a:t>c</a:t>
                </a:r>
                <a:r>
                  <a:rPr lang="en-US" sz="2400" spc="80" dirty="0">
                    <a:latin typeface="Times New Roman"/>
                    <a:cs typeface="Times New Roman"/>
                  </a:rPr>
                  <a:t>o</a:t>
                </a:r>
                <a:r>
                  <a:rPr lang="en-US" sz="2400" spc="170" dirty="0">
                    <a:latin typeface="Times New Roman"/>
                    <a:cs typeface="Times New Roman"/>
                  </a:rPr>
                  <a:t>s</a:t>
                </a:r>
                <a:r>
                  <a:rPr lang="en-US" sz="2400" i="1" spc="-70" dirty="0">
                    <a:latin typeface="Symbol"/>
                    <a:cs typeface="Symbol"/>
                  </a:rPr>
                  <a:t>  </a:t>
                </a:r>
                <a:r>
                  <a:rPr lang="en-US" sz="2400" i="1" spc="-70" baseline="-25000" dirty="0">
                    <a:cs typeface="Symbol"/>
                  </a:rPr>
                  <a:t>c </a:t>
                </a:r>
                <a:r>
                  <a:rPr lang="en-US" sz="2400" spc="90" dirty="0">
                    <a:latin typeface="Symbol"/>
                    <a:cs typeface="Symbol"/>
                  </a:rPr>
                  <a:t> </a:t>
                </a:r>
                <a14:m>
                  <m:oMath xmlns:m="http://schemas.openxmlformats.org/officeDocument/2006/math">
                    <m:rad>
                      <m:radPr>
                        <m:degHide m:val="on"/>
                        <m:ctrlPr>
                          <a:rPr lang="en-US" sz="2400" i="1" spc="175" dirty="0">
                            <a:latin typeface="Cambria Math" panose="02040503050406030204" pitchFamily="18" charset="0"/>
                            <a:cs typeface="Times New Roman"/>
                          </a:rPr>
                        </m:ctrlPr>
                      </m:radPr>
                      <m:deg/>
                      <m:e>
                        <m:r>
                          <a:rPr lang="en-US" sz="2400" b="0" i="1" spc="175" dirty="0" smtClean="0">
                            <a:latin typeface="Cambria Math" panose="02040503050406030204" pitchFamily="18" charset="0"/>
                            <a:cs typeface="Times New Roman"/>
                          </a:rPr>
                          <m:t>1</m:t>
                        </m:r>
                        <m:r>
                          <a:rPr lang="en-US" sz="2400" b="0" i="1" spc="175" dirty="0" smtClean="0">
                            <a:latin typeface="Cambria Math" panose="02040503050406030204" pitchFamily="18" charset="0"/>
                            <a:cs typeface="Times New Roman"/>
                          </a:rPr>
                          <m:t>−</m:t>
                        </m:r>
                        <m:sSup>
                          <m:sSupPr>
                            <m:ctrlPr>
                              <a:rPr lang="en-US" sz="2400" b="0" i="1" spc="175" dirty="0" smtClean="0">
                                <a:latin typeface="Cambria Math" panose="02040503050406030204" pitchFamily="18" charset="0"/>
                                <a:cs typeface="Times New Roman"/>
                              </a:rPr>
                            </m:ctrlPr>
                          </m:sSupPr>
                          <m:e>
                            <m:r>
                              <a:rPr lang="en-US" sz="2400" b="0" i="1" spc="175" dirty="0" smtClean="0">
                                <a:latin typeface="Cambria Math" panose="02040503050406030204" pitchFamily="18" charset="0"/>
                                <a:cs typeface="Times New Roman"/>
                              </a:rPr>
                              <m:t>𝑠𝑖𝑛</m:t>
                            </m:r>
                          </m:e>
                          <m:sup>
                            <m:r>
                              <a:rPr lang="en-US" sz="2400" b="0" i="1" spc="175" dirty="0" smtClean="0">
                                <a:latin typeface="Cambria Math" panose="02040503050406030204" pitchFamily="18" charset="0"/>
                                <a:cs typeface="Times New Roman"/>
                              </a:rPr>
                              <m:t>2</m:t>
                            </m:r>
                          </m:sup>
                        </m:sSup>
                      </m:e>
                    </m:rad>
                  </m:oMath>
                </a14:m>
                <a:r>
                  <a:rPr lang="en-US" sz="2400" dirty="0">
                    <a:latin typeface="Symbol"/>
                    <a:cs typeface="Symbol"/>
                  </a:rPr>
                  <a:t>q </a:t>
                </a:r>
                <a:r>
                  <a:rPr lang="en-US" sz="2400" spc="90" dirty="0">
                    <a:latin typeface="Times New Roman"/>
                    <a:cs typeface="Times New Roman"/>
                  </a:rPr>
                  <a:t>	</a:t>
                </a:r>
                <a:r>
                  <a:rPr lang="en-US" sz="2400" spc="90" dirty="0">
                    <a:latin typeface="Symbol"/>
                    <a:cs typeface="Symbol"/>
                  </a:rPr>
                  <a:t> </a:t>
                </a:r>
                <a14:m>
                  <m:oMath xmlns:m="http://schemas.openxmlformats.org/officeDocument/2006/math">
                    <m:rad>
                      <m:radPr>
                        <m:degHide m:val="on"/>
                        <m:ctrlPr>
                          <a:rPr lang="en-US" sz="2400" i="1" spc="90">
                            <a:latin typeface="Cambria Math" panose="02040503050406030204" pitchFamily="18" charset="0"/>
                          </a:rPr>
                        </m:ctrlPr>
                      </m:radPr>
                      <m:deg/>
                      <m:e>
                        <m:r>
                          <a:rPr lang="en-US" sz="2400" i="1" spc="90">
                            <a:latin typeface="Cambria Math" panose="02040503050406030204" pitchFamily="18" charset="0"/>
                          </a:rPr>
                          <m:t>1</m:t>
                        </m:r>
                        <m:r>
                          <a:rPr lang="en-US" sz="2400" i="1" spc="90">
                            <a:latin typeface="Cambria Math" panose="02040503050406030204" pitchFamily="18" charset="0"/>
                          </a:rPr>
                          <m:t>−</m:t>
                        </m:r>
                        <m:d>
                          <m:dPr>
                            <m:ctrlPr>
                              <a:rPr lang="en-US" sz="2400" i="1" spc="90">
                                <a:latin typeface="Cambria Math" panose="02040503050406030204" pitchFamily="18" charset="0"/>
                              </a:rPr>
                            </m:ctrlPr>
                          </m:dPr>
                          <m:e>
                            <m:f>
                              <m:fPr>
                                <m:ctrlPr>
                                  <a:rPr lang="en-US" sz="2400" i="1" spc="90">
                                    <a:latin typeface="Cambria Math" panose="02040503050406030204" pitchFamily="18" charset="0"/>
                                  </a:rPr>
                                </m:ctrlPr>
                              </m:fPr>
                              <m:num>
                                <m:sSub>
                                  <m:sSubPr>
                                    <m:ctrlPr>
                                      <a:rPr lang="en-US" sz="2400" i="1" spc="90">
                                        <a:latin typeface="Cambria Math" panose="02040503050406030204" pitchFamily="18" charset="0"/>
                                      </a:rPr>
                                    </m:ctrlPr>
                                  </m:sSubPr>
                                  <m:e>
                                    <m:r>
                                      <a:rPr lang="en-US" sz="2400" i="1" spc="90">
                                        <a:latin typeface="Cambria Math" panose="02040503050406030204" pitchFamily="18" charset="0"/>
                                      </a:rPr>
                                      <m:t>𝑛</m:t>
                                    </m:r>
                                  </m:e>
                                  <m:sub>
                                    <m:r>
                                      <a:rPr lang="en-US" sz="2400" i="1" spc="90">
                                        <a:latin typeface="Cambria Math" panose="02040503050406030204" pitchFamily="18" charset="0"/>
                                      </a:rPr>
                                      <m:t>2</m:t>
                                    </m:r>
                                  </m:sub>
                                </m:sSub>
                              </m:num>
                              <m:den>
                                <m:sSub>
                                  <m:sSubPr>
                                    <m:ctrlPr>
                                      <a:rPr lang="en-US" sz="2400" i="1" spc="90">
                                        <a:latin typeface="Cambria Math" panose="02040503050406030204" pitchFamily="18" charset="0"/>
                                      </a:rPr>
                                    </m:ctrlPr>
                                  </m:sSubPr>
                                  <m:e>
                                    <m:r>
                                      <a:rPr lang="en-US" sz="2400" i="1" spc="90">
                                        <a:latin typeface="Cambria Math" panose="02040503050406030204" pitchFamily="18" charset="0"/>
                                      </a:rPr>
                                      <m:t>𝑛</m:t>
                                    </m:r>
                                  </m:e>
                                  <m:sub>
                                    <m:r>
                                      <a:rPr lang="en-US" sz="2400" i="1" spc="90">
                                        <a:latin typeface="Cambria Math" panose="02040503050406030204" pitchFamily="18" charset="0"/>
                                      </a:rPr>
                                      <m:t>1</m:t>
                                    </m:r>
                                  </m:sub>
                                </m:sSub>
                              </m:den>
                            </m:f>
                          </m:e>
                        </m:d>
                      </m:e>
                    </m:rad>
                  </m:oMath>
                </a14:m>
                <a:r>
                  <a:rPr lang="en-US" sz="2400" baseline="90000" dirty="0">
                    <a:latin typeface="Times New Roman"/>
                    <a:cs typeface="Times New Roman"/>
                  </a:rPr>
                  <a:t>2</a:t>
                </a:r>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xfrm>
                <a:off x="1128409" y="622570"/>
                <a:ext cx="9552560" cy="5933873"/>
              </a:xfrm>
              <a:blipFill rotWithShape="0">
                <a:blip r:embed="rId2"/>
                <a:stretch>
                  <a:fillRect l="-957"/>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BDCDBBEF-AA6C-4BA6-85B2-A17D7F280E38}" type="slidenum">
              <a:rPr lang="en-US" smtClean="0"/>
              <a:t>8</a:t>
            </a:fld>
            <a:endParaRPr lang="en-US"/>
          </a:p>
        </p:txBody>
      </p:sp>
    </p:spTree>
    <p:extLst>
      <p:ext uri="{BB962C8B-B14F-4D97-AF65-F5344CB8AC3E}">
        <p14:creationId xmlns:p14="http://schemas.microsoft.com/office/powerpoint/2010/main" val="624889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29993" y="154746"/>
                <a:ext cx="10998841" cy="6566730"/>
              </a:xfrm>
            </p:spPr>
            <p:txBody>
              <a:bodyPr>
                <a:normAutofit/>
              </a:bodyPr>
              <a:lstStyle/>
              <a:p>
                <a:pPr marL="0" indent="0" algn="ctr">
                  <a:buNone/>
                </a:pPr>
                <a:r>
                  <a:rPr lang="en-US" sz="2400" spc="50" dirty="0">
                    <a:latin typeface="Times New Roman"/>
                    <a:cs typeface="Times New Roman"/>
                  </a:rPr>
                  <a:t>C</a:t>
                </a:r>
                <a:r>
                  <a:rPr lang="en-US" sz="2400" spc="80" dirty="0">
                    <a:latin typeface="Times New Roman"/>
                    <a:cs typeface="Times New Roman"/>
                  </a:rPr>
                  <a:t>o</a:t>
                </a:r>
                <a:r>
                  <a:rPr lang="en-US" sz="2400" spc="170" dirty="0">
                    <a:latin typeface="Times New Roman"/>
                    <a:cs typeface="Times New Roman"/>
                  </a:rPr>
                  <a:t>s</a:t>
                </a:r>
                <a:r>
                  <a:rPr lang="en-US" sz="2400" i="1" spc="-70" dirty="0">
                    <a:latin typeface="Symbol"/>
                    <a:cs typeface="Symbol"/>
                  </a:rPr>
                  <a:t>  </a:t>
                </a:r>
                <a:r>
                  <a:rPr lang="en-US" sz="2400" i="1" spc="-70" baseline="-25000" dirty="0">
                    <a:cs typeface="Symbol"/>
                  </a:rPr>
                  <a:t>c </a:t>
                </a:r>
                <a:r>
                  <a:rPr lang="en-US" sz="2400" spc="90" dirty="0">
                    <a:latin typeface="Symbol"/>
                    <a:cs typeface="Symbol"/>
                  </a:rPr>
                  <a:t></a:t>
                </a:r>
                <a14:m>
                  <m:oMath xmlns:m="http://schemas.openxmlformats.org/officeDocument/2006/math">
                    <m:f>
                      <m:fPr>
                        <m:ctrlPr>
                          <a:rPr lang="en-US" sz="2400" i="1" dirty="0">
                            <a:latin typeface="Cambria Math" panose="02040503050406030204" pitchFamily="18" charset="0"/>
                          </a:rPr>
                        </m:ctrlPr>
                      </m:fPr>
                      <m:num>
                        <m:rad>
                          <m:radPr>
                            <m:degHide m:val="on"/>
                            <m:ctrlPr>
                              <a:rPr lang="en-US" sz="2400" i="1" dirty="0">
                                <a:latin typeface="Cambria Math" panose="02040503050406030204" pitchFamily="18" charset="0"/>
                              </a:rPr>
                            </m:ctrlPr>
                          </m:radPr>
                          <m:deg/>
                          <m:e>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𝑛</m:t>
                                </m:r>
                              </m:e>
                              <m:sub>
                                <m:r>
                                  <a:rPr lang="en-US" sz="2400" i="1" dirty="0">
                                    <a:latin typeface="Cambria Math" panose="02040503050406030204" pitchFamily="18" charset="0"/>
                                  </a:rPr>
                                  <m:t>1</m:t>
                                </m:r>
                              </m:sub>
                              <m:sup>
                                <m:r>
                                  <a:rPr lang="en-US" sz="2400" i="1" dirty="0">
                                    <a:latin typeface="Cambria Math" panose="02040503050406030204" pitchFamily="18" charset="0"/>
                                  </a:rPr>
                                  <m:t>2</m:t>
                                </m:r>
                              </m:sup>
                            </m:sSubSup>
                            <m:r>
                              <a:rPr lang="en-US" sz="2400" i="1" dirty="0">
                                <a:latin typeface="Cambria Math" panose="02040503050406030204" pitchFamily="18" charset="0"/>
                              </a:rPr>
                              <m:t> − </m:t>
                            </m:r>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𝑛</m:t>
                                </m:r>
                              </m:e>
                              <m:sub>
                                <m:r>
                                  <a:rPr lang="en-US" sz="2400" i="1" dirty="0">
                                    <a:latin typeface="Cambria Math" panose="02040503050406030204" pitchFamily="18" charset="0"/>
                                  </a:rPr>
                                  <m:t>2</m:t>
                                </m:r>
                              </m:sub>
                              <m:sup>
                                <m:r>
                                  <a:rPr lang="en-US" sz="2400" i="1" dirty="0">
                                    <a:latin typeface="Cambria Math" panose="02040503050406030204" pitchFamily="18" charset="0"/>
                                  </a:rPr>
                                  <m:t>2</m:t>
                                </m:r>
                              </m:sup>
                            </m:sSubSup>
                          </m:e>
                        </m:rad>
                      </m:num>
                      <m:den>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𝑛</m:t>
                            </m:r>
                          </m:e>
                          <m:sub>
                            <m:r>
                              <a:rPr lang="en-US" sz="2400" i="1" dirty="0">
                                <a:latin typeface="Cambria Math" panose="02040503050406030204" pitchFamily="18" charset="0"/>
                              </a:rPr>
                              <m:t>1</m:t>
                            </m:r>
                          </m:sub>
                          <m:sup>
                            <m:r>
                              <a:rPr lang="en-US" sz="2400" i="1" dirty="0">
                                <a:latin typeface="Cambria Math" panose="02040503050406030204" pitchFamily="18" charset="0"/>
                              </a:rPr>
                              <m:t>2</m:t>
                            </m:r>
                          </m:sup>
                        </m:sSubSup>
                      </m:den>
                    </m:f>
                  </m:oMath>
                </a14:m>
                <a:r>
                  <a:rPr lang="en-US" sz="2400" spc="-70" normalizeH="1" dirty="0">
                    <a:latin typeface="Times New Roman" panose="02020603050405020304" pitchFamily="18" charset="0"/>
                    <a:cs typeface="Times New Roman" panose="02020603050405020304" pitchFamily="18" charset="0"/>
                  </a:rPr>
                  <a:t>  </a:t>
                </a:r>
                <a:r>
                  <a:rPr lang="en-US" sz="2400" spc="-70" dirty="0">
                    <a:latin typeface="Times New Roman" panose="02020603050405020304" pitchFamily="18" charset="0"/>
                    <a:cs typeface="Times New Roman" panose="02020603050405020304" pitchFamily="18" charset="0"/>
                  </a:rPr>
                  <a:t>……………........... </a:t>
                </a:r>
                <a:r>
                  <a:rPr lang="en-US" sz="2400" spc="-70" normalizeH="1" dirty="0">
                    <a:latin typeface="Times New Roman" panose="02020603050405020304" pitchFamily="18" charset="0"/>
                    <a:cs typeface="Times New Roman" panose="02020603050405020304" pitchFamily="18" charset="0"/>
                  </a:rPr>
                  <a:t>(4)        </a:t>
                </a:r>
              </a:p>
              <a:p>
                <a:pPr marL="0" indent="0" algn="ctr">
                  <a:buNone/>
                </a:pPr>
                <a:r>
                  <a:rPr lang="en-US" sz="2400" spc="-45" dirty="0">
                    <a:latin typeface="Times New Roman"/>
                    <a:cs typeface="Times New Roman"/>
                  </a:rPr>
                  <a:t>s</a:t>
                </a:r>
                <a:r>
                  <a:rPr lang="en-US" sz="2400" dirty="0">
                    <a:latin typeface="Times New Roman"/>
                    <a:cs typeface="Times New Roman"/>
                  </a:rPr>
                  <a:t>u</a:t>
                </a:r>
                <a:r>
                  <a:rPr lang="en-US" sz="2400" spc="-20" dirty="0">
                    <a:latin typeface="Times New Roman"/>
                    <a:cs typeface="Times New Roman"/>
                  </a:rPr>
                  <a:t>b</a:t>
                </a:r>
                <a:r>
                  <a:rPr lang="en-US" sz="2400" spc="-40" dirty="0">
                    <a:latin typeface="Times New Roman"/>
                    <a:cs typeface="Times New Roman"/>
                  </a:rPr>
                  <a:t>s</a:t>
                </a:r>
                <a:r>
                  <a:rPr lang="en-US" sz="2400" spc="75" dirty="0">
                    <a:latin typeface="Times New Roman"/>
                    <a:cs typeface="Times New Roman"/>
                  </a:rPr>
                  <a:t>t</a:t>
                </a:r>
                <a:r>
                  <a:rPr lang="en-US" sz="2400" spc="-80" dirty="0">
                    <a:latin typeface="Times New Roman"/>
                    <a:cs typeface="Times New Roman"/>
                  </a:rPr>
                  <a:t>i</a:t>
                </a:r>
                <a:r>
                  <a:rPr lang="en-US" sz="2400" spc="75" dirty="0">
                    <a:latin typeface="Times New Roman"/>
                    <a:cs typeface="Times New Roman"/>
                  </a:rPr>
                  <a:t>t</a:t>
                </a:r>
                <a:r>
                  <a:rPr lang="en-US" sz="2400" dirty="0">
                    <a:latin typeface="Times New Roman"/>
                    <a:cs typeface="Times New Roman"/>
                  </a:rPr>
                  <a:t>u</a:t>
                </a:r>
                <a:r>
                  <a:rPr lang="en-US" sz="2400" spc="70" dirty="0">
                    <a:latin typeface="Times New Roman"/>
                    <a:cs typeface="Times New Roman"/>
                  </a:rPr>
                  <a:t>t</a:t>
                </a:r>
                <a:r>
                  <a:rPr lang="en-US" sz="2400" dirty="0">
                    <a:latin typeface="Times New Roman"/>
                    <a:cs typeface="Times New Roman"/>
                  </a:rPr>
                  <a:t>e</a:t>
                </a:r>
                <a:r>
                  <a:rPr lang="en-US" sz="2400" spc="145" dirty="0">
                    <a:latin typeface="Times New Roman"/>
                    <a:cs typeface="Times New Roman"/>
                  </a:rPr>
                  <a:t> </a:t>
                </a:r>
                <a:r>
                  <a:rPr lang="en-US" sz="2400" spc="-25" dirty="0">
                    <a:latin typeface="Times New Roman"/>
                    <a:cs typeface="Times New Roman"/>
                  </a:rPr>
                  <a:t>e</a:t>
                </a:r>
                <a:r>
                  <a:rPr lang="en-US" sz="2400" dirty="0">
                    <a:latin typeface="Times New Roman"/>
                    <a:cs typeface="Times New Roman"/>
                  </a:rPr>
                  <a:t>q</a:t>
                </a:r>
                <a:r>
                  <a:rPr lang="en-US" sz="2400" spc="-15" dirty="0">
                    <a:latin typeface="Times New Roman"/>
                    <a:cs typeface="Times New Roman"/>
                  </a:rPr>
                  <a:t>u</a:t>
                </a:r>
                <a:r>
                  <a:rPr lang="en-US" sz="2400" dirty="0">
                    <a:latin typeface="Times New Roman"/>
                    <a:cs typeface="Times New Roman"/>
                  </a:rPr>
                  <a:t>a</a:t>
                </a:r>
                <a:r>
                  <a:rPr lang="en-US" sz="2400" spc="70" dirty="0">
                    <a:latin typeface="Times New Roman"/>
                    <a:cs typeface="Times New Roman"/>
                  </a:rPr>
                  <a:t>t</a:t>
                </a:r>
                <a:r>
                  <a:rPr lang="en-US" sz="2400" spc="-80" dirty="0">
                    <a:latin typeface="Times New Roman"/>
                    <a:cs typeface="Times New Roman"/>
                  </a:rPr>
                  <a:t>i</a:t>
                </a:r>
                <a:r>
                  <a:rPr lang="en-US" sz="2400" dirty="0">
                    <a:latin typeface="Times New Roman"/>
                    <a:cs typeface="Times New Roman"/>
                  </a:rPr>
                  <a:t>on </a:t>
                </a:r>
                <a:r>
                  <a:rPr lang="en-US" sz="2400" spc="60" dirty="0">
                    <a:latin typeface="Times New Roman"/>
                    <a:cs typeface="Times New Roman"/>
                  </a:rPr>
                  <a:t>(</a:t>
                </a:r>
                <a:r>
                  <a:rPr lang="en-US" sz="2400" spc="-15" dirty="0">
                    <a:latin typeface="Times New Roman"/>
                    <a:cs typeface="Times New Roman"/>
                  </a:rPr>
                  <a:t>4</a:t>
                </a:r>
                <a:r>
                  <a:rPr lang="en-US" sz="2400" dirty="0">
                    <a:latin typeface="Times New Roman"/>
                    <a:cs typeface="Times New Roman"/>
                  </a:rPr>
                  <a:t>) </a:t>
                </a:r>
                <a:r>
                  <a:rPr lang="en-US" sz="2400" spc="-80" dirty="0">
                    <a:latin typeface="Times New Roman"/>
                    <a:cs typeface="Times New Roman"/>
                  </a:rPr>
                  <a:t>i</a:t>
                </a:r>
                <a:r>
                  <a:rPr lang="en-US" sz="2400" dirty="0">
                    <a:latin typeface="Times New Roman"/>
                    <a:cs typeface="Times New Roman"/>
                  </a:rPr>
                  <a:t>n </a:t>
                </a:r>
                <a:r>
                  <a:rPr lang="en-US" sz="2400" spc="-20" dirty="0">
                    <a:latin typeface="Times New Roman"/>
                    <a:cs typeface="Times New Roman"/>
                  </a:rPr>
                  <a:t>(</a:t>
                </a:r>
                <a:r>
                  <a:rPr lang="en-US" sz="2400" spc="-95" dirty="0">
                    <a:latin typeface="Times New Roman"/>
                    <a:cs typeface="Times New Roman"/>
                  </a:rPr>
                  <a:t>3</a:t>
                </a:r>
                <a:r>
                  <a:rPr lang="en-US" sz="2400" dirty="0">
                    <a:latin typeface="Times New Roman"/>
                    <a:cs typeface="Times New Roman"/>
                  </a:rPr>
                  <a:t>)</a:t>
                </a:r>
              </a:p>
              <a:p>
                <a:pPr marL="0" indent="0" algn="ctr">
                  <a:buNone/>
                </a:pPr>
                <a:endParaRPr lang="en-US" sz="2400" dirty="0">
                  <a:latin typeface="Times New Roman"/>
                  <a:cs typeface="Times New Roman"/>
                </a:endParaRPr>
              </a:p>
              <a:p>
                <a:pPr marL="0" indent="0" algn="ctr">
                  <a:buNone/>
                </a:pPr>
                <a:r>
                  <a:rPr lang="en-US" sz="2400" spc="-114" dirty="0">
                    <a:latin typeface="Times New Roman"/>
                    <a:cs typeface="Times New Roman"/>
                  </a:rPr>
                  <a:t> </a:t>
                </a:r>
                <a:r>
                  <a:rPr lang="en-US" sz="2400" spc="-170" dirty="0">
                    <a:latin typeface="Times New Roman"/>
                    <a:cs typeface="Times New Roman"/>
                  </a:rPr>
                  <a:t>sin</a:t>
                </a:r>
                <a:r>
                  <a:rPr lang="en-US" sz="2400" spc="-250" dirty="0">
                    <a:latin typeface="Times New Roman"/>
                    <a:cs typeface="Times New Roman"/>
                  </a:rPr>
                  <a:t> </a:t>
                </a:r>
                <a:r>
                  <a:rPr lang="en-US" sz="2400" i="1" spc="-35" dirty="0">
                    <a:latin typeface="Symbol"/>
                    <a:cs typeface="Symbol"/>
                  </a:rPr>
                  <a:t></a:t>
                </a:r>
                <a:r>
                  <a:rPr lang="en-US" sz="2400" spc="-52" baseline="-24024" dirty="0"/>
                  <a:t>m</a:t>
                </a:r>
                <a:r>
                  <a:rPr lang="en-US" sz="2400" spc="-85" dirty="0">
                    <a:latin typeface="Symbol"/>
                    <a:cs typeface="Symbol"/>
                  </a:rPr>
                  <a:t> </a:t>
                </a:r>
                <a14:m>
                  <m:oMath xmlns:m="http://schemas.openxmlformats.org/officeDocument/2006/math">
                    <m:box>
                      <m:boxPr>
                        <m:ctrlPr>
                          <a:rPr lang="ar-AE" sz="2400" i="1" spc="-85">
                            <a:latin typeface="Cambria Math" panose="02040503050406030204" pitchFamily="18" charset="0"/>
                            <a:cs typeface="Symbol"/>
                          </a:rPr>
                        </m:ctrlPr>
                      </m:boxPr>
                      <m:e>
                        <m:argPr>
                          <m:argSz m:val="-1"/>
                        </m:argPr>
                        <m:f>
                          <m:fPr>
                            <m:ctrlPr>
                              <a:rPr lang="ar-AE" sz="2400" i="1" spc="-85">
                                <a:latin typeface="Cambria Math" panose="02040503050406030204" pitchFamily="18" charset="0"/>
                                <a:cs typeface="Symbol"/>
                              </a:rPr>
                            </m:ctrlPr>
                          </m:fPr>
                          <m:num>
                            <m:r>
                              <m:rPr>
                                <m:nor/>
                              </m:rPr>
                              <a:rPr lang="en-US" sz="2400" spc="-170" dirty="0"/>
                              <m:t>n</m:t>
                            </m:r>
                            <m:r>
                              <m:rPr>
                                <m:nor/>
                              </m:rPr>
                              <a:rPr lang="en-US" sz="2400" spc="-254" baseline="-24024" dirty="0">
                                <a:latin typeface="Times New Roman"/>
                                <a:cs typeface="Times New Roman"/>
                              </a:rPr>
                              <m:t>1</m:t>
                            </m:r>
                          </m:num>
                          <m:den>
                            <m:r>
                              <m:rPr>
                                <m:nor/>
                              </m:rPr>
                              <a:rPr lang="en-US" sz="2400" spc="-85" dirty="0"/>
                              <m:t>n</m:t>
                            </m:r>
                            <m:r>
                              <m:rPr>
                                <m:nor/>
                              </m:rPr>
                              <a:rPr lang="en-US" sz="2400" spc="-127" baseline="-24024" dirty="0">
                                <a:latin typeface="Times New Roman"/>
                                <a:cs typeface="Times New Roman"/>
                              </a:rPr>
                              <m:t>0 </m:t>
                            </m:r>
                          </m:den>
                        </m:f>
                      </m:e>
                    </m:box>
                  </m:oMath>
                </a14:m>
                <a:r>
                  <a:rPr lang="en-US" sz="2400" dirty="0"/>
                  <a:t> </a:t>
                </a:r>
                <a14:m>
                  <m:oMath xmlns:m="http://schemas.openxmlformats.org/officeDocument/2006/math">
                    <m:f>
                      <m:fPr>
                        <m:ctrlPr>
                          <a:rPr lang="en-US" sz="2400" i="1" dirty="0" smtClean="0">
                            <a:latin typeface="Cambria Math" panose="02040503050406030204" pitchFamily="18" charset="0"/>
                          </a:rPr>
                        </m:ctrlPr>
                      </m:fPr>
                      <m:num>
                        <m:rad>
                          <m:radPr>
                            <m:degHide m:val="on"/>
                            <m:ctrlPr>
                              <a:rPr lang="en-US" sz="2400" i="1" dirty="0" smtClean="0">
                                <a:latin typeface="Cambria Math" panose="02040503050406030204" pitchFamily="18" charset="0"/>
                              </a:rPr>
                            </m:ctrlPr>
                          </m:radPr>
                          <m:deg/>
                          <m:e>
                            <m:sSubSup>
                              <m:sSubSupPr>
                                <m:ctrlPr>
                                  <a:rPr lang="en-US" sz="2400" i="1" dirty="0" smtClean="0">
                                    <a:latin typeface="Cambria Math" panose="02040503050406030204" pitchFamily="18" charset="0"/>
                                  </a:rPr>
                                </m:ctrlPr>
                              </m:sSubSupPr>
                              <m:e>
                                <m:r>
                                  <a:rPr lang="en-US" sz="2400" b="0" i="1" dirty="0" smtClean="0">
                                    <a:latin typeface="Cambria Math" panose="02040503050406030204" pitchFamily="18" charset="0"/>
                                  </a:rPr>
                                  <m:t>𝑛</m:t>
                                </m:r>
                              </m:e>
                              <m:sub>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2</m:t>
                                </m:r>
                              </m:sup>
                            </m:sSubSup>
                            <m:r>
                              <a:rPr lang="en-US" sz="2400" b="0" i="1" dirty="0" smtClean="0">
                                <a:latin typeface="Cambria Math" panose="02040503050406030204" pitchFamily="18" charset="0"/>
                              </a:rPr>
                              <m:t> − </m:t>
                            </m:r>
                            <m:sSubSup>
                              <m:sSubSupPr>
                                <m:ctrlPr>
                                  <a:rPr lang="en-US" sz="2400" b="0" i="1" dirty="0" smtClean="0">
                                    <a:latin typeface="Cambria Math" panose="02040503050406030204" pitchFamily="18" charset="0"/>
                                  </a:rPr>
                                </m:ctrlPr>
                              </m:sSubSupPr>
                              <m:e>
                                <m:r>
                                  <a:rPr lang="en-US" sz="2400" b="0" i="1" dirty="0" smtClean="0">
                                    <a:latin typeface="Cambria Math" panose="02040503050406030204" pitchFamily="18" charset="0"/>
                                  </a:rPr>
                                  <m:t>𝑛</m:t>
                                </m:r>
                              </m:e>
                              <m:sub>
                                <m:r>
                                  <a:rPr lang="en-US" sz="2400" b="0" i="1" dirty="0" smtClean="0">
                                    <a:latin typeface="Cambria Math" panose="02040503050406030204" pitchFamily="18" charset="0"/>
                                  </a:rPr>
                                  <m:t>2</m:t>
                                </m:r>
                              </m:sub>
                              <m:sup>
                                <m:r>
                                  <a:rPr lang="en-US" sz="2400" b="0" i="1" dirty="0" smtClean="0">
                                    <a:latin typeface="Cambria Math" panose="02040503050406030204" pitchFamily="18" charset="0"/>
                                  </a:rPr>
                                  <m:t>2</m:t>
                                </m:r>
                              </m:sup>
                            </m:sSubSup>
                          </m:e>
                        </m:rad>
                      </m:num>
                      <m:den>
                        <m:sSubSup>
                          <m:sSubSupPr>
                            <m:ctrlPr>
                              <a:rPr lang="en-US" sz="2400" i="1" dirty="0" smtClean="0">
                                <a:latin typeface="Cambria Math" panose="02040503050406030204" pitchFamily="18" charset="0"/>
                              </a:rPr>
                            </m:ctrlPr>
                          </m:sSubSupPr>
                          <m:e>
                            <m:r>
                              <a:rPr lang="en-US" sz="2400" b="0" i="1" dirty="0" smtClean="0">
                                <a:latin typeface="Cambria Math" panose="02040503050406030204" pitchFamily="18" charset="0"/>
                              </a:rPr>
                              <m:t>𝑛</m:t>
                            </m:r>
                          </m:e>
                          <m:sub>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2</m:t>
                            </m:r>
                          </m:sup>
                        </m:sSubSup>
                      </m:den>
                    </m:f>
                  </m:oMath>
                </a14:m>
                <a:endParaRPr lang="en-US" sz="2400" dirty="0"/>
              </a:p>
              <a:p>
                <a:pPr marL="0" indent="0" algn="ctr">
                  <a:buNone/>
                </a:pPr>
                <a:endParaRPr lang="en-US" sz="2400" dirty="0"/>
              </a:p>
              <a:p>
                <a:pPr marL="0" indent="0" algn="ctr">
                  <a:buNone/>
                </a:pPr>
                <a:r>
                  <a:rPr lang="en-US" sz="2400" spc="-40" dirty="0">
                    <a:latin typeface="Times New Roman"/>
                    <a:cs typeface="Times New Roman"/>
                  </a:rPr>
                  <a:t>if  </a:t>
                </a:r>
                <a:r>
                  <a:rPr lang="en-US" sz="2400" spc="25" dirty="0">
                    <a:latin typeface="Times New Roman"/>
                    <a:cs typeface="Times New Roman"/>
                  </a:rPr>
                  <a:t>the </a:t>
                </a:r>
                <a:r>
                  <a:rPr lang="en-US" sz="2400" spc="-10" dirty="0">
                    <a:latin typeface="Times New Roman"/>
                    <a:cs typeface="Times New Roman"/>
                  </a:rPr>
                  <a:t>medium</a:t>
                </a:r>
                <a:r>
                  <a:rPr lang="en-US" sz="2400" spc="65" dirty="0">
                    <a:latin typeface="Times New Roman"/>
                    <a:cs typeface="Times New Roman"/>
                  </a:rPr>
                  <a:t> </a:t>
                </a:r>
                <a:r>
                  <a:rPr lang="en-US" sz="2400" spc="-10" dirty="0">
                    <a:latin typeface="Times New Roman"/>
                    <a:cs typeface="Times New Roman"/>
                  </a:rPr>
                  <a:t>surrounding</a:t>
                </a:r>
                <a:r>
                  <a:rPr lang="en-US" sz="2400" spc="215" dirty="0">
                    <a:latin typeface="Times New Roman"/>
                    <a:cs typeface="Times New Roman"/>
                  </a:rPr>
                  <a:t> </a:t>
                </a:r>
                <a:r>
                  <a:rPr lang="en-US" sz="2400" spc="25" dirty="0">
                    <a:latin typeface="Times New Roman"/>
                    <a:cs typeface="Times New Roman"/>
                  </a:rPr>
                  <a:t>the </a:t>
                </a:r>
                <a:r>
                  <a:rPr lang="en-US" sz="2400" spc="-10" dirty="0">
                    <a:latin typeface="Times New Roman"/>
                    <a:cs typeface="Times New Roman"/>
                  </a:rPr>
                  <a:t>fiber </a:t>
                </a:r>
                <a:r>
                  <a:rPr lang="en-US" sz="2400" spc="-40" dirty="0">
                    <a:latin typeface="Times New Roman"/>
                    <a:cs typeface="Times New Roman"/>
                  </a:rPr>
                  <a:t>is </a:t>
                </a:r>
                <a:r>
                  <a:rPr lang="en-US" sz="2400" spc="25" dirty="0">
                    <a:latin typeface="Times New Roman"/>
                    <a:cs typeface="Times New Roman"/>
                  </a:rPr>
                  <a:t>air, </a:t>
                </a:r>
                <a:r>
                  <a:rPr lang="en-US" sz="2400" spc="10" dirty="0">
                    <a:latin typeface="Times New Roman"/>
                    <a:cs typeface="Times New Roman"/>
                  </a:rPr>
                  <a:t>then </a:t>
                </a:r>
                <a:r>
                  <a:rPr lang="en-US" sz="2400" spc="-20" dirty="0">
                    <a:latin typeface="Times New Roman"/>
                    <a:cs typeface="Times New Roman"/>
                  </a:rPr>
                  <a:t>n</a:t>
                </a:r>
                <a:r>
                  <a:rPr lang="en-US" sz="2400" spc="-30" baseline="-24074" dirty="0">
                    <a:latin typeface="Times New Roman"/>
                    <a:cs typeface="Times New Roman"/>
                  </a:rPr>
                  <a:t>0 </a:t>
                </a:r>
                <a:r>
                  <a:rPr lang="en-US" sz="2400" dirty="0">
                    <a:latin typeface="Symbol"/>
                    <a:cs typeface="Symbol"/>
                  </a:rPr>
                  <a:t></a:t>
                </a:r>
                <a:r>
                  <a:rPr lang="en-US" sz="2400" spc="-505" dirty="0">
                    <a:latin typeface="Times New Roman"/>
                    <a:cs typeface="Times New Roman"/>
                  </a:rPr>
                  <a:t> </a:t>
                </a:r>
                <a:r>
                  <a:rPr lang="en-US" sz="2400" dirty="0">
                    <a:latin typeface="Times New Roman"/>
                    <a:cs typeface="Times New Roman"/>
                  </a:rPr>
                  <a:t>1</a:t>
                </a:r>
              </a:p>
              <a:p>
                <a:pPr marL="0" indent="0" algn="ctr">
                  <a:buNone/>
                </a:pPr>
                <a:r>
                  <a:rPr lang="en-US" sz="2400" spc="-170" dirty="0">
                    <a:latin typeface="Times New Roman"/>
                    <a:cs typeface="Times New Roman"/>
                  </a:rPr>
                  <a:t>sin</a:t>
                </a:r>
                <a:r>
                  <a:rPr lang="en-US" sz="2400" spc="-250" dirty="0">
                    <a:latin typeface="Times New Roman"/>
                    <a:cs typeface="Times New Roman"/>
                  </a:rPr>
                  <a:t> </a:t>
                </a:r>
                <a:r>
                  <a:rPr lang="en-US" sz="2400" i="1" spc="-35" dirty="0">
                    <a:latin typeface="Symbol"/>
                    <a:cs typeface="Symbol"/>
                  </a:rPr>
                  <a:t></a:t>
                </a:r>
                <a:r>
                  <a:rPr lang="en-US" sz="2400" spc="-52" baseline="-24024" dirty="0"/>
                  <a:t>m</a:t>
                </a:r>
                <a:r>
                  <a:rPr lang="en-US" sz="2400" spc="-85" dirty="0">
                    <a:latin typeface="Symbol"/>
                    <a:cs typeface="Symbol"/>
                  </a:rPr>
                  <a:t> </a:t>
                </a:r>
                <a14:m>
                  <m:oMath xmlns:m="http://schemas.openxmlformats.org/officeDocument/2006/math">
                    <m:r>
                      <a:rPr lang="en-US" sz="2400" b="0" i="0" dirty="0" smtClean="0">
                        <a:latin typeface="Cambria Math" panose="02040503050406030204" pitchFamily="18" charset="0"/>
                      </a:rPr>
                      <m:t> </m:t>
                    </m:r>
                    <m:rad>
                      <m:radPr>
                        <m:degHide m:val="on"/>
                        <m:ctrlPr>
                          <a:rPr lang="en-US" sz="2400" i="1" dirty="0" smtClean="0">
                            <a:latin typeface="Cambria Math" panose="02040503050406030204" pitchFamily="18" charset="0"/>
                          </a:rPr>
                        </m:ctrlPr>
                      </m:radPr>
                      <m:deg/>
                      <m:e>
                        <m:sSubSup>
                          <m:sSubSupPr>
                            <m:ctrlPr>
                              <a:rPr lang="en-US" sz="2400" i="1" dirty="0" smtClean="0">
                                <a:latin typeface="Cambria Math" panose="02040503050406030204" pitchFamily="18" charset="0"/>
                              </a:rPr>
                            </m:ctrlPr>
                          </m:sSubSupPr>
                          <m:e>
                            <m:r>
                              <a:rPr lang="en-US" sz="2400" b="0" i="1" dirty="0" smtClean="0">
                                <a:latin typeface="Cambria Math" panose="02040503050406030204" pitchFamily="18" charset="0"/>
                              </a:rPr>
                              <m:t>𝑛</m:t>
                            </m:r>
                          </m:e>
                          <m:sub>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2</m:t>
                            </m:r>
                          </m:sup>
                        </m:sSubSup>
                        <m:r>
                          <a:rPr lang="en-US" sz="2400" b="0" i="1" dirty="0" smtClean="0">
                            <a:latin typeface="Cambria Math" panose="02040503050406030204" pitchFamily="18" charset="0"/>
                          </a:rPr>
                          <m:t> −</m:t>
                        </m:r>
                        <m:sSubSup>
                          <m:sSubSupPr>
                            <m:ctrlPr>
                              <a:rPr lang="en-US" sz="2400" b="0" i="1" dirty="0" smtClean="0">
                                <a:latin typeface="Cambria Math" panose="02040503050406030204" pitchFamily="18" charset="0"/>
                              </a:rPr>
                            </m:ctrlPr>
                          </m:sSubSupPr>
                          <m:e>
                            <m:r>
                              <a:rPr lang="en-US" sz="2400" b="0" i="1" dirty="0" smtClean="0">
                                <a:latin typeface="Cambria Math" panose="02040503050406030204" pitchFamily="18" charset="0"/>
                              </a:rPr>
                              <m:t>𝑛</m:t>
                            </m:r>
                          </m:e>
                          <m:sub>
                            <m:r>
                              <a:rPr lang="en-US" sz="2400" b="0" i="1" dirty="0" smtClean="0">
                                <a:latin typeface="Cambria Math" panose="02040503050406030204" pitchFamily="18" charset="0"/>
                              </a:rPr>
                              <m:t>2</m:t>
                            </m:r>
                          </m:sub>
                          <m:sup>
                            <m:r>
                              <a:rPr lang="en-US" sz="2400" b="0" i="1" dirty="0" smtClean="0">
                                <a:latin typeface="Cambria Math" panose="02040503050406030204" pitchFamily="18" charset="0"/>
                              </a:rPr>
                              <m:t>2</m:t>
                            </m:r>
                          </m:sup>
                        </m:sSubSup>
                      </m:e>
                    </m:rad>
                  </m:oMath>
                </a14:m>
                <a:endParaRPr lang="en-US" sz="2400" dirty="0"/>
              </a:p>
              <a:p>
                <a:pPr marL="0" indent="0" algn="ctr">
                  <a:buNone/>
                </a:pPr>
                <a:endParaRPr lang="en-US" sz="2400" dirty="0"/>
              </a:p>
              <a:p>
                <a:pPr marL="0" indent="0" algn="ctr">
                  <a:buNone/>
                </a:pPr>
                <a:r>
                  <a:rPr lang="en-US" sz="2400" i="1" spc="-35" dirty="0">
                    <a:latin typeface="Symbol"/>
                    <a:cs typeface="Symbol"/>
                  </a:rPr>
                  <a:t></a:t>
                </a:r>
                <a:r>
                  <a:rPr lang="en-US" sz="2400" spc="-52" baseline="-24024" dirty="0"/>
                  <a:t>max </a:t>
                </a:r>
                <a:r>
                  <a:rPr lang="en-US" sz="2400" spc="-85" dirty="0">
                    <a:latin typeface="Symbol"/>
                    <a:cs typeface="Symbol"/>
                  </a:rPr>
                  <a:t> </a:t>
                </a:r>
                <a:r>
                  <a:rPr lang="en-US" sz="2400" spc="-170" dirty="0">
                    <a:latin typeface="Times New Roman"/>
                    <a:cs typeface="Times New Roman"/>
                  </a:rPr>
                  <a:t>sin</a:t>
                </a:r>
                <a14:m>
                  <m:oMath xmlns:m="http://schemas.openxmlformats.org/officeDocument/2006/math">
                    <m:r>
                      <a:rPr lang="en-US" sz="2400" b="0" i="0" baseline="30000" dirty="0" smtClean="0">
                        <a:latin typeface="Cambria Math" panose="02040503050406030204" pitchFamily="18" charset="0"/>
                      </a:rPr>
                      <m:t>−</m:t>
                    </m:r>
                    <m:r>
                      <a:rPr lang="en-US" sz="2400" b="0" i="0" baseline="50000" dirty="0" smtClean="0">
                        <a:latin typeface="Cambria Math" panose="02040503050406030204" pitchFamily="18" charset="0"/>
                      </a:rPr>
                      <m:t>1</m:t>
                    </m:r>
                    <m:r>
                      <a:rPr lang="en-US" sz="2400" b="0" i="0" baseline="30000" dirty="0" smtClean="0">
                        <a:latin typeface="Cambria Math" panose="02040503050406030204" pitchFamily="18" charset="0"/>
                      </a:rPr>
                      <m:t> </m:t>
                    </m:r>
                    <m:r>
                      <a:rPr lang="en-US" sz="2400" baseline="30000" dirty="0">
                        <a:latin typeface="Cambria Math" panose="02040503050406030204" pitchFamily="18" charset="0"/>
                      </a:rPr>
                      <m:t> </m:t>
                    </m:r>
                    <m:rad>
                      <m:radPr>
                        <m:degHide m:val="on"/>
                        <m:ctrlPr>
                          <a:rPr lang="en-US" sz="2400" i="1" dirty="0">
                            <a:latin typeface="Cambria Math" panose="02040503050406030204" pitchFamily="18" charset="0"/>
                          </a:rPr>
                        </m:ctrlPr>
                      </m:radPr>
                      <m:deg/>
                      <m:e>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𝑛</m:t>
                            </m:r>
                          </m:e>
                          <m:sub>
                            <m:r>
                              <a:rPr lang="en-US" sz="2400" i="1" dirty="0">
                                <a:latin typeface="Cambria Math" panose="02040503050406030204" pitchFamily="18" charset="0"/>
                              </a:rPr>
                              <m:t>1</m:t>
                            </m:r>
                          </m:sub>
                          <m:sup>
                            <m:r>
                              <a:rPr lang="en-US" sz="2400" i="1" dirty="0">
                                <a:latin typeface="Cambria Math" panose="02040503050406030204" pitchFamily="18" charset="0"/>
                              </a:rPr>
                              <m:t>2</m:t>
                            </m:r>
                          </m:sup>
                        </m:sSubSup>
                        <m:r>
                          <a:rPr lang="en-US" sz="2400" i="1" dirty="0">
                            <a:latin typeface="Cambria Math" panose="02040503050406030204" pitchFamily="18" charset="0"/>
                          </a:rPr>
                          <m:t> −</m:t>
                        </m:r>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𝑛</m:t>
                            </m:r>
                          </m:e>
                          <m:sub>
                            <m:r>
                              <a:rPr lang="en-US" sz="2400" i="1" dirty="0">
                                <a:latin typeface="Cambria Math" panose="02040503050406030204" pitchFamily="18" charset="0"/>
                              </a:rPr>
                              <m:t>2</m:t>
                            </m:r>
                          </m:sub>
                          <m:sup>
                            <m:r>
                              <a:rPr lang="en-US" sz="2400" i="1" dirty="0">
                                <a:latin typeface="Cambria Math" panose="02040503050406030204" pitchFamily="18" charset="0"/>
                              </a:rPr>
                              <m:t>2</m:t>
                            </m:r>
                          </m:sup>
                        </m:sSubSup>
                      </m:e>
                    </m:rad>
                  </m:oMath>
                </a14:m>
                <a:endParaRPr lang="en-US" sz="2400" dirty="0"/>
              </a:p>
              <a:p>
                <a:pPr marL="0" indent="0" algn="ctr">
                  <a:buNone/>
                </a:pPr>
                <a:endParaRPr lang="en-US" sz="2400" dirty="0"/>
              </a:p>
              <a:p>
                <a:pPr marL="0" indent="0" algn="ctr">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Which </a:t>
                </a:r>
                <a:r>
                  <a:rPr lang="en-US" sz="2400" spc="-10" dirty="0">
                    <a:latin typeface="Times New Roman" panose="02020603050405020304" pitchFamily="18" charset="0"/>
                    <a:ea typeface="Cambria" panose="02040503050406030204" pitchFamily="18" charset="0"/>
                    <a:cs typeface="Times New Roman" panose="02020603050405020304" pitchFamily="18" charset="0"/>
                  </a:rPr>
                  <a:t>is the </a:t>
                </a:r>
                <a:r>
                  <a:rPr lang="en-US" sz="2400" spc="-5" dirty="0">
                    <a:latin typeface="Times New Roman" panose="02020603050405020304" pitchFamily="18" charset="0"/>
                    <a:ea typeface="Cambria" panose="02040503050406030204" pitchFamily="18" charset="0"/>
                    <a:cs typeface="Times New Roman" panose="02020603050405020304" pitchFamily="18" charset="0"/>
                  </a:rPr>
                  <a:t>required 	</a:t>
                </a:r>
                <a:r>
                  <a:rPr lang="en-US" sz="2400" dirty="0">
                    <a:latin typeface="Times New Roman" panose="02020603050405020304" pitchFamily="18" charset="0"/>
                    <a:ea typeface="Cambria" panose="02040503050406030204" pitchFamily="18" charset="0"/>
                    <a:cs typeface="Times New Roman" panose="02020603050405020304" pitchFamily="18" charset="0"/>
                  </a:rPr>
                  <a:t>expression for maximum </a:t>
                </a:r>
                <a:r>
                  <a:rPr lang="en-US" sz="2400" spc="5" dirty="0">
                    <a:latin typeface="Times New Roman" panose="02020603050405020304" pitchFamily="18" charset="0"/>
                    <a:ea typeface="Cambria" panose="02040503050406030204" pitchFamily="18" charset="0"/>
                    <a:cs typeface="Times New Roman" panose="02020603050405020304" pitchFamily="18" charset="0"/>
                  </a:rPr>
                  <a:t>Acceptance Angle </a:t>
                </a:r>
                <a:r>
                  <a:rPr lang="en-US" sz="2400" dirty="0">
                    <a:latin typeface="Times New Roman" panose="02020603050405020304" pitchFamily="18" charset="0"/>
                    <a:ea typeface="Cambria" panose="02040503050406030204" pitchFamily="18" charset="0"/>
                    <a:cs typeface="Times New Roman" panose="02020603050405020304" pitchFamily="18" charset="0"/>
                  </a:rPr>
                  <a:t>in </a:t>
                </a:r>
                <a:r>
                  <a:rPr lang="en-US" sz="2400" spc="5" dirty="0">
                    <a:latin typeface="Times New Roman" panose="02020603050405020304" pitchFamily="18" charset="0"/>
                    <a:ea typeface="Cambria" panose="02040503050406030204" pitchFamily="18" charset="0"/>
                    <a:cs typeface="Times New Roman" panose="02020603050405020304" pitchFamily="18" charset="0"/>
                  </a:rPr>
                  <a:t>optical</a:t>
                </a:r>
                <a:r>
                  <a:rPr lang="en-US" sz="2400" spc="-335" dirty="0">
                    <a:latin typeface="Times New Roman" panose="02020603050405020304" pitchFamily="18" charset="0"/>
                    <a:ea typeface="Cambria" panose="02040503050406030204" pitchFamily="18" charset="0"/>
                    <a:cs typeface="Times New Roman" panose="02020603050405020304" pitchFamily="18" charset="0"/>
                  </a:rPr>
                  <a:t> </a:t>
                </a:r>
                <a:r>
                  <a:rPr lang="en-US" sz="2400" spc="5" dirty="0">
                    <a:latin typeface="Times New Roman" panose="02020603050405020304" pitchFamily="18" charset="0"/>
                    <a:ea typeface="Cambria" panose="02040503050406030204" pitchFamily="18" charset="0"/>
                    <a:cs typeface="Times New Roman" panose="02020603050405020304" pitchFamily="18" charset="0"/>
                  </a:rPr>
                  <a:t>fibers.</a:t>
                </a:r>
                <a:endParaRPr lang="en-US"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lgn="ctr">
                  <a:buNone/>
                </a:pPr>
                <a:endParaRPr lang="en-US" sz="3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29993" y="154746"/>
                <a:ext cx="10998841" cy="6566730"/>
              </a:xfrm>
              <a:blipFill rotWithShape="0">
                <a:blip r:embed="rId2"/>
                <a:stretch>
                  <a:fillRect/>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BDCDBBEF-AA6C-4BA6-85B2-A17D7F280E38}" type="slidenum">
              <a:rPr lang="en-US" smtClean="0"/>
              <a:t>9</a:t>
            </a:fld>
            <a:endParaRPr lang="en-US"/>
          </a:p>
        </p:txBody>
      </p:sp>
    </p:spTree>
    <p:extLst>
      <p:ext uri="{BB962C8B-B14F-4D97-AF65-F5344CB8AC3E}">
        <p14:creationId xmlns:p14="http://schemas.microsoft.com/office/powerpoint/2010/main" val="1096227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4450" y="457200"/>
            <a:ext cx="3457575" cy="685800"/>
          </a:xfrm>
        </p:spPr>
        <p:txBody>
          <a:bodyPr>
            <a:normAutofit/>
          </a:bodyPr>
          <a:lstStyle/>
          <a:p>
            <a:r>
              <a:rPr lang="en-US" sz="3800" b="1" dirty="0">
                <a:latin typeface="Cambria" panose="02040503050406030204" pitchFamily="18" charset="0"/>
                <a:ea typeface="Cambria" panose="02040503050406030204" pitchFamily="18" charset="0"/>
              </a:rPr>
              <a:t>Summary</a:t>
            </a:r>
          </a:p>
        </p:txBody>
      </p:sp>
      <p:sp>
        <p:nvSpPr>
          <p:cNvPr id="4" name="Text Placeholder 3"/>
          <p:cNvSpPr>
            <a:spLocks noGrp="1"/>
          </p:cNvSpPr>
          <p:nvPr>
            <p:ph type="body" sz="half" idx="2"/>
          </p:nvPr>
        </p:nvSpPr>
        <p:spPr>
          <a:xfrm>
            <a:off x="868363" y="1585912"/>
            <a:ext cx="8718550" cy="4411663"/>
          </a:xfrm>
        </p:spPr>
        <p:txBody>
          <a:bodyPr>
            <a:normAutofit/>
          </a:bodyPr>
          <a:lstStyle/>
          <a:p>
            <a:br>
              <a:rPr lang="en-US" dirty="0"/>
            </a:br>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10</a:t>
            </a:fld>
            <a:endParaRPr lang="en-US"/>
          </a:p>
        </p:txBody>
      </p:sp>
      <p:sp>
        <p:nvSpPr>
          <p:cNvPr id="3" name="TextBox 2"/>
          <p:cNvSpPr txBox="1"/>
          <p:nvPr/>
        </p:nvSpPr>
        <p:spPr>
          <a:xfrm>
            <a:off x="1571748" y="1143000"/>
            <a:ext cx="5602776" cy="2292935"/>
          </a:xfrm>
          <a:prstGeom prst="rect">
            <a:avLst/>
          </a:prstGeom>
          <a:noFill/>
        </p:spPr>
        <p:txBody>
          <a:bodyPr wrap="square" rtlCol="0">
            <a:spAutoFit/>
          </a:bodyPr>
          <a:lstStyle/>
          <a:p>
            <a:pPr marL="355600" indent="-342900">
              <a:lnSpc>
                <a:spcPct val="100000"/>
              </a:lnSpc>
              <a:spcBef>
                <a:spcPts val="310"/>
              </a:spcBef>
              <a:buClr>
                <a:srgbClr val="DD8046"/>
              </a:buClr>
              <a:buSzPct val="60000"/>
              <a:buFont typeface="Wingdings" panose="05000000000000000000" pitchFamily="2" charset="2"/>
              <a:buChar char="v"/>
              <a:tabLst>
                <a:tab pos="332105" algn="l"/>
                <a:tab pos="332740" algn="l"/>
              </a:tabLst>
            </a:pPr>
            <a:r>
              <a:rPr lang="en-US"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Brief</a:t>
            </a:r>
            <a:r>
              <a:rPr lang="en-US" sz="2400" spc="-15" dirty="0">
                <a:latin typeface="Cambria" panose="02040503050406030204" pitchFamily="18" charset="0"/>
                <a:ea typeface="Cambria" panose="02040503050406030204" pitchFamily="18" charset="0"/>
                <a:cs typeface="Arial"/>
              </a:rPr>
              <a:t> </a:t>
            </a:r>
            <a:r>
              <a:rPr lang="en-US" sz="2400" spc="-5" dirty="0">
                <a:latin typeface="Cambria" panose="02040503050406030204" pitchFamily="18" charset="0"/>
                <a:ea typeface="Cambria" panose="02040503050406030204" pitchFamily="18" charset="0"/>
                <a:cs typeface="Arial"/>
              </a:rPr>
              <a:t>Introduction</a:t>
            </a:r>
            <a:endParaRPr lang="en-US" sz="2400" dirty="0">
              <a:latin typeface="Cambria" panose="02040503050406030204" pitchFamily="18" charset="0"/>
              <a:ea typeface="Cambria" panose="02040503050406030204" pitchFamily="18" charset="0"/>
              <a:cs typeface="Arial"/>
            </a:endParaRPr>
          </a:p>
          <a:p>
            <a:pPr marL="469900" indent="-457200">
              <a:lnSpc>
                <a:spcPct val="100000"/>
              </a:lnSpc>
              <a:spcBef>
                <a:spcPts val="234"/>
              </a:spcBef>
              <a:buClr>
                <a:srgbClr val="DD8046"/>
              </a:buClr>
              <a:buSzPct val="60000"/>
              <a:buFont typeface="Wingdings" panose="05000000000000000000" pitchFamily="2" charset="2"/>
              <a:buChar char="v"/>
              <a:tabLst>
                <a:tab pos="332105" algn="l"/>
                <a:tab pos="332740" algn="l"/>
              </a:tabLst>
            </a:pPr>
            <a:r>
              <a:rPr lang="en-US" sz="2400" dirty="0">
                <a:latin typeface="Cambria" panose="02040503050406030204" pitchFamily="18" charset="0"/>
                <a:ea typeface="Cambria" panose="02040503050406030204" pitchFamily="18" charset="0"/>
                <a:cs typeface="Arial"/>
              </a:rPr>
              <a:t>Optical fiber</a:t>
            </a:r>
            <a:r>
              <a:rPr lang="en-US" sz="2400" spc="-4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construction</a:t>
            </a:r>
          </a:p>
          <a:p>
            <a:pPr marL="469900" indent="-457200">
              <a:lnSpc>
                <a:spcPct val="100000"/>
              </a:lnSpc>
              <a:spcBef>
                <a:spcPts val="215"/>
              </a:spcBef>
              <a:buClr>
                <a:srgbClr val="DD8046"/>
              </a:buClr>
              <a:buSzPct val="60000"/>
              <a:buFont typeface="Wingdings" panose="05000000000000000000" pitchFamily="2" charset="2"/>
              <a:buChar char="v"/>
              <a:tabLst>
                <a:tab pos="332105" algn="l"/>
                <a:tab pos="332740" algn="l"/>
              </a:tabLst>
            </a:pPr>
            <a:r>
              <a:rPr lang="en-US" sz="2400" dirty="0">
                <a:latin typeface="Cambria" panose="02040503050406030204" pitchFamily="18" charset="0"/>
                <a:ea typeface="Cambria" panose="02040503050406030204" pitchFamily="18" charset="0"/>
                <a:cs typeface="Arial"/>
              </a:rPr>
              <a:t>Critical angle &amp; </a:t>
            </a:r>
            <a:r>
              <a:rPr lang="en-US" sz="2400" spc="-45" dirty="0">
                <a:latin typeface="Cambria" panose="02040503050406030204" pitchFamily="18" charset="0"/>
                <a:ea typeface="Cambria" panose="02040503050406030204" pitchFamily="18" charset="0"/>
                <a:cs typeface="Arial"/>
              </a:rPr>
              <a:t>Total </a:t>
            </a:r>
            <a:r>
              <a:rPr lang="en-US" sz="2400" dirty="0">
                <a:latin typeface="Cambria" panose="02040503050406030204" pitchFamily="18" charset="0"/>
                <a:ea typeface="Cambria" panose="02040503050406030204" pitchFamily="18" charset="0"/>
                <a:cs typeface="Arial"/>
              </a:rPr>
              <a:t>Internal</a:t>
            </a:r>
            <a:r>
              <a:rPr lang="en-US" sz="2400" spc="-114"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Reflection</a:t>
            </a:r>
          </a:p>
          <a:p>
            <a:pPr marL="469900" indent="-457200">
              <a:lnSpc>
                <a:spcPct val="100000"/>
              </a:lnSpc>
              <a:spcBef>
                <a:spcPts val="229"/>
              </a:spcBef>
              <a:buClr>
                <a:srgbClr val="DD8046"/>
              </a:buClr>
              <a:buSzPct val="60000"/>
              <a:buFont typeface="Wingdings" panose="05000000000000000000" pitchFamily="2" charset="2"/>
              <a:buChar char="v"/>
              <a:tabLst>
                <a:tab pos="332105" algn="l"/>
                <a:tab pos="332740" algn="l"/>
              </a:tabLst>
            </a:pPr>
            <a:r>
              <a:rPr lang="en-US" sz="2400" dirty="0">
                <a:latin typeface="Cambria" panose="02040503050406030204" pitchFamily="18" charset="0"/>
                <a:ea typeface="Cambria" panose="02040503050406030204" pitchFamily="18" charset="0"/>
                <a:cs typeface="Arial"/>
              </a:rPr>
              <a:t>Acceptance angle &amp; acceptance</a:t>
            </a:r>
            <a:r>
              <a:rPr lang="en-US" sz="2400" spc="-12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cone</a:t>
            </a:r>
          </a:p>
          <a:p>
            <a:endParaRPr lang="en-US" dirty="0"/>
          </a:p>
        </p:txBody>
      </p:sp>
    </p:spTree>
    <p:extLst>
      <p:ext uri="{BB962C8B-B14F-4D97-AF65-F5344CB8AC3E}">
        <p14:creationId xmlns:p14="http://schemas.microsoft.com/office/powerpoint/2010/main" val="1020013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4229" y="1"/>
            <a:ext cx="5458264" cy="928468"/>
          </a:xfrm>
        </p:spPr>
        <p:txBody>
          <a:bodyPr>
            <a:noAutofit/>
          </a:bodyPr>
          <a:lstStyle/>
          <a:p>
            <a:pPr algn="ctr"/>
            <a:r>
              <a:rPr lang="en-US" sz="4400" b="1" dirty="0">
                <a:latin typeface="Cambria" panose="02040503050406030204" pitchFamily="18" charset="0"/>
                <a:ea typeface="Cambria" panose="02040503050406030204" pitchFamily="18" charset="0"/>
              </a:rPr>
              <a:t>Assessment Test</a:t>
            </a:r>
          </a:p>
        </p:txBody>
      </p:sp>
      <p:sp>
        <p:nvSpPr>
          <p:cNvPr id="4" name="Text Placeholder 3"/>
          <p:cNvSpPr>
            <a:spLocks noGrp="1"/>
          </p:cNvSpPr>
          <p:nvPr>
            <p:ph type="body" sz="half" idx="2"/>
          </p:nvPr>
        </p:nvSpPr>
        <p:spPr>
          <a:xfrm>
            <a:off x="785813" y="1385889"/>
            <a:ext cx="8543925" cy="5335586"/>
          </a:xfrm>
        </p:spPr>
        <p:txBody>
          <a:bodyPr>
            <a:normAutofit/>
          </a:bodyPr>
          <a:lstStyle/>
          <a:p>
            <a:r>
              <a:rPr lang="en-US" sz="2400" b="1" dirty="0">
                <a:latin typeface="Cambria" panose="02040503050406030204" pitchFamily="18" charset="0"/>
                <a:ea typeface="Cambria" panose="02040503050406030204" pitchFamily="18" charset="0"/>
              </a:rPr>
              <a:t>Quiz link for Assessment Test:-</a:t>
            </a:r>
            <a:endParaRPr lang="en-US" sz="2400" b="1" dirty="0">
              <a:latin typeface="Cambria" panose="02040503050406030204" pitchFamily="18" charset="0"/>
              <a:ea typeface="Cambria" panose="02040503050406030204" pitchFamily="18" charset="0"/>
              <a:hlinkClick r:id="rId2"/>
            </a:endParaRPr>
          </a:p>
          <a:p>
            <a:r>
              <a:rPr lang="en-US" sz="2400" dirty="0">
                <a:latin typeface="Cambria" panose="02040503050406030204" pitchFamily="18" charset="0"/>
                <a:ea typeface="Cambria" panose="02040503050406030204" pitchFamily="18" charset="0"/>
                <a:hlinkClick r:id="rId3"/>
              </a:rPr>
              <a:t>https://docs.google.com/forms/d/e/1FAIpQLSdoaR30UPyyOY0IRVyChKPoZVB99BOTYyw61SPEVbYoxNepFQ/viewform?usp=pp_url</a:t>
            </a:r>
            <a:r>
              <a:rPr lang="en-US" sz="2400" dirty="0">
                <a:latin typeface="Cambria" panose="02040503050406030204" pitchFamily="18" charset="0"/>
                <a:ea typeface="Cambria" panose="02040503050406030204" pitchFamily="18" charset="0"/>
              </a:rPr>
              <a:t> </a:t>
            </a:r>
          </a:p>
          <a:p>
            <a:r>
              <a:rPr lang="en-US" sz="2400" b="1" dirty="0">
                <a:latin typeface="Cambria" panose="02040503050406030204" pitchFamily="18" charset="0"/>
                <a:ea typeface="Cambria" panose="02040503050406030204" pitchFamily="18" charset="0"/>
              </a:rPr>
              <a:t>Home Assignment :-</a:t>
            </a:r>
          </a:p>
          <a:p>
            <a:r>
              <a:rPr lang="en-US" sz="2400" dirty="0">
                <a:latin typeface="Cambria" panose="02040503050406030204" pitchFamily="18" charset="0"/>
                <a:ea typeface="Cambria" panose="02040503050406030204" pitchFamily="18" charset="0"/>
              </a:rPr>
              <a:t>Q.1 Determine the expression for critical angle?</a:t>
            </a:r>
          </a:p>
          <a:p>
            <a:r>
              <a:rPr lang="en-US" sz="2400" dirty="0">
                <a:latin typeface="Cambria" panose="02040503050406030204" pitchFamily="18" charset="0"/>
                <a:ea typeface="Cambria" panose="02040503050406030204" pitchFamily="18" charset="0"/>
              </a:rPr>
              <a:t>Q.2 Is acceptance angle depend on size of cable?</a:t>
            </a:r>
          </a:p>
          <a:p>
            <a:endParaRPr lang="en-US" sz="2400" dirty="0">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11</a:t>
            </a:fld>
            <a:endParaRPr lang="en-US"/>
          </a:p>
        </p:txBody>
      </p:sp>
    </p:spTree>
    <p:extLst>
      <p:ext uri="{BB962C8B-B14F-4D97-AF65-F5344CB8AC3E}">
        <p14:creationId xmlns:p14="http://schemas.microsoft.com/office/powerpoint/2010/main" val="1629058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5863" y="357188"/>
            <a:ext cx="3028950" cy="630237"/>
          </a:xfrm>
        </p:spPr>
        <p:txBody>
          <a:bodyPr>
            <a:noAutofit/>
          </a:bodyPr>
          <a:lstStyle/>
          <a:p>
            <a:r>
              <a:rPr lang="en-US" sz="4400" b="1" dirty="0">
                <a:latin typeface="Cambria" panose="02040503050406030204" pitchFamily="18" charset="0"/>
                <a:ea typeface="Cambria" panose="02040503050406030204" pitchFamily="18" charset="0"/>
              </a:rPr>
              <a:t>References</a:t>
            </a:r>
          </a:p>
        </p:txBody>
      </p:sp>
      <p:sp>
        <p:nvSpPr>
          <p:cNvPr id="4" name="Text Placeholder 3"/>
          <p:cNvSpPr>
            <a:spLocks noGrp="1"/>
          </p:cNvSpPr>
          <p:nvPr>
            <p:ph type="body" sz="half" idx="2"/>
          </p:nvPr>
        </p:nvSpPr>
        <p:spPr>
          <a:xfrm>
            <a:off x="695459" y="1120462"/>
            <a:ext cx="9734416" cy="5601013"/>
          </a:xfrm>
        </p:spPr>
        <p:txBody>
          <a:bodyPr>
            <a:normAutofit/>
          </a:bodyPr>
          <a:lstStyle/>
          <a:p>
            <a:r>
              <a:rPr lang="en-US" sz="2000" b="1" dirty="0">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1]  </a:t>
            </a:r>
            <a:r>
              <a:rPr lang="en-US" sz="2000" dirty="0">
                <a:latin typeface="Cambria" panose="02040503050406030204" pitchFamily="18" charset="0"/>
                <a:ea typeface="Cambria" panose="02040503050406030204" pitchFamily="18" charset="0"/>
                <a:hlinkClick r:id="rId2"/>
              </a:rPr>
              <a:t>https://www.ispreview.co.uk/index.php/2013/07/alcatel-lucent-breaks-record-with-31tbps-over-a-single-fibre-optic-cable.html</a:t>
            </a:r>
            <a:r>
              <a:rPr lang="en-US" sz="2000" dirty="0">
                <a:latin typeface="Cambria" panose="02040503050406030204" pitchFamily="18" charset="0"/>
                <a:ea typeface="Cambria" panose="02040503050406030204" pitchFamily="18" charset="0"/>
              </a:rPr>
              <a:t> </a:t>
            </a:r>
          </a:p>
          <a:p>
            <a:r>
              <a:rPr lang="en-US" sz="2000" dirty="0">
                <a:latin typeface="Cambria" panose="02040503050406030204" pitchFamily="18" charset="0"/>
                <a:ea typeface="Cambria" panose="02040503050406030204" pitchFamily="18" charset="0"/>
              </a:rPr>
              <a:t>[2] </a:t>
            </a:r>
            <a:r>
              <a:rPr lang="en-US" sz="2000" dirty="0">
                <a:latin typeface="Cambria" panose="02040503050406030204" pitchFamily="18" charset="0"/>
                <a:ea typeface="Cambria" panose="02040503050406030204" pitchFamily="18" charset="0"/>
                <a:hlinkClick r:id="rId3"/>
              </a:rPr>
              <a:t>http://constructionmanuals.tpub.com/14026/css/Fiber-Buffers-193.htm</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[3] </a:t>
            </a:r>
            <a:r>
              <a:rPr lang="en-US" sz="2000" dirty="0">
                <a:latin typeface="Cambria" panose="02040503050406030204" pitchFamily="18" charset="0"/>
                <a:ea typeface="Cambria" panose="02040503050406030204" pitchFamily="18" charset="0"/>
                <a:hlinkClick r:id="rId4"/>
              </a:rPr>
              <a:t>https://www.slideshare.net/ankushsaini123/6796optical-fibres</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[4] </a:t>
            </a:r>
            <a:r>
              <a:rPr lang="en-US" sz="2000" dirty="0">
                <a:latin typeface="Cambria" panose="02040503050406030204" pitchFamily="18" charset="0"/>
                <a:ea typeface="Cambria" panose="02040503050406030204" pitchFamily="18" charset="0"/>
                <a:hlinkClick r:id="rId5"/>
              </a:rPr>
              <a:t>https://www.slideshare.net/MadhumitaTamhane/optical-fiber-communication-part-1- optical-fiber-fundamentals</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[5] (a)</a:t>
            </a:r>
            <a:r>
              <a:rPr lang="en-US" sz="2000" dirty="0">
                <a:latin typeface="Cambria" panose="02040503050406030204" pitchFamily="18" charset="0"/>
                <a:ea typeface="Cambria" panose="02040503050406030204" pitchFamily="18" charset="0"/>
                <a:hlinkClick r:id="rId3"/>
              </a:rPr>
              <a:t> http://constructionmanuals.tpub.com/14026/css/Fiber-Buffers-193.htm</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      (b) </a:t>
            </a:r>
            <a:r>
              <a:rPr lang="en-US" sz="2000" dirty="0">
                <a:latin typeface="Cambria" panose="02040503050406030204" pitchFamily="18" charset="0"/>
                <a:ea typeface="Cambria" panose="02040503050406030204" pitchFamily="18" charset="0"/>
                <a:hlinkClick r:id="rId6"/>
              </a:rPr>
              <a:t>https://computer.howstuffworks.com/fiber-optic2.htm</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[6] </a:t>
            </a:r>
            <a:r>
              <a:rPr lang="en-US" sz="2000" dirty="0">
                <a:latin typeface="Cambria" panose="02040503050406030204" pitchFamily="18" charset="0"/>
                <a:ea typeface="Cambria" panose="02040503050406030204" pitchFamily="18" charset="0"/>
                <a:hlinkClick r:id="rId7"/>
              </a:rPr>
              <a:t>https://www.slideshare.net/PratyushSrivastava8/optical-fiber-cable-</a:t>
            </a:r>
            <a:r>
              <a:rPr lang="en-US"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hlinkClick r:id="rId8"/>
              </a:rPr>
              <a:t>v2?from_action=save</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 [7] </a:t>
            </a:r>
            <a:r>
              <a:rPr lang="en-US" sz="2000" dirty="0">
                <a:latin typeface="Cambria" panose="02040503050406030204" pitchFamily="18" charset="0"/>
                <a:ea typeface="Cambria" panose="02040503050406030204" pitchFamily="18" charset="0"/>
                <a:hlinkClick r:id="rId9"/>
              </a:rPr>
              <a:t>https://www.ques10.com/p/21598/derive-the-expression-of-numerical-aperture-                   for-a-/</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[8] </a:t>
            </a:r>
            <a:r>
              <a:rPr lang="en-US" sz="2000" dirty="0">
                <a:latin typeface="Cambria" panose="02040503050406030204" pitchFamily="18" charset="0"/>
                <a:ea typeface="Cambria" panose="02040503050406030204" pitchFamily="18" charset="0"/>
                <a:hlinkClick r:id="rId10"/>
              </a:rPr>
              <a:t>https://www.explainthatstuff.com/fiberoptics.html</a:t>
            </a:r>
            <a:r>
              <a:rPr lang="en-US" sz="2000" dirty="0">
                <a:latin typeface="Cambria" panose="02040503050406030204" pitchFamily="18" charset="0"/>
                <a:ea typeface="Cambria" panose="02040503050406030204" pitchFamily="18" charset="0"/>
              </a:rPr>
              <a:t> </a:t>
            </a:r>
          </a:p>
          <a:p>
            <a:r>
              <a:rPr lang="en-US" sz="2000" dirty="0">
                <a:latin typeface="Cambria" panose="02040503050406030204" pitchFamily="18" charset="0"/>
                <a:ea typeface="Cambria" panose="02040503050406030204" pitchFamily="18" charset="0"/>
              </a:rPr>
              <a:t>[9] </a:t>
            </a:r>
            <a:r>
              <a:rPr lang="en-US" sz="2000" dirty="0">
                <a:latin typeface="Cambria" panose="02040503050406030204" pitchFamily="18" charset="0"/>
                <a:ea typeface="Cambria" panose="02040503050406030204" pitchFamily="18" charset="0"/>
                <a:hlinkClick r:id="rId11"/>
              </a:rPr>
              <a:t>http://fiberonda.com/single-mode-vs-multi-mode-fiber-optic-cable/</a:t>
            </a:r>
            <a:r>
              <a:rPr lang="en-US" sz="2000" dirty="0">
                <a:latin typeface="Cambria" panose="02040503050406030204" pitchFamily="18" charset="0"/>
                <a:ea typeface="Cambria" panose="02040503050406030204" pitchFamily="18" charset="0"/>
              </a:rPr>
              <a:t> </a:t>
            </a:r>
          </a:p>
          <a:p>
            <a:r>
              <a:rPr lang="en-US" sz="2000" dirty="0">
                <a:latin typeface="Cambria" panose="02040503050406030204" pitchFamily="18" charset="0"/>
                <a:ea typeface="Cambria" panose="02040503050406030204" pitchFamily="18" charset="0"/>
              </a:rPr>
              <a:t>[10] </a:t>
            </a:r>
            <a:r>
              <a:rPr lang="en-US" sz="2000" u="sng" dirty="0">
                <a:hlinkClick r:id="rId12"/>
              </a:rPr>
              <a:t>https://images.app.goo.gl/LLWfgV3PjgLc9RbDA</a:t>
            </a:r>
            <a:r>
              <a:rPr lang="en-US" sz="2000" dirty="0"/>
              <a:t> </a:t>
            </a:r>
            <a:endParaRPr lang="en-US" sz="2000" dirty="0">
              <a:latin typeface="Cambria" panose="02040503050406030204" pitchFamily="18" charset="0"/>
              <a:ea typeface="Cambria" panose="02040503050406030204" pitchFamily="18" charset="0"/>
            </a:endParaRPr>
          </a:p>
          <a:p>
            <a:endParaRPr lang="en-US" b="1" dirty="0">
              <a:hlinkClick r:id="rId3"/>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12</a:t>
            </a:fld>
            <a:endParaRPr lang="en-US"/>
          </a:p>
        </p:txBody>
      </p:sp>
    </p:spTree>
    <p:extLst>
      <p:ext uri="{BB962C8B-B14F-4D97-AF65-F5344CB8AC3E}">
        <p14:creationId xmlns:p14="http://schemas.microsoft.com/office/powerpoint/2010/main" val="1745360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7669" y="1400783"/>
            <a:ext cx="10557720" cy="4975022"/>
          </a:xfrm>
        </p:spPr>
        <p:txBody>
          <a:bodyPr>
            <a:normAutofit/>
          </a:bodyPr>
          <a:lstStyle/>
          <a:p>
            <a:pPr marL="0" indent="0">
              <a:buNone/>
            </a:pPr>
            <a:r>
              <a:rPr lang="en-US" sz="4400" b="1" dirty="0">
                <a:latin typeface="Cambria" panose="02040503050406030204" pitchFamily="18" charset="0"/>
                <a:ea typeface="Cambria" panose="02040503050406030204" pitchFamily="18" charset="0"/>
              </a:rPr>
              <a:t>Text book </a:t>
            </a:r>
          </a:p>
          <a:p>
            <a:r>
              <a:rPr lang="en-US" sz="2400" dirty="0" err="1">
                <a:latin typeface="Cambria" panose="02040503050406030204" pitchFamily="18" charset="0"/>
                <a:ea typeface="Cambria" panose="02040503050406030204" pitchFamily="18" charset="0"/>
              </a:rPr>
              <a:t>Beiser</a:t>
            </a:r>
            <a:r>
              <a:rPr lang="en-US" sz="2400" dirty="0">
                <a:latin typeface="Cambria" panose="02040503050406030204" pitchFamily="18" charset="0"/>
                <a:ea typeface="Cambria" panose="02040503050406030204" pitchFamily="18" charset="0"/>
              </a:rPr>
              <a:t> A., </a:t>
            </a:r>
            <a:r>
              <a:rPr lang="en-US" sz="2400" dirty="0" err="1">
                <a:latin typeface="Cambria" panose="02040503050406030204" pitchFamily="18" charset="0"/>
                <a:ea typeface="Cambria" panose="02040503050406030204" pitchFamily="18" charset="0"/>
              </a:rPr>
              <a:t>Ghatak</a:t>
            </a:r>
            <a:r>
              <a:rPr lang="en-US" sz="2400" dirty="0">
                <a:latin typeface="Cambria" panose="02040503050406030204" pitchFamily="18" charset="0"/>
                <a:ea typeface="Cambria" panose="02040503050406030204" pitchFamily="18" charset="0"/>
              </a:rPr>
              <a:t> A, </a:t>
            </a:r>
            <a:r>
              <a:rPr lang="en-US" sz="2400" dirty="0" err="1">
                <a:latin typeface="Cambria" panose="02040503050406030204" pitchFamily="18" charset="0"/>
                <a:ea typeface="Cambria" panose="02040503050406030204" pitchFamily="18" charset="0"/>
              </a:rPr>
              <a:t>Garg</a:t>
            </a:r>
            <a:r>
              <a:rPr lang="en-US" sz="2400" dirty="0">
                <a:latin typeface="Cambria" panose="02040503050406030204" pitchFamily="18" charset="0"/>
                <a:ea typeface="Cambria" panose="02040503050406030204" pitchFamily="18" charset="0"/>
              </a:rPr>
              <a:t> S.C., Applied Physics, Edition 1st, (2013), Tata McGraw-Hill, Noida. </a:t>
            </a:r>
          </a:p>
          <a:p>
            <a:r>
              <a:rPr lang="en-US" sz="2400" dirty="0">
                <a:latin typeface="Cambria" panose="02040503050406030204" pitchFamily="18" charset="0"/>
                <a:ea typeface="Cambria" panose="02040503050406030204" pitchFamily="18" charset="0"/>
              </a:rPr>
              <a:t>Laud B.B., Laser and Non -Linear Optics, Edition 1st, (1991), Wiley Eastern Ltd. </a:t>
            </a:r>
          </a:p>
          <a:p>
            <a:pPr marL="0" indent="0">
              <a:buNone/>
            </a:pPr>
            <a:r>
              <a:rPr lang="en-US" sz="4400" b="1" dirty="0">
                <a:latin typeface="Cambria" panose="02040503050406030204" pitchFamily="18" charset="0"/>
                <a:ea typeface="Cambria" panose="02040503050406030204" pitchFamily="18" charset="0"/>
              </a:rPr>
              <a:t>E- content</a:t>
            </a:r>
          </a:p>
          <a:p>
            <a:pPr marL="0" indent="0">
              <a:buNone/>
            </a:pPr>
            <a:r>
              <a:rPr lang="en-US" sz="4800" b="1" dirty="0">
                <a:latin typeface="Cambria" panose="02040503050406030204" pitchFamily="18" charset="0"/>
                <a:ea typeface="Cambria" panose="02040503050406030204" pitchFamily="18" charset="0"/>
              </a:rPr>
              <a:t> </a:t>
            </a:r>
            <a:r>
              <a:rPr lang="en-US" sz="2400" dirty="0">
                <a:hlinkClick r:id="rId2"/>
              </a:rPr>
              <a:t>http://www.fiberopticshare.com/what-are-the-components-of-optical-fiber.html</a:t>
            </a:r>
            <a:endParaRPr lang="en-US" sz="2400" dirty="0"/>
          </a:p>
        </p:txBody>
      </p:sp>
      <p:sp>
        <p:nvSpPr>
          <p:cNvPr id="5" name="Slide Number Placeholder 4"/>
          <p:cNvSpPr>
            <a:spLocks noGrp="1"/>
          </p:cNvSpPr>
          <p:nvPr>
            <p:ph type="sldNum" sz="quarter" idx="12"/>
          </p:nvPr>
        </p:nvSpPr>
        <p:spPr/>
        <p:txBody>
          <a:bodyPr/>
          <a:lstStyle/>
          <a:p>
            <a:fld id="{BDCDBBEF-AA6C-4BA6-85B2-A17D7F280E38}" type="slidenum">
              <a:rPr lang="en-US" smtClean="0"/>
              <a:t>13</a:t>
            </a:fld>
            <a:endParaRPr lang="en-US"/>
          </a:p>
        </p:txBody>
      </p:sp>
    </p:spTree>
    <p:extLst>
      <p:ext uri="{BB962C8B-B14F-4D97-AF65-F5344CB8AC3E}">
        <p14:creationId xmlns:p14="http://schemas.microsoft.com/office/powerpoint/2010/main" val="2934633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
        <p:nvSpPr>
          <p:cNvPr id="15" name="TextBox 14"/>
          <p:cNvSpPr txBox="1"/>
          <p:nvPr/>
        </p:nvSpPr>
        <p:spPr>
          <a:xfrm>
            <a:off x="3914775" y="5474881"/>
            <a:ext cx="3755267" cy="646331"/>
          </a:xfrm>
          <a:prstGeom prst="rect">
            <a:avLst/>
          </a:prstGeom>
          <a:noFill/>
        </p:spPr>
        <p:txBody>
          <a:bodyPr wrap="square" rtlCol="0">
            <a:spAutoFit/>
          </a:bodyPr>
          <a:lstStyle/>
          <a:p>
            <a:r>
              <a:rPr lang="en-US" dirty="0">
                <a:latin typeface="Casper"/>
              </a:rPr>
              <a:t>For Queries:-</a:t>
            </a:r>
          </a:p>
          <a:p>
            <a:r>
              <a:rPr lang="en-US" dirty="0">
                <a:latin typeface="Casper"/>
              </a:rPr>
              <a:t>deepak.e1972@cumail.in</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3814</TotalTime>
  <Words>1025</Words>
  <Application>Microsoft Office PowerPoint</Application>
  <PresentationFormat>Widescreen</PresentationFormat>
  <Paragraphs>143</Paragraphs>
  <Slides>14</Slides>
  <Notes>0</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14</vt:i4>
      </vt:variant>
    </vt:vector>
  </HeadingPairs>
  <TitlesOfParts>
    <vt:vector size="29" baseType="lpstr">
      <vt:lpstr>Arial</vt:lpstr>
      <vt:lpstr>Arial Black</vt:lpstr>
      <vt:lpstr>Calibri</vt:lpstr>
      <vt:lpstr>Calibri Light</vt:lpstr>
      <vt:lpstr>Cambria</vt:lpstr>
      <vt:lpstr>Cambria Math</vt:lpstr>
      <vt:lpstr>Casper</vt:lpstr>
      <vt:lpstr>Casper Bold</vt:lpstr>
      <vt:lpstr>Raleway ExtraBold</vt:lpstr>
      <vt:lpstr>Symbol</vt:lpstr>
      <vt:lpstr>Times New Roman</vt:lpstr>
      <vt:lpstr>Wingdings</vt:lpstr>
      <vt:lpstr>1_Office Theme</vt:lpstr>
      <vt:lpstr>Contents Slide Master</vt:lpstr>
      <vt:lpstr>CorelDRAW</vt:lpstr>
      <vt:lpstr>PowerPoint Presentation</vt:lpstr>
      <vt:lpstr> </vt:lpstr>
      <vt:lpstr> </vt:lpstr>
      <vt:lpstr>Brief Flow of Presentation</vt:lpstr>
      <vt:lpstr>Acceptance angle and acceptance cone</vt:lpstr>
      <vt:lpstr>Acceptance cone</vt:lpstr>
      <vt:lpstr>Expression of Acceptance angle</vt:lpstr>
      <vt:lpstr>PowerPoint Presentation</vt:lpstr>
      <vt:lpstr>PowerPoint Presentation</vt:lpstr>
      <vt:lpstr>Summary</vt:lpstr>
      <vt:lpstr>Assessment Test</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287</cp:revision>
  <dcterms:created xsi:type="dcterms:W3CDTF">2019-01-09T10:33:58Z</dcterms:created>
  <dcterms:modified xsi:type="dcterms:W3CDTF">2023-06-14T08:06:47Z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1697691</vt:lpwstr>
  </property>
  <property fmtid="{D5CDD505-2E9C-101B-9397-08002B2CF9AE}" pid="3" name="NXPowerLiteSettings">
    <vt:lpwstr>C7000400038000</vt:lpwstr>
  </property>
  <property fmtid="{D5CDD505-2E9C-101B-9397-08002B2CF9AE}" pid="4" name="NXPowerLiteVersion">
    <vt:lpwstr>S9.0.1</vt:lpwstr>
  </property>
</Properties>
</file>